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5" r:id="rId3"/>
    <p:sldId id="266" r:id="rId4"/>
    <p:sldId id="257" r:id="rId5"/>
    <p:sldId id="258" r:id="rId6"/>
    <p:sldId id="276" r:id="rId7"/>
    <p:sldId id="259" r:id="rId8"/>
    <p:sldId id="260" r:id="rId9"/>
    <p:sldId id="277" r:id="rId10"/>
    <p:sldId id="262" r:id="rId11"/>
    <p:sldId id="261" r:id="rId12"/>
    <p:sldId id="263" r:id="rId13"/>
    <p:sldId id="264" r:id="rId14"/>
    <p:sldId id="268" r:id="rId15"/>
    <p:sldId id="269" r:id="rId16"/>
    <p:sldId id="270" r:id="rId17"/>
    <p:sldId id="273" r:id="rId18"/>
    <p:sldId id="267" r:id="rId19"/>
    <p:sldId id="271" r:id="rId20"/>
    <p:sldId id="272" r:id="rId21"/>
    <p:sldId id="274" r:id="rId22"/>
    <p:sldId id="275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03"/>
  </p:normalViewPr>
  <p:slideViewPr>
    <p:cSldViewPr snapToGrid="0">
      <p:cViewPr varScale="1">
        <p:scale>
          <a:sx n="101" d="100"/>
          <a:sy n="101" d="100"/>
        </p:scale>
        <p:origin x="904" y="20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9/4/25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9/4/25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9/4/25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9/4/25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9/4/25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9/4/25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9/4/25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9/4/25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9/4/25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9/4/25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9/4/25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pPr/>
              <a:t>9/4/25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Articulation Skills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With Special Reference to the Pronunciation of English Words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976F5-BB59-98F6-B774-F578650EFF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4162"/>
            <a:ext cx="10515600" cy="466280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just">
              <a:buNone/>
            </a:pPr>
            <a:r>
              <a:rPr lang="en-US" sz="2400" dirty="0">
                <a:latin typeface="Calibri"/>
                <a:cs typeface="Calibri"/>
              </a:rPr>
              <a:t>To </a:t>
            </a:r>
            <a:r>
              <a:rPr lang="en-US" sz="2400" b="1" dirty="0">
                <a:latin typeface="Calibri"/>
                <a:cs typeface="Calibri"/>
              </a:rPr>
              <a:t>articulate</a:t>
            </a:r>
            <a:r>
              <a:rPr lang="en-US" sz="2400" dirty="0">
                <a:latin typeface="Calibri"/>
                <a:cs typeface="Calibri"/>
              </a:rPr>
              <a:t> means : a) to express in words; to say  or pronounce, (b) able to express thoughts and feelings easily and clearly, or showing this quality.</a:t>
            </a:r>
          </a:p>
          <a:p>
            <a:pPr marL="0" indent="0" algn="just">
              <a:buNone/>
            </a:pPr>
            <a:r>
              <a:rPr lang="en-US" sz="2400" dirty="0">
                <a:latin typeface="Calibri"/>
                <a:cs typeface="Calibri"/>
              </a:rPr>
              <a:t>Generally, the expectation is that articulation of words and sentences should be such that it is clearly heard and understood by listeners.</a:t>
            </a:r>
          </a:p>
          <a:p>
            <a:pPr marL="0" indent="0" algn="just">
              <a:buNone/>
            </a:pPr>
            <a:endParaRPr lang="en-US" dirty="0"/>
          </a:p>
          <a:p>
            <a:pPr algn="just">
              <a:buNone/>
            </a:pPr>
            <a:r>
              <a:rPr lang="en-US" sz="2400" dirty="0">
                <a:latin typeface="Calibri"/>
                <a:cs typeface="Calibri"/>
              </a:rPr>
              <a:t>Articulation involves clear pronunciation: It is the process of moving the tongue, jaws, lips and other organs of speech (articulators) to form speech units. </a:t>
            </a:r>
          </a:p>
          <a:p>
            <a:pPr marL="0" indent="0" algn="just">
              <a:buNone/>
            </a:pPr>
            <a:r>
              <a:rPr lang="en-US" sz="2400" b="1" dirty="0">
                <a:solidFill>
                  <a:schemeClr val="tx2">
                    <a:lumMod val="76000"/>
                    <a:lumOff val="24000"/>
                  </a:schemeClr>
                </a:solidFill>
                <a:latin typeface="Calibri"/>
                <a:cs typeface="Calibri"/>
              </a:rPr>
              <a:t>Therefore</a:t>
            </a:r>
            <a:r>
              <a:rPr lang="en-US" sz="2400" dirty="0">
                <a:solidFill>
                  <a:schemeClr val="tx2">
                    <a:lumMod val="76000"/>
                    <a:lumOff val="24000"/>
                  </a:schemeClr>
                </a:solidFill>
                <a:latin typeface="Calibri"/>
                <a:cs typeface="Calibri"/>
              </a:rPr>
              <a:t>, to improve one's oral communication and to make it more effective,  one is required to hone one’s articulation skill</a:t>
            </a:r>
            <a:endParaRPr lang="en-US" sz="2400" dirty="0">
              <a:latin typeface="Calibri"/>
              <a:cs typeface="Calibri"/>
            </a:endParaRPr>
          </a:p>
          <a:p>
            <a:pPr marL="0" indent="0" algn="just">
              <a:buNone/>
            </a:pPr>
            <a:r>
              <a:rPr lang="en-US" sz="2400" b="1" dirty="0">
                <a:solidFill>
                  <a:schemeClr val="tx2">
                    <a:lumMod val="76000"/>
                    <a:lumOff val="24000"/>
                  </a:schemeClr>
                </a:solidFill>
                <a:latin typeface="Calibri"/>
                <a:cs typeface="Calibri"/>
              </a:rPr>
              <a:t>A common observation</a:t>
            </a:r>
            <a:r>
              <a:rPr lang="en-US" sz="2400" dirty="0">
                <a:solidFill>
                  <a:schemeClr val="tx2">
                    <a:lumMod val="76000"/>
                    <a:lumOff val="24000"/>
                  </a:schemeClr>
                </a:solidFill>
                <a:latin typeface="Calibri"/>
                <a:cs typeface="Calibri"/>
              </a:rPr>
              <a:t>: A person with good articulation skills is generally preferred  over/to a person who cannot articulate properly.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71731D-DF8F-BA20-221F-19FA726D1F43}"/>
              </a:ext>
            </a:extLst>
          </p:cNvPr>
          <p:cNvSpPr txBox="1"/>
          <p:nvPr/>
        </p:nvSpPr>
        <p:spPr>
          <a:xfrm>
            <a:off x="840638" y="586864"/>
            <a:ext cx="11124738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u="sng" dirty="0">
                <a:latin typeface="Calibri"/>
                <a:cs typeface="Calibri"/>
              </a:rPr>
              <a:t>What are </a:t>
            </a:r>
            <a:r>
              <a:rPr lang="en-US" sz="3200" b="1" u="sng" dirty="0">
                <a:latin typeface="Calibri"/>
                <a:cs typeface="Calibri"/>
              </a:rPr>
              <a:t>Articulation Skills</a:t>
            </a:r>
            <a:r>
              <a:rPr lang="en-US" sz="3200" u="sng" dirty="0">
                <a:latin typeface="Calibri"/>
                <a:cs typeface="Calibri"/>
              </a:rPr>
              <a:t>?</a:t>
            </a:r>
            <a:r>
              <a:rPr lang="en-US" sz="3200" dirty="0">
                <a:solidFill>
                  <a:schemeClr val="tx2">
                    <a:lumMod val="76000"/>
                    <a:lumOff val="24000"/>
                  </a:schemeClr>
                </a:solidFill>
                <a:latin typeface="Calibri"/>
                <a:cs typeface="Calibri"/>
              </a:rPr>
              <a:t> </a:t>
            </a:r>
            <a:r>
              <a:rPr lang="en-US" sz="3200" u="sng" dirty="0">
                <a:solidFill>
                  <a:schemeClr val="tx2">
                    <a:lumMod val="76000"/>
                    <a:lumOff val="24000"/>
                  </a:schemeClr>
                </a:solidFill>
                <a:latin typeface="Calibri"/>
                <a:cs typeface="Calibri"/>
              </a:rPr>
              <a:t>Why are they important to learn?</a:t>
            </a:r>
          </a:p>
        </p:txBody>
      </p:sp>
    </p:spTree>
    <p:extLst>
      <p:ext uri="{BB962C8B-B14F-4D97-AF65-F5344CB8AC3E}">
        <p14:creationId xmlns:p14="http://schemas.microsoft.com/office/powerpoint/2010/main" val="3058646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D2836F-C11E-1CBB-8928-E6B931F55F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68639"/>
            <a:ext cx="10515600" cy="570832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The twenty six (26) letters of the </a:t>
            </a:r>
            <a:r>
              <a:rPr lang="en-US" i="1" dirty="0">
                <a:ea typeface="+mn-lt"/>
                <a:cs typeface="+mn-lt"/>
              </a:rPr>
              <a:t>English</a:t>
            </a:r>
            <a:r>
              <a:rPr lang="en-US" dirty="0">
                <a:ea typeface="+mn-lt"/>
                <a:cs typeface="+mn-lt"/>
              </a:rPr>
              <a:t> alphabet individually or in combination produce forty four (44) different speech sounds</a:t>
            </a:r>
          </a:p>
          <a:p>
            <a:r>
              <a:rPr lang="en-US" dirty="0">
                <a:solidFill>
                  <a:srgbClr val="0070C0"/>
                </a:solidFill>
              </a:rPr>
              <a:t>It is important to learn to produce each sound clearly, because such a </a:t>
            </a:r>
            <a:r>
              <a:rPr lang="en-US" dirty="0"/>
              <a:t>knowledge makes our speech better and more effective</a:t>
            </a:r>
          </a:p>
          <a:p>
            <a:endParaRPr lang="en-US" dirty="0"/>
          </a:p>
          <a:p>
            <a:r>
              <a:rPr lang="en-US" dirty="0">
                <a:solidFill>
                  <a:srgbClr val="0070C0"/>
                </a:solidFill>
              </a:rPr>
              <a:t>Mispronunciation of sounds in any language is highly likely to lead to confusion and misunderstandings at times, for example, in English, the difference between the sounds of letter '</a:t>
            </a:r>
            <a:r>
              <a:rPr lang="en-US" b="1" dirty="0">
                <a:solidFill>
                  <a:srgbClr val="0070C0"/>
                </a:solidFill>
              </a:rPr>
              <a:t>s</a:t>
            </a:r>
            <a:r>
              <a:rPr lang="en-US" dirty="0">
                <a:solidFill>
                  <a:srgbClr val="0070C0"/>
                </a:solidFill>
              </a:rPr>
              <a:t>' in the words '</a:t>
            </a:r>
            <a:r>
              <a:rPr lang="en-US" b="1" u="sng" dirty="0">
                <a:solidFill>
                  <a:srgbClr val="0070C0"/>
                </a:solidFill>
              </a:rPr>
              <a:t>s</a:t>
            </a:r>
            <a:r>
              <a:rPr lang="en-US" b="1" dirty="0">
                <a:solidFill>
                  <a:srgbClr val="0070C0"/>
                </a:solidFill>
              </a:rPr>
              <a:t>eat</a:t>
            </a:r>
            <a:r>
              <a:rPr lang="en-US" dirty="0">
                <a:solidFill>
                  <a:srgbClr val="0070C0"/>
                </a:solidFill>
              </a:rPr>
              <a:t>' and '</a:t>
            </a:r>
            <a:r>
              <a:rPr lang="en-US" b="1" u="sng" dirty="0">
                <a:solidFill>
                  <a:srgbClr val="0070C0"/>
                </a:solidFill>
              </a:rPr>
              <a:t>sh</a:t>
            </a:r>
            <a:r>
              <a:rPr lang="en-US" b="1" dirty="0">
                <a:solidFill>
                  <a:srgbClr val="0070C0"/>
                </a:solidFill>
              </a:rPr>
              <a:t>eet</a:t>
            </a:r>
            <a:r>
              <a:rPr lang="en-US" dirty="0">
                <a:solidFill>
                  <a:srgbClr val="0070C0"/>
                </a:solidFill>
              </a:rPr>
              <a:t>' should be articulated clearly</a:t>
            </a:r>
          </a:p>
          <a:p>
            <a:r>
              <a:rPr lang="en-US" dirty="0">
                <a:solidFill>
                  <a:srgbClr val="0070C0"/>
                </a:solidFill>
              </a:rPr>
              <a:t>Likewise, the vowel sounds in the words, '</a:t>
            </a:r>
            <a:r>
              <a:rPr lang="en-US" b="1" dirty="0">
                <a:solidFill>
                  <a:srgbClr val="0070C0"/>
                </a:solidFill>
              </a:rPr>
              <a:t>b</a:t>
            </a:r>
            <a:r>
              <a:rPr lang="en-US" b="1" u="sng" dirty="0">
                <a:solidFill>
                  <a:srgbClr val="0070C0"/>
                </a:solidFill>
              </a:rPr>
              <a:t>e</a:t>
            </a:r>
            <a:r>
              <a:rPr lang="en-US" b="1" dirty="0">
                <a:solidFill>
                  <a:srgbClr val="0070C0"/>
                </a:solidFill>
              </a:rPr>
              <a:t>d</a:t>
            </a:r>
            <a:r>
              <a:rPr lang="en-US" dirty="0">
                <a:solidFill>
                  <a:srgbClr val="0070C0"/>
                </a:solidFill>
              </a:rPr>
              <a:t>' and '</a:t>
            </a:r>
            <a:r>
              <a:rPr lang="en-US" b="1" dirty="0">
                <a:solidFill>
                  <a:srgbClr val="0070C0"/>
                </a:solidFill>
              </a:rPr>
              <a:t>b</a:t>
            </a:r>
            <a:r>
              <a:rPr lang="en-US" b="1" u="sng" dirty="0">
                <a:solidFill>
                  <a:srgbClr val="0070C0"/>
                </a:solidFill>
              </a:rPr>
              <a:t>a</a:t>
            </a:r>
            <a:r>
              <a:rPr lang="en-US" b="1" dirty="0">
                <a:solidFill>
                  <a:srgbClr val="0070C0"/>
                </a:solidFill>
              </a:rPr>
              <a:t>d</a:t>
            </a:r>
            <a:r>
              <a:rPr lang="en-US" dirty="0">
                <a:solidFill>
                  <a:srgbClr val="0070C0"/>
                </a:solidFill>
              </a:rPr>
              <a:t>' are different.</a:t>
            </a:r>
          </a:p>
        </p:txBody>
      </p:sp>
    </p:spTree>
    <p:extLst>
      <p:ext uri="{BB962C8B-B14F-4D97-AF65-F5344CB8AC3E}">
        <p14:creationId xmlns:p14="http://schemas.microsoft.com/office/powerpoint/2010/main" val="1396328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F07AF-4838-6379-71DD-9A3067E9A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Correspondence between Letters and Sounds in English Language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B6AE7D-892D-976D-BB0D-2CF2C65550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There is no one to one relation between a letter and its corresponding sound in English language</a:t>
            </a:r>
          </a:p>
          <a:p>
            <a:r>
              <a:rPr lang="en-US" dirty="0"/>
              <a:t>Recall that: 26 letters in the English alphabet are used to represent 44 different speech sounds in English. </a:t>
            </a:r>
          </a:p>
          <a:p>
            <a:r>
              <a:rPr lang="en-US" dirty="0">
                <a:solidFill>
                  <a:srgbClr val="0070C0"/>
                </a:solidFill>
              </a:rPr>
              <a:t>For instance,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The sounds of letter '</a:t>
            </a:r>
            <a:r>
              <a:rPr lang="en-US" b="1" dirty="0">
                <a:solidFill>
                  <a:srgbClr val="0070C0"/>
                </a:solidFill>
              </a:rPr>
              <a:t>a</a:t>
            </a:r>
            <a:r>
              <a:rPr lang="en-US" dirty="0">
                <a:solidFill>
                  <a:srgbClr val="0070C0"/>
                </a:solidFill>
              </a:rPr>
              <a:t>' in the words </a:t>
            </a:r>
            <a:r>
              <a:rPr lang="en-US" b="1" i="1" dirty="0">
                <a:solidFill>
                  <a:srgbClr val="0070C0"/>
                </a:solidFill>
              </a:rPr>
              <a:t>ago</a:t>
            </a:r>
            <a:r>
              <a:rPr lang="en-US" dirty="0">
                <a:solidFill>
                  <a:srgbClr val="0070C0"/>
                </a:solidFill>
              </a:rPr>
              <a:t>, </a:t>
            </a:r>
            <a:r>
              <a:rPr lang="en-US" b="1" i="1" dirty="0">
                <a:solidFill>
                  <a:srgbClr val="0070C0"/>
                </a:solidFill>
              </a:rPr>
              <a:t>cat</a:t>
            </a:r>
            <a:r>
              <a:rPr lang="en-US" dirty="0">
                <a:solidFill>
                  <a:srgbClr val="0070C0"/>
                </a:solidFill>
              </a:rPr>
              <a:t> and </a:t>
            </a:r>
            <a:r>
              <a:rPr lang="en-US" b="1" i="1" dirty="0">
                <a:solidFill>
                  <a:srgbClr val="0070C0"/>
                </a:solidFill>
              </a:rPr>
              <a:t>call</a:t>
            </a:r>
            <a:r>
              <a:rPr lang="en-US" dirty="0">
                <a:solidFill>
                  <a:srgbClr val="0070C0"/>
                </a:solidFill>
              </a:rPr>
              <a:t> are all different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Additionally, the letter '</a:t>
            </a:r>
            <a:r>
              <a:rPr lang="en-US" b="1" dirty="0">
                <a:solidFill>
                  <a:srgbClr val="0070C0"/>
                </a:solidFill>
              </a:rPr>
              <a:t>c</a:t>
            </a:r>
            <a:r>
              <a:rPr lang="en-US" dirty="0">
                <a:solidFill>
                  <a:srgbClr val="0070C0"/>
                </a:solidFill>
              </a:rPr>
              <a:t>' in the words </a:t>
            </a:r>
            <a:r>
              <a:rPr lang="en-US" b="1" i="1" dirty="0">
                <a:solidFill>
                  <a:srgbClr val="0070C0"/>
                </a:solidFill>
              </a:rPr>
              <a:t>camp</a:t>
            </a:r>
            <a:r>
              <a:rPr lang="en-US" dirty="0">
                <a:solidFill>
                  <a:srgbClr val="0070C0"/>
                </a:solidFill>
              </a:rPr>
              <a:t>, and </a:t>
            </a:r>
            <a:r>
              <a:rPr lang="en-US" b="1" i="1" dirty="0">
                <a:solidFill>
                  <a:srgbClr val="0070C0"/>
                </a:solidFill>
              </a:rPr>
              <a:t>century</a:t>
            </a:r>
            <a:r>
              <a:rPr lang="en-US" dirty="0">
                <a:solidFill>
                  <a:srgbClr val="0070C0"/>
                </a:solidFill>
              </a:rPr>
              <a:t>, and the letters </a:t>
            </a:r>
            <a:r>
              <a:rPr lang="en-US" b="1" dirty="0">
                <a:solidFill>
                  <a:srgbClr val="0070C0"/>
                </a:solidFill>
              </a:rPr>
              <a:t>‘</a:t>
            </a:r>
            <a:r>
              <a:rPr lang="en-US" b="1" dirty="0" err="1">
                <a:solidFill>
                  <a:srgbClr val="0070C0"/>
                </a:solidFill>
              </a:rPr>
              <a:t>ch</a:t>
            </a:r>
            <a:r>
              <a:rPr lang="en-US" b="1" dirty="0">
                <a:solidFill>
                  <a:srgbClr val="0070C0"/>
                </a:solidFill>
              </a:rPr>
              <a:t>’</a:t>
            </a:r>
            <a:r>
              <a:rPr lang="en-US" dirty="0">
                <a:solidFill>
                  <a:srgbClr val="0070C0"/>
                </a:solidFill>
              </a:rPr>
              <a:t> in </a:t>
            </a:r>
            <a:r>
              <a:rPr lang="en-US" b="1" i="1" dirty="0">
                <a:solidFill>
                  <a:srgbClr val="0070C0"/>
                </a:solidFill>
              </a:rPr>
              <a:t>chemistry</a:t>
            </a:r>
            <a:r>
              <a:rPr lang="en-US" dirty="0">
                <a:solidFill>
                  <a:srgbClr val="0070C0"/>
                </a:solidFill>
              </a:rPr>
              <a:t> and </a:t>
            </a:r>
            <a:r>
              <a:rPr lang="en-US" b="1" i="1" dirty="0">
                <a:solidFill>
                  <a:srgbClr val="0070C0"/>
                </a:solidFill>
              </a:rPr>
              <a:t>chef </a:t>
            </a:r>
            <a:r>
              <a:rPr lang="en-US" i="1" dirty="0">
                <a:solidFill>
                  <a:srgbClr val="0070C0"/>
                </a:solidFill>
              </a:rPr>
              <a:t> are </a:t>
            </a:r>
            <a:r>
              <a:rPr lang="en-US" dirty="0">
                <a:solidFill>
                  <a:srgbClr val="0070C0"/>
                </a:solidFill>
              </a:rPr>
              <a:t>pronounced differently. </a:t>
            </a:r>
            <a:endParaRPr lang="en-US" b="1" i="1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40152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AFDDC-7F89-B165-1F50-B6D16029F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International Phonetic Alphabet (IPA)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22BEB8-470E-4C8D-ECB5-883A313B48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6940"/>
            <a:ext cx="10515600" cy="435133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algn="just"/>
            <a:r>
              <a:rPr lang="en-US" dirty="0"/>
              <a:t>To avoid the confusion in letter-to-sound correspondence, International Phonetic Association introduced International Phonetic Alphabet.</a:t>
            </a:r>
          </a:p>
          <a:p>
            <a:pPr algn="just"/>
            <a:r>
              <a:rPr lang="en-US" dirty="0">
                <a:solidFill>
                  <a:srgbClr val="0070C0"/>
                </a:solidFill>
              </a:rPr>
              <a:t>There is one to one relation between an IPA symbol and the sound it represents. This means that one IPA symbol gives one sound unlike the English letters. </a:t>
            </a:r>
          </a:p>
          <a:p>
            <a:pPr algn="just"/>
            <a:r>
              <a:rPr lang="en-US" dirty="0">
                <a:ea typeface="+mn-lt"/>
                <a:cs typeface="+mn-lt"/>
              </a:rPr>
              <a:t>A </a:t>
            </a:r>
            <a:r>
              <a:rPr lang="en-US" b="1" dirty="0">
                <a:ea typeface="+mn-lt"/>
                <a:cs typeface="+mn-lt"/>
              </a:rPr>
              <a:t>phoneme</a:t>
            </a:r>
            <a:r>
              <a:rPr lang="en-US" dirty="0">
                <a:ea typeface="+mn-lt"/>
                <a:cs typeface="+mn-lt"/>
              </a:rPr>
              <a:t> is a speech sound. It is the smallest unit of sound that distinguishes one word from another. Since sounds cannot be written, we use IPA symbols to represent the sounds.</a:t>
            </a:r>
            <a:endParaRPr lang="en-US" dirty="0"/>
          </a:p>
          <a:p>
            <a:pPr algn="just"/>
            <a:r>
              <a:rPr lang="en-US" dirty="0">
                <a:solidFill>
                  <a:srgbClr val="0070C0"/>
                </a:solidFill>
              </a:rPr>
              <a:t>With the knowledge of phonemes, one can read the correct pronunciation of words of different languages including English.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82107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8574D-5F35-B243-3B56-E8CC02E44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5435" y="365125"/>
            <a:ext cx="10392336" cy="65459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IPA Chart</a:t>
            </a:r>
          </a:p>
        </p:txBody>
      </p:sp>
      <p:pic>
        <p:nvPicPr>
          <p:cNvPr id="3" name="Content Placeholder 2" descr="A close-up of a grid of letters&#10;&#10;Description automatically generated">
            <a:extLst>
              <a:ext uri="{FF2B5EF4-FFF2-40B4-BE49-F238E27FC236}">
                <a16:creationId xmlns:a16="http://schemas.microsoft.com/office/drawing/2014/main" id="{7B8654FE-4C2D-49F7-A775-6A0C7E551A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7370" y="2268463"/>
            <a:ext cx="10387697" cy="4066328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F1E664A-B6AC-DC7E-CD69-DAF34E95B2E2}"/>
              </a:ext>
            </a:extLst>
          </p:cNvPr>
          <p:cNvSpPr txBox="1"/>
          <p:nvPr/>
        </p:nvSpPr>
        <p:spPr>
          <a:xfrm>
            <a:off x="470401" y="1027125"/>
            <a:ext cx="11250457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000" dirty="0">
                <a:latin typeface="Calibri"/>
                <a:cs typeface="Calibri"/>
              </a:rPr>
              <a:t>Look at the following IPA chart that contains all 44 phonemes of English language. Each phoneme is tagged along with a word as an example. The highlighted letter(s) (in </a:t>
            </a:r>
            <a:r>
              <a:rPr lang="en-US" sz="2000" b="1" dirty="0">
                <a:latin typeface="Calibri"/>
                <a:cs typeface="Calibri"/>
              </a:rPr>
              <a:t>bold</a:t>
            </a:r>
            <a:r>
              <a:rPr lang="en-US" sz="2000" dirty="0">
                <a:latin typeface="Calibri"/>
                <a:cs typeface="Calibri"/>
              </a:rPr>
              <a:t>) denote(s) the sound of the IPA symbol written above it.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8226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281D8-0E40-143F-A306-A76A3B0FF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Classification of Human Speech Sounds in English Language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17310-6F82-1B6F-62DB-164752C9E6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As we know that the English letters are classified into two categories:</a:t>
            </a:r>
          </a:p>
          <a:p>
            <a:pPr marL="0" indent="0">
              <a:buNone/>
            </a:pP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) vowel letters, and (ii)consonant letters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Similarly, the English sounds are also divided into two categories: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(</a:t>
            </a:r>
            <a:r>
              <a:rPr lang="en-US" dirty="0" err="1">
                <a:solidFill>
                  <a:srgbClr val="0070C0"/>
                </a:solidFill>
              </a:rPr>
              <a:t>i</a:t>
            </a:r>
            <a:r>
              <a:rPr lang="en-US" dirty="0">
                <a:solidFill>
                  <a:srgbClr val="0070C0"/>
                </a:solidFill>
              </a:rPr>
              <a:t>) vowel sounds, and (ii) consonant sounds</a:t>
            </a:r>
          </a:p>
        </p:txBody>
      </p:sp>
    </p:spTree>
    <p:extLst>
      <p:ext uri="{BB962C8B-B14F-4D97-AF65-F5344CB8AC3E}">
        <p14:creationId xmlns:p14="http://schemas.microsoft.com/office/powerpoint/2010/main" val="16752975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9A63A-10E0-1190-641D-2F77A2FE5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Difference between Vowel and Consonant Sounds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54EA62-7B0A-1F54-0720-F28A5B34AA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0803"/>
            <a:ext cx="10515600" cy="4351338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When vowel sounds are articulated, the air from the lungs passes:</a:t>
            </a:r>
          </a:p>
          <a:p>
            <a:pPr marL="0" indent="0">
              <a:buNone/>
            </a:pPr>
            <a:r>
              <a:rPr lang="en-US" dirty="0" err="1"/>
              <a:t>i</a:t>
            </a:r>
            <a:r>
              <a:rPr lang="en-US" dirty="0"/>
              <a:t>.   freely </a:t>
            </a:r>
          </a:p>
          <a:p>
            <a:pPr marL="0" indent="0">
              <a:buNone/>
            </a:pPr>
            <a:r>
              <a:rPr lang="en-US" dirty="0"/>
              <a:t>ii.  continuously</a:t>
            </a:r>
          </a:p>
          <a:p>
            <a:pPr marL="0" indent="0">
              <a:buNone/>
            </a:pPr>
            <a:r>
              <a:rPr lang="en-US" dirty="0"/>
              <a:t>iii. through the mouth (oral cavity)</a:t>
            </a:r>
          </a:p>
          <a:p>
            <a:pPr marL="0" indent="0">
              <a:buNone/>
            </a:pPr>
            <a:r>
              <a:rPr lang="en-US" dirty="0"/>
              <a:t>The vowel sounds can also be elongated easily. There is no obstruction by the speech organs such as teeth, tongue, palate, etc.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On the other hand, during the articulation of consonant sounds, the air from the lungs does not pass freely.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During the articulation of sound given by letter 'b', the air is first obstructed by the lips after which there is a sudden release of lung air. </a:t>
            </a:r>
          </a:p>
        </p:txBody>
      </p:sp>
    </p:spTree>
    <p:extLst>
      <p:ext uri="{BB962C8B-B14F-4D97-AF65-F5344CB8AC3E}">
        <p14:creationId xmlns:p14="http://schemas.microsoft.com/office/powerpoint/2010/main" val="16022054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9A63A-10E0-1190-641D-2F77A2FE5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Diagram of Oral Tract responsible for speech production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54EA62-7B0A-1F54-0720-F28A5B34AA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0803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 </a:t>
            </a:r>
          </a:p>
        </p:txBody>
      </p:sp>
      <p:pic>
        <p:nvPicPr>
          <p:cNvPr id="4" name="Picture 3" descr="oral tract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63140"/>
            <a:ext cx="5690123" cy="43205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388697E-AE9C-3F59-B802-58F0A9F6C4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7265" y="2305185"/>
            <a:ext cx="6324040" cy="3934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2054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close-up of a white background&#10;&#10;Description automatically generated">
            <a:extLst>
              <a:ext uri="{FF2B5EF4-FFF2-40B4-BE49-F238E27FC236}">
                <a16:creationId xmlns:a16="http://schemas.microsoft.com/office/drawing/2014/main" id="{DCE62C22-4893-C131-0CE5-43FD870E1B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6569" y="1209762"/>
            <a:ext cx="11068425" cy="4998515"/>
          </a:xfr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408AD3B-A471-9861-77CC-4BD9EB0BAD6C}"/>
              </a:ext>
            </a:extLst>
          </p:cNvPr>
          <p:cNvSpPr txBox="1"/>
          <p:nvPr/>
        </p:nvSpPr>
        <p:spPr>
          <a:xfrm>
            <a:off x="632030" y="351519"/>
            <a:ext cx="10937308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/>
              <a:t>The following list contains the phonemic symbols for English vowel sounds. The spelling and the phonemic transcription of the words are given for better understanding.</a:t>
            </a:r>
          </a:p>
        </p:txBody>
      </p:sp>
    </p:spTree>
    <p:extLst>
      <p:ext uri="{BB962C8B-B14F-4D97-AF65-F5344CB8AC3E}">
        <p14:creationId xmlns:p14="http://schemas.microsoft.com/office/powerpoint/2010/main" val="7644580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close-up of a chart&#10;&#10;Description automatically generated">
            <a:extLst>
              <a:ext uri="{FF2B5EF4-FFF2-40B4-BE49-F238E27FC236}">
                <a16:creationId xmlns:a16="http://schemas.microsoft.com/office/drawing/2014/main" id="{5E1B8EA9-ADE8-4C6F-9130-EB96FAFC4A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7612" y="1209761"/>
            <a:ext cx="11046338" cy="5113338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74821B3-2C3C-CFF1-32FD-EE3F1EB4F817}"/>
              </a:ext>
            </a:extLst>
          </p:cNvPr>
          <p:cNvSpPr txBox="1"/>
          <p:nvPr/>
        </p:nvSpPr>
        <p:spPr>
          <a:xfrm>
            <a:off x="570398" y="529469"/>
            <a:ext cx="11062567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ea typeface="+mn-lt"/>
                <a:cs typeface="+mn-lt"/>
              </a:rPr>
              <a:t>The following list contains the phonemic symbols for English consonant sounds. The spelling and the phonemic transcription of the words are given for better understanding.</a:t>
            </a:r>
            <a:endParaRPr lang="en-US" sz="2000">
              <a:ea typeface="+mn-lt"/>
              <a:cs typeface="+mn-lt"/>
            </a:endParaRPr>
          </a:p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5343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89399-EA00-05C8-6366-E1175F033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Sounds often mispronounced 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999635A-8781-94AA-4DC3-86E851E031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9730782"/>
              </p:ext>
            </p:extLst>
          </p:nvPr>
        </p:nvGraphicFramePr>
        <p:xfrm>
          <a:off x="835068" y="2755726"/>
          <a:ext cx="10515600" cy="39256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37221810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521057389"/>
                    </a:ext>
                  </a:extLst>
                </a:gridCol>
              </a:tblGrid>
              <a:tr h="414906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/>
                        </a:rPr>
                        <a:t>Spelling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/>
                        </a:rPr>
                        <a:t>Phonemic Transcription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4078078"/>
                  </a:ext>
                </a:extLst>
              </a:tr>
              <a:tr h="71767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dirty="0">
                          <a:latin typeface="Calibri"/>
                        </a:rPr>
                        <a:t>Advi</a:t>
                      </a:r>
                      <a:r>
                        <a:rPr lang="en-US" sz="1800" b="1" dirty="0">
                          <a:latin typeface="Calibri"/>
                        </a:rPr>
                        <a:t>s</a:t>
                      </a:r>
                      <a:r>
                        <a:rPr lang="en-US" sz="1800" dirty="0">
                          <a:latin typeface="Calibri"/>
                        </a:rPr>
                        <a:t>e</a:t>
                      </a:r>
                    </a:p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Advi</a:t>
                      </a:r>
                      <a:r>
                        <a:rPr lang="en-US" sz="1800" b="1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c</a:t>
                      </a: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e</a:t>
                      </a:r>
                      <a:endParaRPr lang="en-US" sz="1800" dirty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1D2A57"/>
                          </a:solidFill>
                          <a:latin typeface="Calibri"/>
                        </a:rPr>
                        <a:t>/</a:t>
                      </a:r>
                      <a:r>
                        <a:rPr lang="en-US" sz="1800" b="0" i="0" u="none" strike="noStrike" noProof="0" dirty="0" err="1">
                          <a:solidFill>
                            <a:srgbClr val="1D2A57"/>
                          </a:solidFill>
                          <a:latin typeface="Calibri"/>
                        </a:rPr>
                        <a:t>ədvaɪ</a:t>
                      </a:r>
                      <a:r>
                        <a:rPr lang="en-US" sz="1800" b="1" i="0" u="none" strike="noStrike" noProof="0" dirty="0" err="1">
                          <a:solidFill>
                            <a:srgbClr val="1D2A57"/>
                          </a:solidFill>
                          <a:latin typeface="Calibri"/>
                        </a:rPr>
                        <a:t>z</a:t>
                      </a:r>
                      <a:r>
                        <a:rPr lang="en-US" sz="1800" b="0" i="0" u="none" strike="noStrike" noProof="0" dirty="0">
                          <a:solidFill>
                            <a:srgbClr val="1D2A57"/>
                          </a:solidFill>
                          <a:latin typeface="Calibri"/>
                        </a:rPr>
                        <a:t>/</a:t>
                      </a:r>
                    </a:p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1D2A57"/>
                          </a:solidFill>
                          <a:latin typeface="Calibri"/>
                        </a:rPr>
                        <a:t>/</a:t>
                      </a:r>
                      <a:r>
                        <a:rPr lang="en-US" sz="1800" b="0" i="0" u="none" strike="noStrike" noProof="0" dirty="0" err="1">
                          <a:solidFill>
                            <a:srgbClr val="1D2A57"/>
                          </a:solidFill>
                          <a:latin typeface="Calibri"/>
                        </a:rPr>
                        <a:t>ədvaɪ</a:t>
                      </a:r>
                      <a:r>
                        <a:rPr lang="en-US" sz="1800" b="1" i="0" u="none" strike="noStrike" noProof="0" dirty="0" err="1">
                          <a:solidFill>
                            <a:srgbClr val="1D2A57"/>
                          </a:solidFill>
                          <a:latin typeface="Calibri"/>
                        </a:rPr>
                        <a:t>s</a:t>
                      </a:r>
                      <a:r>
                        <a:rPr lang="en-US" sz="1800" b="0" i="0" u="none" strike="noStrike" noProof="0" dirty="0">
                          <a:solidFill>
                            <a:srgbClr val="1D2A57"/>
                          </a:solidFill>
                          <a:latin typeface="Calibri"/>
                        </a:rPr>
                        <a:t>/</a:t>
                      </a:r>
                      <a:endParaRPr lang="en-US" sz="1800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7966651"/>
                  </a:ext>
                </a:extLst>
              </a:tr>
              <a:tr h="71767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Pri</a:t>
                      </a:r>
                      <a:r>
                        <a:rPr lang="en-US" sz="1800" b="1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z</a:t>
                      </a: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e</a:t>
                      </a:r>
                    </a:p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Pri</a:t>
                      </a:r>
                      <a:r>
                        <a:rPr lang="en-US" sz="1800" b="1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c</a:t>
                      </a: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e</a:t>
                      </a:r>
                      <a:endParaRPr lang="en-US" sz="1800" dirty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333333"/>
                          </a:solidFill>
                          <a:latin typeface="Calibri"/>
                        </a:rPr>
                        <a:t>/</a:t>
                      </a:r>
                      <a:r>
                        <a:rPr lang="en-US" sz="1800" b="0" i="0" u="none" strike="noStrike" noProof="0" dirty="0" err="1">
                          <a:solidFill>
                            <a:srgbClr val="333333"/>
                          </a:solidFill>
                          <a:latin typeface="Calibri"/>
                        </a:rPr>
                        <a:t>praɪ</a:t>
                      </a:r>
                      <a:r>
                        <a:rPr lang="en-US" sz="1800" b="1" i="0" u="none" strike="noStrike" noProof="0" dirty="0" err="1">
                          <a:solidFill>
                            <a:srgbClr val="333333"/>
                          </a:solidFill>
                          <a:latin typeface="Calibri"/>
                        </a:rPr>
                        <a:t>z</a:t>
                      </a:r>
                      <a:r>
                        <a:rPr lang="en-US" sz="1800" b="0" i="0" u="none" strike="noStrike" noProof="0" dirty="0">
                          <a:solidFill>
                            <a:srgbClr val="333333"/>
                          </a:solidFill>
                          <a:latin typeface="Calibri"/>
                        </a:rPr>
                        <a:t>/</a:t>
                      </a:r>
                    </a:p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333333"/>
                          </a:solidFill>
                          <a:latin typeface="Calibri"/>
                        </a:rPr>
                        <a:t>/</a:t>
                      </a:r>
                      <a:r>
                        <a:rPr lang="en-US" sz="1800" b="0" i="0" u="none" strike="noStrike" noProof="0" dirty="0" err="1">
                          <a:solidFill>
                            <a:srgbClr val="333333"/>
                          </a:solidFill>
                          <a:latin typeface="Calibri"/>
                        </a:rPr>
                        <a:t>praɪ</a:t>
                      </a:r>
                      <a:r>
                        <a:rPr lang="en-US" sz="1800" b="1" i="0" u="none" strike="noStrike" noProof="0" dirty="0" err="1">
                          <a:solidFill>
                            <a:srgbClr val="333333"/>
                          </a:solidFill>
                          <a:latin typeface="Calibri"/>
                        </a:rPr>
                        <a:t>s</a:t>
                      </a:r>
                      <a:r>
                        <a:rPr lang="en-US" sz="1800" b="0" i="0" u="none" strike="noStrike" noProof="0" dirty="0">
                          <a:solidFill>
                            <a:srgbClr val="333333"/>
                          </a:solidFill>
                          <a:latin typeface="Calibri"/>
                        </a:rPr>
                        <a:t>/</a:t>
                      </a:r>
                      <a:endParaRPr lang="en-US" sz="1800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930844"/>
                  </a:ext>
                </a:extLst>
              </a:tr>
              <a:tr h="71767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333333"/>
                          </a:solidFill>
                          <a:latin typeface="Calibri"/>
                        </a:rPr>
                        <a:t>Lo</a:t>
                      </a:r>
                      <a:r>
                        <a:rPr lang="en-US" sz="1800" b="1" i="0" u="none" strike="noStrike" noProof="0" dirty="0">
                          <a:solidFill>
                            <a:srgbClr val="333333"/>
                          </a:solidFill>
                          <a:latin typeface="Calibri"/>
                        </a:rPr>
                        <a:t>s</a:t>
                      </a:r>
                      <a:r>
                        <a:rPr lang="en-US" sz="1800" b="0" i="0" u="none" strike="noStrike" noProof="0" dirty="0">
                          <a:solidFill>
                            <a:srgbClr val="333333"/>
                          </a:solidFill>
                          <a:latin typeface="Calibri"/>
                        </a:rPr>
                        <a:t>e</a:t>
                      </a:r>
                      <a:endParaRPr lang="en-US" sz="1800" dirty="0">
                        <a:latin typeface="Calibri"/>
                      </a:endParaRPr>
                    </a:p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333333"/>
                          </a:solidFill>
                          <a:latin typeface="Calibri"/>
                        </a:rPr>
                        <a:t>Loo</a:t>
                      </a:r>
                      <a:r>
                        <a:rPr lang="en-US" sz="1800" b="1" i="0" u="none" strike="noStrike" noProof="0" dirty="0">
                          <a:solidFill>
                            <a:srgbClr val="333333"/>
                          </a:solidFill>
                          <a:latin typeface="Calibri"/>
                        </a:rPr>
                        <a:t>s</a:t>
                      </a:r>
                      <a:r>
                        <a:rPr lang="en-US" sz="1800" b="0" i="0" u="none" strike="noStrike" noProof="0" dirty="0">
                          <a:solidFill>
                            <a:srgbClr val="333333"/>
                          </a:solidFill>
                          <a:latin typeface="Calibri"/>
                        </a:rPr>
                        <a:t>e</a:t>
                      </a:r>
                      <a:endParaRPr lang="en-US" sz="1800" dirty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333333"/>
                          </a:solidFill>
                          <a:latin typeface="Calibri"/>
                        </a:rPr>
                        <a:t>/</a:t>
                      </a:r>
                      <a:r>
                        <a:rPr lang="en-US" sz="1800" b="0" i="0" u="none" strike="noStrike" noProof="0" dirty="0" err="1">
                          <a:solidFill>
                            <a:srgbClr val="333333"/>
                          </a:solidFill>
                          <a:latin typeface="Calibri"/>
                        </a:rPr>
                        <a:t>luː</a:t>
                      </a:r>
                      <a:r>
                        <a:rPr lang="en-US" sz="1800" b="1" i="0" u="none" strike="noStrike" noProof="0" dirty="0" err="1">
                          <a:solidFill>
                            <a:srgbClr val="333333"/>
                          </a:solidFill>
                          <a:latin typeface="Calibri"/>
                        </a:rPr>
                        <a:t>z</a:t>
                      </a:r>
                      <a:r>
                        <a:rPr lang="en-US" sz="1800" b="0" i="0" u="none" strike="noStrike" noProof="0" dirty="0">
                          <a:solidFill>
                            <a:srgbClr val="333333"/>
                          </a:solidFill>
                          <a:latin typeface="Calibri"/>
                        </a:rPr>
                        <a:t>/</a:t>
                      </a:r>
                    </a:p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333333"/>
                          </a:solidFill>
                          <a:latin typeface="Calibri"/>
                        </a:rPr>
                        <a:t>/</a:t>
                      </a:r>
                      <a:r>
                        <a:rPr lang="en-US" sz="1800" b="0" i="0" u="none" strike="noStrike" noProof="0" dirty="0" err="1">
                          <a:solidFill>
                            <a:srgbClr val="333333"/>
                          </a:solidFill>
                          <a:latin typeface="Calibri"/>
                        </a:rPr>
                        <a:t>luː</a:t>
                      </a:r>
                      <a:r>
                        <a:rPr lang="en-US" sz="1800" b="1" i="0" u="none" strike="noStrike" noProof="0" dirty="0" err="1">
                          <a:solidFill>
                            <a:srgbClr val="333333"/>
                          </a:solidFill>
                          <a:latin typeface="Calibri"/>
                        </a:rPr>
                        <a:t>s</a:t>
                      </a:r>
                      <a:r>
                        <a:rPr lang="en-US" sz="1800" b="0" i="0" u="none" strike="noStrike" noProof="0" dirty="0">
                          <a:solidFill>
                            <a:srgbClr val="333333"/>
                          </a:solidFill>
                          <a:latin typeface="Calibri"/>
                        </a:rPr>
                        <a:t>/</a:t>
                      </a:r>
                      <a:endParaRPr lang="en-US" sz="1800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77135"/>
                  </a:ext>
                </a:extLst>
              </a:tr>
              <a:tr h="717675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/>
                        </a:rPr>
                        <a:t>Ri</a:t>
                      </a:r>
                      <a:r>
                        <a:rPr lang="en-US" sz="1800" b="1" dirty="0">
                          <a:latin typeface="Calibri"/>
                        </a:rPr>
                        <a:t>s</a:t>
                      </a:r>
                      <a:r>
                        <a:rPr lang="en-US" sz="1800" dirty="0">
                          <a:latin typeface="Calibri"/>
                        </a:rPr>
                        <a:t>e</a:t>
                      </a:r>
                    </a:p>
                    <a:p>
                      <a:pPr lvl="0">
                        <a:buNone/>
                      </a:pPr>
                      <a:r>
                        <a:rPr lang="en-US" sz="1800" dirty="0">
                          <a:latin typeface="Calibri"/>
                        </a:rPr>
                        <a:t>Ri</a:t>
                      </a:r>
                      <a:r>
                        <a:rPr lang="en-US" sz="1800" b="1" dirty="0">
                          <a:latin typeface="Calibri"/>
                        </a:rPr>
                        <a:t>c</a:t>
                      </a:r>
                      <a:r>
                        <a:rPr lang="en-US" sz="1800" dirty="0">
                          <a:latin typeface="Calibri"/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333333"/>
                          </a:solidFill>
                          <a:latin typeface="Calibri"/>
                        </a:rPr>
                        <a:t>/</a:t>
                      </a:r>
                      <a:r>
                        <a:rPr lang="en-US" sz="1800" b="0" i="0" u="none" strike="noStrike" noProof="0" dirty="0" err="1">
                          <a:solidFill>
                            <a:srgbClr val="333333"/>
                          </a:solidFill>
                          <a:latin typeface="Calibri"/>
                        </a:rPr>
                        <a:t>raɪ</a:t>
                      </a:r>
                      <a:r>
                        <a:rPr lang="en-US" sz="1800" b="1" i="0" u="none" strike="noStrike" noProof="0" dirty="0" err="1">
                          <a:solidFill>
                            <a:srgbClr val="333333"/>
                          </a:solidFill>
                          <a:latin typeface="Calibri"/>
                        </a:rPr>
                        <a:t>z</a:t>
                      </a:r>
                      <a:r>
                        <a:rPr lang="en-US" sz="1800" b="0" i="0" u="none" strike="noStrike" noProof="0" dirty="0">
                          <a:solidFill>
                            <a:srgbClr val="333333"/>
                          </a:solidFill>
                          <a:latin typeface="Calibri"/>
                        </a:rPr>
                        <a:t>/</a:t>
                      </a:r>
                      <a:endParaRPr lang="en-US" sz="1800" dirty="0">
                        <a:latin typeface="Calibri"/>
                      </a:endParaRPr>
                    </a:p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333333"/>
                          </a:solidFill>
                          <a:latin typeface="Calibri"/>
                        </a:rPr>
                        <a:t>/</a:t>
                      </a:r>
                      <a:r>
                        <a:rPr lang="en-US" sz="1800" b="0" i="0" u="none" strike="noStrike" noProof="0" dirty="0" err="1">
                          <a:solidFill>
                            <a:srgbClr val="333333"/>
                          </a:solidFill>
                          <a:latin typeface="Calibri"/>
                        </a:rPr>
                        <a:t>raɪ</a:t>
                      </a:r>
                      <a:r>
                        <a:rPr lang="en-US" sz="1800" b="1" i="0" u="none" strike="noStrike" noProof="0" dirty="0" err="1">
                          <a:solidFill>
                            <a:srgbClr val="333333"/>
                          </a:solidFill>
                          <a:latin typeface="Calibri"/>
                        </a:rPr>
                        <a:t>s</a:t>
                      </a:r>
                      <a:r>
                        <a:rPr lang="en-US" sz="1800" b="0" i="0" u="none" strike="noStrike" noProof="0" dirty="0">
                          <a:solidFill>
                            <a:srgbClr val="333333"/>
                          </a:solidFill>
                          <a:latin typeface="Calibri"/>
                        </a:rPr>
                        <a:t>/</a:t>
                      </a:r>
                      <a:endParaRPr lang="en-US" sz="1800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5703205"/>
                  </a:ext>
                </a:extLst>
              </a:tr>
              <a:tr h="414906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/>
                        </a:rPr>
                        <a:t>Goo</a:t>
                      </a:r>
                      <a:r>
                        <a:rPr lang="en-US" sz="1800" b="1" dirty="0">
                          <a:latin typeface="Calibri"/>
                        </a:rPr>
                        <a:t>s</a:t>
                      </a:r>
                      <a:r>
                        <a:rPr lang="en-US" sz="1800" dirty="0">
                          <a:latin typeface="Calibri"/>
                        </a:rPr>
                        <a:t>e</a:t>
                      </a:r>
                    </a:p>
                    <a:p>
                      <a:pPr lvl="0">
                        <a:buNone/>
                      </a:pPr>
                      <a:r>
                        <a:rPr lang="en-US" sz="1800" dirty="0">
                          <a:latin typeface="Calibri"/>
                        </a:rPr>
                        <a:t>Goe</a:t>
                      </a:r>
                      <a:r>
                        <a:rPr lang="en-US" sz="1800" b="1" dirty="0">
                          <a:latin typeface="Calibri"/>
                        </a:rPr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/>
                        </a:rPr>
                        <a:t>/</a:t>
                      </a:r>
                      <a:r>
                        <a:rPr lang="en-US" sz="1800" dirty="0" err="1">
                          <a:latin typeface="Calibri"/>
                        </a:rPr>
                        <a:t>gu:</a:t>
                      </a:r>
                      <a:r>
                        <a:rPr lang="en-US" sz="1800" b="1" dirty="0" err="1">
                          <a:latin typeface="Calibri"/>
                        </a:rPr>
                        <a:t>s</a:t>
                      </a:r>
                      <a:r>
                        <a:rPr lang="en-US" sz="1800" dirty="0">
                          <a:latin typeface="Calibri"/>
                        </a:rPr>
                        <a:t>/</a:t>
                      </a:r>
                    </a:p>
                    <a:p>
                      <a:pPr lvl="0">
                        <a:buNone/>
                      </a:pPr>
                      <a:r>
                        <a:rPr lang="en-US" sz="1800" dirty="0">
                          <a:latin typeface="Calibri"/>
                        </a:rPr>
                        <a:t>/</a:t>
                      </a:r>
                      <a:r>
                        <a:rPr lang="en-US" sz="1800" b="0" i="0" u="none" strike="noStrike" noProof="0" dirty="0" err="1">
                          <a:solidFill>
                            <a:srgbClr val="1D2A57"/>
                          </a:solidFill>
                          <a:latin typeface="Calibri"/>
                        </a:rPr>
                        <a:t>ɡəʊ</a:t>
                      </a:r>
                      <a:r>
                        <a:rPr lang="en-US" sz="1800" b="1" i="0" u="none" strike="noStrike" noProof="0" dirty="0" err="1">
                          <a:solidFill>
                            <a:srgbClr val="1D2A57"/>
                          </a:solidFill>
                          <a:latin typeface="Calibri"/>
                        </a:rPr>
                        <a:t>z</a:t>
                      </a:r>
                      <a:r>
                        <a:rPr lang="en-US" sz="1800" b="0" i="0" u="none" strike="noStrike" noProof="0" dirty="0">
                          <a:solidFill>
                            <a:srgbClr val="1D2A57"/>
                          </a:solidFill>
                          <a:latin typeface="Calibri"/>
                        </a:rPr>
                        <a:t>/</a:t>
                      </a:r>
                      <a:endParaRPr lang="en-US" sz="1800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837406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09347DB-D599-FA7D-41E7-9A3D97F4B94A}"/>
              </a:ext>
            </a:extLst>
          </p:cNvPr>
          <p:cNvSpPr txBox="1"/>
          <p:nvPr/>
        </p:nvSpPr>
        <p:spPr>
          <a:xfrm>
            <a:off x="837949" y="1713669"/>
            <a:ext cx="10248378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/z/</a:t>
            </a:r>
            <a:r>
              <a:rPr lang="en-US" sz="2400" dirty="0"/>
              <a:t> and </a:t>
            </a:r>
            <a:r>
              <a:rPr lang="en-US" sz="2400" dirty="0">
                <a:solidFill>
                  <a:schemeClr val="tx2"/>
                </a:solidFill>
              </a:rPr>
              <a:t>/s/</a:t>
            </a:r>
          </a:p>
          <a:p>
            <a:r>
              <a:rPr lang="en-US" dirty="0">
                <a:solidFill>
                  <a:schemeClr val="tx2"/>
                </a:solidFill>
                <a:latin typeface="Calibri"/>
                <a:ea typeface="+mn-lt"/>
                <a:cs typeface="+mn-lt"/>
              </a:rPr>
              <a:t>PRACTICE: </a:t>
            </a:r>
            <a:r>
              <a:rPr lang="en-US" dirty="0">
                <a:solidFill>
                  <a:schemeClr val="tx2"/>
                </a:solidFill>
                <a:ea typeface="+mn-lt"/>
                <a:cs typeface="+mn-lt"/>
              </a:rPr>
              <a:t>Articulate the words aloud to learn the difference of sounds written in</a:t>
            </a:r>
            <a:r>
              <a:rPr lang="en-US" b="1" dirty="0">
                <a:solidFill>
                  <a:schemeClr val="tx2"/>
                </a:solidFill>
                <a:ea typeface="+mn-lt"/>
                <a:cs typeface="+mn-lt"/>
              </a:rPr>
              <a:t> bold</a:t>
            </a:r>
            <a:r>
              <a:rPr lang="en-US" dirty="0">
                <a:solidFill>
                  <a:schemeClr val="tx2"/>
                </a:solidFill>
                <a:ea typeface="+mn-lt"/>
                <a:cs typeface="+mn-lt"/>
              </a:rPr>
              <a:t>.</a:t>
            </a:r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01601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875DD-D225-DE2C-D05A-D01892557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ea typeface="+mj-lt"/>
                <a:cs typeface="+mj-lt"/>
              </a:rPr>
              <a:t>Sounds often mispronounced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CDE326A-4CEC-7E8A-B3DD-44B17117F4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55354778"/>
              </p:ext>
            </p:extLst>
          </p:nvPr>
        </p:nvGraphicFramePr>
        <p:xfrm>
          <a:off x="874058" y="2622176"/>
          <a:ext cx="10487570" cy="3734667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243785">
                  <a:extLst>
                    <a:ext uri="{9D8B030D-6E8A-4147-A177-3AD203B41FA5}">
                      <a16:colId xmlns:a16="http://schemas.microsoft.com/office/drawing/2014/main" val="3128288875"/>
                    </a:ext>
                  </a:extLst>
                </a:gridCol>
                <a:gridCol w="5243785">
                  <a:extLst>
                    <a:ext uri="{9D8B030D-6E8A-4147-A177-3AD203B41FA5}">
                      <a16:colId xmlns:a16="http://schemas.microsoft.com/office/drawing/2014/main" val="1969677398"/>
                    </a:ext>
                  </a:extLst>
                </a:gridCol>
              </a:tblGrid>
              <a:tr h="479375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2000" b="1" i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Spelling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90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2000" b="1" i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Phonemic Transcription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90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736852"/>
                  </a:ext>
                </a:extLst>
              </a:tr>
              <a:tr h="813823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2000" b="1" i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</a:t>
                      </a:r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est (</a:t>
                      </a:r>
                    </a:p>
                    <a:p>
                      <a:pPr algn="l" rtl="0" fontAlgn="base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</a:t>
                      </a: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est</a:t>
                      </a: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90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2000" b="0" i="0" u="none" strike="noStrike">
                          <a:solidFill>
                            <a:srgbClr val="1D2A57"/>
                          </a:solidFill>
                          <a:effectLst/>
                          <a:latin typeface="Calibri"/>
                        </a:rPr>
                        <a:t>/</a:t>
                      </a:r>
                      <a:r>
                        <a:rPr lang="en-US" sz="2000" b="1" i="0" u="none" strike="noStrike">
                          <a:solidFill>
                            <a:srgbClr val="1D2A57"/>
                          </a:solidFill>
                          <a:effectLst/>
                          <a:latin typeface="Calibri"/>
                        </a:rPr>
                        <a:t>v</a:t>
                      </a:r>
                      <a:r>
                        <a:rPr lang="en-US" sz="2000" b="0" i="0" u="none" strike="noStrike">
                          <a:solidFill>
                            <a:srgbClr val="1D2A57"/>
                          </a:solidFill>
                          <a:effectLst/>
                          <a:latin typeface="Calibri"/>
                        </a:rPr>
                        <a:t>est/</a:t>
                      </a:r>
                      <a:endParaRPr lang="en-US" sz="2000" b="0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algn="l" rtl="0" fontAlgn="base"/>
                      <a:r>
                        <a:rPr lang="en-US" sz="2000" b="0" i="0" u="none" strike="noStrike">
                          <a:solidFill>
                            <a:srgbClr val="1D2A57"/>
                          </a:solidFill>
                          <a:effectLst/>
                          <a:latin typeface="Calibri"/>
                        </a:rPr>
                        <a:t>/</a:t>
                      </a:r>
                      <a:r>
                        <a:rPr lang="en-US" sz="2000" b="1" i="0" u="none" strike="noStrike">
                          <a:solidFill>
                            <a:srgbClr val="1D2A57"/>
                          </a:solidFill>
                          <a:effectLst/>
                          <a:latin typeface="Calibri"/>
                        </a:rPr>
                        <a:t>w</a:t>
                      </a:r>
                      <a:r>
                        <a:rPr lang="en-US" sz="2000" b="0" i="0" u="none" strike="noStrike">
                          <a:solidFill>
                            <a:srgbClr val="1D2A57"/>
                          </a:solidFill>
                          <a:effectLst/>
                          <a:latin typeface="Calibri"/>
                        </a:rPr>
                        <a:t>est/</a:t>
                      </a:r>
                      <a:endParaRPr lang="en-US" sz="2000" b="0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90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8795176"/>
                  </a:ext>
                </a:extLst>
              </a:tr>
              <a:tr h="813823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</a:t>
                      </a: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et</a:t>
                      </a:r>
                    </a:p>
                    <a:p>
                      <a:pPr algn="l" rtl="0" fontAlgn="base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</a:t>
                      </a: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et</a:t>
                      </a: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2000" b="0" i="0" u="none" strike="noStrike">
                          <a:solidFill>
                            <a:srgbClr val="333333"/>
                          </a:solidFill>
                          <a:effectLst/>
                          <a:latin typeface="Calibri"/>
                        </a:rPr>
                        <a:t>/</a:t>
                      </a:r>
                      <a:r>
                        <a:rPr lang="en-US" sz="2000" b="1" i="0" u="none" strike="noStrike">
                          <a:solidFill>
                            <a:srgbClr val="333333"/>
                          </a:solidFill>
                          <a:effectLst/>
                          <a:latin typeface="Calibri"/>
                        </a:rPr>
                        <a:t>v</a:t>
                      </a:r>
                      <a:r>
                        <a:rPr lang="en-US" sz="2000" b="0" i="0" u="none" strike="noStrike">
                          <a:solidFill>
                            <a:srgbClr val="333333"/>
                          </a:solidFill>
                          <a:effectLst/>
                          <a:latin typeface="Calibri"/>
                        </a:rPr>
                        <a:t>et/</a:t>
                      </a:r>
                      <a:endParaRPr lang="en-US" sz="2000" b="0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algn="l" rtl="0" fontAlgn="base"/>
                      <a:r>
                        <a:rPr lang="en-US" sz="2000" b="0" i="0" u="none" strike="noStrike">
                          <a:solidFill>
                            <a:srgbClr val="333333"/>
                          </a:solidFill>
                          <a:effectLst/>
                          <a:latin typeface="Calibri"/>
                        </a:rPr>
                        <a:t>/</a:t>
                      </a:r>
                      <a:r>
                        <a:rPr lang="en-US" sz="2000" b="1" i="0" u="none" strike="noStrike">
                          <a:solidFill>
                            <a:srgbClr val="333333"/>
                          </a:solidFill>
                          <a:effectLst/>
                          <a:latin typeface="Calibri"/>
                        </a:rPr>
                        <a:t>w</a:t>
                      </a:r>
                      <a:r>
                        <a:rPr lang="en-US" sz="2000" b="0" i="0" u="none" strike="noStrike">
                          <a:solidFill>
                            <a:srgbClr val="333333"/>
                          </a:solidFill>
                          <a:effectLst/>
                          <a:latin typeface="Calibri"/>
                        </a:rPr>
                        <a:t>et/</a:t>
                      </a:r>
                      <a:endParaRPr lang="en-US" sz="2000" b="0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4262876"/>
                  </a:ext>
                </a:extLst>
              </a:tr>
              <a:tr h="813823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2000" b="1" i="0" u="none" strike="noStrike">
                          <a:solidFill>
                            <a:srgbClr val="333333"/>
                          </a:solidFill>
                          <a:effectLst/>
                          <a:latin typeface="Calibri"/>
                        </a:rPr>
                        <a:t>V</a:t>
                      </a:r>
                      <a:r>
                        <a:rPr lang="en-US" sz="2000" b="0" i="0" u="none" strike="noStrike">
                          <a:solidFill>
                            <a:srgbClr val="333333"/>
                          </a:solidFill>
                          <a:effectLst/>
                          <a:latin typeface="Calibri"/>
                        </a:rPr>
                        <a:t>ine</a:t>
                      </a:r>
                    </a:p>
                    <a:p>
                      <a:pPr algn="l" rtl="0" fontAlgn="base"/>
                      <a:r>
                        <a:rPr lang="en-US" sz="2000" b="1" i="0" u="none" strike="noStrike">
                          <a:solidFill>
                            <a:srgbClr val="333333"/>
                          </a:solidFill>
                          <a:effectLst/>
                          <a:latin typeface="Calibri"/>
                        </a:rPr>
                        <a:t>W</a:t>
                      </a:r>
                      <a:r>
                        <a:rPr lang="en-US" sz="2000" b="0" i="0" u="none" strike="noStrike">
                          <a:solidFill>
                            <a:srgbClr val="333333"/>
                          </a:solidFill>
                          <a:effectLst/>
                          <a:latin typeface="Calibri"/>
                        </a:rPr>
                        <a:t>ine</a:t>
                      </a: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2000" b="0" i="0" u="none" strike="noStrike">
                          <a:solidFill>
                            <a:srgbClr val="333333"/>
                          </a:solidFill>
                          <a:effectLst/>
                          <a:latin typeface="Calibri"/>
                        </a:rPr>
                        <a:t>/</a:t>
                      </a:r>
                      <a:r>
                        <a:rPr lang="en-US" sz="2000" b="1" i="0" u="none" strike="noStrike" noProof="0" err="1">
                          <a:solidFill>
                            <a:srgbClr val="1F1F1F"/>
                          </a:solidFill>
                          <a:effectLst/>
                          <a:latin typeface="Calibri"/>
                        </a:rPr>
                        <a:t>v</a:t>
                      </a:r>
                      <a:r>
                        <a:rPr lang="en-US" sz="2000" b="0" i="0" u="none" strike="noStrike" noProof="0" err="1">
                          <a:solidFill>
                            <a:srgbClr val="1F1F1F"/>
                          </a:solidFill>
                          <a:effectLst/>
                          <a:latin typeface="Calibri"/>
                        </a:rPr>
                        <a:t>aɪn</a:t>
                      </a:r>
                      <a:r>
                        <a:rPr lang="en-US" sz="2000" b="0" i="0" u="none" strike="noStrike">
                          <a:solidFill>
                            <a:srgbClr val="333333"/>
                          </a:solidFill>
                          <a:effectLst/>
                          <a:latin typeface="Calibri"/>
                        </a:rPr>
                        <a:t>/</a:t>
                      </a:r>
                      <a:endParaRPr lang="en-US" sz="2000" b="0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algn="l" rtl="0" fontAlgn="base"/>
                      <a:r>
                        <a:rPr lang="en-US" sz="2000" b="0" i="0" u="none" strike="noStrike">
                          <a:solidFill>
                            <a:srgbClr val="333333"/>
                          </a:solidFill>
                          <a:effectLst/>
                          <a:latin typeface="Calibri"/>
                        </a:rPr>
                        <a:t>/</a:t>
                      </a:r>
                      <a:r>
                        <a:rPr lang="en-US" sz="2000" b="1" i="0" err="1">
                          <a:solidFill>
                            <a:srgbClr val="212529"/>
                          </a:solidFill>
                          <a:latin typeface="Calibri"/>
                        </a:rPr>
                        <a:t>w</a:t>
                      </a:r>
                      <a:r>
                        <a:rPr lang="en-US" sz="2000" b="0" i="0" err="1">
                          <a:solidFill>
                            <a:srgbClr val="212529"/>
                          </a:solidFill>
                          <a:latin typeface="Calibri"/>
                        </a:rPr>
                        <a:t>aɪn</a:t>
                      </a:r>
                      <a:r>
                        <a:rPr lang="en-US" sz="2000" b="0" i="0" u="none" strike="noStrike">
                          <a:solidFill>
                            <a:srgbClr val="333333"/>
                          </a:solidFill>
                          <a:effectLst/>
                          <a:latin typeface="Calibri"/>
                        </a:rPr>
                        <a:t>/</a:t>
                      </a:r>
                      <a:endParaRPr lang="en-US" sz="2000" b="0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6192646"/>
                  </a:ext>
                </a:extLst>
              </a:tr>
              <a:tr h="813823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2000" b="1" i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</a:t>
                      </a:r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eil</a:t>
                      </a:r>
                    </a:p>
                    <a:p>
                      <a:pPr algn="l" rtl="0" fontAlgn="base"/>
                      <a:r>
                        <a:rPr lang="en-US" sz="2000" b="1" i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Wh</a:t>
                      </a:r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ale</a:t>
                      </a: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2000" b="0" i="0" u="none" strike="noStrike">
                          <a:solidFill>
                            <a:srgbClr val="333333"/>
                          </a:solidFill>
                          <a:effectLst/>
                          <a:latin typeface="Calibri"/>
                        </a:rPr>
                        <a:t>/</a:t>
                      </a:r>
                      <a:r>
                        <a:rPr lang="en-US" sz="2000" b="1" i="0" u="none" strike="noStrike" noProof="0" err="1">
                          <a:solidFill>
                            <a:srgbClr val="333333"/>
                          </a:solidFill>
                          <a:effectLst/>
                          <a:latin typeface="Calibri"/>
                        </a:rPr>
                        <a:t>v</a:t>
                      </a:r>
                      <a:r>
                        <a:rPr lang="en-US" sz="2000" b="0" i="0" u="none" strike="noStrike" noProof="0" err="1">
                          <a:solidFill>
                            <a:srgbClr val="333333"/>
                          </a:solidFill>
                          <a:effectLst/>
                          <a:latin typeface="Calibri"/>
                        </a:rPr>
                        <a:t>eɪl</a:t>
                      </a:r>
                      <a:r>
                        <a:rPr lang="en-US" sz="2000" b="0" i="0" u="none" strike="noStrike">
                          <a:solidFill>
                            <a:srgbClr val="333333"/>
                          </a:solidFill>
                          <a:effectLst/>
                          <a:latin typeface="Calibri"/>
                        </a:rPr>
                        <a:t>/</a:t>
                      </a:r>
                      <a:endParaRPr lang="en-US" sz="2000" b="0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algn="l" rtl="0" fontAlgn="base"/>
                      <a:r>
                        <a:rPr lang="en-US" sz="2000" b="0" i="0" u="none" strike="noStrike">
                          <a:solidFill>
                            <a:srgbClr val="333333"/>
                          </a:solidFill>
                          <a:effectLst/>
                          <a:latin typeface="Calibri"/>
                        </a:rPr>
                        <a:t>/</a:t>
                      </a:r>
                      <a:r>
                        <a:rPr lang="en-US" sz="2000" b="1" i="0" u="none" strike="noStrike" noProof="0" err="1">
                          <a:solidFill>
                            <a:srgbClr val="333333"/>
                          </a:solidFill>
                          <a:effectLst/>
                          <a:latin typeface="Calibri"/>
                        </a:rPr>
                        <a:t>w</a:t>
                      </a:r>
                      <a:r>
                        <a:rPr lang="en-US" sz="2000" b="0" i="0" u="none" strike="noStrike" noProof="0" err="1">
                          <a:solidFill>
                            <a:srgbClr val="333333"/>
                          </a:solidFill>
                          <a:effectLst/>
                          <a:latin typeface="Calibri"/>
                        </a:rPr>
                        <a:t>eɪl</a:t>
                      </a:r>
                      <a:r>
                        <a:rPr lang="en-US" sz="2000" b="0" i="0" u="none" strike="noStrike">
                          <a:solidFill>
                            <a:srgbClr val="333333"/>
                          </a:solidFill>
                          <a:effectLst/>
                          <a:latin typeface="Calibri"/>
                        </a:rPr>
                        <a:t>/</a:t>
                      </a: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704721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A18330C-D0BB-A8EC-0C70-384259372CE3}"/>
              </a:ext>
            </a:extLst>
          </p:cNvPr>
          <p:cNvSpPr txBox="1"/>
          <p:nvPr/>
        </p:nvSpPr>
        <p:spPr>
          <a:xfrm>
            <a:off x="832928" y="1347080"/>
            <a:ext cx="10524843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solidFill>
                  <a:schemeClr val="tx2"/>
                </a:solidFill>
                <a:ea typeface="+mn-lt"/>
                <a:cs typeface="+mn-lt"/>
              </a:rPr>
              <a:t>/v/</a:t>
            </a:r>
            <a:r>
              <a:rPr lang="en-US" sz="2400" dirty="0">
                <a:ea typeface="+mn-lt"/>
                <a:cs typeface="+mn-lt"/>
              </a:rPr>
              <a:t> and </a:t>
            </a:r>
            <a:r>
              <a:rPr lang="en-US" sz="2400" dirty="0">
                <a:solidFill>
                  <a:schemeClr val="tx2"/>
                </a:solidFill>
                <a:ea typeface="+mn-lt"/>
                <a:cs typeface="+mn-lt"/>
              </a:rPr>
              <a:t>/w/ </a:t>
            </a:r>
          </a:p>
          <a:p>
            <a:r>
              <a:rPr lang="en-US" dirty="0">
                <a:solidFill>
                  <a:schemeClr val="tx2"/>
                </a:solidFill>
                <a:latin typeface="Calibri"/>
                <a:ea typeface="+mn-lt"/>
                <a:cs typeface="+mn-lt"/>
              </a:rPr>
              <a:t>/v/ articulated with lower lip and upper front teeth; /w/ articulated with rounded lips</a:t>
            </a:r>
          </a:p>
          <a:p>
            <a:r>
              <a:rPr lang="en-US" dirty="0">
                <a:solidFill>
                  <a:schemeClr val="tx2"/>
                </a:solidFill>
                <a:ea typeface="+mn-lt"/>
                <a:cs typeface="+mn-lt"/>
              </a:rPr>
              <a:t>PRACTICE: Articulate the words aloud to learn the difference of sounds written in </a:t>
            </a:r>
            <a:r>
              <a:rPr lang="en-US" b="1" dirty="0">
                <a:solidFill>
                  <a:schemeClr val="tx2"/>
                </a:solidFill>
                <a:ea typeface="+mn-lt"/>
                <a:cs typeface="+mn-lt"/>
              </a:rPr>
              <a:t>bold</a:t>
            </a:r>
            <a:r>
              <a:rPr lang="en-US" dirty="0">
                <a:solidFill>
                  <a:schemeClr val="tx2"/>
                </a:solidFill>
                <a:ea typeface="+mn-lt"/>
                <a:cs typeface="+mn-lt"/>
              </a:rPr>
              <a:t>.</a:t>
            </a:r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65716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875DD-D225-DE2C-D05A-D01892557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0468"/>
            <a:ext cx="10515600" cy="1325563"/>
          </a:xfrm>
        </p:spPr>
        <p:txBody>
          <a:bodyPr>
            <a:normAutofit/>
          </a:bodyPr>
          <a:lstStyle/>
          <a:p>
            <a:r>
              <a:rPr lang="en-US">
                <a:ea typeface="+mj-lt"/>
                <a:cs typeface="+mj-lt"/>
              </a:rPr>
              <a:t>Sounds often mispronounced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CDE326A-4CEC-7E8A-B3DD-44B17117F4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2347894"/>
              </p:ext>
            </p:extLst>
          </p:nvPr>
        </p:nvGraphicFramePr>
        <p:xfrm>
          <a:off x="874058" y="2622176"/>
          <a:ext cx="10487570" cy="3734667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243785">
                  <a:extLst>
                    <a:ext uri="{9D8B030D-6E8A-4147-A177-3AD203B41FA5}">
                      <a16:colId xmlns:a16="http://schemas.microsoft.com/office/drawing/2014/main" val="3128288875"/>
                    </a:ext>
                  </a:extLst>
                </a:gridCol>
                <a:gridCol w="5243785">
                  <a:extLst>
                    <a:ext uri="{9D8B030D-6E8A-4147-A177-3AD203B41FA5}">
                      <a16:colId xmlns:a16="http://schemas.microsoft.com/office/drawing/2014/main" val="1969677398"/>
                    </a:ext>
                  </a:extLst>
                </a:gridCol>
              </a:tblGrid>
              <a:tr h="479375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1" i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Spelling</a:t>
                      </a: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90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1" i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Phonemic Transcription</a:t>
                      </a: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90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736852"/>
                  </a:ext>
                </a:extLst>
              </a:tr>
              <a:tr h="813823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Sta</a:t>
                      </a:r>
                      <a:r>
                        <a:rPr lang="en-US" sz="1800" b="1" i="0" u="sng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</a:t>
                      </a:r>
                    </a:p>
                    <a:p>
                      <a:pPr algn="l" rtl="0" fontAlgn="base"/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Stay</a:t>
                      </a:r>
                      <a:r>
                        <a:rPr lang="en-US" sz="1800" b="1" i="0" u="non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</a:t>
                      </a: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90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i="0" u="none" strike="noStrike">
                          <a:solidFill>
                            <a:srgbClr val="1D2A57"/>
                          </a:solidFill>
                          <a:effectLst/>
                          <a:latin typeface="Calibri"/>
                        </a:rPr>
                        <a:t>/</a:t>
                      </a:r>
                      <a:r>
                        <a:rPr lang="en-US" sz="1800" b="0" i="0" u="none" strike="noStrike" noProof="0" err="1">
                          <a:solidFill>
                            <a:srgbClr val="1D2A57"/>
                          </a:solidFill>
                          <a:effectLst/>
                          <a:latin typeface="Calibri"/>
                        </a:rPr>
                        <a:t>steɪ</a:t>
                      </a:r>
                      <a:r>
                        <a:rPr lang="en-US" sz="1800" b="1" i="0" u="none" strike="noStrike" noProof="0" err="1">
                          <a:solidFill>
                            <a:srgbClr val="1D2A57"/>
                          </a:solidFill>
                          <a:effectLst/>
                          <a:latin typeface="Calibri"/>
                        </a:rPr>
                        <a:t>dʒ</a:t>
                      </a:r>
                      <a:r>
                        <a:rPr lang="en-US" sz="1800" b="0" i="0" u="none" strike="noStrike">
                          <a:solidFill>
                            <a:srgbClr val="1D2A57"/>
                          </a:solidFill>
                          <a:effectLst/>
                          <a:latin typeface="Calibri"/>
                        </a:rPr>
                        <a:t>/</a:t>
                      </a:r>
                      <a:endParaRPr lang="en-US" sz="1800" b="0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algn="l" rtl="0" fontAlgn="base"/>
                      <a:r>
                        <a:rPr lang="en-US" sz="1800" b="0" i="0" u="none" strike="noStrike">
                          <a:solidFill>
                            <a:srgbClr val="1D2A57"/>
                          </a:solidFill>
                          <a:effectLst/>
                          <a:latin typeface="Calibri"/>
                        </a:rPr>
                        <a:t>/</a:t>
                      </a:r>
                      <a:r>
                        <a:rPr lang="en-US" sz="1800" b="0" i="0" u="none" strike="noStrike" noProof="0" err="1">
                          <a:solidFill>
                            <a:srgbClr val="1D2A57"/>
                          </a:solidFill>
                          <a:effectLst/>
                          <a:latin typeface="Calibri"/>
                        </a:rPr>
                        <a:t>steɪ</a:t>
                      </a:r>
                      <a:r>
                        <a:rPr lang="en-US" sz="1800" b="1" i="0" u="none" strike="noStrike" noProof="0" err="1">
                          <a:solidFill>
                            <a:srgbClr val="1D2A57"/>
                          </a:solidFill>
                          <a:effectLst/>
                          <a:latin typeface="Calibri"/>
                        </a:rPr>
                        <a:t>z</a:t>
                      </a:r>
                      <a:r>
                        <a:rPr lang="en-US" sz="1800" b="0" i="0" u="none" strike="noStrike">
                          <a:solidFill>
                            <a:srgbClr val="1D2A57"/>
                          </a:solidFill>
                          <a:effectLst/>
                          <a:latin typeface="Calibri"/>
                        </a:rPr>
                        <a:t>/</a:t>
                      </a:r>
                      <a:endParaRPr lang="en-US" sz="1800" b="0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90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8795176"/>
                  </a:ext>
                </a:extLst>
              </a:tr>
              <a:tr h="813823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Ra</a:t>
                      </a:r>
                      <a:r>
                        <a:rPr lang="en-US" sz="1800" b="1" i="0" u="sng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</a:t>
                      </a: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</a:t>
                      </a:r>
                    </a:p>
                    <a:p>
                      <a:pPr algn="l" rtl="0" fontAlgn="base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Rai</a:t>
                      </a: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</a:t>
                      </a: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</a:t>
                      </a: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i="0" u="none" strike="noStrike">
                          <a:solidFill>
                            <a:srgbClr val="333333"/>
                          </a:solidFill>
                          <a:effectLst/>
                          <a:latin typeface="Calibri"/>
                        </a:rPr>
                        <a:t>/</a:t>
                      </a:r>
                      <a:r>
                        <a:rPr lang="en-US" sz="1800" b="0" i="0" u="none" strike="noStrike" noProof="0" err="1">
                          <a:solidFill>
                            <a:srgbClr val="1D2A57"/>
                          </a:solidFill>
                          <a:effectLst/>
                          <a:latin typeface="Calibri"/>
                        </a:rPr>
                        <a:t>reɪ</a:t>
                      </a:r>
                      <a:r>
                        <a:rPr lang="en-US" sz="1800" b="1" i="0" u="none" strike="noStrike" noProof="0" err="1">
                          <a:solidFill>
                            <a:srgbClr val="1D2A57"/>
                          </a:solidFill>
                          <a:effectLst/>
                          <a:latin typeface="Calibri"/>
                        </a:rPr>
                        <a:t>dʒ</a:t>
                      </a:r>
                      <a:r>
                        <a:rPr lang="en-US" sz="1800" b="0" i="0" u="none" strike="noStrike">
                          <a:solidFill>
                            <a:srgbClr val="333333"/>
                          </a:solidFill>
                          <a:effectLst/>
                          <a:latin typeface="Calibri"/>
                        </a:rPr>
                        <a:t>/</a:t>
                      </a:r>
                      <a:endParaRPr lang="en-US" sz="1800" b="0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algn="l" rtl="0" fontAlgn="base"/>
                      <a:r>
                        <a:rPr lang="en-US" sz="1800" b="0" i="0" u="none" strike="noStrike">
                          <a:solidFill>
                            <a:srgbClr val="333333"/>
                          </a:solidFill>
                          <a:effectLst/>
                          <a:latin typeface="Calibri"/>
                        </a:rPr>
                        <a:t>/</a:t>
                      </a:r>
                      <a:r>
                        <a:rPr lang="en-US" sz="1800" b="0" i="0" u="none" strike="noStrike" noProof="0" err="1">
                          <a:solidFill>
                            <a:srgbClr val="1D2A57"/>
                          </a:solidFill>
                          <a:effectLst/>
                          <a:latin typeface="Calibri"/>
                        </a:rPr>
                        <a:t>reɪ</a:t>
                      </a:r>
                      <a:r>
                        <a:rPr lang="en-US" sz="1800" b="1" i="0" u="none" strike="noStrike" noProof="0" err="1">
                          <a:solidFill>
                            <a:srgbClr val="1D2A57"/>
                          </a:solidFill>
                          <a:effectLst/>
                          <a:latin typeface="Calibri"/>
                        </a:rPr>
                        <a:t>z</a:t>
                      </a:r>
                      <a:r>
                        <a:rPr lang="en-US" sz="1800" b="0" i="0" u="none" strike="noStrike">
                          <a:solidFill>
                            <a:srgbClr val="333333"/>
                          </a:solidFill>
                          <a:effectLst/>
                          <a:latin typeface="Calibri"/>
                        </a:rPr>
                        <a:t>/</a:t>
                      </a:r>
                      <a:endParaRPr lang="en-US" sz="1800" b="0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4262876"/>
                  </a:ext>
                </a:extLst>
              </a:tr>
              <a:tr h="813823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i="0" u="none" strike="noStrike">
                          <a:solidFill>
                            <a:srgbClr val="333333"/>
                          </a:solidFill>
                          <a:effectLst/>
                          <a:latin typeface="Calibri"/>
                        </a:rPr>
                        <a:t>Pa</a:t>
                      </a:r>
                      <a:r>
                        <a:rPr lang="en-US" sz="1800" b="1" i="0" u="none" strike="noStrike">
                          <a:solidFill>
                            <a:srgbClr val="333333"/>
                          </a:solidFill>
                          <a:effectLst/>
                          <a:latin typeface="Calibri"/>
                        </a:rPr>
                        <a:t>g</a:t>
                      </a:r>
                      <a:r>
                        <a:rPr lang="en-US" sz="1800" b="0" i="0" u="none" strike="noStrike">
                          <a:solidFill>
                            <a:srgbClr val="333333"/>
                          </a:solidFill>
                          <a:effectLst/>
                          <a:latin typeface="Calibri"/>
                        </a:rPr>
                        <a:t>e</a:t>
                      </a:r>
                    </a:p>
                    <a:p>
                      <a:pPr algn="l" rtl="0" fontAlgn="base"/>
                      <a:r>
                        <a:rPr lang="en-US" sz="1800" b="0" i="0" u="none" strike="noStrike">
                          <a:solidFill>
                            <a:srgbClr val="333333"/>
                          </a:solidFill>
                          <a:effectLst/>
                          <a:latin typeface="Calibri"/>
                        </a:rPr>
                        <a:t>Pa</a:t>
                      </a:r>
                      <a:r>
                        <a:rPr lang="en-US" sz="1800" b="0" i="0" u="sng" strike="noStrike">
                          <a:solidFill>
                            <a:srgbClr val="333333"/>
                          </a:solidFill>
                          <a:effectLst/>
                          <a:latin typeface="Calibri"/>
                        </a:rPr>
                        <a:t>y</a:t>
                      </a:r>
                      <a:r>
                        <a:rPr lang="en-US" sz="1800" b="1" i="0" u="none" strike="noStrike">
                          <a:solidFill>
                            <a:srgbClr val="333333"/>
                          </a:solidFill>
                          <a:effectLst/>
                          <a:latin typeface="Calibri"/>
                        </a:rPr>
                        <a:t>s</a:t>
                      </a: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i="0" u="none" strike="noStrike">
                          <a:solidFill>
                            <a:srgbClr val="333333"/>
                          </a:solidFill>
                          <a:effectLst/>
                          <a:latin typeface="Calibri"/>
                        </a:rPr>
                        <a:t>/</a:t>
                      </a:r>
                      <a:r>
                        <a:rPr lang="en-US" sz="1800" b="0" i="0" u="none" strike="noStrike" noProof="0" err="1">
                          <a:solidFill>
                            <a:srgbClr val="1D2A57"/>
                          </a:solidFill>
                          <a:effectLst/>
                          <a:latin typeface="Calibri"/>
                        </a:rPr>
                        <a:t>peɪ</a:t>
                      </a:r>
                      <a:r>
                        <a:rPr lang="en-US" sz="1800" b="1" i="0" u="none" strike="noStrike" noProof="0" err="1">
                          <a:solidFill>
                            <a:srgbClr val="1D2A57"/>
                          </a:solidFill>
                          <a:effectLst/>
                          <a:latin typeface="Calibri"/>
                        </a:rPr>
                        <a:t>dʒ</a:t>
                      </a:r>
                      <a:r>
                        <a:rPr lang="en-US" sz="1800" b="0" i="0" u="none" strike="noStrike">
                          <a:solidFill>
                            <a:srgbClr val="333333"/>
                          </a:solidFill>
                          <a:effectLst/>
                          <a:latin typeface="Calibri"/>
                        </a:rPr>
                        <a:t>/</a:t>
                      </a:r>
                      <a:endParaRPr lang="en-US" sz="1800" b="0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algn="l" rtl="0" fontAlgn="base"/>
                      <a:r>
                        <a:rPr lang="en-US" sz="1800" b="0" i="0" u="none" strike="noStrike">
                          <a:solidFill>
                            <a:srgbClr val="333333"/>
                          </a:solidFill>
                          <a:effectLst/>
                          <a:latin typeface="Calibri"/>
                        </a:rPr>
                        <a:t>/</a:t>
                      </a:r>
                      <a:r>
                        <a:rPr lang="en-US" sz="1800" b="0" i="0" u="none" strike="noStrike" noProof="0" err="1">
                          <a:solidFill>
                            <a:srgbClr val="1D2A57"/>
                          </a:solidFill>
                          <a:effectLst/>
                          <a:latin typeface="Calibri"/>
                        </a:rPr>
                        <a:t>peɪ</a:t>
                      </a:r>
                      <a:r>
                        <a:rPr lang="en-US" sz="1800" b="1" i="0" u="none" strike="noStrike" noProof="0" err="1">
                          <a:solidFill>
                            <a:srgbClr val="1D2A57"/>
                          </a:solidFill>
                          <a:effectLst/>
                          <a:latin typeface="Calibri"/>
                        </a:rPr>
                        <a:t>z</a:t>
                      </a:r>
                      <a:r>
                        <a:rPr lang="en-US" sz="1800" b="0" i="0" u="none" strike="noStrike">
                          <a:solidFill>
                            <a:srgbClr val="333333"/>
                          </a:solidFill>
                          <a:effectLst/>
                          <a:latin typeface="Calibri"/>
                        </a:rPr>
                        <a:t>/</a:t>
                      </a:r>
                      <a:endParaRPr lang="en-US" sz="1800" b="0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6192646"/>
                  </a:ext>
                </a:extLst>
              </a:tr>
              <a:tr h="813823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Rea</a:t>
                      </a:r>
                      <a:r>
                        <a:rPr lang="en-US" sz="1800" b="1" i="0" u="non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ons</a:t>
                      </a:r>
                    </a:p>
                    <a:p>
                      <a:pPr lvl="0" algn="l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Re</a:t>
                      </a:r>
                      <a:r>
                        <a:rPr lang="en-US" sz="1800" b="1" i="0" u="sng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ions</a:t>
                      </a: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i="0" u="none" strike="noStrike">
                          <a:solidFill>
                            <a:srgbClr val="333333"/>
                          </a:solidFill>
                          <a:effectLst/>
                          <a:latin typeface="Calibri"/>
                        </a:rPr>
                        <a:t>/</a:t>
                      </a:r>
                      <a:r>
                        <a:rPr lang="en-US" sz="1800" b="0" i="0" u="none" strike="noStrike" noProof="0" err="1">
                          <a:solidFill>
                            <a:srgbClr val="1D2A57"/>
                          </a:solidFill>
                          <a:effectLst/>
                          <a:latin typeface="Calibri"/>
                        </a:rPr>
                        <a:t>riː</a:t>
                      </a:r>
                      <a:r>
                        <a:rPr lang="en-US" sz="1800" b="1" i="0" u="none" strike="noStrike" noProof="0" err="1">
                          <a:solidFill>
                            <a:srgbClr val="1D2A57"/>
                          </a:solidFill>
                          <a:effectLst/>
                          <a:latin typeface="Calibri"/>
                        </a:rPr>
                        <a:t>z</a:t>
                      </a:r>
                      <a:r>
                        <a:rPr lang="en-US" sz="1800" b="0" i="0" u="none" strike="noStrike" noProof="0" err="1">
                          <a:solidFill>
                            <a:srgbClr val="1D2A57"/>
                          </a:solidFill>
                          <a:effectLst/>
                          <a:latin typeface="Calibri"/>
                        </a:rPr>
                        <a:t>ən</a:t>
                      </a:r>
                      <a:r>
                        <a:rPr lang="en-US" sz="1800" b="1" i="0" u="none" strike="noStrike" noProof="0" err="1">
                          <a:solidFill>
                            <a:srgbClr val="1D2A57"/>
                          </a:solidFill>
                          <a:effectLst/>
                          <a:latin typeface="Calibri"/>
                        </a:rPr>
                        <a:t>z</a:t>
                      </a:r>
                      <a:r>
                        <a:rPr lang="en-US" sz="1800" b="0" i="0" u="none" strike="noStrike">
                          <a:solidFill>
                            <a:srgbClr val="333333"/>
                          </a:solidFill>
                          <a:effectLst/>
                          <a:latin typeface="Calibri"/>
                        </a:rPr>
                        <a:t>/</a:t>
                      </a:r>
                      <a:endParaRPr lang="en-US" sz="1800" b="0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algn="l" rtl="0" fontAlgn="base"/>
                      <a:r>
                        <a:rPr lang="en-US" sz="1800" b="0" i="0" u="none" strike="noStrike">
                          <a:solidFill>
                            <a:srgbClr val="333333"/>
                          </a:solidFill>
                          <a:effectLst/>
                          <a:latin typeface="Calibri"/>
                        </a:rPr>
                        <a:t>/</a:t>
                      </a:r>
                      <a:r>
                        <a:rPr lang="en-US" sz="1800" b="0" i="0" u="none" strike="noStrike" noProof="0" err="1">
                          <a:solidFill>
                            <a:srgbClr val="1D2A57"/>
                          </a:solidFill>
                          <a:effectLst/>
                          <a:latin typeface="Calibri"/>
                        </a:rPr>
                        <a:t>riː</a:t>
                      </a:r>
                      <a:r>
                        <a:rPr lang="en-US" sz="1800" b="1" i="0" u="none" strike="noStrike" noProof="0" err="1">
                          <a:solidFill>
                            <a:srgbClr val="1D2A57"/>
                          </a:solidFill>
                          <a:effectLst/>
                          <a:latin typeface="Calibri"/>
                        </a:rPr>
                        <a:t>dʒ</a:t>
                      </a:r>
                      <a:r>
                        <a:rPr lang="en-US" sz="1800" b="0" i="0" u="none" strike="noStrike" noProof="0" err="1">
                          <a:solidFill>
                            <a:srgbClr val="1D2A57"/>
                          </a:solidFill>
                          <a:effectLst/>
                          <a:latin typeface="Calibri"/>
                        </a:rPr>
                        <a:t>ənz</a:t>
                      </a:r>
                      <a:r>
                        <a:rPr lang="en-US" sz="1800" b="0" i="0" u="none" strike="noStrike">
                          <a:solidFill>
                            <a:srgbClr val="333333"/>
                          </a:solidFill>
                          <a:effectLst/>
                          <a:latin typeface="Calibri"/>
                        </a:rPr>
                        <a:t>/</a:t>
                      </a: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704721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A18330C-D0BB-A8EC-0C70-384259372CE3}"/>
              </a:ext>
            </a:extLst>
          </p:cNvPr>
          <p:cNvSpPr txBox="1"/>
          <p:nvPr/>
        </p:nvSpPr>
        <p:spPr>
          <a:xfrm>
            <a:off x="832928" y="1848121"/>
            <a:ext cx="10524843" cy="7595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solidFill>
                  <a:schemeClr val="tx2"/>
                </a:solidFill>
                <a:ea typeface="+mn-lt"/>
                <a:cs typeface="+mn-lt"/>
              </a:rPr>
              <a:t>/</a:t>
            </a:r>
            <a:r>
              <a:rPr lang="en-US" sz="1900" dirty="0" err="1">
                <a:solidFill>
                  <a:srgbClr val="000000"/>
                </a:solidFill>
                <a:latin typeface="Arial"/>
                <a:ea typeface="+mn-lt"/>
                <a:cs typeface="Arial"/>
              </a:rPr>
              <a:t>dʒ</a:t>
            </a:r>
            <a:r>
              <a:rPr lang="en-US" sz="2400" dirty="0">
                <a:solidFill>
                  <a:schemeClr val="tx2"/>
                </a:solidFill>
                <a:ea typeface="+mn-lt"/>
                <a:cs typeface="+mn-lt"/>
              </a:rPr>
              <a:t>/,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>
                <a:solidFill>
                  <a:schemeClr val="tx2"/>
                </a:solidFill>
                <a:ea typeface="+mn-lt"/>
                <a:cs typeface="+mn-lt"/>
              </a:rPr>
              <a:t>/</a:t>
            </a:r>
            <a:r>
              <a:rPr lang="en-US" sz="2400" dirty="0">
                <a:solidFill>
                  <a:schemeClr val="tx2"/>
                </a:solidFill>
                <a:latin typeface="Aptos"/>
                <a:ea typeface="+mn-lt"/>
                <a:cs typeface="Arial"/>
              </a:rPr>
              <a:t>z</a:t>
            </a:r>
            <a:r>
              <a:rPr lang="en-US" sz="2400" dirty="0">
                <a:solidFill>
                  <a:schemeClr val="tx2"/>
                </a:solidFill>
                <a:ea typeface="+mn-lt"/>
                <a:cs typeface="+mn-lt"/>
              </a:rPr>
              <a:t>/</a:t>
            </a:r>
          </a:p>
          <a:p>
            <a:r>
              <a:rPr lang="en-US" dirty="0">
                <a:solidFill>
                  <a:schemeClr val="tx2"/>
                </a:solidFill>
                <a:latin typeface="Aptos"/>
                <a:cs typeface="Arial"/>
              </a:rPr>
              <a:t>PRACTICE: Articulate the words aloud to learn the difference of sounds written in </a:t>
            </a:r>
            <a:r>
              <a:rPr lang="en-US" b="1" dirty="0">
                <a:solidFill>
                  <a:schemeClr val="tx2"/>
                </a:solidFill>
                <a:latin typeface="Aptos"/>
                <a:cs typeface="Arial"/>
              </a:rPr>
              <a:t>bold</a:t>
            </a:r>
            <a:r>
              <a:rPr lang="en-US" dirty="0">
                <a:solidFill>
                  <a:schemeClr val="tx2"/>
                </a:solidFill>
                <a:latin typeface="Aptos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196942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875DD-D225-DE2C-D05A-D01892557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ea typeface="+mj-lt"/>
                <a:cs typeface="+mj-lt"/>
              </a:rPr>
              <a:t>Sounds often mispronounced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CDE326A-4CEC-7E8A-B3DD-44B17117F4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67007813"/>
              </p:ext>
            </p:extLst>
          </p:nvPr>
        </p:nvGraphicFramePr>
        <p:xfrm>
          <a:off x="876821" y="2192054"/>
          <a:ext cx="10482534" cy="443965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238749">
                  <a:extLst>
                    <a:ext uri="{9D8B030D-6E8A-4147-A177-3AD203B41FA5}">
                      <a16:colId xmlns:a16="http://schemas.microsoft.com/office/drawing/2014/main" val="3128288875"/>
                    </a:ext>
                  </a:extLst>
                </a:gridCol>
                <a:gridCol w="5243785">
                  <a:extLst>
                    <a:ext uri="{9D8B030D-6E8A-4147-A177-3AD203B41FA5}">
                      <a16:colId xmlns:a16="http://schemas.microsoft.com/office/drawing/2014/main" val="1969677398"/>
                    </a:ext>
                  </a:extLst>
                </a:gridCol>
              </a:tblGrid>
              <a:tr h="538581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1" i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Spelling</a:t>
                      </a: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90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1" i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Phonemic Transcription</a:t>
                      </a: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90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736852"/>
                  </a:ext>
                </a:extLst>
              </a:tr>
              <a:tr h="1339175">
                <a:tc>
                  <a:txBody>
                    <a:bodyPr/>
                    <a:lstStyle/>
                    <a:p>
                      <a:pPr lvl="0" algn="l" rtl="0">
                        <a:buNone/>
                      </a:pPr>
                      <a:r>
                        <a:rPr lang="en-US" sz="1800" b="0" i="0" u="none" strike="noStrike">
                          <a:solidFill>
                            <a:srgbClr val="333333"/>
                          </a:solidFill>
                          <a:effectLst/>
                          <a:latin typeface="Calibri"/>
                        </a:rPr>
                        <a:t>Rea</a:t>
                      </a:r>
                      <a:r>
                        <a:rPr lang="en-US" sz="1800" b="1" i="0" u="none" strike="noStrike">
                          <a:solidFill>
                            <a:srgbClr val="333333"/>
                          </a:solidFill>
                          <a:effectLst/>
                          <a:latin typeface="Calibri"/>
                        </a:rPr>
                        <a:t>s</a:t>
                      </a:r>
                      <a:r>
                        <a:rPr lang="en-US" sz="1800" b="0" i="0" u="none" strike="noStrike">
                          <a:solidFill>
                            <a:srgbClr val="333333"/>
                          </a:solidFill>
                          <a:effectLst/>
                          <a:latin typeface="Calibri"/>
                        </a:rPr>
                        <a:t>on</a:t>
                      </a:r>
                      <a:endParaRPr lang="en-US" sz="1800" b="0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lvl="0" algn="l">
                        <a:buNone/>
                      </a:pPr>
                      <a:r>
                        <a:rPr lang="en-US" sz="1800" b="0" i="0" u="none" strike="noStrike">
                          <a:solidFill>
                            <a:srgbClr val="333333"/>
                          </a:solidFill>
                          <a:effectLst/>
                          <a:latin typeface="Calibri"/>
                        </a:rPr>
                        <a:t>Re</a:t>
                      </a:r>
                      <a:r>
                        <a:rPr lang="en-US" sz="1800" b="1" i="0" u="none" strike="noStrike">
                          <a:solidFill>
                            <a:srgbClr val="333333"/>
                          </a:solidFill>
                          <a:effectLst/>
                          <a:latin typeface="Calibri"/>
                        </a:rPr>
                        <a:t>g</a:t>
                      </a:r>
                      <a:r>
                        <a:rPr lang="en-US" sz="1800" b="0" i="0" u="none" strike="noStrike">
                          <a:solidFill>
                            <a:srgbClr val="333333"/>
                          </a:solidFill>
                          <a:effectLst/>
                          <a:latin typeface="Calibri"/>
                        </a:rPr>
                        <a:t>ion</a:t>
                      </a:r>
                      <a:endParaRPr lang="en-US" sz="1800">
                        <a:latin typeface="Calibri"/>
                      </a:endParaRPr>
                    </a:p>
                    <a:p>
                      <a:pPr lvl="0" algn="l">
                        <a:buNone/>
                      </a:pPr>
                      <a:r>
                        <a:rPr lang="en-US" sz="1800" b="0" i="0" u="none" strike="noStrike">
                          <a:solidFill>
                            <a:srgbClr val="333333"/>
                          </a:solidFill>
                          <a:effectLst/>
                          <a:latin typeface="Calibri"/>
                        </a:rPr>
                        <a:t>Vi</a:t>
                      </a:r>
                      <a:r>
                        <a:rPr lang="en-US" sz="1800" b="1" i="0" u="none" strike="noStrike">
                          <a:solidFill>
                            <a:srgbClr val="333333"/>
                          </a:solidFill>
                          <a:effectLst/>
                          <a:latin typeface="Calibri"/>
                        </a:rPr>
                        <a:t>s</a:t>
                      </a:r>
                      <a:r>
                        <a:rPr lang="en-US" sz="1800" b="0" i="0" u="none" strike="noStrike">
                          <a:solidFill>
                            <a:srgbClr val="333333"/>
                          </a:solidFill>
                          <a:effectLst/>
                          <a:latin typeface="Calibri"/>
                        </a:rPr>
                        <a:t>ion</a:t>
                      </a:r>
                      <a:endParaRPr lang="en-US" sz="1800">
                        <a:latin typeface="Calibri"/>
                      </a:endParaRPr>
                    </a:p>
                    <a:p>
                      <a:pPr lvl="0" algn="l">
                        <a:buNone/>
                      </a:pPr>
                      <a:r>
                        <a:rPr lang="en-US" sz="1800" b="0" i="0" u="none" strike="noStrike">
                          <a:solidFill>
                            <a:srgbClr val="333333"/>
                          </a:solidFill>
                          <a:effectLst/>
                          <a:latin typeface="Calibri"/>
                        </a:rPr>
                        <a:t>Mi</a:t>
                      </a:r>
                      <a:r>
                        <a:rPr lang="en-US" sz="1800" b="1" i="0" u="none" strike="noStrike">
                          <a:solidFill>
                            <a:srgbClr val="333333"/>
                          </a:solidFill>
                          <a:effectLst/>
                          <a:latin typeface="Calibri"/>
                        </a:rPr>
                        <a:t>ss</a:t>
                      </a:r>
                      <a:r>
                        <a:rPr lang="en-US" sz="1800" b="0" i="0" u="none" strike="noStrike">
                          <a:solidFill>
                            <a:srgbClr val="333333"/>
                          </a:solidFill>
                          <a:effectLst/>
                          <a:latin typeface="Calibri"/>
                        </a:rPr>
                        <a:t>ion</a:t>
                      </a:r>
                      <a:endParaRPr lang="en-US" sz="1800">
                        <a:latin typeface="Calibri"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90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rtl="0">
                        <a:buNone/>
                      </a:pPr>
                      <a:r>
                        <a:rPr lang="en-US" sz="1800" b="0" i="0" u="none" strike="noStrike">
                          <a:solidFill>
                            <a:srgbClr val="333333"/>
                          </a:solidFill>
                          <a:effectLst/>
                          <a:latin typeface="Calibri"/>
                        </a:rPr>
                        <a:t>/</a:t>
                      </a:r>
                      <a:r>
                        <a:rPr lang="en-US" sz="1800" b="0" i="0" u="none" strike="noStrike" noProof="0" err="1">
                          <a:solidFill>
                            <a:srgbClr val="1D2A57"/>
                          </a:solidFill>
                          <a:effectLst/>
                          <a:latin typeface="Calibri"/>
                        </a:rPr>
                        <a:t>riː</a:t>
                      </a:r>
                      <a:r>
                        <a:rPr lang="en-US" sz="1800" b="1" i="0" u="none" strike="noStrike" noProof="0" err="1">
                          <a:solidFill>
                            <a:srgbClr val="1D2A57"/>
                          </a:solidFill>
                          <a:effectLst/>
                          <a:latin typeface="Calibri"/>
                        </a:rPr>
                        <a:t>z</a:t>
                      </a:r>
                      <a:r>
                        <a:rPr lang="en-US" sz="1800" b="0" i="0" u="none" strike="noStrike" noProof="0" err="1">
                          <a:solidFill>
                            <a:srgbClr val="1D2A57"/>
                          </a:solidFill>
                          <a:effectLst/>
                          <a:latin typeface="Calibri"/>
                        </a:rPr>
                        <a:t>ən</a:t>
                      </a:r>
                      <a:r>
                        <a:rPr lang="en-US" sz="1800" b="0" i="0" u="none" strike="noStrike">
                          <a:solidFill>
                            <a:srgbClr val="333333"/>
                          </a:solidFill>
                          <a:effectLst/>
                          <a:latin typeface="Calibri"/>
                        </a:rPr>
                        <a:t>/</a:t>
                      </a:r>
                      <a:endParaRPr lang="en-US" sz="1800" b="0" i="0">
                        <a:solidFill>
                          <a:srgbClr val="333333"/>
                        </a:solidFill>
                        <a:effectLst/>
                        <a:latin typeface="Calibri"/>
                      </a:endParaRPr>
                    </a:p>
                    <a:p>
                      <a:pPr lvl="0" algn="l" rtl="0">
                        <a:buNone/>
                      </a:pPr>
                      <a:r>
                        <a:rPr lang="en-US" sz="1800" b="0" i="0" u="none" strike="noStrike">
                          <a:solidFill>
                            <a:srgbClr val="333333"/>
                          </a:solidFill>
                          <a:effectLst/>
                          <a:latin typeface="Calibri"/>
                        </a:rPr>
                        <a:t>/</a:t>
                      </a:r>
                      <a:r>
                        <a:rPr lang="en-US" sz="1800" b="0" i="0" u="none" strike="noStrike" noProof="0" err="1">
                          <a:solidFill>
                            <a:srgbClr val="1D2A57"/>
                          </a:solidFill>
                          <a:effectLst/>
                          <a:latin typeface="Calibri"/>
                        </a:rPr>
                        <a:t>riː</a:t>
                      </a:r>
                      <a:r>
                        <a:rPr lang="en-US" sz="1800" b="1" i="0" u="none" strike="noStrike" noProof="0" err="1">
                          <a:solidFill>
                            <a:srgbClr val="1D2A57"/>
                          </a:solidFill>
                          <a:effectLst/>
                          <a:latin typeface="Calibri"/>
                        </a:rPr>
                        <a:t>dʒ</a:t>
                      </a:r>
                      <a:r>
                        <a:rPr lang="en-US" sz="1800" b="0" i="0" u="none" strike="noStrike" noProof="0" err="1">
                          <a:solidFill>
                            <a:srgbClr val="1D2A57"/>
                          </a:solidFill>
                          <a:effectLst/>
                          <a:latin typeface="Calibri"/>
                        </a:rPr>
                        <a:t>ən</a:t>
                      </a:r>
                      <a:r>
                        <a:rPr lang="en-US" sz="1800" b="0" i="0" u="none" strike="noStrike">
                          <a:solidFill>
                            <a:srgbClr val="333333"/>
                          </a:solidFill>
                          <a:effectLst/>
                          <a:latin typeface="Calibri"/>
                        </a:rPr>
                        <a:t>/</a:t>
                      </a:r>
                      <a:endParaRPr lang="en-US" sz="1800">
                        <a:solidFill>
                          <a:srgbClr val="333333"/>
                        </a:solidFill>
                        <a:latin typeface="Calibri"/>
                      </a:endParaRPr>
                    </a:p>
                    <a:p>
                      <a:pPr lvl="0" algn="l">
                        <a:buNone/>
                      </a:pPr>
                      <a:r>
                        <a:rPr lang="en-US" sz="1800" b="0" i="0" u="none" strike="noStrike">
                          <a:solidFill>
                            <a:srgbClr val="333333"/>
                          </a:solidFill>
                          <a:effectLst/>
                          <a:latin typeface="Calibri"/>
                        </a:rPr>
                        <a:t>/</a:t>
                      </a:r>
                      <a:r>
                        <a:rPr lang="en-US" sz="1800" b="0" i="0" u="none" strike="noStrike" noProof="0" err="1">
                          <a:solidFill>
                            <a:srgbClr val="1D2A57"/>
                          </a:solidFill>
                          <a:effectLst/>
                          <a:latin typeface="Calibri"/>
                        </a:rPr>
                        <a:t>vɪ</a:t>
                      </a:r>
                      <a:r>
                        <a:rPr lang="en-US" sz="1800" b="1" i="0" u="none" strike="noStrike" noProof="0" err="1">
                          <a:solidFill>
                            <a:srgbClr val="1D2A57"/>
                          </a:solidFill>
                          <a:effectLst/>
                          <a:latin typeface="Calibri"/>
                        </a:rPr>
                        <a:t>ʒ</a:t>
                      </a:r>
                      <a:r>
                        <a:rPr lang="en-US" sz="1800" b="0" i="0" u="none" strike="noStrike" noProof="0" err="1">
                          <a:solidFill>
                            <a:srgbClr val="1D2A57"/>
                          </a:solidFill>
                          <a:effectLst/>
                          <a:latin typeface="Calibri"/>
                        </a:rPr>
                        <a:t>ən</a:t>
                      </a:r>
                      <a:r>
                        <a:rPr lang="en-US" sz="1800" b="0" i="0" u="none" strike="noStrike" noProof="0">
                          <a:solidFill>
                            <a:srgbClr val="1D2A57"/>
                          </a:solidFill>
                          <a:effectLst/>
                          <a:latin typeface="Calibri"/>
                        </a:rPr>
                        <a:t>/</a:t>
                      </a:r>
                      <a:endParaRPr lang="en-US" sz="1800">
                        <a:latin typeface="Calibri"/>
                      </a:endParaRPr>
                    </a:p>
                    <a:p>
                      <a:pPr lvl="0" algn="l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333333"/>
                          </a:solidFill>
                          <a:effectLst/>
                          <a:latin typeface="Calibri"/>
                        </a:rPr>
                        <a:t>/</a:t>
                      </a:r>
                      <a:r>
                        <a:rPr lang="en-US" sz="1800" b="0" i="0" u="none" strike="noStrike" noProof="0" err="1">
                          <a:solidFill>
                            <a:srgbClr val="1D2A57"/>
                          </a:solidFill>
                          <a:effectLst/>
                          <a:latin typeface="Calibri"/>
                        </a:rPr>
                        <a:t>mɪ</a:t>
                      </a:r>
                      <a:r>
                        <a:rPr lang="en-US" sz="1800" b="1" i="0" u="none" strike="noStrike" noProof="0" err="1">
                          <a:solidFill>
                            <a:srgbClr val="1D2A57"/>
                          </a:solidFill>
                          <a:effectLst/>
                          <a:latin typeface="Calibri"/>
                        </a:rPr>
                        <a:t>ʃ</a:t>
                      </a:r>
                      <a:r>
                        <a:rPr lang="en-US" sz="1800" b="0" i="0" u="none" strike="noStrike" noProof="0" err="1">
                          <a:solidFill>
                            <a:srgbClr val="1D2A57"/>
                          </a:solidFill>
                          <a:effectLst/>
                          <a:latin typeface="Calibri"/>
                        </a:rPr>
                        <a:t>ən</a:t>
                      </a:r>
                      <a:r>
                        <a:rPr lang="en-US" sz="1800" b="0" i="0" u="none" strike="noStrike" noProof="0">
                          <a:solidFill>
                            <a:srgbClr val="1D2A57"/>
                          </a:solidFill>
                          <a:effectLst/>
                          <a:latin typeface="Calibri"/>
                        </a:rPr>
                        <a:t>/</a:t>
                      </a:r>
                      <a:endParaRPr lang="en-US" sz="1800">
                        <a:latin typeface="Calibri"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90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8795176"/>
                  </a:ext>
                </a:extLst>
              </a:tr>
              <a:tr h="1280950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Colle</a:t>
                      </a: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</a:t>
                      </a: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</a:t>
                      </a:r>
                    </a:p>
                    <a:p>
                      <a:pPr algn="l" rtl="0" fontAlgn="base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Colla</a:t>
                      </a: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</a:t>
                      </a: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</a:t>
                      </a:r>
                    </a:p>
                    <a:p>
                      <a:pPr lvl="0" algn="l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Coal</a:t>
                      </a: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</a:t>
                      </a:r>
                    </a:p>
                    <a:p>
                      <a:pPr lvl="0" algn="l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Poli</a:t>
                      </a: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sh</a:t>
                      </a: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i="0" u="none" strike="noStrike">
                          <a:solidFill>
                            <a:srgbClr val="333333"/>
                          </a:solidFill>
                          <a:effectLst/>
                          <a:latin typeface="Calibri"/>
                        </a:rPr>
                        <a:t>/</a:t>
                      </a:r>
                      <a:r>
                        <a:rPr lang="en-US" sz="1800" b="0" i="0" u="none" strike="noStrike" noProof="0" err="1">
                          <a:solidFill>
                            <a:srgbClr val="1D2A57"/>
                          </a:solidFill>
                          <a:effectLst/>
                          <a:latin typeface="Calibri"/>
                        </a:rPr>
                        <a:t>kɒlɪ</a:t>
                      </a:r>
                      <a:r>
                        <a:rPr lang="en-US" sz="1800" b="1" i="0" u="none" strike="noStrike" noProof="0" err="1">
                          <a:solidFill>
                            <a:srgbClr val="1D2A57"/>
                          </a:solidFill>
                          <a:effectLst/>
                          <a:latin typeface="Calibri"/>
                        </a:rPr>
                        <a:t>dʒ</a:t>
                      </a:r>
                      <a:r>
                        <a:rPr lang="en-US" sz="1800" b="0" i="0" u="none" strike="noStrike">
                          <a:solidFill>
                            <a:srgbClr val="333333"/>
                          </a:solidFill>
                          <a:effectLst/>
                          <a:latin typeface="Calibri"/>
                        </a:rPr>
                        <a:t>/</a:t>
                      </a:r>
                      <a:endParaRPr lang="en-US" sz="1800" b="0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algn="l" rtl="0" fontAlgn="base"/>
                      <a:r>
                        <a:rPr lang="en-US" sz="1800" b="0" i="0" u="none" strike="noStrike">
                          <a:solidFill>
                            <a:srgbClr val="333333"/>
                          </a:solidFill>
                          <a:effectLst/>
                          <a:latin typeface="Calibri"/>
                        </a:rPr>
                        <a:t>/</a:t>
                      </a:r>
                      <a:r>
                        <a:rPr lang="en-US" sz="1800" b="0" i="0" u="none" strike="noStrike" noProof="0" err="1">
                          <a:solidFill>
                            <a:srgbClr val="1D2A57"/>
                          </a:solidFill>
                          <a:effectLst/>
                          <a:latin typeface="Calibri"/>
                        </a:rPr>
                        <a:t>kɒlɑː</a:t>
                      </a:r>
                      <a:r>
                        <a:rPr lang="en-US" sz="1800" b="1" i="0" u="none" strike="noStrike" noProof="0" err="1">
                          <a:solidFill>
                            <a:srgbClr val="1D2A57"/>
                          </a:solidFill>
                          <a:effectLst/>
                          <a:latin typeface="Calibri"/>
                        </a:rPr>
                        <a:t>ʒ</a:t>
                      </a:r>
                      <a:r>
                        <a:rPr lang="en-US" sz="1800" b="0" i="0" u="none" strike="noStrike">
                          <a:solidFill>
                            <a:srgbClr val="333333"/>
                          </a:solidFill>
                          <a:effectLst/>
                          <a:latin typeface="Calibri"/>
                        </a:rPr>
                        <a:t>/</a:t>
                      </a:r>
                    </a:p>
                    <a:p>
                      <a:pPr lvl="0" algn="l">
                        <a:buNone/>
                      </a:pPr>
                      <a:r>
                        <a:rPr lang="en-US" sz="1800" b="0" i="0" u="none" strike="noStrike">
                          <a:solidFill>
                            <a:srgbClr val="333333"/>
                          </a:solidFill>
                          <a:effectLst/>
                          <a:latin typeface="Calibri"/>
                        </a:rPr>
                        <a:t>/</a:t>
                      </a:r>
                      <a:r>
                        <a:rPr lang="en-US" sz="1800" b="0" i="0" u="none" strike="noStrike" noProof="0" err="1">
                          <a:solidFill>
                            <a:srgbClr val="1D2A57"/>
                          </a:solidFill>
                          <a:effectLst/>
                          <a:latin typeface="Calibri"/>
                        </a:rPr>
                        <a:t>kəʊl</a:t>
                      </a:r>
                      <a:r>
                        <a:rPr lang="en-US" sz="1800" b="1" i="0" u="none" strike="noStrike" noProof="0" err="1">
                          <a:solidFill>
                            <a:srgbClr val="1D2A57"/>
                          </a:solidFill>
                          <a:effectLst/>
                          <a:latin typeface="Calibri"/>
                        </a:rPr>
                        <a:t>z</a:t>
                      </a:r>
                      <a:r>
                        <a:rPr lang="en-US" sz="1800" b="0" i="0" u="none" strike="noStrike" noProof="0">
                          <a:solidFill>
                            <a:srgbClr val="1D2A57"/>
                          </a:solidFill>
                          <a:effectLst/>
                          <a:latin typeface="Calibri"/>
                        </a:rPr>
                        <a:t>/</a:t>
                      </a:r>
                    </a:p>
                    <a:p>
                      <a:pPr lvl="0" algn="l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1D2A57"/>
                          </a:solidFill>
                          <a:effectLst/>
                          <a:latin typeface="Calibri"/>
                        </a:rPr>
                        <a:t>/</a:t>
                      </a:r>
                      <a:r>
                        <a:rPr lang="en-US" sz="1800" b="0" i="0" u="none" strike="noStrike" noProof="0" err="1">
                          <a:solidFill>
                            <a:srgbClr val="1D2A57"/>
                          </a:solidFill>
                          <a:effectLst/>
                          <a:latin typeface="Calibri"/>
                        </a:rPr>
                        <a:t>pɒlɪ</a:t>
                      </a:r>
                      <a:r>
                        <a:rPr lang="en-US" sz="1800" b="1" i="0" u="none" strike="noStrike" noProof="0" err="1">
                          <a:solidFill>
                            <a:srgbClr val="1D2A57"/>
                          </a:solidFill>
                          <a:effectLst/>
                          <a:latin typeface="Calibri"/>
                        </a:rPr>
                        <a:t>ʃ</a:t>
                      </a:r>
                      <a:r>
                        <a:rPr lang="en-US" sz="1800" b="0" i="0" u="none" strike="noStrike" noProof="0">
                          <a:solidFill>
                            <a:srgbClr val="1D2A57"/>
                          </a:solidFill>
                          <a:effectLst/>
                          <a:latin typeface="Calibri"/>
                        </a:rPr>
                        <a:t>/</a:t>
                      </a: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4262876"/>
                  </a:ext>
                </a:extLst>
              </a:tr>
              <a:tr h="1280950">
                <a:tc>
                  <a:txBody>
                    <a:bodyPr/>
                    <a:lstStyle/>
                    <a:p>
                      <a:pPr lvl="0" algn="l" rtl="0">
                        <a:buNone/>
                      </a:pPr>
                      <a:r>
                        <a:rPr lang="en-US" sz="1800" b="1" i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ym</a:t>
                      </a:r>
                      <a:endParaRPr lang="en-US" sz="1800">
                        <a:latin typeface="Calibri"/>
                      </a:endParaRPr>
                    </a:p>
                    <a:p>
                      <a:pPr lvl="0" algn="l" rtl="0">
                        <a:buNone/>
                      </a:pPr>
                      <a:r>
                        <a:rPr lang="en-US" sz="1800" b="1" i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Z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oom</a:t>
                      </a:r>
                      <a:endParaRPr lang="en-US" sz="1800">
                        <a:latin typeface="Calibri"/>
                      </a:endParaRPr>
                    </a:p>
                    <a:p>
                      <a:pPr lvl="0" algn="l">
                        <a:buNone/>
                      </a:pPr>
                      <a:r>
                        <a:rPr lang="en-US" sz="1800" b="1" i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enre</a:t>
                      </a:r>
                      <a:endParaRPr lang="en-US" sz="1800">
                        <a:latin typeface="Calibri"/>
                      </a:endParaRPr>
                    </a:p>
                    <a:p>
                      <a:pPr lvl="0" algn="l">
                        <a:buNone/>
                      </a:pPr>
                      <a:r>
                        <a:rPr lang="en-US" sz="1800" b="1" i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Sh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ame</a:t>
                      </a:r>
                      <a:endParaRPr lang="en-US" sz="1800">
                        <a:latin typeface="Calibri"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rtl="0">
                        <a:buNone/>
                      </a:pPr>
                      <a:r>
                        <a:rPr lang="en-US" sz="1800" b="0" i="0" u="none" strike="noStrike">
                          <a:solidFill>
                            <a:srgbClr val="1D2A57"/>
                          </a:solidFill>
                          <a:effectLst/>
                          <a:latin typeface="Calibri"/>
                        </a:rPr>
                        <a:t>/</a:t>
                      </a:r>
                      <a:r>
                        <a:rPr lang="en-US" sz="1800" b="1" i="0" u="none" strike="noStrike" noProof="0" err="1">
                          <a:solidFill>
                            <a:srgbClr val="1D2A57"/>
                          </a:solidFill>
                          <a:effectLst/>
                          <a:latin typeface="Calibri"/>
                        </a:rPr>
                        <a:t>dʒ</a:t>
                      </a:r>
                      <a:r>
                        <a:rPr lang="en-US" sz="1800" b="0" i="0" u="none" strike="noStrike" noProof="0" err="1">
                          <a:solidFill>
                            <a:srgbClr val="1D2A57"/>
                          </a:solidFill>
                          <a:effectLst/>
                          <a:latin typeface="Calibri"/>
                        </a:rPr>
                        <a:t>ɪm</a:t>
                      </a:r>
                      <a:r>
                        <a:rPr lang="en-US" sz="1800" b="0" i="0" u="none" strike="noStrike">
                          <a:solidFill>
                            <a:srgbClr val="1D2A57"/>
                          </a:solidFill>
                          <a:effectLst/>
                          <a:latin typeface="Calibri"/>
                        </a:rPr>
                        <a:t>/</a:t>
                      </a:r>
                      <a:endParaRPr lang="en-US" sz="1800" b="0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lvl="0" algn="l" rtl="0">
                        <a:buNone/>
                      </a:pPr>
                      <a:r>
                        <a:rPr lang="en-US" sz="1800" b="0" i="0" u="none" strike="noStrike">
                          <a:solidFill>
                            <a:srgbClr val="1D2A57"/>
                          </a:solidFill>
                          <a:effectLst/>
                          <a:latin typeface="Calibri"/>
                        </a:rPr>
                        <a:t>/</a:t>
                      </a:r>
                      <a:r>
                        <a:rPr lang="en-US" sz="1800" b="1" i="0" u="none" strike="noStrike" noProof="0" err="1">
                          <a:solidFill>
                            <a:srgbClr val="1D2A57"/>
                          </a:solidFill>
                          <a:effectLst/>
                          <a:latin typeface="Calibri"/>
                        </a:rPr>
                        <a:t>z</a:t>
                      </a:r>
                      <a:r>
                        <a:rPr lang="en-US" sz="1800" b="0" i="0" u="none" strike="noStrike" noProof="0" err="1">
                          <a:solidFill>
                            <a:srgbClr val="1D2A57"/>
                          </a:solidFill>
                          <a:effectLst/>
                          <a:latin typeface="Calibri"/>
                        </a:rPr>
                        <a:t>uːm</a:t>
                      </a:r>
                      <a:r>
                        <a:rPr lang="en-US" sz="1800" b="0" i="0" u="none" strike="noStrike">
                          <a:solidFill>
                            <a:srgbClr val="1D2A57"/>
                          </a:solidFill>
                          <a:effectLst/>
                          <a:latin typeface="Calibri"/>
                        </a:rPr>
                        <a:t>/</a:t>
                      </a:r>
                      <a:endParaRPr lang="en-US" sz="1800">
                        <a:latin typeface="Calibri"/>
                      </a:endParaRPr>
                    </a:p>
                    <a:p>
                      <a:pPr lvl="0" algn="l">
                        <a:buNone/>
                      </a:pPr>
                      <a:r>
                        <a:rPr lang="en-US" sz="1800" b="0" i="0" u="none" strike="noStrike">
                          <a:solidFill>
                            <a:srgbClr val="1D2A57"/>
                          </a:solidFill>
                          <a:effectLst/>
                          <a:latin typeface="Calibri"/>
                        </a:rPr>
                        <a:t>/</a:t>
                      </a:r>
                      <a:r>
                        <a:rPr lang="en-US" sz="1800" b="1" i="0" u="none" strike="noStrike" noProof="0" err="1">
                          <a:solidFill>
                            <a:srgbClr val="1D2A57"/>
                          </a:solidFill>
                          <a:effectLst/>
                          <a:latin typeface="Calibri"/>
                        </a:rPr>
                        <a:t>ʒ</a:t>
                      </a:r>
                      <a:r>
                        <a:rPr lang="en-US" sz="1800" b="0" i="0" u="none" strike="noStrike" noProof="0" err="1">
                          <a:solidFill>
                            <a:srgbClr val="1D2A57"/>
                          </a:solidFill>
                          <a:effectLst/>
                          <a:latin typeface="Calibri"/>
                        </a:rPr>
                        <a:t>ɒnrə</a:t>
                      </a:r>
                      <a:r>
                        <a:rPr lang="en-US" sz="1800" b="0" i="0" u="none" strike="noStrike" noProof="0">
                          <a:solidFill>
                            <a:srgbClr val="1D2A57"/>
                          </a:solidFill>
                          <a:effectLst/>
                          <a:latin typeface="Calibri"/>
                        </a:rPr>
                        <a:t>/</a:t>
                      </a:r>
                      <a:endParaRPr lang="en-US" sz="1800" noProof="0">
                        <a:solidFill>
                          <a:srgbClr val="1D2A57"/>
                        </a:solidFill>
                        <a:latin typeface="Calibri"/>
                      </a:endParaRPr>
                    </a:p>
                    <a:p>
                      <a:pPr lvl="0" algn="l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1D2A57"/>
                          </a:solidFill>
                          <a:effectLst/>
                          <a:latin typeface="Calibri"/>
                        </a:rPr>
                        <a:t>/</a:t>
                      </a:r>
                      <a:r>
                        <a:rPr lang="en-US" sz="1800" b="1" i="0" u="none" strike="noStrike" noProof="0" err="1">
                          <a:solidFill>
                            <a:srgbClr val="1D2A57"/>
                          </a:solidFill>
                          <a:effectLst/>
                          <a:latin typeface="Calibri"/>
                        </a:rPr>
                        <a:t>ʃ</a:t>
                      </a:r>
                      <a:r>
                        <a:rPr lang="en-US" sz="1800" b="0" i="0" u="none" strike="noStrike" noProof="0" err="1">
                          <a:solidFill>
                            <a:srgbClr val="1D2A57"/>
                          </a:solidFill>
                          <a:effectLst/>
                          <a:latin typeface="Calibri"/>
                        </a:rPr>
                        <a:t>eɪm</a:t>
                      </a:r>
                      <a:r>
                        <a:rPr lang="en-US" sz="1800" b="0" i="0" u="none" strike="noStrike" noProof="0">
                          <a:solidFill>
                            <a:srgbClr val="1D2A57"/>
                          </a:solidFill>
                          <a:effectLst/>
                          <a:latin typeface="Calibri"/>
                        </a:rPr>
                        <a:t>/</a:t>
                      </a:r>
                      <a:endParaRPr lang="en-US" sz="1800" noProof="0">
                        <a:solidFill>
                          <a:srgbClr val="1D2A57"/>
                        </a:solidFill>
                        <a:latin typeface="Calibri"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704721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A18330C-D0BB-A8EC-0C70-384259372CE3}"/>
              </a:ext>
            </a:extLst>
          </p:cNvPr>
          <p:cNvSpPr txBox="1"/>
          <p:nvPr/>
        </p:nvSpPr>
        <p:spPr>
          <a:xfrm>
            <a:off x="843366" y="1420148"/>
            <a:ext cx="10514404" cy="9694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solidFill>
                  <a:schemeClr val="tx2"/>
                </a:solidFill>
                <a:latin typeface="Calibri"/>
                <a:cs typeface="Calibri"/>
              </a:rPr>
              <a:t>/</a:t>
            </a:r>
            <a:r>
              <a:rPr lang="en-US" sz="2000" dirty="0" err="1">
                <a:solidFill>
                  <a:srgbClr val="000000"/>
                </a:solidFill>
                <a:latin typeface="Calibri"/>
                <a:ea typeface="+mn-lt"/>
                <a:cs typeface="Arial"/>
              </a:rPr>
              <a:t>dʒ</a:t>
            </a:r>
            <a:r>
              <a:rPr lang="en-US" sz="2000" dirty="0">
                <a:solidFill>
                  <a:schemeClr val="tx2"/>
                </a:solidFill>
                <a:latin typeface="Calibri"/>
                <a:ea typeface="+mn-lt"/>
                <a:cs typeface="+mn-lt"/>
              </a:rPr>
              <a:t>/,</a:t>
            </a:r>
            <a:r>
              <a:rPr lang="en-US" sz="2000" dirty="0">
                <a:latin typeface="Calibri"/>
                <a:ea typeface="+mn-lt"/>
                <a:cs typeface="+mn-lt"/>
              </a:rPr>
              <a:t> </a:t>
            </a:r>
            <a:r>
              <a:rPr lang="en-US" sz="2000" dirty="0">
                <a:solidFill>
                  <a:schemeClr val="tx2"/>
                </a:solidFill>
                <a:latin typeface="Calibri"/>
                <a:ea typeface="+mn-lt"/>
                <a:cs typeface="+mn-lt"/>
              </a:rPr>
              <a:t>/</a:t>
            </a:r>
            <a:r>
              <a:rPr lang="en-US" sz="2000" dirty="0">
                <a:solidFill>
                  <a:schemeClr val="tx2"/>
                </a:solidFill>
                <a:latin typeface="Calibri"/>
                <a:ea typeface="+mn-lt"/>
                <a:cs typeface="Arial"/>
              </a:rPr>
              <a:t>z</a:t>
            </a:r>
            <a:r>
              <a:rPr lang="en-US" sz="2000" dirty="0">
                <a:solidFill>
                  <a:schemeClr val="tx2"/>
                </a:solidFill>
                <a:latin typeface="Calibri"/>
                <a:ea typeface="+mn-lt"/>
                <a:cs typeface="+mn-lt"/>
              </a:rPr>
              <a:t>/, /</a:t>
            </a:r>
            <a:r>
              <a:rPr lang="en-US" sz="2000" dirty="0">
                <a:solidFill>
                  <a:srgbClr val="000000"/>
                </a:solidFill>
                <a:latin typeface="Calibri"/>
                <a:ea typeface="+mn-lt"/>
                <a:cs typeface="Arial"/>
              </a:rPr>
              <a:t>ʒ/ and /ʃ/</a:t>
            </a:r>
          </a:p>
          <a:p>
            <a:r>
              <a:rPr lang="en-US" dirty="0">
                <a:solidFill>
                  <a:schemeClr val="tx2"/>
                </a:solidFill>
                <a:ea typeface="+mn-lt"/>
                <a:cs typeface="+mn-lt"/>
              </a:rPr>
              <a:t>PRACTICE: Articulate the words aloud to learn the difference of sounds written in </a:t>
            </a:r>
            <a:r>
              <a:rPr lang="en-US" b="1" dirty="0">
                <a:solidFill>
                  <a:schemeClr val="tx2"/>
                </a:solidFill>
                <a:ea typeface="+mn-lt"/>
                <a:cs typeface="+mn-lt"/>
              </a:rPr>
              <a:t>bold</a:t>
            </a:r>
            <a:r>
              <a:rPr lang="en-US" dirty="0">
                <a:solidFill>
                  <a:schemeClr val="tx2"/>
                </a:solidFill>
                <a:ea typeface="+mn-lt"/>
                <a:cs typeface="+mn-lt"/>
              </a:rPr>
              <a:t>.</a:t>
            </a:r>
          </a:p>
          <a:p>
            <a:endParaRPr lang="en-US" sz="190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331381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875DD-D225-DE2C-D05A-D01892557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ea typeface="+mj-lt"/>
                <a:cs typeface="+mj-lt"/>
              </a:rPr>
              <a:t>Sounds often mispronounced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CDE326A-4CEC-7E8A-B3DD-44B17117F4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31616305"/>
              </p:ext>
            </p:extLst>
          </p:nvPr>
        </p:nvGraphicFramePr>
        <p:xfrm>
          <a:off x="876821" y="2171178"/>
          <a:ext cx="10482534" cy="446802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238749">
                  <a:extLst>
                    <a:ext uri="{9D8B030D-6E8A-4147-A177-3AD203B41FA5}">
                      <a16:colId xmlns:a16="http://schemas.microsoft.com/office/drawing/2014/main" val="3128288875"/>
                    </a:ext>
                  </a:extLst>
                </a:gridCol>
                <a:gridCol w="5243785">
                  <a:extLst>
                    <a:ext uri="{9D8B030D-6E8A-4147-A177-3AD203B41FA5}">
                      <a16:colId xmlns:a16="http://schemas.microsoft.com/office/drawing/2014/main" val="1969677398"/>
                    </a:ext>
                  </a:extLst>
                </a:gridCol>
              </a:tblGrid>
              <a:tr h="413970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1" i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Spelling</a:t>
                      </a: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90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1" i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Phonemic Transcription</a:t>
                      </a: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90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736852"/>
                  </a:ext>
                </a:extLst>
              </a:tr>
              <a:tr h="1013514">
                <a:tc>
                  <a:txBody>
                    <a:bodyPr/>
                    <a:lstStyle/>
                    <a:p>
                      <a:pPr lvl="0" algn="l" rtl="0">
                        <a:buNone/>
                      </a:pPr>
                      <a:r>
                        <a:rPr lang="en-US" sz="1800" b="0" i="0" u="none" strike="noStrike">
                          <a:solidFill>
                            <a:srgbClr val="333333"/>
                          </a:solidFill>
                          <a:effectLst/>
                          <a:latin typeface="Calibri"/>
                        </a:rPr>
                        <a:t>P</a:t>
                      </a:r>
                      <a:r>
                        <a:rPr lang="en-US" sz="1800" b="1" i="0" u="none" strike="noStrike">
                          <a:solidFill>
                            <a:srgbClr val="333333"/>
                          </a:solidFill>
                          <a:effectLst/>
                          <a:latin typeface="Calibri"/>
                        </a:rPr>
                        <a:t>ai</a:t>
                      </a:r>
                      <a:r>
                        <a:rPr lang="en-US" sz="1800" b="0" i="0" u="none" strike="noStrike">
                          <a:solidFill>
                            <a:srgbClr val="333333"/>
                          </a:solidFill>
                          <a:effectLst/>
                          <a:latin typeface="Calibri"/>
                        </a:rPr>
                        <a:t>n</a:t>
                      </a:r>
                    </a:p>
                    <a:p>
                      <a:pPr lvl="0" algn="l">
                        <a:buNone/>
                      </a:pPr>
                      <a:r>
                        <a:rPr lang="en-US" sz="1800" b="0" i="0" u="none" strike="noStrike">
                          <a:solidFill>
                            <a:srgbClr val="333333"/>
                          </a:solidFill>
                          <a:effectLst/>
                          <a:latin typeface="Calibri"/>
                        </a:rPr>
                        <a:t>P</a:t>
                      </a:r>
                      <a:r>
                        <a:rPr lang="en-US" sz="1800" b="1" i="0" u="none" strike="noStrike">
                          <a:solidFill>
                            <a:srgbClr val="333333"/>
                          </a:solidFill>
                          <a:effectLst/>
                          <a:latin typeface="Calibri"/>
                        </a:rPr>
                        <a:t>e</a:t>
                      </a:r>
                      <a:r>
                        <a:rPr lang="en-US" sz="1800" b="0" i="0" u="none" strike="noStrike">
                          <a:solidFill>
                            <a:srgbClr val="333333"/>
                          </a:solidFill>
                          <a:effectLst/>
                          <a:latin typeface="Calibri"/>
                        </a:rPr>
                        <a:t>n</a:t>
                      </a:r>
                    </a:p>
                    <a:p>
                      <a:pPr lvl="0" algn="l">
                        <a:buNone/>
                      </a:pPr>
                      <a:r>
                        <a:rPr lang="en-US" sz="1800" b="0" i="0" u="none" strike="noStrike">
                          <a:solidFill>
                            <a:srgbClr val="333333"/>
                          </a:solidFill>
                          <a:effectLst/>
                          <a:latin typeface="Calibri"/>
                        </a:rPr>
                        <a:t>P</a:t>
                      </a:r>
                      <a:r>
                        <a:rPr lang="en-US" sz="1800" b="1" i="0" u="none" strike="noStrike">
                          <a:solidFill>
                            <a:srgbClr val="333333"/>
                          </a:solidFill>
                          <a:effectLst/>
                          <a:latin typeface="Calibri"/>
                        </a:rPr>
                        <a:t>a</a:t>
                      </a:r>
                      <a:r>
                        <a:rPr lang="en-US" sz="1800" b="0" i="0" u="none" strike="noStrike">
                          <a:solidFill>
                            <a:srgbClr val="333333"/>
                          </a:solidFill>
                          <a:effectLst/>
                          <a:latin typeface="Calibri"/>
                        </a:rPr>
                        <a:t>n</a:t>
                      </a:r>
                    </a:p>
                  </a:txBody>
                  <a:tcPr marL="62179" marR="62179" marT="31090" marB="31090">
                    <a:lnL w="9524">
                      <a:solidFill>
                        <a:srgbClr val="FFFFFF"/>
                      </a:solidFill>
                    </a:lnL>
                    <a:lnR w="9524">
                      <a:solidFill>
                        <a:srgbClr val="FFFFFF"/>
                      </a:solidFill>
                    </a:lnR>
                    <a:lnT w="25908">
                      <a:solidFill>
                        <a:srgbClr val="FFFFFF"/>
                      </a:solidFill>
                    </a:lnT>
                    <a:lnB w="9524">
                      <a:solidFill>
                        <a:srgbClr val="FFFFFF"/>
                      </a:solidFill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rtl="0">
                        <a:buNone/>
                      </a:pPr>
                      <a:r>
                        <a:rPr lang="en-US" sz="1800" b="0" i="0" u="none" strike="noStrike">
                          <a:solidFill>
                            <a:srgbClr val="333333"/>
                          </a:solidFill>
                          <a:effectLst/>
                          <a:latin typeface="Calibri"/>
                        </a:rPr>
                        <a:t>/</a:t>
                      </a:r>
                      <a:r>
                        <a:rPr lang="en-US" sz="1800" b="0" i="0" u="none" strike="noStrike" noProof="0" err="1">
                          <a:solidFill>
                            <a:srgbClr val="1D2A57"/>
                          </a:solidFill>
                          <a:effectLst/>
                          <a:latin typeface="Calibri"/>
                        </a:rPr>
                        <a:t>p</a:t>
                      </a:r>
                      <a:r>
                        <a:rPr lang="en-US" sz="1800" b="1" i="0" u="none" strike="noStrike" noProof="0" err="1">
                          <a:solidFill>
                            <a:srgbClr val="1D2A57"/>
                          </a:solidFill>
                          <a:effectLst/>
                          <a:latin typeface="Calibri"/>
                        </a:rPr>
                        <a:t>eɪ</a:t>
                      </a:r>
                      <a:r>
                        <a:rPr lang="en-US" sz="1800" b="0" i="0" u="none" strike="noStrike" noProof="0" err="1">
                          <a:solidFill>
                            <a:srgbClr val="1D2A57"/>
                          </a:solidFill>
                          <a:effectLst/>
                          <a:latin typeface="Calibri"/>
                        </a:rPr>
                        <a:t>n</a:t>
                      </a:r>
                      <a:r>
                        <a:rPr lang="en-US" sz="1800" b="0" i="0" u="none" strike="noStrike">
                          <a:solidFill>
                            <a:srgbClr val="333333"/>
                          </a:solidFill>
                          <a:effectLst/>
                          <a:latin typeface="Calibri"/>
                        </a:rPr>
                        <a:t>/</a:t>
                      </a:r>
                      <a:endParaRPr lang="en-US" sz="1800" b="0" i="0">
                        <a:solidFill>
                          <a:srgbClr val="333333"/>
                        </a:solidFill>
                        <a:effectLst/>
                        <a:latin typeface="Calibri"/>
                      </a:endParaRPr>
                    </a:p>
                    <a:p>
                      <a:pPr lvl="0" algn="l" rtl="0">
                        <a:buNone/>
                      </a:pPr>
                      <a:r>
                        <a:rPr lang="en-US" sz="1800" b="0" i="0" u="none" strike="noStrike">
                          <a:solidFill>
                            <a:srgbClr val="333333"/>
                          </a:solidFill>
                          <a:effectLst/>
                          <a:latin typeface="Calibri"/>
                        </a:rPr>
                        <a:t>/</a:t>
                      </a:r>
                      <a:r>
                        <a:rPr lang="en-US" sz="1800" b="0" i="0" u="none" strike="noStrike" noProof="0">
                          <a:solidFill>
                            <a:srgbClr val="1D2A57"/>
                          </a:solidFill>
                          <a:effectLst/>
                          <a:latin typeface="Calibri"/>
                        </a:rPr>
                        <a:t>p</a:t>
                      </a:r>
                      <a:r>
                        <a:rPr lang="en-US" sz="1800" b="1" i="0" u="none" strike="noStrike" noProof="0">
                          <a:solidFill>
                            <a:srgbClr val="1D2A57"/>
                          </a:solidFill>
                          <a:effectLst/>
                          <a:latin typeface="Calibri"/>
                        </a:rPr>
                        <a:t>e</a:t>
                      </a:r>
                      <a:r>
                        <a:rPr lang="en-US" sz="1800" b="0" i="0" u="none" strike="noStrike" noProof="0">
                          <a:solidFill>
                            <a:srgbClr val="1D2A57"/>
                          </a:solidFill>
                          <a:effectLst/>
                          <a:latin typeface="Calibri"/>
                        </a:rPr>
                        <a:t>n</a:t>
                      </a:r>
                      <a:r>
                        <a:rPr lang="en-US" sz="1800" b="0" i="0" u="none" strike="noStrike">
                          <a:solidFill>
                            <a:srgbClr val="333333"/>
                          </a:solidFill>
                          <a:effectLst/>
                          <a:latin typeface="Calibri"/>
                        </a:rPr>
                        <a:t>/</a:t>
                      </a:r>
                      <a:endParaRPr lang="en-US" sz="1800">
                        <a:solidFill>
                          <a:srgbClr val="333333"/>
                        </a:solidFill>
                        <a:latin typeface="Calibri"/>
                      </a:endParaRPr>
                    </a:p>
                    <a:p>
                      <a:pPr lvl="0" algn="l">
                        <a:buNone/>
                      </a:pPr>
                      <a:r>
                        <a:rPr lang="en-US" sz="1800" b="0" i="0" u="none" strike="noStrike">
                          <a:solidFill>
                            <a:srgbClr val="333333"/>
                          </a:solidFill>
                          <a:effectLst/>
                          <a:latin typeface="Calibri"/>
                        </a:rPr>
                        <a:t>/</a:t>
                      </a:r>
                      <a:r>
                        <a:rPr lang="en-US" sz="1800" b="0" i="0" u="none" strike="noStrike" err="1">
                          <a:solidFill>
                            <a:srgbClr val="333333"/>
                          </a:solidFill>
                          <a:effectLst/>
                          <a:latin typeface="Calibri"/>
                        </a:rPr>
                        <a:t>p</a:t>
                      </a:r>
                      <a:r>
                        <a:rPr lang="en-US" sz="1800" b="1" i="0" u="none" strike="noStrike" noProof="0" err="1">
                          <a:solidFill>
                            <a:srgbClr val="1D2A57"/>
                          </a:solidFill>
                          <a:effectLst/>
                          <a:latin typeface="Calibri"/>
                        </a:rPr>
                        <a:t>æ</a:t>
                      </a:r>
                      <a:r>
                        <a:rPr lang="en-US" sz="1800" b="0" i="0" u="none" strike="noStrike" noProof="0" err="1">
                          <a:solidFill>
                            <a:srgbClr val="1D2A57"/>
                          </a:solidFill>
                          <a:effectLst/>
                          <a:latin typeface="Calibri"/>
                        </a:rPr>
                        <a:t>n</a:t>
                      </a:r>
                      <a:r>
                        <a:rPr lang="en-US" sz="1800" b="0" i="0" u="none" strike="noStrike" noProof="0">
                          <a:solidFill>
                            <a:srgbClr val="1D2A57"/>
                          </a:solidFill>
                          <a:effectLst/>
                          <a:latin typeface="Calibri"/>
                        </a:rPr>
                        <a:t>/</a:t>
                      </a:r>
                    </a:p>
                  </a:txBody>
                  <a:tcPr marL="62179" marR="62179" marT="31090" marB="31090">
                    <a:lnL w="9524">
                      <a:solidFill>
                        <a:srgbClr val="FFFFFF"/>
                      </a:solidFill>
                    </a:lnL>
                    <a:lnR w="9524">
                      <a:solidFill>
                        <a:srgbClr val="FFFFFF"/>
                      </a:solidFill>
                    </a:lnR>
                    <a:lnT w="25908">
                      <a:solidFill>
                        <a:srgbClr val="FFFFFF"/>
                      </a:solidFill>
                    </a:lnT>
                    <a:lnB w="9524">
                      <a:solidFill>
                        <a:srgbClr val="FFFFFF"/>
                      </a:solidFill>
                    </a:lnB>
                    <a:solidFill>
                      <a:srgbClr val="CCD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8795176"/>
                  </a:ext>
                </a:extLst>
              </a:tr>
              <a:tr h="1013514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</a:t>
                      </a: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ai</a:t>
                      </a: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</a:t>
                      </a:r>
                    </a:p>
                    <a:p>
                      <a:pPr lvl="0" algn="l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</a:t>
                      </a: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</a:t>
                      </a: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</a:t>
                      </a:r>
                    </a:p>
                    <a:p>
                      <a:pPr lvl="0" algn="l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</a:t>
                      </a: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</a:t>
                      </a: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</a:t>
                      </a: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i="0" u="none" strike="noStrike">
                          <a:solidFill>
                            <a:srgbClr val="333333"/>
                          </a:solidFill>
                          <a:effectLst/>
                          <a:latin typeface="Calibri"/>
                        </a:rPr>
                        <a:t>/</a:t>
                      </a:r>
                      <a:r>
                        <a:rPr lang="en-US" sz="1800" b="0" i="0" u="none" strike="noStrike" noProof="0" err="1">
                          <a:solidFill>
                            <a:srgbClr val="1D2A57"/>
                          </a:solidFill>
                          <a:effectLst/>
                          <a:latin typeface="Calibri"/>
                        </a:rPr>
                        <a:t>m</a:t>
                      </a:r>
                      <a:r>
                        <a:rPr lang="en-US" sz="1800" b="1" i="0" u="none" strike="noStrike" noProof="0" err="1">
                          <a:solidFill>
                            <a:srgbClr val="1D2A57"/>
                          </a:solidFill>
                          <a:effectLst/>
                          <a:latin typeface="Calibri"/>
                        </a:rPr>
                        <a:t>eɪ</a:t>
                      </a:r>
                      <a:r>
                        <a:rPr lang="en-US" sz="1800" b="0" i="0" u="none" strike="noStrike" noProof="0" err="1">
                          <a:solidFill>
                            <a:srgbClr val="1D2A57"/>
                          </a:solidFill>
                          <a:effectLst/>
                          <a:latin typeface="Calibri"/>
                        </a:rPr>
                        <a:t>n</a:t>
                      </a:r>
                      <a:r>
                        <a:rPr lang="en-US" sz="1800" b="0" i="0" u="none" strike="noStrike">
                          <a:solidFill>
                            <a:srgbClr val="333333"/>
                          </a:solidFill>
                          <a:effectLst/>
                          <a:latin typeface="Calibri"/>
                        </a:rPr>
                        <a:t>/</a:t>
                      </a:r>
                      <a:endParaRPr lang="en-US" sz="1800" b="0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algn="l" rtl="0" fontAlgn="base"/>
                      <a:r>
                        <a:rPr lang="en-US" sz="1800" b="0" i="0" u="none" strike="noStrike">
                          <a:solidFill>
                            <a:srgbClr val="333333"/>
                          </a:solidFill>
                          <a:effectLst/>
                          <a:latin typeface="Calibri"/>
                        </a:rPr>
                        <a:t>/m</a:t>
                      </a:r>
                      <a:r>
                        <a:rPr lang="en-US" sz="1800" b="1" i="0" u="none" strike="noStrike">
                          <a:solidFill>
                            <a:srgbClr val="333333"/>
                          </a:solidFill>
                          <a:effectLst/>
                          <a:latin typeface="Calibri"/>
                        </a:rPr>
                        <a:t>e</a:t>
                      </a:r>
                      <a:r>
                        <a:rPr lang="en-US" sz="1800" b="0" i="0" u="none" strike="noStrike">
                          <a:solidFill>
                            <a:srgbClr val="333333"/>
                          </a:solidFill>
                          <a:effectLst/>
                          <a:latin typeface="Calibri"/>
                        </a:rPr>
                        <a:t>n/</a:t>
                      </a:r>
                    </a:p>
                    <a:p>
                      <a:pPr lvl="0" algn="l">
                        <a:buNone/>
                      </a:pPr>
                      <a:r>
                        <a:rPr lang="en-US" sz="1800" b="0" i="0" u="none" strike="noStrike">
                          <a:solidFill>
                            <a:srgbClr val="333333"/>
                          </a:solidFill>
                          <a:effectLst/>
                          <a:latin typeface="Calibri"/>
                        </a:rPr>
                        <a:t>/</a:t>
                      </a:r>
                      <a:r>
                        <a:rPr lang="en-US" sz="1800" b="0" i="0" u="none" strike="noStrike" noProof="0" err="1">
                          <a:solidFill>
                            <a:srgbClr val="1D2A57"/>
                          </a:solidFill>
                          <a:effectLst/>
                          <a:latin typeface="Calibri"/>
                        </a:rPr>
                        <a:t>m</a:t>
                      </a:r>
                      <a:r>
                        <a:rPr lang="en-US" sz="1800" b="1" i="0" u="none" strike="noStrike" noProof="0" err="1">
                          <a:solidFill>
                            <a:srgbClr val="1D2A57"/>
                          </a:solidFill>
                          <a:effectLst/>
                          <a:latin typeface="Calibri"/>
                        </a:rPr>
                        <a:t>æ</a:t>
                      </a:r>
                      <a:r>
                        <a:rPr lang="en-US" sz="1800" b="0" i="0" u="none" strike="noStrike" noProof="0" err="1">
                          <a:solidFill>
                            <a:srgbClr val="1D2A57"/>
                          </a:solidFill>
                          <a:effectLst/>
                          <a:latin typeface="Calibri"/>
                        </a:rPr>
                        <a:t>n</a:t>
                      </a:r>
                      <a:r>
                        <a:rPr lang="en-US" sz="1800" b="0" i="0" u="none" strike="noStrike" noProof="0">
                          <a:solidFill>
                            <a:srgbClr val="1D2A57"/>
                          </a:solidFill>
                          <a:effectLst/>
                          <a:latin typeface="Calibri"/>
                        </a:rPr>
                        <a:t>/</a:t>
                      </a: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4262876"/>
                  </a:ext>
                </a:extLst>
              </a:tr>
              <a:tr h="1013514">
                <a:tc>
                  <a:txBody>
                    <a:bodyPr/>
                    <a:lstStyle/>
                    <a:p>
                      <a:pPr lvl="0" algn="l" rtl="0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</a:t>
                      </a:r>
                      <a:r>
                        <a:rPr lang="en-US" sz="1800" b="1" i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te</a:t>
                      </a:r>
                    </a:p>
                    <a:p>
                      <a:pPr lvl="0" algn="l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</a:t>
                      </a:r>
                      <a:r>
                        <a:rPr lang="en-US" sz="1800" b="1" i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st</a:t>
                      </a:r>
                    </a:p>
                    <a:p>
                      <a:pPr lvl="0" algn="l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</a:t>
                      </a:r>
                      <a:r>
                        <a:rPr lang="en-US" sz="1800" b="1" i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</a:t>
                      </a: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rtl="0">
                        <a:buNone/>
                      </a:pPr>
                      <a:r>
                        <a:rPr lang="en-US" sz="1800" b="0" i="0" u="none" strike="noStrike">
                          <a:solidFill>
                            <a:srgbClr val="1D2A57"/>
                          </a:solidFill>
                          <a:effectLst/>
                          <a:latin typeface="Calibri"/>
                        </a:rPr>
                        <a:t>/</a:t>
                      </a:r>
                      <a:r>
                        <a:rPr lang="en-US" sz="1800" b="0" i="0" u="none" strike="noStrike" err="1">
                          <a:solidFill>
                            <a:srgbClr val="1D2A57"/>
                          </a:solidFill>
                          <a:effectLst/>
                          <a:latin typeface="Calibri"/>
                        </a:rPr>
                        <a:t>r</a:t>
                      </a:r>
                      <a:r>
                        <a:rPr lang="en-US" sz="1800" b="1" i="0" u="none" strike="noStrike" noProof="0" err="1">
                          <a:solidFill>
                            <a:srgbClr val="1D2A57"/>
                          </a:solidFill>
                          <a:effectLst/>
                          <a:latin typeface="Calibri"/>
                        </a:rPr>
                        <a:t>eɪ</a:t>
                      </a:r>
                      <a:r>
                        <a:rPr lang="en-US" sz="1800" b="0" i="0" u="none" strike="noStrike" noProof="0" err="1">
                          <a:solidFill>
                            <a:srgbClr val="1D2A57"/>
                          </a:solidFill>
                          <a:effectLst/>
                          <a:latin typeface="Calibri"/>
                        </a:rPr>
                        <a:t>t</a:t>
                      </a:r>
                      <a:r>
                        <a:rPr lang="en-US" sz="1800" b="0" i="0" u="none" strike="noStrike">
                          <a:solidFill>
                            <a:srgbClr val="1D2A57"/>
                          </a:solidFill>
                          <a:effectLst/>
                          <a:latin typeface="Calibri"/>
                        </a:rPr>
                        <a:t>/</a:t>
                      </a:r>
                      <a:endParaRPr lang="en-US" sz="1800" b="0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lvl="0" algn="l" rtl="0">
                        <a:buNone/>
                      </a:pPr>
                      <a:r>
                        <a:rPr lang="en-US" sz="1800" b="0" i="0" u="none" strike="noStrike">
                          <a:solidFill>
                            <a:srgbClr val="1D2A57"/>
                          </a:solidFill>
                          <a:effectLst/>
                          <a:latin typeface="Calibri"/>
                        </a:rPr>
                        <a:t>/r</a:t>
                      </a:r>
                      <a:r>
                        <a:rPr lang="en-US" sz="1800" b="1" i="0" u="none" strike="noStrike">
                          <a:solidFill>
                            <a:srgbClr val="1D2A57"/>
                          </a:solidFill>
                          <a:effectLst/>
                          <a:latin typeface="Calibri"/>
                        </a:rPr>
                        <a:t>e</a:t>
                      </a:r>
                      <a:r>
                        <a:rPr lang="en-US" sz="1800" b="0" i="0" u="none" strike="noStrike">
                          <a:solidFill>
                            <a:srgbClr val="1D2A57"/>
                          </a:solidFill>
                          <a:effectLst/>
                          <a:latin typeface="Calibri"/>
                        </a:rPr>
                        <a:t>st/</a:t>
                      </a:r>
                      <a:endParaRPr lang="en-US" sz="1800">
                        <a:latin typeface="Calibri"/>
                      </a:endParaRPr>
                    </a:p>
                    <a:p>
                      <a:pPr lvl="0" algn="l">
                        <a:buNone/>
                      </a:pPr>
                      <a:r>
                        <a:rPr lang="en-US" sz="1800" b="0" i="0" u="none" strike="noStrike">
                          <a:solidFill>
                            <a:srgbClr val="1D2A57"/>
                          </a:solidFill>
                          <a:effectLst/>
                          <a:latin typeface="Calibri"/>
                        </a:rPr>
                        <a:t>/</a:t>
                      </a:r>
                      <a:r>
                        <a:rPr lang="en-US" sz="1800" b="0" i="0" u="none" strike="noStrike" err="1">
                          <a:solidFill>
                            <a:srgbClr val="1D2A57"/>
                          </a:solidFill>
                          <a:effectLst/>
                          <a:latin typeface="Calibri"/>
                        </a:rPr>
                        <a:t>r</a:t>
                      </a:r>
                      <a:r>
                        <a:rPr lang="en-US" sz="1800" b="1" i="0" u="none" strike="noStrike" noProof="0" err="1">
                          <a:solidFill>
                            <a:srgbClr val="1D2A57"/>
                          </a:solidFill>
                          <a:effectLst/>
                          <a:latin typeface="Calibri"/>
                        </a:rPr>
                        <a:t>æ</a:t>
                      </a:r>
                      <a:r>
                        <a:rPr lang="en-US" sz="1800" b="0" i="0" u="none" strike="noStrike" noProof="0" err="1">
                          <a:solidFill>
                            <a:srgbClr val="1D2A57"/>
                          </a:solidFill>
                          <a:effectLst/>
                          <a:latin typeface="Calibri"/>
                        </a:rPr>
                        <a:t>t</a:t>
                      </a:r>
                      <a:r>
                        <a:rPr lang="en-US" sz="1800" b="0" i="0" u="none" strike="noStrike" noProof="0">
                          <a:solidFill>
                            <a:srgbClr val="1D2A57"/>
                          </a:solidFill>
                          <a:effectLst/>
                          <a:latin typeface="Calibri"/>
                        </a:rPr>
                        <a:t>/</a:t>
                      </a:r>
                      <a:endParaRPr lang="en-US" sz="1800" noProof="0">
                        <a:solidFill>
                          <a:srgbClr val="1D2A57"/>
                        </a:solidFill>
                        <a:latin typeface="Calibri"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7047210"/>
                  </a:ext>
                </a:extLst>
              </a:tr>
              <a:tr h="1013514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</a:t>
                      </a:r>
                      <a:r>
                        <a:rPr lang="en-US" sz="1800" b="1" i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</a:t>
                      </a:r>
                    </a:p>
                    <a:p>
                      <a:pPr lvl="0" algn="l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Th</a:t>
                      </a:r>
                      <a:r>
                        <a:rPr lang="en-US" sz="1800" b="1" i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</a:t>
                      </a:r>
                    </a:p>
                    <a:p>
                      <a:pPr lvl="0" algn="l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Th</a:t>
                      </a:r>
                      <a:r>
                        <a:rPr lang="en-US" sz="1800" b="1" i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 </a:t>
                      </a:r>
                    </a:p>
                  </a:txBody>
                  <a:tcPr marL="62179" marR="62179" marT="31090" marB="31090">
                    <a:lnL w="9524">
                      <a:solidFill>
                        <a:srgbClr val="FFFFFF"/>
                      </a:solidFill>
                    </a:lnL>
                    <a:lnR w="9524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FFFFFF"/>
                      </a:solidFill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1D2A57"/>
                          </a:solidFill>
                          <a:effectLst/>
                          <a:latin typeface="Calibri"/>
                        </a:rPr>
                        <a:t>/</a:t>
                      </a:r>
                      <a:r>
                        <a:rPr lang="en-US" sz="1800" b="0" i="0" u="none" strike="noStrike" noProof="0" err="1">
                          <a:solidFill>
                            <a:srgbClr val="1D2A57"/>
                          </a:solidFill>
                          <a:effectLst/>
                          <a:latin typeface="Calibri"/>
                        </a:rPr>
                        <a:t>d</a:t>
                      </a:r>
                      <a:r>
                        <a:rPr lang="en-US" sz="1800" b="1" i="0" u="none" strike="noStrike" noProof="0" err="1">
                          <a:solidFill>
                            <a:srgbClr val="1D2A57"/>
                          </a:solidFill>
                          <a:effectLst/>
                          <a:latin typeface="Calibri"/>
                        </a:rPr>
                        <a:t>eɪ</a:t>
                      </a:r>
                      <a:r>
                        <a:rPr lang="en-US" sz="1800" b="1" i="0" u="none" strike="noStrike" noProof="0">
                          <a:solidFill>
                            <a:srgbClr val="1D2A57"/>
                          </a:solidFill>
                          <a:effectLst/>
                          <a:latin typeface="Calibri"/>
                        </a:rPr>
                        <a:t>/</a:t>
                      </a:r>
                    </a:p>
                    <a:p>
                      <a:pPr lvl="0" algn="l"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1D2A57"/>
                          </a:solidFill>
                          <a:effectLst/>
                          <a:latin typeface="Calibri"/>
                        </a:rPr>
                        <a:t>/</a:t>
                      </a:r>
                      <a:r>
                        <a:rPr lang="en-US" sz="1800" b="0" i="0" u="none" strike="noStrike" noProof="0" err="1">
                          <a:solidFill>
                            <a:srgbClr val="1D2A57"/>
                          </a:solidFill>
                          <a:effectLst/>
                          <a:latin typeface="Calibri"/>
                        </a:rPr>
                        <a:t>ð</a:t>
                      </a:r>
                      <a:r>
                        <a:rPr lang="en-US" sz="1800" b="1" i="0" u="none" strike="noStrike" noProof="0" err="1">
                          <a:solidFill>
                            <a:srgbClr val="1D2A57"/>
                          </a:solidFill>
                          <a:effectLst/>
                          <a:latin typeface="Calibri"/>
                        </a:rPr>
                        <a:t>e</a:t>
                      </a:r>
                      <a:r>
                        <a:rPr lang="en-US" sz="1800" b="0" i="0" u="none" strike="noStrike" noProof="0" err="1">
                          <a:solidFill>
                            <a:srgbClr val="1D2A57"/>
                          </a:solidFill>
                          <a:effectLst/>
                          <a:latin typeface="Calibri"/>
                        </a:rPr>
                        <a:t>n</a:t>
                      </a:r>
                      <a:r>
                        <a:rPr lang="en-US" sz="1800" b="0" i="0" u="none" strike="noStrike" noProof="0">
                          <a:solidFill>
                            <a:srgbClr val="1D2A57"/>
                          </a:solidFill>
                          <a:effectLst/>
                          <a:latin typeface="Calibri"/>
                        </a:rPr>
                        <a:t>/</a:t>
                      </a:r>
                    </a:p>
                    <a:p>
                      <a:pPr lvl="0" algn="l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1D2A57"/>
                          </a:solidFill>
                          <a:effectLst/>
                          <a:latin typeface="Calibri"/>
                        </a:rPr>
                        <a:t>/</a:t>
                      </a:r>
                      <a:r>
                        <a:rPr lang="en-US" sz="1800" b="0" i="0" u="none" strike="noStrike" noProof="0" err="1">
                          <a:solidFill>
                            <a:srgbClr val="1D2A57"/>
                          </a:solidFill>
                          <a:effectLst/>
                          <a:latin typeface="Calibri"/>
                        </a:rPr>
                        <a:t>ð</a:t>
                      </a:r>
                      <a:r>
                        <a:rPr lang="en-US" sz="1800" b="1" i="0" u="none" strike="noStrike" noProof="0" err="1">
                          <a:solidFill>
                            <a:srgbClr val="1D2A57"/>
                          </a:solidFill>
                          <a:effectLst/>
                          <a:latin typeface="Calibri"/>
                        </a:rPr>
                        <a:t>æ</a:t>
                      </a:r>
                      <a:r>
                        <a:rPr lang="en-US" sz="1800" b="0" i="0" u="none" strike="noStrike" noProof="0" err="1">
                          <a:solidFill>
                            <a:srgbClr val="1D2A57"/>
                          </a:solidFill>
                          <a:effectLst/>
                          <a:latin typeface="Calibri"/>
                        </a:rPr>
                        <a:t>n</a:t>
                      </a:r>
                      <a:r>
                        <a:rPr lang="en-US" sz="1800" b="0" i="0" u="none" strike="noStrike" noProof="0">
                          <a:solidFill>
                            <a:srgbClr val="1D2A57"/>
                          </a:solidFill>
                          <a:effectLst/>
                          <a:latin typeface="Calibri"/>
                        </a:rPr>
                        <a:t>/</a:t>
                      </a:r>
                    </a:p>
                  </a:txBody>
                  <a:tcPr marL="62179" marR="62179" marT="31090" marB="31090">
                    <a:lnL w="9524">
                      <a:solidFill>
                        <a:srgbClr val="FFFFFF"/>
                      </a:solidFill>
                    </a:lnL>
                    <a:lnR w="9524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FFFFFF"/>
                      </a:solidFill>
                    </a:lnB>
                    <a:solidFill>
                      <a:srgbClr val="CCD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03802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A18330C-D0BB-A8EC-0C70-384259372CE3}"/>
              </a:ext>
            </a:extLst>
          </p:cNvPr>
          <p:cNvSpPr txBox="1"/>
          <p:nvPr/>
        </p:nvSpPr>
        <p:spPr>
          <a:xfrm>
            <a:off x="832928" y="1326204"/>
            <a:ext cx="8687693" cy="10310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solidFill>
                  <a:schemeClr val="tx2"/>
                </a:solidFill>
                <a:ea typeface="+mn-lt"/>
                <a:cs typeface="+mn-lt"/>
              </a:rPr>
              <a:t>/</a:t>
            </a:r>
            <a:r>
              <a:rPr lang="en-US" sz="1900" dirty="0" err="1">
                <a:solidFill>
                  <a:srgbClr val="000000"/>
                </a:solidFill>
                <a:latin typeface="Arial"/>
                <a:ea typeface="+mn-lt"/>
                <a:cs typeface="Arial"/>
              </a:rPr>
              <a:t>eɪ</a:t>
            </a:r>
            <a:r>
              <a:rPr lang="en-US" sz="2400" dirty="0">
                <a:solidFill>
                  <a:schemeClr val="tx2"/>
                </a:solidFill>
                <a:ea typeface="+mn-lt"/>
                <a:cs typeface="+mn-lt"/>
              </a:rPr>
              <a:t>/,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>
                <a:solidFill>
                  <a:schemeClr val="tx2"/>
                </a:solidFill>
                <a:ea typeface="+mn-lt"/>
                <a:cs typeface="+mn-lt"/>
              </a:rPr>
              <a:t>/</a:t>
            </a:r>
            <a:r>
              <a:rPr lang="en-US" sz="1900" dirty="0">
                <a:solidFill>
                  <a:srgbClr val="000000"/>
                </a:solidFill>
                <a:latin typeface="Arial"/>
                <a:ea typeface="+mn-lt"/>
                <a:cs typeface="Arial"/>
              </a:rPr>
              <a:t>e</a:t>
            </a:r>
            <a:r>
              <a:rPr lang="en-US" sz="2400" dirty="0">
                <a:solidFill>
                  <a:schemeClr val="tx2"/>
                </a:solidFill>
                <a:ea typeface="+mn-lt"/>
                <a:cs typeface="+mn-lt"/>
              </a:rPr>
              <a:t>/ and /</a:t>
            </a:r>
            <a:r>
              <a:rPr lang="en-US" sz="1900" dirty="0">
                <a:solidFill>
                  <a:srgbClr val="000000"/>
                </a:solidFill>
                <a:latin typeface="Arial"/>
                <a:ea typeface="+mn-lt"/>
                <a:cs typeface="Arial"/>
              </a:rPr>
              <a:t>æ/</a:t>
            </a:r>
          </a:p>
          <a:p>
            <a:r>
              <a:rPr lang="en-US" dirty="0">
                <a:solidFill>
                  <a:schemeClr val="tx2"/>
                </a:solidFill>
                <a:ea typeface="+mn-lt"/>
                <a:cs typeface="+mn-lt"/>
              </a:rPr>
              <a:t>PRACTICE: Articulate the words aloud to learn the difference of sounds written in </a:t>
            </a:r>
            <a:r>
              <a:rPr lang="en-US" b="1" dirty="0">
                <a:solidFill>
                  <a:schemeClr val="tx2"/>
                </a:solidFill>
                <a:ea typeface="+mn-lt"/>
                <a:cs typeface="+mn-lt"/>
              </a:rPr>
              <a:t>bold</a:t>
            </a:r>
            <a:r>
              <a:rPr lang="en-US" dirty="0">
                <a:solidFill>
                  <a:schemeClr val="tx2"/>
                </a:solidFill>
                <a:ea typeface="+mn-lt"/>
                <a:cs typeface="+mn-lt"/>
              </a:rPr>
              <a:t>.</a:t>
            </a:r>
          </a:p>
          <a:p>
            <a:endParaRPr lang="en-US" sz="190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026346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2942F-3CB2-1F7F-B007-E093FD8B6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r>
              <a:rPr lang="en-US" sz="2400" b="1" dirty="0">
                <a:latin typeface="Calibri"/>
                <a:ea typeface="+mj-lt"/>
                <a:cs typeface="+mj-lt"/>
              </a:rPr>
              <a:t>/r/ </a:t>
            </a:r>
            <a:br>
              <a:rPr lang="en-US" sz="2400" b="1" dirty="0">
                <a:latin typeface="Calibri"/>
                <a:ea typeface="+mj-lt"/>
                <a:cs typeface="+mj-lt"/>
              </a:rPr>
            </a:br>
            <a:br>
              <a:rPr lang="en-US" sz="2400" dirty="0">
                <a:latin typeface="Calibri"/>
                <a:ea typeface="+mj-lt"/>
                <a:cs typeface="+mj-lt"/>
              </a:rPr>
            </a:br>
            <a:r>
              <a:rPr lang="en-US" sz="2400" dirty="0">
                <a:latin typeface="Calibri"/>
                <a:ea typeface="+mj-lt"/>
                <a:cs typeface="+mj-lt"/>
              </a:rPr>
              <a:t>In British pronunciation, /r/ sound is omitted if it occurs at the final position of a word, such as,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7D26655-252C-A86E-5B8D-EB88642785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44804158"/>
              </p:ext>
            </p:extLst>
          </p:nvPr>
        </p:nvGraphicFramePr>
        <p:xfrm>
          <a:off x="838200" y="1825625"/>
          <a:ext cx="10515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71356824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0716005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>
                          <a:latin typeface="Calibri"/>
                        </a:rPr>
                        <a:t>Spelling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Calibri"/>
                        </a:rPr>
                        <a:t>Phonemic Transcription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3599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>
                          <a:latin typeface="Calibri"/>
                        </a:rPr>
                        <a:t>Engineer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1D2A57"/>
                          </a:solidFill>
                          <a:latin typeface="Calibri"/>
                        </a:rPr>
                        <a:t>/</a:t>
                      </a:r>
                      <a:r>
                        <a:rPr lang="en-US" sz="1800" b="0" i="0" u="none" strike="noStrike" noProof="0" err="1">
                          <a:solidFill>
                            <a:srgbClr val="1D2A57"/>
                          </a:solidFill>
                          <a:latin typeface="Calibri"/>
                        </a:rPr>
                        <a:t>endʒɪnɪə</a:t>
                      </a:r>
                      <a:r>
                        <a:rPr lang="en-US" sz="1800" b="0" i="0" u="none" strike="noStrike" noProof="0">
                          <a:solidFill>
                            <a:srgbClr val="1D2A57"/>
                          </a:solidFill>
                          <a:latin typeface="Calibri"/>
                        </a:rPr>
                        <a:t>/</a:t>
                      </a:r>
                      <a:endParaRPr lang="en-US" sz="180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25020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>
                          <a:latin typeface="Calibri"/>
                        </a:rPr>
                        <a:t>Doctor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1D2A57"/>
                          </a:solidFill>
                          <a:latin typeface="Calibri"/>
                        </a:rPr>
                        <a:t>/</a:t>
                      </a:r>
                      <a:r>
                        <a:rPr lang="en-US" sz="1800" b="0" i="0" u="none" strike="noStrike" noProof="0" err="1">
                          <a:solidFill>
                            <a:srgbClr val="1D2A57"/>
                          </a:solidFill>
                          <a:latin typeface="Calibri"/>
                        </a:rPr>
                        <a:t>dɒktə</a:t>
                      </a:r>
                      <a:r>
                        <a:rPr lang="en-US" sz="1800" b="0" i="0" u="none" strike="noStrike" noProof="0">
                          <a:solidFill>
                            <a:srgbClr val="1D2A57"/>
                          </a:solidFill>
                          <a:latin typeface="Calibri"/>
                        </a:rPr>
                        <a:t>/</a:t>
                      </a:r>
                      <a:endParaRPr lang="en-US" sz="180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08675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>
                          <a:latin typeface="Calibri"/>
                        </a:rPr>
                        <a:t>Professor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Calibri"/>
                        </a:rPr>
                        <a:t>/</a:t>
                      </a:r>
                      <a:r>
                        <a:rPr lang="en-US" sz="1800" b="0" i="0" u="none" strike="noStrike" noProof="0" err="1">
                          <a:solidFill>
                            <a:srgbClr val="1D2A57"/>
                          </a:solidFill>
                          <a:latin typeface="Calibri"/>
                        </a:rPr>
                        <a:t>prəfesə</a:t>
                      </a:r>
                      <a:r>
                        <a:rPr lang="en-US" sz="1800" b="0" i="0" u="none" strike="noStrike" noProof="0">
                          <a:solidFill>
                            <a:srgbClr val="1D2A57"/>
                          </a:solidFill>
                          <a:latin typeface="Calibri"/>
                        </a:rPr>
                        <a:t>/</a:t>
                      </a:r>
                      <a:endParaRPr lang="en-US" sz="180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64183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>
                          <a:latin typeface="Calibri"/>
                        </a:rPr>
                        <a:t>Computer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Calibri"/>
                        </a:rPr>
                        <a:t>/</a:t>
                      </a:r>
                      <a:r>
                        <a:rPr lang="en-US" sz="1800" b="0" i="0" u="none" strike="noStrike" noProof="0" err="1">
                          <a:solidFill>
                            <a:srgbClr val="1D2A57"/>
                          </a:solidFill>
                          <a:latin typeface="Calibri"/>
                        </a:rPr>
                        <a:t>kəmpjuːtə</a:t>
                      </a:r>
                      <a:r>
                        <a:rPr lang="en-US" sz="1800" b="0" i="0" u="none" strike="noStrike" noProof="0">
                          <a:solidFill>
                            <a:srgbClr val="1D2A57"/>
                          </a:solidFill>
                          <a:latin typeface="Calibri"/>
                        </a:rPr>
                        <a:t>/</a:t>
                      </a:r>
                      <a:endParaRPr lang="en-US" sz="180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830556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305FC45-EE4E-C7E8-40CE-74E44CB3D5C1}"/>
              </a:ext>
            </a:extLst>
          </p:cNvPr>
          <p:cNvSpPr txBox="1"/>
          <p:nvPr/>
        </p:nvSpPr>
        <p:spPr>
          <a:xfrm>
            <a:off x="826016" y="3948258"/>
            <a:ext cx="10164869" cy="18466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latin typeface="Calibri"/>
                <a:cs typeface="Calibri"/>
              </a:rPr>
              <a:t>but /r/ is pronounced if it is followed by a vowel sound, for example</a:t>
            </a:r>
          </a:p>
          <a:p>
            <a:endParaRPr lang="en-US">
              <a:latin typeface="Calibri"/>
              <a:cs typeface="Calibri"/>
            </a:endParaRPr>
          </a:p>
          <a:p>
            <a:endParaRPr lang="en-US">
              <a:latin typeface="Calibri"/>
              <a:cs typeface="Calibri"/>
            </a:endParaRPr>
          </a:p>
          <a:p>
            <a:endParaRPr lang="en-US">
              <a:latin typeface="Calibri"/>
              <a:cs typeface="Calibri"/>
            </a:endParaRPr>
          </a:p>
          <a:p>
            <a:endParaRPr lang="en-US">
              <a:latin typeface="Calibri"/>
              <a:cs typeface="Calibri"/>
            </a:endParaRPr>
          </a:p>
          <a:p>
            <a:endParaRPr lang="en-US">
              <a:latin typeface="Calibri"/>
              <a:cs typeface="Calibri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6A18783-6BDB-E662-F2A2-86BFBBEA72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037599"/>
              </p:ext>
            </p:extLst>
          </p:nvPr>
        </p:nvGraphicFramePr>
        <p:xfrm>
          <a:off x="824630" y="4436301"/>
          <a:ext cx="10444367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6801">
                  <a:extLst>
                    <a:ext uri="{9D8B030D-6E8A-4147-A177-3AD203B41FA5}">
                      <a16:colId xmlns:a16="http://schemas.microsoft.com/office/drawing/2014/main" val="3198584335"/>
                    </a:ext>
                  </a:extLst>
                </a:gridCol>
                <a:gridCol w="5107566">
                  <a:extLst>
                    <a:ext uri="{9D8B030D-6E8A-4147-A177-3AD203B41FA5}">
                      <a16:colId xmlns:a16="http://schemas.microsoft.com/office/drawing/2014/main" val="17269261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/>
                        </a:rPr>
                        <a:t>Spelling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/>
                        </a:rPr>
                        <a:t>Phonemic Transcription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35875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/>
                        </a:rPr>
                        <a:t>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/>
                        </a:rPr>
                        <a:t>/</a:t>
                      </a:r>
                      <a:r>
                        <a:rPr lang="en-US" sz="1800" b="0" i="0" u="none" strike="noStrike" noProof="0" dirty="0" err="1">
                          <a:solidFill>
                            <a:srgbClr val="1D2A57"/>
                          </a:solidFill>
                          <a:latin typeface="Calibri"/>
                        </a:rPr>
                        <a:t>endʒɪnɪərɪŋ</a:t>
                      </a:r>
                      <a:r>
                        <a:rPr lang="en-US" sz="1800" b="0" i="0" u="none" strike="noStrike" noProof="0" dirty="0">
                          <a:solidFill>
                            <a:srgbClr val="1D2A57"/>
                          </a:solidFill>
                          <a:latin typeface="Calibri"/>
                        </a:rPr>
                        <a:t>/</a:t>
                      </a:r>
                      <a:endParaRPr lang="en-US" sz="1800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48864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/>
                        </a:rPr>
                        <a:t>Doctorate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/>
                        </a:rPr>
                        <a:t>/</a:t>
                      </a:r>
                      <a:r>
                        <a:rPr lang="en-US" sz="1800" b="0" i="0" u="none" strike="noStrike" noProof="0" dirty="0" err="1">
                          <a:solidFill>
                            <a:srgbClr val="1D2A57"/>
                          </a:solidFill>
                          <a:latin typeface="Calibri"/>
                        </a:rPr>
                        <a:t>dɒktərət</a:t>
                      </a:r>
                      <a:r>
                        <a:rPr lang="en-US" sz="1800" b="0" i="0" u="none" strike="noStrike" noProof="0" dirty="0">
                          <a:solidFill>
                            <a:srgbClr val="1D2A57"/>
                          </a:solidFill>
                          <a:latin typeface="Calibri"/>
                        </a:rPr>
                        <a:t>/</a:t>
                      </a:r>
                      <a:endParaRPr lang="en-US" sz="1800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58139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err="1">
                          <a:latin typeface="Calibri"/>
                        </a:rPr>
                        <a:t>Computerised</a:t>
                      </a:r>
                      <a:endParaRPr lang="en-US" sz="1800" dirty="0" err="1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/>
                        </a:rPr>
                        <a:t>/</a:t>
                      </a:r>
                      <a:r>
                        <a:rPr lang="en-US" sz="1800" b="0" i="0" u="none" strike="noStrike" noProof="0" dirty="0" err="1">
                          <a:solidFill>
                            <a:srgbClr val="1D2A57"/>
                          </a:solidFill>
                          <a:latin typeface="Calibri"/>
                        </a:rPr>
                        <a:t>kəmpjuːtəraɪzd</a:t>
                      </a:r>
                      <a:r>
                        <a:rPr lang="en-US" sz="1800" b="0" i="0" u="none" strike="noStrike" noProof="0" dirty="0">
                          <a:solidFill>
                            <a:srgbClr val="1D2A57"/>
                          </a:solidFill>
                          <a:latin typeface="Calibri"/>
                        </a:rPr>
                        <a:t>/</a:t>
                      </a:r>
                      <a:endParaRPr lang="en-US" sz="1800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363799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8AF53031-B988-F68F-B34F-5E2CAD01E0A7}"/>
              </a:ext>
            </a:extLst>
          </p:cNvPr>
          <p:cNvSpPr txBox="1"/>
          <p:nvPr/>
        </p:nvSpPr>
        <p:spPr>
          <a:xfrm>
            <a:off x="830116" y="6149964"/>
            <a:ext cx="1044670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i="1" dirty="0">
                <a:latin typeface="Calibri"/>
                <a:cs typeface="Calibri"/>
              </a:rPr>
              <a:t>Note: In American pronunciation, </a:t>
            </a:r>
            <a:r>
              <a:rPr lang="en-US" sz="2400" i="1" dirty="0">
                <a:latin typeface="Calibri"/>
                <a:ea typeface="+mn-lt"/>
                <a:cs typeface="+mn-lt"/>
              </a:rPr>
              <a:t>every 'r’ of the ordinary spelling is sounded.</a:t>
            </a:r>
            <a:endParaRPr lang="en-US" sz="24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470985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F802F-00B6-2B2D-6AEA-A8D7971D2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Use of Articles (A/An)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770CF4-DAFD-B3F5-7744-786A4E0689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We know that articles are used before singular countable nouns but where to use 'a' and where 'an' is a bit confusing at times. </a:t>
            </a:r>
          </a:p>
          <a:p>
            <a:r>
              <a:rPr lang="en-US"/>
              <a:t>The knowledge of finding out the difference between vowel and consonant sounds will help us use these articles correctly and confidently.</a:t>
            </a:r>
          </a:p>
          <a:p>
            <a:r>
              <a:rPr lang="en-US"/>
              <a:t>It is not the initial letter of a word that determines the use of </a:t>
            </a:r>
            <a:r>
              <a:rPr lang="en-US" b="1"/>
              <a:t>A</a:t>
            </a:r>
            <a:r>
              <a:rPr lang="en-US"/>
              <a:t> or </a:t>
            </a:r>
            <a:r>
              <a:rPr lang="en-US" b="1"/>
              <a:t>An</a:t>
            </a:r>
            <a:r>
              <a:rPr lang="en-US"/>
              <a:t> before it but the initial sound of that word. </a:t>
            </a:r>
            <a:r>
              <a:rPr lang="en-US" b="1"/>
              <a:t>An</a:t>
            </a:r>
            <a:r>
              <a:rPr lang="en-US"/>
              <a:t> is used only before a word that begins with a vowel sound.</a:t>
            </a:r>
          </a:p>
          <a:p>
            <a:r>
              <a:rPr lang="en-US"/>
              <a:t>Do not look at the spelling of a word but the initial sound.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346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6B9B8-82CC-B7D6-B29C-36CE019E0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just"/>
            <a:r>
              <a:rPr lang="en-US"/>
              <a:t>Activity </a:t>
            </a:r>
            <a:br>
              <a:rPr lang="en-US"/>
            </a:br>
            <a:r>
              <a:rPr lang="en-US" sz="2800">
                <a:latin typeface="Calibri"/>
                <a:cs typeface="Calibri"/>
              </a:rPr>
              <a:t>Pronounce the following words aloud. On the basis of the understanding of vowel and consonant sounds, use </a:t>
            </a:r>
            <a:r>
              <a:rPr lang="en-US" sz="2800" b="1">
                <a:latin typeface="Calibri"/>
                <a:cs typeface="Calibri"/>
              </a:rPr>
              <a:t>A</a:t>
            </a:r>
            <a:r>
              <a:rPr lang="en-US" sz="2800">
                <a:latin typeface="Calibri"/>
                <a:cs typeface="Calibri"/>
              </a:rPr>
              <a:t> or </a:t>
            </a:r>
            <a:r>
              <a:rPr lang="en-US" sz="2800" b="1">
                <a:latin typeface="Calibri"/>
                <a:cs typeface="Calibri"/>
              </a:rPr>
              <a:t>An</a:t>
            </a:r>
            <a:r>
              <a:rPr lang="en-US" sz="2800">
                <a:latin typeface="Calibri"/>
                <a:cs typeface="Calibri"/>
              </a:rPr>
              <a:t> before the words listed below: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931C8B-90CC-7F08-3E78-28838E8E0F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514350" indent="-514350">
              <a:buAutoNum type="arabicPeriod"/>
            </a:pPr>
            <a:r>
              <a:rPr lang="en-US"/>
              <a:t>______ house</a:t>
            </a:r>
          </a:p>
          <a:p>
            <a:pPr>
              <a:buAutoNum type="arabicPeriod"/>
            </a:pPr>
            <a:r>
              <a:rPr lang="en-US"/>
              <a:t>   ______ hour</a:t>
            </a:r>
          </a:p>
          <a:p>
            <a:pPr>
              <a:buAutoNum type="arabicPeriod"/>
            </a:pPr>
            <a:r>
              <a:rPr lang="en-US"/>
              <a:t>   ______ university</a:t>
            </a:r>
          </a:p>
          <a:p>
            <a:pPr>
              <a:buAutoNum type="arabicPeriod"/>
            </a:pPr>
            <a:r>
              <a:rPr lang="en-US"/>
              <a:t>   ______ honest person</a:t>
            </a:r>
          </a:p>
          <a:p>
            <a:pPr>
              <a:buAutoNum type="arabicPeriod"/>
            </a:pPr>
            <a:r>
              <a:rPr lang="en-US"/>
              <a:t>   ______European university</a:t>
            </a:r>
          </a:p>
          <a:p>
            <a:pPr>
              <a:buAutoNum type="arabicPeriod"/>
            </a:pPr>
            <a:r>
              <a:rPr lang="en-US"/>
              <a:t>   ______ year</a:t>
            </a:r>
          </a:p>
          <a:p>
            <a:pPr>
              <a:buAutoNum type="arabicPeriod"/>
            </a:pPr>
            <a:r>
              <a:rPr lang="en-US"/>
              <a:t>   ______ear</a:t>
            </a:r>
          </a:p>
          <a:p>
            <a:pPr>
              <a:buAutoNum type="arabicPeriod"/>
            </a:pPr>
            <a:r>
              <a:rPr lang="en-US"/>
              <a:t>   ______LLB student</a:t>
            </a:r>
          </a:p>
          <a:p>
            <a:pPr>
              <a:buAutoNum type="arabicPeriod"/>
            </a:pPr>
            <a:r>
              <a:rPr lang="en-US"/>
              <a:t>   ______ owl</a:t>
            </a:r>
          </a:p>
          <a:p>
            <a:pPr>
              <a:buAutoNum type="arabicPeriod"/>
            </a:pPr>
            <a:r>
              <a:rPr lang="en-US"/>
              <a:t>______ school</a:t>
            </a:r>
          </a:p>
          <a:p>
            <a:pPr>
              <a:buAutoNum type="arabicPeriod"/>
            </a:pPr>
            <a:endParaRPr lang="en-US"/>
          </a:p>
          <a:p>
            <a:pPr>
              <a:buAutoNum type="arabicPeriod"/>
            </a:pPr>
            <a:endParaRPr lang="en-US"/>
          </a:p>
          <a:p>
            <a:pPr>
              <a:buAutoNum type="arabicPeriod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8539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F802F-00B6-2B2D-6AEA-A8D7971D2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05162" cy="1231617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/>
              <a:t>Activity</a:t>
            </a:r>
            <a:br>
              <a:rPr lang="en-US" dirty="0"/>
            </a:br>
            <a:r>
              <a:rPr lang="en-US" sz="2800" dirty="0">
                <a:latin typeface="Calibri"/>
                <a:cs typeface="Calibri"/>
              </a:rPr>
              <a:t>Read phonemic transcriptions of the following words. Pronounce them aloud and write their spellings.</a:t>
            </a:r>
            <a:br>
              <a:rPr lang="en-US" dirty="0"/>
            </a:br>
            <a:r>
              <a:rPr lang="en-US" dirty="0"/>
              <a:t> 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EF103F4-4B96-087D-D919-792691DCD7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53908219"/>
              </p:ext>
            </p:extLst>
          </p:nvPr>
        </p:nvGraphicFramePr>
        <p:xfrm>
          <a:off x="838200" y="1825625"/>
          <a:ext cx="10515600" cy="40792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28165495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108751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u="none" dirty="0">
                          <a:latin typeface="Calibri"/>
                        </a:rPr>
                        <a:t>Phonemic Transcription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/>
                        </a:rPr>
                        <a:t>Spelling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47201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1D2A57"/>
                          </a:solidFill>
                          <a:latin typeface="Calibri"/>
                        </a:rPr>
                        <a:t>/</a:t>
                      </a:r>
                      <a:r>
                        <a:rPr lang="en-US" sz="1800" b="0" i="0" u="none" strike="noStrike" noProof="0" err="1">
                          <a:solidFill>
                            <a:srgbClr val="1D2A57"/>
                          </a:solidFill>
                          <a:latin typeface="Calibri"/>
                        </a:rPr>
                        <a:t>teknɒlədʒi</a:t>
                      </a:r>
                      <a:r>
                        <a:rPr lang="en-US" sz="1800" b="0" i="0" u="none" strike="noStrike" noProof="0" dirty="0">
                          <a:solidFill>
                            <a:srgbClr val="1D2A57"/>
                          </a:solidFill>
                          <a:latin typeface="Calibri"/>
                        </a:rPr>
                        <a:t>/</a:t>
                      </a:r>
                      <a:endParaRPr lang="en-US" sz="1800" u="none" dirty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4573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1D2A57"/>
                          </a:solidFill>
                          <a:latin typeface="Calibri"/>
                        </a:rPr>
                        <a:t>/</a:t>
                      </a:r>
                      <a:r>
                        <a:rPr lang="en-US" sz="1800" b="0" i="0" u="none" strike="noStrike" noProof="0" err="1">
                          <a:solidFill>
                            <a:srgbClr val="1D2A57"/>
                          </a:solidFill>
                          <a:latin typeface="Calibri"/>
                        </a:rPr>
                        <a:t>endʒɪnɪərɪŋ</a:t>
                      </a:r>
                      <a:r>
                        <a:rPr lang="en-US" sz="1800" b="0" i="0" u="none" strike="noStrike" noProof="0" dirty="0">
                          <a:solidFill>
                            <a:srgbClr val="1D2A57"/>
                          </a:solidFill>
                          <a:latin typeface="Calibri"/>
                        </a:rPr>
                        <a:t>/</a:t>
                      </a:r>
                      <a:endParaRPr lang="en-US" sz="1800" u="none" dirty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22494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1D2A57"/>
                          </a:solidFill>
                          <a:latin typeface="Calibri"/>
                        </a:rPr>
                        <a:t>/</a:t>
                      </a:r>
                      <a:r>
                        <a:rPr lang="en-US" sz="1800" b="0" i="0" u="none" strike="noStrike" noProof="0" err="1">
                          <a:solidFill>
                            <a:srgbClr val="1D2A57"/>
                          </a:solidFill>
                          <a:latin typeface="Calibri"/>
                        </a:rPr>
                        <a:t>juːnɪvɜːsəti</a:t>
                      </a:r>
                      <a:r>
                        <a:rPr lang="en-US" sz="1800" b="0" i="0" u="none" strike="noStrike" noProof="0" dirty="0">
                          <a:solidFill>
                            <a:srgbClr val="1D2A57"/>
                          </a:solidFill>
                          <a:latin typeface="Calibri"/>
                        </a:rPr>
                        <a:t>/</a:t>
                      </a:r>
                      <a:endParaRPr lang="en-US" sz="1800" u="none" dirty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805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1D2A57"/>
                          </a:solidFill>
                          <a:latin typeface="Calibri"/>
                        </a:rPr>
                        <a:t>/</a:t>
                      </a:r>
                      <a:r>
                        <a:rPr lang="en-US" sz="1800" b="0" i="0" u="none" strike="noStrike" noProof="0" err="1">
                          <a:solidFill>
                            <a:srgbClr val="1D2A57"/>
                          </a:solidFill>
                          <a:latin typeface="Calibri"/>
                        </a:rPr>
                        <a:t>məkænɪkəl</a:t>
                      </a:r>
                      <a:r>
                        <a:rPr lang="en-US" sz="1800" b="0" i="0" u="none" strike="noStrike" noProof="0" dirty="0">
                          <a:solidFill>
                            <a:srgbClr val="1D2A57"/>
                          </a:solidFill>
                          <a:latin typeface="Calibri"/>
                        </a:rPr>
                        <a:t>/</a:t>
                      </a:r>
                      <a:endParaRPr lang="en-US" sz="1800" u="none" dirty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5953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1D2A57"/>
                          </a:solidFill>
                          <a:latin typeface="Calibri"/>
                        </a:rPr>
                        <a:t>/</a:t>
                      </a:r>
                      <a:r>
                        <a:rPr lang="en-US" sz="1800" b="0" i="0" u="none" strike="noStrike" noProof="0" err="1">
                          <a:solidFill>
                            <a:srgbClr val="1D2A57"/>
                          </a:solidFill>
                          <a:latin typeface="Calibri"/>
                        </a:rPr>
                        <a:t>elektrɒnɪks</a:t>
                      </a:r>
                      <a:r>
                        <a:rPr lang="en-US" sz="1800" b="0" i="0" u="none" strike="noStrike" noProof="0" dirty="0">
                          <a:solidFill>
                            <a:srgbClr val="1D2A57"/>
                          </a:solidFill>
                          <a:latin typeface="Calibri"/>
                        </a:rPr>
                        <a:t>/</a:t>
                      </a:r>
                      <a:endParaRPr lang="en-US" sz="1800" u="none" dirty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2650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1D2A57"/>
                          </a:solidFill>
                          <a:latin typeface="Calibri"/>
                        </a:rPr>
                        <a:t>/ˈ</a:t>
                      </a:r>
                      <a:r>
                        <a:rPr lang="en-US" sz="1800" b="0" i="0" u="none" strike="noStrike" noProof="0" err="1">
                          <a:solidFill>
                            <a:srgbClr val="1D2A57"/>
                          </a:solidFill>
                          <a:latin typeface="Calibri"/>
                        </a:rPr>
                        <a:t>ɪŋɡlɪʃ</a:t>
                      </a:r>
                      <a:r>
                        <a:rPr lang="en-US" sz="1800" b="0" i="0" u="none" strike="noStrike" noProof="0" dirty="0">
                          <a:solidFill>
                            <a:srgbClr val="1D2A57"/>
                          </a:solidFill>
                          <a:latin typeface="Calibri"/>
                        </a:rPr>
                        <a:t>/</a:t>
                      </a:r>
                      <a:endParaRPr lang="en-US" sz="1800" u="none" dirty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1783787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1D2A57"/>
                          </a:solidFill>
                          <a:latin typeface="Calibri"/>
                        </a:rPr>
                        <a:t>/</a:t>
                      </a:r>
                      <a:r>
                        <a:rPr lang="en-US" sz="1800" b="0" i="0" u="none" strike="noStrike" noProof="0" dirty="0" err="1">
                          <a:solidFill>
                            <a:srgbClr val="1D2A57"/>
                          </a:solidFill>
                          <a:latin typeface="Calibri"/>
                        </a:rPr>
                        <a:t>ɡræmə</a:t>
                      </a:r>
                      <a:r>
                        <a:rPr lang="en-US" sz="1800" b="0" i="0" u="none" strike="noStrike" noProof="0" dirty="0">
                          <a:solidFill>
                            <a:srgbClr val="1D2A57"/>
                          </a:solidFill>
                          <a:latin typeface="Calibri"/>
                        </a:rPr>
                        <a:t>/</a:t>
                      </a:r>
                      <a:endParaRPr lang="en-US" sz="1800" u="none" dirty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800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2595202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1D2A57"/>
                          </a:solidFill>
                          <a:latin typeface="Calibri"/>
                        </a:rPr>
                        <a:t>/</a:t>
                      </a:r>
                      <a:r>
                        <a:rPr lang="en-US" sz="1800" b="0" i="0" u="none" strike="noStrike" noProof="0" err="1">
                          <a:solidFill>
                            <a:srgbClr val="1D2A57"/>
                          </a:solidFill>
                          <a:latin typeface="Calibri"/>
                        </a:rPr>
                        <a:t>stjuːdənt</a:t>
                      </a:r>
                      <a:r>
                        <a:rPr lang="en-US" sz="1800" b="0" i="0" u="none" strike="noStrike" noProof="0" dirty="0">
                          <a:solidFill>
                            <a:srgbClr val="1D2A57"/>
                          </a:solidFill>
                          <a:latin typeface="Calibri"/>
                        </a:rPr>
                        <a:t>/</a:t>
                      </a:r>
                      <a:endParaRPr lang="en-US" sz="1800" u="none" dirty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800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6851613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1D2A57"/>
                          </a:solidFill>
                          <a:latin typeface="Calibri"/>
                        </a:rPr>
                        <a:t>/</a:t>
                      </a:r>
                      <a:r>
                        <a:rPr lang="en-US" sz="1800" b="0" i="0" u="none" strike="noStrike" noProof="0" err="1">
                          <a:solidFill>
                            <a:srgbClr val="1D2A57"/>
                          </a:solidFill>
                          <a:latin typeface="Calibri"/>
                        </a:rPr>
                        <a:t>ɑːtɪfɪʃəl</a:t>
                      </a:r>
                      <a:r>
                        <a:rPr lang="en-US" sz="1800" b="0" i="0" u="none" strike="noStrike" noProof="0" dirty="0">
                          <a:solidFill>
                            <a:srgbClr val="1D2A57"/>
                          </a:solidFill>
                          <a:latin typeface="Calibri"/>
                        </a:rPr>
                        <a:t>  </a:t>
                      </a:r>
                      <a:r>
                        <a:rPr lang="en-US" sz="1800" b="0" i="0" u="none" strike="noStrike" noProof="0" err="1">
                          <a:solidFill>
                            <a:srgbClr val="1D2A57"/>
                          </a:solidFill>
                          <a:latin typeface="Calibri"/>
                        </a:rPr>
                        <a:t>ɪntelɪdʒəns</a:t>
                      </a:r>
                      <a:r>
                        <a:rPr lang="en-US" sz="1800" b="0" i="0" u="none" strike="noStrike" noProof="0" dirty="0">
                          <a:solidFill>
                            <a:srgbClr val="1D2A57"/>
                          </a:solidFill>
                          <a:latin typeface="Calibri"/>
                        </a:rPr>
                        <a:t>/</a:t>
                      </a:r>
                      <a:endParaRPr lang="en-US" sz="1800" u="none" dirty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800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6666933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1D2A57"/>
                          </a:solidFill>
                          <a:latin typeface="Calibri"/>
                        </a:rPr>
                        <a:t>/</a:t>
                      </a:r>
                      <a:r>
                        <a:rPr lang="en-US" sz="1800" b="0" i="0" u="none" strike="noStrike" noProof="0" err="1">
                          <a:solidFill>
                            <a:srgbClr val="1D2A57"/>
                          </a:solidFill>
                          <a:latin typeface="Calibri"/>
                        </a:rPr>
                        <a:t>eɪ</a:t>
                      </a:r>
                      <a:r>
                        <a:rPr lang="en-US" sz="1800" b="0" i="0" u="none" strike="noStrike" noProof="0" dirty="0">
                          <a:solidFill>
                            <a:srgbClr val="1D2A57"/>
                          </a:solidFill>
                          <a:latin typeface="Calibri"/>
                        </a:rPr>
                        <a:t>  </a:t>
                      </a:r>
                      <a:r>
                        <a:rPr lang="en-US" sz="1800" b="0" i="0" u="none" strike="noStrike" noProof="0" err="1">
                          <a:solidFill>
                            <a:srgbClr val="1D2A57"/>
                          </a:solidFill>
                          <a:latin typeface="Calibri"/>
                        </a:rPr>
                        <a:t>aɪ</a:t>
                      </a:r>
                      <a:r>
                        <a:rPr lang="en-US" sz="1800" b="0" i="0" u="none" strike="noStrike" noProof="0" dirty="0">
                          <a:solidFill>
                            <a:srgbClr val="1D2A57"/>
                          </a:solidFill>
                          <a:latin typeface="Calibri"/>
                        </a:rPr>
                        <a:t>/</a:t>
                      </a:r>
                      <a:endParaRPr lang="en-US" sz="1800" u="none" dirty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800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48142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77476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F802F-00B6-2B2D-6AEA-A8D7971D2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05162" cy="1231617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/>
              <a:t>Activity</a:t>
            </a:r>
            <a:br>
              <a:rPr lang="en-US" dirty="0"/>
            </a:br>
            <a:r>
              <a:rPr lang="en-US" sz="2800" dirty="0">
                <a:latin typeface="Calibri"/>
                <a:cs typeface="Calibri"/>
              </a:rPr>
              <a:t>Articulate the words listed below and transcribe them phonemically. Please note that phonemic transcription is written under slashes /   /.</a:t>
            </a:r>
            <a:br>
              <a:rPr lang="en-US" dirty="0"/>
            </a:br>
            <a:r>
              <a:rPr lang="en-US" dirty="0"/>
              <a:t> 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EF103F4-4B96-087D-D919-792691DCD7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4164510"/>
              </p:ext>
            </p:extLst>
          </p:nvPr>
        </p:nvGraphicFramePr>
        <p:xfrm>
          <a:off x="838200" y="1825625"/>
          <a:ext cx="10515600" cy="40792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28165495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108751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u="none" dirty="0">
                          <a:latin typeface="Calibri"/>
                        </a:rPr>
                        <a:t>Spelling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/>
                        </a:rPr>
                        <a:t>Phonemic Transcription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47201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1D2A57"/>
                          </a:solidFill>
                          <a:latin typeface="Calibri"/>
                        </a:rPr>
                        <a:t>Catch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/>
                        </a:rPr>
                        <a:t>/                  /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4573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1D2A57"/>
                          </a:solidFill>
                          <a:latin typeface="Calibri"/>
                        </a:rPr>
                        <a:t>Fan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22494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1D2A57"/>
                          </a:solidFill>
                          <a:latin typeface="Calibri"/>
                        </a:rPr>
                        <a:t>Laptop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805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1D2A57"/>
                          </a:solidFill>
                          <a:latin typeface="Calibri"/>
                        </a:rPr>
                        <a:t>Professor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5953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1D2A57"/>
                          </a:solidFill>
                          <a:latin typeface="Calibri"/>
                        </a:rPr>
                        <a:t>Keypad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2650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1D2A57"/>
                          </a:solidFill>
                          <a:latin typeface="Calibri"/>
                        </a:rPr>
                        <a:t>Chair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1783787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1D2A57"/>
                          </a:solidFill>
                          <a:latin typeface="Calibri"/>
                        </a:rPr>
                        <a:t>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800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2595202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1D2A57"/>
                          </a:solidFill>
                          <a:latin typeface="Calibri"/>
                        </a:rPr>
                        <a:t>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800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6851613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Eyes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800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6666933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1D2A57"/>
                          </a:solidFill>
                          <a:latin typeface="Calibri"/>
                        </a:rPr>
                        <a:t>Canteen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800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48142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5811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7E5818-6B86-01DD-2C3B-651FF1D0E6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17489"/>
            <a:ext cx="10515600" cy="52594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just">
              <a:buNone/>
            </a:pPr>
            <a:r>
              <a:rPr lang="en-US" sz="2400" dirty="0">
                <a:solidFill>
                  <a:srgbClr val="222222"/>
                </a:solidFill>
                <a:latin typeface="Calibri"/>
                <a:cs typeface="Arial"/>
              </a:rPr>
              <a:t>For better and more enhanced learning and practice, go through the following references:</a:t>
            </a:r>
          </a:p>
          <a:p>
            <a:pPr algn="just"/>
            <a:endParaRPr lang="en-US" sz="2400" dirty="0">
              <a:solidFill>
                <a:srgbClr val="222222"/>
              </a:solidFill>
              <a:latin typeface="Calibri"/>
              <a:cs typeface="Arial"/>
            </a:endParaRPr>
          </a:p>
          <a:p>
            <a:pPr marL="0" indent="0" algn="ctr">
              <a:buNone/>
            </a:pPr>
            <a:r>
              <a:rPr lang="en-US" sz="2400" b="1" dirty="0">
                <a:solidFill>
                  <a:srgbClr val="222222"/>
                </a:solidFill>
                <a:latin typeface="Calibri"/>
                <a:cs typeface="Arial"/>
              </a:rPr>
              <a:t>References</a:t>
            </a:r>
          </a:p>
          <a:p>
            <a:pPr algn="just"/>
            <a:endParaRPr lang="en-US" sz="2400" dirty="0">
              <a:solidFill>
                <a:srgbClr val="222222"/>
              </a:solidFill>
              <a:latin typeface="Calibri"/>
              <a:cs typeface="Arial"/>
            </a:endParaRPr>
          </a:p>
          <a:p>
            <a:pPr algn="just"/>
            <a:r>
              <a:rPr lang="en-US" sz="2400" dirty="0">
                <a:solidFill>
                  <a:srgbClr val="222222"/>
                </a:solidFill>
                <a:latin typeface="Calibri"/>
                <a:cs typeface="Arial"/>
              </a:rPr>
              <a:t>Balasubramanian, T. (1981). </a:t>
            </a:r>
            <a:r>
              <a:rPr lang="en-US" sz="2400" i="1" dirty="0">
                <a:solidFill>
                  <a:srgbClr val="222222"/>
                </a:solidFill>
                <a:latin typeface="Calibri"/>
                <a:cs typeface="Arial"/>
              </a:rPr>
              <a:t>A textbook of English phonetics for Indian students</a:t>
            </a:r>
            <a:r>
              <a:rPr lang="en-US" sz="2400" dirty="0">
                <a:solidFill>
                  <a:srgbClr val="222222"/>
                </a:solidFill>
                <a:latin typeface="Calibri"/>
                <a:cs typeface="Arial"/>
              </a:rPr>
              <a:t>. Macmillan.</a:t>
            </a:r>
          </a:p>
          <a:p>
            <a:pPr algn="just"/>
            <a:r>
              <a:rPr lang="en-US" sz="2400" dirty="0">
                <a:solidFill>
                  <a:srgbClr val="222222"/>
                </a:solidFill>
                <a:latin typeface="Calibri"/>
                <a:ea typeface="+mn-lt"/>
                <a:cs typeface="Arial"/>
              </a:rPr>
              <a:t>Jones, D. (2011). </a:t>
            </a:r>
            <a:r>
              <a:rPr lang="en-US" sz="2400" i="1" dirty="0">
                <a:solidFill>
                  <a:srgbClr val="222222"/>
                </a:solidFill>
                <a:latin typeface="Calibri"/>
                <a:ea typeface="+mn-lt"/>
                <a:cs typeface="Arial"/>
              </a:rPr>
              <a:t>Cambridge English pronouncing dictionary with CD-ROM</a:t>
            </a:r>
            <a:r>
              <a:rPr lang="en-US" sz="2400" dirty="0">
                <a:solidFill>
                  <a:srgbClr val="222222"/>
                </a:solidFill>
                <a:latin typeface="Calibri"/>
                <a:ea typeface="+mn-lt"/>
                <a:cs typeface="Arial"/>
              </a:rPr>
              <a:t>. Cambridge University Press.</a:t>
            </a:r>
            <a:endParaRPr lang="en-US" sz="2400">
              <a:solidFill>
                <a:srgbClr val="222222"/>
              </a:solidFill>
              <a:latin typeface="Calibri"/>
              <a:ea typeface="+mn-lt"/>
              <a:cs typeface="Arial"/>
            </a:endParaRPr>
          </a:p>
          <a:p>
            <a:pPr algn="just"/>
            <a:endParaRPr lang="en-US" sz="2400" dirty="0">
              <a:solidFill>
                <a:srgbClr val="222222"/>
              </a:solidFill>
              <a:latin typeface="Calibri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358544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143</TotalTime>
  <Words>1572</Words>
  <Application>Microsoft Macintosh PowerPoint</Application>
  <PresentationFormat>Widescreen</PresentationFormat>
  <Paragraphs>247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Aptos</vt:lpstr>
      <vt:lpstr>Aptos Display</vt:lpstr>
      <vt:lpstr>Arial</vt:lpstr>
      <vt:lpstr>Calibri</vt:lpstr>
      <vt:lpstr>office theme</vt:lpstr>
      <vt:lpstr>Articulation Skills</vt:lpstr>
      <vt:lpstr>PowerPoint Presentation</vt:lpstr>
      <vt:lpstr>PowerPoint Presentation</vt:lpstr>
      <vt:lpstr>Correspondence between Letters and Sounds in English Language</vt:lpstr>
      <vt:lpstr>International Phonetic Alphabet (IPA)</vt:lpstr>
      <vt:lpstr>IPA Chart</vt:lpstr>
      <vt:lpstr>Classification of Human Speech Sounds in English Language</vt:lpstr>
      <vt:lpstr>Difference between Vowel and Consonant Sounds</vt:lpstr>
      <vt:lpstr>Diagram of Oral Tract responsible for speech production</vt:lpstr>
      <vt:lpstr>PowerPoint Presentation</vt:lpstr>
      <vt:lpstr>PowerPoint Presentation</vt:lpstr>
      <vt:lpstr>Sounds often mispronounced </vt:lpstr>
      <vt:lpstr>Sounds often mispronounced</vt:lpstr>
      <vt:lpstr>Sounds often mispronounced</vt:lpstr>
      <vt:lpstr>Sounds often mispronounced</vt:lpstr>
      <vt:lpstr>Sounds often mispronounced</vt:lpstr>
      <vt:lpstr>/r/   In British pronunciation, /r/ sound is omitted if it occurs at the final position of a word, such as,</vt:lpstr>
      <vt:lpstr>Use of Articles (A/An) </vt:lpstr>
      <vt:lpstr>Activity  Pronounce the following words aloud. On the basis of the understanding of vowel and consonant sounds, use A or An before the words listed below:</vt:lpstr>
      <vt:lpstr> Activity Read phonemic transcriptions of the following words. Pronounce them aloud and write their spellings.  </vt:lpstr>
      <vt:lpstr> Activity Articulate the words listed below and transcribe them phonemically. Please note that phonemic transcription is written under slashes /   /.  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 S Negi</dc:creator>
  <cp:lastModifiedBy>Jaya</cp:lastModifiedBy>
  <cp:revision>386</cp:revision>
  <dcterms:created xsi:type="dcterms:W3CDTF">2024-08-10T13:21:05Z</dcterms:created>
  <dcterms:modified xsi:type="dcterms:W3CDTF">2025-09-04T10:46:52Z</dcterms:modified>
</cp:coreProperties>
</file>