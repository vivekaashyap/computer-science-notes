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17365D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365F9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17365D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365F9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17365D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17365D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01825" y="885189"/>
            <a:ext cx="4968748" cy="8248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17365D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30604" y="2029039"/>
            <a:ext cx="5502909" cy="2056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365F9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9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8679" y="4009428"/>
            <a:ext cx="5803646" cy="40305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89456" y="3854322"/>
            <a:ext cx="580517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0">
                <a:solidFill>
                  <a:srgbClr val="000000"/>
                </a:solidFill>
                <a:latin typeface="Cambria"/>
                <a:cs typeface="Cambria"/>
              </a:rPr>
              <a:t>GLA</a:t>
            </a:r>
            <a:r>
              <a:rPr dirty="0" sz="3600" spc="-110" b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3600" spc="-10" b="0">
                <a:solidFill>
                  <a:srgbClr val="000000"/>
                </a:solidFill>
                <a:latin typeface="Cambria"/>
                <a:cs typeface="Cambria"/>
              </a:rPr>
              <a:t>UNIVERSITY</a:t>
            </a:r>
            <a:r>
              <a:rPr dirty="0" sz="3600" spc="-85" b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3600" b="0">
                <a:solidFill>
                  <a:srgbClr val="000000"/>
                </a:solidFill>
                <a:latin typeface="Cambria"/>
                <a:cs typeface="Cambria"/>
              </a:rPr>
              <a:t>,</a:t>
            </a:r>
            <a:r>
              <a:rPr dirty="0" sz="3600" spc="-90" b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3600" spc="-10" b="0">
                <a:solidFill>
                  <a:srgbClr val="000000"/>
                </a:solidFill>
                <a:latin typeface="Cambria"/>
                <a:cs typeface="Cambria"/>
              </a:rPr>
              <a:t>MATHURA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125016" y="4878959"/>
            <a:ext cx="5523865" cy="12700"/>
          </a:xfrm>
          <a:custGeom>
            <a:avLst/>
            <a:gdLst/>
            <a:ahLst/>
            <a:cxnLst/>
            <a:rect l="l" t="t" r="r" b="b"/>
            <a:pathLst>
              <a:path w="5523865" h="12700">
                <a:moveTo>
                  <a:pt x="5523865" y="0"/>
                </a:moveTo>
                <a:lnTo>
                  <a:pt x="0" y="0"/>
                </a:lnTo>
                <a:lnTo>
                  <a:pt x="0" y="12191"/>
                </a:lnTo>
                <a:lnTo>
                  <a:pt x="5523865" y="12191"/>
                </a:lnTo>
                <a:lnTo>
                  <a:pt x="5523865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14600" y="914400"/>
            <a:ext cx="2735579" cy="228600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749300" y="6928821"/>
            <a:ext cx="3961765" cy="180086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2400" b="1">
                <a:latin typeface="Times New Roman"/>
                <a:cs typeface="Times New Roman"/>
              </a:rPr>
              <a:t>Name: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Vivek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Kashyap.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2200" b="1">
                <a:latin typeface="Times New Roman"/>
                <a:cs typeface="Times New Roman"/>
              </a:rPr>
              <a:t>Section:</a:t>
            </a:r>
            <a:r>
              <a:rPr dirty="0" sz="2200" spc="-75" b="1">
                <a:latin typeface="Times New Roman"/>
                <a:cs typeface="Times New Roman"/>
              </a:rPr>
              <a:t> </a:t>
            </a:r>
            <a:r>
              <a:rPr dirty="0" sz="2200" spc="-20" b="1">
                <a:latin typeface="Times New Roman"/>
                <a:cs typeface="Times New Roman"/>
              </a:rPr>
              <a:t>2SC.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dirty="0" sz="2200" b="1">
                <a:latin typeface="Times New Roman"/>
                <a:cs typeface="Times New Roman"/>
              </a:rPr>
              <a:t>Roll</a:t>
            </a:r>
            <a:r>
              <a:rPr dirty="0" sz="2200" spc="-2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no.:</a:t>
            </a:r>
            <a:r>
              <a:rPr dirty="0" sz="2200" spc="-2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2415001808-</a:t>
            </a:r>
            <a:r>
              <a:rPr dirty="0" sz="2200" spc="-20" b="1">
                <a:latin typeface="Times New Roman"/>
                <a:cs typeface="Times New Roman"/>
              </a:rPr>
              <a:t>(68)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70"/>
              </a:spcBef>
            </a:pPr>
            <a:r>
              <a:rPr dirty="0" sz="2200" b="1">
                <a:latin typeface="Times New Roman"/>
                <a:cs typeface="Times New Roman"/>
              </a:rPr>
              <a:t>Submitted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to: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Dr.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Arvind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Prasad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1926291" y="5236580"/>
            <a:ext cx="3963670" cy="1325880"/>
            <a:chOff x="1926291" y="5236580"/>
            <a:chExt cx="3963670" cy="1325880"/>
          </a:xfrm>
        </p:grpSpPr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26291" y="5236580"/>
              <a:ext cx="3940408" cy="451786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04644" y="5669280"/>
              <a:ext cx="3784854" cy="893064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1918461" y="4982337"/>
            <a:ext cx="3937635" cy="1342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55930" marR="5080" indent="-443865">
              <a:lnSpc>
                <a:spcPct val="120000"/>
              </a:lnSpc>
              <a:spcBef>
                <a:spcPts val="100"/>
              </a:spcBef>
            </a:pPr>
            <a:r>
              <a:rPr dirty="0" sz="3600">
                <a:latin typeface="Times New Roman"/>
                <a:cs typeface="Times New Roman"/>
              </a:rPr>
              <a:t>Application</a:t>
            </a:r>
            <a:r>
              <a:rPr dirty="0" sz="3600" spc="-114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and</a:t>
            </a:r>
            <a:r>
              <a:rPr dirty="0" sz="3600" spc="-100">
                <a:latin typeface="Times New Roman"/>
                <a:cs typeface="Times New Roman"/>
              </a:rPr>
              <a:t> </a:t>
            </a:r>
            <a:r>
              <a:rPr dirty="0" sz="3600" spc="-20">
                <a:latin typeface="Times New Roman"/>
                <a:cs typeface="Times New Roman"/>
              </a:rPr>
              <a:t>Data </a:t>
            </a:r>
            <a:r>
              <a:rPr dirty="0" sz="3600">
                <a:latin typeface="Times New Roman"/>
                <a:cs typeface="Times New Roman"/>
              </a:rPr>
              <a:t>Security</a:t>
            </a:r>
            <a:r>
              <a:rPr dirty="0" sz="3600" spc="-95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project.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120775" marR="5080" indent="-1108710">
              <a:lnSpc>
                <a:spcPct val="101499"/>
              </a:lnSpc>
              <a:spcBef>
                <a:spcPts val="55"/>
              </a:spcBef>
            </a:pPr>
            <a:r>
              <a:rPr dirty="0"/>
              <a:t>Keystroke</a:t>
            </a:r>
            <a:r>
              <a:rPr dirty="0" spc="30"/>
              <a:t> </a:t>
            </a:r>
            <a:r>
              <a:rPr dirty="0"/>
              <a:t>Logging</a:t>
            </a:r>
            <a:r>
              <a:rPr dirty="0" spc="25"/>
              <a:t> </a:t>
            </a:r>
            <a:r>
              <a:rPr dirty="0"/>
              <a:t>Demonstration</a:t>
            </a:r>
            <a:r>
              <a:rPr dirty="0" spc="90"/>
              <a:t> </a:t>
            </a:r>
            <a:r>
              <a:rPr dirty="0" spc="-50"/>
              <a:t>– </a:t>
            </a:r>
            <a:r>
              <a:rPr dirty="0"/>
              <a:t>Project</a:t>
            </a:r>
            <a:r>
              <a:rPr dirty="0" spc="65"/>
              <a:t> </a:t>
            </a:r>
            <a:r>
              <a:rPr dirty="0" spc="-10"/>
              <a:t>Explanation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1125016" y="1771142"/>
            <a:ext cx="5523865" cy="12700"/>
          </a:xfrm>
          <a:custGeom>
            <a:avLst/>
            <a:gdLst/>
            <a:ahLst/>
            <a:cxnLst/>
            <a:rect l="l" t="t" r="r" b="b"/>
            <a:pathLst>
              <a:path w="5523865" h="12700">
                <a:moveTo>
                  <a:pt x="5523865" y="0"/>
                </a:moveTo>
                <a:lnTo>
                  <a:pt x="0" y="0"/>
                </a:lnTo>
                <a:lnTo>
                  <a:pt x="0" y="12191"/>
                </a:lnTo>
                <a:lnTo>
                  <a:pt x="5523865" y="12191"/>
                </a:lnTo>
                <a:lnTo>
                  <a:pt x="5523865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pc="-10"/>
              <a:t>INTRODUCTION</a:t>
            </a: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dirty="0" sz="1200" b="0">
                <a:solidFill>
                  <a:srgbClr val="000000"/>
                </a:solidFill>
                <a:latin typeface="Calibri"/>
                <a:cs typeface="Calibri"/>
              </a:rPr>
              <a:t>Hello</a:t>
            </a:r>
            <a:r>
              <a:rPr dirty="0" sz="1200" spc="-2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000000"/>
                </a:solidFill>
                <a:latin typeface="Calibri"/>
                <a:cs typeface="Calibri"/>
              </a:rPr>
              <a:t>everyone,</a:t>
            </a:r>
            <a:r>
              <a:rPr dirty="0" sz="1200" spc="-2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000000"/>
                </a:solidFill>
                <a:latin typeface="Calibri"/>
                <a:cs typeface="Calibri"/>
              </a:rPr>
              <a:t>my</a:t>
            </a:r>
            <a:r>
              <a:rPr dirty="0" sz="1200" spc="-3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000000"/>
                </a:solidFill>
                <a:latin typeface="Calibri"/>
                <a:cs typeface="Calibri"/>
              </a:rPr>
              <a:t>name</a:t>
            </a:r>
            <a:r>
              <a:rPr dirty="0" sz="1200" spc="-1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000000"/>
                </a:solidFill>
                <a:latin typeface="Calibri"/>
                <a:cs typeface="Calibri"/>
              </a:rPr>
              <a:t>is</a:t>
            </a:r>
            <a:r>
              <a:rPr dirty="0" sz="1200" spc="-2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200" spc="-10" b="0">
                <a:solidFill>
                  <a:srgbClr val="000000"/>
                </a:solidFill>
                <a:latin typeface="Calibri"/>
                <a:cs typeface="Calibri"/>
              </a:rPr>
              <a:t>Vivek.</a:t>
            </a:r>
            <a:endParaRPr sz="1200">
              <a:latin typeface="Calibri"/>
              <a:cs typeface="Calibri"/>
            </a:endParaRPr>
          </a:p>
          <a:p>
            <a:pPr marL="12700" marR="721360">
              <a:lnSpc>
                <a:spcPct val="116700"/>
              </a:lnSpc>
              <a:spcBef>
                <a:spcPts val="615"/>
              </a:spcBef>
            </a:pPr>
            <a:r>
              <a:rPr dirty="0" sz="1200" b="0">
                <a:solidFill>
                  <a:srgbClr val="000000"/>
                </a:solidFill>
                <a:latin typeface="Calibri"/>
                <a:cs typeface="Calibri"/>
              </a:rPr>
              <a:t>Today</a:t>
            </a:r>
            <a:r>
              <a:rPr dirty="0" sz="1200" spc="-2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000000"/>
                </a:solidFill>
                <a:latin typeface="Calibri"/>
                <a:cs typeface="Calibri"/>
              </a:rPr>
              <a:t>I</a:t>
            </a:r>
            <a:r>
              <a:rPr dirty="0" sz="1200" spc="-2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000000"/>
                </a:solidFill>
                <a:latin typeface="Calibri"/>
                <a:cs typeface="Calibri"/>
              </a:rPr>
              <a:t>am</a:t>
            </a:r>
            <a:r>
              <a:rPr dirty="0" sz="1200" spc="-2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000000"/>
                </a:solidFill>
                <a:latin typeface="Calibri"/>
                <a:cs typeface="Calibri"/>
              </a:rPr>
              <a:t>going</a:t>
            </a:r>
            <a:r>
              <a:rPr dirty="0" sz="1200" spc="-3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dirty="0" sz="1200" spc="-1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000000"/>
                </a:solidFill>
                <a:latin typeface="Calibri"/>
                <a:cs typeface="Calibri"/>
              </a:rPr>
              <a:t>explain</a:t>
            </a:r>
            <a:r>
              <a:rPr dirty="0" sz="1200" spc="-2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000000"/>
                </a:solidFill>
                <a:latin typeface="Calibri"/>
                <a:cs typeface="Calibri"/>
              </a:rPr>
              <a:t>my</a:t>
            </a:r>
            <a:r>
              <a:rPr dirty="0" sz="1200" spc="-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000000"/>
                </a:solidFill>
                <a:latin typeface="Calibri"/>
                <a:cs typeface="Calibri"/>
              </a:rPr>
              <a:t>Cyber</a:t>
            </a:r>
            <a:r>
              <a:rPr dirty="0" sz="1200" spc="-3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000000"/>
                </a:solidFill>
                <a:latin typeface="Calibri"/>
                <a:cs typeface="Calibri"/>
              </a:rPr>
              <a:t>Security</a:t>
            </a:r>
            <a:r>
              <a:rPr dirty="0" sz="1200" spc="-3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000000"/>
                </a:solidFill>
                <a:latin typeface="Calibri"/>
                <a:cs typeface="Calibri"/>
              </a:rPr>
              <a:t>project</a:t>
            </a:r>
            <a:r>
              <a:rPr dirty="0" sz="1200" spc="-2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000000"/>
                </a:solidFill>
                <a:latin typeface="Calibri"/>
                <a:cs typeface="Calibri"/>
              </a:rPr>
              <a:t>—</a:t>
            </a:r>
            <a:r>
              <a:rPr dirty="0" sz="1200" spc="-1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dirty="0" sz="1200" spc="-3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000000"/>
                </a:solidFill>
                <a:latin typeface="Calibri"/>
                <a:cs typeface="Calibri"/>
              </a:rPr>
              <a:t>Keystroke</a:t>
            </a:r>
            <a:r>
              <a:rPr dirty="0" sz="1200" spc="-1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200" spc="-10" b="0">
                <a:solidFill>
                  <a:srgbClr val="000000"/>
                </a:solidFill>
                <a:latin typeface="Calibri"/>
                <a:cs typeface="Calibri"/>
              </a:rPr>
              <a:t>Logging Demonstration.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16700"/>
              </a:lnSpc>
              <a:spcBef>
                <a:spcPts val="615"/>
              </a:spcBef>
            </a:pPr>
            <a:r>
              <a:rPr dirty="0" sz="1200" b="0">
                <a:solidFill>
                  <a:srgbClr val="000000"/>
                </a:solidFill>
                <a:latin typeface="Calibri"/>
                <a:cs typeface="Calibri"/>
              </a:rPr>
              <a:t>This</a:t>
            </a:r>
            <a:r>
              <a:rPr dirty="0" sz="1200" spc="-3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000000"/>
                </a:solidFill>
                <a:latin typeface="Calibri"/>
                <a:cs typeface="Calibri"/>
              </a:rPr>
              <a:t>project</a:t>
            </a:r>
            <a:r>
              <a:rPr dirty="0" sz="1200" spc="-2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000000"/>
                </a:solidFill>
                <a:latin typeface="Calibri"/>
                <a:cs typeface="Calibri"/>
              </a:rPr>
              <a:t>is</a:t>
            </a:r>
            <a:r>
              <a:rPr dirty="0" sz="1200" spc="-2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000000"/>
                </a:solidFill>
                <a:latin typeface="Calibri"/>
                <a:cs typeface="Calibri"/>
              </a:rPr>
              <a:t>only</a:t>
            </a:r>
            <a:r>
              <a:rPr dirty="0" sz="1200" spc="-3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000000"/>
                </a:solidFill>
                <a:latin typeface="Calibri"/>
                <a:cs typeface="Calibri"/>
              </a:rPr>
              <a:t>for</a:t>
            </a:r>
            <a:r>
              <a:rPr dirty="0" sz="1200" spc="-3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000000"/>
                </a:solidFill>
                <a:latin typeface="Calibri"/>
                <a:cs typeface="Calibri"/>
              </a:rPr>
              <a:t>educational</a:t>
            </a:r>
            <a:r>
              <a:rPr dirty="0" sz="1200" spc="-1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dirty="0" sz="1200" spc="-2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000000"/>
                </a:solidFill>
                <a:latin typeface="Calibri"/>
                <a:cs typeface="Calibri"/>
              </a:rPr>
              <a:t>research</a:t>
            </a:r>
            <a:r>
              <a:rPr dirty="0" sz="1200" spc="-3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000000"/>
                </a:solidFill>
                <a:latin typeface="Calibri"/>
                <a:cs typeface="Calibri"/>
              </a:rPr>
              <a:t>purposes</a:t>
            </a:r>
            <a:r>
              <a:rPr dirty="0" sz="1200" spc="-3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000000"/>
                </a:solidFill>
                <a:latin typeface="Calibri"/>
                <a:cs typeface="Calibri"/>
              </a:rPr>
              <a:t>to understand</a:t>
            </a:r>
            <a:r>
              <a:rPr dirty="0" sz="1200" spc="-2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000000"/>
                </a:solidFill>
                <a:latin typeface="Calibri"/>
                <a:cs typeface="Calibri"/>
              </a:rPr>
              <a:t>event</a:t>
            </a:r>
            <a:r>
              <a:rPr dirty="0" sz="1200" spc="-2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200" spc="-10" b="0">
                <a:solidFill>
                  <a:srgbClr val="000000"/>
                </a:solidFill>
                <a:latin typeface="Calibri"/>
                <a:cs typeface="Calibri"/>
              </a:rPr>
              <a:t>handling, </a:t>
            </a:r>
            <a:r>
              <a:rPr dirty="0" sz="1200" b="0">
                <a:solidFill>
                  <a:srgbClr val="000000"/>
                </a:solidFill>
                <a:latin typeface="Calibri"/>
                <a:cs typeface="Calibri"/>
              </a:rPr>
              <a:t>file</a:t>
            </a:r>
            <a:r>
              <a:rPr dirty="0" sz="1200" spc="-2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000000"/>
                </a:solidFill>
                <a:latin typeface="Calibri"/>
                <a:cs typeface="Calibri"/>
              </a:rPr>
              <a:t>handling,</a:t>
            </a:r>
            <a:r>
              <a:rPr dirty="0" sz="1200" spc="-2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000000"/>
                </a:solidFill>
                <a:latin typeface="Calibri"/>
                <a:cs typeface="Calibri"/>
              </a:rPr>
              <a:t>threading,</a:t>
            </a:r>
            <a:r>
              <a:rPr dirty="0" sz="1200" spc="-3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dirty="0" sz="1200" spc="-1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000000"/>
                </a:solidFill>
                <a:latin typeface="Calibri"/>
                <a:cs typeface="Calibri"/>
              </a:rPr>
              <a:t>SMTP</a:t>
            </a:r>
            <a:r>
              <a:rPr dirty="0" sz="1200" spc="-1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dirty="0" sz="1200" spc="-2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200" spc="-10" b="0">
                <a:solidFill>
                  <a:srgbClr val="000000"/>
                </a:solidFill>
                <a:latin typeface="Calibri"/>
                <a:cs typeface="Calibri"/>
              </a:rPr>
              <a:t>Python.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7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/>
              <a:t>PART</a:t>
            </a:r>
            <a:r>
              <a:rPr dirty="0" spc="-20"/>
              <a:t> </a:t>
            </a:r>
            <a:r>
              <a:rPr dirty="0"/>
              <a:t>1</a:t>
            </a:r>
            <a:r>
              <a:rPr dirty="0" spc="-20"/>
              <a:t> </a:t>
            </a:r>
            <a:r>
              <a:rPr dirty="0"/>
              <a:t>—</a:t>
            </a:r>
            <a:r>
              <a:rPr dirty="0" spc="-20"/>
              <a:t> </a:t>
            </a:r>
            <a:r>
              <a:rPr dirty="0"/>
              <a:t>IMPORT</a:t>
            </a:r>
            <a:r>
              <a:rPr dirty="0" spc="-20"/>
              <a:t> </a:t>
            </a:r>
            <a:r>
              <a:rPr dirty="0" spc="-10"/>
              <a:t>STATEMENTS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1130604" y="5369433"/>
            <a:ext cx="4595495" cy="2210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Explanation:</a:t>
            </a:r>
            <a:endParaRPr sz="1200">
              <a:latin typeface="Calibri"/>
              <a:cs typeface="Calibri"/>
            </a:endParaRPr>
          </a:p>
          <a:p>
            <a:pPr marL="94615" indent="-81915">
              <a:lnSpc>
                <a:spcPct val="100000"/>
              </a:lnSpc>
              <a:spcBef>
                <a:spcPts val="850"/>
              </a:spcBef>
              <a:buChar char="-"/>
              <a:tabLst>
                <a:tab pos="94615" algn="l"/>
              </a:tabLst>
            </a:pPr>
            <a:r>
              <a:rPr dirty="0" sz="1200">
                <a:latin typeface="Calibri"/>
                <a:cs typeface="Calibri"/>
              </a:rPr>
              <a:t>keyboard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→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captures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key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events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own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computer</a:t>
            </a:r>
            <a:endParaRPr sz="1200">
              <a:latin typeface="Calibri"/>
              <a:cs typeface="Calibri"/>
            </a:endParaRPr>
          </a:p>
          <a:p>
            <a:pPr marL="94615" indent="-81915">
              <a:lnSpc>
                <a:spcPct val="100000"/>
              </a:lnSpc>
              <a:spcBef>
                <a:spcPts val="840"/>
              </a:spcBef>
              <a:buChar char="-"/>
              <a:tabLst>
                <a:tab pos="94615" algn="l"/>
              </a:tabLst>
            </a:pPr>
            <a:r>
              <a:rPr dirty="0" sz="1200">
                <a:latin typeface="Calibri"/>
                <a:cs typeface="Calibri"/>
              </a:rPr>
              <a:t>smtplib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→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allows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sending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emails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through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SMTP</a:t>
            </a:r>
            <a:endParaRPr sz="1200">
              <a:latin typeface="Calibri"/>
              <a:cs typeface="Calibri"/>
            </a:endParaRPr>
          </a:p>
          <a:p>
            <a:pPr marL="94615" indent="-81915">
              <a:lnSpc>
                <a:spcPct val="100000"/>
              </a:lnSpc>
              <a:spcBef>
                <a:spcPts val="840"/>
              </a:spcBef>
              <a:buChar char="-"/>
              <a:tabLst>
                <a:tab pos="94615" algn="l"/>
              </a:tabLst>
            </a:pPr>
            <a:r>
              <a:rPr dirty="0" sz="1200">
                <a:latin typeface="Calibri"/>
                <a:cs typeface="Calibri"/>
              </a:rPr>
              <a:t>Timer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→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helps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schedule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task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after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delay</a:t>
            </a:r>
            <a:endParaRPr sz="1200">
              <a:latin typeface="Calibri"/>
              <a:cs typeface="Calibri"/>
            </a:endParaRPr>
          </a:p>
          <a:p>
            <a:pPr marL="94615" indent="-81915">
              <a:lnSpc>
                <a:spcPct val="100000"/>
              </a:lnSpc>
              <a:spcBef>
                <a:spcPts val="855"/>
              </a:spcBef>
              <a:buChar char="-"/>
              <a:tabLst>
                <a:tab pos="94615" algn="l"/>
              </a:tabLst>
            </a:pPr>
            <a:r>
              <a:rPr dirty="0" sz="1200">
                <a:latin typeface="Calibri"/>
                <a:cs typeface="Calibri"/>
              </a:rPr>
              <a:t>datetime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→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timestamps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explains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how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Python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interacts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schedules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tasks.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solidFill>
                  <a:srgbClr val="365F91"/>
                </a:solidFill>
                <a:latin typeface="Calibri"/>
                <a:cs typeface="Calibri"/>
              </a:rPr>
              <a:t>PART</a:t>
            </a:r>
            <a:r>
              <a:rPr dirty="0" sz="1400" spc="-25" b="1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365F91"/>
                </a:solidFill>
                <a:latin typeface="Calibri"/>
                <a:cs typeface="Calibri"/>
              </a:rPr>
              <a:t>2</a:t>
            </a:r>
            <a:r>
              <a:rPr dirty="0" sz="1400" spc="-25" b="1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365F91"/>
                </a:solidFill>
                <a:latin typeface="Calibri"/>
                <a:cs typeface="Calibri"/>
              </a:rPr>
              <a:t>—</a:t>
            </a:r>
            <a:r>
              <a:rPr dirty="0" sz="1400" spc="-20" b="1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365F91"/>
                </a:solidFill>
                <a:latin typeface="Calibri"/>
                <a:cs typeface="Calibri"/>
              </a:rPr>
              <a:t>CONFIGURATION</a:t>
            </a:r>
            <a:r>
              <a:rPr dirty="0" sz="1400" spc="-25" b="1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365F91"/>
                </a:solidFill>
                <a:latin typeface="Calibri"/>
                <a:cs typeface="Calibri"/>
              </a:rPr>
              <a:t>VARIABLES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30604" y="8817050"/>
            <a:ext cx="7950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Explanation: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4114927"/>
            <a:ext cx="4554728" cy="117030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3000" y="7608443"/>
            <a:ext cx="5486400" cy="11214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604" y="787653"/>
            <a:ext cx="3273425" cy="1736089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94615" indent="-81915">
              <a:lnSpc>
                <a:spcPct val="100000"/>
              </a:lnSpc>
              <a:spcBef>
                <a:spcPts val="940"/>
              </a:spcBef>
              <a:buChar char="-"/>
              <a:tabLst>
                <a:tab pos="94615" algn="l"/>
              </a:tabLst>
            </a:pPr>
            <a:r>
              <a:rPr dirty="0" sz="1200">
                <a:latin typeface="Calibri"/>
                <a:cs typeface="Calibri"/>
              </a:rPr>
              <a:t>Stores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keystrokes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log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file</a:t>
            </a:r>
            <a:endParaRPr sz="1200">
              <a:latin typeface="Calibri"/>
              <a:cs typeface="Calibri"/>
            </a:endParaRPr>
          </a:p>
          <a:p>
            <a:pPr marL="94615" indent="-81915">
              <a:lnSpc>
                <a:spcPct val="100000"/>
              </a:lnSpc>
              <a:spcBef>
                <a:spcPts val="840"/>
              </a:spcBef>
              <a:buChar char="-"/>
              <a:tabLst>
                <a:tab pos="94615" algn="l"/>
              </a:tabLst>
            </a:pPr>
            <a:r>
              <a:rPr dirty="0" sz="1200" spc="-10">
                <a:latin typeface="Calibri"/>
                <a:cs typeface="Calibri"/>
              </a:rPr>
              <a:t>SEND_INTERVAL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decides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delay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sending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logs</a:t>
            </a:r>
            <a:endParaRPr sz="1200">
              <a:latin typeface="Calibri"/>
              <a:cs typeface="Calibri"/>
            </a:endParaRPr>
          </a:p>
          <a:p>
            <a:pPr marL="12700" marR="5080" indent="81915">
              <a:lnSpc>
                <a:spcPct val="158300"/>
              </a:lnSpc>
              <a:spcBef>
                <a:spcPts val="10"/>
              </a:spcBef>
              <a:buChar char="-"/>
              <a:tabLst>
                <a:tab pos="94615" algn="l"/>
              </a:tabLst>
            </a:pPr>
            <a:r>
              <a:rPr dirty="0" sz="1200">
                <a:latin typeface="Calibri"/>
                <a:cs typeface="Calibri"/>
              </a:rPr>
              <a:t>Email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credentials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SMTP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authentication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demonstrates </a:t>
            </a:r>
            <a:r>
              <a:rPr dirty="0" sz="1200">
                <a:latin typeface="Calibri"/>
                <a:cs typeface="Calibri"/>
              </a:rPr>
              <a:t>setting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configuration</a:t>
            </a:r>
            <a:r>
              <a:rPr dirty="0" sz="1200" spc="-10">
                <a:latin typeface="Calibri"/>
                <a:cs typeface="Calibri"/>
              </a:rPr>
              <a:t> values.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solidFill>
                  <a:srgbClr val="365F91"/>
                </a:solidFill>
                <a:latin typeface="Calibri"/>
                <a:cs typeface="Calibri"/>
              </a:rPr>
              <a:t>PART</a:t>
            </a:r>
            <a:r>
              <a:rPr dirty="0" sz="1400" spc="-20" b="1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365F91"/>
                </a:solidFill>
                <a:latin typeface="Calibri"/>
                <a:cs typeface="Calibri"/>
              </a:rPr>
              <a:t>3</a:t>
            </a:r>
            <a:r>
              <a:rPr dirty="0" sz="1400" spc="-25" b="1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365F91"/>
                </a:solidFill>
                <a:latin typeface="Calibri"/>
                <a:cs typeface="Calibri"/>
              </a:rPr>
              <a:t>—</a:t>
            </a:r>
            <a:r>
              <a:rPr dirty="0" sz="1400" spc="-20" b="1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365F91"/>
                </a:solidFill>
                <a:latin typeface="Calibri"/>
                <a:cs typeface="Calibri"/>
              </a:rPr>
              <a:t>LOGGING</a:t>
            </a:r>
            <a:r>
              <a:rPr dirty="0" sz="1400" spc="-20" b="1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365F91"/>
                </a:solidFill>
                <a:latin typeface="Calibri"/>
                <a:cs typeface="Calibri"/>
              </a:rPr>
              <a:t>KEYSTROKES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30604" y="3413886"/>
            <a:ext cx="4064635" cy="1734820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200" spc="-10">
                <a:latin typeface="Calibri"/>
                <a:cs typeface="Calibri"/>
              </a:rPr>
              <a:t>Explanation: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runs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whenever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key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pressed.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logs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timestamp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key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pressed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text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file.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demonstrates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handling,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event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handling,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timestamps.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8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solidFill>
                  <a:srgbClr val="365F91"/>
                </a:solidFill>
                <a:latin typeface="Calibri"/>
                <a:cs typeface="Calibri"/>
              </a:rPr>
              <a:t>PART</a:t>
            </a:r>
            <a:r>
              <a:rPr dirty="0" sz="1400" spc="-15" b="1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365F91"/>
                </a:solidFill>
                <a:latin typeface="Calibri"/>
                <a:cs typeface="Calibri"/>
              </a:rPr>
              <a:t>4</a:t>
            </a:r>
            <a:r>
              <a:rPr dirty="0" sz="1400" spc="-15" b="1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365F91"/>
                </a:solidFill>
                <a:latin typeface="Calibri"/>
                <a:cs typeface="Calibri"/>
              </a:rPr>
              <a:t>—</a:t>
            </a:r>
            <a:r>
              <a:rPr dirty="0" sz="1400" spc="-10" b="1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365F91"/>
                </a:solidFill>
                <a:latin typeface="Calibri"/>
                <a:cs typeface="Calibri"/>
              </a:rPr>
              <a:t>EVENT</a:t>
            </a:r>
            <a:r>
              <a:rPr dirty="0" sz="1400" spc="-15" b="1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365F91"/>
                </a:solidFill>
                <a:latin typeface="Calibri"/>
                <a:cs typeface="Calibri"/>
              </a:rPr>
              <a:t>REGISTRATION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30604" y="5834253"/>
            <a:ext cx="5374640" cy="1339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Explanation: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58300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line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tells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Python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execute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log_keystroke </a:t>
            </a: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whenever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key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pressed.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demonstrates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event-</a:t>
            </a:r>
            <a:r>
              <a:rPr dirty="0" sz="1200">
                <a:latin typeface="Calibri"/>
                <a:cs typeface="Calibri"/>
              </a:rPr>
              <a:t>driven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programming.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solidFill>
                  <a:srgbClr val="365F91"/>
                </a:solidFill>
                <a:latin typeface="Calibri"/>
                <a:cs typeface="Calibri"/>
              </a:rPr>
              <a:t>PART</a:t>
            </a:r>
            <a:r>
              <a:rPr dirty="0" sz="1400" spc="-25" b="1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365F91"/>
                </a:solidFill>
                <a:latin typeface="Calibri"/>
                <a:cs typeface="Calibri"/>
              </a:rPr>
              <a:t>5</a:t>
            </a:r>
            <a:r>
              <a:rPr dirty="0" sz="1400" spc="-25" b="1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365F91"/>
                </a:solidFill>
                <a:latin typeface="Calibri"/>
                <a:cs typeface="Calibri"/>
              </a:rPr>
              <a:t>—</a:t>
            </a:r>
            <a:r>
              <a:rPr dirty="0" sz="1400" spc="-25" b="1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365F91"/>
                </a:solidFill>
                <a:latin typeface="Calibri"/>
                <a:cs typeface="Calibri"/>
              </a:rPr>
              <a:t>SENDING</a:t>
            </a:r>
            <a:r>
              <a:rPr dirty="0" sz="1400" spc="-15" b="1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365F91"/>
                </a:solidFill>
                <a:latin typeface="Calibri"/>
                <a:cs typeface="Calibri"/>
              </a:rPr>
              <a:t>LOGS</a:t>
            </a:r>
            <a:r>
              <a:rPr dirty="0" sz="1400" spc="-30" b="1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365F91"/>
                </a:solidFill>
                <a:latin typeface="Calibri"/>
                <a:cs typeface="Calibri"/>
              </a:rPr>
              <a:t>THROUGH</a:t>
            </a:r>
            <a:r>
              <a:rPr dirty="0" sz="1400" spc="-15" b="1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365F91"/>
                </a:solidFill>
                <a:latin typeface="Calibri"/>
                <a:cs typeface="Calibri"/>
              </a:rPr>
              <a:t>EMAIL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2553207"/>
            <a:ext cx="5486400" cy="88265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3000" y="5178640"/>
            <a:ext cx="3765550" cy="563791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3000" y="7202893"/>
            <a:ext cx="4373245" cy="17564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604" y="787653"/>
            <a:ext cx="5143500" cy="1445260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200" spc="-10">
                <a:latin typeface="Calibri"/>
                <a:cs typeface="Calibri"/>
              </a:rPr>
              <a:t>Explanation: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ts val="2290"/>
              </a:lnSpc>
              <a:spcBef>
                <a:spcPts val="204"/>
              </a:spcBef>
            </a:pP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reads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connects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Gmail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SMTP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server,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sends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logs. </a:t>
            </a:r>
            <a:r>
              <a:rPr dirty="0" sz="1200">
                <a:latin typeface="Calibri"/>
                <a:cs typeface="Calibri"/>
              </a:rPr>
              <a:t>It </a:t>
            </a:r>
            <a:r>
              <a:rPr dirty="0" sz="1200" spc="-10">
                <a:latin typeface="Calibri"/>
                <a:cs typeface="Calibri"/>
              </a:rPr>
              <a:t>demonstrates</a:t>
            </a:r>
            <a:r>
              <a:rPr dirty="0" sz="1200">
                <a:latin typeface="Calibri"/>
                <a:cs typeface="Calibri"/>
              </a:rPr>
              <a:t> Python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email </a:t>
            </a:r>
            <a:r>
              <a:rPr dirty="0" sz="1200" spc="-10">
                <a:latin typeface="Calibri"/>
                <a:cs typeface="Calibri"/>
              </a:rPr>
              <a:t>automation.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solidFill>
                  <a:srgbClr val="365F91"/>
                </a:solidFill>
                <a:latin typeface="Calibri"/>
                <a:cs typeface="Calibri"/>
              </a:rPr>
              <a:t>PART</a:t>
            </a:r>
            <a:r>
              <a:rPr dirty="0" sz="1400" spc="-15" b="1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365F91"/>
                </a:solidFill>
                <a:latin typeface="Calibri"/>
                <a:cs typeface="Calibri"/>
              </a:rPr>
              <a:t>6</a:t>
            </a:r>
            <a:r>
              <a:rPr dirty="0" sz="1400" spc="-20" b="1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365F91"/>
                </a:solidFill>
                <a:latin typeface="Calibri"/>
                <a:cs typeface="Calibri"/>
              </a:rPr>
              <a:t>—</a:t>
            </a:r>
            <a:r>
              <a:rPr dirty="0" sz="1400" spc="-10" b="1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365F91"/>
                </a:solidFill>
                <a:latin typeface="Calibri"/>
                <a:cs typeface="Calibri"/>
              </a:rPr>
              <a:t>TIMER</a:t>
            </a:r>
            <a:r>
              <a:rPr dirty="0" sz="1400" spc="-15" b="1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365F91"/>
                </a:solidFill>
                <a:latin typeface="Calibri"/>
                <a:cs typeface="Calibri"/>
              </a:rPr>
              <a:t>SETUP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30604" y="3017646"/>
            <a:ext cx="3983990" cy="1338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Explanation: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58300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10">
                <a:latin typeface="Calibri"/>
                <a:cs typeface="Calibri"/>
              </a:rPr>
              <a:t> schedules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send_logs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function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run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after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interval.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shows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multithreading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timed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execution.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8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solidFill>
                  <a:srgbClr val="365F91"/>
                </a:solidFill>
                <a:latin typeface="Calibri"/>
                <a:cs typeface="Calibri"/>
              </a:rPr>
              <a:t>PART</a:t>
            </a:r>
            <a:r>
              <a:rPr dirty="0" sz="1400" spc="-25" b="1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365F91"/>
                </a:solidFill>
                <a:latin typeface="Calibri"/>
                <a:cs typeface="Calibri"/>
              </a:rPr>
              <a:t>7</a:t>
            </a:r>
            <a:r>
              <a:rPr dirty="0" sz="1400" spc="-30" b="1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365F91"/>
                </a:solidFill>
                <a:latin typeface="Calibri"/>
                <a:cs typeface="Calibri"/>
              </a:rPr>
              <a:t>—</a:t>
            </a:r>
            <a:r>
              <a:rPr dirty="0" sz="1400" spc="-25" b="1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365F91"/>
                </a:solidFill>
                <a:latin typeface="Calibri"/>
                <a:cs typeface="Calibri"/>
              </a:rPr>
              <a:t>KEEPING</a:t>
            </a:r>
            <a:r>
              <a:rPr dirty="0" sz="1400" spc="-25" b="1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365F91"/>
                </a:solidFill>
                <a:latin typeface="Calibri"/>
                <a:cs typeface="Calibri"/>
              </a:rPr>
              <a:t>THE</a:t>
            </a:r>
            <a:r>
              <a:rPr dirty="0" sz="1400" spc="-25" b="1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365F91"/>
                </a:solidFill>
                <a:latin typeface="Calibri"/>
                <a:cs typeface="Calibri"/>
              </a:rPr>
              <a:t>PROGRAM</a:t>
            </a:r>
            <a:r>
              <a:rPr dirty="0" sz="1400" spc="-25" b="1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365F91"/>
                </a:solidFill>
                <a:latin typeface="Calibri"/>
                <a:cs typeface="Calibri"/>
              </a:rPr>
              <a:t>RUNNING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30604" y="5183504"/>
            <a:ext cx="4839335" cy="2458085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200" spc="-10">
                <a:latin typeface="Calibri"/>
                <a:cs typeface="Calibri"/>
              </a:rPr>
              <a:t>Explanation: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keeps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script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active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continues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listening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keystrokes.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solidFill>
                  <a:srgbClr val="365F91"/>
                </a:solidFill>
                <a:latin typeface="Calibri"/>
                <a:cs typeface="Calibri"/>
              </a:rPr>
              <a:t>At</a:t>
            </a:r>
            <a:r>
              <a:rPr dirty="0" sz="1400" spc="-15" b="1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365F91"/>
                </a:solidFill>
                <a:latin typeface="Calibri"/>
                <a:cs typeface="Calibri"/>
              </a:rPr>
              <a:t>Last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16700"/>
              </a:lnSpc>
              <a:spcBef>
                <a:spcPts val="45"/>
              </a:spcBef>
            </a:pP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project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strictly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learning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event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handling,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management,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email </a:t>
            </a:r>
            <a:r>
              <a:rPr dirty="0" sz="1200">
                <a:latin typeface="Calibri"/>
                <a:cs typeface="Calibri"/>
              </a:rPr>
              <a:t>automation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Python.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meant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run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own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unethical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purpose.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Thank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you.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2263139"/>
            <a:ext cx="5486400" cy="670432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3000" y="4386326"/>
            <a:ext cx="3209925" cy="8191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python-docx</dc:creator>
  <dcterms:created xsi:type="dcterms:W3CDTF">2025-12-04T17:49:28Z</dcterms:created>
  <dcterms:modified xsi:type="dcterms:W3CDTF">2025-12-04T17:49:28Z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2025-12-04T00:00:00Z</vt:filetime>
  </property>
  <property fmtid="{D5CDD505-2E9C-101B-9397-08002B2CF9AE}" pid="3" name="Creator">
    <vt:lpwstr>Microsoft® Word LTSC</vt:lpwstr>
  </property>
  <property fmtid="{D5CDD505-2E9C-101B-9397-08002B2CF9AE}" pid="4" name="LastSaved">
    <vt:filetime>2025-12-04T00:00:00Z</vt:filetime>
  </property>
  <property fmtid="{D5CDD505-2E9C-101B-9397-08002B2CF9AE}" pid="5" name="Producer">
    <vt:lpwstr>Microsoft® Word LTSC</vt:lpwstr>
  </property>
</Properties>
</file>