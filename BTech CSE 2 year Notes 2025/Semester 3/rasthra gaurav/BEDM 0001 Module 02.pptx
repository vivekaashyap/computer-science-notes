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90" r:id="rId33"/>
    <p:sldId id="298" r:id="rId34"/>
    <p:sldId id="299" r:id="rId35"/>
    <p:sldId id="300" r:id="rId36"/>
    <p:sldId id="291" r:id="rId37"/>
    <p:sldId id="292" r:id="rId38"/>
    <p:sldId id="331" r:id="rId39"/>
    <p:sldId id="293" r:id="rId40"/>
    <p:sldId id="294" r:id="rId41"/>
    <p:sldId id="295" r:id="rId42"/>
    <p:sldId id="296" r:id="rId43"/>
    <p:sldId id="297" r:id="rId44"/>
    <p:sldId id="301" r:id="rId45"/>
    <p:sldId id="302" r:id="rId46"/>
    <p:sldId id="303" r:id="rId47"/>
    <p:sldId id="304" r:id="rId48"/>
    <p:sldId id="305" r:id="rId49"/>
    <p:sldId id="306" r:id="rId50"/>
    <p:sldId id="307" r:id="rId51"/>
    <p:sldId id="308"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varScale="1">
        <p:scale>
          <a:sx n="72" d="100"/>
          <a:sy n="72" d="100"/>
        </p:scale>
        <p:origin x="6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4F9A68-F2EA-47DE-B8CE-F79A87041CA6}"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3229767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4F9A68-F2EA-47DE-B8CE-F79A87041CA6}"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236217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F4F9A68-F2EA-47DE-B8CE-F79A87041CA6}"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1917080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4F9A68-F2EA-47DE-B8CE-F79A87041CA6}"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959426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4F9A68-F2EA-47DE-B8CE-F79A87041CA6}"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2812648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4F9A68-F2EA-47DE-B8CE-F79A87041CA6}"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3699703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F9A68-F2EA-47DE-B8CE-F79A87041CA6}" type="datetimeFigureOut">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312774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4F9A68-F2EA-47DE-B8CE-F79A87041CA6}"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793772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4F9A68-F2EA-47DE-B8CE-F79A87041CA6}"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359066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4F9A68-F2EA-47DE-B8CE-F79A87041CA6}"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153343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4F9A68-F2EA-47DE-B8CE-F79A87041CA6}"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525956-10B8-4A4D-8CA9-827DCAE8D3A2}" type="slidenum">
              <a:rPr lang="en-IN" smtClean="0"/>
              <a:t>‹#›</a:t>
            </a:fld>
            <a:endParaRPr lang="en-IN"/>
          </a:p>
        </p:txBody>
      </p:sp>
    </p:spTree>
    <p:extLst>
      <p:ext uri="{BB962C8B-B14F-4D97-AF65-F5344CB8AC3E}">
        <p14:creationId xmlns:p14="http://schemas.microsoft.com/office/powerpoint/2010/main" val="1327669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F9A68-F2EA-47DE-B8CE-F79A87041CA6}" type="datetimeFigureOut">
              <a:rPr lang="en-IN" smtClean="0"/>
              <a:t>06-11-2025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525956-10B8-4A4D-8CA9-827DCAE8D3A2}" type="slidenum">
              <a:rPr lang="en-IN" smtClean="0"/>
              <a:t>‹#›</a:t>
            </a:fld>
            <a:endParaRPr lang="en-IN"/>
          </a:p>
        </p:txBody>
      </p:sp>
    </p:spTree>
    <p:extLst>
      <p:ext uri="{BB962C8B-B14F-4D97-AF65-F5344CB8AC3E}">
        <p14:creationId xmlns:p14="http://schemas.microsoft.com/office/powerpoint/2010/main" val="488563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vajiramandravi.com/quest-upsc-notes/buddhism/" TargetMode="External"/><Relationship Id="rId2" Type="http://schemas.openxmlformats.org/officeDocument/2006/relationships/hyperlink" Target="https://vajiramandravi.com/quest-upsc-notes/jainism/"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www.slideshare.net/slideshow/adi-shankaracharya/7977447#6" TargetMode="External"/><Relationship Id="rId2" Type="http://schemas.openxmlformats.org/officeDocument/2006/relationships/hyperlink" Target="https://www.slideshare.net/slideshow/adi-shankaracharya/7977447#5" TargetMode="External"/><Relationship Id="rId1" Type="http://schemas.openxmlformats.org/officeDocument/2006/relationships/slideLayout" Target="../slideLayouts/slideLayout7.xml"/><Relationship Id="rId4" Type="http://schemas.openxmlformats.org/officeDocument/2006/relationships/hyperlink" Target="https://www.slideshare.net/slideshow/adi-shankaracharya/7977447#7"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slideshare.net/slideshow/adi-shankaracharya/7977447#9" TargetMode="External"/><Relationship Id="rId2" Type="http://schemas.openxmlformats.org/officeDocument/2006/relationships/hyperlink" Target="https://www.slideshare.net/slideshow/adi-shankaracharya/7977447#8"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s://www.slideshare.net/slideshow/adi-shankaracharya/7977447#11" TargetMode="External"/><Relationship Id="rId2" Type="http://schemas.openxmlformats.org/officeDocument/2006/relationships/hyperlink" Target="https://www.slideshare.net/slideshow/adi-shankaracharya/7977447#10"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hyperlink" Target="https://www.slideshare.net/slideshow/adi-shankaracharya/7977447#13" TargetMode="External"/><Relationship Id="rId2" Type="http://schemas.openxmlformats.org/officeDocument/2006/relationships/hyperlink" Target="https://www.slideshare.net/slideshow/adi-shankaracharya/7977447#12" TargetMode="External"/><Relationship Id="rId1" Type="http://schemas.openxmlformats.org/officeDocument/2006/relationships/slideLayout" Target="../slideLayouts/slideLayout7.xml"/><Relationship Id="rId4" Type="http://schemas.openxmlformats.org/officeDocument/2006/relationships/hyperlink" Target="https://www.slideshare.net/slideshow/adi-shankaracharya/7977447#14"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slideshare.net/slideshow/adi-shankaracharya/7977447#16" TargetMode="External"/><Relationship Id="rId2" Type="http://schemas.openxmlformats.org/officeDocument/2006/relationships/hyperlink" Target="https://www.slideshare.net/slideshow/adi-shankaracharya/7977447#15"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www.slideshare.net/slideshow/adi-shankaracharya/7977447#18" TargetMode="External"/><Relationship Id="rId2" Type="http://schemas.openxmlformats.org/officeDocument/2006/relationships/hyperlink" Target="https://www.slideshare.net/slideshow/adi-shankaracharya/7977447#17"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s://www.slideshare.net/slideshow/adi-shankaracharya/7977447#20" TargetMode="External"/><Relationship Id="rId2" Type="http://schemas.openxmlformats.org/officeDocument/2006/relationships/hyperlink" Target="https://www.slideshare.net/slideshow/adi-shankaracharya/7977447#19" TargetMode="Externa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www.slideshare.net/slideshow/adi-shankaracharya/7977447#22" TargetMode="External"/><Relationship Id="rId2" Type="http://schemas.openxmlformats.org/officeDocument/2006/relationships/hyperlink" Target="https://www.slideshare.net/slideshow/adi-shankaracharya/7977447#21"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hyperlink" Target="https://www.slideshare.net/slideshow/adi-shankaracharya/7977447#24" TargetMode="Externa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hyperlink" Target="https://image2.slideserve.com/3937914/slide2-l.jpg" TargetMode="Externa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hyperlink" Target="https://image2.slideserve.com/3937914/slide3-l.jpg" TargetMode="Externa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hyperlink" Target="https://image2.slideserve.com/3937914/slide4-l.jpg" TargetMode="Externa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hyperlink" Target="https://image2.slideserve.com/3937914/slide5-l.jpg"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hyperlink" Target="https://image2.slideserve.com/3937914/slide6-l.jpg" TargetMode="Externa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hyperlink" Target="https://image2.slideserve.com/3937914/slide7-l.jpg"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s://image2.slideserve.com/3937914/slide8-l.jpg"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hyperlink" Target="https://image2.slideserve.com/3937914/slide9-l.jpg" TargetMode="Externa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hyperlink" Target="https://image2.slideserve.com/3937914/slide10-l.jpg" TargetMode="Externa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image2.slideserve.com/3937914/slide11-l.jpg"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b="1" dirty="0">
                <a:latin typeface="Arial Black" panose="020B0A04020102020204" pitchFamily="34" charset="0"/>
              </a:rPr>
              <a:t>BEDM 0001</a:t>
            </a:r>
            <a:br>
              <a:rPr lang="en-US" sz="4800" b="1" dirty="0">
                <a:latin typeface="Arial Black" panose="020B0A04020102020204" pitchFamily="34" charset="0"/>
              </a:rPr>
            </a:br>
            <a:r>
              <a:rPr lang="en-US" dirty="0">
                <a:latin typeface="Arial Black" panose="020B0A04020102020204" pitchFamily="34" charset="0"/>
              </a:rPr>
              <a:t>RASHTRA GAURAV</a:t>
            </a:r>
            <a:br>
              <a:rPr lang="en-US" dirty="0">
                <a:latin typeface="Arial Black" panose="020B0A04020102020204" pitchFamily="34" charset="0"/>
              </a:rPr>
            </a:br>
            <a:r>
              <a:rPr lang="en-US" sz="2800" dirty="0">
                <a:latin typeface="Arial Black" panose="020B0A04020102020204" pitchFamily="34" charset="0"/>
              </a:rPr>
              <a:t>Module 02</a:t>
            </a:r>
            <a:endParaRPr lang="en-IN" sz="2800" dirty="0"/>
          </a:p>
        </p:txBody>
      </p:sp>
      <p:sp>
        <p:nvSpPr>
          <p:cNvPr id="3" name="Subtitle 2"/>
          <p:cNvSpPr>
            <a:spLocks noGrp="1"/>
          </p:cNvSpPr>
          <p:nvPr>
            <p:ph type="subTitle" idx="1"/>
          </p:nvPr>
        </p:nvSpPr>
        <p:spPr>
          <a:xfrm>
            <a:off x="8020596" y="4869138"/>
            <a:ext cx="3840478" cy="1655762"/>
          </a:xfrm>
        </p:spPr>
        <p:txBody>
          <a:bodyPr>
            <a:normAutofit/>
          </a:bodyPr>
          <a:lstStyle/>
          <a:p>
            <a:pPr>
              <a:lnSpc>
                <a:spcPct val="100000"/>
              </a:lnSpc>
            </a:pPr>
            <a:r>
              <a:rPr lang="en-GB" dirty="0" err="1">
                <a:solidFill>
                  <a:schemeClr val="tx1"/>
                </a:solidFill>
                <a:latin typeface="Times New Roman" pitchFamily="18" charset="0"/>
                <a:cs typeface="Times New Roman" pitchFamily="18" charset="0"/>
              </a:rPr>
              <a:t>Dr.</a:t>
            </a:r>
            <a:r>
              <a:rPr lang="en-GB" dirty="0">
                <a:solidFill>
                  <a:schemeClr val="tx1"/>
                </a:solidFill>
                <a:latin typeface="Times New Roman" pitchFamily="18" charset="0"/>
                <a:cs typeface="Times New Roman" pitchFamily="18" charset="0"/>
              </a:rPr>
              <a:t> D. N. Sharma</a:t>
            </a:r>
          </a:p>
          <a:p>
            <a:pPr>
              <a:lnSpc>
                <a:spcPct val="100000"/>
              </a:lnSpc>
            </a:pPr>
            <a:r>
              <a:rPr lang="en-GB" dirty="0">
                <a:solidFill>
                  <a:schemeClr val="tx1"/>
                </a:solidFill>
                <a:latin typeface="Times New Roman" pitchFamily="18" charset="0"/>
                <a:cs typeface="Times New Roman" pitchFamily="18" charset="0"/>
              </a:rPr>
              <a:t>Faculty of Education GLA University</a:t>
            </a:r>
            <a:r>
              <a:rPr lang="hi-IN" dirty="0">
                <a:solidFill>
                  <a:schemeClr val="tx1"/>
                </a:solidFill>
                <a:latin typeface="Times New Roman" pitchFamily="18" charset="0"/>
                <a:cs typeface="Times New Roman" pitchFamily="18" charset="0"/>
              </a:rPr>
              <a:t> </a:t>
            </a:r>
            <a:r>
              <a:rPr lang="en-GB" dirty="0">
                <a:solidFill>
                  <a:schemeClr val="tx1"/>
                </a:solidFill>
                <a:latin typeface="Times New Roman" pitchFamily="18" charset="0"/>
                <a:cs typeface="Times New Roman" pitchFamily="18" charset="0"/>
              </a:rPr>
              <a:t>Mathura</a:t>
            </a:r>
          </a:p>
          <a:p>
            <a:endParaRPr lang="en-IN" dirty="0"/>
          </a:p>
        </p:txBody>
      </p:sp>
    </p:spTree>
    <p:extLst>
      <p:ext uri="{BB962C8B-B14F-4D97-AF65-F5344CB8AC3E}">
        <p14:creationId xmlns:p14="http://schemas.microsoft.com/office/powerpoint/2010/main" val="385392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6206" y="1036545"/>
            <a:ext cx="9948786" cy="3416320"/>
          </a:xfrm>
          <a:prstGeom prst="rect">
            <a:avLst/>
          </a:prstGeom>
        </p:spPr>
        <p:txBody>
          <a:bodyPr wrap="square">
            <a:spAutoFit/>
          </a:bodyPr>
          <a:lstStyle/>
          <a:p>
            <a:pPr algn="just"/>
            <a:r>
              <a:rPr lang="en-US" sz="3600" b="1" dirty="0">
                <a:latin typeface="Times New Roman" panose="02020603050405020304" pitchFamily="18" charset="0"/>
                <a:ea typeface="Times New Roman" panose="02020603050405020304" pitchFamily="18" charset="0"/>
                <a:cs typeface="Times New Roman" panose="02020603050405020304" pitchFamily="18" charset="0"/>
              </a:rPr>
              <a:t>Module 02-                             </a:t>
            </a:r>
          </a:p>
          <a:p>
            <a:pPr algn="just"/>
            <a:endParaRPr lang="en-US" sz="3600" b="1"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Philosophical and Spiritual Enlightenment:</a:t>
            </a:r>
            <a:r>
              <a:rPr lang="en-US" sz="3600" dirty="0">
                <a:latin typeface="Times New Roman" panose="02020603050405020304" pitchFamily="18" charset="0"/>
                <a:cs typeface="Times New Roman" panose="02020603050405020304" pitchFamily="18" charset="0"/>
              </a:rPr>
              <a:t> Introduction of Jainism, Buddhism, </a:t>
            </a:r>
            <a:r>
              <a:rPr lang="en-US" sz="3600" dirty="0" err="1">
                <a:latin typeface="Times New Roman" panose="02020603050405020304" pitchFamily="18" charset="0"/>
                <a:cs typeface="Times New Roman" panose="02020603050405020304" pitchFamily="18" charset="0"/>
              </a:rPr>
              <a:t>Shatdarshan</a:t>
            </a:r>
            <a:r>
              <a:rPr lang="en-US" sz="3600" dirty="0">
                <a:latin typeface="Times New Roman" panose="02020603050405020304" pitchFamily="18" charset="0"/>
                <a:cs typeface="Times New Roman" panose="02020603050405020304" pitchFamily="18" charset="0"/>
              </a:rPr>
              <a:t>, Vedanta, </a:t>
            </a:r>
            <a:r>
              <a:rPr lang="en-US" sz="3600" dirty="0" err="1">
                <a:latin typeface="Times New Roman" panose="02020603050405020304" pitchFamily="18" charset="0"/>
                <a:cs typeface="Times New Roman" panose="02020603050405020304" pitchFamily="18" charset="0"/>
              </a:rPr>
              <a:t>Shankaracharya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Ramanuja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Sagun</a:t>
            </a:r>
            <a:r>
              <a:rPr lang="en-US" sz="3600" dirty="0">
                <a:latin typeface="Times New Roman" panose="02020603050405020304" pitchFamily="18" charset="0"/>
                <a:cs typeface="Times New Roman" panose="02020603050405020304" pitchFamily="18" charset="0"/>
              </a:rPr>
              <a:t> and </a:t>
            </a:r>
            <a:r>
              <a:rPr lang="en-US" sz="3600" dirty="0" err="1">
                <a:latin typeface="Times New Roman" panose="02020603050405020304" pitchFamily="18" charset="0"/>
                <a:cs typeface="Times New Roman" panose="02020603050405020304" pitchFamily="18" charset="0"/>
              </a:rPr>
              <a:t>Nirgun</a:t>
            </a:r>
            <a:r>
              <a:rPr lang="en-US" sz="3600" dirty="0">
                <a:latin typeface="Times New Roman" panose="02020603050405020304" pitchFamily="18" charset="0"/>
                <a:cs typeface="Times New Roman" panose="02020603050405020304" pitchFamily="18" charset="0"/>
              </a:rPr>
              <a:t> Bhakti Saints and Sufi Devotional traditions.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8825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3982" y="213742"/>
            <a:ext cx="4844276" cy="646331"/>
          </a:xfrm>
          <a:prstGeom prst="rect">
            <a:avLst/>
          </a:prstGeom>
        </p:spPr>
        <p:txBody>
          <a:bodyPr wrap="none">
            <a:spAutoFit/>
          </a:bodyPr>
          <a:lstStyle/>
          <a:p>
            <a:pPr algn="ctr"/>
            <a:r>
              <a:rPr lang="en-US" sz="3600" b="1" u="sng" dirty="0">
                <a:latin typeface="Times New Roman" panose="02020603050405020304" pitchFamily="18" charset="0"/>
                <a:cs typeface="Times New Roman" panose="02020603050405020304" pitchFamily="18" charset="0"/>
              </a:rPr>
              <a:t>Introduction of Jainism</a:t>
            </a:r>
            <a:endParaRPr lang="en-IN" sz="3600" b="1" u="sng" dirty="0"/>
          </a:p>
        </p:txBody>
      </p:sp>
      <p:sp>
        <p:nvSpPr>
          <p:cNvPr id="3" name="Rectangle 2"/>
          <p:cNvSpPr/>
          <p:nvPr/>
        </p:nvSpPr>
        <p:spPr>
          <a:xfrm>
            <a:off x="418011" y="979138"/>
            <a:ext cx="11443063" cy="5375831"/>
          </a:xfrm>
          <a:prstGeom prst="rect">
            <a:avLst/>
          </a:prstGeom>
        </p:spPr>
        <p:txBody>
          <a:bodyPr wrap="square">
            <a:spAutoFit/>
          </a:bodyPr>
          <a:lstStyle/>
          <a:p>
            <a:pPr algn="just">
              <a:lnSpc>
                <a:spcPct val="150000"/>
              </a:lnSpc>
              <a:spcAft>
                <a:spcPts val="800"/>
              </a:spcAft>
            </a:pPr>
            <a:r>
              <a:rPr lang="en-IN" sz="2200" dirty="0">
                <a:latin typeface="Times New Roman" panose="02020603050405020304" pitchFamily="18" charset="0"/>
                <a:ea typeface="Calibri" panose="020F0502020204030204" pitchFamily="34" charset="0"/>
                <a:cs typeface="Times New Roman" panose="02020603050405020304" pitchFamily="18" charset="0"/>
              </a:rPr>
              <a:t>Jainism is an ancient religion that is rooted in the philosophy that teaches the way to liberation and a path to spiritual purity and enlightenment through disciplined nonviolence to all living creatures.</a:t>
            </a:r>
          </a:p>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Origin of Jainism?</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Jainism came to prominence in the </a:t>
            </a:r>
            <a:r>
              <a:rPr lang="en-IN" sz="2200" b="1" dirty="0">
                <a:latin typeface="Times New Roman" panose="02020603050405020304" pitchFamily="18" charset="0"/>
                <a:ea typeface="Calibri" panose="020F0502020204030204" pitchFamily="34" charset="0"/>
                <a:cs typeface="Times New Roman" panose="02020603050405020304" pitchFamily="18" charset="0"/>
              </a:rPr>
              <a:t>6</a:t>
            </a:r>
            <a:r>
              <a:rPr lang="en-IN" sz="2200" b="1" baseline="30000" dirty="0">
                <a:latin typeface="Times New Roman" panose="02020603050405020304" pitchFamily="18" charset="0"/>
                <a:ea typeface="Calibri" panose="020F0502020204030204" pitchFamily="34" charset="0"/>
                <a:cs typeface="Times New Roman" panose="02020603050405020304" pitchFamily="18" charset="0"/>
              </a:rPr>
              <a:t>th</a:t>
            </a:r>
            <a:r>
              <a:rPr lang="en-IN" sz="2200" b="1" dirty="0">
                <a:latin typeface="Times New Roman" panose="02020603050405020304" pitchFamily="18" charset="0"/>
                <a:ea typeface="Calibri" panose="020F0502020204030204" pitchFamily="34" charset="0"/>
                <a:cs typeface="Times New Roman" panose="02020603050405020304" pitchFamily="18" charset="0"/>
              </a:rPr>
              <a:t> century B.C.</a:t>
            </a:r>
            <a:r>
              <a:rPr lang="en-IN" sz="2200" dirty="0">
                <a:latin typeface="Times New Roman" panose="02020603050405020304" pitchFamily="18" charset="0"/>
                <a:ea typeface="Calibri" panose="020F0502020204030204" pitchFamily="34" charset="0"/>
                <a:cs typeface="Times New Roman" panose="02020603050405020304" pitchFamily="18" charset="0"/>
              </a:rPr>
              <a:t>, when </a:t>
            </a:r>
            <a:r>
              <a:rPr lang="en-IN" sz="2200" b="1" dirty="0">
                <a:latin typeface="Times New Roman" panose="02020603050405020304" pitchFamily="18" charset="0"/>
                <a:ea typeface="Calibri" panose="020F0502020204030204" pitchFamily="34" charset="0"/>
                <a:cs typeface="Times New Roman" panose="02020603050405020304" pitchFamily="18" charset="0"/>
              </a:rPr>
              <a:t>Lord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Mahavira</a:t>
            </a:r>
            <a:r>
              <a:rPr lang="en-IN" sz="2200" dirty="0">
                <a:latin typeface="Times New Roman" panose="02020603050405020304" pitchFamily="18" charset="0"/>
                <a:ea typeface="Calibri" panose="020F0502020204030204" pitchFamily="34" charset="0"/>
                <a:cs typeface="Times New Roman" panose="02020603050405020304" pitchFamily="18" charset="0"/>
              </a:rPr>
              <a:t> propagated the religion.</a:t>
            </a: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There were </a:t>
            </a:r>
            <a:r>
              <a:rPr lang="en-IN" sz="2200" b="1" dirty="0">
                <a:latin typeface="Times New Roman" panose="02020603050405020304" pitchFamily="18" charset="0"/>
                <a:ea typeface="Calibri" panose="020F0502020204030204" pitchFamily="34" charset="0"/>
                <a:cs typeface="Times New Roman" panose="02020603050405020304" pitchFamily="18" charset="0"/>
              </a:rPr>
              <a:t>24 great teachers,</a:t>
            </a:r>
            <a:r>
              <a:rPr lang="en-IN" sz="2200" dirty="0">
                <a:latin typeface="Times New Roman" panose="02020603050405020304" pitchFamily="18" charset="0"/>
                <a:ea typeface="Calibri" panose="020F0502020204030204" pitchFamily="34" charset="0"/>
                <a:cs typeface="Times New Roman" panose="02020603050405020304" pitchFamily="18" charset="0"/>
              </a:rPr>
              <a:t> the last of whom was</a:t>
            </a:r>
            <a:r>
              <a:rPr lang="en-IN" sz="2200" b="1" dirty="0">
                <a:latin typeface="Times New Roman" panose="02020603050405020304" pitchFamily="18" charset="0"/>
                <a:ea typeface="Calibri" panose="020F0502020204030204" pitchFamily="34" charset="0"/>
                <a:cs typeface="Times New Roman" panose="02020603050405020304" pitchFamily="18" charset="0"/>
              </a:rPr>
              <a:t> Lord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Mahavira</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These twenty-four teachers were called</a:t>
            </a:r>
            <a:r>
              <a:rPr lang="en-IN" sz="2200" b="1" dirty="0">
                <a:latin typeface="Times New Roman" panose="02020603050405020304" pitchFamily="18" charset="0"/>
                <a:ea typeface="Calibri" panose="020F0502020204030204" pitchFamily="34" charset="0"/>
                <a:cs typeface="Times New Roman" panose="02020603050405020304" pitchFamily="18" charset="0"/>
              </a:rPr>
              <a:t>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Tirthankaras</a:t>
            </a:r>
            <a:r>
              <a:rPr lang="en-IN" sz="2200" dirty="0">
                <a:latin typeface="Times New Roman" panose="02020603050405020304" pitchFamily="18" charset="0"/>
                <a:ea typeface="Calibri" panose="020F0502020204030204" pitchFamily="34" charset="0"/>
                <a:cs typeface="Times New Roman" panose="02020603050405020304" pitchFamily="18" charset="0"/>
              </a:rPr>
              <a:t>-people who had attained all knowledge (Moksha) while living and preached it to the people.</a:t>
            </a: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 first Tirthankara was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Rishabnatha</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 word ‘Jain’ is derived from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jina</a:t>
            </a:r>
            <a:r>
              <a:rPr lang="en-IN" sz="2200" dirty="0">
                <a:latin typeface="Times New Roman" panose="02020603050405020304" pitchFamily="18" charset="0"/>
                <a:ea typeface="Calibri" panose="020F0502020204030204" pitchFamily="34" charset="0"/>
                <a:cs typeface="Times New Roman" panose="02020603050405020304" pitchFamily="18" charset="0"/>
              </a:rPr>
              <a:t> or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jaina</a:t>
            </a:r>
            <a:r>
              <a:rPr lang="en-IN" sz="2200" dirty="0">
                <a:latin typeface="Times New Roman" panose="02020603050405020304" pitchFamily="18" charset="0"/>
                <a:ea typeface="Calibri" panose="020F0502020204030204" pitchFamily="34" charset="0"/>
                <a:cs typeface="Times New Roman" panose="02020603050405020304" pitchFamily="18" charset="0"/>
              </a:rPr>
              <a:t> which means the</a:t>
            </a:r>
            <a:r>
              <a:rPr lang="en-IN" sz="2200" b="1" dirty="0">
                <a:latin typeface="Times New Roman" panose="02020603050405020304" pitchFamily="18" charset="0"/>
                <a:ea typeface="Calibri" panose="020F0502020204030204" pitchFamily="34" charset="0"/>
                <a:cs typeface="Times New Roman" panose="02020603050405020304" pitchFamily="18" charset="0"/>
              </a:rPr>
              <a:t> ‘Conqueror’.</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049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073" y="367906"/>
            <a:ext cx="11469189" cy="6196568"/>
          </a:xfrm>
          <a:prstGeom prst="rect">
            <a:avLst/>
          </a:prstGeom>
        </p:spPr>
        <p:txBody>
          <a:bodyPr wrap="square">
            <a:spAutoFit/>
          </a:bodyPr>
          <a:lstStyle/>
          <a:p>
            <a:pPr algn="just">
              <a:lnSpc>
                <a:spcPct val="150000"/>
              </a:lnSpc>
              <a:spcAft>
                <a:spcPts val="800"/>
              </a:spcAf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Vardhamana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Mahavira</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err="1">
                <a:latin typeface="Times New Roman" panose="02020603050405020304" pitchFamily="18" charset="0"/>
                <a:ea typeface="Calibri" panose="020F0502020204030204" pitchFamily="34" charset="0"/>
                <a:cs typeface="Times New Roman" panose="02020603050405020304" pitchFamily="18" charset="0"/>
              </a:rPr>
              <a:t>Vardhamana</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Mahavira</a:t>
            </a:r>
            <a:r>
              <a:rPr lang="en-IN" sz="2000" dirty="0">
                <a:latin typeface="Times New Roman" panose="02020603050405020304" pitchFamily="18" charset="0"/>
                <a:ea typeface="Calibri" panose="020F0502020204030204" pitchFamily="34" charset="0"/>
                <a:cs typeface="Times New Roman" panose="02020603050405020304" pitchFamily="18" charset="0"/>
              </a:rPr>
              <a:t>, the 24</a:t>
            </a:r>
            <a:r>
              <a:rPr lang="en-IN" sz="2000" baseline="30000" dirty="0">
                <a:latin typeface="Times New Roman" panose="02020603050405020304" pitchFamily="18" charset="0"/>
                <a:ea typeface="Calibri" panose="020F0502020204030204" pitchFamily="34" charset="0"/>
                <a:cs typeface="Times New Roman" panose="02020603050405020304" pitchFamily="18" charset="0"/>
              </a:rPr>
              <a:t>th</a:t>
            </a:r>
            <a:r>
              <a:rPr lang="en-IN" sz="2000" dirty="0">
                <a:latin typeface="Times New Roman" panose="02020603050405020304" pitchFamily="18" charset="0"/>
                <a:ea typeface="Calibri" panose="020F0502020204030204" pitchFamily="34" charset="0"/>
                <a:cs typeface="Times New Roman" panose="02020603050405020304" pitchFamily="18" charset="0"/>
              </a:rPr>
              <a:t> Tirthankara, was born in 540 B.C. in a village called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Kundagrama</a:t>
            </a:r>
            <a:r>
              <a:rPr lang="en-IN" sz="2000" dirty="0">
                <a:latin typeface="Times New Roman" panose="02020603050405020304" pitchFamily="18" charset="0"/>
                <a:ea typeface="Calibri" panose="020F0502020204030204" pitchFamily="34" charset="0"/>
                <a:cs typeface="Times New Roman" panose="02020603050405020304" pitchFamily="18" charset="0"/>
              </a:rPr>
              <a:t> near</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Vaishali</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He belonged to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Jyatrika</a:t>
            </a:r>
            <a:r>
              <a:rPr lang="en-IN" sz="2000" b="1" dirty="0">
                <a:latin typeface="Times New Roman" panose="02020603050405020304" pitchFamily="18" charset="0"/>
                <a:ea typeface="Calibri" panose="020F0502020204030204" pitchFamily="34" charset="0"/>
                <a:cs typeface="Times New Roman" panose="02020603050405020304" pitchFamily="18" charset="0"/>
              </a:rPr>
              <a:t> clan</a:t>
            </a:r>
            <a:r>
              <a:rPr lang="en-IN" sz="2000" dirty="0">
                <a:latin typeface="Times New Roman" panose="02020603050405020304" pitchFamily="18" charset="0"/>
                <a:ea typeface="Calibri" panose="020F0502020204030204" pitchFamily="34" charset="0"/>
                <a:cs typeface="Times New Roman" panose="02020603050405020304" pitchFamily="18" charset="0"/>
              </a:rPr>
              <a:t> and was connected to the royal family of Magadha.</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His </a:t>
            </a:r>
            <a:r>
              <a:rPr lang="en-IN" sz="2000" b="1" dirty="0">
                <a:latin typeface="Times New Roman" panose="02020603050405020304" pitchFamily="18" charset="0"/>
                <a:ea typeface="Calibri" panose="020F0502020204030204" pitchFamily="34" charset="0"/>
                <a:cs typeface="Times New Roman" panose="02020603050405020304" pitchFamily="18" charset="0"/>
              </a:rPr>
              <a:t>father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Siddharta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was the </a:t>
            </a:r>
            <a:r>
              <a:rPr lang="en-IN" sz="2000" b="1" dirty="0">
                <a:latin typeface="Times New Roman" panose="02020603050405020304" pitchFamily="18" charset="0"/>
                <a:ea typeface="Calibri" panose="020F0502020204030204" pitchFamily="34" charset="0"/>
                <a:cs typeface="Times New Roman" panose="02020603050405020304" pitchFamily="18" charset="0"/>
              </a:rPr>
              <a:t>head of the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Jyathrika</a:t>
            </a:r>
            <a:r>
              <a:rPr lang="en-IN" sz="2000" b="1" dirty="0">
                <a:latin typeface="Times New Roman" panose="02020603050405020304" pitchFamily="18" charset="0"/>
                <a:ea typeface="Calibri" panose="020F0502020204030204" pitchFamily="34" charset="0"/>
                <a:cs typeface="Times New Roman" panose="02020603050405020304" pitchFamily="18" charset="0"/>
              </a:rPr>
              <a:t> Kshatriya clan </a:t>
            </a:r>
            <a:r>
              <a:rPr lang="en-IN" sz="2000" dirty="0">
                <a:latin typeface="Times New Roman" panose="02020603050405020304" pitchFamily="18" charset="0"/>
                <a:ea typeface="Calibri" panose="020F0502020204030204" pitchFamily="34" charset="0"/>
                <a:cs typeface="Times New Roman" panose="02020603050405020304" pitchFamily="18" charset="0"/>
              </a:rPr>
              <a:t>and his </a:t>
            </a:r>
            <a:r>
              <a:rPr lang="en-IN" sz="2000" b="1" dirty="0">
                <a:latin typeface="Times New Roman" panose="02020603050405020304" pitchFamily="18" charset="0"/>
                <a:ea typeface="Calibri" panose="020F0502020204030204" pitchFamily="34" charset="0"/>
                <a:cs typeface="Times New Roman" panose="02020603050405020304" pitchFamily="18" charset="0"/>
              </a:rPr>
              <a:t>mother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Trishala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was a sister of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Chetaka</a:t>
            </a:r>
            <a:r>
              <a:rPr lang="en-IN" sz="2000" b="1" dirty="0">
                <a:latin typeface="Times New Roman" panose="02020603050405020304" pitchFamily="18" charset="0"/>
                <a:ea typeface="Calibri" panose="020F0502020204030204" pitchFamily="34" charset="0"/>
                <a:cs typeface="Times New Roman" panose="02020603050405020304" pitchFamily="18" charset="0"/>
              </a:rPr>
              <a:t>, the king of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Vaishali</a:t>
            </a:r>
            <a:r>
              <a:rPr lang="en-IN" sz="2000" dirty="0">
                <a:latin typeface="Times New Roman" panose="02020603050405020304" pitchFamily="18" charset="0"/>
                <a:ea typeface="Calibri" panose="020F0502020204030204" pitchFamily="34" charset="0"/>
                <a:cs typeface="Times New Roman" panose="02020603050405020304" pitchFamily="18" charset="0"/>
              </a:rPr>
              <a:t>.</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At the age of </a:t>
            </a:r>
            <a:r>
              <a:rPr lang="en-IN" sz="2000" b="1" dirty="0">
                <a:latin typeface="Times New Roman" panose="02020603050405020304" pitchFamily="18" charset="0"/>
                <a:ea typeface="Calibri" panose="020F0502020204030204" pitchFamily="34" charset="0"/>
                <a:cs typeface="Times New Roman" panose="02020603050405020304" pitchFamily="18" charset="0"/>
              </a:rPr>
              <a:t>30 years</a:t>
            </a:r>
            <a:r>
              <a:rPr lang="en-IN" sz="2000" dirty="0">
                <a:latin typeface="Times New Roman" panose="02020603050405020304" pitchFamily="18" charset="0"/>
                <a:ea typeface="Calibri" panose="020F0502020204030204" pitchFamily="34" charset="0"/>
                <a:cs typeface="Times New Roman" panose="02020603050405020304" pitchFamily="18" charset="0"/>
              </a:rPr>
              <a:t>, he renounced his home and become an ascetic.</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He practised austerity for </a:t>
            </a:r>
            <a:r>
              <a:rPr lang="en-IN" sz="2000" b="1" dirty="0">
                <a:latin typeface="Times New Roman" panose="02020603050405020304" pitchFamily="18" charset="0"/>
                <a:ea typeface="Calibri" panose="020F0502020204030204" pitchFamily="34" charset="0"/>
                <a:cs typeface="Times New Roman" panose="02020603050405020304" pitchFamily="18" charset="0"/>
              </a:rPr>
              <a:t>12 years</a:t>
            </a:r>
            <a:r>
              <a:rPr lang="en-IN" sz="2000" dirty="0">
                <a:latin typeface="Times New Roman" panose="02020603050405020304" pitchFamily="18" charset="0"/>
                <a:ea typeface="Calibri" panose="020F0502020204030204" pitchFamily="34" charset="0"/>
                <a:cs typeface="Times New Roman" panose="02020603050405020304" pitchFamily="18" charset="0"/>
              </a:rPr>
              <a:t> and attained highest spiritual knowledge called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Kaivalya</a:t>
            </a:r>
            <a:r>
              <a:rPr lang="en-IN" sz="2000" dirty="0">
                <a:latin typeface="Times New Roman" panose="02020603050405020304" pitchFamily="18" charset="0"/>
                <a:ea typeface="Calibri" panose="020F0502020204030204" pitchFamily="34" charset="0"/>
                <a:cs typeface="Times New Roman" panose="02020603050405020304" pitchFamily="18" charset="0"/>
              </a:rPr>
              <a:t>(</a:t>
            </a:r>
            <a:r>
              <a:rPr lang="en-IN" sz="2000" dirty="0" err="1">
                <a:latin typeface="Times New Roman" panose="02020603050405020304" pitchFamily="18" charset="0"/>
                <a:ea typeface="Calibri" panose="020F0502020204030204" pitchFamily="34" charset="0"/>
                <a:cs typeface="Times New Roman" panose="02020603050405020304" pitchFamily="18" charset="0"/>
              </a:rPr>
              <a:t>i.e</a:t>
            </a:r>
            <a:r>
              <a:rPr lang="en-IN" sz="2000" dirty="0">
                <a:latin typeface="Times New Roman" panose="02020603050405020304" pitchFamily="18" charset="0"/>
                <a:ea typeface="Calibri" panose="020F0502020204030204" pitchFamily="34" charset="0"/>
                <a:cs typeface="Times New Roman" panose="02020603050405020304" pitchFamily="18" charset="0"/>
              </a:rPr>
              <a:t> conquered misery and happiness) at the age of 42 years.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He delivered his </a:t>
            </a:r>
            <a:r>
              <a:rPr lang="en-IN" sz="2000" b="1" dirty="0">
                <a:latin typeface="Times New Roman" panose="02020603050405020304" pitchFamily="18" charset="0"/>
                <a:ea typeface="Calibri" panose="020F0502020204030204" pitchFamily="34" charset="0"/>
                <a:cs typeface="Times New Roman" panose="02020603050405020304" pitchFamily="18" charset="0"/>
              </a:rPr>
              <a:t>first sermon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Pava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A symbol was associated with every Tirthankara and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Mahavira’s</a:t>
            </a:r>
            <a:r>
              <a:rPr lang="en-IN" sz="2000" b="1" dirty="0">
                <a:latin typeface="Times New Roman" panose="02020603050405020304" pitchFamily="18" charset="0"/>
                <a:ea typeface="Calibri" panose="020F0502020204030204" pitchFamily="34" charset="0"/>
                <a:cs typeface="Times New Roman" panose="02020603050405020304" pitchFamily="18" charset="0"/>
              </a:rPr>
              <a:t> symbol was a lion</a:t>
            </a:r>
            <a:r>
              <a:rPr lang="en-IN" sz="2000" dirty="0">
                <a:latin typeface="Times New Roman" panose="02020603050405020304" pitchFamily="18" charset="0"/>
                <a:ea typeface="Calibri" panose="020F0502020204030204" pitchFamily="34" charset="0"/>
                <a:cs typeface="Times New Roman" panose="02020603050405020304" pitchFamily="18" charset="0"/>
              </a:rPr>
              <a:t>.</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His missions took him</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Koshala</a:t>
            </a:r>
            <a:r>
              <a:rPr lang="en-IN" sz="2000" b="1" dirty="0">
                <a:latin typeface="Times New Roman" panose="02020603050405020304" pitchFamily="18" charset="0"/>
                <a:ea typeface="Calibri" panose="020F0502020204030204" pitchFamily="34" charset="0"/>
                <a:cs typeface="Times New Roman" panose="02020603050405020304" pitchFamily="18" charset="0"/>
              </a:rPr>
              <a:t>, Magadha, Mithila,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Champa</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etc</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He passed away at the age of 72 in 468 B.C. at the</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Pavapuri</a:t>
            </a:r>
            <a:r>
              <a:rPr lang="en-IN" sz="2000" dirty="0">
                <a:latin typeface="Times New Roman" panose="02020603050405020304" pitchFamily="18" charset="0"/>
                <a:ea typeface="Calibri" panose="020F0502020204030204" pitchFamily="34" charset="0"/>
                <a:cs typeface="Times New Roman" panose="02020603050405020304" pitchFamily="18" charset="0"/>
              </a:rPr>
              <a:t> in Bihar.</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4363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326" y="530373"/>
            <a:ext cx="11312434" cy="5365571"/>
          </a:xfrm>
          <a:prstGeom prst="rect">
            <a:avLst/>
          </a:prstGeom>
        </p:spPr>
        <p:txBody>
          <a:bodyPr wrap="square">
            <a:spAutoFit/>
          </a:bodyPr>
          <a:lstStyle/>
          <a:p>
            <a:pPr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Cause of Origin?</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Hinduism had become rigid and orthodox with complex rituals and dominance of Brahmins.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Varna system divided the society into 4 classes based on birth, where the two higher classes enjoyed several privileges.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Kshatriya's reaction against the domination of the </a:t>
            </a:r>
            <a:r>
              <a:rPr lang="en-IN" sz="2800" dirty="0" err="1">
                <a:latin typeface="Times New Roman" panose="02020603050405020304" pitchFamily="18" charset="0"/>
                <a:ea typeface="Calibri" panose="020F0502020204030204" pitchFamily="34" charset="0"/>
                <a:cs typeface="Times New Roman" panose="02020603050405020304" pitchFamily="18" charset="0"/>
              </a:rPr>
              <a:t>brahmanas</a:t>
            </a:r>
            <a:r>
              <a:rPr lang="en-IN" sz="2800" dirty="0">
                <a:latin typeface="Times New Roman" panose="02020603050405020304" pitchFamily="18" charset="0"/>
                <a:ea typeface="Calibri" panose="020F0502020204030204" pitchFamily="34" charset="0"/>
                <a:cs typeface="Times New Roman" panose="02020603050405020304" pitchFamily="18" charset="0"/>
              </a:rPr>
              <a:t>.</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Spread of the new agricultural economy in the north-eastern India due to the use of iron tools.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8719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326" y="257444"/>
            <a:ext cx="11286308" cy="6473567"/>
          </a:xfrm>
          <a:prstGeom prst="rect">
            <a:avLst/>
          </a:prstGeom>
        </p:spPr>
        <p:txBody>
          <a:bodyPr wrap="square">
            <a:spAutoFit/>
          </a:bodyPr>
          <a:lstStyle/>
          <a:p>
            <a:pPr algn="just">
              <a:lnSpc>
                <a:spcPct val="150000"/>
              </a:lnSpc>
              <a:spcAft>
                <a:spcPts val="800"/>
              </a:spcAft>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Tenets of Jainism</a:t>
            </a:r>
            <a:endParaRPr lang="en-IN" sz="2000" u="sng"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It mainly aims at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attainment of liberation</a:t>
            </a:r>
            <a:r>
              <a:rPr lang="en-IN" sz="2400" dirty="0">
                <a:latin typeface="Times New Roman" panose="02020603050405020304" pitchFamily="18" charset="0"/>
                <a:ea typeface="Calibri" panose="020F0502020204030204" pitchFamily="34" charset="0"/>
                <a:cs typeface="Times New Roman" panose="02020603050405020304" pitchFamily="18" charset="0"/>
              </a:rPr>
              <a:t>, for which no ritual is required. It can be attained through three principles called </a:t>
            </a:r>
            <a:r>
              <a:rPr lang="en-IN" sz="2400" b="1" dirty="0">
                <a:latin typeface="Times New Roman" panose="02020603050405020304" pitchFamily="18" charset="0"/>
                <a:ea typeface="Calibri" panose="020F0502020204030204" pitchFamily="34" charset="0"/>
                <a:cs typeface="Times New Roman" panose="02020603050405020304" pitchFamily="18" charset="0"/>
              </a:rPr>
              <a:t>Three Jewels or Triratna i.e.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Right Faith</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Samyak</a:t>
            </a:r>
            <a:r>
              <a:rPr lang="en-IN" sz="2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darshana</a:t>
            </a:r>
            <a:r>
              <a:rPr lang="en-IN" sz="2400" i="1" dirty="0">
                <a:latin typeface="Times New Roman" panose="02020603050405020304" pitchFamily="18" charset="0"/>
                <a:ea typeface="Calibri" panose="020F0502020204030204" pitchFamily="34" charset="0"/>
                <a:cs typeface="Times New Roman" panose="02020603050405020304" pitchFamily="18" charset="0"/>
              </a:rPr>
              <a:t>)</a:t>
            </a:r>
            <a:endParaRPr lang="en-IN" sz="2000" i="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Right Knowledge</a:t>
            </a:r>
            <a:r>
              <a:rPr lang="en-IN" sz="2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Samyak</a:t>
            </a:r>
            <a:r>
              <a:rPr lang="en-IN" sz="2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jyana</a:t>
            </a:r>
            <a:r>
              <a:rPr lang="en-IN" sz="2400" i="1" dirty="0">
                <a:latin typeface="Times New Roman" panose="02020603050405020304" pitchFamily="18" charset="0"/>
                <a:ea typeface="Calibri" panose="020F0502020204030204" pitchFamily="34" charset="0"/>
                <a:cs typeface="Times New Roman" panose="02020603050405020304" pitchFamily="18" charset="0"/>
              </a:rPr>
              <a:t>)</a:t>
            </a:r>
            <a:endParaRPr lang="en-IN" sz="2000" i="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Symbol" panose="05050102010706020507" pitchFamily="18" charset="2"/>
              <a:buChar char=""/>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Right Action</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a:latin typeface="Times New Roman" panose="02020603050405020304" pitchFamily="18" charset="0"/>
                <a:ea typeface="Calibri" panose="020F0502020204030204" pitchFamily="34" charset="0"/>
                <a:cs typeface="Times New Roman" panose="02020603050405020304" pitchFamily="18" charset="0"/>
              </a:rPr>
              <a:t>(</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Samyak</a:t>
            </a:r>
            <a:r>
              <a:rPr lang="en-IN" sz="2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charitra</a:t>
            </a:r>
            <a:r>
              <a:rPr lang="en-IN" sz="2400" i="1" dirty="0">
                <a:latin typeface="Times New Roman" panose="02020603050405020304" pitchFamily="18" charset="0"/>
                <a:ea typeface="Calibri" panose="020F0502020204030204" pitchFamily="34" charset="0"/>
                <a:cs typeface="Times New Roman" panose="02020603050405020304" pitchFamily="18" charset="0"/>
              </a:rPr>
              <a:t>)</a:t>
            </a:r>
            <a:endParaRPr lang="en-IN" sz="2000" i="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b="1" u="sng" dirty="0">
                <a:latin typeface="Times New Roman" panose="02020603050405020304" pitchFamily="18" charset="0"/>
                <a:ea typeface="Calibri" panose="020F0502020204030204" pitchFamily="34" charset="0"/>
                <a:cs typeface="Times New Roman" panose="02020603050405020304" pitchFamily="18" charset="0"/>
              </a:rPr>
              <a:t>Five Principles of Jainism</a:t>
            </a:r>
            <a:endParaRPr lang="en-IN" sz="2000" u="sng"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Symbol" panose="05050102010706020507" pitchFamily="18" charset="2"/>
              <a:buChar char=""/>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Ahimsa</a:t>
            </a:r>
            <a:r>
              <a:rPr lang="en-IN" sz="2400" dirty="0">
                <a:latin typeface="Times New Roman" panose="02020603050405020304" pitchFamily="18" charset="0"/>
                <a:ea typeface="Calibri" panose="020F0502020204030204" pitchFamily="34" charset="0"/>
                <a:cs typeface="Times New Roman" panose="02020603050405020304" pitchFamily="18" charset="0"/>
              </a:rPr>
              <a:t>: Non-injury to living being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Symbol" panose="05050102010706020507" pitchFamily="18" charset="2"/>
              <a:buChar char=""/>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Satya</a:t>
            </a:r>
            <a:r>
              <a:rPr lang="en-IN" sz="2400" dirty="0">
                <a:latin typeface="Times New Roman" panose="02020603050405020304" pitchFamily="18" charset="0"/>
                <a:ea typeface="Calibri" panose="020F0502020204030204" pitchFamily="34" charset="0"/>
                <a:cs typeface="Times New Roman" panose="02020603050405020304" pitchFamily="18" charset="0"/>
              </a:rPr>
              <a:t>: Do not speak a lie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Symbol" panose="05050102010706020507" pitchFamily="18" charset="2"/>
              <a:buChar char=""/>
              <a:tabLst>
                <a:tab pos="914400" algn="l"/>
              </a:tabLs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Asteya</a:t>
            </a:r>
            <a:r>
              <a:rPr lang="en-IN" sz="2400" dirty="0">
                <a:latin typeface="Times New Roman" panose="02020603050405020304" pitchFamily="18" charset="0"/>
                <a:ea typeface="Calibri" panose="020F0502020204030204" pitchFamily="34" charset="0"/>
                <a:cs typeface="Times New Roman" panose="02020603050405020304" pitchFamily="18" charset="0"/>
              </a:rPr>
              <a:t>: Do not steal</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Symbol" panose="05050102010706020507" pitchFamily="18" charset="2"/>
              <a:buChar char=""/>
              <a:tabLst>
                <a:tab pos="914400" algn="l"/>
              </a:tabLs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Aparigraha</a:t>
            </a:r>
            <a:r>
              <a:rPr lang="en-IN" sz="2400" dirty="0">
                <a:latin typeface="Times New Roman" panose="02020603050405020304" pitchFamily="18" charset="0"/>
                <a:ea typeface="Calibri" panose="020F0502020204030204" pitchFamily="34" charset="0"/>
                <a:cs typeface="Times New Roman" panose="02020603050405020304" pitchFamily="18" charset="0"/>
              </a:rPr>
              <a:t>: Do not acquire property</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Symbol" panose="05050102010706020507" pitchFamily="18" charset="2"/>
              <a:buChar char=""/>
              <a:tabLst>
                <a:tab pos="914400" algn="l"/>
              </a:tabLs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Brahmacharya</a:t>
            </a:r>
            <a:r>
              <a:rPr lang="en-IN" sz="2400" dirty="0">
                <a:latin typeface="Times New Roman" panose="02020603050405020304" pitchFamily="18" charset="0"/>
                <a:ea typeface="Calibri" panose="020F0502020204030204" pitchFamily="34" charset="0"/>
                <a:cs typeface="Times New Roman" panose="02020603050405020304" pitchFamily="18" charset="0"/>
              </a:rPr>
              <a:t>: Observe continence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8154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39" y="502250"/>
            <a:ext cx="11207931" cy="6011902"/>
          </a:xfrm>
          <a:prstGeom prst="rect">
            <a:avLst/>
          </a:prstGeom>
        </p:spPr>
        <p:txBody>
          <a:bodyPr wrap="square">
            <a:spAutoFit/>
          </a:bodyPr>
          <a:lstStyle/>
          <a:p>
            <a:pPr algn="just">
              <a:lnSpc>
                <a:spcPct val="150000"/>
              </a:lnSpc>
              <a:spcAft>
                <a:spcPts val="800"/>
              </a:spcAft>
            </a:pPr>
            <a:r>
              <a:rPr lang="en-IN" sz="2000" b="1" u="sng" dirty="0">
                <a:latin typeface="Times New Roman" panose="02020603050405020304" pitchFamily="18" charset="0"/>
                <a:ea typeface="Calibri" panose="020F0502020204030204" pitchFamily="34" charset="0"/>
                <a:cs typeface="Times New Roman" panose="02020603050405020304" pitchFamily="18" charset="0"/>
              </a:rPr>
              <a:t>Concept of God in Jainism</a:t>
            </a:r>
            <a:endParaRPr lang="en-IN" b="1" u="sng"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Jainism believes that the universe and all its substances or entities are eternal. It has no beginning or end with respect to time. </a:t>
            </a:r>
            <a:r>
              <a:rPr lang="en-IN" b="1" dirty="0">
                <a:latin typeface="Times New Roman" panose="02020603050405020304" pitchFamily="18" charset="0"/>
                <a:ea typeface="Calibri" panose="020F0502020204030204" pitchFamily="34" charset="0"/>
                <a:cs typeface="Times New Roman" panose="02020603050405020304" pitchFamily="18" charset="0"/>
              </a:rPr>
              <a:t>Universe runs on its own accord by its own cosmic laws.</a:t>
            </a:r>
            <a:endParaRPr lang="en-IN" sz="16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All the substances change or modify their forms continuously. Nothing can be destroyed or created in the universe.</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There is no need for someone to create or manage the affairs of the universe.</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Hence Jainism does </a:t>
            </a:r>
            <a:r>
              <a:rPr lang="en-IN" b="1" dirty="0">
                <a:latin typeface="Times New Roman" panose="02020603050405020304" pitchFamily="18" charset="0"/>
                <a:ea typeface="Calibri" panose="020F0502020204030204" pitchFamily="34" charset="0"/>
                <a:cs typeface="Times New Roman" panose="02020603050405020304" pitchFamily="18" charset="0"/>
              </a:rPr>
              <a:t>not believe in God as a creator</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survivor, and destroyer </a:t>
            </a:r>
            <a:r>
              <a:rPr lang="en-IN" dirty="0">
                <a:latin typeface="Times New Roman" panose="02020603050405020304" pitchFamily="18" charset="0"/>
                <a:ea typeface="Calibri" panose="020F0502020204030204" pitchFamily="34" charset="0"/>
                <a:cs typeface="Times New Roman" panose="02020603050405020304" pitchFamily="18" charset="0"/>
              </a:rPr>
              <a:t>of the universe.</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b="1" dirty="0">
                <a:latin typeface="Times New Roman" panose="02020603050405020304" pitchFamily="18" charset="0"/>
                <a:ea typeface="Calibri" panose="020F0502020204030204" pitchFamily="34" charset="0"/>
                <a:cs typeface="Times New Roman" panose="02020603050405020304" pitchFamily="18" charset="0"/>
              </a:rPr>
              <a:t>However Jainism does believe in God, not as a creator, but as a perfect being.</a:t>
            </a:r>
            <a:endParaRPr lang="en-IN" sz="1600"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When a person destroys all his karmas, he becomes a liberated soul. He lives in a perfect blissful state in Moksha forever.</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The </a:t>
            </a:r>
            <a:r>
              <a:rPr lang="en-IN" b="1" dirty="0">
                <a:latin typeface="Times New Roman" panose="02020603050405020304" pitchFamily="18" charset="0"/>
                <a:ea typeface="Calibri" panose="020F0502020204030204" pitchFamily="34" charset="0"/>
                <a:cs typeface="Times New Roman" panose="02020603050405020304" pitchFamily="18" charset="0"/>
              </a:rPr>
              <a:t>liberated soul </a:t>
            </a:r>
            <a:r>
              <a:rPr lang="en-IN" dirty="0">
                <a:latin typeface="Times New Roman" panose="02020603050405020304" pitchFamily="18" charset="0"/>
                <a:ea typeface="Calibri" panose="020F0502020204030204" pitchFamily="34" charset="0"/>
                <a:cs typeface="Times New Roman" panose="02020603050405020304" pitchFamily="18" charset="0"/>
              </a:rPr>
              <a:t>possesses </a:t>
            </a:r>
            <a:r>
              <a:rPr lang="en-IN" b="1" dirty="0">
                <a:latin typeface="Times New Roman" panose="02020603050405020304" pitchFamily="18" charset="0"/>
                <a:ea typeface="Calibri" panose="020F0502020204030204" pitchFamily="34" charset="0"/>
                <a:cs typeface="Times New Roman" panose="02020603050405020304" pitchFamily="18" charset="0"/>
              </a:rPr>
              <a:t>infinite knowledge, infinite vision, infinite power, and infinite bliss</a:t>
            </a:r>
            <a:r>
              <a:rPr lang="en-IN" dirty="0">
                <a:latin typeface="Times New Roman" panose="02020603050405020304" pitchFamily="18" charset="0"/>
                <a:ea typeface="Calibri" panose="020F0502020204030204" pitchFamily="34" charset="0"/>
                <a:cs typeface="Times New Roman" panose="02020603050405020304" pitchFamily="18" charset="0"/>
              </a:rPr>
              <a:t>. This living being is a God of Jain religion.</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Every living being has a potential to become God.</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Hence Jains do not have one God, but Jain Gods are innumerable and their number is continuously increasing as more living beings attain liberation.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43069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39" y="404448"/>
            <a:ext cx="11286309" cy="6088462"/>
          </a:xfrm>
          <a:prstGeom prst="rect">
            <a:avLst/>
          </a:prstGeom>
        </p:spPr>
        <p:txBody>
          <a:bodyPr wrap="square">
            <a:spAutoFit/>
          </a:bodyPr>
          <a:lstStyle/>
          <a:p>
            <a:pPr algn="just">
              <a:lnSpc>
                <a:spcPct val="150000"/>
              </a:lnSpc>
              <a:spcAft>
                <a:spcPts val="800"/>
              </a:spcAft>
            </a:pPr>
            <a:r>
              <a:rPr lang="en-IN" b="1" dirty="0" err="1">
                <a:latin typeface="Times New Roman" panose="02020603050405020304" pitchFamily="18" charset="0"/>
                <a:ea typeface="Calibri" panose="020F0502020204030204" pitchFamily="34" charset="0"/>
                <a:cs typeface="Times New Roman" panose="02020603050405020304" pitchFamily="18" charset="0"/>
              </a:rPr>
              <a:t>Anekantavada</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b="1" dirty="0" err="1">
                <a:latin typeface="Times New Roman" panose="02020603050405020304" pitchFamily="18" charset="0"/>
                <a:ea typeface="Calibri" panose="020F0502020204030204" pitchFamily="34" charset="0"/>
                <a:cs typeface="Times New Roman" panose="02020603050405020304" pitchFamily="18" charset="0"/>
              </a:rPr>
              <a:t>Anekantavada</a:t>
            </a:r>
            <a:r>
              <a:rPr lang="en-IN" b="1" dirty="0">
                <a:latin typeface="Times New Roman" panose="02020603050405020304" pitchFamily="18" charset="0"/>
                <a:ea typeface="Calibri" panose="020F0502020204030204" pitchFamily="34" charset="0"/>
                <a:cs typeface="Times New Roman" panose="02020603050405020304" pitchFamily="18" charset="0"/>
              </a:rPr>
              <a:t> in</a:t>
            </a:r>
            <a:r>
              <a:rPr lang="en-IN" dirty="0">
                <a:latin typeface="Times New Roman" panose="02020603050405020304" pitchFamily="18" charset="0"/>
                <a:ea typeface="Calibri" panose="020F0502020204030204" pitchFamily="34" charset="0"/>
                <a:cs typeface="Times New Roman" panose="02020603050405020304" pitchFamily="18" charset="0"/>
              </a:rPr>
              <a:t> Jainism is the ontological assumption that any entity is at once enduring but also undergoing change that is both constant and inevitable.</a:t>
            </a:r>
          </a:p>
          <a:p>
            <a:pPr marL="342900" lvl="0" indent="-342900" algn="just">
              <a:lnSpc>
                <a:spcPct val="150000"/>
              </a:lnSpc>
              <a:spcAft>
                <a:spcPts val="0"/>
              </a:spcAft>
              <a:buSzPts val="1000"/>
              <a:buFont typeface="Wingdings" panose="05000000000000000000" pitchFamily="2" charset="2"/>
              <a:buChar char=""/>
              <a:tabLst>
                <a:tab pos="4572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The doctrine of </a:t>
            </a:r>
            <a:r>
              <a:rPr lang="en-IN" dirty="0" err="1">
                <a:latin typeface="Times New Roman" panose="02020603050405020304" pitchFamily="18" charset="0"/>
                <a:ea typeface="Calibri" panose="020F0502020204030204" pitchFamily="34" charset="0"/>
                <a:cs typeface="Times New Roman" panose="02020603050405020304" pitchFamily="18" charset="0"/>
              </a:rPr>
              <a:t>anekantavada</a:t>
            </a:r>
            <a:r>
              <a:rPr lang="en-IN" dirty="0">
                <a:latin typeface="Times New Roman" panose="02020603050405020304" pitchFamily="18" charset="0"/>
                <a:ea typeface="Calibri" panose="020F0502020204030204" pitchFamily="34" charset="0"/>
                <a:cs typeface="Times New Roman" panose="02020603050405020304" pitchFamily="18" charset="0"/>
              </a:rPr>
              <a:t> states that all entities have </a:t>
            </a:r>
            <a:r>
              <a:rPr lang="en-IN" b="1" dirty="0">
                <a:latin typeface="Times New Roman" panose="02020603050405020304" pitchFamily="18" charset="0"/>
                <a:ea typeface="Calibri" panose="020F0502020204030204" pitchFamily="34" charset="0"/>
                <a:cs typeface="Times New Roman" panose="02020603050405020304" pitchFamily="18" charset="0"/>
              </a:rPr>
              <a:t>three aspects</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substance (</a:t>
            </a:r>
            <a:r>
              <a:rPr lang="en-IN" b="1" dirty="0" err="1">
                <a:latin typeface="Times New Roman" panose="02020603050405020304" pitchFamily="18" charset="0"/>
                <a:ea typeface="Calibri" panose="020F0502020204030204" pitchFamily="34" charset="0"/>
                <a:cs typeface="Times New Roman" panose="02020603050405020304" pitchFamily="18" charset="0"/>
              </a:rPr>
              <a:t>dravya</a:t>
            </a:r>
            <a:r>
              <a:rPr lang="en-IN" b="1" dirty="0">
                <a:latin typeface="Times New Roman" panose="02020603050405020304" pitchFamily="18" charset="0"/>
                <a:ea typeface="Calibri" panose="020F0502020204030204" pitchFamily="34" charset="0"/>
                <a:cs typeface="Times New Roman" panose="02020603050405020304" pitchFamily="18" charset="0"/>
              </a:rPr>
              <a:t>), quality (</a:t>
            </a:r>
            <a:r>
              <a:rPr lang="en-IN" b="1" dirty="0" err="1">
                <a:latin typeface="Times New Roman" panose="02020603050405020304" pitchFamily="18" charset="0"/>
                <a:ea typeface="Calibri" panose="020F0502020204030204" pitchFamily="34" charset="0"/>
                <a:cs typeface="Times New Roman" panose="02020603050405020304" pitchFamily="18" charset="0"/>
              </a:rPr>
              <a:t>guna</a:t>
            </a:r>
            <a:r>
              <a:rPr lang="en-IN" b="1" dirty="0">
                <a:latin typeface="Times New Roman" panose="02020603050405020304" pitchFamily="18" charset="0"/>
                <a:ea typeface="Calibri" panose="020F0502020204030204" pitchFamily="34" charset="0"/>
                <a:cs typeface="Times New Roman" panose="02020603050405020304" pitchFamily="18" charset="0"/>
              </a:rPr>
              <a:t>), and mode (</a:t>
            </a:r>
            <a:r>
              <a:rPr lang="en-IN" b="1" dirty="0" err="1">
                <a:latin typeface="Times New Roman" panose="02020603050405020304" pitchFamily="18" charset="0"/>
                <a:ea typeface="Calibri" panose="020F0502020204030204" pitchFamily="34" charset="0"/>
                <a:cs typeface="Times New Roman" panose="02020603050405020304" pitchFamily="18" charset="0"/>
              </a:rPr>
              <a:t>paryaya</a:t>
            </a:r>
            <a:r>
              <a:rPr lang="en-IN" b="1" dirty="0">
                <a:latin typeface="Times New Roman" panose="02020603050405020304" pitchFamily="18" charset="0"/>
                <a:ea typeface="Calibri" panose="020F0502020204030204" pitchFamily="34" charset="0"/>
                <a:cs typeface="Times New Roman" panose="02020603050405020304" pitchFamily="18" charset="0"/>
              </a:rPr>
              <a:t>).</a:t>
            </a:r>
          </a:p>
          <a:p>
            <a:pPr marL="742950" lvl="1" indent="-285750" algn="just">
              <a:lnSpc>
                <a:spcPct val="150000"/>
              </a:lnSpc>
              <a:spcAft>
                <a:spcPts val="0"/>
              </a:spcAft>
              <a:buSzPts val="1000"/>
              <a:buFont typeface="Symbol" panose="05050102010706020507" pitchFamily="18" charset="2"/>
              <a:buChar char=""/>
              <a:tabLst>
                <a:tab pos="914400" algn="l"/>
              </a:tabLst>
            </a:pPr>
            <a:r>
              <a:rPr lang="en-IN" dirty="0" err="1">
                <a:latin typeface="Times New Roman" panose="02020603050405020304" pitchFamily="18" charset="0"/>
                <a:ea typeface="Calibri" panose="020F0502020204030204" pitchFamily="34" charset="0"/>
                <a:cs typeface="Times New Roman" panose="02020603050405020304" pitchFamily="18" charset="0"/>
              </a:rPr>
              <a:t>Dravya</a:t>
            </a:r>
            <a:r>
              <a:rPr lang="en-IN" dirty="0">
                <a:latin typeface="Times New Roman" panose="02020603050405020304" pitchFamily="18" charset="0"/>
                <a:ea typeface="Calibri" panose="020F0502020204030204" pitchFamily="34" charset="0"/>
                <a:cs typeface="Times New Roman" panose="02020603050405020304" pitchFamily="18" charset="0"/>
              </a:rPr>
              <a:t> serves as a substratum for multiple </a:t>
            </a:r>
            <a:r>
              <a:rPr lang="en-IN" dirty="0" err="1">
                <a:latin typeface="Times New Roman" panose="02020603050405020304" pitchFamily="18" charset="0"/>
                <a:ea typeface="Calibri" panose="020F0502020204030204" pitchFamily="34" charset="0"/>
                <a:cs typeface="Times New Roman" panose="02020603050405020304" pitchFamily="18" charset="0"/>
              </a:rPr>
              <a:t>gunas</a:t>
            </a:r>
            <a:r>
              <a:rPr lang="en-IN" dirty="0">
                <a:latin typeface="Times New Roman" panose="02020603050405020304" pitchFamily="18" charset="0"/>
                <a:ea typeface="Calibri" panose="020F0502020204030204" pitchFamily="34" charset="0"/>
                <a:cs typeface="Times New Roman" panose="02020603050405020304" pitchFamily="18" charset="0"/>
              </a:rPr>
              <a:t>, each of which is itself constantly undergoing transformation or modification.</a:t>
            </a:r>
          </a:p>
          <a:p>
            <a:pPr marL="742950" lvl="1" indent="-285750" algn="just">
              <a:lnSpc>
                <a:spcPct val="150000"/>
              </a:lnSpc>
              <a:spcAft>
                <a:spcPts val="800"/>
              </a:spcAft>
              <a:buSzPts val="1000"/>
              <a:buFont typeface="Symbol" panose="05050102010706020507" pitchFamily="18" charset="2"/>
              <a:buChar char=""/>
              <a:tabLst>
                <a:tab pos="9144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Thus, any entity has both an abiding continuous nature and qualities that are in a state of constant flux.</a:t>
            </a:r>
          </a:p>
          <a:p>
            <a:pPr algn="just">
              <a:lnSpc>
                <a:spcPct val="150000"/>
              </a:lnSpc>
              <a:spcAft>
                <a:spcPts val="800"/>
              </a:spcAft>
            </a:pPr>
            <a:r>
              <a:rPr lang="en-IN" b="1" dirty="0" err="1">
                <a:latin typeface="Times New Roman" panose="02020603050405020304" pitchFamily="18" charset="0"/>
                <a:ea typeface="Calibri" panose="020F0502020204030204" pitchFamily="34" charset="0"/>
                <a:cs typeface="Times New Roman" panose="02020603050405020304" pitchFamily="18" charset="0"/>
              </a:rPr>
              <a:t>Syadvada</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b="1" dirty="0" err="1">
                <a:latin typeface="Times New Roman" panose="02020603050405020304" pitchFamily="18" charset="0"/>
                <a:ea typeface="Calibri" panose="020F0502020204030204" pitchFamily="34" charset="0"/>
                <a:cs typeface="Times New Roman" panose="02020603050405020304" pitchFamily="18" charset="0"/>
              </a:rPr>
              <a:t>Syadvada</a:t>
            </a:r>
            <a:r>
              <a:rPr lang="en-IN" dirty="0">
                <a:latin typeface="Times New Roman" panose="02020603050405020304" pitchFamily="18" charset="0"/>
                <a:ea typeface="Calibri" panose="020F0502020204030204" pitchFamily="34" charset="0"/>
                <a:cs typeface="Times New Roman" panose="02020603050405020304" pitchFamily="18" charset="0"/>
              </a:rPr>
              <a:t>, in </a:t>
            </a:r>
            <a:r>
              <a:rPr lang="en-IN" dirty="0" err="1">
                <a:latin typeface="Times New Roman" panose="02020603050405020304" pitchFamily="18" charset="0"/>
                <a:ea typeface="Calibri" panose="020F0502020204030204" pitchFamily="34" charset="0"/>
                <a:cs typeface="Times New Roman" panose="02020603050405020304" pitchFamily="18" charset="0"/>
              </a:rPr>
              <a:t>Jaina</a:t>
            </a:r>
            <a:r>
              <a:rPr lang="en-IN" dirty="0">
                <a:latin typeface="Times New Roman" panose="02020603050405020304" pitchFamily="18" charset="0"/>
                <a:ea typeface="Calibri" panose="020F0502020204030204" pitchFamily="34" charset="0"/>
                <a:cs typeface="Times New Roman" panose="02020603050405020304" pitchFamily="18" charset="0"/>
              </a:rPr>
              <a:t> metaphysics, the doctrine that </a:t>
            </a:r>
            <a:r>
              <a:rPr lang="en-IN" b="1" dirty="0">
                <a:latin typeface="Times New Roman" panose="02020603050405020304" pitchFamily="18" charset="0"/>
                <a:ea typeface="Calibri" panose="020F0502020204030204" pitchFamily="34" charset="0"/>
                <a:cs typeface="Times New Roman" panose="02020603050405020304" pitchFamily="18" charset="0"/>
              </a:rPr>
              <a:t>all judgments are conditional, holding good only in certain conditions, circumstances, or senses, expressed by the word </a:t>
            </a:r>
            <a:r>
              <a:rPr lang="en-IN" b="1" dirty="0" err="1">
                <a:latin typeface="Times New Roman" panose="02020603050405020304" pitchFamily="18" charset="0"/>
                <a:ea typeface="Calibri" panose="020F0502020204030204" pitchFamily="34" charset="0"/>
                <a:cs typeface="Times New Roman" panose="02020603050405020304" pitchFamily="18" charset="0"/>
              </a:rPr>
              <a:t>syat</a:t>
            </a:r>
            <a:r>
              <a:rPr lang="en-IN" b="1" dirty="0">
                <a:latin typeface="Times New Roman" panose="02020603050405020304" pitchFamily="18" charset="0"/>
                <a:ea typeface="Calibri" panose="020F0502020204030204" pitchFamily="34" charset="0"/>
                <a:cs typeface="Times New Roman" panose="02020603050405020304" pitchFamily="18" charset="0"/>
              </a:rPr>
              <a:t> (“may be”).</a:t>
            </a:r>
          </a:p>
          <a:p>
            <a:pPr marL="342900" lvl="0" indent="-342900" algn="just">
              <a:lnSpc>
                <a:spcPct val="150000"/>
              </a:lnSpc>
              <a:spcAft>
                <a:spcPts val="0"/>
              </a:spcAft>
              <a:buSzPts val="1000"/>
              <a:buFont typeface="Wingdings" panose="05000000000000000000" pitchFamily="2" charset="2"/>
              <a:buChar char=""/>
              <a:tabLst>
                <a:tab pos="4572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The ways of looking at a thing </a:t>
            </a:r>
            <a:r>
              <a:rPr lang="en-IN" b="1" dirty="0">
                <a:latin typeface="Times New Roman" panose="02020603050405020304" pitchFamily="18" charset="0"/>
                <a:ea typeface="Calibri" panose="020F0502020204030204" pitchFamily="34" charset="0"/>
                <a:cs typeface="Times New Roman" panose="02020603050405020304" pitchFamily="18" charset="0"/>
              </a:rPr>
              <a:t>(called </a:t>
            </a:r>
            <a:r>
              <a:rPr lang="en-IN" b="1" u="sng" dirty="0" err="1">
                <a:latin typeface="Times New Roman" panose="02020603050405020304" pitchFamily="18" charset="0"/>
                <a:ea typeface="Calibri" panose="020F0502020204030204" pitchFamily="34" charset="0"/>
                <a:cs typeface="Times New Roman" panose="02020603050405020304" pitchFamily="18" charset="0"/>
              </a:rPr>
              <a:t>naya</a:t>
            </a:r>
            <a:r>
              <a:rPr lang="en-IN" b="1" dirty="0">
                <a:latin typeface="Times New Roman" panose="02020603050405020304" pitchFamily="18" charset="0"/>
                <a:ea typeface="Calibri" panose="020F0502020204030204" pitchFamily="34" charset="0"/>
                <a:cs typeface="Times New Roman" panose="02020603050405020304" pitchFamily="18" charset="0"/>
              </a:rPr>
              <a:t>) </a:t>
            </a:r>
            <a:r>
              <a:rPr lang="en-IN" dirty="0">
                <a:latin typeface="Times New Roman" panose="02020603050405020304" pitchFamily="18" charset="0"/>
                <a:ea typeface="Calibri" panose="020F0502020204030204" pitchFamily="34" charset="0"/>
                <a:cs typeface="Times New Roman" panose="02020603050405020304" pitchFamily="18" charset="0"/>
              </a:rPr>
              <a:t>are infinite in number.</a:t>
            </a:r>
          </a:p>
          <a:p>
            <a:pPr marL="342900" lvl="0" indent="-342900" algn="just">
              <a:lnSpc>
                <a:spcPct val="150000"/>
              </a:lnSpc>
              <a:spcAft>
                <a:spcPts val="800"/>
              </a:spcAft>
              <a:buSzPts val="1000"/>
              <a:buFont typeface="Wingdings" panose="05000000000000000000" pitchFamily="2" charset="2"/>
              <a:buChar char=""/>
              <a:tabLst>
                <a:tab pos="457200" algn="l"/>
              </a:tabLst>
            </a:pPr>
            <a:r>
              <a:rPr lang="en-IN" b="1" dirty="0" err="1">
                <a:latin typeface="Times New Roman" panose="02020603050405020304" pitchFamily="18" charset="0"/>
                <a:ea typeface="Calibri" panose="020F0502020204030204" pitchFamily="34" charset="0"/>
                <a:cs typeface="Times New Roman" panose="02020603050405020304" pitchFamily="18" charset="0"/>
              </a:rPr>
              <a:t>Syadavada</a:t>
            </a:r>
            <a:r>
              <a:rPr lang="en-IN" b="1" dirty="0">
                <a:latin typeface="Times New Roman" panose="02020603050405020304" pitchFamily="18" charset="0"/>
                <a:ea typeface="Calibri" panose="020F0502020204030204" pitchFamily="34" charset="0"/>
                <a:cs typeface="Times New Roman" panose="02020603050405020304" pitchFamily="18" charset="0"/>
              </a:rPr>
              <a:t> literally means the ‘method of examining different probabilities’.</a:t>
            </a:r>
          </a:p>
          <a:p>
            <a:pPr marL="742950" lvl="1" indent="-285750" algn="just">
              <a:lnSpc>
                <a:spcPct val="107000"/>
              </a:lnSpc>
              <a:spcAft>
                <a:spcPts val="800"/>
              </a:spcAft>
              <a:buSzPts val="1000"/>
              <a:buFont typeface="Symbol" panose="05050102010706020507" pitchFamily="18" charset="2"/>
              <a:buChar char=""/>
              <a:tabLst>
                <a:tab pos="914400" algn="l"/>
              </a:tabLst>
            </a:pPr>
            <a:endParaRPr lang="en-IN" sz="1200" dirty="0">
              <a:latin typeface="Times New Roman" panose="02020603050405020304" pitchFamily="18" charset="0"/>
              <a:ea typeface="Calibri" panose="020F0502020204030204" pitchFamily="34" charset="0"/>
              <a:cs typeface="Mangal"/>
            </a:endParaRPr>
          </a:p>
        </p:txBody>
      </p:sp>
    </p:spTree>
    <p:extLst>
      <p:ext uri="{BB962C8B-B14F-4D97-AF65-F5344CB8AC3E}">
        <p14:creationId xmlns:p14="http://schemas.microsoft.com/office/powerpoint/2010/main" val="3550561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331444"/>
            <a:ext cx="11547565" cy="3832909"/>
          </a:xfrm>
          <a:prstGeom prst="rect">
            <a:avLst/>
          </a:prstGeom>
        </p:spPr>
        <p:txBody>
          <a:bodyPr wrap="square">
            <a:spAutoFit/>
          </a:bodyPr>
          <a:lstStyle/>
          <a:p>
            <a:pPr algn="just">
              <a:lnSpc>
                <a:spcPct val="150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Sects/ School of Jainism?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SzPts val="1000"/>
              <a:buFont typeface="Wingdings" panose="05000000000000000000" pitchFamily="2" charset="2"/>
              <a:buChar char=""/>
              <a:tabLst>
                <a:tab pos="4572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Jain order has been divided into two major sects: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Digambara</a:t>
            </a:r>
            <a:r>
              <a:rPr lang="en-IN" sz="2000" b="1" dirty="0">
                <a:latin typeface="Times New Roman" panose="02020603050405020304" pitchFamily="18" charset="0"/>
                <a:ea typeface="Calibri" panose="020F0502020204030204" pitchFamily="34" charset="0"/>
                <a:cs typeface="Times New Roman" panose="02020603050405020304" pitchFamily="18" charset="0"/>
              </a:rPr>
              <a:t> and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Svetambara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marL="742950" lvl="1" indent="-285750" algn="just">
              <a:lnSpc>
                <a:spcPct val="150000"/>
              </a:lnSpc>
              <a:spcAft>
                <a:spcPts val="0"/>
              </a:spcAft>
              <a:buSzPts val="1000"/>
              <a:buFont typeface="Courier New" panose="02070309020205020404" pitchFamily="49" charset="0"/>
              <a:buChar char="o"/>
              <a:tabLst>
                <a:tab pos="9144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The division occurred mainly due to famine in Magadha which compelled a group led by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Bhadrabahu</a:t>
            </a:r>
            <a:r>
              <a:rPr lang="en-IN" sz="2000" dirty="0">
                <a:latin typeface="Times New Roman" panose="02020603050405020304" pitchFamily="18" charset="0"/>
                <a:ea typeface="Calibri" panose="020F0502020204030204" pitchFamily="34" charset="0"/>
                <a:cs typeface="Times New Roman" panose="02020603050405020304" pitchFamily="18" charset="0"/>
              </a:rPr>
              <a:t> to move South India .</a:t>
            </a:r>
          </a:p>
          <a:p>
            <a:pPr marL="742950" lvl="1" indent="-285750" algn="just">
              <a:lnSpc>
                <a:spcPct val="150000"/>
              </a:lnSpc>
              <a:spcAft>
                <a:spcPts val="0"/>
              </a:spcAft>
              <a:buSzPts val="1000"/>
              <a:buFont typeface="Courier New" panose="02070309020205020404" pitchFamily="49" charset="0"/>
              <a:buChar char="o"/>
              <a:tabLst>
                <a:tab pos="9144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During the 12 years famine, the group in South India stick to the strict practices while the group in Magadha adopted a more lax attitude and started wearing white clothes.</a:t>
            </a: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After the end of famine, when the Southern group came back to Magadha, the changed practices led to the division of Jainism into two sects.</a:t>
            </a:r>
          </a:p>
        </p:txBody>
      </p:sp>
    </p:spTree>
    <p:extLst>
      <p:ext uri="{BB962C8B-B14F-4D97-AF65-F5344CB8AC3E}">
        <p14:creationId xmlns:p14="http://schemas.microsoft.com/office/powerpoint/2010/main" val="966182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1" y="299735"/>
            <a:ext cx="11351622" cy="5786199"/>
          </a:xfrm>
          <a:prstGeom prst="rect">
            <a:avLst/>
          </a:prstGeom>
        </p:spPr>
        <p:txBody>
          <a:bodyPr wrap="square">
            <a:spAutoFit/>
          </a:bodyPr>
          <a:lstStyle/>
          <a:p>
            <a:pPr marL="342900" lvl="0" indent="-342900" algn="just">
              <a:lnSpc>
                <a:spcPct val="150000"/>
              </a:lnSpc>
              <a:spcAft>
                <a:spcPts val="800"/>
              </a:spcAft>
              <a:buSzPts val="1000"/>
              <a:buFont typeface="Wingdings" panose="05000000000000000000" pitchFamily="2" charset="2"/>
              <a:buChar char=""/>
              <a:tabLst>
                <a:tab pos="4572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Digambara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Monks of this sect believe in complete nudity. Male monks do not wear clothes while female monks wear unstitched plain white sarees.</a:t>
            </a:r>
          </a:p>
          <a:p>
            <a:pPr marL="742950" lvl="1" indent="-285750" algn="just">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Follow all five vows (Satya, Ahimsa,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Asteya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Aparigraha</a:t>
            </a:r>
            <a:r>
              <a:rPr lang="en-IN" sz="2000" b="1" dirty="0">
                <a:latin typeface="Times New Roman" panose="02020603050405020304" pitchFamily="18" charset="0"/>
                <a:ea typeface="Calibri" panose="020F0502020204030204" pitchFamily="34" charset="0"/>
                <a:cs typeface="Times New Roman" panose="02020603050405020304" pitchFamily="18" charset="0"/>
              </a:rPr>
              <a:t> and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Brahmacharya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marL="742950" lvl="1" indent="-285750" algn="just">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Believe women cannot achieve liberation.</a:t>
            </a:r>
          </a:p>
          <a:p>
            <a:pPr marL="742950" lvl="1" indent="-285750" algn="just">
              <a:spcAft>
                <a:spcPts val="800"/>
              </a:spcAft>
              <a:buSzPts val="1000"/>
              <a:buFont typeface="Courier New" panose="02070309020205020404" pitchFamily="49" charset="0"/>
              <a:buChar char="o"/>
              <a:tabLst>
                <a:tab pos="9144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Bhadrabahu</a:t>
            </a:r>
            <a:r>
              <a:rPr lang="en-IN" sz="2000" dirty="0">
                <a:latin typeface="Times New Roman" panose="02020603050405020304" pitchFamily="18" charset="0"/>
                <a:ea typeface="Calibri" panose="020F0502020204030204" pitchFamily="34" charset="0"/>
                <a:cs typeface="Times New Roman" panose="02020603050405020304" pitchFamily="18" charset="0"/>
              </a:rPr>
              <a:t> was an exponent of this sect.</a:t>
            </a:r>
          </a:p>
          <a:p>
            <a:pPr lvl="1" algn="just">
              <a:spcAft>
                <a:spcPts val="800"/>
              </a:spcAft>
              <a:buSzPts val="1000"/>
              <a:tabLst>
                <a:tab pos="9144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Major Sub-Sects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Mula</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Sangh</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Bisapantha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Terapantha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Taranpantha</a:t>
            </a:r>
            <a:r>
              <a:rPr lang="en-IN" sz="2000" dirty="0">
                <a:latin typeface="Times New Roman" panose="02020603050405020304" pitchFamily="18" charset="0"/>
                <a:ea typeface="Calibri" panose="020F0502020204030204" pitchFamily="34" charset="0"/>
                <a:cs typeface="Times New Roman" panose="02020603050405020304" pitchFamily="18" charset="0"/>
              </a:rPr>
              <a:t> or </a:t>
            </a:r>
            <a:r>
              <a:rPr lang="en-IN" sz="2000" dirty="0" err="1">
                <a:latin typeface="Times New Roman" panose="02020603050405020304" pitchFamily="18" charset="0"/>
                <a:ea typeface="Calibri" panose="020F0502020204030204" pitchFamily="34" charset="0"/>
                <a:cs typeface="Times New Roman" panose="02020603050405020304" pitchFamily="18" charset="0"/>
              </a:rPr>
              <a:t>Samaiyapantha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lvl="1" algn="just">
              <a:spcAft>
                <a:spcPts val="800"/>
              </a:spcAft>
              <a:buSzPts val="1000"/>
              <a:tabLst>
                <a:tab pos="9144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Minor Sub-Sets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Gumanapantha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000" dirty="0" err="1">
                <a:latin typeface="Times New Roman" panose="02020603050405020304" pitchFamily="18" charset="0"/>
                <a:ea typeface="Calibri" panose="020F0502020204030204" pitchFamily="34" charset="0"/>
                <a:cs typeface="Times New Roman" panose="02020603050405020304" pitchFamily="18" charset="0"/>
              </a:rPr>
              <a:t>Totapantha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8527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672393"/>
            <a:ext cx="11220994" cy="5899051"/>
          </a:xfrm>
          <a:prstGeom prst="rect">
            <a:avLst/>
          </a:prstGeom>
        </p:spPr>
        <p:txBody>
          <a:bodyPr wrap="square">
            <a:spAutoFit/>
          </a:bodyPr>
          <a:lstStyle/>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Svetambara</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Monks wear </a:t>
            </a:r>
            <a:r>
              <a:rPr lang="en-IN" sz="2400" b="1" dirty="0">
                <a:latin typeface="Times New Roman" panose="02020603050405020304" pitchFamily="18" charset="0"/>
                <a:ea typeface="Calibri" panose="020F0502020204030204" pitchFamily="34" charset="0"/>
                <a:cs typeface="Times New Roman" panose="02020603050405020304" pitchFamily="18" charset="0"/>
              </a:rPr>
              <a:t>white clothes</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Follow only </a:t>
            </a:r>
            <a:r>
              <a:rPr lang="en-IN" sz="2400" b="1" dirty="0">
                <a:latin typeface="Times New Roman" panose="02020603050405020304" pitchFamily="18" charset="0"/>
                <a:ea typeface="Calibri" panose="020F0502020204030204" pitchFamily="34" charset="0"/>
                <a:cs typeface="Times New Roman" panose="02020603050405020304" pitchFamily="18" charset="0"/>
              </a:rPr>
              <a:t>4 vows (except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brahmacharya</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Believe women can achieve liberation.</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Sthulabhadra</a:t>
            </a:r>
            <a:r>
              <a:rPr lang="en-IN" sz="2400" dirty="0">
                <a:latin typeface="Times New Roman" panose="02020603050405020304" pitchFamily="18" charset="0"/>
                <a:ea typeface="Calibri" panose="020F0502020204030204" pitchFamily="34" charset="0"/>
                <a:cs typeface="Times New Roman" panose="02020603050405020304" pitchFamily="18" charset="0"/>
              </a:rPr>
              <a:t> was an exponent of this sect.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b="1" dirty="0">
                <a:latin typeface="Times New Roman" panose="02020603050405020304" pitchFamily="18" charset="0"/>
                <a:ea typeface="Calibri" panose="020F0502020204030204" pitchFamily="34" charset="0"/>
                <a:cs typeface="Times New Roman" panose="02020603050405020304" pitchFamily="18" charset="0"/>
              </a:rPr>
              <a:t>Major Sub-Sects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50000"/>
              </a:lnSpc>
              <a:spcAft>
                <a:spcPts val="800"/>
              </a:spcAft>
              <a:buSzPts val="1000"/>
              <a:buFont typeface="Symbol" panose="05050102010706020507" pitchFamily="18" charset="2"/>
              <a:buChar char=""/>
              <a:tabLst>
                <a:tab pos="1371600" algn="l"/>
              </a:tabLst>
            </a:pPr>
            <a:r>
              <a:rPr lang="en-IN" sz="2400" dirty="0" err="1">
                <a:latin typeface="Times New Roman" panose="02020603050405020304" pitchFamily="18" charset="0"/>
                <a:ea typeface="Calibri" panose="020F0502020204030204" pitchFamily="34" charset="0"/>
                <a:cs typeface="Times New Roman" panose="02020603050405020304" pitchFamily="18" charset="0"/>
              </a:rPr>
              <a:t>Murtipujaka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50000"/>
              </a:lnSpc>
              <a:spcAft>
                <a:spcPts val="800"/>
              </a:spcAft>
              <a:buSzPts val="1000"/>
              <a:buFont typeface="Symbol" panose="05050102010706020507" pitchFamily="18" charset="2"/>
              <a:buChar char=""/>
              <a:tabLst>
                <a:tab pos="1371600" algn="l"/>
              </a:tabLst>
            </a:pPr>
            <a:r>
              <a:rPr lang="en-IN" sz="2400" dirty="0" err="1">
                <a:latin typeface="Times New Roman" panose="02020603050405020304" pitchFamily="18" charset="0"/>
                <a:ea typeface="Calibri" panose="020F0502020204030204" pitchFamily="34" charset="0"/>
                <a:cs typeface="Times New Roman" panose="02020603050405020304" pitchFamily="18" charset="0"/>
              </a:rPr>
              <a:t>Sthanakvasi</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50000"/>
              </a:lnSpc>
              <a:spcAft>
                <a:spcPts val="800"/>
              </a:spcAft>
              <a:buSzPts val="1000"/>
              <a:buFont typeface="Symbol" panose="05050102010706020507" pitchFamily="18" charset="2"/>
              <a:buChar char=""/>
              <a:tabLst>
                <a:tab pos="1371600" algn="l"/>
              </a:tabLst>
            </a:pPr>
            <a:r>
              <a:rPr lang="en-IN" sz="2400" dirty="0" err="1">
                <a:latin typeface="Times New Roman" panose="02020603050405020304" pitchFamily="18" charset="0"/>
                <a:ea typeface="Calibri" panose="020F0502020204030204" pitchFamily="34" charset="0"/>
                <a:cs typeface="Times New Roman" panose="02020603050405020304" pitchFamily="18" charset="0"/>
              </a:rPr>
              <a:t>Terapanthi</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3654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017" y="493296"/>
            <a:ext cx="11077303" cy="6247864"/>
          </a:xfrm>
          <a:prstGeom prst="rect">
            <a:avLst/>
          </a:prstGeom>
        </p:spPr>
        <p:txBody>
          <a:bodyPr wrap="square">
            <a:spAutoFit/>
          </a:bodyPr>
          <a:lstStyle/>
          <a:p>
            <a:pPr algn="just">
              <a:lnSpc>
                <a:spcPct val="150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Reason for the Spread of Jainism?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err="1">
                <a:latin typeface="Times New Roman" panose="02020603050405020304" pitchFamily="18" charset="0"/>
                <a:ea typeface="Calibri" panose="020F0502020204030204" pitchFamily="34" charset="0"/>
                <a:cs typeface="Times New Roman" panose="02020603050405020304" pitchFamily="18" charset="0"/>
              </a:rPr>
              <a:t>Mahavira</a:t>
            </a:r>
            <a:r>
              <a:rPr lang="en-IN" sz="2400" dirty="0">
                <a:latin typeface="Times New Roman" panose="02020603050405020304" pitchFamily="18" charset="0"/>
                <a:ea typeface="Calibri" panose="020F0502020204030204" pitchFamily="34" charset="0"/>
                <a:cs typeface="Times New Roman" panose="02020603050405020304" pitchFamily="18" charset="0"/>
              </a:rPr>
              <a:t> organised an order of his followers which admitted both men and women.</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Jainism didn’t very clearly mark itself out from the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brahmanical</a:t>
            </a:r>
            <a:r>
              <a:rPr lang="en-IN" sz="2400" dirty="0">
                <a:latin typeface="Times New Roman" panose="02020603050405020304" pitchFamily="18" charset="0"/>
                <a:ea typeface="Calibri" panose="020F0502020204030204" pitchFamily="34" charset="0"/>
                <a:cs typeface="Times New Roman" panose="02020603050405020304" pitchFamily="18" charset="0"/>
              </a:rPr>
              <a:t> religion, therefore it spread gradually into West and South India where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brahmanical</a:t>
            </a:r>
            <a:r>
              <a:rPr lang="en-IN" sz="2400" dirty="0">
                <a:latin typeface="Times New Roman" panose="02020603050405020304" pitchFamily="18" charset="0"/>
                <a:ea typeface="Calibri" panose="020F0502020204030204" pitchFamily="34" charset="0"/>
                <a:cs typeface="Times New Roman" panose="02020603050405020304" pitchFamily="18" charset="0"/>
              </a:rPr>
              <a:t> order was weak.</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The great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Mauryan</a:t>
            </a:r>
            <a:r>
              <a:rPr lang="en-IN" sz="2400" b="1" dirty="0">
                <a:latin typeface="Times New Roman" panose="02020603050405020304" pitchFamily="18" charset="0"/>
                <a:ea typeface="Calibri" panose="020F0502020204030204" pitchFamily="34" charset="0"/>
                <a:cs typeface="Times New Roman" panose="02020603050405020304" pitchFamily="18" charset="0"/>
              </a:rPr>
              <a:t> King Chandragupta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Maurya</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during his last years, became a Jain ascetic and promoted Jainism in </a:t>
            </a:r>
            <a:r>
              <a:rPr lang="en-IN" sz="2400" b="1" dirty="0">
                <a:latin typeface="Times New Roman" panose="02020603050405020304" pitchFamily="18" charset="0"/>
                <a:ea typeface="Calibri" panose="020F0502020204030204" pitchFamily="34" charset="0"/>
                <a:cs typeface="Times New Roman" panose="02020603050405020304" pitchFamily="18" charset="0"/>
              </a:rPr>
              <a:t>Karnataka.</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Famine in Magadha led to the spread of Jainism in South India.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The famine lasted for 12 years, and in order to protect themselves many Jains went to South India under the leadership of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Bhadrabahu</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In Odisha, it enjoyed the patronage of Kalinga King of </a:t>
            </a:r>
            <a:r>
              <a:rPr lang="en-IN" sz="2400" dirty="0" err="1">
                <a:latin typeface="Times New Roman" panose="02020603050405020304" pitchFamily="18" charset="0"/>
                <a:ea typeface="Calibri" panose="020F0502020204030204" pitchFamily="34" charset="0"/>
                <a:cs typeface="Times New Roman" panose="02020603050405020304" pitchFamily="18" charset="0"/>
              </a:rPr>
              <a:t>Kharavela</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6314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7" y="201766"/>
            <a:ext cx="11416936" cy="6596678"/>
          </a:xfrm>
          <a:prstGeom prst="rect">
            <a:avLst/>
          </a:prstGeom>
        </p:spPr>
        <p:txBody>
          <a:bodyPr wrap="square">
            <a:spAutoFit/>
          </a:bodyPr>
          <a:lstStyle/>
          <a:p>
            <a:pPr algn="just">
              <a:lnSpc>
                <a:spcPct val="150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Jain Literature?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Jain literature is classified into two major categories: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u="sng" dirty="0" err="1">
                <a:latin typeface="Times New Roman" panose="02020603050405020304" pitchFamily="18" charset="0"/>
                <a:ea typeface="Calibri" panose="020F0502020204030204" pitchFamily="34" charset="0"/>
                <a:cs typeface="Times New Roman" panose="02020603050405020304" pitchFamily="18" charset="0"/>
              </a:rPr>
              <a:t>Agam</a:t>
            </a:r>
            <a:r>
              <a:rPr lang="en-IN" sz="2400" b="1" u="sng" dirty="0">
                <a:latin typeface="Times New Roman" panose="02020603050405020304" pitchFamily="18" charset="0"/>
                <a:ea typeface="Calibri" panose="020F0502020204030204" pitchFamily="34" charset="0"/>
                <a:cs typeface="Times New Roman" panose="02020603050405020304" pitchFamily="18" charset="0"/>
              </a:rPr>
              <a:t> Literature</a:t>
            </a:r>
            <a:r>
              <a:rPr lang="en-IN" sz="2400" u="sng"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Lord </a:t>
            </a:r>
            <a:r>
              <a:rPr lang="en-IN" sz="2400" dirty="0" err="1">
                <a:latin typeface="Times New Roman" panose="02020603050405020304" pitchFamily="18" charset="0"/>
                <a:ea typeface="Calibri" panose="020F0502020204030204" pitchFamily="34" charset="0"/>
                <a:cs typeface="Times New Roman" panose="02020603050405020304" pitchFamily="18" charset="0"/>
              </a:rPr>
              <a:t>Mahavir's</a:t>
            </a:r>
            <a:r>
              <a:rPr lang="en-IN" sz="2400" dirty="0">
                <a:latin typeface="Times New Roman" panose="02020603050405020304" pitchFamily="18" charset="0"/>
                <a:ea typeface="Calibri" panose="020F0502020204030204" pitchFamily="34" charset="0"/>
                <a:cs typeface="Times New Roman" panose="02020603050405020304" pitchFamily="18" charset="0"/>
              </a:rPr>
              <a:t> preaching was methodically compiled by his followers into many texts. These texts are collectively known as </a:t>
            </a:r>
            <a:r>
              <a:rPr lang="en-IN" sz="2400" dirty="0" err="1">
                <a:latin typeface="Times New Roman" panose="02020603050405020304" pitchFamily="18" charset="0"/>
                <a:ea typeface="Calibri" panose="020F0502020204030204" pitchFamily="34" charset="0"/>
                <a:cs typeface="Times New Roman" panose="02020603050405020304" pitchFamily="18" charset="0"/>
              </a:rPr>
              <a:t>Agams</a:t>
            </a:r>
            <a:r>
              <a:rPr lang="en-IN" sz="2400" dirty="0">
                <a:latin typeface="Times New Roman" panose="02020603050405020304" pitchFamily="18" charset="0"/>
                <a:ea typeface="Calibri" panose="020F0502020204030204" pitchFamily="34" charset="0"/>
                <a:cs typeface="Times New Roman" panose="02020603050405020304" pitchFamily="18" charset="0"/>
              </a:rPr>
              <a:t>, the sacred books of the Jain religion. </a:t>
            </a:r>
            <a:r>
              <a:rPr lang="en-IN" sz="2400" dirty="0" err="1">
                <a:latin typeface="Times New Roman" panose="02020603050405020304" pitchFamily="18" charset="0"/>
                <a:ea typeface="Calibri" panose="020F0502020204030204" pitchFamily="34" charset="0"/>
                <a:cs typeface="Times New Roman" panose="02020603050405020304" pitchFamily="18" charset="0"/>
              </a:rPr>
              <a:t>Agam</a:t>
            </a:r>
            <a:r>
              <a:rPr lang="en-IN" sz="2400" dirty="0">
                <a:latin typeface="Times New Roman" panose="02020603050405020304" pitchFamily="18" charset="0"/>
                <a:ea typeface="Calibri" panose="020F0502020204030204" pitchFamily="34" charset="0"/>
                <a:cs typeface="Times New Roman" panose="02020603050405020304" pitchFamily="18" charset="0"/>
              </a:rPr>
              <a:t> literature is also divided into two groups: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dirty="0" err="1">
                <a:latin typeface="Times New Roman" panose="02020603050405020304" pitchFamily="18" charset="0"/>
                <a:ea typeface="Calibri" panose="020F0502020204030204" pitchFamily="34" charset="0"/>
                <a:cs typeface="Times New Roman" panose="02020603050405020304" pitchFamily="18" charset="0"/>
              </a:rPr>
              <a:t>Ang</a:t>
            </a:r>
            <a:r>
              <a:rPr lang="en-IN" sz="2400" b="1" dirty="0">
                <a:latin typeface="Times New Roman" panose="02020603050405020304" pitchFamily="18" charset="0"/>
                <a:ea typeface="Calibri" panose="020F0502020204030204" pitchFamily="34" charset="0"/>
                <a:cs typeface="Times New Roman" panose="02020603050405020304" pitchFamily="18" charset="0"/>
              </a:rPr>
              <a:t>-agama:</a:t>
            </a:r>
            <a:r>
              <a:rPr lang="en-IN" sz="2400" dirty="0">
                <a:latin typeface="Times New Roman" panose="02020603050405020304" pitchFamily="18" charset="0"/>
                <a:ea typeface="Calibri" panose="020F0502020204030204" pitchFamily="34" charset="0"/>
                <a:cs typeface="Times New Roman" panose="02020603050405020304" pitchFamily="18" charset="0"/>
              </a:rPr>
              <a:t> These texts contain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direct preaching of Lord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Mahavir</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They were </a:t>
            </a:r>
            <a:r>
              <a:rPr lang="en-IN" sz="2400" b="1" dirty="0">
                <a:latin typeface="Times New Roman" panose="02020603050405020304" pitchFamily="18" charset="0"/>
                <a:ea typeface="Calibri" panose="020F0502020204030204" pitchFamily="34" charset="0"/>
                <a:cs typeface="Times New Roman" panose="02020603050405020304" pitchFamily="18" charset="0"/>
              </a:rPr>
              <a:t>compiled by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Ganadharas</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Lord </a:t>
            </a:r>
            <a:r>
              <a:rPr lang="en-IN" sz="2400" dirty="0" err="1">
                <a:latin typeface="Times New Roman" panose="02020603050405020304" pitchFamily="18" charset="0"/>
                <a:ea typeface="Calibri" panose="020F0502020204030204" pitchFamily="34" charset="0"/>
                <a:cs typeface="Times New Roman" panose="02020603050405020304" pitchFamily="18" charset="0"/>
              </a:rPr>
              <a:t>Mahavir's</a:t>
            </a:r>
            <a:r>
              <a:rPr lang="en-IN" sz="2400" dirty="0">
                <a:latin typeface="Times New Roman" panose="02020603050405020304" pitchFamily="18" charset="0"/>
                <a:ea typeface="Calibri" panose="020F0502020204030204" pitchFamily="34" charset="0"/>
                <a:cs typeface="Times New Roman" panose="02020603050405020304" pitchFamily="18" charset="0"/>
              </a:rPr>
              <a:t> immediate disciples were known as </a:t>
            </a:r>
            <a:r>
              <a:rPr lang="en-IN" sz="2400" dirty="0" err="1">
                <a:latin typeface="Times New Roman" panose="02020603050405020304" pitchFamily="18" charset="0"/>
                <a:ea typeface="Calibri" panose="020F0502020204030204" pitchFamily="34" charset="0"/>
                <a:cs typeface="Times New Roman" panose="02020603050405020304" pitchFamily="18" charset="0"/>
              </a:rPr>
              <a:t>Ganadhara</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50000"/>
              </a:lnSpc>
              <a:spcAft>
                <a:spcPts val="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All </a:t>
            </a:r>
            <a:r>
              <a:rPr lang="en-IN" sz="2400" dirty="0" err="1">
                <a:latin typeface="Times New Roman" panose="02020603050405020304" pitchFamily="18" charset="0"/>
                <a:ea typeface="Calibri" panose="020F0502020204030204" pitchFamily="34" charset="0"/>
                <a:cs typeface="Times New Roman" panose="02020603050405020304" pitchFamily="18" charset="0"/>
              </a:rPr>
              <a:t>Ganadharas</a:t>
            </a:r>
            <a:r>
              <a:rPr lang="en-IN" sz="2400" dirty="0">
                <a:latin typeface="Times New Roman" panose="02020603050405020304" pitchFamily="18" charset="0"/>
                <a:ea typeface="Calibri" panose="020F0502020204030204" pitchFamily="34" charset="0"/>
                <a:cs typeface="Times New Roman" panose="02020603050405020304" pitchFamily="18" charset="0"/>
              </a:rPr>
              <a:t> possessed perfect knowledge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keval-gyan</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They orally compiled the direct preaching of Lord </a:t>
            </a:r>
            <a:r>
              <a:rPr lang="en-IN" sz="2400" dirty="0" err="1">
                <a:latin typeface="Times New Roman" panose="02020603050405020304" pitchFamily="18" charset="0"/>
                <a:ea typeface="Calibri" panose="020F0502020204030204" pitchFamily="34" charset="0"/>
                <a:cs typeface="Times New Roman" panose="02020603050405020304" pitchFamily="18" charset="0"/>
              </a:rPr>
              <a:t>Mahavir</a:t>
            </a:r>
            <a:r>
              <a:rPr lang="en-IN" sz="2400" dirty="0">
                <a:latin typeface="Times New Roman" panose="02020603050405020304" pitchFamily="18" charset="0"/>
                <a:ea typeface="Calibri" panose="020F0502020204030204" pitchFamily="34" charset="0"/>
                <a:cs typeface="Times New Roman" panose="02020603050405020304" pitchFamily="18" charset="0"/>
              </a:rPr>
              <a:t> into twelve main texts (sutras). These texts are known as </a:t>
            </a:r>
            <a:r>
              <a:rPr lang="en-IN" sz="2400"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28070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949" y="159714"/>
            <a:ext cx="11482251" cy="6643229"/>
          </a:xfrm>
          <a:prstGeom prst="rect">
            <a:avLst/>
          </a:prstGeom>
        </p:spPr>
        <p:txBody>
          <a:bodyPr wrap="square">
            <a:spAutoFit/>
          </a:bodyPr>
          <a:lstStyle/>
          <a:p>
            <a:pPr algn="just">
              <a:lnSpc>
                <a:spcPct val="150000"/>
              </a:lnSpc>
              <a:spcAft>
                <a:spcPts val="800"/>
              </a:spcAft>
            </a:pPr>
            <a:r>
              <a:rPr lang="en-IN" sz="2200" b="1" dirty="0" err="1">
                <a:latin typeface="Times New Roman" panose="02020603050405020304" pitchFamily="18" charset="0"/>
                <a:ea typeface="Calibri" panose="020F0502020204030204" pitchFamily="34" charset="0"/>
                <a:cs typeface="Times New Roman" panose="02020603050405020304" pitchFamily="18" charset="0"/>
              </a:rPr>
              <a:t>Ang-bahya-agams</a:t>
            </a:r>
            <a:r>
              <a:rPr lang="en-IN" sz="2200" b="1" dirty="0">
                <a:latin typeface="Times New Roman" panose="02020603050405020304" pitchFamily="18" charset="0"/>
                <a:ea typeface="Calibri" panose="020F0502020204030204" pitchFamily="34" charset="0"/>
                <a:cs typeface="Times New Roman" panose="02020603050405020304" pitchFamily="18" charset="0"/>
              </a:rPr>
              <a:t> (outside of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r>
              <a:rPr lang="en-IN" sz="2200" dirty="0">
                <a:latin typeface="Times New Roman" panose="02020603050405020304" pitchFamily="18" charset="0"/>
                <a:ea typeface="Calibri" panose="020F0502020204030204" pitchFamily="34" charset="0"/>
                <a:cs typeface="Times New Roman" panose="02020603050405020304" pitchFamily="18" charset="0"/>
              </a:rPr>
              <a:t>: These texts are expansions of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200" dirty="0">
                <a:latin typeface="Times New Roman" panose="02020603050405020304" pitchFamily="18" charset="0"/>
                <a:ea typeface="Calibri" panose="020F0502020204030204" pitchFamily="34" charset="0"/>
                <a:cs typeface="Times New Roman" panose="02020603050405020304" pitchFamily="18" charset="0"/>
              </a:rPr>
              <a:t>. They were compiled by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Shrutakevalin</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0"/>
              </a:spcAft>
              <a:buSzPts val="1000"/>
              <a:buFont typeface="Wingdings" panose="05000000000000000000" pitchFamily="2" charset="2"/>
              <a:buChar char=""/>
              <a:tabLst>
                <a:tab pos="457200" algn="l"/>
              </a:tabLst>
            </a:pPr>
            <a:r>
              <a:rPr lang="en-IN" sz="2200" dirty="0">
                <a:latin typeface="Times New Roman" panose="02020603050405020304" pitchFamily="18" charset="0"/>
                <a:ea typeface="Calibri" panose="020F0502020204030204" pitchFamily="34" charset="0"/>
                <a:cs typeface="Times New Roman" panose="02020603050405020304" pitchFamily="18" charset="0"/>
              </a:rPr>
              <a:t>Monks who had knowledge of a minimum of ten </a:t>
            </a:r>
            <a:r>
              <a:rPr lang="en-IN" sz="2200" dirty="0" err="1">
                <a:latin typeface="Times New Roman" panose="02020603050405020304" pitchFamily="18" charset="0"/>
                <a:ea typeface="Calibri" panose="020F0502020204030204" pitchFamily="34" charset="0"/>
                <a:cs typeface="Times New Roman" panose="02020603050405020304" pitchFamily="18" charset="0"/>
              </a:rPr>
              <a:t>Purvas</a:t>
            </a:r>
            <a:r>
              <a:rPr lang="en-IN" sz="2200" dirty="0">
                <a:latin typeface="Times New Roman" panose="02020603050405020304" pitchFamily="18" charset="0"/>
                <a:ea typeface="Calibri" panose="020F0502020204030204" pitchFamily="34" charset="0"/>
                <a:cs typeface="Times New Roman" panose="02020603050405020304" pitchFamily="18" charset="0"/>
              </a:rPr>
              <a:t> were known as </a:t>
            </a:r>
            <a:r>
              <a:rPr lang="en-IN" sz="2200" dirty="0" err="1">
                <a:latin typeface="Times New Roman" panose="02020603050405020304" pitchFamily="18" charset="0"/>
                <a:ea typeface="Calibri" panose="020F0502020204030204" pitchFamily="34" charset="0"/>
                <a:cs typeface="Times New Roman" panose="02020603050405020304" pitchFamily="18" charset="0"/>
              </a:rPr>
              <a:t>Shrutakevalin</a:t>
            </a:r>
            <a:r>
              <a:rPr lang="en-IN" sz="2200"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0"/>
              </a:spcAft>
              <a:buSzPts val="1000"/>
              <a:buFont typeface="Wingdings" panose="05000000000000000000" pitchFamily="2" charset="2"/>
              <a:buChar char=""/>
              <a:tabLst>
                <a:tab pos="457200" algn="l"/>
              </a:tabLst>
            </a:pPr>
            <a:r>
              <a:rPr lang="en-IN" sz="2200" dirty="0" err="1">
                <a:latin typeface="Times New Roman" panose="02020603050405020304" pitchFamily="18" charset="0"/>
                <a:ea typeface="Calibri" panose="020F0502020204030204" pitchFamily="34" charset="0"/>
                <a:cs typeface="Times New Roman" panose="02020603050405020304" pitchFamily="18" charset="0"/>
              </a:rPr>
              <a:t>Shrutakevalin</a:t>
            </a:r>
            <a:r>
              <a:rPr lang="en-IN" sz="2200" dirty="0">
                <a:latin typeface="Times New Roman" panose="02020603050405020304" pitchFamily="18" charset="0"/>
                <a:ea typeface="Calibri" panose="020F0502020204030204" pitchFamily="34" charset="0"/>
                <a:cs typeface="Times New Roman" panose="02020603050405020304" pitchFamily="18" charset="0"/>
              </a:rPr>
              <a:t> wrote many texts (sutras) expanding the subject matter defined in the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200" dirty="0">
                <a:latin typeface="Times New Roman" panose="02020603050405020304" pitchFamily="18" charset="0"/>
                <a:ea typeface="Calibri" panose="020F0502020204030204" pitchFamily="34" charset="0"/>
                <a:cs typeface="Times New Roman" panose="02020603050405020304" pitchFamily="18" charset="0"/>
              </a:rPr>
              <a:t>. Collectively these texts are called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Ang-bahya-agams</a:t>
            </a:r>
            <a:r>
              <a:rPr lang="en-IN" sz="2200" dirty="0">
                <a:latin typeface="Times New Roman" panose="02020603050405020304" pitchFamily="18" charset="0"/>
                <a:ea typeface="Calibri" panose="020F0502020204030204" pitchFamily="34" charset="0"/>
                <a:cs typeface="Times New Roman" panose="02020603050405020304" pitchFamily="18" charset="0"/>
              </a:rPr>
              <a:t> meaning outside of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200"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0"/>
              </a:spcAft>
              <a:buSzPts val="1000"/>
              <a:buFont typeface="Wingdings" panose="05000000000000000000" pitchFamily="2" charset="2"/>
              <a:buChar char=""/>
              <a:tabLst>
                <a:tab pos="457200" algn="l"/>
              </a:tabLst>
            </a:pPr>
            <a:r>
              <a:rPr lang="en-IN" sz="2200" dirty="0">
                <a:latin typeface="Times New Roman" panose="02020603050405020304" pitchFamily="18" charset="0"/>
                <a:ea typeface="Calibri" panose="020F0502020204030204" pitchFamily="34" charset="0"/>
                <a:cs typeface="Times New Roman" panose="02020603050405020304" pitchFamily="18" charset="0"/>
              </a:rPr>
              <a:t>The twelfth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Ang-agam</a:t>
            </a:r>
            <a:r>
              <a:rPr lang="en-IN" sz="2200" dirty="0">
                <a:latin typeface="Times New Roman" panose="02020603050405020304" pitchFamily="18" charset="0"/>
                <a:ea typeface="Calibri" panose="020F0502020204030204" pitchFamily="34" charset="0"/>
                <a:cs typeface="Times New Roman" panose="02020603050405020304" pitchFamily="18" charset="0"/>
              </a:rPr>
              <a:t> is called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Drastivad</a:t>
            </a:r>
            <a:r>
              <a:rPr lang="en-IN" sz="2200" dirty="0">
                <a:latin typeface="Times New Roman" panose="02020603050405020304" pitchFamily="18" charset="0"/>
                <a:ea typeface="Calibri" panose="020F0502020204030204" pitchFamily="34" charset="0"/>
                <a:cs typeface="Times New Roman" panose="02020603050405020304" pitchFamily="18" charset="0"/>
              </a:rPr>
              <a:t>. The </a:t>
            </a:r>
            <a:r>
              <a:rPr lang="en-IN" sz="2200" dirty="0" err="1">
                <a:latin typeface="Times New Roman" panose="02020603050405020304" pitchFamily="18" charset="0"/>
                <a:ea typeface="Calibri" panose="020F0502020204030204" pitchFamily="34" charset="0"/>
                <a:cs typeface="Times New Roman" panose="02020603050405020304" pitchFamily="18" charset="0"/>
              </a:rPr>
              <a:t>Drastivad</a:t>
            </a:r>
            <a:r>
              <a:rPr lang="en-IN" sz="2200" dirty="0">
                <a:latin typeface="Times New Roman" panose="02020603050405020304" pitchFamily="18" charset="0"/>
                <a:ea typeface="Calibri" panose="020F0502020204030204" pitchFamily="34" charset="0"/>
                <a:cs typeface="Times New Roman" panose="02020603050405020304" pitchFamily="18" charset="0"/>
              </a:rPr>
              <a:t> consists of fourteen </a:t>
            </a:r>
            <a:r>
              <a:rPr lang="en-IN" sz="2200" dirty="0" err="1">
                <a:latin typeface="Times New Roman" panose="02020603050405020304" pitchFamily="18" charset="0"/>
                <a:ea typeface="Calibri" panose="020F0502020204030204" pitchFamily="34" charset="0"/>
                <a:cs typeface="Times New Roman" panose="02020603050405020304" pitchFamily="18" charset="0"/>
              </a:rPr>
              <a:t>Purva</a:t>
            </a:r>
            <a:r>
              <a:rPr lang="en-IN" sz="2200" dirty="0">
                <a:latin typeface="Times New Roman" panose="02020603050405020304" pitchFamily="18" charset="0"/>
                <a:ea typeface="Calibri" panose="020F0502020204030204" pitchFamily="34" charset="0"/>
                <a:cs typeface="Times New Roman" panose="02020603050405020304" pitchFamily="18" charset="0"/>
              </a:rPr>
              <a:t> texts, also known as </a:t>
            </a:r>
            <a:r>
              <a:rPr lang="en-IN" sz="2200" dirty="0" err="1">
                <a:latin typeface="Times New Roman" panose="02020603050405020304" pitchFamily="18" charset="0"/>
                <a:ea typeface="Calibri" panose="020F0502020204030204" pitchFamily="34" charset="0"/>
                <a:cs typeface="Times New Roman" panose="02020603050405020304" pitchFamily="18" charset="0"/>
              </a:rPr>
              <a:t>Purvas</a:t>
            </a:r>
            <a:r>
              <a:rPr lang="en-IN" sz="2200" dirty="0">
                <a:latin typeface="Times New Roman" panose="02020603050405020304" pitchFamily="18" charset="0"/>
                <a:ea typeface="Calibri" panose="020F0502020204030204" pitchFamily="34" charset="0"/>
                <a:cs typeface="Times New Roman" panose="02020603050405020304" pitchFamily="18" charset="0"/>
              </a:rPr>
              <a:t> or </a:t>
            </a:r>
            <a:r>
              <a:rPr lang="en-IN" sz="2200" dirty="0" err="1">
                <a:latin typeface="Times New Roman" panose="02020603050405020304" pitchFamily="18" charset="0"/>
                <a:ea typeface="Calibri" panose="020F0502020204030204" pitchFamily="34" charset="0"/>
                <a:cs typeface="Times New Roman" panose="02020603050405020304" pitchFamily="18" charset="0"/>
              </a:rPr>
              <a:t>Purva-agams</a:t>
            </a:r>
            <a:r>
              <a:rPr lang="en-IN" sz="2200" dirty="0">
                <a:latin typeface="Times New Roman" panose="02020603050405020304" pitchFamily="18" charset="0"/>
                <a:ea typeface="Calibri" panose="020F0502020204030204" pitchFamily="34" charset="0"/>
                <a:cs typeface="Times New Roman" panose="02020603050405020304" pitchFamily="18" charset="0"/>
              </a:rPr>
              <a:t>. Among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Ang-agams</a:t>
            </a:r>
            <a:r>
              <a:rPr lang="en-IN" sz="2200" dirty="0">
                <a:latin typeface="Times New Roman" panose="02020603050405020304" pitchFamily="18" charset="0"/>
                <a:ea typeface="Calibri" panose="020F0502020204030204" pitchFamily="34" charset="0"/>
                <a:cs typeface="Times New Roman" panose="02020603050405020304" pitchFamily="18" charset="0"/>
              </a:rPr>
              <a:t>, </a:t>
            </a:r>
            <a:r>
              <a:rPr lang="en-IN" sz="2200" dirty="0" err="1">
                <a:latin typeface="Times New Roman" panose="02020603050405020304" pitchFamily="18" charset="0"/>
                <a:ea typeface="Calibri" panose="020F0502020204030204" pitchFamily="34" charset="0"/>
                <a:cs typeface="Times New Roman" panose="02020603050405020304" pitchFamily="18" charset="0"/>
              </a:rPr>
              <a:t>Purvas</a:t>
            </a:r>
            <a:r>
              <a:rPr lang="en-IN" sz="2200" dirty="0">
                <a:latin typeface="Times New Roman" panose="02020603050405020304" pitchFamily="18" charset="0"/>
                <a:ea typeface="Calibri" panose="020F0502020204030204" pitchFamily="34" charset="0"/>
                <a:cs typeface="Times New Roman" panose="02020603050405020304" pitchFamily="18" charset="0"/>
              </a:rPr>
              <a:t> were the </a:t>
            </a:r>
            <a:r>
              <a:rPr lang="en-IN" sz="2200" b="1" dirty="0">
                <a:latin typeface="Times New Roman" panose="02020603050405020304" pitchFamily="18" charset="0"/>
                <a:ea typeface="Calibri" panose="020F0502020204030204" pitchFamily="34" charset="0"/>
                <a:cs typeface="Times New Roman" panose="02020603050405020304" pitchFamily="18" charset="0"/>
              </a:rPr>
              <a:t>oldest sacred </a:t>
            </a:r>
            <a:r>
              <a:rPr lang="en-IN" sz="2200" dirty="0">
                <a:latin typeface="Times New Roman" panose="02020603050405020304" pitchFamily="18" charset="0"/>
                <a:ea typeface="Calibri" panose="020F0502020204030204" pitchFamily="34" charset="0"/>
                <a:cs typeface="Times New Roman" panose="02020603050405020304" pitchFamily="18" charset="0"/>
              </a:rPr>
              <a:t>texts.</a:t>
            </a: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200" dirty="0">
                <a:latin typeface="Times New Roman" panose="02020603050405020304" pitchFamily="18" charset="0"/>
                <a:ea typeface="Calibri" panose="020F0502020204030204" pitchFamily="34" charset="0"/>
                <a:cs typeface="Times New Roman" panose="02020603050405020304" pitchFamily="18" charset="0"/>
              </a:rPr>
              <a:t>They are written in the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Prakrit</a:t>
            </a:r>
            <a:r>
              <a:rPr lang="en-IN" sz="2200" dirty="0">
                <a:latin typeface="Times New Roman" panose="02020603050405020304" pitchFamily="18" charset="0"/>
                <a:ea typeface="Calibri" panose="020F0502020204030204" pitchFamily="34" charset="0"/>
                <a:cs typeface="Times New Roman" panose="02020603050405020304" pitchFamily="18" charset="0"/>
              </a:rPr>
              <a:t> language.</a:t>
            </a:r>
          </a:p>
          <a:p>
            <a:pPr>
              <a:lnSpc>
                <a:spcPct val="150000"/>
              </a:lnSpc>
            </a:pPr>
            <a:r>
              <a:rPr lang="en-IN" sz="2200" b="1" u="sng" dirty="0">
                <a:latin typeface="Times New Roman" panose="02020603050405020304" pitchFamily="18" charset="0"/>
                <a:cs typeface="Times New Roman" panose="02020603050405020304" pitchFamily="18" charset="0"/>
              </a:rPr>
              <a:t>Non-</a:t>
            </a:r>
            <a:r>
              <a:rPr lang="en-IN" sz="2200" b="1" u="sng" dirty="0" err="1">
                <a:latin typeface="Times New Roman" panose="02020603050405020304" pitchFamily="18" charset="0"/>
                <a:cs typeface="Times New Roman" panose="02020603050405020304" pitchFamily="18" charset="0"/>
              </a:rPr>
              <a:t>agam</a:t>
            </a:r>
            <a:r>
              <a:rPr lang="en-IN" sz="2200" b="1" u="sng" dirty="0">
                <a:latin typeface="Times New Roman" panose="02020603050405020304" pitchFamily="18" charset="0"/>
                <a:cs typeface="Times New Roman" panose="02020603050405020304" pitchFamily="18" charset="0"/>
              </a:rPr>
              <a:t> Literature</a:t>
            </a:r>
            <a:r>
              <a:rPr lang="en-IN" sz="2200" b="1" dirty="0">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This consists of commentary and explanation of </a:t>
            </a:r>
            <a:r>
              <a:rPr lang="en-IN" sz="2200" dirty="0" err="1">
                <a:latin typeface="Times New Roman" panose="02020603050405020304" pitchFamily="18" charset="0"/>
                <a:cs typeface="Times New Roman" panose="02020603050405020304" pitchFamily="18" charset="0"/>
              </a:rPr>
              <a:t>Agam</a:t>
            </a:r>
            <a:r>
              <a:rPr lang="en-IN" sz="2200" dirty="0">
                <a:latin typeface="Times New Roman" panose="02020603050405020304" pitchFamily="18" charset="0"/>
                <a:cs typeface="Times New Roman" panose="02020603050405020304" pitchFamily="18" charset="0"/>
              </a:rPr>
              <a:t> literature and independent works, compiled by elder monks, nuns, and scholars.</a:t>
            </a:r>
          </a:p>
          <a:p>
            <a:pPr lvl="0">
              <a:lnSpc>
                <a:spcPct val="150000"/>
              </a:lnSpc>
            </a:pPr>
            <a:r>
              <a:rPr lang="en-IN" sz="2200" b="1" dirty="0">
                <a:latin typeface="Times New Roman" panose="02020603050405020304" pitchFamily="18" charset="0"/>
                <a:cs typeface="Times New Roman" panose="02020603050405020304" pitchFamily="18" charset="0"/>
              </a:rPr>
              <a:t>They are written in many languages such as </a:t>
            </a:r>
            <a:r>
              <a:rPr lang="en-IN" sz="2200" b="1" dirty="0" err="1">
                <a:latin typeface="Times New Roman" panose="02020603050405020304" pitchFamily="18" charset="0"/>
                <a:cs typeface="Times New Roman" panose="02020603050405020304" pitchFamily="18" charset="0"/>
              </a:rPr>
              <a:t>Prakrit</a:t>
            </a:r>
            <a:r>
              <a:rPr lang="en-IN" sz="2200" b="1" dirty="0">
                <a:latin typeface="Times New Roman" panose="02020603050405020304" pitchFamily="18" charset="0"/>
                <a:cs typeface="Times New Roman" panose="02020603050405020304" pitchFamily="18" charset="0"/>
              </a:rPr>
              <a:t>, Sanskrit, Old Marathi, Gujarati, Hindi, </a:t>
            </a:r>
            <a:r>
              <a:rPr lang="en-IN" sz="2200" b="1" dirty="0" err="1">
                <a:latin typeface="Times New Roman" panose="02020603050405020304" pitchFamily="18" charset="0"/>
                <a:cs typeface="Times New Roman" panose="02020603050405020304" pitchFamily="18" charset="0"/>
              </a:rPr>
              <a:t>Kannad</a:t>
            </a:r>
            <a:r>
              <a:rPr lang="en-IN" sz="2200" b="1" dirty="0">
                <a:latin typeface="Times New Roman" panose="02020603050405020304" pitchFamily="18" charset="0"/>
                <a:cs typeface="Times New Roman" panose="02020603050405020304" pitchFamily="18" charset="0"/>
              </a:rPr>
              <a:t>, Tamil, German, and English.</a:t>
            </a:r>
          </a:p>
        </p:txBody>
      </p:sp>
    </p:spTree>
    <p:extLst>
      <p:ext uri="{BB962C8B-B14F-4D97-AF65-F5344CB8AC3E}">
        <p14:creationId xmlns:p14="http://schemas.microsoft.com/office/powerpoint/2010/main" val="1188790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391178"/>
            <a:ext cx="11351623" cy="5900974"/>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Jain Architecture?</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Wingdings" panose="05000000000000000000" pitchFamily="2" charset="2"/>
              <a:buChar char=""/>
              <a:tabLst>
                <a:tab pos="457200" algn="l"/>
              </a:tabLst>
            </a:pPr>
            <a:r>
              <a:rPr lang="en-IN" sz="2000" dirty="0">
                <a:latin typeface="Times New Roman" panose="02020603050405020304" pitchFamily="18" charset="0"/>
                <a:ea typeface="Calibri" panose="020F0502020204030204" pitchFamily="34" charset="0"/>
                <a:cs typeface="Times New Roman" panose="02020603050405020304" pitchFamily="18" charset="0"/>
              </a:rPr>
              <a:t>Jain architecture cannot be accredited with a style of its own, it was almost an offshoot of Hindu and Buddhist styles.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Wingdings" panose="05000000000000000000" pitchFamily="2" charset="2"/>
              <a:buChar char=""/>
              <a:tabLst>
                <a:tab pos="4572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Types of Jain Architecture:</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sz="2000" b="1" u="sng" dirty="0" err="1">
                <a:latin typeface="Times New Roman" panose="02020603050405020304" pitchFamily="18" charset="0"/>
                <a:ea typeface="Calibri" panose="020F0502020204030204" pitchFamily="34" charset="0"/>
                <a:cs typeface="Times New Roman" panose="02020603050405020304" pitchFamily="18" charset="0"/>
              </a:rPr>
              <a:t>Layana</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a:t>
            </a:r>
            <a:r>
              <a:rPr lang="en-IN" sz="2000" b="1" u="sng" dirty="0" err="1">
                <a:latin typeface="Times New Roman" panose="02020603050405020304" pitchFamily="18" charset="0"/>
                <a:ea typeface="Calibri" panose="020F0502020204030204" pitchFamily="34" charset="0"/>
                <a:cs typeface="Times New Roman" panose="02020603050405020304" pitchFamily="18" charset="0"/>
              </a:rPr>
              <a:t>Gumphas</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 (Caves)</a:t>
            </a:r>
            <a:endParaRPr lang="en-IN" u="sng"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Ellora</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Caves (Cave No. 30-35)- Maharashtra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Mangi</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Tungi</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 Maharashtra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Gajapantha</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 Maharashtra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Udayagiri-Khandagiri</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Caves- Odisha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Hathi-gumpha</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 Odisha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Sittanavasal</a:t>
            </a:r>
            <a:r>
              <a:rPr lang="en-IN" sz="2000" b="1" dirty="0">
                <a:latin typeface="Times New Roman" panose="02020603050405020304" pitchFamily="18" charset="0"/>
                <a:ea typeface="Calibri" panose="020F0502020204030204" pitchFamily="34" charset="0"/>
                <a:cs typeface="Times New Roman" panose="02020603050405020304" pitchFamily="18" charset="0"/>
              </a:rPr>
              <a:t> Cave- Tamil Nadu</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r>
              <a:rPr lang="en-IN" sz="2000" b="1" u="sng" dirty="0">
                <a:latin typeface="Times New Roman" panose="02020603050405020304" pitchFamily="18" charset="0"/>
                <a:ea typeface="Calibri" panose="020F0502020204030204" pitchFamily="34" charset="0"/>
                <a:cs typeface="Times New Roman" panose="02020603050405020304" pitchFamily="18" charset="0"/>
              </a:rPr>
              <a:t>Statues</a:t>
            </a:r>
            <a:endParaRPr lang="en-IN" u="sng"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Gometeshwara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Bahubali</a:t>
            </a:r>
            <a:r>
              <a:rPr lang="en-IN" sz="2000" b="1" dirty="0">
                <a:latin typeface="Times New Roman" panose="02020603050405020304" pitchFamily="18" charset="0"/>
                <a:ea typeface="Calibri" panose="020F0502020204030204" pitchFamily="34" charset="0"/>
                <a:cs typeface="Times New Roman" panose="02020603050405020304" pitchFamily="18" charset="0"/>
              </a:rPr>
              <a:t> Statue-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Shravanabelagola</a:t>
            </a:r>
            <a:r>
              <a:rPr lang="en-IN" sz="2000" b="1" dirty="0">
                <a:latin typeface="Times New Roman" panose="02020603050405020304" pitchFamily="18" charset="0"/>
                <a:ea typeface="Calibri" panose="020F0502020204030204" pitchFamily="34" charset="0"/>
                <a:cs typeface="Times New Roman" panose="02020603050405020304" pitchFamily="18" charset="0"/>
              </a:rPr>
              <a:t>, Karnataka</a:t>
            </a:r>
            <a:endParaRPr lang="en-IN" b="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lnSpc>
                <a:spcPct val="107000"/>
              </a:lnSpc>
              <a:spcAft>
                <a:spcPts val="800"/>
              </a:spcAft>
              <a:buSzPts val="1000"/>
              <a:buFont typeface="Symbol" panose="05050102010706020507" pitchFamily="18" charset="2"/>
              <a:buChar char=""/>
              <a:tabLst>
                <a:tab pos="1371600" algn="l"/>
              </a:tabLst>
            </a:pPr>
            <a:r>
              <a:rPr lang="en-IN" sz="2000" b="1" dirty="0">
                <a:latin typeface="Times New Roman" panose="02020603050405020304" pitchFamily="18" charset="0"/>
                <a:ea typeface="Calibri" panose="020F0502020204030204" pitchFamily="34" charset="0"/>
                <a:cs typeface="Times New Roman" panose="02020603050405020304" pitchFamily="18" charset="0"/>
              </a:rPr>
              <a:t>Statue of Ahimsa(</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Rishabnatha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Mangi-Tungi</a:t>
            </a:r>
            <a:r>
              <a:rPr lang="en-IN" sz="2000" b="1" dirty="0">
                <a:latin typeface="Times New Roman" panose="02020603050405020304" pitchFamily="18" charset="0"/>
                <a:ea typeface="Calibri" panose="020F0502020204030204" pitchFamily="34" charset="0"/>
                <a:cs typeface="Times New Roman" panose="02020603050405020304" pitchFamily="18" charset="0"/>
              </a:rPr>
              <a:t> hills, Maharashtra</a:t>
            </a:r>
            <a:endParaRPr lang="en-IN"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9670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440543"/>
            <a:ext cx="11234057" cy="5878532"/>
          </a:xfrm>
          <a:prstGeom prst="rect">
            <a:avLst/>
          </a:prstGeom>
        </p:spPr>
        <p:txBody>
          <a:bodyPr wrap="square">
            <a:spAutoFit/>
          </a:bodyPr>
          <a:lstStyle/>
          <a:p>
            <a:pPr marL="914400" lvl="1" indent="-457200" algn="just">
              <a:lnSpc>
                <a:spcPct val="150000"/>
              </a:lnSpc>
              <a:spcAft>
                <a:spcPts val="800"/>
              </a:spcAft>
              <a:buSzPts val="1000"/>
              <a:buFont typeface="Arial" panose="020B0604020202020204" pitchFamily="34" charset="0"/>
              <a:buChar char="•"/>
              <a:tabLst>
                <a:tab pos="914400" algn="l"/>
              </a:tabLst>
            </a:pPr>
            <a:r>
              <a:rPr lang="en-IN" sz="2800" b="1" u="sng" dirty="0" err="1">
                <a:latin typeface="Times New Roman" panose="02020603050405020304" pitchFamily="18" charset="0"/>
                <a:ea typeface="Calibri" panose="020F0502020204030204" pitchFamily="34" charset="0"/>
                <a:cs typeface="Times New Roman" panose="02020603050405020304" pitchFamily="18" charset="0"/>
              </a:rPr>
              <a:t>Jianalaya</a:t>
            </a:r>
            <a:r>
              <a:rPr lang="en-IN" sz="2800" b="1" u="sng" dirty="0">
                <a:latin typeface="Times New Roman" panose="02020603050405020304" pitchFamily="18" charset="0"/>
                <a:ea typeface="Calibri" panose="020F0502020204030204" pitchFamily="34" charset="0"/>
                <a:cs typeface="Times New Roman" panose="02020603050405020304" pitchFamily="18" charset="0"/>
              </a:rPr>
              <a:t> (Temple)</a:t>
            </a:r>
            <a:endParaRPr lang="en-IN" sz="2400" u="sng"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800" b="1" i="1" dirty="0" err="1">
                <a:latin typeface="Times New Roman" panose="02020603050405020304" pitchFamily="18" charset="0"/>
                <a:ea typeface="Calibri" panose="020F0502020204030204" pitchFamily="34" charset="0"/>
                <a:cs typeface="Times New Roman" panose="02020603050405020304" pitchFamily="18" charset="0"/>
              </a:rPr>
              <a:t>Dilwara</a:t>
            </a:r>
            <a:r>
              <a:rPr lang="en-IN" sz="2800" b="1" i="1" dirty="0">
                <a:latin typeface="Times New Roman" panose="02020603050405020304" pitchFamily="18" charset="0"/>
                <a:ea typeface="Calibri" panose="020F0502020204030204" pitchFamily="34" charset="0"/>
                <a:cs typeface="Times New Roman" panose="02020603050405020304" pitchFamily="18" charset="0"/>
              </a:rPr>
              <a:t> Temple- Mount Abu, Rajasthan</a:t>
            </a:r>
            <a:endParaRPr lang="en-IN" sz="2400" b="1" i="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800" b="1" i="1" dirty="0" err="1">
                <a:latin typeface="Times New Roman" panose="02020603050405020304" pitchFamily="18" charset="0"/>
                <a:ea typeface="Calibri" panose="020F0502020204030204" pitchFamily="34" charset="0"/>
                <a:cs typeface="Times New Roman" panose="02020603050405020304" pitchFamily="18" charset="0"/>
              </a:rPr>
              <a:t>Girnar</a:t>
            </a:r>
            <a:r>
              <a:rPr lang="en-IN" sz="2800" b="1" i="1" dirty="0">
                <a:latin typeface="Times New Roman" panose="02020603050405020304" pitchFamily="18" charset="0"/>
                <a:ea typeface="Calibri" panose="020F0502020204030204" pitchFamily="34" charset="0"/>
                <a:cs typeface="Times New Roman" panose="02020603050405020304" pitchFamily="18" charset="0"/>
              </a:rPr>
              <a:t> and </a:t>
            </a:r>
            <a:r>
              <a:rPr lang="en-IN" sz="2800" b="1" i="1" dirty="0" err="1">
                <a:latin typeface="Times New Roman" panose="02020603050405020304" pitchFamily="18" charset="0"/>
                <a:ea typeface="Calibri" panose="020F0502020204030204" pitchFamily="34" charset="0"/>
                <a:cs typeface="Times New Roman" panose="02020603050405020304" pitchFamily="18" charset="0"/>
              </a:rPr>
              <a:t>Palitana</a:t>
            </a:r>
            <a:r>
              <a:rPr lang="en-IN" sz="2800" b="1" i="1" dirty="0">
                <a:latin typeface="Times New Roman" panose="02020603050405020304" pitchFamily="18" charset="0"/>
                <a:ea typeface="Calibri" panose="020F0502020204030204" pitchFamily="34" charset="0"/>
                <a:cs typeface="Times New Roman" panose="02020603050405020304" pitchFamily="18" charset="0"/>
              </a:rPr>
              <a:t> Temple- Gujarat</a:t>
            </a:r>
            <a:endParaRPr lang="en-IN" sz="2400" b="1" i="1" dirty="0">
              <a:latin typeface="Times New Roman" panose="02020603050405020304" pitchFamily="18" charset="0"/>
              <a:ea typeface="Calibri" panose="020F0502020204030204" pitchFamily="34" charset="0"/>
              <a:cs typeface="Times New Roman" panose="02020603050405020304" pitchFamily="18" charset="0"/>
            </a:endParaRPr>
          </a:p>
          <a:p>
            <a:pPr marL="1143000" lvl="2" indent="-228600" algn="just">
              <a:spcAft>
                <a:spcPts val="800"/>
              </a:spcAft>
              <a:buSzPts val="1000"/>
              <a:buFont typeface="Symbol" panose="05050102010706020507" pitchFamily="18" charset="2"/>
              <a:buChar char=""/>
              <a:tabLst>
                <a:tab pos="1371600" algn="l"/>
              </a:tabLst>
            </a:pPr>
            <a:r>
              <a:rPr lang="en-IN" sz="2800" b="1" i="1" dirty="0" err="1">
                <a:latin typeface="Times New Roman" panose="02020603050405020304" pitchFamily="18" charset="0"/>
                <a:ea typeface="Calibri" panose="020F0502020204030204" pitchFamily="34" charset="0"/>
                <a:cs typeface="Times New Roman" panose="02020603050405020304" pitchFamily="18" charset="0"/>
              </a:rPr>
              <a:t>Muktagiri</a:t>
            </a:r>
            <a:r>
              <a:rPr lang="en-IN" sz="2800" b="1" i="1" dirty="0">
                <a:latin typeface="Times New Roman" panose="02020603050405020304" pitchFamily="18" charset="0"/>
                <a:ea typeface="Calibri" panose="020F0502020204030204" pitchFamily="34" charset="0"/>
                <a:cs typeface="Times New Roman" panose="02020603050405020304" pitchFamily="18" charset="0"/>
              </a:rPr>
              <a:t> Temple- Maharashtra</a:t>
            </a:r>
            <a:endParaRPr lang="en-IN" sz="2400" b="1" i="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Note</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800" b="1" u="sng" dirty="0" err="1">
                <a:latin typeface="Times New Roman" panose="02020603050405020304" pitchFamily="18" charset="0"/>
                <a:ea typeface="Calibri" panose="020F0502020204030204" pitchFamily="34" charset="0"/>
                <a:cs typeface="Times New Roman" panose="02020603050405020304" pitchFamily="18" charset="0"/>
              </a:rPr>
              <a:t>Manastambha</a:t>
            </a:r>
            <a:r>
              <a:rPr lang="en-IN" sz="2800" b="1" u="sng" dirty="0">
                <a:latin typeface="Times New Roman" panose="02020603050405020304" pitchFamily="18" charset="0"/>
                <a:ea typeface="Calibri" panose="020F0502020204030204" pitchFamily="34" charset="0"/>
                <a:cs typeface="Times New Roman" panose="02020603050405020304" pitchFamily="18" charset="0"/>
              </a:rPr>
              <a:t>:</a:t>
            </a:r>
            <a:r>
              <a:rPr lang="en-IN" sz="2800" dirty="0">
                <a:latin typeface="Times New Roman" panose="02020603050405020304" pitchFamily="18" charset="0"/>
                <a:ea typeface="Calibri" panose="020F0502020204030204" pitchFamily="34" charset="0"/>
                <a:cs typeface="Times New Roman" panose="02020603050405020304" pitchFamily="18" charset="0"/>
              </a:rPr>
              <a:t> It is found in the front side of the temple, having religious importance with an ornamental pillar structure carrying the image of </a:t>
            </a:r>
            <a:r>
              <a:rPr lang="en-IN" sz="2800" dirty="0" err="1">
                <a:latin typeface="Times New Roman" panose="02020603050405020304" pitchFamily="18" charset="0"/>
                <a:ea typeface="Calibri" panose="020F0502020204030204" pitchFamily="34" charset="0"/>
                <a:cs typeface="Times New Roman" panose="02020603050405020304" pitchFamily="18" charset="0"/>
              </a:rPr>
              <a:t>Tirthankar</a:t>
            </a:r>
            <a:r>
              <a:rPr lang="en-IN" sz="2800" dirty="0">
                <a:latin typeface="Times New Roman" panose="02020603050405020304" pitchFamily="18" charset="0"/>
                <a:ea typeface="Calibri" panose="020F0502020204030204" pitchFamily="34" charset="0"/>
                <a:cs typeface="Times New Roman" panose="02020603050405020304" pitchFamily="18" charset="0"/>
              </a:rPr>
              <a:t> on top and on all four cardinal directions.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800" b="1" dirty="0" err="1">
                <a:latin typeface="Times New Roman" panose="02020603050405020304" pitchFamily="18" charset="0"/>
                <a:ea typeface="Calibri" panose="020F0502020204030204" pitchFamily="34" charset="0"/>
                <a:cs typeface="Times New Roman" panose="02020603050405020304" pitchFamily="18" charset="0"/>
              </a:rPr>
              <a:t>Basadis</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r>
              <a:rPr lang="en-IN" sz="2800" dirty="0">
                <a:latin typeface="Times New Roman" panose="02020603050405020304" pitchFamily="18" charset="0"/>
                <a:ea typeface="Calibri" panose="020F0502020204030204" pitchFamily="34" charset="0"/>
                <a:cs typeface="Times New Roman" panose="02020603050405020304" pitchFamily="18" charset="0"/>
              </a:rPr>
              <a:t> Jain monastic establishment or temples in Karnataka.</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0742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949" y="377703"/>
            <a:ext cx="11429999" cy="5755422"/>
          </a:xfrm>
          <a:prstGeom prst="rect">
            <a:avLst/>
          </a:prstGeom>
        </p:spPr>
        <p:txBody>
          <a:bodyPr wrap="square">
            <a:spAutoFit/>
          </a:bodyPr>
          <a:lstStyle/>
          <a:p>
            <a:pPr algn="just">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Relevance of Jain Ideology in Today’s World?</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Wingdings" panose="05000000000000000000" pitchFamily="2" charset="2"/>
              <a:buChar char=""/>
              <a:tabLst>
                <a:tab pos="457200" algn="l"/>
              </a:tabLst>
            </a:pPr>
            <a:r>
              <a:rPr lang="en-IN" sz="2800" b="1" dirty="0">
                <a:latin typeface="Times New Roman" panose="02020603050405020304" pitchFamily="18" charset="0"/>
                <a:ea typeface="Calibri" panose="020F0502020204030204" pitchFamily="34" charset="0"/>
                <a:cs typeface="Times New Roman" panose="02020603050405020304" pitchFamily="18" charset="0"/>
              </a:rPr>
              <a:t>Contribution of Jainism:</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Attempts to reform the evils of </a:t>
            </a:r>
            <a:r>
              <a:rPr lang="en-IN" sz="2800" dirty="0" err="1">
                <a:latin typeface="Times New Roman" panose="02020603050405020304" pitchFamily="18" charset="0"/>
                <a:ea typeface="Calibri" panose="020F0502020204030204" pitchFamily="34" charset="0"/>
                <a:cs typeface="Times New Roman" panose="02020603050405020304" pitchFamily="18" charset="0"/>
              </a:rPr>
              <a:t>varna</a:t>
            </a:r>
            <a:r>
              <a:rPr lang="en-IN" sz="2800" dirty="0">
                <a:latin typeface="Times New Roman" panose="02020603050405020304" pitchFamily="18" charset="0"/>
                <a:ea typeface="Calibri" panose="020F0502020204030204" pitchFamily="34" charset="0"/>
                <a:cs typeface="Times New Roman" panose="02020603050405020304" pitchFamily="18" charset="0"/>
              </a:rPr>
              <a:t> order.</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Growth of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Prakrit</a:t>
            </a:r>
            <a:r>
              <a:rPr lang="en-IN" sz="2800" b="1" dirty="0">
                <a:latin typeface="Times New Roman" panose="02020603050405020304" pitchFamily="18" charset="0"/>
                <a:ea typeface="Calibri" panose="020F0502020204030204" pitchFamily="34" charset="0"/>
                <a:cs typeface="Times New Roman" panose="02020603050405020304" pitchFamily="18" charset="0"/>
              </a:rPr>
              <a:t> and Kannada.</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Contributed to architecture and literature immensely.</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spcAft>
                <a:spcPts val="800"/>
              </a:spcAft>
              <a:buSzPts val="1000"/>
              <a:buFont typeface="Wingdings" panose="05000000000000000000" pitchFamily="2" charset="2"/>
              <a:buChar char=""/>
              <a:tabLst>
                <a:tab pos="4572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The Jain theory of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Anekantavada</a:t>
            </a:r>
            <a:r>
              <a:rPr lang="en-IN" sz="2800" dirty="0">
                <a:latin typeface="Times New Roman" panose="02020603050405020304" pitchFamily="18" charset="0"/>
                <a:ea typeface="Calibri" panose="020F0502020204030204" pitchFamily="34" charset="0"/>
                <a:cs typeface="Times New Roman" panose="02020603050405020304" pitchFamily="18" charset="0"/>
              </a:rPr>
              <a:t> translated into practical terms in social context would mean three principles: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Absence of dogmatism or fanaticism</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Honouring the freedom of others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Peaceful coexistence and cooperation</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r>
              <a:rPr lang="en-IN" sz="2800" b="1" dirty="0">
                <a:latin typeface="Times New Roman" panose="02020603050405020304" pitchFamily="18" charset="0"/>
                <a:ea typeface="Calibri" panose="020F0502020204030204" pitchFamily="34" charset="0"/>
                <a:cs typeface="Times New Roman" panose="02020603050405020304" pitchFamily="18" charset="0"/>
              </a:rPr>
              <a:t>It brings the spirit of intellectual and social tolerance.</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5383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137" y="368845"/>
            <a:ext cx="11234057" cy="6217087"/>
          </a:xfrm>
          <a:prstGeom prst="rect">
            <a:avLst/>
          </a:prstGeom>
        </p:spPr>
        <p:txBody>
          <a:bodyPr wrap="square">
            <a:spAutoFit/>
          </a:bodyPr>
          <a:lstStyle/>
          <a:p>
            <a:pPr marL="342900" lvl="0" indent="-342900" algn="just">
              <a:lnSpc>
                <a:spcPct val="150000"/>
              </a:lnSpc>
              <a:spcAft>
                <a:spcPts val="800"/>
              </a:spcAft>
              <a:buSzPts val="1000"/>
              <a:buFont typeface="Wingdings" panose="05000000000000000000" pitchFamily="2" charset="2"/>
              <a:buChar char=""/>
              <a:tabLst>
                <a:tab pos="4572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principle of Ahimsa(non-violence)</a:t>
            </a:r>
            <a:r>
              <a:rPr lang="en-IN" sz="2800" dirty="0">
                <a:latin typeface="Times New Roman" panose="02020603050405020304" pitchFamily="18" charset="0"/>
                <a:ea typeface="Calibri" panose="020F0502020204030204" pitchFamily="34" charset="0"/>
                <a:cs typeface="Times New Roman" panose="02020603050405020304" pitchFamily="18" charset="0"/>
              </a:rPr>
              <a:t> gains prominence in today’s nuclear world to attain long lasting peace in the society.</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The concept of </a:t>
            </a:r>
            <a:r>
              <a:rPr lang="en-IN" sz="2800" b="1" dirty="0">
                <a:latin typeface="Times New Roman" panose="02020603050405020304" pitchFamily="18" charset="0"/>
                <a:ea typeface="Calibri" panose="020F0502020204030204" pitchFamily="34" charset="0"/>
                <a:cs typeface="Times New Roman" panose="02020603050405020304" pitchFamily="18" charset="0"/>
              </a:rPr>
              <a:t>Ahimsa</a:t>
            </a:r>
            <a:r>
              <a:rPr lang="en-IN" sz="2800" dirty="0">
                <a:latin typeface="Times New Roman" panose="02020603050405020304" pitchFamily="18" charset="0"/>
                <a:ea typeface="Calibri" panose="020F0502020204030204" pitchFamily="34" charset="0"/>
                <a:cs typeface="Times New Roman" panose="02020603050405020304" pitchFamily="18" charset="0"/>
              </a:rPr>
              <a:t> can also help to counter growing violence and terrorism.</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Wingdings" panose="05000000000000000000" pitchFamily="2" charset="2"/>
              <a:buChar char=""/>
              <a:tabLst>
                <a:tab pos="4572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The principle of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Aparigraha</a:t>
            </a:r>
            <a:r>
              <a:rPr lang="en-IN" sz="2800" dirty="0">
                <a:latin typeface="Times New Roman" panose="02020603050405020304" pitchFamily="18" charset="0"/>
                <a:ea typeface="Calibri" panose="020F0502020204030204" pitchFamily="34" charset="0"/>
                <a:cs typeface="Times New Roman" panose="02020603050405020304" pitchFamily="18" charset="0"/>
              </a:rPr>
              <a:t> (non-possession) can help to control consumerist habits as there is great increase in greed and possessive tendencies.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50000"/>
              </a:lnSpc>
              <a:spcAft>
                <a:spcPts val="800"/>
              </a:spcAft>
              <a:buSzPts val="1000"/>
              <a:buFont typeface="Courier New" panose="02070309020205020404" pitchFamily="49" charset="0"/>
              <a:buChar char="o"/>
              <a:tabLst>
                <a:tab pos="914400" algn="l"/>
              </a:tabLst>
            </a:pPr>
            <a:r>
              <a:rPr lang="en-IN" sz="2800" dirty="0">
                <a:latin typeface="Times New Roman" panose="02020603050405020304" pitchFamily="18" charset="0"/>
                <a:ea typeface="Calibri" panose="020F0502020204030204" pitchFamily="34" charset="0"/>
                <a:cs typeface="Times New Roman" panose="02020603050405020304" pitchFamily="18" charset="0"/>
              </a:rPr>
              <a:t>Global warming also can be healed with this thought by doing away with unwanted luxuries, which produce carbon emissions</a:t>
            </a:r>
            <a:r>
              <a:rPr lang="en-IN" sz="1200" dirty="0">
                <a:latin typeface="Times New Roman" panose="02020603050405020304" pitchFamily="18" charset="0"/>
                <a:ea typeface="Calibri" panose="020F0502020204030204" pitchFamily="34" charset="0"/>
                <a:cs typeface="Times New Roman" panose="02020603050405020304" pitchFamily="18"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166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007" y="198768"/>
            <a:ext cx="11678194" cy="6575518"/>
          </a:xfrm>
          <a:prstGeom prst="rect">
            <a:avLst/>
          </a:prstGeom>
        </p:spPr>
        <p:txBody>
          <a:bodyPr wrap="square">
            <a:spAutoFit/>
          </a:bodyPr>
          <a:lstStyle/>
          <a:p>
            <a:pPr algn="ctr">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Buddhism in India</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50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Origin</a:t>
            </a:r>
            <a:endParaRPr lang="en-IN" sz="16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Buddhism started in India over 2,600 years ago as a way life that had a </a:t>
            </a:r>
            <a:r>
              <a:rPr lang="en-IN" b="1" dirty="0">
                <a:latin typeface="Times New Roman" panose="02020603050405020304" pitchFamily="18" charset="0"/>
                <a:ea typeface="Calibri" panose="020F0502020204030204" pitchFamily="34" charset="0"/>
                <a:cs typeface="Mangal"/>
              </a:rPr>
              <a:t>potential of transforming a person</a:t>
            </a:r>
            <a:r>
              <a:rPr lang="en-IN" dirty="0">
                <a:latin typeface="Times New Roman" panose="02020603050405020304" pitchFamily="18" charset="0"/>
                <a:ea typeface="Calibri" panose="020F0502020204030204" pitchFamily="34" charset="0"/>
                <a:cs typeface="Mangal"/>
              </a:rPr>
              <a:t>.</a:t>
            </a:r>
            <a:endParaRPr lang="en-IN" sz="1600"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It is one of the important </a:t>
            </a:r>
            <a:r>
              <a:rPr lang="en-IN" b="1" dirty="0">
                <a:latin typeface="Times New Roman" panose="02020603050405020304" pitchFamily="18" charset="0"/>
                <a:ea typeface="Calibri" panose="020F0502020204030204" pitchFamily="34" charset="0"/>
                <a:cs typeface="Mangal"/>
              </a:rPr>
              <a:t>religions of South and South-Eastern Asian countries.</a:t>
            </a:r>
            <a:endParaRPr lang="en-IN" sz="1600" b="1"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The religion is based upon the </a:t>
            </a:r>
            <a:r>
              <a:rPr lang="en-IN" b="1" dirty="0">
                <a:latin typeface="Times New Roman" panose="02020603050405020304" pitchFamily="18" charset="0"/>
                <a:ea typeface="Calibri" panose="020F0502020204030204" pitchFamily="34" charset="0"/>
                <a:cs typeface="Mangal"/>
              </a:rPr>
              <a:t>teachings, life experiences</a:t>
            </a:r>
            <a:r>
              <a:rPr lang="en-IN" dirty="0">
                <a:latin typeface="Times New Roman" panose="02020603050405020304" pitchFamily="18" charset="0"/>
                <a:ea typeface="Calibri" panose="020F0502020204030204" pitchFamily="34" charset="0"/>
                <a:cs typeface="Mangal"/>
              </a:rPr>
              <a:t> of its founder </a:t>
            </a:r>
            <a:r>
              <a:rPr lang="en-IN" b="1" u="sng" dirty="0">
                <a:latin typeface="Times New Roman" panose="02020603050405020304" pitchFamily="18" charset="0"/>
                <a:ea typeface="Calibri" panose="020F0502020204030204" pitchFamily="34" charset="0"/>
                <a:cs typeface="Mangal"/>
              </a:rPr>
              <a:t>Siddhartha</a:t>
            </a:r>
            <a:r>
              <a:rPr lang="en-IN" sz="1600" u="sng" dirty="0">
                <a:latin typeface="Calibri" panose="020F0502020204030204" pitchFamily="34" charset="0"/>
                <a:ea typeface="Calibri" panose="020F0502020204030204" pitchFamily="34" charset="0"/>
                <a:cs typeface="Mangal"/>
              </a:rPr>
              <a:t> </a:t>
            </a:r>
            <a:r>
              <a:rPr lang="en-IN" b="1" u="sng" dirty="0" err="1">
                <a:latin typeface="Times New Roman" panose="02020603050405020304" pitchFamily="18" charset="0"/>
                <a:ea typeface="Calibri" panose="020F0502020204030204" pitchFamily="34" charset="0"/>
                <a:cs typeface="Mangal"/>
              </a:rPr>
              <a:t>Gautam</a:t>
            </a:r>
            <a:r>
              <a:rPr lang="en-IN" b="1" u="sng" dirty="0">
                <a:latin typeface="Times New Roman" panose="02020603050405020304" pitchFamily="18" charset="0"/>
                <a:ea typeface="Calibri" panose="020F0502020204030204" pitchFamily="34" charset="0"/>
                <a:cs typeface="Mangal"/>
              </a:rPr>
              <a:t>, </a:t>
            </a:r>
            <a:r>
              <a:rPr lang="en-IN" b="1" dirty="0">
                <a:latin typeface="Times New Roman" panose="02020603050405020304" pitchFamily="18" charset="0"/>
                <a:ea typeface="Calibri" panose="020F0502020204030204" pitchFamily="34" charset="0"/>
                <a:cs typeface="Mangal"/>
              </a:rPr>
              <a:t>born in 563 BCE.</a:t>
            </a:r>
            <a:endParaRPr lang="en-IN" sz="1600"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He was born into </a:t>
            </a:r>
            <a:r>
              <a:rPr lang="en-IN" b="1" dirty="0">
                <a:latin typeface="Times New Roman" panose="02020603050405020304" pitchFamily="18" charset="0"/>
                <a:ea typeface="Calibri" panose="020F0502020204030204" pitchFamily="34" charset="0"/>
                <a:cs typeface="Mangal"/>
              </a:rPr>
              <a:t>royal family </a:t>
            </a:r>
            <a:r>
              <a:rPr lang="en-IN" dirty="0">
                <a:latin typeface="Times New Roman" panose="02020603050405020304" pitchFamily="18" charset="0"/>
                <a:ea typeface="Calibri" panose="020F0502020204030204" pitchFamily="34" charset="0"/>
                <a:cs typeface="Mangal"/>
              </a:rPr>
              <a:t>of </a:t>
            </a:r>
            <a:r>
              <a:rPr lang="en-IN" b="1" dirty="0" err="1">
                <a:latin typeface="Times New Roman" panose="02020603050405020304" pitchFamily="18" charset="0"/>
                <a:ea typeface="Calibri" panose="020F0502020204030204" pitchFamily="34" charset="0"/>
                <a:cs typeface="Mangal"/>
              </a:rPr>
              <a:t>Sakya</a:t>
            </a:r>
            <a:r>
              <a:rPr lang="en-IN" b="1" dirty="0">
                <a:latin typeface="Times New Roman" panose="02020603050405020304" pitchFamily="18" charset="0"/>
                <a:ea typeface="Calibri" panose="020F0502020204030204" pitchFamily="34" charset="0"/>
                <a:cs typeface="Mangal"/>
              </a:rPr>
              <a:t> clan </a:t>
            </a:r>
            <a:r>
              <a:rPr lang="en-IN" dirty="0">
                <a:latin typeface="Times New Roman" panose="02020603050405020304" pitchFamily="18" charset="0"/>
                <a:ea typeface="Calibri" panose="020F0502020204030204" pitchFamily="34" charset="0"/>
                <a:cs typeface="Mangal"/>
              </a:rPr>
              <a:t>who ruled from </a:t>
            </a:r>
            <a:r>
              <a:rPr lang="en-IN" b="1" dirty="0" err="1">
                <a:latin typeface="Times New Roman" panose="02020603050405020304" pitchFamily="18" charset="0"/>
                <a:ea typeface="Calibri" panose="020F0502020204030204" pitchFamily="34" charset="0"/>
                <a:cs typeface="Mangal"/>
              </a:rPr>
              <a:t>Kapilvastu</a:t>
            </a:r>
            <a:r>
              <a:rPr lang="en-IN" b="1" dirty="0">
                <a:latin typeface="Times New Roman" panose="02020603050405020304" pitchFamily="18" charset="0"/>
                <a:ea typeface="Calibri" panose="020F0502020204030204" pitchFamily="34" charset="0"/>
                <a:cs typeface="Mangal"/>
              </a:rPr>
              <a:t>, in </a:t>
            </a:r>
            <a:r>
              <a:rPr lang="en-IN" b="1" dirty="0" err="1">
                <a:latin typeface="Times New Roman" panose="02020603050405020304" pitchFamily="18" charset="0"/>
                <a:ea typeface="Calibri" panose="020F0502020204030204" pitchFamily="34" charset="0"/>
                <a:cs typeface="Mangal"/>
              </a:rPr>
              <a:t>Lumbini</a:t>
            </a:r>
            <a:r>
              <a:rPr lang="en-IN" sz="1600" b="1" dirty="0">
                <a:latin typeface="Calibri" panose="020F0502020204030204" pitchFamily="34" charset="0"/>
                <a:ea typeface="Calibri" panose="020F0502020204030204" pitchFamily="34" charset="0"/>
                <a:cs typeface="Mangal"/>
              </a:rPr>
              <a:t> </a:t>
            </a:r>
            <a:r>
              <a:rPr lang="en-IN" dirty="0">
                <a:latin typeface="Times New Roman" panose="02020603050405020304" pitchFamily="18" charset="0"/>
                <a:ea typeface="Calibri" panose="020F0502020204030204" pitchFamily="34" charset="0"/>
                <a:cs typeface="Mangal"/>
              </a:rPr>
              <a:t>which is situated near the </a:t>
            </a:r>
            <a:r>
              <a:rPr lang="en-IN" b="1" dirty="0">
                <a:latin typeface="Times New Roman" panose="02020603050405020304" pitchFamily="18" charset="0"/>
                <a:ea typeface="Calibri" panose="020F0502020204030204" pitchFamily="34" charset="0"/>
                <a:cs typeface="Mangal"/>
              </a:rPr>
              <a:t>Indo-Nepal Border.</a:t>
            </a:r>
            <a:endParaRPr lang="en-IN" sz="1600" b="1"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At the </a:t>
            </a:r>
            <a:r>
              <a:rPr lang="en-IN" b="1" dirty="0">
                <a:latin typeface="Times New Roman" panose="02020603050405020304" pitchFamily="18" charset="0"/>
                <a:ea typeface="Calibri" panose="020F0502020204030204" pitchFamily="34" charset="0"/>
                <a:cs typeface="Mangal"/>
              </a:rPr>
              <a:t>age of 29, Gautama left home </a:t>
            </a:r>
            <a:r>
              <a:rPr lang="en-IN" dirty="0">
                <a:latin typeface="Times New Roman" panose="02020603050405020304" pitchFamily="18" charset="0"/>
                <a:ea typeface="Calibri" panose="020F0502020204030204" pitchFamily="34" charset="0"/>
                <a:cs typeface="Mangal"/>
              </a:rPr>
              <a:t>and rejected his life of riches and embraced a lifestyle of asceticism, or extreme self-discipline.</a:t>
            </a:r>
            <a:endParaRPr lang="en-IN" sz="1600"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After 49 consecutive days of meditation, </a:t>
            </a:r>
            <a:r>
              <a:rPr lang="en-IN" b="1" dirty="0">
                <a:latin typeface="Times New Roman" panose="02020603050405020304" pitchFamily="18" charset="0"/>
                <a:ea typeface="Calibri" panose="020F0502020204030204" pitchFamily="34" charset="0"/>
                <a:cs typeface="Mangal"/>
              </a:rPr>
              <a:t>Gautama attained Bodhi (enlightenment)</a:t>
            </a:r>
            <a:r>
              <a:rPr lang="en-IN" sz="1600" b="1" dirty="0">
                <a:latin typeface="Calibri" panose="020F0502020204030204" pitchFamily="34" charset="0"/>
                <a:ea typeface="Calibri" panose="020F0502020204030204" pitchFamily="34" charset="0"/>
                <a:cs typeface="Mangal"/>
              </a:rPr>
              <a:t> </a:t>
            </a:r>
            <a:r>
              <a:rPr lang="en-IN" b="1" dirty="0">
                <a:latin typeface="Times New Roman" panose="02020603050405020304" pitchFamily="18" charset="0"/>
                <a:ea typeface="Calibri" panose="020F0502020204030204" pitchFamily="34" charset="0"/>
                <a:cs typeface="Mangal"/>
              </a:rPr>
              <a:t>under a </a:t>
            </a:r>
            <a:r>
              <a:rPr lang="en-IN" b="1" dirty="0" err="1">
                <a:latin typeface="Times New Roman" panose="02020603050405020304" pitchFamily="18" charset="0"/>
                <a:ea typeface="Calibri" panose="020F0502020204030204" pitchFamily="34" charset="0"/>
                <a:cs typeface="Mangal"/>
              </a:rPr>
              <a:t>pipal</a:t>
            </a:r>
            <a:r>
              <a:rPr lang="en-IN" b="1" dirty="0">
                <a:latin typeface="Times New Roman" panose="02020603050405020304" pitchFamily="18" charset="0"/>
                <a:ea typeface="Calibri" panose="020F0502020204030204" pitchFamily="34" charset="0"/>
                <a:cs typeface="Mangal"/>
              </a:rPr>
              <a:t> tree at Bodhgaya a village in Bihar.</a:t>
            </a:r>
            <a:endParaRPr lang="en-IN" sz="1600" b="1"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Buddha gave his </a:t>
            </a:r>
            <a:r>
              <a:rPr lang="en-IN" b="1" u="sng" dirty="0">
                <a:latin typeface="Times New Roman" panose="02020603050405020304" pitchFamily="18" charset="0"/>
                <a:ea typeface="Calibri" panose="020F0502020204030204" pitchFamily="34" charset="0"/>
                <a:cs typeface="Mangal"/>
              </a:rPr>
              <a:t>first sermon in the village of </a:t>
            </a:r>
            <a:r>
              <a:rPr lang="en-IN" b="1" u="sng" dirty="0" err="1">
                <a:latin typeface="Times New Roman" panose="02020603050405020304" pitchFamily="18" charset="0"/>
                <a:ea typeface="Calibri" panose="020F0502020204030204" pitchFamily="34" charset="0"/>
                <a:cs typeface="Mangal"/>
              </a:rPr>
              <a:t>Sarnath</a:t>
            </a:r>
            <a:r>
              <a:rPr lang="en-IN" b="1" u="sng" dirty="0">
                <a:latin typeface="Times New Roman" panose="02020603050405020304" pitchFamily="18" charset="0"/>
                <a:ea typeface="Calibri" panose="020F0502020204030204" pitchFamily="34" charset="0"/>
                <a:cs typeface="Mangal"/>
              </a:rPr>
              <a:t>, </a:t>
            </a:r>
            <a:r>
              <a:rPr lang="en-IN" b="1" dirty="0">
                <a:latin typeface="Times New Roman" panose="02020603050405020304" pitchFamily="18" charset="0"/>
                <a:ea typeface="Calibri" panose="020F0502020204030204" pitchFamily="34" charset="0"/>
                <a:cs typeface="Mangal"/>
              </a:rPr>
              <a:t>near the city of </a:t>
            </a:r>
            <a:r>
              <a:rPr lang="en-IN" b="1" dirty="0" err="1">
                <a:latin typeface="Times New Roman" panose="02020603050405020304" pitchFamily="18" charset="0"/>
                <a:ea typeface="Calibri" panose="020F0502020204030204" pitchFamily="34" charset="0"/>
                <a:cs typeface="Mangal"/>
              </a:rPr>
              <a:t>Benaras</a:t>
            </a:r>
            <a:r>
              <a:rPr lang="en-IN" b="1" dirty="0">
                <a:latin typeface="Times New Roman" panose="02020603050405020304" pitchFamily="18" charset="0"/>
                <a:ea typeface="Calibri" panose="020F0502020204030204" pitchFamily="34" charset="0"/>
                <a:cs typeface="Mangal"/>
              </a:rPr>
              <a:t> </a:t>
            </a:r>
            <a:r>
              <a:rPr lang="en-IN" dirty="0">
                <a:latin typeface="Times New Roman" panose="02020603050405020304" pitchFamily="18" charset="0"/>
                <a:ea typeface="Calibri" panose="020F0502020204030204" pitchFamily="34" charset="0"/>
                <a:cs typeface="Mangal"/>
              </a:rPr>
              <a:t>in</a:t>
            </a:r>
            <a:r>
              <a:rPr lang="en-IN" sz="1600" dirty="0">
                <a:latin typeface="Calibri" panose="020F0502020204030204" pitchFamily="34" charset="0"/>
                <a:ea typeface="Calibri" panose="020F0502020204030204" pitchFamily="34" charset="0"/>
                <a:cs typeface="Mangal"/>
              </a:rPr>
              <a:t> </a:t>
            </a:r>
            <a:r>
              <a:rPr lang="en-IN" dirty="0">
                <a:latin typeface="Times New Roman" panose="02020603050405020304" pitchFamily="18" charset="0"/>
                <a:ea typeface="Calibri" panose="020F0502020204030204" pitchFamily="34" charset="0"/>
                <a:cs typeface="Mangal"/>
              </a:rPr>
              <a:t>UP. This event is known as </a:t>
            </a:r>
            <a:r>
              <a:rPr lang="en-IN" b="1" u="sng" dirty="0">
                <a:latin typeface="Times New Roman" panose="02020603050405020304" pitchFamily="18" charset="0"/>
                <a:ea typeface="Calibri" panose="020F0502020204030204" pitchFamily="34" charset="0"/>
                <a:cs typeface="Mangal"/>
              </a:rPr>
              <a:t>Dharma-Chakra-</a:t>
            </a:r>
            <a:r>
              <a:rPr lang="en-IN" b="1" u="sng" dirty="0" err="1">
                <a:latin typeface="Times New Roman" panose="02020603050405020304" pitchFamily="18" charset="0"/>
                <a:ea typeface="Calibri" panose="020F0502020204030204" pitchFamily="34" charset="0"/>
                <a:cs typeface="Mangal"/>
              </a:rPr>
              <a:t>Pravartana</a:t>
            </a:r>
            <a:r>
              <a:rPr lang="en-IN" b="1" dirty="0">
                <a:latin typeface="Times New Roman" panose="02020603050405020304" pitchFamily="18" charset="0"/>
                <a:ea typeface="Calibri" panose="020F0502020204030204" pitchFamily="34" charset="0"/>
                <a:cs typeface="Mangal"/>
              </a:rPr>
              <a:t> (turning of the wheel of law).</a:t>
            </a:r>
            <a:endParaRPr lang="en-IN" sz="1600" b="1" dirty="0">
              <a:latin typeface="Calibri" panose="020F0502020204030204" pitchFamily="34" charset="0"/>
              <a:ea typeface="Calibri" panose="020F0502020204030204" pitchFamily="34" charset="0"/>
              <a:cs typeface="Mangal"/>
            </a:endParaRPr>
          </a:p>
          <a:p>
            <a:pPr marL="342900" lvl="0" indent="-342900" algn="just">
              <a:lnSpc>
                <a:spcPct val="150000"/>
              </a:lnSpc>
              <a:spcAft>
                <a:spcPts val="0"/>
              </a:spcAft>
              <a:buFont typeface="Symbol" panose="05050102010706020507" pitchFamily="18" charset="2"/>
              <a:buChar char=""/>
            </a:pPr>
            <a:r>
              <a:rPr lang="en-IN" dirty="0">
                <a:latin typeface="Times New Roman" panose="02020603050405020304" pitchFamily="18" charset="0"/>
                <a:ea typeface="Calibri" panose="020F0502020204030204" pitchFamily="34" charset="0"/>
                <a:cs typeface="Mangal"/>
              </a:rPr>
              <a:t>He died at the age of 80 in 483 BCE at a place called </a:t>
            </a:r>
            <a:r>
              <a:rPr lang="en-IN" b="1" dirty="0" err="1">
                <a:latin typeface="Times New Roman" panose="02020603050405020304" pitchFamily="18" charset="0"/>
                <a:ea typeface="Calibri" panose="020F0502020204030204" pitchFamily="34" charset="0"/>
                <a:cs typeface="Mangal"/>
              </a:rPr>
              <a:t>Kushinagara</a:t>
            </a:r>
            <a:r>
              <a:rPr lang="en-IN" b="1" dirty="0">
                <a:latin typeface="Times New Roman" panose="02020603050405020304" pitchFamily="18" charset="0"/>
                <a:ea typeface="Calibri" panose="020F0502020204030204" pitchFamily="34" charset="0"/>
                <a:cs typeface="Mangal"/>
              </a:rPr>
              <a:t> a </a:t>
            </a:r>
            <a:r>
              <a:rPr lang="en-IN" b="1" dirty="0" err="1">
                <a:latin typeface="Times New Roman" panose="02020603050405020304" pitchFamily="18" charset="0"/>
                <a:ea typeface="Calibri" panose="020F0502020204030204" pitchFamily="34" charset="0"/>
                <a:cs typeface="Mangal"/>
              </a:rPr>
              <a:t>Distt</a:t>
            </a:r>
            <a:r>
              <a:rPr lang="en-IN" b="1" dirty="0">
                <a:latin typeface="Times New Roman" panose="02020603050405020304" pitchFamily="18" charset="0"/>
                <a:ea typeface="Calibri" panose="020F0502020204030204" pitchFamily="34" charset="0"/>
                <a:cs typeface="Mangal"/>
              </a:rPr>
              <a:t>. in UP</a:t>
            </a:r>
            <a:r>
              <a:rPr lang="en-IN" dirty="0">
                <a:latin typeface="Times New Roman" panose="02020603050405020304" pitchFamily="18" charset="0"/>
                <a:ea typeface="Calibri" panose="020F0502020204030204" pitchFamily="34" charset="0"/>
                <a:cs typeface="Mangal"/>
              </a:rPr>
              <a:t>. The</a:t>
            </a:r>
            <a:r>
              <a:rPr lang="en-IN" sz="1600" dirty="0">
                <a:latin typeface="Calibri" panose="020F0502020204030204" pitchFamily="34" charset="0"/>
                <a:ea typeface="Calibri" panose="020F0502020204030204" pitchFamily="34" charset="0"/>
                <a:cs typeface="Mangal"/>
              </a:rPr>
              <a:t> </a:t>
            </a:r>
            <a:r>
              <a:rPr lang="en-IN" dirty="0">
                <a:latin typeface="Times New Roman" panose="02020603050405020304" pitchFamily="18" charset="0"/>
                <a:ea typeface="Calibri" panose="020F0502020204030204" pitchFamily="34" charset="0"/>
                <a:cs typeface="Mangal"/>
              </a:rPr>
              <a:t>event is known as </a:t>
            </a:r>
            <a:r>
              <a:rPr lang="en-IN" b="1" u="sng" dirty="0" err="1">
                <a:latin typeface="Times New Roman" panose="02020603050405020304" pitchFamily="18" charset="0"/>
                <a:ea typeface="Calibri" panose="020F0502020204030204" pitchFamily="34" charset="0"/>
                <a:cs typeface="Mangal"/>
              </a:rPr>
              <a:t>Mahaparinirvan</a:t>
            </a:r>
            <a:r>
              <a:rPr lang="en-IN" b="1" u="sng" dirty="0">
                <a:latin typeface="Times New Roman" panose="02020603050405020304" pitchFamily="18" charset="0"/>
                <a:ea typeface="Calibri" panose="020F0502020204030204" pitchFamily="34" charset="0"/>
                <a:cs typeface="Mangal"/>
              </a:rPr>
              <a:t>.     </a:t>
            </a:r>
            <a:endParaRPr lang="en-IN" sz="1600" b="1" u="sng"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388140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692" y="119136"/>
            <a:ext cx="11769634" cy="6104235"/>
          </a:xfrm>
          <a:prstGeom prst="rect">
            <a:avLst/>
          </a:prstGeom>
        </p:spPr>
        <p:txBody>
          <a:bodyPr wrap="square">
            <a:spAutoFit/>
          </a:bodyPr>
          <a:lstStyle/>
          <a:p>
            <a:pPr algn="just">
              <a:lnSpc>
                <a:spcPct val="150000"/>
              </a:lnSpc>
              <a:spcAft>
                <a:spcPts val="800"/>
              </a:spcAft>
            </a:pPr>
            <a:r>
              <a:rPr lang="en-IN" sz="3200" b="1" dirty="0">
                <a:latin typeface="Times New Roman" panose="02020603050405020304" pitchFamily="18" charset="0"/>
                <a:ea typeface="Calibri" panose="020F0502020204030204" pitchFamily="34" charset="0"/>
                <a:cs typeface="Times New Roman" panose="02020603050405020304" pitchFamily="18" charset="0"/>
              </a:rPr>
              <a:t>Tenets of Buddhism</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Buddha asked his followers to avoid the two extremes of indulgence in worldly pleasure and the practice of strict abstinence and asceticism.</a:t>
            </a: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He ascribed instead 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Madhyam</a:t>
            </a:r>
            <a:r>
              <a:rPr lang="en-IN" sz="2800" b="1" dirty="0">
                <a:latin typeface="Times New Roman" panose="02020603050405020304" pitchFamily="18" charset="0"/>
                <a:ea typeface="Calibri" panose="020F0502020204030204" pitchFamily="34" charset="0"/>
                <a:cs typeface="Times New Roman" panose="02020603050405020304" pitchFamily="18" charset="0"/>
              </a:rPr>
              <a:t> Marg' </a:t>
            </a:r>
            <a:r>
              <a:rPr lang="en-IN" sz="2800" dirty="0">
                <a:latin typeface="Times New Roman" panose="02020603050405020304" pitchFamily="18" charset="0"/>
                <a:ea typeface="Calibri" panose="020F0502020204030204" pitchFamily="34" charset="0"/>
                <a:cs typeface="Times New Roman" panose="02020603050405020304" pitchFamily="18" charset="0"/>
              </a:rPr>
              <a:t>or the middle path which was to be followed.</a:t>
            </a: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According to him everyone was responsible for their own happiness in life, stressing upon the individualistic component of Buddhism.</a:t>
            </a:r>
          </a:p>
          <a:p>
            <a:pPr marL="342900" lvl="0" indent="-342900" algn="just">
              <a:lnSpc>
                <a:spcPct val="150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main teachings of Buddhism </a:t>
            </a:r>
            <a:r>
              <a:rPr lang="en-IN" sz="2800" dirty="0">
                <a:latin typeface="Times New Roman" panose="02020603050405020304" pitchFamily="18" charset="0"/>
                <a:ea typeface="Calibri" panose="020F0502020204030204" pitchFamily="34" charset="0"/>
                <a:cs typeface="Times New Roman" panose="02020603050405020304" pitchFamily="18" charset="0"/>
              </a:rPr>
              <a:t>are encapsulated in the basic concept of </a:t>
            </a:r>
            <a:r>
              <a:rPr lang="en-IN" sz="2800" b="1" dirty="0">
                <a:latin typeface="Times New Roman" panose="02020603050405020304" pitchFamily="18" charset="0"/>
                <a:ea typeface="Calibri" panose="020F0502020204030204" pitchFamily="34" charset="0"/>
                <a:cs typeface="Times New Roman" panose="02020603050405020304" pitchFamily="18" charset="0"/>
              </a:rPr>
              <a:t>four noble truths </a:t>
            </a:r>
            <a:r>
              <a:rPr lang="en-IN" sz="2800" dirty="0">
                <a:latin typeface="Times New Roman" panose="02020603050405020304" pitchFamily="18" charset="0"/>
                <a:ea typeface="Calibri" panose="020F0502020204030204" pitchFamily="34" charset="0"/>
                <a:cs typeface="Times New Roman" panose="02020603050405020304" pitchFamily="18" charset="0"/>
              </a:rPr>
              <a:t>or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ariya-sachchani</a:t>
            </a:r>
            <a:r>
              <a:rPr lang="en-IN" sz="2800" b="1" dirty="0">
                <a:latin typeface="Times New Roman" panose="02020603050405020304" pitchFamily="18" charset="0"/>
                <a:ea typeface="Calibri" panose="020F0502020204030204" pitchFamily="34" charset="0"/>
                <a:cs typeface="Times New Roman" panose="02020603050405020304" pitchFamily="18" charset="0"/>
              </a:rPr>
              <a:t> </a:t>
            </a:r>
            <a:r>
              <a:rPr lang="en-IN" sz="2800" dirty="0">
                <a:latin typeface="Times New Roman" panose="02020603050405020304" pitchFamily="18" charset="0"/>
                <a:ea typeface="Calibri" panose="020F0502020204030204" pitchFamily="34" charset="0"/>
                <a:cs typeface="Times New Roman" panose="02020603050405020304" pitchFamily="18" charset="0"/>
              </a:rPr>
              <a:t>and eightfold path or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astangika</a:t>
            </a:r>
            <a:r>
              <a:rPr lang="en-IN" sz="2800" b="1" dirty="0">
                <a:latin typeface="Times New Roman" panose="02020603050405020304" pitchFamily="18" charset="0"/>
                <a:ea typeface="Calibri" panose="020F0502020204030204" pitchFamily="34" charset="0"/>
                <a:cs typeface="Times New Roman" panose="02020603050405020304" pitchFamily="18" charset="0"/>
              </a:rPr>
              <a:t> marg.</a:t>
            </a:r>
          </a:p>
        </p:txBody>
      </p:sp>
    </p:spTree>
    <p:extLst>
      <p:ext uri="{BB962C8B-B14F-4D97-AF65-F5344CB8AC3E}">
        <p14:creationId xmlns:p14="http://schemas.microsoft.com/office/powerpoint/2010/main" val="1761449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649419"/>
            <a:ext cx="11220994" cy="6032549"/>
          </a:xfrm>
          <a:prstGeom prst="rect">
            <a:avLst/>
          </a:prstGeom>
        </p:spPr>
        <p:txBody>
          <a:bodyPr wrap="square">
            <a:spAutoFit/>
          </a:bodyPr>
          <a:lstStyle/>
          <a:p>
            <a:pPr algn="just">
              <a:lnSpc>
                <a:spcPct val="107000"/>
              </a:lnSpc>
              <a:spcAft>
                <a:spcPts val="800"/>
              </a:spcAft>
            </a:pPr>
            <a:r>
              <a:rPr lang="en-IN" sz="2000" b="1" dirty="0">
                <a:latin typeface="Calibri" panose="020F0502020204030204" pitchFamily="34" charset="0"/>
                <a:ea typeface="Calibri" panose="020F0502020204030204" pitchFamily="34" charset="0"/>
                <a:cs typeface="Kokila" panose="020B0604020202020204" pitchFamily="34" charset="0"/>
              </a:rPr>
              <a:t> </a:t>
            </a:r>
            <a:r>
              <a:rPr lang="en-IN" sz="2800" b="1" dirty="0">
                <a:latin typeface="Times New Roman" panose="02020603050405020304" pitchFamily="18" charset="0"/>
                <a:ea typeface="Calibri" panose="020F0502020204030204" pitchFamily="34" charset="0"/>
                <a:cs typeface="Times New Roman" panose="02020603050405020304" pitchFamily="18" charset="0"/>
              </a:rPr>
              <a:t>Four noble truths: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dirty="0">
                <a:latin typeface="Times New Roman" panose="02020603050405020304" pitchFamily="18" charset="0"/>
                <a:ea typeface="Calibri" panose="020F0502020204030204" pitchFamily="34" charset="0"/>
                <a:cs typeface="Times New Roman" panose="02020603050405020304" pitchFamily="18" charset="0"/>
              </a:rPr>
              <a:t>Suffering </a:t>
            </a:r>
            <a:r>
              <a:rPr lang="en-IN" sz="2400" b="1" dirty="0">
                <a:latin typeface="Times New Roman" panose="02020603050405020304" pitchFamily="18" charset="0"/>
                <a:ea typeface="Calibri" panose="020F0502020204030204" pitchFamily="34" charset="0"/>
                <a:cs typeface="Times New Roman" panose="02020603050405020304" pitchFamily="18" charset="0"/>
              </a:rPr>
              <a:t>(dukkha)</a:t>
            </a:r>
            <a:r>
              <a:rPr lang="en-IN" sz="2400" dirty="0">
                <a:latin typeface="Times New Roman" panose="02020603050405020304" pitchFamily="18" charset="0"/>
                <a:ea typeface="Calibri" panose="020F0502020204030204" pitchFamily="34" charset="0"/>
                <a:cs typeface="Times New Roman" panose="02020603050405020304" pitchFamily="18" charset="0"/>
              </a:rPr>
              <a:t> is the essence of the world.</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dirty="0">
                <a:latin typeface="Times New Roman" panose="02020603050405020304" pitchFamily="18" charset="0"/>
                <a:ea typeface="Calibri" panose="020F0502020204030204" pitchFamily="34" charset="0"/>
                <a:cs typeface="Times New Roman" panose="02020603050405020304" pitchFamily="18" charset="0"/>
              </a:rPr>
              <a:t>Every suffering has a cause –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Samudya</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dirty="0">
                <a:latin typeface="Times New Roman" panose="02020603050405020304" pitchFamily="18" charset="0"/>
                <a:ea typeface="Calibri" panose="020F0502020204030204" pitchFamily="34" charset="0"/>
                <a:cs typeface="Times New Roman" panose="02020603050405020304" pitchFamily="18" charset="0"/>
              </a:rPr>
              <a:t>Suffering could be extinguished –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Nirodha</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800"/>
              </a:spcAft>
              <a:buFont typeface="+mj-lt"/>
              <a:buAutoNum type="arabicPeriod"/>
            </a:pPr>
            <a:r>
              <a:rPr lang="en-IN" sz="2400" dirty="0">
                <a:latin typeface="Times New Roman" panose="02020603050405020304" pitchFamily="18" charset="0"/>
                <a:ea typeface="Calibri" panose="020F0502020204030204" pitchFamily="34" charset="0"/>
                <a:cs typeface="Times New Roman" panose="02020603050405020304" pitchFamily="18" charset="0"/>
              </a:rPr>
              <a:t>It can be achieved by following the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Asthanga</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Marga</a:t>
            </a:r>
            <a:r>
              <a:rPr lang="en-IN" sz="2400" b="1" dirty="0">
                <a:latin typeface="Times New Roman" panose="02020603050405020304" pitchFamily="18" charset="0"/>
                <a:ea typeface="Calibri" panose="020F0502020204030204" pitchFamily="34" charset="0"/>
                <a:cs typeface="Times New Roman" panose="02020603050405020304" pitchFamily="18" charset="0"/>
              </a:rPr>
              <a:t> (Eight Fold Path).</a:t>
            </a:r>
          </a:p>
          <a:p>
            <a:r>
              <a:rPr lang="en-IN" sz="2400" b="1" dirty="0">
                <a:latin typeface="Times New Roman" panose="02020603050405020304" pitchFamily="18" charset="0"/>
                <a:cs typeface="Times New Roman" panose="02020603050405020304" pitchFamily="18" charset="0"/>
              </a:rPr>
              <a:t>Eight Fold Paths:</a:t>
            </a:r>
            <a:r>
              <a:rPr lang="en-IN" sz="2400" dirty="0">
                <a:latin typeface="Times New Roman" panose="02020603050405020304" pitchFamily="18" charset="0"/>
                <a:cs typeface="Times New Roman" panose="02020603050405020304" pitchFamily="18" charset="0"/>
              </a:rPr>
              <a:t> the path consists of various interconnected activities related to </a:t>
            </a:r>
            <a:r>
              <a:rPr lang="en-IN" sz="2400" b="1" dirty="0">
                <a:latin typeface="Times New Roman" panose="02020603050405020304" pitchFamily="18" charset="0"/>
                <a:cs typeface="Times New Roman" panose="02020603050405020304" pitchFamily="18" charset="0"/>
              </a:rPr>
              <a:t>knowledge, conduct, and meditative practices.</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view</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intention</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speech</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action</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livelihood</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mindfulness</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effort</a:t>
            </a:r>
          </a:p>
          <a:p>
            <a:pPr marL="457200" lvl="0" indent="-457200">
              <a:buFont typeface="+mj-lt"/>
              <a:buAutoNum type="arabicPeriod"/>
            </a:pPr>
            <a:r>
              <a:rPr lang="en-IN" sz="2400" b="1" i="1" dirty="0">
                <a:latin typeface="Times New Roman" panose="02020603050405020304" pitchFamily="18" charset="0"/>
                <a:cs typeface="Times New Roman" panose="02020603050405020304" pitchFamily="18" charset="0"/>
              </a:rPr>
              <a:t>Right concentration</a:t>
            </a:r>
          </a:p>
        </p:txBody>
      </p:sp>
    </p:spTree>
    <p:extLst>
      <p:ext uri="{BB962C8B-B14F-4D97-AF65-F5344CB8AC3E}">
        <p14:creationId xmlns:p14="http://schemas.microsoft.com/office/powerpoint/2010/main" val="1155761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075" y="367906"/>
            <a:ext cx="11482252" cy="6122510"/>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IN" sz="2400" b="1" dirty="0">
                <a:latin typeface="Times New Roman" panose="02020603050405020304" pitchFamily="18" charset="0"/>
                <a:ea typeface="Calibri" panose="020F0502020204030204" pitchFamily="34" charset="0"/>
                <a:cs typeface="Times New Roman" panose="02020603050405020304" pitchFamily="18" charset="0"/>
              </a:rPr>
              <a:t>Dukkha and its extinction are central to the Buddha’s doctrine. </a:t>
            </a:r>
            <a:r>
              <a:rPr lang="en-IN" sz="2400" dirty="0">
                <a:latin typeface="Times New Roman" panose="02020603050405020304" pitchFamily="18" charset="0"/>
                <a:ea typeface="Calibri" panose="020F0502020204030204" pitchFamily="34" charset="0"/>
                <a:cs typeface="Times New Roman" panose="02020603050405020304" pitchFamily="18" charset="0"/>
              </a:rPr>
              <a:t>Suffering is not limited</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to the actual pain but also to the potential to experience these things.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essence of Buddhism is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attainment of enlightenment. </a:t>
            </a:r>
            <a:r>
              <a:rPr lang="en-IN" sz="2400" dirty="0">
                <a:latin typeface="Times New Roman" panose="02020603050405020304" pitchFamily="18" charset="0"/>
                <a:ea typeface="Calibri" panose="020F0502020204030204" pitchFamily="34" charset="0"/>
                <a:cs typeface="Times New Roman" panose="02020603050405020304" pitchFamily="18" charset="0"/>
              </a:rPr>
              <a:t>It points to a way of life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that avoids self-indulgence and self-denial. </a:t>
            </a:r>
            <a:r>
              <a:rPr lang="en-IN" sz="2400" b="1" dirty="0">
                <a:latin typeface="Times New Roman" panose="02020603050405020304" pitchFamily="18" charset="0"/>
                <a:ea typeface="Calibri" panose="020F0502020204030204" pitchFamily="34" charset="0"/>
                <a:cs typeface="Times New Roman" panose="02020603050405020304" pitchFamily="18" charset="0"/>
              </a:rPr>
              <a:t>There is no supreme god or deity in Buddhism.</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ultimate goal of Buddha’s teaching was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attainment of nirvana </a:t>
            </a:r>
            <a:r>
              <a:rPr lang="en-IN" sz="2400" dirty="0">
                <a:latin typeface="Times New Roman" panose="02020603050405020304" pitchFamily="18" charset="0"/>
                <a:ea typeface="Calibri" panose="020F0502020204030204" pitchFamily="34" charset="0"/>
                <a:cs typeface="Times New Roman" panose="02020603050405020304" pitchFamily="18" charset="0"/>
              </a:rPr>
              <a:t>which was not 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place but an experience, and could be attained in this life.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Buddha also established code of conduct both for the monastic order and the laymen</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07000"/>
              </a:lnSpc>
              <a:spcAft>
                <a:spcPts val="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to follow which are also known as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Five Precepts or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Panchasil</a:t>
            </a:r>
            <a:r>
              <a:rPr lang="en-IN" sz="2400" b="1" dirty="0">
                <a:latin typeface="Times New Roman" panose="02020603050405020304" pitchFamily="18" charset="0"/>
                <a:ea typeface="Calibri" panose="020F0502020204030204" pitchFamily="34" charset="0"/>
                <a:cs typeface="Times New Roman" panose="02020603050405020304" pitchFamily="18" charset="0"/>
              </a:rPr>
              <a:t> and refrain from </a:t>
            </a:r>
            <a:r>
              <a:rPr lang="en-IN" sz="2400" dirty="0">
                <a:latin typeface="Times New Roman" panose="02020603050405020304" pitchFamily="18" charset="0"/>
                <a:ea typeface="Calibri" panose="020F0502020204030204" pitchFamily="34" charset="0"/>
                <a:cs typeface="Times New Roman" panose="02020603050405020304" pitchFamily="18" charset="0"/>
              </a:rPr>
              <a:t>them.</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b="1" dirty="0">
                <a:latin typeface="Times New Roman" panose="02020603050405020304" pitchFamily="18" charset="0"/>
                <a:ea typeface="Calibri" panose="020F0502020204030204" pitchFamily="34" charset="0"/>
                <a:cs typeface="Times New Roman" panose="02020603050405020304" pitchFamily="18" charset="0"/>
              </a:rPr>
              <a:t>Violence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b="1" dirty="0">
                <a:latin typeface="Times New Roman" panose="02020603050405020304" pitchFamily="18" charset="0"/>
                <a:ea typeface="Calibri" panose="020F0502020204030204" pitchFamily="34" charset="0"/>
                <a:cs typeface="Times New Roman" panose="02020603050405020304" pitchFamily="18" charset="0"/>
              </a:rPr>
              <a:t>stealing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0"/>
              </a:spcAft>
              <a:buFont typeface="+mj-lt"/>
              <a:buAutoNum type="arabicPeriod"/>
            </a:pPr>
            <a:r>
              <a:rPr lang="en-IN" sz="2400" b="1" dirty="0">
                <a:latin typeface="Times New Roman" panose="02020603050405020304" pitchFamily="18" charset="0"/>
                <a:ea typeface="Calibri" panose="020F0502020204030204" pitchFamily="34" charset="0"/>
                <a:cs typeface="Times New Roman" panose="02020603050405020304" pitchFamily="18" charset="0"/>
              </a:rPr>
              <a:t>sexual misconduct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800"/>
              </a:spcAft>
              <a:buFont typeface="+mj-lt"/>
              <a:buAutoNum type="arabicPeriod"/>
            </a:pPr>
            <a:r>
              <a:rPr lang="en-IN" sz="2400" b="1" dirty="0">
                <a:latin typeface="Times New Roman" panose="02020603050405020304" pitchFamily="18" charset="0"/>
                <a:ea typeface="Calibri" panose="020F0502020204030204" pitchFamily="34" charset="0"/>
                <a:cs typeface="Times New Roman" panose="02020603050405020304" pitchFamily="18" charset="0"/>
              </a:rPr>
              <a:t>lying or gossip</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lvl="0" indent="-457200" algn="just">
              <a:lnSpc>
                <a:spcPct val="107000"/>
              </a:lnSpc>
              <a:spcAft>
                <a:spcPts val="800"/>
              </a:spcAft>
              <a:buFont typeface="+mj-lt"/>
              <a:buAutoNum type="arabicPeriod"/>
            </a:pPr>
            <a:r>
              <a:rPr lang="en-IN" sz="2400" b="1" dirty="0">
                <a:latin typeface="Times New Roman" panose="02020603050405020304" pitchFamily="18" charset="0"/>
                <a:ea typeface="Calibri" panose="020F0502020204030204" pitchFamily="34" charset="0"/>
                <a:cs typeface="Times New Roman" panose="02020603050405020304" pitchFamily="18" charset="0"/>
              </a:rPr>
              <a:t>taking intoxicating substances e.g. drugs or drink</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1508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633" y="526288"/>
            <a:ext cx="11508377" cy="5365571"/>
          </a:xfrm>
          <a:prstGeom prst="rect">
            <a:avLst/>
          </a:prstGeom>
        </p:spPr>
        <p:txBody>
          <a:bodyPr wrap="square">
            <a:spAutoFit/>
          </a:bodyPr>
          <a:lstStyle/>
          <a:p>
            <a:pPr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Major Buddhist Texts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Buddha's teaching was oral. He taught for 45 years, adapting the teaching to suit the group he was addressing.</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Sangha memorized the teachings, and there were group recitations at festival and special occasions.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The teachings were rehearsed and authenticated at 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First Council and were divided in Three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Pitakas</a:t>
            </a:r>
            <a:r>
              <a:rPr lang="en-IN" sz="2800" b="1" dirty="0">
                <a:latin typeface="Times New Roman" panose="02020603050405020304" pitchFamily="18" charset="0"/>
                <a:ea typeface="Calibri" panose="020F0502020204030204" pitchFamily="34" charset="0"/>
                <a:cs typeface="Times New Roman" panose="02020603050405020304" pitchFamily="18" charset="0"/>
              </a:rPr>
              <a:t> in 483 BC.</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His teachings were written down around 25 B.C.E. in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Pali</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endParaRPr lang="en-IN"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7531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59" y="334675"/>
            <a:ext cx="11351623" cy="6381234"/>
          </a:xfrm>
          <a:prstGeom prst="rect">
            <a:avLst/>
          </a:prstGeom>
        </p:spPr>
        <p:txBody>
          <a:bodyPr wrap="square">
            <a:spAutoFit/>
          </a:bodyPr>
          <a:lstStyle/>
          <a:p>
            <a:pPr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Three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Pitakas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The </a:t>
            </a:r>
            <a:r>
              <a:rPr lang="en-IN" sz="2000" b="1" u="sng" dirty="0" err="1">
                <a:latin typeface="Times New Roman" panose="02020603050405020304" pitchFamily="18" charset="0"/>
                <a:ea typeface="Calibri" panose="020F0502020204030204" pitchFamily="34" charset="0"/>
                <a:cs typeface="Times New Roman" panose="02020603050405020304" pitchFamily="18" charset="0"/>
              </a:rPr>
              <a:t>Vinaya</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 </a:t>
            </a:r>
            <a:r>
              <a:rPr lang="en-IN" sz="2000" b="1" u="sng" dirty="0" err="1">
                <a:latin typeface="Times New Roman" panose="02020603050405020304" pitchFamily="18" charset="0"/>
                <a:ea typeface="Calibri" panose="020F0502020204030204" pitchFamily="34" charset="0"/>
                <a:cs typeface="Times New Roman" panose="02020603050405020304" pitchFamily="18" charset="0"/>
              </a:rPr>
              <a:t>Pitaka</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a:latin typeface="Times New Roman" panose="02020603050405020304" pitchFamily="18" charset="0"/>
                <a:ea typeface="Calibri" panose="020F0502020204030204" pitchFamily="34" charset="0"/>
                <a:cs typeface="Times New Roman" panose="02020603050405020304" pitchFamily="18" charset="0"/>
              </a:rPr>
              <a:t>consists of </a:t>
            </a:r>
            <a:r>
              <a:rPr lang="en-IN" sz="2000" b="1" dirty="0">
                <a:latin typeface="Times New Roman" panose="02020603050405020304" pitchFamily="18" charset="0"/>
                <a:ea typeface="Calibri" panose="020F0502020204030204" pitchFamily="34" charset="0"/>
                <a:cs typeface="Times New Roman" panose="02020603050405020304" pitchFamily="18" charset="0"/>
              </a:rPr>
              <a:t>rules of conduct and discipline </a:t>
            </a:r>
            <a:r>
              <a:rPr lang="en-IN" sz="2000" dirty="0">
                <a:latin typeface="Times New Roman" panose="02020603050405020304" pitchFamily="18" charset="0"/>
                <a:ea typeface="Calibri" panose="020F0502020204030204" pitchFamily="34" charset="0"/>
                <a:cs typeface="Times New Roman" panose="02020603050405020304" pitchFamily="18" charset="0"/>
              </a:rPr>
              <a:t>applicable to the monastic life of the monks and nuns.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The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Sutta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Pitaka</a:t>
            </a:r>
            <a:r>
              <a:rPr lang="en-IN" sz="2000" dirty="0">
                <a:latin typeface="Times New Roman" panose="02020603050405020304" pitchFamily="18" charset="0"/>
                <a:ea typeface="Calibri" panose="020F0502020204030204" pitchFamily="34" charset="0"/>
                <a:cs typeface="Times New Roman" panose="02020603050405020304" pitchFamily="18" charset="0"/>
              </a:rPr>
              <a:t> consists of the main teaching or </a:t>
            </a:r>
            <a:r>
              <a:rPr lang="en-IN" sz="2000" dirty="0" err="1">
                <a:latin typeface="Times New Roman" panose="02020603050405020304" pitchFamily="18" charset="0"/>
                <a:ea typeface="Calibri" panose="020F0502020204030204" pitchFamily="34" charset="0"/>
                <a:cs typeface="Times New Roman" panose="02020603050405020304" pitchFamily="18" charset="0"/>
              </a:rPr>
              <a:t>Dhamma</a:t>
            </a:r>
            <a:r>
              <a:rPr lang="en-IN" sz="2000" dirty="0">
                <a:latin typeface="Times New Roman" panose="02020603050405020304" pitchFamily="18" charset="0"/>
                <a:ea typeface="Calibri" panose="020F0502020204030204" pitchFamily="34" charset="0"/>
                <a:cs typeface="Times New Roman" panose="02020603050405020304" pitchFamily="18" charset="0"/>
              </a:rPr>
              <a:t> of Buddha. </a:t>
            </a:r>
            <a:r>
              <a:rPr lang="en-IN" sz="2000" b="1" dirty="0">
                <a:latin typeface="Times New Roman" panose="02020603050405020304" pitchFamily="18" charset="0"/>
                <a:ea typeface="Calibri" panose="020F0502020204030204" pitchFamily="34" charset="0"/>
                <a:cs typeface="Times New Roman" panose="02020603050405020304" pitchFamily="18" charset="0"/>
              </a:rPr>
              <a:t>It is divided </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into five </a:t>
            </a:r>
            <a:r>
              <a:rPr lang="en-IN" sz="2000" b="1" u="sng" dirty="0" err="1">
                <a:latin typeface="Times New Roman" panose="02020603050405020304" pitchFamily="18" charset="0"/>
                <a:ea typeface="Calibri" panose="020F0502020204030204" pitchFamily="34" charset="0"/>
                <a:cs typeface="Times New Roman" panose="02020603050405020304" pitchFamily="18" charset="0"/>
              </a:rPr>
              <a:t>Nikayas</a:t>
            </a:r>
            <a:r>
              <a:rPr lang="en-IN" sz="2000" b="1" u="sng"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a:latin typeface="Times New Roman" panose="02020603050405020304" pitchFamily="18" charset="0"/>
                <a:ea typeface="Calibri" panose="020F0502020204030204" pitchFamily="34" charset="0"/>
                <a:cs typeface="Times New Roman" panose="02020603050405020304" pitchFamily="18" charset="0"/>
              </a:rPr>
              <a:t>or collections:</a:t>
            </a:r>
            <a:r>
              <a:rPr lang="en-IN" dirty="0"/>
              <a:t> </a:t>
            </a:r>
          </a:p>
          <a:p>
            <a:pPr marL="457200" lvl="0" indent="-457200" algn="just">
              <a:lnSpc>
                <a:spcPct val="150000"/>
              </a:lnSpc>
              <a:spcAft>
                <a:spcPts val="0"/>
              </a:spcAft>
              <a:buFont typeface="+mj-lt"/>
              <a:buAutoNum type="arabicPeriod"/>
            </a:pP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Digha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Nikaya</a:t>
            </a:r>
            <a:r>
              <a:rPr lang="en-IN" dirty="0"/>
              <a:t> (containing long </a:t>
            </a:r>
            <a:r>
              <a:rPr lang="en-IN" i="1" dirty="0" err="1"/>
              <a:t>sutta</a:t>
            </a:r>
            <a:r>
              <a:rPr lang="en-IN" dirty="0" err="1"/>
              <a:t>s</a:t>
            </a:r>
            <a:r>
              <a:rPr lang="en-IN" dirty="0"/>
              <a:t>),</a:t>
            </a:r>
            <a:endParaRPr lang="en-IN" dirty="0">
              <a:latin typeface="Times New Roman" panose="02020603050405020304" pitchFamily="18" charset="0"/>
              <a:cs typeface="Times New Roman" panose="02020603050405020304" pitchFamily="18" charset="0"/>
            </a:endParaRPr>
          </a:p>
          <a:p>
            <a:pPr marL="457200" lvl="0" indent="-457200" algn="just">
              <a:lnSpc>
                <a:spcPct val="150000"/>
              </a:lnSpc>
              <a:spcAft>
                <a:spcPts val="0"/>
              </a:spcAft>
              <a:buFont typeface="+mj-lt"/>
              <a:buAutoNum type="arabicPeriod"/>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Majjhima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Nikaya</a:t>
            </a:r>
            <a:r>
              <a:rPr lang="en-IN" dirty="0"/>
              <a:t> (containing </a:t>
            </a:r>
            <a:r>
              <a:rPr lang="en-IN" i="1" dirty="0" err="1"/>
              <a:t>sutta</a:t>
            </a:r>
            <a:r>
              <a:rPr lang="en-IN" dirty="0" err="1"/>
              <a:t>s</a:t>
            </a:r>
            <a:r>
              <a:rPr lang="en-IN" dirty="0"/>
              <a:t> of middle length)</a:t>
            </a:r>
            <a:endParaRPr lang="en-IN" dirty="0">
              <a:latin typeface="Times New Roman" panose="02020603050405020304" pitchFamily="18" charset="0"/>
              <a:cs typeface="Times New Roman" panose="02020603050405020304" pitchFamily="18" charset="0"/>
            </a:endParaRPr>
          </a:p>
          <a:p>
            <a:pPr marL="457200" lvl="0" indent="-457200" algn="just">
              <a:lnSpc>
                <a:spcPct val="150000"/>
              </a:lnSpc>
              <a:spcAft>
                <a:spcPts val="0"/>
              </a:spcAft>
              <a:buFont typeface="+mj-lt"/>
              <a:buAutoNum type="arabicPeriod"/>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Samyutta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Nikaya</a:t>
            </a:r>
            <a:r>
              <a:rPr lang="en-IN" dirty="0"/>
              <a:t> (containing </a:t>
            </a:r>
            <a:r>
              <a:rPr lang="en-IN" i="1" dirty="0" err="1"/>
              <a:t>sutta</a:t>
            </a:r>
            <a:r>
              <a:rPr lang="en-IN" dirty="0" err="1"/>
              <a:t>s</a:t>
            </a:r>
            <a:r>
              <a:rPr lang="en-IN" dirty="0"/>
              <a:t> organized according to content),</a:t>
            </a:r>
            <a:endParaRPr lang="en-IN" dirty="0">
              <a:latin typeface="Times New Roman" panose="02020603050405020304" pitchFamily="18" charset="0"/>
              <a:cs typeface="Times New Roman" panose="02020603050405020304" pitchFamily="18" charset="0"/>
            </a:endParaRPr>
          </a:p>
          <a:p>
            <a:pPr marL="457200" lvl="0" indent="-457200" algn="just">
              <a:lnSpc>
                <a:spcPct val="150000"/>
              </a:lnSpc>
              <a:spcAft>
                <a:spcPts val="0"/>
              </a:spcAft>
              <a:buFont typeface="+mj-lt"/>
              <a:buAutoNum type="arabicPeriod"/>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Anguttara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Nikaya</a:t>
            </a:r>
            <a:r>
              <a:rPr lang="en-IN" dirty="0"/>
              <a:t>(containing </a:t>
            </a:r>
            <a:r>
              <a:rPr lang="en-IN" i="1" dirty="0" err="1"/>
              <a:t>sutta</a:t>
            </a:r>
            <a:r>
              <a:rPr lang="en-IN" dirty="0" err="1"/>
              <a:t>s</a:t>
            </a:r>
            <a:r>
              <a:rPr lang="en-IN" dirty="0"/>
              <a:t> arranged according to the number of doctrinal items under discussion)</a:t>
            </a:r>
            <a:endParaRPr lang="en-IN" dirty="0">
              <a:latin typeface="Times New Roman" panose="02020603050405020304" pitchFamily="18" charset="0"/>
              <a:cs typeface="Times New Roman" panose="02020603050405020304" pitchFamily="18" charset="0"/>
            </a:endParaRPr>
          </a:p>
          <a:p>
            <a:pPr marL="457200" lvl="0" indent="-457200" algn="just">
              <a:lnSpc>
                <a:spcPct val="150000"/>
              </a:lnSpc>
              <a:spcAft>
                <a:spcPts val="0"/>
              </a:spcAft>
              <a:buFont typeface="+mj-lt"/>
              <a:buAutoNum type="arabicPeriod"/>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Khuddaka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Nikaya</a:t>
            </a:r>
            <a:r>
              <a:rPr lang="en-IN" dirty="0"/>
              <a:t>(containing </a:t>
            </a:r>
            <a:r>
              <a:rPr lang="en-IN" i="1" dirty="0" err="1"/>
              <a:t>sutta</a:t>
            </a:r>
            <a:r>
              <a:rPr lang="en-IN" dirty="0" err="1"/>
              <a:t>s</a:t>
            </a:r>
            <a:r>
              <a:rPr lang="en-IN" dirty="0"/>
              <a:t> not included in any of the other four </a:t>
            </a:r>
            <a:r>
              <a:rPr lang="en-IN" i="1" dirty="0" err="1"/>
              <a:t>nikāya</a:t>
            </a:r>
            <a:r>
              <a:rPr lang="en-IN" dirty="0" err="1"/>
              <a:t>s</a:t>
            </a:r>
            <a:r>
              <a:rPr lang="en-IN" dirty="0"/>
              <a:t>).</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The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Abhidamma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Pitaka</a:t>
            </a:r>
            <a:r>
              <a:rPr lang="en-IN" sz="2000" dirty="0">
                <a:latin typeface="Times New Roman" panose="02020603050405020304" pitchFamily="18" charset="0"/>
                <a:ea typeface="Calibri" panose="020F0502020204030204" pitchFamily="34" charset="0"/>
                <a:cs typeface="Times New Roman" panose="02020603050405020304" pitchFamily="18" charset="0"/>
              </a:rPr>
              <a:t> is a philosophical analysis and systematization of the teaching and the scholarly activity of the monks.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Other important </a:t>
            </a:r>
            <a:r>
              <a:rPr lang="en-IN" sz="2000" b="1" dirty="0">
                <a:latin typeface="Times New Roman" panose="02020603050405020304" pitchFamily="18" charset="0"/>
                <a:ea typeface="Calibri" panose="020F0502020204030204" pitchFamily="34" charset="0"/>
                <a:cs typeface="Times New Roman" panose="02020603050405020304" pitchFamily="18" charset="0"/>
              </a:rPr>
              <a:t>Buddhist texts include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Divyavadana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Dipavamsa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Mahavamsa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Milind</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Panha</a:t>
            </a:r>
            <a:r>
              <a:rPr lang="en-IN" sz="2000" dirty="0">
                <a:latin typeface="Times New Roman" panose="02020603050405020304" pitchFamily="18" charset="0"/>
                <a:ea typeface="Calibri" panose="020F0502020204030204" pitchFamily="34" charset="0"/>
                <a:cs typeface="Times New Roman" panose="02020603050405020304" pitchFamily="18" charset="0"/>
              </a:rPr>
              <a:t> etc.</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0675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1703" y="500571"/>
            <a:ext cx="11260183" cy="5442387"/>
          </a:xfrm>
          <a:prstGeom prst="rect">
            <a:avLst/>
          </a:prstGeom>
        </p:spPr>
        <p:txBody>
          <a:bodyPr wrap="square">
            <a:spAutoFit/>
          </a:bodyPr>
          <a:lstStyle/>
          <a:p>
            <a:pPr algn="just">
              <a:lnSpc>
                <a:spcPct val="107000"/>
              </a:lnSpc>
              <a:spcAft>
                <a:spcPts val="800"/>
              </a:spcAft>
            </a:pPr>
            <a:r>
              <a:rPr lang="en-IN" sz="3200" b="1" dirty="0">
                <a:latin typeface="Times New Roman" panose="02020603050405020304" pitchFamily="18" charset="0"/>
                <a:ea typeface="Calibri" panose="020F0502020204030204" pitchFamily="34" charset="0"/>
                <a:cs typeface="Times New Roman" panose="02020603050405020304" pitchFamily="18" charset="0"/>
              </a:rPr>
              <a:t>Buddhist Councils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Buddhist Councils marked important turning points in the early Buddhism. These councils resulted in sectarian clashes and the eventual Great Schism that resulted in the two major schools, </a:t>
            </a:r>
            <a:r>
              <a:rPr lang="en-IN" sz="2400" b="1" dirty="0">
                <a:latin typeface="Times New Roman" panose="02020603050405020304" pitchFamily="18" charset="0"/>
                <a:ea typeface="Calibri" panose="020F0502020204030204" pitchFamily="34" charset="0"/>
                <a:cs typeface="Times New Roman" panose="02020603050405020304" pitchFamily="18" charset="0"/>
              </a:rPr>
              <a:t>Theravada and Mahayana.</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In total, 4 major Buddhist councils were convened:</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First Council</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 was held soon after the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Mahaparinirvan</a:t>
            </a:r>
            <a:r>
              <a:rPr lang="en-IN" sz="2400" dirty="0">
                <a:latin typeface="Times New Roman" panose="02020603050405020304" pitchFamily="18" charset="0"/>
                <a:ea typeface="Calibri" panose="020F0502020204030204" pitchFamily="34" charset="0"/>
                <a:cs typeface="Times New Roman" panose="02020603050405020304" pitchFamily="18" charset="0"/>
              </a:rPr>
              <a:t> of the Buddha, around 483 BC under the patronage </a:t>
            </a:r>
            <a:r>
              <a:rPr lang="en-IN" sz="2400" b="1" dirty="0">
                <a:latin typeface="Times New Roman" panose="02020603050405020304" pitchFamily="18" charset="0"/>
                <a:ea typeface="Calibri" panose="020F0502020204030204" pitchFamily="34" charset="0"/>
                <a:cs typeface="Times New Roman" panose="02020603050405020304" pitchFamily="18" charset="0"/>
              </a:rPr>
              <a:t>of King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Ajatshatru</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and was </a:t>
            </a:r>
            <a:r>
              <a:rPr lang="en-IN" sz="2400" b="1" dirty="0">
                <a:latin typeface="Times New Roman" panose="02020603050405020304" pitchFamily="18" charset="0"/>
                <a:ea typeface="Calibri" panose="020F0502020204030204" pitchFamily="34" charset="0"/>
                <a:cs typeface="Times New Roman" panose="02020603050405020304" pitchFamily="18" charset="0"/>
              </a:rPr>
              <a:t>presided by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Mahakasyapa</a:t>
            </a:r>
            <a:r>
              <a:rPr lang="en-IN" sz="2400" b="1" dirty="0">
                <a:latin typeface="Times New Roman" panose="02020603050405020304" pitchFamily="18" charset="0"/>
                <a:ea typeface="Calibri" panose="020F0502020204030204" pitchFamily="34" charset="0"/>
                <a:cs typeface="Times New Roman" panose="02020603050405020304" pitchFamily="18" charset="0"/>
              </a:rPr>
              <a:t>, a monk</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council was held in the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Sattapani</a:t>
            </a:r>
            <a:r>
              <a:rPr lang="en-IN" sz="2400" b="1" dirty="0">
                <a:latin typeface="Times New Roman" panose="02020603050405020304" pitchFamily="18" charset="0"/>
                <a:ea typeface="Calibri" panose="020F0502020204030204" pitchFamily="34" charset="0"/>
                <a:cs typeface="Times New Roman" panose="02020603050405020304" pitchFamily="18" charset="0"/>
              </a:rPr>
              <a:t> cave at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Rajgriha</a:t>
            </a:r>
            <a:r>
              <a:rPr lang="en-IN" sz="2400" b="1" dirty="0">
                <a:latin typeface="Times New Roman" panose="02020603050405020304" pitchFamily="18" charset="0"/>
                <a:ea typeface="Calibri" panose="020F0502020204030204" pitchFamily="34" charset="0"/>
                <a:cs typeface="Times New Roman" panose="02020603050405020304" pitchFamily="18" charset="0"/>
              </a:rPr>
              <a:t>.</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council was held with the purpose of preserving Buddha’s teachings (</a:t>
            </a:r>
            <a:r>
              <a:rPr lang="en-IN" sz="2400" dirty="0" err="1">
                <a:latin typeface="Times New Roman" panose="02020603050405020304" pitchFamily="18" charset="0"/>
                <a:ea typeface="Calibri" panose="020F0502020204030204" pitchFamily="34" charset="0"/>
                <a:cs typeface="Times New Roman" panose="02020603050405020304" pitchFamily="18" charset="0"/>
              </a:rPr>
              <a:t>Sutta</a:t>
            </a:r>
            <a:r>
              <a:rPr lang="en-IN" sz="2400" dirty="0">
                <a:latin typeface="Times New Roman" panose="02020603050405020304" pitchFamily="18" charset="0"/>
                <a:ea typeface="Calibri" panose="020F0502020204030204" pitchFamily="34" charset="0"/>
                <a:cs typeface="Times New Roman" panose="02020603050405020304" pitchFamily="18" charset="0"/>
              </a:rPr>
              <a:t>) and rules for disciples. During this council, the teachings of Buddha were divided into three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Pitakas</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483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451" y="348327"/>
            <a:ext cx="11207932" cy="6342762"/>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Second Council</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was held in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Vaishali</a:t>
            </a:r>
            <a:r>
              <a:rPr lang="en-IN" sz="2800" b="1" dirty="0">
                <a:latin typeface="Times New Roman" panose="02020603050405020304" pitchFamily="18" charset="0"/>
                <a:ea typeface="Calibri" panose="020F0502020204030204" pitchFamily="34" charset="0"/>
                <a:cs typeface="Times New Roman" panose="02020603050405020304" pitchFamily="18" charset="0"/>
              </a:rPr>
              <a:t>, a village in Bihar </a:t>
            </a:r>
            <a:r>
              <a:rPr lang="en-IN" sz="2800" dirty="0">
                <a:latin typeface="Times New Roman" panose="02020603050405020304" pitchFamily="18" charset="0"/>
                <a:ea typeface="Calibri" panose="020F0502020204030204" pitchFamily="34" charset="0"/>
                <a:cs typeface="Times New Roman" panose="02020603050405020304" pitchFamily="18" charset="0"/>
              </a:rPr>
              <a:t>under 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patronage of the king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Kalasoka</a:t>
            </a:r>
            <a:r>
              <a:rPr lang="en-IN" sz="2800" b="1" dirty="0">
                <a:latin typeface="Times New Roman" panose="02020603050405020304" pitchFamily="18" charset="0"/>
                <a:ea typeface="Calibri" panose="020F0502020204030204" pitchFamily="34" charset="0"/>
                <a:cs typeface="Times New Roman" panose="02020603050405020304" pitchFamily="18" charset="0"/>
              </a:rPr>
              <a:t> </a:t>
            </a:r>
            <a:r>
              <a:rPr lang="en-IN" sz="2800" dirty="0">
                <a:latin typeface="Times New Roman" panose="02020603050405020304" pitchFamily="18" charset="0"/>
                <a:ea typeface="Calibri" panose="020F0502020204030204" pitchFamily="34" charset="0"/>
                <a:cs typeface="Times New Roman" panose="02020603050405020304" pitchFamily="18" charset="0"/>
              </a:rPr>
              <a:t>in 383 BC</a:t>
            </a:r>
            <a:r>
              <a:rPr lang="en-IN" sz="2800" b="1" dirty="0">
                <a:latin typeface="Times New Roman" panose="02020603050405020304" pitchFamily="18" charset="0"/>
                <a:ea typeface="Calibri" panose="020F0502020204030204" pitchFamily="34" charset="0"/>
                <a:cs typeface="Times New Roman" panose="02020603050405020304" pitchFamily="18" charset="0"/>
              </a:rPr>
              <a:t>. It was presided by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Sabakami</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Third Council</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was held in 250 BC in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Patliputra</a:t>
            </a:r>
            <a:r>
              <a:rPr lang="en-IN" sz="2800" dirty="0">
                <a:latin typeface="Times New Roman" panose="02020603050405020304" pitchFamily="18" charset="0"/>
                <a:ea typeface="Calibri" panose="020F0502020204030204" pitchFamily="34" charset="0"/>
                <a:cs typeface="Times New Roman" panose="02020603050405020304" pitchFamily="18" charset="0"/>
              </a:rPr>
              <a:t> under the </a:t>
            </a:r>
            <a:r>
              <a:rPr lang="en-IN" sz="2800" b="1" dirty="0">
                <a:latin typeface="Times New Roman" panose="02020603050405020304" pitchFamily="18" charset="0"/>
                <a:ea typeface="Calibri" panose="020F0502020204030204" pitchFamily="34" charset="0"/>
                <a:cs typeface="Times New Roman" panose="02020603050405020304" pitchFamily="18" charset="0"/>
              </a:rPr>
              <a:t>patronage of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Ashoka</a:t>
            </a:r>
            <a:r>
              <a:rPr lang="en-IN" sz="2800" dirty="0">
                <a:latin typeface="Times New Roman" panose="02020603050405020304" pitchFamily="18" charset="0"/>
                <a:ea typeface="Calibri" panose="020F0502020204030204" pitchFamily="34" charset="0"/>
                <a:cs typeface="Times New Roman" panose="02020603050405020304" pitchFamily="18" charset="0"/>
              </a:rPr>
              <a:t> and was presided by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Moggaliputta</a:t>
            </a:r>
            <a:r>
              <a:rPr lang="en-IN" sz="2800" b="1" dirty="0">
                <a:latin typeface="Times New Roman" panose="02020603050405020304" pitchFamily="18" charset="0"/>
                <a:ea typeface="Calibri" panose="020F0502020204030204" pitchFamily="34" charset="0"/>
                <a:cs typeface="Times New Roman" panose="02020603050405020304" pitchFamily="18" charset="0"/>
              </a:rPr>
              <a:t>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Tissa</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Forth Council</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was held in 72 AD at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Kundalvana</a:t>
            </a:r>
            <a:r>
              <a:rPr lang="en-IN" sz="2800" b="1" dirty="0">
                <a:latin typeface="Times New Roman" panose="02020603050405020304" pitchFamily="18" charset="0"/>
                <a:ea typeface="Calibri" panose="020F0502020204030204" pitchFamily="34" charset="0"/>
                <a:cs typeface="Times New Roman" panose="02020603050405020304" pitchFamily="18" charset="0"/>
              </a:rPr>
              <a:t>, Kashmir</a:t>
            </a:r>
            <a:r>
              <a:rPr lang="en-IN" sz="2800" dirty="0">
                <a:latin typeface="Times New Roman" panose="02020603050405020304" pitchFamily="18" charset="0"/>
                <a:ea typeface="Calibri" panose="020F0502020204030204" pitchFamily="34" charset="0"/>
                <a:cs typeface="Times New Roman" panose="02020603050405020304" pitchFamily="18" charset="0"/>
              </a:rPr>
              <a:t>. It was </a:t>
            </a:r>
            <a:r>
              <a:rPr lang="en-IN" sz="2800" b="1" dirty="0">
                <a:latin typeface="Times New Roman" panose="02020603050405020304" pitchFamily="18" charset="0"/>
                <a:ea typeface="Calibri" panose="020F0502020204030204" pitchFamily="34" charset="0"/>
                <a:cs typeface="Times New Roman" panose="02020603050405020304" pitchFamily="18" charset="0"/>
              </a:rPr>
              <a:t>presided by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Vasumitra</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r>
              <a:rPr lang="en-IN" sz="2800" dirty="0">
                <a:latin typeface="Times New Roman" panose="02020603050405020304" pitchFamily="18" charset="0"/>
                <a:ea typeface="Calibri" panose="020F0502020204030204" pitchFamily="34" charset="0"/>
                <a:cs typeface="Times New Roman" panose="02020603050405020304" pitchFamily="18" charset="0"/>
              </a:rPr>
              <a:t> while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Asvaghosa</a:t>
            </a:r>
            <a:r>
              <a:rPr lang="en-IN" sz="2800" b="1" dirty="0">
                <a:latin typeface="Times New Roman" panose="02020603050405020304" pitchFamily="18" charset="0"/>
                <a:ea typeface="Calibri" panose="020F0502020204030204" pitchFamily="34" charset="0"/>
                <a:cs typeface="Times New Roman" panose="02020603050405020304" pitchFamily="18" charset="0"/>
              </a:rPr>
              <a:t> was his deputy under the patronage of King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Kanishka</a:t>
            </a:r>
            <a:r>
              <a:rPr lang="en-IN" sz="2800" b="1" dirty="0">
                <a:latin typeface="Times New Roman" panose="02020603050405020304" pitchFamily="18" charset="0"/>
                <a:ea typeface="Calibri" panose="020F0502020204030204" pitchFamily="34" charset="0"/>
                <a:cs typeface="Times New Roman" panose="02020603050405020304" pitchFamily="18" charset="0"/>
              </a:rPr>
              <a:t> of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Kushan</a:t>
            </a:r>
            <a:r>
              <a:rPr lang="en-IN" sz="2800" dirty="0">
                <a:latin typeface="Times New Roman" panose="02020603050405020304" pitchFamily="18" charset="0"/>
                <a:ea typeface="Calibri" panose="020F0502020204030204" pitchFamily="34" charset="0"/>
                <a:cs typeface="Times New Roman" panose="02020603050405020304" pitchFamily="18" charset="0"/>
              </a:rPr>
              <a:t>.</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Empire.</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latin typeface="Times New Roman" panose="02020603050405020304" pitchFamily="18" charset="0"/>
                <a:ea typeface="Calibri" panose="020F0502020204030204" pitchFamily="34" charset="0"/>
                <a:cs typeface="Times New Roman" panose="02020603050405020304" pitchFamily="18" charset="0"/>
              </a:rPr>
              <a:t>Buddhism was divided into two sects namely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Mahayan</a:t>
            </a:r>
            <a:r>
              <a:rPr lang="en-IN" sz="2800" b="1" dirty="0">
                <a:latin typeface="Times New Roman" panose="02020603050405020304" pitchFamily="18" charset="0"/>
                <a:ea typeface="Calibri" panose="020F0502020204030204" pitchFamily="34" charset="0"/>
                <a:cs typeface="Times New Roman" panose="02020603050405020304" pitchFamily="18" charset="0"/>
              </a:rPr>
              <a:t> and </a:t>
            </a:r>
            <a:r>
              <a:rPr lang="en-IN" sz="2800" b="1" dirty="0" err="1">
                <a:latin typeface="Times New Roman" panose="02020603050405020304" pitchFamily="18" charset="0"/>
                <a:ea typeface="Calibri" panose="020F0502020204030204" pitchFamily="34" charset="0"/>
                <a:cs typeface="Times New Roman" panose="02020603050405020304" pitchFamily="18" charset="0"/>
              </a:rPr>
              <a:t>Hinayan</a:t>
            </a:r>
            <a:r>
              <a:rPr lang="en-IN" sz="2800" b="1" dirty="0">
                <a:latin typeface="Times New Roman" panose="02020603050405020304" pitchFamily="18" charset="0"/>
                <a:ea typeface="Calibri" panose="020F0502020204030204" pitchFamily="34" charset="0"/>
                <a:cs typeface="Times New Roman" panose="02020603050405020304" pitchFamily="18" charset="0"/>
              </a:rPr>
              <a:t>.</a:t>
            </a: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4774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12131"/>
            <a:ext cx="11390811" cy="6206827"/>
          </a:xfrm>
          <a:prstGeom prst="rect">
            <a:avLst/>
          </a:prstGeom>
        </p:spPr>
        <p:txBody>
          <a:bodyPr wrap="square">
            <a:spAutoFit/>
          </a:bodyPr>
          <a:lstStyle/>
          <a:p>
            <a:pPr algn="just">
              <a:lnSpc>
                <a:spcPct val="150000"/>
              </a:lnSpc>
              <a:spcAft>
                <a:spcPts val="800"/>
              </a:spcAft>
            </a:pPr>
            <a:r>
              <a:rPr lang="en-IN" sz="3200" b="1" dirty="0">
                <a:latin typeface="Times New Roman" panose="02020603050405020304" pitchFamily="18" charset="0"/>
                <a:ea typeface="Calibri" panose="020F0502020204030204" pitchFamily="34" charset="0"/>
                <a:cs typeface="Times New Roman" panose="02020603050405020304" pitchFamily="18" charset="0"/>
              </a:rPr>
              <a:t>Schools of Buddhism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Mahayana: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 is one of the two main schools of Buddhism</a:t>
            </a:r>
            <a:r>
              <a:rPr lang="en-IN" sz="2400" b="1" dirty="0">
                <a:latin typeface="Times New Roman" panose="02020603050405020304" pitchFamily="18" charset="0"/>
                <a:ea typeface="Calibri" panose="020F0502020204030204" pitchFamily="34" charset="0"/>
                <a:cs typeface="Times New Roman" panose="02020603050405020304" pitchFamily="18" charset="0"/>
              </a:rPr>
              <a:t>. The term Mahayana is a Sanskrit word which literally means "Great Vehicle".</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 believes in the heavenliness of Buddha and Idol worship of Buddha and Bodhisattvas embodying Buddha Nature.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 originated in northern India and Kashmir and then spread east into Central Asia, East Asia and some areas of Southeast Asia.</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Buddhist schools embedded in </a:t>
            </a:r>
            <a:r>
              <a:rPr lang="en-IN" sz="2400" b="1" dirty="0">
                <a:latin typeface="Times New Roman" panose="02020603050405020304" pitchFamily="18" charset="0"/>
                <a:ea typeface="Calibri" panose="020F0502020204030204" pitchFamily="34" charset="0"/>
                <a:cs typeface="Times New Roman" panose="02020603050405020304" pitchFamily="18" charset="0"/>
              </a:rPr>
              <a:t>China, Korea, Tibet and Japan </a:t>
            </a:r>
            <a:r>
              <a:rPr lang="en-IN" sz="2400" dirty="0">
                <a:latin typeface="Times New Roman" panose="02020603050405020304" pitchFamily="18" charset="0"/>
                <a:ea typeface="Calibri" panose="020F0502020204030204" pitchFamily="34" charset="0"/>
                <a:cs typeface="Times New Roman" panose="02020603050405020304" pitchFamily="18" charset="0"/>
              </a:rPr>
              <a:t>belong to the Mahayana tradition.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1019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6" y="396754"/>
            <a:ext cx="11403874" cy="5986254"/>
          </a:xfrm>
          <a:prstGeom prst="rect">
            <a:avLst/>
          </a:prstGeom>
        </p:spPr>
        <p:txBody>
          <a:bodyPr wrap="square">
            <a:spAutoFit/>
          </a:bodyPr>
          <a:lstStyle/>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Hinayana</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Literally Lesser vehicle, also known as Abandoned Vehicle or Defective vehicle. It believes in the original teaching of Buddha or Doctrine of elders.</a:t>
            </a:r>
          </a:p>
          <a:p>
            <a:pPr marL="342900" lvl="0" indent="-342900" algn="just">
              <a:lnSpc>
                <a:spcPct val="150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It does not believe in Idol worship and tries to attain individual salvation through self-discipline and meditation.</a:t>
            </a:r>
          </a:p>
          <a:p>
            <a:pPr marL="342900" lvl="0" indent="-342900" algn="just">
              <a:lnSpc>
                <a:spcPct val="150000"/>
              </a:lnSpc>
              <a:spcAft>
                <a:spcPts val="80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Theravada is a Hinayana sect.</a:t>
            </a:r>
          </a:p>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Theravada</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It is the most ancient branch of extant Buddhism today. It remains closest to the original teachings of the Buddha.</a:t>
            </a:r>
          </a:p>
          <a:p>
            <a:pPr marL="342900" lvl="0" indent="-342900" algn="just">
              <a:lnSpc>
                <a:spcPct val="150000"/>
              </a:lnSpc>
              <a:spcAft>
                <a:spcPts val="80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Theravada Buddhism developed in Sri Lanka and subsequently spread to the rest of Southeast Asia. It is the dominant form of religion in Cambodia, Laos, Myanmar, Sri Lanka, and Thailand.</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2922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9" y="553511"/>
            <a:ext cx="11364685" cy="5932393"/>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Vajrayana</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Vajrayana means </a:t>
            </a:r>
            <a:r>
              <a:rPr lang="en-IN" sz="2800" b="1" dirty="0">
                <a:latin typeface="Times New Roman" panose="02020603050405020304" pitchFamily="18" charset="0"/>
                <a:ea typeface="Calibri" panose="020F0502020204030204" pitchFamily="34" charset="0"/>
                <a:cs typeface="Times New Roman" panose="02020603050405020304" pitchFamily="18" charset="0"/>
              </a:rPr>
              <a:t>“The Vehicle of the Thunderbolt”,</a:t>
            </a:r>
            <a:r>
              <a:rPr lang="en-IN" sz="2800" dirty="0">
                <a:latin typeface="Times New Roman" panose="02020603050405020304" pitchFamily="18" charset="0"/>
                <a:ea typeface="Calibri" panose="020F0502020204030204" pitchFamily="34" charset="0"/>
                <a:cs typeface="Times New Roman" panose="02020603050405020304" pitchFamily="18" charset="0"/>
              </a:rPr>
              <a:t> also </a:t>
            </a:r>
            <a:r>
              <a:rPr lang="en-IN" sz="2800" b="1" dirty="0">
                <a:latin typeface="Times New Roman" panose="02020603050405020304" pitchFamily="18" charset="0"/>
                <a:ea typeface="Calibri" panose="020F0502020204030204" pitchFamily="34" charset="0"/>
                <a:cs typeface="Times New Roman" panose="02020603050405020304" pitchFamily="18" charset="0"/>
              </a:rPr>
              <a:t>known as tantric Buddhism.</a:t>
            </a:r>
            <a:r>
              <a:rPr lang="en-IN" sz="2800" dirty="0">
                <a:latin typeface="Times New Roman" panose="02020603050405020304" pitchFamily="18" charset="0"/>
                <a:ea typeface="Calibri" panose="020F0502020204030204" pitchFamily="34" charset="0"/>
                <a:cs typeface="Times New Roman" panose="02020603050405020304" pitchFamily="18" charset="0"/>
              </a:rPr>
              <a:t> This Buddhist school developed in India around 900 CE.</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is grounded on esoteric elements and very complex set of rituals compared with the rest of the Buddhist schools.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Zen</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is a school of Mahayana Buddhism that </a:t>
            </a:r>
            <a:r>
              <a:rPr lang="en-IN" sz="2800" b="1" dirty="0">
                <a:latin typeface="Times New Roman" panose="02020603050405020304" pitchFamily="18" charset="0"/>
                <a:ea typeface="Calibri" panose="020F0502020204030204" pitchFamily="34" charset="0"/>
                <a:cs typeface="Times New Roman" panose="02020603050405020304" pitchFamily="18" charset="0"/>
              </a:rPr>
              <a:t>originated in China </a:t>
            </a:r>
            <a:r>
              <a:rPr lang="en-IN" sz="2800" dirty="0">
                <a:latin typeface="Times New Roman" panose="02020603050405020304" pitchFamily="18" charset="0"/>
                <a:ea typeface="Calibri" panose="020F0502020204030204" pitchFamily="34" charset="0"/>
                <a:cs typeface="Times New Roman" panose="02020603050405020304" pitchFamily="18" charset="0"/>
              </a:rPr>
              <a:t>during the Tang dynasty as the Chan school of Chinese Buddhism in and later developed into various schools.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It spread to Japan in 7 centuries C.E.</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Meditation is the most distinctive feature of this Buddhist tradition.</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44519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63670"/>
            <a:ext cx="11364686" cy="6329297"/>
          </a:xfrm>
          <a:prstGeom prst="rect">
            <a:avLst/>
          </a:prstGeom>
        </p:spPr>
        <p:txBody>
          <a:bodyPr wrap="square">
            <a:spAutoFit/>
          </a:bodyPr>
          <a:lstStyle/>
          <a:p>
            <a:pPr algn="just">
              <a:lnSpc>
                <a:spcPct val="107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Spread of Buddhism</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Buddha had </a:t>
            </a:r>
            <a:r>
              <a:rPr lang="en-IN" sz="2200" b="1" dirty="0">
                <a:latin typeface="Times New Roman" panose="02020603050405020304" pitchFamily="18" charset="0"/>
                <a:ea typeface="Calibri" panose="020F0502020204030204" pitchFamily="34" charset="0"/>
                <a:cs typeface="Times New Roman" panose="02020603050405020304" pitchFamily="18" charset="0"/>
              </a:rPr>
              <a:t>two kinds of disciples</a:t>
            </a:r>
            <a:r>
              <a:rPr lang="en-IN" sz="2200" dirty="0">
                <a:latin typeface="Times New Roman" panose="02020603050405020304" pitchFamily="18" charset="0"/>
                <a:ea typeface="Calibri" panose="020F0502020204030204" pitchFamily="34" charset="0"/>
                <a:cs typeface="Times New Roman" panose="02020603050405020304" pitchFamily="18" charset="0"/>
              </a:rPr>
              <a:t> – </a:t>
            </a:r>
            <a:r>
              <a:rPr lang="en-IN" sz="2200" b="1" dirty="0">
                <a:latin typeface="Times New Roman" panose="02020603050405020304" pitchFamily="18" charset="0"/>
                <a:ea typeface="Calibri" panose="020F0502020204030204" pitchFamily="34" charset="0"/>
                <a:cs typeface="Times New Roman" panose="02020603050405020304" pitchFamily="18" charset="0"/>
              </a:rPr>
              <a:t>monks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bhikshus</a:t>
            </a:r>
            <a:r>
              <a:rPr lang="en-IN" sz="2200" dirty="0">
                <a:latin typeface="Times New Roman" panose="02020603050405020304" pitchFamily="18" charset="0"/>
                <a:ea typeface="Calibri" panose="020F0502020204030204" pitchFamily="34" charset="0"/>
                <a:cs typeface="Times New Roman" panose="02020603050405020304" pitchFamily="18" charset="0"/>
              </a:rPr>
              <a:t>) and </a:t>
            </a:r>
            <a:r>
              <a:rPr lang="en-IN" sz="2200" b="1" dirty="0">
                <a:latin typeface="Times New Roman" panose="02020603050405020304" pitchFamily="18" charset="0"/>
                <a:ea typeface="Calibri" panose="020F0502020204030204" pitchFamily="34" charset="0"/>
                <a:cs typeface="Times New Roman" panose="02020603050405020304" pitchFamily="18" charset="0"/>
              </a:rPr>
              <a:t>lay worshippers (</a:t>
            </a:r>
            <a:r>
              <a:rPr lang="en-IN" sz="2200" b="1" dirty="0" err="1">
                <a:latin typeface="Times New Roman" panose="02020603050405020304" pitchFamily="18" charset="0"/>
                <a:ea typeface="Calibri" panose="020F0502020204030204" pitchFamily="34" charset="0"/>
                <a:cs typeface="Times New Roman" panose="02020603050405020304" pitchFamily="18" charset="0"/>
              </a:rPr>
              <a:t>upasikas</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 monks were organized into the Sangha for the purpose of spreading his teachings.</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The Sangha was governed on democratic lines and was empowered to enforce discipline among its members.</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Owing to the organised efforts made by the Sangha, Buddhism made rapid progress in North India even during Buddha’s life time.</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After the death of Buddha, his followers traversed on his path of meditation and roamed throughout the countryside.</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For 200 years Buddhism remained overshadowed by their Hindu counterparts until the advent of Great </a:t>
            </a:r>
            <a:r>
              <a:rPr lang="en-IN" sz="2200" dirty="0" err="1">
                <a:latin typeface="Times New Roman" panose="02020603050405020304" pitchFamily="18" charset="0"/>
                <a:ea typeface="Calibri" panose="020F0502020204030204" pitchFamily="34" charset="0"/>
                <a:cs typeface="Times New Roman" panose="02020603050405020304" pitchFamily="18" charset="0"/>
              </a:rPr>
              <a:t>Mauryan</a:t>
            </a:r>
            <a:r>
              <a:rPr lang="en-IN" sz="2200" dirty="0">
                <a:latin typeface="Times New Roman" panose="02020603050405020304" pitchFamily="18" charset="0"/>
                <a:ea typeface="Calibri" panose="020F0502020204030204" pitchFamily="34" charset="0"/>
                <a:cs typeface="Times New Roman" panose="02020603050405020304" pitchFamily="18" charset="0"/>
              </a:rPr>
              <a:t> King –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Ashoka</a:t>
            </a:r>
            <a:r>
              <a:rPr lang="en-IN" sz="2200"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After the bloodbath in his Kalinga conquest, emperor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Ashoka</a:t>
            </a:r>
            <a:r>
              <a:rPr lang="en-IN" sz="2200" dirty="0">
                <a:latin typeface="Times New Roman" panose="02020603050405020304" pitchFamily="18" charset="0"/>
                <a:ea typeface="Calibri" panose="020F0502020204030204" pitchFamily="34" charset="0"/>
                <a:cs typeface="Times New Roman" panose="02020603050405020304" pitchFamily="18" charset="0"/>
              </a:rPr>
              <a:t> decided to give up the policy of worldly conquest and adopted </a:t>
            </a:r>
            <a:r>
              <a:rPr lang="en-IN" sz="2200" dirty="0" err="1">
                <a:latin typeface="Times New Roman" panose="02020603050405020304" pitchFamily="18" charset="0"/>
                <a:ea typeface="Calibri" panose="020F0502020204030204" pitchFamily="34" charset="0"/>
                <a:cs typeface="Times New Roman" panose="02020603050405020304" pitchFamily="18" charset="0"/>
              </a:rPr>
              <a:t>Dhamma</a:t>
            </a:r>
            <a:r>
              <a:rPr lang="en-IN" sz="2200" dirty="0">
                <a:latin typeface="Times New Roman" panose="02020603050405020304" pitchFamily="18" charset="0"/>
                <a:ea typeface="Calibri" panose="020F0502020204030204" pitchFamily="34" charset="0"/>
                <a:cs typeface="Times New Roman" panose="02020603050405020304" pitchFamily="18" charset="0"/>
              </a:rPr>
              <a:t> conquest.</a:t>
            </a:r>
          </a:p>
          <a:p>
            <a:pPr marL="342900" lvl="0" indent="-342900" algn="just">
              <a:lnSpc>
                <a:spcPct val="107000"/>
              </a:lnSpc>
              <a:spcAft>
                <a:spcPts val="0"/>
              </a:spcAft>
              <a:buFont typeface="Symbol" panose="05050102010706020507" pitchFamily="18" charset="2"/>
              <a:buChar char=""/>
            </a:pPr>
            <a:r>
              <a:rPr lang="en-IN" sz="2200" dirty="0" err="1">
                <a:latin typeface="Times New Roman" panose="02020603050405020304" pitchFamily="18" charset="0"/>
                <a:ea typeface="Calibri" panose="020F0502020204030204" pitchFamily="34" charset="0"/>
                <a:cs typeface="Times New Roman" panose="02020603050405020304" pitchFamily="18" charset="0"/>
              </a:rPr>
              <a:t>Ashoka</a:t>
            </a:r>
            <a:r>
              <a:rPr lang="en-IN" sz="2200" dirty="0">
                <a:latin typeface="Times New Roman" panose="02020603050405020304" pitchFamily="18" charset="0"/>
                <a:ea typeface="Calibri" panose="020F0502020204030204" pitchFamily="34" charset="0"/>
                <a:cs typeface="Times New Roman" panose="02020603050405020304" pitchFamily="18" charset="0"/>
              </a:rPr>
              <a:t> during the third Buddhist council dispatched various Buddhist missions to different areas such as </a:t>
            </a:r>
            <a:r>
              <a:rPr lang="en-IN" sz="2200" dirty="0" err="1">
                <a:latin typeface="Times New Roman" panose="02020603050405020304" pitchFamily="18" charset="0"/>
                <a:ea typeface="Calibri" panose="020F0502020204030204" pitchFamily="34" charset="0"/>
                <a:cs typeface="Times New Roman" panose="02020603050405020304" pitchFamily="18" charset="0"/>
              </a:rPr>
              <a:t>Gandhara</a:t>
            </a:r>
            <a:r>
              <a:rPr lang="en-IN" sz="2200" dirty="0">
                <a:latin typeface="Times New Roman" panose="02020603050405020304" pitchFamily="18" charset="0"/>
                <a:ea typeface="Calibri" panose="020F0502020204030204" pitchFamily="34" charset="0"/>
                <a:cs typeface="Times New Roman" panose="02020603050405020304" pitchFamily="18" charset="0"/>
              </a:rPr>
              <a:t>, Kashmir, Greece, Sri Lanka, Burma (Myanmar),Egypt, and Thailand.</a:t>
            </a:r>
          </a:p>
          <a:p>
            <a:pPr marL="342900" lvl="0" indent="-342900" algn="just">
              <a:lnSpc>
                <a:spcPct val="107000"/>
              </a:lnSpc>
              <a:spcAft>
                <a:spcPts val="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Through his missionary effort </a:t>
            </a:r>
            <a:r>
              <a:rPr lang="en-IN" sz="2200" dirty="0" err="1">
                <a:latin typeface="Times New Roman" panose="02020603050405020304" pitchFamily="18" charset="0"/>
                <a:ea typeface="Calibri" panose="020F0502020204030204" pitchFamily="34" charset="0"/>
                <a:cs typeface="Times New Roman" panose="02020603050405020304" pitchFamily="18" charset="0"/>
              </a:rPr>
              <a:t>Ashoka</a:t>
            </a:r>
            <a:r>
              <a:rPr lang="en-IN" sz="2200" dirty="0">
                <a:latin typeface="Times New Roman" panose="02020603050405020304" pitchFamily="18" charset="0"/>
                <a:ea typeface="Calibri" panose="020F0502020204030204" pitchFamily="34" charset="0"/>
                <a:cs typeface="Times New Roman" panose="02020603050405020304" pitchFamily="18" charset="0"/>
              </a:rPr>
              <a:t> spread Buddhism into West Asia and Ceylon.</a:t>
            </a:r>
          </a:p>
          <a:p>
            <a:pPr marL="342900" lvl="0" indent="-342900" algn="just">
              <a:lnSpc>
                <a:spcPct val="107000"/>
              </a:lnSpc>
              <a:spcAft>
                <a:spcPts val="800"/>
              </a:spcAft>
              <a:buFont typeface="Symbol" panose="05050102010706020507" pitchFamily="18" charset="2"/>
              <a:buChar char=""/>
            </a:pPr>
            <a:r>
              <a:rPr lang="en-IN" sz="2200" dirty="0">
                <a:latin typeface="Times New Roman" panose="02020603050405020304" pitchFamily="18" charset="0"/>
                <a:ea typeface="Calibri" panose="020F0502020204030204" pitchFamily="34" charset="0"/>
                <a:cs typeface="Times New Roman" panose="02020603050405020304" pitchFamily="18" charset="0"/>
              </a:rPr>
              <a:t>Thus a local religious sect was transformed into a world religion.</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9379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017" y="394843"/>
            <a:ext cx="11155680" cy="6288901"/>
          </a:xfrm>
          <a:prstGeom prst="rect">
            <a:avLst/>
          </a:prstGeom>
        </p:spPr>
        <p:txBody>
          <a:bodyPr wrap="square">
            <a:spAutoFit/>
          </a:bodyPr>
          <a:lstStyle/>
          <a:p>
            <a:pPr algn="just">
              <a:lnSpc>
                <a:spcPct val="150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Contribution of Buddhism to Indian Culture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Buddhism has made remarkable contribution to the development of Indian culture: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concept of </a:t>
            </a:r>
            <a:r>
              <a:rPr lang="en-IN" sz="2400" b="1" dirty="0">
                <a:latin typeface="Times New Roman" panose="02020603050405020304" pitchFamily="18" charset="0"/>
                <a:ea typeface="Calibri" panose="020F0502020204030204" pitchFamily="34" charset="0"/>
                <a:cs typeface="Times New Roman" panose="02020603050405020304" pitchFamily="18" charset="0"/>
              </a:rPr>
              <a:t>ahimsa</a:t>
            </a:r>
            <a:r>
              <a:rPr lang="en-IN" sz="2400" dirty="0">
                <a:latin typeface="Times New Roman" panose="02020603050405020304" pitchFamily="18" charset="0"/>
                <a:ea typeface="Calibri" panose="020F0502020204030204" pitchFamily="34" charset="0"/>
                <a:cs typeface="Times New Roman" panose="02020603050405020304" pitchFamily="18" charset="0"/>
              </a:rPr>
              <a:t> was its chief contribution. Later, it became one of the cherished values of our nation.</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Its contribution to the art and architecture of India was notable. The stupas at </a:t>
            </a:r>
            <a:r>
              <a:rPr lang="en-IN" sz="2400" dirty="0" err="1">
                <a:latin typeface="Times New Roman" panose="02020603050405020304" pitchFamily="18" charset="0"/>
                <a:ea typeface="Calibri" panose="020F0502020204030204" pitchFamily="34" charset="0"/>
                <a:cs typeface="Times New Roman" panose="02020603050405020304" pitchFamily="18" charset="0"/>
              </a:rPr>
              <a:t>Sanchi</a:t>
            </a:r>
            <a:r>
              <a:rPr lang="en-IN" sz="2400" dirty="0">
                <a:latin typeface="Times New Roman" panose="02020603050405020304" pitchFamily="18" charset="0"/>
                <a:ea typeface="Calibri" panose="020F0502020204030204" pitchFamily="34" charset="0"/>
                <a:cs typeface="Times New Roman" panose="02020603050405020304" pitchFamily="18" charset="0"/>
              </a:rPr>
              <a:t>, Bharuch and Gaya are wonderful pieces of architecture.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b="1" dirty="0">
                <a:latin typeface="Times New Roman" panose="02020603050405020304" pitchFamily="18" charset="0"/>
                <a:ea typeface="Calibri" panose="020F0502020204030204" pitchFamily="34" charset="0"/>
                <a:cs typeface="Times New Roman" panose="02020603050405020304" pitchFamily="18" charset="0"/>
              </a:rPr>
              <a:t>It promoted education through residential universities </a:t>
            </a:r>
            <a:r>
              <a:rPr lang="en-IN" sz="2400" dirty="0">
                <a:latin typeface="Times New Roman" panose="02020603050405020304" pitchFamily="18" charset="0"/>
                <a:ea typeface="Calibri" panose="020F0502020204030204" pitchFamily="34" charset="0"/>
                <a:cs typeface="Times New Roman" panose="02020603050405020304" pitchFamily="18" charset="0"/>
              </a:rPr>
              <a:t>like those at </a:t>
            </a:r>
            <a:r>
              <a:rPr lang="en-IN" sz="2400" dirty="0" err="1">
                <a:latin typeface="Times New Roman" panose="02020603050405020304" pitchFamily="18" charset="0"/>
                <a:ea typeface="Calibri" panose="020F0502020204030204" pitchFamily="34" charset="0"/>
                <a:cs typeface="Times New Roman" panose="02020603050405020304" pitchFamily="18" charset="0"/>
              </a:rPr>
              <a:t>Taxila</a:t>
            </a: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err="1">
                <a:latin typeface="Times New Roman" panose="02020603050405020304" pitchFamily="18" charset="0"/>
                <a:ea typeface="Calibri" panose="020F0502020204030204" pitchFamily="34" charset="0"/>
                <a:cs typeface="Times New Roman" panose="02020603050405020304" pitchFamily="18" charset="0"/>
              </a:rPr>
              <a:t>Nalanda</a:t>
            </a:r>
            <a:r>
              <a:rPr lang="en-IN" sz="2400" dirty="0">
                <a:latin typeface="Times New Roman" panose="02020603050405020304" pitchFamily="18" charset="0"/>
                <a:ea typeface="Calibri" panose="020F0502020204030204" pitchFamily="34" charset="0"/>
                <a:cs typeface="Times New Roman" panose="02020603050405020304" pitchFamily="18" charset="0"/>
              </a:rPr>
              <a:t> and </a:t>
            </a:r>
            <a:r>
              <a:rPr lang="en-IN" sz="2400" dirty="0" err="1">
                <a:latin typeface="Times New Roman" panose="02020603050405020304" pitchFamily="18" charset="0"/>
                <a:ea typeface="Calibri" panose="020F0502020204030204" pitchFamily="34" charset="0"/>
                <a:cs typeface="Times New Roman" panose="02020603050405020304" pitchFamily="18" charset="0"/>
              </a:rPr>
              <a:t>Vikramasila</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The language of</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Pali</a:t>
            </a:r>
            <a:r>
              <a:rPr lang="en-IN" sz="2400" b="1"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and other local languages developed through the teachings of Buddhism.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Times New Roman" panose="02020603050405020304" pitchFamily="18" charset="0"/>
              </a:rPr>
              <a:t>It had also promoted the spread of Indian culture to other parts of Asia.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12639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8011" y="644403"/>
            <a:ext cx="11390812" cy="6114494"/>
          </a:xfrm>
          <a:prstGeom prst="rect">
            <a:avLst/>
          </a:prstGeom>
        </p:spPr>
        <p:txBody>
          <a:bodyPr wrap="square">
            <a:spAutoFit/>
          </a:bodyPr>
          <a:lstStyle/>
          <a:p>
            <a:pPr algn="just">
              <a:lnSpc>
                <a:spcPct val="150000"/>
              </a:lnSpc>
              <a:spcAft>
                <a:spcPts val="800"/>
              </a:spcAft>
            </a:pPr>
            <a:r>
              <a:rPr lang="en-IN" sz="2800" dirty="0">
                <a:latin typeface="Times New Roman" panose="02020603050405020304" pitchFamily="18" charset="0"/>
                <a:ea typeface="Calibri" panose="020F0502020204030204" pitchFamily="34" charset="0"/>
                <a:cs typeface="Times New Roman" panose="02020603050405020304" pitchFamily="18" charset="0"/>
              </a:rPr>
              <a:t>Heritage City Development Scheme (HRIDAY) and identification of 3 Buddhist circuits are some of the few initiatives by central government to harness the Buddhist pilgrims to both augment the Tourism and employment opportunities.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UNESCO’s heritage sites related to Buddhism:</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Archaeological Site of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Nalanda</a:t>
            </a:r>
            <a:r>
              <a:rPr lang="en-IN" sz="2800" dirty="0">
                <a:latin typeface="Times New Roman" panose="02020603050405020304" pitchFamily="18" charset="0"/>
                <a:ea typeface="Calibri" panose="020F0502020204030204" pitchFamily="34" charset="0"/>
                <a:cs typeface="Times New Roman" panose="02020603050405020304" pitchFamily="18" charset="0"/>
              </a:rPr>
              <a:t> </a:t>
            </a:r>
            <a:r>
              <a:rPr lang="en-IN" sz="2800" dirty="0" err="1">
                <a:latin typeface="Times New Roman" panose="02020603050405020304" pitchFamily="18" charset="0"/>
                <a:ea typeface="Calibri" panose="020F0502020204030204" pitchFamily="34" charset="0"/>
                <a:cs typeface="Times New Roman" panose="02020603050405020304" pitchFamily="18" charset="0"/>
              </a:rPr>
              <a:t>Mahavihara</a:t>
            </a:r>
            <a:r>
              <a:rPr lang="en-IN" sz="2800" dirty="0">
                <a:latin typeface="Times New Roman" panose="02020603050405020304" pitchFamily="18" charset="0"/>
                <a:ea typeface="Calibri" panose="020F0502020204030204" pitchFamily="34" charset="0"/>
                <a:cs typeface="Times New Roman" panose="02020603050405020304" pitchFamily="18" charset="0"/>
              </a:rPr>
              <a:t> at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Nalanda</a:t>
            </a:r>
            <a:r>
              <a:rPr lang="en-IN" sz="2800" dirty="0">
                <a:latin typeface="Times New Roman" panose="02020603050405020304" pitchFamily="18" charset="0"/>
                <a:ea typeface="Calibri" panose="020F0502020204030204" pitchFamily="34" charset="0"/>
                <a:cs typeface="Times New Roman" panose="02020603050405020304" pitchFamily="18" charset="0"/>
              </a:rPr>
              <a:t>, Bihar</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Buddhist Monuments at </a:t>
            </a:r>
            <a:r>
              <a:rPr lang="en-IN" sz="2800" dirty="0" err="1">
                <a:latin typeface="Times New Roman" panose="02020603050405020304" pitchFamily="18" charset="0"/>
                <a:ea typeface="Calibri" panose="020F0502020204030204" pitchFamily="34" charset="0"/>
                <a:cs typeface="Times New Roman" panose="02020603050405020304" pitchFamily="18" charset="0"/>
              </a:rPr>
              <a:t>Sanchi</a:t>
            </a:r>
            <a:r>
              <a:rPr lang="en-IN" sz="2800" dirty="0">
                <a:latin typeface="Times New Roman" panose="02020603050405020304" pitchFamily="18" charset="0"/>
                <a:ea typeface="Calibri" panose="020F0502020204030204" pitchFamily="34" charset="0"/>
                <a:cs typeface="Times New Roman" panose="02020603050405020304" pitchFamily="18" charset="0"/>
              </a:rPr>
              <a:t>, MP</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Symbol" panose="05050102010706020507" pitchFamily="18" charset="2"/>
              <a:buChar char=""/>
            </a:pPr>
            <a:r>
              <a:rPr lang="en-IN" sz="2800" dirty="0" err="1">
                <a:latin typeface="Times New Roman" panose="02020603050405020304" pitchFamily="18" charset="0"/>
                <a:ea typeface="Calibri" panose="020F0502020204030204" pitchFamily="34" charset="0"/>
                <a:cs typeface="Times New Roman" panose="02020603050405020304" pitchFamily="18" charset="0"/>
              </a:rPr>
              <a:t>Mahabodhi</a:t>
            </a:r>
            <a:r>
              <a:rPr lang="en-IN" sz="2800" dirty="0">
                <a:latin typeface="Times New Roman" panose="02020603050405020304" pitchFamily="18" charset="0"/>
                <a:ea typeface="Calibri" panose="020F0502020204030204" pitchFamily="34" charset="0"/>
                <a:cs typeface="Times New Roman" panose="02020603050405020304" pitchFamily="18" charset="0"/>
              </a:rPr>
              <a:t> Temple Complex at Bodh Gaya, Bihar</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Ajanta Caves Aurangabad, Maharashtra</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328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451" y="290577"/>
            <a:ext cx="11377749" cy="6284413"/>
          </a:xfrm>
          <a:prstGeom prst="rect">
            <a:avLst/>
          </a:prstGeom>
        </p:spPr>
        <p:txBody>
          <a:bodyPr wrap="square">
            <a:spAutoFit/>
          </a:bodyPr>
          <a:lstStyle/>
          <a:p>
            <a:pPr>
              <a:lnSpc>
                <a:spcPct val="107000"/>
              </a:lnSpc>
              <a:spcAft>
                <a:spcPts val="800"/>
              </a:spcAft>
            </a:pP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Concepts of Indian Philosophy</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Indian philosophy has been designated as</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darsana</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t>
            </a:r>
            <a:r>
              <a:rPr lang="en-IN"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generally translated as philosophy, but it means</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intuitive vision</a:t>
            </a:r>
            <a:r>
              <a:rPr lang="en-IN"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The intuitive vision consists of wisdom about reality and the inner and outer secrets of human life. The interpretations of such wisdom form the basis of philosophical inquiry about metaphysical doctrines, logical truths, ethical codes and religious practices</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Concept of </a:t>
            </a:r>
            <a:r>
              <a:rPr lang="en-IN"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Punarjanam</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According to Hindu theories of reincarnation or rebirth, individuals</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repeatedly reincarnate</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pass through many cycles of births and deaths, and live in numerous bodies as they evolve from simple organisms to complex beings and finally into humans.</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cycle of rebirth ends when they achieve perfection and</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'Moksha' (liberation).</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Concept of Rina: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Rina, meaning debt, is related to the sense of obligation of a man to his duties and to ensure continuity in tradition. The three major types of debts are</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Guru Rina, </a:t>
            </a:r>
            <a:r>
              <a:rPr lang="en-IN"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Pitru</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Rina and Deva Rina.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These debts in life have to be repaid by a man to attain </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moksha ( liberation).</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Major schools agreed that man should strive for the fulfilment of </a:t>
            </a: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four goals:</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Dharma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Moral life</a:t>
            </a:r>
            <a:endPar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Artha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Economic means or wealth </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Kama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Emotional fulfilment, Pleasure</a:t>
            </a:r>
            <a:endPar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Moksha</a:t>
            </a:r>
            <a:r>
              <a:rPr lang="en-IN"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Liberation</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0739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8" y="155716"/>
            <a:ext cx="11416937" cy="5291641"/>
          </a:xfrm>
          <a:prstGeom prst="rect">
            <a:avLst/>
          </a:prstGeom>
        </p:spPr>
        <p:txBody>
          <a:bodyPr wrap="square">
            <a:spAutoFit/>
          </a:bodyPr>
          <a:lstStyle/>
          <a:p>
            <a:pPr>
              <a:lnSpc>
                <a:spcPct val="107000"/>
              </a:lnSpc>
              <a:spcAft>
                <a:spcPts val="800"/>
              </a:spcAft>
            </a:pPr>
            <a:r>
              <a:rPr lang="en-IN" sz="4000" b="1" dirty="0">
                <a:latin typeface="Times New Roman" panose="02020603050405020304" pitchFamily="18" charset="0"/>
                <a:ea typeface="Times New Roman" panose="02020603050405020304" pitchFamily="18" charset="0"/>
                <a:cs typeface="Times New Roman" panose="02020603050405020304" pitchFamily="18" charset="0"/>
              </a:rPr>
              <a:t>Types of Schools in Indian Philosophy</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The schools of Indian Philosophy are broadly categorised as Heterodox and Orthodox Schools: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Vedic scripture</a:t>
            </a: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is an ancient treasure trove that exemplifies the Vedic systems' cultural heritage as well as their religious -philosophical aspects.</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It contained both</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ritualistic and philosophical materials.</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Generally, Indian philosophical systems are classified as</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orthodox (</a:t>
            </a:r>
            <a:r>
              <a:rPr lang="en-IN" sz="24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Astika</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and heterodox (</a:t>
            </a:r>
            <a:r>
              <a:rPr lang="en-IN" sz="24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Nastika</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systems</a:t>
            </a: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based on acceptance or rejection of the Vedic authority.</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philosophical schools that accept the Vedic authority are </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Nyaya, </a:t>
            </a:r>
            <a:r>
              <a:rPr lang="en-IN" sz="24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Vaisesika</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Samkhya, Yoga, </a:t>
            </a:r>
            <a:r>
              <a:rPr lang="en-IN" sz="24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Mimamsa</a:t>
            </a: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and Vedanta.</a:t>
            </a:r>
            <a:endPar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4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However, </a:t>
            </a:r>
            <a:r>
              <a:rPr lang="en-IN" sz="24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Charvaka,</a:t>
            </a:r>
            <a:r>
              <a:rPr lang="en-IN" sz="2400" b="1" dirty="0" err="1">
                <a:solidFill>
                  <a:srgbClr val="1CA0F2"/>
                </a:solidFill>
                <a:latin typeface="Times New Roman" panose="02020603050405020304" pitchFamily="18" charset="0"/>
                <a:ea typeface="Times New Roman" panose="02020603050405020304" pitchFamily="18" charset="0"/>
                <a:cs typeface="Times New Roman" panose="02020603050405020304" pitchFamily="18" charset="0"/>
                <a:hlinkClick r:id="rId2"/>
              </a:rPr>
              <a:t>Jainism</a:t>
            </a: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and</a:t>
            </a:r>
            <a:r>
              <a:rPr lang="en-IN" sz="2400" b="1" dirty="0" err="1">
                <a:solidFill>
                  <a:srgbClr val="1CA0F2"/>
                </a:solidFill>
                <a:latin typeface="Times New Roman" panose="02020603050405020304" pitchFamily="18" charset="0"/>
                <a:ea typeface="Times New Roman" panose="02020603050405020304" pitchFamily="18" charset="0"/>
                <a:cs typeface="Times New Roman" panose="02020603050405020304" pitchFamily="18" charset="0"/>
                <a:hlinkClick r:id="rId3"/>
              </a:rPr>
              <a:t>Buddhism</a:t>
            </a:r>
            <a:r>
              <a:rPr lang="en-IN" sz="24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do</a:t>
            </a:r>
            <a:r>
              <a:rPr lang="en-IN"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not accept Vedic authority.</a:t>
            </a:r>
            <a:endParaRPr lang="en-IN"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51011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7646" y="969417"/>
            <a:ext cx="11038114" cy="5479000"/>
          </a:xfrm>
          <a:prstGeom prst="rect">
            <a:avLst/>
          </a:prstGeom>
        </p:spPr>
        <p:txBody>
          <a:bodyPr wrap="square">
            <a:spAutoFit/>
          </a:bodyPr>
          <a:lstStyle/>
          <a:p>
            <a:pPr>
              <a:lnSpc>
                <a:spcPct val="107000"/>
              </a:lnSpc>
              <a:spcAft>
                <a:spcPts val="800"/>
              </a:spcAft>
            </a:pPr>
            <a:r>
              <a:rPr lang="en-IN" sz="4400" b="1" dirty="0">
                <a:latin typeface="Times New Roman" panose="02020603050405020304" pitchFamily="18" charset="0"/>
                <a:ea typeface="Times New Roman" panose="02020603050405020304" pitchFamily="18" charset="0"/>
                <a:cs typeface="Times New Roman" panose="02020603050405020304" pitchFamily="18" charset="0"/>
              </a:rPr>
              <a:t>Orthodox School of Indian Philosophy</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800"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This school believed that Vedas were the supreme revealed scriptures that held the secret to</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salvation.</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They never questioned the Vedas' authenticity.</a:t>
            </a:r>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They take the ancient Vedas as their source and scriptural authority.</a:t>
            </a:r>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 main Hindu orthodox</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8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Astika</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schools</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of Indian philosophy were codified during the medieval period of  </a:t>
            </a:r>
            <a:r>
              <a:rPr lang="en-IN" sz="28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Brahmanic-Sanskritic</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scholasticism.</a:t>
            </a:r>
            <a:endPar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They had six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Shada</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80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Darshana</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sub-schools</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Samkhya (or </a:t>
            </a:r>
            <a:r>
              <a:rPr lang="en-IN" sz="28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Sankhya</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Yoga, Nyaya, </a:t>
            </a:r>
            <a:r>
              <a:rPr lang="en-IN" sz="28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Vaisheshika</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800" b="1" dirty="0" err="1">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Mimamsa</a:t>
            </a:r>
            <a:r>
              <a:rPr lang="en-IN" sz="2800" b="1" dirty="0">
                <a:solidFill>
                  <a:srgbClr val="1A1A1A"/>
                </a:solidFill>
                <a:latin typeface="Times New Roman" panose="02020603050405020304" pitchFamily="18" charset="0"/>
                <a:ea typeface="Times New Roman" panose="02020603050405020304" pitchFamily="18" charset="0"/>
                <a:cs typeface="Times New Roman" panose="02020603050405020304" pitchFamily="18" charset="0"/>
              </a:rPr>
              <a:t> and Vedanta.</a:t>
            </a:r>
            <a:endPar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27144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8823" y="334691"/>
            <a:ext cx="11273246" cy="6043449"/>
          </a:xfrm>
          <a:prstGeom prst="rect">
            <a:avLst/>
          </a:prstGeom>
        </p:spPr>
        <p:txBody>
          <a:bodyPr wrap="square">
            <a:spAutoFit/>
          </a:bodyPr>
          <a:lstStyle/>
          <a:p>
            <a:pPr algn="ctr">
              <a:lnSpc>
                <a:spcPct val="107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Samkhya </a:t>
            </a:r>
            <a:r>
              <a:rPr lang="en-IN" sz="2400" b="1" dirty="0" err="1">
                <a:latin typeface="Times New Roman" panose="02020603050405020304" pitchFamily="18" charset="0"/>
                <a:ea typeface="Calibri" panose="020F0502020204030204" pitchFamily="34" charset="0"/>
                <a:cs typeface="Times New Roman" panose="02020603050405020304" pitchFamily="18" charset="0"/>
              </a:rPr>
              <a:t>Darshan</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b="1" dirty="0">
                <a:latin typeface="Times New Roman" panose="02020603050405020304" pitchFamily="18" charset="0"/>
                <a:cs typeface="Times New Roman" panose="02020603050405020304" pitchFamily="18" charset="0"/>
              </a:rPr>
              <a:t>Founder: </a:t>
            </a:r>
            <a:r>
              <a:rPr lang="en-IN" sz="2400" b="1" dirty="0" err="1">
                <a:latin typeface="Times New Roman" panose="02020603050405020304" pitchFamily="18" charset="0"/>
                <a:cs typeface="Times New Roman" panose="02020603050405020304" pitchFamily="18" charset="0"/>
              </a:rPr>
              <a:t>Kapil</a:t>
            </a:r>
            <a:r>
              <a:rPr lang="en-IN" sz="2400" b="1" dirty="0">
                <a:latin typeface="Times New Roman" panose="02020603050405020304" pitchFamily="18" charset="0"/>
                <a:cs typeface="Times New Roman" panose="02020603050405020304" pitchFamily="18" charset="0"/>
              </a:rPr>
              <a:t> Muni</a:t>
            </a:r>
          </a:p>
          <a:p>
            <a:pPr>
              <a:lnSpc>
                <a:spcPct val="107000"/>
              </a:lnSpc>
              <a:spcAft>
                <a:spcPts val="800"/>
              </a:spcAft>
            </a:pPr>
            <a:r>
              <a:rPr lang="en-IN" sz="2400" b="1" dirty="0">
                <a:latin typeface="Times New Roman" panose="02020603050405020304" pitchFamily="18" charset="0"/>
                <a:cs typeface="Times New Roman" panose="02020603050405020304" pitchFamily="18" charset="0"/>
              </a:rPr>
              <a:t>Core Philosophy:</a:t>
            </a:r>
            <a:r>
              <a:rPr lang="en-IN" sz="2400" dirty="0">
                <a:latin typeface="Times New Roman" panose="02020603050405020304" pitchFamily="18" charset="0"/>
                <a:cs typeface="Times New Roman" panose="02020603050405020304" pitchFamily="18" charset="0"/>
              </a:rPr>
              <a:t> It postulates that everything, in reality, stems from </a:t>
            </a:r>
            <a:r>
              <a:rPr lang="en-IN" sz="2400" b="1" dirty="0" err="1">
                <a:latin typeface="Times New Roman" panose="02020603050405020304" pitchFamily="18" charset="0"/>
                <a:cs typeface="Times New Roman" panose="02020603050405020304" pitchFamily="18" charset="0"/>
              </a:rPr>
              <a:t>Purusha</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(self or soul or mind) and</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Prakriti</a:t>
            </a:r>
            <a:r>
              <a:rPr lang="en-IN" sz="2400" dirty="0">
                <a:latin typeface="Times New Roman" panose="02020603050405020304" pitchFamily="18" charset="0"/>
                <a:cs typeface="Times New Roman" panose="02020603050405020304" pitchFamily="18" charset="0"/>
              </a:rPr>
              <a:t> (matter, creative agency, energy).</a:t>
            </a:r>
          </a:p>
          <a:p>
            <a:r>
              <a:rPr lang="en-IN" sz="2400" dirty="0">
                <a:latin typeface="Times New Roman" panose="02020603050405020304" pitchFamily="18" charset="0"/>
                <a:cs typeface="Times New Roman" panose="02020603050405020304" pitchFamily="18" charset="0"/>
              </a:rPr>
              <a:t>- This is the</a:t>
            </a:r>
            <a:r>
              <a:rPr lang="en-IN" sz="2400" b="1" dirty="0">
                <a:latin typeface="Times New Roman" panose="02020603050405020304" pitchFamily="18" charset="0"/>
                <a:cs typeface="Times New Roman" panose="02020603050405020304" pitchFamily="18" charset="0"/>
              </a:rPr>
              <a:t> oldest school</a:t>
            </a:r>
            <a:r>
              <a:rPr lang="en-IN" sz="2400" dirty="0">
                <a:latin typeface="Times New Roman" panose="02020603050405020304" pitchFamily="18" charset="0"/>
                <a:cs typeface="Times New Roman" panose="02020603050405020304" pitchFamily="18" charset="0"/>
              </a:rPr>
              <a:t> of philosophy.</a:t>
            </a:r>
          </a:p>
          <a:p>
            <a:r>
              <a:rPr lang="en-IN" sz="2400" dirty="0">
                <a:latin typeface="Times New Roman" panose="02020603050405020304" pitchFamily="18" charset="0"/>
                <a:cs typeface="Times New Roman" panose="02020603050405020304" pitchFamily="18" charset="0"/>
              </a:rPr>
              <a:t>- Samkhya's tendency of thought pervades all the literature of ancient India, including the </a:t>
            </a:r>
            <a:r>
              <a:rPr lang="en-IN" sz="2400" b="1" dirty="0" err="1">
                <a:latin typeface="Times New Roman" panose="02020603050405020304" pitchFamily="18" charset="0"/>
                <a:cs typeface="Times New Roman" panose="02020603050405020304" pitchFamily="18" charset="0"/>
              </a:rPr>
              <a:t>Srutis</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Smritis</a:t>
            </a:r>
            <a:r>
              <a:rPr lang="en-IN" sz="2400" b="1" dirty="0">
                <a:latin typeface="Times New Roman" panose="02020603050405020304" pitchFamily="18" charset="0"/>
                <a:cs typeface="Times New Roman" panose="02020603050405020304" pitchFamily="18" charset="0"/>
              </a:rPr>
              <a:t> and </a:t>
            </a:r>
            <a:r>
              <a:rPr lang="en-IN" sz="2400" b="1" dirty="0" err="1">
                <a:latin typeface="Times New Roman" panose="02020603050405020304" pitchFamily="18" charset="0"/>
                <a:cs typeface="Times New Roman" panose="02020603050405020304" pitchFamily="18" charset="0"/>
              </a:rPr>
              <a:t>Puranas</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According to tradition, the first work of the Samkhya School is the </a:t>
            </a:r>
            <a:r>
              <a:rPr lang="en-IN" sz="2400" b="1" u="sng" dirty="0">
                <a:latin typeface="Times New Roman" panose="02020603050405020304" pitchFamily="18" charset="0"/>
                <a:cs typeface="Times New Roman" panose="02020603050405020304" pitchFamily="18" charset="0"/>
              </a:rPr>
              <a:t>Samkhya-sutra</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The Samkhya is a dualistic realism philosophy.</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Theory of Causation:</a:t>
            </a:r>
            <a:r>
              <a:rPr lang="en-IN" sz="2400" dirty="0">
                <a:latin typeface="Times New Roman" panose="02020603050405020304" pitchFamily="18" charset="0"/>
                <a:cs typeface="Times New Roman" panose="02020603050405020304" pitchFamily="18" charset="0"/>
              </a:rPr>
              <a:t> The Samkhya metaphysics, especially its doctrine of </a:t>
            </a:r>
            <a:r>
              <a:rPr lang="en-IN" sz="2400" dirty="0" err="1">
                <a:latin typeface="Times New Roman" panose="02020603050405020304" pitchFamily="18" charset="0"/>
                <a:cs typeface="Times New Roman" panose="02020603050405020304" pitchFamily="18" charset="0"/>
              </a:rPr>
              <a:t>Prakriti</a:t>
            </a:r>
            <a:r>
              <a:rPr lang="en-IN" sz="2400" dirty="0">
                <a:latin typeface="Times New Roman" panose="02020603050405020304" pitchFamily="18" charset="0"/>
                <a:cs typeface="Times New Roman" panose="02020603050405020304" pitchFamily="18" charset="0"/>
              </a:rPr>
              <a:t>, rests mainly on its theory of causation, known as</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satkarya-vada</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It accepts only </a:t>
            </a:r>
            <a:r>
              <a:rPr lang="en-IN" sz="2400" b="1" dirty="0">
                <a:latin typeface="Times New Roman" panose="02020603050405020304" pitchFamily="18" charset="0"/>
                <a:cs typeface="Times New Roman" panose="02020603050405020304" pitchFamily="18" charset="0"/>
              </a:rPr>
              <a:t>three </a:t>
            </a:r>
            <a:r>
              <a:rPr lang="en-IN" sz="2400" dirty="0">
                <a:latin typeface="Times New Roman" panose="02020603050405020304" pitchFamily="18" charset="0"/>
                <a:cs typeface="Times New Roman" panose="02020603050405020304" pitchFamily="18" charset="0"/>
              </a:rPr>
              <a:t>types of </a:t>
            </a:r>
            <a:r>
              <a:rPr lang="en-IN" sz="2400" b="1" dirty="0">
                <a:latin typeface="Times New Roman" panose="02020603050405020304" pitchFamily="18" charset="0"/>
                <a:cs typeface="Times New Roman" panose="02020603050405020304" pitchFamily="18" charset="0"/>
              </a:rPr>
              <a:t>knowledge (</a:t>
            </a:r>
            <a:r>
              <a:rPr lang="en-IN" sz="2400" b="1" dirty="0" err="1">
                <a:latin typeface="Times New Roman" panose="02020603050405020304" pitchFamily="18" charset="0"/>
                <a:cs typeface="Times New Roman" panose="02020603050405020304" pitchFamily="18" charset="0"/>
              </a:rPr>
              <a:t>pramana</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lvl="0"/>
            <a:r>
              <a:rPr lang="en-IN" sz="2400" b="1" dirty="0" err="1">
                <a:latin typeface="Times New Roman" panose="02020603050405020304" pitchFamily="18" charset="0"/>
                <a:cs typeface="Times New Roman" panose="02020603050405020304" pitchFamily="18" charset="0"/>
              </a:rPr>
              <a:t>Pratyaksha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Perception</a:t>
            </a:r>
          </a:p>
          <a:p>
            <a:pPr lvl="0"/>
            <a:r>
              <a:rPr lang="en-IN" sz="2400" b="1" dirty="0" err="1">
                <a:latin typeface="Times New Roman" panose="02020603050405020304" pitchFamily="18" charset="0"/>
                <a:cs typeface="Times New Roman" panose="02020603050405020304" pitchFamily="18" charset="0"/>
              </a:rPr>
              <a:t>Anumana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Inference</a:t>
            </a:r>
          </a:p>
          <a:p>
            <a:r>
              <a:rPr lang="en-IN" sz="2400" b="1" dirty="0" err="1">
                <a:latin typeface="Times New Roman" panose="02020603050405020304" pitchFamily="18" charset="0"/>
                <a:cs typeface="Times New Roman" panose="02020603050405020304" pitchFamily="18" charset="0"/>
              </a:rPr>
              <a:t>Shabda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Hearing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62807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9634" y="321627"/>
            <a:ext cx="11599817" cy="6124754"/>
          </a:xfrm>
          <a:prstGeom prst="rect">
            <a:avLst/>
          </a:prstGeom>
        </p:spPr>
        <p:txBody>
          <a:bodyPr wrap="square">
            <a:spAutoFit/>
          </a:bodyPr>
          <a:lstStyle/>
          <a:p>
            <a:pPr algn="ctr">
              <a:lnSpc>
                <a:spcPct val="150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Yoga School</a:t>
            </a:r>
          </a:p>
          <a:p>
            <a:pPr>
              <a:lnSpc>
                <a:spcPct val="150000"/>
              </a:lnSpc>
              <a:spcAft>
                <a:spcPts val="800"/>
              </a:spcAft>
            </a:pPr>
            <a:r>
              <a:rPr lang="en-IN" sz="2000" b="1" dirty="0">
                <a:latin typeface="Times New Roman" panose="02020603050405020304" pitchFamily="18" charset="0"/>
                <a:cs typeface="Times New Roman" panose="02020603050405020304" pitchFamily="18" charset="0"/>
              </a:rPr>
              <a:t>Founder: </a:t>
            </a:r>
            <a:r>
              <a:rPr lang="en-IN" sz="2000" b="1" dirty="0" err="1">
                <a:latin typeface="Times New Roman" panose="02020603050405020304" pitchFamily="18" charset="0"/>
                <a:cs typeface="Times New Roman" panose="02020603050405020304" pitchFamily="18" charset="0"/>
              </a:rPr>
              <a:t>Patanjali</a:t>
            </a:r>
            <a:endParaRPr lang="en-IN" sz="2000" b="1" dirty="0">
              <a:latin typeface="Times New Roman" panose="02020603050405020304" pitchFamily="18" charset="0"/>
              <a:cs typeface="Times New Roman" panose="02020603050405020304" pitchFamily="18" charset="0"/>
            </a:endParaRPr>
          </a:p>
          <a:p>
            <a:pPr>
              <a:lnSpc>
                <a:spcPct val="150000"/>
              </a:lnSpc>
              <a:spcAft>
                <a:spcPts val="800"/>
              </a:spcAft>
            </a:pPr>
            <a:r>
              <a:rPr lang="en-IN" sz="2000" b="1" dirty="0">
                <a:latin typeface="Times New Roman" panose="02020603050405020304" pitchFamily="18" charset="0"/>
                <a:cs typeface="Times New Roman" panose="02020603050405020304" pitchFamily="18" charset="0"/>
              </a:rPr>
              <a:t>Core philosophy:</a:t>
            </a:r>
            <a:r>
              <a:rPr lang="en-IN" sz="2000" dirty="0">
                <a:latin typeface="Times New Roman" panose="02020603050405020304" pitchFamily="18" charset="0"/>
                <a:cs typeface="Times New Roman" panose="02020603050405020304" pitchFamily="18" charset="0"/>
              </a:rPr>
              <a:t> It postulates that one can</a:t>
            </a:r>
            <a:r>
              <a:rPr lang="en-IN" sz="2000" b="1" dirty="0">
                <a:latin typeface="Times New Roman" panose="02020603050405020304" pitchFamily="18" charset="0"/>
                <a:cs typeface="Times New Roman" panose="02020603050405020304" pitchFamily="18" charset="0"/>
              </a:rPr>
              <a:t> achieve salvation</a:t>
            </a:r>
            <a:r>
              <a:rPr lang="en-IN" sz="2000" dirty="0">
                <a:latin typeface="Times New Roman" panose="02020603050405020304" pitchFamily="18" charset="0"/>
                <a:cs typeface="Times New Roman" panose="02020603050405020304" pitchFamily="18" charset="0"/>
              </a:rPr>
              <a:t> by combining </a:t>
            </a:r>
            <a:r>
              <a:rPr lang="en-IN" sz="2000" b="1" dirty="0">
                <a:latin typeface="Times New Roman" panose="02020603050405020304" pitchFamily="18" charset="0"/>
                <a:cs typeface="Times New Roman" panose="02020603050405020304" pitchFamily="18" charset="0"/>
              </a:rPr>
              <a:t>meditation and physical application.</a:t>
            </a:r>
          </a:p>
          <a:p>
            <a:pPr>
              <a:lnSpc>
                <a:spcPct val="150000"/>
              </a:lnSpc>
            </a:pPr>
            <a:r>
              <a:rPr lang="en-IN" sz="2000" dirty="0">
                <a:latin typeface="Times New Roman" panose="02020603050405020304" pitchFamily="18" charset="0"/>
                <a:cs typeface="Times New Roman" panose="02020603050405020304" pitchFamily="18" charset="0"/>
              </a:rPr>
              <a:t>Yoga acknowledges </a:t>
            </a:r>
            <a:r>
              <a:rPr lang="en-IN" sz="2000" b="1" dirty="0">
                <a:latin typeface="Times New Roman" panose="02020603050405020304" pitchFamily="18" charset="0"/>
                <a:cs typeface="Times New Roman" panose="02020603050405020304" pitchFamily="18" charset="0"/>
              </a:rPr>
              <a:t>God's existence</a:t>
            </a:r>
            <a:r>
              <a:rPr lang="en-IN" sz="2000" dirty="0">
                <a:latin typeface="Times New Roman" panose="02020603050405020304" pitchFamily="18" charset="0"/>
                <a:cs typeface="Times New Roman" panose="02020603050405020304" pitchFamily="18" charset="0"/>
              </a:rPr>
              <a:t> as a teacher and guide.</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View of </a:t>
            </a:r>
            <a:r>
              <a:rPr lang="en-IN" sz="2000" b="1" dirty="0" err="1">
                <a:latin typeface="Times New Roman" panose="02020603050405020304" pitchFamily="18" charset="0"/>
                <a:cs typeface="Times New Roman" panose="02020603050405020304" pitchFamily="18" charset="0"/>
              </a:rPr>
              <a:t>Patanjali</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Yoga does not mean union but the spiritual effort to attain perfection through controlling the body, senses and mind and through right discrimination between</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Purusa</a:t>
            </a:r>
            <a:r>
              <a:rPr lang="en-IN" sz="2000" b="1"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Prakrti</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Patanjali's</a:t>
            </a:r>
            <a:r>
              <a:rPr lang="en-IN" sz="2000" b="1" dirty="0">
                <a:latin typeface="Times New Roman" panose="02020603050405020304" pitchFamily="18" charset="0"/>
                <a:cs typeface="Times New Roman" panose="02020603050405020304" pitchFamily="18" charset="0"/>
              </a:rPr>
              <a:t> Yoga sutra is divided into four sections:</a:t>
            </a:r>
          </a:p>
          <a:p>
            <a:pPr marL="342900" lvl="0" indent="-342900">
              <a:lnSpc>
                <a:spcPct val="150000"/>
              </a:lnSpc>
              <a:buFont typeface="+mj-lt"/>
              <a:buAutoNum type="arabicPeriod"/>
            </a:pPr>
            <a:r>
              <a:rPr lang="en-IN" sz="2000" b="1" dirty="0" err="1">
                <a:latin typeface="Times New Roman" panose="02020603050405020304" pitchFamily="18" charset="0"/>
                <a:cs typeface="Times New Roman" panose="02020603050405020304" pitchFamily="18" charset="0"/>
              </a:rPr>
              <a:t>Sadhanapada</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Means to realise this end</a:t>
            </a:r>
          </a:p>
          <a:p>
            <a:pPr marL="342900" indent="-342900">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Samadhi-pada:</a:t>
            </a:r>
            <a:r>
              <a:rPr lang="en-IN" sz="2000" dirty="0">
                <a:latin typeface="Times New Roman" panose="02020603050405020304" pitchFamily="18" charset="0"/>
                <a:cs typeface="Times New Roman" panose="02020603050405020304" pitchFamily="18" charset="0"/>
              </a:rPr>
              <a:t> Nature and aim of concentration</a:t>
            </a:r>
          </a:p>
          <a:p>
            <a:pPr marL="342900" lvl="0" indent="-342900">
              <a:lnSpc>
                <a:spcPct val="150000"/>
              </a:lnSpc>
              <a:buFont typeface="+mj-lt"/>
              <a:buAutoNum type="arabicPeriod"/>
            </a:pPr>
            <a:r>
              <a:rPr lang="en-IN" sz="2000" b="1" dirty="0" err="1">
                <a:latin typeface="Times New Roman" panose="02020603050405020304" pitchFamily="18" charset="0"/>
                <a:cs typeface="Times New Roman" panose="02020603050405020304" pitchFamily="18" charset="0"/>
              </a:rPr>
              <a:t>Vibhutipada</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Supra-normal powers which can be acquired through Yoga </a:t>
            </a:r>
          </a:p>
          <a:p>
            <a:pPr marL="342900" lvl="0" indent="-342900">
              <a:lnSpc>
                <a:spcPct val="150000"/>
              </a:lnSpc>
              <a:buFont typeface="+mj-lt"/>
              <a:buAutoNum type="arabicPeriod"/>
            </a:pPr>
            <a:r>
              <a:rPr lang="en-IN" sz="2000" b="1" dirty="0" err="1">
                <a:latin typeface="Times New Roman" panose="02020603050405020304" pitchFamily="18" charset="0"/>
                <a:cs typeface="Times New Roman" panose="02020603050405020304" pitchFamily="18" charset="0"/>
              </a:rPr>
              <a:t>Kaivalyapada</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Nature of liberation and the reality of the transcendental self </a:t>
            </a:r>
          </a:p>
          <a:p>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22335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6833" y="453741"/>
            <a:ext cx="10554789" cy="6186309"/>
          </a:xfrm>
          <a:prstGeom prst="rect">
            <a:avLst/>
          </a:prstGeom>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Yoga is the practical path of realising the theoretical ideals of Samkhya Philosophy.</a:t>
            </a:r>
          </a:p>
          <a:p>
            <a:pPr>
              <a:lnSpc>
                <a:spcPct val="150000"/>
              </a:lnSpc>
            </a:pPr>
            <a:r>
              <a:rPr lang="en-IN" sz="2400" b="1" dirty="0">
                <a:latin typeface="Times New Roman" panose="02020603050405020304" pitchFamily="18" charset="0"/>
                <a:cs typeface="Times New Roman" panose="02020603050405020304" pitchFamily="18" charset="0"/>
              </a:rPr>
              <a:t>- The prescribed eight </a:t>
            </a:r>
            <a:r>
              <a:rPr lang="en-IN" sz="2400" b="1" dirty="0" err="1">
                <a:latin typeface="Times New Roman" panose="02020603050405020304" pitchFamily="18" charset="0"/>
                <a:cs typeface="Times New Roman" panose="02020603050405020304" pitchFamily="18" charset="0"/>
              </a:rPr>
              <a:t>sadanas</a:t>
            </a:r>
            <a:r>
              <a:rPr lang="en-IN" sz="2400" b="1" dirty="0">
                <a:latin typeface="Times New Roman" panose="02020603050405020304" pitchFamily="18" charset="0"/>
                <a:cs typeface="Times New Roman" panose="02020603050405020304" pitchFamily="18" charset="0"/>
              </a:rPr>
              <a:t> to achieve </a:t>
            </a:r>
            <a:r>
              <a:rPr lang="en-IN" sz="2400" b="1" dirty="0" err="1">
                <a:latin typeface="Times New Roman" panose="02020603050405020304" pitchFamily="18" charset="0"/>
                <a:cs typeface="Times New Roman" panose="02020603050405020304" pitchFamily="18" charset="0"/>
              </a:rPr>
              <a:t>mukti</a:t>
            </a:r>
            <a:r>
              <a:rPr lang="en-IN" sz="2400" b="1" dirty="0">
                <a:latin typeface="Times New Roman" panose="02020603050405020304" pitchFamily="18" charset="0"/>
                <a:cs typeface="Times New Roman" panose="02020603050405020304" pitchFamily="18" charset="0"/>
              </a:rPr>
              <a:t> or freedom are:</a:t>
            </a:r>
          </a:p>
          <a:p>
            <a:pPr marL="342900" lvl="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Yama:</a:t>
            </a:r>
            <a:r>
              <a:rPr lang="en-IN" sz="2400" dirty="0">
                <a:latin typeface="Times New Roman" panose="02020603050405020304" pitchFamily="18" charset="0"/>
                <a:cs typeface="Times New Roman" panose="02020603050405020304" pitchFamily="18" charset="0"/>
              </a:rPr>
              <a:t> Self-restrained</a:t>
            </a:r>
          </a:p>
          <a:p>
            <a:pPr marL="342900" lvl="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Niyama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Positive rules of conduct</a:t>
            </a:r>
          </a:p>
          <a:p>
            <a:pPr marL="342900" lvl="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Asanas</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Steady and comfortable posture</a:t>
            </a:r>
          </a:p>
          <a:p>
            <a:pPr marL="34290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Prayanams</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Breathing exercises</a:t>
            </a:r>
          </a:p>
          <a:p>
            <a:pPr marL="342900" lvl="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Pratyahara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Choosing an object</a:t>
            </a:r>
          </a:p>
          <a:p>
            <a:pPr marL="342900" lvl="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Dharna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Fixing the mind on the object of meditation</a:t>
            </a:r>
          </a:p>
          <a:p>
            <a:pPr marL="342900" lvl="0" indent="-342900">
              <a:lnSpc>
                <a:spcPct val="150000"/>
              </a:lnSpc>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Dhyana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Meditation(undisturbed flow of thought)</a:t>
            </a:r>
          </a:p>
          <a:p>
            <a:pPr marL="342900" lvl="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Samadhi:</a:t>
            </a:r>
            <a:r>
              <a:rPr lang="en-IN" sz="2400" dirty="0">
                <a:latin typeface="Times New Roman" panose="02020603050405020304" pitchFamily="18" charset="0"/>
                <a:cs typeface="Times New Roman" panose="02020603050405020304" pitchFamily="18" charset="0"/>
              </a:rPr>
              <a:t> Completely absorbed in the object of meditation</a:t>
            </a:r>
          </a:p>
          <a:p>
            <a:pPr lvl="0">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0956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321626"/>
            <a:ext cx="11429999" cy="6386941"/>
          </a:xfrm>
          <a:prstGeom prst="rect">
            <a:avLst/>
          </a:prstGeom>
        </p:spPr>
        <p:txBody>
          <a:bodyPr wrap="square">
            <a:spAutoFit/>
          </a:bodyPr>
          <a:lstStyle/>
          <a:p>
            <a:pPr algn="ctr">
              <a:lnSpc>
                <a:spcPct val="107000"/>
              </a:lnSpc>
              <a:spcAft>
                <a:spcPts val="800"/>
              </a:spcAft>
            </a:pPr>
            <a:r>
              <a:rPr lang="en-IN" sz="2400" b="1" dirty="0">
                <a:latin typeface="Times New Roman" panose="02020603050405020304" pitchFamily="18" charset="0"/>
                <a:ea typeface="Calibri" panose="020F0502020204030204" pitchFamily="34" charset="0"/>
                <a:cs typeface="Times New Roman" panose="02020603050405020304" pitchFamily="18" charset="0"/>
              </a:rPr>
              <a:t>Nyaya School</a:t>
            </a:r>
          </a:p>
          <a:p>
            <a:pPr>
              <a:lnSpc>
                <a:spcPct val="107000"/>
              </a:lnSpc>
              <a:spcAft>
                <a:spcPts val="800"/>
              </a:spcAft>
            </a:pPr>
            <a:r>
              <a:rPr lang="en-IN" sz="2400" b="1" dirty="0">
                <a:latin typeface="Times New Roman" panose="02020603050405020304" pitchFamily="18" charset="0"/>
                <a:cs typeface="Times New Roman" panose="02020603050405020304" pitchFamily="18" charset="0"/>
              </a:rPr>
              <a:t>Founder: </a:t>
            </a:r>
            <a:r>
              <a:rPr lang="en-IN" sz="2400" b="1" dirty="0" err="1">
                <a:latin typeface="Times New Roman" panose="02020603050405020304" pitchFamily="18" charset="0"/>
                <a:cs typeface="Times New Roman" panose="02020603050405020304" pitchFamily="18" charset="0"/>
              </a:rPr>
              <a:t>Akshpaad</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Gautam</a:t>
            </a:r>
            <a:endParaRPr lang="en-IN" sz="2400" b="1" dirty="0">
              <a:latin typeface="Times New Roman" panose="02020603050405020304" pitchFamily="18" charset="0"/>
              <a:cs typeface="Times New Roman" panose="02020603050405020304" pitchFamily="18" charset="0"/>
            </a:endParaRPr>
          </a:p>
          <a:p>
            <a:pPr>
              <a:lnSpc>
                <a:spcPct val="107000"/>
              </a:lnSpc>
              <a:spcAft>
                <a:spcPts val="800"/>
              </a:spcAft>
            </a:pPr>
            <a:r>
              <a:rPr lang="en-IN" sz="2400" b="1" dirty="0">
                <a:latin typeface="Times New Roman" panose="02020603050405020304" pitchFamily="18" charset="0"/>
                <a:cs typeface="Times New Roman" panose="02020603050405020304" pitchFamily="18" charset="0"/>
              </a:rPr>
              <a:t>Core philosophy: </a:t>
            </a:r>
            <a:r>
              <a:rPr lang="en-IN" sz="2400" dirty="0">
                <a:latin typeface="Times New Roman" panose="02020603050405020304" pitchFamily="18" charset="0"/>
                <a:cs typeface="Times New Roman" panose="02020603050405020304" pitchFamily="18" charset="0"/>
              </a:rPr>
              <a:t>They believe in the technique of </a:t>
            </a:r>
            <a:r>
              <a:rPr lang="en-IN" sz="2400" b="1" dirty="0">
                <a:latin typeface="Times New Roman" panose="02020603050405020304" pitchFamily="18" charset="0"/>
                <a:cs typeface="Times New Roman" panose="02020603050405020304" pitchFamily="18" charset="0"/>
              </a:rPr>
              <a:t>logical thinking</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to achieve salvation.</a:t>
            </a:r>
          </a:p>
          <a:p>
            <a:r>
              <a:rPr lang="en-IN" sz="2400" dirty="0">
                <a:latin typeface="Times New Roman" panose="02020603050405020304" pitchFamily="18" charset="0"/>
                <a:cs typeface="Times New Roman" panose="02020603050405020304" pitchFamily="18" charset="0"/>
              </a:rPr>
              <a:t>- Nyaya is an </a:t>
            </a:r>
            <a:r>
              <a:rPr lang="en-IN" sz="2400" b="1" dirty="0">
                <a:latin typeface="Times New Roman" panose="02020603050405020304" pitchFamily="18" charset="0"/>
                <a:cs typeface="Times New Roman" panose="02020603050405020304" pitchFamily="18" charset="0"/>
              </a:rPr>
              <a:t>atomic pluralist </a:t>
            </a:r>
            <a:r>
              <a:rPr lang="en-IN" sz="2400" dirty="0">
                <a:latin typeface="Times New Roman" panose="02020603050405020304" pitchFamily="18" charset="0"/>
                <a:cs typeface="Times New Roman" panose="02020603050405020304" pitchFamily="18" charset="0"/>
              </a:rPr>
              <a:t>and </a:t>
            </a:r>
            <a:r>
              <a:rPr lang="en-IN" sz="2400" b="1" dirty="0">
                <a:latin typeface="Times New Roman" panose="02020603050405020304" pitchFamily="18" charset="0"/>
                <a:cs typeface="Times New Roman" panose="02020603050405020304" pitchFamily="18" charset="0"/>
              </a:rPr>
              <a:t>logical realist system</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It acknowledges </a:t>
            </a:r>
            <a:r>
              <a:rPr lang="en-IN" sz="2400" b="1" dirty="0">
                <a:latin typeface="Times New Roman" panose="02020603050405020304" pitchFamily="18" charset="0"/>
                <a:cs typeface="Times New Roman" panose="02020603050405020304" pitchFamily="18" charset="0"/>
              </a:rPr>
              <a:t>four distinct sources of true knowledge</a:t>
            </a:r>
            <a:r>
              <a:rPr lang="en-IN" sz="2400" dirty="0">
                <a:latin typeface="Times New Roman" panose="02020603050405020304" pitchFamily="18" charset="0"/>
                <a:cs typeface="Times New Roman" panose="02020603050405020304" pitchFamily="18" charset="0"/>
              </a:rPr>
              <a:t>:</a:t>
            </a:r>
          </a:p>
          <a:p>
            <a:pPr marL="457200" lvl="0" indent="-457200">
              <a:buFont typeface="+mj-lt"/>
              <a:buAutoNum type="arabicPeriod"/>
            </a:pPr>
            <a:r>
              <a:rPr lang="en-IN" sz="2400" b="1" dirty="0" err="1">
                <a:latin typeface="Times New Roman" panose="02020603050405020304" pitchFamily="18" charset="0"/>
                <a:cs typeface="Times New Roman" panose="02020603050405020304" pitchFamily="18" charset="0"/>
              </a:rPr>
              <a:t>Pratyaksa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perception</a:t>
            </a:r>
          </a:p>
          <a:p>
            <a:pPr marL="457200" lvl="0" indent="-457200">
              <a:buFont typeface="+mj-lt"/>
              <a:buAutoNum type="arabicPeriod"/>
            </a:pPr>
            <a:r>
              <a:rPr lang="en-IN" sz="2400" b="1" dirty="0" err="1">
                <a:latin typeface="Times New Roman" panose="02020603050405020304" pitchFamily="18" charset="0"/>
                <a:cs typeface="Times New Roman" panose="02020603050405020304" pitchFamily="18" charset="0"/>
              </a:rPr>
              <a:t>Anumana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inference</a:t>
            </a:r>
          </a:p>
          <a:p>
            <a:pPr marL="457200" lvl="0" indent="-457200">
              <a:buFont typeface="+mj-lt"/>
              <a:buAutoNum type="arabicPeriod"/>
            </a:pPr>
            <a:r>
              <a:rPr lang="en-IN" sz="2400" b="1" dirty="0" err="1">
                <a:latin typeface="Times New Roman" panose="02020603050405020304" pitchFamily="18" charset="0"/>
                <a:cs typeface="Times New Roman" panose="02020603050405020304" pitchFamily="18" charset="0"/>
              </a:rPr>
              <a:t>Upamana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comparison</a:t>
            </a:r>
          </a:p>
          <a:p>
            <a:pPr marL="457200" lvl="0" indent="-457200">
              <a:buFont typeface="+mj-lt"/>
              <a:buAutoNum type="arabicPeriod"/>
            </a:pPr>
            <a:r>
              <a:rPr lang="en-IN" sz="2400" b="1" dirty="0" err="1">
                <a:latin typeface="Times New Roman" panose="02020603050405020304" pitchFamily="18" charset="0"/>
                <a:cs typeface="Times New Roman" panose="02020603050405020304" pitchFamily="18" charset="0"/>
              </a:rPr>
              <a:t>Sabda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Testimony</a:t>
            </a:r>
          </a:p>
          <a:p>
            <a:r>
              <a:rPr lang="en-IN" sz="2400" b="1" dirty="0">
                <a:latin typeface="Times New Roman" panose="02020603050405020304" pitchFamily="18" charset="0"/>
                <a:cs typeface="Times New Roman" panose="02020603050405020304" pitchFamily="18" charset="0"/>
              </a:rPr>
              <a:t>- Theory of Knowledge: Knowledge or Cognition </a:t>
            </a:r>
            <a:r>
              <a:rPr lang="en-IN" sz="2400" dirty="0">
                <a:latin typeface="Times New Roman" panose="02020603050405020304" pitchFamily="18" charset="0"/>
                <a:cs typeface="Times New Roman" panose="02020603050405020304" pitchFamily="18" charset="0"/>
              </a:rPr>
              <a:t>is defined as apprehension or consciousness. They hold that knowledge reveals both the subject and the object; they are not the same as knowledge.</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Concept of God:</a:t>
            </a:r>
            <a:r>
              <a:rPr lang="en-IN" sz="2400" dirty="0">
                <a:latin typeface="Times New Roman" panose="02020603050405020304" pitchFamily="18" charset="0"/>
                <a:cs typeface="Times New Roman" panose="02020603050405020304" pitchFamily="18" charset="0"/>
              </a:rPr>
              <a:t> God is the</a:t>
            </a:r>
            <a:r>
              <a:rPr lang="en-IN" sz="2400" b="1" dirty="0">
                <a:latin typeface="Times New Roman" panose="02020603050405020304" pitchFamily="18" charset="0"/>
                <a:cs typeface="Times New Roman" panose="02020603050405020304" pitchFamily="18" charset="0"/>
              </a:rPr>
              <a:t> ultimate cause of the world's creation,</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maintenance and destruction.</a:t>
            </a:r>
          </a:p>
          <a:p>
            <a:r>
              <a:rPr lang="en-IN" sz="2400" dirty="0">
                <a:latin typeface="Times New Roman" panose="02020603050405020304" pitchFamily="18" charset="0"/>
                <a:cs typeface="Times New Roman" panose="02020603050405020304" pitchFamily="18" charset="0"/>
              </a:rPr>
              <a:t>God is the </a:t>
            </a:r>
            <a:r>
              <a:rPr lang="en-IN" sz="2400" b="1" dirty="0">
                <a:latin typeface="Times New Roman" panose="02020603050405020304" pitchFamily="18" charset="0"/>
                <a:cs typeface="Times New Roman" panose="02020603050405020304" pitchFamily="18" charset="0"/>
              </a:rPr>
              <a:t>eternal, infinite self that creates, sustains, and destroys the universe</a:t>
            </a:r>
            <a:r>
              <a:rPr lang="en-IN" sz="2400" dirty="0">
                <a:latin typeface="Times New Roman" panose="02020603050405020304" pitchFamily="18" charset="0"/>
                <a:cs typeface="Times New Roman" panose="02020603050405020304" pitchFamily="18" charset="0"/>
              </a:rPr>
              <a:t>. He does not create the world out of nothing but eternal atoms, space, time, ether, minds and souls.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47520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451" y="413070"/>
            <a:ext cx="11247119" cy="5443478"/>
          </a:xfrm>
          <a:prstGeom prst="rect">
            <a:avLst/>
          </a:prstGeom>
        </p:spPr>
        <p:txBody>
          <a:bodyPr wrap="square">
            <a:spAutoFit/>
          </a:bodyPr>
          <a:lstStyle/>
          <a:p>
            <a:pPr algn="ctr">
              <a:lnSpc>
                <a:spcPct val="107000"/>
              </a:lnSpc>
              <a:spcBef>
                <a:spcPts val="200"/>
              </a:spcBef>
              <a:spcAft>
                <a:spcPts val="0"/>
              </a:spcAft>
            </a:pPr>
            <a:r>
              <a:rPr lang="en-IN" sz="2400" b="1" dirty="0" err="1">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Vaisheshika</a:t>
            </a:r>
            <a:r>
              <a:rPr lang="en-IN"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 School</a:t>
            </a:r>
          </a:p>
          <a:p>
            <a:pPr>
              <a:lnSpc>
                <a:spcPct val="107000"/>
              </a:lnSpc>
              <a:spcBef>
                <a:spcPts val="200"/>
              </a:spcBef>
              <a:spcAft>
                <a:spcPts val="0"/>
              </a:spcAft>
            </a:pPr>
            <a:r>
              <a:rPr lang="en-IN" sz="2400" b="1" dirty="0">
                <a:latin typeface="Times New Roman" panose="02020603050405020304" pitchFamily="18" charset="0"/>
                <a:cs typeface="Times New Roman" panose="02020603050405020304" pitchFamily="18" charset="0"/>
              </a:rPr>
              <a:t>Founder: </a:t>
            </a:r>
            <a:r>
              <a:rPr lang="en-IN" sz="2400" b="1" dirty="0" err="1">
                <a:latin typeface="Times New Roman" panose="02020603050405020304" pitchFamily="18" charset="0"/>
                <a:cs typeface="Times New Roman" panose="02020603050405020304" pitchFamily="18" charset="0"/>
              </a:rPr>
              <a:t>Kanada</a:t>
            </a:r>
            <a:endParaRPr lang="en-IN" sz="2400" b="1" dirty="0">
              <a:latin typeface="Times New Roman" panose="02020603050405020304" pitchFamily="18" charset="0"/>
              <a:cs typeface="Times New Roman" panose="02020603050405020304" pitchFamily="18" charset="0"/>
            </a:endParaRPr>
          </a:p>
          <a:p>
            <a:pPr>
              <a:lnSpc>
                <a:spcPct val="107000"/>
              </a:lnSpc>
              <a:spcBef>
                <a:spcPts val="200"/>
              </a:spcBef>
              <a:spcAft>
                <a:spcPts val="0"/>
              </a:spcAft>
            </a:pPr>
            <a:r>
              <a:rPr lang="en-IN" sz="2400" b="1" dirty="0">
                <a:latin typeface="Times New Roman" panose="02020603050405020304" pitchFamily="18" charset="0"/>
                <a:cs typeface="Times New Roman" panose="02020603050405020304" pitchFamily="18" charset="0"/>
              </a:rPr>
              <a:t>Core philosophy:</a:t>
            </a:r>
            <a:r>
              <a:rPr lang="en-IN" sz="2400" dirty="0">
                <a:latin typeface="Times New Roman" panose="02020603050405020304" pitchFamily="18" charset="0"/>
                <a:cs typeface="Times New Roman" panose="02020603050405020304" pitchFamily="18" charset="0"/>
              </a:rPr>
              <a:t> All objects in the physical universe are reducible to a finite number of </a:t>
            </a:r>
            <a:r>
              <a:rPr lang="en-IN" sz="2400" b="1" dirty="0">
                <a:latin typeface="Times New Roman" panose="02020603050405020304" pitchFamily="18" charset="0"/>
                <a:cs typeface="Times New Roman" panose="02020603050405020304" pitchFamily="18" charset="0"/>
              </a:rPr>
              <a:t>atoms.</a:t>
            </a:r>
            <a:r>
              <a:rPr lang="en-IN" sz="2400" dirty="0">
                <a:latin typeface="Times New Roman" panose="02020603050405020304" pitchFamily="18" charset="0"/>
                <a:cs typeface="Times New Roman" panose="02020603050405020304" pitchFamily="18" charset="0"/>
              </a:rPr>
              <a:t> Brahma is regarded as the fundamental force in these atoms that causes consciousness. </a:t>
            </a:r>
          </a:p>
          <a:p>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Vaisesika</a:t>
            </a:r>
            <a:r>
              <a:rPr lang="en-IN" sz="2400" dirty="0">
                <a:latin typeface="Times New Roman" panose="02020603050405020304" pitchFamily="18" charset="0"/>
                <a:cs typeface="Times New Roman" panose="02020603050405020304" pitchFamily="18" charset="0"/>
              </a:rPr>
              <a:t> develops </a:t>
            </a:r>
            <a:r>
              <a:rPr lang="en-IN" sz="2400" b="1" dirty="0">
                <a:latin typeface="Times New Roman" panose="02020603050405020304" pitchFamily="18" charset="0"/>
                <a:cs typeface="Times New Roman" panose="02020603050405020304" pitchFamily="18" charset="0"/>
              </a:rPr>
              <a:t>metaphysics and ontology.</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Views on God</a:t>
            </a:r>
            <a:r>
              <a:rPr lang="en-IN" sz="2400" dirty="0">
                <a:latin typeface="Times New Roman" panose="02020603050405020304" pitchFamily="18" charset="0"/>
                <a:cs typeface="Times New Roman" panose="02020603050405020304" pitchFamily="18" charset="0"/>
              </a:rPr>
              <a:t>: The </a:t>
            </a:r>
            <a:r>
              <a:rPr lang="en-IN" sz="2400" dirty="0" err="1">
                <a:latin typeface="Times New Roman" panose="02020603050405020304" pitchFamily="18" charset="0"/>
                <a:cs typeface="Times New Roman" panose="02020603050405020304" pitchFamily="18" charset="0"/>
              </a:rPr>
              <a:t>Vaisesika</a:t>
            </a:r>
            <a:r>
              <a:rPr lang="en-IN" sz="2400" dirty="0">
                <a:latin typeface="Times New Roman" panose="02020603050405020304" pitchFamily="18" charset="0"/>
                <a:cs typeface="Times New Roman" panose="02020603050405020304" pitchFamily="18" charset="0"/>
              </a:rPr>
              <a:t> theory is substantially similar to the Nyaya's</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According to the </a:t>
            </a:r>
            <a:r>
              <a:rPr lang="en-IN" sz="2400" dirty="0" err="1">
                <a:latin typeface="Times New Roman" panose="02020603050405020304" pitchFamily="18" charset="0"/>
                <a:cs typeface="Times New Roman" panose="02020603050405020304" pitchFamily="18" charset="0"/>
              </a:rPr>
              <a:t>Vaisheshika</a:t>
            </a:r>
            <a:r>
              <a:rPr lang="en-IN" sz="2400" dirty="0">
                <a:latin typeface="Times New Roman" panose="02020603050405020304" pitchFamily="18" charset="0"/>
                <a:cs typeface="Times New Roman" panose="02020603050405020304" pitchFamily="18" charset="0"/>
              </a:rPr>
              <a:t> school, the </a:t>
            </a:r>
            <a:r>
              <a:rPr lang="en-IN" sz="2400" b="1" dirty="0">
                <a:latin typeface="Times New Roman" panose="02020603050405020304" pitchFamily="18" charset="0"/>
                <a:cs typeface="Times New Roman" panose="02020603050405020304" pitchFamily="18" charset="0"/>
              </a:rPr>
              <a:t>laws of Karma guide this universe.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They contended that the Universe was created by the five main elements known as </a:t>
            </a:r>
            <a:r>
              <a:rPr lang="en-IN" sz="2400" b="1" dirty="0" err="1">
                <a:latin typeface="Times New Roman" panose="02020603050405020304" pitchFamily="18" charset="0"/>
                <a:cs typeface="Times New Roman" panose="02020603050405020304" pitchFamily="18" charset="0"/>
              </a:rPr>
              <a:t>Dravya</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(fire, air, water, earth, and sky).</a:t>
            </a:r>
          </a:p>
          <a:p>
            <a:r>
              <a:rPr lang="en-IN" sz="2400" dirty="0">
                <a:latin typeface="Times New Roman" panose="02020603050405020304" pitchFamily="18" charset="0"/>
                <a:cs typeface="Times New Roman" panose="02020603050405020304" pitchFamily="18" charset="0"/>
              </a:rPr>
              <a:t>- The </a:t>
            </a:r>
            <a:r>
              <a:rPr lang="en-IN" sz="2400" dirty="0" err="1">
                <a:latin typeface="Times New Roman" panose="02020603050405020304" pitchFamily="18" charset="0"/>
                <a:cs typeface="Times New Roman" panose="02020603050405020304" pitchFamily="18" charset="0"/>
              </a:rPr>
              <a:t>Vaisesika</a:t>
            </a:r>
            <a:r>
              <a:rPr lang="en-IN" sz="2400" dirty="0">
                <a:latin typeface="Times New Roman" panose="02020603050405020304" pitchFamily="18" charset="0"/>
                <a:cs typeface="Times New Roman" panose="02020603050405020304" pitchFamily="18" charset="0"/>
              </a:rPr>
              <a:t> system is considered conducive to studying all systems.</a:t>
            </a:r>
          </a:p>
          <a:p>
            <a:r>
              <a:rPr lang="en-IN" sz="2400" dirty="0">
                <a:latin typeface="Times New Roman" panose="02020603050405020304" pitchFamily="18" charset="0"/>
                <a:cs typeface="Times New Roman" panose="02020603050405020304" pitchFamily="18" charset="0"/>
              </a:rPr>
              <a:t>- Its primary goal is to deal with categories and reveal its atomistic pluralism.</a:t>
            </a:r>
          </a:p>
          <a:p>
            <a:r>
              <a:rPr lang="en-IN" sz="2400" dirty="0">
                <a:latin typeface="Times New Roman" panose="02020603050405020304" pitchFamily="18" charset="0"/>
                <a:cs typeface="Times New Roman" panose="02020603050405020304" pitchFamily="18" charset="0"/>
              </a:rPr>
              <a:t>- All knowledge must necessarily point to an object of knowledge, which is referred to as a </a:t>
            </a:r>
            <a:r>
              <a:rPr lang="en-IN" sz="2400" dirty="0" err="1">
                <a:latin typeface="Times New Roman" panose="02020603050405020304" pitchFamily="18" charset="0"/>
                <a:cs typeface="Times New Roman" panose="02020603050405020304" pitchFamily="18" charset="0"/>
              </a:rPr>
              <a:t>Padartha</a:t>
            </a:r>
            <a:r>
              <a:rPr lang="en-IN" sz="2400" dirty="0">
                <a:latin typeface="Times New Roman" panose="02020603050405020304" pitchFamily="18" charset="0"/>
                <a:cs typeface="Times New Roman" panose="02020603050405020304" pitchFamily="18" charset="0"/>
              </a:rPr>
              <a:t>.</a:t>
            </a:r>
            <a:endParaRPr lang="en-IN"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1868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131" y="253667"/>
            <a:ext cx="11547566" cy="6525633"/>
          </a:xfrm>
          <a:prstGeom prst="rect">
            <a:avLst/>
          </a:prstGeom>
        </p:spPr>
        <p:txBody>
          <a:bodyPr wrap="square">
            <a:spAutoFit/>
          </a:bodyPr>
          <a:lstStyle/>
          <a:p>
            <a:pPr algn="ctr">
              <a:lnSpc>
                <a:spcPct val="107000"/>
              </a:lnSpc>
              <a:spcBef>
                <a:spcPts val="200"/>
              </a:spcBef>
              <a:spcAft>
                <a:spcPts val="0"/>
              </a:spcAft>
            </a:pPr>
            <a:r>
              <a:rPr lang="en-IN" sz="2400" b="1" dirty="0" err="1">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Mimamsa</a:t>
            </a:r>
            <a:r>
              <a:rPr lang="en-IN"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 School (</a:t>
            </a:r>
            <a:r>
              <a:rPr lang="en-IN" sz="2400" b="1" dirty="0" err="1">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Purva</a:t>
            </a:r>
            <a:r>
              <a:rPr lang="en-IN"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2400" b="1" dirty="0" err="1">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Mimamsa</a:t>
            </a:r>
            <a:r>
              <a:rPr lang="en-IN"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07000"/>
              </a:lnSpc>
              <a:spcBef>
                <a:spcPts val="200"/>
              </a:spcBef>
              <a:spcAft>
                <a:spcPts val="0"/>
              </a:spcAft>
            </a:pPr>
            <a:r>
              <a:rPr lang="en-IN" sz="2400" b="1" dirty="0">
                <a:latin typeface="Times New Roman" panose="02020603050405020304" pitchFamily="18" charset="0"/>
                <a:cs typeface="Times New Roman" panose="02020603050405020304" pitchFamily="18" charset="0"/>
              </a:rPr>
              <a:t>Founder: </a:t>
            </a:r>
            <a:r>
              <a:rPr lang="en-IN" sz="2400" b="1" dirty="0" err="1">
                <a:latin typeface="Times New Roman" panose="02020603050405020304" pitchFamily="18" charset="0"/>
                <a:cs typeface="Times New Roman" panose="02020603050405020304" pitchFamily="18" charset="0"/>
              </a:rPr>
              <a:t>Jamini</a:t>
            </a:r>
            <a:r>
              <a:rPr lang="en-IN" sz="2400" b="1" dirty="0">
                <a:latin typeface="Times New Roman" panose="02020603050405020304" pitchFamily="18" charset="0"/>
                <a:cs typeface="Times New Roman" panose="02020603050405020304" pitchFamily="18" charset="0"/>
              </a:rPr>
              <a:t> </a:t>
            </a:r>
          </a:p>
          <a:p>
            <a:pPr algn="just">
              <a:lnSpc>
                <a:spcPct val="107000"/>
              </a:lnSpc>
              <a:spcBef>
                <a:spcPts val="200"/>
              </a:spcBef>
              <a:spcAft>
                <a:spcPts val="0"/>
              </a:spcAft>
            </a:pPr>
            <a:r>
              <a:rPr lang="en-IN" sz="2400" b="1" dirty="0">
                <a:latin typeface="Times New Roman" panose="02020603050405020304" pitchFamily="18" charset="0"/>
                <a:cs typeface="Times New Roman" panose="02020603050405020304" pitchFamily="18" charset="0"/>
              </a:rPr>
              <a:t>Core Philosophy: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philosophy is the analysis of interpretation, application and use of the text of the Samhita and Brahmana portions of the Veda.</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is an etymological term that means "resolution of some problem through reflection and critical examination."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developed the ritualistic aspect of the Vedas.</a:t>
            </a:r>
          </a:p>
          <a:p>
            <a:pPr algn="just"/>
            <a:r>
              <a:rPr lang="en-IN" sz="2400" dirty="0">
                <a:latin typeface="Times New Roman" panose="02020603050405020304" pitchFamily="18" charset="0"/>
                <a:cs typeface="Times New Roman" panose="02020603050405020304" pitchFamily="18" charset="0"/>
              </a:rPr>
              <a:t>- The </a:t>
            </a:r>
            <a:r>
              <a:rPr lang="en-IN" sz="2400" b="1" dirty="0" err="1">
                <a:latin typeface="Times New Roman" panose="02020603050405020304" pitchFamily="18" charset="0"/>
                <a:cs typeface="Times New Roman" panose="02020603050405020304" pitchFamily="18" charset="0"/>
              </a:rPr>
              <a:t>Jaiminiya</a:t>
            </a:r>
            <a:r>
              <a:rPr lang="en-IN" sz="2400" b="1" dirty="0">
                <a:latin typeface="Times New Roman" panose="02020603050405020304" pitchFamily="18" charset="0"/>
                <a:cs typeface="Times New Roman" panose="02020603050405020304" pitchFamily="18" charset="0"/>
              </a:rPr>
              <a:t> sutra</a:t>
            </a:r>
            <a:r>
              <a:rPr lang="en-IN" sz="2400" dirty="0">
                <a:latin typeface="Times New Roman" panose="02020603050405020304" pitchFamily="18" charset="0"/>
                <a:cs typeface="Times New Roman" panose="02020603050405020304" pitchFamily="18" charset="0"/>
              </a:rPr>
              <a:t> is the work that established the principles of this school.</a:t>
            </a:r>
          </a:p>
          <a:p>
            <a:pPr algn="just"/>
            <a:r>
              <a:rPr lang="en-IN" sz="2400"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Sabaraswami</a:t>
            </a:r>
            <a:r>
              <a:rPr lang="en-IN" sz="2400" dirty="0">
                <a:latin typeface="Times New Roman" panose="02020603050405020304" pitchFamily="18" charset="0"/>
                <a:cs typeface="Times New Roman" panose="02020603050405020304" pitchFamily="18" charset="0"/>
              </a:rPr>
              <a:t> wrote the significant commentary (</a:t>
            </a:r>
            <a:r>
              <a:rPr lang="en-IN" sz="2400" dirty="0" err="1">
                <a:latin typeface="Times New Roman" panose="02020603050405020304" pitchFamily="18" charset="0"/>
                <a:cs typeface="Times New Roman" panose="02020603050405020304" pitchFamily="18" charset="0"/>
              </a:rPr>
              <a:t>bhasya</a:t>
            </a:r>
            <a:r>
              <a:rPr lang="en-IN" sz="2400" dirty="0">
                <a:latin typeface="Times New Roman" panose="02020603050405020304" pitchFamily="18" charset="0"/>
                <a:cs typeface="Times New Roman" panose="02020603050405020304" pitchFamily="18" charset="0"/>
              </a:rPr>
              <a:t>) for this work.</a:t>
            </a:r>
          </a:p>
          <a:p>
            <a:pPr algn="just"/>
            <a:r>
              <a:rPr lang="en-IN" sz="2400" dirty="0">
                <a:latin typeface="Times New Roman" panose="02020603050405020304" pitchFamily="18" charset="0"/>
                <a:cs typeface="Times New Roman" panose="02020603050405020304" pitchFamily="18" charset="0"/>
              </a:rPr>
              <a:t>- The most famous and important commentators are </a:t>
            </a:r>
            <a:r>
              <a:rPr lang="en-IN" sz="2400" b="1" dirty="0" err="1">
                <a:latin typeface="Times New Roman" panose="02020603050405020304" pitchFamily="18" charset="0"/>
                <a:cs typeface="Times New Roman" panose="02020603050405020304" pitchFamily="18" charset="0"/>
              </a:rPr>
              <a:t>Kumarila</a:t>
            </a:r>
            <a:r>
              <a:rPr lang="en-IN" sz="2400" b="1" dirty="0">
                <a:latin typeface="Times New Roman" panose="02020603050405020304" pitchFamily="18" charset="0"/>
                <a:cs typeface="Times New Roman" panose="02020603050405020304" pitchFamily="18" charset="0"/>
              </a:rPr>
              <a:t> Bhatta</a:t>
            </a:r>
            <a:r>
              <a:rPr lang="en-IN" sz="2400" dirty="0">
                <a:latin typeface="Times New Roman" panose="02020603050405020304" pitchFamily="18" charset="0"/>
                <a:cs typeface="Times New Roman" panose="02020603050405020304" pitchFamily="18" charset="0"/>
              </a:rPr>
              <a:t> and </a:t>
            </a:r>
            <a:r>
              <a:rPr lang="en-IN" sz="2400" b="1" dirty="0" err="1">
                <a:latin typeface="Times New Roman" panose="02020603050405020304" pitchFamily="18" charset="0"/>
                <a:cs typeface="Times New Roman" panose="02020603050405020304" pitchFamily="18" charset="0"/>
              </a:rPr>
              <a:t>Prabhakara</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Misra</a:t>
            </a:r>
            <a:r>
              <a:rPr lang="en-IN" sz="2400" dirty="0">
                <a:latin typeface="Times New Roman" panose="02020603050405020304" pitchFamily="18" charset="0"/>
                <a:cs typeface="Times New Roman" panose="02020603050405020304" pitchFamily="18" charset="0"/>
              </a:rPr>
              <a:t>, who founded the two schools of philosophy named after them – the Bhatta School of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and the </a:t>
            </a:r>
            <a:r>
              <a:rPr lang="en-IN" sz="2400" dirty="0" err="1">
                <a:latin typeface="Times New Roman" panose="02020603050405020304" pitchFamily="18" charset="0"/>
                <a:cs typeface="Times New Roman" panose="02020603050405020304" pitchFamily="18" charset="0"/>
              </a:rPr>
              <a:t>Prabhakara</a:t>
            </a:r>
            <a:r>
              <a:rPr lang="en-IN" sz="2400" dirty="0">
                <a:latin typeface="Times New Roman" panose="02020603050405020304" pitchFamily="18" charset="0"/>
                <a:cs typeface="Times New Roman" panose="02020603050405020304" pitchFamily="18" charset="0"/>
              </a:rPr>
              <a:t> School of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Apadeva</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wrote an elementary work on the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known as </a:t>
            </a:r>
            <a:r>
              <a:rPr lang="en-IN" sz="2400" b="1" dirty="0" err="1">
                <a:latin typeface="Times New Roman" panose="02020603050405020304" pitchFamily="18" charset="0"/>
                <a:cs typeface="Times New Roman" panose="02020603050405020304" pitchFamily="18" charset="0"/>
              </a:rPr>
              <a:t>Mimamsaanyayaprakasa</a:t>
            </a:r>
            <a:r>
              <a:rPr lang="en-IN" sz="240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Mimamsa</a:t>
            </a:r>
            <a:r>
              <a:rPr lang="en-IN" sz="2400" dirty="0">
                <a:latin typeface="Times New Roman" panose="02020603050405020304" pitchFamily="18" charset="0"/>
                <a:cs typeface="Times New Roman" panose="02020603050405020304" pitchFamily="18" charset="0"/>
              </a:rPr>
              <a:t> accepts five non-perceptual sources of knowledge. They are: </a:t>
            </a:r>
            <a:r>
              <a:rPr lang="en-IN" sz="2400" b="1" dirty="0" err="1">
                <a:latin typeface="Times New Roman" panose="02020603050405020304" pitchFamily="18" charset="0"/>
                <a:cs typeface="Times New Roman" panose="02020603050405020304" pitchFamily="18" charset="0"/>
              </a:rPr>
              <a:t>anumana</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upamana</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sabda</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arthapatti</a:t>
            </a:r>
            <a:r>
              <a:rPr lang="en-IN" sz="2400" b="1" dirty="0">
                <a:latin typeface="Times New Roman" panose="02020603050405020304" pitchFamily="18" charset="0"/>
                <a:cs typeface="Times New Roman" panose="02020603050405020304" pitchFamily="18" charset="0"/>
              </a:rPr>
              <a:t> (postulation) and </a:t>
            </a:r>
            <a:r>
              <a:rPr lang="en-IN" sz="2400" b="1" dirty="0" err="1">
                <a:latin typeface="Times New Roman" panose="02020603050405020304" pitchFamily="18" charset="0"/>
                <a:cs typeface="Times New Roman" panose="02020603050405020304" pitchFamily="18" charset="0"/>
              </a:rPr>
              <a:t>anupalabdhi</a:t>
            </a:r>
            <a:r>
              <a:rPr lang="en-IN" sz="2400" b="1" dirty="0">
                <a:latin typeface="Times New Roman" panose="02020603050405020304" pitchFamily="18" charset="0"/>
                <a:cs typeface="Times New Roman" panose="02020603050405020304" pitchFamily="18" charset="0"/>
              </a:rPr>
              <a:t> (non-perception).</a:t>
            </a:r>
            <a:endParaRPr lang="en-IN"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860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6" y="360817"/>
            <a:ext cx="11573691" cy="6230808"/>
          </a:xfrm>
          <a:prstGeom prst="rect">
            <a:avLst/>
          </a:prstGeom>
        </p:spPr>
        <p:txBody>
          <a:bodyPr wrap="square">
            <a:spAutoFit/>
          </a:bodyPr>
          <a:lstStyle/>
          <a:p>
            <a:pPr algn="ctr">
              <a:lnSpc>
                <a:spcPct val="107000"/>
              </a:lnSpc>
              <a:spcBef>
                <a:spcPts val="200"/>
              </a:spcBef>
              <a:spcAft>
                <a:spcPts val="0"/>
              </a:spcAft>
            </a:pPr>
            <a:r>
              <a:rPr lang="en-IN" sz="28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Vedanta School</a:t>
            </a:r>
          </a:p>
          <a:p>
            <a:pPr>
              <a:lnSpc>
                <a:spcPct val="107000"/>
              </a:lnSpc>
              <a:spcBef>
                <a:spcPts val="200"/>
              </a:spcBef>
              <a:spcAft>
                <a:spcPts val="0"/>
              </a:spcAft>
            </a:pPr>
            <a:r>
              <a:rPr lang="en-IN" sz="2000" b="1" dirty="0">
                <a:latin typeface="Times New Roman" panose="02020603050405020304" pitchFamily="18" charset="0"/>
                <a:cs typeface="Times New Roman" panose="02020603050405020304" pitchFamily="18" charset="0"/>
              </a:rPr>
              <a:t>Founder: </a:t>
            </a:r>
            <a:r>
              <a:rPr lang="en-IN" sz="2000" b="1" dirty="0" err="1">
                <a:latin typeface="Times New Roman" panose="02020603050405020304" pitchFamily="18" charset="0"/>
                <a:cs typeface="Times New Roman" panose="02020603050405020304" pitchFamily="18" charset="0"/>
              </a:rPr>
              <a:t>Badrayana</a:t>
            </a:r>
            <a:r>
              <a:rPr lang="en-IN" sz="2000" b="1" dirty="0">
                <a:latin typeface="Times New Roman" panose="02020603050405020304" pitchFamily="18" charset="0"/>
                <a:cs typeface="Times New Roman" panose="02020603050405020304" pitchFamily="18" charset="0"/>
              </a:rPr>
              <a:t> Vyasa </a:t>
            </a:r>
          </a:p>
          <a:p>
            <a:pPr>
              <a:lnSpc>
                <a:spcPct val="107000"/>
              </a:lnSpc>
              <a:spcBef>
                <a:spcPts val="200"/>
              </a:spcBef>
              <a:spcAft>
                <a:spcPts val="0"/>
              </a:spcAft>
            </a:pPr>
            <a:r>
              <a:rPr lang="en-IN" sz="2000" b="1" dirty="0">
                <a:latin typeface="Times New Roman" panose="02020603050405020304" pitchFamily="18" charset="0"/>
                <a:cs typeface="Times New Roman" panose="02020603050405020304" pitchFamily="18" charset="0"/>
              </a:rPr>
              <a:t>Core Philosophy: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Brahm</a:t>
            </a:r>
            <a:r>
              <a:rPr lang="en-IN" sz="2000" dirty="0">
                <a:latin typeface="Times New Roman" panose="02020603050405020304" pitchFamily="18" charset="0"/>
                <a:cs typeface="Times New Roman" panose="02020603050405020304" pitchFamily="18" charset="0"/>
              </a:rPr>
              <a:t> is the reality of life, and everything else is unreal. They</a:t>
            </a:r>
          </a:p>
          <a:p>
            <a:pPr>
              <a:lnSpc>
                <a:spcPct val="107000"/>
              </a:lnSpc>
              <a:spcBef>
                <a:spcPts val="200"/>
              </a:spcBef>
              <a:spcAft>
                <a:spcPts val="0"/>
              </a:spcAft>
            </a:pPr>
            <a:r>
              <a:rPr lang="en-IN" sz="2000" dirty="0">
                <a:latin typeface="Times New Roman" panose="02020603050405020304" pitchFamily="18" charset="0"/>
                <a:cs typeface="Times New Roman" panose="02020603050405020304" pitchFamily="18" charset="0"/>
              </a:rPr>
              <a:t>equalise </a:t>
            </a:r>
            <a:r>
              <a:rPr lang="en-IN" sz="2000" b="1" dirty="0" err="1">
                <a:latin typeface="Times New Roman" panose="02020603050405020304" pitchFamily="18" charset="0"/>
                <a:cs typeface="Times New Roman" panose="02020603050405020304" pitchFamily="18" charset="0"/>
              </a:rPr>
              <a:t>atma</a:t>
            </a:r>
            <a:r>
              <a:rPr lang="en-IN" sz="2000"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Brahm</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and if a person attains the knowledge of the self, he would automatically understand </a:t>
            </a:r>
            <a:r>
              <a:rPr lang="en-IN" sz="2000" dirty="0" err="1">
                <a:latin typeface="Times New Roman" panose="02020603050405020304" pitchFamily="18" charset="0"/>
                <a:cs typeface="Times New Roman" panose="02020603050405020304" pitchFamily="18" charset="0"/>
              </a:rPr>
              <a:t>Brahm</a:t>
            </a:r>
            <a:r>
              <a:rPr lang="en-IN" sz="2000" dirty="0">
                <a:latin typeface="Times New Roman" panose="02020603050405020304" pitchFamily="18" charset="0"/>
                <a:cs typeface="Times New Roman" panose="02020603050405020304" pitchFamily="18" charset="0"/>
              </a:rPr>
              <a:t> and achieve </a:t>
            </a:r>
            <a:r>
              <a:rPr lang="en-IN" sz="2000" b="1" dirty="0">
                <a:latin typeface="Times New Roman" panose="02020603050405020304" pitchFamily="18" charset="0"/>
                <a:cs typeface="Times New Roman" panose="02020603050405020304" pitchFamily="18" charset="0"/>
              </a:rPr>
              <a:t>salvation</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The term Vedanta means in Sanskrit the “</a:t>
            </a:r>
            <a:r>
              <a:rPr lang="en-IN" sz="2000" b="1" dirty="0">
                <a:latin typeface="Times New Roman" panose="02020603050405020304" pitchFamily="18" charset="0"/>
                <a:cs typeface="Times New Roman" panose="02020603050405020304" pitchFamily="18" charset="0"/>
              </a:rPr>
              <a:t>conclusion” (anta) of the Vedas, </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It applies to the Upanishads and the school that arose from the study (</a:t>
            </a:r>
            <a:r>
              <a:rPr lang="en-IN" sz="2000" i="1" dirty="0" err="1">
                <a:latin typeface="Times New Roman" panose="02020603050405020304" pitchFamily="18" charset="0"/>
                <a:cs typeface="Times New Roman" panose="02020603050405020304" pitchFamily="18" charset="0"/>
              </a:rPr>
              <a:t>Mimamsa</a:t>
            </a:r>
            <a:r>
              <a:rPr lang="en-IN" sz="2000" dirty="0">
                <a:latin typeface="Times New Roman" panose="02020603050405020304" pitchFamily="18" charset="0"/>
                <a:cs typeface="Times New Roman" panose="02020603050405020304" pitchFamily="18" charset="0"/>
              </a:rPr>
              <a:t>) of the Upanishads.</a:t>
            </a:r>
          </a:p>
          <a:p>
            <a:r>
              <a:rPr lang="en-IN" sz="2000" dirty="0">
                <a:latin typeface="Times New Roman" panose="02020603050405020304" pitchFamily="18" charset="0"/>
                <a:cs typeface="Times New Roman" panose="02020603050405020304" pitchFamily="18" charset="0"/>
              </a:rPr>
              <a:t>- They believed in the theory of </a:t>
            </a:r>
            <a:r>
              <a:rPr lang="en-IN" sz="2000" dirty="0" err="1">
                <a:latin typeface="Times New Roman" panose="02020603050405020304" pitchFamily="18" charset="0"/>
                <a:cs typeface="Times New Roman" panose="02020603050405020304" pitchFamily="18" charset="0"/>
              </a:rPr>
              <a:t>punarjanama</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The text</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Brahmasutra</a:t>
            </a:r>
            <a:r>
              <a:rPr lang="en-IN" sz="2000" b="1" dirty="0">
                <a:latin typeface="Times New Roman" panose="02020603050405020304" pitchFamily="18" charset="0"/>
                <a:cs typeface="Times New Roman" panose="02020603050405020304" pitchFamily="18" charset="0"/>
              </a:rPr>
              <a:t> of </a:t>
            </a:r>
            <a:r>
              <a:rPr lang="en-IN" sz="2000" b="1" dirty="0" err="1">
                <a:latin typeface="Times New Roman" panose="02020603050405020304" pitchFamily="18" charset="0"/>
                <a:cs typeface="Times New Roman" panose="02020603050405020304" pitchFamily="18" charset="0"/>
              </a:rPr>
              <a:t>Badrayana</a:t>
            </a:r>
            <a:r>
              <a:rPr lang="en-IN" sz="2000" dirty="0">
                <a:latin typeface="Times New Roman" panose="02020603050405020304" pitchFamily="18" charset="0"/>
                <a:cs typeface="Times New Roman" panose="02020603050405020304" pitchFamily="18" charset="0"/>
              </a:rPr>
              <a:t> formed the basis of this </a:t>
            </a:r>
            <a:r>
              <a:rPr lang="en-IN" sz="2000" dirty="0" err="1">
                <a:latin typeface="Times New Roman" panose="02020603050405020304" pitchFamily="18" charset="0"/>
                <a:cs typeface="Times New Roman" panose="02020603050405020304" pitchFamily="18" charset="0"/>
              </a:rPr>
              <a:t>philosophy.Thus</a:t>
            </a:r>
            <a:r>
              <a:rPr lang="en-IN" sz="2000" dirty="0">
                <a:latin typeface="Times New Roman" panose="02020603050405020304" pitchFamily="18" charset="0"/>
                <a:cs typeface="Times New Roman" panose="02020603050405020304" pitchFamily="18" charset="0"/>
              </a:rPr>
              <a:t>, Vedanta is also referred to as </a:t>
            </a:r>
            <a:r>
              <a:rPr lang="en-IN" sz="2000" b="1" dirty="0">
                <a:latin typeface="Times New Roman" panose="02020603050405020304" pitchFamily="18" charset="0"/>
                <a:cs typeface="Times New Roman" panose="02020603050405020304" pitchFamily="18" charset="0"/>
              </a:rPr>
              <a:t>Vedanta </a:t>
            </a:r>
            <a:r>
              <a:rPr lang="en-IN" sz="2000" b="1" dirty="0" err="1">
                <a:latin typeface="Times New Roman" panose="02020603050405020304" pitchFamily="18" charset="0"/>
                <a:cs typeface="Times New Roman" panose="02020603050405020304" pitchFamily="18" charset="0"/>
              </a:rPr>
              <a:t>Mimamsa</a:t>
            </a:r>
            <a:r>
              <a:rPr lang="en-IN" sz="2000" dirty="0">
                <a:latin typeface="Times New Roman" panose="02020603050405020304" pitchFamily="18" charset="0"/>
                <a:cs typeface="Times New Roman" panose="02020603050405020304" pitchFamily="18" charset="0"/>
              </a:rPr>
              <a:t> (“Reflection on Vedanta”), </a:t>
            </a:r>
            <a:r>
              <a:rPr lang="en-IN" sz="2000" b="1" dirty="0">
                <a:latin typeface="Times New Roman" panose="02020603050405020304" pitchFamily="18" charset="0"/>
                <a:cs typeface="Times New Roman" panose="02020603050405020304" pitchFamily="18" charset="0"/>
              </a:rPr>
              <a:t>Uttara </a:t>
            </a:r>
            <a:r>
              <a:rPr lang="en-IN" sz="2000" b="1" dirty="0" err="1">
                <a:latin typeface="Times New Roman" panose="02020603050405020304" pitchFamily="18" charset="0"/>
                <a:cs typeface="Times New Roman" panose="02020603050405020304" pitchFamily="18" charset="0"/>
              </a:rPr>
              <a:t>Mimamsa</a:t>
            </a:r>
            <a:r>
              <a:rPr lang="en-IN" sz="2000" dirty="0">
                <a:latin typeface="Times New Roman" panose="02020603050405020304" pitchFamily="18" charset="0"/>
                <a:cs typeface="Times New Roman" panose="02020603050405020304" pitchFamily="18" charset="0"/>
              </a:rPr>
              <a:t> (“Reflection on the Latter Part of the Vedas”), and </a:t>
            </a:r>
            <a:r>
              <a:rPr lang="en-IN" sz="2000" b="1" dirty="0">
                <a:latin typeface="Times New Roman" panose="02020603050405020304" pitchFamily="18" charset="0"/>
                <a:cs typeface="Times New Roman" panose="02020603050405020304" pitchFamily="18" charset="0"/>
              </a:rPr>
              <a:t>Brahma </a:t>
            </a:r>
            <a:r>
              <a:rPr lang="en-IN" sz="2000" b="1" dirty="0" err="1">
                <a:latin typeface="Times New Roman" panose="02020603050405020304" pitchFamily="18" charset="0"/>
                <a:cs typeface="Times New Roman" panose="02020603050405020304" pitchFamily="18" charset="0"/>
              </a:rPr>
              <a:t>Mimamsa</a:t>
            </a:r>
            <a:r>
              <a:rPr lang="en-IN" sz="2000" dirty="0">
                <a:latin typeface="Times New Roman" panose="02020603050405020304" pitchFamily="18" charset="0"/>
                <a:cs typeface="Times New Roman" panose="02020603050405020304" pitchFamily="18" charset="0"/>
              </a:rPr>
              <a:t> (“Reflection on Brahman”).</a:t>
            </a:r>
          </a:p>
          <a:p>
            <a:r>
              <a:rPr lang="en-IN" sz="2000" dirty="0">
                <a:latin typeface="Times New Roman" panose="02020603050405020304" pitchFamily="18" charset="0"/>
                <a:cs typeface="Times New Roman" panose="02020603050405020304" pitchFamily="18" charset="0"/>
              </a:rPr>
              <a:t>- The three fundamental Vedanta texts are </a:t>
            </a:r>
            <a:r>
              <a:rPr lang="en-IN" sz="2000" b="1" dirty="0">
                <a:latin typeface="Times New Roman" panose="02020603050405020304" pitchFamily="18" charset="0"/>
                <a:cs typeface="Times New Roman" panose="02020603050405020304" pitchFamily="18" charset="0"/>
              </a:rPr>
              <a:t>Upanishads</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Bhagavadgita</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Brahma-sutras</a:t>
            </a:r>
            <a:r>
              <a:rPr lang="en-IN" sz="2000" dirty="0">
                <a:latin typeface="Times New Roman" panose="02020603050405020304" pitchFamily="18" charset="0"/>
                <a:cs typeface="Times New Roman" panose="02020603050405020304" pitchFamily="18" charset="0"/>
              </a:rPr>
              <a:t>.</a:t>
            </a:r>
          </a:p>
          <a:p>
            <a:r>
              <a:rPr lang="en-IN" sz="2000" b="1" dirty="0">
                <a:latin typeface="Times New Roman" panose="02020603050405020304" pitchFamily="18" charset="0"/>
                <a:cs typeface="Times New Roman" panose="02020603050405020304" pitchFamily="18" charset="0"/>
              </a:rPr>
              <a:t>- The main traditions of Vedanta are:</a:t>
            </a:r>
          </a:p>
          <a:p>
            <a:pPr marL="457200" lvl="0" indent="-457200">
              <a:buFont typeface="+mj-lt"/>
              <a:buAutoNum type="arabicPeriod"/>
            </a:pPr>
            <a:r>
              <a:rPr lang="en-IN" sz="2000" b="1" dirty="0" err="1">
                <a:latin typeface="Times New Roman" panose="02020603050405020304" pitchFamily="18" charset="0"/>
                <a:cs typeface="Times New Roman" panose="02020603050405020304" pitchFamily="18" charset="0"/>
              </a:rPr>
              <a:t>Bhedabheda</a:t>
            </a:r>
            <a:r>
              <a:rPr lang="en-IN" sz="2000" dirty="0">
                <a:latin typeface="Times New Roman" panose="02020603050405020304" pitchFamily="18" charset="0"/>
                <a:cs typeface="Times New Roman" panose="02020603050405020304" pitchFamily="18" charset="0"/>
              </a:rPr>
              <a:t> (difference and non-difference) by </a:t>
            </a:r>
            <a:r>
              <a:rPr lang="en-IN" sz="2000" b="1" dirty="0" err="1">
                <a:latin typeface="Times New Roman" panose="02020603050405020304" pitchFamily="18" charset="0"/>
                <a:cs typeface="Times New Roman" panose="02020603050405020304" pitchFamily="18" charset="0"/>
              </a:rPr>
              <a:t>Nimbarka</a:t>
            </a:r>
            <a:endParaRPr lang="en-IN" sz="20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000" b="1" dirty="0" err="1">
                <a:latin typeface="Times New Roman" panose="02020603050405020304" pitchFamily="18" charset="0"/>
                <a:cs typeface="Times New Roman" panose="02020603050405020304" pitchFamily="18" charset="0"/>
              </a:rPr>
              <a:t>Advaita</a:t>
            </a:r>
            <a:r>
              <a:rPr lang="en-IN" sz="2000" dirty="0">
                <a:latin typeface="Times New Roman" panose="02020603050405020304" pitchFamily="18" charset="0"/>
                <a:cs typeface="Times New Roman" panose="02020603050405020304" pitchFamily="18" charset="0"/>
              </a:rPr>
              <a:t> (non-dualism) by </a:t>
            </a:r>
            <a:r>
              <a:rPr lang="en-IN" sz="2000" b="1" dirty="0" err="1">
                <a:latin typeface="Times New Roman" panose="02020603050405020304" pitchFamily="18" charset="0"/>
                <a:cs typeface="Times New Roman" panose="02020603050405020304" pitchFamily="18" charset="0"/>
              </a:rPr>
              <a:t>Adi</a:t>
            </a: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Shankaracharya</a:t>
            </a:r>
            <a:r>
              <a:rPr lang="en-IN" sz="2000" dirty="0">
                <a:latin typeface="Times New Roman" panose="02020603050405020304" pitchFamily="18" charset="0"/>
                <a:cs typeface="Times New Roman" panose="02020603050405020304" pitchFamily="18" charset="0"/>
              </a:rPr>
              <a:t>.</a:t>
            </a:r>
          </a:p>
          <a:p>
            <a:pPr marL="457200" lvl="0" indent="-457200">
              <a:buFont typeface="+mj-lt"/>
              <a:buAutoNum type="arabicPeriod"/>
            </a:pPr>
            <a:r>
              <a:rPr lang="en-IN" sz="2000" b="1" dirty="0" err="1">
                <a:latin typeface="Times New Roman" panose="02020603050405020304" pitchFamily="18" charset="0"/>
                <a:cs typeface="Times New Roman" panose="02020603050405020304" pitchFamily="18" charset="0"/>
              </a:rPr>
              <a:t>Vishishtadvaita</a:t>
            </a:r>
            <a:r>
              <a:rPr lang="en-IN" sz="2000" dirty="0">
                <a:latin typeface="Times New Roman" panose="02020603050405020304" pitchFamily="18" charset="0"/>
                <a:cs typeface="Times New Roman" panose="02020603050405020304" pitchFamily="18" charset="0"/>
              </a:rPr>
              <a:t> (qualified non-dualism) by </a:t>
            </a:r>
            <a:r>
              <a:rPr lang="en-IN" sz="2000" dirty="0" err="1">
                <a:latin typeface="Times New Roman" panose="02020603050405020304" pitchFamily="18" charset="0"/>
                <a:cs typeface="Times New Roman" panose="02020603050405020304" pitchFamily="18" charset="0"/>
              </a:rPr>
              <a:t>Nathamuni</a:t>
            </a:r>
            <a:r>
              <a:rPr lang="en-IN" sz="2000" dirty="0">
                <a:latin typeface="Times New Roman" panose="02020603050405020304" pitchFamily="18" charset="0"/>
                <a:cs typeface="Times New Roman" panose="02020603050405020304" pitchFamily="18" charset="0"/>
              </a:rPr>
              <a:t>, Yamuna and </a:t>
            </a:r>
            <a:r>
              <a:rPr lang="en-IN" sz="2000" b="1" dirty="0" err="1">
                <a:latin typeface="Times New Roman" panose="02020603050405020304" pitchFamily="18" charset="0"/>
                <a:cs typeface="Times New Roman" panose="02020603050405020304" pitchFamily="18" charset="0"/>
              </a:rPr>
              <a:t>Ramanuja</a:t>
            </a:r>
            <a:r>
              <a:rPr lang="en-IN" sz="2000" dirty="0">
                <a:latin typeface="Times New Roman" panose="02020603050405020304" pitchFamily="18" charset="0"/>
                <a:cs typeface="Times New Roman" panose="02020603050405020304" pitchFamily="18" charset="0"/>
              </a:rPr>
              <a:t>.</a:t>
            </a:r>
          </a:p>
          <a:p>
            <a:pPr marL="457200" lvl="0" indent="-457200">
              <a:buFont typeface="+mj-lt"/>
              <a:buAutoNum type="arabicPeriod"/>
            </a:pPr>
            <a:r>
              <a:rPr lang="en-IN" sz="2000" b="1" dirty="0" err="1">
                <a:latin typeface="Times New Roman" panose="02020603050405020304" pitchFamily="18" charset="0"/>
                <a:cs typeface="Times New Roman" panose="02020603050405020304" pitchFamily="18" charset="0"/>
              </a:rPr>
              <a:t>Tattvavada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Dvaita</a:t>
            </a:r>
            <a:r>
              <a:rPr lang="en-IN" sz="2000" dirty="0">
                <a:latin typeface="Times New Roman" panose="02020603050405020304" pitchFamily="18" charset="0"/>
                <a:cs typeface="Times New Roman" panose="02020603050405020304" pitchFamily="18" charset="0"/>
              </a:rPr>
              <a:t>) (dualism) by </a:t>
            </a:r>
            <a:r>
              <a:rPr lang="en-IN" sz="2000" b="1" dirty="0" err="1">
                <a:latin typeface="Times New Roman" panose="02020603050405020304" pitchFamily="18" charset="0"/>
                <a:cs typeface="Times New Roman" panose="02020603050405020304" pitchFamily="18" charset="0"/>
              </a:rPr>
              <a:t>Madhvacharya</a:t>
            </a:r>
            <a:r>
              <a:rPr lang="en-IN" sz="2000" dirty="0">
                <a:latin typeface="Times New Roman" panose="02020603050405020304" pitchFamily="18" charset="0"/>
                <a:cs typeface="Times New Roman" panose="02020603050405020304" pitchFamily="18" charset="0"/>
              </a:rPr>
              <a:t>.</a:t>
            </a:r>
          </a:p>
          <a:p>
            <a:pPr marL="457200" lvl="0" indent="-457200">
              <a:buFont typeface="+mj-lt"/>
              <a:buAutoNum type="arabicPeriod"/>
            </a:pPr>
            <a:r>
              <a:rPr lang="en-IN" sz="2000" b="1" dirty="0" err="1">
                <a:latin typeface="Times New Roman" panose="02020603050405020304" pitchFamily="18" charset="0"/>
                <a:cs typeface="Times New Roman" panose="02020603050405020304" pitchFamily="18" charset="0"/>
              </a:rPr>
              <a:t>Shuddhadvaita</a:t>
            </a:r>
            <a:r>
              <a:rPr lang="en-IN" sz="2000" dirty="0">
                <a:latin typeface="Times New Roman" panose="02020603050405020304" pitchFamily="18" charset="0"/>
                <a:cs typeface="Times New Roman" panose="02020603050405020304" pitchFamily="18" charset="0"/>
              </a:rPr>
              <a:t> (pure non-dualism) by </a:t>
            </a:r>
            <a:r>
              <a:rPr lang="en-IN" sz="2000" b="1" dirty="0" err="1">
                <a:latin typeface="Times New Roman" panose="02020603050405020304" pitchFamily="18" charset="0"/>
                <a:cs typeface="Times New Roman" panose="02020603050405020304" pitchFamily="18" charset="0"/>
              </a:rPr>
              <a:t>Vallabha</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b="1" dirty="0" err="1">
                <a:latin typeface="Times New Roman" panose="02020603050405020304" pitchFamily="18" charset="0"/>
                <a:cs typeface="Times New Roman" panose="02020603050405020304" pitchFamily="18" charset="0"/>
              </a:rPr>
              <a:t>Achintya-Bheda-Abheda</a:t>
            </a:r>
            <a:r>
              <a:rPr lang="en-IN" sz="2000" dirty="0">
                <a:latin typeface="Times New Roman" panose="02020603050405020304" pitchFamily="18" charset="0"/>
                <a:cs typeface="Times New Roman" panose="02020603050405020304" pitchFamily="18" charset="0"/>
              </a:rPr>
              <a:t> (inconceivable difference and non-difference) by </a:t>
            </a:r>
            <a:r>
              <a:rPr lang="en-IN" sz="2000" b="1" dirty="0">
                <a:latin typeface="Times New Roman" panose="02020603050405020304" pitchFamily="18" charset="0"/>
                <a:cs typeface="Times New Roman" panose="02020603050405020304" pitchFamily="18" charset="0"/>
              </a:rPr>
              <a:t>Chaitanya </a:t>
            </a:r>
            <a:r>
              <a:rPr lang="en-IN" sz="2000" b="1" dirty="0" err="1">
                <a:latin typeface="Times New Roman" panose="02020603050405020304" pitchFamily="18" charset="0"/>
                <a:cs typeface="Times New Roman" panose="02020603050405020304" pitchFamily="18" charset="0"/>
              </a:rPr>
              <a:t>Mahaprabhu</a:t>
            </a:r>
            <a:r>
              <a:rPr lang="en-IN" sz="2000" b="1" dirty="0">
                <a:latin typeface="Times New Roman" panose="02020603050405020304" pitchFamily="18" charset="0"/>
                <a:cs typeface="Times New Roman" panose="02020603050405020304" pitchFamily="18" charset="0"/>
              </a:rPr>
              <a:t>.</a:t>
            </a:r>
            <a:endParaRPr lang="en-IN" sz="1600" b="1" dirty="0">
              <a:solidFill>
                <a:srgbClr val="1F4D78"/>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133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6834" y="295731"/>
            <a:ext cx="10659292" cy="6047809"/>
          </a:xfrm>
          <a:prstGeom prst="rect">
            <a:avLst/>
          </a:prstGeom>
        </p:spPr>
        <p:txBody>
          <a:bodyPr wrap="square">
            <a:spAutoFit/>
          </a:bodyPr>
          <a:lstStyle/>
          <a:p>
            <a:pPr algn="ctr">
              <a:lnSpc>
                <a:spcPct val="150000"/>
              </a:lnSpc>
              <a:spcAft>
                <a:spcPts val="0"/>
              </a:spcAf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Sri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Adi</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Shankaracharya</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(CE 788-820)</a:t>
            </a:r>
          </a:p>
          <a:p>
            <a:pPr lvl="0" algn="ctr">
              <a:lnSpc>
                <a:spcPct val="150000"/>
              </a:lnSpc>
            </a:pPr>
            <a:r>
              <a:rPr lang="en-IN" sz="24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INTRODUCTION</a:t>
            </a:r>
            <a:endParaRPr lang="en-IN" sz="2400" b="1" dirty="0">
              <a:latin typeface="Calibri" panose="020F0502020204030204" pitchFamily="34" charset="0"/>
              <a:ea typeface="Calibri" panose="020F0502020204030204" pitchFamily="34" charset="0"/>
              <a:cs typeface="Kokila" panose="020B0604020202020204" pitchFamily="34" charset="0"/>
            </a:endParaRPr>
          </a:p>
          <a:p>
            <a:pPr lvl="0" algn="just">
              <a:lnSpc>
                <a:spcPct val="150000"/>
              </a:lnSpc>
              <a:spcAft>
                <a:spcPts val="0"/>
              </a:spcAft>
              <a:buSzPts val="1000"/>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Adi</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Shankaracharya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was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the first philosopher who consolidated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Advaita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Vedanta, one of the sub-schools of Vedanta.</a:t>
            </a:r>
          </a:p>
          <a:p>
            <a:pPr lvl="0" algn="just">
              <a:lnSpc>
                <a:spcPct val="150000"/>
              </a:lnSpc>
              <a:spcAft>
                <a:spcPts val="0"/>
              </a:spcAft>
              <a:buSzPts val="1000"/>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Birth- 788 CE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birth place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Kalady</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(Kerala)Childhood name-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Parents -Sri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Sivaguru</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and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Aryamba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p>
          <a:p>
            <a:pPr lvl="0" algn="ctr">
              <a:lnSpc>
                <a:spcPct val="150000"/>
              </a:lnSpc>
              <a:spcAft>
                <a:spcPts val="0"/>
              </a:spcAft>
              <a:buSzPts val="1000"/>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LIFE OF THE SHANKARACHARYA</a:t>
            </a:r>
          </a:p>
          <a:p>
            <a:pPr algn="just">
              <a:lnSpc>
                <a:spcPct val="150000"/>
              </a:lnSpc>
              <a:buSzPts val="1000"/>
              <a:tabLst>
                <a:tab pos="457200" algn="l"/>
              </a:tabLst>
            </a:pPr>
            <a:r>
              <a:rPr lang="en-IN" sz="2400" b="1" u="sng" dirty="0">
                <a:hlinkClick r:id="rId4"/>
              </a:rPr>
              <a:t>It was after </a:t>
            </a:r>
            <a:r>
              <a:rPr lang="en-IN" sz="2400" dirty="0"/>
              <a:t>his parents, who had been childless for many years, prayed at the </a:t>
            </a:r>
            <a:r>
              <a:rPr lang="en-IN" sz="2400" dirty="0" err="1"/>
              <a:t>Vadakkunnathan</a:t>
            </a:r>
            <a:r>
              <a:rPr lang="en-IN" sz="2400" dirty="0"/>
              <a:t> temple, Thrissur that </a:t>
            </a:r>
            <a:r>
              <a:rPr lang="en-IN" sz="2400" dirty="0" err="1"/>
              <a:t>Sankara</a:t>
            </a:r>
            <a:r>
              <a:rPr lang="en-IN" sz="2400" dirty="0"/>
              <a:t> was born under the star </a:t>
            </a:r>
            <a:r>
              <a:rPr lang="en-IN" sz="2400" dirty="0" err="1"/>
              <a:t>Thiruvathira</a:t>
            </a:r>
            <a:r>
              <a:rPr lang="en-IN" sz="2400" dirty="0"/>
              <a:t>.</a:t>
            </a:r>
          </a:p>
          <a:p>
            <a:pPr marL="342900" lvl="0" indent="-342900" algn="just">
              <a:lnSpc>
                <a:spcPct val="150000"/>
              </a:lnSpc>
              <a:spcAft>
                <a:spcPts val="0"/>
              </a:spcAft>
              <a:buSzPts val="1000"/>
              <a:buFont typeface="Symbol" panose="05050102010706020507" pitchFamily="18" charset="2"/>
              <a:buChar char=""/>
              <a:tabLst>
                <a:tab pos="457200" algn="l"/>
              </a:tabLst>
            </a:pP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4363338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697" y="534632"/>
            <a:ext cx="11103429" cy="5909310"/>
          </a:xfrm>
          <a:prstGeom prst="rect">
            <a:avLst/>
          </a:prstGeom>
        </p:spPr>
        <p:txBody>
          <a:bodyPr wrap="square">
            <a:spAutoFit/>
          </a:bodyPr>
          <a:lstStyle/>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CHILDHOOD</a:t>
            </a:r>
            <a:endPar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His father died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while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was very young. By the time,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didn't complete three years.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Shankara's</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upanayanaṃ</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the initiation into student-life, was performed at the age of five. As a child,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showed remarkable scholarship, mastering the four Vedas by the age of eight.</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Under the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guidance of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Govindapada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mastered everything in Hatha, Raja and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Jyana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Yoga in only three years, after which he received initiation in the knowledge of Brahma.</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799020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3143" y="558247"/>
            <a:ext cx="10985863" cy="5262979"/>
          </a:xfrm>
          <a:prstGeom prst="rect">
            <a:avLst/>
          </a:prstGeom>
        </p:spPr>
        <p:txBody>
          <a:bodyPr wrap="square">
            <a:spAutoFit/>
          </a:bodyPr>
          <a:lstStyle/>
          <a:p>
            <a:pPr algn="ctr">
              <a:lnSpc>
                <a:spcPct val="150000"/>
              </a:lnSpc>
              <a:buSzPts val="1000"/>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HIS TEACHER</a:t>
            </a:r>
            <a:endParaRPr lang="en-IN" sz="24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Shankaracharya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was also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blessed by the Ageless Yogi,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Maha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Muni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Babaji</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who taught him perfection of the Raja yoga disciplines. He practiced in the Himalayas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Kedarnath</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how to attain the spontaneous state of consciousness. </a:t>
            </a:r>
          </a:p>
          <a:p>
            <a:pPr algn="ctr">
              <a:lnSpc>
                <a:spcPct val="150000"/>
              </a:lnSpc>
              <a:buSzPts val="1000"/>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SANYASA DEEKSHA</a:t>
            </a:r>
            <a:endParaRPr lang="en-IN" sz="24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Sankara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took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Sanyasa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deeksha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(oath of ascetic life) during his 9th year. So he never married and never had family and family-life. </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611313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6205" y="168870"/>
            <a:ext cx="11207931" cy="6555641"/>
          </a:xfrm>
          <a:prstGeom prst="rect">
            <a:avLst/>
          </a:prstGeom>
        </p:spPr>
        <p:txBody>
          <a:bodyPr wrap="square">
            <a:spAutoFit/>
          </a:bodyPr>
          <a:lstStyle/>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SADHANA</a:t>
            </a:r>
            <a:endPar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endParaRPr>
          </a:p>
          <a:p>
            <a:pPr lvl="0" algn="ctr">
              <a:lnSpc>
                <a:spcPct val="150000"/>
              </a:lnSpc>
              <a:spcAft>
                <a:spcPts val="0"/>
              </a:spcAft>
              <a:buSzPts val="1000"/>
              <a:tabLst>
                <a:tab pos="457200" algn="l"/>
              </a:tabLst>
            </a:pPr>
            <a:r>
              <a:rPr lang="en-IN" sz="2800" b="1" u="sng" dirty="0" err="1">
                <a:solidFill>
                  <a:schemeClr val="bg1"/>
                </a:solidFill>
                <a:latin typeface="Times New Roman" panose="02020603050405020304" pitchFamily="18" charset="0"/>
                <a:ea typeface="Times New Roman" panose="02020603050405020304" pitchFamily="18" charset="0"/>
                <a:cs typeface="Kokila" panose="020B0604020202020204" pitchFamily="34" charset="0"/>
                <a:hlinkClick r:id="rId2"/>
              </a:rPr>
              <a:t>Shankaracharya</a:t>
            </a:r>
            <a:r>
              <a:rPr lang="en-IN" sz="2800" b="1" u="sng" dirty="0">
                <a:solidFill>
                  <a:schemeClr val="bg1"/>
                </a:solidFill>
                <a:latin typeface="Times New Roman" panose="02020603050405020304" pitchFamily="18" charset="0"/>
                <a:ea typeface="Times New Roman" panose="02020603050405020304" pitchFamily="18" charset="0"/>
                <a:cs typeface="Kokila" panose="020B0604020202020204" pitchFamily="34" charset="0"/>
                <a:hlinkClick r:id="rId2"/>
              </a:rPr>
              <a:t> practiced his</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Sadhana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the Himalayas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Kedarnath</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a:t>
            </a:r>
          </a:p>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HIS CONTRIBUTION </a:t>
            </a:r>
          </a:p>
          <a:p>
            <a:pPr algn="ctr">
              <a:lnSpc>
                <a:spcPct val="150000"/>
              </a:lnSpc>
              <a:buSzPts val="1000"/>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Badari</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he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wrote his famous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Bhashyas</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("commentaries") and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Prakarana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granthas</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("philosophical treatises").</a:t>
            </a:r>
          </a:p>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CREATION</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Yogasutra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Vivarana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Bhashya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4"/>
              </a:rPr>
              <a:t> and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a commentary on the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Adhyatma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Patala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of the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Apastamba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Dharmasutra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commentaries on the Vishnu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Sahasranama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and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Lalita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Trishati</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Sankhya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work called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Jayamangala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Nyaya work called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Sthirasiddhi</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124666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546439"/>
            <a:ext cx="10972800" cy="5909310"/>
          </a:xfrm>
          <a:prstGeom prst="rect">
            <a:avLst/>
          </a:prstGeom>
        </p:spPr>
        <p:txBody>
          <a:bodyPr wrap="square">
            <a:spAutoFit/>
          </a:bodyPr>
          <a:lstStyle/>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BHAJA GOVINDAM</a:t>
            </a:r>
            <a:endPar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For children,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Shankara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wrote the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Bhaja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Govindam</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 musical rhythmic verse, which was so lyrical that children would sing it to themselves over and over again unaware of the profound effect it was having on their spiritual evolution.</a:t>
            </a:r>
          </a:p>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MOHA MUDGARA</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He also wrote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of attachment in the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Moha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Mudgara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which removed the delusions of the youth and reaffirmed the faith of those who were already following his beliefs.</a:t>
            </a:r>
          </a:p>
        </p:txBody>
      </p:sp>
    </p:spTree>
    <p:extLst>
      <p:ext uri="{BB962C8B-B14F-4D97-AF65-F5344CB8AC3E}">
        <p14:creationId xmlns:p14="http://schemas.microsoft.com/office/powerpoint/2010/main" val="16562040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494188"/>
            <a:ext cx="10842171" cy="5262979"/>
          </a:xfrm>
          <a:prstGeom prst="rect">
            <a:avLst/>
          </a:prstGeom>
        </p:spPr>
        <p:txBody>
          <a:bodyPr wrap="square">
            <a:spAutoFit/>
          </a:bodyPr>
          <a:lstStyle/>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IMPORTANT MATHAS (</a:t>
            </a:r>
            <a:r>
              <a:rPr lang="hi-IN" sz="2800" b="1" dirty="0">
                <a:solidFill>
                  <a:srgbClr val="000000"/>
                </a:solidFill>
                <a:latin typeface="Calibri" panose="020F0502020204030204" pitchFamily="34" charset="0"/>
                <a:ea typeface="Times New Roman" panose="02020603050405020304" pitchFamily="18" charset="0"/>
                <a:cs typeface="Kokila" panose="020B0604020202020204" pitchFamily="34" charset="0"/>
              </a:rPr>
              <a:t>मठ</a:t>
            </a:r>
            <a:r>
              <a:rPr lang="hi-IN" sz="28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endParaRPr lang="en-IN" sz="2400" b="1" dirty="0">
              <a:latin typeface="Calibri" panose="020F0502020204030204" pitchFamily="34" charset="0"/>
              <a:ea typeface="Calibri" panose="020F0502020204030204" pitchFamily="34" charset="0"/>
              <a:cs typeface="Kokila" panose="020B0604020202020204" pitchFamily="34" charset="0"/>
            </a:endParaRPr>
          </a:p>
          <a:p>
            <a:pPr marL="342900" indent="-342900" algn="just">
              <a:lnSpc>
                <a:spcPct val="150000"/>
              </a:lnSpc>
              <a:buSzPts val="1000"/>
              <a:buFont typeface="Symbol" panose="05050102010706020507" pitchFamily="18" charset="2"/>
              <a:buChar char=""/>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1-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Sringeri</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Sharada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Peetham</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Sringeri</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Sringeri</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Karnataka in the south. </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2-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Dwaraka</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Gujarat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 the west 3-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Puri</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Orissa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 the east, 4-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Jyotirmath</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Joshimath</a:t>
            </a: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Uttarakhand</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the north. </a:t>
            </a:r>
          </a:p>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CONTRUBUTION FOR THE YOGA</a:t>
            </a:r>
            <a:endParaRPr lang="en-IN" sz="2400" b="1"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Adi</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a:t>
            </a: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Sankaracharya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believed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 the philosophy of "non-dualism“ His teachings are based on the unity of the soul and Brahma - non-dual Brahma, which can be identified with the Supreme God. </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41435673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9" y="703191"/>
            <a:ext cx="11051177" cy="5909310"/>
          </a:xfrm>
          <a:prstGeom prst="rect">
            <a:avLst/>
          </a:prstGeom>
        </p:spPr>
        <p:txBody>
          <a:bodyPr wrap="square">
            <a:spAutoFit/>
          </a:bodyPr>
          <a:lstStyle/>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KARMA YOGA</a:t>
            </a:r>
            <a:endParaRPr lang="en-IN" sz="2400" b="1"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He Uses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the word “</a:t>
            </a:r>
            <a:r>
              <a:rPr lang="hi-IN" sz="2800" dirty="0">
                <a:solidFill>
                  <a:srgbClr val="000000"/>
                </a:solidFill>
                <a:latin typeface="Calibri" panose="020F0502020204030204" pitchFamily="34" charset="0"/>
                <a:ea typeface="Times New Roman" panose="02020603050405020304" pitchFamily="18" charset="0"/>
                <a:cs typeface="Kokila" panose="020B0604020202020204" pitchFamily="34" charset="0"/>
              </a:rPr>
              <a:t>फलसंकल्पस्य</a:t>
            </a:r>
            <a:r>
              <a:rPr lang="hi-IN"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a:t>
            </a:r>
            <a:r>
              <a:rPr lang="hi-IN" sz="2800" dirty="0">
                <a:solidFill>
                  <a:srgbClr val="000000"/>
                </a:solidFill>
                <a:latin typeface="Calibri" panose="020F0502020204030204" pitchFamily="34" charset="0"/>
                <a:ea typeface="Times New Roman" panose="02020603050405020304" pitchFamily="18" charset="0"/>
                <a:cs typeface="Kokila" panose="020B0604020202020204" pitchFamily="34" charset="0"/>
              </a:rPr>
              <a:t>चित्तविक्षेपहेतुत्वात्</a:t>
            </a:r>
            <a:r>
              <a:rPr lang="hi-IN"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this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Geeta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Bhashya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i.e. mental clinging to the fruits of actions distracts. Therefore any doer of actions who has given up mental clinging to the fruits is a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yog</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in, his mind concentrated, not being distracted. Hence Karma Must not be neglected.</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28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Shankaracharya</a:t>
            </a:r>
            <a:r>
              <a:rPr lang="en-IN" sz="28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gained expertise </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in different forms of Yoga that included Hatha, Raja and </a:t>
            </a:r>
            <a:r>
              <a:rPr lang="en-IN" sz="28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Jyana</a:t>
            </a:r>
            <a:r>
              <a:rPr lang="en-IN" sz="28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yoga. He then received the knowledge of Brahma.</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6798953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9607"/>
            <a:ext cx="11625943" cy="6740307"/>
          </a:xfrm>
          <a:prstGeom prst="rect">
            <a:avLst/>
          </a:prstGeom>
        </p:spPr>
        <p:txBody>
          <a:bodyPr wrap="square">
            <a:spAutoFit/>
          </a:bodyPr>
          <a:lstStyle/>
          <a:p>
            <a:pPr algn="ctr">
              <a:lnSpc>
                <a:spcPct val="150000"/>
              </a:lnSpc>
              <a:buSzPts val="1000"/>
              <a:tabLst>
                <a:tab pos="457200" algn="l"/>
              </a:tabLst>
            </a:pPr>
            <a:r>
              <a:rPr lang="en-IN" sz="32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3200" b="1"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Advaita</a:t>
            </a:r>
            <a:r>
              <a:rPr lang="en-IN" sz="32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Vedanta</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32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a:t>
            </a:r>
            <a:r>
              <a:rPr lang="en-IN" sz="32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Aham</a:t>
            </a:r>
            <a:r>
              <a:rPr lang="en-IN" sz="32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a:t>
            </a:r>
            <a:r>
              <a:rPr lang="en-IN" sz="32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Brhamashmi</a:t>
            </a:r>
            <a:r>
              <a:rPr lang="en-IN" sz="32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“Brahma </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Satyam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Jagan</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Mithya</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Jivo</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Brahmaiva</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Na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Aparah</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Brahma (the Absolute) is alone real; this world is unreal; and the </a:t>
            </a:r>
            <a:r>
              <a:rPr lang="en-IN" sz="32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Jiva</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or the individual soul is non-different from Brahman. </a:t>
            </a:r>
          </a:p>
          <a:p>
            <a:pPr marL="342900" lvl="0" indent="-342900" algn="just">
              <a:lnSpc>
                <a:spcPct val="150000"/>
              </a:lnSpc>
              <a:spcAft>
                <a:spcPts val="0"/>
              </a:spcAft>
              <a:buSzPts val="1000"/>
              <a:buFont typeface="Symbol" panose="05050102010706020507" pitchFamily="18" charset="2"/>
              <a:buChar char=""/>
              <a:tabLst>
                <a:tab pos="457200" algn="l"/>
              </a:tabLst>
            </a:pPr>
            <a:r>
              <a:rPr lang="en-IN" sz="32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Advaita</a:t>
            </a:r>
            <a:r>
              <a:rPr lang="en-IN" sz="32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3"/>
              </a:rPr>
              <a:t> philosophy was </a:t>
            </a:r>
            <a:r>
              <a:rPr lang="en-IN" sz="32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originally known as the “Forest Philosophy”. It got this name because it was so sanctified that it was not allowed to be preached to the people and was only practiced in the forests.</a:t>
            </a:r>
            <a:endParaRPr lang="en-IN" sz="28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006188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372849"/>
            <a:ext cx="11025051" cy="6278642"/>
          </a:xfrm>
          <a:prstGeom prst="rect">
            <a:avLst/>
          </a:prstGeom>
        </p:spPr>
        <p:txBody>
          <a:bodyPr wrap="square">
            <a:spAutoFit/>
          </a:bodyPr>
          <a:lstStyle/>
          <a:p>
            <a:pPr algn="ctr">
              <a:lnSpc>
                <a:spcPct val="150000"/>
              </a:lnSpc>
              <a:buSzPts val="1000"/>
              <a:tabLst>
                <a:tab pos="457200" algn="l"/>
              </a:tabLst>
            </a:pPr>
            <a:r>
              <a:rPr lang="en-IN" sz="24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FINAL DAY(718AD)</a:t>
            </a:r>
            <a:endParaRPr lang="en-IN" sz="2000" b="1" dirty="0">
              <a:latin typeface="Calibri" panose="020F0502020204030204" pitchFamily="34" charset="0"/>
              <a:ea typeface="Calibri" panose="020F0502020204030204" pitchFamily="34" charset="0"/>
              <a:cs typeface="Kokila" panose="020B0604020202020204" pitchFamily="34" charset="0"/>
            </a:endParaRPr>
          </a:p>
          <a:p>
            <a:pPr marL="342900" indent="-342900" algn="just">
              <a:lnSpc>
                <a:spcPct val="150000"/>
              </a:lnSpc>
              <a:buSzPts val="1000"/>
              <a:buFont typeface="Symbol" panose="05050102010706020507" pitchFamily="18" charset="2"/>
              <a:buChar char=""/>
              <a:tabLst>
                <a:tab pos="457200" algn="l"/>
              </a:tabLst>
            </a:pP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He was just thirty-two years of age and his work (Mission) was completed.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Adi</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travelled to the Himalayan area of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Kedarnath</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Badrinath</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and attained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videha</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mukti</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("freedom from embodiment"). There is a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samadhi</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mandir</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dedicated to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Adi</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behind the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Kedarnath</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temple. </a:t>
            </a:r>
          </a:p>
          <a:p>
            <a:pPr algn="ctr">
              <a:lnSpc>
                <a:spcPct val="150000"/>
              </a:lnSpc>
              <a:buSzPts val="1000"/>
              <a:tabLst>
                <a:tab pos="457200" algn="l"/>
              </a:tabLst>
            </a:pPr>
            <a:r>
              <a:rPr lang="en-IN" sz="2800" b="1"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CONCLUSION</a:t>
            </a:r>
          </a:p>
          <a:p>
            <a:pPr lvl="0">
              <a:lnSpc>
                <a:spcPct val="150000"/>
              </a:lnSpc>
              <a:buSzPts val="1000"/>
              <a:tabLst>
                <a:tab pos="457200" algn="l"/>
              </a:tabLst>
            </a:pPr>
            <a:r>
              <a:rPr lang="en-IN" sz="2400" b="1" dirty="0" err="1">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Shankaracharya</a:t>
            </a:r>
            <a:r>
              <a:rPr lang="en-IN" sz="2400" b="1" dirty="0">
                <a:solidFill>
                  <a:srgbClr val="0000FF"/>
                </a:solidFill>
                <a:latin typeface="Times New Roman" panose="02020603050405020304" pitchFamily="18" charset="0"/>
                <a:ea typeface="Times New Roman" panose="02020603050405020304" pitchFamily="18" charset="0"/>
                <a:cs typeface="Kokila" panose="020B0604020202020204" pitchFamily="34" charset="0"/>
                <a:hlinkClick r:id="rId2"/>
              </a:rPr>
              <a:t> has been </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paralleled with the great spiritual teachers, such as Buddha and Christ in that they were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Avataras</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each said to be highly evolved spiritually at birth. “The thoughts of </a:t>
            </a:r>
            <a:r>
              <a:rPr lang="en-IN" sz="2400" dirty="0" err="1">
                <a:solidFill>
                  <a:srgbClr val="000000"/>
                </a:solidFill>
                <a:latin typeface="Times New Roman" panose="02020603050405020304" pitchFamily="18" charset="0"/>
                <a:ea typeface="Times New Roman" panose="02020603050405020304" pitchFamily="18" charset="0"/>
                <a:cs typeface="Kokila" panose="020B0604020202020204" pitchFamily="34" charset="0"/>
              </a:rPr>
              <a:t>Shankara</a:t>
            </a:r>
            <a:r>
              <a:rPr lang="en-IN" sz="2400" dirty="0">
                <a:solidFill>
                  <a:srgbClr val="000000"/>
                </a:solidFill>
                <a:latin typeface="Times New Roman" panose="02020603050405020304" pitchFamily="18" charset="0"/>
                <a:ea typeface="Times New Roman" panose="02020603050405020304" pitchFamily="18" charset="0"/>
                <a:cs typeface="Kokila" panose="020B0604020202020204" pitchFamily="34" charset="0"/>
              </a:rPr>
              <a:t> sums up the goal of mankind, every living creature aspires to realize, where there is no fear, jealousy nor passions, only love and the desire of perfect beatitude “.</a:t>
            </a:r>
            <a:endParaRPr lang="en-IN" sz="2000" dirty="0">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533271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316195"/>
            <a:ext cx="11038114" cy="5642570"/>
          </a:xfrm>
          <a:prstGeom prst="rect">
            <a:avLst/>
          </a:prstGeom>
        </p:spPr>
        <p:txBody>
          <a:bodyPr wrap="square">
            <a:spAutoFit/>
          </a:bodyPr>
          <a:lstStyle/>
          <a:p>
            <a:pPr marR="190500" algn="ctr">
              <a:spcAft>
                <a:spcPts val="375"/>
              </a:spcAft>
            </a:pPr>
            <a:r>
              <a:rPr lang="en-IN" sz="3600" b="1" dirty="0">
                <a:latin typeface="Times New Roman" panose="02020603050405020304" pitchFamily="18" charset="0"/>
                <a:ea typeface="Times New Roman" panose="02020603050405020304" pitchFamily="18" charset="0"/>
              </a:rPr>
              <a:t>Sri </a:t>
            </a:r>
            <a:r>
              <a:rPr lang="en-IN" sz="3600" b="1" dirty="0" err="1">
                <a:latin typeface="Times New Roman" panose="02020603050405020304" pitchFamily="18" charset="0"/>
                <a:ea typeface="Times New Roman" panose="02020603050405020304" pitchFamily="18" charset="0"/>
              </a:rPr>
              <a:t>Ramanuja</a:t>
            </a:r>
            <a:r>
              <a:rPr lang="en-IN" sz="3600" dirty="0">
                <a:latin typeface="Times New Roman" panose="02020603050405020304" pitchFamily="18" charset="0"/>
                <a:ea typeface="Times New Roman" panose="02020603050405020304" pitchFamily="18" charset="0"/>
              </a:rPr>
              <a:t> </a:t>
            </a:r>
            <a:endParaRPr lang="en-IN" sz="3200" dirty="0">
              <a:latin typeface="Times New Roman" panose="02020603050405020304" pitchFamily="18" charset="0"/>
              <a:ea typeface="Times New Roman" panose="02020603050405020304" pitchFamily="18" charset="0"/>
            </a:endParaRPr>
          </a:p>
          <a:p>
            <a:pPr marR="190500" lvl="0" algn="just">
              <a:spcAft>
                <a:spcPts val="375"/>
              </a:spcAft>
              <a:tabLst>
                <a:tab pos="457200" algn="l"/>
              </a:tabLst>
            </a:pPr>
            <a:r>
              <a:rPr lang="en-IN" sz="2800" b="1" dirty="0">
                <a:solidFill>
                  <a:srgbClr val="2B2A2A"/>
                </a:solidFill>
                <a:latin typeface="Times New Roman" panose="02020603050405020304" pitchFamily="18" charset="0"/>
                <a:ea typeface="Times New Roman" panose="02020603050405020304" pitchFamily="18" charset="0"/>
                <a:hlinkClick r:id="rId2" tooltip="slide2"/>
              </a:rPr>
              <a:t>Life of </a:t>
            </a:r>
            <a:r>
              <a:rPr lang="en-IN" sz="2800" b="1" dirty="0" err="1">
                <a:solidFill>
                  <a:srgbClr val="2B2A2A"/>
                </a:solidFill>
                <a:latin typeface="Times New Roman" panose="02020603050405020304" pitchFamily="18" charset="0"/>
                <a:ea typeface="Times New Roman" panose="02020603050405020304" pitchFamily="18" charset="0"/>
                <a:hlinkClick r:id="rId2" tooltip="slide2"/>
              </a:rPr>
              <a:t>Ramanuja</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Incarnation of </a:t>
            </a:r>
            <a:r>
              <a:rPr lang="en-IN" sz="2800" dirty="0" err="1">
                <a:latin typeface="Times New Roman" panose="02020603050405020304" pitchFamily="18" charset="0"/>
                <a:ea typeface="Times New Roman" panose="02020603050405020304" pitchFamily="18" charset="0"/>
              </a:rPr>
              <a:t>Adisesha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adi</a:t>
            </a:r>
            <a:r>
              <a:rPr lang="en-IN" sz="2800" dirty="0">
                <a:latin typeface="Times New Roman" panose="02020603050405020304" pitchFamily="18" charset="0"/>
                <a:ea typeface="Times New Roman" panose="02020603050405020304" pitchFamily="18" charset="0"/>
              </a:rPr>
              <a:t>=first, </a:t>
            </a:r>
            <a:r>
              <a:rPr lang="en-IN" sz="2800" dirty="0" err="1">
                <a:latin typeface="Times New Roman" panose="02020603050405020304" pitchFamily="18" charset="0"/>
                <a:ea typeface="Times New Roman" panose="02020603050405020304" pitchFamily="18" charset="0"/>
              </a:rPr>
              <a:t>sesha</a:t>
            </a:r>
            <a:r>
              <a:rPr lang="en-IN" sz="2800" dirty="0">
                <a:latin typeface="Times New Roman" panose="02020603050405020304" pitchFamily="18" charset="0"/>
                <a:ea typeface="Times New Roman" panose="02020603050405020304" pitchFamily="18" charset="0"/>
              </a:rPr>
              <a:t>=serpent).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was born as the only son for the divine couple, </a:t>
            </a:r>
            <a:r>
              <a:rPr lang="en-IN" sz="2800" b="1" dirty="0" err="1">
                <a:latin typeface="Times New Roman" panose="02020603050405020304" pitchFamily="18" charset="0"/>
                <a:ea typeface="Times New Roman" panose="02020603050405020304" pitchFamily="18" charset="0"/>
              </a:rPr>
              <a:t>Smt</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Kantimati</a:t>
            </a:r>
            <a:r>
              <a:rPr lang="en-IN" sz="2800" b="1" dirty="0">
                <a:latin typeface="Times New Roman" panose="02020603050405020304" pitchFamily="18" charset="0"/>
                <a:ea typeface="Times New Roman" panose="02020603050405020304" pitchFamily="18" charset="0"/>
              </a:rPr>
              <a:t> Devi and </a:t>
            </a:r>
            <a:r>
              <a:rPr lang="en-IN" sz="2800" b="1" dirty="0" err="1">
                <a:latin typeface="Times New Roman" panose="02020603050405020304" pitchFamily="18" charset="0"/>
                <a:ea typeface="Times New Roman" panose="02020603050405020304" pitchFamily="18" charset="0"/>
              </a:rPr>
              <a:t>Sriman</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Asuri</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Kesava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Somayaji</a:t>
            </a:r>
            <a:r>
              <a:rPr lang="en-IN" sz="2800" dirty="0">
                <a:latin typeface="Times New Roman" panose="02020603050405020304" pitchFamily="18" charset="0"/>
                <a:ea typeface="Times New Roman" panose="02020603050405020304" pitchFamily="18" charset="0"/>
              </a:rPr>
              <a:t> at the village of </a:t>
            </a:r>
            <a:r>
              <a:rPr lang="en-IN" sz="2800" b="1" dirty="0" err="1">
                <a:latin typeface="Times New Roman" panose="02020603050405020304" pitchFamily="18" charset="0"/>
                <a:ea typeface="Times New Roman" panose="02020603050405020304" pitchFamily="18" charset="0"/>
              </a:rPr>
              <a:t>Sriperumbudur</a:t>
            </a:r>
            <a:r>
              <a:rPr lang="en-IN" sz="2800" b="1" dirty="0">
                <a:latin typeface="Times New Roman" panose="02020603050405020304" pitchFamily="18" charset="0"/>
                <a:ea typeface="Times New Roman" panose="02020603050405020304" pitchFamily="18" charset="0"/>
              </a:rPr>
              <a:t>, 40 </a:t>
            </a:r>
            <a:r>
              <a:rPr lang="en-IN" sz="2800" b="1" dirty="0" err="1">
                <a:latin typeface="Times New Roman" panose="02020603050405020304" pitchFamily="18" charset="0"/>
                <a:ea typeface="Times New Roman" panose="02020603050405020304" pitchFamily="18" charset="0"/>
              </a:rPr>
              <a:t>kms</a:t>
            </a:r>
            <a:r>
              <a:rPr lang="en-IN" sz="2800" b="1" dirty="0">
                <a:latin typeface="Times New Roman" panose="02020603050405020304" pitchFamily="18" charset="0"/>
                <a:ea typeface="Times New Roman" panose="02020603050405020304" pitchFamily="18" charset="0"/>
              </a:rPr>
              <a:t> from Chennai, </a:t>
            </a:r>
            <a:r>
              <a:rPr lang="en-IN" sz="2800" b="1" dirty="0" err="1">
                <a:latin typeface="Times New Roman" panose="02020603050405020304" pitchFamily="18" charset="0"/>
                <a:ea typeface="Times New Roman" panose="02020603050405020304" pitchFamily="18" charset="0"/>
              </a:rPr>
              <a:t>Tamilnadu</a:t>
            </a:r>
            <a:r>
              <a:rPr lang="en-IN" sz="2800" dirty="0">
                <a:latin typeface="Times New Roman" panose="02020603050405020304" pitchFamily="18" charset="0"/>
                <a:ea typeface="Times New Roman" panose="02020603050405020304" pitchFamily="18" charset="0"/>
              </a:rPr>
              <a:t>, in 1017 CE.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His </a:t>
            </a:r>
            <a:r>
              <a:rPr lang="en-IN" sz="2800" b="1" dirty="0">
                <a:latin typeface="Times New Roman" panose="02020603050405020304" pitchFamily="18" charset="0"/>
                <a:ea typeface="Times New Roman" panose="02020603050405020304" pitchFamily="18" charset="0"/>
              </a:rPr>
              <a:t>uncle, </a:t>
            </a:r>
            <a:r>
              <a:rPr lang="en-IN" sz="2800" b="1" dirty="0" err="1">
                <a:latin typeface="Times New Roman" panose="02020603050405020304" pitchFamily="18" charset="0"/>
                <a:ea typeface="Times New Roman" panose="02020603050405020304" pitchFamily="18" charset="0"/>
              </a:rPr>
              <a:t>Sriman</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Tirumalai</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Nambi</a:t>
            </a:r>
            <a:r>
              <a:rPr lang="en-IN" sz="2800" dirty="0">
                <a:latin typeface="Times New Roman" panose="02020603050405020304" pitchFamily="18" charset="0"/>
                <a:ea typeface="Times New Roman" panose="02020603050405020304" pitchFamily="18" charset="0"/>
              </a:rPr>
              <a:t>, a great scholar and disciple of </a:t>
            </a:r>
            <a:r>
              <a:rPr lang="en-IN" sz="2800" b="1" dirty="0">
                <a:latin typeface="Times New Roman" panose="02020603050405020304" pitchFamily="18" charset="0"/>
                <a:ea typeface="Times New Roman" panose="02020603050405020304" pitchFamily="18" charset="0"/>
              </a:rPr>
              <a:t>Sri </a:t>
            </a:r>
            <a:r>
              <a:rPr lang="en-IN" sz="2800" b="1" dirty="0" err="1">
                <a:latin typeface="Times New Roman" panose="02020603050405020304" pitchFamily="18" charset="0"/>
                <a:ea typeface="Times New Roman" panose="02020603050405020304" pitchFamily="18" charset="0"/>
              </a:rPr>
              <a:t>Alavandar</a:t>
            </a:r>
            <a:r>
              <a:rPr lang="en-IN" sz="2800" b="1" dirty="0">
                <a:latin typeface="Times New Roman" panose="02020603050405020304" pitchFamily="18" charset="0"/>
                <a:ea typeface="Times New Roman" panose="02020603050405020304" pitchFamily="18" charset="0"/>
              </a:rPr>
              <a:t>(</a:t>
            </a:r>
            <a:r>
              <a:rPr lang="en-IN" sz="2800" b="1" dirty="0" err="1">
                <a:latin typeface="Times New Roman" panose="02020603050405020304" pitchFamily="18" charset="0"/>
                <a:ea typeface="Times New Roman" panose="02020603050405020304" pitchFamily="18" charset="0"/>
              </a:rPr>
              <a:t>Yamunacharya</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named the child as </a:t>
            </a:r>
            <a:r>
              <a:rPr lang="en-IN" sz="2800" b="1" dirty="0" err="1">
                <a:latin typeface="Times New Roman" panose="02020603050405020304" pitchFamily="18" charset="0"/>
                <a:ea typeface="Times New Roman" panose="02020603050405020304" pitchFamily="18" charset="0"/>
              </a:rPr>
              <a:t>Illaya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Perumaal</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Ramanuja</a:t>
            </a:r>
            <a:r>
              <a:rPr lang="en-IN" sz="2800" b="1" dirty="0">
                <a:latin typeface="Times New Roman" panose="02020603050405020304" pitchFamily="18" charset="0"/>
                <a:ea typeface="Times New Roman" panose="02020603050405020304" pitchFamily="18" charset="0"/>
              </a:rPr>
              <a:t>)</a:t>
            </a:r>
            <a:r>
              <a:rPr lang="en-IN" sz="2800" dirty="0">
                <a:latin typeface="Times New Roman" panose="02020603050405020304" pitchFamily="18" charset="0"/>
                <a:ea typeface="Times New Roman" panose="02020603050405020304" pitchFamily="18" charset="0"/>
              </a:rPr>
              <a:t> and foretold that the child would become a great </a:t>
            </a:r>
            <a:r>
              <a:rPr lang="en-IN" sz="2800" dirty="0" err="1">
                <a:latin typeface="Times New Roman" panose="02020603050405020304" pitchFamily="18" charset="0"/>
                <a:ea typeface="Times New Roman" panose="02020603050405020304" pitchFamily="18" charset="0"/>
              </a:rPr>
              <a:t>Aacharya</a:t>
            </a:r>
            <a:r>
              <a:rPr lang="en-IN" sz="2800" dirty="0">
                <a:latin typeface="Times New Roman" panose="02020603050405020304" pitchFamily="18" charset="0"/>
                <a:ea typeface="Times New Roman" panose="02020603050405020304" pitchFamily="18" charset="0"/>
              </a:rPr>
              <a:t> in future.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Srimad</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Bhagavatam</a:t>
            </a:r>
            <a:r>
              <a:rPr lang="en-IN" sz="2800" dirty="0">
                <a:latin typeface="Times New Roman" panose="02020603050405020304" pitchFamily="18" charset="0"/>
                <a:ea typeface="Times New Roman" panose="02020603050405020304" pitchFamily="18" charset="0"/>
              </a:rPr>
              <a:t> also predicted the great Acharya's in kali </a:t>
            </a:r>
            <a:r>
              <a:rPr lang="en-IN" sz="2800" dirty="0" err="1">
                <a:latin typeface="Times New Roman" panose="02020603050405020304" pitchFamily="18" charset="0"/>
                <a:ea typeface="Times New Roman" panose="02020603050405020304" pitchFamily="18" charset="0"/>
              </a:rPr>
              <a:t>yuga</a:t>
            </a:r>
            <a:r>
              <a:rPr lang="en-IN" sz="2800" dirty="0">
                <a:latin typeface="Times New Roman" panose="02020603050405020304" pitchFamily="18" charset="0"/>
                <a:ea typeface="Times New Roman" panose="02020603050405020304" pitchFamily="18" charset="0"/>
              </a:rPr>
              <a:t> will born between </a:t>
            </a:r>
            <a:r>
              <a:rPr lang="en-IN" sz="2800" dirty="0" err="1">
                <a:latin typeface="Times New Roman" panose="02020603050405020304" pitchFamily="18" charset="0"/>
                <a:ea typeface="Times New Roman" panose="02020603050405020304" pitchFamily="18" charset="0"/>
              </a:rPr>
              <a:t>Tamrabarni</a:t>
            </a:r>
            <a:r>
              <a:rPr lang="en-IN" sz="2800" dirty="0">
                <a:latin typeface="Times New Roman" panose="02020603050405020304" pitchFamily="18" charset="0"/>
                <a:ea typeface="Times New Roman" panose="02020603050405020304" pitchFamily="18" charset="0"/>
              </a:rPr>
              <a:t> and </a:t>
            </a:r>
            <a:r>
              <a:rPr lang="en-IN" sz="2800" dirty="0" err="1">
                <a:latin typeface="Times New Roman" panose="02020603050405020304" pitchFamily="18" charset="0"/>
                <a:ea typeface="Times New Roman" panose="02020603050405020304" pitchFamily="18" charset="0"/>
              </a:rPr>
              <a:t>Palar</a:t>
            </a:r>
            <a:r>
              <a:rPr lang="en-IN" sz="2800" dirty="0">
                <a:latin typeface="Times New Roman" panose="02020603050405020304" pitchFamily="18" charset="0"/>
                <a:ea typeface="Times New Roman" panose="02020603050405020304" pitchFamily="18" charset="0"/>
              </a:rPr>
              <a:t> River.</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517763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9" y="375530"/>
            <a:ext cx="11181805" cy="6309420"/>
          </a:xfrm>
          <a:prstGeom prst="rect">
            <a:avLst/>
          </a:prstGeom>
        </p:spPr>
        <p:txBody>
          <a:bodyPr wrap="square">
            <a:spAutoFit/>
          </a:bodyPr>
          <a:lstStyle/>
          <a:p>
            <a:pPr marR="190500" lvl="0" algn="ctr">
              <a:lnSpc>
                <a:spcPct val="150000"/>
              </a:lnSpc>
              <a:spcAft>
                <a:spcPts val="375"/>
              </a:spcAft>
              <a:tabLst>
                <a:tab pos="457200" algn="l"/>
              </a:tabLst>
            </a:pPr>
            <a:r>
              <a:rPr lang="en-IN" sz="3200" b="1" dirty="0" err="1">
                <a:solidFill>
                  <a:srgbClr val="2B2A2A"/>
                </a:solidFill>
                <a:latin typeface="Times New Roman" panose="02020603050405020304" pitchFamily="18" charset="0"/>
                <a:ea typeface="Times New Roman" panose="02020603050405020304" pitchFamily="18" charset="0"/>
                <a:hlinkClick r:id="rId2" tooltip="slide3"/>
              </a:rPr>
              <a:t>Ramanuja's</a:t>
            </a:r>
            <a:r>
              <a:rPr lang="en-IN" sz="3200" b="1" dirty="0">
                <a:solidFill>
                  <a:srgbClr val="2B2A2A"/>
                </a:solidFill>
                <a:latin typeface="Times New Roman" panose="02020603050405020304" pitchFamily="18" charset="0"/>
                <a:ea typeface="Times New Roman" panose="02020603050405020304" pitchFamily="18" charset="0"/>
                <a:hlinkClick r:id="rId2" tooltip="slide3"/>
              </a:rPr>
              <a:t> Acharya's</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He had 5 great Acharya's.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Peria</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Nambigal</a:t>
            </a:r>
            <a:r>
              <a:rPr lang="en-IN" sz="3200" b="1" dirty="0">
                <a:latin typeface="Times New Roman" panose="02020603050405020304" pitchFamily="18" charset="0"/>
                <a:ea typeface="Times New Roman" panose="02020603050405020304" pitchFamily="18" charset="0"/>
              </a:rPr>
              <a:t> - </a:t>
            </a:r>
            <a:r>
              <a:rPr lang="en-IN" sz="3200" dirty="0">
                <a:latin typeface="Times New Roman" panose="02020603050405020304" pitchFamily="18" charset="0"/>
                <a:ea typeface="Times New Roman" panose="02020603050405020304" pitchFamily="18" charset="0"/>
              </a:rPr>
              <a:t>who performed his </a:t>
            </a:r>
            <a:r>
              <a:rPr lang="en-IN" sz="3200" dirty="0" err="1">
                <a:latin typeface="Times New Roman" panose="02020603050405020304" pitchFamily="18" charset="0"/>
                <a:ea typeface="Times New Roman" panose="02020603050405020304" pitchFamily="18" charset="0"/>
              </a:rPr>
              <a:t>Samasrayana</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a:t>
            </a:r>
            <a:r>
              <a:rPr lang="en-IN" sz="3200" b="1" dirty="0" err="1">
                <a:latin typeface="Times New Roman" panose="02020603050405020304" pitchFamily="18" charset="0"/>
                <a:ea typeface="Times New Roman" panose="02020603050405020304" pitchFamily="18" charset="0"/>
              </a:rPr>
              <a:t>Thirukkotiyur</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Nambigal</a:t>
            </a:r>
            <a:r>
              <a:rPr lang="en-IN" sz="3200" b="1" dirty="0">
                <a:latin typeface="Times New Roman" panose="02020603050405020304" pitchFamily="18" charset="0"/>
                <a:ea typeface="Times New Roman" panose="02020603050405020304" pitchFamily="18" charset="0"/>
              </a:rPr>
              <a:t>- </a:t>
            </a:r>
            <a:r>
              <a:rPr lang="en-IN" sz="3200" dirty="0">
                <a:latin typeface="Times New Roman" panose="02020603050405020304" pitchFamily="18" charset="0"/>
                <a:ea typeface="Times New Roman" panose="02020603050405020304" pitchFamily="18" charset="0"/>
              </a:rPr>
              <a:t>who revealed the meaning of </a:t>
            </a:r>
            <a:r>
              <a:rPr lang="en-IN" sz="3200" dirty="0" err="1">
                <a:latin typeface="Times New Roman" panose="02020603050405020304" pitchFamily="18" charset="0"/>
                <a:ea typeface="Times New Roman" panose="02020603050405020304" pitchFamily="18" charset="0"/>
              </a:rPr>
              <a:t>Charanma</a:t>
            </a:r>
            <a:r>
              <a:rPr lang="en-IN" sz="3200" dirty="0">
                <a:latin typeface="Times New Roman" panose="02020603050405020304" pitchFamily="18" charset="0"/>
                <a:ea typeface="Times New Roman" panose="02020603050405020304" pitchFamily="18" charset="0"/>
              </a:rPr>
              <a:t> </a:t>
            </a:r>
            <a:r>
              <a:rPr lang="en-IN" sz="3200" dirty="0" err="1">
                <a:latin typeface="Times New Roman" panose="02020603050405020304" pitchFamily="18" charset="0"/>
                <a:ea typeface="Times New Roman" panose="02020603050405020304" pitchFamily="18" charset="0"/>
              </a:rPr>
              <a:t>Slokam</a:t>
            </a:r>
            <a:r>
              <a:rPr lang="en-IN" sz="3200" dirty="0">
                <a:latin typeface="Times New Roman" panose="02020603050405020304" pitchFamily="18" charset="0"/>
                <a:ea typeface="Times New Roman" panose="02020603050405020304" pitchFamily="18" charset="0"/>
              </a:rPr>
              <a:t> to Swami on his 18th trip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Periya</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Thirumalai</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Nambigal</a:t>
            </a:r>
            <a:r>
              <a:rPr lang="en-IN" sz="3200" b="1" dirty="0">
                <a:latin typeface="Times New Roman" panose="02020603050405020304" pitchFamily="18" charset="0"/>
                <a:ea typeface="Times New Roman" panose="02020603050405020304" pitchFamily="18" charset="0"/>
              </a:rPr>
              <a:t> - </a:t>
            </a:r>
            <a:r>
              <a:rPr lang="en-IN" sz="3200" dirty="0">
                <a:latin typeface="Times New Roman" panose="02020603050405020304" pitchFamily="18" charset="0"/>
                <a:ea typeface="Times New Roman" panose="02020603050405020304" pitchFamily="18" charset="0"/>
              </a:rPr>
              <a:t>Ramayana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Tirumalai</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Aandaan</a:t>
            </a:r>
            <a:r>
              <a:rPr lang="en-IN" sz="3200" b="1" dirty="0">
                <a:latin typeface="Times New Roman" panose="02020603050405020304" pitchFamily="18" charset="0"/>
                <a:ea typeface="Times New Roman" panose="02020603050405020304" pitchFamily="18" charset="0"/>
              </a:rPr>
              <a:t>- </a:t>
            </a:r>
            <a:r>
              <a:rPr lang="en-IN" sz="3200" dirty="0">
                <a:latin typeface="Times New Roman" panose="02020603050405020304" pitchFamily="18" charset="0"/>
                <a:ea typeface="Times New Roman" panose="02020603050405020304" pitchFamily="18" charset="0"/>
              </a:rPr>
              <a:t>Bhagavad </a:t>
            </a:r>
            <a:r>
              <a:rPr lang="en-IN" sz="3200" dirty="0" err="1">
                <a:latin typeface="Times New Roman" panose="02020603050405020304" pitchFamily="18" charset="0"/>
                <a:ea typeface="Times New Roman" panose="02020603050405020304" pitchFamily="18" charset="0"/>
              </a:rPr>
              <a:t>Vishyam</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Azhwar</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Thiruvaranga</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Perumal</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Ayyar</a:t>
            </a:r>
            <a:r>
              <a:rPr lang="en-IN" sz="3200" b="1" dirty="0">
                <a:latin typeface="Times New Roman" panose="02020603050405020304" pitchFamily="18" charset="0"/>
                <a:ea typeface="Times New Roman" panose="02020603050405020304" pitchFamily="18" charset="0"/>
              </a:rPr>
              <a:t>.</a:t>
            </a:r>
            <a:endParaRPr lang="en-IN" sz="2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65764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9269" y="393453"/>
            <a:ext cx="11025051" cy="6119624"/>
          </a:xfrm>
          <a:prstGeom prst="rect">
            <a:avLst/>
          </a:prstGeom>
        </p:spPr>
        <p:txBody>
          <a:bodyPr wrap="square">
            <a:spAutoFit/>
          </a:bodyPr>
          <a:lstStyle/>
          <a:p>
            <a:pPr marR="190500" lvl="0" algn="ctr">
              <a:spcAft>
                <a:spcPts val="375"/>
              </a:spcAft>
              <a:tabLst>
                <a:tab pos="457200" algn="l"/>
              </a:tabLst>
            </a:pPr>
            <a:r>
              <a:rPr lang="en-IN" sz="2500" b="1" dirty="0">
                <a:solidFill>
                  <a:srgbClr val="2B2A2A"/>
                </a:solidFill>
                <a:latin typeface="Times New Roman" panose="02020603050405020304" pitchFamily="18" charset="0"/>
                <a:ea typeface="Times New Roman" panose="02020603050405020304" pitchFamily="18" charset="0"/>
                <a:hlinkClick r:id="rId2" tooltip="slide4"/>
              </a:rPr>
              <a:t>Sri </a:t>
            </a:r>
            <a:r>
              <a:rPr lang="en-IN" sz="2500" b="1" dirty="0" err="1">
                <a:solidFill>
                  <a:srgbClr val="2B2A2A"/>
                </a:solidFill>
                <a:latin typeface="Times New Roman" panose="02020603050405020304" pitchFamily="18" charset="0"/>
                <a:ea typeface="Times New Roman" panose="02020603050405020304" pitchFamily="18" charset="0"/>
                <a:hlinkClick r:id="rId2" tooltip="slide4"/>
              </a:rPr>
              <a:t>Ramanuja's</a:t>
            </a:r>
            <a:r>
              <a:rPr lang="en-IN" sz="2500" b="1" dirty="0">
                <a:solidFill>
                  <a:srgbClr val="2B2A2A"/>
                </a:solidFill>
                <a:latin typeface="Times New Roman" panose="02020603050405020304" pitchFamily="18" charset="0"/>
                <a:ea typeface="Times New Roman" panose="02020603050405020304" pitchFamily="18" charset="0"/>
                <a:hlinkClick r:id="rId2" tooltip="slide4"/>
              </a:rPr>
              <a:t> teaching</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b="1" dirty="0">
                <a:latin typeface="Times New Roman" panose="02020603050405020304" pitchFamily="18" charset="0"/>
                <a:ea typeface="Times New Roman" panose="02020603050405020304" pitchFamily="18" charset="0"/>
              </a:rPr>
              <a:t>His philosophy is </a:t>
            </a:r>
            <a:r>
              <a:rPr lang="en-IN" sz="2500" b="1" dirty="0" err="1">
                <a:latin typeface="Times New Roman" panose="02020603050405020304" pitchFamily="18" charset="0"/>
                <a:ea typeface="Times New Roman" panose="02020603050405020304" pitchFamily="18" charset="0"/>
              </a:rPr>
              <a:t>Visistadvaita</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Advaita</a:t>
            </a:r>
            <a:r>
              <a:rPr lang="en-IN" sz="2500" b="1" dirty="0">
                <a:latin typeface="Times New Roman" panose="02020603050405020304" pitchFamily="18" charset="0"/>
                <a:ea typeface="Times New Roman" panose="02020603050405020304" pitchFamily="18" charset="0"/>
              </a:rPr>
              <a:t>-</a:t>
            </a:r>
            <a:r>
              <a:rPr lang="en-IN" sz="2500" dirty="0">
                <a:latin typeface="Times New Roman" panose="02020603050405020304" pitchFamily="18" charset="0"/>
                <a:ea typeface="Times New Roman" panose="02020603050405020304" pitchFamily="18" charset="0"/>
              </a:rPr>
              <a:t> preached by </a:t>
            </a:r>
            <a:r>
              <a:rPr lang="en-IN" sz="2500" b="1" dirty="0" err="1">
                <a:latin typeface="Times New Roman" panose="02020603050405020304" pitchFamily="18" charset="0"/>
                <a:ea typeface="Times New Roman" panose="02020603050405020304" pitchFamily="18" charset="0"/>
              </a:rPr>
              <a:t>Sankaracharya</a:t>
            </a:r>
            <a:r>
              <a:rPr lang="en-IN" sz="2500" b="1" dirty="0">
                <a:latin typeface="Times New Roman" panose="02020603050405020304" pitchFamily="18" charset="0"/>
                <a:ea typeface="Times New Roman" panose="02020603050405020304" pitchFamily="18" charset="0"/>
              </a:rPr>
              <a:t>, </a:t>
            </a:r>
            <a:r>
              <a:rPr lang="en-IN" sz="2500" dirty="0">
                <a:latin typeface="Times New Roman" panose="02020603050405020304" pitchFamily="18" charset="0"/>
                <a:ea typeface="Times New Roman" panose="02020603050405020304" pitchFamily="18" charset="0"/>
              </a:rPr>
              <a:t>says that reality is only one, Vishnu and rest all is illusionary. </a:t>
            </a:r>
            <a:r>
              <a:rPr lang="en-IN" sz="2500" b="1" dirty="0">
                <a:latin typeface="Times New Roman" panose="02020603050405020304" pitchFamily="18" charset="0"/>
                <a:ea typeface="Times New Roman" panose="02020603050405020304" pitchFamily="18" charset="0"/>
              </a:rPr>
              <a:t>It is based on </a:t>
            </a:r>
            <a:r>
              <a:rPr lang="en-IN" sz="2500" b="1" dirty="0" err="1">
                <a:latin typeface="Times New Roman" panose="02020603050405020304" pitchFamily="18" charset="0"/>
                <a:ea typeface="Times New Roman" panose="02020603050405020304" pitchFamily="18" charset="0"/>
              </a:rPr>
              <a:t>Abedha</a:t>
            </a:r>
            <a:r>
              <a:rPr lang="en-IN" sz="2500" b="1"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Srutis</a:t>
            </a:r>
            <a:r>
              <a:rPr lang="en-IN" sz="2500" b="1" dirty="0">
                <a:latin typeface="Times New Roman" panose="02020603050405020304" pitchFamily="18" charset="0"/>
                <a:ea typeface="Times New Roman" panose="02020603050405020304" pitchFamily="18" charset="0"/>
              </a:rPr>
              <a:t> in Veda</a:t>
            </a:r>
            <a:r>
              <a:rPr lang="en-IN" sz="2500" dirty="0">
                <a:latin typeface="Times New Roman" panose="02020603050405020304" pitchFamily="18" charset="0"/>
                <a:ea typeface="Times New Roman" panose="02020603050405020304" pitchFamily="18" charset="0"/>
              </a:rPr>
              <a:t>.(ex. Apple is only one)</a:t>
            </a:r>
            <a:r>
              <a:rPr lang="ar-SA" sz="2500" dirty="0">
                <a:latin typeface="Times New Roman" panose="02020603050405020304" pitchFamily="18" charset="0"/>
                <a:ea typeface="Times New Roman" panose="02020603050405020304" pitchFamily="18" charset="0"/>
              </a:rPr>
              <a:t>‏</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Dwaita</a:t>
            </a:r>
            <a:r>
              <a:rPr lang="en-IN" sz="2500" b="1" dirty="0">
                <a:latin typeface="Times New Roman" panose="02020603050405020304" pitchFamily="18" charset="0"/>
                <a:ea typeface="Times New Roman" panose="02020603050405020304" pitchFamily="18" charset="0"/>
              </a:rPr>
              <a:t>-</a:t>
            </a:r>
            <a:r>
              <a:rPr lang="en-IN" sz="2500" dirty="0">
                <a:latin typeface="Times New Roman" panose="02020603050405020304" pitchFamily="18" charset="0"/>
                <a:ea typeface="Times New Roman" panose="02020603050405020304" pitchFamily="18" charset="0"/>
              </a:rPr>
              <a:t>preached by </a:t>
            </a:r>
            <a:r>
              <a:rPr lang="en-IN" sz="2500" b="1" dirty="0" err="1">
                <a:latin typeface="Times New Roman" panose="02020603050405020304" pitchFamily="18" charset="0"/>
                <a:ea typeface="Times New Roman" panose="02020603050405020304" pitchFamily="18" charset="0"/>
              </a:rPr>
              <a:t>Madhwacharya</a:t>
            </a:r>
            <a:r>
              <a:rPr lang="en-IN" sz="2500" dirty="0">
                <a:latin typeface="Times New Roman" panose="02020603050405020304" pitchFamily="18" charset="0"/>
                <a:ea typeface="Times New Roman" panose="02020603050405020304" pitchFamily="18" charset="0"/>
              </a:rPr>
              <a:t>, talks about dualism like, God, souls and nature, they never become one and they are separate. </a:t>
            </a:r>
            <a:r>
              <a:rPr lang="en-IN" sz="2500" b="1" dirty="0">
                <a:latin typeface="Times New Roman" panose="02020603050405020304" pitchFamily="18" charset="0"/>
                <a:ea typeface="Times New Roman" panose="02020603050405020304" pitchFamily="18" charset="0"/>
              </a:rPr>
              <a:t>It is based on </a:t>
            </a:r>
            <a:r>
              <a:rPr lang="en-IN" sz="2500" b="1" dirty="0" err="1">
                <a:latin typeface="Times New Roman" panose="02020603050405020304" pitchFamily="18" charset="0"/>
                <a:ea typeface="Times New Roman" panose="02020603050405020304" pitchFamily="18" charset="0"/>
              </a:rPr>
              <a:t>Bheda</a:t>
            </a:r>
            <a:r>
              <a:rPr lang="en-IN" sz="2500" b="1"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Srutis</a:t>
            </a:r>
            <a:r>
              <a:rPr lang="en-IN" sz="2500" b="1" dirty="0">
                <a:latin typeface="Times New Roman" panose="02020603050405020304" pitchFamily="18" charset="0"/>
                <a:ea typeface="Times New Roman" panose="02020603050405020304" pitchFamily="18" charset="0"/>
              </a:rPr>
              <a:t>.</a:t>
            </a:r>
            <a:r>
              <a:rPr lang="en-IN" sz="2500" dirty="0">
                <a:latin typeface="Times New Roman" panose="02020603050405020304" pitchFamily="18" charset="0"/>
                <a:ea typeface="Times New Roman" panose="02020603050405020304" pitchFamily="18" charset="0"/>
              </a:rPr>
              <a:t>(ex. Skin of the apple and core of the apple never become one and they are separate entity.)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Visishtadwaita</a:t>
            </a:r>
            <a:r>
              <a:rPr lang="en-IN" sz="2500" b="1" dirty="0">
                <a:latin typeface="Times New Roman" panose="02020603050405020304" pitchFamily="18" charset="0"/>
                <a:ea typeface="Times New Roman" panose="02020603050405020304" pitchFamily="18" charset="0"/>
              </a:rPr>
              <a:t>-</a:t>
            </a:r>
            <a:r>
              <a:rPr lang="en-IN" sz="2500" dirty="0">
                <a:latin typeface="Times New Roman" panose="02020603050405020304" pitchFamily="18" charset="0"/>
                <a:ea typeface="Times New Roman" panose="02020603050405020304" pitchFamily="18" charset="0"/>
              </a:rPr>
              <a:t>preached by </a:t>
            </a:r>
            <a:r>
              <a:rPr lang="en-IN" sz="2500" b="1" dirty="0" err="1">
                <a:latin typeface="Times New Roman" panose="02020603050405020304" pitchFamily="18" charset="0"/>
                <a:ea typeface="Times New Roman" panose="02020603050405020304" pitchFamily="18" charset="0"/>
              </a:rPr>
              <a:t>Ramanujacharya</a:t>
            </a:r>
            <a:r>
              <a:rPr lang="en-IN" sz="2500" b="1" dirty="0">
                <a:latin typeface="Times New Roman" panose="02020603050405020304" pitchFamily="18" charset="0"/>
                <a:ea typeface="Times New Roman" panose="02020603050405020304" pitchFamily="18" charset="0"/>
              </a:rPr>
              <a:t>, </a:t>
            </a:r>
            <a:r>
              <a:rPr lang="en-IN" sz="2500" dirty="0">
                <a:latin typeface="Times New Roman" panose="02020603050405020304" pitchFamily="18" charset="0"/>
                <a:ea typeface="Times New Roman" panose="02020603050405020304" pitchFamily="18" charset="0"/>
              </a:rPr>
              <a:t>says the nature, souls and god are 3 realities, and they will be there forever like that. When souls </a:t>
            </a:r>
            <a:r>
              <a:rPr lang="en-IN" sz="2500" dirty="0" err="1">
                <a:latin typeface="Times New Roman" panose="02020603050405020304" pitchFamily="18" charset="0"/>
                <a:ea typeface="Times New Roman" panose="02020603050405020304" pitchFamily="18" charset="0"/>
              </a:rPr>
              <a:t>releaved</a:t>
            </a:r>
            <a:r>
              <a:rPr lang="en-IN" sz="2500" dirty="0">
                <a:latin typeface="Times New Roman" panose="02020603050405020304" pitchFamily="18" charset="0"/>
                <a:ea typeface="Times New Roman" panose="02020603050405020304" pitchFamily="18" charset="0"/>
              </a:rPr>
              <a:t> from karmic bondage, as a result of </a:t>
            </a:r>
            <a:r>
              <a:rPr lang="en-IN" sz="2500" dirty="0" err="1">
                <a:latin typeface="Times New Roman" panose="02020603050405020304" pitchFamily="18" charset="0"/>
                <a:ea typeface="Times New Roman" panose="02020603050405020304" pitchFamily="18" charset="0"/>
              </a:rPr>
              <a:t>Saranagati</a:t>
            </a:r>
            <a:r>
              <a:rPr lang="en-IN" sz="2500" dirty="0">
                <a:latin typeface="Times New Roman" panose="02020603050405020304" pitchFamily="18" charset="0"/>
                <a:ea typeface="Times New Roman" panose="02020603050405020304" pitchFamily="18" charset="0"/>
              </a:rPr>
              <a:t>, they will reach </a:t>
            </a:r>
            <a:r>
              <a:rPr lang="en-IN" sz="2500" dirty="0" err="1">
                <a:latin typeface="Times New Roman" panose="02020603050405020304" pitchFamily="18" charset="0"/>
                <a:ea typeface="Times New Roman" panose="02020603050405020304" pitchFamily="18" charset="0"/>
              </a:rPr>
              <a:t>Vaikunta</a:t>
            </a:r>
            <a:r>
              <a:rPr lang="en-IN" sz="2500" dirty="0">
                <a:latin typeface="Times New Roman" panose="02020603050405020304" pitchFamily="18" charset="0"/>
                <a:ea typeface="Times New Roman" panose="02020603050405020304" pitchFamily="18" charset="0"/>
              </a:rPr>
              <a:t> and enjoy the divine service of lord. </a:t>
            </a:r>
            <a:r>
              <a:rPr lang="en-IN" sz="2500" b="1" dirty="0">
                <a:latin typeface="Times New Roman" panose="02020603050405020304" pitchFamily="18" charset="0"/>
                <a:ea typeface="Times New Roman" panose="02020603050405020304" pitchFamily="18" charset="0"/>
              </a:rPr>
              <a:t>It is based on </a:t>
            </a:r>
            <a:r>
              <a:rPr lang="en-IN" sz="2500" b="1" dirty="0" err="1">
                <a:latin typeface="Times New Roman" panose="02020603050405020304" pitchFamily="18" charset="0"/>
                <a:ea typeface="Times New Roman" panose="02020603050405020304" pitchFamily="18" charset="0"/>
              </a:rPr>
              <a:t>Gadaka</a:t>
            </a:r>
            <a:r>
              <a:rPr lang="en-IN" sz="2500" b="1"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Srutis</a:t>
            </a:r>
            <a:r>
              <a:rPr lang="en-IN" sz="2500" b="1" dirty="0">
                <a:latin typeface="Times New Roman" panose="02020603050405020304" pitchFamily="18" charset="0"/>
                <a:ea typeface="Times New Roman" panose="02020603050405020304" pitchFamily="18" charset="0"/>
              </a:rPr>
              <a:t>. </a:t>
            </a:r>
            <a:r>
              <a:rPr lang="en-IN" sz="2500" dirty="0">
                <a:latin typeface="Times New Roman" panose="02020603050405020304" pitchFamily="18" charset="0"/>
                <a:ea typeface="Times New Roman" panose="02020603050405020304" pitchFamily="18" charset="0"/>
              </a:rPr>
              <a:t>(ex. Though skin, core and taste </a:t>
            </a:r>
            <a:r>
              <a:rPr lang="en-IN" sz="2500" dirty="0" err="1">
                <a:latin typeface="Times New Roman" panose="02020603050405020304" pitchFamily="18" charset="0"/>
                <a:ea typeface="Times New Roman" panose="02020603050405020304" pitchFamily="18" charset="0"/>
              </a:rPr>
              <a:t>etc</a:t>
            </a:r>
            <a:r>
              <a:rPr lang="en-IN" sz="2500" dirty="0">
                <a:latin typeface="Times New Roman" panose="02020603050405020304" pitchFamily="18" charset="0"/>
                <a:ea typeface="Times New Roman" panose="02020603050405020304" pitchFamily="18" charset="0"/>
              </a:rPr>
              <a:t>,. are different and have put together become one. That one is a qualified one. That is </a:t>
            </a:r>
            <a:r>
              <a:rPr lang="en-IN" sz="2500" dirty="0" err="1">
                <a:latin typeface="Times New Roman" panose="02020603050405020304" pitchFamily="18" charset="0"/>
                <a:ea typeface="Times New Roman" panose="02020603050405020304" pitchFamily="18" charset="0"/>
              </a:rPr>
              <a:t>visishtam</a:t>
            </a:r>
            <a:r>
              <a:rPr lang="en-IN" sz="2500" dirty="0">
                <a:latin typeface="Times New Roman" panose="02020603050405020304" pitchFamily="18" charset="0"/>
                <a:ea typeface="Times New Roman" panose="02020603050405020304" pitchFamily="18" charset="0"/>
              </a:rPr>
              <a:t> =qualified)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Saranagati</a:t>
            </a:r>
            <a:r>
              <a:rPr lang="en-IN" sz="2500" dirty="0">
                <a:latin typeface="Times New Roman" panose="02020603050405020304" pitchFamily="18" charset="0"/>
                <a:ea typeface="Times New Roman" panose="02020603050405020304" pitchFamily="18" charset="0"/>
              </a:rPr>
              <a:t> concept is the essence of </a:t>
            </a:r>
            <a:r>
              <a:rPr lang="en-IN" sz="2500" dirty="0" err="1">
                <a:latin typeface="Times New Roman" panose="02020603050405020304" pitchFamily="18" charset="0"/>
                <a:ea typeface="Times New Roman" panose="02020603050405020304" pitchFamily="18" charset="0"/>
              </a:rPr>
              <a:t>vedas</a:t>
            </a:r>
            <a:r>
              <a:rPr lang="en-IN" sz="2500" dirty="0">
                <a:latin typeface="Times New Roman" panose="02020603050405020304" pitchFamily="18" charset="0"/>
                <a:ea typeface="Times New Roman" panose="02020603050405020304" pitchFamily="18" charset="0"/>
              </a:rPr>
              <a:t>.</a:t>
            </a:r>
            <a:endParaRPr lang="en-IN" sz="25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30433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234186"/>
            <a:ext cx="11430000" cy="6483826"/>
          </a:xfrm>
          <a:prstGeom prst="rect">
            <a:avLst/>
          </a:prstGeom>
        </p:spPr>
        <p:txBody>
          <a:bodyPr wrap="square">
            <a:spAutoFit/>
          </a:bodyPr>
          <a:lstStyle/>
          <a:p>
            <a:pPr marR="190500" lvl="0" algn="ctr">
              <a:spcAft>
                <a:spcPts val="375"/>
              </a:spcAft>
              <a:tabLst>
                <a:tab pos="457200" algn="l"/>
              </a:tabLst>
            </a:pPr>
            <a:r>
              <a:rPr lang="en-IN" sz="2800" b="1" dirty="0" err="1">
                <a:solidFill>
                  <a:srgbClr val="2B2A2A"/>
                </a:solidFill>
                <a:latin typeface="Times New Roman" panose="02020603050405020304" pitchFamily="18" charset="0"/>
                <a:ea typeface="Times New Roman" panose="02020603050405020304" pitchFamily="18" charset="0"/>
                <a:hlinkClick r:id="rId2" tooltip="slide5"/>
              </a:rPr>
              <a:t>Alavandar's</a:t>
            </a:r>
            <a:r>
              <a:rPr lang="en-IN" sz="2800" b="1" dirty="0">
                <a:solidFill>
                  <a:srgbClr val="2B2A2A"/>
                </a:solidFill>
                <a:latin typeface="Times New Roman" panose="02020603050405020304" pitchFamily="18" charset="0"/>
                <a:ea typeface="Times New Roman" panose="02020603050405020304" pitchFamily="18" charset="0"/>
                <a:hlinkClick r:id="rId2" tooltip="slide5"/>
              </a:rPr>
              <a:t> death </a:t>
            </a:r>
            <a:r>
              <a:rPr lang="en-IN" sz="2800" b="1" dirty="0" err="1">
                <a:solidFill>
                  <a:srgbClr val="2B2A2A"/>
                </a:solidFill>
                <a:latin typeface="Times New Roman" panose="02020603050405020304" pitchFamily="18" charset="0"/>
                <a:ea typeface="Times New Roman" panose="02020603050405020304" pitchFamily="18" charset="0"/>
                <a:hlinkClick r:id="rId2" tooltip="slide5"/>
              </a:rPr>
              <a:t>Ramanuja's</a:t>
            </a:r>
            <a:r>
              <a:rPr lang="en-IN" sz="2800" b="1" dirty="0">
                <a:solidFill>
                  <a:srgbClr val="2B2A2A"/>
                </a:solidFill>
                <a:latin typeface="Times New Roman" panose="02020603050405020304" pitchFamily="18" charset="0"/>
                <a:ea typeface="Times New Roman" panose="02020603050405020304" pitchFamily="18" charset="0"/>
                <a:hlinkClick r:id="rId2" tooltip="slide5"/>
              </a:rPr>
              <a:t> Oaths</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As </a:t>
            </a:r>
            <a:r>
              <a:rPr lang="en-IN" sz="2800" b="1" dirty="0" err="1">
                <a:latin typeface="Times New Roman" panose="02020603050405020304" pitchFamily="18" charset="0"/>
                <a:ea typeface="Times New Roman" panose="02020603050405020304" pitchFamily="18" charset="0"/>
              </a:rPr>
              <a:t>Ramanunja</a:t>
            </a:r>
            <a:r>
              <a:rPr lang="en-IN" sz="2800" b="1" dirty="0">
                <a:latin typeface="Times New Roman" panose="02020603050405020304" pitchFamily="18" charset="0"/>
                <a:ea typeface="Times New Roman" panose="02020603050405020304" pitchFamily="18" charset="0"/>
              </a:rPr>
              <a:t> Oaths</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(1) that he would write a commentary on Veda Vyasa's Brahma Sutra.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(2) that he would perpetuate the memory of Vyasa and </a:t>
            </a:r>
            <a:r>
              <a:rPr lang="en-IN" sz="2800" dirty="0" err="1">
                <a:latin typeface="Times New Roman" panose="02020603050405020304" pitchFamily="18" charset="0"/>
                <a:ea typeface="Times New Roman" panose="02020603050405020304" pitchFamily="18" charset="0"/>
              </a:rPr>
              <a:t>Parasara</a:t>
            </a:r>
            <a:r>
              <a:rPr lang="en-IN" sz="2800" dirty="0">
                <a:latin typeface="Times New Roman" panose="02020603050405020304" pitchFamily="18" charset="0"/>
                <a:ea typeface="Times New Roman" panose="02020603050405020304" pitchFamily="18" charset="0"/>
              </a:rPr>
              <a:t> who penned Vishnu </a:t>
            </a:r>
            <a:r>
              <a:rPr lang="en-IN" sz="2800" dirty="0" err="1">
                <a:latin typeface="Times New Roman" panose="02020603050405020304" pitchFamily="18" charset="0"/>
                <a:ea typeface="Times New Roman" panose="02020603050405020304" pitchFamily="18" charset="0"/>
              </a:rPr>
              <a:t>Puranam</a:t>
            </a:r>
            <a:r>
              <a:rPr lang="en-IN" sz="2800" dirty="0">
                <a:latin typeface="Times New Roman" panose="02020603050405020304" pitchFamily="18" charset="0"/>
                <a:ea typeface="Times New Roman" panose="02020603050405020304" pitchFamily="18" charset="0"/>
              </a:rPr>
              <a:t>.</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(3) that he would strive to propagate </a:t>
            </a:r>
            <a:r>
              <a:rPr lang="en-IN" sz="2800" dirty="0" err="1">
                <a:latin typeface="Times New Roman" panose="02020603050405020304" pitchFamily="18" charset="0"/>
                <a:ea typeface="Times New Roman" panose="02020603050405020304" pitchFamily="18" charset="0"/>
              </a:rPr>
              <a:t>Visishtadvaita</a:t>
            </a:r>
            <a:r>
              <a:rPr lang="en-IN" sz="2800" dirty="0">
                <a:latin typeface="Times New Roman" panose="02020603050405020304" pitchFamily="18" charset="0"/>
                <a:ea typeface="Times New Roman" panose="02020603050405020304" pitchFamily="18" charset="0"/>
              </a:rPr>
              <a:t> on the lines of the 4000 holy collects of </a:t>
            </a:r>
            <a:r>
              <a:rPr lang="en-IN" sz="2800" dirty="0" err="1">
                <a:latin typeface="Times New Roman" panose="02020603050405020304" pitchFamily="18" charset="0"/>
                <a:ea typeface="Times New Roman" panose="02020603050405020304" pitchFamily="18" charset="0"/>
              </a:rPr>
              <a:t>alwars</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Naaalayira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Divya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Prabandam</a:t>
            </a:r>
            <a:r>
              <a:rPr lang="en-IN" sz="2800" dirty="0">
                <a:latin typeface="Times New Roman" panose="02020603050405020304" pitchFamily="18" charset="0"/>
                <a:ea typeface="Times New Roman" panose="02020603050405020304" pitchFamily="18" charset="0"/>
              </a:rPr>
              <a:t>.)</a:t>
            </a:r>
            <a:r>
              <a:rPr lang="ar-SA" sz="2800" dirty="0">
                <a:latin typeface="Times New Roman" panose="02020603050405020304" pitchFamily="18" charset="0"/>
                <a:ea typeface="Times New Roman" panose="02020603050405020304" pitchFamily="18" charset="0"/>
              </a:rPr>
              <a:t>‏</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After he swore all these oaths the fingers unfolded one by one automatically, and later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fulfilled all the wishes.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News came that </a:t>
            </a:r>
            <a:r>
              <a:rPr lang="en-IN" sz="2800" dirty="0" err="1">
                <a:latin typeface="Times New Roman" panose="02020603050405020304" pitchFamily="18" charset="0"/>
                <a:ea typeface="Times New Roman" panose="02020603050405020304" pitchFamily="18" charset="0"/>
              </a:rPr>
              <a:t>Alavandar</a:t>
            </a:r>
            <a:r>
              <a:rPr lang="en-IN" sz="2800" dirty="0">
                <a:latin typeface="Times New Roman" panose="02020603050405020304" pitchFamily="18" charset="0"/>
                <a:ea typeface="Times New Roman" panose="02020603050405020304" pitchFamily="18" charset="0"/>
              </a:rPr>
              <a:t> was very sick and he desired to meet with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and sent for him. Just as </a:t>
            </a:r>
            <a:r>
              <a:rPr lang="en-IN" sz="2800" dirty="0" err="1">
                <a:latin typeface="Times New Roman" panose="02020603050405020304" pitchFamily="18" charset="0"/>
                <a:ea typeface="Times New Roman" panose="02020603050405020304" pitchFamily="18" charset="0"/>
              </a:rPr>
              <a:t>Tirukkachi</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Nambi</a:t>
            </a:r>
            <a:r>
              <a:rPr lang="en-IN" sz="2800" dirty="0">
                <a:latin typeface="Times New Roman" panose="02020603050405020304" pitchFamily="18" charset="0"/>
                <a:ea typeface="Times New Roman" panose="02020603050405020304" pitchFamily="18" charset="0"/>
              </a:rPr>
              <a:t> and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they saw the funeral procession of </a:t>
            </a:r>
            <a:r>
              <a:rPr lang="en-IN" sz="2800" dirty="0" err="1">
                <a:latin typeface="Times New Roman" panose="02020603050405020304" pitchFamily="18" charset="0"/>
                <a:ea typeface="Times New Roman" panose="02020603050405020304" pitchFamily="18" charset="0"/>
              </a:rPr>
              <a:t>Alavandar</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During the last rites, they noticed that three fingers of </a:t>
            </a:r>
            <a:r>
              <a:rPr lang="en-IN" sz="2800" dirty="0" err="1">
                <a:latin typeface="Times New Roman" panose="02020603050405020304" pitchFamily="18" charset="0"/>
                <a:ea typeface="Times New Roman" panose="02020603050405020304" pitchFamily="18" charset="0"/>
              </a:rPr>
              <a:t>Alavandar</a:t>
            </a:r>
            <a:r>
              <a:rPr lang="en-IN" sz="2800" dirty="0">
                <a:latin typeface="Times New Roman" panose="02020603050405020304" pitchFamily="18" charset="0"/>
                <a:ea typeface="Times New Roman" panose="02020603050405020304" pitchFamily="18" charset="0"/>
              </a:rPr>
              <a:t> remained folded signifying three of his last unfulfilled wishes.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318951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273376"/>
            <a:ext cx="11181806" cy="5888792"/>
          </a:xfrm>
          <a:prstGeom prst="rect">
            <a:avLst/>
          </a:prstGeom>
        </p:spPr>
        <p:txBody>
          <a:bodyPr wrap="square">
            <a:spAutoFit/>
          </a:bodyPr>
          <a:lstStyle/>
          <a:p>
            <a:pPr marR="190500" lvl="0" algn="ctr">
              <a:spcAft>
                <a:spcPts val="375"/>
              </a:spcAft>
              <a:tabLst>
                <a:tab pos="457200" algn="l"/>
              </a:tabLst>
            </a:pPr>
            <a:r>
              <a:rPr lang="en-IN" sz="2500" b="1" dirty="0" err="1">
                <a:solidFill>
                  <a:srgbClr val="2B2A2A"/>
                </a:solidFill>
                <a:latin typeface="Times New Roman" panose="02020603050405020304" pitchFamily="18" charset="0"/>
                <a:ea typeface="Times New Roman" panose="02020603050405020304" pitchFamily="18" charset="0"/>
                <a:hlinkClick r:id="rId2" tooltip="slide6"/>
              </a:rPr>
              <a:t>Ramanuja's</a:t>
            </a:r>
            <a:r>
              <a:rPr lang="en-IN" sz="2500" b="1" dirty="0">
                <a:solidFill>
                  <a:srgbClr val="2B2A2A"/>
                </a:solidFill>
                <a:latin typeface="Times New Roman" panose="02020603050405020304" pitchFamily="18" charset="0"/>
                <a:ea typeface="Times New Roman" panose="02020603050405020304" pitchFamily="18" charset="0"/>
                <a:hlinkClick r:id="rId2" tooltip="slide6"/>
              </a:rPr>
              <a:t> </a:t>
            </a:r>
            <a:r>
              <a:rPr lang="en-IN" sz="2500" b="1" dirty="0" err="1">
                <a:solidFill>
                  <a:srgbClr val="2B2A2A"/>
                </a:solidFill>
                <a:latin typeface="Times New Roman" panose="02020603050405020304" pitchFamily="18" charset="0"/>
                <a:ea typeface="Times New Roman" panose="02020603050405020304" pitchFamily="18" charset="0"/>
                <a:hlinkClick r:id="rId2" tooltip="slide6"/>
              </a:rPr>
              <a:t>douts</a:t>
            </a:r>
            <a:r>
              <a:rPr lang="en-IN" sz="2500" b="1" dirty="0">
                <a:solidFill>
                  <a:srgbClr val="2B2A2A"/>
                </a:solidFill>
                <a:latin typeface="Times New Roman" panose="02020603050405020304" pitchFamily="18" charset="0"/>
                <a:ea typeface="Times New Roman" panose="02020603050405020304" pitchFamily="18" charset="0"/>
                <a:hlinkClick r:id="rId2" tooltip="slide6"/>
              </a:rPr>
              <a:t> and Lord </a:t>
            </a:r>
            <a:r>
              <a:rPr lang="en-IN" sz="2500" b="1" dirty="0" err="1">
                <a:solidFill>
                  <a:srgbClr val="2B2A2A"/>
                </a:solidFill>
                <a:latin typeface="Times New Roman" panose="02020603050405020304" pitchFamily="18" charset="0"/>
                <a:ea typeface="Times New Roman" panose="02020603050405020304" pitchFamily="18" charset="0"/>
                <a:hlinkClick r:id="rId2" tooltip="slide6"/>
              </a:rPr>
              <a:t>Varadaraja's</a:t>
            </a:r>
            <a:r>
              <a:rPr lang="en-IN" sz="2500" b="1" dirty="0">
                <a:solidFill>
                  <a:srgbClr val="2B2A2A"/>
                </a:solidFill>
                <a:latin typeface="Times New Roman" panose="02020603050405020304" pitchFamily="18" charset="0"/>
                <a:ea typeface="Times New Roman" panose="02020603050405020304" pitchFamily="18" charset="0"/>
                <a:hlinkClick r:id="rId2" tooltip="slide6"/>
              </a:rPr>
              <a:t> answers</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That Lord Narayana is only the supreme lord (</a:t>
            </a:r>
            <a:r>
              <a:rPr lang="en-IN" sz="2500" dirty="0" err="1">
                <a:latin typeface="Times New Roman" panose="02020603050405020304" pitchFamily="18" charset="0"/>
                <a:ea typeface="Times New Roman" panose="02020603050405020304" pitchFamily="18" charset="0"/>
              </a:rPr>
              <a:t>Paramatma</a:t>
            </a:r>
            <a:r>
              <a:rPr lang="en-IN" sz="2500" dirty="0">
                <a:latin typeface="Times New Roman" panose="02020603050405020304" pitchFamily="18" charset="0"/>
                <a:ea typeface="Times New Roman" panose="02020603050405020304" pitchFamily="18" charset="0"/>
              </a:rPr>
              <a:t>)</a:t>
            </a:r>
          </a:p>
          <a:p>
            <a:pPr marR="190500" lvl="0" algn="just">
              <a:spcAft>
                <a:spcPts val="375"/>
              </a:spcAft>
              <a:tabLst>
                <a:tab pos="457200" algn="l"/>
              </a:tabLst>
            </a:pPr>
            <a:r>
              <a:rPr lang="ar-SA" sz="2500" dirty="0">
                <a:latin typeface="Times New Roman" panose="02020603050405020304" pitchFamily="18" charset="0"/>
                <a:ea typeface="Times New Roman" panose="02020603050405020304" pitchFamily="18" charset="0"/>
              </a:rPr>
              <a:t>‏ •</a:t>
            </a:r>
            <a:r>
              <a:rPr lang="en-IN" sz="2500" dirty="0">
                <a:latin typeface="Times New Roman" panose="02020603050405020304" pitchFamily="18" charset="0"/>
                <a:ea typeface="Times New Roman" panose="02020603050405020304" pitchFamily="18" charset="0"/>
              </a:rPr>
              <a:t> That the individual souls are different from </a:t>
            </a:r>
            <a:r>
              <a:rPr lang="en-IN" sz="2500" dirty="0" err="1">
                <a:latin typeface="Times New Roman" panose="02020603050405020304" pitchFamily="18" charset="0"/>
                <a:ea typeface="Times New Roman" panose="02020603050405020304" pitchFamily="18" charset="0"/>
              </a:rPr>
              <a:t>Paramatma</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That </a:t>
            </a:r>
            <a:r>
              <a:rPr lang="en-IN" sz="2500" dirty="0" err="1">
                <a:latin typeface="Times New Roman" panose="02020603050405020304" pitchFamily="18" charset="0"/>
                <a:ea typeface="Times New Roman" panose="02020603050405020304" pitchFamily="18" charset="0"/>
              </a:rPr>
              <a:t>prapatti</a:t>
            </a:r>
            <a:r>
              <a:rPr lang="en-IN" sz="2500" dirty="0">
                <a:latin typeface="Times New Roman" panose="02020603050405020304" pitchFamily="18" charset="0"/>
                <a:ea typeface="Times New Roman" panose="02020603050405020304" pitchFamily="18" charset="0"/>
              </a:rPr>
              <a:t> (self surrender) is the means to attain salvation.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That the last remembrance (</a:t>
            </a:r>
            <a:r>
              <a:rPr lang="en-IN" sz="2500" dirty="0" err="1">
                <a:latin typeface="Times New Roman" panose="02020603050405020304" pitchFamily="18" charset="0"/>
                <a:ea typeface="Times New Roman" panose="02020603050405020304" pitchFamily="18" charset="0"/>
              </a:rPr>
              <a:t>antyakaala</a:t>
            </a: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smarama</a:t>
            </a:r>
            <a:r>
              <a:rPr lang="en-IN" sz="2500" dirty="0">
                <a:latin typeface="Times New Roman" panose="02020603050405020304" pitchFamily="18" charset="0"/>
                <a:ea typeface="Times New Roman" panose="02020603050405020304" pitchFamily="18" charset="0"/>
              </a:rPr>
              <a:t>) of the Lord, for a surrendered soul was not necessary.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That Moksha can be obtained only on laying off the mortal coils (</a:t>
            </a:r>
            <a:r>
              <a:rPr lang="en-IN" sz="2500" dirty="0" err="1">
                <a:latin typeface="Times New Roman" panose="02020603050405020304" pitchFamily="18" charset="0"/>
                <a:ea typeface="Times New Roman" panose="02020603050405020304" pitchFamily="18" charset="0"/>
              </a:rPr>
              <a:t>Videha</a:t>
            </a: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Mukti</a:t>
            </a:r>
            <a:r>
              <a:rPr lang="en-IN" sz="2500" dirty="0">
                <a:latin typeface="Times New Roman" panose="02020603050405020304" pitchFamily="18" charset="0"/>
                <a:ea typeface="Times New Roman" panose="02020603050405020304" pitchFamily="18" charset="0"/>
              </a:rPr>
              <a:t>)</a:t>
            </a:r>
            <a:r>
              <a:rPr lang="ar-SA" sz="2500" dirty="0">
                <a:latin typeface="Times New Roman" panose="02020603050405020304" pitchFamily="18" charset="0"/>
                <a:ea typeface="Times New Roman" panose="02020603050405020304" pitchFamily="18" charset="0"/>
              </a:rPr>
              <a:t>‏ </a:t>
            </a:r>
            <a:r>
              <a:rPr lang="en-US"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US" sz="2500" dirty="0">
                <a:latin typeface="Times New Roman" panose="02020603050405020304" pitchFamily="18" charset="0"/>
                <a:ea typeface="Times New Roman" panose="02020603050405020304" pitchFamily="18" charset="0"/>
              </a:rPr>
              <a:t>. </a:t>
            </a:r>
            <a:r>
              <a:rPr lang="en-IN" sz="2500" dirty="0">
                <a:latin typeface="Times New Roman" panose="02020603050405020304" pitchFamily="18" charset="0"/>
                <a:ea typeface="Times New Roman" panose="02020603050405020304" pitchFamily="18" charset="0"/>
              </a:rPr>
              <a:t>That </a:t>
            </a:r>
            <a:r>
              <a:rPr lang="en-IN" sz="2500" dirty="0" err="1">
                <a:latin typeface="Times New Roman" panose="02020603050405020304" pitchFamily="18" charset="0"/>
                <a:ea typeface="Times New Roman" panose="02020603050405020304" pitchFamily="18" charset="0"/>
              </a:rPr>
              <a:t>Ramanuja</a:t>
            </a:r>
            <a:r>
              <a:rPr lang="en-IN" sz="2500" dirty="0">
                <a:latin typeface="Times New Roman" panose="02020603050405020304" pitchFamily="18" charset="0"/>
                <a:ea typeface="Times New Roman" panose="02020603050405020304" pitchFamily="18" charset="0"/>
              </a:rPr>
              <a:t> should take refuge at the feet of </a:t>
            </a:r>
            <a:r>
              <a:rPr lang="en-IN" sz="2500" dirty="0" err="1">
                <a:latin typeface="Times New Roman" panose="02020603050405020304" pitchFamily="18" charset="0"/>
                <a:ea typeface="Times New Roman" panose="02020603050405020304" pitchFamily="18" charset="0"/>
              </a:rPr>
              <a:t>Periya</a:t>
            </a: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Nambi</a:t>
            </a:r>
            <a:r>
              <a:rPr lang="en-IN" sz="2500" dirty="0">
                <a:latin typeface="Times New Roman" panose="02020603050405020304" pitchFamily="18" charset="0"/>
                <a:ea typeface="Times New Roman" panose="02020603050405020304" pitchFamily="18" charset="0"/>
              </a:rPr>
              <a:t>, for </a:t>
            </a:r>
            <a:r>
              <a:rPr lang="en-IN" sz="2500" dirty="0" err="1">
                <a:latin typeface="Times New Roman" panose="02020603050405020304" pitchFamily="18" charset="0"/>
                <a:ea typeface="Times New Roman" panose="02020603050405020304" pitchFamily="18" charset="0"/>
              </a:rPr>
              <a:t>Pancha</a:t>
            </a: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samskaaram</a:t>
            </a:r>
            <a:r>
              <a:rPr lang="en-IN" sz="25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a:t>
            </a:r>
            <a:r>
              <a:rPr lang="en-IN" sz="2500" dirty="0" err="1">
                <a:latin typeface="Times New Roman" panose="02020603050405020304" pitchFamily="18" charset="0"/>
                <a:ea typeface="Times New Roman" panose="02020603050405020304" pitchFamily="18" charset="0"/>
              </a:rPr>
              <a:t>Ramanuja</a:t>
            </a:r>
            <a:r>
              <a:rPr lang="en-IN" sz="2500" dirty="0">
                <a:latin typeface="Times New Roman" panose="02020603050405020304" pitchFamily="18" charset="0"/>
                <a:ea typeface="Times New Roman" panose="02020603050405020304" pitchFamily="18" charset="0"/>
              </a:rPr>
              <a:t> wanted clarifications on six important things about </a:t>
            </a:r>
            <a:r>
              <a:rPr lang="en-IN" sz="2500" dirty="0" err="1">
                <a:latin typeface="Times New Roman" panose="02020603050405020304" pitchFamily="18" charset="0"/>
                <a:ea typeface="Times New Roman" panose="02020603050405020304" pitchFamily="18" charset="0"/>
              </a:rPr>
              <a:t>vedantha</a:t>
            </a:r>
            <a:r>
              <a:rPr lang="en-IN" sz="2500" dirty="0">
                <a:latin typeface="Times New Roman" panose="02020603050405020304" pitchFamily="18" charset="0"/>
                <a:ea typeface="Times New Roman" panose="02020603050405020304" pitchFamily="18" charset="0"/>
              </a:rPr>
              <a:t>, which never got clarified. </a:t>
            </a:r>
          </a:p>
          <a:p>
            <a:pPr marR="190500" lvl="0" algn="just">
              <a:spcAft>
                <a:spcPts val="375"/>
              </a:spcAft>
              <a:tabLst>
                <a:tab pos="457200" algn="l"/>
              </a:tabLst>
            </a:pPr>
            <a:r>
              <a:rPr lang="en-IN" sz="2500" dirty="0">
                <a:latin typeface="Times New Roman" panose="02020603050405020304" pitchFamily="18" charset="0"/>
                <a:ea typeface="Times New Roman" panose="02020603050405020304" pitchFamily="18" charset="0"/>
              </a:rPr>
              <a:t>• Lord </a:t>
            </a:r>
            <a:r>
              <a:rPr lang="en-IN" sz="2500" dirty="0" err="1">
                <a:latin typeface="Times New Roman" panose="02020603050405020304" pitchFamily="18" charset="0"/>
                <a:ea typeface="Times New Roman" panose="02020603050405020304" pitchFamily="18" charset="0"/>
              </a:rPr>
              <a:t>Varadaraja</a:t>
            </a:r>
            <a:r>
              <a:rPr lang="en-IN" sz="2500" dirty="0">
                <a:latin typeface="Times New Roman" panose="02020603050405020304" pitchFamily="18" charset="0"/>
                <a:ea typeface="Times New Roman" panose="02020603050405020304" pitchFamily="18" charset="0"/>
              </a:rPr>
              <a:t> himself gave answers to </a:t>
            </a:r>
            <a:r>
              <a:rPr lang="en-IN" sz="2500" dirty="0" err="1">
                <a:latin typeface="Times New Roman" panose="02020603050405020304" pitchFamily="18" charset="0"/>
                <a:ea typeface="Times New Roman" panose="02020603050405020304" pitchFamily="18" charset="0"/>
              </a:rPr>
              <a:t>Tirukkachinami</a:t>
            </a:r>
            <a:r>
              <a:rPr lang="en-IN" sz="2500" dirty="0">
                <a:latin typeface="Times New Roman" panose="02020603050405020304" pitchFamily="18" charset="0"/>
                <a:ea typeface="Times New Roman" panose="02020603050405020304" pitchFamily="18" charset="0"/>
              </a:rPr>
              <a:t> and told him to pass them to </a:t>
            </a:r>
            <a:r>
              <a:rPr lang="en-IN" sz="2500" dirty="0" err="1">
                <a:latin typeface="Times New Roman" panose="02020603050405020304" pitchFamily="18" charset="0"/>
                <a:ea typeface="Times New Roman" panose="02020603050405020304" pitchFamily="18" charset="0"/>
              </a:rPr>
              <a:t>Ramanuja</a:t>
            </a:r>
            <a:r>
              <a:rPr lang="en-IN" sz="2500" dirty="0">
                <a:latin typeface="Times New Roman" panose="02020603050405020304" pitchFamily="18" charset="0"/>
                <a:ea typeface="Times New Roman" panose="02020603050405020304" pitchFamily="18" charset="0"/>
              </a:rPr>
              <a:t>. </a:t>
            </a:r>
            <a:r>
              <a:rPr lang="en-IN" sz="2500" b="1" dirty="0">
                <a:latin typeface="Times New Roman" panose="02020603050405020304" pitchFamily="18" charset="0"/>
                <a:ea typeface="Times New Roman" panose="02020603050405020304" pitchFamily="18" charset="0"/>
              </a:rPr>
              <a:t>These six words provided the guidelines for </a:t>
            </a:r>
            <a:r>
              <a:rPr lang="en-IN" sz="2500" b="1" dirty="0" err="1">
                <a:latin typeface="Times New Roman" panose="02020603050405020304" pitchFamily="18" charset="0"/>
                <a:ea typeface="Times New Roman" panose="02020603050405020304" pitchFamily="18" charset="0"/>
              </a:rPr>
              <a:t>Ramanuja</a:t>
            </a:r>
            <a:r>
              <a:rPr lang="en-IN" sz="2500" b="1" dirty="0">
                <a:latin typeface="Times New Roman" panose="02020603050405020304" pitchFamily="18" charset="0"/>
                <a:ea typeface="Times New Roman" panose="02020603050405020304" pitchFamily="18" charset="0"/>
              </a:rPr>
              <a:t> to establish </a:t>
            </a:r>
            <a:r>
              <a:rPr lang="en-IN" sz="2500" b="1" dirty="0" err="1">
                <a:latin typeface="Times New Roman" panose="02020603050405020304" pitchFamily="18" charset="0"/>
                <a:ea typeface="Times New Roman" panose="02020603050405020304" pitchFamily="18" charset="0"/>
              </a:rPr>
              <a:t>Visishtadvaita</a:t>
            </a:r>
            <a:r>
              <a:rPr lang="en-IN" sz="2500" b="1" dirty="0">
                <a:latin typeface="Times New Roman" panose="02020603050405020304" pitchFamily="18" charset="0"/>
                <a:ea typeface="Times New Roman" panose="02020603050405020304" pitchFamily="18" charset="0"/>
              </a:rPr>
              <a:t> </a:t>
            </a:r>
            <a:r>
              <a:rPr lang="en-IN" sz="2500" b="1" dirty="0" err="1">
                <a:latin typeface="Times New Roman" panose="02020603050405020304" pitchFamily="18" charset="0"/>
                <a:ea typeface="Times New Roman" panose="02020603050405020304" pitchFamily="18" charset="0"/>
              </a:rPr>
              <a:t>sampradayam</a:t>
            </a:r>
            <a:r>
              <a:rPr lang="en-IN" sz="2500" b="1" dirty="0">
                <a:latin typeface="Times New Roman" panose="02020603050405020304" pitchFamily="18" charset="0"/>
                <a:ea typeface="Times New Roman" panose="02020603050405020304" pitchFamily="18" charset="0"/>
              </a:rPr>
              <a:t>.</a:t>
            </a:r>
            <a:endParaRPr lang="en-IN" sz="25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46311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891" y="482381"/>
            <a:ext cx="10998925" cy="5796459"/>
          </a:xfrm>
          <a:prstGeom prst="rect">
            <a:avLst/>
          </a:prstGeom>
        </p:spPr>
        <p:txBody>
          <a:bodyPr wrap="square">
            <a:spAutoFit/>
          </a:bodyPr>
          <a:lstStyle/>
          <a:p>
            <a:pPr marR="190500" lvl="0" algn="ctr">
              <a:spcAft>
                <a:spcPts val="375"/>
              </a:spcAft>
              <a:tabLst>
                <a:tab pos="457200" algn="l"/>
              </a:tabLst>
            </a:pPr>
            <a:r>
              <a:rPr lang="en-IN" sz="2800" b="1" dirty="0" err="1">
                <a:solidFill>
                  <a:srgbClr val="2B2A2A"/>
                </a:solidFill>
                <a:latin typeface="Times New Roman" panose="02020603050405020304" pitchFamily="18" charset="0"/>
                <a:ea typeface="Times New Roman" panose="02020603050405020304" pitchFamily="18" charset="0"/>
                <a:hlinkClick r:id="rId2" tooltip="slide7"/>
              </a:rPr>
              <a:t>Ramanuja's</a:t>
            </a:r>
            <a:r>
              <a:rPr lang="en-IN" sz="2800" b="1" dirty="0">
                <a:solidFill>
                  <a:srgbClr val="2B2A2A"/>
                </a:solidFill>
                <a:latin typeface="Times New Roman" panose="02020603050405020304" pitchFamily="18" charset="0"/>
                <a:ea typeface="Times New Roman" panose="02020603050405020304" pitchFamily="18" charset="0"/>
                <a:hlinkClick r:id="rId2" tooltip="slide7"/>
              </a:rPr>
              <a:t> Life.....</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As ordered by Lord </a:t>
            </a:r>
            <a:r>
              <a:rPr lang="en-IN" sz="2800" dirty="0" err="1">
                <a:latin typeface="Times New Roman" panose="02020603050405020304" pitchFamily="18" charset="0"/>
                <a:ea typeface="Times New Roman" panose="02020603050405020304" pitchFamily="18" charset="0"/>
              </a:rPr>
              <a:t>Varadaraja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met </a:t>
            </a:r>
            <a:r>
              <a:rPr lang="en-IN" sz="2800" dirty="0" err="1">
                <a:latin typeface="Times New Roman" panose="02020603050405020304" pitchFamily="18" charset="0"/>
                <a:ea typeface="Times New Roman" panose="02020603050405020304" pitchFamily="18" charset="0"/>
              </a:rPr>
              <a:t>Periya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Nambi</a:t>
            </a:r>
            <a:r>
              <a:rPr lang="en-IN" sz="2800" dirty="0">
                <a:latin typeface="Times New Roman" panose="02020603050405020304" pitchFamily="18" charset="0"/>
                <a:ea typeface="Times New Roman" panose="02020603050405020304" pitchFamily="18" charset="0"/>
              </a:rPr>
              <a:t> at </a:t>
            </a:r>
            <a:r>
              <a:rPr lang="en-IN" sz="2800" dirty="0" err="1">
                <a:latin typeface="Times New Roman" panose="02020603050405020304" pitchFamily="18" charset="0"/>
                <a:ea typeface="Times New Roman" panose="02020603050405020304" pitchFamily="18" charset="0"/>
              </a:rPr>
              <a:t>Madurantakam</a:t>
            </a:r>
            <a:r>
              <a:rPr lang="en-IN" sz="2800" dirty="0">
                <a:latin typeface="Times New Roman" panose="02020603050405020304" pitchFamily="18" charset="0"/>
                <a:ea typeface="Times New Roman" panose="02020603050405020304" pitchFamily="18" charset="0"/>
              </a:rPr>
              <a:t>, where under the shade of </a:t>
            </a:r>
            <a:r>
              <a:rPr lang="en-IN" sz="2800" dirty="0" err="1">
                <a:latin typeface="Times New Roman" panose="02020603050405020304" pitchFamily="18" charset="0"/>
                <a:ea typeface="Times New Roman" panose="02020603050405020304" pitchFamily="18" charset="0"/>
              </a:rPr>
              <a:t>Vakula</a:t>
            </a:r>
            <a:r>
              <a:rPr lang="en-IN" sz="2800" dirty="0">
                <a:latin typeface="Times New Roman" panose="02020603050405020304" pitchFamily="18" charset="0"/>
                <a:ea typeface="Times New Roman" panose="02020603050405020304" pitchFamily="18" charset="0"/>
              </a:rPr>
              <a:t> tree </a:t>
            </a:r>
            <a:r>
              <a:rPr lang="en-IN" sz="2800" dirty="0" err="1">
                <a:latin typeface="Times New Roman" panose="02020603050405020304" pitchFamily="18" charset="0"/>
                <a:ea typeface="Times New Roman" panose="02020603050405020304" pitchFamily="18" charset="0"/>
              </a:rPr>
              <a:t>Periya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Nambi</a:t>
            </a:r>
            <a:r>
              <a:rPr lang="en-IN" sz="2800" dirty="0">
                <a:latin typeface="Times New Roman" panose="02020603050405020304" pitchFamily="18" charset="0"/>
                <a:ea typeface="Times New Roman" panose="02020603050405020304" pitchFamily="18" charset="0"/>
              </a:rPr>
              <a:t> performed “</a:t>
            </a:r>
            <a:r>
              <a:rPr lang="en-IN" sz="2800" dirty="0" err="1">
                <a:latin typeface="Times New Roman" panose="02020603050405020304" pitchFamily="18" charset="0"/>
                <a:ea typeface="Times New Roman" panose="02020603050405020304" pitchFamily="18" charset="0"/>
              </a:rPr>
              <a:t>Panchasamskaram</a:t>
            </a:r>
            <a:r>
              <a:rPr lang="en-IN" sz="2800" dirty="0">
                <a:latin typeface="Times New Roman" panose="02020603050405020304" pitchFamily="18" charset="0"/>
                <a:ea typeface="Times New Roman" panose="02020603050405020304" pitchFamily="18" charset="0"/>
              </a:rPr>
              <a:t>” to him. As he was initiated into the esoteric of </a:t>
            </a:r>
            <a:r>
              <a:rPr lang="en-IN" sz="2800" dirty="0" err="1">
                <a:latin typeface="Times New Roman" panose="02020603050405020304" pitchFamily="18" charset="0"/>
                <a:ea typeface="Times New Roman" panose="02020603050405020304" pitchFamily="18" charset="0"/>
              </a:rPr>
              <a:t>Dvaya</a:t>
            </a:r>
            <a:r>
              <a:rPr lang="en-IN" sz="2800" dirty="0">
                <a:latin typeface="Times New Roman" panose="02020603050405020304" pitchFamily="18" charset="0"/>
                <a:ea typeface="Times New Roman" panose="02020603050405020304" pitchFamily="18" charset="0"/>
              </a:rPr>
              <a:t> Mantra at </a:t>
            </a:r>
            <a:r>
              <a:rPr lang="en-IN" sz="2800" dirty="0" err="1">
                <a:latin typeface="Times New Roman" panose="02020603050405020304" pitchFamily="18" charset="0"/>
                <a:ea typeface="Times New Roman" panose="02020603050405020304" pitchFamily="18" charset="0"/>
              </a:rPr>
              <a:t>Madurantakam</a:t>
            </a:r>
            <a:r>
              <a:rPr lang="en-IN" sz="2800" dirty="0">
                <a:latin typeface="Times New Roman" panose="02020603050405020304" pitchFamily="18" charset="0"/>
                <a:ea typeface="Times New Roman" panose="02020603050405020304" pitchFamily="18" charset="0"/>
              </a:rPr>
              <a:t>, the place name to be known as “</a:t>
            </a:r>
            <a:r>
              <a:rPr lang="en-IN" sz="2800" dirty="0" err="1">
                <a:latin typeface="Times New Roman" panose="02020603050405020304" pitchFamily="18" charset="0"/>
                <a:ea typeface="Times New Roman" panose="02020603050405020304" pitchFamily="18" charset="0"/>
              </a:rPr>
              <a:t>Dvayam</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Vilaindha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Tiruppathi</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was not happy in married life. His </a:t>
            </a:r>
            <a:r>
              <a:rPr lang="en-IN" sz="2800" b="1" dirty="0">
                <a:latin typeface="Times New Roman" panose="02020603050405020304" pitchFamily="18" charset="0"/>
                <a:ea typeface="Times New Roman" panose="02020603050405020304" pitchFamily="18" charset="0"/>
              </a:rPr>
              <a:t>wife, </a:t>
            </a:r>
            <a:r>
              <a:rPr lang="en-IN" sz="2800" b="1" dirty="0" err="1">
                <a:latin typeface="Times New Roman" panose="02020603050405020304" pitchFamily="18" charset="0"/>
                <a:ea typeface="Times New Roman" panose="02020603050405020304" pitchFamily="18" charset="0"/>
              </a:rPr>
              <a:t>Rakshamba</a:t>
            </a:r>
            <a:r>
              <a:rPr lang="en-IN" sz="2800" dirty="0">
                <a:latin typeface="Times New Roman" panose="02020603050405020304" pitchFamily="18" charset="0"/>
                <a:ea typeface="Times New Roman" panose="02020603050405020304" pitchFamily="18" charset="0"/>
              </a:rPr>
              <a:t> never understood either his greatness nor appreciated his catholicity and always acted on her own wavelength and there was no compatibility as between them. When he was about 30 years of age, he sent his wife to her father's house and took </a:t>
            </a:r>
            <a:r>
              <a:rPr lang="en-IN" sz="2800" dirty="0" err="1">
                <a:latin typeface="Times New Roman" panose="02020603050405020304" pitchFamily="18" charset="0"/>
                <a:ea typeface="Times New Roman" panose="02020603050405020304" pitchFamily="18" charset="0"/>
              </a:rPr>
              <a:t>sannyasa</a:t>
            </a:r>
            <a:r>
              <a:rPr lang="en-IN" sz="2800" dirty="0">
                <a:latin typeface="Times New Roman" panose="02020603050405020304" pitchFamily="18" charset="0"/>
                <a:ea typeface="Times New Roman" panose="02020603050405020304" pitchFamily="18" charset="0"/>
              </a:rPr>
              <a:t> with the name of “</a:t>
            </a:r>
            <a:r>
              <a:rPr lang="en-IN" sz="2800" dirty="0" err="1">
                <a:latin typeface="Times New Roman" panose="02020603050405020304" pitchFamily="18" charset="0"/>
                <a:ea typeface="Times New Roman" panose="02020603050405020304" pitchFamily="18" charset="0"/>
              </a:rPr>
              <a:t>Ramanuja</a:t>
            </a:r>
            <a:r>
              <a:rPr lang="en-IN" sz="2800" dirty="0">
                <a:latin typeface="Times New Roman" panose="02020603050405020304" pitchFamily="18" charset="0"/>
                <a:ea typeface="Times New Roman" panose="02020603050405020304" pitchFamily="18" charset="0"/>
              </a:rPr>
              <a:t> Muni” at the </a:t>
            </a:r>
            <a:r>
              <a:rPr lang="en-IN" sz="2800" dirty="0" err="1">
                <a:latin typeface="Times New Roman" panose="02020603050405020304" pitchFamily="18" charset="0"/>
                <a:ea typeface="Times New Roman" panose="02020603050405020304" pitchFamily="18" charset="0"/>
              </a:rPr>
              <a:t>devine</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sannadi</a:t>
            </a:r>
            <a:r>
              <a:rPr lang="en-IN" sz="2800" dirty="0">
                <a:latin typeface="Times New Roman" panose="02020603050405020304" pitchFamily="18" charset="0"/>
                <a:ea typeface="Times New Roman" panose="02020603050405020304" pitchFamily="18" charset="0"/>
              </a:rPr>
              <a:t> of </a:t>
            </a:r>
            <a:r>
              <a:rPr lang="en-IN" sz="2800" dirty="0" err="1">
                <a:latin typeface="Times New Roman" panose="02020603050405020304" pitchFamily="18" charset="0"/>
                <a:ea typeface="Times New Roman" panose="02020603050405020304" pitchFamily="18" charset="0"/>
              </a:rPr>
              <a:t>Kanchi</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Varadaraja</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Perumal</a:t>
            </a:r>
            <a:r>
              <a:rPr lang="en-IN" sz="2800" dirty="0">
                <a:latin typeface="Times New Roman" panose="02020603050405020304" pitchFamily="18" charset="0"/>
                <a:ea typeface="Times New Roman" panose="02020603050405020304" pitchFamily="18" charset="0"/>
              </a:rPr>
              <a:t>. Lord </a:t>
            </a:r>
            <a:r>
              <a:rPr lang="en-IN" sz="2800" dirty="0" err="1">
                <a:latin typeface="Times New Roman" panose="02020603050405020304" pitchFamily="18" charset="0"/>
                <a:ea typeface="Times New Roman" panose="02020603050405020304" pitchFamily="18" charset="0"/>
              </a:rPr>
              <a:t>Varadaraja</a:t>
            </a:r>
            <a:r>
              <a:rPr lang="en-IN" sz="2800" dirty="0">
                <a:latin typeface="Times New Roman" panose="02020603050405020304" pitchFamily="18" charset="0"/>
                <a:ea typeface="Times New Roman" panose="02020603050405020304" pitchFamily="18" charset="0"/>
              </a:rPr>
              <a:t> called him as “</a:t>
            </a:r>
            <a:r>
              <a:rPr lang="en-IN" sz="2800" dirty="0" err="1">
                <a:latin typeface="Times New Roman" panose="02020603050405020304" pitchFamily="18" charset="0"/>
                <a:ea typeface="Times New Roman" panose="02020603050405020304" pitchFamily="18" charset="0"/>
              </a:rPr>
              <a:t>Yati</a:t>
            </a:r>
            <a:r>
              <a:rPr lang="en-IN" sz="2800" dirty="0">
                <a:latin typeface="Times New Roman" panose="02020603050405020304" pitchFamily="18" charset="0"/>
                <a:ea typeface="Times New Roman" panose="02020603050405020304" pitchFamily="18" charset="0"/>
              </a:rPr>
              <a:t> Raja”- king among ascetics.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496108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9" y="474345"/>
            <a:ext cx="11286308" cy="6155531"/>
          </a:xfrm>
          <a:prstGeom prst="rect">
            <a:avLst/>
          </a:prstGeom>
        </p:spPr>
        <p:txBody>
          <a:bodyPr wrap="square">
            <a:spAutoFit/>
          </a:bodyPr>
          <a:lstStyle/>
          <a:p>
            <a:pPr marR="190500" lvl="0" algn="ctr">
              <a:spcAft>
                <a:spcPts val="375"/>
              </a:spcAft>
              <a:tabLst>
                <a:tab pos="457200" algn="l"/>
              </a:tabLst>
            </a:pPr>
            <a:r>
              <a:rPr lang="en-IN" sz="2400" b="1" dirty="0" err="1">
                <a:solidFill>
                  <a:srgbClr val="2B2A2A"/>
                </a:solidFill>
                <a:latin typeface="Times New Roman" panose="02020603050405020304" pitchFamily="18" charset="0"/>
                <a:ea typeface="Times New Roman" panose="02020603050405020304" pitchFamily="18" charset="0"/>
                <a:hlinkClick r:id="rId2" tooltip="slide8"/>
              </a:rPr>
              <a:t>Ramanuja</a:t>
            </a:r>
            <a:r>
              <a:rPr lang="en-IN" sz="2400" b="1" dirty="0">
                <a:solidFill>
                  <a:srgbClr val="2B2A2A"/>
                </a:solidFill>
                <a:latin typeface="Times New Roman" panose="02020603050405020304" pitchFamily="18" charset="0"/>
                <a:ea typeface="Times New Roman" panose="02020603050405020304" pitchFamily="18" charset="0"/>
                <a:hlinkClick r:id="rId2" tooltip="slide8"/>
              </a:rPr>
              <a:t> meets </a:t>
            </a:r>
            <a:r>
              <a:rPr lang="en-IN" sz="2400" b="1" dirty="0" err="1">
                <a:solidFill>
                  <a:srgbClr val="2B2A2A"/>
                </a:solidFill>
                <a:latin typeface="Times New Roman" panose="02020603050405020304" pitchFamily="18" charset="0"/>
                <a:ea typeface="Times New Roman" panose="02020603050405020304" pitchFamily="18" charset="0"/>
                <a:hlinkClick r:id="rId2" tooltip="slide8"/>
              </a:rPr>
              <a:t>Tirugoshtiyor</a:t>
            </a:r>
            <a:r>
              <a:rPr lang="en-IN" sz="2400" b="1" dirty="0">
                <a:solidFill>
                  <a:srgbClr val="2B2A2A"/>
                </a:solidFill>
                <a:latin typeface="Times New Roman" panose="02020603050405020304" pitchFamily="18" charset="0"/>
                <a:ea typeface="Times New Roman" panose="02020603050405020304" pitchFamily="18" charset="0"/>
                <a:hlinkClick r:id="rId2" tooltip="slide8"/>
              </a:rPr>
              <a:t> </a:t>
            </a:r>
            <a:r>
              <a:rPr lang="en-IN" sz="2400" b="1" dirty="0" err="1">
                <a:solidFill>
                  <a:srgbClr val="2B2A2A"/>
                </a:solidFill>
                <a:latin typeface="Times New Roman" panose="02020603050405020304" pitchFamily="18" charset="0"/>
                <a:ea typeface="Times New Roman" panose="02020603050405020304" pitchFamily="18" charset="0"/>
                <a:hlinkClick r:id="rId2" tooltip="slide8"/>
              </a:rPr>
              <a:t>Nambi</a:t>
            </a:r>
            <a:r>
              <a:rPr lang="en-IN" sz="2400" b="1" dirty="0">
                <a:solidFill>
                  <a:srgbClr val="2B2A2A"/>
                </a:solidFill>
                <a:latin typeface="Times New Roman" panose="02020603050405020304" pitchFamily="18" charset="0"/>
                <a:ea typeface="Times New Roman" panose="02020603050405020304" pitchFamily="18" charset="0"/>
                <a:hlinkClick r:id="rId2" tooltip="slide8"/>
              </a:rPr>
              <a:t> </a:t>
            </a:r>
            <a:endParaRPr lang="en-IN" sz="2400" b="1" dirty="0">
              <a:solidFill>
                <a:srgbClr val="2B2A2A"/>
              </a:solidFill>
              <a:latin typeface="Times New Roman" panose="02020603050405020304" pitchFamily="18" charset="0"/>
              <a:ea typeface="Times New Roman" panose="02020603050405020304" pitchFamily="18" charset="0"/>
            </a:endParaRPr>
          </a:p>
          <a:p>
            <a:pPr marR="190500" lvl="0" algn="just">
              <a:spcAft>
                <a:spcPts val="375"/>
              </a:spcAft>
              <a:tabLst>
                <a:tab pos="457200" algn="l"/>
              </a:tabLst>
            </a:pPr>
            <a:r>
              <a:rPr lang="en-IN" sz="2400" dirty="0">
                <a:latin typeface="Times New Roman" panose="02020603050405020304" pitchFamily="18" charset="0"/>
                <a:ea typeface="Times New Roman" panose="02020603050405020304" pitchFamily="18" charset="0"/>
              </a:rPr>
              <a:t>• Before He took Acharya seat at </a:t>
            </a:r>
            <a:r>
              <a:rPr lang="en-IN" sz="2400" b="1" dirty="0" err="1">
                <a:latin typeface="Times New Roman" panose="02020603050405020304" pitchFamily="18" charset="0"/>
                <a:ea typeface="Times New Roman" panose="02020603050405020304" pitchFamily="18" charset="0"/>
              </a:rPr>
              <a:t>Srirangam</a:t>
            </a:r>
            <a:r>
              <a:rPr lang="en-IN" sz="2400" dirty="0">
                <a:latin typeface="Times New Roman" panose="02020603050405020304" pitchFamily="18" charset="0"/>
                <a:ea typeface="Times New Roman" panose="02020603050405020304" pitchFamily="18" charset="0"/>
              </a:rPr>
              <a:t> he wanted to equip himself with the secrets of the three great Mantras. For this purpose, he approached one “</a:t>
            </a:r>
            <a:r>
              <a:rPr lang="en-IN" sz="2400" dirty="0" err="1">
                <a:latin typeface="Times New Roman" panose="02020603050405020304" pitchFamily="18" charset="0"/>
                <a:ea typeface="Times New Roman" panose="02020603050405020304" pitchFamily="18" charset="0"/>
              </a:rPr>
              <a:t>Tirukkoshtiyur</a:t>
            </a:r>
            <a:r>
              <a:rPr lang="en-IN" sz="2400" dirty="0">
                <a:latin typeface="Times New Roman" panose="02020603050405020304" pitchFamily="18" charset="0"/>
                <a:ea typeface="Times New Roman" panose="02020603050405020304" pitchFamily="18" charset="0"/>
              </a:rPr>
              <a:t> </a:t>
            </a:r>
            <a:r>
              <a:rPr lang="en-IN" sz="2400" dirty="0" err="1">
                <a:latin typeface="Times New Roman" panose="02020603050405020304" pitchFamily="18" charset="0"/>
                <a:ea typeface="Times New Roman" panose="02020603050405020304" pitchFamily="18" charset="0"/>
              </a:rPr>
              <a:t>nambi</a:t>
            </a:r>
            <a:r>
              <a:rPr lang="en-IN" sz="2400" dirty="0">
                <a:latin typeface="Times New Roman" panose="02020603050405020304" pitchFamily="18" charset="0"/>
                <a:ea typeface="Times New Roman" panose="02020603050405020304" pitchFamily="18" charset="0"/>
              </a:rPr>
              <a:t>” who made him come 17 times before actually instructing him. He cautioned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 that he should not give out the secrets to all and sundry and if he did so, he would go to hell. </a:t>
            </a:r>
          </a:p>
          <a:p>
            <a:pPr marR="190500" lvl="0" algn="just">
              <a:spcAft>
                <a:spcPts val="375"/>
              </a:spcAft>
              <a:tabLst>
                <a:tab pos="457200" algn="l"/>
              </a:tabLst>
            </a:pPr>
            <a:r>
              <a:rPr lang="en-IN" sz="2400" dirty="0">
                <a:latin typeface="Times New Roman" panose="02020603050405020304" pitchFamily="18" charset="0"/>
                <a:ea typeface="Times New Roman" panose="02020603050405020304" pitchFamily="18" charset="0"/>
              </a:rPr>
              <a:t>• Immediately on receiving the instructions,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 climbed up to the top of the steeple of the temple and called everybody and told them about the sure way to get </a:t>
            </a:r>
            <a:r>
              <a:rPr lang="en-IN" sz="2400" dirty="0" err="1">
                <a:latin typeface="Times New Roman" panose="02020603050405020304" pitchFamily="18" charset="0"/>
                <a:ea typeface="Times New Roman" panose="02020603050405020304" pitchFamily="18" charset="0"/>
              </a:rPr>
              <a:t>Mukti</a:t>
            </a:r>
            <a:r>
              <a:rPr lang="en-IN" sz="2400" dirty="0">
                <a:latin typeface="Times New Roman" panose="02020603050405020304" pitchFamily="18" charset="0"/>
                <a:ea typeface="Times New Roman" panose="02020603050405020304" pitchFamily="18" charset="0"/>
              </a:rPr>
              <a:t> (</a:t>
            </a:r>
            <a:r>
              <a:rPr lang="en-IN" sz="2400" dirty="0" err="1">
                <a:latin typeface="Times New Roman" panose="02020603050405020304" pitchFamily="18" charset="0"/>
                <a:ea typeface="Times New Roman" panose="02020603050405020304" pitchFamily="18" charset="0"/>
              </a:rPr>
              <a:t>rahasya</a:t>
            </a:r>
            <a:r>
              <a:rPr lang="en-IN" sz="2400" dirty="0">
                <a:latin typeface="Times New Roman" panose="02020603050405020304" pitchFamily="18" charset="0"/>
                <a:ea typeface="Times New Roman" panose="02020603050405020304" pitchFamily="18" charset="0"/>
              </a:rPr>
              <a:t> </a:t>
            </a:r>
            <a:r>
              <a:rPr lang="en-IN" sz="2400" dirty="0" err="1">
                <a:latin typeface="Times New Roman" panose="02020603050405020304" pitchFamily="18" charset="0"/>
                <a:ea typeface="Times New Roman" panose="02020603050405020304" pitchFamily="18" charset="0"/>
              </a:rPr>
              <a:t>trayam</a:t>
            </a:r>
            <a:r>
              <a:rPr lang="en-IN" sz="2400" dirty="0">
                <a:latin typeface="Times New Roman" panose="02020603050405020304" pitchFamily="18" charset="0"/>
                <a:ea typeface="Times New Roman" panose="02020603050405020304" pitchFamily="18" charset="0"/>
              </a:rPr>
              <a:t> with its inner meanings) and requested everybody to come and take up </a:t>
            </a:r>
            <a:r>
              <a:rPr lang="en-IN" sz="2400" dirty="0" err="1">
                <a:latin typeface="Times New Roman" panose="02020603050405020304" pitchFamily="18" charset="0"/>
                <a:ea typeface="Times New Roman" panose="02020603050405020304" pitchFamily="18" charset="0"/>
              </a:rPr>
              <a:t>sreevaishnavam</a:t>
            </a:r>
            <a:r>
              <a:rPr lang="en-IN" sz="2400" dirty="0">
                <a:latin typeface="Times New Roman" panose="02020603050405020304" pitchFamily="18" charset="0"/>
                <a:ea typeface="Times New Roman" panose="02020603050405020304" pitchFamily="18" charset="0"/>
              </a:rPr>
              <a:t> and attain liberation. </a:t>
            </a:r>
          </a:p>
          <a:p>
            <a:pPr marR="190500" lvl="0" algn="just">
              <a:spcAft>
                <a:spcPts val="375"/>
              </a:spcAft>
              <a:tabLst>
                <a:tab pos="457200" algn="l"/>
              </a:tabLst>
            </a:pPr>
            <a:r>
              <a:rPr lang="en-IN" sz="2400" dirty="0">
                <a:latin typeface="Times New Roman" panose="02020603050405020304" pitchFamily="18" charset="0"/>
                <a:ea typeface="Times New Roman" panose="02020603050405020304" pitchFamily="18" charset="0"/>
              </a:rPr>
              <a:t>• This enraged his guru and demanded an explanation.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 replied that he is ready to go to hell for that sake of so many people who would be saved spiritually by knowing the </a:t>
            </a:r>
            <a:r>
              <a:rPr lang="en-IN" sz="2400" dirty="0" err="1">
                <a:latin typeface="Times New Roman" panose="02020603050405020304" pitchFamily="18" charset="0"/>
                <a:ea typeface="Times New Roman" panose="02020603050405020304" pitchFamily="18" charset="0"/>
              </a:rPr>
              <a:t>rahasyatrayam</a:t>
            </a:r>
            <a:r>
              <a:rPr lang="en-IN" sz="2400" dirty="0">
                <a:latin typeface="Times New Roman" panose="02020603050405020304" pitchFamily="18" charset="0"/>
                <a:ea typeface="Times New Roman" panose="02020603050405020304" pitchFamily="18" charset="0"/>
              </a:rPr>
              <a:t>. The Guru was overwhelmed by this reply, embracing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 and appreciating his broad mindedness, he called him “</a:t>
            </a:r>
            <a:r>
              <a:rPr lang="en-IN" sz="2400" dirty="0" err="1">
                <a:latin typeface="Times New Roman" panose="02020603050405020304" pitchFamily="18" charset="0"/>
                <a:ea typeface="Times New Roman" panose="02020603050405020304" pitchFamily="18" charset="0"/>
              </a:rPr>
              <a:t>Emperumanar</a:t>
            </a:r>
            <a:r>
              <a:rPr lang="en-IN" sz="2400" dirty="0">
                <a:latin typeface="Times New Roman" panose="02020603050405020304" pitchFamily="18" charset="0"/>
                <a:ea typeface="Times New Roman" panose="02020603050405020304" pitchFamily="18" charset="0"/>
              </a:rPr>
              <a:t>”-Oh! My lord and declared that </a:t>
            </a:r>
            <a:r>
              <a:rPr lang="en-IN" sz="2400" dirty="0" err="1">
                <a:latin typeface="Times New Roman" panose="02020603050405020304" pitchFamily="18" charset="0"/>
                <a:ea typeface="Times New Roman" panose="02020603050405020304" pitchFamily="18" charset="0"/>
              </a:rPr>
              <a:t>srivaishnavism</a:t>
            </a:r>
            <a:r>
              <a:rPr lang="en-IN" sz="2400" dirty="0">
                <a:latin typeface="Times New Roman" panose="02020603050405020304" pitchFamily="18" charset="0"/>
                <a:ea typeface="Times New Roman" panose="02020603050405020304" pitchFamily="18" charset="0"/>
              </a:rPr>
              <a:t> would henceforth be known as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 </a:t>
            </a:r>
            <a:r>
              <a:rPr lang="en-IN" sz="2400" dirty="0" err="1">
                <a:latin typeface="Times New Roman" panose="02020603050405020304" pitchFamily="18" charset="0"/>
                <a:ea typeface="Times New Roman" panose="02020603050405020304" pitchFamily="18" charset="0"/>
              </a:rPr>
              <a:t>Darsanam</a:t>
            </a:r>
            <a:r>
              <a:rPr lang="en-IN" sz="2400" dirty="0">
                <a:latin typeface="Times New Roman" panose="02020603050405020304" pitchFamily="18" charset="0"/>
                <a:ea typeface="Times New Roman" panose="02020603050405020304" pitchFamily="18" charset="0"/>
              </a:rPr>
              <a:t>”-the philosophy of </a:t>
            </a:r>
            <a:r>
              <a:rPr lang="en-IN" sz="2400" dirty="0" err="1">
                <a:latin typeface="Times New Roman" panose="02020603050405020304" pitchFamily="18" charset="0"/>
                <a:ea typeface="Times New Roman" panose="02020603050405020304" pitchFamily="18" charset="0"/>
              </a:rPr>
              <a:t>Ramanuja</a:t>
            </a:r>
            <a:r>
              <a:rPr lang="en-IN" sz="2400" dirty="0">
                <a:latin typeface="Times New Roman" panose="02020603050405020304" pitchFamily="18" charset="0"/>
                <a:ea typeface="Times New Roman" panose="02020603050405020304" pitchFamily="18" charset="0"/>
              </a:rPr>
              <a:t>.</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69217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1" y="540154"/>
            <a:ext cx="11168742" cy="5570756"/>
          </a:xfrm>
          <a:prstGeom prst="rect">
            <a:avLst/>
          </a:prstGeom>
        </p:spPr>
        <p:txBody>
          <a:bodyPr wrap="square">
            <a:spAutoFit/>
          </a:bodyPr>
          <a:lstStyle/>
          <a:p>
            <a:pPr marR="190500" lvl="0" algn="ctr">
              <a:lnSpc>
                <a:spcPct val="150000"/>
              </a:lnSpc>
              <a:spcAft>
                <a:spcPts val="375"/>
              </a:spcAft>
              <a:tabLst>
                <a:tab pos="457200" algn="l"/>
              </a:tabLst>
            </a:pPr>
            <a:r>
              <a:rPr lang="en-IN" sz="3200" b="1" dirty="0" err="1">
                <a:solidFill>
                  <a:srgbClr val="2B2A2A"/>
                </a:solidFill>
                <a:latin typeface="Times New Roman" panose="02020603050405020304" pitchFamily="18" charset="0"/>
                <a:ea typeface="Times New Roman" panose="02020603050405020304" pitchFamily="18" charset="0"/>
                <a:hlinkClick r:id="rId2" tooltip="slide9"/>
              </a:rPr>
              <a:t>Ramanuja's</a:t>
            </a:r>
            <a:r>
              <a:rPr lang="en-IN" sz="3200" b="1" dirty="0">
                <a:solidFill>
                  <a:srgbClr val="2B2A2A"/>
                </a:solidFill>
                <a:latin typeface="Times New Roman" panose="02020603050405020304" pitchFamily="18" charset="0"/>
                <a:ea typeface="Times New Roman" panose="02020603050405020304" pitchFamily="18" charset="0"/>
                <a:hlinkClick r:id="rId2" tooltip="slide9"/>
              </a:rPr>
              <a:t> other names </a:t>
            </a:r>
            <a:endParaRPr lang="en-IN" sz="3200" b="1" dirty="0">
              <a:solidFill>
                <a:srgbClr val="2B2A2A"/>
              </a:solidFill>
              <a:latin typeface="Times New Roman" panose="02020603050405020304" pitchFamily="18" charset="0"/>
              <a:ea typeface="Times New Roman" panose="02020603050405020304" pitchFamily="18" charset="0"/>
            </a:endParaRP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Bhashyakara</a:t>
            </a:r>
            <a:r>
              <a:rPr lang="en-IN" sz="3200" b="1" dirty="0">
                <a:latin typeface="Times New Roman" panose="02020603050405020304" pitchFamily="18" charset="0"/>
                <a:ea typeface="Times New Roman" panose="02020603050405020304" pitchFamily="18" charset="0"/>
              </a:rPr>
              <a:t>-</a:t>
            </a:r>
            <a:r>
              <a:rPr lang="en-IN" sz="3200" dirty="0">
                <a:latin typeface="Times New Roman" panose="02020603050405020304" pitchFamily="18" charset="0"/>
                <a:ea typeface="Times New Roman" panose="02020603050405020304" pitchFamily="18" charset="0"/>
              </a:rPr>
              <a:t> He wrote Sri </a:t>
            </a:r>
            <a:r>
              <a:rPr lang="en-IN" sz="3200" dirty="0" err="1">
                <a:latin typeface="Times New Roman" panose="02020603050405020304" pitchFamily="18" charset="0"/>
                <a:ea typeface="Times New Roman" panose="02020603050405020304" pitchFamily="18" charset="0"/>
              </a:rPr>
              <a:t>Bhashya</a:t>
            </a:r>
            <a:r>
              <a:rPr lang="en-IN" sz="3200" dirty="0">
                <a:latin typeface="Times New Roman" panose="02020603050405020304" pitchFamily="18" charset="0"/>
                <a:ea typeface="Times New Roman" panose="02020603050405020304" pitchFamily="18" charset="0"/>
              </a:rPr>
              <a:t> or Brahma Sutra </a:t>
            </a:r>
            <a:r>
              <a:rPr lang="en-IN" sz="3200" dirty="0" err="1">
                <a:latin typeface="Times New Roman" panose="02020603050405020304" pitchFamily="18" charset="0"/>
                <a:ea typeface="Times New Roman" panose="02020603050405020304" pitchFamily="18" charset="0"/>
              </a:rPr>
              <a:t>Bhashya</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Elayazvan</a:t>
            </a:r>
            <a:r>
              <a:rPr lang="en-IN" sz="3200" b="1" dirty="0">
                <a:latin typeface="Times New Roman" panose="02020603050405020304" pitchFamily="18" charset="0"/>
                <a:ea typeface="Times New Roman" panose="02020603050405020304" pitchFamily="18" charset="0"/>
              </a:rPr>
              <a:t>-</a:t>
            </a:r>
            <a:r>
              <a:rPr lang="en-IN" sz="3200" dirty="0">
                <a:latin typeface="Times New Roman" panose="02020603050405020304" pitchFamily="18" charset="0"/>
                <a:ea typeface="Times New Roman" panose="02020603050405020304" pitchFamily="18" charset="0"/>
              </a:rPr>
              <a:t> Incarnation of Lakshmana or </a:t>
            </a:r>
            <a:r>
              <a:rPr lang="en-IN" sz="3200" dirty="0" err="1">
                <a:latin typeface="Times New Roman" panose="02020603050405020304" pitchFamily="18" charset="0"/>
                <a:ea typeface="Times New Roman" panose="02020603050405020304" pitchFamily="18" charset="0"/>
              </a:rPr>
              <a:t>Adi</a:t>
            </a:r>
            <a:r>
              <a:rPr lang="en-IN" sz="3200" dirty="0">
                <a:latin typeface="Times New Roman" panose="02020603050405020304" pitchFamily="18" charset="0"/>
                <a:ea typeface="Times New Roman" panose="02020603050405020304" pitchFamily="18" charset="0"/>
              </a:rPr>
              <a:t> </a:t>
            </a:r>
            <a:r>
              <a:rPr lang="en-IN" sz="3200" dirty="0" err="1">
                <a:latin typeface="Times New Roman" panose="02020603050405020304" pitchFamily="18" charset="0"/>
                <a:ea typeface="Times New Roman" panose="02020603050405020304" pitchFamily="18" charset="0"/>
              </a:rPr>
              <a:t>Sesha</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Udaiyavar</a:t>
            </a:r>
            <a:r>
              <a:rPr lang="en-IN" sz="3200" b="1" dirty="0">
                <a:latin typeface="Times New Roman" panose="02020603050405020304" pitchFamily="18" charset="0"/>
                <a:ea typeface="Times New Roman" panose="02020603050405020304" pitchFamily="18" charset="0"/>
              </a:rPr>
              <a:t>- </a:t>
            </a:r>
            <a:r>
              <a:rPr lang="en-IN" sz="3200" dirty="0">
                <a:latin typeface="Times New Roman" panose="02020603050405020304" pitchFamily="18" charset="0"/>
                <a:ea typeface="Times New Roman" panose="02020603050405020304" pitchFamily="18" charset="0"/>
              </a:rPr>
              <a:t>Once Lord </a:t>
            </a:r>
            <a:r>
              <a:rPr lang="en-IN" sz="3200" dirty="0" err="1">
                <a:latin typeface="Times New Roman" panose="02020603050405020304" pitchFamily="18" charset="0"/>
                <a:ea typeface="Times New Roman" panose="02020603050405020304" pitchFamily="18" charset="0"/>
              </a:rPr>
              <a:t>Ranganatha</a:t>
            </a:r>
            <a:r>
              <a:rPr lang="en-IN" sz="3200" dirty="0">
                <a:latin typeface="Times New Roman" panose="02020603050405020304" pitchFamily="18" charset="0"/>
                <a:ea typeface="Times New Roman" panose="02020603050405020304" pitchFamily="18" charset="0"/>
              </a:rPr>
              <a:t> said he is related to him.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Emberumanar</a:t>
            </a:r>
            <a:r>
              <a:rPr lang="en-IN" sz="3200" b="1" dirty="0">
                <a:latin typeface="Times New Roman" panose="02020603050405020304" pitchFamily="18" charset="0"/>
                <a:ea typeface="Times New Roman" panose="02020603050405020304" pitchFamily="18" charset="0"/>
              </a:rPr>
              <a:t>-</a:t>
            </a:r>
            <a:r>
              <a:rPr lang="en-IN" sz="3200" dirty="0">
                <a:latin typeface="Times New Roman" panose="02020603050405020304" pitchFamily="18" charset="0"/>
                <a:ea typeface="Times New Roman" panose="02020603050405020304" pitchFamily="18" charset="0"/>
              </a:rPr>
              <a:t> Om </a:t>
            </a:r>
            <a:r>
              <a:rPr lang="en-IN" sz="3200" dirty="0" err="1">
                <a:latin typeface="Times New Roman" panose="02020603050405020304" pitchFamily="18" charset="0"/>
                <a:ea typeface="Times New Roman" panose="02020603050405020304" pitchFamily="18" charset="0"/>
              </a:rPr>
              <a:t>namo</a:t>
            </a:r>
            <a:r>
              <a:rPr lang="en-IN" sz="3200" dirty="0">
                <a:latin typeface="Times New Roman" panose="02020603050405020304" pitchFamily="18" charset="0"/>
                <a:ea typeface="Times New Roman" panose="02020603050405020304" pitchFamily="18" charset="0"/>
              </a:rPr>
              <a:t> </a:t>
            </a:r>
            <a:r>
              <a:rPr lang="en-IN" sz="3200" dirty="0" err="1">
                <a:latin typeface="Times New Roman" panose="02020603050405020304" pitchFamily="18" charset="0"/>
                <a:ea typeface="Times New Roman" panose="02020603050405020304" pitchFamily="18" charset="0"/>
              </a:rPr>
              <a:t>narayana</a:t>
            </a:r>
            <a:r>
              <a:rPr lang="en-IN" sz="3200" dirty="0">
                <a:latin typeface="Times New Roman" panose="02020603050405020304" pitchFamily="18" charset="0"/>
                <a:ea typeface="Times New Roman" panose="02020603050405020304" pitchFamily="18" charset="0"/>
              </a:rPr>
              <a:t> story.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Thiruppavai</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Jeeyar</a:t>
            </a:r>
            <a:r>
              <a:rPr lang="en-IN" sz="3200" b="1" dirty="0">
                <a:latin typeface="Times New Roman" panose="02020603050405020304" pitchFamily="18" charset="0"/>
                <a:ea typeface="Times New Roman" panose="02020603050405020304" pitchFamily="18" charset="0"/>
              </a:rPr>
              <a:t>- </a:t>
            </a:r>
            <a:r>
              <a:rPr lang="en-IN" sz="3200" dirty="0">
                <a:latin typeface="Times New Roman" panose="02020603050405020304" pitchFamily="18" charset="0"/>
                <a:ea typeface="Times New Roman" panose="02020603050405020304" pitchFamily="18" charset="0"/>
              </a:rPr>
              <a:t>he spreads </a:t>
            </a:r>
            <a:r>
              <a:rPr lang="en-IN" sz="3200" dirty="0" err="1">
                <a:latin typeface="Times New Roman" panose="02020603050405020304" pitchFamily="18" charset="0"/>
                <a:ea typeface="Times New Roman" panose="02020603050405020304" pitchFamily="18" charset="0"/>
              </a:rPr>
              <a:t>Thiruppavai</a:t>
            </a:r>
            <a:r>
              <a:rPr lang="en-IN" sz="3200" dirty="0">
                <a:latin typeface="Times New Roman" panose="02020603050405020304" pitchFamily="18" charset="0"/>
                <a:ea typeface="Times New Roman" panose="02020603050405020304" pitchFamily="18" charset="0"/>
              </a:rPr>
              <a:t> </a:t>
            </a:r>
          </a:p>
          <a:p>
            <a:pPr marR="190500" lvl="0" algn="just">
              <a:lnSpc>
                <a:spcPct val="150000"/>
              </a:lnSpc>
              <a:spcAft>
                <a:spcPts val="375"/>
              </a:spcAft>
              <a:tabLst>
                <a:tab pos="457200" algn="l"/>
              </a:tabLst>
            </a:pPr>
            <a:r>
              <a:rPr lang="en-IN" sz="3200"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Yathirajan</a:t>
            </a:r>
            <a:r>
              <a:rPr lang="en-IN" sz="3200" b="1" dirty="0">
                <a:latin typeface="Times New Roman" panose="02020603050405020304" pitchFamily="18" charset="0"/>
                <a:ea typeface="Times New Roman" panose="02020603050405020304" pitchFamily="18" charset="0"/>
              </a:rPr>
              <a:t>-</a:t>
            </a:r>
            <a:r>
              <a:rPr lang="en-IN" sz="3200" dirty="0">
                <a:latin typeface="Times New Roman" panose="02020603050405020304" pitchFamily="18" charset="0"/>
                <a:ea typeface="Times New Roman" panose="02020603050405020304" pitchFamily="18" charset="0"/>
              </a:rPr>
              <a:t> a saint, king of saints(sanyasi)</a:t>
            </a:r>
            <a:r>
              <a:rPr lang="ar-SA" sz="3200" dirty="0">
                <a:latin typeface="Times New Roman" panose="02020603050405020304" pitchFamily="18" charset="0"/>
                <a:ea typeface="Times New Roman" panose="02020603050405020304" pitchFamily="18" charset="0"/>
              </a:rPr>
              <a:t>‏</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037777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89" y="560923"/>
            <a:ext cx="11116491" cy="5673348"/>
          </a:xfrm>
          <a:prstGeom prst="rect">
            <a:avLst/>
          </a:prstGeom>
        </p:spPr>
        <p:txBody>
          <a:bodyPr wrap="square">
            <a:spAutoFit/>
          </a:bodyPr>
          <a:lstStyle/>
          <a:p>
            <a:pPr marR="190500" lvl="0" algn="ctr">
              <a:spcAft>
                <a:spcPts val="375"/>
              </a:spcAft>
              <a:tabLst>
                <a:tab pos="457200" algn="l"/>
              </a:tabLst>
            </a:pPr>
            <a:r>
              <a:rPr lang="en-IN" sz="2800" b="1" dirty="0" err="1">
                <a:solidFill>
                  <a:srgbClr val="2B2A2A"/>
                </a:solidFill>
                <a:latin typeface="Times New Roman" panose="02020603050405020304" pitchFamily="18" charset="0"/>
                <a:ea typeface="Times New Roman" panose="02020603050405020304" pitchFamily="18" charset="0"/>
                <a:hlinkClick r:id="rId2" tooltip="slide10"/>
              </a:rPr>
              <a:t>Ramanuja's</a:t>
            </a:r>
            <a:r>
              <a:rPr lang="en-IN" sz="2800" b="1" dirty="0">
                <a:solidFill>
                  <a:srgbClr val="2B2A2A"/>
                </a:solidFill>
                <a:latin typeface="Times New Roman" panose="02020603050405020304" pitchFamily="18" charset="0"/>
                <a:ea typeface="Times New Roman" panose="02020603050405020304" pitchFamily="18" charset="0"/>
                <a:hlinkClick r:id="rId2" tooltip="slide10"/>
              </a:rPr>
              <a:t> Works</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Vedanta </a:t>
            </a:r>
            <a:r>
              <a:rPr lang="en-IN" sz="2800" b="1" dirty="0" err="1">
                <a:latin typeface="Times New Roman" panose="02020603050405020304" pitchFamily="18" charset="0"/>
                <a:ea typeface="Times New Roman" panose="02020603050405020304" pitchFamily="18" charset="0"/>
              </a:rPr>
              <a:t>Sangraha</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 a resume of </a:t>
            </a:r>
            <a:r>
              <a:rPr lang="en-IN" sz="2800" dirty="0" err="1">
                <a:latin typeface="Times New Roman" panose="02020603050405020304" pitchFamily="18" charset="0"/>
                <a:ea typeface="Times New Roman" panose="02020603050405020304" pitchFamily="18" charset="0"/>
              </a:rPr>
              <a:t>vedanta</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Sri </a:t>
            </a:r>
            <a:r>
              <a:rPr lang="en-IN" sz="2800" b="1" dirty="0" err="1">
                <a:latin typeface="Times New Roman" panose="02020603050405020304" pitchFamily="18" charset="0"/>
                <a:ea typeface="Times New Roman" panose="02020603050405020304" pitchFamily="18" charset="0"/>
              </a:rPr>
              <a:t>Bhashyam</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 commentary on Brahma Sutra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Gita </a:t>
            </a:r>
            <a:r>
              <a:rPr lang="en-IN" sz="2800" b="1" dirty="0" err="1">
                <a:latin typeface="Times New Roman" panose="02020603050405020304" pitchFamily="18" charset="0"/>
                <a:ea typeface="Times New Roman" panose="02020603050405020304" pitchFamily="18" charset="0"/>
              </a:rPr>
              <a:t>Bhashyam</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 his commentary on the Bhagavad Gita.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Vendanata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Dipa</a:t>
            </a:r>
            <a:r>
              <a:rPr lang="en-IN" sz="2800" b="1" dirty="0">
                <a:latin typeface="Times New Roman" panose="02020603050405020304" pitchFamily="18" charset="0"/>
                <a:ea typeface="Times New Roman" panose="02020603050405020304" pitchFamily="18" charset="0"/>
              </a:rPr>
              <a:t> - </a:t>
            </a:r>
            <a:r>
              <a:rPr lang="en-IN" sz="2800" dirty="0">
                <a:latin typeface="Times New Roman" panose="02020603050405020304" pitchFamily="18" charset="0"/>
                <a:ea typeface="Times New Roman" panose="02020603050405020304" pitchFamily="18" charset="0"/>
              </a:rPr>
              <a:t>the light of Vedanta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Vedanta Sara </a:t>
            </a:r>
            <a:r>
              <a:rPr lang="en-IN" sz="2800" dirty="0">
                <a:latin typeface="Times New Roman" panose="02020603050405020304" pitchFamily="18" charset="0"/>
                <a:ea typeface="Times New Roman" panose="02020603050405020304" pitchFamily="18" charset="0"/>
              </a:rPr>
              <a:t>- essence of Vedanta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Saranagati</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Gadya</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 an imagined dialogue between </a:t>
            </a:r>
            <a:r>
              <a:rPr lang="en-IN" sz="2800" dirty="0" err="1">
                <a:latin typeface="Times New Roman" panose="02020603050405020304" pitchFamily="18" charset="0"/>
                <a:ea typeface="Times New Roman" panose="02020603050405020304" pitchFamily="18" charset="0"/>
              </a:rPr>
              <a:t>Ramanjua</a:t>
            </a:r>
            <a:r>
              <a:rPr lang="en-IN" sz="2800" dirty="0">
                <a:latin typeface="Times New Roman" panose="02020603050405020304" pitchFamily="18" charset="0"/>
                <a:ea typeface="Times New Roman" panose="02020603050405020304" pitchFamily="18" charset="0"/>
              </a:rPr>
              <a:t> and Sri Lakshmi and Narayana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Sriranga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Gadya</a:t>
            </a:r>
            <a:r>
              <a:rPr lang="en-IN" sz="2800" b="1" dirty="0">
                <a:latin typeface="Times New Roman" panose="02020603050405020304" pitchFamily="18" charset="0"/>
                <a:ea typeface="Times New Roman" panose="02020603050405020304" pitchFamily="18" charset="0"/>
              </a:rPr>
              <a:t> - </a:t>
            </a:r>
            <a:r>
              <a:rPr lang="en-IN" sz="2800" dirty="0">
                <a:latin typeface="Times New Roman" panose="02020603050405020304" pitchFamily="18" charset="0"/>
                <a:ea typeface="Times New Roman" panose="02020603050405020304" pitchFamily="18" charset="0"/>
              </a:rPr>
              <a:t>a prayer of surrender to the feet of </a:t>
            </a:r>
            <a:r>
              <a:rPr lang="en-IN" sz="2800" dirty="0" err="1">
                <a:latin typeface="Times New Roman" panose="02020603050405020304" pitchFamily="18" charset="0"/>
                <a:ea typeface="Times New Roman" panose="02020603050405020304" pitchFamily="18" charset="0"/>
              </a:rPr>
              <a:t>Ranganatha</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Srivaikunta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Gadya</a:t>
            </a:r>
            <a:r>
              <a:rPr lang="en-IN" sz="2800" b="1" dirty="0">
                <a:latin typeface="Times New Roman" panose="02020603050405020304" pitchFamily="18" charset="0"/>
                <a:ea typeface="Times New Roman" panose="02020603050405020304" pitchFamily="18" charset="0"/>
              </a:rPr>
              <a:t> - </a:t>
            </a:r>
            <a:r>
              <a:rPr lang="en-IN" sz="2800" dirty="0">
                <a:latin typeface="Times New Roman" panose="02020603050405020304" pitchFamily="18" charset="0"/>
                <a:ea typeface="Times New Roman" panose="02020603050405020304" pitchFamily="18" charset="0"/>
              </a:rPr>
              <a:t>describes the great detail of </a:t>
            </a:r>
            <a:r>
              <a:rPr lang="en-IN" sz="2800" dirty="0" err="1">
                <a:latin typeface="Times New Roman" panose="02020603050405020304" pitchFamily="18" charset="0"/>
                <a:ea typeface="Times New Roman" panose="02020603050405020304" pitchFamily="18" charset="0"/>
              </a:rPr>
              <a:t>Vaikuntha</a:t>
            </a:r>
            <a:r>
              <a:rPr lang="en-IN" sz="2800" dirty="0">
                <a:latin typeface="Times New Roman" panose="02020603050405020304" pitchFamily="18" charset="0"/>
                <a:ea typeface="Times New Roman" panose="02020603050405020304" pitchFamily="18" charset="0"/>
              </a:rPr>
              <a:t> </a:t>
            </a:r>
          </a:p>
          <a:p>
            <a:pPr marR="190500" lvl="0" algn="just">
              <a:spcAft>
                <a:spcPts val="375"/>
              </a:spcAft>
              <a:tabLst>
                <a:tab pos="457200" algn="l"/>
              </a:tabLst>
            </a:pPr>
            <a:r>
              <a:rPr lang="en-IN" sz="2800"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Nitya</a:t>
            </a:r>
            <a:r>
              <a:rPr lang="en-IN" sz="2800" b="1" dirty="0">
                <a:latin typeface="Times New Roman" panose="02020603050405020304" pitchFamily="18" charset="0"/>
                <a:ea typeface="Times New Roman" panose="02020603050405020304" pitchFamily="18" charset="0"/>
              </a:rPr>
              <a:t> </a:t>
            </a:r>
            <a:r>
              <a:rPr lang="en-IN" sz="2800" b="1" dirty="0" err="1">
                <a:latin typeface="Times New Roman" panose="02020603050405020304" pitchFamily="18" charset="0"/>
                <a:ea typeface="Times New Roman" panose="02020603050405020304" pitchFamily="18" charset="0"/>
              </a:rPr>
              <a:t>Granta</a:t>
            </a:r>
            <a:r>
              <a:rPr lang="en-IN" sz="2800" b="1" dirty="0">
                <a:latin typeface="Times New Roman" panose="02020603050405020304" pitchFamily="18" charset="0"/>
                <a:ea typeface="Times New Roman" panose="02020603050405020304" pitchFamily="18" charset="0"/>
              </a:rPr>
              <a:t> </a:t>
            </a:r>
            <a:r>
              <a:rPr lang="en-IN" sz="2800" dirty="0">
                <a:latin typeface="Times New Roman" panose="02020603050405020304" pitchFamily="18" charset="0"/>
                <a:ea typeface="Times New Roman" panose="02020603050405020304" pitchFamily="18" charset="0"/>
              </a:rPr>
              <a:t>- about the day to day activities to be performed by all Sri </a:t>
            </a:r>
            <a:r>
              <a:rPr lang="en-IN" sz="2800" dirty="0" err="1">
                <a:latin typeface="Times New Roman" panose="02020603050405020304" pitchFamily="18" charset="0"/>
                <a:ea typeface="Times New Roman" panose="02020603050405020304" pitchFamily="18" charset="0"/>
              </a:rPr>
              <a:t>Vaishnavas</a:t>
            </a:r>
            <a:r>
              <a:rPr lang="en-IN" sz="2800" dirty="0">
                <a:latin typeface="Times New Roman" panose="02020603050405020304" pitchFamily="18" charset="0"/>
                <a:ea typeface="Times New Roman" panose="02020603050405020304" pitchFamily="18" charset="0"/>
              </a:rPr>
              <a:t>.</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795455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783157"/>
            <a:ext cx="10868297" cy="4072910"/>
          </a:xfrm>
          <a:prstGeom prst="rect">
            <a:avLst/>
          </a:prstGeom>
        </p:spPr>
        <p:txBody>
          <a:bodyPr wrap="square">
            <a:spAutoFit/>
          </a:bodyPr>
          <a:lstStyle/>
          <a:p>
            <a:pPr marR="190500" lvl="0" algn="ctr">
              <a:spcAft>
                <a:spcPts val="375"/>
              </a:spcAft>
              <a:tabLst>
                <a:tab pos="457200" algn="l"/>
              </a:tabLst>
            </a:pPr>
            <a:r>
              <a:rPr lang="en-IN" sz="3600" b="1" dirty="0" err="1">
                <a:solidFill>
                  <a:srgbClr val="2B2A2A"/>
                </a:solidFill>
                <a:latin typeface="Times New Roman" panose="02020603050405020304" pitchFamily="18" charset="0"/>
                <a:ea typeface="Times New Roman" panose="02020603050405020304" pitchFamily="18" charset="0"/>
                <a:hlinkClick r:id="rId2" tooltip="slide11"/>
              </a:rPr>
              <a:t>Ramanuja's</a:t>
            </a:r>
            <a:r>
              <a:rPr lang="en-IN" sz="3600" b="1" dirty="0">
                <a:solidFill>
                  <a:srgbClr val="2B2A2A"/>
                </a:solidFill>
                <a:latin typeface="Times New Roman" panose="02020603050405020304" pitchFamily="18" charset="0"/>
                <a:ea typeface="Times New Roman" panose="02020603050405020304" pitchFamily="18" charset="0"/>
                <a:hlinkClick r:id="rId2" tooltip="slide11"/>
              </a:rPr>
              <a:t> preserved body</a:t>
            </a:r>
            <a:r>
              <a:rPr lang="en-IN" sz="3600" dirty="0">
                <a:latin typeface="Times New Roman" panose="02020603050405020304" pitchFamily="18" charset="0"/>
                <a:ea typeface="Times New Roman" panose="02020603050405020304" pitchFamily="18" charset="0"/>
              </a:rPr>
              <a:t> </a:t>
            </a:r>
          </a:p>
          <a:p>
            <a:pPr marR="190500" lvl="0" algn="ctr">
              <a:spcAft>
                <a:spcPts val="375"/>
              </a:spcAft>
              <a:tabLst>
                <a:tab pos="457200" algn="l"/>
              </a:tabLst>
            </a:pPr>
            <a:endParaRPr lang="en-IN" sz="3600" dirty="0">
              <a:latin typeface="Times New Roman" panose="02020603050405020304" pitchFamily="18" charset="0"/>
              <a:ea typeface="Times New Roman" panose="02020603050405020304" pitchFamily="18" charset="0"/>
            </a:endParaRPr>
          </a:p>
          <a:p>
            <a:pPr marR="190500" lvl="0" algn="just">
              <a:spcAft>
                <a:spcPts val="375"/>
              </a:spcAft>
              <a:tabLst>
                <a:tab pos="457200" algn="l"/>
              </a:tabLst>
            </a:pPr>
            <a:r>
              <a:rPr lang="en-IN" sz="3600" dirty="0">
                <a:latin typeface="Times New Roman" panose="02020603050405020304" pitchFamily="18" charset="0"/>
                <a:ea typeface="Times New Roman" panose="02020603050405020304" pitchFamily="18" charset="0"/>
              </a:rPr>
              <a:t>• His physical body is preserved even today in a sitting posture in the </a:t>
            </a:r>
            <a:r>
              <a:rPr lang="en-IN" sz="3600" dirty="0" err="1">
                <a:latin typeface="Times New Roman" panose="02020603050405020304" pitchFamily="18" charset="0"/>
                <a:ea typeface="Times New Roman" panose="02020603050405020304" pitchFamily="18" charset="0"/>
              </a:rPr>
              <a:t>Sannidhi</a:t>
            </a:r>
            <a:r>
              <a:rPr lang="en-IN" sz="3600" dirty="0">
                <a:latin typeface="Times New Roman" panose="02020603050405020304" pitchFamily="18" charset="0"/>
                <a:ea typeface="Times New Roman" panose="02020603050405020304" pitchFamily="18" charset="0"/>
              </a:rPr>
              <a:t> (sanctum sanctorum) dedicated to him on the southwest corner on the fifth round within the </a:t>
            </a:r>
            <a:r>
              <a:rPr lang="en-IN" sz="3600" dirty="0" err="1">
                <a:latin typeface="Times New Roman" panose="02020603050405020304" pitchFamily="18" charset="0"/>
                <a:ea typeface="Times New Roman" panose="02020603050405020304" pitchFamily="18" charset="0"/>
              </a:rPr>
              <a:t>Srirangam</a:t>
            </a:r>
            <a:r>
              <a:rPr lang="en-IN" sz="3600" dirty="0">
                <a:latin typeface="Times New Roman" panose="02020603050405020304" pitchFamily="18" charset="0"/>
                <a:ea typeface="Times New Roman" panose="02020603050405020304" pitchFamily="18" charset="0"/>
              </a:rPr>
              <a:t> temple as ordered by Lord </a:t>
            </a:r>
            <a:r>
              <a:rPr lang="en-IN" sz="3600" dirty="0" err="1">
                <a:latin typeface="Times New Roman" panose="02020603050405020304" pitchFamily="18" charset="0"/>
                <a:ea typeface="Times New Roman" panose="02020603050405020304" pitchFamily="18" charset="0"/>
              </a:rPr>
              <a:t>Ranganatha</a:t>
            </a:r>
            <a:r>
              <a:rPr lang="en-IN" sz="3600" dirty="0">
                <a:latin typeface="Times New Roman" panose="02020603050405020304" pitchFamily="18" charset="0"/>
                <a:ea typeface="Times New Roman" panose="02020603050405020304" pitchFamily="18" charset="0"/>
              </a:rPr>
              <a:t> Himself.</a:t>
            </a:r>
            <a:endParaRPr lang="en-IN"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16266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325" y="226935"/>
            <a:ext cx="11207931" cy="6496009"/>
          </a:xfrm>
          <a:prstGeom prst="rect">
            <a:avLst/>
          </a:prstGeom>
        </p:spPr>
        <p:txBody>
          <a:bodyPr wrap="square">
            <a:spAutoFit/>
          </a:bodyPr>
          <a:lstStyle/>
          <a:p>
            <a:pPr algn="ctr">
              <a:lnSpc>
                <a:spcPct val="107000"/>
              </a:lnSpc>
              <a:spcAft>
                <a:spcPts val="800"/>
              </a:spcAft>
            </a:pPr>
            <a:r>
              <a:rPr lang="en-IN" sz="2800" b="1" i="1" u="sng"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b="1" i="1" u="sng" dirty="0">
                <a:latin typeface="Times New Roman" panose="02020603050405020304" pitchFamily="18" charset="0"/>
                <a:ea typeface="Calibri" panose="020F0502020204030204" pitchFamily="34" charset="0"/>
                <a:cs typeface="Times New Roman" panose="02020603050405020304" pitchFamily="18" charset="0"/>
              </a:rPr>
              <a:t> and </a:t>
            </a:r>
            <a:r>
              <a:rPr lang="en-IN" sz="2800" b="1" i="1" u="sng"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b="1" i="1" u="sng" dirty="0">
                <a:latin typeface="Times New Roman" panose="02020603050405020304" pitchFamily="18" charset="0"/>
                <a:ea typeface="Calibri" panose="020F0502020204030204" pitchFamily="34" charset="0"/>
                <a:cs typeface="Times New Roman" panose="02020603050405020304" pitchFamily="18" charset="0"/>
              </a:rPr>
              <a:t> Bhakti</a:t>
            </a:r>
          </a:p>
          <a:p>
            <a:pPr algn="just">
              <a:lnSpc>
                <a:spcPct val="107000"/>
              </a:lnSpc>
              <a:spcAft>
                <a:spcPts val="800"/>
              </a:spcAft>
            </a:pP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and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are two important strands of </a:t>
            </a:r>
            <a:r>
              <a:rPr lang="en-IN" sz="2800" dirty="0" err="1">
                <a:latin typeface="Times New Roman" panose="02020603050405020304" pitchFamily="18" charset="0"/>
                <a:ea typeface="Calibri" panose="020F0502020204030204" pitchFamily="34" charset="0"/>
                <a:cs typeface="Times New Roman" panose="02020603050405020304" pitchFamily="18" charset="0"/>
              </a:rPr>
              <a:t>devotionalism</a:t>
            </a:r>
            <a:r>
              <a:rPr lang="en-IN" sz="2800" dirty="0">
                <a:latin typeface="Times New Roman" panose="02020603050405020304" pitchFamily="18" charset="0"/>
                <a:ea typeface="Calibri" panose="020F0502020204030204" pitchFamily="34" charset="0"/>
                <a:cs typeface="Times New Roman" panose="02020603050405020304" pitchFamily="18" charset="0"/>
              </a:rPr>
              <a:t> in India, particularly within Hinduism.</a:t>
            </a:r>
          </a:p>
          <a:p>
            <a:pPr algn="just">
              <a:lnSpc>
                <a:spcPct val="107000"/>
              </a:lnSpc>
              <a:spcAft>
                <a:spcPts val="800"/>
              </a:spcAft>
            </a:pPr>
            <a:r>
              <a:rPr lang="en-IN" sz="2800" b="1"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b="1" dirty="0">
                <a:latin typeface="Times New Roman" panose="02020603050405020304" pitchFamily="18" charset="0"/>
                <a:ea typeface="Calibri" panose="020F0502020204030204" pitchFamily="34" charset="0"/>
                <a:cs typeface="Times New Roman" panose="02020603050405020304" pitchFamily="18" charset="0"/>
              </a:rPr>
              <a:t> Bhakti</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refers to devotion directed toward a personal, manifest form of the divine. This includes worship of deities with specific attributes and forms, such as Vishnu, Shiva, or Devi. The key aspects include:</a:t>
            </a:r>
          </a:p>
          <a:p>
            <a:pPr marL="342900" lvl="0" indent="-342900" algn="just">
              <a:lnSpc>
                <a:spcPct val="107000"/>
              </a:lnSpc>
              <a:spcAft>
                <a:spcPts val="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Personal Connection:</a:t>
            </a:r>
            <a:r>
              <a:rPr lang="en-IN" sz="2800" dirty="0">
                <a:latin typeface="Times New Roman" panose="02020603050405020304" pitchFamily="18" charset="0"/>
                <a:ea typeface="Calibri" panose="020F0502020204030204" pitchFamily="34" charset="0"/>
                <a:cs typeface="Times New Roman" panose="02020603050405020304" pitchFamily="18" charset="0"/>
              </a:rPr>
              <a:t> Devotees often seek a personal relationship with God through prayer, rituals, and offerings.</a:t>
            </a:r>
          </a:p>
          <a:p>
            <a:pPr marL="342900" lvl="0" indent="-342900" algn="just">
              <a:lnSpc>
                <a:spcPct val="107000"/>
              </a:lnSpc>
              <a:spcAft>
                <a:spcPts val="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Temples and Icons:</a:t>
            </a:r>
            <a:r>
              <a:rPr lang="en-IN" sz="2800" dirty="0">
                <a:latin typeface="Times New Roman" panose="02020603050405020304" pitchFamily="18" charset="0"/>
                <a:ea typeface="Calibri" panose="020F0502020204030204" pitchFamily="34" charset="0"/>
                <a:cs typeface="Times New Roman" panose="02020603050405020304" pitchFamily="18" charset="0"/>
              </a:rPr>
              <a:t> </a:t>
            </a: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is often expressed in temples and through the worship of idols and images.</a:t>
            </a:r>
          </a:p>
          <a:p>
            <a:pPr marL="342900" lvl="0" indent="-342900" algn="just">
              <a:lnSpc>
                <a:spcPct val="107000"/>
              </a:lnSpc>
              <a:spcAft>
                <a:spcPts val="80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Prominent Saints:</a:t>
            </a:r>
            <a:r>
              <a:rPr lang="en-IN" sz="2800" dirty="0">
                <a:latin typeface="Times New Roman" panose="02020603050405020304" pitchFamily="18" charset="0"/>
                <a:ea typeface="Calibri" panose="020F0502020204030204" pitchFamily="34" charset="0"/>
                <a:cs typeface="Times New Roman" panose="02020603050405020304" pitchFamily="18" charset="0"/>
              </a:rPr>
              <a:t> Saints like </a:t>
            </a:r>
            <a:r>
              <a:rPr lang="en-IN" sz="2800" dirty="0" err="1">
                <a:latin typeface="Times New Roman" panose="02020603050405020304" pitchFamily="18" charset="0"/>
                <a:ea typeface="Calibri" panose="020F0502020204030204" pitchFamily="34" charset="0"/>
                <a:cs typeface="Times New Roman" panose="02020603050405020304" pitchFamily="18" charset="0"/>
              </a:rPr>
              <a:t>Ramanuja</a:t>
            </a:r>
            <a:r>
              <a:rPr lang="en-IN" sz="2800" dirty="0">
                <a:latin typeface="Times New Roman" panose="02020603050405020304" pitchFamily="18" charset="0"/>
                <a:ea typeface="Calibri" panose="020F0502020204030204" pitchFamily="34" charset="0"/>
                <a:cs typeface="Times New Roman" panose="02020603050405020304" pitchFamily="18" charset="0"/>
              </a:rPr>
              <a:t> and </a:t>
            </a:r>
            <a:r>
              <a:rPr lang="en-IN" sz="2800" dirty="0" err="1">
                <a:latin typeface="Times New Roman" panose="02020603050405020304" pitchFamily="18" charset="0"/>
                <a:ea typeface="Calibri" panose="020F0502020204030204" pitchFamily="34" charset="0"/>
                <a:cs typeface="Times New Roman" panose="02020603050405020304" pitchFamily="18" charset="0"/>
              </a:rPr>
              <a:t>Meera</a:t>
            </a:r>
            <a:r>
              <a:rPr lang="en-IN" sz="2800" dirty="0">
                <a:latin typeface="Times New Roman" panose="02020603050405020304" pitchFamily="18" charset="0"/>
                <a:ea typeface="Calibri" panose="020F0502020204030204" pitchFamily="34" charset="0"/>
                <a:cs typeface="Times New Roman" panose="02020603050405020304" pitchFamily="18" charset="0"/>
              </a:rPr>
              <a:t> Bai exemplify </a:t>
            </a: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emphasizing love and devotion to a personal God.</a:t>
            </a:r>
          </a:p>
        </p:txBody>
      </p:sp>
    </p:spTree>
    <p:extLst>
      <p:ext uri="{BB962C8B-B14F-4D97-AF65-F5344CB8AC3E}">
        <p14:creationId xmlns:p14="http://schemas.microsoft.com/office/powerpoint/2010/main" val="20231952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570106"/>
            <a:ext cx="10972800" cy="5471370"/>
          </a:xfrm>
          <a:prstGeom prst="rect">
            <a:avLst/>
          </a:prstGeom>
        </p:spPr>
        <p:txBody>
          <a:bodyPr wrap="square">
            <a:spAutoFit/>
          </a:bodyPr>
          <a:lstStyle/>
          <a:p>
            <a:pPr algn="just">
              <a:lnSpc>
                <a:spcPct val="107000"/>
              </a:lnSpc>
              <a:spcAft>
                <a:spcPts val="800"/>
              </a:spcAft>
            </a:pPr>
            <a:r>
              <a:rPr lang="en-IN" sz="2800" b="1"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b="1" dirty="0">
                <a:latin typeface="Times New Roman" panose="02020603050405020304" pitchFamily="18" charset="0"/>
                <a:ea typeface="Calibri" panose="020F0502020204030204" pitchFamily="34" charset="0"/>
                <a:cs typeface="Times New Roman" panose="02020603050405020304" pitchFamily="18" charset="0"/>
              </a:rPr>
              <a:t> Bhakti</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on the other hand, emphasizes the formless and transcendent aspect of the divine. It focuses on the idea of a universal, impersonal God who is beyond attributes and form. </a:t>
            </a: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Times New Roman" panose="02020603050405020304" pitchFamily="18" charset="0"/>
              </a:rPr>
              <a:t>Key features include:</a:t>
            </a:r>
          </a:p>
          <a:p>
            <a:pPr marL="342900" lvl="0" indent="-342900" algn="just">
              <a:lnSpc>
                <a:spcPct val="107000"/>
              </a:lnSpc>
              <a:spcAft>
                <a:spcPts val="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Universal Spirit:</a:t>
            </a:r>
            <a:r>
              <a:rPr lang="en-IN" sz="2800" dirty="0">
                <a:latin typeface="Times New Roman" panose="02020603050405020304" pitchFamily="18" charset="0"/>
                <a:ea typeface="Calibri" panose="020F0502020204030204" pitchFamily="34" charset="0"/>
                <a:cs typeface="Times New Roman" panose="02020603050405020304" pitchFamily="18" charset="0"/>
              </a:rPr>
              <a:t> Devotees seek connection with the divine essence rather than a specific deity.</a:t>
            </a:r>
          </a:p>
          <a:p>
            <a:pPr marL="342900" lvl="0" indent="-342900" algn="just">
              <a:lnSpc>
                <a:spcPct val="107000"/>
              </a:lnSpc>
              <a:spcAft>
                <a:spcPts val="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Philosophical Depth:</a:t>
            </a:r>
            <a:r>
              <a:rPr lang="en-IN" sz="2800" dirty="0">
                <a:latin typeface="Times New Roman" panose="02020603050405020304" pitchFamily="18" charset="0"/>
                <a:ea typeface="Calibri" panose="020F0502020204030204" pitchFamily="34" charset="0"/>
                <a:cs typeface="Times New Roman" panose="02020603050405020304" pitchFamily="18" charset="0"/>
              </a:rPr>
              <a:t>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often aligns with philosophical traditions like </a:t>
            </a:r>
            <a:r>
              <a:rPr lang="en-IN" sz="2800" dirty="0" err="1">
                <a:latin typeface="Times New Roman" panose="02020603050405020304" pitchFamily="18" charset="0"/>
                <a:ea typeface="Calibri" panose="020F0502020204030204" pitchFamily="34" charset="0"/>
                <a:cs typeface="Times New Roman" panose="02020603050405020304" pitchFamily="18" charset="0"/>
              </a:rPr>
              <a:t>Advaita</a:t>
            </a:r>
            <a:r>
              <a:rPr lang="en-IN" sz="2800" dirty="0">
                <a:latin typeface="Times New Roman" panose="02020603050405020304" pitchFamily="18" charset="0"/>
                <a:ea typeface="Calibri" panose="020F0502020204030204" pitchFamily="34" charset="0"/>
                <a:cs typeface="Times New Roman" panose="02020603050405020304" pitchFamily="18" charset="0"/>
              </a:rPr>
              <a:t> Vedanta, which emphasizes unity and non-duality.</a:t>
            </a:r>
          </a:p>
          <a:p>
            <a:pPr marL="342900" lvl="0" indent="-342900" algn="just">
              <a:lnSpc>
                <a:spcPct val="107000"/>
              </a:lnSpc>
              <a:spcAft>
                <a:spcPts val="800"/>
              </a:spcAft>
              <a:buFont typeface="Symbol" panose="05050102010706020507" pitchFamily="18" charset="2"/>
              <a:buChar char=""/>
            </a:pPr>
            <a:r>
              <a:rPr lang="en-IN" sz="2800" b="1" dirty="0">
                <a:latin typeface="Times New Roman" panose="02020603050405020304" pitchFamily="18" charset="0"/>
                <a:ea typeface="Calibri" panose="020F0502020204030204" pitchFamily="34" charset="0"/>
                <a:cs typeface="Times New Roman" panose="02020603050405020304" pitchFamily="18" charset="0"/>
              </a:rPr>
              <a:t>Prominent Saints:</a:t>
            </a:r>
            <a:r>
              <a:rPr lang="en-IN" sz="2800" dirty="0">
                <a:latin typeface="Times New Roman" panose="02020603050405020304" pitchFamily="18" charset="0"/>
                <a:ea typeface="Calibri" panose="020F0502020204030204" pitchFamily="34" charset="0"/>
                <a:cs typeface="Times New Roman" panose="02020603050405020304" pitchFamily="18" charset="0"/>
              </a:rPr>
              <a:t> Saints such as </a:t>
            </a:r>
            <a:r>
              <a:rPr lang="en-IN" sz="2800" dirty="0" err="1">
                <a:latin typeface="Times New Roman" panose="02020603050405020304" pitchFamily="18" charset="0"/>
                <a:ea typeface="Calibri" panose="020F0502020204030204" pitchFamily="34" charset="0"/>
                <a:cs typeface="Times New Roman" panose="02020603050405020304" pitchFamily="18" charset="0"/>
              </a:rPr>
              <a:t>Kabir</a:t>
            </a:r>
            <a:r>
              <a:rPr lang="en-IN" sz="2800" dirty="0">
                <a:latin typeface="Times New Roman" panose="02020603050405020304" pitchFamily="18" charset="0"/>
                <a:ea typeface="Calibri" panose="020F0502020204030204" pitchFamily="34" charset="0"/>
                <a:cs typeface="Times New Roman" panose="02020603050405020304" pitchFamily="18" charset="0"/>
              </a:rPr>
              <a:t> and Guru Nanak exemplify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often focusing on inner experience and ethical living.</a:t>
            </a:r>
          </a:p>
        </p:txBody>
      </p:sp>
    </p:spTree>
    <p:extLst>
      <p:ext uri="{BB962C8B-B14F-4D97-AF65-F5344CB8AC3E}">
        <p14:creationId xmlns:p14="http://schemas.microsoft.com/office/powerpoint/2010/main" val="37790107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9451" y="340970"/>
            <a:ext cx="11168743" cy="4979248"/>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Times New Roman" panose="02020603050405020304" pitchFamily="18" charset="0"/>
              </a:rPr>
              <a:t>Differences and Interconnections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While </a:t>
            </a: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is about a personal relationship with a deity,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seeks the divine in a more abstract, universal sense. However, these paths are not mutually exclusive; many devotees may engage in both practices, recognizing the personal and impersonal aspects of the divine.</a:t>
            </a:r>
          </a:p>
          <a:p>
            <a:pPr marL="342900" indent="-342900" algn="just">
              <a:lnSpc>
                <a:spcPct val="107000"/>
              </a:lnSpc>
              <a:spcAft>
                <a:spcPts val="800"/>
              </a:spcAft>
              <a:buFont typeface="Arial" panose="020B0604020202020204" pitchFamily="34" charset="0"/>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Both forms have enriched Indian spirituality, fostering a culture of love, devotion, and philosophical inquiry. They continue to influence contemporary spiritual movements and practices.</a:t>
            </a:r>
          </a:p>
          <a:p>
            <a:pPr marL="342900" indent="-342900" algn="just">
              <a:lnSpc>
                <a:spcPct val="107000"/>
              </a:lnSpc>
              <a:spcAft>
                <a:spcPts val="800"/>
              </a:spcAft>
              <a:buFont typeface="Arial" panose="020B0604020202020204" pitchFamily="34" charset="0"/>
              <a:buChar char="•"/>
            </a:pPr>
            <a:r>
              <a:rPr lang="en-IN" sz="2800" dirty="0">
                <a:latin typeface="Times New Roman" panose="02020603050405020304" pitchFamily="18" charset="0"/>
                <a:ea typeface="Calibri" panose="020F0502020204030204" pitchFamily="34" charset="0"/>
                <a:cs typeface="Times New Roman" panose="02020603050405020304" pitchFamily="18" charset="0"/>
              </a:rPr>
              <a:t>In India, several saints are closely associated with </a:t>
            </a:r>
            <a:r>
              <a:rPr lang="en-IN" sz="2800"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dirty="0">
                <a:latin typeface="Times New Roman" panose="02020603050405020304" pitchFamily="18" charset="0"/>
                <a:ea typeface="Calibri" panose="020F0502020204030204" pitchFamily="34" charset="0"/>
                <a:cs typeface="Times New Roman" panose="02020603050405020304" pitchFamily="18" charset="0"/>
              </a:rPr>
              <a:t> and </a:t>
            </a:r>
            <a:r>
              <a:rPr lang="en-IN" sz="2800"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800" dirty="0">
                <a:latin typeface="Times New Roman" panose="02020603050405020304" pitchFamily="18" charset="0"/>
                <a:ea typeface="Calibri" panose="020F0502020204030204" pitchFamily="34" charset="0"/>
                <a:cs typeface="Times New Roman" panose="02020603050405020304" pitchFamily="18" charset="0"/>
              </a:rPr>
              <a:t> Bhakti. Here are some prominent figures from each tradition:</a:t>
            </a:r>
          </a:p>
        </p:txBody>
      </p:sp>
    </p:spTree>
    <p:extLst>
      <p:ext uri="{BB962C8B-B14F-4D97-AF65-F5344CB8AC3E}">
        <p14:creationId xmlns:p14="http://schemas.microsoft.com/office/powerpoint/2010/main" val="39044524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0263" y="324801"/>
            <a:ext cx="11299371" cy="6486135"/>
          </a:xfrm>
          <a:prstGeom prst="rect">
            <a:avLst/>
          </a:prstGeom>
        </p:spPr>
        <p:txBody>
          <a:bodyPr wrap="square">
            <a:spAutoFit/>
          </a:bodyPr>
          <a:lstStyle/>
          <a:p>
            <a:pPr algn="ctr">
              <a:lnSpc>
                <a:spcPct val="107000"/>
              </a:lnSpc>
              <a:spcAft>
                <a:spcPts val="800"/>
              </a:spcAft>
            </a:pPr>
            <a:r>
              <a:rPr lang="en-IN" sz="2800" b="1" dirty="0" err="1">
                <a:latin typeface="Times New Roman" panose="02020603050405020304" pitchFamily="18" charset="0"/>
                <a:ea typeface="Calibri" panose="020F0502020204030204" pitchFamily="34" charset="0"/>
                <a:cs typeface="Times New Roman" panose="02020603050405020304" pitchFamily="18" charset="0"/>
              </a:rPr>
              <a:t>Sagun</a:t>
            </a:r>
            <a:r>
              <a:rPr lang="en-IN" sz="2800" b="1" dirty="0">
                <a:latin typeface="Times New Roman" panose="02020603050405020304" pitchFamily="18" charset="0"/>
                <a:ea typeface="Calibri" panose="020F0502020204030204" pitchFamily="34" charset="0"/>
                <a:cs typeface="Times New Roman" panose="02020603050405020304" pitchFamily="18" charset="0"/>
              </a:rPr>
              <a:t> Bhakti Saints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1.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Meera</a:t>
            </a:r>
            <a:r>
              <a:rPr lang="en-IN" sz="2000" b="1" dirty="0">
                <a:latin typeface="Times New Roman" panose="02020603050405020304" pitchFamily="18" charset="0"/>
                <a:ea typeface="Calibri" panose="020F0502020204030204" pitchFamily="34" charset="0"/>
                <a:cs typeface="Times New Roman" panose="02020603050405020304" pitchFamily="18" charset="0"/>
              </a:rPr>
              <a:t> Bai:</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16th-century Rajput princess and devoted follower of Lord Krishna. Known for her passionate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bhajans</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Meera’s</a:t>
            </a:r>
            <a:r>
              <a:rPr lang="en-IN" sz="2000" dirty="0">
                <a:latin typeface="Times New Roman" panose="02020603050405020304" pitchFamily="18" charset="0"/>
                <a:ea typeface="Calibri" panose="020F0502020204030204" pitchFamily="34" charset="0"/>
                <a:cs typeface="Times New Roman" panose="02020603050405020304" pitchFamily="18" charset="0"/>
              </a:rPr>
              <a:t> poetry expresses deep love and longing for the divine.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2.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Tulsidas</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revered poet-saint who authored the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Ramcharitmanas</a:t>
            </a:r>
            <a:r>
              <a:rPr lang="en-IN" sz="2000" dirty="0">
                <a:latin typeface="Times New Roman" panose="02020603050405020304" pitchFamily="18" charset="0"/>
                <a:ea typeface="Calibri" panose="020F0502020204030204" pitchFamily="34" charset="0"/>
                <a:cs typeface="Times New Roman" panose="02020603050405020304" pitchFamily="18" charset="0"/>
              </a:rPr>
              <a:t>," a retelling of the Ramayana in Hindi. His works emphasize devotion to Lord Rama and are foundational in Hindu devotional literature.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3. Chaitanya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Mahaprabhu</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key figure in </a:t>
            </a:r>
            <a:r>
              <a:rPr lang="en-IN" sz="2000" dirty="0" err="1">
                <a:latin typeface="Times New Roman" panose="02020603050405020304" pitchFamily="18" charset="0"/>
                <a:ea typeface="Calibri" panose="020F0502020204030204" pitchFamily="34" charset="0"/>
                <a:cs typeface="Times New Roman" panose="02020603050405020304" pitchFamily="18" charset="0"/>
              </a:rPr>
              <a:t>Gaudiya</a:t>
            </a:r>
            <a:r>
              <a:rPr lang="en-IN" sz="2000" dirty="0">
                <a:latin typeface="Times New Roman" panose="02020603050405020304" pitchFamily="18" charset="0"/>
                <a:ea typeface="Calibri" panose="020F0502020204030204" pitchFamily="34" charset="0"/>
                <a:cs typeface="Times New Roman" panose="02020603050405020304" pitchFamily="18" charset="0"/>
              </a:rPr>
              <a:t> Vaishnavism, Chaitanya advocated for devotion to Krishna and popularized congregational chanting (</a:t>
            </a:r>
            <a:r>
              <a:rPr lang="en-IN" sz="2000" dirty="0" err="1">
                <a:latin typeface="Times New Roman" panose="02020603050405020304" pitchFamily="18" charset="0"/>
                <a:ea typeface="Calibri" panose="020F0502020204030204" pitchFamily="34" charset="0"/>
                <a:cs typeface="Times New Roman" panose="02020603050405020304" pitchFamily="18" charset="0"/>
              </a:rPr>
              <a:t>sankirtan</a:t>
            </a:r>
            <a:r>
              <a:rPr lang="en-IN" sz="2000" dirty="0">
                <a:latin typeface="Times New Roman" panose="02020603050405020304" pitchFamily="18" charset="0"/>
                <a:ea typeface="Calibri" panose="020F0502020204030204" pitchFamily="34" charset="0"/>
                <a:cs typeface="Times New Roman" panose="02020603050405020304" pitchFamily="18" charset="0"/>
              </a:rPr>
              <a:t>) as a means to attain divine love.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4. Ramakrishna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Paramahamsa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19th-century mystic who emphasized the worship of the Divine Mother Kali. He taught that all religions lead to the same truth and advocated for personal spiritual experience.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5.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Narsi</a:t>
            </a:r>
            <a:r>
              <a:rPr lang="en-IN" sz="2000" b="1" dirty="0">
                <a:latin typeface="Times New Roman" panose="02020603050405020304" pitchFamily="18" charset="0"/>
                <a:ea typeface="Calibri" panose="020F0502020204030204" pitchFamily="34" charset="0"/>
                <a:cs typeface="Times New Roman" panose="02020603050405020304" pitchFamily="18" charset="0"/>
              </a:rPr>
              <a:t> Mehta:</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15th-century Gujarati saint known for his devotional so</a:t>
            </a:r>
            <a:r>
              <a:rPr lang="en-IN" dirty="0">
                <a:latin typeface="Times New Roman" panose="02020603050405020304" pitchFamily="18" charset="0"/>
                <a:ea typeface="Calibri" panose="020F0502020204030204" pitchFamily="34" charset="0"/>
                <a:cs typeface="Times New Roman" panose="02020603050405020304" pitchFamily="18" charset="0"/>
              </a:rPr>
              <a:t>ngs dedicated to Lord Krishna. His poetry expresses profound love and devotion, influencing Gujarati literature. </a:t>
            </a:r>
          </a:p>
        </p:txBody>
      </p:sp>
    </p:spTree>
    <p:extLst>
      <p:ext uri="{BB962C8B-B14F-4D97-AF65-F5344CB8AC3E}">
        <p14:creationId xmlns:p14="http://schemas.microsoft.com/office/powerpoint/2010/main" val="13897553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518833"/>
            <a:ext cx="11273246" cy="5955476"/>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6.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Surdas</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poet-saint associated with the Bhakti movement,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Surdas</a:t>
            </a:r>
            <a:r>
              <a:rPr lang="en-IN" sz="2000" dirty="0">
                <a:latin typeface="Times New Roman" panose="02020603050405020304" pitchFamily="18" charset="0"/>
                <a:ea typeface="Calibri" panose="020F0502020204030204" pitchFamily="34" charset="0"/>
                <a:cs typeface="Times New Roman" panose="02020603050405020304" pitchFamily="18" charset="0"/>
              </a:rPr>
              <a:t> is known for his devotional songs focused on the childhood exploits of Krishna, reflecting his deep emotional connection to the deity.</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7.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Annamacharya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15th-century saint and musician who composed numerous devotional songs in praise of Lord </a:t>
            </a:r>
            <a:r>
              <a:rPr lang="en-IN" sz="2000" dirty="0" err="1">
                <a:latin typeface="Times New Roman" panose="02020603050405020304" pitchFamily="18" charset="0"/>
                <a:ea typeface="Calibri" panose="020F0502020204030204" pitchFamily="34" charset="0"/>
                <a:cs typeface="Times New Roman" panose="02020603050405020304" pitchFamily="18" charset="0"/>
              </a:rPr>
              <a:t>Venkateswara</a:t>
            </a:r>
            <a:r>
              <a:rPr lang="en-IN" sz="2000" dirty="0">
                <a:latin typeface="Times New Roman" panose="02020603050405020304" pitchFamily="18" charset="0"/>
                <a:ea typeface="Calibri" panose="020F0502020204030204" pitchFamily="34" charset="0"/>
                <a:cs typeface="Times New Roman" panose="02020603050405020304" pitchFamily="18" charset="0"/>
              </a:rPr>
              <a:t>. His compositions are integral to the musical heritage of South India.</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8. Raja Rao:</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poet-saint known for his devotion to the divine feminine. His works explore themes of love and spirituality, celebrating the personal aspects of the divine.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9.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Bhaktivinoda</a:t>
            </a:r>
            <a:r>
              <a:rPr lang="en-IN" sz="2000" b="1" dirty="0">
                <a:latin typeface="Times New Roman" panose="02020603050405020304" pitchFamily="18" charset="0"/>
                <a:ea typeface="Calibri" panose="020F0502020204030204" pitchFamily="34" charset="0"/>
                <a:cs typeface="Times New Roman" panose="02020603050405020304" pitchFamily="18" charset="0"/>
              </a:rPr>
              <a:t> Thakur:</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19th-century philosopher and saint who played a crucial role in the revival of </a:t>
            </a:r>
            <a:r>
              <a:rPr lang="en-IN" sz="2000" dirty="0" err="1">
                <a:latin typeface="Times New Roman" panose="02020603050405020304" pitchFamily="18" charset="0"/>
                <a:ea typeface="Calibri" panose="020F0502020204030204" pitchFamily="34" charset="0"/>
                <a:cs typeface="Times New Roman" panose="02020603050405020304" pitchFamily="18" charset="0"/>
              </a:rPr>
              <a:t>Gaudiya</a:t>
            </a:r>
            <a:r>
              <a:rPr lang="en-IN" sz="2000" dirty="0">
                <a:latin typeface="Times New Roman" panose="02020603050405020304" pitchFamily="18" charset="0"/>
                <a:ea typeface="Calibri" panose="020F0502020204030204" pitchFamily="34" charset="0"/>
                <a:cs typeface="Times New Roman" panose="02020603050405020304" pitchFamily="18" charset="0"/>
              </a:rPr>
              <a:t> Vaishnavism. He emphasized the importance of devotional practice and wrote extensively on spirituality.</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10.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Bhanudatta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poet-saint from Maharashtra known for his devotional songs dedicated to Lord Krishna. His works reflect the depth of his devotion and contribute to the Bhakti tradition.</a:t>
            </a:r>
          </a:p>
        </p:txBody>
      </p:sp>
    </p:spTree>
    <p:extLst>
      <p:ext uri="{BB962C8B-B14F-4D97-AF65-F5344CB8AC3E}">
        <p14:creationId xmlns:p14="http://schemas.microsoft.com/office/powerpoint/2010/main" val="30577982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017" y="384671"/>
            <a:ext cx="10985863" cy="6387390"/>
          </a:xfrm>
          <a:prstGeom prst="rect">
            <a:avLst/>
          </a:prstGeom>
        </p:spPr>
        <p:txBody>
          <a:bodyPr wrap="square">
            <a:spAutoFit/>
          </a:bodyPr>
          <a:lstStyle/>
          <a:p>
            <a:pPr algn="ctr">
              <a:lnSpc>
                <a:spcPct val="107000"/>
              </a:lnSpc>
              <a:spcAft>
                <a:spcPts val="800"/>
              </a:spcAft>
            </a:pPr>
            <a:r>
              <a:rPr lang="en-IN" sz="2000" b="1" dirty="0" err="1">
                <a:latin typeface="Times New Roman" panose="02020603050405020304" pitchFamily="18" charset="0"/>
                <a:ea typeface="Calibri" panose="020F0502020204030204" pitchFamily="34" charset="0"/>
                <a:cs typeface="Times New Roman" panose="02020603050405020304" pitchFamily="18" charset="0"/>
              </a:rPr>
              <a:t>Nirgun</a:t>
            </a:r>
            <a:r>
              <a:rPr lang="en-IN" sz="2000" b="1" dirty="0">
                <a:latin typeface="Times New Roman" panose="02020603050405020304" pitchFamily="18" charset="0"/>
                <a:ea typeface="Calibri" panose="020F0502020204030204" pitchFamily="34" charset="0"/>
                <a:cs typeface="Times New Roman" panose="02020603050405020304" pitchFamily="18" charset="0"/>
              </a:rPr>
              <a:t> Bhakti Saints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1.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Kabir</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15th-century poet-saint whose verses emphasize a formless God and advocate for personal spirituality over ritual. </a:t>
            </a:r>
            <a:r>
              <a:rPr lang="en-IN" sz="2000" dirty="0" err="1">
                <a:latin typeface="Times New Roman" panose="02020603050405020304" pitchFamily="18" charset="0"/>
                <a:ea typeface="Calibri" panose="020F0502020204030204" pitchFamily="34" charset="0"/>
                <a:cs typeface="Times New Roman" panose="02020603050405020304" pitchFamily="18" charset="0"/>
              </a:rPr>
              <a:t>Kabir’s</a:t>
            </a:r>
            <a:r>
              <a:rPr lang="en-IN" sz="2000" dirty="0">
                <a:latin typeface="Times New Roman" panose="02020603050405020304" pitchFamily="18" charset="0"/>
                <a:ea typeface="Calibri" panose="020F0502020204030204" pitchFamily="34" charset="0"/>
                <a:cs typeface="Times New Roman" panose="02020603050405020304" pitchFamily="18" charset="0"/>
              </a:rPr>
              <a:t> teachings often critique religious orthodoxy and promote unity.</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2. Guru Nanak:</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The founder of Sikhism, Guru Nanak emphasized the oneness of God and the importance of equality among all people. His teachings highlight a direct relationship with the formless divine.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3.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Ravidas</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contemporary of </a:t>
            </a:r>
            <a:r>
              <a:rPr lang="en-IN" sz="2000" dirty="0" err="1">
                <a:latin typeface="Times New Roman" panose="02020603050405020304" pitchFamily="18" charset="0"/>
                <a:ea typeface="Calibri" panose="020F0502020204030204" pitchFamily="34" charset="0"/>
                <a:cs typeface="Times New Roman" panose="02020603050405020304" pitchFamily="18" charset="0"/>
              </a:rPr>
              <a:t>Kabir</a:t>
            </a:r>
            <a:r>
              <a:rPr lang="en-IN" sz="2000" dirty="0">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a:latin typeface="Times New Roman" panose="02020603050405020304" pitchFamily="18" charset="0"/>
                <a:ea typeface="Calibri" panose="020F0502020204030204" pitchFamily="34" charset="0"/>
                <a:cs typeface="Times New Roman" panose="02020603050405020304" pitchFamily="18" charset="0"/>
              </a:rPr>
              <a:t>Ravidas</a:t>
            </a:r>
            <a:r>
              <a:rPr lang="en-IN" sz="2000" dirty="0">
                <a:latin typeface="Times New Roman" panose="02020603050405020304" pitchFamily="18" charset="0"/>
                <a:ea typeface="Calibri" panose="020F0502020204030204" pitchFamily="34" charset="0"/>
                <a:cs typeface="Times New Roman" panose="02020603050405020304" pitchFamily="18" charset="0"/>
              </a:rPr>
              <a:t> is known for his devotional hymns that emphasize inner purity, social equality, and a personal connection with the formless God.</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4.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Dnyaneshwar</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13th-century saint from Maharashtra, known for his commentary on the Bhagavad Gita ("Dnyaneshwari"). His teachings focus on the formless nature of God and the pursuit of self-realization.</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5.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Namdev</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saint whose hymns are important in both Hindu and Sikh traditions. He emphasized devotion to the formless God and is known for his contributions to the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Varkari</a:t>
            </a:r>
            <a:r>
              <a:rPr lang="en-IN" sz="2000" dirty="0">
                <a:latin typeface="Times New Roman" panose="02020603050405020304" pitchFamily="18" charset="0"/>
                <a:ea typeface="Calibri" panose="020F0502020204030204" pitchFamily="34" charset="0"/>
                <a:cs typeface="Times New Roman" panose="02020603050405020304" pitchFamily="18" charset="0"/>
              </a:rPr>
              <a:t> sect.</a:t>
            </a:r>
          </a:p>
        </p:txBody>
      </p:sp>
    </p:spTree>
    <p:extLst>
      <p:ext uri="{BB962C8B-B14F-4D97-AF65-F5344CB8AC3E}">
        <p14:creationId xmlns:p14="http://schemas.microsoft.com/office/powerpoint/2010/main" val="25170343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39" y="258532"/>
            <a:ext cx="11299371" cy="5933227"/>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6.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Tukaram</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17th-century poet-saint known for his </a:t>
            </a:r>
            <a:r>
              <a:rPr lang="en-IN" sz="2000" dirty="0" err="1">
                <a:latin typeface="Times New Roman" panose="02020603050405020304" pitchFamily="18" charset="0"/>
                <a:ea typeface="Calibri" panose="020F0502020204030204" pitchFamily="34" charset="0"/>
                <a:cs typeface="Times New Roman" panose="02020603050405020304" pitchFamily="18" charset="0"/>
              </a:rPr>
              <a:t>Abhanga</a:t>
            </a:r>
            <a:r>
              <a:rPr lang="en-IN" sz="2000" dirty="0">
                <a:latin typeface="Times New Roman" panose="02020603050405020304" pitchFamily="18" charset="0"/>
                <a:ea typeface="Calibri" panose="020F0502020204030204" pitchFamily="34" charset="0"/>
                <a:cs typeface="Times New Roman" panose="02020603050405020304" pitchFamily="18" charset="0"/>
              </a:rPr>
              <a:t> devotional songs. </a:t>
            </a:r>
            <a:r>
              <a:rPr lang="en-IN" sz="2000" dirty="0" err="1">
                <a:latin typeface="Times New Roman" panose="02020603050405020304" pitchFamily="18" charset="0"/>
                <a:ea typeface="Calibri" panose="020F0502020204030204" pitchFamily="34" charset="0"/>
                <a:cs typeface="Times New Roman" panose="02020603050405020304" pitchFamily="18" charset="0"/>
              </a:rPr>
              <a:t>Tukaram’s</a:t>
            </a:r>
            <a:r>
              <a:rPr lang="en-IN" sz="2000" dirty="0">
                <a:latin typeface="Times New Roman" panose="02020603050405020304" pitchFamily="18" charset="0"/>
                <a:ea typeface="Calibri" panose="020F0502020204030204" pitchFamily="34" charset="0"/>
                <a:cs typeface="Times New Roman" panose="02020603050405020304" pitchFamily="18" charset="0"/>
              </a:rPr>
              <a:t> verses express deep devotion and are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centered</a:t>
            </a:r>
            <a:r>
              <a:rPr lang="en-IN" sz="2000" dirty="0">
                <a:latin typeface="Times New Roman" panose="02020603050405020304" pitchFamily="18" charset="0"/>
                <a:ea typeface="Calibri" panose="020F0502020204030204" pitchFamily="34" charset="0"/>
                <a:cs typeface="Times New Roman" panose="02020603050405020304" pitchFamily="18" charset="0"/>
              </a:rPr>
              <a:t> on a personal relationship with God.</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7.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Basava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philosopher and statesman in the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Lingayat</a:t>
            </a:r>
            <a:r>
              <a:rPr lang="en-IN" sz="2000" dirty="0">
                <a:latin typeface="Times New Roman" panose="02020603050405020304" pitchFamily="18" charset="0"/>
                <a:ea typeface="Calibri" panose="020F0502020204030204" pitchFamily="34" charset="0"/>
                <a:cs typeface="Times New Roman" panose="02020603050405020304" pitchFamily="18" charset="0"/>
              </a:rPr>
              <a:t> tradition, </a:t>
            </a:r>
            <a:r>
              <a:rPr lang="en-IN" sz="2000" dirty="0" err="1">
                <a:latin typeface="Times New Roman" panose="02020603050405020304" pitchFamily="18" charset="0"/>
                <a:ea typeface="Calibri" panose="020F0502020204030204" pitchFamily="34" charset="0"/>
                <a:cs typeface="Times New Roman" panose="02020603050405020304" pitchFamily="18" charset="0"/>
              </a:rPr>
              <a:t>Basava</a:t>
            </a:r>
            <a:r>
              <a:rPr lang="en-IN" sz="2000" dirty="0">
                <a:latin typeface="Times New Roman" panose="02020603050405020304" pitchFamily="18" charset="0"/>
                <a:ea typeface="Calibri" panose="020F0502020204030204" pitchFamily="34" charset="0"/>
                <a:cs typeface="Times New Roman" panose="02020603050405020304" pitchFamily="18" charset="0"/>
              </a:rPr>
              <a:t> promoted a formless God and emphasized social justice and spiritual equality through his teachings.</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8.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Akka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Mahadevi</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12th-century mystic poetess who expressed profound devotion to a formless divine. Her poetry explores themes of love and longing for the divine presence.</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9.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Chokhamela</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saint from the </a:t>
            </a:r>
            <a:r>
              <a:rPr lang="en-IN" sz="2000" dirty="0" err="1">
                <a:latin typeface="Times New Roman" panose="02020603050405020304" pitchFamily="18" charset="0"/>
                <a:ea typeface="Calibri" panose="020F0502020204030204" pitchFamily="34" charset="0"/>
                <a:cs typeface="Times New Roman" panose="02020603050405020304" pitchFamily="18" charset="0"/>
              </a:rPr>
              <a:t>Varkari</a:t>
            </a:r>
            <a:r>
              <a:rPr lang="en-IN" sz="2000" dirty="0">
                <a:latin typeface="Times New Roman" panose="02020603050405020304" pitchFamily="18" charset="0"/>
                <a:ea typeface="Calibri" panose="020F0502020204030204" pitchFamily="34" charset="0"/>
                <a:cs typeface="Times New Roman" panose="02020603050405020304" pitchFamily="18" charset="0"/>
              </a:rPr>
              <a:t> tradition known for his unwavering devotion to </a:t>
            </a:r>
            <a:r>
              <a:rPr lang="en-IN" sz="2000" dirty="0" err="1">
                <a:latin typeface="Times New Roman" panose="02020603050405020304" pitchFamily="18" charset="0"/>
                <a:ea typeface="Calibri" panose="020F0502020204030204" pitchFamily="34" charset="0"/>
                <a:cs typeface="Times New Roman" panose="02020603050405020304" pitchFamily="18" charset="0"/>
              </a:rPr>
              <a:t>Vithoba</a:t>
            </a:r>
            <a:r>
              <a:rPr lang="en-IN" sz="2000" dirty="0">
                <a:latin typeface="Times New Roman" panose="02020603050405020304" pitchFamily="18" charset="0"/>
                <a:ea typeface="Calibri" panose="020F0502020204030204" pitchFamily="34" charset="0"/>
                <a:cs typeface="Times New Roman" panose="02020603050405020304" pitchFamily="18" charset="0"/>
              </a:rPr>
              <a:t> (a form of Krishna). His life and teachings emphasize the importance of love for the formless God.</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10.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Ramalinga</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IN" sz="2000" b="1" dirty="0" err="1">
                <a:latin typeface="Times New Roman" panose="02020603050405020304" pitchFamily="18" charset="0"/>
                <a:ea typeface="Calibri" panose="020F0502020204030204" pitchFamily="34" charset="0"/>
                <a:cs typeface="Times New Roman" panose="02020603050405020304" pitchFamily="18" charset="0"/>
              </a:rPr>
              <a:t>Swamigal</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 A Tamil saint whose teachings emphasized the formless aspect of God. He composed devotional poetry and promoted the idea of universal love and spiritual realization.</a:t>
            </a:r>
          </a:p>
        </p:txBody>
      </p:sp>
    </p:spTree>
    <p:extLst>
      <p:ext uri="{BB962C8B-B14F-4D97-AF65-F5344CB8AC3E}">
        <p14:creationId xmlns:p14="http://schemas.microsoft.com/office/powerpoint/2010/main" val="10870924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326" y="472147"/>
            <a:ext cx="11220994" cy="5655266"/>
          </a:xfrm>
          <a:prstGeom prst="rect">
            <a:avLst/>
          </a:prstGeom>
        </p:spPr>
        <p:txBody>
          <a:bodyPr wrap="square">
            <a:spAutoFit/>
          </a:bodyPr>
          <a:lstStyle/>
          <a:p>
            <a:pPr algn="ctr">
              <a:lnSpc>
                <a:spcPct val="107000"/>
              </a:lnSpc>
              <a:spcAft>
                <a:spcPts val="800"/>
              </a:spcAft>
            </a:pPr>
            <a:r>
              <a:rPr lang="en-IN" sz="2000" b="1" dirty="0">
                <a:latin typeface="Times New Roman" panose="02020603050405020304" pitchFamily="18" charset="0"/>
                <a:ea typeface="Times New Roman" panose="02020603050405020304" pitchFamily="18" charset="0"/>
                <a:cs typeface="Kokila" panose="020B0604020202020204" pitchFamily="34" charset="0"/>
              </a:rPr>
              <a:t>Sufi Devotional Traditions</a:t>
            </a:r>
            <a:endParaRPr lang="en-IN" dirty="0">
              <a:latin typeface="Calibri" panose="020F0502020204030204" pitchFamily="34" charset="0"/>
              <a:ea typeface="Calibri" panose="020F0502020204030204" pitchFamily="34" charset="0"/>
              <a:cs typeface="Kokila" panose="020B0604020202020204" pitchFamily="34" charset="0"/>
            </a:endParaRPr>
          </a:p>
          <a:p>
            <a:pPr>
              <a:lnSpc>
                <a:spcPct val="107000"/>
              </a:lnSpc>
              <a:spcAft>
                <a:spcPts val="800"/>
              </a:spcAft>
            </a:pPr>
            <a:r>
              <a:rPr lang="en-IN" sz="2000" b="1" dirty="0">
                <a:latin typeface="Times New Roman" panose="02020603050405020304" pitchFamily="18" charset="0"/>
                <a:ea typeface="Times New Roman" panose="02020603050405020304" pitchFamily="18" charset="0"/>
                <a:cs typeface="Kokila" panose="020B0604020202020204" pitchFamily="34" charset="0"/>
              </a:rPr>
              <a:t>Core Beliefs</a:t>
            </a:r>
            <a:r>
              <a:rPr lang="en-IN" sz="2000" dirty="0">
                <a:latin typeface="Times New Roman" panose="02020603050405020304" pitchFamily="18" charset="0"/>
                <a:ea typeface="Times New Roman" panose="02020603050405020304" pitchFamily="18" charset="0"/>
                <a:cs typeface="Kokila" panose="020B0604020202020204" pitchFamily="34" charset="0"/>
              </a:rPr>
              <a:t>: Sufism emphasizes the inner, mystical experience of God, often focusing on love and devotion. Like </a:t>
            </a:r>
            <a:r>
              <a:rPr lang="en-IN" sz="2000" dirty="0" err="1">
                <a:latin typeface="Times New Roman" panose="02020603050405020304" pitchFamily="18" charset="0"/>
                <a:ea typeface="Times New Roman" panose="02020603050405020304" pitchFamily="18" charset="0"/>
                <a:cs typeface="Kokila" panose="020B0604020202020204" pitchFamily="34" charset="0"/>
              </a:rPr>
              <a:t>Nirgun</a:t>
            </a:r>
            <a:r>
              <a:rPr lang="en-IN" sz="2000" dirty="0">
                <a:latin typeface="Times New Roman" panose="02020603050405020304" pitchFamily="18" charset="0"/>
                <a:ea typeface="Times New Roman" panose="02020603050405020304" pitchFamily="18" charset="0"/>
                <a:cs typeface="Kokila" panose="020B0604020202020204" pitchFamily="34" charset="0"/>
              </a:rPr>
              <a:t> bhakti, it seeks a personal connection with the divine beyond the constraints of religious orthodoxy.</a:t>
            </a:r>
            <a:endParaRPr lang="en-IN" dirty="0">
              <a:latin typeface="Calibri" panose="020F0502020204030204" pitchFamily="34" charset="0"/>
              <a:ea typeface="Calibri" panose="020F0502020204030204" pitchFamily="34" charset="0"/>
              <a:cs typeface="Kokila" panose="020B0604020202020204" pitchFamily="34" charset="0"/>
            </a:endParaRPr>
          </a:p>
          <a:p>
            <a:pPr>
              <a:lnSpc>
                <a:spcPct val="107000"/>
              </a:lnSpc>
              <a:spcAft>
                <a:spcPts val="800"/>
              </a:spcAft>
            </a:pPr>
            <a:r>
              <a:rPr lang="en-IN" sz="2000" b="1" dirty="0">
                <a:latin typeface="Times New Roman" panose="02020603050405020304" pitchFamily="18" charset="0"/>
                <a:ea typeface="Times New Roman" panose="02020603050405020304" pitchFamily="18" charset="0"/>
                <a:cs typeface="Kokila" panose="020B0604020202020204" pitchFamily="34" charset="0"/>
              </a:rPr>
              <a:t>Key Practices</a:t>
            </a:r>
            <a:endParaRPr lang="en-IN" dirty="0">
              <a:latin typeface="Calibri" panose="020F0502020204030204" pitchFamily="34" charset="0"/>
              <a:ea typeface="Calibri" panose="020F0502020204030204" pitchFamily="34" charset="0"/>
              <a:cs typeface="Kokila" panose="020B0604020202020204" pitchFamily="34" charset="0"/>
            </a:endParaRPr>
          </a:p>
          <a:p>
            <a:pPr marL="342900" lvl="0" indent="-342900">
              <a:lnSpc>
                <a:spcPct val="107000"/>
              </a:lnSpc>
              <a:spcAft>
                <a:spcPts val="800"/>
              </a:spcAft>
              <a:buFont typeface="+mj-lt"/>
              <a:buAutoNum type="arabicPeriod"/>
              <a:tabLst>
                <a:tab pos="457200" algn="l"/>
              </a:tabLst>
            </a:pPr>
            <a:r>
              <a:rPr lang="en-IN" sz="2000" b="1" dirty="0">
                <a:latin typeface="Times New Roman" panose="02020603050405020304" pitchFamily="18" charset="0"/>
                <a:ea typeface="Times New Roman" panose="02020603050405020304" pitchFamily="18" charset="0"/>
                <a:cs typeface="Kokila" panose="020B0604020202020204" pitchFamily="34" charset="0"/>
              </a:rPr>
              <a:t>Zikr (Remembrance)</a:t>
            </a:r>
            <a:r>
              <a:rPr lang="en-IN" sz="2000" dirty="0">
                <a:latin typeface="Times New Roman" panose="02020603050405020304" pitchFamily="18" charset="0"/>
                <a:ea typeface="Times New Roman" panose="02020603050405020304" pitchFamily="18" charset="0"/>
                <a:cs typeface="Kokila" panose="020B0604020202020204" pitchFamily="34" charset="0"/>
              </a:rPr>
              <a:t>:</a:t>
            </a:r>
            <a:endParaRPr lang="en-IN" dirty="0">
              <a:latin typeface="Calibri" panose="020F0502020204030204" pitchFamily="34" charset="0"/>
              <a:ea typeface="Calibri" panose="020F0502020204030204" pitchFamily="34" charset="0"/>
              <a:cs typeface="Kokila"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A devotional practice involving the repetition of God’s names or attributes, fostering a deeper spiritual connection.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Significance</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Helps practitioners transcend worldly distractions and cultivate an awareness of the divine.</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2000" b="1" dirty="0" err="1">
                <a:latin typeface="Times New Roman" panose="02020603050405020304" pitchFamily="18" charset="0"/>
                <a:ea typeface="Times New Roman" panose="02020603050405020304" pitchFamily="18" charset="0"/>
                <a:cs typeface="Kokila" panose="020B0604020202020204" pitchFamily="34" charset="0"/>
              </a:rPr>
              <a:t>Sama</a:t>
            </a:r>
            <a:r>
              <a:rPr lang="en-IN" sz="2000" b="1" dirty="0">
                <a:latin typeface="Times New Roman" panose="02020603050405020304" pitchFamily="18" charset="0"/>
                <a:ea typeface="Times New Roman" panose="02020603050405020304" pitchFamily="18" charset="0"/>
                <a:cs typeface="Kokila" panose="020B0604020202020204" pitchFamily="34" charset="0"/>
              </a:rPr>
              <a:t> (Listening)</a:t>
            </a:r>
            <a:r>
              <a:rPr lang="en-IN" sz="2000" dirty="0">
                <a:latin typeface="Times New Roman" panose="02020603050405020304" pitchFamily="18" charset="0"/>
                <a:ea typeface="Times New Roman" panose="02020603050405020304" pitchFamily="18" charset="0"/>
                <a:cs typeface="Kokila" panose="020B0604020202020204" pitchFamily="34" charset="0"/>
              </a:rPr>
              <a:t>:</a:t>
            </a:r>
            <a:endParaRPr lang="en-IN" dirty="0">
              <a:latin typeface="Calibri" panose="020F0502020204030204" pitchFamily="34" charset="0"/>
              <a:ea typeface="Calibri" panose="020F0502020204030204" pitchFamily="34" charset="0"/>
              <a:cs typeface="Kokila"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Description</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Musical gatherings where poetry and music are used to invoke spiritual ecstasy.</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Forms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Often involves the performance of </a:t>
            </a:r>
            <a:r>
              <a:rPr lang="en-IN" sz="2000" dirty="0" err="1">
                <a:latin typeface="Times New Roman" panose="02020603050405020304" pitchFamily="18" charset="0"/>
                <a:ea typeface="Times New Roman" panose="02020603050405020304" pitchFamily="18" charset="0"/>
                <a:cs typeface="Times New Roman" panose="02020603050405020304" pitchFamily="18" charset="0"/>
              </a:rPr>
              <a:t>qawwali</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a form of Sufi devotional music, characterized by rhythmic melodies and profound lyrics.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2837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1" y="452904"/>
            <a:ext cx="11103428" cy="6042680"/>
          </a:xfrm>
          <a:prstGeom prst="rect">
            <a:avLst/>
          </a:prstGeom>
        </p:spPr>
        <p:txBody>
          <a:bodyPr wrap="square">
            <a:spAutoFit/>
          </a:bodyPr>
          <a:lstStyle/>
          <a:p>
            <a:pPr algn="ctr">
              <a:spcAft>
                <a:spcPts val="800"/>
              </a:spcAft>
            </a:pPr>
            <a:r>
              <a:rPr lang="en-IN" sz="2000" b="1" dirty="0">
                <a:latin typeface="Times New Roman" panose="02020603050405020304" pitchFamily="18" charset="0"/>
                <a:ea typeface="Times New Roman" panose="02020603050405020304" pitchFamily="18" charset="0"/>
                <a:cs typeface="Kokila" panose="020B0604020202020204" pitchFamily="34" charset="0"/>
              </a:rPr>
              <a:t>Key Saints and Their Contributions</a:t>
            </a:r>
            <a:endParaRPr lang="en-IN" dirty="0">
              <a:latin typeface="Calibri" panose="020F0502020204030204" pitchFamily="34" charset="0"/>
              <a:ea typeface="Calibri" panose="020F0502020204030204" pitchFamily="34" charset="0"/>
              <a:cs typeface="Kokila" panose="020B0604020202020204" pitchFamily="34" charset="0"/>
            </a:endParaRPr>
          </a:p>
          <a:p>
            <a:pPr marL="342900" lvl="0" indent="-342900">
              <a:spcAft>
                <a:spcPts val="800"/>
              </a:spcAft>
              <a:buFont typeface="+mj-lt"/>
              <a:buAutoNum type="arabicPeriod"/>
              <a:tabLst>
                <a:tab pos="457200" algn="l"/>
              </a:tabLst>
            </a:pPr>
            <a:r>
              <a:rPr lang="en-IN" sz="2000" b="1" dirty="0" err="1">
                <a:latin typeface="Times New Roman" panose="02020603050405020304" pitchFamily="18" charset="0"/>
                <a:ea typeface="Times New Roman" panose="02020603050405020304" pitchFamily="18" charset="0"/>
                <a:cs typeface="Kokila" panose="020B0604020202020204" pitchFamily="34" charset="0"/>
              </a:rPr>
              <a:t>Khwaja</a:t>
            </a:r>
            <a:r>
              <a:rPr lang="en-IN" sz="2000" b="1" dirty="0">
                <a:latin typeface="Times New Roman" panose="02020603050405020304" pitchFamily="18" charset="0"/>
                <a:ea typeface="Times New Roman" panose="02020603050405020304" pitchFamily="18" charset="0"/>
                <a:cs typeface="Kokila" panose="020B0604020202020204" pitchFamily="34" charset="0"/>
              </a:rPr>
              <a:t> </a:t>
            </a:r>
            <a:r>
              <a:rPr lang="en-IN" sz="2000" b="1" dirty="0" err="1">
                <a:latin typeface="Times New Roman" panose="02020603050405020304" pitchFamily="18" charset="0"/>
                <a:ea typeface="Times New Roman" panose="02020603050405020304" pitchFamily="18" charset="0"/>
                <a:cs typeface="Kokila" panose="020B0604020202020204" pitchFamily="34" charset="0"/>
              </a:rPr>
              <a:t>Moinuddin</a:t>
            </a:r>
            <a:r>
              <a:rPr lang="en-IN" sz="2000" b="1" dirty="0">
                <a:latin typeface="Times New Roman" panose="02020603050405020304" pitchFamily="18" charset="0"/>
                <a:ea typeface="Times New Roman" panose="02020603050405020304" pitchFamily="18" charset="0"/>
                <a:cs typeface="Kokila" panose="020B0604020202020204" pitchFamily="34" charset="0"/>
              </a:rPr>
              <a:t> Chishti (1141–1236)</a:t>
            </a:r>
            <a:r>
              <a:rPr lang="en-IN" sz="2000" dirty="0">
                <a:latin typeface="Times New Roman" panose="02020603050405020304" pitchFamily="18" charset="0"/>
                <a:ea typeface="Times New Roman" panose="02020603050405020304" pitchFamily="18" charset="0"/>
                <a:cs typeface="Kokila" panose="020B0604020202020204" pitchFamily="34" charset="0"/>
              </a:rPr>
              <a:t>:</a:t>
            </a:r>
            <a:endParaRPr lang="en-IN" dirty="0">
              <a:latin typeface="Calibri" panose="020F0502020204030204" pitchFamily="34" charset="0"/>
              <a:ea typeface="Calibri" panose="020F0502020204030204" pitchFamily="34" charset="0"/>
              <a:cs typeface="Kokila" panose="020B0604020202020204" pitchFamily="34"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Background</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The founder of the Chishti order in India, he emphasized love, compassion, and service.</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Contributions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His shrine in Ajmer attracts millions of pilgrims, symbolizing the synthesis of love and devotion across communities.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IN" sz="2000" b="1" dirty="0" err="1">
                <a:latin typeface="Times New Roman" panose="02020603050405020304" pitchFamily="18" charset="0"/>
                <a:ea typeface="Times New Roman" panose="02020603050405020304" pitchFamily="18" charset="0"/>
                <a:cs typeface="Kokila" panose="020B0604020202020204" pitchFamily="34" charset="0"/>
              </a:rPr>
              <a:t>Nizamuddin</a:t>
            </a:r>
            <a:r>
              <a:rPr lang="en-IN" sz="2000" b="1" dirty="0">
                <a:latin typeface="Times New Roman" panose="02020603050405020304" pitchFamily="18" charset="0"/>
                <a:ea typeface="Times New Roman" panose="02020603050405020304" pitchFamily="18" charset="0"/>
                <a:cs typeface="Kokila" panose="020B0604020202020204" pitchFamily="34" charset="0"/>
              </a:rPr>
              <a:t> </a:t>
            </a:r>
            <a:r>
              <a:rPr lang="en-IN" sz="2000" b="1" dirty="0" err="1">
                <a:latin typeface="Times New Roman" panose="02020603050405020304" pitchFamily="18" charset="0"/>
                <a:ea typeface="Times New Roman" panose="02020603050405020304" pitchFamily="18" charset="0"/>
                <a:cs typeface="Kokila" panose="020B0604020202020204" pitchFamily="34" charset="0"/>
              </a:rPr>
              <a:t>Auliya</a:t>
            </a:r>
            <a:r>
              <a:rPr lang="en-IN" sz="2000" b="1" dirty="0">
                <a:latin typeface="Times New Roman" panose="02020603050405020304" pitchFamily="18" charset="0"/>
                <a:ea typeface="Times New Roman" panose="02020603050405020304" pitchFamily="18" charset="0"/>
                <a:cs typeface="Kokila" panose="020B0604020202020204" pitchFamily="34" charset="0"/>
              </a:rPr>
              <a:t> (1238–1325)</a:t>
            </a:r>
            <a:r>
              <a:rPr lang="en-IN" sz="2000" dirty="0">
                <a:latin typeface="Times New Roman" panose="02020603050405020304" pitchFamily="18" charset="0"/>
                <a:ea typeface="Times New Roman" panose="02020603050405020304" pitchFamily="18" charset="0"/>
                <a:cs typeface="Kokila" panose="020B0604020202020204" pitchFamily="34" charset="0"/>
              </a:rPr>
              <a:t>:</a:t>
            </a:r>
            <a:endParaRPr lang="en-IN" dirty="0">
              <a:latin typeface="Calibri" panose="020F0502020204030204" pitchFamily="34" charset="0"/>
              <a:ea typeface="Calibri" panose="020F0502020204030204" pitchFamily="34" charset="0"/>
              <a:cs typeface="Kokila" panose="020B0604020202020204" pitchFamily="34"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Background</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A prominent Sufi saint of the Chishti order in Delhi.</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Philosophy</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Advocated for a universal love and stressed the importance of community, humility, and devotion.</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Practices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His teachings were conveyed through gatherings that included poetry, music, and communal meals (</a:t>
            </a:r>
            <a:r>
              <a:rPr lang="en-IN" sz="2000" dirty="0" err="1">
                <a:latin typeface="Times New Roman" panose="02020603050405020304" pitchFamily="18" charset="0"/>
                <a:ea typeface="Times New Roman" panose="02020603050405020304" pitchFamily="18" charset="0"/>
                <a:cs typeface="Times New Roman" panose="02020603050405020304" pitchFamily="18" charset="0"/>
              </a:rPr>
              <a:t>langar</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spcAft>
                <a:spcPts val="800"/>
              </a:spcAft>
              <a:buFont typeface="+mj-lt"/>
              <a:buAutoNum type="arabicPeriod"/>
              <a:tabLst>
                <a:tab pos="457200" algn="l"/>
              </a:tabLst>
            </a:pPr>
            <a:r>
              <a:rPr lang="en-IN" sz="2000" b="1" dirty="0" err="1">
                <a:latin typeface="Times New Roman" panose="02020603050405020304" pitchFamily="18" charset="0"/>
                <a:ea typeface="Times New Roman" panose="02020603050405020304" pitchFamily="18" charset="0"/>
                <a:cs typeface="Kokila" panose="020B0604020202020204" pitchFamily="34" charset="0"/>
              </a:rPr>
              <a:t>Bulleh</a:t>
            </a:r>
            <a:r>
              <a:rPr lang="en-IN" sz="2000" b="1" dirty="0">
                <a:latin typeface="Times New Roman" panose="02020603050405020304" pitchFamily="18" charset="0"/>
                <a:ea typeface="Times New Roman" panose="02020603050405020304" pitchFamily="18" charset="0"/>
                <a:cs typeface="Kokila" panose="020B0604020202020204" pitchFamily="34" charset="0"/>
              </a:rPr>
              <a:t> Shah (1680–1757)</a:t>
            </a:r>
            <a:r>
              <a:rPr lang="en-IN" sz="2000" dirty="0">
                <a:latin typeface="Times New Roman" panose="02020603050405020304" pitchFamily="18" charset="0"/>
                <a:ea typeface="Times New Roman" panose="02020603050405020304" pitchFamily="18" charset="0"/>
                <a:cs typeface="Kokila" panose="020B0604020202020204" pitchFamily="34" charset="0"/>
              </a:rPr>
              <a:t>:</a:t>
            </a:r>
            <a:endParaRPr lang="en-IN" dirty="0">
              <a:latin typeface="Calibri" panose="020F0502020204030204" pitchFamily="34" charset="0"/>
              <a:ea typeface="Calibri" panose="020F0502020204030204" pitchFamily="34" charset="0"/>
              <a:cs typeface="Kokila" panose="020B0604020202020204" pitchFamily="34"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Background</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A Punjabi Sufi poet whose works express the longing for the divine.</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spcAft>
                <a:spcPts val="800"/>
              </a:spcAft>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Philosophy</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His poetry critiques social norms and emphasizes unity with God, transcending religious boundaries.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240477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19" y="572139"/>
            <a:ext cx="11025051" cy="5478423"/>
          </a:xfrm>
          <a:prstGeom prst="rect">
            <a:avLst/>
          </a:prstGeom>
        </p:spPr>
        <p:txBody>
          <a:bodyPr wrap="square">
            <a:spAutoFit/>
          </a:bodyPr>
          <a:lstStyle/>
          <a:p>
            <a:pPr algn="just">
              <a:lnSpc>
                <a:spcPct val="150000"/>
              </a:lnSpc>
              <a:spcAft>
                <a:spcPts val="800"/>
              </a:spcAft>
            </a:pPr>
            <a:r>
              <a:rPr lang="en-IN" sz="2800" b="1" dirty="0">
                <a:latin typeface="Times New Roman" panose="02020603050405020304" pitchFamily="18" charset="0"/>
                <a:ea typeface="Times New Roman" panose="02020603050405020304" pitchFamily="18" charset="0"/>
                <a:cs typeface="Kokila" panose="020B0604020202020204" pitchFamily="34" charset="0"/>
              </a:rPr>
              <a:t>Interconnections and Cultural Synthesis</a:t>
            </a:r>
            <a:endParaRPr lang="en-IN" sz="20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cs typeface="Kokila" panose="020B0604020202020204" pitchFamily="34" charset="0"/>
              </a:rPr>
              <a:t>Shared Themes</a:t>
            </a:r>
            <a:r>
              <a:rPr lang="en-IN" sz="2400" dirty="0">
                <a:latin typeface="Times New Roman" panose="02020603050405020304" pitchFamily="18" charset="0"/>
                <a:ea typeface="Times New Roman" panose="02020603050405020304" pitchFamily="18" charset="0"/>
                <a:cs typeface="Kokila" panose="020B0604020202020204" pitchFamily="34" charset="0"/>
              </a:rPr>
              <a:t>: Both </a:t>
            </a:r>
            <a:r>
              <a:rPr lang="en-IN" sz="2400" dirty="0" err="1">
                <a:latin typeface="Times New Roman" panose="02020603050405020304" pitchFamily="18" charset="0"/>
                <a:ea typeface="Times New Roman" panose="02020603050405020304" pitchFamily="18" charset="0"/>
                <a:cs typeface="Kokila" panose="020B0604020202020204" pitchFamily="34" charset="0"/>
              </a:rPr>
              <a:t>Sagun</a:t>
            </a:r>
            <a:r>
              <a:rPr lang="en-IN" sz="2400" dirty="0">
                <a:latin typeface="Times New Roman" panose="02020603050405020304" pitchFamily="18" charset="0"/>
                <a:ea typeface="Times New Roman" panose="02020603050405020304" pitchFamily="18" charset="0"/>
                <a:cs typeface="Kokila" panose="020B0604020202020204" pitchFamily="34" charset="0"/>
              </a:rPr>
              <a:t> and </a:t>
            </a:r>
            <a:r>
              <a:rPr lang="en-IN" sz="2400" dirty="0" err="1">
                <a:latin typeface="Times New Roman" panose="02020603050405020304" pitchFamily="18" charset="0"/>
                <a:ea typeface="Times New Roman" panose="02020603050405020304" pitchFamily="18" charset="0"/>
                <a:cs typeface="Kokila" panose="020B0604020202020204" pitchFamily="34" charset="0"/>
              </a:rPr>
              <a:t>Nirgun</a:t>
            </a:r>
            <a:r>
              <a:rPr lang="en-IN" sz="2400" dirty="0">
                <a:latin typeface="Times New Roman" panose="02020603050405020304" pitchFamily="18" charset="0"/>
                <a:ea typeface="Times New Roman" panose="02020603050405020304" pitchFamily="18" charset="0"/>
                <a:cs typeface="Kokila" panose="020B0604020202020204" pitchFamily="34" charset="0"/>
              </a:rPr>
              <a:t> bhakti, as well as Sufi traditions, stress love, devotion, and the pursuit of a personal connection with the divine.</a:t>
            </a:r>
            <a:endParaRPr lang="en-IN" sz="20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cs typeface="Kokila" panose="020B0604020202020204" pitchFamily="34" charset="0"/>
              </a:rPr>
              <a:t>Syncretism</a:t>
            </a:r>
            <a:r>
              <a:rPr lang="en-IN" sz="2400" dirty="0">
                <a:latin typeface="Times New Roman" panose="02020603050405020304" pitchFamily="18" charset="0"/>
                <a:ea typeface="Times New Roman" panose="02020603050405020304" pitchFamily="18" charset="0"/>
                <a:cs typeface="Kokila" panose="020B0604020202020204" pitchFamily="34" charset="0"/>
              </a:rPr>
              <a:t>: The blending of these traditions has led to a rich spiritual dialogue in India. Many Sufi practices, such as the use of poetry and music, have parallels in bhakti traditions.</a:t>
            </a:r>
            <a:endParaRPr lang="en-IN" sz="20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cs typeface="Kokila" panose="020B0604020202020204" pitchFamily="34" charset="0"/>
              </a:rPr>
              <a:t>Cultural Influence</a:t>
            </a:r>
            <a:r>
              <a:rPr lang="en-IN" sz="2400" dirty="0">
                <a:latin typeface="Times New Roman" panose="02020603050405020304" pitchFamily="18" charset="0"/>
                <a:ea typeface="Times New Roman" panose="02020603050405020304" pitchFamily="18" charset="0"/>
                <a:cs typeface="Kokila" panose="020B0604020202020204" pitchFamily="34" charset="0"/>
              </a:rPr>
              <a:t>: The poetic works of saints from both traditions are often sung in devotional gatherings, reinforcing communal bonds and spiritual connections across religious lines.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9620353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5394" y="459063"/>
            <a:ext cx="10933612" cy="4924425"/>
          </a:xfrm>
          <a:prstGeom prst="rect">
            <a:avLst/>
          </a:prstGeom>
        </p:spPr>
        <p:txBody>
          <a:bodyPr wrap="square">
            <a:spAutoFit/>
          </a:bodyPr>
          <a:lstStyle/>
          <a:p>
            <a:pPr algn="just">
              <a:lnSpc>
                <a:spcPct val="150000"/>
              </a:lnSpc>
              <a:spcAft>
                <a:spcPts val="800"/>
              </a:spcAft>
            </a:pPr>
            <a:r>
              <a:rPr lang="en-IN" sz="2800" b="1" dirty="0">
                <a:latin typeface="Times New Roman" panose="02020603050405020304" pitchFamily="18" charset="0"/>
                <a:ea typeface="Times New Roman" panose="02020603050405020304" pitchFamily="18" charset="0"/>
                <a:cs typeface="Kokila" panose="020B0604020202020204" pitchFamily="34" charset="0"/>
              </a:rPr>
              <a:t>Contemporary Relevance</a:t>
            </a:r>
            <a:endParaRPr lang="en-IN" sz="20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cs typeface="Kokila" panose="020B0604020202020204" pitchFamily="34" charset="0"/>
              </a:rPr>
              <a:t>Modern Movements</a:t>
            </a:r>
            <a:r>
              <a:rPr lang="en-IN" sz="2400" dirty="0">
                <a:latin typeface="Times New Roman" panose="02020603050405020304" pitchFamily="18" charset="0"/>
                <a:ea typeface="Times New Roman" panose="02020603050405020304" pitchFamily="18" charset="0"/>
                <a:cs typeface="Kokila" panose="020B0604020202020204" pitchFamily="34" charset="0"/>
              </a:rPr>
              <a:t>: Both bhakti and Sufi traditions continue to inspire modern spiritual movements, promoting themes of love, inclusivity, and social justice.</a:t>
            </a:r>
            <a:endParaRPr lang="en-IN" sz="2000" dirty="0">
              <a:latin typeface="Calibri" panose="020F0502020204030204" pitchFamily="34" charset="0"/>
              <a:ea typeface="Calibri" panose="020F0502020204030204" pitchFamily="34" charset="0"/>
              <a:cs typeface="Kokila" panose="020B0604020202020204" pitchFamily="34"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cs typeface="Kokila" panose="020B0604020202020204" pitchFamily="34" charset="0"/>
              </a:rPr>
              <a:t>Festivals and Celebrations</a:t>
            </a:r>
            <a:r>
              <a:rPr lang="en-IN" sz="2400" dirty="0">
                <a:latin typeface="Times New Roman" panose="02020603050405020304" pitchFamily="18" charset="0"/>
                <a:ea typeface="Times New Roman" panose="02020603050405020304" pitchFamily="18" charset="0"/>
                <a:cs typeface="Kokila" panose="020B0604020202020204" pitchFamily="34" charset="0"/>
              </a:rPr>
              <a:t>: Events such as </a:t>
            </a:r>
            <a:r>
              <a:rPr lang="en-IN" sz="2400" dirty="0" err="1">
                <a:latin typeface="Times New Roman" panose="02020603050405020304" pitchFamily="18" charset="0"/>
                <a:ea typeface="Times New Roman" panose="02020603050405020304" pitchFamily="18" charset="0"/>
                <a:cs typeface="Kokila" panose="020B0604020202020204" pitchFamily="34" charset="0"/>
              </a:rPr>
              <a:t>Urs</a:t>
            </a:r>
            <a:r>
              <a:rPr lang="en-IN" sz="2400" dirty="0">
                <a:latin typeface="Times New Roman" panose="02020603050405020304" pitchFamily="18" charset="0"/>
                <a:ea typeface="Times New Roman" panose="02020603050405020304" pitchFamily="18" charset="0"/>
                <a:cs typeface="Kokila" panose="020B0604020202020204" pitchFamily="34" charset="0"/>
              </a:rPr>
              <a:t> (commemorating Sufi saints) and various bhakti festivals draw diverse crowds, celebrating shared spiritual heritage.</a:t>
            </a:r>
            <a:endParaRPr lang="en-IN" sz="2000" dirty="0">
              <a:latin typeface="Calibri" panose="020F0502020204030204" pitchFamily="34" charset="0"/>
              <a:ea typeface="Calibri" panose="020F0502020204030204" pitchFamily="34" charset="0"/>
              <a:cs typeface="Kokila" panose="020B0604020202020204" pitchFamily="34" charset="0"/>
            </a:endParaRPr>
          </a:p>
          <a:p>
            <a:pPr algn="just">
              <a:lnSpc>
                <a:spcPct val="150000"/>
              </a:lnSpc>
              <a:spcAft>
                <a:spcPts val="800"/>
              </a:spcAft>
            </a:pPr>
            <a:r>
              <a:rPr lang="en-IN" sz="2400" dirty="0">
                <a:latin typeface="Times New Roman" panose="02020603050405020304" pitchFamily="18" charset="0"/>
                <a:ea typeface="Times New Roman" panose="02020603050405020304" pitchFamily="18" charset="0"/>
                <a:cs typeface="Kokila" panose="020B0604020202020204" pitchFamily="34" charset="0"/>
              </a:rPr>
              <a:t>In summary, </a:t>
            </a:r>
            <a:r>
              <a:rPr lang="en-IN" sz="2400" dirty="0" err="1">
                <a:latin typeface="Times New Roman" panose="02020603050405020304" pitchFamily="18" charset="0"/>
                <a:ea typeface="Times New Roman" panose="02020603050405020304" pitchFamily="18" charset="0"/>
                <a:cs typeface="Kokila" panose="020B0604020202020204" pitchFamily="34" charset="0"/>
              </a:rPr>
              <a:t>Sagun</a:t>
            </a:r>
            <a:r>
              <a:rPr lang="en-IN" sz="2400" dirty="0">
                <a:latin typeface="Times New Roman" panose="02020603050405020304" pitchFamily="18" charset="0"/>
                <a:ea typeface="Times New Roman" panose="02020603050405020304" pitchFamily="18" charset="0"/>
                <a:cs typeface="Kokila" panose="020B0604020202020204" pitchFamily="34" charset="0"/>
              </a:rPr>
              <a:t> and </a:t>
            </a:r>
            <a:r>
              <a:rPr lang="en-IN" sz="2400" dirty="0" err="1">
                <a:latin typeface="Times New Roman" panose="02020603050405020304" pitchFamily="18" charset="0"/>
                <a:ea typeface="Times New Roman" panose="02020603050405020304" pitchFamily="18" charset="0"/>
                <a:cs typeface="Kokila" panose="020B0604020202020204" pitchFamily="34" charset="0"/>
              </a:rPr>
              <a:t>Nirgun</a:t>
            </a:r>
            <a:r>
              <a:rPr lang="en-IN" sz="2400" dirty="0">
                <a:latin typeface="Times New Roman" panose="02020603050405020304" pitchFamily="18" charset="0"/>
                <a:ea typeface="Times New Roman" panose="02020603050405020304" pitchFamily="18" charset="0"/>
                <a:cs typeface="Kokila" panose="020B0604020202020204" pitchFamily="34" charset="0"/>
              </a:rPr>
              <a:t> Bhakti, alongside Sufi devotional practices, reflect a profound and diverse spiritual landscape in India, emphasizing the importance of love, devotion, and the search for the divine.</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57154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3816</TotalTime>
  <Words>8512</Words>
  <Application>Microsoft Office PowerPoint</Application>
  <PresentationFormat>Widescreen</PresentationFormat>
  <Paragraphs>545</Paragraphs>
  <Slides>72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72</vt:i4>
      </vt:variant>
    </vt:vector>
  </HeadingPairs>
  <TitlesOfParts>
    <vt:vector size="83" baseType="lpstr">
      <vt:lpstr>Arial</vt:lpstr>
      <vt:lpstr>Arial Black</vt:lpstr>
      <vt:lpstr>Calibri</vt:lpstr>
      <vt:lpstr>Calibri Light</vt:lpstr>
      <vt:lpstr>Courier New</vt:lpstr>
      <vt:lpstr>Kokila</vt:lpstr>
      <vt:lpstr>Mangal</vt:lpstr>
      <vt:lpstr>Symbol</vt:lpstr>
      <vt:lpstr>Times New Roman</vt:lpstr>
      <vt:lpstr>Wingdings</vt:lpstr>
      <vt:lpstr>Office Theme</vt:lpstr>
      <vt:lpstr>BEDM 0001 RASHTRA GAURAV Module 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BEDM 0001 RASHTRA GAURAV</dc:title>
  <dc:creator>GLA</dc:creator>
  <cp:lastModifiedBy>Admin</cp:lastModifiedBy>
  <cp:revision>114</cp:revision>
  <dcterms:created xsi:type="dcterms:W3CDTF">2024-09-18T07:58:04Z</dcterms:created>
  <dcterms:modified xsi:type="dcterms:W3CDTF">2025-11-06T11:29:49Z</dcterms:modified>
</cp:coreProperties>
</file>