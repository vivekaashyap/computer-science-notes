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2" d="100"/>
          <a:sy n="72" d="100"/>
        </p:scale>
        <p:origin x="660"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3B441289-EFBE-49CE-A583-6B7D6FF34615}" type="datetimeFigureOut">
              <a:rPr lang="en-IN" smtClean="0"/>
              <a:t>28-11-2025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66C4E2B-05A2-483B-8399-4FE81601290B}" type="slidenum">
              <a:rPr lang="en-IN" smtClean="0"/>
              <a:t>‹#›</a:t>
            </a:fld>
            <a:endParaRPr lang="en-IN"/>
          </a:p>
        </p:txBody>
      </p:sp>
    </p:spTree>
    <p:extLst>
      <p:ext uri="{BB962C8B-B14F-4D97-AF65-F5344CB8AC3E}">
        <p14:creationId xmlns:p14="http://schemas.microsoft.com/office/powerpoint/2010/main" val="19492041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3B441289-EFBE-49CE-A583-6B7D6FF34615}" type="datetimeFigureOut">
              <a:rPr lang="en-IN" smtClean="0"/>
              <a:t>28-11-2025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66C4E2B-05A2-483B-8399-4FE81601290B}" type="slidenum">
              <a:rPr lang="en-IN" smtClean="0"/>
              <a:t>‹#›</a:t>
            </a:fld>
            <a:endParaRPr lang="en-IN"/>
          </a:p>
        </p:txBody>
      </p:sp>
    </p:spTree>
    <p:extLst>
      <p:ext uri="{BB962C8B-B14F-4D97-AF65-F5344CB8AC3E}">
        <p14:creationId xmlns:p14="http://schemas.microsoft.com/office/powerpoint/2010/main" val="9982708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B441289-EFBE-49CE-A583-6B7D6FF34615}" type="datetimeFigureOut">
              <a:rPr lang="en-IN" smtClean="0"/>
              <a:t>28-11-2025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66C4E2B-05A2-483B-8399-4FE81601290B}" type="slidenum">
              <a:rPr lang="en-IN" smtClean="0"/>
              <a:t>‹#›</a:t>
            </a:fld>
            <a:endParaRPr lang="en-IN"/>
          </a:p>
        </p:txBody>
      </p:sp>
    </p:spTree>
    <p:extLst>
      <p:ext uri="{BB962C8B-B14F-4D97-AF65-F5344CB8AC3E}">
        <p14:creationId xmlns:p14="http://schemas.microsoft.com/office/powerpoint/2010/main" val="23529448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3B441289-EFBE-49CE-A583-6B7D6FF34615}" type="datetimeFigureOut">
              <a:rPr lang="en-IN" smtClean="0"/>
              <a:t>28-11-2025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66C4E2B-05A2-483B-8399-4FE81601290B}" type="slidenum">
              <a:rPr lang="en-IN" smtClean="0"/>
              <a:t>‹#›</a:t>
            </a:fld>
            <a:endParaRPr lang="en-IN"/>
          </a:p>
        </p:txBody>
      </p:sp>
    </p:spTree>
    <p:extLst>
      <p:ext uri="{BB962C8B-B14F-4D97-AF65-F5344CB8AC3E}">
        <p14:creationId xmlns:p14="http://schemas.microsoft.com/office/powerpoint/2010/main" val="2575857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3B441289-EFBE-49CE-A583-6B7D6FF34615}" type="datetimeFigureOut">
              <a:rPr lang="en-IN" smtClean="0"/>
              <a:t>28-11-2025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66C4E2B-05A2-483B-8399-4FE81601290B}" type="slidenum">
              <a:rPr lang="en-IN" smtClean="0"/>
              <a:t>‹#›</a:t>
            </a:fld>
            <a:endParaRPr lang="en-IN"/>
          </a:p>
        </p:txBody>
      </p:sp>
    </p:spTree>
    <p:extLst>
      <p:ext uri="{BB962C8B-B14F-4D97-AF65-F5344CB8AC3E}">
        <p14:creationId xmlns:p14="http://schemas.microsoft.com/office/powerpoint/2010/main" val="24803340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3B441289-EFBE-49CE-A583-6B7D6FF34615}" type="datetimeFigureOut">
              <a:rPr lang="en-IN" smtClean="0"/>
              <a:t>28-11-2025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66C4E2B-05A2-483B-8399-4FE81601290B}" type="slidenum">
              <a:rPr lang="en-IN" smtClean="0"/>
              <a:t>‹#›</a:t>
            </a:fld>
            <a:endParaRPr lang="en-IN"/>
          </a:p>
        </p:txBody>
      </p:sp>
    </p:spTree>
    <p:extLst>
      <p:ext uri="{BB962C8B-B14F-4D97-AF65-F5344CB8AC3E}">
        <p14:creationId xmlns:p14="http://schemas.microsoft.com/office/powerpoint/2010/main" val="15756761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B441289-EFBE-49CE-A583-6B7D6FF34615}" type="datetimeFigureOut">
              <a:rPr lang="en-IN" smtClean="0"/>
              <a:t>28-11-2025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66C4E2B-05A2-483B-8399-4FE81601290B}" type="slidenum">
              <a:rPr lang="en-IN" smtClean="0"/>
              <a:t>‹#›</a:t>
            </a:fld>
            <a:endParaRPr lang="en-IN"/>
          </a:p>
        </p:txBody>
      </p:sp>
    </p:spTree>
    <p:extLst>
      <p:ext uri="{BB962C8B-B14F-4D97-AF65-F5344CB8AC3E}">
        <p14:creationId xmlns:p14="http://schemas.microsoft.com/office/powerpoint/2010/main" val="30197819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3B441289-EFBE-49CE-A583-6B7D6FF34615}" type="datetimeFigureOut">
              <a:rPr lang="en-IN" smtClean="0"/>
              <a:t>28-11-2025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66C4E2B-05A2-483B-8399-4FE81601290B}" type="slidenum">
              <a:rPr lang="en-IN" smtClean="0"/>
              <a:t>‹#›</a:t>
            </a:fld>
            <a:endParaRPr lang="en-IN"/>
          </a:p>
        </p:txBody>
      </p:sp>
    </p:spTree>
    <p:extLst>
      <p:ext uri="{BB962C8B-B14F-4D97-AF65-F5344CB8AC3E}">
        <p14:creationId xmlns:p14="http://schemas.microsoft.com/office/powerpoint/2010/main" val="39666086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3B441289-EFBE-49CE-A583-6B7D6FF34615}" type="datetimeFigureOut">
              <a:rPr lang="en-IN" smtClean="0"/>
              <a:t>28-11-2025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66C4E2B-05A2-483B-8399-4FE81601290B}" type="slidenum">
              <a:rPr lang="en-IN" smtClean="0"/>
              <a:t>‹#›</a:t>
            </a:fld>
            <a:endParaRPr lang="en-IN"/>
          </a:p>
        </p:txBody>
      </p:sp>
    </p:spTree>
    <p:extLst>
      <p:ext uri="{BB962C8B-B14F-4D97-AF65-F5344CB8AC3E}">
        <p14:creationId xmlns:p14="http://schemas.microsoft.com/office/powerpoint/2010/main" val="21524337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3B441289-EFBE-49CE-A583-6B7D6FF34615}" type="datetimeFigureOut">
              <a:rPr lang="en-IN" smtClean="0"/>
              <a:t>28-11-2025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66C4E2B-05A2-483B-8399-4FE81601290B}" type="slidenum">
              <a:rPr lang="en-IN" smtClean="0"/>
              <a:t>‹#›</a:t>
            </a:fld>
            <a:endParaRPr lang="en-IN"/>
          </a:p>
        </p:txBody>
      </p:sp>
    </p:spTree>
    <p:extLst>
      <p:ext uri="{BB962C8B-B14F-4D97-AF65-F5344CB8AC3E}">
        <p14:creationId xmlns:p14="http://schemas.microsoft.com/office/powerpoint/2010/main" val="15278893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3B441289-EFBE-49CE-A583-6B7D6FF34615}" type="datetimeFigureOut">
              <a:rPr lang="en-IN" smtClean="0"/>
              <a:t>28-11-2025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66C4E2B-05A2-483B-8399-4FE81601290B}" type="slidenum">
              <a:rPr lang="en-IN" smtClean="0"/>
              <a:t>‹#›</a:t>
            </a:fld>
            <a:endParaRPr lang="en-IN"/>
          </a:p>
        </p:txBody>
      </p:sp>
    </p:spTree>
    <p:extLst>
      <p:ext uri="{BB962C8B-B14F-4D97-AF65-F5344CB8AC3E}">
        <p14:creationId xmlns:p14="http://schemas.microsoft.com/office/powerpoint/2010/main" val="13532126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B441289-EFBE-49CE-A583-6B7D6FF34615}" type="datetimeFigureOut">
              <a:rPr lang="en-IN" smtClean="0"/>
              <a:t>28-11-2025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66C4E2B-05A2-483B-8399-4FE81601290B}" type="slidenum">
              <a:rPr lang="en-IN" smtClean="0"/>
              <a:t>‹#›</a:t>
            </a:fld>
            <a:endParaRPr lang="en-IN"/>
          </a:p>
        </p:txBody>
      </p:sp>
    </p:spTree>
    <p:extLst>
      <p:ext uri="{BB962C8B-B14F-4D97-AF65-F5344CB8AC3E}">
        <p14:creationId xmlns:p14="http://schemas.microsoft.com/office/powerpoint/2010/main" val="23568623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941568"/>
          </a:xfrm>
        </p:spPr>
        <p:txBody>
          <a:bodyPr/>
          <a:lstStyle/>
          <a:p>
            <a:r>
              <a:rPr lang="en-US" dirty="0"/>
              <a:t>Unit-III</a:t>
            </a:r>
            <a:endParaRPr lang="en-IN" dirty="0"/>
          </a:p>
        </p:txBody>
      </p:sp>
      <p:sp>
        <p:nvSpPr>
          <p:cNvPr id="3" name="Subtitle 2"/>
          <p:cNvSpPr>
            <a:spLocks noGrp="1"/>
          </p:cNvSpPr>
          <p:nvPr>
            <p:ph type="subTitle" idx="1"/>
          </p:nvPr>
        </p:nvSpPr>
        <p:spPr>
          <a:xfrm>
            <a:off x="1524000" y="2573383"/>
            <a:ext cx="9144000" cy="2684417"/>
          </a:xfrm>
        </p:spPr>
        <p:txBody>
          <a:bodyPr/>
          <a:lstStyle/>
          <a:p>
            <a:r>
              <a:rPr lang="en-IN" sz="4000" b="1" dirty="0"/>
              <a:t>Ancient and Medieval Literature: Great Epics- </a:t>
            </a:r>
            <a:r>
              <a:rPr lang="en-IN" sz="4000" b="1" dirty="0" err="1"/>
              <a:t>Mahabharat</a:t>
            </a:r>
            <a:r>
              <a:rPr lang="en-IN" sz="4000" b="1" dirty="0"/>
              <a:t>, </a:t>
            </a:r>
            <a:r>
              <a:rPr lang="en-IN" sz="4000" b="1" dirty="0" err="1"/>
              <a:t>Ramayan</a:t>
            </a:r>
            <a:r>
              <a:rPr lang="en-IN" sz="4000" b="1" dirty="0"/>
              <a:t> Tamil Literature</a:t>
            </a:r>
            <a:endParaRPr lang="en-IN" sz="4000" dirty="0"/>
          </a:p>
          <a:p>
            <a:endParaRPr lang="en-IN" dirty="0"/>
          </a:p>
        </p:txBody>
      </p:sp>
    </p:spTree>
    <p:extLst>
      <p:ext uri="{BB962C8B-B14F-4D97-AF65-F5344CB8AC3E}">
        <p14:creationId xmlns:p14="http://schemas.microsoft.com/office/powerpoint/2010/main" val="28376822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18011" y="696969"/>
            <a:ext cx="11482252" cy="5684313"/>
          </a:xfrm>
          <a:prstGeom prst="rect">
            <a:avLst/>
          </a:prstGeom>
        </p:spPr>
        <p:txBody>
          <a:bodyPr wrap="square">
            <a:spAutoFit/>
          </a:bodyPr>
          <a:lstStyle/>
          <a:p>
            <a:pPr algn="just">
              <a:lnSpc>
                <a:spcPct val="107000"/>
              </a:lnSpc>
              <a:spcAft>
                <a:spcPts val="800"/>
              </a:spcAft>
            </a:pPr>
            <a:r>
              <a:rPr lang="en-IN" sz="2400" b="1" dirty="0">
                <a:latin typeface="Times New Roman" panose="02020603050405020304" pitchFamily="18" charset="0"/>
                <a:ea typeface="Calibri" panose="020F0502020204030204" pitchFamily="34" charset="0"/>
                <a:cs typeface="Kokila" panose="020B0604020202020204" pitchFamily="34" charset="0"/>
              </a:rPr>
              <a:t>Great Epics</a:t>
            </a:r>
            <a:endParaRPr lang="en-IN" sz="2000" dirty="0">
              <a:effectLst/>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3200" b="1" dirty="0">
                <a:effectLst/>
                <a:latin typeface="Times New Roman" panose="02020603050405020304" pitchFamily="18" charset="0"/>
                <a:ea typeface="Calibri" panose="020F0502020204030204" pitchFamily="34" charset="0"/>
                <a:cs typeface="Kokila" panose="020B0604020202020204" pitchFamily="34" charset="0"/>
              </a:rPr>
              <a:t>1. Mahabharata</a:t>
            </a:r>
            <a:endParaRPr lang="en-IN" sz="2000" dirty="0">
              <a:effectLst/>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2400" b="1" dirty="0">
                <a:latin typeface="Times New Roman" panose="02020603050405020304" pitchFamily="18" charset="0"/>
                <a:ea typeface="Calibri" panose="020F0502020204030204" pitchFamily="34" charset="0"/>
                <a:cs typeface="Kokila" panose="020B0604020202020204" pitchFamily="34" charset="0"/>
              </a:rPr>
              <a:t>Overview:</a:t>
            </a:r>
            <a:endParaRPr lang="en-IN" sz="2000" dirty="0">
              <a:effectLst/>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2400" dirty="0">
                <a:latin typeface="Times New Roman" panose="02020603050405020304" pitchFamily="18" charset="0"/>
                <a:ea typeface="Calibri" panose="020F0502020204030204" pitchFamily="34" charset="0"/>
                <a:cs typeface="Kokila" panose="020B0604020202020204" pitchFamily="34" charset="0"/>
              </a:rPr>
              <a:t>- The Mahabharata is attributed to the </a:t>
            </a:r>
            <a:r>
              <a:rPr lang="en-IN" sz="2400" b="1" dirty="0">
                <a:latin typeface="Times New Roman" panose="02020603050405020304" pitchFamily="18" charset="0"/>
                <a:ea typeface="Calibri" panose="020F0502020204030204" pitchFamily="34" charset="0"/>
                <a:cs typeface="Kokila" panose="020B0604020202020204" pitchFamily="34" charset="0"/>
              </a:rPr>
              <a:t>sage Vyasa </a:t>
            </a:r>
            <a:r>
              <a:rPr lang="en-IN" sz="2400" dirty="0">
                <a:latin typeface="Times New Roman" panose="02020603050405020304" pitchFamily="18" charset="0"/>
                <a:ea typeface="Calibri" panose="020F0502020204030204" pitchFamily="34" charset="0"/>
                <a:cs typeface="Kokila" panose="020B0604020202020204" pitchFamily="34" charset="0"/>
              </a:rPr>
              <a:t>and is one of the longest epic poems in the world, containing over 100,000 shlokas (verses).</a:t>
            </a:r>
            <a:endParaRPr lang="en-IN" sz="2000" dirty="0">
              <a:effectLst/>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2400" dirty="0">
                <a:latin typeface="Times New Roman" panose="02020603050405020304" pitchFamily="18" charset="0"/>
                <a:ea typeface="Calibri" panose="020F0502020204030204" pitchFamily="34" charset="0"/>
                <a:cs typeface="Kokila" panose="020B0604020202020204" pitchFamily="34" charset="0"/>
              </a:rPr>
              <a:t>- The epic is divided into 18 books (</a:t>
            </a:r>
            <a:r>
              <a:rPr lang="en-IN" sz="2400" dirty="0" err="1">
                <a:latin typeface="Times New Roman" panose="02020603050405020304" pitchFamily="18" charset="0"/>
                <a:ea typeface="Calibri" panose="020F0502020204030204" pitchFamily="34" charset="0"/>
                <a:cs typeface="Kokila" panose="020B0604020202020204" pitchFamily="34" charset="0"/>
              </a:rPr>
              <a:t>parvas</a:t>
            </a:r>
            <a:r>
              <a:rPr lang="en-IN" sz="2400" dirty="0">
                <a:latin typeface="Times New Roman" panose="02020603050405020304" pitchFamily="18" charset="0"/>
                <a:ea typeface="Calibri" panose="020F0502020204030204" pitchFamily="34" charset="0"/>
                <a:cs typeface="Kokila" panose="020B0604020202020204" pitchFamily="34" charset="0"/>
              </a:rPr>
              <a:t>) and includes the Bhagavad Gita, a sacred text of Hindu philosophy.</a:t>
            </a:r>
            <a:endParaRPr lang="en-IN" sz="2000" dirty="0">
              <a:effectLst/>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2400" b="1" dirty="0">
                <a:latin typeface="Times New Roman" panose="02020603050405020304" pitchFamily="18" charset="0"/>
                <a:ea typeface="Calibri" panose="020F0502020204030204" pitchFamily="34" charset="0"/>
                <a:cs typeface="Kokila" panose="020B0604020202020204" pitchFamily="34" charset="0"/>
              </a:rPr>
              <a:t>Plot:</a:t>
            </a:r>
            <a:endParaRPr lang="en-IN" sz="2000" dirty="0">
              <a:effectLst/>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2400" dirty="0">
                <a:latin typeface="Times New Roman" panose="02020603050405020304" pitchFamily="18" charset="0"/>
                <a:ea typeface="Calibri" panose="020F0502020204030204" pitchFamily="34" charset="0"/>
                <a:cs typeface="Kokila" panose="020B0604020202020204" pitchFamily="34" charset="0"/>
              </a:rPr>
              <a:t>- The central narrative revolves around the conflict between two groups of cousins, the </a:t>
            </a:r>
            <a:r>
              <a:rPr lang="en-IN" sz="2400" dirty="0" err="1">
                <a:latin typeface="Times New Roman" panose="02020603050405020304" pitchFamily="18" charset="0"/>
                <a:ea typeface="Calibri" panose="020F0502020204030204" pitchFamily="34" charset="0"/>
                <a:cs typeface="Kokila" panose="020B0604020202020204" pitchFamily="34" charset="0"/>
              </a:rPr>
              <a:t>Pandavas</a:t>
            </a:r>
            <a:r>
              <a:rPr lang="en-IN" sz="2400" dirty="0">
                <a:latin typeface="Times New Roman" panose="02020603050405020304" pitchFamily="18" charset="0"/>
                <a:ea typeface="Calibri" panose="020F0502020204030204" pitchFamily="34" charset="0"/>
                <a:cs typeface="Kokila" panose="020B0604020202020204" pitchFamily="34" charset="0"/>
              </a:rPr>
              <a:t> and the </a:t>
            </a:r>
            <a:r>
              <a:rPr lang="en-IN" sz="2400" dirty="0" err="1">
                <a:latin typeface="Times New Roman" panose="02020603050405020304" pitchFamily="18" charset="0"/>
                <a:ea typeface="Calibri" panose="020F0502020204030204" pitchFamily="34" charset="0"/>
                <a:cs typeface="Kokila" panose="020B0604020202020204" pitchFamily="34" charset="0"/>
              </a:rPr>
              <a:t>Kauravas</a:t>
            </a:r>
            <a:r>
              <a:rPr lang="en-IN" sz="2400" dirty="0">
                <a:latin typeface="Times New Roman" panose="02020603050405020304" pitchFamily="18" charset="0"/>
                <a:ea typeface="Calibri" panose="020F0502020204030204" pitchFamily="34" charset="0"/>
                <a:cs typeface="Kokila" panose="020B0604020202020204" pitchFamily="34" charset="0"/>
              </a:rPr>
              <a:t>, culminating in the great war of </a:t>
            </a:r>
            <a:r>
              <a:rPr lang="en-IN" sz="2400" dirty="0" err="1">
                <a:latin typeface="Times New Roman" panose="02020603050405020304" pitchFamily="18" charset="0"/>
                <a:ea typeface="Calibri" panose="020F0502020204030204" pitchFamily="34" charset="0"/>
                <a:cs typeface="Kokila" panose="020B0604020202020204" pitchFamily="34" charset="0"/>
              </a:rPr>
              <a:t>Kurukshetra</a:t>
            </a:r>
            <a:r>
              <a:rPr lang="en-IN" sz="2400" dirty="0">
                <a:latin typeface="Times New Roman" panose="02020603050405020304" pitchFamily="18" charset="0"/>
                <a:ea typeface="Calibri" panose="020F0502020204030204" pitchFamily="34" charset="0"/>
                <a:cs typeface="Kokila" panose="020B0604020202020204" pitchFamily="34" charset="0"/>
              </a:rPr>
              <a:t>.</a:t>
            </a:r>
            <a:endParaRPr lang="en-IN" sz="2000" dirty="0">
              <a:effectLst/>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2400" dirty="0">
                <a:latin typeface="Times New Roman" panose="02020603050405020304" pitchFamily="18" charset="0"/>
                <a:ea typeface="Calibri" panose="020F0502020204030204" pitchFamily="34" charset="0"/>
                <a:cs typeface="Kokila" panose="020B0604020202020204" pitchFamily="34" charset="0"/>
              </a:rPr>
              <a:t>- It explores complex themes of dharma (duty/righteousness), justice, loyalty, and the moral dilemmas faced by its characters.</a:t>
            </a:r>
            <a:endParaRPr lang="en-IN" sz="2000" dirty="0">
              <a:effectLst/>
              <a:latin typeface="Calibri" panose="020F0502020204030204" pitchFamily="34" charset="0"/>
              <a:ea typeface="Calibri" panose="020F0502020204030204" pitchFamily="34" charset="0"/>
              <a:cs typeface="Kokila" panose="020B0604020202020204" pitchFamily="34" charset="0"/>
            </a:endParaRPr>
          </a:p>
        </p:txBody>
      </p:sp>
    </p:spTree>
    <p:extLst>
      <p:ext uri="{BB962C8B-B14F-4D97-AF65-F5344CB8AC3E}">
        <p14:creationId xmlns:p14="http://schemas.microsoft.com/office/powerpoint/2010/main" val="1512706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36023" y="305196"/>
            <a:ext cx="10907486" cy="6445482"/>
          </a:xfrm>
          <a:prstGeom prst="rect">
            <a:avLst/>
          </a:prstGeom>
        </p:spPr>
        <p:txBody>
          <a:bodyPr wrap="square">
            <a:spAutoFit/>
          </a:bodyPr>
          <a:lstStyle/>
          <a:p>
            <a:pPr algn="just">
              <a:lnSpc>
                <a:spcPct val="107000"/>
              </a:lnSpc>
              <a:spcAft>
                <a:spcPts val="800"/>
              </a:spcAft>
            </a:pPr>
            <a:r>
              <a:rPr lang="en-IN" sz="2400" b="1" dirty="0">
                <a:latin typeface="Times New Roman" panose="02020603050405020304" pitchFamily="18" charset="0"/>
                <a:ea typeface="Calibri" panose="020F0502020204030204" pitchFamily="34" charset="0"/>
                <a:cs typeface="Kokila" panose="020B0604020202020204" pitchFamily="34" charset="0"/>
              </a:rPr>
              <a:t>Key Characters:</a:t>
            </a:r>
            <a:endParaRPr lang="en-IN" sz="2000" dirty="0">
              <a:effectLst/>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2400" b="1" dirty="0">
                <a:latin typeface="Times New Roman" panose="02020603050405020304" pitchFamily="18" charset="0"/>
                <a:ea typeface="Calibri" panose="020F0502020204030204" pitchFamily="34" charset="0"/>
                <a:cs typeface="Kokila" panose="020B0604020202020204" pitchFamily="34" charset="0"/>
              </a:rPr>
              <a:t>-</a:t>
            </a:r>
            <a:r>
              <a:rPr lang="en-IN" sz="2400" b="1" dirty="0" err="1">
                <a:latin typeface="Times New Roman" panose="02020603050405020304" pitchFamily="18" charset="0"/>
                <a:ea typeface="Calibri" panose="020F0502020204030204" pitchFamily="34" charset="0"/>
                <a:cs typeface="Kokila" panose="020B0604020202020204" pitchFamily="34" charset="0"/>
              </a:rPr>
              <a:t>Pandavas</a:t>
            </a:r>
            <a:r>
              <a:rPr lang="en-IN" sz="2400" dirty="0">
                <a:latin typeface="Times New Roman" panose="02020603050405020304" pitchFamily="18" charset="0"/>
                <a:ea typeface="Calibri" panose="020F0502020204030204" pitchFamily="34" charset="0"/>
                <a:cs typeface="Kokila" panose="020B0604020202020204" pitchFamily="34" charset="0"/>
              </a:rPr>
              <a:t>: The five brothers—Yudhishthira (the eldest and virtuous), </a:t>
            </a:r>
            <a:r>
              <a:rPr lang="en-IN" sz="2400" dirty="0" err="1">
                <a:latin typeface="Times New Roman" panose="02020603050405020304" pitchFamily="18" charset="0"/>
                <a:ea typeface="Calibri" panose="020F0502020204030204" pitchFamily="34" charset="0"/>
                <a:cs typeface="Kokila" panose="020B0604020202020204" pitchFamily="34" charset="0"/>
              </a:rPr>
              <a:t>Bhima</a:t>
            </a:r>
            <a:r>
              <a:rPr lang="en-IN" sz="2400" dirty="0">
                <a:latin typeface="Times New Roman" panose="02020603050405020304" pitchFamily="18" charset="0"/>
                <a:ea typeface="Calibri" panose="020F0502020204030204" pitchFamily="34" charset="0"/>
                <a:cs typeface="Kokila" panose="020B0604020202020204" pitchFamily="34" charset="0"/>
              </a:rPr>
              <a:t> (the strong), </a:t>
            </a:r>
            <a:r>
              <a:rPr lang="en-IN" sz="2400" dirty="0" err="1">
                <a:latin typeface="Times New Roman" panose="02020603050405020304" pitchFamily="18" charset="0"/>
                <a:ea typeface="Calibri" panose="020F0502020204030204" pitchFamily="34" charset="0"/>
                <a:cs typeface="Kokila" panose="020B0604020202020204" pitchFamily="34" charset="0"/>
              </a:rPr>
              <a:t>Arjuna</a:t>
            </a:r>
            <a:r>
              <a:rPr lang="en-IN" sz="2400" dirty="0">
                <a:latin typeface="Times New Roman" panose="02020603050405020304" pitchFamily="18" charset="0"/>
                <a:ea typeface="Calibri" panose="020F0502020204030204" pitchFamily="34" charset="0"/>
                <a:cs typeface="Kokila" panose="020B0604020202020204" pitchFamily="34" charset="0"/>
              </a:rPr>
              <a:t> (the skilled archer), </a:t>
            </a:r>
            <a:r>
              <a:rPr lang="en-IN" sz="2400" dirty="0" err="1">
                <a:latin typeface="Times New Roman" panose="02020603050405020304" pitchFamily="18" charset="0"/>
                <a:ea typeface="Calibri" panose="020F0502020204030204" pitchFamily="34" charset="0"/>
                <a:cs typeface="Kokila" panose="020B0604020202020204" pitchFamily="34" charset="0"/>
              </a:rPr>
              <a:t>Nakula</a:t>
            </a:r>
            <a:r>
              <a:rPr lang="en-IN" sz="2400" dirty="0">
                <a:latin typeface="Times New Roman" panose="02020603050405020304" pitchFamily="18" charset="0"/>
                <a:ea typeface="Calibri" panose="020F0502020204030204" pitchFamily="34" charset="0"/>
                <a:cs typeface="Kokila" panose="020B0604020202020204" pitchFamily="34" charset="0"/>
              </a:rPr>
              <a:t>, and </a:t>
            </a:r>
            <a:r>
              <a:rPr lang="en-IN" sz="2400" dirty="0" err="1">
                <a:latin typeface="Times New Roman" panose="02020603050405020304" pitchFamily="18" charset="0"/>
                <a:ea typeface="Calibri" panose="020F0502020204030204" pitchFamily="34" charset="0"/>
                <a:cs typeface="Kokila" panose="020B0604020202020204" pitchFamily="34" charset="0"/>
              </a:rPr>
              <a:t>Sahadeva</a:t>
            </a:r>
            <a:r>
              <a:rPr lang="en-IN" sz="2400" dirty="0">
                <a:latin typeface="Times New Roman" panose="02020603050405020304" pitchFamily="18" charset="0"/>
                <a:ea typeface="Calibri" panose="020F0502020204030204" pitchFamily="34" charset="0"/>
                <a:cs typeface="Kokila" panose="020B0604020202020204" pitchFamily="34" charset="0"/>
              </a:rPr>
              <a:t>.</a:t>
            </a:r>
            <a:endParaRPr lang="en-IN" sz="2000" dirty="0">
              <a:effectLst/>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2400" b="1" dirty="0">
                <a:latin typeface="Times New Roman" panose="02020603050405020304" pitchFamily="18" charset="0"/>
                <a:ea typeface="Calibri" panose="020F0502020204030204" pitchFamily="34" charset="0"/>
                <a:cs typeface="Kokila" panose="020B0604020202020204" pitchFamily="34" charset="0"/>
              </a:rPr>
              <a:t>- </a:t>
            </a:r>
            <a:r>
              <a:rPr lang="en-IN" sz="2400" b="1" dirty="0" err="1">
                <a:latin typeface="Times New Roman" panose="02020603050405020304" pitchFamily="18" charset="0"/>
                <a:ea typeface="Calibri" panose="020F0502020204030204" pitchFamily="34" charset="0"/>
                <a:cs typeface="Kokila" panose="020B0604020202020204" pitchFamily="34" charset="0"/>
              </a:rPr>
              <a:t>Kauravas</a:t>
            </a:r>
            <a:r>
              <a:rPr lang="en-IN" sz="2400" b="1" dirty="0">
                <a:latin typeface="Times New Roman" panose="02020603050405020304" pitchFamily="18" charset="0"/>
                <a:ea typeface="Calibri" panose="020F0502020204030204" pitchFamily="34" charset="0"/>
                <a:cs typeface="Kokila" panose="020B0604020202020204" pitchFamily="34" charset="0"/>
              </a:rPr>
              <a:t>:</a:t>
            </a:r>
            <a:r>
              <a:rPr lang="en-IN" sz="2400" dirty="0">
                <a:latin typeface="Times New Roman" panose="02020603050405020304" pitchFamily="18" charset="0"/>
                <a:ea typeface="Calibri" panose="020F0502020204030204" pitchFamily="34" charset="0"/>
                <a:cs typeface="Kokila" panose="020B0604020202020204" pitchFamily="34" charset="0"/>
              </a:rPr>
              <a:t> The 100 sons of </a:t>
            </a:r>
            <a:r>
              <a:rPr lang="en-IN" sz="2400" dirty="0" err="1">
                <a:latin typeface="Times New Roman" panose="02020603050405020304" pitchFamily="18" charset="0"/>
                <a:ea typeface="Calibri" panose="020F0502020204030204" pitchFamily="34" charset="0"/>
                <a:cs typeface="Kokila" panose="020B0604020202020204" pitchFamily="34" charset="0"/>
              </a:rPr>
              <a:t>Dhritarashtra</a:t>
            </a:r>
            <a:r>
              <a:rPr lang="en-IN" sz="2400" dirty="0">
                <a:latin typeface="Times New Roman" panose="02020603050405020304" pitchFamily="18" charset="0"/>
                <a:ea typeface="Calibri" panose="020F0502020204030204" pitchFamily="34" charset="0"/>
                <a:cs typeface="Kokila" panose="020B0604020202020204" pitchFamily="34" charset="0"/>
              </a:rPr>
              <a:t>, with </a:t>
            </a:r>
            <a:r>
              <a:rPr lang="en-IN" sz="2400" dirty="0" err="1">
                <a:latin typeface="Times New Roman" panose="02020603050405020304" pitchFamily="18" charset="0"/>
                <a:ea typeface="Calibri" panose="020F0502020204030204" pitchFamily="34" charset="0"/>
                <a:cs typeface="Kokila" panose="020B0604020202020204" pitchFamily="34" charset="0"/>
              </a:rPr>
              <a:t>Duryodhana</a:t>
            </a:r>
            <a:r>
              <a:rPr lang="en-IN" sz="2400" dirty="0">
                <a:latin typeface="Times New Roman" panose="02020603050405020304" pitchFamily="18" charset="0"/>
                <a:ea typeface="Calibri" panose="020F0502020204030204" pitchFamily="34" charset="0"/>
                <a:cs typeface="Kokila" panose="020B0604020202020204" pitchFamily="34" charset="0"/>
              </a:rPr>
              <a:t> as the eldest antagonist.</a:t>
            </a:r>
            <a:endParaRPr lang="en-IN" sz="2000" dirty="0">
              <a:effectLst/>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2400" b="1" dirty="0">
                <a:latin typeface="Times New Roman" panose="02020603050405020304" pitchFamily="18" charset="0"/>
                <a:ea typeface="Calibri" panose="020F0502020204030204" pitchFamily="34" charset="0"/>
                <a:cs typeface="Kokila" panose="020B0604020202020204" pitchFamily="34" charset="0"/>
              </a:rPr>
              <a:t>- Krishna:</a:t>
            </a:r>
            <a:r>
              <a:rPr lang="en-IN" sz="2400" dirty="0">
                <a:latin typeface="Times New Roman" panose="02020603050405020304" pitchFamily="18" charset="0"/>
                <a:ea typeface="Calibri" panose="020F0502020204030204" pitchFamily="34" charset="0"/>
                <a:cs typeface="Kokila" panose="020B0604020202020204" pitchFamily="34" charset="0"/>
              </a:rPr>
              <a:t> Acts as </a:t>
            </a:r>
            <a:r>
              <a:rPr lang="en-IN" sz="2400" dirty="0" err="1">
                <a:latin typeface="Times New Roman" panose="02020603050405020304" pitchFamily="18" charset="0"/>
                <a:ea typeface="Calibri" panose="020F0502020204030204" pitchFamily="34" charset="0"/>
                <a:cs typeface="Kokila" panose="020B0604020202020204" pitchFamily="34" charset="0"/>
              </a:rPr>
              <a:t>Arjuna's</a:t>
            </a:r>
            <a:r>
              <a:rPr lang="en-IN" sz="2400" dirty="0">
                <a:latin typeface="Times New Roman" panose="02020603050405020304" pitchFamily="18" charset="0"/>
                <a:ea typeface="Calibri" panose="020F0502020204030204" pitchFamily="34" charset="0"/>
                <a:cs typeface="Kokila" panose="020B0604020202020204" pitchFamily="34" charset="0"/>
              </a:rPr>
              <a:t> charioteer and divine guide, delivering the philosophical discourse found in the Bhagavad Gita.</a:t>
            </a:r>
            <a:endParaRPr lang="en-IN" sz="2000" dirty="0">
              <a:effectLst/>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2400" b="1" dirty="0">
                <a:latin typeface="Times New Roman" panose="02020603050405020304" pitchFamily="18" charset="0"/>
                <a:ea typeface="Calibri" panose="020F0502020204030204" pitchFamily="34" charset="0"/>
                <a:cs typeface="Kokila" panose="020B0604020202020204" pitchFamily="34" charset="0"/>
              </a:rPr>
              <a:t>Philosophical Themes:</a:t>
            </a:r>
            <a:endParaRPr lang="en-IN" sz="2000" dirty="0">
              <a:effectLst/>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2400" b="1" dirty="0">
                <a:latin typeface="Times New Roman" panose="02020603050405020304" pitchFamily="18" charset="0"/>
                <a:ea typeface="Calibri" panose="020F0502020204030204" pitchFamily="34" charset="0"/>
                <a:cs typeface="Kokila" panose="020B0604020202020204" pitchFamily="34" charset="0"/>
              </a:rPr>
              <a:t>- Dharma:</a:t>
            </a:r>
            <a:r>
              <a:rPr lang="en-IN" sz="2400" dirty="0">
                <a:latin typeface="Times New Roman" panose="02020603050405020304" pitchFamily="18" charset="0"/>
                <a:ea typeface="Calibri" panose="020F0502020204030204" pitchFamily="34" charset="0"/>
                <a:cs typeface="Kokila" panose="020B0604020202020204" pitchFamily="34" charset="0"/>
              </a:rPr>
              <a:t> The concept of righteous duty plays a pivotal role, highlighting the complexities of moral decisions.</a:t>
            </a:r>
            <a:endParaRPr lang="en-IN" sz="2000" dirty="0">
              <a:effectLst/>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2400" b="1" dirty="0">
                <a:latin typeface="Times New Roman" panose="02020603050405020304" pitchFamily="18" charset="0"/>
                <a:ea typeface="Calibri" panose="020F0502020204030204" pitchFamily="34" charset="0"/>
                <a:cs typeface="Kokila" panose="020B0604020202020204" pitchFamily="34" charset="0"/>
              </a:rPr>
              <a:t>- Justice and Revenge:</a:t>
            </a:r>
            <a:r>
              <a:rPr lang="en-IN" sz="2400" dirty="0">
                <a:latin typeface="Times New Roman" panose="02020603050405020304" pitchFamily="18" charset="0"/>
                <a:ea typeface="Calibri" panose="020F0502020204030204" pitchFamily="34" charset="0"/>
                <a:cs typeface="Kokila" panose="020B0604020202020204" pitchFamily="34" charset="0"/>
              </a:rPr>
              <a:t> Explores the consequences of actions and the cyclical nature of life and death.</a:t>
            </a:r>
            <a:endParaRPr lang="en-IN" sz="2000" dirty="0">
              <a:effectLst/>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2400" b="1" dirty="0">
                <a:latin typeface="Times New Roman" panose="02020603050405020304" pitchFamily="18" charset="0"/>
                <a:ea typeface="Calibri" panose="020F0502020204030204" pitchFamily="34" charset="0"/>
                <a:cs typeface="Kokila" panose="020B0604020202020204" pitchFamily="34" charset="0"/>
              </a:rPr>
              <a:t>Cultural Impact:</a:t>
            </a:r>
            <a:endParaRPr lang="en-IN" sz="2000" dirty="0">
              <a:effectLst/>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2400" dirty="0">
                <a:latin typeface="Times New Roman" panose="02020603050405020304" pitchFamily="18" charset="0"/>
                <a:ea typeface="Calibri" panose="020F0502020204030204" pitchFamily="34" charset="0"/>
                <a:cs typeface="Kokila" panose="020B0604020202020204" pitchFamily="34" charset="0"/>
              </a:rPr>
              <a:t>- The Mahabharata has been adapted into various forms, including </a:t>
            </a:r>
            <a:r>
              <a:rPr lang="en-IN" sz="2400" dirty="0" err="1">
                <a:latin typeface="Times New Roman" panose="02020603050405020304" pitchFamily="18" charset="0"/>
                <a:ea typeface="Calibri" panose="020F0502020204030204" pitchFamily="34" charset="0"/>
                <a:cs typeface="Kokila" panose="020B0604020202020204" pitchFamily="34" charset="0"/>
              </a:rPr>
              <a:t>theater</a:t>
            </a:r>
            <a:r>
              <a:rPr lang="en-IN" sz="2400" dirty="0">
                <a:latin typeface="Times New Roman" panose="02020603050405020304" pitchFamily="18" charset="0"/>
                <a:ea typeface="Calibri" panose="020F0502020204030204" pitchFamily="34" charset="0"/>
                <a:cs typeface="Kokila" panose="020B0604020202020204" pitchFamily="34" charset="0"/>
              </a:rPr>
              <a:t>, television, and films. It has inspired countless retellings and interpretations across cultures.</a:t>
            </a:r>
            <a:endParaRPr lang="en-IN" sz="2000" dirty="0">
              <a:effectLst/>
              <a:latin typeface="Calibri" panose="020F0502020204030204" pitchFamily="34" charset="0"/>
              <a:ea typeface="Calibri" panose="020F0502020204030204" pitchFamily="34" charset="0"/>
              <a:cs typeface="Kokila" panose="020B0604020202020204" pitchFamily="34" charset="0"/>
            </a:endParaRPr>
          </a:p>
        </p:txBody>
      </p:sp>
    </p:spTree>
    <p:extLst>
      <p:ext uri="{BB962C8B-B14F-4D97-AF65-F5344CB8AC3E}">
        <p14:creationId xmlns:p14="http://schemas.microsoft.com/office/powerpoint/2010/main" val="28048476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31520" y="420023"/>
            <a:ext cx="11064240" cy="5910914"/>
          </a:xfrm>
          <a:prstGeom prst="rect">
            <a:avLst/>
          </a:prstGeom>
        </p:spPr>
        <p:txBody>
          <a:bodyPr wrap="square">
            <a:spAutoFit/>
          </a:bodyPr>
          <a:lstStyle/>
          <a:p>
            <a:pPr algn="just">
              <a:lnSpc>
                <a:spcPct val="107000"/>
              </a:lnSpc>
              <a:spcAft>
                <a:spcPts val="800"/>
              </a:spcAft>
            </a:pPr>
            <a:r>
              <a:rPr lang="en-IN" sz="3600" b="1" dirty="0">
                <a:effectLst/>
                <a:latin typeface="Times New Roman" panose="02020603050405020304" pitchFamily="18" charset="0"/>
                <a:ea typeface="Calibri" panose="020F0502020204030204" pitchFamily="34" charset="0"/>
                <a:cs typeface="Kokila" panose="020B0604020202020204" pitchFamily="34" charset="0"/>
              </a:rPr>
              <a:t>2. Ramayana</a:t>
            </a:r>
            <a:endParaRPr lang="en-IN" sz="2400" dirty="0">
              <a:effectLst/>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2800" b="1" dirty="0">
                <a:latin typeface="Times New Roman" panose="02020603050405020304" pitchFamily="18" charset="0"/>
                <a:ea typeface="Calibri" panose="020F0502020204030204" pitchFamily="34" charset="0"/>
                <a:cs typeface="Kokila" panose="020B0604020202020204" pitchFamily="34" charset="0"/>
              </a:rPr>
              <a:t>Overview:</a:t>
            </a:r>
            <a:endParaRPr lang="en-IN" sz="2400" dirty="0">
              <a:effectLst/>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2800" dirty="0">
                <a:latin typeface="Times New Roman" panose="02020603050405020304" pitchFamily="18" charset="0"/>
                <a:ea typeface="Calibri" panose="020F0502020204030204" pitchFamily="34" charset="0"/>
                <a:cs typeface="Kokila" panose="020B0604020202020204" pitchFamily="34" charset="0"/>
              </a:rPr>
              <a:t>- Traditionally attributed to sage </a:t>
            </a:r>
            <a:r>
              <a:rPr lang="en-IN" sz="2800" b="1" dirty="0">
                <a:latin typeface="Times New Roman" panose="02020603050405020304" pitchFamily="18" charset="0"/>
                <a:ea typeface="Calibri" panose="020F0502020204030204" pitchFamily="34" charset="0"/>
                <a:cs typeface="Kokila" panose="020B0604020202020204" pitchFamily="34" charset="0"/>
              </a:rPr>
              <a:t>Valmiki, </a:t>
            </a:r>
            <a:r>
              <a:rPr lang="en-IN" sz="2800" dirty="0">
                <a:latin typeface="Times New Roman" panose="02020603050405020304" pitchFamily="18" charset="0"/>
                <a:ea typeface="Calibri" panose="020F0502020204030204" pitchFamily="34" charset="0"/>
                <a:cs typeface="Kokila" panose="020B0604020202020204" pitchFamily="34" charset="0"/>
              </a:rPr>
              <a:t>the Ramayana consists of approximately 24,000 verses and is divided into seven </a:t>
            </a:r>
            <a:r>
              <a:rPr lang="en-IN" sz="2800" dirty="0" err="1">
                <a:latin typeface="Times New Roman" panose="02020603050405020304" pitchFamily="18" charset="0"/>
                <a:ea typeface="Calibri" panose="020F0502020204030204" pitchFamily="34" charset="0"/>
                <a:cs typeface="Kokila" panose="020B0604020202020204" pitchFamily="34" charset="0"/>
              </a:rPr>
              <a:t>Kandas</a:t>
            </a:r>
            <a:r>
              <a:rPr lang="en-IN" sz="2800" dirty="0">
                <a:latin typeface="Times New Roman" panose="02020603050405020304" pitchFamily="18" charset="0"/>
                <a:ea typeface="Calibri" panose="020F0502020204030204" pitchFamily="34" charset="0"/>
                <a:cs typeface="Kokila" panose="020B0604020202020204" pitchFamily="34" charset="0"/>
              </a:rPr>
              <a:t> (books).</a:t>
            </a:r>
            <a:endParaRPr lang="en-IN" sz="2400" dirty="0">
              <a:effectLst/>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2800" dirty="0">
                <a:latin typeface="Times New Roman" panose="02020603050405020304" pitchFamily="18" charset="0"/>
                <a:ea typeface="Calibri" panose="020F0502020204030204" pitchFamily="34" charset="0"/>
                <a:cs typeface="Kokila" panose="020B0604020202020204" pitchFamily="34" charset="0"/>
              </a:rPr>
              <a:t>- The narrative celebrates the ideals of dharma, particularly in relation to heroism and virtue.</a:t>
            </a:r>
            <a:endParaRPr lang="en-IN" sz="2400" dirty="0">
              <a:effectLst/>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2800" b="1" dirty="0">
                <a:latin typeface="Times New Roman" panose="02020603050405020304" pitchFamily="18" charset="0"/>
                <a:ea typeface="Calibri" panose="020F0502020204030204" pitchFamily="34" charset="0"/>
                <a:cs typeface="Kokila" panose="020B0604020202020204" pitchFamily="34" charset="0"/>
              </a:rPr>
              <a:t>Plot:</a:t>
            </a:r>
            <a:endParaRPr lang="en-IN" sz="2400" dirty="0">
              <a:effectLst/>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2800" dirty="0">
                <a:latin typeface="Times New Roman" panose="02020603050405020304" pitchFamily="18" charset="0"/>
                <a:ea typeface="Calibri" panose="020F0502020204030204" pitchFamily="34" charset="0"/>
                <a:cs typeface="Kokila" panose="020B0604020202020204" pitchFamily="34" charset="0"/>
              </a:rPr>
              <a:t>- The story follows Rama, his wife </a:t>
            </a:r>
            <a:r>
              <a:rPr lang="en-IN" sz="2800" dirty="0" err="1">
                <a:latin typeface="Times New Roman" panose="02020603050405020304" pitchFamily="18" charset="0"/>
                <a:ea typeface="Calibri" panose="020F0502020204030204" pitchFamily="34" charset="0"/>
                <a:cs typeface="Kokila" panose="020B0604020202020204" pitchFamily="34" charset="0"/>
              </a:rPr>
              <a:t>Sita</a:t>
            </a:r>
            <a:r>
              <a:rPr lang="en-IN" sz="2800" dirty="0">
                <a:latin typeface="Times New Roman" panose="02020603050405020304" pitchFamily="18" charset="0"/>
                <a:ea typeface="Calibri" panose="020F0502020204030204" pitchFamily="34" charset="0"/>
                <a:cs typeface="Kokila" panose="020B0604020202020204" pitchFamily="34" charset="0"/>
              </a:rPr>
              <a:t>, and his loyal companion Hanuman as they confront the demon king </a:t>
            </a:r>
            <a:r>
              <a:rPr lang="en-IN" sz="2800" dirty="0" err="1">
                <a:latin typeface="Times New Roman" panose="02020603050405020304" pitchFamily="18" charset="0"/>
                <a:ea typeface="Calibri" panose="020F0502020204030204" pitchFamily="34" charset="0"/>
                <a:cs typeface="Kokila" panose="020B0604020202020204" pitchFamily="34" charset="0"/>
              </a:rPr>
              <a:t>Ravana</a:t>
            </a:r>
            <a:r>
              <a:rPr lang="en-IN" sz="2800" dirty="0">
                <a:latin typeface="Times New Roman" panose="02020603050405020304" pitchFamily="18" charset="0"/>
                <a:ea typeface="Calibri" panose="020F0502020204030204" pitchFamily="34" charset="0"/>
                <a:cs typeface="Kokila" panose="020B0604020202020204" pitchFamily="34" charset="0"/>
              </a:rPr>
              <a:t>, who abducts </a:t>
            </a:r>
            <a:r>
              <a:rPr lang="en-IN" sz="2800" dirty="0" err="1">
                <a:latin typeface="Times New Roman" panose="02020603050405020304" pitchFamily="18" charset="0"/>
                <a:ea typeface="Calibri" panose="020F0502020204030204" pitchFamily="34" charset="0"/>
                <a:cs typeface="Kokila" panose="020B0604020202020204" pitchFamily="34" charset="0"/>
              </a:rPr>
              <a:t>Sita</a:t>
            </a:r>
            <a:r>
              <a:rPr lang="en-IN" sz="2800" dirty="0">
                <a:latin typeface="Times New Roman" panose="02020603050405020304" pitchFamily="18" charset="0"/>
                <a:ea typeface="Calibri" panose="020F0502020204030204" pitchFamily="34" charset="0"/>
                <a:cs typeface="Kokila" panose="020B0604020202020204" pitchFamily="34" charset="0"/>
              </a:rPr>
              <a:t>.</a:t>
            </a:r>
            <a:endParaRPr lang="en-IN" sz="2400" dirty="0">
              <a:effectLst/>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2800" dirty="0">
                <a:latin typeface="Times New Roman" panose="02020603050405020304" pitchFamily="18" charset="0"/>
                <a:ea typeface="Calibri" panose="020F0502020204030204" pitchFamily="34" charset="0"/>
                <a:cs typeface="Kokila" panose="020B0604020202020204" pitchFamily="34" charset="0"/>
              </a:rPr>
              <a:t>- It highlights Rama’s quest to rescue </a:t>
            </a:r>
            <a:r>
              <a:rPr lang="en-IN" sz="2800" dirty="0" err="1">
                <a:latin typeface="Times New Roman" panose="02020603050405020304" pitchFamily="18" charset="0"/>
                <a:ea typeface="Calibri" panose="020F0502020204030204" pitchFamily="34" charset="0"/>
                <a:cs typeface="Kokila" panose="020B0604020202020204" pitchFamily="34" charset="0"/>
              </a:rPr>
              <a:t>Sita</a:t>
            </a:r>
            <a:r>
              <a:rPr lang="en-IN" sz="2800" dirty="0">
                <a:latin typeface="Times New Roman" panose="02020603050405020304" pitchFamily="18" charset="0"/>
                <a:ea typeface="Calibri" panose="020F0502020204030204" pitchFamily="34" charset="0"/>
                <a:cs typeface="Kokila" panose="020B0604020202020204" pitchFamily="34" charset="0"/>
              </a:rPr>
              <a:t> and restore dharma, emphasizing loyalty, love, and sacrifice.</a:t>
            </a:r>
            <a:endParaRPr lang="en-IN" sz="2400" dirty="0">
              <a:effectLst/>
              <a:latin typeface="Calibri" panose="020F0502020204030204" pitchFamily="34" charset="0"/>
              <a:ea typeface="Calibri" panose="020F0502020204030204" pitchFamily="34" charset="0"/>
              <a:cs typeface="Kokila" panose="020B0604020202020204" pitchFamily="34" charset="0"/>
            </a:endParaRPr>
          </a:p>
        </p:txBody>
      </p:sp>
    </p:spTree>
    <p:extLst>
      <p:ext uri="{BB962C8B-B14F-4D97-AF65-F5344CB8AC3E}">
        <p14:creationId xmlns:p14="http://schemas.microsoft.com/office/powerpoint/2010/main" val="34628102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87829" y="418131"/>
            <a:ext cx="11064240" cy="6342762"/>
          </a:xfrm>
          <a:prstGeom prst="rect">
            <a:avLst/>
          </a:prstGeom>
        </p:spPr>
        <p:txBody>
          <a:bodyPr wrap="square">
            <a:spAutoFit/>
          </a:bodyPr>
          <a:lstStyle/>
          <a:p>
            <a:pPr algn="just">
              <a:lnSpc>
                <a:spcPct val="107000"/>
              </a:lnSpc>
              <a:spcAft>
                <a:spcPts val="800"/>
              </a:spcAft>
            </a:pPr>
            <a:r>
              <a:rPr lang="en-IN" sz="2800" b="1" dirty="0">
                <a:latin typeface="Times New Roman" panose="02020603050405020304" pitchFamily="18" charset="0"/>
                <a:ea typeface="Calibri" panose="020F0502020204030204" pitchFamily="34" charset="0"/>
                <a:cs typeface="Kokila" panose="020B0604020202020204" pitchFamily="34" charset="0"/>
              </a:rPr>
              <a:t>Key Characters:</a:t>
            </a:r>
            <a:endParaRPr lang="en-IN" sz="2400" dirty="0">
              <a:effectLst/>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2800" b="1" dirty="0">
                <a:latin typeface="Times New Roman" panose="02020603050405020304" pitchFamily="18" charset="0"/>
                <a:ea typeface="Calibri" panose="020F0502020204030204" pitchFamily="34" charset="0"/>
                <a:cs typeface="Kokila" panose="020B0604020202020204" pitchFamily="34" charset="0"/>
              </a:rPr>
              <a:t>- Rama:</a:t>
            </a:r>
            <a:r>
              <a:rPr lang="en-IN" sz="2800" dirty="0">
                <a:latin typeface="Times New Roman" panose="02020603050405020304" pitchFamily="18" charset="0"/>
                <a:ea typeface="Calibri" panose="020F0502020204030204" pitchFamily="34" charset="0"/>
                <a:cs typeface="Kokila" panose="020B0604020202020204" pitchFamily="34" charset="0"/>
              </a:rPr>
              <a:t> The seventh avatar of Vishnu, epitomizing virtue and the ideal king.</a:t>
            </a:r>
            <a:endParaRPr lang="en-IN" sz="2400" dirty="0">
              <a:effectLst/>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2800" b="1" dirty="0">
                <a:latin typeface="Times New Roman" panose="02020603050405020304" pitchFamily="18" charset="0"/>
                <a:ea typeface="Calibri" panose="020F0502020204030204" pitchFamily="34" charset="0"/>
                <a:cs typeface="Kokila" panose="020B0604020202020204" pitchFamily="34" charset="0"/>
              </a:rPr>
              <a:t>- </a:t>
            </a:r>
            <a:r>
              <a:rPr lang="en-IN" sz="2800" b="1" dirty="0" err="1">
                <a:latin typeface="Times New Roman" panose="02020603050405020304" pitchFamily="18" charset="0"/>
                <a:ea typeface="Calibri" panose="020F0502020204030204" pitchFamily="34" charset="0"/>
                <a:cs typeface="Kokila" panose="020B0604020202020204" pitchFamily="34" charset="0"/>
              </a:rPr>
              <a:t>Sita</a:t>
            </a:r>
            <a:r>
              <a:rPr lang="en-IN" sz="2800" b="1" dirty="0">
                <a:latin typeface="Times New Roman" panose="02020603050405020304" pitchFamily="18" charset="0"/>
                <a:ea typeface="Calibri" panose="020F0502020204030204" pitchFamily="34" charset="0"/>
                <a:cs typeface="Kokila" panose="020B0604020202020204" pitchFamily="34" charset="0"/>
              </a:rPr>
              <a:t>:</a:t>
            </a:r>
            <a:r>
              <a:rPr lang="en-IN" sz="2800" dirty="0">
                <a:latin typeface="Times New Roman" panose="02020603050405020304" pitchFamily="18" charset="0"/>
                <a:ea typeface="Calibri" panose="020F0502020204030204" pitchFamily="34" charset="0"/>
                <a:cs typeface="Kokila" panose="020B0604020202020204" pitchFamily="34" charset="0"/>
              </a:rPr>
              <a:t> Rama’s devoted wife, representing purity and strength.</a:t>
            </a:r>
            <a:endParaRPr lang="en-IN" sz="2400" dirty="0">
              <a:effectLst/>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2800" b="1" dirty="0">
                <a:latin typeface="Times New Roman" panose="02020603050405020304" pitchFamily="18" charset="0"/>
                <a:ea typeface="Calibri" panose="020F0502020204030204" pitchFamily="34" charset="0"/>
                <a:cs typeface="Kokila" panose="020B0604020202020204" pitchFamily="34" charset="0"/>
              </a:rPr>
              <a:t>- Hanuman:</a:t>
            </a:r>
            <a:r>
              <a:rPr lang="en-IN" sz="2800" dirty="0">
                <a:latin typeface="Times New Roman" panose="02020603050405020304" pitchFamily="18" charset="0"/>
                <a:ea typeface="Calibri" panose="020F0502020204030204" pitchFamily="34" charset="0"/>
                <a:cs typeface="Kokila" panose="020B0604020202020204" pitchFamily="34" charset="0"/>
              </a:rPr>
              <a:t> The devoted monkey god, symbolizing loyalty and devotion.</a:t>
            </a:r>
            <a:endParaRPr lang="en-IN" sz="2400" dirty="0">
              <a:effectLst/>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2800" b="1" dirty="0">
                <a:latin typeface="Times New Roman" panose="02020603050405020304" pitchFamily="18" charset="0"/>
                <a:ea typeface="Calibri" panose="020F0502020204030204" pitchFamily="34" charset="0"/>
                <a:cs typeface="Kokila" panose="020B0604020202020204" pitchFamily="34" charset="0"/>
              </a:rPr>
              <a:t>- </a:t>
            </a:r>
            <a:r>
              <a:rPr lang="en-IN" sz="2800" b="1" dirty="0" err="1">
                <a:latin typeface="Times New Roman" panose="02020603050405020304" pitchFamily="18" charset="0"/>
                <a:ea typeface="Calibri" panose="020F0502020204030204" pitchFamily="34" charset="0"/>
                <a:cs typeface="Kokila" panose="020B0604020202020204" pitchFamily="34" charset="0"/>
              </a:rPr>
              <a:t>Ravana</a:t>
            </a:r>
            <a:r>
              <a:rPr lang="en-IN" sz="2800" b="1" dirty="0">
                <a:latin typeface="Times New Roman" panose="02020603050405020304" pitchFamily="18" charset="0"/>
                <a:ea typeface="Calibri" panose="020F0502020204030204" pitchFamily="34" charset="0"/>
                <a:cs typeface="Kokila" panose="020B0604020202020204" pitchFamily="34" charset="0"/>
              </a:rPr>
              <a:t>:</a:t>
            </a:r>
            <a:r>
              <a:rPr lang="en-IN" sz="2800" dirty="0">
                <a:latin typeface="Times New Roman" panose="02020603050405020304" pitchFamily="18" charset="0"/>
                <a:ea typeface="Calibri" panose="020F0502020204030204" pitchFamily="34" charset="0"/>
                <a:cs typeface="Kokila" panose="020B0604020202020204" pitchFamily="34" charset="0"/>
              </a:rPr>
              <a:t> The ten-headed demon king, a complex antagonist representing unchecked desire and power.</a:t>
            </a:r>
            <a:endParaRPr lang="en-IN" sz="2400" dirty="0">
              <a:effectLst/>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2800" b="1" dirty="0">
                <a:latin typeface="Times New Roman" panose="02020603050405020304" pitchFamily="18" charset="0"/>
                <a:ea typeface="Calibri" panose="020F0502020204030204" pitchFamily="34" charset="0"/>
                <a:cs typeface="Kokila" panose="020B0604020202020204" pitchFamily="34" charset="0"/>
              </a:rPr>
              <a:t>Cultural Significance:</a:t>
            </a:r>
            <a:endParaRPr lang="en-IN" sz="2400" dirty="0">
              <a:effectLst/>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2800" dirty="0">
                <a:latin typeface="Times New Roman" panose="02020603050405020304" pitchFamily="18" charset="0"/>
                <a:ea typeface="Calibri" panose="020F0502020204030204" pitchFamily="34" charset="0"/>
                <a:cs typeface="Kokila" panose="020B0604020202020204" pitchFamily="34" charset="0"/>
              </a:rPr>
              <a:t>- The Ramayana has influenced art, dance, and literature across Asia, with numerous adaptations in various languages.</a:t>
            </a:r>
            <a:endParaRPr lang="en-IN" sz="2400" dirty="0">
              <a:effectLst/>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2800" dirty="0">
                <a:latin typeface="Times New Roman" panose="02020603050405020304" pitchFamily="18" charset="0"/>
                <a:ea typeface="Calibri" panose="020F0502020204030204" pitchFamily="34" charset="0"/>
                <a:cs typeface="Kokila" panose="020B0604020202020204" pitchFamily="34" charset="0"/>
              </a:rPr>
              <a:t>- Its themes of devotion, love, and moral integrity resonate deeply in Indian culture.</a:t>
            </a:r>
            <a:endParaRPr lang="en-IN" sz="2400" dirty="0">
              <a:effectLst/>
              <a:latin typeface="Calibri" panose="020F0502020204030204" pitchFamily="34" charset="0"/>
              <a:ea typeface="Calibri" panose="020F0502020204030204" pitchFamily="34" charset="0"/>
              <a:cs typeface="Kokila" panose="020B0604020202020204" pitchFamily="34" charset="0"/>
            </a:endParaRPr>
          </a:p>
        </p:txBody>
      </p:sp>
    </p:spTree>
    <p:extLst>
      <p:ext uri="{BB962C8B-B14F-4D97-AF65-F5344CB8AC3E}">
        <p14:creationId xmlns:p14="http://schemas.microsoft.com/office/powerpoint/2010/main" val="22608190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09006" y="208577"/>
            <a:ext cx="11652068" cy="6534289"/>
          </a:xfrm>
          <a:prstGeom prst="rect">
            <a:avLst/>
          </a:prstGeom>
        </p:spPr>
        <p:txBody>
          <a:bodyPr wrap="square">
            <a:spAutoFit/>
          </a:bodyPr>
          <a:lstStyle/>
          <a:p>
            <a:pPr algn="just">
              <a:lnSpc>
                <a:spcPct val="107000"/>
              </a:lnSpc>
              <a:spcAft>
                <a:spcPts val="800"/>
              </a:spcAft>
            </a:pPr>
            <a:r>
              <a:rPr lang="en-IN" sz="2800" b="1" dirty="0">
                <a:effectLst/>
                <a:latin typeface="Times New Roman" panose="02020603050405020304" pitchFamily="18" charset="0"/>
                <a:ea typeface="Calibri" panose="020F0502020204030204" pitchFamily="34" charset="0"/>
                <a:cs typeface="Kokila" panose="020B0604020202020204" pitchFamily="34" charset="0"/>
              </a:rPr>
              <a:t>Tamil Literature</a:t>
            </a:r>
            <a:endParaRPr lang="en-IN" dirty="0">
              <a:effectLst/>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2000" b="1" dirty="0">
                <a:latin typeface="Times New Roman" panose="02020603050405020304" pitchFamily="18" charset="0"/>
                <a:ea typeface="Calibri" panose="020F0502020204030204" pitchFamily="34" charset="0"/>
                <a:cs typeface="Kokila" panose="020B0604020202020204" pitchFamily="34" charset="0"/>
              </a:rPr>
              <a:t>1. </a:t>
            </a:r>
            <a:r>
              <a:rPr lang="en-IN" sz="2000" b="1" dirty="0" err="1">
                <a:latin typeface="Times New Roman" panose="02020603050405020304" pitchFamily="18" charset="0"/>
                <a:ea typeface="Calibri" panose="020F0502020204030204" pitchFamily="34" charset="0"/>
                <a:cs typeface="Kokila" panose="020B0604020202020204" pitchFamily="34" charset="0"/>
              </a:rPr>
              <a:t>Sangam</a:t>
            </a:r>
            <a:r>
              <a:rPr lang="en-IN" sz="2000" b="1" dirty="0">
                <a:latin typeface="Times New Roman" panose="02020603050405020304" pitchFamily="18" charset="0"/>
                <a:ea typeface="Calibri" panose="020F0502020204030204" pitchFamily="34" charset="0"/>
                <a:cs typeface="Kokila" panose="020B0604020202020204" pitchFamily="34" charset="0"/>
              </a:rPr>
              <a:t> Literature</a:t>
            </a:r>
            <a:endParaRPr lang="en-IN" dirty="0">
              <a:effectLst/>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2000" b="1" dirty="0">
                <a:latin typeface="Times New Roman" panose="02020603050405020304" pitchFamily="18" charset="0"/>
                <a:ea typeface="Calibri" panose="020F0502020204030204" pitchFamily="34" charset="0"/>
                <a:cs typeface="Kokila" panose="020B0604020202020204" pitchFamily="34" charset="0"/>
              </a:rPr>
              <a:t>Overview:</a:t>
            </a:r>
            <a:endParaRPr lang="en-IN" dirty="0">
              <a:effectLst/>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2000" dirty="0">
                <a:latin typeface="Times New Roman" panose="02020603050405020304" pitchFamily="18" charset="0"/>
                <a:ea typeface="Calibri" panose="020F0502020204030204" pitchFamily="34" charset="0"/>
                <a:cs typeface="Kokila" panose="020B0604020202020204" pitchFamily="34" charset="0"/>
              </a:rPr>
              <a:t>- </a:t>
            </a:r>
            <a:r>
              <a:rPr lang="en-IN" sz="2000" dirty="0" err="1">
                <a:latin typeface="Times New Roman" panose="02020603050405020304" pitchFamily="18" charset="0"/>
                <a:ea typeface="Calibri" panose="020F0502020204030204" pitchFamily="34" charset="0"/>
                <a:cs typeface="Kokila" panose="020B0604020202020204" pitchFamily="34" charset="0"/>
              </a:rPr>
              <a:t>Sangam</a:t>
            </a:r>
            <a:r>
              <a:rPr lang="en-IN" sz="2000" dirty="0">
                <a:latin typeface="Times New Roman" panose="02020603050405020304" pitchFamily="18" charset="0"/>
                <a:ea typeface="Calibri" panose="020F0502020204030204" pitchFamily="34" charset="0"/>
                <a:cs typeface="Kokila" panose="020B0604020202020204" pitchFamily="34" charset="0"/>
              </a:rPr>
              <a:t> literature refers to a body of Tamil literature composed between approximately 300 BCE and 300 CE, representing one of the earliest known literary traditions in India.</a:t>
            </a:r>
            <a:endParaRPr lang="en-IN" dirty="0">
              <a:effectLst/>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2000" dirty="0">
                <a:latin typeface="Times New Roman" panose="02020603050405020304" pitchFamily="18" charset="0"/>
                <a:ea typeface="Calibri" panose="020F0502020204030204" pitchFamily="34" charset="0"/>
                <a:cs typeface="Kokila" panose="020B0604020202020204" pitchFamily="34" charset="0"/>
              </a:rPr>
              <a:t>- It consists of poems written by various poets, organized into anthologies known as "</a:t>
            </a:r>
            <a:r>
              <a:rPr lang="en-IN" sz="2000" dirty="0" err="1">
                <a:latin typeface="Times New Roman" panose="02020603050405020304" pitchFamily="18" charset="0"/>
                <a:ea typeface="Calibri" panose="020F0502020204030204" pitchFamily="34" charset="0"/>
                <a:cs typeface="Kokila" panose="020B0604020202020204" pitchFamily="34" charset="0"/>
              </a:rPr>
              <a:t>Sangam</a:t>
            </a:r>
            <a:r>
              <a:rPr lang="en-IN" sz="2000" dirty="0">
                <a:latin typeface="Times New Roman" panose="02020603050405020304" pitchFamily="18" charset="0"/>
                <a:ea typeface="Calibri" panose="020F0502020204030204" pitchFamily="34" charset="0"/>
                <a:cs typeface="Kokila" panose="020B0604020202020204" pitchFamily="34" charset="0"/>
              </a:rPr>
              <a:t>" texts.</a:t>
            </a:r>
            <a:endParaRPr lang="en-IN" dirty="0">
              <a:effectLst/>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2000" b="1" dirty="0">
                <a:latin typeface="Times New Roman" panose="02020603050405020304" pitchFamily="18" charset="0"/>
                <a:ea typeface="Calibri" panose="020F0502020204030204" pitchFamily="34" charset="0"/>
                <a:cs typeface="Kokila" panose="020B0604020202020204" pitchFamily="34" charset="0"/>
              </a:rPr>
              <a:t>Themes:</a:t>
            </a:r>
            <a:endParaRPr lang="en-IN" dirty="0">
              <a:effectLst/>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2000" b="1" dirty="0">
                <a:latin typeface="Times New Roman" panose="02020603050405020304" pitchFamily="18" charset="0"/>
                <a:ea typeface="Calibri" panose="020F0502020204030204" pitchFamily="34" charset="0"/>
                <a:cs typeface="Kokila" panose="020B0604020202020204" pitchFamily="34" charset="0"/>
              </a:rPr>
              <a:t>- </a:t>
            </a:r>
            <a:r>
              <a:rPr lang="en-IN" sz="2000" b="1" dirty="0" err="1">
                <a:latin typeface="Times New Roman" panose="02020603050405020304" pitchFamily="18" charset="0"/>
                <a:ea typeface="Calibri" panose="020F0502020204030204" pitchFamily="34" charset="0"/>
                <a:cs typeface="Kokila" panose="020B0604020202020204" pitchFamily="34" charset="0"/>
              </a:rPr>
              <a:t>Akam</a:t>
            </a:r>
            <a:r>
              <a:rPr lang="en-IN" sz="2000" b="1" dirty="0">
                <a:latin typeface="Times New Roman" panose="02020603050405020304" pitchFamily="18" charset="0"/>
                <a:ea typeface="Calibri" panose="020F0502020204030204" pitchFamily="34" charset="0"/>
                <a:cs typeface="Kokila" panose="020B0604020202020204" pitchFamily="34" charset="0"/>
              </a:rPr>
              <a:t> (Inner Life):</a:t>
            </a:r>
            <a:r>
              <a:rPr lang="en-IN" sz="2000" dirty="0">
                <a:latin typeface="Times New Roman" panose="02020603050405020304" pitchFamily="18" charset="0"/>
                <a:ea typeface="Calibri" panose="020F0502020204030204" pitchFamily="34" charset="0"/>
                <a:cs typeface="Kokila" panose="020B0604020202020204" pitchFamily="34" charset="0"/>
              </a:rPr>
              <a:t> Poems focused on love, emotions, and personal relationships, often exploring the nuances of romance and longing.</a:t>
            </a:r>
            <a:endParaRPr lang="en-IN" dirty="0">
              <a:effectLst/>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2000" b="1" dirty="0">
                <a:latin typeface="Times New Roman" panose="02020603050405020304" pitchFamily="18" charset="0"/>
                <a:ea typeface="Calibri" panose="020F0502020204030204" pitchFamily="34" charset="0"/>
                <a:cs typeface="Kokila" panose="020B0604020202020204" pitchFamily="34" charset="0"/>
              </a:rPr>
              <a:t>- Puram (Outer Life):</a:t>
            </a:r>
            <a:r>
              <a:rPr lang="en-IN" sz="2000" dirty="0">
                <a:latin typeface="Times New Roman" panose="02020603050405020304" pitchFamily="18" charset="0"/>
                <a:ea typeface="Calibri" panose="020F0502020204030204" pitchFamily="34" charset="0"/>
                <a:cs typeface="Kokila" panose="020B0604020202020204" pitchFamily="34" charset="0"/>
              </a:rPr>
              <a:t> Poems addressing themes of heroism, </a:t>
            </a:r>
            <a:r>
              <a:rPr lang="en-IN" sz="2000" dirty="0" err="1">
                <a:latin typeface="Times New Roman" panose="02020603050405020304" pitchFamily="18" charset="0"/>
                <a:ea typeface="Calibri" panose="020F0502020204030204" pitchFamily="34" charset="0"/>
                <a:cs typeface="Kokila" panose="020B0604020202020204" pitchFamily="34" charset="0"/>
              </a:rPr>
              <a:t>valor</a:t>
            </a:r>
            <a:r>
              <a:rPr lang="en-IN" sz="2000" dirty="0">
                <a:latin typeface="Times New Roman" panose="02020603050405020304" pitchFamily="18" charset="0"/>
                <a:ea typeface="Calibri" panose="020F0502020204030204" pitchFamily="34" charset="0"/>
                <a:cs typeface="Kokila" panose="020B0604020202020204" pitchFamily="34" charset="0"/>
              </a:rPr>
              <a:t>, and the social and political landscape.</a:t>
            </a:r>
            <a:endParaRPr lang="en-IN" dirty="0">
              <a:effectLst/>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2000" b="1" dirty="0">
                <a:latin typeface="Times New Roman" panose="02020603050405020304" pitchFamily="18" charset="0"/>
                <a:ea typeface="Calibri" panose="020F0502020204030204" pitchFamily="34" charset="0"/>
                <a:cs typeface="Kokila" panose="020B0604020202020204" pitchFamily="34" charset="0"/>
              </a:rPr>
              <a:t>Key Texts:</a:t>
            </a:r>
            <a:endParaRPr lang="en-IN" dirty="0">
              <a:effectLst/>
              <a:latin typeface="Calibri" panose="020F0502020204030204" pitchFamily="34" charset="0"/>
              <a:ea typeface="Calibri" panose="020F0502020204030204" pitchFamily="34" charset="0"/>
              <a:cs typeface="Kokila" panose="020B0604020202020204" pitchFamily="34" charset="0"/>
            </a:endParaRPr>
          </a:p>
          <a:p>
            <a:pPr marL="285750" indent="-285750" algn="just">
              <a:lnSpc>
                <a:spcPct val="107000"/>
              </a:lnSpc>
              <a:spcAft>
                <a:spcPts val="800"/>
              </a:spcAft>
              <a:buFontTx/>
              <a:buChar char="-"/>
            </a:pPr>
            <a:r>
              <a:rPr lang="en-IN" sz="2000" b="1" dirty="0" err="1">
                <a:latin typeface="Times New Roman" panose="02020603050405020304" pitchFamily="18" charset="0"/>
                <a:ea typeface="Calibri" panose="020F0502020204030204" pitchFamily="34" charset="0"/>
                <a:cs typeface="Kokila" panose="020B0604020202020204" pitchFamily="34" charset="0"/>
              </a:rPr>
              <a:t>Thirukkural</a:t>
            </a:r>
            <a:r>
              <a:rPr lang="en-IN" sz="2000" b="1" dirty="0">
                <a:latin typeface="Times New Roman" panose="02020603050405020304" pitchFamily="18" charset="0"/>
                <a:ea typeface="Calibri" panose="020F0502020204030204" pitchFamily="34" charset="0"/>
                <a:cs typeface="Kokila" panose="020B0604020202020204" pitchFamily="34" charset="0"/>
              </a:rPr>
              <a:t>:</a:t>
            </a:r>
            <a:r>
              <a:rPr lang="en-IN" sz="2000" dirty="0">
                <a:latin typeface="Times New Roman" panose="02020603050405020304" pitchFamily="18" charset="0"/>
                <a:ea typeface="Calibri" panose="020F0502020204030204" pitchFamily="34" charset="0"/>
                <a:cs typeface="Kokila" panose="020B0604020202020204" pitchFamily="34" charset="0"/>
              </a:rPr>
              <a:t> Written by </a:t>
            </a:r>
            <a:r>
              <a:rPr lang="en-IN" sz="2000" dirty="0" err="1">
                <a:latin typeface="Times New Roman" panose="02020603050405020304" pitchFamily="18" charset="0"/>
                <a:ea typeface="Calibri" panose="020F0502020204030204" pitchFamily="34" charset="0"/>
                <a:cs typeface="Kokila" panose="020B0604020202020204" pitchFamily="34" charset="0"/>
              </a:rPr>
              <a:t>Thiruvalluvar</a:t>
            </a:r>
            <a:r>
              <a:rPr lang="en-IN" sz="2000" dirty="0">
                <a:latin typeface="Times New Roman" panose="02020603050405020304" pitchFamily="18" charset="0"/>
                <a:ea typeface="Calibri" panose="020F0502020204030204" pitchFamily="34" charset="0"/>
                <a:cs typeface="Kokila" panose="020B0604020202020204" pitchFamily="34" charset="0"/>
              </a:rPr>
              <a:t>, this work consists of 1,330 couplets providing ethical guidance on virtue (</a:t>
            </a:r>
            <a:r>
              <a:rPr lang="en-IN" sz="2000" dirty="0" err="1">
                <a:latin typeface="Times New Roman" panose="02020603050405020304" pitchFamily="18" charset="0"/>
                <a:ea typeface="Calibri" panose="020F0502020204030204" pitchFamily="34" charset="0"/>
                <a:cs typeface="Kokila" panose="020B0604020202020204" pitchFamily="34" charset="0"/>
              </a:rPr>
              <a:t>aram</a:t>
            </a:r>
            <a:r>
              <a:rPr lang="en-IN" sz="2000" dirty="0">
                <a:latin typeface="Times New Roman" panose="02020603050405020304" pitchFamily="18" charset="0"/>
                <a:ea typeface="Calibri" panose="020F0502020204030204" pitchFamily="34" charset="0"/>
                <a:cs typeface="Kokila" panose="020B0604020202020204" pitchFamily="34" charset="0"/>
              </a:rPr>
              <a:t>), wealth (</a:t>
            </a:r>
            <a:r>
              <a:rPr lang="en-IN" sz="2000" dirty="0" err="1">
                <a:latin typeface="Times New Roman" panose="02020603050405020304" pitchFamily="18" charset="0"/>
                <a:ea typeface="Calibri" panose="020F0502020204030204" pitchFamily="34" charset="0"/>
                <a:cs typeface="Kokila" panose="020B0604020202020204" pitchFamily="34" charset="0"/>
              </a:rPr>
              <a:t>porul</a:t>
            </a:r>
            <a:r>
              <a:rPr lang="en-IN" sz="2000" dirty="0">
                <a:latin typeface="Times New Roman" panose="02020603050405020304" pitchFamily="18" charset="0"/>
                <a:ea typeface="Calibri" panose="020F0502020204030204" pitchFamily="34" charset="0"/>
                <a:cs typeface="Kokila" panose="020B0604020202020204" pitchFamily="34" charset="0"/>
              </a:rPr>
              <a:t>), and love (</a:t>
            </a:r>
            <a:r>
              <a:rPr lang="en-IN" sz="2000" dirty="0" err="1">
                <a:latin typeface="Times New Roman" panose="02020603050405020304" pitchFamily="18" charset="0"/>
                <a:ea typeface="Calibri" panose="020F0502020204030204" pitchFamily="34" charset="0"/>
                <a:cs typeface="Kokila" panose="020B0604020202020204" pitchFamily="34" charset="0"/>
              </a:rPr>
              <a:t>inbam</a:t>
            </a:r>
            <a:r>
              <a:rPr lang="en-IN" sz="2000" dirty="0">
                <a:latin typeface="Times New Roman" panose="02020603050405020304" pitchFamily="18" charset="0"/>
                <a:ea typeface="Calibri" panose="020F0502020204030204" pitchFamily="34" charset="0"/>
                <a:cs typeface="Kokila" panose="020B0604020202020204" pitchFamily="34" charset="0"/>
              </a:rPr>
              <a:t>). It is revered for its universal moral philosophy.</a:t>
            </a:r>
          </a:p>
          <a:p>
            <a:pPr marL="285750" indent="-285750" algn="just">
              <a:lnSpc>
                <a:spcPct val="107000"/>
              </a:lnSpc>
              <a:spcAft>
                <a:spcPts val="800"/>
              </a:spcAft>
              <a:buFontTx/>
              <a:buChar char="-"/>
            </a:pPr>
            <a:r>
              <a:rPr lang="en-IN" sz="2000" b="1" dirty="0" err="1"/>
              <a:t>Akananuru</a:t>
            </a:r>
            <a:r>
              <a:rPr lang="en-IN" sz="2000" dirty="0"/>
              <a:t>: A collection of 400 poems focusing on the inner life and emotions of lovers.</a:t>
            </a:r>
          </a:p>
          <a:p>
            <a:r>
              <a:rPr lang="en-IN" sz="2000" b="1" dirty="0"/>
              <a:t>- </a:t>
            </a:r>
            <a:r>
              <a:rPr lang="en-IN" sz="2000" b="1" dirty="0" err="1"/>
              <a:t>Purananuru</a:t>
            </a:r>
            <a:r>
              <a:rPr lang="en-IN" sz="2000" b="1" dirty="0"/>
              <a:t>:</a:t>
            </a:r>
            <a:r>
              <a:rPr lang="en-IN" sz="2000" dirty="0"/>
              <a:t> Comprises 400 poems celebrating kings, warriors, and their heroic deeds.</a:t>
            </a:r>
          </a:p>
          <a:p>
            <a:pPr marL="285750" indent="-285750" algn="just">
              <a:lnSpc>
                <a:spcPct val="107000"/>
              </a:lnSpc>
              <a:spcAft>
                <a:spcPts val="800"/>
              </a:spcAft>
              <a:buFontTx/>
              <a:buChar char="-"/>
            </a:pPr>
            <a:endParaRPr lang="en-IN" sz="1600" dirty="0">
              <a:effectLst/>
              <a:latin typeface="Calibri" panose="020F0502020204030204" pitchFamily="34" charset="0"/>
              <a:ea typeface="Calibri" panose="020F0502020204030204" pitchFamily="34" charset="0"/>
              <a:cs typeface="Kokila" panose="020B0604020202020204" pitchFamily="34" charset="0"/>
            </a:endParaRPr>
          </a:p>
        </p:txBody>
      </p:sp>
    </p:spTree>
    <p:extLst>
      <p:ext uri="{BB962C8B-B14F-4D97-AF65-F5344CB8AC3E}">
        <p14:creationId xmlns:p14="http://schemas.microsoft.com/office/powerpoint/2010/main" val="38637523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5577" y="420711"/>
            <a:ext cx="11390812" cy="5653792"/>
          </a:xfrm>
          <a:prstGeom prst="rect">
            <a:avLst/>
          </a:prstGeom>
        </p:spPr>
        <p:txBody>
          <a:bodyPr wrap="square">
            <a:spAutoFit/>
          </a:bodyPr>
          <a:lstStyle/>
          <a:p>
            <a:pPr algn="just">
              <a:lnSpc>
                <a:spcPct val="107000"/>
              </a:lnSpc>
              <a:spcAft>
                <a:spcPts val="800"/>
              </a:spcAft>
            </a:pPr>
            <a:r>
              <a:rPr lang="en-IN" sz="2800" b="1" dirty="0">
                <a:latin typeface="Times New Roman" panose="02020603050405020304" pitchFamily="18" charset="0"/>
                <a:ea typeface="Calibri" panose="020F0502020204030204" pitchFamily="34" charset="0"/>
                <a:cs typeface="Kokila" panose="020B0604020202020204" pitchFamily="34" charset="0"/>
              </a:rPr>
              <a:t>2. Later Tamil Literature</a:t>
            </a:r>
            <a:endParaRPr lang="en-IN" sz="2400" dirty="0">
              <a:effectLst/>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2800" b="1" dirty="0">
                <a:latin typeface="Times New Roman" panose="02020603050405020304" pitchFamily="18" charset="0"/>
                <a:ea typeface="Calibri" panose="020F0502020204030204" pitchFamily="34" charset="0"/>
                <a:cs typeface="Kokila" panose="020B0604020202020204" pitchFamily="34" charset="0"/>
              </a:rPr>
              <a:t>Bhakti Movement:</a:t>
            </a:r>
            <a:endParaRPr lang="en-IN" sz="2400" dirty="0">
              <a:effectLst/>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2800" dirty="0">
                <a:latin typeface="Times New Roman" panose="02020603050405020304" pitchFamily="18" charset="0"/>
                <a:ea typeface="Calibri" panose="020F0502020204030204" pitchFamily="34" charset="0"/>
                <a:cs typeface="Kokila" panose="020B0604020202020204" pitchFamily="34" charset="0"/>
              </a:rPr>
              <a:t>- The Bhakti movement in Tamil Nadu saw poets expressing deep devotion to deities such as Shiva and Vishnu, often transcending caste and societal norms.</a:t>
            </a:r>
            <a:endParaRPr lang="en-IN" sz="2400" dirty="0">
              <a:effectLst/>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2800" b="1" dirty="0">
                <a:latin typeface="Times New Roman" panose="02020603050405020304" pitchFamily="18" charset="0"/>
                <a:ea typeface="Calibri" panose="020F0502020204030204" pitchFamily="34" charset="0"/>
                <a:cs typeface="Kokila" panose="020B0604020202020204" pitchFamily="34" charset="0"/>
              </a:rPr>
              <a:t>Notable Works:</a:t>
            </a:r>
            <a:endParaRPr lang="en-IN" sz="2400" dirty="0">
              <a:effectLst/>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2800" b="1" dirty="0">
                <a:latin typeface="Times New Roman" panose="02020603050405020304" pitchFamily="18" charset="0"/>
                <a:ea typeface="Calibri" panose="020F0502020204030204" pitchFamily="34" charset="0"/>
                <a:cs typeface="Kokila" panose="020B0604020202020204" pitchFamily="34" charset="0"/>
              </a:rPr>
              <a:t>- </a:t>
            </a:r>
            <a:r>
              <a:rPr lang="en-IN" sz="2800" b="1" dirty="0" err="1">
                <a:latin typeface="Times New Roman" panose="02020603050405020304" pitchFamily="18" charset="0"/>
                <a:ea typeface="Calibri" panose="020F0502020204030204" pitchFamily="34" charset="0"/>
                <a:cs typeface="Kokila" panose="020B0604020202020204" pitchFamily="34" charset="0"/>
              </a:rPr>
              <a:t>Tiruvaymoli</a:t>
            </a:r>
            <a:r>
              <a:rPr lang="en-IN" sz="2800" b="1" dirty="0">
                <a:latin typeface="Times New Roman" panose="02020603050405020304" pitchFamily="18" charset="0"/>
                <a:ea typeface="Calibri" panose="020F0502020204030204" pitchFamily="34" charset="0"/>
                <a:cs typeface="Kokila" panose="020B0604020202020204" pitchFamily="34" charset="0"/>
              </a:rPr>
              <a:t>:</a:t>
            </a:r>
            <a:r>
              <a:rPr lang="en-IN" sz="2800" dirty="0">
                <a:latin typeface="Times New Roman" panose="02020603050405020304" pitchFamily="18" charset="0"/>
                <a:ea typeface="Calibri" panose="020F0502020204030204" pitchFamily="34" charset="0"/>
                <a:cs typeface="Kokila" panose="020B0604020202020204" pitchFamily="34" charset="0"/>
              </a:rPr>
              <a:t> Composed by the </a:t>
            </a:r>
            <a:r>
              <a:rPr lang="en-IN" sz="2800" b="1" dirty="0" err="1">
                <a:latin typeface="Times New Roman" panose="02020603050405020304" pitchFamily="18" charset="0"/>
                <a:ea typeface="Calibri" panose="020F0502020204030204" pitchFamily="34" charset="0"/>
                <a:cs typeface="Kokila" panose="020B0604020202020204" pitchFamily="34" charset="0"/>
              </a:rPr>
              <a:t>Alvar</a:t>
            </a:r>
            <a:r>
              <a:rPr lang="en-IN" sz="2800" dirty="0">
                <a:latin typeface="Times New Roman" panose="02020603050405020304" pitchFamily="18" charset="0"/>
                <a:ea typeface="Calibri" panose="020F0502020204030204" pitchFamily="34" charset="0"/>
                <a:cs typeface="Kokila" panose="020B0604020202020204" pitchFamily="34" charset="0"/>
              </a:rPr>
              <a:t> saint </a:t>
            </a:r>
            <a:r>
              <a:rPr lang="en-IN" sz="2800" b="1" dirty="0" err="1">
                <a:latin typeface="Times New Roman" panose="02020603050405020304" pitchFamily="18" charset="0"/>
                <a:ea typeface="Calibri" panose="020F0502020204030204" pitchFamily="34" charset="0"/>
                <a:cs typeface="Kokila" panose="020B0604020202020204" pitchFamily="34" charset="0"/>
              </a:rPr>
              <a:t>Nammazhwar</a:t>
            </a:r>
            <a:r>
              <a:rPr lang="en-IN" sz="2800" b="1" dirty="0">
                <a:latin typeface="Times New Roman" panose="02020603050405020304" pitchFamily="18" charset="0"/>
                <a:ea typeface="Calibri" panose="020F0502020204030204" pitchFamily="34" charset="0"/>
                <a:cs typeface="Kokila" panose="020B0604020202020204" pitchFamily="34" charset="0"/>
              </a:rPr>
              <a:t>, </a:t>
            </a:r>
            <a:r>
              <a:rPr lang="en-IN" sz="2800" dirty="0">
                <a:latin typeface="Times New Roman" panose="02020603050405020304" pitchFamily="18" charset="0"/>
                <a:ea typeface="Calibri" panose="020F0502020204030204" pitchFamily="34" charset="0"/>
                <a:cs typeface="Kokila" panose="020B0604020202020204" pitchFamily="34" charset="0"/>
              </a:rPr>
              <a:t>this work consists of mystical poems that express love and devotion to God, emphasizing the significance of divine grace.</a:t>
            </a:r>
            <a:endParaRPr lang="en-IN" sz="2400" dirty="0">
              <a:effectLst/>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2800" b="1" dirty="0">
                <a:latin typeface="Times New Roman" panose="02020603050405020304" pitchFamily="18" charset="0"/>
                <a:ea typeface="Calibri" panose="020F0502020204030204" pitchFamily="34" charset="0"/>
                <a:cs typeface="Kokila" panose="020B0604020202020204" pitchFamily="34" charset="0"/>
              </a:rPr>
              <a:t>- </a:t>
            </a:r>
            <a:r>
              <a:rPr lang="en-IN" sz="2800" b="1" dirty="0" err="1">
                <a:latin typeface="Times New Roman" panose="02020603050405020304" pitchFamily="18" charset="0"/>
                <a:ea typeface="Calibri" panose="020F0502020204030204" pitchFamily="34" charset="0"/>
                <a:cs typeface="Kokila" panose="020B0604020202020204" pitchFamily="34" charset="0"/>
              </a:rPr>
              <a:t>Tevaram</a:t>
            </a:r>
            <a:r>
              <a:rPr lang="en-IN" sz="2800" b="1" dirty="0">
                <a:latin typeface="Times New Roman" panose="02020603050405020304" pitchFamily="18" charset="0"/>
                <a:ea typeface="Calibri" panose="020F0502020204030204" pitchFamily="34" charset="0"/>
                <a:cs typeface="Kokila" panose="020B0604020202020204" pitchFamily="34" charset="0"/>
              </a:rPr>
              <a:t>:</a:t>
            </a:r>
            <a:r>
              <a:rPr lang="en-IN" sz="2800" dirty="0">
                <a:latin typeface="Times New Roman" panose="02020603050405020304" pitchFamily="18" charset="0"/>
                <a:ea typeface="Calibri" panose="020F0502020204030204" pitchFamily="34" charset="0"/>
                <a:cs typeface="Kokila" panose="020B0604020202020204" pitchFamily="34" charset="0"/>
              </a:rPr>
              <a:t> Written by the </a:t>
            </a:r>
            <a:r>
              <a:rPr lang="en-IN" sz="2800" b="1" dirty="0" err="1">
                <a:latin typeface="Times New Roman" panose="02020603050405020304" pitchFamily="18" charset="0"/>
                <a:ea typeface="Calibri" panose="020F0502020204030204" pitchFamily="34" charset="0"/>
                <a:cs typeface="Kokila" panose="020B0604020202020204" pitchFamily="34" charset="0"/>
              </a:rPr>
              <a:t>Nayanar</a:t>
            </a:r>
            <a:r>
              <a:rPr lang="en-IN" sz="2800" dirty="0">
                <a:latin typeface="Times New Roman" panose="02020603050405020304" pitchFamily="18" charset="0"/>
                <a:ea typeface="Calibri" panose="020F0502020204030204" pitchFamily="34" charset="0"/>
                <a:cs typeface="Kokila" panose="020B0604020202020204" pitchFamily="34" charset="0"/>
              </a:rPr>
              <a:t> saint </a:t>
            </a:r>
            <a:r>
              <a:rPr lang="en-IN" sz="2800" b="1" dirty="0" err="1">
                <a:latin typeface="Times New Roman" panose="02020603050405020304" pitchFamily="18" charset="0"/>
                <a:ea typeface="Calibri" panose="020F0502020204030204" pitchFamily="34" charset="0"/>
                <a:cs typeface="Kokila" panose="020B0604020202020204" pitchFamily="34" charset="0"/>
              </a:rPr>
              <a:t>Thirunavukkarasar</a:t>
            </a:r>
            <a:r>
              <a:rPr lang="en-IN" sz="2800" b="1" dirty="0">
                <a:latin typeface="Times New Roman" panose="02020603050405020304" pitchFamily="18" charset="0"/>
                <a:ea typeface="Calibri" panose="020F0502020204030204" pitchFamily="34" charset="0"/>
                <a:cs typeface="Kokila" panose="020B0604020202020204" pitchFamily="34" charset="0"/>
              </a:rPr>
              <a:t>, </a:t>
            </a:r>
            <a:r>
              <a:rPr lang="en-IN" sz="2800" dirty="0">
                <a:latin typeface="Times New Roman" panose="02020603050405020304" pitchFamily="18" charset="0"/>
                <a:ea typeface="Calibri" panose="020F0502020204030204" pitchFamily="34" charset="0"/>
                <a:cs typeface="Kokila" panose="020B0604020202020204" pitchFamily="34" charset="0"/>
              </a:rPr>
              <a:t>this collection praises Shiva and emphasizes personal devotion and community worship.</a:t>
            </a:r>
            <a:endParaRPr lang="en-IN" sz="2400" dirty="0">
              <a:effectLst/>
              <a:latin typeface="Calibri" panose="020F0502020204030204" pitchFamily="34" charset="0"/>
              <a:ea typeface="Calibri" panose="020F0502020204030204" pitchFamily="34" charset="0"/>
              <a:cs typeface="Kokila" panose="020B0604020202020204" pitchFamily="34" charset="0"/>
            </a:endParaRPr>
          </a:p>
        </p:txBody>
      </p:sp>
    </p:spTree>
    <p:extLst>
      <p:ext uri="{BB962C8B-B14F-4D97-AF65-F5344CB8AC3E}">
        <p14:creationId xmlns:p14="http://schemas.microsoft.com/office/powerpoint/2010/main" val="15539463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09897" y="310903"/>
            <a:ext cx="10789920" cy="6137706"/>
          </a:xfrm>
          <a:prstGeom prst="rect">
            <a:avLst/>
          </a:prstGeom>
        </p:spPr>
        <p:txBody>
          <a:bodyPr wrap="square">
            <a:spAutoFit/>
          </a:bodyPr>
          <a:lstStyle/>
          <a:p>
            <a:pPr algn="just">
              <a:lnSpc>
                <a:spcPct val="107000"/>
              </a:lnSpc>
              <a:spcAft>
                <a:spcPts val="800"/>
              </a:spcAft>
            </a:pPr>
            <a:r>
              <a:rPr lang="en-IN" sz="2400" b="1" dirty="0">
                <a:latin typeface="Times New Roman" panose="02020603050405020304" pitchFamily="18" charset="0"/>
                <a:ea typeface="Calibri" panose="020F0502020204030204" pitchFamily="34" charset="0"/>
                <a:cs typeface="Kokila" panose="020B0604020202020204" pitchFamily="34" charset="0"/>
              </a:rPr>
              <a:t>Cultural Impact</a:t>
            </a:r>
            <a:endParaRPr lang="en-IN" sz="2000" dirty="0">
              <a:effectLst/>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2400" b="1" dirty="0">
                <a:latin typeface="Times New Roman" panose="02020603050405020304" pitchFamily="18" charset="0"/>
                <a:ea typeface="Calibri" panose="020F0502020204030204" pitchFamily="34" charset="0"/>
                <a:cs typeface="Kokila" panose="020B0604020202020204" pitchFamily="34" charset="0"/>
              </a:rPr>
              <a:t>- Moral and Ethical Framework:</a:t>
            </a:r>
            <a:r>
              <a:rPr lang="en-IN" sz="2400" dirty="0">
                <a:latin typeface="Times New Roman" panose="02020603050405020304" pitchFamily="18" charset="0"/>
                <a:ea typeface="Calibri" panose="020F0502020204030204" pitchFamily="34" charset="0"/>
                <a:cs typeface="Kokila" panose="020B0604020202020204" pitchFamily="34" charset="0"/>
              </a:rPr>
              <a:t> The epics and Tamil literature provide profound insights into ethics, morality, and the human condition, continuing to influence Indian culture and philosophy.</a:t>
            </a:r>
            <a:endParaRPr lang="en-IN" sz="2000" dirty="0">
              <a:effectLst/>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2400" b="1" dirty="0">
                <a:latin typeface="Times New Roman" panose="02020603050405020304" pitchFamily="18" charset="0"/>
                <a:ea typeface="Calibri" panose="020F0502020204030204" pitchFamily="34" charset="0"/>
                <a:cs typeface="Kokila" panose="020B0604020202020204" pitchFamily="34" charset="0"/>
              </a:rPr>
              <a:t>- Art and Performance:</a:t>
            </a:r>
            <a:r>
              <a:rPr lang="en-IN" sz="2400" dirty="0">
                <a:latin typeface="Times New Roman" panose="02020603050405020304" pitchFamily="18" charset="0"/>
                <a:ea typeface="Calibri" panose="020F0502020204030204" pitchFamily="34" charset="0"/>
                <a:cs typeface="Kokila" panose="020B0604020202020204" pitchFamily="34" charset="0"/>
              </a:rPr>
              <a:t> These literary works have inspired various forms of art, including dance (Bharatanatyam, </a:t>
            </a:r>
            <a:r>
              <a:rPr lang="en-IN" sz="2400" dirty="0" err="1">
                <a:latin typeface="Times New Roman" panose="02020603050405020304" pitchFamily="18" charset="0"/>
                <a:ea typeface="Calibri" panose="020F0502020204030204" pitchFamily="34" charset="0"/>
                <a:cs typeface="Kokila" panose="020B0604020202020204" pitchFamily="34" charset="0"/>
              </a:rPr>
              <a:t>Kathakali</a:t>
            </a:r>
            <a:r>
              <a:rPr lang="en-IN" sz="2400" dirty="0">
                <a:latin typeface="Times New Roman" panose="02020603050405020304" pitchFamily="18" charset="0"/>
                <a:ea typeface="Calibri" panose="020F0502020204030204" pitchFamily="34" charset="0"/>
                <a:cs typeface="Kokila" panose="020B0604020202020204" pitchFamily="34" charset="0"/>
              </a:rPr>
              <a:t>), </a:t>
            </a:r>
            <a:r>
              <a:rPr lang="en-IN" sz="2400" dirty="0" err="1">
                <a:latin typeface="Times New Roman" panose="02020603050405020304" pitchFamily="18" charset="0"/>
                <a:ea typeface="Calibri" panose="020F0502020204030204" pitchFamily="34" charset="0"/>
                <a:cs typeface="Kokila" panose="020B0604020202020204" pitchFamily="34" charset="0"/>
              </a:rPr>
              <a:t>theater</a:t>
            </a:r>
            <a:r>
              <a:rPr lang="en-IN" sz="2400" dirty="0">
                <a:latin typeface="Times New Roman" panose="02020603050405020304" pitchFamily="18" charset="0"/>
                <a:ea typeface="Calibri" panose="020F0502020204030204" pitchFamily="34" charset="0"/>
                <a:cs typeface="Kokila" panose="020B0604020202020204" pitchFamily="34" charset="0"/>
              </a:rPr>
              <a:t>, and storytelling traditions, which often adapt the narratives for performance.</a:t>
            </a:r>
            <a:endParaRPr lang="en-IN" sz="2000" dirty="0">
              <a:effectLst/>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2400" b="1" dirty="0">
                <a:latin typeface="Times New Roman" panose="02020603050405020304" pitchFamily="18" charset="0"/>
                <a:ea typeface="Calibri" panose="020F0502020204030204" pitchFamily="34" charset="0"/>
                <a:cs typeface="Kokila" panose="020B0604020202020204" pitchFamily="34" charset="0"/>
              </a:rPr>
              <a:t>- Language and Identity:</a:t>
            </a:r>
            <a:r>
              <a:rPr lang="en-IN" sz="2400" dirty="0">
                <a:latin typeface="Times New Roman" panose="02020603050405020304" pitchFamily="18" charset="0"/>
                <a:ea typeface="Calibri" panose="020F0502020204030204" pitchFamily="34" charset="0"/>
                <a:cs typeface="Kokila" panose="020B0604020202020204" pitchFamily="34" charset="0"/>
              </a:rPr>
              <a:t> Tamil literature has played a crucial role in shaping the Tamil identity and language, fostering a sense of cultural pride and continuity.</a:t>
            </a:r>
            <a:endParaRPr lang="en-IN" sz="2000" dirty="0">
              <a:effectLst/>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2400" b="1" dirty="0">
                <a:latin typeface="Times New Roman" panose="02020603050405020304" pitchFamily="18" charset="0"/>
                <a:ea typeface="Calibri" panose="020F0502020204030204" pitchFamily="34" charset="0"/>
                <a:cs typeface="Kokila" panose="020B0604020202020204" pitchFamily="34" charset="0"/>
              </a:rPr>
              <a:t>Conclusion</a:t>
            </a:r>
            <a:endParaRPr lang="en-IN" sz="2000" dirty="0">
              <a:effectLst/>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2400" dirty="0">
                <a:latin typeface="Times New Roman" panose="02020603050405020304" pitchFamily="18" charset="0"/>
                <a:ea typeface="Calibri" panose="020F0502020204030204" pitchFamily="34" charset="0"/>
                <a:cs typeface="Kokila" panose="020B0604020202020204" pitchFamily="34" charset="0"/>
              </a:rPr>
              <a:t>The Mahabharata, Ramayana, and Tamil literature represent a monumental part of India's ancient and medieval literary heritage. Their narratives, philosophical teachings, and cultural significance continue to resonate in contemporary society, shaping values, beliefs, and artistic expressions across generations.</a:t>
            </a:r>
            <a:endParaRPr lang="en-IN" sz="2000" dirty="0">
              <a:effectLst/>
              <a:latin typeface="Calibri" panose="020F0502020204030204" pitchFamily="34" charset="0"/>
              <a:ea typeface="Calibri" panose="020F0502020204030204" pitchFamily="34" charset="0"/>
              <a:cs typeface="Kokila" panose="020B0604020202020204" pitchFamily="34" charset="0"/>
            </a:endParaRPr>
          </a:p>
        </p:txBody>
      </p:sp>
    </p:spTree>
    <p:extLst>
      <p:ext uri="{BB962C8B-B14F-4D97-AF65-F5344CB8AC3E}">
        <p14:creationId xmlns:p14="http://schemas.microsoft.com/office/powerpoint/2010/main" val="23641917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0" y="405164"/>
            <a:ext cx="6096000" cy="718017"/>
          </a:xfrm>
          <a:prstGeom prst="rect">
            <a:avLst/>
          </a:prstGeom>
        </p:spPr>
        <p:txBody>
          <a:bodyPr>
            <a:spAutoFit/>
          </a:bodyPr>
          <a:lstStyle/>
          <a:p>
            <a:pPr algn="ctr">
              <a:lnSpc>
                <a:spcPct val="107000"/>
              </a:lnSpc>
              <a:spcAft>
                <a:spcPts val="800"/>
              </a:spcAft>
            </a:pPr>
            <a:r>
              <a:rPr lang="en-IN" sz="2000" b="1" dirty="0">
                <a:effectLst/>
                <a:latin typeface="Times New Roman" panose="02020603050405020304" pitchFamily="18" charset="0"/>
                <a:ea typeface="Calibri" panose="020F0502020204030204" pitchFamily="34" charset="0"/>
                <a:cs typeface="Kokila" panose="020B0604020202020204" pitchFamily="34" charset="0"/>
              </a:rPr>
              <a:t>Major literary works-</a:t>
            </a:r>
            <a:r>
              <a:rPr lang="en-IN" b="1" dirty="0" err="1">
                <a:latin typeface="Times New Roman" panose="02020603050405020304" pitchFamily="18" charset="0"/>
                <a:ea typeface="Calibri" panose="020F0502020204030204" pitchFamily="34" charset="0"/>
                <a:cs typeface="Kokila" panose="020B0604020202020204" pitchFamily="34" charset="0"/>
              </a:rPr>
              <a:t>Kalidas</a:t>
            </a:r>
            <a:r>
              <a:rPr lang="en-IN" b="1" dirty="0">
                <a:latin typeface="Times New Roman" panose="02020603050405020304" pitchFamily="18" charset="0"/>
                <a:ea typeface="Calibri" panose="020F0502020204030204" pitchFamily="34" charset="0"/>
                <a:cs typeface="Kokila" panose="020B0604020202020204" pitchFamily="34" charset="0"/>
              </a:rPr>
              <a:t>, </a:t>
            </a:r>
            <a:r>
              <a:rPr lang="en-IN" b="1" dirty="0" err="1">
                <a:latin typeface="Times New Roman" panose="02020603050405020304" pitchFamily="18" charset="0"/>
                <a:ea typeface="Calibri" panose="020F0502020204030204" pitchFamily="34" charset="0"/>
                <a:cs typeface="Kokila" panose="020B0604020202020204" pitchFamily="34" charset="0"/>
              </a:rPr>
              <a:t>BanBhatt</a:t>
            </a:r>
            <a:r>
              <a:rPr lang="en-IN" b="1" dirty="0">
                <a:latin typeface="Times New Roman" panose="02020603050405020304" pitchFamily="18" charset="0"/>
                <a:ea typeface="Calibri" panose="020F0502020204030204" pitchFamily="34" charset="0"/>
                <a:cs typeface="Kokila" panose="020B0604020202020204" pitchFamily="34" charset="0"/>
              </a:rPr>
              <a:t>, </a:t>
            </a:r>
            <a:r>
              <a:rPr lang="en-IN" b="1" dirty="0" err="1">
                <a:latin typeface="Times New Roman" panose="02020603050405020304" pitchFamily="18" charset="0"/>
                <a:ea typeface="Calibri" panose="020F0502020204030204" pitchFamily="34" charset="0"/>
                <a:cs typeface="Kokila" panose="020B0604020202020204" pitchFamily="34" charset="0"/>
              </a:rPr>
              <a:t>Kalhan</a:t>
            </a:r>
            <a:r>
              <a:rPr lang="en-IN" b="1" dirty="0">
                <a:latin typeface="Times New Roman" panose="02020603050405020304" pitchFamily="18" charset="0"/>
                <a:ea typeface="Calibri" panose="020F0502020204030204" pitchFamily="34" charset="0"/>
                <a:cs typeface="Kokila" panose="020B0604020202020204" pitchFamily="34" charset="0"/>
              </a:rPr>
              <a:t>, Abu </a:t>
            </a:r>
            <a:r>
              <a:rPr lang="en-IN" b="1" dirty="0" err="1">
                <a:latin typeface="Times New Roman" panose="02020603050405020304" pitchFamily="18" charset="0"/>
                <a:ea typeface="Calibri" panose="020F0502020204030204" pitchFamily="34" charset="0"/>
                <a:cs typeface="Kokila" panose="020B0604020202020204" pitchFamily="34" charset="0"/>
              </a:rPr>
              <a:t>Fazal</a:t>
            </a:r>
            <a:r>
              <a:rPr lang="en-IN" b="1" dirty="0">
                <a:latin typeface="Times New Roman" panose="02020603050405020304" pitchFamily="18" charset="0"/>
                <a:ea typeface="Calibri" panose="020F0502020204030204" pitchFamily="34" charset="0"/>
                <a:cs typeface="Kokila" panose="020B0604020202020204" pitchFamily="34" charset="0"/>
              </a:rPr>
              <a:t>, </a:t>
            </a:r>
            <a:r>
              <a:rPr lang="en-IN" b="1" dirty="0" err="1">
                <a:latin typeface="Times New Roman" panose="02020603050405020304" pitchFamily="18" charset="0"/>
                <a:ea typeface="Calibri" panose="020F0502020204030204" pitchFamily="34" charset="0"/>
                <a:cs typeface="Kokila" panose="020B0604020202020204" pitchFamily="34" charset="0"/>
              </a:rPr>
              <a:t>Bharatendu</a:t>
            </a:r>
            <a:r>
              <a:rPr lang="en-IN" b="1" dirty="0">
                <a:latin typeface="Times New Roman" panose="02020603050405020304" pitchFamily="18" charset="0"/>
                <a:ea typeface="Calibri" panose="020F0502020204030204" pitchFamily="34" charset="0"/>
                <a:cs typeface="Kokila" panose="020B0604020202020204" pitchFamily="34" charset="0"/>
              </a:rPr>
              <a:t> </a:t>
            </a:r>
            <a:r>
              <a:rPr lang="en-IN" b="1" dirty="0" err="1">
                <a:latin typeface="Times New Roman" panose="02020603050405020304" pitchFamily="18" charset="0"/>
                <a:ea typeface="Calibri" panose="020F0502020204030204" pitchFamily="34" charset="0"/>
                <a:cs typeface="Kokila" panose="020B0604020202020204" pitchFamily="34" charset="0"/>
              </a:rPr>
              <a:t>Harishchandra</a:t>
            </a:r>
            <a:r>
              <a:rPr lang="en-IN" b="1" dirty="0">
                <a:latin typeface="Times New Roman" panose="02020603050405020304" pitchFamily="18" charset="0"/>
                <a:ea typeface="Calibri" panose="020F0502020204030204" pitchFamily="34" charset="0"/>
                <a:cs typeface="Kokila" panose="020B0604020202020204" pitchFamily="34" charset="0"/>
              </a:rPr>
              <a:t>, </a:t>
            </a:r>
            <a:r>
              <a:rPr lang="en-IN" b="1" dirty="0" err="1">
                <a:latin typeface="Times New Roman" panose="02020603050405020304" pitchFamily="18" charset="0"/>
                <a:ea typeface="Calibri" panose="020F0502020204030204" pitchFamily="34" charset="0"/>
                <a:cs typeface="Kokila" panose="020B0604020202020204" pitchFamily="34" charset="0"/>
              </a:rPr>
              <a:t>Kautilya’s</a:t>
            </a:r>
            <a:r>
              <a:rPr lang="en-IN" b="1" dirty="0">
                <a:latin typeface="Times New Roman" panose="02020603050405020304" pitchFamily="18" charset="0"/>
                <a:ea typeface="Calibri" panose="020F0502020204030204" pitchFamily="34" charset="0"/>
                <a:cs typeface="Kokila" panose="020B0604020202020204" pitchFamily="34" charset="0"/>
              </a:rPr>
              <a:t> </a:t>
            </a:r>
            <a:r>
              <a:rPr lang="en-IN" b="1" dirty="0" err="1">
                <a:latin typeface="Times New Roman" panose="02020603050405020304" pitchFamily="18" charset="0"/>
                <a:ea typeface="Calibri" panose="020F0502020204030204" pitchFamily="34" charset="0"/>
                <a:cs typeface="Kokila" panose="020B0604020202020204" pitchFamily="34" charset="0"/>
              </a:rPr>
              <a:t>Arthashastra</a:t>
            </a:r>
            <a:endParaRPr lang="en-IN" sz="1400" dirty="0">
              <a:effectLst/>
              <a:latin typeface="Calibri" panose="020F0502020204030204" pitchFamily="34" charset="0"/>
              <a:ea typeface="Calibri" panose="020F0502020204030204" pitchFamily="34" charset="0"/>
              <a:cs typeface="Kokila" panose="020B0604020202020204" pitchFamily="34" charset="0"/>
            </a:endParaRPr>
          </a:p>
        </p:txBody>
      </p:sp>
      <p:sp>
        <p:nvSpPr>
          <p:cNvPr id="3" name="Rectangle 2"/>
          <p:cNvSpPr/>
          <p:nvPr/>
        </p:nvSpPr>
        <p:spPr>
          <a:xfrm>
            <a:off x="679269" y="1423704"/>
            <a:ext cx="11129554" cy="5230343"/>
          </a:xfrm>
          <a:prstGeom prst="rect">
            <a:avLst/>
          </a:prstGeom>
        </p:spPr>
        <p:txBody>
          <a:bodyPr wrap="square">
            <a:spAutoFit/>
          </a:bodyPr>
          <a:lstStyle/>
          <a:p>
            <a:pPr algn="just">
              <a:lnSpc>
                <a:spcPct val="107000"/>
              </a:lnSpc>
              <a:spcAft>
                <a:spcPts val="800"/>
              </a:spcAft>
            </a:pPr>
            <a:r>
              <a:rPr lang="en-IN" sz="2400" b="1" dirty="0">
                <a:effectLst/>
                <a:latin typeface="Times New Roman" panose="02020603050405020304" pitchFamily="18" charset="0"/>
                <a:ea typeface="Calibri" panose="020F0502020204030204" pitchFamily="34" charset="0"/>
                <a:cs typeface="Kokila" panose="020B0604020202020204" pitchFamily="34" charset="0"/>
              </a:rPr>
              <a:t>1. </a:t>
            </a:r>
            <a:r>
              <a:rPr lang="en-IN" sz="2400" b="1" dirty="0" err="1">
                <a:effectLst/>
                <a:latin typeface="Times New Roman" panose="02020603050405020304" pitchFamily="18" charset="0"/>
                <a:ea typeface="Calibri" panose="020F0502020204030204" pitchFamily="34" charset="0"/>
                <a:cs typeface="Kokila" panose="020B0604020202020204" pitchFamily="34" charset="0"/>
              </a:rPr>
              <a:t>Kalidasa</a:t>
            </a:r>
            <a:endParaRPr lang="en-IN" dirty="0">
              <a:effectLst/>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2000" b="1" dirty="0">
                <a:latin typeface="Times New Roman" panose="02020603050405020304" pitchFamily="18" charset="0"/>
                <a:ea typeface="Calibri" panose="020F0502020204030204" pitchFamily="34" charset="0"/>
                <a:cs typeface="Kokila" panose="020B0604020202020204" pitchFamily="34" charset="0"/>
              </a:rPr>
              <a:t>Overview:</a:t>
            </a:r>
            <a:endParaRPr lang="en-IN" dirty="0">
              <a:effectLst/>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2000" dirty="0">
                <a:latin typeface="Times New Roman" panose="02020603050405020304" pitchFamily="18" charset="0"/>
                <a:ea typeface="Calibri" panose="020F0502020204030204" pitchFamily="34" charset="0"/>
                <a:cs typeface="Kokila" panose="020B0604020202020204" pitchFamily="34" charset="0"/>
              </a:rPr>
              <a:t>- </a:t>
            </a:r>
            <a:r>
              <a:rPr lang="en-IN" sz="2000" dirty="0" err="1">
                <a:latin typeface="Times New Roman" panose="02020603050405020304" pitchFamily="18" charset="0"/>
                <a:ea typeface="Calibri" panose="020F0502020204030204" pitchFamily="34" charset="0"/>
                <a:cs typeface="Kokila" panose="020B0604020202020204" pitchFamily="34" charset="0"/>
              </a:rPr>
              <a:t>Kalidasa</a:t>
            </a:r>
            <a:r>
              <a:rPr lang="en-IN" sz="2000" dirty="0">
                <a:latin typeface="Times New Roman" panose="02020603050405020304" pitchFamily="18" charset="0"/>
                <a:ea typeface="Calibri" panose="020F0502020204030204" pitchFamily="34" charset="0"/>
                <a:cs typeface="Kokila" panose="020B0604020202020204" pitchFamily="34" charset="0"/>
              </a:rPr>
              <a:t> is often regarded as the greatest Sanskrit poet and playwright, living around the 4th to 5th centuries CE during the Gupta period. </a:t>
            </a:r>
            <a:endParaRPr lang="en-IN" dirty="0">
              <a:effectLst/>
              <a:latin typeface="Calibri" panose="020F0502020204030204" pitchFamily="34" charset="0"/>
              <a:ea typeface="Calibri" panose="020F0502020204030204" pitchFamily="34" charset="0"/>
              <a:cs typeface="Kokila" panose="020B0604020202020204" pitchFamily="34" charset="0"/>
            </a:endParaRPr>
          </a:p>
          <a:p>
            <a:pPr algn="just"/>
            <a:r>
              <a:rPr lang="en-IN" sz="2000" dirty="0">
                <a:latin typeface="Times New Roman" panose="02020603050405020304" pitchFamily="18" charset="0"/>
                <a:ea typeface="Times New Roman" panose="02020603050405020304" pitchFamily="18" charset="0"/>
              </a:rPr>
              <a:t>Certainly! Here’s a detailed list of the major literary works attributed to </a:t>
            </a:r>
            <a:r>
              <a:rPr lang="en-IN" sz="2000" dirty="0" err="1">
                <a:latin typeface="Times New Roman" panose="02020603050405020304" pitchFamily="18" charset="0"/>
                <a:ea typeface="Times New Roman" panose="02020603050405020304" pitchFamily="18" charset="0"/>
              </a:rPr>
              <a:t>Kalidasa</a:t>
            </a:r>
            <a:r>
              <a:rPr lang="en-IN" sz="2000" dirty="0">
                <a:latin typeface="Times New Roman" panose="02020603050405020304" pitchFamily="18" charset="0"/>
                <a:ea typeface="Times New Roman" panose="02020603050405020304" pitchFamily="18" charset="0"/>
              </a:rPr>
              <a:t>, one of the most celebrated poets and playwrights in Sanskrit literature:</a:t>
            </a:r>
            <a:endParaRPr lang="en-IN" sz="2400" b="1" dirty="0">
              <a:effectLst/>
              <a:latin typeface="Times New Roman" panose="02020603050405020304" pitchFamily="18" charset="0"/>
              <a:ea typeface="Times New Roman" panose="02020603050405020304" pitchFamily="18" charset="0"/>
            </a:endParaRPr>
          </a:p>
          <a:p>
            <a:pPr algn="just"/>
            <a:r>
              <a:rPr lang="en-IN" sz="2400" b="1" dirty="0">
                <a:effectLst/>
                <a:latin typeface="Times New Roman" panose="02020603050405020304" pitchFamily="18" charset="0"/>
                <a:ea typeface="Times New Roman" panose="02020603050405020304" pitchFamily="18" charset="0"/>
              </a:rPr>
              <a:t>Major Works of </a:t>
            </a:r>
            <a:r>
              <a:rPr lang="en-IN" sz="2400" b="1" dirty="0" err="1">
                <a:effectLst/>
                <a:latin typeface="Times New Roman" panose="02020603050405020304" pitchFamily="18" charset="0"/>
                <a:ea typeface="Times New Roman" panose="02020603050405020304" pitchFamily="18" charset="0"/>
              </a:rPr>
              <a:t>Kalidasa</a:t>
            </a:r>
            <a:endParaRPr lang="en-IN" sz="2400" b="1" dirty="0">
              <a:effectLst/>
              <a:latin typeface="Times New Roman" panose="02020603050405020304" pitchFamily="18" charset="0"/>
              <a:ea typeface="Times New Roman" panose="02020603050405020304" pitchFamily="18" charset="0"/>
            </a:endParaRPr>
          </a:p>
          <a:p>
            <a:pPr algn="just"/>
            <a:r>
              <a:rPr lang="en-IN" sz="2000" b="1" dirty="0">
                <a:latin typeface="Times New Roman" panose="02020603050405020304" pitchFamily="18" charset="0"/>
                <a:ea typeface="Times New Roman" panose="02020603050405020304" pitchFamily="18" charset="0"/>
              </a:rPr>
              <a:t>1. </a:t>
            </a:r>
            <a:r>
              <a:rPr lang="en-IN" sz="2000" b="1" dirty="0" err="1">
                <a:latin typeface="Times New Roman" panose="02020603050405020304" pitchFamily="18" charset="0"/>
                <a:ea typeface="Times New Roman" panose="02020603050405020304" pitchFamily="18" charset="0"/>
              </a:rPr>
              <a:t>Shakuntala</a:t>
            </a:r>
            <a:r>
              <a:rPr lang="en-IN" sz="2000" b="1" dirty="0">
                <a:latin typeface="Times New Roman" panose="02020603050405020304" pitchFamily="18" charset="0"/>
                <a:ea typeface="Times New Roman" panose="02020603050405020304" pitchFamily="18" charset="0"/>
              </a:rPr>
              <a:t> (</a:t>
            </a:r>
            <a:r>
              <a:rPr lang="en-IN" sz="2000" b="1" dirty="0" err="1">
                <a:latin typeface="Times New Roman" panose="02020603050405020304" pitchFamily="18" charset="0"/>
                <a:ea typeface="Times New Roman" panose="02020603050405020304" pitchFamily="18" charset="0"/>
              </a:rPr>
              <a:t>Abhijnanashakuntalam</a:t>
            </a:r>
            <a:r>
              <a:rPr lang="en-IN" sz="2000" b="1" dirty="0">
                <a:latin typeface="Times New Roman" panose="02020603050405020304" pitchFamily="18" charset="0"/>
                <a:ea typeface="Times New Roman" panose="02020603050405020304" pitchFamily="18" charset="0"/>
              </a:rPr>
              <a:t>)</a:t>
            </a:r>
            <a:endParaRPr lang="en-IN" sz="2400" b="1" dirty="0">
              <a:effectLst/>
              <a:latin typeface="Times New Roman" panose="02020603050405020304" pitchFamily="18" charset="0"/>
              <a:ea typeface="Times New Roman" panose="02020603050405020304" pitchFamily="18" charset="0"/>
            </a:endParaRPr>
          </a:p>
          <a:p>
            <a:pPr algn="just"/>
            <a:r>
              <a:rPr lang="en-IN" sz="2000" b="1" dirty="0">
                <a:latin typeface="Times New Roman" panose="02020603050405020304" pitchFamily="18" charset="0"/>
                <a:ea typeface="Times New Roman" panose="02020603050405020304" pitchFamily="18" charset="0"/>
              </a:rPr>
              <a:t>   - Genre: Play</a:t>
            </a:r>
            <a:endParaRPr lang="en-IN" sz="2400" b="1" dirty="0">
              <a:effectLst/>
              <a:latin typeface="Times New Roman" panose="02020603050405020304" pitchFamily="18" charset="0"/>
              <a:ea typeface="Times New Roman" panose="02020603050405020304" pitchFamily="18" charset="0"/>
            </a:endParaRPr>
          </a:p>
          <a:p>
            <a:pPr algn="just"/>
            <a:r>
              <a:rPr lang="en-IN" sz="2000" b="1" dirty="0">
                <a:latin typeface="Times New Roman" panose="02020603050405020304" pitchFamily="18" charset="0"/>
                <a:ea typeface="Times New Roman" panose="02020603050405020304" pitchFamily="18" charset="0"/>
              </a:rPr>
              <a:t>   - Overview:</a:t>
            </a:r>
            <a:r>
              <a:rPr lang="en-IN" sz="2000" dirty="0">
                <a:latin typeface="Times New Roman" panose="02020603050405020304" pitchFamily="18" charset="0"/>
                <a:ea typeface="Times New Roman" panose="02020603050405020304" pitchFamily="18" charset="0"/>
              </a:rPr>
              <a:t> This classic play tells the story of King </a:t>
            </a:r>
            <a:r>
              <a:rPr lang="en-IN" sz="2000" dirty="0" err="1">
                <a:latin typeface="Times New Roman" panose="02020603050405020304" pitchFamily="18" charset="0"/>
                <a:ea typeface="Times New Roman" panose="02020603050405020304" pitchFamily="18" charset="0"/>
              </a:rPr>
              <a:t>Dushyanta</a:t>
            </a:r>
            <a:r>
              <a:rPr lang="en-IN" sz="2000" dirty="0">
                <a:latin typeface="Times New Roman" panose="02020603050405020304" pitchFamily="18" charset="0"/>
                <a:ea typeface="Times New Roman" panose="02020603050405020304" pitchFamily="18" charset="0"/>
              </a:rPr>
              <a:t> and </a:t>
            </a:r>
            <a:r>
              <a:rPr lang="en-IN" sz="2000" dirty="0" err="1">
                <a:latin typeface="Times New Roman" panose="02020603050405020304" pitchFamily="18" charset="0"/>
                <a:ea typeface="Times New Roman" panose="02020603050405020304" pitchFamily="18" charset="0"/>
              </a:rPr>
              <a:t>Shakuntala</a:t>
            </a:r>
            <a:r>
              <a:rPr lang="en-IN" sz="2000" dirty="0">
                <a:latin typeface="Times New Roman" panose="02020603050405020304" pitchFamily="18" charset="0"/>
                <a:ea typeface="Times New Roman" panose="02020603050405020304" pitchFamily="18" charset="0"/>
              </a:rPr>
              <a:t>, who is cursed to be forgotten by him until he sees her again. Their love story unfolds against the backdrop of nature and divine intervention.</a:t>
            </a:r>
            <a:endParaRPr lang="en-IN" sz="2400" b="1" dirty="0">
              <a:effectLst/>
              <a:latin typeface="Times New Roman" panose="02020603050405020304" pitchFamily="18" charset="0"/>
              <a:ea typeface="Times New Roman" panose="02020603050405020304" pitchFamily="18" charset="0"/>
            </a:endParaRPr>
          </a:p>
          <a:p>
            <a:pPr algn="just"/>
            <a:r>
              <a:rPr lang="en-IN" sz="2000" b="1" dirty="0">
                <a:latin typeface="Times New Roman" panose="02020603050405020304" pitchFamily="18" charset="0"/>
                <a:ea typeface="Times New Roman" panose="02020603050405020304" pitchFamily="18" charset="0"/>
              </a:rPr>
              <a:t>   - Themes:</a:t>
            </a:r>
            <a:r>
              <a:rPr lang="en-IN" sz="2000" dirty="0">
                <a:latin typeface="Times New Roman" panose="02020603050405020304" pitchFamily="18" charset="0"/>
                <a:ea typeface="Times New Roman" panose="02020603050405020304" pitchFamily="18" charset="0"/>
              </a:rPr>
              <a:t> Love, fate, separation, and the connection between nature and human emotion.</a:t>
            </a:r>
            <a:endParaRPr lang="en-IN" sz="2400" b="1" dirty="0">
              <a:effectLst/>
              <a:latin typeface="Times New Roman" panose="02020603050405020304" pitchFamily="18" charset="0"/>
              <a:ea typeface="Times New Roman" panose="02020603050405020304" pitchFamily="18" charset="0"/>
            </a:endParaRPr>
          </a:p>
          <a:p>
            <a:pPr algn="just"/>
            <a:r>
              <a:rPr lang="en-IN" sz="2000" b="1" dirty="0">
                <a:latin typeface="Times New Roman" panose="02020603050405020304" pitchFamily="18" charset="0"/>
                <a:ea typeface="Times New Roman" panose="02020603050405020304" pitchFamily="18" charset="0"/>
              </a:rPr>
              <a:t>   - Significance:</a:t>
            </a:r>
            <a:r>
              <a:rPr lang="en-IN" sz="2000" dirty="0">
                <a:latin typeface="Times New Roman" panose="02020603050405020304" pitchFamily="18" charset="0"/>
                <a:ea typeface="Times New Roman" panose="02020603050405020304" pitchFamily="18" charset="0"/>
              </a:rPr>
              <a:t> Known for its emotional depth and lyrical beauty, it has influenced countless adaptations in various art forms.</a:t>
            </a:r>
            <a:endParaRPr lang="en-IN" sz="2400" b="1"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2707801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92777" y="751344"/>
            <a:ext cx="10058400" cy="3970318"/>
          </a:xfrm>
          <a:prstGeom prst="rect">
            <a:avLst/>
          </a:prstGeom>
        </p:spPr>
        <p:txBody>
          <a:bodyPr wrap="square">
            <a:spAutoFit/>
          </a:bodyPr>
          <a:lstStyle/>
          <a:p>
            <a:pPr algn="just"/>
            <a:r>
              <a:rPr lang="en-IN" b="1" dirty="0">
                <a:latin typeface="Times New Roman" panose="02020603050405020304" pitchFamily="18" charset="0"/>
                <a:ea typeface="Times New Roman" panose="02020603050405020304" pitchFamily="18" charset="0"/>
              </a:rPr>
              <a:t>2. **</a:t>
            </a:r>
            <a:r>
              <a:rPr lang="en-IN" b="1" dirty="0" err="1">
                <a:latin typeface="Times New Roman" panose="02020603050405020304" pitchFamily="18" charset="0"/>
                <a:ea typeface="Times New Roman" panose="02020603050405020304" pitchFamily="18" charset="0"/>
              </a:rPr>
              <a:t>Meghaduta</a:t>
            </a:r>
            <a:r>
              <a:rPr lang="en-IN" b="1" dirty="0">
                <a:latin typeface="Times New Roman" panose="02020603050405020304" pitchFamily="18" charset="0"/>
                <a:ea typeface="Times New Roman" panose="02020603050405020304" pitchFamily="18" charset="0"/>
              </a:rPr>
              <a:t> (The Cloud Messenger)</a:t>
            </a:r>
            <a:endParaRPr lang="en-IN" sz="2000" b="1" dirty="0">
              <a:effectLst/>
              <a:latin typeface="Times New Roman" panose="02020603050405020304" pitchFamily="18" charset="0"/>
              <a:ea typeface="Times New Roman" panose="02020603050405020304" pitchFamily="18" charset="0"/>
            </a:endParaRPr>
          </a:p>
          <a:p>
            <a:pPr algn="just"/>
            <a:r>
              <a:rPr lang="en-IN" b="1" dirty="0">
                <a:latin typeface="Times New Roman" panose="02020603050405020304" pitchFamily="18" charset="0"/>
                <a:ea typeface="Times New Roman" panose="02020603050405020304" pitchFamily="18" charset="0"/>
              </a:rPr>
              <a:t>   - Genre: Lyrical Poem</a:t>
            </a:r>
            <a:endParaRPr lang="en-IN" sz="2000" b="1" dirty="0">
              <a:effectLst/>
              <a:latin typeface="Times New Roman" panose="02020603050405020304" pitchFamily="18" charset="0"/>
              <a:ea typeface="Times New Roman" panose="02020603050405020304" pitchFamily="18" charset="0"/>
            </a:endParaRPr>
          </a:p>
          <a:p>
            <a:pPr algn="just"/>
            <a:r>
              <a:rPr lang="en-IN" b="1" dirty="0">
                <a:latin typeface="Times New Roman" panose="02020603050405020304" pitchFamily="18" charset="0"/>
                <a:ea typeface="Times New Roman" panose="02020603050405020304" pitchFamily="18" charset="0"/>
              </a:rPr>
              <a:t>   - Overview:</a:t>
            </a:r>
            <a:r>
              <a:rPr lang="en-IN" dirty="0">
                <a:latin typeface="Times New Roman" panose="02020603050405020304" pitchFamily="18" charset="0"/>
                <a:ea typeface="Times New Roman" panose="02020603050405020304" pitchFamily="18" charset="0"/>
              </a:rPr>
              <a:t> This poem narrates the tale of a </a:t>
            </a:r>
            <a:r>
              <a:rPr lang="en-IN" dirty="0" err="1">
                <a:latin typeface="Times New Roman" panose="02020603050405020304" pitchFamily="18" charset="0"/>
                <a:ea typeface="Times New Roman" panose="02020603050405020304" pitchFamily="18" charset="0"/>
              </a:rPr>
              <a:t>yaksha</a:t>
            </a:r>
            <a:r>
              <a:rPr lang="en-IN" dirty="0">
                <a:latin typeface="Times New Roman" panose="02020603050405020304" pitchFamily="18" charset="0"/>
                <a:ea typeface="Times New Roman" panose="02020603050405020304" pitchFamily="18" charset="0"/>
              </a:rPr>
              <a:t> (nature spirit) who, exiled from his beloved, sends a message to her through a cloud. He describes his surroundings and the pain of separation.</a:t>
            </a:r>
            <a:endParaRPr lang="en-IN" sz="2000" b="1" dirty="0">
              <a:effectLst/>
              <a:latin typeface="Times New Roman" panose="02020603050405020304" pitchFamily="18" charset="0"/>
              <a:ea typeface="Times New Roman" panose="02020603050405020304" pitchFamily="18" charset="0"/>
            </a:endParaRPr>
          </a:p>
          <a:p>
            <a:pPr algn="just"/>
            <a:r>
              <a:rPr lang="en-IN" b="1" dirty="0">
                <a:latin typeface="Times New Roman" panose="02020603050405020304" pitchFamily="18" charset="0"/>
                <a:ea typeface="Times New Roman" panose="02020603050405020304" pitchFamily="18" charset="0"/>
              </a:rPr>
              <a:t>   - Themes:</a:t>
            </a:r>
            <a:r>
              <a:rPr lang="en-IN" dirty="0">
                <a:latin typeface="Times New Roman" panose="02020603050405020304" pitchFamily="18" charset="0"/>
                <a:ea typeface="Times New Roman" panose="02020603050405020304" pitchFamily="18" charset="0"/>
              </a:rPr>
              <a:t> Longing, nature, love, and the emotional landscape of separation.</a:t>
            </a:r>
            <a:endParaRPr lang="en-IN" sz="2000" b="1" dirty="0">
              <a:effectLst/>
              <a:latin typeface="Times New Roman" panose="02020603050405020304" pitchFamily="18" charset="0"/>
              <a:ea typeface="Times New Roman" panose="02020603050405020304" pitchFamily="18" charset="0"/>
            </a:endParaRPr>
          </a:p>
          <a:p>
            <a:pPr algn="just"/>
            <a:r>
              <a:rPr lang="en-IN" b="1" dirty="0">
                <a:latin typeface="Times New Roman" panose="02020603050405020304" pitchFamily="18" charset="0"/>
                <a:ea typeface="Times New Roman" panose="02020603050405020304" pitchFamily="18" charset="0"/>
              </a:rPr>
              <a:t>   - Significance:</a:t>
            </a:r>
            <a:r>
              <a:rPr lang="en-IN" dirty="0">
                <a:latin typeface="Times New Roman" panose="02020603050405020304" pitchFamily="18" charset="0"/>
                <a:ea typeface="Times New Roman" panose="02020603050405020304" pitchFamily="18" charset="0"/>
              </a:rPr>
              <a:t> Celebrated for its vivid imagery and emotional intensity, it remains a pinnacle of Sanskrit poetry.</a:t>
            </a:r>
            <a:endParaRPr lang="en-IN" sz="2000" b="1" dirty="0">
              <a:effectLst/>
              <a:latin typeface="Times New Roman" panose="02020603050405020304" pitchFamily="18" charset="0"/>
              <a:ea typeface="Times New Roman" panose="02020603050405020304" pitchFamily="18" charset="0"/>
            </a:endParaRPr>
          </a:p>
          <a:p>
            <a:pPr algn="just"/>
            <a:r>
              <a:rPr lang="en-IN" b="1" dirty="0">
                <a:latin typeface="Times New Roman" panose="02020603050405020304" pitchFamily="18" charset="0"/>
                <a:ea typeface="Times New Roman" panose="02020603050405020304" pitchFamily="18" charset="0"/>
              </a:rPr>
              <a:t>3. </a:t>
            </a:r>
            <a:r>
              <a:rPr lang="en-IN" b="1" dirty="0" err="1">
                <a:latin typeface="Times New Roman" panose="02020603050405020304" pitchFamily="18" charset="0"/>
                <a:ea typeface="Times New Roman" panose="02020603050405020304" pitchFamily="18" charset="0"/>
              </a:rPr>
              <a:t>Raghuvamsha</a:t>
            </a:r>
            <a:r>
              <a:rPr lang="en-IN" b="1" dirty="0">
                <a:latin typeface="Times New Roman" panose="02020603050405020304" pitchFamily="18" charset="0"/>
                <a:ea typeface="Times New Roman" panose="02020603050405020304" pitchFamily="18" charset="0"/>
              </a:rPr>
              <a:t> (The Lineage of Raghu) </a:t>
            </a:r>
            <a:endParaRPr lang="en-IN" sz="2000" b="1" dirty="0">
              <a:effectLst/>
              <a:latin typeface="Times New Roman" panose="02020603050405020304" pitchFamily="18" charset="0"/>
              <a:ea typeface="Times New Roman" panose="02020603050405020304" pitchFamily="18" charset="0"/>
            </a:endParaRPr>
          </a:p>
          <a:p>
            <a:pPr algn="just"/>
            <a:r>
              <a:rPr lang="en-IN" b="1" dirty="0">
                <a:latin typeface="Times New Roman" panose="02020603050405020304" pitchFamily="18" charset="0"/>
                <a:ea typeface="Times New Roman" panose="02020603050405020304" pitchFamily="18" charset="0"/>
              </a:rPr>
              <a:t>   - Genre: Epic Poem</a:t>
            </a:r>
            <a:endParaRPr lang="en-IN" sz="2000" b="1" dirty="0">
              <a:effectLst/>
              <a:latin typeface="Times New Roman" panose="02020603050405020304" pitchFamily="18" charset="0"/>
              <a:ea typeface="Times New Roman" panose="02020603050405020304" pitchFamily="18" charset="0"/>
            </a:endParaRPr>
          </a:p>
          <a:p>
            <a:pPr algn="just"/>
            <a:r>
              <a:rPr lang="en-IN" b="1" dirty="0">
                <a:latin typeface="Times New Roman" panose="02020603050405020304" pitchFamily="18" charset="0"/>
                <a:ea typeface="Times New Roman" panose="02020603050405020304" pitchFamily="18" charset="0"/>
              </a:rPr>
              <a:t>   - Overview:</a:t>
            </a:r>
            <a:r>
              <a:rPr lang="en-IN" dirty="0">
                <a:latin typeface="Times New Roman" panose="02020603050405020304" pitchFamily="18" charset="0"/>
                <a:ea typeface="Times New Roman" panose="02020603050405020304" pitchFamily="18" charset="0"/>
              </a:rPr>
              <a:t> This epic traces the lineage of Lord Rama, focusing on the lives and virtues of his ancestors, particularly King Raghu.</a:t>
            </a:r>
            <a:endParaRPr lang="en-IN" sz="2000" b="1" dirty="0">
              <a:effectLst/>
              <a:latin typeface="Times New Roman" panose="02020603050405020304" pitchFamily="18" charset="0"/>
              <a:ea typeface="Times New Roman" panose="02020603050405020304" pitchFamily="18" charset="0"/>
            </a:endParaRPr>
          </a:p>
          <a:p>
            <a:pPr algn="just"/>
            <a:r>
              <a:rPr lang="en-IN" b="1" dirty="0">
                <a:latin typeface="Times New Roman" panose="02020603050405020304" pitchFamily="18" charset="0"/>
                <a:ea typeface="Times New Roman" panose="02020603050405020304" pitchFamily="18" charset="0"/>
              </a:rPr>
              <a:t>   - Themes:</a:t>
            </a:r>
            <a:r>
              <a:rPr lang="en-IN" dirty="0">
                <a:latin typeface="Times New Roman" panose="02020603050405020304" pitchFamily="18" charset="0"/>
                <a:ea typeface="Times New Roman" panose="02020603050405020304" pitchFamily="18" charset="0"/>
              </a:rPr>
              <a:t> Heroism, righteousness (dharma), and the ideals of kingship.</a:t>
            </a:r>
            <a:endParaRPr lang="en-IN" sz="2000" b="1" dirty="0">
              <a:effectLst/>
              <a:latin typeface="Times New Roman" panose="02020603050405020304" pitchFamily="18" charset="0"/>
              <a:ea typeface="Times New Roman" panose="02020603050405020304" pitchFamily="18" charset="0"/>
            </a:endParaRPr>
          </a:p>
          <a:p>
            <a:pPr algn="just"/>
            <a:r>
              <a:rPr lang="en-IN" b="1" dirty="0">
                <a:latin typeface="Times New Roman" panose="02020603050405020304" pitchFamily="18" charset="0"/>
                <a:ea typeface="Times New Roman" panose="02020603050405020304" pitchFamily="18" charset="0"/>
              </a:rPr>
              <a:t>   - Significance:</a:t>
            </a:r>
            <a:r>
              <a:rPr lang="en-IN" dirty="0">
                <a:latin typeface="Times New Roman" panose="02020603050405020304" pitchFamily="18" charset="0"/>
                <a:ea typeface="Times New Roman" panose="02020603050405020304" pitchFamily="18" charset="0"/>
              </a:rPr>
              <a:t> It is notable for its grand narrative style and philosophical insights into governance and ethics.</a:t>
            </a:r>
            <a:endParaRPr lang="en-IN" sz="2000" b="1"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5135670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13953" y="751344"/>
            <a:ext cx="11234057" cy="3693319"/>
          </a:xfrm>
          <a:prstGeom prst="rect">
            <a:avLst/>
          </a:prstGeom>
        </p:spPr>
        <p:txBody>
          <a:bodyPr wrap="square">
            <a:spAutoFit/>
          </a:bodyPr>
          <a:lstStyle/>
          <a:p>
            <a:pPr algn="just"/>
            <a:r>
              <a:rPr lang="en-IN" b="1" dirty="0">
                <a:latin typeface="Times New Roman" panose="02020603050405020304" pitchFamily="18" charset="0"/>
                <a:ea typeface="Times New Roman" panose="02020603050405020304" pitchFamily="18" charset="0"/>
              </a:rPr>
              <a:t>4. </a:t>
            </a:r>
            <a:r>
              <a:rPr lang="en-IN" b="1" dirty="0" err="1">
                <a:latin typeface="Times New Roman" panose="02020603050405020304" pitchFamily="18" charset="0"/>
                <a:ea typeface="Times New Roman" panose="02020603050405020304" pitchFamily="18" charset="0"/>
              </a:rPr>
              <a:t>Vikramorvasiyam</a:t>
            </a:r>
            <a:endParaRPr lang="en-IN" sz="2000" b="1" dirty="0">
              <a:effectLst/>
              <a:latin typeface="Times New Roman" panose="02020603050405020304" pitchFamily="18" charset="0"/>
              <a:ea typeface="Times New Roman" panose="02020603050405020304" pitchFamily="18" charset="0"/>
            </a:endParaRPr>
          </a:p>
          <a:p>
            <a:pPr algn="just"/>
            <a:r>
              <a:rPr lang="en-IN" b="1" dirty="0">
                <a:latin typeface="Times New Roman" panose="02020603050405020304" pitchFamily="18" charset="0"/>
                <a:ea typeface="Times New Roman" panose="02020603050405020304" pitchFamily="18" charset="0"/>
              </a:rPr>
              <a:t>   - Genre: Play</a:t>
            </a:r>
            <a:endParaRPr lang="en-IN" sz="2000" b="1" dirty="0">
              <a:effectLst/>
              <a:latin typeface="Times New Roman" panose="02020603050405020304" pitchFamily="18" charset="0"/>
              <a:ea typeface="Times New Roman" panose="02020603050405020304" pitchFamily="18" charset="0"/>
            </a:endParaRPr>
          </a:p>
          <a:p>
            <a:pPr algn="just"/>
            <a:r>
              <a:rPr lang="en-IN" b="1" dirty="0">
                <a:latin typeface="Times New Roman" panose="02020603050405020304" pitchFamily="18" charset="0"/>
                <a:ea typeface="Times New Roman" panose="02020603050405020304" pitchFamily="18" charset="0"/>
              </a:rPr>
              <a:t>   - Overview:</a:t>
            </a:r>
            <a:r>
              <a:rPr lang="en-IN" dirty="0">
                <a:latin typeface="Times New Roman" panose="02020603050405020304" pitchFamily="18" charset="0"/>
                <a:ea typeface="Times New Roman" panose="02020603050405020304" pitchFamily="18" charset="0"/>
              </a:rPr>
              <a:t> This romantic drama tells the story of King </a:t>
            </a:r>
            <a:r>
              <a:rPr lang="en-IN" dirty="0" err="1">
                <a:latin typeface="Times New Roman" panose="02020603050405020304" pitchFamily="18" charset="0"/>
                <a:ea typeface="Times New Roman" panose="02020603050405020304" pitchFamily="18" charset="0"/>
              </a:rPr>
              <a:t>Vikrama</a:t>
            </a:r>
            <a:r>
              <a:rPr lang="en-IN" dirty="0">
                <a:latin typeface="Times New Roman" panose="02020603050405020304" pitchFamily="18" charset="0"/>
                <a:ea typeface="Times New Roman" panose="02020603050405020304" pitchFamily="18" charset="0"/>
              </a:rPr>
              <a:t> and the celestial nymph Urvashi, exploring themes of love, duty, and divine intervention.</a:t>
            </a:r>
            <a:endParaRPr lang="en-IN" sz="2000" b="1" dirty="0">
              <a:effectLst/>
              <a:latin typeface="Times New Roman" panose="02020603050405020304" pitchFamily="18" charset="0"/>
              <a:ea typeface="Times New Roman" panose="02020603050405020304" pitchFamily="18" charset="0"/>
            </a:endParaRPr>
          </a:p>
          <a:p>
            <a:pPr algn="just"/>
            <a:r>
              <a:rPr lang="en-IN" b="1" dirty="0">
                <a:latin typeface="Times New Roman" panose="02020603050405020304" pitchFamily="18" charset="0"/>
                <a:ea typeface="Times New Roman" panose="02020603050405020304" pitchFamily="18" charset="0"/>
              </a:rPr>
              <a:t>   - Themes:</a:t>
            </a:r>
            <a:r>
              <a:rPr lang="en-IN" dirty="0">
                <a:latin typeface="Times New Roman" panose="02020603050405020304" pitchFamily="18" charset="0"/>
                <a:ea typeface="Times New Roman" panose="02020603050405020304" pitchFamily="18" charset="0"/>
              </a:rPr>
              <a:t> The tension between human desires and the obligations of royalty.</a:t>
            </a:r>
            <a:endParaRPr lang="en-IN" sz="2000" b="1" dirty="0">
              <a:effectLst/>
              <a:latin typeface="Times New Roman" panose="02020603050405020304" pitchFamily="18" charset="0"/>
              <a:ea typeface="Times New Roman" panose="02020603050405020304" pitchFamily="18" charset="0"/>
            </a:endParaRPr>
          </a:p>
          <a:p>
            <a:pPr algn="just"/>
            <a:r>
              <a:rPr lang="en-IN" b="1" dirty="0">
                <a:latin typeface="Times New Roman" panose="02020603050405020304" pitchFamily="18" charset="0"/>
                <a:ea typeface="Times New Roman" panose="02020603050405020304" pitchFamily="18" charset="0"/>
              </a:rPr>
              <a:t>   - Significance:</a:t>
            </a:r>
            <a:r>
              <a:rPr lang="en-IN" dirty="0">
                <a:latin typeface="Times New Roman" panose="02020603050405020304" pitchFamily="18" charset="0"/>
                <a:ea typeface="Times New Roman" panose="02020603050405020304" pitchFamily="18" charset="0"/>
              </a:rPr>
              <a:t> Known for its blend of romance and fantasy, it showcases </a:t>
            </a:r>
            <a:r>
              <a:rPr lang="en-IN" dirty="0" err="1">
                <a:latin typeface="Times New Roman" panose="02020603050405020304" pitchFamily="18" charset="0"/>
                <a:ea typeface="Times New Roman" panose="02020603050405020304" pitchFamily="18" charset="0"/>
              </a:rPr>
              <a:t>Kalidasa’s</a:t>
            </a:r>
            <a:r>
              <a:rPr lang="en-IN" dirty="0">
                <a:latin typeface="Times New Roman" panose="02020603050405020304" pitchFamily="18" charset="0"/>
                <a:ea typeface="Times New Roman" panose="02020603050405020304" pitchFamily="18" charset="0"/>
              </a:rPr>
              <a:t> skill in character development and dialogue.</a:t>
            </a:r>
            <a:endParaRPr lang="en-IN" sz="2000" b="1" dirty="0">
              <a:effectLst/>
              <a:latin typeface="Times New Roman" panose="02020603050405020304" pitchFamily="18" charset="0"/>
              <a:ea typeface="Times New Roman" panose="02020603050405020304" pitchFamily="18" charset="0"/>
            </a:endParaRPr>
          </a:p>
          <a:p>
            <a:pPr algn="just"/>
            <a:r>
              <a:rPr lang="en-IN" b="1" dirty="0">
                <a:latin typeface="Times New Roman" panose="02020603050405020304" pitchFamily="18" charset="0"/>
                <a:ea typeface="Times New Roman" panose="02020603050405020304" pitchFamily="18" charset="0"/>
              </a:rPr>
              <a:t>5. </a:t>
            </a:r>
            <a:r>
              <a:rPr lang="en-IN" b="1" dirty="0" err="1">
                <a:latin typeface="Times New Roman" panose="02020603050405020304" pitchFamily="18" charset="0"/>
                <a:ea typeface="Times New Roman" panose="02020603050405020304" pitchFamily="18" charset="0"/>
              </a:rPr>
              <a:t>Kumarasambhava</a:t>
            </a:r>
            <a:endParaRPr lang="en-IN" sz="2000" b="1" dirty="0">
              <a:effectLst/>
              <a:latin typeface="Times New Roman" panose="02020603050405020304" pitchFamily="18" charset="0"/>
              <a:ea typeface="Times New Roman" panose="02020603050405020304" pitchFamily="18" charset="0"/>
            </a:endParaRPr>
          </a:p>
          <a:p>
            <a:pPr algn="just"/>
            <a:r>
              <a:rPr lang="en-IN" b="1" dirty="0">
                <a:latin typeface="Times New Roman" panose="02020603050405020304" pitchFamily="18" charset="0"/>
                <a:ea typeface="Times New Roman" panose="02020603050405020304" pitchFamily="18" charset="0"/>
              </a:rPr>
              <a:t>   - Genre: Epic Poem</a:t>
            </a:r>
            <a:endParaRPr lang="en-IN" sz="2000" b="1" dirty="0">
              <a:effectLst/>
              <a:latin typeface="Times New Roman" panose="02020603050405020304" pitchFamily="18" charset="0"/>
              <a:ea typeface="Times New Roman" panose="02020603050405020304" pitchFamily="18" charset="0"/>
            </a:endParaRPr>
          </a:p>
          <a:p>
            <a:pPr algn="just"/>
            <a:r>
              <a:rPr lang="en-IN" b="1" dirty="0">
                <a:latin typeface="Times New Roman" panose="02020603050405020304" pitchFamily="18" charset="0"/>
                <a:ea typeface="Times New Roman" panose="02020603050405020304" pitchFamily="18" charset="0"/>
              </a:rPr>
              <a:t>   - Overview:</a:t>
            </a:r>
            <a:r>
              <a:rPr lang="en-IN" dirty="0">
                <a:latin typeface="Times New Roman" panose="02020603050405020304" pitchFamily="18" charset="0"/>
                <a:ea typeface="Times New Roman" panose="02020603050405020304" pitchFamily="18" charset="0"/>
              </a:rPr>
              <a:t> This poem narrates the birth of Lord Kumara (</a:t>
            </a:r>
            <a:r>
              <a:rPr lang="en-IN" dirty="0" err="1">
                <a:latin typeface="Times New Roman" panose="02020603050405020304" pitchFamily="18" charset="0"/>
                <a:ea typeface="Times New Roman" panose="02020603050405020304" pitchFamily="18" charset="0"/>
              </a:rPr>
              <a:t>Skanda</a:t>
            </a:r>
            <a:r>
              <a:rPr lang="en-IN" dirty="0">
                <a:latin typeface="Times New Roman" panose="02020603050405020304" pitchFamily="18" charset="0"/>
                <a:ea typeface="Times New Roman" panose="02020603050405020304" pitchFamily="18" charset="0"/>
              </a:rPr>
              <a:t>) to Shiva and </a:t>
            </a:r>
            <a:r>
              <a:rPr lang="en-IN" dirty="0" err="1">
                <a:latin typeface="Times New Roman" panose="02020603050405020304" pitchFamily="18" charset="0"/>
                <a:ea typeface="Times New Roman" panose="02020603050405020304" pitchFamily="18" charset="0"/>
              </a:rPr>
              <a:t>Parvati</a:t>
            </a:r>
            <a:r>
              <a:rPr lang="en-IN" dirty="0">
                <a:latin typeface="Times New Roman" panose="02020603050405020304" pitchFamily="18" charset="0"/>
                <a:ea typeface="Times New Roman" panose="02020603050405020304" pitchFamily="18" charset="0"/>
              </a:rPr>
              <a:t>, detailing their love and the challenges faced.</a:t>
            </a:r>
            <a:endParaRPr lang="en-IN" sz="2000" b="1" dirty="0">
              <a:effectLst/>
              <a:latin typeface="Times New Roman" panose="02020603050405020304" pitchFamily="18" charset="0"/>
              <a:ea typeface="Times New Roman" panose="02020603050405020304" pitchFamily="18" charset="0"/>
            </a:endParaRPr>
          </a:p>
          <a:p>
            <a:pPr algn="just"/>
            <a:r>
              <a:rPr lang="en-IN" dirty="0">
                <a:latin typeface="Times New Roman" panose="02020603050405020304" pitchFamily="18" charset="0"/>
                <a:ea typeface="Times New Roman" panose="02020603050405020304" pitchFamily="18" charset="0"/>
              </a:rPr>
              <a:t>   </a:t>
            </a:r>
            <a:r>
              <a:rPr lang="en-IN" b="1" dirty="0">
                <a:latin typeface="Times New Roman" panose="02020603050405020304" pitchFamily="18" charset="0"/>
                <a:ea typeface="Times New Roman" panose="02020603050405020304" pitchFamily="18" charset="0"/>
              </a:rPr>
              <a:t>- Themes:</a:t>
            </a:r>
            <a:r>
              <a:rPr lang="en-IN" dirty="0">
                <a:latin typeface="Times New Roman" panose="02020603050405020304" pitchFamily="18" charset="0"/>
                <a:ea typeface="Times New Roman" panose="02020603050405020304" pitchFamily="18" charset="0"/>
              </a:rPr>
              <a:t> Divine love, motherhood, and the interplay of cosmic forces.</a:t>
            </a:r>
            <a:endParaRPr lang="en-IN" sz="2000" b="1" dirty="0">
              <a:effectLst/>
              <a:latin typeface="Times New Roman" panose="02020603050405020304" pitchFamily="18" charset="0"/>
              <a:ea typeface="Times New Roman" panose="02020603050405020304" pitchFamily="18" charset="0"/>
            </a:endParaRPr>
          </a:p>
          <a:p>
            <a:pPr algn="just"/>
            <a:r>
              <a:rPr lang="en-IN" dirty="0">
                <a:latin typeface="Times New Roman" panose="02020603050405020304" pitchFamily="18" charset="0"/>
                <a:ea typeface="Times New Roman" panose="02020603050405020304" pitchFamily="18" charset="0"/>
              </a:rPr>
              <a:t>   </a:t>
            </a:r>
            <a:r>
              <a:rPr lang="en-IN" b="1" dirty="0">
                <a:latin typeface="Times New Roman" panose="02020603050405020304" pitchFamily="18" charset="0"/>
                <a:ea typeface="Times New Roman" panose="02020603050405020304" pitchFamily="18" charset="0"/>
              </a:rPr>
              <a:t>- Significance:</a:t>
            </a:r>
            <a:r>
              <a:rPr lang="en-IN" dirty="0">
                <a:latin typeface="Times New Roman" panose="02020603050405020304" pitchFamily="18" charset="0"/>
                <a:ea typeface="Times New Roman" panose="02020603050405020304" pitchFamily="18" charset="0"/>
              </a:rPr>
              <a:t> It explores the concept of divine love and the relationship between gods and mortals.</a:t>
            </a:r>
            <a:endParaRPr lang="en-IN" sz="2000" b="1"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5557684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75211" y="1028343"/>
            <a:ext cx="10110652" cy="3693319"/>
          </a:xfrm>
          <a:prstGeom prst="rect">
            <a:avLst/>
          </a:prstGeom>
        </p:spPr>
        <p:txBody>
          <a:bodyPr wrap="square">
            <a:spAutoFit/>
          </a:bodyPr>
          <a:lstStyle/>
          <a:p>
            <a:pPr algn="just"/>
            <a:r>
              <a:rPr lang="en-IN" b="1" dirty="0">
                <a:latin typeface="Times New Roman" panose="02020603050405020304" pitchFamily="18" charset="0"/>
                <a:ea typeface="Times New Roman" panose="02020603050405020304" pitchFamily="18" charset="0"/>
              </a:rPr>
              <a:t>6. </a:t>
            </a:r>
            <a:r>
              <a:rPr lang="en-IN" b="1" dirty="0" err="1">
                <a:latin typeface="Times New Roman" panose="02020603050405020304" pitchFamily="18" charset="0"/>
                <a:ea typeface="Times New Roman" panose="02020603050405020304" pitchFamily="18" charset="0"/>
              </a:rPr>
              <a:t>Ritusamhara</a:t>
            </a:r>
            <a:r>
              <a:rPr lang="en-IN" b="1" dirty="0">
                <a:latin typeface="Times New Roman" panose="02020603050405020304" pitchFamily="18" charset="0"/>
                <a:ea typeface="Times New Roman" panose="02020603050405020304" pitchFamily="18" charset="0"/>
              </a:rPr>
              <a:t> (The Gathering of the Seasons)</a:t>
            </a:r>
            <a:endParaRPr lang="en-IN" sz="2000" b="1" dirty="0">
              <a:effectLst/>
              <a:latin typeface="Times New Roman" panose="02020603050405020304" pitchFamily="18" charset="0"/>
              <a:ea typeface="Times New Roman" panose="02020603050405020304" pitchFamily="18" charset="0"/>
            </a:endParaRPr>
          </a:p>
          <a:p>
            <a:pPr algn="just"/>
            <a:r>
              <a:rPr lang="en-IN" b="1" dirty="0">
                <a:latin typeface="Times New Roman" panose="02020603050405020304" pitchFamily="18" charset="0"/>
                <a:ea typeface="Times New Roman" panose="02020603050405020304" pitchFamily="18" charset="0"/>
              </a:rPr>
              <a:t>   - Genre: Lyrical Poem</a:t>
            </a:r>
            <a:endParaRPr lang="en-IN" sz="2000" b="1" dirty="0">
              <a:effectLst/>
              <a:latin typeface="Times New Roman" panose="02020603050405020304" pitchFamily="18" charset="0"/>
              <a:ea typeface="Times New Roman" panose="02020603050405020304" pitchFamily="18" charset="0"/>
            </a:endParaRPr>
          </a:p>
          <a:p>
            <a:pPr algn="just"/>
            <a:r>
              <a:rPr lang="en-IN" b="1" dirty="0">
                <a:latin typeface="Times New Roman" panose="02020603050405020304" pitchFamily="18" charset="0"/>
                <a:ea typeface="Times New Roman" panose="02020603050405020304" pitchFamily="18" charset="0"/>
              </a:rPr>
              <a:t>   - Overview:</a:t>
            </a:r>
            <a:r>
              <a:rPr lang="en-IN" dirty="0">
                <a:latin typeface="Times New Roman" panose="02020603050405020304" pitchFamily="18" charset="0"/>
                <a:ea typeface="Times New Roman" panose="02020603050405020304" pitchFamily="18" charset="0"/>
              </a:rPr>
              <a:t> This poem celebrates the six seasons of India, each associated with different moods and emotions, particularly in the context of love.</a:t>
            </a:r>
            <a:endParaRPr lang="en-IN" sz="2000" b="1" dirty="0">
              <a:effectLst/>
              <a:latin typeface="Times New Roman" panose="02020603050405020304" pitchFamily="18" charset="0"/>
              <a:ea typeface="Times New Roman" panose="02020603050405020304" pitchFamily="18" charset="0"/>
            </a:endParaRPr>
          </a:p>
          <a:p>
            <a:pPr algn="just"/>
            <a:r>
              <a:rPr lang="en-IN" b="1" dirty="0">
                <a:latin typeface="Times New Roman" panose="02020603050405020304" pitchFamily="18" charset="0"/>
                <a:ea typeface="Times New Roman" panose="02020603050405020304" pitchFamily="18" charset="0"/>
              </a:rPr>
              <a:t>   - Themes:</a:t>
            </a:r>
            <a:r>
              <a:rPr lang="en-IN" dirty="0">
                <a:latin typeface="Times New Roman" panose="02020603050405020304" pitchFamily="18" charset="0"/>
                <a:ea typeface="Times New Roman" panose="02020603050405020304" pitchFamily="18" charset="0"/>
              </a:rPr>
              <a:t> Nature, romance, and the cyclical aspects of life.</a:t>
            </a:r>
            <a:endParaRPr lang="en-IN" sz="2000" b="1" dirty="0">
              <a:effectLst/>
              <a:latin typeface="Times New Roman" panose="02020603050405020304" pitchFamily="18" charset="0"/>
              <a:ea typeface="Times New Roman" panose="02020603050405020304" pitchFamily="18" charset="0"/>
            </a:endParaRPr>
          </a:p>
          <a:p>
            <a:pPr algn="just"/>
            <a:r>
              <a:rPr lang="en-IN" b="1" dirty="0">
                <a:latin typeface="Times New Roman" panose="02020603050405020304" pitchFamily="18" charset="0"/>
                <a:ea typeface="Times New Roman" panose="02020603050405020304" pitchFamily="18" charset="0"/>
              </a:rPr>
              <a:t>   - Significance:</a:t>
            </a:r>
            <a:r>
              <a:rPr lang="en-IN" dirty="0">
                <a:latin typeface="Times New Roman" panose="02020603050405020304" pitchFamily="18" charset="0"/>
                <a:ea typeface="Times New Roman" panose="02020603050405020304" pitchFamily="18" charset="0"/>
              </a:rPr>
              <a:t> It is noted for its rich descriptions of the natural world and how it influences human emotions.</a:t>
            </a:r>
            <a:endParaRPr lang="en-IN" sz="2000" b="1" dirty="0">
              <a:effectLst/>
              <a:latin typeface="Times New Roman" panose="02020603050405020304" pitchFamily="18" charset="0"/>
              <a:ea typeface="Times New Roman" panose="02020603050405020304" pitchFamily="18" charset="0"/>
            </a:endParaRPr>
          </a:p>
          <a:p>
            <a:pPr algn="just"/>
            <a:r>
              <a:rPr lang="en-IN" b="1" dirty="0">
                <a:latin typeface="Times New Roman" panose="02020603050405020304" pitchFamily="18" charset="0"/>
                <a:ea typeface="Times New Roman" panose="02020603050405020304" pitchFamily="18" charset="0"/>
              </a:rPr>
              <a:t>7. </a:t>
            </a:r>
            <a:r>
              <a:rPr lang="en-IN" b="1" dirty="0" err="1">
                <a:latin typeface="Times New Roman" panose="02020603050405020304" pitchFamily="18" charset="0"/>
                <a:ea typeface="Times New Roman" panose="02020603050405020304" pitchFamily="18" charset="0"/>
              </a:rPr>
              <a:t>Malavikagnimitram</a:t>
            </a:r>
            <a:endParaRPr lang="en-IN" sz="2000" b="1" dirty="0">
              <a:effectLst/>
              <a:latin typeface="Times New Roman" panose="02020603050405020304" pitchFamily="18" charset="0"/>
              <a:ea typeface="Times New Roman" panose="02020603050405020304" pitchFamily="18" charset="0"/>
            </a:endParaRPr>
          </a:p>
          <a:p>
            <a:pPr algn="just"/>
            <a:r>
              <a:rPr lang="en-IN" b="1" dirty="0">
                <a:latin typeface="Times New Roman" panose="02020603050405020304" pitchFamily="18" charset="0"/>
                <a:ea typeface="Times New Roman" panose="02020603050405020304" pitchFamily="18" charset="0"/>
              </a:rPr>
              <a:t>   - Genre: Play</a:t>
            </a:r>
            <a:endParaRPr lang="en-IN" sz="2000" b="1" dirty="0">
              <a:effectLst/>
              <a:latin typeface="Times New Roman" panose="02020603050405020304" pitchFamily="18" charset="0"/>
              <a:ea typeface="Times New Roman" panose="02020603050405020304" pitchFamily="18" charset="0"/>
            </a:endParaRPr>
          </a:p>
          <a:p>
            <a:pPr algn="just"/>
            <a:r>
              <a:rPr lang="en-IN" b="1" dirty="0">
                <a:latin typeface="Times New Roman" panose="02020603050405020304" pitchFamily="18" charset="0"/>
                <a:ea typeface="Times New Roman" panose="02020603050405020304" pitchFamily="18" charset="0"/>
              </a:rPr>
              <a:t>   - Overview:</a:t>
            </a:r>
            <a:r>
              <a:rPr lang="en-IN" dirty="0">
                <a:latin typeface="Times New Roman" panose="02020603050405020304" pitchFamily="18" charset="0"/>
                <a:ea typeface="Times New Roman" panose="02020603050405020304" pitchFamily="18" charset="0"/>
              </a:rPr>
              <a:t> The story revolves around the love affair between King </a:t>
            </a:r>
            <a:r>
              <a:rPr lang="en-IN" dirty="0" err="1">
                <a:latin typeface="Times New Roman" panose="02020603050405020304" pitchFamily="18" charset="0"/>
                <a:ea typeface="Times New Roman" panose="02020603050405020304" pitchFamily="18" charset="0"/>
              </a:rPr>
              <a:t>Agnimitra</a:t>
            </a:r>
            <a:r>
              <a:rPr lang="en-IN" dirty="0">
                <a:latin typeface="Times New Roman" panose="02020603050405020304" pitchFamily="18" charset="0"/>
                <a:ea typeface="Times New Roman" panose="02020603050405020304" pitchFamily="18" charset="0"/>
              </a:rPr>
              <a:t> and </a:t>
            </a:r>
            <a:r>
              <a:rPr lang="en-IN" dirty="0" err="1">
                <a:latin typeface="Times New Roman" panose="02020603050405020304" pitchFamily="18" charset="0"/>
                <a:ea typeface="Times New Roman" panose="02020603050405020304" pitchFamily="18" charset="0"/>
              </a:rPr>
              <a:t>Malavika</a:t>
            </a:r>
            <a:r>
              <a:rPr lang="en-IN" dirty="0">
                <a:latin typeface="Times New Roman" panose="02020603050405020304" pitchFamily="18" charset="0"/>
                <a:ea typeface="Times New Roman" panose="02020603050405020304" pitchFamily="18" charset="0"/>
              </a:rPr>
              <a:t>, a beautiful maiden. The plot includes themes of mistaken identity and royal intrigue.</a:t>
            </a:r>
            <a:endParaRPr lang="en-IN" sz="2000" b="1" dirty="0">
              <a:effectLst/>
              <a:latin typeface="Times New Roman" panose="02020603050405020304" pitchFamily="18" charset="0"/>
              <a:ea typeface="Times New Roman" panose="02020603050405020304" pitchFamily="18" charset="0"/>
            </a:endParaRPr>
          </a:p>
          <a:p>
            <a:pPr algn="just"/>
            <a:r>
              <a:rPr lang="en-IN" dirty="0">
                <a:latin typeface="Times New Roman" panose="02020603050405020304" pitchFamily="18" charset="0"/>
                <a:ea typeface="Times New Roman" panose="02020603050405020304" pitchFamily="18" charset="0"/>
              </a:rPr>
              <a:t>   </a:t>
            </a:r>
            <a:r>
              <a:rPr lang="en-IN" b="1" dirty="0">
                <a:latin typeface="Times New Roman" panose="02020603050405020304" pitchFamily="18" charset="0"/>
                <a:ea typeface="Times New Roman" panose="02020603050405020304" pitchFamily="18" charset="0"/>
              </a:rPr>
              <a:t>- Themes:</a:t>
            </a:r>
            <a:r>
              <a:rPr lang="en-IN" dirty="0">
                <a:latin typeface="Times New Roman" panose="02020603050405020304" pitchFamily="18" charset="0"/>
                <a:ea typeface="Times New Roman" panose="02020603050405020304" pitchFamily="18" charset="0"/>
              </a:rPr>
              <a:t> Love, courtly life, and the challenges of relationships.</a:t>
            </a:r>
            <a:endParaRPr lang="en-IN" sz="2000" b="1" dirty="0">
              <a:effectLst/>
              <a:latin typeface="Times New Roman" panose="02020603050405020304" pitchFamily="18" charset="0"/>
              <a:ea typeface="Times New Roman" panose="02020603050405020304" pitchFamily="18" charset="0"/>
            </a:endParaRPr>
          </a:p>
          <a:p>
            <a:pPr algn="just"/>
            <a:r>
              <a:rPr lang="en-IN" b="1" dirty="0">
                <a:latin typeface="Times New Roman" panose="02020603050405020304" pitchFamily="18" charset="0"/>
                <a:ea typeface="Times New Roman" panose="02020603050405020304" pitchFamily="18" charset="0"/>
              </a:rPr>
              <a:t>   - Significance:</a:t>
            </a:r>
            <a:r>
              <a:rPr lang="en-IN" dirty="0">
                <a:latin typeface="Times New Roman" panose="02020603050405020304" pitchFamily="18" charset="0"/>
                <a:ea typeface="Times New Roman" panose="02020603050405020304" pitchFamily="18" charset="0"/>
              </a:rPr>
              <a:t> This work showcases </a:t>
            </a:r>
            <a:r>
              <a:rPr lang="en-IN" dirty="0" err="1">
                <a:latin typeface="Times New Roman" panose="02020603050405020304" pitchFamily="18" charset="0"/>
                <a:ea typeface="Times New Roman" panose="02020603050405020304" pitchFamily="18" charset="0"/>
              </a:rPr>
              <a:t>Kalidasa’s</a:t>
            </a:r>
            <a:r>
              <a:rPr lang="en-IN" dirty="0">
                <a:latin typeface="Times New Roman" panose="02020603050405020304" pitchFamily="18" charset="0"/>
                <a:ea typeface="Times New Roman" panose="02020603050405020304" pitchFamily="18" charset="0"/>
              </a:rPr>
              <a:t> ability to blend </a:t>
            </a:r>
            <a:r>
              <a:rPr lang="en-IN" dirty="0" err="1">
                <a:latin typeface="Times New Roman" panose="02020603050405020304" pitchFamily="18" charset="0"/>
                <a:ea typeface="Times New Roman" panose="02020603050405020304" pitchFamily="18" charset="0"/>
              </a:rPr>
              <a:t>humor</a:t>
            </a:r>
            <a:r>
              <a:rPr lang="en-IN" dirty="0">
                <a:latin typeface="Times New Roman" panose="02020603050405020304" pitchFamily="18" charset="0"/>
                <a:ea typeface="Times New Roman" panose="02020603050405020304" pitchFamily="18" charset="0"/>
              </a:rPr>
              <a:t>, romance, and drama.</a:t>
            </a:r>
            <a:endParaRPr lang="en-IN" sz="2000" b="1"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7115593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79714" y="1086500"/>
            <a:ext cx="10332720" cy="3557641"/>
          </a:xfrm>
          <a:prstGeom prst="rect">
            <a:avLst/>
          </a:prstGeom>
        </p:spPr>
        <p:txBody>
          <a:bodyPr wrap="square">
            <a:spAutoFit/>
          </a:bodyPr>
          <a:lstStyle/>
          <a:p>
            <a:pPr algn="just"/>
            <a:r>
              <a:rPr lang="en-IN" b="1" dirty="0">
                <a:latin typeface="Times New Roman" panose="02020603050405020304" pitchFamily="18" charset="0"/>
                <a:ea typeface="Times New Roman" panose="02020603050405020304" pitchFamily="18" charset="0"/>
              </a:rPr>
              <a:t>Literary Style</a:t>
            </a:r>
            <a:endParaRPr lang="en-IN" sz="2000" b="1" dirty="0">
              <a:effectLst/>
              <a:latin typeface="Times New Roman" panose="02020603050405020304" pitchFamily="18" charset="0"/>
              <a:ea typeface="Times New Roman" panose="02020603050405020304" pitchFamily="18" charset="0"/>
            </a:endParaRPr>
          </a:p>
          <a:p>
            <a:pPr algn="just"/>
            <a:r>
              <a:rPr lang="en-IN" b="1" dirty="0">
                <a:latin typeface="Times New Roman" panose="02020603050405020304" pitchFamily="18" charset="0"/>
                <a:ea typeface="Times New Roman" panose="02020603050405020304" pitchFamily="18" charset="0"/>
              </a:rPr>
              <a:t>- Language:</a:t>
            </a:r>
            <a:r>
              <a:rPr lang="en-IN" dirty="0">
                <a:latin typeface="Times New Roman" panose="02020603050405020304" pitchFamily="18" charset="0"/>
                <a:ea typeface="Times New Roman" panose="02020603050405020304" pitchFamily="18" charset="0"/>
              </a:rPr>
              <a:t> </a:t>
            </a:r>
            <a:r>
              <a:rPr lang="en-IN" dirty="0" err="1">
                <a:latin typeface="Times New Roman" panose="02020603050405020304" pitchFamily="18" charset="0"/>
                <a:ea typeface="Times New Roman" panose="02020603050405020304" pitchFamily="18" charset="0"/>
              </a:rPr>
              <a:t>Kalidasa</a:t>
            </a:r>
            <a:r>
              <a:rPr lang="en-IN" dirty="0">
                <a:latin typeface="Times New Roman" panose="02020603050405020304" pitchFamily="18" charset="0"/>
                <a:ea typeface="Times New Roman" panose="02020603050405020304" pitchFamily="18" charset="0"/>
              </a:rPr>
              <a:t> is celebrated for his mastery of Sanskrit, employing a rich vocabulary, elegant syntax, and poetic devices.</a:t>
            </a:r>
            <a:endParaRPr lang="en-IN" sz="2000" b="1" dirty="0">
              <a:effectLst/>
              <a:latin typeface="Times New Roman" panose="02020603050405020304" pitchFamily="18" charset="0"/>
              <a:ea typeface="Times New Roman" panose="02020603050405020304" pitchFamily="18" charset="0"/>
            </a:endParaRPr>
          </a:p>
          <a:p>
            <a:pPr algn="just"/>
            <a:r>
              <a:rPr lang="en-IN" b="1" dirty="0">
                <a:latin typeface="Times New Roman" panose="02020603050405020304" pitchFamily="18" charset="0"/>
                <a:ea typeface="Times New Roman" panose="02020603050405020304" pitchFamily="18" charset="0"/>
              </a:rPr>
              <a:t>- Imagery:</a:t>
            </a:r>
            <a:r>
              <a:rPr lang="en-IN" dirty="0">
                <a:latin typeface="Times New Roman" panose="02020603050405020304" pitchFamily="18" charset="0"/>
                <a:ea typeface="Times New Roman" panose="02020603050405020304" pitchFamily="18" charset="0"/>
              </a:rPr>
              <a:t> His works are characterized by vivid and evocative imagery, often drawing upon nature to enhance emotional resonance.</a:t>
            </a:r>
            <a:endParaRPr lang="en-IN" sz="2000" b="1" dirty="0">
              <a:effectLst/>
              <a:latin typeface="Times New Roman" panose="02020603050405020304" pitchFamily="18" charset="0"/>
              <a:ea typeface="Times New Roman" panose="02020603050405020304" pitchFamily="18" charset="0"/>
            </a:endParaRPr>
          </a:p>
          <a:p>
            <a:pPr algn="just"/>
            <a:r>
              <a:rPr lang="en-IN" b="1" dirty="0">
                <a:latin typeface="Times New Roman" panose="02020603050405020304" pitchFamily="18" charset="0"/>
                <a:ea typeface="Times New Roman" panose="02020603050405020304" pitchFamily="18" charset="0"/>
              </a:rPr>
              <a:t>- </a:t>
            </a:r>
            <a:r>
              <a:rPr lang="en-IN" b="1" dirty="0" err="1">
                <a:latin typeface="Times New Roman" panose="02020603050405020304" pitchFamily="18" charset="0"/>
                <a:ea typeface="Times New Roman" panose="02020603050405020304" pitchFamily="18" charset="0"/>
              </a:rPr>
              <a:t>Characterizatio</a:t>
            </a:r>
            <a:r>
              <a:rPr lang="en-IN" b="1" dirty="0">
                <a:latin typeface="Times New Roman" panose="02020603050405020304" pitchFamily="18" charset="0"/>
                <a:ea typeface="Times New Roman" panose="02020603050405020304" pitchFamily="18" charset="0"/>
              </a:rPr>
              <a:t>:</a:t>
            </a:r>
            <a:r>
              <a:rPr lang="en-IN" dirty="0">
                <a:latin typeface="Times New Roman" panose="02020603050405020304" pitchFamily="18" charset="0"/>
                <a:ea typeface="Times New Roman" panose="02020603050405020304" pitchFamily="18" charset="0"/>
              </a:rPr>
              <a:t> </a:t>
            </a:r>
            <a:r>
              <a:rPr lang="en-IN" dirty="0" err="1">
                <a:latin typeface="Times New Roman" panose="02020603050405020304" pitchFamily="18" charset="0"/>
                <a:ea typeface="Times New Roman" panose="02020603050405020304" pitchFamily="18" charset="0"/>
              </a:rPr>
              <a:t>Kalidasa’s</a:t>
            </a:r>
            <a:r>
              <a:rPr lang="en-IN" dirty="0">
                <a:latin typeface="Times New Roman" panose="02020603050405020304" pitchFamily="18" charset="0"/>
                <a:ea typeface="Times New Roman" panose="02020603050405020304" pitchFamily="18" charset="0"/>
              </a:rPr>
              <a:t> characters are deeply human, exhibiting complex emotions and moral dilemmas that reflect broader themes of love, duty, and fate.</a:t>
            </a:r>
            <a:endParaRPr lang="en-IN" sz="2000" b="1" dirty="0">
              <a:effectLst/>
              <a:latin typeface="Times New Roman" panose="02020603050405020304" pitchFamily="18" charset="0"/>
              <a:ea typeface="Times New Roman" panose="02020603050405020304" pitchFamily="18" charset="0"/>
            </a:endParaRPr>
          </a:p>
          <a:p>
            <a:pPr algn="just"/>
            <a:r>
              <a:rPr lang="en-IN" b="1" dirty="0">
                <a:latin typeface="Times New Roman" panose="02020603050405020304" pitchFamily="18" charset="0"/>
                <a:ea typeface="Times New Roman" panose="02020603050405020304" pitchFamily="18" charset="0"/>
              </a:rPr>
              <a:t>Lesser-Known Works</a:t>
            </a:r>
            <a:endParaRPr lang="en-IN" sz="2000" b="1" dirty="0">
              <a:effectLst/>
              <a:latin typeface="Times New Roman" panose="02020603050405020304" pitchFamily="18" charset="0"/>
              <a:ea typeface="Times New Roman" panose="02020603050405020304" pitchFamily="18" charset="0"/>
            </a:endParaRPr>
          </a:p>
          <a:p>
            <a:pPr marL="342900" lvl="0" indent="-342900" algn="just">
              <a:lnSpc>
                <a:spcPct val="107000"/>
              </a:lnSpc>
              <a:spcAft>
                <a:spcPts val="800"/>
              </a:spcAft>
              <a:buSzPts val="1000"/>
              <a:buFont typeface="Symbol" panose="05050102010706020507" pitchFamily="18" charset="2"/>
              <a:buChar char=""/>
              <a:tabLst>
                <a:tab pos="457200" algn="l"/>
              </a:tabLst>
            </a:pPr>
            <a:r>
              <a:rPr lang="en-IN" b="1" dirty="0" err="1">
                <a:latin typeface="Calibri" panose="020F0502020204030204" pitchFamily="34" charset="0"/>
                <a:ea typeface="Calibri" panose="020F0502020204030204" pitchFamily="34" charset="0"/>
                <a:cs typeface="Kokila" panose="020B0604020202020204" pitchFamily="34" charset="0"/>
              </a:rPr>
              <a:t>Kumarasambhava</a:t>
            </a:r>
            <a:r>
              <a:rPr lang="en-IN" dirty="0">
                <a:latin typeface="Times New Roman" panose="02020603050405020304" pitchFamily="18" charset="0"/>
                <a:ea typeface="Calibri" panose="020F0502020204030204" pitchFamily="34" charset="0"/>
                <a:cs typeface="Kokila" panose="020B0604020202020204" pitchFamily="34" charset="0"/>
              </a:rPr>
              <a:t>: While primarily known for the more famous texts, this work also holds importance in the context of </a:t>
            </a:r>
            <a:r>
              <a:rPr lang="en-IN" dirty="0" err="1">
                <a:latin typeface="Times New Roman" panose="02020603050405020304" pitchFamily="18" charset="0"/>
                <a:ea typeface="Calibri" panose="020F0502020204030204" pitchFamily="34" charset="0"/>
                <a:cs typeface="Kokila" panose="020B0604020202020204" pitchFamily="34" charset="0"/>
              </a:rPr>
              <a:t>Kalidasa's</a:t>
            </a:r>
            <a:r>
              <a:rPr lang="en-IN" dirty="0">
                <a:latin typeface="Times New Roman" panose="02020603050405020304" pitchFamily="18" charset="0"/>
                <a:ea typeface="Calibri" panose="020F0502020204030204" pitchFamily="34" charset="0"/>
                <a:cs typeface="Kokila" panose="020B0604020202020204" pitchFamily="34" charset="0"/>
              </a:rPr>
              <a:t> literary contributions.</a:t>
            </a:r>
            <a:endParaRPr lang="en-IN" sz="1600" dirty="0">
              <a:effectLst/>
              <a:latin typeface="Calibri" panose="020F0502020204030204" pitchFamily="34" charset="0"/>
              <a:ea typeface="Calibri" panose="020F0502020204030204" pitchFamily="34" charset="0"/>
              <a:cs typeface="Kokila" panose="020B0604020202020204" pitchFamily="34" charset="0"/>
            </a:endParaRPr>
          </a:p>
          <a:p>
            <a:pPr algn="just"/>
            <a:r>
              <a:rPr lang="en-IN" dirty="0" err="1">
                <a:latin typeface="Times New Roman" panose="02020603050405020304" pitchFamily="18" charset="0"/>
                <a:ea typeface="Times New Roman" panose="02020603050405020304" pitchFamily="18" charset="0"/>
              </a:rPr>
              <a:t>Kalidasa's</a:t>
            </a:r>
            <a:r>
              <a:rPr lang="en-IN" dirty="0">
                <a:latin typeface="Times New Roman" panose="02020603050405020304" pitchFamily="18" charset="0"/>
                <a:ea typeface="Times New Roman" panose="02020603050405020304" pitchFamily="18" charset="0"/>
              </a:rPr>
              <a:t> works continue to be celebrated for their literary richness and emotional depth, making him one of the most influential figures in classical Sanskrit literature.</a:t>
            </a:r>
          </a:p>
        </p:txBody>
      </p:sp>
    </p:spTree>
    <p:extLst>
      <p:ext uri="{BB962C8B-B14F-4D97-AF65-F5344CB8AC3E}">
        <p14:creationId xmlns:p14="http://schemas.microsoft.com/office/powerpoint/2010/main" val="38610451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83771" y="584678"/>
            <a:ext cx="10894423" cy="6164380"/>
          </a:xfrm>
          <a:prstGeom prst="rect">
            <a:avLst/>
          </a:prstGeom>
        </p:spPr>
        <p:txBody>
          <a:bodyPr wrap="square">
            <a:spAutoFit/>
          </a:bodyPr>
          <a:lstStyle/>
          <a:p>
            <a:pPr algn="just">
              <a:lnSpc>
                <a:spcPct val="107000"/>
              </a:lnSpc>
              <a:spcAft>
                <a:spcPts val="800"/>
              </a:spcAft>
            </a:pPr>
            <a:r>
              <a:rPr lang="en-IN" sz="2000" b="1" dirty="0">
                <a:effectLst/>
                <a:latin typeface="Times New Roman" panose="02020603050405020304" pitchFamily="18" charset="0"/>
                <a:ea typeface="Calibri" panose="020F0502020204030204" pitchFamily="34" charset="0"/>
                <a:cs typeface="Kokila" panose="020B0604020202020204" pitchFamily="34" charset="0"/>
              </a:rPr>
              <a:t> 2. </a:t>
            </a:r>
            <a:r>
              <a:rPr lang="en-IN" sz="2000" b="1" dirty="0" err="1">
                <a:effectLst/>
                <a:latin typeface="Times New Roman" panose="02020603050405020304" pitchFamily="18" charset="0"/>
                <a:ea typeface="Calibri" panose="020F0502020204030204" pitchFamily="34" charset="0"/>
                <a:cs typeface="Kokila" panose="020B0604020202020204" pitchFamily="34" charset="0"/>
              </a:rPr>
              <a:t>Banabhatta</a:t>
            </a:r>
            <a:endParaRPr lang="en-IN" sz="1600" dirty="0">
              <a:effectLst/>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b="1" dirty="0">
                <a:latin typeface="Times New Roman" panose="02020603050405020304" pitchFamily="18" charset="0"/>
                <a:ea typeface="Calibri" panose="020F0502020204030204" pitchFamily="34" charset="0"/>
                <a:cs typeface="Kokila" panose="020B0604020202020204" pitchFamily="34" charset="0"/>
              </a:rPr>
              <a:t>Overview:</a:t>
            </a:r>
            <a:endParaRPr lang="en-IN" sz="1600" dirty="0">
              <a:effectLst/>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dirty="0">
                <a:latin typeface="Times New Roman" panose="02020603050405020304" pitchFamily="18" charset="0"/>
                <a:ea typeface="Calibri" panose="020F0502020204030204" pitchFamily="34" charset="0"/>
                <a:cs typeface="Kokila" panose="020B0604020202020204" pitchFamily="34" charset="0"/>
              </a:rPr>
              <a:t>- </a:t>
            </a:r>
            <a:r>
              <a:rPr lang="en-IN" dirty="0" err="1">
                <a:latin typeface="Times New Roman" panose="02020603050405020304" pitchFamily="18" charset="0"/>
                <a:ea typeface="Calibri" panose="020F0502020204030204" pitchFamily="34" charset="0"/>
                <a:cs typeface="Kokila" panose="020B0604020202020204" pitchFamily="34" charset="0"/>
              </a:rPr>
              <a:t>Banabhatta</a:t>
            </a:r>
            <a:r>
              <a:rPr lang="en-IN" dirty="0">
                <a:latin typeface="Times New Roman" panose="02020603050405020304" pitchFamily="18" charset="0"/>
                <a:ea typeface="Calibri" panose="020F0502020204030204" pitchFamily="34" charset="0"/>
                <a:cs typeface="Kokila" panose="020B0604020202020204" pitchFamily="34" charset="0"/>
              </a:rPr>
              <a:t> was a 7th-century Sanskrit scholar and court poet of King </a:t>
            </a:r>
            <a:r>
              <a:rPr lang="en-IN" dirty="0" err="1">
                <a:latin typeface="Times New Roman" panose="02020603050405020304" pitchFamily="18" charset="0"/>
                <a:ea typeface="Calibri" panose="020F0502020204030204" pitchFamily="34" charset="0"/>
                <a:cs typeface="Kokila" panose="020B0604020202020204" pitchFamily="34" charset="0"/>
              </a:rPr>
              <a:t>Harsha</a:t>
            </a:r>
            <a:r>
              <a:rPr lang="en-IN" dirty="0">
                <a:latin typeface="Times New Roman" panose="02020603050405020304" pitchFamily="18" charset="0"/>
                <a:ea typeface="Calibri" panose="020F0502020204030204" pitchFamily="34" charset="0"/>
                <a:cs typeface="Kokila" panose="020B0604020202020204" pitchFamily="34" charset="0"/>
              </a:rPr>
              <a:t>.</a:t>
            </a:r>
            <a:endParaRPr lang="en-IN" sz="1600" dirty="0">
              <a:effectLst/>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dirty="0" err="1">
                <a:latin typeface="Times New Roman" panose="02020603050405020304" pitchFamily="18" charset="0"/>
                <a:ea typeface="Calibri" panose="020F0502020204030204" pitchFamily="34" charset="0"/>
                <a:cs typeface="Kokila" panose="020B0604020202020204" pitchFamily="34" charset="0"/>
              </a:rPr>
              <a:t>Banabhatta</a:t>
            </a:r>
            <a:r>
              <a:rPr lang="en-IN" dirty="0">
                <a:latin typeface="Times New Roman" panose="02020603050405020304" pitchFamily="18" charset="0"/>
                <a:ea typeface="Calibri" panose="020F0502020204030204" pitchFamily="34" charset="0"/>
                <a:cs typeface="Kokila" panose="020B0604020202020204" pitchFamily="34" charset="0"/>
              </a:rPr>
              <a:t>, a prominent 7th-century Sanskrit poet and prose writer, is best known for his contributions to Indian literature through his intricate narratives and eloquent prose. Here’s a detailed list of his major literary works:</a:t>
            </a:r>
            <a:endParaRPr lang="en-IN" sz="1600" dirty="0">
              <a:effectLst/>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b="1" dirty="0">
                <a:latin typeface="Times New Roman" panose="02020603050405020304" pitchFamily="18" charset="0"/>
                <a:ea typeface="Calibri" panose="020F0502020204030204" pitchFamily="34" charset="0"/>
                <a:cs typeface="Kokila" panose="020B0604020202020204" pitchFamily="34" charset="0"/>
              </a:rPr>
              <a:t>Major Works of </a:t>
            </a:r>
            <a:r>
              <a:rPr lang="en-IN" b="1" dirty="0" err="1">
                <a:latin typeface="Times New Roman" panose="02020603050405020304" pitchFamily="18" charset="0"/>
                <a:ea typeface="Calibri" panose="020F0502020204030204" pitchFamily="34" charset="0"/>
                <a:cs typeface="Kokila" panose="020B0604020202020204" pitchFamily="34" charset="0"/>
              </a:rPr>
              <a:t>Banabhatta</a:t>
            </a:r>
            <a:endParaRPr lang="en-IN" sz="1600" dirty="0">
              <a:effectLst/>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b="1" dirty="0">
                <a:latin typeface="Times New Roman" panose="02020603050405020304" pitchFamily="18" charset="0"/>
                <a:ea typeface="Calibri" panose="020F0502020204030204" pitchFamily="34" charset="0"/>
                <a:cs typeface="Kokila" panose="020B0604020202020204" pitchFamily="34" charset="0"/>
              </a:rPr>
              <a:t>1. </a:t>
            </a:r>
            <a:r>
              <a:rPr lang="en-IN" b="1" dirty="0" err="1">
                <a:latin typeface="Times New Roman" panose="02020603050405020304" pitchFamily="18" charset="0"/>
                <a:ea typeface="Calibri" panose="020F0502020204030204" pitchFamily="34" charset="0"/>
                <a:cs typeface="Kokila" panose="020B0604020202020204" pitchFamily="34" charset="0"/>
              </a:rPr>
              <a:t>Kadambari</a:t>
            </a:r>
            <a:endParaRPr lang="en-IN" sz="1600" dirty="0">
              <a:effectLst/>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b="1" dirty="0">
                <a:latin typeface="Times New Roman" panose="02020603050405020304" pitchFamily="18" charset="0"/>
                <a:ea typeface="Calibri" panose="020F0502020204030204" pitchFamily="34" charset="0"/>
                <a:cs typeface="Kokila" panose="020B0604020202020204" pitchFamily="34" charset="0"/>
              </a:rPr>
              <a:t>   - Genre: Prose Fiction</a:t>
            </a:r>
            <a:endParaRPr lang="en-IN" sz="1600" dirty="0">
              <a:effectLst/>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b="1" dirty="0">
                <a:latin typeface="Times New Roman" panose="02020603050405020304" pitchFamily="18" charset="0"/>
                <a:ea typeface="Calibri" panose="020F0502020204030204" pitchFamily="34" charset="0"/>
                <a:cs typeface="Kokila" panose="020B0604020202020204" pitchFamily="34" charset="0"/>
              </a:rPr>
              <a:t>   - Overview:</a:t>
            </a:r>
            <a:r>
              <a:rPr lang="en-IN" dirty="0">
                <a:latin typeface="Times New Roman" panose="02020603050405020304" pitchFamily="18" charset="0"/>
                <a:ea typeface="Calibri" panose="020F0502020204030204" pitchFamily="34" charset="0"/>
                <a:cs typeface="Kokila" panose="020B0604020202020204" pitchFamily="34" charset="0"/>
              </a:rPr>
              <a:t> "</a:t>
            </a:r>
            <a:r>
              <a:rPr lang="en-IN" dirty="0" err="1">
                <a:latin typeface="Times New Roman" panose="02020603050405020304" pitchFamily="18" charset="0"/>
                <a:ea typeface="Calibri" panose="020F0502020204030204" pitchFamily="34" charset="0"/>
                <a:cs typeface="Kokila" panose="020B0604020202020204" pitchFamily="34" charset="0"/>
              </a:rPr>
              <a:t>Kadambari</a:t>
            </a:r>
            <a:r>
              <a:rPr lang="en-IN" dirty="0">
                <a:latin typeface="Times New Roman" panose="02020603050405020304" pitchFamily="18" charset="0"/>
                <a:ea typeface="Calibri" panose="020F0502020204030204" pitchFamily="34" charset="0"/>
                <a:cs typeface="Kokila" panose="020B0604020202020204" pitchFamily="34" charset="0"/>
              </a:rPr>
              <a:t>" is a romantic novel that weaves together two love stories: the primary narrative focuses on </a:t>
            </a:r>
            <a:r>
              <a:rPr lang="en-IN" dirty="0" err="1">
                <a:latin typeface="Times New Roman" panose="02020603050405020304" pitchFamily="18" charset="0"/>
                <a:ea typeface="Calibri" panose="020F0502020204030204" pitchFamily="34" charset="0"/>
                <a:cs typeface="Kokila" panose="020B0604020202020204" pitchFamily="34" charset="0"/>
              </a:rPr>
              <a:t>Kadambari</a:t>
            </a:r>
            <a:r>
              <a:rPr lang="en-IN" dirty="0">
                <a:latin typeface="Times New Roman" panose="02020603050405020304" pitchFamily="18" charset="0"/>
                <a:ea typeface="Calibri" panose="020F0502020204030204" pitchFamily="34" charset="0"/>
                <a:cs typeface="Kokila" panose="020B0604020202020204" pitchFamily="34" charset="0"/>
              </a:rPr>
              <a:t>, a princess, and her love for the nobleman, who experiences a series of trials and tribulations. The secondary plot follows her friend, who also faces her own romantic challenges.</a:t>
            </a:r>
            <a:endParaRPr lang="en-IN" sz="1600" dirty="0">
              <a:effectLst/>
              <a:latin typeface="Calibri" panose="020F0502020204030204" pitchFamily="34" charset="0"/>
              <a:ea typeface="Calibri" panose="020F0502020204030204" pitchFamily="34" charset="0"/>
              <a:cs typeface="Kokila" panose="020B0604020202020204" pitchFamily="34" charset="0"/>
            </a:endParaRPr>
          </a:p>
          <a:p>
            <a:r>
              <a:rPr lang="en-IN" b="1" dirty="0">
                <a:latin typeface="Times New Roman" panose="02020603050405020304" pitchFamily="18" charset="0"/>
                <a:ea typeface="Calibri" panose="020F0502020204030204" pitchFamily="34" charset="0"/>
                <a:cs typeface="Kokila" panose="020B0604020202020204" pitchFamily="34" charset="0"/>
              </a:rPr>
              <a:t>   - Structure:</a:t>
            </a:r>
            <a:r>
              <a:rPr lang="en-IN" dirty="0">
                <a:latin typeface="Times New Roman" panose="02020603050405020304" pitchFamily="18" charset="0"/>
                <a:ea typeface="Calibri" panose="020F0502020204030204" pitchFamily="34" charset="0"/>
                <a:cs typeface="Kokila" panose="020B0604020202020204" pitchFamily="34" charset="0"/>
              </a:rPr>
              <a:t> The novel is structured in a sophisticated manner with interlacing narratives and extensive character development.</a:t>
            </a:r>
            <a:r>
              <a:rPr lang="en-IN" b="1" dirty="0"/>
              <a:t> </a:t>
            </a:r>
          </a:p>
          <a:p>
            <a:r>
              <a:rPr lang="en-IN" b="1" dirty="0"/>
              <a:t>- Themes:</a:t>
            </a:r>
            <a:r>
              <a:rPr lang="en-IN" dirty="0"/>
              <a:t> The work explores themes of love, fate, separation, and the complexities of human emotions. It also delves into the philosophical aspects of love and devotion.</a:t>
            </a:r>
          </a:p>
          <a:p>
            <a:r>
              <a:rPr lang="en-IN" b="1" dirty="0"/>
              <a:t>   - Significance:</a:t>
            </a:r>
            <a:r>
              <a:rPr lang="en-IN" dirty="0"/>
              <a:t> Often considered one of the earliest examples of prose fiction in Sanskrit, "</a:t>
            </a:r>
            <a:r>
              <a:rPr lang="en-IN" dirty="0" err="1"/>
              <a:t>Kadambari</a:t>
            </a:r>
            <a:r>
              <a:rPr lang="en-IN" dirty="0"/>
              <a:t>" has influenced later literary traditions in India and has been admired for its narrative style and emotional depth.</a:t>
            </a:r>
          </a:p>
          <a:p>
            <a:pPr algn="just">
              <a:lnSpc>
                <a:spcPct val="107000"/>
              </a:lnSpc>
              <a:spcAft>
                <a:spcPts val="800"/>
              </a:spcAft>
            </a:pPr>
            <a:endParaRPr lang="en-IN" dirty="0"/>
          </a:p>
        </p:txBody>
      </p:sp>
    </p:spTree>
    <p:extLst>
      <p:ext uri="{BB962C8B-B14F-4D97-AF65-F5344CB8AC3E}">
        <p14:creationId xmlns:p14="http://schemas.microsoft.com/office/powerpoint/2010/main" val="9461015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48193" y="235125"/>
            <a:ext cx="11599817" cy="6350200"/>
          </a:xfrm>
          <a:prstGeom prst="rect">
            <a:avLst/>
          </a:prstGeom>
        </p:spPr>
        <p:txBody>
          <a:bodyPr wrap="square">
            <a:spAutoFit/>
          </a:bodyPr>
          <a:lstStyle/>
          <a:p>
            <a:pPr algn="just">
              <a:lnSpc>
                <a:spcPct val="107000"/>
              </a:lnSpc>
              <a:spcAft>
                <a:spcPts val="800"/>
              </a:spcAft>
            </a:pPr>
            <a:r>
              <a:rPr lang="en-IN" b="1" dirty="0">
                <a:latin typeface="Times New Roman" panose="02020603050405020304" pitchFamily="18" charset="0"/>
                <a:ea typeface="Calibri" panose="020F0502020204030204" pitchFamily="34" charset="0"/>
                <a:cs typeface="Kokila" panose="020B0604020202020204" pitchFamily="34" charset="0"/>
              </a:rPr>
              <a:t>2. </a:t>
            </a:r>
            <a:r>
              <a:rPr lang="en-IN" b="1" dirty="0" err="1">
                <a:latin typeface="Times New Roman" panose="02020603050405020304" pitchFamily="18" charset="0"/>
                <a:ea typeface="Calibri" panose="020F0502020204030204" pitchFamily="34" charset="0"/>
                <a:cs typeface="Kokila" panose="020B0604020202020204" pitchFamily="34" charset="0"/>
              </a:rPr>
              <a:t>Harshacharita</a:t>
            </a:r>
            <a:endParaRPr lang="en-IN" sz="1600" dirty="0">
              <a:effectLst/>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b="1" dirty="0">
                <a:latin typeface="Times New Roman" panose="02020603050405020304" pitchFamily="18" charset="0"/>
                <a:ea typeface="Calibri" panose="020F0502020204030204" pitchFamily="34" charset="0"/>
                <a:cs typeface="Kokila" panose="020B0604020202020204" pitchFamily="34" charset="0"/>
              </a:rPr>
              <a:t>   - Genre: Biography</a:t>
            </a:r>
            <a:endParaRPr lang="en-IN" sz="1600" dirty="0">
              <a:effectLst/>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b="1" dirty="0">
                <a:latin typeface="Times New Roman" panose="02020603050405020304" pitchFamily="18" charset="0"/>
                <a:ea typeface="Calibri" panose="020F0502020204030204" pitchFamily="34" charset="0"/>
                <a:cs typeface="Kokila" panose="020B0604020202020204" pitchFamily="34" charset="0"/>
              </a:rPr>
              <a:t>   - Overview:</a:t>
            </a:r>
            <a:r>
              <a:rPr lang="en-IN" dirty="0">
                <a:latin typeface="Times New Roman" panose="02020603050405020304" pitchFamily="18" charset="0"/>
                <a:ea typeface="Calibri" panose="020F0502020204030204" pitchFamily="34" charset="0"/>
                <a:cs typeface="Kokila" panose="020B0604020202020204" pitchFamily="34" charset="0"/>
              </a:rPr>
              <a:t> "</a:t>
            </a:r>
            <a:r>
              <a:rPr lang="en-IN" dirty="0" err="1">
                <a:latin typeface="Times New Roman" panose="02020603050405020304" pitchFamily="18" charset="0"/>
                <a:ea typeface="Calibri" panose="020F0502020204030204" pitchFamily="34" charset="0"/>
                <a:cs typeface="Kokila" panose="020B0604020202020204" pitchFamily="34" charset="0"/>
              </a:rPr>
              <a:t>Harshacharita</a:t>
            </a:r>
            <a:r>
              <a:rPr lang="en-IN" dirty="0">
                <a:latin typeface="Times New Roman" panose="02020603050405020304" pitchFamily="18" charset="0"/>
                <a:ea typeface="Calibri" panose="020F0502020204030204" pitchFamily="34" charset="0"/>
                <a:cs typeface="Kokila" panose="020B0604020202020204" pitchFamily="34" charset="0"/>
              </a:rPr>
              <a:t>" is a biographical account of King </a:t>
            </a:r>
            <a:r>
              <a:rPr lang="en-IN" dirty="0" err="1">
                <a:latin typeface="Times New Roman" panose="02020603050405020304" pitchFamily="18" charset="0"/>
                <a:ea typeface="Calibri" panose="020F0502020204030204" pitchFamily="34" charset="0"/>
                <a:cs typeface="Kokila" panose="020B0604020202020204" pitchFamily="34" charset="0"/>
              </a:rPr>
              <a:t>Harsha</a:t>
            </a:r>
            <a:r>
              <a:rPr lang="en-IN" dirty="0">
                <a:latin typeface="Times New Roman" panose="02020603050405020304" pitchFamily="18" charset="0"/>
                <a:ea typeface="Calibri" panose="020F0502020204030204" pitchFamily="34" charset="0"/>
                <a:cs typeface="Kokila" panose="020B0604020202020204" pitchFamily="34" charset="0"/>
              </a:rPr>
              <a:t>, who ruled North India in the 7th century. The text is structured as a historical narrative and provides insights into </a:t>
            </a:r>
            <a:r>
              <a:rPr lang="en-IN" dirty="0" err="1">
                <a:latin typeface="Times New Roman" panose="02020603050405020304" pitchFamily="18" charset="0"/>
                <a:ea typeface="Calibri" panose="020F0502020204030204" pitchFamily="34" charset="0"/>
                <a:cs typeface="Kokila" panose="020B0604020202020204" pitchFamily="34" charset="0"/>
              </a:rPr>
              <a:t>Harsha's</a:t>
            </a:r>
            <a:r>
              <a:rPr lang="en-IN" dirty="0">
                <a:latin typeface="Times New Roman" panose="02020603050405020304" pitchFamily="18" charset="0"/>
                <a:ea typeface="Calibri" panose="020F0502020204030204" pitchFamily="34" charset="0"/>
                <a:cs typeface="Kokila" panose="020B0604020202020204" pitchFamily="34" charset="0"/>
              </a:rPr>
              <a:t> life, his conquests, administration, and cultural patronage.</a:t>
            </a:r>
            <a:endParaRPr lang="en-IN" sz="1600" dirty="0">
              <a:effectLst/>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b="1" dirty="0">
                <a:latin typeface="Times New Roman" panose="02020603050405020304" pitchFamily="18" charset="0"/>
                <a:ea typeface="Calibri" panose="020F0502020204030204" pitchFamily="34" charset="0"/>
                <a:cs typeface="Kokila" panose="020B0604020202020204" pitchFamily="34" charset="0"/>
              </a:rPr>
              <a:t>   - Structure:</a:t>
            </a:r>
            <a:r>
              <a:rPr lang="en-IN" dirty="0">
                <a:latin typeface="Times New Roman" panose="02020603050405020304" pitchFamily="18" charset="0"/>
                <a:ea typeface="Calibri" panose="020F0502020204030204" pitchFamily="34" charset="0"/>
                <a:cs typeface="Kokila" panose="020B0604020202020204" pitchFamily="34" charset="0"/>
              </a:rPr>
              <a:t> The work is divided into several sections, detailing various events in </a:t>
            </a:r>
            <a:r>
              <a:rPr lang="en-IN" dirty="0" err="1">
                <a:latin typeface="Times New Roman" panose="02020603050405020304" pitchFamily="18" charset="0"/>
                <a:ea typeface="Calibri" panose="020F0502020204030204" pitchFamily="34" charset="0"/>
                <a:cs typeface="Kokila" panose="020B0604020202020204" pitchFamily="34" charset="0"/>
              </a:rPr>
              <a:t>Harsha's</a:t>
            </a:r>
            <a:r>
              <a:rPr lang="en-IN" dirty="0">
                <a:latin typeface="Times New Roman" panose="02020603050405020304" pitchFamily="18" charset="0"/>
                <a:ea typeface="Calibri" panose="020F0502020204030204" pitchFamily="34" charset="0"/>
                <a:cs typeface="Kokila" panose="020B0604020202020204" pitchFamily="34" charset="0"/>
              </a:rPr>
              <a:t> life, including his ascension to the throne, his campaigns, and his interactions with prominent figures of the time.</a:t>
            </a:r>
            <a:endParaRPr lang="en-IN" sz="1600" dirty="0">
              <a:effectLst/>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b="1" dirty="0">
                <a:latin typeface="Times New Roman" panose="02020603050405020304" pitchFamily="18" charset="0"/>
                <a:ea typeface="Calibri" panose="020F0502020204030204" pitchFamily="34" charset="0"/>
                <a:cs typeface="Kokila" panose="020B0604020202020204" pitchFamily="34" charset="0"/>
              </a:rPr>
              <a:t>   - Themes:</a:t>
            </a:r>
            <a:r>
              <a:rPr lang="en-IN" dirty="0">
                <a:latin typeface="Times New Roman" panose="02020603050405020304" pitchFamily="18" charset="0"/>
                <a:ea typeface="Calibri" panose="020F0502020204030204" pitchFamily="34" charset="0"/>
                <a:cs typeface="Kokila" panose="020B0604020202020204" pitchFamily="34" charset="0"/>
              </a:rPr>
              <a:t> The text reflects on the nature of kingship, the qualities of an ideal ruler, and the interplay of politics and culture in ancient India.</a:t>
            </a:r>
            <a:endParaRPr lang="en-IN" sz="1600" dirty="0">
              <a:effectLst/>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b="1" dirty="0">
                <a:latin typeface="Times New Roman" panose="02020603050405020304" pitchFamily="18" charset="0"/>
                <a:ea typeface="Calibri" panose="020F0502020204030204" pitchFamily="34" charset="0"/>
                <a:cs typeface="Kokila" panose="020B0604020202020204" pitchFamily="34" charset="0"/>
              </a:rPr>
              <a:t>   - Significance:</a:t>
            </a:r>
            <a:r>
              <a:rPr lang="en-IN" dirty="0">
                <a:latin typeface="Times New Roman" panose="02020603050405020304" pitchFamily="18" charset="0"/>
                <a:ea typeface="Calibri" panose="020F0502020204030204" pitchFamily="34" charset="0"/>
                <a:cs typeface="Kokila" panose="020B0604020202020204" pitchFamily="34" charset="0"/>
              </a:rPr>
              <a:t> "</a:t>
            </a:r>
            <a:r>
              <a:rPr lang="en-IN" dirty="0" err="1">
                <a:latin typeface="Times New Roman" panose="02020603050405020304" pitchFamily="18" charset="0"/>
                <a:ea typeface="Calibri" panose="020F0502020204030204" pitchFamily="34" charset="0"/>
                <a:cs typeface="Kokila" panose="020B0604020202020204" pitchFamily="34" charset="0"/>
              </a:rPr>
              <a:t>Harshacharita</a:t>
            </a:r>
            <a:r>
              <a:rPr lang="en-IN" dirty="0">
                <a:latin typeface="Times New Roman" panose="02020603050405020304" pitchFamily="18" charset="0"/>
                <a:ea typeface="Calibri" panose="020F0502020204030204" pitchFamily="34" charset="0"/>
                <a:cs typeface="Kokila" panose="020B0604020202020204" pitchFamily="34" charset="0"/>
              </a:rPr>
              <a:t>" is notable for its blend of historical fact and literary embellishment, providing a rich context for understanding the socio-political landscape of the time.</a:t>
            </a:r>
            <a:endParaRPr lang="en-IN" sz="1600" dirty="0">
              <a:effectLst/>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b="1" dirty="0">
                <a:latin typeface="Times New Roman" panose="02020603050405020304" pitchFamily="18" charset="0"/>
                <a:ea typeface="Calibri" panose="020F0502020204030204" pitchFamily="34" charset="0"/>
                <a:cs typeface="Kokila" panose="020B0604020202020204" pitchFamily="34" charset="0"/>
              </a:rPr>
              <a:t>Literary Style</a:t>
            </a:r>
            <a:endParaRPr lang="en-IN" sz="1600" dirty="0">
              <a:effectLst/>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b="1" dirty="0">
                <a:latin typeface="Times New Roman" panose="02020603050405020304" pitchFamily="18" charset="0"/>
                <a:ea typeface="Calibri" panose="020F0502020204030204" pitchFamily="34" charset="0"/>
                <a:cs typeface="Kokila" panose="020B0604020202020204" pitchFamily="34" charset="0"/>
              </a:rPr>
              <a:t>- Prose and Poetry</a:t>
            </a:r>
            <a:r>
              <a:rPr lang="en-IN" dirty="0">
                <a:latin typeface="Times New Roman" panose="02020603050405020304" pitchFamily="18" charset="0"/>
                <a:ea typeface="Calibri" panose="020F0502020204030204" pitchFamily="34" charset="0"/>
                <a:cs typeface="Kokila" panose="020B0604020202020204" pitchFamily="34" charset="0"/>
              </a:rPr>
              <a:t>: </a:t>
            </a:r>
            <a:r>
              <a:rPr lang="en-IN" dirty="0" err="1">
                <a:latin typeface="Times New Roman" panose="02020603050405020304" pitchFamily="18" charset="0"/>
                <a:ea typeface="Calibri" panose="020F0502020204030204" pitchFamily="34" charset="0"/>
                <a:cs typeface="Kokila" panose="020B0604020202020204" pitchFamily="34" charset="0"/>
              </a:rPr>
              <a:t>Banabhatta’s</a:t>
            </a:r>
            <a:r>
              <a:rPr lang="en-IN" dirty="0">
                <a:latin typeface="Times New Roman" panose="02020603050405020304" pitchFamily="18" charset="0"/>
                <a:ea typeface="Calibri" panose="020F0502020204030204" pitchFamily="34" charset="0"/>
                <a:cs typeface="Kokila" panose="020B0604020202020204" pitchFamily="34" charset="0"/>
              </a:rPr>
              <a:t> style combines elegant prose with poetic elements, making his narratives both engaging and lyrical.</a:t>
            </a:r>
            <a:endParaRPr lang="en-IN" sz="1600" dirty="0">
              <a:effectLst/>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b="1" dirty="0">
                <a:latin typeface="Times New Roman" panose="02020603050405020304" pitchFamily="18" charset="0"/>
                <a:ea typeface="Calibri" panose="020F0502020204030204" pitchFamily="34" charset="0"/>
                <a:cs typeface="Kokila" panose="020B0604020202020204" pitchFamily="34" charset="0"/>
              </a:rPr>
              <a:t>- Character Development:</a:t>
            </a:r>
            <a:r>
              <a:rPr lang="en-IN" dirty="0">
                <a:latin typeface="Times New Roman" panose="02020603050405020304" pitchFamily="18" charset="0"/>
                <a:ea typeface="Calibri" panose="020F0502020204030204" pitchFamily="34" charset="0"/>
                <a:cs typeface="Kokila" panose="020B0604020202020204" pitchFamily="34" charset="0"/>
              </a:rPr>
              <a:t> His characters are well-rounded, with intricate emotional and psychological portrayals that resonate with readers.</a:t>
            </a:r>
            <a:endParaRPr lang="en-IN" sz="1600" dirty="0">
              <a:effectLst/>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b="1" dirty="0">
                <a:latin typeface="Times New Roman" panose="02020603050405020304" pitchFamily="18" charset="0"/>
                <a:ea typeface="Calibri" panose="020F0502020204030204" pitchFamily="34" charset="0"/>
                <a:cs typeface="Kokila" panose="020B0604020202020204" pitchFamily="34" charset="0"/>
              </a:rPr>
              <a:t>- Philosophical Depth:</a:t>
            </a:r>
            <a:r>
              <a:rPr lang="en-IN" dirty="0">
                <a:latin typeface="Times New Roman" panose="02020603050405020304" pitchFamily="18" charset="0"/>
                <a:ea typeface="Calibri" panose="020F0502020204030204" pitchFamily="34" charset="0"/>
                <a:cs typeface="Kokila" panose="020B0604020202020204" pitchFamily="34" charset="0"/>
              </a:rPr>
              <a:t> Both works reflect philosophical musings on love, duty, and the nature of existence, often employing metaphors and allusions.</a:t>
            </a:r>
            <a:endParaRPr lang="en-IN" sz="1600" dirty="0">
              <a:effectLst/>
              <a:latin typeface="Calibri" panose="020F0502020204030204" pitchFamily="34" charset="0"/>
              <a:ea typeface="Calibri" panose="020F0502020204030204" pitchFamily="34" charset="0"/>
              <a:cs typeface="Kokila" panose="020B0604020202020204" pitchFamily="34" charset="0"/>
            </a:endParaRPr>
          </a:p>
        </p:txBody>
      </p:sp>
    </p:spTree>
    <p:extLst>
      <p:ext uri="{BB962C8B-B14F-4D97-AF65-F5344CB8AC3E}">
        <p14:creationId xmlns:p14="http://schemas.microsoft.com/office/powerpoint/2010/main" val="28703301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18457" y="1068289"/>
            <a:ext cx="10646229" cy="5486823"/>
          </a:xfrm>
          <a:prstGeom prst="rect">
            <a:avLst/>
          </a:prstGeom>
        </p:spPr>
        <p:txBody>
          <a:bodyPr wrap="square">
            <a:spAutoFit/>
          </a:bodyPr>
          <a:lstStyle/>
          <a:p>
            <a:pPr algn="just">
              <a:lnSpc>
                <a:spcPct val="107000"/>
              </a:lnSpc>
              <a:spcAft>
                <a:spcPts val="800"/>
              </a:spcAft>
            </a:pPr>
            <a:r>
              <a:rPr lang="en-IN" sz="2400" b="1" dirty="0">
                <a:effectLst/>
                <a:latin typeface="Times New Roman" panose="02020603050405020304" pitchFamily="18" charset="0"/>
                <a:ea typeface="Calibri" panose="020F0502020204030204" pitchFamily="34" charset="0"/>
                <a:cs typeface="Kokila" panose="020B0604020202020204" pitchFamily="34" charset="0"/>
              </a:rPr>
              <a:t>3. </a:t>
            </a:r>
            <a:r>
              <a:rPr lang="en-IN" sz="2400" b="1" dirty="0" err="1">
                <a:effectLst/>
                <a:latin typeface="Times New Roman" panose="02020603050405020304" pitchFamily="18" charset="0"/>
                <a:ea typeface="Calibri" panose="020F0502020204030204" pitchFamily="34" charset="0"/>
                <a:cs typeface="Kokila" panose="020B0604020202020204" pitchFamily="34" charset="0"/>
              </a:rPr>
              <a:t>Kalhana</a:t>
            </a:r>
            <a:endParaRPr lang="en-IN" dirty="0">
              <a:effectLst/>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2000" b="1" dirty="0">
                <a:latin typeface="Times New Roman" panose="02020603050405020304" pitchFamily="18" charset="0"/>
                <a:ea typeface="Calibri" panose="020F0502020204030204" pitchFamily="34" charset="0"/>
                <a:cs typeface="Kokila" panose="020B0604020202020204" pitchFamily="34" charset="0"/>
              </a:rPr>
              <a:t>Overview:</a:t>
            </a:r>
            <a:endParaRPr lang="en-IN" dirty="0">
              <a:effectLst/>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2000" dirty="0" err="1">
                <a:latin typeface="Times New Roman" panose="02020603050405020304" pitchFamily="18" charset="0"/>
                <a:ea typeface="Calibri" panose="020F0502020204030204" pitchFamily="34" charset="0"/>
                <a:cs typeface="Kokila" panose="020B0604020202020204" pitchFamily="34" charset="0"/>
              </a:rPr>
              <a:t>Kalhana</a:t>
            </a:r>
            <a:r>
              <a:rPr lang="en-IN" sz="2000" dirty="0">
                <a:latin typeface="Times New Roman" panose="02020603050405020304" pitchFamily="18" charset="0"/>
                <a:ea typeface="Calibri" panose="020F0502020204030204" pitchFamily="34" charset="0"/>
                <a:cs typeface="Kokila" panose="020B0604020202020204" pitchFamily="34" charset="0"/>
              </a:rPr>
              <a:t> was a 12th-century historian and poet known primarily for his significant contributions to Sanskrit literature, particularly through his historical works. Here’s a detailed list of his major literary work:</a:t>
            </a:r>
            <a:endParaRPr lang="en-IN" dirty="0">
              <a:effectLst/>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2000" b="1" dirty="0">
                <a:latin typeface="Times New Roman" panose="02020603050405020304" pitchFamily="18" charset="0"/>
                <a:ea typeface="Calibri" panose="020F0502020204030204" pitchFamily="34" charset="0"/>
                <a:cs typeface="Kokila" panose="020B0604020202020204" pitchFamily="34" charset="0"/>
              </a:rPr>
              <a:t>Major Work of </a:t>
            </a:r>
            <a:r>
              <a:rPr lang="en-IN" sz="2000" b="1" dirty="0" err="1">
                <a:latin typeface="Times New Roman" panose="02020603050405020304" pitchFamily="18" charset="0"/>
                <a:ea typeface="Calibri" panose="020F0502020204030204" pitchFamily="34" charset="0"/>
                <a:cs typeface="Kokila" panose="020B0604020202020204" pitchFamily="34" charset="0"/>
              </a:rPr>
              <a:t>Kalhana</a:t>
            </a:r>
            <a:endParaRPr lang="en-IN" dirty="0">
              <a:effectLst/>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2000" b="1" dirty="0">
                <a:latin typeface="Times New Roman" panose="02020603050405020304" pitchFamily="18" charset="0"/>
                <a:ea typeface="Calibri" panose="020F0502020204030204" pitchFamily="34" charset="0"/>
                <a:cs typeface="Kokila" panose="020B0604020202020204" pitchFamily="34" charset="0"/>
              </a:rPr>
              <a:t>1. </a:t>
            </a:r>
            <a:r>
              <a:rPr lang="en-IN" sz="2000" b="1" dirty="0" err="1">
                <a:latin typeface="Times New Roman" panose="02020603050405020304" pitchFamily="18" charset="0"/>
                <a:ea typeface="Calibri" panose="020F0502020204030204" pitchFamily="34" charset="0"/>
                <a:cs typeface="Kokila" panose="020B0604020202020204" pitchFamily="34" charset="0"/>
              </a:rPr>
              <a:t>Rajatarangini</a:t>
            </a:r>
            <a:r>
              <a:rPr lang="en-IN" sz="2000" b="1" dirty="0">
                <a:latin typeface="Times New Roman" panose="02020603050405020304" pitchFamily="18" charset="0"/>
                <a:ea typeface="Calibri" panose="020F0502020204030204" pitchFamily="34" charset="0"/>
                <a:cs typeface="Kokila" panose="020B0604020202020204" pitchFamily="34" charset="0"/>
              </a:rPr>
              <a:t> (The River of Kings)</a:t>
            </a:r>
            <a:endParaRPr lang="en-IN" dirty="0">
              <a:effectLst/>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2000" b="1" dirty="0">
                <a:latin typeface="Times New Roman" panose="02020603050405020304" pitchFamily="18" charset="0"/>
                <a:ea typeface="Calibri" panose="020F0502020204030204" pitchFamily="34" charset="0"/>
                <a:cs typeface="Kokila" panose="020B0604020202020204" pitchFamily="34" charset="0"/>
              </a:rPr>
              <a:t>   - Genre: Historical Chronicle</a:t>
            </a:r>
            <a:endParaRPr lang="en-IN" dirty="0">
              <a:effectLst/>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2000" b="1" dirty="0">
                <a:latin typeface="Times New Roman" panose="02020603050405020304" pitchFamily="18" charset="0"/>
                <a:ea typeface="Calibri" panose="020F0502020204030204" pitchFamily="34" charset="0"/>
                <a:cs typeface="Kokila" panose="020B0604020202020204" pitchFamily="34" charset="0"/>
              </a:rPr>
              <a:t>   - Overview:</a:t>
            </a:r>
            <a:r>
              <a:rPr lang="en-IN" sz="2000" dirty="0">
                <a:latin typeface="Times New Roman" panose="02020603050405020304" pitchFamily="18" charset="0"/>
                <a:ea typeface="Calibri" panose="020F0502020204030204" pitchFamily="34" charset="0"/>
                <a:cs typeface="Kokila" panose="020B0604020202020204" pitchFamily="34" charset="0"/>
              </a:rPr>
              <a:t> "</a:t>
            </a:r>
            <a:r>
              <a:rPr lang="en-IN" sz="2000" dirty="0" err="1">
                <a:latin typeface="Times New Roman" panose="02020603050405020304" pitchFamily="18" charset="0"/>
                <a:ea typeface="Calibri" panose="020F0502020204030204" pitchFamily="34" charset="0"/>
                <a:cs typeface="Kokila" panose="020B0604020202020204" pitchFamily="34" charset="0"/>
              </a:rPr>
              <a:t>Rajatarangini</a:t>
            </a:r>
            <a:r>
              <a:rPr lang="en-IN" sz="2000" dirty="0">
                <a:latin typeface="Times New Roman" panose="02020603050405020304" pitchFamily="18" charset="0"/>
                <a:ea typeface="Calibri" panose="020F0502020204030204" pitchFamily="34" charset="0"/>
                <a:cs typeface="Kokila" panose="020B0604020202020204" pitchFamily="34" charset="0"/>
              </a:rPr>
              <a:t>" is </a:t>
            </a:r>
            <a:r>
              <a:rPr lang="en-IN" sz="2000" dirty="0" err="1">
                <a:latin typeface="Times New Roman" panose="02020603050405020304" pitchFamily="18" charset="0"/>
                <a:ea typeface="Calibri" panose="020F0502020204030204" pitchFamily="34" charset="0"/>
                <a:cs typeface="Kokila" panose="020B0604020202020204" pitchFamily="34" charset="0"/>
              </a:rPr>
              <a:t>Kalhana's</a:t>
            </a:r>
            <a:r>
              <a:rPr lang="en-IN" sz="2000" dirty="0">
                <a:latin typeface="Times New Roman" panose="02020603050405020304" pitchFamily="18" charset="0"/>
                <a:ea typeface="Calibri" panose="020F0502020204030204" pitchFamily="34" charset="0"/>
                <a:cs typeface="Kokila" panose="020B0604020202020204" pitchFamily="34" charset="0"/>
              </a:rPr>
              <a:t> most famous work, detailing the history of Kashmir from its mythical origins to the 12th century. The text is divided into eight books, known as "</a:t>
            </a:r>
            <a:r>
              <a:rPr lang="en-IN" sz="2000" dirty="0" err="1">
                <a:latin typeface="Times New Roman" panose="02020603050405020304" pitchFamily="18" charset="0"/>
                <a:ea typeface="Calibri" panose="020F0502020204030204" pitchFamily="34" charset="0"/>
                <a:cs typeface="Kokila" panose="020B0604020202020204" pitchFamily="34" charset="0"/>
              </a:rPr>
              <a:t>tarangas</a:t>
            </a:r>
            <a:r>
              <a:rPr lang="en-IN" sz="2000" dirty="0">
                <a:latin typeface="Times New Roman" panose="02020603050405020304" pitchFamily="18" charset="0"/>
                <a:ea typeface="Calibri" panose="020F0502020204030204" pitchFamily="34" charset="0"/>
                <a:cs typeface="Kokila" panose="020B0604020202020204" pitchFamily="34" charset="0"/>
              </a:rPr>
              <a:t>," which means "waves," symbolizing the flow of time and history.</a:t>
            </a:r>
            <a:endParaRPr lang="en-IN" dirty="0">
              <a:effectLst/>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2000" b="1" dirty="0">
                <a:latin typeface="Times New Roman" panose="02020603050405020304" pitchFamily="18" charset="0"/>
                <a:ea typeface="Calibri" panose="020F0502020204030204" pitchFamily="34" charset="0"/>
                <a:cs typeface="Kokila" panose="020B0604020202020204" pitchFamily="34" charset="0"/>
              </a:rPr>
              <a:t>   - Structure:</a:t>
            </a:r>
            <a:r>
              <a:rPr lang="en-IN" sz="2000" dirty="0">
                <a:latin typeface="Times New Roman" panose="02020603050405020304" pitchFamily="18" charset="0"/>
                <a:ea typeface="Calibri" panose="020F0502020204030204" pitchFamily="34" charset="0"/>
                <a:cs typeface="Kokila" panose="020B0604020202020204" pitchFamily="34" charset="0"/>
              </a:rPr>
              <a:t> The narrative is organized chronologically, covering various dynasties that ruled Kashmir, including the mythical rulers, the </a:t>
            </a:r>
            <a:r>
              <a:rPr lang="en-IN" sz="2000" dirty="0" err="1">
                <a:latin typeface="Times New Roman" panose="02020603050405020304" pitchFamily="18" charset="0"/>
                <a:ea typeface="Calibri" panose="020F0502020204030204" pitchFamily="34" charset="0"/>
                <a:cs typeface="Kokila" panose="020B0604020202020204" pitchFamily="34" charset="0"/>
              </a:rPr>
              <a:t>Kshatrapas</a:t>
            </a:r>
            <a:r>
              <a:rPr lang="en-IN" sz="2000" dirty="0">
                <a:latin typeface="Times New Roman" panose="02020603050405020304" pitchFamily="18" charset="0"/>
                <a:ea typeface="Calibri" panose="020F0502020204030204" pitchFamily="34" charset="0"/>
                <a:cs typeface="Kokila" panose="020B0604020202020204" pitchFamily="34" charset="0"/>
              </a:rPr>
              <a:t>, and the </a:t>
            </a:r>
            <a:r>
              <a:rPr lang="en-IN" sz="2000" dirty="0" err="1">
                <a:latin typeface="Times New Roman" panose="02020603050405020304" pitchFamily="18" charset="0"/>
                <a:ea typeface="Calibri" panose="020F0502020204030204" pitchFamily="34" charset="0"/>
                <a:cs typeface="Kokila" panose="020B0604020202020204" pitchFamily="34" charset="0"/>
              </a:rPr>
              <a:t>Shahi</a:t>
            </a:r>
            <a:r>
              <a:rPr lang="en-IN" sz="2000" dirty="0">
                <a:latin typeface="Times New Roman" panose="02020603050405020304" pitchFamily="18" charset="0"/>
                <a:ea typeface="Calibri" panose="020F0502020204030204" pitchFamily="34" charset="0"/>
                <a:cs typeface="Kokila" panose="020B0604020202020204" pitchFamily="34" charset="0"/>
              </a:rPr>
              <a:t> kings. It consists of over 7,000 verses, combining prose and poetry.</a:t>
            </a:r>
            <a:endParaRPr lang="en-IN" dirty="0">
              <a:effectLst/>
              <a:latin typeface="Calibri" panose="020F0502020204030204" pitchFamily="34" charset="0"/>
              <a:ea typeface="Calibri" panose="020F0502020204030204" pitchFamily="34" charset="0"/>
              <a:cs typeface="Kokila" panose="020B0604020202020204" pitchFamily="34" charset="0"/>
            </a:endParaRPr>
          </a:p>
        </p:txBody>
      </p:sp>
    </p:spTree>
    <p:extLst>
      <p:ext uri="{BB962C8B-B14F-4D97-AF65-F5344CB8AC3E}">
        <p14:creationId xmlns:p14="http://schemas.microsoft.com/office/powerpoint/2010/main" val="42753464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5577" y="531735"/>
            <a:ext cx="11116492" cy="5215787"/>
          </a:xfrm>
          <a:prstGeom prst="rect">
            <a:avLst/>
          </a:prstGeom>
        </p:spPr>
        <p:txBody>
          <a:bodyPr wrap="square">
            <a:spAutoFit/>
          </a:bodyPr>
          <a:lstStyle/>
          <a:p>
            <a:pPr algn="just">
              <a:lnSpc>
                <a:spcPct val="107000"/>
              </a:lnSpc>
              <a:spcAft>
                <a:spcPts val="800"/>
              </a:spcAft>
            </a:pPr>
            <a:r>
              <a:rPr lang="en-IN" b="1" dirty="0">
                <a:latin typeface="Times New Roman" panose="02020603050405020304" pitchFamily="18" charset="0"/>
                <a:ea typeface="Calibri" panose="020F0502020204030204" pitchFamily="34" charset="0"/>
                <a:cs typeface="Kokila" panose="020B0604020202020204" pitchFamily="34" charset="0"/>
              </a:rPr>
              <a:t> </a:t>
            </a:r>
            <a:r>
              <a:rPr lang="en-IN" sz="2000" b="1" dirty="0">
                <a:latin typeface="Times New Roman" panose="02020603050405020304" pitchFamily="18" charset="0"/>
                <a:ea typeface="Calibri" panose="020F0502020204030204" pitchFamily="34" charset="0"/>
                <a:cs typeface="Kokila" panose="020B0604020202020204" pitchFamily="34" charset="0"/>
              </a:rPr>
              <a:t>- Themes:</a:t>
            </a:r>
            <a:r>
              <a:rPr lang="en-IN" sz="2000" dirty="0">
                <a:latin typeface="Times New Roman" panose="02020603050405020304" pitchFamily="18" charset="0"/>
                <a:ea typeface="Calibri" panose="020F0502020204030204" pitchFamily="34" charset="0"/>
                <a:cs typeface="Kokila" panose="020B0604020202020204" pitchFamily="34" charset="0"/>
              </a:rPr>
              <a:t> The work explores themes of power, governance, morality, and the consequences of human actions. It also reflects on the nature of kingship and the duties of rulers.</a:t>
            </a:r>
            <a:endParaRPr lang="en-IN" dirty="0">
              <a:effectLst/>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2000" b="1" dirty="0">
                <a:latin typeface="Times New Roman" panose="02020603050405020304" pitchFamily="18" charset="0"/>
                <a:ea typeface="Calibri" panose="020F0502020204030204" pitchFamily="34" charset="0"/>
                <a:cs typeface="Kokila" panose="020B0604020202020204" pitchFamily="34" charset="0"/>
              </a:rPr>
              <a:t>   - Methodology:</a:t>
            </a:r>
            <a:r>
              <a:rPr lang="en-IN" sz="2000" dirty="0">
                <a:latin typeface="Times New Roman" panose="02020603050405020304" pitchFamily="18" charset="0"/>
                <a:ea typeface="Calibri" panose="020F0502020204030204" pitchFamily="34" charset="0"/>
                <a:cs typeface="Kokila" panose="020B0604020202020204" pitchFamily="34" charset="0"/>
              </a:rPr>
              <a:t> </a:t>
            </a:r>
            <a:r>
              <a:rPr lang="en-IN" sz="2000" dirty="0" err="1">
                <a:latin typeface="Times New Roman" panose="02020603050405020304" pitchFamily="18" charset="0"/>
                <a:ea typeface="Calibri" panose="020F0502020204030204" pitchFamily="34" charset="0"/>
                <a:cs typeface="Kokila" panose="020B0604020202020204" pitchFamily="34" charset="0"/>
              </a:rPr>
              <a:t>Kalhana</a:t>
            </a:r>
            <a:r>
              <a:rPr lang="en-IN" sz="2000" dirty="0">
                <a:latin typeface="Times New Roman" panose="02020603050405020304" pitchFamily="18" charset="0"/>
                <a:ea typeface="Calibri" panose="020F0502020204030204" pitchFamily="34" charset="0"/>
                <a:cs typeface="Kokila" panose="020B0604020202020204" pitchFamily="34" charset="0"/>
              </a:rPr>
              <a:t> utilized a variety of sources for his historical accounts, including earlier texts, oral traditions, and inscriptions. He emphasized the importance of critical inquiry, distinguishing his work from mere mythological narratives.</a:t>
            </a:r>
            <a:endParaRPr lang="en-IN" dirty="0">
              <a:effectLst/>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2000" b="1" dirty="0">
                <a:latin typeface="Times New Roman" panose="02020603050405020304" pitchFamily="18" charset="0"/>
                <a:ea typeface="Calibri" panose="020F0502020204030204" pitchFamily="34" charset="0"/>
                <a:cs typeface="Kokila" panose="020B0604020202020204" pitchFamily="34" charset="0"/>
              </a:rPr>
              <a:t>   - Significance:</a:t>
            </a:r>
            <a:r>
              <a:rPr lang="en-IN" sz="2000" dirty="0">
                <a:latin typeface="Times New Roman" panose="02020603050405020304" pitchFamily="18" charset="0"/>
                <a:ea typeface="Calibri" panose="020F0502020204030204" pitchFamily="34" charset="0"/>
                <a:cs typeface="Kokila" panose="020B0604020202020204" pitchFamily="34" charset="0"/>
              </a:rPr>
              <a:t> "</a:t>
            </a:r>
            <a:r>
              <a:rPr lang="en-IN" sz="2000" dirty="0" err="1">
                <a:latin typeface="Times New Roman" panose="02020603050405020304" pitchFamily="18" charset="0"/>
                <a:ea typeface="Calibri" panose="020F0502020204030204" pitchFamily="34" charset="0"/>
                <a:cs typeface="Kokila" panose="020B0604020202020204" pitchFamily="34" charset="0"/>
              </a:rPr>
              <a:t>Rajatarangini</a:t>
            </a:r>
            <a:r>
              <a:rPr lang="en-IN" sz="2000" dirty="0">
                <a:latin typeface="Times New Roman" panose="02020603050405020304" pitchFamily="18" charset="0"/>
                <a:ea typeface="Calibri" panose="020F0502020204030204" pitchFamily="34" charset="0"/>
                <a:cs typeface="Kokila" panose="020B0604020202020204" pitchFamily="34" charset="0"/>
              </a:rPr>
              <a:t>" is often regarded as the first historical chronicle in the Indian literary tradition. It has been praised for its systematic approach to history and its blend of myth, legend, and fact. The text remains a valuable resource for historians and scholars studying the history of Kashmir and medieval India.</a:t>
            </a:r>
          </a:p>
          <a:p>
            <a:pPr algn="just">
              <a:lnSpc>
                <a:spcPct val="107000"/>
              </a:lnSpc>
              <a:spcAft>
                <a:spcPts val="800"/>
              </a:spcAft>
            </a:pPr>
            <a:r>
              <a:rPr lang="en-IN" sz="2000" b="1" dirty="0">
                <a:latin typeface="Times New Roman" panose="02020603050405020304" pitchFamily="18" charset="0"/>
                <a:ea typeface="Calibri" panose="020F0502020204030204" pitchFamily="34" charset="0"/>
                <a:cs typeface="Kokila" panose="020B0604020202020204" pitchFamily="34" charset="0"/>
              </a:rPr>
              <a:t>Literary Style</a:t>
            </a:r>
            <a:endParaRPr lang="en-IN" dirty="0">
              <a:effectLst/>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2000" b="1" dirty="0">
                <a:latin typeface="Times New Roman" panose="02020603050405020304" pitchFamily="18" charset="0"/>
                <a:ea typeface="Calibri" panose="020F0502020204030204" pitchFamily="34" charset="0"/>
                <a:cs typeface="Kokila" panose="020B0604020202020204" pitchFamily="34" charset="0"/>
              </a:rPr>
              <a:t>- Poetic Elegance:</a:t>
            </a:r>
            <a:r>
              <a:rPr lang="en-IN" sz="2000" dirty="0">
                <a:latin typeface="Times New Roman" panose="02020603050405020304" pitchFamily="18" charset="0"/>
                <a:ea typeface="Calibri" panose="020F0502020204030204" pitchFamily="34" charset="0"/>
                <a:cs typeface="Kokila" panose="020B0604020202020204" pitchFamily="34" charset="0"/>
              </a:rPr>
              <a:t> </a:t>
            </a:r>
            <a:r>
              <a:rPr lang="en-IN" sz="2000" dirty="0" err="1">
                <a:latin typeface="Times New Roman" panose="02020603050405020304" pitchFamily="18" charset="0"/>
                <a:ea typeface="Calibri" panose="020F0502020204030204" pitchFamily="34" charset="0"/>
                <a:cs typeface="Kokila" panose="020B0604020202020204" pitchFamily="34" charset="0"/>
              </a:rPr>
              <a:t>Kalhana's</a:t>
            </a:r>
            <a:r>
              <a:rPr lang="en-IN" sz="2000" dirty="0">
                <a:latin typeface="Times New Roman" panose="02020603050405020304" pitchFamily="18" charset="0"/>
                <a:ea typeface="Calibri" panose="020F0502020204030204" pitchFamily="34" charset="0"/>
                <a:cs typeface="Kokila" panose="020B0604020202020204" pitchFamily="34" charset="0"/>
              </a:rPr>
              <a:t> writing is characterized by its poetic diction, use of metaphors, and vivid imagery, making it not only a historical document but also a literary masterpiece.</a:t>
            </a:r>
            <a:endParaRPr lang="en-IN" dirty="0">
              <a:effectLst/>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2000" b="1" dirty="0">
                <a:latin typeface="Times New Roman" panose="02020603050405020304" pitchFamily="18" charset="0"/>
                <a:ea typeface="Calibri" panose="020F0502020204030204" pitchFamily="34" charset="0"/>
                <a:cs typeface="Kokila" panose="020B0604020202020204" pitchFamily="34" charset="0"/>
              </a:rPr>
              <a:t>- Critical Approach:</a:t>
            </a:r>
            <a:r>
              <a:rPr lang="en-IN" sz="2000" dirty="0">
                <a:latin typeface="Times New Roman" panose="02020603050405020304" pitchFamily="18" charset="0"/>
                <a:ea typeface="Calibri" panose="020F0502020204030204" pitchFamily="34" charset="0"/>
                <a:cs typeface="Kokila" panose="020B0604020202020204" pitchFamily="34" charset="0"/>
              </a:rPr>
              <a:t> He adopts a critical stance towards the events and characters he describes, offering insights into the moral and ethical dimensions of leadership and governance.</a:t>
            </a:r>
            <a:endParaRPr lang="en-IN" dirty="0">
              <a:effectLst/>
              <a:latin typeface="Calibri" panose="020F0502020204030204" pitchFamily="34" charset="0"/>
              <a:ea typeface="Calibri" panose="020F0502020204030204" pitchFamily="34" charset="0"/>
              <a:cs typeface="Kokila" panose="020B0604020202020204" pitchFamily="34" charset="0"/>
            </a:endParaRPr>
          </a:p>
        </p:txBody>
      </p:sp>
    </p:spTree>
    <p:extLst>
      <p:ext uri="{BB962C8B-B14F-4D97-AF65-F5344CB8AC3E}">
        <p14:creationId xmlns:p14="http://schemas.microsoft.com/office/powerpoint/2010/main" val="14241404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0891" y="835854"/>
            <a:ext cx="11207932" cy="5515805"/>
          </a:xfrm>
          <a:prstGeom prst="rect">
            <a:avLst/>
          </a:prstGeom>
        </p:spPr>
        <p:txBody>
          <a:bodyPr wrap="square">
            <a:spAutoFit/>
          </a:bodyPr>
          <a:lstStyle/>
          <a:p>
            <a:pPr algn="just">
              <a:lnSpc>
                <a:spcPct val="107000"/>
              </a:lnSpc>
              <a:spcAft>
                <a:spcPts val="800"/>
              </a:spcAft>
            </a:pPr>
            <a:r>
              <a:rPr lang="en-IN" sz="2000" b="1" dirty="0">
                <a:effectLst/>
                <a:latin typeface="Times New Roman" panose="02020603050405020304" pitchFamily="18" charset="0"/>
                <a:ea typeface="Calibri" panose="020F0502020204030204" pitchFamily="34" charset="0"/>
                <a:cs typeface="Kokila" panose="020B0604020202020204" pitchFamily="34" charset="0"/>
              </a:rPr>
              <a:t> </a:t>
            </a:r>
            <a:r>
              <a:rPr lang="en-IN" sz="2800" b="1" dirty="0">
                <a:effectLst/>
                <a:latin typeface="Times New Roman" panose="02020603050405020304" pitchFamily="18" charset="0"/>
                <a:ea typeface="Calibri" panose="020F0502020204030204" pitchFamily="34" charset="0"/>
                <a:cs typeface="Kokila" panose="020B0604020202020204" pitchFamily="34" charset="0"/>
              </a:rPr>
              <a:t>4. </a:t>
            </a:r>
            <a:r>
              <a:rPr lang="en-IN" sz="2800" b="1" dirty="0" err="1">
                <a:effectLst/>
                <a:latin typeface="Times New Roman" panose="02020603050405020304" pitchFamily="18" charset="0"/>
                <a:ea typeface="Calibri" panose="020F0502020204030204" pitchFamily="34" charset="0"/>
                <a:cs typeface="Kokila" panose="020B0604020202020204" pitchFamily="34" charset="0"/>
              </a:rPr>
              <a:t>Abul</a:t>
            </a:r>
            <a:r>
              <a:rPr lang="en-IN" sz="2800" b="1" dirty="0">
                <a:effectLst/>
                <a:latin typeface="Times New Roman" panose="02020603050405020304" pitchFamily="18" charset="0"/>
                <a:ea typeface="Calibri" panose="020F0502020204030204" pitchFamily="34" charset="0"/>
                <a:cs typeface="Kokila" panose="020B0604020202020204" pitchFamily="34" charset="0"/>
              </a:rPr>
              <a:t> </a:t>
            </a:r>
            <a:r>
              <a:rPr lang="en-IN" sz="2800" b="1" dirty="0" err="1">
                <a:effectLst/>
                <a:latin typeface="Times New Roman" panose="02020603050405020304" pitchFamily="18" charset="0"/>
                <a:ea typeface="Calibri" panose="020F0502020204030204" pitchFamily="34" charset="0"/>
                <a:cs typeface="Kokila" panose="020B0604020202020204" pitchFamily="34" charset="0"/>
              </a:rPr>
              <a:t>Fazal</a:t>
            </a:r>
            <a:endParaRPr lang="en-IN" sz="2000" dirty="0">
              <a:effectLst/>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2400" b="1" dirty="0">
                <a:latin typeface="Times New Roman" panose="02020603050405020304" pitchFamily="18" charset="0"/>
                <a:ea typeface="Calibri" panose="020F0502020204030204" pitchFamily="34" charset="0"/>
                <a:cs typeface="Kokila" panose="020B0604020202020204" pitchFamily="34" charset="0"/>
              </a:rPr>
              <a:t>Overview:</a:t>
            </a:r>
            <a:endParaRPr lang="en-IN" sz="2000" dirty="0">
              <a:effectLst/>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2400" dirty="0">
                <a:latin typeface="Times New Roman" panose="02020603050405020304" pitchFamily="18" charset="0"/>
                <a:ea typeface="Calibri" panose="020F0502020204030204" pitchFamily="34" charset="0"/>
                <a:cs typeface="Kokila" panose="020B0604020202020204" pitchFamily="34" charset="0"/>
              </a:rPr>
              <a:t>Abu </a:t>
            </a:r>
            <a:r>
              <a:rPr lang="en-IN" sz="2400" dirty="0" err="1">
                <a:latin typeface="Times New Roman" panose="02020603050405020304" pitchFamily="18" charset="0"/>
                <a:ea typeface="Calibri" panose="020F0502020204030204" pitchFamily="34" charset="0"/>
                <a:cs typeface="Kokila" panose="020B0604020202020204" pitchFamily="34" charset="0"/>
              </a:rPr>
              <a:t>Fazal</a:t>
            </a:r>
            <a:r>
              <a:rPr lang="en-IN" sz="2400" dirty="0">
                <a:latin typeface="Times New Roman" panose="02020603050405020304" pitchFamily="18" charset="0"/>
                <a:ea typeface="Calibri" panose="020F0502020204030204" pitchFamily="34" charset="0"/>
                <a:cs typeface="Kokila" panose="020B0604020202020204" pitchFamily="34" charset="0"/>
              </a:rPr>
              <a:t>, a prominent 16th-century historian and scholar in the Mughal court, is best known for his literary contributions that provide a detailed account of Emperor Akbar's reign. Here’s a detailed list of his major works:</a:t>
            </a:r>
            <a:endParaRPr lang="en-IN" sz="2000" dirty="0">
              <a:effectLst/>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2400" b="1" dirty="0">
                <a:latin typeface="Times New Roman" panose="02020603050405020304" pitchFamily="18" charset="0"/>
                <a:ea typeface="Calibri" panose="020F0502020204030204" pitchFamily="34" charset="0"/>
                <a:cs typeface="Kokila" panose="020B0604020202020204" pitchFamily="34" charset="0"/>
              </a:rPr>
              <a:t>Major Works of Abu </a:t>
            </a:r>
            <a:r>
              <a:rPr lang="en-IN" sz="2400" b="1" dirty="0" err="1">
                <a:latin typeface="Times New Roman" panose="02020603050405020304" pitchFamily="18" charset="0"/>
                <a:ea typeface="Calibri" panose="020F0502020204030204" pitchFamily="34" charset="0"/>
                <a:cs typeface="Kokila" panose="020B0604020202020204" pitchFamily="34" charset="0"/>
              </a:rPr>
              <a:t>Fazal</a:t>
            </a:r>
            <a:endParaRPr lang="en-IN" sz="2000" dirty="0">
              <a:effectLst/>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2400" b="1" dirty="0">
                <a:latin typeface="Times New Roman" panose="02020603050405020304" pitchFamily="18" charset="0"/>
                <a:ea typeface="Calibri" panose="020F0502020204030204" pitchFamily="34" charset="0"/>
                <a:cs typeface="Kokila" panose="020B0604020202020204" pitchFamily="34" charset="0"/>
              </a:rPr>
              <a:t>1. </a:t>
            </a:r>
            <a:r>
              <a:rPr lang="en-IN" sz="2400" b="1" dirty="0" err="1">
                <a:latin typeface="Times New Roman" panose="02020603050405020304" pitchFamily="18" charset="0"/>
                <a:ea typeface="Calibri" panose="020F0502020204030204" pitchFamily="34" charset="0"/>
                <a:cs typeface="Kokila" panose="020B0604020202020204" pitchFamily="34" charset="0"/>
              </a:rPr>
              <a:t>Akbarnama</a:t>
            </a:r>
            <a:endParaRPr lang="en-IN" sz="2000" dirty="0">
              <a:effectLst/>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2400" b="1" dirty="0">
                <a:latin typeface="Times New Roman" panose="02020603050405020304" pitchFamily="18" charset="0"/>
                <a:ea typeface="Calibri" panose="020F0502020204030204" pitchFamily="34" charset="0"/>
                <a:cs typeface="Kokila" panose="020B0604020202020204" pitchFamily="34" charset="0"/>
              </a:rPr>
              <a:t>   - Genre: Historical Chronicle</a:t>
            </a:r>
            <a:endParaRPr lang="en-IN" sz="2000" dirty="0">
              <a:effectLst/>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2400" b="1" dirty="0">
                <a:latin typeface="Times New Roman" panose="02020603050405020304" pitchFamily="18" charset="0"/>
                <a:ea typeface="Calibri" panose="020F0502020204030204" pitchFamily="34" charset="0"/>
                <a:cs typeface="Kokila" panose="020B0604020202020204" pitchFamily="34" charset="0"/>
              </a:rPr>
              <a:t>   - Overview:</a:t>
            </a:r>
            <a:r>
              <a:rPr lang="en-IN" sz="2400" dirty="0">
                <a:latin typeface="Times New Roman" panose="02020603050405020304" pitchFamily="18" charset="0"/>
                <a:ea typeface="Calibri" panose="020F0502020204030204" pitchFamily="34" charset="0"/>
                <a:cs typeface="Kokila" panose="020B0604020202020204" pitchFamily="34" charset="0"/>
              </a:rPr>
              <a:t> The </a:t>
            </a:r>
            <a:r>
              <a:rPr lang="en-IN" sz="2400" dirty="0" err="1">
                <a:latin typeface="Times New Roman" panose="02020603050405020304" pitchFamily="18" charset="0"/>
                <a:ea typeface="Calibri" panose="020F0502020204030204" pitchFamily="34" charset="0"/>
                <a:cs typeface="Kokila" panose="020B0604020202020204" pitchFamily="34" charset="0"/>
              </a:rPr>
              <a:t>Akbarnama</a:t>
            </a:r>
            <a:r>
              <a:rPr lang="en-IN" sz="2400" dirty="0">
                <a:latin typeface="Times New Roman" panose="02020603050405020304" pitchFamily="18" charset="0"/>
                <a:ea typeface="Calibri" panose="020F0502020204030204" pitchFamily="34" charset="0"/>
                <a:cs typeface="Kokila" panose="020B0604020202020204" pitchFamily="34" charset="0"/>
              </a:rPr>
              <a:t> is the official chronicle of the reign of Emperor Akbar, divided into three volumes. The first volume covers Akbar’s ancestry and early life, the second volume details his reign, and the third volume includes accounts of his administration, military conquests, and cultural achievements.</a:t>
            </a:r>
            <a:endParaRPr lang="en-IN" sz="2000" dirty="0">
              <a:effectLst/>
              <a:latin typeface="Calibri" panose="020F0502020204030204" pitchFamily="34" charset="0"/>
              <a:ea typeface="Calibri" panose="020F0502020204030204" pitchFamily="34" charset="0"/>
              <a:cs typeface="Kokila" panose="020B0604020202020204" pitchFamily="34" charset="0"/>
            </a:endParaRPr>
          </a:p>
        </p:txBody>
      </p:sp>
    </p:spTree>
    <p:extLst>
      <p:ext uri="{BB962C8B-B14F-4D97-AF65-F5344CB8AC3E}">
        <p14:creationId xmlns:p14="http://schemas.microsoft.com/office/powerpoint/2010/main" val="36425024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4319" y="332943"/>
            <a:ext cx="11469189" cy="6452792"/>
          </a:xfrm>
          <a:prstGeom prst="rect">
            <a:avLst/>
          </a:prstGeom>
        </p:spPr>
        <p:txBody>
          <a:bodyPr wrap="square">
            <a:spAutoFit/>
          </a:bodyPr>
          <a:lstStyle/>
          <a:p>
            <a:pPr algn="just">
              <a:lnSpc>
                <a:spcPct val="107000"/>
              </a:lnSpc>
              <a:spcAft>
                <a:spcPts val="800"/>
              </a:spcAft>
            </a:pPr>
            <a:r>
              <a:rPr lang="en-IN" b="1" dirty="0">
                <a:latin typeface="Times New Roman" panose="02020603050405020304" pitchFamily="18" charset="0"/>
                <a:ea typeface="Calibri" panose="020F0502020204030204" pitchFamily="34" charset="0"/>
                <a:cs typeface="Kokila" panose="020B0604020202020204" pitchFamily="34" charset="0"/>
              </a:rPr>
              <a:t> - Structure:</a:t>
            </a:r>
            <a:endParaRPr lang="en-IN" sz="1600" dirty="0">
              <a:effectLst/>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b="1" dirty="0">
                <a:latin typeface="Times New Roman" panose="02020603050405020304" pitchFamily="18" charset="0"/>
                <a:ea typeface="Calibri" panose="020F0502020204030204" pitchFamily="34" charset="0"/>
                <a:cs typeface="Kokila" panose="020B0604020202020204" pitchFamily="34" charset="0"/>
              </a:rPr>
              <a:t>     - Volume I:</a:t>
            </a:r>
            <a:r>
              <a:rPr lang="en-IN" dirty="0">
                <a:latin typeface="Times New Roman" panose="02020603050405020304" pitchFamily="18" charset="0"/>
                <a:ea typeface="Calibri" panose="020F0502020204030204" pitchFamily="34" charset="0"/>
                <a:cs typeface="Kokila" panose="020B0604020202020204" pitchFamily="34" charset="0"/>
              </a:rPr>
              <a:t> Focuses on the lineage of Akbar, including the history of the Mughal dynasty and significant events leading up to his ascension.</a:t>
            </a:r>
            <a:endParaRPr lang="en-IN" sz="1600" dirty="0">
              <a:effectLst/>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b="1" dirty="0">
                <a:latin typeface="Times New Roman" panose="02020603050405020304" pitchFamily="18" charset="0"/>
                <a:ea typeface="Calibri" panose="020F0502020204030204" pitchFamily="34" charset="0"/>
                <a:cs typeface="Kokila" panose="020B0604020202020204" pitchFamily="34" charset="0"/>
              </a:rPr>
              <a:t>     - Volume II:</a:t>
            </a:r>
            <a:r>
              <a:rPr lang="en-IN" dirty="0">
                <a:latin typeface="Times New Roman" panose="02020603050405020304" pitchFamily="18" charset="0"/>
                <a:ea typeface="Calibri" panose="020F0502020204030204" pitchFamily="34" charset="0"/>
                <a:cs typeface="Kokila" panose="020B0604020202020204" pitchFamily="34" charset="0"/>
              </a:rPr>
              <a:t> Chronicles Akbar's rule, including major battles, policies, and interactions with various religious and political groups.</a:t>
            </a:r>
            <a:endParaRPr lang="en-IN" sz="1600" dirty="0">
              <a:effectLst/>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b="1" dirty="0">
                <a:latin typeface="Times New Roman" panose="02020603050405020304" pitchFamily="18" charset="0"/>
                <a:ea typeface="Calibri" panose="020F0502020204030204" pitchFamily="34" charset="0"/>
                <a:cs typeface="Kokila" panose="020B0604020202020204" pitchFamily="34" charset="0"/>
              </a:rPr>
              <a:t>     - Volume III:</a:t>
            </a:r>
            <a:r>
              <a:rPr lang="en-IN" dirty="0">
                <a:latin typeface="Times New Roman" panose="02020603050405020304" pitchFamily="18" charset="0"/>
                <a:ea typeface="Calibri" panose="020F0502020204030204" pitchFamily="34" charset="0"/>
                <a:cs typeface="Kokila" panose="020B0604020202020204" pitchFamily="34" charset="0"/>
              </a:rPr>
              <a:t> Discusses Akbar’s administration, his religious policies, and contributions to art and culture.</a:t>
            </a:r>
            <a:endParaRPr lang="en-IN" sz="1600" dirty="0">
              <a:effectLst/>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dirty="0">
                <a:latin typeface="Times New Roman" panose="02020603050405020304" pitchFamily="18" charset="0"/>
                <a:ea typeface="Calibri" panose="020F0502020204030204" pitchFamily="34" charset="0"/>
                <a:cs typeface="Kokila" panose="020B0604020202020204" pitchFamily="34" charset="0"/>
              </a:rPr>
              <a:t>   </a:t>
            </a:r>
            <a:r>
              <a:rPr lang="en-IN" b="1" dirty="0">
                <a:latin typeface="Times New Roman" panose="02020603050405020304" pitchFamily="18" charset="0"/>
                <a:ea typeface="Calibri" panose="020F0502020204030204" pitchFamily="34" charset="0"/>
                <a:cs typeface="Kokila" panose="020B0604020202020204" pitchFamily="34" charset="0"/>
              </a:rPr>
              <a:t>- Themes:</a:t>
            </a:r>
            <a:r>
              <a:rPr lang="en-IN" dirty="0">
                <a:latin typeface="Times New Roman" panose="02020603050405020304" pitchFamily="18" charset="0"/>
                <a:ea typeface="Calibri" panose="020F0502020204030204" pitchFamily="34" charset="0"/>
                <a:cs typeface="Kokila" panose="020B0604020202020204" pitchFamily="34" charset="0"/>
              </a:rPr>
              <a:t> The work emphasizes themes of governance, justice, religious tolerance, and cultural synthesis. It illustrates Akbar’s philosophy of rule, highlighting his efforts to unify a diverse empire.</a:t>
            </a:r>
            <a:endParaRPr lang="en-IN" sz="1600" dirty="0">
              <a:effectLst/>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b="1" dirty="0">
                <a:latin typeface="Times New Roman" panose="02020603050405020304" pitchFamily="18" charset="0"/>
                <a:ea typeface="Calibri" panose="020F0502020204030204" pitchFamily="34" charset="0"/>
                <a:cs typeface="Kokila" panose="020B0604020202020204" pitchFamily="34" charset="0"/>
              </a:rPr>
              <a:t>   -Significance:</a:t>
            </a:r>
            <a:r>
              <a:rPr lang="en-IN" dirty="0">
                <a:latin typeface="Times New Roman" panose="02020603050405020304" pitchFamily="18" charset="0"/>
                <a:ea typeface="Calibri" panose="020F0502020204030204" pitchFamily="34" charset="0"/>
                <a:cs typeface="Kokila" panose="020B0604020202020204" pitchFamily="34" charset="0"/>
              </a:rPr>
              <a:t> The </a:t>
            </a:r>
            <a:r>
              <a:rPr lang="en-IN" dirty="0" err="1">
                <a:latin typeface="Times New Roman" panose="02020603050405020304" pitchFamily="18" charset="0"/>
                <a:ea typeface="Calibri" panose="020F0502020204030204" pitchFamily="34" charset="0"/>
                <a:cs typeface="Kokila" panose="020B0604020202020204" pitchFamily="34" charset="0"/>
              </a:rPr>
              <a:t>Akbarnama</a:t>
            </a:r>
            <a:r>
              <a:rPr lang="en-IN" dirty="0">
                <a:latin typeface="Times New Roman" panose="02020603050405020304" pitchFamily="18" charset="0"/>
                <a:ea typeface="Calibri" panose="020F0502020204030204" pitchFamily="34" charset="0"/>
                <a:cs typeface="Kokila" panose="020B0604020202020204" pitchFamily="34" charset="0"/>
              </a:rPr>
              <a:t> is regarded as a critical historical source, providing insights into the political, social, and cultural life of 16th-century India. It is notable for its detailed accounts and sophisticated narrative style.</a:t>
            </a:r>
          </a:p>
          <a:p>
            <a:pPr algn="just">
              <a:lnSpc>
                <a:spcPct val="107000"/>
              </a:lnSpc>
              <a:spcAft>
                <a:spcPts val="800"/>
              </a:spcAft>
            </a:pPr>
            <a:r>
              <a:rPr lang="en-IN" b="1" dirty="0">
                <a:latin typeface="Times New Roman" panose="02020603050405020304" pitchFamily="18" charset="0"/>
                <a:ea typeface="Calibri" panose="020F0502020204030204" pitchFamily="34" charset="0"/>
                <a:cs typeface="Kokila" panose="020B0604020202020204" pitchFamily="34" charset="0"/>
              </a:rPr>
              <a:t>2. Ain-</a:t>
            </a:r>
            <a:r>
              <a:rPr lang="en-IN" b="1" dirty="0" err="1">
                <a:latin typeface="Times New Roman" panose="02020603050405020304" pitchFamily="18" charset="0"/>
                <a:ea typeface="Calibri" panose="020F0502020204030204" pitchFamily="34" charset="0"/>
                <a:cs typeface="Kokila" panose="020B0604020202020204" pitchFamily="34" charset="0"/>
              </a:rPr>
              <a:t>i</a:t>
            </a:r>
            <a:r>
              <a:rPr lang="en-IN" b="1" dirty="0">
                <a:latin typeface="Times New Roman" panose="02020603050405020304" pitchFamily="18" charset="0"/>
                <a:ea typeface="Calibri" panose="020F0502020204030204" pitchFamily="34" charset="0"/>
                <a:cs typeface="Kokila" panose="020B0604020202020204" pitchFamily="34" charset="0"/>
              </a:rPr>
              <a:t>-Akbari</a:t>
            </a:r>
            <a:endParaRPr lang="en-IN" sz="1600" dirty="0">
              <a:effectLst/>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b="1" dirty="0">
                <a:latin typeface="Times New Roman" panose="02020603050405020304" pitchFamily="18" charset="0"/>
                <a:ea typeface="Calibri" panose="020F0502020204030204" pitchFamily="34" charset="0"/>
                <a:cs typeface="Kokila" panose="020B0604020202020204" pitchFamily="34" charset="0"/>
              </a:rPr>
              <a:t>   - Genre: Administrative Document</a:t>
            </a:r>
            <a:endParaRPr lang="en-IN" sz="1600" dirty="0">
              <a:effectLst/>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b="1" dirty="0">
                <a:latin typeface="Times New Roman" panose="02020603050405020304" pitchFamily="18" charset="0"/>
                <a:ea typeface="Calibri" panose="020F0502020204030204" pitchFamily="34" charset="0"/>
                <a:cs typeface="Kokila" panose="020B0604020202020204" pitchFamily="34" charset="0"/>
              </a:rPr>
              <a:t>   - Overview:</a:t>
            </a:r>
            <a:r>
              <a:rPr lang="en-IN" dirty="0">
                <a:latin typeface="Times New Roman" panose="02020603050405020304" pitchFamily="18" charset="0"/>
                <a:ea typeface="Calibri" panose="020F0502020204030204" pitchFamily="34" charset="0"/>
                <a:cs typeface="Kokila" panose="020B0604020202020204" pitchFamily="34" charset="0"/>
              </a:rPr>
              <a:t> The </a:t>
            </a:r>
            <a:r>
              <a:rPr lang="en-IN" b="1" dirty="0">
                <a:latin typeface="Times New Roman" panose="02020603050405020304" pitchFamily="18" charset="0"/>
                <a:ea typeface="Calibri" panose="020F0502020204030204" pitchFamily="34" charset="0"/>
                <a:cs typeface="Kokila" panose="020B0604020202020204" pitchFamily="34" charset="0"/>
              </a:rPr>
              <a:t>Ain-</a:t>
            </a:r>
            <a:r>
              <a:rPr lang="en-IN" b="1" dirty="0" err="1">
                <a:latin typeface="Times New Roman" panose="02020603050405020304" pitchFamily="18" charset="0"/>
                <a:ea typeface="Calibri" panose="020F0502020204030204" pitchFamily="34" charset="0"/>
                <a:cs typeface="Kokila" panose="020B0604020202020204" pitchFamily="34" charset="0"/>
              </a:rPr>
              <a:t>i</a:t>
            </a:r>
            <a:r>
              <a:rPr lang="en-IN" b="1" dirty="0">
                <a:latin typeface="Times New Roman" panose="02020603050405020304" pitchFamily="18" charset="0"/>
                <a:ea typeface="Calibri" panose="020F0502020204030204" pitchFamily="34" charset="0"/>
                <a:cs typeface="Kokila" panose="020B0604020202020204" pitchFamily="34" charset="0"/>
              </a:rPr>
              <a:t>-Akbari</a:t>
            </a:r>
            <a:r>
              <a:rPr lang="en-IN" dirty="0">
                <a:latin typeface="Times New Roman" panose="02020603050405020304" pitchFamily="18" charset="0"/>
                <a:ea typeface="Calibri" panose="020F0502020204030204" pitchFamily="34" charset="0"/>
                <a:cs typeface="Kokila" panose="020B0604020202020204" pitchFamily="34" charset="0"/>
              </a:rPr>
              <a:t> is a companion work to the </a:t>
            </a:r>
            <a:r>
              <a:rPr lang="en-IN" b="1" dirty="0" err="1">
                <a:latin typeface="Times New Roman" panose="02020603050405020304" pitchFamily="18" charset="0"/>
                <a:ea typeface="Calibri" panose="020F0502020204030204" pitchFamily="34" charset="0"/>
                <a:cs typeface="Kokila" panose="020B0604020202020204" pitchFamily="34" charset="0"/>
              </a:rPr>
              <a:t>Akbarnama</a:t>
            </a:r>
            <a:r>
              <a:rPr lang="en-IN" dirty="0">
                <a:latin typeface="Times New Roman" panose="02020603050405020304" pitchFamily="18" charset="0"/>
                <a:ea typeface="Calibri" panose="020F0502020204030204" pitchFamily="34" charset="0"/>
                <a:cs typeface="Kokila" panose="020B0604020202020204" pitchFamily="34" charset="0"/>
              </a:rPr>
              <a:t>, providing a detailed account of the administration, military organization, and cultural practices during Akbar's reign. It is organized into five sections, covering various aspects of the empire.</a:t>
            </a:r>
            <a:endParaRPr lang="en-IN" sz="1600" dirty="0">
              <a:effectLst/>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b="1" dirty="0">
                <a:latin typeface="Times New Roman" panose="02020603050405020304" pitchFamily="18" charset="0"/>
                <a:ea typeface="Calibri" panose="020F0502020204030204" pitchFamily="34" charset="0"/>
                <a:cs typeface="Kokila" panose="020B0604020202020204" pitchFamily="34" charset="0"/>
              </a:rPr>
              <a:t>   - Structure: </a:t>
            </a:r>
            <a:endParaRPr lang="en-IN" sz="1600" dirty="0">
              <a:effectLst/>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b="1" dirty="0">
                <a:latin typeface="Times New Roman" panose="02020603050405020304" pitchFamily="18" charset="0"/>
                <a:ea typeface="Calibri" panose="020F0502020204030204" pitchFamily="34" charset="0"/>
                <a:cs typeface="Kokila" panose="020B0604020202020204" pitchFamily="34" charset="0"/>
              </a:rPr>
              <a:t>     - Administration:</a:t>
            </a:r>
            <a:r>
              <a:rPr lang="en-IN" dirty="0">
                <a:latin typeface="Times New Roman" panose="02020603050405020304" pitchFamily="18" charset="0"/>
                <a:ea typeface="Calibri" panose="020F0502020204030204" pitchFamily="34" charset="0"/>
                <a:cs typeface="Kokila" panose="020B0604020202020204" pitchFamily="34" charset="0"/>
              </a:rPr>
              <a:t> Details the governance structure, including the roles of various officials and the administration of justice.</a:t>
            </a:r>
            <a:endParaRPr lang="en-IN" sz="1600" dirty="0">
              <a:effectLst/>
              <a:latin typeface="Calibri" panose="020F0502020204030204" pitchFamily="34" charset="0"/>
              <a:ea typeface="Calibri" panose="020F0502020204030204" pitchFamily="34" charset="0"/>
              <a:cs typeface="Kokila" panose="020B0604020202020204" pitchFamily="34" charset="0"/>
            </a:endParaRPr>
          </a:p>
        </p:txBody>
      </p:sp>
    </p:spTree>
    <p:extLst>
      <p:ext uri="{BB962C8B-B14F-4D97-AF65-F5344CB8AC3E}">
        <p14:creationId xmlns:p14="http://schemas.microsoft.com/office/powerpoint/2010/main" val="9731168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2697" y="703906"/>
            <a:ext cx="11625943" cy="5358518"/>
          </a:xfrm>
          <a:prstGeom prst="rect">
            <a:avLst/>
          </a:prstGeom>
        </p:spPr>
        <p:txBody>
          <a:bodyPr wrap="square">
            <a:spAutoFit/>
          </a:bodyPr>
          <a:lstStyle/>
          <a:p>
            <a:pPr algn="just">
              <a:lnSpc>
                <a:spcPct val="107000"/>
              </a:lnSpc>
              <a:spcAft>
                <a:spcPts val="800"/>
              </a:spcAft>
            </a:pPr>
            <a:r>
              <a:rPr lang="en-IN" b="1" dirty="0">
                <a:latin typeface="Times New Roman" panose="02020603050405020304" pitchFamily="18" charset="0"/>
                <a:ea typeface="Calibri" panose="020F0502020204030204" pitchFamily="34" charset="0"/>
                <a:cs typeface="Kokila" panose="020B0604020202020204" pitchFamily="34" charset="0"/>
              </a:rPr>
              <a:t>- Military:</a:t>
            </a:r>
            <a:r>
              <a:rPr lang="en-IN" dirty="0">
                <a:latin typeface="Times New Roman" panose="02020603050405020304" pitchFamily="18" charset="0"/>
                <a:ea typeface="Calibri" panose="020F0502020204030204" pitchFamily="34" charset="0"/>
                <a:cs typeface="Kokila" panose="020B0604020202020204" pitchFamily="34" charset="0"/>
              </a:rPr>
              <a:t> Describes the organization of the Mughal army, including ranks, duties, and military strategies.</a:t>
            </a:r>
            <a:endParaRPr lang="en-IN" sz="1600" dirty="0">
              <a:effectLst/>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b="1" dirty="0">
                <a:latin typeface="Times New Roman" panose="02020603050405020304" pitchFamily="18" charset="0"/>
                <a:ea typeface="Calibri" panose="020F0502020204030204" pitchFamily="34" charset="0"/>
                <a:cs typeface="Kokila" panose="020B0604020202020204" pitchFamily="34" charset="0"/>
              </a:rPr>
              <a:t>     - Economy and Revenue:</a:t>
            </a:r>
            <a:r>
              <a:rPr lang="en-IN" dirty="0">
                <a:latin typeface="Times New Roman" panose="02020603050405020304" pitchFamily="18" charset="0"/>
                <a:ea typeface="Calibri" panose="020F0502020204030204" pitchFamily="34" charset="0"/>
                <a:cs typeface="Kokila" panose="020B0604020202020204" pitchFamily="34" charset="0"/>
              </a:rPr>
              <a:t> Discusses land revenue systems, taxation, and agricultural practices.</a:t>
            </a:r>
            <a:endParaRPr lang="en-IN" sz="1600" dirty="0">
              <a:effectLst/>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b="1" dirty="0">
                <a:latin typeface="Times New Roman" panose="02020603050405020304" pitchFamily="18" charset="0"/>
                <a:ea typeface="Calibri" panose="020F0502020204030204" pitchFamily="34" charset="0"/>
                <a:cs typeface="Kokila" panose="020B0604020202020204" pitchFamily="34" charset="0"/>
              </a:rPr>
              <a:t>     - Culture and Society:</a:t>
            </a:r>
            <a:r>
              <a:rPr lang="en-IN" dirty="0">
                <a:latin typeface="Times New Roman" panose="02020603050405020304" pitchFamily="18" charset="0"/>
                <a:ea typeface="Calibri" panose="020F0502020204030204" pitchFamily="34" charset="0"/>
                <a:cs typeface="Kokila" panose="020B0604020202020204" pitchFamily="34" charset="0"/>
              </a:rPr>
              <a:t> Offers insights into the cultural life, including arts, literature, and religious practices.</a:t>
            </a:r>
            <a:endParaRPr lang="en-IN" sz="1600" dirty="0">
              <a:effectLst/>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b="1" dirty="0">
                <a:latin typeface="Times New Roman" panose="02020603050405020304" pitchFamily="18" charset="0"/>
                <a:ea typeface="Calibri" panose="020F0502020204030204" pitchFamily="34" charset="0"/>
                <a:cs typeface="Kokila" panose="020B0604020202020204" pitchFamily="34" charset="0"/>
              </a:rPr>
              <a:t>   - Themes:</a:t>
            </a:r>
            <a:r>
              <a:rPr lang="en-IN" dirty="0">
                <a:latin typeface="Times New Roman" panose="02020603050405020304" pitchFamily="18" charset="0"/>
                <a:ea typeface="Calibri" panose="020F0502020204030204" pitchFamily="34" charset="0"/>
                <a:cs typeface="Kokila" panose="020B0604020202020204" pitchFamily="34" charset="0"/>
              </a:rPr>
              <a:t> The text emphasizes Akbar’s administrative reforms and his approach to governance, focusing on efficiency, justice, and religious tolerance.</a:t>
            </a:r>
            <a:endParaRPr lang="en-IN" sz="1600" dirty="0">
              <a:effectLst/>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b="1" dirty="0">
                <a:latin typeface="Times New Roman" panose="02020603050405020304" pitchFamily="18" charset="0"/>
                <a:ea typeface="Calibri" panose="020F0502020204030204" pitchFamily="34" charset="0"/>
                <a:cs typeface="Kokila" panose="020B0604020202020204" pitchFamily="34" charset="0"/>
              </a:rPr>
              <a:t>   - Significance:</a:t>
            </a:r>
            <a:r>
              <a:rPr lang="en-IN" dirty="0">
                <a:latin typeface="Times New Roman" panose="02020603050405020304" pitchFamily="18" charset="0"/>
                <a:ea typeface="Calibri" panose="020F0502020204030204" pitchFamily="34" charset="0"/>
                <a:cs typeface="Kokila" panose="020B0604020202020204" pitchFamily="34" charset="0"/>
              </a:rPr>
              <a:t> The Ain-</a:t>
            </a:r>
            <a:r>
              <a:rPr lang="en-IN" dirty="0" err="1">
                <a:latin typeface="Times New Roman" panose="02020603050405020304" pitchFamily="18" charset="0"/>
                <a:ea typeface="Calibri" panose="020F0502020204030204" pitchFamily="34" charset="0"/>
                <a:cs typeface="Kokila" panose="020B0604020202020204" pitchFamily="34" charset="0"/>
              </a:rPr>
              <a:t>i</a:t>
            </a:r>
            <a:r>
              <a:rPr lang="en-IN" dirty="0">
                <a:latin typeface="Times New Roman" panose="02020603050405020304" pitchFamily="18" charset="0"/>
                <a:ea typeface="Calibri" panose="020F0502020204030204" pitchFamily="34" charset="0"/>
                <a:cs typeface="Kokila" panose="020B0604020202020204" pitchFamily="34" charset="0"/>
              </a:rPr>
              <a:t>-Akbari serves as an invaluable resource for understanding Mughal administration and the socio-economic conditions of the time. It is one of the earliest examples of a comprehensive administrative account in Indian history.</a:t>
            </a:r>
            <a:endParaRPr lang="en-IN" sz="1600" dirty="0">
              <a:effectLst/>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b="1" dirty="0">
                <a:latin typeface="Times New Roman" panose="02020603050405020304" pitchFamily="18" charset="0"/>
                <a:ea typeface="Calibri" panose="020F0502020204030204" pitchFamily="34" charset="0"/>
                <a:cs typeface="Kokila" panose="020B0604020202020204" pitchFamily="34" charset="0"/>
              </a:rPr>
              <a:t>Literary Style</a:t>
            </a:r>
            <a:endParaRPr lang="en-IN" sz="1600" dirty="0">
              <a:effectLst/>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b="1" dirty="0">
                <a:latin typeface="Times New Roman" panose="02020603050405020304" pitchFamily="18" charset="0"/>
                <a:ea typeface="Calibri" panose="020F0502020204030204" pitchFamily="34" charset="0"/>
                <a:cs typeface="Kokila" panose="020B0604020202020204" pitchFamily="34" charset="0"/>
              </a:rPr>
              <a:t>- Elegant Prose:</a:t>
            </a:r>
            <a:r>
              <a:rPr lang="en-IN" dirty="0">
                <a:latin typeface="Times New Roman" panose="02020603050405020304" pitchFamily="18" charset="0"/>
                <a:ea typeface="Calibri" panose="020F0502020204030204" pitchFamily="34" charset="0"/>
                <a:cs typeface="Kokila" panose="020B0604020202020204" pitchFamily="34" charset="0"/>
              </a:rPr>
              <a:t> Abu </a:t>
            </a:r>
            <a:r>
              <a:rPr lang="en-IN" dirty="0" err="1">
                <a:latin typeface="Times New Roman" panose="02020603050405020304" pitchFamily="18" charset="0"/>
                <a:ea typeface="Calibri" panose="020F0502020204030204" pitchFamily="34" charset="0"/>
                <a:cs typeface="Kokila" panose="020B0604020202020204" pitchFamily="34" charset="0"/>
              </a:rPr>
              <a:t>Fazal's</a:t>
            </a:r>
            <a:r>
              <a:rPr lang="en-IN" dirty="0">
                <a:latin typeface="Times New Roman" panose="02020603050405020304" pitchFamily="18" charset="0"/>
                <a:ea typeface="Calibri" panose="020F0502020204030204" pitchFamily="34" charset="0"/>
                <a:cs typeface="Kokila" panose="020B0604020202020204" pitchFamily="34" charset="0"/>
              </a:rPr>
              <a:t> works are characterized by their eloquent and polished prose, combining narrative history with poetic elements.</a:t>
            </a:r>
            <a:endParaRPr lang="en-IN" sz="1600" dirty="0">
              <a:effectLst/>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b="1" dirty="0">
                <a:latin typeface="Times New Roman" panose="02020603050405020304" pitchFamily="18" charset="0"/>
                <a:ea typeface="Calibri" panose="020F0502020204030204" pitchFamily="34" charset="0"/>
                <a:cs typeface="Kokila" panose="020B0604020202020204" pitchFamily="34" charset="0"/>
              </a:rPr>
              <a:t>- Critical Analysis:</a:t>
            </a:r>
            <a:r>
              <a:rPr lang="en-IN" dirty="0">
                <a:latin typeface="Times New Roman" panose="02020603050405020304" pitchFamily="18" charset="0"/>
                <a:ea typeface="Calibri" panose="020F0502020204030204" pitchFamily="34" charset="0"/>
                <a:cs typeface="Kokila" panose="020B0604020202020204" pitchFamily="34" charset="0"/>
              </a:rPr>
              <a:t> He employs a critical lens to assess events and figures, providing moral and ethical reflections on governance and leadership.</a:t>
            </a:r>
            <a:endParaRPr lang="en-IN" sz="1600" dirty="0">
              <a:effectLst/>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b="1" dirty="0">
                <a:latin typeface="Times New Roman" panose="02020603050405020304" pitchFamily="18" charset="0"/>
                <a:ea typeface="Calibri" panose="020F0502020204030204" pitchFamily="34" charset="0"/>
                <a:cs typeface="Kokila" panose="020B0604020202020204" pitchFamily="34" charset="0"/>
              </a:rPr>
              <a:t>- Cultural Synthesis:</a:t>
            </a:r>
            <a:r>
              <a:rPr lang="en-IN" dirty="0">
                <a:latin typeface="Times New Roman" panose="02020603050405020304" pitchFamily="18" charset="0"/>
                <a:ea typeface="Calibri" panose="020F0502020204030204" pitchFamily="34" charset="0"/>
                <a:cs typeface="Kokila" panose="020B0604020202020204" pitchFamily="34" charset="0"/>
              </a:rPr>
              <a:t> His writings reflect a deep engagement with the cultural and intellectual currents of his time, illustrating the pluralistic nature of Mughal society.</a:t>
            </a:r>
            <a:endParaRPr lang="en-IN" sz="1600" dirty="0">
              <a:effectLst/>
              <a:latin typeface="Calibri" panose="020F0502020204030204" pitchFamily="34" charset="0"/>
              <a:ea typeface="Calibri" panose="020F0502020204030204" pitchFamily="34" charset="0"/>
              <a:cs typeface="Kokila" panose="020B0604020202020204" pitchFamily="34" charset="0"/>
            </a:endParaRPr>
          </a:p>
        </p:txBody>
      </p:sp>
    </p:spTree>
    <p:extLst>
      <p:ext uri="{BB962C8B-B14F-4D97-AF65-F5344CB8AC3E}">
        <p14:creationId xmlns:p14="http://schemas.microsoft.com/office/powerpoint/2010/main" val="40509703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91885" y="367642"/>
            <a:ext cx="11534503" cy="5692007"/>
          </a:xfrm>
          <a:prstGeom prst="rect">
            <a:avLst/>
          </a:prstGeom>
        </p:spPr>
        <p:txBody>
          <a:bodyPr wrap="square">
            <a:spAutoFit/>
          </a:bodyPr>
          <a:lstStyle/>
          <a:p>
            <a:pPr algn="ctr">
              <a:lnSpc>
                <a:spcPct val="107000"/>
              </a:lnSpc>
              <a:spcAft>
                <a:spcPts val="800"/>
              </a:spcAft>
            </a:pPr>
            <a:r>
              <a:rPr lang="en-IN" sz="2400" b="1" dirty="0">
                <a:latin typeface="Times New Roman" panose="02020603050405020304" pitchFamily="18" charset="0"/>
                <a:ea typeface="Calibri" panose="020F0502020204030204" pitchFamily="34" charset="0"/>
                <a:cs typeface="Kokila" panose="020B0604020202020204" pitchFamily="34" charset="0"/>
              </a:rPr>
              <a:t>5. </a:t>
            </a:r>
            <a:r>
              <a:rPr lang="en-IN" sz="2400" b="1" dirty="0" err="1">
                <a:latin typeface="Times New Roman" panose="02020603050405020304" pitchFamily="18" charset="0"/>
                <a:ea typeface="Calibri" panose="020F0502020204030204" pitchFamily="34" charset="0"/>
                <a:cs typeface="Kokila" panose="020B0604020202020204" pitchFamily="34" charset="0"/>
              </a:rPr>
              <a:t>Bharatendu</a:t>
            </a:r>
            <a:r>
              <a:rPr lang="en-IN" sz="2400" b="1" dirty="0">
                <a:latin typeface="Times New Roman" panose="02020603050405020304" pitchFamily="18" charset="0"/>
                <a:ea typeface="Calibri" panose="020F0502020204030204" pitchFamily="34" charset="0"/>
                <a:cs typeface="Kokila" panose="020B0604020202020204" pitchFamily="34" charset="0"/>
              </a:rPr>
              <a:t> </a:t>
            </a:r>
            <a:r>
              <a:rPr lang="en-IN" sz="2400" b="1" dirty="0" err="1">
                <a:latin typeface="Times New Roman" panose="02020603050405020304" pitchFamily="18" charset="0"/>
                <a:ea typeface="Calibri" panose="020F0502020204030204" pitchFamily="34" charset="0"/>
                <a:cs typeface="Kokila" panose="020B0604020202020204" pitchFamily="34" charset="0"/>
              </a:rPr>
              <a:t>Harishchandra</a:t>
            </a:r>
            <a:endParaRPr lang="en-IN" dirty="0">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2000" b="1" dirty="0">
                <a:latin typeface="Times New Roman" panose="02020603050405020304" pitchFamily="18" charset="0"/>
                <a:ea typeface="Calibri" panose="020F0502020204030204" pitchFamily="34" charset="0"/>
                <a:cs typeface="Kokila" panose="020B0604020202020204" pitchFamily="34" charset="0"/>
              </a:rPr>
              <a:t>Overview:</a:t>
            </a:r>
            <a:endParaRPr lang="en-IN" dirty="0">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2000" dirty="0">
                <a:latin typeface="Times New Roman" panose="02020603050405020304" pitchFamily="18" charset="0"/>
                <a:ea typeface="Calibri" panose="020F0502020204030204" pitchFamily="34" charset="0"/>
                <a:cs typeface="Kokila" panose="020B0604020202020204" pitchFamily="34" charset="0"/>
              </a:rPr>
              <a:t>- </a:t>
            </a:r>
            <a:r>
              <a:rPr lang="en-IN" sz="2000" dirty="0" err="1">
                <a:latin typeface="Times New Roman" panose="02020603050405020304" pitchFamily="18" charset="0"/>
                <a:ea typeface="Calibri" panose="020F0502020204030204" pitchFamily="34" charset="0"/>
                <a:cs typeface="Kokila" panose="020B0604020202020204" pitchFamily="34" charset="0"/>
              </a:rPr>
              <a:t>Bharatendu</a:t>
            </a:r>
            <a:r>
              <a:rPr lang="en-IN" sz="2000" dirty="0">
                <a:latin typeface="Times New Roman" panose="02020603050405020304" pitchFamily="18" charset="0"/>
                <a:ea typeface="Calibri" panose="020F0502020204030204" pitchFamily="34" charset="0"/>
                <a:cs typeface="Kokila" panose="020B0604020202020204" pitchFamily="34" charset="0"/>
              </a:rPr>
              <a:t> Harishchandra (1850–1885), often regarded as the </a:t>
            </a:r>
            <a:r>
              <a:rPr lang="en-IN" sz="2000" b="1" dirty="0">
                <a:latin typeface="Times New Roman" panose="02020603050405020304" pitchFamily="18" charset="0"/>
                <a:ea typeface="Calibri" panose="020F0502020204030204" pitchFamily="34" charset="0"/>
                <a:cs typeface="Kokila" panose="020B0604020202020204" pitchFamily="34" charset="0"/>
              </a:rPr>
              <a:t>father of modern Hindi literature</a:t>
            </a:r>
            <a:r>
              <a:rPr lang="en-IN" sz="2000" dirty="0">
                <a:latin typeface="Times New Roman" panose="02020603050405020304" pitchFamily="18" charset="0"/>
                <a:ea typeface="Calibri" panose="020F0502020204030204" pitchFamily="34" charset="0"/>
                <a:cs typeface="Kokila" panose="020B0604020202020204" pitchFamily="34" charset="0"/>
              </a:rPr>
              <a:t>, made significant contributions to various genres, including drama, poetry, and prose. Here’s a detailed list of his major works:</a:t>
            </a:r>
            <a:endParaRPr lang="en-IN" dirty="0">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2000" b="1" dirty="0">
                <a:latin typeface="Times New Roman" panose="02020603050405020304" pitchFamily="18" charset="0"/>
                <a:ea typeface="Calibri" panose="020F0502020204030204" pitchFamily="34" charset="0"/>
                <a:cs typeface="Kokila" panose="020B0604020202020204" pitchFamily="34" charset="0"/>
              </a:rPr>
              <a:t>Major Works of </a:t>
            </a:r>
            <a:r>
              <a:rPr lang="en-IN" sz="2000" b="1" dirty="0" err="1">
                <a:latin typeface="Times New Roman" panose="02020603050405020304" pitchFamily="18" charset="0"/>
                <a:ea typeface="Calibri" panose="020F0502020204030204" pitchFamily="34" charset="0"/>
                <a:cs typeface="Kokila" panose="020B0604020202020204" pitchFamily="34" charset="0"/>
              </a:rPr>
              <a:t>Bharatendu</a:t>
            </a:r>
            <a:r>
              <a:rPr lang="en-IN" sz="2000" b="1" dirty="0">
                <a:latin typeface="Times New Roman" panose="02020603050405020304" pitchFamily="18" charset="0"/>
                <a:ea typeface="Calibri" panose="020F0502020204030204" pitchFamily="34" charset="0"/>
                <a:cs typeface="Kokila" panose="020B0604020202020204" pitchFamily="34" charset="0"/>
              </a:rPr>
              <a:t> </a:t>
            </a:r>
            <a:r>
              <a:rPr lang="en-IN" sz="2000" b="1" dirty="0" err="1">
                <a:latin typeface="Times New Roman" panose="02020603050405020304" pitchFamily="18" charset="0"/>
                <a:ea typeface="Calibri" panose="020F0502020204030204" pitchFamily="34" charset="0"/>
                <a:cs typeface="Kokila" panose="020B0604020202020204" pitchFamily="34" charset="0"/>
              </a:rPr>
              <a:t>Harishchandra</a:t>
            </a:r>
            <a:endParaRPr lang="en-IN" dirty="0">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2000" b="1" dirty="0">
                <a:latin typeface="Times New Roman" panose="02020603050405020304" pitchFamily="18" charset="0"/>
                <a:ea typeface="Calibri" panose="020F0502020204030204" pitchFamily="34" charset="0"/>
                <a:cs typeface="Kokila" panose="020B0604020202020204" pitchFamily="34" charset="0"/>
              </a:rPr>
              <a:t>1. Brahma-Vijay</a:t>
            </a:r>
            <a:endParaRPr lang="en-IN" dirty="0">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2000" b="1" dirty="0">
                <a:latin typeface="Times New Roman" panose="02020603050405020304" pitchFamily="18" charset="0"/>
                <a:ea typeface="Calibri" panose="020F0502020204030204" pitchFamily="34" charset="0"/>
                <a:cs typeface="Kokila" panose="020B0604020202020204" pitchFamily="34" charset="0"/>
              </a:rPr>
              <a:t>   - Genre: Play</a:t>
            </a:r>
            <a:endParaRPr lang="en-IN" dirty="0">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2000" b="1" dirty="0">
                <a:latin typeface="Times New Roman" panose="02020603050405020304" pitchFamily="18" charset="0"/>
                <a:ea typeface="Calibri" panose="020F0502020204030204" pitchFamily="34" charset="0"/>
                <a:cs typeface="Kokila" panose="020B0604020202020204" pitchFamily="34" charset="0"/>
              </a:rPr>
              <a:t>   - Overview:</a:t>
            </a:r>
            <a:r>
              <a:rPr lang="en-IN" sz="2000" dirty="0">
                <a:latin typeface="Times New Roman" panose="02020603050405020304" pitchFamily="18" charset="0"/>
                <a:ea typeface="Calibri" panose="020F0502020204030204" pitchFamily="34" charset="0"/>
                <a:cs typeface="Kokila" panose="020B0604020202020204" pitchFamily="34" charset="0"/>
              </a:rPr>
              <a:t> A philosophical drama that explores the themes of duty, morality, and the nature of existence. The plot revolves around the conflict between the desires of the heart and the obligations of duty.</a:t>
            </a:r>
            <a:endParaRPr lang="en-IN" dirty="0">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2000" b="1" dirty="0">
                <a:latin typeface="Times New Roman" panose="02020603050405020304" pitchFamily="18" charset="0"/>
                <a:ea typeface="Calibri" panose="020F0502020204030204" pitchFamily="34" charset="0"/>
                <a:cs typeface="Kokila" panose="020B0604020202020204" pitchFamily="34" charset="0"/>
              </a:rPr>
              <a:t>   - Themes:</a:t>
            </a:r>
            <a:r>
              <a:rPr lang="en-IN" sz="2000" dirty="0">
                <a:latin typeface="Times New Roman" panose="02020603050405020304" pitchFamily="18" charset="0"/>
                <a:ea typeface="Calibri" panose="020F0502020204030204" pitchFamily="34" charset="0"/>
                <a:cs typeface="Kokila" panose="020B0604020202020204" pitchFamily="34" charset="0"/>
              </a:rPr>
              <a:t> The play delves into existential questions, emphasizing the struggle between personal aspirations and moral responsibilities.</a:t>
            </a:r>
            <a:endParaRPr lang="en-IN" dirty="0">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2000" b="1" dirty="0">
                <a:latin typeface="Times New Roman" panose="02020603050405020304" pitchFamily="18" charset="0"/>
                <a:ea typeface="Calibri" panose="020F0502020204030204" pitchFamily="34" charset="0"/>
                <a:cs typeface="Kokila" panose="020B0604020202020204" pitchFamily="34" charset="0"/>
              </a:rPr>
              <a:t>   - Significance:</a:t>
            </a:r>
            <a:r>
              <a:rPr lang="en-IN" sz="2000" dirty="0">
                <a:latin typeface="Times New Roman" panose="02020603050405020304" pitchFamily="18" charset="0"/>
                <a:ea typeface="Calibri" panose="020F0502020204030204" pitchFamily="34" charset="0"/>
                <a:cs typeface="Kokila" panose="020B0604020202020204" pitchFamily="34" charset="0"/>
              </a:rPr>
              <a:t> Known for its depth and character development, it marked a significant step in the evolution of Hindi drama.</a:t>
            </a:r>
            <a:endParaRPr lang="en-IN" dirty="0">
              <a:effectLst/>
              <a:latin typeface="Calibri" panose="020F0502020204030204" pitchFamily="34" charset="0"/>
              <a:ea typeface="Calibri" panose="020F0502020204030204" pitchFamily="34" charset="0"/>
              <a:cs typeface="Kokila" panose="020B0604020202020204" pitchFamily="34" charset="0"/>
            </a:endParaRPr>
          </a:p>
        </p:txBody>
      </p:sp>
    </p:spTree>
    <p:extLst>
      <p:ext uri="{BB962C8B-B14F-4D97-AF65-F5344CB8AC3E}">
        <p14:creationId xmlns:p14="http://schemas.microsoft.com/office/powerpoint/2010/main" val="19129432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4320" y="471071"/>
            <a:ext cx="11521440" cy="5955476"/>
          </a:xfrm>
          <a:prstGeom prst="rect">
            <a:avLst/>
          </a:prstGeom>
        </p:spPr>
        <p:txBody>
          <a:bodyPr wrap="square">
            <a:spAutoFit/>
          </a:bodyPr>
          <a:lstStyle/>
          <a:p>
            <a:pPr algn="just">
              <a:lnSpc>
                <a:spcPct val="107000"/>
              </a:lnSpc>
              <a:spcAft>
                <a:spcPts val="800"/>
              </a:spcAft>
            </a:pPr>
            <a:r>
              <a:rPr lang="en-IN" sz="2000" b="1" dirty="0">
                <a:latin typeface="Times New Roman" panose="02020603050405020304" pitchFamily="18" charset="0"/>
                <a:ea typeface="Calibri" panose="020F0502020204030204" pitchFamily="34" charset="0"/>
                <a:cs typeface="Kokila" panose="020B0604020202020204" pitchFamily="34" charset="0"/>
              </a:rPr>
              <a:t>2. </a:t>
            </a:r>
            <a:r>
              <a:rPr lang="en-IN" sz="2000" b="1" dirty="0" err="1">
                <a:latin typeface="Times New Roman" panose="02020603050405020304" pitchFamily="18" charset="0"/>
                <a:ea typeface="Calibri" panose="020F0502020204030204" pitchFamily="34" charset="0"/>
                <a:cs typeface="Kokila" panose="020B0604020202020204" pitchFamily="34" charset="0"/>
              </a:rPr>
              <a:t>Andher</a:t>
            </a:r>
            <a:r>
              <a:rPr lang="en-IN" sz="2000" b="1" dirty="0">
                <a:latin typeface="Times New Roman" panose="02020603050405020304" pitchFamily="18" charset="0"/>
                <a:ea typeface="Calibri" panose="020F0502020204030204" pitchFamily="34" charset="0"/>
                <a:cs typeface="Kokila" panose="020B0604020202020204" pitchFamily="34" charset="0"/>
              </a:rPr>
              <a:t> </a:t>
            </a:r>
            <a:r>
              <a:rPr lang="en-IN" sz="2000" b="1" dirty="0" err="1">
                <a:latin typeface="Times New Roman" panose="02020603050405020304" pitchFamily="18" charset="0"/>
                <a:ea typeface="Calibri" panose="020F0502020204030204" pitchFamily="34" charset="0"/>
                <a:cs typeface="Kokila" panose="020B0604020202020204" pitchFamily="34" charset="0"/>
              </a:rPr>
              <a:t>Nagari</a:t>
            </a:r>
            <a:endParaRPr lang="en-IN" dirty="0">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2000" b="1" dirty="0">
                <a:latin typeface="Times New Roman" panose="02020603050405020304" pitchFamily="18" charset="0"/>
                <a:ea typeface="Calibri" panose="020F0502020204030204" pitchFamily="34" charset="0"/>
                <a:cs typeface="Kokila" panose="020B0604020202020204" pitchFamily="34" charset="0"/>
              </a:rPr>
              <a:t>   - Genre: Satirical Play</a:t>
            </a:r>
            <a:endParaRPr lang="en-IN" dirty="0">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2000" b="1" dirty="0">
                <a:latin typeface="Times New Roman" panose="02020603050405020304" pitchFamily="18" charset="0"/>
                <a:ea typeface="Calibri" panose="020F0502020204030204" pitchFamily="34" charset="0"/>
                <a:cs typeface="Kokila" panose="020B0604020202020204" pitchFamily="34" charset="0"/>
              </a:rPr>
              <a:t>   - Overview: </a:t>
            </a:r>
            <a:r>
              <a:rPr lang="en-IN" sz="2000" dirty="0">
                <a:latin typeface="Times New Roman" panose="02020603050405020304" pitchFamily="18" charset="0"/>
                <a:ea typeface="Calibri" panose="020F0502020204030204" pitchFamily="34" charset="0"/>
                <a:cs typeface="Kokila" panose="020B0604020202020204" pitchFamily="34" charset="0"/>
              </a:rPr>
              <a:t>A satirical drama that critiques societal norms and the absurdities of contemporary life. The story is set in a fictional city, </a:t>
            </a:r>
            <a:r>
              <a:rPr lang="en-IN" sz="2000" dirty="0" err="1">
                <a:latin typeface="Times New Roman" panose="02020603050405020304" pitchFamily="18" charset="0"/>
                <a:ea typeface="Calibri" panose="020F0502020204030204" pitchFamily="34" charset="0"/>
                <a:cs typeface="Kokila" panose="020B0604020202020204" pitchFamily="34" charset="0"/>
              </a:rPr>
              <a:t>Andher</a:t>
            </a:r>
            <a:r>
              <a:rPr lang="en-IN" sz="2000" dirty="0">
                <a:latin typeface="Times New Roman" panose="02020603050405020304" pitchFamily="18" charset="0"/>
                <a:ea typeface="Calibri" panose="020F0502020204030204" pitchFamily="34" charset="0"/>
                <a:cs typeface="Kokila" panose="020B0604020202020204" pitchFamily="34" charset="0"/>
              </a:rPr>
              <a:t> </a:t>
            </a:r>
            <a:r>
              <a:rPr lang="en-IN" sz="2000" dirty="0" err="1">
                <a:latin typeface="Times New Roman" panose="02020603050405020304" pitchFamily="18" charset="0"/>
                <a:ea typeface="Calibri" panose="020F0502020204030204" pitchFamily="34" charset="0"/>
                <a:cs typeface="Kokila" panose="020B0604020202020204" pitchFamily="34" charset="0"/>
              </a:rPr>
              <a:t>Nagari</a:t>
            </a:r>
            <a:r>
              <a:rPr lang="en-IN" sz="2000" dirty="0">
                <a:latin typeface="Times New Roman" panose="02020603050405020304" pitchFamily="18" charset="0"/>
                <a:ea typeface="Calibri" panose="020F0502020204030204" pitchFamily="34" charset="0"/>
                <a:cs typeface="Kokila" panose="020B0604020202020204" pitchFamily="34" charset="0"/>
              </a:rPr>
              <a:t>, where moral and social values are inverted.</a:t>
            </a:r>
            <a:endParaRPr lang="en-IN" dirty="0">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2000" b="1" dirty="0">
                <a:latin typeface="Times New Roman" panose="02020603050405020304" pitchFamily="18" charset="0"/>
                <a:ea typeface="Calibri" panose="020F0502020204030204" pitchFamily="34" charset="0"/>
                <a:cs typeface="Kokila" panose="020B0604020202020204" pitchFamily="34" charset="0"/>
              </a:rPr>
              <a:t>   - Themes:</a:t>
            </a:r>
            <a:r>
              <a:rPr lang="en-IN" sz="2000" dirty="0">
                <a:latin typeface="Times New Roman" panose="02020603050405020304" pitchFamily="18" charset="0"/>
                <a:ea typeface="Calibri" panose="020F0502020204030204" pitchFamily="34" charset="0"/>
                <a:cs typeface="Kokila" panose="020B0604020202020204" pitchFamily="34" charset="0"/>
              </a:rPr>
              <a:t> The play humorously addresses issues of justice, governance, and the foolishness of people in power.</a:t>
            </a:r>
            <a:endParaRPr lang="en-IN" dirty="0">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2000" b="1" dirty="0">
                <a:latin typeface="Times New Roman" panose="02020603050405020304" pitchFamily="18" charset="0"/>
                <a:ea typeface="Calibri" panose="020F0502020204030204" pitchFamily="34" charset="0"/>
                <a:cs typeface="Kokila" panose="020B0604020202020204" pitchFamily="34" charset="0"/>
              </a:rPr>
              <a:t>   - Significance:</a:t>
            </a:r>
            <a:r>
              <a:rPr lang="en-IN" sz="2000" dirty="0">
                <a:latin typeface="Times New Roman" panose="02020603050405020304" pitchFamily="18" charset="0"/>
                <a:ea typeface="Calibri" panose="020F0502020204030204" pitchFamily="34" charset="0"/>
                <a:cs typeface="Kokila" panose="020B0604020202020204" pitchFamily="34" charset="0"/>
              </a:rPr>
              <a:t> "</a:t>
            </a:r>
            <a:r>
              <a:rPr lang="en-IN" sz="2000" dirty="0" err="1">
                <a:latin typeface="Times New Roman" panose="02020603050405020304" pitchFamily="18" charset="0"/>
                <a:ea typeface="Calibri" panose="020F0502020204030204" pitchFamily="34" charset="0"/>
                <a:cs typeface="Kokila" panose="020B0604020202020204" pitchFamily="34" charset="0"/>
              </a:rPr>
              <a:t>Andher</a:t>
            </a:r>
            <a:r>
              <a:rPr lang="en-IN" sz="2000" dirty="0">
                <a:latin typeface="Times New Roman" panose="02020603050405020304" pitchFamily="18" charset="0"/>
                <a:ea typeface="Calibri" panose="020F0502020204030204" pitchFamily="34" charset="0"/>
                <a:cs typeface="Kokila" panose="020B0604020202020204" pitchFamily="34" charset="0"/>
              </a:rPr>
              <a:t> </a:t>
            </a:r>
            <a:r>
              <a:rPr lang="en-IN" sz="2000" dirty="0" err="1">
                <a:latin typeface="Times New Roman" panose="02020603050405020304" pitchFamily="18" charset="0"/>
                <a:ea typeface="Calibri" panose="020F0502020204030204" pitchFamily="34" charset="0"/>
                <a:cs typeface="Kokila" panose="020B0604020202020204" pitchFamily="34" charset="0"/>
              </a:rPr>
              <a:t>Nagari</a:t>
            </a:r>
            <a:r>
              <a:rPr lang="en-IN" sz="2000" dirty="0">
                <a:latin typeface="Times New Roman" panose="02020603050405020304" pitchFamily="18" charset="0"/>
                <a:ea typeface="Calibri" panose="020F0502020204030204" pitchFamily="34" charset="0"/>
                <a:cs typeface="Kokila" panose="020B0604020202020204" pitchFamily="34" charset="0"/>
              </a:rPr>
              <a:t>" is celebrated for its wit and social commentary, highlighting </a:t>
            </a:r>
            <a:r>
              <a:rPr lang="en-IN" sz="2000" dirty="0" err="1">
                <a:latin typeface="Times New Roman" panose="02020603050405020304" pitchFamily="18" charset="0"/>
                <a:ea typeface="Calibri" panose="020F0502020204030204" pitchFamily="34" charset="0"/>
                <a:cs typeface="Kokila" panose="020B0604020202020204" pitchFamily="34" charset="0"/>
              </a:rPr>
              <a:t>Bharatendu’s</a:t>
            </a:r>
            <a:r>
              <a:rPr lang="en-IN" sz="2000" dirty="0">
                <a:latin typeface="Times New Roman" panose="02020603050405020304" pitchFamily="18" charset="0"/>
                <a:ea typeface="Calibri" panose="020F0502020204030204" pitchFamily="34" charset="0"/>
                <a:cs typeface="Kokila" panose="020B0604020202020204" pitchFamily="34" charset="0"/>
              </a:rPr>
              <a:t> ability to use </a:t>
            </a:r>
            <a:r>
              <a:rPr lang="en-IN" sz="2000" dirty="0" err="1">
                <a:latin typeface="Times New Roman" panose="02020603050405020304" pitchFamily="18" charset="0"/>
                <a:ea typeface="Calibri" panose="020F0502020204030204" pitchFamily="34" charset="0"/>
                <a:cs typeface="Kokila" panose="020B0604020202020204" pitchFamily="34" charset="0"/>
              </a:rPr>
              <a:t>humor</a:t>
            </a:r>
            <a:r>
              <a:rPr lang="en-IN" sz="2000" dirty="0">
                <a:latin typeface="Times New Roman" panose="02020603050405020304" pitchFamily="18" charset="0"/>
                <a:ea typeface="Calibri" panose="020F0502020204030204" pitchFamily="34" charset="0"/>
                <a:cs typeface="Kokila" panose="020B0604020202020204" pitchFamily="34" charset="0"/>
              </a:rPr>
              <a:t> to address serious issues.</a:t>
            </a:r>
            <a:endParaRPr lang="en-IN" dirty="0">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2000" b="1" dirty="0">
                <a:latin typeface="Times New Roman" panose="02020603050405020304" pitchFamily="18" charset="0"/>
                <a:ea typeface="Calibri" panose="020F0502020204030204" pitchFamily="34" charset="0"/>
                <a:cs typeface="Kokila" panose="020B0604020202020204" pitchFamily="34" charset="0"/>
              </a:rPr>
              <a:t>3. Satya </a:t>
            </a:r>
            <a:r>
              <a:rPr lang="en-IN" sz="2000" b="1" dirty="0" err="1">
                <a:latin typeface="Times New Roman" panose="02020603050405020304" pitchFamily="18" charset="0"/>
                <a:ea typeface="Calibri" panose="020F0502020204030204" pitchFamily="34" charset="0"/>
                <a:cs typeface="Kokila" panose="020B0604020202020204" pitchFamily="34" charset="0"/>
              </a:rPr>
              <a:t>Harishchandra</a:t>
            </a:r>
            <a:endParaRPr lang="en-IN" dirty="0">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2000" b="1" dirty="0">
                <a:latin typeface="Times New Roman" panose="02020603050405020304" pitchFamily="18" charset="0"/>
                <a:ea typeface="Calibri" panose="020F0502020204030204" pitchFamily="34" charset="0"/>
                <a:cs typeface="Kokila" panose="020B0604020202020204" pitchFamily="34" charset="0"/>
              </a:rPr>
              <a:t>   - Genre: Play</a:t>
            </a:r>
            <a:endParaRPr lang="en-IN" dirty="0">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2000" b="1" dirty="0">
                <a:latin typeface="Times New Roman" panose="02020603050405020304" pitchFamily="18" charset="0"/>
                <a:ea typeface="Calibri" panose="020F0502020204030204" pitchFamily="34" charset="0"/>
                <a:cs typeface="Kokila" panose="020B0604020202020204" pitchFamily="34" charset="0"/>
              </a:rPr>
              <a:t>   - Overview:</a:t>
            </a:r>
            <a:r>
              <a:rPr lang="en-IN" sz="2000" dirty="0">
                <a:latin typeface="Times New Roman" panose="02020603050405020304" pitchFamily="18" charset="0"/>
                <a:ea typeface="Calibri" panose="020F0502020204030204" pitchFamily="34" charset="0"/>
                <a:cs typeface="Kokila" panose="020B0604020202020204" pitchFamily="34" charset="0"/>
              </a:rPr>
              <a:t> A retelling of the legendary tale of King </a:t>
            </a:r>
            <a:r>
              <a:rPr lang="en-IN" sz="2000" dirty="0" err="1">
                <a:latin typeface="Times New Roman" panose="02020603050405020304" pitchFamily="18" charset="0"/>
                <a:ea typeface="Calibri" panose="020F0502020204030204" pitchFamily="34" charset="0"/>
                <a:cs typeface="Kokila" panose="020B0604020202020204" pitchFamily="34" charset="0"/>
              </a:rPr>
              <a:t>Harishchandra</a:t>
            </a:r>
            <a:r>
              <a:rPr lang="en-IN" sz="2000" dirty="0">
                <a:latin typeface="Times New Roman" panose="02020603050405020304" pitchFamily="18" charset="0"/>
                <a:ea typeface="Calibri" panose="020F0502020204030204" pitchFamily="34" charset="0"/>
                <a:cs typeface="Kokila" panose="020B0604020202020204" pitchFamily="34" charset="0"/>
              </a:rPr>
              <a:t>, known for his unwavering commitment to truth and justice. The play explores his trials and tribulations as he faces challenges to uphold his principles.</a:t>
            </a:r>
            <a:endParaRPr lang="en-IN" dirty="0">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2000" b="1" dirty="0">
                <a:latin typeface="Times New Roman" panose="02020603050405020304" pitchFamily="18" charset="0"/>
                <a:ea typeface="Calibri" panose="020F0502020204030204" pitchFamily="34" charset="0"/>
                <a:cs typeface="Kokila" panose="020B0604020202020204" pitchFamily="34" charset="0"/>
              </a:rPr>
              <a:t>   - Themes:</a:t>
            </a:r>
            <a:r>
              <a:rPr lang="en-IN" sz="2000" dirty="0">
                <a:latin typeface="Times New Roman" panose="02020603050405020304" pitchFamily="18" charset="0"/>
                <a:ea typeface="Calibri" panose="020F0502020204030204" pitchFamily="34" charset="0"/>
                <a:cs typeface="Kokila" panose="020B0604020202020204" pitchFamily="34" charset="0"/>
              </a:rPr>
              <a:t> The play emphasizes the importance of truth, righteousness, and moral integrity.</a:t>
            </a:r>
            <a:endParaRPr lang="en-IN" dirty="0">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2000" b="1" dirty="0">
                <a:latin typeface="Times New Roman" panose="02020603050405020304" pitchFamily="18" charset="0"/>
                <a:ea typeface="Calibri" panose="020F0502020204030204" pitchFamily="34" charset="0"/>
                <a:cs typeface="Kokila" panose="020B0604020202020204" pitchFamily="34" charset="0"/>
              </a:rPr>
              <a:t>   - Significance:</a:t>
            </a:r>
            <a:r>
              <a:rPr lang="en-IN" sz="2000" dirty="0">
                <a:latin typeface="Times New Roman" panose="02020603050405020304" pitchFamily="18" charset="0"/>
                <a:ea typeface="Calibri" panose="020F0502020204030204" pitchFamily="34" charset="0"/>
                <a:cs typeface="Kokila" panose="020B0604020202020204" pitchFamily="34" charset="0"/>
              </a:rPr>
              <a:t> It reflects </a:t>
            </a:r>
            <a:r>
              <a:rPr lang="en-IN" sz="2000" dirty="0" err="1">
                <a:latin typeface="Times New Roman" panose="02020603050405020304" pitchFamily="18" charset="0"/>
                <a:ea typeface="Calibri" panose="020F0502020204030204" pitchFamily="34" charset="0"/>
                <a:cs typeface="Kokila" panose="020B0604020202020204" pitchFamily="34" charset="0"/>
              </a:rPr>
              <a:t>Bharatendu's</a:t>
            </a:r>
            <a:r>
              <a:rPr lang="en-IN" sz="2000" dirty="0">
                <a:latin typeface="Times New Roman" panose="02020603050405020304" pitchFamily="18" charset="0"/>
                <a:ea typeface="Calibri" panose="020F0502020204030204" pitchFamily="34" charset="0"/>
                <a:cs typeface="Kokila" panose="020B0604020202020204" pitchFamily="34" charset="0"/>
              </a:rPr>
              <a:t> interest in moral tales and his ability to convey ethical lessons through dramatic narratives.</a:t>
            </a:r>
            <a:endParaRPr lang="en-IN" dirty="0">
              <a:effectLst/>
              <a:latin typeface="Calibri" panose="020F0502020204030204" pitchFamily="34" charset="0"/>
              <a:ea typeface="Calibri" panose="020F0502020204030204" pitchFamily="34" charset="0"/>
              <a:cs typeface="Kokila" panose="020B0604020202020204" pitchFamily="34" charset="0"/>
            </a:endParaRPr>
          </a:p>
        </p:txBody>
      </p:sp>
    </p:spTree>
    <p:extLst>
      <p:ext uri="{BB962C8B-B14F-4D97-AF65-F5344CB8AC3E}">
        <p14:creationId xmlns:p14="http://schemas.microsoft.com/office/powerpoint/2010/main" val="2205133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83325" y="253900"/>
            <a:ext cx="11234057" cy="6284797"/>
          </a:xfrm>
          <a:prstGeom prst="rect">
            <a:avLst/>
          </a:prstGeom>
        </p:spPr>
        <p:txBody>
          <a:bodyPr wrap="square">
            <a:spAutoFit/>
          </a:bodyPr>
          <a:lstStyle/>
          <a:p>
            <a:pPr algn="just">
              <a:lnSpc>
                <a:spcPct val="107000"/>
              </a:lnSpc>
              <a:spcAft>
                <a:spcPts val="800"/>
              </a:spcAft>
            </a:pPr>
            <a:r>
              <a:rPr lang="en-IN" sz="2000" b="1" dirty="0">
                <a:latin typeface="Times New Roman" panose="02020603050405020304" pitchFamily="18" charset="0"/>
                <a:ea typeface="Calibri" panose="020F0502020204030204" pitchFamily="34" charset="0"/>
                <a:cs typeface="Kokila" panose="020B0604020202020204" pitchFamily="34" charset="0"/>
              </a:rPr>
              <a:t>4. </a:t>
            </a:r>
            <a:r>
              <a:rPr lang="en-IN" sz="2000" b="1" dirty="0" err="1">
                <a:latin typeface="Times New Roman" panose="02020603050405020304" pitchFamily="18" charset="0"/>
                <a:ea typeface="Calibri" panose="020F0502020204030204" pitchFamily="34" charset="0"/>
                <a:cs typeface="Kokila" panose="020B0604020202020204" pitchFamily="34" charset="0"/>
              </a:rPr>
              <a:t>Chandni</a:t>
            </a:r>
            <a:r>
              <a:rPr lang="en-IN" sz="2000" b="1" dirty="0">
                <a:latin typeface="Times New Roman" panose="02020603050405020304" pitchFamily="18" charset="0"/>
                <a:ea typeface="Calibri" panose="020F0502020204030204" pitchFamily="34" charset="0"/>
                <a:cs typeface="Kokila" panose="020B0604020202020204" pitchFamily="34" charset="0"/>
              </a:rPr>
              <a:t> </a:t>
            </a:r>
            <a:r>
              <a:rPr lang="en-IN" sz="2000" b="1" dirty="0" err="1">
                <a:latin typeface="Times New Roman" panose="02020603050405020304" pitchFamily="18" charset="0"/>
                <a:ea typeface="Calibri" panose="020F0502020204030204" pitchFamily="34" charset="0"/>
                <a:cs typeface="Kokila" panose="020B0604020202020204" pitchFamily="34" charset="0"/>
              </a:rPr>
              <a:t>Raat</a:t>
            </a:r>
            <a:endParaRPr lang="en-IN" dirty="0">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2000" b="1" dirty="0">
                <a:latin typeface="Times New Roman" panose="02020603050405020304" pitchFamily="18" charset="0"/>
                <a:ea typeface="Calibri" panose="020F0502020204030204" pitchFamily="34" charset="0"/>
                <a:cs typeface="Kokila" panose="020B0604020202020204" pitchFamily="34" charset="0"/>
              </a:rPr>
              <a:t>   - Genre: Poem</a:t>
            </a:r>
            <a:endParaRPr lang="en-IN" dirty="0">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2000" b="1" dirty="0">
                <a:latin typeface="Times New Roman" panose="02020603050405020304" pitchFamily="18" charset="0"/>
                <a:ea typeface="Calibri" panose="020F0502020204030204" pitchFamily="34" charset="0"/>
                <a:cs typeface="Kokila" panose="020B0604020202020204" pitchFamily="34" charset="0"/>
              </a:rPr>
              <a:t>   - Overview:</a:t>
            </a:r>
            <a:r>
              <a:rPr lang="en-IN" sz="2000" dirty="0">
                <a:latin typeface="Times New Roman" panose="02020603050405020304" pitchFamily="18" charset="0"/>
                <a:ea typeface="Calibri" panose="020F0502020204030204" pitchFamily="34" charset="0"/>
                <a:cs typeface="Kokila" panose="020B0604020202020204" pitchFamily="34" charset="0"/>
              </a:rPr>
              <a:t> A lyrical poem that captures the beauty and serenity of a moonlit night, reflecting on love and nature.</a:t>
            </a:r>
            <a:endParaRPr lang="en-IN" dirty="0">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2000" b="1" dirty="0">
                <a:latin typeface="Times New Roman" panose="02020603050405020304" pitchFamily="18" charset="0"/>
                <a:ea typeface="Calibri" panose="020F0502020204030204" pitchFamily="34" charset="0"/>
                <a:cs typeface="Kokila" panose="020B0604020202020204" pitchFamily="34" charset="0"/>
              </a:rPr>
              <a:t>   - Themes:</a:t>
            </a:r>
            <a:r>
              <a:rPr lang="en-IN" sz="2000" dirty="0">
                <a:latin typeface="Times New Roman" panose="02020603050405020304" pitchFamily="18" charset="0"/>
                <a:ea typeface="Calibri" panose="020F0502020204030204" pitchFamily="34" charset="0"/>
                <a:cs typeface="Kokila" panose="020B0604020202020204" pitchFamily="34" charset="0"/>
              </a:rPr>
              <a:t> The poem explores themes of romance, longing, and the connection between nature and human emotions.</a:t>
            </a:r>
            <a:endParaRPr lang="en-IN" dirty="0">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2000" b="1" dirty="0">
                <a:latin typeface="Times New Roman" panose="02020603050405020304" pitchFamily="18" charset="0"/>
                <a:ea typeface="Calibri" panose="020F0502020204030204" pitchFamily="34" charset="0"/>
                <a:cs typeface="Kokila" panose="020B0604020202020204" pitchFamily="34" charset="0"/>
              </a:rPr>
              <a:t>   - Significance:</a:t>
            </a:r>
            <a:r>
              <a:rPr lang="en-IN" sz="2000" dirty="0">
                <a:latin typeface="Times New Roman" panose="02020603050405020304" pitchFamily="18" charset="0"/>
                <a:ea typeface="Calibri" panose="020F0502020204030204" pitchFamily="34" charset="0"/>
                <a:cs typeface="Kokila" panose="020B0604020202020204" pitchFamily="34" charset="0"/>
              </a:rPr>
              <a:t> It showcases </a:t>
            </a:r>
            <a:r>
              <a:rPr lang="en-IN" sz="2000" dirty="0" err="1">
                <a:latin typeface="Times New Roman" panose="02020603050405020304" pitchFamily="18" charset="0"/>
                <a:ea typeface="Calibri" panose="020F0502020204030204" pitchFamily="34" charset="0"/>
                <a:cs typeface="Kokila" panose="020B0604020202020204" pitchFamily="34" charset="0"/>
              </a:rPr>
              <a:t>Bharatendu’s</a:t>
            </a:r>
            <a:r>
              <a:rPr lang="en-IN" sz="2000" dirty="0">
                <a:latin typeface="Times New Roman" panose="02020603050405020304" pitchFamily="18" charset="0"/>
                <a:ea typeface="Calibri" panose="020F0502020204030204" pitchFamily="34" charset="0"/>
                <a:cs typeface="Kokila" panose="020B0604020202020204" pitchFamily="34" charset="0"/>
              </a:rPr>
              <a:t> poetic sensibilities and his ability to evoke emotion through vivid imagery.</a:t>
            </a:r>
            <a:endParaRPr lang="en-IN" dirty="0">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2000" b="1" dirty="0">
                <a:latin typeface="Times New Roman" panose="02020603050405020304" pitchFamily="18" charset="0"/>
                <a:ea typeface="Calibri" panose="020F0502020204030204" pitchFamily="34" charset="0"/>
                <a:cs typeface="Kokila" panose="020B0604020202020204" pitchFamily="34" charset="0"/>
              </a:rPr>
              <a:t>5. Bharat </a:t>
            </a:r>
            <a:r>
              <a:rPr lang="en-IN" sz="2000" b="1" dirty="0" err="1">
                <a:latin typeface="Times New Roman" panose="02020603050405020304" pitchFamily="18" charset="0"/>
                <a:ea typeface="Calibri" panose="020F0502020204030204" pitchFamily="34" charset="0"/>
                <a:cs typeface="Kokila" panose="020B0604020202020204" pitchFamily="34" charset="0"/>
              </a:rPr>
              <a:t>Durdasha</a:t>
            </a:r>
            <a:endParaRPr lang="en-IN" dirty="0">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2000" b="1" dirty="0">
                <a:latin typeface="Times New Roman" panose="02020603050405020304" pitchFamily="18" charset="0"/>
                <a:ea typeface="Calibri" panose="020F0502020204030204" pitchFamily="34" charset="0"/>
                <a:cs typeface="Kokila" panose="020B0604020202020204" pitchFamily="34" charset="0"/>
              </a:rPr>
              <a:t>   - Genre: Poetry</a:t>
            </a:r>
            <a:endParaRPr lang="en-IN" dirty="0">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2000" b="1" dirty="0">
                <a:latin typeface="Times New Roman" panose="02020603050405020304" pitchFamily="18" charset="0"/>
                <a:ea typeface="Calibri" panose="020F0502020204030204" pitchFamily="34" charset="0"/>
                <a:cs typeface="Kokila" panose="020B0604020202020204" pitchFamily="34" charset="0"/>
              </a:rPr>
              <a:t>   - Overview:</a:t>
            </a:r>
            <a:r>
              <a:rPr lang="en-IN" sz="2000" dirty="0">
                <a:latin typeface="Times New Roman" panose="02020603050405020304" pitchFamily="18" charset="0"/>
                <a:ea typeface="Calibri" panose="020F0502020204030204" pitchFamily="34" charset="0"/>
                <a:cs typeface="Kokila" panose="020B0604020202020204" pitchFamily="34" charset="0"/>
              </a:rPr>
              <a:t> A poem that addresses the socio-political issues of the time, expressing a sense of nationalism and the desire for reform.</a:t>
            </a:r>
            <a:endParaRPr lang="en-IN" dirty="0">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2000" b="1" dirty="0">
                <a:latin typeface="Times New Roman" panose="02020603050405020304" pitchFamily="18" charset="0"/>
                <a:ea typeface="Calibri" panose="020F0502020204030204" pitchFamily="34" charset="0"/>
                <a:cs typeface="Kokila" panose="020B0604020202020204" pitchFamily="34" charset="0"/>
              </a:rPr>
              <a:t>   - Themes:</a:t>
            </a:r>
            <a:r>
              <a:rPr lang="en-IN" sz="2000" dirty="0">
                <a:latin typeface="Times New Roman" panose="02020603050405020304" pitchFamily="18" charset="0"/>
                <a:ea typeface="Calibri" panose="020F0502020204030204" pitchFamily="34" charset="0"/>
                <a:cs typeface="Kokila" panose="020B0604020202020204" pitchFamily="34" charset="0"/>
              </a:rPr>
              <a:t> The poem reflects on the plight of the nation and the importance of awakening national consciousness.</a:t>
            </a:r>
            <a:endParaRPr lang="en-IN" dirty="0">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2000" b="1" dirty="0">
                <a:latin typeface="Times New Roman" panose="02020603050405020304" pitchFamily="18" charset="0"/>
                <a:ea typeface="Calibri" panose="020F0502020204030204" pitchFamily="34" charset="0"/>
                <a:cs typeface="Kokila" panose="020B0604020202020204" pitchFamily="34" charset="0"/>
              </a:rPr>
              <a:t>   - Significance:</a:t>
            </a:r>
            <a:r>
              <a:rPr lang="en-IN" sz="2000" dirty="0">
                <a:latin typeface="Times New Roman" panose="02020603050405020304" pitchFamily="18" charset="0"/>
                <a:ea typeface="Calibri" panose="020F0502020204030204" pitchFamily="34" charset="0"/>
                <a:cs typeface="Kokila" panose="020B0604020202020204" pitchFamily="34" charset="0"/>
              </a:rPr>
              <a:t> It is an early expression of nationalist sentiment in Hindi literature, highlighting </a:t>
            </a:r>
            <a:r>
              <a:rPr lang="en-IN" sz="2000" dirty="0" err="1">
                <a:latin typeface="Times New Roman" panose="02020603050405020304" pitchFamily="18" charset="0"/>
                <a:ea typeface="Calibri" panose="020F0502020204030204" pitchFamily="34" charset="0"/>
                <a:cs typeface="Kokila" panose="020B0604020202020204" pitchFamily="34" charset="0"/>
              </a:rPr>
              <a:t>Bharatendu’s</a:t>
            </a:r>
            <a:r>
              <a:rPr lang="en-IN" sz="2000" dirty="0">
                <a:latin typeface="Times New Roman" panose="02020603050405020304" pitchFamily="18" charset="0"/>
                <a:ea typeface="Calibri" panose="020F0502020204030204" pitchFamily="34" charset="0"/>
                <a:cs typeface="Kokila" panose="020B0604020202020204" pitchFamily="34" charset="0"/>
              </a:rPr>
              <a:t> role in inspiring social change.</a:t>
            </a:r>
            <a:endParaRPr lang="en-IN" dirty="0">
              <a:effectLst/>
              <a:latin typeface="Calibri" panose="020F0502020204030204" pitchFamily="34" charset="0"/>
              <a:ea typeface="Calibri" panose="020F0502020204030204" pitchFamily="34" charset="0"/>
              <a:cs typeface="Kokila" panose="020B0604020202020204" pitchFamily="34" charset="0"/>
            </a:endParaRPr>
          </a:p>
        </p:txBody>
      </p:sp>
    </p:spTree>
    <p:extLst>
      <p:ext uri="{BB962C8B-B14F-4D97-AF65-F5344CB8AC3E}">
        <p14:creationId xmlns:p14="http://schemas.microsoft.com/office/powerpoint/2010/main" val="32294110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9817" y="25860"/>
            <a:ext cx="11821886" cy="6464205"/>
          </a:xfrm>
          <a:prstGeom prst="rect">
            <a:avLst/>
          </a:prstGeom>
        </p:spPr>
        <p:txBody>
          <a:bodyPr wrap="square">
            <a:spAutoFit/>
          </a:bodyPr>
          <a:lstStyle/>
          <a:p>
            <a:pPr algn="just">
              <a:lnSpc>
                <a:spcPct val="107000"/>
              </a:lnSpc>
              <a:spcAft>
                <a:spcPts val="800"/>
              </a:spcAft>
            </a:pPr>
            <a:r>
              <a:rPr lang="en-IN" b="1" dirty="0">
                <a:latin typeface="Times New Roman" panose="02020603050405020304" pitchFamily="18" charset="0"/>
                <a:ea typeface="Calibri" panose="020F0502020204030204" pitchFamily="34" charset="0"/>
                <a:cs typeface="Kokila" panose="020B0604020202020204" pitchFamily="34" charset="0"/>
              </a:rPr>
              <a:t>6. </a:t>
            </a:r>
            <a:r>
              <a:rPr lang="en-IN" b="1" dirty="0" err="1">
                <a:latin typeface="Times New Roman" panose="02020603050405020304" pitchFamily="18" charset="0"/>
                <a:ea typeface="Calibri" panose="020F0502020204030204" pitchFamily="34" charset="0"/>
                <a:cs typeface="Kokila" panose="020B0604020202020204" pitchFamily="34" charset="0"/>
              </a:rPr>
              <a:t>Ghar-Jaagran</a:t>
            </a:r>
            <a:endParaRPr lang="en-IN" sz="1600" dirty="0">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b="1" dirty="0">
                <a:latin typeface="Times New Roman" panose="02020603050405020304" pitchFamily="18" charset="0"/>
                <a:ea typeface="Calibri" panose="020F0502020204030204" pitchFamily="34" charset="0"/>
                <a:cs typeface="Kokila" panose="020B0604020202020204" pitchFamily="34" charset="0"/>
              </a:rPr>
              <a:t>   - Genre: Poem</a:t>
            </a:r>
            <a:endParaRPr lang="en-IN" sz="1600" dirty="0">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b="1" dirty="0">
                <a:latin typeface="Times New Roman" panose="02020603050405020304" pitchFamily="18" charset="0"/>
                <a:ea typeface="Calibri" panose="020F0502020204030204" pitchFamily="34" charset="0"/>
                <a:cs typeface="Kokila" panose="020B0604020202020204" pitchFamily="34" charset="0"/>
              </a:rPr>
              <a:t>   - Overview:</a:t>
            </a:r>
            <a:r>
              <a:rPr lang="en-IN" dirty="0">
                <a:latin typeface="Times New Roman" panose="02020603050405020304" pitchFamily="18" charset="0"/>
                <a:ea typeface="Calibri" panose="020F0502020204030204" pitchFamily="34" charset="0"/>
                <a:cs typeface="Kokila" panose="020B0604020202020204" pitchFamily="34" charset="0"/>
              </a:rPr>
              <a:t> A poem that emphasizes the importance of education and social reform, urging people to awaken to their responsibilities.</a:t>
            </a:r>
            <a:endParaRPr lang="en-IN" sz="1600" dirty="0">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b="1" dirty="0">
                <a:latin typeface="Times New Roman" panose="02020603050405020304" pitchFamily="18" charset="0"/>
                <a:ea typeface="Calibri" panose="020F0502020204030204" pitchFamily="34" charset="0"/>
                <a:cs typeface="Kokila" panose="020B0604020202020204" pitchFamily="34" charset="0"/>
              </a:rPr>
              <a:t>   - Themes:</a:t>
            </a:r>
            <a:r>
              <a:rPr lang="en-IN" dirty="0">
                <a:latin typeface="Times New Roman" panose="02020603050405020304" pitchFamily="18" charset="0"/>
                <a:ea typeface="Calibri" panose="020F0502020204030204" pitchFamily="34" charset="0"/>
                <a:cs typeface="Kokila" panose="020B0604020202020204" pitchFamily="34" charset="0"/>
              </a:rPr>
              <a:t> Education, social awareness, and the empowerment of the individual are central to this work.</a:t>
            </a:r>
            <a:endParaRPr lang="en-IN" sz="1600" dirty="0">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b="1" dirty="0">
                <a:latin typeface="Times New Roman" panose="02020603050405020304" pitchFamily="18" charset="0"/>
                <a:ea typeface="Calibri" panose="020F0502020204030204" pitchFamily="34" charset="0"/>
                <a:cs typeface="Kokila" panose="020B0604020202020204" pitchFamily="34" charset="0"/>
              </a:rPr>
              <a:t>   - Significance:</a:t>
            </a:r>
            <a:r>
              <a:rPr lang="en-IN" dirty="0">
                <a:latin typeface="Times New Roman" panose="02020603050405020304" pitchFamily="18" charset="0"/>
                <a:ea typeface="Calibri" panose="020F0502020204030204" pitchFamily="34" charset="0"/>
                <a:cs typeface="Kokila" panose="020B0604020202020204" pitchFamily="34" charset="0"/>
              </a:rPr>
              <a:t> It reflects </a:t>
            </a:r>
            <a:r>
              <a:rPr lang="en-IN" dirty="0" err="1">
                <a:latin typeface="Times New Roman" panose="02020603050405020304" pitchFamily="18" charset="0"/>
                <a:ea typeface="Calibri" panose="020F0502020204030204" pitchFamily="34" charset="0"/>
                <a:cs typeface="Kokila" panose="020B0604020202020204" pitchFamily="34" charset="0"/>
              </a:rPr>
              <a:t>Bharatendu’s</a:t>
            </a:r>
            <a:r>
              <a:rPr lang="en-IN" dirty="0">
                <a:latin typeface="Times New Roman" panose="02020603050405020304" pitchFamily="18" charset="0"/>
                <a:ea typeface="Calibri" panose="020F0502020204030204" pitchFamily="34" charset="0"/>
                <a:cs typeface="Kokila" panose="020B0604020202020204" pitchFamily="34" charset="0"/>
              </a:rPr>
              <a:t> commitment to social reform and his belief in the transformative power of education.</a:t>
            </a:r>
            <a:endParaRPr lang="en-IN" sz="1600" dirty="0">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b="1" dirty="0">
                <a:latin typeface="Times New Roman" panose="02020603050405020304" pitchFamily="18" charset="0"/>
                <a:ea typeface="Calibri" panose="020F0502020204030204" pitchFamily="34" charset="0"/>
                <a:cs typeface="Kokila" panose="020B0604020202020204" pitchFamily="34" charset="0"/>
              </a:rPr>
              <a:t>7. Rani </a:t>
            </a:r>
            <a:r>
              <a:rPr lang="en-IN" b="1" dirty="0" err="1">
                <a:latin typeface="Times New Roman" panose="02020603050405020304" pitchFamily="18" charset="0"/>
                <a:ea typeface="Calibri" panose="020F0502020204030204" pitchFamily="34" charset="0"/>
                <a:cs typeface="Kokila" panose="020B0604020202020204" pitchFamily="34" charset="0"/>
              </a:rPr>
              <a:t>Kankavati</a:t>
            </a:r>
            <a:endParaRPr lang="en-IN" sz="1600" dirty="0">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b="1" dirty="0">
                <a:latin typeface="Times New Roman" panose="02020603050405020304" pitchFamily="18" charset="0"/>
                <a:ea typeface="Calibri" panose="020F0502020204030204" pitchFamily="34" charset="0"/>
                <a:cs typeface="Kokila" panose="020B0604020202020204" pitchFamily="34" charset="0"/>
              </a:rPr>
              <a:t>   - Genre: Historical Drama</a:t>
            </a:r>
            <a:endParaRPr lang="en-IN" sz="1600" dirty="0">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b="1" dirty="0">
                <a:latin typeface="Times New Roman" panose="02020603050405020304" pitchFamily="18" charset="0"/>
                <a:ea typeface="Calibri" panose="020F0502020204030204" pitchFamily="34" charset="0"/>
                <a:cs typeface="Kokila" panose="020B0604020202020204" pitchFamily="34" charset="0"/>
              </a:rPr>
              <a:t>   - Overview:</a:t>
            </a:r>
            <a:r>
              <a:rPr lang="en-IN" dirty="0">
                <a:latin typeface="Times New Roman" panose="02020603050405020304" pitchFamily="18" charset="0"/>
                <a:ea typeface="Calibri" panose="020F0502020204030204" pitchFamily="34" charset="0"/>
                <a:cs typeface="Kokila" panose="020B0604020202020204" pitchFamily="34" charset="0"/>
              </a:rPr>
              <a:t> A historical play based on the life of Rani </a:t>
            </a:r>
            <a:r>
              <a:rPr lang="en-IN" dirty="0" err="1">
                <a:latin typeface="Times New Roman" panose="02020603050405020304" pitchFamily="18" charset="0"/>
                <a:ea typeface="Calibri" panose="020F0502020204030204" pitchFamily="34" charset="0"/>
                <a:cs typeface="Kokila" panose="020B0604020202020204" pitchFamily="34" charset="0"/>
              </a:rPr>
              <a:t>Kankavati</a:t>
            </a:r>
            <a:r>
              <a:rPr lang="en-IN" dirty="0">
                <a:latin typeface="Times New Roman" panose="02020603050405020304" pitchFamily="18" charset="0"/>
                <a:ea typeface="Calibri" panose="020F0502020204030204" pitchFamily="34" charset="0"/>
                <a:cs typeface="Kokila" panose="020B0604020202020204" pitchFamily="34" charset="0"/>
              </a:rPr>
              <a:t>, it explores themes of loyalty, sacrifice, and bravery.</a:t>
            </a:r>
            <a:endParaRPr lang="en-IN" sz="1600" dirty="0">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b="1" dirty="0">
                <a:latin typeface="Times New Roman" panose="02020603050405020304" pitchFamily="18" charset="0"/>
                <a:ea typeface="Calibri" panose="020F0502020204030204" pitchFamily="34" charset="0"/>
                <a:cs typeface="Kokila" panose="020B0604020202020204" pitchFamily="34" charset="0"/>
              </a:rPr>
              <a:t>   - Themes:</a:t>
            </a:r>
            <a:r>
              <a:rPr lang="en-IN" dirty="0">
                <a:latin typeface="Times New Roman" panose="02020603050405020304" pitchFamily="18" charset="0"/>
                <a:ea typeface="Calibri" panose="020F0502020204030204" pitchFamily="34" charset="0"/>
                <a:cs typeface="Kokila" panose="020B0604020202020204" pitchFamily="34" charset="0"/>
              </a:rPr>
              <a:t> The play delves into the challenges faced by women in society and their role in history.</a:t>
            </a:r>
            <a:endParaRPr lang="en-IN" sz="1600" dirty="0">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b="1" dirty="0">
                <a:latin typeface="Times New Roman" panose="02020603050405020304" pitchFamily="18" charset="0"/>
                <a:ea typeface="Calibri" panose="020F0502020204030204" pitchFamily="34" charset="0"/>
                <a:cs typeface="Kokila" panose="020B0604020202020204" pitchFamily="34" charset="0"/>
              </a:rPr>
              <a:t>   - Significance:</a:t>
            </a:r>
            <a:r>
              <a:rPr lang="en-IN" dirty="0">
                <a:latin typeface="Times New Roman" panose="02020603050405020304" pitchFamily="18" charset="0"/>
                <a:ea typeface="Calibri" panose="020F0502020204030204" pitchFamily="34" charset="0"/>
                <a:cs typeface="Kokila" panose="020B0604020202020204" pitchFamily="34" charset="0"/>
              </a:rPr>
              <a:t> It highlights </a:t>
            </a:r>
            <a:r>
              <a:rPr lang="en-IN" dirty="0" err="1">
                <a:latin typeface="Times New Roman" panose="02020603050405020304" pitchFamily="18" charset="0"/>
                <a:ea typeface="Calibri" panose="020F0502020204030204" pitchFamily="34" charset="0"/>
                <a:cs typeface="Kokila" panose="020B0604020202020204" pitchFamily="34" charset="0"/>
              </a:rPr>
              <a:t>Bharatendu’s</a:t>
            </a:r>
            <a:r>
              <a:rPr lang="en-IN" dirty="0">
                <a:latin typeface="Times New Roman" panose="02020603050405020304" pitchFamily="18" charset="0"/>
                <a:ea typeface="Calibri" panose="020F0502020204030204" pitchFamily="34" charset="0"/>
                <a:cs typeface="Kokila" panose="020B0604020202020204" pitchFamily="34" charset="0"/>
              </a:rPr>
              <a:t> interest in historical narratives and the portrayal of strong female characters.</a:t>
            </a:r>
            <a:endParaRPr lang="en-IN" sz="1600" dirty="0">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b="1" dirty="0">
                <a:latin typeface="Times New Roman" panose="02020603050405020304" pitchFamily="18" charset="0"/>
                <a:ea typeface="Calibri" panose="020F0502020204030204" pitchFamily="34" charset="0"/>
                <a:cs typeface="Kokila" panose="020B0604020202020204" pitchFamily="34" charset="0"/>
              </a:rPr>
              <a:t>Literary Style</a:t>
            </a:r>
            <a:endParaRPr lang="en-IN" sz="1600" dirty="0">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b="1" dirty="0">
                <a:latin typeface="Times New Roman" panose="02020603050405020304" pitchFamily="18" charset="0"/>
                <a:ea typeface="Calibri" panose="020F0502020204030204" pitchFamily="34" charset="0"/>
                <a:cs typeface="Kokila" panose="020B0604020202020204" pitchFamily="34" charset="0"/>
              </a:rPr>
              <a:t>- Prose and Poetry:</a:t>
            </a:r>
            <a:r>
              <a:rPr lang="en-IN" dirty="0">
                <a:latin typeface="Times New Roman" panose="02020603050405020304" pitchFamily="18" charset="0"/>
                <a:ea typeface="Calibri" panose="020F0502020204030204" pitchFamily="34" charset="0"/>
                <a:cs typeface="Kokila" panose="020B0604020202020204" pitchFamily="34" charset="0"/>
              </a:rPr>
              <a:t> </a:t>
            </a:r>
            <a:r>
              <a:rPr lang="en-IN" dirty="0" err="1">
                <a:latin typeface="Times New Roman" panose="02020603050405020304" pitchFamily="18" charset="0"/>
                <a:ea typeface="Calibri" panose="020F0502020204030204" pitchFamily="34" charset="0"/>
                <a:cs typeface="Kokila" panose="020B0604020202020204" pitchFamily="34" charset="0"/>
              </a:rPr>
              <a:t>Bharatendu’s</a:t>
            </a:r>
            <a:r>
              <a:rPr lang="en-IN" dirty="0">
                <a:latin typeface="Times New Roman" panose="02020603050405020304" pitchFamily="18" charset="0"/>
                <a:ea typeface="Calibri" panose="020F0502020204030204" pitchFamily="34" charset="0"/>
                <a:cs typeface="Kokila" panose="020B0604020202020204" pitchFamily="34" charset="0"/>
              </a:rPr>
              <a:t> works span both prose and poetry, showcasing his versatility as a writer.</a:t>
            </a:r>
            <a:endParaRPr lang="en-IN" sz="1600" dirty="0">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b="1" dirty="0">
                <a:latin typeface="Times New Roman" panose="02020603050405020304" pitchFamily="18" charset="0"/>
                <a:ea typeface="Calibri" panose="020F0502020204030204" pitchFamily="34" charset="0"/>
                <a:cs typeface="Kokila" panose="020B0604020202020204" pitchFamily="34" charset="0"/>
              </a:rPr>
              <a:t>- Social Commentary:</a:t>
            </a:r>
            <a:r>
              <a:rPr lang="en-IN" dirty="0">
                <a:latin typeface="Times New Roman" panose="02020603050405020304" pitchFamily="18" charset="0"/>
                <a:ea typeface="Calibri" panose="020F0502020204030204" pitchFamily="34" charset="0"/>
                <a:cs typeface="Kokila" panose="020B0604020202020204" pitchFamily="34" charset="0"/>
              </a:rPr>
              <a:t> His writings often contain sharp social critique, reflecting his deep concern for societal issues and the need for reform.</a:t>
            </a:r>
            <a:endParaRPr lang="en-IN" sz="1600" dirty="0">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b="1" dirty="0">
                <a:latin typeface="Times New Roman" panose="02020603050405020304" pitchFamily="18" charset="0"/>
                <a:ea typeface="Calibri" panose="020F0502020204030204" pitchFamily="34" charset="0"/>
                <a:cs typeface="Kokila" panose="020B0604020202020204" pitchFamily="34" charset="0"/>
              </a:rPr>
              <a:t>- Emotional Depth:</a:t>
            </a:r>
            <a:r>
              <a:rPr lang="en-IN" dirty="0">
                <a:latin typeface="Times New Roman" panose="02020603050405020304" pitchFamily="18" charset="0"/>
                <a:ea typeface="Calibri" panose="020F0502020204030204" pitchFamily="34" charset="0"/>
                <a:cs typeface="Kokila" panose="020B0604020202020204" pitchFamily="34" charset="0"/>
              </a:rPr>
              <a:t> He adeptly uses emotion and imagery to connect with readers, making his themes resonate on a personal level.</a:t>
            </a:r>
            <a:endParaRPr lang="en-IN" sz="1600" dirty="0">
              <a:effectLst/>
              <a:latin typeface="Calibri" panose="020F0502020204030204" pitchFamily="34" charset="0"/>
              <a:ea typeface="Calibri" panose="020F0502020204030204" pitchFamily="34" charset="0"/>
              <a:cs typeface="Kokila" panose="020B0604020202020204" pitchFamily="34" charset="0"/>
            </a:endParaRPr>
          </a:p>
        </p:txBody>
      </p:sp>
    </p:spTree>
    <p:extLst>
      <p:ext uri="{BB962C8B-B14F-4D97-AF65-F5344CB8AC3E}">
        <p14:creationId xmlns:p14="http://schemas.microsoft.com/office/powerpoint/2010/main" val="32036598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65759" y="585081"/>
            <a:ext cx="11390811" cy="4930773"/>
          </a:xfrm>
          <a:prstGeom prst="rect">
            <a:avLst/>
          </a:prstGeom>
        </p:spPr>
        <p:txBody>
          <a:bodyPr wrap="square">
            <a:spAutoFit/>
          </a:bodyPr>
          <a:lstStyle/>
          <a:p>
            <a:pPr algn="just">
              <a:lnSpc>
                <a:spcPct val="107000"/>
              </a:lnSpc>
              <a:spcAft>
                <a:spcPts val="800"/>
              </a:spcAft>
            </a:pPr>
            <a:r>
              <a:rPr lang="en-IN" sz="2400" b="1" dirty="0">
                <a:latin typeface="Times New Roman" panose="02020603050405020304" pitchFamily="18" charset="0"/>
                <a:ea typeface="Calibri" panose="020F0502020204030204" pitchFamily="34" charset="0"/>
                <a:cs typeface="Kokila" panose="020B0604020202020204" pitchFamily="34" charset="0"/>
              </a:rPr>
              <a:t>6. </a:t>
            </a:r>
            <a:r>
              <a:rPr lang="en-IN" sz="2400" b="1" dirty="0" err="1">
                <a:latin typeface="Times New Roman" panose="02020603050405020304" pitchFamily="18" charset="0"/>
                <a:ea typeface="Calibri" panose="020F0502020204030204" pitchFamily="34" charset="0"/>
                <a:cs typeface="Kokila" panose="020B0604020202020204" pitchFamily="34" charset="0"/>
              </a:rPr>
              <a:t>Kautilya’s</a:t>
            </a:r>
            <a:r>
              <a:rPr lang="en-IN" sz="2400" b="1" dirty="0">
                <a:latin typeface="Times New Roman" panose="02020603050405020304" pitchFamily="18" charset="0"/>
                <a:ea typeface="Calibri" panose="020F0502020204030204" pitchFamily="34" charset="0"/>
                <a:cs typeface="Kokila" panose="020B0604020202020204" pitchFamily="34" charset="0"/>
              </a:rPr>
              <a:t> </a:t>
            </a:r>
            <a:r>
              <a:rPr lang="en-IN" sz="2400" b="1" dirty="0" err="1">
                <a:latin typeface="Times New Roman" panose="02020603050405020304" pitchFamily="18" charset="0"/>
                <a:ea typeface="Calibri" panose="020F0502020204030204" pitchFamily="34" charset="0"/>
                <a:cs typeface="Kokila" panose="020B0604020202020204" pitchFamily="34" charset="0"/>
              </a:rPr>
              <a:t>Arthashastra</a:t>
            </a:r>
            <a:endParaRPr lang="en-IN" dirty="0">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2000" b="1" dirty="0">
                <a:latin typeface="Times New Roman" panose="02020603050405020304" pitchFamily="18" charset="0"/>
                <a:ea typeface="Calibri" panose="020F0502020204030204" pitchFamily="34" charset="0"/>
                <a:cs typeface="Kokila" panose="020B0604020202020204" pitchFamily="34" charset="0"/>
              </a:rPr>
              <a:t>Overview:</a:t>
            </a:r>
            <a:endParaRPr lang="en-IN" dirty="0">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2000" dirty="0">
                <a:latin typeface="Times New Roman" panose="02020603050405020304" pitchFamily="18" charset="0"/>
                <a:ea typeface="Calibri" panose="020F0502020204030204" pitchFamily="34" charset="0"/>
                <a:cs typeface="Kokila" panose="020B0604020202020204" pitchFamily="34" charset="0"/>
              </a:rPr>
              <a:t>- The </a:t>
            </a:r>
            <a:r>
              <a:rPr lang="en-IN" sz="2000" dirty="0" err="1">
                <a:latin typeface="Times New Roman" panose="02020603050405020304" pitchFamily="18" charset="0"/>
                <a:ea typeface="Calibri" panose="020F0502020204030204" pitchFamily="34" charset="0"/>
                <a:cs typeface="Kokila" panose="020B0604020202020204" pitchFamily="34" charset="0"/>
              </a:rPr>
              <a:t>Arthashastra</a:t>
            </a:r>
            <a:r>
              <a:rPr lang="en-IN" sz="2000" dirty="0">
                <a:latin typeface="Times New Roman" panose="02020603050405020304" pitchFamily="18" charset="0"/>
                <a:ea typeface="Calibri" panose="020F0502020204030204" pitchFamily="34" charset="0"/>
                <a:cs typeface="Kokila" panose="020B0604020202020204" pitchFamily="34" charset="0"/>
              </a:rPr>
              <a:t>, attributed to </a:t>
            </a:r>
            <a:r>
              <a:rPr lang="en-IN" sz="2000" dirty="0" err="1">
                <a:latin typeface="Times New Roman" panose="02020603050405020304" pitchFamily="18" charset="0"/>
                <a:ea typeface="Calibri" panose="020F0502020204030204" pitchFamily="34" charset="0"/>
                <a:cs typeface="Kokila" panose="020B0604020202020204" pitchFamily="34" charset="0"/>
              </a:rPr>
              <a:t>Kautilya</a:t>
            </a:r>
            <a:r>
              <a:rPr lang="en-IN" sz="2000" dirty="0">
                <a:latin typeface="Times New Roman" panose="02020603050405020304" pitchFamily="18" charset="0"/>
                <a:ea typeface="Calibri" panose="020F0502020204030204" pitchFamily="34" charset="0"/>
                <a:cs typeface="Kokila" panose="020B0604020202020204" pitchFamily="34" charset="0"/>
              </a:rPr>
              <a:t> (also known as </a:t>
            </a:r>
            <a:r>
              <a:rPr lang="en-IN" sz="2000" dirty="0" err="1">
                <a:latin typeface="Times New Roman" panose="02020603050405020304" pitchFamily="18" charset="0"/>
                <a:ea typeface="Calibri" panose="020F0502020204030204" pitchFamily="34" charset="0"/>
                <a:cs typeface="Kokila" panose="020B0604020202020204" pitchFamily="34" charset="0"/>
              </a:rPr>
              <a:t>Chanakya</a:t>
            </a:r>
            <a:r>
              <a:rPr lang="en-IN" sz="2000" dirty="0">
                <a:latin typeface="Times New Roman" panose="02020603050405020304" pitchFamily="18" charset="0"/>
                <a:ea typeface="Calibri" panose="020F0502020204030204" pitchFamily="34" charset="0"/>
                <a:cs typeface="Kokila" panose="020B0604020202020204" pitchFamily="34" charset="0"/>
              </a:rPr>
              <a:t>), is an ancient Indian treatise on statecraft, economic policy, and military strategy, composed in the 4th century BCE.</a:t>
            </a:r>
            <a:endParaRPr lang="en-IN" dirty="0">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2000" b="1" dirty="0">
                <a:latin typeface="Times New Roman" panose="02020603050405020304" pitchFamily="18" charset="0"/>
                <a:ea typeface="Calibri" panose="020F0502020204030204" pitchFamily="34" charset="0"/>
                <a:cs typeface="Kokila" panose="020B0604020202020204" pitchFamily="34" charset="0"/>
              </a:rPr>
              <a:t>Content and Structure:</a:t>
            </a:r>
            <a:endParaRPr lang="en-IN" dirty="0">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2000" dirty="0">
                <a:latin typeface="Times New Roman" panose="02020603050405020304" pitchFamily="18" charset="0"/>
                <a:ea typeface="Calibri" panose="020F0502020204030204" pitchFamily="34" charset="0"/>
                <a:cs typeface="Kokila" panose="020B0604020202020204" pitchFamily="34" charset="0"/>
              </a:rPr>
              <a:t>- The text is divided into 15 books, covering a wide range of topics:</a:t>
            </a:r>
            <a:endParaRPr lang="en-IN" dirty="0">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2000" b="1" dirty="0">
                <a:latin typeface="Times New Roman" panose="02020603050405020304" pitchFamily="18" charset="0"/>
                <a:ea typeface="Calibri" panose="020F0502020204030204" pitchFamily="34" charset="0"/>
                <a:cs typeface="Kokila" panose="020B0604020202020204" pitchFamily="34" charset="0"/>
              </a:rPr>
              <a:t>  1. Philosophy of Politics:</a:t>
            </a:r>
            <a:r>
              <a:rPr lang="en-IN" sz="2000" dirty="0">
                <a:latin typeface="Times New Roman" panose="02020603050405020304" pitchFamily="18" charset="0"/>
                <a:ea typeface="Calibri" panose="020F0502020204030204" pitchFamily="34" charset="0"/>
                <a:cs typeface="Kokila" panose="020B0604020202020204" pitchFamily="34" charset="0"/>
              </a:rPr>
              <a:t> Discusses the role of the king, the importance of dharma (duty), and the nature of power.</a:t>
            </a:r>
            <a:endParaRPr lang="en-IN" dirty="0">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2000" b="1" dirty="0">
                <a:latin typeface="Times New Roman" panose="02020603050405020304" pitchFamily="18" charset="0"/>
                <a:ea typeface="Calibri" panose="020F0502020204030204" pitchFamily="34" charset="0"/>
                <a:cs typeface="Kokila" panose="020B0604020202020204" pitchFamily="34" charset="0"/>
              </a:rPr>
              <a:t>  2. War and Peace:</a:t>
            </a:r>
            <a:r>
              <a:rPr lang="en-IN" sz="2000" dirty="0">
                <a:latin typeface="Times New Roman" panose="02020603050405020304" pitchFamily="18" charset="0"/>
                <a:ea typeface="Calibri" panose="020F0502020204030204" pitchFamily="34" charset="0"/>
                <a:cs typeface="Kokila" panose="020B0604020202020204" pitchFamily="34" charset="0"/>
              </a:rPr>
              <a:t> Strategies for warfare, the importance of intelligence and espionage, and conditions for peace treaties.</a:t>
            </a:r>
            <a:endParaRPr lang="en-IN" dirty="0">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2000" b="1" dirty="0">
                <a:latin typeface="Times New Roman" panose="02020603050405020304" pitchFamily="18" charset="0"/>
                <a:ea typeface="Calibri" panose="020F0502020204030204" pitchFamily="34" charset="0"/>
                <a:cs typeface="Kokila" panose="020B0604020202020204" pitchFamily="34" charset="0"/>
              </a:rPr>
              <a:t>  3. Economics:</a:t>
            </a:r>
            <a:r>
              <a:rPr lang="en-IN" sz="2000" dirty="0">
                <a:latin typeface="Times New Roman" panose="02020603050405020304" pitchFamily="18" charset="0"/>
                <a:ea typeface="Calibri" panose="020F0502020204030204" pitchFamily="34" charset="0"/>
                <a:cs typeface="Kokila" panose="020B0604020202020204" pitchFamily="34" charset="0"/>
              </a:rPr>
              <a:t> Insights on trade, agriculture, taxation, and management of resources.</a:t>
            </a:r>
            <a:endParaRPr lang="en-IN" dirty="0">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2000" b="1" dirty="0">
                <a:latin typeface="Times New Roman" panose="02020603050405020304" pitchFamily="18" charset="0"/>
                <a:ea typeface="Calibri" panose="020F0502020204030204" pitchFamily="34" charset="0"/>
                <a:cs typeface="Kokila" panose="020B0604020202020204" pitchFamily="34" charset="0"/>
              </a:rPr>
              <a:t>  4. Diplomacy:</a:t>
            </a:r>
            <a:r>
              <a:rPr lang="en-IN" sz="2000" dirty="0">
                <a:latin typeface="Times New Roman" panose="02020603050405020304" pitchFamily="18" charset="0"/>
                <a:ea typeface="Calibri" panose="020F0502020204030204" pitchFamily="34" charset="0"/>
                <a:cs typeface="Kokila" panose="020B0604020202020204" pitchFamily="34" charset="0"/>
              </a:rPr>
              <a:t> Emphasizes the importance of diplomacy, alliances, and the role of spies in governance.</a:t>
            </a:r>
            <a:endParaRPr lang="en-IN" dirty="0">
              <a:effectLst/>
              <a:latin typeface="Calibri" panose="020F0502020204030204" pitchFamily="34" charset="0"/>
              <a:ea typeface="Calibri" panose="020F0502020204030204" pitchFamily="34" charset="0"/>
              <a:cs typeface="Kokila" panose="020B0604020202020204" pitchFamily="34" charset="0"/>
            </a:endParaRPr>
          </a:p>
        </p:txBody>
      </p:sp>
    </p:spTree>
    <p:extLst>
      <p:ext uri="{BB962C8B-B14F-4D97-AF65-F5344CB8AC3E}">
        <p14:creationId xmlns:p14="http://schemas.microsoft.com/office/powerpoint/2010/main" val="9199489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09897" y="841302"/>
            <a:ext cx="10711543" cy="3561488"/>
          </a:xfrm>
          <a:prstGeom prst="rect">
            <a:avLst/>
          </a:prstGeom>
        </p:spPr>
        <p:txBody>
          <a:bodyPr wrap="square">
            <a:spAutoFit/>
          </a:bodyPr>
          <a:lstStyle/>
          <a:p>
            <a:pPr algn="just">
              <a:lnSpc>
                <a:spcPct val="107000"/>
              </a:lnSpc>
              <a:spcAft>
                <a:spcPts val="800"/>
              </a:spcAft>
            </a:pPr>
            <a:r>
              <a:rPr lang="en-IN" sz="2400" b="1" dirty="0">
                <a:latin typeface="Times New Roman" panose="02020603050405020304" pitchFamily="18" charset="0"/>
                <a:ea typeface="Calibri" panose="020F0502020204030204" pitchFamily="34" charset="0"/>
                <a:cs typeface="Kokila" panose="020B0604020202020204" pitchFamily="34" charset="0"/>
              </a:rPr>
              <a:t>Key Themes:</a:t>
            </a:r>
            <a:endParaRPr lang="en-IN" sz="2000" dirty="0">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2400" b="1" dirty="0">
                <a:latin typeface="Times New Roman" panose="02020603050405020304" pitchFamily="18" charset="0"/>
                <a:ea typeface="Calibri" panose="020F0502020204030204" pitchFamily="34" charset="0"/>
                <a:cs typeface="Kokila" panose="020B0604020202020204" pitchFamily="34" charset="0"/>
              </a:rPr>
              <a:t>- Realpolitik:</a:t>
            </a:r>
            <a:r>
              <a:rPr lang="en-IN" sz="2400" dirty="0">
                <a:latin typeface="Times New Roman" panose="02020603050405020304" pitchFamily="18" charset="0"/>
                <a:ea typeface="Calibri" panose="020F0502020204030204" pitchFamily="34" charset="0"/>
                <a:cs typeface="Kokila" panose="020B0604020202020204" pitchFamily="34" charset="0"/>
              </a:rPr>
              <a:t> </a:t>
            </a:r>
            <a:r>
              <a:rPr lang="en-IN" sz="2400" dirty="0" err="1">
                <a:latin typeface="Times New Roman" panose="02020603050405020304" pitchFamily="18" charset="0"/>
                <a:ea typeface="Calibri" panose="020F0502020204030204" pitchFamily="34" charset="0"/>
                <a:cs typeface="Kokila" panose="020B0604020202020204" pitchFamily="34" charset="0"/>
              </a:rPr>
              <a:t>Kautilya’s</a:t>
            </a:r>
            <a:r>
              <a:rPr lang="en-IN" sz="2400" dirty="0">
                <a:latin typeface="Times New Roman" panose="02020603050405020304" pitchFamily="18" charset="0"/>
                <a:ea typeface="Calibri" panose="020F0502020204030204" pitchFamily="34" charset="0"/>
                <a:cs typeface="Kokila" panose="020B0604020202020204" pitchFamily="34" charset="0"/>
              </a:rPr>
              <a:t> approach is often viewed as pragmatic and sometimes ruthless, emphasizing the need for a ruler to be shrewd and adaptable.</a:t>
            </a:r>
            <a:endParaRPr lang="en-IN" sz="2000" dirty="0">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2400" b="1" dirty="0">
                <a:latin typeface="Times New Roman" panose="02020603050405020304" pitchFamily="18" charset="0"/>
                <a:ea typeface="Calibri" panose="020F0502020204030204" pitchFamily="34" charset="0"/>
                <a:cs typeface="Kokila" panose="020B0604020202020204" pitchFamily="34" charset="0"/>
              </a:rPr>
              <a:t>- Statecraft:</a:t>
            </a:r>
            <a:r>
              <a:rPr lang="en-IN" sz="2400" dirty="0">
                <a:latin typeface="Times New Roman" panose="02020603050405020304" pitchFamily="18" charset="0"/>
                <a:ea typeface="Calibri" panose="020F0502020204030204" pitchFamily="34" charset="0"/>
                <a:cs typeface="Kokila" panose="020B0604020202020204" pitchFamily="34" charset="0"/>
              </a:rPr>
              <a:t> The text elaborates on the qualities of an ideal ruler and the importance of political acumen and strategy in governance.</a:t>
            </a:r>
            <a:endParaRPr lang="en-IN" sz="2000" dirty="0">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2400" b="1" dirty="0">
                <a:latin typeface="Times New Roman" panose="02020603050405020304" pitchFamily="18" charset="0"/>
                <a:ea typeface="Calibri" panose="020F0502020204030204" pitchFamily="34" charset="0"/>
                <a:cs typeface="Kokila" panose="020B0604020202020204" pitchFamily="34" charset="0"/>
              </a:rPr>
              <a:t>- Ethics vs. Power:</a:t>
            </a:r>
            <a:r>
              <a:rPr lang="en-IN" sz="2400" dirty="0">
                <a:latin typeface="Times New Roman" panose="02020603050405020304" pitchFamily="18" charset="0"/>
                <a:ea typeface="Calibri" panose="020F0502020204030204" pitchFamily="34" charset="0"/>
                <a:cs typeface="Kokila" panose="020B0604020202020204" pitchFamily="34" charset="0"/>
              </a:rPr>
              <a:t> While </a:t>
            </a:r>
            <a:r>
              <a:rPr lang="en-IN" sz="2400" dirty="0" err="1">
                <a:latin typeface="Times New Roman" panose="02020603050405020304" pitchFamily="18" charset="0"/>
                <a:ea typeface="Calibri" panose="020F0502020204030204" pitchFamily="34" charset="0"/>
                <a:cs typeface="Kokila" panose="020B0604020202020204" pitchFamily="34" charset="0"/>
              </a:rPr>
              <a:t>Kautilya</a:t>
            </a:r>
            <a:r>
              <a:rPr lang="en-IN" sz="2400" dirty="0">
                <a:latin typeface="Times New Roman" panose="02020603050405020304" pitchFamily="18" charset="0"/>
                <a:ea typeface="Calibri" panose="020F0502020204030204" pitchFamily="34" charset="0"/>
                <a:cs typeface="Kokila" panose="020B0604020202020204" pitchFamily="34" charset="0"/>
              </a:rPr>
              <a:t> discusses ethical considerations, he often prioritizes state interests over moral concerns, which has led to varied interpretations of his philosophy.</a:t>
            </a:r>
            <a:endParaRPr lang="en-IN" sz="1600" dirty="0">
              <a:effectLst/>
              <a:latin typeface="Calibri" panose="020F0502020204030204" pitchFamily="34" charset="0"/>
              <a:ea typeface="Calibri" panose="020F0502020204030204" pitchFamily="34" charset="0"/>
              <a:cs typeface="Kokila" panose="020B0604020202020204" pitchFamily="34" charset="0"/>
            </a:endParaRPr>
          </a:p>
        </p:txBody>
      </p:sp>
    </p:spTree>
    <p:extLst>
      <p:ext uri="{BB962C8B-B14F-4D97-AF65-F5344CB8AC3E}">
        <p14:creationId xmlns:p14="http://schemas.microsoft.com/office/powerpoint/2010/main" val="38511281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849085" y="790265"/>
            <a:ext cx="10868297" cy="4915448"/>
          </a:xfrm>
          <a:prstGeom prst="rect">
            <a:avLst/>
          </a:prstGeom>
        </p:spPr>
        <p:txBody>
          <a:bodyPr wrap="square">
            <a:spAutoFit/>
          </a:bodyPr>
          <a:lstStyle/>
          <a:p>
            <a:pPr algn="just">
              <a:lnSpc>
                <a:spcPct val="107000"/>
              </a:lnSpc>
              <a:spcAft>
                <a:spcPts val="800"/>
              </a:spcAft>
            </a:pPr>
            <a:r>
              <a:rPr lang="en-IN" sz="2800" b="1" dirty="0">
                <a:latin typeface="Times New Roman" panose="02020603050405020304" pitchFamily="18" charset="0"/>
                <a:ea typeface="Calibri" panose="020F0502020204030204" pitchFamily="34" charset="0"/>
                <a:cs typeface="Kokila" panose="020B0604020202020204" pitchFamily="34" charset="0"/>
              </a:rPr>
              <a:t>1. Aryabhata (c. 476–550 CE)</a:t>
            </a:r>
            <a:endParaRPr lang="en-US" sz="2000" dirty="0">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2400" b="1" dirty="0">
                <a:latin typeface="Times New Roman" panose="02020603050405020304" pitchFamily="18" charset="0"/>
                <a:ea typeface="Calibri" panose="020F0502020204030204" pitchFamily="34" charset="0"/>
                <a:cs typeface="Kokila" panose="020B0604020202020204" pitchFamily="34" charset="0"/>
              </a:rPr>
              <a:t>Overview: </a:t>
            </a:r>
            <a:endParaRPr lang="en-US" sz="2000" dirty="0">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2400" dirty="0">
                <a:latin typeface="Times New Roman" panose="02020603050405020304" pitchFamily="18" charset="0"/>
                <a:ea typeface="Calibri" panose="020F0502020204030204" pitchFamily="34" charset="0"/>
                <a:cs typeface="Kokila" panose="020B0604020202020204" pitchFamily="34" charset="0"/>
              </a:rPr>
              <a:t>Aryabhata was one of the earliest and most influential mathematicians and astronomers in ancient India. His seminal work, the </a:t>
            </a:r>
            <a:r>
              <a:rPr lang="en-IN" sz="2400" u="sng" dirty="0" err="1">
                <a:latin typeface="Times New Roman" panose="02020603050405020304" pitchFamily="18" charset="0"/>
                <a:ea typeface="Calibri" panose="020F0502020204030204" pitchFamily="34" charset="0"/>
                <a:cs typeface="Kokila" panose="020B0604020202020204" pitchFamily="34" charset="0"/>
              </a:rPr>
              <a:t>Aryabhatiya</a:t>
            </a:r>
            <a:r>
              <a:rPr lang="en-IN" sz="2400" dirty="0">
                <a:latin typeface="Times New Roman" panose="02020603050405020304" pitchFamily="18" charset="0"/>
                <a:ea typeface="Calibri" panose="020F0502020204030204" pitchFamily="34" charset="0"/>
                <a:cs typeface="Kokila" panose="020B0604020202020204" pitchFamily="34" charset="0"/>
              </a:rPr>
              <a:t>, laid the foundation for various mathematical and astronomical concepts.</a:t>
            </a:r>
            <a:endParaRPr lang="en-US" sz="2000" dirty="0">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2400" b="1" dirty="0">
                <a:latin typeface="Times New Roman" panose="02020603050405020304" pitchFamily="18" charset="0"/>
                <a:ea typeface="Calibri" panose="020F0502020204030204" pitchFamily="34" charset="0"/>
                <a:cs typeface="Kokila" panose="020B0604020202020204" pitchFamily="34" charset="0"/>
              </a:rPr>
              <a:t>Key Contributions:</a:t>
            </a:r>
            <a:endParaRPr lang="en-US" sz="2000" dirty="0">
              <a:latin typeface="Calibri" panose="020F0502020204030204" pitchFamily="34" charset="0"/>
              <a:ea typeface="Calibri" panose="020F0502020204030204" pitchFamily="34" charset="0"/>
              <a:cs typeface="Kokila" panose="020B0604020202020204" pitchFamily="34" charset="0"/>
            </a:endParaRPr>
          </a:p>
          <a:p>
            <a:pPr marR="0" lvl="0" algn="just">
              <a:lnSpc>
                <a:spcPct val="107000"/>
              </a:lnSpc>
              <a:spcBef>
                <a:spcPts val="0"/>
              </a:spcBef>
              <a:spcAft>
                <a:spcPts val="0"/>
              </a:spcAft>
            </a:pPr>
            <a:r>
              <a:rPr lang="en-IN" sz="2400" b="1" u="sng" dirty="0" err="1">
                <a:latin typeface="Times New Roman" panose="02020603050405020304" pitchFamily="18" charset="0"/>
                <a:ea typeface="Calibri" panose="020F0502020204030204" pitchFamily="34" charset="0"/>
                <a:cs typeface="Mangal"/>
              </a:rPr>
              <a:t>Aryabhatiya</a:t>
            </a:r>
            <a:r>
              <a:rPr lang="en-IN" sz="2400" dirty="0">
                <a:latin typeface="Times New Roman" panose="02020603050405020304" pitchFamily="18" charset="0"/>
                <a:ea typeface="Calibri" panose="020F0502020204030204" pitchFamily="34" charset="0"/>
                <a:cs typeface="Mangal"/>
              </a:rPr>
              <a:t>: This treatise consists of 118 verses divided into four sections: </a:t>
            </a:r>
            <a:endParaRPr lang="en-US" sz="2000" dirty="0">
              <a:latin typeface="Calibri" panose="020F0502020204030204" pitchFamily="34" charset="0"/>
              <a:ea typeface="Calibri" panose="020F0502020204030204" pitchFamily="34" charset="0"/>
              <a:cs typeface="Mangal"/>
            </a:endParaRPr>
          </a:p>
          <a:p>
            <a:pPr marL="342900" marR="0" lvl="0" indent="-342900" algn="just">
              <a:lnSpc>
                <a:spcPct val="107000"/>
              </a:lnSpc>
              <a:spcBef>
                <a:spcPts val="0"/>
              </a:spcBef>
              <a:spcAft>
                <a:spcPts val="0"/>
              </a:spcAft>
              <a:buFont typeface="Wingdings" panose="05000000000000000000" pitchFamily="2" charset="2"/>
              <a:buChar char="§"/>
            </a:pPr>
            <a:r>
              <a:rPr lang="en-IN" sz="2400" b="1" dirty="0" err="1">
                <a:latin typeface="Times New Roman" panose="02020603050405020304" pitchFamily="18" charset="0"/>
                <a:ea typeface="Calibri" panose="020F0502020204030204" pitchFamily="34" charset="0"/>
                <a:cs typeface="Mangal"/>
              </a:rPr>
              <a:t>Gitikapada</a:t>
            </a:r>
            <a:r>
              <a:rPr lang="en-IN" sz="2400" b="1" dirty="0">
                <a:latin typeface="Times New Roman" panose="02020603050405020304" pitchFamily="18" charset="0"/>
                <a:ea typeface="Calibri" panose="020F0502020204030204" pitchFamily="34" charset="0"/>
                <a:cs typeface="Mangal"/>
              </a:rPr>
              <a:t>:</a:t>
            </a:r>
            <a:r>
              <a:rPr lang="en-IN" sz="2400" dirty="0">
                <a:latin typeface="Times New Roman" panose="02020603050405020304" pitchFamily="18" charset="0"/>
                <a:ea typeface="Calibri" panose="020F0502020204030204" pitchFamily="34" charset="0"/>
                <a:cs typeface="Mangal"/>
              </a:rPr>
              <a:t> Discusses the astronomical calculations.</a:t>
            </a:r>
            <a:endParaRPr lang="en-US" sz="2000" dirty="0">
              <a:latin typeface="Calibri" panose="020F0502020204030204" pitchFamily="34" charset="0"/>
              <a:ea typeface="Calibri" panose="020F0502020204030204" pitchFamily="34" charset="0"/>
              <a:cs typeface="Mangal"/>
            </a:endParaRPr>
          </a:p>
          <a:p>
            <a:pPr marL="342900" marR="0" lvl="0" indent="-342900" algn="just">
              <a:lnSpc>
                <a:spcPct val="107000"/>
              </a:lnSpc>
              <a:spcBef>
                <a:spcPts val="0"/>
              </a:spcBef>
              <a:spcAft>
                <a:spcPts val="0"/>
              </a:spcAft>
              <a:buFont typeface="Wingdings" panose="05000000000000000000" pitchFamily="2" charset="2"/>
              <a:buChar char="§"/>
            </a:pPr>
            <a:r>
              <a:rPr lang="en-IN" sz="2400" b="1" dirty="0" err="1">
                <a:latin typeface="Times New Roman" panose="02020603050405020304" pitchFamily="18" charset="0"/>
                <a:ea typeface="Calibri" panose="020F0502020204030204" pitchFamily="34" charset="0"/>
                <a:cs typeface="Mangal"/>
              </a:rPr>
              <a:t>Ganitapada</a:t>
            </a:r>
            <a:r>
              <a:rPr lang="en-IN" sz="2400" b="1" dirty="0">
                <a:latin typeface="Times New Roman" panose="02020603050405020304" pitchFamily="18" charset="0"/>
                <a:ea typeface="Calibri" panose="020F0502020204030204" pitchFamily="34" charset="0"/>
                <a:cs typeface="Mangal"/>
              </a:rPr>
              <a:t>:</a:t>
            </a:r>
            <a:r>
              <a:rPr lang="en-IN" sz="2400" dirty="0">
                <a:latin typeface="Times New Roman" panose="02020603050405020304" pitchFamily="18" charset="0"/>
                <a:ea typeface="Calibri" panose="020F0502020204030204" pitchFamily="34" charset="0"/>
                <a:cs typeface="Mangal"/>
              </a:rPr>
              <a:t> Focuses on mathematics, including arithmetic, algebra, and geometry.</a:t>
            </a:r>
            <a:endParaRPr lang="en-US" sz="2000" dirty="0">
              <a:latin typeface="Calibri" panose="020F0502020204030204" pitchFamily="34" charset="0"/>
              <a:ea typeface="Calibri" panose="020F0502020204030204" pitchFamily="34" charset="0"/>
              <a:cs typeface="Mangal"/>
            </a:endParaRPr>
          </a:p>
          <a:p>
            <a:pPr marL="342900" marR="0" lvl="0" indent="-342900" algn="just">
              <a:lnSpc>
                <a:spcPct val="107000"/>
              </a:lnSpc>
              <a:spcBef>
                <a:spcPts val="0"/>
              </a:spcBef>
              <a:spcAft>
                <a:spcPts val="0"/>
              </a:spcAft>
              <a:buFont typeface="Wingdings" panose="05000000000000000000" pitchFamily="2" charset="2"/>
              <a:buChar char="§"/>
            </a:pPr>
            <a:r>
              <a:rPr lang="en-IN" sz="2400" b="1" dirty="0" err="1">
                <a:latin typeface="Times New Roman" panose="02020603050405020304" pitchFamily="18" charset="0"/>
                <a:ea typeface="Calibri" panose="020F0502020204030204" pitchFamily="34" charset="0"/>
                <a:cs typeface="Mangal"/>
              </a:rPr>
              <a:t>Kalakriya</a:t>
            </a:r>
            <a:r>
              <a:rPr lang="en-IN" sz="2400" b="1" dirty="0">
                <a:latin typeface="Times New Roman" panose="02020603050405020304" pitchFamily="18" charset="0"/>
                <a:ea typeface="Calibri" panose="020F0502020204030204" pitchFamily="34" charset="0"/>
                <a:cs typeface="Mangal"/>
              </a:rPr>
              <a:t>:</a:t>
            </a:r>
            <a:r>
              <a:rPr lang="en-IN" sz="2400" dirty="0">
                <a:latin typeface="Times New Roman" panose="02020603050405020304" pitchFamily="18" charset="0"/>
                <a:ea typeface="Calibri" panose="020F0502020204030204" pitchFamily="34" charset="0"/>
                <a:cs typeface="Mangal"/>
              </a:rPr>
              <a:t> Deals with time calculations and planetary motions.</a:t>
            </a:r>
            <a:endParaRPr lang="en-US" sz="2000" dirty="0">
              <a:latin typeface="Calibri" panose="020F0502020204030204" pitchFamily="34" charset="0"/>
              <a:ea typeface="Calibri" panose="020F0502020204030204" pitchFamily="34" charset="0"/>
              <a:cs typeface="Mangal"/>
            </a:endParaRPr>
          </a:p>
          <a:p>
            <a:pPr marL="342900" marR="0" lvl="0" indent="-342900" algn="just">
              <a:lnSpc>
                <a:spcPct val="107000"/>
              </a:lnSpc>
              <a:spcBef>
                <a:spcPts val="0"/>
              </a:spcBef>
              <a:spcAft>
                <a:spcPts val="800"/>
              </a:spcAft>
              <a:buFont typeface="Wingdings" panose="05000000000000000000" pitchFamily="2" charset="2"/>
              <a:buChar char="§"/>
            </a:pPr>
            <a:r>
              <a:rPr lang="en-IN" sz="2400" b="1" dirty="0" err="1">
                <a:latin typeface="Times New Roman" panose="02020603050405020304" pitchFamily="18" charset="0"/>
                <a:ea typeface="Calibri" panose="020F0502020204030204" pitchFamily="34" charset="0"/>
                <a:cs typeface="Mangal"/>
              </a:rPr>
              <a:t>Golapada</a:t>
            </a:r>
            <a:r>
              <a:rPr lang="en-IN" sz="2400" b="1" dirty="0">
                <a:latin typeface="Times New Roman" panose="02020603050405020304" pitchFamily="18" charset="0"/>
                <a:ea typeface="Calibri" panose="020F0502020204030204" pitchFamily="34" charset="0"/>
                <a:cs typeface="Mangal"/>
              </a:rPr>
              <a:t>:</a:t>
            </a:r>
            <a:r>
              <a:rPr lang="en-IN" sz="2400" dirty="0">
                <a:latin typeface="Times New Roman" panose="02020603050405020304" pitchFamily="18" charset="0"/>
                <a:ea typeface="Calibri" panose="020F0502020204030204" pitchFamily="34" charset="0"/>
                <a:cs typeface="Mangal"/>
              </a:rPr>
              <a:t> Explains the spherical nature of the earth and celestial bodies.</a:t>
            </a:r>
            <a:endParaRPr lang="en-US" sz="2000" dirty="0">
              <a:effectLst/>
              <a:latin typeface="Calibri" panose="020F0502020204030204" pitchFamily="34" charset="0"/>
              <a:ea typeface="Calibri" panose="020F0502020204030204" pitchFamily="34" charset="0"/>
              <a:cs typeface="Mangal"/>
            </a:endParaRPr>
          </a:p>
        </p:txBody>
      </p:sp>
    </p:spTree>
    <p:extLst>
      <p:ext uri="{BB962C8B-B14F-4D97-AF65-F5344CB8AC3E}">
        <p14:creationId xmlns:p14="http://schemas.microsoft.com/office/powerpoint/2010/main" val="230626271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49086" y="678432"/>
            <a:ext cx="10633165" cy="5449953"/>
          </a:xfrm>
          <a:prstGeom prst="rect">
            <a:avLst/>
          </a:prstGeom>
        </p:spPr>
        <p:txBody>
          <a:bodyPr wrap="square">
            <a:spAutoFit/>
          </a:bodyPr>
          <a:lstStyle/>
          <a:p>
            <a:pPr algn="just">
              <a:lnSpc>
                <a:spcPct val="107000"/>
              </a:lnSpc>
              <a:spcAft>
                <a:spcPts val="800"/>
              </a:spcAft>
            </a:pPr>
            <a:r>
              <a:rPr lang="en-IN" b="1" dirty="0">
                <a:latin typeface="Times New Roman" panose="02020603050405020304" pitchFamily="18" charset="0"/>
                <a:ea typeface="Calibri" panose="020F0502020204030204" pitchFamily="34" charset="0"/>
                <a:cs typeface="Kokila" panose="020B0604020202020204" pitchFamily="34" charset="0"/>
              </a:rPr>
              <a:t>- </a:t>
            </a:r>
            <a:r>
              <a:rPr lang="en-IN" sz="2400" b="1" dirty="0">
                <a:latin typeface="Times New Roman" panose="02020603050405020304" pitchFamily="18" charset="0"/>
                <a:ea typeface="Calibri" panose="020F0502020204030204" pitchFamily="34" charset="0"/>
                <a:cs typeface="Kokila" panose="020B0604020202020204" pitchFamily="34" charset="0"/>
              </a:rPr>
              <a:t>Mathematics: </a:t>
            </a:r>
            <a:endParaRPr lang="en-US" sz="2000" dirty="0">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2400" dirty="0">
                <a:latin typeface="Times New Roman" panose="02020603050405020304" pitchFamily="18" charset="0"/>
                <a:ea typeface="Calibri" panose="020F0502020204030204" pitchFamily="34" charset="0"/>
                <a:cs typeface="Kokila" panose="020B0604020202020204" pitchFamily="34" charset="0"/>
              </a:rPr>
              <a:t>  - Aryabhata introduced the </a:t>
            </a:r>
            <a:r>
              <a:rPr lang="en-IN" sz="2400" b="1" dirty="0">
                <a:latin typeface="Times New Roman" panose="02020603050405020304" pitchFamily="18" charset="0"/>
                <a:ea typeface="Calibri" panose="020F0502020204030204" pitchFamily="34" charset="0"/>
                <a:cs typeface="Kokila" panose="020B0604020202020204" pitchFamily="34" charset="0"/>
              </a:rPr>
              <a:t>concept of zero </a:t>
            </a:r>
            <a:r>
              <a:rPr lang="en-IN" sz="2400" dirty="0">
                <a:latin typeface="Times New Roman" panose="02020603050405020304" pitchFamily="18" charset="0"/>
                <a:ea typeface="Calibri" panose="020F0502020204030204" pitchFamily="34" charset="0"/>
                <a:cs typeface="Kokila" panose="020B0604020202020204" pitchFamily="34" charset="0"/>
              </a:rPr>
              <a:t>as a placeholder and was one of the first to use it in calculations.</a:t>
            </a:r>
            <a:endParaRPr lang="en-US" sz="2000" dirty="0">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2400" dirty="0">
                <a:latin typeface="Times New Roman" panose="02020603050405020304" pitchFamily="18" charset="0"/>
                <a:ea typeface="Calibri" panose="020F0502020204030204" pitchFamily="34" charset="0"/>
                <a:cs typeface="Kokila" panose="020B0604020202020204" pitchFamily="34" charset="0"/>
              </a:rPr>
              <a:t>  - He provided </a:t>
            </a:r>
            <a:r>
              <a:rPr lang="en-IN" sz="2400" b="1" dirty="0">
                <a:latin typeface="Times New Roman" panose="02020603050405020304" pitchFamily="18" charset="0"/>
                <a:ea typeface="Calibri" panose="020F0502020204030204" pitchFamily="34" charset="0"/>
                <a:cs typeface="Kokila" panose="020B0604020202020204" pitchFamily="34" charset="0"/>
              </a:rPr>
              <a:t>methods for calculating square and cube</a:t>
            </a:r>
            <a:r>
              <a:rPr lang="en-IN" sz="2400" dirty="0">
                <a:latin typeface="Times New Roman" panose="02020603050405020304" pitchFamily="18" charset="0"/>
                <a:ea typeface="Calibri" panose="020F0502020204030204" pitchFamily="34" charset="0"/>
                <a:cs typeface="Kokila" panose="020B0604020202020204" pitchFamily="34" charset="0"/>
              </a:rPr>
              <a:t> roots and tackled arithmetic operations.</a:t>
            </a:r>
            <a:endParaRPr lang="en-US" sz="2000" dirty="0">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2400" dirty="0">
                <a:latin typeface="Times New Roman" panose="02020603050405020304" pitchFamily="18" charset="0"/>
                <a:ea typeface="Calibri" panose="020F0502020204030204" pitchFamily="34" charset="0"/>
                <a:cs typeface="Kokila" panose="020B0604020202020204" pitchFamily="34" charset="0"/>
              </a:rPr>
              <a:t>  - He </a:t>
            </a:r>
            <a:r>
              <a:rPr lang="en-IN" sz="2400" b="1" dirty="0">
                <a:latin typeface="Times New Roman" panose="02020603050405020304" pitchFamily="18" charset="0"/>
                <a:ea typeface="Calibri" panose="020F0502020204030204" pitchFamily="34" charset="0"/>
                <a:cs typeface="Kokila" panose="020B0604020202020204" pitchFamily="34" charset="0"/>
              </a:rPr>
              <a:t>calculated π (pi) </a:t>
            </a:r>
            <a:r>
              <a:rPr lang="en-IN" sz="2400" dirty="0">
                <a:latin typeface="Times New Roman" panose="02020603050405020304" pitchFamily="18" charset="0"/>
                <a:ea typeface="Calibri" panose="020F0502020204030204" pitchFamily="34" charset="0"/>
                <a:cs typeface="Kokila" panose="020B0604020202020204" pitchFamily="34" charset="0"/>
              </a:rPr>
              <a:t>with remarkable accuracy, using the approximation \( \</a:t>
            </a:r>
            <a:r>
              <a:rPr lang="en-IN" sz="2400" dirty="0" err="1">
                <a:latin typeface="Times New Roman" panose="02020603050405020304" pitchFamily="18" charset="0"/>
                <a:ea typeface="Calibri" panose="020F0502020204030204" pitchFamily="34" charset="0"/>
                <a:cs typeface="Kokila" panose="020B0604020202020204" pitchFamily="34" charset="0"/>
              </a:rPr>
              <a:t>frac</a:t>
            </a:r>
            <a:r>
              <a:rPr lang="en-IN" sz="2400" dirty="0">
                <a:latin typeface="Times New Roman" panose="02020603050405020304" pitchFamily="18" charset="0"/>
                <a:ea typeface="Calibri" panose="020F0502020204030204" pitchFamily="34" charset="0"/>
                <a:cs typeface="Kokila" panose="020B0604020202020204" pitchFamily="34" charset="0"/>
              </a:rPr>
              <a:t>{62832}{20000} \).</a:t>
            </a:r>
            <a:endParaRPr lang="en-US" sz="2000" dirty="0">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2400" b="1" dirty="0">
                <a:latin typeface="Times New Roman" panose="02020603050405020304" pitchFamily="18" charset="0"/>
                <a:ea typeface="Calibri" panose="020F0502020204030204" pitchFamily="34" charset="0"/>
                <a:cs typeface="Kokila" panose="020B0604020202020204" pitchFamily="34" charset="0"/>
              </a:rPr>
              <a:t>- Astronomy: </a:t>
            </a:r>
            <a:endParaRPr lang="en-US" sz="2000" dirty="0">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2400" dirty="0">
                <a:latin typeface="Times New Roman" panose="02020603050405020304" pitchFamily="18" charset="0"/>
                <a:ea typeface="Calibri" panose="020F0502020204030204" pitchFamily="34" charset="0"/>
                <a:cs typeface="Kokila" panose="020B0604020202020204" pitchFamily="34" charset="0"/>
              </a:rPr>
              <a:t>  - Aryabhata </a:t>
            </a:r>
            <a:r>
              <a:rPr lang="en-IN" sz="2400" b="1" dirty="0">
                <a:latin typeface="Times New Roman" panose="02020603050405020304" pitchFamily="18" charset="0"/>
                <a:ea typeface="Calibri" panose="020F0502020204030204" pitchFamily="34" charset="0"/>
                <a:cs typeface="Kokila" panose="020B0604020202020204" pitchFamily="34" charset="0"/>
              </a:rPr>
              <a:t>proposed a heliocentric model of the solar system</a:t>
            </a:r>
            <a:r>
              <a:rPr lang="en-IN" sz="2400" dirty="0">
                <a:latin typeface="Times New Roman" panose="02020603050405020304" pitchFamily="18" charset="0"/>
                <a:ea typeface="Calibri" panose="020F0502020204030204" pitchFamily="34" charset="0"/>
                <a:cs typeface="Kokila" panose="020B0604020202020204" pitchFamily="34" charset="0"/>
              </a:rPr>
              <a:t>, stating that the Earth rotates on its axis, which was revolutionary for his time.</a:t>
            </a:r>
            <a:endParaRPr lang="en-US" sz="2000" dirty="0">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2400" dirty="0">
                <a:latin typeface="Times New Roman" panose="02020603050405020304" pitchFamily="18" charset="0"/>
                <a:ea typeface="Calibri" panose="020F0502020204030204" pitchFamily="34" charset="0"/>
                <a:cs typeface="Kokila" panose="020B0604020202020204" pitchFamily="34" charset="0"/>
              </a:rPr>
              <a:t>  - He </a:t>
            </a:r>
            <a:r>
              <a:rPr lang="en-IN" sz="2400" b="1" dirty="0">
                <a:latin typeface="Times New Roman" panose="02020603050405020304" pitchFamily="18" charset="0"/>
                <a:ea typeface="Calibri" panose="020F0502020204030204" pitchFamily="34" charset="0"/>
                <a:cs typeface="Kokila" panose="020B0604020202020204" pitchFamily="34" charset="0"/>
              </a:rPr>
              <a:t>calculated the length of the solar year as 365.358 days, quite close to the modern value.</a:t>
            </a:r>
            <a:endParaRPr lang="en-US" sz="2000" b="1" dirty="0">
              <a:effectLst/>
              <a:latin typeface="Calibri" panose="020F0502020204030204" pitchFamily="34" charset="0"/>
              <a:ea typeface="Calibri" panose="020F0502020204030204" pitchFamily="34" charset="0"/>
              <a:cs typeface="Kokila" panose="020B0604020202020204" pitchFamily="34" charset="0"/>
            </a:endParaRPr>
          </a:p>
        </p:txBody>
      </p:sp>
    </p:spTree>
    <p:extLst>
      <p:ext uri="{BB962C8B-B14F-4D97-AF65-F5344CB8AC3E}">
        <p14:creationId xmlns:p14="http://schemas.microsoft.com/office/powerpoint/2010/main" val="13847519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91885" y="418250"/>
            <a:ext cx="11351623" cy="6306085"/>
          </a:xfrm>
          <a:prstGeom prst="rect">
            <a:avLst/>
          </a:prstGeom>
        </p:spPr>
        <p:txBody>
          <a:bodyPr wrap="square">
            <a:spAutoFit/>
          </a:bodyPr>
          <a:lstStyle/>
          <a:p>
            <a:pPr algn="just">
              <a:lnSpc>
                <a:spcPct val="107000"/>
              </a:lnSpc>
              <a:spcAft>
                <a:spcPts val="800"/>
              </a:spcAft>
            </a:pPr>
            <a:r>
              <a:rPr lang="en-IN" sz="3200" b="1" dirty="0">
                <a:latin typeface="Times New Roman" panose="02020603050405020304" pitchFamily="18" charset="0"/>
                <a:ea typeface="Calibri" panose="020F0502020204030204" pitchFamily="34" charset="0"/>
                <a:cs typeface="Kokila" panose="020B0604020202020204" pitchFamily="34" charset="0"/>
              </a:rPr>
              <a:t>2. </a:t>
            </a:r>
            <a:r>
              <a:rPr lang="en-IN" sz="3200" b="1" dirty="0" err="1">
                <a:latin typeface="Times New Roman" panose="02020603050405020304" pitchFamily="18" charset="0"/>
                <a:ea typeface="Calibri" panose="020F0502020204030204" pitchFamily="34" charset="0"/>
                <a:cs typeface="Kokila" panose="020B0604020202020204" pitchFamily="34" charset="0"/>
              </a:rPr>
              <a:t>Varahamihira</a:t>
            </a:r>
            <a:r>
              <a:rPr lang="en-IN" sz="3200" b="1" dirty="0">
                <a:latin typeface="Times New Roman" panose="02020603050405020304" pitchFamily="18" charset="0"/>
                <a:ea typeface="Calibri" panose="020F0502020204030204" pitchFamily="34" charset="0"/>
                <a:cs typeface="Kokila" panose="020B0604020202020204" pitchFamily="34" charset="0"/>
              </a:rPr>
              <a:t> (c. 505–587 CE)</a:t>
            </a:r>
            <a:endParaRPr lang="en-US" sz="2400" dirty="0">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2800" b="1" dirty="0">
                <a:latin typeface="Times New Roman" panose="02020603050405020304" pitchFamily="18" charset="0"/>
                <a:ea typeface="Calibri" panose="020F0502020204030204" pitchFamily="34" charset="0"/>
                <a:cs typeface="Kokila" panose="020B0604020202020204" pitchFamily="34" charset="0"/>
              </a:rPr>
              <a:t>Overview:</a:t>
            </a:r>
            <a:endParaRPr lang="en-US" sz="2400" dirty="0">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2800" dirty="0" err="1">
                <a:latin typeface="Times New Roman" panose="02020603050405020304" pitchFamily="18" charset="0"/>
                <a:ea typeface="Calibri" panose="020F0502020204030204" pitchFamily="34" charset="0"/>
                <a:cs typeface="Kokila" panose="020B0604020202020204" pitchFamily="34" charset="0"/>
              </a:rPr>
              <a:t>Varahamihira</a:t>
            </a:r>
            <a:r>
              <a:rPr lang="en-IN" sz="2800" dirty="0">
                <a:latin typeface="Times New Roman" panose="02020603050405020304" pitchFamily="18" charset="0"/>
                <a:ea typeface="Calibri" panose="020F0502020204030204" pitchFamily="34" charset="0"/>
                <a:cs typeface="Kokila" panose="020B0604020202020204" pitchFamily="34" charset="0"/>
              </a:rPr>
              <a:t> was a renowned astronomer, mathematician, and astrologer whose work greatly influenced both Indian and Arabic astronomy. His principal work, the </a:t>
            </a:r>
            <a:r>
              <a:rPr lang="en-IN" sz="2800" b="1" u="sng" dirty="0" err="1">
                <a:latin typeface="Times New Roman" panose="02020603050405020304" pitchFamily="18" charset="0"/>
                <a:ea typeface="Calibri" panose="020F0502020204030204" pitchFamily="34" charset="0"/>
                <a:cs typeface="Kokila" panose="020B0604020202020204" pitchFamily="34" charset="0"/>
              </a:rPr>
              <a:t>Brihat</a:t>
            </a:r>
            <a:r>
              <a:rPr lang="en-IN" sz="2800" b="1" u="sng" dirty="0">
                <a:latin typeface="Times New Roman" panose="02020603050405020304" pitchFamily="18" charset="0"/>
                <a:ea typeface="Calibri" panose="020F0502020204030204" pitchFamily="34" charset="0"/>
                <a:cs typeface="Kokila" panose="020B0604020202020204" pitchFamily="34" charset="0"/>
              </a:rPr>
              <a:t> Samhita</a:t>
            </a:r>
            <a:r>
              <a:rPr lang="en-IN" sz="2800" u="sng" dirty="0">
                <a:latin typeface="Times New Roman" panose="02020603050405020304" pitchFamily="18" charset="0"/>
                <a:ea typeface="Calibri" panose="020F0502020204030204" pitchFamily="34" charset="0"/>
                <a:cs typeface="Kokila" panose="020B0604020202020204" pitchFamily="34" charset="0"/>
              </a:rPr>
              <a:t>, </a:t>
            </a:r>
            <a:r>
              <a:rPr lang="en-IN" sz="2800" dirty="0">
                <a:latin typeface="Times New Roman" panose="02020603050405020304" pitchFamily="18" charset="0"/>
                <a:ea typeface="Calibri" panose="020F0502020204030204" pitchFamily="34" charset="0"/>
                <a:cs typeface="Kokila" panose="020B0604020202020204" pitchFamily="34" charset="0"/>
              </a:rPr>
              <a:t>is an </a:t>
            </a:r>
            <a:r>
              <a:rPr lang="en-IN" sz="2800" dirty="0" err="1">
                <a:latin typeface="Times New Roman" panose="02020603050405020304" pitchFamily="18" charset="0"/>
                <a:ea typeface="Calibri" panose="020F0502020204030204" pitchFamily="34" charset="0"/>
                <a:cs typeface="Kokila" panose="020B0604020202020204" pitchFamily="34" charset="0"/>
              </a:rPr>
              <a:t>encyclopedic</a:t>
            </a:r>
            <a:r>
              <a:rPr lang="en-IN" sz="2800" dirty="0">
                <a:latin typeface="Times New Roman" panose="02020603050405020304" pitchFamily="18" charset="0"/>
                <a:ea typeface="Calibri" panose="020F0502020204030204" pitchFamily="34" charset="0"/>
                <a:cs typeface="Kokila" panose="020B0604020202020204" pitchFamily="34" charset="0"/>
              </a:rPr>
              <a:t> treatise covering a wide range of subjects.</a:t>
            </a:r>
            <a:endParaRPr lang="en-US" sz="2400" dirty="0">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2800" b="1" dirty="0">
                <a:latin typeface="Times New Roman" panose="02020603050405020304" pitchFamily="18" charset="0"/>
                <a:ea typeface="Calibri" panose="020F0502020204030204" pitchFamily="34" charset="0"/>
                <a:cs typeface="Kokila" panose="020B0604020202020204" pitchFamily="34" charset="0"/>
              </a:rPr>
              <a:t>Key Contributions:</a:t>
            </a:r>
            <a:endParaRPr lang="en-US" sz="2400" dirty="0">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2800" b="1" dirty="0">
                <a:latin typeface="Times New Roman" panose="02020603050405020304" pitchFamily="18" charset="0"/>
                <a:ea typeface="Calibri" panose="020F0502020204030204" pitchFamily="34" charset="0"/>
                <a:cs typeface="Kokila" panose="020B0604020202020204" pitchFamily="34" charset="0"/>
              </a:rPr>
              <a:t>- </a:t>
            </a:r>
            <a:r>
              <a:rPr lang="en-IN" sz="2800" b="1" dirty="0" err="1">
                <a:latin typeface="Times New Roman" panose="02020603050405020304" pitchFamily="18" charset="0"/>
                <a:ea typeface="Calibri" panose="020F0502020204030204" pitchFamily="34" charset="0"/>
                <a:cs typeface="Kokila" panose="020B0604020202020204" pitchFamily="34" charset="0"/>
              </a:rPr>
              <a:t>Brihat</a:t>
            </a:r>
            <a:r>
              <a:rPr lang="en-IN" sz="2800" b="1" dirty="0">
                <a:latin typeface="Times New Roman" panose="02020603050405020304" pitchFamily="18" charset="0"/>
                <a:ea typeface="Calibri" panose="020F0502020204030204" pitchFamily="34" charset="0"/>
                <a:cs typeface="Kokila" panose="020B0604020202020204" pitchFamily="34" charset="0"/>
              </a:rPr>
              <a:t> Samhita: </a:t>
            </a:r>
            <a:endParaRPr lang="en-US" sz="2400" dirty="0">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2800" dirty="0">
                <a:latin typeface="Times New Roman" panose="02020603050405020304" pitchFamily="18" charset="0"/>
                <a:ea typeface="Calibri" panose="020F0502020204030204" pitchFamily="34" charset="0"/>
                <a:cs typeface="Kokila" panose="020B0604020202020204" pitchFamily="34" charset="0"/>
              </a:rPr>
              <a:t>  - This extensive work covers various topics, including astronomy, astrology, geography, and architecture.</a:t>
            </a:r>
            <a:endParaRPr lang="en-US" sz="2400" dirty="0">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2800" dirty="0">
                <a:latin typeface="Times New Roman" panose="02020603050405020304" pitchFamily="18" charset="0"/>
                <a:ea typeface="Calibri" panose="020F0502020204030204" pitchFamily="34" charset="0"/>
                <a:cs typeface="Kokila" panose="020B0604020202020204" pitchFamily="34" charset="0"/>
              </a:rPr>
              <a:t>  - It consists of 106 chapters and discusses planetary positions, eclipses, and predictions based on astrological calculations.</a:t>
            </a:r>
            <a:endParaRPr lang="en-US" sz="2400" dirty="0">
              <a:effectLst/>
              <a:latin typeface="Calibri" panose="020F0502020204030204" pitchFamily="34" charset="0"/>
              <a:ea typeface="Calibri" panose="020F0502020204030204" pitchFamily="34" charset="0"/>
              <a:cs typeface="Kokila" panose="020B0604020202020204" pitchFamily="34" charset="0"/>
            </a:endParaRPr>
          </a:p>
        </p:txBody>
      </p:sp>
    </p:spTree>
    <p:extLst>
      <p:ext uri="{BB962C8B-B14F-4D97-AF65-F5344CB8AC3E}">
        <p14:creationId xmlns:p14="http://schemas.microsoft.com/office/powerpoint/2010/main" val="33116797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2069" y="376484"/>
            <a:ext cx="11599817" cy="5245154"/>
          </a:xfrm>
          <a:prstGeom prst="rect">
            <a:avLst/>
          </a:prstGeom>
        </p:spPr>
        <p:txBody>
          <a:bodyPr wrap="square">
            <a:spAutoFit/>
          </a:bodyPr>
          <a:lstStyle/>
          <a:p>
            <a:pPr algn="just">
              <a:lnSpc>
                <a:spcPct val="107000"/>
              </a:lnSpc>
              <a:spcAft>
                <a:spcPts val="800"/>
              </a:spcAft>
            </a:pPr>
            <a:r>
              <a:rPr lang="en-IN" b="1" dirty="0">
                <a:latin typeface="Times New Roman" panose="02020603050405020304" pitchFamily="18" charset="0"/>
                <a:ea typeface="Calibri" panose="020F0502020204030204" pitchFamily="34" charset="0"/>
                <a:cs typeface="Kokila" panose="020B0604020202020204" pitchFamily="34" charset="0"/>
              </a:rPr>
              <a:t>- </a:t>
            </a:r>
            <a:r>
              <a:rPr lang="en-IN" sz="3200" b="1" dirty="0">
                <a:latin typeface="Times New Roman" panose="02020603050405020304" pitchFamily="18" charset="0"/>
                <a:ea typeface="Calibri" panose="020F0502020204030204" pitchFamily="34" charset="0"/>
                <a:cs typeface="Kokila" panose="020B0604020202020204" pitchFamily="34" charset="0"/>
              </a:rPr>
              <a:t>Mathematics and Astronomy:</a:t>
            </a:r>
            <a:endParaRPr lang="en-US" sz="2800" dirty="0">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3200" dirty="0">
                <a:latin typeface="Times New Roman" panose="02020603050405020304" pitchFamily="18" charset="0"/>
                <a:ea typeface="Calibri" panose="020F0502020204030204" pitchFamily="34" charset="0"/>
                <a:cs typeface="Kokila" panose="020B0604020202020204" pitchFamily="34" charset="0"/>
              </a:rPr>
              <a:t>  - </a:t>
            </a:r>
            <a:r>
              <a:rPr lang="en-IN" sz="3200" dirty="0" err="1">
                <a:latin typeface="Times New Roman" panose="02020603050405020304" pitchFamily="18" charset="0"/>
                <a:ea typeface="Calibri" panose="020F0502020204030204" pitchFamily="34" charset="0"/>
                <a:cs typeface="Kokila" panose="020B0604020202020204" pitchFamily="34" charset="0"/>
              </a:rPr>
              <a:t>Varahamihira</a:t>
            </a:r>
            <a:r>
              <a:rPr lang="en-IN" sz="3200" dirty="0">
                <a:latin typeface="Times New Roman" panose="02020603050405020304" pitchFamily="18" charset="0"/>
                <a:ea typeface="Calibri" panose="020F0502020204030204" pitchFamily="34" charset="0"/>
                <a:cs typeface="Kokila" panose="020B0604020202020204" pitchFamily="34" charset="0"/>
              </a:rPr>
              <a:t> contributed to the </a:t>
            </a:r>
            <a:r>
              <a:rPr lang="en-IN" sz="3200" b="1" dirty="0">
                <a:latin typeface="Times New Roman" panose="02020603050405020304" pitchFamily="18" charset="0"/>
                <a:ea typeface="Calibri" panose="020F0502020204030204" pitchFamily="34" charset="0"/>
                <a:cs typeface="Kokila" panose="020B0604020202020204" pitchFamily="34" charset="0"/>
              </a:rPr>
              <a:t>understanding of planetary motions </a:t>
            </a:r>
            <a:r>
              <a:rPr lang="en-IN" sz="3200" dirty="0">
                <a:latin typeface="Times New Roman" panose="02020603050405020304" pitchFamily="18" charset="0"/>
                <a:ea typeface="Calibri" panose="020F0502020204030204" pitchFamily="34" charset="0"/>
                <a:cs typeface="Kokila" panose="020B0604020202020204" pitchFamily="34" charset="0"/>
              </a:rPr>
              <a:t>and </a:t>
            </a:r>
            <a:r>
              <a:rPr lang="en-IN" sz="3200" b="1" dirty="0">
                <a:latin typeface="Times New Roman" panose="02020603050405020304" pitchFamily="18" charset="0"/>
                <a:ea typeface="Calibri" panose="020F0502020204030204" pitchFamily="34" charset="0"/>
                <a:cs typeface="Kokila" panose="020B0604020202020204" pitchFamily="34" charset="0"/>
              </a:rPr>
              <a:t>eclipses</a:t>
            </a:r>
            <a:r>
              <a:rPr lang="en-IN" sz="3200" dirty="0">
                <a:latin typeface="Times New Roman" panose="02020603050405020304" pitchFamily="18" charset="0"/>
                <a:ea typeface="Calibri" panose="020F0502020204030204" pitchFamily="34" charset="0"/>
                <a:cs typeface="Kokila" panose="020B0604020202020204" pitchFamily="34" charset="0"/>
              </a:rPr>
              <a:t>, emphasizing their significance in astrology.</a:t>
            </a:r>
            <a:endParaRPr lang="en-US" sz="2800" dirty="0">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3200" dirty="0">
                <a:latin typeface="Times New Roman" panose="02020603050405020304" pitchFamily="18" charset="0"/>
                <a:ea typeface="Calibri" panose="020F0502020204030204" pitchFamily="34" charset="0"/>
                <a:cs typeface="Kokila" panose="020B0604020202020204" pitchFamily="34" charset="0"/>
              </a:rPr>
              <a:t>  - He provided </a:t>
            </a:r>
            <a:r>
              <a:rPr lang="en-IN" sz="3200" b="1" dirty="0">
                <a:latin typeface="Times New Roman" panose="02020603050405020304" pitchFamily="18" charset="0"/>
                <a:ea typeface="Calibri" panose="020F0502020204030204" pitchFamily="34" charset="0"/>
                <a:cs typeface="Kokila" panose="020B0604020202020204" pitchFamily="34" charset="0"/>
              </a:rPr>
              <a:t>methods for predicting eclipses </a:t>
            </a:r>
            <a:r>
              <a:rPr lang="en-IN" sz="3200" dirty="0">
                <a:latin typeface="Times New Roman" panose="02020603050405020304" pitchFamily="18" charset="0"/>
                <a:ea typeface="Calibri" panose="020F0502020204030204" pitchFamily="34" charset="0"/>
                <a:cs typeface="Kokila" panose="020B0604020202020204" pitchFamily="34" charset="0"/>
              </a:rPr>
              <a:t>and the positions of celestial bodies.</a:t>
            </a:r>
            <a:endParaRPr lang="en-US" sz="2800" dirty="0">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3200" b="1" dirty="0">
                <a:latin typeface="Times New Roman" panose="02020603050405020304" pitchFamily="18" charset="0"/>
                <a:ea typeface="Calibri" panose="020F0502020204030204" pitchFamily="34" charset="0"/>
                <a:cs typeface="Kokila" panose="020B0604020202020204" pitchFamily="34" charset="0"/>
              </a:rPr>
              <a:t>- Influence on Astrology: </a:t>
            </a:r>
            <a:endParaRPr lang="en-US" sz="2800" dirty="0">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3200" dirty="0">
                <a:latin typeface="Times New Roman" panose="02020603050405020304" pitchFamily="18" charset="0"/>
                <a:ea typeface="Calibri" panose="020F0502020204030204" pitchFamily="34" charset="0"/>
                <a:cs typeface="Kokila" panose="020B0604020202020204" pitchFamily="34" charset="0"/>
              </a:rPr>
              <a:t>  - </a:t>
            </a:r>
            <a:r>
              <a:rPr lang="en-IN" sz="3200" dirty="0" err="1">
                <a:latin typeface="Times New Roman" panose="02020603050405020304" pitchFamily="18" charset="0"/>
                <a:ea typeface="Calibri" panose="020F0502020204030204" pitchFamily="34" charset="0"/>
                <a:cs typeface="Kokila" panose="020B0604020202020204" pitchFamily="34" charset="0"/>
              </a:rPr>
              <a:t>Varahamihira</a:t>
            </a:r>
            <a:r>
              <a:rPr lang="en-IN" sz="3200" dirty="0">
                <a:latin typeface="Times New Roman" panose="02020603050405020304" pitchFamily="18" charset="0"/>
                <a:ea typeface="Calibri" panose="020F0502020204030204" pitchFamily="34" charset="0"/>
                <a:cs typeface="Kokila" panose="020B0604020202020204" pitchFamily="34" charset="0"/>
              </a:rPr>
              <a:t> is often regarded as a foundational figure in Indian astrology. His astrological texts continue to be influential in Vedic astrology today.</a:t>
            </a:r>
            <a:endParaRPr lang="en-US" sz="2800" dirty="0">
              <a:effectLst/>
              <a:latin typeface="Calibri" panose="020F0502020204030204" pitchFamily="34" charset="0"/>
              <a:ea typeface="Calibri" panose="020F0502020204030204" pitchFamily="34" charset="0"/>
              <a:cs typeface="Kokila" panose="020B0604020202020204" pitchFamily="34" charset="0"/>
            </a:endParaRPr>
          </a:p>
        </p:txBody>
      </p:sp>
    </p:spTree>
    <p:extLst>
      <p:ext uri="{BB962C8B-B14F-4D97-AF65-F5344CB8AC3E}">
        <p14:creationId xmlns:p14="http://schemas.microsoft.com/office/powerpoint/2010/main" val="129220515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6571" y="361507"/>
            <a:ext cx="11430000" cy="6306085"/>
          </a:xfrm>
          <a:prstGeom prst="rect">
            <a:avLst/>
          </a:prstGeom>
        </p:spPr>
        <p:txBody>
          <a:bodyPr wrap="square">
            <a:spAutoFit/>
          </a:bodyPr>
          <a:lstStyle/>
          <a:p>
            <a:pPr algn="just">
              <a:lnSpc>
                <a:spcPct val="107000"/>
              </a:lnSpc>
              <a:spcAft>
                <a:spcPts val="800"/>
              </a:spcAft>
            </a:pPr>
            <a:r>
              <a:rPr lang="en-IN" sz="3200" b="1" dirty="0">
                <a:latin typeface="Times New Roman" panose="02020603050405020304" pitchFamily="18" charset="0"/>
                <a:ea typeface="Calibri" panose="020F0502020204030204" pitchFamily="34" charset="0"/>
                <a:cs typeface="Kokila" panose="020B0604020202020204" pitchFamily="34" charset="0"/>
              </a:rPr>
              <a:t>3. </a:t>
            </a:r>
            <a:r>
              <a:rPr lang="en-IN" sz="3200" b="1" dirty="0" err="1">
                <a:latin typeface="Times New Roman" panose="02020603050405020304" pitchFamily="18" charset="0"/>
                <a:ea typeface="Calibri" panose="020F0502020204030204" pitchFamily="34" charset="0"/>
                <a:cs typeface="Kokila" panose="020B0604020202020204" pitchFamily="34" charset="0"/>
              </a:rPr>
              <a:t>Brahmagupta</a:t>
            </a:r>
            <a:r>
              <a:rPr lang="en-IN" sz="3200" b="1" dirty="0">
                <a:latin typeface="Times New Roman" panose="02020603050405020304" pitchFamily="18" charset="0"/>
                <a:ea typeface="Calibri" panose="020F0502020204030204" pitchFamily="34" charset="0"/>
                <a:cs typeface="Kokila" panose="020B0604020202020204" pitchFamily="34" charset="0"/>
              </a:rPr>
              <a:t> (c. 598–668 CE)</a:t>
            </a:r>
            <a:endParaRPr lang="en-US" sz="2400" dirty="0">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2800" b="1" dirty="0">
                <a:latin typeface="Times New Roman" panose="02020603050405020304" pitchFamily="18" charset="0"/>
                <a:ea typeface="Calibri" panose="020F0502020204030204" pitchFamily="34" charset="0"/>
                <a:cs typeface="Kokila" panose="020B0604020202020204" pitchFamily="34" charset="0"/>
              </a:rPr>
              <a:t>Overview:</a:t>
            </a:r>
            <a:endParaRPr lang="en-US" sz="2400" dirty="0">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2800" dirty="0" err="1">
                <a:latin typeface="Times New Roman" panose="02020603050405020304" pitchFamily="18" charset="0"/>
                <a:ea typeface="Calibri" panose="020F0502020204030204" pitchFamily="34" charset="0"/>
                <a:cs typeface="Kokila" panose="020B0604020202020204" pitchFamily="34" charset="0"/>
              </a:rPr>
              <a:t>Brahmagupta</a:t>
            </a:r>
            <a:r>
              <a:rPr lang="en-IN" sz="2800" dirty="0">
                <a:latin typeface="Times New Roman" panose="02020603050405020304" pitchFamily="18" charset="0"/>
                <a:ea typeface="Calibri" panose="020F0502020204030204" pitchFamily="34" charset="0"/>
                <a:cs typeface="Kokila" panose="020B0604020202020204" pitchFamily="34" charset="0"/>
              </a:rPr>
              <a:t> was a mathematician and astronomer whose work significantly advanced mathematical concepts, particularly in algebra. His notable text, </a:t>
            </a:r>
            <a:r>
              <a:rPr lang="en-IN" sz="2800" b="1" dirty="0" err="1">
                <a:latin typeface="Times New Roman" panose="02020603050405020304" pitchFamily="18" charset="0"/>
                <a:ea typeface="Calibri" panose="020F0502020204030204" pitchFamily="34" charset="0"/>
                <a:cs typeface="Kokila" panose="020B0604020202020204" pitchFamily="34" charset="0"/>
              </a:rPr>
              <a:t>Brahmasphutasiddhanta</a:t>
            </a:r>
            <a:r>
              <a:rPr lang="en-IN" sz="2800" b="1" dirty="0">
                <a:latin typeface="Times New Roman" panose="02020603050405020304" pitchFamily="18" charset="0"/>
                <a:ea typeface="Calibri" panose="020F0502020204030204" pitchFamily="34" charset="0"/>
                <a:cs typeface="Kokila" panose="020B0604020202020204" pitchFamily="34" charset="0"/>
              </a:rPr>
              <a:t>, </a:t>
            </a:r>
            <a:r>
              <a:rPr lang="en-IN" sz="2800" dirty="0">
                <a:latin typeface="Times New Roman" panose="02020603050405020304" pitchFamily="18" charset="0"/>
                <a:ea typeface="Calibri" panose="020F0502020204030204" pitchFamily="34" charset="0"/>
                <a:cs typeface="Kokila" panose="020B0604020202020204" pitchFamily="34" charset="0"/>
              </a:rPr>
              <a:t>had a lasting impact on mathematics.</a:t>
            </a:r>
            <a:endParaRPr lang="en-US" sz="2400" dirty="0">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2800" b="1" dirty="0">
                <a:latin typeface="Times New Roman" panose="02020603050405020304" pitchFamily="18" charset="0"/>
                <a:ea typeface="Calibri" panose="020F0502020204030204" pitchFamily="34" charset="0"/>
                <a:cs typeface="Kokila" panose="020B0604020202020204" pitchFamily="34" charset="0"/>
              </a:rPr>
              <a:t>Key Contributions:</a:t>
            </a:r>
            <a:endParaRPr lang="en-US" sz="2400" dirty="0">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2800" b="1" dirty="0">
                <a:latin typeface="Times New Roman" panose="02020603050405020304" pitchFamily="18" charset="0"/>
                <a:ea typeface="Calibri" panose="020F0502020204030204" pitchFamily="34" charset="0"/>
                <a:cs typeface="Kokila" panose="020B0604020202020204" pitchFamily="34" charset="0"/>
              </a:rPr>
              <a:t>- </a:t>
            </a:r>
            <a:r>
              <a:rPr lang="en-IN" sz="2800" b="1" u="sng" dirty="0" err="1">
                <a:latin typeface="Times New Roman" panose="02020603050405020304" pitchFamily="18" charset="0"/>
                <a:ea typeface="Calibri" panose="020F0502020204030204" pitchFamily="34" charset="0"/>
                <a:cs typeface="Kokila" panose="020B0604020202020204" pitchFamily="34" charset="0"/>
              </a:rPr>
              <a:t>Brahmasphutasiddhanta</a:t>
            </a:r>
            <a:r>
              <a:rPr lang="en-IN" sz="2800" b="1" u="sng" dirty="0">
                <a:latin typeface="Times New Roman" panose="02020603050405020304" pitchFamily="18" charset="0"/>
                <a:ea typeface="Calibri" panose="020F0502020204030204" pitchFamily="34" charset="0"/>
                <a:cs typeface="Kokila" panose="020B0604020202020204" pitchFamily="34" charset="0"/>
              </a:rPr>
              <a:t>: </a:t>
            </a:r>
            <a:endParaRPr lang="en-US" sz="2400" u="sng" dirty="0">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2800" dirty="0">
                <a:latin typeface="Times New Roman" panose="02020603050405020304" pitchFamily="18" charset="0"/>
                <a:ea typeface="Calibri" panose="020F0502020204030204" pitchFamily="34" charset="0"/>
                <a:cs typeface="Kokila" panose="020B0604020202020204" pitchFamily="34" charset="0"/>
              </a:rPr>
              <a:t>  - This seminal work consists of 25 chapters and deals with arithmetic, geometry, and astronomy.</a:t>
            </a:r>
            <a:endParaRPr lang="en-US" sz="2400" dirty="0">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2800" dirty="0">
                <a:latin typeface="Times New Roman" panose="02020603050405020304" pitchFamily="18" charset="0"/>
                <a:ea typeface="Calibri" panose="020F0502020204030204" pitchFamily="34" charset="0"/>
                <a:cs typeface="Kokila" panose="020B0604020202020204" pitchFamily="34" charset="0"/>
              </a:rPr>
              <a:t>  - It is one of the earliest texts to systematically present rules for solving </a:t>
            </a:r>
            <a:r>
              <a:rPr lang="en-IN" sz="2800" b="1" dirty="0">
                <a:latin typeface="Times New Roman" panose="02020603050405020304" pitchFamily="18" charset="0"/>
                <a:ea typeface="Calibri" panose="020F0502020204030204" pitchFamily="34" charset="0"/>
                <a:cs typeface="Kokila" panose="020B0604020202020204" pitchFamily="34" charset="0"/>
              </a:rPr>
              <a:t>quadratic equations </a:t>
            </a:r>
            <a:r>
              <a:rPr lang="en-IN" sz="2800" dirty="0">
                <a:latin typeface="Times New Roman" panose="02020603050405020304" pitchFamily="18" charset="0"/>
                <a:ea typeface="Calibri" panose="020F0502020204030204" pitchFamily="34" charset="0"/>
                <a:cs typeface="Kokila" panose="020B0604020202020204" pitchFamily="34" charset="0"/>
              </a:rPr>
              <a:t>and includes methods for determining the solutions of </a:t>
            </a:r>
            <a:r>
              <a:rPr lang="en-IN" sz="2800" b="1" dirty="0">
                <a:latin typeface="Times New Roman" panose="02020603050405020304" pitchFamily="18" charset="0"/>
                <a:ea typeface="Calibri" panose="020F0502020204030204" pitchFamily="34" charset="0"/>
                <a:cs typeface="Kokila" panose="020B0604020202020204" pitchFamily="34" charset="0"/>
              </a:rPr>
              <a:t>linear equations.</a:t>
            </a:r>
            <a:endParaRPr lang="en-US" sz="2400" b="1" dirty="0">
              <a:effectLst/>
              <a:latin typeface="Calibri" panose="020F0502020204030204" pitchFamily="34" charset="0"/>
              <a:ea typeface="Calibri" panose="020F0502020204030204" pitchFamily="34" charset="0"/>
              <a:cs typeface="Kokila" panose="020B0604020202020204" pitchFamily="34" charset="0"/>
            </a:endParaRPr>
          </a:p>
        </p:txBody>
      </p:sp>
    </p:spTree>
    <p:extLst>
      <p:ext uri="{BB962C8B-B14F-4D97-AF65-F5344CB8AC3E}">
        <p14:creationId xmlns:p14="http://schemas.microsoft.com/office/powerpoint/2010/main" val="347163767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27017" y="386700"/>
            <a:ext cx="10816046" cy="5750292"/>
          </a:xfrm>
          <a:prstGeom prst="rect">
            <a:avLst/>
          </a:prstGeom>
        </p:spPr>
        <p:txBody>
          <a:bodyPr wrap="square">
            <a:spAutoFit/>
          </a:bodyPr>
          <a:lstStyle/>
          <a:p>
            <a:pPr algn="just">
              <a:lnSpc>
                <a:spcPct val="107000"/>
              </a:lnSpc>
              <a:spcAft>
                <a:spcPts val="800"/>
              </a:spcAft>
            </a:pPr>
            <a:r>
              <a:rPr lang="en-IN" sz="2000" b="1" dirty="0">
                <a:latin typeface="Times New Roman" panose="02020603050405020304" pitchFamily="18" charset="0"/>
                <a:ea typeface="Calibri" panose="020F0502020204030204" pitchFamily="34" charset="0"/>
                <a:cs typeface="Kokila" panose="020B0604020202020204" pitchFamily="34" charset="0"/>
              </a:rPr>
              <a:t>- Mathematics: </a:t>
            </a:r>
            <a:endParaRPr lang="en-US" dirty="0">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2000" dirty="0">
                <a:latin typeface="Times New Roman" panose="02020603050405020304" pitchFamily="18" charset="0"/>
                <a:ea typeface="Calibri" panose="020F0502020204030204" pitchFamily="34" charset="0"/>
                <a:cs typeface="Kokila" panose="020B0604020202020204" pitchFamily="34" charset="0"/>
              </a:rPr>
              <a:t>  - </a:t>
            </a:r>
            <a:r>
              <a:rPr lang="en-IN" sz="2000" dirty="0" err="1">
                <a:latin typeface="Times New Roman" panose="02020603050405020304" pitchFamily="18" charset="0"/>
                <a:ea typeface="Calibri" panose="020F0502020204030204" pitchFamily="34" charset="0"/>
                <a:cs typeface="Kokila" panose="020B0604020202020204" pitchFamily="34" charset="0"/>
              </a:rPr>
              <a:t>Brahmagupta</a:t>
            </a:r>
            <a:r>
              <a:rPr lang="en-IN" sz="2000" dirty="0">
                <a:latin typeface="Times New Roman" panose="02020603050405020304" pitchFamily="18" charset="0"/>
                <a:ea typeface="Calibri" panose="020F0502020204030204" pitchFamily="34" charset="0"/>
                <a:cs typeface="Kokila" panose="020B0604020202020204" pitchFamily="34" charset="0"/>
              </a:rPr>
              <a:t> defined rules for </a:t>
            </a:r>
            <a:r>
              <a:rPr lang="en-IN" sz="2000" b="1" dirty="0">
                <a:latin typeface="Times New Roman" panose="02020603050405020304" pitchFamily="18" charset="0"/>
                <a:ea typeface="Calibri" panose="020F0502020204030204" pitchFamily="34" charset="0"/>
                <a:cs typeface="Kokila" panose="020B0604020202020204" pitchFamily="34" charset="0"/>
              </a:rPr>
              <a:t>operations with zero </a:t>
            </a:r>
            <a:r>
              <a:rPr lang="en-IN" sz="2000" dirty="0">
                <a:latin typeface="Times New Roman" panose="02020603050405020304" pitchFamily="18" charset="0"/>
                <a:ea typeface="Calibri" panose="020F0502020204030204" pitchFamily="34" charset="0"/>
                <a:cs typeface="Kokila" panose="020B0604020202020204" pitchFamily="34" charset="0"/>
              </a:rPr>
              <a:t>and </a:t>
            </a:r>
            <a:r>
              <a:rPr lang="en-IN" sz="2000" b="1" dirty="0">
                <a:latin typeface="Times New Roman" panose="02020603050405020304" pitchFamily="18" charset="0"/>
                <a:ea typeface="Calibri" panose="020F0502020204030204" pitchFamily="34" charset="0"/>
                <a:cs typeface="Kokila" panose="020B0604020202020204" pitchFamily="34" charset="0"/>
              </a:rPr>
              <a:t>negative numbers</a:t>
            </a:r>
            <a:r>
              <a:rPr lang="en-IN" sz="2000" dirty="0">
                <a:latin typeface="Times New Roman" panose="02020603050405020304" pitchFamily="18" charset="0"/>
                <a:ea typeface="Calibri" panose="020F0502020204030204" pitchFamily="34" charset="0"/>
                <a:cs typeface="Kokila" panose="020B0604020202020204" pitchFamily="34" charset="0"/>
              </a:rPr>
              <a:t>, including how to handle calculations involving these concepts.</a:t>
            </a:r>
            <a:endParaRPr lang="en-US" dirty="0">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2000" dirty="0">
                <a:latin typeface="Times New Roman" panose="02020603050405020304" pitchFamily="18" charset="0"/>
                <a:ea typeface="Calibri" panose="020F0502020204030204" pitchFamily="34" charset="0"/>
                <a:cs typeface="Kokila" panose="020B0604020202020204" pitchFamily="34" charset="0"/>
              </a:rPr>
              <a:t>  - He provided solutions for various types of equations, including the formulation of </a:t>
            </a:r>
            <a:r>
              <a:rPr lang="en-IN" sz="2000" b="1" dirty="0" err="1">
                <a:latin typeface="Times New Roman" panose="02020603050405020304" pitchFamily="18" charset="0"/>
                <a:ea typeface="Calibri" panose="020F0502020204030204" pitchFamily="34" charset="0"/>
                <a:cs typeface="Kokila" panose="020B0604020202020204" pitchFamily="34" charset="0"/>
              </a:rPr>
              <a:t>Brahmagupta's</a:t>
            </a:r>
            <a:r>
              <a:rPr lang="en-IN" sz="2000" b="1" dirty="0">
                <a:latin typeface="Times New Roman" panose="02020603050405020304" pitchFamily="18" charset="0"/>
                <a:ea typeface="Calibri" panose="020F0502020204030204" pitchFamily="34" charset="0"/>
                <a:cs typeface="Kokila" panose="020B0604020202020204" pitchFamily="34" charset="0"/>
              </a:rPr>
              <a:t> formula for finding the area of a cyclic quadrilateral.</a:t>
            </a:r>
            <a:endParaRPr lang="en-US" b="1" dirty="0">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2000" b="1" dirty="0">
                <a:latin typeface="Times New Roman" panose="02020603050405020304" pitchFamily="18" charset="0"/>
                <a:ea typeface="Calibri" panose="020F0502020204030204" pitchFamily="34" charset="0"/>
                <a:cs typeface="Kokila" panose="020B0604020202020204" pitchFamily="34" charset="0"/>
              </a:rPr>
              <a:t>- Astronomy: </a:t>
            </a:r>
            <a:endParaRPr lang="en-US" dirty="0">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2000" dirty="0">
                <a:latin typeface="Times New Roman" panose="02020603050405020304" pitchFamily="18" charset="0"/>
                <a:ea typeface="Calibri" panose="020F0502020204030204" pitchFamily="34" charset="0"/>
                <a:cs typeface="Kokila" panose="020B0604020202020204" pitchFamily="34" charset="0"/>
              </a:rPr>
              <a:t>  - He discussed </a:t>
            </a:r>
            <a:r>
              <a:rPr lang="en-IN" sz="2000" b="1" dirty="0">
                <a:latin typeface="Times New Roman" panose="02020603050405020304" pitchFamily="18" charset="0"/>
                <a:ea typeface="Calibri" panose="020F0502020204030204" pitchFamily="34" charset="0"/>
                <a:cs typeface="Kokila" panose="020B0604020202020204" pitchFamily="34" charset="0"/>
              </a:rPr>
              <a:t>planetary positions </a:t>
            </a:r>
            <a:r>
              <a:rPr lang="en-IN" sz="2000" dirty="0">
                <a:latin typeface="Times New Roman" panose="02020603050405020304" pitchFamily="18" charset="0"/>
                <a:ea typeface="Calibri" panose="020F0502020204030204" pitchFamily="34" charset="0"/>
                <a:cs typeface="Kokila" panose="020B0604020202020204" pitchFamily="34" charset="0"/>
              </a:rPr>
              <a:t>and </a:t>
            </a:r>
            <a:r>
              <a:rPr lang="en-IN" sz="2000" b="1" dirty="0">
                <a:latin typeface="Times New Roman" panose="02020603050405020304" pitchFamily="18" charset="0"/>
                <a:ea typeface="Calibri" panose="020F0502020204030204" pitchFamily="34" charset="0"/>
                <a:cs typeface="Kokila" panose="020B0604020202020204" pitchFamily="34" charset="0"/>
              </a:rPr>
              <a:t>provided algorithms for calculating them</a:t>
            </a:r>
            <a:r>
              <a:rPr lang="en-IN" sz="2000" dirty="0">
                <a:latin typeface="Times New Roman" panose="02020603050405020304" pitchFamily="18" charset="0"/>
                <a:ea typeface="Calibri" panose="020F0502020204030204" pitchFamily="34" charset="0"/>
                <a:cs typeface="Kokila" panose="020B0604020202020204" pitchFamily="34" charset="0"/>
              </a:rPr>
              <a:t>.</a:t>
            </a:r>
            <a:endParaRPr lang="en-US" dirty="0">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2000" dirty="0">
                <a:latin typeface="Times New Roman" panose="02020603050405020304" pitchFamily="18" charset="0"/>
                <a:ea typeface="Calibri" panose="020F0502020204030204" pitchFamily="34" charset="0"/>
                <a:cs typeface="Kokila" panose="020B0604020202020204" pitchFamily="34" charset="0"/>
              </a:rPr>
              <a:t>  - </a:t>
            </a:r>
            <a:r>
              <a:rPr lang="en-IN" sz="2000" b="1" dirty="0" err="1">
                <a:latin typeface="Times New Roman" panose="02020603050405020304" pitchFamily="18" charset="0"/>
                <a:ea typeface="Calibri" panose="020F0502020204030204" pitchFamily="34" charset="0"/>
                <a:cs typeface="Kokila" panose="020B0604020202020204" pitchFamily="34" charset="0"/>
              </a:rPr>
              <a:t>Brahmagupta</a:t>
            </a:r>
            <a:r>
              <a:rPr lang="en-IN" sz="2000" b="1" dirty="0">
                <a:latin typeface="Times New Roman" panose="02020603050405020304" pitchFamily="18" charset="0"/>
                <a:ea typeface="Calibri" panose="020F0502020204030204" pitchFamily="34" charset="0"/>
                <a:cs typeface="Kokila" panose="020B0604020202020204" pitchFamily="34" charset="0"/>
              </a:rPr>
              <a:t> calculated the length of the solar year </a:t>
            </a:r>
            <a:r>
              <a:rPr lang="en-IN" sz="2000" dirty="0">
                <a:latin typeface="Times New Roman" panose="02020603050405020304" pitchFamily="18" charset="0"/>
                <a:ea typeface="Calibri" panose="020F0502020204030204" pitchFamily="34" charset="0"/>
                <a:cs typeface="Kokila" panose="020B0604020202020204" pitchFamily="34" charset="0"/>
              </a:rPr>
              <a:t>and offered rules for determining the time of eclipses.</a:t>
            </a:r>
            <a:endParaRPr lang="en-US" dirty="0">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2000" b="1" dirty="0">
                <a:latin typeface="Times New Roman" panose="02020603050405020304" pitchFamily="18" charset="0"/>
                <a:ea typeface="Calibri" panose="020F0502020204030204" pitchFamily="34" charset="0"/>
                <a:cs typeface="Kokila" panose="020B0604020202020204" pitchFamily="34" charset="0"/>
              </a:rPr>
              <a:t>Conclusion</a:t>
            </a:r>
            <a:endParaRPr lang="en-US" dirty="0">
              <a:latin typeface="Calibri" panose="020F0502020204030204" pitchFamily="34" charset="0"/>
              <a:ea typeface="Calibri" panose="020F0502020204030204" pitchFamily="34" charset="0"/>
              <a:cs typeface="Kokila" panose="020B0604020202020204" pitchFamily="34" charset="0"/>
            </a:endParaRPr>
          </a:p>
          <a:p>
            <a:pPr algn="just">
              <a:lnSpc>
                <a:spcPct val="107000"/>
              </a:lnSpc>
              <a:spcAft>
                <a:spcPts val="800"/>
              </a:spcAft>
            </a:pPr>
            <a:r>
              <a:rPr lang="en-IN" sz="2000" dirty="0">
                <a:latin typeface="Times New Roman" panose="02020603050405020304" pitchFamily="18" charset="0"/>
                <a:ea typeface="Calibri" panose="020F0502020204030204" pitchFamily="34" charset="0"/>
                <a:cs typeface="Kokila" panose="020B0604020202020204" pitchFamily="34" charset="0"/>
              </a:rPr>
              <a:t>The contributions of Aryabhata, </a:t>
            </a:r>
            <a:r>
              <a:rPr lang="en-IN" sz="2000" dirty="0" err="1">
                <a:latin typeface="Times New Roman" panose="02020603050405020304" pitchFamily="18" charset="0"/>
                <a:ea typeface="Calibri" panose="020F0502020204030204" pitchFamily="34" charset="0"/>
                <a:cs typeface="Kokila" panose="020B0604020202020204" pitchFamily="34" charset="0"/>
              </a:rPr>
              <a:t>Varahamihira</a:t>
            </a:r>
            <a:r>
              <a:rPr lang="en-IN" sz="2000" dirty="0">
                <a:latin typeface="Times New Roman" panose="02020603050405020304" pitchFamily="18" charset="0"/>
                <a:ea typeface="Calibri" panose="020F0502020204030204" pitchFamily="34" charset="0"/>
                <a:cs typeface="Kokila" panose="020B0604020202020204" pitchFamily="34" charset="0"/>
              </a:rPr>
              <a:t>, and </a:t>
            </a:r>
            <a:r>
              <a:rPr lang="en-IN" sz="2000" dirty="0" err="1">
                <a:latin typeface="Times New Roman" panose="02020603050405020304" pitchFamily="18" charset="0"/>
                <a:ea typeface="Calibri" panose="020F0502020204030204" pitchFamily="34" charset="0"/>
                <a:cs typeface="Kokila" panose="020B0604020202020204" pitchFamily="34" charset="0"/>
              </a:rPr>
              <a:t>Brahmagupta</a:t>
            </a:r>
            <a:r>
              <a:rPr lang="en-IN" sz="2000" dirty="0">
                <a:latin typeface="Times New Roman" panose="02020603050405020304" pitchFamily="18" charset="0"/>
                <a:ea typeface="Calibri" panose="020F0502020204030204" pitchFamily="34" charset="0"/>
                <a:cs typeface="Kokila" panose="020B0604020202020204" pitchFamily="34" charset="0"/>
              </a:rPr>
              <a:t> laid the groundwork for advancements in mathematics and astronomy not only in India but also influenced later scholars across the world. Their works reflect a deep understanding of numerical concepts, celestial mechanics, and the philosophical implications of their findings, showcasing the rich scientific heritage of ancient and medieval India.</a:t>
            </a:r>
            <a:endParaRPr lang="en-US" dirty="0">
              <a:effectLst/>
              <a:latin typeface="Calibri" panose="020F0502020204030204" pitchFamily="34" charset="0"/>
              <a:ea typeface="Calibri" panose="020F0502020204030204" pitchFamily="34" charset="0"/>
              <a:cs typeface="Kokila" panose="020B0604020202020204" pitchFamily="34" charset="0"/>
            </a:endParaRPr>
          </a:p>
        </p:txBody>
      </p:sp>
    </p:spTree>
    <p:extLst>
      <p:ext uri="{BB962C8B-B14F-4D97-AF65-F5344CB8AC3E}">
        <p14:creationId xmlns:p14="http://schemas.microsoft.com/office/powerpoint/2010/main" val="805042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72937" y="2643442"/>
            <a:ext cx="7315199" cy="707886"/>
          </a:xfrm>
          <a:prstGeom prst="rect">
            <a:avLst/>
          </a:prstGeom>
        </p:spPr>
        <p:txBody>
          <a:bodyPr wrap="square">
            <a:spAutoFit/>
          </a:bodyPr>
          <a:lstStyle/>
          <a:p>
            <a:pPr algn="ctr"/>
            <a:r>
              <a:rPr lang="en-IN" sz="4000" b="1" dirty="0">
                <a:latin typeface="Calibri" panose="020F0502020204030204" pitchFamily="34" charset="0"/>
                <a:ea typeface="Calibri" panose="020F0502020204030204" pitchFamily="34" charset="0"/>
                <a:cs typeface="Kokila" panose="020B0604020202020204" pitchFamily="34" charset="0"/>
              </a:rPr>
              <a:t>  Art and Architecture of India</a:t>
            </a:r>
            <a:endParaRPr lang="en-US" sz="4000" dirty="0"/>
          </a:p>
        </p:txBody>
      </p:sp>
    </p:spTree>
    <p:extLst>
      <p:ext uri="{BB962C8B-B14F-4D97-AF65-F5344CB8AC3E}">
        <p14:creationId xmlns:p14="http://schemas.microsoft.com/office/powerpoint/2010/main" val="122323978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27017" y="148772"/>
            <a:ext cx="10698480" cy="6662208"/>
          </a:xfrm>
          <a:prstGeom prst="rect">
            <a:avLst/>
          </a:prstGeom>
        </p:spPr>
        <p:txBody>
          <a:bodyPr wrap="square">
            <a:spAutoFit/>
          </a:bodyPr>
          <a:lstStyle/>
          <a:p>
            <a:pPr algn="ctr"/>
            <a:r>
              <a:rPr lang="en-IN" sz="1350" b="1" dirty="0">
                <a:latin typeface="Times New Roman" panose="02020603050405020304" pitchFamily="18" charset="0"/>
                <a:ea typeface="Times New Roman" panose="02020603050405020304" pitchFamily="18" charset="0"/>
              </a:rPr>
              <a:t> </a:t>
            </a:r>
            <a:r>
              <a:rPr lang="en-IN" sz="2800" b="1" dirty="0">
                <a:latin typeface="Times New Roman" panose="02020603050405020304" pitchFamily="18" charset="0"/>
                <a:ea typeface="Times New Roman" panose="02020603050405020304" pitchFamily="18" charset="0"/>
                <a:cs typeface="Times New Roman" panose="02020603050405020304" pitchFamily="18" charset="0"/>
              </a:rPr>
              <a:t>1. </a:t>
            </a:r>
            <a:r>
              <a:rPr lang="en-IN" sz="2800" b="1" dirty="0" err="1">
                <a:latin typeface="Times New Roman" panose="02020603050405020304" pitchFamily="18" charset="0"/>
                <a:ea typeface="Times New Roman" panose="02020603050405020304" pitchFamily="18" charset="0"/>
                <a:cs typeface="Times New Roman" panose="02020603050405020304" pitchFamily="18" charset="0"/>
              </a:rPr>
              <a:t>Ashoka</a:t>
            </a:r>
            <a:r>
              <a:rPr lang="en-IN" sz="2800" b="1" dirty="0">
                <a:latin typeface="Times New Roman" panose="02020603050405020304" pitchFamily="18" charset="0"/>
                <a:ea typeface="Times New Roman" panose="02020603050405020304" pitchFamily="18" charset="0"/>
                <a:cs typeface="Times New Roman" panose="02020603050405020304" pitchFamily="18" charset="0"/>
              </a:rPr>
              <a:t> Pillars (</a:t>
            </a:r>
            <a:r>
              <a:rPr lang="en-IN" sz="2800" b="1" dirty="0" err="1">
                <a:latin typeface="Times New Roman" panose="02020603050405020304" pitchFamily="18" charset="0"/>
                <a:ea typeface="Times New Roman" panose="02020603050405020304" pitchFamily="18" charset="0"/>
                <a:cs typeface="Times New Roman" panose="02020603050405020304" pitchFamily="18" charset="0"/>
              </a:rPr>
              <a:t>Mauryan</a:t>
            </a:r>
            <a:r>
              <a:rPr lang="en-IN" sz="2800" b="1" dirty="0">
                <a:latin typeface="Times New Roman" panose="02020603050405020304" pitchFamily="18" charset="0"/>
                <a:ea typeface="Times New Roman" panose="02020603050405020304" pitchFamily="18" charset="0"/>
                <a:cs typeface="Times New Roman" panose="02020603050405020304" pitchFamily="18" charset="0"/>
              </a:rPr>
              <a:t> Period)</a:t>
            </a:r>
            <a:endParaRPr lang="en-US" sz="2800" b="1" dirty="0">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buSzPts val="1000"/>
              <a:buFont typeface="Symbol" panose="05050102010706020507" pitchFamily="18" charset="2"/>
              <a:buChar char=""/>
              <a:tabLst>
                <a:tab pos="457200" algn="l"/>
              </a:tabLst>
            </a:pPr>
            <a:r>
              <a:rPr lang="en-IN" sz="2000" b="1" dirty="0">
                <a:latin typeface="Times New Roman" panose="02020603050405020304" pitchFamily="18" charset="0"/>
                <a:ea typeface="Times New Roman" panose="02020603050405020304" pitchFamily="18" charset="0"/>
                <a:cs typeface="Times New Roman" panose="02020603050405020304" pitchFamily="18" charset="0"/>
              </a:rPr>
              <a:t>Time Period</a:t>
            </a:r>
            <a:r>
              <a:rPr lang="en-IN" sz="2000" dirty="0">
                <a:latin typeface="Times New Roman" panose="02020603050405020304" pitchFamily="18" charset="0"/>
                <a:ea typeface="Times New Roman" panose="02020603050405020304" pitchFamily="18" charset="0"/>
                <a:cs typeface="Times New Roman" panose="02020603050405020304" pitchFamily="18" charset="0"/>
              </a:rPr>
              <a:t>: 3rd Century BCE (</a:t>
            </a:r>
            <a:r>
              <a:rPr lang="en-IN" sz="2000" dirty="0" err="1">
                <a:latin typeface="Times New Roman" panose="02020603050405020304" pitchFamily="18" charset="0"/>
                <a:ea typeface="Times New Roman" panose="02020603050405020304" pitchFamily="18" charset="0"/>
                <a:cs typeface="Times New Roman" panose="02020603050405020304" pitchFamily="18" charset="0"/>
              </a:rPr>
              <a:t>Mauryan</a:t>
            </a:r>
            <a:r>
              <a:rPr lang="en-IN" sz="2000" dirty="0">
                <a:latin typeface="Times New Roman" panose="02020603050405020304" pitchFamily="18" charset="0"/>
                <a:ea typeface="Times New Roman" panose="02020603050405020304" pitchFamily="18" charset="0"/>
                <a:cs typeface="Times New Roman" panose="02020603050405020304" pitchFamily="18" charset="0"/>
              </a:rPr>
              <a:t> Empire)</a:t>
            </a:r>
            <a:endParaRPr 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buSzPts val="1000"/>
              <a:buFont typeface="Symbol" panose="05050102010706020507" pitchFamily="18" charset="2"/>
              <a:buChar char=""/>
              <a:tabLst>
                <a:tab pos="457200" algn="l"/>
              </a:tabLst>
            </a:pPr>
            <a:r>
              <a:rPr lang="en-IN" sz="2000" b="1" dirty="0">
                <a:latin typeface="Times New Roman" panose="02020603050405020304" pitchFamily="18" charset="0"/>
                <a:ea typeface="Times New Roman" panose="02020603050405020304" pitchFamily="18" charset="0"/>
                <a:cs typeface="Times New Roman" panose="02020603050405020304" pitchFamily="18" charset="0"/>
              </a:rPr>
              <a:t>Builder</a:t>
            </a:r>
            <a:r>
              <a:rPr lang="en-IN" sz="2000" dirty="0">
                <a:latin typeface="Times New Roman" panose="02020603050405020304" pitchFamily="18" charset="0"/>
                <a:ea typeface="Times New Roman" panose="02020603050405020304" pitchFamily="18" charset="0"/>
                <a:cs typeface="Times New Roman" panose="02020603050405020304" pitchFamily="18" charset="0"/>
              </a:rPr>
              <a:t>: Emperor </a:t>
            </a:r>
            <a:r>
              <a:rPr lang="en-IN" sz="2000" b="1" dirty="0" err="1">
                <a:latin typeface="Times New Roman" panose="02020603050405020304" pitchFamily="18" charset="0"/>
                <a:ea typeface="Times New Roman" panose="02020603050405020304" pitchFamily="18" charset="0"/>
                <a:cs typeface="Times New Roman" panose="02020603050405020304" pitchFamily="18" charset="0"/>
              </a:rPr>
              <a:t>Ashoka</a:t>
            </a:r>
            <a:r>
              <a:rPr lang="en-IN" sz="2000" b="1" dirty="0">
                <a:latin typeface="Times New Roman" panose="02020603050405020304" pitchFamily="18" charset="0"/>
                <a:ea typeface="Times New Roman" panose="02020603050405020304" pitchFamily="18" charset="0"/>
                <a:cs typeface="Times New Roman" panose="02020603050405020304" pitchFamily="18" charset="0"/>
              </a:rPr>
              <a:t> the Great</a:t>
            </a:r>
            <a:endParaRPr 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buSzPts val="1000"/>
              <a:buFont typeface="Symbol" panose="05050102010706020507" pitchFamily="18" charset="2"/>
              <a:buChar char=""/>
              <a:tabLst>
                <a:tab pos="457200" algn="l"/>
              </a:tabLst>
            </a:pPr>
            <a:r>
              <a:rPr lang="en-IN" sz="2000" b="1" dirty="0">
                <a:latin typeface="Times New Roman" panose="02020603050405020304" pitchFamily="18" charset="0"/>
                <a:ea typeface="Times New Roman" panose="02020603050405020304" pitchFamily="18" charset="0"/>
                <a:cs typeface="Times New Roman" panose="02020603050405020304" pitchFamily="18" charset="0"/>
              </a:rPr>
              <a:t>Material</a:t>
            </a:r>
            <a:r>
              <a:rPr lang="en-IN" sz="2000" dirty="0">
                <a:latin typeface="Times New Roman" panose="02020603050405020304" pitchFamily="18" charset="0"/>
                <a:ea typeface="Times New Roman" panose="02020603050405020304" pitchFamily="18" charset="0"/>
                <a:cs typeface="Times New Roman" panose="02020603050405020304" pitchFamily="18" charset="0"/>
              </a:rPr>
              <a:t>: Single piece of </a:t>
            </a:r>
            <a:r>
              <a:rPr lang="en-IN" sz="2000" b="1" dirty="0">
                <a:latin typeface="Times New Roman" panose="02020603050405020304" pitchFamily="18" charset="0"/>
                <a:ea typeface="Times New Roman" panose="02020603050405020304" pitchFamily="18" charset="0"/>
                <a:cs typeface="Times New Roman" panose="02020603050405020304" pitchFamily="18" charset="0"/>
              </a:rPr>
              <a:t>polished sandstone</a:t>
            </a:r>
            <a:r>
              <a:rPr lang="en-IN" sz="2000" dirty="0">
                <a:latin typeface="Times New Roman" panose="02020603050405020304" pitchFamily="18" charset="0"/>
                <a:ea typeface="Times New Roman" panose="02020603050405020304" pitchFamily="18" charset="0"/>
                <a:cs typeface="Times New Roman" panose="02020603050405020304" pitchFamily="18" charset="0"/>
              </a:rPr>
              <a:t> (monolithic)</a:t>
            </a:r>
            <a:endParaRPr 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nSpc>
                <a:spcPct val="107000"/>
              </a:lnSpc>
              <a:spcBef>
                <a:spcPts val="200"/>
              </a:spcBef>
            </a:pPr>
            <a:r>
              <a:rPr lang="en-IN" b="1" i="1" dirty="0">
                <a:solidFill>
                  <a:srgbClr val="2E74B5"/>
                </a:solidFill>
                <a:latin typeface="Times New Roman" panose="02020603050405020304" pitchFamily="18" charset="0"/>
                <a:ea typeface="Times New Roman" panose="02020603050405020304" pitchFamily="18" charset="0"/>
                <a:cs typeface="Times New Roman" panose="02020603050405020304" pitchFamily="18" charset="0"/>
              </a:rPr>
              <a:t>🔍 Key Features:</a:t>
            </a:r>
            <a:endParaRPr lang="en-US" b="1" i="1" dirty="0">
              <a:solidFill>
                <a:srgbClr val="2E74B5"/>
              </a:solidFill>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buSzPts val="1000"/>
              <a:buFont typeface="Symbol" panose="05050102010706020507" pitchFamily="18" charset="2"/>
              <a:buChar char=""/>
              <a:tabLst>
                <a:tab pos="457200" algn="l"/>
              </a:tabLst>
            </a:pPr>
            <a:r>
              <a:rPr lang="en-IN" sz="2000" b="1" dirty="0">
                <a:latin typeface="Times New Roman" panose="02020603050405020304" pitchFamily="18" charset="0"/>
                <a:ea typeface="Times New Roman" panose="02020603050405020304" pitchFamily="18" charset="0"/>
                <a:cs typeface="Times New Roman" panose="02020603050405020304" pitchFamily="18" charset="0"/>
              </a:rPr>
              <a:t>Inscriptions</a:t>
            </a:r>
            <a:r>
              <a:rPr lang="en-IN" sz="2000" dirty="0">
                <a:latin typeface="Times New Roman" panose="02020603050405020304" pitchFamily="18" charset="0"/>
                <a:ea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marL="742950" marR="0" lvl="1" indent="-285750">
              <a:buSzPts val="1000"/>
              <a:buFont typeface="Courier New" panose="02070309020205020404" pitchFamily="49" charset="0"/>
              <a:buChar char="o"/>
              <a:tabLst>
                <a:tab pos="914400" algn="l"/>
              </a:tabLst>
            </a:pPr>
            <a:r>
              <a:rPr lang="en-IN" sz="2000" dirty="0">
                <a:latin typeface="Times New Roman" panose="02020603050405020304" pitchFamily="18" charset="0"/>
                <a:ea typeface="Times New Roman" panose="02020603050405020304" pitchFamily="18" charset="0"/>
                <a:cs typeface="Times New Roman" panose="02020603050405020304" pitchFamily="18" charset="0"/>
              </a:rPr>
              <a:t>Carved in </a:t>
            </a:r>
            <a:r>
              <a:rPr lang="en-IN" sz="2000" b="1" dirty="0">
                <a:latin typeface="Times New Roman" panose="02020603050405020304" pitchFamily="18" charset="0"/>
                <a:ea typeface="Times New Roman" panose="02020603050405020304" pitchFamily="18" charset="0"/>
                <a:cs typeface="Times New Roman" panose="02020603050405020304" pitchFamily="18" charset="0"/>
              </a:rPr>
              <a:t>Brahmi script</a:t>
            </a:r>
            <a:endParaRPr 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marL="742950" marR="0" lvl="1" indent="-285750">
              <a:buSzPts val="1000"/>
              <a:buFont typeface="Courier New" panose="02070309020205020404" pitchFamily="49" charset="0"/>
              <a:buChar char="o"/>
              <a:tabLst>
                <a:tab pos="914400" algn="l"/>
              </a:tabLst>
            </a:pPr>
            <a:r>
              <a:rPr lang="en-IN" sz="2000" dirty="0">
                <a:latin typeface="Times New Roman" panose="02020603050405020304" pitchFamily="18" charset="0"/>
                <a:ea typeface="Times New Roman" panose="02020603050405020304" pitchFamily="18" charset="0"/>
                <a:cs typeface="Times New Roman" panose="02020603050405020304" pitchFamily="18" charset="0"/>
              </a:rPr>
              <a:t>Edicts of </a:t>
            </a:r>
            <a:r>
              <a:rPr lang="en-IN" sz="2000" dirty="0" err="1">
                <a:latin typeface="Times New Roman" panose="02020603050405020304" pitchFamily="18" charset="0"/>
                <a:ea typeface="Times New Roman" panose="02020603050405020304" pitchFamily="18" charset="0"/>
                <a:cs typeface="Times New Roman" panose="02020603050405020304" pitchFamily="18" charset="0"/>
              </a:rPr>
              <a:t>Ashoka</a:t>
            </a:r>
            <a:r>
              <a:rPr lang="en-IN" sz="2000" dirty="0">
                <a:latin typeface="Times New Roman" panose="02020603050405020304" pitchFamily="18" charset="0"/>
                <a:ea typeface="Times New Roman" panose="02020603050405020304" pitchFamily="18" charset="0"/>
                <a:cs typeface="Times New Roman" panose="02020603050405020304" pitchFamily="18" charset="0"/>
              </a:rPr>
              <a:t> promoting </a:t>
            </a:r>
            <a:r>
              <a:rPr lang="en-IN" sz="2000" b="1" dirty="0" err="1">
                <a:latin typeface="Times New Roman" panose="02020603050405020304" pitchFamily="18" charset="0"/>
                <a:ea typeface="Times New Roman" panose="02020603050405020304" pitchFamily="18" charset="0"/>
                <a:cs typeface="Times New Roman" panose="02020603050405020304" pitchFamily="18" charset="0"/>
              </a:rPr>
              <a:t>Dhamma</a:t>
            </a:r>
            <a:r>
              <a:rPr lang="en-IN" sz="2000" dirty="0">
                <a:latin typeface="Times New Roman" panose="02020603050405020304" pitchFamily="18" charset="0"/>
                <a:ea typeface="Times New Roman" panose="02020603050405020304" pitchFamily="18" charset="0"/>
                <a:cs typeface="Times New Roman" panose="02020603050405020304" pitchFamily="18" charset="0"/>
              </a:rPr>
              <a:t> (moral governance)</a:t>
            </a:r>
            <a:endParaRPr 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buSzPts val="1000"/>
              <a:buFont typeface="Symbol" panose="05050102010706020507" pitchFamily="18" charset="2"/>
              <a:buChar char=""/>
              <a:tabLst>
                <a:tab pos="457200" algn="l"/>
              </a:tabLst>
            </a:pPr>
            <a:r>
              <a:rPr lang="en-IN" sz="2000" b="1" dirty="0">
                <a:latin typeface="Times New Roman" panose="02020603050405020304" pitchFamily="18" charset="0"/>
                <a:ea typeface="Times New Roman" panose="02020603050405020304" pitchFamily="18" charset="0"/>
                <a:cs typeface="Times New Roman" panose="02020603050405020304" pitchFamily="18" charset="0"/>
              </a:rPr>
              <a:t>Pillar Structure</a:t>
            </a:r>
            <a:r>
              <a:rPr lang="en-IN" sz="2000" dirty="0">
                <a:latin typeface="Times New Roman" panose="02020603050405020304" pitchFamily="18" charset="0"/>
                <a:ea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marL="742950" marR="0" lvl="1" indent="-285750">
              <a:buSzPts val="1000"/>
              <a:buFont typeface="Courier New" panose="02070309020205020404" pitchFamily="49" charset="0"/>
              <a:buChar char="o"/>
              <a:tabLst>
                <a:tab pos="914400" algn="l"/>
              </a:tabLst>
            </a:pPr>
            <a:r>
              <a:rPr lang="en-IN" sz="2000" dirty="0">
                <a:latin typeface="Times New Roman" panose="02020603050405020304" pitchFamily="18" charset="0"/>
                <a:ea typeface="Times New Roman" panose="02020603050405020304" pitchFamily="18" charset="0"/>
                <a:cs typeface="Times New Roman" panose="02020603050405020304" pitchFamily="18" charset="0"/>
              </a:rPr>
              <a:t>Divided into </a:t>
            </a:r>
            <a:r>
              <a:rPr lang="en-IN" sz="2000" b="1" dirty="0">
                <a:latin typeface="Times New Roman" panose="02020603050405020304" pitchFamily="18" charset="0"/>
                <a:ea typeface="Times New Roman" panose="02020603050405020304" pitchFamily="18" charset="0"/>
                <a:cs typeface="Times New Roman" panose="02020603050405020304" pitchFamily="18" charset="0"/>
              </a:rPr>
              <a:t>three parts</a:t>
            </a:r>
            <a:r>
              <a:rPr lang="en-IN" sz="2000" dirty="0">
                <a:latin typeface="Times New Roman" panose="02020603050405020304" pitchFamily="18" charset="0"/>
                <a:ea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marL="1257300" marR="0" lvl="2" indent="-342900">
              <a:buFont typeface="Arial" panose="020B0604020202020204" pitchFamily="34" charset="0"/>
              <a:buChar char="•"/>
              <a:tabLst>
                <a:tab pos="1371600" algn="l"/>
              </a:tabLst>
            </a:pPr>
            <a:r>
              <a:rPr lang="en-IN" sz="2000" b="1" dirty="0">
                <a:latin typeface="Times New Roman" panose="02020603050405020304" pitchFamily="18" charset="0"/>
                <a:ea typeface="Times New Roman" panose="02020603050405020304" pitchFamily="18" charset="0"/>
                <a:cs typeface="Times New Roman" panose="02020603050405020304" pitchFamily="18" charset="0"/>
              </a:rPr>
              <a:t>Base</a:t>
            </a:r>
            <a:endParaRPr 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marL="1257300" marR="0" lvl="2" indent="-342900">
              <a:buFont typeface="Arial" panose="020B0604020202020204" pitchFamily="34" charset="0"/>
              <a:buChar char="•"/>
              <a:tabLst>
                <a:tab pos="1371600" algn="l"/>
              </a:tabLst>
            </a:pPr>
            <a:r>
              <a:rPr lang="en-IN" sz="2000" b="1" dirty="0">
                <a:latin typeface="Times New Roman" panose="02020603050405020304" pitchFamily="18" charset="0"/>
                <a:ea typeface="Times New Roman" panose="02020603050405020304" pitchFamily="18" charset="0"/>
                <a:cs typeface="Times New Roman" panose="02020603050405020304" pitchFamily="18" charset="0"/>
              </a:rPr>
              <a:t>Shaft</a:t>
            </a:r>
            <a:r>
              <a:rPr lang="en-IN" sz="2000" dirty="0">
                <a:latin typeface="Times New Roman" panose="02020603050405020304" pitchFamily="18" charset="0"/>
                <a:ea typeface="Times New Roman" panose="02020603050405020304" pitchFamily="18" charset="0"/>
                <a:cs typeface="Times New Roman" panose="02020603050405020304" pitchFamily="18" charset="0"/>
              </a:rPr>
              <a:t> – smooth, tapering, polished</a:t>
            </a:r>
            <a:endParaRPr 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marL="1257300" marR="0" lvl="2" indent="-342900">
              <a:buFont typeface="Arial" panose="020B0604020202020204" pitchFamily="34" charset="0"/>
              <a:buChar char="•"/>
              <a:tabLst>
                <a:tab pos="1371600" algn="l"/>
              </a:tabLst>
            </a:pPr>
            <a:r>
              <a:rPr lang="en-IN" sz="2000" b="1" dirty="0">
                <a:latin typeface="Times New Roman" panose="02020603050405020304" pitchFamily="18" charset="0"/>
                <a:ea typeface="Times New Roman" panose="02020603050405020304" pitchFamily="18" charset="0"/>
                <a:cs typeface="Times New Roman" panose="02020603050405020304" pitchFamily="18" charset="0"/>
              </a:rPr>
              <a:t>Capital</a:t>
            </a:r>
            <a:r>
              <a:rPr lang="en-IN" sz="2000" dirty="0">
                <a:latin typeface="Times New Roman" panose="02020603050405020304" pitchFamily="18" charset="0"/>
                <a:ea typeface="Times New Roman" panose="02020603050405020304" pitchFamily="18" charset="0"/>
                <a:cs typeface="Times New Roman" panose="02020603050405020304" pitchFamily="18" charset="0"/>
              </a:rPr>
              <a:t> – bell-shaped with animal figures (bull, lion, elephant)</a:t>
            </a:r>
            <a:endParaRPr 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buSzPts val="1000"/>
              <a:buFont typeface="Symbol" panose="05050102010706020507" pitchFamily="18" charset="2"/>
              <a:buChar char=""/>
              <a:tabLst>
                <a:tab pos="457200" algn="l"/>
              </a:tabLst>
            </a:pPr>
            <a:r>
              <a:rPr lang="en-IN" sz="2000" b="1" dirty="0" err="1">
                <a:latin typeface="Times New Roman" panose="02020603050405020304" pitchFamily="18" charset="0"/>
                <a:ea typeface="Times New Roman" panose="02020603050405020304" pitchFamily="18" charset="0"/>
                <a:cs typeface="Times New Roman" panose="02020603050405020304" pitchFamily="18" charset="0"/>
              </a:rPr>
              <a:t>Sarnath</a:t>
            </a:r>
            <a:r>
              <a:rPr lang="en-IN" sz="2000" b="1" dirty="0">
                <a:latin typeface="Times New Roman" panose="02020603050405020304" pitchFamily="18" charset="0"/>
                <a:ea typeface="Times New Roman" panose="02020603050405020304" pitchFamily="18" charset="0"/>
                <a:cs typeface="Times New Roman" panose="02020603050405020304" pitchFamily="18" charset="0"/>
              </a:rPr>
              <a:t> Lion Capital</a:t>
            </a:r>
            <a:r>
              <a:rPr lang="en-IN" sz="2000" dirty="0">
                <a:latin typeface="Times New Roman" panose="02020603050405020304" pitchFamily="18" charset="0"/>
                <a:ea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marL="742950" marR="0" lvl="1" indent="-285750">
              <a:buSzPts val="1000"/>
              <a:buFont typeface="Courier New" panose="02070309020205020404" pitchFamily="49" charset="0"/>
              <a:buChar char="o"/>
              <a:tabLst>
                <a:tab pos="914400" algn="l"/>
              </a:tabLst>
            </a:pPr>
            <a:r>
              <a:rPr lang="en-IN" sz="2000" dirty="0">
                <a:latin typeface="Times New Roman" panose="02020603050405020304" pitchFamily="18" charset="0"/>
                <a:ea typeface="Times New Roman" panose="02020603050405020304" pitchFamily="18" charset="0"/>
                <a:cs typeface="Times New Roman" panose="02020603050405020304" pitchFamily="18" charset="0"/>
              </a:rPr>
              <a:t>Four lions back-to-back on a circular abacus</a:t>
            </a:r>
            <a:endParaRPr 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marL="742950" marR="0" lvl="1" indent="-285750">
              <a:buSzPts val="1000"/>
              <a:buFont typeface="Courier New" panose="02070309020205020404" pitchFamily="49" charset="0"/>
              <a:buChar char="o"/>
              <a:tabLst>
                <a:tab pos="914400" algn="l"/>
              </a:tabLst>
            </a:pPr>
            <a:r>
              <a:rPr lang="en-IN" sz="2000" b="1" dirty="0">
                <a:latin typeface="Times New Roman" panose="02020603050405020304" pitchFamily="18" charset="0"/>
                <a:ea typeface="Times New Roman" panose="02020603050405020304" pitchFamily="18" charset="0"/>
                <a:cs typeface="Times New Roman" panose="02020603050405020304" pitchFamily="18" charset="0"/>
              </a:rPr>
              <a:t>National Emblem of India</a:t>
            </a:r>
            <a:endParaRPr 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marL="742950" marR="0" lvl="1" indent="-285750">
              <a:buSzPts val="1000"/>
              <a:buFont typeface="Courier New" panose="02070309020205020404" pitchFamily="49" charset="0"/>
              <a:buChar char="o"/>
              <a:tabLst>
                <a:tab pos="914400" algn="l"/>
              </a:tabLst>
            </a:pPr>
            <a:r>
              <a:rPr lang="en-IN" sz="2000" dirty="0">
                <a:latin typeface="Times New Roman" panose="02020603050405020304" pitchFamily="18" charset="0"/>
                <a:ea typeface="Times New Roman" panose="02020603050405020304" pitchFamily="18" charset="0"/>
                <a:cs typeface="Times New Roman" panose="02020603050405020304" pitchFamily="18" charset="0"/>
              </a:rPr>
              <a:t>Abacus carved with </a:t>
            </a:r>
            <a:r>
              <a:rPr lang="en-IN" sz="2000" b="1" dirty="0">
                <a:latin typeface="Times New Roman" panose="02020603050405020304" pitchFamily="18" charset="0"/>
                <a:ea typeface="Times New Roman" panose="02020603050405020304" pitchFamily="18" charset="0"/>
                <a:cs typeface="Times New Roman" panose="02020603050405020304" pitchFamily="18" charset="0"/>
              </a:rPr>
              <a:t>chakra, bull, elephant, horse</a:t>
            </a:r>
            <a:endParaRPr 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marL="742950" marR="0" lvl="1" indent="-285750">
              <a:buSzPts val="1000"/>
              <a:buFont typeface="Courier New" panose="02070309020205020404" pitchFamily="49" charset="0"/>
              <a:buChar char="o"/>
              <a:tabLst>
                <a:tab pos="914400" algn="l"/>
              </a:tabLst>
            </a:pPr>
            <a:r>
              <a:rPr lang="en-IN" sz="2000" b="1" dirty="0" err="1">
                <a:latin typeface="Times New Roman" panose="02020603050405020304" pitchFamily="18" charset="0"/>
                <a:ea typeface="Times New Roman" panose="02020603050405020304" pitchFamily="18" charset="0"/>
                <a:cs typeface="Times New Roman" panose="02020603050405020304" pitchFamily="18" charset="0"/>
              </a:rPr>
              <a:t>Ashoka</a:t>
            </a:r>
            <a:r>
              <a:rPr lang="en-IN" sz="2000" b="1" dirty="0">
                <a:latin typeface="Times New Roman" panose="02020603050405020304" pitchFamily="18" charset="0"/>
                <a:ea typeface="Times New Roman" panose="02020603050405020304" pitchFamily="18" charset="0"/>
                <a:cs typeface="Times New Roman" panose="02020603050405020304" pitchFamily="18" charset="0"/>
              </a:rPr>
              <a:t> Chakra</a:t>
            </a:r>
            <a:r>
              <a:rPr lang="en-IN" sz="2000" dirty="0">
                <a:latin typeface="Times New Roman" panose="02020603050405020304" pitchFamily="18" charset="0"/>
                <a:ea typeface="Times New Roman" panose="02020603050405020304" pitchFamily="18" charset="0"/>
                <a:cs typeface="Times New Roman" panose="02020603050405020304" pitchFamily="18" charset="0"/>
              </a:rPr>
              <a:t> in Indian flag is derived from here</a:t>
            </a:r>
            <a:endParaRPr 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buSzPts val="1000"/>
              <a:buFont typeface="Symbol" panose="05050102010706020507" pitchFamily="18" charset="2"/>
              <a:buChar char=""/>
              <a:tabLst>
                <a:tab pos="457200" algn="l"/>
              </a:tabLst>
            </a:pPr>
            <a:r>
              <a:rPr lang="en-IN" sz="2000" b="1" dirty="0">
                <a:latin typeface="Times New Roman" panose="02020603050405020304" pitchFamily="18" charset="0"/>
                <a:ea typeface="Times New Roman" panose="02020603050405020304" pitchFamily="18" charset="0"/>
                <a:cs typeface="Times New Roman" panose="02020603050405020304" pitchFamily="18" charset="0"/>
              </a:rPr>
              <a:t>Artistic Influence</a:t>
            </a:r>
            <a:r>
              <a:rPr lang="en-IN" sz="2000" dirty="0">
                <a:latin typeface="Times New Roman" panose="02020603050405020304" pitchFamily="18" charset="0"/>
                <a:ea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marL="742950" marR="0" lvl="1" indent="-285750">
              <a:buSzPts val="1000"/>
              <a:buFont typeface="Courier New" panose="02070309020205020404" pitchFamily="49" charset="0"/>
              <a:buChar char="o"/>
              <a:tabLst>
                <a:tab pos="914400" algn="l"/>
              </a:tabLst>
            </a:pPr>
            <a:r>
              <a:rPr lang="en-IN" sz="2000" dirty="0">
                <a:latin typeface="Times New Roman" panose="02020603050405020304" pitchFamily="18" charset="0"/>
                <a:ea typeface="Times New Roman" panose="02020603050405020304" pitchFamily="18" charset="0"/>
                <a:cs typeface="Times New Roman" panose="02020603050405020304" pitchFamily="18" charset="0"/>
              </a:rPr>
              <a:t>Inspired by </a:t>
            </a:r>
            <a:r>
              <a:rPr lang="en-IN" sz="2000" b="1" dirty="0" err="1">
                <a:latin typeface="Times New Roman" panose="02020603050405020304" pitchFamily="18" charset="0"/>
                <a:ea typeface="Times New Roman" panose="02020603050405020304" pitchFamily="18" charset="0"/>
                <a:cs typeface="Times New Roman" panose="02020603050405020304" pitchFamily="18" charset="0"/>
              </a:rPr>
              <a:t>Achaemenid</a:t>
            </a:r>
            <a:r>
              <a:rPr lang="en-IN" sz="2000" b="1" dirty="0">
                <a:latin typeface="Times New Roman" panose="02020603050405020304" pitchFamily="18" charset="0"/>
                <a:ea typeface="Times New Roman" panose="02020603050405020304" pitchFamily="18" charset="0"/>
                <a:cs typeface="Times New Roman" panose="02020603050405020304" pitchFamily="18" charset="0"/>
              </a:rPr>
              <a:t> (Persian) pillars</a:t>
            </a:r>
            <a:endParaRPr lang="en-US" sz="2000" dirty="0">
              <a:latin typeface="Times New Roman" panose="02020603050405020304" pitchFamily="18" charset="0"/>
              <a:ea typeface="Times New Roman" panose="02020603050405020304" pitchFamily="18" charset="0"/>
              <a:cs typeface="Times New Roman" panose="02020603050405020304" pitchFamily="18" charset="0"/>
            </a:endParaRPr>
          </a:p>
          <a:p>
            <a:r>
              <a:rPr lang="en-IN" dirty="0">
                <a:latin typeface="Times New Roman" panose="02020603050405020304" pitchFamily="18" charset="0"/>
                <a:ea typeface="Calibri" panose="020F0502020204030204" pitchFamily="34" charset="0"/>
                <a:cs typeface="Times New Roman" panose="02020603050405020304" pitchFamily="18" charset="0"/>
              </a:rPr>
              <a:t>Use of </a:t>
            </a:r>
            <a:r>
              <a:rPr lang="en-IN" b="1" dirty="0">
                <a:latin typeface="Times New Roman" panose="02020603050405020304" pitchFamily="18" charset="0"/>
                <a:ea typeface="Calibri" panose="020F0502020204030204" pitchFamily="34" charset="0"/>
                <a:cs typeface="Times New Roman" panose="02020603050405020304" pitchFamily="18" charset="0"/>
              </a:rPr>
              <a:t>high polish and fine carving</a:t>
            </a: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3553404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44137" y="275277"/>
            <a:ext cx="11364686" cy="6541278"/>
          </a:xfrm>
          <a:prstGeom prst="rect">
            <a:avLst/>
          </a:prstGeom>
        </p:spPr>
        <p:txBody>
          <a:bodyPr wrap="square">
            <a:spAutoFit/>
          </a:bodyPr>
          <a:lstStyle/>
          <a:p>
            <a:pPr algn="ctr"/>
            <a:r>
              <a:rPr lang="en-IN" sz="3600" b="1" dirty="0">
                <a:latin typeface="Times New Roman" panose="02020603050405020304" pitchFamily="18" charset="0"/>
                <a:ea typeface="Times New Roman" panose="02020603050405020304" pitchFamily="18" charset="0"/>
              </a:rPr>
              <a:t>2. </a:t>
            </a:r>
            <a:r>
              <a:rPr lang="en-IN" sz="3600" b="1" dirty="0" err="1">
                <a:latin typeface="Times New Roman" panose="02020603050405020304" pitchFamily="18" charset="0"/>
                <a:ea typeface="Times New Roman" panose="02020603050405020304" pitchFamily="18" charset="0"/>
              </a:rPr>
              <a:t>Sanchi</a:t>
            </a:r>
            <a:r>
              <a:rPr lang="en-IN" sz="3600" b="1" dirty="0">
                <a:latin typeface="Times New Roman" panose="02020603050405020304" pitchFamily="18" charset="0"/>
                <a:ea typeface="Times New Roman" panose="02020603050405020304" pitchFamily="18" charset="0"/>
              </a:rPr>
              <a:t> Stupa</a:t>
            </a:r>
            <a:endParaRPr lang="en-US" sz="3600" b="1" dirty="0">
              <a:latin typeface="Times New Roman" panose="02020603050405020304" pitchFamily="18" charset="0"/>
              <a:ea typeface="Times New Roman" panose="02020603050405020304" pitchFamily="18" charset="0"/>
            </a:endParaRPr>
          </a:p>
          <a:p>
            <a:pPr marL="342900" marR="0" lvl="0" indent="-342900">
              <a:buSzPts val="1000"/>
              <a:buFont typeface="Symbol" panose="05050102010706020507" pitchFamily="18" charset="2"/>
              <a:buChar char=""/>
              <a:tabLst>
                <a:tab pos="457200" algn="l"/>
              </a:tabLst>
            </a:pPr>
            <a:r>
              <a:rPr lang="en-IN" sz="2400" b="1" dirty="0">
                <a:latin typeface="Times New Roman" panose="02020603050405020304" pitchFamily="18" charset="0"/>
                <a:ea typeface="Times New Roman" panose="02020603050405020304" pitchFamily="18" charset="0"/>
              </a:rPr>
              <a:t>Location</a:t>
            </a:r>
            <a:r>
              <a:rPr lang="en-IN" sz="2400" dirty="0">
                <a:latin typeface="Times New Roman" panose="02020603050405020304" pitchFamily="18" charset="0"/>
                <a:ea typeface="Times New Roman" panose="02020603050405020304" pitchFamily="18" charset="0"/>
              </a:rPr>
              <a:t>: </a:t>
            </a:r>
            <a:r>
              <a:rPr lang="en-IN" sz="2400" b="1" dirty="0" err="1">
                <a:latin typeface="Times New Roman" panose="02020603050405020304" pitchFamily="18" charset="0"/>
                <a:ea typeface="Times New Roman" panose="02020603050405020304" pitchFamily="18" charset="0"/>
              </a:rPr>
              <a:t>Sanchi</a:t>
            </a:r>
            <a:r>
              <a:rPr lang="en-IN" sz="2400" b="1" dirty="0">
                <a:latin typeface="Times New Roman" panose="02020603050405020304" pitchFamily="18" charset="0"/>
                <a:ea typeface="Times New Roman" panose="02020603050405020304" pitchFamily="18" charset="0"/>
              </a:rPr>
              <a:t>, Madhya Pradesh</a:t>
            </a:r>
            <a:endParaRPr lang="en-US" sz="2400" b="1" dirty="0">
              <a:latin typeface="Times New Roman" panose="02020603050405020304" pitchFamily="18" charset="0"/>
              <a:ea typeface="Times New Roman" panose="02020603050405020304" pitchFamily="18" charset="0"/>
            </a:endParaRPr>
          </a:p>
          <a:p>
            <a:pPr marL="342900" marR="0" lvl="0" indent="-342900">
              <a:buSzPts val="1000"/>
              <a:buFont typeface="Symbol" panose="05050102010706020507" pitchFamily="18" charset="2"/>
              <a:buChar char=""/>
              <a:tabLst>
                <a:tab pos="457200" algn="l"/>
              </a:tabLst>
            </a:pPr>
            <a:r>
              <a:rPr lang="en-IN" sz="2400" b="1" dirty="0">
                <a:latin typeface="Times New Roman" panose="02020603050405020304" pitchFamily="18" charset="0"/>
                <a:ea typeface="Times New Roman" panose="02020603050405020304" pitchFamily="18" charset="0"/>
              </a:rPr>
              <a:t>Built by</a:t>
            </a:r>
            <a:r>
              <a:rPr lang="en-IN" sz="2400" dirty="0">
                <a:latin typeface="Times New Roman" panose="02020603050405020304" pitchFamily="18" charset="0"/>
                <a:ea typeface="Times New Roman" panose="02020603050405020304" pitchFamily="18" charset="0"/>
              </a:rPr>
              <a:t>: Emperor </a:t>
            </a:r>
            <a:r>
              <a:rPr lang="en-IN" sz="2400" dirty="0" err="1">
                <a:latin typeface="Times New Roman" panose="02020603050405020304" pitchFamily="18" charset="0"/>
                <a:ea typeface="Times New Roman" panose="02020603050405020304" pitchFamily="18" charset="0"/>
              </a:rPr>
              <a:t>Ashoka</a:t>
            </a:r>
            <a:r>
              <a:rPr lang="en-IN" sz="2400" dirty="0">
                <a:latin typeface="Times New Roman" panose="02020603050405020304" pitchFamily="18" charset="0"/>
                <a:ea typeface="Times New Roman" panose="02020603050405020304" pitchFamily="18" charset="0"/>
              </a:rPr>
              <a:t> in 3rd Century BCE</a:t>
            </a:r>
            <a:endParaRPr lang="en-US" sz="2400" dirty="0">
              <a:latin typeface="Times New Roman" panose="02020603050405020304" pitchFamily="18" charset="0"/>
              <a:ea typeface="Times New Roman" panose="02020603050405020304" pitchFamily="18" charset="0"/>
            </a:endParaRPr>
          </a:p>
          <a:p>
            <a:pPr marL="342900" marR="0" lvl="0" indent="-342900">
              <a:buSzPts val="1000"/>
              <a:buFont typeface="Symbol" panose="05050102010706020507" pitchFamily="18" charset="2"/>
              <a:buChar char=""/>
              <a:tabLst>
                <a:tab pos="457200" algn="l"/>
              </a:tabLst>
            </a:pPr>
            <a:r>
              <a:rPr lang="en-IN" sz="2400" b="1" dirty="0">
                <a:latin typeface="Times New Roman" panose="02020603050405020304" pitchFamily="18" charset="0"/>
                <a:ea typeface="Times New Roman" panose="02020603050405020304" pitchFamily="18" charset="0"/>
              </a:rPr>
              <a:t>Religion</a:t>
            </a:r>
            <a:r>
              <a:rPr lang="en-IN" sz="2400" dirty="0">
                <a:latin typeface="Times New Roman" panose="02020603050405020304" pitchFamily="18" charset="0"/>
                <a:ea typeface="Times New Roman" panose="02020603050405020304" pitchFamily="18" charset="0"/>
              </a:rPr>
              <a:t>: </a:t>
            </a:r>
            <a:r>
              <a:rPr lang="en-IN" sz="2400" b="1" dirty="0">
                <a:latin typeface="Times New Roman" panose="02020603050405020304" pitchFamily="18" charset="0"/>
                <a:ea typeface="Times New Roman" panose="02020603050405020304" pitchFamily="18" charset="0"/>
              </a:rPr>
              <a:t>Buddhism</a:t>
            </a:r>
            <a:endParaRPr lang="en-US" sz="2400" dirty="0">
              <a:latin typeface="Times New Roman" panose="02020603050405020304" pitchFamily="18" charset="0"/>
              <a:ea typeface="Times New Roman" panose="02020603050405020304" pitchFamily="18" charset="0"/>
            </a:endParaRPr>
          </a:p>
          <a:p>
            <a:pPr marL="342900" marR="0" lvl="0" indent="-342900">
              <a:buSzPts val="1000"/>
              <a:buFont typeface="Symbol" panose="05050102010706020507" pitchFamily="18" charset="2"/>
              <a:buChar char=""/>
              <a:tabLst>
                <a:tab pos="457200" algn="l"/>
              </a:tabLst>
            </a:pPr>
            <a:r>
              <a:rPr lang="en-IN" sz="2400" b="1" dirty="0">
                <a:latin typeface="Times New Roman" panose="02020603050405020304" pitchFamily="18" charset="0"/>
                <a:ea typeface="Times New Roman" panose="02020603050405020304" pitchFamily="18" charset="0"/>
              </a:rPr>
              <a:t>Renovated</a:t>
            </a:r>
            <a:r>
              <a:rPr lang="en-IN" sz="2400" dirty="0">
                <a:latin typeface="Times New Roman" panose="02020603050405020304" pitchFamily="18" charset="0"/>
                <a:ea typeface="Times New Roman" panose="02020603050405020304" pitchFamily="18" charset="0"/>
              </a:rPr>
              <a:t>: During </a:t>
            </a:r>
            <a:r>
              <a:rPr lang="en-IN" sz="2400" dirty="0" err="1">
                <a:latin typeface="Times New Roman" panose="02020603050405020304" pitchFamily="18" charset="0"/>
                <a:ea typeface="Times New Roman" panose="02020603050405020304" pitchFamily="18" charset="0"/>
              </a:rPr>
              <a:t>Shunga</a:t>
            </a:r>
            <a:r>
              <a:rPr lang="en-IN" sz="2400" dirty="0">
                <a:latin typeface="Times New Roman" panose="02020603050405020304" pitchFamily="18" charset="0"/>
                <a:ea typeface="Times New Roman" panose="02020603050405020304" pitchFamily="18" charset="0"/>
              </a:rPr>
              <a:t> and </a:t>
            </a:r>
            <a:r>
              <a:rPr lang="en-IN" sz="2400" dirty="0" err="1">
                <a:latin typeface="Times New Roman" panose="02020603050405020304" pitchFamily="18" charset="0"/>
                <a:ea typeface="Times New Roman" panose="02020603050405020304" pitchFamily="18" charset="0"/>
              </a:rPr>
              <a:t>Satavahana</a:t>
            </a:r>
            <a:r>
              <a:rPr lang="en-IN" sz="2400" dirty="0">
                <a:latin typeface="Times New Roman" panose="02020603050405020304" pitchFamily="18" charset="0"/>
                <a:ea typeface="Times New Roman" panose="02020603050405020304" pitchFamily="18" charset="0"/>
              </a:rPr>
              <a:t> period</a:t>
            </a:r>
            <a:endParaRPr lang="en-US" sz="2400" dirty="0">
              <a:latin typeface="Times New Roman" panose="02020603050405020304" pitchFamily="18" charset="0"/>
              <a:ea typeface="Times New Roman" panose="02020603050405020304" pitchFamily="18" charset="0"/>
            </a:endParaRPr>
          </a:p>
          <a:p>
            <a:pPr>
              <a:lnSpc>
                <a:spcPct val="107000"/>
              </a:lnSpc>
              <a:spcBef>
                <a:spcPts val="200"/>
              </a:spcBef>
            </a:pPr>
            <a:r>
              <a:rPr lang="en-IN" sz="2000" b="1" i="1" dirty="0">
                <a:solidFill>
                  <a:srgbClr val="2E74B5"/>
                </a:solidFill>
                <a:latin typeface="Segoe UI Symbol" panose="020B0502040204020203" pitchFamily="34" charset="0"/>
                <a:ea typeface="Times New Roman" panose="02020603050405020304" pitchFamily="18" charset="0"/>
                <a:cs typeface="Segoe UI Symbol" panose="020B0502040204020203" pitchFamily="34" charset="0"/>
              </a:rPr>
              <a:t>🔍</a:t>
            </a:r>
            <a:r>
              <a:rPr lang="en-IN" sz="2000" b="1" i="1" dirty="0">
                <a:solidFill>
                  <a:srgbClr val="2E74B5"/>
                </a:solidFill>
                <a:latin typeface="Calibri Light" panose="020F0302020204030204" pitchFamily="34" charset="0"/>
                <a:ea typeface="Times New Roman" panose="02020603050405020304" pitchFamily="18" charset="0"/>
                <a:cs typeface="Mangal"/>
              </a:rPr>
              <a:t> Key Features:</a:t>
            </a:r>
            <a:endParaRPr lang="en-US" sz="2000" b="1" i="1" dirty="0">
              <a:solidFill>
                <a:srgbClr val="2E74B5"/>
              </a:solidFill>
              <a:latin typeface="Calibri Light" panose="020F0302020204030204" pitchFamily="34" charset="0"/>
              <a:ea typeface="Times New Roman" panose="02020603050405020304" pitchFamily="18" charset="0"/>
              <a:cs typeface="Mangal"/>
            </a:endParaRPr>
          </a:p>
          <a:p>
            <a:pPr marL="342900" marR="0" lvl="0" indent="-342900">
              <a:buSzPts val="1000"/>
              <a:buFont typeface="Symbol" panose="05050102010706020507" pitchFamily="18" charset="2"/>
              <a:buChar char=""/>
              <a:tabLst>
                <a:tab pos="457200" algn="l"/>
              </a:tabLst>
            </a:pPr>
            <a:r>
              <a:rPr lang="en-IN" sz="2400" b="1" dirty="0">
                <a:latin typeface="Times New Roman" panose="02020603050405020304" pitchFamily="18" charset="0"/>
                <a:ea typeface="Times New Roman" panose="02020603050405020304" pitchFamily="18" charset="0"/>
              </a:rPr>
              <a:t>Architectural Structure</a:t>
            </a:r>
            <a:r>
              <a:rPr lang="en-IN" sz="2400" dirty="0">
                <a:latin typeface="Times New Roman" panose="02020603050405020304" pitchFamily="18" charset="0"/>
                <a:ea typeface="Times New Roman" panose="02020603050405020304" pitchFamily="18" charset="0"/>
              </a:rPr>
              <a:t>:</a:t>
            </a:r>
            <a:endParaRPr lang="en-US" sz="2400" dirty="0">
              <a:latin typeface="Times New Roman" panose="02020603050405020304" pitchFamily="18" charset="0"/>
              <a:ea typeface="Times New Roman" panose="02020603050405020304" pitchFamily="18" charset="0"/>
            </a:endParaRPr>
          </a:p>
          <a:p>
            <a:pPr marL="742950" marR="0" lvl="1" indent="-285750">
              <a:buSzPts val="1000"/>
              <a:buFont typeface="Courier New" panose="02070309020205020404" pitchFamily="49" charset="0"/>
              <a:buChar char="o"/>
              <a:tabLst>
                <a:tab pos="914400" algn="l"/>
              </a:tabLst>
            </a:pPr>
            <a:r>
              <a:rPr lang="en-IN" sz="2400" b="1" dirty="0" err="1">
                <a:latin typeface="Times New Roman" panose="02020603050405020304" pitchFamily="18" charset="0"/>
                <a:ea typeface="Times New Roman" panose="02020603050405020304" pitchFamily="18" charset="0"/>
                <a:cs typeface="Times New Roman" panose="02020603050405020304" pitchFamily="18" charset="0"/>
              </a:rPr>
              <a:t>Anda</a:t>
            </a:r>
            <a:r>
              <a:rPr lang="en-IN" sz="2400" dirty="0">
                <a:latin typeface="Times New Roman" panose="02020603050405020304" pitchFamily="18" charset="0"/>
                <a:ea typeface="Times New Roman" panose="02020603050405020304" pitchFamily="18" charset="0"/>
                <a:cs typeface="Times New Roman" panose="02020603050405020304" pitchFamily="18" charset="0"/>
              </a:rPr>
              <a:t>: Large hemispherical dome symbolizing the cosmic mound</a:t>
            </a:r>
            <a:endParaRPr lang="en-US" sz="2400" dirty="0">
              <a:latin typeface="Times New Roman" panose="02020603050405020304" pitchFamily="18" charset="0"/>
              <a:ea typeface="Times New Roman" panose="02020603050405020304" pitchFamily="18" charset="0"/>
              <a:cs typeface="Times New Roman" panose="02020603050405020304" pitchFamily="18" charset="0"/>
            </a:endParaRPr>
          </a:p>
          <a:p>
            <a:pPr marL="742950" marR="0" lvl="1" indent="-285750">
              <a:buSzPts val="1000"/>
              <a:buFont typeface="Courier New" panose="02070309020205020404" pitchFamily="49" charset="0"/>
              <a:buChar char="o"/>
              <a:tabLst>
                <a:tab pos="914400" algn="l"/>
              </a:tabLst>
            </a:pPr>
            <a:r>
              <a:rPr lang="en-IN" sz="2400" b="1" dirty="0" err="1">
                <a:latin typeface="Times New Roman" panose="02020603050405020304" pitchFamily="18" charset="0"/>
                <a:ea typeface="Times New Roman" panose="02020603050405020304" pitchFamily="18" charset="0"/>
                <a:cs typeface="Times New Roman" panose="02020603050405020304" pitchFamily="18" charset="0"/>
              </a:rPr>
              <a:t>Harmika</a:t>
            </a:r>
            <a:r>
              <a:rPr lang="en-IN" sz="2400" dirty="0">
                <a:latin typeface="Times New Roman" panose="02020603050405020304" pitchFamily="18" charset="0"/>
                <a:ea typeface="Times New Roman" panose="02020603050405020304" pitchFamily="18" charset="0"/>
                <a:cs typeface="Times New Roman" panose="02020603050405020304" pitchFamily="18" charset="0"/>
              </a:rPr>
              <a:t>: Square railing on top of the dome</a:t>
            </a:r>
            <a:endParaRPr lang="en-US" sz="2400" dirty="0">
              <a:latin typeface="Times New Roman" panose="02020603050405020304" pitchFamily="18" charset="0"/>
              <a:ea typeface="Times New Roman" panose="02020603050405020304" pitchFamily="18" charset="0"/>
              <a:cs typeface="Times New Roman" panose="02020603050405020304" pitchFamily="18" charset="0"/>
            </a:endParaRPr>
          </a:p>
          <a:p>
            <a:pPr marL="742950" marR="0" lvl="1" indent="-285750">
              <a:buSzPts val="1000"/>
              <a:buFont typeface="Courier New" panose="02070309020205020404" pitchFamily="49" charset="0"/>
              <a:buChar char="o"/>
              <a:tabLst>
                <a:tab pos="914400" algn="l"/>
              </a:tabLst>
            </a:pPr>
            <a:r>
              <a:rPr lang="en-IN" sz="2400" b="1" dirty="0" err="1">
                <a:latin typeface="Times New Roman" panose="02020603050405020304" pitchFamily="18" charset="0"/>
                <a:ea typeface="Times New Roman" panose="02020603050405020304" pitchFamily="18" charset="0"/>
                <a:cs typeface="Times New Roman" panose="02020603050405020304" pitchFamily="18" charset="0"/>
              </a:rPr>
              <a:t>Chhatra</a:t>
            </a:r>
            <a:r>
              <a:rPr lang="en-IN" sz="2400" dirty="0">
                <a:latin typeface="Times New Roman" panose="02020603050405020304" pitchFamily="18" charset="0"/>
                <a:ea typeface="Times New Roman" panose="02020603050405020304" pitchFamily="18" charset="0"/>
                <a:cs typeface="Times New Roman" panose="02020603050405020304" pitchFamily="18" charset="0"/>
              </a:rPr>
              <a:t>: Umbrella-like structure representing spiritual protection</a:t>
            </a:r>
            <a:endParaRPr lang="en-US" sz="2400" dirty="0">
              <a:latin typeface="Times New Roman" panose="02020603050405020304" pitchFamily="18" charset="0"/>
              <a:ea typeface="Times New Roman" panose="02020603050405020304" pitchFamily="18" charset="0"/>
              <a:cs typeface="Times New Roman" panose="02020603050405020304" pitchFamily="18" charset="0"/>
            </a:endParaRPr>
          </a:p>
          <a:p>
            <a:pPr marL="742950" marR="0" lvl="1" indent="-285750">
              <a:buSzPts val="1000"/>
              <a:buFont typeface="Courier New" panose="02070309020205020404" pitchFamily="49" charset="0"/>
              <a:buChar char="o"/>
              <a:tabLst>
                <a:tab pos="914400" algn="l"/>
              </a:tabLst>
            </a:pPr>
            <a:r>
              <a:rPr lang="en-IN" sz="2400" b="1" dirty="0" err="1">
                <a:latin typeface="Times New Roman" panose="02020603050405020304" pitchFamily="18" charset="0"/>
                <a:ea typeface="Times New Roman" panose="02020603050405020304" pitchFamily="18" charset="0"/>
                <a:cs typeface="Times New Roman" panose="02020603050405020304" pitchFamily="18" charset="0"/>
              </a:rPr>
              <a:t>Medhi</a:t>
            </a:r>
            <a:r>
              <a:rPr lang="en-IN" sz="2400" dirty="0">
                <a:latin typeface="Times New Roman" panose="02020603050405020304" pitchFamily="18" charset="0"/>
                <a:ea typeface="Times New Roman" panose="02020603050405020304" pitchFamily="18" charset="0"/>
                <a:cs typeface="Times New Roman" panose="02020603050405020304" pitchFamily="18" charset="0"/>
              </a:rPr>
              <a:t>: Circular path for </a:t>
            </a:r>
            <a:r>
              <a:rPr lang="en-IN" sz="2400" b="1" dirty="0">
                <a:latin typeface="Times New Roman" panose="02020603050405020304" pitchFamily="18" charset="0"/>
                <a:ea typeface="Times New Roman" panose="02020603050405020304" pitchFamily="18" charset="0"/>
                <a:cs typeface="Times New Roman" panose="02020603050405020304" pitchFamily="18" charset="0"/>
              </a:rPr>
              <a:t>circumambulation (</a:t>
            </a:r>
            <a:r>
              <a:rPr lang="en-IN" sz="2400" b="1" dirty="0" err="1">
                <a:latin typeface="Times New Roman" panose="02020603050405020304" pitchFamily="18" charset="0"/>
                <a:ea typeface="Times New Roman" panose="02020603050405020304" pitchFamily="18" charset="0"/>
                <a:cs typeface="Times New Roman" panose="02020603050405020304" pitchFamily="18" charset="0"/>
              </a:rPr>
              <a:t>pradakshina</a:t>
            </a:r>
            <a:r>
              <a:rPr lang="en-IN" sz="2400" b="1" dirty="0">
                <a:latin typeface="Times New Roman" panose="02020603050405020304" pitchFamily="18" charset="0"/>
                <a:ea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buSzPts val="1000"/>
              <a:buFont typeface="Symbol" panose="05050102010706020507" pitchFamily="18" charset="2"/>
              <a:buChar char=""/>
              <a:tabLst>
                <a:tab pos="457200" algn="l"/>
              </a:tabLst>
            </a:pPr>
            <a:r>
              <a:rPr lang="en-IN" sz="2400" b="1" dirty="0" err="1">
                <a:latin typeface="Times New Roman" panose="02020603050405020304" pitchFamily="18" charset="0"/>
                <a:ea typeface="Times New Roman" panose="02020603050405020304" pitchFamily="18" charset="0"/>
              </a:rPr>
              <a:t>Toranas</a:t>
            </a:r>
            <a:r>
              <a:rPr lang="en-IN" sz="2400" b="1" dirty="0">
                <a:latin typeface="Times New Roman" panose="02020603050405020304" pitchFamily="18" charset="0"/>
                <a:ea typeface="Times New Roman" panose="02020603050405020304" pitchFamily="18" charset="0"/>
              </a:rPr>
              <a:t> (Gateways)</a:t>
            </a:r>
            <a:r>
              <a:rPr lang="en-IN" sz="2400" dirty="0">
                <a:latin typeface="Times New Roman" panose="02020603050405020304" pitchFamily="18" charset="0"/>
                <a:ea typeface="Times New Roman" panose="02020603050405020304" pitchFamily="18" charset="0"/>
              </a:rPr>
              <a:t>:</a:t>
            </a:r>
            <a:endParaRPr lang="en-US" sz="2400" dirty="0">
              <a:latin typeface="Times New Roman" panose="02020603050405020304" pitchFamily="18" charset="0"/>
              <a:ea typeface="Times New Roman" panose="02020603050405020304" pitchFamily="18" charset="0"/>
            </a:endParaRPr>
          </a:p>
          <a:p>
            <a:pPr marL="742950" marR="0" lvl="1" indent="-285750">
              <a:buSzPts val="1000"/>
              <a:buFont typeface="Courier New" panose="02070309020205020404" pitchFamily="49" charset="0"/>
              <a:buChar char="o"/>
              <a:tabLst>
                <a:tab pos="914400" algn="l"/>
              </a:tabLst>
            </a:pPr>
            <a:r>
              <a:rPr lang="en-IN" sz="2400" dirty="0">
                <a:latin typeface="Times New Roman" panose="02020603050405020304" pitchFamily="18" charset="0"/>
                <a:ea typeface="Times New Roman" panose="02020603050405020304" pitchFamily="18" charset="0"/>
                <a:cs typeface="Times New Roman" panose="02020603050405020304" pitchFamily="18" charset="0"/>
              </a:rPr>
              <a:t>Four entrances in cardinal directions</a:t>
            </a:r>
            <a:endParaRPr lang="en-US" sz="2400" dirty="0">
              <a:latin typeface="Times New Roman" panose="02020603050405020304" pitchFamily="18" charset="0"/>
              <a:ea typeface="Times New Roman" panose="02020603050405020304" pitchFamily="18" charset="0"/>
              <a:cs typeface="Times New Roman" panose="02020603050405020304" pitchFamily="18" charset="0"/>
            </a:endParaRPr>
          </a:p>
          <a:p>
            <a:pPr marL="742950" marR="0" lvl="1" indent="-285750">
              <a:buSzPts val="1000"/>
              <a:buFont typeface="Courier New" panose="02070309020205020404" pitchFamily="49" charset="0"/>
              <a:buChar char="o"/>
              <a:tabLst>
                <a:tab pos="914400" algn="l"/>
              </a:tabLst>
            </a:pPr>
            <a:r>
              <a:rPr lang="en-IN" sz="2400" dirty="0">
                <a:latin typeface="Times New Roman" panose="02020603050405020304" pitchFamily="18" charset="0"/>
                <a:ea typeface="Times New Roman" panose="02020603050405020304" pitchFamily="18" charset="0"/>
                <a:cs typeface="Times New Roman" panose="02020603050405020304" pitchFamily="18" charset="0"/>
              </a:rPr>
              <a:t>Richly carved with </a:t>
            </a:r>
            <a:r>
              <a:rPr lang="en-IN" sz="2400" b="1" dirty="0" err="1">
                <a:latin typeface="Times New Roman" panose="02020603050405020304" pitchFamily="18" charset="0"/>
                <a:ea typeface="Times New Roman" panose="02020603050405020304" pitchFamily="18" charset="0"/>
                <a:cs typeface="Times New Roman" panose="02020603050405020304" pitchFamily="18" charset="0"/>
              </a:rPr>
              <a:t>Jataka</a:t>
            </a:r>
            <a:r>
              <a:rPr lang="en-IN" sz="2400" b="1" dirty="0">
                <a:latin typeface="Times New Roman" panose="02020603050405020304" pitchFamily="18" charset="0"/>
                <a:ea typeface="Times New Roman" panose="02020603050405020304" pitchFamily="18" charset="0"/>
                <a:cs typeface="Times New Roman" panose="02020603050405020304" pitchFamily="18" charset="0"/>
              </a:rPr>
              <a:t> tales</a:t>
            </a:r>
            <a:r>
              <a:rPr lang="en-IN" sz="2400" dirty="0">
                <a:latin typeface="Times New Roman" panose="02020603050405020304" pitchFamily="18" charset="0"/>
                <a:ea typeface="Times New Roman" panose="02020603050405020304" pitchFamily="18" charset="0"/>
                <a:cs typeface="Times New Roman" panose="02020603050405020304" pitchFamily="18" charset="0"/>
              </a:rPr>
              <a:t> and </a:t>
            </a:r>
            <a:r>
              <a:rPr lang="en-IN" sz="2400" b="1" dirty="0">
                <a:latin typeface="Times New Roman" panose="02020603050405020304" pitchFamily="18" charset="0"/>
                <a:ea typeface="Times New Roman" panose="02020603050405020304" pitchFamily="18" charset="0"/>
                <a:cs typeface="Times New Roman" panose="02020603050405020304" pitchFamily="18" charset="0"/>
              </a:rPr>
              <a:t>life events of Buddha</a:t>
            </a:r>
            <a:endParaRPr lang="en-US" sz="2400" dirty="0">
              <a:latin typeface="Times New Roman" panose="02020603050405020304" pitchFamily="18" charset="0"/>
              <a:ea typeface="Times New Roman" panose="02020603050405020304" pitchFamily="18" charset="0"/>
              <a:cs typeface="Times New Roman" panose="02020603050405020304" pitchFamily="18" charset="0"/>
            </a:endParaRPr>
          </a:p>
          <a:p>
            <a:pPr marL="742950" marR="0" lvl="1" indent="-285750">
              <a:buSzPts val="1000"/>
              <a:buFont typeface="Courier New" panose="02070309020205020404" pitchFamily="49" charset="0"/>
              <a:buChar char="o"/>
              <a:tabLst>
                <a:tab pos="914400" algn="l"/>
              </a:tabLst>
            </a:pPr>
            <a:r>
              <a:rPr lang="en-IN" sz="2400" dirty="0">
                <a:latin typeface="Times New Roman" panose="02020603050405020304" pitchFamily="18" charset="0"/>
                <a:ea typeface="Times New Roman" panose="02020603050405020304" pitchFamily="18" charset="0"/>
                <a:cs typeface="Times New Roman" panose="02020603050405020304" pitchFamily="18" charset="0"/>
              </a:rPr>
              <a:t>Detailed depiction of flora, fauna, and folk culture</a:t>
            </a:r>
            <a:endParaRPr lang="en-US" sz="2400" dirty="0">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buSzPts val="1000"/>
              <a:buFont typeface="Symbol" panose="05050102010706020507" pitchFamily="18" charset="2"/>
              <a:buChar char=""/>
              <a:tabLst>
                <a:tab pos="457200" algn="l"/>
              </a:tabLst>
            </a:pPr>
            <a:r>
              <a:rPr lang="en-IN" sz="2400" b="1" dirty="0">
                <a:latin typeface="Times New Roman" panose="02020603050405020304" pitchFamily="18" charset="0"/>
                <a:ea typeface="Times New Roman" panose="02020603050405020304" pitchFamily="18" charset="0"/>
              </a:rPr>
              <a:t>Railing (</a:t>
            </a:r>
            <a:r>
              <a:rPr lang="en-IN" sz="2400" b="1" dirty="0" err="1">
                <a:latin typeface="Times New Roman" panose="02020603050405020304" pitchFamily="18" charset="0"/>
                <a:ea typeface="Times New Roman" panose="02020603050405020304" pitchFamily="18" charset="0"/>
              </a:rPr>
              <a:t>Vedika</a:t>
            </a:r>
            <a:r>
              <a:rPr lang="en-IN" sz="2400" b="1" dirty="0">
                <a:latin typeface="Times New Roman" panose="02020603050405020304" pitchFamily="18" charset="0"/>
                <a:ea typeface="Times New Roman" panose="02020603050405020304" pitchFamily="18" charset="0"/>
              </a:rPr>
              <a:t>)</a:t>
            </a:r>
            <a:r>
              <a:rPr lang="en-IN" sz="2400" dirty="0">
                <a:latin typeface="Times New Roman" panose="02020603050405020304" pitchFamily="18" charset="0"/>
                <a:ea typeface="Times New Roman" panose="02020603050405020304" pitchFamily="18" charset="0"/>
              </a:rPr>
              <a:t>:</a:t>
            </a:r>
            <a:endParaRPr lang="en-US" sz="2400" dirty="0">
              <a:latin typeface="Times New Roman" panose="02020603050405020304" pitchFamily="18" charset="0"/>
              <a:ea typeface="Times New Roman" panose="02020603050405020304" pitchFamily="18" charset="0"/>
            </a:endParaRPr>
          </a:p>
          <a:p>
            <a:pPr marL="742950" marR="0" lvl="1" indent="-285750">
              <a:buSzPts val="1000"/>
              <a:buFont typeface="Courier New" panose="02070309020205020404" pitchFamily="49" charset="0"/>
              <a:buChar char="o"/>
              <a:tabLst>
                <a:tab pos="914400" algn="l"/>
              </a:tabLst>
            </a:pPr>
            <a:r>
              <a:rPr lang="en-IN" sz="2400" dirty="0">
                <a:latin typeface="Times New Roman" panose="02020603050405020304" pitchFamily="18" charset="0"/>
                <a:ea typeface="Times New Roman" panose="02020603050405020304" pitchFamily="18" charset="0"/>
                <a:cs typeface="Times New Roman" panose="02020603050405020304" pitchFamily="18" charset="0"/>
              </a:rPr>
              <a:t>Decorated stone fence encircling the stupa</a:t>
            </a:r>
            <a:endParaRPr lang="en-US" sz="24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4203166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04949" y="408586"/>
            <a:ext cx="11364685" cy="6176243"/>
          </a:xfrm>
          <a:prstGeom prst="rect">
            <a:avLst/>
          </a:prstGeom>
        </p:spPr>
        <p:txBody>
          <a:bodyPr wrap="square">
            <a:spAutoFit/>
          </a:bodyPr>
          <a:lstStyle/>
          <a:p>
            <a:pPr algn="ctr"/>
            <a:r>
              <a:rPr lang="en-IN" sz="3200" b="1" dirty="0">
                <a:latin typeface="Times New Roman" panose="02020603050405020304" pitchFamily="18" charset="0"/>
                <a:ea typeface="Times New Roman" panose="02020603050405020304" pitchFamily="18" charset="0"/>
              </a:rPr>
              <a:t>3. Ajanta Caves</a:t>
            </a:r>
            <a:endParaRPr lang="en-US" sz="3200" b="1" dirty="0">
              <a:latin typeface="Times New Roman" panose="02020603050405020304" pitchFamily="18" charset="0"/>
              <a:ea typeface="Times New Roman" panose="02020603050405020304" pitchFamily="18" charset="0"/>
            </a:endParaRPr>
          </a:p>
          <a:p>
            <a:pPr marL="342900" marR="0" lvl="0" indent="-342900">
              <a:buSzPts val="1000"/>
              <a:buFont typeface="Symbol" panose="05050102010706020507" pitchFamily="18" charset="2"/>
              <a:buChar char=""/>
              <a:tabLst>
                <a:tab pos="457200" algn="l"/>
              </a:tabLst>
            </a:pPr>
            <a:r>
              <a:rPr lang="en-IN" sz="2800" b="1" dirty="0">
                <a:latin typeface="Times New Roman" panose="02020603050405020304" pitchFamily="18" charset="0"/>
                <a:ea typeface="Times New Roman" panose="02020603050405020304" pitchFamily="18" charset="0"/>
              </a:rPr>
              <a:t>Location</a:t>
            </a:r>
            <a:r>
              <a:rPr lang="en-IN" sz="2800" dirty="0">
                <a:latin typeface="Times New Roman" panose="02020603050405020304" pitchFamily="18" charset="0"/>
                <a:ea typeface="Times New Roman" panose="02020603050405020304" pitchFamily="18" charset="0"/>
              </a:rPr>
              <a:t>: Aurangabad, Maharashtra</a:t>
            </a:r>
            <a:endParaRPr lang="en-US" sz="2800" dirty="0">
              <a:latin typeface="Times New Roman" panose="02020603050405020304" pitchFamily="18" charset="0"/>
              <a:ea typeface="Times New Roman" panose="02020603050405020304" pitchFamily="18" charset="0"/>
            </a:endParaRPr>
          </a:p>
          <a:p>
            <a:pPr marL="342900" marR="0" lvl="0" indent="-342900">
              <a:buSzPts val="1000"/>
              <a:buFont typeface="Symbol" panose="05050102010706020507" pitchFamily="18" charset="2"/>
              <a:buChar char=""/>
              <a:tabLst>
                <a:tab pos="457200" algn="l"/>
              </a:tabLst>
            </a:pPr>
            <a:r>
              <a:rPr lang="en-IN" sz="2800" b="1" dirty="0">
                <a:latin typeface="Times New Roman" panose="02020603050405020304" pitchFamily="18" charset="0"/>
                <a:ea typeface="Times New Roman" panose="02020603050405020304" pitchFamily="18" charset="0"/>
              </a:rPr>
              <a:t>Period</a:t>
            </a:r>
            <a:r>
              <a:rPr lang="en-IN" sz="2800" dirty="0">
                <a:latin typeface="Times New Roman" panose="02020603050405020304" pitchFamily="18" charset="0"/>
                <a:ea typeface="Times New Roman" panose="02020603050405020304" pitchFamily="18" charset="0"/>
              </a:rPr>
              <a:t>: 2nd Century BCE – 6th Century CE</a:t>
            </a:r>
            <a:endParaRPr lang="en-US" sz="2800" dirty="0">
              <a:latin typeface="Times New Roman" panose="02020603050405020304" pitchFamily="18" charset="0"/>
              <a:ea typeface="Times New Roman" panose="02020603050405020304" pitchFamily="18" charset="0"/>
            </a:endParaRPr>
          </a:p>
          <a:p>
            <a:pPr marL="342900" marR="0" lvl="0" indent="-342900">
              <a:buSzPts val="1000"/>
              <a:buFont typeface="Symbol" panose="05050102010706020507" pitchFamily="18" charset="2"/>
              <a:buChar char=""/>
              <a:tabLst>
                <a:tab pos="457200" algn="l"/>
              </a:tabLst>
            </a:pPr>
            <a:r>
              <a:rPr lang="en-IN" sz="2800" b="1" dirty="0">
                <a:latin typeface="Times New Roman" panose="02020603050405020304" pitchFamily="18" charset="0"/>
                <a:ea typeface="Times New Roman" panose="02020603050405020304" pitchFamily="18" charset="0"/>
              </a:rPr>
              <a:t>Religion</a:t>
            </a:r>
            <a:r>
              <a:rPr lang="en-IN" sz="2800" dirty="0">
                <a:latin typeface="Times New Roman" panose="02020603050405020304" pitchFamily="18" charset="0"/>
                <a:ea typeface="Times New Roman" panose="02020603050405020304" pitchFamily="18" charset="0"/>
              </a:rPr>
              <a:t>: </a:t>
            </a:r>
            <a:r>
              <a:rPr lang="en-IN" sz="2800" b="1" dirty="0">
                <a:latin typeface="Times New Roman" panose="02020603050405020304" pitchFamily="18" charset="0"/>
                <a:ea typeface="Times New Roman" panose="02020603050405020304" pitchFamily="18" charset="0"/>
              </a:rPr>
              <a:t>Buddhism</a:t>
            </a:r>
            <a:r>
              <a:rPr lang="en-IN" sz="2800" dirty="0">
                <a:latin typeface="Times New Roman" panose="02020603050405020304" pitchFamily="18" charset="0"/>
                <a:ea typeface="Times New Roman" panose="02020603050405020304" pitchFamily="18" charset="0"/>
              </a:rPr>
              <a:t> (Hinayana &amp; Mahayana phases)</a:t>
            </a:r>
            <a:endParaRPr lang="en-US" sz="2800" dirty="0">
              <a:latin typeface="Times New Roman" panose="02020603050405020304" pitchFamily="18" charset="0"/>
              <a:ea typeface="Times New Roman" panose="02020603050405020304" pitchFamily="18" charset="0"/>
            </a:endParaRPr>
          </a:p>
          <a:p>
            <a:pPr marL="342900" marR="0" lvl="0" indent="-342900">
              <a:buSzPts val="1000"/>
              <a:buFont typeface="Symbol" panose="05050102010706020507" pitchFamily="18" charset="2"/>
              <a:buChar char=""/>
              <a:tabLst>
                <a:tab pos="457200" algn="l"/>
              </a:tabLst>
            </a:pPr>
            <a:r>
              <a:rPr lang="en-IN" sz="2800" b="1" dirty="0">
                <a:latin typeface="Times New Roman" panose="02020603050405020304" pitchFamily="18" charset="0"/>
                <a:ea typeface="Times New Roman" panose="02020603050405020304" pitchFamily="18" charset="0"/>
              </a:rPr>
              <a:t>UNESCO World Heritage Site</a:t>
            </a:r>
            <a:endParaRPr lang="en-US" sz="2800" dirty="0">
              <a:latin typeface="Times New Roman" panose="02020603050405020304" pitchFamily="18" charset="0"/>
              <a:ea typeface="Times New Roman" panose="02020603050405020304" pitchFamily="18" charset="0"/>
            </a:endParaRPr>
          </a:p>
          <a:p>
            <a:pPr>
              <a:lnSpc>
                <a:spcPct val="107000"/>
              </a:lnSpc>
              <a:spcBef>
                <a:spcPts val="200"/>
              </a:spcBef>
            </a:pPr>
            <a:r>
              <a:rPr lang="en-IN" sz="2400" b="1" i="1" dirty="0">
                <a:solidFill>
                  <a:srgbClr val="2E74B5"/>
                </a:solidFill>
                <a:latin typeface="Segoe UI Symbol" panose="020B0502040204020203" pitchFamily="34" charset="0"/>
                <a:ea typeface="Times New Roman" panose="02020603050405020304" pitchFamily="18" charset="0"/>
                <a:cs typeface="Segoe UI Symbol" panose="020B0502040204020203" pitchFamily="34" charset="0"/>
              </a:rPr>
              <a:t>🔍</a:t>
            </a:r>
            <a:r>
              <a:rPr lang="en-IN" sz="2400" b="1" i="1" dirty="0">
                <a:solidFill>
                  <a:srgbClr val="2E74B5"/>
                </a:solidFill>
                <a:latin typeface="Calibri Light" panose="020F0302020204030204" pitchFamily="34" charset="0"/>
                <a:ea typeface="Times New Roman" panose="02020603050405020304" pitchFamily="18" charset="0"/>
                <a:cs typeface="Mangal"/>
              </a:rPr>
              <a:t> Key Features:</a:t>
            </a:r>
            <a:endParaRPr lang="en-US" sz="2400" b="1" i="1" dirty="0">
              <a:solidFill>
                <a:srgbClr val="2E74B5"/>
              </a:solidFill>
              <a:latin typeface="Calibri Light" panose="020F0302020204030204" pitchFamily="34" charset="0"/>
              <a:ea typeface="Times New Roman" panose="02020603050405020304" pitchFamily="18" charset="0"/>
              <a:cs typeface="Mangal"/>
            </a:endParaRPr>
          </a:p>
          <a:p>
            <a:pPr marL="342900" marR="0" lvl="0" indent="-342900">
              <a:buSzPts val="1000"/>
              <a:buFont typeface="Symbol" panose="05050102010706020507" pitchFamily="18" charset="2"/>
              <a:buChar char=""/>
              <a:tabLst>
                <a:tab pos="457200" algn="l"/>
              </a:tabLst>
            </a:pPr>
            <a:r>
              <a:rPr lang="en-IN" sz="2800" b="1" dirty="0">
                <a:latin typeface="Times New Roman" panose="02020603050405020304" pitchFamily="18" charset="0"/>
                <a:ea typeface="Times New Roman" panose="02020603050405020304" pitchFamily="18" charset="0"/>
              </a:rPr>
              <a:t>Total Caves</a:t>
            </a:r>
            <a:r>
              <a:rPr lang="en-IN" sz="2800" dirty="0">
                <a:latin typeface="Times New Roman" panose="02020603050405020304" pitchFamily="18" charset="0"/>
                <a:ea typeface="Times New Roman" panose="02020603050405020304" pitchFamily="18" charset="0"/>
              </a:rPr>
              <a:t>: 30 (including both Chaityas and </a:t>
            </a:r>
            <a:r>
              <a:rPr lang="en-IN" sz="2800" dirty="0" err="1">
                <a:latin typeface="Times New Roman" panose="02020603050405020304" pitchFamily="18" charset="0"/>
                <a:ea typeface="Times New Roman" panose="02020603050405020304" pitchFamily="18" charset="0"/>
              </a:rPr>
              <a:t>Viharas</a:t>
            </a:r>
            <a:r>
              <a:rPr lang="en-IN" sz="2800" dirty="0">
                <a:latin typeface="Times New Roman" panose="02020603050405020304" pitchFamily="18" charset="0"/>
                <a:ea typeface="Times New Roman" panose="02020603050405020304" pitchFamily="18" charset="0"/>
              </a:rPr>
              <a:t>)</a:t>
            </a:r>
            <a:endParaRPr lang="en-US" sz="2800" dirty="0">
              <a:latin typeface="Times New Roman" panose="02020603050405020304" pitchFamily="18" charset="0"/>
              <a:ea typeface="Times New Roman" panose="02020603050405020304" pitchFamily="18" charset="0"/>
            </a:endParaRPr>
          </a:p>
          <a:p>
            <a:pPr marL="342900" marR="0" lvl="0" indent="-342900">
              <a:buSzPts val="1000"/>
              <a:buFont typeface="Symbol" panose="05050102010706020507" pitchFamily="18" charset="2"/>
              <a:buChar char=""/>
              <a:tabLst>
                <a:tab pos="457200" algn="l"/>
              </a:tabLst>
            </a:pPr>
            <a:r>
              <a:rPr lang="en-IN" sz="2800" b="1" dirty="0" err="1">
                <a:latin typeface="Times New Roman" panose="02020603050405020304" pitchFamily="18" charset="0"/>
                <a:ea typeface="Times New Roman" panose="02020603050405020304" pitchFamily="18" charset="0"/>
              </a:rPr>
              <a:t>Chaityagrihas</a:t>
            </a:r>
            <a:r>
              <a:rPr lang="en-IN" sz="2800" dirty="0">
                <a:latin typeface="Times New Roman" panose="02020603050405020304" pitchFamily="18" charset="0"/>
                <a:ea typeface="Times New Roman" panose="02020603050405020304" pitchFamily="18" charset="0"/>
              </a:rPr>
              <a:t>: Rock-cut halls of worship with stupas</a:t>
            </a:r>
            <a:endParaRPr lang="en-US" sz="2800" dirty="0">
              <a:latin typeface="Times New Roman" panose="02020603050405020304" pitchFamily="18" charset="0"/>
              <a:ea typeface="Times New Roman" panose="02020603050405020304" pitchFamily="18" charset="0"/>
            </a:endParaRPr>
          </a:p>
          <a:p>
            <a:pPr marL="342900" marR="0" lvl="0" indent="-342900">
              <a:buSzPts val="1000"/>
              <a:buFont typeface="Symbol" panose="05050102010706020507" pitchFamily="18" charset="2"/>
              <a:buChar char=""/>
              <a:tabLst>
                <a:tab pos="457200" algn="l"/>
              </a:tabLst>
            </a:pPr>
            <a:r>
              <a:rPr lang="en-IN" sz="2800" b="1" dirty="0" err="1">
                <a:latin typeface="Times New Roman" panose="02020603050405020304" pitchFamily="18" charset="0"/>
                <a:ea typeface="Times New Roman" panose="02020603050405020304" pitchFamily="18" charset="0"/>
              </a:rPr>
              <a:t>Viharas</a:t>
            </a:r>
            <a:r>
              <a:rPr lang="en-IN" sz="2800" dirty="0">
                <a:latin typeface="Times New Roman" panose="02020603050405020304" pitchFamily="18" charset="0"/>
                <a:ea typeface="Times New Roman" panose="02020603050405020304" pitchFamily="18" charset="0"/>
              </a:rPr>
              <a:t>: Monastic living quarters</a:t>
            </a:r>
            <a:endParaRPr lang="en-US" sz="2800" dirty="0">
              <a:latin typeface="Times New Roman" panose="02020603050405020304" pitchFamily="18" charset="0"/>
              <a:ea typeface="Times New Roman" panose="02020603050405020304" pitchFamily="18" charset="0"/>
            </a:endParaRPr>
          </a:p>
          <a:p>
            <a:pPr marL="342900" marR="0" lvl="0" indent="-342900">
              <a:buSzPts val="1000"/>
              <a:buFont typeface="Symbol" panose="05050102010706020507" pitchFamily="18" charset="2"/>
              <a:buChar char=""/>
              <a:tabLst>
                <a:tab pos="457200" algn="l"/>
              </a:tabLst>
            </a:pPr>
            <a:r>
              <a:rPr lang="en-IN" sz="2800" b="1" dirty="0">
                <a:latin typeface="Times New Roman" panose="02020603050405020304" pitchFamily="18" charset="0"/>
                <a:ea typeface="Times New Roman" panose="02020603050405020304" pitchFamily="18" charset="0"/>
              </a:rPr>
              <a:t>Murals and Frescoes</a:t>
            </a:r>
            <a:r>
              <a:rPr lang="en-IN" sz="2800" dirty="0">
                <a:latin typeface="Times New Roman" panose="02020603050405020304" pitchFamily="18" charset="0"/>
                <a:ea typeface="Times New Roman" panose="02020603050405020304" pitchFamily="18" charset="0"/>
              </a:rPr>
              <a:t>:</a:t>
            </a:r>
            <a:endParaRPr lang="en-US" sz="2800" dirty="0">
              <a:latin typeface="Times New Roman" panose="02020603050405020304" pitchFamily="18" charset="0"/>
              <a:ea typeface="Times New Roman" panose="02020603050405020304" pitchFamily="18" charset="0"/>
            </a:endParaRPr>
          </a:p>
          <a:p>
            <a:pPr marL="742950" marR="0" lvl="1" indent="-285750">
              <a:buSzPts val="1000"/>
              <a:buFont typeface="Courier New" panose="02070309020205020404" pitchFamily="49" charset="0"/>
              <a:buChar char="o"/>
              <a:tabLst>
                <a:tab pos="914400" algn="l"/>
              </a:tabLst>
            </a:pPr>
            <a:r>
              <a:rPr lang="en-IN" sz="2800" dirty="0">
                <a:latin typeface="Times New Roman" panose="02020603050405020304" pitchFamily="18" charset="0"/>
                <a:ea typeface="Times New Roman" panose="02020603050405020304" pitchFamily="18" charset="0"/>
                <a:cs typeface="Times New Roman" panose="02020603050405020304" pitchFamily="18" charset="0"/>
              </a:rPr>
              <a:t>Painted using </a:t>
            </a:r>
            <a:r>
              <a:rPr lang="en-IN" sz="2800" b="1" dirty="0">
                <a:latin typeface="Times New Roman" panose="02020603050405020304" pitchFamily="18" charset="0"/>
                <a:ea typeface="Times New Roman" panose="02020603050405020304" pitchFamily="18" charset="0"/>
                <a:cs typeface="Times New Roman" panose="02020603050405020304" pitchFamily="18" charset="0"/>
              </a:rPr>
              <a:t>tempera technique</a:t>
            </a:r>
            <a:r>
              <a:rPr lang="en-IN" sz="2800" dirty="0">
                <a:latin typeface="Times New Roman" panose="02020603050405020304" pitchFamily="18" charset="0"/>
                <a:ea typeface="Times New Roman" panose="02020603050405020304" pitchFamily="18" charset="0"/>
                <a:cs typeface="Times New Roman" panose="02020603050405020304" pitchFamily="18" charset="0"/>
              </a:rPr>
              <a:t> (on dry plaster)</a:t>
            </a:r>
            <a:endParaRPr lang="en-US" sz="2800" dirty="0">
              <a:latin typeface="Times New Roman" panose="02020603050405020304" pitchFamily="18" charset="0"/>
              <a:ea typeface="Times New Roman" panose="02020603050405020304" pitchFamily="18" charset="0"/>
              <a:cs typeface="Times New Roman" panose="02020603050405020304" pitchFamily="18" charset="0"/>
            </a:endParaRPr>
          </a:p>
          <a:p>
            <a:pPr marL="742950" marR="0" lvl="1" indent="-285750">
              <a:buSzPts val="1000"/>
              <a:buFont typeface="Courier New" panose="02070309020205020404" pitchFamily="49" charset="0"/>
              <a:buChar char="o"/>
              <a:tabLst>
                <a:tab pos="914400" algn="l"/>
              </a:tabLst>
            </a:pPr>
            <a:r>
              <a:rPr lang="en-IN" sz="2800" dirty="0">
                <a:latin typeface="Times New Roman" panose="02020603050405020304" pitchFamily="18" charset="0"/>
                <a:ea typeface="Times New Roman" panose="02020603050405020304" pitchFamily="18" charset="0"/>
                <a:cs typeface="Times New Roman" panose="02020603050405020304" pitchFamily="18" charset="0"/>
              </a:rPr>
              <a:t>Themes include </a:t>
            </a:r>
            <a:r>
              <a:rPr lang="en-IN" sz="2800" b="1" dirty="0" err="1">
                <a:latin typeface="Times New Roman" panose="02020603050405020304" pitchFamily="18" charset="0"/>
                <a:ea typeface="Times New Roman" panose="02020603050405020304" pitchFamily="18" charset="0"/>
                <a:cs typeface="Times New Roman" panose="02020603050405020304" pitchFamily="18" charset="0"/>
              </a:rPr>
              <a:t>Jataka</a:t>
            </a:r>
            <a:r>
              <a:rPr lang="en-IN" sz="2800" b="1" dirty="0">
                <a:latin typeface="Times New Roman" panose="02020603050405020304" pitchFamily="18" charset="0"/>
                <a:ea typeface="Times New Roman" panose="02020603050405020304" pitchFamily="18" charset="0"/>
                <a:cs typeface="Times New Roman" panose="02020603050405020304" pitchFamily="18" charset="0"/>
              </a:rPr>
              <a:t> tales</a:t>
            </a:r>
            <a:r>
              <a:rPr lang="en-IN" sz="2800" dirty="0">
                <a:latin typeface="Times New Roman" panose="02020603050405020304" pitchFamily="18" charset="0"/>
                <a:ea typeface="Times New Roman" panose="02020603050405020304" pitchFamily="18" charset="0"/>
                <a:cs typeface="Times New Roman" panose="02020603050405020304" pitchFamily="18" charset="0"/>
              </a:rPr>
              <a:t>, Buddha’s life, and court scenes</a:t>
            </a:r>
            <a:endParaRPr lang="en-US" sz="2800" dirty="0">
              <a:latin typeface="Times New Roman" panose="02020603050405020304" pitchFamily="18" charset="0"/>
              <a:ea typeface="Times New Roman" panose="02020603050405020304" pitchFamily="18" charset="0"/>
              <a:cs typeface="Times New Roman" panose="02020603050405020304" pitchFamily="18" charset="0"/>
            </a:endParaRPr>
          </a:p>
          <a:p>
            <a:pPr marL="742950" marR="0" lvl="1" indent="-285750">
              <a:buSzPts val="1000"/>
              <a:buFont typeface="Courier New" panose="02070309020205020404" pitchFamily="49" charset="0"/>
              <a:buChar char="o"/>
              <a:tabLst>
                <a:tab pos="914400" algn="l"/>
              </a:tabLst>
            </a:pPr>
            <a:r>
              <a:rPr lang="en-IN" sz="2800" dirty="0">
                <a:latin typeface="Times New Roman" panose="02020603050405020304" pitchFamily="18" charset="0"/>
                <a:ea typeface="Times New Roman" panose="02020603050405020304" pitchFamily="18" charset="0"/>
                <a:cs typeface="Times New Roman" panose="02020603050405020304" pitchFamily="18" charset="0"/>
              </a:rPr>
              <a:t>Notable caves: 1, 2, 16, 17</a:t>
            </a:r>
            <a:endParaRPr lang="en-US" sz="2800" dirty="0">
              <a:latin typeface="Times New Roman" panose="02020603050405020304" pitchFamily="18" charset="0"/>
              <a:ea typeface="Times New Roman" panose="02020603050405020304" pitchFamily="18" charset="0"/>
              <a:cs typeface="Times New Roman" panose="02020603050405020304" pitchFamily="18" charset="0"/>
            </a:endParaRPr>
          </a:p>
          <a:p>
            <a:pPr marL="742950" marR="0" lvl="1" indent="-285750">
              <a:buSzPts val="1000"/>
              <a:buFont typeface="Courier New" panose="02070309020205020404" pitchFamily="49" charset="0"/>
              <a:buChar char="o"/>
              <a:tabLst>
                <a:tab pos="914400" algn="l"/>
              </a:tabLst>
            </a:pPr>
            <a:r>
              <a:rPr lang="en-IN" sz="2800" dirty="0">
                <a:latin typeface="Times New Roman" panose="02020603050405020304" pitchFamily="18" charset="0"/>
                <a:ea typeface="Times New Roman" panose="02020603050405020304" pitchFamily="18" charset="0"/>
                <a:cs typeface="Times New Roman" panose="02020603050405020304" pitchFamily="18" charset="0"/>
              </a:rPr>
              <a:t>Paintings show grace, emotion, and realism in human forms</a:t>
            </a:r>
            <a:endParaRPr lang="en-US" sz="28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0332305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6571" y="288341"/>
            <a:ext cx="11534503" cy="6541278"/>
          </a:xfrm>
          <a:prstGeom prst="rect">
            <a:avLst/>
          </a:prstGeom>
        </p:spPr>
        <p:txBody>
          <a:bodyPr wrap="square">
            <a:spAutoFit/>
          </a:bodyPr>
          <a:lstStyle/>
          <a:p>
            <a:pPr algn="ctr"/>
            <a:r>
              <a:rPr lang="en-IN" sz="3600" b="1" dirty="0">
                <a:latin typeface="Times New Roman" panose="02020603050405020304" pitchFamily="18" charset="0"/>
                <a:ea typeface="Times New Roman" panose="02020603050405020304" pitchFamily="18" charset="0"/>
              </a:rPr>
              <a:t>4. </a:t>
            </a:r>
            <a:r>
              <a:rPr lang="en-IN" sz="3600" b="1" dirty="0" err="1">
                <a:latin typeface="Times New Roman" panose="02020603050405020304" pitchFamily="18" charset="0"/>
                <a:ea typeface="Times New Roman" panose="02020603050405020304" pitchFamily="18" charset="0"/>
              </a:rPr>
              <a:t>Ellora</a:t>
            </a:r>
            <a:r>
              <a:rPr lang="en-IN" sz="3600" b="1" dirty="0">
                <a:latin typeface="Times New Roman" panose="02020603050405020304" pitchFamily="18" charset="0"/>
                <a:ea typeface="Times New Roman" panose="02020603050405020304" pitchFamily="18" charset="0"/>
              </a:rPr>
              <a:t> Caves</a:t>
            </a:r>
            <a:endParaRPr lang="en-US" sz="3600" b="1" dirty="0">
              <a:latin typeface="Times New Roman" panose="02020603050405020304" pitchFamily="18" charset="0"/>
              <a:ea typeface="Times New Roman" panose="02020603050405020304" pitchFamily="18" charset="0"/>
            </a:endParaRPr>
          </a:p>
          <a:p>
            <a:pPr marL="342900" marR="0" lvl="0" indent="-342900">
              <a:buSzPts val="1000"/>
              <a:buFont typeface="Symbol" panose="05050102010706020507" pitchFamily="18" charset="2"/>
              <a:buChar char=""/>
              <a:tabLst>
                <a:tab pos="457200" algn="l"/>
              </a:tabLst>
            </a:pPr>
            <a:r>
              <a:rPr lang="en-IN" sz="2400" b="1" dirty="0">
                <a:latin typeface="Times New Roman" panose="02020603050405020304" pitchFamily="18" charset="0"/>
                <a:ea typeface="Times New Roman" panose="02020603050405020304" pitchFamily="18" charset="0"/>
              </a:rPr>
              <a:t>Location</a:t>
            </a:r>
            <a:r>
              <a:rPr lang="en-IN" sz="2400" dirty="0">
                <a:latin typeface="Times New Roman" panose="02020603050405020304" pitchFamily="18" charset="0"/>
                <a:ea typeface="Times New Roman" panose="02020603050405020304" pitchFamily="18" charset="0"/>
              </a:rPr>
              <a:t>: Aurangabad, Maharashtra</a:t>
            </a:r>
            <a:endParaRPr lang="en-US" sz="2400" dirty="0">
              <a:latin typeface="Times New Roman" panose="02020603050405020304" pitchFamily="18" charset="0"/>
              <a:ea typeface="Times New Roman" panose="02020603050405020304" pitchFamily="18" charset="0"/>
            </a:endParaRPr>
          </a:p>
          <a:p>
            <a:pPr marL="342900" marR="0" lvl="0" indent="-342900">
              <a:buSzPts val="1000"/>
              <a:buFont typeface="Symbol" panose="05050102010706020507" pitchFamily="18" charset="2"/>
              <a:buChar char=""/>
              <a:tabLst>
                <a:tab pos="457200" algn="l"/>
              </a:tabLst>
            </a:pPr>
            <a:r>
              <a:rPr lang="en-IN" sz="2400" b="1" dirty="0">
                <a:latin typeface="Times New Roman" panose="02020603050405020304" pitchFamily="18" charset="0"/>
                <a:ea typeface="Times New Roman" panose="02020603050405020304" pitchFamily="18" charset="0"/>
              </a:rPr>
              <a:t>Period</a:t>
            </a:r>
            <a:r>
              <a:rPr lang="en-IN" sz="2400" dirty="0">
                <a:latin typeface="Times New Roman" panose="02020603050405020304" pitchFamily="18" charset="0"/>
                <a:ea typeface="Times New Roman" panose="02020603050405020304" pitchFamily="18" charset="0"/>
              </a:rPr>
              <a:t>: 5th – 10th Century CE</a:t>
            </a:r>
            <a:endParaRPr lang="en-US" sz="2400" dirty="0">
              <a:latin typeface="Times New Roman" panose="02020603050405020304" pitchFamily="18" charset="0"/>
              <a:ea typeface="Times New Roman" panose="02020603050405020304" pitchFamily="18" charset="0"/>
            </a:endParaRPr>
          </a:p>
          <a:p>
            <a:pPr marL="342900" marR="0" lvl="0" indent="-342900">
              <a:buSzPts val="1000"/>
              <a:buFont typeface="Symbol" panose="05050102010706020507" pitchFamily="18" charset="2"/>
              <a:buChar char=""/>
              <a:tabLst>
                <a:tab pos="457200" algn="l"/>
              </a:tabLst>
            </a:pPr>
            <a:r>
              <a:rPr lang="en-IN" sz="2400" b="1" dirty="0">
                <a:latin typeface="Times New Roman" panose="02020603050405020304" pitchFamily="18" charset="0"/>
                <a:ea typeface="Times New Roman" panose="02020603050405020304" pitchFamily="18" charset="0"/>
              </a:rPr>
              <a:t>Religions Represented</a:t>
            </a:r>
            <a:r>
              <a:rPr lang="en-IN" sz="2400" dirty="0">
                <a:latin typeface="Times New Roman" panose="02020603050405020304" pitchFamily="18" charset="0"/>
                <a:ea typeface="Times New Roman" panose="02020603050405020304" pitchFamily="18" charset="0"/>
              </a:rPr>
              <a:t>: </a:t>
            </a:r>
            <a:r>
              <a:rPr lang="en-IN" sz="2400" b="1" dirty="0">
                <a:latin typeface="Times New Roman" panose="02020603050405020304" pitchFamily="18" charset="0"/>
                <a:ea typeface="Times New Roman" panose="02020603050405020304" pitchFamily="18" charset="0"/>
              </a:rPr>
              <a:t>Buddhism, Hinduism, Jainism</a:t>
            </a:r>
            <a:endParaRPr lang="en-US" sz="2400" dirty="0">
              <a:latin typeface="Times New Roman" panose="02020603050405020304" pitchFamily="18" charset="0"/>
              <a:ea typeface="Times New Roman" panose="02020603050405020304" pitchFamily="18" charset="0"/>
            </a:endParaRPr>
          </a:p>
          <a:p>
            <a:pPr marL="342900" marR="0" lvl="0" indent="-342900">
              <a:buSzPts val="1000"/>
              <a:buFont typeface="Symbol" panose="05050102010706020507" pitchFamily="18" charset="2"/>
              <a:buChar char=""/>
              <a:tabLst>
                <a:tab pos="457200" algn="l"/>
              </a:tabLst>
            </a:pPr>
            <a:r>
              <a:rPr lang="en-IN" sz="2400" b="1" dirty="0">
                <a:latin typeface="Times New Roman" panose="02020603050405020304" pitchFamily="18" charset="0"/>
                <a:ea typeface="Times New Roman" panose="02020603050405020304" pitchFamily="18" charset="0"/>
              </a:rPr>
              <a:t>UNESCO World Heritage Site</a:t>
            </a:r>
            <a:endParaRPr lang="en-US" sz="2400" dirty="0">
              <a:latin typeface="Times New Roman" panose="02020603050405020304" pitchFamily="18" charset="0"/>
              <a:ea typeface="Times New Roman" panose="02020603050405020304" pitchFamily="18" charset="0"/>
            </a:endParaRPr>
          </a:p>
          <a:p>
            <a:pPr>
              <a:lnSpc>
                <a:spcPct val="107000"/>
              </a:lnSpc>
              <a:spcBef>
                <a:spcPts val="200"/>
              </a:spcBef>
            </a:pPr>
            <a:r>
              <a:rPr lang="en-IN" sz="2000" b="1" i="1" dirty="0">
                <a:solidFill>
                  <a:srgbClr val="2E74B5"/>
                </a:solidFill>
                <a:latin typeface="Segoe UI Symbol" panose="020B0502040204020203" pitchFamily="34" charset="0"/>
                <a:ea typeface="Times New Roman" panose="02020603050405020304" pitchFamily="18" charset="0"/>
                <a:cs typeface="Segoe UI Symbol" panose="020B0502040204020203" pitchFamily="34" charset="0"/>
              </a:rPr>
              <a:t>🔍</a:t>
            </a:r>
            <a:r>
              <a:rPr lang="en-IN" sz="2000" b="1" i="1" dirty="0">
                <a:solidFill>
                  <a:srgbClr val="2E74B5"/>
                </a:solidFill>
                <a:latin typeface="Calibri Light" panose="020F0302020204030204" pitchFamily="34" charset="0"/>
                <a:ea typeface="Times New Roman" panose="02020603050405020304" pitchFamily="18" charset="0"/>
                <a:cs typeface="Mangal"/>
              </a:rPr>
              <a:t> Key Features:</a:t>
            </a:r>
            <a:endParaRPr lang="en-US" sz="2000" b="1" i="1" dirty="0">
              <a:solidFill>
                <a:srgbClr val="2E74B5"/>
              </a:solidFill>
              <a:latin typeface="Calibri Light" panose="020F0302020204030204" pitchFamily="34" charset="0"/>
              <a:ea typeface="Times New Roman" panose="02020603050405020304" pitchFamily="18" charset="0"/>
              <a:cs typeface="Mangal"/>
            </a:endParaRPr>
          </a:p>
          <a:p>
            <a:pPr marL="342900" marR="0" lvl="0" indent="-342900">
              <a:buSzPts val="1000"/>
              <a:buFont typeface="Symbol" panose="05050102010706020507" pitchFamily="18" charset="2"/>
              <a:buChar char=""/>
              <a:tabLst>
                <a:tab pos="457200" algn="l"/>
              </a:tabLst>
            </a:pPr>
            <a:r>
              <a:rPr lang="en-IN" sz="2400" b="1" dirty="0">
                <a:latin typeface="Times New Roman" panose="02020603050405020304" pitchFamily="18" charset="0"/>
                <a:ea typeface="Times New Roman" panose="02020603050405020304" pitchFamily="18" charset="0"/>
              </a:rPr>
              <a:t>Total Caves</a:t>
            </a:r>
            <a:r>
              <a:rPr lang="en-IN" sz="2400" dirty="0">
                <a:latin typeface="Times New Roman" panose="02020603050405020304" pitchFamily="18" charset="0"/>
                <a:ea typeface="Times New Roman" panose="02020603050405020304" pitchFamily="18" charset="0"/>
              </a:rPr>
              <a:t>: 34</a:t>
            </a:r>
            <a:endParaRPr lang="en-US" sz="2400" dirty="0">
              <a:latin typeface="Times New Roman" panose="02020603050405020304" pitchFamily="18" charset="0"/>
              <a:ea typeface="Times New Roman" panose="02020603050405020304" pitchFamily="18" charset="0"/>
            </a:endParaRPr>
          </a:p>
          <a:p>
            <a:pPr marL="742950" marR="0" lvl="1" indent="-285750">
              <a:buSzPts val="1000"/>
              <a:buFont typeface="Courier New" panose="02070309020205020404" pitchFamily="49" charset="0"/>
              <a:buChar char="o"/>
              <a:tabLst>
                <a:tab pos="914400" algn="l"/>
              </a:tabLst>
            </a:pPr>
            <a:r>
              <a:rPr lang="en-IN" sz="2400" dirty="0">
                <a:latin typeface="Times New Roman" panose="02020603050405020304" pitchFamily="18" charset="0"/>
                <a:ea typeface="Times New Roman" panose="02020603050405020304" pitchFamily="18" charset="0"/>
                <a:cs typeface="Times New Roman" panose="02020603050405020304" pitchFamily="18" charset="0"/>
              </a:rPr>
              <a:t>12 Buddhist, 17 Hindu, 5 Jain</a:t>
            </a:r>
            <a:endParaRPr lang="en-US" sz="2400" dirty="0">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buSzPts val="1000"/>
              <a:buFont typeface="Symbol" panose="05050102010706020507" pitchFamily="18" charset="2"/>
              <a:buChar char=""/>
              <a:tabLst>
                <a:tab pos="457200" algn="l"/>
              </a:tabLst>
            </a:pPr>
            <a:r>
              <a:rPr lang="en-IN" sz="2400" b="1" dirty="0" err="1">
                <a:latin typeface="Times New Roman" panose="02020603050405020304" pitchFamily="18" charset="0"/>
                <a:ea typeface="Times New Roman" panose="02020603050405020304" pitchFamily="18" charset="0"/>
              </a:rPr>
              <a:t>Kailasa</a:t>
            </a:r>
            <a:r>
              <a:rPr lang="en-IN" sz="2400" b="1" dirty="0">
                <a:latin typeface="Times New Roman" panose="02020603050405020304" pitchFamily="18" charset="0"/>
                <a:ea typeface="Times New Roman" panose="02020603050405020304" pitchFamily="18" charset="0"/>
              </a:rPr>
              <a:t> Temple (Cave 16)</a:t>
            </a:r>
            <a:r>
              <a:rPr lang="en-IN" sz="2400" dirty="0">
                <a:latin typeface="Times New Roman" panose="02020603050405020304" pitchFamily="18" charset="0"/>
                <a:ea typeface="Times New Roman" panose="02020603050405020304" pitchFamily="18" charset="0"/>
              </a:rPr>
              <a:t>:</a:t>
            </a:r>
            <a:endParaRPr lang="en-US" sz="2400" dirty="0">
              <a:latin typeface="Times New Roman" panose="02020603050405020304" pitchFamily="18" charset="0"/>
              <a:ea typeface="Times New Roman" panose="02020603050405020304" pitchFamily="18" charset="0"/>
            </a:endParaRPr>
          </a:p>
          <a:p>
            <a:pPr marL="742950" marR="0" lvl="1" indent="-285750">
              <a:buSzPts val="1000"/>
              <a:buFont typeface="Courier New" panose="02070309020205020404" pitchFamily="49" charset="0"/>
              <a:buChar char="o"/>
              <a:tabLst>
                <a:tab pos="914400" algn="l"/>
              </a:tabLst>
            </a:pPr>
            <a:r>
              <a:rPr lang="en-IN" sz="2400" dirty="0">
                <a:latin typeface="Times New Roman" panose="02020603050405020304" pitchFamily="18" charset="0"/>
                <a:ea typeface="Times New Roman" panose="02020603050405020304" pitchFamily="18" charset="0"/>
                <a:cs typeface="Times New Roman" panose="02020603050405020304" pitchFamily="18" charset="0"/>
              </a:rPr>
              <a:t>Dedicated to </a:t>
            </a:r>
            <a:r>
              <a:rPr lang="en-IN" sz="2400" b="1" dirty="0">
                <a:latin typeface="Times New Roman" panose="02020603050405020304" pitchFamily="18" charset="0"/>
                <a:ea typeface="Times New Roman" panose="02020603050405020304" pitchFamily="18" charset="0"/>
                <a:cs typeface="Times New Roman" panose="02020603050405020304" pitchFamily="18" charset="0"/>
              </a:rPr>
              <a:t>Lord Shiva</a:t>
            </a:r>
            <a:endParaRPr lang="en-US" sz="2400" dirty="0">
              <a:latin typeface="Times New Roman" panose="02020603050405020304" pitchFamily="18" charset="0"/>
              <a:ea typeface="Times New Roman" panose="02020603050405020304" pitchFamily="18" charset="0"/>
              <a:cs typeface="Times New Roman" panose="02020603050405020304" pitchFamily="18" charset="0"/>
            </a:endParaRPr>
          </a:p>
          <a:p>
            <a:pPr marL="742950" marR="0" lvl="1" indent="-285750">
              <a:buSzPts val="1000"/>
              <a:buFont typeface="Courier New" panose="02070309020205020404" pitchFamily="49" charset="0"/>
              <a:buChar char="o"/>
              <a:tabLst>
                <a:tab pos="914400" algn="l"/>
              </a:tabLst>
            </a:pPr>
            <a:r>
              <a:rPr lang="en-IN" sz="2400" dirty="0">
                <a:latin typeface="Times New Roman" panose="02020603050405020304" pitchFamily="18" charset="0"/>
                <a:ea typeface="Times New Roman" panose="02020603050405020304" pitchFamily="18" charset="0"/>
                <a:cs typeface="Times New Roman" panose="02020603050405020304" pitchFamily="18" charset="0"/>
              </a:rPr>
              <a:t>Entire temple carved out of a single rock</a:t>
            </a:r>
            <a:endParaRPr lang="en-US" sz="2400" dirty="0">
              <a:latin typeface="Times New Roman" panose="02020603050405020304" pitchFamily="18" charset="0"/>
              <a:ea typeface="Times New Roman" panose="02020603050405020304" pitchFamily="18" charset="0"/>
              <a:cs typeface="Times New Roman" panose="02020603050405020304" pitchFamily="18" charset="0"/>
            </a:endParaRPr>
          </a:p>
          <a:p>
            <a:pPr marL="742950" marR="0" lvl="1" indent="-285750">
              <a:buSzPts val="1000"/>
              <a:buFont typeface="Courier New" panose="02070309020205020404" pitchFamily="49" charset="0"/>
              <a:buChar char="o"/>
              <a:tabLst>
                <a:tab pos="914400" algn="l"/>
              </a:tabLst>
            </a:pPr>
            <a:r>
              <a:rPr lang="en-IN" sz="2400" dirty="0">
                <a:latin typeface="Times New Roman" panose="02020603050405020304" pitchFamily="18" charset="0"/>
                <a:ea typeface="Times New Roman" panose="02020603050405020304" pitchFamily="18" charset="0"/>
                <a:cs typeface="Times New Roman" panose="02020603050405020304" pitchFamily="18" charset="0"/>
              </a:rPr>
              <a:t>Resembles a </a:t>
            </a:r>
            <a:r>
              <a:rPr lang="en-IN" sz="2400" b="1" dirty="0">
                <a:latin typeface="Times New Roman" panose="02020603050405020304" pitchFamily="18" charset="0"/>
                <a:ea typeface="Times New Roman" panose="02020603050405020304" pitchFamily="18" charset="0"/>
                <a:cs typeface="Times New Roman" panose="02020603050405020304" pitchFamily="18" charset="0"/>
              </a:rPr>
              <a:t>mountain chariot</a:t>
            </a:r>
            <a:endParaRPr lang="en-US" sz="2400" dirty="0">
              <a:latin typeface="Times New Roman" panose="02020603050405020304" pitchFamily="18" charset="0"/>
              <a:ea typeface="Times New Roman" panose="02020603050405020304" pitchFamily="18" charset="0"/>
              <a:cs typeface="Times New Roman" panose="02020603050405020304" pitchFamily="18" charset="0"/>
            </a:endParaRPr>
          </a:p>
          <a:p>
            <a:pPr marL="742950" marR="0" lvl="1" indent="-285750">
              <a:buSzPts val="1000"/>
              <a:buFont typeface="Courier New" panose="02070309020205020404" pitchFamily="49" charset="0"/>
              <a:buChar char="o"/>
              <a:tabLst>
                <a:tab pos="914400" algn="l"/>
              </a:tabLst>
            </a:pPr>
            <a:r>
              <a:rPr lang="en-IN" sz="2400" dirty="0">
                <a:latin typeface="Times New Roman" panose="02020603050405020304" pitchFamily="18" charset="0"/>
                <a:ea typeface="Times New Roman" panose="02020603050405020304" pitchFamily="18" charset="0"/>
                <a:cs typeface="Times New Roman" panose="02020603050405020304" pitchFamily="18" charset="0"/>
              </a:rPr>
              <a:t>Symbol of </a:t>
            </a:r>
            <a:r>
              <a:rPr lang="en-IN" sz="2400" b="1" dirty="0">
                <a:latin typeface="Times New Roman" panose="02020603050405020304" pitchFamily="18" charset="0"/>
                <a:ea typeface="Times New Roman" panose="02020603050405020304" pitchFamily="18" charset="0"/>
                <a:cs typeface="Times New Roman" panose="02020603050405020304" pitchFamily="18" charset="0"/>
              </a:rPr>
              <a:t>rock-cut engineering excellence</a:t>
            </a:r>
            <a:endParaRPr lang="en-US" sz="2400" dirty="0">
              <a:latin typeface="Times New Roman" panose="02020603050405020304" pitchFamily="18" charset="0"/>
              <a:ea typeface="Times New Roman" panose="02020603050405020304" pitchFamily="18" charset="0"/>
              <a:cs typeface="Times New Roman" panose="02020603050405020304" pitchFamily="18" charset="0"/>
            </a:endParaRPr>
          </a:p>
          <a:p>
            <a:pPr marL="742950" marR="0" lvl="1" indent="-285750">
              <a:buSzPts val="1000"/>
              <a:buFont typeface="Courier New" panose="02070309020205020404" pitchFamily="49" charset="0"/>
              <a:buChar char="o"/>
              <a:tabLst>
                <a:tab pos="914400" algn="l"/>
              </a:tabLst>
            </a:pPr>
            <a:r>
              <a:rPr lang="en-IN" sz="2400" dirty="0">
                <a:latin typeface="Times New Roman" panose="02020603050405020304" pitchFamily="18" charset="0"/>
                <a:ea typeface="Times New Roman" panose="02020603050405020304" pitchFamily="18" charset="0"/>
                <a:cs typeface="Times New Roman" panose="02020603050405020304" pitchFamily="18" charset="0"/>
              </a:rPr>
              <a:t>Sculptures depict episodes from </a:t>
            </a:r>
            <a:r>
              <a:rPr lang="en-IN" sz="2400" b="1" dirty="0">
                <a:latin typeface="Times New Roman" panose="02020603050405020304" pitchFamily="18" charset="0"/>
                <a:ea typeface="Times New Roman" panose="02020603050405020304" pitchFamily="18" charset="0"/>
                <a:cs typeface="Times New Roman" panose="02020603050405020304" pitchFamily="18" charset="0"/>
              </a:rPr>
              <a:t>Mahabharata, Ramayana</a:t>
            </a:r>
            <a:endParaRPr lang="en-US" sz="2400" dirty="0">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buSzPts val="1000"/>
              <a:buFont typeface="Symbol" panose="05050102010706020507" pitchFamily="18" charset="2"/>
              <a:buChar char=""/>
              <a:tabLst>
                <a:tab pos="457200" algn="l"/>
              </a:tabLst>
            </a:pPr>
            <a:r>
              <a:rPr lang="en-IN" sz="2400" dirty="0">
                <a:latin typeface="Times New Roman" panose="02020603050405020304" pitchFamily="18" charset="0"/>
                <a:ea typeface="Times New Roman" panose="02020603050405020304" pitchFamily="18" charset="0"/>
              </a:rPr>
              <a:t>Other notable features:</a:t>
            </a:r>
            <a:endParaRPr lang="en-US" sz="2400" dirty="0">
              <a:latin typeface="Times New Roman" panose="02020603050405020304" pitchFamily="18" charset="0"/>
              <a:ea typeface="Times New Roman" panose="02020603050405020304" pitchFamily="18" charset="0"/>
            </a:endParaRPr>
          </a:p>
          <a:p>
            <a:pPr marL="742950" marR="0" lvl="1" indent="-285750">
              <a:buSzPts val="1000"/>
              <a:buFont typeface="Courier New" panose="02070309020205020404" pitchFamily="49" charset="0"/>
              <a:buChar char="o"/>
              <a:tabLst>
                <a:tab pos="914400" algn="l"/>
              </a:tabLst>
            </a:pPr>
            <a:r>
              <a:rPr lang="en-IN" sz="2400" dirty="0">
                <a:latin typeface="Times New Roman" panose="02020603050405020304" pitchFamily="18" charset="0"/>
                <a:ea typeface="Times New Roman" panose="02020603050405020304" pitchFamily="18" charset="0"/>
                <a:cs typeface="Times New Roman" panose="02020603050405020304" pitchFamily="18" charset="0"/>
              </a:rPr>
              <a:t>Buddhist caves have </a:t>
            </a:r>
            <a:r>
              <a:rPr lang="en-IN" sz="2400" b="1" dirty="0" err="1">
                <a:latin typeface="Times New Roman" panose="02020603050405020304" pitchFamily="18" charset="0"/>
                <a:ea typeface="Times New Roman" panose="02020603050405020304" pitchFamily="18" charset="0"/>
                <a:cs typeface="Times New Roman" panose="02020603050405020304" pitchFamily="18" charset="0"/>
              </a:rPr>
              <a:t>viharas</a:t>
            </a:r>
            <a:r>
              <a:rPr lang="en-IN" sz="2400" b="1" dirty="0">
                <a:latin typeface="Times New Roman" panose="02020603050405020304" pitchFamily="18" charset="0"/>
                <a:ea typeface="Times New Roman" panose="02020603050405020304" pitchFamily="18" charset="0"/>
                <a:cs typeface="Times New Roman" panose="02020603050405020304" pitchFamily="18" charset="0"/>
              </a:rPr>
              <a:t> with chaityas</a:t>
            </a:r>
            <a:endParaRPr lang="en-US" sz="2400" dirty="0">
              <a:latin typeface="Times New Roman" panose="02020603050405020304" pitchFamily="18" charset="0"/>
              <a:ea typeface="Times New Roman" panose="02020603050405020304" pitchFamily="18" charset="0"/>
              <a:cs typeface="Times New Roman" panose="02020603050405020304" pitchFamily="18" charset="0"/>
            </a:endParaRPr>
          </a:p>
          <a:p>
            <a:pPr marL="742950" marR="0" lvl="1" indent="-285750">
              <a:buSzPts val="1000"/>
              <a:buFont typeface="Courier New" panose="02070309020205020404" pitchFamily="49" charset="0"/>
              <a:buChar char="o"/>
              <a:tabLst>
                <a:tab pos="914400" algn="l"/>
              </a:tabLst>
            </a:pPr>
            <a:r>
              <a:rPr lang="en-IN" sz="2400" dirty="0">
                <a:latin typeface="Times New Roman" panose="02020603050405020304" pitchFamily="18" charset="0"/>
                <a:ea typeface="Times New Roman" panose="02020603050405020304" pitchFamily="18" charset="0"/>
                <a:cs typeface="Times New Roman" panose="02020603050405020304" pitchFamily="18" charset="0"/>
              </a:rPr>
              <a:t>Jain caves are highly ornate and detailed</a:t>
            </a:r>
            <a:endParaRPr lang="en-US" sz="24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3568949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6571" y="447775"/>
            <a:ext cx="11547566" cy="6176243"/>
          </a:xfrm>
          <a:prstGeom prst="rect">
            <a:avLst/>
          </a:prstGeom>
        </p:spPr>
        <p:txBody>
          <a:bodyPr wrap="square">
            <a:spAutoFit/>
          </a:bodyPr>
          <a:lstStyle/>
          <a:p>
            <a:pPr algn="ctr"/>
            <a:r>
              <a:rPr lang="en-IN" sz="3200" b="1" dirty="0">
                <a:latin typeface="Times New Roman" panose="02020603050405020304" pitchFamily="18" charset="0"/>
                <a:ea typeface="Times New Roman" panose="02020603050405020304" pitchFamily="18" charset="0"/>
              </a:rPr>
              <a:t>5. </a:t>
            </a:r>
            <a:r>
              <a:rPr lang="en-IN" sz="3200" b="1" dirty="0" err="1">
                <a:latin typeface="Times New Roman" panose="02020603050405020304" pitchFamily="18" charset="0"/>
                <a:ea typeface="Times New Roman" panose="02020603050405020304" pitchFamily="18" charset="0"/>
              </a:rPr>
              <a:t>Konark</a:t>
            </a:r>
            <a:r>
              <a:rPr lang="en-IN" sz="3200" b="1" dirty="0">
                <a:latin typeface="Times New Roman" panose="02020603050405020304" pitchFamily="18" charset="0"/>
                <a:ea typeface="Times New Roman" panose="02020603050405020304" pitchFamily="18" charset="0"/>
              </a:rPr>
              <a:t> Sun Temple</a:t>
            </a:r>
            <a:endParaRPr lang="en-US" sz="3200" b="1" dirty="0">
              <a:latin typeface="Times New Roman" panose="02020603050405020304" pitchFamily="18" charset="0"/>
              <a:ea typeface="Times New Roman" panose="02020603050405020304" pitchFamily="18" charset="0"/>
            </a:endParaRPr>
          </a:p>
          <a:p>
            <a:pPr marL="342900" marR="0" lvl="0" indent="-342900">
              <a:buSzPts val="1000"/>
              <a:buFont typeface="Symbol" panose="05050102010706020507" pitchFamily="18" charset="2"/>
              <a:buChar char=""/>
              <a:tabLst>
                <a:tab pos="457200" algn="l"/>
              </a:tabLst>
            </a:pPr>
            <a:r>
              <a:rPr lang="en-IN" sz="2800" b="1" dirty="0">
                <a:latin typeface="Times New Roman" panose="02020603050405020304" pitchFamily="18" charset="0"/>
                <a:ea typeface="Times New Roman" panose="02020603050405020304" pitchFamily="18" charset="0"/>
              </a:rPr>
              <a:t>Location</a:t>
            </a:r>
            <a:r>
              <a:rPr lang="en-IN" sz="2800" dirty="0">
                <a:latin typeface="Times New Roman" panose="02020603050405020304" pitchFamily="18" charset="0"/>
                <a:ea typeface="Times New Roman" panose="02020603050405020304" pitchFamily="18" charset="0"/>
              </a:rPr>
              <a:t>: </a:t>
            </a:r>
            <a:r>
              <a:rPr lang="en-IN" sz="2800" dirty="0" err="1">
                <a:latin typeface="Times New Roman" panose="02020603050405020304" pitchFamily="18" charset="0"/>
                <a:ea typeface="Times New Roman" panose="02020603050405020304" pitchFamily="18" charset="0"/>
              </a:rPr>
              <a:t>Konark</a:t>
            </a:r>
            <a:r>
              <a:rPr lang="en-IN" sz="2800" dirty="0">
                <a:latin typeface="Times New Roman" panose="02020603050405020304" pitchFamily="18" charset="0"/>
                <a:ea typeface="Times New Roman" panose="02020603050405020304" pitchFamily="18" charset="0"/>
              </a:rPr>
              <a:t>, Odisha</a:t>
            </a:r>
            <a:endParaRPr lang="en-US" sz="2800" dirty="0">
              <a:latin typeface="Times New Roman" panose="02020603050405020304" pitchFamily="18" charset="0"/>
              <a:ea typeface="Times New Roman" panose="02020603050405020304" pitchFamily="18" charset="0"/>
            </a:endParaRPr>
          </a:p>
          <a:p>
            <a:pPr marL="342900" marR="0" lvl="0" indent="-342900">
              <a:buSzPts val="1000"/>
              <a:buFont typeface="Symbol" panose="05050102010706020507" pitchFamily="18" charset="2"/>
              <a:buChar char=""/>
              <a:tabLst>
                <a:tab pos="457200" algn="l"/>
              </a:tabLst>
            </a:pPr>
            <a:r>
              <a:rPr lang="en-IN" sz="2800" b="1" dirty="0">
                <a:latin typeface="Times New Roman" panose="02020603050405020304" pitchFamily="18" charset="0"/>
                <a:ea typeface="Times New Roman" panose="02020603050405020304" pitchFamily="18" charset="0"/>
              </a:rPr>
              <a:t>Built by</a:t>
            </a:r>
            <a:r>
              <a:rPr lang="en-IN" sz="2800" dirty="0">
                <a:latin typeface="Times New Roman" panose="02020603050405020304" pitchFamily="18" charset="0"/>
                <a:ea typeface="Times New Roman" panose="02020603050405020304" pitchFamily="18" charset="0"/>
              </a:rPr>
              <a:t>: King </a:t>
            </a:r>
            <a:r>
              <a:rPr lang="en-IN" sz="2800" b="1" dirty="0" err="1">
                <a:latin typeface="Times New Roman" panose="02020603050405020304" pitchFamily="18" charset="0"/>
                <a:ea typeface="Times New Roman" panose="02020603050405020304" pitchFamily="18" charset="0"/>
              </a:rPr>
              <a:t>Narasimhadeva</a:t>
            </a:r>
            <a:r>
              <a:rPr lang="en-IN" sz="2800" b="1" dirty="0">
                <a:latin typeface="Times New Roman" panose="02020603050405020304" pitchFamily="18" charset="0"/>
                <a:ea typeface="Times New Roman" panose="02020603050405020304" pitchFamily="18" charset="0"/>
              </a:rPr>
              <a:t> I</a:t>
            </a:r>
            <a:r>
              <a:rPr lang="en-IN" sz="2800" dirty="0">
                <a:latin typeface="Times New Roman" panose="02020603050405020304" pitchFamily="18" charset="0"/>
                <a:ea typeface="Times New Roman" panose="02020603050405020304" pitchFamily="18" charset="0"/>
              </a:rPr>
              <a:t> (Ganga Dynasty), 13th Century CE</a:t>
            </a:r>
            <a:endParaRPr lang="en-US" sz="2800" dirty="0">
              <a:latin typeface="Times New Roman" panose="02020603050405020304" pitchFamily="18" charset="0"/>
              <a:ea typeface="Times New Roman" panose="02020603050405020304" pitchFamily="18" charset="0"/>
            </a:endParaRPr>
          </a:p>
          <a:p>
            <a:pPr marL="342900" marR="0" lvl="0" indent="-342900">
              <a:buSzPts val="1000"/>
              <a:buFont typeface="Symbol" panose="05050102010706020507" pitchFamily="18" charset="2"/>
              <a:buChar char=""/>
              <a:tabLst>
                <a:tab pos="457200" algn="l"/>
              </a:tabLst>
            </a:pPr>
            <a:r>
              <a:rPr lang="en-IN" sz="2800" b="1" dirty="0">
                <a:latin typeface="Times New Roman" panose="02020603050405020304" pitchFamily="18" charset="0"/>
                <a:ea typeface="Times New Roman" panose="02020603050405020304" pitchFamily="18" charset="0"/>
              </a:rPr>
              <a:t>Dedicated to</a:t>
            </a:r>
            <a:r>
              <a:rPr lang="en-IN" sz="2800" dirty="0">
                <a:latin typeface="Times New Roman" panose="02020603050405020304" pitchFamily="18" charset="0"/>
                <a:ea typeface="Times New Roman" panose="02020603050405020304" pitchFamily="18" charset="0"/>
              </a:rPr>
              <a:t>: </a:t>
            </a:r>
            <a:r>
              <a:rPr lang="en-IN" sz="2800" b="1" dirty="0">
                <a:latin typeface="Times New Roman" panose="02020603050405020304" pitchFamily="18" charset="0"/>
                <a:ea typeface="Times New Roman" panose="02020603050405020304" pitchFamily="18" charset="0"/>
              </a:rPr>
              <a:t>Surya (Sun God)</a:t>
            </a:r>
            <a:endParaRPr lang="en-US" sz="2800" dirty="0">
              <a:latin typeface="Times New Roman" panose="02020603050405020304" pitchFamily="18" charset="0"/>
              <a:ea typeface="Times New Roman" panose="02020603050405020304" pitchFamily="18" charset="0"/>
            </a:endParaRPr>
          </a:p>
          <a:p>
            <a:pPr marL="342900" marR="0" lvl="0" indent="-342900">
              <a:buSzPts val="1000"/>
              <a:buFont typeface="Symbol" panose="05050102010706020507" pitchFamily="18" charset="2"/>
              <a:buChar char=""/>
              <a:tabLst>
                <a:tab pos="457200" algn="l"/>
              </a:tabLst>
            </a:pPr>
            <a:r>
              <a:rPr lang="en-IN" sz="2800" b="1" dirty="0">
                <a:latin typeface="Times New Roman" panose="02020603050405020304" pitchFamily="18" charset="0"/>
                <a:ea typeface="Times New Roman" panose="02020603050405020304" pitchFamily="18" charset="0"/>
              </a:rPr>
              <a:t>UNESCO World Heritage Site</a:t>
            </a:r>
            <a:endParaRPr lang="en-US" sz="2800" dirty="0">
              <a:latin typeface="Times New Roman" panose="02020603050405020304" pitchFamily="18" charset="0"/>
              <a:ea typeface="Times New Roman" panose="02020603050405020304" pitchFamily="18" charset="0"/>
            </a:endParaRPr>
          </a:p>
          <a:p>
            <a:pPr>
              <a:lnSpc>
                <a:spcPct val="107000"/>
              </a:lnSpc>
              <a:spcBef>
                <a:spcPts val="200"/>
              </a:spcBef>
            </a:pPr>
            <a:r>
              <a:rPr lang="en-IN" sz="2400" b="1" i="1" dirty="0">
                <a:solidFill>
                  <a:srgbClr val="2E74B5"/>
                </a:solidFill>
                <a:latin typeface="Segoe UI Symbol" panose="020B0502040204020203" pitchFamily="34" charset="0"/>
                <a:ea typeface="Times New Roman" panose="02020603050405020304" pitchFamily="18" charset="0"/>
                <a:cs typeface="Segoe UI Symbol" panose="020B0502040204020203" pitchFamily="34" charset="0"/>
              </a:rPr>
              <a:t>🔍</a:t>
            </a:r>
            <a:r>
              <a:rPr lang="en-IN" sz="2400" b="1" i="1" dirty="0">
                <a:solidFill>
                  <a:srgbClr val="2E74B5"/>
                </a:solidFill>
                <a:latin typeface="Calibri Light" panose="020F0302020204030204" pitchFamily="34" charset="0"/>
                <a:ea typeface="Times New Roman" panose="02020603050405020304" pitchFamily="18" charset="0"/>
                <a:cs typeface="Mangal"/>
              </a:rPr>
              <a:t> Key Features:</a:t>
            </a:r>
            <a:endParaRPr lang="en-US" sz="2400" b="1" i="1" dirty="0">
              <a:solidFill>
                <a:srgbClr val="2E74B5"/>
              </a:solidFill>
              <a:latin typeface="Calibri Light" panose="020F0302020204030204" pitchFamily="34" charset="0"/>
              <a:ea typeface="Times New Roman" panose="02020603050405020304" pitchFamily="18" charset="0"/>
              <a:cs typeface="Mangal"/>
            </a:endParaRPr>
          </a:p>
          <a:p>
            <a:pPr marL="342900" marR="0" lvl="0" indent="-342900">
              <a:buSzPts val="1000"/>
              <a:buFont typeface="Symbol" panose="05050102010706020507" pitchFamily="18" charset="2"/>
              <a:buChar char=""/>
              <a:tabLst>
                <a:tab pos="457200" algn="l"/>
              </a:tabLst>
            </a:pPr>
            <a:r>
              <a:rPr lang="en-IN" sz="2800" b="1" dirty="0">
                <a:latin typeface="Times New Roman" panose="02020603050405020304" pitchFamily="18" charset="0"/>
                <a:ea typeface="Times New Roman" panose="02020603050405020304" pitchFamily="18" charset="0"/>
              </a:rPr>
              <a:t>Temple Shape</a:t>
            </a:r>
            <a:r>
              <a:rPr lang="en-IN" sz="2800" dirty="0">
                <a:latin typeface="Times New Roman" panose="02020603050405020304" pitchFamily="18" charset="0"/>
                <a:ea typeface="Times New Roman" panose="02020603050405020304" pitchFamily="18" charset="0"/>
              </a:rPr>
              <a:t>: Designed as a </a:t>
            </a:r>
            <a:r>
              <a:rPr lang="en-IN" sz="2800" b="1" dirty="0">
                <a:latin typeface="Times New Roman" panose="02020603050405020304" pitchFamily="18" charset="0"/>
                <a:ea typeface="Times New Roman" panose="02020603050405020304" pitchFamily="18" charset="0"/>
              </a:rPr>
              <a:t>gigantic chariot</a:t>
            </a:r>
            <a:endParaRPr lang="en-US" sz="2800" dirty="0">
              <a:latin typeface="Times New Roman" panose="02020603050405020304" pitchFamily="18" charset="0"/>
              <a:ea typeface="Times New Roman" panose="02020603050405020304" pitchFamily="18" charset="0"/>
            </a:endParaRPr>
          </a:p>
          <a:p>
            <a:pPr marL="742950" marR="0" lvl="1" indent="-285750">
              <a:buSzPts val="1000"/>
              <a:buFont typeface="Courier New" panose="02070309020205020404" pitchFamily="49" charset="0"/>
              <a:buChar char="o"/>
              <a:tabLst>
                <a:tab pos="914400" algn="l"/>
              </a:tabLst>
            </a:pPr>
            <a:r>
              <a:rPr lang="en-IN" sz="2800" b="1" dirty="0">
                <a:latin typeface="Times New Roman" panose="02020603050405020304" pitchFamily="18" charset="0"/>
                <a:ea typeface="Times New Roman" panose="02020603050405020304" pitchFamily="18" charset="0"/>
                <a:cs typeface="Times New Roman" panose="02020603050405020304" pitchFamily="18" charset="0"/>
              </a:rPr>
              <a:t>24 carved wheels</a:t>
            </a:r>
            <a:r>
              <a:rPr lang="en-IN" sz="2800" dirty="0">
                <a:latin typeface="Times New Roman" panose="02020603050405020304" pitchFamily="18" charset="0"/>
                <a:ea typeface="Times New Roman" panose="02020603050405020304" pitchFamily="18" charset="0"/>
                <a:cs typeface="Times New Roman" panose="02020603050405020304" pitchFamily="18" charset="0"/>
              </a:rPr>
              <a:t> (representing time; act as sundials)</a:t>
            </a:r>
            <a:endParaRPr lang="en-US" sz="2800" dirty="0">
              <a:latin typeface="Times New Roman" panose="02020603050405020304" pitchFamily="18" charset="0"/>
              <a:ea typeface="Times New Roman" panose="02020603050405020304" pitchFamily="18" charset="0"/>
              <a:cs typeface="Times New Roman" panose="02020603050405020304" pitchFamily="18" charset="0"/>
            </a:endParaRPr>
          </a:p>
          <a:p>
            <a:pPr marL="742950" marR="0" lvl="1" indent="-285750">
              <a:buSzPts val="1000"/>
              <a:buFont typeface="Courier New" panose="02070309020205020404" pitchFamily="49" charset="0"/>
              <a:buChar char="o"/>
              <a:tabLst>
                <a:tab pos="914400" algn="l"/>
              </a:tabLst>
            </a:pPr>
            <a:r>
              <a:rPr lang="en-IN" sz="2800" dirty="0">
                <a:latin typeface="Times New Roman" panose="02020603050405020304" pitchFamily="18" charset="0"/>
                <a:ea typeface="Times New Roman" panose="02020603050405020304" pitchFamily="18" charset="0"/>
                <a:cs typeface="Times New Roman" panose="02020603050405020304" pitchFamily="18" charset="0"/>
              </a:rPr>
              <a:t>Pulled by </a:t>
            </a:r>
            <a:r>
              <a:rPr lang="en-IN" sz="2800" b="1" dirty="0">
                <a:latin typeface="Times New Roman" panose="02020603050405020304" pitchFamily="18" charset="0"/>
                <a:ea typeface="Times New Roman" panose="02020603050405020304" pitchFamily="18" charset="0"/>
                <a:cs typeface="Times New Roman" panose="02020603050405020304" pitchFamily="18" charset="0"/>
              </a:rPr>
              <a:t>7 horses</a:t>
            </a:r>
            <a:r>
              <a:rPr lang="en-IN" sz="2800" dirty="0">
                <a:latin typeface="Times New Roman" panose="02020603050405020304" pitchFamily="18" charset="0"/>
                <a:ea typeface="Times New Roman" panose="02020603050405020304" pitchFamily="18" charset="0"/>
                <a:cs typeface="Times New Roman" panose="02020603050405020304" pitchFamily="18" charset="0"/>
              </a:rPr>
              <a:t> (symbolizing days of the week)</a:t>
            </a:r>
            <a:endParaRPr lang="en-US" sz="2800" dirty="0">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buSzPts val="1000"/>
              <a:buFont typeface="Symbol" panose="05050102010706020507" pitchFamily="18" charset="2"/>
              <a:buChar char=""/>
              <a:tabLst>
                <a:tab pos="457200" algn="l"/>
              </a:tabLst>
            </a:pPr>
            <a:r>
              <a:rPr lang="en-IN" sz="2800" b="1" dirty="0">
                <a:latin typeface="Times New Roman" panose="02020603050405020304" pitchFamily="18" charset="0"/>
                <a:ea typeface="Times New Roman" panose="02020603050405020304" pitchFamily="18" charset="0"/>
              </a:rPr>
              <a:t>Architectural Style</a:t>
            </a:r>
            <a:r>
              <a:rPr lang="en-IN" sz="2800" dirty="0">
                <a:latin typeface="Times New Roman" panose="02020603050405020304" pitchFamily="18" charset="0"/>
                <a:ea typeface="Times New Roman" panose="02020603050405020304" pitchFamily="18" charset="0"/>
              </a:rPr>
              <a:t>: </a:t>
            </a:r>
            <a:r>
              <a:rPr lang="en-IN" sz="2800" b="1" dirty="0">
                <a:latin typeface="Times New Roman" panose="02020603050405020304" pitchFamily="18" charset="0"/>
                <a:ea typeface="Times New Roman" panose="02020603050405020304" pitchFamily="18" charset="0"/>
              </a:rPr>
              <a:t>Kalinga Style</a:t>
            </a:r>
            <a:r>
              <a:rPr lang="en-IN" sz="2800" dirty="0">
                <a:latin typeface="Times New Roman" panose="02020603050405020304" pitchFamily="18" charset="0"/>
                <a:ea typeface="Times New Roman" panose="02020603050405020304" pitchFamily="18" charset="0"/>
              </a:rPr>
              <a:t> of </a:t>
            </a:r>
            <a:r>
              <a:rPr lang="en-IN" sz="2800" dirty="0" err="1">
                <a:latin typeface="Times New Roman" panose="02020603050405020304" pitchFamily="18" charset="0"/>
                <a:ea typeface="Times New Roman" panose="02020603050405020304" pitchFamily="18" charset="0"/>
              </a:rPr>
              <a:t>Nagara</a:t>
            </a:r>
            <a:r>
              <a:rPr lang="en-IN" sz="2800" dirty="0">
                <a:latin typeface="Times New Roman" panose="02020603050405020304" pitchFamily="18" charset="0"/>
                <a:ea typeface="Times New Roman" panose="02020603050405020304" pitchFamily="18" charset="0"/>
              </a:rPr>
              <a:t> architecture</a:t>
            </a:r>
            <a:endParaRPr lang="en-US" sz="2800" dirty="0">
              <a:latin typeface="Times New Roman" panose="02020603050405020304" pitchFamily="18" charset="0"/>
              <a:ea typeface="Times New Roman" panose="02020603050405020304" pitchFamily="18" charset="0"/>
            </a:endParaRPr>
          </a:p>
          <a:p>
            <a:pPr marL="342900" marR="0" lvl="0" indent="-342900">
              <a:buSzPts val="1000"/>
              <a:buFont typeface="Symbol" panose="05050102010706020507" pitchFamily="18" charset="2"/>
              <a:buChar char=""/>
              <a:tabLst>
                <a:tab pos="457200" algn="l"/>
              </a:tabLst>
            </a:pPr>
            <a:r>
              <a:rPr lang="en-IN" sz="2800" b="1" dirty="0">
                <a:latin typeface="Times New Roman" panose="02020603050405020304" pitchFamily="18" charset="0"/>
                <a:ea typeface="Times New Roman" panose="02020603050405020304" pitchFamily="18" charset="0"/>
              </a:rPr>
              <a:t>Sculptural Beauty</a:t>
            </a:r>
            <a:r>
              <a:rPr lang="en-IN" sz="2800" dirty="0">
                <a:latin typeface="Times New Roman" panose="02020603050405020304" pitchFamily="18" charset="0"/>
                <a:ea typeface="Times New Roman" panose="02020603050405020304" pitchFamily="18" charset="0"/>
              </a:rPr>
              <a:t>:</a:t>
            </a:r>
            <a:endParaRPr lang="en-US" sz="2800" dirty="0">
              <a:latin typeface="Times New Roman" panose="02020603050405020304" pitchFamily="18" charset="0"/>
              <a:ea typeface="Times New Roman" panose="02020603050405020304" pitchFamily="18" charset="0"/>
            </a:endParaRPr>
          </a:p>
          <a:p>
            <a:pPr marL="742950" marR="0" lvl="1" indent="-285750">
              <a:buSzPts val="1000"/>
              <a:buFont typeface="Courier New" panose="02070309020205020404" pitchFamily="49" charset="0"/>
              <a:buChar char="o"/>
              <a:tabLst>
                <a:tab pos="914400" algn="l"/>
              </a:tabLst>
            </a:pPr>
            <a:r>
              <a:rPr lang="en-IN" sz="2800" dirty="0">
                <a:latin typeface="Times New Roman" panose="02020603050405020304" pitchFamily="18" charset="0"/>
                <a:ea typeface="Times New Roman" panose="02020603050405020304" pitchFamily="18" charset="0"/>
                <a:cs typeface="Times New Roman" panose="02020603050405020304" pitchFamily="18" charset="0"/>
              </a:rPr>
              <a:t>Detailed carvings of </a:t>
            </a:r>
            <a:r>
              <a:rPr lang="en-IN" sz="2800" b="1" dirty="0">
                <a:latin typeface="Times New Roman" panose="02020603050405020304" pitchFamily="18" charset="0"/>
                <a:ea typeface="Times New Roman" panose="02020603050405020304" pitchFamily="18" charset="0"/>
                <a:cs typeface="Times New Roman" panose="02020603050405020304" pitchFamily="18" charset="0"/>
              </a:rPr>
              <a:t>dancers, animals, mythological figures</a:t>
            </a:r>
            <a:endParaRPr lang="en-US" sz="2800" dirty="0">
              <a:latin typeface="Times New Roman" panose="02020603050405020304" pitchFamily="18" charset="0"/>
              <a:ea typeface="Times New Roman" panose="02020603050405020304" pitchFamily="18" charset="0"/>
              <a:cs typeface="Times New Roman" panose="02020603050405020304" pitchFamily="18" charset="0"/>
            </a:endParaRPr>
          </a:p>
          <a:p>
            <a:pPr marL="742950" marR="0" lvl="1" indent="-285750">
              <a:buSzPts val="1000"/>
              <a:buFont typeface="Courier New" panose="02070309020205020404" pitchFamily="49" charset="0"/>
              <a:buChar char="o"/>
              <a:tabLst>
                <a:tab pos="914400" algn="l"/>
              </a:tabLst>
            </a:pPr>
            <a:r>
              <a:rPr lang="en-IN" sz="2800" b="1" dirty="0">
                <a:latin typeface="Times New Roman" panose="02020603050405020304" pitchFamily="18" charset="0"/>
                <a:ea typeface="Times New Roman" panose="02020603050405020304" pitchFamily="18" charset="0"/>
                <a:cs typeface="Times New Roman" panose="02020603050405020304" pitchFamily="18" charset="0"/>
              </a:rPr>
              <a:t>Erotic sculptures</a:t>
            </a:r>
            <a:r>
              <a:rPr lang="en-IN" sz="2800" dirty="0">
                <a:latin typeface="Times New Roman" panose="02020603050405020304" pitchFamily="18" charset="0"/>
                <a:ea typeface="Times New Roman" panose="02020603050405020304" pitchFamily="18" charset="0"/>
                <a:cs typeface="Times New Roman" panose="02020603050405020304" pitchFamily="18" charset="0"/>
              </a:rPr>
              <a:t> and </a:t>
            </a:r>
            <a:r>
              <a:rPr lang="en-IN" sz="2800" b="1" dirty="0">
                <a:latin typeface="Times New Roman" panose="02020603050405020304" pitchFamily="18" charset="0"/>
                <a:ea typeface="Times New Roman" panose="02020603050405020304" pitchFamily="18" charset="0"/>
                <a:cs typeface="Times New Roman" panose="02020603050405020304" pitchFamily="18" charset="0"/>
              </a:rPr>
              <a:t>daily life depictions</a:t>
            </a:r>
            <a:endParaRPr lang="en-US" sz="2800" dirty="0">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buSzPts val="1000"/>
              <a:buFont typeface="Symbol" panose="05050102010706020507" pitchFamily="18" charset="2"/>
              <a:buChar char=""/>
              <a:tabLst>
                <a:tab pos="457200" algn="l"/>
              </a:tabLst>
            </a:pPr>
            <a:r>
              <a:rPr lang="en-IN" sz="2800" b="1" dirty="0">
                <a:latin typeface="Times New Roman" panose="02020603050405020304" pitchFamily="18" charset="0"/>
                <a:ea typeface="Times New Roman" panose="02020603050405020304" pitchFamily="18" charset="0"/>
              </a:rPr>
              <a:t>Main </a:t>
            </a:r>
            <a:r>
              <a:rPr lang="en-IN" sz="2800" b="1" dirty="0" err="1">
                <a:latin typeface="Times New Roman" panose="02020603050405020304" pitchFamily="18" charset="0"/>
                <a:ea typeface="Times New Roman" panose="02020603050405020304" pitchFamily="18" charset="0"/>
              </a:rPr>
              <a:t>Shikhara</a:t>
            </a:r>
            <a:r>
              <a:rPr lang="en-IN" sz="2800" b="1" dirty="0">
                <a:latin typeface="Times New Roman" panose="02020603050405020304" pitchFamily="18" charset="0"/>
                <a:ea typeface="Times New Roman" panose="02020603050405020304" pitchFamily="18" charset="0"/>
              </a:rPr>
              <a:t> (tower)</a:t>
            </a:r>
            <a:r>
              <a:rPr lang="en-IN" sz="2800" dirty="0">
                <a:latin typeface="Times New Roman" panose="02020603050405020304" pitchFamily="18" charset="0"/>
                <a:ea typeface="Times New Roman" panose="02020603050405020304" pitchFamily="18" charset="0"/>
              </a:rPr>
              <a:t> is now in ruins</a:t>
            </a:r>
            <a:endParaRPr lang="en-US" sz="2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96564578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13509" y="231614"/>
            <a:ext cx="11599817" cy="6110391"/>
          </a:xfrm>
          <a:prstGeom prst="rect">
            <a:avLst/>
          </a:prstGeom>
        </p:spPr>
        <p:txBody>
          <a:bodyPr wrap="square">
            <a:spAutoFit/>
          </a:bodyPr>
          <a:lstStyle/>
          <a:p>
            <a:pPr algn="ctr"/>
            <a:r>
              <a:rPr lang="en-IN" sz="3200" b="1" dirty="0">
                <a:latin typeface="Times New Roman" panose="02020603050405020304" pitchFamily="18" charset="0"/>
                <a:ea typeface="Times New Roman" panose="02020603050405020304" pitchFamily="18" charset="0"/>
              </a:rPr>
              <a:t>6. </a:t>
            </a:r>
            <a:r>
              <a:rPr lang="en-IN" sz="3200" b="1" dirty="0" err="1">
                <a:latin typeface="Times New Roman" panose="02020603050405020304" pitchFamily="18" charset="0"/>
                <a:ea typeface="Times New Roman" panose="02020603050405020304" pitchFamily="18" charset="0"/>
              </a:rPr>
              <a:t>Khajuraho</a:t>
            </a:r>
            <a:r>
              <a:rPr lang="en-IN" sz="3200" b="1" dirty="0">
                <a:latin typeface="Times New Roman" panose="02020603050405020304" pitchFamily="18" charset="0"/>
                <a:ea typeface="Times New Roman" panose="02020603050405020304" pitchFamily="18" charset="0"/>
              </a:rPr>
              <a:t> Temples</a:t>
            </a:r>
            <a:endParaRPr lang="en-US" sz="3200" b="1" dirty="0">
              <a:latin typeface="Times New Roman" panose="02020603050405020304" pitchFamily="18" charset="0"/>
              <a:ea typeface="Times New Roman" panose="02020603050405020304" pitchFamily="18" charset="0"/>
            </a:endParaRPr>
          </a:p>
          <a:p>
            <a:pPr marL="342900" marR="0" lvl="0" indent="-342900">
              <a:buSzPts val="1000"/>
              <a:buFont typeface="Symbol" panose="05050102010706020507" pitchFamily="18" charset="2"/>
              <a:buChar char=""/>
              <a:tabLst>
                <a:tab pos="457200" algn="l"/>
              </a:tabLst>
            </a:pPr>
            <a:r>
              <a:rPr lang="en-IN" sz="2400" b="1" dirty="0">
                <a:latin typeface="Times New Roman" panose="02020603050405020304" pitchFamily="18" charset="0"/>
                <a:ea typeface="Times New Roman" panose="02020603050405020304" pitchFamily="18" charset="0"/>
              </a:rPr>
              <a:t>Location</a:t>
            </a:r>
            <a:r>
              <a:rPr lang="en-IN" sz="2400" dirty="0">
                <a:latin typeface="Times New Roman" panose="02020603050405020304" pitchFamily="18" charset="0"/>
                <a:ea typeface="Times New Roman" panose="02020603050405020304" pitchFamily="18" charset="0"/>
              </a:rPr>
              <a:t>: Madhya Pradesh</a:t>
            </a:r>
            <a:endParaRPr lang="en-US" sz="2400" dirty="0">
              <a:latin typeface="Times New Roman" panose="02020603050405020304" pitchFamily="18" charset="0"/>
              <a:ea typeface="Times New Roman" panose="02020603050405020304" pitchFamily="18" charset="0"/>
            </a:endParaRPr>
          </a:p>
          <a:p>
            <a:pPr marL="342900" marR="0" lvl="0" indent="-342900">
              <a:buSzPts val="1000"/>
              <a:buFont typeface="Symbol" panose="05050102010706020507" pitchFamily="18" charset="2"/>
              <a:buChar char=""/>
              <a:tabLst>
                <a:tab pos="457200" algn="l"/>
              </a:tabLst>
            </a:pPr>
            <a:r>
              <a:rPr lang="en-IN" sz="2400" b="1" dirty="0">
                <a:latin typeface="Times New Roman" panose="02020603050405020304" pitchFamily="18" charset="0"/>
                <a:ea typeface="Times New Roman" panose="02020603050405020304" pitchFamily="18" charset="0"/>
              </a:rPr>
              <a:t>Built by</a:t>
            </a:r>
            <a:r>
              <a:rPr lang="en-IN" sz="2400" dirty="0">
                <a:latin typeface="Times New Roman" panose="02020603050405020304" pitchFamily="18" charset="0"/>
                <a:ea typeface="Times New Roman" panose="02020603050405020304" pitchFamily="18" charset="0"/>
              </a:rPr>
              <a:t>: </a:t>
            </a:r>
            <a:r>
              <a:rPr lang="en-IN" sz="2400" b="1" dirty="0" err="1">
                <a:latin typeface="Times New Roman" panose="02020603050405020304" pitchFamily="18" charset="0"/>
                <a:ea typeface="Times New Roman" panose="02020603050405020304" pitchFamily="18" charset="0"/>
              </a:rPr>
              <a:t>Chandela</a:t>
            </a:r>
            <a:r>
              <a:rPr lang="en-IN" sz="2400" b="1" dirty="0">
                <a:latin typeface="Times New Roman" panose="02020603050405020304" pitchFamily="18" charset="0"/>
                <a:ea typeface="Times New Roman" panose="02020603050405020304" pitchFamily="18" charset="0"/>
              </a:rPr>
              <a:t> Dynasty</a:t>
            </a:r>
            <a:r>
              <a:rPr lang="en-IN" sz="2400" dirty="0">
                <a:latin typeface="Times New Roman" panose="02020603050405020304" pitchFamily="18" charset="0"/>
                <a:ea typeface="Times New Roman" panose="02020603050405020304" pitchFamily="18" charset="0"/>
              </a:rPr>
              <a:t> (950–1050 CE)</a:t>
            </a:r>
            <a:endParaRPr lang="en-US" sz="2400" dirty="0">
              <a:latin typeface="Times New Roman" panose="02020603050405020304" pitchFamily="18" charset="0"/>
              <a:ea typeface="Times New Roman" panose="02020603050405020304" pitchFamily="18" charset="0"/>
            </a:endParaRPr>
          </a:p>
          <a:p>
            <a:pPr marL="342900" marR="0" lvl="0" indent="-342900">
              <a:buSzPts val="1000"/>
              <a:buFont typeface="Symbol" panose="05050102010706020507" pitchFamily="18" charset="2"/>
              <a:buChar char=""/>
              <a:tabLst>
                <a:tab pos="457200" algn="l"/>
              </a:tabLst>
            </a:pPr>
            <a:r>
              <a:rPr lang="en-IN" sz="2400" b="1" dirty="0">
                <a:latin typeface="Times New Roman" panose="02020603050405020304" pitchFamily="18" charset="0"/>
                <a:ea typeface="Times New Roman" panose="02020603050405020304" pitchFamily="18" charset="0"/>
              </a:rPr>
              <a:t>Religion</a:t>
            </a:r>
            <a:r>
              <a:rPr lang="en-IN" sz="2400" dirty="0">
                <a:latin typeface="Times New Roman" panose="02020603050405020304" pitchFamily="18" charset="0"/>
                <a:ea typeface="Times New Roman" panose="02020603050405020304" pitchFamily="18" charset="0"/>
              </a:rPr>
              <a:t>: </a:t>
            </a:r>
            <a:r>
              <a:rPr lang="en-IN" sz="2400" b="1" dirty="0">
                <a:latin typeface="Times New Roman" panose="02020603050405020304" pitchFamily="18" charset="0"/>
                <a:ea typeface="Times New Roman" panose="02020603050405020304" pitchFamily="18" charset="0"/>
              </a:rPr>
              <a:t>Hinduism and Jainism</a:t>
            </a:r>
            <a:endParaRPr lang="en-US" sz="2400" dirty="0">
              <a:latin typeface="Times New Roman" panose="02020603050405020304" pitchFamily="18" charset="0"/>
              <a:ea typeface="Times New Roman" panose="02020603050405020304" pitchFamily="18" charset="0"/>
            </a:endParaRPr>
          </a:p>
          <a:p>
            <a:pPr marL="342900" marR="0" lvl="0" indent="-342900">
              <a:buSzPts val="1000"/>
              <a:buFont typeface="Symbol" panose="05050102010706020507" pitchFamily="18" charset="2"/>
              <a:buChar char=""/>
              <a:tabLst>
                <a:tab pos="457200" algn="l"/>
              </a:tabLst>
            </a:pPr>
            <a:r>
              <a:rPr lang="en-IN" sz="2400" b="1" dirty="0">
                <a:latin typeface="Times New Roman" panose="02020603050405020304" pitchFamily="18" charset="0"/>
                <a:ea typeface="Times New Roman" panose="02020603050405020304" pitchFamily="18" charset="0"/>
              </a:rPr>
              <a:t>UNESCO World Heritage Site</a:t>
            </a:r>
            <a:endParaRPr lang="en-US" sz="2400" dirty="0">
              <a:latin typeface="Times New Roman" panose="02020603050405020304" pitchFamily="18" charset="0"/>
              <a:ea typeface="Times New Roman" panose="02020603050405020304" pitchFamily="18" charset="0"/>
            </a:endParaRPr>
          </a:p>
          <a:p>
            <a:pPr>
              <a:lnSpc>
                <a:spcPct val="107000"/>
              </a:lnSpc>
              <a:spcBef>
                <a:spcPts val="200"/>
              </a:spcBef>
            </a:pPr>
            <a:r>
              <a:rPr lang="en-IN" sz="2000" b="1" i="1" dirty="0">
                <a:solidFill>
                  <a:srgbClr val="2E74B5"/>
                </a:solidFill>
                <a:latin typeface="Segoe UI Symbol" panose="020B0502040204020203" pitchFamily="34" charset="0"/>
                <a:ea typeface="Times New Roman" panose="02020603050405020304" pitchFamily="18" charset="0"/>
                <a:cs typeface="Segoe UI Symbol" panose="020B0502040204020203" pitchFamily="34" charset="0"/>
              </a:rPr>
              <a:t>🔍</a:t>
            </a:r>
            <a:r>
              <a:rPr lang="en-IN" sz="2000" b="1" i="1" dirty="0">
                <a:solidFill>
                  <a:srgbClr val="2E74B5"/>
                </a:solidFill>
                <a:latin typeface="Calibri Light" panose="020F0302020204030204" pitchFamily="34" charset="0"/>
                <a:ea typeface="Times New Roman" panose="02020603050405020304" pitchFamily="18" charset="0"/>
                <a:cs typeface="Mangal"/>
              </a:rPr>
              <a:t> Key Features:</a:t>
            </a:r>
            <a:endParaRPr lang="en-US" sz="2000" b="1" i="1" dirty="0">
              <a:solidFill>
                <a:srgbClr val="2E74B5"/>
              </a:solidFill>
              <a:latin typeface="Calibri Light" panose="020F0302020204030204" pitchFamily="34" charset="0"/>
              <a:ea typeface="Times New Roman" panose="02020603050405020304" pitchFamily="18" charset="0"/>
              <a:cs typeface="Mangal"/>
            </a:endParaRPr>
          </a:p>
          <a:p>
            <a:pPr marL="342900" marR="0" lvl="0" indent="-342900">
              <a:buSzPts val="1000"/>
              <a:buFont typeface="Symbol" panose="05050102010706020507" pitchFamily="18" charset="2"/>
              <a:buChar char=""/>
              <a:tabLst>
                <a:tab pos="457200" algn="l"/>
              </a:tabLst>
            </a:pPr>
            <a:r>
              <a:rPr lang="en-IN" sz="2400" b="1" dirty="0">
                <a:latin typeface="Times New Roman" panose="02020603050405020304" pitchFamily="18" charset="0"/>
                <a:ea typeface="Times New Roman" panose="02020603050405020304" pitchFamily="18" charset="0"/>
              </a:rPr>
              <a:t>Total Temples</a:t>
            </a:r>
            <a:r>
              <a:rPr lang="en-IN" sz="2400" dirty="0">
                <a:latin typeface="Times New Roman" panose="02020603050405020304" pitchFamily="18" charset="0"/>
                <a:ea typeface="Times New Roman" panose="02020603050405020304" pitchFamily="18" charset="0"/>
              </a:rPr>
              <a:t>: 85 originally, about 25 survive today</a:t>
            </a:r>
            <a:endParaRPr lang="en-US" sz="2400" dirty="0">
              <a:latin typeface="Times New Roman" panose="02020603050405020304" pitchFamily="18" charset="0"/>
              <a:ea typeface="Times New Roman" panose="02020603050405020304" pitchFamily="18" charset="0"/>
            </a:endParaRPr>
          </a:p>
          <a:p>
            <a:pPr marL="342900" marR="0" lvl="0" indent="-342900">
              <a:buSzPts val="1000"/>
              <a:buFont typeface="Symbol" panose="05050102010706020507" pitchFamily="18" charset="2"/>
              <a:buChar char=""/>
              <a:tabLst>
                <a:tab pos="457200" algn="l"/>
              </a:tabLst>
            </a:pPr>
            <a:r>
              <a:rPr lang="en-IN" sz="2400" b="1" dirty="0">
                <a:latin typeface="Times New Roman" panose="02020603050405020304" pitchFamily="18" charset="0"/>
                <a:ea typeface="Times New Roman" panose="02020603050405020304" pitchFamily="18" charset="0"/>
              </a:rPr>
              <a:t>Architectural Style</a:t>
            </a:r>
            <a:r>
              <a:rPr lang="en-IN" sz="2400" dirty="0">
                <a:latin typeface="Times New Roman" panose="02020603050405020304" pitchFamily="18" charset="0"/>
                <a:ea typeface="Times New Roman" panose="02020603050405020304" pitchFamily="18" charset="0"/>
              </a:rPr>
              <a:t>: </a:t>
            </a:r>
            <a:r>
              <a:rPr lang="en-IN" sz="2400" b="1" dirty="0" err="1">
                <a:latin typeface="Times New Roman" panose="02020603050405020304" pitchFamily="18" charset="0"/>
                <a:ea typeface="Times New Roman" panose="02020603050405020304" pitchFamily="18" charset="0"/>
              </a:rPr>
              <a:t>Nagara</a:t>
            </a:r>
            <a:r>
              <a:rPr lang="en-IN" sz="2400" b="1" dirty="0">
                <a:latin typeface="Times New Roman" panose="02020603050405020304" pitchFamily="18" charset="0"/>
                <a:ea typeface="Times New Roman" panose="02020603050405020304" pitchFamily="18" charset="0"/>
              </a:rPr>
              <a:t> Style</a:t>
            </a:r>
            <a:endParaRPr lang="en-US" sz="2400" dirty="0">
              <a:latin typeface="Times New Roman" panose="02020603050405020304" pitchFamily="18" charset="0"/>
              <a:ea typeface="Times New Roman" panose="02020603050405020304" pitchFamily="18" charset="0"/>
            </a:endParaRPr>
          </a:p>
          <a:p>
            <a:pPr marL="342900" marR="0" lvl="0" indent="-342900">
              <a:buSzPts val="1000"/>
              <a:buFont typeface="Symbol" panose="05050102010706020507" pitchFamily="18" charset="2"/>
              <a:buChar char=""/>
              <a:tabLst>
                <a:tab pos="457200" algn="l"/>
              </a:tabLst>
            </a:pPr>
            <a:r>
              <a:rPr lang="en-IN" sz="2400" b="1" dirty="0">
                <a:latin typeface="Times New Roman" panose="02020603050405020304" pitchFamily="18" charset="0"/>
                <a:ea typeface="Times New Roman" panose="02020603050405020304" pitchFamily="18" charset="0"/>
              </a:rPr>
              <a:t>Erotic Sculptures</a:t>
            </a:r>
            <a:r>
              <a:rPr lang="en-IN" sz="2400" dirty="0">
                <a:latin typeface="Times New Roman" panose="02020603050405020304" pitchFamily="18" charset="0"/>
                <a:ea typeface="Times New Roman" panose="02020603050405020304" pitchFamily="18" charset="0"/>
              </a:rPr>
              <a:t>:</a:t>
            </a:r>
            <a:endParaRPr lang="en-US" sz="2400" dirty="0">
              <a:latin typeface="Times New Roman" panose="02020603050405020304" pitchFamily="18" charset="0"/>
              <a:ea typeface="Times New Roman" panose="02020603050405020304" pitchFamily="18" charset="0"/>
            </a:endParaRPr>
          </a:p>
          <a:p>
            <a:pPr marL="742950" marR="0" lvl="1" indent="-285750">
              <a:buSzPts val="1000"/>
              <a:buFont typeface="Courier New" panose="02070309020205020404" pitchFamily="49" charset="0"/>
              <a:buChar char="o"/>
              <a:tabLst>
                <a:tab pos="914400" algn="l"/>
              </a:tabLst>
            </a:pPr>
            <a:r>
              <a:rPr lang="en-IN" sz="2400" dirty="0">
                <a:latin typeface="Times New Roman" panose="02020603050405020304" pitchFamily="18" charset="0"/>
                <a:ea typeface="Times New Roman" panose="02020603050405020304" pitchFamily="18" charset="0"/>
                <a:cs typeface="Times New Roman" panose="02020603050405020304" pitchFamily="18" charset="0"/>
              </a:rPr>
              <a:t>Celebrated for their bold and symbolic </a:t>
            </a:r>
            <a:r>
              <a:rPr lang="en-IN" sz="2400" b="1" dirty="0">
                <a:latin typeface="Times New Roman" panose="02020603050405020304" pitchFamily="18" charset="0"/>
                <a:ea typeface="Times New Roman" panose="02020603050405020304" pitchFamily="18" charset="0"/>
                <a:cs typeface="Times New Roman" panose="02020603050405020304" pitchFamily="18" charset="0"/>
              </a:rPr>
              <a:t>erotic art</a:t>
            </a:r>
            <a:endParaRPr lang="en-US" sz="2400" dirty="0">
              <a:latin typeface="Times New Roman" panose="02020603050405020304" pitchFamily="18" charset="0"/>
              <a:ea typeface="Times New Roman" panose="02020603050405020304" pitchFamily="18" charset="0"/>
              <a:cs typeface="Times New Roman" panose="02020603050405020304" pitchFamily="18" charset="0"/>
            </a:endParaRPr>
          </a:p>
          <a:p>
            <a:pPr marL="742950" marR="0" lvl="1" indent="-285750">
              <a:buSzPts val="1000"/>
              <a:buFont typeface="Courier New" panose="02070309020205020404" pitchFamily="49" charset="0"/>
              <a:buChar char="o"/>
              <a:tabLst>
                <a:tab pos="914400" algn="l"/>
              </a:tabLst>
            </a:pPr>
            <a:r>
              <a:rPr lang="en-IN" sz="2400" dirty="0">
                <a:latin typeface="Times New Roman" panose="02020603050405020304" pitchFamily="18" charset="0"/>
                <a:ea typeface="Times New Roman" panose="02020603050405020304" pitchFamily="18" charset="0"/>
                <a:cs typeface="Times New Roman" panose="02020603050405020304" pitchFamily="18" charset="0"/>
              </a:rPr>
              <a:t>Reflect philosophical idea of </a:t>
            </a:r>
            <a:r>
              <a:rPr lang="en-IN" sz="2400" b="1" dirty="0">
                <a:latin typeface="Times New Roman" panose="02020603050405020304" pitchFamily="18" charset="0"/>
                <a:ea typeface="Times New Roman" panose="02020603050405020304" pitchFamily="18" charset="0"/>
                <a:cs typeface="Times New Roman" panose="02020603050405020304" pitchFamily="18" charset="0"/>
              </a:rPr>
              <a:t>Tantra</a:t>
            </a:r>
            <a:r>
              <a:rPr lang="en-IN" sz="2400" dirty="0">
                <a:latin typeface="Times New Roman" panose="02020603050405020304" pitchFamily="18" charset="0"/>
                <a:ea typeface="Times New Roman" panose="02020603050405020304" pitchFamily="18" charset="0"/>
                <a:cs typeface="Times New Roman" panose="02020603050405020304" pitchFamily="18" charset="0"/>
              </a:rPr>
              <a:t> – unity of male &amp; female energies</a:t>
            </a:r>
            <a:endParaRPr lang="en-US" sz="2400" dirty="0">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buSzPts val="1000"/>
              <a:buFont typeface="Symbol" panose="05050102010706020507" pitchFamily="18" charset="2"/>
              <a:buChar char=""/>
              <a:tabLst>
                <a:tab pos="457200" algn="l"/>
              </a:tabLst>
            </a:pPr>
            <a:r>
              <a:rPr lang="en-IN" sz="2400" b="1" dirty="0">
                <a:latin typeface="Times New Roman" panose="02020603050405020304" pitchFamily="18" charset="0"/>
                <a:ea typeface="Times New Roman" panose="02020603050405020304" pitchFamily="18" charset="0"/>
              </a:rPr>
              <a:t>Famous Temples</a:t>
            </a:r>
            <a:r>
              <a:rPr lang="en-IN" sz="2400" dirty="0">
                <a:latin typeface="Times New Roman" panose="02020603050405020304" pitchFamily="18" charset="0"/>
                <a:ea typeface="Times New Roman" panose="02020603050405020304" pitchFamily="18" charset="0"/>
              </a:rPr>
              <a:t>:</a:t>
            </a:r>
            <a:endParaRPr lang="en-US" sz="2400" dirty="0">
              <a:latin typeface="Times New Roman" panose="02020603050405020304" pitchFamily="18" charset="0"/>
              <a:ea typeface="Times New Roman" panose="02020603050405020304" pitchFamily="18" charset="0"/>
            </a:endParaRPr>
          </a:p>
          <a:p>
            <a:pPr marL="742950" marR="0" lvl="1" indent="-285750">
              <a:buSzPts val="1000"/>
              <a:buFont typeface="Courier New" panose="02070309020205020404" pitchFamily="49" charset="0"/>
              <a:buChar char="o"/>
              <a:tabLst>
                <a:tab pos="914400" algn="l"/>
              </a:tabLst>
            </a:pPr>
            <a:r>
              <a:rPr lang="en-IN" sz="2400" b="1" dirty="0" err="1">
                <a:latin typeface="Times New Roman" panose="02020603050405020304" pitchFamily="18" charset="0"/>
                <a:ea typeface="Times New Roman" panose="02020603050405020304" pitchFamily="18" charset="0"/>
                <a:cs typeface="Times New Roman" panose="02020603050405020304" pitchFamily="18" charset="0"/>
              </a:rPr>
              <a:t>Kandariya</a:t>
            </a:r>
            <a:r>
              <a:rPr lang="en-IN" sz="2400" b="1" dirty="0">
                <a:latin typeface="Times New Roman" panose="02020603050405020304" pitchFamily="18" charset="0"/>
                <a:ea typeface="Times New Roman" panose="02020603050405020304" pitchFamily="18" charset="0"/>
                <a:cs typeface="Times New Roman" panose="02020603050405020304" pitchFamily="18" charset="0"/>
              </a:rPr>
              <a:t> </a:t>
            </a:r>
            <a:r>
              <a:rPr lang="en-IN" sz="2400" b="1" dirty="0" err="1">
                <a:latin typeface="Times New Roman" panose="02020603050405020304" pitchFamily="18" charset="0"/>
                <a:ea typeface="Times New Roman" panose="02020603050405020304" pitchFamily="18" charset="0"/>
                <a:cs typeface="Times New Roman" panose="02020603050405020304" pitchFamily="18" charset="0"/>
              </a:rPr>
              <a:t>Mahadeva</a:t>
            </a:r>
            <a:r>
              <a:rPr lang="en-IN" sz="2400" b="1" dirty="0">
                <a:latin typeface="Times New Roman" panose="02020603050405020304" pitchFamily="18" charset="0"/>
                <a:ea typeface="Times New Roman" panose="02020603050405020304" pitchFamily="18" charset="0"/>
                <a:cs typeface="Times New Roman" panose="02020603050405020304" pitchFamily="18" charset="0"/>
              </a:rPr>
              <a:t> Temple</a:t>
            </a:r>
            <a:endParaRPr lang="en-US" sz="2400" dirty="0">
              <a:latin typeface="Times New Roman" panose="02020603050405020304" pitchFamily="18" charset="0"/>
              <a:ea typeface="Times New Roman" panose="02020603050405020304" pitchFamily="18" charset="0"/>
              <a:cs typeface="Times New Roman" panose="02020603050405020304" pitchFamily="18" charset="0"/>
            </a:endParaRPr>
          </a:p>
          <a:p>
            <a:pPr marL="742950" marR="0" lvl="1" indent="-285750">
              <a:buSzPts val="1000"/>
              <a:buFont typeface="Courier New" panose="02070309020205020404" pitchFamily="49" charset="0"/>
              <a:buChar char="o"/>
              <a:tabLst>
                <a:tab pos="914400" algn="l"/>
              </a:tabLst>
            </a:pPr>
            <a:r>
              <a:rPr lang="en-IN" sz="2400" b="1" dirty="0">
                <a:latin typeface="Times New Roman" panose="02020603050405020304" pitchFamily="18" charset="0"/>
                <a:ea typeface="Times New Roman" panose="02020603050405020304" pitchFamily="18" charset="0"/>
                <a:cs typeface="Times New Roman" panose="02020603050405020304" pitchFamily="18" charset="0"/>
              </a:rPr>
              <a:t>Lakshmana Temple</a:t>
            </a:r>
            <a:endParaRPr lang="en-US" sz="2400" dirty="0">
              <a:latin typeface="Times New Roman" panose="02020603050405020304" pitchFamily="18" charset="0"/>
              <a:ea typeface="Times New Roman" panose="02020603050405020304" pitchFamily="18" charset="0"/>
              <a:cs typeface="Times New Roman" panose="02020603050405020304" pitchFamily="18" charset="0"/>
            </a:endParaRPr>
          </a:p>
          <a:p>
            <a:pPr marL="742950" marR="0" lvl="1" indent="-285750">
              <a:buSzPts val="1000"/>
              <a:buFont typeface="Courier New" panose="02070309020205020404" pitchFamily="49" charset="0"/>
              <a:buChar char="o"/>
              <a:tabLst>
                <a:tab pos="914400" algn="l"/>
              </a:tabLst>
            </a:pPr>
            <a:r>
              <a:rPr lang="en-IN" sz="2400" b="1" dirty="0" err="1">
                <a:latin typeface="Times New Roman" panose="02020603050405020304" pitchFamily="18" charset="0"/>
                <a:ea typeface="Times New Roman" panose="02020603050405020304" pitchFamily="18" charset="0"/>
                <a:cs typeface="Times New Roman" panose="02020603050405020304" pitchFamily="18" charset="0"/>
              </a:rPr>
              <a:t>Vishvanatha</a:t>
            </a:r>
            <a:r>
              <a:rPr lang="en-IN" sz="2400" b="1" dirty="0">
                <a:latin typeface="Times New Roman" panose="02020603050405020304" pitchFamily="18" charset="0"/>
                <a:ea typeface="Times New Roman" panose="02020603050405020304" pitchFamily="18" charset="0"/>
                <a:cs typeface="Times New Roman" panose="02020603050405020304" pitchFamily="18" charset="0"/>
              </a:rPr>
              <a:t> Temple</a:t>
            </a:r>
            <a:endParaRPr lang="en-US" sz="2400" dirty="0">
              <a:latin typeface="Times New Roman" panose="02020603050405020304" pitchFamily="18" charset="0"/>
              <a:ea typeface="Times New Roman" panose="02020603050405020304" pitchFamily="18" charset="0"/>
              <a:cs typeface="Times New Roman" panose="02020603050405020304" pitchFamily="18" charset="0"/>
            </a:endParaRPr>
          </a:p>
          <a:p>
            <a:r>
              <a:rPr lang="en-IN" sz="2000" dirty="0">
                <a:latin typeface="Calibri" panose="020F0502020204030204" pitchFamily="34" charset="0"/>
                <a:ea typeface="Calibri" panose="020F0502020204030204" pitchFamily="34" charset="0"/>
                <a:cs typeface="Kokila" panose="020B0604020202020204" pitchFamily="34" charset="0"/>
              </a:rPr>
              <a:t>Sculptures also depict </a:t>
            </a:r>
            <a:r>
              <a:rPr lang="en-IN" sz="2000" b="1" dirty="0">
                <a:latin typeface="Calibri" panose="020F0502020204030204" pitchFamily="34" charset="0"/>
                <a:ea typeface="Calibri" panose="020F0502020204030204" pitchFamily="34" charset="0"/>
                <a:cs typeface="Kokila" panose="020B0604020202020204" pitchFamily="34" charset="0"/>
              </a:rPr>
              <a:t>musicians, deities, dancers, warriors</a:t>
            </a:r>
            <a:endParaRPr lang="en-US" sz="3600" dirty="0"/>
          </a:p>
        </p:txBody>
      </p:sp>
    </p:spTree>
    <p:extLst>
      <p:ext uri="{BB962C8B-B14F-4D97-AF65-F5344CB8AC3E}">
        <p14:creationId xmlns:p14="http://schemas.microsoft.com/office/powerpoint/2010/main" val="176998724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78823" y="438281"/>
            <a:ext cx="11403874" cy="5441874"/>
          </a:xfrm>
          <a:prstGeom prst="rect">
            <a:avLst/>
          </a:prstGeom>
        </p:spPr>
        <p:txBody>
          <a:bodyPr wrap="square">
            <a:spAutoFit/>
          </a:bodyPr>
          <a:lstStyle/>
          <a:p>
            <a:pPr algn="ctr"/>
            <a:r>
              <a:rPr lang="en-IN" sz="2800" b="1" dirty="0">
                <a:latin typeface="Times New Roman" panose="02020603050405020304" pitchFamily="18" charset="0"/>
                <a:ea typeface="Times New Roman" panose="02020603050405020304" pitchFamily="18" charset="0"/>
              </a:rPr>
              <a:t>7. Medieval Monuments (Indo-Islamic Architecture)</a:t>
            </a:r>
            <a:endParaRPr lang="en-US" sz="2800" b="1" dirty="0">
              <a:latin typeface="Times New Roman" panose="02020603050405020304" pitchFamily="18" charset="0"/>
              <a:ea typeface="Times New Roman" panose="02020603050405020304" pitchFamily="18" charset="0"/>
            </a:endParaRPr>
          </a:p>
          <a:p>
            <a:pPr>
              <a:lnSpc>
                <a:spcPct val="107000"/>
              </a:lnSpc>
              <a:spcBef>
                <a:spcPts val="200"/>
              </a:spcBef>
            </a:pPr>
            <a:r>
              <a:rPr lang="en-IN" sz="2800" b="1" i="1" dirty="0">
                <a:solidFill>
                  <a:srgbClr val="2E74B5"/>
                </a:solidFill>
                <a:latin typeface="Calibri Light" panose="020F0302020204030204" pitchFamily="34" charset="0"/>
                <a:ea typeface="Times New Roman" panose="02020603050405020304" pitchFamily="18" charset="0"/>
                <a:cs typeface="Mangal"/>
              </a:rPr>
              <a:t>Delhi Sultanate Architecture (12th–15th Century):</a:t>
            </a:r>
            <a:endParaRPr lang="en-US" sz="2800" b="1" i="1" dirty="0">
              <a:solidFill>
                <a:srgbClr val="2E74B5"/>
              </a:solidFill>
              <a:latin typeface="Calibri Light" panose="020F0302020204030204" pitchFamily="34" charset="0"/>
              <a:ea typeface="Times New Roman" panose="02020603050405020304" pitchFamily="18" charset="0"/>
              <a:cs typeface="Mangal"/>
            </a:endParaRPr>
          </a:p>
          <a:p>
            <a:pPr marL="342900" marR="0" lvl="0" indent="-342900">
              <a:buSzPts val="1000"/>
              <a:buFont typeface="Symbol" panose="05050102010706020507" pitchFamily="18" charset="2"/>
              <a:buChar char=""/>
              <a:tabLst>
                <a:tab pos="457200" algn="l"/>
              </a:tabLst>
            </a:pPr>
            <a:r>
              <a:rPr lang="en-IN" sz="3200" b="1" dirty="0" err="1">
                <a:latin typeface="Times New Roman" panose="02020603050405020304" pitchFamily="18" charset="0"/>
                <a:ea typeface="Times New Roman" panose="02020603050405020304" pitchFamily="18" charset="0"/>
              </a:rPr>
              <a:t>Qutub</a:t>
            </a:r>
            <a:r>
              <a:rPr lang="en-IN" sz="3200" b="1" dirty="0">
                <a:latin typeface="Times New Roman" panose="02020603050405020304" pitchFamily="18" charset="0"/>
                <a:ea typeface="Times New Roman" panose="02020603050405020304" pitchFamily="18" charset="0"/>
              </a:rPr>
              <a:t> </a:t>
            </a:r>
            <a:r>
              <a:rPr lang="en-IN" sz="3200" b="1" dirty="0" err="1">
                <a:latin typeface="Times New Roman" panose="02020603050405020304" pitchFamily="18" charset="0"/>
                <a:ea typeface="Times New Roman" panose="02020603050405020304" pitchFamily="18" charset="0"/>
              </a:rPr>
              <a:t>Minar</a:t>
            </a:r>
            <a:r>
              <a:rPr lang="en-IN" sz="3200" b="1" dirty="0">
                <a:latin typeface="Times New Roman" panose="02020603050405020304" pitchFamily="18" charset="0"/>
                <a:ea typeface="Times New Roman" panose="02020603050405020304" pitchFamily="18" charset="0"/>
              </a:rPr>
              <a:t> (Delhi)</a:t>
            </a:r>
            <a:r>
              <a:rPr lang="en-IN" sz="3200" dirty="0">
                <a:latin typeface="Times New Roman" panose="02020603050405020304" pitchFamily="18" charset="0"/>
                <a:ea typeface="Times New Roman" panose="02020603050405020304" pitchFamily="18" charset="0"/>
              </a:rPr>
              <a:t>:</a:t>
            </a:r>
            <a:endParaRPr lang="en-US" sz="3200" dirty="0">
              <a:latin typeface="Times New Roman" panose="02020603050405020304" pitchFamily="18" charset="0"/>
              <a:ea typeface="Times New Roman" panose="02020603050405020304" pitchFamily="18" charset="0"/>
            </a:endParaRPr>
          </a:p>
          <a:p>
            <a:pPr marL="742950" marR="0" lvl="1" indent="-285750">
              <a:buSzPts val="1000"/>
              <a:buFont typeface="Courier New" panose="02070309020205020404" pitchFamily="49" charset="0"/>
              <a:buChar char="o"/>
              <a:tabLst>
                <a:tab pos="914400" algn="l"/>
              </a:tabLst>
            </a:pPr>
            <a:r>
              <a:rPr lang="en-IN" sz="3200" dirty="0">
                <a:latin typeface="Times New Roman" panose="02020603050405020304" pitchFamily="18" charset="0"/>
                <a:ea typeface="Times New Roman" panose="02020603050405020304" pitchFamily="18" charset="0"/>
                <a:cs typeface="Times New Roman" panose="02020603050405020304" pitchFamily="18" charset="0"/>
              </a:rPr>
              <a:t>Built by </a:t>
            </a:r>
            <a:r>
              <a:rPr lang="en-IN" sz="3200" b="1" dirty="0" err="1">
                <a:latin typeface="Times New Roman" panose="02020603050405020304" pitchFamily="18" charset="0"/>
                <a:ea typeface="Times New Roman" panose="02020603050405020304" pitchFamily="18" charset="0"/>
                <a:cs typeface="Times New Roman" panose="02020603050405020304" pitchFamily="18" charset="0"/>
              </a:rPr>
              <a:t>Qutb</a:t>
            </a:r>
            <a:r>
              <a:rPr lang="en-IN" sz="3200" b="1" dirty="0">
                <a:latin typeface="Times New Roman" panose="02020603050405020304" pitchFamily="18" charset="0"/>
                <a:ea typeface="Times New Roman" panose="02020603050405020304" pitchFamily="18" charset="0"/>
                <a:cs typeface="Times New Roman" panose="02020603050405020304" pitchFamily="18" charset="0"/>
              </a:rPr>
              <a:t>-</a:t>
            </a:r>
            <a:r>
              <a:rPr lang="en-IN" sz="3200" b="1" dirty="0" err="1">
                <a:latin typeface="Times New Roman" panose="02020603050405020304" pitchFamily="18" charset="0"/>
                <a:ea typeface="Times New Roman" panose="02020603050405020304" pitchFamily="18" charset="0"/>
                <a:cs typeface="Times New Roman" panose="02020603050405020304" pitchFamily="18" charset="0"/>
              </a:rPr>
              <a:t>ud</a:t>
            </a:r>
            <a:r>
              <a:rPr lang="en-IN" sz="3200" b="1" dirty="0">
                <a:latin typeface="Times New Roman" panose="02020603050405020304" pitchFamily="18" charset="0"/>
                <a:ea typeface="Times New Roman" panose="02020603050405020304" pitchFamily="18" charset="0"/>
                <a:cs typeface="Times New Roman" panose="02020603050405020304" pitchFamily="18" charset="0"/>
              </a:rPr>
              <a:t>-din </a:t>
            </a:r>
            <a:r>
              <a:rPr lang="en-IN" sz="3200" b="1" dirty="0" err="1">
                <a:latin typeface="Times New Roman" panose="02020603050405020304" pitchFamily="18" charset="0"/>
                <a:ea typeface="Times New Roman" panose="02020603050405020304" pitchFamily="18" charset="0"/>
                <a:cs typeface="Times New Roman" panose="02020603050405020304" pitchFamily="18" charset="0"/>
              </a:rPr>
              <a:t>Aibak</a:t>
            </a:r>
            <a:r>
              <a:rPr lang="en-IN" sz="3200" dirty="0">
                <a:latin typeface="Times New Roman" panose="02020603050405020304" pitchFamily="18" charset="0"/>
                <a:ea typeface="Times New Roman" panose="02020603050405020304" pitchFamily="18" charset="0"/>
                <a:cs typeface="Times New Roman" panose="02020603050405020304" pitchFamily="18" charset="0"/>
              </a:rPr>
              <a:t>, completed by </a:t>
            </a:r>
            <a:r>
              <a:rPr lang="en-IN" sz="3200" b="1" dirty="0" err="1">
                <a:latin typeface="Times New Roman" panose="02020603050405020304" pitchFamily="18" charset="0"/>
                <a:ea typeface="Times New Roman" panose="02020603050405020304" pitchFamily="18" charset="0"/>
                <a:cs typeface="Times New Roman" panose="02020603050405020304" pitchFamily="18" charset="0"/>
              </a:rPr>
              <a:t>Iltutmish</a:t>
            </a:r>
            <a:endParaRPr lang="en-US" sz="3200" dirty="0">
              <a:latin typeface="Times New Roman" panose="02020603050405020304" pitchFamily="18" charset="0"/>
              <a:ea typeface="Times New Roman" panose="02020603050405020304" pitchFamily="18" charset="0"/>
              <a:cs typeface="Times New Roman" panose="02020603050405020304" pitchFamily="18" charset="0"/>
            </a:endParaRPr>
          </a:p>
          <a:p>
            <a:pPr marL="742950" marR="0" lvl="1" indent="-285750">
              <a:buSzPts val="1000"/>
              <a:buFont typeface="Courier New" panose="02070309020205020404" pitchFamily="49" charset="0"/>
              <a:buChar char="o"/>
              <a:tabLst>
                <a:tab pos="914400" algn="l"/>
              </a:tabLst>
            </a:pPr>
            <a:r>
              <a:rPr lang="en-IN" sz="3200" b="1" dirty="0">
                <a:latin typeface="Times New Roman" panose="02020603050405020304" pitchFamily="18" charset="0"/>
                <a:ea typeface="Times New Roman" panose="02020603050405020304" pitchFamily="18" charset="0"/>
                <a:cs typeface="Times New Roman" panose="02020603050405020304" pitchFamily="18" charset="0"/>
              </a:rPr>
              <a:t>73 m tall</a:t>
            </a:r>
            <a:r>
              <a:rPr lang="en-IN" sz="3200" dirty="0">
                <a:latin typeface="Times New Roman" panose="02020603050405020304" pitchFamily="18" charset="0"/>
                <a:ea typeface="Times New Roman" panose="02020603050405020304" pitchFamily="18" charset="0"/>
                <a:cs typeface="Times New Roman" panose="02020603050405020304" pitchFamily="18" charset="0"/>
              </a:rPr>
              <a:t>, red sandstone and marble</a:t>
            </a:r>
            <a:endParaRPr lang="en-US" sz="3200" dirty="0">
              <a:latin typeface="Times New Roman" panose="02020603050405020304" pitchFamily="18" charset="0"/>
              <a:ea typeface="Times New Roman" panose="02020603050405020304" pitchFamily="18" charset="0"/>
              <a:cs typeface="Times New Roman" panose="02020603050405020304" pitchFamily="18" charset="0"/>
            </a:endParaRPr>
          </a:p>
          <a:p>
            <a:pPr marL="742950" marR="0" lvl="1" indent="-285750">
              <a:buSzPts val="1000"/>
              <a:buFont typeface="Courier New" panose="02070309020205020404" pitchFamily="49" charset="0"/>
              <a:buChar char="o"/>
              <a:tabLst>
                <a:tab pos="914400" algn="l"/>
              </a:tabLst>
            </a:pPr>
            <a:r>
              <a:rPr lang="en-IN" sz="3200" dirty="0">
                <a:latin typeface="Times New Roman" panose="02020603050405020304" pitchFamily="18" charset="0"/>
                <a:ea typeface="Times New Roman" panose="02020603050405020304" pitchFamily="18" charset="0"/>
                <a:cs typeface="Times New Roman" panose="02020603050405020304" pitchFamily="18" charset="0"/>
              </a:rPr>
              <a:t>Verses from </a:t>
            </a:r>
            <a:r>
              <a:rPr lang="en-IN" sz="3200" b="1" dirty="0">
                <a:latin typeface="Times New Roman" panose="02020603050405020304" pitchFamily="18" charset="0"/>
                <a:ea typeface="Times New Roman" panose="02020603050405020304" pitchFamily="18" charset="0"/>
                <a:cs typeface="Times New Roman" panose="02020603050405020304" pitchFamily="18" charset="0"/>
              </a:rPr>
              <a:t>Quran inscribed</a:t>
            </a:r>
            <a:endParaRPr lang="en-US" sz="3200" dirty="0">
              <a:latin typeface="Times New Roman" panose="02020603050405020304" pitchFamily="18" charset="0"/>
              <a:ea typeface="Times New Roman" panose="02020603050405020304" pitchFamily="18" charset="0"/>
              <a:cs typeface="Times New Roman" panose="02020603050405020304" pitchFamily="18" charset="0"/>
            </a:endParaRPr>
          </a:p>
          <a:p>
            <a:pPr marL="742950" marR="0" lvl="1" indent="-285750">
              <a:buSzPts val="1000"/>
              <a:buFont typeface="Courier New" panose="02070309020205020404" pitchFamily="49" charset="0"/>
              <a:buChar char="o"/>
              <a:tabLst>
                <a:tab pos="914400" algn="l"/>
              </a:tabLst>
            </a:pPr>
            <a:r>
              <a:rPr lang="en-IN" sz="3200" dirty="0">
                <a:latin typeface="Times New Roman" panose="02020603050405020304" pitchFamily="18" charset="0"/>
                <a:ea typeface="Times New Roman" panose="02020603050405020304" pitchFamily="18" charset="0"/>
                <a:cs typeface="Times New Roman" panose="02020603050405020304" pitchFamily="18" charset="0"/>
              </a:rPr>
              <a:t>Surrounded by </a:t>
            </a:r>
            <a:r>
              <a:rPr lang="en-IN" sz="3200" b="1" dirty="0" err="1">
                <a:latin typeface="Times New Roman" panose="02020603050405020304" pitchFamily="18" charset="0"/>
                <a:ea typeface="Times New Roman" panose="02020603050405020304" pitchFamily="18" charset="0"/>
                <a:cs typeface="Times New Roman" panose="02020603050405020304" pitchFamily="18" charset="0"/>
              </a:rPr>
              <a:t>Quwwat</a:t>
            </a:r>
            <a:r>
              <a:rPr lang="en-IN" sz="3200" b="1" dirty="0">
                <a:latin typeface="Times New Roman" panose="02020603050405020304" pitchFamily="18" charset="0"/>
                <a:ea typeface="Times New Roman" panose="02020603050405020304" pitchFamily="18" charset="0"/>
                <a:cs typeface="Times New Roman" panose="02020603050405020304" pitchFamily="18" charset="0"/>
              </a:rPr>
              <a:t>-</a:t>
            </a:r>
            <a:r>
              <a:rPr lang="en-IN" sz="3200" b="1" dirty="0" err="1">
                <a:latin typeface="Times New Roman" panose="02020603050405020304" pitchFamily="18" charset="0"/>
                <a:ea typeface="Times New Roman" panose="02020603050405020304" pitchFamily="18" charset="0"/>
                <a:cs typeface="Times New Roman" panose="02020603050405020304" pitchFamily="18" charset="0"/>
              </a:rPr>
              <a:t>ul</a:t>
            </a:r>
            <a:r>
              <a:rPr lang="en-IN" sz="3200" b="1" dirty="0">
                <a:latin typeface="Times New Roman" panose="02020603050405020304" pitchFamily="18" charset="0"/>
                <a:ea typeface="Times New Roman" panose="02020603050405020304" pitchFamily="18" charset="0"/>
                <a:cs typeface="Times New Roman" panose="02020603050405020304" pitchFamily="18" charset="0"/>
              </a:rPr>
              <a:t>-Islam Mosque</a:t>
            </a:r>
            <a:endParaRPr lang="en-US" sz="3200" dirty="0">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buSzPts val="1000"/>
              <a:buFont typeface="Symbol" panose="05050102010706020507" pitchFamily="18" charset="2"/>
              <a:buChar char=""/>
              <a:tabLst>
                <a:tab pos="457200" algn="l"/>
              </a:tabLst>
            </a:pPr>
            <a:r>
              <a:rPr lang="en-IN" sz="3200" b="1" dirty="0">
                <a:latin typeface="Times New Roman" panose="02020603050405020304" pitchFamily="18" charset="0"/>
                <a:ea typeface="Times New Roman" panose="02020603050405020304" pitchFamily="18" charset="0"/>
              </a:rPr>
              <a:t>Alai </a:t>
            </a:r>
            <a:r>
              <a:rPr lang="en-IN" sz="3200" b="1" dirty="0" err="1">
                <a:latin typeface="Times New Roman" panose="02020603050405020304" pitchFamily="18" charset="0"/>
                <a:ea typeface="Times New Roman" panose="02020603050405020304" pitchFamily="18" charset="0"/>
              </a:rPr>
              <a:t>Darwaza</a:t>
            </a:r>
            <a:r>
              <a:rPr lang="en-IN" sz="3200" dirty="0">
                <a:latin typeface="Times New Roman" panose="02020603050405020304" pitchFamily="18" charset="0"/>
                <a:ea typeface="Times New Roman" panose="02020603050405020304" pitchFamily="18" charset="0"/>
              </a:rPr>
              <a:t>:</a:t>
            </a:r>
            <a:endParaRPr lang="en-US" sz="3200" dirty="0">
              <a:latin typeface="Times New Roman" panose="02020603050405020304" pitchFamily="18" charset="0"/>
              <a:ea typeface="Times New Roman" panose="02020603050405020304" pitchFamily="18" charset="0"/>
            </a:endParaRPr>
          </a:p>
          <a:p>
            <a:pPr marL="742950" marR="0" lvl="1" indent="-285750">
              <a:buSzPts val="1000"/>
              <a:buFont typeface="Courier New" panose="02070309020205020404" pitchFamily="49" charset="0"/>
              <a:buChar char="o"/>
              <a:tabLst>
                <a:tab pos="914400" algn="l"/>
              </a:tabLst>
            </a:pPr>
            <a:r>
              <a:rPr lang="en-IN" sz="3200" dirty="0">
                <a:latin typeface="Times New Roman" panose="02020603050405020304" pitchFamily="18" charset="0"/>
                <a:ea typeface="Times New Roman" panose="02020603050405020304" pitchFamily="18" charset="0"/>
                <a:cs typeface="Times New Roman" panose="02020603050405020304" pitchFamily="18" charset="0"/>
              </a:rPr>
              <a:t>Built by </a:t>
            </a:r>
            <a:r>
              <a:rPr lang="en-IN" sz="3200" b="1" dirty="0" err="1">
                <a:latin typeface="Times New Roman" panose="02020603050405020304" pitchFamily="18" charset="0"/>
                <a:ea typeface="Times New Roman" panose="02020603050405020304" pitchFamily="18" charset="0"/>
                <a:cs typeface="Times New Roman" panose="02020603050405020304" pitchFamily="18" charset="0"/>
              </a:rPr>
              <a:t>Alauddin</a:t>
            </a:r>
            <a:r>
              <a:rPr lang="en-IN" sz="3200" b="1" dirty="0">
                <a:latin typeface="Times New Roman" panose="02020603050405020304" pitchFamily="18" charset="0"/>
                <a:ea typeface="Times New Roman" panose="02020603050405020304" pitchFamily="18" charset="0"/>
                <a:cs typeface="Times New Roman" panose="02020603050405020304" pitchFamily="18" charset="0"/>
              </a:rPr>
              <a:t> </a:t>
            </a:r>
            <a:r>
              <a:rPr lang="en-IN" sz="3200" b="1" dirty="0" err="1">
                <a:latin typeface="Times New Roman" panose="02020603050405020304" pitchFamily="18" charset="0"/>
                <a:ea typeface="Times New Roman" panose="02020603050405020304" pitchFamily="18" charset="0"/>
                <a:cs typeface="Times New Roman" panose="02020603050405020304" pitchFamily="18" charset="0"/>
              </a:rPr>
              <a:t>Khilji</a:t>
            </a:r>
            <a:endParaRPr lang="en-US" sz="3200" dirty="0">
              <a:latin typeface="Times New Roman" panose="02020603050405020304" pitchFamily="18" charset="0"/>
              <a:ea typeface="Times New Roman" panose="02020603050405020304" pitchFamily="18" charset="0"/>
              <a:cs typeface="Times New Roman" panose="02020603050405020304" pitchFamily="18" charset="0"/>
            </a:endParaRPr>
          </a:p>
          <a:p>
            <a:pPr marL="742950" marR="0" lvl="1" indent="-285750">
              <a:buSzPts val="1000"/>
              <a:buFont typeface="Courier New" panose="02070309020205020404" pitchFamily="49" charset="0"/>
              <a:buChar char="o"/>
              <a:tabLst>
                <a:tab pos="914400" algn="l"/>
              </a:tabLst>
            </a:pPr>
            <a:r>
              <a:rPr lang="en-IN" sz="3200" dirty="0">
                <a:latin typeface="Times New Roman" panose="02020603050405020304" pitchFamily="18" charset="0"/>
                <a:ea typeface="Times New Roman" panose="02020603050405020304" pitchFamily="18" charset="0"/>
                <a:cs typeface="Times New Roman" panose="02020603050405020304" pitchFamily="18" charset="0"/>
              </a:rPr>
              <a:t>Indo-Islamic elements: </a:t>
            </a:r>
            <a:r>
              <a:rPr lang="en-IN" sz="3200" b="1" dirty="0">
                <a:latin typeface="Times New Roman" panose="02020603050405020304" pitchFamily="18" charset="0"/>
                <a:ea typeface="Times New Roman" panose="02020603050405020304" pitchFamily="18" charset="0"/>
                <a:cs typeface="Times New Roman" panose="02020603050405020304" pitchFamily="18" charset="0"/>
              </a:rPr>
              <a:t>true arches</a:t>
            </a:r>
            <a:r>
              <a:rPr lang="en-IN" sz="3200" dirty="0">
                <a:latin typeface="Times New Roman" panose="02020603050405020304" pitchFamily="18" charset="0"/>
                <a:ea typeface="Times New Roman" panose="02020603050405020304" pitchFamily="18" charset="0"/>
                <a:cs typeface="Times New Roman" panose="02020603050405020304" pitchFamily="18" charset="0"/>
              </a:rPr>
              <a:t>, </a:t>
            </a:r>
            <a:r>
              <a:rPr lang="en-IN" sz="3200" b="1" dirty="0">
                <a:latin typeface="Times New Roman" panose="02020603050405020304" pitchFamily="18" charset="0"/>
                <a:ea typeface="Times New Roman" panose="02020603050405020304" pitchFamily="18" charset="0"/>
                <a:cs typeface="Times New Roman" panose="02020603050405020304" pitchFamily="18" charset="0"/>
              </a:rPr>
              <a:t>dome</a:t>
            </a:r>
            <a:r>
              <a:rPr lang="en-IN" sz="3200" dirty="0">
                <a:latin typeface="Times New Roman" panose="02020603050405020304" pitchFamily="18" charset="0"/>
                <a:ea typeface="Times New Roman" panose="02020603050405020304" pitchFamily="18" charset="0"/>
                <a:cs typeface="Times New Roman" panose="02020603050405020304" pitchFamily="18" charset="0"/>
              </a:rPr>
              <a:t>, </a:t>
            </a:r>
            <a:r>
              <a:rPr lang="en-IN" sz="3200" b="1" dirty="0">
                <a:latin typeface="Times New Roman" panose="02020603050405020304" pitchFamily="18" charset="0"/>
                <a:ea typeface="Times New Roman" panose="02020603050405020304" pitchFamily="18" charset="0"/>
                <a:cs typeface="Times New Roman" panose="02020603050405020304" pitchFamily="18" charset="0"/>
              </a:rPr>
              <a:t>decorative geometric motifs</a:t>
            </a:r>
            <a:endParaRPr lang="en-US" sz="32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3127369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65759" y="323079"/>
            <a:ext cx="11416937" cy="6027484"/>
          </a:xfrm>
          <a:prstGeom prst="rect">
            <a:avLst/>
          </a:prstGeom>
        </p:spPr>
        <p:txBody>
          <a:bodyPr wrap="square">
            <a:spAutoFit/>
          </a:bodyPr>
          <a:lstStyle/>
          <a:p>
            <a:pPr>
              <a:lnSpc>
                <a:spcPct val="107000"/>
              </a:lnSpc>
              <a:spcBef>
                <a:spcPts val="200"/>
              </a:spcBef>
            </a:pPr>
            <a:r>
              <a:rPr lang="en-IN" sz="2400" b="1" i="1" dirty="0">
                <a:solidFill>
                  <a:srgbClr val="2E74B5"/>
                </a:solidFill>
                <a:latin typeface="Calibri Light" panose="020F0302020204030204" pitchFamily="34" charset="0"/>
                <a:ea typeface="Times New Roman" panose="02020603050405020304" pitchFamily="18" charset="0"/>
                <a:cs typeface="Mangal"/>
              </a:rPr>
              <a:t>Mughal Architecture (16th–18th Century):</a:t>
            </a:r>
            <a:endParaRPr lang="en-US" sz="2400" b="1" i="1" dirty="0">
              <a:solidFill>
                <a:srgbClr val="2E74B5"/>
              </a:solidFill>
              <a:latin typeface="Calibri Light" panose="020F0302020204030204" pitchFamily="34" charset="0"/>
              <a:ea typeface="Times New Roman" panose="02020603050405020304" pitchFamily="18" charset="0"/>
              <a:cs typeface="Mangal"/>
            </a:endParaRPr>
          </a:p>
          <a:p>
            <a:pPr marL="342900" marR="0" lvl="0" indent="-342900">
              <a:buSzPts val="1000"/>
              <a:buFont typeface="Symbol" panose="05050102010706020507" pitchFamily="18" charset="2"/>
              <a:buChar char=""/>
              <a:tabLst>
                <a:tab pos="457200" algn="l"/>
              </a:tabLst>
            </a:pPr>
            <a:r>
              <a:rPr lang="en-IN" sz="2800" b="1" dirty="0" err="1">
                <a:latin typeface="Times New Roman" panose="02020603050405020304" pitchFamily="18" charset="0"/>
                <a:ea typeface="Times New Roman" panose="02020603050405020304" pitchFamily="18" charset="0"/>
              </a:rPr>
              <a:t>Humayun’s</a:t>
            </a:r>
            <a:r>
              <a:rPr lang="en-IN" sz="2800" b="1" dirty="0">
                <a:latin typeface="Times New Roman" panose="02020603050405020304" pitchFamily="18" charset="0"/>
                <a:ea typeface="Times New Roman" panose="02020603050405020304" pitchFamily="18" charset="0"/>
              </a:rPr>
              <a:t> Tomb (Delhi)</a:t>
            </a:r>
            <a:r>
              <a:rPr lang="en-IN" sz="2800" dirty="0">
                <a:latin typeface="Times New Roman" panose="02020603050405020304" pitchFamily="18" charset="0"/>
                <a:ea typeface="Times New Roman" panose="02020603050405020304" pitchFamily="18" charset="0"/>
              </a:rPr>
              <a:t>:</a:t>
            </a:r>
            <a:endParaRPr lang="en-US" sz="2800" dirty="0">
              <a:latin typeface="Times New Roman" panose="02020603050405020304" pitchFamily="18" charset="0"/>
              <a:ea typeface="Times New Roman" panose="02020603050405020304" pitchFamily="18" charset="0"/>
            </a:endParaRPr>
          </a:p>
          <a:p>
            <a:pPr marL="742950" marR="0" lvl="1" indent="-285750">
              <a:buSzPts val="1000"/>
              <a:buFont typeface="Courier New" panose="02070309020205020404" pitchFamily="49" charset="0"/>
              <a:buChar char="o"/>
              <a:tabLst>
                <a:tab pos="914400" algn="l"/>
              </a:tabLst>
            </a:pPr>
            <a:r>
              <a:rPr lang="en-IN" sz="2800" dirty="0">
                <a:latin typeface="Times New Roman" panose="02020603050405020304" pitchFamily="18" charset="0"/>
                <a:ea typeface="Times New Roman" panose="02020603050405020304" pitchFamily="18" charset="0"/>
                <a:cs typeface="Times New Roman" panose="02020603050405020304" pitchFamily="18" charset="0"/>
              </a:rPr>
              <a:t>Built by </a:t>
            </a:r>
            <a:r>
              <a:rPr lang="en-IN" sz="2800" b="1" dirty="0">
                <a:latin typeface="Times New Roman" panose="02020603050405020304" pitchFamily="18" charset="0"/>
                <a:ea typeface="Times New Roman" panose="02020603050405020304" pitchFamily="18" charset="0"/>
                <a:cs typeface="Times New Roman" panose="02020603050405020304" pitchFamily="18" charset="0"/>
              </a:rPr>
              <a:t>Haji Begum</a:t>
            </a:r>
            <a:r>
              <a:rPr lang="en-IN" sz="2800" dirty="0">
                <a:latin typeface="Times New Roman" panose="02020603050405020304" pitchFamily="18" charset="0"/>
                <a:ea typeface="Times New Roman" panose="02020603050405020304" pitchFamily="18" charset="0"/>
                <a:cs typeface="Times New Roman" panose="02020603050405020304" pitchFamily="18" charset="0"/>
              </a:rPr>
              <a:t>, wife of </a:t>
            </a:r>
            <a:r>
              <a:rPr lang="en-IN" sz="2800" dirty="0" err="1">
                <a:latin typeface="Times New Roman" panose="02020603050405020304" pitchFamily="18" charset="0"/>
                <a:ea typeface="Times New Roman" panose="02020603050405020304" pitchFamily="18" charset="0"/>
                <a:cs typeface="Times New Roman" panose="02020603050405020304" pitchFamily="18" charset="0"/>
              </a:rPr>
              <a:t>Humayun</a:t>
            </a:r>
            <a:r>
              <a:rPr lang="en-IN" sz="2800" dirty="0">
                <a:latin typeface="Times New Roman" panose="02020603050405020304" pitchFamily="18" charset="0"/>
                <a:ea typeface="Times New Roman" panose="02020603050405020304" pitchFamily="18" charset="0"/>
                <a:cs typeface="Times New Roman" panose="02020603050405020304" pitchFamily="18" charset="0"/>
              </a:rPr>
              <a:t> (1570 CE)</a:t>
            </a:r>
            <a:endParaRPr lang="en-US" sz="2800" dirty="0">
              <a:latin typeface="Times New Roman" panose="02020603050405020304" pitchFamily="18" charset="0"/>
              <a:ea typeface="Times New Roman" panose="02020603050405020304" pitchFamily="18" charset="0"/>
              <a:cs typeface="Times New Roman" panose="02020603050405020304" pitchFamily="18" charset="0"/>
            </a:endParaRPr>
          </a:p>
          <a:p>
            <a:pPr marL="742950" marR="0" lvl="1" indent="-285750">
              <a:buSzPts val="1000"/>
              <a:buFont typeface="Courier New" panose="02070309020205020404" pitchFamily="49" charset="0"/>
              <a:buChar char="o"/>
              <a:tabLst>
                <a:tab pos="914400" algn="l"/>
              </a:tabLst>
            </a:pPr>
            <a:r>
              <a:rPr lang="en-IN" sz="2800" dirty="0">
                <a:latin typeface="Times New Roman" panose="02020603050405020304" pitchFamily="18" charset="0"/>
                <a:ea typeface="Times New Roman" panose="02020603050405020304" pitchFamily="18" charset="0"/>
                <a:cs typeface="Times New Roman" panose="02020603050405020304" pitchFamily="18" charset="0"/>
              </a:rPr>
              <a:t>First </a:t>
            </a:r>
            <a:r>
              <a:rPr lang="en-IN" sz="2800" b="1" dirty="0">
                <a:latin typeface="Times New Roman" panose="02020603050405020304" pitchFamily="18" charset="0"/>
                <a:ea typeface="Times New Roman" panose="02020603050405020304" pitchFamily="18" charset="0"/>
                <a:cs typeface="Times New Roman" panose="02020603050405020304" pitchFamily="18" charset="0"/>
              </a:rPr>
              <a:t>garden-tomb</a:t>
            </a:r>
            <a:r>
              <a:rPr lang="en-IN" sz="2800" dirty="0">
                <a:latin typeface="Times New Roman" panose="02020603050405020304" pitchFamily="18" charset="0"/>
                <a:ea typeface="Times New Roman" panose="02020603050405020304" pitchFamily="18" charset="0"/>
                <a:cs typeface="Times New Roman" panose="02020603050405020304" pitchFamily="18" charset="0"/>
              </a:rPr>
              <a:t> in India – </a:t>
            </a:r>
            <a:r>
              <a:rPr lang="en-IN" sz="2800" b="1" dirty="0" err="1">
                <a:latin typeface="Times New Roman" panose="02020603050405020304" pitchFamily="18" charset="0"/>
                <a:ea typeface="Times New Roman" panose="02020603050405020304" pitchFamily="18" charset="0"/>
                <a:cs typeface="Times New Roman" panose="02020603050405020304" pitchFamily="18" charset="0"/>
              </a:rPr>
              <a:t>Charbagh</a:t>
            </a:r>
            <a:r>
              <a:rPr lang="en-IN" sz="2800" b="1" dirty="0">
                <a:latin typeface="Times New Roman" panose="02020603050405020304" pitchFamily="18" charset="0"/>
                <a:ea typeface="Times New Roman" panose="02020603050405020304" pitchFamily="18" charset="0"/>
                <a:cs typeface="Times New Roman" panose="02020603050405020304" pitchFamily="18" charset="0"/>
              </a:rPr>
              <a:t> style</a:t>
            </a:r>
            <a:r>
              <a:rPr lang="en-IN" sz="2800" dirty="0">
                <a:latin typeface="Times New Roman" panose="02020603050405020304" pitchFamily="18" charset="0"/>
                <a:ea typeface="Times New Roman" panose="02020603050405020304" pitchFamily="18" charset="0"/>
                <a:cs typeface="Times New Roman" panose="02020603050405020304" pitchFamily="18" charset="0"/>
              </a:rPr>
              <a:t> (quadrilateral garden)</a:t>
            </a:r>
            <a:endParaRPr lang="en-US" sz="2800" dirty="0">
              <a:latin typeface="Times New Roman" panose="02020603050405020304" pitchFamily="18" charset="0"/>
              <a:ea typeface="Times New Roman" panose="02020603050405020304" pitchFamily="18" charset="0"/>
              <a:cs typeface="Times New Roman" panose="02020603050405020304" pitchFamily="18" charset="0"/>
            </a:endParaRPr>
          </a:p>
          <a:p>
            <a:pPr marL="742950" marR="0" lvl="1" indent="-285750">
              <a:buSzPts val="1000"/>
              <a:buFont typeface="Courier New" panose="02070309020205020404" pitchFamily="49" charset="0"/>
              <a:buChar char="o"/>
              <a:tabLst>
                <a:tab pos="914400" algn="l"/>
              </a:tabLst>
            </a:pPr>
            <a:r>
              <a:rPr lang="en-IN" sz="2800" dirty="0">
                <a:latin typeface="Times New Roman" panose="02020603050405020304" pitchFamily="18" charset="0"/>
                <a:ea typeface="Times New Roman" panose="02020603050405020304" pitchFamily="18" charset="0"/>
                <a:cs typeface="Times New Roman" panose="02020603050405020304" pitchFamily="18" charset="0"/>
              </a:rPr>
              <a:t>Architectural predecessor of the </a:t>
            </a:r>
            <a:r>
              <a:rPr lang="en-IN" sz="2800" b="1" dirty="0">
                <a:latin typeface="Times New Roman" panose="02020603050405020304" pitchFamily="18" charset="0"/>
                <a:ea typeface="Times New Roman" panose="02020603050405020304" pitchFamily="18" charset="0"/>
                <a:cs typeface="Times New Roman" panose="02020603050405020304" pitchFamily="18" charset="0"/>
              </a:rPr>
              <a:t>Taj Mahal</a:t>
            </a:r>
            <a:endParaRPr lang="en-US" sz="2800" dirty="0">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buSzPts val="1000"/>
              <a:buFont typeface="Symbol" panose="05050102010706020507" pitchFamily="18" charset="2"/>
              <a:buChar char=""/>
              <a:tabLst>
                <a:tab pos="457200" algn="l"/>
              </a:tabLst>
            </a:pPr>
            <a:r>
              <a:rPr lang="en-IN" sz="2800" b="1" dirty="0">
                <a:latin typeface="Times New Roman" panose="02020603050405020304" pitchFamily="18" charset="0"/>
                <a:ea typeface="Times New Roman" panose="02020603050405020304" pitchFamily="18" charset="0"/>
              </a:rPr>
              <a:t>Taj Mahal (Agra)</a:t>
            </a:r>
            <a:r>
              <a:rPr lang="en-IN" sz="2800" dirty="0">
                <a:latin typeface="Times New Roman" panose="02020603050405020304" pitchFamily="18" charset="0"/>
                <a:ea typeface="Times New Roman" panose="02020603050405020304" pitchFamily="18" charset="0"/>
              </a:rPr>
              <a:t>:</a:t>
            </a:r>
            <a:endParaRPr lang="en-US" sz="2800" dirty="0">
              <a:latin typeface="Times New Roman" panose="02020603050405020304" pitchFamily="18" charset="0"/>
              <a:ea typeface="Times New Roman" panose="02020603050405020304" pitchFamily="18" charset="0"/>
            </a:endParaRPr>
          </a:p>
          <a:p>
            <a:pPr marL="742950" marR="0" lvl="1" indent="-285750">
              <a:buSzPts val="1000"/>
              <a:buFont typeface="Courier New" panose="02070309020205020404" pitchFamily="49" charset="0"/>
              <a:buChar char="o"/>
              <a:tabLst>
                <a:tab pos="914400" algn="l"/>
              </a:tabLst>
            </a:pPr>
            <a:r>
              <a:rPr lang="en-IN" sz="2800" dirty="0">
                <a:latin typeface="Times New Roman" panose="02020603050405020304" pitchFamily="18" charset="0"/>
                <a:ea typeface="Times New Roman" panose="02020603050405020304" pitchFamily="18" charset="0"/>
                <a:cs typeface="Times New Roman" panose="02020603050405020304" pitchFamily="18" charset="0"/>
              </a:rPr>
              <a:t>Built by </a:t>
            </a:r>
            <a:r>
              <a:rPr lang="en-IN" sz="2800" b="1" dirty="0">
                <a:latin typeface="Times New Roman" panose="02020603050405020304" pitchFamily="18" charset="0"/>
                <a:ea typeface="Times New Roman" panose="02020603050405020304" pitchFamily="18" charset="0"/>
                <a:cs typeface="Times New Roman" panose="02020603050405020304" pitchFamily="18" charset="0"/>
              </a:rPr>
              <a:t>Shah Jahan</a:t>
            </a:r>
            <a:r>
              <a:rPr lang="en-IN" sz="2800" dirty="0">
                <a:latin typeface="Times New Roman" panose="02020603050405020304" pitchFamily="18" charset="0"/>
                <a:ea typeface="Times New Roman" panose="02020603050405020304" pitchFamily="18" charset="0"/>
                <a:cs typeface="Times New Roman" panose="02020603050405020304" pitchFamily="18" charset="0"/>
              </a:rPr>
              <a:t> in memory of </a:t>
            </a:r>
            <a:r>
              <a:rPr lang="en-IN" sz="2800" b="1" dirty="0" err="1">
                <a:latin typeface="Times New Roman" panose="02020603050405020304" pitchFamily="18" charset="0"/>
                <a:ea typeface="Times New Roman" panose="02020603050405020304" pitchFamily="18" charset="0"/>
                <a:cs typeface="Times New Roman" panose="02020603050405020304" pitchFamily="18" charset="0"/>
              </a:rPr>
              <a:t>Mumtaz</a:t>
            </a:r>
            <a:r>
              <a:rPr lang="en-IN" sz="2800" b="1" dirty="0">
                <a:latin typeface="Times New Roman" panose="02020603050405020304" pitchFamily="18" charset="0"/>
                <a:ea typeface="Times New Roman" panose="02020603050405020304" pitchFamily="18" charset="0"/>
                <a:cs typeface="Times New Roman" panose="02020603050405020304" pitchFamily="18" charset="0"/>
              </a:rPr>
              <a:t> Mahal</a:t>
            </a:r>
            <a:r>
              <a:rPr lang="en-IN" sz="2800" dirty="0">
                <a:latin typeface="Times New Roman" panose="02020603050405020304" pitchFamily="18" charset="0"/>
                <a:ea typeface="Times New Roman" panose="02020603050405020304" pitchFamily="18" charset="0"/>
                <a:cs typeface="Times New Roman" panose="02020603050405020304" pitchFamily="18" charset="0"/>
              </a:rPr>
              <a:t> (1632–53)</a:t>
            </a:r>
            <a:endParaRPr lang="en-US" sz="2800" dirty="0">
              <a:latin typeface="Times New Roman" panose="02020603050405020304" pitchFamily="18" charset="0"/>
              <a:ea typeface="Times New Roman" panose="02020603050405020304" pitchFamily="18" charset="0"/>
              <a:cs typeface="Times New Roman" panose="02020603050405020304" pitchFamily="18" charset="0"/>
            </a:endParaRPr>
          </a:p>
          <a:p>
            <a:pPr marL="742950" marR="0" lvl="1" indent="-285750">
              <a:buSzPts val="1000"/>
              <a:buFont typeface="Courier New" panose="02070309020205020404" pitchFamily="49" charset="0"/>
              <a:buChar char="o"/>
              <a:tabLst>
                <a:tab pos="914400" algn="l"/>
              </a:tabLst>
            </a:pPr>
            <a:r>
              <a:rPr lang="en-IN" sz="2800" b="1" dirty="0">
                <a:latin typeface="Times New Roman" panose="02020603050405020304" pitchFamily="18" charset="0"/>
                <a:ea typeface="Times New Roman" panose="02020603050405020304" pitchFamily="18" charset="0"/>
                <a:cs typeface="Times New Roman" panose="02020603050405020304" pitchFamily="18" charset="0"/>
              </a:rPr>
              <a:t>White marble mausoleum</a:t>
            </a:r>
            <a:r>
              <a:rPr lang="en-IN" sz="2800" dirty="0">
                <a:latin typeface="Times New Roman" panose="02020603050405020304" pitchFamily="18" charset="0"/>
                <a:ea typeface="Times New Roman" panose="02020603050405020304" pitchFamily="18" charset="0"/>
                <a:cs typeface="Times New Roman" panose="02020603050405020304" pitchFamily="18" charset="0"/>
              </a:rPr>
              <a:t>, symbol of eternal love</a:t>
            </a:r>
            <a:endParaRPr lang="en-US" sz="2800" dirty="0">
              <a:latin typeface="Times New Roman" panose="02020603050405020304" pitchFamily="18" charset="0"/>
              <a:ea typeface="Times New Roman" panose="02020603050405020304" pitchFamily="18" charset="0"/>
              <a:cs typeface="Times New Roman" panose="02020603050405020304" pitchFamily="18" charset="0"/>
            </a:endParaRPr>
          </a:p>
          <a:p>
            <a:pPr marL="742950" marR="0" lvl="1" indent="-285750">
              <a:buSzPts val="1000"/>
              <a:buFont typeface="Courier New" panose="02070309020205020404" pitchFamily="49" charset="0"/>
              <a:buChar char="o"/>
              <a:tabLst>
                <a:tab pos="914400" algn="l"/>
              </a:tabLst>
            </a:pPr>
            <a:r>
              <a:rPr lang="en-IN" sz="2800" dirty="0">
                <a:latin typeface="Times New Roman" panose="02020603050405020304" pitchFamily="18" charset="0"/>
                <a:ea typeface="Times New Roman" panose="02020603050405020304" pitchFamily="18" charset="0"/>
                <a:cs typeface="Times New Roman" panose="02020603050405020304" pitchFamily="18" charset="0"/>
              </a:rPr>
              <a:t>Features:</a:t>
            </a:r>
            <a:endParaRPr lang="en-US" sz="2800" dirty="0">
              <a:latin typeface="Times New Roman" panose="02020603050405020304" pitchFamily="18" charset="0"/>
              <a:ea typeface="Times New Roman" panose="02020603050405020304" pitchFamily="18" charset="0"/>
              <a:cs typeface="Times New Roman" panose="02020603050405020304" pitchFamily="18" charset="0"/>
            </a:endParaRPr>
          </a:p>
          <a:p>
            <a:pPr marL="1143000" marR="0" lvl="2" indent="-228600">
              <a:buSzPts val="1000"/>
              <a:buFont typeface="Wingdings" panose="05000000000000000000" pitchFamily="2" charset="2"/>
              <a:buChar char=""/>
              <a:tabLst>
                <a:tab pos="1371600" algn="l"/>
              </a:tabLst>
            </a:pPr>
            <a:r>
              <a:rPr lang="en-IN" sz="2800" dirty="0">
                <a:latin typeface="Times New Roman" panose="02020603050405020304" pitchFamily="18" charset="0"/>
                <a:ea typeface="Times New Roman" panose="02020603050405020304" pitchFamily="18" charset="0"/>
              </a:rPr>
              <a:t>Central </a:t>
            </a:r>
            <a:r>
              <a:rPr lang="en-IN" sz="2800" b="1" dirty="0">
                <a:latin typeface="Times New Roman" panose="02020603050405020304" pitchFamily="18" charset="0"/>
                <a:ea typeface="Times New Roman" panose="02020603050405020304" pitchFamily="18" charset="0"/>
              </a:rPr>
              <a:t>dome</a:t>
            </a:r>
            <a:r>
              <a:rPr lang="en-IN" sz="2800" dirty="0">
                <a:latin typeface="Times New Roman" panose="02020603050405020304" pitchFamily="18" charset="0"/>
                <a:ea typeface="Times New Roman" panose="02020603050405020304" pitchFamily="18" charset="0"/>
              </a:rPr>
              <a:t> with 4 minarets</a:t>
            </a:r>
            <a:endParaRPr lang="en-US" sz="2800" dirty="0">
              <a:latin typeface="Times New Roman" panose="02020603050405020304" pitchFamily="18" charset="0"/>
              <a:ea typeface="Times New Roman" panose="02020603050405020304" pitchFamily="18" charset="0"/>
            </a:endParaRPr>
          </a:p>
          <a:p>
            <a:pPr marL="1143000" marR="0" lvl="2" indent="-228600">
              <a:buSzPts val="1000"/>
              <a:buFont typeface="Wingdings" panose="05000000000000000000" pitchFamily="2" charset="2"/>
              <a:buChar char=""/>
              <a:tabLst>
                <a:tab pos="1371600" algn="l"/>
              </a:tabLst>
            </a:pPr>
            <a:r>
              <a:rPr lang="en-IN" sz="2800" b="1" dirty="0">
                <a:latin typeface="Times New Roman" panose="02020603050405020304" pitchFamily="18" charset="0"/>
                <a:ea typeface="Times New Roman" panose="02020603050405020304" pitchFamily="18" charset="0"/>
              </a:rPr>
              <a:t>Symmetrical layout</a:t>
            </a:r>
            <a:endParaRPr lang="en-US" sz="2800" dirty="0">
              <a:latin typeface="Times New Roman" panose="02020603050405020304" pitchFamily="18" charset="0"/>
              <a:ea typeface="Times New Roman" panose="02020603050405020304" pitchFamily="18" charset="0"/>
            </a:endParaRPr>
          </a:p>
          <a:p>
            <a:pPr marL="1143000" marR="0" lvl="2" indent="-228600">
              <a:buSzPts val="1000"/>
              <a:buFont typeface="Wingdings" panose="05000000000000000000" pitchFamily="2" charset="2"/>
              <a:buChar char=""/>
              <a:tabLst>
                <a:tab pos="1371600" algn="l"/>
              </a:tabLst>
            </a:pPr>
            <a:r>
              <a:rPr lang="en-IN" sz="2800" b="1" dirty="0" err="1">
                <a:latin typeface="Times New Roman" panose="02020603050405020304" pitchFamily="18" charset="0"/>
                <a:ea typeface="Times New Roman" panose="02020603050405020304" pitchFamily="18" charset="0"/>
              </a:rPr>
              <a:t>Pietra</a:t>
            </a:r>
            <a:r>
              <a:rPr lang="en-IN" sz="2800" b="1" dirty="0">
                <a:latin typeface="Times New Roman" panose="02020603050405020304" pitchFamily="18" charset="0"/>
                <a:ea typeface="Times New Roman" panose="02020603050405020304" pitchFamily="18" charset="0"/>
              </a:rPr>
              <a:t> dura</a:t>
            </a:r>
            <a:r>
              <a:rPr lang="en-IN" sz="2800" dirty="0">
                <a:latin typeface="Times New Roman" panose="02020603050405020304" pitchFamily="18" charset="0"/>
                <a:ea typeface="Times New Roman" panose="02020603050405020304" pitchFamily="18" charset="0"/>
              </a:rPr>
              <a:t> inlay work with semi-precious stones</a:t>
            </a:r>
            <a:endParaRPr lang="en-US" sz="2800" dirty="0">
              <a:latin typeface="Times New Roman" panose="02020603050405020304" pitchFamily="18" charset="0"/>
              <a:ea typeface="Times New Roman" panose="02020603050405020304" pitchFamily="18" charset="0"/>
            </a:endParaRPr>
          </a:p>
          <a:p>
            <a:pPr marL="1143000" marR="0" lvl="2" indent="-228600">
              <a:buSzPts val="1000"/>
              <a:buFont typeface="Wingdings" panose="05000000000000000000" pitchFamily="2" charset="2"/>
              <a:buChar char=""/>
              <a:tabLst>
                <a:tab pos="1371600" algn="l"/>
              </a:tabLst>
            </a:pPr>
            <a:r>
              <a:rPr lang="en-IN" sz="2800" dirty="0">
                <a:latin typeface="Times New Roman" panose="02020603050405020304" pitchFamily="18" charset="0"/>
                <a:ea typeface="Times New Roman" panose="02020603050405020304" pitchFamily="18" charset="0"/>
              </a:rPr>
              <a:t>Reflecting pool and lush gardens</a:t>
            </a:r>
            <a:endParaRPr lang="en-US" sz="2800" dirty="0">
              <a:latin typeface="Times New Roman" panose="02020603050405020304" pitchFamily="18" charset="0"/>
              <a:ea typeface="Times New Roman" panose="02020603050405020304" pitchFamily="18" charset="0"/>
            </a:endParaRPr>
          </a:p>
          <a:p>
            <a:r>
              <a:rPr lang="en-IN" sz="2400" dirty="0">
                <a:latin typeface="Calibri" panose="020F0502020204030204" pitchFamily="34" charset="0"/>
                <a:ea typeface="Calibri" panose="020F0502020204030204" pitchFamily="34" charset="0"/>
                <a:cs typeface="Kokila" panose="020B0604020202020204" pitchFamily="34" charset="0"/>
              </a:rPr>
              <a:t>Recognized as a </a:t>
            </a:r>
            <a:r>
              <a:rPr lang="en-IN" sz="2400" b="1" dirty="0">
                <a:latin typeface="Calibri" panose="020F0502020204030204" pitchFamily="34" charset="0"/>
                <a:ea typeface="Calibri" panose="020F0502020204030204" pitchFamily="34" charset="0"/>
                <a:cs typeface="Kokila" panose="020B0604020202020204" pitchFamily="34" charset="0"/>
              </a:rPr>
              <a:t>UNESCO World Heritage Site</a:t>
            </a:r>
            <a:r>
              <a:rPr lang="en-IN" sz="2400" dirty="0">
                <a:latin typeface="Calibri" panose="020F0502020204030204" pitchFamily="34" charset="0"/>
                <a:ea typeface="Calibri" panose="020F0502020204030204" pitchFamily="34" charset="0"/>
                <a:cs typeface="Kokila" panose="020B0604020202020204" pitchFamily="34" charset="0"/>
              </a:rPr>
              <a:t> and </a:t>
            </a:r>
            <a:r>
              <a:rPr lang="en-IN" sz="2400" b="1" dirty="0">
                <a:latin typeface="Calibri" panose="020F0502020204030204" pitchFamily="34" charset="0"/>
                <a:ea typeface="Calibri" panose="020F0502020204030204" pitchFamily="34" charset="0"/>
                <a:cs typeface="Kokila" panose="020B0604020202020204" pitchFamily="34" charset="0"/>
              </a:rPr>
              <a:t>New 7 Wonders of the World</a:t>
            </a:r>
            <a:endParaRPr lang="en-US" sz="4000" dirty="0"/>
          </a:p>
        </p:txBody>
      </p:sp>
    </p:spTree>
    <p:extLst>
      <p:ext uri="{BB962C8B-B14F-4D97-AF65-F5344CB8AC3E}">
        <p14:creationId xmlns:p14="http://schemas.microsoft.com/office/powerpoint/2010/main" val="2941279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439127954"/>
              </p:ext>
            </p:extLst>
          </p:nvPr>
        </p:nvGraphicFramePr>
        <p:xfrm>
          <a:off x="444136" y="836024"/>
          <a:ext cx="11482252" cy="5864061"/>
        </p:xfrm>
        <a:graphic>
          <a:graphicData uri="http://schemas.openxmlformats.org/drawingml/2006/table">
            <a:tbl>
              <a:tblPr firstRow="1" firstCol="1" bandRow="1">
                <a:tableStyleId>{5C22544A-7EE6-4342-B048-85BDC9FD1C3A}</a:tableStyleId>
              </a:tblPr>
              <a:tblGrid>
                <a:gridCol w="2870563">
                  <a:extLst>
                    <a:ext uri="{9D8B030D-6E8A-4147-A177-3AD203B41FA5}">
                      <a16:colId xmlns:a16="http://schemas.microsoft.com/office/drawing/2014/main" val="4011015798"/>
                    </a:ext>
                  </a:extLst>
                </a:gridCol>
                <a:gridCol w="2870563">
                  <a:extLst>
                    <a:ext uri="{9D8B030D-6E8A-4147-A177-3AD203B41FA5}">
                      <a16:colId xmlns:a16="http://schemas.microsoft.com/office/drawing/2014/main" val="547286345"/>
                    </a:ext>
                  </a:extLst>
                </a:gridCol>
                <a:gridCol w="2870563">
                  <a:extLst>
                    <a:ext uri="{9D8B030D-6E8A-4147-A177-3AD203B41FA5}">
                      <a16:colId xmlns:a16="http://schemas.microsoft.com/office/drawing/2014/main" val="1420779354"/>
                    </a:ext>
                  </a:extLst>
                </a:gridCol>
                <a:gridCol w="2870563">
                  <a:extLst>
                    <a:ext uri="{9D8B030D-6E8A-4147-A177-3AD203B41FA5}">
                      <a16:colId xmlns:a16="http://schemas.microsoft.com/office/drawing/2014/main" val="185497306"/>
                    </a:ext>
                  </a:extLst>
                </a:gridCol>
              </a:tblGrid>
              <a:tr h="647337">
                <a:tc>
                  <a:txBody>
                    <a:bodyPr/>
                    <a:lstStyle/>
                    <a:p>
                      <a:pPr marL="0" marR="0" algn="ctr">
                        <a:lnSpc>
                          <a:spcPct val="107000"/>
                        </a:lnSpc>
                        <a:spcBef>
                          <a:spcPts val="0"/>
                        </a:spcBef>
                        <a:spcAft>
                          <a:spcPts val="800"/>
                        </a:spcAft>
                      </a:pPr>
                      <a:r>
                        <a:rPr lang="en-IN" sz="2000" dirty="0">
                          <a:effectLst/>
                        </a:rPr>
                        <a:t>Monument</a:t>
                      </a:r>
                      <a:endParaRPr lang="en-US" sz="2000" dirty="0">
                        <a:effectLst/>
                        <a:latin typeface="Calibri" panose="020F0502020204030204" pitchFamily="34" charset="0"/>
                        <a:ea typeface="Calibri" panose="020F0502020204030204" pitchFamily="34" charset="0"/>
                        <a:cs typeface="Kokila" panose="020B0604020202020204" pitchFamily="34" charset="0"/>
                      </a:endParaRPr>
                    </a:p>
                  </a:txBody>
                  <a:tcPr marL="9525" marR="9525" marT="9525" marB="9525" anchor="ctr"/>
                </a:tc>
                <a:tc>
                  <a:txBody>
                    <a:bodyPr/>
                    <a:lstStyle/>
                    <a:p>
                      <a:pPr marL="0" marR="0" algn="ctr">
                        <a:lnSpc>
                          <a:spcPct val="107000"/>
                        </a:lnSpc>
                        <a:spcBef>
                          <a:spcPts val="0"/>
                        </a:spcBef>
                        <a:spcAft>
                          <a:spcPts val="800"/>
                        </a:spcAft>
                      </a:pPr>
                      <a:r>
                        <a:rPr lang="en-IN" sz="2000" dirty="0">
                          <a:effectLst/>
                        </a:rPr>
                        <a:t>Period</a:t>
                      </a:r>
                      <a:endParaRPr lang="en-US" sz="2000" dirty="0">
                        <a:effectLst/>
                        <a:latin typeface="Calibri" panose="020F0502020204030204" pitchFamily="34" charset="0"/>
                        <a:ea typeface="Calibri" panose="020F0502020204030204" pitchFamily="34" charset="0"/>
                        <a:cs typeface="Kokila" panose="020B0604020202020204" pitchFamily="34" charset="0"/>
                      </a:endParaRPr>
                    </a:p>
                  </a:txBody>
                  <a:tcPr marL="9525" marR="9525" marT="9525" marB="9525" anchor="ctr"/>
                </a:tc>
                <a:tc>
                  <a:txBody>
                    <a:bodyPr/>
                    <a:lstStyle/>
                    <a:p>
                      <a:pPr marL="0" marR="0" algn="ctr">
                        <a:lnSpc>
                          <a:spcPct val="107000"/>
                        </a:lnSpc>
                        <a:spcBef>
                          <a:spcPts val="0"/>
                        </a:spcBef>
                        <a:spcAft>
                          <a:spcPts val="800"/>
                        </a:spcAft>
                      </a:pPr>
                      <a:r>
                        <a:rPr lang="en-IN" sz="2000">
                          <a:effectLst/>
                        </a:rPr>
                        <a:t>Style/Religion</a:t>
                      </a:r>
                      <a:endParaRPr lang="en-US" sz="2000">
                        <a:effectLst/>
                        <a:latin typeface="Calibri" panose="020F0502020204030204" pitchFamily="34" charset="0"/>
                        <a:ea typeface="Calibri" panose="020F0502020204030204" pitchFamily="34" charset="0"/>
                        <a:cs typeface="Kokila" panose="020B0604020202020204" pitchFamily="34" charset="0"/>
                      </a:endParaRPr>
                    </a:p>
                  </a:txBody>
                  <a:tcPr marL="9525" marR="9525" marT="9525" marB="9525" anchor="ctr"/>
                </a:tc>
                <a:tc>
                  <a:txBody>
                    <a:bodyPr/>
                    <a:lstStyle/>
                    <a:p>
                      <a:pPr marL="0" marR="0" algn="ctr">
                        <a:lnSpc>
                          <a:spcPct val="107000"/>
                        </a:lnSpc>
                        <a:spcBef>
                          <a:spcPts val="0"/>
                        </a:spcBef>
                        <a:spcAft>
                          <a:spcPts val="800"/>
                        </a:spcAft>
                      </a:pPr>
                      <a:r>
                        <a:rPr lang="en-IN" sz="2000">
                          <a:effectLst/>
                        </a:rPr>
                        <a:t>Key Features</a:t>
                      </a:r>
                      <a:endParaRPr lang="en-US" sz="2000">
                        <a:effectLst/>
                        <a:latin typeface="Calibri" panose="020F0502020204030204" pitchFamily="34" charset="0"/>
                        <a:ea typeface="Calibri" panose="020F0502020204030204" pitchFamily="34" charset="0"/>
                        <a:cs typeface="Kokila" panose="020B0604020202020204" pitchFamily="34" charset="0"/>
                      </a:endParaRPr>
                    </a:p>
                  </a:txBody>
                  <a:tcPr marL="9525" marR="9525" marT="9525" marB="9525" anchor="ctr"/>
                </a:tc>
                <a:extLst>
                  <a:ext uri="{0D108BD9-81ED-4DB2-BD59-A6C34878D82A}">
                    <a16:rowId xmlns:a16="http://schemas.microsoft.com/office/drawing/2014/main" val="1887087544"/>
                  </a:ext>
                </a:extLst>
              </a:tr>
              <a:tr h="647337">
                <a:tc>
                  <a:txBody>
                    <a:bodyPr/>
                    <a:lstStyle/>
                    <a:p>
                      <a:pPr marL="0" marR="0">
                        <a:lnSpc>
                          <a:spcPct val="107000"/>
                        </a:lnSpc>
                        <a:spcBef>
                          <a:spcPts val="0"/>
                        </a:spcBef>
                        <a:spcAft>
                          <a:spcPts val="800"/>
                        </a:spcAft>
                      </a:pPr>
                      <a:r>
                        <a:rPr lang="en-IN" sz="2000" dirty="0" err="1">
                          <a:effectLst/>
                        </a:rPr>
                        <a:t>Ashoka</a:t>
                      </a:r>
                      <a:r>
                        <a:rPr lang="en-IN" sz="2000" dirty="0">
                          <a:effectLst/>
                        </a:rPr>
                        <a:t> Pillars</a:t>
                      </a:r>
                      <a:endParaRPr lang="en-US" sz="2000" dirty="0">
                        <a:effectLst/>
                        <a:latin typeface="Calibri" panose="020F0502020204030204" pitchFamily="34" charset="0"/>
                        <a:ea typeface="Calibri" panose="020F0502020204030204" pitchFamily="34" charset="0"/>
                        <a:cs typeface="Kokila" panose="020B0604020202020204" pitchFamily="34" charset="0"/>
                      </a:endParaRPr>
                    </a:p>
                  </a:txBody>
                  <a:tcPr marL="9525" marR="9525" marT="9525" marB="9525" anchor="ctr"/>
                </a:tc>
                <a:tc>
                  <a:txBody>
                    <a:bodyPr/>
                    <a:lstStyle/>
                    <a:p>
                      <a:pPr marL="0" marR="0">
                        <a:lnSpc>
                          <a:spcPct val="107000"/>
                        </a:lnSpc>
                        <a:spcBef>
                          <a:spcPts val="0"/>
                        </a:spcBef>
                        <a:spcAft>
                          <a:spcPts val="800"/>
                        </a:spcAft>
                      </a:pPr>
                      <a:r>
                        <a:rPr lang="en-IN" sz="2000" dirty="0">
                          <a:effectLst/>
                        </a:rPr>
                        <a:t>3rd Century BCE</a:t>
                      </a:r>
                      <a:endParaRPr lang="en-US" sz="2000" dirty="0">
                        <a:effectLst/>
                        <a:latin typeface="Calibri" panose="020F0502020204030204" pitchFamily="34" charset="0"/>
                        <a:ea typeface="Calibri" panose="020F0502020204030204" pitchFamily="34" charset="0"/>
                        <a:cs typeface="Kokila" panose="020B0604020202020204" pitchFamily="34" charset="0"/>
                      </a:endParaRPr>
                    </a:p>
                  </a:txBody>
                  <a:tcPr marL="9525" marR="9525" marT="9525" marB="9525" anchor="ctr"/>
                </a:tc>
                <a:tc>
                  <a:txBody>
                    <a:bodyPr/>
                    <a:lstStyle/>
                    <a:p>
                      <a:pPr marL="0" marR="0">
                        <a:lnSpc>
                          <a:spcPct val="107000"/>
                        </a:lnSpc>
                        <a:spcBef>
                          <a:spcPts val="0"/>
                        </a:spcBef>
                        <a:spcAft>
                          <a:spcPts val="800"/>
                        </a:spcAft>
                      </a:pPr>
                      <a:r>
                        <a:rPr lang="en-IN" sz="2000" dirty="0">
                          <a:effectLst/>
                        </a:rPr>
                        <a:t>Buddhist, </a:t>
                      </a:r>
                      <a:r>
                        <a:rPr lang="en-IN" sz="2000" dirty="0" err="1">
                          <a:effectLst/>
                        </a:rPr>
                        <a:t>Mauryan</a:t>
                      </a:r>
                      <a:endParaRPr lang="en-US" sz="2000" dirty="0">
                        <a:effectLst/>
                        <a:latin typeface="Calibri" panose="020F0502020204030204" pitchFamily="34" charset="0"/>
                        <a:ea typeface="Calibri" panose="020F0502020204030204" pitchFamily="34" charset="0"/>
                        <a:cs typeface="Kokila" panose="020B0604020202020204" pitchFamily="34" charset="0"/>
                      </a:endParaRPr>
                    </a:p>
                  </a:txBody>
                  <a:tcPr marL="9525" marR="9525" marT="9525" marB="9525" anchor="ctr"/>
                </a:tc>
                <a:tc>
                  <a:txBody>
                    <a:bodyPr/>
                    <a:lstStyle/>
                    <a:p>
                      <a:pPr marL="0" marR="0">
                        <a:lnSpc>
                          <a:spcPct val="107000"/>
                        </a:lnSpc>
                        <a:spcBef>
                          <a:spcPts val="0"/>
                        </a:spcBef>
                        <a:spcAft>
                          <a:spcPts val="800"/>
                        </a:spcAft>
                      </a:pPr>
                      <a:r>
                        <a:rPr lang="en-IN" sz="2000">
                          <a:effectLst/>
                        </a:rPr>
                        <a:t>Lion capital, inscriptions</a:t>
                      </a:r>
                      <a:endParaRPr lang="en-US" sz="2000">
                        <a:effectLst/>
                        <a:latin typeface="Calibri" panose="020F0502020204030204" pitchFamily="34" charset="0"/>
                        <a:ea typeface="Calibri" panose="020F0502020204030204" pitchFamily="34" charset="0"/>
                        <a:cs typeface="Kokila" panose="020B0604020202020204" pitchFamily="34" charset="0"/>
                      </a:endParaRPr>
                    </a:p>
                  </a:txBody>
                  <a:tcPr marL="9525" marR="9525" marT="9525" marB="9525" anchor="ctr"/>
                </a:tc>
                <a:extLst>
                  <a:ext uri="{0D108BD9-81ED-4DB2-BD59-A6C34878D82A}">
                    <a16:rowId xmlns:a16="http://schemas.microsoft.com/office/drawing/2014/main" val="2550250174"/>
                  </a:ext>
                </a:extLst>
              </a:tr>
              <a:tr h="647337">
                <a:tc>
                  <a:txBody>
                    <a:bodyPr/>
                    <a:lstStyle/>
                    <a:p>
                      <a:pPr marL="0" marR="0">
                        <a:lnSpc>
                          <a:spcPct val="107000"/>
                        </a:lnSpc>
                        <a:spcBef>
                          <a:spcPts val="0"/>
                        </a:spcBef>
                        <a:spcAft>
                          <a:spcPts val="800"/>
                        </a:spcAft>
                      </a:pPr>
                      <a:r>
                        <a:rPr lang="en-IN" sz="2000">
                          <a:effectLst/>
                        </a:rPr>
                        <a:t>Sanchi Stupa</a:t>
                      </a:r>
                      <a:endParaRPr lang="en-US" sz="2000">
                        <a:effectLst/>
                        <a:latin typeface="Calibri" panose="020F0502020204030204" pitchFamily="34" charset="0"/>
                        <a:ea typeface="Calibri" panose="020F0502020204030204" pitchFamily="34" charset="0"/>
                        <a:cs typeface="Kokila" panose="020B0604020202020204" pitchFamily="34" charset="0"/>
                      </a:endParaRPr>
                    </a:p>
                  </a:txBody>
                  <a:tcPr marL="9525" marR="9525" marT="9525" marB="9525" anchor="ctr"/>
                </a:tc>
                <a:tc>
                  <a:txBody>
                    <a:bodyPr/>
                    <a:lstStyle/>
                    <a:p>
                      <a:pPr marL="0" marR="0">
                        <a:lnSpc>
                          <a:spcPct val="107000"/>
                        </a:lnSpc>
                        <a:spcBef>
                          <a:spcPts val="0"/>
                        </a:spcBef>
                        <a:spcAft>
                          <a:spcPts val="800"/>
                        </a:spcAft>
                      </a:pPr>
                      <a:r>
                        <a:rPr lang="en-IN" sz="2000">
                          <a:effectLst/>
                        </a:rPr>
                        <a:t>3rd Century BCE</a:t>
                      </a:r>
                      <a:endParaRPr lang="en-US" sz="2000">
                        <a:effectLst/>
                        <a:latin typeface="Calibri" panose="020F0502020204030204" pitchFamily="34" charset="0"/>
                        <a:ea typeface="Calibri" panose="020F0502020204030204" pitchFamily="34" charset="0"/>
                        <a:cs typeface="Kokila" panose="020B0604020202020204" pitchFamily="34" charset="0"/>
                      </a:endParaRPr>
                    </a:p>
                  </a:txBody>
                  <a:tcPr marL="9525" marR="9525" marT="9525" marB="9525" anchor="ctr"/>
                </a:tc>
                <a:tc>
                  <a:txBody>
                    <a:bodyPr/>
                    <a:lstStyle/>
                    <a:p>
                      <a:pPr marL="0" marR="0">
                        <a:lnSpc>
                          <a:spcPct val="107000"/>
                        </a:lnSpc>
                        <a:spcBef>
                          <a:spcPts val="0"/>
                        </a:spcBef>
                        <a:spcAft>
                          <a:spcPts val="800"/>
                        </a:spcAft>
                      </a:pPr>
                      <a:r>
                        <a:rPr lang="en-IN" sz="2000" dirty="0">
                          <a:effectLst/>
                        </a:rPr>
                        <a:t>Buddhist</a:t>
                      </a:r>
                      <a:endParaRPr lang="en-US" sz="2000" dirty="0">
                        <a:effectLst/>
                        <a:latin typeface="Calibri" panose="020F0502020204030204" pitchFamily="34" charset="0"/>
                        <a:ea typeface="Calibri" panose="020F0502020204030204" pitchFamily="34" charset="0"/>
                        <a:cs typeface="Kokila" panose="020B0604020202020204" pitchFamily="34" charset="0"/>
                      </a:endParaRPr>
                    </a:p>
                  </a:txBody>
                  <a:tcPr marL="9525" marR="9525" marT="9525" marB="9525" anchor="ctr"/>
                </a:tc>
                <a:tc>
                  <a:txBody>
                    <a:bodyPr/>
                    <a:lstStyle/>
                    <a:p>
                      <a:pPr marL="0" marR="0">
                        <a:lnSpc>
                          <a:spcPct val="107000"/>
                        </a:lnSpc>
                        <a:spcBef>
                          <a:spcPts val="0"/>
                        </a:spcBef>
                        <a:spcAft>
                          <a:spcPts val="800"/>
                        </a:spcAft>
                      </a:pPr>
                      <a:r>
                        <a:rPr lang="en-IN" sz="2000">
                          <a:effectLst/>
                        </a:rPr>
                        <a:t>Dome, toranas, Jataka tales</a:t>
                      </a:r>
                      <a:endParaRPr lang="en-US" sz="2000">
                        <a:effectLst/>
                        <a:latin typeface="Calibri" panose="020F0502020204030204" pitchFamily="34" charset="0"/>
                        <a:ea typeface="Calibri" panose="020F0502020204030204" pitchFamily="34" charset="0"/>
                        <a:cs typeface="Kokila" panose="020B0604020202020204" pitchFamily="34" charset="0"/>
                      </a:endParaRPr>
                    </a:p>
                  </a:txBody>
                  <a:tcPr marL="9525" marR="9525" marT="9525" marB="9525" anchor="ctr"/>
                </a:tc>
                <a:extLst>
                  <a:ext uri="{0D108BD9-81ED-4DB2-BD59-A6C34878D82A}">
                    <a16:rowId xmlns:a16="http://schemas.microsoft.com/office/drawing/2014/main" val="843206217"/>
                  </a:ext>
                </a:extLst>
              </a:tr>
              <a:tr h="647337">
                <a:tc>
                  <a:txBody>
                    <a:bodyPr/>
                    <a:lstStyle/>
                    <a:p>
                      <a:pPr marL="0" marR="0">
                        <a:lnSpc>
                          <a:spcPct val="107000"/>
                        </a:lnSpc>
                        <a:spcBef>
                          <a:spcPts val="0"/>
                        </a:spcBef>
                        <a:spcAft>
                          <a:spcPts val="800"/>
                        </a:spcAft>
                      </a:pPr>
                      <a:r>
                        <a:rPr lang="en-IN" sz="2000" dirty="0">
                          <a:effectLst/>
                        </a:rPr>
                        <a:t>Ajanta Caves</a:t>
                      </a:r>
                      <a:endParaRPr lang="en-US" sz="2000" dirty="0">
                        <a:effectLst/>
                        <a:latin typeface="Calibri" panose="020F0502020204030204" pitchFamily="34" charset="0"/>
                        <a:ea typeface="Calibri" panose="020F0502020204030204" pitchFamily="34" charset="0"/>
                        <a:cs typeface="Kokila" panose="020B0604020202020204" pitchFamily="34" charset="0"/>
                      </a:endParaRPr>
                    </a:p>
                  </a:txBody>
                  <a:tcPr marL="9525" marR="9525" marT="9525" marB="9525" anchor="ctr"/>
                </a:tc>
                <a:tc>
                  <a:txBody>
                    <a:bodyPr/>
                    <a:lstStyle/>
                    <a:p>
                      <a:pPr marL="0" marR="0">
                        <a:lnSpc>
                          <a:spcPct val="107000"/>
                        </a:lnSpc>
                        <a:spcBef>
                          <a:spcPts val="0"/>
                        </a:spcBef>
                        <a:spcAft>
                          <a:spcPts val="800"/>
                        </a:spcAft>
                      </a:pPr>
                      <a:r>
                        <a:rPr lang="en-IN" sz="2000">
                          <a:effectLst/>
                        </a:rPr>
                        <a:t>2nd BCE–6th CE</a:t>
                      </a:r>
                      <a:endParaRPr lang="en-US" sz="2000">
                        <a:effectLst/>
                        <a:latin typeface="Calibri" panose="020F0502020204030204" pitchFamily="34" charset="0"/>
                        <a:ea typeface="Calibri" panose="020F0502020204030204" pitchFamily="34" charset="0"/>
                        <a:cs typeface="Kokila" panose="020B0604020202020204" pitchFamily="34" charset="0"/>
                      </a:endParaRPr>
                    </a:p>
                  </a:txBody>
                  <a:tcPr marL="9525" marR="9525" marT="9525" marB="9525" anchor="ctr"/>
                </a:tc>
                <a:tc>
                  <a:txBody>
                    <a:bodyPr/>
                    <a:lstStyle/>
                    <a:p>
                      <a:pPr marL="0" marR="0">
                        <a:lnSpc>
                          <a:spcPct val="107000"/>
                        </a:lnSpc>
                        <a:spcBef>
                          <a:spcPts val="0"/>
                        </a:spcBef>
                        <a:spcAft>
                          <a:spcPts val="800"/>
                        </a:spcAft>
                      </a:pPr>
                      <a:r>
                        <a:rPr lang="en-IN" sz="2000" dirty="0">
                          <a:effectLst/>
                        </a:rPr>
                        <a:t>Buddhist</a:t>
                      </a:r>
                      <a:endParaRPr lang="en-US" sz="2000" dirty="0">
                        <a:effectLst/>
                        <a:latin typeface="Calibri" panose="020F0502020204030204" pitchFamily="34" charset="0"/>
                        <a:ea typeface="Calibri" panose="020F0502020204030204" pitchFamily="34" charset="0"/>
                        <a:cs typeface="Kokila" panose="020B0604020202020204" pitchFamily="34" charset="0"/>
                      </a:endParaRPr>
                    </a:p>
                  </a:txBody>
                  <a:tcPr marL="9525" marR="9525" marT="9525" marB="9525" anchor="ctr"/>
                </a:tc>
                <a:tc>
                  <a:txBody>
                    <a:bodyPr/>
                    <a:lstStyle/>
                    <a:p>
                      <a:pPr marL="0" marR="0">
                        <a:lnSpc>
                          <a:spcPct val="107000"/>
                        </a:lnSpc>
                        <a:spcBef>
                          <a:spcPts val="0"/>
                        </a:spcBef>
                        <a:spcAft>
                          <a:spcPts val="800"/>
                        </a:spcAft>
                      </a:pPr>
                      <a:r>
                        <a:rPr lang="en-IN" sz="2000">
                          <a:effectLst/>
                        </a:rPr>
                        <a:t>Murals, frescoes, Jataka tales</a:t>
                      </a:r>
                      <a:endParaRPr lang="en-US" sz="2000">
                        <a:effectLst/>
                        <a:latin typeface="Calibri" panose="020F0502020204030204" pitchFamily="34" charset="0"/>
                        <a:ea typeface="Calibri" panose="020F0502020204030204" pitchFamily="34" charset="0"/>
                        <a:cs typeface="Kokila" panose="020B0604020202020204" pitchFamily="34" charset="0"/>
                      </a:endParaRPr>
                    </a:p>
                  </a:txBody>
                  <a:tcPr marL="9525" marR="9525" marT="9525" marB="9525" anchor="ctr"/>
                </a:tc>
                <a:extLst>
                  <a:ext uri="{0D108BD9-81ED-4DB2-BD59-A6C34878D82A}">
                    <a16:rowId xmlns:a16="http://schemas.microsoft.com/office/drawing/2014/main" val="4003835420"/>
                  </a:ext>
                </a:extLst>
              </a:tr>
              <a:tr h="647337">
                <a:tc>
                  <a:txBody>
                    <a:bodyPr/>
                    <a:lstStyle/>
                    <a:p>
                      <a:pPr marL="0" marR="0">
                        <a:lnSpc>
                          <a:spcPct val="107000"/>
                        </a:lnSpc>
                        <a:spcBef>
                          <a:spcPts val="0"/>
                        </a:spcBef>
                        <a:spcAft>
                          <a:spcPts val="800"/>
                        </a:spcAft>
                      </a:pPr>
                      <a:r>
                        <a:rPr lang="en-IN" sz="2000" dirty="0" err="1">
                          <a:effectLst/>
                        </a:rPr>
                        <a:t>Ellora</a:t>
                      </a:r>
                      <a:r>
                        <a:rPr lang="en-IN" sz="2000" dirty="0">
                          <a:effectLst/>
                        </a:rPr>
                        <a:t> Caves</a:t>
                      </a:r>
                      <a:endParaRPr lang="en-US" sz="2000" dirty="0">
                        <a:effectLst/>
                        <a:latin typeface="Calibri" panose="020F0502020204030204" pitchFamily="34" charset="0"/>
                        <a:ea typeface="Calibri" panose="020F0502020204030204" pitchFamily="34" charset="0"/>
                        <a:cs typeface="Kokila" panose="020B0604020202020204" pitchFamily="34" charset="0"/>
                      </a:endParaRPr>
                    </a:p>
                  </a:txBody>
                  <a:tcPr marL="9525" marR="9525" marT="9525" marB="9525" anchor="ctr"/>
                </a:tc>
                <a:tc>
                  <a:txBody>
                    <a:bodyPr/>
                    <a:lstStyle/>
                    <a:p>
                      <a:pPr marL="0" marR="0">
                        <a:lnSpc>
                          <a:spcPct val="107000"/>
                        </a:lnSpc>
                        <a:spcBef>
                          <a:spcPts val="0"/>
                        </a:spcBef>
                        <a:spcAft>
                          <a:spcPts val="800"/>
                        </a:spcAft>
                      </a:pPr>
                      <a:r>
                        <a:rPr lang="en-IN" sz="2000">
                          <a:effectLst/>
                        </a:rPr>
                        <a:t>5th–10th CE</a:t>
                      </a:r>
                      <a:endParaRPr lang="en-US" sz="2000">
                        <a:effectLst/>
                        <a:latin typeface="Calibri" panose="020F0502020204030204" pitchFamily="34" charset="0"/>
                        <a:ea typeface="Calibri" panose="020F0502020204030204" pitchFamily="34" charset="0"/>
                        <a:cs typeface="Kokila" panose="020B0604020202020204" pitchFamily="34" charset="0"/>
                      </a:endParaRPr>
                    </a:p>
                  </a:txBody>
                  <a:tcPr marL="9525" marR="9525" marT="9525" marB="9525" anchor="ctr"/>
                </a:tc>
                <a:tc>
                  <a:txBody>
                    <a:bodyPr/>
                    <a:lstStyle/>
                    <a:p>
                      <a:pPr marL="0" marR="0">
                        <a:lnSpc>
                          <a:spcPct val="107000"/>
                        </a:lnSpc>
                        <a:spcBef>
                          <a:spcPts val="0"/>
                        </a:spcBef>
                        <a:spcAft>
                          <a:spcPts val="800"/>
                        </a:spcAft>
                      </a:pPr>
                      <a:r>
                        <a:rPr lang="en-IN" sz="2000" dirty="0">
                          <a:effectLst/>
                        </a:rPr>
                        <a:t>Buddhist, Hindu, Jain</a:t>
                      </a:r>
                      <a:endParaRPr lang="en-US" sz="2000" dirty="0">
                        <a:effectLst/>
                        <a:latin typeface="Calibri" panose="020F0502020204030204" pitchFamily="34" charset="0"/>
                        <a:ea typeface="Calibri" panose="020F0502020204030204" pitchFamily="34" charset="0"/>
                        <a:cs typeface="Kokila" panose="020B0604020202020204" pitchFamily="34" charset="0"/>
                      </a:endParaRPr>
                    </a:p>
                  </a:txBody>
                  <a:tcPr marL="9525" marR="9525" marT="9525" marB="9525" anchor="ctr"/>
                </a:tc>
                <a:tc>
                  <a:txBody>
                    <a:bodyPr/>
                    <a:lstStyle/>
                    <a:p>
                      <a:pPr marL="0" marR="0">
                        <a:lnSpc>
                          <a:spcPct val="107000"/>
                        </a:lnSpc>
                        <a:spcBef>
                          <a:spcPts val="0"/>
                        </a:spcBef>
                        <a:spcAft>
                          <a:spcPts val="800"/>
                        </a:spcAft>
                      </a:pPr>
                      <a:r>
                        <a:rPr lang="en-IN" sz="2000">
                          <a:effectLst/>
                        </a:rPr>
                        <a:t>Kailasa Temple, monolithic</a:t>
                      </a:r>
                      <a:endParaRPr lang="en-US" sz="2000">
                        <a:effectLst/>
                        <a:latin typeface="Calibri" panose="020F0502020204030204" pitchFamily="34" charset="0"/>
                        <a:ea typeface="Calibri" panose="020F0502020204030204" pitchFamily="34" charset="0"/>
                        <a:cs typeface="Kokila" panose="020B0604020202020204" pitchFamily="34" charset="0"/>
                      </a:endParaRPr>
                    </a:p>
                  </a:txBody>
                  <a:tcPr marL="9525" marR="9525" marT="9525" marB="9525" anchor="ctr"/>
                </a:tc>
                <a:extLst>
                  <a:ext uri="{0D108BD9-81ED-4DB2-BD59-A6C34878D82A}">
                    <a16:rowId xmlns:a16="http://schemas.microsoft.com/office/drawing/2014/main" val="1420633379"/>
                  </a:ext>
                </a:extLst>
              </a:tr>
              <a:tr h="647337">
                <a:tc>
                  <a:txBody>
                    <a:bodyPr/>
                    <a:lstStyle/>
                    <a:p>
                      <a:pPr marL="0" marR="0">
                        <a:lnSpc>
                          <a:spcPct val="107000"/>
                        </a:lnSpc>
                        <a:spcBef>
                          <a:spcPts val="0"/>
                        </a:spcBef>
                        <a:spcAft>
                          <a:spcPts val="800"/>
                        </a:spcAft>
                      </a:pPr>
                      <a:r>
                        <a:rPr lang="en-IN" sz="2000" dirty="0" err="1">
                          <a:effectLst/>
                        </a:rPr>
                        <a:t>Konark</a:t>
                      </a:r>
                      <a:r>
                        <a:rPr lang="en-IN" sz="2000" dirty="0">
                          <a:effectLst/>
                        </a:rPr>
                        <a:t> Sun Temple</a:t>
                      </a:r>
                      <a:endParaRPr lang="en-US" sz="2000" dirty="0">
                        <a:effectLst/>
                        <a:latin typeface="Calibri" panose="020F0502020204030204" pitchFamily="34" charset="0"/>
                        <a:ea typeface="Calibri" panose="020F0502020204030204" pitchFamily="34" charset="0"/>
                        <a:cs typeface="Kokila" panose="020B0604020202020204" pitchFamily="34" charset="0"/>
                      </a:endParaRPr>
                    </a:p>
                  </a:txBody>
                  <a:tcPr marL="9525" marR="9525" marT="9525" marB="9525" anchor="ctr"/>
                </a:tc>
                <a:tc>
                  <a:txBody>
                    <a:bodyPr/>
                    <a:lstStyle/>
                    <a:p>
                      <a:pPr marL="0" marR="0">
                        <a:lnSpc>
                          <a:spcPct val="107000"/>
                        </a:lnSpc>
                        <a:spcBef>
                          <a:spcPts val="0"/>
                        </a:spcBef>
                        <a:spcAft>
                          <a:spcPts val="800"/>
                        </a:spcAft>
                      </a:pPr>
                      <a:r>
                        <a:rPr lang="en-IN" sz="2000">
                          <a:effectLst/>
                        </a:rPr>
                        <a:t>13th Century</a:t>
                      </a:r>
                      <a:endParaRPr lang="en-US" sz="2000">
                        <a:effectLst/>
                        <a:latin typeface="Calibri" panose="020F0502020204030204" pitchFamily="34" charset="0"/>
                        <a:ea typeface="Calibri" panose="020F0502020204030204" pitchFamily="34" charset="0"/>
                        <a:cs typeface="Kokila" panose="020B0604020202020204" pitchFamily="34" charset="0"/>
                      </a:endParaRPr>
                    </a:p>
                  </a:txBody>
                  <a:tcPr marL="9525" marR="9525" marT="9525" marB="9525" anchor="ctr"/>
                </a:tc>
                <a:tc>
                  <a:txBody>
                    <a:bodyPr/>
                    <a:lstStyle/>
                    <a:p>
                      <a:pPr marL="0" marR="0">
                        <a:lnSpc>
                          <a:spcPct val="107000"/>
                        </a:lnSpc>
                        <a:spcBef>
                          <a:spcPts val="0"/>
                        </a:spcBef>
                        <a:spcAft>
                          <a:spcPts val="800"/>
                        </a:spcAft>
                      </a:pPr>
                      <a:r>
                        <a:rPr lang="en-IN" sz="2000" dirty="0">
                          <a:effectLst/>
                        </a:rPr>
                        <a:t>Hindu (Surya)</a:t>
                      </a:r>
                      <a:endParaRPr lang="en-US" sz="2000" dirty="0">
                        <a:effectLst/>
                        <a:latin typeface="Calibri" panose="020F0502020204030204" pitchFamily="34" charset="0"/>
                        <a:ea typeface="Calibri" panose="020F0502020204030204" pitchFamily="34" charset="0"/>
                        <a:cs typeface="Kokila" panose="020B0604020202020204" pitchFamily="34" charset="0"/>
                      </a:endParaRPr>
                    </a:p>
                  </a:txBody>
                  <a:tcPr marL="9525" marR="9525" marT="9525" marB="9525" anchor="ctr"/>
                </a:tc>
                <a:tc>
                  <a:txBody>
                    <a:bodyPr/>
                    <a:lstStyle/>
                    <a:p>
                      <a:pPr marL="0" marR="0">
                        <a:lnSpc>
                          <a:spcPct val="107000"/>
                        </a:lnSpc>
                        <a:spcBef>
                          <a:spcPts val="0"/>
                        </a:spcBef>
                        <a:spcAft>
                          <a:spcPts val="800"/>
                        </a:spcAft>
                      </a:pPr>
                      <a:r>
                        <a:rPr lang="en-IN" sz="2000" dirty="0">
                          <a:effectLst/>
                        </a:rPr>
                        <a:t>Chariot design, sundial wheels</a:t>
                      </a:r>
                      <a:endParaRPr lang="en-US" sz="2000" dirty="0">
                        <a:effectLst/>
                        <a:latin typeface="Calibri" panose="020F0502020204030204" pitchFamily="34" charset="0"/>
                        <a:ea typeface="Calibri" panose="020F0502020204030204" pitchFamily="34" charset="0"/>
                        <a:cs typeface="Kokila" panose="020B0604020202020204" pitchFamily="34" charset="0"/>
                      </a:endParaRPr>
                    </a:p>
                  </a:txBody>
                  <a:tcPr marL="9525" marR="9525" marT="9525" marB="9525" anchor="ctr"/>
                </a:tc>
                <a:extLst>
                  <a:ext uri="{0D108BD9-81ED-4DB2-BD59-A6C34878D82A}">
                    <a16:rowId xmlns:a16="http://schemas.microsoft.com/office/drawing/2014/main" val="4263358560"/>
                  </a:ext>
                </a:extLst>
              </a:tr>
              <a:tr h="647337">
                <a:tc>
                  <a:txBody>
                    <a:bodyPr/>
                    <a:lstStyle/>
                    <a:p>
                      <a:pPr marL="0" marR="0">
                        <a:lnSpc>
                          <a:spcPct val="107000"/>
                        </a:lnSpc>
                        <a:spcBef>
                          <a:spcPts val="0"/>
                        </a:spcBef>
                        <a:spcAft>
                          <a:spcPts val="800"/>
                        </a:spcAft>
                      </a:pPr>
                      <a:r>
                        <a:rPr lang="en-IN" sz="2000" dirty="0" err="1">
                          <a:effectLst/>
                        </a:rPr>
                        <a:t>Khajuraho</a:t>
                      </a:r>
                      <a:r>
                        <a:rPr lang="en-IN" sz="2000" dirty="0">
                          <a:effectLst/>
                        </a:rPr>
                        <a:t> Temples</a:t>
                      </a:r>
                      <a:endParaRPr lang="en-US" sz="2000" dirty="0">
                        <a:effectLst/>
                        <a:latin typeface="Calibri" panose="020F0502020204030204" pitchFamily="34" charset="0"/>
                        <a:ea typeface="Calibri" panose="020F0502020204030204" pitchFamily="34" charset="0"/>
                        <a:cs typeface="Kokila" panose="020B0604020202020204" pitchFamily="34" charset="0"/>
                      </a:endParaRPr>
                    </a:p>
                  </a:txBody>
                  <a:tcPr marL="9525" marR="9525" marT="9525" marB="9525" anchor="ctr"/>
                </a:tc>
                <a:tc>
                  <a:txBody>
                    <a:bodyPr/>
                    <a:lstStyle/>
                    <a:p>
                      <a:pPr marL="0" marR="0">
                        <a:lnSpc>
                          <a:spcPct val="107000"/>
                        </a:lnSpc>
                        <a:spcBef>
                          <a:spcPts val="0"/>
                        </a:spcBef>
                        <a:spcAft>
                          <a:spcPts val="800"/>
                        </a:spcAft>
                      </a:pPr>
                      <a:r>
                        <a:rPr lang="en-IN" sz="2000" dirty="0">
                          <a:effectLst/>
                        </a:rPr>
                        <a:t>10th–11th CE</a:t>
                      </a:r>
                      <a:endParaRPr lang="en-US" sz="2000" dirty="0">
                        <a:effectLst/>
                        <a:latin typeface="Calibri" panose="020F0502020204030204" pitchFamily="34" charset="0"/>
                        <a:ea typeface="Calibri" panose="020F0502020204030204" pitchFamily="34" charset="0"/>
                        <a:cs typeface="Kokila" panose="020B0604020202020204" pitchFamily="34" charset="0"/>
                      </a:endParaRPr>
                    </a:p>
                  </a:txBody>
                  <a:tcPr marL="9525" marR="9525" marT="9525" marB="9525" anchor="ctr"/>
                </a:tc>
                <a:tc>
                  <a:txBody>
                    <a:bodyPr/>
                    <a:lstStyle/>
                    <a:p>
                      <a:pPr marL="0" marR="0">
                        <a:lnSpc>
                          <a:spcPct val="107000"/>
                        </a:lnSpc>
                        <a:spcBef>
                          <a:spcPts val="0"/>
                        </a:spcBef>
                        <a:spcAft>
                          <a:spcPts val="800"/>
                        </a:spcAft>
                      </a:pPr>
                      <a:r>
                        <a:rPr lang="en-IN" sz="2000">
                          <a:effectLst/>
                        </a:rPr>
                        <a:t>Hindu, Jain</a:t>
                      </a:r>
                      <a:endParaRPr lang="en-US" sz="2000">
                        <a:effectLst/>
                        <a:latin typeface="Calibri" panose="020F0502020204030204" pitchFamily="34" charset="0"/>
                        <a:ea typeface="Calibri" panose="020F0502020204030204" pitchFamily="34" charset="0"/>
                        <a:cs typeface="Kokila" panose="020B0604020202020204" pitchFamily="34" charset="0"/>
                      </a:endParaRPr>
                    </a:p>
                  </a:txBody>
                  <a:tcPr marL="9525" marR="9525" marT="9525" marB="9525" anchor="ctr"/>
                </a:tc>
                <a:tc>
                  <a:txBody>
                    <a:bodyPr/>
                    <a:lstStyle/>
                    <a:p>
                      <a:pPr marL="0" marR="0">
                        <a:lnSpc>
                          <a:spcPct val="107000"/>
                        </a:lnSpc>
                        <a:spcBef>
                          <a:spcPts val="0"/>
                        </a:spcBef>
                        <a:spcAft>
                          <a:spcPts val="800"/>
                        </a:spcAft>
                      </a:pPr>
                      <a:r>
                        <a:rPr lang="en-IN" sz="2000" dirty="0">
                          <a:effectLst/>
                        </a:rPr>
                        <a:t>Erotic sculptures, </a:t>
                      </a:r>
                      <a:r>
                        <a:rPr lang="en-IN" sz="2000" dirty="0" err="1">
                          <a:effectLst/>
                        </a:rPr>
                        <a:t>Nagara</a:t>
                      </a:r>
                      <a:r>
                        <a:rPr lang="en-IN" sz="2000" dirty="0">
                          <a:effectLst/>
                        </a:rPr>
                        <a:t> style</a:t>
                      </a:r>
                      <a:endParaRPr lang="en-US" sz="2000" dirty="0">
                        <a:effectLst/>
                        <a:latin typeface="Calibri" panose="020F0502020204030204" pitchFamily="34" charset="0"/>
                        <a:ea typeface="Calibri" panose="020F0502020204030204" pitchFamily="34" charset="0"/>
                        <a:cs typeface="Kokila" panose="020B0604020202020204" pitchFamily="34" charset="0"/>
                      </a:endParaRPr>
                    </a:p>
                  </a:txBody>
                  <a:tcPr marL="9525" marR="9525" marT="9525" marB="9525" anchor="ctr"/>
                </a:tc>
                <a:extLst>
                  <a:ext uri="{0D108BD9-81ED-4DB2-BD59-A6C34878D82A}">
                    <a16:rowId xmlns:a16="http://schemas.microsoft.com/office/drawing/2014/main" val="2002653144"/>
                  </a:ext>
                </a:extLst>
              </a:tr>
              <a:tr h="647337">
                <a:tc>
                  <a:txBody>
                    <a:bodyPr/>
                    <a:lstStyle/>
                    <a:p>
                      <a:pPr marL="0" marR="0">
                        <a:lnSpc>
                          <a:spcPct val="107000"/>
                        </a:lnSpc>
                        <a:spcBef>
                          <a:spcPts val="0"/>
                        </a:spcBef>
                        <a:spcAft>
                          <a:spcPts val="800"/>
                        </a:spcAft>
                      </a:pPr>
                      <a:r>
                        <a:rPr lang="en-IN" sz="2000">
                          <a:effectLst/>
                        </a:rPr>
                        <a:t>Qutub Minar</a:t>
                      </a:r>
                      <a:endParaRPr lang="en-US" sz="2000">
                        <a:effectLst/>
                        <a:latin typeface="Calibri" panose="020F0502020204030204" pitchFamily="34" charset="0"/>
                        <a:ea typeface="Calibri" panose="020F0502020204030204" pitchFamily="34" charset="0"/>
                        <a:cs typeface="Kokila" panose="020B0604020202020204" pitchFamily="34" charset="0"/>
                      </a:endParaRPr>
                    </a:p>
                  </a:txBody>
                  <a:tcPr marL="9525" marR="9525" marT="9525" marB="9525" anchor="ctr"/>
                </a:tc>
                <a:tc>
                  <a:txBody>
                    <a:bodyPr/>
                    <a:lstStyle/>
                    <a:p>
                      <a:pPr marL="0" marR="0">
                        <a:lnSpc>
                          <a:spcPct val="107000"/>
                        </a:lnSpc>
                        <a:spcBef>
                          <a:spcPts val="0"/>
                        </a:spcBef>
                        <a:spcAft>
                          <a:spcPts val="800"/>
                        </a:spcAft>
                      </a:pPr>
                      <a:r>
                        <a:rPr lang="en-IN" sz="2000" dirty="0">
                          <a:effectLst/>
                        </a:rPr>
                        <a:t>12th Century</a:t>
                      </a:r>
                      <a:endParaRPr lang="en-US" sz="2000" dirty="0">
                        <a:effectLst/>
                        <a:latin typeface="Calibri" panose="020F0502020204030204" pitchFamily="34" charset="0"/>
                        <a:ea typeface="Calibri" panose="020F0502020204030204" pitchFamily="34" charset="0"/>
                        <a:cs typeface="Kokila" panose="020B0604020202020204" pitchFamily="34" charset="0"/>
                      </a:endParaRPr>
                    </a:p>
                  </a:txBody>
                  <a:tcPr marL="9525" marR="9525" marT="9525" marB="9525" anchor="ctr"/>
                </a:tc>
                <a:tc>
                  <a:txBody>
                    <a:bodyPr/>
                    <a:lstStyle/>
                    <a:p>
                      <a:pPr marL="0" marR="0">
                        <a:lnSpc>
                          <a:spcPct val="107000"/>
                        </a:lnSpc>
                        <a:spcBef>
                          <a:spcPts val="0"/>
                        </a:spcBef>
                        <a:spcAft>
                          <a:spcPts val="800"/>
                        </a:spcAft>
                      </a:pPr>
                      <a:r>
                        <a:rPr lang="en-IN" sz="2000" dirty="0">
                          <a:effectLst/>
                        </a:rPr>
                        <a:t>Islamic (Delhi Sultanate)</a:t>
                      </a:r>
                      <a:endParaRPr lang="en-US" sz="2000" dirty="0">
                        <a:effectLst/>
                        <a:latin typeface="Calibri" panose="020F0502020204030204" pitchFamily="34" charset="0"/>
                        <a:ea typeface="Calibri" panose="020F0502020204030204" pitchFamily="34" charset="0"/>
                        <a:cs typeface="Kokila" panose="020B0604020202020204" pitchFamily="34" charset="0"/>
                      </a:endParaRPr>
                    </a:p>
                  </a:txBody>
                  <a:tcPr marL="9525" marR="9525" marT="9525" marB="9525" anchor="ctr"/>
                </a:tc>
                <a:tc>
                  <a:txBody>
                    <a:bodyPr/>
                    <a:lstStyle/>
                    <a:p>
                      <a:pPr marL="0" marR="0">
                        <a:lnSpc>
                          <a:spcPct val="107000"/>
                        </a:lnSpc>
                        <a:spcBef>
                          <a:spcPts val="0"/>
                        </a:spcBef>
                        <a:spcAft>
                          <a:spcPts val="800"/>
                        </a:spcAft>
                      </a:pPr>
                      <a:r>
                        <a:rPr lang="en-IN" sz="2000" dirty="0">
                          <a:effectLst/>
                        </a:rPr>
                        <a:t>Tall minaret, inscriptions</a:t>
                      </a:r>
                      <a:endParaRPr lang="en-US" sz="2000" dirty="0">
                        <a:effectLst/>
                        <a:latin typeface="Calibri" panose="020F0502020204030204" pitchFamily="34" charset="0"/>
                        <a:ea typeface="Calibri" panose="020F0502020204030204" pitchFamily="34" charset="0"/>
                        <a:cs typeface="Kokila" panose="020B0604020202020204" pitchFamily="34" charset="0"/>
                      </a:endParaRPr>
                    </a:p>
                  </a:txBody>
                  <a:tcPr marL="9525" marR="9525" marT="9525" marB="9525" anchor="ctr"/>
                </a:tc>
                <a:extLst>
                  <a:ext uri="{0D108BD9-81ED-4DB2-BD59-A6C34878D82A}">
                    <a16:rowId xmlns:a16="http://schemas.microsoft.com/office/drawing/2014/main" val="1488639029"/>
                  </a:ext>
                </a:extLst>
              </a:tr>
              <a:tr h="647337">
                <a:tc>
                  <a:txBody>
                    <a:bodyPr/>
                    <a:lstStyle/>
                    <a:p>
                      <a:pPr marL="0" marR="0">
                        <a:lnSpc>
                          <a:spcPct val="107000"/>
                        </a:lnSpc>
                        <a:spcBef>
                          <a:spcPts val="0"/>
                        </a:spcBef>
                        <a:spcAft>
                          <a:spcPts val="800"/>
                        </a:spcAft>
                      </a:pPr>
                      <a:r>
                        <a:rPr lang="en-IN" sz="2000">
                          <a:effectLst/>
                        </a:rPr>
                        <a:t>Taj Mahal</a:t>
                      </a:r>
                      <a:endParaRPr lang="en-US" sz="2000">
                        <a:effectLst/>
                        <a:latin typeface="Calibri" panose="020F0502020204030204" pitchFamily="34" charset="0"/>
                        <a:ea typeface="Calibri" panose="020F0502020204030204" pitchFamily="34" charset="0"/>
                        <a:cs typeface="Kokila" panose="020B0604020202020204" pitchFamily="34" charset="0"/>
                      </a:endParaRPr>
                    </a:p>
                  </a:txBody>
                  <a:tcPr marL="9525" marR="9525" marT="9525" marB="9525" anchor="ctr"/>
                </a:tc>
                <a:tc>
                  <a:txBody>
                    <a:bodyPr/>
                    <a:lstStyle/>
                    <a:p>
                      <a:pPr marL="0" marR="0">
                        <a:lnSpc>
                          <a:spcPct val="107000"/>
                        </a:lnSpc>
                        <a:spcBef>
                          <a:spcPts val="0"/>
                        </a:spcBef>
                        <a:spcAft>
                          <a:spcPts val="800"/>
                        </a:spcAft>
                      </a:pPr>
                      <a:r>
                        <a:rPr lang="en-IN" sz="2000">
                          <a:effectLst/>
                        </a:rPr>
                        <a:t>17th Century</a:t>
                      </a:r>
                      <a:endParaRPr lang="en-US" sz="2000">
                        <a:effectLst/>
                        <a:latin typeface="Calibri" panose="020F0502020204030204" pitchFamily="34" charset="0"/>
                        <a:ea typeface="Calibri" panose="020F0502020204030204" pitchFamily="34" charset="0"/>
                        <a:cs typeface="Kokila" panose="020B0604020202020204" pitchFamily="34" charset="0"/>
                      </a:endParaRPr>
                    </a:p>
                  </a:txBody>
                  <a:tcPr marL="9525" marR="9525" marT="9525" marB="9525" anchor="ctr"/>
                </a:tc>
                <a:tc>
                  <a:txBody>
                    <a:bodyPr/>
                    <a:lstStyle/>
                    <a:p>
                      <a:pPr marL="0" marR="0">
                        <a:lnSpc>
                          <a:spcPct val="107000"/>
                        </a:lnSpc>
                        <a:spcBef>
                          <a:spcPts val="0"/>
                        </a:spcBef>
                        <a:spcAft>
                          <a:spcPts val="800"/>
                        </a:spcAft>
                      </a:pPr>
                      <a:r>
                        <a:rPr lang="en-IN" sz="2000" dirty="0">
                          <a:effectLst/>
                        </a:rPr>
                        <a:t>Islamic (Mughal)</a:t>
                      </a:r>
                      <a:endParaRPr lang="en-US" sz="2000" dirty="0">
                        <a:effectLst/>
                        <a:latin typeface="Calibri" panose="020F0502020204030204" pitchFamily="34" charset="0"/>
                        <a:ea typeface="Calibri" panose="020F0502020204030204" pitchFamily="34" charset="0"/>
                        <a:cs typeface="Kokila" panose="020B0604020202020204" pitchFamily="34" charset="0"/>
                      </a:endParaRPr>
                    </a:p>
                  </a:txBody>
                  <a:tcPr marL="9525" marR="9525" marT="9525" marB="9525" anchor="ctr"/>
                </a:tc>
                <a:tc>
                  <a:txBody>
                    <a:bodyPr/>
                    <a:lstStyle/>
                    <a:p>
                      <a:pPr marL="0" marR="0">
                        <a:lnSpc>
                          <a:spcPct val="107000"/>
                        </a:lnSpc>
                        <a:spcBef>
                          <a:spcPts val="0"/>
                        </a:spcBef>
                        <a:spcAft>
                          <a:spcPts val="800"/>
                        </a:spcAft>
                      </a:pPr>
                      <a:r>
                        <a:rPr lang="en-IN" sz="2000" dirty="0">
                          <a:effectLst/>
                        </a:rPr>
                        <a:t>White marble, symmetry, </a:t>
                      </a:r>
                      <a:r>
                        <a:rPr lang="en-IN" sz="2000" dirty="0" err="1">
                          <a:effectLst/>
                        </a:rPr>
                        <a:t>pietra</a:t>
                      </a:r>
                      <a:r>
                        <a:rPr lang="en-IN" sz="2000" dirty="0">
                          <a:effectLst/>
                        </a:rPr>
                        <a:t> dura</a:t>
                      </a:r>
                      <a:endParaRPr lang="en-US" sz="2000" dirty="0">
                        <a:effectLst/>
                        <a:latin typeface="Calibri" panose="020F0502020204030204" pitchFamily="34" charset="0"/>
                        <a:ea typeface="Calibri" panose="020F0502020204030204" pitchFamily="34" charset="0"/>
                        <a:cs typeface="Kokila" panose="020B0604020202020204" pitchFamily="34" charset="0"/>
                      </a:endParaRPr>
                    </a:p>
                  </a:txBody>
                  <a:tcPr marL="9525" marR="9525" marT="9525" marB="9525" anchor="ctr"/>
                </a:tc>
                <a:extLst>
                  <a:ext uri="{0D108BD9-81ED-4DB2-BD59-A6C34878D82A}">
                    <a16:rowId xmlns:a16="http://schemas.microsoft.com/office/drawing/2014/main" val="429658911"/>
                  </a:ext>
                </a:extLst>
              </a:tr>
            </a:tbl>
          </a:graphicData>
        </a:graphic>
      </p:graphicFrame>
      <p:sp>
        <p:nvSpPr>
          <p:cNvPr id="3" name="Rectangle 1"/>
          <p:cNvSpPr>
            <a:spLocks noChangeArrowheads="1"/>
          </p:cNvSpPr>
          <p:nvPr/>
        </p:nvSpPr>
        <p:spPr bwMode="auto">
          <a:xfrm>
            <a:off x="3892732" y="190990"/>
            <a:ext cx="4480560" cy="518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25392"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1" i="0" u="none" strike="noStrike" cap="none" normalizeH="0" baseline="0" dirty="0">
                <a:ln>
                  <a:noFill/>
                </a:ln>
                <a:solidFill>
                  <a:srgbClr val="2E74B5"/>
                </a:solidFill>
                <a:effectLst/>
                <a:latin typeface="Calibri Light" panose="020F0302020204030204" pitchFamily="34" charset="0"/>
                <a:ea typeface="Times New Roman" panose="02020603050405020304" pitchFamily="18" charset="0"/>
                <a:cs typeface="Mangal"/>
              </a:rPr>
              <a:t>        Summary Table</a:t>
            </a:r>
          </a:p>
        </p:txBody>
      </p:sp>
    </p:spTree>
    <p:extLst>
      <p:ext uri="{BB962C8B-B14F-4D97-AF65-F5344CB8AC3E}">
        <p14:creationId xmlns:p14="http://schemas.microsoft.com/office/powerpoint/2010/main" val="2813028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809</TotalTime>
  <Words>5520</Words>
  <Application>Microsoft Office PowerPoint</Application>
  <PresentationFormat>Widescreen</PresentationFormat>
  <Paragraphs>428</Paragraphs>
  <Slides>42</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42</vt:i4>
      </vt:variant>
    </vt:vector>
  </HeadingPairs>
  <TitlesOfParts>
    <vt:vector size="53" baseType="lpstr">
      <vt:lpstr>Arial</vt:lpstr>
      <vt:lpstr>Calibri</vt:lpstr>
      <vt:lpstr>Calibri Light</vt:lpstr>
      <vt:lpstr>Courier New</vt:lpstr>
      <vt:lpstr>Kokila</vt:lpstr>
      <vt:lpstr>Mangal</vt:lpstr>
      <vt:lpstr>Segoe UI Symbol</vt:lpstr>
      <vt:lpstr>Symbol</vt:lpstr>
      <vt:lpstr>Times New Roman</vt:lpstr>
      <vt:lpstr>Wingdings</vt:lpstr>
      <vt:lpstr>Office Theme</vt:lpstr>
      <vt:lpstr>Unit-III</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Unit-III</dc:title>
  <dc:creator>GLA</dc:creator>
  <cp:lastModifiedBy>Admin</cp:lastModifiedBy>
  <cp:revision>30</cp:revision>
  <dcterms:created xsi:type="dcterms:W3CDTF">2024-11-11T09:25:42Z</dcterms:created>
  <dcterms:modified xsi:type="dcterms:W3CDTF">2025-11-28T12:24:20Z</dcterms:modified>
</cp:coreProperties>
</file>