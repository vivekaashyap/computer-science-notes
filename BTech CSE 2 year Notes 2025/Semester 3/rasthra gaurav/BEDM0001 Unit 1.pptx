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86" r:id="rId3"/>
    <p:sldId id="309" r:id="rId4"/>
    <p:sldId id="301" r:id="rId5"/>
    <p:sldId id="307" r:id="rId6"/>
    <p:sldId id="308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32" r:id="rId22"/>
    <p:sldId id="326" r:id="rId23"/>
    <p:sldId id="327" r:id="rId24"/>
    <p:sldId id="328" r:id="rId25"/>
    <p:sldId id="329" r:id="rId26"/>
    <p:sldId id="330" r:id="rId27"/>
    <p:sldId id="331" r:id="rId28"/>
    <p:sldId id="333" r:id="rId29"/>
    <p:sldId id="334" r:id="rId30"/>
    <p:sldId id="341" r:id="rId31"/>
    <p:sldId id="343" r:id="rId32"/>
    <p:sldId id="342" r:id="rId33"/>
    <p:sldId id="344" r:id="rId34"/>
    <p:sldId id="345" r:id="rId35"/>
    <p:sldId id="346" r:id="rId36"/>
    <p:sldId id="347" r:id="rId37"/>
    <p:sldId id="348" r:id="rId38"/>
    <p:sldId id="340" r:id="rId39"/>
    <p:sldId id="335" r:id="rId40"/>
    <p:sldId id="336" r:id="rId41"/>
    <p:sldId id="337" r:id="rId42"/>
    <p:sldId id="338" r:id="rId43"/>
    <p:sldId id="33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28C42-FE94-48D1-8461-45145068F0F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97EB2-2CA9-4B1B-B208-70ECF7CDA4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4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97EB2-2CA9-4B1B-B208-70ECF7CDA4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6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97EB2-2CA9-4B1B-B208-70ECF7CDA4F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47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9EC1D-1D8D-4EB3-8D8B-DE096B319B7E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4CBE-2720-4990-9016-1ACE457CF1EF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8B768-017F-46A3-83FB-C46F296B2F3E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A6CB5-CB0D-49D2-B5CF-5AB9C44FF7D8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B88-303F-4D45-83C7-8EB9BC4AE765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5C19-DCC9-4BDE-B2AD-19576601C77D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8659F-06C4-4AEA-8361-FEBDF95DCA44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371E3-E543-419C-92AF-0032C98598EB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3554A-1848-48CE-BC40-05296F415DD9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AE56-2326-493A-8936-F955F5B7F80D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BAA0-D52F-4A2D-99A5-1F94DC67188D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0505F-893C-4E0C-9769-E0744174E847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&lt;Subject Code&gt; &lt;Name of Subject&gt;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55922-87EB-483D-8474-2C9330A0D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8288" y="5229200"/>
            <a:ext cx="3456384" cy="151216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D. N. Sharma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Education GLA University</a:t>
            </a:r>
            <a:r>
              <a:rPr lang="hi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Mathura</a:t>
            </a:r>
          </a:p>
          <a:p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38348" y="2857497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91544" y="2132856"/>
            <a:ext cx="74888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Black" panose="020B0A04020102020204" pitchFamily="34" charset="0"/>
              </a:rPr>
              <a:t>BEDM 0001</a:t>
            </a:r>
          </a:p>
          <a:p>
            <a:pPr algn="ctr"/>
            <a:r>
              <a:rPr lang="en-US" sz="5400" dirty="0">
                <a:latin typeface="Arial Black" panose="020B0A04020102020204" pitchFamily="34" charset="0"/>
              </a:rPr>
              <a:t>RASHTRA GAURAV</a:t>
            </a:r>
            <a:endParaRPr lang="en-IN" sz="5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3392" y="332656"/>
            <a:ext cx="10959008" cy="57606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BEDM 0001: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Rashtra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Gaurav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Credits/Unit: 00	                                 L-T-P: 0-0-2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comprehensively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India’s rich cultural heritage, explore its various aspects, cultivate critical thinking and reflect on the significance of India’s cultural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legacy in contemporary society, fostering a sense of responsibility toward preserving and promoting India’s cultural heritage for future generations.</a:t>
            </a:r>
          </a:p>
        </p:txBody>
      </p:sp>
    </p:spTree>
    <p:extLst>
      <p:ext uri="{BB962C8B-B14F-4D97-AF65-F5344CB8AC3E}">
        <p14:creationId xmlns:p14="http://schemas.microsoft.com/office/powerpoint/2010/main" val="161444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3392" y="332656"/>
            <a:ext cx="10959008" cy="5760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completion of the course, the student will be able to: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1-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significance of ancient Indian civilization and features of Indian culture.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2-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critical thinking and reflection on the relevance of Indian Philosophical and spiritual traditions in contemporary society.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3-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Appreciate the richness and diversity of Indian literature, epic contributions of Indian scientist and the basics of Indian astrology concepts.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4-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Indian personalities as role models and be inspired to emulate them values and achievements.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27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07368" y="692696"/>
            <a:ext cx="11377264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01-                             8 Hrs.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Features of Indian culture –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Unity in diversity: Geographical, ethnic,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Indian</a:t>
            </a:r>
            <a:r>
              <a:rPr lang="en-US" sz="2400" spc="5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people</a:t>
            </a:r>
            <a:r>
              <a:rPr lang="en-US" sz="2400" spc="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(Indian Diaspora)</a:t>
            </a:r>
            <a:r>
              <a:rPr lang="en-US" sz="2400" spc="5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Religious</a:t>
            </a:r>
            <a:r>
              <a:rPr lang="en-US" sz="2400" spc="-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400" spc="-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</a:t>
            </a:r>
            <a:r>
              <a:rPr lang="en-US" sz="2400" spc="-4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harmony</a:t>
            </a:r>
            <a:r>
              <a:rPr lang="en-US" sz="2400" spc="-4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400" spc="5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Ancient</a:t>
            </a:r>
            <a:r>
              <a:rPr lang="en-US" sz="2800" spc="6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urban</a:t>
            </a:r>
            <a:r>
              <a:rPr lang="en-US" sz="2800" spc="6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civilization,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Vedic Culture.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02-                             6 Hrs.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and Spiritual Enlightenment: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of Jainism, Buddhism,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Shatdarshan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Vedanta,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Shankaracharya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Ramanuja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Nirgun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Bhakti Saints and Sufi Devotional traditions.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76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1384" y="740398"/>
            <a:ext cx="1137726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03-                             6 Hrs.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and Medieval Literature: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 Epics-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Mahabharat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Ramayan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Tamil Literature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literary works-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BanBhatt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Kalhan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Bharatendu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Harishchandra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Kautilya’s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Arthashastra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in Ancient and Medieval India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Mathematicians and Astronomers of Ancient India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-Aryabhata,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Varahamihira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Brahmagupta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 and Architecture of India-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Ashoka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Pillars,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Stupa, Ajanta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Ellora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Caves,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Konark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 Temple,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Khajuraho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temples and various medieval monuments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32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1384" y="740398"/>
            <a:ext cx="1137726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04-                             4 Hrs.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National Personalities and their Contributions: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Rabindranath Tagore,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Sarojini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Naidu,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Bhagat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Dadabhai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Naoroji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Chandra Chattopadhyay.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Exam: End Term exam only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Marks :100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Type : Objective type questions (MCQ’s)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67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6646"/>
            <a:ext cx="10972800" cy="5620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Features of Indian culture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908720"/>
            <a:ext cx="11103024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culture is incredibly diverse and multifaceted, encompassing a wide range of features that reflect its rich history, geography, and social structures. Here are some key aspects:</a:t>
            </a:r>
          </a:p>
          <a:p>
            <a:pPr algn="just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Religious Diversity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Hinduism: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Sikhism: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Buddhism and Jainism: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546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23392" y="476672"/>
            <a:ext cx="11233248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Languages</a:t>
            </a:r>
            <a:endParaRPr lang="en-IN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 is home to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 officially recognized languages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including Hindi, Bengali, Telugu, Marathi, Tamil, Urdu, and many more.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region has its own linguistic heritage, contributing to a rich tapestry of literary traditions.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endParaRPr lang="en-IN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Regional Variations: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Spices: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Street Food: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1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404664"/>
            <a:ext cx="11103024" cy="6011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Festivals and Celebrations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Diwali: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Holi: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Durga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Puja: 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Pongal: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Arts and Music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Music: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Dance Forms: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Folk Arts: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467927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1384" y="548680"/>
            <a:ext cx="11161240" cy="545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Historical Monuments: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Temple Architecture:  Regional styles like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Dravidian, </a:t>
            </a:r>
            <a:r>
              <a:rPr lang="en-IN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Nagara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Vesara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Architecture: 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Clothing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Saris and Salwar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Kameez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Kurta-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Pajama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Sherwani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Regional Variations: 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Philosophy and Spirituality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Yoga and Meditation:</a:t>
            </a: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Ayurveda:</a:t>
            </a: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Shatdarshan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Veda,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Puran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Upvedas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Upnishadas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232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9416" y="548680"/>
            <a:ext cx="10585176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Structure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Family Values: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Caste System: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Marriage Customs: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Crafts and Handicrafts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Textiles: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Pottery and Metalwork: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Indian culture’s richness lies in its ability to blend ancient traditions with modern influences, creating a dynamic and evolving cultural landscape.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49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11424" y="548680"/>
            <a:ext cx="10670976" cy="5191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u="sng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Unity in diversity: Geographical, ethnic, Indian people (Indian Diaspora)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"Unity in diversity"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is a phrase often used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to describe the way different elements can coexist harmoniously within a single entity.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When applied to India and its diaspora, it highlights the rich tapestry of geographical, ethnic, and cultural diversity present in the country and among Indian communities worldwide.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89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338011"/>
            <a:ext cx="11233248" cy="5969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 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Geographical Diversity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India's vast geographical landscape includes: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Mountain Ranges: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Himalayas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in the north, the Western and Eastern Ghats.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Deserts: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Thar Desert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in the northwest.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Plains: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Indo-Gangetic Plain.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Coastal Areas: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Arabian Sea to the west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and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Bay of Bengal to the east.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Forests and Wildlife Reserves: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Such as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Sundarbans and Western Ghats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This geographical diversity influences the climate, agriculture, and lifestyle of different regions, contributing to a rich variety of traditions and practices.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6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692696"/>
            <a:ext cx="11103024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Ethnic and Cultural Diversity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India is home to a wide array of ethnic groups and cultures, including: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Indo-Aryans: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Predominantly in the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north and central India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Dravidians: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Mainly in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southern India.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Mongoloid: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Found in the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north eastern states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Various Indigenous Tribes: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Scattered throughout the country.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Each group has its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own languages, traditions, and customs, contributing to a vibrant mosaic of cultural practices.</a:t>
            </a:r>
            <a:endParaRPr lang="en-IN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96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548680"/>
            <a:ext cx="11233248" cy="5468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Indian Diaspora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The Indian diaspora refers to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global community of people of Indian origin.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 They are spread across various continents: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North America: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Significant Indian communities in the United States and Canada.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Europe: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Notable populations in the United Kingdom, the Netherlands, and Germany.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Oceania: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Large communities in Australia and New Zealand.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Africa: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Indian communities in countries like South Africa, Kenya, and Uganda.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Asia: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Significant populations in countries like the United Arab Emirates, Malaysia, and Singapore.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697406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548680"/>
            <a:ext cx="11233248" cy="611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Unity in the Diaspora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Despite geographical and cultural differences, the Indian diaspora often maintains a sense of unity through: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Shared Heritage: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Common historical and cultural ties.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Cultural Festivals: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Celebrating Indian festivals like Diwali, Holi, and Eid.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Language and Cuisine: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Maintaining traditional languages and culinary practices.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Community Organizations: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 Creating networks and support systems within their new countries.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1795051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95400" y="980728"/>
            <a:ext cx="10513168" cy="355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Religious and cultural harmony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Religious and cultural harmony in India is a complex but vital aspect of its social fabric. Despite the country's immense diversity in </a:t>
            </a: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religious beliefs, languages, and cultural practices, </a:t>
            </a: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India has generally managed to maintain a degree of unity and coexistence. 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917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30760" y="620688"/>
            <a:ext cx="11161240" cy="5062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Shared Festivals and Celebrations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Cross-Cultural Celebrations: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Interfaith Festivities: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Cultural Exchange and Integration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Language and Literature: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Food: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Education and Awareness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Curricula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Cultural Programs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812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332656"/>
            <a:ext cx="11521280" cy="6208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Interfaith Dialogue and Organizations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Interfaith Councils: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Community Initiatives: 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Legal and Constitutional Framework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Secularism: 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Anti-Discrimination Laws: </a:t>
            </a:r>
          </a:p>
          <a:p>
            <a:r>
              <a:rPr lang="en-IN" sz="3200" b="1" dirty="0"/>
              <a:t>Cultural and Religious Practices</a:t>
            </a:r>
            <a:endParaRPr lang="en-IN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Common Social Practices: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Community Events: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60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1384" y="476672"/>
            <a:ext cx="11031016" cy="5552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Historical and Cultural Legacy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Syncretic Traditions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Architectural Heritage: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Media and Arts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Cinema and Television: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Art and Music: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Challenges and Efforts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Despite these aspects of harmony, India also faces challenges related to religious and cultural tensions.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Issues such as communal violence, political exploitation of religious differences,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social discrimination are areas of concern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. However, many individuals, communities, and organizations work tirelessly to address these challenges and promote peace and unity.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32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908720"/>
            <a:ext cx="11305256" cy="5781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 of Ancient Urban Civilizations in India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Urban Planning:</a:t>
            </a: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Ancient Indian cities often featured 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urban planning</a:t>
            </a: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including 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grid layouts, drainage systems, and public baths.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Architecture:</a:t>
            </a: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Distinctive architectural styles, from the 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brick buildings </a:t>
            </a: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Indus Valley to the 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elaborate temples of the Cholas.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Trade and Economy: Active trade routes and economic systems</a:t>
            </a: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with evidence of commerce extending to Mesopotamia, the Roman Empire, and Southeast Asia.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 Systems:</a:t>
            </a: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use of writing systems such as the 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 script and later Brahmi script.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and Intellectual Contributions: </a:t>
            </a:r>
            <a:r>
              <a:rPr lang="en-IN" sz="22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Advances in 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art, science, mathematics, and literature, particularly during the Gupta and </a:t>
            </a:r>
            <a:r>
              <a:rPr lang="en-IN" sz="22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Chola</a:t>
            </a:r>
            <a:r>
              <a:rPr lang="en-IN" sz="22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periods.</a:t>
            </a:r>
            <a:endParaRPr lang="en-IN" sz="2200" b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38863" y="188640"/>
            <a:ext cx="53142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urban civilization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992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9376" y="476672"/>
            <a:ext cx="11377264" cy="5365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 Valley Civilization (c. 3300–1300 BCE)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Location: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Primarily in the </a:t>
            </a:r>
            <a:r>
              <a:rPr lang="en-IN" sz="2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north-western regions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Indian subcontinent, including parts of </a:t>
            </a:r>
            <a:r>
              <a:rPr lang="en-IN" sz="2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present-day Pakistan (Sindh, Punjab) </a:t>
            </a:r>
            <a:r>
              <a:rPr lang="en-IN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northwest India (Gujarat, Haryana, Rajasthan).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Sites: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Harappa, Mohenjo-Daro, </a:t>
            </a:r>
            <a:r>
              <a:rPr lang="en-IN" sz="28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Dholavira</a:t>
            </a:r>
            <a:r>
              <a:rPr lang="en-IN" sz="28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Lothal, </a:t>
            </a:r>
            <a:r>
              <a:rPr lang="en-IN" sz="28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Kalibangan</a:t>
            </a:r>
            <a:r>
              <a:rPr lang="en-IN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Urban Planning: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Indus Valley Civilization is renowned for its </a:t>
            </a:r>
            <a:r>
              <a:rPr lang="en-IN" sz="2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urban planning</a:t>
            </a:r>
            <a:r>
              <a:rPr lang="en-IN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Cities were laid out in a </a:t>
            </a:r>
            <a:r>
              <a:rPr lang="en-IN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grid pattern with well-planned streets, drainage systems, and standardized brick sizes.</a:t>
            </a:r>
            <a:endParaRPr lang="en-IN" sz="2800" b="1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046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692696"/>
            <a:ext cx="108870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Buildings were constructed with </a:t>
            </a:r>
            <a:r>
              <a:rPr lang="en-IN" sz="28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baked bricks</a:t>
            </a:r>
            <a:r>
              <a:rPr lang="en-IN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28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residential and public buildings included granaries, baths, and wells.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8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Great Bath of Mohenjo-Daro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significant example.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Economy and Trade: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economy was </a:t>
            </a:r>
            <a:r>
              <a:rPr lang="en-IN" sz="2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based on agriculture, livestock, and trade.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Evidence suggests extensive trade networks with Mesopotamia, evidenced by the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discovery of seals and artefacts.</a:t>
            </a:r>
            <a:endParaRPr lang="en-IN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 System: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civilization had a script that remains </a:t>
            </a:r>
            <a:r>
              <a:rPr lang="en-IN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undeciphered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but it appears on 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seals and pottery.</a:t>
            </a:r>
            <a:endParaRPr lang="en-IN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378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3352" y="332656"/>
            <a:ext cx="11449272" cy="5596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Vedic Period (c. 1500–500 BCE)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Following the decline of the Indus Valley Civilization, the Vedic Period is characterized by the 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migration of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Indo-Aryan peoples into northern India.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Urbanization: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Although less focused on urbanization compared to the Indus Valley, this period saw the 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smaller settlements 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the emergence of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kingdoms or 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janapadas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Society and Culture: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Vedic society was organized into 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varnas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(social classes) and was 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centred around the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of rituals and sacrifices. 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composition of the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Vedas, ancient religious texts, 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occurred during this period.</a:t>
            </a:r>
            <a:endParaRPr lang="en-IN" sz="26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33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404664"/>
            <a:ext cx="11305256" cy="6196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Maurya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Empire (c. 322–185 BCE)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Founder: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Chandragupta 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Maurya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with significant contributions from his advisor, 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Kautilya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Chanakya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Capital Cities: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Pataliputra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(modern-day Patna) 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was the capital and a major urban centre. It was known for 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fortifications, administrative buildings, and vibrant trade activities.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Urban Planning and Administration: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Mauryan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administration was 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highly organized, with a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of roads, efficient tax collection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a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of spies.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Pataliputra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was 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well-planned with a grid layout, markets, and residential areas.</a:t>
            </a:r>
            <a:endParaRPr lang="en-IN" sz="2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15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1384" y="476672"/>
            <a:ext cx="11161240" cy="6196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Gupta Empire (c. 320–550 CE)   Founder: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Chandragupta First(</a:t>
            </a:r>
            <a:r>
              <a:rPr lang="en-IN" sz="26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Shrigupta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Golden Age: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Gupta Empire is often regarded as a </a:t>
            </a:r>
            <a:r>
              <a:rPr lang="en-IN" sz="2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golden age of Indian culture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marked by </a:t>
            </a:r>
            <a:r>
              <a:rPr lang="en-IN" sz="26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advancements in science, art, literature, and architecture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Urban </a:t>
            </a:r>
            <a:r>
              <a:rPr lang="en-IN" sz="2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Centers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Key cities included </a:t>
            </a:r>
            <a:r>
              <a:rPr lang="en-IN" sz="26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Pataliputra</a:t>
            </a:r>
            <a:r>
              <a:rPr lang="en-IN" sz="26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Ujjain, and </a:t>
            </a:r>
            <a:r>
              <a:rPr lang="en-IN" sz="26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Nalanda</a:t>
            </a:r>
            <a:r>
              <a:rPr lang="en-IN" sz="26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Nalanda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was known for its </a:t>
            </a:r>
            <a:r>
              <a:rPr lang="en-IN" sz="26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ancient university and was a centre of learning and scholarship.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Achievements: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This period saw significant </a:t>
            </a:r>
            <a:r>
              <a:rPr lang="en-IN" sz="26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developments in </a:t>
            </a:r>
            <a:r>
              <a:rPr lang="en-IN" sz="26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mathematics, astronomy, and literature. 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6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construction of temples</a:t>
            </a:r>
            <a:r>
              <a:rPr lang="en-IN" sz="26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such as those at </a:t>
            </a:r>
            <a:r>
              <a:rPr lang="en-IN" sz="26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Khajuraho</a:t>
            </a:r>
            <a:r>
              <a:rPr lang="en-IN" sz="26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Ajanta, highlights the architectural and artistic achievements.</a:t>
            </a:r>
            <a:endParaRPr lang="en-IN" sz="2600" b="1" i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9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1384" y="421109"/>
            <a:ext cx="11031016" cy="5781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3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Chola</a:t>
            </a:r>
            <a:r>
              <a:rPr lang="en-IN" sz="3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Dynasty (c. 300s–1279 CE)</a:t>
            </a: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Founder:</a:t>
            </a:r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2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Vijayalaya</a:t>
            </a:r>
            <a:endParaRPr lang="en-IN" sz="3000" u="sng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3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Location:</a:t>
            </a:r>
            <a:r>
              <a:rPr lang="en-IN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Predominantly in </a:t>
            </a:r>
            <a:r>
              <a:rPr lang="en-IN" sz="30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Tamil Nadu and parts of Karnataka</a:t>
            </a:r>
            <a:r>
              <a:rPr lang="en-IN" sz="30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3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Cities:</a:t>
            </a:r>
            <a:r>
              <a:rPr lang="en-IN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IN" sz="3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Chola</a:t>
            </a:r>
            <a:r>
              <a:rPr lang="en-IN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capital was </a:t>
            </a:r>
            <a:r>
              <a:rPr lang="en-IN" sz="30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Thanjavur</a:t>
            </a:r>
            <a:r>
              <a:rPr lang="en-IN" sz="30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was a thriving urban centre with a </a:t>
            </a:r>
            <a:r>
              <a:rPr lang="en-IN" sz="3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complex administration and impressive architecture.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3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Achievements:</a:t>
            </a:r>
            <a:r>
              <a:rPr lang="en-IN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Cholas are known for their </a:t>
            </a:r>
            <a:r>
              <a:rPr lang="en-IN" sz="30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extensive temple-building activity, including the </a:t>
            </a:r>
            <a:r>
              <a:rPr lang="en-IN" sz="30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Brihadeeswar</a:t>
            </a:r>
            <a:r>
              <a:rPr lang="en-IN" sz="30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Temple in </a:t>
            </a:r>
            <a:r>
              <a:rPr lang="en-IN" sz="3000" b="1" i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Thanjavur</a:t>
            </a:r>
            <a:r>
              <a:rPr lang="en-IN" sz="30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3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exemplifies their architectural prowess.</a:t>
            </a:r>
            <a:endParaRPr lang="en-IN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05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260648"/>
            <a:ext cx="11449272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Vedic Culture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Vedic culture refers to the period and cultural practices associated with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Vedic texts, particularly the Vedas,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which are among the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oldest sacred scriptures of Hinduism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This period is marked by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significant developments in religious, social, and philosophical traditions in ancient India.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Historical Context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Period: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Vedic culture is generally dated from around </a:t>
            </a:r>
            <a:r>
              <a:rPr lang="en-IN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1500 BCE to 500 BCE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though the exact dates can vary.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Migration: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corresponds with the </a:t>
            </a:r>
            <a:r>
              <a:rPr lang="en-IN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arrival of the Indo-Aryans in the Indian subcontinent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who composed the </a:t>
            </a:r>
            <a:r>
              <a:rPr lang="en-IN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Vedic texts and established the early Vedic society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66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476672"/>
            <a:ext cx="11449272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Vedas and Religious Texts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Vedas: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Vedic texts are divided into four primary collections: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Rigveda:</a:t>
            </a:r>
            <a:r>
              <a:rPr lang="en-IN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Contains </a:t>
            </a:r>
            <a:r>
              <a:rPr lang="en-IN" sz="24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hymns and praises to deities</a:t>
            </a:r>
            <a:r>
              <a:rPr lang="en-IN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Yajurveda:</a:t>
            </a:r>
            <a:r>
              <a:rPr lang="en-IN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Includes </a:t>
            </a:r>
            <a:r>
              <a:rPr lang="en-IN" sz="24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formulas for rituals and sacrifices</a:t>
            </a:r>
            <a:r>
              <a:rPr lang="en-IN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Samaveda</a:t>
            </a:r>
            <a:r>
              <a:rPr lang="en-IN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Contains </a:t>
            </a:r>
            <a:r>
              <a:rPr lang="en-IN" sz="24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chants and melodies used in rituals.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Atharvaveda:</a:t>
            </a:r>
            <a:r>
              <a:rPr lang="en-IN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Includes </a:t>
            </a:r>
            <a:r>
              <a:rPr lang="en-IN" sz="2400" b="1" i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spells, charms, and daily rituals.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 Texts: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Brahmanas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(ritualistic texts), </a:t>
            </a:r>
            <a:r>
              <a:rPr lang="en-IN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Aranyakas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(forest treatises), and 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Upanishads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(philosophical texts) are associated with the later Vedic period, contributing to the development of Hindu philosophy and ritual.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70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35360" y="339035"/>
            <a:ext cx="1152128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 Veda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Rig Veda, known as the Book of Mantra and the most important of the holy books, is a compilation of hymns, and it also contains information about the Rig Vedic culture and its mythologies. Its writings are the most ancient of all Sanskrit incantations, and this book is 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oldest of all books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 in any Indo-European language. </a:t>
            </a:r>
            <a:r>
              <a:rPr lang="en-US" sz="24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1,017 Mantras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Rig Veda; they are comprised of approximately </a:t>
            </a:r>
            <a:r>
              <a:rPr lang="en-US" sz="24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10,600 stanzas</a:t>
            </a:r>
            <a:r>
              <a:rPr lang="en-US" sz="24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stanza having </a:t>
            </a:r>
            <a:r>
              <a:rPr lang="en-US" sz="24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eight </a:t>
            </a:r>
            <a:r>
              <a:rPr lang="en-US" sz="2400" b="1" i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adhayayas</a:t>
            </a:r>
            <a:r>
              <a:rPr lang="en-US" sz="24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(chapters)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hymns were </a:t>
            </a:r>
            <a:r>
              <a:rPr lang="en-US" sz="24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 by seven main seers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(authors or </a:t>
            </a:r>
            <a:r>
              <a:rPr lang="en-US" sz="240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rishis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Vishwamitra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Kanwa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Vashistha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Jamadagni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Gotama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Bharadwaja</a:t>
            </a:r>
            <a:r>
              <a:rPr lang="en-US" sz="24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Veda contains information about </a:t>
            </a:r>
            <a:r>
              <a:rPr lang="en-US" sz="24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politics, economics, social practices, and the religion of the Rig-Vedic society</a:t>
            </a:r>
            <a:r>
              <a:rPr lang="en-US" sz="24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Yajur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Veda, </a:t>
            </a:r>
            <a:r>
              <a:rPr lang="en-US" sz="240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Veda, and </a:t>
            </a:r>
            <a:r>
              <a:rPr lang="en-US" sz="240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Atharva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 are considered to be part of the Vedic period because they were composed after the Rig Veda.</a:t>
            </a:r>
            <a:endParaRPr lang="en-US" sz="2400" i="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613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1384" y="548680"/>
            <a:ext cx="1103101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Yajur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Yajur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known as the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of Ritual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 a book of liturgies that are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religious ceremonies. During sacrifices, priests chant the prayers and </a:t>
            </a:r>
            <a:r>
              <a:rPr lang="en-US" sz="2800" b="1" i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yajus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(sacrificial formulas)</a:t>
            </a:r>
            <a:r>
              <a:rPr lang="en-US" sz="28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the book. It closely resembles the Egyptian "Book of the Dead", and there are </a:t>
            </a:r>
            <a:r>
              <a:rPr lang="en-US" sz="28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recessions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it: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Taittiriya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Madyandina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Kathaka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Kapishthala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Maitrayani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Kanva</a:t>
            </a:r>
            <a:r>
              <a:rPr lang="en-US" sz="28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book is divided into </a:t>
            </a:r>
            <a:r>
              <a:rPr lang="en-US" sz="28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sections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Yajur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refers to those portions that are unclear and poorly organized, and the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Yajur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Ved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applies to the verses that are clearer and in better order.</a:t>
            </a:r>
            <a:endParaRPr lang="en-US" sz="2800" b="1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65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23392" y="404664"/>
            <a:ext cx="1116124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Veda (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1510 Mantra including 1474 from Rigveda and 75 own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800" b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Veda,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as the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of Song,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collection of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ritualistic melodies or </a:t>
            </a:r>
            <a:r>
              <a:rPr lang="en-US" sz="2800" b="1" i="1" u="sng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saman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all of its hymns came from the Rig Veda and it contains no unique teachings of its own, the </a:t>
            </a:r>
            <a:r>
              <a:rPr lang="en-US" sz="280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Veda is considered a shorter version of the Rig Veda. It is a series of hymns and chants used by the priests during the </a:t>
            </a:r>
            <a:r>
              <a:rPr lang="en-US" sz="2800" b="1" u="sng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 sacrifice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consists of 1,549 verses and separated into 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sections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 </a:t>
            </a:r>
            <a:r>
              <a:rPr lang="en-US" sz="2800" b="1" i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archika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(verses)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 </a:t>
            </a:r>
            <a:r>
              <a:rPr lang="en-US" sz="2800" b="1" i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gana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(melodies). </a:t>
            </a:r>
            <a:r>
              <a:rPr lang="en-US" sz="2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these songs is thought to </a:t>
            </a:r>
            <a:r>
              <a:rPr lang="en-US" sz="2800" b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dancing, which uplifts the soul.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283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9376" y="476672"/>
            <a:ext cx="1110302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Atharvaveda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Atharvaveda was likely compiled as a Veda contemporaneously with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Samaveda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Yajurveda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about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1200 BCE – 1000 BCE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Along with the Samhita layer of text, the Atharvaveda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Brahmana text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final layer of the text that covers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speculations.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latter layer of Atharvaveda text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three primary Upanishads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influential to various schools of Hindu philosophy. These include the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Mundaka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Upanishad, the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Mandukya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Upanishad and the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Prashna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Upanishad.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899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9376" y="332656"/>
            <a:ext cx="1094521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UPVEDAS</a:t>
            </a:r>
          </a:p>
          <a:p>
            <a:pPr algn="just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Ayurveda (Sciences relating to LIFE and MEDICINE):-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Ayurveda is related to the secret of life and the science of long life. The originator of Ayurveda is supposed to be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Dhanwantari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Apart from him, other prominent names are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Aitareya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Kashyapa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Agnivesha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Bhedamuni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present, three important books of Ayurveda are: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Charak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Samhita,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Sushruta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Samhita and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Vaagbhatta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Samhita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three books are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collectively called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Brihat-trayi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Patanjali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also authored text on Ayurveda.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343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9376" y="548680"/>
            <a:ext cx="112332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Dhanurveda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Upveda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explains Spiritual sciences like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PURUSHARTHA, DUTIES, DEEDS,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and also Material sciences like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CIVIL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defense, war and politics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Ramayana and Mahabharata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deal of light is thrown upon this science and art, particularly in the descriptions of battles. The most ancient books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Dhanurveda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not available, but some of the known books are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Dhanurvidhi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Drauna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Kodanda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Mandana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Dhanurveda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Samhita.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2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&lt;Subject Code&gt; &lt;Name of Subject&gt;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1384" y="620688"/>
            <a:ext cx="1103101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Gandharva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Veda: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Gandharvaveda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of music,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the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Apart from Devotional Music it also deals with some subjects of Spiritual Sciences.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Shilpa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Veda (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Sthapatya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deals with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and various arts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According to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Shukra-niti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a number of arts but 64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considered to be more prominent.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06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9376" y="1124744"/>
            <a:ext cx="453650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ऋग्वेद</a:t>
            </a:r>
            <a:r>
              <a:rPr lang="en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:</a:t>
            </a:r>
            <a:endParaRPr lang="en-IN" sz="2400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r>
              <a:rPr lang="hi-IN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ऐतरेय ब्राह्मण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-(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शैशिरीय</a:t>
            </a:r>
            <a: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शाकल शाखा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)</a:t>
            </a:r>
            <a:endParaRPr lang="en-US" sz="2400" dirty="0">
              <a:solidFill>
                <a:srgbClr val="000000"/>
              </a:solidFill>
              <a:latin typeface="Kokila" panose="020B0604020202020204" pitchFamily="34" charset="0"/>
              <a:ea typeface="Times New Roman" panose="02020603050405020304" pitchFamily="18" charset="0"/>
            </a:endParaRPr>
          </a:p>
          <a:p>
            <a:r>
              <a:rPr lang="hi-IN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कौषीतकि</a:t>
            </a:r>
            <a:r>
              <a:rPr lang="ar-SA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-(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या शांखायन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) </a:t>
            </a:r>
            <a: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ब्राह्मण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बाष्कल शाखा</a:t>
            </a:r>
            <a:endParaRPr lang="en-US" sz="2400" dirty="0">
              <a:solidFill>
                <a:srgbClr val="000000"/>
              </a:solidFill>
              <a:latin typeface="Kokila" panose="020B0604020202020204" pitchFamily="34" charset="0"/>
              <a:ea typeface="Times New Roman" panose="02020603050405020304" pitchFamily="18" charset="0"/>
            </a:endParaRPr>
          </a:p>
          <a:p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सामवेद</a:t>
            </a:r>
            <a:r>
              <a:rPr lang="en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:</a:t>
            </a:r>
            <a:endParaRPr lang="en-IN" sz="2400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i-IN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प्रौढ</a:t>
            </a:r>
            <a:r>
              <a:rPr lang="en-US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 </a:t>
            </a:r>
            <a:r>
              <a:rPr lang="hi-IN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या पंचविंश</a:t>
            </a:r>
            <a:r>
              <a:rPr lang="ar-SA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) 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ब्राह्मण</a:t>
            </a:r>
            <a:b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</a:b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षडविंश ब्राह्मणआर्षेय ब्राह्मणमन्त्र</a:t>
            </a:r>
            <a: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या</a:t>
            </a:r>
            <a:endParaRPr lang="en-US" sz="2400" dirty="0">
              <a:solidFill>
                <a:srgbClr val="000000"/>
              </a:solidFill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hi-IN" sz="24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छांदोग्य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) </a:t>
            </a:r>
            <a: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ब्राह्मणजैमिनीय</a:t>
            </a:r>
            <a: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या तवलकार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) </a:t>
            </a:r>
            <a: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ब्राह्मण</a:t>
            </a:r>
            <a:endParaRPr lang="en-IN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79976" y="1052736"/>
            <a:ext cx="554461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यजुर्वेद</a:t>
            </a:r>
            <a:endParaRPr lang="en-IN" sz="2400" b="1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शुक्ल यजुर्वेद</a:t>
            </a:r>
            <a:r>
              <a:rPr lang="en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:</a:t>
            </a:r>
            <a:endParaRPr lang="en-IN" sz="2400" b="1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शतपथ ब्राह्मण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-(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माध्यन्दिनीय वाजसनेयि शाखा</a:t>
            </a:r>
            <a:endParaRPr lang="en-US" sz="2400" dirty="0">
              <a:solidFill>
                <a:srgbClr val="000000"/>
              </a:solidFill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)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शतपथ ब्राह्मण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-(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काण्व वाजसनेयि शाखा</a:t>
            </a:r>
            <a:endParaRPr lang="en-IN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कृष्ण</a:t>
            </a:r>
            <a:r>
              <a:rPr lang="en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</a:t>
            </a:r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यजुर्वेद</a:t>
            </a:r>
            <a:r>
              <a:rPr lang="en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:</a:t>
            </a:r>
            <a:endParaRPr lang="en-IN" sz="2400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तैत्तिरीय ब्राह्मण</a:t>
            </a:r>
            <a:b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</a:b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मैत्रायणी ब्राह्मण</a:t>
            </a:r>
            <a:b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</a:b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कठ ब्राह्मण</a:t>
            </a:r>
            <a:br>
              <a:rPr lang="en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</a:b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कपिष्ठल ब्राह्मण</a:t>
            </a:r>
            <a:endParaRPr lang="en-IN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r>
              <a:rPr lang="hi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अथर्ववेद</a:t>
            </a:r>
            <a:r>
              <a:rPr lang="en-IN" sz="3200" b="1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 :</a:t>
            </a:r>
            <a:endParaRPr lang="en-IN" sz="2400" dirty="0"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गोपथ ब्राह्मण</a:t>
            </a:r>
            <a:r>
              <a:rPr lang="ar-SA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</a:rPr>
              <a:t> (</a:t>
            </a:r>
            <a:r>
              <a:rPr lang="hi-IN" sz="2400" dirty="0">
                <a:solidFill>
                  <a:srgbClr val="000000"/>
                </a:solidFill>
                <a:latin typeface="Kokila" panose="020B0604020202020204" pitchFamily="34" charset="0"/>
                <a:ea typeface="Times New Roman" panose="02020603050405020304" pitchFamily="18" charset="0"/>
                <a:cs typeface="Kokila" panose="020B0604020202020204" pitchFamily="34" charset="0"/>
              </a:rPr>
              <a:t>पिप्पलाद शाखा</a:t>
            </a:r>
            <a:endParaRPr lang="en-IN" dirty="0">
              <a:effectLst/>
              <a:latin typeface="Kokila" panose="020B0604020202020204" pitchFamily="34" charset="0"/>
              <a:ea typeface="Times New Roman" panose="02020603050405020304" pitchFamily="18" charset="0"/>
              <a:cs typeface="Kokila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7728" y="260648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Brahman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Granthas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26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572974" y="332656"/>
            <a:ext cx="3675154" cy="59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Sixteen </a:t>
            </a:r>
            <a:r>
              <a:rPr lang="en-IN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Kokila" panose="020B0604020202020204" pitchFamily="34" charset="0"/>
              </a:rPr>
              <a:t>Sanskars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5400" y="836712"/>
            <a:ext cx="3960440" cy="5902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Sixteen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Sanskars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Garbhadhaan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Punsavan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Simantonayan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Jatkarma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Naamkaran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Nishkramana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Annprashan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Chaul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Kokila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4656" y="1268760"/>
            <a:ext cx="4655840" cy="5176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Karnavedh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Vidyarambh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Upnayan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Vedarambha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Keshani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Samskar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Samavartan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Vivah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Antyesthi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6129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476672"/>
            <a:ext cx="11377264" cy="5365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Religious Practices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Rituals and Sacrifices: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Central to Vedic religion were complex rituals and sacrifices (</a:t>
            </a:r>
            <a:r>
              <a:rPr lang="en-IN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yajnas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performed by priests (</a:t>
            </a: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Brahmins) 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appease the gods and maintain cosmic order. These rituals were elaborate and required precise chanting of Vedic hymns.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Deities: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Vedic pantheon included deities such as Agni (fire), </a:t>
            </a:r>
            <a:r>
              <a:rPr lang="en-IN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Indra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(king of gods), </a:t>
            </a:r>
            <a:r>
              <a:rPr lang="en-IN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Varuna</a:t>
            </a:r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(cosmic order), and Ushas (dawn). Each deity had specific attributes and roles in the cosmological framework.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52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391974"/>
            <a:ext cx="11377264" cy="5801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Structure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Varna System: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Vedic society was organized into a four-fold </a:t>
            </a:r>
            <a:r>
              <a:rPr lang="en-IN" sz="2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varna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system: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Brahmins: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Priests and scholars responsible for religious rituals and learning.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Kshatriyas: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Warriors and rulers responsible for protection and governance.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Vaishyas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Merchants and agriculturists responsible for commerce and agriculture.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Shudras: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Laborers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service providers responsible for serving the other three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varnas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Guilds and Communities: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addition to the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varna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system, there were various guilds and communities involved in different trades and crafts.</a:t>
            </a:r>
            <a:endParaRPr lang="en-IN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693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260648"/>
            <a:ext cx="11305256" cy="6391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Philosophy and Cosmology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Cosmic Order (Rita):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concept of cosmic order and natural law was central to Vedic thought. The rituals performed were believed to sustain this order.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 of Dharma: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Vedic texts introduced the idea of dharma, which refers to the ethical and moral principles guiding individual and societal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and Literature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Sanskrit: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Vedic texts were composed in an early form of Sanskrit, which became the classical language of Hinduism and Indian literature.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Poetry and Hymns(Mantra):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hymns(Mantra) and poetry of the Vedas are noted for their intricate structure and depth, reflecting a profound engagement with the divine and the natural world.</a:t>
            </a:r>
          </a:p>
        </p:txBody>
      </p:sp>
    </p:spTree>
    <p:extLst>
      <p:ext uri="{BB962C8B-B14F-4D97-AF65-F5344CB8AC3E}">
        <p14:creationId xmlns:p14="http://schemas.microsoft.com/office/powerpoint/2010/main" val="1514204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3352" y="332656"/>
            <a:ext cx="11521280" cy="6329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Education and Learning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Gurukula</a:t>
            </a: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Education was imparted through the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gurukula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system, where students lived with their teachers (gurus) and learned through oral transmission of knowledge, including Vedic hymns, rituals, and philosophies.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and Ritual Practices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Sacrificial Rituals: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Sacrifices (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yajnas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were performed to invoke blessings and </a:t>
            </a:r>
            <a:r>
              <a:rPr lang="en-IN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favor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gods. These rituals were meticulously prescribed and required various offerings.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Festivals and Celebrations: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Some of the festivals and rituals from the Vedic period continued to be important in later Hindu practices.</a:t>
            </a:r>
            <a:endParaRPr lang="en-IN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279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922-87EB-483D-8474-2C9330A0D92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7368" y="260648"/>
            <a:ext cx="11377264" cy="6391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Transition and Influence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 of the Vedic Period: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end of the Vedic period saw the rise of the Upanishads and the development of more abstract philosophical ideas, leading to the transition into the classical period of Hinduism.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Influence on Later Traditions: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Vedic culture profoundly influenced later Hindu practices, including the development of major Hindu epics like the Mahabharata and Ramayana, as well as other religious and philosophical traditions.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Archaeological and Literary Evidence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Excavations and Manuscripts: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Archaeological evidence, such as inscriptions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artifacts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alongside the extensive literary corpus of the Vedas, provides insights into Vedic culture and its practices.</a:t>
            </a:r>
          </a:p>
        </p:txBody>
      </p:sp>
    </p:spTree>
    <p:extLst>
      <p:ext uri="{BB962C8B-B14F-4D97-AF65-F5344CB8AC3E}">
        <p14:creationId xmlns:p14="http://schemas.microsoft.com/office/powerpoint/2010/main" val="1395461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3948</TotalTime>
  <Words>3509</Words>
  <Application>Microsoft Office PowerPoint</Application>
  <PresentationFormat>Widescreen</PresentationFormat>
  <Paragraphs>304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Black</vt:lpstr>
      <vt:lpstr>Calibri</vt:lpstr>
      <vt:lpstr>Kokila</vt:lpstr>
      <vt:lpstr>Mangal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Features of Indian culture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Topic&gt;</dc:title>
  <dc:creator>admin</dc:creator>
  <cp:lastModifiedBy>Admin</cp:lastModifiedBy>
  <cp:revision>126</cp:revision>
  <dcterms:created xsi:type="dcterms:W3CDTF">2020-06-30T05:06:42Z</dcterms:created>
  <dcterms:modified xsi:type="dcterms:W3CDTF">2025-10-16T11:23:12Z</dcterms:modified>
</cp:coreProperties>
</file>