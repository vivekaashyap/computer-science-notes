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1510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5795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07453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646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700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2075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29512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3958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9053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739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39952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79862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766183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59795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682904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7506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11/6/2025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819853415"/>
      </p:ext>
    </p:extLst>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 id="2147483889" r:id="rId12"/>
    <p:sldLayoutId id="2147483890" r:id="rId13"/>
    <p:sldLayoutId id="2147483891" r:id="rId14"/>
    <p:sldLayoutId id="2147483892" r:id="rId15"/>
    <p:sldLayoutId id="21474838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Yellow and blue symbols">
            <a:extLst>
              <a:ext uri="{FF2B5EF4-FFF2-40B4-BE49-F238E27FC236}">
                <a16:creationId xmlns:a16="http://schemas.microsoft.com/office/drawing/2014/main" id="{B43D7441-7711-5C84-4E74-264ACB7C428D}"/>
              </a:ext>
            </a:extLst>
          </p:cNvPr>
          <p:cNvPicPr>
            <a:picLocks noChangeAspect="1"/>
          </p:cNvPicPr>
          <p:nvPr/>
        </p:nvPicPr>
        <p:blipFill>
          <a:blip r:embed="rId2"/>
          <a:srcRect l="26171" r="28695" b="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p:cNvSpPr>
            <a:spLocks noGrp="1"/>
          </p:cNvSpPr>
          <p:nvPr>
            <p:ph type="ctrTitle"/>
          </p:nvPr>
        </p:nvSpPr>
        <p:spPr>
          <a:xfrm>
            <a:off x="4035422" y="1678665"/>
            <a:ext cx="2915879" cy="2372168"/>
          </a:xfrm>
        </p:spPr>
        <p:txBody>
          <a:bodyPr>
            <a:normAutofit/>
          </a:bodyPr>
          <a:lstStyle/>
          <a:p>
            <a:pPr>
              <a:lnSpc>
                <a:spcPct val="90000"/>
              </a:lnSpc>
              <a:defRPr sz="4600">
                <a:solidFill>
                  <a:srgbClr val="F7897A"/>
                </a:solidFill>
              </a:defRPr>
            </a:pPr>
            <a:r>
              <a:rPr lang="en-US" sz="3200" b="1" i="1" dirty="0">
                <a:latin typeface="Times New Roman" panose="02020603050405020304" pitchFamily="18" charset="0"/>
                <a:cs typeface="Times New Roman" panose="02020603050405020304" pitchFamily="18" charset="0"/>
              </a:rPr>
              <a:t>Expressing Opinions  based on </a:t>
            </a:r>
            <a:br>
              <a:rPr lang="en-US" sz="3200" b="1" i="1" dirty="0">
                <a:latin typeface="Times New Roman" panose="02020603050405020304" pitchFamily="18" charset="0"/>
                <a:cs typeface="Times New Roman" panose="02020603050405020304" pitchFamily="18" charset="0"/>
              </a:rPr>
            </a:br>
            <a:r>
              <a:rPr lang="en-US" sz="3200" b="1" i="1" dirty="0">
                <a:latin typeface="Times New Roman" panose="02020603050405020304" pitchFamily="18" charset="0"/>
                <a:cs typeface="Times New Roman" panose="02020603050405020304" pitchFamily="18" charset="0"/>
              </a:rPr>
              <a:t>Argumentative Texts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452718"/>
            <a:ext cx="7938854" cy="1400530"/>
          </a:xfrm>
        </p:spPr>
        <p:txBody>
          <a:bodyPr>
            <a:noAutofit/>
          </a:bodyPr>
          <a:lstStyle/>
          <a:p>
            <a:br>
              <a:rPr lang="en-IN" sz="2800" b="1" dirty="0">
                <a:solidFill>
                  <a:schemeClr val="tx1"/>
                </a:solidFill>
                <a:latin typeface="Times New Roman" panose="02020603050405020304" pitchFamily="18" charset="0"/>
                <a:cs typeface="Times New Roman" panose="02020603050405020304" pitchFamily="18" charset="0"/>
              </a:rPr>
            </a:br>
            <a:r>
              <a:rPr lang="en-IN" sz="2800" b="1" dirty="0">
                <a:solidFill>
                  <a:schemeClr val="tx1"/>
                </a:solidFill>
                <a:latin typeface="Times New Roman" panose="02020603050405020304" pitchFamily="18" charset="0"/>
                <a:cs typeface="Times New Roman" panose="02020603050405020304" pitchFamily="18" charset="0"/>
              </a:rPr>
              <a:t>"</a:t>
            </a:r>
            <a:r>
              <a:rPr lang="en-IN" sz="2800" dirty="0">
                <a:solidFill>
                  <a:schemeClr val="tx1"/>
                </a:solidFill>
                <a:latin typeface="Times New Roman" panose="02020603050405020304" pitchFamily="18" charset="0"/>
                <a:cs typeface="Times New Roman" panose="02020603050405020304" pitchFamily="18" charset="0"/>
              </a:rPr>
              <a:t>When you read a text or hear a debate, how do you decide whether you are ‘for’ or ‘against’ the view of the writer/ speaker?"</a:t>
            </a:r>
            <a:br>
              <a:rPr lang="en-IN" sz="2800" dirty="0">
                <a:solidFill>
                  <a:schemeClr val="tx1"/>
                </a:solidFill>
                <a:latin typeface="Times New Roman" panose="02020603050405020304" pitchFamily="18" charset="0"/>
                <a:cs typeface="Times New Roman" panose="02020603050405020304" pitchFamily="18" charset="0"/>
              </a:rPr>
            </a:b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598" y="2119746"/>
            <a:ext cx="7966365" cy="4322618"/>
          </a:xfrm>
        </p:spPr>
        <p:txBody>
          <a:bodyPr>
            <a:normAutofit/>
          </a:bodyPr>
          <a:lstStyle/>
          <a:p>
            <a:pPr marL="0" indent="0">
              <a:buNone/>
            </a:pPr>
            <a:endParaRPr lang="en-IN" sz="2800" b="1" dirty="0">
              <a:latin typeface="Times New Roman" panose="02020603050405020304" pitchFamily="18" charset="0"/>
              <a:cs typeface="Times New Roman" panose="02020603050405020304" pitchFamily="18" charset="0"/>
            </a:endParaRPr>
          </a:p>
          <a:p>
            <a:pPr marL="0" indent="0">
              <a:buNone/>
            </a:pPr>
            <a:r>
              <a:rPr lang="en-IN" sz="2800" b="1" dirty="0">
                <a:latin typeface="Times New Roman" panose="02020603050405020304" pitchFamily="18" charset="0"/>
                <a:cs typeface="Times New Roman" panose="02020603050405020304" pitchFamily="18" charset="0"/>
              </a:rPr>
              <a:t>“Is it based on a process of reasoning, or is it just a gut feeling?” </a:t>
            </a:r>
          </a:p>
          <a:p>
            <a:pPr marL="0" indent="0">
              <a:buNone/>
            </a:pPr>
            <a:endParaRPr lang="en-US" sz="2800" dirty="0">
              <a:solidFill>
                <a:schemeClr val="accent2"/>
              </a:solidFill>
              <a:latin typeface="Times New Roman" panose="02020603050405020304" pitchFamily="18" charset="0"/>
              <a:cs typeface="Times New Roman" panose="02020603050405020304" pitchFamily="18" charset="0"/>
            </a:endParaRPr>
          </a:p>
          <a:p>
            <a:pPr marL="0" indent="0">
              <a:buNone/>
            </a:pPr>
            <a:endParaRPr lang="en-IN" sz="2800" dirty="0">
              <a:solidFill>
                <a:schemeClr val="accent2"/>
              </a:solidFill>
              <a:latin typeface="Times New Roman" panose="02020603050405020304" pitchFamily="18" charset="0"/>
              <a:cs typeface="Times New Roman" panose="02020603050405020304" pitchFamily="18" charset="0"/>
            </a:endParaRPr>
          </a:p>
          <a:p>
            <a:pPr>
              <a:buClr>
                <a:schemeClr val="accent2"/>
              </a:buClr>
              <a:buFont typeface="Wingdings" panose="05000000000000000000" pitchFamily="2" charset="2"/>
              <a:buChar char="Ø"/>
            </a:pPr>
            <a:r>
              <a:rPr lang="en-US" sz="2800" dirty="0">
                <a:solidFill>
                  <a:schemeClr val="tx1"/>
                </a:solidFill>
                <a:latin typeface="Times New Roman" panose="02020603050405020304" pitchFamily="18" charset="0"/>
                <a:cs typeface="Times New Roman" panose="02020603050405020304" pitchFamily="18" charset="0"/>
              </a:rPr>
              <a:t>Read the following text to find the answer.</a:t>
            </a:r>
          </a:p>
          <a:p>
            <a:pPr marL="0" indent="0">
              <a:buClr>
                <a:schemeClr val="accent2"/>
              </a:buClr>
              <a:buNone/>
            </a:pPr>
            <a:endParaRPr lang="en-IN" sz="2800" b="1" i="1" dirty="0">
              <a:solidFill>
                <a:schemeClr val="accent2"/>
              </a:solidFill>
            </a:endParaRPr>
          </a:p>
        </p:txBody>
      </p:sp>
    </p:spTree>
    <p:extLst>
      <p:ext uri="{BB962C8B-B14F-4D97-AF65-F5344CB8AC3E}">
        <p14:creationId xmlns:p14="http://schemas.microsoft.com/office/powerpoint/2010/main" val="1208327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156238"/>
            <a:ext cx="7455616" cy="1320800"/>
          </a:xfrm>
        </p:spPr>
        <p:txBody>
          <a:bodyPr>
            <a:normAutofit/>
          </a:bodyPr>
          <a:lstStyle/>
          <a:p>
            <a:pPr algn="ctr"/>
            <a:r>
              <a:rPr lang="en-IN" sz="3200" b="1" u="sng" dirty="0">
                <a:latin typeface="Times New Roman" panose="02020603050405020304" pitchFamily="18" charset="0"/>
                <a:cs typeface="Times New Roman" panose="02020603050405020304" pitchFamily="18" charset="0"/>
              </a:rPr>
              <a:t>Should Social Media Be Restricted for Teenagers?</a:t>
            </a:r>
            <a:endParaRPr lang="en-IN" sz="3200" u="sng" dirty="0">
              <a:latin typeface="Times New Roman" panose="02020603050405020304" pitchFamily="18" charset="0"/>
              <a:cs typeface="Times New Roman" panose="02020603050405020304" pitchFamily="18" charset="0"/>
            </a:endParaRPr>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1000126" y="1396181"/>
            <a:ext cx="7681758" cy="5305581"/>
          </a:xfrm>
        </p:spPr>
        <p:txBody>
          <a:bodyPr>
            <a:normAutofit/>
          </a:bodyPr>
          <a:lstStyle/>
          <a:p>
            <a:pPr marL="0" indent="0" algn="just">
              <a:buNone/>
            </a:pPr>
            <a:r>
              <a:rPr lang="en-IN" sz="2400" dirty="0">
                <a:latin typeface="Times New Roman" panose="02020603050405020304" pitchFamily="18" charset="0"/>
                <a:cs typeface="Times New Roman" panose="02020603050405020304" pitchFamily="18" charset="0"/>
              </a:rPr>
              <a:t>In today’s world, social media has become an essential part of teenage life. Many teenagers spend hours scrolling through Instagram, TikTok, or Snapchat every day. While social media has its benefits, I believe that it should be restricted for teenagers because of the negative effects it can have on their mental health, productivity, and real-life relationships. Firstly, heavy use of social media can harm teenagers’ mental health. Constant exposure to unrealistic photos and lifestyles creates pressure to look or behave in a certain way. Studies suggest that teens who spend more time online often feel lonelier and more anxious compared to those who limit their use. Secondly, social media is a major distraction from schoolwork. Many students admit to checking their phones while studying or even during class. </a:t>
            </a:r>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431518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1000126" y="375209"/>
            <a:ext cx="7494945" cy="5666153"/>
          </a:xfrm>
        </p:spPr>
        <p:txBody>
          <a:bodyPr>
            <a:normAutofit lnSpcReduction="10000"/>
          </a:bodyPr>
          <a:lstStyle/>
          <a:p>
            <a:pPr marL="0" indent="0">
              <a:buNone/>
            </a:pPr>
            <a:r>
              <a:rPr lang="en-IN" sz="2600" dirty="0">
                <a:latin typeface="Times New Roman" panose="02020603050405020304" pitchFamily="18" charset="0"/>
                <a:cs typeface="Times New Roman" panose="02020603050405020304" pitchFamily="18" charset="0"/>
              </a:rPr>
              <a:t>Instead of focusing on learning, they end up spending hours online, which lowers their academic performance. Thirdly, social media can weaken real-life friendships. Teenagers may interact online but spend less time face-to-face. This reduces their ability to build deeper, more meaningful connections in the real world. Of course, some people argue that social media helps teens connect, learn new skills, and express themselves creatively. These are valid points. However, when use becomes excessive, the harms outweigh the benefits. Therefore, I believe social media should be restricted for teenagers—perhaps with time limits or parental controls. This would allow them to enjoy the advantages of social media while protecting their health, studies, and relationships. </a:t>
            </a:r>
          </a:p>
          <a:p>
            <a:endParaRPr lang="en-IN" dirty="0"/>
          </a:p>
          <a:p>
            <a:endParaRPr lang="en-IN" dirty="0"/>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678945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766" y="265471"/>
            <a:ext cx="6347713" cy="1320800"/>
          </a:xfrm>
        </p:spPr>
        <p:txBody>
          <a:bodyPr>
            <a:normAutofit fontScale="90000"/>
          </a:bodyPr>
          <a:lstStyle/>
          <a:p>
            <a:pPr algn="ctr"/>
            <a:r>
              <a:rPr lang="en-US" dirty="0"/>
              <a:t>	</a:t>
            </a:r>
            <a:r>
              <a:rPr lang="en-US" sz="3200" b="1" dirty="0">
                <a:latin typeface="Times New Roman" panose="02020603050405020304" pitchFamily="18" charset="0"/>
                <a:cs typeface="Times New Roman" panose="02020603050405020304" pitchFamily="18" charset="0"/>
              </a:rPr>
              <a:t>Now, try to answer the given questions:</a:t>
            </a:r>
            <a:br>
              <a:rPr lang="en-US" sz="3200" b="1" dirty="0">
                <a:latin typeface="Times New Roman" panose="02020603050405020304" pitchFamily="18" charset="0"/>
                <a:cs typeface="Times New Roman" panose="02020603050405020304" pitchFamily="18" charset="0"/>
              </a:rPr>
            </a:b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27699" y="1510145"/>
            <a:ext cx="7471173" cy="4738261"/>
          </a:xfrm>
        </p:spPr>
        <p:txBody>
          <a:bodyPr>
            <a:normAutofit/>
          </a:bodyPr>
          <a:lstStyle/>
          <a:p>
            <a:r>
              <a:rPr lang="en-US" sz="2800" dirty="0">
                <a:latin typeface="Times New Roman" panose="02020603050405020304" pitchFamily="18" charset="0"/>
                <a:cs typeface="Times New Roman" panose="02020603050405020304" pitchFamily="18" charset="0"/>
              </a:rPr>
              <a:t>What does the writer claim?</a:t>
            </a:r>
          </a:p>
          <a:p>
            <a:r>
              <a:rPr lang="en-US" sz="2800" dirty="0">
                <a:latin typeface="Times New Roman" panose="02020603050405020304" pitchFamily="18" charset="0"/>
                <a:cs typeface="Times New Roman" panose="02020603050405020304" pitchFamily="18" charset="0"/>
              </a:rPr>
              <a:t>Is there anything that supports its claim?</a:t>
            </a:r>
          </a:p>
          <a:p>
            <a:r>
              <a:rPr lang="en-US" sz="2800" dirty="0">
                <a:latin typeface="Times New Roman" panose="02020603050405020304" pitchFamily="18" charset="0"/>
                <a:cs typeface="Times New Roman" panose="02020603050405020304" pitchFamily="18" charset="0"/>
              </a:rPr>
              <a:t>Is there anything that opposes its claim?</a:t>
            </a:r>
          </a:p>
          <a:p>
            <a:r>
              <a:rPr lang="en-US" sz="2800" dirty="0">
                <a:latin typeface="Times New Roman" panose="02020603050405020304" pitchFamily="18" charset="0"/>
                <a:cs typeface="Times New Roman" panose="02020603050405020304" pitchFamily="18" charset="0"/>
              </a:rPr>
              <a:t>Do you agree with the writer, if yes/no, then why?</a:t>
            </a:r>
          </a:p>
          <a:p>
            <a:r>
              <a:rPr lang="en-US" sz="2800" dirty="0">
                <a:latin typeface="Times New Roman" panose="02020603050405020304" pitchFamily="18" charset="0"/>
                <a:cs typeface="Times New Roman" panose="02020603050405020304" pitchFamily="18" charset="0"/>
              </a:rPr>
              <a:t>Give a conclusion as per your understanding of the text.</a:t>
            </a:r>
          </a:p>
          <a:p>
            <a:endParaRPr lang="en-US" dirty="0"/>
          </a:p>
          <a:p>
            <a:endParaRPr lang="en-IN" dirty="0"/>
          </a:p>
        </p:txBody>
      </p:sp>
    </p:spTree>
    <p:extLst>
      <p:ext uri="{BB962C8B-B14F-4D97-AF65-F5344CB8AC3E}">
        <p14:creationId xmlns:p14="http://schemas.microsoft.com/office/powerpoint/2010/main" val="3297486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5" y="156238"/>
            <a:ext cx="7807325" cy="1320800"/>
          </a:xfrm>
        </p:spPr>
        <p:txBody>
          <a:bodyPr>
            <a:normAutofit/>
          </a:bodyPr>
          <a:lstStyle/>
          <a:p>
            <a:pPr algn="ctr"/>
            <a:r>
              <a:rPr lang="en-US" sz="3200" b="1" dirty="0">
                <a:latin typeface="Times New Roman" panose="02020603050405020304" pitchFamily="18" charset="0"/>
                <a:cs typeface="Times New Roman" panose="02020603050405020304" pitchFamily="18" charset="0"/>
              </a:rPr>
              <a:t>Should Social Media Be Restricted for Teenagers?  (Answers)</a:t>
            </a:r>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1000126" y="1477039"/>
            <a:ext cx="7612932" cy="4564324"/>
          </a:xfrm>
        </p:spPr>
        <p:txBody>
          <a:bodyPr>
            <a:normAutofit fontScale="92500" lnSpcReduction="10000"/>
          </a:bodyPr>
          <a:lstStyle/>
          <a:p>
            <a:pPr algn="just"/>
            <a:r>
              <a:rPr lang="en-US" sz="2800" b="1" dirty="0">
                <a:latin typeface="Times New Roman" panose="02020603050405020304" pitchFamily="18" charset="0"/>
                <a:cs typeface="Times New Roman" panose="02020603050405020304" pitchFamily="18" charset="0"/>
              </a:rPr>
              <a:t>Writer’s Claim</a:t>
            </a:r>
            <a:r>
              <a:rPr lang="en-US" sz="2800" dirty="0">
                <a:latin typeface="Times New Roman" panose="02020603050405020304" pitchFamily="18" charset="0"/>
                <a:cs typeface="Times New Roman" panose="02020603050405020304" pitchFamily="18" charset="0"/>
              </a:rPr>
              <a:t>: Social media should be restricted.</a:t>
            </a:r>
          </a:p>
          <a:p>
            <a:pPr algn="just"/>
            <a:r>
              <a:rPr lang="en-US" sz="2800" b="1" dirty="0">
                <a:latin typeface="Times New Roman" panose="02020603050405020304" pitchFamily="18" charset="0"/>
                <a:cs typeface="Times New Roman" panose="02020603050405020304" pitchFamily="18" charset="0"/>
              </a:rPr>
              <a:t>Supporting Arguments</a:t>
            </a:r>
            <a:r>
              <a:rPr lang="en-US" sz="2800" dirty="0">
                <a:latin typeface="Times New Roman" panose="02020603050405020304" pitchFamily="18" charset="0"/>
                <a:cs typeface="Times New Roman" panose="02020603050405020304" pitchFamily="18" charset="0"/>
              </a:rPr>
              <a:t>:</a:t>
            </a:r>
          </a:p>
          <a:p>
            <a:pPr marL="0" indent="0" algn="just">
              <a:buNone/>
            </a:pPr>
            <a:r>
              <a:rPr lang="en-US" sz="2800" dirty="0">
                <a:latin typeface="Times New Roman" panose="02020603050405020304" pitchFamily="18" charset="0"/>
                <a:cs typeface="Times New Roman" panose="02020603050405020304" pitchFamily="18" charset="0"/>
              </a:rPr>
              <a:t>   - Negatively impacts mental health and self-esteem.</a:t>
            </a:r>
          </a:p>
          <a:p>
            <a:pPr marL="0" indent="0" algn="just">
              <a:buNone/>
            </a:pPr>
            <a:r>
              <a:rPr lang="en-US" sz="2800" dirty="0">
                <a:latin typeface="Times New Roman" panose="02020603050405020304" pitchFamily="18" charset="0"/>
                <a:cs typeface="Times New Roman" panose="02020603050405020304" pitchFamily="18" charset="0"/>
              </a:rPr>
              <a:t>   - Causes distractions and reduces academic productivity.</a:t>
            </a:r>
          </a:p>
          <a:p>
            <a:pPr marL="0" indent="0" algn="just">
              <a:buNone/>
            </a:pPr>
            <a:r>
              <a:rPr lang="en-US" sz="2800" dirty="0">
                <a:latin typeface="Times New Roman" panose="02020603050405020304" pitchFamily="18" charset="0"/>
                <a:cs typeface="Times New Roman" panose="02020603050405020304" pitchFamily="18" charset="0"/>
              </a:rPr>
              <a:t>  - Weakens real-life interactions.</a:t>
            </a:r>
          </a:p>
          <a:p>
            <a:pPr algn="just"/>
            <a:r>
              <a:rPr lang="en-US" sz="2800" b="1" dirty="0">
                <a:latin typeface="Times New Roman" panose="02020603050405020304" pitchFamily="18" charset="0"/>
                <a:cs typeface="Times New Roman" panose="02020603050405020304" pitchFamily="18" charset="0"/>
              </a:rPr>
              <a:t>Counterargument</a:t>
            </a:r>
            <a:r>
              <a:rPr lang="en-US" sz="2800" dirty="0">
                <a:latin typeface="Times New Roman" panose="02020603050405020304" pitchFamily="18" charset="0"/>
                <a:cs typeface="Times New Roman" panose="02020603050405020304" pitchFamily="18" charset="0"/>
              </a:rPr>
              <a:t>: It helps teens connect, learn, and express creatively.</a:t>
            </a:r>
          </a:p>
          <a:p>
            <a:pPr algn="just"/>
            <a:r>
              <a:rPr lang="en-US" sz="2800" b="1" dirty="0">
                <a:latin typeface="Times New Roman" panose="02020603050405020304" pitchFamily="18" charset="0"/>
                <a:cs typeface="Times New Roman" panose="02020603050405020304" pitchFamily="18" charset="0"/>
              </a:rPr>
              <a:t>Conclusion</a:t>
            </a:r>
            <a:r>
              <a:rPr lang="en-US" sz="2800" dirty="0">
                <a:latin typeface="Times New Roman" panose="02020603050405020304" pitchFamily="18" charset="0"/>
                <a:cs typeface="Times New Roman" panose="02020603050405020304" pitchFamily="18" charset="0"/>
              </a:rPr>
              <a:t>: While benefits exist, excessive use causes more harm than good.</a:t>
            </a:r>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609600"/>
            <a:ext cx="6447501" cy="1320800"/>
          </a:xfrm>
        </p:spPr>
        <p:txBody>
          <a:bodyPr>
            <a:normAutofit/>
          </a:bodyPr>
          <a:lstStyle/>
          <a:p>
            <a:r>
              <a:rPr lang="en-US" b="1"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Introduction</a:t>
            </a:r>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1000126" y="2160589"/>
            <a:ext cx="7573603" cy="3880773"/>
          </a:xfrm>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Forming opinions based on argumentative texts is a process of understanding, analyzing and articulating perspectives in a structured way. This process helps readers develop critical thinking and balanced viewpoints while evaluating debates or written arguments</a:t>
            </a:r>
            <a:r>
              <a:rPr lang="en-US" dirty="0">
                <a:latin typeface="Times New Roman" panose="02020603050405020304" pitchFamily="18" charset="0"/>
                <a:cs typeface="Times New Roman" panose="02020603050405020304" pitchFamily="18" charset="0"/>
              </a:rPr>
              <a:t>.</a:t>
            </a:r>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804816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962" y="1179151"/>
            <a:ext cx="2475485" cy="4463889"/>
          </a:xfrm>
        </p:spPr>
        <p:txBody>
          <a:bodyPr anchor="ctr">
            <a:normAutofit/>
          </a:bodyPr>
          <a:lstStyle/>
          <a:p>
            <a:r>
              <a:rPr lang="en-US" sz="3200" b="1" dirty="0">
                <a:latin typeface="Times New Roman" panose="02020603050405020304" pitchFamily="18" charset="0"/>
                <a:cs typeface="Times New Roman" panose="02020603050405020304" pitchFamily="18" charset="0"/>
              </a:rPr>
              <a:t>Analyzing the Text:</a:t>
            </a:r>
          </a:p>
        </p:txBody>
      </p:sp>
      <p:sp>
        <p:nvSpPr>
          <p:cNvPr id="10" name="Isosceles Triangle 9">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336549"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2502"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26558" y="489711"/>
            <a:ext cx="4755762" cy="5527629"/>
          </a:xfrm>
        </p:spPr>
        <p:txBody>
          <a:bodyPr anchor="ctr">
            <a:normAutofit/>
          </a:bodyPr>
          <a:lstStyle/>
          <a:p>
            <a:pPr marL="0" indent="0">
              <a:buNone/>
            </a:pPr>
            <a:endParaRPr dirty="0"/>
          </a:p>
          <a:p>
            <a:r>
              <a:rPr lang="en-US" sz="2800" dirty="0">
                <a:latin typeface="Times New Roman" panose="02020603050405020304" pitchFamily="18" charset="0"/>
                <a:cs typeface="Times New Roman" panose="02020603050405020304" pitchFamily="18" charset="0"/>
              </a:rPr>
              <a:t>Identify </a:t>
            </a:r>
            <a:r>
              <a:rPr lang="en-US" sz="2800" b="1" u="sng" dirty="0">
                <a:latin typeface="Times New Roman" panose="02020603050405020304" pitchFamily="18" charset="0"/>
                <a:cs typeface="Times New Roman" panose="02020603050405020304" pitchFamily="18" charset="0"/>
              </a:rPr>
              <a:t>the author’s claim</a:t>
            </a:r>
            <a:r>
              <a:rPr lang="en-US" sz="2800" u="sng"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the thesis statement</a:t>
            </a:r>
          </a:p>
          <a:p>
            <a:r>
              <a:rPr lang="en-US" sz="2800" dirty="0">
                <a:latin typeface="Times New Roman" panose="02020603050405020304" pitchFamily="18" charset="0"/>
                <a:cs typeface="Times New Roman" panose="02020603050405020304" pitchFamily="18" charset="0"/>
              </a:rPr>
              <a:t>Look </a:t>
            </a:r>
            <a:r>
              <a:rPr lang="en-US" sz="2800" b="1" u="sng" dirty="0">
                <a:latin typeface="Times New Roman" panose="02020603050405020304" pitchFamily="18" charset="0"/>
                <a:cs typeface="Times New Roman" panose="02020603050405020304" pitchFamily="18" charset="0"/>
              </a:rPr>
              <a:t>for supporting arguments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reasons and evidence</a:t>
            </a:r>
          </a:p>
          <a:p>
            <a:r>
              <a:rPr lang="en-US" sz="2800" dirty="0">
                <a:latin typeface="Times New Roman" panose="02020603050405020304" pitchFamily="18" charset="0"/>
                <a:cs typeface="Times New Roman" panose="02020603050405020304" pitchFamily="18" charset="0"/>
              </a:rPr>
              <a:t>Note </a:t>
            </a:r>
            <a:r>
              <a:rPr lang="en-US" sz="2800" b="1" u="sng" dirty="0">
                <a:latin typeface="Times New Roman" panose="02020603050405020304" pitchFamily="18" charset="0"/>
                <a:cs typeface="Times New Roman" panose="02020603050405020304" pitchFamily="18" charset="0"/>
              </a:rPr>
              <a:t>counterarguments</a:t>
            </a:r>
            <a:r>
              <a:rPr lang="en-US" sz="2800" dirty="0">
                <a:latin typeface="Times New Roman" panose="02020603050405020304" pitchFamily="18" charset="0"/>
                <a:cs typeface="Times New Roman" panose="02020603050405020304" pitchFamily="18" charset="0"/>
              </a:rPr>
              <a:t> that challenge the main view</a:t>
            </a:r>
          </a:p>
          <a:p>
            <a:r>
              <a:rPr lang="en-US" sz="2800" dirty="0">
                <a:latin typeface="Times New Roman" panose="02020603050405020304" pitchFamily="18" charset="0"/>
                <a:cs typeface="Times New Roman" panose="02020603050405020304" pitchFamily="18" charset="0"/>
              </a:rPr>
              <a:t>Evaluate how effectively </a:t>
            </a:r>
            <a:r>
              <a:rPr lang="en-US" sz="2800" b="1" u="sng" dirty="0">
                <a:latin typeface="Times New Roman" panose="02020603050405020304" pitchFamily="18" charset="0"/>
                <a:cs typeface="Times New Roman" panose="02020603050405020304" pitchFamily="18" charset="0"/>
              </a:rPr>
              <a:t>the author responds to those counterarguments</a:t>
            </a:r>
            <a:r>
              <a:rPr lang="en-US" sz="2800" dirty="0">
                <a:latin typeface="Times New Roman" panose="02020603050405020304" pitchFamily="18" charset="0"/>
                <a:cs typeface="Times New Roman" panose="02020603050405020304" pitchFamily="18" charset="0"/>
              </a:rPr>
              <a:t>.</a:t>
            </a:r>
          </a:p>
        </p:txBody>
      </p:sp>
      <p:sp>
        <p:nvSpPr>
          <p:cNvPr id="14" name="Isosceles Triangle 13">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523104" y="0"/>
            <a:ext cx="631947"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845559"/>
            <a:ext cx="6347713" cy="928255"/>
          </a:xfrm>
        </p:spPr>
        <p:txBody>
          <a:bodyPr>
            <a:normAutofit/>
          </a:bodyPr>
          <a:lstStyle/>
          <a:p>
            <a:pPr algn="ctr"/>
            <a:r>
              <a:rPr lang="en-US" sz="3200" b="1">
                <a:latin typeface="Times New Roman" panose="02020603050405020304" pitchFamily="18" charset="0"/>
                <a:cs typeface="Times New Roman" panose="02020603050405020304" pitchFamily="18" charset="0"/>
              </a:rPr>
              <a:t>Structure of Writing an Opinion:</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72481" y="1773814"/>
            <a:ext cx="7523374" cy="4419601"/>
          </a:xfrm>
        </p:spPr>
        <p:txBody>
          <a:bodyPr>
            <a:noAutofit/>
          </a:bodyPr>
          <a:lstStyle/>
          <a:p>
            <a:pPr marL="457200" indent="-457200">
              <a:buFont typeface="+mj-lt"/>
              <a:buAutoNum type="arabicPeriod"/>
            </a:pPr>
            <a:r>
              <a:rPr lang="en-US" sz="2800" b="1">
                <a:latin typeface="Times New Roman" panose="02020603050405020304" pitchFamily="18" charset="0"/>
                <a:cs typeface="Times New Roman" panose="02020603050405020304" pitchFamily="18" charset="0"/>
              </a:rPr>
              <a:t>Introduce your opinion or stance</a:t>
            </a:r>
            <a:r>
              <a:rPr lang="en-US" sz="2800">
                <a:latin typeface="Times New Roman" panose="02020603050405020304" pitchFamily="18" charset="0"/>
                <a:cs typeface="Times New Roman" panose="02020603050405020304" pitchFamily="18" charset="0"/>
              </a:rPr>
              <a:t> - do you agree/ disagree/ partly agree, etc.</a:t>
            </a:r>
          </a:p>
          <a:p>
            <a:pPr marL="457200" indent="-457200">
              <a:buFont typeface="+mj-lt"/>
              <a:buAutoNum type="arabicPeriod"/>
            </a:pPr>
            <a:r>
              <a:rPr lang="en-US" sz="2800" b="1">
                <a:latin typeface="Times New Roman" panose="02020603050405020304" pitchFamily="18" charset="0"/>
                <a:cs typeface="Times New Roman" panose="02020603050405020304" pitchFamily="18" charset="0"/>
              </a:rPr>
              <a:t>Reasons</a:t>
            </a:r>
            <a:r>
              <a:rPr lang="en-US" sz="2800">
                <a:latin typeface="Times New Roman" panose="02020603050405020304" pitchFamily="18" charset="0"/>
                <a:cs typeface="Times New Roman" panose="02020603050405020304" pitchFamily="18" charset="0"/>
              </a:rPr>
              <a:t> – give strong supporting points with evidences for your opinion</a:t>
            </a:r>
          </a:p>
          <a:p>
            <a:pPr marL="457200" indent="-457200">
              <a:buFont typeface="+mj-lt"/>
              <a:buAutoNum type="arabicPeriod"/>
            </a:pPr>
            <a:r>
              <a:rPr lang="en-US" sz="2800" b="1">
                <a:latin typeface="Times New Roman" panose="02020603050405020304" pitchFamily="18" charset="0"/>
                <a:cs typeface="Times New Roman" panose="02020603050405020304" pitchFamily="18" charset="0"/>
              </a:rPr>
              <a:t>Counterargument </a:t>
            </a:r>
            <a:r>
              <a:rPr lang="en-US" sz="2800">
                <a:latin typeface="Times New Roman" panose="02020603050405020304" pitchFamily="18" charset="0"/>
                <a:cs typeface="Times New Roman" panose="02020603050405020304" pitchFamily="18" charset="0"/>
              </a:rPr>
              <a:t>– acknowledge and address the opposing views</a:t>
            </a:r>
          </a:p>
          <a:p>
            <a:pPr marL="457200" indent="-457200">
              <a:buFont typeface="+mj-lt"/>
              <a:buAutoNum type="arabicPeriod"/>
            </a:pPr>
            <a:r>
              <a:rPr lang="en-US" sz="2800" b="1">
                <a:latin typeface="Times New Roman" panose="02020603050405020304" pitchFamily="18" charset="0"/>
                <a:cs typeface="Times New Roman" panose="02020603050405020304" pitchFamily="18" charset="0"/>
              </a:rPr>
              <a:t>Conclusion</a:t>
            </a:r>
            <a:r>
              <a:rPr lang="en-US" sz="2800">
                <a:latin typeface="Times New Roman" panose="02020603050405020304" pitchFamily="18" charset="0"/>
                <a:cs typeface="Times New Roman" panose="02020603050405020304" pitchFamily="18" charset="0"/>
              </a:rPr>
              <a:t> – restate your stance confidently with a summary</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3200" b="1" dirty="0">
                <a:latin typeface="Times New Roman" panose="02020603050405020304" pitchFamily="18" charset="0"/>
                <a:cs typeface="Times New Roman" panose="02020603050405020304" pitchFamily="18" charset="0"/>
              </a:rPr>
              <a:t>Using Evidence in Arguments</a:t>
            </a:r>
            <a:r>
              <a:rPr lang="en-US" sz="3200" b="1" dirty="0">
                <a:latin typeface="Times New Roman" panose="02020603050405020304" pitchFamily="18" charset="0"/>
                <a:cs typeface="Times New Roman" panose="02020603050405020304" pitchFamily="18" charset="0"/>
              </a:rPr>
              <a:t>:</a:t>
            </a:r>
            <a:endParaRPr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28435" y="1690689"/>
            <a:ext cx="7622837" cy="4419600"/>
          </a:xfrm>
        </p:spPr>
        <p:txBody>
          <a:bodyPr>
            <a:normAutofit fontScale="92500"/>
          </a:bodyPr>
          <a:lstStyle/>
          <a:p>
            <a:pPr marL="0" indent="0">
              <a:buNone/>
            </a:pPr>
            <a:r>
              <a:rPr sz="2800" b="1" dirty="0">
                <a:latin typeface="Times New Roman" panose="02020603050405020304" pitchFamily="18" charset="0"/>
                <a:cs typeface="Times New Roman" panose="02020603050405020304" pitchFamily="18" charset="0"/>
              </a:rPr>
              <a:t>Support your </a:t>
            </a:r>
            <a:r>
              <a:rPr lang="en-US" sz="2800" b="1" dirty="0">
                <a:latin typeface="Times New Roman" panose="02020603050405020304" pitchFamily="18" charset="0"/>
                <a:cs typeface="Times New Roman" panose="02020603050405020304" pitchFamily="18" charset="0"/>
              </a:rPr>
              <a:t>opinion</a:t>
            </a:r>
            <a:r>
              <a:rPr sz="2800" b="1" dirty="0">
                <a:latin typeface="Times New Roman" panose="02020603050405020304" pitchFamily="18" charset="0"/>
                <a:cs typeface="Times New Roman" panose="02020603050405020304" pitchFamily="18" charset="0"/>
              </a:rPr>
              <a:t> with relevant textual evidence</a:t>
            </a:r>
            <a:r>
              <a:rPr lang="en-US" sz="2800" b="1" dirty="0">
                <a:latin typeface="Times New Roman" panose="02020603050405020304" pitchFamily="18" charset="0"/>
                <a:cs typeface="Times New Roman" panose="02020603050405020304" pitchFamily="18" charset="0"/>
              </a:rPr>
              <a:t>:</a:t>
            </a:r>
            <a:endParaRPr sz="2800" b="1"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q</a:t>
            </a:r>
            <a:r>
              <a:rPr sz="2800" dirty="0">
                <a:latin typeface="Times New Roman" panose="02020603050405020304" pitchFamily="18" charset="0"/>
                <a:cs typeface="Times New Roman" panose="02020603050405020304" pitchFamily="18" charset="0"/>
              </a:rPr>
              <a:t>uote or reference </a:t>
            </a:r>
            <a:r>
              <a:rPr lang="en-US" sz="2800" dirty="0">
                <a:latin typeface="Times New Roman" panose="02020603050405020304" pitchFamily="18" charset="0"/>
                <a:cs typeface="Times New Roman" panose="02020603050405020304" pitchFamily="18" charset="0"/>
              </a:rPr>
              <a:t>specific </a:t>
            </a:r>
            <a:r>
              <a:rPr sz="2800" dirty="0">
                <a:latin typeface="Times New Roman" panose="02020603050405020304" pitchFamily="18" charset="0"/>
                <a:cs typeface="Times New Roman" panose="02020603050405020304" pitchFamily="18" charset="0"/>
              </a:rPr>
              <a:t>part</a:t>
            </a:r>
            <a:r>
              <a:rPr lang="en-US" sz="2800" dirty="0">
                <a:latin typeface="Times New Roman" panose="02020603050405020304" pitchFamily="18" charset="0"/>
                <a:cs typeface="Times New Roman" panose="02020603050405020304" pitchFamily="18" charset="0"/>
              </a:rPr>
              <a:t>/</a:t>
            </a:r>
            <a:r>
              <a:rPr sz="2800" dirty="0">
                <a:latin typeface="Times New Roman" panose="02020603050405020304" pitchFamily="18" charset="0"/>
                <a:cs typeface="Times New Roman" panose="02020603050405020304" pitchFamily="18" charset="0"/>
              </a:rPr>
              <a:t>s of the text t</a:t>
            </a:r>
            <a:r>
              <a:rPr lang="en-US" sz="2800" dirty="0">
                <a:latin typeface="Times New Roman" panose="02020603050405020304" pitchFamily="18" charset="0"/>
                <a:cs typeface="Times New Roman" panose="02020603050405020304" pitchFamily="18" charset="0"/>
              </a:rPr>
              <a:t>o </a:t>
            </a:r>
            <a:r>
              <a:rPr sz="2800" dirty="0">
                <a:latin typeface="Times New Roman" panose="02020603050405020304" pitchFamily="18" charset="0"/>
                <a:cs typeface="Times New Roman" panose="02020603050405020304" pitchFamily="18" charset="0"/>
              </a:rPr>
              <a:t>strengthen your argument</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ground arguments in evidence rather than</a:t>
            </a:r>
            <a:r>
              <a:rPr sz="2800" dirty="0">
                <a:latin typeface="Times New Roman" panose="02020603050405020304" pitchFamily="18" charset="0"/>
                <a:cs typeface="Times New Roman" panose="02020603050405020304" pitchFamily="18" charset="0"/>
              </a:rPr>
              <a:t> personal bias; rely on logic and facts</a:t>
            </a:r>
          </a:p>
          <a:p>
            <a:pPr marL="0" indent="0">
              <a:buNone/>
            </a:pPr>
            <a:r>
              <a:rPr sz="2800" b="1" dirty="0">
                <a:latin typeface="Times New Roman" panose="02020603050405020304" pitchFamily="18" charset="0"/>
                <a:cs typeface="Times New Roman" panose="02020603050405020304" pitchFamily="18" charset="0"/>
              </a:rPr>
              <a:t>Include credible outside sources for additional validation</a:t>
            </a:r>
            <a:r>
              <a:rPr lang="en-US" sz="2800" b="1"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allow to incorporate other credible source/s to strengthen your arguments</a:t>
            </a:r>
          </a:p>
          <a:p>
            <a:pPr marL="0" indent="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37171" y="156238"/>
            <a:ext cx="4818330" cy="1320800"/>
          </a:xfrm>
        </p:spPr>
        <p:txBody>
          <a:bodyPr>
            <a:normAutofit/>
          </a:bodyPr>
          <a:lstStyle/>
          <a:p>
            <a:r>
              <a:rPr lang="en-US" sz="3200" b="1" dirty="0">
                <a:latin typeface="Times New Roman" panose="02020603050405020304" pitchFamily="18" charset="0"/>
                <a:cs typeface="Times New Roman" panose="02020603050405020304" pitchFamily="18" charset="0"/>
              </a:rPr>
              <a:t>Be Politically Correct:</a:t>
            </a:r>
          </a:p>
        </p:txBody>
      </p:sp>
      <p:pic>
        <p:nvPicPr>
          <p:cNvPr id="5" name="Picture 4">
            <a:extLst>
              <a:ext uri="{FF2B5EF4-FFF2-40B4-BE49-F238E27FC236}">
                <a16:creationId xmlns:a16="http://schemas.microsoft.com/office/drawing/2014/main" id="{35E1505D-51B6-2341-CFE1-29F05E3E84D0}"/>
              </a:ext>
            </a:extLst>
          </p:cNvPr>
          <p:cNvPicPr>
            <a:picLocks noChangeAspect="1"/>
          </p:cNvPicPr>
          <p:nvPr/>
        </p:nvPicPr>
        <p:blipFill>
          <a:blip r:embed="rId2"/>
          <a:srcRect l="32745" r="50461" b="-1"/>
          <a:stretch>
            <a:fillRect/>
          </a:stretch>
        </p:blipFill>
        <p:spPr>
          <a:xfrm>
            <a:off x="20" y="10"/>
            <a:ext cx="2050522"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9" name="Isosceles Triangle 8">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357491"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2137171" y="1042219"/>
            <a:ext cx="4818330" cy="4999143"/>
          </a:xfrm>
        </p:spPr>
        <p:txBody>
          <a:bodyPr>
            <a:normAutofit fontScale="92500" lnSpcReduction="20000"/>
          </a:bodyPr>
          <a:lstStyle/>
          <a:p>
            <a:pPr marL="0" indent="0" algn="just">
              <a:lnSpc>
                <a:spcPct val="90000"/>
              </a:lnSpc>
              <a:buNone/>
            </a:pPr>
            <a:r>
              <a:rPr lang="en-US" sz="2400" dirty="0">
                <a:latin typeface="Times New Roman" panose="02020603050405020304" pitchFamily="18" charset="0"/>
                <a:cs typeface="Times New Roman" panose="02020603050405020304" pitchFamily="18" charset="0"/>
              </a:rPr>
              <a:t>When constructing an argument, specially on topics that might be sensitive or polarizing, such as self-expression in the age of social media, it is important to ensure that your language and ideas are </a:t>
            </a:r>
            <a:r>
              <a:rPr lang="en-US" sz="2400" b="1" dirty="0">
                <a:latin typeface="Times New Roman" panose="02020603050405020304" pitchFamily="18" charset="0"/>
                <a:cs typeface="Times New Roman" panose="02020603050405020304" pitchFamily="18" charset="0"/>
              </a:rPr>
              <a:t>politically correct</a:t>
            </a:r>
            <a:r>
              <a:rPr lang="en-US" sz="2400" dirty="0">
                <a:latin typeface="Times New Roman" panose="02020603050405020304" pitchFamily="18" charset="0"/>
                <a:cs typeface="Times New Roman" panose="02020603050405020304" pitchFamily="18" charset="0"/>
              </a:rPr>
              <a:t>:</a:t>
            </a:r>
          </a:p>
          <a:p>
            <a:pPr marL="0" indent="0" algn="just">
              <a:lnSpc>
                <a:spcPct val="90000"/>
              </a:lnSpc>
              <a:buNone/>
            </a:pPr>
            <a:endParaRPr lang="en-US" sz="2400" dirty="0">
              <a:latin typeface="Times New Roman" panose="02020603050405020304" pitchFamily="18" charset="0"/>
              <a:cs typeface="Times New Roman" panose="02020603050405020304" pitchFamily="18" charset="0"/>
            </a:endParaRPr>
          </a:p>
          <a:p>
            <a:pPr algn="just">
              <a:lnSpc>
                <a:spcPct val="90000"/>
              </a:lnSpc>
            </a:pPr>
            <a:r>
              <a:rPr lang="en-US" sz="2400" dirty="0">
                <a:latin typeface="Times New Roman" panose="02020603050405020304" pitchFamily="18" charset="0"/>
                <a:cs typeface="Times New Roman" panose="02020603050405020304" pitchFamily="18" charset="0"/>
              </a:rPr>
              <a:t>respect diversity of opinion </a:t>
            </a:r>
          </a:p>
          <a:p>
            <a:pPr algn="just">
              <a:lnSpc>
                <a:spcPct val="90000"/>
              </a:lnSpc>
            </a:pPr>
            <a:r>
              <a:rPr lang="en-US" sz="2400" dirty="0">
                <a:latin typeface="Times New Roman" panose="02020603050405020304" pitchFamily="18" charset="0"/>
                <a:cs typeface="Times New Roman" panose="02020603050405020304" pitchFamily="18" charset="0"/>
              </a:rPr>
              <a:t>avoid absolutes and generalization </a:t>
            </a:r>
          </a:p>
          <a:p>
            <a:pPr algn="just">
              <a:lnSpc>
                <a:spcPct val="90000"/>
              </a:lnSpc>
            </a:pPr>
            <a:r>
              <a:rPr lang="en-US" sz="2400" dirty="0">
                <a:latin typeface="Times New Roman" panose="02020603050405020304" pitchFamily="18" charset="0"/>
                <a:cs typeface="Times New Roman" panose="02020603050405020304" pitchFamily="18" charset="0"/>
              </a:rPr>
              <a:t>use inclusive language</a:t>
            </a:r>
          </a:p>
          <a:p>
            <a:pPr algn="just">
              <a:lnSpc>
                <a:spcPct val="90000"/>
              </a:lnSpc>
            </a:pPr>
            <a:r>
              <a:rPr lang="en-US" sz="2400" dirty="0">
                <a:latin typeface="Times New Roman" panose="02020603050405020304" pitchFamily="18" charset="0"/>
                <a:cs typeface="Times New Roman" panose="02020603050405020304" pitchFamily="18" charset="0"/>
              </a:rPr>
              <a:t>acknowledge other perspectives with empathy</a:t>
            </a:r>
          </a:p>
          <a:p>
            <a:pPr algn="just">
              <a:lnSpc>
                <a:spcPct val="90000"/>
              </a:lnSpc>
            </a:pPr>
            <a:r>
              <a:rPr lang="en-US" sz="2400" dirty="0">
                <a:latin typeface="Times New Roman" panose="02020603050405020304" pitchFamily="18" charset="0"/>
                <a:cs typeface="Times New Roman" panose="02020603050405020304" pitchFamily="18" charset="0"/>
              </a:rPr>
              <a:t>avoid loaded terms</a:t>
            </a:r>
          </a:p>
          <a:p>
            <a:pPr algn="just">
              <a:lnSpc>
                <a:spcPct val="90000"/>
              </a:lnSpc>
            </a:pPr>
            <a:r>
              <a:rPr lang="en-US" sz="2400" dirty="0">
                <a:latin typeface="Times New Roman" panose="02020603050405020304" pitchFamily="18" charset="0"/>
                <a:cs typeface="Times New Roman" panose="02020603050405020304" pitchFamily="18" charset="0"/>
              </a:rPr>
              <a:t>promote constructive dialogue</a:t>
            </a:r>
          </a:p>
          <a:p>
            <a:pPr algn="just">
              <a:lnSpc>
                <a:spcPct val="90000"/>
              </a:lnSpc>
            </a:pPr>
            <a:r>
              <a:rPr lang="en-US" sz="2400" dirty="0">
                <a:latin typeface="Times New Roman" panose="02020603050405020304" pitchFamily="18" charset="0"/>
                <a:cs typeface="Times New Roman" panose="02020603050405020304" pitchFamily="18" charset="0"/>
              </a:rPr>
              <a:t>use neutral and objective language</a:t>
            </a: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2764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444" y="1224107"/>
            <a:ext cx="7886700" cy="1325563"/>
          </a:xfrm>
        </p:spPr>
        <p:txBody>
          <a:bodyPr>
            <a:normAutofit/>
          </a:bodyPr>
          <a:lstStyle/>
          <a:p>
            <a:pPr algn="ctr"/>
            <a:r>
              <a:rPr lang="en-US" sz="3200" b="1" dirty="0">
                <a:latin typeface="Times New Roman" panose="02020603050405020304" pitchFamily="18" charset="0"/>
                <a:cs typeface="Times New Roman" panose="02020603050405020304" pitchFamily="18" charset="0"/>
              </a:rPr>
              <a:t>Creating</a:t>
            </a:r>
            <a:r>
              <a:rPr sz="3200" b="1" dirty="0">
                <a:latin typeface="Times New Roman" panose="02020603050405020304" pitchFamily="18" charset="0"/>
                <a:cs typeface="Times New Roman" panose="02020603050405020304" pitchFamily="18" charset="0"/>
              </a:rPr>
              <a:t> a Balanced Opinion</a:t>
            </a:r>
            <a:r>
              <a:rPr lang="en-US" sz="3200" b="1" dirty="0">
                <a:latin typeface="Times New Roman" panose="02020603050405020304" pitchFamily="18" charset="0"/>
                <a:cs typeface="Times New Roman" panose="02020603050405020304" pitchFamily="18" charset="0"/>
              </a:rPr>
              <a:t>:</a:t>
            </a:r>
            <a:endParaRPr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28435" y="2286000"/>
            <a:ext cx="7539709" cy="3990111"/>
          </a:xfrm>
        </p:spPr>
        <p:txBody>
          <a:bodyPr>
            <a:normAutofit/>
          </a:bodyPr>
          <a:lstStyle/>
          <a:p>
            <a:r>
              <a:rPr lang="en-US" sz="2800" dirty="0">
                <a:latin typeface="Times New Roman" panose="02020603050405020304" pitchFamily="18" charset="0"/>
                <a:cs typeface="Times New Roman" panose="02020603050405020304" pitchFamily="18" charset="0"/>
              </a:rPr>
              <a:t>avoid extreme positions unless strongly justified</a:t>
            </a:r>
          </a:p>
          <a:p>
            <a:r>
              <a:rPr lang="en-US" sz="2800" dirty="0">
                <a:latin typeface="Times New Roman" panose="02020603050405020304" pitchFamily="18" charset="0"/>
                <a:cs typeface="Times New Roman" panose="02020603050405020304" pitchFamily="18" charset="0"/>
              </a:rPr>
              <a:t>appreciate the complexity of issues and present a balanced opinion that considers multiple viewpoints</a:t>
            </a:r>
          </a:p>
          <a:p>
            <a:r>
              <a:rPr lang="en-US" sz="2800" dirty="0">
                <a:latin typeface="Times New Roman" panose="02020603050405020304" pitchFamily="18" charset="0"/>
                <a:cs typeface="Times New Roman" panose="02020603050405020304" pitchFamily="18" charset="0"/>
              </a:rPr>
              <a:t>be open to debates or discussions</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3200" b="1" dirty="0">
                <a:latin typeface="Times New Roman" panose="02020603050405020304" pitchFamily="18" charset="0"/>
                <a:cs typeface="Times New Roman" panose="02020603050405020304" pitchFamily="18" charset="0"/>
              </a:rPr>
              <a:t>Example of a Balanced Opinion</a:t>
            </a:r>
            <a:r>
              <a:rPr lang="en-US" sz="3200" b="1" dirty="0">
                <a:latin typeface="Times New Roman" panose="02020603050405020304" pitchFamily="18" charset="0"/>
                <a:cs typeface="Times New Roman" panose="02020603050405020304" pitchFamily="18" charset="0"/>
              </a:rPr>
              <a:t>: </a:t>
            </a:r>
            <a:endParaRPr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74905" y="1690689"/>
            <a:ext cx="7540445" cy="4308765"/>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Based on the same topic- “Should social media be restricted for teenagers?”</a:t>
            </a:r>
          </a:p>
          <a:p>
            <a:r>
              <a:rPr lang="en-US" sz="2800" dirty="0">
                <a:latin typeface="Times New Roman" panose="02020603050405020304" pitchFamily="18" charset="0"/>
                <a:cs typeface="Times New Roman" panose="02020603050405020304" pitchFamily="18" charset="0"/>
              </a:rPr>
              <a:t>“I partly agree that social media should be restricted for teenagers. Excessive use causes distraction, isolation, physical and mental stress but a total ban is impractical in this modern digital world. Time limits and parental guidance could help maintain a balance between creativity, connection, and discipline.” </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5897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7700" y="840645"/>
            <a:ext cx="7055380" cy="1400530"/>
          </a:xfrm>
        </p:spPr>
        <p:txBody>
          <a:bodyPr>
            <a:normAutofit/>
          </a:bodyPr>
          <a:lstStyle/>
          <a:p>
            <a:pPr algn="ctr"/>
            <a:r>
              <a:rPr lang="en-IN" sz="3200" b="1" u="sng" dirty="0">
                <a:latin typeface="Times New Roman" panose="02020603050405020304" pitchFamily="18" charset="0"/>
                <a:cs typeface="Times New Roman" panose="02020603050405020304" pitchFamily="18" charset="0"/>
              </a:rPr>
              <a:t>Conclusion</a:t>
            </a:r>
            <a:endParaRPr sz="3200"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27700" y="2052925"/>
            <a:ext cx="7443464" cy="3849111"/>
          </a:xfrm>
        </p:spPr>
        <p:txBody>
          <a:bodyPr>
            <a:noAutofit/>
          </a:bodyPr>
          <a:lstStyle/>
          <a:p>
            <a:pPr marL="0" indent="0">
              <a:buNone/>
            </a:pPr>
            <a:r>
              <a:rPr lang="en-US" sz="2800" dirty="0">
                <a:latin typeface="Times New Roman" panose="02020603050405020304" pitchFamily="18" charset="0"/>
                <a:cs typeface="Times New Roman" panose="02020603050405020304" pitchFamily="18" charset="0"/>
              </a:rPr>
              <a:t>Forming opinions based on argumentative texts require understanding, analyzing, reasoning, evidence, and open-mindedness. By evaluating different perspectives and using credible evidences, we can form balanced and thoughtful opinions that reflect both logic and empathy.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84312" y="157317"/>
            <a:ext cx="7807324" cy="734351"/>
          </a:xfrm>
        </p:spPr>
        <p:txBody>
          <a:bodyPr>
            <a:normAutofit/>
          </a:bodyPr>
          <a:lstStyle/>
          <a:p>
            <a:pPr algn="ctr"/>
            <a:r>
              <a:rPr lang="en-US" sz="3200" b="1" dirty="0">
                <a:latin typeface="Times New Roman" panose="02020603050405020304" pitchFamily="18" charset="0"/>
                <a:cs typeface="Times New Roman" panose="02020603050405020304" pitchFamily="18" charset="0"/>
              </a:rPr>
              <a:t>Argumentative Text for Practice</a:t>
            </a:r>
            <a:endParaRPr lang="en-IN" sz="3200" b="1" dirty="0">
              <a:latin typeface="Times New Roman" panose="02020603050405020304" pitchFamily="18" charset="0"/>
              <a:cs typeface="Times New Roman" panose="02020603050405020304" pitchFamily="18" charset="0"/>
            </a:endParaRPr>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1000126" y="1048985"/>
            <a:ext cx="7652261" cy="4992377"/>
          </a:xfrm>
        </p:spPr>
        <p:txBody>
          <a:bodyPr>
            <a:normAutofit fontScale="92500" lnSpcReduction="10000"/>
          </a:bodyPr>
          <a:lstStyle/>
          <a:p>
            <a:pPr marL="0" indent="0">
              <a:lnSpc>
                <a:spcPct val="90000"/>
              </a:lnSpc>
              <a:buNone/>
            </a:pPr>
            <a:endParaRPr lang="en-IN" dirty="0"/>
          </a:p>
          <a:p>
            <a:pPr marL="0" indent="0" algn="just">
              <a:lnSpc>
                <a:spcPct val="90000"/>
              </a:lnSpc>
              <a:buNone/>
            </a:pPr>
            <a:r>
              <a:rPr lang="en-IN" sz="2800" b="1" dirty="0">
                <a:latin typeface="Times New Roman" panose="02020603050405020304" pitchFamily="18" charset="0"/>
                <a:cs typeface="Times New Roman" panose="02020603050405020304" pitchFamily="18" charset="0"/>
              </a:rPr>
              <a:t>Should Artificial Intelligence be allowed to make decisions in critical areas?</a:t>
            </a:r>
            <a:endParaRPr lang="en-IN" sz="2800" dirty="0">
              <a:latin typeface="Times New Roman" panose="02020603050405020304" pitchFamily="18" charset="0"/>
              <a:cs typeface="Times New Roman" panose="02020603050405020304" pitchFamily="18" charset="0"/>
            </a:endParaRPr>
          </a:p>
          <a:p>
            <a:pPr marL="0" indent="0" algn="just">
              <a:lnSpc>
                <a:spcPct val="90000"/>
              </a:lnSpc>
              <a:buNone/>
            </a:pPr>
            <a:r>
              <a:rPr lang="en-IN" sz="2800" dirty="0">
                <a:latin typeface="Times New Roman" panose="02020603050405020304" pitchFamily="18" charset="0"/>
                <a:cs typeface="Times New Roman" panose="02020603050405020304" pitchFamily="18" charset="0"/>
              </a:rPr>
              <a:t>Artificial Intelligence (AI) is rapidly changing industries, from manufacturing to healthcare. Supporters of AI argue that it should be allowed to make decisions in critical areas such as medicine, law enforcement, and finance, because machines are often faster, more accurate, and free from human bias. However, there are serious concerns about relying too heavily on AI for decisions that affect human lives.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The first reason to allow AI in decision-making is efficiency. AI systems can process vast amounts of data in seconds, far beyond human capacity. </a:t>
            </a:r>
            <a:br>
              <a:rPr lang="en-IN" sz="2800" dirty="0"/>
            </a:br>
            <a:endParaRPr lang="en-IN" sz="2800" dirty="0"/>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106043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1000126" y="375208"/>
            <a:ext cx="7632597" cy="6340223"/>
          </a:xfrm>
        </p:spPr>
        <p:txBody>
          <a:bodyPr>
            <a:normAutofit fontScale="85000" lnSpcReduction="20000"/>
          </a:bodyPr>
          <a:lstStyle/>
          <a:p>
            <a:pPr marL="0" indent="0" algn="just">
              <a:lnSpc>
                <a:spcPct val="120000"/>
              </a:lnSpc>
              <a:buNone/>
            </a:pPr>
            <a:endParaRPr lang="en-IN" sz="2800" dirty="0"/>
          </a:p>
          <a:p>
            <a:pPr marL="0" indent="0" algn="just">
              <a:lnSpc>
                <a:spcPct val="120000"/>
              </a:lnSpc>
              <a:buNone/>
            </a:pPr>
            <a:r>
              <a:rPr lang="en-IN" sz="2800" dirty="0">
                <a:latin typeface="Times New Roman" panose="02020603050405020304" pitchFamily="18" charset="0"/>
                <a:cs typeface="Times New Roman" panose="02020603050405020304" pitchFamily="18" charset="0"/>
              </a:rPr>
              <a:t>For example, in medical diagnostics, AI can quickly scan thousands of patient records to identify disease patterns, which helps doctors make faster and more accurate diagnoses. Similarly, in finance, AI algorithms can detect fraudulent transactions in real time, protecting both companies and customers.</a:t>
            </a:r>
          </a:p>
          <a:p>
            <a:pPr marL="0" indent="0" algn="just">
              <a:lnSpc>
                <a:spcPct val="120000"/>
              </a:lnSpc>
              <a:buNone/>
            </a:pP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Another argument is that AI can reduce human error. Human decisions are often influenced by fatigue, emotions, or unconscious bias. An AI system, on the other hand, follows logic consistently. For instance, in law enforcement, AI-powered surveillance can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video footage more objectively than a tired police officer.</a:t>
            </a:r>
          </a:p>
          <a:p>
            <a:pPr marL="0" indent="0" algn="just">
              <a:lnSpc>
                <a:spcPct val="120000"/>
              </a:lnSpc>
              <a:buNone/>
            </a:pPr>
            <a:br>
              <a:rPr lang="en-IN" sz="2800" dirty="0"/>
            </a:br>
            <a:endParaRPr lang="en-IN" sz="2800" dirty="0"/>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145031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1000126" y="235975"/>
            <a:ext cx="7807324" cy="5805388"/>
          </a:xfrm>
        </p:spPr>
        <p:txBody>
          <a:bodyPr>
            <a:normAutofit fontScale="92500" lnSpcReduction="10000"/>
          </a:bodyPr>
          <a:lstStyle/>
          <a:p>
            <a:pPr algn="just">
              <a:lnSpc>
                <a:spcPct val="90000"/>
              </a:lnSpc>
            </a:pPr>
            <a:endParaRPr lang="en-IN" sz="2800" dirty="0"/>
          </a:p>
          <a:p>
            <a:pPr marL="0" indent="0" algn="just">
              <a:lnSpc>
                <a:spcPct val="90000"/>
              </a:lnSpc>
              <a:buNone/>
            </a:pPr>
            <a:r>
              <a:rPr lang="en-IN" sz="2800" dirty="0">
                <a:latin typeface="Times New Roman" panose="02020603050405020304" pitchFamily="18" charset="0"/>
                <a:cs typeface="Times New Roman" panose="02020603050405020304" pitchFamily="18" charset="0"/>
              </a:rPr>
              <a:t>However, critics argue that AI decisions can be flawed because they are only as good as the data they are trained on. If the data contains bias, the AI will repeat it—sometimes with dangerous results. In addition, AI lacks moral judgment and empathy, qualities that are essential in areas like medicine and criminal justice. For example, an AI system might suggest denying a loan based on statistical patterns, without considering the personal circumstances of the applicant.</a:t>
            </a:r>
          </a:p>
          <a:p>
            <a:pPr marL="0" indent="0" algn="just">
              <a:lnSpc>
                <a:spcPct val="90000"/>
              </a:lnSpc>
              <a:buNone/>
            </a:pPr>
            <a:br>
              <a:rPr lang="en-IN" sz="2800" dirty="0">
                <a:latin typeface="Times New Roman" panose="02020603050405020304" pitchFamily="18" charset="0"/>
                <a:cs typeface="Times New Roman" panose="02020603050405020304" pitchFamily="18" charset="0"/>
              </a:rPr>
            </a:b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Therefore, while AI can support human decision-making, it should not replace it completely. The best approach may be to combine the speed and efficiency of AI with the ethical judgment and empathy of humans.</a:t>
            </a:r>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1639088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
  <TotalTime>0</TotalTime>
  <Words>1256</Words>
  <Application>Microsoft Office PowerPoint</Application>
  <PresentationFormat>On-screen Show (4:3)</PresentationFormat>
  <Paragraphs>74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Times New Roman</vt:lpstr>
      <vt:lpstr>Trebuchet MS</vt:lpstr>
      <vt:lpstr>Wingdings</vt:lpstr>
      <vt:lpstr>Wingdings 3</vt:lpstr>
      <vt:lpstr>Facet</vt:lpstr>
      <vt:lpstr>Expressing Opinions  based on  Argumentative Texts</vt:lpstr>
      <vt:lpstr> "When you read a text or hear a debate, how do you decide whether you are ‘for’ or ‘against’ the view of the writer/ speaker?" </vt:lpstr>
      <vt:lpstr>Should Social Media Be Restricted for Teenagers?</vt:lpstr>
      <vt:lpstr>PowerPoint Presentation</vt:lpstr>
      <vt:lpstr> Now, try to answer the given questions: </vt:lpstr>
      <vt:lpstr>Should Social Media Be Restricted for Teenagers?  (Answers)</vt:lpstr>
      <vt:lpstr>   Introduction</vt:lpstr>
      <vt:lpstr>Analyzing the Text:</vt:lpstr>
      <vt:lpstr>Structure of Writing an Opinion:</vt:lpstr>
      <vt:lpstr>Using Evidence in Arguments:</vt:lpstr>
      <vt:lpstr>Be Politically Correct:</vt:lpstr>
      <vt:lpstr>Creating a Balanced Opinion:</vt:lpstr>
      <vt:lpstr>Example of a Balanced Opinion: </vt:lpstr>
      <vt:lpstr>Conclusion</vt:lpstr>
      <vt:lpstr>Argumentative Text for Practice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Atul Aman</cp:lastModifiedBy>
  <cp:revision>1</cp:revision>
  <dcterms:modified xsi:type="dcterms:W3CDTF">2025-11-06T15:38:42Z</dcterms:modified>
</cp:coreProperties>
</file>