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119"/>
  </p:notesMasterIdLst>
  <p:handoutMasterIdLst>
    <p:handoutMasterId r:id="rId120"/>
  </p:handoutMasterIdLst>
  <p:sldIdLst>
    <p:sldId id="424" r:id="rId2"/>
    <p:sldId id="331" r:id="rId3"/>
    <p:sldId id="332" r:id="rId4"/>
    <p:sldId id="333" r:id="rId5"/>
    <p:sldId id="334" r:id="rId6"/>
    <p:sldId id="335" r:id="rId7"/>
    <p:sldId id="336" r:id="rId8"/>
    <p:sldId id="337" r:id="rId9"/>
    <p:sldId id="338" r:id="rId10"/>
    <p:sldId id="501" r:id="rId11"/>
    <p:sldId id="502" r:id="rId12"/>
    <p:sldId id="503" r:id="rId13"/>
    <p:sldId id="504" r:id="rId14"/>
    <p:sldId id="505" r:id="rId15"/>
    <p:sldId id="472" r:id="rId16"/>
    <p:sldId id="481" r:id="rId17"/>
    <p:sldId id="482" r:id="rId18"/>
    <p:sldId id="483" r:id="rId19"/>
    <p:sldId id="484" r:id="rId20"/>
    <p:sldId id="485" r:id="rId21"/>
    <p:sldId id="486" r:id="rId22"/>
    <p:sldId id="339" r:id="rId23"/>
    <p:sldId id="340" r:id="rId24"/>
    <p:sldId id="400" r:id="rId25"/>
    <p:sldId id="401" r:id="rId26"/>
    <p:sldId id="402" r:id="rId27"/>
    <p:sldId id="403" r:id="rId28"/>
    <p:sldId id="404" r:id="rId29"/>
    <p:sldId id="405" r:id="rId30"/>
    <p:sldId id="406" r:id="rId31"/>
    <p:sldId id="407" r:id="rId32"/>
    <p:sldId id="408" r:id="rId33"/>
    <p:sldId id="409" r:id="rId34"/>
    <p:sldId id="410" r:id="rId35"/>
    <p:sldId id="411" r:id="rId36"/>
    <p:sldId id="412" r:id="rId37"/>
    <p:sldId id="413" r:id="rId38"/>
    <p:sldId id="414" r:id="rId39"/>
    <p:sldId id="415" r:id="rId40"/>
    <p:sldId id="416" r:id="rId41"/>
    <p:sldId id="417" r:id="rId42"/>
    <p:sldId id="418" r:id="rId43"/>
    <p:sldId id="419" r:id="rId44"/>
    <p:sldId id="420" r:id="rId45"/>
    <p:sldId id="421" r:id="rId46"/>
    <p:sldId id="422" r:id="rId47"/>
    <p:sldId id="495" r:id="rId48"/>
    <p:sldId id="341" r:id="rId49"/>
    <p:sldId id="344" r:id="rId50"/>
    <p:sldId id="343" r:id="rId51"/>
    <p:sldId id="487" r:id="rId52"/>
    <p:sldId id="488" r:id="rId53"/>
    <p:sldId id="489" r:id="rId54"/>
    <p:sldId id="490" r:id="rId55"/>
    <p:sldId id="491" r:id="rId56"/>
    <p:sldId id="492" r:id="rId57"/>
    <p:sldId id="493" r:id="rId58"/>
    <p:sldId id="494" r:id="rId59"/>
    <p:sldId id="496" r:id="rId60"/>
    <p:sldId id="497" r:id="rId61"/>
    <p:sldId id="498" r:id="rId62"/>
    <p:sldId id="499" r:id="rId63"/>
    <p:sldId id="500" r:id="rId64"/>
    <p:sldId id="426" r:id="rId65"/>
    <p:sldId id="256" r:id="rId66"/>
    <p:sldId id="283" r:id="rId67"/>
    <p:sldId id="257" r:id="rId68"/>
    <p:sldId id="284" r:id="rId69"/>
    <p:sldId id="285" r:id="rId70"/>
    <p:sldId id="286" r:id="rId71"/>
    <p:sldId id="287" r:id="rId72"/>
    <p:sldId id="288" r:id="rId73"/>
    <p:sldId id="353" r:id="rId74"/>
    <p:sldId id="289" r:id="rId75"/>
    <p:sldId id="290" r:id="rId76"/>
    <p:sldId id="291" r:id="rId77"/>
    <p:sldId id="292" r:id="rId78"/>
    <p:sldId id="293" r:id="rId79"/>
    <p:sldId id="294" r:id="rId80"/>
    <p:sldId id="295" r:id="rId81"/>
    <p:sldId id="296" r:id="rId82"/>
    <p:sldId id="297" r:id="rId83"/>
    <p:sldId id="354" r:id="rId84"/>
    <p:sldId id="439" r:id="rId85"/>
    <p:sldId id="366" r:id="rId86"/>
    <p:sldId id="441" r:id="rId87"/>
    <p:sldId id="442" r:id="rId88"/>
    <p:sldId id="369" r:id="rId89"/>
    <p:sldId id="370" r:id="rId90"/>
    <p:sldId id="444" r:id="rId91"/>
    <p:sldId id="371" r:id="rId92"/>
    <p:sldId id="446" r:id="rId93"/>
    <p:sldId id="447" r:id="rId94"/>
    <p:sldId id="448" r:id="rId95"/>
    <p:sldId id="449" r:id="rId96"/>
    <p:sldId id="450" r:id="rId97"/>
    <p:sldId id="451" r:id="rId98"/>
    <p:sldId id="452" r:id="rId99"/>
    <p:sldId id="453" r:id="rId100"/>
    <p:sldId id="454" r:id="rId101"/>
    <p:sldId id="455" r:id="rId102"/>
    <p:sldId id="456" r:id="rId103"/>
    <p:sldId id="457" r:id="rId104"/>
    <p:sldId id="458" r:id="rId105"/>
    <p:sldId id="459" r:id="rId106"/>
    <p:sldId id="460" r:id="rId107"/>
    <p:sldId id="461" r:id="rId108"/>
    <p:sldId id="462" r:id="rId109"/>
    <p:sldId id="463" r:id="rId110"/>
    <p:sldId id="464" r:id="rId111"/>
    <p:sldId id="465" r:id="rId112"/>
    <p:sldId id="466" r:id="rId113"/>
    <p:sldId id="467" r:id="rId114"/>
    <p:sldId id="468" r:id="rId115"/>
    <p:sldId id="469" r:id="rId116"/>
    <p:sldId id="470" r:id="rId117"/>
    <p:sldId id="471" r:id="rId118"/>
  </p:sldIdLst>
  <p:sldSz cx="9144000" cy="6858000" type="screen4x3"/>
  <p:notesSz cx="7034213" cy="92837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66CC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27" autoAdjust="0"/>
  </p:normalViewPr>
  <p:slideViewPr>
    <p:cSldViewPr>
      <p:cViewPr>
        <p:scale>
          <a:sx n="78" d="100"/>
          <a:sy n="78" d="100"/>
        </p:scale>
        <p:origin x="868" y="-4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27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bwMode="auto">
          <a:xfrm>
            <a:off x="0" y="0"/>
            <a:ext cx="3068638" cy="457200"/>
          </a:xfrm>
          <a:prstGeom prst="rect">
            <a:avLst/>
          </a:prstGeom>
          <a:noFill/>
          <a:ln w="9525">
            <a:noFill/>
            <a:miter lim="800000"/>
            <a:headEnd/>
            <a:tailEnd/>
          </a:ln>
          <a:effectLst/>
        </p:spPr>
        <p:txBody>
          <a:bodyPr vert="horz" wrap="square" lIns="91155" tIns="45578" rIns="91155" bIns="45578" numCol="1" anchor="t" anchorCtr="0" compatLnSpc="1">
            <a:prstTxWarp prst="textNoShape">
              <a:avLst/>
            </a:prstTxWarp>
          </a:bodyPr>
          <a:lstStyle>
            <a:lvl1pPr defTabSz="912813" eaLnBrk="0" hangingPunct="0">
              <a:defRPr sz="1200">
                <a:latin typeface="Helvetica" pitchFamily="34" charset="0"/>
              </a:defRPr>
            </a:lvl1pPr>
          </a:lstStyle>
          <a:p>
            <a:endParaRPr lang="en-US"/>
          </a:p>
        </p:txBody>
      </p:sp>
      <p:sp>
        <p:nvSpPr>
          <p:cNvPr id="125955" name="Rectangle 3"/>
          <p:cNvSpPr>
            <a:spLocks noGrp="1" noChangeArrowheads="1"/>
          </p:cNvSpPr>
          <p:nvPr>
            <p:ph type="dt" sz="quarter" idx="1"/>
          </p:nvPr>
        </p:nvSpPr>
        <p:spPr bwMode="auto">
          <a:xfrm>
            <a:off x="3990975" y="0"/>
            <a:ext cx="3068638" cy="457200"/>
          </a:xfrm>
          <a:prstGeom prst="rect">
            <a:avLst/>
          </a:prstGeom>
          <a:noFill/>
          <a:ln w="9525">
            <a:noFill/>
            <a:miter lim="800000"/>
            <a:headEnd/>
            <a:tailEnd/>
          </a:ln>
          <a:effectLst/>
        </p:spPr>
        <p:txBody>
          <a:bodyPr vert="horz" wrap="square" lIns="91155" tIns="45578" rIns="91155" bIns="45578" numCol="1" anchor="t" anchorCtr="0" compatLnSpc="1">
            <a:prstTxWarp prst="textNoShape">
              <a:avLst/>
            </a:prstTxWarp>
          </a:bodyPr>
          <a:lstStyle>
            <a:lvl1pPr algn="r" defTabSz="912813" eaLnBrk="0" hangingPunct="0">
              <a:defRPr sz="1200">
                <a:latin typeface="Helvetica" pitchFamily="34" charset="0"/>
              </a:defRPr>
            </a:lvl1pPr>
          </a:lstStyle>
          <a:p>
            <a:endParaRPr lang="en-US"/>
          </a:p>
        </p:txBody>
      </p:sp>
      <p:sp>
        <p:nvSpPr>
          <p:cNvPr id="125956" name="Rectangle 4"/>
          <p:cNvSpPr>
            <a:spLocks noGrp="1" noChangeArrowheads="1"/>
          </p:cNvSpPr>
          <p:nvPr>
            <p:ph type="ftr" sz="quarter" idx="2"/>
          </p:nvPr>
        </p:nvSpPr>
        <p:spPr bwMode="auto">
          <a:xfrm>
            <a:off x="0" y="8840788"/>
            <a:ext cx="3068638" cy="457200"/>
          </a:xfrm>
          <a:prstGeom prst="rect">
            <a:avLst/>
          </a:prstGeom>
          <a:noFill/>
          <a:ln w="9525">
            <a:noFill/>
            <a:miter lim="800000"/>
            <a:headEnd/>
            <a:tailEnd/>
          </a:ln>
          <a:effectLst/>
        </p:spPr>
        <p:txBody>
          <a:bodyPr vert="horz" wrap="square" lIns="91155" tIns="45578" rIns="91155" bIns="45578" numCol="1" anchor="b" anchorCtr="0" compatLnSpc="1">
            <a:prstTxWarp prst="textNoShape">
              <a:avLst/>
            </a:prstTxWarp>
          </a:bodyPr>
          <a:lstStyle>
            <a:lvl1pPr defTabSz="912813" eaLnBrk="0" hangingPunct="0">
              <a:defRPr sz="1200">
                <a:latin typeface="Helvetica" pitchFamily="34" charset="0"/>
              </a:defRPr>
            </a:lvl1pPr>
          </a:lstStyle>
          <a:p>
            <a:endParaRPr lang="en-US"/>
          </a:p>
        </p:txBody>
      </p:sp>
      <p:sp>
        <p:nvSpPr>
          <p:cNvPr id="125957" name="Rectangle 5"/>
          <p:cNvSpPr>
            <a:spLocks noGrp="1" noChangeArrowheads="1"/>
          </p:cNvSpPr>
          <p:nvPr>
            <p:ph type="sldNum" sz="quarter" idx="3"/>
          </p:nvPr>
        </p:nvSpPr>
        <p:spPr bwMode="auto">
          <a:xfrm>
            <a:off x="3990975" y="8840788"/>
            <a:ext cx="3068638" cy="457200"/>
          </a:xfrm>
          <a:prstGeom prst="rect">
            <a:avLst/>
          </a:prstGeom>
          <a:noFill/>
          <a:ln w="9525">
            <a:noFill/>
            <a:miter lim="800000"/>
            <a:headEnd/>
            <a:tailEnd/>
          </a:ln>
          <a:effectLst/>
        </p:spPr>
        <p:txBody>
          <a:bodyPr vert="horz" wrap="square" lIns="91155" tIns="45578" rIns="91155" bIns="45578" numCol="1" anchor="b" anchorCtr="0" compatLnSpc="1">
            <a:prstTxWarp prst="textNoShape">
              <a:avLst/>
            </a:prstTxWarp>
          </a:bodyPr>
          <a:lstStyle>
            <a:lvl1pPr algn="r" defTabSz="912813" eaLnBrk="0" hangingPunct="0">
              <a:defRPr sz="1200">
                <a:latin typeface="Helvetica" pitchFamily="34" charset="0"/>
              </a:defRPr>
            </a:lvl1pPr>
          </a:lstStyle>
          <a:p>
            <a:fld id="{9084C7BD-5D58-4C0F-B654-A857AC16375B}"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3048000" cy="463550"/>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lvl1pPr defTabSz="927100" eaLnBrk="0" hangingPunct="0">
              <a:defRPr sz="1200">
                <a:latin typeface="Helvetica" pitchFamily="34" charset="0"/>
              </a:defRPr>
            </a:lvl1pPr>
          </a:lstStyle>
          <a:p>
            <a:endParaRPr lang="en-US"/>
          </a:p>
        </p:txBody>
      </p:sp>
      <p:sp>
        <p:nvSpPr>
          <p:cNvPr id="122883" name="Rectangle 3"/>
          <p:cNvSpPr>
            <a:spLocks noGrp="1" noChangeArrowheads="1"/>
          </p:cNvSpPr>
          <p:nvPr>
            <p:ph type="dt" idx="1"/>
          </p:nvPr>
        </p:nvSpPr>
        <p:spPr bwMode="auto">
          <a:xfrm>
            <a:off x="3986213" y="0"/>
            <a:ext cx="3048000" cy="463550"/>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lvl1pPr algn="r" defTabSz="927100" eaLnBrk="0" hangingPunct="0">
              <a:defRPr sz="1200">
                <a:latin typeface="Helvetica" pitchFamily="34" charset="0"/>
              </a:defRPr>
            </a:lvl1pPr>
          </a:lstStyle>
          <a:p>
            <a:endParaRPr lang="en-US"/>
          </a:p>
        </p:txBody>
      </p:sp>
      <p:sp>
        <p:nvSpPr>
          <p:cNvPr id="122884" name="Rectangle 4"/>
          <p:cNvSpPr>
            <a:spLocks noGrp="1" noRot="1" noChangeAspect="1" noChangeArrowheads="1" noTextEdit="1"/>
          </p:cNvSpPr>
          <p:nvPr>
            <p:ph type="sldImg" idx="2"/>
          </p:nvPr>
        </p:nvSpPr>
        <p:spPr bwMode="auto">
          <a:xfrm>
            <a:off x="1195388" y="696913"/>
            <a:ext cx="4641850" cy="3481387"/>
          </a:xfrm>
          <a:prstGeom prst="rect">
            <a:avLst/>
          </a:prstGeom>
          <a:noFill/>
          <a:ln w="9525">
            <a:solidFill>
              <a:srgbClr val="000000"/>
            </a:solidFill>
            <a:miter lim="800000"/>
            <a:headEnd/>
            <a:tailEnd/>
          </a:ln>
          <a:effectLst/>
        </p:spPr>
      </p:sp>
      <p:sp>
        <p:nvSpPr>
          <p:cNvPr id="122885" name="Rectangle 5"/>
          <p:cNvSpPr>
            <a:spLocks noGrp="1" noChangeArrowheads="1"/>
          </p:cNvSpPr>
          <p:nvPr>
            <p:ph type="body" sz="quarter" idx="3"/>
          </p:nvPr>
        </p:nvSpPr>
        <p:spPr bwMode="auto">
          <a:xfrm>
            <a:off x="936625" y="4410075"/>
            <a:ext cx="5160963" cy="4176713"/>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2886" name="Rectangle 6"/>
          <p:cNvSpPr>
            <a:spLocks noGrp="1" noChangeArrowheads="1"/>
          </p:cNvSpPr>
          <p:nvPr>
            <p:ph type="ftr" sz="quarter" idx="4"/>
          </p:nvPr>
        </p:nvSpPr>
        <p:spPr bwMode="auto">
          <a:xfrm>
            <a:off x="0" y="8820150"/>
            <a:ext cx="3048000" cy="463550"/>
          </a:xfrm>
          <a:prstGeom prst="rect">
            <a:avLst/>
          </a:prstGeom>
          <a:noFill/>
          <a:ln w="9525">
            <a:noFill/>
            <a:miter lim="800000"/>
            <a:headEnd/>
            <a:tailEnd/>
          </a:ln>
          <a:effectLst/>
        </p:spPr>
        <p:txBody>
          <a:bodyPr vert="horz" wrap="square" lIns="92659" tIns="46329" rIns="92659" bIns="46329" numCol="1" anchor="b" anchorCtr="0" compatLnSpc="1">
            <a:prstTxWarp prst="textNoShape">
              <a:avLst/>
            </a:prstTxWarp>
          </a:bodyPr>
          <a:lstStyle>
            <a:lvl1pPr defTabSz="927100" eaLnBrk="0" hangingPunct="0">
              <a:defRPr sz="1200">
                <a:latin typeface="Helvetica" pitchFamily="34" charset="0"/>
              </a:defRPr>
            </a:lvl1pPr>
          </a:lstStyle>
          <a:p>
            <a:endParaRPr lang="en-US"/>
          </a:p>
        </p:txBody>
      </p:sp>
      <p:sp>
        <p:nvSpPr>
          <p:cNvPr id="122887" name="Rectangle 7"/>
          <p:cNvSpPr>
            <a:spLocks noGrp="1" noChangeArrowheads="1"/>
          </p:cNvSpPr>
          <p:nvPr>
            <p:ph type="sldNum" sz="quarter" idx="5"/>
          </p:nvPr>
        </p:nvSpPr>
        <p:spPr bwMode="auto">
          <a:xfrm>
            <a:off x="3986213" y="8820150"/>
            <a:ext cx="3048000" cy="463550"/>
          </a:xfrm>
          <a:prstGeom prst="rect">
            <a:avLst/>
          </a:prstGeom>
          <a:noFill/>
          <a:ln w="9525">
            <a:noFill/>
            <a:miter lim="800000"/>
            <a:headEnd/>
            <a:tailEnd/>
          </a:ln>
          <a:effectLst/>
        </p:spPr>
        <p:txBody>
          <a:bodyPr vert="horz" wrap="square" lIns="92659" tIns="46329" rIns="92659" bIns="46329" numCol="1" anchor="b" anchorCtr="0" compatLnSpc="1">
            <a:prstTxWarp prst="textNoShape">
              <a:avLst/>
            </a:prstTxWarp>
          </a:bodyPr>
          <a:lstStyle>
            <a:lvl1pPr algn="r" defTabSz="927100" eaLnBrk="0" hangingPunct="0">
              <a:defRPr sz="1200">
                <a:latin typeface="Helvetica" pitchFamily="34" charset="0"/>
              </a:defRPr>
            </a:lvl1pPr>
          </a:lstStyle>
          <a:p>
            <a:fld id="{6A20769B-55DF-4D11-8190-6688131E578E}" type="slidenum">
              <a:rPr lang="en-US"/>
              <a:pPr/>
              <a:t>‹#›</a:t>
            </a:fld>
            <a:endParaRPr lang="en-US"/>
          </a:p>
        </p:txBody>
      </p:sp>
    </p:spTree>
    <p:extLst>
      <p:ext uri="{BB962C8B-B14F-4D97-AF65-F5344CB8AC3E}">
        <p14:creationId xmlns:p14="http://schemas.microsoft.com/office/powerpoint/2010/main" val="32070988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31237238-907B-4C57-A1A0-CFB0A0B2A3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C342ABE-9144-419E-9348-282F79510D68}" type="slidenum">
              <a:rPr lang="en-US" altLang="en-US"/>
              <a:pPr>
                <a:spcBef>
                  <a:spcPct val="0"/>
                </a:spcBef>
              </a:pPr>
              <a:t>64</a:t>
            </a:fld>
            <a:endParaRPr lang="en-US" altLang="en-US"/>
          </a:p>
        </p:txBody>
      </p:sp>
      <p:sp>
        <p:nvSpPr>
          <p:cNvPr id="7171" name="Rectangle 2">
            <a:extLst>
              <a:ext uri="{FF2B5EF4-FFF2-40B4-BE49-F238E27FC236}">
                <a16:creationId xmlns:a16="http://schemas.microsoft.com/office/drawing/2014/main" id="{C20FF8F8-E2B3-4D20-81FC-B8238EA58F16}"/>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572D93AB-3B2E-4D03-B83C-41FF076CF8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32DA6779-6938-4436-B3C9-E19A8CAD1ECC}"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defRPr/>
            </a:lvl1pPr>
          </a:lstStyle>
          <a:p>
            <a:fld id="{7534A891-829E-4EC4-B1BC-3785A7F7C2D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0CA776EC-3B81-4326-AD94-E0EE3D6EFA2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cpe 252: Computer Organization</a:t>
            </a:r>
          </a:p>
        </p:txBody>
      </p:sp>
      <p:sp>
        <p:nvSpPr>
          <p:cNvPr id="9" name="Slide Number Placeholder 8"/>
          <p:cNvSpPr>
            <a:spLocks noGrp="1"/>
          </p:cNvSpPr>
          <p:nvPr>
            <p:ph type="sldNum" sz="quarter" idx="12"/>
          </p:nvPr>
        </p:nvSpPr>
        <p:spPr/>
        <p:txBody>
          <a:bodyPr/>
          <a:lstStyle>
            <a:lvl1pPr>
              <a:defRPr/>
            </a:lvl1pPr>
          </a:lstStyle>
          <a:p>
            <a:fld id="{CFA9799E-C7E5-4B00-A569-83043499377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cpe 252: Computer Organization</a:t>
            </a:r>
          </a:p>
        </p:txBody>
      </p:sp>
      <p:sp>
        <p:nvSpPr>
          <p:cNvPr id="5" name="Slide Number Placeholder 4"/>
          <p:cNvSpPr>
            <a:spLocks noGrp="1"/>
          </p:cNvSpPr>
          <p:nvPr>
            <p:ph type="sldNum" sz="quarter" idx="12"/>
          </p:nvPr>
        </p:nvSpPr>
        <p:spPr/>
        <p:txBody>
          <a:bodyPr/>
          <a:lstStyle>
            <a:lvl1pPr>
              <a:defRPr/>
            </a:lvl1pPr>
          </a:lstStyle>
          <a:p>
            <a:fld id="{8B28C8BD-EDE5-4D48-B0EE-AB36BBD3CE2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cpe 252: Computer Organization</a:t>
            </a:r>
          </a:p>
        </p:txBody>
      </p:sp>
      <p:sp>
        <p:nvSpPr>
          <p:cNvPr id="4" name="Slide Number Placeholder 3"/>
          <p:cNvSpPr>
            <a:spLocks noGrp="1"/>
          </p:cNvSpPr>
          <p:nvPr>
            <p:ph type="sldNum" sz="quarter" idx="12"/>
          </p:nvPr>
        </p:nvSpPr>
        <p:spPr/>
        <p:txBody>
          <a:bodyPr/>
          <a:lstStyle>
            <a:lvl1pPr>
              <a:defRPr/>
            </a:lvl1pPr>
          </a:lstStyle>
          <a:p>
            <a:fld id="{21854B05-66B9-48FF-BDEA-A8EAEA5D957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DE33DED9-4656-4176-BCFF-C346940A44DA}"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F965BCF8-44D7-4925-B424-63EBB68AB33F}"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BA310CAA-D5E9-4112-9E24-3CDA8B1191F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BD15DCAB-540E-4EC4-96EA-64905E38DAA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678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678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24678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r>
              <a:rPr lang="en-US"/>
              <a:t>cpe 252: Computer Organization</a:t>
            </a:r>
          </a:p>
        </p:txBody>
      </p:sp>
      <p:sp>
        <p:nvSpPr>
          <p:cNvPr id="24679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19AD511-ED07-454D-AAC4-3BF0EA120ED1}"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dt="0"/>
  <p:txStyles>
    <p:titleStyle>
      <a:lvl1pPr algn="ctr" rtl="0" fontAlgn="base">
        <a:spcBef>
          <a:spcPct val="0"/>
        </a:spcBef>
        <a:spcAft>
          <a:spcPct val="0"/>
        </a:spcAft>
        <a:defRPr sz="4400">
          <a:solidFill>
            <a:schemeClr val="accent2"/>
          </a:solidFill>
          <a:latin typeface="+mj-lt"/>
          <a:ea typeface="+mj-ea"/>
          <a:cs typeface="+mj-cs"/>
        </a:defRPr>
      </a:lvl1pPr>
      <a:lvl2pPr algn="ctr" rtl="0" fontAlgn="base">
        <a:spcBef>
          <a:spcPct val="0"/>
        </a:spcBef>
        <a:spcAft>
          <a:spcPct val="0"/>
        </a:spcAft>
        <a:defRPr sz="4400">
          <a:solidFill>
            <a:schemeClr val="accent2"/>
          </a:solidFill>
          <a:latin typeface="Arial" charset="0"/>
        </a:defRPr>
      </a:lvl2pPr>
      <a:lvl3pPr algn="ctr" rtl="0" fontAlgn="base">
        <a:spcBef>
          <a:spcPct val="0"/>
        </a:spcBef>
        <a:spcAft>
          <a:spcPct val="0"/>
        </a:spcAft>
        <a:defRPr sz="4400">
          <a:solidFill>
            <a:schemeClr val="accent2"/>
          </a:solidFill>
          <a:latin typeface="Arial" charset="0"/>
        </a:defRPr>
      </a:lvl3pPr>
      <a:lvl4pPr algn="ctr" rtl="0" fontAlgn="base">
        <a:spcBef>
          <a:spcPct val="0"/>
        </a:spcBef>
        <a:spcAft>
          <a:spcPct val="0"/>
        </a:spcAft>
        <a:defRPr sz="4400">
          <a:solidFill>
            <a:schemeClr val="accent2"/>
          </a:solidFill>
          <a:latin typeface="Arial" charset="0"/>
        </a:defRPr>
      </a:lvl4pPr>
      <a:lvl5pPr algn="ctr" rtl="0" fontAlgn="base">
        <a:spcBef>
          <a:spcPct val="0"/>
        </a:spcBef>
        <a:spcAft>
          <a:spcPct val="0"/>
        </a:spcAft>
        <a:defRPr sz="4400">
          <a:solidFill>
            <a:schemeClr val="accent2"/>
          </a:solidFill>
          <a:latin typeface="Arial" charset="0"/>
        </a:defRPr>
      </a:lvl5pPr>
      <a:lvl6pPr marL="457200" algn="ctr" rtl="0" fontAlgn="base">
        <a:spcBef>
          <a:spcPct val="0"/>
        </a:spcBef>
        <a:spcAft>
          <a:spcPct val="0"/>
        </a:spcAft>
        <a:defRPr sz="4400">
          <a:solidFill>
            <a:schemeClr val="accent2"/>
          </a:solidFill>
          <a:latin typeface="Arial" charset="0"/>
        </a:defRPr>
      </a:lvl6pPr>
      <a:lvl7pPr marL="914400" algn="ctr" rtl="0" fontAlgn="base">
        <a:spcBef>
          <a:spcPct val="0"/>
        </a:spcBef>
        <a:spcAft>
          <a:spcPct val="0"/>
        </a:spcAft>
        <a:defRPr sz="4400">
          <a:solidFill>
            <a:schemeClr val="accent2"/>
          </a:solidFill>
          <a:latin typeface="Arial" charset="0"/>
        </a:defRPr>
      </a:lvl7pPr>
      <a:lvl8pPr marL="1371600" algn="ctr" rtl="0" fontAlgn="base">
        <a:spcBef>
          <a:spcPct val="0"/>
        </a:spcBef>
        <a:spcAft>
          <a:spcPct val="0"/>
        </a:spcAft>
        <a:defRPr sz="4400">
          <a:solidFill>
            <a:schemeClr val="accent2"/>
          </a:solidFill>
          <a:latin typeface="Arial" charset="0"/>
        </a:defRPr>
      </a:lvl8pPr>
      <a:lvl9pPr marL="1828800" algn="ctr" rtl="0" fontAlgn="base">
        <a:spcBef>
          <a:spcPct val="0"/>
        </a:spcBef>
        <a:spcAft>
          <a:spcPct val="0"/>
        </a:spcAft>
        <a:defRPr sz="4400">
          <a:solidFill>
            <a:schemeClr val="accent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oleObject" Target="../embeddings/oleObject3.bin"/></Relationships>
</file>

<file path=ppt/slides/_rels/slide7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oleObject" Target="../embeddings/oleObject6.bin"/></Relationships>
</file>

<file path=ppt/slides/_rels/slide7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b="1" dirty="0">
                <a:solidFill>
                  <a:schemeClr val="tx1"/>
                </a:solidFill>
              </a:rPr>
              <a:t>PIPELINING</a:t>
            </a:r>
            <a:endParaRPr lang="en-US" b="1" dirty="0">
              <a:solidFill>
                <a:schemeClr val="tx1"/>
              </a:solidFill>
            </a:endParaRPr>
          </a:p>
        </p:txBody>
      </p:sp>
      <p:sp>
        <p:nvSpPr>
          <p:cNvPr id="7" name="Content Placeholder 6"/>
          <p:cNvSpPr>
            <a:spLocks noGrp="1"/>
          </p:cNvSpPr>
          <p:nvPr>
            <p:ph idx="1"/>
          </p:nvPr>
        </p:nvSpPr>
        <p:spPr/>
        <p:txBody>
          <a:bodyPr/>
          <a:lstStyle/>
          <a:p>
            <a:pPr algn="just"/>
            <a:r>
              <a:rPr lang="en-US" dirty="0"/>
              <a:t>Pipelining is a technique of decomposing a sequential process into sub-operations, with each sub-process being executed in a segment that operates concurrently with all other segment.</a:t>
            </a:r>
          </a:p>
        </p:txBody>
      </p:sp>
    </p:spTree>
    <p:extLst>
      <p:ext uri="{BB962C8B-B14F-4D97-AF65-F5344CB8AC3E}">
        <p14:creationId xmlns:p14="http://schemas.microsoft.com/office/powerpoint/2010/main" val="3552719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p:cNvPicPr>
            <a:picLocks noChangeAspect="1" noChangeArrowheads="1"/>
          </p:cNvPicPr>
          <p:nvPr/>
        </p:nvPicPr>
        <p:blipFill>
          <a:blip r:embed="rId2"/>
          <a:srcRect/>
          <a:stretch>
            <a:fillRect/>
          </a:stretch>
        </p:blipFill>
        <p:spPr bwMode="auto">
          <a:xfrm>
            <a:off x="762000" y="1143000"/>
            <a:ext cx="7924799" cy="5410200"/>
          </a:xfrm>
          <a:prstGeom prst="rect">
            <a:avLst/>
          </a:prstGeom>
          <a:noFill/>
          <a:ln w="9525">
            <a:noFill/>
            <a:miter lim="800000"/>
            <a:headEnd/>
            <a:tailEnd/>
          </a:ln>
          <a:effectLst/>
        </p:spPr>
      </p:pic>
      <p:sp>
        <p:nvSpPr>
          <p:cNvPr id="9" name="Title 1"/>
          <p:cNvSpPr>
            <a:spLocks noGrp="1"/>
          </p:cNvSpPr>
          <p:nvPr>
            <p:ph type="title"/>
          </p:nvPr>
        </p:nvSpPr>
        <p:spPr>
          <a:xfrm>
            <a:off x="457200" y="274638"/>
            <a:ext cx="8229600" cy="868362"/>
          </a:xfrm>
        </p:spPr>
        <p:txBody>
          <a:bodyPr/>
          <a:lstStyle/>
          <a:p>
            <a:r>
              <a:rPr lang="en-US" sz="3600" b="1" dirty="0">
                <a:solidFill>
                  <a:schemeClr val="tx1"/>
                </a:solidFill>
              </a:rPr>
              <a:t>Example for Pipeline Processing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tx1"/>
                </a:solidFill>
              </a:rPr>
              <a:t>Operations in each pipeline stage</a:t>
            </a:r>
          </a:p>
        </p:txBody>
      </p:sp>
      <p:pic>
        <p:nvPicPr>
          <p:cNvPr id="48131" name="Picture 3"/>
          <p:cNvPicPr>
            <a:picLocks noChangeAspect="1" noChangeArrowheads="1"/>
          </p:cNvPicPr>
          <p:nvPr/>
        </p:nvPicPr>
        <p:blipFill>
          <a:blip r:embed="rId2"/>
          <a:srcRect/>
          <a:stretch>
            <a:fillRect/>
          </a:stretch>
        </p:blipFill>
        <p:spPr bwMode="auto">
          <a:xfrm>
            <a:off x="685800" y="1371600"/>
            <a:ext cx="7848599" cy="4876799"/>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solidFill>
                  <a:schemeClr val="tx1"/>
                </a:solidFill>
              </a:rPr>
              <a:t>General Four-Segment Pipeline</a:t>
            </a:r>
          </a:p>
        </p:txBody>
      </p:sp>
      <p:pic>
        <p:nvPicPr>
          <p:cNvPr id="49155" name="Picture 3"/>
          <p:cNvPicPr>
            <a:picLocks noChangeAspect="1" noChangeArrowheads="1"/>
          </p:cNvPicPr>
          <p:nvPr/>
        </p:nvPicPr>
        <p:blipFill>
          <a:blip r:embed="rId2"/>
          <a:srcRect/>
          <a:stretch>
            <a:fillRect/>
          </a:stretch>
        </p:blipFill>
        <p:spPr bwMode="auto">
          <a:xfrm>
            <a:off x="609600" y="1362074"/>
            <a:ext cx="8001000" cy="5191126"/>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z="3600" b="1" dirty="0">
                <a:solidFill>
                  <a:schemeClr val="tx1"/>
                </a:solidFill>
              </a:rPr>
              <a:t>Pipeline Speedup</a:t>
            </a:r>
          </a:p>
        </p:txBody>
      </p:sp>
      <p:pic>
        <p:nvPicPr>
          <p:cNvPr id="50179" name="Picture 3"/>
          <p:cNvPicPr>
            <a:picLocks noChangeAspect="1" noChangeArrowheads="1"/>
          </p:cNvPicPr>
          <p:nvPr/>
        </p:nvPicPr>
        <p:blipFill>
          <a:blip r:embed="rId2"/>
          <a:srcRect t="-1" b="-8571"/>
          <a:stretch>
            <a:fillRect/>
          </a:stretch>
        </p:blipFill>
        <p:spPr bwMode="auto">
          <a:xfrm>
            <a:off x="304800" y="457200"/>
            <a:ext cx="8382000" cy="57912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txBody>
          <a:bodyPr/>
          <a:lstStyle/>
          <a:p>
            <a:pPr marL="0" indent="0" algn="just" defTabSz="762000" eaLnBrk="0" hangingPunct="0">
              <a:lnSpc>
                <a:spcPct val="90000"/>
              </a:lnSpc>
              <a:buNone/>
            </a:pPr>
            <a:r>
              <a:rPr kumimoji="1" lang="en-US" altLang="ko-KR" sz="2200" dirty="0">
                <a:ea typeface="굴림" pitchFamily="50" charset="-127"/>
              </a:rPr>
              <a:t>Q1. In certain scientific computation it is necessary to perform the arithmetic operation (</a:t>
            </a:r>
            <a:r>
              <a:rPr kumimoji="1" lang="en-US" altLang="ko-KR" sz="2200" dirty="0" err="1">
                <a:ea typeface="굴림" pitchFamily="50" charset="-127"/>
              </a:rPr>
              <a:t>Ai+Bi</a:t>
            </a:r>
            <a:r>
              <a:rPr kumimoji="1" lang="en-US" altLang="ko-KR" sz="2200" dirty="0">
                <a:ea typeface="굴림" pitchFamily="50" charset="-127"/>
              </a:rPr>
              <a:t>)*(</a:t>
            </a:r>
            <a:r>
              <a:rPr kumimoji="1" lang="en-US" altLang="ko-KR" sz="2200" dirty="0" err="1">
                <a:ea typeface="굴림" pitchFamily="50" charset="-127"/>
              </a:rPr>
              <a:t>Ci+Di</a:t>
            </a:r>
            <a:r>
              <a:rPr kumimoji="1" lang="en-US" altLang="ko-KR" sz="2200" dirty="0">
                <a:ea typeface="굴림" pitchFamily="50" charset="-127"/>
              </a:rPr>
              <a:t>)</a:t>
            </a:r>
          </a:p>
          <a:p>
            <a:pPr marL="457200" indent="-457200" algn="just" defTabSz="762000" eaLnBrk="0" hangingPunct="0">
              <a:lnSpc>
                <a:spcPct val="90000"/>
              </a:lnSpc>
              <a:buAutoNum type="alphaLcPeriod"/>
            </a:pPr>
            <a:r>
              <a:rPr kumimoji="1" lang="en-US" altLang="ko-KR" sz="2200" dirty="0">
                <a:ea typeface="굴림" pitchFamily="50" charset="-127"/>
              </a:rPr>
              <a:t>Specify the pipeline configuration to carry out this task.</a:t>
            </a:r>
          </a:p>
          <a:p>
            <a:pPr marL="457200" indent="-457200" algn="just" defTabSz="762000" eaLnBrk="0" hangingPunct="0">
              <a:lnSpc>
                <a:spcPct val="90000"/>
              </a:lnSpc>
              <a:buAutoNum type="alphaLcPeriod"/>
            </a:pPr>
            <a:r>
              <a:rPr kumimoji="1" lang="en-US" altLang="ko-KR" sz="2200" dirty="0">
                <a:ea typeface="굴림" pitchFamily="50" charset="-127"/>
              </a:rPr>
              <a:t>List the content of all registers of all the registers in the pipeline for </a:t>
            </a:r>
            <a:r>
              <a:rPr kumimoji="1" lang="en-US" altLang="ko-KR" sz="2200" dirty="0" err="1">
                <a:ea typeface="굴림" pitchFamily="50" charset="-127"/>
              </a:rPr>
              <a:t>i</a:t>
            </a:r>
            <a:r>
              <a:rPr kumimoji="1" lang="en-US" altLang="ko-KR" sz="2200" dirty="0">
                <a:ea typeface="굴림" pitchFamily="50" charset="-127"/>
              </a:rPr>
              <a:t>=1 to 6.</a:t>
            </a:r>
          </a:p>
          <a:p>
            <a:pPr marL="457200" indent="-457200" algn="just" defTabSz="762000" eaLnBrk="0" hangingPunct="0">
              <a:lnSpc>
                <a:spcPct val="90000"/>
              </a:lnSpc>
              <a:buAutoNum type="alphaLcPeriod"/>
            </a:pPr>
            <a:endParaRPr kumimoji="1" lang="en-US" altLang="ko-KR" sz="2200" dirty="0">
              <a:ea typeface="굴림" pitchFamily="50" charset="-127"/>
            </a:endParaRPr>
          </a:p>
          <a:p>
            <a:pPr marL="0" indent="0" algn="just" defTabSz="762000" eaLnBrk="0" hangingPunct="0">
              <a:lnSpc>
                <a:spcPct val="90000"/>
              </a:lnSpc>
              <a:buNone/>
            </a:pPr>
            <a:r>
              <a:rPr kumimoji="1" lang="en-US" altLang="ko-KR" sz="2200" dirty="0">
                <a:ea typeface="굴림" pitchFamily="50" charset="-127"/>
              </a:rPr>
              <a:t>Q2. Draw a space time diagram for a six-segment pipeline showing the time it takes to process eight tasks.</a:t>
            </a: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r>
              <a:rPr kumimoji="1" lang="en-US" altLang="ko-KR" sz="2200" dirty="0">
                <a:ea typeface="굴림" pitchFamily="50" charset="-127"/>
              </a:rPr>
              <a:t>Q3. A non-pipelined system takes 50ns to process a task. The same task can be processed in a six-segment pipeline with a clock cycle of 10ns. Determine the speedup ratio of the pipeline for 100 tasks.</a:t>
            </a: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p:txBody>
      </p:sp>
    </p:spTree>
    <p:extLst>
      <p:ext uri="{BB962C8B-B14F-4D97-AF65-F5344CB8AC3E}">
        <p14:creationId xmlns:p14="http://schemas.microsoft.com/office/powerpoint/2010/main" val="285075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609600"/>
            <a:ext cx="8382000" cy="5715000"/>
          </a:xfrm>
          <a:prstGeom prst="rect">
            <a:avLst/>
          </a:prstGeom>
        </p:spPr>
      </p:pic>
    </p:spTree>
    <p:extLst>
      <p:ext uri="{BB962C8B-B14F-4D97-AF65-F5344CB8AC3E}">
        <p14:creationId xmlns:p14="http://schemas.microsoft.com/office/powerpoint/2010/main" val="1265606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a:extLst>
              <a:ext uri="{FF2B5EF4-FFF2-40B4-BE49-F238E27FC236}">
                <a16:creationId xmlns:a16="http://schemas.microsoft.com/office/drawing/2014/main" id="{04DF33AE-DEDC-5A9B-0999-A4B915F7FED2}"/>
              </a:ext>
            </a:extLst>
          </p:cNvPr>
          <p:cNvSpPr>
            <a:spLocks noChangeAspect="1" noChangeArrowheads="1" noTextEdit="1"/>
          </p:cNvSpPr>
          <p:nvPr/>
        </p:nvSpPr>
        <p:spPr bwMode="auto">
          <a:xfrm>
            <a:off x="533400" y="649288"/>
            <a:ext cx="8305800" cy="555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5D55C1D3-94E2-BE4A-F00E-41040D060E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616630"/>
            <a:ext cx="8271760" cy="5250770"/>
          </a:xfrm>
          <a:prstGeom prst="rect">
            <a:avLst/>
          </a:prstGeom>
        </p:spPr>
      </p:pic>
    </p:spTree>
    <p:extLst>
      <p:ext uri="{BB962C8B-B14F-4D97-AF65-F5344CB8AC3E}">
        <p14:creationId xmlns:p14="http://schemas.microsoft.com/office/powerpoint/2010/main" val="2679725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DD72AE-D4A2-A16F-8C1A-9822479C47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370" y="1975100"/>
            <a:ext cx="8685630" cy="2907799"/>
          </a:xfrm>
          <a:prstGeom prst="rect">
            <a:avLst/>
          </a:prstGeom>
        </p:spPr>
      </p:pic>
    </p:spTree>
    <p:extLst>
      <p:ext uri="{BB962C8B-B14F-4D97-AF65-F5344CB8AC3E}">
        <p14:creationId xmlns:p14="http://schemas.microsoft.com/office/powerpoint/2010/main" val="2333585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02EEB-3BCA-65E1-8276-7A3DDCE7374E}"/>
              </a:ext>
            </a:extLst>
          </p:cNvPr>
          <p:cNvSpPr>
            <a:spLocks noGrp="1"/>
          </p:cNvSpPr>
          <p:nvPr>
            <p:ph type="title"/>
          </p:nvPr>
        </p:nvSpPr>
        <p:spPr/>
        <p:txBody>
          <a:bodyPr/>
          <a:lstStyle/>
          <a:p>
            <a:r>
              <a:rPr lang="en-IN" b="1" dirty="0"/>
              <a:t>Problem </a:t>
            </a:r>
            <a:br>
              <a:rPr lang="en-IN" dirty="0"/>
            </a:br>
            <a:endParaRPr lang="en-IN" dirty="0"/>
          </a:p>
        </p:txBody>
      </p:sp>
      <p:sp>
        <p:nvSpPr>
          <p:cNvPr id="3" name="Content Placeholder 2">
            <a:extLst>
              <a:ext uri="{FF2B5EF4-FFF2-40B4-BE49-F238E27FC236}">
                <a16:creationId xmlns:a16="http://schemas.microsoft.com/office/drawing/2014/main" id="{6B032EBA-68C7-9248-C02B-4DDC54076930}"/>
              </a:ext>
            </a:extLst>
          </p:cNvPr>
          <p:cNvSpPr>
            <a:spLocks noGrp="1"/>
          </p:cNvSpPr>
          <p:nvPr>
            <p:ph idx="1"/>
          </p:nvPr>
        </p:nvSpPr>
        <p:spPr>
          <a:xfrm>
            <a:off x="457200" y="990600"/>
            <a:ext cx="8229600" cy="4525963"/>
          </a:xfrm>
        </p:spPr>
        <p:txBody>
          <a:bodyPr/>
          <a:lstStyle/>
          <a:p>
            <a:r>
              <a:rPr lang="en-US" dirty="0"/>
              <a:t>Consider a pipeline having 4 phases with duration 60, 50, 90 and 80 ns. Given latch delay is 10 ns. Calculate- </a:t>
            </a:r>
          </a:p>
          <a:p>
            <a:pPr marL="400050" lvl="1" indent="0">
              <a:buNone/>
            </a:pPr>
            <a:r>
              <a:rPr lang="en-IN" sz="2400" dirty="0"/>
              <a:t>1. Pipeline cycle time </a:t>
            </a:r>
          </a:p>
          <a:p>
            <a:pPr marL="400050" lvl="1" indent="0">
              <a:buNone/>
            </a:pPr>
            <a:r>
              <a:rPr lang="en-IN" sz="2400" dirty="0"/>
              <a:t>2. Non-pipeline execution time </a:t>
            </a:r>
          </a:p>
          <a:p>
            <a:pPr marL="400050" lvl="1" indent="0">
              <a:buNone/>
            </a:pPr>
            <a:r>
              <a:rPr lang="en-IN" sz="2400" dirty="0"/>
              <a:t>3. Speed up ratio </a:t>
            </a:r>
          </a:p>
          <a:p>
            <a:pPr marL="400050" lvl="1" indent="0">
              <a:buNone/>
            </a:pPr>
            <a:r>
              <a:rPr lang="en-US" sz="2400" dirty="0"/>
              <a:t>4. Pipeline time for 1000 tasks </a:t>
            </a:r>
          </a:p>
          <a:p>
            <a:pPr marL="400050" lvl="1" indent="0">
              <a:buNone/>
            </a:pPr>
            <a:r>
              <a:rPr lang="en-US" sz="2400" dirty="0"/>
              <a:t>5. Sequential time for 1000 tasks </a:t>
            </a:r>
          </a:p>
          <a:p>
            <a:pPr marL="400050" lvl="1" indent="0">
              <a:buNone/>
            </a:pPr>
            <a:r>
              <a:rPr lang="en-IN" sz="2400" dirty="0"/>
              <a:t>6. Throughput </a:t>
            </a:r>
          </a:p>
          <a:p>
            <a:endParaRPr lang="en-IN" dirty="0"/>
          </a:p>
        </p:txBody>
      </p:sp>
    </p:spTree>
    <p:extLst>
      <p:ext uri="{BB962C8B-B14F-4D97-AF65-F5344CB8AC3E}">
        <p14:creationId xmlns:p14="http://schemas.microsoft.com/office/powerpoint/2010/main" val="3559288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E0E597-D894-BE04-346A-782C91685AA1}"/>
              </a:ext>
            </a:extLst>
          </p:cNvPr>
          <p:cNvSpPr>
            <a:spLocks noGrp="1"/>
          </p:cNvSpPr>
          <p:nvPr>
            <p:ph idx="1"/>
          </p:nvPr>
        </p:nvSpPr>
        <p:spPr>
          <a:xfrm>
            <a:off x="457200" y="381000"/>
            <a:ext cx="8229600" cy="5745163"/>
          </a:xfrm>
        </p:spPr>
        <p:txBody>
          <a:bodyPr/>
          <a:lstStyle/>
          <a:p>
            <a:r>
              <a:rPr lang="en-IN" dirty="0"/>
              <a:t> </a:t>
            </a:r>
            <a:r>
              <a:rPr lang="en-IN" sz="2400" b="1" dirty="0"/>
              <a:t>Solution- </a:t>
            </a:r>
            <a:endParaRPr lang="en-IN" sz="2400" dirty="0"/>
          </a:p>
          <a:p>
            <a:r>
              <a:rPr lang="en-IN" sz="2400" dirty="0"/>
              <a:t>Given- </a:t>
            </a:r>
          </a:p>
          <a:p>
            <a:r>
              <a:rPr lang="en-US" sz="2400" dirty="0"/>
              <a:t> Four stage pipeline is used </a:t>
            </a:r>
          </a:p>
          <a:p>
            <a:r>
              <a:rPr lang="en-US" sz="2400" dirty="0"/>
              <a:t> Delay of stages = 60, 50, 90 and 80 ns </a:t>
            </a:r>
          </a:p>
          <a:p>
            <a:r>
              <a:rPr lang="en-US" sz="2400" dirty="0"/>
              <a:t> Latch delay or delay due to each register = 10 ns </a:t>
            </a:r>
          </a:p>
          <a:p>
            <a:endParaRPr lang="en-IN" sz="2400" dirty="0"/>
          </a:p>
          <a:p>
            <a:r>
              <a:rPr lang="en-IN" sz="2400" b="1" dirty="0"/>
              <a:t>Part-01: </a:t>
            </a:r>
            <a:endParaRPr lang="en-IN" dirty="0"/>
          </a:p>
          <a:p>
            <a:r>
              <a:rPr lang="en-IN" dirty="0"/>
              <a:t> </a:t>
            </a:r>
            <a:r>
              <a:rPr lang="en-IN" sz="2400" b="1" dirty="0"/>
              <a:t>Pipeline Cycle Time- </a:t>
            </a:r>
            <a:endParaRPr lang="en-IN" sz="2400" dirty="0"/>
          </a:p>
          <a:p>
            <a:r>
              <a:rPr lang="en-IN" sz="2400" dirty="0"/>
              <a:t>Cycle time </a:t>
            </a:r>
          </a:p>
          <a:p>
            <a:r>
              <a:rPr lang="en-US" sz="2400" dirty="0"/>
              <a:t>= Maximum delay due to any stage + Delay due to its register </a:t>
            </a:r>
          </a:p>
          <a:p>
            <a:r>
              <a:rPr lang="en-IN" sz="2400" dirty="0"/>
              <a:t>= Max { 60, 50, 90, 80 } + 10 ns </a:t>
            </a:r>
          </a:p>
          <a:p>
            <a:r>
              <a:rPr lang="en-IN" sz="2400" dirty="0"/>
              <a:t>= 90 ns + 10 ns </a:t>
            </a:r>
          </a:p>
          <a:p>
            <a:r>
              <a:rPr lang="en-IN" sz="2400" dirty="0"/>
              <a:t>= 100 ns </a:t>
            </a:r>
            <a:endParaRPr lang="en-IN" sz="1800" dirty="0"/>
          </a:p>
        </p:txBody>
      </p:sp>
    </p:spTree>
    <p:extLst>
      <p:ext uri="{BB962C8B-B14F-4D97-AF65-F5344CB8AC3E}">
        <p14:creationId xmlns:p14="http://schemas.microsoft.com/office/powerpoint/2010/main" val="2361038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EC8BB5-535B-7AA5-7DAE-06E7C24DCCC0}"/>
              </a:ext>
            </a:extLst>
          </p:cNvPr>
          <p:cNvSpPr>
            <a:spLocks noGrp="1"/>
          </p:cNvSpPr>
          <p:nvPr>
            <p:ph idx="1"/>
          </p:nvPr>
        </p:nvSpPr>
        <p:spPr>
          <a:xfrm>
            <a:off x="457200" y="457200"/>
            <a:ext cx="8229600" cy="5668963"/>
          </a:xfrm>
        </p:spPr>
        <p:txBody>
          <a:bodyPr/>
          <a:lstStyle/>
          <a:p>
            <a:r>
              <a:rPr lang="en-IN" sz="2400" dirty="0"/>
              <a:t> </a:t>
            </a:r>
            <a:r>
              <a:rPr lang="en-IN" sz="2400" b="1" dirty="0"/>
              <a:t>Part-02: Non-Pipeline Execution Time- </a:t>
            </a:r>
            <a:endParaRPr lang="en-IN" sz="2400" dirty="0"/>
          </a:p>
          <a:p>
            <a:r>
              <a:rPr lang="en-US" sz="2400" dirty="0"/>
              <a:t>Non-pipeline execution time for one instruction </a:t>
            </a:r>
          </a:p>
          <a:p>
            <a:r>
              <a:rPr lang="de-DE" sz="2400" dirty="0"/>
              <a:t>= 60 ns + 50 ns + 90 ns + 80 ns </a:t>
            </a:r>
          </a:p>
          <a:p>
            <a:r>
              <a:rPr lang="en-IN" sz="2400" dirty="0"/>
              <a:t>= 280 ns </a:t>
            </a:r>
          </a:p>
          <a:p>
            <a:r>
              <a:rPr lang="en-IN" sz="2400" b="1" dirty="0"/>
              <a:t>Part-03: Speed Up Ratio- </a:t>
            </a:r>
            <a:endParaRPr lang="en-IN" sz="2400" dirty="0"/>
          </a:p>
          <a:p>
            <a:r>
              <a:rPr lang="en-IN" sz="2400" dirty="0"/>
              <a:t>Speed up </a:t>
            </a:r>
          </a:p>
          <a:p>
            <a:r>
              <a:rPr lang="en-US" sz="2400" dirty="0"/>
              <a:t>= Non-pipeline execution time / Pipeline execution time </a:t>
            </a:r>
          </a:p>
          <a:p>
            <a:r>
              <a:rPr lang="en-IN" sz="2400" dirty="0"/>
              <a:t>= 280 ns / Cycle time </a:t>
            </a:r>
          </a:p>
          <a:p>
            <a:r>
              <a:rPr lang="en-IN" sz="2400" dirty="0"/>
              <a:t>= 280 ns / 100 ns </a:t>
            </a:r>
          </a:p>
          <a:p>
            <a:r>
              <a:rPr lang="en-IN" sz="2400" dirty="0"/>
              <a:t>= </a:t>
            </a:r>
            <a:r>
              <a:rPr lang="en-IN" dirty="0"/>
              <a:t>2.8 </a:t>
            </a:r>
          </a:p>
          <a:p>
            <a:endParaRPr lang="en-IN" dirty="0"/>
          </a:p>
        </p:txBody>
      </p:sp>
    </p:spTree>
    <p:extLst>
      <p:ext uri="{BB962C8B-B14F-4D97-AF65-F5344CB8AC3E}">
        <p14:creationId xmlns:p14="http://schemas.microsoft.com/office/powerpoint/2010/main" val="3190895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955D9-81A7-A664-1E20-4791D28FF421}"/>
              </a:ext>
            </a:extLst>
          </p:cNvPr>
          <p:cNvSpPr>
            <a:spLocks noGrp="1"/>
          </p:cNvSpPr>
          <p:nvPr>
            <p:ph idx="1"/>
          </p:nvPr>
        </p:nvSpPr>
        <p:spPr>
          <a:xfrm>
            <a:off x="457200" y="381000"/>
            <a:ext cx="8229600" cy="5745163"/>
          </a:xfrm>
        </p:spPr>
        <p:txBody>
          <a:bodyPr/>
          <a:lstStyle/>
          <a:p>
            <a:r>
              <a:rPr lang="en-US" sz="2400" b="1" dirty="0"/>
              <a:t>Part-04: Pipeline Time For 1000 Tasks- </a:t>
            </a:r>
            <a:endParaRPr lang="en-US" sz="2400" dirty="0"/>
          </a:p>
          <a:p>
            <a:r>
              <a:rPr lang="en-US" sz="2400" dirty="0"/>
              <a:t>Pipeline time for 1000 tasks </a:t>
            </a:r>
          </a:p>
          <a:p>
            <a:r>
              <a:rPr lang="en-US" sz="2400" dirty="0"/>
              <a:t>= Time taken for 1st task + Time taken for remaining 999 tasks </a:t>
            </a:r>
          </a:p>
          <a:p>
            <a:r>
              <a:rPr lang="en-US" sz="2400" dirty="0"/>
              <a:t>= 1 x 4 clock cycles + 999 x 1 clock cycle </a:t>
            </a:r>
          </a:p>
          <a:p>
            <a:r>
              <a:rPr lang="en-US" sz="2400" dirty="0"/>
              <a:t>= 4 x cycle time + 999 x cycle time </a:t>
            </a:r>
          </a:p>
          <a:p>
            <a:r>
              <a:rPr lang="de-DE" sz="2400" dirty="0"/>
              <a:t>= 4 x 100 ns + 999 x 100 ns </a:t>
            </a:r>
          </a:p>
          <a:p>
            <a:r>
              <a:rPr lang="en-IN" sz="2400" dirty="0"/>
              <a:t>= 400 ns + 99900 ns </a:t>
            </a:r>
          </a:p>
          <a:p>
            <a:r>
              <a:rPr lang="en-IN" sz="2400" dirty="0"/>
              <a:t>= 100300 ns </a:t>
            </a:r>
          </a:p>
        </p:txBody>
      </p:sp>
    </p:spTree>
    <p:extLst>
      <p:ext uri="{BB962C8B-B14F-4D97-AF65-F5344CB8AC3E}">
        <p14:creationId xmlns:p14="http://schemas.microsoft.com/office/powerpoint/2010/main" val="3587475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A9588F-96E9-CE1E-23C1-B42BA538F7B7}"/>
              </a:ext>
            </a:extLst>
          </p:cNvPr>
          <p:cNvSpPr>
            <a:spLocks noGrp="1"/>
          </p:cNvSpPr>
          <p:nvPr>
            <p:ph idx="1"/>
          </p:nvPr>
        </p:nvSpPr>
        <p:spPr>
          <a:xfrm>
            <a:off x="457200" y="304800"/>
            <a:ext cx="8229600" cy="5821363"/>
          </a:xfrm>
        </p:spPr>
        <p:txBody>
          <a:bodyPr/>
          <a:lstStyle/>
          <a:p>
            <a:r>
              <a:rPr lang="en-US" sz="2400" b="1" dirty="0"/>
              <a:t>Part-05: Sequential Time For 1000 Tasks- </a:t>
            </a:r>
            <a:endParaRPr lang="en-US" sz="2400" dirty="0"/>
          </a:p>
          <a:p>
            <a:r>
              <a:rPr lang="en-US" sz="2400" dirty="0"/>
              <a:t>Non-pipeline time for 1000 tasks </a:t>
            </a:r>
          </a:p>
          <a:p>
            <a:r>
              <a:rPr lang="en-US" sz="2400" dirty="0"/>
              <a:t>= 1000 x Time taken for one task </a:t>
            </a:r>
          </a:p>
          <a:p>
            <a:r>
              <a:rPr lang="en-IN" sz="2400" dirty="0"/>
              <a:t>= 1000 x 280 ns </a:t>
            </a:r>
          </a:p>
          <a:p>
            <a:r>
              <a:rPr lang="en-IN" sz="2400" dirty="0"/>
              <a:t>= 280000 </a:t>
            </a:r>
            <a:r>
              <a:rPr lang="en-IN" sz="2400"/>
              <a:t>ns </a:t>
            </a:r>
          </a:p>
          <a:p>
            <a:pPr marL="0" indent="0">
              <a:buNone/>
            </a:pPr>
            <a:endParaRPr lang="en-IN" sz="2400" dirty="0"/>
          </a:p>
          <a:p>
            <a:r>
              <a:rPr lang="en-IN" sz="2400" b="1" dirty="0"/>
              <a:t>Part-06: Throughput- </a:t>
            </a:r>
            <a:endParaRPr lang="en-IN" sz="2400" dirty="0"/>
          </a:p>
          <a:p>
            <a:r>
              <a:rPr lang="en-IN" sz="2400" dirty="0"/>
              <a:t>Throughput for pipelined execution </a:t>
            </a:r>
          </a:p>
          <a:p>
            <a:r>
              <a:rPr lang="en-US" sz="2400" dirty="0"/>
              <a:t>= Number of instructions executed per unit time </a:t>
            </a:r>
          </a:p>
          <a:p>
            <a:r>
              <a:rPr lang="en-IN" sz="2400" dirty="0"/>
              <a:t>= 1000 tasks / 100300 ns </a:t>
            </a:r>
            <a:endParaRPr lang="en-IN" sz="1800" dirty="0"/>
          </a:p>
        </p:txBody>
      </p:sp>
    </p:spTree>
    <p:extLst>
      <p:ext uri="{BB962C8B-B14F-4D97-AF65-F5344CB8AC3E}">
        <p14:creationId xmlns:p14="http://schemas.microsoft.com/office/powerpoint/2010/main" val="3792731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BC761-150D-BF73-1F44-3AEED5EAC810}"/>
              </a:ext>
            </a:extLst>
          </p:cNvPr>
          <p:cNvSpPr>
            <a:spLocks noGrp="1"/>
          </p:cNvSpPr>
          <p:nvPr>
            <p:ph type="title"/>
          </p:nvPr>
        </p:nvSpPr>
        <p:spPr/>
        <p:txBody>
          <a:bodyPr/>
          <a:lstStyle/>
          <a:p>
            <a:r>
              <a:rPr lang="en-US" dirty="0"/>
              <a:t>BASIC COMPUTER ORGANIZATION AND DESIGN</a:t>
            </a:r>
            <a:endParaRPr lang="en-IN" dirty="0"/>
          </a:p>
        </p:txBody>
      </p:sp>
      <p:sp>
        <p:nvSpPr>
          <p:cNvPr id="3" name="Content Placeholder 2">
            <a:extLst>
              <a:ext uri="{FF2B5EF4-FFF2-40B4-BE49-F238E27FC236}">
                <a16:creationId xmlns:a16="http://schemas.microsoft.com/office/drawing/2014/main" id="{F7191EDC-8393-34A9-D6C9-EC665B4B317B}"/>
              </a:ext>
            </a:extLst>
          </p:cNvPr>
          <p:cNvSpPr>
            <a:spLocks noGrp="1"/>
          </p:cNvSpPr>
          <p:nvPr>
            <p:ph idx="1"/>
          </p:nvPr>
        </p:nvSpPr>
        <p:spPr>
          <a:xfrm>
            <a:off x="1143000" y="1722437"/>
            <a:ext cx="7543800" cy="4525963"/>
          </a:xfrm>
        </p:spPr>
        <p:txBody>
          <a:bodyPr/>
          <a:lstStyle/>
          <a:p>
            <a:pPr marL="0" indent="0">
              <a:buNone/>
            </a:pPr>
            <a:r>
              <a:rPr lang="en-IN" sz="2800" dirty="0"/>
              <a:t> Computer Registers</a:t>
            </a:r>
          </a:p>
          <a:p>
            <a:pPr marL="0" indent="0">
              <a:buNone/>
            </a:pPr>
            <a:r>
              <a:rPr lang="en-IN" sz="2800" dirty="0"/>
              <a:t> Computer Instructions</a:t>
            </a:r>
          </a:p>
          <a:p>
            <a:pPr marL="0" indent="0">
              <a:buNone/>
            </a:pPr>
            <a:r>
              <a:rPr lang="en-IN" sz="2800" dirty="0"/>
              <a:t> Timing And Control</a:t>
            </a:r>
          </a:p>
          <a:p>
            <a:pPr marL="0" indent="0">
              <a:buNone/>
            </a:pPr>
            <a:r>
              <a:rPr lang="en-IN" sz="2800" dirty="0"/>
              <a:t> Instruction Cycle</a:t>
            </a:r>
          </a:p>
          <a:p>
            <a:pPr marL="0" indent="0">
              <a:buNone/>
            </a:pPr>
            <a:r>
              <a:rPr lang="en-IN" sz="2800" dirty="0"/>
              <a:t> Register – Reference Instructions</a:t>
            </a:r>
          </a:p>
          <a:p>
            <a:pPr marL="0" indent="0">
              <a:buNone/>
            </a:pPr>
            <a:r>
              <a:rPr lang="en-IN" sz="2800" dirty="0"/>
              <a:t> Memory – Reference Instructions</a:t>
            </a:r>
          </a:p>
          <a:p>
            <a:pPr marL="0" indent="0">
              <a:buNone/>
            </a:pPr>
            <a:r>
              <a:rPr lang="en-IN" sz="2800" dirty="0"/>
              <a:t> Input – Output And Interrupt</a:t>
            </a:r>
          </a:p>
        </p:txBody>
      </p:sp>
    </p:spTree>
    <p:extLst>
      <p:ext uri="{BB962C8B-B14F-4D97-AF65-F5344CB8AC3E}">
        <p14:creationId xmlns:p14="http://schemas.microsoft.com/office/powerpoint/2010/main" val="2147165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16D2-9BC2-37B5-4608-E2B0DF1E2FD8}"/>
              </a:ext>
            </a:extLst>
          </p:cNvPr>
          <p:cNvSpPr>
            <a:spLocks noGrp="1"/>
          </p:cNvSpPr>
          <p:nvPr>
            <p:ph type="title"/>
          </p:nvPr>
        </p:nvSpPr>
        <p:spPr/>
        <p:txBody>
          <a:bodyPr/>
          <a:lstStyle/>
          <a:p>
            <a:r>
              <a:rPr lang="en-IN" dirty="0"/>
              <a:t>Computer Registers:</a:t>
            </a:r>
          </a:p>
        </p:txBody>
      </p:sp>
      <p:pic>
        <p:nvPicPr>
          <p:cNvPr id="5" name="Content Placeholder 4">
            <a:extLst>
              <a:ext uri="{FF2B5EF4-FFF2-40B4-BE49-F238E27FC236}">
                <a16:creationId xmlns:a16="http://schemas.microsoft.com/office/drawing/2014/main" id="{5ABFC5CB-DAAB-B95C-7BEF-36C8A79964EE}"/>
              </a:ext>
            </a:extLst>
          </p:cNvPr>
          <p:cNvPicPr>
            <a:picLocks noGrp="1" noChangeAspect="1"/>
          </p:cNvPicPr>
          <p:nvPr>
            <p:ph idx="1"/>
          </p:nvPr>
        </p:nvPicPr>
        <p:blipFill>
          <a:blip r:embed="rId2"/>
          <a:stretch>
            <a:fillRect/>
          </a:stretch>
        </p:blipFill>
        <p:spPr>
          <a:xfrm>
            <a:off x="620693" y="1417638"/>
            <a:ext cx="7742629" cy="3687762"/>
          </a:xfrm>
        </p:spPr>
      </p:pic>
    </p:spTree>
    <p:extLst>
      <p:ext uri="{BB962C8B-B14F-4D97-AF65-F5344CB8AC3E}">
        <p14:creationId xmlns:p14="http://schemas.microsoft.com/office/powerpoint/2010/main" val="3424611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07C524-874D-4B1D-99DC-83D7392654DD}"/>
              </a:ext>
            </a:extLst>
          </p:cNvPr>
          <p:cNvPicPr>
            <a:picLocks noGrp="1" noChangeAspect="1"/>
          </p:cNvPicPr>
          <p:nvPr>
            <p:ph idx="1"/>
          </p:nvPr>
        </p:nvPicPr>
        <p:blipFill>
          <a:blip r:embed="rId2"/>
          <a:stretch>
            <a:fillRect/>
          </a:stretch>
        </p:blipFill>
        <p:spPr>
          <a:xfrm>
            <a:off x="1143000" y="685800"/>
            <a:ext cx="7162800" cy="5292158"/>
          </a:xfrm>
        </p:spPr>
      </p:pic>
    </p:spTree>
    <p:extLst>
      <p:ext uri="{BB962C8B-B14F-4D97-AF65-F5344CB8AC3E}">
        <p14:creationId xmlns:p14="http://schemas.microsoft.com/office/powerpoint/2010/main" val="4127458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2C4302-5CA6-F587-4E36-88F08D209458}"/>
              </a:ext>
            </a:extLst>
          </p:cNvPr>
          <p:cNvSpPr>
            <a:spLocks noGrp="1"/>
          </p:cNvSpPr>
          <p:nvPr>
            <p:ph idx="1"/>
          </p:nvPr>
        </p:nvSpPr>
        <p:spPr>
          <a:xfrm>
            <a:off x="457200" y="381000"/>
            <a:ext cx="8229600" cy="5745163"/>
          </a:xfrm>
        </p:spPr>
        <p:txBody>
          <a:bodyPr/>
          <a:lstStyle/>
          <a:p>
            <a:pPr algn="just"/>
            <a:r>
              <a:rPr lang="en-US" sz="2200" dirty="0"/>
              <a:t>The data register (DR) holds the operand read from memory.</a:t>
            </a:r>
          </a:p>
          <a:p>
            <a:pPr algn="just"/>
            <a:r>
              <a:rPr lang="en-US" sz="2200" dirty="0"/>
              <a:t>The accumulator (AC) register is a general purpose processing register.</a:t>
            </a:r>
          </a:p>
          <a:p>
            <a:pPr algn="just"/>
            <a:r>
              <a:rPr lang="en-US" sz="2200" dirty="0"/>
              <a:t>The instruction read from memory is placed in the instruction register (IR).</a:t>
            </a:r>
          </a:p>
          <a:p>
            <a:pPr algn="just"/>
            <a:r>
              <a:rPr lang="en-US" sz="2200" dirty="0"/>
              <a:t>The temporary register (TR) is used for holding temporary data during the processing.</a:t>
            </a:r>
          </a:p>
          <a:p>
            <a:pPr algn="just"/>
            <a:r>
              <a:rPr lang="en-US" sz="2200" dirty="0"/>
              <a:t>The memory address register (AR) has 12 bits since this is the width of a memory address.</a:t>
            </a:r>
          </a:p>
          <a:p>
            <a:pPr algn="just"/>
            <a:r>
              <a:rPr lang="en-US" sz="2200" dirty="0"/>
              <a:t>The program counter (PC) also has 12 bits and it holds the address of the next instruction to be read from memory after the current instruction is executed.</a:t>
            </a:r>
          </a:p>
          <a:p>
            <a:pPr algn="just"/>
            <a:r>
              <a:rPr lang="en-US" sz="2200" dirty="0"/>
              <a:t>Two registers are used for input and output.</a:t>
            </a:r>
          </a:p>
          <a:p>
            <a:pPr algn="just"/>
            <a:r>
              <a:rPr lang="en-US" sz="2200" dirty="0"/>
              <a:t>The input register (INPR) receives an 8-bit character from an input device.</a:t>
            </a:r>
          </a:p>
          <a:p>
            <a:pPr algn="just"/>
            <a:r>
              <a:rPr lang="en-US" sz="2200" dirty="0"/>
              <a:t>The output register (OUTR) holds an 8-bit character for an output device.</a:t>
            </a:r>
            <a:endParaRPr lang="en-IN" sz="2200" dirty="0"/>
          </a:p>
        </p:txBody>
      </p:sp>
    </p:spTree>
    <p:extLst>
      <p:ext uri="{BB962C8B-B14F-4D97-AF65-F5344CB8AC3E}">
        <p14:creationId xmlns:p14="http://schemas.microsoft.com/office/powerpoint/2010/main" val="2451962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1956A-F0D3-6CE9-473B-72A5B30BDCC2}"/>
              </a:ext>
            </a:extLst>
          </p:cNvPr>
          <p:cNvSpPr>
            <a:spLocks noGrp="1"/>
          </p:cNvSpPr>
          <p:nvPr>
            <p:ph type="title"/>
          </p:nvPr>
        </p:nvSpPr>
        <p:spPr/>
        <p:txBody>
          <a:bodyPr/>
          <a:lstStyle/>
          <a:p>
            <a:r>
              <a:rPr lang="en-US" dirty="0"/>
              <a:t>Common Bus System:</a:t>
            </a:r>
            <a:br>
              <a:rPr lang="en-US" dirty="0"/>
            </a:br>
            <a:endParaRPr lang="en-IN" dirty="0"/>
          </a:p>
        </p:txBody>
      </p:sp>
      <p:sp>
        <p:nvSpPr>
          <p:cNvPr id="3" name="Content Placeholder 2">
            <a:extLst>
              <a:ext uri="{FF2B5EF4-FFF2-40B4-BE49-F238E27FC236}">
                <a16:creationId xmlns:a16="http://schemas.microsoft.com/office/drawing/2014/main" id="{9BBDD340-376A-2ECB-3813-8995B5C2657B}"/>
              </a:ext>
            </a:extLst>
          </p:cNvPr>
          <p:cNvSpPr>
            <a:spLocks noGrp="1"/>
          </p:cNvSpPr>
          <p:nvPr>
            <p:ph idx="1"/>
          </p:nvPr>
        </p:nvSpPr>
        <p:spPr>
          <a:xfrm>
            <a:off x="446314" y="1417638"/>
            <a:ext cx="8229600" cy="4525963"/>
          </a:xfrm>
        </p:spPr>
        <p:txBody>
          <a:bodyPr/>
          <a:lstStyle/>
          <a:p>
            <a:pPr algn="just"/>
            <a:r>
              <a:rPr lang="en-US" sz="2400" dirty="0"/>
              <a:t>The basic computer has eight registers, a memory unit, and a control unit .</a:t>
            </a:r>
          </a:p>
          <a:p>
            <a:pPr algn="just"/>
            <a:r>
              <a:rPr lang="en-US" sz="2400" dirty="0"/>
              <a:t>Paths must be provided to transfer information from one register to another and between memory and registers.</a:t>
            </a:r>
          </a:p>
          <a:p>
            <a:pPr algn="just"/>
            <a:r>
              <a:rPr lang="en-US" sz="2400" dirty="0"/>
              <a:t> A more efficient scheme for transferring information in a system with many registers is to use a common bus.</a:t>
            </a:r>
          </a:p>
          <a:p>
            <a:pPr algn="just"/>
            <a:r>
              <a:rPr lang="en-US" sz="2400" dirty="0"/>
              <a:t>The connection of the registers and memory of the basic computer to a common bus system is shown in Fig. 5-4.</a:t>
            </a:r>
          </a:p>
          <a:p>
            <a:pPr algn="just"/>
            <a:r>
              <a:rPr lang="en-US" sz="2400" dirty="0"/>
              <a:t>The outputs of seven registers and memory are connected to the common bus.</a:t>
            </a:r>
            <a:endParaRPr lang="en-IN" sz="2400" dirty="0"/>
          </a:p>
        </p:txBody>
      </p:sp>
    </p:spTree>
    <p:extLst>
      <p:ext uri="{BB962C8B-B14F-4D97-AF65-F5344CB8AC3E}">
        <p14:creationId xmlns:p14="http://schemas.microsoft.com/office/powerpoint/2010/main" val="3042358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C61070-B5D4-149B-143B-D33EA0BFA4E3}"/>
              </a:ext>
            </a:extLst>
          </p:cNvPr>
          <p:cNvPicPr>
            <a:picLocks noGrp="1" noChangeAspect="1"/>
          </p:cNvPicPr>
          <p:nvPr>
            <p:ph idx="1"/>
          </p:nvPr>
        </p:nvPicPr>
        <p:blipFill>
          <a:blip r:embed="rId2"/>
          <a:stretch>
            <a:fillRect/>
          </a:stretch>
        </p:blipFill>
        <p:spPr>
          <a:xfrm>
            <a:off x="914400" y="461252"/>
            <a:ext cx="7619999" cy="6168148"/>
          </a:xfrm>
        </p:spPr>
      </p:pic>
    </p:spTree>
    <p:extLst>
      <p:ext uri="{BB962C8B-B14F-4D97-AF65-F5344CB8AC3E}">
        <p14:creationId xmlns:p14="http://schemas.microsoft.com/office/powerpoint/2010/main" val="2480064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9F0A81-EDE5-5EDD-67B2-06C44230B351}"/>
              </a:ext>
            </a:extLst>
          </p:cNvPr>
          <p:cNvSpPr>
            <a:spLocks noGrp="1"/>
          </p:cNvSpPr>
          <p:nvPr>
            <p:ph idx="1"/>
          </p:nvPr>
        </p:nvSpPr>
        <p:spPr>
          <a:xfrm>
            <a:off x="457200" y="518318"/>
            <a:ext cx="8229600" cy="5821363"/>
          </a:xfrm>
        </p:spPr>
        <p:txBody>
          <a:bodyPr/>
          <a:lstStyle/>
          <a:p>
            <a:pPr algn="just"/>
            <a:r>
              <a:rPr lang="en-US" sz="2400" dirty="0"/>
              <a:t>The number along each output shows the decimal equivalent of the required binary selection.</a:t>
            </a:r>
          </a:p>
          <a:p>
            <a:pPr algn="just"/>
            <a:r>
              <a:rPr lang="en-US" sz="2400" dirty="0"/>
              <a:t>For example, the number along the output of DR is 3. The 16-bit outputs of DR are placed on the bus lines when S</a:t>
            </a:r>
            <a:r>
              <a:rPr lang="en-US" sz="2400" baseline="-25000" dirty="0"/>
              <a:t>2</a:t>
            </a:r>
            <a:r>
              <a:rPr lang="en-US" sz="2400" dirty="0"/>
              <a:t>S</a:t>
            </a:r>
            <a:r>
              <a:rPr lang="en-US" sz="2400" baseline="-25000" dirty="0"/>
              <a:t>1</a:t>
            </a:r>
            <a:r>
              <a:rPr lang="en-US" sz="2400" dirty="0"/>
              <a:t>S</a:t>
            </a:r>
            <a:r>
              <a:rPr lang="en-US" sz="2400" baseline="-25000" dirty="0"/>
              <a:t>0 </a:t>
            </a:r>
            <a:r>
              <a:rPr lang="en-US" sz="2400" dirty="0"/>
              <a:t>= 011. </a:t>
            </a:r>
          </a:p>
          <a:p>
            <a:pPr algn="just"/>
            <a:r>
              <a:rPr lang="en-US" sz="2400" dirty="0"/>
              <a:t>Five registers have three control inputs: LD (load), INR (increment), and CLR (clear).</a:t>
            </a:r>
          </a:p>
          <a:p>
            <a:pPr algn="just"/>
            <a:r>
              <a:rPr lang="en-US" sz="2400" dirty="0"/>
              <a:t>The result of an addition is transferred to AC and the end carry-out of the addition is transferred to flip-flop E (extended AC bit). </a:t>
            </a:r>
          </a:p>
          <a:p>
            <a:pPr algn="just"/>
            <a:r>
              <a:rPr lang="en-US" sz="2400" dirty="0"/>
              <a:t>A third set of 8-bit inputs come from the input register INPR. </a:t>
            </a:r>
          </a:p>
          <a:p>
            <a:pPr algn="just"/>
            <a:r>
              <a:rPr lang="en-US" sz="2400" dirty="0"/>
              <a:t>The content of any register can be applied onto the bus and an operation can be performed in the adder and logic circuit during the same clock cycle.</a:t>
            </a:r>
            <a:endParaRPr lang="en-IN" sz="2400" dirty="0"/>
          </a:p>
        </p:txBody>
      </p:sp>
    </p:spTree>
    <p:extLst>
      <p:ext uri="{BB962C8B-B14F-4D97-AF65-F5344CB8AC3E}">
        <p14:creationId xmlns:p14="http://schemas.microsoft.com/office/powerpoint/2010/main" val="2774293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IN" altLang="en-US"/>
              <a:t>Computer Instructions</a:t>
            </a:r>
          </a:p>
        </p:txBody>
      </p:sp>
      <p:sp>
        <p:nvSpPr>
          <p:cNvPr id="31747" name="Content Placeholder 2"/>
          <p:cNvSpPr>
            <a:spLocks noGrp="1"/>
          </p:cNvSpPr>
          <p:nvPr>
            <p:ph idx="1"/>
          </p:nvPr>
        </p:nvSpPr>
        <p:spPr>
          <a:xfrm>
            <a:off x="421481" y="1219200"/>
            <a:ext cx="8229600" cy="4525963"/>
          </a:xfrm>
        </p:spPr>
        <p:txBody>
          <a:bodyPr/>
          <a:lstStyle/>
          <a:p>
            <a:pPr algn="just">
              <a:lnSpc>
                <a:spcPct val="150000"/>
              </a:lnSpc>
            </a:pPr>
            <a:r>
              <a:rPr lang="en-IN" altLang="en-US" sz="1800" dirty="0"/>
              <a:t>The basic computer has three instruction code formats. </a:t>
            </a:r>
          </a:p>
          <a:p>
            <a:pPr algn="just">
              <a:lnSpc>
                <a:spcPct val="150000"/>
              </a:lnSpc>
            </a:pPr>
            <a:r>
              <a:rPr lang="en-IN" altLang="en-US" sz="1800" dirty="0"/>
              <a:t>Each format has 16 bits.</a:t>
            </a:r>
          </a:p>
          <a:p>
            <a:pPr algn="just">
              <a:lnSpc>
                <a:spcPct val="150000"/>
              </a:lnSpc>
            </a:pPr>
            <a:r>
              <a:rPr lang="en-IN" altLang="en-US" sz="1800" dirty="0"/>
              <a:t>The operation code(op-code) part of the instruction contains three bits and the meaning of remaining 13 bits depends upon the op-code encountered.</a:t>
            </a:r>
          </a:p>
          <a:p>
            <a:pPr algn="just">
              <a:lnSpc>
                <a:spcPct val="150000"/>
              </a:lnSpc>
            </a:pPr>
            <a:endParaRPr lang="en-IN" altLang="en-US" dirty="0"/>
          </a:p>
        </p:txBody>
      </p:sp>
      <p:pic>
        <p:nvPicPr>
          <p:cNvPr id="3174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3068638"/>
            <a:ext cx="5113337"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6337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274638"/>
            <a:ext cx="8229600" cy="563562"/>
          </a:xfrm>
        </p:spPr>
        <p:txBody>
          <a:bodyPr/>
          <a:lstStyle/>
          <a:p>
            <a:r>
              <a:rPr lang="en-IN" altLang="en-US" sz="3600" dirty="0"/>
              <a:t>Computer Instruction Set</a:t>
            </a:r>
          </a:p>
        </p:txBody>
      </p:sp>
      <p:pic>
        <p:nvPicPr>
          <p:cNvPr id="32771"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990599"/>
            <a:ext cx="4638675" cy="5990755"/>
          </a:xfrm>
        </p:spPr>
      </p:pic>
    </p:spTree>
    <p:extLst>
      <p:ext uri="{BB962C8B-B14F-4D97-AF65-F5344CB8AC3E}">
        <p14:creationId xmlns:p14="http://schemas.microsoft.com/office/powerpoint/2010/main" val="4101013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133600"/>
            <a:ext cx="8270366" cy="1552348"/>
          </a:xfrm>
          <a:prstGeom prst="rect">
            <a:avLst/>
          </a:prstGeom>
        </p:spPr>
        <p:txBody>
          <a:bodyPr vert="horz" wrap="square" lIns="0" tIns="13335" rIns="0" bIns="0" rtlCol="0">
            <a:spAutoFit/>
          </a:bodyPr>
          <a:lstStyle/>
          <a:p>
            <a:pPr marL="12700">
              <a:lnSpc>
                <a:spcPct val="100000"/>
              </a:lnSpc>
              <a:spcBef>
                <a:spcPts val="105"/>
              </a:spcBef>
            </a:pPr>
            <a:r>
              <a:rPr lang="en-US" sz="5000" spc="-15" dirty="0"/>
              <a:t>	TIMING and </a:t>
            </a:r>
            <a:r>
              <a:rPr sz="5000" spc="-15" dirty="0"/>
              <a:t>CONTROL</a:t>
            </a:r>
            <a:r>
              <a:rPr sz="5000" spc="-90" dirty="0"/>
              <a:t> </a:t>
            </a:r>
            <a:r>
              <a:rPr sz="5000" dirty="0"/>
              <a:t>UNIT</a:t>
            </a:r>
          </a:p>
        </p:txBody>
      </p:sp>
      <p:sp>
        <p:nvSpPr>
          <p:cNvPr id="5" name="object 5"/>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24</a:t>
            </a:fld>
            <a:endParaRPr spc="-90" dirty="0"/>
          </a:p>
        </p:txBody>
      </p:sp>
    </p:spTree>
    <p:extLst>
      <p:ext uri="{BB962C8B-B14F-4D97-AF65-F5344CB8AC3E}">
        <p14:creationId xmlns:p14="http://schemas.microsoft.com/office/powerpoint/2010/main" val="2179637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69056" y="304800"/>
            <a:ext cx="4786883" cy="422148"/>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394663" y="1072212"/>
            <a:ext cx="8535670" cy="4742324"/>
          </a:xfrm>
          <a:prstGeom prst="rect">
            <a:avLst/>
          </a:prstGeom>
        </p:spPr>
        <p:txBody>
          <a:bodyPr vert="horz" wrap="square" lIns="0" tIns="12700" rIns="0" bIns="0" rtlCol="0">
            <a:spAutoFit/>
          </a:bodyPr>
          <a:lstStyle/>
          <a:p>
            <a:pPr marL="174625" indent="-162560" algn="just">
              <a:lnSpc>
                <a:spcPct val="100000"/>
              </a:lnSpc>
              <a:spcBef>
                <a:spcPts val="100"/>
              </a:spcBef>
              <a:buClr>
                <a:srgbClr val="FDB809"/>
              </a:buClr>
              <a:buSzPct val="86666"/>
              <a:buFont typeface="Wingdings"/>
              <a:buChar char=""/>
              <a:tabLst>
                <a:tab pos="175260" algn="l"/>
              </a:tabLst>
            </a:pPr>
            <a:r>
              <a:rPr sz="2400" spc="5" dirty="0">
                <a:latin typeface="Arial" panose="020B0604020202020204" pitchFamily="34" charset="0"/>
                <a:cs typeface="Arial" panose="020B0604020202020204" pitchFamily="34" charset="0"/>
              </a:rPr>
              <a:t>The </a:t>
            </a:r>
            <a:r>
              <a:rPr sz="2400" dirty="0">
                <a:latin typeface="Arial" panose="020B0604020202020204" pitchFamily="34" charset="0"/>
                <a:cs typeface="Arial" panose="020B0604020202020204" pitchFamily="34" charset="0"/>
              </a:rPr>
              <a:t>Control Unit </a:t>
            </a:r>
            <a:r>
              <a:rPr sz="2400" spc="-10" dirty="0">
                <a:latin typeface="Arial" panose="020B0604020202020204" pitchFamily="34" charset="0"/>
                <a:cs typeface="Arial" panose="020B0604020202020204" pitchFamily="34" charset="0"/>
              </a:rPr>
              <a:t>was </a:t>
            </a:r>
            <a:r>
              <a:rPr sz="2400" spc="-5" dirty="0">
                <a:latin typeface="Arial" panose="020B0604020202020204" pitchFamily="34" charset="0"/>
                <a:cs typeface="Arial" panose="020B0604020202020204" pitchFamily="34" charset="0"/>
              </a:rPr>
              <a:t>historically defined as one distinct </a:t>
            </a:r>
            <a:r>
              <a:rPr sz="2400" spc="10" dirty="0">
                <a:latin typeface="Arial" panose="020B0604020202020204" pitchFamily="34" charset="0"/>
                <a:cs typeface="Arial" panose="020B0604020202020204" pitchFamily="34" charset="0"/>
              </a:rPr>
              <a:t>part </a:t>
            </a:r>
            <a:r>
              <a:rPr sz="2400" spc="-5" dirty="0">
                <a:latin typeface="Arial" panose="020B0604020202020204" pitchFamily="34" charset="0"/>
                <a:cs typeface="Arial" panose="020B0604020202020204" pitchFamily="34" charset="0"/>
              </a:rPr>
              <a:t>of the</a:t>
            </a:r>
            <a:r>
              <a:rPr sz="2400" spc="1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1946</a:t>
            </a:r>
            <a:r>
              <a:rPr lang="en-US"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reference model of </a:t>
            </a:r>
            <a:r>
              <a:rPr sz="2400" spc="-30" dirty="0">
                <a:latin typeface="Arial" panose="020B0604020202020204" pitchFamily="34" charset="0"/>
                <a:cs typeface="Arial" panose="020B0604020202020204" pitchFamily="34" charset="0"/>
              </a:rPr>
              <a:t>Von </a:t>
            </a:r>
            <a:r>
              <a:rPr sz="2400" spc="-5" dirty="0">
                <a:latin typeface="Arial" panose="020B0604020202020204" pitchFamily="34" charset="0"/>
                <a:cs typeface="Arial" panose="020B0604020202020204" pitchFamily="34" charset="0"/>
              </a:rPr>
              <a:t>Neumann</a:t>
            </a:r>
            <a:r>
              <a:rPr sz="2400" spc="18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architecture.</a:t>
            </a:r>
            <a:endParaRPr sz="2400" dirty="0">
              <a:latin typeface="Arial" panose="020B0604020202020204" pitchFamily="34" charset="0"/>
              <a:cs typeface="Arial" panose="020B0604020202020204" pitchFamily="34" charset="0"/>
            </a:endParaRPr>
          </a:p>
          <a:p>
            <a:pPr algn="just">
              <a:lnSpc>
                <a:spcPct val="100000"/>
              </a:lnSpc>
              <a:spcBef>
                <a:spcPts val="50"/>
              </a:spcBef>
            </a:pPr>
            <a:endParaRPr sz="2800" dirty="0">
              <a:latin typeface="Arial" panose="020B0604020202020204" pitchFamily="34" charset="0"/>
              <a:cs typeface="Arial" panose="020B0604020202020204" pitchFamily="34" charset="0"/>
            </a:endParaRPr>
          </a:p>
          <a:p>
            <a:pPr marL="12700" marR="15240" algn="just">
              <a:lnSpc>
                <a:spcPct val="100000"/>
              </a:lnSpc>
              <a:buClr>
                <a:srgbClr val="FDB809"/>
              </a:buClr>
              <a:buSzPct val="86666"/>
              <a:buFont typeface="Wingdings"/>
              <a:buChar char=""/>
              <a:tabLst>
                <a:tab pos="175260" algn="l"/>
              </a:tabLst>
            </a:pPr>
            <a:r>
              <a:rPr sz="2400" spc="5" dirty="0">
                <a:latin typeface="Arial" panose="020B0604020202020204" pitchFamily="34" charset="0"/>
                <a:cs typeface="Arial" panose="020B0604020202020204" pitchFamily="34" charset="0"/>
              </a:rPr>
              <a:t>The </a:t>
            </a:r>
            <a:r>
              <a:rPr sz="2400" spc="-5" dirty="0">
                <a:latin typeface="Arial" panose="020B0604020202020204" pitchFamily="34" charset="0"/>
                <a:cs typeface="Arial" panose="020B0604020202020204" pitchFamily="34" charset="0"/>
              </a:rPr>
              <a:t>function of control unit </a:t>
            </a:r>
            <a:r>
              <a:rPr sz="2400" dirty="0">
                <a:latin typeface="Arial" panose="020B0604020202020204" pitchFamily="34" charset="0"/>
                <a:cs typeface="Arial" panose="020B0604020202020204" pitchFamily="34" charset="0"/>
              </a:rPr>
              <a:t>is </a:t>
            </a:r>
            <a:r>
              <a:rPr sz="2400" spc="-5" dirty="0">
                <a:latin typeface="Arial" panose="020B0604020202020204" pitchFamily="34" charset="0"/>
                <a:cs typeface="Arial" panose="020B0604020202020204" pitchFamily="34" charset="0"/>
              </a:rPr>
              <a:t>to </a:t>
            </a:r>
            <a:r>
              <a:rPr sz="2400" spc="-10" dirty="0">
                <a:latin typeface="Arial" panose="020B0604020202020204" pitchFamily="34" charset="0"/>
                <a:cs typeface="Arial" panose="020B0604020202020204" pitchFamily="34" charset="0"/>
              </a:rPr>
              <a:t>generate relevant </a:t>
            </a:r>
            <a:r>
              <a:rPr sz="2400" spc="-5" dirty="0">
                <a:latin typeface="Arial" panose="020B0604020202020204" pitchFamily="34" charset="0"/>
                <a:cs typeface="Arial" panose="020B0604020202020204" pitchFamily="34" charset="0"/>
              </a:rPr>
              <a:t>timing and control signals to  all operations </a:t>
            </a:r>
            <a:r>
              <a:rPr sz="2400" dirty="0">
                <a:latin typeface="Arial" panose="020B0604020202020204" pitchFamily="34" charset="0"/>
                <a:cs typeface="Arial" panose="020B0604020202020204" pitchFamily="34" charset="0"/>
              </a:rPr>
              <a:t>in </a:t>
            </a:r>
            <a:r>
              <a:rPr sz="2400" spc="-5" dirty="0">
                <a:latin typeface="Arial" panose="020B0604020202020204" pitchFamily="34" charset="0"/>
                <a:cs typeface="Arial" panose="020B0604020202020204" pitchFamily="34" charset="0"/>
              </a:rPr>
              <a:t>the</a:t>
            </a:r>
            <a:r>
              <a:rPr sz="2400" spc="10" dirty="0">
                <a:latin typeface="Arial" panose="020B0604020202020204" pitchFamily="34" charset="0"/>
                <a:cs typeface="Arial" panose="020B0604020202020204" pitchFamily="34" charset="0"/>
              </a:rPr>
              <a:t> </a:t>
            </a:r>
            <a:r>
              <a:rPr sz="2400" spc="-20" dirty="0">
                <a:latin typeface="Arial" panose="020B0604020202020204" pitchFamily="34" charset="0"/>
                <a:cs typeface="Arial" panose="020B0604020202020204" pitchFamily="34" charset="0"/>
              </a:rPr>
              <a:t>computer.</a:t>
            </a:r>
            <a:endParaRPr sz="2400" dirty="0">
              <a:latin typeface="Arial" panose="020B0604020202020204" pitchFamily="34" charset="0"/>
              <a:cs typeface="Arial" panose="020B0604020202020204" pitchFamily="34" charset="0"/>
            </a:endParaRPr>
          </a:p>
          <a:p>
            <a:pPr algn="just">
              <a:lnSpc>
                <a:spcPct val="100000"/>
              </a:lnSpc>
              <a:spcBef>
                <a:spcPts val="50"/>
              </a:spcBef>
              <a:buClr>
                <a:srgbClr val="FDB809"/>
              </a:buClr>
              <a:buFont typeface="Wingdings"/>
              <a:buChar char=""/>
            </a:pPr>
            <a:endParaRPr sz="2800" dirty="0">
              <a:latin typeface="Arial" panose="020B0604020202020204" pitchFamily="34" charset="0"/>
              <a:cs typeface="Arial" panose="020B0604020202020204" pitchFamily="34" charset="0"/>
            </a:endParaRPr>
          </a:p>
          <a:p>
            <a:pPr algn="just">
              <a:lnSpc>
                <a:spcPct val="100000"/>
              </a:lnSpc>
              <a:spcBef>
                <a:spcPts val="50"/>
              </a:spcBef>
              <a:buClr>
                <a:srgbClr val="FDB809"/>
              </a:buClr>
            </a:pPr>
            <a:endParaRPr sz="2800" dirty="0">
              <a:latin typeface="Arial" panose="020B0604020202020204" pitchFamily="34" charset="0"/>
              <a:cs typeface="Arial" panose="020B0604020202020204" pitchFamily="34" charset="0"/>
            </a:endParaRPr>
          </a:p>
          <a:p>
            <a:pPr marL="174625" indent="-162560" algn="just">
              <a:lnSpc>
                <a:spcPct val="100000"/>
              </a:lnSpc>
              <a:spcBef>
                <a:spcPts val="5"/>
              </a:spcBef>
              <a:buClr>
                <a:srgbClr val="FDB809"/>
              </a:buClr>
              <a:buSzPct val="86666"/>
              <a:buFont typeface="Wingdings"/>
              <a:buChar char=""/>
              <a:tabLst>
                <a:tab pos="175260" algn="l"/>
              </a:tabLst>
            </a:pPr>
            <a:r>
              <a:rPr sz="2400" spc="-5" dirty="0">
                <a:latin typeface="Arial" panose="020B0604020202020204" pitchFamily="34" charset="0"/>
                <a:cs typeface="Arial" panose="020B0604020202020204" pitchFamily="34" charset="0"/>
              </a:rPr>
              <a:t>It controls the flow of </a:t>
            </a:r>
            <a:r>
              <a:rPr sz="2400" spc="-10" dirty="0">
                <a:latin typeface="Arial" panose="020B0604020202020204" pitchFamily="34" charset="0"/>
                <a:cs typeface="Arial" panose="020B0604020202020204" pitchFamily="34" charset="0"/>
              </a:rPr>
              <a:t>data between </a:t>
            </a:r>
            <a:r>
              <a:rPr sz="2400" spc="-5" dirty="0">
                <a:latin typeface="Arial" panose="020B0604020202020204" pitchFamily="34" charset="0"/>
                <a:cs typeface="Arial" panose="020B0604020202020204" pitchFamily="34" charset="0"/>
              </a:rPr>
              <a:t>the processor and </a:t>
            </a:r>
            <a:r>
              <a:rPr sz="2400" spc="10" dirty="0">
                <a:latin typeface="Arial" panose="020B0604020202020204" pitchFamily="34" charset="0"/>
                <a:cs typeface="Arial" panose="020B0604020202020204" pitchFamily="34" charset="0"/>
              </a:rPr>
              <a:t>memory </a:t>
            </a:r>
            <a:r>
              <a:rPr sz="2400" spc="-5" dirty="0">
                <a:latin typeface="Arial" panose="020B0604020202020204" pitchFamily="34" charset="0"/>
                <a:cs typeface="Arial" panose="020B0604020202020204" pitchFamily="34" charset="0"/>
              </a:rPr>
              <a:t>and</a:t>
            </a:r>
            <a:r>
              <a:rPr sz="2400" spc="19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peripherals.</a:t>
            </a:r>
            <a:endParaRPr sz="2400" dirty="0">
              <a:latin typeface="Arial" panose="020B0604020202020204" pitchFamily="34" charset="0"/>
              <a:cs typeface="Arial" panose="020B0604020202020204" pitchFamily="34" charset="0"/>
            </a:endParaRPr>
          </a:p>
          <a:p>
            <a:pPr algn="just">
              <a:lnSpc>
                <a:spcPct val="100000"/>
              </a:lnSpc>
              <a:spcBef>
                <a:spcPts val="50"/>
              </a:spcBef>
              <a:buClr>
                <a:srgbClr val="FDB809"/>
              </a:buClr>
              <a:buFont typeface="Wingdings"/>
              <a:buChar char=""/>
            </a:pPr>
            <a:endParaRPr sz="2800" dirty="0">
              <a:latin typeface="Arial" panose="020B0604020202020204" pitchFamily="34" charset="0"/>
              <a:cs typeface="Arial" panose="020B0604020202020204" pitchFamily="34" charset="0"/>
            </a:endParaRPr>
          </a:p>
          <a:p>
            <a:pPr marL="12700" marR="563245" algn="just">
              <a:lnSpc>
                <a:spcPct val="100000"/>
              </a:lnSpc>
              <a:buClr>
                <a:srgbClr val="FDB809"/>
              </a:buClr>
              <a:buSzPct val="86666"/>
              <a:buFont typeface="Wingdings"/>
              <a:buChar char=""/>
              <a:tabLst>
                <a:tab pos="175260" algn="l"/>
              </a:tabLst>
            </a:pPr>
            <a:r>
              <a:rPr sz="2400" spc="5" dirty="0">
                <a:latin typeface="Arial" panose="020B0604020202020204" pitchFamily="34" charset="0"/>
                <a:cs typeface="Arial" panose="020B0604020202020204" pitchFamily="34" charset="0"/>
              </a:rPr>
              <a:t>The </a:t>
            </a:r>
            <a:r>
              <a:rPr sz="2400" spc="-10" dirty="0">
                <a:latin typeface="Arial" panose="020B0604020202020204" pitchFamily="34" charset="0"/>
                <a:cs typeface="Arial" panose="020B0604020202020204" pitchFamily="34" charset="0"/>
              </a:rPr>
              <a:t>examples </a:t>
            </a:r>
            <a:r>
              <a:rPr sz="2400" spc="-5" dirty="0">
                <a:latin typeface="Arial" panose="020B0604020202020204" pitchFamily="34" charset="0"/>
                <a:cs typeface="Arial" panose="020B0604020202020204" pitchFamily="34" charset="0"/>
              </a:rPr>
              <a:t>of </a:t>
            </a:r>
            <a:r>
              <a:rPr sz="2400" spc="-10" dirty="0">
                <a:latin typeface="Arial" panose="020B0604020202020204" pitchFamily="34" charset="0"/>
                <a:cs typeface="Arial" panose="020B0604020202020204" pitchFamily="34" charset="0"/>
              </a:rPr>
              <a:t>devices </a:t>
            </a:r>
            <a:r>
              <a:rPr sz="2400" spc="-15" dirty="0">
                <a:latin typeface="Arial" panose="020B0604020202020204" pitchFamily="34" charset="0"/>
                <a:cs typeface="Arial" panose="020B0604020202020204" pitchFamily="34" charset="0"/>
              </a:rPr>
              <a:t>that </a:t>
            </a:r>
            <a:r>
              <a:rPr sz="2400" dirty="0">
                <a:latin typeface="Arial" panose="020B0604020202020204" pitchFamily="34" charset="0"/>
                <a:cs typeface="Arial" panose="020B0604020202020204" pitchFamily="34" charset="0"/>
              </a:rPr>
              <a:t>require a </a:t>
            </a:r>
            <a:r>
              <a:rPr sz="2400" spc="-5" dirty="0">
                <a:latin typeface="Arial" panose="020B0604020202020204" pitchFamily="34" charset="0"/>
                <a:cs typeface="Arial" panose="020B0604020202020204" pitchFamily="34" charset="0"/>
              </a:rPr>
              <a:t>control unit </a:t>
            </a:r>
            <a:r>
              <a:rPr sz="2400" spc="5" dirty="0">
                <a:latin typeface="Arial" panose="020B0604020202020204" pitchFamily="34" charset="0"/>
                <a:cs typeface="Arial" panose="020B0604020202020204" pitchFamily="34" charset="0"/>
              </a:rPr>
              <a:t>are </a:t>
            </a:r>
            <a:r>
              <a:rPr sz="2400" dirty="0">
                <a:latin typeface="Arial" panose="020B0604020202020204" pitchFamily="34" charset="0"/>
                <a:cs typeface="Arial" panose="020B0604020202020204" pitchFamily="34" charset="0"/>
              </a:rPr>
              <a:t>CPUs </a:t>
            </a:r>
            <a:r>
              <a:rPr sz="2400" spc="-5" dirty="0">
                <a:latin typeface="Arial" panose="020B0604020202020204" pitchFamily="34" charset="0"/>
                <a:cs typeface="Arial" panose="020B0604020202020204" pitchFamily="34" charset="0"/>
              </a:rPr>
              <a:t>and </a:t>
            </a:r>
            <a:r>
              <a:rPr sz="2400" dirty="0">
                <a:latin typeface="Arial" panose="020B0604020202020204" pitchFamily="34" charset="0"/>
                <a:cs typeface="Arial" panose="020B0604020202020204" pitchFamily="34" charset="0"/>
              </a:rPr>
              <a:t>graphics  </a:t>
            </a:r>
            <a:r>
              <a:rPr sz="2400" spc="-5" dirty="0">
                <a:latin typeface="Arial" panose="020B0604020202020204" pitchFamily="34" charset="0"/>
                <a:cs typeface="Arial" panose="020B0604020202020204" pitchFamily="34" charset="0"/>
              </a:rPr>
              <a:t>processing units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(GPUs).</a:t>
            </a:r>
            <a:endParaRPr sz="2400" dirty="0">
              <a:latin typeface="Arial" panose="020B0604020202020204" pitchFamily="34" charset="0"/>
              <a:cs typeface="Arial" panose="020B0604020202020204" pitchFamily="34" charset="0"/>
            </a:endParaRP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25</a:t>
            </a:fld>
            <a:endParaRPr spc="-90" dirty="0"/>
          </a:p>
        </p:txBody>
      </p:sp>
    </p:spTree>
    <p:extLst>
      <p:ext uri="{BB962C8B-B14F-4D97-AF65-F5344CB8AC3E}">
        <p14:creationId xmlns:p14="http://schemas.microsoft.com/office/powerpoint/2010/main" val="4286325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9400" y="304800"/>
            <a:ext cx="3724910" cy="696595"/>
          </a:xfrm>
          <a:prstGeom prst="rect">
            <a:avLst/>
          </a:prstGeom>
        </p:spPr>
        <p:txBody>
          <a:bodyPr vert="horz" wrap="square" lIns="0" tIns="13335" rIns="0" bIns="0" rtlCol="0">
            <a:spAutoFit/>
          </a:bodyPr>
          <a:lstStyle/>
          <a:p>
            <a:pPr marL="12700">
              <a:lnSpc>
                <a:spcPct val="100000"/>
              </a:lnSpc>
              <a:spcBef>
                <a:spcPts val="105"/>
              </a:spcBef>
            </a:pPr>
            <a:r>
              <a:rPr dirty="0"/>
              <a:t>FUNCTIONS</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26</a:t>
            </a:fld>
            <a:endParaRPr spc="-90" dirty="0"/>
          </a:p>
        </p:txBody>
      </p:sp>
      <p:sp>
        <p:nvSpPr>
          <p:cNvPr id="3" name="object 3"/>
          <p:cNvSpPr txBox="1"/>
          <p:nvPr/>
        </p:nvSpPr>
        <p:spPr>
          <a:xfrm>
            <a:off x="228600" y="1447800"/>
            <a:ext cx="8686800" cy="3731791"/>
          </a:xfrm>
          <a:prstGeom prst="rect">
            <a:avLst/>
          </a:prstGeom>
        </p:spPr>
        <p:txBody>
          <a:bodyPr vert="horz" wrap="square" lIns="0" tIns="12700" rIns="0" bIns="0" rtlCol="0">
            <a:spAutoFit/>
          </a:bodyPr>
          <a:lstStyle/>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6385" marR="247015" indent="-274320" algn="just">
              <a:lnSpc>
                <a:spcPct val="100000"/>
              </a:lnSpc>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control unit must communicate with both the arithmetic logic unit  (ALU) and main memory.</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control unit instructs the arithmetic logic unit that which logical or</a:t>
            </a:r>
            <a:r>
              <a:rPr lang="en-US"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arithmetic operation is to be performed.</a:t>
            </a:r>
          </a:p>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6385" marR="508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control unit co-ordinates the activities of the other two units as well  as all peripherals and auxiliary storage devices linked to the computer.</a:t>
            </a:r>
          </a:p>
        </p:txBody>
      </p:sp>
    </p:spTree>
    <p:extLst>
      <p:ext uri="{BB962C8B-B14F-4D97-AF65-F5344CB8AC3E}">
        <p14:creationId xmlns:p14="http://schemas.microsoft.com/office/powerpoint/2010/main" val="367639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4534" y="784606"/>
            <a:ext cx="2354580" cy="788035"/>
          </a:xfrm>
          <a:prstGeom prst="rect">
            <a:avLst/>
          </a:prstGeom>
        </p:spPr>
        <p:txBody>
          <a:bodyPr vert="horz" wrap="square" lIns="0" tIns="13335" rIns="0" bIns="0" rtlCol="0">
            <a:spAutoFit/>
          </a:bodyPr>
          <a:lstStyle/>
          <a:p>
            <a:pPr marL="12700">
              <a:lnSpc>
                <a:spcPct val="100000"/>
              </a:lnSpc>
              <a:spcBef>
                <a:spcPts val="105"/>
              </a:spcBef>
            </a:pPr>
            <a:r>
              <a:rPr sz="5000" spc="-5" dirty="0"/>
              <a:t>TYPES</a:t>
            </a:r>
            <a:endParaRPr sz="5000"/>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27</a:t>
            </a:fld>
            <a:endParaRPr spc="-90" dirty="0"/>
          </a:p>
        </p:txBody>
      </p:sp>
      <p:sp>
        <p:nvSpPr>
          <p:cNvPr id="3" name="object 3"/>
          <p:cNvSpPr txBox="1"/>
          <p:nvPr/>
        </p:nvSpPr>
        <p:spPr>
          <a:xfrm>
            <a:off x="535940" y="1954733"/>
            <a:ext cx="8191626" cy="2228815"/>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panose="020B0604020202020204" pitchFamily="34" charset="0"/>
                <a:cs typeface="Arial" panose="020B0604020202020204" pitchFamily="34" charset="0"/>
              </a:rPr>
              <a:t>Control unit generates control signals using one of the two</a:t>
            </a:r>
            <a:r>
              <a:rPr lang="en-US"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organizations :</a:t>
            </a:r>
          </a:p>
          <a:p>
            <a:pPr>
              <a:lnSpc>
                <a:spcPct val="100000"/>
              </a:lnSpc>
              <a:spcBef>
                <a:spcPts val="25"/>
              </a:spcBef>
            </a:pPr>
            <a:endParaRPr sz="2400" spc="-5" dirty="0">
              <a:latin typeface="Arial" panose="020B0604020202020204" pitchFamily="34" charset="0"/>
              <a:cs typeface="Arial" panose="020B0604020202020204" pitchFamily="34" charset="0"/>
            </a:endParaRPr>
          </a:p>
          <a:p>
            <a:pPr marL="287020" indent="-274320">
              <a:lnSpc>
                <a:spcPct val="100000"/>
              </a:lnSpc>
              <a:buClr>
                <a:srgbClr val="FDB809"/>
              </a:buClr>
              <a:buSzPct val="95000"/>
              <a:buFont typeface="Wingdings"/>
              <a:buChar char=""/>
              <a:tabLst>
                <a:tab pos="287020" algn="l"/>
              </a:tabLst>
            </a:pPr>
            <a:r>
              <a:rPr sz="2400" b="1" spc="-5" dirty="0">
                <a:latin typeface="Arial" panose="020B0604020202020204" pitchFamily="34" charset="0"/>
                <a:cs typeface="Arial" panose="020B0604020202020204" pitchFamily="34" charset="0"/>
              </a:rPr>
              <a:t>Hardwired Control Unit.</a:t>
            </a:r>
          </a:p>
          <a:p>
            <a:pPr>
              <a:lnSpc>
                <a:spcPct val="100000"/>
              </a:lnSpc>
              <a:spcBef>
                <a:spcPts val="45"/>
              </a:spcBef>
              <a:buClr>
                <a:srgbClr val="FDB809"/>
              </a:buClr>
              <a:buFont typeface="Wingdings"/>
              <a:buChar char=""/>
            </a:pPr>
            <a:endParaRPr sz="2400" b="1" spc="-5" dirty="0">
              <a:latin typeface="Arial" panose="020B0604020202020204" pitchFamily="34" charset="0"/>
              <a:cs typeface="Arial" panose="020B0604020202020204" pitchFamily="34" charset="0"/>
            </a:endParaRPr>
          </a:p>
          <a:p>
            <a:pPr marL="287020" indent="-274320">
              <a:lnSpc>
                <a:spcPct val="100000"/>
              </a:lnSpc>
              <a:spcBef>
                <a:spcPts val="5"/>
              </a:spcBef>
              <a:buClr>
                <a:srgbClr val="FDB809"/>
              </a:buClr>
              <a:buSzPct val="95000"/>
              <a:buFont typeface="Wingdings"/>
              <a:buChar char=""/>
              <a:tabLst>
                <a:tab pos="287020" algn="l"/>
              </a:tabLst>
            </a:pPr>
            <a:r>
              <a:rPr sz="2400" b="1" spc="-5" dirty="0">
                <a:latin typeface="Arial" panose="020B0604020202020204" pitchFamily="34" charset="0"/>
                <a:cs typeface="Arial" panose="020B0604020202020204" pitchFamily="34" charset="0"/>
              </a:rPr>
              <a:t>Micro-programmed Control Unit.</a:t>
            </a:r>
          </a:p>
        </p:txBody>
      </p:sp>
    </p:spTree>
    <p:extLst>
      <p:ext uri="{BB962C8B-B14F-4D97-AF65-F5344CB8AC3E}">
        <p14:creationId xmlns:p14="http://schemas.microsoft.com/office/powerpoint/2010/main" val="1202960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687" y="156556"/>
            <a:ext cx="8077834" cy="788035"/>
          </a:xfrm>
          <a:prstGeom prst="rect">
            <a:avLst/>
          </a:prstGeom>
        </p:spPr>
        <p:txBody>
          <a:bodyPr vert="horz" wrap="square" lIns="0" tIns="13335" rIns="0" bIns="0" rtlCol="0">
            <a:spAutoFit/>
          </a:bodyPr>
          <a:lstStyle/>
          <a:p>
            <a:pPr marL="12700">
              <a:lnSpc>
                <a:spcPct val="100000"/>
              </a:lnSpc>
              <a:spcBef>
                <a:spcPts val="105"/>
              </a:spcBef>
            </a:pPr>
            <a:r>
              <a:rPr sz="5000" spc="25" dirty="0"/>
              <a:t>Hardwired </a:t>
            </a:r>
            <a:r>
              <a:rPr sz="5000" spc="10" dirty="0"/>
              <a:t>Control</a:t>
            </a:r>
            <a:r>
              <a:rPr sz="5000" spc="-80" dirty="0"/>
              <a:t> </a:t>
            </a:r>
            <a:r>
              <a:rPr sz="5000" dirty="0"/>
              <a:t>Unit</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28</a:t>
            </a:fld>
            <a:endParaRPr spc="-90" dirty="0"/>
          </a:p>
        </p:txBody>
      </p:sp>
      <p:sp>
        <p:nvSpPr>
          <p:cNvPr id="3" name="object 3"/>
          <p:cNvSpPr txBox="1"/>
          <p:nvPr/>
        </p:nvSpPr>
        <p:spPr>
          <a:xfrm>
            <a:off x="348106" y="1289480"/>
            <a:ext cx="8379460" cy="4852610"/>
          </a:xfrm>
          <a:prstGeom prst="rect">
            <a:avLst/>
          </a:prstGeom>
        </p:spPr>
        <p:txBody>
          <a:bodyPr vert="horz" wrap="square" lIns="0" tIns="12700" rIns="0" bIns="0" rtlCol="0">
            <a:spAutoFit/>
          </a:bodyPr>
          <a:lstStyle/>
          <a:p>
            <a:pPr marL="350520" indent="-338455" algn="just">
              <a:lnSpc>
                <a:spcPct val="100000"/>
              </a:lnSpc>
              <a:spcBef>
                <a:spcPts val="100"/>
              </a:spcBef>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Hardwired control units are implemented through use of sequential</a:t>
            </a:r>
            <a:r>
              <a:rPr lang="en-US"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logic units or circuits like gates , fliflops , decoders in hardware.</a:t>
            </a:r>
          </a:p>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6385" marR="528955" indent="-274320" algn="just">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	Hardwired control units are generally faster than micro-programmed  designs.</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This architecture is preferred in reduced instruction set computers (RISC)</a:t>
            </a:r>
            <a:r>
              <a:rPr lang="en-US"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as they use a simpler instruction set.</a:t>
            </a:r>
          </a:p>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6385" marR="4572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hardwired approach has become less popular as computers have  evolved as at one time, control units for CPUs were ad-hoc logic, and they  were difficult to design.</a:t>
            </a:r>
          </a:p>
        </p:txBody>
      </p:sp>
    </p:spTree>
    <p:extLst>
      <p:ext uri="{BB962C8B-B14F-4D97-AF65-F5344CB8AC3E}">
        <p14:creationId xmlns:p14="http://schemas.microsoft.com/office/powerpoint/2010/main" val="514115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8166" y="728218"/>
            <a:ext cx="4241165" cy="696595"/>
          </a:xfrm>
          <a:prstGeom prst="rect">
            <a:avLst/>
          </a:prstGeom>
        </p:spPr>
        <p:txBody>
          <a:bodyPr vert="horz" wrap="square" lIns="0" tIns="13335" rIns="0" bIns="0" rtlCol="0">
            <a:spAutoFit/>
          </a:bodyPr>
          <a:lstStyle/>
          <a:p>
            <a:pPr marL="12700">
              <a:lnSpc>
                <a:spcPct val="100000"/>
              </a:lnSpc>
              <a:spcBef>
                <a:spcPts val="105"/>
              </a:spcBef>
            </a:pPr>
            <a:r>
              <a:rPr dirty="0"/>
              <a:t>A</a:t>
            </a:r>
            <a:r>
              <a:rPr spc="-170" dirty="0"/>
              <a:t>D</a:t>
            </a:r>
            <a:r>
              <a:rPr spc="-260" dirty="0"/>
              <a:t>V</a:t>
            </a:r>
            <a:r>
              <a:rPr dirty="0"/>
              <a:t>AN</a:t>
            </a:r>
            <a:r>
              <a:rPr spc="-300" dirty="0"/>
              <a:t>T</a:t>
            </a:r>
            <a:r>
              <a:rPr spc="-95" dirty="0"/>
              <a:t>A</a:t>
            </a:r>
            <a:r>
              <a:rPr dirty="0"/>
              <a:t>GES</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29</a:t>
            </a:fld>
            <a:endParaRPr spc="-90" dirty="0"/>
          </a:p>
        </p:txBody>
      </p:sp>
      <p:sp>
        <p:nvSpPr>
          <p:cNvPr id="3" name="object 3"/>
          <p:cNvSpPr txBox="1"/>
          <p:nvPr/>
        </p:nvSpPr>
        <p:spPr>
          <a:xfrm>
            <a:off x="535940" y="1956257"/>
            <a:ext cx="8016875" cy="2993127"/>
          </a:xfrm>
          <a:prstGeom prst="rect">
            <a:avLst/>
          </a:prstGeom>
        </p:spPr>
        <p:txBody>
          <a:bodyPr vert="horz" wrap="square" lIns="0" tIns="12700" rIns="0" bIns="0" rtlCol="0">
            <a:spAutoFit/>
          </a:bodyPr>
          <a:lstStyle/>
          <a:p>
            <a:pPr marL="287020" indent="-274320" algn="just">
              <a:lnSpc>
                <a:spcPct val="100000"/>
              </a:lnSpc>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Hardwired Control Unit is fast because control signals are generated by</a:t>
            </a:r>
            <a:r>
              <a:rPr lang="en-US"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combinational circuits.</a:t>
            </a:r>
          </a:p>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6385" marR="354965" indent="-274320" algn="just">
              <a:lnSpc>
                <a:spcPct val="100000"/>
              </a:lnSpc>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delay in generation of control signals depends upon the number of  gates.</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performances is high as compared to micro-programmed control unit.</a:t>
            </a:r>
          </a:p>
        </p:txBody>
      </p:sp>
    </p:spTree>
    <p:extLst>
      <p:ext uri="{BB962C8B-B14F-4D97-AF65-F5344CB8AC3E}">
        <p14:creationId xmlns:p14="http://schemas.microsoft.com/office/powerpoint/2010/main" val="2682731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8754" y="652018"/>
            <a:ext cx="5297170" cy="696595"/>
          </a:xfrm>
          <a:prstGeom prst="rect">
            <a:avLst/>
          </a:prstGeom>
        </p:spPr>
        <p:txBody>
          <a:bodyPr vert="horz" wrap="square" lIns="0" tIns="13335" rIns="0" bIns="0" rtlCol="0">
            <a:spAutoFit/>
          </a:bodyPr>
          <a:lstStyle/>
          <a:p>
            <a:pPr marL="12700">
              <a:lnSpc>
                <a:spcPct val="100000"/>
              </a:lnSpc>
              <a:spcBef>
                <a:spcPts val="105"/>
              </a:spcBef>
            </a:pPr>
            <a:r>
              <a:rPr spc="-65" dirty="0"/>
              <a:t>DISADVANTAGES</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30</a:t>
            </a:fld>
            <a:endParaRPr spc="-90" dirty="0"/>
          </a:p>
        </p:txBody>
      </p:sp>
      <p:sp>
        <p:nvSpPr>
          <p:cNvPr id="3" name="object 3"/>
          <p:cNvSpPr txBox="1"/>
          <p:nvPr/>
        </p:nvSpPr>
        <p:spPr>
          <a:xfrm>
            <a:off x="535940" y="1956257"/>
            <a:ext cx="7965440" cy="3388107"/>
          </a:xfrm>
          <a:prstGeom prst="rect">
            <a:avLst/>
          </a:prstGeom>
        </p:spPr>
        <p:txBody>
          <a:bodyPr vert="horz" wrap="square" lIns="0" tIns="12700" rIns="0" bIns="0" rtlCol="0">
            <a:spAutoFit/>
          </a:bodyPr>
          <a:lstStyle/>
          <a:p>
            <a:pPr marL="287020" indent="-274320" algn="just">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control signals required by the CPU will be more complex</a:t>
            </a:r>
          </a:p>
          <a:p>
            <a:pPr marL="287020" indent="-274320" algn="just">
              <a:spcBef>
                <a:spcPts val="100"/>
              </a:spcBef>
              <a:buClr>
                <a:srgbClr val="FDB809"/>
              </a:buClr>
              <a:buSzPct val="93333"/>
              <a:buFont typeface="Wingdings"/>
              <a:buChar char=""/>
              <a:tabLst>
                <a:tab pos="287020" algn="l"/>
              </a:tabLst>
            </a:pPr>
            <a:endParaRPr sz="2400" spc="-5" dirty="0">
              <a:latin typeface="Arial" panose="020B0604020202020204" pitchFamily="34" charset="0"/>
              <a:cs typeface="Arial" panose="020B0604020202020204" pitchFamily="34" charset="0"/>
            </a:endParaRPr>
          </a:p>
          <a:p>
            <a:pPr marL="287020" marR="241935" indent="-274320" algn="just">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Modifications in control signal are very difficult. That means it requires  rearranging of wires in the hardware circuit.</a:t>
            </a:r>
          </a:p>
          <a:p>
            <a:pPr marL="287020" indent="-274320" algn="just">
              <a:spcBef>
                <a:spcPts val="100"/>
              </a:spcBef>
              <a:buClr>
                <a:srgbClr val="FDB809"/>
              </a:buClr>
              <a:buSzPct val="93333"/>
              <a:buFont typeface="Wingdings"/>
              <a:buChar char=""/>
              <a:tabLst>
                <a:tab pos="287020" algn="l"/>
              </a:tabLst>
            </a:pPr>
            <a:endParaRPr sz="2400" spc="-5" dirty="0">
              <a:latin typeface="Arial" panose="020B0604020202020204" pitchFamily="34" charset="0"/>
              <a:cs typeface="Arial" panose="020B0604020202020204" pitchFamily="34" charset="0"/>
            </a:endParaRPr>
          </a:p>
          <a:p>
            <a:pPr marL="287020" indent="-274320" algn="just">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It is difficult to correct mistake in original design or adding new features</a:t>
            </a:r>
            <a:r>
              <a:rPr lang="en-US"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in existing design of control unit.</a:t>
            </a:r>
          </a:p>
        </p:txBody>
      </p:sp>
    </p:spTree>
    <p:extLst>
      <p:ext uri="{BB962C8B-B14F-4D97-AF65-F5344CB8AC3E}">
        <p14:creationId xmlns:p14="http://schemas.microsoft.com/office/powerpoint/2010/main" val="4199890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8354" y="652018"/>
            <a:ext cx="4030979" cy="696595"/>
          </a:xfrm>
          <a:prstGeom prst="rect">
            <a:avLst/>
          </a:prstGeom>
        </p:spPr>
        <p:txBody>
          <a:bodyPr vert="horz" wrap="square" lIns="0" tIns="13335" rIns="0" bIns="0" rtlCol="0">
            <a:spAutoFit/>
          </a:bodyPr>
          <a:lstStyle/>
          <a:p>
            <a:pPr marL="12700">
              <a:lnSpc>
                <a:spcPct val="100000"/>
              </a:lnSpc>
              <a:spcBef>
                <a:spcPts val="105"/>
              </a:spcBef>
            </a:pPr>
            <a:r>
              <a:rPr dirty="0"/>
              <a:t>CONSIST</a:t>
            </a:r>
            <a:r>
              <a:rPr spc="-105" dirty="0"/>
              <a:t> </a:t>
            </a:r>
            <a:r>
              <a:rPr dirty="0"/>
              <a:t>OF:</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31</a:t>
            </a:fld>
            <a:endParaRPr spc="-90" dirty="0"/>
          </a:p>
        </p:txBody>
      </p:sp>
      <p:sp>
        <p:nvSpPr>
          <p:cNvPr id="3" name="object 3"/>
          <p:cNvSpPr txBox="1"/>
          <p:nvPr/>
        </p:nvSpPr>
        <p:spPr>
          <a:xfrm>
            <a:off x="535940" y="1956257"/>
            <a:ext cx="5026660" cy="3388107"/>
          </a:xfrm>
          <a:prstGeom prst="rect">
            <a:avLst/>
          </a:prstGeom>
        </p:spPr>
        <p:txBody>
          <a:bodyPr vert="horz" wrap="square" lIns="0" tIns="12700" rIns="0" bIns="0" rtlCol="0">
            <a:spAutoFit/>
          </a:bodyPr>
          <a:lstStyle/>
          <a:p>
            <a:pPr marL="286385">
              <a:lnSpc>
                <a:spcPct val="100000"/>
              </a:lnSpc>
              <a:spcBef>
                <a:spcPts val="100"/>
              </a:spcBef>
            </a:pPr>
            <a:r>
              <a:rPr sz="2400" spc="-5" dirty="0">
                <a:latin typeface="Arial" panose="020B0604020202020204" pitchFamily="34" charset="0"/>
                <a:cs typeface="Arial" panose="020B0604020202020204" pitchFamily="34" charset="0"/>
              </a:rPr>
              <a:t>Control unit consist of a:</a:t>
            </a:r>
          </a:p>
          <a:p>
            <a:pPr>
              <a:lnSpc>
                <a:spcPct val="100000"/>
              </a:lnSpc>
              <a:spcBef>
                <a:spcPts val="55"/>
              </a:spcBef>
            </a:pPr>
            <a:endParaRPr sz="2400" spc="-5" dirty="0">
              <a:latin typeface="Arial" panose="020B0604020202020204" pitchFamily="34" charset="0"/>
              <a:cs typeface="Arial" panose="020B0604020202020204" pitchFamily="34" charset="0"/>
            </a:endParaRPr>
          </a:p>
          <a:p>
            <a:pPr marL="350520" indent="-338455">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Instruction Register</a:t>
            </a:r>
          </a:p>
          <a:p>
            <a:pPr>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350520" indent="-338455">
              <a:lnSpc>
                <a:spcPct val="100000"/>
              </a:lnSpc>
              <a:spcBef>
                <a:spcPts val="5"/>
              </a:spcBef>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Number of Control Logic Gates,</a:t>
            </a:r>
          </a:p>
          <a:p>
            <a:pPr>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350520" indent="-338455">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Two Decoders</a:t>
            </a:r>
          </a:p>
          <a:p>
            <a:pPr>
              <a:lnSpc>
                <a:spcPct val="100000"/>
              </a:lnSpc>
              <a:spcBef>
                <a:spcPts val="5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350520" indent="-338455">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4-bit Sequence Counter</a:t>
            </a:r>
          </a:p>
        </p:txBody>
      </p:sp>
    </p:spTree>
    <p:extLst>
      <p:ext uri="{BB962C8B-B14F-4D97-AF65-F5344CB8AC3E}">
        <p14:creationId xmlns:p14="http://schemas.microsoft.com/office/powerpoint/2010/main" val="3758042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4745" y="228600"/>
            <a:ext cx="4954905" cy="696595"/>
          </a:xfrm>
          <a:prstGeom prst="rect">
            <a:avLst/>
          </a:prstGeom>
        </p:spPr>
        <p:txBody>
          <a:bodyPr vert="horz" wrap="square" lIns="0" tIns="13335" rIns="0" bIns="0" rtlCol="0">
            <a:spAutoFit/>
          </a:bodyPr>
          <a:lstStyle/>
          <a:p>
            <a:pPr marL="12700">
              <a:lnSpc>
                <a:spcPct val="100000"/>
              </a:lnSpc>
              <a:spcBef>
                <a:spcPts val="105"/>
              </a:spcBef>
            </a:pPr>
            <a:r>
              <a:rPr spc="-10" dirty="0"/>
              <a:t>ARCHITECTURE</a:t>
            </a:r>
          </a:p>
        </p:txBody>
      </p:sp>
      <p:sp>
        <p:nvSpPr>
          <p:cNvPr id="3" name="object 3"/>
          <p:cNvSpPr/>
          <p:nvPr/>
        </p:nvSpPr>
        <p:spPr>
          <a:xfrm>
            <a:off x="1066800" y="1177036"/>
            <a:ext cx="6749796" cy="5356860"/>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32</a:t>
            </a:fld>
            <a:endParaRPr spc="-90" dirty="0"/>
          </a:p>
        </p:txBody>
      </p:sp>
    </p:spTree>
    <p:extLst>
      <p:ext uri="{BB962C8B-B14F-4D97-AF65-F5344CB8AC3E}">
        <p14:creationId xmlns:p14="http://schemas.microsoft.com/office/powerpoint/2010/main" val="133319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1105" y="914400"/>
            <a:ext cx="8524295" cy="4903907"/>
          </a:xfrm>
          <a:prstGeom prst="rect">
            <a:avLst/>
          </a:prstGeom>
        </p:spPr>
        <p:txBody>
          <a:bodyPr vert="horz" wrap="square" lIns="0" tIns="12700" rIns="0" bIns="0" rtlCol="0">
            <a:spAutoFit/>
          </a:bodyPr>
          <a:lstStyle/>
          <a:p>
            <a:pPr marL="350520" indent="-338455" algn="just">
              <a:lnSpc>
                <a:spcPct val="100000"/>
              </a:lnSpc>
              <a:spcBef>
                <a:spcPts val="100"/>
              </a:spcBef>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An instruction read from memory is placed in the instruction register (IR).</a:t>
            </a:r>
          </a:p>
          <a:p>
            <a:pPr algn="just">
              <a:lnSpc>
                <a:spcPct val="100000"/>
              </a:lnSpc>
              <a:spcBef>
                <a:spcPts val="5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6385" marR="417830" indent="-274320" algn="just">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	The instruction register is divided into three parts: the I bit, operation  code, and address part.</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6385" marR="619760" indent="-274320" algn="just">
              <a:lnSpc>
                <a:spcPct val="100000"/>
              </a:lnSpc>
              <a:spcBef>
                <a:spcPts val="5"/>
              </a:spcBef>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	First 12-bits (0-11) to specify an address, next 3-bits specify the  operation code (opcode) field of the instruction and last left most bit  specify the addressing mode I.</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I = 0 for direct address</a:t>
            </a:r>
          </a:p>
          <a:p>
            <a:pPr marL="287020" indent="-274320" algn="just">
              <a:lnSpc>
                <a:spcPct val="100000"/>
              </a:lnSpc>
              <a:spcBef>
                <a:spcPts val="359"/>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I = 1 for indirect address</a:t>
            </a:r>
          </a:p>
        </p:txBody>
      </p:sp>
      <p:sp>
        <p:nvSpPr>
          <p:cNvPr id="5" name="object 5"/>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33</a:t>
            </a:fld>
            <a:endParaRPr spc="-90" dirty="0"/>
          </a:p>
        </p:txBody>
      </p:sp>
    </p:spTree>
    <p:extLst>
      <p:ext uri="{BB962C8B-B14F-4D97-AF65-F5344CB8AC3E}">
        <p14:creationId xmlns:p14="http://schemas.microsoft.com/office/powerpoint/2010/main" val="1794432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416" y="990600"/>
            <a:ext cx="8415337" cy="3744615"/>
          </a:xfrm>
          <a:prstGeom prst="rect">
            <a:avLst/>
          </a:prstGeom>
        </p:spPr>
        <p:txBody>
          <a:bodyPr vert="horz" wrap="square" lIns="0" tIns="12700" rIns="0" bIns="0" rtlCol="0">
            <a:spAutoFit/>
          </a:bodyPr>
          <a:lstStyle/>
          <a:p>
            <a:pPr marL="287020" indent="-274320" algn="just">
              <a:lnSpc>
                <a:spcPct val="100000"/>
              </a:lnSpc>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First 12-bits (0-11) are applied to the control logic gates.</a:t>
            </a:r>
          </a:p>
          <a:p>
            <a:pPr algn="just">
              <a:lnSpc>
                <a:spcPct val="100000"/>
              </a:lnSpc>
              <a:spcBef>
                <a:spcPts val="5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350520" indent="-338455" algn="just">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The operation code bits (12 – 14) are decoded with a 3 x 8 decoder.</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6385" marR="508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eight outputs ( D</a:t>
            </a:r>
            <a:r>
              <a:rPr sz="2400" spc="-5" baseline="-25000" dirty="0">
                <a:latin typeface="Arial" panose="020B0604020202020204" pitchFamily="34" charset="0"/>
                <a:cs typeface="Arial" panose="020B0604020202020204" pitchFamily="34" charset="0"/>
              </a:rPr>
              <a:t>0</a:t>
            </a:r>
            <a:r>
              <a:rPr sz="2400" spc="-5" dirty="0">
                <a:latin typeface="Arial" panose="020B0604020202020204" pitchFamily="34" charset="0"/>
                <a:cs typeface="Arial" panose="020B0604020202020204" pitchFamily="34" charset="0"/>
              </a:rPr>
              <a:t> through D</a:t>
            </a:r>
            <a:r>
              <a:rPr sz="2400" spc="-5" baseline="-25000" dirty="0">
                <a:latin typeface="Arial" panose="020B0604020202020204" pitchFamily="34" charset="0"/>
                <a:cs typeface="Arial" panose="020B0604020202020204" pitchFamily="34" charset="0"/>
              </a:rPr>
              <a:t>7</a:t>
            </a:r>
            <a:r>
              <a:rPr sz="2400" spc="-5" dirty="0">
                <a:latin typeface="Arial" panose="020B0604020202020204" pitchFamily="34" charset="0"/>
                <a:cs typeface="Arial" panose="020B0604020202020204" pitchFamily="34" charset="0"/>
              </a:rPr>
              <a:t>) from a decoder goes to the control  logic gates to perform specific operation.</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Last bit 15 is transferred to a I flip-flop designated by symbol I.</a:t>
            </a:r>
          </a:p>
        </p:txBody>
      </p:sp>
      <p:sp>
        <p:nvSpPr>
          <p:cNvPr id="5" name="object 5"/>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34</a:t>
            </a:fld>
            <a:endParaRPr spc="-90" dirty="0"/>
          </a:p>
        </p:txBody>
      </p:sp>
    </p:spTree>
    <p:extLst>
      <p:ext uri="{BB962C8B-B14F-4D97-AF65-F5344CB8AC3E}">
        <p14:creationId xmlns:p14="http://schemas.microsoft.com/office/powerpoint/2010/main" val="1367551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8597" y="1219200"/>
            <a:ext cx="8191626" cy="3375283"/>
          </a:xfrm>
          <a:prstGeom prst="rect">
            <a:avLst/>
          </a:prstGeom>
        </p:spPr>
        <p:txBody>
          <a:bodyPr vert="horz" wrap="square" lIns="0" tIns="12700" rIns="0" bIns="0" rtlCol="0">
            <a:spAutoFit/>
          </a:bodyPr>
          <a:lstStyle/>
          <a:p>
            <a:pPr marL="287020" indent="-274320" algn="just">
              <a:lnSpc>
                <a:spcPct val="100000"/>
              </a:lnSpc>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4-bit sequence counter SC can count in binary from 0 through 15.</a:t>
            </a:r>
          </a:p>
          <a:p>
            <a:pPr algn="just">
              <a:lnSpc>
                <a:spcPct val="100000"/>
              </a:lnSpc>
              <a:spcBef>
                <a:spcPts val="5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350520" indent="-338455" algn="just">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The counter output is decoded into 16 timing pulses T</a:t>
            </a:r>
            <a:r>
              <a:rPr sz="2400" spc="-5" baseline="-25000" dirty="0">
                <a:latin typeface="Arial" panose="020B0604020202020204" pitchFamily="34" charset="0"/>
                <a:cs typeface="Arial" panose="020B0604020202020204" pitchFamily="34" charset="0"/>
              </a:rPr>
              <a:t>0</a:t>
            </a:r>
            <a:r>
              <a:rPr sz="2400" spc="-5" dirty="0">
                <a:latin typeface="Arial" panose="020B0604020202020204" pitchFamily="34" charset="0"/>
                <a:cs typeface="Arial" panose="020B0604020202020204" pitchFamily="34" charset="0"/>
              </a:rPr>
              <a:t> through T</a:t>
            </a:r>
            <a:r>
              <a:rPr sz="2400" spc="-5" baseline="-25000" dirty="0">
                <a:latin typeface="Arial" panose="020B0604020202020204" pitchFamily="34" charset="0"/>
                <a:cs typeface="Arial" panose="020B0604020202020204" pitchFamily="34" charset="0"/>
              </a:rPr>
              <a:t>15</a:t>
            </a:r>
            <a:r>
              <a:rPr sz="2400" spc="-5" dirty="0">
                <a:latin typeface="Arial" panose="020B0604020202020204" pitchFamily="34" charset="0"/>
                <a:cs typeface="Arial" panose="020B0604020202020204" pitchFamily="34" charset="0"/>
              </a:rPr>
              <a:t>.</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sequence counter can be incremented by INR.</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320" algn="just">
              <a:lnSpc>
                <a:spcPct val="100000"/>
              </a:lnSpc>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input or clear by CLR input synchronously.</a:t>
            </a:r>
          </a:p>
        </p:txBody>
      </p:sp>
      <p:sp>
        <p:nvSpPr>
          <p:cNvPr id="5" name="object 5"/>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35</a:t>
            </a:fld>
            <a:endParaRPr spc="-90" dirty="0"/>
          </a:p>
        </p:txBody>
      </p:sp>
    </p:spTree>
    <p:extLst>
      <p:ext uri="{BB962C8B-B14F-4D97-AF65-F5344CB8AC3E}">
        <p14:creationId xmlns:p14="http://schemas.microsoft.com/office/powerpoint/2010/main" val="16760181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88335" y="652018"/>
            <a:ext cx="3005455" cy="696595"/>
          </a:xfrm>
          <a:prstGeom prst="rect">
            <a:avLst/>
          </a:prstGeom>
        </p:spPr>
        <p:txBody>
          <a:bodyPr vert="horz" wrap="square" lIns="0" tIns="13335" rIns="0" bIns="0" rtlCol="0">
            <a:spAutoFit/>
          </a:bodyPr>
          <a:lstStyle/>
          <a:p>
            <a:pPr marL="12700">
              <a:lnSpc>
                <a:spcPct val="100000"/>
              </a:lnSpc>
              <a:spcBef>
                <a:spcPts val="105"/>
              </a:spcBef>
            </a:pPr>
            <a:r>
              <a:rPr spc="-5" dirty="0"/>
              <a:t>EXA</a:t>
            </a:r>
            <a:r>
              <a:rPr spc="-20" dirty="0"/>
              <a:t>M</a:t>
            </a:r>
            <a:r>
              <a:rPr spc="-5" dirty="0"/>
              <a:t>PLE</a:t>
            </a:r>
          </a:p>
        </p:txBody>
      </p:sp>
      <p:sp>
        <p:nvSpPr>
          <p:cNvPr id="7" name="object 7"/>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36</a:t>
            </a:fld>
            <a:endParaRPr spc="-90" dirty="0"/>
          </a:p>
        </p:txBody>
      </p:sp>
      <p:sp>
        <p:nvSpPr>
          <p:cNvPr id="3" name="object 3"/>
          <p:cNvSpPr txBox="1"/>
          <p:nvPr/>
        </p:nvSpPr>
        <p:spPr>
          <a:xfrm>
            <a:off x="573405" y="1738335"/>
            <a:ext cx="7997190" cy="2331407"/>
          </a:xfrm>
          <a:prstGeom prst="rect">
            <a:avLst/>
          </a:prstGeom>
        </p:spPr>
        <p:txBody>
          <a:bodyPr vert="horz" wrap="square" lIns="0" tIns="12700" rIns="0" bIns="0" rtlCol="0">
            <a:spAutoFit/>
          </a:bodyPr>
          <a:lstStyle/>
          <a:p>
            <a:pPr marL="286385" marR="5080" indent="-274320" algn="just">
              <a:lnSpc>
                <a:spcPct val="100000"/>
              </a:lnSpc>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Consider the case where SC is incremented to provide timing signalsT0,  T1, T 2 , T3, and T4 in sequence. At time T4 , SC is cleared to 0 if decoder  output D3 is active. This is expressed symbolically by the statement:</a:t>
            </a:r>
          </a:p>
          <a:p>
            <a:pPr marR="953135" algn="just">
              <a:lnSpc>
                <a:spcPct val="100000"/>
              </a:lnSpc>
              <a:spcBef>
                <a:spcPts val="360"/>
              </a:spcBef>
            </a:pPr>
            <a:r>
              <a:rPr lang="en-US" sz="2400" spc="-5" dirty="0">
                <a:latin typeface="Arial" panose="020B0604020202020204" pitchFamily="34" charset="0"/>
                <a:cs typeface="Arial" panose="020B0604020202020204" pitchFamily="34" charset="0"/>
              </a:rPr>
              <a:t>                                    </a:t>
            </a:r>
          </a:p>
          <a:p>
            <a:pPr marR="953135" algn="just">
              <a:lnSpc>
                <a:spcPct val="100000"/>
              </a:lnSpc>
              <a:spcBef>
                <a:spcPts val="360"/>
              </a:spcBef>
            </a:pPr>
            <a:r>
              <a:rPr lang="en-US"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D3 T4 : SC ← 0</a:t>
            </a:r>
          </a:p>
        </p:txBody>
      </p:sp>
      <p:sp>
        <p:nvSpPr>
          <p:cNvPr id="4" name="object 4"/>
          <p:cNvSpPr txBox="1"/>
          <p:nvPr/>
        </p:nvSpPr>
        <p:spPr>
          <a:xfrm>
            <a:off x="573405" y="4459464"/>
            <a:ext cx="8191626" cy="751488"/>
          </a:xfrm>
          <a:prstGeom prst="rect">
            <a:avLst/>
          </a:prstGeom>
        </p:spPr>
        <p:txBody>
          <a:bodyPr vert="horz" wrap="square" lIns="0" tIns="12700" rIns="0" bIns="0" rtlCol="0">
            <a:spAutoFit/>
          </a:bodyPr>
          <a:lstStyle/>
          <a:p>
            <a:pPr marL="350520" indent="-338455" algn="just">
              <a:lnSpc>
                <a:spcPct val="100000"/>
              </a:lnSpc>
              <a:spcBef>
                <a:spcPts val="100"/>
              </a:spcBef>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The timing diagram shows the time relationship of the control signals.</a:t>
            </a:r>
          </a:p>
        </p:txBody>
      </p:sp>
    </p:spTree>
    <p:extLst>
      <p:ext uri="{BB962C8B-B14F-4D97-AF65-F5344CB8AC3E}">
        <p14:creationId xmlns:p14="http://schemas.microsoft.com/office/powerpoint/2010/main" val="235673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600" y="1219200"/>
            <a:ext cx="8001000" cy="541020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947418" y="228600"/>
            <a:ext cx="5445760" cy="697230"/>
          </a:xfrm>
          <a:prstGeom prst="rect">
            <a:avLst/>
          </a:prstGeom>
        </p:spPr>
        <p:txBody>
          <a:bodyPr vert="horz" wrap="square" lIns="0" tIns="13335" rIns="0" bIns="0" rtlCol="0">
            <a:spAutoFit/>
          </a:bodyPr>
          <a:lstStyle/>
          <a:p>
            <a:pPr marL="12700">
              <a:lnSpc>
                <a:spcPct val="100000"/>
              </a:lnSpc>
              <a:spcBef>
                <a:spcPts val="105"/>
              </a:spcBef>
            </a:pPr>
            <a:r>
              <a:rPr dirty="0"/>
              <a:t>TIMING</a:t>
            </a:r>
            <a:r>
              <a:rPr spc="-114" dirty="0"/>
              <a:t> </a:t>
            </a:r>
            <a:r>
              <a:rPr spc="-15" dirty="0"/>
              <a:t>DIAGRAM</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37</a:t>
            </a:fld>
            <a:endParaRPr spc="-90" dirty="0"/>
          </a:p>
        </p:txBody>
      </p:sp>
    </p:spTree>
    <p:extLst>
      <p:ext uri="{BB962C8B-B14F-4D97-AF65-F5344CB8AC3E}">
        <p14:creationId xmlns:p14="http://schemas.microsoft.com/office/powerpoint/2010/main" val="2583401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01458"/>
            <a:ext cx="6960870" cy="1397635"/>
          </a:xfrm>
          <a:prstGeom prst="rect">
            <a:avLst/>
          </a:prstGeom>
        </p:spPr>
        <p:txBody>
          <a:bodyPr vert="horz" wrap="square" lIns="0" tIns="12700" rIns="0" bIns="0" rtlCol="0">
            <a:spAutoFit/>
          </a:bodyPr>
          <a:lstStyle/>
          <a:p>
            <a:pPr marL="12700" marR="5080">
              <a:lnSpc>
                <a:spcPct val="100000"/>
              </a:lnSpc>
              <a:spcBef>
                <a:spcPts val="100"/>
              </a:spcBef>
            </a:pPr>
            <a:r>
              <a:rPr sz="4500" dirty="0"/>
              <a:t>MIC</a:t>
            </a:r>
            <a:r>
              <a:rPr sz="4500" spc="-55" dirty="0"/>
              <a:t>R</a:t>
            </a:r>
            <a:r>
              <a:rPr sz="4500" spc="-15" dirty="0"/>
              <a:t>O</a:t>
            </a:r>
            <a:r>
              <a:rPr sz="4500" dirty="0"/>
              <a:t>-</a:t>
            </a:r>
            <a:r>
              <a:rPr sz="4500" spc="-5" dirty="0"/>
              <a:t>P</a:t>
            </a:r>
            <a:r>
              <a:rPr sz="4500" spc="-70" dirty="0"/>
              <a:t>R</a:t>
            </a:r>
            <a:r>
              <a:rPr sz="4500" spc="-5" dirty="0"/>
              <a:t>OGRAMMED  </a:t>
            </a:r>
            <a:r>
              <a:rPr sz="4500" spc="-10" dirty="0"/>
              <a:t>CONTROL</a:t>
            </a:r>
            <a:r>
              <a:rPr sz="4500" spc="-15" dirty="0"/>
              <a:t> </a:t>
            </a:r>
            <a:r>
              <a:rPr sz="4500" dirty="0"/>
              <a:t>UNIT</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38</a:t>
            </a:fld>
            <a:endParaRPr spc="-90" dirty="0"/>
          </a:p>
        </p:txBody>
      </p:sp>
      <p:sp>
        <p:nvSpPr>
          <p:cNvPr id="3" name="object 3"/>
          <p:cNvSpPr txBox="1"/>
          <p:nvPr/>
        </p:nvSpPr>
        <p:spPr>
          <a:xfrm>
            <a:off x="457200" y="2133600"/>
            <a:ext cx="8375015" cy="4101123"/>
          </a:xfrm>
          <a:prstGeom prst="rect">
            <a:avLst/>
          </a:prstGeom>
        </p:spPr>
        <p:txBody>
          <a:bodyPr vert="horz" wrap="square" lIns="0" tIns="12700" rIns="0" bIns="0" rtlCol="0">
            <a:spAutoFit/>
          </a:bodyPr>
          <a:lstStyle/>
          <a:p>
            <a:pPr marL="287020" indent="-274320" algn="just">
              <a:lnSpc>
                <a:spcPct val="100000"/>
              </a:lnSpc>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idea of microprogramming was introduced by Maurice Wilkes in 1951.</a:t>
            </a:r>
          </a:p>
          <a:p>
            <a:pPr marL="342900" indent="-342900" algn="just">
              <a:spcBef>
                <a:spcPts val="4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354965" marR="243840" indent="-342900" algn="just">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Micro-programs were organized as a sequence of microinstructions and  stored in special control memory.</a:t>
            </a:r>
          </a:p>
          <a:p>
            <a:pPr marL="342900" indent="-342900" algn="just">
              <a:spcBef>
                <a:spcPts val="6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6385" marR="85090" indent="-274320" algn="just">
              <a:lnSpc>
                <a:spcPct val="100000"/>
              </a:lnSpc>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main advantage of the micro-program control unit is the simplicity of  its structure.</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6385" marR="22860" indent="-274320" algn="just">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	Outputs of the controller are organized in microinstructions and they can  be easily replaced</a:t>
            </a:r>
          </a:p>
        </p:txBody>
      </p:sp>
    </p:spTree>
    <p:extLst>
      <p:ext uri="{BB962C8B-B14F-4D97-AF65-F5344CB8AC3E}">
        <p14:creationId xmlns:p14="http://schemas.microsoft.com/office/powerpoint/2010/main" val="25643543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762000"/>
            <a:ext cx="8610600" cy="3731791"/>
          </a:xfrm>
          <a:prstGeom prst="rect">
            <a:avLst/>
          </a:prstGeom>
        </p:spPr>
        <p:txBody>
          <a:bodyPr vert="horz" wrap="square" lIns="0" tIns="12700" rIns="0" bIns="0" rtlCol="0">
            <a:spAutoFit/>
          </a:bodyPr>
          <a:lstStyle/>
          <a:p>
            <a:pPr marL="286385" marR="5080" indent="-274320" algn="just">
              <a:lnSpc>
                <a:spcPct val="100000"/>
              </a:lnSpc>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A micro-programmed control unit is implemented using programming  approach. A sequence of micro operations are carried out by executing a  program consisting of micro-instructions.</a:t>
            </a:r>
          </a:p>
          <a:p>
            <a:pPr algn="just">
              <a:lnSpc>
                <a:spcPct val="100000"/>
              </a:lnSpc>
              <a:spcBef>
                <a:spcPts val="5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6385" marR="158115" indent="-274320" algn="just">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	Micro-program, consisting of micro-instructions is stored in the control  memory of the control unit.</a:t>
            </a:r>
          </a:p>
          <a:p>
            <a:pPr algn="just">
              <a:lnSpc>
                <a:spcPct val="100000"/>
              </a:lnSpc>
              <a:spcBef>
                <a:spcPts val="5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6385" marR="36195" indent="-274320" algn="just">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	Execution of a micro-instruction is responsible for generation of a set of  control signals.</a:t>
            </a:r>
          </a:p>
        </p:txBody>
      </p:sp>
      <p:sp>
        <p:nvSpPr>
          <p:cNvPr id="5" name="object 5"/>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39</a:t>
            </a:fld>
            <a:endParaRPr spc="-90" dirty="0"/>
          </a:p>
        </p:txBody>
      </p:sp>
    </p:spTree>
    <p:extLst>
      <p:ext uri="{BB962C8B-B14F-4D97-AF65-F5344CB8AC3E}">
        <p14:creationId xmlns:p14="http://schemas.microsoft.com/office/powerpoint/2010/main" val="19610919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7156" y="838200"/>
            <a:ext cx="8514443" cy="4859920"/>
          </a:xfrm>
          <a:prstGeom prst="rect">
            <a:avLst/>
          </a:prstGeom>
        </p:spPr>
        <p:txBody>
          <a:bodyPr vert="horz" wrap="square" lIns="0" tIns="8890" rIns="0" bIns="0" rtlCol="0">
            <a:spAutoFit/>
          </a:bodyPr>
          <a:lstStyle/>
          <a:p>
            <a:pPr marL="286385" marR="140970" indent="-274320" algn="just">
              <a:lnSpc>
                <a:spcPct val="101099"/>
              </a:lnSpc>
              <a:spcBef>
                <a:spcPts val="70"/>
              </a:spcBef>
              <a:buClr>
                <a:srgbClr val="FDB809"/>
              </a:buClr>
              <a:buSzPct val="95000"/>
              <a:buFont typeface="Wingdings"/>
              <a:buChar char=""/>
              <a:tabLst>
                <a:tab pos="287020" algn="l"/>
              </a:tabLst>
            </a:pPr>
            <a:r>
              <a:rPr sz="2400" b="1" spc="-5" dirty="0">
                <a:latin typeface="Arial" panose="020B0604020202020204" pitchFamily="34" charset="0"/>
                <a:cs typeface="Arial" panose="020B0604020202020204" pitchFamily="34" charset="0"/>
              </a:rPr>
              <a:t>Micro-Programs</a:t>
            </a:r>
            <a:r>
              <a:rPr sz="2400" spc="-5" dirty="0">
                <a:latin typeface="Arial" panose="020B0604020202020204" pitchFamily="34" charset="0"/>
                <a:cs typeface="Arial" panose="020B0604020202020204" pitchFamily="34" charset="0"/>
              </a:rPr>
              <a:t>: Microprogramming is the concept for generating  control signals using programs. These programs are called micro -  programs.</a:t>
            </a:r>
          </a:p>
          <a:p>
            <a:pPr algn="just">
              <a:lnSpc>
                <a:spcPct val="100000"/>
              </a:lnSpc>
              <a:spcBef>
                <a:spcPts val="50"/>
              </a:spcBef>
              <a:buChar char=""/>
            </a:pPr>
            <a:endParaRPr sz="2400" spc="-5" dirty="0">
              <a:latin typeface="Arial" panose="020B0604020202020204" pitchFamily="34" charset="0"/>
              <a:cs typeface="Arial" panose="020B0604020202020204" pitchFamily="34" charset="0"/>
            </a:endParaRPr>
          </a:p>
          <a:p>
            <a:pPr marL="286385" marR="5080" indent="-274320" algn="just">
              <a:lnSpc>
                <a:spcPct val="100000"/>
              </a:lnSpc>
              <a:buClr>
                <a:srgbClr val="FDB809"/>
              </a:buClr>
              <a:buSzPct val="93333"/>
              <a:buFont typeface="Wingdings"/>
              <a:buChar char=""/>
              <a:tabLst>
                <a:tab pos="287020" algn="l"/>
              </a:tabLst>
            </a:pPr>
            <a:r>
              <a:rPr sz="2400" b="1" spc="-5" dirty="0">
                <a:latin typeface="Arial" panose="020B0604020202020204" pitchFamily="34" charset="0"/>
                <a:cs typeface="Arial" panose="020B0604020202020204" pitchFamily="34" charset="0"/>
              </a:rPr>
              <a:t>Micro-Instructions</a:t>
            </a:r>
            <a:r>
              <a:rPr sz="2400" spc="-5" dirty="0">
                <a:latin typeface="Arial" panose="020B0604020202020204" pitchFamily="34" charset="0"/>
                <a:cs typeface="Arial" panose="020B0604020202020204" pitchFamily="34" charset="0"/>
              </a:rPr>
              <a:t>: The instructions that make micro-program are called  micro-instructions.</a:t>
            </a:r>
          </a:p>
          <a:p>
            <a:pPr algn="just">
              <a:lnSpc>
                <a:spcPct val="100000"/>
              </a:lnSpc>
              <a:spcBef>
                <a:spcPts val="55"/>
              </a:spcBef>
              <a:buChar char=""/>
            </a:pPr>
            <a:endParaRPr sz="2400" spc="-5" dirty="0">
              <a:latin typeface="Arial" panose="020B0604020202020204" pitchFamily="34" charset="0"/>
              <a:cs typeface="Arial" panose="020B0604020202020204" pitchFamily="34" charset="0"/>
            </a:endParaRPr>
          </a:p>
          <a:p>
            <a:pPr marL="286385" marR="211454" indent="-274320" algn="just">
              <a:lnSpc>
                <a:spcPct val="100000"/>
              </a:lnSpc>
              <a:buClr>
                <a:srgbClr val="FDB809"/>
              </a:buClr>
              <a:buSzPct val="93333"/>
              <a:buFont typeface="Wingdings"/>
              <a:buChar char=""/>
              <a:tabLst>
                <a:tab pos="287020" algn="l"/>
              </a:tabLst>
            </a:pPr>
            <a:r>
              <a:rPr sz="2400" b="1" spc="-5" dirty="0">
                <a:latin typeface="Arial" panose="020B0604020202020204" pitchFamily="34" charset="0"/>
                <a:cs typeface="Arial" panose="020B0604020202020204" pitchFamily="34" charset="0"/>
              </a:rPr>
              <a:t>Micro-Code</a:t>
            </a:r>
            <a:r>
              <a:rPr sz="2400" spc="-5" dirty="0">
                <a:latin typeface="Arial" panose="020B0604020202020204" pitchFamily="34" charset="0"/>
                <a:cs typeface="Arial" panose="020B0604020202020204" pitchFamily="34" charset="0"/>
              </a:rPr>
              <a:t>: Micro-program is a group of microinstructions. The micro-  program can also be termed as micro-code.</a:t>
            </a:r>
          </a:p>
          <a:p>
            <a:pPr algn="just">
              <a:lnSpc>
                <a:spcPct val="100000"/>
              </a:lnSpc>
              <a:spcBef>
                <a:spcPts val="50"/>
              </a:spcBef>
              <a:buChar char=""/>
            </a:pPr>
            <a:endParaRPr sz="2400" spc="-5" dirty="0">
              <a:latin typeface="Arial" panose="020B0604020202020204" pitchFamily="34" charset="0"/>
              <a:cs typeface="Arial" panose="020B0604020202020204" pitchFamily="34" charset="0"/>
            </a:endParaRPr>
          </a:p>
          <a:p>
            <a:pPr marL="286385" marR="408305" indent="-274320" algn="just">
              <a:lnSpc>
                <a:spcPct val="100000"/>
              </a:lnSpc>
              <a:buClr>
                <a:srgbClr val="FDB809"/>
              </a:buClr>
              <a:buSzPct val="93333"/>
              <a:buFont typeface="Wingdings"/>
              <a:buChar char=""/>
              <a:tabLst>
                <a:tab pos="287020" algn="l"/>
              </a:tabLst>
            </a:pPr>
            <a:r>
              <a:rPr sz="2400" b="1" spc="-5" dirty="0">
                <a:latin typeface="Arial" panose="020B0604020202020204" pitchFamily="34" charset="0"/>
                <a:cs typeface="Arial" panose="020B0604020202020204" pitchFamily="34" charset="0"/>
              </a:rPr>
              <a:t>Control Memory</a:t>
            </a:r>
            <a:r>
              <a:rPr sz="2400" spc="-5" dirty="0">
                <a:latin typeface="Arial" panose="020B0604020202020204" pitchFamily="34" charset="0"/>
                <a:cs typeface="Arial" panose="020B0604020202020204" pitchFamily="34" charset="0"/>
              </a:rPr>
              <a:t>: Micro-programs are stored in the read only memory  (ROM). That memory is called control memory.</a:t>
            </a:r>
          </a:p>
        </p:txBody>
      </p:sp>
      <p:sp>
        <p:nvSpPr>
          <p:cNvPr id="5" name="object 5"/>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40</a:t>
            </a:fld>
            <a:endParaRPr spc="-90" dirty="0"/>
          </a:p>
        </p:txBody>
      </p:sp>
    </p:spTree>
    <p:extLst>
      <p:ext uri="{BB962C8B-B14F-4D97-AF65-F5344CB8AC3E}">
        <p14:creationId xmlns:p14="http://schemas.microsoft.com/office/powerpoint/2010/main" val="456186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1417" y="381000"/>
            <a:ext cx="4241165" cy="696595"/>
          </a:xfrm>
          <a:prstGeom prst="rect">
            <a:avLst/>
          </a:prstGeom>
        </p:spPr>
        <p:txBody>
          <a:bodyPr vert="horz" wrap="square" lIns="0" tIns="13335" rIns="0" bIns="0" rtlCol="0">
            <a:spAutoFit/>
          </a:bodyPr>
          <a:lstStyle/>
          <a:p>
            <a:pPr marL="12700">
              <a:lnSpc>
                <a:spcPct val="100000"/>
              </a:lnSpc>
              <a:spcBef>
                <a:spcPts val="105"/>
              </a:spcBef>
            </a:pPr>
            <a:r>
              <a:rPr dirty="0"/>
              <a:t>A</a:t>
            </a:r>
            <a:r>
              <a:rPr spc="-170" dirty="0"/>
              <a:t>D</a:t>
            </a:r>
            <a:r>
              <a:rPr spc="-260" dirty="0"/>
              <a:t>V</a:t>
            </a:r>
            <a:r>
              <a:rPr dirty="0"/>
              <a:t>AN</a:t>
            </a:r>
            <a:r>
              <a:rPr spc="-300" dirty="0"/>
              <a:t>T</a:t>
            </a:r>
            <a:r>
              <a:rPr spc="-95" dirty="0"/>
              <a:t>A</a:t>
            </a:r>
            <a:r>
              <a:rPr dirty="0"/>
              <a:t>GES</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41</a:t>
            </a:fld>
            <a:endParaRPr spc="-90" dirty="0"/>
          </a:p>
        </p:txBody>
      </p:sp>
      <p:sp>
        <p:nvSpPr>
          <p:cNvPr id="3" name="object 3"/>
          <p:cNvSpPr txBox="1"/>
          <p:nvPr/>
        </p:nvSpPr>
        <p:spPr>
          <a:xfrm>
            <a:off x="394663" y="1053610"/>
            <a:ext cx="8723684" cy="5591274"/>
          </a:xfrm>
          <a:prstGeom prst="rect">
            <a:avLst/>
          </a:prstGeom>
        </p:spPr>
        <p:txBody>
          <a:bodyPr vert="horz" wrap="square" lIns="0" tIns="12700" rIns="0" bIns="0" rtlCol="0">
            <a:spAutoFit/>
          </a:bodyPr>
          <a:lstStyle/>
          <a:p>
            <a:pPr marL="350520" indent="-338455" algn="just">
              <a:lnSpc>
                <a:spcPct val="100000"/>
              </a:lnSpc>
              <a:spcBef>
                <a:spcPts val="100"/>
              </a:spcBef>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The design of micro-program control unit is less complex because micro-</a:t>
            </a:r>
          </a:p>
          <a:p>
            <a:pPr marL="286385" algn="just">
              <a:lnSpc>
                <a:spcPct val="100000"/>
              </a:lnSpc>
              <a:spcBef>
                <a:spcPts val="5"/>
              </a:spcBef>
            </a:pPr>
            <a:r>
              <a:rPr sz="2400" spc="-5" dirty="0">
                <a:latin typeface="Arial" panose="020B0604020202020204" pitchFamily="34" charset="0"/>
                <a:cs typeface="Arial" panose="020B0604020202020204" pitchFamily="34" charset="0"/>
              </a:rPr>
              <a:t>programs are implemented using software routines.</a:t>
            </a:r>
          </a:p>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6385" marR="623570" indent="-274320" algn="just">
              <a:lnSpc>
                <a:spcPct val="100000"/>
              </a:lnSpc>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	The micro-programmed control unit is more flexible because design  modifications, correction and enhancement is easily possible.</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350520" indent="-338455" algn="just">
              <a:lnSpc>
                <a:spcPct val="100000"/>
              </a:lnSpc>
              <a:spcBef>
                <a:spcPts val="5"/>
              </a:spcBef>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The new or modified instruction set of CPU can be easily implemented by</a:t>
            </a:r>
          </a:p>
          <a:p>
            <a:pPr marL="286385" algn="just">
              <a:lnSpc>
                <a:spcPct val="100000"/>
              </a:lnSpc>
            </a:pPr>
            <a:r>
              <a:rPr sz="2400" spc="-5" dirty="0">
                <a:latin typeface="Arial" panose="020B0604020202020204" pitchFamily="34" charset="0"/>
                <a:cs typeface="Arial" panose="020B0604020202020204" pitchFamily="34" charset="0"/>
              </a:rPr>
              <a:t>simply rewriting or modifying the contents of control memory.</a:t>
            </a:r>
          </a:p>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6385" marR="97155"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fault can be easily diagnosed in the micro-program control unit using  diagnostics tools by maintaining the contents of flags, registers and  counters.</a:t>
            </a:r>
          </a:p>
        </p:txBody>
      </p:sp>
    </p:spTree>
    <p:extLst>
      <p:ext uri="{BB962C8B-B14F-4D97-AF65-F5344CB8AC3E}">
        <p14:creationId xmlns:p14="http://schemas.microsoft.com/office/powerpoint/2010/main" val="17502000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97485">
              <a:lnSpc>
                <a:spcPct val="100000"/>
              </a:lnSpc>
              <a:spcBef>
                <a:spcPts val="105"/>
              </a:spcBef>
            </a:pPr>
            <a:r>
              <a:rPr spc="-65" dirty="0"/>
              <a:t>DISADVANTAGES</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42</a:t>
            </a:fld>
            <a:endParaRPr spc="-90" dirty="0"/>
          </a:p>
        </p:txBody>
      </p:sp>
      <p:sp>
        <p:nvSpPr>
          <p:cNvPr id="3" name="object 3"/>
          <p:cNvSpPr txBox="1"/>
          <p:nvPr/>
        </p:nvSpPr>
        <p:spPr>
          <a:xfrm>
            <a:off x="568642" y="1524000"/>
            <a:ext cx="8006715" cy="4483279"/>
          </a:xfrm>
          <a:prstGeom prst="rect">
            <a:avLst/>
          </a:prstGeom>
        </p:spPr>
        <p:txBody>
          <a:bodyPr vert="horz" wrap="square" lIns="0" tIns="12700" rIns="0" bIns="0" rtlCol="0">
            <a:spAutoFit/>
          </a:bodyPr>
          <a:lstStyle/>
          <a:p>
            <a:pPr marL="287020" indent="-274320" algn="just">
              <a:lnSpc>
                <a:spcPct val="100000"/>
              </a:lnSpc>
              <a:spcBef>
                <a:spcPts val="100"/>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micro-program control unit is slower than hardwired control unit.</a:t>
            </a:r>
          </a:p>
          <a:p>
            <a:pPr algn="just">
              <a:lnSpc>
                <a:spcPct val="100000"/>
              </a:lnSpc>
              <a:spcBef>
                <a:spcPts val="5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6385" marR="666115" indent="-274320" algn="just">
              <a:lnSpc>
                <a:spcPct val="100000"/>
              </a:lnSpc>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That means to execute an instruction in micro-program control unit  requires more time.</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350520" indent="-338455" algn="just">
              <a:lnSpc>
                <a:spcPct val="100000"/>
              </a:lnSpc>
              <a:spcBef>
                <a:spcPts val="5"/>
              </a:spcBef>
              <a:buClr>
                <a:srgbClr val="FDB809"/>
              </a:buClr>
              <a:buSzPct val="93333"/>
              <a:buFont typeface="Wingdings"/>
              <a:buChar char=""/>
              <a:tabLst>
                <a:tab pos="350520" algn="l"/>
                <a:tab pos="351155" algn="l"/>
              </a:tabLst>
            </a:pPr>
            <a:r>
              <a:rPr sz="2400" spc="-5" dirty="0">
                <a:latin typeface="Arial" panose="020B0604020202020204" pitchFamily="34" charset="0"/>
                <a:cs typeface="Arial" panose="020B0604020202020204" pitchFamily="34" charset="0"/>
              </a:rPr>
              <a:t>The micro-program control unit is expensive than hardwired control unit</a:t>
            </a:r>
          </a:p>
          <a:p>
            <a:pPr marL="286385" algn="just">
              <a:lnSpc>
                <a:spcPct val="100000"/>
              </a:lnSpc>
            </a:pPr>
            <a:r>
              <a:rPr sz="2400" spc="-5" dirty="0">
                <a:latin typeface="Arial" panose="020B0604020202020204" pitchFamily="34" charset="0"/>
                <a:cs typeface="Arial" panose="020B0604020202020204" pitchFamily="34" charset="0"/>
              </a:rPr>
              <a:t>in case of limited hardware resources.</a:t>
            </a:r>
          </a:p>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6385" marR="5080" indent="-274320" algn="just">
              <a:lnSpc>
                <a:spcPct val="100000"/>
              </a:lnSpc>
              <a:spcBef>
                <a:spcPts val="5"/>
              </a:spcBef>
              <a:buClr>
                <a:srgbClr val="FDB809"/>
              </a:buClr>
              <a:buSzPct val="93333"/>
              <a:buFont typeface="Wingdings"/>
              <a:buChar char=""/>
              <a:tabLst>
                <a:tab pos="287020" algn="l"/>
              </a:tabLst>
            </a:pPr>
            <a:r>
              <a:rPr sz="2400" spc="-5" dirty="0">
                <a:latin typeface="Arial" panose="020B0604020202020204" pitchFamily="34" charset="0"/>
                <a:cs typeface="Arial" panose="020B0604020202020204" pitchFamily="34" charset="0"/>
              </a:rPr>
              <a:t>The design duration of micro-program control unit is more than hardwired  control unit for smaller CPU.</a:t>
            </a:r>
          </a:p>
        </p:txBody>
      </p:sp>
    </p:spTree>
    <p:extLst>
      <p:ext uri="{BB962C8B-B14F-4D97-AF65-F5344CB8AC3E}">
        <p14:creationId xmlns:p14="http://schemas.microsoft.com/office/powerpoint/2010/main" val="718894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5954" y="804418"/>
            <a:ext cx="4216400" cy="696595"/>
          </a:xfrm>
          <a:prstGeom prst="rect">
            <a:avLst/>
          </a:prstGeom>
        </p:spPr>
        <p:txBody>
          <a:bodyPr vert="horz" wrap="square" lIns="0" tIns="13335" rIns="0" bIns="0" rtlCol="0">
            <a:spAutoFit/>
          </a:bodyPr>
          <a:lstStyle/>
          <a:p>
            <a:pPr marL="12700">
              <a:lnSpc>
                <a:spcPct val="100000"/>
              </a:lnSpc>
              <a:spcBef>
                <a:spcPts val="105"/>
              </a:spcBef>
            </a:pPr>
            <a:r>
              <a:rPr dirty="0"/>
              <a:t>CONSIST OF</a:t>
            </a:r>
            <a:r>
              <a:rPr spc="-114" dirty="0"/>
              <a:t> </a:t>
            </a:r>
            <a:r>
              <a:rPr dirty="0"/>
              <a:t>:</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43</a:t>
            </a:fld>
            <a:endParaRPr spc="-90" dirty="0"/>
          </a:p>
        </p:txBody>
      </p:sp>
      <p:sp>
        <p:nvSpPr>
          <p:cNvPr id="3" name="object 3"/>
          <p:cNvSpPr txBox="1"/>
          <p:nvPr/>
        </p:nvSpPr>
        <p:spPr>
          <a:xfrm>
            <a:off x="688340" y="2109342"/>
            <a:ext cx="4950460" cy="3388107"/>
          </a:xfrm>
          <a:prstGeom prst="rect">
            <a:avLst/>
          </a:prstGeom>
        </p:spPr>
        <p:txBody>
          <a:bodyPr vert="horz" wrap="square" lIns="0" tIns="12700" rIns="0" bIns="0" rtlCol="0">
            <a:spAutoFit/>
          </a:bodyPr>
          <a:lstStyle/>
          <a:p>
            <a:pPr marL="287020" algn="just">
              <a:lnSpc>
                <a:spcPct val="100000"/>
              </a:lnSpc>
              <a:spcBef>
                <a:spcPts val="100"/>
              </a:spcBef>
            </a:pPr>
            <a:r>
              <a:rPr sz="2400" spc="-5" dirty="0">
                <a:latin typeface="Arial" panose="020B0604020202020204" pitchFamily="34" charset="0"/>
                <a:cs typeface="Arial" panose="020B0604020202020204" pitchFamily="34" charset="0"/>
              </a:rPr>
              <a:t>Control unit consist of a :</a:t>
            </a:r>
          </a:p>
          <a:p>
            <a:pPr algn="just">
              <a:lnSpc>
                <a:spcPct val="100000"/>
              </a:lnSpc>
              <a:spcBef>
                <a:spcPts val="50"/>
              </a:spcBef>
            </a:pPr>
            <a:endParaRPr sz="2400" spc="-5" dirty="0">
              <a:latin typeface="Arial" panose="020B0604020202020204" pitchFamily="34" charset="0"/>
              <a:cs typeface="Arial" panose="020B0604020202020204" pitchFamily="34" charset="0"/>
            </a:endParaRPr>
          </a:p>
          <a:p>
            <a:pPr marL="287020" indent="-274955" algn="just">
              <a:lnSpc>
                <a:spcPct val="100000"/>
              </a:lnSpc>
              <a:buClr>
                <a:srgbClr val="FDB809"/>
              </a:buClr>
              <a:buSzPct val="93333"/>
              <a:buFont typeface="Wingdings"/>
              <a:buChar char=""/>
              <a:tabLst>
                <a:tab pos="287655" algn="l"/>
                <a:tab pos="905510" algn="l"/>
              </a:tabLst>
            </a:pPr>
            <a:r>
              <a:rPr sz="2400" spc="-5" dirty="0">
                <a:latin typeface="Arial" panose="020B0604020202020204" pitchFamily="34" charset="0"/>
                <a:cs typeface="Arial" panose="020B0604020202020204" pitchFamily="34" charset="0"/>
              </a:rPr>
              <a:t>Next	address generator</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955" algn="just">
              <a:lnSpc>
                <a:spcPct val="100000"/>
              </a:lnSpc>
              <a:spcBef>
                <a:spcPts val="5"/>
              </a:spcBef>
              <a:buClr>
                <a:srgbClr val="FDB809"/>
              </a:buClr>
              <a:buSzPct val="93333"/>
              <a:buFont typeface="Wingdings"/>
              <a:buChar char=""/>
              <a:tabLst>
                <a:tab pos="287655" algn="l"/>
              </a:tabLst>
            </a:pPr>
            <a:r>
              <a:rPr sz="2400" spc="-5" dirty="0">
                <a:latin typeface="Arial" panose="020B0604020202020204" pitchFamily="34" charset="0"/>
                <a:cs typeface="Arial" panose="020B0604020202020204" pitchFamily="34" charset="0"/>
              </a:rPr>
              <a:t>Control address register</a:t>
            </a:r>
          </a:p>
          <a:p>
            <a:pPr algn="just">
              <a:lnSpc>
                <a:spcPct val="100000"/>
              </a:lnSpc>
              <a:spcBef>
                <a:spcPts val="50"/>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955" algn="just">
              <a:lnSpc>
                <a:spcPct val="100000"/>
              </a:lnSpc>
              <a:buClr>
                <a:srgbClr val="FDB809"/>
              </a:buClr>
              <a:buSzPct val="93333"/>
              <a:buFont typeface="Wingdings"/>
              <a:buChar char=""/>
              <a:tabLst>
                <a:tab pos="287655" algn="l"/>
              </a:tabLst>
            </a:pPr>
            <a:r>
              <a:rPr sz="2400" spc="-5" dirty="0">
                <a:latin typeface="Arial" panose="020B0604020202020204" pitchFamily="34" charset="0"/>
                <a:cs typeface="Arial" panose="020B0604020202020204" pitchFamily="34" charset="0"/>
              </a:rPr>
              <a:t>Control memory</a:t>
            </a:r>
          </a:p>
          <a:p>
            <a:pPr algn="just">
              <a:lnSpc>
                <a:spcPct val="100000"/>
              </a:lnSpc>
              <a:spcBef>
                <a:spcPts val="55"/>
              </a:spcBef>
              <a:buClr>
                <a:srgbClr val="FDB809"/>
              </a:buClr>
              <a:buFont typeface="Wingdings"/>
              <a:buChar char=""/>
            </a:pPr>
            <a:endParaRPr sz="2400" spc="-5" dirty="0">
              <a:latin typeface="Arial" panose="020B0604020202020204" pitchFamily="34" charset="0"/>
              <a:cs typeface="Arial" panose="020B0604020202020204" pitchFamily="34" charset="0"/>
            </a:endParaRPr>
          </a:p>
          <a:p>
            <a:pPr marL="287020" indent="-274955" algn="just">
              <a:lnSpc>
                <a:spcPct val="100000"/>
              </a:lnSpc>
              <a:buClr>
                <a:srgbClr val="FDB809"/>
              </a:buClr>
              <a:buSzPct val="93333"/>
              <a:buFont typeface="Wingdings"/>
              <a:buChar char=""/>
              <a:tabLst>
                <a:tab pos="287655" algn="l"/>
              </a:tabLst>
            </a:pPr>
            <a:r>
              <a:rPr sz="2400" spc="-5" dirty="0">
                <a:latin typeface="Arial" panose="020B0604020202020204" pitchFamily="34" charset="0"/>
                <a:cs typeface="Arial" panose="020B0604020202020204" pitchFamily="34" charset="0"/>
              </a:rPr>
              <a:t>Control data register</a:t>
            </a:r>
          </a:p>
        </p:txBody>
      </p:sp>
    </p:spTree>
    <p:extLst>
      <p:ext uri="{BB962C8B-B14F-4D97-AF65-F5344CB8AC3E}">
        <p14:creationId xmlns:p14="http://schemas.microsoft.com/office/powerpoint/2010/main" val="2683972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541277"/>
            <a:ext cx="4954905" cy="696595"/>
          </a:xfrm>
          <a:prstGeom prst="rect">
            <a:avLst/>
          </a:prstGeom>
        </p:spPr>
        <p:txBody>
          <a:bodyPr vert="horz" wrap="square" lIns="0" tIns="13335" rIns="0" bIns="0" rtlCol="0">
            <a:spAutoFit/>
          </a:bodyPr>
          <a:lstStyle/>
          <a:p>
            <a:pPr marL="12700">
              <a:lnSpc>
                <a:spcPct val="100000"/>
              </a:lnSpc>
              <a:spcBef>
                <a:spcPts val="105"/>
              </a:spcBef>
            </a:pPr>
            <a:r>
              <a:rPr spc="-10" dirty="0"/>
              <a:t>ARCHITECTURE</a:t>
            </a:r>
          </a:p>
        </p:txBody>
      </p:sp>
      <p:sp>
        <p:nvSpPr>
          <p:cNvPr id="6" name="object 6"/>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44</a:t>
            </a:fld>
            <a:endParaRPr spc="-90" dirty="0"/>
          </a:p>
        </p:txBody>
      </p:sp>
      <p:sp>
        <p:nvSpPr>
          <p:cNvPr id="3" name="object 3"/>
          <p:cNvSpPr txBox="1"/>
          <p:nvPr/>
        </p:nvSpPr>
        <p:spPr>
          <a:xfrm>
            <a:off x="518096" y="1701296"/>
            <a:ext cx="8473504" cy="4113947"/>
          </a:xfrm>
          <a:prstGeom prst="rect">
            <a:avLst/>
          </a:prstGeom>
        </p:spPr>
        <p:txBody>
          <a:bodyPr vert="horz" wrap="square" lIns="0" tIns="12700" rIns="0" bIns="0" rtlCol="0">
            <a:spAutoFit/>
          </a:bodyPr>
          <a:lstStyle/>
          <a:p>
            <a:pPr marL="287020" indent="-274320" algn="just">
              <a:lnSpc>
                <a:spcPct val="100000"/>
              </a:lnSpc>
              <a:spcBef>
                <a:spcPts val="100"/>
              </a:spcBef>
              <a:buClr>
                <a:srgbClr val="FDB809"/>
              </a:buClr>
              <a:buSzPct val="93333"/>
              <a:buFont typeface="Wingdings"/>
              <a:buChar char=""/>
              <a:tabLst>
                <a:tab pos="287020" algn="l"/>
              </a:tabLst>
            </a:pPr>
            <a:r>
              <a:rPr spc="5" dirty="0">
                <a:latin typeface="Arial Black"/>
                <a:cs typeface="Arial Black"/>
              </a:rPr>
              <a:t>The </a:t>
            </a:r>
            <a:r>
              <a:rPr spc="-5" dirty="0">
                <a:latin typeface="Arial Black"/>
                <a:cs typeface="Arial Black"/>
              </a:rPr>
              <a:t>address of </a:t>
            </a:r>
            <a:r>
              <a:rPr dirty="0">
                <a:latin typeface="Arial Black"/>
                <a:cs typeface="Arial Black"/>
              </a:rPr>
              <a:t>micro-instruction </a:t>
            </a:r>
            <a:r>
              <a:rPr spc="-15" dirty="0">
                <a:latin typeface="Arial Black"/>
                <a:cs typeface="Arial Black"/>
              </a:rPr>
              <a:t>that </a:t>
            </a:r>
            <a:r>
              <a:rPr dirty="0">
                <a:latin typeface="Arial Black"/>
                <a:cs typeface="Arial Black"/>
              </a:rPr>
              <a:t>is to be </a:t>
            </a:r>
            <a:r>
              <a:rPr spc="-15" dirty="0">
                <a:latin typeface="Arial Black"/>
                <a:cs typeface="Arial Black"/>
              </a:rPr>
              <a:t>executed </a:t>
            </a:r>
            <a:r>
              <a:rPr dirty="0">
                <a:latin typeface="Arial Black"/>
                <a:cs typeface="Arial Black"/>
              </a:rPr>
              <a:t>is </a:t>
            </a:r>
            <a:r>
              <a:rPr spc="-5" dirty="0">
                <a:latin typeface="Arial Black"/>
                <a:cs typeface="Arial Black"/>
              </a:rPr>
              <a:t>stored </a:t>
            </a:r>
            <a:r>
              <a:rPr dirty="0">
                <a:latin typeface="Arial Black"/>
                <a:cs typeface="Arial Black"/>
              </a:rPr>
              <a:t>in</a:t>
            </a:r>
            <a:r>
              <a:rPr spc="145" dirty="0">
                <a:latin typeface="Arial Black"/>
                <a:cs typeface="Arial Black"/>
              </a:rPr>
              <a:t> </a:t>
            </a:r>
            <a:r>
              <a:rPr spc="-10" dirty="0">
                <a:latin typeface="Arial Black"/>
                <a:cs typeface="Arial Black"/>
              </a:rPr>
              <a:t>the</a:t>
            </a:r>
            <a:endParaRPr dirty="0">
              <a:latin typeface="Arial Black"/>
              <a:cs typeface="Arial Black"/>
            </a:endParaRPr>
          </a:p>
          <a:p>
            <a:pPr marL="286385" algn="just">
              <a:lnSpc>
                <a:spcPct val="100000"/>
              </a:lnSpc>
              <a:spcBef>
                <a:spcPts val="5"/>
              </a:spcBef>
            </a:pPr>
            <a:r>
              <a:rPr spc="-5" dirty="0">
                <a:latin typeface="Arial Black"/>
                <a:cs typeface="Arial Black"/>
              </a:rPr>
              <a:t>control </a:t>
            </a:r>
            <a:r>
              <a:rPr dirty="0">
                <a:latin typeface="Arial Black"/>
                <a:cs typeface="Arial Black"/>
              </a:rPr>
              <a:t>address register</a:t>
            </a:r>
            <a:r>
              <a:rPr spc="40" dirty="0">
                <a:latin typeface="Arial Black"/>
                <a:cs typeface="Arial Black"/>
              </a:rPr>
              <a:t> </a:t>
            </a:r>
            <a:r>
              <a:rPr spc="-5" dirty="0">
                <a:latin typeface="Arial Black"/>
                <a:cs typeface="Arial Black"/>
              </a:rPr>
              <a:t>(CAR).</a:t>
            </a:r>
            <a:endParaRPr dirty="0">
              <a:latin typeface="Arial Black"/>
              <a:cs typeface="Arial Black"/>
            </a:endParaRPr>
          </a:p>
          <a:p>
            <a:pPr algn="just">
              <a:lnSpc>
                <a:spcPct val="100000"/>
              </a:lnSpc>
              <a:spcBef>
                <a:spcPts val="50"/>
              </a:spcBef>
            </a:pPr>
            <a:endParaRPr sz="2000" dirty="0">
              <a:latin typeface="Arial Black"/>
              <a:cs typeface="Arial Black"/>
            </a:endParaRPr>
          </a:p>
          <a:p>
            <a:pPr marL="286385" marR="5080" indent="-274320" algn="just">
              <a:lnSpc>
                <a:spcPct val="100000"/>
              </a:lnSpc>
              <a:buClr>
                <a:srgbClr val="FDB809"/>
              </a:buClr>
              <a:buSzPct val="93333"/>
              <a:buFont typeface="Wingdings"/>
              <a:buChar char=""/>
              <a:tabLst>
                <a:tab pos="350520" algn="l"/>
                <a:tab pos="351155" algn="l"/>
              </a:tabLst>
            </a:pPr>
            <a:r>
              <a:rPr sz="2400" dirty="0"/>
              <a:t>	</a:t>
            </a:r>
            <a:r>
              <a:rPr dirty="0">
                <a:latin typeface="Arial Black"/>
                <a:cs typeface="Arial Black"/>
              </a:rPr>
              <a:t>Micro-instruction corresponding </a:t>
            </a:r>
            <a:r>
              <a:rPr spc="-5" dirty="0">
                <a:latin typeface="Arial Black"/>
                <a:cs typeface="Arial Black"/>
              </a:rPr>
              <a:t>to the </a:t>
            </a:r>
            <a:r>
              <a:rPr dirty="0">
                <a:latin typeface="Arial Black"/>
                <a:cs typeface="Arial Black"/>
              </a:rPr>
              <a:t>address </a:t>
            </a:r>
            <a:r>
              <a:rPr spc="-5" dirty="0">
                <a:latin typeface="Arial Black"/>
                <a:cs typeface="Arial Black"/>
              </a:rPr>
              <a:t>stored </a:t>
            </a:r>
            <a:r>
              <a:rPr dirty="0">
                <a:latin typeface="Arial Black"/>
                <a:cs typeface="Arial Black"/>
              </a:rPr>
              <a:t>in </a:t>
            </a:r>
            <a:r>
              <a:rPr spc="-5" dirty="0">
                <a:latin typeface="Arial Black"/>
                <a:cs typeface="Arial Black"/>
              </a:rPr>
              <a:t>CAR </a:t>
            </a:r>
            <a:r>
              <a:rPr dirty="0">
                <a:latin typeface="Arial Black"/>
                <a:cs typeface="Arial Black"/>
              </a:rPr>
              <a:t>is </a:t>
            </a:r>
            <a:r>
              <a:rPr spc="-15" dirty="0">
                <a:latin typeface="Arial Black"/>
                <a:cs typeface="Arial Black"/>
              </a:rPr>
              <a:t>fetched  </a:t>
            </a:r>
            <a:r>
              <a:rPr dirty="0">
                <a:latin typeface="Arial Black"/>
                <a:cs typeface="Arial Black"/>
              </a:rPr>
              <a:t>from </a:t>
            </a:r>
            <a:r>
              <a:rPr spc="-5" dirty="0">
                <a:latin typeface="Arial Black"/>
                <a:cs typeface="Arial Black"/>
              </a:rPr>
              <a:t>control </a:t>
            </a:r>
            <a:r>
              <a:rPr spc="10" dirty="0">
                <a:latin typeface="Arial Black"/>
                <a:cs typeface="Arial Black"/>
              </a:rPr>
              <a:t>memory </a:t>
            </a:r>
            <a:r>
              <a:rPr spc="-5" dirty="0">
                <a:latin typeface="Arial Black"/>
                <a:cs typeface="Arial Black"/>
              </a:rPr>
              <a:t>and </a:t>
            </a:r>
            <a:r>
              <a:rPr dirty="0">
                <a:latin typeface="Arial Black"/>
                <a:cs typeface="Arial Black"/>
              </a:rPr>
              <a:t>is </a:t>
            </a:r>
            <a:r>
              <a:rPr spc="-5" dirty="0">
                <a:latin typeface="Arial Black"/>
                <a:cs typeface="Arial Black"/>
              </a:rPr>
              <a:t>stored </a:t>
            </a:r>
            <a:r>
              <a:rPr dirty="0">
                <a:latin typeface="Arial Black"/>
                <a:cs typeface="Arial Black"/>
              </a:rPr>
              <a:t>in </a:t>
            </a:r>
            <a:r>
              <a:rPr spc="-5" dirty="0">
                <a:latin typeface="Arial Black"/>
                <a:cs typeface="Arial Black"/>
              </a:rPr>
              <a:t>the control </a:t>
            </a:r>
            <a:r>
              <a:rPr spc="-15" dirty="0">
                <a:latin typeface="Arial Black"/>
                <a:cs typeface="Arial Black"/>
              </a:rPr>
              <a:t>data </a:t>
            </a:r>
            <a:r>
              <a:rPr dirty="0">
                <a:latin typeface="Arial Black"/>
                <a:cs typeface="Arial Black"/>
              </a:rPr>
              <a:t>register</a:t>
            </a:r>
            <a:r>
              <a:rPr spc="85" dirty="0">
                <a:latin typeface="Arial Black"/>
                <a:cs typeface="Arial Black"/>
              </a:rPr>
              <a:t> </a:t>
            </a:r>
            <a:r>
              <a:rPr spc="-5" dirty="0">
                <a:latin typeface="Arial Black"/>
                <a:cs typeface="Arial Black"/>
              </a:rPr>
              <a:t>(CDR).</a:t>
            </a:r>
            <a:endParaRPr dirty="0">
              <a:latin typeface="Arial Black"/>
              <a:cs typeface="Arial Black"/>
            </a:endParaRPr>
          </a:p>
          <a:p>
            <a:pPr algn="just">
              <a:lnSpc>
                <a:spcPct val="100000"/>
              </a:lnSpc>
              <a:spcBef>
                <a:spcPts val="50"/>
              </a:spcBef>
              <a:buClr>
                <a:srgbClr val="FDB809"/>
              </a:buClr>
              <a:buFont typeface="Wingdings"/>
              <a:buChar char=""/>
            </a:pPr>
            <a:endParaRPr sz="2000" dirty="0">
              <a:latin typeface="Arial Black"/>
              <a:cs typeface="Arial Black"/>
            </a:endParaRPr>
          </a:p>
          <a:p>
            <a:pPr marL="287020" indent="-274320" algn="just">
              <a:lnSpc>
                <a:spcPct val="100000"/>
              </a:lnSpc>
              <a:spcBef>
                <a:spcPts val="5"/>
              </a:spcBef>
              <a:buClr>
                <a:srgbClr val="FDB809"/>
              </a:buClr>
              <a:buSzPct val="93333"/>
              <a:buFont typeface="Wingdings"/>
              <a:buChar char=""/>
              <a:tabLst>
                <a:tab pos="287020" algn="l"/>
              </a:tabLst>
            </a:pPr>
            <a:r>
              <a:rPr spc="5" dirty="0">
                <a:latin typeface="Arial Black"/>
                <a:cs typeface="Arial Black"/>
              </a:rPr>
              <a:t>This </a:t>
            </a:r>
            <a:r>
              <a:rPr dirty="0">
                <a:latin typeface="Arial Black"/>
                <a:cs typeface="Arial Black"/>
              </a:rPr>
              <a:t>micro-instruction </a:t>
            </a:r>
            <a:r>
              <a:rPr spc="-5" dirty="0">
                <a:latin typeface="Arial Black"/>
                <a:cs typeface="Arial Black"/>
              </a:rPr>
              <a:t>contains control word </a:t>
            </a:r>
            <a:r>
              <a:rPr dirty="0">
                <a:latin typeface="Arial Black"/>
                <a:cs typeface="Arial Black"/>
              </a:rPr>
              <a:t>to </a:t>
            </a:r>
            <a:r>
              <a:rPr spc="-15" dirty="0">
                <a:latin typeface="Arial Black"/>
                <a:cs typeface="Arial Black"/>
              </a:rPr>
              <a:t>execute </a:t>
            </a:r>
            <a:r>
              <a:rPr spc="-10" dirty="0">
                <a:latin typeface="Arial Black"/>
                <a:cs typeface="Arial Black"/>
              </a:rPr>
              <a:t>one </a:t>
            </a:r>
            <a:r>
              <a:rPr dirty="0">
                <a:latin typeface="Arial Black"/>
                <a:cs typeface="Arial Black"/>
              </a:rPr>
              <a:t>or</a:t>
            </a:r>
            <a:r>
              <a:rPr spc="45" dirty="0">
                <a:latin typeface="Arial Black"/>
                <a:cs typeface="Arial Black"/>
              </a:rPr>
              <a:t> </a:t>
            </a:r>
            <a:r>
              <a:rPr dirty="0">
                <a:latin typeface="Arial Black"/>
                <a:cs typeface="Arial Black"/>
              </a:rPr>
              <a:t>more</a:t>
            </a:r>
          </a:p>
          <a:p>
            <a:pPr marL="286385" algn="just">
              <a:lnSpc>
                <a:spcPct val="100000"/>
              </a:lnSpc>
            </a:pPr>
            <a:r>
              <a:rPr spc="-5" dirty="0">
                <a:latin typeface="Arial Black"/>
                <a:cs typeface="Arial Black"/>
              </a:rPr>
              <a:t>micro-operations.</a:t>
            </a:r>
            <a:endParaRPr dirty="0">
              <a:latin typeface="Arial Black"/>
              <a:cs typeface="Arial Black"/>
            </a:endParaRPr>
          </a:p>
          <a:p>
            <a:pPr algn="just">
              <a:lnSpc>
                <a:spcPct val="100000"/>
              </a:lnSpc>
              <a:spcBef>
                <a:spcPts val="50"/>
              </a:spcBef>
            </a:pPr>
            <a:endParaRPr sz="2000" dirty="0">
              <a:latin typeface="Arial Black"/>
              <a:cs typeface="Arial Black"/>
            </a:endParaRPr>
          </a:p>
          <a:p>
            <a:pPr marL="286385" marR="532765" indent="-274320" algn="just">
              <a:lnSpc>
                <a:spcPct val="100000"/>
              </a:lnSpc>
              <a:spcBef>
                <a:spcPts val="5"/>
              </a:spcBef>
              <a:buClr>
                <a:srgbClr val="FDB809"/>
              </a:buClr>
              <a:buSzPct val="93333"/>
              <a:buFont typeface="Wingdings"/>
              <a:buChar char=""/>
              <a:tabLst>
                <a:tab pos="287020" algn="l"/>
              </a:tabLst>
            </a:pPr>
            <a:r>
              <a:rPr spc="-5" dirty="0">
                <a:latin typeface="Arial Black"/>
                <a:cs typeface="Arial Black"/>
              </a:rPr>
              <a:t>After the </a:t>
            </a:r>
            <a:r>
              <a:rPr spc="-15" dirty="0">
                <a:latin typeface="Arial Black"/>
                <a:cs typeface="Arial Black"/>
              </a:rPr>
              <a:t>execution </a:t>
            </a:r>
            <a:r>
              <a:rPr spc="-5" dirty="0">
                <a:latin typeface="Arial Black"/>
                <a:cs typeface="Arial Black"/>
              </a:rPr>
              <a:t>of all micro-operations of </a:t>
            </a:r>
            <a:r>
              <a:rPr dirty="0">
                <a:latin typeface="Arial Black"/>
                <a:cs typeface="Arial Black"/>
              </a:rPr>
              <a:t>micro-instruction, </a:t>
            </a:r>
            <a:r>
              <a:rPr spc="-5" dirty="0">
                <a:latin typeface="Arial Black"/>
                <a:cs typeface="Arial Black"/>
              </a:rPr>
              <a:t>the  </a:t>
            </a:r>
            <a:r>
              <a:rPr dirty="0">
                <a:latin typeface="Arial Black"/>
                <a:cs typeface="Arial Black"/>
              </a:rPr>
              <a:t>address </a:t>
            </a:r>
            <a:r>
              <a:rPr spc="-5" dirty="0">
                <a:latin typeface="Arial Black"/>
                <a:cs typeface="Arial Black"/>
              </a:rPr>
              <a:t>of </a:t>
            </a:r>
            <a:r>
              <a:rPr spc="-15" dirty="0">
                <a:latin typeface="Arial Black"/>
                <a:cs typeface="Arial Black"/>
              </a:rPr>
              <a:t>next </a:t>
            </a:r>
            <a:r>
              <a:rPr dirty="0">
                <a:latin typeface="Arial Black"/>
                <a:cs typeface="Arial Black"/>
              </a:rPr>
              <a:t>micro-instruction is</a:t>
            </a:r>
            <a:r>
              <a:rPr spc="125" dirty="0">
                <a:latin typeface="Arial Black"/>
                <a:cs typeface="Arial Black"/>
              </a:rPr>
              <a:t> </a:t>
            </a:r>
            <a:r>
              <a:rPr spc="-10" dirty="0">
                <a:latin typeface="Arial Black"/>
                <a:cs typeface="Arial Black"/>
              </a:rPr>
              <a:t>located.</a:t>
            </a:r>
            <a:endParaRPr dirty="0">
              <a:latin typeface="Arial Black"/>
              <a:cs typeface="Arial Black"/>
            </a:endParaRPr>
          </a:p>
        </p:txBody>
      </p:sp>
    </p:spTree>
    <p:extLst>
      <p:ext uri="{BB962C8B-B14F-4D97-AF65-F5344CB8AC3E}">
        <p14:creationId xmlns:p14="http://schemas.microsoft.com/office/powerpoint/2010/main" val="39771650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1443" y="1676400"/>
            <a:ext cx="8229600" cy="251460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4294967295"/>
          </p:nvPr>
        </p:nvSpPr>
        <p:spPr>
          <a:xfrm>
            <a:off x="8494521" y="6555667"/>
            <a:ext cx="233045" cy="178434"/>
          </a:xfrm>
          <a:prstGeom prst="rect">
            <a:avLst/>
          </a:prstGeom>
        </p:spPr>
        <p:txBody>
          <a:bodyPr vert="horz" wrap="square" lIns="0" tIns="0" rIns="0" bIns="0" rtlCol="0">
            <a:spAutoFit/>
          </a:bodyPr>
          <a:lstStyle/>
          <a:p>
            <a:pPr marL="46990">
              <a:lnSpc>
                <a:spcPts val="1245"/>
              </a:lnSpc>
            </a:pPr>
            <a:fld id="{81D60167-4931-47E6-BA6A-407CBD079E47}" type="slidenum">
              <a:rPr spc="-90" dirty="0"/>
              <a:t>45</a:t>
            </a:fld>
            <a:endParaRPr spc="-90" dirty="0"/>
          </a:p>
        </p:txBody>
      </p:sp>
    </p:spTree>
    <p:extLst>
      <p:ext uri="{BB962C8B-B14F-4D97-AF65-F5344CB8AC3E}">
        <p14:creationId xmlns:p14="http://schemas.microsoft.com/office/powerpoint/2010/main" val="9003688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700" y="732789"/>
            <a:ext cx="8796655" cy="635635"/>
          </a:xfrm>
          <a:prstGeom prst="rect">
            <a:avLst/>
          </a:prstGeom>
        </p:spPr>
        <p:txBody>
          <a:bodyPr vert="horz" wrap="square" lIns="0" tIns="13335" rIns="0" bIns="0" rtlCol="0">
            <a:spAutoFit/>
          </a:bodyPr>
          <a:lstStyle/>
          <a:p>
            <a:pPr algn="ctr">
              <a:lnSpc>
                <a:spcPct val="100000"/>
              </a:lnSpc>
              <a:spcBef>
                <a:spcPts val="105"/>
              </a:spcBef>
            </a:pPr>
            <a:r>
              <a:rPr sz="2000" spc="-20" dirty="0">
                <a:solidFill>
                  <a:srgbClr val="FDB809"/>
                </a:solidFill>
                <a:latin typeface="Arial Black"/>
                <a:cs typeface="Arial Black"/>
              </a:rPr>
              <a:t>COMPARISON </a:t>
            </a:r>
            <a:r>
              <a:rPr sz="2000" spc="5" dirty="0">
                <a:solidFill>
                  <a:srgbClr val="FDB809"/>
                </a:solidFill>
                <a:latin typeface="Arial Black"/>
                <a:cs typeface="Arial Black"/>
              </a:rPr>
              <a:t>BETWEEN </a:t>
            </a:r>
            <a:r>
              <a:rPr sz="2000" dirty="0">
                <a:solidFill>
                  <a:srgbClr val="FDB809"/>
                </a:solidFill>
                <a:latin typeface="Arial Black"/>
                <a:cs typeface="Arial Black"/>
              </a:rPr>
              <a:t>HARDWIRED AND</a:t>
            </a:r>
            <a:r>
              <a:rPr sz="2000" spc="-110" dirty="0">
                <a:solidFill>
                  <a:srgbClr val="FDB809"/>
                </a:solidFill>
                <a:latin typeface="Arial Black"/>
                <a:cs typeface="Arial Black"/>
              </a:rPr>
              <a:t> </a:t>
            </a:r>
            <a:r>
              <a:rPr sz="2000" spc="-10" dirty="0">
                <a:solidFill>
                  <a:srgbClr val="FDB809"/>
                </a:solidFill>
                <a:latin typeface="Arial Black"/>
                <a:cs typeface="Arial Black"/>
              </a:rPr>
              <a:t>MICROPRGRAMMED</a:t>
            </a:r>
            <a:endParaRPr sz="2000">
              <a:latin typeface="Arial Black"/>
              <a:cs typeface="Arial Black"/>
            </a:endParaRPr>
          </a:p>
          <a:p>
            <a:pPr marL="713740" algn="ctr">
              <a:lnSpc>
                <a:spcPct val="100000"/>
              </a:lnSpc>
            </a:pPr>
            <a:r>
              <a:rPr sz="2000" spc="-5" dirty="0">
                <a:solidFill>
                  <a:srgbClr val="FDB809"/>
                </a:solidFill>
                <a:latin typeface="Arial Black"/>
                <a:cs typeface="Arial Black"/>
              </a:rPr>
              <a:t>CONTROL</a:t>
            </a:r>
            <a:r>
              <a:rPr sz="2000" spc="-45" dirty="0">
                <a:solidFill>
                  <a:srgbClr val="FDB809"/>
                </a:solidFill>
                <a:latin typeface="Arial Black"/>
                <a:cs typeface="Arial Black"/>
              </a:rPr>
              <a:t> </a:t>
            </a:r>
            <a:r>
              <a:rPr sz="2000" dirty="0">
                <a:solidFill>
                  <a:srgbClr val="FDB809"/>
                </a:solidFill>
                <a:latin typeface="Arial Black"/>
                <a:cs typeface="Arial Black"/>
              </a:rPr>
              <a:t>UNIT</a:t>
            </a:r>
            <a:endParaRPr sz="2000">
              <a:latin typeface="Arial Black"/>
              <a:cs typeface="Arial Black"/>
            </a:endParaRPr>
          </a:p>
        </p:txBody>
      </p:sp>
      <p:graphicFrame>
        <p:nvGraphicFramePr>
          <p:cNvPr id="3" name="object 3"/>
          <p:cNvGraphicFramePr>
            <a:graphicFrameLocks noGrp="1"/>
          </p:cNvGraphicFramePr>
          <p:nvPr>
            <p:extLst>
              <p:ext uri="{D42A27DB-BD31-4B8C-83A1-F6EECF244321}">
                <p14:modId xmlns:p14="http://schemas.microsoft.com/office/powerpoint/2010/main" val="4177691582"/>
              </p:ext>
            </p:extLst>
          </p:nvPr>
        </p:nvGraphicFramePr>
        <p:xfrm>
          <a:off x="-6350" y="1416938"/>
          <a:ext cx="9150351" cy="5441061"/>
        </p:xfrm>
        <a:graphic>
          <a:graphicData uri="http://schemas.openxmlformats.org/drawingml/2006/table">
            <a:tbl>
              <a:tblPr firstRow="1" bandRow="1">
                <a:tableStyleId>{2D5ABB26-0587-4C30-8999-92F81FD0307C}</a:tableStyleId>
              </a:tblPr>
              <a:tblGrid>
                <a:gridCol w="2911591">
                  <a:extLst>
                    <a:ext uri="{9D8B030D-6E8A-4147-A177-3AD203B41FA5}">
                      <a16:colId xmlns:a16="http://schemas.microsoft.com/office/drawing/2014/main" val="20000"/>
                    </a:ext>
                  </a:extLst>
                </a:gridCol>
                <a:gridCol w="3146704">
                  <a:extLst>
                    <a:ext uri="{9D8B030D-6E8A-4147-A177-3AD203B41FA5}">
                      <a16:colId xmlns:a16="http://schemas.microsoft.com/office/drawing/2014/main" val="20001"/>
                    </a:ext>
                  </a:extLst>
                </a:gridCol>
                <a:gridCol w="3092056">
                  <a:extLst>
                    <a:ext uri="{9D8B030D-6E8A-4147-A177-3AD203B41FA5}">
                      <a16:colId xmlns:a16="http://schemas.microsoft.com/office/drawing/2014/main" val="20002"/>
                    </a:ext>
                  </a:extLst>
                </a:gridCol>
              </a:tblGrid>
              <a:tr h="653168">
                <a:tc>
                  <a:txBody>
                    <a:bodyPr/>
                    <a:lstStyle/>
                    <a:p>
                      <a:pPr marL="91440">
                        <a:lnSpc>
                          <a:spcPct val="100000"/>
                        </a:lnSpc>
                        <a:spcBef>
                          <a:spcPts val="315"/>
                        </a:spcBef>
                      </a:pPr>
                      <a:r>
                        <a:rPr sz="1500" spc="-20" dirty="0">
                          <a:solidFill>
                            <a:srgbClr val="FFFFFF"/>
                          </a:solidFill>
                          <a:latin typeface="Arial Black"/>
                          <a:cs typeface="Arial Black"/>
                        </a:rPr>
                        <a:t>ATTRIBUTE</a:t>
                      </a:r>
                      <a:endParaRPr sz="1500">
                        <a:latin typeface="Arial Black"/>
                        <a:cs typeface="Arial Black"/>
                      </a:endParaRPr>
                    </a:p>
                  </a:txBody>
                  <a:tcPr marL="0" marR="0" marT="40005" marB="0">
                    <a:solidFill>
                      <a:srgbClr val="FDB809"/>
                    </a:solidFill>
                  </a:tcPr>
                </a:tc>
                <a:tc>
                  <a:txBody>
                    <a:bodyPr/>
                    <a:lstStyle/>
                    <a:p>
                      <a:pPr marL="229870" marR="506730">
                        <a:lnSpc>
                          <a:spcPct val="100000"/>
                        </a:lnSpc>
                        <a:spcBef>
                          <a:spcPts val="315"/>
                        </a:spcBef>
                      </a:pPr>
                      <a:r>
                        <a:rPr sz="1500" dirty="0">
                          <a:solidFill>
                            <a:srgbClr val="FFFFFF"/>
                          </a:solidFill>
                          <a:latin typeface="Arial Black"/>
                          <a:cs typeface="Arial Black"/>
                        </a:rPr>
                        <a:t>HARDWIRED</a:t>
                      </a:r>
                      <a:r>
                        <a:rPr sz="1500" spc="-75" dirty="0">
                          <a:solidFill>
                            <a:srgbClr val="FFFFFF"/>
                          </a:solidFill>
                          <a:latin typeface="Arial Black"/>
                          <a:cs typeface="Arial Black"/>
                        </a:rPr>
                        <a:t> </a:t>
                      </a:r>
                      <a:r>
                        <a:rPr sz="1500" spc="-10" dirty="0">
                          <a:solidFill>
                            <a:srgbClr val="FFFFFF"/>
                          </a:solidFill>
                          <a:latin typeface="Arial Black"/>
                          <a:cs typeface="Arial Black"/>
                        </a:rPr>
                        <a:t>CONTROL  </a:t>
                      </a:r>
                      <a:r>
                        <a:rPr sz="1500" dirty="0">
                          <a:solidFill>
                            <a:srgbClr val="FFFFFF"/>
                          </a:solidFill>
                          <a:latin typeface="Arial Black"/>
                          <a:cs typeface="Arial Black"/>
                        </a:rPr>
                        <a:t>UNIT</a:t>
                      </a:r>
                      <a:endParaRPr sz="1500">
                        <a:latin typeface="Arial Black"/>
                        <a:cs typeface="Arial Black"/>
                      </a:endParaRPr>
                    </a:p>
                  </a:txBody>
                  <a:tcPr marL="0" marR="0" marT="40005" marB="0">
                    <a:solidFill>
                      <a:srgbClr val="FDB809"/>
                    </a:solidFill>
                  </a:tcPr>
                </a:tc>
                <a:tc>
                  <a:txBody>
                    <a:bodyPr/>
                    <a:lstStyle/>
                    <a:p>
                      <a:pPr marL="133985" marR="638810">
                        <a:lnSpc>
                          <a:spcPct val="100000"/>
                        </a:lnSpc>
                        <a:spcBef>
                          <a:spcPts val="315"/>
                        </a:spcBef>
                        <a:tabLst>
                          <a:tab pos="1294130" algn="l"/>
                        </a:tabLst>
                      </a:pPr>
                      <a:r>
                        <a:rPr sz="1500" dirty="0">
                          <a:solidFill>
                            <a:srgbClr val="FFFFFF"/>
                          </a:solidFill>
                          <a:latin typeface="Arial Black"/>
                          <a:cs typeface="Arial Black"/>
                        </a:rPr>
                        <a:t>MIC</a:t>
                      </a:r>
                      <a:r>
                        <a:rPr sz="1500" spc="-30" dirty="0">
                          <a:solidFill>
                            <a:srgbClr val="FFFFFF"/>
                          </a:solidFill>
                          <a:latin typeface="Arial Black"/>
                          <a:cs typeface="Arial Black"/>
                        </a:rPr>
                        <a:t>R</a:t>
                      </a:r>
                      <a:r>
                        <a:rPr sz="1500" spc="-5" dirty="0">
                          <a:solidFill>
                            <a:srgbClr val="FFFFFF"/>
                          </a:solidFill>
                          <a:latin typeface="Arial Black"/>
                          <a:cs typeface="Arial Black"/>
                        </a:rPr>
                        <a:t>O</a:t>
                      </a:r>
                      <a:r>
                        <a:rPr sz="1500" dirty="0">
                          <a:solidFill>
                            <a:srgbClr val="FFFFFF"/>
                          </a:solidFill>
                          <a:latin typeface="Arial Black"/>
                          <a:cs typeface="Arial Black"/>
                        </a:rPr>
                        <a:t>-</a:t>
                      </a:r>
                      <a:r>
                        <a:rPr sz="1500" spc="-5" dirty="0">
                          <a:solidFill>
                            <a:srgbClr val="FFFFFF"/>
                          </a:solidFill>
                          <a:latin typeface="Arial Black"/>
                          <a:cs typeface="Arial Black"/>
                        </a:rPr>
                        <a:t>P</a:t>
                      </a:r>
                      <a:r>
                        <a:rPr sz="1500" spc="-35" dirty="0">
                          <a:solidFill>
                            <a:srgbClr val="FFFFFF"/>
                          </a:solidFill>
                          <a:latin typeface="Arial Black"/>
                          <a:cs typeface="Arial Black"/>
                        </a:rPr>
                        <a:t>R</a:t>
                      </a:r>
                      <a:r>
                        <a:rPr sz="1500" dirty="0">
                          <a:solidFill>
                            <a:srgbClr val="FFFFFF"/>
                          </a:solidFill>
                          <a:latin typeface="Arial Black"/>
                          <a:cs typeface="Arial Black"/>
                        </a:rPr>
                        <a:t>OG</a:t>
                      </a:r>
                      <a:r>
                        <a:rPr sz="1500" spc="-10" dirty="0">
                          <a:solidFill>
                            <a:srgbClr val="FFFFFF"/>
                          </a:solidFill>
                          <a:latin typeface="Arial Black"/>
                          <a:cs typeface="Arial Black"/>
                        </a:rPr>
                        <a:t>R</a:t>
                      </a:r>
                      <a:r>
                        <a:rPr sz="1500" dirty="0">
                          <a:solidFill>
                            <a:srgbClr val="FFFFFF"/>
                          </a:solidFill>
                          <a:latin typeface="Arial Black"/>
                          <a:cs typeface="Arial Black"/>
                        </a:rPr>
                        <a:t>AMM</a:t>
                      </a:r>
                      <a:r>
                        <a:rPr sz="1500" spc="-10" dirty="0">
                          <a:solidFill>
                            <a:srgbClr val="FFFFFF"/>
                          </a:solidFill>
                          <a:latin typeface="Arial Black"/>
                          <a:cs typeface="Arial Black"/>
                        </a:rPr>
                        <a:t>E</a:t>
                      </a:r>
                      <a:r>
                        <a:rPr sz="1500" dirty="0">
                          <a:solidFill>
                            <a:srgbClr val="FFFFFF"/>
                          </a:solidFill>
                          <a:latin typeface="Arial Black"/>
                          <a:cs typeface="Arial Black"/>
                        </a:rPr>
                        <a:t>D  </a:t>
                      </a:r>
                      <a:r>
                        <a:rPr sz="1500" spc="-10" dirty="0">
                          <a:solidFill>
                            <a:srgbClr val="FFFFFF"/>
                          </a:solidFill>
                          <a:latin typeface="Arial Black"/>
                          <a:cs typeface="Arial Black"/>
                        </a:rPr>
                        <a:t>CONTROL	</a:t>
                      </a:r>
                      <a:r>
                        <a:rPr sz="1500" dirty="0">
                          <a:solidFill>
                            <a:srgbClr val="FFFFFF"/>
                          </a:solidFill>
                          <a:latin typeface="Arial Black"/>
                          <a:cs typeface="Arial Black"/>
                        </a:rPr>
                        <a:t>UNIT</a:t>
                      </a:r>
                      <a:endParaRPr sz="1500">
                        <a:latin typeface="Arial Black"/>
                        <a:cs typeface="Arial Black"/>
                      </a:endParaRPr>
                    </a:p>
                  </a:txBody>
                  <a:tcPr marL="0" marR="0" marT="40005" marB="0">
                    <a:solidFill>
                      <a:srgbClr val="FDB809"/>
                    </a:solidFill>
                  </a:tcPr>
                </a:tc>
                <a:extLst>
                  <a:ext uri="{0D108BD9-81ED-4DB2-BD59-A6C34878D82A}">
                    <a16:rowId xmlns:a16="http://schemas.microsoft.com/office/drawing/2014/main" val="10000"/>
                  </a:ext>
                </a:extLst>
              </a:tr>
              <a:tr h="359184">
                <a:tc>
                  <a:txBody>
                    <a:bodyPr/>
                    <a:lstStyle/>
                    <a:p>
                      <a:pPr marL="91440">
                        <a:lnSpc>
                          <a:spcPct val="100000"/>
                        </a:lnSpc>
                        <a:spcBef>
                          <a:spcPts val="215"/>
                        </a:spcBef>
                      </a:pPr>
                      <a:r>
                        <a:rPr sz="1500" spc="-5" dirty="0">
                          <a:latin typeface="Arial Black"/>
                          <a:cs typeface="Arial Black"/>
                        </a:rPr>
                        <a:t>SPEED</a:t>
                      </a:r>
                      <a:endParaRPr sz="1500">
                        <a:latin typeface="Arial Black"/>
                        <a:cs typeface="Arial Black"/>
                      </a:endParaRPr>
                    </a:p>
                  </a:txBody>
                  <a:tcPr marL="0" marR="0" marT="27305" marB="0">
                    <a:lnL w="12700">
                      <a:solidFill>
                        <a:srgbClr val="FDB809"/>
                      </a:solidFill>
                      <a:prstDash val="solid"/>
                    </a:lnL>
                    <a:lnB w="12700">
                      <a:solidFill>
                        <a:srgbClr val="FDB809"/>
                      </a:solidFill>
                      <a:prstDash val="solid"/>
                    </a:lnB>
                    <a:solidFill>
                      <a:srgbClr val="FFF3E7"/>
                    </a:solidFill>
                  </a:tcPr>
                </a:tc>
                <a:tc>
                  <a:txBody>
                    <a:bodyPr/>
                    <a:lstStyle/>
                    <a:p>
                      <a:pPr marL="229870">
                        <a:lnSpc>
                          <a:spcPct val="100000"/>
                        </a:lnSpc>
                        <a:spcBef>
                          <a:spcPts val="215"/>
                        </a:spcBef>
                      </a:pPr>
                      <a:r>
                        <a:rPr sz="1500" spc="-40" dirty="0">
                          <a:latin typeface="Arial Black"/>
                          <a:cs typeface="Arial Black"/>
                        </a:rPr>
                        <a:t>FAST</a:t>
                      </a:r>
                      <a:endParaRPr sz="1500">
                        <a:latin typeface="Arial Black"/>
                        <a:cs typeface="Arial Black"/>
                      </a:endParaRPr>
                    </a:p>
                  </a:txBody>
                  <a:tcPr marL="0" marR="0" marT="27305" marB="0">
                    <a:lnB w="12700">
                      <a:solidFill>
                        <a:srgbClr val="FDB809"/>
                      </a:solidFill>
                      <a:prstDash val="solid"/>
                    </a:lnB>
                    <a:solidFill>
                      <a:srgbClr val="FFF3E7"/>
                    </a:solidFill>
                  </a:tcPr>
                </a:tc>
                <a:tc>
                  <a:txBody>
                    <a:bodyPr/>
                    <a:lstStyle/>
                    <a:p>
                      <a:pPr marL="133985">
                        <a:lnSpc>
                          <a:spcPct val="100000"/>
                        </a:lnSpc>
                        <a:spcBef>
                          <a:spcPts val="215"/>
                        </a:spcBef>
                      </a:pPr>
                      <a:r>
                        <a:rPr sz="1500" spc="-15" dirty="0">
                          <a:latin typeface="Arial Black"/>
                          <a:cs typeface="Arial Black"/>
                        </a:rPr>
                        <a:t>SLOW</a:t>
                      </a:r>
                      <a:endParaRPr sz="1500">
                        <a:latin typeface="Arial Black"/>
                        <a:cs typeface="Arial Black"/>
                      </a:endParaRPr>
                    </a:p>
                  </a:txBody>
                  <a:tcPr marL="0" marR="0" marT="27305" marB="0">
                    <a:lnR w="12700">
                      <a:solidFill>
                        <a:srgbClr val="FDB809"/>
                      </a:solidFill>
                      <a:prstDash val="solid"/>
                    </a:lnR>
                    <a:lnB w="12700">
                      <a:solidFill>
                        <a:srgbClr val="FDB809"/>
                      </a:solidFill>
                      <a:prstDash val="solid"/>
                    </a:lnB>
                    <a:solidFill>
                      <a:srgbClr val="FFF3E7"/>
                    </a:solidFill>
                  </a:tcPr>
                </a:tc>
                <a:extLst>
                  <a:ext uri="{0D108BD9-81ED-4DB2-BD59-A6C34878D82A}">
                    <a16:rowId xmlns:a16="http://schemas.microsoft.com/office/drawing/2014/main" val="10001"/>
                  </a:ext>
                </a:extLst>
              </a:tr>
              <a:tr h="640102">
                <a:tc>
                  <a:txBody>
                    <a:bodyPr/>
                    <a:lstStyle/>
                    <a:p>
                      <a:pPr marL="91440" marR="892175">
                        <a:lnSpc>
                          <a:spcPct val="100000"/>
                        </a:lnSpc>
                        <a:spcBef>
                          <a:spcPts val="265"/>
                        </a:spcBef>
                      </a:pPr>
                      <a:r>
                        <a:rPr sz="1500" spc="-5" dirty="0">
                          <a:latin typeface="Arial Black"/>
                          <a:cs typeface="Arial Black"/>
                        </a:rPr>
                        <a:t>COST </a:t>
                      </a:r>
                      <a:r>
                        <a:rPr sz="1500" dirty="0">
                          <a:latin typeface="Arial Black"/>
                          <a:cs typeface="Arial Black"/>
                        </a:rPr>
                        <a:t>OF  </a:t>
                      </a:r>
                      <a:r>
                        <a:rPr sz="1500" spc="-5" dirty="0">
                          <a:latin typeface="Arial Black"/>
                          <a:cs typeface="Arial Black"/>
                        </a:rPr>
                        <a:t>I</a:t>
                      </a:r>
                      <a:r>
                        <a:rPr sz="1500" dirty="0">
                          <a:latin typeface="Arial Black"/>
                          <a:cs typeface="Arial Black"/>
                        </a:rPr>
                        <a:t>M</a:t>
                      </a:r>
                      <a:r>
                        <a:rPr sz="1500" spc="-5" dirty="0">
                          <a:latin typeface="Arial Black"/>
                          <a:cs typeface="Arial Black"/>
                        </a:rPr>
                        <a:t>P</a:t>
                      </a:r>
                      <a:r>
                        <a:rPr sz="1500" spc="-10" dirty="0">
                          <a:latin typeface="Arial Black"/>
                          <a:cs typeface="Arial Black"/>
                        </a:rPr>
                        <a:t>L</a:t>
                      </a:r>
                      <a:r>
                        <a:rPr sz="1500" spc="-5" dirty="0">
                          <a:latin typeface="Arial Black"/>
                          <a:cs typeface="Arial Black"/>
                        </a:rPr>
                        <a:t>EM</a:t>
                      </a:r>
                      <a:r>
                        <a:rPr sz="1500" spc="-10" dirty="0">
                          <a:latin typeface="Arial Black"/>
                          <a:cs typeface="Arial Black"/>
                        </a:rPr>
                        <a:t>E</a:t>
                      </a:r>
                      <a:r>
                        <a:rPr sz="1500" dirty="0">
                          <a:latin typeface="Arial Black"/>
                          <a:cs typeface="Arial Black"/>
                        </a:rPr>
                        <a:t>N</a:t>
                      </a:r>
                      <a:r>
                        <a:rPr sz="1500" spc="-105" dirty="0">
                          <a:latin typeface="Arial Black"/>
                          <a:cs typeface="Arial Black"/>
                        </a:rPr>
                        <a:t>T</a:t>
                      </a:r>
                      <a:r>
                        <a:rPr sz="1500" spc="-114" dirty="0">
                          <a:latin typeface="Arial Black"/>
                          <a:cs typeface="Arial Black"/>
                        </a:rPr>
                        <a:t>A</a:t>
                      </a:r>
                      <a:r>
                        <a:rPr sz="1500" spc="-5" dirty="0">
                          <a:latin typeface="Arial Black"/>
                          <a:cs typeface="Arial Black"/>
                        </a:rPr>
                        <a:t>TION</a:t>
                      </a:r>
                      <a:endParaRPr sz="1500">
                        <a:latin typeface="Arial Black"/>
                        <a:cs typeface="Arial Black"/>
                      </a:endParaRPr>
                    </a:p>
                  </a:txBody>
                  <a:tcPr marL="0" marR="0" marT="33655" marB="0">
                    <a:lnL w="12700">
                      <a:solidFill>
                        <a:srgbClr val="FDB809"/>
                      </a:solidFill>
                      <a:prstDash val="solid"/>
                    </a:lnL>
                    <a:lnT w="12700">
                      <a:solidFill>
                        <a:srgbClr val="FDB809"/>
                      </a:solidFill>
                      <a:prstDash val="solid"/>
                    </a:lnT>
                    <a:lnB w="12700">
                      <a:solidFill>
                        <a:srgbClr val="FDB809"/>
                      </a:solidFill>
                      <a:prstDash val="solid"/>
                    </a:lnB>
                    <a:solidFill>
                      <a:srgbClr val="FFFFFF"/>
                    </a:solidFill>
                  </a:tcPr>
                </a:tc>
                <a:tc>
                  <a:txBody>
                    <a:bodyPr/>
                    <a:lstStyle/>
                    <a:p>
                      <a:pPr marL="229870">
                        <a:lnSpc>
                          <a:spcPct val="100000"/>
                        </a:lnSpc>
                        <a:spcBef>
                          <a:spcPts val="265"/>
                        </a:spcBef>
                      </a:pPr>
                      <a:r>
                        <a:rPr sz="1500" dirty="0">
                          <a:latin typeface="Arial Black"/>
                          <a:cs typeface="Arial Black"/>
                        </a:rPr>
                        <a:t>MORE</a:t>
                      </a:r>
                      <a:endParaRPr sz="1500">
                        <a:latin typeface="Arial Black"/>
                        <a:cs typeface="Arial Black"/>
                      </a:endParaRPr>
                    </a:p>
                  </a:txBody>
                  <a:tcPr marL="0" marR="0" marT="33655" marB="0">
                    <a:lnT w="12700">
                      <a:solidFill>
                        <a:srgbClr val="FDB809"/>
                      </a:solidFill>
                      <a:prstDash val="solid"/>
                    </a:lnT>
                    <a:lnB w="12700">
                      <a:solidFill>
                        <a:srgbClr val="FDB809"/>
                      </a:solidFill>
                      <a:prstDash val="solid"/>
                    </a:lnB>
                    <a:solidFill>
                      <a:srgbClr val="FFFFFF"/>
                    </a:solidFill>
                  </a:tcPr>
                </a:tc>
                <a:tc>
                  <a:txBody>
                    <a:bodyPr/>
                    <a:lstStyle/>
                    <a:p>
                      <a:pPr marL="133985">
                        <a:lnSpc>
                          <a:spcPct val="100000"/>
                        </a:lnSpc>
                        <a:spcBef>
                          <a:spcPts val="265"/>
                        </a:spcBef>
                      </a:pPr>
                      <a:r>
                        <a:rPr sz="1500" spc="-5" dirty="0">
                          <a:latin typeface="Arial Black"/>
                          <a:cs typeface="Arial Black"/>
                        </a:rPr>
                        <a:t>CHEAPER</a:t>
                      </a:r>
                      <a:endParaRPr sz="1500">
                        <a:latin typeface="Arial Black"/>
                        <a:cs typeface="Arial Black"/>
                      </a:endParaRPr>
                    </a:p>
                  </a:txBody>
                  <a:tcPr marL="0" marR="0" marT="33655" marB="0">
                    <a:lnR w="12700">
                      <a:solidFill>
                        <a:srgbClr val="FDB809"/>
                      </a:solidFill>
                      <a:prstDash val="solid"/>
                    </a:lnR>
                    <a:lnT w="12700">
                      <a:solidFill>
                        <a:srgbClr val="FDB809"/>
                      </a:solidFill>
                      <a:prstDash val="solid"/>
                    </a:lnT>
                    <a:lnB w="12700">
                      <a:solidFill>
                        <a:srgbClr val="FDB809"/>
                      </a:solidFill>
                      <a:prstDash val="solid"/>
                    </a:lnB>
                    <a:solidFill>
                      <a:srgbClr val="FFFFFF"/>
                    </a:solidFill>
                  </a:tcPr>
                </a:tc>
                <a:extLst>
                  <a:ext uri="{0D108BD9-81ED-4DB2-BD59-A6C34878D82A}">
                    <a16:rowId xmlns:a16="http://schemas.microsoft.com/office/drawing/2014/main" val="10002"/>
                  </a:ext>
                </a:extLst>
              </a:tr>
              <a:tr h="914356">
                <a:tc>
                  <a:txBody>
                    <a:bodyPr/>
                    <a:lstStyle/>
                    <a:p>
                      <a:pPr marL="91440">
                        <a:lnSpc>
                          <a:spcPct val="100000"/>
                        </a:lnSpc>
                        <a:spcBef>
                          <a:spcPts val="265"/>
                        </a:spcBef>
                      </a:pPr>
                      <a:r>
                        <a:rPr sz="1500" spc="-5" dirty="0">
                          <a:latin typeface="Arial Black"/>
                          <a:cs typeface="Arial Black"/>
                        </a:rPr>
                        <a:t>FLEXIBILITY</a:t>
                      </a:r>
                      <a:endParaRPr sz="1500">
                        <a:latin typeface="Arial Black"/>
                        <a:cs typeface="Arial Black"/>
                      </a:endParaRPr>
                    </a:p>
                  </a:txBody>
                  <a:tcPr marL="0" marR="0" marT="33655" marB="0">
                    <a:lnL w="12700">
                      <a:solidFill>
                        <a:srgbClr val="FDB809"/>
                      </a:solidFill>
                      <a:prstDash val="solid"/>
                    </a:lnL>
                    <a:lnT w="12700">
                      <a:solidFill>
                        <a:srgbClr val="FDB809"/>
                      </a:solidFill>
                      <a:prstDash val="solid"/>
                    </a:lnT>
                    <a:lnB w="12700">
                      <a:solidFill>
                        <a:srgbClr val="FDB809"/>
                      </a:solidFill>
                      <a:prstDash val="solid"/>
                    </a:lnB>
                    <a:solidFill>
                      <a:srgbClr val="FFF3E7"/>
                    </a:solidFill>
                  </a:tcPr>
                </a:tc>
                <a:tc>
                  <a:txBody>
                    <a:bodyPr/>
                    <a:lstStyle/>
                    <a:p>
                      <a:pPr marL="229870" marR="126364">
                        <a:lnSpc>
                          <a:spcPct val="100000"/>
                        </a:lnSpc>
                        <a:spcBef>
                          <a:spcPts val="265"/>
                        </a:spcBef>
                      </a:pPr>
                      <a:r>
                        <a:rPr sz="1500" spc="-15" dirty="0">
                          <a:latin typeface="Arial Black"/>
                          <a:cs typeface="Arial Black"/>
                        </a:rPr>
                        <a:t>NOT </a:t>
                      </a:r>
                      <a:r>
                        <a:rPr sz="1500" spc="-5" dirty="0">
                          <a:latin typeface="Arial Black"/>
                          <a:cs typeface="Arial Black"/>
                        </a:rPr>
                        <a:t>FLEXIBLE, </a:t>
                      </a:r>
                      <a:r>
                        <a:rPr sz="1500" spc="-15" dirty="0">
                          <a:latin typeface="Arial Black"/>
                          <a:cs typeface="Arial Black"/>
                        </a:rPr>
                        <a:t>DIFFICULT  </a:t>
                      </a:r>
                      <a:r>
                        <a:rPr sz="1500" spc="-30" dirty="0">
                          <a:latin typeface="Arial Black"/>
                          <a:cs typeface="Arial Black"/>
                        </a:rPr>
                        <a:t>TO </a:t>
                      </a:r>
                      <a:r>
                        <a:rPr sz="1500" dirty="0">
                          <a:latin typeface="Arial Black"/>
                          <a:cs typeface="Arial Black"/>
                        </a:rPr>
                        <a:t>MODIFY </a:t>
                      </a:r>
                      <a:r>
                        <a:rPr sz="1500" spc="-5" dirty="0">
                          <a:latin typeface="Arial Black"/>
                          <a:cs typeface="Arial Black"/>
                        </a:rPr>
                        <a:t>FOR </a:t>
                      </a:r>
                      <a:r>
                        <a:rPr sz="1500" dirty="0">
                          <a:latin typeface="Arial Black"/>
                          <a:cs typeface="Arial Black"/>
                        </a:rPr>
                        <a:t>NEW  </a:t>
                      </a:r>
                      <a:r>
                        <a:rPr sz="1500" spc="-10" dirty="0">
                          <a:latin typeface="Arial Black"/>
                          <a:cs typeface="Arial Black"/>
                        </a:rPr>
                        <a:t>INSTRUCTION</a:t>
                      </a:r>
                      <a:endParaRPr sz="1500">
                        <a:latin typeface="Arial Black"/>
                        <a:cs typeface="Arial Black"/>
                      </a:endParaRPr>
                    </a:p>
                  </a:txBody>
                  <a:tcPr marL="0" marR="0" marT="33655" marB="0">
                    <a:lnT w="12700">
                      <a:solidFill>
                        <a:srgbClr val="FDB809"/>
                      </a:solidFill>
                      <a:prstDash val="solid"/>
                    </a:lnT>
                    <a:lnB w="12700">
                      <a:solidFill>
                        <a:srgbClr val="FDB809"/>
                      </a:solidFill>
                      <a:prstDash val="solid"/>
                    </a:lnB>
                    <a:solidFill>
                      <a:srgbClr val="FFF3E7"/>
                    </a:solidFill>
                  </a:tcPr>
                </a:tc>
                <a:tc>
                  <a:txBody>
                    <a:bodyPr/>
                    <a:lstStyle/>
                    <a:p>
                      <a:pPr marL="133985" marR="452120">
                        <a:lnSpc>
                          <a:spcPct val="100000"/>
                        </a:lnSpc>
                        <a:spcBef>
                          <a:spcPts val="265"/>
                        </a:spcBef>
                      </a:pPr>
                      <a:r>
                        <a:rPr sz="1500" spc="-5" dirty="0">
                          <a:latin typeface="Arial Black"/>
                          <a:cs typeface="Arial Black"/>
                        </a:rPr>
                        <a:t>FLEXIBLE, NEW  </a:t>
                      </a:r>
                      <a:r>
                        <a:rPr sz="1500" spc="-10" dirty="0">
                          <a:latin typeface="Arial Black"/>
                          <a:cs typeface="Arial Black"/>
                        </a:rPr>
                        <a:t>INSTRUCTIONS </a:t>
                      </a:r>
                      <a:r>
                        <a:rPr sz="1500" spc="-5" dirty="0">
                          <a:latin typeface="Arial Black"/>
                          <a:cs typeface="Arial Black"/>
                        </a:rPr>
                        <a:t>CAN </a:t>
                      </a:r>
                      <a:r>
                        <a:rPr sz="1500" dirty="0">
                          <a:latin typeface="Arial Black"/>
                          <a:cs typeface="Arial Black"/>
                        </a:rPr>
                        <a:t>BE  </a:t>
                      </a:r>
                      <a:r>
                        <a:rPr sz="1500" spc="-5" dirty="0">
                          <a:latin typeface="Arial Black"/>
                          <a:cs typeface="Arial Black"/>
                        </a:rPr>
                        <a:t>ADDED</a:t>
                      </a:r>
                      <a:endParaRPr sz="1500">
                        <a:latin typeface="Arial Black"/>
                        <a:cs typeface="Arial Black"/>
                      </a:endParaRPr>
                    </a:p>
                  </a:txBody>
                  <a:tcPr marL="0" marR="0" marT="33655" marB="0">
                    <a:lnR w="12700">
                      <a:solidFill>
                        <a:srgbClr val="FDB809"/>
                      </a:solidFill>
                      <a:prstDash val="solid"/>
                    </a:lnR>
                    <a:lnT w="12700">
                      <a:solidFill>
                        <a:srgbClr val="FDB809"/>
                      </a:solidFill>
                      <a:prstDash val="solid"/>
                    </a:lnT>
                    <a:lnB w="12700">
                      <a:solidFill>
                        <a:srgbClr val="FDB809"/>
                      </a:solidFill>
                      <a:prstDash val="solid"/>
                    </a:lnB>
                    <a:solidFill>
                      <a:srgbClr val="FFF3E7"/>
                    </a:solidFill>
                  </a:tcPr>
                </a:tc>
                <a:extLst>
                  <a:ext uri="{0D108BD9-81ED-4DB2-BD59-A6C34878D82A}">
                    <a16:rowId xmlns:a16="http://schemas.microsoft.com/office/drawing/2014/main" val="10003"/>
                  </a:ext>
                </a:extLst>
              </a:tr>
              <a:tr h="640101">
                <a:tc>
                  <a:txBody>
                    <a:bodyPr/>
                    <a:lstStyle/>
                    <a:p>
                      <a:pPr marL="91440" marR="222250">
                        <a:lnSpc>
                          <a:spcPct val="100000"/>
                        </a:lnSpc>
                        <a:spcBef>
                          <a:spcPts val="270"/>
                        </a:spcBef>
                      </a:pPr>
                      <a:r>
                        <a:rPr sz="1500" spc="-5" dirty="0">
                          <a:latin typeface="Arial Black"/>
                          <a:cs typeface="Arial Black"/>
                        </a:rPr>
                        <a:t>ABILITY </a:t>
                      </a:r>
                      <a:r>
                        <a:rPr sz="1500" spc="-25" dirty="0">
                          <a:latin typeface="Arial Black"/>
                          <a:cs typeface="Arial Black"/>
                        </a:rPr>
                        <a:t>TO </a:t>
                      </a:r>
                      <a:r>
                        <a:rPr sz="1500" spc="-5" dirty="0">
                          <a:latin typeface="Arial Black"/>
                          <a:cs typeface="Arial Black"/>
                        </a:rPr>
                        <a:t>HANDLE  COMPLEX</a:t>
                      </a:r>
                      <a:r>
                        <a:rPr sz="1500" spc="-40" dirty="0">
                          <a:latin typeface="Arial Black"/>
                          <a:cs typeface="Arial Black"/>
                        </a:rPr>
                        <a:t> </a:t>
                      </a:r>
                      <a:r>
                        <a:rPr sz="1500" spc="-10" dirty="0">
                          <a:latin typeface="Arial Black"/>
                          <a:cs typeface="Arial Black"/>
                        </a:rPr>
                        <a:t>INSTRUCTION</a:t>
                      </a:r>
                      <a:endParaRPr sz="1500" dirty="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FFF"/>
                    </a:solidFill>
                  </a:tcPr>
                </a:tc>
                <a:tc>
                  <a:txBody>
                    <a:bodyPr/>
                    <a:lstStyle/>
                    <a:p>
                      <a:pPr marL="229870">
                        <a:lnSpc>
                          <a:spcPct val="100000"/>
                        </a:lnSpc>
                        <a:spcBef>
                          <a:spcPts val="270"/>
                        </a:spcBef>
                      </a:pPr>
                      <a:r>
                        <a:rPr sz="1500" spc="-15" dirty="0">
                          <a:latin typeface="Arial Black"/>
                          <a:cs typeface="Arial Black"/>
                        </a:rPr>
                        <a:t>DIFFICULT</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FFF"/>
                    </a:solidFill>
                  </a:tcPr>
                </a:tc>
                <a:tc>
                  <a:txBody>
                    <a:bodyPr/>
                    <a:lstStyle/>
                    <a:p>
                      <a:pPr marL="133985">
                        <a:lnSpc>
                          <a:spcPct val="100000"/>
                        </a:lnSpc>
                        <a:spcBef>
                          <a:spcPts val="270"/>
                        </a:spcBef>
                      </a:pPr>
                      <a:r>
                        <a:rPr sz="1500" spc="-10" dirty="0">
                          <a:latin typeface="Arial Black"/>
                          <a:cs typeface="Arial Black"/>
                        </a:rPr>
                        <a:t>EASIER</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FFF"/>
                    </a:solidFill>
                  </a:tcPr>
                </a:tc>
                <a:extLst>
                  <a:ext uri="{0D108BD9-81ED-4DB2-BD59-A6C34878D82A}">
                    <a16:rowId xmlns:a16="http://schemas.microsoft.com/office/drawing/2014/main" val="10004"/>
                  </a:ext>
                </a:extLst>
              </a:tr>
              <a:tr h="365717">
                <a:tc>
                  <a:txBody>
                    <a:bodyPr/>
                    <a:lstStyle/>
                    <a:p>
                      <a:pPr marL="91440">
                        <a:lnSpc>
                          <a:spcPct val="100000"/>
                        </a:lnSpc>
                        <a:spcBef>
                          <a:spcPts val="270"/>
                        </a:spcBef>
                      </a:pPr>
                      <a:r>
                        <a:rPr sz="1500" spc="-5" dirty="0">
                          <a:latin typeface="Arial Black"/>
                          <a:cs typeface="Arial Black"/>
                        </a:rPr>
                        <a:t>DECODING</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3E7"/>
                    </a:solidFill>
                  </a:tcPr>
                </a:tc>
                <a:tc>
                  <a:txBody>
                    <a:bodyPr/>
                    <a:lstStyle/>
                    <a:p>
                      <a:pPr marL="229870">
                        <a:lnSpc>
                          <a:spcPct val="100000"/>
                        </a:lnSpc>
                        <a:spcBef>
                          <a:spcPts val="270"/>
                        </a:spcBef>
                      </a:pPr>
                      <a:r>
                        <a:rPr sz="1500" spc="-5" dirty="0">
                          <a:latin typeface="Arial Black"/>
                          <a:cs typeface="Arial Black"/>
                        </a:rPr>
                        <a:t>COMPLEX</a:t>
                      </a:r>
                      <a:endParaRPr sz="1500" dirty="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3E7"/>
                    </a:solidFill>
                  </a:tcPr>
                </a:tc>
                <a:tc>
                  <a:txBody>
                    <a:bodyPr/>
                    <a:lstStyle/>
                    <a:p>
                      <a:pPr marL="133985">
                        <a:lnSpc>
                          <a:spcPct val="100000"/>
                        </a:lnSpc>
                        <a:spcBef>
                          <a:spcPts val="270"/>
                        </a:spcBef>
                      </a:pPr>
                      <a:r>
                        <a:rPr sz="1500" spc="-5" dirty="0">
                          <a:latin typeface="Arial Black"/>
                          <a:cs typeface="Arial Black"/>
                        </a:rPr>
                        <a:t>EASY</a:t>
                      </a:r>
                      <a:endParaRPr sz="1500" dirty="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3E7"/>
                    </a:solidFill>
                  </a:tcPr>
                </a:tc>
                <a:extLst>
                  <a:ext uri="{0D108BD9-81ED-4DB2-BD59-A6C34878D82A}">
                    <a16:rowId xmlns:a16="http://schemas.microsoft.com/office/drawing/2014/main" val="10005"/>
                  </a:ext>
                </a:extLst>
              </a:tr>
              <a:tr h="431308">
                <a:tc>
                  <a:txBody>
                    <a:bodyPr/>
                    <a:lstStyle/>
                    <a:p>
                      <a:pPr marL="91440">
                        <a:lnSpc>
                          <a:spcPct val="100000"/>
                        </a:lnSpc>
                        <a:spcBef>
                          <a:spcPts val="270"/>
                        </a:spcBef>
                      </a:pPr>
                      <a:r>
                        <a:rPr sz="1500" spc="-15" dirty="0">
                          <a:latin typeface="Arial Black"/>
                          <a:cs typeface="Arial Black"/>
                        </a:rPr>
                        <a:t>APPLICATION</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FFF"/>
                    </a:solidFill>
                  </a:tcPr>
                </a:tc>
                <a:tc>
                  <a:txBody>
                    <a:bodyPr/>
                    <a:lstStyle/>
                    <a:p>
                      <a:pPr marL="229870">
                        <a:lnSpc>
                          <a:spcPct val="100000"/>
                        </a:lnSpc>
                        <a:spcBef>
                          <a:spcPts val="270"/>
                        </a:spcBef>
                      </a:pPr>
                      <a:r>
                        <a:rPr sz="1500" dirty="0">
                          <a:latin typeface="Arial Black"/>
                          <a:cs typeface="Arial Black"/>
                        </a:rPr>
                        <a:t>RISC</a:t>
                      </a:r>
                      <a:r>
                        <a:rPr sz="1500" spc="-20" dirty="0">
                          <a:latin typeface="Arial Black"/>
                          <a:cs typeface="Arial Black"/>
                        </a:rPr>
                        <a:t> </a:t>
                      </a:r>
                      <a:r>
                        <a:rPr sz="1500" spc="-10" dirty="0">
                          <a:latin typeface="Arial Black"/>
                          <a:cs typeface="Arial Black"/>
                        </a:rPr>
                        <a:t>MICROPROCESSOR</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FFF"/>
                    </a:solidFill>
                  </a:tcPr>
                </a:tc>
                <a:tc>
                  <a:txBody>
                    <a:bodyPr/>
                    <a:lstStyle/>
                    <a:p>
                      <a:pPr marL="133985">
                        <a:lnSpc>
                          <a:spcPct val="100000"/>
                        </a:lnSpc>
                        <a:spcBef>
                          <a:spcPts val="270"/>
                        </a:spcBef>
                      </a:pPr>
                      <a:r>
                        <a:rPr sz="1500" dirty="0">
                          <a:latin typeface="Arial Black"/>
                          <a:cs typeface="Arial Black"/>
                        </a:rPr>
                        <a:t>CISC</a:t>
                      </a:r>
                      <a:r>
                        <a:rPr sz="1500" spc="-15" dirty="0">
                          <a:latin typeface="Arial Black"/>
                          <a:cs typeface="Arial Black"/>
                        </a:rPr>
                        <a:t> </a:t>
                      </a:r>
                      <a:r>
                        <a:rPr sz="1500" spc="-10" dirty="0">
                          <a:latin typeface="Arial Black"/>
                          <a:cs typeface="Arial Black"/>
                        </a:rPr>
                        <a:t>MICROPROCESSOR</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FFF"/>
                    </a:solidFill>
                  </a:tcPr>
                </a:tc>
                <a:extLst>
                  <a:ext uri="{0D108BD9-81ED-4DB2-BD59-A6C34878D82A}">
                    <a16:rowId xmlns:a16="http://schemas.microsoft.com/office/drawing/2014/main" val="10006"/>
                  </a:ext>
                </a:extLst>
              </a:tr>
              <a:tr h="431320">
                <a:tc>
                  <a:txBody>
                    <a:bodyPr/>
                    <a:lstStyle/>
                    <a:p>
                      <a:pPr marL="91440">
                        <a:lnSpc>
                          <a:spcPct val="100000"/>
                        </a:lnSpc>
                        <a:spcBef>
                          <a:spcPts val="270"/>
                        </a:spcBef>
                      </a:pPr>
                      <a:r>
                        <a:rPr sz="1500" spc="-10" dirty="0">
                          <a:latin typeface="Arial Black"/>
                          <a:cs typeface="Arial Black"/>
                        </a:rPr>
                        <a:t>INSTRUCTION </a:t>
                      </a:r>
                      <a:r>
                        <a:rPr sz="1500" spc="-5" dirty="0">
                          <a:latin typeface="Arial Black"/>
                          <a:cs typeface="Arial Black"/>
                        </a:rPr>
                        <a:t>SET</a:t>
                      </a:r>
                      <a:r>
                        <a:rPr sz="1500" spc="20" dirty="0">
                          <a:latin typeface="Arial Black"/>
                          <a:cs typeface="Arial Black"/>
                        </a:rPr>
                        <a:t> </a:t>
                      </a:r>
                      <a:r>
                        <a:rPr sz="1500" spc="-5" dirty="0">
                          <a:latin typeface="Arial Black"/>
                          <a:cs typeface="Arial Black"/>
                        </a:rPr>
                        <a:t>SIZE</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3E7"/>
                    </a:solidFill>
                  </a:tcPr>
                </a:tc>
                <a:tc>
                  <a:txBody>
                    <a:bodyPr/>
                    <a:lstStyle/>
                    <a:p>
                      <a:pPr marL="229870">
                        <a:lnSpc>
                          <a:spcPct val="100000"/>
                        </a:lnSpc>
                        <a:spcBef>
                          <a:spcPts val="270"/>
                        </a:spcBef>
                      </a:pPr>
                      <a:r>
                        <a:rPr sz="1500" spc="-5" dirty="0">
                          <a:latin typeface="Arial Black"/>
                          <a:cs typeface="Arial Black"/>
                        </a:rPr>
                        <a:t>SMALL</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3E7"/>
                    </a:solidFill>
                  </a:tcPr>
                </a:tc>
                <a:tc>
                  <a:txBody>
                    <a:bodyPr/>
                    <a:lstStyle/>
                    <a:p>
                      <a:pPr marL="133985">
                        <a:lnSpc>
                          <a:spcPct val="100000"/>
                        </a:lnSpc>
                        <a:spcBef>
                          <a:spcPts val="270"/>
                        </a:spcBef>
                      </a:pPr>
                      <a:r>
                        <a:rPr sz="1500" spc="-10" dirty="0">
                          <a:latin typeface="Arial Black"/>
                          <a:cs typeface="Arial Black"/>
                        </a:rPr>
                        <a:t>LARGE</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3E7"/>
                    </a:solidFill>
                  </a:tcPr>
                </a:tc>
                <a:extLst>
                  <a:ext uri="{0D108BD9-81ED-4DB2-BD59-A6C34878D82A}">
                    <a16:rowId xmlns:a16="http://schemas.microsoft.com/office/drawing/2014/main" val="10007"/>
                  </a:ext>
                </a:extLst>
              </a:tr>
              <a:tr h="365743">
                <a:tc>
                  <a:txBody>
                    <a:bodyPr/>
                    <a:lstStyle/>
                    <a:p>
                      <a:pPr marL="91440">
                        <a:lnSpc>
                          <a:spcPct val="100000"/>
                        </a:lnSpc>
                        <a:spcBef>
                          <a:spcPts val="270"/>
                        </a:spcBef>
                      </a:pPr>
                      <a:r>
                        <a:rPr sz="1500" spc="-10" dirty="0">
                          <a:latin typeface="Arial Black"/>
                          <a:cs typeface="Arial Black"/>
                        </a:rPr>
                        <a:t>CONTROL</a:t>
                      </a:r>
                      <a:r>
                        <a:rPr sz="1500" dirty="0">
                          <a:latin typeface="Arial Black"/>
                          <a:cs typeface="Arial Black"/>
                        </a:rPr>
                        <a:t> </a:t>
                      </a:r>
                      <a:r>
                        <a:rPr sz="1500" spc="-15" dirty="0">
                          <a:latin typeface="Arial Black"/>
                          <a:cs typeface="Arial Black"/>
                        </a:rPr>
                        <a:t>MEMORY</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FFF"/>
                    </a:solidFill>
                  </a:tcPr>
                </a:tc>
                <a:tc>
                  <a:txBody>
                    <a:bodyPr/>
                    <a:lstStyle/>
                    <a:p>
                      <a:pPr marL="229870">
                        <a:lnSpc>
                          <a:spcPct val="100000"/>
                        </a:lnSpc>
                        <a:spcBef>
                          <a:spcPts val="270"/>
                        </a:spcBef>
                      </a:pPr>
                      <a:r>
                        <a:rPr sz="1500" spc="-5" dirty="0">
                          <a:latin typeface="Arial Black"/>
                          <a:cs typeface="Arial Black"/>
                        </a:rPr>
                        <a:t>ABSENT</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FFF"/>
                    </a:solidFill>
                  </a:tcPr>
                </a:tc>
                <a:tc>
                  <a:txBody>
                    <a:bodyPr/>
                    <a:lstStyle/>
                    <a:p>
                      <a:pPr marL="133985">
                        <a:lnSpc>
                          <a:spcPct val="100000"/>
                        </a:lnSpc>
                        <a:spcBef>
                          <a:spcPts val="270"/>
                        </a:spcBef>
                      </a:pPr>
                      <a:r>
                        <a:rPr sz="1500" spc="-5" dirty="0">
                          <a:latin typeface="Arial Black"/>
                          <a:cs typeface="Arial Black"/>
                        </a:rPr>
                        <a:t>PRESENT</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FFF"/>
                    </a:solidFill>
                  </a:tcPr>
                </a:tc>
                <a:extLst>
                  <a:ext uri="{0D108BD9-81ED-4DB2-BD59-A6C34878D82A}">
                    <a16:rowId xmlns:a16="http://schemas.microsoft.com/office/drawing/2014/main" val="10008"/>
                  </a:ext>
                </a:extLst>
              </a:tr>
              <a:tr h="640062">
                <a:tc>
                  <a:txBody>
                    <a:bodyPr/>
                    <a:lstStyle/>
                    <a:p>
                      <a:pPr marL="91440">
                        <a:lnSpc>
                          <a:spcPct val="100000"/>
                        </a:lnSpc>
                        <a:spcBef>
                          <a:spcPts val="270"/>
                        </a:spcBef>
                      </a:pPr>
                      <a:r>
                        <a:rPr sz="1500" spc="-5" dirty="0">
                          <a:latin typeface="Arial Black"/>
                          <a:cs typeface="Arial Black"/>
                        </a:rPr>
                        <a:t>CHIP AREA</a:t>
                      </a:r>
                      <a:r>
                        <a:rPr sz="1500" spc="-20" dirty="0">
                          <a:latin typeface="Arial Black"/>
                          <a:cs typeface="Arial Black"/>
                        </a:rPr>
                        <a:t> </a:t>
                      </a:r>
                      <a:r>
                        <a:rPr sz="1500" spc="-5" dirty="0">
                          <a:latin typeface="Arial Black"/>
                          <a:cs typeface="Arial Black"/>
                        </a:rPr>
                        <a:t>REQUIRED</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3E7"/>
                    </a:solidFill>
                  </a:tcPr>
                </a:tc>
                <a:tc>
                  <a:txBody>
                    <a:bodyPr/>
                    <a:lstStyle/>
                    <a:p>
                      <a:pPr marL="229870">
                        <a:lnSpc>
                          <a:spcPct val="100000"/>
                        </a:lnSpc>
                        <a:spcBef>
                          <a:spcPts val="270"/>
                        </a:spcBef>
                      </a:pPr>
                      <a:r>
                        <a:rPr sz="1500" spc="-5" dirty="0">
                          <a:latin typeface="Arial Black"/>
                          <a:cs typeface="Arial Black"/>
                        </a:rPr>
                        <a:t>LESS</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3E7"/>
                    </a:solidFill>
                  </a:tcPr>
                </a:tc>
                <a:tc>
                  <a:txBody>
                    <a:bodyPr/>
                    <a:lstStyle/>
                    <a:p>
                      <a:pPr marL="133985">
                        <a:lnSpc>
                          <a:spcPct val="100000"/>
                        </a:lnSpc>
                        <a:spcBef>
                          <a:spcPts val="270"/>
                        </a:spcBef>
                      </a:pPr>
                      <a:r>
                        <a:rPr sz="1500" dirty="0">
                          <a:latin typeface="Arial Black"/>
                          <a:cs typeface="Arial Black"/>
                        </a:rPr>
                        <a:t>MORE</a:t>
                      </a:r>
                    </a:p>
                    <a:p>
                      <a:pPr marR="450850" algn="r">
                        <a:lnSpc>
                          <a:spcPts val="1280"/>
                        </a:lnSpc>
                        <a:spcBef>
                          <a:spcPts val="1450"/>
                        </a:spcBef>
                      </a:pPr>
                      <a:endParaRPr sz="1200" dirty="0">
                        <a:latin typeface="Georgia"/>
                        <a:cs typeface="Georgia"/>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3E7"/>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9940177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66C3CC-9E62-7A12-D0EC-2584882857D3}"/>
              </a:ext>
            </a:extLst>
          </p:cNvPr>
          <p:cNvSpPr>
            <a:spLocks noGrp="1"/>
          </p:cNvSpPr>
          <p:nvPr>
            <p:ph type="sldNum" sz="quarter" idx="12"/>
          </p:nvPr>
        </p:nvSpPr>
        <p:spPr/>
        <p:txBody>
          <a:bodyPr/>
          <a:lstStyle/>
          <a:p>
            <a:fld id="{21854B05-66B9-48FF-BDEA-A8EAEA5D957E}" type="slidenum">
              <a:rPr lang="en-US" smtClean="0"/>
              <a:pPr/>
              <a:t>47</a:t>
            </a:fld>
            <a:endParaRPr lang="en-US"/>
          </a:p>
        </p:txBody>
      </p:sp>
      <p:pic>
        <p:nvPicPr>
          <p:cNvPr id="5" name="Picture 4">
            <a:extLst>
              <a:ext uri="{FF2B5EF4-FFF2-40B4-BE49-F238E27FC236}">
                <a16:creationId xmlns:a16="http://schemas.microsoft.com/office/drawing/2014/main" id="{F6192456-41D7-DDC1-6DE1-D1A0B4F4D797}"/>
              </a:ext>
            </a:extLst>
          </p:cNvPr>
          <p:cNvPicPr>
            <a:picLocks noChangeAspect="1"/>
          </p:cNvPicPr>
          <p:nvPr/>
        </p:nvPicPr>
        <p:blipFill>
          <a:blip r:embed="rId2"/>
          <a:stretch>
            <a:fillRect/>
          </a:stretch>
        </p:blipFill>
        <p:spPr>
          <a:xfrm>
            <a:off x="141307" y="2057400"/>
            <a:ext cx="8861385" cy="3047072"/>
          </a:xfrm>
          <a:prstGeom prst="rect">
            <a:avLst/>
          </a:prstGeom>
        </p:spPr>
      </p:pic>
    </p:spTree>
    <p:extLst>
      <p:ext uri="{BB962C8B-B14F-4D97-AF65-F5344CB8AC3E}">
        <p14:creationId xmlns:p14="http://schemas.microsoft.com/office/powerpoint/2010/main" val="33430069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IN" altLang="en-US"/>
              <a:t>Instruction Cycle</a:t>
            </a:r>
          </a:p>
        </p:txBody>
      </p:sp>
      <p:sp>
        <p:nvSpPr>
          <p:cNvPr id="9219" name="Content Placeholder 2"/>
          <p:cNvSpPr>
            <a:spLocks noGrp="1"/>
          </p:cNvSpPr>
          <p:nvPr>
            <p:ph idx="1"/>
          </p:nvPr>
        </p:nvSpPr>
        <p:spPr>
          <a:xfrm>
            <a:off x="457200" y="1295400"/>
            <a:ext cx="8229600" cy="4525963"/>
          </a:xfrm>
        </p:spPr>
        <p:txBody>
          <a:bodyPr/>
          <a:lstStyle/>
          <a:p>
            <a:pPr algn="just">
              <a:lnSpc>
                <a:spcPct val="150000"/>
              </a:lnSpc>
              <a:defRPr/>
            </a:pPr>
            <a:r>
              <a:rPr lang="en-IN" altLang="en-US" sz="2200" dirty="0"/>
              <a:t>The program is executed in the computer by going thru a cycle for each instruction.</a:t>
            </a:r>
          </a:p>
          <a:p>
            <a:pPr algn="just">
              <a:lnSpc>
                <a:spcPct val="150000"/>
              </a:lnSpc>
              <a:defRPr/>
            </a:pPr>
            <a:r>
              <a:rPr lang="en-IN" altLang="en-US" sz="2200" dirty="0"/>
              <a:t>In basic computer, each instruction cycle consists of the following phases:</a:t>
            </a:r>
          </a:p>
          <a:p>
            <a:pPr marL="457200" indent="-457200" algn="just">
              <a:lnSpc>
                <a:spcPct val="150000"/>
              </a:lnSpc>
              <a:buFont typeface="+mj-lt"/>
              <a:buAutoNum type="arabicPeriod"/>
              <a:defRPr/>
            </a:pPr>
            <a:r>
              <a:rPr lang="en-IN" altLang="en-US" sz="2200" dirty="0"/>
              <a:t>Fetch an instruction from memory.</a:t>
            </a:r>
          </a:p>
          <a:p>
            <a:pPr marL="457200" indent="-457200" algn="just">
              <a:lnSpc>
                <a:spcPct val="150000"/>
              </a:lnSpc>
              <a:buFont typeface="+mj-lt"/>
              <a:buAutoNum type="arabicPeriod"/>
              <a:defRPr/>
            </a:pPr>
            <a:r>
              <a:rPr lang="en-IN" altLang="en-US" sz="2200" dirty="0"/>
              <a:t>Decode the instruction.</a:t>
            </a:r>
          </a:p>
          <a:p>
            <a:pPr marL="457200" indent="-457200" algn="just">
              <a:lnSpc>
                <a:spcPct val="150000"/>
              </a:lnSpc>
              <a:buFont typeface="+mj-lt"/>
              <a:buAutoNum type="arabicPeriod"/>
              <a:defRPr/>
            </a:pPr>
            <a:r>
              <a:rPr lang="en-IN" altLang="en-US" sz="2200" dirty="0"/>
              <a:t>Read the effective address from memory.</a:t>
            </a:r>
          </a:p>
          <a:p>
            <a:pPr marL="457200" indent="-457200" algn="just">
              <a:lnSpc>
                <a:spcPct val="150000"/>
              </a:lnSpc>
              <a:buFont typeface="+mj-lt"/>
              <a:buAutoNum type="arabicPeriod"/>
              <a:defRPr/>
            </a:pPr>
            <a:r>
              <a:rPr lang="en-IN" altLang="en-US" sz="2200" dirty="0"/>
              <a:t>Execute the instruction.</a:t>
            </a:r>
          </a:p>
        </p:txBody>
      </p:sp>
    </p:spTree>
    <p:extLst>
      <p:ext uri="{BB962C8B-B14F-4D97-AF65-F5344CB8AC3E}">
        <p14:creationId xmlns:p14="http://schemas.microsoft.com/office/powerpoint/2010/main" val="9123802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274638"/>
            <a:ext cx="8229600" cy="715962"/>
          </a:xfrm>
        </p:spPr>
        <p:txBody>
          <a:bodyPr/>
          <a:lstStyle/>
          <a:p>
            <a:r>
              <a:rPr lang="en-IN" altLang="en-US" sz="3600" dirty="0"/>
              <a:t>Instruction Cycle</a:t>
            </a:r>
          </a:p>
        </p:txBody>
      </p:sp>
      <p:pic>
        <p:nvPicPr>
          <p:cNvPr id="35843"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990600"/>
            <a:ext cx="6477000" cy="5486400"/>
          </a:xfrm>
        </p:spPr>
      </p:pic>
    </p:spTree>
    <p:extLst>
      <p:ext uri="{BB962C8B-B14F-4D97-AF65-F5344CB8AC3E}">
        <p14:creationId xmlns:p14="http://schemas.microsoft.com/office/powerpoint/2010/main" val="22857759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IN" altLang="en-US"/>
              <a:t>Instruction Cycle</a:t>
            </a:r>
          </a:p>
        </p:txBody>
      </p:sp>
      <p:sp>
        <p:nvSpPr>
          <p:cNvPr id="36867" name="Content Placeholder 2"/>
          <p:cNvSpPr>
            <a:spLocks noGrp="1"/>
          </p:cNvSpPr>
          <p:nvPr>
            <p:ph idx="1"/>
          </p:nvPr>
        </p:nvSpPr>
        <p:spPr/>
        <p:txBody>
          <a:bodyPr/>
          <a:lstStyle/>
          <a:p>
            <a:r>
              <a:rPr lang="en-IN" altLang="en-US"/>
              <a:t>Micro-operations for fetch &amp; decode</a:t>
            </a:r>
          </a:p>
          <a:p>
            <a:endParaRPr lang="en-IN" altLang="en-US"/>
          </a:p>
        </p:txBody>
      </p:sp>
      <p:pic>
        <p:nvPicPr>
          <p:cNvPr id="3686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438400"/>
            <a:ext cx="626427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55413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96DC-A0D3-0CE1-C888-7C1DDBF2E7AF}"/>
              </a:ext>
            </a:extLst>
          </p:cNvPr>
          <p:cNvSpPr>
            <a:spLocks noGrp="1"/>
          </p:cNvSpPr>
          <p:nvPr>
            <p:ph type="title"/>
          </p:nvPr>
        </p:nvSpPr>
        <p:spPr/>
        <p:txBody>
          <a:bodyPr/>
          <a:lstStyle/>
          <a:p>
            <a:r>
              <a:rPr lang="en-IN" dirty="0"/>
              <a:t>Register-Reference Instructions</a:t>
            </a:r>
          </a:p>
        </p:txBody>
      </p:sp>
      <p:sp>
        <p:nvSpPr>
          <p:cNvPr id="3" name="Content Placeholder 2">
            <a:extLst>
              <a:ext uri="{FF2B5EF4-FFF2-40B4-BE49-F238E27FC236}">
                <a16:creationId xmlns:a16="http://schemas.microsoft.com/office/drawing/2014/main" id="{58727354-DC38-D140-0515-CC8089E4809E}"/>
              </a:ext>
            </a:extLst>
          </p:cNvPr>
          <p:cNvSpPr>
            <a:spLocks noGrp="1"/>
          </p:cNvSpPr>
          <p:nvPr>
            <p:ph idx="1"/>
          </p:nvPr>
        </p:nvSpPr>
        <p:spPr/>
        <p:txBody>
          <a:bodyPr/>
          <a:lstStyle/>
          <a:p>
            <a:pPr algn="just"/>
            <a:r>
              <a:rPr lang="en-US" sz="2400" dirty="0"/>
              <a:t>Register-reference instructions are recognized by the control when D7 = 1 and I=0.</a:t>
            </a:r>
          </a:p>
          <a:p>
            <a:pPr algn="just"/>
            <a:r>
              <a:rPr lang="en-US" sz="2400" dirty="0"/>
              <a:t> These instructions use bits 0 through 11 of the instruction code to specify one of 12 instructions.</a:t>
            </a:r>
          </a:p>
          <a:p>
            <a:pPr algn="just"/>
            <a:r>
              <a:rPr lang="en-US" sz="2400" dirty="0"/>
              <a:t> These 12 bits are available in IR (0-11).</a:t>
            </a:r>
            <a:endParaRPr lang="en-IN" sz="2400" dirty="0"/>
          </a:p>
        </p:txBody>
      </p:sp>
    </p:spTree>
    <p:extLst>
      <p:ext uri="{BB962C8B-B14F-4D97-AF65-F5344CB8AC3E}">
        <p14:creationId xmlns:p14="http://schemas.microsoft.com/office/powerpoint/2010/main" val="19001332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5197-F473-E6D2-AB3E-024465116C41}"/>
              </a:ext>
            </a:extLst>
          </p:cNvPr>
          <p:cNvSpPr>
            <a:spLocks noGrp="1"/>
          </p:cNvSpPr>
          <p:nvPr>
            <p:ph type="title"/>
          </p:nvPr>
        </p:nvSpPr>
        <p:spPr/>
        <p:txBody>
          <a:bodyPr/>
          <a:lstStyle/>
          <a:p>
            <a:r>
              <a:rPr lang="en-IN" dirty="0"/>
              <a:t>Memory-Reference Instructions:</a:t>
            </a:r>
          </a:p>
        </p:txBody>
      </p:sp>
      <p:pic>
        <p:nvPicPr>
          <p:cNvPr id="5" name="Content Placeholder 4">
            <a:extLst>
              <a:ext uri="{FF2B5EF4-FFF2-40B4-BE49-F238E27FC236}">
                <a16:creationId xmlns:a16="http://schemas.microsoft.com/office/drawing/2014/main" id="{021A1E22-9607-BB4D-05AB-FE4DE88689A4}"/>
              </a:ext>
            </a:extLst>
          </p:cNvPr>
          <p:cNvPicPr>
            <a:picLocks noGrp="1" noChangeAspect="1"/>
          </p:cNvPicPr>
          <p:nvPr>
            <p:ph idx="1"/>
          </p:nvPr>
        </p:nvPicPr>
        <p:blipFill>
          <a:blip r:embed="rId2"/>
          <a:stretch>
            <a:fillRect/>
          </a:stretch>
        </p:blipFill>
        <p:spPr>
          <a:xfrm>
            <a:off x="845336" y="1524000"/>
            <a:ext cx="7453328" cy="4235898"/>
          </a:xfrm>
        </p:spPr>
      </p:pic>
    </p:spTree>
    <p:extLst>
      <p:ext uri="{BB962C8B-B14F-4D97-AF65-F5344CB8AC3E}">
        <p14:creationId xmlns:p14="http://schemas.microsoft.com/office/powerpoint/2010/main" val="37972977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E2EC8B-D01B-522C-64C4-EB8262B8E757}"/>
              </a:ext>
            </a:extLst>
          </p:cNvPr>
          <p:cNvSpPr>
            <a:spLocks noGrp="1"/>
          </p:cNvSpPr>
          <p:nvPr>
            <p:ph idx="1"/>
          </p:nvPr>
        </p:nvSpPr>
        <p:spPr>
          <a:xfrm>
            <a:off x="304800" y="609600"/>
            <a:ext cx="8610600" cy="4525963"/>
          </a:xfrm>
        </p:spPr>
        <p:txBody>
          <a:bodyPr/>
          <a:lstStyle/>
          <a:p>
            <a:pPr algn="just"/>
            <a:r>
              <a:rPr lang="en-US" sz="2400" dirty="0"/>
              <a:t>The decoded output Di for </a:t>
            </a:r>
            <a:r>
              <a:rPr lang="en-US" sz="2400" dirty="0" err="1"/>
              <a:t>i</a:t>
            </a:r>
            <a:r>
              <a:rPr lang="en-US" sz="2400" dirty="0"/>
              <a:t> = 0, 1, 2, 3, 4, 5, and 6 from the operation decoder that belongs to each instruction is included in the table.</a:t>
            </a:r>
          </a:p>
          <a:p>
            <a:pPr algn="just"/>
            <a:r>
              <a:rPr lang="en-US" sz="2400" dirty="0"/>
              <a:t> The effective address of the instruction is in the address register AR and was placed there during timing signal T2 when I= 0, or during timing signal T3 when I = 1.</a:t>
            </a:r>
          </a:p>
          <a:p>
            <a:pPr algn="just"/>
            <a:r>
              <a:rPr lang="en-US" sz="2400" dirty="0"/>
              <a:t> The execution of the memory-reference instructions starts with timing signal T4.</a:t>
            </a:r>
            <a:endParaRPr lang="en-IN" sz="2400" dirty="0"/>
          </a:p>
        </p:txBody>
      </p:sp>
    </p:spTree>
    <p:extLst>
      <p:ext uri="{BB962C8B-B14F-4D97-AF65-F5344CB8AC3E}">
        <p14:creationId xmlns:p14="http://schemas.microsoft.com/office/powerpoint/2010/main" val="35205474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BDC764-7BB5-52CF-F96D-E3995E4F4D00}"/>
              </a:ext>
            </a:extLst>
          </p:cNvPr>
          <p:cNvSpPr>
            <a:spLocks noGrp="1"/>
          </p:cNvSpPr>
          <p:nvPr>
            <p:ph idx="1"/>
          </p:nvPr>
        </p:nvSpPr>
        <p:spPr>
          <a:xfrm>
            <a:off x="304800" y="533400"/>
            <a:ext cx="8229600" cy="4525963"/>
          </a:xfrm>
        </p:spPr>
        <p:txBody>
          <a:bodyPr/>
          <a:lstStyle/>
          <a:p>
            <a:pPr algn="just"/>
            <a:r>
              <a:rPr lang="en-IN" sz="2800" b="1" i="0" u="none" strike="noStrike" baseline="0" dirty="0">
                <a:solidFill>
                  <a:srgbClr val="0E233D"/>
                </a:solidFill>
                <a:latin typeface="Calibri" panose="020F0502020204030204" pitchFamily="34" charset="0"/>
              </a:rPr>
              <a:t>AND to AC: </a:t>
            </a:r>
          </a:p>
          <a:p>
            <a:pPr marL="0" indent="0" algn="just">
              <a:buNone/>
            </a:pPr>
            <a:endParaRPr lang="en-IN" sz="2800" b="0" i="0" u="none" strike="noStrike" baseline="0" dirty="0">
              <a:solidFill>
                <a:srgbClr val="000000"/>
              </a:solidFill>
              <a:latin typeface="Calibri" panose="020F0502020204030204" pitchFamily="34" charset="0"/>
            </a:endParaRPr>
          </a:p>
          <a:p>
            <a:pPr marL="0" indent="0" algn="just">
              <a:buNone/>
            </a:pPr>
            <a:r>
              <a:rPr lang="en-US" sz="2400" b="0" i="0" u="none" strike="noStrike" baseline="0" dirty="0">
                <a:solidFill>
                  <a:srgbClr val="0E233D"/>
                </a:solidFill>
                <a:latin typeface="Wingdings" panose="05000000000000000000" pitchFamily="2" charset="2"/>
              </a:rPr>
              <a:t> </a:t>
            </a:r>
            <a:r>
              <a:rPr lang="en-US" sz="2400" b="0" i="0" u="none" strike="noStrike" baseline="0" dirty="0">
                <a:solidFill>
                  <a:srgbClr val="0E233D"/>
                </a:solidFill>
                <a:latin typeface="Calibri" panose="020F0502020204030204" pitchFamily="34" charset="0"/>
              </a:rPr>
              <a:t>This is an instruction that performs the AND logic operation on pairs of bits in AC and the memory word specified by the effective address. </a:t>
            </a:r>
          </a:p>
          <a:p>
            <a:pPr marL="0" indent="0" algn="just">
              <a:buNone/>
            </a:pPr>
            <a:r>
              <a:rPr lang="en-US" sz="2400" b="0" i="0" u="none" strike="noStrike" baseline="0" dirty="0">
                <a:solidFill>
                  <a:srgbClr val="0E233D"/>
                </a:solidFill>
                <a:latin typeface="Wingdings" panose="05000000000000000000" pitchFamily="2" charset="2"/>
              </a:rPr>
              <a:t> </a:t>
            </a:r>
            <a:r>
              <a:rPr lang="en-US" sz="2400" b="0" i="0" u="none" strike="noStrike" baseline="0" dirty="0">
                <a:solidFill>
                  <a:srgbClr val="0E233D"/>
                </a:solidFill>
                <a:latin typeface="Calibri" panose="020F0502020204030204" pitchFamily="34" charset="0"/>
              </a:rPr>
              <a:t>The result of the operation is transferred to AC. </a:t>
            </a:r>
          </a:p>
          <a:p>
            <a:pPr marL="0" indent="0" algn="just">
              <a:buNone/>
            </a:pPr>
            <a:r>
              <a:rPr lang="en-US" sz="2400" b="0" i="0" u="none" strike="noStrike" baseline="0" dirty="0">
                <a:solidFill>
                  <a:srgbClr val="0E233D"/>
                </a:solidFill>
                <a:latin typeface="Wingdings" panose="05000000000000000000" pitchFamily="2" charset="2"/>
              </a:rPr>
              <a:t> </a:t>
            </a:r>
            <a:r>
              <a:rPr lang="en-US" sz="2400" b="0" i="0" u="none" strike="noStrike" baseline="0" dirty="0">
                <a:solidFill>
                  <a:srgbClr val="0E233D"/>
                </a:solidFill>
                <a:latin typeface="Calibri" panose="020F0502020204030204" pitchFamily="34" charset="0"/>
              </a:rPr>
              <a:t>The microoperations that execute this instruction are: </a:t>
            </a:r>
          </a:p>
          <a:p>
            <a:endParaRPr lang="en-IN" dirty="0"/>
          </a:p>
        </p:txBody>
      </p:sp>
      <p:pic>
        <p:nvPicPr>
          <p:cNvPr id="5" name="Picture 4">
            <a:extLst>
              <a:ext uri="{FF2B5EF4-FFF2-40B4-BE49-F238E27FC236}">
                <a16:creationId xmlns:a16="http://schemas.microsoft.com/office/drawing/2014/main" id="{1332DA9A-8138-7889-F673-68F0DFF10CA7}"/>
              </a:ext>
            </a:extLst>
          </p:cNvPr>
          <p:cNvPicPr>
            <a:picLocks noChangeAspect="1"/>
          </p:cNvPicPr>
          <p:nvPr/>
        </p:nvPicPr>
        <p:blipFill>
          <a:blip r:embed="rId2"/>
          <a:stretch>
            <a:fillRect/>
          </a:stretch>
        </p:blipFill>
        <p:spPr>
          <a:xfrm>
            <a:off x="1573935" y="4191000"/>
            <a:ext cx="5996129" cy="1117922"/>
          </a:xfrm>
          <a:prstGeom prst="rect">
            <a:avLst/>
          </a:prstGeom>
        </p:spPr>
      </p:pic>
    </p:spTree>
    <p:extLst>
      <p:ext uri="{BB962C8B-B14F-4D97-AF65-F5344CB8AC3E}">
        <p14:creationId xmlns:p14="http://schemas.microsoft.com/office/powerpoint/2010/main" val="32693345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FD5DBD-5F67-3FAD-D40E-D2E4839AA3E3}"/>
              </a:ext>
            </a:extLst>
          </p:cNvPr>
          <p:cNvSpPr>
            <a:spLocks noGrp="1"/>
          </p:cNvSpPr>
          <p:nvPr>
            <p:ph idx="1"/>
          </p:nvPr>
        </p:nvSpPr>
        <p:spPr>
          <a:xfrm>
            <a:off x="457200" y="304800"/>
            <a:ext cx="8229600" cy="5821363"/>
          </a:xfrm>
        </p:spPr>
        <p:txBody>
          <a:bodyPr/>
          <a:lstStyle/>
          <a:p>
            <a:r>
              <a:rPr lang="en-US" b="1" dirty="0"/>
              <a:t>ADD to AC:</a:t>
            </a:r>
          </a:p>
          <a:p>
            <a:pPr algn="just"/>
            <a:r>
              <a:rPr lang="en-US" dirty="0"/>
              <a:t> </a:t>
            </a:r>
            <a:r>
              <a:rPr lang="en-US" sz="2400" dirty="0"/>
              <a:t>This instruction adds the content of the memory word specified by the effective address to the value of AC.</a:t>
            </a:r>
          </a:p>
          <a:p>
            <a:pPr algn="just"/>
            <a:r>
              <a:rPr lang="en-US" sz="2400" dirty="0"/>
              <a:t> The sum is transferred into AC and the output carry </a:t>
            </a:r>
            <a:r>
              <a:rPr lang="en-US" sz="2400" dirty="0" err="1"/>
              <a:t>Cout</a:t>
            </a:r>
            <a:r>
              <a:rPr lang="en-US" sz="2400" dirty="0"/>
              <a:t> is transferred to the E (extended accumulator) flip-flop.</a:t>
            </a:r>
          </a:p>
          <a:p>
            <a:pPr algn="just"/>
            <a:r>
              <a:rPr lang="en-US" sz="2400" dirty="0"/>
              <a:t> The microoperations needed to execute this instruction are LDA:</a:t>
            </a:r>
            <a:endParaRPr lang="en-IN" sz="2400" dirty="0"/>
          </a:p>
        </p:txBody>
      </p:sp>
      <p:pic>
        <p:nvPicPr>
          <p:cNvPr id="5" name="Picture 4">
            <a:extLst>
              <a:ext uri="{FF2B5EF4-FFF2-40B4-BE49-F238E27FC236}">
                <a16:creationId xmlns:a16="http://schemas.microsoft.com/office/drawing/2014/main" id="{CB9E9892-0839-DF0A-74F8-01D96E9F3772}"/>
              </a:ext>
            </a:extLst>
          </p:cNvPr>
          <p:cNvPicPr>
            <a:picLocks noChangeAspect="1"/>
          </p:cNvPicPr>
          <p:nvPr/>
        </p:nvPicPr>
        <p:blipFill>
          <a:blip r:embed="rId2"/>
          <a:stretch>
            <a:fillRect/>
          </a:stretch>
        </p:blipFill>
        <p:spPr>
          <a:xfrm>
            <a:off x="838200" y="4038600"/>
            <a:ext cx="7204363" cy="990600"/>
          </a:xfrm>
          <a:prstGeom prst="rect">
            <a:avLst/>
          </a:prstGeom>
        </p:spPr>
      </p:pic>
    </p:spTree>
    <p:extLst>
      <p:ext uri="{BB962C8B-B14F-4D97-AF65-F5344CB8AC3E}">
        <p14:creationId xmlns:p14="http://schemas.microsoft.com/office/powerpoint/2010/main" val="37626577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09C757D-E18C-27F7-4B63-582E461641BA}"/>
              </a:ext>
            </a:extLst>
          </p:cNvPr>
          <p:cNvSpPr txBox="1"/>
          <p:nvPr/>
        </p:nvSpPr>
        <p:spPr>
          <a:xfrm>
            <a:off x="228600" y="152400"/>
            <a:ext cx="8686800" cy="1569660"/>
          </a:xfrm>
          <a:prstGeom prst="rect">
            <a:avLst/>
          </a:prstGeom>
          <a:noFill/>
        </p:spPr>
        <p:txBody>
          <a:bodyPr wrap="square">
            <a:spAutoFit/>
          </a:bodyPr>
          <a:lstStyle/>
          <a:p>
            <a:pPr algn="just"/>
            <a:r>
              <a:rPr lang="en-US" sz="2400" b="1" dirty="0"/>
              <a:t>LDA: Load to AC</a:t>
            </a:r>
          </a:p>
          <a:p>
            <a:pPr algn="just"/>
            <a:r>
              <a:rPr lang="en-US" sz="2400" dirty="0"/>
              <a:t> This instruction transfers the memory word specified by the effective address to AC.</a:t>
            </a:r>
          </a:p>
          <a:p>
            <a:pPr algn="just"/>
            <a:r>
              <a:rPr lang="en-US" sz="2400" dirty="0"/>
              <a:t> The microoperations needed to execute this instruction are</a:t>
            </a:r>
            <a:endParaRPr lang="en-IN" sz="2400" dirty="0"/>
          </a:p>
        </p:txBody>
      </p:sp>
      <p:sp>
        <p:nvSpPr>
          <p:cNvPr id="9" name="TextBox 8">
            <a:extLst>
              <a:ext uri="{FF2B5EF4-FFF2-40B4-BE49-F238E27FC236}">
                <a16:creationId xmlns:a16="http://schemas.microsoft.com/office/drawing/2014/main" id="{C33CC56C-2908-0FD6-5A71-B9156D6AEDB4}"/>
              </a:ext>
            </a:extLst>
          </p:cNvPr>
          <p:cNvSpPr txBox="1"/>
          <p:nvPr/>
        </p:nvSpPr>
        <p:spPr>
          <a:xfrm>
            <a:off x="457200" y="2895600"/>
            <a:ext cx="8534400" cy="2308324"/>
          </a:xfrm>
          <a:prstGeom prst="rect">
            <a:avLst/>
          </a:prstGeom>
          <a:noFill/>
        </p:spPr>
        <p:txBody>
          <a:bodyPr wrap="square">
            <a:spAutoFit/>
          </a:bodyPr>
          <a:lstStyle/>
          <a:p>
            <a:r>
              <a:rPr lang="en-US" sz="2400" b="1" dirty="0"/>
              <a:t>STA: Store AC</a:t>
            </a:r>
          </a:p>
          <a:p>
            <a:r>
              <a:rPr lang="en-US" sz="2400" dirty="0"/>
              <a:t> This instruction stores the content of AC into the memory word specified by the effective address.</a:t>
            </a:r>
          </a:p>
          <a:p>
            <a:r>
              <a:rPr lang="en-US" sz="2400" dirty="0"/>
              <a:t> Since the output of AC is applied to the bus and the data input of memory is connected to the bus, we can execute this instruction with one microoperation.</a:t>
            </a:r>
            <a:endParaRPr lang="en-IN" sz="2400" dirty="0"/>
          </a:p>
        </p:txBody>
      </p:sp>
      <p:pic>
        <p:nvPicPr>
          <p:cNvPr id="11" name="Picture 10">
            <a:extLst>
              <a:ext uri="{FF2B5EF4-FFF2-40B4-BE49-F238E27FC236}">
                <a16:creationId xmlns:a16="http://schemas.microsoft.com/office/drawing/2014/main" id="{D6F0C77D-B6A2-6BEB-726F-DB3BCC21C3DE}"/>
              </a:ext>
            </a:extLst>
          </p:cNvPr>
          <p:cNvPicPr>
            <a:picLocks noChangeAspect="1"/>
          </p:cNvPicPr>
          <p:nvPr/>
        </p:nvPicPr>
        <p:blipFill>
          <a:blip r:embed="rId2"/>
          <a:stretch>
            <a:fillRect/>
          </a:stretch>
        </p:blipFill>
        <p:spPr>
          <a:xfrm>
            <a:off x="1371600" y="5326635"/>
            <a:ext cx="6848876" cy="809413"/>
          </a:xfrm>
          <a:prstGeom prst="rect">
            <a:avLst/>
          </a:prstGeom>
        </p:spPr>
      </p:pic>
      <p:pic>
        <p:nvPicPr>
          <p:cNvPr id="10" name="Picture 9">
            <a:extLst>
              <a:ext uri="{FF2B5EF4-FFF2-40B4-BE49-F238E27FC236}">
                <a16:creationId xmlns:a16="http://schemas.microsoft.com/office/drawing/2014/main" id="{FE7E1D2E-1169-D6FA-F631-6DB81F394697}"/>
              </a:ext>
            </a:extLst>
          </p:cNvPr>
          <p:cNvPicPr>
            <a:picLocks noChangeAspect="1"/>
          </p:cNvPicPr>
          <p:nvPr/>
        </p:nvPicPr>
        <p:blipFill>
          <a:blip r:embed="rId3"/>
          <a:stretch>
            <a:fillRect/>
          </a:stretch>
        </p:blipFill>
        <p:spPr>
          <a:xfrm>
            <a:off x="838200" y="1722060"/>
            <a:ext cx="4435497" cy="1045511"/>
          </a:xfrm>
          <a:prstGeom prst="rect">
            <a:avLst/>
          </a:prstGeom>
        </p:spPr>
      </p:pic>
    </p:spTree>
    <p:extLst>
      <p:ext uri="{BB962C8B-B14F-4D97-AF65-F5344CB8AC3E}">
        <p14:creationId xmlns:p14="http://schemas.microsoft.com/office/powerpoint/2010/main" val="36186766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A2D713-99F1-6B1E-8F93-9DB8B4A111EB}"/>
              </a:ext>
            </a:extLst>
          </p:cNvPr>
          <p:cNvSpPr>
            <a:spLocks noGrp="1"/>
          </p:cNvSpPr>
          <p:nvPr>
            <p:ph idx="1"/>
          </p:nvPr>
        </p:nvSpPr>
        <p:spPr>
          <a:xfrm>
            <a:off x="457200" y="533400"/>
            <a:ext cx="8229600" cy="5592763"/>
          </a:xfrm>
        </p:spPr>
        <p:txBody>
          <a:bodyPr/>
          <a:lstStyle/>
          <a:p>
            <a:pPr algn="just"/>
            <a:r>
              <a:rPr lang="en-US" sz="2400" b="1" dirty="0"/>
              <a:t>BUN: Branch Unconditionally</a:t>
            </a:r>
          </a:p>
          <a:p>
            <a:pPr algn="just"/>
            <a:r>
              <a:rPr lang="en-US" sz="2400" dirty="0"/>
              <a:t> This instruction transfers the program to the instruction specified by the effective address.</a:t>
            </a:r>
          </a:p>
          <a:p>
            <a:pPr algn="just"/>
            <a:r>
              <a:rPr lang="en-US" sz="2400" dirty="0"/>
              <a:t> The BUN instruction allows the programmer to specify an instruction out of sequence and we say that the program branches (or jumps) unconditionally.</a:t>
            </a:r>
          </a:p>
          <a:p>
            <a:pPr algn="just"/>
            <a:r>
              <a:rPr lang="en-US" sz="2400" dirty="0"/>
              <a:t> The instruction is executed with one microoperation:</a:t>
            </a:r>
            <a:endParaRPr lang="en-IN" sz="2400" dirty="0"/>
          </a:p>
        </p:txBody>
      </p:sp>
      <p:pic>
        <p:nvPicPr>
          <p:cNvPr id="5" name="Picture 4">
            <a:extLst>
              <a:ext uri="{FF2B5EF4-FFF2-40B4-BE49-F238E27FC236}">
                <a16:creationId xmlns:a16="http://schemas.microsoft.com/office/drawing/2014/main" id="{DF10EF4A-6831-E016-734B-0452A990E1A7}"/>
              </a:ext>
            </a:extLst>
          </p:cNvPr>
          <p:cNvPicPr>
            <a:picLocks noChangeAspect="1"/>
          </p:cNvPicPr>
          <p:nvPr/>
        </p:nvPicPr>
        <p:blipFill>
          <a:blip r:embed="rId2"/>
          <a:stretch>
            <a:fillRect/>
          </a:stretch>
        </p:blipFill>
        <p:spPr>
          <a:xfrm>
            <a:off x="2590800" y="3581400"/>
            <a:ext cx="4354273" cy="609600"/>
          </a:xfrm>
          <a:prstGeom prst="rect">
            <a:avLst/>
          </a:prstGeom>
        </p:spPr>
      </p:pic>
    </p:spTree>
    <p:extLst>
      <p:ext uri="{BB962C8B-B14F-4D97-AF65-F5344CB8AC3E}">
        <p14:creationId xmlns:p14="http://schemas.microsoft.com/office/powerpoint/2010/main" val="21614979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F415D6-7997-80A6-425C-8F9FFA1E82D9}"/>
              </a:ext>
            </a:extLst>
          </p:cNvPr>
          <p:cNvSpPr>
            <a:spLocks noGrp="1"/>
          </p:cNvSpPr>
          <p:nvPr>
            <p:ph idx="1"/>
          </p:nvPr>
        </p:nvSpPr>
        <p:spPr>
          <a:xfrm>
            <a:off x="304800" y="381000"/>
            <a:ext cx="8229600" cy="4525963"/>
          </a:xfrm>
        </p:spPr>
        <p:txBody>
          <a:bodyPr/>
          <a:lstStyle/>
          <a:p>
            <a:pPr algn="just"/>
            <a:r>
              <a:rPr lang="en-US" sz="2400" b="1" dirty="0"/>
              <a:t>BSA: Branch and Save Return Address</a:t>
            </a:r>
          </a:p>
          <a:p>
            <a:pPr algn="just"/>
            <a:r>
              <a:rPr lang="en-US" sz="2400" dirty="0"/>
              <a:t>This instruction is useful for branching to a portion of the program called a subroutine or procedure.</a:t>
            </a:r>
          </a:p>
          <a:p>
            <a:pPr algn="just"/>
            <a:r>
              <a:rPr lang="en-US" sz="2400" dirty="0"/>
              <a:t>When executed, the BSA instruction stores the address of the next instruction in sequence (which is available in PC) into a memory location specified by the effective address.</a:t>
            </a:r>
          </a:p>
          <a:p>
            <a:pPr algn="just"/>
            <a:r>
              <a:rPr lang="en-US" sz="2400" dirty="0"/>
              <a:t>The effective address plus one is then transferred to PC to serve as the address of the first instruction in the subroutine.</a:t>
            </a:r>
          </a:p>
          <a:p>
            <a:pPr algn="just"/>
            <a:r>
              <a:rPr lang="en-US" sz="2400" dirty="0"/>
              <a:t>This operation was specified with the following register transfer:</a:t>
            </a:r>
            <a:endParaRPr lang="en-IN" sz="2400" dirty="0"/>
          </a:p>
        </p:txBody>
      </p:sp>
      <p:pic>
        <p:nvPicPr>
          <p:cNvPr id="5" name="Picture 4">
            <a:extLst>
              <a:ext uri="{FF2B5EF4-FFF2-40B4-BE49-F238E27FC236}">
                <a16:creationId xmlns:a16="http://schemas.microsoft.com/office/drawing/2014/main" id="{48510B3B-E520-12BD-C5B6-C917F8232B36}"/>
              </a:ext>
            </a:extLst>
          </p:cNvPr>
          <p:cNvPicPr>
            <a:picLocks noChangeAspect="1"/>
          </p:cNvPicPr>
          <p:nvPr/>
        </p:nvPicPr>
        <p:blipFill>
          <a:blip r:embed="rId2"/>
          <a:stretch>
            <a:fillRect/>
          </a:stretch>
        </p:blipFill>
        <p:spPr>
          <a:xfrm>
            <a:off x="2133600" y="5257800"/>
            <a:ext cx="5654030" cy="1066800"/>
          </a:xfrm>
          <a:prstGeom prst="rect">
            <a:avLst/>
          </a:prstGeom>
        </p:spPr>
      </p:pic>
    </p:spTree>
    <p:extLst>
      <p:ext uri="{BB962C8B-B14F-4D97-AF65-F5344CB8AC3E}">
        <p14:creationId xmlns:p14="http://schemas.microsoft.com/office/powerpoint/2010/main" val="12660714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59BED-2909-3F5D-12B5-FF6B8C60E01F}"/>
              </a:ext>
            </a:extLst>
          </p:cNvPr>
          <p:cNvSpPr>
            <a:spLocks noGrp="1"/>
          </p:cNvSpPr>
          <p:nvPr>
            <p:ph type="title"/>
          </p:nvPr>
        </p:nvSpPr>
        <p:spPr/>
        <p:txBody>
          <a:bodyPr/>
          <a:lstStyle/>
          <a:p>
            <a:r>
              <a:rPr lang="en-US" sz="4000" dirty="0"/>
              <a:t>Register-Reference Instructions:</a:t>
            </a:r>
            <a:br>
              <a:rPr lang="en-US" sz="4000" dirty="0"/>
            </a:br>
            <a:endParaRPr lang="en-IN" dirty="0"/>
          </a:p>
        </p:txBody>
      </p:sp>
      <p:sp>
        <p:nvSpPr>
          <p:cNvPr id="3" name="Content Placeholder 2">
            <a:extLst>
              <a:ext uri="{FF2B5EF4-FFF2-40B4-BE49-F238E27FC236}">
                <a16:creationId xmlns:a16="http://schemas.microsoft.com/office/drawing/2014/main" id="{0C7357D1-5E5E-4CA1-280F-AED6CEEE9CEA}"/>
              </a:ext>
            </a:extLst>
          </p:cNvPr>
          <p:cNvSpPr>
            <a:spLocks noGrp="1"/>
          </p:cNvSpPr>
          <p:nvPr>
            <p:ph idx="1"/>
          </p:nvPr>
        </p:nvSpPr>
        <p:spPr>
          <a:xfrm>
            <a:off x="457200" y="990600"/>
            <a:ext cx="8229600" cy="4525963"/>
          </a:xfrm>
        </p:spPr>
        <p:txBody>
          <a:bodyPr/>
          <a:lstStyle/>
          <a:p>
            <a:pPr algn="just"/>
            <a:r>
              <a:rPr lang="en-US" sz="2000" dirty="0"/>
              <a:t>Register-reference instructions are recognized by the control when D7 = 1 and I=0.</a:t>
            </a:r>
          </a:p>
          <a:p>
            <a:pPr algn="just"/>
            <a:r>
              <a:rPr lang="en-US" sz="2000" dirty="0"/>
              <a:t>These instructions use bits 0 through 11 of the instruction code to specify one of 12 instructions.</a:t>
            </a:r>
          </a:p>
          <a:p>
            <a:pPr algn="just"/>
            <a:r>
              <a:rPr lang="en-US" sz="2000" dirty="0"/>
              <a:t>These 12 bits are available in IR (0-11).</a:t>
            </a:r>
          </a:p>
          <a:p>
            <a:pPr algn="just"/>
            <a:r>
              <a:rPr lang="en-US" sz="2000" dirty="0"/>
              <a:t>The control functions and microoperations for the register-reference instructions are listed in Table 5-3.</a:t>
            </a:r>
          </a:p>
          <a:p>
            <a:pPr algn="just"/>
            <a:r>
              <a:rPr lang="en-US" sz="2000" dirty="0"/>
              <a:t>These instructions are executed with the clock transition associated with timing variable T3.</a:t>
            </a:r>
          </a:p>
          <a:p>
            <a:pPr algn="just"/>
            <a:r>
              <a:rPr lang="en-US" sz="2000" dirty="0"/>
              <a:t>Control function needs the Boolean relation D7I’T3, which we designate for convenience by the symbol r.</a:t>
            </a:r>
          </a:p>
          <a:p>
            <a:pPr algn="just"/>
            <a:r>
              <a:rPr lang="en-US" sz="2000" dirty="0"/>
              <a:t>By assigning the symbol Bi to bit </a:t>
            </a:r>
            <a:r>
              <a:rPr lang="en-US" sz="2000" dirty="0" err="1"/>
              <a:t>i</a:t>
            </a:r>
            <a:r>
              <a:rPr lang="en-US" sz="2000" dirty="0"/>
              <a:t> of IR, all control functions can be simply denoted by </a:t>
            </a:r>
            <a:r>
              <a:rPr lang="en-US" sz="2000" dirty="0" err="1"/>
              <a:t>rBi</a:t>
            </a:r>
            <a:r>
              <a:rPr lang="en-US" sz="2000" dirty="0"/>
              <a:t>.</a:t>
            </a:r>
          </a:p>
          <a:p>
            <a:pPr marL="0" indent="0" algn="just">
              <a:buNone/>
            </a:pPr>
            <a:endParaRPr lang="en-IN" dirty="0"/>
          </a:p>
        </p:txBody>
      </p:sp>
    </p:spTree>
    <p:extLst>
      <p:ext uri="{BB962C8B-B14F-4D97-AF65-F5344CB8AC3E}">
        <p14:creationId xmlns:p14="http://schemas.microsoft.com/office/powerpoint/2010/main" val="31932359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80C2FA-2A6D-FBAB-7EC8-CA7D7DC0A7ED}"/>
              </a:ext>
            </a:extLst>
          </p:cNvPr>
          <p:cNvPicPr>
            <a:picLocks noGrp="1" noChangeAspect="1"/>
          </p:cNvPicPr>
          <p:nvPr>
            <p:ph idx="1"/>
          </p:nvPr>
        </p:nvPicPr>
        <p:blipFill>
          <a:blip r:embed="rId2"/>
          <a:stretch>
            <a:fillRect/>
          </a:stretch>
        </p:blipFill>
        <p:spPr>
          <a:xfrm>
            <a:off x="457200" y="457200"/>
            <a:ext cx="8229600" cy="4882243"/>
          </a:xfrm>
        </p:spPr>
      </p:pic>
    </p:spTree>
    <p:extLst>
      <p:ext uri="{BB962C8B-B14F-4D97-AF65-F5344CB8AC3E}">
        <p14:creationId xmlns:p14="http://schemas.microsoft.com/office/powerpoint/2010/main" val="15127272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F1B4-FDFC-1575-C1E0-E93EC3D800ED}"/>
              </a:ext>
            </a:extLst>
          </p:cNvPr>
          <p:cNvSpPr>
            <a:spLocks noGrp="1"/>
          </p:cNvSpPr>
          <p:nvPr>
            <p:ph type="title"/>
          </p:nvPr>
        </p:nvSpPr>
        <p:spPr/>
        <p:txBody>
          <a:bodyPr/>
          <a:lstStyle/>
          <a:p>
            <a:r>
              <a:rPr lang="en-US" dirty="0"/>
              <a:t>Input-Output Configuration:</a:t>
            </a:r>
            <a:br>
              <a:rPr lang="en-US" dirty="0"/>
            </a:br>
            <a:endParaRPr lang="en-IN" dirty="0"/>
          </a:p>
        </p:txBody>
      </p:sp>
      <p:sp>
        <p:nvSpPr>
          <p:cNvPr id="3" name="Content Placeholder 2">
            <a:extLst>
              <a:ext uri="{FF2B5EF4-FFF2-40B4-BE49-F238E27FC236}">
                <a16:creationId xmlns:a16="http://schemas.microsoft.com/office/drawing/2014/main" id="{E16BF4BF-007E-FFE4-D566-AA6BC43C8332}"/>
              </a:ext>
            </a:extLst>
          </p:cNvPr>
          <p:cNvSpPr>
            <a:spLocks noGrp="1"/>
          </p:cNvSpPr>
          <p:nvPr>
            <p:ph idx="1"/>
          </p:nvPr>
        </p:nvSpPr>
        <p:spPr>
          <a:xfrm>
            <a:off x="457200" y="914400"/>
            <a:ext cx="8229600" cy="4525963"/>
          </a:xfrm>
        </p:spPr>
        <p:txBody>
          <a:bodyPr/>
          <a:lstStyle/>
          <a:p>
            <a:pPr algn="just"/>
            <a:r>
              <a:rPr lang="en-US" sz="2400" dirty="0"/>
              <a:t>The terminal sends and receives serial information.</a:t>
            </a:r>
          </a:p>
          <a:p>
            <a:pPr algn="just"/>
            <a:r>
              <a:rPr lang="en-US" sz="2400" dirty="0"/>
              <a:t>Each quantity of information has eight bits of an alphanumeric code.</a:t>
            </a:r>
          </a:p>
          <a:p>
            <a:pPr algn="just"/>
            <a:r>
              <a:rPr lang="en-US" sz="2400" dirty="0"/>
              <a:t>The serial information from the keyboard is shifted into the input register INPR.</a:t>
            </a:r>
          </a:p>
          <a:p>
            <a:pPr algn="just"/>
            <a:r>
              <a:rPr lang="en-US" sz="2400" dirty="0"/>
              <a:t>The serial information for the printer is stored in the output register OUTR.</a:t>
            </a:r>
          </a:p>
          <a:p>
            <a:pPr algn="just"/>
            <a:r>
              <a:rPr lang="en-US" sz="2400" dirty="0"/>
              <a:t>These two registers communicate with a communication interface serially and with the AC in parallel.</a:t>
            </a:r>
          </a:p>
          <a:p>
            <a:pPr algn="just"/>
            <a:r>
              <a:rPr lang="en-US" sz="2400" dirty="0"/>
              <a:t>The input—output configuration is shown in Fig. 5-12.</a:t>
            </a:r>
            <a:endParaRPr lang="en-IN" sz="2400" dirty="0"/>
          </a:p>
        </p:txBody>
      </p:sp>
    </p:spTree>
    <p:extLst>
      <p:ext uri="{BB962C8B-B14F-4D97-AF65-F5344CB8AC3E}">
        <p14:creationId xmlns:p14="http://schemas.microsoft.com/office/powerpoint/2010/main" val="18348447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A2E84A-CF54-1416-E4CE-C7A2D4C405C6}"/>
              </a:ext>
            </a:extLst>
          </p:cNvPr>
          <p:cNvPicPr>
            <a:picLocks noGrp="1" noChangeAspect="1"/>
          </p:cNvPicPr>
          <p:nvPr>
            <p:ph idx="1"/>
          </p:nvPr>
        </p:nvPicPr>
        <p:blipFill>
          <a:blip r:embed="rId2"/>
          <a:stretch>
            <a:fillRect/>
          </a:stretch>
        </p:blipFill>
        <p:spPr>
          <a:xfrm>
            <a:off x="1143000" y="0"/>
            <a:ext cx="6858000" cy="5405256"/>
          </a:xfrm>
        </p:spPr>
      </p:pic>
    </p:spTree>
    <p:extLst>
      <p:ext uri="{BB962C8B-B14F-4D97-AF65-F5344CB8AC3E}">
        <p14:creationId xmlns:p14="http://schemas.microsoft.com/office/powerpoint/2010/main" val="30751828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6BA2D3-C9D3-8B0E-28A7-A8668783612E}"/>
              </a:ext>
            </a:extLst>
          </p:cNvPr>
          <p:cNvSpPr>
            <a:spLocks noGrp="1"/>
          </p:cNvSpPr>
          <p:nvPr>
            <p:ph idx="1"/>
          </p:nvPr>
        </p:nvSpPr>
        <p:spPr>
          <a:xfrm>
            <a:off x="228600" y="152400"/>
            <a:ext cx="8229600" cy="4525963"/>
          </a:xfrm>
        </p:spPr>
        <p:txBody>
          <a:bodyPr/>
          <a:lstStyle/>
          <a:p>
            <a:pPr algn="just"/>
            <a:r>
              <a:rPr lang="en-US" sz="2400" dirty="0"/>
              <a:t>The input register INPR consists of eight bits and holds alphanumeric input information.</a:t>
            </a:r>
          </a:p>
          <a:p>
            <a:pPr algn="just"/>
            <a:r>
              <a:rPr lang="en-US" sz="2400" dirty="0"/>
              <a:t>The 1-bit input flag FGI is a control flip-flop.</a:t>
            </a:r>
          </a:p>
          <a:p>
            <a:pPr algn="just"/>
            <a:r>
              <a:rPr lang="en-US" sz="2400" dirty="0"/>
              <a:t>The flag bit is set to 1 when new information is available in the input device and is cleared to 0 when the information is accepted by the computer.</a:t>
            </a:r>
          </a:p>
          <a:p>
            <a:pPr algn="just"/>
            <a:r>
              <a:rPr lang="en-US" sz="2400" dirty="0"/>
              <a:t>The output register OUTR works similarly but the direction of information flow is reversed.</a:t>
            </a:r>
          </a:p>
          <a:p>
            <a:pPr algn="just"/>
            <a:r>
              <a:rPr lang="en-US" sz="2400" dirty="0"/>
              <a:t>Initially, the output flag FGO is set to 1.</a:t>
            </a:r>
          </a:p>
          <a:p>
            <a:pPr algn="just"/>
            <a:r>
              <a:rPr lang="en-US" sz="2400" dirty="0"/>
              <a:t>The computer checks the flag bit; if it is 1, the information from AC is transferred in parallel to OUTR and FGO is cleared to 0.</a:t>
            </a:r>
          </a:p>
          <a:p>
            <a:pPr algn="just"/>
            <a:r>
              <a:rPr lang="en-US" sz="2400" dirty="0"/>
              <a:t>The output device accepts the coded information, prints the corresponding character, and when the operation is completed, it sets FGO to 1.</a:t>
            </a:r>
            <a:endParaRPr lang="en-IN" sz="2400" dirty="0"/>
          </a:p>
        </p:txBody>
      </p:sp>
    </p:spTree>
    <p:extLst>
      <p:ext uri="{BB962C8B-B14F-4D97-AF65-F5344CB8AC3E}">
        <p14:creationId xmlns:p14="http://schemas.microsoft.com/office/powerpoint/2010/main" val="4342475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808F52D-8276-4AB3-9D22-97584D57AC52}"/>
              </a:ext>
            </a:extLst>
          </p:cNvPr>
          <p:cNvSpPr>
            <a:spLocks noGrp="1" noChangeArrowheads="1"/>
          </p:cNvSpPr>
          <p:nvPr>
            <p:ph type="title"/>
          </p:nvPr>
        </p:nvSpPr>
        <p:spPr/>
        <p:txBody>
          <a:bodyPr/>
          <a:lstStyle/>
          <a:p>
            <a:pPr eaLnBrk="1" hangingPunct="1"/>
            <a:r>
              <a:rPr lang="en-US" altLang="en-US"/>
              <a:t>Fundamental Concepts</a:t>
            </a:r>
          </a:p>
        </p:txBody>
      </p:sp>
      <p:sp>
        <p:nvSpPr>
          <p:cNvPr id="6147" name="Rectangle 3">
            <a:extLst>
              <a:ext uri="{FF2B5EF4-FFF2-40B4-BE49-F238E27FC236}">
                <a16:creationId xmlns:a16="http://schemas.microsoft.com/office/drawing/2014/main" id="{D8ED3E59-A6C5-4A9D-AC52-38DB435ED9FA}"/>
              </a:ext>
            </a:extLst>
          </p:cNvPr>
          <p:cNvSpPr>
            <a:spLocks noGrp="1" noChangeArrowheads="1"/>
          </p:cNvSpPr>
          <p:nvPr>
            <p:ph type="body" idx="1"/>
          </p:nvPr>
        </p:nvSpPr>
        <p:spPr/>
        <p:txBody>
          <a:bodyPr/>
          <a:lstStyle/>
          <a:p>
            <a:pPr algn="just" eaLnBrk="1" hangingPunct="1"/>
            <a:r>
              <a:rPr lang="en-US" altLang="en-US" sz="2600" dirty="0"/>
              <a:t>Processor fetches one instruction at a time and perform the operation specified.</a:t>
            </a:r>
          </a:p>
          <a:p>
            <a:pPr algn="just" eaLnBrk="1" hangingPunct="1"/>
            <a:r>
              <a:rPr lang="en-US" altLang="en-US" sz="2600" dirty="0"/>
              <a:t>Instructions are fetched from successive memory locations until a branch or a jump instruction is encountered.</a:t>
            </a:r>
          </a:p>
          <a:p>
            <a:pPr algn="just" eaLnBrk="1" hangingPunct="1"/>
            <a:r>
              <a:rPr lang="en-US" altLang="en-US" sz="2600" dirty="0"/>
              <a:t>Processor keeps track of the address of the memory location containing the next instruction to be fetched using Program Counter (PC).</a:t>
            </a:r>
          </a:p>
          <a:p>
            <a:pPr algn="just" eaLnBrk="1" hangingPunct="1"/>
            <a:r>
              <a:rPr lang="en-US" altLang="en-US" sz="2600" dirty="0"/>
              <a:t>Instruction Register (IR)</a:t>
            </a:r>
          </a:p>
        </p:txBody>
      </p:sp>
    </p:spTree>
    <p:extLst>
      <p:ext uri="{BB962C8B-B14F-4D97-AF65-F5344CB8AC3E}">
        <p14:creationId xmlns:p14="http://schemas.microsoft.com/office/powerpoint/2010/main" val="15290988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3269FFA-943D-4D1A-AC88-D4C1E88A4C98}"/>
              </a:ext>
            </a:extLst>
          </p:cNvPr>
          <p:cNvSpPr>
            <a:spLocks noGrp="1" noChangeArrowheads="1"/>
          </p:cNvSpPr>
          <p:nvPr>
            <p:ph type="title"/>
          </p:nvPr>
        </p:nvSpPr>
        <p:spPr>
          <a:xfrm>
            <a:off x="457200" y="32657"/>
            <a:ext cx="8229600" cy="699180"/>
          </a:xfrm>
        </p:spPr>
        <p:txBody>
          <a:bodyPr/>
          <a:lstStyle/>
          <a:p>
            <a:r>
              <a:rPr lang="en-US" altLang="ko-KR" dirty="0"/>
              <a:t>Memory Organization</a:t>
            </a:r>
          </a:p>
        </p:txBody>
      </p:sp>
      <p:sp>
        <p:nvSpPr>
          <p:cNvPr id="4099" name="Rectangle 3">
            <a:extLst>
              <a:ext uri="{FF2B5EF4-FFF2-40B4-BE49-F238E27FC236}">
                <a16:creationId xmlns:a16="http://schemas.microsoft.com/office/drawing/2014/main" id="{15BE6B62-B89E-4A28-890D-E184D5649761}"/>
              </a:ext>
            </a:extLst>
          </p:cNvPr>
          <p:cNvSpPr>
            <a:spLocks noGrp="1" noChangeArrowheads="1"/>
          </p:cNvSpPr>
          <p:nvPr>
            <p:ph type="body" idx="1"/>
          </p:nvPr>
        </p:nvSpPr>
        <p:spPr>
          <a:xfrm>
            <a:off x="457200" y="753608"/>
            <a:ext cx="8229600" cy="4525963"/>
          </a:xfrm>
        </p:spPr>
        <p:txBody>
          <a:bodyPr/>
          <a:lstStyle/>
          <a:p>
            <a:pPr>
              <a:lnSpc>
                <a:spcPct val="90000"/>
              </a:lnSpc>
            </a:pPr>
            <a:r>
              <a:rPr lang="en-US" altLang="ko-KR" dirty="0"/>
              <a:t>Memory Hierarchy</a:t>
            </a:r>
          </a:p>
          <a:p>
            <a:pPr lvl="1">
              <a:lnSpc>
                <a:spcPct val="90000"/>
              </a:lnSpc>
            </a:pPr>
            <a:r>
              <a:rPr lang="en-US" altLang="ko-KR" sz="1800" dirty="0"/>
              <a:t>Memory hierarchy in a computer system :</a:t>
            </a:r>
          </a:p>
          <a:p>
            <a:pPr lvl="2">
              <a:lnSpc>
                <a:spcPct val="90000"/>
              </a:lnSpc>
            </a:pPr>
            <a:r>
              <a:rPr lang="en-US" altLang="ko-KR" b="1" dirty="0"/>
              <a:t>Main Memory</a:t>
            </a:r>
            <a:r>
              <a:rPr lang="en-US" altLang="ko-KR" dirty="0"/>
              <a:t> : memory unit that communicates directly with the CPU (</a:t>
            </a:r>
            <a:r>
              <a:rPr lang="en-US" altLang="ko-KR" dirty="0">
                <a:solidFill>
                  <a:srgbClr val="CC9900"/>
                </a:solidFill>
              </a:rPr>
              <a:t>RAM</a:t>
            </a:r>
            <a:r>
              <a:rPr lang="en-US" altLang="ko-KR" dirty="0"/>
              <a:t>)</a:t>
            </a:r>
          </a:p>
          <a:p>
            <a:pPr lvl="2">
              <a:lnSpc>
                <a:spcPct val="90000"/>
              </a:lnSpc>
            </a:pPr>
            <a:r>
              <a:rPr lang="en-US" altLang="ko-KR" b="1" dirty="0"/>
              <a:t>Auxiliary Memory</a:t>
            </a:r>
            <a:r>
              <a:rPr lang="en-US" altLang="ko-KR" dirty="0"/>
              <a:t> : device that provide backup storage (</a:t>
            </a:r>
            <a:r>
              <a:rPr lang="en-US" altLang="ko-KR" dirty="0">
                <a:solidFill>
                  <a:srgbClr val="CC9900"/>
                </a:solidFill>
              </a:rPr>
              <a:t>Disk Drives</a:t>
            </a:r>
            <a:r>
              <a:rPr lang="en-US" altLang="ko-KR" dirty="0"/>
              <a:t>)</a:t>
            </a:r>
          </a:p>
          <a:p>
            <a:pPr lvl="2">
              <a:lnSpc>
                <a:spcPct val="90000"/>
              </a:lnSpc>
            </a:pPr>
            <a:r>
              <a:rPr lang="en-US" altLang="ko-KR" b="1" dirty="0"/>
              <a:t>Cache Memory</a:t>
            </a:r>
            <a:r>
              <a:rPr lang="en-US" altLang="ko-KR" dirty="0"/>
              <a:t> : special very-high-speed memory to increase the processing speed (</a:t>
            </a:r>
            <a:r>
              <a:rPr lang="en-US" altLang="ko-KR" dirty="0">
                <a:solidFill>
                  <a:srgbClr val="CC9900"/>
                </a:solidFill>
              </a:rPr>
              <a:t>Cache RAM</a:t>
            </a:r>
            <a:r>
              <a:rPr lang="en-US" altLang="ko-KR" dirty="0"/>
              <a:t>)</a:t>
            </a:r>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1">
              <a:lnSpc>
                <a:spcPct val="90000"/>
              </a:lnSpc>
            </a:pPr>
            <a:endParaRPr lang="en-US" altLang="ko-KR" sz="1800" dirty="0"/>
          </a:p>
        </p:txBody>
      </p:sp>
      <p:graphicFrame>
        <p:nvGraphicFramePr>
          <p:cNvPr id="4100" name="Object 4">
            <a:extLst>
              <a:ext uri="{FF2B5EF4-FFF2-40B4-BE49-F238E27FC236}">
                <a16:creationId xmlns:a16="http://schemas.microsoft.com/office/drawing/2014/main" id="{9C618C36-45FA-42B9-AE23-F9B222DAEC3D}"/>
              </a:ext>
            </a:extLst>
          </p:cNvPr>
          <p:cNvGraphicFramePr>
            <a:graphicFrameLocks noChangeAspect="1"/>
          </p:cNvGraphicFramePr>
          <p:nvPr>
            <p:extLst>
              <p:ext uri="{D42A27DB-BD31-4B8C-83A1-F6EECF244321}">
                <p14:modId xmlns:p14="http://schemas.microsoft.com/office/powerpoint/2010/main" val="228440247"/>
              </p:ext>
            </p:extLst>
          </p:nvPr>
        </p:nvGraphicFramePr>
        <p:xfrm>
          <a:off x="2133600" y="3878338"/>
          <a:ext cx="5343525" cy="2846008"/>
        </p:xfrm>
        <a:graphic>
          <a:graphicData uri="http://schemas.openxmlformats.org/presentationml/2006/ole">
            <mc:AlternateContent xmlns:mc="http://schemas.openxmlformats.org/markup-compatibility/2006">
              <mc:Choice xmlns:v="urn:schemas-microsoft-com:vml" Requires="v">
                <p:oleObj name="VISIO" r:id="rId2" imgW="5753880" imgH="3053520" progId="Visio.Drawing.5">
                  <p:embed/>
                </p:oleObj>
              </mc:Choice>
              <mc:Fallback>
                <p:oleObj name="VISIO" r:id="rId2" imgW="5753880" imgH="3053520" progId="Visio.Drawing.5">
                  <p:embed/>
                  <p:pic>
                    <p:nvPicPr>
                      <p:cNvPr id="4100" name="Object 4">
                        <a:extLst>
                          <a:ext uri="{FF2B5EF4-FFF2-40B4-BE49-F238E27FC236}">
                            <a16:creationId xmlns:a16="http://schemas.microsoft.com/office/drawing/2014/main" id="{9C618C36-45FA-42B9-AE23-F9B222DAEC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878338"/>
                        <a:ext cx="5343525" cy="2846008"/>
                      </a:xfrm>
                      <a:prstGeom prst="rect">
                        <a:avLst/>
                      </a:prstGeom>
                      <a:solidFill>
                        <a:srgbClr val="FFFF99"/>
                      </a:solidFill>
                      <a:ln>
                        <a:noFill/>
                      </a:ln>
                      <a:effec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FAEC9CA-E5A2-465A-ADAA-9D0B98F04EC5}"/>
              </a:ext>
            </a:extLst>
          </p:cNvPr>
          <p:cNvSpPr>
            <a:spLocks noGrp="1"/>
          </p:cNvSpPr>
          <p:nvPr>
            <p:ph idx="1"/>
          </p:nvPr>
        </p:nvSpPr>
        <p:spPr>
          <a:xfrm>
            <a:off x="222250" y="1006475"/>
            <a:ext cx="8229600" cy="4525963"/>
          </a:xfrm>
        </p:spPr>
        <p:txBody>
          <a:bodyPr/>
          <a:lstStyle/>
          <a:p>
            <a:pPr lvl="1">
              <a:lnSpc>
                <a:spcPct val="90000"/>
              </a:lnSpc>
            </a:pPr>
            <a:r>
              <a:rPr lang="en-US" altLang="ko-KR" sz="1800" dirty="0"/>
              <a:t>Multiprogramming</a:t>
            </a:r>
          </a:p>
          <a:p>
            <a:pPr lvl="2" algn="just">
              <a:lnSpc>
                <a:spcPct val="90000"/>
              </a:lnSpc>
            </a:pPr>
            <a:r>
              <a:rPr lang="en-US" altLang="ko-KR" sz="2000" dirty="0"/>
              <a:t>enable the CPU to process a number of independent program concurrently</a:t>
            </a:r>
            <a:endParaRPr lang="en-US" altLang="ko-KR" dirty="0"/>
          </a:p>
          <a:p>
            <a:pPr lvl="1">
              <a:lnSpc>
                <a:spcPct val="90000"/>
              </a:lnSpc>
            </a:pPr>
            <a:r>
              <a:rPr lang="en-US" altLang="ko-KR" sz="1800" dirty="0"/>
              <a:t>Memory Management System :</a:t>
            </a:r>
          </a:p>
          <a:p>
            <a:pPr lvl="2" algn="just">
              <a:lnSpc>
                <a:spcPct val="90000"/>
              </a:lnSpc>
            </a:pPr>
            <a:r>
              <a:rPr lang="en-US" altLang="ko-KR" sz="2000" dirty="0"/>
              <a:t>supervise the flow of information between auxiliary memory and main memory</a:t>
            </a:r>
          </a:p>
        </p:txBody>
      </p:sp>
      <p:sp>
        <p:nvSpPr>
          <p:cNvPr id="4" name="Rectangle 77">
            <a:extLst>
              <a:ext uri="{FF2B5EF4-FFF2-40B4-BE49-F238E27FC236}">
                <a16:creationId xmlns:a16="http://schemas.microsoft.com/office/drawing/2014/main" id="{BFF67E25-EF1B-4DF5-8D68-2D802E8CD1FC}"/>
              </a:ext>
            </a:extLst>
          </p:cNvPr>
          <p:cNvSpPr txBox="1">
            <a:spLocks noChangeArrowheads="1"/>
          </p:cNvSpPr>
          <p:nvPr/>
        </p:nvSpPr>
        <p:spPr bwMode="auto">
          <a:xfrm>
            <a:off x="200025" y="5964238"/>
            <a:ext cx="8991600" cy="893762"/>
          </a:xfrm>
          <a:prstGeom prst="rect">
            <a:avLst/>
          </a:prstGeom>
          <a:noFill/>
          <a:ln w="12700">
            <a:noFill/>
            <a:miter lim="800000"/>
            <a:headEnd/>
            <a:tailEnd/>
          </a:ln>
        </p:spPr>
        <p:txBody>
          <a:bodyPr lIns="90488" tIns="44450" rIns="90488" bIns="44450">
            <a:spAutoFit/>
          </a:bodyPr>
          <a:lstStyle/>
          <a:p>
            <a:pPr marL="342900" indent="-342900" defTabSz="762000">
              <a:lnSpc>
                <a:spcPct val="90000"/>
              </a:lnSpc>
              <a:spcBef>
                <a:spcPct val="20000"/>
              </a:spcBef>
              <a:buClr>
                <a:schemeClr val="accent1"/>
              </a:buClr>
              <a:buSzPct val="75000"/>
              <a:buFont typeface="Monotype Sorts" pitchFamily="2" charset="2"/>
              <a:buChar char="n"/>
              <a:defRPr/>
            </a:pPr>
            <a:endParaRPr lang="en-US" altLang="ko-KR" sz="1800" kern="0" dirty="0">
              <a:latin typeface="+mn-lt"/>
              <a:ea typeface="+mn-ea"/>
            </a:endParaRPr>
          </a:p>
          <a:p>
            <a:pPr marL="342900" indent="-342900" defTabSz="762000">
              <a:lnSpc>
                <a:spcPct val="90000"/>
              </a:lnSpc>
              <a:spcBef>
                <a:spcPct val="20000"/>
              </a:spcBef>
              <a:buClr>
                <a:schemeClr val="accent1"/>
              </a:buClr>
              <a:buSzPct val="75000"/>
              <a:buFont typeface="Monotype Sorts" pitchFamily="2" charset="2"/>
              <a:buChar char="n"/>
              <a:defRPr/>
            </a:pPr>
            <a:r>
              <a:rPr lang="en-US" altLang="ko-KR" sz="1800" kern="0" dirty="0">
                <a:latin typeface="+mn-lt"/>
                <a:ea typeface="+mn-ea"/>
              </a:rPr>
              <a:t>Memory Hierarchy is to obtain the highest possible access speed while minimizing the total cost of the memory system</a:t>
            </a:r>
          </a:p>
        </p:txBody>
      </p:sp>
      <p:sp>
        <p:nvSpPr>
          <p:cNvPr id="5124" name="Rectangle 42">
            <a:extLst>
              <a:ext uri="{FF2B5EF4-FFF2-40B4-BE49-F238E27FC236}">
                <a16:creationId xmlns:a16="http://schemas.microsoft.com/office/drawing/2014/main" id="{DEA2E39E-0D65-49EA-A6B0-5F7946569396}"/>
              </a:ext>
            </a:extLst>
          </p:cNvPr>
          <p:cNvSpPr>
            <a:spLocks noChangeArrowheads="1"/>
          </p:cNvSpPr>
          <p:nvPr/>
        </p:nvSpPr>
        <p:spPr bwMode="auto">
          <a:xfrm>
            <a:off x="3206750" y="4037013"/>
            <a:ext cx="1489075" cy="21113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5" name="Rectangle 43">
            <a:extLst>
              <a:ext uri="{FF2B5EF4-FFF2-40B4-BE49-F238E27FC236}">
                <a16:creationId xmlns:a16="http://schemas.microsoft.com/office/drawing/2014/main" id="{E59F3D27-73CA-45ED-A6F9-B6A13FA7E8D6}"/>
              </a:ext>
            </a:extLst>
          </p:cNvPr>
          <p:cNvSpPr>
            <a:spLocks noChangeArrowheads="1"/>
          </p:cNvSpPr>
          <p:nvPr/>
        </p:nvSpPr>
        <p:spPr bwMode="auto">
          <a:xfrm>
            <a:off x="3360738" y="3505200"/>
            <a:ext cx="1166812" cy="2111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6" name="Rectangle 44">
            <a:extLst>
              <a:ext uri="{FF2B5EF4-FFF2-40B4-BE49-F238E27FC236}">
                <a16:creationId xmlns:a16="http://schemas.microsoft.com/office/drawing/2014/main" id="{00F94D00-D3A8-4CD4-80AC-CE39D7700F26}"/>
              </a:ext>
            </a:extLst>
          </p:cNvPr>
          <p:cNvSpPr>
            <a:spLocks noChangeArrowheads="1"/>
          </p:cNvSpPr>
          <p:nvPr/>
        </p:nvSpPr>
        <p:spPr bwMode="auto">
          <a:xfrm>
            <a:off x="3548063" y="3492500"/>
            <a:ext cx="7889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Register</a:t>
            </a:r>
          </a:p>
        </p:txBody>
      </p:sp>
      <p:sp>
        <p:nvSpPr>
          <p:cNvPr id="5127" name="Rectangle 45">
            <a:extLst>
              <a:ext uri="{FF2B5EF4-FFF2-40B4-BE49-F238E27FC236}">
                <a16:creationId xmlns:a16="http://schemas.microsoft.com/office/drawing/2014/main" id="{EDDF2329-8A8C-44E9-8C6C-DE91205EE225}"/>
              </a:ext>
            </a:extLst>
          </p:cNvPr>
          <p:cNvSpPr>
            <a:spLocks noChangeArrowheads="1"/>
          </p:cNvSpPr>
          <p:nvPr/>
        </p:nvSpPr>
        <p:spPr bwMode="auto">
          <a:xfrm>
            <a:off x="3640138" y="4017963"/>
            <a:ext cx="6365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Cache</a:t>
            </a:r>
          </a:p>
        </p:txBody>
      </p:sp>
      <p:sp>
        <p:nvSpPr>
          <p:cNvPr id="5128" name="Arc 46">
            <a:extLst>
              <a:ext uri="{FF2B5EF4-FFF2-40B4-BE49-F238E27FC236}">
                <a16:creationId xmlns:a16="http://schemas.microsoft.com/office/drawing/2014/main" id="{13800D45-733F-4138-8A17-57C530A47CC4}"/>
              </a:ext>
            </a:extLst>
          </p:cNvPr>
          <p:cNvSpPr>
            <a:spLocks/>
          </p:cNvSpPr>
          <p:nvPr/>
        </p:nvSpPr>
        <p:spPr bwMode="auto">
          <a:xfrm>
            <a:off x="3708400" y="3929063"/>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29" name="Arc 47">
            <a:extLst>
              <a:ext uri="{FF2B5EF4-FFF2-40B4-BE49-F238E27FC236}">
                <a16:creationId xmlns:a16="http://schemas.microsoft.com/office/drawing/2014/main" id="{17045E89-C5F3-4761-9643-71EF6D04C891}"/>
              </a:ext>
            </a:extLst>
          </p:cNvPr>
          <p:cNvSpPr>
            <a:spLocks/>
          </p:cNvSpPr>
          <p:nvPr/>
        </p:nvSpPr>
        <p:spPr bwMode="auto">
          <a:xfrm>
            <a:off x="3708400" y="37211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0" name="Line 48">
            <a:extLst>
              <a:ext uri="{FF2B5EF4-FFF2-40B4-BE49-F238E27FC236}">
                <a16:creationId xmlns:a16="http://schemas.microsoft.com/office/drawing/2014/main" id="{04678D91-5541-4281-9662-5932373CFC57}"/>
              </a:ext>
            </a:extLst>
          </p:cNvPr>
          <p:cNvSpPr>
            <a:spLocks noChangeShapeType="1"/>
          </p:cNvSpPr>
          <p:nvPr/>
        </p:nvSpPr>
        <p:spPr bwMode="auto">
          <a:xfrm>
            <a:off x="3760788" y="38163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1" name="Arc 49">
            <a:extLst>
              <a:ext uri="{FF2B5EF4-FFF2-40B4-BE49-F238E27FC236}">
                <a16:creationId xmlns:a16="http://schemas.microsoft.com/office/drawing/2014/main" id="{78596A17-AAF2-4956-AB3C-53786BB7BAD4}"/>
              </a:ext>
            </a:extLst>
          </p:cNvPr>
          <p:cNvSpPr>
            <a:spLocks/>
          </p:cNvSpPr>
          <p:nvPr/>
        </p:nvSpPr>
        <p:spPr bwMode="auto">
          <a:xfrm>
            <a:off x="4102100" y="3929063"/>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2" name="Arc 50">
            <a:extLst>
              <a:ext uri="{FF2B5EF4-FFF2-40B4-BE49-F238E27FC236}">
                <a16:creationId xmlns:a16="http://schemas.microsoft.com/office/drawing/2014/main" id="{3D14C59D-82A3-4E2A-BAAC-8704D20BC7F9}"/>
              </a:ext>
            </a:extLst>
          </p:cNvPr>
          <p:cNvSpPr>
            <a:spLocks/>
          </p:cNvSpPr>
          <p:nvPr/>
        </p:nvSpPr>
        <p:spPr bwMode="auto">
          <a:xfrm>
            <a:off x="4102100" y="37211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3" name="Line 51">
            <a:extLst>
              <a:ext uri="{FF2B5EF4-FFF2-40B4-BE49-F238E27FC236}">
                <a16:creationId xmlns:a16="http://schemas.microsoft.com/office/drawing/2014/main" id="{4B1A9A56-5D57-4F91-BFC9-EB3A111F358A}"/>
              </a:ext>
            </a:extLst>
          </p:cNvPr>
          <p:cNvSpPr>
            <a:spLocks noChangeShapeType="1"/>
          </p:cNvSpPr>
          <p:nvPr/>
        </p:nvSpPr>
        <p:spPr bwMode="auto">
          <a:xfrm>
            <a:off x="4154488" y="38163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4" name="Arc 52">
            <a:extLst>
              <a:ext uri="{FF2B5EF4-FFF2-40B4-BE49-F238E27FC236}">
                <a16:creationId xmlns:a16="http://schemas.microsoft.com/office/drawing/2014/main" id="{74949212-62DC-498E-A323-E59B0F059E38}"/>
              </a:ext>
            </a:extLst>
          </p:cNvPr>
          <p:cNvSpPr>
            <a:spLocks/>
          </p:cNvSpPr>
          <p:nvPr/>
        </p:nvSpPr>
        <p:spPr bwMode="auto">
          <a:xfrm>
            <a:off x="3708400" y="44608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5" name="Arc 53">
            <a:extLst>
              <a:ext uri="{FF2B5EF4-FFF2-40B4-BE49-F238E27FC236}">
                <a16:creationId xmlns:a16="http://schemas.microsoft.com/office/drawing/2014/main" id="{8AACD7EE-6496-4ECF-80FA-FE8D362EA37B}"/>
              </a:ext>
            </a:extLst>
          </p:cNvPr>
          <p:cNvSpPr>
            <a:spLocks/>
          </p:cNvSpPr>
          <p:nvPr/>
        </p:nvSpPr>
        <p:spPr bwMode="auto">
          <a:xfrm>
            <a:off x="3708400" y="425291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6" name="Line 54">
            <a:extLst>
              <a:ext uri="{FF2B5EF4-FFF2-40B4-BE49-F238E27FC236}">
                <a16:creationId xmlns:a16="http://schemas.microsoft.com/office/drawing/2014/main" id="{B22B053F-D548-4D33-8029-57F6839CB421}"/>
              </a:ext>
            </a:extLst>
          </p:cNvPr>
          <p:cNvSpPr>
            <a:spLocks noChangeShapeType="1"/>
          </p:cNvSpPr>
          <p:nvPr/>
        </p:nvSpPr>
        <p:spPr bwMode="auto">
          <a:xfrm>
            <a:off x="3760788" y="434816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7" name="Arc 55">
            <a:extLst>
              <a:ext uri="{FF2B5EF4-FFF2-40B4-BE49-F238E27FC236}">
                <a16:creationId xmlns:a16="http://schemas.microsoft.com/office/drawing/2014/main" id="{284587F0-0534-4AEB-BBEE-0ED3F5E6C695}"/>
              </a:ext>
            </a:extLst>
          </p:cNvPr>
          <p:cNvSpPr>
            <a:spLocks/>
          </p:cNvSpPr>
          <p:nvPr/>
        </p:nvSpPr>
        <p:spPr bwMode="auto">
          <a:xfrm>
            <a:off x="4102100" y="44608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8" name="Arc 56">
            <a:extLst>
              <a:ext uri="{FF2B5EF4-FFF2-40B4-BE49-F238E27FC236}">
                <a16:creationId xmlns:a16="http://schemas.microsoft.com/office/drawing/2014/main" id="{8BC74713-156C-4B9A-BD62-5A4ABE46765C}"/>
              </a:ext>
            </a:extLst>
          </p:cNvPr>
          <p:cNvSpPr>
            <a:spLocks/>
          </p:cNvSpPr>
          <p:nvPr/>
        </p:nvSpPr>
        <p:spPr bwMode="auto">
          <a:xfrm>
            <a:off x="4102100" y="425291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9" name="Line 57">
            <a:extLst>
              <a:ext uri="{FF2B5EF4-FFF2-40B4-BE49-F238E27FC236}">
                <a16:creationId xmlns:a16="http://schemas.microsoft.com/office/drawing/2014/main" id="{7689A32B-0684-48A5-B7AE-A22E18DA9334}"/>
              </a:ext>
            </a:extLst>
          </p:cNvPr>
          <p:cNvSpPr>
            <a:spLocks noChangeShapeType="1"/>
          </p:cNvSpPr>
          <p:nvPr/>
        </p:nvSpPr>
        <p:spPr bwMode="auto">
          <a:xfrm>
            <a:off x="4154488" y="434816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0" name="Rectangle 58">
            <a:extLst>
              <a:ext uri="{FF2B5EF4-FFF2-40B4-BE49-F238E27FC236}">
                <a16:creationId xmlns:a16="http://schemas.microsoft.com/office/drawing/2014/main" id="{7F5E21E1-48C2-4FA2-BC51-280AAEFB90AF}"/>
              </a:ext>
            </a:extLst>
          </p:cNvPr>
          <p:cNvSpPr>
            <a:spLocks noChangeArrowheads="1"/>
          </p:cNvSpPr>
          <p:nvPr/>
        </p:nvSpPr>
        <p:spPr bwMode="auto">
          <a:xfrm>
            <a:off x="3387725" y="4589463"/>
            <a:ext cx="1154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Main Memory</a:t>
            </a:r>
          </a:p>
        </p:txBody>
      </p:sp>
      <p:sp>
        <p:nvSpPr>
          <p:cNvPr id="5141" name="Rectangle 59">
            <a:extLst>
              <a:ext uri="{FF2B5EF4-FFF2-40B4-BE49-F238E27FC236}">
                <a16:creationId xmlns:a16="http://schemas.microsoft.com/office/drawing/2014/main" id="{9C6D9DB4-C326-4D8E-A0A3-D36C9A77305A}"/>
              </a:ext>
            </a:extLst>
          </p:cNvPr>
          <p:cNvSpPr>
            <a:spLocks noChangeArrowheads="1"/>
          </p:cNvSpPr>
          <p:nvPr/>
        </p:nvSpPr>
        <p:spPr bwMode="auto">
          <a:xfrm>
            <a:off x="2967038" y="4570413"/>
            <a:ext cx="1968500" cy="30162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42" name="Arc 60">
            <a:extLst>
              <a:ext uri="{FF2B5EF4-FFF2-40B4-BE49-F238E27FC236}">
                <a16:creationId xmlns:a16="http://schemas.microsoft.com/office/drawing/2014/main" id="{8C37148D-9301-41AD-AB62-C2B01F265165}"/>
              </a:ext>
            </a:extLst>
          </p:cNvPr>
          <p:cNvSpPr>
            <a:spLocks/>
          </p:cNvSpPr>
          <p:nvPr/>
        </p:nvSpPr>
        <p:spPr bwMode="auto">
          <a:xfrm>
            <a:off x="3708400" y="50831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3" name="Arc 61">
            <a:extLst>
              <a:ext uri="{FF2B5EF4-FFF2-40B4-BE49-F238E27FC236}">
                <a16:creationId xmlns:a16="http://schemas.microsoft.com/office/drawing/2014/main" id="{2182E400-08AB-4A8F-82BF-EF6D755CB438}"/>
              </a:ext>
            </a:extLst>
          </p:cNvPr>
          <p:cNvSpPr>
            <a:spLocks/>
          </p:cNvSpPr>
          <p:nvPr/>
        </p:nvSpPr>
        <p:spPr bwMode="auto">
          <a:xfrm>
            <a:off x="3708400" y="48768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4" name="Line 62">
            <a:extLst>
              <a:ext uri="{FF2B5EF4-FFF2-40B4-BE49-F238E27FC236}">
                <a16:creationId xmlns:a16="http://schemas.microsoft.com/office/drawing/2014/main" id="{AE6AEF9E-2DE8-4BF0-A81A-97EEB0EB0F42}"/>
              </a:ext>
            </a:extLst>
          </p:cNvPr>
          <p:cNvSpPr>
            <a:spLocks noChangeShapeType="1"/>
          </p:cNvSpPr>
          <p:nvPr/>
        </p:nvSpPr>
        <p:spPr bwMode="auto">
          <a:xfrm>
            <a:off x="3760788" y="49720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5" name="Arc 63">
            <a:extLst>
              <a:ext uri="{FF2B5EF4-FFF2-40B4-BE49-F238E27FC236}">
                <a16:creationId xmlns:a16="http://schemas.microsoft.com/office/drawing/2014/main" id="{D634557E-12C2-4886-9FEA-D3A8FB08504A}"/>
              </a:ext>
            </a:extLst>
          </p:cNvPr>
          <p:cNvSpPr>
            <a:spLocks/>
          </p:cNvSpPr>
          <p:nvPr/>
        </p:nvSpPr>
        <p:spPr bwMode="auto">
          <a:xfrm>
            <a:off x="4102100" y="50831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6" name="Arc 64">
            <a:extLst>
              <a:ext uri="{FF2B5EF4-FFF2-40B4-BE49-F238E27FC236}">
                <a16:creationId xmlns:a16="http://schemas.microsoft.com/office/drawing/2014/main" id="{C2F31B69-1C78-4A7E-BD09-26937086C6EC}"/>
              </a:ext>
            </a:extLst>
          </p:cNvPr>
          <p:cNvSpPr>
            <a:spLocks/>
          </p:cNvSpPr>
          <p:nvPr/>
        </p:nvSpPr>
        <p:spPr bwMode="auto">
          <a:xfrm>
            <a:off x="4102100" y="48768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7" name="Line 65">
            <a:extLst>
              <a:ext uri="{FF2B5EF4-FFF2-40B4-BE49-F238E27FC236}">
                <a16:creationId xmlns:a16="http://schemas.microsoft.com/office/drawing/2014/main" id="{E6FAF354-EF23-456F-A76C-3CE0E807AAE3}"/>
              </a:ext>
            </a:extLst>
          </p:cNvPr>
          <p:cNvSpPr>
            <a:spLocks noChangeShapeType="1"/>
          </p:cNvSpPr>
          <p:nvPr/>
        </p:nvSpPr>
        <p:spPr bwMode="auto">
          <a:xfrm>
            <a:off x="4154488" y="49720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8" name="Rectangle 66">
            <a:extLst>
              <a:ext uri="{FF2B5EF4-FFF2-40B4-BE49-F238E27FC236}">
                <a16:creationId xmlns:a16="http://schemas.microsoft.com/office/drawing/2014/main" id="{5FC3CC73-62E2-40C3-A45A-1461DC0D790E}"/>
              </a:ext>
            </a:extLst>
          </p:cNvPr>
          <p:cNvSpPr>
            <a:spLocks noChangeArrowheads="1"/>
          </p:cNvSpPr>
          <p:nvPr/>
        </p:nvSpPr>
        <p:spPr bwMode="auto">
          <a:xfrm>
            <a:off x="2728913" y="5192713"/>
            <a:ext cx="2444750" cy="38100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49" name="Arc 67">
            <a:extLst>
              <a:ext uri="{FF2B5EF4-FFF2-40B4-BE49-F238E27FC236}">
                <a16:creationId xmlns:a16="http://schemas.microsoft.com/office/drawing/2014/main" id="{9F2D37B2-262D-415B-91F8-28C1B727CEED}"/>
              </a:ext>
            </a:extLst>
          </p:cNvPr>
          <p:cNvSpPr>
            <a:spLocks/>
          </p:cNvSpPr>
          <p:nvPr/>
        </p:nvSpPr>
        <p:spPr bwMode="auto">
          <a:xfrm>
            <a:off x="3708400" y="5786438"/>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0" name="Arc 68">
            <a:extLst>
              <a:ext uri="{FF2B5EF4-FFF2-40B4-BE49-F238E27FC236}">
                <a16:creationId xmlns:a16="http://schemas.microsoft.com/office/drawing/2014/main" id="{2F715683-C2D2-4284-B9C0-63CDE9255B60}"/>
              </a:ext>
            </a:extLst>
          </p:cNvPr>
          <p:cNvSpPr>
            <a:spLocks/>
          </p:cNvSpPr>
          <p:nvPr/>
        </p:nvSpPr>
        <p:spPr bwMode="auto">
          <a:xfrm>
            <a:off x="3708400" y="558006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1" name="Line 69">
            <a:extLst>
              <a:ext uri="{FF2B5EF4-FFF2-40B4-BE49-F238E27FC236}">
                <a16:creationId xmlns:a16="http://schemas.microsoft.com/office/drawing/2014/main" id="{1E1CE839-67EF-4749-A335-D5B82FBA93BB}"/>
              </a:ext>
            </a:extLst>
          </p:cNvPr>
          <p:cNvSpPr>
            <a:spLocks noChangeShapeType="1"/>
          </p:cNvSpPr>
          <p:nvPr/>
        </p:nvSpPr>
        <p:spPr bwMode="auto">
          <a:xfrm>
            <a:off x="3760788" y="567531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2" name="Arc 70">
            <a:extLst>
              <a:ext uri="{FF2B5EF4-FFF2-40B4-BE49-F238E27FC236}">
                <a16:creationId xmlns:a16="http://schemas.microsoft.com/office/drawing/2014/main" id="{921296E1-3708-4508-B81A-D7488AEBE9AD}"/>
              </a:ext>
            </a:extLst>
          </p:cNvPr>
          <p:cNvSpPr>
            <a:spLocks/>
          </p:cNvSpPr>
          <p:nvPr/>
        </p:nvSpPr>
        <p:spPr bwMode="auto">
          <a:xfrm>
            <a:off x="4102100" y="5786438"/>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3" name="Arc 71">
            <a:extLst>
              <a:ext uri="{FF2B5EF4-FFF2-40B4-BE49-F238E27FC236}">
                <a16:creationId xmlns:a16="http://schemas.microsoft.com/office/drawing/2014/main" id="{374C81AA-3DA9-47A4-9EE0-4774EEA3ECDF}"/>
              </a:ext>
            </a:extLst>
          </p:cNvPr>
          <p:cNvSpPr>
            <a:spLocks/>
          </p:cNvSpPr>
          <p:nvPr/>
        </p:nvSpPr>
        <p:spPr bwMode="auto">
          <a:xfrm>
            <a:off x="4102100" y="558006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4" name="Line 72">
            <a:extLst>
              <a:ext uri="{FF2B5EF4-FFF2-40B4-BE49-F238E27FC236}">
                <a16:creationId xmlns:a16="http://schemas.microsoft.com/office/drawing/2014/main" id="{709CF73B-AAFC-4348-8111-728BBAC643ED}"/>
              </a:ext>
            </a:extLst>
          </p:cNvPr>
          <p:cNvSpPr>
            <a:spLocks noChangeShapeType="1"/>
          </p:cNvSpPr>
          <p:nvPr/>
        </p:nvSpPr>
        <p:spPr bwMode="auto">
          <a:xfrm>
            <a:off x="4154488" y="567531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5" name="Rectangle 73">
            <a:extLst>
              <a:ext uri="{FF2B5EF4-FFF2-40B4-BE49-F238E27FC236}">
                <a16:creationId xmlns:a16="http://schemas.microsoft.com/office/drawing/2014/main" id="{F98D0414-FE4E-4594-86DF-DA566C2E570B}"/>
              </a:ext>
            </a:extLst>
          </p:cNvPr>
          <p:cNvSpPr>
            <a:spLocks noChangeArrowheads="1"/>
          </p:cNvSpPr>
          <p:nvPr/>
        </p:nvSpPr>
        <p:spPr bwMode="auto">
          <a:xfrm>
            <a:off x="3365500" y="5246688"/>
            <a:ext cx="12049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Magnetic Disk</a:t>
            </a:r>
          </a:p>
        </p:txBody>
      </p:sp>
      <p:sp>
        <p:nvSpPr>
          <p:cNvPr id="5156" name="Rectangle 74">
            <a:extLst>
              <a:ext uri="{FF2B5EF4-FFF2-40B4-BE49-F238E27FC236}">
                <a16:creationId xmlns:a16="http://schemas.microsoft.com/office/drawing/2014/main" id="{8405596F-F68E-4D70-80F8-26D261C91145}"/>
              </a:ext>
            </a:extLst>
          </p:cNvPr>
          <p:cNvSpPr>
            <a:spLocks noChangeArrowheads="1"/>
          </p:cNvSpPr>
          <p:nvPr/>
        </p:nvSpPr>
        <p:spPr bwMode="auto">
          <a:xfrm>
            <a:off x="2489200" y="5895975"/>
            <a:ext cx="2924175" cy="4016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57" name="Rectangle 75">
            <a:extLst>
              <a:ext uri="{FF2B5EF4-FFF2-40B4-BE49-F238E27FC236}">
                <a16:creationId xmlns:a16="http://schemas.microsoft.com/office/drawing/2014/main" id="{2A28FC4C-D2C4-4039-A43C-4C5490085844}"/>
              </a:ext>
            </a:extLst>
          </p:cNvPr>
          <p:cNvSpPr>
            <a:spLocks noChangeArrowheads="1"/>
          </p:cNvSpPr>
          <p:nvPr/>
        </p:nvSpPr>
        <p:spPr bwMode="auto">
          <a:xfrm>
            <a:off x="3322638" y="5954713"/>
            <a:ext cx="12398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Magnetic Tape</a:t>
            </a:r>
          </a:p>
        </p:txBody>
      </p:sp>
      <p:sp>
        <p:nvSpPr>
          <p:cNvPr id="5158" name="Rectangle 2">
            <a:extLst>
              <a:ext uri="{FF2B5EF4-FFF2-40B4-BE49-F238E27FC236}">
                <a16:creationId xmlns:a16="http://schemas.microsoft.com/office/drawing/2014/main" id="{E3A93B50-0BFD-46AB-A564-623921590222}"/>
              </a:ext>
            </a:extLst>
          </p:cNvPr>
          <p:cNvSpPr>
            <a:spLocks noGrp="1" noChangeArrowheads="1"/>
          </p:cNvSpPr>
          <p:nvPr>
            <p:ph type="title"/>
          </p:nvPr>
        </p:nvSpPr>
        <p:spPr>
          <a:xfrm>
            <a:off x="396421" y="97631"/>
            <a:ext cx="8229600" cy="1143000"/>
          </a:xfrm>
        </p:spPr>
        <p:txBody>
          <a:bodyPr/>
          <a:lstStyle/>
          <a:p>
            <a:r>
              <a:rPr lang="en-US" altLang="ko-KR" dirty="0"/>
              <a:t>Memory Organization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5B9F6084-A556-4E34-A602-EE45217740EE}"/>
              </a:ext>
            </a:extLst>
          </p:cNvPr>
          <p:cNvSpPr>
            <a:spLocks noGrp="1" noChangeArrowheads="1"/>
          </p:cNvSpPr>
          <p:nvPr>
            <p:ph type="body" idx="1"/>
          </p:nvPr>
        </p:nvSpPr>
        <p:spPr>
          <a:xfrm>
            <a:off x="152400" y="1219200"/>
            <a:ext cx="8686800" cy="5786438"/>
          </a:xfrm>
        </p:spPr>
        <p:txBody>
          <a:bodyPr/>
          <a:lstStyle/>
          <a:p>
            <a:pPr lvl="1">
              <a:lnSpc>
                <a:spcPct val="90000"/>
              </a:lnSpc>
            </a:pPr>
            <a:r>
              <a:rPr lang="en-US" altLang="ko-KR" sz="2000" dirty="0">
                <a:solidFill>
                  <a:srgbClr val="6600FF"/>
                </a:solidFill>
              </a:rPr>
              <a:t>RAM Chips</a:t>
            </a:r>
          </a:p>
          <a:p>
            <a:pPr lvl="1">
              <a:lnSpc>
                <a:spcPct val="90000"/>
              </a:lnSpc>
            </a:pPr>
            <a:endParaRPr lang="en-US" altLang="ko-KR" sz="1800" dirty="0">
              <a:solidFill>
                <a:srgbClr val="6600FF"/>
              </a:solidFill>
            </a:endParaRPr>
          </a:p>
          <a:p>
            <a:pPr lvl="1">
              <a:lnSpc>
                <a:spcPct val="90000"/>
              </a:lnSpc>
            </a:pPr>
            <a:r>
              <a:rPr lang="en-US" altLang="ko-KR" sz="1800" dirty="0">
                <a:solidFill>
                  <a:srgbClr val="6600FF"/>
                </a:solidFill>
              </a:rPr>
              <a:t>Static RAM</a:t>
            </a:r>
          </a:p>
          <a:p>
            <a:pPr lvl="1">
              <a:lnSpc>
                <a:spcPct val="90000"/>
              </a:lnSpc>
              <a:buFont typeface="Arial" panose="020B0604020202020204" pitchFamily="34" charset="0"/>
              <a:buChar char="•"/>
            </a:pPr>
            <a:r>
              <a:rPr lang="en-US" altLang="ko-KR" sz="1800" dirty="0">
                <a:solidFill>
                  <a:schemeClr val="tx1"/>
                </a:solidFill>
              </a:rPr>
              <a:t>Consists of Flip-flops to store binary information.</a:t>
            </a:r>
          </a:p>
          <a:p>
            <a:pPr lvl="1">
              <a:lnSpc>
                <a:spcPct val="90000"/>
              </a:lnSpc>
              <a:buFont typeface="Arial" panose="020B0604020202020204" pitchFamily="34" charset="0"/>
              <a:buChar char="•"/>
            </a:pPr>
            <a:r>
              <a:rPr lang="en-US" altLang="ko-KR" sz="1800" dirty="0">
                <a:solidFill>
                  <a:schemeClr val="tx1"/>
                </a:solidFill>
              </a:rPr>
              <a:t>Static RAM is easier to use and having short Read/Write cycles</a:t>
            </a:r>
          </a:p>
          <a:p>
            <a:pPr lvl="1">
              <a:lnSpc>
                <a:spcPct val="90000"/>
              </a:lnSpc>
              <a:buFont typeface="Arial" panose="020B0604020202020204" pitchFamily="34" charset="0"/>
              <a:buChar char="•"/>
            </a:pPr>
            <a:r>
              <a:rPr lang="en-US" altLang="ko-KR" sz="1800" dirty="0">
                <a:solidFill>
                  <a:schemeClr val="tx1"/>
                </a:solidFill>
              </a:rPr>
              <a:t>Used mostly in Cache memory.</a:t>
            </a:r>
          </a:p>
          <a:p>
            <a:pPr lvl="2">
              <a:lnSpc>
                <a:spcPct val="90000"/>
              </a:lnSpc>
            </a:pPr>
            <a:endParaRPr lang="en-US" altLang="ko-KR" sz="600" dirty="0"/>
          </a:p>
          <a:p>
            <a:pPr lvl="1">
              <a:lnSpc>
                <a:spcPct val="90000"/>
              </a:lnSpc>
            </a:pPr>
            <a:endParaRPr lang="en-US" altLang="ko-KR" sz="1800" dirty="0">
              <a:solidFill>
                <a:srgbClr val="6600FF"/>
              </a:solidFill>
            </a:endParaRPr>
          </a:p>
          <a:p>
            <a:pPr lvl="1">
              <a:lnSpc>
                <a:spcPct val="90000"/>
              </a:lnSpc>
            </a:pPr>
            <a:r>
              <a:rPr lang="en-US" altLang="ko-KR" sz="1800" dirty="0">
                <a:solidFill>
                  <a:srgbClr val="6600FF"/>
                </a:solidFill>
              </a:rPr>
              <a:t>Dynamic RAM</a:t>
            </a:r>
          </a:p>
          <a:p>
            <a:pPr lvl="1">
              <a:lnSpc>
                <a:spcPct val="90000"/>
              </a:lnSpc>
              <a:buFont typeface="Wingdings" panose="05000000000000000000" pitchFamily="2" charset="2"/>
              <a:buChar char="§"/>
            </a:pPr>
            <a:r>
              <a:rPr lang="en-US" altLang="ko-KR" sz="1800" dirty="0">
                <a:solidFill>
                  <a:schemeClr val="tx1"/>
                </a:solidFill>
              </a:rPr>
              <a:t>Stores binary information in the form of electric charge stored inside the capacitor.</a:t>
            </a:r>
          </a:p>
          <a:p>
            <a:pPr lvl="1">
              <a:lnSpc>
                <a:spcPct val="90000"/>
              </a:lnSpc>
              <a:buFont typeface="Wingdings" panose="05000000000000000000" pitchFamily="2" charset="2"/>
              <a:buChar char="§"/>
            </a:pPr>
            <a:r>
              <a:rPr lang="en-US" altLang="ko-KR" sz="1800" dirty="0">
                <a:solidFill>
                  <a:schemeClr val="tx1"/>
                </a:solidFill>
              </a:rPr>
              <a:t>The capacitors are provided by MOS transistors.</a:t>
            </a:r>
          </a:p>
          <a:p>
            <a:pPr lvl="1">
              <a:lnSpc>
                <a:spcPct val="90000"/>
              </a:lnSpc>
              <a:buFont typeface="Wingdings" panose="05000000000000000000" pitchFamily="2" charset="2"/>
              <a:buChar char="§"/>
            </a:pPr>
            <a:r>
              <a:rPr lang="en-US" altLang="ko-KR" sz="1800" dirty="0">
                <a:solidFill>
                  <a:schemeClr val="tx1"/>
                </a:solidFill>
              </a:rPr>
              <a:t>Refreshing circuit is required to refresh the memory.</a:t>
            </a:r>
          </a:p>
          <a:p>
            <a:pPr lvl="1">
              <a:lnSpc>
                <a:spcPct val="90000"/>
              </a:lnSpc>
              <a:buFont typeface="Arial" panose="020B0604020202020204" pitchFamily="34" charset="0"/>
              <a:buChar char="•"/>
            </a:pPr>
            <a:r>
              <a:rPr lang="en-US" altLang="ko-KR" sz="1800" dirty="0">
                <a:solidFill>
                  <a:schemeClr val="tx1"/>
                </a:solidFill>
              </a:rPr>
              <a:t>Dynamic RAM offers reduced power consumption and large storage capacity. </a:t>
            </a:r>
          </a:p>
          <a:p>
            <a:pPr lvl="1">
              <a:lnSpc>
                <a:spcPct val="90000"/>
              </a:lnSpc>
              <a:buFont typeface="Arial" panose="020B0604020202020204" pitchFamily="34" charset="0"/>
              <a:buChar char="•"/>
            </a:pPr>
            <a:r>
              <a:rPr lang="en-US" altLang="ko-KR" sz="1800" dirty="0">
                <a:solidFill>
                  <a:schemeClr val="tx1"/>
                </a:solidFill>
              </a:rPr>
              <a:t>It is used to construct main memory.</a:t>
            </a:r>
          </a:p>
          <a:p>
            <a:pPr lvl="1">
              <a:lnSpc>
                <a:spcPct val="90000"/>
              </a:lnSpc>
              <a:buFont typeface="Arial" panose="020B0604020202020204" pitchFamily="34" charset="0"/>
              <a:buChar char="•"/>
            </a:pPr>
            <a:endParaRPr lang="en-US" altLang="ko-KR" sz="1800" dirty="0"/>
          </a:p>
          <a:p>
            <a:pPr lvl="1">
              <a:lnSpc>
                <a:spcPct val="90000"/>
              </a:lnSpc>
              <a:buFont typeface="Arial" panose="020B0604020202020204" pitchFamily="34" charset="0"/>
              <a:buChar char="•"/>
            </a:pPr>
            <a:endParaRPr lang="en-US" altLang="ko-KR" sz="1800" dirty="0"/>
          </a:p>
          <a:p>
            <a:pPr lvl="1">
              <a:lnSpc>
                <a:spcPct val="90000"/>
              </a:lnSpc>
              <a:buFont typeface="Wingdings" panose="05000000000000000000" pitchFamily="2" charset="2"/>
              <a:buNone/>
            </a:pPr>
            <a:endParaRPr lang="en-US" altLang="ko-KR" sz="1800" dirty="0"/>
          </a:p>
          <a:p>
            <a:pPr lvl="1">
              <a:lnSpc>
                <a:spcPct val="90000"/>
              </a:lnSpc>
            </a:pPr>
            <a:endParaRPr lang="en-US" altLang="ko-KR" sz="1800" dirty="0"/>
          </a:p>
          <a:p>
            <a:pPr lvl="1">
              <a:lnSpc>
                <a:spcPct val="90000"/>
              </a:lnSpc>
            </a:pPr>
            <a:endParaRPr lang="en-US" altLang="ko-KR" sz="1800" dirty="0"/>
          </a:p>
          <a:p>
            <a:pPr lvl="1">
              <a:lnSpc>
                <a:spcPct val="90000"/>
              </a:lnSpc>
            </a:pPr>
            <a:endParaRPr lang="en-US" altLang="ko-KR" sz="1800" dirty="0"/>
          </a:p>
          <a:p>
            <a:pPr lvl="2">
              <a:lnSpc>
                <a:spcPct val="90000"/>
              </a:lnSpc>
            </a:pPr>
            <a:r>
              <a:rPr lang="en-US" altLang="ko-KR" dirty="0"/>
              <a:t>Typical RAM chip :</a:t>
            </a:r>
            <a:endParaRPr lang="en-US" altLang="ko-KR" b="1" i="1" dirty="0">
              <a:solidFill>
                <a:srgbClr val="FF00FF"/>
              </a:solidFill>
            </a:endParaRPr>
          </a:p>
          <a:p>
            <a:pPr lvl="3">
              <a:lnSpc>
                <a:spcPct val="90000"/>
              </a:lnSpc>
            </a:pPr>
            <a:r>
              <a:rPr lang="en-US" altLang="ko-KR" dirty="0"/>
              <a:t>128 X 8 RAM : 2</a:t>
            </a:r>
            <a:r>
              <a:rPr lang="en-US" altLang="ko-KR" baseline="30000" dirty="0"/>
              <a:t>7</a:t>
            </a:r>
            <a:r>
              <a:rPr lang="en-US" altLang="ko-KR" dirty="0"/>
              <a:t> = 128 (</a:t>
            </a:r>
            <a:r>
              <a:rPr lang="en-US" altLang="ko-KR" dirty="0">
                <a:solidFill>
                  <a:srgbClr val="CC9900"/>
                </a:solidFill>
              </a:rPr>
              <a:t>7 bit address lines</a:t>
            </a:r>
            <a:r>
              <a:rPr lang="en-US" altLang="ko-KR" dirty="0"/>
              <a:t>)</a:t>
            </a:r>
          </a:p>
          <a:p>
            <a:pPr lvl="2">
              <a:lnSpc>
                <a:spcPct val="90000"/>
              </a:lnSpc>
            </a:pPr>
            <a:r>
              <a:rPr lang="en-US" altLang="ko-KR" dirty="0"/>
              <a:t>Typical ROM chip:</a:t>
            </a:r>
            <a:endParaRPr lang="en-US" altLang="ko-KR" b="1" i="1" dirty="0">
              <a:solidFill>
                <a:srgbClr val="FF00FF"/>
              </a:solidFill>
            </a:endParaRPr>
          </a:p>
          <a:p>
            <a:pPr lvl="3">
              <a:lnSpc>
                <a:spcPct val="90000"/>
              </a:lnSpc>
            </a:pPr>
            <a:r>
              <a:rPr lang="en-US" altLang="ko-KR" dirty="0"/>
              <a:t>512 X 8 ROM : 2</a:t>
            </a:r>
            <a:r>
              <a:rPr lang="en-US" altLang="ko-KR" baseline="30000" dirty="0"/>
              <a:t>9</a:t>
            </a:r>
            <a:r>
              <a:rPr lang="en-US" altLang="ko-KR" dirty="0"/>
              <a:t> = 512 (</a:t>
            </a:r>
            <a:r>
              <a:rPr lang="en-US" altLang="ko-KR" dirty="0">
                <a:solidFill>
                  <a:srgbClr val="CC9900"/>
                </a:solidFill>
              </a:rPr>
              <a:t>9 bit address lines</a:t>
            </a:r>
          </a:p>
          <a:p>
            <a:pPr lvl="3">
              <a:lnSpc>
                <a:spcPct val="90000"/>
              </a:lnSpc>
            </a:pPr>
            <a:endParaRPr lang="en-US" altLang="ko-KR" dirty="0"/>
          </a:p>
          <a:p>
            <a:pPr lvl="3">
              <a:lnSpc>
                <a:spcPct val="90000"/>
              </a:lnSpc>
            </a:pPr>
            <a:endParaRPr lang="en-US" altLang="ko-KR" dirty="0"/>
          </a:p>
        </p:txBody>
      </p:sp>
      <p:sp>
        <p:nvSpPr>
          <p:cNvPr id="6147" name="Rectangle 2">
            <a:extLst>
              <a:ext uri="{FF2B5EF4-FFF2-40B4-BE49-F238E27FC236}">
                <a16:creationId xmlns:a16="http://schemas.microsoft.com/office/drawing/2014/main" id="{08B96308-A018-4404-B4E8-62B1DE4A16EF}"/>
              </a:ext>
            </a:extLst>
          </p:cNvPr>
          <p:cNvSpPr>
            <a:spLocks noGrp="1" noChangeArrowheads="1"/>
          </p:cNvSpPr>
          <p:nvPr>
            <p:ph type="title"/>
          </p:nvPr>
        </p:nvSpPr>
        <p:spPr>
          <a:xfrm>
            <a:off x="457200" y="76200"/>
            <a:ext cx="8229600" cy="1143000"/>
          </a:xfrm>
        </p:spPr>
        <p:txBody>
          <a:bodyPr/>
          <a:lstStyle/>
          <a:p>
            <a:r>
              <a:rPr lang="en-US" altLang="ko-KR" dirty="0"/>
              <a:t>Random Access Memory (RAM)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1BD9F7F-B901-41AC-B407-CF76C3596FD0}"/>
              </a:ext>
            </a:extLst>
          </p:cNvPr>
          <p:cNvSpPr>
            <a:spLocks noGrp="1"/>
          </p:cNvSpPr>
          <p:nvPr>
            <p:ph type="title"/>
          </p:nvPr>
        </p:nvSpPr>
        <p:spPr>
          <a:xfrm>
            <a:off x="642938" y="0"/>
            <a:ext cx="7772400" cy="685800"/>
          </a:xfrm>
        </p:spPr>
        <p:txBody>
          <a:bodyPr/>
          <a:lstStyle/>
          <a:p>
            <a:r>
              <a:rPr lang="en-US" altLang="en-US"/>
              <a:t>Three State Buffer</a:t>
            </a:r>
          </a:p>
        </p:txBody>
      </p:sp>
      <p:grpSp>
        <p:nvGrpSpPr>
          <p:cNvPr id="7171" name="Group 3">
            <a:extLst>
              <a:ext uri="{FF2B5EF4-FFF2-40B4-BE49-F238E27FC236}">
                <a16:creationId xmlns:a16="http://schemas.microsoft.com/office/drawing/2014/main" id="{E620FB7A-4334-4015-8674-7EA477B92F73}"/>
              </a:ext>
            </a:extLst>
          </p:cNvPr>
          <p:cNvGrpSpPr>
            <a:grpSpLocks/>
          </p:cNvGrpSpPr>
          <p:nvPr/>
        </p:nvGrpSpPr>
        <p:grpSpPr bwMode="auto">
          <a:xfrm>
            <a:off x="6569075" y="4616450"/>
            <a:ext cx="1143000" cy="714375"/>
            <a:chOff x="930" y="1518"/>
            <a:chExt cx="1200" cy="786"/>
          </a:xfrm>
        </p:grpSpPr>
        <p:sp>
          <p:nvSpPr>
            <p:cNvPr id="7223" name="AutoShape 4">
              <a:extLst>
                <a:ext uri="{FF2B5EF4-FFF2-40B4-BE49-F238E27FC236}">
                  <a16:creationId xmlns:a16="http://schemas.microsoft.com/office/drawing/2014/main" id="{A046BDA2-614E-4F1A-8390-5F70578EE9E4}"/>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24" name="Line 5">
              <a:extLst>
                <a:ext uri="{FF2B5EF4-FFF2-40B4-BE49-F238E27FC236}">
                  <a16:creationId xmlns:a16="http://schemas.microsoft.com/office/drawing/2014/main" id="{0B3D6BE7-8296-420A-98B7-F02E7BADD546}"/>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25" name="Line 6">
              <a:extLst>
                <a:ext uri="{FF2B5EF4-FFF2-40B4-BE49-F238E27FC236}">
                  <a16:creationId xmlns:a16="http://schemas.microsoft.com/office/drawing/2014/main" id="{C9D561BB-AE9E-41FB-8E6D-55D2765F3243}"/>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26" name="Line 7">
              <a:extLst>
                <a:ext uri="{FF2B5EF4-FFF2-40B4-BE49-F238E27FC236}">
                  <a16:creationId xmlns:a16="http://schemas.microsoft.com/office/drawing/2014/main" id="{FB2BE709-AF14-4505-A0FA-EF6FB1C54438}"/>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7172" name="Group 8">
            <a:extLst>
              <a:ext uri="{FF2B5EF4-FFF2-40B4-BE49-F238E27FC236}">
                <a16:creationId xmlns:a16="http://schemas.microsoft.com/office/drawing/2014/main" id="{BF7F4E63-6F37-4EF7-8FA9-3D918FB41217}"/>
              </a:ext>
            </a:extLst>
          </p:cNvPr>
          <p:cNvGrpSpPr>
            <a:grpSpLocks/>
          </p:cNvGrpSpPr>
          <p:nvPr/>
        </p:nvGrpSpPr>
        <p:grpSpPr bwMode="auto">
          <a:xfrm>
            <a:off x="7178675" y="5683250"/>
            <a:ext cx="1143000" cy="714375"/>
            <a:chOff x="930" y="1518"/>
            <a:chExt cx="1200" cy="786"/>
          </a:xfrm>
        </p:grpSpPr>
        <p:sp>
          <p:nvSpPr>
            <p:cNvPr id="7219" name="AutoShape 9">
              <a:extLst>
                <a:ext uri="{FF2B5EF4-FFF2-40B4-BE49-F238E27FC236}">
                  <a16:creationId xmlns:a16="http://schemas.microsoft.com/office/drawing/2014/main" id="{787940FA-2808-456B-8388-61433F0406BB}"/>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20" name="Line 10">
              <a:extLst>
                <a:ext uri="{FF2B5EF4-FFF2-40B4-BE49-F238E27FC236}">
                  <a16:creationId xmlns:a16="http://schemas.microsoft.com/office/drawing/2014/main" id="{E95E11FD-862A-48D7-A553-5A500717904B}"/>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21" name="Line 11">
              <a:extLst>
                <a:ext uri="{FF2B5EF4-FFF2-40B4-BE49-F238E27FC236}">
                  <a16:creationId xmlns:a16="http://schemas.microsoft.com/office/drawing/2014/main" id="{4D023F66-670F-4DCB-9D1F-924B0BB484CB}"/>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22" name="Line 12">
              <a:extLst>
                <a:ext uri="{FF2B5EF4-FFF2-40B4-BE49-F238E27FC236}">
                  <a16:creationId xmlns:a16="http://schemas.microsoft.com/office/drawing/2014/main" id="{4A2EC017-1BF6-4777-8303-0C16C91336BD}"/>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7173" name="AutoShape 13">
            <a:extLst>
              <a:ext uri="{FF2B5EF4-FFF2-40B4-BE49-F238E27FC236}">
                <a16:creationId xmlns:a16="http://schemas.microsoft.com/office/drawing/2014/main" id="{5F621AB3-9F7A-435A-BE1A-D3B7B8B8775F}"/>
              </a:ext>
            </a:extLst>
          </p:cNvPr>
          <p:cNvSpPr>
            <a:spLocks noChangeArrowheads="1"/>
          </p:cNvSpPr>
          <p:nvPr/>
        </p:nvSpPr>
        <p:spPr bwMode="auto">
          <a:xfrm rot="5400000">
            <a:off x="5659437" y="2808288"/>
            <a:ext cx="523875" cy="501650"/>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74" name="Line 14">
            <a:extLst>
              <a:ext uri="{FF2B5EF4-FFF2-40B4-BE49-F238E27FC236}">
                <a16:creationId xmlns:a16="http://schemas.microsoft.com/office/drawing/2014/main" id="{6D77860A-31B3-499C-A697-79607DB7FB35}"/>
              </a:ext>
            </a:extLst>
          </p:cNvPr>
          <p:cNvSpPr>
            <a:spLocks noChangeShapeType="1"/>
          </p:cNvSpPr>
          <p:nvPr/>
        </p:nvSpPr>
        <p:spPr bwMode="auto">
          <a:xfrm>
            <a:off x="6172200" y="3059113"/>
            <a:ext cx="2514600" cy="4762"/>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75" name="Line 15">
            <a:extLst>
              <a:ext uri="{FF2B5EF4-FFF2-40B4-BE49-F238E27FC236}">
                <a16:creationId xmlns:a16="http://schemas.microsoft.com/office/drawing/2014/main" id="{BDEBC945-C25C-4302-952D-43E9F5720C67}"/>
              </a:ext>
            </a:extLst>
          </p:cNvPr>
          <p:cNvSpPr>
            <a:spLocks noChangeShapeType="1"/>
          </p:cNvSpPr>
          <p:nvPr/>
        </p:nvSpPr>
        <p:spPr bwMode="auto">
          <a:xfrm>
            <a:off x="5349875" y="3059113"/>
            <a:ext cx="320675"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176" name="Line 16">
            <a:extLst>
              <a:ext uri="{FF2B5EF4-FFF2-40B4-BE49-F238E27FC236}">
                <a16:creationId xmlns:a16="http://schemas.microsoft.com/office/drawing/2014/main" id="{F26BB598-9E75-4B00-A6DE-7118F772F6D3}"/>
              </a:ext>
            </a:extLst>
          </p:cNvPr>
          <p:cNvSpPr>
            <a:spLocks noChangeShapeType="1"/>
          </p:cNvSpPr>
          <p:nvPr/>
        </p:nvSpPr>
        <p:spPr bwMode="auto">
          <a:xfrm rot="-5400000">
            <a:off x="5737225" y="27590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7177" name="Group 17">
            <a:extLst>
              <a:ext uri="{FF2B5EF4-FFF2-40B4-BE49-F238E27FC236}">
                <a16:creationId xmlns:a16="http://schemas.microsoft.com/office/drawing/2014/main" id="{2DC50864-76FE-4260-A6D3-F5ACACF9F5AA}"/>
              </a:ext>
            </a:extLst>
          </p:cNvPr>
          <p:cNvGrpSpPr>
            <a:grpSpLocks/>
          </p:cNvGrpSpPr>
          <p:nvPr/>
        </p:nvGrpSpPr>
        <p:grpSpPr bwMode="auto">
          <a:xfrm>
            <a:off x="5959475" y="3625850"/>
            <a:ext cx="1143000" cy="714375"/>
            <a:chOff x="930" y="1518"/>
            <a:chExt cx="1200" cy="786"/>
          </a:xfrm>
        </p:grpSpPr>
        <p:sp>
          <p:nvSpPr>
            <p:cNvPr id="7215" name="AutoShape 18">
              <a:extLst>
                <a:ext uri="{FF2B5EF4-FFF2-40B4-BE49-F238E27FC236}">
                  <a16:creationId xmlns:a16="http://schemas.microsoft.com/office/drawing/2014/main" id="{7CE90753-79FC-454F-9FC8-48ABB4C4E941}"/>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16" name="Line 19">
              <a:extLst>
                <a:ext uri="{FF2B5EF4-FFF2-40B4-BE49-F238E27FC236}">
                  <a16:creationId xmlns:a16="http://schemas.microsoft.com/office/drawing/2014/main" id="{66E14A3A-A944-444D-893C-3BE1E8B6B675}"/>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17" name="Line 20">
              <a:extLst>
                <a:ext uri="{FF2B5EF4-FFF2-40B4-BE49-F238E27FC236}">
                  <a16:creationId xmlns:a16="http://schemas.microsoft.com/office/drawing/2014/main" id="{ABDABF86-70DA-42E0-88F7-2A122BDD4CDF}"/>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18" name="Line 21">
              <a:extLst>
                <a:ext uri="{FF2B5EF4-FFF2-40B4-BE49-F238E27FC236}">
                  <a16:creationId xmlns:a16="http://schemas.microsoft.com/office/drawing/2014/main" id="{A876C5F8-90CF-4330-A380-DD0FD5B93D93}"/>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7178" name="Line 22">
            <a:extLst>
              <a:ext uri="{FF2B5EF4-FFF2-40B4-BE49-F238E27FC236}">
                <a16:creationId xmlns:a16="http://schemas.microsoft.com/office/drawing/2014/main" id="{688E1A21-488E-4900-8E41-41CF34B26538}"/>
              </a:ext>
            </a:extLst>
          </p:cNvPr>
          <p:cNvSpPr>
            <a:spLocks noChangeShapeType="1"/>
          </p:cNvSpPr>
          <p:nvPr/>
        </p:nvSpPr>
        <p:spPr bwMode="auto">
          <a:xfrm flipV="1">
            <a:off x="8321675" y="3060700"/>
            <a:ext cx="0" cy="30480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79" name="Line 23">
            <a:extLst>
              <a:ext uri="{FF2B5EF4-FFF2-40B4-BE49-F238E27FC236}">
                <a16:creationId xmlns:a16="http://schemas.microsoft.com/office/drawing/2014/main" id="{E52DAA7A-37EC-48A9-A8CF-A4A7E09599AB}"/>
              </a:ext>
            </a:extLst>
          </p:cNvPr>
          <p:cNvSpPr>
            <a:spLocks noChangeShapeType="1"/>
          </p:cNvSpPr>
          <p:nvPr/>
        </p:nvSpPr>
        <p:spPr bwMode="auto">
          <a:xfrm flipV="1">
            <a:off x="7712075" y="3063875"/>
            <a:ext cx="0" cy="19812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80" name="Line 24">
            <a:extLst>
              <a:ext uri="{FF2B5EF4-FFF2-40B4-BE49-F238E27FC236}">
                <a16:creationId xmlns:a16="http://schemas.microsoft.com/office/drawing/2014/main" id="{A7A7F47F-CD6F-44B1-B492-2E69029AB1EB}"/>
              </a:ext>
            </a:extLst>
          </p:cNvPr>
          <p:cNvSpPr>
            <a:spLocks noChangeShapeType="1"/>
          </p:cNvSpPr>
          <p:nvPr/>
        </p:nvSpPr>
        <p:spPr bwMode="auto">
          <a:xfrm flipV="1">
            <a:off x="7102475" y="3060700"/>
            <a:ext cx="0" cy="9906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81" name="Line 25">
            <a:extLst>
              <a:ext uri="{FF2B5EF4-FFF2-40B4-BE49-F238E27FC236}">
                <a16:creationId xmlns:a16="http://schemas.microsoft.com/office/drawing/2014/main" id="{CD3C504E-7B18-411D-8A80-75B8D7B6B38A}"/>
              </a:ext>
            </a:extLst>
          </p:cNvPr>
          <p:cNvSpPr>
            <a:spLocks noChangeShapeType="1"/>
          </p:cNvSpPr>
          <p:nvPr/>
        </p:nvSpPr>
        <p:spPr bwMode="auto">
          <a:xfrm flipH="1">
            <a:off x="3902075" y="2619375"/>
            <a:ext cx="1981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2" name="Line 26">
            <a:extLst>
              <a:ext uri="{FF2B5EF4-FFF2-40B4-BE49-F238E27FC236}">
                <a16:creationId xmlns:a16="http://schemas.microsoft.com/office/drawing/2014/main" id="{4D1DB067-90EE-4953-BA15-693E069B89DB}"/>
              </a:ext>
            </a:extLst>
          </p:cNvPr>
          <p:cNvSpPr>
            <a:spLocks noChangeShapeType="1"/>
          </p:cNvSpPr>
          <p:nvPr/>
        </p:nvSpPr>
        <p:spPr bwMode="auto">
          <a:xfrm flipH="1">
            <a:off x="4562475" y="3625850"/>
            <a:ext cx="19462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3" name="Line 27">
            <a:extLst>
              <a:ext uri="{FF2B5EF4-FFF2-40B4-BE49-F238E27FC236}">
                <a16:creationId xmlns:a16="http://schemas.microsoft.com/office/drawing/2014/main" id="{428DFDCD-F8B5-431C-A5ED-1AF17EF3092C}"/>
              </a:ext>
            </a:extLst>
          </p:cNvPr>
          <p:cNvSpPr>
            <a:spLocks noChangeShapeType="1"/>
          </p:cNvSpPr>
          <p:nvPr/>
        </p:nvSpPr>
        <p:spPr bwMode="auto">
          <a:xfrm flipH="1">
            <a:off x="4314825" y="4616450"/>
            <a:ext cx="280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4" name="Line 28">
            <a:extLst>
              <a:ext uri="{FF2B5EF4-FFF2-40B4-BE49-F238E27FC236}">
                <a16:creationId xmlns:a16="http://schemas.microsoft.com/office/drawing/2014/main" id="{8957E024-3A25-4DA8-9958-125B3A52E40D}"/>
              </a:ext>
            </a:extLst>
          </p:cNvPr>
          <p:cNvSpPr>
            <a:spLocks noChangeShapeType="1"/>
          </p:cNvSpPr>
          <p:nvPr/>
        </p:nvSpPr>
        <p:spPr bwMode="auto">
          <a:xfrm flipV="1">
            <a:off x="4572000" y="2940050"/>
            <a:ext cx="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5" name="Line 29">
            <a:extLst>
              <a:ext uri="{FF2B5EF4-FFF2-40B4-BE49-F238E27FC236}">
                <a16:creationId xmlns:a16="http://schemas.microsoft.com/office/drawing/2014/main" id="{82C8385D-863C-4847-9827-D9DCEEED526F}"/>
              </a:ext>
            </a:extLst>
          </p:cNvPr>
          <p:cNvSpPr>
            <a:spLocks noChangeShapeType="1"/>
          </p:cNvSpPr>
          <p:nvPr/>
        </p:nvSpPr>
        <p:spPr bwMode="auto">
          <a:xfrm flipH="1">
            <a:off x="3886200" y="294005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6" name="Line 30">
            <a:extLst>
              <a:ext uri="{FF2B5EF4-FFF2-40B4-BE49-F238E27FC236}">
                <a16:creationId xmlns:a16="http://schemas.microsoft.com/office/drawing/2014/main" id="{4469C112-0F0B-4B07-AC46-AC03B19EB381}"/>
              </a:ext>
            </a:extLst>
          </p:cNvPr>
          <p:cNvSpPr>
            <a:spLocks noChangeShapeType="1"/>
          </p:cNvSpPr>
          <p:nvPr/>
        </p:nvSpPr>
        <p:spPr bwMode="auto">
          <a:xfrm flipV="1">
            <a:off x="4327525" y="3244850"/>
            <a:ext cx="0" cy="1371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7" name="Line 31">
            <a:extLst>
              <a:ext uri="{FF2B5EF4-FFF2-40B4-BE49-F238E27FC236}">
                <a16:creationId xmlns:a16="http://schemas.microsoft.com/office/drawing/2014/main" id="{FDDE2A0F-1418-44B4-A65D-C8BC57ED0C19}"/>
              </a:ext>
            </a:extLst>
          </p:cNvPr>
          <p:cNvSpPr>
            <a:spLocks noChangeShapeType="1"/>
          </p:cNvSpPr>
          <p:nvPr/>
        </p:nvSpPr>
        <p:spPr bwMode="auto">
          <a:xfrm flipH="1">
            <a:off x="3870325" y="3244850"/>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8" name="Line 32">
            <a:extLst>
              <a:ext uri="{FF2B5EF4-FFF2-40B4-BE49-F238E27FC236}">
                <a16:creationId xmlns:a16="http://schemas.microsoft.com/office/drawing/2014/main" id="{A940D43B-DE21-48E1-8122-C873F84A76EC}"/>
              </a:ext>
            </a:extLst>
          </p:cNvPr>
          <p:cNvSpPr>
            <a:spLocks noChangeShapeType="1"/>
          </p:cNvSpPr>
          <p:nvPr/>
        </p:nvSpPr>
        <p:spPr bwMode="auto">
          <a:xfrm flipH="1">
            <a:off x="4054475" y="5683250"/>
            <a:ext cx="36750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9" name="Line 33">
            <a:extLst>
              <a:ext uri="{FF2B5EF4-FFF2-40B4-BE49-F238E27FC236}">
                <a16:creationId xmlns:a16="http://schemas.microsoft.com/office/drawing/2014/main" id="{A7710EA4-E7FD-4F90-A85A-BE7FBDEBD0A9}"/>
              </a:ext>
            </a:extLst>
          </p:cNvPr>
          <p:cNvSpPr>
            <a:spLocks noChangeShapeType="1"/>
          </p:cNvSpPr>
          <p:nvPr/>
        </p:nvSpPr>
        <p:spPr bwMode="auto">
          <a:xfrm flipV="1">
            <a:off x="4054475" y="3625850"/>
            <a:ext cx="0" cy="2057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0" name="Line 34">
            <a:extLst>
              <a:ext uri="{FF2B5EF4-FFF2-40B4-BE49-F238E27FC236}">
                <a16:creationId xmlns:a16="http://schemas.microsoft.com/office/drawing/2014/main" id="{24A5D3B8-AC24-4E52-8549-E053F1AD1875}"/>
              </a:ext>
            </a:extLst>
          </p:cNvPr>
          <p:cNvSpPr>
            <a:spLocks noChangeShapeType="1"/>
          </p:cNvSpPr>
          <p:nvPr/>
        </p:nvSpPr>
        <p:spPr bwMode="auto">
          <a:xfrm flipH="1">
            <a:off x="3749675" y="3625850"/>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1" name="Rectangle 35">
            <a:extLst>
              <a:ext uri="{FF2B5EF4-FFF2-40B4-BE49-F238E27FC236}">
                <a16:creationId xmlns:a16="http://schemas.microsoft.com/office/drawing/2014/main" id="{210A47E5-6FB0-4992-BC3C-F0C6626E2EAD}"/>
              </a:ext>
            </a:extLst>
          </p:cNvPr>
          <p:cNvSpPr>
            <a:spLocks noChangeArrowheads="1"/>
          </p:cNvSpPr>
          <p:nvPr/>
        </p:nvSpPr>
        <p:spPr bwMode="auto">
          <a:xfrm>
            <a:off x="2454275" y="2254250"/>
            <a:ext cx="1447800" cy="1828800"/>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92" name="Text Box 36">
            <a:extLst>
              <a:ext uri="{FF2B5EF4-FFF2-40B4-BE49-F238E27FC236}">
                <a16:creationId xmlns:a16="http://schemas.microsoft.com/office/drawing/2014/main" id="{A537C553-5E90-4C62-A151-F9AB78D0A0DA}"/>
              </a:ext>
            </a:extLst>
          </p:cNvPr>
          <p:cNvSpPr txBox="1">
            <a:spLocks noChangeArrowheads="1"/>
          </p:cNvSpPr>
          <p:nvPr/>
        </p:nvSpPr>
        <p:spPr bwMode="auto">
          <a:xfrm>
            <a:off x="2606675" y="2863850"/>
            <a:ext cx="1143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b="1">
                <a:latin typeface="Times New Roman" panose="02020603050405020304" pitchFamily="18" charset="0"/>
                <a:cs typeface="Arial" panose="020B0604020202020204" pitchFamily="34" charset="0"/>
              </a:rPr>
              <a:t>2×4 Decoder</a:t>
            </a:r>
          </a:p>
        </p:txBody>
      </p:sp>
      <p:sp>
        <p:nvSpPr>
          <p:cNvPr id="7193" name="Line 37">
            <a:extLst>
              <a:ext uri="{FF2B5EF4-FFF2-40B4-BE49-F238E27FC236}">
                <a16:creationId xmlns:a16="http://schemas.microsoft.com/office/drawing/2014/main" id="{6A4E7C4E-C541-4AC5-A264-11A3C296F421}"/>
              </a:ext>
            </a:extLst>
          </p:cNvPr>
          <p:cNvSpPr>
            <a:spLocks noChangeShapeType="1"/>
          </p:cNvSpPr>
          <p:nvPr/>
        </p:nvSpPr>
        <p:spPr bwMode="auto">
          <a:xfrm>
            <a:off x="1676400" y="25590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4" name="Line 38">
            <a:extLst>
              <a:ext uri="{FF2B5EF4-FFF2-40B4-BE49-F238E27FC236}">
                <a16:creationId xmlns:a16="http://schemas.microsoft.com/office/drawing/2014/main" id="{96053BAC-DA06-4FA3-8D3D-9B52F240B071}"/>
              </a:ext>
            </a:extLst>
          </p:cNvPr>
          <p:cNvSpPr>
            <a:spLocks noChangeShapeType="1"/>
          </p:cNvSpPr>
          <p:nvPr/>
        </p:nvSpPr>
        <p:spPr bwMode="auto">
          <a:xfrm>
            <a:off x="1676400" y="28638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5" name="Line 39">
            <a:extLst>
              <a:ext uri="{FF2B5EF4-FFF2-40B4-BE49-F238E27FC236}">
                <a16:creationId xmlns:a16="http://schemas.microsoft.com/office/drawing/2014/main" id="{E07CE194-8EA1-4487-B627-F0E9D144BE75}"/>
              </a:ext>
            </a:extLst>
          </p:cNvPr>
          <p:cNvSpPr>
            <a:spLocks noChangeShapeType="1"/>
          </p:cNvSpPr>
          <p:nvPr/>
        </p:nvSpPr>
        <p:spPr bwMode="auto">
          <a:xfrm>
            <a:off x="1676400" y="34734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6" name="AutoShape 40">
            <a:extLst>
              <a:ext uri="{FF2B5EF4-FFF2-40B4-BE49-F238E27FC236}">
                <a16:creationId xmlns:a16="http://schemas.microsoft.com/office/drawing/2014/main" id="{1B5BE473-9FA8-4706-BC0A-21500A01701E}"/>
              </a:ext>
            </a:extLst>
          </p:cNvPr>
          <p:cNvSpPr>
            <a:spLocks/>
          </p:cNvSpPr>
          <p:nvPr/>
        </p:nvSpPr>
        <p:spPr bwMode="auto">
          <a:xfrm>
            <a:off x="1524000" y="2406650"/>
            <a:ext cx="76200" cy="609600"/>
          </a:xfrm>
          <a:prstGeom prst="leftBrace">
            <a:avLst>
              <a:gd name="adj1" fmla="val 6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97" name="Text Box 41">
            <a:extLst>
              <a:ext uri="{FF2B5EF4-FFF2-40B4-BE49-F238E27FC236}">
                <a16:creationId xmlns:a16="http://schemas.microsoft.com/office/drawing/2014/main" id="{0426DC0B-27A6-47CE-8D68-F3136F3D6C8F}"/>
              </a:ext>
            </a:extLst>
          </p:cNvPr>
          <p:cNvSpPr txBox="1">
            <a:spLocks noChangeArrowheads="1"/>
          </p:cNvSpPr>
          <p:nvPr/>
        </p:nvSpPr>
        <p:spPr bwMode="auto">
          <a:xfrm>
            <a:off x="701675" y="249872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Select</a:t>
            </a:r>
          </a:p>
        </p:txBody>
      </p:sp>
      <p:sp>
        <p:nvSpPr>
          <p:cNvPr id="7198" name="Text Box 42">
            <a:extLst>
              <a:ext uri="{FF2B5EF4-FFF2-40B4-BE49-F238E27FC236}">
                <a16:creationId xmlns:a16="http://schemas.microsoft.com/office/drawing/2014/main" id="{BF0A6397-CF97-4CF4-9C3B-EDC571EEE26A}"/>
              </a:ext>
            </a:extLst>
          </p:cNvPr>
          <p:cNvSpPr txBox="1">
            <a:spLocks noChangeArrowheads="1"/>
          </p:cNvSpPr>
          <p:nvPr/>
        </p:nvSpPr>
        <p:spPr bwMode="auto">
          <a:xfrm>
            <a:off x="746125" y="3257550"/>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Enable</a:t>
            </a:r>
          </a:p>
        </p:txBody>
      </p:sp>
      <p:sp>
        <p:nvSpPr>
          <p:cNvPr id="7199" name="Text Box 43">
            <a:extLst>
              <a:ext uri="{FF2B5EF4-FFF2-40B4-BE49-F238E27FC236}">
                <a16:creationId xmlns:a16="http://schemas.microsoft.com/office/drawing/2014/main" id="{7AB5CEC2-3205-4B19-81F9-84FBED88CD15}"/>
              </a:ext>
            </a:extLst>
          </p:cNvPr>
          <p:cNvSpPr txBox="1">
            <a:spLocks noChangeArrowheads="1"/>
          </p:cNvSpPr>
          <p:nvPr/>
        </p:nvSpPr>
        <p:spPr bwMode="auto">
          <a:xfrm>
            <a:off x="3613150" y="24685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0</a:t>
            </a:r>
          </a:p>
        </p:txBody>
      </p:sp>
      <p:sp>
        <p:nvSpPr>
          <p:cNvPr id="7200" name="Text Box 44">
            <a:extLst>
              <a:ext uri="{FF2B5EF4-FFF2-40B4-BE49-F238E27FC236}">
                <a16:creationId xmlns:a16="http://schemas.microsoft.com/office/drawing/2014/main" id="{3B0FDA8E-8708-40D4-88B4-DAE47E654AC9}"/>
              </a:ext>
            </a:extLst>
          </p:cNvPr>
          <p:cNvSpPr txBox="1">
            <a:spLocks noChangeArrowheads="1"/>
          </p:cNvSpPr>
          <p:nvPr/>
        </p:nvSpPr>
        <p:spPr bwMode="auto">
          <a:xfrm>
            <a:off x="3609975" y="277495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1</a:t>
            </a:r>
          </a:p>
        </p:txBody>
      </p:sp>
      <p:sp>
        <p:nvSpPr>
          <p:cNvPr id="7201" name="Text Box 45">
            <a:extLst>
              <a:ext uri="{FF2B5EF4-FFF2-40B4-BE49-F238E27FC236}">
                <a16:creationId xmlns:a16="http://schemas.microsoft.com/office/drawing/2014/main" id="{67EE3411-F625-4B23-8BA5-FE1D8F2979D6}"/>
              </a:ext>
            </a:extLst>
          </p:cNvPr>
          <p:cNvSpPr txBox="1">
            <a:spLocks noChangeArrowheads="1"/>
          </p:cNvSpPr>
          <p:nvPr/>
        </p:nvSpPr>
        <p:spPr bwMode="auto">
          <a:xfrm>
            <a:off x="3597275" y="309562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2</a:t>
            </a:r>
          </a:p>
        </p:txBody>
      </p:sp>
      <p:sp>
        <p:nvSpPr>
          <p:cNvPr id="7202" name="Text Box 46">
            <a:extLst>
              <a:ext uri="{FF2B5EF4-FFF2-40B4-BE49-F238E27FC236}">
                <a16:creationId xmlns:a16="http://schemas.microsoft.com/office/drawing/2014/main" id="{C7A443A0-0D00-4717-8C62-379DE07C6B66}"/>
              </a:ext>
            </a:extLst>
          </p:cNvPr>
          <p:cNvSpPr txBox="1">
            <a:spLocks noChangeArrowheads="1"/>
          </p:cNvSpPr>
          <p:nvPr/>
        </p:nvSpPr>
        <p:spPr bwMode="auto">
          <a:xfrm>
            <a:off x="3597275" y="347503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3</a:t>
            </a:r>
          </a:p>
        </p:txBody>
      </p:sp>
      <p:sp>
        <p:nvSpPr>
          <p:cNvPr id="7203" name="Text Box 47">
            <a:extLst>
              <a:ext uri="{FF2B5EF4-FFF2-40B4-BE49-F238E27FC236}">
                <a16:creationId xmlns:a16="http://schemas.microsoft.com/office/drawing/2014/main" id="{89E59F2F-F831-4047-B678-53ED8176341C}"/>
              </a:ext>
            </a:extLst>
          </p:cNvPr>
          <p:cNvSpPr txBox="1">
            <a:spLocks noChangeArrowheads="1"/>
          </p:cNvSpPr>
          <p:nvPr/>
        </p:nvSpPr>
        <p:spPr bwMode="auto">
          <a:xfrm>
            <a:off x="2333625" y="2390775"/>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S</a:t>
            </a:r>
            <a:r>
              <a:rPr lang="en-US" altLang="en-US" sz="1600" baseline="-25000">
                <a:latin typeface="Times New Roman" panose="02020603050405020304" pitchFamily="18" charset="0"/>
                <a:cs typeface="Arial" panose="020B0604020202020204" pitchFamily="34" charset="0"/>
              </a:rPr>
              <a:t>1</a:t>
            </a:r>
            <a:endParaRPr lang="en-US" altLang="en-US" sz="1600">
              <a:latin typeface="Times New Roman" panose="02020603050405020304" pitchFamily="18" charset="0"/>
              <a:cs typeface="Arial" panose="020B0604020202020204" pitchFamily="34" charset="0"/>
            </a:endParaRPr>
          </a:p>
        </p:txBody>
      </p:sp>
      <p:sp>
        <p:nvSpPr>
          <p:cNvPr id="7204" name="Text Box 48">
            <a:extLst>
              <a:ext uri="{FF2B5EF4-FFF2-40B4-BE49-F238E27FC236}">
                <a16:creationId xmlns:a16="http://schemas.microsoft.com/office/drawing/2014/main" id="{57AFFE3B-1B5C-4980-9AF9-BB512264003A}"/>
              </a:ext>
            </a:extLst>
          </p:cNvPr>
          <p:cNvSpPr txBox="1">
            <a:spLocks noChangeArrowheads="1"/>
          </p:cNvSpPr>
          <p:nvPr/>
        </p:nvSpPr>
        <p:spPr bwMode="auto">
          <a:xfrm>
            <a:off x="2333625" y="2695575"/>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S</a:t>
            </a:r>
            <a:r>
              <a:rPr lang="en-US" altLang="en-US" sz="1600" baseline="-25000">
                <a:latin typeface="Times New Roman" panose="02020603050405020304" pitchFamily="18" charset="0"/>
                <a:cs typeface="Arial" panose="020B0604020202020204" pitchFamily="34" charset="0"/>
              </a:rPr>
              <a:t>0</a:t>
            </a:r>
            <a:endParaRPr lang="en-US" altLang="en-US" sz="1600">
              <a:latin typeface="Times New Roman" panose="02020603050405020304" pitchFamily="18" charset="0"/>
              <a:cs typeface="Arial" panose="020B0604020202020204" pitchFamily="34" charset="0"/>
            </a:endParaRPr>
          </a:p>
        </p:txBody>
      </p:sp>
      <p:sp>
        <p:nvSpPr>
          <p:cNvPr id="7205" name="Text Box 49">
            <a:extLst>
              <a:ext uri="{FF2B5EF4-FFF2-40B4-BE49-F238E27FC236}">
                <a16:creationId xmlns:a16="http://schemas.microsoft.com/office/drawing/2014/main" id="{7B0A7B06-8BAB-42DA-9CF5-9D94764DA184}"/>
              </a:ext>
            </a:extLst>
          </p:cNvPr>
          <p:cNvSpPr txBox="1">
            <a:spLocks noChangeArrowheads="1"/>
          </p:cNvSpPr>
          <p:nvPr/>
        </p:nvSpPr>
        <p:spPr bwMode="auto">
          <a:xfrm>
            <a:off x="2286000" y="328930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E</a:t>
            </a:r>
          </a:p>
        </p:txBody>
      </p:sp>
      <p:sp>
        <p:nvSpPr>
          <p:cNvPr id="7206" name="Text Box 51">
            <a:extLst>
              <a:ext uri="{FF2B5EF4-FFF2-40B4-BE49-F238E27FC236}">
                <a16:creationId xmlns:a16="http://schemas.microsoft.com/office/drawing/2014/main" id="{647E8D78-FB94-47B3-AD6C-3C832A52F67B}"/>
              </a:ext>
            </a:extLst>
          </p:cNvPr>
          <p:cNvSpPr txBox="1">
            <a:spLocks noChangeArrowheads="1"/>
          </p:cNvSpPr>
          <p:nvPr/>
        </p:nvSpPr>
        <p:spPr bwMode="auto">
          <a:xfrm>
            <a:off x="4876800" y="286385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A</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7" name="Text Box 52">
            <a:extLst>
              <a:ext uri="{FF2B5EF4-FFF2-40B4-BE49-F238E27FC236}">
                <a16:creationId xmlns:a16="http://schemas.microsoft.com/office/drawing/2014/main" id="{13430120-4540-479F-98A7-F710F4839CF8}"/>
              </a:ext>
            </a:extLst>
          </p:cNvPr>
          <p:cNvSpPr txBox="1">
            <a:spLocks noChangeArrowheads="1"/>
          </p:cNvSpPr>
          <p:nvPr/>
        </p:nvSpPr>
        <p:spPr bwMode="auto">
          <a:xfrm>
            <a:off x="5486400" y="3884613"/>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B</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8" name="Text Box 53">
            <a:extLst>
              <a:ext uri="{FF2B5EF4-FFF2-40B4-BE49-F238E27FC236}">
                <a16:creationId xmlns:a16="http://schemas.microsoft.com/office/drawing/2014/main" id="{F6557625-3ECB-4657-A3BE-9EBDC09AAC61}"/>
              </a:ext>
            </a:extLst>
          </p:cNvPr>
          <p:cNvSpPr txBox="1">
            <a:spLocks noChangeArrowheads="1"/>
          </p:cNvSpPr>
          <p:nvPr/>
        </p:nvSpPr>
        <p:spPr bwMode="auto">
          <a:xfrm>
            <a:off x="6096000" y="485933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C</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9" name="Text Box 54">
            <a:extLst>
              <a:ext uri="{FF2B5EF4-FFF2-40B4-BE49-F238E27FC236}">
                <a16:creationId xmlns:a16="http://schemas.microsoft.com/office/drawing/2014/main" id="{DF57FACC-6320-47CB-8C64-EB112D440248}"/>
              </a:ext>
            </a:extLst>
          </p:cNvPr>
          <p:cNvSpPr txBox="1">
            <a:spLocks noChangeArrowheads="1"/>
          </p:cNvSpPr>
          <p:nvPr/>
        </p:nvSpPr>
        <p:spPr bwMode="auto">
          <a:xfrm>
            <a:off x="6721475" y="5942013"/>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D</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10" name="Text Box 55">
            <a:extLst>
              <a:ext uri="{FF2B5EF4-FFF2-40B4-BE49-F238E27FC236}">
                <a16:creationId xmlns:a16="http://schemas.microsoft.com/office/drawing/2014/main" id="{0FB711EE-7E86-4C77-9108-E23393093948}"/>
              </a:ext>
            </a:extLst>
          </p:cNvPr>
          <p:cNvSpPr txBox="1">
            <a:spLocks noChangeArrowheads="1"/>
          </p:cNvSpPr>
          <p:nvPr/>
        </p:nvSpPr>
        <p:spPr bwMode="auto">
          <a:xfrm>
            <a:off x="304800" y="5454650"/>
            <a:ext cx="3505200" cy="92551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b="1">
                <a:latin typeface="Times New Roman" panose="02020603050405020304" pitchFamily="18" charset="0"/>
                <a:cs typeface="Arial" panose="020B0604020202020204" pitchFamily="34" charset="0"/>
              </a:rPr>
              <a:t>Bus line with three-state buffer (replaces MUX0 in the previous diagram)</a:t>
            </a:r>
          </a:p>
        </p:txBody>
      </p:sp>
      <p:sp>
        <p:nvSpPr>
          <p:cNvPr id="7211" name="Rectangle 69">
            <a:extLst>
              <a:ext uri="{FF2B5EF4-FFF2-40B4-BE49-F238E27FC236}">
                <a16:creationId xmlns:a16="http://schemas.microsoft.com/office/drawing/2014/main" id="{794027A2-D533-424B-ACDC-711DDCF52337}"/>
              </a:ext>
            </a:extLst>
          </p:cNvPr>
          <p:cNvSpPr>
            <a:spLocks noChangeArrowheads="1"/>
          </p:cNvSpPr>
          <p:nvPr/>
        </p:nvSpPr>
        <p:spPr bwMode="auto">
          <a:xfrm>
            <a:off x="5567363" y="1292225"/>
            <a:ext cx="20955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Output Y=A if C=1</a:t>
            </a:r>
          </a:p>
          <a:p>
            <a:pPr algn="ctr">
              <a:spcBef>
                <a:spcPct val="0"/>
              </a:spcBef>
              <a:buClrTx/>
              <a:buSzTx/>
              <a:buFontTx/>
              <a:buNone/>
            </a:pPr>
            <a:r>
              <a:rPr lang="en-US" altLang="ko-KR" sz="1400">
                <a:latin typeface="Times New Roman" panose="02020603050405020304" pitchFamily="18" charset="0"/>
              </a:rPr>
              <a:t>High-impedence if C=0</a:t>
            </a:r>
          </a:p>
          <a:p>
            <a:pPr algn="ctr" eaLnBrk="1">
              <a:spcBef>
                <a:spcPct val="0"/>
              </a:spcBef>
              <a:buClrTx/>
              <a:buSzTx/>
              <a:buFontTx/>
              <a:buNone/>
            </a:pPr>
            <a:endParaRPr lang="en-US" altLang="ko-KR" sz="1400">
              <a:latin typeface="Times New Roman" panose="02020603050405020304" pitchFamily="18" charset="0"/>
            </a:endParaRPr>
          </a:p>
        </p:txBody>
      </p:sp>
      <p:sp>
        <p:nvSpPr>
          <p:cNvPr id="7212" name="Rectangle 71">
            <a:extLst>
              <a:ext uri="{FF2B5EF4-FFF2-40B4-BE49-F238E27FC236}">
                <a16:creationId xmlns:a16="http://schemas.microsoft.com/office/drawing/2014/main" id="{6329E10B-9928-4D46-9FA2-5837FE5D78DF}"/>
              </a:ext>
            </a:extLst>
          </p:cNvPr>
          <p:cNvSpPr>
            <a:spLocks noChangeArrowheads="1"/>
          </p:cNvSpPr>
          <p:nvPr/>
        </p:nvSpPr>
        <p:spPr bwMode="auto">
          <a:xfrm>
            <a:off x="2643188" y="1285875"/>
            <a:ext cx="145256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Normal input A</a:t>
            </a:r>
          </a:p>
        </p:txBody>
      </p:sp>
      <p:sp>
        <p:nvSpPr>
          <p:cNvPr id="7213" name="Rectangle 72">
            <a:extLst>
              <a:ext uri="{FF2B5EF4-FFF2-40B4-BE49-F238E27FC236}">
                <a16:creationId xmlns:a16="http://schemas.microsoft.com/office/drawing/2014/main" id="{2E378DC4-49E0-47A3-8C6A-B9C58985E3A8}"/>
              </a:ext>
            </a:extLst>
          </p:cNvPr>
          <p:cNvSpPr>
            <a:spLocks noChangeArrowheads="1"/>
          </p:cNvSpPr>
          <p:nvPr/>
        </p:nvSpPr>
        <p:spPr bwMode="auto">
          <a:xfrm>
            <a:off x="2571750" y="1714500"/>
            <a:ext cx="14700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Control input C</a:t>
            </a:r>
          </a:p>
        </p:txBody>
      </p:sp>
      <p:pic>
        <p:nvPicPr>
          <p:cNvPr id="7214" name="Picture 2">
            <a:extLst>
              <a:ext uri="{FF2B5EF4-FFF2-40B4-BE49-F238E27FC236}">
                <a16:creationId xmlns:a16="http://schemas.microsoft.com/office/drawing/2014/main" id="{9D1FD1CE-3D72-48F7-8CB8-84C0B2A71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0" y="1143000"/>
            <a:ext cx="16859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6E10064-1533-47B3-805B-120693E8394F}"/>
              </a:ext>
            </a:extLst>
          </p:cNvPr>
          <p:cNvSpPr>
            <a:spLocks noGrp="1" noChangeArrowheads="1"/>
          </p:cNvSpPr>
          <p:nvPr>
            <p:ph type="title"/>
          </p:nvPr>
        </p:nvSpPr>
        <p:spPr>
          <a:xfrm>
            <a:off x="677863" y="274638"/>
            <a:ext cx="7747000" cy="458787"/>
          </a:xfrm>
        </p:spPr>
        <p:txBody>
          <a:bodyPr anchor="ctr"/>
          <a:lstStyle/>
          <a:p>
            <a:pPr>
              <a:defRPr/>
            </a:pPr>
            <a:r>
              <a:rPr lang="en-US" altLang="ko-KR" sz="2400" b="1" dirty="0">
                <a:solidFill>
                  <a:schemeClr val="tx1"/>
                </a:solidFill>
                <a:latin typeface="+mn-lt"/>
                <a:ea typeface="+mj-ea"/>
              </a:rPr>
              <a:t>MAIN  MEMORY</a:t>
            </a:r>
          </a:p>
        </p:txBody>
      </p:sp>
      <p:sp>
        <p:nvSpPr>
          <p:cNvPr id="6147" name="Rectangle 3">
            <a:extLst>
              <a:ext uri="{FF2B5EF4-FFF2-40B4-BE49-F238E27FC236}">
                <a16:creationId xmlns:a16="http://schemas.microsoft.com/office/drawing/2014/main" id="{25F8105F-770A-4EAD-8953-FA466290672C}"/>
              </a:ext>
            </a:extLst>
          </p:cNvPr>
          <p:cNvSpPr>
            <a:spLocks noChangeArrowheads="1"/>
          </p:cNvSpPr>
          <p:nvPr/>
        </p:nvSpPr>
        <p:spPr bwMode="auto">
          <a:xfrm>
            <a:off x="341313" y="942975"/>
            <a:ext cx="2436812" cy="333375"/>
          </a:xfrm>
          <a:prstGeom prst="rect">
            <a:avLst/>
          </a:prstGeom>
          <a:noFill/>
          <a:ln w="12700">
            <a:noFill/>
            <a:miter lim="800000"/>
            <a:headEnd/>
            <a:tailEnd/>
          </a:ln>
          <a:effectLst/>
        </p:spPr>
        <p:txBody>
          <a:bodyPr wrap="none" lIns="63500" tIns="25400" rIns="63500" bIns="25400">
            <a:spAutoFit/>
          </a:bodyPr>
          <a:lstStyle/>
          <a:p>
            <a:pPr algn="ctr" defTabSz="762000">
              <a:lnSpc>
                <a:spcPct val="102000"/>
              </a:lnSpc>
              <a:defRPr/>
            </a:pPr>
            <a:r>
              <a:rPr lang="en-US" altLang="ko-KR" sz="1800" b="1" dirty="0">
                <a:latin typeface="+mn-lt"/>
                <a:ea typeface="굴림" pitchFamily="34" charset="-127"/>
              </a:rPr>
              <a:t>RAM and ROM Chips</a:t>
            </a:r>
          </a:p>
        </p:txBody>
      </p:sp>
      <p:sp>
        <p:nvSpPr>
          <p:cNvPr id="6148" name="Rectangle 4">
            <a:extLst>
              <a:ext uri="{FF2B5EF4-FFF2-40B4-BE49-F238E27FC236}">
                <a16:creationId xmlns:a16="http://schemas.microsoft.com/office/drawing/2014/main" id="{16824E79-D400-49DB-8BE0-FB2D830745DB}"/>
              </a:ext>
            </a:extLst>
          </p:cNvPr>
          <p:cNvSpPr>
            <a:spLocks noChangeArrowheads="1"/>
          </p:cNvSpPr>
          <p:nvPr/>
        </p:nvSpPr>
        <p:spPr bwMode="auto">
          <a:xfrm>
            <a:off x="633413" y="1274763"/>
            <a:ext cx="2035175" cy="331787"/>
          </a:xfrm>
          <a:prstGeom prst="rect">
            <a:avLst/>
          </a:prstGeom>
          <a:noFill/>
          <a:ln w="12700">
            <a:noFill/>
            <a:miter lim="800000"/>
            <a:headEnd/>
            <a:tailEnd/>
          </a:ln>
          <a:effectLst/>
        </p:spPr>
        <p:txBody>
          <a:bodyPr wrap="none" lIns="63500" tIns="25400" rIns="63500" bIns="25400">
            <a:spAutoFit/>
          </a:bodyPr>
          <a:lstStyle/>
          <a:p>
            <a:pPr algn="ctr" defTabSz="762000">
              <a:lnSpc>
                <a:spcPct val="101000"/>
              </a:lnSpc>
              <a:defRPr/>
            </a:pPr>
            <a:r>
              <a:rPr lang="en-US" altLang="ko-KR" sz="1800" b="1">
                <a:latin typeface="+mn-lt"/>
                <a:ea typeface="굴림" pitchFamily="34" charset="-127"/>
              </a:rPr>
              <a:t>Typical RAM chip</a:t>
            </a:r>
          </a:p>
        </p:txBody>
      </p:sp>
      <p:sp>
        <p:nvSpPr>
          <p:cNvPr id="6149" name="Rectangle 5">
            <a:extLst>
              <a:ext uri="{FF2B5EF4-FFF2-40B4-BE49-F238E27FC236}">
                <a16:creationId xmlns:a16="http://schemas.microsoft.com/office/drawing/2014/main" id="{A2B7878B-D9E0-499C-9F66-AB9EA2A13CEF}"/>
              </a:ext>
            </a:extLst>
          </p:cNvPr>
          <p:cNvSpPr>
            <a:spLocks noChangeArrowheads="1"/>
          </p:cNvSpPr>
          <p:nvPr/>
        </p:nvSpPr>
        <p:spPr bwMode="auto">
          <a:xfrm>
            <a:off x="633413" y="4738688"/>
            <a:ext cx="2041525" cy="331787"/>
          </a:xfrm>
          <a:prstGeom prst="rect">
            <a:avLst/>
          </a:prstGeom>
          <a:noFill/>
          <a:ln w="12700">
            <a:noFill/>
            <a:miter lim="800000"/>
            <a:headEnd/>
            <a:tailEnd/>
          </a:ln>
          <a:effectLst/>
        </p:spPr>
        <p:txBody>
          <a:bodyPr wrap="none" lIns="63500" tIns="25400" rIns="63500" bIns="25400">
            <a:spAutoFit/>
          </a:bodyPr>
          <a:lstStyle/>
          <a:p>
            <a:pPr algn="ctr" defTabSz="762000">
              <a:lnSpc>
                <a:spcPct val="101000"/>
              </a:lnSpc>
              <a:defRPr/>
            </a:pPr>
            <a:r>
              <a:rPr lang="en-US" altLang="ko-KR" sz="1800" b="1" dirty="0">
                <a:latin typeface="+mn-lt"/>
                <a:ea typeface="굴림" pitchFamily="34" charset="-127"/>
              </a:rPr>
              <a:t>Typical</a:t>
            </a:r>
            <a:r>
              <a:rPr lang="en-US" altLang="ko-KR" sz="1800" dirty="0">
                <a:ea typeface="굴림" pitchFamily="34" charset="-127"/>
              </a:rPr>
              <a:t> </a:t>
            </a:r>
            <a:r>
              <a:rPr lang="en-US" altLang="ko-KR" sz="1800" b="1" dirty="0">
                <a:latin typeface="+mn-lt"/>
                <a:ea typeface="굴림" pitchFamily="34" charset="-127"/>
              </a:rPr>
              <a:t>ROM chip</a:t>
            </a:r>
          </a:p>
        </p:txBody>
      </p:sp>
      <p:sp>
        <p:nvSpPr>
          <p:cNvPr id="6150" name="Line 6">
            <a:extLst>
              <a:ext uri="{FF2B5EF4-FFF2-40B4-BE49-F238E27FC236}">
                <a16:creationId xmlns:a16="http://schemas.microsoft.com/office/drawing/2014/main" id="{E13A9A65-829B-44B8-A6FC-A1FBAAC05241}"/>
              </a:ext>
            </a:extLst>
          </p:cNvPr>
          <p:cNvSpPr>
            <a:spLocks noChangeShapeType="1"/>
          </p:cNvSpPr>
          <p:nvPr/>
        </p:nvSpPr>
        <p:spPr bwMode="auto">
          <a:xfrm>
            <a:off x="3389313" y="191293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1" name="Rectangle 7">
            <a:extLst>
              <a:ext uri="{FF2B5EF4-FFF2-40B4-BE49-F238E27FC236}">
                <a16:creationId xmlns:a16="http://schemas.microsoft.com/office/drawing/2014/main" id="{E70A65D2-6FD1-4B8A-BD15-70399197FD7E}"/>
              </a:ext>
            </a:extLst>
          </p:cNvPr>
          <p:cNvSpPr>
            <a:spLocks noChangeArrowheads="1"/>
          </p:cNvSpPr>
          <p:nvPr/>
        </p:nvSpPr>
        <p:spPr bwMode="auto">
          <a:xfrm>
            <a:off x="2228850" y="1790700"/>
            <a:ext cx="113188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1</a:t>
            </a:r>
          </a:p>
        </p:txBody>
      </p:sp>
      <p:sp>
        <p:nvSpPr>
          <p:cNvPr id="6152" name="Line 8">
            <a:extLst>
              <a:ext uri="{FF2B5EF4-FFF2-40B4-BE49-F238E27FC236}">
                <a16:creationId xmlns:a16="http://schemas.microsoft.com/office/drawing/2014/main" id="{1D7758BF-6E2E-40E4-AE8A-48737F25802F}"/>
              </a:ext>
            </a:extLst>
          </p:cNvPr>
          <p:cNvSpPr>
            <a:spLocks noChangeShapeType="1"/>
          </p:cNvSpPr>
          <p:nvPr/>
        </p:nvSpPr>
        <p:spPr bwMode="auto">
          <a:xfrm>
            <a:off x="3389313" y="2111375"/>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3" name="Rectangle 9">
            <a:extLst>
              <a:ext uri="{FF2B5EF4-FFF2-40B4-BE49-F238E27FC236}">
                <a16:creationId xmlns:a16="http://schemas.microsoft.com/office/drawing/2014/main" id="{660D7DFA-5FF6-4D38-9D44-31F07B5BCBD5}"/>
              </a:ext>
            </a:extLst>
          </p:cNvPr>
          <p:cNvSpPr>
            <a:spLocks noChangeArrowheads="1"/>
          </p:cNvSpPr>
          <p:nvPr/>
        </p:nvSpPr>
        <p:spPr bwMode="auto">
          <a:xfrm>
            <a:off x="2228850" y="1985963"/>
            <a:ext cx="1131888"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2</a:t>
            </a:r>
          </a:p>
        </p:txBody>
      </p:sp>
      <p:sp>
        <p:nvSpPr>
          <p:cNvPr id="6154" name="Line 10">
            <a:extLst>
              <a:ext uri="{FF2B5EF4-FFF2-40B4-BE49-F238E27FC236}">
                <a16:creationId xmlns:a16="http://schemas.microsoft.com/office/drawing/2014/main" id="{8331FC1A-49CC-42CC-8177-E0934FD787C2}"/>
              </a:ext>
            </a:extLst>
          </p:cNvPr>
          <p:cNvSpPr>
            <a:spLocks noChangeShapeType="1"/>
          </p:cNvSpPr>
          <p:nvPr/>
        </p:nvSpPr>
        <p:spPr bwMode="auto">
          <a:xfrm>
            <a:off x="3389313" y="230663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5" name="Line 11">
            <a:extLst>
              <a:ext uri="{FF2B5EF4-FFF2-40B4-BE49-F238E27FC236}">
                <a16:creationId xmlns:a16="http://schemas.microsoft.com/office/drawing/2014/main" id="{5036772D-A51A-4BB4-9E06-566680B6CE83}"/>
              </a:ext>
            </a:extLst>
          </p:cNvPr>
          <p:cNvSpPr>
            <a:spLocks noChangeShapeType="1"/>
          </p:cNvSpPr>
          <p:nvPr/>
        </p:nvSpPr>
        <p:spPr bwMode="auto">
          <a:xfrm>
            <a:off x="3389313" y="250348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6" name="Line 12">
            <a:extLst>
              <a:ext uri="{FF2B5EF4-FFF2-40B4-BE49-F238E27FC236}">
                <a16:creationId xmlns:a16="http://schemas.microsoft.com/office/drawing/2014/main" id="{53865CC9-6B96-4EB9-9D2D-B1EFEF09F629}"/>
              </a:ext>
            </a:extLst>
          </p:cNvPr>
          <p:cNvSpPr>
            <a:spLocks noChangeShapeType="1"/>
          </p:cNvSpPr>
          <p:nvPr/>
        </p:nvSpPr>
        <p:spPr bwMode="auto">
          <a:xfrm>
            <a:off x="3389313" y="2698750"/>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7" name="Rectangle 13">
            <a:extLst>
              <a:ext uri="{FF2B5EF4-FFF2-40B4-BE49-F238E27FC236}">
                <a16:creationId xmlns:a16="http://schemas.microsoft.com/office/drawing/2014/main" id="{92B6B795-2D40-460A-A52F-D30A7B6B8CC2}"/>
              </a:ext>
            </a:extLst>
          </p:cNvPr>
          <p:cNvSpPr>
            <a:spLocks noChangeArrowheads="1"/>
          </p:cNvSpPr>
          <p:nvPr/>
        </p:nvSpPr>
        <p:spPr bwMode="auto">
          <a:xfrm>
            <a:off x="2767013" y="2182813"/>
            <a:ext cx="5572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Read</a:t>
            </a:r>
          </a:p>
        </p:txBody>
      </p:sp>
      <p:sp>
        <p:nvSpPr>
          <p:cNvPr id="6158" name="Rectangle 14">
            <a:extLst>
              <a:ext uri="{FF2B5EF4-FFF2-40B4-BE49-F238E27FC236}">
                <a16:creationId xmlns:a16="http://schemas.microsoft.com/office/drawing/2014/main" id="{3E8BA692-09F3-4B50-89FF-EAA6B7EFBD8A}"/>
              </a:ext>
            </a:extLst>
          </p:cNvPr>
          <p:cNvSpPr>
            <a:spLocks noChangeArrowheads="1"/>
          </p:cNvSpPr>
          <p:nvPr/>
        </p:nvSpPr>
        <p:spPr bwMode="auto">
          <a:xfrm>
            <a:off x="2767013" y="2378075"/>
            <a:ext cx="565150"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Write</a:t>
            </a:r>
          </a:p>
        </p:txBody>
      </p:sp>
      <p:sp>
        <p:nvSpPr>
          <p:cNvPr id="6159" name="Rectangle 15">
            <a:extLst>
              <a:ext uri="{FF2B5EF4-FFF2-40B4-BE49-F238E27FC236}">
                <a16:creationId xmlns:a16="http://schemas.microsoft.com/office/drawing/2014/main" id="{4FB1BCBE-1A40-490C-970B-B378E79899AE}"/>
              </a:ext>
            </a:extLst>
          </p:cNvPr>
          <p:cNvSpPr>
            <a:spLocks noChangeArrowheads="1"/>
          </p:cNvSpPr>
          <p:nvPr/>
        </p:nvSpPr>
        <p:spPr bwMode="auto">
          <a:xfrm>
            <a:off x="2228850" y="2573338"/>
            <a:ext cx="11398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7-bit address</a:t>
            </a:r>
          </a:p>
        </p:txBody>
      </p:sp>
      <p:sp>
        <p:nvSpPr>
          <p:cNvPr id="6160" name="Rectangle 16">
            <a:extLst>
              <a:ext uri="{FF2B5EF4-FFF2-40B4-BE49-F238E27FC236}">
                <a16:creationId xmlns:a16="http://schemas.microsoft.com/office/drawing/2014/main" id="{491C746C-E8FD-470F-B460-2639993F077A}"/>
              </a:ext>
            </a:extLst>
          </p:cNvPr>
          <p:cNvSpPr>
            <a:spLocks noChangeArrowheads="1"/>
          </p:cNvSpPr>
          <p:nvPr/>
        </p:nvSpPr>
        <p:spPr bwMode="auto">
          <a:xfrm>
            <a:off x="3749675" y="1790700"/>
            <a:ext cx="481013"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a:t>
            </a:r>
          </a:p>
        </p:txBody>
      </p:sp>
      <p:sp>
        <p:nvSpPr>
          <p:cNvPr id="6161" name="Rectangle 17">
            <a:extLst>
              <a:ext uri="{FF2B5EF4-FFF2-40B4-BE49-F238E27FC236}">
                <a16:creationId xmlns:a16="http://schemas.microsoft.com/office/drawing/2014/main" id="{F2F75CA2-1E4A-4277-83B5-3030B87DF499}"/>
              </a:ext>
            </a:extLst>
          </p:cNvPr>
          <p:cNvSpPr>
            <a:spLocks noChangeArrowheads="1"/>
          </p:cNvSpPr>
          <p:nvPr/>
        </p:nvSpPr>
        <p:spPr bwMode="auto">
          <a:xfrm>
            <a:off x="3749675" y="1985963"/>
            <a:ext cx="481013"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CS2</a:t>
            </a:r>
          </a:p>
        </p:txBody>
      </p:sp>
      <p:sp>
        <p:nvSpPr>
          <p:cNvPr id="6162" name="Rectangle 18">
            <a:extLst>
              <a:ext uri="{FF2B5EF4-FFF2-40B4-BE49-F238E27FC236}">
                <a16:creationId xmlns:a16="http://schemas.microsoft.com/office/drawing/2014/main" id="{265A7A34-DDD9-4108-ACBA-1413C9CBAA46}"/>
              </a:ext>
            </a:extLst>
          </p:cNvPr>
          <p:cNvSpPr>
            <a:spLocks noChangeArrowheads="1"/>
          </p:cNvSpPr>
          <p:nvPr/>
        </p:nvSpPr>
        <p:spPr bwMode="auto">
          <a:xfrm>
            <a:off x="3749675" y="2182813"/>
            <a:ext cx="4032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RD</a:t>
            </a:r>
          </a:p>
        </p:txBody>
      </p:sp>
      <p:sp>
        <p:nvSpPr>
          <p:cNvPr id="6163" name="Rectangle 19">
            <a:extLst>
              <a:ext uri="{FF2B5EF4-FFF2-40B4-BE49-F238E27FC236}">
                <a16:creationId xmlns:a16="http://schemas.microsoft.com/office/drawing/2014/main" id="{6A11F54C-903F-4AA5-BE59-C7AE6B53958E}"/>
              </a:ext>
            </a:extLst>
          </p:cNvPr>
          <p:cNvSpPr>
            <a:spLocks noChangeArrowheads="1"/>
          </p:cNvSpPr>
          <p:nvPr/>
        </p:nvSpPr>
        <p:spPr bwMode="auto">
          <a:xfrm>
            <a:off x="3749675" y="2378075"/>
            <a:ext cx="43973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WR</a:t>
            </a:r>
          </a:p>
        </p:txBody>
      </p:sp>
      <p:sp>
        <p:nvSpPr>
          <p:cNvPr id="6164" name="Rectangle 20">
            <a:extLst>
              <a:ext uri="{FF2B5EF4-FFF2-40B4-BE49-F238E27FC236}">
                <a16:creationId xmlns:a16="http://schemas.microsoft.com/office/drawing/2014/main" id="{08EFD286-169D-4711-B05B-3BA9557D2CA2}"/>
              </a:ext>
            </a:extLst>
          </p:cNvPr>
          <p:cNvSpPr>
            <a:spLocks noChangeArrowheads="1"/>
          </p:cNvSpPr>
          <p:nvPr/>
        </p:nvSpPr>
        <p:spPr bwMode="auto">
          <a:xfrm>
            <a:off x="3765550" y="2573338"/>
            <a:ext cx="531813"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AD 7</a:t>
            </a:r>
          </a:p>
        </p:txBody>
      </p:sp>
      <p:sp>
        <p:nvSpPr>
          <p:cNvPr id="6165" name="Rectangle 21">
            <a:extLst>
              <a:ext uri="{FF2B5EF4-FFF2-40B4-BE49-F238E27FC236}">
                <a16:creationId xmlns:a16="http://schemas.microsoft.com/office/drawing/2014/main" id="{1C46AF27-A395-4EA5-84D7-6A8979741E6C}"/>
              </a:ext>
            </a:extLst>
          </p:cNvPr>
          <p:cNvSpPr>
            <a:spLocks noChangeArrowheads="1"/>
          </p:cNvSpPr>
          <p:nvPr/>
        </p:nvSpPr>
        <p:spPr bwMode="auto">
          <a:xfrm>
            <a:off x="4386263" y="2112963"/>
            <a:ext cx="69373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128 x 8</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66" name="Rectangle 22">
            <a:extLst>
              <a:ext uri="{FF2B5EF4-FFF2-40B4-BE49-F238E27FC236}">
                <a16:creationId xmlns:a16="http://schemas.microsoft.com/office/drawing/2014/main" id="{A63568ED-50F9-48BB-B21D-347F2E0C6267}"/>
              </a:ext>
            </a:extLst>
          </p:cNvPr>
          <p:cNvSpPr>
            <a:spLocks noChangeArrowheads="1"/>
          </p:cNvSpPr>
          <p:nvPr/>
        </p:nvSpPr>
        <p:spPr bwMode="auto">
          <a:xfrm>
            <a:off x="4478338" y="2273300"/>
            <a:ext cx="531812"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RAM</a:t>
            </a:r>
          </a:p>
        </p:txBody>
      </p:sp>
      <p:sp>
        <p:nvSpPr>
          <p:cNvPr id="6167" name="Rectangle 23">
            <a:extLst>
              <a:ext uri="{FF2B5EF4-FFF2-40B4-BE49-F238E27FC236}">
                <a16:creationId xmlns:a16="http://schemas.microsoft.com/office/drawing/2014/main" id="{7E746552-CF42-4551-A95B-A62031D78099}"/>
              </a:ext>
            </a:extLst>
          </p:cNvPr>
          <p:cNvSpPr>
            <a:spLocks noChangeArrowheads="1"/>
          </p:cNvSpPr>
          <p:nvPr/>
        </p:nvSpPr>
        <p:spPr bwMode="auto">
          <a:xfrm>
            <a:off x="3740150" y="1724025"/>
            <a:ext cx="1536700" cy="1146175"/>
          </a:xfrm>
          <a:prstGeom prst="rect">
            <a:avLst/>
          </a:prstGeom>
          <a:noFill/>
          <a:ln w="25400">
            <a:solidFill>
              <a:srgbClr val="000000"/>
            </a:solidFill>
            <a:miter lim="800000"/>
            <a:headEnd/>
            <a:tailEnd/>
          </a:ln>
          <a:effectLst/>
        </p:spPr>
        <p:txBody>
          <a:bodyPr wrap="none" anchor="ctr"/>
          <a:lstStyle/>
          <a:p>
            <a:pPr algn="ctr">
              <a:defRPr/>
            </a:pPr>
            <a:endParaRPr lang="en-US" b="1">
              <a:latin typeface="+mn-lt"/>
              <a:ea typeface="굴림" pitchFamily="34" charset="-127"/>
            </a:endParaRPr>
          </a:p>
        </p:txBody>
      </p:sp>
      <p:sp>
        <p:nvSpPr>
          <p:cNvPr id="6168" name="Arc 24">
            <a:extLst>
              <a:ext uri="{FF2B5EF4-FFF2-40B4-BE49-F238E27FC236}">
                <a16:creationId xmlns:a16="http://schemas.microsoft.com/office/drawing/2014/main" id="{6E0E850B-B70B-44FB-9738-8A442E101291}"/>
              </a:ext>
            </a:extLst>
          </p:cNvPr>
          <p:cNvSpPr>
            <a:spLocks/>
          </p:cNvSpPr>
          <p:nvPr/>
        </p:nvSpPr>
        <p:spPr bwMode="auto">
          <a:xfrm>
            <a:off x="5857875" y="2251075"/>
            <a:ext cx="128588" cy="88900"/>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169" name="Arc 25">
            <a:extLst>
              <a:ext uri="{FF2B5EF4-FFF2-40B4-BE49-F238E27FC236}">
                <a16:creationId xmlns:a16="http://schemas.microsoft.com/office/drawing/2014/main" id="{57054894-8ADF-42BB-9E9F-B2E080E3DED0}"/>
              </a:ext>
            </a:extLst>
          </p:cNvPr>
          <p:cNvSpPr>
            <a:spLocks/>
          </p:cNvSpPr>
          <p:nvPr/>
        </p:nvSpPr>
        <p:spPr bwMode="auto">
          <a:xfrm>
            <a:off x="5297488" y="2251075"/>
            <a:ext cx="127000" cy="88900"/>
          </a:xfrm>
          <a:custGeom>
            <a:avLst/>
            <a:gdLst>
              <a:gd name="G0" fmla="+- 0 0 0"/>
              <a:gd name="G1" fmla="+- 8852 0 0"/>
              <a:gd name="G2" fmla="+- 21600 0 0"/>
              <a:gd name="T0" fmla="*/ 19703 w 21600"/>
              <a:gd name="T1" fmla="*/ 0 h 17464"/>
              <a:gd name="T2" fmla="*/ 19809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170" name="Line 26">
            <a:extLst>
              <a:ext uri="{FF2B5EF4-FFF2-40B4-BE49-F238E27FC236}">
                <a16:creationId xmlns:a16="http://schemas.microsoft.com/office/drawing/2014/main" id="{6591B383-1332-4958-AE43-3A0289690EB7}"/>
              </a:ext>
            </a:extLst>
          </p:cNvPr>
          <p:cNvSpPr>
            <a:spLocks noChangeShapeType="1"/>
          </p:cNvSpPr>
          <p:nvPr/>
        </p:nvSpPr>
        <p:spPr bwMode="auto">
          <a:xfrm>
            <a:off x="5411788" y="2298700"/>
            <a:ext cx="4460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71" name="Rectangle 27">
            <a:extLst>
              <a:ext uri="{FF2B5EF4-FFF2-40B4-BE49-F238E27FC236}">
                <a16:creationId xmlns:a16="http://schemas.microsoft.com/office/drawing/2014/main" id="{E1A1E0CE-88B4-4AFA-84EC-AAE862E93877}"/>
              </a:ext>
            </a:extLst>
          </p:cNvPr>
          <p:cNvSpPr>
            <a:spLocks noChangeArrowheads="1"/>
          </p:cNvSpPr>
          <p:nvPr/>
        </p:nvSpPr>
        <p:spPr bwMode="auto">
          <a:xfrm>
            <a:off x="5975350" y="2182813"/>
            <a:ext cx="118427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8-bit data bus</a:t>
            </a:r>
          </a:p>
        </p:txBody>
      </p:sp>
      <p:sp>
        <p:nvSpPr>
          <p:cNvPr id="6172" name="Line 28">
            <a:extLst>
              <a:ext uri="{FF2B5EF4-FFF2-40B4-BE49-F238E27FC236}">
                <a16:creationId xmlns:a16="http://schemas.microsoft.com/office/drawing/2014/main" id="{2D7D58AB-9B90-44FF-9BA8-55AAFC385E72}"/>
              </a:ext>
            </a:extLst>
          </p:cNvPr>
          <p:cNvSpPr>
            <a:spLocks noChangeShapeType="1"/>
          </p:cNvSpPr>
          <p:nvPr/>
        </p:nvSpPr>
        <p:spPr bwMode="auto">
          <a:xfrm>
            <a:off x="3848100" y="2006600"/>
            <a:ext cx="2825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73" name="Rectangle 29">
            <a:extLst>
              <a:ext uri="{FF2B5EF4-FFF2-40B4-BE49-F238E27FC236}">
                <a16:creationId xmlns:a16="http://schemas.microsoft.com/office/drawing/2014/main" id="{4D6686BA-7F60-400C-B415-8B9018E8D160}"/>
              </a:ext>
            </a:extLst>
          </p:cNvPr>
          <p:cNvSpPr>
            <a:spLocks noChangeArrowheads="1"/>
          </p:cNvSpPr>
          <p:nvPr/>
        </p:nvSpPr>
        <p:spPr bwMode="auto">
          <a:xfrm>
            <a:off x="2338388" y="3302000"/>
            <a:ext cx="173355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  CS2     RD    WR</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4" name="Rectangle 30">
            <a:extLst>
              <a:ext uri="{FF2B5EF4-FFF2-40B4-BE49-F238E27FC236}">
                <a16:creationId xmlns:a16="http://schemas.microsoft.com/office/drawing/2014/main" id="{0153E370-EC54-46FB-914C-36CB1FED3B79}"/>
              </a:ext>
            </a:extLst>
          </p:cNvPr>
          <p:cNvSpPr>
            <a:spLocks noChangeArrowheads="1"/>
          </p:cNvSpPr>
          <p:nvPr/>
        </p:nvSpPr>
        <p:spPr bwMode="auto">
          <a:xfrm>
            <a:off x="2309813" y="3521075"/>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0        0        x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5" name="Rectangle 31">
            <a:extLst>
              <a:ext uri="{FF2B5EF4-FFF2-40B4-BE49-F238E27FC236}">
                <a16:creationId xmlns:a16="http://schemas.microsoft.com/office/drawing/2014/main" id="{CFC56E48-0E6D-4459-A72D-EC50E8546168}"/>
              </a:ext>
            </a:extLst>
          </p:cNvPr>
          <p:cNvSpPr>
            <a:spLocks noChangeArrowheads="1"/>
          </p:cNvSpPr>
          <p:nvPr/>
        </p:nvSpPr>
        <p:spPr bwMode="auto">
          <a:xfrm>
            <a:off x="2309813" y="3681413"/>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0        1        x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6" name="Rectangle 32">
            <a:extLst>
              <a:ext uri="{FF2B5EF4-FFF2-40B4-BE49-F238E27FC236}">
                <a16:creationId xmlns:a16="http://schemas.microsoft.com/office/drawing/2014/main" id="{5279547B-9A60-4BA7-86EC-79B6AE721877}"/>
              </a:ext>
            </a:extLst>
          </p:cNvPr>
          <p:cNvSpPr>
            <a:spLocks noChangeArrowheads="1"/>
          </p:cNvSpPr>
          <p:nvPr/>
        </p:nvSpPr>
        <p:spPr bwMode="auto">
          <a:xfrm>
            <a:off x="2309813" y="3844925"/>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1        0        0        0</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7" name="Rectangle 33">
            <a:extLst>
              <a:ext uri="{FF2B5EF4-FFF2-40B4-BE49-F238E27FC236}">
                <a16:creationId xmlns:a16="http://schemas.microsoft.com/office/drawing/2014/main" id="{E4334043-4526-4158-B1F7-74AB0B38EED1}"/>
              </a:ext>
            </a:extLst>
          </p:cNvPr>
          <p:cNvSpPr>
            <a:spLocks noChangeArrowheads="1"/>
          </p:cNvSpPr>
          <p:nvPr/>
        </p:nvSpPr>
        <p:spPr bwMode="auto">
          <a:xfrm>
            <a:off x="2309813" y="4005263"/>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1        0        0        1</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8" name="Rectangle 34">
            <a:extLst>
              <a:ext uri="{FF2B5EF4-FFF2-40B4-BE49-F238E27FC236}">
                <a16:creationId xmlns:a16="http://schemas.microsoft.com/office/drawing/2014/main" id="{5ACDD618-9A12-4DFF-A90E-6C0994587682}"/>
              </a:ext>
            </a:extLst>
          </p:cNvPr>
          <p:cNvSpPr>
            <a:spLocks noChangeArrowheads="1"/>
          </p:cNvSpPr>
          <p:nvPr/>
        </p:nvSpPr>
        <p:spPr bwMode="auto">
          <a:xfrm>
            <a:off x="2309813" y="4167188"/>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1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9" name="Rectangle 35">
            <a:extLst>
              <a:ext uri="{FF2B5EF4-FFF2-40B4-BE49-F238E27FC236}">
                <a16:creationId xmlns:a16="http://schemas.microsoft.com/office/drawing/2014/main" id="{A0E6DE8C-DAA7-433E-81E8-2C9109EFED27}"/>
              </a:ext>
            </a:extLst>
          </p:cNvPr>
          <p:cNvSpPr>
            <a:spLocks noChangeArrowheads="1"/>
          </p:cNvSpPr>
          <p:nvPr/>
        </p:nvSpPr>
        <p:spPr bwMode="auto">
          <a:xfrm>
            <a:off x="2309813" y="4327525"/>
            <a:ext cx="1690687"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1        x        x</a:t>
            </a:r>
          </a:p>
        </p:txBody>
      </p:sp>
      <p:sp>
        <p:nvSpPr>
          <p:cNvPr id="6180" name="Rectangle 36">
            <a:extLst>
              <a:ext uri="{FF2B5EF4-FFF2-40B4-BE49-F238E27FC236}">
                <a16:creationId xmlns:a16="http://schemas.microsoft.com/office/drawing/2014/main" id="{68E17090-55DD-4973-AE79-FB97FFBEFAE1}"/>
              </a:ext>
            </a:extLst>
          </p:cNvPr>
          <p:cNvSpPr>
            <a:spLocks noChangeArrowheads="1"/>
          </p:cNvSpPr>
          <p:nvPr/>
        </p:nvSpPr>
        <p:spPr bwMode="auto">
          <a:xfrm>
            <a:off x="4090988" y="3290888"/>
            <a:ext cx="14239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Memory function</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1" name="Rectangle 37">
            <a:extLst>
              <a:ext uri="{FF2B5EF4-FFF2-40B4-BE49-F238E27FC236}">
                <a16:creationId xmlns:a16="http://schemas.microsoft.com/office/drawing/2014/main" id="{6371789B-3DB4-4F7C-A655-988368FD5A89}"/>
              </a:ext>
            </a:extLst>
          </p:cNvPr>
          <p:cNvSpPr>
            <a:spLocks noChangeArrowheads="1"/>
          </p:cNvSpPr>
          <p:nvPr/>
        </p:nvSpPr>
        <p:spPr bwMode="auto">
          <a:xfrm>
            <a:off x="4062413" y="3508375"/>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2" name="Rectangle 38">
            <a:extLst>
              <a:ext uri="{FF2B5EF4-FFF2-40B4-BE49-F238E27FC236}">
                <a16:creationId xmlns:a16="http://schemas.microsoft.com/office/drawing/2014/main" id="{88402110-C045-49B8-91D7-E01DF05D986C}"/>
              </a:ext>
            </a:extLst>
          </p:cNvPr>
          <p:cNvSpPr>
            <a:spLocks noChangeArrowheads="1"/>
          </p:cNvSpPr>
          <p:nvPr/>
        </p:nvSpPr>
        <p:spPr bwMode="auto">
          <a:xfrm>
            <a:off x="4062413" y="3671888"/>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3" name="Rectangle 39">
            <a:extLst>
              <a:ext uri="{FF2B5EF4-FFF2-40B4-BE49-F238E27FC236}">
                <a16:creationId xmlns:a16="http://schemas.microsoft.com/office/drawing/2014/main" id="{9110C887-E30D-4CE1-9D18-869A9F991EAB}"/>
              </a:ext>
            </a:extLst>
          </p:cNvPr>
          <p:cNvSpPr>
            <a:spLocks noChangeArrowheads="1"/>
          </p:cNvSpPr>
          <p:nvPr/>
        </p:nvSpPr>
        <p:spPr bwMode="auto">
          <a:xfrm>
            <a:off x="4062413" y="3832225"/>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4" name="Rectangle 40">
            <a:extLst>
              <a:ext uri="{FF2B5EF4-FFF2-40B4-BE49-F238E27FC236}">
                <a16:creationId xmlns:a16="http://schemas.microsoft.com/office/drawing/2014/main" id="{718E04AF-28C0-441D-A5BB-A318DBD04EB3}"/>
              </a:ext>
            </a:extLst>
          </p:cNvPr>
          <p:cNvSpPr>
            <a:spLocks noChangeArrowheads="1"/>
          </p:cNvSpPr>
          <p:nvPr/>
        </p:nvSpPr>
        <p:spPr bwMode="auto">
          <a:xfrm>
            <a:off x="4062413" y="3994150"/>
            <a:ext cx="776287" cy="4191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Write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5" name="Rectangle 41">
            <a:extLst>
              <a:ext uri="{FF2B5EF4-FFF2-40B4-BE49-F238E27FC236}">
                <a16:creationId xmlns:a16="http://schemas.microsoft.com/office/drawing/2014/main" id="{0A21056E-6127-4753-895C-D98EAE7C076A}"/>
              </a:ext>
            </a:extLst>
          </p:cNvPr>
          <p:cNvSpPr>
            <a:spLocks noChangeArrowheads="1"/>
          </p:cNvSpPr>
          <p:nvPr/>
        </p:nvSpPr>
        <p:spPr bwMode="auto">
          <a:xfrm>
            <a:off x="4062413" y="4156075"/>
            <a:ext cx="7747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Read</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8234" name="Rectangle 42">
            <a:extLst>
              <a:ext uri="{FF2B5EF4-FFF2-40B4-BE49-F238E27FC236}">
                <a16:creationId xmlns:a16="http://schemas.microsoft.com/office/drawing/2014/main" id="{E2227937-BA35-4F42-8DF8-D8763B75C197}"/>
              </a:ext>
            </a:extLst>
          </p:cNvPr>
          <p:cNvSpPr>
            <a:spLocks noChangeArrowheads="1"/>
          </p:cNvSpPr>
          <p:nvPr/>
        </p:nvSpPr>
        <p:spPr bwMode="auto">
          <a:xfrm>
            <a:off x="4062413" y="4314825"/>
            <a:ext cx="8556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     Inhibit</a:t>
            </a:r>
          </a:p>
          <a:p>
            <a:pPr algn="ctr" eaLnBrk="1">
              <a:lnSpc>
                <a:spcPct val="90000"/>
              </a:lnSpc>
              <a:spcBef>
                <a:spcPct val="0"/>
              </a:spcBef>
              <a:buClrTx/>
              <a:buSzTx/>
              <a:buFontTx/>
              <a:buNone/>
            </a:pPr>
            <a:endParaRPr lang="en-US" altLang="ko-KR" sz="1200">
              <a:solidFill>
                <a:srgbClr val="000000"/>
              </a:solidFill>
              <a:latin typeface="Times New Roman" panose="02020603050405020304" pitchFamily="18" charset="0"/>
            </a:endParaRPr>
          </a:p>
        </p:txBody>
      </p:sp>
      <p:sp>
        <p:nvSpPr>
          <p:cNvPr id="8235" name="Rectangle 43">
            <a:extLst>
              <a:ext uri="{FF2B5EF4-FFF2-40B4-BE49-F238E27FC236}">
                <a16:creationId xmlns:a16="http://schemas.microsoft.com/office/drawing/2014/main" id="{1DE865D1-6741-4926-9CF6-1E6CE19670EC}"/>
              </a:ext>
            </a:extLst>
          </p:cNvPr>
          <p:cNvSpPr>
            <a:spLocks noChangeArrowheads="1"/>
          </p:cNvSpPr>
          <p:nvPr/>
        </p:nvSpPr>
        <p:spPr bwMode="auto">
          <a:xfrm>
            <a:off x="4062413" y="4476750"/>
            <a:ext cx="266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  </a:t>
            </a:r>
          </a:p>
        </p:txBody>
      </p:sp>
      <p:sp>
        <p:nvSpPr>
          <p:cNvPr id="6188" name="Rectangle 44">
            <a:extLst>
              <a:ext uri="{FF2B5EF4-FFF2-40B4-BE49-F238E27FC236}">
                <a16:creationId xmlns:a16="http://schemas.microsoft.com/office/drawing/2014/main" id="{06B48DBE-4E30-4C81-8E50-0517BF561EFB}"/>
              </a:ext>
            </a:extLst>
          </p:cNvPr>
          <p:cNvSpPr>
            <a:spLocks noChangeArrowheads="1"/>
          </p:cNvSpPr>
          <p:nvPr/>
        </p:nvSpPr>
        <p:spPr bwMode="auto">
          <a:xfrm>
            <a:off x="5546725" y="3290888"/>
            <a:ext cx="142398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State of data bus</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9" name="Rectangle 45">
            <a:extLst>
              <a:ext uri="{FF2B5EF4-FFF2-40B4-BE49-F238E27FC236}">
                <a16:creationId xmlns:a16="http://schemas.microsoft.com/office/drawing/2014/main" id="{EBF307C8-F97F-4F8E-9866-C065B064D87D}"/>
              </a:ext>
            </a:extLst>
          </p:cNvPr>
          <p:cNvSpPr>
            <a:spLocks noChangeArrowheads="1"/>
          </p:cNvSpPr>
          <p:nvPr/>
        </p:nvSpPr>
        <p:spPr bwMode="auto">
          <a:xfrm>
            <a:off x="5518150" y="3508375"/>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0" name="Rectangle 46">
            <a:extLst>
              <a:ext uri="{FF2B5EF4-FFF2-40B4-BE49-F238E27FC236}">
                <a16:creationId xmlns:a16="http://schemas.microsoft.com/office/drawing/2014/main" id="{5875FF39-B28C-4D2A-ABBD-9A6C0E6711E2}"/>
              </a:ext>
            </a:extLst>
          </p:cNvPr>
          <p:cNvSpPr>
            <a:spLocks noChangeArrowheads="1"/>
          </p:cNvSpPr>
          <p:nvPr/>
        </p:nvSpPr>
        <p:spPr bwMode="auto">
          <a:xfrm>
            <a:off x="5518150" y="3673475"/>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1" name="Rectangle 47">
            <a:extLst>
              <a:ext uri="{FF2B5EF4-FFF2-40B4-BE49-F238E27FC236}">
                <a16:creationId xmlns:a16="http://schemas.microsoft.com/office/drawing/2014/main" id="{C8AB6A9A-6245-48AB-80BB-871F02F29874}"/>
              </a:ext>
            </a:extLst>
          </p:cNvPr>
          <p:cNvSpPr>
            <a:spLocks noChangeArrowheads="1"/>
          </p:cNvSpPr>
          <p:nvPr/>
        </p:nvSpPr>
        <p:spPr bwMode="auto">
          <a:xfrm>
            <a:off x="5518150" y="3833813"/>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2" name="Rectangle 48">
            <a:extLst>
              <a:ext uri="{FF2B5EF4-FFF2-40B4-BE49-F238E27FC236}">
                <a16:creationId xmlns:a16="http://schemas.microsoft.com/office/drawing/2014/main" id="{C85D4916-12C2-4C64-A39C-44CAAAD1BA6E}"/>
              </a:ext>
            </a:extLst>
          </p:cNvPr>
          <p:cNvSpPr>
            <a:spLocks noChangeArrowheads="1"/>
          </p:cNvSpPr>
          <p:nvPr/>
        </p:nvSpPr>
        <p:spPr bwMode="auto">
          <a:xfrm>
            <a:off x="5518150" y="3994150"/>
            <a:ext cx="1501775"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Input data to RAM</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3" name="Rectangle 49">
            <a:extLst>
              <a:ext uri="{FF2B5EF4-FFF2-40B4-BE49-F238E27FC236}">
                <a16:creationId xmlns:a16="http://schemas.microsoft.com/office/drawing/2014/main" id="{5BA30DEC-2291-4E54-8029-1BD96E64E80A}"/>
              </a:ext>
            </a:extLst>
          </p:cNvPr>
          <p:cNvSpPr>
            <a:spLocks noChangeArrowheads="1"/>
          </p:cNvSpPr>
          <p:nvPr/>
        </p:nvSpPr>
        <p:spPr bwMode="auto">
          <a:xfrm>
            <a:off x="5518150" y="4154488"/>
            <a:ext cx="1825625"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Output data from RAM</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8242" name="Rectangle 50">
            <a:extLst>
              <a:ext uri="{FF2B5EF4-FFF2-40B4-BE49-F238E27FC236}">
                <a16:creationId xmlns:a16="http://schemas.microsoft.com/office/drawing/2014/main" id="{D37E3467-C819-49B8-A60E-49CFD79A7718}"/>
              </a:ext>
            </a:extLst>
          </p:cNvPr>
          <p:cNvSpPr>
            <a:spLocks noChangeArrowheads="1"/>
          </p:cNvSpPr>
          <p:nvPr/>
        </p:nvSpPr>
        <p:spPr bwMode="auto">
          <a:xfrm>
            <a:off x="5518150" y="4316413"/>
            <a:ext cx="136683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High-impedence</a:t>
            </a:r>
          </a:p>
          <a:p>
            <a:pPr algn="ctr" eaLnBrk="1">
              <a:lnSpc>
                <a:spcPct val="90000"/>
              </a:lnSpc>
              <a:spcBef>
                <a:spcPct val="0"/>
              </a:spcBef>
              <a:buClrTx/>
              <a:buSzTx/>
              <a:buFontTx/>
              <a:buNone/>
            </a:pPr>
            <a:endParaRPr lang="en-US" altLang="ko-KR" sz="1200">
              <a:solidFill>
                <a:srgbClr val="000000"/>
              </a:solidFill>
              <a:latin typeface="Times New Roman" panose="02020603050405020304" pitchFamily="18" charset="0"/>
            </a:endParaRPr>
          </a:p>
        </p:txBody>
      </p:sp>
      <p:sp>
        <p:nvSpPr>
          <p:cNvPr id="6195" name="Line 51">
            <a:extLst>
              <a:ext uri="{FF2B5EF4-FFF2-40B4-BE49-F238E27FC236}">
                <a16:creationId xmlns:a16="http://schemas.microsoft.com/office/drawing/2014/main" id="{A9C0D93E-54D1-4C34-98B8-6F4BA0943A7A}"/>
              </a:ext>
            </a:extLst>
          </p:cNvPr>
          <p:cNvSpPr>
            <a:spLocks noChangeShapeType="1"/>
          </p:cNvSpPr>
          <p:nvPr/>
        </p:nvSpPr>
        <p:spPr bwMode="auto">
          <a:xfrm>
            <a:off x="2324100" y="3524250"/>
            <a:ext cx="4948238"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6" name="Line 52">
            <a:extLst>
              <a:ext uri="{FF2B5EF4-FFF2-40B4-BE49-F238E27FC236}">
                <a16:creationId xmlns:a16="http://schemas.microsoft.com/office/drawing/2014/main" id="{94B24A00-0104-441B-AF06-B4BBAEF2EE6C}"/>
              </a:ext>
            </a:extLst>
          </p:cNvPr>
          <p:cNvSpPr>
            <a:spLocks noChangeShapeType="1"/>
          </p:cNvSpPr>
          <p:nvPr/>
        </p:nvSpPr>
        <p:spPr bwMode="auto">
          <a:xfrm>
            <a:off x="2324100" y="4533900"/>
            <a:ext cx="4948238"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7" name="Line 53">
            <a:extLst>
              <a:ext uri="{FF2B5EF4-FFF2-40B4-BE49-F238E27FC236}">
                <a16:creationId xmlns:a16="http://schemas.microsoft.com/office/drawing/2014/main" id="{A5DDA996-451F-4308-9CE7-78C5EAEE3C82}"/>
              </a:ext>
            </a:extLst>
          </p:cNvPr>
          <p:cNvSpPr>
            <a:spLocks noChangeShapeType="1"/>
          </p:cNvSpPr>
          <p:nvPr/>
        </p:nvSpPr>
        <p:spPr bwMode="auto">
          <a:xfrm>
            <a:off x="4070350" y="3360738"/>
            <a:ext cx="0" cy="1173162"/>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8" name="Line 54">
            <a:extLst>
              <a:ext uri="{FF2B5EF4-FFF2-40B4-BE49-F238E27FC236}">
                <a16:creationId xmlns:a16="http://schemas.microsoft.com/office/drawing/2014/main" id="{ED6F4A04-197C-47B8-8073-A4666159E96A}"/>
              </a:ext>
            </a:extLst>
          </p:cNvPr>
          <p:cNvSpPr>
            <a:spLocks noChangeShapeType="1"/>
          </p:cNvSpPr>
          <p:nvPr/>
        </p:nvSpPr>
        <p:spPr bwMode="auto">
          <a:xfrm>
            <a:off x="5445125" y="3360738"/>
            <a:ext cx="0" cy="1173162"/>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9" name="Line 55">
            <a:extLst>
              <a:ext uri="{FF2B5EF4-FFF2-40B4-BE49-F238E27FC236}">
                <a16:creationId xmlns:a16="http://schemas.microsoft.com/office/drawing/2014/main" id="{13179DA0-16BD-4923-80FE-FC9C24178FA6}"/>
              </a:ext>
            </a:extLst>
          </p:cNvPr>
          <p:cNvSpPr>
            <a:spLocks noChangeShapeType="1"/>
          </p:cNvSpPr>
          <p:nvPr/>
        </p:nvSpPr>
        <p:spPr bwMode="auto">
          <a:xfrm>
            <a:off x="2836863" y="3343275"/>
            <a:ext cx="2825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1" name="Line 57">
            <a:extLst>
              <a:ext uri="{FF2B5EF4-FFF2-40B4-BE49-F238E27FC236}">
                <a16:creationId xmlns:a16="http://schemas.microsoft.com/office/drawing/2014/main" id="{070CCB9C-9171-42FC-94DE-79CF2EC0D302}"/>
              </a:ext>
            </a:extLst>
          </p:cNvPr>
          <p:cNvSpPr>
            <a:spLocks noChangeShapeType="1"/>
          </p:cNvSpPr>
          <p:nvPr/>
        </p:nvSpPr>
        <p:spPr bwMode="auto">
          <a:xfrm>
            <a:off x="2605088" y="5395913"/>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2" name="Rectangle 58">
            <a:extLst>
              <a:ext uri="{FF2B5EF4-FFF2-40B4-BE49-F238E27FC236}">
                <a16:creationId xmlns:a16="http://schemas.microsoft.com/office/drawing/2014/main" id="{40365136-083B-4678-9DF0-CE33077FAAA3}"/>
              </a:ext>
            </a:extLst>
          </p:cNvPr>
          <p:cNvSpPr>
            <a:spLocks noChangeArrowheads="1"/>
          </p:cNvSpPr>
          <p:nvPr/>
        </p:nvSpPr>
        <p:spPr bwMode="auto">
          <a:xfrm>
            <a:off x="1544638" y="5267325"/>
            <a:ext cx="1131887"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1</a:t>
            </a:r>
          </a:p>
        </p:txBody>
      </p:sp>
      <p:sp>
        <p:nvSpPr>
          <p:cNvPr id="6203" name="Line 59">
            <a:extLst>
              <a:ext uri="{FF2B5EF4-FFF2-40B4-BE49-F238E27FC236}">
                <a16:creationId xmlns:a16="http://schemas.microsoft.com/office/drawing/2014/main" id="{293AD58A-5D9A-463B-B69A-B4E03F669453}"/>
              </a:ext>
            </a:extLst>
          </p:cNvPr>
          <p:cNvSpPr>
            <a:spLocks noChangeShapeType="1"/>
          </p:cNvSpPr>
          <p:nvPr/>
        </p:nvSpPr>
        <p:spPr bwMode="auto">
          <a:xfrm>
            <a:off x="2605088" y="5599113"/>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4" name="Rectangle 60">
            <a:extLst>
              <a:ext uri="{FF2B5EF4-FFF2-40B4-BE49-F238E27FC236}">
                <a16:creationId xmlns:a16="http://schemas.microsoft.com/office/drawing/2014/main" id="{7E96B867-1283-4E33-B444-22C5E93AD8BF}"/>
              </a:ext>
            </a:extLst>
          </p:cNvPr>
          <p:cNvSpPr>
            <a:spLocks noChangeArrowheads="1"/>
          </p:cNvSpPr>
          <p:nvPr/>
        </p:nvSpPr>
        <p:spPr bwMode="auto">
          <a:xfrm>
            <a:off x="1544638" y="5472113"/>
            <a:ext cx="1131887"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2</a:t>
            </a:r>
          </a:p>
        </p:txBody>
      </p:sp>
      <p:sp>
        <p:nvSpPr>
          <p:cNvPr id="6205" name="Line 61">
            <a:extLst>
              <a:ext uri="{FF2B5EF4-FFF2-40B4-BE49-F238E27FC236}">
                <a16:creationId xmlns:a16="http://schemas.microsoft.com/office/drawing/2014/main" id="{D412BA93-EA73-4D71-8A70-1697962C55BC}"/>
              </a:ext>
            </a:extLst>
          </p:cNvPr>
          <p:cNvSpPr>
            <a:spLocks noChangeShapeType="1"/>
          </p:cNvSpPr>
          <p:nvPr/>
        </p:nvSpPr>
        <p:spPr bwMode="auto">
          <a:xfrm>
            <a:off x="2605088" y="6207125"/>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6" name="Rectangle 62">
            <a:extLst>
              <a:ext uri="{FF2B5EF4-FFF2-40B4-BE49-F238E27FC236}">
                <a16:creationId xmlns:a16="http://schemas.microsoft.com/office/drawing/2014/main" id="{9A80C567-56B4-4873-AD46-C90922E853A3}"/>
              </a:ext>
            </a:extLst>
          </p:cNvPr>
          <p:cNvSpPr>
            <a:spLocks noChangeArrowheads="1"/>
          </p:cNvSpPr>
          <p:nvPr/>
        </p:nvSpPr>
        <p:spPr bwMode="auto">
          <a:xfrm>
            <a:off x="1544638" y="6078538"/>
            <a:ext cx="11398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9-bit address</a:t>
            </a:r>
          </a:p>
        </p:txBody>
      </p:sp>
      <p:sp>
        <p:nvSpPr>
          <p:cNvPr id="6207" name="Rectangle 63">
            <a:extLst>
              <a:ext uri="{FF2B5EF4-FFF2-40B4-BE49-F238E27FC236}">
                <a16:creationId xmlns:a16="http://schemas.microsoft.com/office/drawing/2014/main" id="{8D1C5F33-2A70-40E7-BD07-70BEE44AC457}"/>
              </a:ext>
            </a:extLst>
          </p:cNvPr>
          <p:cNvSpPr>
            <a:spLocks noChangeArrowheads="1"/>
          </p:cNvSpPr>
          <p:nvPr/>
        </p:nvSpPr>
        <p:spPr bwMode="auto">
          <a:xfrm>
            <a:off x="2935288" y="5256213"/>
            <a:ext cx="4810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a:t>
            </a:r>
          </a:p>
        </p:txBody>
      </p:sp>
      <p:sp>
        <p:nvSpPr>
          <p:cNvPr id="6208" name="Rectangle 64">
            <a:extLst>
              <a:ext uri="{FF2B5EF4-FFF2-40B4-BE49-F238E27FC236}">
                <a16:creationId xmlns:a16="http://schemas.microsoft.com/office/drawing/2014/main" id="{D6DC12DE-80D6-4B7E-B966-A0830958965F}"/>
              </a:ext>
            </a:extLst>
          </p:cNvPr>
          <p:cNvSpPr>
            <a:spLocks noChangeArrowheads="1"/>
          </p:cNvSpPr>
          <p:nvPr/>
        </p:nvSpPr>
        <p:spPr bwMode="auto">
          <a:xfrm>
            <a:off x="2935288" y="5459413"/>
            <a:ext cx="4810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CS2</a:t>
            </a:r>
          </a:p>
        </p:txBody>
      </p:sp>
      <p:sp>
        <p:nvSpPr>
          <p:cNvPr id="6209" name="Rectangle 65">
            <a:extLst>
              <a:ext uri="{FF2B5EF4-FFF2-40B4-BE49-F238E27FC236}">
                <a16:creationId xmlns:a16="http://schemas.microsoft.com/office/drawing/2014/main" id="{7B53B8DC-F6B2-4D07-BD14-A919F9F74E61}"/>
              </a:ext>
            </a:extLst>
          </p:cNvPr>
          <p:cNvSpPr>
            <a:spLocks noChangeArrowheads="1"/>
          </p:cNvSpPr>
          <p:nvPr/>
        </p:nvSpPr>
        <p:spPr bwMode="auto">
          <a:xfrm>
            <a:off x="2947988" y="6091238"/>
            <a:ext cx="5318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AD 9</a:t>
            </a:r>
          </a:p>
        </p:txBody>
      </p:sp>
      <p:sp>
        <p:nvSpPr>
          <p:cNvPr id="6210" name="Rectangle 66">
            <a:extLst>
              <a:ext uri="{FF2B5EF4-FFF2-40B4-BE49-F238E27FC236}">
                <a16:creationId xmlns:a16="http://schemas.microsoft.com/office/drawing/2014/main" id="{61EF2145-EF72-4E1D-BA27-AE28561A48C9}"/>
              </a:ext>
            </a:extLst>
          </p:cNvPr>
          <p:cNvSpPr>
            <a:spLocks noChangeArrowheads="1"/>
          </p:cNvSpPr>
          <p:nvPr/>
        </p:nvSpPr>
        <p:spPr bwMode="auto">
          <a:xfrm>
            <a:off x="3525838" y="5613400"/>
            <a:ext cx="69373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512 x 8</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211" name="Rectangle 67">
            <a:extLst>
              <a:ext uri="{FF2B5EF4-FFF2-40B4-BE49-F238E27FC236}">
                <a16:creationId xmlns:a16="http://schemas.microsoft.com/office/drawing/2014/main" id="{310F36F5-523A-4DC0-A300-67CFF5222C17}"/>
              </a:ext>
            </a:extLst>
          </p:cNvPr>
          <p:cNvSpPr>
            <a:spLocks noChangeArrowheads="1"/>
          </p:cNvSpPr>
          <p:nvPr/>
        </p:nvSpPr>
        <p:spPr bwMode="auto">
          <a:xfrm>
            <a:off x="3613150" y="5781675"/>
            <a:ext cx="54133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ROM</a:t>
            </a:r>
          </a:p>
        </p:txBody>
      </p:sp>
      <p:sp>
        <p:nvSpPr>
          <p:cNvPr id="6212" name="Rectangle 68">
            <a:extLst>
              <a:ext uri="{FF2B5EF4-FFF2-40B4-BE49-F238E27FC236}">
                <a16:creationId xmlns:a16="http://schemas.microsoft.com/office/drawing/2014/main" id="{35764E41-5B46-48BA-B46B-56D129176279}"/>
              </a:ext>
            </a:extLst>
          </p:cNvPr>
          <p:cNvSpPr>
            <a:spLocks noChangeArrowheads="1"/>
          </p:cNvSpPr>
          <p:nvPr/>
        </p:nvSpPr>
        <p:spPr bwMode="auto">
          <a:xfrm>
            <a:off x="2916238" y="5200650"/>
            <a:ext cx="1412875" cy="1200150"/>
          </a:xfrm>
          <a:prstGeom prst="rect">
            <a:avLst/>
          </a:prstGeom>
          <a:noFill/>
          <a:ln w="25400">
            <a:solidFill>
              <a:srgbClr val="000000"/>
            </a:solidFill>
            <a:miter lim="800000"/>
            <a:headEnd/>
            <a:tailEnd/>
          </a:ln>
          <a:effectLst/>
        </p:spPr>
        <p:txBody>
          <a:bodyPr wrap="none" anchor="ctr"/>
          <a:lstStyle/>
          <a:p>
            <a:pPr algn="ctr">
              <a:defRPr/>
            </a:pPr>
            <a:endParaRPr lang="en-US" b="1">
              <a:latin typeface="+mn-lt"/>
              <a:ea typeface="굴림" pitchFamily="34" charset="-127"/>
            </a:endParaRPr>
          </a:p>
        </p:txBody>
      </p:sp>
      <p:sp>
        <p:nvSpPr>
          <p:cNvPr id="6213" name="Arc 69">
            <a:extLst>
              <a:ext uri="{FF2B5EF4-FFF2-40B4-BE49-F238E27FC236}">
                <a16:creationId xmlns:a16="http://schemas.microsoft.com/office/drawing/2014/main" id="{41FB51E8-CB98-4474-8F78-9577644F5CDC}"/>
              </a:ext>
            </a:extLst>
          </p:cNvPr>
          <p:cNvSpPr>
            <a:spLocks/>
          </p:cNvSpPr>
          <p:nvPr/>
        </p:nvSpPr>
        <p:spPr bwMode="auto">
          <a:xfrm>
            <a:off x="4859338" y="5745163"/>
            <a:ext cx="117475" cy="90487"/>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214" name="Line 70">
            <a:extLst>
              <a:ext uri="{FF2B5EF4-FFF2-40B4-BE49-F238E27FC236}">
                <a16:creationId xmlns:a16="http://schemas.microsoft.com/office/drawing/2014/main" id="{05E16CF3-69CC-48F7-A8B3-18FB0A4B80EB}"/>
              </a:ext>
            </a:extLst>
          </p:cNvPr>
          <p:cNvSpPr>
            <a:spLocks noChangeShapeType="1"/>
          </p:cNvSpPr>
          <p:nvPr/>
        </p:nvSpPr>
        <p:spPr bwMode="auto">
          <a:xfrm>
            <a:off x="4344988" y="5792788"/>
            <a:ext cx="5222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15" name="Rectangle 71">
            <a:extLst>
              <a:ext uri="{FF2B5EF4-FFF2-40B4-BE49-F238E27FC236}">
                <a16:creationId xmlns:a16="http://schemas.microsoft.com/office/drawing/2014/main" id="{B2E3FF75-8267-467D-889F-EBDE3AE6D352}"/>
              </a:ext>
            </a:extLst>
          </p:cNvPr>
          <p:cNvSpPr>
            <a:spLocks noChangeArrowheads="1"/>
          </p:cNvSpPr>
          <p:nvPr/>
        </p:nvSpPr>
        <p:spPr bwMode="auto">
          <a:xfrm>
            <a:off x="4967288" y="5661025"/>
            <a:ext cx="1184275"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8-bit data bus</a:t>
            </a:r>
          </a:p>
        </p:txBody>
      </p:sp>
      <p:sp>
        <p:nvSpPr>
          <p:cNvPr id="6216" name="Line 72">
            <a:extLst>
              <a:ext uri="{FF2B5EF4-FFF2-40B4-BE49-F238E27FC236}">
                <a16:creationId xmlns:a16="http://schemas.microsoft.com/office/drawing/2014/main" id="{4A71568D-71BE-4759-A12A-397316C974B8}"/>
              </a:ext>
            </a:extLst>
          </p:cNvPr>
          <p:cNvSpPr>
            <a:spLocks noChangeShapeType="1"/>
          </p:cNvSpPr>
          <p:nvPr/>
        </p:nvSpPr>
        <p:spPr bwMode="auto">
          <a:xfrm>
            <a:off x="3024188" y="5491163"/>
            <a:ext cx="2952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8264" name="Rectangle 74">
            <a:extLst>
              <a:ext uri="{FF2B5EF4-FFF2-40B4-BE49-F238E27FC236}">
                <a16:creationId xmlns:a16="http://schemas.microsoft.com/office/drawing/2014/main" id="{2A2472A9-F8C7-48FB-9EFE-F33A56145E73}"/>
              </a:ext>
            </a:extLst>
          </p:cNvPr>
          <p:cNvSpPr>
            <a:spLocks noChangeArrowheads="1"/>
          </p:cNvSpPr>
          <p:nvPr/>
        </p:nvSpPr>
        <p:spPr bwMode="auto">
          <a:xfrm>
            <a:off x="7829550"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59D22BF-42FD-411C-9B96-59C994C02F01}"/>
              </a:ext>
            </a:extLst>
          </p:cNvPr>
          <p:cNvSpPr>
            <a:spLocks noGrp="1" noChangeArrowheads="1"/>
          </p:cNvSpPr>
          <p:nvPr>
            <p:ph type="title"/>
          </p:nvPr>
        </p:nvSpPr>
        <p:spPr>
          <a:xfrm>
            <a:off x="790575" y="273050"/>
            <a:ext cx="7589838" cy="471488"/>
          </a:xfrm>
          <a:noFill/>
        </p:spPr>
        <p:txBody>
          <a:bodyPr anchor="ctr"/>
          <a:lstStyle/>
          <a:p>
            <a:r>
              <a:rPr lang="en-US" altLang="ko-KR" sz="2400" b="1">
                <a:solidFill>
                  <a:schemeClr val="tx1"/>
                </a:solidFill>
              </a:rPr>
              <a:t>MEMORY  ADDRESS  MAP</a:t>
            </a:r>
          </a:p>
        </p:txBody>
      </p:sp>
      <p:grpSp>
        <p:nvGrpSpPr>
          <p:cNvPr id="9219" name="Group 20">
            <a:extLst>
              <a:ext uri="{FF2B5EF4-FFF2-40B4-BE49-F238E27FC236}">
                <a16:creationId xmlns:a16="http://schemas.microsoft.com/office/drawing/2014/main" id="{365DAD2F-B1CA-4D8B-81CB-2750B99DC051}"/>
              </a:ext>
            </a:extLst>
          </p:cNvPr>
          <p:cNvGrpSpPr>
            <a:grpSpLocks/>
          </p:cNvGrpSpPr>
          <p:nvPr/>
        </p:nvGrpSpPr>
        <p:grpSpPr bwMode="auto">
          <a:xfrm>
            <a:off x="1143000" y="2214563"/>
            <a:ext cx="4837113" cy="1573212"/>
            <a:chOff x="1030" y="1353"/>
            <a:chExt cx="3047" cy="991"/>
          </a:xfrm>
        </p:grpSpPr>
        <p:sp>
          <p:nvSpPr>
            <p:cNvPr id="7171" name="Rectangle 3">
              <a:extLst>
                <a:ext uri="{FF2B5EF4-FFF2-40B4-BE49-F238E27FC236}">
                  <a16:creationId xmlns:a16="http://schemas.microsoft.com/office/drawing/2014/main" id="{F4A5183A-DE43-47C8-A7D4-3F43A37BF45B}"/>
                </a:ext>
              </a:extLst>
            </p:cNvPr>
            <p:cNvSpPr>
              <a:spLocks noChangeArrowheads="1"/>
            </p:cNvSpPr>
            <p:nvPr/>
          </p:nvSpPr>
          <p:spPr bwMode="auto">
            <a:xfrm>
              <a:off x="1095" y="1684"/>
              <a:ext cx="409" cy="614"/>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RAM  1</a:t>
              </a:r>
            </a:p>
            <a:p>
              <a:pPr algn="ctr" defTabSz="762000">
                <a:defRPr/>
              </a:pPr>
              <a:r>
                <a:rPr lang="en-US" altLang="ko-KR" sz="1200" b="1" dirty="0">
                  <a:latin typeface="+mn-lt"/>
                  <a:ea typeface="굴림" pitchFamily="34" charset="-127"/>
                </a:rPr>
                <a:t>RAM  2</a:t>
              </a:r>
            </a:p>
            <a:p>
              <a:pPr algn="ctr" defTabSz="762000">
                <a:defRPr/>
              </a:pPr>
              <a:r>
                <a:rPr lang="en-US" altLang="ko-KR" sz="1200" b="1" dirty="0">
                  <a:latin typeface="+mn-lt"/>
                  <a:ea typeface="굴림" pitchFamily="34" charset="-127"/>
                </a:rPr>
                <a:t>RAM  3</a:t>
              </a:r>
            </a:p>
            <a:p>
              <a:pPr algn="ctr" defTabSz="762000">
                <a:defRPr/>
              </a:pPr>
              <a:r>
                <a:rPr lang="en-US" altLang="ko-KR" sz="1200" b="1" dirty="0">
                  <a:latin typeface="+mn-lt"/>
                  <a:ea typeface="굴림" pitchFamily="34" charset="-127"/>
                </a:rPr>
                <a:t>RAM  4</a:t>
              </a:r>
            </a:p>
            <a:p>
              <a:pPr defTabSz="762000">
                <a:defRPr/>
              </a:pPr>
              <a:r>
                <a:rPr lang="en-US" altLang="ko-KR" sz="1200" b="1" dirty="0">
                  <a:latin typeface="+mn-lt"/>
                  <a:ea typeface="굴림" pitchFamily="34" charset="-127"/>
                </a:rPr>
                <a:t>ROM</a:t>
              </a:r>
            </a:p>
          </p:txBody>
        </p:sp>
        <p:sp>
          <p:nvSpPr>
            <p:cNvPr id="7172" name="Rectangle 4">
              <a:extLst>
                <a:ext uri="{FF2B5EF4-FFF2-40B4-BE49-F238E27FC236}">
                  <a16:creationId xmlns:a16="http://schemas.microsoft.com/office/drawing/2014/main" id="{86D1AABD-6A00-4C12-AC9A-17181881BD34}"/>
                </a:ext>
              </a:extLst>
            </p:cNvPr>
            <p:cNvSpPr>
              <a:spLocks noChangeArrowheads="1"/>
            </p:cNvSpPr>
            <p:nvPr/>
          </p:nvSpPr>
          <p:spPr bwMode="auto">
            <a:xfrm>
              <a:off x="1794" y="1684"/>
              <a:ext cx="608" cy="614"/>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0000 - 007F</a:t>
              </a:r>
            </a:p>
            <a:p>
              <a:pPr algn="ctr" defTabSz="762000">
                <a:defRPr/>
              </a:pPr>
              <a:r>
                <a:rPr lang="en-US" altLang="ko-KR" sz="1200" b="1">
                  <a:latin typeface="+mn-lt"/>
                  <a:ea typeface="굴림" pitchFamily="34" charset="-127"/>
                </a:rPr>
                <a:t>0080 - 00FF</a:t>
              </a:r>
            </a:p>
            <a:p>
              <a:pPr algn="ctr" defTabSz="762000">
                <a:defRPr/>
              </a:pPr>
              <a:r>
                <a:rPr lang="en-US" altLang="ko-KR" sz="1200" b="1">
                  <a:latin typeface="+mn-lt"/>
                  <a:ea typeface="굴림" pitchFamily="34" charset="-127"/>
                </a:rPr>
                <a:t>0100 - 017F</a:t>
              </a:r>
            </a:p>
            <a:p>
              <a:pPr algn="ctr" defTabSz="762000">
                <a:defRPr/>
              </a:pPr>
              <a:r>
                <a:rPr lang="en-US" altLang="ko-KR" sz="1200" b="1">
                  <a:latin typeface="+mn-lt"/>
                  <a:ea typeface="굴림" pitchFamily="34" charset="-127"/>
                </a:rPr>
                <a:t>0180 - 01FF</a:t>
              </a:r>
            </a:p>
            <a:p>
              <a:pPr algn="ctr" defTabSz="762000">
                <a:defRPr/>
              </a:pPr>
              <a:r>
                <a:rPr lang="en-US" altLang="ko-KR" sz="1200" b="1">
                  <a:latin typeface="+mn-lt"/>
                  <a:ea typeface="굴림" pitchFamily="34" charset="-127"/>
                </a:rPr>
                <a:t>0200 - 03FF</a:t>
              </a:r>
            </a:p>
          </p:txBody>
        </p:sp>
        <p:sp>
          <p:nvSpPr>
            <p:cNvPr id="7173" name="Rectangle 5">
              <a:extLst>
                <a:ext uri="{FF2B5EF4-FFF2-40B4-BE49-F238E27FC236}">
                  <a16:creationId xmlns:a16="http://schemas.microsoft.com/office/drawing/2014/main" id="{B0564F61-4B35-4C14-A4E7-DB715E2F3DA4}"/>
                </a:ext>
              </a:extLst>
            </p:cNvPr>
            <p:cNvSpPr>
              <a:spLocks noChangeArrowheads="1"/>
            </p:cNvSpPr>
            <p:nvPr/>
          </p:nvSpPr>
          <p:spPr bwMode="auto">
            <a:xfrm>
              <a:off x="1030" y="1470"/>
              <a:ext cx="620"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Component</a:t>
              </a:r>
            </a:p>
          </p:txBody>
        </p:sp>
        <p:sp>
          <p:nvSpPr>
            <p:cNvPr id="7174" name="Rectangle 6">
              <a:extLst>
                <a:ext uri="{FF2B5EF4-FFF2-40B4-BE49-F238E27FC236}">
                  <a16:creationId xmlns:a16="http://schemas.microsoft.com/office/drawing/2014/main" id="{6242CFEE-537B-41D1-AAE1-954BD82B6E1B}"/>
                </a:ext>
              </a:extLst>
            </p:cNvPr>
            <p:cNvSpPr>
              <a:spLocks noChangeArrowheads="1"/>
            </p:cNvSpPr>
            <p:nvPr/>
          </p:nvSpPr>
          <p:spPr bwMode="auto">
            <a:xfrm>
              <a:off x="1750" y="1398"/>
              <a:ext cx="671" cy="265"/>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Hexadecimal</a:t>
              </a:r>
            </a:p>
            <a:p>
              <a:pPr algn="ctr" defTabSz="762000">
                <a:defRPr/>
              </a:pPr>
              <a:r>
                <a:rPr lang="en-US" altLang="ko-KR" sz="1200" b="1" dirty="0">
                  <a:latin typeface="+mn-lt"/>
                  <a:ea typeface="굴림" pitchFamily="34" charset="-127"/>
                </a:rPr>
                <a:t>address</a:t>
              </a:r>
            </a:p>
          </p:txBody>
        </p:sp>
        <p:sp>
          <p:nvSpPr>
            <p:cNvPr id="7175" name="Rectangle 7">
              <a:extLst>
                <a:ext uri="{FF2B5EF4-FFF2-40B4-BE49-F238E27FC236}">
                  <a16:creationId xmlns:a16="http://schemas.microsoft.com/office/drawing/2014/main" id="{44DD7DE2-D7E8-44B9-A46B-2144E288A7D9}"/>
                </a:ext>
              </a:extLst>
            </p:cNvPr>
            <p:cNvSpPr>
              <a:spLocks noChangeArrowheads="1"/>
            </p:cNvSpPr>
            <p:nvPr/>
          </p:nvSpPr>
          <p:spPr bwMode="auto">
            <a:xfrm>
              <a:off x="2552" y="1684"/>
              <a:ext cx="1447" cy="660"/>
            </a:xfrm>
            <a:prstGeom prst="rect">
              <a:avLst/>
            </a:prstGeom>
            <a:noFill/>
            <a:ln w="12700">
              <a:noFill/>
              <a:miter lim="800000"/>
              <a:headEnd/>
              <a:tailEnd/>
            </a:ln>
            <a:effectLst/>
          </p:spPr>
          <p:txBody>
            <a:bodyPr wrap="none" lIns="63500" tIns="25400" rIns="63500" bIns="25400">
              <a:spAutoFit/>
            </a:bodyPr>
            <a:lstStyle/>
            <a:p>
              <a:pPr algn="ctr" defTabSz="762000">
                <a:lnSpc>
                  <a:spcPct val="92000"/>
                </a:lnSpc>
                <a:defRPr/>
              </a:pPr>
              <a:r>
                <a:rPr lang="en-US" altLang="ko-KR" sz="1200" b="1">
                  <a:latin typeface="+mn-lt"/>
                  <a:ea typeface="굴림" pitchFamily="34" charset="-127"/>
                </a:rPr>
                <a:t>0   0     0   x   x   x     x   x   x   x</a:t>
              </a:r>
            </a:p>
            <a:p>
              <a:pPr algn="ctr" defTabSz="762000">
                <a:lnSpc>
                  <a:spcPct val="92000"/>
                </a:lnSpc>
                <a:defRPr/>
              </a:pPr>
              <a:r>
                <a:rPr lang="en-US" altLang="ko-KR" sz="1200" b="1">
                  <a:latin typeface="+mn-lt"/>
                  <a:ea typeface="굴림" pitchFamily="34" charset="-127"/>
                </a:rPr>
                <a:t>0   0     1   x   x   x     x   x   x   x</a:t>
              </a:r>
            </a:p>
            <a:p>
              <a:pPr algn="ctr" defTabSz="762000">
                <a:lnSpc>
                  <a:spcPct val="92000"/>
                </a:lnSpc>
                <a:defRPr/>
              </a:pPr>
              <a:r>
                <a:rPr lang="en-US" altLang="ko-KR" sz="1200" b="1">
                  <a:latin typeface="+mn-lt"/>
                  <a:ea typeface="굴림" pitchFamily="34" charset="-127"/>
                </a:rPr>
                <a:t>0   1     0   x   x   x     x   x   x   x</a:t>
              </a:r>
            </a:p>
            <a:p>
              <a:pPr algn="ctr" defTabSz="762000">
                <a:lnSpc>
                  <a:spcPct val="92000"/>
                </a:lnSpc>
                <a:defRPr/>
              </a:pPr>
              <a:r>
                <a:rPr lang="en-US" altLang="ko-KR" sz="1200" b="1">
                  <a:latin typeface="+mn-lt"/>
                  <a:ea typeface="굴림" pitchFamily="34" charset="-127"/>
                </a:rPr>
                <a:t>0   1     1   x   x   x     x   x   x   x</a:t>
              </a:r>
            </a:p>
            <a:p>
              <a:pPr algn="ctr" defTabSz="762000">
                <a:lnSpc>
                  <a:spcPct val="92000"/>
                </a:lnSpc>
                <a:defRPr/>
              </a:pPr>
              <a:r>
                <a:rPr lang="en-US" altLang="ko-KR" sz="1200" b="1">
                  <a:latin typeface="+mn-lt"/>
                  <a:ea typeface="굴림" pitchFamily="34" charset="-127"/>
                </a:rPr>
                <a:t>1   x     x   x   x   x     x   x   x   x</a:t>
              </a:r>
            </a:p>
            <a:p>
              <a:pPr algn="ctr" defTabSz="762000" eaLnBrk="1">
                <a:lnSpc>
                  <a:spcPct val="85000"/>
                </a:lnSpc>
                <a:defRPr/>
              </a:pPr>
              <a:endParaRPr lang="en-US" altLang="ko-KR" sz="1200" b="1">
                <a:latin typeface="+mn-lt"/>
                <a:ea typeface="굴림" pitchFamily="34" charset="-127"/>
              </a:endParaRPr>
            </a:p>
          </p:txBody>
        </p:sp>
        <p:sp>
          <p:nvSpPr>
            <p:cNvPr id="7176" name="Rectangle 8">
              <a:extLst>
                <a:ext uri="{FF2B5EF4-FFF2-40B4-BE49-F238E27FC236}">
                  <a16:creationId xmlns:a16="http://schemas.microsoft.com/office/drawing/2014/main" id="{CC18078F-3A4C-4FCC-BFDB-833355DAD6F9}"/>
                </a:ext>
              </a:extLst>
            </p:cNvPr>
            <p:cNvSpPr>
              <a:spLocks noChangeArrowheads="1"/>
            </p:cNvSpPr>
            <p:nvPr/>
          </p:nvSpPr>
          <p:spPr bwMode="auto">
            <a:xfrm>
              <a:off x="2494" y="1521"/>
              <a:ext cx="1515"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10   9     8   7   6   5     4   3   2   1</a:t>
              </a:r>
            </a:p>
          </p:txBody>
        </p:sp>
        <p:sp>
          <p:nvSpPr>
            <p:cNvPr id="7177" name="Rectangle 9">
              <a:extLst>
                <a:ext uri="{FF2B5EF4-FFF2-40B4-BE49-F238E27FC236}">
                  <a16:creationId xmlns:a16="http://schemas.microsoft.com/office/drawing/2014/main" id="{47A7E28D-DB31-468C-BF93-F582C4C4F6C0}"/>
                </a:ext>
              </a:extLst>
            </p:cNvPr>
            <p:cNvSpPr>
              <a:spLocks noChangeArrowheads="1"/>
            </p:cNvSpPr>
            <p:nvPr/>
          </p:nvSpPr>
          <p:spPr bwMode="auto">
            <a:xfrm>
              <a:off x="2865" y="1358"/>
              <a:ext cx="667"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Address bus</a:t>
              </a:r>
            </a:p>
          </p:txBody>
        </p:sp>
        <p:sp>
          <p:nvSpPr>
            <p:cNvPr id="7178" name="Rectangle 10">
              <a:extLst>
                <a:ext uri="{FF2B5EF4-FFF2-40B4-BE49-F238E27FC236}">
                  <a16:creationId xmlns:a16="http://schemas.microsoft.com/office/drawing/2014/main" id="{F0428732-1E10-4B40-8691-6BFE201D3172}"/>
                </a:ext>
              </a:extLst>
            </p:cNvPr>
            <p:cNvSpPr>
              <a:spLocks noChangeArrowheads="1"/>
            </p:cNvSpPr>
            <p:nvPr/>
          </p:nvSpPr>
          <p:spPr bwMode="auto">
            <a:xfrm>
              <a:off x="1042" y="1353"/>
              <a:ext cx="3035" cy="982"/>
            </a:xfrm>
            <a:prstGeom prst="rect">
              <a:avLst/>
            </a:prstGeom>
            <a:noFill/>
            <a:ln w="12700">
              <a:solidFill>
                <a:schemeClr val="tx1"/>
              </a:solidFill>
              <a:miter lim="800000"/>
              <a:headEnd/>
              <a:tailEnd/>
            </a:ln>
            <a:effectLst/>
          </p:spPr>
          <p:txBody>
            <a:bodyPr wrap="none" anchor="ctr"/>
            <a:lstStyle/>
            <a:p>
              <a:pPr algn="ctr">
                <a:defRPr/>
              </a:pPr>
              <a:endParaRPr lang="en-US" sz="1200" b="1">
                <a:latin typeface="+mn-lt"/>
                <a:ea typeface="굴림" pitchFamily="34" charset="-127"/>
              </a:endParaRPr>
            </a:p>
          </p:txBody>
        </p:sp>
        <p:sp>
          <p:nvSpPr>
            <p:cNvPr id="7179" name="Line 11">
              <a:extLst>
                <a:ext uri="{FF2B5EF4-FFF2-40B4-BE49-F238E27FC236}">
                  <a16:creationId xmlns:a16="http://schemas.microsoft.com/office/drawing/2014/main" id="{85F7917D-CE13-43DB-B4FA-A74A2087EFA2}"/>
                </a:ext>
              </a:extLst>
            </p:cNvPr>
            <p:cNvSpPr>
              <a:spLocks noChangeShapeType="1"/>
            </p:cNvSpPr>
            <p:nvPr/>
          </p:nvSpPr>
          <p:spPr bwMode="auto">
            <a:xfrm>
              <a:off x="1042" y="1675"/>
              <a:ext cx="3035" cy="0"/>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sp>
          <p:nvSpPr>
            <p:cNvPr id="7180" name="Line 12">
              <a:extLst>
                <a:ext uri="{FF2B5EF4-FFF2-40B4-BE49-F238E27FC236}">
                  <a16:creationId xmlns:a16="http://schemas.microsoft.com/office/drawing/2014/main" id="{49013431-1850-4D68-AA84-CEF006DBE0B7}"/>
                </a:ext>
              </a:extLst>
            </p:cNvPr>
            <p:cNvSpPr>
              <a:spLocks noChangeShapeType="1"/>
            </p:cNvSpPr>
            <p:nvPr/>
          </p:nvSpPr>
          <p:spPr bwMode="auto">
            <a:xfrm>
              <a:off x="2431" y="1353"/>
              <a:ext cx="0" cy="982"/>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sp>
          <p:nvSpPr>
            <p:cNvPr id="7181" name="Line 13">
              <a:extLst>
                <a:ext uri="{FF2B5EF4-FFF2-40B4-BE49-F238E27FC236}">
                  <a16:creationId xmlns:a16="http://schemas.microsoft.com/office/drawing/2014/main" id="{7FC98306-E700-4D95-8788-853A21157A6D}"/>
                </a:ext>
              </a:extLst>
            </p:cNvPr>
            <p:cNvSpPr>
              <a:spLocks noChangeShapeType="1"/>
            </p:cNvSpPr>
            <p:nvPr/>
          </p:nvSpPr>
          <p:spPr bwMode="auto">
            <a:xfrm>
              <a:off x="2443" y="1512"/>
              <a:ext cx="1634" cy="0"/>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grpSp>
      <p:grpSp>
        <p:nvGrpSpPr>
          <p:cNvPr id="9220" name="Group 16">
            <a:extLst>
              <a:ext uri="{FF2B5EF4-FFF2-40B4-BE49-F238E27FC236}">
                <a16:creationId xmlns:a16="http://schemas.microsoft.com/office/drawing/2014/main" id="{E255F1D1-F891-42A2-AFAD-719C56DC9C75}"/>
              </a:ext>
            </a:extLst>
          </p:cNvPr>
          <p:cNvGrpSpPr>
            <a:grpSpLocks/>
          </p:cNvGrpSpPr>
          <p:nvPr/>
        </p:nvGrpSpPr>
        <p:grpSpPr bwMode="auto">
          <a:xfrm>
            <a:off x="890588" y="4249738"/>
            <a:ext cx="5884862" cy="2120900"/>
            <a:chOff x="392" y="3200"/>
            <a:chExt cx="2678" cy="1929"/>
          </a:xfrm>
        </p:grpSpPr>
        <p:sp>
          <p:nvSpPr>
            <p:cNvPr id="7182" name="Rectangle 14">
              <a:extLst>
                <a:ext uri="{FF2B5EF4-FFF2-40B4-BE49-F238E27FC236}">
                  <a16:creationId xmlns:a16="http://schemas.microsoft.com/office/drawing/2014/main" id="{8F5AAEA0-FFE8-4797-87A7-8DA932A31AC7}"/>
                </a:ext>
              </a:extLst>
            </p:cNvPr>
            <p:cNvSpPr>
              <a:spLocks noChangeArrowheads="1"/>
            </p:cNvSpPr>
            <p:nvPr/>
          </p:nvSpPr>
          <p:spPr bwMode="auto">
            <a:xfrm>
              <a:off x="392" y="3200"/>
              <a:ext cx="1447" cy="261"/>
            </a:xfrm>
            <a:prstGeom prst="rect">
              <a:avLst/>
            </a:prstGeom>
            <a:noFill/>
            <a:ln w="12700">
              <a:noFill/>
              <a:miter lim="800000"/>
              <a:headEnd/>
              <a:tailEnd/>
            </a:ln>
            <a:effectLst/>
          </p:spPr>
          <p:txBody>
            <a:bodyPr wrap="none" lIns="63500" tIns="25400" rIns="63500" bIns="25400">
              <a:spAutoFit/>
            </a:bodyPr>
            <a:lstStyle/>
            <a:p>
              <a:pPr algn="ctr" defTabSz="762000">
                <a:lnSpc>
                  <a:spcPct val="85000"/>
                </a:lnSpc>
                <a:defRPr/>
              </a:pPr>
              <a:r>
                <a:rPr lang="en-US" altLang="ko-KR" sz="1800" b="1" dirty="0">
                  <a:latin typeface="+mn-lt"/>
                  <a:ea typeface="굴림" pitchFamily="34" charset="-127"/>
                </a:rPr>
                <a:t>Memory Connection to CPU</a:t>
              </a:r>
            </a:p>
          </p:txBody>
        </p:sp>
        <p:sp>
          <p:nvSpPr>
            <p:cNvPr id="7183" name="Rectangle 15">
              <a:extLst>
                <a:ext uri="{FF2B5EF4-FFF2-40B4-BE49-F238E27FC236}">
                  <a16:creationId xmlns:a16="http://schemas.microsoft.com/office/drawing/2014/main" id="{847DC8A0-1317-42DA-BAFD-9F5ED8639661}"/>
                </a:ext>
              </a:extLst>
            </p:cNvPr>
            <p:cNvSpPr>
              <a:spLocks noChangeArrowheads="1"/>
            </p:cNvSpPr>
            <p:nvPr/>
          </p:nvSpPr>
          <p:spPr bwMode="auto">
            <a:xfrm>
              <a:off x="584" y="3495"/>
              <a:ext cx="2486" cy="1634"/>
            </a:xfrm>
            <a:prstGeom prst="rect">
              <a:avLst/>
            </a:prstGeom>
            <a:noFill/>
            <a:ln w="12700">
              <a:noFill/>
              <a:miter lim="800000"/>
              <a:headEnd/>
              <a:tailEnd/>
            </a:ln>
            <a:effectLst/>
          </p:spPr>
          <p:txBody>
            <a:bodyPr wrap="none" lIns="63500" tIns="25400" rIns="63500" bIns="25400">
              <a:spAutoFit/>
            </a:bodyPr>
            <a:lstStyle/>
            <a:p>
              <a:pPr algn="just" defTabSz="762000">
                <a:lnSpc>
                  <a:spcPct val="90000"/>
                </a:lnSpc>
                <a:defRPr/>
              </a:pPr>
              <a:r>
                <a:rPr lang="en-US" altLang="ko-KR" sz="1800" b="1" dirty="0">
                  <a:latin typeface="+mn-lt"/>
                  <a:ea typeface="굴림" pitchFamily="34" charset="-127"/>
                </a:rPr>
                <a:t>- RAM and ROM chips are connected to a CPU </a:t>
              </a:r>
            </a:p>
            <a:p>
              <a:pPr algn="just" defTabSz="762000">
                <a:lnSpc>
                  <a:spcPct val="90000"/>
                </a:lnSpc>
                <a:defRPr/>
              </a:pPr>
              <a:r>
                <a:rPr lang="en-US" altLang="ko-KR" sz="1800" b="1" dirty="0">
                  <a:latin typeface="+mn-lt"/>
                  <a:ea typeface="굴림" pitchFamily="34" charset="-127"/>
                </a:rPr>
                <a:t>   through the data and address buses</a:t>
              </a:r>
            </a:p>
            <a:p>
              <a:pPr algn="just" defTabSz="762000">
                <a:lnSpc>
                  <a:spcPct val="90000"/>
                </a:lnSpc>
                <a:defRPr/>
              </a:pPr>
              <a:endParaRPr lang="en-US" altLang="ko-KR" sz="1800" b="1" dirty="0">
                <a:latin typeface="+mn-lt"/>
                <a:ea typeface="굴림" pitchFamily="34" charset="-127"/>
              </a:endParaRPr>
            </a:p>
            <a:p>
              <a:pPr algn="just" defTabSz="762000">
                <a:lnSpc>
                  <a:spcPct val="90000"/>
                </a:lnSpc>
                <a:defRPr/>
              </a:pPr>
              <a:r>
                <a:rPr lang="en-US" altLang="ko-KR" sz="1800" b="1" dirty="0">
                  <a:latin typeface="+mn-lt"/>
                  <a:ea typeface="굴림" pitchFamily="34" charset="-127"/>
                </a:rPr>
                <a:t>- The low-order lines in the address bus select </a:t>
              </a:r>
            </a:p>
            <a:p>
              <a:pPr algn="just" defTabSz="762000">
                <a:lnSpc>
                  <a:spcPct val="90000"/>
                </a:lnSpc>
                <a:defRPr/>
              </a:pPr>
              <a:r>
                <a:rPr lang="en-US" altLang="ko-KR" sz="1800" b="1" dirty="0">
                  <a:latin typeface="+mn-lt"/>
                  <a:ea typeface="굴림" pitchFamily="34" charset="-127"/>
                </a:rPr>
                <a:t>   the byte within the chips and other lines in the </a:t>
              </a:r>
            </a:p>
            <a:p>
              <a:pPr algn="just" defTabSz="762000">
                <a:lnSpc>
                  <a:spcPct val="90000"/>
                </a:lnSpc>
                <a:defRPr/>
              </a:pPr>
              <a:r>
                <a:rPr lang="en-US" altLang="ko-KR" sz="1800" b="1" dirty="0">
                  <a:latin typeface="+mn-lt"/>
                  <a:ea typeface="굴림" pitchFamily="34" charset="-127"/>
                </a:rPr>
                <a:t>   address bus select a particular chip through </a:t>
              </a:r>
            </a:p>
            <a:p>
              <a:pPr algn="just" defTabSz="762000">
                <a:lnSpc>
                  <a:spcPct val="90000"/>
                </a:lnSpc>
                <a:defRPr/>
              </a:pPr>
              <a:r>
                <a:rPr lang="en-US" altLang="ko-KR" sz="1800" b="1" dirty="0">
                  <a:latin typeface="+mn-lt"/>
                  <a:ea typeface="굴림" pitchFamily="34" charset="-127"/>
                </a:rPr>
                <a:t>   its chip select inputs</a:t>
              </a:r>
            </a:p>
          </p:txBody>
        </p:sp>
      </p:grpSp>
      <p:sp>
        <p:nvSpPr>
          <p:cNvPr id="7185" name="Rectangle 17">
            <a:extLst>
              <a:ext uri="{FF2B5EF4-FFF2-40B4-BE49-F238E27FC236}">
                <a16:creationId xmlns:a16="http://schemas.microsoft.com/office/drawing/2014/main" id="{44BC694C-D24F-4F9E-B36D-E5CFDB9932D7}"/>
              </a:ext>
            </a:extLst>
          </p:cNvPr>
          <p:cNvSpPr>
            <a:spLocks noChangeArrowheads="1"/>
          </p:cNvSpPr>
          <p:nvPr/>
        </p:nvSpPr>
        <p:spPr bwMode="auto">
          <a:xfrm>
            <a:off x="727075" y="922338"/>
            <a:ext cx="5543550" cy="1087437"/>
          </a:xfrm>
          <a:prstGeom prst="rect">
            <a:avLst/>
          </a:prstGeom>
          <a:noFill/>
          <a:ln w="12700">
            <a:noFill/>
            <a:miter lim="800000"/>
            <a:headEnd/>
            <a:tailEnd/>
          </a:ln>
          <a:effectLst/>
        </p:spPr>
        <p:txBody>
          <a:bodyPr wrap="none" lIns="90488" tIns="44450" rIns="90488" bIns="44450">
            <a:spAutoFit/>
          </a:bodyPr>
          <a:lstStyle/>
          <a:p>
            <a:pPr algn="ctr" defTabSz="762000">
              <a:lnSpc>
                <a:spcPct val="90000"/>
              </a:lnSpc>
              <a:defRPr/>
            </a:pPr>
            <a:r>
              <a:rPr lang="en-US" altLang="ko-KR" sz="1800" b="1" dirty="0">
                <a:latin typeface="+mn-lt"/>
                <a:ea typeface="굴림" pitchFamily="34" charset="-127"/>
              </a:rPr>
              <a:t>Address space assignment to each memory chip</a:t>
            </a:r>
          </a:p>
          <a:p>
            <a:pPr algn="ctr" defTabSz="762000">
              <a:lnSpc>
                <a:spcPct val="90000"/>
              </a:lnSpc>
              <a:defRPr/>
            </a:pPr>
            <a:endParaRPr lang="en-US" altLang="ko-KR" sz="1800" b="1" dirty="0">
              <a:latin typeface="+mn-lt"/>
              <a:ea typeface="굴림" pitchFamily="34" charset="-127"/>
            </a:endParaRPr>
          </a:p>
          <a:p>
            <a:pPr algn="ctr" defTabSz="762000">
              <a:lnSpc>
                <a:spcPct val="90000"/>
              </a:lnSpc>
              <a:defRPr/>
            </a:pPr>
            <a:endParaRPr lang="en-US" altLang="ko-KR" sz="1800" b="1" dirty="0">
              <a:latin typeface="+mn-lt"/>
              <a:ea typeface="굴림" pitchFamily="34" charset="-127"/>
            </a:endParaRPr>
          </a:p>
          <a:p>
            <a:pPr algn="ctr" defTabSz="762000">
              <a:lnSpc>
                <a:spcPct val="90000"/>
              </a:lnSpc>
              <a:defRPr/>
            </a:pPr>
            <a:r>
              <a:rPr lang="en-US" altLang="ko-KR" sz="1800" b="1" dirty="0">
                <a:latin typeface="+mn-lt"/>
                <a:ea typeface="굴림" pitchFamily="34" charset="-127"/>
              </a:rPr>
              <a:t>Example:  512 bytes RAM and 512 bytes ROM</a:t>
            </a:r>
          </a:p>
        </p:txBody>
      </p:sp>
      <p:sp>
        <p:nvSpPr>
          <p:cNvPr id="9222" name="Rectangle 18">
            <a:extLst>
              <a:ext uri="{FF2B5EF4-FFF2-40B4-BE49-F238E27FC236}">
                <a16:creationId xmlns:a16="http://schemas.microsoft.com/office/drawing/2014/main" id="{78A6B364-5E2B-4345-8766-2A2A79ABB4E1}"/>
              </a:ext>
            </a:extLst>
          </p:cNvPr>
          <p:cNvSpPr>
            <a:spLocks noChangeArrowheads="1"/>
          </p:cNvSpPr>
          <p:nvPr/>
        </p:nvSpPr>
        <p:spPr bwMode="auto">
          <a:xfrm>
            <a:off x="7704138"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FF555D2-4DB5-4FB2-8C50-F8AB9D740774}"/>
              </a:ext>
            </a:extLst>
          </p:cNvPr>
          <p:cNvSpPr>
            <a:spLocks noGrp="1" noChangeArrowheads="1"/>
          </p:cNvSpPr>
          <p:nvPr>
            <p:ph type="title"/>
          </p:nvPr>
        </p:nvSpPr>
        <p:spPr>
          <a:xfrm>
            <a:off x="554038" y="263525"/>
            <a:ext cx="8116887" cy="469900"/>
          </a:xfrm>
          <a:noFill/>
        </p:spPr>
        <p:txBody>
          <a:bodyPr anchor="ctr"/>
          <a:lstStyle/>
          <a:p>
            <a:r>
              <a:rPr lang="en-US" altLang="ko-KR" sz="2400">
                <a:solidFill>
                  <a:schemeClr val="tx1"/>
                </a:solidFill>
              </a:rPr>
              <a:t>CONNECTION  OF  MEMORY  TO  CPU</a:t>
            </a:r>
          </a:p>
        </p:txBody>
      </p:sp>
      <p:sp>
        <p:nvSpPr>
          <p:cNvPr id="10243" name="Rectangle 173">
            <a:extLst>
              <a:ext uri="{FF2B5EF4-FFF2-40B4-BE49-F238E27FC236}">
                <a16:creationId xmlns:a16="http://schemas.microsoft.com/office/drawing/2014/main" id="{089EA7D3-AC0E-47C3-B7E3-6C9EED1EA1B2}"/>
              </a:ext>
            </a:extLst>
          </p:cNvPr>
          <p:cNvSpPr>
            <a:spLocks noChangeArrowheads="1"/>
          </p:cNvSpPr>
          <p:nvPr/>
        </p:nvSpPr>
        <p:spPr bwMode="auto">
          <a:xfrm>
            <a:off x="7829550"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pic>
        <p:nvPicPr>
          <p:cNvPr id="10244" name="Picture 3">
            <a:extLst>
              <a:ext uri="{FF2B5EF4-FFF2-40B4-BE49-F238E27FC236}">
                <a16:creationId xmlns:a16="http://schemas.microsoft.com/office/drawing/2014/main" id="{5F68AD25-DA70-479E-8396-3F90680CC00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0175" y="6008688"/>
            <a:ext cx="228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196" name="Arc 4">
            <a:extLst>
              <a:ext uri="{FF2B5EF4-FFF2-40B4-BE49-F238E27FC236}">
                <a16:creationId xmlns:a16="http://schemas.microsoft.com/office/drawing/2014/main" id="{6E807FD6-6BDB-46F2-81C2-D862986612DB}"/>
              </a:ext>
            </a:extLst>
          </p:cNvPr>
          <p:cNvSpPr>
            <a:spLocks/>
          </p:cNvSpPr>
          <p:nvPr/>
        </p:nvSpPr>
        <p:spPr bwMode="auto">
          <a:xfrm>
            <a:off x="3889375" y="20907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197" name="Line 5">
            <a:extLst>
              <a:ext uri="{FF2B5EF4-FFF2-40B4-BE49-F238E27FC236}">
                <a16:creationId xmlns:a16="http://schemas.microsoft.com/office/drawing/2014/main" id="{366C5A74-236A-4DEF-B40A-7ACAD80394DE}"/>
              </a:ext>
            </a:extLst>
          </p:cNvPr>
          <p:cNvSpPr>
            <a:spLocks noChangeShapeType="1"/>
          </p:cNvSpPr>
          <p:nvPr/>
        </p:nvSpPr>
        <p:spPr bwMode="auto">
          <a:xfrm>
            <a:off x="2713038" y="2128838"/>
            <a:ext cx="1176337"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198" name="Arc 6">
            <a:extLst>
              <a:ext uri="{FF2B5EF4-FFF2-40B4-BE49-F238E27FC236}">
                <a16:creationId xmlns:a16="http://schemas.microsoft.com/office/drawing/2014/main" id="{ED0AE7D6-EB91-4F9D-B961-CDBA9628F1E9}"/>
              </a:ext>
            </a:extLst>
          </p:cNvPr>
          <p:cNvSpPr>
            <a:spLocks/>
          </p:cNvSpPr>
          <p:nvPr/>
        </p:nvSpPr>
        <p:spPr bwMode="auto">
          <a:xfrm>
            <a:off x="3894138" y="240188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199" name="Line 7">
            <a:extLst>
              <a:ext uri="{FF2B5EF4-FFF2-40B4-BE49-F238E27FC236}">
                <a16:creationId xmlns:a16="http://schemas.microsoft.com/office/drawing/2014/main" id="{01182076-7CC0-49F2-BA8B-D774086B4042}"/>
              </a:ext>
            </a:extLst>
          </p:cNvPr>
          <p:cNvSpPr>
            <a:spLocks noChangeShapeType="1"/>
          </p:cNvSpPr>
          <p:nvPr/>
        </p:nvSpPr>
        <p:spPr bwMode="auto">
          <a:xfrm>
            <a:off x="3492500" y="2433638"/>
            <a:ext cx="4159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0" name="Arc 8">
            <a:extLst>
              <a:ext uri="{FF2B5EF4-FFF2-40B4-BE49-F238E27FC236}">
                <a16:creationId xmlns:a16="http://schemas.microsoft.com/office/drawing/2014/main" id="{5B493D60-896E-4BBB-9137-F8076EC0526D}"/>
              </a:ext>
            </a:extLst>
          </p:cNvPr>
          <p:cNvSpPr>
            <a:spLocks/>
          </p:cNvSpPr>
          <p:nvPr/>
        </p:nvSpPr>
        <p:spPr bwMode="auto">
          <a:xfrm>
            <a:off x="3889375" y="2555875"/>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01" name="Line 9">
            <a:extLst>
              <a:ext uri="{FF2B5EF4-FFF2-40B4-BE49-F238E27FC236}">
                <a16:creationId xmlns:a16="http://schemas.microsoft.com/office/drawing/2014/main" id="{0042FBF6-86D6-4CD9-9732-CB74B08DE24A}"/>
              </a:ext>
            </a:extLst>
          </p:cNvPr>
          <p:cNvSpPr>
            <a:spLocks noChangeShapeType="1"/>
          </p:cNvSpPr>
          <p:nvPr/>
        </p:nvSpPr>
        <p:spPr bwMode="auto">
          <a:xfrm>
            <a:off x="3689350" y="2587625"/>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2" name="Arc 10">
            <a:extLst>
              <a:ext uri="{FF2B5EF4-FFF2-40B4-BE49-F238E27FC236}">
                <a16:creationId xmlns:a16="http://schemas.microsoft.com/office/drawing/2014/main" id="{F28EBBE1-0F3F-4BDD-84E8-32866441031D}"/>
              </a:ext>
            </a:extLst>
          </p:cNvPr>
          <p:cNvSpPr>
            <a:spLocks/>
          </p:cNvSpPr>
          <p:nvPr/>
        </p:nvSpPr>
        <p:spPr bwMode="auto">
          <a:xfrm>
            <a:off x="3894138" y="2706688"/>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03" name="Line 11">
            <a:extLst>
              <a:ext uri="{FF2B5EF4-FFF2-40B4-BE49-F238E27FC236}">
                <a16:creationId xmlns:a16="http://schemas.microsoft.com/office/drawing/2014/main" id="{0B2707CB-44A8-4FED-A115-3862DFA8B101}"/>
              </a:ext>
            </a:extLst>
          </p:cNvPr>
          <p:cNvSpPr>
            <a:spLocks noChangeShapeType="1"/>
          </p:cNvSpPr>
          <p:nvPr/>
        </p:nvSpPr>
        <p:spPr bwMode="auto">
          <a:xfrm>
            <a:off x="3103563" y="2740025"/>
            <a:ext cx="8096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4" name="Rectangle 12">
            <a:extLst>
              <a:ext uri="{FF2B5EF4-FFF2-40B4-BE49-F238E27FC236}">
                <a16:creationId xmlns:a16="http://schemas.microsoft.com/office/drawing/2014/main" id="{BF346D8A-1032-47C8-8444-73FCE0CF2F93}"/>
              </a:ext>
            </a:extLst>
          </p:cNvPr>
          <p:cNvSpPr>
            <a:spLocks noChangeArrowheads="1"/>
          </p:cNvSpPr>
          <p:nvPr/>
        </p:nvSpPr>
        <p:spPr bwMode="auto">
          <a:xfrm>
            <a:off x="3986213" y="20161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CS1</a:t>
            </a:r>
          </a:p>
        </p:txBody>
      </p:sp>
      <p:sp>
        <p:nvSpPr>
          <p:cNvPr id="8205" name="Rectangle 13">
            <a:extLst>
              <a:ext uri="{FF2B5EF4-FFF2-40B4-BE49-F238E27FC236}">
                <a16:creationId xmlns:a16="http://schemas.microsoft.com/office/drawing/2014/main" id="{5584CB40-0D87-441C-A4E3-1EE9A6816B1C}"/>
              </a:ext>
            </a:extLst>
          </p:cNvPr>
          <p:cNvSpPr>
            <a:spLocks noChangeArrowheads="1"/>
          </p:cNvSpPr>
          <p:nvPr/>
        </p:nvSpPr>
        <p:spPr bwMode="auto">
          <a:xfrm>
            <a:off x="3986213" y="21685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06" name="Rectangle 14">
            <a:extLst>
              <a:ext uri="{FF2B5EF4-FFF2-40B4-BE49-F238E27FC236}">
                <a16:creationId xmlns:a16="http://schemas.microsoft.com/office/drawing/2014/main" id="{E7C9E3CE-C59B-4FD0-A3CE-807B97CB04CF}"/>
              </a:ext>
            </a:extLst>
          </p:cNvPr>
          <p:cNvSpPr>
            <a:spLocks noChangeArrowheads="1"/>
          </p:cNvSpPr>
          <p:nvPr/>
        </p:nvSpPr>
        <p:spPr bwMode="auto">
          <a:xfrm>
            <a:off x="3986213" y="2324100"/>
            <a:ext cx="3873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07" name="Rectangle 15">
            <a:extLst>
              <a:ext uri="{FF2B5EF4-FFF2-40B4-BE49-F238E27FC236}">
                <a16:creationId xmlns:a16="http://schemas.microsoft.com/office/drawing/2014/main" id="{27E69F4A-CB67-488C-BA3E-9896F92E6C9B}"/>
              </a:ext>
            </a:extLst>
          </p:cNvPr>
          <p:cNvSpPr>
            <a:spLocks noChangeArrowheads="1"/>
          </p:cNvSpPr>
          <p:nvPr/>
        </p:nvSpPr>
        <p:spPr bwMode="auto">
          <a:xfrm>
            <a:off x="3986213" y="2484438"/>
            <a:ext cx="4270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08" name="Rectangle 16">
            <a:extLst>
              <a:ext uri="{FF2B5EF4-FFF2-40B4-BE49-F238E27FC236}">
                <a16:creationId xmlns:a16="http://schemas.microsoft.com/office/drawing/2014/main" id="{C2CAC504-1E43-4920-9612-D4D318BF8888}"/>
              </a:ext>
            </a:extLst>
          </p:cNvPr>
          <p:cNvSpPr>
            <a:spLocks noChangeArrowheads="1"/>
          </p:cNvSpPr>
          <p:nvPr/>
        </p:nvSpPr>
        <p:spPr bwMode="auto">
          <a:xfrm>
            <a:off x="3997325" y="2638425"/>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09" name="Rectangle 17">
            <a:extLst>
              <a:ext uri="{FF2B5EF4-FFF2-40B4-BE49-F238E27FC236}">
                <a16:creationId xmlns:a16="http://schemas.microsoft.com/office/drawing/2014/main" id="{265743CB-8A61-4B6A-8C4B-4EE0E40225B8}"/>
              </a:ext>
            </a:extLst>
          </p:cNvPr>
          <p:cNvSpPr>
            <a:spLocks noChangeArrowheads="1"/>
          </p:cNvSpPr>
          <p:nvPr/>
        </p:nvSpPr>
        <p:spPr bwMode="auto">
          <a:xfrm>
            <a:off x="4398963" y="2278063"/>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128 x 8</a:t>
            </a:r>
          </a:p>
          <a:p>
            <a:pPr algn="ctr" defTabSz="762000" eaLnBrk="1">
              <a:lnSpc>
                <a:spcPct val="90000"/>
              </a:lnSpc>
              <a:defRPr/>
            </a:pPr>
            <a:endParaRPr lang="en-US" altLang="ko-KR" sz="1100" b="1" dirty="0">
              <a:solidFill>
                <a:srgbClr val="000000"/>
              </a:solidFill>
              <a:latin typeface="+mn-lt"/>
              <a:ea typeface="굴림" pitchFamily="34" charset="-127"/>
            </a:endParaRPr>
          </a:p>
        </p:txBody>
      </p:sp>
      <p:sp>
        <p:nvSpPr>
          <p:cNvPr id="8210" name="Rectangle 18">
            <a:extLst>
              <a:ext uri="{FF2B5EF4-FFF2-40B4-BE49-F238E27FC236}">
                <a16:creationId xmlns:a16="http://schemas.microsoft.com/office/drawing/2014/main" id="{7E8D71D7-8454-4881-8B31-24DBD726BF91}"/>
              </a:ext>
            </a:extLst>
          </p:cNvPr>
          <p:cNvSpPr>
            <a:spLocks noChangeArrowheads="1"/>
          </p:cNvSpPr>
          <p:nvPr/>
        </p:nvSpPr>
        <p:spPr bwMode="auto">
          <a:xfrm>
            <a:off x="4398963" y="240506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RAM  1</a:t>
            </a:r>
          </a:p>
        </p:txBody>
      </p:sp>
      <p:sp>
        <p:nvSpPr>
          <p:cNvPr id="8211" name="Rectangle 19">
            <a:extLst>
              <a:ext uri="{FF2B5EF4-FFF2-40B4-BE49-F238E27FC236}">
                <a16:creationId xmlns:a16="http://schemas.microsoft.com/office/drawing/2014/main" id="{DA921297-059E-4FAC-BC13-82F8182C18D2}"/>
              </a:ext>
            </a:extLst>
          </p:cNvPr>
          <p:cNvSpPr>
            <a:spLocks noChangeArrowheads="1"/>
          </p:cNvSpPr>
          <p:nvPr/>
        </p:nvSpPr>
        <p:spPr bwMode="auto">
          <a:xfrm>
            <a:off x="4008438" y="2025650"/>
            <a:ext cx="1279525" cy="798513"/>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12" name="Arc 20">
            <a:extLst>
              <a:ext uri="{FF2B5EF4-FFF2-40B4-BE49-F238E27FC236}">
                <a16:creationId xmlns:a16="http://schemas.microsoft.com/office/drawing/2014/main" id="{1020B8D5-8B5A-47F8-8F13-D57AE8B112D1}"/>
              </a:ext>
            </a:extLst>
          </p:cNvPr>
          <p:cNvSpPr>
            <a:spLocks/>
          </p:cNvSpPr>
          <p:nvPr/>
        </p:nvSpPr>
        <p:spPr bwMode="auto">
          <a:xfrm>
            <a:off x="5522913" y="23907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3" name="Arc 21">
            <a:extLst>
              <a:ext uri="{FF2B5EF4-FFF2-40B4-BE49-F238E27FC236}">
                <a16:creationId xmlns:a16="http://schemas.microsoft.com/office/drawing/2014/main" id="{894EC759-7F9D-4F6C-9F1E-78646BF4D6C7}"/>
              </a:ext>
            </a:extLst>
          </p:cNvPr>
          <p:cNvSpPr>
            <a:spLocks/>
          </p:cNvSpPr>
          <p:nvPr/>
        </p:nvSpPr>
        <p:spPr bwMode="auto">
          <a:xfrm>
            <a:off x="5307013" y="2390775"/>
            <a:ext cx="107950" cy="68263"/>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4" name="Line 22">
            <a:extLst>
              <a:ext uri="{FF2B5EF4-FFF2-40B4-BE49-F238E27FC236}">
                <a16:creationId xmlns:a16="http://schemas.microsoft.com/office/drawing/2014/main" id="{34EEF434-7745-4921-8F36-236E8736365B}"/>
              </a:ext>
            </a:extLst>
          </p:cNvPr>
          <p:cNvSpPr>
            <a:spLocks noChangeShapeType="1"/>
          </p:cNvSpPr>
          <p:nvPr/>
        </p:nvSpPr>
        <p:spPr bwMode="auto">
          <a:xfrm>
            <a:off x="5407025" y="2425700"/>
            <a:ext cx="119063"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5" name="Line 23">
            <a:extLst>
              <a:ext uri="{FF2B5EF4-FFF2-40B4-BE49-F238E27FC236}">
                <a16:creationId xmlns:a16="http://schemas.microsoft.com/office/drawing/2014/main" id="{D6DA3FF3-E218-41CE-915C-D8AAF50A5376}"/>
              </a:ext>
            </a:extLst>
          </p:cNvPr>
          <p:cNvSpPr>
            <a:spLocks noChangeShapeType="1"/>
          </p:cNvSpPr>
          <p:nvPr/>
        </p:nvSpPr>
        <p:spPr bwMode="auto">
          <a:xfrm>
            <a:off x="4086225" y="2203450"/>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7" name="Arc 25">
            <a:extLst>
              <a:ext uri="{FF2B5EF4-FFF2-40B4-BE49-F238E27FC236}">
                <a16:creationId xmlns:a16="http://schemas.microsoft.com/office/drawing/2014/main" id="{555ADCC4-757A-4004-9A82-E5AE018512FA}"/>
              </a:ext>
            </a:extLst>
          </p:cNvPr>
          <p:cNvSpPr>
            <a:spLocks/>
          </p:cNvSpPr>
          <p:nvPr/>
        </p:nvSpPr>
        <p:spPr bwMode="auto">
          <a:xfrm>
            <a:off x="3889375" y="300831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8" name="Line 26">
            <a:extLst>
              <a:ext uri="{FF2B5EF4-FFF2-40B4-BE49-F238E27FC236}">
                <a16:creationId xmlns:a16="http://schemas.microsoft.com/office/drawing/2014/main" id="{A36FD04F-D9C8-499B-AF24-6F74773B7129}"/>
              </a:ext>
            </a:extLst>
          </p:cNvPr>
          <p:cNvSpPr>
            <a:spLocks noChangeShapeType="1"/>
          </p:cNvSpPr>
          <p:nvPr/>
        </p:nvSpPr>
        <p:spPr bwMode="auto">
          <a:xfrm>
            <a:off x="2519363" y="3046413"/>
            <a:ext cx="13700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9" name="Arc 27">
            <a:extLst>
              <a:ext uri="{FF2B5EF4-FFF2-40B4-BE49-F238E27FC236}">
                <a16:creationId xmlns:a16="http://schemas.microsoft.com/office/drawing/2014/main" id="{3CFB7C24-0BD1-45E9-8277-A5D77672811C}"/>
              </a:ext>
            </a:extLst>
          </p:cNvPr>
          <p:cNvSpPr>
            <a:spLocks/>
          </p:cNvSpPr>
          <p:nvPr/>
        </p:nvSpPr>
        <p:spPr bwMode="auto">
          <a:xfrm>
            <a:off x="3889375" y="3160713"/>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0" name="Line 28">
            <a:extLst>
              <a:ext uri="{FF2B5EF4-FFF2-40B4-BE49-F238E27FC236}">
                <a16:creationId xmlns:a16="http://schemas.microsoft.com/office/drawing/2014/main" id="{85E0B924-7168-44B4-BC79-0AE600600244}"/>
              </a:ext>
            </a:extLst>
          </p:cNvPr>
          <p:cNvSpPr>
            <a:spLocks noChangeShapeType="1"/>
          </p:cNvSpPr>
          <p:nvPr/>
        </p:nvSpPr>
        <p:spPr bwMode="auto">
          <a:xfrm>
            <a:off x="3298825" y="3198813"/>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1" name="Arc 29">
            <a:extLst>
              <a:ext uri="{FF2B5EF4-FFF2-40B4-BE49-F238E27FC236}">
                <a16:creationId xmlns:a16="http://schemas.microsoft.com/office/drawing/2014/main" id="{51B30217-E4A0-4E64-A40D-0FCEF7EF27E6}"/>
              </a:ext>
            </a:extLst>
          </p:cNvPr>
          <p:cNvSpPr>
            <a:spLocks/>
          </p:cNvSpPr>
          <p:nvPr/>
        </p:nvSpPr>
        <p:spPr bwMode="auto">
          <a:xfrm>
            <a:off x="3894138" y="33178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2" name="Line 30">
            <a:extLst>
              <a:ext uri="{FF2B5EF4-FFF2-40B4-BE49-F238E27FC236}">
                <a16:creationId xmlns:a16="http://schemas.microsoft.com/office/drawing/2014/main" id="{EFCA1E39-C1B2-4FDD-8DD6-BBA7B9CFF18E}"/>
              </a:ext>
            </a:extLst>
          </p:cNvPr>
          <p:cNvSpPr>
            <a:spLocks noChangeShapeType="1"/>
          </p:cNvSpPr>
          <p:nvPr/>
        </p:nvSpPr>
        <p:spPr bwMode="auto">
          <a:xfrm>
            <a:off x="3492500" y="3352800"/>
            <a:ext cx="4206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3" name="Arc 31">
            <a:extLst>
              <a:ext uri="{FF2B5EF4-FFF2-40B4-BE49-F238E27FC236}">
                <a16:creationId xmlns:a16="http://schemas.microsoft.com/office/drawing/2014/main" id="{11B23B1A-C609-4B7D-833A-D5456DF60DE3}"/>
              </a:ext>
            </a:extLst>
          </p:cNvPr>
          <p:cNvSpPr>
            <a:spLocks/>
          </p:cNvSpPr>
          <p:nvPr/>
        </p:nvSpPr>
        <p:spPr bwMode="auto">
          <a:xfrm>
            <a:off x="3889375" y="346868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4" name="Line 32">
            <a:extLst>
              <a:ext uri="{FF2B5EF4-FFF2-40B4-BE49-F238E27FC236}">
                <a16:creationId xmlns:a16="http://schemas.microsoft.com/office/drawing/2014/main" id="{E085E409-D9C9-467F-8B30-E1E915663278}"/>
              </a:ext>
            </a:extLst>
          </p:cNvPr>
          <p:cNvSpPr>
            <a:spLocks noChangeShapeType="1"/>
          </p:cNvSpPr>
          <p:nvPr/>
        </p:nvSpPr>
        <p:spPr bwMode="auto">
          <a:xfrm>
            <a:off x="3689350" y="3506788"/>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5" name="Arc 33">
            <a:extLst>
              <a:ext uri="{FF2B5EF4-FFF2-40B4-BE49-F238E27FC236}">
                <a16:creationId xmlns:a16="http://schemas.microsoft.com/office/drawing/2014/main" id="{C3CE7FF1-6F15-4D34-B99B-62B3860B3750}"/>
              </a:ext>
            </a:extLst>
          </p:cNvPr>
          <p:cNvSpPr>
            <a:spLocks/>
          </p:cNvSpPr>
          <p:nvPr/>
        </p:nvSpPr>
        <p:spPr bwMode="auto">
          <a:xfrm>
            <a:off x="3889375" y="362585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6" name="Line 34">
            <a:extLst>
              <a:ext uri="{FF2B5EF4-FFF2-40B4-BE49-F238E27FC236}">
                <a16:creationId xmlns:a16="http://schemas.microsoft.com/office/drawing/2014/main" id="{470A79D1-C869-4012-943D-D6C4C45DACC9}"/>
              </a:ext>
            </a:extLst>
          </p:cNvPr>
          <p:cNvSpPr>
            <a:spLocks noChangeShapeType="1"/>
          </p:cNvSpPr>
          <p:nvPr/>
        </p:nvSpPr>
        <p:spPr bwMode="auto">
          <a:xfrm>
            <a:off x="3103563" y="3657600"/>
            <a:ext cx="7858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7" name="Rectangle 35">
            <a:extLst>
              <a:ext uri="{FF2B5EF4-FFF2-40B4-BE49-F238E27FC236}">
                <a16:creationId xmlns:a16="http://schemas.microsoft.com/office/drawing/2014/main" id="{27BC3C3E-6C2F-4981-920E-8B5FC061B430}"/>
              </a:ext>
            </a:extLst>
          </p:cNvPr>
          <p:cNvSpPr>
            <a:spLocks noChangeArrowheads="1"/>
          </p:cNvSpPr>
          <p:nvPr/>
        </p:nvSpPr>
        <p:spPr bwMode="auto">
          <a:xfrm>
            <a:off x="3986213" y="29352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28" name="Rectangle 36">
            <a:extLst>
              <a:ext uri="{FF2B5EF4-FFF2-40B4-BE49-F238E27FC236}">
                <a16:creationId xmlns:a16="http://schemas.microsoft.com/office/drawing/2014/main" id="{E81E983E-A9D1-42C1-88C5-C792DEDCC60A}"/>
              </a:ext>
            </a:extLst>
          </p:cNvPr>
          <p:cNvSpPr>
            <a:spLocks noChangeArrowheads="1"/>
          </p:cNvSpPr>
          <p:nvPr/>
        </p:nvSpPr>
        <p:spPr bwMode="auto">
          <a:xfrm>
            <a:off x="3986213" y="30876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29" name="Rectangle 37">
            <a:extLst>
              <a:ext uri="{FF2B5EF4-FFF2-40B4-BE49-F238E27FC236}">
                <a16:creationId xmlns:a16="http://schemas.microsoft.com/office/drawing/2014/main" id="{79304586-F5BB-4A36-8C7C-C8F14DD083B2}"/>
              </a:ext>
            </a:extLst>
          </p:cNvPr>
          <p:cNvSpPr>
            <a:spLocks noChangeArrowheads="1"/>
          </p:cNvSpPr>
          <p:nvPr/>
        </p:nvSpPr>
        <p:spPr bwMode="auto">
          <a:xfrm>
            <a:off x="3986213" y="3243263"/>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30" name="Rectangle 38">
            <a:extLst>
              <a:ext uri="{FF2B5EF4-FFF2-40B4-BE49-F238E27FC236}">
                <a16:creationId xmlns:a16="http://schemas.microsoft.com/office/drawing/2014/main" id="{9E3EB07B-A35D-40A9-9CC6-1B3D27FF158A}"/>
              </a:ext>
            </a:extLst>
          </p:cNvPr>
          <p:cNvSpPr>
            <a:spLocks noChangeArrowheads="1"/>
          </p:cNvSpPr>
          <p:nvPr/>
        </p:nvSpPr>
        <p:spPr bwMode="auto">
          <a:xfrm>
            <a:off x="3986213" y="340360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31" name="Rectangle 39">
            <a:extLst>
              <a:ext uri="{FF2B5EF4-FFF2-40B4-BE49-F238E27FC236}">
                <a16:creationId xmlns:a16="http://schemas.microsoft.com/office/drawing/2014/main" id="{17DB2812-B4AE-4863-A2C1-C10154719BF2}"/>
              </a:ext>
            </a:extLst>
          </p:cNvPr>
          <p:cNvSpPr>
            <a:spLocks noChangeArrowheads="1"/>
          </p:cNvSpPr>
          <p:nvPr/>
        </p:nvSpPr>
        <p:spPr bwMode="auto">
          <a:xfrm>
            <a:off x="3998913" y="3556000"/>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32" name="Rectangle 40">
            <a:extLst>
              <a:ext uri="{FF2B5EF4-FFF2-40B4-BE49-F238E27FC236}">
                <a16:creationId xmlns:a16="http://schemas.microsoft.com/office/drawing/2014/main" id="{DD6F2EFE-37BE-4BC5-A40C-D25AC91234E9}"/>
              </a:ext>
            </a:extLst>
          </p:cNvPr>
          <p:cNvSpPr>
            <a:spLocks noChangeArrowheads="1"/>
          </p:cNvSpPr>
          <p:nvPr/>
        </p:nvSpPr>
        <p:spPr bwMode="auto">
          <a:xfrm>
            <a:off x="4398963" y="3206750"/>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33" name="Rectangle 41">
            <a:extLst>
              <a:ext uri="{FF2B5EF4-FFF2-40B4-BE49-F238E27FC236}">
                <a16:creationId xmlns:a16="http://schemas.microsoft.com/office/drawing/2014/main" id="{9077A96A-0F96-476A-AE7F-5F90EA40CDD6}"/>
              </a:ext>
            </a:extLst>
          </p:cNvPr>
          <p:cNvSpPr>
            <a:spLocks noChangeArrowheads="1"/>
          </p:cNvSpPr>
          <p:nvPr/>
        </p:nvSpPr>
        <p:spPr bwMode="auto">
          <a:xfrm>
            <a:off x="4398963" y="3330575"/>
            <a:ext cx="6619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2</a:t>
            </a:r>
          </a:p>
        </p:txBody>
      </p:sp>
      <p:sp>
        <p:nvSpPr>
          <p:cNvPr id="8234" name="Rectangle 42">
            <a:extLst>
              <a:ext uri="{FF2B5EF4-FFF2-40B4-BE49-F238E27FC236}">
                <a16:creationId xmlns:a16="http://schemas.microsoft.com/office/drawing/2014/main" id="{AAB1502E-F69D-4274-8BB3-7CDF2FF019E7}"/>
              </a:ext>
            </a:extLst>
          </p:cNvPr>
          <p:cNvSpPr>
            <a:spLocks noChangeArrowheads="1"/>
          </p:cNvSpPr>
          <p:nvPr/>
        </p:nvSpPr>
        <p:spPr bwMode="auto">
          <a:xfrm>
            <a:off x="4008438" y="2943225"/>
            <a:ext cx="1279525" cy="796925"/>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35" name="Arc 43">
            <a:extLst>
              <a:ext uri="{FF2B5EF4-FFF2-40B4-BE49-F238E27FC236}">
                <a16:creationId xmlns:a16="http://schemas.microsoft.com/office/drawing/2014/main" id="{ED24326E-97F6-4680-BD86-BFA87330C21E}"/>
              </a:ext>
            </a:extLst>
          </p:cNvPr>
          <p:cNvSpPr>
            <a:spLocks/>
          </p:cNvSpPr>
          <p:nvPr/>
        </p:nvSpPr>
        <p:spPr bwMode="auto">
          <a:xfrm>
            <a:off x="5522913" y="330676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36" name="Arc 44">
            <a:extLst>
              <a:ext uri="{FF2B5EF4-FFF2-40B4-BE49-F238E27FC236}">
                <a16:creationId xmlns:a16="http://schemas.microsoft.com/office/drawing/2014/main" id="{DB20C5A6-539B-4A27-8199-D25AFDC6023E}"/>
              </a:ext>
            </a:extLst>
          </p:cNvPr>
          <p:cNvSpPr>
            <a:spLocks/>
          </p:cNvSpPr>
          <p:nvPr/>
        </p:nvSpPr>
        <p:spPr bwMode="auto">
          <a:xfrm>
            <a:off x="5307013" y="3306763"/>
            <a:ext cx="107950" cy="69850"/>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37" name="Line 45">
            <a:extLst>
              <a:ext uri="{FF2B5EF4-FFF2-40B4-BE49-F238E27FC236}">
                <a16:creationId xmlns:a16="http://schemas.microsoft.com/office/drawing/2014/main" id="{0B49465A-EC8A-4805-BCF4-F002770CB458}"/>
              </a:ext>
            </a:extLst>
          </p:cNvPr>
          <p:cNvSpPr>
            <a:spLocks noChangeShapeType="1"/>
          </p:cNvSpPr>
          <p:nvPr/>
        </p:nvSpPr>
        <p:spPr bwMode="auto">
          <a:xfrm>
            <a:off x="5397500" y="3336925"/>
            <a:ext cx="1285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38" name="Line 46">
            <a:extLst>
              <a:ext uri="{FF2B5EF4-FFF2-40B4-BE49-F238E27FC236}">
                <a16:creationId xmlns:a16="http://schemas.microsoft.com/office/drawing/2014/main" id="{3B085A89-CEE1-4285-80C7-AD137CE7C7B6}"/>
              </a:ext>
            </a:extLst>
          </p:cNvPr>
          <p:cNvSpPr>
            <a:spLocks noChangeShapeType="1"/>
          </p:cNvSpPr>
          <p:nvPr/>
        </p:nvSpPr>
        <p:spPr bwMode="auto">
          <a:xfrm>
            <a:off x="4095750" y="3127375"/>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0" name="Arc 48">
            <a:extLst>
              <a:ext uri="{FF2B5EF4-FFF2-40B4-BE49-F238E27FC236}">
                <a16:creationId xmlns:a16="http://schemas.microsoft.com/office/drawing/2014/main" id="{0E15C3F0-B6E3-4D6D-813C-4F18E839811E}"/>
              </a:ext>
            </a:extLst>
          </p:cNvPr>
          <p:cNvSpPr>
            <a:spLocks/>
          </p:cNvSpPr>
          <p:nvPr/>
        </p:nvSpPr>
        <p:spPr bwMode="auto">
          <a:xfrm>
            <a:off x="3889375" y="39274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1" name="Line 49">
            <a:extLst>
              <a:ext uri="{FF2B5EF4-FFF2-40B4-BE49-F238E27FC236}">
                <a16:creationId xmlns:a16="http://schemas.microsoft.com/office/drawing/2014/main" id="{BA55FDDF-E724-453B-BB0C-5E0E7B3ED82C}"/>
              </a:ext>
            </a:extLst>
          </p:cNvPr>
          <p:cNvSpPr>
            <a:spLocks noChangeShapeType="1"/>
          </p:cNvSpPr>
          <p:nvPr/>
        </p:nvSpPr>
        <p:spPr bwMode="auto">
          <a:xfrm>
            <a:off x="2324100" y="3963988"/>
            <a:ext cx="156527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2" name="Arc 50">
            <a:extLst>
              <a:ext uri="{FF2B5EF4-FFF2-40B4-BE49-F238E27FC236}">
                <a16:creationId xmlns:a16="http://schemas.microsoft.com/office/drawing/2014/main" id="{4D9E0086-2F84-4194-BE35-8346E2FC86B8}"/>
              </a:ext>
            </a:extLst>
          </p:cNvPr>
          <p:cNvSpPr>
            <a:spLocks/>
          </p:cNvSpPr>
          <p:nvPr/>
        </p:nvSpPr>
        <p:spPr bwMode="auto">
          <a:xfrm>
            <a:off x="3889375" y="40846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3" name="Line 51">
            <a:extLst>
              <a:ext uri="{FF2B5EF4-FFF2-40B4-BE49-F238E27FC236}">
                <a16:creationId xmlns:a16="http://schemas.microsoft.com/office/drawing/2014/main" id="{22F685C3-F119-4BCD-8E8E-0C8B5F0DC673}"/>
              </a:ext>
            </a:extLst>
          </p:cNvPr>
          <p:cNvSpPr>
            <a:spLocks noChangeShapeType="1"/>
          </p:cNvSpPr>
          <p:nvPr/>
        </p:nvSpPr>
        <p:spPr bwMode="auto">
          <a:xfrm>
            <a:off x="3298825" y="4116388"/>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4" name="Arc 52">
            <a:extLst>
              <a:ext uri="{FF2B5EF4-FFF2-40B4-BE49-F238E27FC236}">
                <a16:creationId xmlns:a16="http://schemas.microsoft.com/office/drawing/2014/main" id="{C12D50E5-EE05-43F9-95C8-99811265B91A}"/>
              </a:ext>
            </a:extLst>
          </p:cNvPr>
          <p:cNvSpPr>
            <a:spLocks/>
          </p:cNvSpPr>
          <p:nvPr/>
        </p:nvSpPr>
        <p:spPr bwMode="auto">
          <a:xfrm>
            <a:off x="3894138" y="423386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5" name="Line 53">
            <a:extLst>
              <a:ext uri="{FF2B5EF4-FFF2-40B4-BE49-F238E27FC236}">
                <a16:creationId xmlns:a16="http://schemas.microsoft.com/office/drawing/2014/main" id="{65243C81-262E-486B-A82D-8C4055D816D2}"/>
              </a:ext>
            </a:extLst>
          </p:cNvPr>
          <p:cNvSpPr>
            <a:spLocks noChangeShapeType="1"/>
          </p:cNvSpPr>
          <p:nvPr/>
        </p:nvSpPr>
        <p:spPr bwMode="auto">
          <a:xfrm>
            <a:off x="3492500" y="4270375"/>
            <a:ext cx="430213"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6" name="Arc 54">
            <a:extLst>
              <a:ext uri="{FF2B5EF4-FFF2-40B4-BE49-F238E27FC236}">
                <a16:creationId xmlns:a16="http://schemas.microsoft.com/office/drawing/2014/main" id="{0C52C9FB-7CA1-4037-BCBC-804EE2583A66}"/>
              </a:ext>
            </a:extLst>
          </p:cNvPr>
          <p:cNvSpPr>
            <a:spLocks/>
          </p:cNvSpPr>
          <p:nvPr/>
        </p:nvSpPr>
        <p:spPr bwMode="auto">
          <a:xfrm>
            <a:off x="3884613" y="4389438"/>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7" name="Line 55">
            <a:extLst>
              <a:ext uri="{FF2B5EF4-FFF2-40B4-BE49-F238E27FC236}">
                <a16:creationId xmlns:a16="http://schemas.microsoft.com/office/drawing/2014/main" id="{790A9391-7437-4BB7-AE89-75A6BB7E6C37}"/>
              </a:ext>
            </a:extLst>
          </p:cNvPr>
          <p:cNvSpPr>
            <a:spLocks noChangeShapeType="1"/>
          </p:cNvSpPr>
          <p:nvPr/>
        </p:nvSpPr>
        <p:spPr bwMode="auto">
          <a:xfrm>
            <a:off x="3689350" y="4422775"/>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8" name="Arc 56">
            <a:extLst>
              <a:ext uri="{FF2B5EF4-FFF2-40B4-BE49-F238E27FC236}">
                <a16:creationId xmlns:a16="http://schemas.microsoft.com/office/drawing/2014/main" id="{17E706E2-AE43-4D6A-9EF8-48621D9E248A}"/>
              </a:ext>
            </a:extLst>
          </p:cNvPr>
          <p:cNvSpPr>
            <a:spLocks/>
          </p:cNvSpPr>
          <p:nvPr/>
        </p:nvSpPr>
        <p:spPr bwMode="auto">
          <a:xfrm>
            <a:off x="3894138" y="45418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9" name="Line 57">
            <a:extLst>
              <a:ext uri="{FF2B5EF4-FFF2-40B4-BE49-F238E27FC236}">
                <a16:creationId xmlns:a16="http://schemas.microsoft.com/office/drawing/2014/main" id="{213376B4-25A2-4212-9E6C-E26A724B6090}"/>
              </a:ext>
            </a:extLst>
          </p:cNvPr>
          <p:cNvSpPr>
            <a:spLocks noChangeShapeType="1"/>
          </p:cNvSpPr>
          <p:nvPr/>
        </p:nvSpPr>
        <p:spPr bwMode="auto">
          <a:xfrm>
            <a:off x="3103563" y="4575175"/>
            <a:ext cx="8096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50" name="Rectangle 58">
            <a:extLst>
              <a:ext uri="{FF2B5EF4-FFF2-40B4-BE49-F238E27FC236}">
                <a16:creationId xmlns:a16="http://schemas.microsoft.com/office/drawing/2014/main" id="{5829BDAB-44E0-4749-92B2-1F0C408C6AC6}"/>
              </a:ext>
            </a:extLst>
          </p:cNvPr>
          <p:cNvSpPr>
            <a:spLocks noChangeArrowheads="1"/>
          </p:cNvSpPr>
          <p:nvPr/>
        </p:nvSpPr>
        <p:spPr bwMode="auto">
          <a:xfrm>
            <a:off x="3986213" y="38623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51" name="Rectangle 59">
            <a:extLst>
              <a:ext uri="{FF2B5EF4-FFF2-40B4-BE49-F238E27FC236}">
                <a16:creationId xmlns:a16="http://schemas.microsoft.com/office/drawing/2014/main" id="{2C991EB7-B370-4399-BC7D-2F8EDB714942}"/>
              </a:ext>
            </a:extLst>
          </p:cNvPr>
          <p:cNvSpPr>
            <a:spLocks noChangeArrowheads="1"/>
          </p:cNvSpPr>
          <p:nvPr/>
        </p:nvSpPr>
        <p:spPr bwMode="auto">
          <a:xfrm>
            <a:off x="3986213" y="40147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52" name="Rectangle 60">
            <a:extLst>
              <a:ext uri="{FF2B5EF4-FFF2-40B4-BE49-F238E27FC236}">
                <a16:creationId xmlns:a16="http://schemas.microsoft.com/office/drawing/2014/main" id="{27CA1F22-7413-4CEA-80BB-1C71969D1523}"/>
              </a:ext>
            </a:extLst>
          </p:cNvPr>
          <p:cNvSpPr>
            <a:spLocks noChangeArrowheads="1"/>
          </p:cNvSpPr>
          <p:nvPr/>
        </p:nvSpPr>
        <p:spPr bwMode="auto">
          <a:xfrm>
            <a:off x="3986213" y="4168775"/>
            <a:ext cx="3873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53" name="Rectangle 61">
            <a:extLst>
              <a:ext uri="{FF2B5EF4-FFF2-40B4-BE49-F238E27FC236}">
                <a16:creationId xmlns:a16="http://schemas.microsoft.com/office/drawing/2014/main" id="{6F03EF5B-D17E-44E4-A3C4-9F0CD9A1B781}"/>
              </a:ext>
            </a:extLst>
          </p:cNvPr>
          <p:cNvSpPr>
            <a:spLocks noChangeArrowheads="1"/>
          </p:cNvSpPr>
          <p:nvPr/>
        </p:nvSpPr>
        <p:spPr bwMode="auto">
          <a:xfrm>
            <a:off x="3986213" y="433070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54" name="Rectangle 62">
            <a:extLst>
              <a:ext uri="{FF2B5EF4-FFF2-40B4-BE49-F238E27FC236}">
                <a16:creationId xmlns:a16="http://schemas.microsoft.com/office/drawing/2014/main" id="{320609A6-0351-4B3C-AD6B-D7469E173D5C}"/>
              </a:ext>
            </a:extLst>
          </p:cNvPr>
          <p:cNvSpPr>
            <a:spLocks noChangeArrowheads="1"/>
          </p:cNvSpPr>
          <p:nvPr/>
        </p:nvSpPr>
        <p:spPr bwMode="auto">
          <a:xfrm>
            <a:off x="3987800" y="4465638"/>
            <a:ext cx="4667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55" name="Rectangle 63">
            <a:extLst>
              <a:ext uri="{FF2B5EF4-FFF2-40B4-BE49-F238E27FC236}">
                <a16:creationId xmlns:a16="http://schemas.microsoft.com/office/drawing/2014/main" id="{8FF22C16-853A-4AA8-AAB1-D71B5E3C23A8}"/>
              </a:ext>
            </a:extLst>
          </p:cNvPr>
          <p:cNvSpPr>
            <a:spLocks noChangeArrowheads="1"/>
          </p:cNvSpPr>
          <p:nvPr/>
        </p:nvSpPr>
        <p:spPr bwMode="auto">
          <a:xfrm>
            <a:off x="4398963" y="4114800"/>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56" name="Rectangle 64">
            <a:extLst>
              <a:ext uri="{FF2B5EF4-FFF2-40B4-BE49-F238E27FC236}">
                <a16:creationId xmlns:a16="http://schemas.microsoft.com/office/drawing/2014/main" id="{AD05098D-14D1-4BCC-BA28-B0D07E372A6B}"/>
              </a:ext>
            </a:extLst>
          </p:cNvPr>
          <p:cNvSpPr>
            <a:spLocks noChangeArrowheads="1"/>
          </p:cNvSpPr>
          <p:nvPr/>
        </p:nvSpPr>
        <p:spPr bwMode="auto">
          <a:xfrm>
            <a:off x="4398963" y="424021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3</a:t>
            </a:r>
          </a:p>
        </p:txBody>
      </p:sp>
      <p:sp>
        <p:nvSpPr>
          <p:cNvPr id="8257" name="Rectangle 65">
            <a:extLst>
              <a:ext uri="{FF2B5EF4-FFF2-40B4-BE49-F238E27FC236}">
                <a16:creationId xmlns:a16="http://schemas.microsoft.com/office/drawing/2014/main" id="{F8DA8A53-20E3-4713-AFBA-01D9964CCEC1}"/>
              </a:ext>
            </a:extLst>
          </p:cNvPr>
          <p:cNvSpPr>
            <a:spLocks noChangeArrowheads="1"/>
          </p:cNvSpPr>
          <p:nvPr/>
        </p:nvSpPr>
        <p:spPr bwMode="auto">
          <a:xfrm>
            <a:off x="4008438" y="3859213"/>
            <a:ext cx="1279525" cy="800100"/>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58" name="Arc 66">
            <a:extLst>
              <a:ext uri="{FF2B5EF4-FFF2-40B4-BE49-F238E27FC236}">
                <a16:creationId xmlns:a16="http://schemas.microsoft.com/office/drawing/2014/main" id="{00458BB7-1FB6-4178-BC14-B0C940C7B358}"/>
              </a:ext>
            </a:extLst>
          </p:cNvPr>
          <p:cNvSpPr>
            <a:spLocks/>
          </p:cNvSpPr>
          <p:nvPr/>
        </p:nvSpPr>
        <p:spPr bwMode="auto">
          <a:xfrm>
            <a:off x="5522913" y="422592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59" name="Arc 67">
            <a:extLst>
              <a:ext uri="{FF2B5EF4-FFF2-40B4-BE49-F238E27FC236}">
                <a16:creationId xmlns:a16="http://schemas.microsoft.com/office/drawing/2014/main" id="{192E3334-EBCC-4160-9D43-13A9E573E43B}"/>
              </a:ext>
            </a:extLst>
          </p:cNvPr>
          <p:cNvSpPr>
            <a:spLocks/>
          </p:cNvSpPr>
          <p:nvPr/>
        </p:nvSpPr>
        <p:spPr bwMode="auto">
          <a:xfrm>
            <a:off x="5307013" y="4225925"/>
            <a:ext cx="107950" cy="69850"/>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0" name="Line 68">
            <a:extLst>
              <a:ext uri="{FF2B5EF4-FFF2-40B4-BE49-F238E27FC236}">
                <a16:creationId xmlns:a16="http://schemas.microsoft.com/office/drawing/2014/main" id="{13702CC3-2159-4905-8FDD-5A5C473E65A2}"/>
              </a:ext>
            </a:extLst>
          </p:cNvPr>
          <p:cNvSpPr>
            <a:spLocks noChangeShapeType="1"/>
          </p:cNvSpPr>
          <p:nvPr/>
        </p:nvSpPr>
        <p:spPr bwMode="auto">
          <a:xfrm>
            <a:off x="5402263" y="4259263"/>
            <a:ext cx="128587" cy="31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1" name="Line 69">
            <a:extLst>
              <a:ext uri="{FF2B5EF4-FFF2-40B4-BE49-F238E27FC236}">
                <a16:creationId xmlns:a16="http://schemas.microsoft.com/office/drawing/2014/main" id="{C3B424B6-34E9-46CC-AFBB-A80328431838}"/>
              </a:ext>
            </a:extLst>
          </p:cNvPr>
          <p:cNvSpPr>
            <a:spLocks noChangeShapeType="1"/>
          </p:cNvSpPr>
          <p:nvPr/>
        </p:nvSpPr>
        <p:spPr bwMode="auto">
          <a:xfrm>
            <a:off x="4086225" y="4056063"/>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3" name="Arc 71">
            <a:extLst>
              <a:ext uri="{FF2B5EF4-FFF2-40B4-BE49-F238E27FC236}">
                <a16:creationId xmlns:a16="http://schemas.microsoft.com/office/drawing/2014/main" id="{ECB7E3CA-8C57-4D86-B56F-8E4BFE34B3A1}"/>
              </a:ext>
            </a:extLst>
          </p:cNvPr>
          <p:cNvSpPr>
            <a:spLocks/>
          </p:cNvSpPr>
          <p:nvPr/>
        </p:nvSpPr>
        <p:spPr bwMode="auto">
          <a:xfrm>
            <a:off x="3889375" y="4851400"/>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4" name="Line 72">
            <a:extLst>
              <a:ext uri="{FF2B5EF4-FFF2-40B4-BE49-F238E27FC236}">
                <a16:creationId xmlns:a16="http://schemas.microsoft.com/office/drawing/2014/main" id="{A8685D04-5BC0-48EA-8F76-5BB9F38D038A}"/>
              </a:ext>
            </a:extLst>
          </p:cNvPr>
          <p:cNvSpPr>
            <a:spLocks noChangeShapeType="1"/>
          </p:cNvSpPr>
          <p:nvPr/>
        </p:nvSpPr>
        <p:spPr bwMode="auto">
          <a:xfrm>
            <a:off x="2060575" y="4881563"/>
            <a:ext cx="18288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5" name="Arc 73">
            <a:extLst>
              <a:ext uri="{FF2B5EF4-FFF2-40B4-BE49-F238E27FC236}">
                <a16:creationId xmlns:a16="http://schemas.microsoft.com/office/drawing/2014/main" id="{558412EF-24DB-458A-B365-274E4F624E97}"/>
              </a:ext>
            </a:extLst>
          </p:cNvPr>
          <p:cNvSpPr>
            <a:spLocks/>
          </p:cNvSpPr>
          <p:nvPr/>
        </p:nvSpPr>
        <p:spPr bwMode="auto">
          <a:xfrm>
            <a:off x="3884613" y="5000625"/>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6" name="Line 74">
            <a:extLst>
              <a:ext uri="{FF2B5EF4-FFF2-40B4-BE49-F238E27FC236}">
                <a16:creationId xmlns:a16="http://schemas.microsoft.com/office/drawing/2014/main" id="{9505D6D4-282B-4E38-96F7-6968525341C9}"/>
              </a:ext>
            </a:extLst>
          </p:cNvPr>
          <p:cNvSpPr>
            <a:spLocks noChangeShapeType="1"/>
          </p:cNvSpPr>
          <p:nvPr/>
        </p:nvSpPr>
        <p:spPr bwMode="auto">
          <a:xfrm>
            <a:off x="3298825" y="5035550"/>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7" name="Arc 75">
            <a:extLst>
              <a:ext uri="{FF2B5EF4-FFF2-40B4-BE49-F238E27FC236}">
                <a16:creationId xmlns:a16="http://schemas.microsoft.com/office/drawing/2014/main" id="{033338BE-E90D-4DAA-BFA3-4347ACE31016}"/>
              </a:ext>
            </a:extLst>
          </p:cNvPr>
          <p:cNvSpPr>
            <a:spLocks/>
          </p:cNvSpPr>
          <p:nvPr/>
        </p:nvSpPr>
        <p:spPr bwMode="auto">
          <a:xfrm>
            <a:off x="3889375" y="515461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8" name="Line 76">
            <a:extLst>
              <a:ext uri="{FF2B5EF4-FFF2-40B4-BE49-F238E27FC236}">
                <a16:creationId xmlns:a16="http://schemas.microsoft.com/office/drawing/2014/main" id="{8752C4D9-2114-443A-A7FB-E4D62B45001A}"/>
              </a:ext>
            </a:extLst>
          </p:cNvPr>
          <p:cNvSpPr>
            <a:spLocks noChangeShapeType="1"/>
          </p:cNvSpPr>
          <p:nvPr/>
        </p:nvSpPr>
        <p:spPr bwMode="auto">
          <a:xfrm>
            <a:off x="3492500" y="5189538"/>
            <a:ext cx="39687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9" name="Arc 77">
            <a:extLst>
              <a:ext uri="{FF2B5EF4-FFF2-40B4-BE49-F238E27FC236}">
                <a16:creationId xmlns:a16="http://schemas.microsoft.com/office/drawing/2014/main" id="{9B2A9233-A429-495B-AA03-E7354F42EA17}"/>
              </a:ext>
            </a:extLst>
          </p:cNvPr>
          <p:cNvSpPr>
            <a:spLocks/>
          </p:cNvSpPr>
          <p:nvPr/>
        </p:nvSpPr>
        <p:spPr bwMode="auto">
          <a:xfrm>
            <a:off x="3889375" y="5305425"/>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70" name="Line 78">
            <a:extLst>
              <a:ext uri="{FF2B5EF4-FFF2-40B4-BE49-F238E27FC236}">
                <a16:creationId xmlns:a16="http://schemas.microsoft.com/office/drawing/2014/main" id="{BCAC8359-90A0-463B-B326-4FA4EC25A863}"/>
              </a:ext>
            </a:extLst>
          </p:cNvPr>
          <p:cNvSpPr>
            <a:spLocks noChangeShapeType="1"/>
          </p:cNvSpPr>
          <p:nvPr/>
        </p:nvSpPr>
        <p:spPr bwMode="auto">
          <a:xfrm>
            <a:off x="3668713" y="5343525"/>
            <a:ext cx="2270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71" name="Arc 79">
            <a:extLst>
              <a:ext uri="{FF2B5EF4-FFF2-40B4-BE49-F238E27FC236}">
                <a16:creationId xmlns:a16="http://schemas.microsoft.com/office/drawing/2014/main" id="{B0E405E4-6283-419C-9A5A-6FA25E5E7D4F}"/>
              </a:ext>
            </a:extLst>
          </p:cNvPr>
          <p:cNvSpPr>
            <a:spLocks/>
          </p:cNvSpPr>
          <p:nvPr/>
        </p:nvSpPr>
        <p:spPr bwMode="auto">
          <a:xfrm>
            <a:off x="3894138" y="54610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72" name="Line 80">
            <a:extLst>
              <a:ext uri="{FF2B5EF4-FFF2-40B4-BE49-F238E27FC236}">
                <a16:creationId xmlns:a16="http://schemas.microsoft.com/office/drawing/2014/main" id="{C527FC99-47EB-4597-8B5B-09D9342A8EE9}"/>
              </a:ext>
            </a:extLst>
          </p:cNvPr>
          <p:cNvSpPr>
            <a:spLocks noChangeShapeType="1"/>
          </p:cNvSpPr>
          <p:nvPr/>
        </p:nvSpPr>
        <p:spPr bwMode="auto">
          <a:xfrm>
            <a:off x="3103563" y="5494338"/>
            <a:ext cx="8239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73" name="Rectangle 81">
            <a:extLst>
              <a:ext uri="{FF2B5EF4-FFF2-40B4-BE49-F238E27FC236}">
                <a16:creationId xmlns:a16="http://schemas.microsoft.com/office/drawing/2014/main" id="{1C23B7C7-BACD-4D3C-8080-CC88F5420995}"/>
              </a:ext>
            </a:extLst>
          </p:cNvPr>
          <p:cNvSpPr>
            <a:spLocks noChangeArrowheads="1"/>
          </p:cNvSpPr>
          <p:nvPr/>
        </p:nvSpPr>
        <p:spPr bwMode="auto">
          <a:xfrm>
            <a:off x="3986213" y="4768850"/>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74" name="Rectangle 82">
            <a:extLst>
              <a:ext uri="{FF2B5EF4-FFF2-40B4-BE49-F238E27FC236}">
                <a16:creationId xmlns:a16="http://schemas.microsoft.com/office/drawing/2014/main" id="{453773AE-F62B-4A28-827C-B6D730AE209F}"/>
              </a:ext>
            </a:extLst>
          </p:cNvPr>
          <p:cNvSpPr>
            <a:spLocks noChangeArrowheads="1"/>
          </p:cNvSpPr>
          <p:nvPr/>
        </p:nvSpPr>
        <p:spPr bwMode="auto">
          <a:xfrm>
            <a:off x="3986213" y="49244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75" name="Rectangle 83">
            <a:extLst>
              <a:ext uri="{FF2B5EF4-FFF2-40B4-BE49-F238E27FC236}">
                <a16:creationId xmlns:a16="http://schemas.microsoft.com/office/drawing/2014/main" id="{F332F711-E8DA-49D6-9654-FB6C9377D510}"/>
              </a:ext>
            </a:extLst>
          </p:cNvPr>
          <p:cNvSpPr>
            <a:spLocks noChangeArrowheads="1"/>
          </p:cNvSpPr>
          <p:nvPr/>
        </p:nvSpPr>
        <p:spPr bwMode="auto">
          <a:xfrm>
            <a:off x="3986213" y="5075238"/>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76" name="Rectangle 84">
            <a:extLst>
              <a:ext uri="{FF2B5EF4-FFF2-40B4-BE49-F238E27FC236}">
                <a16:creationId xmlns:a16="http://schemas.microsoft.com/office/drawing/2014/main" id="{6E3F6F1F-DB8E-4346-B471-3D424728C63B}"/>
              </a:ext>
            </a:extLst>
          </p:cNvPr>
          <p:cNvSpPr>
            <a:spLocks noChangeArrowheads="1"/>
          </p:cNvSpPr>
          <p:nvPr/>
        </p:nvSpPr>
        <p:spPr bwMode="auto">
          <a:xfrm>
            <a:off x="3986213" y="523875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77" name="Rectangle 85">
            <a:extLst>
              <a:ext uri="{FF2B5EF4-FFF2-40B4-BE49-F238E27FC236}">
                <a16:creationId xmlns:a16="http://schemas.microsoft.com/office/drawing/2014/main" id="{EBB8B9AD-2E4E-47E2-81B9-836294DC13FD}"/>
              </a:ext>
            </a:extLst>
          </p:cNvPr>
          <p:cNvSpPr>
            <a:spLocks noChangeArrowheads="1"/>
          </p:cNvSpPr>
          <p:nvPr/>
        </p:nvSpPr>
        <p:spPr bwMode="auto">
          <a:xfrm>
            <a:off x="3998913" y="5391150"/>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78" name="Rectangle 86">
            <a:extLst>
              <a:ext uri="{FF2B5EF4-FFF2-40B4-BE49-F238E27FC236}">
                <a16:creationId xmlns:a16="http://schemas.microsoft.com/office/drawing/2014/main" id="{9130D233-4815-4039-8206-E2516BA277AB}"/>
              </a:ext>
            </a:extLst>
          </p:cNvPr>
          <p:cNvSpPr>
            <a:spLocks noChangeArrowheads="1"/>
          </p:cNvSpPr>
          <p:nvPr/>
        </p:nvSpPr>
        <p:spPr bwMode="auto">
          <a:xfrm>
            <a:off x="4398963" y="5040313"/>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79" name="Rectangle 87">
            <a:extLst>
              <a:ext uri="{FF2B5EF4-FFF2-40B4-BE49-F238E27FC236}">
                <a16:creationId xmlns:a16="http://schemas.microsoft.com/office/drawing/2014/main" id="{A6207A59-0FBD-4CC6-B97A-63D64A6D4B47}"/>
              </a:ext>
            </a:extLst>
          </p:cNvPr>
          <p:cNvSpPr>
            <a:spLocks noChangeArrowheads="1"/>
          </p:cNvSpPr>
          <p:nvPr/>
        </p:nvSpPr>
        <p:spPr bwMode="auto">
          <a:xfrm>
            <a:off x="4398963" y="516731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4</a:t>
            </a:r>
          </a:p>
        </p:txBody>
      </p:sp>
      <p:sp>
        <p:nvSpPr>
          <p:cNvPr id="8280" name="Rectangle 88">
            <a:extLst>
              <a:ext uri="{FF2B5EF4-FFF2-40B4-BE49-F238E27FC236}">
                <a16:creationId xmlns:a16="http://schemas.microsoft.com/office/drawing/2014/main" id="{02003F6F-12A9-4411-BB5A-A7643BF171CD}"/>
              </a:ext>
            </a:extLst>
          </p:cNvPr>
          <p:cNvSpPr>
            <a:spLocks noChangeArrowheads="1"/>
          </p:cNvSpPr>
          <p:nvPr/>
        </p:nvSpPr>
        <p:spPr bwMode="auto">
          <a:xfrm>
            <a:off x="4008438" y="4787900"/>
            <a:ext cx="1279525" cy="788988"/>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81" name="Arc 89">
            <a:extLst>
              <a:ext uri="{FF2B5EF4-FFF2-40B4-BE49-F238E27FC236}">
                <a16:creationId xmlns:a16="http://schemas.microsoft.com/office/drawing/2014/main" id="{22232969-BF01-413C-97AB-2E8B10A9E643}"/>
              </a:ext>
            </a:extLst>
          </p:cNvPr>
          <p:cNvSpPr>
            <a:spLocks/>
          </p:cNvSpPr>
          <p:nvPr/>
        </p:nvSpPr>
        <p:spPr bwMode="auto">
          <a:xfrm>
            <a:off x="5522913" y="51435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82" name="Arc 90">
            <a:extLst>
              <a:ext uri="{FF2B5EF4-FFF2-40B4-BE49-F238E27FC236}">
                <a16:creationId xmlns:a16="http://schemas.microsoft.com/office/drawing/2014/main" id="{5BFC991F-BC4A-4E69-A8FC-3CF1CA6822E9}"/>
              </a:ext>
            </a:extLst>
          </p:cNvPr>
          <p:cNvSpPr>
            <a:spLocks/>
          </p:cNvSpPr>
          <p:nvPr/>
        </p:nvSpPr>
        <p:spPr bwMode="auto">
          <a:xfrm>
            <a:off x="5307013" y="5143500"/>
            <a:ext cx="107950" cy="68263"/>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83" name="Line 91">
            <a:extLst>
              <a:ext uri="{FF2B5EF4-FFF2-40B4-BE49-F238E27FC236}">
                <a16:creationId xmlns:a16="http://schemas.microsoft.com/office/drawing/2014/main" id="{F1646DCE-ED07-4EE7-8AE1-3A6AC08F0BE8}"/>
              </a:ext>
            </a:extLst>
          </p:cNvPr>
          <p:cNvSpPr>
            <a:spLocks noChangeShapeType="1"/>
          </p:cNvSpPr>
          <p:nvPr/>
        </p:nvSpPr>
        <p:spPr bwMode="auto">
          <a:xfrm>
            <a:off x="5416550" y="5176838"/>
            <a:ext cx="10953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4" name="Line 92">
            <a:extLst>
              <a:ext uri="{FF2B5EF4-FFF2-40B4-BE49-F238E27FC236}">
                <a16:creationId xmlns:a16="http://schemas.microsoft.com/office/drawing/2014/main" id="{4E84DA35-42DC-4330-AB68-5E7459F92575}"/>
              </a:ext>
            </a:extLst>
          </p:cNvPr>
          <p:cNvSpPr>
            <a:spLocks noChangeShapeType="1"/>
          </p:cNvSpPr>
          <p:nvPr/>
        </p:nvSpPr>
        <p:spPr bwMode="auto">
          <a:xfrm>
            <a:off x="4076700" y="4964113"/>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8" name="Line 96">
            <a:extLst>
              <a:ext uri="{FF2B5EF4-FFF2-40B4-BE49-F238E27FC236}">
                <a16:creationId xmlns:a16="http://schemas.microsoft.com/office/drawing/2014/main" id="{EB2CB342-0783-40E8-B7CF-29AB7E697D8C}"/>
              </a:ext>
            </a:extLst>
          </p:cNvPr>
          <p:cNvSpPr>
            <a:spLocks noChangeShapeType="1"/>
          </p:cNvSpPr>
          <p:nvPr/>
        </p:nvSpPr>
        <p:spPr bwMode="auto">
          <a:xfrm>
            <a:off x="3097213" y="1341438"/>
            <a:ext cx="0" cy="476250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9" name="Rectangle 97">
            <a:extLst>
              <a:ext uri="{FF2B5EF4-FFF2-40B4-BE49-F238E27FC236}">
                <a16:creationId xmlns:a16="http://schemas.microsoft.com/office/drawing/2014/main" id="{2CD8E110-0886-425B-A84F-2E6B5FF367AF}"/>
              </a:ext>
            </a:extLst>
          </p:cNvPr>
          <p:cNvSpPr>
            <a:spLocks noChangeArrowheads="1"/>
          </p:cNvSpPr>
          <p:nvPr/>
        </p:nvSpPr>
        <p:spPr bwMode="auto">
          <a:xfrm>
            <a:off x="2038350" y="1736725"/>
            <a:ext cx="74930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Decoder</a:t>
            </a:r>
          </a:p>
        </p:txBody>
      </p:sp>
      <p:sp>
        <p:nvSpPr>
          <p:cNvPr id="8290" name="Rectangle 98">
            <a:extLst>
              <a:ext uri="{FF2B5EF4-FFF2-40B4-BE49-F238E27FC236}">
                <a16:creationId xmlns:a16="http://schemas.microsoft.com/office/drawing/2014/main" id="{309B141F-3557-4400-9914-6A17ADBF94A8}"/>
              </a:ext>
            </a:extLst>
          </p:cNvPr>
          <p:cNvSpPr>
            <a:spLocks noChangeArrowheads="1"/>
          </p:cNvSpPr>
          <p:nvPr/>
        </p:nvSpPr>
        <p:spPr bwMode="auto">
          <a:xfrm>
            <a:off x="1952625" y="1871663"/>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3</a:t>
            </a:r>
          </a:p>
        </p:txBody>
      </p:sp>
      <p:sp>
        <p:nvSpPr>
          <p:cNvPr id="8291" name="Rectangle 99">
            <a:extLst>
              <a:ext uri="{FF2B5EF4-FFF2-40B4-BE49-F238E27FC236}">
                <a16:creationId xmlns:a16="http://schemas.microsoft.com/office/drawing/2014/main" id="{6DBC2366-A306-4738-A02E-D74CFFF33E42}"/>
              </a:ext>
            </a:extLst>
          </p:cNvPr>
          <p:cNvSpPr>
            <a:spLocks noChangeArrowheads="1"/>
          </p:cNvSpPr>
          <p:nvPr/>
        </p:nvSpPr>
        <p:spPr bwMode="auto">
          <a:xfrm>
            <a:off x="2159000" y="1871663"/>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2</a:t>
            </a:r>
          </a:p>
        </p:txBody>
      </p:sp>
      <p:sp>
        <p:nvSpPr>
          <p:cNvPr id="8292" name="Rectangle 100">
            <a:extLst>
              <a:ext uri="{FF2B5EF4-FFF2-40B4-BE49-F238E27FC236}">
                <a16:creationId xmlns:a16="http://schemas.microsoft.com/office/drawing/2014/main" id="{F21647DC-8CEF-405C-A600-7FF749C3559B}"/>
              </a:ext>
            </a:extLst>
          </p:cNvPr>
          <p:cNvSpPr>
            <a:spLocks noChangeArrowheads="1"/>
          </p:cNvSpPr>
          <p:nvPr/>
        </p:nvSpPr>
        <p:spPr bwMode="auto">
          <a:xfrm>
            <a:off x="2354263" y="18716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a:t>
            </a:r>
          </a:p>
        </p:txBody>
      </p:sp>
      <p:sp>
        <p:nvSpPr>
          <p:cNvPr id="8293" name="Rectangle 101">
            <a:extLst>
              <a:ext uri="{FF2B5EF4-FFF2-40B4-BE49-F238E27FC236}">
                <a16:creationId xmlns:a16="http://schemas.microsoft.com/office/drawing/2014/main" id="{CEEFEFF7-727E-4E51-A978-09DECB0621EB}"/>
              </a:ext>
            </a:extLst>
          </p:cNvPr>
          <p:cNvSpPr>
            <a:spLocks noChangeArrowheads="1"/>
          </p:cNvSpPr>
          <p:nvPr/>
        </p:nvSpPr>
        <p:spPr bwMode="auto">
          <a:xfrm>
            <a:off x="2551113" y="18716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0</a:t>
            </a:r>
          </a:p>
        </p:txBody>
      </p:sp>
      <p:sp>
        <p:nvSpPr>
          <p:cNvPr id="8294" name="Rectangle 102">
            <a:extLst>
              <a:ext uri="{FF2B5EF4-FFF2-40B4-BE49-F238E27FC236}">
                <a16:creationId xmlns:a16="http://schemas.microsoft.com/office/drawing/2014/main" id="{FD5C114C-800A-494E-A377-3364281356EA}"/>
              </a:ext>
            </a:extLst>
          </p:cNvPr>
          <p:cNvSpPr>
            <a:spLocks noChangeArrowheads="1"/>
          </p:cNvSpPr>
          <p:nvPr/>
        </p:nvSpPr>
        <p:spPr bwMode="auto">
          <a:xfrm>
            <a:off x="1935163" y="1773238"/>
            <a:ext cx="877887" cy="284162"/>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95" name="Line 103">
            <a:extLst>
              <a:ext uri="{FF2B5EF4-FFF2-40B4-BE49-F238E27FC236}">
                <a16:creationId xmlns:a16="http://schemas.microsoft.com/office/drawing/2014/main" id="{C24113BD-11BD-4F58-831D-BFD0797CB3F3}"/>
              </a:ext>
            </a:extLst>
          </p:cNvPr>
          <p:cNvSpPr>
            <a:spLocks noChangeShapeType="1"/>
          </p:cNvSpPr>
          <p:nvPr/>
        </p:nvSpPr>
        <p:spPr bwMode="auto">
          <a:xfrm>
            <a:off x="2706688" y="2055813"/>
            <a:ext cx="0" cy="87312"/>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97" name="Line 105">
            <a:extLst>
              <a:ext uri="{FF2B5EF4-FFF2-40B4-BE49-F238E27FC236}">
                <a16:creationId xmlns:a16="http://schemas.microsoft.com/office/drawing/2014/main" id="{D0BB8A52-10A1-439F-9952-6181E9E18FAE}"/>
              </a:ext>
            </a:extLst>
          </p:cNvPr>
          <p:cNvSpPr>
            <a:spLocks noChangeShapeType="1"/>
          </p:cNvSpPr>
          <p:nvPr/>
        </p:nvSpPr>
        <p:spPr bwMode="auto">
          <a:xfrm>
            <a:off x="2312988" y="2065338"/>
            <a:ext cx="4762" cy="190500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99" name="Line 107">
            <a:extLst>
              <a:ext uri="{FF2B5EF4-FFF2-40B4-BE49-F238E27FC236}">
                <a16:creationId xmlns:a16="http://schemas.microsoft.com/office/drawing/2014/main" id="{818B5915-2C8E-4B9F-A521-EE261AC46376}"/>
              </a:ext>
            </a:extLst>
          </p:cNvPr>
          <p:cNvSpPr>
            <a:spLocks noChangeShapeType="1"/>
          </p:cNvSpPr>
          <p:nvPr/>
        </p:nvSpPr>
        <p:spPr bwMode="auto">
          <a:xfrm flipV="1">
            <a:off x="2249488" y="1347788"/>
            <a:ext cx="0" cy="42545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01" name="Line 109">
            <a:extLst>
              <a:ext uri="{FF2B5EF4-FFF2-40B4-BE49-F238E27FC236}">
                <a16:creationId xmlns:a16="http://schemas.microsoft.com/office/drawing/2014/main" id="{16FC1FC6-D499-44B3-8957-CCECAF5DD7C6}"/>
              </a:ext>
            </a:extLst>
          </p:cNvPr>
          <p:cNvSpPr>
            <a:spLocks noChangeShapeType="1"/>
          </p:cNvSpPr>
          <p:nvPr/>
        </p:nvSpPr>
        <p:spPr bwMode="auto">
          <a:xfrm flipV="1">
            <a:off x="5630863" y="1357313"/>
            <a:ext cx="0" cy="47529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42" name="Rectangle 110">
            <a:extLst>
              <a:ext uri="{FF2B5EF4-FFF2-40B4-BE49-F238E27FC236}">
                <a16:creationId xmlns:a16="http://schemas.microsoft.com/office/drawing/2014/main" id="{9ACE545E-84AF-4D8F-9985-143D0F538A1A}"/>
              </a:ext>
            </a:extLst>
          </p:cNvPr>
          <p:cNvSpPr>
            <a:spLocks noChangeArrowheads="1"/>
          </p:cNvSpPr>
          <p:nvPr/>
        </p:nvSpPr>
        <p:spPr bwMode="auto">
          <a:xfrm>
            <a:off x="1350963" y="855663"/>
            <a:ext cx="4648200" cy="4905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8303" name="Rectangle 111">
            <a:extLst>
              <a:ext uri="{FF2B5EF4-FFF2-40B4-BE49-F238E27FC236}">
                <a16:creationId xmlns:a16="http://schemas.microsoft.com/office/drawing/2014/main" id="{7899F7CE-FF1D-40F6-AA6F-351FDF4CFC62}"/>
              </a:ext>
            </a:extLst>
          </p:cNvPr>
          <p:cNvSpPr>
            <a:spLocks noChangeArrowheads="1"/>
          </p:cNvSpPr>
          <p:nvPr/>
        </p:nvSpPr>
        <p:spPr bwMode="auto">
          <a:xfrm>
            <a:off x="3578225" y="1150938"/>
            <a:ext cx="4270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304" name="Rectangle 112">
            <a:extLst>
              <a:ext uri="{FF2B5EF4-FFF2-40B4-BE49-F238E27FC236}">
                <a16:creationId xmlns:a16="http://schemas.microsoft.com/office/drawing/2014/main" id="{FB3EB675-8F84-49CD-83E6-8E8FF1456C0E}"/>
              </a:ext>
            </a:extLst>
          </p:cNvPr>
          <p:cNvSpPr>
            <a:spLocks noChangeArrowheads="1"/>
          </p:cNvSpPr>
          <p:nvPr/>
        </p:nvSpPr>
        <p:spPr bwMode="auto">
          <a:xfrm>
            <a:off x="3305175" y="1150938"/>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305" name="Rectangle 113">
            <a:extLst>
              <a:ext uri="{FF2B5EF4-FFF2-40B4-BE49-F238E27FC236}">
                <a16:creationId xmlns:a16="http://schemas.microsoft.com/office/drawing/2014/main" id="{5116C657-1BB6-4DDC-84D2-77E9CA60B6E2}"/>
              </a:ext>
            </a:extLst>
          </p:cNvPr>
          <p:cNvSpPr>
            <a:spLocks noChangeArrowheads="1"/>
          </p:cNvSpPr>
          <p:nvPr/>
        </p:nvSpPr>
        <p:spPr bwMode="auto">
          <a:xfrm>
            <a:off x="2116138" y="1150938"/>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9</a:t>
            </a:r>
          </a:p>
        </p:txBody>
      </p:sp>
      <p:sp>
        <p:nvSpPr>
          <p:cNvPr id="8306" name="Rectangle 114">
            <a:extLst>
              <a:ext uri="{FF2B5EF4-FFF2-40B4-BE49-F238E27FC236}">
                <a16:creationId xmlns:a16="http://schemas.microsoft.com/office/drawing/2014/main" id="{6E4965E8-634B-4E38-9729-26AAB17C24EC}"/>
              </a:ext>
            </a:extLst>
          </p:cNvPr>
          <p:cNvSpPr>
            <a:spLocks noChangeArrowheads="1"/>
          </p:cNvSpPr>
          <p:nvPr/>
        </p:nvSpPr>
        <p:spPr bwMode="auto">
          <a:xfrm>
            <a:off x="2378075" y="1150938"/>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8</a:t>
            </a:r>
          </a:p>
        </p:txBody>
      </p:sp>
      <p:sp>
        <p:nvSpPr>
          <p:cNvPr id="8307" name="Rectangle 115">
            <a:extLst>
              <a:ext uri="{FF2B5EF4-FFF2-40B4-BE49-F238E27FC236}">
                <a16:creationId xmlns:a16="http://schemas.microsoft.com/office/drawing/2014/main" id="{F967FF3C-1B3B-4979-BC27-6B83D0D2AF22}"/>
              </a:ext>
            </a:extLst>
          </p:cNvPr>
          <p:cNvSpPr>
            <a:spLocks noChangeArrowheads="1"/>
          </p:cNvSpPr>
          <p:nvPr/>
        </p:nvSpPr>
        <p:spPr bwMode="auto">
          <a:xfrm>
            <a:off x="2894013" y="1150938"/>
            <a:ext cx="3857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7-1</a:t>
            </a:r>
          </a:p>
        </p:txBody>
      </p:sp>
      <p:sp>
        <p:nvSpPr>
          <p:cNvPr id="8308" name="Freeform 116">
            <a:extLst>
              <a:ext uri="{FF2B5EF4-FFF2-40B4-BE49-F238E27FC236}">
                <a16:creationId xmlns:a16="http://schemas.microsoft.com/office/drawing/2014/main" id="{51E8A387-B4CA-43E2-960E-70659AA9D635}"/>
              </a:ext>
            </a:extLst>
          </p:cNvPr>
          <p:cNvSpPr>
            <a:spLocks/>
          </p:cNvSpPr>
          <p:nvPr/>
        </p:nvSpPr>
        <p:spPr bwMode="auto">
          <a:xfrm>
            <a:off x="1922463" y="1357313"/>
            <a:ext cx="1365250" cy="101600"/>
          </a:xfrm>
          <a:custGeom>
            <a:avLst/>
            <a:gdLst/>
            <a:ahLst/>
            <a:cxnLst>
              <a:cxn ang="0">
                <a:pos x="0" y="0"/>
              </a:cxn>
              <a:cxn ang="0">
                <a:pos x="0" y="79"/>
              </a:cxn>
              <a:cxn ang="0">
                <a:pos x="857" y="79"/>
              </a:cxn>
            </a:cxnLst>
            <a:rect l="0" t="0" r="r" b="b"/>
            <a:pathLst>
              <a:path w="858" h="80">
                <a:moveTo>
                  <a:pt x="0" y="0"/>
                </a:moveTo>
                <a:lnTo>
                  <a:pt x="0" y="79"/>
                </a:lnTo>
                <a:lnTo>
                  <a:pt x="857" y="79"/>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09" name="Rectangle 117">
            <a:extLst>
              <a:ext uri="{FF2B5EF4-FFF2-40B4-BE49-F238E27FC236}">
                <a16:creationId xmlns:a16="http://schemas.microsoft.com/office/drawing/2014/main" id="{AE878532-B7F9-4C9E-AFEA-C0786B3E1B99}"/>
              </a:ext>
            </a:extLst>
          </p:cNvPr>
          <p:cNvSpPr>
            <a:spLocks noChangeArrowheads="1"/>
          </p:cNvSpPr>
          <p:nvPr/>
        </p:nvSpPr>
        <p:spPr bwMode="auto">
          <a:xfrm>
            <a:off x="1792288" y="1150938"/>
            <a:ext cx="3397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10</a:t>
            </a:r>
          </a:p>
        </p:txBody>
      </p:sp>
      <p:sp>
        <p:nvSpPr>
          <p:cNvPr id="8310" name="Rectangle 118">
            <a:extLst>
              <a:ext uri="{FF2B5EF4-FFF2-40B4-BE49-F238E27FC236}">
                <a16:creationId xmlns:a16="http://schemas.microsoft.com/office/drawing/2014/main" id="{C4DFC728-696D-4148-8E43-CB13006F87B2}"/>
              </a:ext>
            </a:extLst>
          </p:cNvPr>
          <p:cNvSpPr>
            <a:spLocks noChangeArrowheads="1"/>
          </p:cNvSpPr>
          <p:nvPr/>
        </p:nvSpPr>
        <p:spPr bwMode="auto">
          <a:xfrm>
            <a:off x="1336675" y="1150938"/>
            <a:ext cx="5429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16-11</a:t>
            </a:r>
          </a:p>
        </p:txBody>
      </p:sp>
      <p:sp>
        <p:nvSpPr>
          <p:cNvPr id="8311" name="Rectangle 119">
            <a:extLst>
              <a:ext uri="{FF2B5EF4-FFF2-40B4-BE49-F238E27FC236}">
                <a16:creationId xmlns:a16="http://schemas.microsoft.com/office/drawing/2014/main" id="{188C5C27-185B-4C05-B715-F0B3748A9F2A}"/>
              </a:ext>
            </a:extLst>
          </p:cNvPr>
          <p:cNvSpPr>
            <a:spLocks noChangeArrowheads="1"/>
          </p:cNvSpPr>
          <p:nvPr/>
        </p:nvSpPr>
        <p:spPr bwMode="auto">
          <a:xfrm>
            <a:off x="1808163" y="987425"/>
            <a:ext cx="10382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Address bus</a:t>
            </a:r>
          </a:p>
        </p:txBody>
      </p:sp>
      <p:sp>
        <p:nvSpPr>
          <p:cNvPr id="8312" name="Rectangle 120">
            <a:extLst>
              <a:ext uri="{FF2B5EF4-FFF2-40B4-BE49-F238E27FC236}">
                <a16:creationId xmlns:a16="http://schemas.microsoft.com/office/drawing/2014/main" id="{2B83F751-FEED-42D5-9CEF-10E0675A670A}"/>
              </a:ext>
            </a:extLst>
          </p:cNvPr>
          <p:cNvSpPr>
            <a:spLocks noChangeArrowheads="1"/>
          </p:cNvSpPr>
          <p:nvPr/>
        </p:nvSpPr>
        <p:spPr bwMode="auto">
          <a:xfrm>
            <a:off x="5232400" y="1150938"/>
            <a:ext cx="779463"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 bus</a:t>
            </a:r>
          </a:p>
        </p:txBody>
      </p:sp>
      <p:sp>
        <p:nvSpPr>
          <p:cNvPr id="10353" name="Rectangle 121">
            <a:extLst>
              <a:ext uri="{FF2B5EF4-FFF2-40B4-BE49-F238E27FC236}">
                <a16:creationId xmlns:a16="http://schemas.microsoft.com/office/drawing/2014/main" id="{E9696448-4510-4F54-B0BF-F68C0F6AF915}"/>
              </a:ext>
            </a:extLst>
          </p:cNvPr>
          <p:cNvSpPr>
            <a:spLocks noChangeArrowheads="1"/>
          </p:cNvSpPr>
          <p:nvPr/>
        </p:nvSpPr>
        <p:spPr bwMode="auto">
          <a:xfrm>
            <a:off x="3341688" y="885825"/>
            <a:ext cx="603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600" b="1">
                <a:solidFill>
                  <a:srgbClr val="000000"/>
                </a:solidFill>
                <a:latin typeface="Times New Roman" panose="02020603050405020304" pitchFamily="18" charset="0"/>
              </a:rPr>
              <a:t>CPU</a:t>
            </a:r>
          </a:p>
        </p:txBody>
      </p:sp>
      <p:sp>
        <p:nvSpPr>
          <p:cNvPr id="8314" name="Line 122">
            <a:extLst>
              <a:ext uri="{FF2B5EF4-FFF2-40B4-BE49-F238E27FC236}">
                <a16:creationId xmlns:a16="http://schemas.microsoft.com/office/drawing/2014/main" id="{DC7DDFD8-F9FF-4F31-AD3B-2C68AD05CE81}"/>
              </a:ext>
            </a:extLst>
          </p:cNvPr>
          <p:cNvSpPr>
            <a:spLocks noChangeShapeType="1"/>
          </p:cNvSpPr>
          <p:nvPr/>
        </p:nvSpPr>
        <p:spPr bwMode="auto">
          <a:xfrm flipH="1">
            <a:off x="1528763" y="1562100"/>
            <a:ext cx="725487"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15" name="Freeform 123">
            <a:extLst>
              <a:ext uri="{FF2B5EF4-FFF2-40B4-BE49-F238E27FC236}">
                <a16:creationId xmlns:a16="http://schemas.microsoft.com/office/drawing/2014/main" id="{66B06029-C4D5-4C40-8BC8-672413ED871E}"/>
              </a:ext>
            </a:extLst>
          </p:cNvPr>
          <p:cNvSpPr>
            <a:spLocks/>
          </p:cNvSpPr>
          <p:nvPr/>
        </p:nvSpPr>
        <p:spPr bwMode="auto">
          <a:xfrm>
            <a:off x="1795463" y="1665288"/>
            <a:ext cx="712787" cy="4591050"/>
          </a:xfrm>
          <a:custGeom>
            <a:avLst/>
            <a:gdLst/>
            <a:ahLst/>
            <a:cxnLst>
              <a:cxn ang="0">
                <a:pos x="446" y="0"/>
              </a:cxn>
              <a:cxn ang="0">
                <a:pos x="0" y="0"/>
              </a:cxn>
              <a:cxn ang="0">
                <a:pos x="0" y="3672"/>
              </a:cxn>
            </a:cxnLst>
            <a:rect l="0" t="0" r="r" b="b"/>
            <a:pathLst>
              <a:path w="447" h="3673">
                <a:moveTo>
                  <a:pt x="446" y="0"/>
                </a:moveTo>
                <a:lnTo>
                  <a:pt x="0" y="0"/>
                </a:lnTo>
                <a:lnTo>
                  <a:pt x="0" y="3672"/>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17" name="Arc 125">
            <a:extLst>
              <a:ext uri="{FF2B5EF4-FFF2-40B4-BE49-F238E27FC236}">
                <a16:creationId xmlns:a16="http://schemas.microsoft.com/office/drawing/2014/main" id="{D16ED8A6-72BF-41D3-AE10-DB4D703B46DB}"/>
              </a:ext>
            </a:extLst>
          </p:cNvPr>
          <p:cNvSpPr>
            <a:spLocks/>
          </p:cNvSpPr>
          <p:nvPr/>
        </p:nvSpPr>
        <p:spPr bwMode="auto">
          <a:xfrm>
            <a:off x="3889375" y="22479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18" name="Line 126">
            <a:extLst>
              <a:ext uri="{FF2B5EF4-FFF2-40B4-BE49-F238E27FC236}">
                <a16:creationId xmlns:a16="http://schemas.microsoft.com/office/drawing/2014/main" id="{C8FA797B-C10E-49F2-831A-DF229D8AF1BF}"/>
              </a:ext>
            </a:extLst>
          </p:cNvPr>
          <p:cNvSpPr>
            <a:spLocks noChangeShapeType="1"/>
          </p:cNvSpPr>
          <p:nvPr/>
        </p:nvSpPr>
        <p:spPr bwMode="auto">
          <a:xfrm flipH="1">
            <a:off x="3273425" y="2279650"/>
            <a:ext cx="64293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19" name="Arc 127">
            <a:extLst>
              <a:ext uri="{FF2B5EF4-FFF2-40B4-BE49-F238E27FC236}">
                <a16:creationId xmlns:a16="http://schemas.microsoft.com/office/drawing/2014/main" id="{9A9BD6D9-C3AB-4E2D-9E25-69FA27D0E6EA}"/>
              </a:ext>
            </a:extLst>
          </p:cNvPr>
          <p:cNvSpPr>
            <a:spLocks/>
          </p:cNvSpPr>
          <p:nvPr/>
        </p:nvSpPr>
        <p:spPr bwMode="auto">
          <a:xfrm>
            <a:off x="3898900" y="592296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0" name="Line 128">
            <a:extLst>
              <a:ext uri="{FF2B5EF4-FFF2-40B4-BE49-F238E27FC236}">
                <a16:creationId xmlns:a16="http://schemas.microsoft.com/office/drawing/2014/main" id="{CD7561B5-8C11-4C7E-805D-F618CA15FFE4}"/>
              </a:ext>
            </a:extLst>
          </p:cNvPr>
          <p:cNvSpPr>
            <a:spLocks noChangeShapeType="1"/>
          </p:cNvSpPr>
          <p:nvPr/>
        </p:nvSpPr>
        <p:spPr bwMode="auto">
          <a:xfrm>
            <a:off x="3702050" y="5953125"/>
            <a:ext cx="2032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21" name="Arc 129">
            <a:extLst>
              <a:ext uri="{FF2B5EF4-FFF2-40B4-BE49-F238E27FC236}">
                <a16:creationId xmlns:a16="http://schemas.microsoft.com/office/drawing/2014/main" id="{C82D27BB-A935-4A1C-888D-8E44D2EF7B9C}"/>
              </a:ext>
            </a:extLst>
          </p:cNvPr>
          <p:cNvSpPr>
            <a:spLocks/>
          </p:cNvSpPr>
          <p:nvPr/>
        </p:nvSpPr>
        <p:spPr bwMode="auto">
          <a:xfrm>
            <a:off x="3889375" y="607536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2" name="Line 130">
            <a:extLst>
              <a:ext uri="{FF2B5EF4-FFF2-40B4-BE49-F238E27FC236}">
                <a16:creationId xmlns:a16="http://schemas.microsoft.com/office/drawing/2014/main" id="{BD18E99D-E4C2-4D06-98A9-8694EFBF2D82}"/>
              </a:ext>
            </a:extLst>
          </p:cNvPr>
          <p:cNvSpPr>
            <a:spLocks noChangeShapeType="1"/>
          </p:cNvSpPr>
          <p:nvPr/>
        </p:nvSpPr>
        <p:spPr bwMode="auto">
          <a:xfrm>
            <a:off x="3103563" y="6105525"/>
            <a:ext cx="7858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23" name="Arc 131">
            <a:extLst>
              <a:ext uri="{FF2B5EF4-FFF2-40B4-BE49-F238E27FC236}">
                <a16:creationId xmlns:a16="http://schemas.microsoft.com/office/drawing/2014/main" id="{18AD221E-5516-492E-B5C1-D830D9F62EB4}"/>
              </a:ext>
            </a:extLst>
          </p:cNvPr>
          <p:cNvSpPr>
            <a:spLocks/>
          </p:cNvSpPr>
          <p:nvPr/>
        </p:nvSpPr>
        <p:spPr bwMode="auto">
          <a:xfrm>
            <a:off x="3889375" y="6229350"/>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4" name="Line 132">
            <a:extLst>
              <a:ext uri="{FF2B5EF4-FFF2-40B4-BE49-F238E27FC236}">
                <a16:creationId xmlns:a16="http://schemas.microsoft.com/office/drawing/2014/main" id="{DD0DDADF-05D4-4484-B851-E746D8B8FA84}"/>
              </a:ext>
            </a:extLst>
          </p:cNvPr>
          <p:cNvSpPr>
            <a:spLocks noChangeShapeType="1"/>
          </p:cNvSpPr>
          <p:nvPr/>
        </p:nvSpPr>
        <p:spPr bwMode="auto">
          <a:xfrm>
            <a:off x="1808163" y="6259513"/>
            <a:ext cx="20812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64" name="Arc 133">
            <a:extLst>
              <a:ext uri="{FF2B5EF4-FFF2-40B4-BE49-F238E27FC236}">
                <a16:creationId xmlns:a16="http://schemas.microsoft.com/office/drawing/2014/main" id="{2226AAFB-C95D-4A22-813F-C8FC7A1C9BE3}"/>
              </a:ext>
            </a:extLst>
          </p:cNvPr>
          <p:cNvSpPr>
            <a:spLocks/>
          </p:cNvSpPr>
          <p:nvPr/>
        </p:nvSpPr>
        <p:spPr bwMode="auto">
          <a:xfrm>
            <a:off x="3894138" y="6375400"/>
            <a:ext cx="107950" cy="66675"/>
          </a:xfrm>
          <a:custGeom>
            <a:avLst/>
            <a:gdLst>
              <a:gd name="T0" fmla="*/ 2147483646 w 21600"/>
              <a:gd name="T1" fmla="*/ 2147483646 h 17282"/>
              <a:gd name="T2" fmla="*/ 2147483646 w 21600"/>
              <a:gd name="T3" fmla="*/ 0 h 17282"/>
              <a:gd name="T4" fmla="*/ 2147483646 w 21600"/>
              <a:gd name="T5" fmla="*/ 2147483646 h 17282"/>
              <a:gd name="T6" fmla="*/ 0 60000 65536"/>
              <a:gd name="T7" fmla="*/ 0 60000 65536"/>
              <a:gd name="T8" fmla="*/ 0 60000 65536"/>
              <a:gd name="T9" fmla="*/ 0 w 21600"/>
              <a:gd name="T10" fmla="*/ 0 h 17282"/>
              <a:gd name="T11" fmla="*/ 21600 w 21600"/>
              <a:gd name="T12" fmla="*/ 17282 h 17282"/>
            </a:gdLst>
            <a:ahLst/>
            <a:cxnLst>
              <a:cxn ang="T6">
                <a:pos x="T0" y="T1"/>
              </a:cxn>
              <a:cxn ang="T7">
                <a:pos x="T2" y="T3"/>
              </a:cxn>
              <a:cxn ang="T8">
                <a:pos x="T4" y="T5"/>
              </a:cxn>
            </a:cxnLst>
            <a:rect l="T9" t="T10" r="T11" b="T12"/>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lnTo>
                  <a:pt x="1746" y="17281"/>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10365" name="Line 134">
            <a:extLst>
              <a:ext uri="{FF2B5EF4-FFF2-40B4-BE49-F238E27FC236}">
                <a16:creationId xmlns:a16="http://schemas.microsoft.com/office/drawing/2014/main" id="{67CE8F5A-95CA-4D09-932A-9DE4B4C44097}"/>
              </a:ext>
            </a:extLst>
          </p:cNvPr>
          <p:cNvSpPr>
            <a:spLocks noChangeShapeType="1"/>
          </p:cNvSpPr>
          <p:nvPr/>
        </p:nvSpPr>
        <p:spPr bwMode="auto">
          <a:xfrm>
            <a:off x="1517650" y="6410325"/>
            <a:ext cx="24003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327" name="Rectangle 135">
            <a:extLst>
              <a:ext uri="{FF2B5EF4-FFF2-40B4-BE49-F238E27FC236}">
                <a16:creationId xmlns:a16="http://schemas.microsoft.com/office/drawing/2014/main" id="{30AE33EB-D5B1-440A-AC80-3B4AAF0126BD}"/>
              </a:ext>
            </a:extLst>
          </p:cNvPr>
          <p:cNvSpPr>
            <a:spLocks noChangeArrowheads="1"/>
          </p:cNvSpPr>
          <p:nvPr/>
        </p:nvSpPr>
        <p:spPr bwMode="auto">
          <a:xfrm>
            <a:off x="3986213" y="56864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328" name="Rectangle 136">
            <a:extLst>
              <a:ext uri="{FF2B5EF4-FFF2-40B4-BE49-F238E27FC236}">
                <a16:creationId xmlns:a16="http://schemas.microsoft.com/office/drawing/2014/main" id="{2AF2E576-EC0A-4232-902C-468049FCE95A}"/>
              </a:ext>
            </a:extLst>
          </p:cNvPr>
          <p:cNvSpPr>
            <a:spLocks noChangeArrowheads="1"/>
          </p:cNvSpPr>
          <p:nvPr/>
        </p:nvSpPr>
        <p:spPr bwMode="auto">
          <a:xfrm>
            <a:off x="3986213" y="5840413"/>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329" name="Rectangle 137">
            <a:extLst>
              <a:ext uri="{FF2B5EF4-FFF2-40B4-BE49-F238E27FC236}">
                <a16:creationId xmlns:a16="http://schemas.microsoft.com/office/drawing/2014/main" id="{86F6E793-C731-4162-99CE-8E3C151D3304}"/>
              </a:ext>
            </a:extLst>
          </p:cNvPr>
          <p:cNvSpPr>
            <a:spLocks noChangeArrowheads="1"/>
          </p:cNvSpPr>
          <p:nvPr/>
        </p:nvSpPr>
        <p:spPr bwMode="auto">
          <a:xfrm>
            <a:off x="4384675" y="5959475"/>
            <a:ext cx="652463"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512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330" name="Rectangle 138">
            <a:extLst>
              <a:ext uri="{FF2B5EF4-FFF2-40B4-BE49-F238E27FC236}">
                <a16:creationId xmlns:a16="http://schemas.microsoft.com/office/drawing/2014/main" id="{FB353165-61E6-4473-9078-5CFA81DF1158}"/>
              </a:ext>
            </a:extLst>
          </p:cNvPr>
          <p:cNvSpPr>
            <a:spLocks noChangeArrowheads="1"/>
          </p:cNvSpPr>
          <p:nvPr/>
        </p:nvSpPr>
        <p:spPr bwMode="auto">
          <a:xfrm>
            <a:off x="4468813" y="6086475"/>
            <a:ext cx="5270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ROM</a:t>
            </a:r>
          </a:p>
        </p:txBody>
      </p:sp>
      <p:sp>
        <p:nvSpPr>
          <p:cNvPr id="10370" name="Rectangle 139">
            <a:extLst>
              <a:ext uri="{FF2B5EF4-FFF2-40B4-BE49-F238E27FC236}">
                <a16:creationId xmlns:a16="http://schemas.microsoft.com/office/drawing/2014/main" id="{57D144AE-EF2E-4BC8-8106-6531FABA9C28}"/>
              </a:ext>
            </a:extLst>
          </p:cNvPr>
          <p:cNvSpPr>
            <a:spLocks noChangeArrowheads="1"/>
          </p:cNvSpPr>
          <p:nvPr/>
        </p:nvSpPr>
        <p:spPr bwMode="auto">
          <a:xfrm>
            <a:off x="4008438" y="5705475"/>
            <a:ext cx="1279525" cy="7905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8332" name="Arc 140">
            <a:extLst>
              <a:ext uri="{FF2B5EF4-FFF2-40B4-BE49-F238E27FC236}">
                <a16:creationId xmlns:a16="http://schemas.microsoft.com/office/drawing/2014/main" id="{92F23C96-4270-42B4-ABFB-65C60B62311A}"/>
              </a:ext>
            </a:extLst>
          </p:cNvPr>
          <p:cNvSpPr>
            <a:spLocks/>
          </p:cNvSpPr>
          <p:nvPr/>
        </p:nvSpPr>
        <p:spPr bwMode="auto">
          <a:xfrm>
            <a:off x="5522913" y="606425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33" name="Line 141">
            <a:extLst>
              <a:ext uri="{FF2B5EF4-FFF2-40B4-BE49-F238E27FC236}">
                <a16:creationId xmlns:a16="http://schemas.microsoft.com/office/drawing/2014/main" id="{3616E90A-EA37-4964-A5E7-DFC8AD84187D}"/>
              </a:ext>
            </a:extLst>
          </p:cNvPr>
          <p:cNvSpPr>
            <a:spLocks noChangeShapeType="1"/>
          </p:cNvSpPr>
          <p:nvPr/>
        </p:nvSpPr>
        <p:spPr bwMode="auto">
          <a:xfrm>
            <a:off x="5295900" y="6094413"/>
            <a:ext cx="2301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4" name="Line 142">
            <a:extLst>
              <a:ext uri="{FF2B5EF4-FFF2-40B4-BE49-F238E27FC236}">
                <a16:creationId xmlns:a16="http://schemas.microsoft.com/office/drawing/2014/main" id="{24261C5A-C94C-418D-964E-1E729F3D56C8}"/>
              </a:ext>
            </a:extLst>
          </p:cNvPr>
          <p:cNvSpPr>
            <a:spLocks noChangeShapeType="1"/>
          </p:cNvSpPr>
          <p:nvPr/>
        </p:nvSpPr>
        <p:spPr bwMode="auto">
          <a:xfrm>
            <a:off x="4105275" y="5880100"/>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6" name="Arc 144">
            <a:extLst>
              <a:ext uri="{FF2B5EF4-FFF2-40B4-BE49-F238E27FC236}">
                <a16:creationId xmlns:a16="http://schemas.microsoft.com/office/drawing/2014/main" id="{C59282D5-2130-4924-823F-6105B2B7181C}"/>
              </a:ext>
            </a:extLst>
          </p:cNvPr>
          <p:cNvSpPr>
            <a:spLocks/>
          </p:cNvSpPr>
          <p:nvPr/>
        </p:nvSpPr>
        <p:spPr bwMode="auto">
          <a:xfrm>
            <a:off x="3894138" y="576262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37" name="Line 145">
            <a:extLst>
              <a:ext uri="{FF2B5EF4-FFF2-40B4-BE49-F238E27FC236}">
                <a16:creationId xmlns:a16="http://schemas.microsoft.com/office/drawing/2014/main" id="{DDD0ABDD-34F2-417C-B530-8371A3FDCE1B}"/>
              </a:ext>
            </a:extLst>
          </p:cNvPr>
          <p:cNvSpPr>
            <a:spLocks noChangeShapeType="1"/>
          </p:cNvSpPr>
          <p:nvPr/>
        </p:nvSpPr>
        <p:spPr bwMode="auto">
          <a:xfrm>
            <a:off x="3478213" y="5800725"/>
            <a:ext cx="4445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8" name="Line 146">
            <a:extLst>
              <a:ext uri="{FF2B5EF4-FFF2-40B4-BE49-F238E27FC236}">
                <a16:creationId xmlns:a16="http://schemas.microsoft.com/office/drawing/2014/main" id="{B5B27F43-A978-41EF-BA74-D6A3D3C554C1}"/>
              </a:ext>
            </a:extLst>
          </p:cNvPr>
          <p:cNvSpPr>
            <a:spLocks noChangeShapeType="1"/>
          </p:cNvSpPr>
          <p:nvPr/>
        </p:nvSpPr>
        <p:spPr bwMode="auto">
          <a:xfrm>
            <a:off x="3298825" y="5953125"/>
            <a:ext cx="984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77" name="Rectangle 147">
            <a:extLst>
              <a:ext uri="{FF2B5EF4-FFF2-40B4-BE49-F238E27FC236}">
                <a16:creationId xmlns:a16="http://schemas.microsoft.com/office/drawing/2014/main" id="{841B3FDB-4853-4F49-831C-80C0C50E8DFA}"/>
              </a:ext>
            </a:extLst>
          </p:cNvPr>
          <p:cNvSpPr>
            <a:spLocks noChangeArrowheads="1"/>
          </p:cNvSpPr>
          <p:nvPr/>
        </p:nvSpPr>
        <p:spPr bwMode="auto">
          <a:xfrm>
            <a:off x="4046538" y="6151563"/>
            <a:ext cx="458787"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100" b="1">
                <a:solidFill>
                  <a:srgbClr val="000000"/>
                </a:solidFill>
                <a:latin typeface="Times New Roman" panose="02020603050405020304" pitchFamily="18" charset="0"/>
              </a:rPr>
              <a:t>AD9</a:t>
            </a:r>
          </a:p>
        </p:txBody>
      </p:sp>
      <p:sp>
        <p:nvSpPr>
          <p:cNvPr id="8340" name="Line 148">
            <a:extLst>
              <a:ext uri="{FF2B5EF4-FFF2-40B4-BE49-F238E27FC236}">
                <a16:creationId xmlns:a16="http://schemas.microsoft.com/office/drawing/2014/main" id="{C94FF708-3732-43C3-8AB0-8C4AA023F959}"/>
              </a:ext>
            </a:extLst>
          </p:cNvPr>
          <p:cNvSpPr>
            <a:spLocks noChangeShapeType="1"/>
          </p:cNvSpPr>
          <p:nvPr/>
        </p:nvSpPr>
        <p:spPr bwMode="auto">
          <a:xfrm flipH="1">
            <a:off x="3394075" y="5843588"/>
            <a:ext cx="0" cy="2063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41" name="Freeform 149">
            <a:extLst>
              <a:ext uri="{FF2B5EF4-FFF2-40B4-BE49-F238E27FC236}">
                <a16:creationId xmlns:a16="http://schemas.microsoft.com/office/drawing/2014/main" id="{80A29DF6-1122-4814-9D1C-B5FD0156942F}"/>
              </a:ext>
            </a:extLst>
          </p:cNvPr>
          <p:cNvSpPr>
            <a:spLocks/>
          </p:cNvSpPr>
          <p:nvPr/>
        </p:nvSpPr>
        <p:spPr bwMode="auto">
          <a:xfrm>
            <a:off x="3411538" y="5849938"/>
            <a:ext cx="220662" cy="198437"/>
          </a:xfrm>
          <a:custGeom>
            <a:avLst/>
            <a:gdLst/>
            <a:ahLst/>
            <a:cxnLst>
              <a:cxn ang="0">
                <a:pos x="0" y="0"/>
              </a:cxn>
              <a:cxn ang="0">
                <a:pos x="137" y="79"/>
              </a:cxn>
              <a:cxn ang="0">
                <a:pos x="0" y="158"/>
              </a:cxn>
            </a:cxnLst>
            <a:rect l="0" t="0" r="r" b="b"/>
            <a:pathLst>
              <a:path w="138" h="159">
                <a:moveTo>
                  <a:pt x="0" y="0"/>
                </a:moveTo>
                <a:lnTo>
                  <a:pt x="137" y="79"/>
                </a:lnTo>
                <a:lnTo>
                  <a:pt x="0" y="158"/>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44" name="Rectangle 152">
            <a:extLst>
              <a:ext uri="{FF2B5EF4-FFF2-40B4-BE49-F238E27FC236}">
                <a16:creationId xmlns:a16="http://schemas.microsoft.com/office/drawing/2014/main" id="{88BC7C18-6B26-4D18-9D19-62431E2B25DA}"/>
              </a:ext>
            </a:extLst>
          </p:cNvPr>
          <p:cNvSpPr>
            <a:spLocks noChangeArrowheads="1"/>
          </p:cNvSpPr>
          <p:nvPr/>
        </p:nvSpPr>
        <p:spPr bwMode="auto">
          <a:xfrm>
            <a:off x="3540125" y="5929313"/>
            <a:ext cx="4254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1- 7</a:t>
            </a:r>
          </a:p>
        </p:txBody>
      </p:sp>
      <p:sp>
        <p:nvSpPr>
          <p:cNvPr id="10381" name="Rectangle 153">
            <a:extLst>
              <a:ext uri="{FF2B5EF4-FFF2-40B4-BE49-F238E27FC236}">
                <a16:creationId xmlns:a16="http://schemas.microsoft.com/office/drawing/2014/main" id="{49B0BB66-6F01-4BD0-9DB6-1530FE97C9E8}"/>
              </a:ext>
            </a:extLst>
          </p:cNvPr>
          <p:cNvSpPr>
            <a:spLocks noChangeArrowheads="1"/>
          </p:cNvSpPr>
          <p:nvPr/>
        </p:nvSpPr>
        <p:spPr bwMode="auto">
          <a:xfrm>
            <a:off x="3576638" y="6230938"/>
            <a:ext cx="25400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100" b="1">
                <a:solidFill>
                  <a:srgbClr val="000000"/>
                </a:solidFill>
                <a:latin typeface="Times New Roman" panose="02020603050405020304" pitchFamily="18" charset="0"/>
              </a:rPr>
              <a:t>9</a:t>
            </a:r>
          </a:p>
        </p:txBody>
      </p:sp>
      <p:sp>
        <p:nvSpPr>
          <p:cNvPr id="8346" name="Rectangle 154">
            <a:extLst>
              <a:ext uri="{FF2B5EF4-FFF2-40B4-BE49-F238E27FC236}">
                <a16:creationId xmlns:a16="http://schemas.microsoft.com/office/drawing/2014/main" id="{50178851-4D41-4E47-A24C-76F2450F34A8}"/>
              </a:ext>
            </a:extLst>
          </p:cNvPr>
          <p:cNvSpPr>
            <a:spLocks noChangeArrowheads="1"/>
          </p:cNvSpPr>
          <p:nvPr/>
        </p:nvSpPr>
        <p:spPr bwMode="auto">
          <a:xfrm>
            <a:off x="3570288" y="60753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8</a:t>
            </a:r>
          </a:p>
        </p:txBody>
      </p:sp>
      <p:sp>
        <p:nvSpPr>
          <p:cNvPr id="8347" name="Line 155">
            <a:extLst>
              <a:ext uri="{FF2B5EF4-FFF2-40B4-BE49-F238E27FC236}">
                <a16:creationId xmlns:a16="http://schemas.microsoft.com/office/drawing/2014/main" id="{8927E1FA-7C57-421E-8096-051463E6BE55}"/>
              </a:ext>
            </a:extLst>
          </p:cNvPr>
          <p:cNvSpPr>
            <a:spLocks noChangeShapeType="1"/>
          </p:cNvSpPr>
          <p:nvPr/>
        </p:nvSpPr>
        <p:spPr bwMode="auto">
          <a:xfrm flipH="1">
            <a:off x="3287713" y="1468438"/>
            <a:ext cx="4762" cy="4487862"/>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66" name="Oval 174">
            <a:extLst>
              <a:ext uri="{FF2B5EF4-FFF2-40B4-BE49-F238E27FC236}">
                <a16:creationId xmlns:a16="http://schemas.microsoft.com/office/drawing/2014/main" id="{DD976617-4047-4008-8267-655F1D071D66}"/>
              </a:ext>
            </a:extLst>
          </p:cNvPr>
          <p:cNvSpPr>
            <a:spLocks noChangeArrowheads="1"/>
          </p:cNvSpPr>
          <p:nvPr/>
        </p:nvSpPr>
        <p:spPr bwMode="auto">
          <a:xfrm>
            <a:off x="2208213" y="1525588"/>
            <a:ext cx="74612"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7" name="Oval 175">
            <a:extLst>
              <a:ext uri="{FF2B5EF4-FFF2-40B4-BE49-F238E27FC236}">
                <a16:creationId xmlns:a16="http://schemas.microsoft.com/office/drawing/2014/main" id="{C4AA657C-EDAC-42E9-8F2F-65AFBB469B7A}"/>
              </a:ext>
            </a:extLst>
          </p:cNvPr>
          <p:cNvSpPr>
            <a:spLocks noChangeArrowheads="1"/>
          </p:cNvSpPr>
          <p:nvPr/>
        </p:nvSpPr>
        <p:spPr bwMode="auto">
          <a:xfrm>
            <a:off x="2470150" y="1633538"/>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8" name="Oval 176">
            <a:extLst>
              <a:ext uri="{FF2B5EF4-FFF2-40B4-BE49-F238E27FC236}">
                <a16:creationId xmlns:a16="http://schemas.microsoft.com/office/drawing/2014/main" id="{98C5AA1C-9092-47EE-B9B0-403C0035CD5F}"/>
              </a:ext>
            </a:extLst>
          </p:cNvPr>
          <p:cNvSpPr>
            <a:spLocks noChangeArrowheads="1"/>
          </p:cNvSpPr>
          <p:nvPr/>
        </p:nvSpPr>
        <p:spPr bwMode="auto">
          <a:xfrm>
            <a:off x="3248025" y="2246313"/>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9" name="Oval 177">
            <a:extLst>
              <a:ext uri="{FF2B5EF4-FFF2-40B4-BE49-F238E27FC236}">
                <a16:creationId xmlns:a16="http://schemas.microsoft.com/office/drawing/2014/main" id="{AF6B5511-79DD-496B-A37F-C704E0F955EC}"/>
              </a:ext>
            </a:extLst>
          </p:cNvPr>
          <p:cNvSpPr>
            <a:spLocks noChangeArrowheads="1"/>
          </p:cNvSpPr>
          <p:nvPr/>
        </p:nvSpPr>
        <p:spPr bwMode="auto">
          <a:xfrm>
            <a:off x="3443288" y="2403475"/>
            <a:ext cx="74612"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0" name="Oval 178">
            <a:extLst>
              <a:ext uri="{FF2B5EF4-FFF2-40B4-BE49-F238E27FC236}">
                <a16:creationId xmlns:a16="http://schemas.microsoft.com/office/drawing/2014/main" id="{0594D5F9-96B1-4575-9501-0AA4F9790883}"/>
              </a:ext>
            </a:extLst>
          </p:cNvPr>
          <p:cNvSpPr>
            <a:spLocks noChangeArrowheads="1"/>
          </p:cNvSpPr>
          <p:nvPr/>
        </p:nvSpPr>
        <p:spPr bwMode="auto">
          <a:xfrm>
            <a:off x="3629025" y="255270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1" name="Oval 179">
            <a:extLst>
              <a:ext uri="{FF2B5EF4-FFF2-40B4-BE49-F238E27FC236}">
                <a16:creationId xmlns:a16="http://schemas.microsoft.com/office/drawing/2014/main" id="{913CFF2E-9A15-4151-B6F9-942AB9EEB84B}"/>
              </a:ext>
            </a:extLst>
          </p:cNvPr>
          <p:cNvSpPr>
            <a:spLocks noChangeArrowheads="1"/>
          </p:cNvSpPr>
          <p:nvPr/>
        </p:nvSpPr>
        <p:spPr bwMode="auto">
          <a:xfrm>
            <a:off x="3060700" y="2706688"/>
            <a:ext cx="76200"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3" name="Line 181">
            <a:extLst>
              <a:ext uri="{FF2B5EF4-FFF2-40B4-BE49-F238E27FC236}">
                <a16:creationId xmlns:a16="http://schemas.microsoft.com/office/drawing/2014/main" id="{80236567-0C88-4FAF-B790-0DE47FBB5F92}"/>
              </a:ext>
            </a:extLst>
          </p:cNvPr>
          <p:cNvSpPr>
            <a:spLocks noChangeShapeType="1"/>
          </p:cNvSpPr>
          <p:nvPr/>
        </p:nvSpPr>
        <p:spPr bwMode="auto">
          <a:xfrm>
            <a:off x="2495550" y="2073275"/>
            <a:ext cx="3175" cy="9826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4" name="Line 182">
            <a:extLst>
              <a:ext uri="{FF2B5EF4-FFF2-40B4-BE49-F238E27FC236}">
                <a16:creationId xmlns:a16="http://schemas.microsoft.com/office/drawing/2014/main" id="{48FBDAA3-1B49-4196-B4ED-D77702A09858}"/>
              </a:ext>
            </a:extLst>
          </p:cNvPr>
          <p:cNvSpPr>
            <a:spLocks noChangeShapeType="1"/>
          </p:cNvSpPr>
          <p:nvPr/>
        </p:nvSpPr>
        <p:spPr bwMode="auto">
          <a:xfrm>
            <a:off x="2065338" y="2073275"/>
            <a:ext cx="4762" cy="28114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92" name="Line 183">
            <a:extLst>
              <a:ext uri="{FF2B5EF4-FFF2-40B4-BE49-F238E27FC236}">
                <a16:creationId xmlns:a16="http://schemas.microsoft.com/office/drawing/2014/main" id="{EF5159F7-EA5D-4C71-B3B8-8CCF1559F853}"/>
              </a:ext>
            </a:extLst>
          </p:cNvPr>
          <p:cNvSpPr>
            <a:spLocks noChangeShapeType="1"/>
          </p:cNvSpPr>
          <p:nvPr/>
        </p:nvSpPr>
        <p:spPr bwMode="auto">
          <a:xfrm>
            <a:off x="1520825" y="1562100"/>
            <a:ext cx="7938" cy="48529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376" name="Line 184">
            <a:extLst>
              <a:ext uri="{FF2B5EF4-FFF2-40B4-BE49-F238E27FC236}">
                <a16:creationId xmlns:a16="http://schemas.microsoft.com/office/drawing/2014/main" id="{9E978D0D-3645-43D4-B880-C07DA6DFBD95}"/>
              </a:ext>
            </a:extLst>
          </p:cNvPr>
          <p:cNvSpPr>
            <a:spLocks noChangeShapeType="1"/>
          </p:cNvSpPr>
          <p:nvPr/>
        </p:nvSpPr>
        <p:spPr bwMode="auto">
          <a:xfrm>
            <a:off x="3470275" y="1354138"/>
            <a:ext cx="0" cy="445452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7" name="Line 185">
            <a:extLst>
              <a:ext uri="{FF2B5EF4-FFF2-40B4-BE49-F238E27FC236}">
                <a16:creationId xmlns:a16="http://schemas.microsoft.com/office/drawing/2014/main" id="{F7412557-DBD7-488C-985C-B310EBB20F30}"/>
              </a:ext>
            </a:extLst>
          </p:cNvPr>
          <p:cNvSpPr>
            <a:spLocks noChangeShapeType="1"/>
          </p:cNvSpPr>
          <p:nvPr/>
        </p:nvSpPr>
        <p:spPr bwMode="auto">
          <a:xfrm>
            <a:off x="3673475" y="1346200"/>
            <a:ext cx="0" cy="4002088"/>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8" name="Oval 186">
            <a:extLst>
              <a:ext uri="{FF2B5EF4-FFF2-40B4-BE49-F238E27FC236}">
                <a16:creationId xmlns:a16="http://schemas.microsoft.com/office/drawing/2014/main" id="{77BEAD41-F7FF-46A2-AF66-97E4F0A1A454}"/>
              </a:ext>
            </a:extLst>
          </p:cNvPr>
          <p:cNvSpPr>
            <a:spLocks noChangeArrowheads="1"/>
          </p:cNvSpPr>
          <p:nvPr/>
        </p:nvSpPr>
        <p:spPr bwMode="auto">
          <a:xfrm>
            <a:off x="3252788" y="3168650"/>
            <a:ext cx="74612"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9" name="Oval 187">
            <a:extLst>
              <a:ext uri="{FF2B5EF4-FFF2-40B4-BE49-F238E27FC236}">
                <a16:creationId xmlns:a16="http://schemas.microsoft.com/office/drawing/2014/main" id="{B0F71DFA-EEE7-4992-982E-FB8083E5E5C0}"/>
              </a:ext>
            </a:extLst>
          </p:cNvPr>
          <p:cNvSpPr>
            <a:spLocks noChangeArrowheads="1"/>
          </p:cNvSpPr>
          <p:nvPr/>
        </p:nvSpPr>
        <p:spPr bwMode="auto">
          <a:xfrm>
            <a:off x="3438525" y="3317875"/>
            <a:ext cx="74613"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0" name="Oval 188">
            <a:extLst>
              <a:ext uri="{FF2B5EF4-FFF2-40B4-BE49-F238E27FC236}">
                <a16:creationId xmlns:a16="http://schemas.microsoft.com/office/drawing/2014/main" id="{F9BE3FDF-C324-43FD-BC73-E20982F2D50F}"/>
              </a:ext>
            </a:extLst>
          </p:cNvPr>
          <p:cNvSpPr>
            <a:spLocks noChangeArrowheads="1"/>
          </p:cNvSpPr>
          <p:nvPr/>
        </p:nvSpPr>
        <p:spPr bwMode="auto">
          <a:xfrm>
            <a:off x="3629025" y="3471863"/>
            <a:ext cx="74613"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2" name="Oval 190">
            <a:extLst>
              <a:ext uri="{FF2B5EF4-FFF2-40B4-BE49-F238E27FC236}">
                <a16:creationId xmlns:a16="http://schemas.microsoft.com/office/drawing/2014/main" id="{DBD46AAF-FC54-464F-889E-FC306B485375}"/>
              </a:ext>
            </a:extLst>
          </p:cNvPr>
          <p:cNvSpPr>
            <a:spLocks noChangeArrowheads="1"/>
          </p:cNvSpPr>
          <p:nvPr/>
        </p:nvSpPr>
        <p:spPr bwMode="auto">
          <a:xfrm>
            <a:off x="3060700" y="3629025"/>
            <a:ext cx="76200"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3" name="Oval 191">
            <a:extLst>
              <a:ext uri="{FF2B5EF4-FFF2-40B4-BE49-F238E27FC236}">
                <a16:creationId xmlns:a16="http://schemas.microsoft.com/office/drawing/2014/main" id="{3DC6FC5B-166A-4EBA-A065-08C82662B84B}"/>
              </a:ext>
            </a:extLst>
          </p:cNvPr>
          <p:cNvSpPr>
            <a:spLocks noChangeArrowheads="1"/>
          </p:cNvSpPr>
          <p:nvPr/>
        </p:nvSpPr>
        <p:spPr bwMode="auto">
          <a:xfrm>
            <a:off x="3248025" y="4087813"/>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4" name="Oval 192">
            <a:extLst>
              <a:ext uri="{FF2B5EF4-FFF2-40B4-BE49-F238E27FC236}">
                <a16:creationId xmlns:a16="http://schemas.microsoft.com/office/drawing/2014/main" id="{8F8AA09B-BACA-4932-AE67-0C68DDDBF608}"/>
              </a:ext>
            </a:extLst>
          </p:cNvPr>
          <p:cNvSpPr>
            <a:spLocks noChangeArrowheads="1"/>
          </p:cNvSpPr>
          <p:nvPr/>
        </p:nvSpPr>
        <p:spPr bwMode="auto">
          <a:xfrm>
            <a:off x="3433763" y="4240213"/>
            <a:ext cx="74612"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5" name="Oval 193">
            <a:extLst>
              <a:ext uri="{FF2B5EF4-FFF2-40B4-BE49-F238E27FC236}">
                <a16:creationId xmlns:a16="http://schemas.microsoft.com/office/drawing/2014/main" id="{AC77FBC3-1C75-457C-A7C6-88CF8AE50BC1}"/>
              </a:ext>
            </a:extLst>
          </p:cNvPr>
          <p:cNvSpPr>
            <a:spLocks noChangeArrowheads="1"/>
          </p:cNvSpPr>
          <p:nvPr/>
        </p:nvSpPr>
        <p:spPr bwMode="auto">
          <a:xfrm>
            <a:off x="3635375" y="439420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6" name="Oval 194">
            <a:extLst>
              <a:ext uri="{FF2B5EF4-FFF2-40B4-BE49-F238E27FC236}">
                <a16:creationId xmlns:a16="http://schemas.microsoft.com/office/drawing/2014/main" id="{39791830-89AD-426D-8D78-5CEB655FC0AE}"/>
              </a:ext>
            </a:extLst>
          </p:cNvPr>
          <p:cNvSpPr>
            <a:spLocks noChangeArrowheads="1"/>
          </p:cNvSpPr>
          <p:nvPr/>
        </p:nvSpPr>
        <p:spPr bwMode="auto">
          <a:xfrm>
            <a:off x="3060700" y="4545013"/>
            <a:ext cx="76200"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7" name="Oval 195">
            <a:extLst>
              <a:ext uri="{FF2B5EF4-FFF2-40B4-BE49-F238E27FC236}">
                <a16:creationId xmlns:a16="http://schemas.microsoft.com/office/drawing/2014/main" id="{1841638C-90A3-4D81-B2A5-0BFD22BEB59D}"/>
              </a:ext>
            </a:extLst>
          </p:cNvPr>
          <p:cNvSpPr>
            <a:spLocks noChangeArrowheads="1"/>
          </p:cNvSpPr>
          <p:nvPr/>
        </p:nvSpPr>
        <p:spPr bwMode="auto">
          <a:xfrm>
            <a:off x="3248025" y="499745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8" name="Oval 196">
            <a:extLst>
              <a:ext uri="{FF2B5EF4-FFF2-40B4-BE49-F238E27FC236}">
                <a16:creationId xmlns:a16="http://schemas.microsoft.com/office/drawing/2014/main" id="{20F55F14-7828-4F8D-B497-5DF8F0554315}"/>
              </a:ext>
            </a:extLst>
          </p:cNvPr>
          <p:cNvSpPr>
            <a:spLocks noChangeArrowheads="1"/>
          </p:cNvSpPr>
          <p:nvPr/>
        </p:nvSpPr>
        <p:spPr bwMode="auto">
          <a:xfrm>
            <a:off x="3438525" y="5156200"/>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9" name="Oval 197">
            <a:extLst>
              <a:ext uri="{FF2B5EF4-FFF2-40B4-BE49-F238E27FC236}">
                <a16:creationId xmlns:a16="http://schemas.microsoft.com/office/drawing/2014/main" id="{F02C93FC-20C1-40E0-97AC-E7CC54424E99}"/>
              </a:ext>
            </a:extLst>
          </p:cNvPr>
          <p:cNvSpPr>
            <a:spLocks noChangeArrowheads="1"/>
          </p:cNvSpPr>
          <p:nvPr/>
        </p:nvSpPr>
        <p:spPr bwMode="auto">
          <a:xfrm>
            <a:off x="3057525" y="5459413"/>
            <a:ext cx="74613"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90" name="Oval 198">
            <a:extLst>
              <a:ext uri="{FF2B5EF4-FFF2-40B4-BE49-F238E27FC236}">
                <a16:creationId xmlns:a16="http://schemas.microsoft.com/office/drawing/2014/main" id="{C2F2C300-B30C-4FD0-BE08-CE86AE3DCEA0}"/>
              </a:ext>
            </a:extLst>
          </p:cNvPr>
          <p:cNvSpPr>
            <a:spLocks noChangeArrowheads="1"/>
          </p:cNvSpPr>
          <p:nvPr/>
        </p:nvSpPr>
        <p:spPr bwMode="auto">
          <a:xfrm>
            <a:off x="3629025" y="5919788"/>
            <a:ext cx="74613" cy="60325"/>
          </a:xfrm>
          <a:prstGeom prst="ellipse">
            <a:avLst/>
          </a:prstGeom>
          <a:noFill/>
          <a:ln w="28575">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91" name="Line 199">
            <a:extLst>
              <a:ext uri="{FF2B5EF4-FFF2-40B4-BE49-F238E27FC236}">
                <a16:creationId xmlns:a16="http://schemas.microsoft.com/office/drawing/2014/main" id="{3486CDF6-E4FE-449B-8027-3DDE25DE3DFA}"/>
              </a:ext>
            </a:extLst>
          </p:cNvPr>
          <p:cNvSpPr>
            <a:spLocks noChangeShapeType="1"/>
          </p:cNvSpPr>
          <p:nvPr/>
        </p:nvSpPr>
        <p:spPr bwMode="auto">
          <a:xfrm flipV="1">
            <a:off x="2506663" y="1355725"/>
            <a:ext cx="0" cy="4238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93" name="Rectangle 201">
            <a:extLst>
              <a:ext uri="{FF2B5EF4-FFF2-40B4-BE49-F238E27FC236}">
                <a16:creationId xmlns:a16="http://schemas.microsoft.com/office/drawing/2014/main" id="{2176FF82-2D6C-47D1-944C-D543D912041D}"/>
              </a:ext>
            </a:extLst>
          </p:cNvPr>
          <p:cNvSpPr>
            <a:spLocks noChangeArrowheads="1"/>
          </p:cNvSpPr>
          <p:nvPr/>
        </p:nvSpPr>
        <p:spPr bwMode="auto">
          <a:xfrm rot="-5400000">
            <a:off x="4940301" y="2298700"/>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4" name="Rectangle 202">
            <a:extLst>
              <a:ext uri="{FF2B5EF4-FFF2-40B4-BE49-F238E27FC236}">
                <a16:creationId xmlns:a16="http://schemas.microsoft.com/office/drawing/2014/main" id="{3CF50848-B042-4CA4-93FA-1A368B616B15}"/>
              </a:ext>
            </a:extLst>
          </p:cNvPr>
          <p:cNvSpPr>
            <a:spLocks noChangeArrowheads="1"/>
          </p:cNvSpPr>
          <p:nvPr/>
        </p:nvSpPr>
        <p:spPr bwMode="auto">
          <a:xfrm rot="-5400000">
            <a:off x="4930776" y="322262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5" name="Rectangle 203">
            <a:extLst>
              <a:ext uri="{FF2B5EF4-FFF2-40B4-BE49-F238E27FC236}">
                <a16:creationId xmlns:a16="http://schemas.microsoft.com/office/drawing/2014/main" id="{A5FC98C6-5580-404D-9879-772FA7A51BE8}"/>
              </a:ext>
            </a:extLst>
          </p:cNvPr>
          <p:cNvSpPr>
            <a:spLocks noChangeArrowheads="1"/>
          </p:cNvSpPr>
          <p:nvPr/>
        </p:nvSpPr>
        <p:spPr bwMode="auto">
          <a:xfrm rot="-5400000">
            <a:off x="4940301" y="413702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6" name="Rectangle 204">
            <a:extLst>
              <a:ext uri="{FF2B5EF4-FFF2-40B4-BE49-F238E27FC236}">
                <a16:creationId xmlns:a16="http://schemas.microsoft.com/office/drawing/2014/main" id="{7729BE20-E8BA-4F9A-8E9F-754582346E24}"/>
              </a:ext>
            </a:extLst>
          </p:cNvPr>
          <p:cNvSpPr>
            <a:spLocks noChangeArrowheads="1"/>
          </p:cNvSpPr>
          <p:nvPr/>
        </p:nvSpPr>
        <p:spPr bwMode="auto">
          <a:xfrm rot="-5400000">
            <a:off x="4921251" y="507047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7" name="Rectangle 205">
            <a:extLst>
              <a:ext uri="{FF2B5EF4-FFF2-40B4-BE49-F238E27FC236}">
                <a16:creationId xmlns:a16="http://schemas.microsoft.com/office/drawing/2014/main" id="{45217AF2-1FE0-4556-B390-7FEC21FBAD6A}"/>
              </a:ext>
            </a:extLst>
          </p:cNvPr>
          <p:cNvSpPr>
            <a:spLocks noChangeArrowheads="1"/>
          </p:cNvSpPr>
          <p:nvPr/>
        </p:nvSpPr>
        <p:spPr bwMode="auto">
          <a:xfrm rot="-5400000">
            <a:off x="4921251" y="598487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B55DAF7A-2486-4604-AC03-896896587415}"/>
              </a:ext>
            </a:extLst>
          </p:cNvPr>
          <p:cNvSpPr>
            <a:spLocks noGrp="1"/>
          </p:cNvSpPr>
          <p:nvPr>
            <p:ph type="title"/>
          </p:nvPr>
        </p:nvSpPr>
        <p:spPr/>
        <p:txBody>
          <a:bodyPr/>
          <a:lstStyle/>
          <a:p>
            <a:r>
              <a:rPr lang="en-IN" altLang="en-US"/>
              <a:t>Numerical Problems</a:t>
            </a:r>
          </a:p>
        </p:txBody>
      </p:sp>
      <p:sp>
        <p:nvSpPr>
          <p:cNvPr id="13315" name="Content Placeholder 2">
            <a:extLst>
              <a:ext uri="{FF2B5EF4-FFF2-40B4-BE49-F238E27FC236}">
                <a16:creationId xmlns:a16="http://schemas.microsoft.com/office/drawing/2014/main" id="{D0583ACE-A387-4634-9888-739071D24D6E}"/>
              </a:ext>
            </a:extLst>
          </p:cNvPr>
          <p:cNvSpPr>
            <a:spLocks noGrp="1"/>
          </p:cNvSpPr>
          <p:nvPr>
            <p:ph idx="1"/>
          </p:nvPr>
        </p:nvSpPr>
        <p:spPr/>
        <p:txBody>
          <a:bodyPr/>
          <a:lstStyle/>
          <a:p>
            <a:pPr marL="0" indent="0" algn="just">
              <a:buFont typeface="Monotype Sorts" pitchFamily="2" charset="2"/>
              <a:buNone/>
              <a:defRPr/>
            </a:pPr>
            <a:r>
              <a:rPr lang="en-IN" altLang="en-US" sz="1600" dirty="0">
                <a:ea typeface="굴림" pitchFamily="34" charset="-127"/>
              </a:rPr>
              <a:t>Q1. a) How many 128x8 RAM chips are needed to provide a memory capacity of 	2048 bytes.</a:t>
            </a:r>
          </a:p>
          <a:p>
            <a:pPr marL="0" indent="0" algn="just">
              <a:buFont typeface="Monotype Sorts" pitchFamily="2" charset="2"/>
              <a:buNone/>
              <a:defRPr/>
            </a:pPr>
            <a:r>
              <a:rPr lang="en-IN" altLang="en-US" sz="1600" dirty="0">
                <a:ea typeface="굴림" pitchFamily="34" charset="-127"/>
              </a:rPr>
              <a:t>b) How any lines of the address bus must be used to access 2048 bytes of memory. How many of these lines will be common to all chips.</a:t>
            </a:r>
          </a:p>
          <a:p>
            <a:pPr marL="0" indent="0" algn="just">
              <a:buFont typeface="Monotype Sorts" pitchFamily="2" charset="2"/>
              <a:buNone/>
              <a:defRPr/>
            </a:pPr>
            <a:r>
              <a:rPr lang="en-IN" altLang="en-US" sz="1600" dirty="0">
                <a:ea typeface="굴림" pitchFamily="34" charset="-127"/>
              </a:rPr>
              <a:t>c) How many lines must be decoded for chip select? Specify the size of decoders.</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Q2. Extend the memory system of Fig.1 to 4096 bytes of RAM and 4096 bytes of RAM. List the memory-address map and indicate what size decoders are needed.</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Q3. A computer employs RAM chips of 256x8 and ROM chips of 1024x8. The computer system needs 2K bytes of RAM, 4K bytes of ROM, and four interface units each with four registers. A memory-mapped I/O configuration used. The two highest-order bits of the address bus are assigned 00 for RAM, 01 for ROM, and 10 for interface registers.</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How many RAM and ROM chips are needed.</a:t>
            </a:r>
          </a:p>
          <a:p>
            <a:pPr marL="0" indent="0" algn="just">
              <a:buFont typeface="Monotype Sorts" pitchFamily="2" charset="2"/>
              <a:buNone/>
              <a:defRPr/>
            </a:pPr>
            <a:r>
              <a:rPr lang="en-IN" altLang="en-US" sz="1600" dirty="0">
                <a:ea typeface="굴림" pitchFamily="34" charset="-127"/>
              </a:rPr>
              <a:t>Draw a memory-address map for the system.</a:t>
            </a:r>
          </a:p>
          <a:p>
            <a:pPr marL="0" indent="0" algn="just">
              <a:buFont typeface="Monotype Sorts" pitchFamily="2" charset="2"/>
              <a:buNone/>
              <a:defRPr/>
            </a:pPr>
            <a:r>
              <a:rPr lang="en-IN" altLang="en-US" sz="1600" dirty="0">
                <a:ea typeface="굴림" pitchFamily="34" charset="-127"/>
              </a:rPr>
              <a:t>Give the address range in hexadecimal for RAM, ROM and interface.</a:t>
            </a:r>
          </a:p>
          <a:p>
            <a:pPr marL="0" indent="0">
              <a:buFont typeface="Monotype Sorts" pitchFamily="2" charset="2"/>
              <a:buNone/>
              <a:defRPr/>
            </a:pPr>
            <a:endParaRPr lang="en-IN" altLang="en-US" sz="1600" dirty="0">
              <a:ea typeface="굴림" pitchFamily="34" charset="-127"/>
            </a:endParaRPr>
          </a:p>
          <a:p>
            <a:pPr>
              <a:defRPr/>
            </a:pPr>
            <a:endParaRPr lang="en-IN" altLang="en-US" dirty="0">
              <a:ea typeface="굴림" pitchFamily="34" charset="-127"/>
            </a:endParaRPr>
          </a:p>
          <a:p>
            <a:pPr>
              <a:defRPr/>
            </a:pPr>
            <a:endParaRPr lang="en-IN" altLang="en-US" dirty="0">
              <a:ea typeface="굴림" pitchFamily="34" charset="-127"/>
            </a:endParaRPr>
          </a:p>
          <a:p>
            <a:pPr>
              <a:defRPr/>
            </a:pPr>
            <a:endParaRPr lang="en-IN" altLang="en-US" dirty="0">
              <a:ea typeface="굴림" pitchFamily="34" charset="-127"/>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Content Placeholder 3">
            <a:extLst>
              <a:ext uri="{FF2B5EF4-FFF2-40B4-BE49-F238E27FC236}">
                <a16:creationId xmlns:a16="http://schemas.microsoft.com/office/drawing/2014/main" id="{ABE1847B-81CB-4803-874B-7A8997BD2A2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71550" y="1196975"/>
            <a:ext cx="7486650" cy="1511300"/>
          </a:xfrm>
        </p:spPr>
      </p:pic>
      <p:pic>
        <p:nvPicPr>
          <p:cNvPr id="12292" name="Picture 4">
            <a:extLst>
              <a:ext uri="{FF2B5EF4-FFF2-40B4-BE49-F238E27FC236}">
                <a16:creationId xmlns:a16="http://schemas.microsoft.com/office/drawing/2014/main" id="{0802E27A-D64D-46E6-8B89-A95DA0DB57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254375"/>
            <a:ext cx="748665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46D96511-62EA-4139-8CFE-77CD54C42E57}"/>
              </a:ext>
            </a:extLst>
          </p:cNvPr>
          <p:cNvSpPr>
            <a:spLocks noGrp="1" noChangeArrowheads="1"/>
          </p:cNvSpPr>
          <p:nvPr>
            <p:ph type="body" idx="1"/>
          </p:nvPr>
        </p:nvSpPr>
        <p:spPr>
          <a:xfrm>
            <a:off x="228600" y="1219200"/>
            <a:ext cx="8686800" cy="5486400"/>
          </a:xfrm>
        </p:spPr>
        <p:txBody>
          <a:bodyPr/>
          <a:lstStyle/>
          <a:p>
            <a:pPr>
              <a:lnSpc>
                <a:spcPct val="90000"/>
              </a:lnSpc>
              <a:defRPr/>
            </a:pPr>
            <a:r>
              <a:rPr lang="ko-KR" altLang="en-US" dirty="0">
                <a:ea typeface="굴림" pitchFamily="34" charset="-127"/>
              </a:rPr>
              <a:t>12-5  </a:t>
            </a:r>
            <a:r>
              <a:rPr lang="en-US" altLang="ko-KR" dirty="0">
                <a:ea typeface="굴림" pitchFamily="34" charset="-127"/>
              </a:rPr>
              <a:t>Cache Memory</a:t>
            </a:r>
          </a:p>
          <a:p>
            <a:pPr lvl="1">
              <a:lnSpc>
                <a:spcPct val="90000"/>
              </a:lnSpc>
              <a:defRPr/>
            </a:pPr>
            <a:r>
              <a:rPr lang="en-US" altLang="ko-KR" sz="1800" dirty="0">
                <a:ea typeface="굴림" pitchFamily="34" charset="-127"/>
              </a:rPr>
              <a:t>Locality of Reference</a:t>
            </a:r>
          </a:p>
          <a:p>
            <a:pPr lvl="2">
              <a:lnSpc>
                <a:spcPct val="90000"/>
              </a:lnSpc>
              <a:defRPr/>
            </a:pPr>
            <a:r>
              <a:rPr lang="en-US" altLang="ko-KR" sz="1800" dirty="0">
                <a:ea typeface="굴림" pitchFamily="34" charset="-127"/>
              </a:rPr>
              <a:t>the references to memory </a:t>
            </a:r>
            <a:r>
              <a:rPr lang="en-US" altLang="ko-KR" sz="1800" i="1" dirty="0">
                <a:ea typeface="굴림" pitchFamily="34" charset="-127"/>
              </a:rPr>
              <a:t>tend to be confined within a few localized areas</a:t>
            </a:r>
            <a:r>
              <a:rPr lang="en-US" altLang="ko-KR" sz="1800" dirty="0">
                <a:ea typeface="굴림" pitchFamily="34" charset="-127"/>
              </a:rPr>
              <a:t> in memory</a:t>
            </a:r>
          </a:p>
          <a:p>
            <a:pPr lvl="1">
              <a:lnSpc>
                <a:spcPct val="90000"/>
              </a:lnSpc>
              <a:defRPr/>
            </a:pPr>
            <a:endParaRPr lang="en-US" altLang="ko-KR" sz="1800" dirty="0">
              <a:ea typeface="굴림" pitchFamily="34" charset="-127"/>
            </a:endParaRPr>
          </a:p>
          <a:p>
            <a:pPr lvl="1">
              <a:lnSpc>
                <a:spcPct val="90000"/>
              </a:lnSpc>
              <a:defRPr/>
            </a:pPr>
            <a:r>
              <a:rPr lang="en-US" altLang="ko-KR" sz="1800" dirty="0">
                <a:ea typeface="굴림" pitchFamily="34" charset="-127"/>
              </a:rPr>
              <a:t>Cache Memory : </a:t>
            </a:r>
            <a:r>
              <a:rPr lang="en-US" altLang="ko-KR" sz="1800" b="1" dirty="0">
                <a:solidFill>
                  <a:srgbClr val="CC9900"/>
                </a:solidFill>
                <a:ea typeface="굴림" pitchFamily="34" charset="-127"/>
              </a:rPr>
              <a:t>a fast small memory</a:t>
            </a:r>
            <a:endParaRPr lang="en-US" altLang="ko-KR" sz="1800" dirty="0">
              <a:ea typeface="굴림" pitchFamily="34" charset="-127"/>
            </a:endParaRPr>
          </a:p>
          <a:p>
            <a:pPr lvl="2">
              <a:lnSpc>
                <a:spcPct val="90000"/>
              </a:lnSpc>
              <a:defRPr/>
            </a:pPr>
            <a:r>
              <a:rPr lang="en-US" altLang="ko-KR" sz="1800" dirty="0">
                <a:ea typeface="굴림" pitchFamily="34" charset="-127"/>
              </a:rPr>
              <a:t>keeping the most frequently accessed instructions and data in the fast cache memory </a:t>
            </a:r>
          </a:p>
          <a:p>
            <a:pPr lvl="1">
              <a:lnSpc>
                <a:spcPct val="90000"/>
              </a:lnSpc>
              <a:defRPr/>
            </a:pPr>
            <a:endParaRPr lang="en-US" altLang="ko-KR" sz="1800" dirty="0">
              <a:ea typeface="굴림" pitchFamily="34" charset="-127"/>
            </a:endParaRPr>
          </a:p>
          <a:p>
            <a:pPr lvl="1">
              <a:lnSpc>
                <a:spcPct val="90000"/>
              </a:lnSpc>
              <a:defRPr/>
            </a:pPr>
            <a:r>
              <a:rPr lang="en-US" altLang="ko-KR" sz="1800" dirty="0">
                <a:ea typeface="굴림" pitchFamily="34" charset="-127"/>
              </a:rPr>
              <a:t>Hit Ratio </a:t>
            </a:r>
            <a:r>
              <a:rPr lang="ko-KR" altLang="en-US" sz="1800" dirty="0">
                <a:ea typeface="굴림" pitchFamily="34" charset="-127"/>
              </a:rPr>
              <a:t> </a:t>
            </a:r>
          </a:p>
          <a:p>
            <a:pPr lvl="2">
              <a:lnSpc>
                <a:spcPct val="90000"/>
              </a:lnSpc>
              <a:defRPr/>
            </a:pPr>
            <a:r>
              <a:rPr lang="en-US" altLang="ko-KR" sz="1800" dirty="0">
                <a:ea typeface="굴림" pitchFamily="34" charset="-127"/>
              </a:rPr>
              <a:t>the ratio of the number of hits divided by the total CPU references (</a:t>
            </a:r>
            <a:r>
              <a:rPr lang="en-US" altLang="ko-KR" sz="1800" dirty="0">
                <a:solidFill>
                  <a:srgbClr val="CC9900"/>
                </a:solidFill>
                <a:ea typeface="굴림" pitchFamily="34" charset="-127"/>
              </a:rPr>
              <a:t>hits + misses</a:t>
            </a:r>
            <a:r>
              <a:rPr lang="en-US" altLang="ko-KR" sz="1800" dirty="0">
                <a:ea typeface="굴림" pitchFamily="34" charset="-127"/>
              </a:rPr>
              <a:t>) to memory</a:t>
            </a:r>
          </a:p>
          <a:p>
            <a:pPr lvl="3">
              <a:lnSpc>
                <a:spcPct val="90000"/>
              </a:lnSpc>
              <a:defRPr/>
            </a:pPr>
            <a:r>
              <a:rPr lang="en-US" altLang="ko-KR" sz="1800" b="1" i="1" dirty="0">
                <a:solidFill>
                  <a:schemeClr val="tx1"/>
                </a:solidFill>
                <a:ea typeface="굴림" pitchFamily="34" charset="-127"/>
              </a:rPr>
              <a:t>hit</a:t>
            </a:r>
            <a:r>
              <a:rPr lang="en-US" altLang="ko-KR" sz="1800" dirty="0">
                <a:ea typeface="굴림" pitchFamily="34" charset="-127"/>
              </a:rPr>
              <a:t> : the CPU finds the word in the cache </a:t>
            </a:r>
            <a:endParaRPr lang="ko-KR" altLang="en-US" sz="1800" dirty="0">
              <a:ea typeface="굴림" pitchFamily="34" charset="-127"/>
            </a:endParaRPr>
          </a:p>
          <a:p>
            <a:pPr lvl="3">
              <a:lnSpc>
                <a:spcPct val="90000"/>
              </a:lnSpc>
              <a:defRPr/>
            </a:pPr>
            <a:r>
              <a:rPr lang="en-US" altLang="ko-KR" sz="1800" b="1" i="1" dirty="0">
                <a:solidFill>
                  <a:schemeClr val="tx1"/>
                </a:solidFill>
                <a:ea typeface="굴림" pitchFamily="34" charset="-127"/>
              </a:rPr>
              <a:t>miss</a:t>
            </a:r>
            <a:r>
              <a:rPr lang="en-US" altLang="ko-KR" sz="1800" dirty="0">
                <a:ea typeface="굴림" pitchFamily="34" charset="-127"/>
              </a:rPr>
              <a:t> : the word is not found in cache (</a:t>
            </a:r>
            <a:r>
              <a:rPr lang="en-US" altLang="ko-KR" sz="1800" dirty="0">
                <a:solidFill>
                  <a:srgbClr val="6600FF"/>
                </a:solidFill>
                <a:ea typeface="굴림" pitchFamily="34" charset="-127"/>
              </a:rPr>
              <a:t>CPU must read main memory</a:t>
            </a:r>
            <a:r>
              <a:rPr lang="en-US" altLang="ko-KR" sz="1800" dirty="0">
                <a:ea typeface="굴림" pitchFamily="34" charset="-127"/>
              </a:rPr>
              <a:t>)</a:t>
            </a:r>
          </a:p>
          <a:p>
            <a:pPr lvl="3">
              <a:lnSpc>
                <a:spcPct val="90000"/>
              </a:lnSpc>
              <a:defRPr/>
            </a:pPr>
            <a:endParaRPr lang="en-US" altLang="ko-KR" sz="1800" dirty="0">
              <a:ea typeface="굴림" pitchFamily="34" charset="-127"/>
            </a:endParaRPr>
          </a:p>
          <a:p>
            <a:pPr lvl="1">
              <a:lnSpc>
                <a:spcPct val="90000"/>
              </a:lnSpc>
              <a:defRPr/>
            </a:pPr>
            <a:r>
              <a:rPr lang="en-US" altLang="ko-KR" sz="1800" dirty="0">
                <a:solidFill>
                  <a:schemeClr val="tx1"/>
                </a:solidFill>
                <a:ea typeface="굴림" pitchFamily="34" charset="-127"/>
              </a:rPr>
              <a:t>A computer with cache access time of 100ns, a main memory access time of 1000 ns, a hit ratio of 0.9 is having average access time of 200ns.</a:t>
            </a:r>
          </a:p>
          <a:p>
            <a:pPr lvl="1">
              <a:lnSpc>
                <a:spcPct val="90000"/>
              </a:lnSpc>
              <a:defRPr/>
            </a:pPr>
            <a:endParaRPr lang="en-US" altLang="ko-KR" sz="1800" dirty="0">
              <a:ea typeface="굴림" pitchFamily="34" charset="-127"/>
            </a:endParaRPr>
          </a:p>
          <a:p>
            <a:pPr marL="1371600" lvl="3" indent="0">
              <a:lnSpc>
                <a:spcPct val="90000"/>
              </a:lnSpc>
              <a:buFontTx/>
              <a:buNone/>
              <a:defRPr/>
            </a:pPr>
            <a:endParaRPr lang="en-US" altLang="ko-KR" sz="1800" dirty="0">
              <a:ea typeface="굴림" pitchFamily="34" charset="-127"/>
            </a:endParaRPr>
          </a:p>
        </p:txBody>
      </p:sp>
      <p:sp>
        <p:nvSpPr>
          <p:cNvPr id="13315" name="Title 1">
            <a:extLst>
              <a:ext uri="{FF2B5EF4-FFF2-40B4-BE49-F238E27FC236}">
                <a16:creationId xmlns:a16="http://schemas.microsoft.com/office/drawing/2014/main" id="{3AA978CE-07A8-4D1C-8EC9-C40DC33FBBFC}"/>
              </a:ext>
            </a:extLst>
          </p:cNvPr>
          <p:cNvSpPr>
            <a:spLocks noGrp="1"/>
          </p:cNvSpPr>
          <p:nvPr>
            <p:ph type="title"/>
          </p:nvPr>
        </p:nvSpPr>
        <p:spPr>
          <a:xfrm>
            <a:off x="457200" y="152400"/>
            <a:ext cx="8229600" cy="1143000"/>
          </a:xfrm>
        </p:spPr>
        <p:txBody>
          <a:bodyPr/>
          <a:lstStyle/>
          <a:p>
            <a:r>
              <a:rPr lang="en-US" altLang="en-US" dirty="0"/>
              <a:t>Cache Memory</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D4B45CB9-5D18-4553-94E4-036A3AEBF969}"/>
              </a:ext>
            </a:extLst>
          </p:cNvPr>
          <p:cNvSpPr>
            <a:spLocks noGrp="1" noChangeArrowheads="1"/>
          </p:cNvSpPr>
          <p:nvPr>
            <p:ph type="body" idx="1"/>
          </p:nvPr>
        </p:nvSpPr>
        <p:spPr/>
        <p:txBody>
          <a:bodyPr/>
          <a:lstStyle/>
          <a:p>
            <a:pPr lvl="1"/>
            <a:endParaRPr lang="en-US" altLang="ko-KR" sz="1800" dirty="0"/>
          </a:p>
          <a:p>
            <a:pPr lvl="1"/>
            <a:r>
              <a:rPr lang="en-US" altLang="ko-KR" sz="1800" dirty="0"/>
              <a:t>Mapping</a:t>
            </a:r>
          </a:p>
          <a:p>
            <a:pPr lvl="2"/>
            <a:r>
              <a:rPr lang="en-US" altLang="ko-KR" sz="1800" dirty="0"/>
              <a:t>The transformation of data from main memory to cache memory</a:t>
            </a:r>
          </a:p>
          <a:p>
            <a:pPr lvl="3"/>
            <a:r>
              <a:rPr lang="en-US" altLang="ko-KR" sz="1800" dirty="0"/>
              <a:t>1) Associative mapping</a:t>
            </a:r>
          </a:p>
          <a:p>
            <a:pPr lvl="3"/>
            <a:r>
              <a:rPr lang="en-US" altLang="ko-KR" sz="1800" dirty="0"/>
              <a:t>2) Direct mapping</a:t>
            </a:r>
          </a:p>
          <a:p>
            <a:pPr lvl="3"/>
            <a:r>
              <a:rPr lang="en-US" altLang="ko-KR" sz="1800" dirty="0"/>
              <a:t>3) Set-associative mapping</a:t>
            </a:r>
          </a:p>
          <a:p>
            <a:pPr lvl="1"/>
            <a:endParaRPr lang="en-US" altLang="ko-KR" sz="1800" dirty="0"/>
          </a:p>
          <a:p>
            <a:pPr lvl="1"/>
            <a:r>
              <a:rPr lang="en-US" altLang="ko-KR" sz="1800" dirty="0"/>
              <a:t>Associative  Mapping: </a:t>
            </a:r>
          </a:p>
          <a:p>
            <a:pPr lvl="2">
              <a:buFont typeface="Monotype Sorts" pitchFamily="2" charset="2"/>
              <a:buNone/>
            </a:pPr>
            <a:r>
              <a:rPr lang="en-US" altLang="ko-KR" sz="1800" dirty="0"/>
              <a:t>main memory : </a:t>
            </a:r>
            <a:r>
              <a:rPr lang="en-US" altLang="ko-KR" sz="1800" b="1" dirty="0"/>
              <a:t>32 K</a:t>
            </a:r>
            <a:r>
              <a:rPr lang="en-US" altLang="ko-KR" sz="1800" dirty="0"/>
              <a:t>  x 12 bit word (15 bit address lines)</a:t>
            </a:r>
          </a:p>
          <a:p>
            <a:pPr lvl="2">
              <a:buFont typeface="Monotype Sorts" pitchFamily="2" charset="2"/>
              <a:buNone/>
            </a:pPr>
            <a:r>
              <a:rPr lang="en-US" altLang="ko-KR" sz="1800" dirty="0"/>
              <a:t>cache memory : </a:t>
            </a:r>
            <a:r>
              <a:rPr lang="en-US" altLang="ko-KR" sz="1800" b="1" dirty="0"/>
              <a:t>512</a:t>
            </a:r>
            <a:r>
              <a:rPr lang="en-US" altLang="ko-KR" sz="1800" dirty="0"/>
              <a:t>  x 12 bit word</a:t>
            </a:r>
          </a:p>
          <a:p>
            <a:pPr lvl="3"/>
            <a:r>
              <a:rPr lang="en-US" altLang="ko-KR" sz="1800" dirty="0"/>
              <a:t>CPU sends a 15-bit address to cache</a:t>
            </a:r>
          </a:p>
          <a:p>
            <a:pPr lvl="4"/>
            <a:r>
              <a:rPr lang="en-US" altLang="ko-KR" sz="1800" b="1" dirty="0"/>
              <a:t>Hit</a:t>
            </a:r>
            <a:r>
              <a:rPr lang="en-US" altLang="ko-KR" sz="1800" dirty="0"/>
              <a:t> : CPU accepts the 12-bit data from cache</a:t>
            </a:r>
          </a:p>
          <a:p>
            <a:pPr lvl="4"/>
            <a:r>
              <a:rPr lang="en-US" altLang="ko-KR" sz="1800" b="1" dirty="0"/>
              <a:t>Miss</a:t>
            </a:r>
            <a:r>
              <a:rPr lang="en-US" altLang="ko-KR" sz="1800" dirty="0"/>
              <a:t> : CPU reads the data from main memory (</a:t>
            </a:r>
            <a:r>
              <a:rPr lang="en-US" altLang="ko-KR" sz="1800" dirty="0">
                <a:solidFill>
                  <a:srgbClr val="FF5050"/>
                </a:solidFill>
              </a:rPr>
              <a:t>then data is written to cache</a:t>
            </a:r>
            <a:r>
              <a:rPr lang="en-US" altLang="ko-KR" sz="1800" dirty="0"/>
              <a:t>)</a:t>
            </a:r>
          </a:p>
        </p:txBody>
      </p:sp>
      <p:sp>
        <p:nvSpPr>
          <p:cNvPr id="14339" name="Title 1">
            <a:extLst>
              <a:ext uri="{FF2B5EF4-FFF2-40B4-BE49-F238E27FC236}">
                <a16:creationId xmlns:a16="http://schemas.microsoft.com/office/drawing/2014/main" id="{100CB96B-44C5-4180-9921-3750A90F9D5D}"/>
              </a:ext>
            </a:extLst>
          </p:cNvPr>
          <p:cNvSpPr>
            <a:spLocks noGrp="1"/>
          </p:cNvSpPr>
          <p:nvPr>
            <p:ph type="title"/>
          </p:nvPr>
        </p:nvSpPr>
        <p:spPr/>
        <p:txBody>
          <a:bodyPr/>
          <a:lstStyle/>
          <a:p>
            <a:r>
              <a:rPr lang="en-US" altLang="en-US"/>
              <a:t>Types of Mapping of Cache Memory</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DB12AE9-B995-4FAA-874B-391D55696BC1}"/>
              </a:ext>
            </a:extLst>
          </p:cNvPr>
          <p:cNvSpPr>
            <a:spLocks noGrp="1"/>
          </p:cNvSpPr>
          <p:nvPr>
            <p:ph type="title"/>
          </p:nvPr>
        </p:nvSpPr>
        <p:spPr/>
        <p:txBody>
          <a:bodyPr/>
          <a:lstStyle/>
          <a:p>
            <a:r>
              <a:rPr lang="en-US" altLang="en-US"/>
              <a:t>Associative Mapping</a:t>
            </a:r>
          </a:p>
        </p:txBody>
      </p:sp>
      <p:graphicFrame>
        <p:nvGraphicFramePr>
          <p:cNvPr id="15363" name="Object 7">
            <a:extLst>
              <a:ext uri="{FF2B5EF4-FFF2-40B4-BE49-F238E27FC236}">
                <a16:creationId xmlns:a16="http://schemas.microsoft.com/office/drawing/2014/main" id="{82A33955-9865-45A1-B5E0-3CE88267E344}"/>
              </a:ext>
            </a:extLst>
          </p:cNvPr>
          <p:cNvGraphicFramePr>
            <a:graphicFrameLocks noChangeAspect="1"/>
          </p:cNvGraphicFramePr>
          <p:nvPr>
            <p:extLst>
              <p:ext uri="{D42A27DB-BD31-4B8C-83A1-F6EECF244321}">
                <p14:modId xmlns:p14="http://schemas.microsoft.com/office/powerpoint/2010/main" val="478560392"/>
              </p:ext>
            </p:extLst>
          </p:nvPr>
        </p:nvGraphicFramePr>
        <p:xfrm>
          <a:off x="2133600" y="3200400"/>
          <a:ext cx="4071937" cy="3429000"/>
        </p:xfrm>
        <a:graphic>
          <a:graphicData uri="http://schemas.openxmlformats.org/presentationml/2006/ole">
            <mc:AlternateContent xmlns:mc="http://schemas.openxmlformats.org/markup-compatibility/2006">
              <mc:Choice xmlns:v="urn:schemas-microsoft-com:vml" Requires="v">
                <p:oleObj name="VISIO" r:id="rId2" imgW="4941720" imgH="4839480" progId="Visio.Drawing.5">
                  <p:embed/>
                </p:oleObj>
              </mc:Choice>
              <mc:Fallback>
                <p:oleObj name="VISIO" r:id="rId2" imgW="4941720" imgH="4839480" progId="Visio.Drawing.5">
                  <p:embed/>
                  <p:pic>
                    <p:nvPicPr>
                      <p:cNvPr id="15363" name="Object 7">
                        <a:extLst>
                          <a:ext uri="{FF2B5EF4-FFF2-40B4-BE49-F238E27FC236}">
                            <a16:creationId xmlns:a16="http://schemas.microsoft.com/office/drawing/2014/main" id="{82A33955-9865-45A1-B5E0-3CE88267E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200400"/>
                        <a:ext cx="4071937" cy="34290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4" name="Object 6">
            <a:extLst>
              <a:ext uri="{FF2B5EF4-FFF2-40B4-BE49-F238E27FC236}">
                <a16:creationId xmlns:a16="http://schemas.microsoft.com/office/drawing/2014/main" id="{1BA26FF9-42E1-4B72-98AF-F1BE1C7C3B87}"/>
              </a:ext>
            </a:extLst>
          </p:cNvPr>
          <p:cNvGraphicFramePr>
            <a:graphicFrameLocks noChangeAspect="1"/>
          </p:cNvGraphicFramePr>
          <p:nvPr>
            <p:extLst>
              <p:ext uri="{D42A27DB-BD31-4B8C-83A1-F6EECF244321}">
                <p14:modId xmlns:p14="http://schemas.microsoft.com/office/powerpoint/2010/main" val="2614959825"/>
              </p:ext>
            </p:extLst>
          </p:nvPr>
        </p:nvGraphicFramePr>
        <p:xfrm>
          <a:off x="1219200" y="1371600"/>
          <a:ext cx="6500812" cy="1714500"/>
        </p:xfrm>
        <a:graphic>
          <a:graphicData uri="http://schemas.openxmlformats.org/presentationml/2006/ole">
            <mc:AlternateContent xmlns:mc="http://schemas.openxmlformats.org/markup-compatibility/2006">
              <mc:Choice xmlns:v="urn:schemas-microsoft-com:vml" Requires="v">
                <p:oleObj name="VISIO" r:id="rId4" imgW="7527600" imgH="2026800" progId="Visio.Drawing.5">
                  <p:embed/>
                </p:oleObj>
              </mc:Choice>
              <mc:Fallback>
                <p:oleObj name="VISIO" r:id="rId4" imgW="7527600" imgH="2026800" progId="Visio.Drawing.5">
                  <p:embed/>
                  <p:pic>
                    <p:nvPicPr>
                      <p:cNvPr id="15364" name="Object 6">
                        <a:extLst>
                          <a:ext uri="{FF2B5EF4-FFF2-40B4-BE49-F238E27FC236}">
                            <a16:creationId xmlns:a16="http://schemas.microsoft.com/office/drawing/2014/main" id="{1BA26FF9-42E1-4B72-98AF-F1BE1C7C3B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1371600"/>
                        <a:ext cx="6500812" cy="1714500"/>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461BB11-BB5F-4079-8DBC-3A990E76F6CE}"/>
              </a:ext>
            </a:extLst>
          </p:cNvPr>
          <p:cNvSpPr>
            <a:spLocks noGrp="1"/>
          </p:cNvSpPr>
          <p:nvPr>
            <p:ph type="title"/>
          </p:nvPr>
        </p:nvSpPr>
        <p:spPr/>
        <p:txBody>
          <a:bodyPr/>
          <a:lstStyle/>
          <a:p>
            <a:r>
              <a:rPr lang="en-US" altLang="en-US"/>
              <a:t>Direct Mapping</a:t>
            </a:r>
          </a:p>
        </p:txBody>
      </p:sp>
      <p:sp>
        <p:nvSpPr>
          <p:cNvPr id="16387" name="Rectangle 3">
            <a:extLst>
              <a:ext uri="{FF2B5EF4-FFF2-40B4-BE49-F238E27FC236}">
                <a16:creationId xmlns:a16="http://schemas.microsoft.com/office/drawing/2014/main" id="{B65BED32-85B8-4554-9F44-3F549C55EA02}"/>
              </a:ext>
            </a:extLst>
          </p:cNvPr>
          <p:cNvSpPr>
            <a:spLocks noChangeArrowheads="1"/>
          </p:cNvSpPr>
          <p:nvPr/>
        </p:nvSpPr>
        <p:spPr bwMode="auto">
          <a:xfrm>
            <a:off x="500063" y="928688"/>
            <a:ext cx="592931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lvl="1">
              <a:spcBef>
                <a:spcPct val="0"/>
              </a:spcBef>
              <a:buClrTx/>
              <a:buSzTx/>
              <a:buFontTx/>
              <a:buNone/>
            </a:pPr>
            <a:r>
              <a:rPr lang="en-US" altLang="ko-KR" sz="1800" b="1" dirty="0">
                <a:solidFill>
                  <a:schemeClr val="tx1"/>
                </a:solidFill>
                <a:latin typeface="Times New Roman" panose="02020603050405020304" pitchFamily="18" charset="0"/>
              </a:rPr>
              <a:t>Direct mapping :</a:t>
            </a:r>
          </a:p>
          <a:p>
            <a:pPr lvl="2">
              <a:spcBef>
                <a:spcPct val="0"/>
              </a:spcBef>
              <a:buClrTx/>
              <a:buSzTx/>
              <a:buFontTx/>
              <a:buNone/>
            </a:pPr>
            <a:r>
              <a:rPr lang="en-US" altLang="ko-KR" sz="1800" dirty="0">
                <a:latin typeface="Times New Roman" panose="02020603050405020304" pitchFamily="18" charset="0"/>
              </a:rPr>
              <a:t>n bit memory address</a:t>
            </a:r>
          </a:p>
          <a:p>
            <a:pPr lvl="2">
              <a:spcBef>
                <a:spcPct val="0"/>
              </a:spcBef>
              <a:buClrTx/>
              <a:buSzTx/>
              <a:buFontTx/>
              <a:buNone/>
            </a:pPr>
            <a:r>
              <a:rPr lang="en-US" altLang="ko-KR" sz="1800" dirty="0">
                <a:latin typeface="Times New Roman" panose="02020603050405020304" pitchFamily="18" charset="0"/>
              </a:rPr>
              <a:t>Tag field (</a:t>
            </a:r>
            <a:r>
              <a:rPr lang="en-US" altLang="ko-KR" sz="1800" b="1" dirty="0">
                <a:latin typeface="Times New Roman" panose="02020603050405020304" pitchFamily="18" charset="0"/>
              </a:rPr>
              <a:t>n - k</a:t>
            </a:r>
            <a:r>
              <a:rPr lang="en-US" altLang="ko-KR" sz="1800" dirty="0">
                <a:latin typeface="Times New Roman" panose="02020603050405020304" pitchFamily="18" charset="0"/>
              </a:rPr>
              <a:t>) : Index field (</a:t>
            </a:r>
            <a:r>
              <a:rPr lang="en-US" altLang="ko-KR" sz="1800" b="1" dirty="0">
                <a:latin typeface="Times New Roman" panose="02020603050405020304" pitchFamily="18" charset="0"/>
              </a:rPr>
              <a:t>k</a:t>
            </a:r>
            <a:r>
              <a:rPr lang="en-US" altLang="ko-KR" sz="1800" dirty="0">
                <a:latin typeface="Times New Roman" panose="02020603050405020304" pitchFamily="18" charset="0"/>
              </a:rPr>
              <a:t>)</a:t>
            </a:r>
          </a:p>
          <a:p>
            <a:pPr lvl="2">
              <a:spcBef>
                <a:spcPct val="0"/>
              </a:spcBef>
              <a:buClrTx/>
              <a:buSzTx/>
              <a:buFontTx/>
              <a:buNone/>
            </a:pPr>
            <a:r>
              <a:rPr lang="ko-KR" altLang="en-US" sz="1800" dirty="0">
                <a:solidFill>
                  <a:srgbClr val="FF6600"/>
                </a:solidFill>
                <a:latin typeface="Times New Roman" panose="02020603050405020304" pitchFamily="18" charset="0"/>
              </a:rPr>
              <a:t>2</a:t>
            </a:r>
            <a:r>
              <a:rPr lang="en-US" altLang="ko-KR" sz="1800" baseline="30000" dirty="0">
                <a:solidFill>
                  <a:srgbClr val="FF6600"/>
                </a:solidFill>
                <a:latin typeface="Times New Roman" panose="02020603050405020304" pitchFamily="18" charset="0"/>
              </a:rPr>
              <a:t>k</a:t>
            </a:r>
            <a:r>
              <a:rPr lang="en-US" altLang="ko-KR" sz="1800" dirty="0">
                <a:solidFill>
                  <a:srgbClr val="FF6600"/>
                </a:solidFill>
                <a:latin typeface="Times New Roman" panose="02020603050405020304" pitchFamily="18" charset="0"/>
              </a:rPr>
              <a:t> </a:t>
            </a:r>
            <a:r>
              <a:rPr lang="en-US" altLang="ko-KR" sz="1800" dirty="0">
                <a:latin typeface="Times New Roman" panose="02020603050405020304" pitchFamily="18" charset="0"/>
              </a:rPr>
              <a:t> words cache memory </a:t>
            </a:r>
            <a:r>
              <a:rPr lang="en-US" altLang="ko-KR" sz="1800" b="1" dirty="0">
                <a:latin typeface="Times New Roman" panose="02020603050405020304" pitchFamily="18" charset="0"/>
              </a:rPr>
              <a:t>+</a:t>
            </a:r>
            <a:r>
              <a:rPr lang="en-US" altLang="ko-KR" sz="1800" dirty="0">
                <a:latin typeface="Times New Roman" panose="02020603050405020304" pitchFamily="18" charset="0"/>
              </a:rPr>
              <a:t> </a:t>
            </a:r>
            <a:r>
              <a:rPr lang="en-US" altLang="ko-KR" sz="1800" dirty="0">
                <a:solidFill>
                  <a:srgbClr val="FF6600"/>
                </a:solidFill>
                <a:latin typeface="Times New Roman" panose="02020603050405020304" pitchFamily="18" charset="0"/>
              </a:rPr>
              <a:t>2</a:t>
            </a:r>
            <a:r>
              <a:rPr lang="en-US" altLang="ko-KR" sz="1800" baseline="30000" dirty="0">
                <a:solidFill>
                  <a:srgbClr val="FF6600"/>
                </a:solidFill>
                <a:latin typeface="Times New Roman" panose="02020603050405020304" pitchFamily="18" charset="0"/>
              </a:rPr>
              <a:t>n</a:t>
            </a:r>
            <a:r>
              <a:rPr lang="en-US" altLang="ko-KR" sz="1800" dirty="0">
                <a:latin typeface="Times New Roman" panose="02020603050405020304" pitchFamily="18" charset="0"/>
              </a:rPr>
              <a:t>  words main memory</a:t>
            </a:r>
          </a:p>
          <a:p>
            <a:pPr lvl="4">
              <a:spcBef>
                <a:spcPct val="0"/>
              </a:spcBef>
              <a:buClrTx/>
              <a:buSzTx/>
              <a:buFontTx/>
              <a:buNone/>
            </a:pPr>
            <a:r>
              <a:rPr lang="en-US" altLang="ko-KR" sz="1800" b="1" dirty="0">
                <a:latin typeface="Times New Roman" panose="02020603050405020304" pitchFamily="18" charset="0"/>
              </a:rPr>
              <a:t>Tag</a:t>
            </a:r>
            <a:r>
              <a:rPr lang="en-US" altLang="ko-KR" sz="1800" dirty="0">
                <a:latin typeface="Times New Roman" panose="02020603050405020304" pitchFamily="18" charset="0"/>
              </a:rPr>
              <a:t> = 6 bit (</a:t>
            </a:r>
            <a:r>
              <a:rPr lang="en-US" altLang="ko-KR" sz="1800" dirty="0">
                <a:solidFill>
                  <a:srgbClr val="CC9900"/>
                </a:solidFill>
                <a:latin typeface="Times New Roman" panose="02020603050405020304" pitchFamily="18" charset="0"/>
              </a:rPr>
              <a:t>15 - 9</a:t>
            </a:r>
            <a:r>
              <a:rPr lang="en-US" altLang="ko-KR" sz="1800" dirty="0">
                <a:latin typeface="Times New Roman" panose="02020603050405020304" pitchFamily="18" charset="0"/>
              </a:rPr>
              <a:t>),  </a:t>
            </a:r>
            <a:r>
              <a:rPr lang="en-US" altLang="ko-KR" sz="1800" b="1" dirty="0">
                <a:latin typeface="Times New Roman" panose="02020603050405020304" pitchFamily="18" charset="0"/>
              </a:rPr>
              <a:t>Index</a:t>
            </a:r>
            <a:r>
              <a:rPr lang="en-US" altLang="ko-KR" sz="1800" dirty="0">
                <a:latin typeface="Times New Roman" panose="02020603050405020304" pitchFamily="18" charset="0"/>
              </a:rPr>
              <a:t> = 9 bit</a:t>
            </a:r>
          </a:p>
          <a:p>
            <a:pPr lvl="1">
              <a:spcBef>
                <a:spcPct val="0"/>
              </a:spcBef>
              <a:buClrTx/>
              <a:buSzTx/>
              <a:buFontTx/>
              <a:buNone/>
            </a:pPr>
            <a:r>
              <a:rPr lang="en-US" altLang="ko-KR" sz="1800" dirty="0">
                <a:solidFill>
                  <a:schemeClr val="tx1"/>
                </a:solidFill>
                <a:latin typeface="Times New Roman" panose="02020603050405020304" pitchFamily="18" charset="0"/>
              </a:rPr>
              <a:t> </a:t>
            </a:r>
          </a:p>
        </p:txBody>
      </p:sp>
      <p:graphicFrame>
        <p:nvGraphicFramePr>
          <p:cNvPr id="16388" name="Object 4">
            <a:extLst>
              <a:ext uri="{FF2B5EF4-FFF2-40B4-BE49-F238E27FC236}">
                <a16:creationId xmlns:a16="http://schemas.microsoft.com/office/drawing/2014/main" id="{486C9088-7CF9-45EC-880C-93DAB83EC2CE}"/>
              </a:ext>
            </a:extLst>
          </p:cNvPr>
          <p:cNvGraphicFramePr>
            <a:graphicFrameLocks noChangeAspect="1"/>
          </p:cNvGraphicFramePr>
          <p:nvPr/>
        </p:nvGraphicFramePr>
        <p:xfrm>
          <a:off x="1785938" y="2643188"/>
          <a:ext cx="5572125" cy="3429000"/>
        </p:xfrm>
        <a:graphic>
          <a:graphicData uri="http://schemas.openxmlformats.org/presentationml/2006/ole">
            <mc:AlternateContent xmlns:mc="http://schemas.openxmlformats.org/markup-compatibility/2006">
              <mc:Choice xmlns:v="urn:schemas-microsoft-com:vml" Requires="v">
                <p:oleObj name="VISIO" r:id="rId2" imgW="6954120" imgH="3365640" progId="Visio.Drawing.5">
                  <p:embed/>
                </p:oleObj>
              </mc:Choice>
              <mc:Fallback>
                <p:oleObj name="VISIO" r:id="rId2" imgW="6954120" imgH="3365640" progId="Visio.Drawing.5">
                  <p:embed/>
                  <p:pic>
                    <p:nvPicPr>
                      <p:cNvPr id="16388" name="Object 4">
                        <a:extLst>
                          <a:ext uri="{FF2B5EF4-FFF2-40B4-BE49-F238E27FC236}">
                            <a16:creationId xmlns:a16="http://schemas.microsoft.com/office/drawing/2014/main" id="{486C9088-7CF9-45EC-880C-93DAB83EC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2643188"/>
                        <a:ext cx="5572125" cy="34290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976801A-2DCF-4883-8A6E-A7A46A3B3723}"/>
              </a:ext>
            </a:extLst>
          </p:cNvPr>
          <p:cNvSpPr>
            <a:spLocks noGrp="1"/>
          </p:cNvSpPr>
          <p:nvPr>
            <p:ph type="title"/>
          </p:nvPr>
        </p:nvSpPr>
        <p:spPr>
          <a:xfrm>
            <a:off x="438150" y="-10886"/>
            <a:ext cx="8229600" cy="1143000"/>
          </a:xfrm>
        </p:spPr>
        <p:txBody>
          <a:bodyPr/>
          <a:lstStyle/>
          <a:p>
            <a:r>
              <a:rPr lang="en-US" altLang="en-US" dirty="0"/>
              <a:t>Direct Mapping</a:t>
            </a:r>
          </a:p>
        </p:txBody>
      </p:sp>
      <p:graphicFrame>
        <p:nvGraphicFramePr>
          <p:cNvPr id="17411" name="Object 5">
            <a:extLst>
              <a:ext uri="{FF2B5EF4-FFF2-40B4-BE49-F238E27FC236}">
                <a16:creationId xmlns:a16="http://schemas.microsoft.com/office/drawing/2014/main" id="{ADCB9A8B-9571-49C7-B9C8-E066BDFA5355}"/>
              </a:ext>
            </a:extLst>
          </p:cNvPr>
          <p:cNvGraphicFramePr>
            <a:graphicFrameLocks noChangeAspect="1"/>
          </p:cNvGraphicFramePr>
          <p:nvPr/>
        </p:nvGraphicFramePr>
        <p:xfrm>
          <a:off x="357188" y="1143000"/>
          <a:ext cx="4214812" cy="5000625"/>
        </p:xfrm>
        <a:graphic>
          <a:graphicData uri="http://schemas.openxmlformats.org/presentationml/2006/ole">
            <mc:AlternateContent xmlns:mc="http://schemas.openxmlformats.org/markup-compatibility/2006">
              <mc:Choice xmlns:v="urn:schemas-microsoft-com:vml" Requires="v">
                <p:oleObj name="VISIO" r:id="rId2" imgW="5651640" imgH="4894560" progId="Visio.Drawing.5">
                  <p:embed/>
                </p:oleObj>
              </mc:Choice>
              <mc:Fallback>
                <p:oleObj name="VISIO" r:id="rId2" imgW="5651640" imgH="4894560" progId="Visio.Drawing.5">
                  <p:embed/>
                  <p:pic>
                    <p:nvPicPr>
                      <p:cNvPr id="17411" name="Object 5">
                        <a:extLst>
                          <a:ext uri="{FF2B5EF4-FFF2-40B4-BE49-F238E27FC236}">
                            <a16:creationId xmlns:a16="http://schemas.microsoft.com/office/drawing/2014/main" id="{ADCB9A8B-9571-49C7-B9C8-E066BDFA5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143000"/>
                        <a:ext cx="4214812" cy="500062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3">
            <a:extLst>
              <a:ext uri="{FF2B5EF4-FFF2-40B4-BE49-F238E27FC236}">
                <a16:creationId xmlns:a16="http://schemas.microsoft.com/office/drawing/2014/main" id="{6CFB1E15-A0A7-4BC7-BB48-CE2EFB944C14}"/>
              </a:ext>
            </a:extLst>
          </p:cNvPr>
          <p:cNvSpPr txBox="1">
            <a:spLocks noChangeArrowheads="1"/>
          </p:cNvSpPr>
          <p:nvPr/>
        </p:nvSpPr>
        <p:spPr bwMode="auto">
          <a:xfrm>
            <a:off x="4000500" y="928688"/>
            <a:ext cx="4910138" cy="5486400"/>
          </a:xfrm>
          <a:prstGeom prst="rect">
            <a:avLst/>
          </a:prstGeom>
          <a:noFill/>
          <a:ln w="12700">
            <a:noFill/>
            <a:miter lim="800000"/>
            <a:headEnd/>
            <a:tailEnd/>
          </a:ln>
        </p:spPr>
        <p:txBody>
          <a:bodyPr lIns="90488" tIns="44450" rIns="90488" bIns="44450"/>
          <a:lstStyle/>
          <a:p>
            <a:pPr marL="1143000" lvl="2" indent="-228600">
              <a:spcBef>
                <a:spcPct val="20000"/>
              </a:spcBef>
              <a:buClr>
                <a:schemeClr val="accent1"/>
              </a:buClr>
              <a:buSzPct val="75000"/>
              <a:buFont typeface="Monotype Sorts" pitchFamily="2" charset="2"/>
              <a:buChar char="l"/>
              <a:defRPr/>
            </a:pPr>
            <a:r>
              <a:rPr lang="en-US" altLang="ko-KR" sz="1600" kern="0" dirty="0">
                <a:latin typeface="+mn-lt"/>
              </a:rPr>
              <a:t>Direct mapping cache with block size of 8 words :</a:t>
            </a:r>
          </a:p>
          <a:p>
            <a:pPr marL="1600200" lvl="3" indent="-228600">
              <a:spcBef>
                <a:spcPct val="20000"/>
              </a:spcBef>
              <a:buClr>
                <a:schemeClr val="accent2"/>
              </a:buClr>
              <a:buFontTx/>
              <a:buChar char="»"/>
              <a:defRPr/>
            </a:pPr>
            <a:r>
              <a:rPr lang="en-US" altLang="ko-KR" kern="0" dirty="0">
                <a:solidFill>
                  <a:schemeClr val="accent2"/>
                </a:solidFill>
                <a:latin typeface="+mn-lt"/>
              </a:rPr>
              <a:t>64 block  x 8 word  = 512 cache words size</a:t>
            </a: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742950" lvl="1" indent="-285750">
              <a:spcBef>
                <a:spcPct val="20000"/>
              </a:spcBef>
              <a:buClr>
                <a:schemeClr val="hlink"/>
              </a:buClr>
              <a:buSzPct val="90000"/>
              <a:defRPr/>
            </a:pPr>
            <a:endParaRPr lang="ko-KR" altLang="ko-KR" sz="1800" kern="0" dirty="0">
              <a:solidFill>
                <a:schemeClr val="accent2"/>
              </a:solidFill>
              <a:latin typeface="+mn-lt"/>
            </a:endParaRPr>
          </a:p>
        </p:txBody>
      </p:sp>
      <p:graphicFrame>
        <p:nvGraphicFramePr>
          <p:cNvPr id="17413" name="Object 4">
            <a:extLst>
              <a:ext uri="{FF2B5EF4-FFF2-40B4-BE49-F238E27FC236}">
                <a16:creationId xmlns:a16="http://schemas.microsoft.com/office/drawing/2014/main" id="{5FA08F28-47D0-42A2-8E22-DD52C359A530}"/>
              </a:ext>
            </a:extLst>
          </p:cNvPr>
          <p:cNvGraphicFramePr>
            <a:graphicFrameLocks noChangeAspect="1"/>
          </p:cNvGraphicFramePr>
          <p:nvPr/>
        </p:nvGraphicFramePr>
        <p:xfrm>
          <a:off x="4857750" y="2071688"/>
          <a:ext cx="3810000" cy="4000500"/>
        </p:xfrm>
        <a:graphic>
          <a:graphicData uri="http://schemas.openxmlformats.org/presentationml/2006/ole">
            <mc:AlternateContent xmlns:mc="http://schemas.openxmlformats.org/markup-compatibility/2006">
              <mc:Choice xmlns:v="urn:schemas-microsoft-com:vml" Requires="v">
                <p:oleObj name="VISIO" r:id="rId4" imgW="6244560" imgH="4165920" progId="Visio.Drawing.5">
                  <p:embed/>
                </p:oleObj>
              </mc:Choice>
              <mc:Fallback>
                <p:oleObj name="VISIO" r:id="rId4" imgW="6244560" imgH="4165920" progId="Visio.Drawing.5">
                  <p:embed/>
                  <p:pic>
                    <p:nvPicPr>
                      <p:cNvPr id="17413" name="Object 4">
                        <a:extLst>
                          <a:ext uri="{FF2B5EF4-FFF2-40B4-BE49-F238E27FC236}">
                            <a16:creationId xmlns:a16="http://schemas.microsoft.com/office/drawing/2014/main" id="{5FA08F28-47D0-42A2-8E22-DD52C359A5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7750" y="2071688"/>
                        <a:ext cx="3810000" cy="40005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09DA89DB-AF93-48BE-AE48-1D9C8E03A210}"/>
              </a:ext>
            </a:extLst>
          </p:cNvPr>
          <p:cNvSpPr>
            <a:spLocks noGrp="1"/>
          </p:cNvSpPr>
          <p:nvPr>
            <p:ph type="title"/>
          </p:nvPr>
        </p:nvSpPr>
        <p:spPr/>
        <p:txBody>
          <a:bodyPr/>
          <a:lstStyle/>
          <a:p>
            <a:r>
              <a:rPr lang="en-US" altLang="en-US"/>
              <a:t>Set-Associative Mapping </a:t>
            </a:r>
          </a:p>
        </p:txBody>
      </p:sp>
      <p:sp>
        <p:nvSpPr>
          <p:cNvPr id="18435" name="Rectangle 4">
            <a:extLst>
              <a:ext uri="{FF2B5EF4-FFF2-40B4-BE49-F238E27FC236}">
                <a16:creationId xmlns:a16="http://schemas.microsoft.com/office/drawing/2014/main" id="{62A9F43C-5A38-4AA5-A391-E9E1E1CFA93B}"/>
              </a:ext>
            </a:extLst>
          </p:cNvPr>
          <p:cNvSpPr>
            <a:spLocks noChangeArrowheads="1"/>
          </p:cNvSpPr>
          <p:nvPr/>
        </p:nvSpPr>
        <p:spPr bwMode="auto">
          <a:xfrm>
            <a:off x="762000" y="1600200"/>
            <a:ext cx="4572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lvl="1" algn="ctr">
              <a:lnSpc>
                <a:spcPct val="70000"/>
              </a:lnSpc>
              <a:spcBef>
                <a:spcPct val="0"/>
              </a:spcBef>
              <a:buClrTx/>
              <a:buSzTx/>
              <a:buFontTx/>
              <a:buNone/>
            </a:pPr>
            <a:r>
              <a:rPr lang="en-US" altLang="ko-KR" sz="1800" dirty="0">
                <a:solidFill>
                  <a:schemeClr val="tx1"/>
                </a:solidFill>
                <a:latin typeface="Times New Roman" panose="02020603050405020304" pitchFamily="18" charset="0"/>
              </a:rPr>
              <a:t>Set-associative mapping : (</a:t>
            </a:r>
            <a:r>
              <a:rPr lang="en-US" altLang="ko-KR" sz="1800" dirty="0">
                <a:solidFill>
                  <a:srgbClr val="FF5050"/>
                </a:solidFill>
                <a:latin typeface="Times New Roman" panose="02020603050405020304" pitchFamily="18" charset="0"/>
              </a:rPr>
              <a:t>two-way</a:t>
            </a:r>
            <a:r>
              <a:rPr lang="en-US" altLang="ko-KR" sz="1800" dirty="0">
                <a:solidFill>
                  <a:schemeClr val="tx1"/>
                </a:solidFill>
                <a:latin typeface="Times New Roman" panose="02020603050405020304" pitchFamily="18" charset="0"/>
              </a:rPr>
              <a:t>)</a:t>
            </a:r>
          </a:p>
        </p:txBody>
      </p:sp>
      <p:graphicFrame>
        <p:nvGraphicFramePr>
          <p:cNvPr id="18436" name="Object 5">
            <a:extLst>
              <a:ext uri="{FF2B5EF4-FFF2-40B4-BE49-F238E27FC236}">
                <a16:creationId xmlns:a16="http://schemas.microsoft.com/office/drawing/2014/main" id="{04A84B78-96A4-433F-AC2B-0F0323268AE9}"/>
              </a:ext>
            </a:extLst>
          </p:cNvPr>
          <p:cNvGraphicFramePr>
            <a:graphicFrameLocks noChangeAspect="1"/>
          </p:cNvGraphicFramePr>
          <p:nvPr>
            <p:extLst>
              <p:ext uri="{D42A27DB-BD31-4B8C-83A1-F6EECF244321}">
                <p14:modId xmlns:p14="http://schemas.microsoft.com/office/powerpoint/2010/main" val="3013611919"/>
              </p:ext>
            </p:extLst>
          </p:nvPr>
        </p:nvGraphicFramePr>
        <p:xfrm>
          <a:off x="1752600" y="2068512"/>
          <a:ext cx="6019800" cy="4392827"/>
        </p:xfrm>
        <a:graphic>
          <a:graphicData uri="http://schemas.openxmlformats.org/presentationml/2006/ole">
            <mc:AlternateContent xmlns:mc="http://schemas.openxmlformats.org/markup-compatibility/2006">
              <mc:Choice xmlns:v="urn:schemas-microsoft-com:vml" Requires="v">
                <p:oleObj name="VISIO" r:id="rId2" imgW="4565880" imgH="3582000" progId="Visio.Drawing.5">
                  <p:embed/>
                </p:oleObj>
              </mc:Choice>
              <mc:Fallback>
                <p:oleObj name="VISIO" r:id="rId2" imgW="4565880" imgH="3582000" progId="Visio.Drawing.5">
                  <p:embed/>
                  <p:pic>
                    <p:nvPicPr>
                      <p:cNvPr id="18436" name="Object 5">
                        <a:extLst>
                          <a:ext uri="{FF2B5EF4-FFF2-40B4-BE49-F238E27FC236}">
                            <a16:creationId xmlns:a16="http://schemas.microsoft.com/office/drawing/2014/main" id="{04A84B78-96A4-433F-AC2B-0F0323268A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068512"/>
                        <a:ext cx="6019800" cy="4392827"/>
                      </a:xfrm>
                      <a:prstGeom prst="rect">
                        <a:avLst/>
                      </a:prstGeom>
                      <a:solidFill>
                        <a:srgbClr val="CCFFCC"/>
                      </a:solidFill>
                      <a:ln>
                        <a:noFill/>
                      </a:ln>
                      <a:effec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C9B589D-42E8-476E-BFFA-321EA37608DE}"/>
              </a:ext>
            </a:extLst>
          </p:cNvPr>
          <p:cNvSpPr>
            <a:spLocks noGrp="1"/>
          </p:cNvSpPr>
          <p:nvPr>
            <p:ph type="title"/>
          </p:nvPr>
        </p:nvSpPr>
        <p:spPr>
          <a:xfrm>
            <a:off x="457200" y="152400"/>
            <a:ext cx="8229600" cy="1143000"/>
          </a:xfrm>
        </p:spPr>
        <p:txBody>
          <a:bodyPr/>
          <a:lstStyle/>
          <a:p>
            <a:r>
              <a:rPr lang="en-IN" altLang="en-US" dirty="0"/>
              <a:t>Questions</a:t>
            </a:r>
          </a:p>
        </p:txBody>
      </p:sp>
      <p:sp>
        <p:nvSpPr>
          <p:cNvPr id="19459" name="Content Placeholder 2">
            <a:extLst>
              <a:ext uri="{FF2B5EF4-FFF2-40B4-BE49-F238E27FC236}">
                <a16:creationId xmlns:a16="http://schemas.microsoft.com/office/drawing/2014/main" id="{610CD9F0-C6DB-4D66-A11E-32E8D8AB7862}"/>
              </a:ext>
            </a:extLst>
          </p:cNvPr>
          <p:cNvSpPr>
            <a:spLocks noGrp="1"/>
          </p:cNvSpPr>
          <p:nvPr>
            <p:ph idx="1"/>
          </p:nvPr>
        </p:nvSpPr>
        <p:spPr>
          <a:xfrm>
            <a:off x="381000" y="1219200"/>
            <a:ext cx="8229600" cy="4525963"/>
          </a:xfrm>
        </p:spPr>
        <p:txBody>
          <a:bodyPr/>
          <a:lstStyle/>
          <a:p>
            <a:pPr algn="just"/>
            <a:r>
              <a:rPr lang="en-IN" altLang="en-US" sz="1800" dirty="0"/>
              <a:t>A two-way set associative cache memory uses blocks of four words. The cache can accommodate a total of 2048 words from main memory. The main memory size is 128Kx32. Formulate all pertinent information required to construct the cache memory. What is the size of cache memory.</a:t>
            </a:r>
          </a:p>
          <a:p>
            <a:pPr algn="just"/>
            <a:endParaRPr lang="en-IN" altLang="en-US" sz="1800" dirty="0"/>
          </a:p>
          <a:p>
            <a:pPr algn="just"/>
            <a:r>
              <a:rPr lang="en-IN" altLang="en-US" sz="1800" dirty="0"/>
              <a:t>A computer has a memory unit of 64Kx16 and a cache memory of 1K words. The cache uses direct mapping with a block size of four words. How many bits are there in the tag, index, block, and words fields of the address format. How many bits are there in each word of cache, and how are they divided into functions? Include a valid bit. How many blocks can the cache accommodate?</a:t>
            </a:r>
          </a:p>
          <a:p>
            <a:pPr algn="just"/>
            <a:endParaRPr lang="en-IN" altLang="en-US" sz="1800" dirty="0"/>
          </a:p>
          <a:p>
            <a:pPr algn="just"/>
            <a:r>
              <a:rPr lang="en-IN" altLang="en-US" sz="1800" dirty="0"/>
              <a:t>The access time of a cache memory is 100ns and that of main memory is 1000ns. It is estimated that 80 percent of the memory requests are for read and the remaining 20 percent for write. The hit ratio for read access only is 0.9. A write-through procedure is used. What is the average access time of the system considering only memory read cycles. What is the average access time of the system for both read and write requests.  What is the hit ratio considering the write requests also.</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379A34D1-B78D-49EA-9344-7945196BBBE1}"/>
              </a:ext>
            </a:extLst>
          </p:cNvPr>
          <p:cNvSpPr>
            <a:spLocks noGrp="1"/>
          </p:cNvSpPr>
          <p:nvPr>
            <p:ph type="title"/>
          </p:nvPr>
        </p:nvSpPr>
        <p:spPr>
          <a:xfrm>
            <a:off x="457200" y="152400"/>
            <a:ext cx="8229600" cy="1143000"/>
          </a:xfrm>
        </p:spPr>
        <p:txBody>
          <a:bodyPr/>
          <a:lstStyle/>
          <a:p>
            <a:r>
              <a:rPr lang="en-IN" altLang="en-US" dirty="0"/>
              <a:t>Answer</a:t>
            </a:r>
          </a:p>
        </p:txBody>
      </p:sp>
      <p:pic>
        <p:nvPicPr>
          <p:cNvPr id="20483" name="Content Placeholder 3">
            <a:extLst>
              <a:ext uri="{FF2B5EF4-FFF2-40B4-BE49-F238E27FC236}">
                <a16:creationId xmlns:a16="http://schemas.microsoft.com/office/drawing/2014/main" id="{4A77E2AE-44A4-4DA7-9FEE-7554FCF3657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143000"/>
            <a:ext cx="7696200" cy="5486400"/>
          </a:xfr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FEB4BC5B-CC14-422F-828F-422388C50618}"/>
              </a:ext>
            </a:extLst>
          </p:cNvPr>
          <p:cNvSpPr>
            <a:spLocks noGrp="1"/>
          </p:cNvSpPr>
          <p:nvPr>
            <p:ph type="title"/>
          </p:nvPr>
        </p:nvSpPr>
        <p:spPr/>
        <p:txBody>
          <a:bodyPr/>
          <a:lstStyle/>
          <a:p>
            <a:r>
              <a:rPr lang="en-IN" altLang="en-US"/>
              <a:t>Answer</a:t>
            </a:r>
          </a:p>
        </p:txBody>
      </p:sp>
      <p:pic>
        <p:nvPicPr>
          <p:cNvPr id="21507" name="Content Placeholder 3">
            <a:extLst>
              <a:ext uri="{FF2B5EF4-FFF2-40B4-BE49-F238E27FC236}">
                <a16:creationId xmlns:a16="http://schemas.microsoft.com/office/drawing/2014/main" id="{C6A0FA28-6129-4923-B22B-A3F5AE26755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2514600"/>
            <a:ext cx="7305675" cy="3200400"/>
          </a:xfr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B1A2E903-B2D2-4454-819D-EDC632D9DB57}"/>
              </a:ext>
            </a:extLst>
          </p:cNvPr>
          <p:cNvSpPr>
            <a:spLocks noGrp="1" noChangeArrowheads="1"/>
          </p:cNvSpPr>
          <p:nvPr>
            <p:ph type="body" idx="1"/>
          </p:nvPr>
        </p:nvSpPr>
        <p:spPr>
          <a:xfrm>
            <a:off x="457200" y="685800"/>
            <a:ext cx="8229600" cy="4876800"/>
          </a:xfrm>
        </p:spPr>
        <p:txBody>
          <a:bodyPr/>
          <a:lstStyle/>
          <a:p>
            <a:pPr lvl="1"/>
            <a:r>
              <a:rPr lang="en-US" altLang="ko-KR" sz="1800" dirty="0"/>
              <a:t>Replacement Algorithm : </a:t>
            </a:r>
            <a:r>
              <a:rPr lang="en-US" altLang="ko-KR" sz="1800" dirty="0">
                <a:solidFill>
                  <a:srgbClr val="CC9900"/>
                </a:solidFill>
              </a:rPr>
              <a:t>cache miss or full</a:t>
            </a:r>
            <a:endParaRPr lang="ko-KR" altLang="en-US" sz="1800" dirty="0"/>
          </a:p>
          <a:p>
            <a:pPr lvl="2"/>
            <a:r>
              <a:rPr lang="ko-KR" altLang="en-US" sz="1800" dirty="0"/>
              <a:t>1) </a:t>
            </a:r>
            <a:r>
              <a:rPr lang="en-US" altLang="ko-KR" sz="1800" b="1" dirty="0"/>
              <a:t>LRU</a:t>
            </a:r>
            <a:r>
              <a:rPr lang="en-US" altLang="ko-KR" sz="1800" dirty="0"/>
              <a:t> (Least Recently Used):</a:t>
            </a:r>
            <a:endParaRPr lang="ko-KR" altLang="en-US" sz="1800" dirty="0"/>
          </a:p>
          <a:p>
            <a:pPr lvl="2"/>
            <a:r>
              <a:rPr lang="ko-KR" altLang="en-US" sz="1800" dirty="0"/>
              <a:t>2) </a:t>
            </a:r>
            <a:r>
              <a:rPr lang="en-US" altLang="ko-KR" sz="1800" b="1" dirty="0"/>
              <a:t>Random Replacement:</a:t>
            </a:r>
            <a:endParaRPr lang="ko-KR" altLang="en-US" sz="1800" dirty="0"/>
          </a:p>
          <a:p>
            <a:pPr lvl="2"/>
            <a:r>
              <a:rPr lang="ko-KR" altLang="en-US" sz="1800" dirty="0"/>
              <a:t>3) </a:t>
            </a:r>
            <a:r>
              <a:rPr lang="en-US" altLang="ko-KR" sz="1800" b="1" dirty="0"/>
              <a:t>FIFO</a:t>
            </a:r>
            <a:r>
              <a:rPr lang="en-US" altLang="ko-KR" sz="1800" dirty="0"/>
              <a:t> (First-In First-Out) :</a:t>
            </a:r>
          </a:p>
          <a:p>
            <a:pPr lvl="2"/>
            <a:endParaRPr lang="ko-KR" altLang="en-US" dirty="0"/>
          </a:p>
          <a:p>
            <a:pPr lvl="1"/>
            <a:r>
              <a:rPr lang="en-US" altLang="ko-KR" sz="1800" dirty="0"/>
              <a:t>Writing to Cache :</a:t>
            </a:r>
            <a:endParaRPr lang="ko-KR" altLang="en-US" sz="1800" dirty="0"/>
          </a:p>
          <a:p>
            <a:pPr lvl="3"/>
            <a:r>
              <a:rPr lang="ko-KR" altLang="en-US" sz="1800" dirty="0"/>
              <a:t>1) </a:t>
            </a:r>
            <a:r>
              <a:rPr lang="en-US" altLang="ko-KR" sz="1800" b="1" dirty="0"/>
              <a:t>Write-through</a:t>
            </a:r>
            <a:r>
              <a:rPr lang="en-US" altLang="ko-KR" sz="1800" dirty="0"/>
              <a:t> :</a:t>
            </a:r>
            <a:endParaRPr lang="ko-KR" altLang="en-US" sz="1800" dirty="0"/>
          </a:p>
          <a:p>
            <a:pPr lvl="3"/>
            <a:r>
              <a:rPr lang="ko-KR" altLang="en-US" sz="1800" dirty="0"/>
              <a:t>2) </a:t>
            </a:r>
            <a:r>
              <a:rPr lang="en-US" altLang="ko-KR" sz="1800" b="1" dirty="0"/>
              <a:t>Write-back</a:t>
            </a:r>
            <a:r>
              <a:rPr lang="en-US" altLang="ko-KR" sz="1800" dirty="0"/>
              <a:t> :</a:t>
            </a:r>
          </a:p>
          <a:p>
            <a:pPr marL="1371600" lvl="3" indent="0">
              <a:buNone/>
            </a:pPr>
            <a:endParaRPr lang="en-US" altLang="ko-KR" sz="1800" dirty="0"/>
          </a:p>
          <a:p>
            <a:pPr algn="just"/>
            <a:r>
              <a:rPr lang="en-US" sz="1800" dirty="0">
                <a:latin typeface="Times New Roman" panose="02020603050405020304" pitchFamily="18" charset="0"/>
                <a:cs typeface="Times New Roman" panose="02020603050405020304" pitchFamily="18" charset="0"/>
              </a:rPr>
              <a:t>In </a:t>
            </a:r>
            <a:r>
              <a:rPr lang="en-US" sz="1800" b="1" dirty="0">
                <a:latin typeface="Times New Roman" panose="02020603050405020304" pitchFamily="18" charset="0"/>
                <a:cs typeface="Times New Roman" panose="02020603050405020304" pitchFamily="18" charset="0"/>
              </a:rPr>
              <a:t>write-through</a:t>
            </a:r>
            <a:r>
              <a:rPr lang="en-US" sz="1800" dirty="0">
                <a:latin typeface="Times New Roman" panose="02020603050405020304" pitchFamily="18" charset="0"/>
                <a:cs typeface="Times New Roman" panose="02020603050405020304" pitchFamily="18" charset="0"/>
              </a:rPr>
              <a:t>, data is </a:t>
            </a:r>
            <a:r>
              <a:rPr lang="en-US" sz="1800" b="1" dirty="0">
                <a:latin typeface="Times New Roman" panose="02020603050405020304" pitchFamily="18" charset="0"/>
                <a:cs typeface="Times New Roman" panose="02020603050405020304" pitchFamily="18" charset="0"/>
              </a:rPr>
              <a:t>simultaneously updated to cache and memory</a:t>
            </a:r>
            <a:r>
              <a:rPr lang="en-US" sz="1800" dirty="0">
                <a:latin typeface="Times New Roman" panose="02020603050405020304" pitchFamily="18" charset="0"/>
                <a:cs typeface="Times New Roman" panose="02020603050405020304" pitchFamily="18" charset="0"/>
              </a:rPr>
              <a:t>. This process is simpler and more reliable. This is used when there are no frequent writes to the cache(The number of write operations is less). </a:t>
            </a:r>
          </a:p>
          <a:p>
            <a:pPr algn="just"/>
            <a:r>
              <a:rPr lang="en-US" sz="1800" dirty="0">
                <a:latin typeface="Times New Roman" panose="02020603050405020304" pitchFamily="18" charset="0"/>
                <a:cs typeface="Times New Roman" panose="02020603050405020304" pitchFamily="18" charset="0"/>
              </a:rPr>
              <a:t>It helps in data recovery (In case of a power outage or system failure). A data write will experience latency (delay) as we have to write to two locations (both Memory and Cache). </a:t>
            </a:r>
          </a:p>
          <a:p>
            <a:pPr algn="just"/>
            <a:r>
              <a:rPr lang="en-US" sz="1800" b="1" dirty="0">
                <a:latin typeface="Times New Roman" panose="02020603050405020304" pitchFamily="18" charset="0"/>
                <a:cs typeface="Times New Roman" panose="02020603050405020304" pitchFamily="18" charset="0"/>
              </a:rPr>
              <a:t>In write back-</a:t>
            </a:r>
          </a:p>
          <a:p>
            <a:pPr algn="just"/>
            <a:r>
              <a:rPr lang="en-US" sz="1800" dirty="0">
                <a:latin typeface="Times New Roman" panose="02020603050405020304" pitchFamily="18" charset="0"/>
                <a:cs typeface="Times New Roman" panose="02020603050405020304" pitchFamily="18" charset="0"/>
              </a:rPr>
              <a:t>The data is updated only in the cache and updated into the memory at a later time. Data is updated in the memory only when the cache line is ready to be replaced.</a:t>
            </a:r>
          </a:p>
          <a:p>
            <a:pPr marL="1371600" lvl="3" indent="0" algn="just">
              <a:buNone/>
            </a:pPr>
            <a:endParaRPr lang="ko-KR"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lstStyle/>
          <a:p>
            <a:pPr lvl="1"/>
            <a:r>
              <a:rPr lang="en-US" altLang="ko-KR" sz="1800" dirty="0"/>
              <a:t>Cache Initialization</a:t>
            </a:r>
          </a:p>
          <a:p>
            <a:pPr lvl="2"/>
            <a:r>
              <a:rPr lang="en-US" altLang="ko-KR" sz="1800" dirty="0"/>
              <a:t>Cache is initialized :</a:t>
            </a:r>
            <a:endParaRPr lang="ko-KR" altLang="en-US" sz="1800" dirty="0"/>
          </a:p>
          <a:p>
            <a:pPr lvl="3"/>
            <a:r>
              <a:rPr lang="ko-KR" altLang="ko-KR" sz="1800" dirty="0"/>
              <a:t>1) </a:t>
            </a:r>
            <a:r>
              <a:rPr lang="en-US" altLang="ko-KR" sz="1800" dirty="0"/>
              <a:t>When power is applied to the computer</a:t>
            </a:r>
          </a:p>
          <a:p>
            <a:pPr lvl="3"/>
            <a:r>
              <a:rPr lang="en-US" altLang="ko-KR" sz="1800" dirty="0"/>
              <a:t>2) When main memory is loaded with a complete set of programs from auxiliary memory</a:t>
            </a:r>
          </a:p>
          <a:p>
            <a:pPr lvl="3"/>
            <a:r>
              <a:rPr lang="en-US" altLang="ko-KR" sz="1800" dirty="0"/>
              <a:t>3) Cache is initialized by clearing all the valid bits to 0.</a:t>
            </a:r>
          </a:p>
          <a:p>
            <a:pPr lvl="2"/>
            <a:r>
              <a:rPr lang="en-US" altLang="ko-KR" sz="1800" dirty="0"/>
              <a:t>Valid bit</a:t>
            </a:r>
          </a:p>
          <a:p>
            <a:pPr lvl="3"/>
            <a:r>
              <a:rPr lang="en-US" altLang="ko-KR" sz="1800" dirty="0"/>
              <a:t>Indicate whether or not the word contains valid data</a:t>
            </a:r>
          </a:p>
          <a:p>
            <a:endParaRPr lang="en-US" dirty="0"/>
          </a:p>
        </p:txBody>
      </p:sp>
    </p:spTree>
    <p:extLst>
      <p:ext uri="{BB962C8B-B14F-4D97-AF65-F5344CB8AC3E}">
        <p14:creationId xmlns:p14="http://schemas.microsoft.com/office/powerpoint/2010/main" val="6765178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5C4FAAD-749C-4A6D-A35F-AB675D58BDAE}"/>
              </a:ext>
            </a:extLst>
          </p:cNvPr>
          <p:cNvSpPr txBox="1">
            <a:spLocks noChangeArrowheads="1"/>
          </p:cNvSpPr>
          <p:nvPr/>
        </p:nvSpPr>
        <p:spPr bwMode="auto">
          <a:xfrm>
            <a:off x="527050" y="273050"/>
            <a:ext cx="8151813" cy="469900"/>
          </a:xfrm>
          <a:prstGeom prst="rect">
            <a:avLst/>
          </a:prstGeom>
          <a:noFill/>
          <a:ln w="12700">
            <a:noFill/>
            <a:miter lim="800000"/>
            <a:headEnd/>
            <a:tailEnd/>
          </a:ln>
        </p:spPr>
        <p:txBody>
          <a:bodyPr lIns="90488" tIns="44450" rIns="90488" bIns="44450" anchor="ctr"/>
          <a:lstStyle/>
          <a:p>
            <a:pPr algn="ctr">
              <a:defRPr/>
            </a:pPr>
            <a:r>
              <a:rPr lang="en-US" altLang="ko-KR" sz="2400" kern="0">
                <a:latin typeface="+mj-lt"/>
                <a:ea typeface="굴림" pitchFamily="34" charset="-127"/>
                <a:cs typeface="+mj-cs"/>
              </a:rPr>
              <a:t>VIRTUAL  MEMORY</a:t>
            </a:r>
          </a:p>
        </p:txBody>
      </p:sp>
      <p:sp>
        <p:nvSpPr>
          <p:cNvPr id="4099" name="Rectangle 3">
            <a:extLst>
              <a:ext uri="{FF2B5EF4-FFF2-40B4-BE49-F238E27FC236}">
                <a16:creationId xmlns:a16="http://schemas.microsoft.com/office/drawing/2014/main" id="{47AC1A1F-DC55-413E-9897-2E82202CB855}"/>
              </a:ext>
            </a:extLst>
          </p:cNvPr>
          <p:cNvSpPr>
            <a:spLocks noChangeArrowheads="1"/>
          </p:cNvSpPr>
          <p:nvPr/>
        </p:nvSpPr>
        <p:spPr bwMode="auto">
          <a:xfrm>
            <a:off x="381000" y="1511300"/>
            <a:ext cx="83185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800">
                <a:latin typeface="Times New Roman" panose="02020603050405020304" pitchFamily="18" charset="0"/>
              </a:rPr>
              <a:t>Give the programmer the illusion that the system has a very large memory, </a:t>
            </a:r>
          </a:p>
          <a:p>
            <a:pPr algn="ctr">
              <a:lnSpc>
                <a:spcPct val="90000"/>
              </a:lnSpc>
              <a:spcBef>
                <a:spcPct val="0"/>
              </a:spcBef>
              <a:buClrTx/>
              <a:buSzTx/>
              <a:buFontTx/>
              <a:buNone/>
            </a:pPr>
            <a:r>
              <a:rPr lang="en-US" altLang="ko-KR" sz="1800">
                <a:latin typeface="Times New Roman" panose="02020603050405020304" pitchFamily="18" charset="0"/>
              </a:rPr>
              <a:t>even though the computer actually has a relatively small main memory</a:t>
            </a:r>
          </a:p>
        </p:txBody>
      </p:sp>
      <p:sp>
        <p:nvSpPr>
          <p:cNvPr id="4100" name="Rectangle 4">
            <a:extLst>
              <a:ext uri="{FF2B5EF4-FFF2-40B4-BE49-F238E27FC236}">
                <a16:creationId xmlns:a16="http://schemas.microsoft.com/office/drawing/2014/main" id="{463BCBB3-CDD9-4F22-A01E-FD9BC1F9A541}"/>
              </a:ext>
            </a:extLst>
          </p:cNvPr>
          <p:cNvSpPr>
            <a:spLocks noChangeArrowheads="1"/>
          </p:cNvSpPr>
          <p:nvPr/>
        </p:nvSpPr>
        <p:spPr bwMode="auto">
          <a:xfrm>
            <a:off x="1250950" y="3003550"/>
            <a:ext cx="60198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a:latin typeface="Times New Roman" panose="02020603050405020304" pitchFamily="18" charset="0"/>
              </a:rPr>
              <a:t>Address Space(Logical)  and Memory Space(Physical)</a:t>
            </a:r>
          </a:p>
        </p:txBody>
      </p:sp>
      <p:grpSp>
        <p:nvGrpSpPr>
          <p:cNvPr id="4101" name="Group 58">
            <a:extLst>
              <a:ext uri="{FF2B5EF4-FFF2-40B4-BE49-F238E27FC236}">
                <a16:creationId xmlns:a16="http://schemas.microsoft.com/office/drawing/2014/main" id="{75E5368B-82DF-4CA4-AC9B-6851B58F450D}"/>
              </a:ext>
            </a:extLst>
          </p:cNvPr>
          <p:cNvGrpSpPr>
            <a:grpSpLocks/>
          </p:cNvGrpSpPr>
          <p:nvPr/>
        </p:nvGrpSpPr>
        <p:grpSpPr bwMode="auto">
          <a:xfrm>
            <a:off x="1403350" y="3860800"/>
            <a:ext cx="5713413" cy="1347788"/>
            <a:chOff x="366" y="1541"/>
            <a:chExt cx="4955" cy="630"/>
          </a:xfrm>
        </p:grpSpPr>
        <p:sp>
          <p:nvSpPr>
            <p:cNvPr id="4104" name="Rectangle 5">
              <a:extLst>
                <a:ext uri="{FF2B5EF4-FFF2-40B4-BE49-F238E27FC236}">
                  <a16:creationId xmlns:a16="http://schemas.microsoft.com/office/drawing/2014/main" id="{4EBBF214-CCCF-4375-8251-3D2179EE94D9}"/>
                </a:ext>
              </a:extLst>
            </p:cNvPr>
            <p:cNvSpPr>
              <a:spLocks noChangeArrowheads="1"/>
            </p:cNvSpPr>
            <p:nvPr/>
          </p:nvSpPr>
          <p:spPr bwMode="auto">
            <a:xfrm>
              <a:off x="1097" y="1750"/>
              <a:ext cx="133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400">
                  <a:latin typeface="Times New Roman" panose="02020603050405020304" pitchFamily="18" charset="0"/>
                </a:rPr>
                <a:t>virtual address</a:t>
              </a:r>
            </a:p>
            <a:p>
              <a:pPr algn="ctr">
                <a:lnSpc>
                  <a:spcPct val="101000"/>
                </a:lnSpc>
                <a:spcBef>
                  <a:spcPct val="0"/>
                </a:spcBef>
                <a:buClrTx/>
                <a:buSzTx/>
                <a:buFontTx/>
                <a:buNone/>
              </a:pPr>
              <a:r>
                <a:rPr lang="en-US" altLang="ko-KR" sz="1400">
                  <a:latin typeface="Times New Roman" panose="02020603050405020304" pitchFamily="18" charset="0"/>
                </a:rPr>
                <a:t>(logical address)</a:t>
              </a:r>
            </a:p>
          </p:txBody>
        </p:sp>
        <p:sp>
          <p:nvSpPr>
            <p:cNvPr id="4105" name="Rectangle 6">
              <a:extLst>
                <a:ext uri="{FF2B5EF4-FFF2-40B4-BE49-F238E27FC236}">
                  <a16:creationId xmlns:a16="http://schemas.microsoft.com/office/drawing/2014/main" id="{8DD39585-6282-4009-B797-7FC632047875}"/>
                </a:ext>
              </a:extLst>
            </p:cNvPr>
            <p:cNvSpPr>
              <a:spLocks noChangeArrowheads="1"/>
            </p:cNvSpPr>
            <p:nvPr/>
          </p:nvSpPr>
          <p:spPr bwMode="auto">
            <a:xfrm>
              <a:off x="3489" y="1812"/>
              <a:ext cx="135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physical address</a:t>
              </a:r>
            </a:p>
          </p:txBody>
        </p:sp>
        <p:sp>
          <p:nvSpPr>
            <p:cNvPr id="4106" name="Oval 7">
              <a:extLst>
                <a:ext uri="{FF2B5EF4-FFF2-40B4-BE49-F238E27FC236}">
                  <a16:creationId xmlns:a16="http://schemas.microsoft.com/office/drawing/2014/main" id="{F9639612-330B-4A7A-8F52-3D9ADDC67FAD}"/>
                </a:ext>
              </a:extLst>
            </p:cNvPr>
            <p:cNvSpPr>
              <a:spLocks noChangeArrowheads="1"/>
            </p:cNvSpPr>
            <p:nvPr/>
          </p:nvSpPr>
          <p:spPr bwMode="auto">
            <a:xfrm>
              <a:off x="997" y="1662"/>
              <a:ext cx="1551" cy="38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7" name="Oval 8">
              <a:extLst>
                <a:ext uri="{FF2B5EF4-FFF2-40B4-BE49-F238E27FC236}">
                  <a16:creationId xmlns:a16="http://schemas.microsoft.com/office/drawing/2014/main" id="{289D23FE-4415-4144-BB1E-BA49E65E138C}"/>
                </a:ext>
              </a:extLst>
            </p:cNvPr>
            <p:cNvSpPr>
              <a:spLocks noChangeArrowheads="1"/>
            </p:cNvSpPr>
            <p:nvPr/>
          </p:nvSpPr>
          <p:spPr bwMode="auto">
            <a:xfrm>
              <a:off x="3401" y="1662"/>
              <a:ext cx="1550" cy="38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8" name="Line 9">
              <a:extLst>
                <a:ext uri="{FF2B5EF4-FFF2-40B4-BE49-F238E27FC236}">
                  <a16:creationId xmlns:a16="http://schemas.microsoft.com/office/drawing/2014/main" id="{2F024C81-A08A-4A63-B4AD-6919B529DA54}"/>
                </a:ext>
              </a:extLst>
            </p:cNvPr>
            <p:cNvSpPr>
              <a:spLocks noChangeShapeType="1"/>
            </p:cNvSpPr>
            <p:nvPr/>
          </p:nvSpPr>
          <p:spPr bwMode="auto">
            <a:xfrm>
              <a:off x="2636" y="1855"/>
              <a:ext cx="6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109" name="Rectangle 10">
              <a:extLst>
                <a:ext uri="{FF2B5EF4-FFF2-40B4-BE49-F238E27FC236}">
                  <a16:creationId xmlns:a16="http://schemas.microsoft.com/office/drawing/2014/main" id="{F7491F9F-75E9-4396-8F53-C2F4734BC9A0}"/>
                </a:ext>
              </a:extLst>
            </p:cNvPr>
            <p:cNvSpPr>
              <a:spLocks noChangeArrowheads="1"/>
            </p:cNvSpPr>
            <p:nvPr/>
          </p:nvSpPr>
          <p:spPr bwMode="auto">
            <a:xfrm>
              <a:off x="1152" y="1541"/>
              <a:ext cx="1177"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address space</a:t>
              </a:r>
            </a:p>
          </p:txBody>
        </p:sp>
        <p:sp>
          <p:nvSpPr>
            <p:cNvPr id="4110" name="Rectangle 11">
              <a:extLst>
                <a:ext uri="{FF2B5EF4-FFF2-40B4-BE49-F238E27FC236}">
                  <a16:creationId xmlns:a16="http://schemas.microsoft.com/office/drawing/2014/main" id="{3B3431AD-52D2-4BBB-A952-0FED5FA2E1BE}"/>
                </a:ext>
              </a:extLst>
            </p:cNvPr>
            <p:cNvSpPr>
              <a:spLocks noChangeArrowheads="1"/>
            </p:cNvSpPr>
            <p:nvPr/>
          </p:nvSpPr>
          <p:spPr bwMode="auto">
            <a:xfrm>
              <a:off x="3579" y="1552"/>
              <a:ext cx="1188"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memory space</a:t>
              </a:r>
            </a:p>
          </p:txBody>
        </p:sp>
        <p:sp>
          <p:nvSpPr>
            <p:cNvPr id="4111" name="Rectangle 12">
              <a:extLst>
                <a:ext uri="{FF2B5EF4-FFF2-40B4-BE49-F238E27FC236}">
                  <a16:creationId xmlns:a16="http://schemas.microsoft.com/office/drawing/2014/main" id="{23D2EC9D-85DE-4F9B-AD0A-B1C37AA7ECE1}"/>
                </a:ext>
              </a:extLst>
            </p:cNvPr>
            <p:cNvSpPr>
              <a:spLocks noChangeArrowheads="1"/>
            </p:cNvSpPr>
            <p:nvPr/>
          </p:nvSpPr>
          <p:spPr bwMode="auto">
            <a:xfrm>
              <a:off x="366" y="2051"/>
              <a:ext cx="495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 address generated by programs        actual main memory address</a:t>
              </a:r>
            </a:p>
          </p:txBody>
        </p:sp>
        <p:sp>
          <p:nvSpPr>
            <p:cNvPr id="4112" name="Rectangle 14">
              <a:extLst>
                <a:ext uri="{FF2B5EF4-FFF2-40B4-BE49-F238E27FC236}">
                  <a16:creationId xmlns:a16="http://schemas.microsoft.com/office/drawing/2014/main" id="{97693254-C635-4A50-ABC7-67CE89DF1017}"/>
                </a:ext>
              </a:extLst>
            </p:cNvPr>
            <p:cNvSpPr>
              <a:spLocks noChangeArrowheads="1"/>
            </p:cNvSpPr>
            <p:nvPr/>
          </p:nvSpPr>
          <p:spPr bwMode="auto">
            <a:xfrm>
              <a:off x="2625" y="1724"/>
              <a:ext cx="74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Mapping</a:t>
              </a:r>
            </a:p>
          </p:txBody>
        </p:sp>
      </p:grpSp>
      <p:sp>
        <p:nvSpPr>
          <p:cNvPr id="4102" name="Rectangle 15">
            <a:extLst>
              <a:ext uri="{FF2B5EF4-FFF2-40B4-BE49-F238E27FC236}">
                <a16:creationId xmlns:a16="http://schemas.microsoft.com/office/drawing/2014/main" id="{F020C25A-1F8B-4F49-8905-491C1186BAAD}"/>
              </a:ext>
            </a:extLst>
          </p:cNvPr>
          <p:cNvSpPr>
            <a:spLocks noChangeArrowheads="1"/>
          </p:cNvSpPr>
          <p:nvPr/>
        </p:nvSpPr>
        <p:spPr bwMode="auto">
          <a:xfrm>
            <a:off x="473075" y="1522413"/>
            <a:ext cx="8304213" cy="54292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3" name="Rectangle 57">
            <a:extLst>
              <a:ext uri="{FF2B5EF4-FFF2-40B4-BE49-F238E27FC236}">
                <a16:creationId xmlns:a16="http://schemas.microsoft.com/office/drawing/2014/main" id="{FADE04D1-FB19-4646-BEF2-55B0B033E01F}"/>
              </a:ext>
            </a:extLst>
          </p:cNvPr>
          <p:cNvSpPr>
            <a:spLocks noChangeArrowheads="1"/>
          </p:cNvSpPr>
          <p:nvPr/>
        </p:nvSpPr>
        <p:spPr bwMode="auto">
          <a:xfrm>
            <a:off x="75660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527050" y="273050"/>
            <a:ext cx="8151813" cy="469900"/>
          </a:xfrm>
          <a:prstGeom prst="rect">
            <a:avLst/>
          </a:prstGeom>
          <a:noFill/>
          <a:ln w="12700">
            <a:noFill/>
            <a:miter lim="800000"/>
            <a:headEnd/>
            <a:tailEnd/>
          </a:ln>
        </p:spPr>
        <p:txBody>
          <a:bodyPr lIns="90488" tIns="44450" rIns="90488" bIns="44450" anchor="ctr"/>
          <a:lstStyle/>
          <a:p>
            <a:pPr algn="ctr">
              <a:defRPr/>
            </a:pPr>
            <a:r>
              <a:rPr lang="en-US" altLang="ko-KR" sz="2400" kern="0">
                <a:latin typeface="+mj-lt"/>
                <a:cs typeface="+mj-cs"/>
              </a:rPr>
              <a:t>VIRTUAL  MEMORY</a:t>
            </a:r>
          </a:p>
        </p:txBody>
      </p:sp>
      <p:sp>
        <p:nvSpPr>
          <p:cNvPr id="23555" name="Rectangle 3"/>
          <p:cNvSpPr>
            <a:spLocks noChangeArrowheads="1"/>
          </p:cNvSpPr>
          <p:nvPr/>
        </p:nvSpPr>
        <p:spPr bwMode="auto">
          <a:xfrm>
            <a:off x="439738" y="900113"/>
            <a:ext cx="8318500" cy="546100"/>
          </a:xfrm>
          <a:prstGeom prst="rect">
            <a:avLst/>
          </a:prstGeom>
          <a:noFill/>
          <a:ln w="12700">
            <a:noFill/>
            <a:miter lim="800000"/>
            <a:headEnd/>
            <a:tailEnd/>
          </a:ln>
        </p:spPr>
        <p:txBody>
          <a:bodyPr wrap="none" lIns="63500" tIns="25400" rIns="63500" bIns="25400">
            <a:spAutoFit/>
          </a:bodyPr>
          <a:lstStyle/>
          <a:p>
            <a:pPr algn="ctr" defTabSz="762000">
              <a:lnSpc>
                <a:spcPct val="90000"/>
              </a:lnSpc>
            </a:pPr>
            <a:r>
              <a:rPr lang="en-US" altLang="ko-KR" sz="1800"/>
              <a:t>Give the programmer the illusion that the system has a very large memory, </a:t>
            </a:r>
          </a:p>
          <a:p>
            <a:pPr algn="ctr" defTabSz="762000">
              <a:lnSpc>
                <a:spcPct val="90000"/>
              </a:lnSpc>
            </a:pPr>
            <a:r>
              <a:rPr lang="en-US" altLang="ko-KR" sz="1800"/>
              <a:t>even though the computer actually has a relatively small main memory</a:t>
            </a:r>
          </a:p>
        </p:txBody>
      </p:sp>
      <p:sp>
        <p:nvSpPr>
          <p:cNvPr id="23556" name="Rectangle 4"/>
          <p:cNvSpPr>
            <a:spLocks noChangeArrowheads="1"/>
          </p:cNvSpPr>
          <p:nvPr/>
        </p:nvSpPr>
        <p:spPr bwMode="auto">
          <a:xfrm>
            <a:off x="808038" y="1631950"/>
            <a:ext cx="6019800" cy="330200"/>
          </a:xfrm>
          <a:prstGeom prst="rect">
            <a:avLst/>
          </a:prstGeom>
          <a:noFill/>
          <a:ln w="12700">
            <a:noFill/>
            <a:miter lim="800000"/>
            <a:headEnd/>
            <a:tailEnd/>
          </a:ln>
        </p:spPr>
        <p:txBody>
          <a:bodyPr wrap="none" lIns="63500" tIns="25400" rIns="63500" bIns="25400">
            <a:spAutoFit/>
          </a:bodyPr>
          <a:lstStyle/>
          <a:p>
            <a:pPr algn="ctr" defTabSz="762000">
              <a:lnSpc>
                <a:spcPct val="102000"/>
              </a:lnSpc>
            </a:pPr>
            <a:r>
              <a:rPr lang="en-US" altLang="ko-KR" sz="1800"/>
              <a:t>Address Space(Logical)  and Memory Space(Physical)</a:t>
            </a:r>
          </a:p>
        </p:txBody>
      </p:sp>
      <p:sp>
        <p:nvSpPr>
          <p:cNvPr id="23557" name="Rectangle 13"/>
          <p:cNvSpPr>
            <a:spLocks noChangeArrowheads="1"/>
          </p:cNvSpPr>
          <p:nvPr/>
        </p:nvSpPr>
        <p:spPr bwMode="auto">
          <a:xfrm>
            <a:off x="352425" y="3459163"/>
            <a:ext cx="7410450" cy="606425"/>
          </a:xfrm>
          <a:prstGeom prst="rect">
            <a:avLst/>
          </a:prstGeom>
          <a:noFill/>
          <a:ln w="12700">
            <a:noFill/>
            <a:miter lim="800000"/>
            <a:headEnd/>
            <a:tailEnd/>
          </a:ln>
        </p:spPr>
        <p:txBody>
          <a:bodyPr wrap="none" lIns="63500" tIns="25400" rIns="63500" bIns="25400">
            <a:spAutoFit/>
          </a:bodyPr>
          <a:lstStyle/>
          <a:p>
            <a:pPr algn="ctr" defTabSz="762000">
              <a:lnSpc>
                <a:spcPct val="101000"/>
              </a:lnSpc>
            </a:pPr>
            <a:r>
              <a:rPr lang="en-US" altLang="ko-KR" sz="1800"/>
              <a:t>Address Mapping       </a:t>
            </a:r>
          </a:p>
          <a:p>
            <a:pPr algn="ctr" defTabSz="762000">
              <a:lnSpc>
                <a:spcPct val="101000"/>
              </a:lnSpc>
            </a:pPr>
            <a:r>
              <a:rPr lang="en-US" altLang="ko-KR" sz="1800"/>
              <a:t>      Memory </a:t>
            </a:r>
            <a:r>
              <a:rPr lang="en-US" altLang="ko-KR" sz="1800" i="1"/>
              <a:t>Mapping Table</a:t>
            </a:r>
            <a:r>
              <a:rPr lang="en-US" altLang="ko-KR" sz="1800"/>
              <a:t> for </a:t>
            </a:r>
            <a:r>
              <a:rPr lang="en-US" altLang="ko-KR" sz="1800" i="1"/>
              <a:t>Virtual Address</a:t>
            </a:r>
            <a:r>
              <a:rPr lang="en-US" altLang="ko-KR" sz="1800"/>
              <a:t> -&gt; </a:t>
            </a:r>
            <a:r>
              <a:rPr lang="en-US" altLang="ko-KR" sz="1800" i="1"/>
              <a:t>Physical Address</a:t>
            </a:r>
            <a:endParaRPr lang="en-US" altLang="ko-KR" sz="1800"/>
          </a:p>
        </p:txBody>
      </p:sp>
      <p:grpSp>
        <p:nvGrpSpPr>
          <p:cNvPr id="23558" name="Group 58"/>
          <p:cNvGrpSpPr>
            <a:grpSpLocks/>
          </p:cNvGrpSpPr>
          <p:nvPr/>
        </p:nvGrpSpPr>
        <p:grpSpPr bwMode="auto">
          <a:xfrm>
            <a:off x="1314450" y="1979613"/>
            <a:ext cx="5713413" cy="1347787"/>
            <a:chOff x="366" y="1541"/>
            <a:chExt cx="4955" cy="630"/>
          </a:xfrm>
        </p:grpSpPr>
        <p:sp>
          <p:nvSpPr>
            <p:cNvPr id="23600" name="Rectangle 5"/>
            <p:cNvSpPr>
              <a:spLocks noChangeArrowheads="1"/>
            </p:cNvSpPr>
            <p:nvPr/>
          </p:nvSpPr>
          <p:spPr bwMode="auto">
            <a:xfrm>
              <a:off x="1097" y="1750"/>
              <a:ext cx="1330" cy="224"/>
            </a:xfrm>
            <a:prstGeom prst="rect">
              <a:avLst/>
            </a:prstGeom>
            <a:noFill/>
            <a:ln w="25400">
              <a:noFill/>
              <a:miter lim="800000"/>
              <a:headEnd/>
              <a:tailEnd/>
            </a:ln>
          </p:spPr>
          <p:txBody>
            <a:bodyPr wrap="none" lIns="63500" tIns="25400" rIns="63500" bIns="25400">
              <a:spAutoFit/>
            </a:bodyPr>
            <a:lstStyle/>
            <a:p>
              <a:pPr algn="ctr" defTabSz="762000">
                <a:lnSpc>
                  <a:spcPct val="101000"/>
                </a:lnSpc>
              </a:pPr>
              <a:r>
                <a:rPr lang="en-US" altLang="ko-KR"/>
                <a:t>virtual address</a:t>
              </a:r>
            </a:p>
            <a:p>
              <a:pPr algn="ctr" defTabSz="762000">
                <a:lnSpc>
                  <a:spcPct val="101000"/>
                </a:lnSpc>
              </a:pPr>
              <a:r>
                <a:rPr lang="en-US" altLang="ko-KR"/>
                <a:t>(logical address)</a:t>
              </a:r>
            </a:p>
          </p:txBody>
        </p:sp>
        <p:sp>
          <p:nvSpPr>
            <p:cNvPr id="23601" name="Rectangle 6"/>
            <p:cNvSpPr>
              <a:spLocks noChangeArrowheads="1"/>
            </p:cNvSpPr>
            <p:nvPr/>
          </p:nvSpPr>
          <p:spPr bwMode="auto">
            <a:xfrm>
              <a:off x="3489" y="1812"/>
              <a:ext cx="1356" cy="120"/>
            </a:xfrm>
            <a:prstGeom prst="rect">
              <a:avLst/>
            </a:prstGeom>
            <a:noFill/>
            <a:ln w="25400">
              <a:noFill/>
              <a:miter lim="800000"/>
              <a:headEnd/>
              <a:tailEnd/>
            </a:ln>
          </p:spPr>
          <p:txBody>
            <a:bodyPr wrap="none" lIns="63500" tIns="25400" rIns="63500" bIns="25400">
              <a:spAutoFit/>
            </a:bodyPr>
            <a:lstStyle/>
            <a:p>
              <a:pPr algn="ctr" defTabSz="762000"/>
              <a:r>
                <a:rPr lang="en-US" altLang="ko-KR"/>
                <a:t>physical address</a:t>
              </a:r>
            </a:p>
          </p:txBody>
        </p:sp>
        <p:sp>
          <p:nvSpPr>
            <p:cNvPr id="23602" name="Oval 7"/>
            <p:cNvSpPr>
              <a:spLocks noChangeArrowheads="1"/>
            </p:cNvSpPr>
            <p:nvPr/>
          </p:nvSpPr>
          <p:spPr bwMode="auto">
            <a:xfrm>
              <a:off x="997" y="1662"/>
              <a:ext cx="1551" cy="382"/>
            </a:xfrm>
            <a:prstGeom prst="ellipse">
              <a:avLst/>
            </a:prstGeom>
            <a:noFill/>
            <a:ln w="25400">
              <a:solidFill>
                <a:schemeClr val="tx1"/>
              </a:solidFill>
              <a:round/>
              <a:headEnd/>
              <a:tailEnd/>
            </a:ln>
          </p:spPr>
          <p:txBody>
            <a:bodyPr wrap="none" anchor="ctr"/>
            <a:lstStyle/>
            <a:p>
              <a:pPr algn="ctr"/>
              <a:endParaRPr lang="en-US" altLang="en-US"/>
            </a:p>
          </p:txBody>
        </p:sp>
        <p:sp>
          <p:nvSpPr>
            <p:cNvPr id="23603" name="Oval 8"/>
            <p:cNvSpPr>
              <a:spLocks noChangeArrowheads="1"/>
            </p:cNvSpPr>
            <p:nvPr/>
          </p:nvSpPr>
          <p:spPr bwMode="auto">
            <a:xfrm>
              <a:off x="3401" y="1662"/>
              <a:ext cx="1550" cy="382"/>
            </a:xfrm>
            <a:prstGeom prst="ellipse">
              <a:avLst/>
            </a:prstGeom>
            <a:noFill/>
            <a:ln w="25400">
              <a:solidFill>
                <a:schemeClr val="tx1"/>
              </a:solidFill>
              <a:round/>
              <a:headEnd/>
              <a:tailEnd/>
            </a:ln>
          </p:spPr>
          <p:txBody>
            <a:bodyPr wrap="none" anchor="ctr"/>
            <a:lstStyle/>
            <a:p>
              <a:pPr algn="ctr"/>
              <a:endParaRPr lang="en-US" altLang="en-US"/>
            </a:p>
          </p:txBody>
        </p:sp>
        <p:sp>
          <p:nvSpPr>
            <p:cNvPr id="23604" name="Line 9"/>
            <p:cNvSpPr>
              <a:spLocks noChangeShapeType="1"/>
            </p:cNvSpPr>
            <p:nvPr/>
          </p:nvSpPr>
          <p:spPr bwMode="auto">
            <a:xfrm>
              <a:off x="2636" y="1855"/>
              <a:ext cx="687" cy="0"/>
            </a:xfrm>
            <a:prstGeom prst="line">
              <a:avLst/>
            </a:prstGeom>
            <a:noFill/>
            <a:ln w="25400">
              <a:solidFill>
                <a:schemeClr val="tx1"/>
              </a:solidFill>
              <a:round/>
              <a:headEnd/>
              <a:tailEnd type="triangle" w="med" len="med"/>
            </a:ln>
          </p:spPr>
          <p:txBody>
            <a:bodyPr wrap="none" anchor="ctr"/>
            <a:lstStyle/>
            <a:p>
              <a:endParaRPr lang="en-IN"/>
            </a:p>
          </p:txBody>
        </p:sp>
        <p:sp>
          <p:nvSpPr>
            <p:cNvPr id="23605" name="Rectangle 10"/>
            <p:cNvSpPr>
              <a:spLocks noChangeArrowheads="1"/>
            </p:cNvSpPr>
            <p:nvPr/>
          </p:nvSpPr>
          <p:spPr bwMode="auto">
            <a:xfrm>
              <a:off x="1152" y="1541"/>
              <a:ext cx="1177" cy="120"/>
            </a:xfrm>
            <a:prstGeom prst="rect">
              <a:avLst/>
            </a:prstGeom>
            <a:noFill/>
            <a:ln w="25400">
              <a:noFill/>
              <a:miter lim="800000"/>
              <a:headEnd/>
              <a:tailEnd/>
            </a:ln>
          </p:spPr>
          <p:txBody>
            <a:bodyPr wrap="none" lIns="63500" tIns="25400" rIns="63500" bIns="25400">
              <a:spAutoFit/>
            </a:bodyPr>
            <a:lstStyle/>
            <a:p>
              <a:pPr algn="ctr" defTabSz="762000"/>
              <a:r>
                <a:rPr lang="en-US" altLang="ko-KR"/>
                <a:t>address space</a:t>
              </a:r>
            </a:p>
          </p:txBody>
        </p:sp>
        <p:sp>
          <p:nvSpPr>
            <p:cNvPr id="23606" name="Rectangle 11"/>
            <p:cNvSpPr>
              <a:spLocks noChangeArrowheads="1"/>
            </p:cNvSpPr>
            <p:nvPr/>
          </p:nvSpPr>
          <p:spPr bwMode="auto">
            <a:xfrm>
              <a:off x="3579" y="1552"/>
              <a:ext cx="1188" cy="120"/>
            </a:xfrm>
            <a:prstGeom prst="rect">
              <a:avLst/>
            </a:prstGeom>
            <a:noFill/>
            <a:ln w="25400">
              <a:noFill/>
              <a:miter lim="800000"/>
              <a:headEnd/>
              <a:tailEnd/>
            </a:ln>
          </p:spPr>
          <p:txBody>
            <a:bodyPr wrap="none" lIns="63500" tIns="25400" rIns="63500" bIns="25400">
              <a:spAutoFit/>
            </a:bodyPr>
            <a:lstStyle/>
            <a:p>
              <a:pPr algn="ctr" defTabSz="762000"/>
              <a:r>
                <a:rPr lang="en-US" altLang="ko-KR"/>
                <a:t>memory space</a:t>
              </a:r>
            </a:p>
          </p:txBody>
        </p:sp>
        <p:sp>
          <p:nvSpPr>
            <p:cNvPr id="23607" name="Rectangle 12"/>
            <p:cNvSpPr>
              <a:spLocks noChangeArrowheads="1"/>
            </p:cNvSpPr>
            <p:nvPr/>
          </p:nvSpPr>
          <p:spPr bwMode="auto">
            <a:xfrm>
              <a:off x="366" y="2051"/>
              <a:ext cx="4955" cy="120"/>
            </a:xfrm>
            <a:prstGeom prst="rect">
              <a:avLst/>
            </a:prstGeom>
            <a:noFill/>
            <a:ln w="25400">
              <a:noFill/>
              <a:miter lim="800000"/>
              <a:headEnd/>
              <a:tailEnd/>
            </a:ln>
          </p:spPr>
          <p:txBody>
            <a:bodyPr wrap="none" lIns="63500" tIns="25400" rIns="63500" bIns="25400">
              <a:spAutoFit/>
            </a:bodyPr>
            <a:lstStyle/>
            <a:p>
              <a:pPr algn="ctr" defTabSz="762000"/>
              <a:r>
                <a:rPr lang="en-US" altLang="ko-KR"/>
                <a:t> address generated by programs        actual main memory address</a:t>
              </a:r>
            </a:p>
          </p:txBody>
        </p:sp>
        <p:sp>
          <p:nvSpPr>
            <p:cNvPr id="23608" name="Rectangle 14"/>
            <p:cNvSpPr>
              <a:spLocks noChangeArrowheads="1"/>
            </p:cNvSpPr>
            <p:nvPr/>
          </p:nvSpPr>
          <p:spPr bwMode="auto">
            <a:xfrm>
              <a:off x="2625" y="1724"/>
              <a:ext cx="741" cy="120"/>
            </a:xfrm>
            <a:prstGeom prst="rect">
              <a:avLst/>
            </a:prstGeom>
            <a:noFill/>
            <a:ln w="25400">
              <a:noFill/>
              <a:miter lim="800000"/>
              <a:headEnd/>
              <a:tailEnd/>
            </a:ln>
          </p:spPr>
          <p:txBody>
            <a:bodyPr wrap="none" lIns="63500" tIns="25400" rIns="63500" bIns="25400">
              <a:spAutoFit/>
            </a:bodyPr>
            <a:lstStyle/>
            <a:p>
              <a:pPr algn="ctr" defTabSz="762000"/>
              <a:r>
                <a:rPr lang="en-US" altLang="ko-KR"/>
                <a:t>Mapping</a:t>
              </a:r>
            </a:p>
          </p:txBody>
        </p:sp>
      </p:grpSp>
      <p:sp>
        <p:nvSpPr>
          <p:cNvPr id="23559" name="Rectangle 15"/>
          <p:cNvSpPr>
            <a:spLocks noChangeArrowheads="1"/>
          </p:cNvSpPr>
          <p:nvPr/>
        </p:nvSpPr>
        <p:spPr bwMode="auto">
          <a:xfrm>
            <a:off x="396875" y="895350"/>
            <a:ext cx="8304213" cy="542925"/>
          </a:xfrm>
          <a:prstGeom prst="rect">
            <a:avLst/>
          </a:prstGeom>
          <a:noFill/>
          <a:ln w="25400">
            <a:solidFill>
              <a:schemeClr val="tx1"/>
            </a:solidFill>
            <a:miter lim="800000"/>
            <a:headEnd/>
            <a:tailEnd/>
          </a:ln>
        </p:spPr>
        <p:txBody>
          <a:bodyPr wrap="none" anchor="ctr"/>
          <a:lstStyle/>
          <a:p>
            <a:pPr algn="ctr"/>
            <a:endParaRPr lang="en-US" altLang="en-US"/>
          </a:p>
        </p:txBody>
      </p:sp>
      <p:sp>
        <p:nvSpPr>
          <p:cNvPr id="23560" name="Rectangle 16"/>
          <p:cNvSpPr>
            <a:spLocks noChangeArrowheads="1"/>
          </p:cNvSpPr>
          <p:nvPr/>
        </p:nvSpPr>
        <p:spPr bwMode="auto">
          <a:xfrm>
            <a:off x="2692400" y="4186238"/>
            <a:ext cx="1462088" cy="280987"/>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i="1">
                <a:solidFill>
                  <a:srgbClr val="000000"/>
                </a:solidFill>
              </a:rPr>
              <a:t>Virtual address</a:t>
            </a:r>
          </a:p>
        </p:txBody>
      </p:sp>
      <p:sp>
        <p:nvSpPr>
          <p:cNvPr id="23561" name="Rectangle 17"/>
          <p:cNvSpPr>
            <a:spLocks noChangeArrowheads="1"/>
          </p:cNvSpPr>
          <p:nvPr/>
        </p:nvSpPr>
        <p:spPr bwMode="auto">
          <a:xfrm>
            <a:off x="3124200" y="4791075"/>
            <a:ext cx="655638"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Virtual</a:t>
            </a:r>
          </a:p>
          <a:p>
            <a:pPr algn="ctr" defTabSz="762000" eaLnBrk="1">
              <a:lnSpc>
                <a:spcPct val="90000"/>
              </a:lnSpc>
            </a:pPr>
            <a:endParaRPr lang="en-US" altLang="ko-KR" sz="1200">
              <a:solidFill>
                <a:srgbClr val="000000"/>
              </a:solidFill>
            </a:endParaRPr>
          </a:p>
        </p:txBody>
      </p:sp>
      <p:sp>
        <p:nvSpPr>
          <p:cNvPr id="23562" name="Rectangle 18"/>
          <p:cNvSpPr>
            <a:spLocks noChangeArrowheads="1"/>
          </p:cNvSpPr>
          <p:nvPr/>
        </p:nvSpPr>
        <p:spPr bwMode="auto">
          <a:xfrm>
            <a:off x="3055938" y="4954588"/>
            <a:ext cx="763587"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address</a:t>
            </a:r>
          </a:p>
          <a:p>
            <a:pPr algn="ctr" defTabSz="762000" eaLnBrk="1">
              <a:lnSpc>
                <a:spcPct val="90000"/>
              </a:lnSpc>
            </a:pPr>
            <a:endParaRPr lang="en-US" altLang="ko-KR" sz="1200">
              <a:solidFill>
                <a:srgbClr val="000000"/>
              </a:solidFill>
            </a:endParaRPr>
          </a:p>
        </p:txBody>
      </p:sp>
      <p:sp>
        <p:nvSpPr>
          <p:cNvPr id="23563" name="Rectangle 19"/>
          <p:cNvSpPr>
            <a:spLocks noChangeArrowheads="1"/>
          </p:cNvSpPr>
          <p:nvPr/>
        </p:nvSpPr>
        <p:spPr bwMode="auto">
          <a:xfrm>
            <a:off x="3086100" y="5116513"/>
            <a:ext cx="738188"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register</a:t>
            </a:r>
          </a:p>
          <a:p>
            <a:pPr algn="ctr" defTabSz="762000" eaLnBrk="1">
              <a:lnSpc>
                <a:spcPct val="90000"/>
              </a:lnSpc>
            </a:pPr>
            <a:endParaRPr lang="en-US" altLang="ko-KR" sz="1200">
              <a:solidFill>
                <a:srgbClr val="000000"/>
              </a:solidFill>
            </a:endParaRPr>
          </a:p>
        </p:txBody>
      </p:sp>
      <p:sp>
        <p:nvSpPr>
          <p:cNvPr id="23564" name="Rectangle 21"/>
          <p:cNvSpPr>
            <a:spLocks noChangeArrowheads="1"/>
          </p:cNvSpPr>
          <p:nvPr/>
        </p:nvSpPr>
        <p:spPr bwMode="auto">
          <a:xfrm>
            <a:off x="4276725" y="4811713"/>
            <a:ext cx="763588"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Memory</a:t>
            </a:r>
          </a:p>
          <a:p>
            <a:pPr algn="ctr" defTabSz="762000" eaLnBrk="1">
              <a:lnSpc>
                <a:spcPct val="90000"/>
              </a:lnSpc>
            </a:pPr>
            <a:endParaRPr lang="en-US" altLang="ko-KR" sz="1200">
              <a:solidFill>
                <a:srgbClr val="000000"/>
              </a:solidFill>
            </a:endParaRPr>
          </a:p>
        </p:txBody>
      </p:sp>
      <p:sp>
        <p:nvSpPr>
          <p:cNvPr id="23565" name="Rectangle 22"/>
          <p:cNvSpPr>
            <a:spLocks noChangeArrowheads="1"/>
          </p:cNvSpPr>
          <p:nvPr/>
        </p:nvSpPr>
        <p:spPr bwMode="auto">
          <a:xfrm>
            <a:off x="4249738" y="4975225"/>
            <a:ext cx="817562"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mapping</a:t>
            </a:r>
          </a:p>
          <a:p>
            <a:pPr algn="ctr" defTabSz="762000" eaLnBrk="1">
              <a:lnSpc>
                <a:spcPct val="90000"/>
              </a:lnSpc>
            </a:pPr>
            <a:endParaRPr lang="en-US" altLang="ko-KR" sz="1200">
              <a:solidFill>
                <a:srgbClr val="000000"/>
              </a:solidFill>
            </a:endParaRPr>
          </a:p>
        </p:txBody>
      </p:sp>
      <p:sp>
        <p:nvSpPr>
          <p:cNvPr id="23566" name="Rectangle 23"/>
          <p:cNvSpPr>
            <a:spLocks noChangeArrowheads="1"/>
          </p:cNvSpPr>
          <p:nvPr/>
        </p:nvSpPr>
        <p:spPr bwMode="auto">
          <a:xfrm>
            <a:off x="4395788" y="5137150"/>
            <a:ext cx="536575"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table</a:t>
            </a:r>
          </a:p>
        </p:txBody>
      </p:sp>
      <p:sp>
        <p:nvSpPr>
          <p:cNvPr id="23567" name="Rectangle 24"/>
          <p:cNvSpPr>
            <a:spLocks noChangeArrowheads="1"/>
          </p:cNvSpPr>
          <p:nvPr/>
        </p:nvSpPr>
        <p:spPr bwMode="auto">
          <a:xfrm>
            <a:off x="4095750" y="6070600"/>
            <a:ext cx="1162050"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Memory table</a:t>
            </a:r>
          </a:p>
          <a:p>
            <a:pPr algn="ctr" defTabSz="762000" eaLnBrk="1">
              <a:lnSpc>
                <a:spcPct val="90000"/>
              </a:lnSpc>
            </a:pPr>
            <a:endParaRPr lang="en-US" altLang="ko-KR" sz="1200">
              <a:solidFill>
                <a:srgbClr val="000000"/>
              </a:solidFill>
            </a:endParaRPr>
          </a:p>
        </p:txBody>
      </p:sp>
      <p:sp>
        <p:nvSpPr>
          <p:cNvPr id="23568" name="Rectangle 25"/>
          <p:cNvSpPr>
            <a:spLocks noChangeArrowheads="1"/>
          </p:cNvSpPr>
          <p:nvPr/>
        </p:nvSpPr>
        <p:spPr bwMode="auto">
          <a:xfrm>
            <a:off x="4064000" y="6230938"/>
            <a:ext cx="12128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buffer register</a:t>
            </a:r>
          </a:p>
        </p:txBody>
      </p:sp>
      <p:sp>
        <p:nvSpPr>
          <p:cNvPr id="23569" name="Rectangle 26"/>
          <p:cNvSpPr>
            <a:spLocks noChangeArrowheads="1"/>
          </p:cNvSpPr>
          <p:nvPr/>
        </p:nvSpPr>
        <p:spPr bwMode="auto">
          <a:xfrm>
            <a:off x="5797550" y="4741863"/>
            <a:ext cx="1162050"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Main memory</a:t>
            </a:r>
          </a:p>
          <a:p>
            <a:pPr algn="ctr" defTabSz="762000" eaLnBrk="1">
              <a:lnSpc>
                <a:spcPct val="90000"/>
              </a:lnSpc>
            </a:pPr>
            <a:endParaRPr lang="en-US" altLang="ko-KR" sz="1200">
              <a:solidFill>
                <a:srgbClr val="000000"/>
              </a:solidFill>
            </a:endParaRPr>
          </a:p>
        </p:txBody>
      </p:sp>
      <p:sp>
        <p:nvSpPr>
          <p:cNvPr id="23570" name="Rectangle 27"/>
          <p:cNvSpPr>
            <a:spLocks noChangeArrowheads="1"/>
          </p:cNvSpPr>
          <p:nvPr/>
        </p:nvSpPr>
        <p:spPr bwMode="auto">
          <a:xfrm>
            <a:off x="6007100" y="4903788"/>
            <a:ext cx="763588"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address</a:t>
            </a:r>
          </a:p>
          <a:p>
            <a:pPr algn="ctr" defTabSz="762000" eaLnBrk="1">
              <a:lnSpc>
                <a:spcPct val="90000"/>
              </a:lnSpc>
            </a:pPr>
            <a:endParaRPr lang="en-US" altLang="ko-KR" sz="1200">
              <a:solidFill>
                <a:srgbClr val="000000"/>
              </a:solidFill>
            </a:endParaRPr>
          </a:p>
        </p:txBody>
      </p:sp>
      <p:sp>
        <p:nvSpPr>
          <p:cNvPr id="23571" name="Rectangle 28"/>
          <p:cNvSpPr>
            <a:spLocks noChangeArrowheads="1"/>
          </p:cNvSpPr>
          <p:nvPr/>
        </p:nvSpPr>
        <p:spPr bwMode="auto">
          <a:xfrm>
            <a:off x="6034088" y="5068888"/>
            <a:ext cx="738187"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register</a:t>
            </a:r>
          </a:p>
          <a:p>
            <a:pPr algn="ctr" defTabSz="762000" eaLnBrk="1">
              <a:lnSpc>
                <a:spcPct val="90000"/>
              </a:lnSpc>
            </a:pPr>
            <a:endParaRPr lang="en-US" altLang="ko-KR" sz="1200">
              <a:solidFill>
                <a:srgbClr val="000000"/>
              </a:solidFill>
            </a:endParaRPr>
          </a:p>
        </p:txBody>
      </p:sp>
      <p:sp>
        <p:nvSpPr>
          <p:cNvPr id="23572" name="Rectangle 30"/>
          <p:cNvSpPr>
            <a:spLocks noChangeArrowheads="1"/>
          </p:cNvSpPr>
          <p:nvPr/>
        </p:nvSpPr>
        <p:spPr bwMode="auto">
          <a:xfrm>
            <a:off x="7408863" y="4881563"/>
            <a:ext cx="528637"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Main</a:t>
            </a:r>
          </a:p>
          <a:p>
            <a:pPr algn="ctr" defTabSz="762000" eaLnBrk="1">
              <a:lnSpc>
                <a:spcPct val="90000"/>
              </a:lnSpc>
            </a:pPr>
            <a:endParaRPr lang="en-US" altLang="ko-KR" sz="1200">
              <a:solidFill>
                <a:srgbClr val="000000"/>
              </a:solidFill>
            </a:endParaRPr>
          </a:p>
        </p:txBody>
      </p:sp>
      <p:sp>
        <p:nvSpPr>
          <p:cNvPr id="23573" name="Rectangle 31"/>
          <p:cNvSpPr>
            <a:spLocks noChangeArrowheads="1"/>
          </p:cNvSpPr>
          <p:nvPr/>
        </p:nvSpPr>
        <p:spPr bwMode="auto">
          <a:xfrm>
            <a:off x="7289800" y="5045075"/>
            <a:ext cx="771525"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memory</a:t>
            </a:r>
          </a:p>
        </p:txBody>
      </p:sp>
      <p:sp>
        <p:nvSpPr>
          <p:cNvPr id="23574" name="Rectangle 32"/>
          <p:cNvSpPr>
            <a:spLocks noChangeArrowheads="1"/>
          </p:cNvSpPr>
          <p:nvPr/>
        </p:nvSpPr>
        <p:spPr bwMode="auto">
          <a:xfrm>
            <a:off x="7146925" y="6070600"/>
            <a:ext cx="1162050"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Main memory</a:t>
            </a:r>
          </a:p>
          <a:p>
            <a:pPr algn="ctr" defTabSz="762000" eaLnBrk="1">
              <a:lnSpc>
                <a:spcPct val="90000"/>
              </a:lnSpc>
            </a:pPr>
            <a:endParaRPr lang="en-US" altLang="ko-KR" sz="1200">
              <a:solidFill>
                <a:srgbClr val="000000"/>
              </a:solidFill>
            </a:endParaRPr>
          </a:p>
        </p:txBody>
      </p:sp>
      <p:sp>
        <p:nvSpPr>
          <p:cNvPr id="23575" name="Rectangle 33"/>
          <p:cNvSpPr>
            <a:spLocks noChangeArrowheads="1"/>
          </p:cNvSpPr>
          <p:nvPr/>
        </p:nvSpPr>
        <p:spPr bwMode="auto">
          <a:xfrm>
            <a:off x="7146925" y="6235700"/>
            <a:ext cx="12128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buffer register</a:t>
            </a:r>
          </a:p>
        </p:txBody>
      </p:sp>
      <p:sp>
        <p:nvSpPr>
          <p:cNvPr id="23576" name="Rectangle 34"/>
          <p:cNvSpPr>
            <a:spLocks noChangeArrowheads="1"/>
          </p:cNvSpPr>
          <p:nvPr/>
        </p:nvSpPr>
        <p:spPr bwMode="auto">
          <a:xfrm>
            <a:off x="2982913" y="4743450"/>
            <a:ext cx="863600" cy="712788"/>
          </a:xfrm>
          <a:prstGeom prst="rect">
            <a:avLst/>
          </a:prstGeom>
          <a:noFill/>
          <a:ln w="25400">
            <a:solidFill>
              <a:srgbClr val="000000"/>
            </a:solidFill>
            <a:miter lim="800000"/>
            <a:headEnd/>
            <a:tailEnd/>
          </a:ln>
        </p:spPr>
        <p:txBody>
          <a:bodyPr wrap="none" anchor="ctr"/>
          <a:lstStyle/>
          <a:p>
            <a:pPr algn="ctr"/>
            <a:endParaRPr lang="en-US" altLang="en-US"/>
          </a:p>
        </p:txBody>
      </p:sp>
      <p:sp>
        <p:nvSpPr>
          <p:cNvPr id="23577" name="Arc 35"/>
          <p:cNvSpPr>
            <a:spLocks/>
          </p:cNvSpPr>
          <p:nvPr/>
        </p:nvSpPr>
        <p:spPr bwMode="auto">
          <a:xfrm>
            <a:off x="3371850" y="4618038"/>
            <a:ext cx="100013" cy="111125"/>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3578" name="Line 36"/>
          <p:cNvSpPr>
            <a:spLocks noChangeShapeType="1"/>
          </p:cNvSpPr>
          <p:nvPr/>
        </p:nvSpPr>
        <p:spPr bwMode="auto">
          <a:xfrm>
            <a:off x="3421063" y="4418013"/>
            <a:ext cx="0" cy="211137"/>
          </a:xfrm>
          <a:prstGeom prst="line">
            <a:avLst/>
          </a:prstGeom>
          <a:noFill/>
          <a:ln w="25400">
            <a:solidFill>
              <a:srgbClr val="000000"/>
            </a:solidFill>
            <a:round/>
            <a:headEnd/>
            <a:tailEnd/>
          </a:ln>
        </p:spPr>
        <p:txBody>
          <a:bodyPr wrap="none" anchor="ctr"/>
          <a:lstStyle/>
          <a:p>
            <a:endParaRPr lang="en-IN"/>
          </a:p>
        </p:txBody>
      </p:sp>
      <p:sp>
        <p:nvSpPr>
          <p:cNvPr id="23579" name="Arc 37"/>
          <p:cNvSpPr>
            <a:spLocks/>
          </p:cNvSpPr>
          <p:nvPr/>
        </p:nvSpPr>
        <p:spPr bwMode="auto">
          <a:xfrm>
            <a:off x="4110038" y="5022850"/>
            <a:ext cx="123825" cy="87313"/>
          </a:xfrm>
          <a:custGeom>
            <a:avLst/>
            <a:gdLst>
              <a:gd name="T0" fmla="*/ 2147483646 w 21600"/>
              <a:gd name="T1" fmla="*/ 2147483646 h 17255"/>
              <a:gd name="T2" fmla="*/ 2147483646 w 21600"/>
              <a:gd name="T3" fmla="*/ 0 h 17255"/>
              <a:gd name="T4" fmla="*/ 2147483646 w 21600"/>
              <a:gd name="T5" fmla="*/ 2147483646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w="25400" cap="rnd">
            <a:noFill/>
            <a:round/>
            <a:headEnd/>
            <a:tailEnd/>
          </a:ln>
        </p:spPr>
        <p:txBody>
          <a:bodyPr wrap="none" anchor="ctr"/>
          <a:lstStyle/>
          <a:p>
            <a:endParaRPr lang="en-IN"/>
          </a:p>
        </p:txBody>
      </p:sp>
      <p:sp>
        <p:nvSpPr>
          <p:cNvPr id="23580" name="Line 38"/>
          <p:cNvSpPr>
            <a:spLocks noChangeShapeType="1"/>
          </p:cNvSpPr>
          <p:nvPr/>
        </p:nvSpPr>
        <p:spPr bwMode="auto">
          <a:xfrm>
            <a:off x="3863975" y="5072063"/>
            <a:ext cx="258763" cy="0"/>
          </a:xfrm>
          <a:prstGeom prst="line">
            <a:avLst/>
          </a:prstGeom>
          <a:noFill/>
          <a:ln w="25400">
            <a:solidFill>
              <a:srgbClr val="000000"/>
            </a:solidFill>
            <a:round/>
            <a:headEnd/>
            <a:tailEnd/>
          </a:ln>
        </p:spPr>
        <p:txBody>
          <a:bodyPr wrap="none" anchor="ctr"/>
          <a:lstStyle/>
          <a:p>
            <a:endParaRPr lang="en-IN"/>
          </a:p>
        </p:txBody>
      </p:sp>
      <p:sp>
        <p:nvSpPr>
          <p:cNvPr id="23581" name="Rectangle 39"/>
          <p:cNvSpPr>
            <a:spLocks noChangeArrowheads="1"/>
          </p:cNvSpPr>
          <p:nvPr/>
        </p:nvSpPr>
        <p:spPr bwMode="auto">
          <a:xfrm>
            <a:off x="4238625" y="4418013"/>
            <a:ext cx="865188" cy="1363662"/>
          </a:xfrm>
          <a:prstGeom prst="rect">
            <a:avLst/>
          </a:prstGeom>
          <a:noFill/>
          <a:ln w="25400">
            <a:solidFill>
              <a:srgbClr val="000000"/>
            </a:solidFill>
            <a:miter lim="800000"/>
            <a:headEnd/>
            <a:tailEnd/>
          </a:ln>
        </p:spPr>
        <p:txBody>
          <a:bodyPr wrap="none" anchor="ctr"/>
          <a:lstStyle/>
          <a:p>
            <a:pPr algn="ctr"/>
            <a:endParaRPr lang="en-US" altLang="en-US"/>
          </a:p>
        </p:txBody>
      </p:sp>
      <p:sp>
        <p:nvSpPr>
          <p:cNvPr id="23582" name="Rectangle 40"/>
          <p:cNvSpPr>
            <a:spLocks noChangeArrowheads="1"/>
          </p:cNvSpPr>
          <p:nvPr/>
        </p:nvSpPr>
        <p:spPr bwMode="auto">
          <a:xfrm>
            <a:off x="4095750" y="6075363"/>
            <a:ext cx="1152525" cy="371475"/>
          </a:xfrm>
          <a:prstGeom prst="rect">
            <a:avLst/>
          </a:prstGeom>
          <a:noFill/>
          <a:ln w="25400">
            <a:solidFill>
              <a:srgbClr val="000000"/>
            </a:solidFill>
            <a:miter lim="800000"/>
            <a:headEnd/>
            <a:tailEnd/>
          </a:ln>
        </p:spPr>
        <p:txBody>
          <a:bodyPr wrap="none" anchor="ctr"/>
          <a:lstStyle/>
          <a:p>
            <a:pPr algn="ctr"/>
            <a:endParaRPr lang="en-US" altLang="en-US"/>
          </a:p>
        </p:txBody>
      </p:sp>
      <p:sp>
        <p:nvSpPr>
          <p:cNvPr id="23583" name="Arc 41"/>
          <p:cNvSpPr>
            <a:spLocks/>
          </p:cNvSpPr>
          <p:nvPr/>
        </p:nvSpPr>
        <p:spPr bwMode="auto">
          <a:xfrm>
            <a:off x="4629150" y="5946775"/>
            <a:ext cx="100013" cy="111125"/>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3584" name="Line 42"/>
          <p:cNvSpPr>
            <a:spLocks noChangeShapeType="1"/>
          </p:cNvSpPr>
          <p:nvPr/>
        </p:nvSpPr>
        <p:spPr bwMode="auto">
          <a:xfrm flipH="1">
            <a:off x="4678363" y="5784850"/>
            <a:ext cx="0" cy="171450"/>
          </a:xfrm>
          <a:prstGeom prst="line">
            <a:avLst/>
          </a:prstGeom>
          <a:noFill/>
          <a:ln w="25400">
            <a:solidFill>
              <a:srgbClr val="000000"/>
            </a:solidFill>
            <a:round/>
            <a:headEnd/>
            <a:tailEnd/>
          </a:ln>
        </p:spPr>
        <p:txBody>
          <a:bodyPr wrap="none" anchor="ctr"/>
          <a:lstStyle/>
          <a:p>
            <a:endParaRPr lang="en-IN"/>
          </a:p>
        </p:txBody>
      </p:sp>
      <p:sp>
        <p:nvSpPr>
          <p:cNvPr id="23585" name="Arc 43"/>
          <p:cNvSpPr>
            <a:spLocks/>
          </p:cNvSpPr>
          <p:nvPr/>
        </p:nvSpPr>
        <p:spPr bwMode="auto">
          <a:xfrm>
            <a:off x="5367338" y="6211888"/>
            <a:ext cx="123825" cy="88900"/>
          </a:xfrm>
          <a:custGeom>
            <a:avLst/>
            <a:gdLst>
              <a:gd name="T0" fmla="*/ 2147483646 w 21600"/>
              <a:gd name="T1" fmla="*/ 2147483646 h 17255"/>
              <a:gd name="T2" fmla="*/ 2147483646 w 21600"/>
              <a:gd name="T3" fmla="*/ 0 h 17255"/>
              <a:gd name="T4" fmla="*/ 2147483646 w 21600"/>
              <a:gd name="T5" fmla="*/ 2147483646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w="25400" cap="rnd">
            <a:noFill/>
            <a:round/>
            <a:headEnd/>
            <a:tailEnd/>
          </a:ln>
        </p:spPr>
        <p:txBody>
          <a:bodyPr wrap="none" anchor="ctr"/>
          <a:lstStyle/>
          <a:p>
            <a:endParaRPr lang="en-IN"/>
          </a:p>
        </p:txBody>
      </p:sp>
      <p:sp>
        <p:nvSpPr>
          <p:cNvPr id="23586" name="Line 44"/>
          <p:cNvSpPr>
            <a:spLocks noChangeShapeType="1"/>
          </p:cNvSpPr>
          <p:nvPr/>
        </p:nvSpPr>
        <p:spPr bwMode="auto">
          <a:xfrm>
            <a:off x="5254625" y="6257925"/>
            <a:ext cx="120650" cy="4763"/>
          </a:xfrm>
          <a:prstGeom prst="line">
            <a:avLst/>
          </a:prstGeom>
          <a:noFill/>
          <a:ln w="25400">
            <a:solidFill>
              <a:srgbClr val="000000"/>
            </a:solidFill>
            <a:round/>
            <a:headEnd/>
            <a:tailEnd/>
          </a:ln>
        </p:spPr>
        <p:txBody>
          <a:bodyPr wrap="none" anchor="ctr"/>
          <a:lstStyle/>
          <a:p>
            <a:endParaRPr lang="en-IN"/>
          </a:p>
        </p:txBody>
      </p:sp>
      <p:sp>
        <p:nvSpPr>
          <p:cNvPr id="23587" name="Rectangle 46"/>
          <p:cNvSpPr>
            <a:spLocks noChangeArrowheads="1"/>
          </p:cNvSpPr>
          <p:nvPr/>
        </p:nvSpPr>
        <p:spPr bwMode="auto">
          <a:xfrm>
            <a:off x="5797550" y="4743450"/>
            <a:ext cx="1117600" cy="712788"/>
          </a:xfrm>
          <a:prstGeom prst="rect">
            <a:avLst/>
          </a:prstGeom>
          <a:noFill/>
          <a:ln w="25400">
            <a:solidFill>
              <a:srgbClr val="000000"/>
            </a:solidFill>
            <a:miter lim="800000"/>
            <a:headEnd/>
            <a:tailEnd/>
          </a:ln>
        </p:spPr>
        <p:txBody>
          <a:bodyPr wrap="none" anchor="ctr"/>
          <a:lstStyle/>
          <a:p>
            <a:pPr algn="ctr"/>
            <a:endParaRPr lang="en-US" altLang="en-US"/>
          </a:p>
        </p:txBody>
      </p:sp>
      <p:sp>
        <p:nvSpPr>
          <p:cNvPr id="23588" name="Line 47"/>
          <p:cNvSpPr>
            <a:spLocks noChangeShapeType="1"/>
          </p:cNvSpPr>
          <p:nvPr/>
        </p:nvSpPr>
        <p:spPr bwMode="auto">
          <a:xfrm>
            <a:off x="5497513" y="4532313"/>
            <a:ext cx="833437" cy="0"/>
          </a:xfrm>
          <a:prstGeom prst="line">
            <a:avLst/>
          </a:prstGeom>
          <a:noFill/>
          <a:ln w="25400">
            <a:solidFill>
              <a:srgbClr val="000000"/>
            </a:solidFill>
            <a:round/>
            <a:headEnd/>
            <a:tailEnd/>
          </a:ln>
        </p:spPr>
        <p:txBody>
          <a:bodyPr wrap="none" anchor="ctr"/>
          <a:lstStyle/>
          <a:p>
            <a:endParaRPr lang="en-IN"/>
          </a:p>
        </p:txBody>
      </p:sp>
      <p:sp>
        <p:nvSpPr>
          <p:cNvPr id="23589" name="Arc 48"/>
          <p:cNvSpPr>
            <a:spLocks/>
          </p:cNvSpPr>
          <p:nvPr/>
        </p:nvSpPr>
        <p:spPr bwMode="auto">
          <a:xfrm>
            <a:off x="6265863" y="4618038"/>
            <a:ext cx="101600" cy="111125"/>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3590" name="Line 49"/>
          <p:cNvSpPr>
            <a:spLocks noChangeShapeType="1"/>
          </p:cNvSpPr>
          <p:nvPr/>
        </p:nvSpPr>
        <p:spPr bwMode="auto">
          <a:xfrm>
            <a:off x="6316663" y="4546600"/>
            <a:ext cx="0" cy="82550"/>
          </a:xfrm>
          <a:prstGeom prst="line">
            <a:avLst/>
          </a:prstGeom>
          <a:noFill/>
          <a:ln w="25400">
            <a:solidFill>
              <a:srgbClr val="000000"/>
            </a:solidFill>
            <a:round/>
            <a:headEnd/>
            <a:tailEnd/>
          </a:ln>
        </p:spPr>
        <p:txBody>
          <a:bodyPr wrap="none" anchor="ctr"/>
          <a:lstStyle/>
          <a:p>
            <a:endParaRPr lang="en-IN"/>
          </a:p>
        </p:txBody>
      </p:sp>
      <p:sp>
        <p:nvSpPr>
          <p:cNvPr id="23591" name="Arc 50"/>
          <p:cNvSpPr>
            <a:spLocks/>
          </p:cNvSpPr>
          <p:nvPr/>
        </p:nvSpPr>
        <p:spPr bwMode="auto">
          <a:xfrm>
            <a:off x="7158038" y="5026025"/>
            <a:ext cx="123825" cy="88900"/>
          </a:xfrm>
          <a:custGeom>
            <a:avLst/>
            <a:gdLst>
              <a:gd name="T0" fmla="*/ 2147483646 w 21600"/>
              <a:gd name="T1" fmla="*/ 2147483646 h 17255"/>
              <a:gd name="T2" fmla="*/ 2147483646 w 21600"/>
              <a:gd name="T3" fmla="*/ 0 h 17255"/>
              <a:gd name="T4" fmla="*/ 2147483646 w 21600"/>
              <a:gd name="T5" fmla="*/ 2147483646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w="25400" cap="rnd">
            <a:noFill/>
            <a:round/>
            <a:headEnd/>
            <a:tailEnd/>
          </a:ln>
        </p:spPr>
        <p:txBody>
          <a:bodyPr wrap="none" anchor="ctr"/>
          <a:lstStyle/>
          <a:p>
            <a:endParaRPr lang="en-IN"/>
          </a:p>
        </p:txBody>
      </p:sp>
      <p:sp>
        <p:nvSpPr>
          <p:cNvPr id="23592" name="Line 51"/>
          <p:cNvSpPr>
            <a:spLocks noChangeShapeType="1"/>
          </p:cNvSpPr>
          <p:nvPr/>
        </p:nvSpPr>
        <p:spPr bwMode="auto">
          <a:xfrm>
            <a:off x="6911975" y="5076825"/>
            <a:ext cx="249238" cy="0"/>
          </a:xfrm>
          <a:prstGeom prst="line">
            <a:avLst/>
          </a:prstGeom>
          <a:noFill/>
          <a:ln w="25400">
            <a:solidFill>
              <a:srgbClr val="000000"/>
            </a:solidFill>
            <a:round/>
            <a:headEnd/>
            <a:tailEnd/>
          </a:ln>
        </p:spPr>
        <p:txBody>
          <a:bodyPr wrap="none" anchor="ctr"/>
          <a:lstStyle/>
          <a:p>
            <a:endParaRPr lang="en-IN"/>
          </a:p>
        </p:txBody>
      </p:sp>
      <p:sp>
        <p:nvSpPr>
          <p:cNvPr id="23593" name="Rectangle 52"/>
          <p:cNvSpPr>
            <a:spLocks noChangeArrowheads="1"/>
          </p:cNvSpPr>
          <p:nvPr/>
        </p:nvSpPr>
        <p:spPr bwMode="auto">
          <a:xfrm>
            <a:off x="7291388" y="4546600"/>
            <a:ext cx="787400" cy="1106488"/>
          </a:xfrm>
          <a:prstGeom prst="rect">
            <a:avLst/>
          </a:prstGeom>
          <a:noFill/>
          <a:ln w="25400">
            <a:solidFill>
              <a:srgbClr val="000000"/>
            </a:solidFill>
            <a:miter lim="800000"/>
            <a:headEnd/>
            <a:tailEnd/>
          </a:ln>
        </p:spPr>
        <p:txBody>
          <a:bodyPr wrap="none" anchor="ctr"/>
          <a:lstStyle/>
          <a:p>
            <a:pPr algn="ctr"/>
            <a:endParaRPr lang="en-US" altLang="en-US"/>
          </a:p>
        </p:txBody>
      </p:sp>
      <p:sp>
        <p:nvSpPr>
          <p:cNvPr id="23594" name="Rectangle 53"/>
          <p:cNvSpPr>
            <a:spLocks noChangeArrowheads="1"/>
          </p:cNvSpPr>
          <p:nvPr/>
        </p:nvSpPr>
        <p:spPr bwMode="auto">
          <a:xfrm>
            <a:off x="7134225" y="6075363"/>
            <a:ext cx="1166813" cy="371475"/>
          </a:xfrm>
          <a:prstGeom prst="rect">
            <a:avLst/>
          </a:prstGeom>
          <a:noFill/>
          <a:ln w="25400">
            <a:solidFill>
              <a:srgbClr val="000000"/>
            </a:solidFill>
            <a:miter lim="800000"/>
            <a:headEnd/>
            <a:tailEnd/>
          </a:ln>
        </p:spPr>
        <p:txBody>
          <a:bodyPr wrap="none" anchor="ctr"/>
          <a:lstStyle/>
          <a:p>
            <a:pPr algn="ctr"/>
            <a:endParaRPr lang="en-US" altLang="en-US"/>
          </a:p>
        </p:txBody>
      </p:sp>
      <p:sp>
        <p:nvSpPr>
          <p:cNvPr id="23595" name="Arc 54"/>
          <p:cNvSpPr>
            <a:spLocks/>
          </p:cNvSpPr>
          <p:nvPr/>
        </p:nvSpPr>
        <p:spPr bwMode="auto">
          <a:xfrm>
            <a:off x="7681913" y="5946775"/>
            <a:ext cx="100012" cy="111125"/>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3596" name="Line 55"/>
          <p:cNvSpPr>
            <a:spLocks noChangeShapeType="1"/>
          </p:cNvSpPr>
          <p:nvPr/>
        </p:nvSpPr>
        <p:spPr bwMode="auto">
          <a:xfrm>
            <a:off x="7731125" y="5659438"/>
            <a:ext cx="0" cy="296862"/>
          </a:xfrm>
          <a:prstGeom prst="line">
            <a:avLst/>
          </a:prstGeom>
          <a:noFill/>
          <a:ln w="25400">
            <a:solidFill>
              <a:srgbClr val="000000"/>
            </a:solidFill>
            <a:round/>
            <a:headEnd/>
            <a:tailEnd/>
          </a:ln>
        </p:spPr>
        <p:txBody>
          <a:bodyPr wrap="none" anchor="ctr"/>
          <a:lstStyle/>
          <a:p>
            <a:endParaRPr lang="en-IN"/>
          </a:p>
        </p:txBody>
      </p:sp>
      <p:sp>
        <p:nvSpPr>
          <p:cNvPr id="23597" name="Rectangle 56"/>
          <p:cNvSpPr>
            <a:spLocks noChangeArrowheads="1"/>
          </p:cNvSpPr>
          <p:nvPr/>
        </p:nvSpPr>
        <p:spPr bwMode="auto">
          <a:xfrm>
            <a:off x="5495925" y="5702300"/>
            <a:ext cx="949325" cy="473075"/>
          </a:xfrm>
          <a:prstGeom prst="rect">
            <a:avLst/>
          </a:prstGeom>
          <a:noFill/>
          <a:ln w="12700">
            <a:noFill/>
            <a:miter lim="800000"/>
            <a:headEnd/>
            <a:tailEnd/>
          </a:ln>
        </p:spPr>
        <p:txBody>
          <a:bodyPr wrap="none" lIns="90488" tIns="44450" rIns="90488" bIns="44450">
            <a:spAutoFit/>
          </a:bodyPr>
          <a:lstStyle/>
          <a:p>
            <a:pPr algn="ctr" defTabSz="762000">
              <a:lnSpc>
                <a:spcPct val="90000"/>
              </a:lnSpc>
            </a:pPr>
            <a:r>
              <a:rPr lang="en-US" altLang="ko-KR" i="1"/>
              <a:t>Physical </a:t>
            </a:r>
          </a:p>
          <a:p>
            <a:pPr algn="ctr" defTabSz="762000">
              <a:lnSpc>
                <a:spcPct val="90000"/>
              </a:lnSpc>
            </a:pPr>
            <a:r>
              <a:rPr lang="en-US" altLang="ko-KR" i="1"/>
              <a:t>Address</a:t>
            </a:r>
          </a:p>
        </p:txBody>
      </p:sp>
      <p:sp>
        <p:nvSpPr>
          <p:cNvPr id="23598" name="Rectangle 57"/>
          <p:cNvSpPr>
            <a:spLocks noChangeArrowheads="1"/>
          </p:cNvSpPr>
          <p:nvPr/>
        </p:nvSpPr>
        <p:spPr bwMode="auto">
          <a:xfrm>
            <a:off x="7566025" y="0"/>
            <a:ext cx="1463675" cy="280988"/>
          </a:xfrm>
          <a:prstGeom prst="rect">
            <a:avLst/>
          </a:prstGeom>
          <a:noFill/>
          <a:ln w="12700">
            <a:noFill/>
            <a:miter lim="800000"/>
            <a:headEnd/>
            <a:tailEnd/>
          </a:ln>
        </p:spPr>
        <p:txBody>
          <a:bodyPr wrap="none" lIns="90488" tIns="44450" rIns="90488" bIns="44450">
            <a:spAutoFit/>
          </a:bodyPr>
          <a:lstStyle/>
          <a:p>
            <a:pPr algn="r" defTabSz="762000">
              <a:lnSpc>
                <a:spcPct val="90000"/>
              </a:lnSpc>
            </a:pPr>
            <a:r>
              <a:rPr lang="en-US" altLang="ko-KR" i="1"/>
              <a:t>Virtual Memory</a:t>
            </a:r>
          </a:p>
        </p:txBody>
      </p:sp>
      <p:sp>
        <p:nvSpPr>
          <p:cNvPr id="23599" name="Line 60"/>
          <p:cNvSpPr>
            <a:spLocks noChangeShapeType="1"/>
          </p:cNvSpPr>
          <p:nvPr/>
        </p:nvSpPr>
        <p:spPr bwMode="auto">
          <a:xfrm flipH="1">
            <a:off x="5487988" y="4527550"/>
            <a:ext cx="0" cy="1743075"/>
          </a:xfrm>
          <a:prstGeom prst="line">
            <a:avLst/>
          </a:prstGeom>
          <a:noFill/>
          <a:ln w="25400">
            <a:solidFill>
              <a:srgbClr val="000000"/>
            </a:solidFill>
            <a:round/>
            <a:headEnd/>
            <a:tailEnd/>
          </a:ln>
        </p:spPr>
        <p:txBody>
          <a:bodyPr wrap="none" anchor="ctr"/>
          <a:lstStyle/>
          <a:p>
            <a:endParaRPr lang="en-IN"/>
          </a:p>
        </p:txBody>
      </p:sp>
    </p:spTree>
    <p:extLst>
      <p:ext uri="{BB962C8B-B14F-4D97-AF65-F5344CB8AC3E}">
        <p14:creationId xmlns:p14="http://schemas.microsoft.com/office/powerpoint/2010/main" val="16213576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3675" y="273050"/>
            <a:ext cx="8782050" cy="450850"/>
          </a:xfrm>
          <a:noFill/>
        </p:spPr>
        <p:txBody>
          <a:bodyPr anchor="ctr"/>
          <a:lstStyle/>
          <a:p>
            <a:r>
              <a:rPr lang="en-US" altLang="ko-KR" sz="2400">
                <a:solidFill>
                  <a:schemeClr val="tx1"/>
                </a:solidFill>
              </a:rPr>
              <a:t>ADDRESS  MAPPING</a:t>
            </a:r>
          </a:p>
        </p:txBody>
      </p:sp>
      <p:sp>
        <p:nvSpPr>
          <p:cNvPr id="24579" name="Rectangle 3"/>
          <p:cNvSpPr>
            <a:spLocks noChangeArrowheads="1"/>
          </p:cNvSpPr>
          <p:nvPr/>
        </p:nvSpPr>
        <p:spPr bwMode="auto">
          <a:xfrm>
            <a:off x="317500" y="3048000"/>
            <a:ext cx="6464300" cy="317500"/>
          </a:xfrm>
          <a:prstGeom prst="rect">
            <a:avLst/>
          </a:prstGeom>
          <a:noFill/>
          <a:ln w="12700">
            <a:noFill/>
            <a:miter lim="800000"/>
            <a:headEnd/>
            <a:tailEnd/>
          </a:ln>
        </p:spPr>
        <p:txBody>
          <a:bodyPr wrap="none" lIns="63500" tIns="25400" rIns="63500" bIns="25400">
            <a:spAutoFit/>
          </a:bodyPr>
          <a:lstStyle/>
          <a:p>
            <a:pPr algn="ctr" defTabSz="762000"/>
            <a:r>
              <a:rPr lang="en-US" altLang="ko-KR" sz="1800"/>
              <a:t>Organization of memory Mapping Table in a paged system</a:t>
            </a:r>
          </a:p>
        </p:txBody>
      </p:sp>
      <p:sp>
        <p:nvSpPr>
          <p:cNvPr id="24580" name="Rectangle 4"/>
          <p:cNvSpPr>
            <a:spLocks noChangeArrowheads="1"/>
          </p:cNvSpPr>
          <p:nvPr/>
        </p:nvSpPr>
        <p:spPr bwMode="auto">
          <a:xfrm>
            <a:off x="560388" y="866775"/>
            <a:ext cx="5997575" cy="1003300"/>
          </a:xfrm>
          <a:prstGeom prst="rect">
            <a:avLst/>
          </a:prstGeom>
          <a:noFill/>
          <a:ln w="12700">
            <a:noFill/>
            <a:miter lim="800000"/>
            <a:headEnd/>
            <a:tailEnd/>
          </a:ln>
        </p:spPr>
        <p:txBody>
          <a:bodyPr lIns="90488" tIns="44450" rIns="90488" bIns="44450">
            <a:spAutoFit/>
          </a:bodyPr>
          <a:lstStyle/>
          <a:p>
            <a:pPr algn="ctr" defTabSz="762000">
              <a:lnSpc>
                <a:spcPct val="90000"/>
              </a:lnSpc>
            </a:pPr>
            <a:r>
              <a:rPr lang="en-US" altLang="ko-KR" sz="1800"/>
              <a:t>Address Space and Memory Space are each divided</a:t>
            </a:r>
          </a:p>
          <a:p>
            <a:pPr algn="ctr" defTabSz="762000">
              <a:lnSpc>
                <a:spcPct val="90000"/>
              </a:lnSpc>
            </a:pPr>
            <a:r>
              <a:rPr lang="en-US" altLang="ko-KR" sz="1800"/>
              <a:t>into fixed size group of words called </a:t>
            </a:r>
            <a:r>
              <a:rPr lang="en-US" altLang="ko-KR" sz="1800" i="1"/>
              <a:t>blocks</a:t>
            </a:r>
            <a:r>
              <a:rPr lang="en-US" altLang="ko-KR" sz="1800"/>
              <a:t>  or </a:t>
            </a:r>
            <a:r>
              <a:rPr lang="en-US" altLang="ko-KR" sz="1800" i="1"/>
              <a:t>pages</a:t>
            </a:r>
          </a:p>
          <a:p>
            <a:pPr algn="ctr" defTabSz="762000">
              <a:lnSpc>
                <a:spcPct val="90000"/>
              </a:lnSpc>
            </a:pPr>
            <a:endParaRPr lang="en-US" altLang="ko-KR" sz="1200" i="1"/>
          </a:p>
          <a:p>
            <a:pPr algn="ctr" defTabSz="762000">
              <a:lnSpc>
                <a:spcPct val="90000"/>
              </a:lnSpc>
            </a:pPr>
            <a:r>
              <a:rPr lang="en-US" altLang="ko-KR" sz="1800"/>
              <a:t>1K words group</a:t>
            </a:r>
          </a:p>
        </p:txBody>
      </p:sp>
      <p:grpSp>
        <p:nvGrpSpPr>
          <p:cNvPr id="24581" name="Group 127"/>
          <p:cNvGrpSpPr>
            <a:grpSpLocks/>
          </p:cNvGrpSpPr>
          <p:nvPr/>
        </p:nvGrpSpPr>
        <p:grpSpPr bwMode="auto">
          <a:xfrm>
            <a:off x="4745038" y="1547813"/>
            <a:ext cx="784225" cy="1587500"/>
            <a:chOff x="2989" y="975"/>
            <a:chExt cx="494" cy="1000"/>
          </a:xfrm>
        </p:grpSpPr>
        <p:sp>
          <p:nvSpPr>
            <p:cNvPr id="24683" name="Rectangle 5"/>
            <p:cNvSpPr>
              <a:spLocks noChangeArrowheads="1"/>
            </p:cNvSpPr>
            <p:nvPr/>
          </p:nvSpPr>
          <p:spPr bwMode="auto">
            <a:xfrm>
              <a:off x="3028" y="975"/>
              <a:ext cx="423"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0</a:t>
              </a:r>
            </a:p>
          </p:txBody>
        </p:sp>
        <p:sp>
          <p:nvSpPr>
            <p:cNvPr id="24684" name="Rectangle 6"/>
            <p:cNvSpPr>
              <a:spLocks noChangeArrowheads="1"/>
            </p:cNvSpPr>
            <p:nvPr/>
          </p:nvSpPr>
          <p:spPr bwMode="auto">
            <a:xfrm>
              <a:off x="2989" y="978"/>
              <a:ext cx="494" cy="123"/>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85" name="Rectangle 7"/>
            <p:cNvSpPr>
              <a:spLocks noChangeArrowheads="1"/>
            </p:cNvSpPr>
            <p:nvPr/>
          </p:nvSpPr>
          <p:spPr bwMode="auto">
            <a:xfrm>
              <a:off x="3028" y="1095"/>
              <a:ext cx="423"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1</a:t>
              </a:r>
            </a:p>
          </p:txBody>
        </p:sp>
        <p:sp>
          <p:nvSpPr>
            <p:cNvPr id="24686" name="Rectangle 8"/>
            <p:cNvSpPr>
              <a:spLocks noChangeArrowheads="1"/>
            </p:cNvSpPr>
            <p:nvPr/>
          </p:nvSpPr>
          <p:spPr bwMode="auto">
            <a:xfrm>
              <a:off x="2989" y="1097"/>
              <a:ext cx="494" cy="122"/>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87" name="Rectangle 9"/>
            <p:cNvSpPr>
              <a:spLocks noChangeArrowheads="1"/>
            </p:cNvSpPr>
            <p:nvPr/>
          </p:nvSpPr>
          <p:spPr bwMode="auto">
            <a:xfrm>
              <a:off x="3028" y="1216"/>
              <a:ext cx="423"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2</a:t>
              </a:r>
            </a:p>
          </p:txBody>
        </p:sp>
        <p:sp>
          <p:nvSpPr>
            <p:cNvPr id="24688" name="Rectangle 10"/>
            <p:cNvSpPr>
              <a:spLocks noChangeArrowheads="1"/>
            </p:cNvSpPr>
            <p:nvPr/>
          </p:nvSpPr>
          <p:spPr bwMode="auto">
            <a:xfrm>
              <a:off x="2989" y="1217"/>
              <a:ext cx="494" cy="121"/>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89" name="Rectangle 11"/>
            <p:cNvSpPr>
              <a:spLocks noChangeArrowheads="1"/>
            </p:cNvSpPr>
            <p:nvPr/>
          </p:nvSpPr>
          <p:spPr bwMode="auto">
            <a:xfrm>
              <a:off x="3028" y="1336"/>
              <a:ext cx="423"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3</a:t>
              </a:r>
            </a:p>
          </p:txBody>
        </p:sp>
        <p:sp>
          <p:nvSpPr>
            <p:cNvPr id="24690" name="Rectangle 12"/>
            <p:cNvSpPr>
              <a:spLocks noChangeArrowheads="1"/>
            </p:cNvSpPr>
            <p:nvPr/>
          </p:nvSpPr>
          <p:spPr bwMode="auto">
            <a:xfrm>
              <a:off x="2989" y="1337"/>
              <a:ext cx="494" cy="128"/>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91" name="Rectangle 13"/>
            <p:cNvSpPr>
              <a:spLocks noChangeArrowheads="1"/>
            </p:cNvSpPr>
            <p:nvPr/>
          </p:nvSpPr>
          <p:spPr bwMode="auto">
            <a:xfrm>
              <a:off x="3028" y="1456"/>
              <a:ext cx="423"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4</a:t>
              </a:r>
            </a:p>
          </p:txBody>
        </p:sp>
        <p:sp>
          <p:nvSpPr>
            <p:cNvPr id="24692" name="Rectangle 14"/>
            <p:cNvSpPr>
              <a:spLocks noChangeArrowheads="1"/>
            </p:cNvSpPr>
            <p:nvPr/>
          </p:nvSpPr>
          <p:spPr bwMode="auto">
            <a:xfrm>
              <a:off x="2989" y="1462"/>
              <a:ext cx="494" cy="117"/>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93" name="Rectangle 15"/>
            <p:cNvSpPr>
              <a:spLocks noChangeArrowheads="1"/>
            </p:cNvSpPr>
            <p:nvPr/>
          </p:nvSpPr>
          <p:spPr bwMode="auto">
            <a:xfrm>
              <a:off x="3028" y="1576"/>
              <a:ext cx="423"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5</a:t>
              </a:r>
            </a:p>
          </p:txBody>
        </p:sp>
        <p:sp>
          <p:nvSpPr>
            <p:cNvPr id="24694" name="Rectangle 16"/>
            <p:cNvSpPr>
              <a:spLocks noChangeArrowheads="1"/>
            </p:cNvSpPr>
            <p:nvPr/>
          </p:nvSpPr>
          <p:spPr bwMode="auto">
            <a:xfrm>
              <a:off x="2989" y="1577"/>
              <a:ext cx="494" cy="122"/>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95" name="Rectangle 17"/>
            <p:cNvSpPr>
              <a:spLocks noChangeArrowheads="1"/>
            </p:cNvSpPr>
            <p:nvPr/>
          </p:nvSpPr>
          <p:spPr bwMode="auto">
            <a:xfrm>
              <a:off x="3028" y="1696"/>
              <a:ext cx="423"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6</a:t>
              </a:r>
            </a:p>
          </p:txBody>
        </p:sp>
        <p:sp>
          <p:nvSpPr>
            <p:cNvPr id="24696" name="Rectangle 18"/>
            <p:cNvSpPr>
              <a:spLocks noChangeArrowheads="1"/>
            </p:cNvSpPr>
            <p:nvPr/>
          </p:nvSpPr>
          <p:spPr bwMode="auto">
            <a:xfrm>
              <a:off x="2989" y="1698"/>
              <a:ext cx="494" cy="121"/>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97" name="Rectangle 19"/>
            <p:cNvSpPr>
              <a:spLocks noChangeArrowheads="1"/>
            </p:cNvSpPr>
            <p:nvPr/>
          </p:nvSpPr>
          <p:spPr bwMode="auto">
            <a:xfrm>
              <a:off x="3028" y="1815"/>
              <a:ext cx="423"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7</a:t>
              </a:r>
            </a:p>
          </p:txBody>
        </p:sp>
        <p:sp>
          <p:nvSpPr>
            <p:cNvPr id="24698" name="Rectangle 20"/>
            <p:cNvSpPr>
              <a:spLocks noChangeArrowheads="1"/>
            </p:cNvSpPr>
            <p:nvPr/>
          </p:nvSpPr>
          <p:spPr bwMode="auto">
            <a:xfrm>
              <a:off x="2989" y="1818"/>
              <a:ext cx="494" cy="106"/>
            </a:xfrm>
            <a:prstGeom prst="rect">
              <a:avLst/>
            </a:prstGeom>
            <a:noFill/>
            <a:ln w="25400">
              <a:solidFill>
                <a:srgbClr val="000000"/>
              </a:solidFill>
              <a:miter lim="800000"/>
              <a:headEnd/>
              <a:tailEnd/>
            </a:ln>
          </p:spPr>
          <p:txBody>
            <a:bodyPr wrap="none" anchor="ctr"/>
            <a:lstStyle/>
            <a:p>
              <a:pPr algn="ctr"/>
              <a:endParaRPr lang="en-US" altLang="en-US"/>
            </a:p>
          </p:txBody>
        </p:sp>
      </p:grpSp>
      <p:grpSp>
        <p:nvGrpSpPr>
          <p:cNvPr id="24582" name="Group 128"/>
          <p:cNvGrpSpPr>
            <a:grpSpLocks/>
          </p:cNvGrpSpPr>
          <p:nvPr/>
        </p:nvGrpSpPr>
        <p:grpSpPr bwMode="auto">
          <a:xfrm>
            <a:off x="7078663" y="2016125"/>
            <a:ext cx="773112" cy="823913"/>
            <a:chOff x="4189" y="1456"/>
            <a:chExt cx="487" cy="519"/>
          </a:xfrm>
        </p:grpSpPr>
        <p:sp>
          <p:nvSpPr>
            <p:cNvPr id="24675" name="Rectangle 21"/>
            <p:cNvSpPr>
              <a:spLocks noChangeArrowheads="1"/>
            </p:cNvSpPr>
            <p:nvPr/>
          </p:nvSpPr>
          <p:spPr bwMode="auto">
            <a:xfrm>
              <a:off x="4221" y="1815"/>
              <a:ext cx="455"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Block 3</a:t>
              </a:r>
            </a:p>
          </p:txBody>
        </p:sp>
        <p:sp>
          <p:nvSpPr>
            <p:cNvPr id="24676" name="Rectangle 22"/>
            <p:cNvSpPr>
              <a:spLocks noChangeArrowheads="1"/>
            </p:cNvSpPr>
            <p:nvPr/>
          </p:nvSpPr>
          <p:spPr bwMode="auto">
            <a:xfrm>
              <a:off x="4189" y="1818"/>
              <a:ext cx="487" cy="106"/>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77" name="Rectangle 23"/>
            <p:cNvSpPr>
              <a:spLocks noChangeArrowheads="1"/>
            </p:cNvSpPr>
            <p:nvPr/>
          </p:nvSpPr>
          <p:spPr bwMode="auto">
            <a:xfrm>
              <a:off x="4221" y="1696"/>
              <a:ext cx="455"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Block 2</a:t>
              </a:r>
            </a:p>
          </p:txBody>
        </p:sp>
        <p:sp>
          <p:nvSpPr>
            <p:cNvPr id="24678" name="Rectangle 24"/>
            <p:cNvSpPr>
              <a:spLocks noChangeArrowheads="1"/>
            </p:cNvSpPr>
            <p:nvPr/>
          </p:nvSpPr>
          <p:spPr bwMode="auto">
            <a:xfrm>
              <a:off x="4189" y="1698"/>
              <a:ext cx="487" cy="121"/>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79" name="Rectangle 25"/>
            <p:cNvSpPr>
              <a:spLocks noChangeArrowheads="1"/>
            </p:cNvSpPr>
            <p:nvPr/>
          </p:nvSpPr>
          <p:spPr bwMode="auto">
            <a:xfrm>
              <a:off x="4221" y="1576"/>
              <a:ext cx="455"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Block 1</a:t>
              </a:r>
            </a:p>
          </p:txBody>
        </p:sp>
        <p:sp>
          <p:nvSpPr>
            <p:cNvPr id="24680" name="Rectangle 26"/>
            <p:cNvSpPr>
              <a:spLocks noChangeArrowheads="1"/>
            </p:cNvSpPr>
            <p:nvPr/>
          </p:nvSpPr>
          <p:spPr bwMode="auto">
            <a:xfrm>
              <a:off x="4189" y="1577"/>
              <a:ext cx="487" cy="122"/>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81" name="Rectangle 27"/>
            <p:cNvSpPr>
              <a:spLocks noChangeArrowheads="1"/>
            </p:cNvSpPr>
            <p:nvPr/>
          </p:nvSpPr>
          <p:spPr bwMode="auto">
            <a:xfrm>
              <a:off x="4221" y="1456"/>
              <a:ext cx="455" cy="16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Block 0</a:t>
              </a:r>
            </a:p>
          </p:txBody>
        </p:sp>
        <p:sp>
          <p:nvSpPr>
            <p:cNvPr id="24682" name="Rectangle 28"/>
            <p:cNvSpPr>
              <a:spLocks noChangeArrowheads="1"/>
            </p:cNvSpPr>
            <p:nvPr/>
          </p:nvSpPr>
          <p:spPr bwMode="auto">
            <a:xfrm>
              <a:off x="4189" y="1457"/>
              <a:ext cx="484" cy="122"/>
            </a:xfrm>
            <a:prstGeom prst="rect">
              <a:avLst/>
            </a:prstGeom>
            <a:noFill/>
            <a:ln w="25400">
              <a:solidFill>
                <a:srgbClr val="000000"/>
              </a:solidFill>
              <a:miter lim="800000"/>
              <a:headEnd/>
              <a:tailEnd/>
            </a:ln>
          </p:spPr>
          <p:txBody>
            <a:bodyPr wrap="none" anchor="ctr"/>
            <a:lstStyle/>
            <a:p>
              <a:pPr algn="ctr"/>
              <a:endParaRPr lang="en-US" altLang="en-US"/>
            </a:p>
          </p:txBody>
        </p:sp>
      </p:grpSp>
      <p:sp>
        <p:nvSpPr>
          <p:cNvPr id="24583" name="Rectangle 29"/>
          <p:cNvSpPr>
            <a:spLocks noChangeArrowheads="1"/>
          </p:cNvSpPr>
          <p:nvPr/>
        </p:nvSpPr>
        <p:spPr bwMode="auto">
          <a:xfrm>
            <a:off x="3367088" y="2033588"/>
            <a:ext cx="1262062"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Address space</a:t>
            </a:r>
          </a:p>
          <a:p>
            <a:pPr algn="ctr" defTabSz="762000">
              <a:lnSpc>
                <a:spcPct val="90000"/>
              </a:lnSpc>
            </a:pPr>
            <a:r>
              <a:rPr lang="en-US" altLang="ko-KR" sz="1200">
                <a:solidFill>
                  <a:srgbClr val="000000"/>
                </a:solidFill>
              </a:rPr>
              <a:t>N = 8K = 2</a:t>
            </a:r>
            <a:r>
              <a:rPr lang="en-US" altLang="ko-KR" sz="1200" baseline="30000">
                <a:solidFill>
                  <a:srgbClr val="000000"/>
                </a:solidFill>
              </a:rPr>
              <a:t>13</a:t>
            </a:r>
            <a:endParaRPr lang="en-US" altLang="ko-KR" sz="1200">
              <a:solidFill>
                <a:srgbClr val="000000"/>
              </a:solidFill>
            </a:endParaRPr>
          </a:p>
        </p:txBody>
      </p:sp>
      <p:sp>
        <p:nvSpPr>
          <p:cNvPr id="24584" name="Rectangle 31"/>
          <p:cNvSpPr>
            <a:spLocks noChangeArrowheads="1"/>
          </p:cNvSpPr>
          <p:nvPr/>
        </p:nvSpPr>
        <p:spPr bwMode="auto">
          <a:xfrm>
            <a:off x="5805488" y="2074863"/>
            <a:ext cx="1236662"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Memory space</a:t>
            </a:r>
          </a:p>
          <a:p>
            <a:pPr algn="ctr" defTabSz="762000">
              <a:lnSpc>
                <a:spcPct val="90000"/>
              </a:lnSpc>
            </a:pPr>
            <a:r>
              <a:rPr lang="en-US" altLang="ko-KR" sz="1200">
                <a:solidFill>
                  <a:srgbClr val="000000"/>
                </a:solidFill>
              </a:rPr>
              <a:t>M = 4K = 2</a:t>
            </a:r>
            <a:r>
              <a:rPr lang="en-US" altLang="ko-KR" sz="1200" baseline="30000">
                <a:solidFill>
                  <a:srgbClr val="000000"/>
                </a:solidFill>
              </a:rPr>
              <a:t>12</a:t>
            </a:r>
            <a:endParaRPr lang="en-US" altLang="ko-KR" sz="1200">
              <a:solidFill>
                <a:srgbClr val="000000"/>
              </a:solidFill>
            </a:endParaRPr>
          </a:p>
        </p:txBody>
      </p:sp>
      <p:sp>
        <p:nvSpPr>
          <p:cNvPr id="24585" name="Rectangle 35"/>
          <p:cNvSpPr>
            <a:spLocks noChangeArrowheads="1"/>
          </p:cNvSpPr>
          <p:nvPr/>
        </p:nvSpPr>
        <p:spPr bwMode="auto">
          <a:xfrm>
            <a:off x="2894013" y="4324350"/>
            <a:ext cx="1047750" cy="196850"/>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586" name="Line 36"/>
          <p:cNvSpPr>
            <a:spLocks noChangeShapeType="1"/>
          </p:cNvSpPr>
          <p:nvPr/>
        </p:nvSpPr>
        <p:spPr bwMode="auto">
          <a:xfrm>
            <a:off x="3695700" y="4324350"/>
            <a:ext cx="0" cy="188913"/>
          </a:xfrm>
          <a:prstGeom prst="line">
            <a:avLst/>
          </a:prstGeom>
          <a:noFill/>
          <a:ln w="25400">
            <a:solidFill>
              <a:srgbClr val="000000"/>
            </a:solidFill>
            <a:round/>
            <a:headEnd/>
            <a:tailEnd/>
          </a:ln>
        </p:spPr>
        <p:txBody>
          <a:bodyPr wrap="none" anchor="ctr"/>
          <a:lstStyle/>
          <a:p>
            <a:endParaRPr lang="en-IN"/>
          </a:p>
        </p:txBody>
      </p:sp>
      <p:sp>
        <p:nvSpPr>
          <p:cNvPr id="24587" name="Rectangle 37"/>
          <p:cNvSpPr>
            <a:spLocks noChangeArrowheads="1"/>
          </p:cNvSpPr>
          <p:nvPr/>
        </p:nvSpPr>
        <p:spPr bwMode="auto">
          <a:xfrm>
            <a:off x="3684588" y="4321175"/>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a:t>
            </a:r>
          </a:p>
        </p:txBody>
      </p:sp>
      <p:sp>
        <p:nvSpPr>
          <p:cNvPr id="24588" name="Rectangle 38"/>
          <p:cNvSpPr>
            <a:spLocks noChangeArrowheads="1"/>
          </p:cNvSpPr>
          <p:nvPr/>
        </p:nvSpPr>
        <p:spPr bwMode="auto">
          <a:xfrm>
            <a:off x="2301875" y="4292600"/>
            <a:ext cx="43338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000</a:t>
            </a:r>
          </a:p>
        </p:txBody>
      </p:sp>
      <p:sp>
        <p:nvSpPr>
          <p:cNvPr id="24589" name="Rectangle 39"/>
          <p:cNvSpPr>
            <a:spLocks noChangeArrowheads="1"/>
          </p:cNvSpPr>
          <p:nvPr/>
        </p:nvSpPr>
        <p:spPr bwMode="auto">
          <a:xfrm>
            <a:off x="2894013" y="4516438"/>
            <a:ext cx="1047750" cy="192087"/>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590" name="Line 40"/>
          <p:cNvSpPr>
            <a:spLocks noChangeShapeType="1"/>
          </p:cNvSpPr>
          <p:nvPr/>
        </p:nvSpPr>
        <p:spPr bwMode="auto">
          <a:xfrm>
            <a:off x="3695700" y="4516438"/>
            <a:ext cx="0" cy="188912"/>
          </a:xfrm>
          <a:prstGeom prst="line">
            <a:avLst/>
          </a:prstGeom>
          <a:noFill/>
          <a:ln w="25400">
            <a:solidFill>
              <a:srgbClr val="000000"/>
            </a:solidFill>
            <a:round/>
            <a:headEnd/>
            <a:tailEnd/>
          </a:ln>
        </p:spPr>
        <p:txBody>
          <a:bodyPr wrap="none" anchor="ctr"/>
          <a:lstStyle/>
          <a:p>
            <a:endParaRPr lang="en-IN"/>
          </a:p>
        </p:txBody>
      </p:sp>
      <p:sp>
        <p:nvSpPr>
          <p:cNvPr id="24591" name="Rectangle 41"/>
          <p:cNvSpPr>
            <a:spLocks noChangeArrowheads="1"/>
          </p:cNvSpPr>
          <p:nvPr/>
        </p:nvSpPr>
        <p:spPr bwMode="auto">
          <a:xfrm>
            <a:off x="3684588" y="4513263"/>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a:t>
            </a:r>
          </a:p>
        </p:txBody>
      </p:sp>
      <p:sp>
        <p:nvSpPr>
          <p:cNvPr id="24592" name="Rectangle 42"/>
          <p:cNvSpPr>
            <a:spLocks noChangeArrowheads="1"/>
          </p:cNvSpPr>
          <p:nvPr/>
        </p:nvSpPr>
        <p:spPr bwMode="auto">
          <a:xfrm>
            <a:off x="2301875" y="4494213"/>
            <a:ext cx="43338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001</a:t>
            </a:r>
          </a:p>
        </p:txBody>
      </p:sp>
      <p:sp>
        <p:nvSpPr>
          <p:cNvPr id="24593" name="Rectangle 43"/>
          <p:cNvSpPr>
            <a:spLocks noChangeArrowheads="1"/>
          </p:cNvSpPr>
          <p:nvPr/>
        </p:nvSpPr>
        <p:spPr bwMode="auto">
          <a:xfrm>
            <a:off x="2894013" y="4708525"/>
            <a:ext cx="1047750" cy="196850"/>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594" name="Line 44"/>
          <p:cNvSpPr>
            <a:spLocks noChangeShapeType="1"/>
          </p:cNvSpPr>
          <p:nvPr/>
        </p:nvSpPr>
        <p:spPr bwMode="auto">
          <a:xfrm>
            <a:off x="3695700" y="4708525"/>
            <a:ext cx="0" cy="192088"/>
          </a:xfrm>
          <a:prstGeom prst="line">
            <a:avLst/>
          </a:prstGeom>
          <a:noFill/>
          <a:ln w="25400">
            <a:solidFill>
              <a:srgbClr val="000000"/>
            </a:solidFill>
            <a:round/>
            <a:headEnd/>
            <a:tailEnd/>
          </a:ln>
        </p:spPr>
        <p:txBody>
          <a:bodyPr wrap="none" anchor="ctr"/>
          <a:lstStyle/>
          <a:p>
            <a:endParaRPr lang="en-IN"/>
          </a:p>
        </p:txBody>
      </p:sp>
      <p:sp>
        <p:nvSpPr>
          <p:cNvPr id="24595" name="Rectangle 45"/>
          <p:cNvSpPr>
            <a:spLocks noChangeArrowheads="1"/>
          </p:cNvSpPr>
          <p:nvPr/>
        </p:nvSpPr>
        <p:spPr bwMode="auto">
          <a:xfrm>
            <a:off x="3684588" y="4705350"/>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a:t>
            </a:r>
          </a:p>
        </p:txBody>
      </p:sp>
      <p:sp>
        <p:nvSpPr>
          <p:cNvPr id="24596" name="Rectangle 46"/>
          <p:cNvSpPr>
            <a:spLocks noChangeArrowheads="1"/>
          </p:cNvSpPr>
          <p:nvPr/>
        </p:nvSpPr>
        <p:spPr bwMode="auto">
          <a:xfrm>
            <a:off x="2301875" y="4695825"/>
            <a:ext cx="43338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010</a:t>
            </a:r>
          </a:p>
        </p:txBody>
      </p:sp>
      <p:sp>
        <p:nvSpPr>
          <p:cNvPr id="24597" name="Rectangle 47"/>
          <p:cNvSpPr>
            <a:spLocks noChangeArrowheads="1"/>
          </p:cNvSpPr>
          <p:nvPr/>
        </p:nvSpPr>
        <p:spPr bwMode="auto">
          <a:xfrm>
            <a:off x="2894013" y="4903788"/>
            <a:ext cx="1047750" cy="193675"/>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598" name="Line 48"/>
          <p:cNvSpPr>
            <a:spLocks noChangeShapeType="1"/>
          </p:cNvSpPr>
          <p:nvPr/>
        </p:nvSpPr>
        <p:spPr bwMode="auto">
          <a:xfrm>
            <a:off x="3695700" y="4903788"/>
            <a:ext cx="0" cy="180975"/>
          </a:xfrm>
          <a:prstGeom prst="line">
            <a:avLst/>
          </a:prstGeom>
          <a:noFill/>
          <a:ln w="25400">
            <a:solidFill>
              <a:srgbClr val="000000"/>
            </a:solidFill>
            <a:round/>
            <a:headEnd/>
            <a:tailEnd/>
          </a:ln>
        </p:spPr>
        <p:txBody>
          <a:bodyPr wrap="none" anchor="ctr"/>
          <a:lstStyle/>
          <a:p>
            <a:endParaRPr lang="en-IN"/>
          </a:p>
        </p:txBody>
      </p:sp>
      <p:sp>
        <p:nvSpPr>
          <p:cNvPr id="24599" name="Rectangle 49"/>
          <p:cNvSpPr>
            <a:spLocks noChangeArrowheads="1"/>
          </p:cNvSpPr>
          <p:nvPr/>
        </p:nvSpPr>
        <p:spPr bwMode="auto">
          <a:xfrm>
            <a:off x="3684588" y="4897438"/>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a:t>
            </a:r>
          </a:p>
        </p:txBody>
      </p:sp>
      <p:sp>
        <p:nvSpPr>
          <p:cNvPr id="24600" name="Rectangle 50"/>
          <p:cNvSpPr>
            <a:spLocks noChangeArrowheads="1"/>
          </p:cNvSpPr>
          <p:nvPr/>
        </p:nvSpPr>
        <p:spPr bwMode="auto">
          <a:xfrm>
            <a:off x="2301875" y="4897438"/>
            <a:ext cx="43338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011</a:t>
            </a:r>
          </a:p>
        </p:txBody>
      </p:sp>
      <p:sp>
        <p:nvSpPr>
          <p:cNvPr id="24601" name="Rectangle 51"/>
          <p:cNvSpPr>
            <a:spLocks noChangeArrowheads="1"/>
          </p:cNvSpPr>
          <p:nvPr/>
        </p:nvSpPr>
        <p:spPr bwMode="auto">
          <a:xfrm>
            <a:off x="2894013" y="5095875"/>
            <a:ext cx="1047750" cy="188913"/>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02" name="Line 52"/>
          <p:cNvSpPr>
            <a:spLocks noChangeShapeType="1"/>
          </p:cNvSpPr>
          <p:nvPr/>
        </p:nvSpPr>
        <p:spPr bwMode="auto">
          <a:xfrm>
            <a:off x="3695700" y="5095875"/>
            <a:ext cx="0" cy="185738"/>
          </a:xfrm>
          <a:prstGeom prst="line">
            <a:avLst/>
          </a:prstGeom>
          <a:noFill/>
          <a:ln w="25400">
            <a:solidFill>
              <a:srgbClr val="000000"/>
            </a:solidFill>
            <a:round/>
            <a:headEnd/>
            <a:tailEnd/>
          </a:ln>
        </p:spPr>
        <p:txBody>
          <a:bodyPr wrap="none" anchor="ctr"/>
          <a:lstStyle/>
          <a:p>
            <a:endParaRPr lang="en-IN"/>
          </a:p>
        </p:txBody>
      </p:sp>
      <p:sp>
        <p:nvSpPr>
          <p:cNvPr id="24603" name="Rectangle 53"/>
          <p:cNvSpPr>
            <a:spLocks noChangeArrowheads="1"/>
          </p:cNvSpPr>
          <p:nvPr/>
        </p:nvSpPr>
        <p:spPr bwMode="auto">
          <a:xfrm>
            <a:off x="3684588" y="5089525"/>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a:t>
            </a:r>
          </a:p>
        </p:txBody>
      </p:sp>
      <p:sp>
        <p:nvSpPr>
          <p:cNvPr id="24604" name="Rectangle 54"/>
          <p:cNvSpPr>
            <a:spLocks noChangeArrowheads="1"/>
          </p:cNvSpPr>
          <p:nvPr/>
        </p:nvSpPr>
        <p:spPr bwMode="auto">
          <a:xfrm>
            <a:off x="2301875" y="5070475"/>
            <a:ext cx="43338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100</a:t>
            </a:r>
          </a:p>
        </p:txBody>
      </p:sp>
      <p:sp>
        <p:nvSpPr>
          <p:cNvPr id="24605" name="Rectangle 55"/>
          <p:cNvSpPr>
            <a:spLocks noChangeArrowheads="1"/>
          </p:cNvSpPr>
          <p:nvPr/>
        </p:nvSpPr>
        <p:spPr bwMode="auto">
          <a:xfrm>
            <a:off x="2894013" y="5287963"/>
            <a:ext cx="1047750" cy="193675"/>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06" name="Line 56"/>
          <p:cNvSpPr>
            <a:spLocks noChangeShapeType="1"/>
          </p:cNvSpPr>
          <p:nvPr/>
        </p:nvSpPr>
        <p:spPr bwMode="auto">
          <a:xfrm>
            <a:off x="3695700" y="5287963"/>
            <a:ext cx="0" cy="203200"/>
          </a:xfrm>
          <a:prstGeom prst="line">
            <a:avLst/>
          </a:prstGeom>
          <a:noFill/>
          <a:ln w="25400">
            <a:solidFill>
              <a:srgbClr val="000000"/>
            </a:solidFill>
            <a:round/>
            <a:headEnd/>
            <a:tailEnd/>
          </a:ln>
        </p:spPr>
        <p:txBody>
          <a:bodyPr wrap="none" anchor="ctr"/>
          <a:lstStyle/>
          <a:p>
            <a:endParaRPr lang="en-IN"/>
          </a:p>
        </p:txBody>
      </p:sp>
      <p:sp>
        <p:nvSpPr>
          <p:cNvPr id="24607" name="Rectangle 57"/>
          <p:cNvSpPr>
            <a:spLocks noChangeArrowheads="1"/>
          </p:cNvSpPr>
          <p:nvPr/>
        </p:nvSpPr>
        <p:spPr bwMode="auto">
          <a:xfrm>
            <a:off x="3684588" y="5283200"/>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a:t>
            </a:r>
          </a:p>
        </p:txBody>
      </p:sp>
      <p:sp>
        <p:nvSpPr>
          <p:cNvPr id="24608" name="Rectangle 58"/>
          <p:cNvSpPr>
            <a:spLocks noChangeArrowheads="1"/>
          </p:cNvSpPr>
          <p:nvPr/>
        </p:nvSpPr>
        <p:spPr bwMode="auto">
          <a:xfrm>
            <a:off x="2301875" y="5264150"/>
            <a:ext cx="43338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101</a:t>
            </a:r>
          </a:p>
        </p:txBody>
      </p:sp>
      <p:sp>
        <p:nvSpPr>
          <p:cNvPr id="24609" name="Rectangle 59"/>
          <p:cNvSpPr>
            <a:spLocks noChangeArrowheads="1"/>
          </p:cNvSpPr>
          <p:nvPr/>
        </p:nvSpPr>
        <p:spPr bwMode="auto">
          <a:xfrm>
            <a:off x="2894013" y="5480050"/>
            <a:ext cx="1047750" cy="195263"/>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10" name="Line 60"/>
          <p:cNvSpPr>
            <a:spLocks noChangeShapeType="1"/>
          </p:cNvSpPr>
          <p:nvPr/>
        </p:nvSpPr>
        <p:spPr bwMode="auto">
          <a:xfrm>
            <a:off x="3695700" y="5480050"/>
            <a:ext cx="0" cy="192088"/>
          </a:xfrm>
          <a:prstGeom prst="line">
            <a:avLst/>
          </a:prstGeom>
          <a:noFill/>
          <a:ln w="25400">
            <a:solidFill>
              <a:srgbClr val="000000"/>
            </a:solidFill>
            <a:round/>
            <a:headEnd/>
            <a:tailEnd/>
          </a:ln>
        </p:spPr>
        <p:txBody>
          <a:bodyPr wrap="none" anchor="ctr"/>
          <a:lstStyle/>
          <a:p>
            <a:endParaRPr lang="en-IN"/>
          </a:p>
        </p:txBody>
      </p:sp>
      <p:sp>
        <p:nvSpPr>
          <p:cNvPr id="24611" name="Rectangle 61"/>
          <p:cNvSpPr>
            <a:spLocks noChangeArrowheads="1"/>
          </p:cNvSpPr>
          <p:nvPr/>
        </p:nvSpPr>
        <p:spPr bwMode="auto">
          <a:xfrm>
            <a:off x="3684588" y="5475288"/>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a:t>
            </a:r>
          </a:p>
        </p:txBody>
      </p:sp>
      <p:sp>
        <p:nvSpPr>
          <p:cNvPr id="24612" name="Rectangle 62"/>
          <p:cNvSpPr>
            <a:spLocks noChangeArrowheads="1"/>
          </p:cNvSpPr>
          <p:nvPr/>
        </p:nvSpPr>
        <p:spPr bwMode="auto">
          <a:xfrm>
            <a:off x="2301875" y="5465763"/>
            <a:ext cx="43338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110</a:t>
            </a:r>
          </a:p>
        </p:txBody>
      </p:sp>
      <p:sp>
        <p:nvSpPr>
          <p:cNvPr id="24613" name="Rectangle 63"/>
          <p:cNvSpPr>
            <a:spLocks noChangeArrowheads="1"/>
          </p:cNvSpPr>
          <p:nvPr/>
        </p:nvSpPr>
        <p:spPr bwMode="auto">
          <a:xfrm>
            <a:off x="2894013" y="5672138"/>
            <a:ext cx="1047750" cy="169862"/>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14" name="Line 64"/>
          <p:cNvSpPr>
            <a:spLocks noChangeShapeType="1"/>
          </p:cNvSpPr>
          <p:nvPr/>
        </p:nvSpPr>
        <p:spPr bwMode="auto">
          <a:xfrm>
            <a:off x="3695700" y="5672138"/>
            <a:ext cx="0" cy="169862"/>
          </a:xfrm>
          <a:prstGeom prst="line">
            <a:avLst/>
          </a:prstGeom>
          <a:noFill/>
          <a:ln w="25400">
            <a:solidFill>
              <a:srgbClr val="000000"/>
            </a:solidFill>
            <a:round/>
            <a:headEnd/>
            <a:tailEnd/>
          </a:ln>
        </p:spPr>
        <p:txBody>
          <a:bodyPr wrap="none" anchor="ctr"/>
          <a:lstStyle/>
          <a:p>
            <a:endParaRPr lang="en-IN"/>
          </a:p>
        </p:txBody>
      </p:sp>
      <p:sp>
        <p:nvSpPr>
          <p:cNvPr id="24615" name="Rectangle 65"/>
          <p:cNvSpPr>
            <a:spLocks noChangeArrowheads="1"/>
          </p:cNvSpPr>
          <p:nvPr/>
        </p:nvSpPr>
        <p:spPr bwMode="auto">
          <a:xfrm>
            <a:off x="3684588" y="5667375"/>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a:t>
            </a:r>
          </a:p>
        </p:txBody>
      </p:sp>
      <p:sp>
        <p:nvSpPr>
          <p:cNvPr id="24616" name="Rectangle 66"/>
          <p:cNvSpPr>
            <a:spLocks noChangeArrowheads="1"/>
          </p:cNvSpPr>
          <p:nvPr/>
        </p:nvSpPr>
        <p:spPr bwMode="auto">
          <a:xfrm>
            <a:off x="2301875" y="5648325"/>
            <a:ext cx="43338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111</a:t>
            </a:r>
          </a:p>
        </p:txBody>
      </p:sp>
      <p:sp>
        <p:nvSpPr>
          <p:cNvPr id="24617" name="Rectangle 67"/>
          <p:cNvSpPr>
            <a:spLocks noChangeArrowheads="1"/>
          </p:cNvSpPr>
          <p:nvPr/>
        </p:nvSpPr>
        <p:spPr bwMode="auto">
          <a:xfrm>
            <a:off x="2894013" y="6180138"/>
            <a:ext cx="1047750" cy="188912"/>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18" name="Line 68"/>
          <p:cNvSpPr>
            <a:spLocks noChangeShapeType="1"/>
          </p:cNvSpPr>
          <p:nvPr/>
        </p:nvSpPr>
        <p:spPr bwMode="auto">
          <a:xfrm>
            <a:off x="3695700" y="6180138"/>
            <a:ext cx="0" cy="180975"/>
          </a:xfrm>
          <a:prstGeom prst="line">
            <a:avLst/>
          </a:prstGeom>
          <a:noFill/>
          <a:ln w="25400">
            <a:solidFill>
              <a:srgbClr val="000000"/>
            </a:solidFill>
            <a:round/>
            <a:headEnd/>
            <a:tailEnd/>
          </a:ln>
        </p:spPr>
        <p:txBody>
          <a:bodyPr wrap="none" anchor="ctr"/>
          <a:lstStyle/>
          <a:p>
            <a:endParaRPr lang="en-IN"/>
          </a:p>
        </p:txBody>
      </p:sp>
      <p:sp>
        <p:nvSpPr>
          <p:cNvPr id="24619" name="Rectangle 69"/>
          <p:cNvSpPr>
            <a:spLocks noChangeArrowheads="1"/>
          </p:cNvSpPr>
          <p:nvPr/>
        </p:nvSpPr>
        <p:spPr bwMode="auto">
          <a:xfrm>
            <a:off x="3684588" y="6178550"/>
            <a:ext cx="265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a:t>
            </a:r>
          </a:p>
        </p:txBody>
      </p:sp>
      <p:sp>
        <p:nvSpPr>
          <p:cNvPr id="24620" name="Rectangle 70"/>
          <p:cNvSpPr>
            <a:spLocks noChangeArrowheads="1"/>
          </p:cNvSpPr>
          <p:nvPr/>
        </p:nvSpPr>
        <p:spPr bwMode="auto">
          <a:xfrm>
            <a:off x="4975225" y="4903788"/>
            <a:ext cx="1733550" cy="187325"/>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21" name="Line 71"/>
          <p:cNvSpPr>
            <a:spLocks noChangeShapeType="1"/>
          </p:cNvSpPr>
          <p:nvPr/>
        </p:nvSpPr>
        <p:spPr bwMode="auto">
          <a:xfrm>
            <a:off x="5316538" y="4903788"/>
            <a:ext cx="0" cy="215900"/>
          </a:xfrm>
          <a:prstGeom prst="line">
            <a:avLst/>
          </a:prstGeom>
          <a:noFill/>
          <a:ln w="25400">
            <a:solidFill>
              <a:srgbClr val="000000"/>
            </a:solidFill>
            <a:round/>
            <a:headEnd/>
            <a:tailEnd/>
          </a:ln>
        </p:spPr>
        <p:txBody>
          <a:bodyPr wrap="none" anchor="ctr"/>
          <a:lstStyle/>
          <a:p>
            <a:endParaRPr lang="en-IN"/>
          </a:p>
        </p:txBody>
      </p:sp>
      <p:sp>
        <p:nvSpPr>
          <p:cNvPr id="24622" name="Rectangle 72"/>
          <p:cNvSpPr>
            <a:spLocks noChangeArrowheads="1"/>
          </p:cNvSpPr>
          <p:nvPr/>
        </p:nvSpPr>
        <p:spPr bwMode="auto">
          <a:xfrm>
            <a:off x="7499350" y="4506913"/>
            <a:ext cx="954088" cy="196850"/>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23" name="Rectangle 73"/>
          <p:cNvSpPr>
            <a:spLocks noChangeArrowheads="1"/>
          </p:cNvSpPr>
          <p:nvPr/>
        </p:nvSpPr>
        <p:spPr bwMode="auto">
          <a:xfrm>
            <a:off x="7561263" y="4484688"/>
            <a:ext cx="7223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Block 0</a:t>
            </a:r>
          </a:p>
        </p:txBody>
      </p:sp>
      <p:sp>
        <p:nvSpPr>
          <p:cNvPr id="24624" name="Rectangle 74"/>
          <p:cNvSpPr>
            <a:spLocks noChangeArrowheads="1"/>
          </p:cNvSpPr>
          <p:nvPr/>
        </p:nvSpPr>
        <p:spPr bwMode="auto">
          <a:xfrm>
            <a:off x="7499350" y="4708525"/>
            <a:ext cx="954088" cy="196850"/>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25" name="Rectangle 75"/>
          <p:cNvSpPr>
            <a:spLocks noChangeArrowheads="1"/>
          </p:cNvSpPr>
          <p:nvPr/>
        </p:nvSpPr>
        <p:spPr bwMode="auto">
          <a:xfrm>
            <a:off x="7561263" y="4686300"/>
            <a:ext cx="7223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Block 1</a:t>
            </a:r>
          </a:p>
        </p:txBody>
      </p:sp>
      <p:sp>
        <p:nvSpPr>
          <p:cNvPr id="24626" name="Rectangle 76"/>
          <p:cNvSpPr>
            <a:spLocks noChangeArrowheads="1"/>
          </p:cNvSpPr>
          <p:nvPr/>
        </p:nvSpPr>
        <p:spPr bwMode="auto">
          <a:xfrm>
            <a:off x="7499350" y="4903788"/>
            <a:ext cx="954088" cy="188912"/>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27" name="Rectangle 77"/>
          <p:cNvSpPr>
            <a:spLocks noChangeArrowheads="1"/>
          </p:cNvSpPr>
          <p:nvPr/>
        </p:nvSpPr>
        <p:spPr bwMode="auto">
          <a:xfrm>
            <a:off x="7561263" y="4887913"/>
            <a:ext cx="7223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Block 2</a:t>
            </a:r>
          </a:p>
        </p:txBody>
      </p:sp>
      <p:sp>
        <p:nvSpPr>
          <p:cNvPr id="24628" name="Rectangle 78"/>
          <p:cNvSpPr>
            <a:spLocks noChangeArrowheads="1"/>
          </p:cNvSpPr>
          <p:nvPr/>
        </p:nvSpPr>
        <p:spPr bwMode="auto">
          <a:xfrm>
            <a:off x="7499350" y="5095875"/>
            <a:ext cx="954088" cy="168275"/>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29" name="Rectangle 79"/>
          <p:cNvSpPr>
            <a:spLocks noChangeArrowheads="1"/>
          </p:cNvSpPr>
          <p:nvPr/>
        </p:nvSpPr>
        <p:spPr bwMode="auto">
          <a:xfrm>
            <a:off x="7561263" y="5089525"/>
            <a:ext cx="7223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Block 3</a:t>
            </a:r>
          </a:p>
        </p:txBody>
      </p:sp>
      <p:sp>
        <p:nvSpPr>
          <p:cNvPr id="24630" name="Rectangle 80"/>
          <p:cNvSpPr>
            <a:spLocks noChangeArrowheads="1"/>
          </p:cNvSpPr>
          <p:nvPr/>
        </p:nvSpPr>
        <p:spPr bwMode="auto">
          <a:xfrm>
            <a:off x="7499350" y="5603875"/>
            <a:ext cx="963613" cy="198438"/>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31" name="Rectangle 81"/>
          <p:cNvSpPr>
            <a:spLocks noChangeArrowheads="1"/>
          </p:cNvSpPr>
          <p:nvPr/>
        </p:nvSpPr>
        <p:spPr bwMode="auto">
          <a:xfrm>
            <a:off x="7658100" y="5602288"/>
            <a:ext cx="5270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MBR</a:t>
            </a:r>
          </a:p>
        </p:txBody>
      </p:sp>
      <p:sp>
        <p:nvSpPr>
          <p:cNvPr id="24632" name="Rectangle 82"/>
          <p:cNvSpPr>
            <a:spLocks noChangeArrowheads="1"/>
          </p:cNvSpPr>
          <p:nvPr/>
        </p:nvSpPr>
        <p:spPr bwMode="auto">
          <a:xfrm>
            <a:off x="4940300" y="4897438"/>
            <a:ext cx="392113"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0 1</a:t>
            </a:r>
          </a:p>
        </p:txBody>
      </p:sp>
      <p:sp>
        <p:nvSpPr>
          <p:cNvPr id="24633" name="Rectangle 83"/>
          <p:cNvSpPr>
            <a:spLocks noChangeArrowheads="1"/>
          </p:cNvSpPr>
          <p:nvPr/>
        </p:nvSpPr>
        <p:spPr bwMode="auto">
          <a:xfrm>
            <a:off x="5364163" y="4897438"/>
            <a:ext cx="1408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0 1 0 1 0 1 0 0 1 1</a:t>
            </a:r>
          </a:p>
        </p:txBody>
      </p:sp>
      <p:sp>
        <p:nvSpPr>
          <p:cNvPr id="24634" name="Rectangle 84"/>
          <p:cNvSpPr>
            <a:spLocks noChangeArrowheads="1"/>
          </p:cNvSpPr>
          <p:nvPr/>
        </p:nvSpPr>
        <p:spPr bwMode="auto">
          <a:xfrm>
            <a:off x="2894013" y="3678238"/>
            <a:ext cx="3128962" cy="171450"/>
          </a:xfrm>
          <a:prstGeom prst="rect">
            <a:avLst/>
          </a:prstGeom>
          <a:noFill/>
          <a:ln w="25400">
            <a:solidFill>
              <a:srgbClr val="000000"/>
            </a:solidFill>
            <a:miter lim="800000"/>
            <a:headEnd/>
            <a:tailEnd/>
          </a:ln>
        </p:spPr>
        <p:txBody>
          <a:bodyPr wrap="none" anchor="ctr"/>
          <a:lstStyle/>
          <a:p>
            <a:pPr algn="ctr"/>
            <a:endParaRPr lang="en-US" altLang="en-US"/>
          </a:p>
        </p:txBody>
      </p:sp>
      <p:sp>
        <p:nvSpPr>
          <p:cNvPr id="24635" name="Rectangle 85"/>
          <p:cNvSpPr>
            <a:spLocks noChangeArrowheads="1"/>
          </p:cNvSpPr>
          <p:nvPr/>
        </p:nvSpPr>
        <p:spPr bwMode="auto">
          <a:xfrm>
            <a:off x="2971800" y="3648075"/>
            <a:ext cx="604838"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1  0  1</a:t>
            </a:r>
          </a:p>
        </p:txBody>
      </p:sp>
      <p:sp>
        <p:nvSpPr>
          <p:cNvPr id="24636" name="Line 86"/>
          <p:cNvSpPr>
            <a:spLocks noChangeShapeType="1"/>
          </p:cNvSpPr>
          <p:nvPr/>
        </p:nvSpPr>
        <p:spPr bwMode="auto">
          <a:xfrm flipV="1">
            <a:off x="3695700" y="3690938"/>
            <a:ext cx="0" cy="171450"/>
          </a:xfrm>
          <a:prstGeom prst="line">
            <a:avLst/>
          </a:prstGeom>
          <a:noFill/>
          <a:ln w="25400">
            <a:solidFill>
              <a:srgbClr val="000000"/>
            </a:solidFill>
            <a:round/>
            <a:headEnd/>
            <a:tailEnd/>
          </a:ln>
        </p:spPr>
        <p:txBody>
          <a:bodyPr wrap="none" anchor="ctr"/>
          <a:lstStyle/>
          <a:p>
            <a:endParaRPr lang="en-IN"/>
          </a:p>
        </p:txBody>
      </p:sp>
      <p:sp>
        <p:nvSpPr>
          <p:cNvPr id="24637" name="Rectangle 87"/>
          <p:cNvSpPr>
            <a:spLocks noChangeArrowheads="1"/>
          </p:cNvSpPr>
          <p:nvPr/>
        </p:nvSpPr>
        <p:spPr bwMode="auto">
          <a:xfrm>
            <a:off x="3781425" y="3648075"/>
            <a:ext cx="1793875"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0  1  0  1  0  1  0  0  1  1</a:t>
            </a:r>
          </a:p>
        </p:txBody>
      </p:sp>
      <p:sp>
        <p:nvSpPr>
          <p:cNvPr id="24638" name="Rectangle 88"/>
          <p:cNvSpPr>
            <a:spLocks noChangeArrowheads="1"/>
          </p:cNvSpPr>
          <p:nvPr/>
        </p:nvSpPr>
        <p:spPr bwMode="auto">
          <a:xfrm>
            <a:off x="1620838" y="3994150"/>
            <a:ext cx="579437"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Table</a:t>
            </a:r>
          </a:p>
          <a:p>
            <a:pPr algn="ctr" defTabSz="762000" eaLnBrk="1">
              <a:lnSpc>
                <a:spcPct val="90000"/>
              </a:lnSpc>
            </a:pPr>
            <a:endParaRPr lang="en-US" altLang="ko-KR" sz="1200">
              <a:solidFill>
                <a:srgbClr val="000000"/>
              </a:solidFill>
            </a:endParaRPr>
          </a:p>
        </p:txBody>
      </p:sp>
      <p:sp>
        <p:nvSpPr>
          <p:cNvPr id="24639" name="Rectangle 89"/>
          <p:cNvSpPr>
            <a:spLocks noChangeArrowheads="1"/>
          </p:cNvSpPr>
          <p:nvPr/>
        </p:nvSpPr>
        <p:spPr bwMode="auto">
          <a:xfrm>
            <a:off x="1620838" y="4152900"/>
            <a:ext cx="763587"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address</a:t>
            </a:r>
          </a:p>
        </p:txBody>
      </p:sp>
      <p:sp>
        <p:nvSpPr>
          <p:cNvPr id="24640" name="Arc 90"/>
          <p:cNvSpPr>
            <a:spLocks/>
          </p:cNvSpPr>
          <p:nvPr/>
        </p:nvSpPr>
        <p:spPr bwMode="auto">
          <a:xfrm>
            <a:off x="2476500" y="4202113"/>
            <a:ext cx="122238"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4641" name="Freeform 91"/>
          <p:cNvSpPr>
            <a:spLocks/>
          </p:cNvSpPr>
          <p:nvPr/>
        </p:nvSpPr>
        <p:spPr bwMode="auto">
          <a:xfrm>
            <a:off x="2528888" y="4052888"/>
            <a:ext cx="811212" cy="171450"/>
          </a:xfrm>
          <a:custGeom>
            <a:avLst/>
            <a:gdLst>
              <a:gd name="T0" fmla="*/ 0 w 409"/>
              <a:gd name="T1" fmla="*/ 2147483646 h 121"/>
              <a:gd name="T2" fmla="*/ 0 w 409"/>
              <a:gd name="T3" fmla="*/ 0 h 121"/>
              <a:gd name="T4" fmla="*/ 2147483646 w 409"/>
              <a:gd name="T5" fmla="*/ 0 h 121"/>
              <a:gd name="T6" fmla="*/ 0 60000 65536"/>
              <a:gd name="T7" fmla="*/ 0 60000 65536"/>
              <a:gd name="T8" fmla="*/ 0 60000 65536"/>
              <a:gd name="T9" fmla="*/ 0 w 409"/>
              <a:gd name="T10" fmla="*/ 0 h 121"/>
              <a:gd name="T11" fmla="*/ 409 w 409"/>
              <a:gd name="T12" fmla="*/ 121 h 121"/>
            </a:gdLst>
            <a:ahLst/>
            <a:cxnLst>
              <a:cxn ang="T6">
                <a:pos x="T0" y="T1"/>
              </a:cxn>
              <a:cxn ang="T7">
                <a:pos x="T2" y="T3"/>
              </a:cxn>
              <a:cxn ang="T8">
                <a:pos x="T4" y="T5"/>
              </a:cxn>
            </a:cxnLst>
            <a:rect l="T9" t="T10" r="T11" b="T12"/>
            <a:pathLst>
              <a:path w="409" h="121">
                <a:moveTo>
                  <a:pt x="0" y="120"/>
                </a:moveTo>
                <a:lnTo>
                  <a:pt x="0" y="0"/>
                </a:lnTo>
                <a:lnTo>
                  <a:pt x="408" y="0"/>
                </a:lnTo>
              </a:path>
            </a:pathLst>
          </a:custGeom>
          <a:noFill/>
          <a:ln w="25400" cap="rnd">
            <a:solidFill>
              <a:srgbClr val="000000"/>
            </a:solidFill>
            <a:round/>
            <a:headEnd/>
            <a:tailEnd/>
          </a:ln>
        </p:spPr>
        <p:txBody>
          <a:bodyPr/>
          <a:lstStyle/>
          <a:p>
            <a:endParaRPr lang="en-IN"/>
          </a:p>
        </p:txBody>
      </p:sp>
      <p:sp>
        <p:nvSpPr>
          <p:cNvPr id="24642" name="Arc 93"/>
          <p:cNvSpPr>
            <a:spLocks/>
          </p:cNvSpPr>
          <p:nvPr/>
        </p:nvSpPr>
        <p:spPr bwMode="auto">
          <a:xfrm>
            <a:off x="3827463" y="4202113"/>
            <a:ext cx="120650"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4643" name="Freeform 94"/>
          <p:cNvSpPr>
            <a:spLocks/>
          </p:cNvSpPr>
          <p:nvPr/>
        </p:nvSpPr>
        <p:spPr bwMode="auto">
          <a:xfrm>
            <a:off x="3879850" y="4052888"/>
            <a:ext cx="350838" cy="171450"/>
          </a:xfrm>
          <a:custGeom>
            <a:avLst/>
            <a:gdLst>
              <a:gd name="T0" fmla="*/ 0 w 177"/>
              <a:gd name="T1" fmla="*/ 2147483646 h 121"/>
              <a:gd name="T2" fmla="*/ 0 w 177"/>
              <a:gd name="T3" fmla="*/ 0 h 121"/>
              <a:gd name="T4" fmla="*/ 2147483646 w 177"/>
              <a:gd name="T5" fmla="*/ 0 h 121"/>
              <a:gd name="T6" fmla="*/ 0 60000 65536"/>
              <a:gd name="T7" fmla="*/ 0 60000 65536"/>
              <a:gd name="T8" fmla="*/ 0 60000 65536"/>
              <a:gd name="T9" fmla="*/ 0 w 177"/>
              <a:gd name="T10" fmla="*/ 0 h 121"/>
              <a:gd name="T11" fmla="*/ 177 w 177"/>
              <a:gd name="T12" fmla="*/ 121 h 121"/>
            </a:gdLst>
            <a:ahLst/>
            <a:cxnLst>
              <a:cxn ang="T6">
                <a:pos x="T0" y="T1"/>
              </a:cxn>
              <a:cxn ang="T7">
                <a:pos x="T2" y="T3"/>
              </a:cxn>
              <a:cxn ang="T8">
                <a:pos x="T4" y="T5"/>
              </a:cxn>
            </a:cxnLst>
            <a:rect l="T9" t="T10" r="T11" b="T12"/>
            <a:pathLst>
              <a:path w="177" h="121">
                <a:moveTo>
                  <a:pt x="0" y="120"/>
                </a:moveTo>
                <a:lnTo>
                  <a:pt x="0" y="0"/>
                </a:lnTo>
                <a:lnTo>
                  <a:pt x="176" y="0"/>
                </a:lnTo>
              </a:path>
            </a:pathLst>
          </a:custGeom>
          <a:noFill/>
          <a:ln w="25400" cap="rnd">
            <a:solidFill>
              <a:srgbClr val="000000"/>
            </a:solidFill>
            <a:round/>
            <a:headEnd/>
            <a:tailEnd/>
          </a:ln>
        </p:spPr>
        <p:txBody>
          <a:bodyPr/>
          <a:lstStyle/>
          <a:p>
            <a:endParaRPr lang="en-IN"/>
          </a:p>
        </p:txBody>
      </p:sp>
      <p:sp>
        <p:nvSpPr>
          <p:cNvPr id="24644" name="Rectangle 95"/>
          <p:cNvSpPr>
            <a:spLocks noChangeArrowheads="1"/>
          </p:cNvSpPr>
          <p:nvPr/>
        </p:nvSpPr>
        <p:spPr bwMode="auto">
          <a:xfrm>
            <a:off x="4225925" y="3937000"/>
            <a:ext cx="855663"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Presence</a:t>
            </a:r>
          </a:p>
          <a:p>
            <a:pPr algn="ctr" defTabSz="762000" eaLnBrk="1">
              <a:lnSpc>
                <a:spcPct val="90000"/>
              </a:lnSpc>
            </a:pPr>
            <a:endParaRPr lang="en-US" altLang="ko-KR" sz="1200">
              <a:solidFill>
                <a:srgbClr val="000000"/>
              </a:solidFill>
            </a:endParaRPr>
          </a:p>
        </p:txBody>
      </p:sp>
      <p:sp>
        <p:nvSpPr>
          <p:cNvPr id="24645" name="Rectangle 96"/>
          <p:cNvSpPr>
            <a:spLocks noChangeArrowheads="1"/>
          </p:cNvSpPr>
          <p:nvPr/>
        </p:nvSpPr>
        <p:spPr bwMode="auto">
          <a:xfrm>
            <a:off x="4225925" y="4095750"/>
            <a:ext cx="36830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bit</a:t>
            </a:r>
          </a:p>
        </p:txBody>
      </p:sp>
      <p:sp>
        <p:nvSpPr>
          <p:cNvPr id="24646" name="Freeform 97"/>
          <p:cNvSpPr>
            <a:spLocks/>
          </p:cNvSpPr>
          <p:nvPr/>
        </p:nvSpPr>
        <p:spPr bwMode="auto">
          <a:xfrm>
            <a:off x="5308600" y="3860800"/>
            <a:ext cx="733425" cy="511175"/>
          </a:xfrm>
          <a:custGeom>
            <a:avLst/>
            <a:gdLst>
              <a:gd name="T0" fmla="*/ 0 w 369"/>
              <a:gd name="T1" fmla="*/ 0 h 361"/>
              <a:gd name="T2" fmla="*/ 0 w 369"/>
              <a:gd name="T3" fmla="*/ 2147483646 h 361"/>
              <a:gd name="T4" fmla="*/ 2147483646 w 369"/>
              <a:gd name="T5" fmla="*/ 2147483646 h 361"/>
              <a:gd name="T6" fmla="*/ 0 60000 65536"/>
              <a:gd name="T7" fmla="*/ 0 60000 65536"/>
              <a:gd name="T8" fmla="*/ 0 60000 65536"/>
              <a:gd name="T9" fmla="*/ 0 w 369"/>
              <a:gd name="T10" fmla="*/ 0 h 361"/>
              <a:gd name="T11" fmla="*/ 369 w 369"/>
              <a:gd name="T12" fmla="*/ 361 h 361"/>
            </a:gdLst>
            <a:ahLst/>
            <a:cxnLst>
              <a:cxn ang="T6">
                <a:pos x="T0" y="T1"/>
              </a:cxn>
              <a:cxn ang="T7">
                <a:pos x="T2" y="T3"/>
              </a:cxn>
              <a:cxn ang="T8">
                <a:pos x="T4" y="T5"/>
              </a:cxn>
            </a:cxnLst>
            <a:rect l="T9" t="T10" r="T11" b="T12"/>
            <a:pathLst>
              <a:path w="369" h="361">
                <a:moveTo>
                  <a:pt x="0" y="0"/>
                </a:moveTo>
                <a:lnTo>
                  <a:pt x="0" y="360"/>
                </a:lnTo>
                <a:lnTo>
                  <a:pt x="368" y="360"/>
                </a:lnTo>
              </a:path>
            </a:pathLst>
          </a:custGeom>
          <a:noFill/>
          <a:ln w="25400" cap="rnd">
            <a:solidFill>
              <a:srgbClr val="000000"/>
            </a:solidFill>
            <a:round/>
            <a:headEnd/>
            <a:tailEnd/>
          </a:ln>
        </p:spPr>
        <p:txBody>
          <a:bodyPr/>
          <a:lstStyle/>
          <a:p>
            <a:endParaRPr lang="en-IN"/>
          </a:p>
        </p:txBody>
      </p:sp>
      <p:sp>
        <p:nvSpPr>
          <p:cNvPr id="24647" name="Arc 98"/>
          <p:cNvSpPr>
            <a:spLocks/>
          </p:cNvSpPr>
          <p:nvPr/>
        </p:nvSpPr>
        <p:spPr bwMode="auto">
          <a:xfrm>
            <a:off x="5986463" y="4778375"/>
            <a:ext cx="122237"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4648" name="Line 99"/>
          <p:cNvSpPr>
            <a:spLocks noChangeShapeType="1"/>
          </p:cNvSpPr>
          <p:nvPr/>
        </p:nvSpPr>
        <p:spPr bwMode="auto">
          <a:xfrm>
            <a:off x="6046788" y="4381500"/>
            <a:ext cx="0" cy="406400"/>
          </a:xfrm>
          <a:prstGeom prst="line">
            <a:avLst/>
          </a:prstGeom>
          <a:noFill/>
          <a:ln w="25400">
            <a:solidFill>
              <a:srgbClr val="000000"/>
            </a:solidFill>
            <a:round/>
            <a:headEnd/>
            <a:tailEnd/>
          </a:ln>
        </p:spPr>
        <p:txBody>
          <a:bodyPr wrap="none" anchor="ctr"/>
          <a:lstStyle/>
          <a:p>
            <a:endParaRPr lang="en-IN"/>
          </a:p>
        </p:txBody>
      </p:sp>
      <p:sp>
        <p:nvSpPr>
          <p:cNvPr id="24649" name="Rectangle 100"/>
          <p:cNvSpPr>
            <a:spLocks noChangeArrowheads="1"/>
          </p:cNvSpPr>
          <p:nvPr/>
        </p:nvSpPr>
        <p:spPr bwMode="auto">
          <a:xfrm>
            <a:off x="2835275" y="3455988"/>
            <a:ext cx="817563"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Page no.</a:t>
            </a:r>
          </a:p>
        </p:txBody>
      </p:sp>
      <p:sp>
        <p:nvSpPr>
          <p:cNvPr id="24650" name="Rectangle 101"/>
          <p:cNvSpPr>
            <a:spLocks noChangeArrowheads="1"/>
          </p:cNvSpPr>
          <p:nvPr/>
        </p:nvSpPr>
        <p:spPr bwMode="auto">
          <a:xfrm>
            <a:off x="4297363" y="3455988"/>
            <a:ext cx="565150" cy="255587"/>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Offset</a:t>
            </a:r>
          </a:p>
        </p:txBody>
      </p:sp>
      <p:sp>
        <p:nvSpPr>
          <p:cNvPr id="24651" name="Rectangle 102"/>
          <p:cNvSpPr>
            <a:spLocks noChangeArrowheads="1"/>
          </p:cNvSpPr>
          <p:nvPr/>
        </p:nvSpPr>
        <p:spPr bwMode="auto">
          <a:xfrm>
            <a:off x="6069013" y="3629025"/>
            <a:ext cx="1281112"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Virtual address</a:t>
            </a:r>
          </a:p>
        </p:txBody>
      </p:sp>
      <p:sp>
        <p:nvSpPr>
          <p:cNvPr id="24652" name="Rectangle 103"/>
          <p:cNvSpPr>
            <a:spLocks noChangeArrowheads="1"/>
          </p:cNvSpPr>
          <p:nvPr/>
        </p:nvSpPr>
        <p:spPr bwMode="auto">
          <a:xfrm>
            <a:off x="5130800" y="5160963"/>
            <a:ext cx="1162050" cy="4191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Main memory</a:t>
            </a:r>
          </a:p>
          <a:p>
            <a:pPr algn="ctr" defTabSz="762000" eaLnBrk="1">
              <a:lnSpc>
                <a:spcPct val="90000"/>
              </a:lnSpc>
            </a:pPr>
            <a:endParaRPr lang="en-US" altLang="ko-KR" sz="1200">
              <a:solidFill>
                <a:srgbClr val="000000"/>
              </a:solidFill>
            </a:endParaRPr>
          </a:p>
        </p:txBody>
      </p:sp>
      <p:sp>
        <p:nvSpPr>
          <p:cNvPr id="24653" name="Rectangle 104"/>
          <p:cNvSpPr>
            <a:spLocks noChangeArrowheads="1"/>
          </p:cNvSpPr>
          <p:nvPr/>
        </p:nvSpPr>
        <p:spPr bwMode="auto">
          <a:xfrm>
            <a:off x="5130800" y="5318125"/>
            <a:ext cx="1363663"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address register</a:t>
            </a:r>
          </a:p>
        </p:txBody>
      </p:sp>
      <p:sp>
        <p:nvSpPr>
          <p:cNvPr id="24654" name="Arc 105"/>
          <p:cNvSpPr>
            <a:spLocks/>
          </p:cNvSpPr>
          <p:nvPr/>
        </p:nvSpPr>
        <p:spPr bwMode="auto">
          <a:xfrm>
            <a:off x="3287713" y="6057900"/>
            <a:ext cx="120650"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4655" name="Arc 107"/>
          <p:cNvSpPr>
            <a:spLocks/>
          </p:cNvSpPr>
          <p:nvPr/>
        </p:nvSpPr>
        <p:spPr bwMode="auto">
          <a:xfrm>
            <a:off x="5081588" y="4778375"/>
            <a:ext cx="120650"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4656" name="Line 108"/>
          <p:cNvSpPr>
            <a:spLocks noChangeShapeType="1"/>
          </p:cNvSpPr>
          <p:nvPr/>
        </p:nvSpPr>
        <p:spPr bwMode="auto">
          <a:xfrm>
            <a:off x="5140325" y="4641850"/>
            <a:ext cx="0" cy="146050"/>
          </a:xfrm>
          <a:prstGeom prst="line">
            <a:avLst/>
          </a:prstGeom>
          <a:noFill/>
          <a:ln w="25400">
            <a:solidFill>
              <a:srgbClr val="000000"/>
            </a:solidFill>
            <a:round/>
            <a:headEnd/>
            <a:tailEnd/>
          </a:ln>
        </p:spPr>
        <p:txBody>
          <a:bodyPr wrap="none" anchor="ctr"/>
          <a:lstStyle/>
          <a:p>
            <a:endParaRPr lang="en-IN"/>
          </a:p>
        </p:txBody>
      </p:sp>
      <p:sp>
        <p:nvSpPr>
          <p:cNvPr id="24657" name="Freeform 109"/>
          <p:cNvSpPr>
            <a:spLocks/>
          </p:cNvSpPr>
          <p:nvPr/>
        </p:nvSpPr>
        <p:spPr bwMode="auto">
          <a:xfrm>
            <a:off x="4498975" y="4630738"/>
            <a:ext cx="636588" cy="1814512"/>
          </a:xfrm>
          <a:custGeom>
            <a:avLst/>
            <a:gdLst>
              <a:gd name="T0" fmla="*/ 2147483646 w 321"/>
              <a:gd name="T1" fmla="*/ 0 h 1409"/>
              <a:gd name="T2" fmla="*/ 0 w 321"/>
              <a:gd name="T3" fmla="*/ 0 h 1409"/>
              <a:gd name="T4" fmla="*/ 0 w 321"/>
              <a:gd name="T5" fmla="*/ 2147483646 h 1409"/>
              <a:gd name="T6" fmla="*/ 0 60000 65536"/>
              <a:gd name="T7" fmla="*/ 0 60000 65536"/>
              <a:gd name="T8" fmla="*/ 0 60000 65536"/>
              <a:gd name="T9" fmla="*/ 0 w 321"/>
              <a:gd name="T10" fmla="*/ 0 h 1409"/>
              <a:gd name="T11" fmla="*/ 321 w 321"/>
              <a:gd name="T12" fmla="*/ 1409 h 1409"/>
            </a:gdLst>
            <a:ahLst/>
            <a:cxnLst>
              <a:cxn ang="T6">
                <a:pos x="T0" y="T1"/>
              </a:cxn>
              <a:cxn ang="T7">
                <a:pos x="T2" y="T3"/>
              </a:cxn>
              <a:cxn ang="T8">
                <a:pos x="T4" y="T5"/>
              </a:cxn>
            </a:cxnLst>
            <a:rect l="T9" t="T10" r="T11" b="T12"/>
            <a:pathLst>
              <a:path w="321" h="1409">
                <a:moveTo>
                  <a:pt x="320" y="0"/>
                </a:moveTo>
                <a:lnTo>
                  <a:pt x="0" y="0"/>
                </a:lnTo>
                <a:lnTo>
                  <a:pt x="0" y="1408"/>
                </a:lnTo>
              </a:path>
            </a:pathLst>
          </a:custGeom>
          <a:noFill/>
          <a:ln w="25400" cap="rnd">
            <a:solidFill>
              <a:srgbClr val="000000"/>
            </a:solidFill>
            <a:round/>
            <a:headEnd/>
            <a:tailEnd/>
          </a:ln>
        </p:spPr>
        <p:txBody>
          <a:bodyPr/>
          <a:lstStyle/>
          <a:p>
            <a:endParaRPr lang="en-IN"/>
          </a:p>
        </p:txBody>
      </p:sp>
      <p:sp>
        <p:nvSpPr>
          <p:cNvPr id="24658" name="Line 110"/>
          <p:cNvSpPr>
            <a:spLocks noChangeShapeType="1"/>
          </p:cNvSpPr>
          <p:nvPr/>
        </p:nvSpPr>
        <p:spPr bwMode="auto">
          <a:xfrm>
            <a:off x="3344863" y="6456363"/>
            <a:ext cx="1150937" cy="0"/>
          </a:xfrm>
          <a:prstGeom prst="line">
            <a:avLst/>
          </a:prstGeom>
          <a:noFill/>
          <a:ln w="25400">
            <a:solidFill>
              <a:srgbClr val="000000"/>
            </a:solidFill>
            <a:round/>
            <a:headEnd/>
            <a:tailEnd/>
          </a:ln>
        </p:spPr>
        <p:txBody>
          <a:bodyPr wrap="none" anchor="ctr"/>
          <a:lstStyle/>
          <a:p>
            <a:endParaRPr lang="en-IN"/>
          </a:p>
        </p:txBody>
      </p:sp>
      <p:sp>
        <p:nvSpPr>
          <p:cNvPr id="24659" name="Rectangle 112"/>
          <p:cNvSpPr>
            <a:spLocks noChangeArrowheads="1"/>
          </p:cNvSpPr>
          <p:nvPr/>
        </p:nvSpPr>
        <p:spPr bwMode="auto">
          <a:xfrm>
            <a:off x="454025" y="5461000"/>
            <a:ext cx="1560513"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Memory page table</a:t>
            </a:r>
          </a:p>
        </p:txBody>
      </p:sp>
      <p:sp>
        <p:nvSpPr>
          <p:cNvPr id="24660" name="Arc 113"/>
          <p:cNvSpPr>
            <a:spLocks/>
          </p:cNvSpPr>
          <p:nvPr/>
        </p:nvSpPr>
        <p:spPr bwMode="auto">
          <a:xfrm>
            <a:off x="7978775" y="5481638"/>
            <a:ext cx="120650" cy="106362"/>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w="25400" cap="rnd">
            <a:noFill/>
            <a:round/>
            <a:headEnd/>
            <a:tailEnd/>
          </a:ln>
        </p:spPr>
        <p:txBody>
          <a:bodyPr wrap="none" anchor="ctr"/>
          <a:lstStyle/>
          <a:p>
            <a:endParaRPr lang="en-IN"/>
          </a:p>
        </p:txBody>
      </p:sp>
      <p:sp>
        <p:nvSpPr>
          <p:cNvPr id="24661" name="Line 114"/>
          <p:cNvSpPr>
            <a:spLocks noChangeShapeType="1"/>
          </p:cNvSpPr>
          <p:nvPr/>
        </p:nvSpPr>
        <p:spPr bwMode="auto">
          <a:xfrm>
            <a:off x="8031163" y="5278438"/>
            <a:ext cx="0" cy="212725"/>
          </a:xfrm>
          <a:prstGeom prst="line">
            <a:avLst/>
          </a:prstGeom>
          <a:noFill/>
          <a:ln w="25400">
            <a:solidFill>
              <a:srgbClr val="000000"/>
            </a:solidFill>
            <a:round/>
            <a:headEnd/>
            <a:tailEnd/>
          </a:ln>
        </p:spPr>
        <p:txBody>
          <a:bodyPr wrap="none" anchor="ctr"/>
          <a:lstStyle/>
          <a:p>
            <a:endParaRPr lang="en-IN"/>
          </a:p>
        </p:txBody>
      </p:sp>
      <p:sp>
        <p:nvSpPr>
          <p:cNvPr id="24662" name="Freeform 115"/>
          <p:cNvSpPr>
            <a:spLocks/>
          </p:cNvSpPr>
          <p:nvPr/>
        </p:nvSpPr>
        <p:spPr bwMode="auto">
          <a:xfrm>
            <a:off x="6715125" y="4822825"/>
            <a:ext cx="406400" cy="185738"/>
          </a:xfrm>
          <a:custGeom>
            <a:avLst/>
            <a:gdLst>
              <a:gd name="T0" fmla="*/ 0 w 233"/>
              <a:gd name="T1" fmla="*/ 2147483646 h 137"/>
              <a:gd name="T2" fmla="*/ 2147483646 w 233"/>
              <a:gd name="T3" fmla="*/ 2147483646 h 137"/>
              <a:gd name="T4" fmla="*/ 2147483646 w 233"/>
              <a:gd name="T5" fmla="*/ 0 h 137"/>
              <a:gd name="T6" fmla="*/ 0 60000 65536"/>
              <a:gd name="T7" fmla="*/ 0 60000 65536"/>
              <a:gd name="T8" fmla="*/ 0 60000 65536"/>
              <a:gd name="T9" fmla="*/ 0 w 233"/>
              <a:gd name="T10" fmla="*/ 0 h 137"/>
              <a:gd name="T11" fmla="*/ 233 w 233"/>
              <a:gd name="T12" fmla="*/ 137 h 137"/>
            </a:gdLst>
            <a:ahLst/>
            <a:cxnLst>
              <a:cxn ang="T6">
                <a:pos x="T0" y="T1"/>
              </a:cxn>
              <a:cxn ang="T7">
                <a:pos x="T2" y="T3"/>
              </a:cxn>
              <a:cxn ang="T8">
                <a:pos x="T4" y="T5"/>
              </a:cxn>
            </a:cxnLst>
            <a:rect l="T9" t="T10" r="T11" b="T12"/>
            <a:pathLst>
              <a:path w="233" h="137">
                <a:moveTo>
                  <a:pt x="0" y="136"/>
                </a:moveTo>
                <a:lnTo>
                  <a:pt x="232" y="136"/>
                </a:lnTo>
                <a:lnTo>
                  <a:pt x="232" y="0"/>
                </a:lnTo>
              </a:path>
            </a:pathLst>
          </a:custGeom>
          <a:noFill/>
          <a:ln w="25400" cap="rnd">
            <a:solidFill>
              <a:srgbClr val="000000"/>
            </a:solidFill>
            <a:round/>
            <a:headEnd/>
            <a:tailEnd/>
          </a:ln>
        </p:spPr>
        <p:txBody>
          <a:bodyPr/>
          <a:lstStyle/>
          <a:p>
            <a:endParaRPr lang="en-IN"/>
          </a:p>
        </p:txBody>
      </p:sp>
      <p:sp>
        <p:nvSpPr>
          <p:cNvPr id="24663" name="Arc 116"/>
          <p:cNvSpPr>
            <a:spLocks/>
          </p:cNvSpPr>
          <p:nvPr/>
        </p:nvSpPr>
        <p:spPr bwMode="auto">
          <a:xfrm>
            <a:off x="7332663" y="4773613"/>
            <a:ext cx="149225" cy="88900"/>
          </a:xfrm>
          <a:custGeom>
            <a:avLst/>
            <a:gdLst>
              <a:gd name="T0" fmla="*/ 2147483646 w 21600"/>
              <a:gd name="T1" fmla="*/ 2147483646 h 17255"/>
              <a:gd name="T2" fmla="*/ 2147483646 w 21600"/>
              <a:gd name="T3" fmla="*/ 0 h 17255"/>
              <a:gd name="T4" fmla="*/ 2147483646 w 21600"/>
              <a:gd name="T5" fmla="*/ 2147483646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w="25400" cap="rnd">
            <a:noFill/>
            <a:round/>
            <a:headEnd/>
            <a:tailEnd/>
          </a:ln>
        </p:spPr>
        <p:txBody>
          <a:bodyPr wrap="none" anchor="ctr"/>
          <a:lstStyle/>
          <a:p>
            <a:endParaRPr lang="en-IN"/>
          </a:p>
        </p:txBody>
      </p:sp>
      <p:sp>
        <p:nvSpPr>
          <p:cNvPr id="24664" name="Line 117"/>
          <p:cNvSpPr>
            <a:spLocks noChangeShapeType="1"/>
          </p:cNvSpPr>
          <p:nvPr/>
        </p:nvSpPr>
        <p:spPr bwMode="auto">
          <a:xfrm>
            <a:off x="7127875" y="4819650"/>
            <a:ext cx="206375" cy="0"/>
          </a:xfrm>
          <a:prstGeom prst="line">
            <a:avLst/>
          </a:prstGeom>
          <a:noFill/>
          <a:ln w="25400">
            <a:solidFill>
              <a:srgbClr val="000000"/>
            </a:solidFill>
            <a:round/>
            <a:headEnd/>
            <a:tailEnd/>
          </a:ln>
        </p:spPr>
        <p:txBody>
          <a:bodyPr wrap="none" anchor="ctr"/>
          <a:lstStyle/>
          <a:p>
            <a:endParaRPr lang="en-IN"/>
          </a:p>
        </p:txBody>
      </p:sp>
      <p:sp>
        <p:nvSpPr>
          <p:cNvPr id="24665" name="Rectangle 118"/>
          <p:cNvSpPr>
            <a:spLocks noChangeArrowheads="1"/>
          </p:cNvSpPr>
          <p:nvPr/>
        </p:nvSpPr>
        <p:spPr bwMode="auto">
          <a:xfrm>
            <a:off x="7289800" y="4265613"/>
            <a:ext cx="11620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Main memory</a:t>
            </a:r>
          </a:p>
        </p:txBody>
      </p:sp>
      <p:sp>
        <p:nvSpPr>
          <p:cNvPr id="24666" name="Rectangle 119"/>
          <p:cNvSpPr>
            <a:spLocks noChangeArrowheads="1"/>
          </p:cNvSpPr>
          <p:nvPr/>
        </p:nvSpPr>
        <p:spPr bwMode="auto">
          <a:xfrm>
            <a:off x="3051175" y="4514850"/>
            <a:ext cx="3492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11</a:t>
            </a:r>
          </a:p>
        </p:txBody>
      </p:sp>
      <p:sp>
        <p:nvSpPr>
          <p:cNvPr id="24667" name="Rectangle 120"/>
          <p:cNvSpPr>
            <a:spLocks noChangeArrowheads="1"/>
          </p:cNvSpPr>
          <p:nvPr/>
        </p:nvSpPr>
        <p:spPr bwMode="auto">
          <a:xfrm>
            <a:off x="3051175" y="4706938"/>
            <a:ext cx="3492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00</a:t>
            </a:r>
          </a:p>
        </p:txBody>
      </p:sp>
      <p:sp>
        <p:nvSpPr>
          <p:cNvPr id="24668" name="Rectangle 121"/>
          <p:cNvSpPr>
            <a:spLocks noChangeArrowheads="1"/>
          </p:cNvSpPr>
          <p:nvPr/>
        </p:nvSpPr>
        <p:spPr bwMode="auto">
          <a:xfrm>
            <a:off x="3051175" y="5284788"/>
            <a:ext cx="3492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01</a:t>
            </a:r>
          </a:p>
        </p:txBody>
      </p:sp>
      <p:sp>
        <p:nvSpPr>
          <p:cNvPr id="24669" name="Rectangle 122"/>
          <p:cNvSpPr>
            <a:spLocks noChangeArrowheads="1"/>
          </p:cNvSpPr>
          <p:nvPr/>
        </p:nvSpPr>
        <p:spPr bwMode="auto">
          <a:xfrm>
            <a:off x="3051175" y="5476875"/>
            <a:ext cx="3492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10</a:t>
            </a:r>
          </a:p>
        </p:txBody>
      </p:sp>
      <p:sp>
        <p:nvSpPr>
          <p:cNvPr id="24670" name="Rectangle 123"/>
          <p:cNvSpPr>
            <a:spLocks noChangeArrowheads="1"/>
          </p:cNvSpPr>
          <p:nvPr/>
        </p:nvSpPr>
        <p:spPr bwMode="auto">
          <a:xfrm>
            <a:off x="3051175" y="6191250"/>
            <a:ext cx="349250" cy="254000"/>
          </a:xfrm>
          <a:prstGeom prst="rect">
            <a:avLst/>
          </a:prstGeom>
          <a:noFill/>
          <a:ln w="25400">
            <a:noFill/>
            <a:miter lim="800000"/>
            <a:headEnd/>
            <a:tailEnd/>
          </a:ln>
        </p:spPr>
        <p:txBody>
          <a:bodyPr wrap="none" lIns="90488" tIns="44450" rIns="90488" bIns="44450">
            <a:spAutoFit/>
          </a:bodyPr>
          <a:lstStyle/>
          <a:p>
            <a:pPr algn="ctr" defTabSz="762000">
              <a:lnSpc>
                <a:spcPct val="90000"/>
              </a:lnSpc>
            </a:pPr>
            <a:r>
              <a:rPr lang="en-US" altLang="ko-KR" sz="1200">
                <a:solidFill>
                  <a:srgbClr val="000000"/>
                </a:solidFill>
              </a:rPr>
              <a:t>01</a:t>
            </a:r>
          </a:p>
        </p:txBody>
      </p:sp>
      <p:sp>
        <p:nvSpPr>
          <p:cNvPr id="24671" name="Rectangle 124"/>
          <p:cNvSpPr>
            <a:spLocks noChangeArrowheads="1"/>
          </p:cNvSpPr>
          <p:nvPr/>
        </p:nvSpPr>
        <p:spPr bwMode="auto">
          <a:xfrm>
            <a:off x="7680325" y="0"/>
            <a:ext cx="1463675" cy="280988"/>
          </a:xfrm>
          <a:prstGeom prst="rect">
            <a:avLst/>
          </a:prstGeom>
          <a:noFill/>
          <a:ln w="12700">
            <a:noFill/>
            <a:miter lim="800000"/>
            <a:headEnd/>
            <a:tailEnd/>
          </a:ln>
        </p:spPr>
        <p:txBody>
          <a:bodyPr wrap="none" lIns="90488" tIns="44450" rIns="90488" bIns="44450">
            <a:spAutoFit/>
          </a:bodyPr>
          <a:lstStyle/>
          <a:p>
            <a:pPr algn="r" defTabSz="762000">
              <a:lnSpc>
                <a:spcPct val="90000"/>
              </a:lnSpc>
            </a:pPr>
            <a:r>
              <a:rPr lang="en-US" altLang="ko-KR" i="1"/>
              <a:t>Virtual Memory</a:t>
            </a:r>
          </a:p>
        </p:txBody>
      </p:sp>
      <p:sp>
        <p:nvSpPr>
          <p:cNvPr id="24672" name="Line 129"/>
          <p:cNvSpPr>
            <a:spLocks noChangeShapeType="1"/>
          </p:cNvSpPr>
          <p:nvPr/>
        </p:nvSpPr>
        <p:spPr bwMode="auto">
          <a:xfrm>
            <a:off x="3354388" y="6392863"/>
            <a:ext cx="0" cy="69850"/>
          </a:xfrm>
          <a:prstGeom prst="line">
            <a:avLst/>
          </a:prstGeom>
          <a:noFill/>
          <a:ln w="25400">
            <a:solidFill>
              <a:srgbClr val="000000"/>
            </a:solidFill>
            <a:round/>
            <a:headEnd/>
            <a:tailEnd/>
          </a:ln>
        </p:spPr>
        <p:txBody>
          <a:bodyPr wrap="none" anchor="ctr"/>
          <a:lstStyle/>
          <a:p>
            <a:endParaRPr lang="en-IN"/>
          </a:p>
        </p:txBody>
      </p:sp>
      <p:sp>
        <p:nvSpPr>
          <p:cNvPr id="24673" name="Line 130"/>
          <p:cNvSpPr>
            <a:spLocks noChangeShapeType="1"/>
          </p:cNvSpPr>
          <p:nvPr/>
        </p:nvSpPr>
        <p:spPr bwMode="auto">
          <a:xfrm>
            <a:off x="3335338" y="3840163"/>
            <a:ext cx="0" cy="203200"/>
          </a:xfrm>
          <a:prstGeom prst="line">
            <a:avLst/>
          </a:prstGeom>
          <a:noFill/>
          <a:ln w="25400">
            <a:solidFill>
              <a:srgbClr val="000000"/>
            </a:solidFill>
            <a:round/>
            <a:headEnd/>
            <a:tailEnd/>
          </a:ln>
        </p:spPr>
        <p:txBody>
          <a:bodyPr wrap="none" anchor="ctr"/>
          <a:lstStyle/>
          <a:p>
            <a:endParaRPr lang="en-IN"/>
          </a:p>
        </p:txBody>
      </p:sp>
      <p:sp>
        <p:nvSpPr>
          <p:cNvPr id="24674" name="Line 131"/>
          <p:cNvSpPr>
            <a:spLocks noChangeShapeType="1"/>
          </p:cNvSpPr>
          <p:nvPr/>
        </p:nvSpPr>
        <p:spPr bwMode="auto">
          <a:xfrm>
            <a:off x="3351213" y="5848350"/>
            <a:ext cx="0" cy="254000"/>
          </a:xfrm>
          <a:prstGeom prst="line">
            <a:avLst/>
          </a:prstGeom>
          <a:noFill/>
          <a:ln w="25400">
            <a:solidFill>
              <a:srgbClr val="000000"/>
            </a:solidFill>
            <a:round/>
            <a:headEnd/>
            <a:tailEnd/>
          </a:ln>
        </p:spPr>
        <p:txBody>
          <a:bodyPr wrap="none" anchor="ctr"/>
          <a:lstStyle/>
          <a:p>
            <a:endParaRPr lang="en-IN"/>
          </a:p>
        </p:txBody>
      </p:sp>
    </p:spTree>
    <p:extLst>
      <p:ext uri="{BB962C8B-B14F-4D97-AF65-F5344CB8AC3E}">
        <p14:creationId xmlns:p14="http://schemas.microsoft.com/office/powerpoint/2010/main" val="4886675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40DD68E-5260-4AB4-93B2-7CE4F6543C27}"/>
              </a:ext>
            </a:extLst>
          </p:cNvPr>
          <p:cNvSpPr>
            <a:spLocks noGrp="1" noChangeArrowheads="1"/>
          </p:cNvSpPr>
          <p:nvPr>
            <p:ph type="title"/>
          </p:nvPr>
        </p:nvSpPr>
        <p:spPr>
          <a:xfrm>
            <a:off x="287338" y="273050"/>
            <a:ext cx="8448675" cy="479425"/>
          </a:xfrm>
          <a:noFill/>
        </p:spPr>
        <p:txBody>
          <a:bodyPr anchor="ctr"/>
          <a:lstStyle/>
          <a:p>
            <a:r>
              <a:rPr lang="en-US" altLang="ko-KR" sz="2400">
                <a:solidFill>
                  <a:schemeClr val="tx1"/>
                </a:solidFill>
              </a:rPr>
              <a:t>PAGE  REPLACEMENT  ALGORITHMS</a:t>
            </a:r>
          </a:p>
        </p:txBody>
      </p:sp>
      <p:sp>
        <p:nvSpPr>
          <p:cNvPr id="5123" name="Rectangle 3">
            <a:extLst>
              <a:ext uri="{FF2B5EF4-FFF2-40B4-BE49-F238E27FC236}">
                <a16:creationId xmlns:a16="http://schemas.microsoft.com/office/drawing/2014/main" id="{05E3C3CE-5101-4CF8-8DE4-FCD04EC77A40}"/>
              </a:ext>
            </a:extLst>
          </p:cNvPr>
          <p:cNvSpPr>
            <a:spLocks noChangeArrowheads="1"/>
          </p:cNvSpPr>
          <p:nvPr/>
        </p:nvSpPr>
        <p:spPr bwMode="auto">
          <a:xfrm>
            <a:off x="346075" y="836613"/>
            <a:ext cx="647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u="sng">
                <a:latin typeface="Times New Roman" panose="02020603050405020304" pitchFamily="18" charset="0"/>
              </a:rPr>
              <a:t>FIFO</a:t>
            </a:r>
            <a:endParaRPr lang="en-US" altLang="ko-KR" sz="1800">
              <a:latin typeface="Times New Roman" panose="02020603050405020304" pitchFamily="18" charset="0"/>
            </a:endParaRPr>
          </a:p>
        </p:txBody>
      </p:sp>
      <p:sp>
        <p:nvSpPr>
          <p:cNvPr id="5124" name="Rectangle 4">
            <a:extLst>
              <a:ext uri="{FF2B5EF4-FFF2-40B4-BE49-F238E27FC236}">
                <a16:creationId xmlns:a16="http://schemas.microsoft.com/office/drawing/2014/main" id="{A8645F6B-3055-4454-B9D2-81DCDDD0720C}"/>
              </a:ext>
            </a:extLst>
          </p:cNvPr>
          <p:cNvSpPr>
            <a:spLocks noChangeArrowheads="1"/>
          </p:cNvSpPr>
          <p:nvPr/>
        </p:nvSpPr>
        <p:spPr bwMode="auto">
          <a:xfrm>
            <a:off x="2579688" y="1138238"/>
            <a:ext cx="33337"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5" name="Rectangle 5">
            <a:extLst>
              <a:ext uri="{FF2B5EF4-FFF2-40B4-BE49-F238E27FC236}">
                <a16:creationId xmlns:a16="http://schemas.microsoft.com/office/drawing/2014/main" id="{83BFF43E-2458-4135-9395-DF451FC15CFE}"/>
              </a:ext>
            </a:extLst>
          </p:cNvPr>
          <p:cNvSpPr>
            <a:spLocks noChangeArrowheads="1"/>
          </p:cNvSpPr>
          <p:nvPr/>
        </p:nvSpPr>
        <p:spPr bwMode="auto">
          <a:xfrm>
            <a:off x="2009775"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6" name="Line 6">
            <a:extLst>
              <a:ext uri="{FF2B5EF4-FFF2-40B4-BE49-F238E27FC236}">
                <a16:creationId xmlns:a16="http://schemas.microsoft.com/office/drawing/2014/main" id="{3BF2457C-D4AC-47CB-9A11-BA025A653B48}"/>
              </a:ext>
            </a:extLst>
          </p:cNvPr>
          <p:cNvSpPr>
            <a:spLocks noChangeShapeType="1"/>
          </p:cNvSpPr>
          <p:nvPr/>
        </p:nvSpPr>
        <p:spPr bwMode="auto">
          <a:xfrm>
            <a:off x="2009775"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27" name="Line 7">
            <a:extLst>
              <a:ext uri="{FF2B5EF4-FFF2-40B4-BE49-F238E27FC236}">
                <a16:creationId xmlns:a16="http://schemas.microsoft.com/office/drawing/2014/main" id="{4E392EA7-60D9-4EC4-B65C-92B00B6E4E4D}"/>
              </a:ext>
            </a:extLst>
          </p:cNvPr>
          <p:cNvSpPr>
            <a:spLocks noChangeShapeType="1"/>
          </p:cNvSpPr>
          <p:nvPr/>
        </p:nvSpPr>
        <p:spPr bwMode="auto">
          <a:xfrm>
            <a:off x="2009775"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28" name="Rectangle 8">
            <a:extLst>
              <a:ext uri="{FF2B5EF4-FFF2-40B4-BE49-F238E27FC236}">
                <a16:creationId xmlns:a16="http://schemas.microsoft.com/office/drawing/2014/main" id="{7A758EAA-20A8-47DB-861A-58D59A28E363}"/>
              </a:ext>
            </a:extLst>
          </p:cNvPr>
          <p:cNvSpPr>
            <a:spLocks noChangeArrowheads="1"/>
          </p:cNvSpPr>
          <p:nvPr/>
        </p:nvSpPr>
        <p:spPr bwMode="auto">
          <a:xfrm>
            <a:off x="16970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29" name="Rectangle 9">
            <a:extLst>
              <a:ext uri="{FF2B5EF4-FFF2-40B4-BE49-F238E27FC236}">
                <a16:creationId xmlns:a16="http://schemas.microsoft.com/office/drawing/2014/main" id="{70628421-43CA-4946-B60B-3DCAA943C55D}"/>
              </a:ext>
            </a:extLst>
          </p:cNvPr>
          <p:cNvSpPr>
            <a:spLocks noChangeArrowheads="1"/>
          </p:cNvSpPr>
          <p:nvPr/>
        </p:nvSpPr>
        <p:spPr bwMode="auto">
          <a:xfrm>
            <a:off x="1957388"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30" name="Rectangle 10">
            <a:extLst>
              <a:ext uri="{FF2B5EF4-FFF2-40B4-BE49-F238E27FC236}">
                <a16:creationId xmlns:a16="http://schemas.microsoft.com/office/drawing/2014/main" id="{5E38CA68-50A1-4994-831B-242DAB8FCB31}"/>
              </a:ext>
            </a:extLst>
          </p:cNvPr>
          <p:cNvSpPr>
            <a:spLocks noChangeArrowheads="1"/>
          </p:cNvSpPr>
          <p:nvPr/>
        </p:nvSpPr>
        <p:spPr bwMode="auto">
          <a:xfrm>
            <a:off x="2366963" y="1471613"/>
            <a:ext cx="163512"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31" name="Line 11">
            <a:extLst>
              <a:ext uri="{FF2B5EF4-FFF2-40B4-BE49-F238E27FC236}">
                <a16:creationId xmlns:a16="http://schemas.microsoft.com/office/drawing/2014/main" id="{0AE83752-0B7E-437E-8795-008B5F54FC3A}"/>
              </a:ext>
            </a:extLst>
          </p:cNvPr>
          <p:cNvSpPr>
            <a:spLocks noChangeShapeType="1"/>
          </p:cNvSpPr>
          <p:nvPr/>
        </p:nvSpPr>
        <p:spPr bwMode="auto">
          <a:xfrm>
            <a:off x="2366963" y="167322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2" name="Line 12">
            <a:extLst>
              <a:ext uri="{FF2B5EF4-FFF2-40B4-BE49-F238E27FC236}">
                <a16:creationId xmlns:a16="http://schemas.microsoft.com/office/drawing/2014/main" id="{0E7D32BB-A910-4402-996B-12D0DF2887BF}"/>
              </a:ext>
            </a:extLst>
          </p:cNvPr>
          <p:cNvSpPr>
            <a:spLocks noChangeShapeType="1"/>
          </p:cNvSpPr>
          <p:nvPr/>
        </p:nvSpPr>
        <p:spPr bwMode="auto">
          <a:xfrm>
            <a:off x="2366963" y="188277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3" name="Rectangle 13">
            <a:extLst>
              <a:ext uri="{FF2B5EF4-FFF2-40B4-BE49-F238E27FC236}">
                <a16:creationId xmlns:a16="http://schemas.microsoft.com/office/drawing/2014/main" id="{9DF2A0B9-FAD5-4802-9D0A-C970B5F3E86E}"/>
              </a:ext>
            </a:extLst>
          </p:cNvPr>
          <p:cNvSpPr>
            <a:spLocks noChangeArrowheads="1"/>
          </p:cNvSpPr>
          <p:nvPr/>
        </p:nvSpPr>
        <p:spPr bwMode="auto">
          <a:xfrm>
            <a:off x="2070100"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34" name="Rectangle 14">
            <a:extLst>
              <a:ext uri="{FF2B5EF4-FFF2-40B4-BE49-F238E27FC236}">
                <a16:creationId xmlns:a16="http://schemas.microsoft.com/office/drawing/2014/main" id="{1FD0C243-13C4-4752-8A87-E9344996573A}"/>
              </a:ext>
            </a:extLst>
          </p:cNvPr>
          <p:cNvSpPr>
            <a:spLocks noChangeArrowheads="1"/>
          </p:cNvSpPr>
          <p:nvPr/>
        </p:nvSpPr>
        <p:spPr bwMode="auto">
          <a:xfrm>
            <a:off x="2332038" y="14652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35" name="Rectangle 15">
            <a:extLst>
              <a:ext uri="{FF2B5EF4-FFF2-40B4-BE49-F238E27FC236}">
                <a16:creationId xmlns:a16="http://schemas.microsoft.com/office/drawing/2014/main" id="{427D4C5F-CA8A-4C1B-A3EC-9799564093D4}"/>
              </a:ext>
            </a:extLst>
          </p:cNvPr>
          <p:cNvSpPr>
            <a:spLocks noChangeArrowheads="1"/>
          </p:cNvSpPr>
          <p:nvPr/>
        </p:nvSpPr>
        <p:spPr bwMode="auto">
          <a:xfrm>
            <a:off x="24288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36" name="Rectangle 16">
            <a:extLst>
              <a:ext uri="{FF2B5EF4-FFF2-40B4-BE49-F238E27FC236}">
                <a16:creationId xmlns:a16="http://schemas.microsoft.com/office/drawing/2014/main" id="{A21B1894-2C35-4E17-840C-DA076BC4861B}"/>
              </a:ext>
            </a:extLst>
          </p:cNvPr>
          <p:cNvSpPr>
            <a:spLocks noChangeArrowheads="1"/>
          </p:cNvSpPr>
          <p:nvPr/>
        </p:nvSpPr>
        <p:spPr bwMode="auto">
          <a:xfrm>
            <a:off x="28098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37" name="Rectangle 17">
            <a:extLst>
              <a:ext uri="{FF2B5EF4-FFF2-40B4-BE49-F238E27FC236}">
                <a16:creationId xmlns:a16="http://schemas.microsoft.com/office/drawing/2014/main" id="{FE0E05FA-8309-4585-B295-CE22947A254A}"/>
              </a:ext>
            </a:extLst>
          </p:cNvPr>
          <p:cNvSpPr>
            <a:spLocks noChangeArrowheads="1"/>
          </p:cNvSpPr>
          <p:nvPr/>
        </p:nvSpPr>
        <p:spPr bwMode="auto">
          <a:xfrm>
            <a:off x="31861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38" name="Rectangle 18">
            <a:extLst>
              <a:ext uri="{FF2B5EF4-FFF2-40B4-BE49-F238E27FC236}">
                <a16:creationId xmlns:a16="http://schemas.microsoft.com/office/drawing/2014/main" id="{54D80D95-1E69-4364-8316-7CD4F85C7DC3}"/>
              </a:ext>
            </a:extLst>
          </p:cNvPr>
          <p:cNvSpPr>
            <a:spLocks noChangeArrowheads="1"/>
          </p:cNvSpPr>
          <p:nvPr/>
        </p:nvSpPr>
        <p:spPr bwMode="auto">
          <a:xfrm>
            <a:off x="35385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39" name="Rectangle 19">
            <a:extLst>
              <a:ext uri="{FF2B5EF4-FFF2-40B4-BE49-F238E27FC236}">
                <a16:creationId xmlns:a16="http://schemas.microsoft.com/office/drawing/2014/main" id="{E563DDAA-0A10-41AE-A508-8094B59609BC}"/>
              </a:ext>
            </a:extLst>
          </p:cNvPr>
          <p:cNvSpPr>
            <a:spLocks noChangeArrowheads="1"/>
          </p:cNvSpPr>
          <p:nvPr/>
        </p:nvSpPr>
        <p:spPr bwMode="auto">
          <a:xfrm>
            <a:off x="39131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40" name="Rectangle 20">
            <a:extLst>
              <a:ext uri="{FF2B5EF4-FFF2-40B4-BE49-F238E27FC236}">
                <a16:creationId xmlns:a16="http://schemas.microsoft.com/office/drawing/2014/main" id="{65D27B5F-35F9-4624-BB30-92F09C01CEF7}"/>
              </a:ext>
            </a:extLst>
          </p:cNvPr>
          <p:cNvSpPr>
            <a:spLocks noChangeArrowheads="1"/>
          </p:cNvSpPr>
          <p:nvPr/>
        </p:nvSpPr>
        <p:spPr bwMode="auto">
          <a:xfrm>
            <a:off x="428942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1" name="Rectangle 21">
            <a:extLst>
              <a:ext uri="{FF2B5EF4-FFF2-40B4-BE49-F238E27FC236}">
                <a16:creationId xmlns:a16="http://schemas.microsoft.com/office/drawing/2014/main" id="{5D8677FC-BE7C-4D80-B4CA-B508C0318112}"/>
              </a:ext>
            </a:extLst>
          </p:cNvPr>
          <p:cNvSpPr>
            <a:spLocks noChangeArrowheads="1"/>
          </p:cNvSpPr>
          <p:nvPr/>
        </p:nvSpPr>
        <p:spPr bwMode="auto">
          <a:xfrm>
            <a:off x="46466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42" name="Rectangle 22">
            <a:extLst>
              <a:ext uri="{FF2B5EF4-FFF2-40B4-BE49-F238E27FC236}">
                <a16:creationId xmlns:a16="http://schemas.microsoft.com/office/drawing/2014/main" id="{0C9512B5-BB5D-4065-9AB9-D78694F9D65B}"/>
              </a:ext>
            </a:extLst>
          </p:cNvPr>
          <p:cNvSpPr>
            <a:spLocks noChangeArrowheads="1"/>
          </p:cNvSpPr>
          <p:nvPr/>
        </p:nvSpPr>
        <p:spPr bwMode="auto">
          <a:xfrm>
            <a:off x="50244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43" name="Rectangle 23">
            <a:extLst>
              <a:ext uri="{FF2B5EF4-FFF2-40B4-BE49-F238E27FC236}">
                <a16:creationId xmlns:a16="http://schemas.microsoft.com/office/drawing/2014/main" id="{9C33A6A9-1CF5-4FA6-852B-078A043C0468}"/>
              </a:ext>
            </a:extLst>
          </p:cNvPr>
          <p:cNvSpPr>
            <a:spLocks noChangeArrowheads="1"/>
          </p:cNvSpPr>
          <p:nvPr/>
        </p:nvSpPr>
        <p:spPr bwMode="auto">
          <a:xfrm>
            <a:off x="53959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44" name="Rectangle 24">
            <a:extLst>
              <a:ext uri="{FF2B5EF4-FFF2-40B4-BE49-F238E27FC236}">
                <a16:creationId xmlns:a16="http://schemas.microsoft.com/office/drawing/2014/main" id="{0239409C-D3CE-42FC-96C7-F440F6663481}"/>
              </a:ext>
            </a:extLst>
          </p:cNvPr>
          <p:cNvSpPr>
            <a:spLocks noChangeArrowheads="1"/>
          </p:cNvSpPr>
          <p:nvPr/>
        </p:nvSpPr>
        <p:spPr bwMode="auto">
          <a:xfrm>
            <a:off x="575786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5" name="Rectangle 25">
            <a:extLst>
              <a:ext uri="{FF2B5EF4-FFF2-40B4-BE49-F238E27FC236}">
                <a16:creationId xmlns:a16="http://schemas.microsoft.com/office/drawing/2014/main" id="{1F1150A2-21C2-4490-BB26-67DD1CD3E766}"/>
              </a:ext>
            </a:extLst>
          </p:cNvPr>
          <p:cNvSpPr>
            <a:spLocks noChangeArrowheads="1"/>
          </p:cNvSpPr>
          <p:nvPr/>
        </p:nvSpPr>
        <p:spPr bwMode="auto">
          <a:xfrm>
            <a:off x="61325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46" name="Rectangle 26">
            <a:extLst>
              <a:ext uri="{FF2B5EF4-FFF2-40B4-BE49-F238E27FC236}">
                <a16:creationId xmlns:a16="http://schemas.microsoft.com/office/drawing/2014/main" id="{F65246B3-7362-4099-8A2F-0FF12F24EE1E}"/>
              </a:ext>
            </a:extLst>
          </p:cNvPr>
          <p:cNvSpPr>
            <a:spLocks noChangeArrowheads="1"/>
          </p:cNvSpPr>
          <p:nvPr/>
        </p:nvSpPr>
        <p:spPr bwMode="auto">
          <a:xfrm>
            <a:off x="650716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7" name="Rectangle 27">
            <a:extLst>
              <a:ext uri="{FF2B5EF4-FFF2-40B4-BE49-F238E27FC236}">
                <a16:creationId xmlns:a16="http://schemas.microsoft.com/office/drawing/2014/main" id="{447ABA29-1C75-43E8-8F37-B418F67676AC}"/>
              </a:ext>
            </a:extLst>
          </p:cNvPr>
          <p:cNvSpPr>
            <a:spLocks noChangeArrowheads="1"/>
          </p:cNvSpPr>
          <p:nvPr/>
        </p:nvSpPr>
        <p:spPr bwMode="auto">
          <a:xfrm>
            <a:off x="68691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48" name="Rectangle 28">
            <a:extLst>
              <a:ext uri="{FF2B5EF4-FFF2-40B4-BE49-F238E27FC236}">
                <a16:creationId xmlns:a16="http://schemas.microsoft.com/office/drawing/2014/main" id="{A8B0E4D6-18F3-4451-82C8-909521CB6C49}"/>
              </a:ext>
            </a:extLst>
          </p:cNvPr>
          <p:cNvSpPr>
            <a:spLocks noChangeArrowheads="1"/>
          </p:cNvSpPr>
          <p:nvPr/>
        </p:nvSpPr>
        <p:spPr bwMode="auto">
          <a:xfrm>
            <a:off x="72421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49" name="Rectangle 29">
            <a:extLst>
              <a:ext uri="{FF2B5EF4-FFF2-40B4-BE49-F238E27FC236}">
                <a16:creationId xmlns:a16="http://schemas.microsoft.com/office/drawing/2014/main" id="{74AFE30C-DE96-48F7-A423-58FE8EB948C5}"/>
              </a:ext>
            </a:extLst>
          </p:cNvPr>
          <p:cNvSpPr>
            <a:spLocks noChangeArrowheads="1"/>
          </p:cNvSpPr>
          <p:nvPr/>
        </p:nvSpPr>
        <p:spPr bwMode="auto">
          <a:xfrm>
            <a:off x="76215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0" name="Rectangle 30">
            <a:extLst>
              <a:ext uri="{FF2B5EF4-FFF2-40B4-BE49-F238E27FC236}">
                <a16:creationId xmlns:a16="http://schemas.microsoft.com/office/drawing/2014/main" id="{3BA34524-1E48-410E-A29C-096655BB5EC8}"/>
              </a:ext>
            </a:extLst>
          </p:cNvPr>
          <p:cNvSpPr>
            <a:spLocks noChangeArrowheads="1"/>
          </p:cNvSpPr>
          <p:nvPr/>
        </p:nvSpPr>
        <p:spPr bwMode="auto">
          <a:xfrm>
            <a:off x="1635125"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51" name="Line 31">
            <a:extLst>
              <a:ext uri="{FF2B5EF4-FFF2-40B4-BE49-F238E27FC236}">
                <a16:creationId xmlns:a16="http://schemas.microsoft.com/office/drawing/2014/main" id="{D13B27A0-0AC8-42F7-9031-DCDDC59ED7DA}"/>
              </a:ext>
            </a:extLst>
          </p:cNvPr>
          <p:cNvSpPr>
            <a:spLocks noChangeShapeType="1"/>
          </p:cNvSpPr>
          <p:nvPr/>
        </p:nvSpPr>
        <p:spPr bwMode="auto">
          <a:xfrm>
            <a:off x="1635125"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2" name="Line 32">
            <a:extLst>
              <a:ext uri="{FF2B5EF4-FFF2-40B4-BE49-F238E27FC236}">
                <a16:creationId xmlns:a16="http://schemas.microsoft.com/office/drawing/2014/main" id="{40C9536D-6463-47FB-957B-CAD06A3A5EFC}"/>
              </a:ext>
            </a:extLst>
          </p:cNvPr>
          <p:cNvSpPr>
            <a:spLocks noChangeShapeType="1"/>
          </p:cNvSpPr>
          <p:nvPr/>
        </p:nvSpPr>
        <p:spPr bwMode="auto">
          <a:xfrm>
            <a:off x="1635125"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3" name="Rectangle 33">
            <a:extLst>
              <a:ext uri="{FF2B5EF4-FFF2-40B4-BE49-F238E27FC236}">
                <a16:creationId xmlns:a16="http://schemas.microsoft.com/office/drawing/2014/main" id="{1AE9298E-BCAF-4B04-BCAA-E0512B43777D}"/>
              </a:ext>
            </a:extLst>
          </p:cNvPr>
          <p:cNvSpPr>
            <a:spLocks noChangeArrowheads="1"/>
          </p:cNvSpPr>
          <p:nvPr/>
        </p:nvSpPr>
        <p:spPr bwMode="auto">
          <a:xfrm>
            <a:off x="13223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4" name="Rectangle 34">
            <a:extLst>
              <a:ext uri="{FF2B5EF4-FFF2-40B4-BE49-F238E27FC236}">
                <a16:creationId xmlns:a16="http://schemas.microsoft.com/office/drawing/2014/main" id="{43AC0E2F-5367-4BA5-82B0-93AF955AD943}"/>
              </a:ext>
            </a:extLst>
          </p:cNvPr>
          <p:cNvSpPr>
            <a:spLocks noChangeArrowheads="1"/>
          </p:cNvSpPr>
          <p:nvPr/>
        </p:nvSpPr>
        <p:spPr bwMode="auto">
          <a:xfrm>
            <a:off x="79898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5" name="Rectangle 35">
            <a:extLst>
              <a:ext uri="{FF2B5EF4-FFF2-40B4-BE49-F238E27FC236}">
                <a16:creationId xmlns:a16="http://schemas.microsoft.com/office/drawing/2014/main" id="{AF006DE8-C0BF-4E01-8148-FD365FCF5B7F}"/>
              </a:ext>
            </a:extLst>
          </p:cNvPr>
          <p:cNvSpPr>
            <a:spLocks noChangeArrowheads="1"/>
          </p:cNvSpPr>
          <p:nvPr/>
        </p:nvSpPr>
        <p:spPr bwMode="auto">
          <a:xfrm>
            <a:off x="83550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56" name="Rectangle 36">
            <a:extLst>
              <a:ext uri="{FF2B5EF4-FFF2-40B4-BE49-F238E27FC236}">
                <a16:creationId xmlns:a16="http://schemas.microsoft.com/office/drawing/2014/main" id="{16AF1763-9C9C-477D-839E-C8294DA9A6FE}"/>
              </a:ext>
            </a:extLst>
          </p:cNvPr>
          <p:cNvSpPr>
            <a:spLocks noChangeArrowheads="1"/>
          </p:cNvSpPr>
          <p:nvPr/>
        </p:nvSpPr>
        <p:spPr bwMode="auto">
          <a:xfrm>
            <a:off x="195738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7" name="Rectangle 37">
            <a:extLst>
              <a:ext uri="{FF2B5EF4-FFF2-40B4-BE49-F238E27FC236}">
                <a16:creationId xmlns:a16="http://schemas.microsoft.com/office/drawing/2014/main" id="{5C4920F5-9E86-484F-930B-A4BC51F1B963}"/>
              </a:ext>
            </a:extLst>
          </p:cNvPr>
          <p:cNvSpPr>
            <a:spLocks noChangeArrowheads="1"/>
          </p:cNvSpPr>
          <p:nvPr/>
        </p:nvSpPr>
        <p:spPr bwMode="auto">
          <a:xfrm>
            <a:off x="23272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8" name="Rectangle 38">
            <a:extLst>
              <a:ext uri="{FF2B5EF4-FFF2-40B4-BE49-F238E27FC236}">
                <a16:creationId xmlns:a16="http://schemas.microsoft.com/office/drawing/2014/main" id="{DCD5849B-7825-4EDB-BD45-2A6F9C0EF0E4}"/>
              </a:ext>
            </a:extLst>
          </p:cNvPr>
          <p:cNvSpPr>
            <a:spLocks noChangeArrowheads="1"/>
          </p:cNvSpPr>
          <p:nvPr/>
        </p:nvSpPr>
        <p:spPr bwMode="auto">
          <a:xfrm>
            <a:off x="1582738"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9" name="Rectangle 39">
            <a:extLst>
              <a:ext uri="{FF2B5EF4-FFF2-40B4-BE49-F238E27FC236}">
                <a16:creationId xmlns:a16="http://schemas.microsoft.com/office/drawing/2014/main" id="{BB239213-266F-4F55-8444-811E3924F011}"/>
              </a:ext>
            </a:extLst>
          </p:cNvPr>
          <p:cNvSpPr>
            <a:spLocks noChangeArrowheads="1"/>
          </p:cNvSpPr>
          <p:nvPr/>
        </p:nvSpPr>
        <p:spPr bwMode="auto">
          <a:xfrm>
            <a:off x="2322513" y="186372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60" name="Rectangle 40">
            <a:extLst>
              <a:ext uri="{FF2B5EF4-FFF2-40B4-BE49-F238E27FC236}">
                <a16:creationId xmlns:a16="http://schemas.microsoft.com/office/drawing/2014/main" id="{57EDC278-7F52-49B1-B68B-3AEC00BA18E6}"/>
              </a:ext>
            </a:extLst>
          </p:cNvPr>
          <p:cNvSpPr>
            <a:spLocks noChangeArrowheads="1"/>
          </p:cNvSpPr>
          <p:nvPr/>
        </p:nvSpPr>
        <p:spPr bwMode="auto">
          <a:xfrm>
            <a:off x="2743200" y="1471613"/>
            <a:ext cx="147638"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61" name="Line 41">
            <a:extLst>
              <a:ext uri="{FF2B5EF4-FFF2-40B4-BE49-F238E27FC236}">
                <a16:creationId xmlns:a16="http://schemas.microsoft.com/office/drawing/2014/main" id="{3F456D27-70C6-45E0-A137-DA069D0C4831}"/>
              </a:ext>
            </a:extLst>
          </p:cNvPr>
          <p:cNvSpPr>
            <a:spLocks noChangeShapeType="1"/>
          </p:cNvSpPr>
          <p:nvPr/>
        </p:nvSpPr>
        <p:spPr bwMode="auto">
          <a:xfrm>
            <a:off x="2743200" y="167322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2" name="Line 42">
            <a:extLst>
              <a:ext uri="{FF2B5EF4-FFF2-40B4-BE49-F238E27FC236}">
                <a16:creationId xmlns:a16="http://schemas.microsoft.com/office/drawing/2014/main" id="{F313A599-DAC3-4EA8-AAE6-1037994F3D15}"/>
              </a:ext>
            </a:extLst>
          </p:cNvPr>
          <p:cNvSpPr>
            <a:spLocks noChangeShapeType="1"/>
          </p:cNvSpPr>
          <p:nvPr/>
        </p:nvSpPr>
        <p:spPr bwMode="auto">
          <a:xfrm>
            <a:off x="2743200" y="188277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3" name="Rectangle 43">
            <a:extLst>
              <a:ext uri="{FF2B5EF4-FFF2-40B4-BE49-F238E27FC236}">
                <a16:creationId xmlns:a16="http://schemas.microsoft.com/office/drawing/2014/main" id="{0C01AA72-E89C-423C-BDBB-B0FD7017CE59}"/>
              </a:ext>
            </a:extLst>
          </p:cNvPr>
          <p:cNvSpPr>
            <a:spLocks noChangeArrowheads="1"/>
          </p:cNvSpPr>
          <p:nvPr/>
        </p:nvSpPr>
        <p:spPr bwMode="auto">
          <a:xfrm>
            <a:off x="2690813" y="14525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64" name="Rectangle 44">
            <a:extLst>
              <a:ext uri="{FF2B5EF4-FFF2-40B4-BE49-F238E27FC236}">
                <a16:creationId xmlns:a16="http://schemas.microsoft.com/office/drawing/2014/main" id="{3B2206FC-903A-4FAE-804F-E5696B69DDCA}"/>
              </a:ext>
            </a:extLst>
          </p:cNvPr>
          <p:cNvSpPr>
            <a:spLocks noChangeArrowheads="1"/>
          </p:cNvSpPr>
          <p:nvPr/>
        </p:nvSpPr>
        <p:spPr bwMode="auto">
          <a:xfrm>
            <a:off x="2690813"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65" name="Rectangle 45">
            <a:extLst>
              <a:ext uri="{FF2B5EF4-FFF2-40B4-BE49-F238E27FC236}">
                <a16:creationId xmlns:a16="http://schemas.microsoft.com/office/drawing/2014/main" id="{74B2338D-4E95-423C-8A54-A43C7A348F4D}"/>
              </a:ext>
            </a:extLst>
          </p:cNvPr>
          <p:cNvSpPr>
            <a:spLocks noChangeArrowheads="1"/>
          </p:cNvSpPr>
          <p:nvPr/>
        </p:nvSpPr>
        <p:spPr bwMode="auto">
          <a:xfrm>
            <a:off x="2679700" y="18637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66" name="Rectangle 46">
            <a:extLst>
              <a:ext uri="{FF2B5EF4-FFF2-40B4-BE49-F238E27FC236}">
                <a16:creationId xmlns:a16="http://schemas.microsoft.com/office/drawing/2014/main" id="{561C5B95-CBE0-4B42-B50A-E09CF78986C6}"/>
              </a:ext>
            </a:extLst>
          </p:cNvPr>
          <p:cNvSpPr>
            <a:spLocks noChangeArrowheads="1"/>
          </p:cNvSpPr>
          <p:nvPr/>
        </p:nvSpPr>
        <p:spPr bwMode="auto">
          <a:xfrm>
            <a:off x="3478213" y="1471613"/>
            <a:ext cx="161925"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67" name="Line 47">
            <a:extLst>
              <a:ext uri="{FF2B5EF4-FFF2-40B4-BE49-F238E27FC236}">
                <a16:creationId xmlns:a16="http://schemas.microsoft.com/office/drawing/2014/main" id="{79C7E239-A8DA-432E-9F04-3614B25E9CDE}"/>
              </a:ext>
            </a:extLst>
          </p:cNvPr>
          <p:cNvSpPr>
            <a:spLocks noChangeShapeType="1"/>
          </p:cNvSpPr>
          <p:nvPr/>
        </p:nvSpPr>
        <p:spPr bwMode="auto">
          <a:xfrm>
            <a:off x="3478213" y="167322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8" name="Line 48">
            <a:extLst>
              <a:ext uri="{FF2B5EF4-FFF2-40B4-BE49-F238E27FC236}">
                <a16:creationId xmlns:a16="http://schemas.microsoft.com/office/drawing/2014/main" id="{FE9D5FC7-D0B7-47C9-8EB5-66AEFCC75F1A}"/>
              </a:ext>
            </a:extLst>
          </p:cNvPr>
          <p:cNvSpPr>
            <a:spLocks noChangeShapeType="1"/>
          </p:cNvSpPr>
          <p:nvPr/>
        </p:nvSpPr>
        <p:spPr bwMode="auto">
          <a:xfrm>
            <a:off x="3478213" y="188277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9" name="Rectangle 49">
            <a:extLst>
              <a:ext uri="{FF2B5EF4-FFF2-40B4-BE49-F238E27FC236}">
                <a16:creationId xmlns:a16="http://schemas.microsoft.com/office/drawing/2014/main" id="{E6A67D2D-9F3B-4E69-BA44-4DF7E4D5B62F}"/>
              </a:ext>
            </a:extLst>
          </p:cNvPr>
          <p:cNvSpPr>
            <a:spLocks noChangeArrowheads="1"/>
          </p:cNvSpPr>
          <p:nvPr/>
        </p:nvSpPr>
        <p:spPr bwMode="auto">
          <a:xfrm>
            <a:off x="3421063"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70" name="Rectangle 50">
            <a:extLst>
              <a:ext uri="{FF2B5EF4-FFF2-40B4-BE49-F238E27FC236}">
                <a16:creationId xmlns:a16="http://schemas.microsoft.com/office/drawing/2014/main" id="{D3418246-F1FB-494D-B6B9-4AE92D1123A8}"/>
              </a:ext>
            </a:extLst>
          </p:cNvPr>
          <p:cNvSpPr>
            <a:spLocks noChangeArrowheads="1"/>
          </p:cNvSpPr>
          <p:nvPr/>
        </p:nvSpPr>
        <p:spPr bwMode="auto">
          <a:xfrm>
            <a:off x="34321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71" name="Rectangle 51">
            <a:extLst>
              <a:ext uri="{FF2B5EF4-FFF2-40B4-BE49-F238E27FC236}">
                <a16:creationId xmlns:a16="http://schemas.microsoft.com/office/drawing/2014/main" id="{35A62D91-1CB6-4E54-9572-95A44B15D20B}"/>
              </a:ext>
            </a:extLst>
          </p:cNvPr>
          <p:cNvSpPr>
            <a:spLocks noChangeArrowheads="1"/>
          </p:cNvSpPr>
          <p:nvPr/>
        </p:nvSpPr>
        <p:spPr bwMode="auto">
          <a:xfrm>
            <a:off x="3421063" y="186372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72" name="Rectangle 52">
            <a:extLst>
              <a:ext uri="{FF2B5EF4-FFF2-40B4-BE49-F238E27FC236}">
                <a16:creationId xmlns:a16="http://schemas.microsoft.com/office/drawing/2014/main" id="{EA85C110-00C4-48D8-A8F9-F3E7FE91D98C}"/>
              </a:ext>
            </a:extLst>
          </p:cNvPr>
          <p:cNvSpPr>
            <a:spLocks noChangeArrowheads="1"/>
          </p:cNvSpPr>
          <p:nvPr/>
        </p:nvSpPr>
        <p:spPr bwMode="auto">
          <a:xfrm>
            <a:off x="3851275" y="1471613"/>
            <a:ext cx="147638"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73" name="Line 53">
            <a:extLst>
              <a:ext uri="{FF2B5EF4-FFF2-40B4-BE49-F238E27FC236}">
                <a16:creationId xmlns:a16="http://schemas.microsoft.com/office/drawing/2014/main" id="{143CFFA3-D9D0-4513-8604-6CB5204E6F96}"/>
              </a:ext>
            </a:extLst>
          </p:cNvPr>
          <p:cNvSpPr>
            <a:spLocks noChangeShapeType="1"/>
          </p:cNvSpPr>
          <p:nvPr/>
        </p:nvSpPr>
        <p:spPr bwMode="auto">
          <a:xfrm>
            <a:off x="3851275" y="167322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74" name="Line 54">
            <a:extLst>
              <a:ext uri="{FF2B5EF4-FFF2-40B4-BE49-F238E27FC236}">
                <a16:creationId xmlns:a16="http://schemas.microsoft.com/office/drawing/2014/main" id="{EA67023D-CFA1-4CA7-8DA3-F699B47084EB}"/>
              </a:ext>
            </a:extLst>
          </p:cNvPr>
          <p:cNvSpPr>
            <a:spLocks noChangeShapeType="1"/>
          </p:cNvSpPr>
          <p:nvPr/>
        </p:nvSpPr>
        <p:spPr bwMode="auto">
          <a:xfrm>
            <a:off x="3851275" y="188277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75" name="Rectangle 55">
            <a:extLst>
              <a:ext uri="{FF2B5EF4-FFF2-40B4-BE49-F238E27FC236}">
                <a16:creationId xmlns:a16="http://schemas.microsoft.com/office/drawing/2014/main" id="{7E843451-6A3B-4790-8F50-A5F3BB0958E5}"/>
              </a:ext>
            </a:extLst>
          </p:cNvPr>
          <p:cNvSpPr>
            <a:spLocks noChangeArrowheads="1"/>
          </p:cNvSpPr>
          <p:nvPr/>
        </p:nvSpPr>
        <p:spPr bwMode="auto">
          <a:xfrm>
            <a:off x="379730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76" name="Rectangle 56">
            <a:extLst>
              <a:ext uri="{FF2B5EF4-FFF2-40B4-BE49-F238E27FC236}">
                <a16:creationId xmlns:a16="http://schemas.microsoft.com/office/drawing/2014/main" id="{DF4447E2-8EC9-45FE-A372-9D9139A3D6D5}"/>
              </a:ext>
            </a:extLst>
          </p:cNvPr>
          <p:cNvSpPr>
            <a:spLocks noChangeArrowheads="1"/>
          </p:cNvSpPr>
          <p:nvPr/>
        </p:nvSpPr>
        <p:spPr bwMode="auto">
          <a:xfrm>
            <a:off x="379095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77" name="Rectangle 57">
            <a:extLst>
              <a:ext uri="{FF2B5EF4-FFF2-40B4-BE49-F238E27FC236}">
                <a16:creationId xmlns:a16="http://schemas.microsoft.com/office/drawing/2014/main" id="{07C8E24F-167B-46C8-B0ED-1D47F0FC2F53}"/>
              </a:ext>
            </a:extLst>
          </p:cNvPr>
          <p:cNvSpPr>
            <a:spLocks noChangeArrowheads="1"/>
          </p:cNvSpPr>
          <p:nvPr/>
        </p:nvSpPr>
        <p:spPr bwMode="auto">
          <a:xfrm>
            <a:off x="3806825" y="18637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78" name="Rectangle 58">
            <a:extLst>
              <a:ext uri="{FF2B5EF4-FFF2-40B4-BE49-F238E27FC236}">
                <a16:creationId xmlns:a16="http://schemas.microsoft.com/office/drawing/2014/main" id="{74B505C3-7050-46F9-AF76-0C6504C3D408}"/>
              </a:ext>
            </a:extLst>
          </p:cNvPr>
          <p:cNvSpPr>
            <a:spLocks noChangeArrowheads="1"/>
          </p:cNvSpPr>
          <p:nvPr/>
        </p:nvSpPr>
        <p:spPr bwMode="auto">
          <a:xfrm>
            <a:off x="4227513"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79" name="Line 59">
            <a:extLst>
              <a:ext uri="{FF2B5EF4-FFF2-40B4-BE49-F238E27FC236}">
                <a16:creationId xmlns:a16="http://schemas.microsoft.com/office/drawing/2014/main" id="{DF864027-B234-40CA-BE80-1EB5459667A6}"/>
              </a:ext>
            </a:extLst>
          </p:cNvPr>
          <p:cNvSpPr>
            <a:spLocks noChangeShapeType="1"/>
          </p:cNvSpPr>
          <p:nvPr/>
        </p:nvSpPr>
        <p:spPr bwMode="auto">
          <a:xfrm>
            <a:off x="4227513"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0" name="Line 60">
            <a:extLst>
              <a:ext uri="{FF2B5EF4-FFF2-40B4-BE49-F238E27FC236}">
                <a16:creationId xmlns:a16="http://schemas.microsoft.com/office/drawing/2014/main" id="{1221E513-5E66-42D8-B8E4-DB111E8AF256}"/>
              </a:ext>
            </a:extLst>
          </p:cNvPr>
          <p:cNvSpPr>
            <a:spLocks noChangeShapeType="1"/>
          </p:cNvSpPr>
          <p:nvPr/>
        </p:nvSpPr>
        <p:spPr bwMode="auto">
          <a:xfrm>
            <a:off x="4227513"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1" name="Rectangle 61">
            <a:extLst>
              <a:ext uri="{FF2B5EF4-FFF2-40B4-BE49-F238E27FC236}">
                <a16:creationId xmlns:a16="http://schemas.microsoft.com/office/drawing/2014/main" id="{34AB6802-55DD-4AF9-844D-A2330087BC6B}"/>
              </a:ext>
            </a:extLst>
          </p:cNvPr>
          <p:cNvSpPr>
            <a:spLocks noChangeArrowheads="1"/>
          </p:cNvSpPr>
          <p:nvPr/>
        </p:nvSpPr>
        <p:spPr bwMode="auto">
          <a:xfrm>
            <a:off x="4162425"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82" name="Rectangle 62">
            <a:extLst>
              <a:ext uri="{FF2B5EF4-FFF2-40B4-BE49-F238E27FC236}">
                <a16:creationId xmlns:a16="http://schemas.microsoft.com/office/drawing/2014/main" id="{A9AE5CB0-5043-463C-8C2B-EDCDBD5D38C6}"/>
              </a:ext>
            </a:extLst>
          </p:cNvPr>
          <p:cNvSpPr>
            <a:spLocks noChangeArrowheads="1"/>
          </p:cNvSpPr>
          <p:nvPr/>
        </p:nvSpPr>
        <p:spPr bwMode="auto">
          <a:xfrm>
            <a:off x="41687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83" name="Rectangle 63">
            <a:extLst>
              <a:ext uri="{FF2B5EF4-FFF2-40B4-BE49-F238E27FC236}">
                <a16:creationId xmlns:a16="http://schemas.microsoft.com/office/drawing/2014/main" id="{88010674-E68F-4B72-AE8C-6816F9ECE289}"/>
              </a:ext>
            </a:extLst>
          </p:cNvPr>
          <p:cNvSpPr>
            <a:spLocks noChangeArrowheads="1"/>
          </p:cNvSpPr>
          <p:nvPr/>
        </p:nvSpPr>
        <p:spPr bwMode="auto">
          <a:xfrm>
            <a:off x="41719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84" name="Rectangle 64">
            <a:extLst>
              <a:ext uri="{FF2B5EF4-FFF2-40B4-BE49-F238E27FC236}">
                <a16:creationId xmlns:a16="http://schemas.microsoft.com/office/drawing/2014/main" id="{3FB86534-90E8-43E7-9283-65683CFE9FEA}"/>
              </a:ext>
            </a:extLst>
          </p:cNvPr>
          <p:cNvSpPr>
            <a:spLocks noChangeArrowheads="1"/>
          </p:cNvSpPr>
          <p:nvPr/>
        </p:nvSpPr>
        <p:spPr bwMode="auto">
          <a:xfrm>
            <a:off x="4586288" y="1471613"/>
            <a:ext cx="163512"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85" name="Line 65">
            <a:extLst>
              <a:ext uri="{FF2B5EF4-FFF2-40B4-BE49-F238E27FC236}">
                <a16:creationId xmlns:a16="http://schemas.microsoft.com/office/drawing/2014/main" id="{D8F1EB0C-1383-49C2-B738-1DD22E905EF4}"/>
              </a:ext>
            </a:extLst>
          </p:cNvPr>
          <p:cNvSpPr>
            <a:spLocks noChangeShapeType="1"/>
          </p:cNvSpPr>
          <p:nvPr/>
        </p:nvSpPr>
        <p:spPr bwMode="auto">
          <a:xfrm>
            <a:off x="4586288" y="167322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6" name="Line 66">
            <a:extLst>
              <a:ext uri="{FF2B5EF4-FFF2-40B4-BE49-F238E27FC236}">
                <a16:creationId xmlns:a16="http://schemas.microsoft.com/office/drawing/2014/main" id="{D13791F3-CBE4-4AFC-A1EE-0A285D89DCDA}"/>
              </a:ext>
            </a:extLst>
          </p:cNvPr>
          <p:cNvSpPr>
            <a:spLocks noChangeShapeType="1"/>
          </p:cNvSpPr>
          <p:nvPr/>
        </p:nvSpPr>
        <p:spPr bwMode="auto">
          <a:xfrm>
            <a:off x="4586288" y="188277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7" name="Rectangle 67">
            <a:extLst>
              <a:ext uri="{FF2B5EF4-FFF2-40B4-BE49-F238E27FC236}">
                <a16:creationId xmlns:a16="http://schemas.microsoft.com/office/drawing/2014/main" id="{C8CB6490-FF03-4426-ADC0-C70354A5E2B7}"/>
              </a:ext>
            </a:extLst>
          </p:cNvPr>
          <p:cNvSpPr>
            <a:spLocks noChangeArrowheads="1"/>
          </p:cNvSpPr>
          <p:nvPr/>
        </p:nvSpPr>
        <p:spPr bwMode="auto">
          <a:xfrm>
            <a:off x="4540250" y="14652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88" name="Rectangle 68">
            <a:extLst>
              <a:ext uri="{FF2B5EF4-FFF2-40B4-BE49-F238E27FC236}">
                <a16:creationId xmlns:a16="http://schemas.microsoft.com/office/drawing/2014/main" id="{242B8264-592F-4CB4-B3D0-85A1D5E40442}"/>
              </a:ext>
            </a:extLst>
          </p:cNvPr>
          <p:cNvSpPr>
            <a:spLocks noChangeArrowheads="1"/>
          </p:cNvSpPr>
          <p:nvPr/>
        </p:nvSpPr>
        <p:spPr bwMode="auto">
          <a:xfrm>
            <a:off x="45418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89" name="Rectangle 69">
            <a:extLst>
              <a:ext uri="{FF2B5EF4-FFF2-40B4-BE49-F238E27FC236}">
                <a16:creationId xmlns:a16="http://schemas.microsoft.com/office/drawing/2014/main" id="{5CD451C9-DC90-4427-947E-AD138E2D2744}"/>
              </a:ext>
            </a:extLst>
          </p:cNvPr>
          <p:cNvSpPr>
            <a:spLocks noChangeArrowheads="1"/>
          </p:cNvSpPr>
          <p:nvPr/>
        </p:nvSpPr>
        <p:spPr bwMode="auto">
          <a:xfrm>
            <a:off x="45402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90" name="Rectangle 70">
            <a:extLst>
              <a:ext uri="{FF2B5EF4-FFF2-40B4-BE49-F238E27FC236}">
                <a16:creationId xmlns:a16="http://schemas.microsoft.com/office/drawing/2014/main" id="{D5660ABC-9BD1-4704-9A17-FD6C48261C11}"/>
              </a:ext>
            </a:extLst>
          </p:cNvPr>
          <p:cNvSpPr>
            <a:spLocks noChangeArrowheads="1"/>
          </p:cNvSpPr>
          <p:nvPr/>
        </p:nvSpPr>
        <p:spPr bwMode="auto">
          <a:xfrm>
            <a:off x="4962525" y="1471613"/>
            <a:ext cx="144463"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91" name="Line 71">
            <a:extLst>
              <a:ext uri="{FF2B5EF4-FFF2-40B4-BE49-F238E27FC236}">
                <a16:creationId xmlns:a16="http://schemas.microsoft.com/office/drawing/2014/main" id="{03CDFC57-4E88-4612-99A4-59D3EFEA19A2}"/>
              </a:ext>
            </a:extLst>
          </p:cNvPr>
          <p:cNvSpPr>
            <a:spLocks noChangeShapeType="1"/>
          </p:cNvSpPr>
          <p:nvPr/>
        </p:nvSpPr>
        <p:spPr bwMode="auto">
          <a:xfrm>
            <a:off x="4962525" y="1673225"/>
            <a:ext cx="144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2" name="Line 72">
            <a:extLst>
              <a:ext uri="{FF2B5EF4-FFF2-40B4-BE49-F238E27FC236}">
                <a16:creationId xmlns:a16="http://schemas.microsoft.com/office/drawing/2014/main" id="{5DCFF862-A2D1-43E8-9361-E3912F7B24E8}"/>
              </a:ext>
            </a:extLst>
          </p:cNvPr>
          <p:cNvSpPr>
            <a:spLocks noChangeShapeType="1"/>
          </p:cNvSpPr>
          <p:nvPr/>
        </p:nvSpPr>
        <p:spPr bwMode="auto">
          <a:xfrm>
            <a:off x="4962525" y="1882775"/>
            <a:ext cx="144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3" name="Rectangle 73">
            <a:extLst>
              <a:ext uri="{FF2B5EF4-FFF2-40B4-BE49-F238E27FC236}">
                <a16:creationId xmlns:a16="http://schemas.microsoft.com/office/drawing/2014/main" id="{4DA2BA0F-E236-492A-8C6F-09C6CE7EDBB2}"/>
              </a:ext>
            </a:extLst>
          </p:cNvPr>
          <p:cNvSpPr>
            <a:spLocks noChangeArrowheads="1"/>
          </p:cNvSpPr>
          <p:nvPr/>
        </p:nvSpPr>
        <p:spPr bwMode="auto">
          <a:xfrm>
            <a:off x="4911725"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94" name="Rectangle 74">
            <a:extLst>
              <a:ext uri="{FF2B5EF4-FFF2-40B4-BE49-F238E27FC236}">
                <a16:creationId xmlns:a16="http://schemas.microsoft.com/office/drawing/2014/main" id="{098E5645-96DD-4D7C-9C7C-7E43562C495A}"/>
              </a:ext>
            </a:extLst>
          </p:cNvPr>
          <p:cNvSpPr>
            <a:spLocks noChangeArrowheads="1"/>
          </p:cNvSpPr>
          <p:nvPr/>
        </p:nvSpPr>
        <p:spPr bwMode="auto">
          <a:xfrm>
            <a:off x="490220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95" name="Rectangle 75">
            <a:extLst>
              <a:ext uri="{FF2B5EF4-FFF2-40B4-BE49-F238E27FC236}">
                <a16:creationId xmlns:a16="http://schemas.microsoft.com/office/drawing/2014/main" id="{E9A5DAC8-B4DB-483F-AD51-079849EDAFBB}"/>
              </a:ext>
            </a:extLst>
          </p:cNvPr>
          <p:cNvSpPr>
            <a:spLocks noChangeArrowheads="1"/>
          </p:cNvSpPr>
          <p:nvPr/>
        </p:nvSpPr>
        <p:spPr bwMode="auto">
          <a:xfrm>
            <a:off x="490220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96" name="Rectangle 76">
            <a:extLst>
              <a:ext uri="{FF2B5EF4-FFF2-40B4-BE49-F238E27FC236}">
                <a16:creationId xmlns:a16="http://schemas.microsoft.com/office/drawing/2014/main" id="{C60AB0EE-DF80-48CC-AAE4-21B883843D67}"/>
              </a:ext>
            </a:extLst>
          </p:cNvPr>
          <p:cNvSpPr>
            <a:spLocks noChangeArrowheads="1"/>
          </p:cNvSpPr>
          <p:nvPr/>
        </p:nvSpPr>
        <p:spPr bwMode="auto">
          <a:xfrm>
            <a:off x="5335588" y="1471613"/>
            <a:ext cx="147637"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97" name="Line 77">
            <a:extLst>
              <a:ext uri="{FF2B5EF4-FFF2-40B4-BE49-F238E27FC236}">
                <a16:creationId xmlns:a16="http://schemas.microsoft.com/office/drawing/2014/main" id="{53195D4E-00F8-41E7-A277-30B076A342B4}"/>
              </a:ext>
            </a:extLst>
          </p:cNvPr>
          <p:cNvSpPr>
            <a:spLocks noChangeShapeType="1"/>
          </p:cNvSpPr>
          <p:nvPr/>
        </p:nvSpPr>
        <p:spPr bwMode="auto">
          <a:xfrm>
            <a:off x="5335588" y="167322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8" name="Line 78">
            <a:extLst>
              <a:ext uri="{FF2B5EF4-FFF2-40B4-BE49-F238E27FC236}">
                <a16:creationId xmlns:a16="http://schemas.microsoft.com/office/drawing/2014/main" id="{088FCC2D-68D6-46EB-A3CB-A6E83D2690F3}"/>
              </a:ext>
            </a:extLst>
          </p:cNvPr>
          <p:cNvSpPr>
            <a:spLocks noChangeShapeType="1"/>
          </p:cNvSpPr>
          <p:nvPr/>
        </p:nvSpPr>
        <p:spPr bwMode="auto">
          <a:xfrm>
            <a:off x="5335588" y="188277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9" name="Rectangle 79">
            <a:extLst>
              <a:ext uri="{FF2B5EF4-FFF2-40B4-BE49-F238E27FC236}">
                <a16:creationId xmlns:a16="http://schemas.microsoft.com/office/drawing/2014/main" id="{28648E06-B241-4740-8DA1-9644C4FC5B84}"/>
              </a:ext>
            </a:extLst>
          </p:cNvPr>
          <p:cNvSpPr>
            <a:spLocks noChangeArrowheads="1"/>
          </p:cNvSpPr>
          <p:nvPr/>
        </p:nvSpPr>
        <p:spPr bwMode="auto">
          <a:xfrm>
            <a:off x="5283200" y="14652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00" name="Rectangle 80">
            <a:extLst>
              <a:ext uri="{FF2B5EF4-FFF2-40B4-BE49-F238E27FC236}">
                <a16:creationId xmlns:a16="http://schemas.microsoft.com/office/drawing/2014/main" id="{2F4B4286-54DD-4C31-95BC-B31AA33BBCE2}"/>
              </a:ext>
            </a:extLst>
          </p:cNvPr>
          <p:cNvSpPr>
            <a:spLocks noChangeArrowheads="1"/>
          </p:cNvSpPr>
          <p:nvPr/>
        </p:nvSpPr>
        <p:spPr bwMode="auto">
          <a:xfrm>
            <a:off x="5275263"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01" name="Rectangle 81">
            <a:extLst>
              <a:ext uri="{FF2B5EF4-FFF2-40B4-BE49-F238E27FC236}">
                <a16:creationId xmlns:a16="http://schemas.microsoft.com/office/drawing/2014/main" id="{AF129CEC-8E16-4498-A668-5E7EABD63331}"/>
              </a:ext>
            </a:extLst>
          </p:cNvPr>
          <p:cNvSpPr>
            <a:spLocks noChangeArrowheads="1"/>
          </p:cNvSpPr>
          <p:nvPr/>
        </p:nvSpPr>
        <p:spPr bwMode="auto">
          <a:xfrm>
            <a:off x="528320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02" name="Rectangle 82">
            <a:extLst>
              <a:ext uri="{FF2B5EF4-FFF2-40B4-BE49-F238E27FC236}">
                <a16:creationId xmlns:a16="http://schemas.microsoft.com/office/drawing/2014/main" id="{138936A0-B095-4003-B1C2-B28EA388F301}"/>
              </a:ext>
            </a:extLst>
          </p:cNvPr>
          <p:cNvSpPr>
            <a:spLocks noChangeArrowheads="1"/>
          </p:cNvSpPr>
          <p:nvPr/>
        </p:nvSpPr>
        <p:spPr bwMode="auto">
          <a:xfrm>
            <a:off x="6445250"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03" name="Line 83">
            <a:extLst>
              <a:ext uri="{FF2B5EF4-FFF2-40B4-BE49-F238E27FC236}">
                <a16:creationId xmlns:a16="http://schemas.microsoft.com/office/drawing/2014/main" id="{F40A8289-112A-43BE-99DF-40E006E1F22A}"/>
              </a:ext>
            </a:extLst>
          </p:cNvPr>
          <p:cNvSpPr>
            <a:spLocks noChangeShapeType="1"/>
          </p:cNvSpPr>
          <p:nvPr/>
        </p:nvSpPr>
        <p:spPr bwMode="auto">
          <a:xfrm>
            <a:off x="6445250"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04" name="Line 84">
            <a:extLst>
              <a:ext uri="{FF2B5EF4-FFF2-40B4-BE49-F238E27FC236}">
                <a16:creationId xmlns:a16="http://schemas.microsoft.com/office/drawing/2014/main" id="{FAC89B24-3607-4159-85D7-553504D5433D}"/>
              </a:ext>
            </a:extLst>
          </p:cNvPr>
          <p:cNvSpPr>
            <a:spLocks noChangeShapeType="1"/>
          </p:cNvSpPr>
          <p:nvPr/>
        </p:nvSpPr>
        <p:spPr bwMode="auto">
          <a:xfrm>
            <a:off x="6445250"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05" name="Rectangle 85">
            <a:extLst>
              <a:ext uri="{FF2B5EF4-FFF2-40B4-BE49-F238E27FC236}">
                <a16:creationId xmlns:a16="http://schemas.microsoft.com/office/drawing/2014/main" id="{EE48D8B4-8B9F-4F27-9997-D42BC279F40B}"/>
              </a:ext>
            </a:extLst>
          </p:cNvPr>
          <p:cNvSpPr>
            <a:spLocks noChangeArrowheads="1"/>
          </p:cNvSpPr>
          <p:nvPr/>
        </p:nvSpPr>
        <p:spPr bwMode="auto">
          <a:xfrm>
            <a:off x="63817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06" name="Rectangle 86">
            <a:extLst>
              <a:ext uri="{FF2B5EF4-FFF2-40B4-BE49-F238E27FC236}">
                <a16:creationId xmlns:a16="http://schemas.microsoft.com/office/drawing/2014/main" id="{A694F1BE-2AC5-4C9A-82D0-C359EB4299BD}"/>
              </a:ext>
            </a:extLst>
          </p:cNvPr>
          <p:cNvSpPr>
            <a:spLocks noChangeArrowheads="1"/>
          </p:cNvSpPr>
          <p:nvPr/>
        </p:nvSpPr>
        <p:spPr bwMode="auto">
          <a:xfrm>
            <a:off x="63833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07" name="Rectangle 87">
            <a:extLst>
              <a:ext uri="{FF2B5EF4-FFF2-40B4-BE49-F238E27FC236}">
                <a16:creationId xmlns:a16="http://schemas.microsoft.com/office/drawing/2014/main" id="{29108278-39DA-4D88-9F2D-F7427919C8DE}"/>
              </a:ext>
            </a:extLst>
          </p:cNvPr>
          <p:cNvSpPr>
            <a:spLocks noChangeArrowheads="1"/>
          </p:cNvSpPr>
          <p:nvPr/>
        </p:nvSpPr>
        <p:spPr bwMode="auto">
          <a:xfrm>
            <a:off x="6391275"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08" name="Rectangle 88">
            <a:extLst>
              <a:ext uri="{FF2B5EF4-FFF2-40B4-BE49-F238E27FC236}">
                <a16:creationId xmlns:a16="http://schemas.microsoft.com/office/drawing/2014/main" id="{B44E5EE9-854A-4440-B395-FFC12A7E36A9}"/>
              </a:ext>
            </a:extLst>
          </p:cNvPr>
          <p:cNvSpPr>
            <a:spLocks noChangeArrowheads="1"/>
          </p:cNvSpPr>
          <p:nvPr/>
        </p:nvSpPr>
        <p:spPr bwMode="auto">
          <a:xfrm>
            <a:off x="6804025" y="1471613"/>
            <a:ext cx="163513"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09" name="Line 89">
            <a:extLst>
              <a:ext uri="{FF2B5EF4-FFF2-40B4-BE49-F238E27FC236}">
                <a16:creationId xmlns:a16="http://schemas.microsoft.com/office/drawing/2014/main" id="{E4DDA90C-500E-4A67-9CF9-9B3039673CF0}"/>
              </a:ext>
            </a:extLst>
          </p:cNvPr>
          <p:cNvSpPr>
            <a:spLocks noChangeShapeType="1"/>
          </p:cNvSpPr>
          <p:nvPr/>
        </p:nvSpPr>
        <p:spPr bwMode="auto">
          <a:xfrm>
            <a:off x="6804025" y="1673225"/>
            <a:ext cx="1635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0" name="Line 90">
            <a:extLst>
              <a:ext uri="{FF2B5EF4-FFF2-40B4-BE49-F238E27FC236}">
                <a16:creationId xmlns:a16="http://schemas.microsoft.com/office/drawing/2014/main" id="{EBA2A51F-0F5F-40DE-832F-6650D70BFEFA}"/>
              </a:ext>
            </a:extLst>
          </p:cNvPr>
          <p:cNvSpPr>
            <a:spLocks noChangeShapeType="1"/>
          </p:cNvSpPr>
          <p:nvPr/>
        </p:nvSpPr>
        <p:spPr bwMode="auto">
          <a:xfrm>
            <a:off x="6804025" y="1882775"/>
            <a:ext cx="1635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1" name="Rectangle 91">
            <a:extLst>
              <a:ext uri="{FF2B5EF4-FFF2-40B4-BE49-F238E27FC236}">
                <a16:creationId xmlns:a16="http://schemas.microsoft.com/office/drawing/2014/main" id="{DFD43EC6-2DA3-466D-B217-8F95541AAE7E}"/>
              </a:ext>
            </a:extLst>
          </p:cNvPr>
          <p:cNvSpPr>
            <a:spLocks noChangeArrowheads="1"/>
          </p:cNvSpPr>
          <p:nvPr/>
        </p:nvSpPr>
        <p:spPr bwMode="auto">
          <a:xfrm>
            <a:off x="675640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12" name="Rectangle 92">
            <a:extLst>
              <a:ext uri="{FF2B5EF4-FFF2-40B4-BE49-F238E27FC236}">
                <a16:creationId xmlns:a16="http://schemas.microsoft.com/office/drawing/2014/main" id="{749B0047-0D6E-41C4-AB63-C8ACF4EB1CEB}"/>
              </a:ext>
            </a:extLst>
          </p:cNvPr>
          <p:cNvSpPr>
            <a:spLocks noChangeArrowheads="1"/>
          </p:cNvSpPr>
          <p:nvPr/>
        </p:nvSpPr>
        <p:spPr bwMode="auto">
          <a:xfrm>
            <a:off x="67595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13" name="Rectangle 93">
            <a:extLst>
              <a:ext uri="{FF2B5EF4-FFF2-40B4-BE49-F238E27FC236}">
                <a16:creationId xmlns:a16="http://schemas.microsoft.com/office/drawing/2014/main" id="{B77F1EDA-94C6-48CA-A611-B4EA7F914EA4}"/>
              </a:ext>
            </a:extLst>
          </p:cNvPr>
          <p:cNvSpPr>
            <a:spLocks noChangeArrowheads="1"/>
          </p:cNvSpPr>
          <p:nvPr/>
        </p:nvSpPr>
        <p:spPr bwMode="auto">
          <a:xfrm>
            <a:off x="6746875"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14" name="Rectangle 94">
            <a:extLst>
              <a:ext uri="{FF2B5EF4-FFF2-40B4-BE49-F238E27FC236}">
                <a16:creationId xmlns:a16="http://schemas.microsoft.com/office/drawing/2014/main" id="{21683975-5DF9-4F9C-B5BF-4363BCB96ABF}"/>
              </a:ext>
            </a:extLst>
          </p:cNvPr>
          <p:cNvSpPr>
            <a:spLocks noChangeArrowheads="1"/>
          </p:cNvSpPr>
          <p:nvPr/>
        </p:nvSpPr>
        <p:spPr bwMode="auto">
          <a:xfrm>
            <a:off x="7929563"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15" name="Line 95">
            <a:extLst>
              <a:ext uri="{FF2B5EF4-FFF2-40B4-BE49-F238E27FC236}">
                <a16:creationId xmlns:a16="http://schemas.microsoft.com/office/drawing/2014/main" id="{81F6B44D-C641-4F1A-9CB5-4A32BF3E6864}"/>
              </a:ext>
            </a:extLst>
          </p:cNvPr>
          <p:cNvSpPr>
            <a:spLocks noChangeShapeType="1"/>
          </p:cNvSpPr>
          <p:nvPr/>
        </p:nvSpPr>
        <p:spPr bwMode="auto">
          <a:xfrm>
            <a:off x="7929563"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6" name="Line 96">
            <a:extLst>
              <a:ext uri="{FF2B5EF4-FFF2-40B4-BE49-F238E27FC236}">
                <a16:creationId xmlns:a16="http://schemas.microsoft.com/office/drawing/2014/main" id="{5FE0B3B6-E5BF-41DF-B252-BF3F1E4148AC}"/>
              </a:ext>
            </a:extLst>
          </p:cNvPr>
          <p:cNvSpPr>
            <a:spLocks noChangeShapeType="1"/>
          </p:cNvSpPr>
          <p:nvPr/>
        </p:nvSpPr>
        <p:spPr bwMode="auto">
          <a:xfrm>
            <a:off x="7929563"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7" name="Rectangle 97">
            <a:extLst>
              <a:ext uri="{FF2B5EF4-FFF2-40B4-BE49-F238E27FC236}">
                <a16:creationId xmlns:a16="http://schemas.microsoft.com/office/drawing/2014/main" id="{422A23AC-F389-41A1-BB4F-BA76A2BA8F5F}"/>
              </a:ext>
            </a:extLst>
          </p:cNvPr>
          <p:cNvSpPr>
            <a:spLocks noChangeArrowheads="1"/>
          </p:cNvSpPr>
          <p:nvPr/>
        </p:nvSpPr>
        <p:spPr bwMode="auto">
          <a:xfrm>
            <a:off x="78676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18" name="Rectangle 98">
            <a:extLst>
              <a:ext uri="{FF2B5EF4-FFF2-40B4-BE49-F238E27FC236}">
                <a16:creationId xmlns:a16="http://schemas.microsoft.com/office/drawing/2014/main" id="{CB85F9D7-B399-44A9-A6EB-19BD61694682}"/>
              </a:ext>
            </a:extLst>
          </p:cNvPr>
          <p:cNvSpPr>
            <a:spLocks noChangeArrowheads="1"/>
          </p:cNvSpPr>
          <p:nvPr/>
        </p:nvSpPr>
        <p:spPr bwMode="auto">
          <a:xfrm>
            <a:off x="786765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19" name="Rectangle 99">
            <a:extLst>
              <a:ext uri="{FF2B5EF4-FFF2-40B4-BE49-F238E27FC236}">
                <a16:creationId xmlns:a16="http://schemas.microsoft.com/office/drawing/2014/main" id="{22D52DEB-E353-48B6-B025-8FE2425B7BA0}"/>
              </a:ext>
            </a:extLst>
          </p:cNvPr>
          <p:cNvSpPr>
            <a:spLocks noChangeArrowheads="1"/>
          </p:cNvSpPr>
          <p:nvPr/>
        </p:nvSpPr>
        <p:spPr bwMode="auto">
          <a:xfrm>
            <a:off x="78676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20" name="Rectangle 100">
            <a:extLst>
              <a:ext uri="{FF2B5EF4-FFF2-40B4-BE49-F238E27FC236}">
                <a16:creationId xmlns:a16="http://schemas.microsoft.com/office/drawing/2014/main" id="{C2C83718-2360-42C8-9E98-F0624C91FB39}"/>
              </a:ext>
            </a:extLst>
          </p:cNvPr>
          <p:cNvSpPr>
            <a:spLocks noChangeArrowheads="1"/>
          </p:cNvSpPr>
          <p:nvPr/>
        </p:nvSpPr>
        <p:spPr bwMode="auto">
          <a:xfrm>
            <a:off x="8288338" y="1471613"/>
            <a:ext cx="161925"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21" name="Line 101">
            <a:extLst>
              <a:ext uri="{FF2B5EF4-FFF2-40B4-BE49-F238E27FC236}">
                <a16:creationId xmlns:a16="http://schemas.microsoft.com/office/drawing/2014/main" id="{D9FC7F82-E9FB-4C2E-8B53-5EFEE957B863}"/>
              </a:ext>
            </a:extLst>
          </p:cNvPr>
          <p:cNvSpPr>
            <a:spLocks noChangeShapeType="1"/>
          </p:cNvSpPr>
          <p:nvPr/>
        </p:nvSpPr>
        <p:spPr bwMode="auto">
          <a:xfrm>
            <a:off x="8288338" y="167322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2" name="Line 102">
            <a:extLst>
              <a:ext uri="{FF2B5EF4-FFF2-40B4-BE49-F238E27FC236}">
                <a16:creationId xmlns:a16="http://schemas.microsoft.com/office/drawing/2014/main" id="{F96C84EE-015C-44E8-9E4C-A9EF2DE5AA0F}"/>
              </a:ext>
            </a:extLst>
          </p:cNvPr>
          <p:cNvSpPr>
            <a:spLocks noChangeShapeType="1"/>
          </p:cNvSpPr>
          <p:nvPr/>
        </p:nvSpPr>
        <p:spPr bwMode="auto">
          <a:xfrm>
            <a:off x="8288338" y="188277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3" name="Rectangle 103">
            <a:extLst>
              <a:ext uri="{FF2B5EF4-FFF2-40B4-BE49-F238E27FC236}">
                <a16:creationId xmlns:a16="http://schemas.microsoft.com/office/drawing/2014/main" id="{3D911AAC-7B74-40DC-85F1-9EB947AACC49}"/>
              </a:ext>
            </a:extLst>
          </p:cNvPr>
          <p:cNvSpPr>
            <a:spLocks noChangeArrowheads="1"/>
          </p:cNvSpPr>
          <p:nvPr/>
        </p:nvSpPr>
        <p:spPr bwMode="auto">
          <a:xfrm>
            <a:off x="82359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24" name="Rectangle 104">
            <a:extLst>
              <a:ext uri="{FF2B5EF4-FFF2-40B4-BE49-F238E27FC236}">
                <a16:creationId xmlns:a16="http://schemas.microsoft.com/office/drawing/2014/main" id="{50884DC1-2C4F-428D-B774-11963920C6A9}"/>
              </a:ext>
            </a:extLst>
          </p:cNvPr>
          <p:cNvSpPr>
            <a:spLocks noChangeArrowheads="1"/>
          </p:cNvSpPr>
          <p:nvPr/>
        </p:nvSpPr>
        <p:spPr bwMode="auto">
          <a:xfrm>
            <a:off x="82375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25" name="Rectangle 105">
            <a:extLst>
              <a:ext uri="{FF2B5EF4-FFF2-40B4-BE49-F238E27FC236}">
                <a16:creationId xmlns:a16="http://schemas.microsoft.com/office/drawing/2014/main" id="{019D9ED8-44D9-40EC-9059-80040EB37585}"/>
              </a:ext>
            </a:extLst>
          </p:cNvPr>
          <p:cNvSpPr>
            <a:spLocks noChangeArrowheads="1"/>
          </p:cNvSpPr>
          <p:nvPr/>
        </p:nvSpPr>
        <p:spPr bwMode="auto">
          <a:xfrm>
            <a:off x="82359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26" name="Rectangle 106">
            <a:extLst>
              <a:ext uri="{FF2B5EF4-FFF2-40B4-BE49-F238E27FC236}">
                <a16:creationId xmlns:a16="http://schemas.microsoft.com/office/drawing/2014/main" id="{14CE0BCA-5511-4986-9B57-82D161520FF7}"/>
              </a:ext>
            </a:extLst>
          </p:cNvPr>
          <p:cNvSpPr>
            <a:spLocks noChangeArrowheads="1"/>
          </p:cNvSpPr>
          <p:nvPr/>
        </p:nvSpPr>
        <p:spPr bwMode="auto">
          <a:xfrm>
            <a:off x="8662988" y="1471613"/>
            <a:ext cx="147637"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27" name="Line 107">
            <a:extLst>
              <a:ext uri="{FF2B5EF4-FFF2-40B4-BE49-F238E27FC236}">
                <a16:creationId xmlns:a16="http://schemas.microsoft.com/office/drawing/2014/main" id="{6E2042AE-F4FF-4BA3-8EEA-9BC9B6383EFE}"/>
              </a:ext>
            </a:extLst>
          </p:cNvPr>
          <p:cNvSpPr>
            <a:spLocks noChangeShapeType="1"/>
          </p:cNvSpPr>
          <p:nvPr/>
        </p:nvSpPr>
        <p:spPr bwMode="auto">
          <a:xfrm>
            <a:off x="8662988" y="167322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8" name="Line 108">
            <a:extLst>
              <a:ext uri="{FF2B5EF4-FFF2-40B4-BE49-F238E27FC236}">
                <a16:creationId xmlns:a16="http://schemas.microsoft.com/office/drawing/2014/main" id="{9E78436B-87AF-4DD6-8F5D-A8E6D67EFC01}"/>
              </a:ext>
            </a:extLst>
          </p:cNvPr>
          <p:cNvSpPr>
            <a:spLocks noChangeShapeType="1"/>
          </p:cNvSpPr>
          <p:nvPr/>
        </p:nvSpPr>
        <p:spPr bwMode="auto">
          <a:xfrm>
            <a:off x="8662988" y="188277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9" name="Rectangle 109">
            <a:extLst>
              <a:ext uri="{FF2B5EF4-FFF2-40B4-BE49-F238E27FC236}">
                <a16:creationId xmlns:a16="http://schemas.microsoft.com/office/drawing/2014/main" id="{A9CF73E6-654F-4F0A-BB07-626A586EB76A}"/>
              </a:ext>
            </a:extLst>
          </p:cNvPr>
          <p:cNvSpPr>
            <a:spLocks noChangeArrowheads="1"/>
          </p:cNvSpPr>
          <p:nvPr/>
        </p:nvSpPr>
        <p:spPr bwMode="auto">
          <a:xfrm>
            <a:off x="8609013"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30" name="Rectangle 110">
            <a:extLst>
              <a:ext uri="{FF2B5EF4-FFF2-40B4-BE49-F238E27FC236}">
                <a16:creationId xmlns:a16="http://schemas.microsoft.com/office/drawing/2014/main" id="{9B505F62-03C4-40C7-941B-DBAD09E87401}"/>
              </a:ext>
            </a:extLst>
          </p:cNvPr>
          <p:cNvSpPr>
            <a:spLocks noChangeArrowheads="1"/>
          </p:cNvSpPr>
          <p:nvPr/>
        </p:nvSpPr>
        <p:spPr bwMode="auto">
          <a:xfrm>
            <a:off x="86058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31" name="Rectangle 111">
            <a:extLst>
              <a:ext uri="{FF2B5EF4-FFF2-40B4-BE49-F238E27FC236}">
                <a16:creationId xmlns:a16="http://schemas.microsoft.com/office/drawing/2014/main" id="{8B7CE425-D352-4982-8DD5-3DABA8A36A23}"/>
              </a:ext>
            </a:extLst>
          </p:cNvPr>
          <p:cNvSpPr>
            <a:spLocks noChangeArrowheads="1"/>
          </p:cNvSpPr>
          <p:nvPr/>
        </p:nvSpPr>
        <p:spPr bwMode="auto">
          <a:xfrm>
            <a:off x="8609013" y="187325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32" name="Rectangle 112">
            <a:extLst>
              <a:ext uri="{FF2B5EF4-FFF2-40B4-BE49-F238E27FC236}">
                <a16:creationId xmlns:a16="http://schemas.microsoft.com/office/drawing/2014/main" id="{ED6FD0FB-B235-4770-9F87-D6FF5CF85A05}"/>
              </a:ext>
            </a:extLst>
          </p:cNvPr>
          <p:cNvSpPr>
            <a:spLocks noChangeArrowheads="1"/>
          </p:cNvSpPr>
          <p:nvPr/>
        </p:nvSpPr>
        <p:spPr bwMode="auto">
          <a:xfrm>
            <a:off x="1471613" y="2155825"/>
            <a:ext cx="108426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5233" name="Rectangle 113">
            <a:extLst>
              <a:ext uri="{FF2B5EF4-FFF2-40B4-BE49-F238E27FC236}">
                <a16:creationId xmlns:a16="http://schemas.microsoft.com/office/drawing/2014/main" id="{7B2DA95B-E255-453C-B80A-D41A6CA20E8C}"/>
              </a:ext>
            </a:extLst>
          </p:cNvPr>
          <p:cNvSpPr>
            <a:spLocks noChangeArrowheads="1"/>
          </p:cNvSpPr>
          <p:nvPr/>
        </p:nvSpPr>
        <p:spPr bwMode="auto">
          <a:xfrm>
            <a:off x="1403350" y="952500"/>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5234" name="Rectangle 115">
            <a:extLst>
              <a:ext uri="{FF2B5EF4-FFF2-40B4-BE49-F238E27FC236}">
                <a16:creationId xmlns:a16="http://schemas.microsoft.com/office/drawing/2014/main" id="{D040599F-9223-4F97-A18B-2EA0A7FB8EAC}"/>
              </a:ext>
            </a:extLst>
          </p:cNvPr>
          <p:cNvSpPr>
            <a:spLocks noChangeArrowheads="1"/>
          </p:cNvSpPr>
          <p:nvPr/>
        </p:nvSpPr>
        <p:spPr bwMode="auto">
          <a:xfrm>
            <a:off x="609600" y="2613025"/>
            <a:ext cx="7005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nSpc>
                <a:spcPct val="90000"/>
              </a:lnSpc>
              <a:spcBef>
                <a:spcPct val="0"/>
              </a:spcBef>
              <a:buClrTx/>
              <a:buSzTx/>
              <a:buFontTx/>
              <a:buNone/>
            </a:pPr>
            <a:r>
              <a:rPr lang="en-US" altLang="ko-KR" sz="1800">
                <a:latin typeface="Times New Roman" panose="02020603050405020304" pitchFamily="18" charset="0"/>
              </a:rPr>
              <a:t>FIFO algorithm selects the page that has been in memory the longest time</a:t>
            </a:r>
          </a:p>
        </p:txBody>
      </p:sp>
      <p:sp>
        <p:nvSpPr>
          <p:cNvPr id="5235" name="Rectangle 116">
            <a:extLst>
              <a:ext uri="{FF2B5EF4-FFF2-40B4-BE49-F238E27FC236}">
                <a16:creationId xmlns:a16="http://schemas.microsoft.com/office/drawing/2014/main" id="{4B9E77F4-3809-425E-87E5-4F71E0406650}"/>
              </a:ext>
            </a:extLst>
          </p:cNvPr>
          <p:cNvSpPr>
            <a:spLocks noChangeArrowheads="1"/>
          </p:cNvSpPr>
          <p:nvPr/>
        </p:nvSpPr>
        <p:spPr bwMode="auto">
          <a:xfrm>
            <a:off x="314325" y="4054475"/>
            <a:ext cx="75946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u="sng">
                <a:latin typeface="Times New Roman" panose="02020603050405020304" pitchFamily="18" charset="0"/>
              </a:rPr>
              <a:t>Optimal Replacement</a:t>
            </a:r>
            <a:r>
              <a:rPr lang="en-US" altLang="ko-KR" sz="1800">
                <a:latin typeface="Times New Roman" panose="02020603050405020304" pitchFamily="18" charset="0"/>
              </a:rPr>
              <a:t> (OPT) - Lowest page fault rate of all algorithms</a:t>
            </a:r>
          </a:p>
        </p:txBody>
      </p:sp>
      <p:sp>
        <p:nvSpPr>
          <p:cNvPr id="5236" name="Rectangle 118">
            <a:extLst>
              <a:ext uri="{FF2B5EF4-FFF2-40B4-BE49-F238E27FC236}">
                <a16:creationId xmlns:a16="http://schemas.microsoft.com/office/drawing/2014/main" id="{CF7DFEFB-08B8-41FD-94C9-BE083D4C2654}"/>
              </a:ext>
            </a:extLst>
          </p:cNvPr>
          <p:cNvSpPr>
            <a:spLocks noChangeArrowheads="1"/>
          </p:cNvSpPr>
          <p:nvPr/>
        </p:nvSpPr>
        <p:spPr bwMode="auto">
          <a:xfrm>
            <a:off x="1014413" y="4489450"/>
            <a:ext cx="77978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Replace that page which will not be used for the longest period of time</a:t>
            </a:r>
          </a:p>
        </p:txBody>
      </p:sp>
      <p:sp>
        <p:nvSpPr>
          <p:cNvPr id="5237" name="Rectangle 119">
            <a:extLst>
              <a:ext uri="{FF2B5EF4-FFF2-40B4-BE49-F238E27FC236}">
                <a16:creationId xmlns:a16="http://schemas.microsoft.com/office/drawing/2014/main" id="{7B95B3D7-2C34-4465-89E7-99B74AFD0336}"/>
              </a:ext>
            </a:extLst>
          </p:cNvPr>
          <p:cNvSpPr>
            <a:spLocks noChangeArrowheads="1"/>
          </p:cNvSpPr>
          <p:nvPr/>
        </p:nvSpPr>
        <p:spPr bwMode="auto">
          <a:xfrm>
            <a:off x="1001713" y="4460875"/>
            <a:ext cx="7837487" cy="3444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38" name="Rectangle 120">
            <a:extLst>
              <a:ext uri="{FF2B5EF4-FFF2-40B4-BE49-F238E27FC236}">
                <a16:creationId xmlns:a16="http://schemas.microsoft.com/office/drawing/2014/main" id="{28E73723-98B2-4D7B-B36D-DCC4E08D02ED}"/>
              </a:ext>
            </a:extLst>
          </p:cNvPr>
          <p:cNvSpPr>
            <a:spLocks noChangeArrowheads="1"/>
          </p:cNvSpPr>
          <p:nvPr/>
        </p:nvSpPr>
        <p:spPr bwMode="auto">
          <a:xfrm>
            <a:off x="4360863" y="4760913"/>
            <a:ext cx="33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39" name="Rectangle 121">
            <a:extLst>
              <a:ext uri="{FF2B5EF4-FFF2-40B4-BE49-F238E27FC236}">
                <a16:creationId xmlns:a16="http://schemas.microsoft.com/office/drawing/2014/main" id="{C98EA2EC-82E2-4600-B71B-843AF859460B}"/>
              </a:ext>
            </a:extLst>
          </p:cNvPr>
          <p:cNvSpPr>
            <a:spLocks noChangeArrowheads="1"/>
          </p:cNvSpPr>
          <p:nvPr/>
        </p:nvSpPr>
        <p:spPr bwMode="auto">
          <a:xfrm>
            <a:off x="137636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40" name="Line 122">
            <a:extLst>
              <a:ext uri="{FF2B5EF4-FFF2-40B4-BE49-F238E27FC236}">
                <a16:creationId xmlns:a16="http://schemas.microsoft.com/office/drawing/2014/main" id="{4FAE0EE5-9461-48AF-B8DE-05A0B03A491A}"/>
              </a:ext>
            </a:extLst>
          </p:cNvPr>
          <p:cNvSpPr>
            <a:spLocks noChangeShapeType="1"/>
          </p:cNvSpPr>
          <p:nvPr/>
        </p:nvSpPr>
        <p:spPr bwMode="auto">
          <a:xfrm>
            <a:off x="137636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1" name="Line 123">
            <a:extLst>
              <a:ext uri="{FF2B5EF4-FFF2-40B4-BE49-F238E27FC236}">
                <a16:creationId xmlns:a16="http://schemas.microsoft.com/office/drawing/2014/main" id="{3D0E15CB-6F6C-480D-AD88-A81551055767}"/>
              </a:ext>
            </a:extLst>
          </p:cNvPr>
          <p:cNvSpPr>
            <a:spLocks noChangeShapeType="1"/>
          </p:cNvSpPr>
          <p:nvPr/>
        </p:nvSpPr>
        <p:spPr bwMode="auto">
          <a:xfrm>
            <a:off x="137636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2" name="Rectangle 124">
            <a:extLst>
              <a:ext uri="{FF2B5EF4-FFF2-40B4-BE49-F238E27FC236}">
                <a16:creationId xmlns:a16="http://schemas.microsoft.com/office/drawing/2014/main" id="{8E03405B-C74A-4ED6-856D-CF023FE89721}"/>
              </a:ext>
            </a:extLst>
          </p:cNvPr>
          <p:cNvSpPr>
            <a:spLocks noChangeArrowheads="1"/>
          </p:cNvSpPr>
          <p:nvPr/>
        </p:nvSpPr>
        <p:spPr bwMode="auto">
          <a:xfrm>
            <a:off x="10525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43" name="Rectangle 125">
            <a:extLst>
              <a:ext uri="{FF2B5EF4-FFF2-40B4-BE49-F238E27FC236}">
                <a16:creationId xmlns:a16="http://schemas.microsoft.com/office/drawing/2014/main" id="{0E79EFD7-64FA-4955-8718-B333A90ADAE5}"/>
              </a:ext>
            </a:extLst>
          </p:cNvPr>
          <p:cNvSpPr>
            <a:spLocks noChangeArrowheads="1"/>
          </p:cNvSpPr>
          <p:nvPr/>
        </p:nvSpPr>
        <p:spPr bwMode="auto">
          <a:xfrm>
            <a:off x="133826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44" name="Rectangle 126">
            <a:extLst>
              <a:ext uri="{FF2B5EF4-FFF2-40B4-BE49-F238E27FC236}">
                <a16:creationId xmlns:a16="http://schemas.microsoft.com/office/drawing/2014/main" id="{5677CDBC-A6F7-4056-8679-3D280296DF9E}"/>
              </a:ext>
            </a:extLst>
          </p:cNvPr>
          <p:cNvSpPr>
            <a:spLocks noChangeArrowheads="1"/>
          </p:cNvSpPr>
          <p:nvPr/>
        </p:nvSpPr>
        <p:spPr bwMode="auto">
          <a:xfrm>
            <a:off x="1747838" y="5476875"/>
            <a:ext cx="168275"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45" name="Line 127">
            <a:extLst>
              <a:ext uri="{FF2B5EF4-FFF2-40B4-BE49-F238E27FC236}">
                <a16:creationId xmlns:a16="http://schemas.microsoft.com/office/drawing/2014/main" id="{E914AAA3-B79C-46C3-AB62-F5964F3F92D8}"/>
              </a:ext>
            </a:extLst>
          </p:cNvPr>
          <p:cNvSpPr>
            <a:spLocks noChangeShapeType="1"/>
          </p:cNvSpPr>
          <p:nvPr/>
        </p:nvSpPr>
        <p:spPr bwMode="auto">
          <a:xfrm>
            <a:off x="1747838" y="568007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6" name="Line 128">
            <a:extLst>
              <a:ext uri="{FF2B5EF4-FFF2-40B4-BE49-F238E27FC236}">
                <a16:creationId xmlns:a16="http://schemas.microsoft.com/office/drawing/2014/main" id="{8C27500C-3DC4-4891-B2FA-CC82071A0045}"/>
              </a:ext>
            </a:extLst>
          </p:cNvPr>
          <p:cNvSpPr>
            <a:spLocks noChangeShapeType="1"/>
          </p:cNvSpPr>
          <p:nvPr/>
        </p:nvSpPr>
        <p:spPr bwMode="auto">
          <a:xfrm>
            <a:off x="1747838" y="588962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7" name="Rectangle 129">
            <a:extLst>
              <a:ext uri="{FF2B5EF4-FFF2-40B4-BE49-F238E27FC236}">
                <a16:creationId xmlns:a16="http://schemas.microsoft.com/office/drawing/2014/main" id="{F5C1295A-0851-46D4-A183-2CC0CEDF0282}"/>
              </a:ext>
            </a:extLst>
          </p:cNvPr>
          <p:cNvSpPr>
            <a:spLocks noChangeArrowheads="1"/>
          </p:cNvSpPr>
          <p:nvPr/>
        </p:nvSpPr>
        <p:spPr bwMode="auto">
          <a:xfrm>
            <a:off x="1441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48" name="Rectangle 130">
            <a:extLst>
              <a:ext uri="{FF2B5EF4-FFF2-40B4-BE49-F238E27FC236}">
                <a16:creationId xmlns:a16="http://schemas.microsoft.com/office/drawing/2014/main" id="{522C6968-0D51-4103-98EE-54AD9264553E}"/>
              </a:ext>
            </a:extLst>
          </p:cNvPr>
          <p:cNvSpPr>
            <a:spLocks noChangeArrowheads="1"/>
          </p:cNvSpPr>
          <p:nvPr/>
        </p:nvSpPr>
        <p:spPr bwMode="auto">
          <a:xfrm>
            <a:off x="170021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49" name="Rectangle 131">
            <a:extLst>
              <a:ext uri="{FF2B5EF4-FFF2-40B4-BE49-F238E27FC236}">
                <a16:creationId xmlns:a16="http://schemas.microsoft.com/office/drawing/2014/main" id="{FBE97165-F9FA-4FA9-99D3-242C153478E6}"/>
              </a:ext>
            </a:extLst>
          </p:cNvPr>
          <p:cNvSpPr>
            <a:spLocks noChangeArrowheads="1"/>
          </p:cNvSpPr>
          <p:nvPr/>
        </p:nvSpPr>
        <p:spPr bwMode="auto">
          <a:xfrm>
            <a:off x="181292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0" name="Rectangle 132">
            <a:extLst>
              <a:ext uri="{FF2B5EF4-FFF2-40B4-BE49-F238E27FC236}">
                <a16:creationId xmlns:a16="http://schemas.microsoft.com/office/drawing/2014/main" id="{D0EE3339-D782-4974-86FD-6829CF85A53A}"/>
              </a:ext>
            </a:extLst>
          </p:cNvPr>
          <p:cNvSpPr>
            <a:spLocks noChangeArrowheads="1"/>
          </p:cNvSpPr>
          <p:nvPr/>
        </p:nvSpPr>
        <p:spPr bwMode="auto">
          <a:xfrm>
            <a:off x="22002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1" name="Rectangle 133">
            <a:extLst>
              <a:ext uri="{FF2B5EF4-FFF2-40B4-BE49-F238E27FC236}">
                <a16:creationId xmlns:a16="http://schemas.microsoft.com/office/drawing/2014/main" id="{960539FB-BB1B-41A5-8657-52712881B126}"/>
              </a:ext>
            </a:extLst>
          </p:cNvPr>
          <p:cNvSpPr>
            <a:spLocks noChangeArrowheads="1"/>
          </p:cNvSpPr>
          <p:nvPr/>
        </p:nvSpPr>
        <p:spPr bwMode="auto">
          <a:xfrm>
            <a:off x="25892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2" name="Rectangle 134">
            <a:extLst>
              <a:ext uri="{FF2B5EF4-FFF2-40B4-BE49-F238E27FC236}">
                <a16:creationId xmlns:a16="http://schemas.microsoft.com/office/drawing/2014/main" id="{3A27E9CF-DA30-4A7A-9E4D-3154756B1694}"/>
              </a:ext>
            </a:extLst>
          </p:cNvPr>
          <p:cNvSpPr>
            <a:spLocks noChangeArrowheads="1"/>
          </p:cNvSpPr>
          <p:nvPr/>
        </p:nvSpPr>
        <p:spPr bwMode="auto">
          <a:xfrm>
            <a:off x="29591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3" name="Rectangle 135">
            <a:extLst>
              <a:ext uri="{FF2B5EF4-FFF2-40B4-BE49-F238E27FC236}">
                <a16:creationId xmlns:a16="http://schemas.microsoft.com/office/drawing/2014/main" id="{3D0D1F71-C008-4DF5-A8C0-B0E5F4BE8819}"/>
              </a:ext>
            </a:extLst>
          </p:cNvPr>
          <p:cNvSpPr>
            <a:spLocks noChangeArrowheads="1"/>
          </p:cNvSpPr>
          <p:nvPr/>
        </p:nvSpPr>
        <p:spPr bwMode="auto">
          <a:xfrm>
            <a:off x="3346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254" name="Rectangle 136">
            <a:extLst>
              <a:ext uri="{FF2B5EF4-FFF2-40B4-BE49-F238E27FC236}">
                <a16:creationId xmlns:a16="http://schemas.microsoft.com/office/drawing/2014/main" id="{97E8A223-7616-4C95-8BCE-9676EC811EDA}"/>
              </a:ext>
            </a:extLst>
          </p:cNvPr>
          <p:cNvSpPr>
            <a:spLocks noChangeArrowheads="1"/>
          </p:cNvSpPr>
          <p:nvPr/>
        </p:nvSpPr>
        <p:spPr bwMode="auto">
          <a:xfrm>
            <a:off x="37322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5" name="Rectangle 137">
            <a:extLst>
              <a:ext uri="{FF2B5EF4-FFF2-40B4-BE49-F238E27FC236}">
                <a16:creationId xmlns:a16="http://schemas.microsoft.com/office/drawing/2014/main" id="{64BB0B37-055B-4F3C-BA08-8F25E7C6D87E}"/>
              </a:ext>
            </a:extLst>
          </p:cNvPr>
          <p:cNvSpPr>
            <a:spLocks noChangeArrowheads="1"/>
          </p:cNvSpPr>
          <p:nvPr/>
        </p:nvSpPr>
        <p:spPr bwMode="auto">
          <a:xfrm>
            <a:off x="41052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6" name="Rectangle 138">
            <a:extLst>
              <a:ext uri="{FF2B5EF4-FFF2-40B4-BE49-F238E27FC236}">
                <a16:creationId xmlns:a16="http://schemas.microsoft.com/office/drawing/2014/main" id="{0A6C4068-1F16-4689-93FE-86699AF71BED}"/>
              </a:ext>
            </a:extLst>
          </p:cNvPr>
          <p:cNvSpPr>
            <a:spLocks noChangeArrowheads="1"/>
          </p:cNvSpPr>
          <p:nvPr/>
        </p:nvSpPr>
        <p:spPr bwMode="auto">
          <a:xfrm>
            <a:off x="44958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7" name="Rectangle 139">
            <a:extLst>
              <a:ext uri="{FF2B5EF4-FFF2-40B4-BE49-F238E27FC236}">
                <a16:creationId xmlns:a16="http://schemas.microsoft.com/office/drawing/2014/main" id="{6A84EE90-0193-4EBD-84D2-5FDF268FF883}"/>
              </a:ext>
            </a:extLst>
          </p:cNvPr>
          <p:cNvSpPr>
            <a:spLocks noChangeArrowheads="1"/>
          </p:cNvSpPr>
          <p:nvPr/>
        </p:nvSpPr>
        <p:spPr bwMode="auto">
          <a:xfrm>
            <a:off x="487838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8" name="Rectangle 140">
            <a:extLst>
              <a:ext uri="{FF2B5EF4-FFF2-40B4-BE49-F238E27FC236}">
                <a16:creationId xmlns:a16="http://schemas.microsoft.com/office/drawing/2014/main" id="{2F815B1F-ABBB-4616-840E-4BCECD32CEB5}"/>
              </a:ext>
            </a:extLst>
          </p:cNvPr>
          <p:cNvSpPr>
            <a:spLocks noChangeArrowheads="1"/>
          </p:cNvSpPr>
          <p:nvPr/>
        </p:nvSpPr>
        <p:spPr bwMode="auto">
          <a:xfrm>
            <a:off x="5251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9" name="Rectangle 141">
            <a:extLst>
              <a:ext uri="{FF2B5EF4-FFF2-40B4-BE49-F238E27FC236}">
                <a16:creationId xmlns:a16="http://schemas.microsoft.com/office/drawing/2014/main" id="{839B6123-A73F-436A-8462-1C2C083D3E9F}"/>
              </a:ext>
            </a:extLst>
          </p:cNvPr>
          <p:cNvSpPr>
            <a:spLocks noChangeArrowheads="1"/>
          </p:cNvSpPr>
          <p:nvPr/>
        </p:nvSpPr>
        <p:spPr bwMode="auto">
          <a:xfrm>
            <a:off x="56419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60" name="Rectangle 142">
            <a:extLst>
              <a:ext uri="{FF2B5EF4-FFF2-40B4-BE49-F238E27FC236}">
                <a16:creationId xmlns:a16="http://schemas.microsoft.com/office/drawing/2014/main" id="{6911EEE0-4A1F-4A44-8173-2C1FA1376BD6}"/>
              </a:ext>
            </a:extLst>
          </p:cNvPr>
          <p:cNvSpPr>
            <a:spLocks noChangeArrowheads="1"/>
          </p:cNvSpPr>
          <p:nvPr/>
        </p:nvSpPr>
        <p:spPr bwMode="auto">
          <a:xfrm>
            <a:off x="602932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61" name="Rectangle 143">
            <a:extLst>
              <a:ext uri="{FF2B5EF4-FFF2-40B4-BE49-F238E27FC236}">
                <a16:creationId xmlns:a16="http://schemas.microsoft.com/office/drawing/2014/main" id="{32462C77-2D2B-414B-9576-8E5016B09400}"/>
              </a:ext>
            </a:extLst>
          </p:cNvPr>
          <p:cNvSpPr>
            <a:spLocks noChangeArrowheads="1"/>
          </p:cNvSpPr>
          <p:nvPr/>
        </p:nvSpPr>
        <p:spPr bwMode="auto">
          <a:xfrm>
            <a:off x="639603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62" name="Rectangle 144">
            <a:extLst>
              <a:ext uri="{FF2B5EF4-FFF2-40B4-BE49-F238E27FC236}">
                <a16:creationId xmlns:a16="http://schemas.microsoft.com/office/drawing/2014/main" id="{F64F6341-1E23-4406-B43F-6ADBA68B3A12}"/>
              </a:ext>
            </a:extLst>
          </p:cNvPr>
          <p:cNvSpPr>
            <a:spLocks noChangeArrowheads="1"/>
          </p:cNvSpPr>
          <p:nvPr/>
        </p:nvSpPr>
        <p:spPr bwMode="auto">
          <a:xfrm>
            <a:off x="67881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63" name="Rectangle 145">
            <a:extLst>
              <a:ext uri="{FF2B5EF4-FFF2-40B4-BE49-F238E27FC236}">
                <a16:creationId xmlns:a16="http://schemas.microsoft.com/office/drawing/2014/main" id="{B31D8A59-C401-4D0B-B9AB-927A4475E8E1}"/>
              </a:ext>
            </a:extLst>
          </p:cNvPr>
          <p:cNvSpPr>
            <a:spLocks noChangeArrowheads="1"/>
          </p:cNvSpPr>
          <p:nvPr/>
        </p:nvSpPr>
        <p:spPr bwMode="auto">
          <a:xfrm>
            <a:off x="71755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64" name="Rectangle 146">
            <a:extLst>
              <a:ext uri="{FF2B5EF4-FFF2-40B4-BE49-F238E27FC236}">
                <a16:creationId xmlns:a16="http://schemas.microsoft.com/office/drawing/2014/main" id="{92E8B43E-4F28-4D19-B270-81EE124A70A9}"/>
              </a:ext>
            </a:extLst>
          </p:cNvPr>
          <p:cNvSpPr>
            <a:spLocks noChangeArrowheads="1"/>
          </p:cNvSpPr>
          <p:nvPr/>
        </p:nvSpPr>
        <p:spPr bwMode="auto">
          <a:xfrm>
            <a:off x="98901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65" name="Line 147">
            <a:extLst>
              <a:ext uri="{FF2B5EF4-FFF2-40B4-BE49-F238E27FC236}">
                <a16:creationId xmlns:a16="http://schemas.microsoft.com/office/drawing/2014/main" id="{7AE2F7C7-5670-40FC-A10A-750BFF9A1D69}"/>
              </a:ext>
            </a:extLst>
          </p:cNvPr>
          <p:cNvSpPr>
            <a:spLocks noChangeShapeType="1"/>
          </p:cNvSpPr>
          <p:nvPr/>
        </p:nvSpPr>
        <p:spPr bwMode="auto">
          <a:xfrm>
            <a:off x="98901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66" name="Line 148">
            <a:extLst>
              <a:ext uri="{FF2B5EF4-FFF2-40B4-BE49-F238E27FC236}">
                <a16:creationId xmlns:a16="http://schemas.microsoft.com/office/drawing/2014/main" id="{82F11197-7B3C-4E3F-BBD1-F01C8261C1B0}"/>
              </a:ext>
            </a:extLst>
          </p:cNvPr>
          <p:cNvSpPr>
            <a:spLocks noChangeShapeType="1"/>
          </p:cNvSpPr>
          <p:nvPr/>
        </p:nvSpPr>
        <p:spPr bwMode="auto">
          <a:xfrm>
            <a:off x="98901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67" name="Rectangle 149">
            <a:extLst>
              <a:ext uri="{FF2B5EF4-FFF2-40B4-BE49-F238E27FC236}">
                <a16:creationId xmlns:a16="http://schemas.microsoft.com/office/drawing/2014/main" id="{B73C3087-0C18-4E64-B72A-EA5B5984439A}"/>
              </a:ext>
            </a:extLst>
          </p:cNvPr>
          <p:cNvSpPr>
            <a:spLocks noChangeArrowheads="1"/>
          </p:cNvSpPr>
          <p:nvPr/>
        </p:nvSpPr>
        <p:spPr bwMode="auto">
          <a:xfrm>
            <a:off x="6667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68" name="Rectangle 150">
            <a:extLst>
              <a:ext uri="{FF2B5EF4-FFF2-40B4-BE49-F238E27FC236}">
                <a16:creationId xmlns:a16="http://schemas.microsoft.com/office/drawing/2014/main" id="{2250FD79-70D4-43A1-B82D-CF7E447C008F}"/>
              </a:ext>
            </a:extLst>
          </p:cNvPr>
          <p:cNvSpPr>
            <a:spLocks noChangeArrowheads="1"/>
          </p:cNvSpPr>
          <p:nvPr/>
        </p:nvSpPr>
        <p:spPr bwMode="auto">
          <a:xfrm>
            <a:off x="75628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69" name="Rectangle 151">
            <a:extLst>
              <a:ext uri="{FF2B5EF4-FFF2-40B4-BE49-F238E27FC236}">
                <a16:creationId xmlns:a16="http://schemas.microsoft.com/office/drawing/2014/main" id="{E70856A6-68B6-4B8E-A6BF-A18D64EC771F}"/>
              </a:ext>
            </a:extLst>
          </p:cNvPr>
          <p:cNvSpPr>
            <a:spLocks noChangeArrowheads="1"/>
          </p:cNvSpPr>
          <p:nvPr/>
        </p:nvSpPr>
        <p:spPr bwMode="auto">
          <a:xfrm>
            <a:off x="793273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70" name="Rectangle 152">
            <a:extLst>
              <a:ext uri="{FF2B5EF4-FFF2-40B4-BE49-F238E27FC236}">
                <a16:creationId xmlns:a16="http://schemas.microsoft.com/office/drawing/2014/main" id="{09D69327-F092-4566-8608-10809CF96FE0}"/>
              </a:ext>
            </a:extLst>
          </p:cNvPr>
          <p:cNvSpPr>
            <a:spLocks noChangeArrowheads="1"/>
          </p:cNvSpPr>
          <p:nvPr/>
        </p:nvSpPr>
        <p:spPr bwMode="auto">
          <a:xfrm>
            <a:off x="1319213" y="56673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1" name="Rectangle 153">
            <a:extLst>
              <a:ext uri="{FF2B5EF4-FFF2-40B4-BE49-F238E27FC236}">
                <a16:creationId xmlns:a16="http://schemas.microsoft.com/office/drawing/2014/main" id="{D13A749A-81B1-47EF-B8C5-F8A5EEDF8BAD}"/>
              </a:ext>
            </a:extLst>
          </p:cNvPr>
          <p:cNvSpPr>
            <a:spLocks noChangeArrowheads="1"/>
          </p:cNvSpPr>
          <p:nvPr/>
        </p:nvSpPr>
        <p:spPr bwMode="auto">
          <a:xfrm>
            <a:off x="1701800"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2" name="Rectangle 154">
            <a:extLst>
              <a:ext uri="{FF2B5EF4-FFF2-40B4-BE49-F238E27FC236}">
                <a16:creationId xmlns:a16="http://schemas.microsoft.com/office/drawing/2014/main" id="{D0945BCB-8DDB-4A9D-A638-408E0EED6BB2}"/>
              </a:ext>
            </a:extLst>
          </p:cNvPr>
          <p:cNvSpPr>
            <a:spLocks noChangeArrowheads="1"/>
          </p:cNvSpPr>
          <p:nvPr/>
        </p:nvSpPr>
        <p:spPr bwMode="auto">
          <a:xfrm>
            <a:off x="933450" y="54625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73" name="Rectangle 155">
            <a:extLst>
              <a:ext uri="{FF2B5EF4-FFF2-40B4-BE49-F238E27FC236}">
                <a16:creationId xmlns:a16="http://schemas.microsoft.com/office/drawing/2014/main" id="{71ECA11A-1731-462F-A16D-F74DBBFEA5E2}"/>
              </a:ext>
            </a:extLst>
          </p:cNvPr>
          <p:cNvSpPr>
            <a:spLocks noChangeArrowheads="1"/>
          </p:cNvSpPr>
          <p:nvPr/>
        </p:nvSpPr>
        <p:spPr bwMode="auto">
          <a:xfrm>
            <a:off x="170021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74" name="Rectangle 156">
            <a:extLst>
              <a:ext uri="{FF2B5EF4-FFF2-40B4-BE49-F238E27FC236}">
                <a16:creationId xmlns:a16="http://schemas.microsoft.com/office/drawing/2014/main" id="{6696DB2D-7182-42FB-A618-74B440A58BDB}"/>
              </a:ext>
            </a:extLst>
          </p:cNvPr>
          <p:cNvSpPr>
            <a:spLocks noChangeArrowheads="1"/>
          </p:cNvSpPr>
          <p:nvPr/>
        </p:nvSpPr>
        <p:spPr bwMode="auto">
          <a:xfrm>
            <a:off x="2135188"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75" name="Line 157">
            <a:extLst>
              <a:ext uri="{FF2B5EF4-FFF2-40B4-BE49-F238E27FC236}">
                <a16:creationId xmlns:a16="http://schemas.microsoft.com/office/drawing/2014/main" id="{5FBED6D9-7DF5-443C-84C4-61F800C74E04}"/>
              </a:ext>
            </a:extLst>
          </p:cNvPr>
          <p:cNvSpPr>
            <a:spLocks noChangeShapeType="1"/>
          </p:cNvSpPr>
          <p:nvPr/>
        </p:nvSpPr>
        <p:spPr bwMode="auto">
          <a:xfrm>
            <a:off x="2135188"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76" name="Line 158">
            <a:extLst>
              <a:ext uri="{FF2B5EF4-FFF2-40B4-BE49-F238E27FC236}">
                <a16:creationId xmlns:a16="http://schemas.microsoft.com/office/drawing/2014/main" id="{3C276C94-AF8A-4703-8475-19F99ABF1714}"/>
              </a:ext>
            </a:extLst>
          </p:cNvPr>
          <p:cNvSpPr>
            <a:spLocks noChangeShapeType="1"/>
          </p:cNvSpPr>
          <p:nvPr/>
        </p:nvSpPr>
        <p:spPr bwMode="auto">
          <a:xfrm>
            <a:off x="2135188"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77" name="Rectangle 159">
            <a:extLst>
              <a:ext uri="{FF2B5EF4-FFF2-40B4-BE49-F238E27FC236}">
                <a16:creationId xmlns:a16="http://schemas.microsoft.com/office/drawing/2014/main" id="{888190B1-A37D-47EE-91FD-5EEB08F0C236}"/>
              </a:ext>
            </a:extLst>
          </p:cNvPr>
          <p:cNvSpPr>
            <a:spLocks noChangeArrowheads="1"/>
          </p:cNvSpPr>
          <p:nvPr/>
        </p:nvSpPr>
        <p:spPr bwMode="auto">
          <a:xfrm>
            <a:off x="2070100" y="54673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78" name="Rectangle 160">
            <a:extLst>
              <a:ext uri="{FF2B5EF4-FFF2-40B4-BE49-F238E27FC236}">
                <a16:creationId xmlns:a16="http://schemas.microsoft.com/office/drawing/2014/main" id="{8CF4C5C5-7F1D-4140-8CA0-CA249261AF0F}"/>
              </a:ext>
            </a:extLst>
          </p:cNvPr>
          <p:cNvSpPr>
            <a:spLocks noChangeArrowheads="1"/>
          </p:cNvSpPr>
          <p:nvPr/>
        </p:nvSpPr>
        <p:spPr bwMode="auto">
          <a:xfrm>
            <a:off x="2079625" y="56769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9" name="Rectangle 161">
            <a:extLst>
              <a:ext uri="{FF2B5EF4-FFF2-40B4-BE49-F238E27FC236}">
                <a16:creationId xmlns:a16="http://schemas.microsoft.com/office/drawing/2014/main" id="{8E24D752-3DD2-4057-91AB-7A2286456358}"/>
              </a:ext>
            </a:extLst>
          </p:cNvPr>
          <p:cNvSpPr>
            <a:spLocks noChangeArrowheads="1"/>
          </p:cNvSpPr>
          <p:nvPr/>
        </p:nvSpPr>
        <p:spPr bwMode="auto">
          <a:xfrm>
            <a:off x="2078038"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80" name="Rectangle 162">
            <a:extLst>
              <a:ext uri="{FF2B5EF4-FFF2-40B4-BE49-F238E27FC236}">
                <a16:creationId xmlns:a16="http://schemas.microsoft.com/office/drawing/2014/main" id="{A7CA2CC3-4B58-4B57-99E2-6B4C98D25838}"/>
              </a:ext>
            </a:extLst>
          </p:cNvPr>
          <p:cNvSpPr>
            <a:spLocks noChangeArrowheads="1"/>
          </p:cNvSpPr>
          <p:nvPr/>
        </p:nvSpPr>
        <p:spPr bwMode="auto">
          <a:xfrm>
            <a:off x="2894013" y="5476875"/>
            <a:ext cx="168275"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81" name="Line 163">
            <a:extLst>
              <a:ext uri="{FF2B5EF4-FFF2-40B4-BE49-F238E27FC236}">
                <a16:creationId xmlns:a16="http://schemas.microsoft.com/office/drawing/2014/main" id="{4DD0996A-9299-4279-8798-813C0160CDD3}"/>
              </a:ext>
            </a:extLst>
          </p:cNvPr>
          <p:cNvSpPr>
            <a:spLocks noChangeShapeType="1"/>
          </p:cNvSpPr>
          <p:nvPr/>
        </p:nvSpPr>
        <p:spPr bwMode="auto">
          <a:xfrm>
            <a:off x="2894013" y="568007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2" name="Line 164">
            <a:extLst>
              <a:ext uri="{FF2B5EF4-FFF2-40B4-BE49-F238E27FC236}">
                <a16:creationId xmlns:a16="http://schemas.microsoft.com/office/drawing/2014/main" id="{1215D3E5-27D8-40EC-B40D-B7B7677DA88B}"/>
              </a:ext>
            </a:extLst>
          </p:cNvPr>
          <p:cNvSpPr>
            <a:spLocks noChangeShapeType="1"/>
          </p:cNvSpPr>
          <p:nvPr/>
        </p:nvSpPr>
        <p:spPr bwMode="auto">
          <a:xfrm>
            <a:off x="2894013" y="588962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3" name="Rectangle 165">
            <a:extLst>
              <a:ext uri="{FF2B5EF4-FFF2-40B4-BE49-F238E27FC236}">
                <a16:creationId xmlns:a16="http://schemas.microsoft.com/office/drawing/2014/main" id="{8AFBDE3C-9183-4435-BD07-F6868920ACC2}"/>
              </a:ext>
            </a:extLst>
          </p:cNvPr>
          <p:cNvSpPr>
            <a:spLocks noChangeArrowheads="1"/>
          </p:cNvSpPr>
          <p:nvPr/>
        </p:nvSpPr>
        <p:spPr bwMode="auto">
          <a:xfrm>
            <a:off x="2846388"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84" name="Rectangle 166">
            <a:extLst>
              <a:ext uri="{FF2B5EF4-FFF2-40B4-BE49-F238E27FC236}">
                <a16:creationId xmlns:a16="http://schemas.microsoft.com/office/drawing/2014/main" id="{E8B05343-A72B-4232-BD12-7B59325B04AB}"/>
              </a:ext>
            </a:extLst>
          </p:cNvPr>
          <p:cNvSpPr>
            <a:spLocks noChangeArrowheads="1"/>
          </p:cNvSpPr>
          <p:nvPr/>
        </p:nvSpPr>
        <p:spPr bwMode="auto">
          <a:xfrm>
            <a:off x="2847975"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85" name="Rectangle 167">
            <a:extLst>
              <a:ext uri="{FF2B5EF4-FFF2-40B4-BE49-F238E27FC236}">
                <a16:creationId xmlns:a16="http://schemas.microsoft.com/office/drawing/2014/main" id="{1B1A6102-EAE4-4990-A5CF-1C582E9075D9}"/>
              </a:ext>
            </a:extLst>
          </p:cNvPr>
          <p:cNvSpPr>
            <a:spLocks noChangeArrowheads="1"/>
          </p:cNvSpPr>
          <p:nvPr/>
        </p:nvSpPr>
        <p:spPr bwMode="auto">
          <a:xfrm>
            <a:off x="2846388" y="58801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86" name="Rectangle 168">
            <a:extLst>
              <a:ext uri="{FF2B5EF4-FFF2-40B4-BE49-F238E27FC236}">
                <a16:creationId xmlns:a16="http://schemas.microsoft.com/office/drawing/2014/main" id="{A6131C22-9CF9-492B-B76A-2742A30F7096}"/>
              </a:ext>
            </a:extLst>
          </p:cNvPr>
          <p:cNvSpPr>
            <a:spLocks noChangeArrowheads="1"/>
          </p:cNvSpPr>
          <p:nvPr/>
        </p:nvSpPr>
        <p:spPr bwMode="auto">
          <a:xfrm>
            <a:off x="366871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87" name="Line 169">
            <a:extLst>
              <a:ext uri="{FF2B5EF4-FFF2-40B4-BE49-F238E27FC236}">
                <a16:creationId xmlns:a16="http://schemas.microsoft.com/office/drawing/2014/main" id="{82F999A6-A7D2-41DD-B865-3445F982B224}"/>
              </a:ext>
            </a:extLst>
          </p:cNvPr>
          <p:cNvSpPr>
            <a:spLocks noChangeShapeType="1"/>
          </p:cNvSpPr>
          <p:nvPr/>
        </p:nvSpPr>
        <p:spPr bwMode="auto">
          <a:xfrm>
            <a:off x="366871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8" name="Line 170">
            <a:extLst>
              <a:ext uri="{FF2B5EF4-FFF2-40B4-BE49-F238E27FC236}">
                <a16:creationId xmlns:a16="http://schemas.microsoft.com/office/drawing/2014/main" id="{2928E195-F452-4B10-9EF3-DB3270BC0F9B}"/>
              </a:ext>
            </a:extLst>
          </p:cNvPr>
          <p:cNvSpPr>
            <a:spLocks noChangeShapeType="1"/>
          </p:cNvSpPr>
          <p:nvPr/>
        </p:nvSpPr>
        <p:spPr bwMode="auto">
          <a:xfrm>
            <a:off x="366871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9" name="Rectangle 171">
            <a:extLst>
              <a:ext uri="{FF2B5EF4-FFF2-40B4-BE49-F238E27FC236}">
                <a16:creationId xmlns:a16="http://schemas.microsoft.com/office/drawing/2014/main" id="{E8E1E5C7-D761-47B7-B6D2-B20A40D1AFD8}"/>
              </a:ext>
            </a:extLst>
          </p:cNvPr>
          <p:cNvSpPr>
            <a:spLocks noChangeArrowheads="1"/>
          </p:cNvSpPr>
          <p:nvPr/>
        </p:nvSpPr>
        <p:spPr bwMode="auto">
          <a:xfrm>
            <a:off x="3613150" y="54625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90" name="Rectangle 172">
            <a:extLst>
              <a:ext uri="{FF2B5EF4-FFF2-40B4-BE49-F238E27FC236}">
                <a16:creationId xmlns:a16="http://schemas.microsoft.com/office/drawing/2014/main" id="{5DA8BDD7-D834-4183-87ED-64298664180A}"/>
              </a:ext>
            </a:extLst>
          </p:cNvPr>
          <p:cNvSpPr>
            <a:spLocks noChangeArrowheads="1"/>
          </p:cNvSpPr>
          <p:nvPr/>
        </p:nvSpPr>
        <p:spPr bwMode="auto">
          <a:xfrm>
            <a:off x="3603625" y="56642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291" name="Rectangle 173">
            <a:extLst>
              <a:ext uri="{FF2B5EF4-FFF2-40B4-BE49-F238E27FC236}">
                <a16:creationId xmlns:a16="http://schemas.microsoft.com/office/drawing/2014/main" id="{B113E8F3-4AEA-485A-8018-622E553FDC20}"/>
              </a:ext>
            </a:extLst>
          </p:cNvPr>
          <p:cNvSpPr>
            <a:spLocks noChangeArrowheads="1"/>
          </p:cNvSpPr>
          <p:nvPr/>
        </p:nvSpPr>
        <p:spPr bwMode="auto">
          <a:xfrm>
            <a:off x="3603625" y="58801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92" name="Rectangle 174">
            <a:extLst>
              <a:ext uri="{FF2B5EF4-FFF2-40B4-BE49-F238E27FC236}">
                <a16:creationId xmlns:a16="http://schemas.microsoft.com/office/drawing/2014/main" id="{ECAB726E-5F08-430C-9492-363BDDE21AA7}"/>
              </a:ext>
            </a:extLst>
          </p:cNvPr>
          <p:cNvSpPr>
            <a:spLocks noChangeArrowheads="1"/>
          </p:cNvSpPr>
          <p:nvPr/>
        </p:nvSpPr>
        <p:spPr bwMode="auto">
          <a:xfrm>
            <a:off x="4816475" y="5476875"/>
            <a:ext cx="150813"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93" name="Line 175">
            <a:extLst>
              <a:ext uri="{FF2B5EF4-FFF2-40B4-BE49-F238E27FC236}">
                <a16:creationId xmlns:a16="http://schemas.microsoft.com/office/drawing/2014/main" id="{E0BAB2E2-630E-4792-806A-380159B0E874}"/>
              </a:ext>
            </a:extLst>
          </p:cNvPr>
          <p:cNvSpPr>
            <a:spLocks noChangeShapeType="1"/>
          </p:cNvSpPr>
          <p:nvPr/>
        </p:nvSpPr>
        <p:spPr bwMode="auto">
          <a:xfrm>
            <a:off x="4816475" y="568007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94" name="Line 176">
            <a:extLst>
              <a:ext uri="{FF2B5EF4-FFF2-40B4-BE49-F238E27FC236}">
                <a16:creationId xmlns:a16="http://schemas.microsoft.com/office/drawing/2014/main" id="{EC9AB966-C82B-43E7-BB70-CC119BADD083}"/>
              </a:ext>
            </a:extLst>
          </p:cNvPr>
          <p:cNvSpPr>
            <a:spLocks noChangeShapeType="1"/>
          </p:cNvSpPr>
          <p:nvPr/>
        </p:nvSpPr>
        <p:spPr bwMode="auto">
          <a:xfrm>
            <a:off x="4816475" y="588962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95" name="Rectangle 177">
            <a:extLst>
              <a:ext uri="{FF2B5EF4-FFF2-40B4-BE49-F238E27FC236}">
                <a16:creationId xmlns:a16="http://schemas.microsoft.com/office/drawing/2014/main" id="{2FEAAE97-373B-4187-8E51-26EC84FE250B}"/>
              </a:ext>
            </a:extLst>
          </p:cNvPr>
          <p:cNvSpPr>
            <a:spLocks noChangeArrowheads="1"/>
          </p:cNvSpPr>
          <p:nvPr/>
        </p:nvSpPr>
        <p:spPr bwMode="auto">
          <a:xfrm>
            <a:off x="4770438" y="54530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96" name="Rectangle 178">
            <a:extLst>
              <a:ext uri="{FF2B5EF4-FFF2-40B4-BE49-F238E27FC236}">
                <a16:creationId xmlns:a16="http://schemas.microsoft.com/office/drawing/2014/main" id="{442E6455-8A70-4C02-84D1-BD10A9B24671}"/>
              </a:ext>
            </a:extLst>
          </p:cNvPr>
          <p:cNvSpPr>
            <a:spLocks noChangeArrowheads="1"/>
          </p:cNvSpPr>
          <p:nvPr/>
        </p:nvSpPr>
        <p:spPr bwMode="auto">
          <a:xfrm>
            <a:off x="4764088" y="56769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97" name="Rectangle 179">
            <a:extLst>
              <a:ext uri="{FF2B5EF4-FFF2-40B4-BE49-F238E27FC236}">
                <a16:creationId xmlns:a16="http://schemas.microsoft.com/office/drawing/2014/main" id="{909DE76F-FD4E-4BD4-8164-BCD138095B05}"/>
              </a:ext>
            </a:extLst>
          </p:cNvPr>
          <p:cNvSpPr>
            <a:spLocks noChangeArrowheads="1"/>
          </p:cNvSpPr>
          <p:nvPr/>
        </p:nvSpPr>
        <p:spPr bwMode="auto">
          <a:xfrm>
            <a:off x="476091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98" name="Rectangle 180">
            <a:extLst>
              <a:ext uri="{FF2B5EF4-FFF2-40B4-BE49-F238E27FC236}">
                <a16:creationId xmlns:a16="http://schemas.microsoft.com/office/drawing/2014/main" id="{B30358AC-B253-4D6C-86C1-D86381A11A83}"/>
              </a:ext>
            </a:extLst>
          </p:cNvPr>
          <p:cNvSpPr>
            <a:spLocks noChangeArrowheads="1"/>
          </p:cNvSpPr>
          <p:nvPr/>
        </p:nvSpPr>
        <p:spPr bwMode="auto">
          <a:xfrm>
            <a:off x="5962650" y="5476875"/>
            <a:ext cx="150813"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99" name="Line 181">
            <a:extLst>
              <a:ext uri="{FF2B5EF4-FFF2-40B4-BE49-F238E27FC236}">
                <a16:creationId xmlns:a16="http://schemas.microsoft.com/office/drawing/2014/main" id="{23A7D56F-B11D-419F-9A77-8F01329B26F0}"/>
              </a:ext>
            </a:extLst>
          </p:cNvPr>
          <p:cNvSpPr>
            <a:spLocks noChangeShapeType="1"/>
          </p:cNvSpPr>
          <p:nvPr/>
        </p:nvSpPr>
        <p:spPr bwMode="auto">
          <a:xfrm>
            <a:off x="5962650" y="568007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0" name="Line 182">
            <a:extLst>
              <a:ext uri="{FF2B5EF4-FFF2-40B4-BE49-F238E27FC236}">
                <a16:creationId xmlns:a16="http://schemas.microsoft.com/office/drawing/2014/main" id="{10397760-8BAA-4BDC-A0A8-E4028C033A02}"/>
              </a:ext>
            </a:extLst>
          </p:cNvPr>
          <p:cNvSpPr>
            <a:spLocks noChangeShapeType="1"/>
          </p:cNvSpPr>
          <p:nvPr/>
        </p:nvSpPr>
        <p:spPr bwMode="auto">
          <a:xfrm>
            <a:off x="5962650" y="588962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1" name="Rectangle 183">
            <a:extLst>
              <a:ext uri="{FF2B5EF4-FFF2-40B4-BE49-F238E27FC236}">
                <a16:creationId xmlns:a16="http://schemas.microsoft.com/office/drawing/2014/main" id="{EEEAFA9E-7092-401A-A630-281846632E43}"/>
              </a:ext>
            </a:extLst>
          </p:cNvPr>
          <p:cNvSpPr>
            <a:spLocks noChangeArrowheads="1"/>
          </p:cNvSpPr>
          <p:nvPr/>
        </p:nvSpPr>
        <p:spPr bwMode="auto">
          <a:xfrm>
            <a:off x="589756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302" name="Rectangle 184">
            <a:extLst>
              <a:ext uri="{FF2B5EF4-FFF2-40B4-BE49-F238E27FC236}">
                <a16:creationId xmlns:a16="http://schemas.microsoft.com/office/drawing/2014/main" id="{DA8CA7F9-7A97-41EC-B469-24AE633BC034}"/>
              </a:ext>
            </a:extLst>
          </p:cNvPr>
          <p:cNvSpPr>
            <a:spLocks noChangeArrowheads="1"/>
          </p:cNvSpPr>
          <p:nvPr/>
        </p:nvSpPr>
        <p:spPr bwMode="auto">
          <a:xfrm>
            <a:off x="5900738" y="56769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303" name="Rectangle 185">
            <a:extLst>
              <a:ext uri="{FF2B5EF4-FFF2-40B4-BE49-F238E27FC236}">
                <a16:creationId xmlns:a16="http://schemas.microsoft.com/office/drawing/2014/main" id="{43434CBC-8355-4199-B4E5-25C102F00041}"/>
              </a:ext>
            </a:extLst>
          </p:cNvPr>
          <p:cNvSpPr>
            <a:spLocks noChangeArrowheads="1"/>
          </p:cNvSpPr>
          <p:nvPr/>
        </p:nvSpPr>
        <p:spPr bwMode="auto">
          <a:xfrm>
            <a:off x="589756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304" name="Rectangle 186">
            <a:extLst>
              <a:ext uri="{FF2B5EF4-FFF2-40B4-BE49-F238E27FC236}">
                <a16:creationId xmlns:a16="http://schemas.microsoft.com/office/drawing/2014/main" id="{AF401DA7-F965-42A6-8DF6-19E3682EF574}"/>
              </a:ext>
            </a:extLst>
          </p:cNvPr>
          <p:cNvSpPr>
            <a:spLocks noChangeArrowheads="1"/>
          </p:cNvSpPr>
          <p:nvPr/>
        </p:nvSpPr>
        <p:spPr bwMode="auto">
          <a:xfrm>
            <a:off x="7496175"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305" name="Line 187">
            <a:extLst>
              <a:ext uri="{FF2B5EF4-FFF2-40B4-BE49-F238E27FC236}">
                <a16:creationId xmlns:a16="http://schemas.microsoft.com/office/drawing/2014/main" id="{40C62724-F41B-4753-B079-0229A9C8B9EB}"/>
              </a:ext>
            </a:extLst>
          </p:cNvPr>
          <p:cNvSpPr>
            <a:spLocks noChangeShapeType="1"/>
          </p:cNvSpPr>
          <p:nvPr/>
        </p:nvSpPr>
        <p:spPr bwMode="auto">
          <a:xfrm>
            <a:off x="7496175"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6" name="Line 188">
            <a:extLst>
              <a:ext uri="{FF2B5EF4-FFF2-40B4-BE49-F238E27FC236}">
                <a16:creationId xmlns:a16="http://schemas.microsoft.com/office/drawing/2014/main" id="{A2A8535C-92E3-415A-8F1F-73E825BF7B49}"/>
              </a:ext>
            </a:extLst>
          </p:cNvPr>
          <p:cNvSpPr>
            <a:spLocks noChangeShapeType="1"/>
          </p:cNvSpPr>
          <p:nvPr/>
        </p:nvSpPr>
        <p:spPr bwMode="auto">
          <a:xfrm>
            <a:off x="7496175"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7" name="Rectangle 189">
            <a:extLst>
              <a:ext uri="{FF2B5EF4-FFF2-40B4-BE49-F238E27FC236}">
                <a16:creationId xmlns:a16="http://schemas.microsoft.com/office/drawing/2014/main" id="{A348C016-365E-411E-9F22-08A4E1D27E05}"/>
              </a:ext>
            </a:extLst>
          </p:cNvPr>
          <p:cNvSpPr>
            <a:spLocks noChangeArrowheads="1"/>
          </p:cNvSpPr>
          <p:nvPr/>
        </p:nvSpPr>
        <p:spPr bwMode="auto">
          <a:xfrm>
            <a:off x="744061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308" name="Rectangle 190">
            <a:extLst>
              <a:ext uri="{FF2B5EF4-FFF2-40B4-BE49-F238E27FC236}">
                <a16:creationId xmlns:a16="http://schemas.microsoft.com/office/drawing/2014/main" id="{175CABEF-C9DC-448C-85C1-D42DB9B213DA}"/>
              </a:ext>
            </a:extLst>
          </p:cNvPr>
          <p:cNvSpPr>
            <a:spLocks noChangeArrowheads="1"/>
          </p:cNvSpPr>
          <p:nvPr/>
        </p:nvSpPr>
        <p:spPr bwMode="auto">
          <a:xfrm>
            <a:off x="7445375"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309" name="Rectangle 191">
            <a:extLst>
              <a:ext uri="{FF2B5EF4-FFF2-40B4-BE49-F238E27FC236}">
                <a16:creationId xmlns:a16="http://schemas.microsoft.com/office/drawing/2014/main" id="{D6D36EA1-D15A-4D34-9291-8593B86E381A}"/>
              </a:ext>
            </a:extLst>
          </p:cNvPr>
          <p:cNvSpPr>
            <a:spLocks noChangeArrowheads="1"/>
          </p:cNvSpPr>
          <p:nvPr/>
        </p:nvSpPr>
        <p:spPr bwMode="auto">
          <a:xfrm>
            <a:off x="7440613" y="586105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310" name="Rectangle 192">
            <a:extLst>
              <a:ext uri="{FF2B5EF4-FFF2-40B4-BE49-F238E27FC236}">
                <a16:creationId xmlns:a16="http://schemas.microsoft.com/office/drawing/2014/main" id="{3B3D0F8F-0923-4406-872C-18D415BE6A09}"/>
              </a:ext>
            </a:extLst>
          </p:cNvPr>
          <p:cNvSpPr>
            <a:spLocks noChangeArrowheads="1"/>
          </p:cNvSpPr>
          <p:nvPr/>
        </p:nvSpPr>
        <p:spPr bwMode="auto">
          <a:xfrm>
            <a:off x="819150" y="6215063"/>
            <a:ext cx="108426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5311" name="Rectangle 193">
            <a:extLst>
              <a:ext uri="{FF2B5EF4-FFF2-40B4-BE49-F238E27FC236}">
                <a16:creationId xmlns:a16="http://schemas.microsoft.com/office/drawing/2014/main" id="{AFA1AAE1-A8B1-4E34-A1AF-B40AB1EEFA69}"/>
              </a:ext>
            </a:extLst>
          </p:cNvPr>
          <p:cNvSpPr>
            <a:spLocks noChangeArrowheads="1"/>
          </p:cNvSpPr>
          <p:nvPr/>
        </p:nvSpPr>
        <p:spPr bwMode="auto">
          <a:xfrm>
            <a:off x="750888" y="4954588"/>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5312" name="Rectangle 195">
            <a:extLst>
              <a:ext uri="{FF2B5EF4-FFF2-40B4-BE49-F238E27FC236}">
                <a16:creationId xmlns:a16="http://schemas.microsoft.com/office/drawing/2014/main" id="{FB9A2CF1-6724-4D06-B59D-E2C83EDDA43E}"/>
              </a:ext>
            </a:extLst>
          </p:cNvPr>
          <p:cNvSpPr>
            <a:spLocks noChangeArrowheads="1"/>
          </p:cNvSpPr>
          <p:nvPr/>
        </p:nvSpPr>
        <p:spPr bwMode="auto">
          <a:xfrm>
            <a:off x="76803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6725C5E-C05E-40ED-9E2E-329B3055431D}"/>
              </a:ext>
            </a:extLst>
          </p:cNvPr>
          <p:cNvSpPr>
            <a:spLocks noGrp="1" noChangeArrowheads="1"/>
          </p:cNvSpPr>
          <p:nvPr>
            <p:ph type="title"/>
          </p:nvPr>
        </p:nvSpPr>
        <p:spPr>
          <a:xfrm>
            <a:off x="463550" y="254000"/>
            <a:ext cx="8175625" cy="488950"/>
          </a:xfrm>
          <a:noFill/>
        </p:spPr>
        <p:txBody>
          <a:bodyPr anchor="ctr"/>
          <a:lstStyle/>
          <a:p>
            <a:r>
              <a:rPr lang="en-US" altLang="ko-KR" sz="2400">
                <a:solidFill>
                  <a:schemeClr val="tx1"/>
                </a:solidFill>
              </a:rPr>
              <a:t>PAGE  REPLACEMENT  ALGORITHMS</a:t>
            </a:r>
          </a:p>
        </p:txBody>
      </p:sp>
      <p:sp>
        <p:nvSpPr>
          <p:cNvPr id="6147" name="Rectangle 3">
            <a:extLst>
              <a:ext uri="{FF2B5EF4-FFF2-40B4-BE49-F238E27FC236}">
                <a16:creationId xmlns:a16="http://schemas.microsoft.com/office/drawing/2014/main" id="{F2CCA6ED-054A-46AA-BA6C-CDB62ED62FB5}"/>
              </a:ext>
            </a:extLst>
          </p:cNvPr>
          <p:cNvSpPr>
            <a:spLocks noChangeArrowheads="1"/>
          </p:cNvSpPr>
          <p:nvPr/>
        </p:nvSpPr>
        <p:spPr bwMode="auto">
          <a:xfrm>
            <a:off x="633413" y="1169988"/>
            <a:ext cx="635952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   - OPT is difficult to implement since it requires future knowledge</a:t>
            </a:r>
          </a:p>
        </p:txBody>
      </p:sp>
      <p:sp>
        <p:nvSpPr>
          <p:cNvPr id="6148" name="Rectangle 4">
            <a:extLst>
              <a:ext uri="{FF2B5EF4-FFF2-40B4-BE49-F238E27FC236}">
                <a16:creationId xmlns:a16="http://schemas.microsoft.com/office/drawing/2014/main" id="{3F9502BE-AD35-4E2D-8E27-210B255BEF06}"/>
              </a:ext>
            </a:extLst>
          </p:cNvPr>
          <p:cNvSpPr>
            <a:spLocks noChangeArrowheads="1"/>
          </p:cNvSpPr>
          <p:nvPr/>
        </p:nvSpPr>
        <p:spPr bwMode="auto">
          <a:xfrm>
            <a:off x="1760538" y="1930400"/>
            <a:ext cx="43307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Replace that page which has not been </a:t>
            </a:r>
          </a:p>
          <a:p>
            <a:pPr algn="ctr">
              <a:lnSpc>
                <a:spcPct val="101000"/>
              </a:lnSpc>
              <a:spcBef>
                <a:spcPct val="0"/>
              </a:spcBef>
              <a:buClrTx/>
              <a:buSzTx/>
              <a:buFontTx/>
              <a:buNone/>
            </a:pPr>
            <a:r>
              <a:rPr lang="en-US" altLang="ko-KR" sz="1800">
                <a:latin typeface="Times New Roman" panose="02020603050405020304" pitchFamily="18" charset="0"/>
              </a:rPr>
              <a:t>used for the longest period of time</a:t>
            </a:r>
          </a:p>
        </p:txBody>
      </p:sp>
      <p:sp>
        <p:nvSpPr>
          <p:cNvPr id="6149" name="Rectangle 5">
            <a:extLst>
              <a:ext uri="{FF2B5EF4-FFF2-40B4-BE49-F238E27FC236}">
                <a16:creationId xmlns:a16="http://schemas.microsoft.com/office/drawing/2014/main" id="{F57D3190-9BCC-404F-A773-FD6BD616D87F}"/>
              </a:ext>
            </a:extLst>
          </p:cNvPr>
          <p:cNvSpPr>
            <a:spLocks noChangeArrowheads="1"/>
          </p:cNvSpPr>
          <p:nvPr/>
        </p:nvSpPr>
        <p:spPr bwMode="auto">
          <a:xfrm>
            <a:off x="1676400" y="1946275"/>
            <a:ext cx="6253163" cy="59531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0" name="Rectangle 6">
            <a:extLst>
              <a:ext uri="{FF2B5EF4-FFF2-40B4-BE49-F238E27FC236}">
                <a16:creationId xmlns:a16="http://schemas.microsoft.com/office/drawing/2014/main" id="{843D8BF0-318D-4E7A-AEEC-25B7FE5711C2}"/>
              </a:ext>
            </a:extLst>
          </p:cNvPr>
          <p:cNvSpPr>
            <a:spLocks noChangeArrowheads="1"/>
          </p:cNvSpPr>
          <p:nvPr/>
        </p:nvSpPr>
        <p:spPr bwMode="auto">
          <a:xfrm>
            <a:off x="436563" y="868363"/>
            <a:ext cx="650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800" u="sng">
                <a:latin typeface="Times New Roman" panose="02020603050405020304" pitchFamily="18" charset="0"/>
              </a:rPr>
              <a:t>LRU</a:t>
            </a:r>
          </a:p>
        </p:txBody>
      </p:sp>
      <p:sp>
        <p:nvSpPr>
          <p:cNvPr id="6151" name="Rectangle 7">
            <a:extLst>
              <a:ext uri="{FF2B5EF4-FFF2-40B4-BE49-F238E27FC236}">
                <a16:creationId xmlns:a16="http://schemas.microsoft.com/office/drawing/2014/main" id="{64470E33-C34D-4721-AB5C-35A05C68919C}"/>
              </a:ext>
            </a:extLst>
          </p:cNvPr>
          <p:cNvSpPr>
            <a:spLocks noChangeArrowheads="1"/>
          </p:cNvSpPr>
          <p:nvPr/>
        </p:nvSpPr>
        <p:spPr bwMode="auto">
          <a:xfrm>
            <a:off x="2301875"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2" name="Line 8">
            <a:extLst>
              <a:ext uri="{FF2B5EF4-FFF2-40B4-BE49-F238E27FC236}">
                <a16:creationId xmlns:a16="http://schemas.microsoft.com/office/drawing/2014/main" id="{C427D79D-4FBA-49D0-8442-CBF0CD1268DF}"/>
              </a:ext>
            </a:extLst>
          </p:cNvPr>
          <p:cNvSpPr>
            <a:spLocks noChangeShapeType="1"/>
          </p:cNvSpPr>
          <p:nvPr/>
        </p:nvSpPr>
        <p:spPr bwMode="auto">
          <a:xfrm>
            <a:off x="2301875"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3" name="Line 9">
            <a:extLst>
              <a:ext uri="{FF2B5EF4-FFF2-40B4-BE49-F238E27FC236}">
                <a16:creationId xmlns:a16="http://schemas.microsoft.com/office/drawing/2014/main" id="{36D0DD01-E5EC-4B59-AE29-32302F1484B0}"/>
              </a:ext>
            </a:extLst>
          </p:cNvPr>
          <p:cNvSpPr>
            <a:spLocks noChangeShapeType="1"/>
          </p:cNvSpPr>
          <p:nvPr/>
        </p:nvSpPr>
        <p:spPr bwMode="auto">
          <a:xfrm>
            <a:off x="2301875"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4" name="Rectangle 10">
            <a:extLst>
              <a:ext uri="{FF2B5EF4-FFF2-40B4-BE49-F238E27FC236}">
                <a16:creationId xmlns:a16="http://schemas.microsoft.com/office/drawing/2014/main" id="{48D5C24B-58EB-4D89-8C94-92B12F1C8DE0}"/>
              </a:ext>
            </a:extLst>
          </p:cNvPr>
          <p:cNvSpPr>
            <a:spLocks noChangeArrowheads="1"/>
          </p:cNvSpPr>
          <p:nvPr/>
        </p:nvSpPr>
        <p:spPr bwMode="auto">
          <a:xfrm>
            <a:off x="19986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55" name="Rectangle 11">
            <a:extLst>
              <a:ext uri="{FF2B5EF4-FFF2-40B4-BE49-F238E27FC236}">
                <a16:creationId xmlns:a16="http://schemas.microsoft.com/office/drawing/2014/main" id="{BE0361DA-250B-4C13-A953-B1CE68CE0259}"/>
              </a:ext>
            </a:extLst>
          </p:cNvPr>
          <p:cNvSpPr>
            <a:spLocks noChangeArrowheads="1"/>
          </p:cNvSpPr>
          <p:nvPr/>
        </p:nvSpPr>
        <p:spPr bwMode="auto">
          <a:xfrm>
            <a:off x="2243138"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56" name="Rectangle 12">
            <a:extLst>
              <a:ext uri="{FF2B5EF4-FFF2-40B4-BE49-F238E27FC236}">
                <a16:creationId xmlns:a16="http://schemas.microsoft.com/office/drawing/2014/main" id="{EC8E6DB7-E1EF-4840-B5D0-0D3FDEB75250}"/>
              </a:ext>
            </a:extLst>
          </p:cNvPr>
          <p:cNvSpPr>
            <a:spLocks noChangeArrowheads="1"/>
          </p:cNvSpPr>
          <p:nvPr/>
        </p:nvSpPr>
        <p:spPr bwMode="auto">
          <a:xfrm>
            <a:off x="2651125"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7" name="Line 13">
            <a:extLst>
              <a:ext uri="{FF2B5EF4-FFF2-40B4-BE49-F238E27FC236}">
                <a16:creationId xmlns:a16="http://schemas.microsoft.com/office/drawing/2014/main" id="{B0965E66-7E40-4AB0-8D61-913625AEB39C}"/>
              </a:ext>
            </a:extLst>
          </p:cNvPr>
          <p:cNvSpPr>
            <a:spLocks noChangeShapeType="1"/>
          </p:cNvSpPr>
          <p:nvPr/>
        </p:nvSpPr>
        <p:spPr bwMode="auto">
          <a:xfrm>
            <a:off x="2651125"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8" name="Line 14">
            <a:extLst>
              <a:ext uri="{FF2B5EF4-FFF2-40B4-BE49-F238E27FC236}">
                <a16:creationId xmlns:a16="http://schemas.microsoft.com/office/drawing/2014/main" id="{080F6E7A-4DF8-4E13-B695-E460E38843BB}"/>
              </a:ext>
            </a:extLst>
          </p:cNvPr>
          <p:cNvSpPr>
            <a:spLocks noChangeShapeType="1"/>
          </p:cNvSpPr>
          <p:nvPr/>
        </p:nvSpPr>
        <p:spPr bwMode="auto">
          <a:xfrm>
            <a:off x="2651125"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9" name="Rectangle 15">
            <a:extLst>
              <a:ext uri="{FF2B5EF4-FFF2-40B4-BE49-F238E27FC236}">
                <a16:creationId xmlns:a16="http://schemas.microsoft.com/office/drawing/2014/main" id="{592F8D9A-F8CB-427B-B278-BCC6AF7EC021}"/>
              </a:ext>
            </a:extLst>
          </p:cNvPr>
          <p:cNvSpPr>
            <a:spLocks noChangeArrowheads="1"/>
          </p:cNvSpPr>
          <p:nvPr/>
        </p:nvSpPr>
        <p:spPr bwMode="auto">
          <a:xfrm>
            <a:off x="236378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60" name="Rectangle 16">
            <a:extLst>
              <a:ext uri="{FF2B5EF4-FFF2-40B4-BE49-F238E27FC236}">
                <a16:creationId xmlns:a16="http://schemas.microsoft.com/office/drawing/2014/main" id="{2889FA5F-6096-43FD-8E5F-16E30B4BC254}"/>
              </a:ext>
            </a:extLst>
          </p:cNvPr>
          <p:cNvSpPr>
            <a:spLocks noChangeArrowheads="1"/>
          </p:cNvSpPr>
          <p:nvPr/>
        </p:nvSpPr>
        <p:spPr bwMode="auto">
          <a:xfrm>
            <a:off x="2598738" y="3416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61" name="Rectangle 17">
            <a:extLst>
              <a:ext uri="{FF2B5EF4-FFF2-40B4-BE49-F238E27FC236}">
                <a16:creationId xmlns:a16="http://schemas.microsoft.com/office/drawing/2014/main" id="{472AC338-E020-4700-8B8E-C0245487CCF6}"/>
              </a:ext>
            </a:extLst>
          </p:cNvPr>
          <p:cNvSpPr>
            <a:spLocks noChangeArrowheads="1"/>
          </p:cNvSpPr>
          <p:nvPr/>
        </p:nvSpPr>
        <p:spPr bwMode="auto">
          <a:xfrm>
            <a:off x="27130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62" name="Rectangle 18">
            <a:extLst>
              <a:ext uri="{FF2B5EF4-FFF2-40B4-BE49-F238E27FC236}">
                <a16:creationId xmlns:a16="http://schemas.microsoft.com/office/drawing/2014/main" id="{8939235B-7E7F-478B-809D-F22A76E1B2A2}"/>
              </a:ext>
            </a:extLst>
          </p:cNvPr>
          <p:cNvSpPr>
            <a:spLocks noChangeArrowheads="1"/>
          </p:cNvSpPr>
          <p:nvPr/>
        </p:nvSpPr>
        <p:spPr bwMode="auto">
          <a:xfrm>
            <a:off x="30781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3" name="Rectangle 19">
            <a:extLst>
              <a:ext uri="{FF2B5EF4-FFF2-40B4-BE49-F238E27FC236}">
                <a16:creationId xmlns:a16="http://schemas.microsoft.com/office/drawing/2014/main" id="{B77BF8D5-7461-4144-A4E6-5A425796027B}"/>
              </a:ext>
            </a:extLst>
          </p:cNvPr>
          <p:cNvSpPr>
            <a:spLocks noChangeArrowheads="1"/>
          </p:cNvSpPr>
          <p:nvPr/>
        </p:nvSpPr>
        <p:spPr bwMode="auto">
          <a:xfrm>
            <a:off x="344328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64" name="Rectangle 20">
            <a:extLst>
              <a:ext uri="{FF2B5EF4-FFF2-40B4-BE49-F238E27FC236}">
                <a16:creationId xmlns:a16="http://schemas.microsoft.com/office/drawing/2014/main" id="{502A7152-F70D-460C-A9C6-FA8D962C075C}"/>
              </a:ext>
            </a:extLst>
          </p:cNvPr>
          <p:cNvSpPr>
            <a:spLocks noChangeArrowheads="1"/>
          </p:cNvSpPr>
          <p:nvPr/>
        </p:nvSpPr>
        <p:spPr bwMode="auto">
          <a:xfrm>
            <a:off x="379571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5" name="Rectangle 21">
            <a:extLst>
              <a:ext uri="{FF2B5EF4-FFF2-40B4-BE49-F238E27FC236}">
                <a16:creationId xmlns:a16="http://schemas.microsoft.com/office/drawing/2014/main" id="{9820FFE8-3790-43A5-AF9C-B5C2A5D58ACF}"/>
              </a:ext>
            </a:extLst>
          </p:cNvPr>
          <p:cNvSpPr>
            <a:spLocks noChangeArrowheads="1"/>
          </p:cNvSpPr>
          <p:nvPr/>
        </p:nvSpPr>
        <p:spPr bwMode="auto">
          <a:xfrm>
            <a:off x="41592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166" name="Rectangle 22">
            <a:extLst>
              <a:ext uri="{FF2B5EF4-FFF2-40B4-BE49-F238E27FC236}">
                <a16:creationId xmlns:a16="http://schemas.microsoft.com/office/drawing/2014/main" id="{EA75BA80-3A60-4240-BDD1-7B778561F39A}"/>
              </a:ext>
            </a:extLst>
          </p:cNvPr>
          <p:cNvSpPr>
            <a:spLocks noChangeArrowheads="1"/>
          </p:cNvSpPr>
          <p:nvPr/>
        </p:nvSpPr>
        <p:spPr bwMode="auto">
          <a:xfrm>
            <a:off x="4524375"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67" name="Rectangle 23">
            <a:extLst>
              <a:ext uri="{FF2B5EF4-FFF2-40B4-BE49-F238E27FC236}">
                <a16:creationId xmlns:a16="http://schemas.microsoft.com/office/drawing/2014/main" id="{A4D00AFF-7F06-49FA-B946-EDF8FFA51819}"/>
              </a:ext>
            </a:extLst>
          </p:cNvPr>
          <p:cNvSpPr>
            <a:spLocks noChangeArrowheads="1"/>
          </p:cNvSpPr>
          <p:nvPr/>
        </p:nvSpPr>
        <p:spPr bwMode="auto">
          <a:xfrm>
            <a:off x="48704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68" name="Rectangle 24">
            <a:extLst>
              <a:ext uri="{FF2B5EF4-FFF2-40B4-BE49-F238E27FC236}">
                <a16:creationId xmlns:a16="http://schemas.microsoft.com/office/drawing/2014/main" id="{B8FB8F58-DBB0-477B-A274-F558CC9AB693}"/>
              </a:ext>
            </a:extLst>
          </p:cNvPr>
          <p:cNvSpPr>
            <a:spLocks noChangeArrowheads="1"/>
          </p:cNvSpPr>
          <p:nvPr/>
        </p:nvSpPr>
        <p:spPr bwMode="auto">
          <a:xfrm>
            <a:off x="52387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9" name="Rectangle 25">
            <a:extLst>
              <a:ext uri="{FF2B5EF4-FFF2-40B4-BE49-F238E27FC236}">
                <a16:creationId xmlns:a16="http://schemas.microsoft.com/office/drawing/2014/main" id="{6753F006-C9AB-4EB3-9FCA-8733CB293EDB}"/>
              </a:ext>
            </a:extLst>
          </p:cNvPr>
          <p:cNvSpPr>
            <a:spLocks noChangeArrowheads="1"/>
          </p:cNvSpPr>
          <p:nvPr/>
        </p:nvSpPr>
        <p:spPr bwMode="auto">
          <a:xfrm>
            <a:off x="5603875"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70" name="Rectangle 26">
            <a:extLst>
              <a:ext uri="{FF2B5EF4-FFF2-40B4-BE49-F238E27FC236}">
                <a16:creationId xmlns:a16="http://schemas.microsoft.com/office/drawing/2014/main" id="{AD841FB8-661D-4841-B3EF-7F87C587C936}"/>
              </a:ext>
            </a:extLst>
          </p:cNvPr>
          <p:cNvSpPr>
            <a:spLocks noChangeArrowheads="1"/>
          </p:cNvSpPr>
          <p:nvPr/>
        </p:nvSpPr>
        <p:spPr bwMode="auto">
          <a:xfrm>
            <a:off x="59515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71" name="Rectangle 27">
            <a:extLst>
              <a:ext uri="{FF2B5EF4-FFF2-40B4-BE49-F238E27FC236}">
                <a16:creationId xmlns:a16="http://schemas.microsoft.com/office/drawing/2014/main" id="{FF0809D8-92CB-40E8-A459-06410BF273A9}"/>
              </a:ext>
            </a:extLst>
          </p:cNvPr>
          <p:cNvSpPr>
            <a:spLocks noChangeArrowheads="1"/>
          </p:cNvSpPr>
          <p:nvPr/>
        </p:nvSpPr>
        <p:spPr bwMode="auto">
          <a:xfrm>
            <a:off x="63198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72" name="Rectangle 28">
            <a:extLst>
              <a:ext uri="{FF2B5EF4-FFF2-40B4-BE49-F238E27FC236}">
                <a16:creationId xmlns:a16="http://schemas.microsoft.com/office/drawing/2014/main" id="{55B33A5B-B642-4985-8D5B-128E3D6D6188}"/>
              </a:ext>
            </a:extLst>
          </p:cNvPr>
          <p:cNvSpPr>
            <a:spLocks noChangeArrowheads="1"/>
          </p:cNvSpPr>
          <p:nvPr/>
        </p:nvSpPr>
        <p:spPr bwMode="auto">
          <a:xfrm>
            <a:off x="66849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73" name="Rectangle 29">
            <a:extLst>
              <a:ext uri="{FF2B5EF4-FFF2-40B4-BE49-F238E27FC236}">
                <a16:creationId xmlns:a16="http://schemas.microsoft.com/office/drawing/2014/main" id="{9052F590-3952-46DA-A4EE-1AE50F417064}"/>
              </a:ext>
            </a:extLst>
          </p:cNvPr>
          <p:cNvSpPr>
            <a:spLocks noChangeArrowheads="1"/>
          </p:cNvSpPr>
          <p:nvPr/>
        </p:nvSpPr>
        <p:spPr bwMode="auto">
          <a:xfrm>
            <a:off x="703421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74" name="Rectangle 30">
            <a:extLst>
              <a:ext uri="{FF2B5EF4-FFF2-40B4-BE49-F238E27FC236}">
                <a16:creationId xmlns:a16="http://schemas.microsoft.com/office/drawing/2014/main" id="{30D380A6-F38D-4BB9-A0E6-244FDD928796}"/>
              </a:ext>
            </a:extLst>
          </p:cNvPr>
          <p:cNvSpPr>
            <a:spLocks noChangeArrowheads="1"/>
          </p:cNvSpPr>
          <p:nvPr/>
        </p:nvSpPr>
        <p:spPr bwMode="auto">
          <a:xfrm>
            <a:off x="73977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75" name="Rectangle 31">
            <a:extLst>
              <a:ext uri="{FF2B5EF4-FFF2-40B4-BE49-F238E27FC236}">
                <a16:creationId xmlns:a16="http://schemas.microsoft.com/office/drawing/2014/main" id="{35F22BEF-9392-41F8-8E9A-B7E68F6FAE10}"/>
              </a:ext>
            </a:extLst>
          </p:cNvPr>
          <p:cNvSpPr>
            <a:spLocks noChangeArrowheads="1"/>
          </p:cNvSpPr>
          <p:nvPr/>
        </p:nvSpPr>
        <p:spPr bwMode="auto">
          <a:xfrm>
            <a:off x="77660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76" name="Rectangle 32">
            <a:extLst>
              <a:ext uri="{FF2B5EF4-FFF2-40B4-BE49-F238E27FC236}">
                <a16:creationId xmlns:a16="http://schemas.microsoft.com/office/drawing/2014/main" id="{F080D52B-9D7A-4848-A91E-7DD50CB4B98B}"/>
              </a:ext>
            </a:extLst>
          </p:cNvPr>
          <p:cNvSpPr>
            <a:spLocks noChangeArrowheads="1"/>
          </p:cNvSpPr>
          <p:nvPr/>
        </p:nvSpPr>
        <p:spPr bwMode="auto">
          <a:xfrm>
            <a:off x="1936750"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77" name="Line 33">
            <a:extLst>
              <a:ext uri="{FF2B5EF4-FFF2-40B4-BE49-F238E27FC236}">
                <a16:creationId xmlns:a16="http://schemas.microsoft.com/office/drawing/2014/main" id="{EB6ED969-FB61-464B-9BF6-D407473EC4AA}"/>
              </a:ext>
            </a:extLst>
          </p:cNvPr>
          <p:cNvSpPr>
            <a:spLocks noChangeShapeType="1"/>
          </p:cNvSpPr>
          <p:nvPr/>
        </p:nvSpPr>
        <p:spPr bwMode="auto">
          <a:xfrm>
            <a:off x="1936750"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78" name="Line 34">
            <a:extLst>
              <a:ext uri="{FF2B5EF4-FFF2-40B4-BE49-F238E27FC236}">
                <a16:creationId xmlns:a16="http://schemas.microsoft.com/office/drawing/2014/main" id="{9C06DAB0-A8F4-46EE-92AF-DC7F0B6CF4E7}"/>
              </a:ext>
            </a:extLst>
          </p:cNvPr>
          <p:cNvSpPr>
            <a:spLocks noChangeShapeType="1"/>
          </p:cNvSpPr>
          <p:nvPr/>
        </p:nvSpPr>
        <p:spPr bwMode="auto">
          <a:xfrm>
            <a:off x="1936750"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79" name="Rectangle 35">
            <a:extLst>
              <a:ext uri="{FF2B5EF4-FFF2-40B4-BE49-F238E27FC236}">
                <a16:creationId xmlns:a16="http://schemas.microsoft.com/office/drawing/2014/main" id="{22CB4532-38DF-4A4C-A3AF-F101C32C57E4}"/>
              </a:ext>
            </a:extLst>
          </p:cNvPr>
          <p:cNvSpPr>
            <a:spLocks noChangeArrowheads="1"/>
          </p:cNvSpPr>
          <p:nvPr/>
        </p:nvSpPr>
        <p:spPr bwMode="auto">
          <a:xfrm>
            <a:off x="16335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80" name="Rectangle 36">
            <a:extLst>
              <a:ext uri="{FF2B5EF4-FFF2-40B4-BE49-F238E27FC236}">
                <a16:creationId xmlns:a16="http://schemas.microsoft.com/office/drawing/2014/main" id="{FEB1CD87-A6A3-4E5E-B5C9-BB4E13DBDFE1}"/>
              </a:ext>
            </a:extLst>
          </p:cNvPr>
          <p:cNvSpPr>
            <a:spLocks noChangeArrowheads="1"/>
          </p:cNvSpPr>
          <p:nvPr/>
        </p:nvSpPr>
        <p:spPr bwMode="auto">
          <a:xfrm>
            <a:off x="81343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1" name="Rectangle 37">
            <a:extLst>
              <a:ext uri="{FF2B5EF4-FFF2-40B4-BE49-F238E27FC236}">
                <a16:creationId xmlns:a16="http://schemas.microsoft.com/office/drawing/2014/main" id="{39D1BCCF-29F5-465B-9771-FF0371B6E25D}"/>
              </a:ext>
            </a:extLst>
          </p:cNvPr>
          <p:cNvSpPr>
            <a:spLocks noChangeArrowheads="1"/>
          </p:cNvSpPr>
          <p:nvPr/>
        </p:nvSpPr>
        <p:spPr bwMode="auto">
          <a:xfrm>
            <a:off x="84772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82" name="Rectangle 38">
            <a:extLst>
              <a:ext uri="{FF2B5EF4-FFF2-40B4-BE49-F238E27FC236}">
                <a16:creationId xmlns:a16="http://schemas.microsoft.com/office/drawing/2014/main" id="{6D4DA7D1-634A-439A-91DE-A5AF088309F6}"/>
              </a:ext>
            </a:extLst>
          </p:cNvPr>
          <p:cNvSpPr>
            <a:spLocks noChangeArrowheads="1"/>
          </p:cNvSpPr>
          <p:nvPr/>
        </p:nvSpPr>
        <p:spPr bwMode="auto">
          <a:xfrm>
            <a:off x="2243138" y="35972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3" name="Rectangle 39">
            <a:extLst>
              <a:ext uri="{FF2B5EF4-FFF2-40B4-BE49-F238E27FC236}">
                <a16:creationId xmlns:a16="http://schemas.microsoft.com/office/drawing/2014/main" id="{780057EB-A401-4063-B1ED-C3997D69F7ED}"/>
              </a:ext>
            </a:extLst>
          </p:cNvPr>
          <p:cNvSpPr>
            <a:spLocks noChangeArrowheads="1"/>
          </p:cNvSpPr>
          <p:nvPr/>
        </p:nvSpPr>
        <p:spPr bwMode="auto">
          <a:xfrm>
            <a:off x="2590800" y="35972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4" name="Rectangle 40">
            <a:extLst>
              <a:ext uri="{FF2B5EF4-FFF2-40B4-BE49-F238E27FC236}">
                <a16:creationId xmlns:a16="http://schemas.microsoft.com/office/drawing/2014/main" id="{355F2F06-A796-4756-B043-B2D19526510E}"/>
              </a:ext>
            </a:extLst>
          </p:cNvPr>
          <p:cNvSpPr>
            <a:spLocks noChangeArrowheads="1"/>
          </p:cNvSpPr>
          <p:nvPr/>
        </p:nvSpPr>
        <p:spPr bwMode="auto">
          <a:xfrm>
            <a:off x="1878013"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85" name="Rectangle 41">
            <a:extLst>
              <a:ext uri="{FF2B5EF4-FFF2-40B4-BE49-F238E27FC236}">
                <a16:creationId xmlns:a16="http://schemas.microsoft.com/office/drawing/2014/main" id="{E75B2ECD-66A0-4D20-B321-AE8CEA2941B3}"/>
              </a:ext>
            </a:extLst>
          </p:cNvPr>
          <p:cNvSpPr>
            <a:spLocks noChangeArrowheads="1"/>
          </p:cNvSpPr>
          <p:nvPr/>
        </p:nvSpPr>
        <p:spPr bwMode="auto">
          <a:xfrm>
            <a:off x="25987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86" name="Rectangle 42">
            <a:extLst>
              <a:ext uri="{FF2B5EF4-FFF2-40B4-BE49-F238E27FC236}">
                <a16:creationId xmlns:a16="http://schemas.microsoft.com/office/drawing/2014/main" id="{18F365EB-E8A7-4580-9F64-4B67E56BD4C2}"/>
              </a:ext>
            </a:extLst>
          </p:cNvPr>
          <p:cNvSpPr>
            <a:spLocks noChangeArrowheads="1"/>
          </p:cNvSpPr>
          <p:nvPr/>
        </p:nvSpPr>
        <p:spPr bwMode="auto">
          <a:xfrm>
            <a:off x="3017838"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87" name="Line 43">
            <a:extLst>
              <a:ext uri="{FF2B5EF4-FFF2-40B4-BE49-F238E27FC236}">
                <a16:creationId xmlns:a16="http://schemas.microsoft.com/office/drawing/2014/main" id="{9743F92A-3C61-404B-8686-1D2BCEECDB96}"/>
              </a:ext>
            </a:extLst>
          </p:cNvPr>
          <p:cNvSpPr>
            <a:spLocks noChangeShapeType="1"/>
          </p:cNvSpPr>
          <p:nvPr/>
        </p:nvSpPr>
        <p:spPr bwMode="auto">
          <a:xfrm>
            <a:off x="3017838"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88" name="Line 44">
            <a:extLst>
              <a:ext uri="{FF2B5EF4-FFF2-40B4-BE49-F238E27FC236}">
                <a16:creationId xmlns:a16="http://schemas.microsoft.com/office/drawing/2014/main" id="{98F30184-E494-411D-AE26-F00D6242DCFE}"/>
              </a:ext>
            </a:extLst>
          </p:cNvPr>
          <p:cNvSpPr>
            <a:spLocks noChangeShapeType="1"/>
          </p:cNvSpPr>
          <p:nvPr/>
        </p:nvSpPr>
        <p:spPr bwMode="auto">
          <a:xfrm>
            <a:off x="3017838"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89" name="Rectangle 45">
            <a:extLst>
              <a:ext uri="{FF2B5EF4-FFF2-40B4-BE49-F238E27FC236}">
                <a16:creationId xmlns:a16="http://schemas.microsoft.com/office/drawing/2014/main" id="{4FC8444F-05F8-4B27-9A60-ECF8FF838C50}"/>
              </a:ext>
            </a:extLst>
          </p:cNvPr>
          <p:cNvSpPr>
            <a:spLocks noChangeArrowheads="1"/>
          </p:cNvSpPr>
          <p:nvPr/>
        </p:nvSpPr>
        <p:spPr bwMode="auto">
          <a:xfrm>
            <a:off x="2957513" y="3414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90" name="Rectangle 46">
            <a:extLst>
              <a:ext uri="{FF2B5EF4-FFF2-40B4-BE49-F238E27FC236}">
                <a16:creationId xmlns:a16="http://schemas.microsoft.com/office/drawing/2014/main" id="{58C04505-486F-4B7D-9343-1CCBB87A75E2}"/>
              </a:ext>
            </a:extLst>
          </p:cNvPr>
          <p:cNvSpPr>
            <a:spLocks noChangeArrowheads="1"/>
          </p:cNvSpPr>
          <p:nvPr/>
        </p:nvSpPr>
        <p:spPr bwMode="auto">
          <a:xfrm>
            <a:off x="2967038" y="36068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91" name="Rectangle 47">
            <a:extLst>
              <a:ext uri="{FF2B5EF4-FFF2-40B4-BE49-F238E27FC236}">
                <a16:creationId xmlns:a16="http://schemas.microsoft.com/office/drawing/2014/main" id="{30142C10-020F-446E-879D-8482B859C2B9}"/>
              </a:ext>
            </a:extLst>
          </p:cNvPr>
          <p:cNvSpPr>
            <a:spLocks noChangeArrowheads="1"/>
          </p:cNvSpPr>
          <p:nvPr/>
        </p:nvSpPr>
        <p:spPr bwMode="auto">
          <a:xfrm>
            <a:off x="29543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92" name="Rectangle 48">
            <a:extLst>
              <a:ext uri="{FF2B5EF4-FFF2-40B4-BE49-F238E27FC236}">
                <a16:creationId xmlns:a16="http://schemas.microsoft.com/office/drawing/2014/main" id="{D1CD58DD-8849-4EF5-A5A7-453C1B81A13C}"/>
              </a:ext>
            </a:extLst>
          </p:cNvPr>
          <p:cNvSpPr>
            <a:spLocks noChangeArrowheads="1"/>
          </p:cNvSpPr>
          <p:nvPr/>
        </p:nvSpPr>
        <p:spPr bwMode="auto">
          <a:xfrm>
            <a:off x="3732213"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93" name="Line 49">
            <a:extLst>
              <a:ext uri="{FF2B5EF4-FFF2-40B4-BE49-F238E27FC236}">
                <a16:creationId xmlns:a16="http://schemas.microsoft.com/office/drawing/2014/main" id="{D1B15984-3BA9-46AF-BE6A-A435E1290D17}"/>
              </a:ext>
            </a:extLst>
          </p:cNvPr>
          <p:cNvSpPr>
            <a:spLocks noChangeShapeType="1"/>
          </p:cNvSpPr>
          <p:nvPr/>
        </p:nvSpPr>
        <p:spPr bwMode="auto">
          <a:xfrm>
            <a:off x="3732213"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94" name="Line 50">
            <a:extLst>
              <a:ext uri="{FF2B5EF4-FFF2-40B4-BE49-F238E27FC236}">
                <a16:creationId xmlns:a16="http://schemas.microsoft.com/office/drawing/2014/main" id="{3C5A1D06-7329-4BF8-8E92-3719E8FBBB6C}"/>
              </a:ext>
            </a:extLst>
          </p:cNvPr>
          <p:cNvSpPr>
            <a:spLocks noChangeShapeType="1"/>
          </p:cNvSpPr>
          <p:nvPr/>
        </p:nvSpPr>
        <p:spPr bwMode="auto">
          <a:xfrm>
            <a:off x="3732213"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95" name="Rectangle 51">
            <a:extLst>
              <a:ext uri="{FF2B5EF4-FFF2-40B4-BE49-F238E27FC236}">
                <a16:creationId xmlns:a16="http://schemas.microsoft.com/office/drawing/2014/main" id="{9B08B44C-DC2B-4243-8199-871DAE3FB488}"/>
              </a:ext>
            </a:extLst>
          </p:cNvPr>
          <p:cNvSpPr>
            <a:spLocks noChangeArrowheads="1"/>
          </p:cNvSpPr>
          <p:nvPr/>
        </p:nvSpPr>
        <p:spPr bwMode="auto">
          <a:xfrm>
            <a:off x="3678238"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96" name="Rectangle 52">
            <a:extLst>
              <a:ext uri="{FF2B5EF4-FFF2-40B4-BE49-F238E27FC236}">
                <a16:creationId xmlns:a16="http://schemas.microsoft.com/office/drawing/2014/main" id="{2B87FE01-08A0-40C2-B23D-0BAF8AEDF657}"/>
              </a:ext>
            </a:extLst>
          </p:cNvPr>
          <p:cNvSpPr>
            <a:spLocks noChangeArrowheads="1"/>
          </p:cNvSpPr>
          <p:nvPr/>
        </p:nvSpPr>
        <p:spPr bwMode="auto">
          <a:xfrm>
            <a:off x="3681413" y="36068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97" name="Rectangle 53">
            <a:extLst>
              <a:ext uri="{FF2B5EF4-FFF2-40B4-BE49-F238E27FC236}">
                <a16:creationId xmlns:a16="http://schemas.microsoft.com/office/drawing/2014/main" id="{558B834A-63E8-48AD-AF85-C59AC536348D}"/>
              </a:ext>
            </a:extLst>
          </p:cNvPr>
          <p:cNvSpPr>
            <a:spLocks noChangeArrowheads="1"/>
          </p:cNvSpPr>
          <p:nvPr/>
        </p:nvSpPr>
        <p:spPr bwMode="auto">
          <a:xfrm>
            <a:off x="36782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98" name="Rectangle 54">
            <a:extLst>
              <a:ext uri="{FF2B5EF4-FFF2-40B4-BE49-F238E27FC236}">
                <a16:creationId xmlns:a16="http://schemas.microsoft.com/office/drawing/2014/main" id="{CC3130C7-D1D4-4FE2-A0F4-9348081DDE85}"/>
              </a:ext>
            </a:extLst>
          </p:cNvPr>
          <p:cNvSpPr>
            <a:spLocks noChangeArrowheads="1"/>
          </p:cNvSpPr>
          <p:nvPr/>
        </p:nvSpPr>
        <p:spPr bwMode="auto">
          <a:xfrm>
            <a:off x="44624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99" name="Line 55">
            <a:extLst>
              <a:ext uri="{FF2B5EF4-FFF2-40B4-BE49-F238E27FC236}">
                <a16:creationId xmlns:a16="http://schemas.microsoft.com/office/drawing/2014/main" id="{1A82C0E3-5A72-4087-9109-DD5FBEAD527D}"/>
              </a:ext>
            </a:extLst>
          </p:cNvPr>
          <p:cNvSpPr>
            <a:spLocks noChangeShapeType="1"/>
          </p:cNvSpPr>
          <p:nvPr/>
        </p:nvSpPr>
        <p:spPr bwMode="auto">
          <a:xfrm>
            <a:off x="44624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0" name="Line 56">
            <a:extLst>
              <a:ext uri="{FF2B5EF4-FFF2-40B4-BE49-F238E27FC236}">
                <a16:creationId xmlns:a16="http://schemas.microsoft.com/office/drawing/2014/main" id="{D953C3BD-D743-448A-80B0-E9ACE229BB2A}"/>
              </a:ext>
            </a:extLst>
          </p:cNvPr>
          <p:cNvSpPr>
            <a:spLocks noChangeShapeType="1"/>
          </p:cNvSpPr>
          <p:nvPr/>
        </p:nvSpPr>
        <p:spPr bwMode="auto">
          <a:xfrm>
            <a:off x="44624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1" name="Rectangle 57">
            <a:extLst>
              <a:ext uri="{FF2B5EF4-FFF2-40B4-BE49-F238E27FC236}">
                <a16:creationId xmlns:a16="http://schemas.microsoft.com/office/drawing/2014/main" id="{0975BD3F-3319-4B09-9F4B-9BAD696CAA4C}"/>
              </a:ext>
            </a:extLst>
          </p:cNvPr>
          <p:cNvSpPr>
            <a:spLocks noChangeArrowheads="1"/>
          </p:cNvSpPr>
          <p:nvPr/>
        </p:nvSpPr>
        <p:spPr bwMode="auto">
          <a:xfrm>
            <a:off x="4403725" y="3397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02" name="Rectangle 58">
            <a:extLst>
              <a:ext uri="{FF2B5EF4-FFF2-40B4-BE49-F238E27FC236}">
                <a16:creationId xmlns:a16="http://schemas.microsoft.com/office/drawing/2014/main" id="{36A21248-3D07-428D-9760-248E7440CC32}"/>
              </a:ext>
            </a:extLst>
          </p:cNvPr>
          <p:cNvSpPr>
            <a:spLocks noChangeArrowheads="1"/>
          </p:cNvSpPr>
          <p:nvPr/>
        </p:nvSpPr>
        <p:spPr bwMode="auto">
          <a:xfrm>
            <a:off x="44069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03" name="Rectangle 59">
            <a:extLst>
              <a:ext uri="{FF2B5EF4-FFF2-40B4-BE49-F238E27FC236}">
                <a16:creationId xmlns:a16="http://schemas.microsoft.com/office/drawing/2014/main" id="{FEC58875-F7BB-4B2E-9ED7-4B6FA67D1BD9}"/>
              </a:ext>
            </a:extLst>
          </p:cNvPr>
          <p:cNvSpPr>
            <a:spLocks noChangeArrowheads="1"/>
          </p:cNvSpPr>
          <p:nvPr/>
        </p:nvSpPr>
        <p:spPr bwMode="auto">
          <a:xfrm>
            <a:off x="44132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04" name="Rectangle 60">
            <a:extLst>
              <a:ext uri="{FF2B5EF4-FFF2-40B4-BE49-F238E27FC236}">
                <a16:creationId xmlns:a16="http://schemas.microsoft.com/office/drawing/2014/main" id="{4F0ADDDA-C40D-447A-85AA-3FCB0756EA55}"/>
              </a:ext>
            </a:extLst>
          </p:cNvPr>
          <p:cNvSpPr>
            <a:spLocks noChangeArrowheads="1"/>
          </p:cNvSpPr>
          <p:nvPr/>
        </p:nvSpPr>
        <p:spPr bwMode="auto">
          <a:xfrm>
            <a:off x="4811713"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05" name="Line 61">
            <a:extLst>
              <a:ext uri="{FF2B5EF4-FFF2-40B4-BE49-F238E27FC236}">
                <a16:creationId xmlns:a16="http://schemas.microsoft.com/office/drawing/2014/main" id="{14D4E0C1-90C1-45D5-9CB3-172759F3DD19}"/>
              </a:ext>
            </a:extLst>
          </p:cNvPr>
          <p:cNvSpPr>
            <a:spLocks noChangeShapeType="1"/>
          </p:cNvSpPr>
          <p:nvPr/>
        </p:nvSpPr>
        <p:spPr bwMode="auto">
          <a:xfrm>
            <a:off x="4811713"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6" name="Line 62">
            <a:extLst>
              <a:ext uri="{FF2B5EF4-FFF2-40B4-BE49-F238E27FC236}">
                <a16:creationId xmlns:a16="http://schemas.microsoft.com/office/drawing/2014/main" id="{70FC0C82-122B-4E3D-A6A6-81435B5986E6}"/>
              </a:ext>
            </a:extLst>
          </p:cNvPr>
          <p:cNvSpPr>
            <a:spLocks noChangeShapeType="1"/>
          </p:cNvSpPr>
          <p:nvPr/>
        </p:nvSpPr>
        <p:spPr bwMode="auto">
          <a:xfrm>
            <a:off x="4811713"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7" name="Rectangle 63">
            <a:extLst>
              <a:ext uri="{FF2B5EF4-FFF2-40B4-BE49-F238E27FC236}">
                <a16:creationId xmlns:a16="http://schemas.microsoft.com/office/drawing/2014/main" id="{ACE7582D-9D35-42F5-9399-E50369FDEB04}"/>
              </a:ext>
            </a:extLst>
          </p:cNvPr>
          <p:cNvSpPr>
            <a:spLocks noChangeArrowheads="1"/>
          </p:cNvSpPr>
          <p:nvPr/>
        </p:nvSpPr>
        <p:spPr bwMode="auto">
          <a:xfrm>
            <a:off x="4759325"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08" name="Rectangle 64">
            <a:extLst>
              <a:ext uri="{FF2B5EF4-FFF2-40B4-BE49-F238E27FC236}">
                <a16:creationId xmlns:a16="http://schemas.microsoft.com/office/drawing/2014/main" id="{F07257C3-9CEC-49DB-BD50-4D3747CB5BCE}"/>
              </a:ext>
            </a:extLst>
          </p:cNvPr>
          <p:cNvSpPr>
            <a:spLocks noChangeArrowheads="1"/>
          </p:cNvSpPr>
          <p:nvPr/>
        </p:nvSpPr>
        <p:spPr bwMode="auto">
          <a:xfrm>
            <a:off x="47625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09" name="Rectangle 65">
            <a:extLst>
              <a:ext uri="{FF2B5EF4-FFF2-40B4-BE49-F238E27FC236}">
                <a16:creationId xmlns:a16="http://schemas.microsoft.com/office/drawing/2014/main" id="{7B19F363-7425-4257-9DDE-02E34187E171}"/>
              </a:ext>
            </a:extLst>
          </p:cNvPr>
          <p:cNvSpPr>
            <a:spLocks noChangeArrowheads="1"/>
          </p:cNvSpPr>
          <p:nvPr/>
        </p:nvSpPr>
        <p:spPr bwMode="auto">
          <a:xfrm>
            <a:off x="47688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10" name="Rectangle 66">
            <a:extLst>
              <a:ext uri="{FF2B5EF4-FFF2-40B4-BE49-F238E27FC236}">
                <a16:creationId xmlns:a16="http://schemas.microsoft.com/office/drawing/2014/main" id="{D747D95F-628E-45EA-97CE-EA00EDEC0462}"/>
              </a:ext>
            </a:extLst>
          </p:cNvPr>
          <p:cNvSpPr>
            <a:spLocks noChangeArrowheads="1"/>
          </p:cNvSpPr>
          <p:nvPr/>
        </p:nvSpPr>
        <p:spPr bwMode="auto">
          <a:xfrm>
            <a:off x="5176838"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11" name="Line 67">
            <a:extLst>
              <a:ext uri="{FF2B5EF4-FFF2-40B4-BE49-F238E27FC236}">
                <a16:creationId xmlns:a16="http://schemas.microsoft.com/office/drawing/2014/main" id="{E954503A-8646-4E96-AD5A-71BD4484BF1D}"/>
              </a:ext>
            </a:extLst>
          </p:cNvPr>
          <p:cNvSpPr>
            <a:spLocks noChangeShapeType="1"/>
          </p:cNvSpPr>
          <p:nvPr/>
        </p:nvSpPr>
        <p:spPr bwMode="auto">
          <a:xfrm>
            <a:off x="5176838"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2" name="Line 68">
            <a:extLst>
              <a:ext uri="{FF2B5EF4-FFF2-40B4-BE49-F238E27FC236}">
                <a16:creationId xmlns:a16="http://schemas.microsoft.com/office/drawing/2014/main" id="{1D419B65-93AD-4170-8837-6B9425F9998E}"/>
              </a:ext>
            </a:extLst>
          </p:cNvPr>
          <p:cNvSpPr>
            <a:spLocks noChangeShapeType="1"/>
          </p:cNvSpPr>
          <p:nvPr/>
        </p:nvSpPr>
        <p:spPr bwMode="auto">
          <a:xfrm>
            <a:off x="5176838"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3" name="Rectangle 69">
            <a:extLst>
              <a:ext uri="{FF2B5EF4-FFF2-40B4-BE49-F238E27FC236}">
                <a16:creationId xmlns:a16="http://schemas.microsoft.com/office/drawing/2014/main" id="{09479235-DDC7-4C5B-8FE2-B28B94318A0D}"/>
              </a:ext>
            </a:extLst>
          </p:cNvPr>
          <p:cNvSpPr>
            <a:spLocks noChangeArrowheads="1"/>
          </p:cNvSpPr>
          <p:nvPr/>
        </p:nvSpPr>
        <p:spPr bwMode="auto">
          <a:xfrm>
            <a:off x="5124450"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14" name="Rectangle 70">
            <a:extLst>
              <a:ext uri="{FF2B5EF4-FFF2-40B4-BE49-F238E27FC236}">
                <a16:creationId xmlns:a16="http://schemas.microsoft.com/office/drawing/2014/main" id="{ABB399A2-586B-4E51-BF84-7F4CE618396B}"/>
              </a:ext>
            </a:extLst>
          </p:cNvPr>
          <p:cNvSpPr>
            <a:spLocks noChangeArrowheads="1"/>
          </p:cNvSpPr>
          <p:nvPr/>
        </p:nvSpPr>
        <p:spPr bwMode="auto">
          <a:xfrm>
            <a:off x="5114925"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15" name="Rectangle 71">
            <a:extLst>
              <a:ext uri="{FF2B5EF4-FFF2-40B4-BE49-F238E27FC236}">
                <a16:creationId xmlns:a16="http://schemas.microsoft.com/office/drawing/2014/main" id="{23E47637-984E-483D-8427-4BB8568BB37B}"/>
              </a:ext>
            </a:extLst>
          </p:cNvPr>
          <p:cNvSpPr>
            <a:spLocks noChangeArrowheads="1"/>
          </p:cNvSpPr>
          <p:nvPr/>
        </p:nvSpPr>
        <p:spPr bwMode="auto">
          <a:xfrm>
            <a:off x="51244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16" name="Rectangle 72">
            <a:extLst>
              <a:ext uri="{FF2B5EF4-FFF2-40B4-BE49-F238E27FC236}">
                <a16:creationId xmlns:a16="http://schemas.microsoft.com/office/drawing/2014/main" id="{DC2BF142-F8AD-489B-83FF-3195FD7BCD59}"/>
              </a:ext>
            </a:extLst>
          </p:cNvPr>
          <p:cNvSpPr>
            <a:spLocks noChangeArrowheads="1"/>
          </p:cNvSpPr>
          <p:nvPr/>
        </p:nvSpPr>
        <p:spPr bwMode="auto">
          <a:xfrm>
            <a:off x="55419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17" name="Line 73">
            <a:extLst>
              <a:ext uri="{FF2B5EF4-FFF2-40B4-BE49-F238E27FC236}">
                <a16:creationId xmlns:a16="http://schemas.microsoft.com/office/drawing/2014/main" id="{ADCC8EE7-0508-4C0B-9D9B-4D3E7AFC6060}"/>
              </a:ext>
            </a:extLst>
          </p:cNvPr>
          <p:cNvSpPr>
            <a:spLocks noChangeShapeType="1"/>
          </p:cNvSpPr>
          <p:nvPr/>
        </p:nvSpPr>
        <p:spPr bwMode="auto">
          <a:xfrm>
            <a:off x="55419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8" name="Line 74">
            <a:extLst>
              <a:ext uri="{FF2B5EF4-FFF2-40B4-BE49-F238E27FC236}">
                <a16:creationId xmlns:a16="http://schemas.microsoft.com/office/drawing/2014/main" id="{50E9921A-41E3-439A-BED3-51971A6AA019}"/>
              </a:ext>
            </a:extLst>
          </p:cNvPr>
          <p:cNvSpPr>
            <a:spLocks noChangeShapeType="1"/>
          </p:cNvSpPr>
          <p:nvPr/>
        </p:nvSpPr>
        <p:spPr bwMode="auto">
          <a:xfrm>
            <a:off x="55419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9" name="Rectangle 75">
            <a:extLst>
              <a:ext uri="{FF2B5EF4-FFF2-40B4-BE49-F238E27FC236}">
                <a16:creationId xmlns:a16="http://schemas.microsoft.com/office/drawing/2014/main" id="{8A53B6AB-80D9-4EDE-9D3C-C9232CF16473}"/>
              </a:ext>
            </a:extLst>
          </p:cNvPr>
          <p:cNvSpPr>
            <a:spLocks noChangeArrowheads="1"/>
          </p:cNvSpPr>
          <p:nvPr/>
        </p:nvSpPr>
        <p:spPr bwMode="auto">
          <a:xfrm>
            <a:off x="5492750"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20" name="Rectangle 76">
            <a:extLst>
              <a:ext uri="{FF2B5EF4-FFF2-40B4-BE49-F238E27FC236}">
                <a16:creationId xmlns:a16="http://schemas.microsoft.com/office/drawing/2014/main" id="{493640C3-F796-4505-A68C-EC8D9451457C}"/>
              </a:ext>
            </a:extLst>
          </p:cNvPr>
          <p:cNvSpPr>
            <a:spLocks noChangeArrowheads="1"/>
          </p:cNvSpPr>
          <p:nvPr/>
        </p:nvSpPr>
        <p:spPr bwMode="auto">
          <a:xfrm>
            <a:off x="54864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21" name="Rectangle 77">
            <a:extLst>
              <a:ext uri="{FF2B5EF4-FFF2-40B4-BE49-F238E27FC236}">
                <a16:creationId xmlns:a16="http://schemas.microsoft.com/office/drawing/2014/main" id="{A46914DF-1A21-4152-A0C9-BD1140B51134}"/>
              </a:ext>
            </a:extLst>
          </p:cNvPr>
          <p:cNvSpPr>
            <a:spLocks noChangeArrowheads="1"/>
          </p:cNvSpPr>
          <p:nvPr/>
        </p:nvSpPr>
        <p:spPr bwMode="auto">
          <a:xfrm>
            <a:off x="5502275" y="3787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22" name="Rectangle 78">
            <a:extLst>
              <a:ext uri="{FF2B5EF4-FFF2-40B4-BE49-F238E27FC236}">
                <a16:creationId xmlns:a16="http://schemas.microsoft.com/office/drawing/2014/main" id="{C7EB32B0-5B7E-4384-B9A4-04DBF884EABB}"/>
              </a:ext>
            </a:extLst>
          </p:cNvPr>
          <p:cNvSpPr>
            <a:spLocks noChangeArrowheads="1"/>
          </p:cNvSpPr>
          <p:nvPr/>
        </p:nvSpPr>
        <p:spPr bwMode="auto">
          <a:xfrm>
            <a:off x="66214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23" name="Line 79">
            <a:extLst>
              <a:ext uri="{FF2B5EF4-FFF2-40B4-BE49-F238E27FC236}">
                <a16:creationId xmlns:a16="http://schemas.microsoft.com/office/drawing/2014/main" id="{FF628DBF-0E86-4DD4-9371-E37566A0D58A}"/>
              </a:ext>
            </a:extLst>
          </p:cNvPr>
          <p:cNvSpPr>
            <a:spLocks noChangeShapeType="1"/>
          </p:cNvSpPr>
          <p:nvPr/>
        </p:nvSpPr>
        <p:spPr bwMode="auto">
          <a:xfrm>
            <a:off x="66214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24" name="Line 80">
            <a:extLst>
              <a:ext uri="{FF2B5EF4-FFF2-40B4-BE49-F238E27FC236}">
                <a16:creationId xmlns:a16="http://schemas.microsoft.com/office/drawing/2014/main" id="{8EF3D1B2-AEA4-4426-84F3-2B9760FC37E6}"/>
              </a:ext>
            </a:extLst>
          </p:cNvPr>
          <p:cNvSpPr>
            <a:spLocks noChangeShapeType="1"/>
          </p:cNvSpPr>
          <p:nvPr/>
        </p:nvSpPr>
        <p:spPr bwMode="auto">
          <a:xfrm>
            <a:off x="66214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25" name="Rectangle 81">
            <a:extLst>
              <a:ext uri="{FF2B5EF4-FFF2-40B4-BE49-F238E27FC236}">
                <a16:creationId xmlns:a16="http://schemas.microsoft.com/office/drawing/2014/main" id="{C3B6891B-D622-402B-AA4F-6319FBE2FE70}"/>
              </a:ext>
            </a:extLst>
          </p:cNvPr>
          <p:cNvSpPr>
            <a:spLocks noChangeArrowheads="1"/>
          </p:cNvSpPr>
          <p:nvPr/>
        </p:nvSpPr>
        <p:spPr bwMode="auto">
          <a:xfrm>
            <a:off x="6553200"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26" name="Rectangle 82">
            <a:extLst>
              <a:ext uri="{FF2B5EF4-FFF2-40B4-BE49-F238E27FC236}">
                <a16:creationId xmlns:a16="http://schemas.microsoft.com/office/drawing/2014/main" id="{A5245871-BD8B-40F4-BC25-CBF05140586E}"/>
              </a:ext>
            </a:extLst>
          </p:cNvPr>
          <p:cNvSpPr>
            <a:spLocks noChangeArrowheads="1"/>
          </p:cNvSpPr>
          <p:nvPr/>
        </p:nvSpPr>
        <p:spPr bwMode="auto">
          <a:xfrm>
            <a:off x="6556375"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27" name="Rectangle 83">
            <a:extLst>
              <a:ext uri="{FF2B5EF4-FFF2-40B4-BE49-F238E27FC236}">
                <a16:creationId xmlns:a16="http://schemas.microsoft.com/office/drawing/2014/main" id="{5BB744B0-C686-4830-A84C-44F38650169A}"/>
              </a:ext>
            </a:extLst>
          </p:cNvPr>
          <p:cNvSpPr>
            <a:spLocks noChangeArrowheads="1"/>
          </p:cNvSpPr>
          <p:nvPr/>
        </p:nvSpPr>
        <p:spPr bwMode="auto">
          <a:xfrm>
            <a:off x="655320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28" name="Rectangle 84">
            <a:extLst>
              <a:ext uri="{FF2B5EF4-FFF2-40B4-BE49-F238E27FC236}">
                <a16:creationId xmlns:a16="http://schemas.microsoft.com/office/drawing/2014/main" id="{17AF9703-FD37-485E-8E88-F9C47A0137F3}"/>
              </a:ext>
            </a:extLst>
          </p:cNvPr>
          <p:cNvSpPr>
            <a:spLocks noChangeArrowheads="1"/>
          </p:cNvSpPr>
          <p:nvPr/>
        </p:nvSpPr>
        <p:spPr bwMode="auto">
          <a:xfrm>
            <a:off x="7335838"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29" name="Line 85">
            <a:extLst>
              <a:ext uri="{FF2B5EF4-FFF2-40B4-BE49-F238E27FC236}">
                <a16:creationId xmlns:a16="http://schemas.microsoft.com/office/drawing/2014/main" id="{F145728E-5BB7-4506-8A05-A3B5C82DD283}"/>
              </a:ext>
            </a:extLst>
          </p:cNvPr>
          <p:cNvSpPr>
            <a:spLocks noChangeShapeType="1"/>
          </p:cNvSpPr>
          <p:nvPr/>
        </p:nvSpPr>
        <p:spPr bwMode="auto">
          <a:xfrm>
            <a:off x="7335838"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0" name="Line 86">
            <a:extLst>
              <a:ext uri="{FF2B5EF4-FFF2-40B4-BE49-F238E27FC236}">
                <a16:creationId xmlns:a16="http://schemas.microsoft.com/office/drawing/2014/main" id="{500B4C96-AA49-4DEF-A256-1C7FBF6DF6FD}"/>
              </a:ext>
            </a:extLst>
          </p:cNvPr>
          <p:cNvSpPr>
            <a:spLocks noChangeShapeType="1"/>
          </p:cNvSpPr>
          <p:nvPr/>
        </p:nvSpPr>
        <p:spPr bwMode="auto">
          <a:xfrm>
            <a:off x="7335838"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1" name="Rectangle 87">
            <a:extLst>
              <a:ext uri="{FF2B5EF4-FFF2-40B4-BE49-F238E27FC236}">
                <a16:creationId xmlns:a16="http://schemas.microsoft.com/office/drawing/2014/main" id="{5974482A-9CBD-41F5-8972-D99D3303A6C8}"/>
              </a:ext>
            </a:extLst>
          </p:cNvPr>
          <p:cNvSpPr>
            <a:spLocks noChangeArrowheads="1"/>
          </p:cNvSpPr>
          <p:nvPr/>
        </p:nvSpPr>
        <p:spPr bwMode="auto">
          <a:xfrm>
            <a:off x="7292975"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32" name="Rectangle 88">
            <a:extLst>
              <a:ext uri="{FF2B5EF4-FFF2-40B4-BE49-F238E27FC236}">
                <a16:creationId xmlns:a16="http://schemas.microsoft.com/office/drawing/2014/main" id="{2C44B5B6-A7DF-466E-A6D7-994D1825A08B}"/>
              </a:ext>
            </a:extLst>
          </p:cNvPr>
          <p:cNvSpPr>
            <a:spLocks noChangeArrowheads="1"/>
          </p:cNvSpPr>
          <p:nvPr/>
        </p:nvSpPr>
        <p:spPr bwMode="auto">
          <a:xfrm>
            <a:off x="72771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33" name="Rectangle 89">
            <a:extLst>
              <a:ext uri="{FF2B5EF4-FFF2-40B4-BE49-F238E27FC236}">
                <a16:creationId xmlns:a16="http://schemas.microsoft.com/office/drawing/2014/main" id="{010A4EE0-AA87-4126-A442-2AE80DDACE9E}"/>
              </a:ext>
            </a:extLst>
          </p:cNvPr>
          <p:cNvSpPr>
            <a:spLocks noChangeArrowheads="1"/>
          </p:cNvSpPr>
          <p:nvPr/>
        </p:nvSpPr>
        <p:spPr bwMode="auto">
          <a:xfrm>
            <a:off x="72834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34" name="Rectangle 90">
            <a:extLst>
              <a:ext uri="{FF2B5EF4-FFF2-40B4-BE49-F238E27FC236}">
                <a16:creationId xmlns:a16="http://schemas.microsoft.com/office/drawing/2014/main" id="{8EF58E02-6F6C-4980-ABD1-B2AB2FA8DBE8}"/>
              </a:ext>
            </a:extLst>
          </p:cNvPr>
          <p:cNvSpPr>
            <a:spLocks noChangeArrowheads="1"/>
          </p:cNvSpPr>
          <p:nvPr/>
        </p:nvSpPr>
        <p:spPr bwMode="auto">
          <a:xfrm>
            <a:off x="8067675"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35" name="Line 91">
            <a:extLst>
              <a:ext uri="{FF2B5EF4-FFF2-40B4-BE49-F238E27FC236}">
                <a16:creationId xmlns:a16="http://schemas.microsoft.com/office/drawing/2014/main" id="{D79773B0-EDCF-42C8-837A-F62963F15D9F}"/>
              </a:ext>
            </a:extLst>
          </p:cNvPr>
          <p:cNvSpPr>
            <a:spLocks noChangeShapeType="1"/>
          </p:cNvSpPr>
          <p:nvPr/>
        </p:nvSpPr>
        <p:spPr bwMode="auto">
          <a:xfrm>
            <a:off x="8067675"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6" name="Line 92">
            <a:extLst>
              <a:ext uri="{FF2B5EF4-FFF2-40B4-BE49-F238E27FC236}">
                <a16:creationId xmlns:a16="http://schemas.microsoft.com/office/drawing/2014/main" id="{0E148996-939A-438F-A3BF-C8853AE73D4F}"/>
              </a:ext>
            </a:extLst>
          </p:cNvPr>
          <p:cNvSpPr>
            <a:spLocks noChangeShapeType="1"/>
          </p:cNvSpPr>
          <p:nvPr/>
        </p:nvSpPr>
        <p:spPr bwMode="auto">
          <a:xfrm>
            <a:off x="8067675"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7" name="Rectangle 93">
            <a:extLst>
              <a:ext uri="{FF2B5EF4-FFF2-40B4-BE49-F238E27FC236}">
                <a16:creationId xmlns:a16="http://schemas.microsoft.com/office/drawing/2014/main" id="{AA58A6E4-49C0-4BAB-A82B-17730C7D56DB}"/>
              </a:ext>
            </a:extLst>
          </p:cNvPr>
          <p:cNvSpPr>
            <a:spLocks noChangeArrowheads="1"/>
          </p:cNvSpPr>
          <p:nvPr/>
        </p:nvSpPr>
        <p:spPr bwMode="auto">
          <a:xfrm>
            <a:off x="8007350"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38" name="Rectangle 94">
            <a:extLst>
              <a:ext uri="{FF2B5EF4-FFF2-40B4-BE49-F238E27FC236}">
                <a16:creationId xmlns:a16="http://schemas.microsoft.com/office/drawing/2014/main" id="{53B6B235-DEDC-4565-AED5-A3BD76F07984}"/>
              </a:ext>
            </a:extLst>
          </p:cNvPr>
          <p:cNvSpPr>
            <a:spLocks noChangeArrowheads="1"/>
          </p:cNvSpPr>
          <p:nvPr/>
        </p:nvSpPr>
        <p:spPr bwMode="auto">
          <a:xfrm>
            <a:off x="8010525" y="36163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39" name="Rectangle 95">
            <a:extLst>
              <a:ext uri="{FF2B5EF4-FFF2-40B4-BE49-F238E27FC236}">
                <a16:creationId xmlns:a16="http://schemas.microsoft.com/office/drawing/2014/main" id="{7BF2E3E9-8A12-47B4-ADAA-03F665CC73BF}"/>
              </a:ext>
            </a:extLst>
          </p:cNvPr>
          <p:cNvSpPr>
            <a:spLocks noChangeArrowheads="1"/>
          </p:cNvSpPr>
          <p:nvPr/>
        </p:nvSpPr>
        <p:spPr bwMode="auto">
          <a:xfrm>
            <a:off x="8016875"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240" name="Rectangle 96">
            <a:extLst>
              <a:ext uri="{FF2B5EF4-FFF2-40B4-BE49-F238E27FC236}">
                <a16:creationId xmlns:a16="http://schemas.microsoft.com/office/drawing/2014/main" id="{48CA8E5C-3929-4427-A8BF-C97581EE4826}"/>
              </a:ext>
            </a:extLst>
          </p:cNvPr>
          <p:cNvSpPr>
            <a:spLocks noChangeArrowheads="1"/>
          </p:cNvSpPr>
          <p:nvPr/>
        </p:nvSpPr>
        <p:spPr bwMode="auto">
          <a:xfrm>
            <a:off x="1776413" y="4079875"/>
            <a:ext cx="108426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6241" name="Rectangle 97">
            <a:extLst>
              <a:ext uri="{FF2B5EF4-FFF2-40B4-BE49-F238E27FC236}">
                <a16:creationId xmlns:a16="http://schemas.microsoft.com/office/drawing/2014/main" id="{8C89F8BA-8DB9-42FF-8404-251EC1F96854}"/>
              </a:ext>
            </a:extLst>
          </p:cNvPr>
          <p:cNvSpPr>
            <a:spLocks noChangeArrowheads="1"/>
          </p:cNvSpPr>
          <p:nvPr/>
        </p:nvSpPr>
        <p:spPr bwMode="auto">
          <a:xfrm>
            <a:off x="1712913" y="2940050"/>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6242" name="Rectangle 101">
            <a:extLst>
              <a:ext uri="{FF2B5EF4-FFF2-40B4-BE49-F238E27FC236}">
                <a16:creationId xmlns:a16="http://schemas.microsoft.com/office/drawing/2014/main" id="{FF34D26D-B74E-47BE-A0C0-80F81CE28801}"/>
              </a:ext>
            </a:extLst>
          </p:cNvPr>
          <p:cNvSpPr>
            <a:spLocks noChangeArrowheads="1"/>
          </p:cNvSpPr>
          <p:nvPr/>
        </p:nvSpPr>
        <p:spPr bwMode="auto">
          <a:xfrm>
            <a:off x="76803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457200" y="381000"/>
            <a:ext cx="8229600" cy="4525963"/>
          </a:xfrm>
        </p:spPr>
        <p:txBody>
          <a:bodyPr/>
          <a:lstStyle/>
          <a:p>
            <a:pPr algn="just"/>
            <a:r>
              <a:rPr lang="en-IN" altLang="en-US" sz="2000" dirty="0"/>
              <a:t>A virtual memory system has an address space of 8K words, a memory space of 4K words and page &amp; block sizes are of 1K words. The following page is referenced in memory: 4 2 0 1 2 6 1 4 0 1 0 2 3 5 7. Determine the four pages that are resident in main memory after each page reference change if page replacement algorithm is : FIFO, LRU, Optimal.</a:t>
            </a:r>
          </a:p>
          <a:p>
            <a:pPr algn="just"/>
            <a:endParaRPr lang="en-IN" altLang="en-US" sz="2000" dirty="0"/>
          </a:p>
          <a:p>
            <a:pPr algn="just"/>
            <a:r>
              <a:rPr lang="en-IN" altLang="en-US" sz="2000" dirty="0"/>
              <a:t>An address space is specified by 24 bits and the corresponding memory space by 16 bits. How many words are there in the address space. How many words are there in the memory space. If a page consists of 2K words, how many pages and blocks are there in the system?</a:t>
            </a:r>
          </a:p>
          <a:p>
            <a:endParaRPr lang="en-IN" altLang="en-US" sz="2400" dirty="0"/>
          </a:p>
        </p:txBody>
      </p:sp>
      <p:pic>
        <p:nvPicPr>
          <p:cNvPr id="3" name="Picture 2">
            <a:extLst>
              <a:ext uri="{FF2B5EF4-FFF2-40B4-BE49-F238E27FC236}">
                <a16:creationId xmlns:a16="http://schemas.microsoft.com/office/drawing/2014/main" id="{DBDC5570-88D0-50E3-9BF4-2FEA9783C286}"/>
              </a:ext>
            </a:extLst>
          </p:cNvPr>
          <p:cNvPicPr>
            <a:picLocks noChangeAspect="1"/>
          </p:cNvPicPr>
          <p:nvPr/>
        </p:nvPicPr>
        <p:blipFill>
          <a:blip r:embed="rId2"/>
          <a:stretch>
            <a:fillRect/>
          </a:stretch>
        </p:blipFill>
        <p:spPr>
          <a:xfrm>
            <a:off x="914400" y="4458444"/>
            <a:ext cx="8005213" cy="2018556"/>
          </a:xfrm>
          <a:prstGeom prst="rect">
            <a:avLst/>
          </a:prstGeom>
        </p:spPr>
      </p:pic>
    </p:spTree>
    <p:extLst>
      <p:ext uri="{BB962C8B-B14F-4D97-AF65-F5344CB8AC3E}">
        <p14:creationId xmlns:p14="http://schemas.microsoft.com/office/powerpoint/2010/main" val="28466002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AE4D9657-21E7-4629-8B18-5926798B09BC}"/>
              </a:ext>
            </a:extLst>
          </p:cNvPr>
          <p:cNvSpPr>
            <a:spLocks noGrp="1"/>
          </p:cNvSpPr>
          <p:nvPr>
            <p:ph type="title"/>
          </p:nvPr>
        </p:nvSpPr>
        <p:spPr/>
        <p:txBody>
          <a:bodyPr/>
          <a:lstStyle/>
          <a:p>
            <a:r>
              <a:rPr lang="en-IN" altLang="en-US"/>
              <a:t>Question</a:t>
            </a:r>
          </a:p>
        </p:txBody>
      </p:sp>
      <p:sp>
        <p:nvSpPr>
          <p:cNvPr id="3" name="Content Placeholder 2">
            <a:extLst>
              <a:ext uri="{FF2B5EF4-FFF2-40B4-BE49-F238E27FC236}">
                <a16:creationId xmlns:a16="http://schemas.microsoft.com/office/drawing/2014/main" id="{3DA5F8B3-20E8-4D94-BF18-79D810036261}"/>
              </a:ext>
            </a:extLst>
          </p:cNvPr>
          <p:cNvSpPr>
            <a:spLocks noGrp="1"/>
          </p:cNvSpPr>
          <p:nvPr>
            <p:ph idx="1"/>
          </p:nvPr>
        </p:nvSpPr>
        <p:spPr/>
        <p:txBody>
          <a:bodyPr/>
          <a:lstStyle/>
          <a:p>
            <a:pPr marL="0" indent="0">
              <a:buFont typeface="Monotype Sorts" pitchFamily="2" charset="2"/>
              <a:buNone/>
              <a:defRPr/>
            </a:pPr>
            <a:r>
              <a:rPr lang="en-IN" dirty="0">
                <a:ea typeface="굴림" pitchFamily="34" charset="-127"/>
              </a:rPr>
              <a:t>The page request are in following order. If there are three memory frames, show the execution of the following pages using </a:t>
            </a:r>
          </a:p>
          <a:p>
            <a:pPr marL="0" indent="0">
              <a:buFont typeface="Monotype Sorts" pitchFamily="2" charset="2"/>
              <a:buNone/>
              <a:defRPr/>
            </a:pPr>
            <a:r>
              <a:rPr lang="en-IN" dirty="0">
                <a:ea typeface="굴림" pitchFamily="34" charset="-127"/>
              </a:rPr>
              <a:t>a. FIFO b. Optimal  c. LRU</a:t>
            </a:r>
          </a:p>
          <a:p>
            <a:pPr marL="0" indent="0">
              <a:buFont typeface="Monotype Sorts" pitchFamily="2" charset="2"/>
              <a:buNone/>
              <a:defRPr/>
            </a:pPr>
            <a:endParaRPr lang="en-IN" dirty="0">
              <a:ea typeface="굴림" pitchFamily="34" charset="-127"/>
            </a:endParaRPr>
          </a:p>
          <a:p>
            <a:pPr marL="0" indent="0">
              <a:buFont typeface="Monotype Sorts" pitchFamily="2" charset="2"/>
              <a:buNone/>
              <a:defRPr/>
            </a:pPr>
            <a:endParaRPr lang="en-IN" dirty="0">
              <a:ea typeface="굴림" pitchFamily="34" charset="-127"/>
            </a:endParaRPr>
          </a:p>
          <a:p>
            <a:pPr marL="0" indent="0">
              <a:buFont typeface="Monotype Sorts" pitchFamily="2" charset="2"/>
              <a:buNone/>
              <a:defRPr/>
            </a:pPr>
            <a:r>
              <a:rPr lang="en-IN" dirty="0">
                <a:ea typeface="굴림" pitchFamily="34" charset="-127"/>
              </a:rPr>
              <a:t>6  0  1  3  2  5  0  4   7  1  3  2  6   0  4</a:t>
            </a:r>
          </a:p>
          <a:p>
            <a:pPr>
              <a:defRPr/>
            </a:pPr>
            <a:endParaRPr lang="en-IN" dirty="0">
              <a:ea typeface="굴림" pitchFamily="34" charset="-127"/>
            </a:endParaRPr>
          </a:p>
          <a:p>
            <a:pPr marL="0" indent="0">
              <a:buFont typeface="Monotype Sorts" pitchFamily="2" charset="2"/>
              <a:buNone/>
              <a:defRPr/>
            </a:pPr>
            <a:r>
              <a:rPr lang="en-IN" dirty="0">
                <a:ea typeface="굴림" pitchFamily="34" charset="-127"/>
              </a:rPr>
              <a:t>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457200" y="152400"/>
            <a:ext cx="8229600" cy="1143000"/>
          </a:xfrm>
        </p:spPr>
        <p:txBody>
          <a:bodyPr/>
          <a:lstStyle/>
          <a:p>
            <a:r>
              <a:rPr lang="en-US" altLang="en-US" dirty="0"/>
              <a:t>Input-Output Organization</a:t>
            </a:r>
          </a:p>
        </p:txBody>
      </p:sp>
      <p:sp>
        <p:nvSpPr>
          <p:cNvPr id="56323" name="Content Placeholder 2"/>
          <p:cNvSpPr>
            <a:spLocks noGrp="1"/>
          </p:cNvSpPr>
          <p:nvPr>
            <p:ph idx="1"/>
          </p:nvPr>
        </p:nvSpPr>
        <p:spPr>
          <a:xfrm>
            <a:off x="381000" y="1143000"/>
            <a:ext cx="8229600" cy="4525963"/>
          </a:xfrm>
        </p:spPr>
        <p:txBody>
          <a:bodyPr/>
          <a:lstStyle/>
          <a:p>
            <a:pPr algn="just">
              <a:defRPr/>
            </a:pPr>
            <a:r>
              <a:rPr lang="en-US" altLang="en-US" sz="2000" b="1" dirty="0"/>
              <a:t>Peripheral Devices</a:t>
            </a:r>
            <a:r>
              <a:rPr lang="en-US" altLang="en-US" sz="2000" dirty="0"/>
              <a:t>: Input &amp; Output devices attached to computer are called Peripheral.</a:t>
            </a:r>
            <a:endParaRPr lang="en-US" altLang="en-US" sz="2400" dirty="0"/>
          </a:p>
          <a:p>
            <a:pPr lvl="1" algn="just">
              <a:buFont typeface="Wingdings" pitchFamily="2" charset="2"/>
              <a:buNone/>
              <a:defRPr/>
            </a:pPr>
            <a:r>
              <a:rPr lang="en-US" altLang="en-US" sz="2400" dirty="0"/>
              <a:t>Input Devices: </a:t>
            </a:r>
          </a:p>
          <a:p>
            <a:pPr lvl="2" algn="just">
              <a:defRPr/>
            </a:pPr>
            <a:r>
              <a:rPr lang="en-US" altLang="en-US" sz="2000" dirty="0"/>
              <a:t>Keyboard, Optical devices: Card reader, Bar code reader etc.</a:t>
            </a:r>
          </a:p>
          <a:p>
            <a:pPr lvl="2" algn="just">
              <a:defRPr/>
            </a:pPr>
            <a:r>
              <a:rPr lang="en-US" altLang="en-US" sz="2000" dirty="0"/>
              <a:t>Magnetic Input Devices: Magnetic stripe reader</a:t>
            </a:r>
          </a:p>
          <a:p>
            <a:pPr lvl="2" algn="just">
              <a:defRPr/>
            </a:pPr>
            <a:r>
              <a:rPr lang="en-US" altLang="en-US" sz="2000" dirty="0"/>
              <a:t>Screen Input Devices: Touch screen, Light pen etc.</a:t>
            </a:r>
          </a:p>
          <a:p>
            <a:pPr lvl="1" algn="just">
              <a:buFont typeface="Wingdings" pitchFamily="2" charset="2"/>
              <a:buNone/>
              <a:defRPr/>
            </a:pPr>
            <a:r>
              <a:rPr lang="en-US" altLang="en-US" sz="2400" dirty="0"/>
              <a:t>Output Devices: </a:t>
            </a:r>
          </a:p>
          <a:p>
            <a:pPr lvl="2" algn="just">
              <a:defRPr/>
            </a:pPr>
            <a:r>
              <a:rPr lang="en-US" altLang="en-US" sz="2000" dirty="0"/>
              <a:t>Keyboard, Optical devices: Card reader, Bar code reader etc.</a:t>
            </a:r>
          </a:p>
          <a:p>
            <a:pPr lvl="2" algn="just">
              <a:defRPr/>
            </a:pPr>
            <a:r>
              <a:rPr lang="en-US" altLang="en-US" sz="2000" dirty="0"/>
              <a:t>Peripherals that provide auxiliary storage are magnetic tape and magnetic disk.</a:t>
            </a:r>
          </a:p>
          <a:p>
            <a:pPr lvl="2" algn="just">
              <a:defRPr/>
            </a:pPr>
            <a:r>
              <a:rPr lang="en-US" altLang="en-US" sz="2000" dirty="0"/>
              <a:t>Input and output devices communicate alphanumeric information by using ASCII 7bit code.</a:t>
            </a:r>
          </a:p>
          <a:p>
            <a:pPr lvl="2" algn="just">
              <a:defRPr/>
            </a:pPr>
            <a:r>
              <a:rPr lang="en-US" altLang="en-US" sz="2000" dirty="0"/>
              <a:t>To use computer efficiently, large number of programs and data must be prepared in advance for execution with computer.</a:t>
            </a:r>
          </a:p>
          <a:p>
            <a:pPr lvl="2">
              <a:defRPr/>
            </a:pPr>
            <a:endParaRPr lang="en-US" altLang="en-US" sz="2000" dirty="0"/>
          </a:p>
          <a:p>
            <a:pPr lvl="2">
              <a:defRPr/>
            </a:pPr>
            <a:endParaRPr lang="en-US" altLang="en-US" sz="2000" dirty="0"/>
          </a:p>
          <a:p>
            <a:pPr lvl="2">
              <a:defRPr/>
            </a:pPr>
            <a:endParaRPr lang="en-US" altLang="en-US" sz="2000" dirty="0"/>
          </a:p>
          <a:p>
            <a:pPr lvl="2">
              <a:defRPr/>
            </a:pPr>
            <a:endParaRPr lang="en-US" altLang="en-US" sz="2000" dirty="0"/>
          </a:p>
          <a:p>
            <a:pPr marL="914400" lvl="2" indent="0">
              <a:buFont typeface="Monotype Sorts" pitchFamily="2" charset="2"/>
              <a:buNone/>
              <a:defRPr/>
            </a:pPr>
            <a:r>
              <a:rPr lang="en-US" altLang="en-US" sz="2400" dirty="0">
                <a:solidFill>
                  <a:schemeClr val="accent2"/>
                </a:solidFill>
              </a:rPr>
              <a:t>Output Devices: </a:t>
            </a:r>
            <a:r>
              <a:rPr lang="en-US" altLang="en-US" sz="2000" dirty="0"/>
              <a:t>CRT, Printer</a:t>
            </a:r>
          </a:p>
          <a:p>
            <a:pPr lvl="2" algn="just">
              <a:buFont typeface="Monotype Sorts" pitchFamily="2" charset="2"/>
              <a:buNone/>
              <a:defRPr/>
            </a:pPr>
            <a:endParaRPr lang="en-US" altLang="en-US" sz="2000" dirty="0"/>
          </a:p>
          <a:p>
            <a:pPr lvl="2" algn="just">
              <a:buFont typeface="Monotype Sorts" pitchFamily="2" charset="2"/>
              <a:buNone/>
              <a:defRPr/>
            </a:pPr>
            <a:endParaRPr lang="en-US" altLang="en-US" sz="2000" dirty="0"/>
          </a:p>
          <a:p>
            <a:pPr lvl="2">
              <a:buFont typeface="Monotype Sorts" pitchFamily="2" charset="2"/>
              <a:buNone/>
              <a:defRPr/>
            </a:pPr>
            <a:r>
              <a:rPr lang="en-US" altLang="en-US" sz="2000" dirty="0"/>
              <a:t>. </a:t>
            </a:r>
          </a:p>
        </p:txBody>
      </p:sp>
    </p:spTree>
    <p:extLst>
      <p:ext uri="{BB962C8B-B14F-4D97-AF65-F5344CB8AC3E}">
        <p14:creationId xmlns:p14="http://schemas.microsoft.com/office/powerpoint/2010/main" val="19886455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a:t>Input-Output Interface</a:t>
            </a:r>
          </a:p>
        </p:txBody>
      </p:sp>
      <p:sp>
        <p:nvSpPr>
          <p:cNvPr id="57347" name="Content Placeholder 2"/>
          <p:cNvSpPr>
            <a:spLocks noGrp="1"/>
          </p:cNvSpPr>
          <p:nvPr>
            <p:ph idx="1"/>
          </p:nvPr>
        </p:nvSpPr>
        <p:spPr/>
        <p:txBody>
          <a:bodyPr/>
          <a:lstStyle/>
          <a:p>
            <a:pPr algn="just"/>
            <a:r>
              <a:rPr lang="en-US" altLang="en-US" sz="2200" dirty="0"/>
              <a:t>I/O interface provides a method for transferring information between internal storage and external I/O devices. </a:t>
            </a:r>
          </a:p>
          <a:p>
            <a:pPr algn="just">
              <a:lnSpc>
                <a:spcPct val="150000"/>
              </a:lnSpc>
            </a:pPr>
            <a:r>
              <a:rPr lang="en-US" altLang="en-US" sz="2200" dirty="0"/>
              <a:t>The purpose of interfacing are as follows:</a:t>
            </a:r>
          </a:p>
          <a:p>
            <a:pPr lvl="1" algn="just"/>
            <a:r>
              <a:rPr lang="en-US" altLang="en-US" sz="2000" dirty="0"/>
              <a:t>Peripherals are electromechanical &amp; electromagnetic devices and are interacting with electronics devices(CPU).</a:t>
            </a:r>
          </a:p>
          <a:p>
            <a:pPr lvl="1" algn="just"/>
            <a:r>
              <a:rPr lang="en-US" altLang="en-US" sz="2000" dirty="0"/>
              <a:t>Data transfer rate of peripherals is usually slower than transfer rate of CPU.</a:t>
            </a:r>
          </a:p>
          <a:p>
            <a:pPr lvl="1" algn="just"/>
            <a:r>
              <a:rPr lang="en-US" altLang="en-US" sz="2000" dirty="0"/>
              <a:t>Data codes and formats in peripherals differ from word format in CPU</a:t>
            </a:r>
          </a:p>
          <a:p>
            <a:pPr lvl="1" algn="just"/>
            <a:r>
              <a:rPr lang="en-US" altLang="en-US" sz="2000" dirty="0"/>
              <a:t>Operating modes of peripherals are different from each other and each one must be controlled without disturbing other.</a:t>
            </a:r>
          </a:p>
          <a:p>
            <a:pPr algn="just"/>
            <a:r>
              <a:rPr lang="en-US" altLang="en-US" sz="2000" dirty="0"/>
              <a:t>To resolve these differences, computer system includes Interface units between CPU and peripherals to supervise and synchronize all input and output transfers.</a:t>
            </a:r>
          </a:p>
          <a:p>
            <a:endParaRPr lang="en-US" altLang="en-US" sz="2000" dirty="0"/>
          </a:p>
        </p:txBody>
      </p:sp>
    </p:spTree>
    <p:extLst>
      <p:ext uri="{BB962C8B-B14F-4D97-AF65-F5344CB8AC3E}">
        <p14:creationId xmlns:p14="http://schemas.microsoft.com/office/powerpoint/2010/main" val="413923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457200" y="152400"/>
            <a:ext cx="8229600" cy="1143000"/>
          </a:xfrm>
        </p:spPr>
        <p:txBody>
          <a:bodyPr/>
          <a:lstStyle/>
          <a:p>
            <a:r>
              <a:rPr lang="en-US" altLang="en-US" dirty="0"/>
              <a:t>Input-Output Interface</a:t>
            </a:r>
          </a:p>
        </p:txBody>
      </p:sp>
      <p:pic>
        <p:nvPicPr>
          <p:cNvPr id="58371" name="Picture 2"/>
          <p:cNvPicPr>
            <a:picLocks noGrp="1" noChangeAspect="1" noChangeArrowheads="1"/>
          </p:cNvPicPr>
          <p:nvPr>
            <p:ph idx="1"/>
          </p:nvPr>
        </p:nvPicPr>
        <p:blipFill>
          <a:blip r:embed="rId2"/>
          <a:srcRect/>
          <a:stretch>
            <a:fillRect/>
          </a:stretch>
        </p:blipFill>
        <p:spPr>
          <a:xfrm>
            <a:off x="762000" y="1189225"/>
            <a:ext cx="7296150" cy="3786187"/>
          </a:xfrm>
          <a:noFill/>
        </p:spPr>
      </p:pic>
      <p:sp>
        <p:nvSpPr>
          <p:cNvPr id="58372" name="Rectangle 4"/>
          <p:cNvSpPr>
            <a:spLocks noChangeArrowheads="1"/>
          </p:cNvSpPr>
          <p:nvPr/>
        </p:nvSpPr>
        <p:spPr bwMode="auto">
          <a:xfrm>
            <a:off x="558053" y="4953000"/>
            <a:ext cx="85725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itchFamily="34" charset="-127"/>
              </a:defRPr>
            </a:lvl9pPr>
          </a:lstStyle>
          <a:p>
            <a:pPr>
              <a:spcBef>
                <a:spcPct val="0"/>
              </a:spcBef>
              <a:buClr>
                <a:srgbClr val="FF0000"/>
              </a:buClr>
              <a:buSzTx/>
              <a:buFont typeface="Wingdings" panose="05000000000000000000" pitchFamily="2" charset="2"/>
              <a:buChar char="§"/>
              <a:defRPr/>
            </a:pPr>
            <a:r>
              <a:rPr lang="en-US" altLang="en-US" sz="2400" dirty="0">
                <a:latin typeface="Times New Roman" panose="02020603050405020304" pitchFamily="18" charset="0"/>
              </a:rPr>
              <a:t> </a:t>
            </a:r>
            <a:r>
              <a:rPr lang="en-US" altLang="en-US" dirty="0">
                <a:latin typeface="+mn-lt"/>
              </a:rPr>
              <a:t>Each peripheral has its own controller that operates a particular     electromechanical device.</a:t>
            </a:r>
          </a:p>
          <a:p>
            <a:pPr>
              <a:spcBef>
                <a:spcPct val="0"/>
              </a:spcBef>
              <a:buClr>
                <a:srgbClr val="FF0000"/>
              </a:buClr>
              <a:buSzTx/>
              <a:buFont typeface="Wingdings" panose="05000000000000000000" pitchFamily="2" charset="2"/>
              <a:buChar char="§"/>
              <a:defRPr/>
            </a:pPr>
            <a:r>
              <a:rPr lang="en-US" altLang="en-US" dirty="0"/>
              <a:t>To communicate with a particular device, the processor places a device address on the address lines.</a:t>
            </a:r>
            <a:endParaRPr lang="en-US" altLang="en-US" dirty="0">
              <a:latin typeface="Times New Roman" panose="02020603050405020304" pitchFamily="18" charset="0"/>
            </a:endParaRPr>
          </a:p>
          <a:p>
            <a:pPr>
              <a:spcBef>
                <a:spcPct val="0"/>
              </a:spcBef>
              <a:buClr>
                <a:srgbClr val="FF0000"/>
              </a:buClr>
              <a:buSzTx/>
              <a:buFont typeface="Wingdings" panose="05000000000000000000" pitchFamily="2" charset="2"/>
              <a:buChar char="§"/>
              <a:defRPr/>
            </a:pPr>
            <a:endParaRPr lang="en-US" altLang="en-US" dirty="0">
              <a:latin typeface="+mn-lt"/>
            </a:endParaRPr>
          </a:p>
        </p:txBody>
      </p:sp>
    </p:spTree>
    <p:extLst>
      <p:ext uri="{BB962C8B-B14F-4D97-AF65-F5344CB8AC3E}">
        <p14:creationId xmlns:p14="http://schemas.microsoft.com/office/powerpoint/2010/main" val="42933179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a:t>Input-Output Interface</a:t>
            </a:r>
          </a:p>
        </p:txBody>
      </p:sp>
      <p:sp>
        <p:nvSpPr>
          <p:cNvPr id="59395" name="Content Placeholder 2"/>
          <p:cNvSpPr>
            <a:spLocks noGrp="1"/>
          </p:cNvSpPr>
          <p:nvPr>
            <p:ph idx="1"/>
          </p:nvPr>
        </p:nvSpPr>
        <p:spPr>
          <a:xfrm>
            <a:off x="457200" y="1219200"/>
            <a:ext cx="8229600" cy="4525963"/>
          </a:xfrm>
        </p:spPr>
        <p:txBody>
          <a:bodyPr/>
          <a:lstStyle/>
          <a:p>
            <a:r>
              <a:rPr lang="en-US" altLang="en-US" sz="2000" dirty="0"/>
              <a:t>When the interface detects it own address, it activates path between bus lines and the device. </a:t>
            </a:r>
          </a:p>
          <a:p>
            <a:endParaRPr lang="en-US" altLang="en-US" sz="2000" dirty="0"/>
          </a:p>
          <a:p>
            <a:r>
              <a:rPr lang="en-US" altLang="en-US" sz="2000" dirty="0"/>
              <a:t>At the time address is made available in address lines, the processor provides function code(I/O command) in the control lines.</a:t>
            </a:r>
          </a:p>
          <a:p>
            <a:endParaRPr lang="en-US" altLang="en-US" sz="2000" dirty="0"/>
          </a:p>
          <a:p>
            <a:r>
              <a:rPr lang="en-US" altLang="en-US" sz="2000" dirty="0"/>
              <a:t>Types of I/O command:</a:t>
            </a:r>
          </a:p>
          <a:p>
            <a:pPr>
              <a:lnSpc>
                <a:spcPct val="150000"/>
              </a:lnSpc>
              <a:buFont typeface="Wingdings" pitchFamily="2" charset="2"/>
              <a:buChar char="Ø"/>
            </a:pPr>
            <a:r>
              <a:rPr lang="en-US" altLang="en-US" sz="2000" dirty="0">
                <a:solidFill>
                  <a:srgbClr val="0070C0"/>
                </a:solidFill>
              </a:rPr>
              <a:t>Control command</a:t>
            </a:r>
            <a:r>
              <a:rPr lang="en-US" altLang="en-US" sz="2000" dirty="0"/>
              <a:t>: To activate and inform what to do.</a:t>
            </a:r>
          </a:p>
          <a:p>
            <a:pPr>
              <a:lnSpc>
                <a:spcPct val="150000"/>
              </a:lnSpc>
              <a:buFont typeface="Wingdings" pitchFamily="2" charset="2"/>
              <a:buChar char="Ø"/>
            </a:pPr>
            <a:r>
              <a:rPr lang="en-US" altLang="en-US" sz="2000" dirty="0">
                <a:solidFill>
                  <a:srgbClr val="0070C0"/>
                </a:solidFill>
              </a:rPr>
              <a:t>Status command</a:t>
            </a:r>
            <a:r>
              <a:rPr lang="en-US" altLang="en-US" sz="2000" dirty="0"/>
              <a:t>: To test various status conditions.</a:t>
            </a:r>
          </a:p>
          <a:p>
            <a:pPr>
              <a:lnSpc>
                <a:spcPct val="150000"/>
              </a:lnSpc>
              <a:buFont typeface="Wingdings" pitchFamily="2" charset="2"/>
              <a:buChar char="Ø"/>
            </a:pPr>
            <a:r>
              <a:rPr lang="en-US" altLang="en-US" sz="2000" dirty="0">
                <a:solidFill>
                  <a:srgbClr val="0070C0"/>
                </a:solidFill>
              </a:rPr>
              <a:t>Data Output data</a:t>
            </a:r>
            <a:r>
              <a:rPr lang="en-US" altLang="en-US" sz="2000" dirty="0"/>
              <a:t>: It causes the transfer of data from bus into one of its registers.</a:t>
            </a:r>
          </a:p>
          <a:p>
            <a:pPr>
              <a:lnSpc>
                <a:spcPct val="150000"/>
              </a:lnSpc>
              <a:buFont typeface="Wingdings" pitchFamily="2" charset="2"/>
              <a:buChar char="Ø"/>
            </a:pPr>
            <a:r>
              <a:rPr lang="en-US" altLang="en-US" sz="2000" dirty="0">
                <a:solidFill>
                  <a:srgbClr val="0070C0"/>
                </a:solidFill>
              </a:rPr>
              <a:t>Data Input Command</a:t>
            </a:r>
            <a:r>
              <a:rPr lang="en-US" altLang="en-US" sz="2000" dirty="0"/>
              <a:t>: Interface receives data from peripheral and places them on buffer register where it is put into data lines.</a:t>
            </a:r>
          </a:p>
          <a:p>
            <a:endParaRPr lang="en-US" altLang="en-US" sz="2000" dirty="0"/>
          </a:p>
        </p:txBody>
      </p:sp>
    </p:spTree>
    <p:extLst>
      <p:ext uri="{BB962C8B-B14F-4D97-AF65-F5344CB8AC3E}">
        <p14:creationId xmlns:p14="http://schemas.microsoft.com/office/powerpoint/2010/main" val="26974350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altLang="en-US"/>
              <a:t>I/O versus Memory Bus</a:t>
            </a:r>
          </a:p>
        </p:txBody>
      </p:sp>
      <p:sp>
        <p:nvSpPr>
          <p:cNvPr id="60419" name="Content Placeholder 2"/>
          <p:cNvSpPr>
            <a:spLocks noGrp="1"/>
          </p:cNvSpPr>
          <p:nvPr>
            <p:ph idx="1"/>
          </p:nvPr>
        </p:nvSpPr>
        <p:spPr/>
        <p:txBody>
          <a:bodyPr/>
          <a:lstStyle/>
          <a:p>
            <a:endParaRPr lang="en-US" altLang="en-US" sz="2200" dirty="0"/>
          </a:p>
          <a:p>
            <a:r>
              <a:rPr lang="en-US" altLang="en-US" sz="2200" dirty="0"/>
              <a:t>In addition to communicating to I/O, processor must also communicate with memory unit.</a:t>
            </a:r>
          </a:p>
          <a:p>
            <a:endParaRPr lang="en-US" altLang="en-US" sz="2200" dirty="0"/>
          </a:p>
          <a:p>
            <a:r>
              <a:rPr lang="en-US" altLang="en-US" sz="2200" dirty="0"/>
              <a:t>There are three ways that computer buses can be used to communicate with memory and I/O: </a:t>
            </a:r>
          </a:p>
          <a:p>
            <a:pPr lvl="1">
              <a:lnSpc>
                <a:spcPct val="150000"/>
              </a:lnSpc>
            </a:pPr>
            <a:r>
              <a:rPr lang="en-US" altLang="en-US" sz="2000" dirty="0"/>
              <a:t>Use two separate buses, one for memory and one for I/O. (</a:t>
            </a:r>
            <a:r>
              <a:rPr lang="en-US" altLang="en-US" sz="2000" b="1" dirty="0"/>
              <a:t>IOP</a:t>
            </a:r>
            <a:r>
              <a:rPr lang="en-US" altLang="en-US" sz="2000" dirty="0"/>
              <a:t>)</a:t>
            </a:r>
          </a:p>
          <a:p>
            <a:pPr lvl="1">
              <a:lnSpc>
                <a:spcPct val="150000"/>
              </a:lnSpc>
            </a:pPr>
            <a:r>
              <a:rPr lang="en-US" altLang="en-US" sz="2000" dirty="0"/>
              <a:t>Use one common bus for both memory and I/O but have separate control lines for each. (</a:t>
            </a:r>
            <a:r>
              <a:rPr lang="en-US" altLang="en-US" sz="2000" b="1" dirty="0"/>
              <a:t>Isolated I/O</a:t>
            </a:r>
            <a:r>
              <a:rPr lang="en-US" altLang="en-US" sz="2000" dirty="0"/>
              <a:t>)</a:t>
            </a:r>
          </a:p>
          <a:p>
            <a:pPr lvl="1">
              <a:lnSpc>
                <a:spcPct val="150000"/>
              </a:lnSpc>
            </a:pPr>
            <a:r>
              <a:rPr lang="en-US" altLang="en-US" sz="2000" dirty="0"/>
              <a:t>Use one common bus for memory and I/O with common control lines. (</a:t>
            </a:r>
            <a:r>
              <a:rPr lang="en-US" altLang="en-US" sz="2000" b="1" dirty="0"/>
              <a:t>Memory Mapped I/O</a:t>
            </a:r>
            <a:r>
              <a:rPr lang="en-US" altLang="en-US" sz="2000" dirty="0"/>
              <a:t>)</a:t>
            </a:r>
          </a:p>
          <a:p>
            <a:endParaRPr lang="en-US" altLang="en-US" sz="2200" dirty="0"/>
          </a:p>
        </p:txBody>
      </p:sp>
    </p:spTree>
    <p:extLst>
      <p:ext uri="{BB962C8B-B14F-4D97-AF65-F5344CB8AC3E}">
        <p14:creationId xmlns:p14="http://schemas.microsoft.com/office/powerpoint/2010/main" val="39945526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457200" y="152400"/>
            <a:ext cx="8229600" cy="1143000"/>
          </a:xfrm>
        </p:spPr>
        <p:txBody>
          <a:bodyPr/>
          <a:lstStyle/>
          <a:p>
            <a:r>
              <a:rPr lang="en-US" altLang="en-US" dirty="0"/>
              <a:t>Isolated I/O</a:t>
            </a:r>
          </a:p>
        </p:txBody>
      </p:sp>
      <p:sp>
        <p:nvSpPr>
          <p:cNvPr id="61443" name="Content Placeholder 2"/>
          <p:cNvSpPr>
            <a:spLocks noGrp="1"/>
          </p:cNvSpPr>
          <p:nvPr>
            <p:ph idx="1"/>
          </p:nvPr>
        </p:nvSpPr>
        <p:spPr>
          <a:xfrm>
            <a:off x="142875" y="928688"/>
            <a:ext cx="8686800" cy="5486400"/>
          </a:xfrm>
        </p:spPr>
        <p:txBody>
          <a:bodyPr/>
          <a:lstStyle/>
          <a:p>
            <a:pPr algn="just"/>
            <a:r>
              <a:rPr lang="en-US" altLang="en-US" sz="2000" dirty="0"/>
              <a:t>The distinction between memory and I/O transfer is made through separate read and control lines.</a:t>
            </a:r>
          </a:p>
          <a:p>
            <a:pPr algn="just"/>
            <a:endParaRPr lang="en-US" altLang="en-US" sz="2000" dirty="0"/>
          </a:p>
          <a:p>
            <a:pPr algn="just"/>
            <a:r>
              <a:rPr lang="en-US" altLang="en-US" sz="2000" dirty="0"/>
              <a:t>I/O read and I/O write are enabled during I/O transfer and Memory read/write are enabled during memory transfer.</a:t>
            </a:r>
          </a:p>
          <a:p>
            <a:pPr algn="just"/>
            <a:endParaRPr lang="en-US" altLang="en-US" sz="2000" dirty="0"/>
          </a:p>
          <a:p>
            <a:pPr algn="just"/>
            <a:r>
              <a:rPr lang="en-US" altLang="en-US" sz="2000" dirty="0"/>
              <a:t>In the isolated I/O configuration, CPU have distinct input and output instructions where each of it will be associated with address of the interface register.</a:t>
            </a:r>
          </a:p>
          <a:p>
            <a:pPr algn="just"/>
            <a:endParaRPr lang="en-US" altLang="en-US" sz="2000" dirty="0"/>
          </a:p>
          <a:p>
            <a:pPr algn="just"/>
            <a:r>
              <a:rPr lang="en-US" altLang="en-US" sz="2000" dirty="0"/>
              <a:t>When the CPU fetches and decodes the I/O instruction, it places the address associated with the instruction on the common address lines and enables I/O read or I/O write control line.</a:t>
            </a:r>
          </a:p>
          <a:p>
            <a:pPr algn="just"/>
            <a:endParaRPr lang="en-US" altLang="en-US" sz="2000" dirty="0"/>
          </a:p>
          <a:p>
            <a:pPr algn="just"/>
            <a:r>
              <a:rPr lang="en-US" altLang="en-US" sz="2000" dirty="0"/>
              <a:t>When the CPU fetches and decodes the Memory instruction, it places the address associated with the instruction on the common address lines and enables Memory read or Memory write control line.</a:t>
            </a:r>
          </a:p>
          <a:p>
            <a:pPr algn="just"/>
            <a:endParaRPr lang="en-US" altLang="en-US" sz="2000" dirty="0"/>
          </a:p>
          <a:p>
            <a:pPr algn="just"/>
            <a:r>
              <a:rPr lang="en-US" altLang="en-US" sz="2000" dirty="0"/>
              <a:t>The isolated I/O method isolates memory and I/O addresses.    </a:t>
            </a:r>
          </a:p>
        </p:txBody>
      </p:sp>
    </p:spTree>
    <p:extLst>
      <p:ext uri="{BB962C8B-B14F-4D97-AF65-F5344CB8AC3E}">
        <p14:creationId xmlns:p14="http://schemas.microsoft.com/office/powerpoint/2010/main" val="7352934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435429" y="76200"/>
            <a:ext cx="8229600" cy="1143000"/>
          </a:xfrm>
        </p:spPr>
        <p:txBody>
          <a:bodyPr/>
          <a:lstStyle/>
          <a:p>
            <a:r>
              <a:rPr lang="en-US" altLang="en-US" dirty="0"/>
              <a:t>Memory Mapped I/O</a:t>
            </a:r>
          </a:p>
        </p:txBody>
      </p:sp>
      <p:sp>
        <p:nvSpPr>
          <p:cNvPr id="62467" name="Content Placeholder 2"/>
          <p:cNvSpPr>
            <a:spLocks noGrp="1"/>
          </p:cNvSpPr>
          <p:nvPr>
            <p:ph idx="1"/>
          </p:nvPr>
        </p:nvSpPr>
        <p:spPr>
          <a:xfrm>
            <a:off x="381000" y="1066800"/>
            <a:ext cx="8534400" cy="4525963"/>
          </a:xfrm>
        </p:spPr>
        <p:txBody>
          <a:bodyPr/>
          <a:lstStyle/>
          <a:p>
            <a:pPr algn="just"/>
            <a:r>
              <a:rPr lang="en-US" altLang="en-US" sz="2000" dirty="0"/>
              <a:t>Here the same address space is used for both memory and I/O. The computer treats interface register as a part of memory system.</a:t>
            </a:r>
          </a:p>
          <a:p>
            <a:pPr algn="just"/>
            <a:endParaRPr lang="en-US" altLang="en-US" sz="2000" dirty="0"/>
          </a:p>
          <a:p>
            <a:pPr algn="just"/>
            <a:r>
              <a:rPr lang="en-US" altLang="en-US" sz="2000" dirty="0"/>
              <a:t>The assigned address cannot be used for storing memory words, which reduces memory address range available.</a:t>
            </a:r>
          </a:p>
          <a:p>
            <a:pPr algn="just"/>
            <a:endParaRPr lang="en-US" altLang="en-US" sz="2000" dirty="0"/>
          </a:p>
          <a:p>
            <a:pPr algn="just"/>
            <a:r>
              <a:rPr lang="en-US" altLang="en-US" sz="2000" dirty="0"/>
              <a:t>In a memory-mapped I/O organization, there are no specific, input or output instruction.</a:t>
            </a:r>
          </a:p>
          <a:p>
            <a:pPr algn="just"/>
            <a:endParaRPr lang="en-US" altLang="en-US" sz="2000" dirty="0"/>
          </a:p>
          <a:p>
            <a:pPr algn="just"/>
            <a:r>
              <a:rPr lang="en-US" altLang="en-US" sz="2000" dirty="0"/>
              <a:t>CPU manipulate I/O data residing in interface registers with the same instruction used to manipulate memory words.</a:t>
            </a:r>
          </a:p>
          <a:p>
            <a:pPr algn="just"/>
            <a:endParaRPr lang="en-US" altLang="en-US" sz="2000" dirty="0"/>
          </a:p>
          <a:p>
            <a:pPr algn="just"/>
            <a:r>
              <a:rPr lang="en-US" altLang="en-US" sz="2000" dirty="0"/>
              <a:t>Load and store instruction used for reading/writing  from memory and can be use for input or output data from I/O instruction.</a:t>
            </a:r>
          </a:p>
          <a:p>
            <a:pPr algn="just"/>
            <a:endParaRPr lang="en-US" altLang="en-US" sz="2000" dirty="0"/>
          </a:p>
          <a:p>
            <a:pPr algn="just"/>
            <a:r>
              <a:rPr lang="en-US" altLang="en-US" sz="2000" dirty="0"/>
              <a:t>With memory-mapped I/O all instructions that refer to memory are also available for I/O.</a:t>
            </a:r>
          </a:p>
          <a:p>
            <a:endParaRPr lang="en-US" altLang="en-US" sz="1800" dirty="0"/>
          </a:p>
        </p:txBody>
      </p:sp>
    </p:spTree>
    <p:extLst>
      <p:ext uri="{BB962C8B-B14F-4D97-AF65-F5344CB8AC3E}">
        <p14:creationId xmlns:p14="http://schemas.microsoft.com/office/powerpoint/2010/main" val="19693654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ltLang="en-US" b="1"/>
              <a:t>Memory Mapped I/O</a:t>
            </a:r>
          </a:p>
        </p:txBody>
      </p:sp>
      <p:pic>
        <p:nvPicPr>
          <p:cNvPr id="63491" name="Picture 2"/>
          <p:cNvPicPr>
            <a:picLocks noChangeAspect="1" noChangeArrowheads="1"/>
          </p:cNvPicPr>
          <p:nvPr/>
        </p:nvPicPr>
        <p:blipFill>
          <a:blip r:embed="rId2"/>
          <a:srcRect/>
          <a:stretch>
            <a:fillRect/>
          </a:stretch>
        </p:blipFill>
        <p:spPr bwMode="auto">
          <a:xfrm>
            <a:off x="280988" y="1214438"/>
            <a:ext cx="8582025" cy="4981575"/>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23107812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b="1"/>
              <a:t>Modes of Transfer</a:t>
            </a:r>
          </a:p>
        </p:txBody>
      </p:sp>
      <p:sp>
        <p:nvSpPr>
          <p:cNvPr id="64515" name="Content Placeholder 2"/>
          <p:cNvSpPr>
            <a:spLocks noGrp="1"/>
          </p:cNvSpPr>
          <p:nvPr>
            <p:ph idx="1"/>
          </p:nvPr>
        </p:nvSpPr>
        <p:spPr/>
        <p:txBody>
          <a:bodyPr/>
          <a:lstStyle/>
          <a:p>
            <a:pPr algn="just"/>
            <a:r>
              <a:rPr lang="en-US" altLang="en-US" sz="2400" dirty="0"/>
              <a:t>Data transfer between the CPU and the I/O devices may be handled in variety of modes. Some modes use the CPU as an intermediate path and others transfer the data directly to and from the memory unit.</a:t>
            </a:r>
          </a:p>
          <a:p>
            <a:endParaRPr lang="en-US" altLang="en-US" sz="2400" dirty="0"/>
          </a:p>
          <a:p>
            <a:r>
              <a:rPr lang="en-US" altLang="en-US" sz="2400" dirty="0"/>
              <a:t>Data transfer to and from peripherals may be handled in three ways:</a:t>
            </a:r>
          </a:p>
          <a:p>
            <a:pPr lvl="1"/>
            <a:endParaRPr lang="en-US" altLang="en-US" sz="2000" dirty="0"/>
          </a:p>
          <a:p>
            <a:pPr lvl="1">
              <a:spcBef>
                <a:spcPts val="100"/>
              </a:spcBef>
            </a:pPr>
            <a:r>
              <a:rPr lang="en-US" altLang="en-US" sz="2000" dirty="0"/>
              <a:t>Programmed I/O</a:t>
            </a:r>
          </a:p>
          <a:p>
            <a:pPr lvl="1">
              <a:spcBef>
                <a:spcPts val="100"/>
              </a:spcBef>
            </a:pPr>
            <a:endParaRPr lang="en-US" altLang="en-US" sz="2000" dirty="0"/>
          </a:p>
          <a:p>
            <a:pPr lvl="1">
              <a:spcBef>
                <a:spcPts val="100"/>
              </a:spcBef>
            </a:pPr>
            <a:r>
              <a:rPr lang="en-US" altLang="en-US" sz="2000" dirty="0"/>
              <a:t>Interrupt-initiated I/O</a:t>
            </a:r>
          </a:p>
          <a:p>
            <a:pPr lvl="1">
              <a:spcBef>
                <a:spcPts val="100"/>
              </a:spcBef>
            </a:pPr>
            <a:endParaRPr lang="en-US" altLang="en-US" sz="2000" dirty="0"/>
          </a:p>
          <a:p>
            <a:pPr lvl="1">
              <a:spcBef>
                <a:spcPts val="100"/>
              </a:spcBef>
            </a:pPr>
            <a:r>
              <a:rPr lang="en-US" altLang="en-US" sz="2000" dirty="0"/>
              <a:t>Direct Memory Access (DMA)</a:t>
            </a:r>
          </a:p>
          <a:p>
            <a:pPr lvl="1"/>
            <a:endParaRPr lang="en-US" altLang="en-US" sz="2000" dirty="0"/>
          </a:p>
          <a:p>
            <a:pPr lvl="1"/>
            <a:endParaRPr lang="en-US" altLang="en-US" sz="2000" dirty="0"/>
          </a:p>
        </p:txBody>
      </p:sp>
    </p:spTree>
    <p:extLst>
      <p:ext uri="{BB962C8B-B14F-4D97-AF65-F5344CB8AC3E}">
        <p14:creationId xmlns:p14="http://schemas.microsoft.com/office/powerpoint/2010/main" val="304322625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b="1"/>
              <a:t>Programmed I/O</a:t>
            </a:r>
          </a:p>
        </p:txBody>
      </p:sp>
      <p:sp>
        <p:nvSpPr>
          <p:cNvPr id="65539" name="Content Placeholder 2"/>
          <p:cNvSpPr>
            <a:spLocks noGrp="1"/>
          </p:cNvSpPr>
          <p:nvPr>
            <p:ph idx="1"/>
          </p:nvPr>
        </p:nvSpPr>
        <p:spPr>
          <a:xfrm>
            <a:off x="152400" y="990600"/>
            <a:ext cx="8686800" cy="5510213"/>
          </a:xfrm>
        </p:spPr>
        <p:txBody>
          <a:bodyPr/>
          <a:lstStyle/>
          <a:p>
            <a:endParaRPr lang="en-US" altLang="en-US" dirty="0"/>
          </a:p>
          <a:p>
            <a:pPr algn="just"/>
            <a:r>
              <a:rPr lang="en-US" altLang="en-US" sz="2400" dirty="0"/>
              <a:t>Programmed I/O operations are the result of I/O instructions. Each data item transfer is initiate by an instruction in the program.</a:t>
            </a:r>
          </a:p>
          <a:p>
            <a:pPr algn="just"/>
            <a:endParaRPr lang="en-US" altLang="en-US" sz="2400" dirty="0"/>
          </a:p>
          <a:p>
            <a:pPr algn="just"/>
            <a:r>
              <a:rPr lang="en-US" altLang="en-US" sz="2400" dirty="0"/>
              <a:t>Usually the transfer is to and from a CPU register and peripheral. Other instructions are needed to transfer data between memory and CPU.</a:t>
            </a:r>
          </a:p>
          <a:p>
            <a:pPr algn="just"/>
            <a:endParaRPr lang="en-US" altLang="en-US" sz="2400" dirty="0"/>
          </a:p>
          <a:p>
            <a:pPr algn="just"/>
            <a:r>
              <a:rPr lang="en-US" altLang="en-US" sz="2400" dirty="0"/>
              <a:t>Once a data transfer is initiated, the CPU is required to monitor the interface to see when a transfer can again be made.</a:t>
            </a:r>
          </a:p>
          <a:p>
            <a:pPr algn="just"/>
            <a:endParaRPr lang="en-US" altLang="en-US" sz="2400" dirty="0"/>
          </a:p>
        </p:txBody>
      </p:sp>
    </p:spTree>
    <p:extLst>
      <p:ext uri="{BB962C8B-B14F-4D97-AF65-F5344CB8AC3E}">
        <p14:creationId xmlns:p14="http://schemas.microsoft.com/office/powerpoint/2010/main" val="1729669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b="1"/>
              <a:t>Programmed I/O</a:t>
            </a:r>
          </a:p>
        </p:txBody>
      </p:sp>
      <p:pic>
        <p:nvPicPr>
          <p:cNvPr id="66563" name="Picture 2"/>
          <p:cNvPicPr>
            <a:picLocks noChangeAspect="1"/>
          </p:cNvPicPr>
          <p:nvPr/>
        </p:nvPicPr>
        <p:blipFill>
          <a:blip r:embed="rId2"/>
          <a:srcRect/>
          <a:stretch>
            <a:fillRect/>
          </a:stretch>
        </p:blipFill>
        <p:spPr bwMode="auto">
          <a:xfrm>
            <a:off x="1066800" y="2057400"/>
            <a:ext cx="7195512" cy="3641725"/>
          </a:xfrm>
          <a:prstGeom prst="rect">
            <a:avLst/>
          </a:prstGeom>
          <a:noFill/>
          <a:ln w="9525">
            <a:noFill/>
            <a:miter lim="800000"/>
            <a:headEnd/>
            <a:tailEnd/>
          </a:ln>
        </p:spPr>
      </p:pic>
    </p:spTree>
    <p:extLst>
      <p:ext uri="{BB962C8B-B14F-4D97-AF65-F5344CB8AC3E}">
        <p14:creationId xmlns:p14="http://schemas.microsoft.com/office/powerpoint/2010/main" val="118491682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a:t>Interrupt Initiated I/O</a:t>
            </a:r>
          </a:p>
        </p:txBody>
      </p:sp>
      <p:sp>
        <p:nvSpPr>
          <p:cNvPr id="67587" name="Content Placeholder 2"/>
          <p:cNvSpPr>
            <a:spLocks noGrp="1"/>
          </p:cNvSpPr>
          <p:nvPr>
            <p:ph idx="1"/>
          </p:nvPr>
        </p:nvSpPr>
        <p:spPr/>
        <p:txBody>
          <a:bodyPr/>
          <a:lstStyle/>
          <a:p>
            <a:r>
              <a:rPr lang="en-US" altLang="en-US" sz="2000" dirty="0"/>
              <a:t>In the programmed I/O CPU stays in program loop until the I/O indicates that it is ready for data transfer.</a:t>
            </a:r>
          </a:p>
          <a:p>
            <a:r>
              <a:rPr lang="en-US" altLang="en-US" sz="2000" dirty="0"/>
              <a:t>This is time consuming process since it makes CPU busy needlessly.</a:t>
            </a:r>
          </a:p>
          <a:p>
            <a:r>
              <a:rPr lang="en-US" altLang="en-US" sz="2000" dirty="0"/>
              <a:t>This can be avoided by using an interrupt facility.</a:t>
            </a:r>
            <a:endParaRPr lang="en-US" altLang="en-US" dirty="0"/>
          </a:p>
          <a:p>
            <a:r>
              <a:rPr lang="en-US" altLang="en-US" sz="2000" dirty="0"/>
              <a:t>When the interface determines that device is ready for data transfer, it generates an interrupt request.</a:t>
            </a:r>
          </a:p>
          <a:p>
            <a:endParaRPr lang="en-US" altLang="en-US" sz="2000" dirty="0"/>
          </a:p>
          <a:p>
            <a:r>
              <a:rPr lang="en-US" altLang="en-US" sz="2000" dirty="0"/>
              <a:t>Upon detecting external interrupt signal, the CPU momentarily stops the task it is processing.</a:t>
            </a:r>
          </a:p>
          <a:p>
            <a:endParaRPr lang="en-US" altLang="en-US" sz="2000" dirty="0"/>
          </a:p>
          <a:p>
            <a:r>
              <a:rPr lang="en-US" altLang="en-US" sz="2000" dirty="0"/>
              <a:t>It then branches to fulfill the I/O request and return to the original task.</a:t>
            </a:r>
          </a:p>
          <a:p>
            <a:r>
              <a:rPr lang="en-US" altLang="en-US" sz="2000" dirty="0"/>
              <a:t>Based on the concept of Priority Interrupt.</a:t>
            </a:r>
          </a:p>
          <a:p>
            <a:endParaRPr lang="en-US" altLang="en-US" sz="2000" dirty="0"/>
          </a:p>
        </p:txBody>
      </p:sp>
    </p:spTree>
    <p:extLst>
      <p:ext uri="{BB962C8B-B14F-4D97-AF65-F5344CB8AC3E}">
        <p14:creationId xmlns:p14="http://schemas.microsoft.com/office/powerpoint/2010/main" val="26216572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381000" y="152400"/>
            <a:ext cx="8229600" cy="1143000"/>
          </a:xfrm>
        </p:spPr>
        <p:txBody>
          <a:bodyPr/>
          <a:lstStyle/>
          <a:p>
            <a:r>
              <a:rPr lang="en-US" altLang="en-US" b="1" dirty="0"/>
              <a:t>Direct Memory Access (DMA)</a:t>
            </a:r>
          </a:p>
        </p:txBody>
      </p:sp>
      <p:sp>
        <p:nvSpPr>
          <p:cNvPr id="68611" name="Content Placeholder 2"/>
          <p:cNvSpPr>
            <a:spLocks noGrp="1"/>
          </p:cNvSpPr>
          <p:nvPr>
            <p:ph idx="1"/>
          </p:nvPr>
        </p:nvSpPr>
        <p:spPr>
          <a:xfrm>
            <a:off x="457200" y="1143000"/>
            <a:ext cx="8229600" cy="4525963"/>
          </a:xfrm>
        </p:spPr>
        <p:txBody>
          <a:bodyPr/>
          <a:lstStyle/>
          <a:p>
            <a:pPr algn="just"/>
            <a:r>
              <a:rPr lang="en-US" altLang="en-US" sz="2000" dirty="0"/>
              <a:t>The transfer of data between a fast storage device such as magnetic disk and memory often limited to the speed of CPU.</a:t>
            </a:r>
          </a:p>
          <a:p>
            <a:pPr algn="just"/>
            <a:endParaRPr lang="en-US" altLang="en-US" sz="2000" dirty="0"/>
          </a:p>
          <a:p>
            <a:pPr algn="just"/>
            <a:r>
              <a:rPr lang="en-US" altLang="en-US" sz="2000" dirty="0"/>
              <a:t>Removing the CPU and letting the peripheral device manage the memory bus directly improve speed of transfer.</a:t>
            </a:r>
          </a:p>
          <a:p>
            <a:pPr algn="just"/>
            <a:endParaRPr lang="en-US" altLang="en-US" sz="2000" dirty="0"/>
          </a:p>
          <a:p>
            <a:pPr algn="just"/>
            <a:r>
              <a:rPr lang="en-US" altLang="en-US" sz="2000" dirty="0"/>
              <a:t>Such transfer technique is called Direct Memory Access (DMA).</a:t>
            </a:r>
          </a:p>
          <a:p>
            <a:pPr algn="just"/>
            <a:endParaRPr lang="en-US" altLang="en-US" sz="2000" dirty="0"/>
          </a:p>
          <a:p>
            <a:pPr algn="just"/>
            <a:r>
              <a:rPr lang="en-US" altLang="en-US" sz="2000" dirty="0"/>
              <a:t>A DMA controller takes over the buses to manage the transfer directly between I/O device and memory.</a:t>
            </a:r>
          </a:p>
          <a:p>
            <a:pPr algn="just"/>
            <a:endParaRPr lang="en-US" altLang="en-US" sz="2000" dirty="0"/>
          </a:p>
          <a:p>
            <a:pPr algn="just"/>
            <a:r>
              <a:rPr lang="en-US" altLang="en-US" sz="2000" dirty="0"/>
              <a:t>During DMA transfer, the CPU is idle and has no control over memory buses.</a:t>
            </a:r>
          </a:p>
          <a:p>
            <a:pPr algn="just"/>
            <a:endParaRPr lang="en-US" altLang="en-US" sz="2000" dirty="0"/>
          </a:p>
          <a:p>
            <a:pPr algn="just"/>
            <a:r>
              <a:rPr lang="en-US" altLang="en-US" sz="2000" dirty="0"/>
              <a:t>By using </a:t>
            </a:r>
            <a:r>
              <a:rPr lang="en-US" altLang="en-US" sz="2000" b="1" dirty="0"/>
              <a:t>Bus Request(BR) </a:t>
            </a:r>
            <a:r>
              <a:rPr lang="en-US" altLang="en-US" sz="2000" dirty="0"/>
              <a:t>and </a:t>
            </a:r>
            <a:r>
              <a:rPr lang="en-US" altLang="en-US" sz="2000" b="1" dirty="0"/>
              <a:t>Bus Grant(BG)</a:t>
            </a:r>
            <a:r>
              <a:rPr lang="en-US" altLang="en-US" sz="2000" dirty="0"/>
              <a:t> the buses are released to DMA controller. </a:t>
            </a:r>
          </a:p>
        </p:txBody>
      </p:sp>
    </p:spTree>
    <p:extLst>
      <p:ext uri="{BB962C8B-B14F-4D97-AF65-F5344CB8AC3E}">
        <p14:creationId xmlns:p14="http://schemas.microsoft.com/office/powerpoint/2010/main" val="31433509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altLang="en-US"/>
              <a:t>DMA</a:t>
            </a:r>
          </a:p>
        </p:txBody>
      </p:sp>
      <p:sp>
        <p:nvSpPr>
          <p:cNvPr id="69635" name="Content Placeholder 2"/>
          <p:cNvSpPr>
            <a:spLocks noGrp="1"/>
          </p:cNvSpPr>
          <p:nvPr>
            <p:ph idx="1"/>
          </p:nvPr>
        </p:nvSpPr>
        <p:spPr>
          <a:xfrm>
            <a:off x="152400" y="3714750"/>
            <a:ext cx="8686800" cy="2762250"/>
          </a:xfrm>
        </p:spPr>
        <p:txBody>
          <a:bodyPr/>
          <a:lstStyle/>
          <a:p>
            <a:r>
              <a:rPr lang="en-US" altLang="en-US" sz="2200"/>
              <a:t>Data transfer ways:</a:t>
            </a:r>
          </a:p>
          <a:p>
            <a:pPr lvl="1"/>
            <a:endParaRPr lang="en-US" altLang="en-US" sz="2000"/>
          </a:p>
          <a:p>
            <a:pPr lvl="1"/>
            <a:r>
              <a:rPr lang="en-US" altLang="en-US" sz="2000"/>
              <a:t>Burst Transfer: Here number of words are transferred in a block. Example: Magnetic disk. </a:t>
            </a:r>
          </a:p>
          <a:p>
            <a:pPr lvl="1"/>
            <a:endParaRPr lang="en-US" altLang="en-US" sz="2000"/>
          </a:p>
          <a:p>
            <a:pPr lvl="1"/>
            <a:r>
              <a:rPr lang="en-US" altLang="en-US" sz="2000"/>
              <a:t>Cycle stealing: Allows the DMA controller to transfer one data word at a time after it must return the control of buses to CPU.</a:t>
            </a:r>
          </a:p>
        </p:txBody>
      </p:sp>
      <p:pic>
        <p:nvPicPr>
          <p:cNvPr id="69636" name="Picture 2"/>
          <p:cNvPicPr>
            <a:picLocks noChangeAspect="1" noChangeArrowheads="1"/>
          </p:cNvPicPr>
          <p:nvPr/>
        </p:nvPicPr>
        <p:blipFill>
          <a:blip r:embed="rId2"/>
          <a:srcRect/>
          <a:stretch>
            <a:fillRect/>
          </a:stretch>
        </p:blipFill>
        <p:spPr bwMode="auto">
          <a:xfrm>
            <a:off x="1571625" y="1357313"/>
            <a:ext cx="5838825" cy="2214562"/>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37283095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a:xfrm>
            <a:off x="642938" y="0"/>
            <a:ext cx="7772400" cy="685800"/>
          </a:xfrm>
        </p:spPr>
        <p:txBody>
          <a:bodyPr/>
          <a:lstStyle/>
          <a:p>
            <a:r>
              <a:rPr lang="en-US" altLang="en-US" b="1"/>
              <a:t>DMA Controller</a:t>
            </a:r>
          </a:p>
        </p:txBody>
      </p:sp>
      <p:pic>
        <p:nvPicPr>
          <p:cNvPr id="70659" name="Picture 4"/>
          <p:cNvPicPr>
            <a:picLocks noChangeAspect="1" noChangeArrowheads="1"/>
          </p:cNvPicPr>
          <p:nvPr/>
        </p:nvPicPr>
        <p:blipFill>
          <a:blip r:embed="rId2"/>
          <a:srcRect/>
          <a:stretch>
            <a:fillRect/>
          </a:stretch>
        </p:blipFill>
        <p:spPr bwMode="auto">
          <a:xfrm>
            <a:off x="785813" y="1071563"/>
            <a:ext cx="7591425" cy="5286375"/>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31209959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en-US" b="1"/>
              <a:t>Initialization of DMA</a:t>
            </a:r>
          </a:p>
        </p:txBody>
      </p:sp>
      <p:sp>
        <p:nvSpPr>
          <p:cNvPr id="71683" name="Content Placeholder 2"/>
          <p:cNvSpPr>
            <a:spLocks noGrp="1"/>
          </p:cNvSpPr>
          <p:nvPr>
            <p:ph idx="1"/>
          </p:nvPr>
        </p:nvSpPr>
        <p:spPr/>
        <p:txBody>
          <a:bodyPr/>
          <a:lstStyle/>
          <a:p>
            <a:endParaRPr lang="en-US" altLang="en-US" sz="2200"/>
          </a:p>
          <a:p>
            <a:r>
              <a:rPr lang="en-US" altLang="en-US" sz="2200"/>
              <a:t>The CPU initializes the DMA by sending the following information through the data bus.</a:t>
            </a:r>
          </a:p>
          <a:p>
            <a:pPr lvl="1"/>
            <a:endParaRPr lang="en-US" altLang="en-US" sz="2000"/>
          </a:p>
          <a:p>
            <a:pPr lvl="1"/>
            <a:r>
              <a:rPr lang="en-US" altLang="en-US" sz="2000"/>
              <a:t>The starting address of the memory block where data are available(for read) or where data are to be stored(for write).</a:t>
            </a:r>
          </a:p>
          <a:p>
            <a:pPr lvl="1"/>
            <a:endParaRPr lang="en-US" altLang="en-US" sz="2000"/>
          </a:p>
          <a:p>
            <a:pPr lvl="1"/>
            <a:r>
              <a:rPr lang="en-US" altLang="en-US" sz="2000"/>
              <a:t>The word count, which is the number of words in the memory block.</a:t>
            </a:r>
          </a:p>
          <a:p>
            <a:pPr lvl="1"/>
            <a:endParaRPr lang="en-US" altLang="en-US" sz="2000"/>
          </a:p>
          <a:p>
            <a:pPr lvl="1"/>
            <a:r>
              <a:rPr lang="en-US" altLang="en-US" sz="2000"/>
              <a:t>Control to specify the mode of transfer such as read or write.</a:t>
            </a:r>
          </a:p>
          <a:p>
            <a:pPr lvl="1"/>
            <a:endParaRPr lang="en-US" altLang="en-US" sz="2000"/>
          </a:p>
          <a:p>
            <a:pPr lvl="1"/>
            <a:r>
              <a:rPr lang="en-US" altLang="en-US" sz="2000"/>
              <a:t>A control to start the DMA transfer.</a:t>
            </a:r>
          </a:p>
        </p:txBody>
      </p:sp>
    </p:spTree>
    <p:extLst>
      <p:ext uri="{BB962C8B-B14F-4D97-AF65-F5344CB8AC3E}">
        <p14:creationId xmlns:p14="http://schemas.microsoft.com/office/powerpoint/2010/main" val="3032815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altLang="en-US" b="1"/>
              <a:t>DMA Transfer in a computer system</a:t>
            </a:r>
          </a:p>
        </p:txBody>
      </p:sp>
      <p:pic>
        <p:nvPicPr>
          <p:cNvPr id="72707" name="Picture 6"/>
          <p:cNvPicPr>
            <a:picLocks noChangeAspect="1" noChangeArrowheads="1"/>
          </p:cNvPicPr>
          <p:nvPr/>
        </p:nvPicPr>
        <p:blipFill>
          <a:blip r:embed="rId2"/>
          <a:srcRect/>
          <a:stretch>
            <a:fillRect/>
          </a:stretch>
        </p:blipFill>
        <p:spPr bwMode="auto">
          <a:xfrm>
            <a:off x="604838" y="1000125"/>
            <a:ext cx="7681912" cy="5500688"/>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375023862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altLang="en-US" b="1"/>
              <a:t>Input-Output Transfer (IOP)</a:t>
            </a:r>
          </a:p>
        </p:txBody>
      </p:sp>
      <p:pic>
        <p:nvPicPr>
          <p:cNvPr id="73731" name="Picture 3"/>
          <p:cNvPicPr>
            <a:picLocks noChangeAspect="1" noChangeArrowheads="1"/>
          </p:cNvPicPr>
          <p:nvPr/>
        </p:nvPicPr>
        <p:blipFill>
          <a:blip r:embed="rId2"/>
          <a:srcRect/>
          <a:stretch>
            <a:fillRect/>
          </a:stretch>
        </p:blipFill>
        <p:spPr bwMode="auto">
          <a:xfrm>
            <a:off x="928688" y="1214438"/>
            <a:ext cx="7667625" cy="3643312"/>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2648215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a:xfrm>
            <a:off x="457200" y="-32657"/>
            <a:ext cx="8229600" cy="1143000"/>
          </a:xfrm>
        </p:spPr>
        <p:txBody>
          <a:bodyPr/>
          <a:lstStyle/>
          <a:p>
            <a:r>
              <a:rPr lang="en-US" altLang="en-US" b="1" dirty="0"/>
              <a:t>Input-Output Transfer (IOP)</a:t>
            </a:r>
            <a:endParaRPr lang="en-US" altLang="en-US" dirty="0"/>
          </a:p>
        </p:txBody>
      </p:sp>
      <p:sp>
        <p:nvSpPr>
          <p:cNvPr id="74755" name="Content Placeholder 2"/>
          <p:cNvSpPr>
            <a:spLocks noGrp="1"/>
          </p:cNvSpPr>
          <p:nvPr>
            <p:ph idx="1"/>
          </p:nvPr>
        </p:nvSpPr>
        <p:spPr>
          <a:xfrm>
            <a:off x="214313" y="928688"/>
            <a:ext cx="8686800" cy="5486400"/>
          </a:xfrm>
        </p:spPr>
        <p:txBody>
          <a:bodyPr/>
          <a:lstStyle/>
          <a:p>
            <a:pPr>
              <a:lnSpc>
                <a:spcPct val="150000"/>
              </a:lnSpc>
            </a:pPr>
            <a:r>
              <a:rPr lang="en-US" altLang="en-US" sz="1800"/>
              <a:t>An IOP takes care of input and output tasks.</a:t>
            </a:r>
          </a:p>
          <a:p>
            <a:pPr>
              <a:lnSpc>
                <a:spcPct val="150000"/>
              </a:lnSpc>
            </a:pPr>
            <a:r>
              <a:rPr lang="en-US" altLang="en-US" sz="1800"/>
              <a:t>IOP is similar to CPU except IOP can fetch and execute an I/O instruction.</a:t>
            </a:r>
          </a:p>
          <a:p>
            <a:pPr>
              <a:lnSpc>
                <a:spcPct val="150000"/>
              </a:lnSpc>
            </a:pPr>
            <a:r>
              <a:rPr lang="en-US" altLang="en-US" sz="1800"/>
              <a:t>CPU is usually assigned task of initiating the I/O program and thus IOP.</a:t>
            </a:r>
          </a:p>
          <a:p>
            <a:r>
              <a:rPr lang="en-US" altLang="en-US" sz="1800"/>
              <a:t>The CPU is assigned the task of initiating all operations, but I/O instructions are executed in IOP.</a:t>
            </a:r>
          </a:p>
          <a:p>
            <a:endParaRPr lang="en-US" altLang="en-US" sz="1800"/>
          </a:p>
          <a:p>
            <a:r>
              <a:rPr lang="en-US" altLang="en-US" sz="1800"/>
              <a:t>When an I/O operation is required, the CPU informs the IOP where to find the I/O program and then leaves the transfer details to the IOP.</a:t>
            </a:r>
          </a:p>
          <a:p>
            <a:endParaRPr lang="en-US" altLang="en-US" sz="1800"/>
          </a:p>
          <a:p>
            <a:r>
              <a:rPr lang="en-US" altLang="en-US" sz="1800"/>
              <a:t>CPU instructions also test I/O status conditions needed for making decisions on various I/O activities.</a:t>
            </a:r>
          </a:p>
          <a:p>
            <a:pPr>
              <a:lnSpc>
                <a:spcPct val="150000"/>
              </a:lnSpc>
            </a:pPr>
            <a:r>
              <a:rPr lang="en-US" altLang="en-US" sz="1800"/>
              <a:t>IOP is also responsible of taking care of data synchronization, formats etc between CPU and I/O devices.</a:t>
            </a:r>
          </a:p>
          <a:p>
            <a:pPr>
              <a:lnSpc>
                <a:spcPct val="150000"/>
              </a:lnSpc>
            </a:pPr>
            <a:r>
              <a:rPr lang="en-US" altLang="en-US" sz="1800"/>
              <a:t>In most computers CPU is master and IOP is slave.</a:t>
            </a:r>
          </a:p>
          <a:p>
            <a:pPr>
              <a:lnSpc>
                <a:spcPct val="150000"/>
              </a:lnSpc>
            </a:pPr>
            <a:r>
              <a:rPr lang="en-US" altLang="en-US" sz="1800"/>
              <a:t>The IOP typically asks for CPU attention by means of Interrupt.</a:t>
            </a:r>
          </a:p>
          <a:p>
            <a:pPr>
              <a:lnSpc>
                <a:spcPct val="150000"/>
              </a:lnSpc>
            </a:pPr>
            <a:endParaRPr lang="en-US" altLang="en-US" sz="1800"/>
          </a:p>
          <a:p>
            <a:pPr>
              <a:lnSpc>
                <a:spcPct val="150000"/>
              </a:lnSpc>
            </a:pPr>
            <a:endParaRPr lang="en-US" altLang="en-US" sz="1800"/>
          </a:p>
        </p:txBody>
      </p:sp>
    </p:spTree>
    <p:extLst>
      <p:ext uri="{BB962C8B-B14F-4D97-AF65-F5344CB8AC3E}">
        <p14:creationId xmlns:p14="http://schemas.microsoft.com/office/powerpoint/2010/main" val="214710326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547688" y="-10886"/>
            <a:ext cx="8229600" cy="1143000"/>
          </a:xfrm>
        </p:spPr>
        <p:txBody>
          <a:bodyPr/>
          <a:lstStyle/>
          <a:p>
            <a:r>
              <a:rPr lang="en-US" altLang="en-US" b="1" dirty="0"/>
              <a:t>Bus Arbitration</a:t>
            </a:r>
          </a:p>
        </p:txBody>
      </p:sp>
      <p:sp>
        <p:nvSpPr>
          <p:cNvPr id="75779" name="Content Placeholder 2"/>
          <p:cNvSpPr>
            <a:spLocks noGrp="1"/>
          </p:cNvSpPr>
          <p:nvPr>
            <p:ph idx="1"/>
          </p:nvPr>
        </p:nvSpPr>
        <p:spPr>
          <a:xfrm>
            <a:off x="571500" y="928688"/>
            <a:ext cx="8205788" cy="2928937"/>
          </a:xfrm>
        </p:spPr>
        <p:txBody>
          <a:bodyPr/>
          <a:lstStyle/>
          <a:p>
            <a:pPr algn="just"/>
            <a:r>
              <a:rPr lang="en-US" altLang="en-US" sz="2000" dirty="0"/>
              <a:t>The device that is allowed to initiate data transfers on the bus at any given time is called Bus master.</a:t>
            </a:r>
          </a:p>
          <a:p>
            <a:pPr algn="just"/>
            <a:endParaRPr lang="en-US" altLang="en-US" sz="2000" dirty="0"/>
          </a:p>
          <a:p>
            <a:pPr algn="just"/>
            <a:r>
              <a:rPr lang="en-US" altLang="en-US" sz="2000" dirty="0"/>
              <a:t>Bus arbitration is the process by which the next device becomes Bus master and will do the data transfer. </a:t>
            </a:r>
          </a:p>
          <a:p>
            <a:pPr algn="just"/>
            <a:endParaRPr lang="en-US" altLang="en-US" dirty="0"/>
          </a:p>
          <a:p>
            <a:pPr algn="just"/>
            <a:r>
              <a:rPr lang="en-US" altLang="en-US" sz="2000" dirty="0"/>
              <a:t>Two approaches: Centralized Arbitration and Distributed Arbitration.</a:t>
            </a:r>
          </a:p>
          <a:p>
            <a:pPr lvl="4" algn="just"/>
            <a:endParaRPr lang="en-US" altLang="en-US" sz="1600" dirty="0"/>
          </a:p>
          <a:p>
            <a:pPr lvl="4" algn="just"/>
            <a:r>
              <a:rPr lang="en-US" altLang="en-US" sz="1600" dirty="0"/>
              <a:t>                  </a:t>
            </a:r>
            <a:r>
              <a:rPr lang="en-US" altLang="en-US" sz="1200" b="1" dirty="0"/>
              <a:t>Centralized Arbitration</a:t>
            </a:r>
          </a:p>
          <a:p>
            <a:endParaRPr lang="en-US" altLang="en-US" dirty="0"/>
          </a:p>
          <a:p>
            <a:endParaRPr lang="en-US" altLang="en-US" dirty="0"/>
          </a:p>
        </p:txBody>
      </p:sp>
      <p:pic>
        <p:nvPicPr>
          <p:cNvPr id="75780" name="Picture 3"/>
          <p:cNvPicPr>
            <a:picLocks noChangeAspect="1" noChangeArrowheads="1"/>
          </p:cNvPicPr>
          <p:nvPr/>
        </p:nvPicPr>
        <p:blipFill>
          <a:blip r:embed="rId2"/>
          <a:srcRect/>
          <a:stretch>
            <a:fillRect/>
          </a:stretch>
        </p:blipFill>
        <p:spPr bwMode="auto">
          <a:xfrm>
            <a:off x="1143000" y="3857625"/>
            <a:ext cx="6858000" cy="2714625"/>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1547558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a:xfrm>
            <a:off x="457200" y="108857"/>
            <a:ext cx="8229600" cy="1143000"/>
          </a:xfrm>
        </p:spPr>
        <p:txBody>
          <a:bodyPr/>
          <a:lstStyle/>
          <a:p>
            <a:r>
              <a:rPr lang="en-US" altLang="en-US" b="1" dirty="0"/>
              <a:t>Types of Interrupt</a:t>
            </a:r>
          </a:p>
        </p:txBody>
      </p:sp>
      <p:sp>
        <p:nvSpPr>
          <p:cNvPr id="76803" name="Content Placeholder 2"/>
          <p:cNvSpPr>
            <a:spLocks noGrp="1"/>
          </p:cNvSpPr>
          <p:nvPr>
            <p:ph idx="1"/>
          </p:nvPr>
        </p:nvSpPr>
        <p:spPr>
          <a:xfrm>
            <a:off x="304800" y="1219200"/>
            <a:ext cx="8491537" cy="5486400"/>
          </a:xfrm>
        </p:spPr>
        <p:txBody>
          <a:bodyPr/>
          <a:lstStyle/>
          <a:p>
            <a:pPr>
              <a:spcBef>
                <a:spcPts val="1800"/>
              </a:spcBef>
            </a:pPr>
            <a:r>
              <a:rPr lang="en-US" altLang="en-US" dirty="0"/>
              <a:t>Major types of Interrupt are:</a:t>
            </a:r>
          </a:p>
          <a:p>
            <a:pPr lvl="1" algn="just">
              <a:spcBef>
                <a:spcPts val="1800"/>
              </a:spcBef>
            </a:pPr>
            <a:r>
              <a:rPr lang="en-US" altLang="en-US" sz="2000" dirty="0">
                <a:solidFill>
                  <a:schemeClr val="tx1"/>
                </a:solidFill>
              </a:rPr>
              <a:t>External Interrupt: It comes from I/O devices, from timing device, or from any other external source. </a:t>
            </a:r>
          </a:p>
          <a:p>
            <a:pPr lvl="1" algn="just">
              <a:spcBef>
                <a:spcPts val="1200"/>
              </a:spcBef>
            </a:pPr>
            <a:r>
              <a:rPr lang="en-US" altLang="en-US" sz="2000" dirty="0">
                <a:solidFill>
                  <a:schemeClr val="tx1"/>
                </a:solidFill>
              </a:rPr>
              <a:t>Internal Interrupt: It includes register overflow, invalid operation code, stack overflow etc.</a:t>
            </a:r>
          </a:p>
          <a:p>
            <a:pPr lvl="1" algn="just">
              <a:spcBef>
                <a:spcPts val="1200"/>
              </a:spcBef>
            </a:pPr>
            <a:r>
              <a:rPr lang="en-US" altLang="en-US" sz="2000" dirty="0">
                <a:solidFill>
                  <a:schemeClr val="tx1"/>
                </a:solidFill>
              </a:rPr>
              <a:t>Software Interrupt or Hardware Interrupt: External and Internal interrupts are initiated from signals that occur in the hardware of the CPU. </a:t>
            </a:r>
            <a:r>
              <a:rPr lang="en-US" altLang="en-US" sz="2000" i="1" dirty="0">
                <a:solidFill>
                  <a:schemeClr val="tx1"/>
                </a:solidFill>
              </a:rPr>
              <a:t>A software interrupt is initiated by executing an instruction.</a:t>
            </a:r>
          </a:p>
          <a:p>
            <a:pPr lvl="1" algn="just">
              <a:spcBef>
                <a:spcPts val="1200"/>
              </a:spcBef>
            </a:pPr>
            <a:r>
              <a:rPr lang="en-US" altLang="en-US" sz="2000" dirty="0">
                <a:solidFill>
                  <a:schemeClr val="tx1"/>
                </a:solidFill>
              </a:rPr>
              <a:t>Priority Interrupt: In case several sources will request service simultaneously, in this case system must decide which device to service first. For ex: Polling, Daisy Chain.</a:t>
            </a:r>
          </a:p>
          <a:p>
            <a:pPr lvl="1"/>
            <a:endParaRPr lang="en-US" altLang="en-US" sz="2000" dirty="0"/>
          </a:p>
          <a:p>
            <a:pPr lvl="1"/>
            <a:endParaRPr lang="en-US" altLang="en-US" sz="2000" dirty="0"/>
          </a:p>
        </p:txBody>
      </p:sp>
    </p:spTree>
    <p:extLst>
      <p:ext uri="{BB962C8B-B14F-4D97-AF65-F5344CB8AC3E}">
        <p14:creationId xmlns:p14="http://schemas.microsoft.com/office/powerpoint/2010/main" val="342664780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US" altLang="en-US" b="1"/>
              <a:t>Buses</a:t>
            </a:r>
          </a:p>
        </p:txBody>
      </p:sp>
      <p:sp>
        <p:nvSpPr>
          <p:cNvPr id="77827" name="Content Placeholder 2"/>
          <p:cNvSpPr>
            <a:spLocks noGrp="1"/>
          </p:cNvSpPr>
          <p:nvPr>
            <p:ph idx="1"/>
          </p:nvPr>
        </p:nvSpPr>
        <p:spPr>
          <a:xfrm>
            <a:off x="247650" y="1295400"/>
            <a:ext cx="8686800" cy="1938338"/>
          </a:xfrm>
        </p:spPr>
        <p:txBody>
          <a:bodyPr/>
          <a:lstStyle/>
          <a:p>
            <a:r>
              <a:rPr lang="en-US" altLang="en-US" sz="2400" dirty="0"/>
              <a:t>Data Bus: Bi-directional and transfers data.</a:t>
            </a:r>
          </a:p>
          <a:p>
            <a:r>
              <a:rPr lang="en-US" altLang="en-US" sz="2400" dirty="0"/>
              <a:t>Address Bus: </a:t>
            </a:r>
            <a:r>
              <a:rPr lang="en-US" altLang="en-US" sz="2400" dirty="0" err="1"/>
              <a:t>Uni</a:t>
            </a:r>
            <a:r>
              <a:rPr lang="en-US" altLang="en-US" sz="2400" dirty="0"/>
              <a:t>-directional and sends the address.</a:t>
            </a:r>
          </a:p>
          <a:p>
            <a:r>
              <a:rPr lang="en-US" altLang="en-US" sz="2400" dirty="0"/>
              <a:t>Control Bus: R/W, BR,BG etc.</a:t>
            </a:r>
          </a:p>
          <a:p>
            <a:endParaRPr lang="en-US" altLang="en-US" sz="2400" dirty="0"/>
          </a:p>
          <a:p>
            <a:r>
              <a:rPr lang="en-US" altLang="en-US" sz="2400" dirty="0"/>
              <a:t>Bus Structure: Single bus</a:t>
            </a:r>
          </a:p>
          <a:p>
            <a:endParaRPr lang="en-US" altLang="en-US" sz="2400" dirty="0"/>
          </a:p>
        </p:txBody>
      </p:sp>
      <p:pic>
        <p:nvPicPr>
          <p:cNvPr id="77828" name="Picture 4"/>
          <p:cNvPicPr>
            <a:picLocks noChangeAspect="1" noChangeArrowheads="1"/>
          </p:cNvPicPr>
          <p:nvPr/>
        </p:nvPicPr>
        <p:blipFill>
          <a:blip r:embed="rId2"/>
          <a:srcRect/>
          <a:stretch>
            <a:fillRect/>
          </a:stretch>
        </p:blipFill>
        <p:spPr bwMode="auto">
          <a:xfrm>
            <a:off x="1447800" y="3962400"/>
            <a:ext cx="6286500" cy="2428875"/>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190265880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altLang="en-US" b="1"/>
              <a:t>Buses</a:t>
            </a:r>
            <a:endParaRPr lang="en-US" altLang="en-US"/>
          </a:p>
        </p:txBody>
      </p:sp>
      <p:sp>
        <p:nvSpPr>
          <p:cNvPr id="78851" name="Content Placeholder 2"/>
          <p:cNvSpPr>
            <a:spLocks noGrp="1"/>
          </p:cNvSpPr>
          <p:nvPr>
            <p:ph idx="1"/>
          </p:nvPr>
        </p:nvSpPr>
        <p:spPr>
          <a:xfrm>
            <a:off x="85865" y="1143000"/>
            <a:ext cx="8686800" cy="438150"/>
          </a:xfrm>
        </p:spPr>
        <p:txBody>
          <a:bodyPr/>
          <a:lstStyle/>
          <a:p>
            <a:r>
              <a:rPr lang="en-US" altLang="en-US" dirty="0"/>
              <a:t>Bus Structure: Multi bus</a:t>
            </a:r>
          </a:p>
          <a:p>
            <a:endParaRPr lang="en-US" altLang="en-US" dirty="0"/>
          </a:p>
        </p:txBody>
      </p:sp>
      <p:pic>
        <p:nvPicPr>
          <p:cNvPr id="78852" name="Picture 3"/>
          <p:cNvPicPr>
            <a:picLocks noChangeAspect="1" noChangeArrowheads="1"/>
          </p:cNvPicPr>
          <p:nvPr/>
        </p:nvPicPr>
        <p:blipFill>
          <a:blip r:embed="rId2"/>
          <a:srcRect/>
          <a:stretch>
            <a:fillRect/>
          </a:stretch>
        </p:blipFill>
        <p:spPr bwMode="auto">
          <a:xfrm>
            <a:off x="1178859" y="2209800"/>
            <a:ext cx="6500813" cy="4143375"/>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35279120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altLang="en-US" sz="3200" dirty="0"/>
              <a:t>Synchronous or Asynchronous Data Transfer</a:t>
            </a:r>
          </a:p>
        </p:txBody>
      </p:sp>
      <p:sp>
        <p:nvSpPr>
          <p:cNvPr id="79875" name="Content Placeholder 2"/>
          <p:cNvSpPr>
            <a:spLocks noGrp="1"/>
          </p:cNvSpPr>
          <p:nvPr>
            <p:ph idx="1"/>
          </p:nvPr>
        </p:nvSpPr>
        <p:spPr>
          <a:xfrm>
            <a:off x="152400" y="990600"/>
            <a:ext cx="8686800" cy="4581525"/>
          </a:xfrm>
        </p:spPr>
        <p:txBody>
          <a:bodyPr/>
          <a:lstStyle/>
          <a:p>
            <a:endParaRPr lang="en-US" altLang="en-US" dirty="0"/>
          </a:p>
          <a:p>
            <a:r>
              <a:rPr lang="en-US" altLang="en-US" sz="2000" dirty="0"/>
              <a:t>Internal operations in a digital system are synchronized by means of clock pulses supplied by common pulse generator.</a:t>
            </a:r>
          </a:p>
          <a:p>
            <a:endParaRPr lang="en-US" altLang="en-US" sz="2000" dirty="0"/>
          </a:p>
          <a:p>
            <a:r>
              <a:rPr lang="en-US" altLang="en-US" sz="2000" dirty="0"/>
              <a:t>If the registers in the interface share a common clock with the CPU registers, the transfer is synchronous.</a:t>
            </a:r>
          </a:p>
          <a:p>
            <a:endParaRPr lang="en-US" altLang="en-US" sz="2000" dirty="0"/>
          </a:p>
          <a:p>
            <a:r>
              <a:rPr lang="en-US" altLang="en-US" sz="2000" dirty="0"/>
              <a:t>Asynchronous data transfer requires that control signals be transmitted between communicating units to indicate the time at which data is being transmitted.</a:t>
            </a:r>
          </a:p>
          <a:p>
            <a:endParaRPr lang="en-US" altLang="en-US" sz="2000" dirty="0"/>
          </a:p>
          <a:p>
            <a:r>
              <a:rPr lang="en-US" altLang="en-US" sz="2000" dirty="0"/>
              <a:t>Asynchronous data transfer can be accomplished by Strobe &amp; Handshaking.</a:t>
            </a:r>
          </a:p>
          <a:p>
            <a:endParaRPr lang="en-US" altLang="en-US" sz="2000" dirty="0"/>
          </a:p>
          <a:p>
            <a:endParaRPr lang="en-US" altLang="en-US" sz="2000" dirty="0"/>
          </a:p>
          <a:p>
            <a:endParaRPr lang="en-US" altLang="en-US" sz="2000" dirty="0"/>
          </a:p>
        </p:txBody>
      </p:sp>
    </p:spTree>
    <p:extLst>
      <p:ext uri="{BB962C8B-B14F-4D97-AF65-F5344CB8AC3E}">
        <p14:creationId xmlns:p14="http://schemas.microsoft.com/office/powerpoint/2010/main" val="38424213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altLang="en-US" b="1"/>
              <a:t>Strobe Control</a:t>
            </a:r>
          </a:p>
        </p:txBody>
      </p:sp>
      <p:sp>
        <p:nvSpPr>
          <p:cNvPr id="80899" name="Content Placeholder 2"/>
          <p:cNvSpPr>
            <a:spLocks noGrp="1"/>
          </p:cNvSpPr>
          <p:nvPr>
            <p:ph idx="1"/>
          </p:nvPr>
        </p:nvSpPr>
        <p:spPr>
          <a:xfrm>
            <a:off x="285750" y="1214438"/>
            <a:ext cx="8686800" cy="1357312"/>
          </a:xfrm>
        </p:spPr>
        <p:txBody>
          <a:bodyPr/>
          <a:lstStyle/>
          <a:p>
            <a:r>
              <a:rPr lang="en-US" altLang="en-US"/>
              <a:t>Strobe control: </a:t>
            </a:r>
          </a:p>
          <a:p>
            <a:pPr lvl="1" algn="just">
              <a:spcBef>
                <a:spcPts val="1200"/>
              </a:spcBef>
            </a:pPr>
            <a:r>
              <a:rPr lang="en-US" altLang="en-US" sz="2000"/>
              <a:t>It employs single control line.</a:t>
            </a:r>
          </a:p>
          <a:p>
            <a:pPr lvl="1" algn="just">
              <a:spcBef>
                <a:spcPts val="600"/>
              </a:spcBef>
            </a:pPr>
            <a:r>
              <a:rPr lang="en-US" altLang="en-US" sz="2000"/>
              <a:t>It can be activated either by source or destination unit. </a:t>
            </a:r>
          </a:p>
          <a:p>
            <a:endParaRPr lang="en-US" altLang="en-US"/>
          </a:p>
          <a:p>
            <a:endParaRPr lang="en-US" altLang="en-US"/>
          </a:p>
        </p:txBody>
      </p:sp>
      <p:pic>
        <p:nvPicPr>
          <p:cNvPr id="80900" name="Picture 4"/>
          <p:cNvPicPr>
            <a:picLocks noChangeAspect="1" noChangeArrowheads="1"/>
          </p:cNvPicPr>
          <p:nvPr/>
        </p:nvPicPr>
        <p:blipFill>
          <a:blip r:embed="rId2"/>
          <a:srcRect/>
          <a:stretch>
            <a:fillRect/>
          </a:stretch>
        </p:blipFill>
        <p:spPr bwMode="auto">
          <a:xfrm>
            <a:off x="1643063" y="2786063"/>
            <a:ext cx="5857875" cy="3286125"/>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101433601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414338" y="152400"/>
            <a:ext cx="8229600" cy="1143000"/>
          </a:xfrm>
        </p:spPr>
        <p:txBody>
          <a:bodyPr/>
          <a:lstStyle/>
          <a:p>
            <a:r>
              <a:rPr lang="en-US" altLang="en-US" b="1" dirty="0"/>
              <a:t>Handshaking </a:t>
            </a:r>
          </a:p>
        </p:txBody>
      </p:sp>
      <p:pic>
        <p:nvPicPr>
          <p:cNvPr id="81923" name="Picture 3"/>
          <p:cNvPicPr>
            <a:picLocks noChangeAspect="1" noChangeArrowheads="1"/>
          </p:cNvPicPr>
          <p:nvPr/>
        </p:nvPicPr>
        <p:blipFill>
          <a:blip r:embed="rId2"/>
          <a:srcRect/>
          <a:stretch>
            <a:fillRect/>
          </a:stretch>
        </p:blipFill>
        <p:spPr bwMode="auto">
          <a:xfrm>
            <a:off x="357188" y="1219200"/>
            <a:ext cx="8286750" cy="5357813"/>
          </a:xfrm>
          <a:prstGeom prst="rect">
            <a:avLst/>
          </a:prstGeom>
          <a:noFill/>
          <a:ln w="12700">
            <a:noFill/>
            <a:miter lim="800000"/>
            <a:headEnd type="none" w="med" len="sm"/>
            <a:tailEnd type="none" w="med" len="sm"/>
          </a:ln>
        </p:spPr>
      </p:pic>
    </p:spTree>
    <p:extLst>
      <p:ext uri="{BB962C8B-B14F-4D97-AF65-F5344CB8AC3E}">
        <p14:creationId xmlns:p14="http://schemas.microsoft.com/office/powerpoint/2010/main" val="280492562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10381</TotalTime>
  <Words>7116</Words>
  <Application>Microsoft Office PowerPoint</Application>
  <PresentationFormat>On-screen Show (4:3)</PresentationFormat>
  <Paragraphs>1150</Paragraphs>
  <Slides>117</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117</vt:i4>
      </vt:variant>
    </vt:vector>
  </HeadingPairs>
  <TitlesOfParts>
    <vt:vector size="128" baseType="lpstr">
      <vt:lpstr>굴림</vt:lpstr>
      <vt:lpstr>Arial</vt:lpstr>
      <vt:lpstr>Arial Black</vt:lpstr>
      <vt:lpstr>Calibri</vt:lpstr>
      <vt:lpstr>Georgia</vt:lpstr>
      <vt:lpstr>Helvetica</vt:lpstr>
      <vt:lpstr>Monotype Sorts</vt:lpstr>
      <vt:lpstr>Times New Roman</vt:lpstr>
      <vt:lpstr>Wingdings</vt:lpstr>
      <vt:lpstr>Default Design</vt:lpstr>
      <vt:lpstr>VISIO</vt:lpstr>
      <vt:lpstr>PIPELINING</vt:lpstr>
      <vt:lpstr>Example for Pipeline Processing</vt:lpstr>
      <vt:lpstr>Operations in each pipeline stage</vt:lpstr>
      <vt:lpstr>General Four-Segment Pipeline</vt:lpstr>
      <vt:lpstr>Pipeline Speedup</vt:lpstr>
      <vt:lpstr>PowerPoint Presentation</vt:lpstr>
      <vt:lpstr>PowerPoint Presentation</vt:lpstr>
      <vt:lpstr>PowerPoint Presentation</vt:lpstr>
      <vt:lpstr>PowerPoint Presentation</vt:lpstr>
      <vt:lpstr>Problem  </vt:lpstr>
      <vt:lpstr>PowerPoint Presentation</vt:lpstr>
      <vt:lpstr>PowerPoint Presentation</vt:lpstr>
      <vt:lpstr>PowerPoint Presentation</vt:lpstr>
      <vt:lpstr>PowerPoint Presentation</vt:lpstr>
      <vt:lpstr>BASIC COMPUTER ORGANIZATION AND DESIGN</vt:lpstr>
      <vt:lpstr>Computer Registers:</vt:lpstr>
      <vt:lpstr>PowerPoint Presentation</vt:lpstr>
      <vt:lpstr>PowerPoint Presentation</vt:lpstr>
      <vt:lpstr>Common Bus System: </vt:lpstr>
      <vt:lpstr>PowerPoint Presentation</vt:lpstr>
      <vt:lpstr>PowerPoint Presentation</vt:lpstr>
      <vt:lpstr>Computer Instructions</vt:lpstr>
      <vt:lpstr>Computer Instruction Set</vt:lpstr>
      <vt:lpstr> TIMING and CONTROL UNIT</vt:lpstr>
      <vt:lpstr>PowerPoint Presentation</vt:lpstr>
      <vt:lpstr>FUNCTIONS</vt:lpstr>
      <vt:lpstr>TYPES</vt:lpstr>
      <vt:lpstr>Hardwired Control Unit</vt:lpstr>
      <vt:lpstr>ADVANTAGES</vt:lpstr>
      <vt:lpstr>DISADVANTAGES</vt:lpstr>
      <vt:lpstr>CONSIST OF:</vt:lpstr>
      <vt:lpstr>ARCHITECTURE</vt:lpstr>
      <vt:lpstr>PowerPoint Presentation</vt:lpstr>
      <vt:lpstr>PowerPoint Presentation</vt:lpstr>
      <vt:lpstr>PowerPoint Presentation</vt:lpstr>
      <vt:lpstr>EXAMPLE</vt:lpstr>
      <vt:lpstr>TIMING DIAGRAM</vt:lpstr>
      <vt:lpstr>MICRO-PROGRAMMED  CONTROL UNIT</vt:lpstr>
      <vt:lpstr>PowerPoint Presentation</vt:lpstr>
      <vt:lpstr>PowerPoint Presentation</vt:lpstr>
      <vt:lpstr>ADVANTAGES</vt:lpstr>
      <vt:lpstr>DISADVANTAGES</vt:lpstr>
      <vt:lpstr>CONSIST OF :</vt:lpstr>
      <vt:lpstr>ARCHITECTURE</vt:lpstr>
      <vt:lpstr>PowerPoint Presentation</vt:lpstr>
      <vt:lpstr>PowerPoint Presentation</vt:lpstr>
      <vt:lpstr>PowerPoint Presentation</vt:lpstr>
      <vt:lpstr>Instruction Cycle</vt:lpstr>
      <vt:lpstr>Instruction Cycle</vt:lpstr>
      <vt:lpstr>Instruction Cycle</vt:lpstr>
      <vt:lpstr>Register-Reference Instructions</vt:lpstr>
      <vt:lpstr>Memory-Reference Instructions:</vt:lpstr>
      <vt:lpstr>PowerPoint Presentation</vt:lpstr>
      <vt:lpstr>PowerPoint Presentation</vt:lpstr>
      <vt:lpstr>PowerPoint Presentation</vt:lpstr>
      <vt:lpstr>PowerPoint Presentation</vt:lpstr>
      <vt:lpstr>PowerPoint Presentation</vt:lpstr>
      <vt:lpstr>PowerPoint Presentation</vt:lpstr>
      <vt:lpstr>Register-Reference Instructions: </vt:lpstr>
      <vt:lpstr>PowerPoint Presentation</vt:lpstr>
      <vt:lpstr>Input-Output Configuration: </vt:lpstr>
      <vt:lpstr>PowerPoint Presentation</vt:lpstr>
      <vt:lpstr>PowerPoint Presentation</vt:lpstr>
      <vt:lpstr>Fundamental Concepts</vt:lpstr>
      <vt:lpstr>Memory Organization</vt:lpstr>
      <vt:lpstr>Memory Organization</vt:lpstr>
      <vt:lpstr>Random Access Memory (RAM)</vt:lpstr>
      <vt:lpstr>Three State Buffer</vt:lpstr>
      <vt:lpstr>MAIN  MEMORY</vt:lpstr>
      <vt:lpstr>MEMORY  ADDRESS  MAP</vt:lpstr>
      <vt:lpstr>CONNECTION  OF  MEMORY  TO  CPU</vt:lpstr>
      <vt:lpstr>Numerical Problems</vt:lpstr>
      <vt:lpstr>PowerPoint Presentation</vt:lpstr>
      <vt:lpstr>Cache Memory</vt:lpstr>
      <vt:lpstr>Types of Mapping of Cache Memory</vt:lpstr>
      <vt:lpstr>Associative Mapping</vt:lpstr>
      <vt:lpstr>Direct Mapping</vt:lpstr>
      <vt:lpstr>Direct Mapping</vt:lpstr>
      <vt:lpstr>Set-Associative Mapping </vt:lpstr>
      <vt:lpstr>Questions</vt:lpstr>
      <vt:lpstr>Answer</vt:lpstr>
      <vt:lpstr>Answer</vt:lpstr>
      <vt:lpstr>PowerPoint Presentation</vt:lpstr>
      <vt:lpstr>PowerPoint Presentation</vt:lpstr>
      <vt:lpstr>PowerPoint Presentation</vt:lpstr>
      <vt:lpstr>PowerPoint Presentation</vt:lpstr>
      <vt:lpstr>ADDRESS  MAPPING</vt:lpstr>
      <vt:lpstr>PAGE  REPLACEMENT  ALGORITHMS</vt:lpstr>
      <vt:lpstr>PAGE  REPLACEMENT  ALGORITHMS</vt:lpstr>
      <vt:lpstr>PowerPoint Presentation</vt:lpstr>
      <vt:lpstr>Question</vt:lpstr>
      <vt:lpstr>Input-Output Organization</vt:lpstr>
      <vt:lpstr>Input-Output Interface</vt:lpstr>
      <vt:lpstr>Input-Output Interface</vt:lpstr>
      <vt:lpstr>Input-Output Interface</vt:lpstr>
      <vt:lpstr>I/O versus Memory Bus</vt:lpstr>
      <vt:lpstr>Isolated I/O</vt:lpstr>
      <vt:lpstr>Memory Mapped I/O</vt:lpstr>
      <vt:lpstr>Memory Mapped I/O</vt:lpstr>
      <vt:lpstr>Modes of Transfer</vt:lpstr>
      <vt:lpstr>Programmed I/O</vt:lpstr>
      <vt:lpstr>Programmed I/O</vt:lpstr>
      <vt:lpstr>Interrupt Initiated I/O</vt:lpstr>
      <vt:lpstr>Direct Memory Access (DMA)</vt:lpstr>
      <vt:lpstr>DMA</vt:lpstr>
      <vt:lpstr>DMA Controller</vt:lpstr>
      <vt:lpstr>Initialization of DMA</vt:lpstr>
      <vt:lpstr>DMA Transfer in a computer system</vt:lpstr>
      <vt:lpstr>Input-Output Transfer (IOP)</vt:lpstr>
      <vt:lpstr>Input-Output Transfer (IOP)</vt:lpstr>
      <vt:lpstr>Bus Arbitration</vt:lpstr>
      <vt:lpstr>Types of Interrupt</vt:lpstr>
      <vt:lpstr>Buses</vt:lpstr>
      <vt:lpstr>Buses</vt:lpstr>
      <vt:lpstr>Synchronous or Asynchronous Data Transfer</vt:lpstr>
      <vt:lpstr>Strobe Control</vt:lpstr>
      <vt:lpstr>Handshaking </vt:lpstr>
    </vt:vector>
  </TitlesOfParts>
  <Company>ciscoSystems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ECE271</dc:title>
  <dc:creator>Alexandre Tenca and Wen-Tsong Shiue</dc:creator>
  <cp:lastModifiedBy>A</cp:lastModifiedBy>
  <cp:revision>658</cp:revision>
  <cp:lastPrinted>2002-03-21T23:42:09Z</cp:lastPrinted>
  <dcterms:created xsi:type="dcterms:W3CDTF">1999-09-22T00:03:18Z</dcterms:created>
  <dcterms:modified xsi:type="dcterms:W3CDTF">2025-11-04T05:27:11Z</dcterms:modified>
</cp:coreProperties>
</file>