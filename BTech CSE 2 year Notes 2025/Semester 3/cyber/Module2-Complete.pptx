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145"/>
  </p:notesMasterIdLst>
  <p:sldIdLst>
    <p:sldId id="256" r:id="rId2"/>
    <p:sldId id="349" r:id="rId3"/>
    <p:sldId id="350" r:id="rId4"/>
    <p:sldId id="351" r:id="rId5"/>
    <p:sldId id="353" r:id="rId6"/>
    <p:sldId id="352" r:id="rId7"/>
    <p:sldId id="257" r:id="rId8"/>
    <p:sldId id="354" r:id="rId9"/>
    <p:sldId id="355" r:id="rId10"/>
    <p:sldId id="356" r:id="rId11"/>
    <p:sldId id="357" r:id="rId12"/>
    <p:sldId id="358" r:id="rId13"/>
    <p:sldId id="359" r:id="rId14"/>
    <p:sldId id="406" r:id="rId15"/>
    <p:sldId id="407" r:id="rId16"/>
    <p:sldId id="408" r:id="rId17"/>
    <p:sldId id="261" r:id="rId18"/>
    <p:sldId id="409" r:id="rId19"/>
    <p:sldId id="410" r:id="rId20"/>
    <p:sldId id="269" r:id="rId21"/>
    <p:sldId id="270" r:id="rId22"/>
    <p:sldId id="271" r:id="rId23"/>
    <p:sldId id="272" r:id="rId24"/>
    <p:sldId id="275" r:id="rId25"/>
    <p:sldId id="280" r:id="rId26"/>
    <p:sldId id="281" r:id="rId27"/>
    <p:sldId id="282" r:id="rId28"/>
    <p:sldId id="258" r:id="rId29"/>
    <p:sldId id="360" r:id="rId30"/>
    <p:sldId id="362" r:id="rId31"/>
    <p:sldId id="361"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403" r:id="rId46"/>
    <p:sldId id="404" r:id="rId47"/>
    <p:sldId id="405" r:id="rId48"/>
    <p:sldId id="376" r:id="rId49"/>
    <p:sldId id="386" r:id="rId50"/>
    <p:sldId id="377" r:id="rId51"/>
    <p:sldId id="378" r:id="rId52"/>
    <p:sldId id="379" r:id="rId53"/>
    <p:sldId id="380" r:id="rId54"/>
    <p:sldId id="381" r:id="rId55"/>
    <p:sldId id="382" r:id="rId56"/>
    <p:sldId id="383" r:id="rId57"/>
    <p:sldId id="384" r:id="rId58"/>
    <p:sldId id="402" r:id="rId59"/>
    <p:sldId id="385" r:id="rId60"/>
    <p:sldId id="388" r:id="rId61"/>
    <p:sldId id="389" r:id="rId62"/>
    <p:sldId id="390" r:id="rId63"/>
    <p:sldId id="391" r:id="rId64"/>
    <p:sldId id="392" r:id="rId65"/>
    <p:sldId id="393" r:id="rId66"/>
    <p:sldId id="394" r:id="rId67"/>
    <p:sldId id="395" r:id="rId68"/>
    <p:sldId id="396" r:id="rId69"/>
    <p:sldId id="397" r:id="rId70"/>
    <p:sldId id="398" r:id="rId71"/>
    <p:sldId id="399" r:id="rId72"/>
    <p:sldId id="400" r:id="rId73"/>
    <p:sldId id="401" r:id="rId74"/>
    <p:sldId id="412" r:id="rId75"/>
    <p:sldId id="413" r:id="rId76"/>
    <p:sldId id="414" r:id="rId77"/>
    <p:sldId id="415" r:id="rId78"/>
    <p:sldId id="419" r:id="rId79"/>
    <p:sldId id="420" r:id="rId80"/>
    <p:sldId id="421" r:id="rId81"/>
    <p:sldId id="422" r:id="rId82"/>
    <p:sldId id="423" r:id="rId83"/>
    <p:sldId id="424" r:id="rId84"/>
    <p:sldId id="425" r:id="rId85"/>
    <p:sldId id="426" r:id="rId86"/>
    <p:sldId id="416" r:id="rId87"/>
    <p:sldId id="417" r:id="rId88"/>
    <p:sldId id="418" r:id="rId89"/>
    <p:sldId id="427" r:id="rId90"/>
    <p:sldId id="432" r:id="rId91"/>
    <p:sldId id="433" r:id="rId92"/>
    <p:sldId id="434" r:id="rId93"/>
    <p:sldId id="435" r:id="rId94"/>
    <p:sldId id="436" r:id="rId95"/>
    <p:sldId id="437" r:id="rId96"/>
    <p:sldId id="438" r:id="rId97"/>
    <p:sldId id="439" r:id="rId98"/>
    <p:sldId id="440" r:id="rId99"/>
    <p:sldId id="428" r:id="rId100"/>
    <p:sldId id="429" r:id="rId101"/>
    <p:sldId id="430" r:id="rId102"/>
    <p:sldId id="441" r:id="rId103"/>
    <p:sldId id="442" r:id="rId104"/>
    <p:sldId id="431" r:id="rId105"/>
    <p:sldId id="444" r:id="rId106"/>
    <p:sldId id="445" r:id="rId107"/>
    <p:sldId id="446" r:id="rId108"/>
    <p:sldId id="447" r:id="rId109"/>
    <p:sldId id="448" r:id="rId110"/>
    <p:sldId id="449" r:id="rId111"/>
    <p:sldId id="450" r:id="rId112"/>
    <p:sldId id="451" r:id="rId113"/>
    <p:sldId id="452" r:id="rId114"/>
    <p:sldId id="453" r:id="rId115"/>
    <p:sldId id="454" r:id="rId116"/>
    <p:sldId id="455" r:id="rId117"/>
    <p:sldId id="456" r:id="rId118"/>
    <p:sldId id="457" r:id="rId119"/>
    <p:sldId id="458" r:id="rId120"/>
    <p:sldId id="459" r:id="rId121"/>
    <p:sldId id="460" r:id="rId122"/>
    <p:sldId id="461" r:id="rId123"/>
    <p:sldId id="462" r:id="rId124"/>
    <p:sldId id="463" r:id="rId125"/>
    <p:sldId id="464" r:id="rId126"/>
    <p:sldId id="465" r:id="rId127"/>
    <p:sldId id="466" r:id="rId128"/>
    <p:sldId id="467" r:id="rId129"/>
    <p:sldId id="468" r:id="rId130"/>
    <p:sldId id="469" r:id="rId131"/>
    <p:sldId id="470" r:id="rId132"/>
    <p:sldId id="471" r:id="rId133"/>
    <p:sldId id="472" r:id="rId134"/>
    <p:sldId id="473" r:id="rId135"/>
    <p:sldId id="474" r:id="rId136"/>
    <p:sldId id="475" r:id="rId137"/>
    <p:sldId id="476" r:id="rId138"/>
    <p:sldId id="477" r:id="rId139"/>
    <p:sldId id="478" r:id="rId140"/>
    <p:sldId id="479" r:id="rId141"/>
    <p:sldId id="387" r:id="rId142"/>
    <p:sldId id="480" r:id="rId143"/>
    <p:sldId id="481" r:id="rId144"/>
  </p:sldIdLst>
  <p:sldSz cx="9144000" cy="5143500" type="screen16x9"/>
  <p:notesSz cx="6858000" cy="9144000"/>
  <p:embeddedFontLst>
    <p:embeddedFont>
      <p:font typeface="Albert Sans" panose="020B0604020202020204" charset="0"/>
      <p:regular r:id="rId146"/>
      <p:bold r:id="rId147"/>
      <p:italic r:id="rId148"/>
      <p:boldItalic r:id="rId149"/>
    </p:embeddedFont>
    <p:embeddedFont>
      <p:font typeface="Arial Unicode MS" panose="020B0604020202020204" pitchFamily="34" charset="-128"/>
      <p:regular r:id="rId150"/>
    </p:embeddedFont>
    <p:embeddedFont>
      <p:font typeface="Manrope ExtraBold" panose="020B0604020202020204" charset="0"/>
      <p:bold r:id="rId151"/>
    </p:embeddedFont>
    <p:embeddedFont>
      <p:font typeface="Nunito Light" pitchFamily="2" charset="0"/>
      <p:regular r:id="rId152"/>
      <p:italic r:id="rId1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08D24D-E49B-4B0B-AF47-64696A0817C5}" v="2" dt="2025-12-04T17:17:19.919"/>
  </p1510:revLst>
</p1510:revInfo>
</file>

<file path=ppt/tableStyles.xml><?xml version="1.0" encoding="utf-8"?>
<a:tblStyleLst xmlns:a="http://schemas.openxmlformats.org/drawingml/2006/main" def="{EEEFB3D3-C7DD-41E9-AA9F-930C74197033}">
  <a:tblStyle styleId="{EEEFB3D3-C7DD-41E9-AA9F-930C7419703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820" autoAdjust="0"/>
  </p:normalViewPr>
  <p:slideViewPr>
    <p:cSldViewPr snapToGrid="0">
      <p:cViewPr varScale="1">
        <p:scale>
          <a:sx n="97" d="100"/>
          <a:sy n="97" d="100"/>
        </p:scale>
        <p:origin x="798"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microsoft.com/office/2015/10/relationships/revisionInfo" Target="revisionInfo.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4.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5.fntdata"/><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6.fntdata"/><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Prasad" userId="220fd94fb4863314" providerId="LiveId" clId="{EF65648A-D124-4FC9-9E19-AD4EA74EA410}"/>
    <pc:docChg chg="undo custSel addSld delSld modSld sldOrd modMainMaster">
      <pc:chgData name="Arvind Prasad" userId="220fd94fb4863314" providerId="LiveId" clId="{EF65648A-D124-4FC9-9E19-AD4EA74EA410}" dt="2025-12-04T17:17:22.355" v="1116" actId="47"/>
      <pc:docMkLst>
        <pc:docMk/>
      </pc:docMkLst>
      <pc:sldChg chg="ord">
        <pc:chgData name="Arvind Prasad" userId="220fd94fb4863314" providerId="LiveId" clId="{EF65648A-D124-4FC9-9E19-AD4EA74EA410}" dt="2025-11-28T07:21:59.739" v="1090"/>
        <pc:sldMkLst>
          <pc:docMk/>
          <pc:sldMk cId="1783933910" sldId="353"/>
        </pc:sldMkLst>
      </pc:sldChg>
      <pc:sldChg chg="add">
        <pc:chgData name="Arvind Prasad" userId="220fd94fb4863314" providerId="LiveId" clId="{EF65648A-D124-4FC9-9E19-AD4EA74EA410}" dt="2025-12-04T17:17:19.905" v="1115"/>
        <pc:sldMkLst>
          <pc:docMk/>
          <pc:sldMk cId="2623976578" sldId="387"/>
        </pc:sldMkLst>
      </pc:sldChg>
      <pc:sldChg chg="modSp new mod">
        <pc:chgData name="Arvind Prasad" userId="220fd94fb4863314" providerId="LiveId" clId="{EF65648A-D124-4FC9-9E19-AD4EA74EA410}" dt="2025-11-06T05:27:46.770" v="939" actId="20577"/>
        <pc:sldMkLst>
          <pc:docMk/>
          <pc:sldMk cId="514517947" sldId="399"/>
        </pc:sldMkLst>
        <pc:spChg chg="mod">
          <ac:chgData name="Arvind Prasad" userId="220fd94fb4863314" providerId="LiveId" clId="{EF65648A-D124-4FC9-9E19-AD4EA74EA410}" dt="2025-11-06T05:27:46.770" v="939" actId="20577"/>
          <ac:spMkLst>
            <pc:docMk/>
            <pc:sldMk cId="514517947" sldId="399"/>
            <ac:spMk id="3" creationId="{0AC92106-F165-CEA9-251C-F6DEA05BEF9F}"/>
          </ac:spMkLst>
        </pc:spChg>
      </pc:sldChg>
      <pc:sldChg chg="addSp delSp modSp new mod">
        <pc:chgData name="Arvind Prasad" userId="220fd94fb4863314" providerId="LiveId" clId="{EF65648A-D124-4FC9-9E19-AD4EA74EA410}" dt="2025-11-06T05:18:49.158" v="921"/>
        <pc:sldMkLst>
          <pc:docMk/>
          <pc:sldMk cId="3074007159" sldId="403"/>
        </pc:sldMkLst>
        <pc:spChg chg="mod">
          <ac:chgData name="Arvind Prasad" userId="220fd94fb4863314" providerId="LiveId" clId="{EF65648A-D124-4FC9-9E19-AD4EA74EA410}" dt="2025-11-06T05:18:49.158" v="921"/>
          <ac:spMkLst>
            <pc:docMk/>
            <pc:sldMk cId="3074007159" sldId="403"/>
            <ac:spMk id="2" creationId="{02FC13A1-E40C-40CF-88E4-50BDE3983074}"/>
          </ac:spMkLst>
        </pc:spChg>
        <pc:spChg chg="add del mod">
          <ac:chgData name="Arvind Prasad" userId="220fd94fb4863314" providerId="LiveId" clId="{EF65648A-D124-4FC9-9E19-AD4EA74EA410}" dt="2025-11-05T17:13:42.438" v="895" actId="403"/>
          <ac:spMkLst>
            <pc:docMk/>
            <pc:sldMk cId="3074007159" sldId="403"/>
            <ac:spMk id="3" creationId="{E941E389-222A-ADD6-8F0B-1C0AF1C0AA0C}"/>
          </ac:spMkLst>
        </pc:spChg>
      </pc:sldChg>
      <pc:sldChg chg="addSp modSp add mod">
        <pc:chgData name="Arvind Prasad" userId="220fd94fb4863314" providerId="LiveId" clId="{EF65648A-D124-4FC9-9E19-AD4EA74EA410}" dt="2025-11-06T05:19:32.022" v="935" actId="20577"/>
        <pc:sldMkLst>
          <pc:docMk/>
          <pc:sldMk cId="1861275044" sldId="404"/>
        </pc:sldMkLst>
        <pc:spChg chg="mod">
          <ac:chgData name="Arvind Prasad" userId="220fd94fb4863314" providerId="LiveId" clId="{EF65648A-D124-4FC9-9E19-AD4EA74EA410}" dt="2025-11-06T05:18:51.813" v="922"/>
          <ac:spMkLst>
            <pc:docMk/>
            <pc:sldMk cId="1861275044" sldId="404"/>
            <ac:spMk id="2" creationId="{9EDC65E1-C2DF-B553-C86E-3B9BCD1D13A4}"/>
          </ac:spMkLst>
        </pc:spChg>
        <pc:spChg chg="mod">
          <ac:chgData name="Arvind Prasad" userId="220fd94fb4863314" providerId="LiveId" clId="{EF65648A-D124-4FC9-9E19-AD4EA74EA410}" dt="2025-11-06T05:19:32.022" v="935" actId="20577"/>
          <ac:spMkLst>
            <pc:docMk/>
            <pc:sldMk cId="1861275044" sldId="404"/>
            <ac:spMk id="3" creationId="{C1B75AAB-8D5F-FFE0-AEE7-193D7737D5E2}"/>
          </ac:spMkLst>
        </pc:spChg>
      </pc:sldChg>
      <pc:sldChg chg="add">
        <pc:chgData name="Arvind Prasad" userId="220fd94fb4863314" providerId="LiveId" clId="{EF65648A-D124-4FC9-9E19-AD4EA74EA410}" dt="2025-11-05T17:14:00.835" v="899" actId="2890"/>
        <pc:sldMkLst>
          <pc:docMk/>
          <pc:sldMk cId="2660948396" sldId="405"/>
        </pc:sldMkLst>
      </pc:sldChg>
      <pc:sldChg chg="addSp modSp add mod">
        <pc:chgData name="Arvind Prasad" userId="220fd94fb4863314" providerId="LiveId" clId="{EF65648A-D124-4FC9-9E19-AD4EA74EA410}" dt="2025-11-30T17:43:28.127" v="1098" actId="14100"/>
        <pc:sldMkLst>
          <pc:docMk/>
          <pc:sldMk cId="429580664" sldId="406"/>
        </pc:sldMkLst>
        <pc:spChg chg="mod">
          <ac:chgData name="Arvind Prasad" userId="220fd94fb4863314" providerId="LiveId" clId="{EF65648A-D124-4FC9-9E19-AD4EA74EA410}" dt="2025-11-30T17:43:28.127" v="1098" actId="14100"/>
          <ac:spMkLst>
            <pc:docMk/>
            <pc:sldMk cId="429580664" sldId="406"/>
            <ac:spMk id="3" creationId="{80062AF6-9DF6-D031-1838-332C9C1994C2}"/>
          </ac:spMkLst>
        </pc:spChg>
      </pc:sldChg>
      <pc:sldChg chg="add">
        <pc:chgData name="Arvind Prasad" userId="220fd94fb4863314" providerId="LiveId" clId="{EF65648A-D124-4FC9-9E19-AD4EA74EA410}" dt="2025-11-28T07:22:44.320" v="1092"/>
        <pc:sldMkLst>
          <pc:docMk/>
          <pc:sldMk cId="1121998974" sldId="407"/>
        </pc:sldMkLst>
      </pc:sldChg>
      <pc:sldChg chg="add">
        <pc:chgData name="Arvind Prasad" userId="220fd94fb4863314" providerId="LiveId" clId="{EF65648A-D124-4FC9-9E19-AD4EA74EA410}" dt="2025-11-28T07:22:44.320" v="1092"/>
        <pc:sldMkLst>
          <pc:docMk/>
          <pc:sldMk cId="1057219621" sldId="408"/>
        </pc:sldMkLst>
      </pc:sldChg>
      <pc:sldChg chg="modSp new mod">
        <pc:chgData name="Arvind Prasad" userId="220fd94fb4863314" providerId="LiveId" clId="{EF65648A-D124-4FC9-9E19-AD4EA74EA410}" dt="2025-11-30T17:49:59.698" v="1108" actId="6549"/>
        <pc:sldMkLst>
          <pc:docMk/>
          <pc:sldMk cId="1873391608" sldId="409"/>
        </pc:sldMkLst>
        <pc:spChg chg="mod">
          <ac:chgData name="Arvind Prasad" userId="220fd94fb4863314" providerId="LiveId" clId="{EF65648A-D124-4FC9-9E19-AD4EA74EA410}" dt="2025-11-30T17:49:19.520" v="1100"/>
          <ac:spMkLst>
            <pc:docMk/>
            <pc:sldMk cId="1873391608" sldId="409"/>
            <ac:spMk id="2" creationId="{ED68D286-70EC-7C0D-395C-F3DD44AFC99C}"/>
          </ac:spMkLst>
        </pc:spChg>
        <pc:spChg chg="mod">
          <ac:chgData name="Arvind Prasad" userId="220fd94fb4863314" providerId="LiveId" clId="{EF65648A-D124-4FC9-9E19-AD4EA74EA410}" dt="2025-11-30T17:49:59.698" v="1108" actId="6549"/>
          <ac:spMkLst>
            <pc:docMk/>
            <pc:sldMk cId="1873391608" sldId="409"/>
            <ac:spMk id="3" creationId="{A9364FAB-BA7D-2FAC-9C4A-B3CEFD32F3BD}"/>
          </ac:spMkLst>
        </pc:spChg>
      </pc:sldChg>
      <pc:sldChg chg="modSp add">
        <pc:chgData name="Arvind Prasad" userId="220fd94fb4863314" providerId="LiveId" clId="{EF65648A-D124-4FC9-9E19-AD4EA74EA410}" dt="2025-11-30T17:50:08.116" v="1110"/>
        <pc:sldMkLst>
          <pc:docMk/>
          <pc:sldMk cId="519944710" sldId="410"/>
        </pc:sldMkLst>
        <pc:spChg chg="mod">
          <ac:chgData name="Arvind Prasad" userId="220fd94fb4863314" providerId="LiveId" clId="{EF65648A-D124-4FC9-9E19-AD4EA74EA410}" dt="2025-11-30T17:50:08.116" v="1110"/>
          <ac:spMkLst>
            <pc:docMk/>
            <pc:sldMk cId="519944710" sldId="410"/>
            <ac:spMk id="3" creationId="{B027FAE3-402E-6819-41F4-950983865B33}"/>
          </ac:spMkLst>
        </pc:spChg>
      </pc:sldChg>
      <pc:sldChg chg="add del">
        <pc:chgData name="Arvind Prasad" userId="220fd94fb4863314" providerId="LiveId" clId="{EF65648A-D124-4FC9-9E19-AD4EA74EA410}" dt="2025-12-04T17:17:00.904" v="1114" actId="47"/>
        <pc:sldMkLst>
          <pc:docMk/>
          <pc:sldMk cId="0" sldId="411"/>
        </pc:sldMkLst>
      </pc:sldChg>
      <pc:sldChg chg="add">
        <pc:chgData name="Arvind Prasad" userId="220fd94fb4863314" providerId="LiveId" clId="{EF65648A-D124-4FC9-9E19-AD4EA74EA410}" dt="2025-12-04T17:16:54.677" v="1113"/>
        <pc:sldMkLst>
          <pc:docMk/>
          <pc:sldMk cId="3278193114" sldId="412"/>
        </pc:sldMkLst>
      </pc:sldChg>
      <pc:sldChg chg="add">
        <pc:chgData name="Arvind Prasad" userId="220fd94fb4863314" providerId="LiveId" clId="{EF65648A-D124-4FC9-9E19-AD4EA74EA410}" dt="2025-12-04T17:16:54.677" v="1113"/>
        <pc:sldMkLst>
          <pc:docMk/>
          <pc:sldMk cId="4094339394" sldId="413"/>
        </pc:sldMkLst>
      </pc:sldChg>
      <pc:sldChg chg="add">
        <pc:chgData name="Arvind Prasad" userId="220fd94fb4863314" providerId="LiveId" clId="{EF65648A-D124-4FC9-9E19-AD4EA74EA410}" dt="2025-12-04T17:16:54.677" v="1113"/>
        <pc:sldMkLst>
          <pc:docMk/>
          <pc:sldMk cId="3713975361" sldId="414"/>
        </pc:sldMkLst>
      </pc:sldChg>
      <pc:sldChg chg="add">
        <pc:chgData name="Arvind Prasad" userId="220fd94fb4863314" providerId="LiveId" clId="{EF65648A-D124-4FC9-9E19-AD4EA74EA410}" dt="2025-12-04T17:16:54.677" v="1113"/>
        <pc:sldMkLst>
          <pc:docMk/>
          <pc:sldMk cId="3984772608" sldId="415"/>
        </pc:sldMkLst>
      </pc:sldChg>
      <pc:sldChg chg="add">
        <pc:chgData name="Arvind Prasad" userId="220fd94fb4863314" providerId="LiveId" clId="{EF65648A-D124-4FC9-9E19-AD4EA74EA410}" dt="2025-12-04T17:16:54.677" v="1113"/>
        <pc:sldMkLst>
          <pc:docMk/>
          <pc:sldMk cId="399977974" sldId="416"/>
        </pc:sldMkLst>
      </pc:sldChg>
      <pc:sldChg chg="add">
        <pc:chgData name="Arvind Prasad" userId="220fd94fb4863314" providerId="LiveId" clId="{EF65648A-D124-4FC9-9E19-AD4EA74EA410}" dt="2025-12-04T17:16:54.677" v="1113"/>
        <pc:sldMkLst>
          <pc:docMk/>
          <pc:sldMk cId="213645677" sldId="417"/>
        </pc:sldMkLst>
      </pc:sldChg>
      <pc:sldChg chg="add">
        <pc:chgData name="Arvind Prasad" userId="220fd94fb4863314" providerId="LiveId" clId="{EF65648A-D124-4FC9-9E19-AD4EA74EA410}" dt="2025-12-04T17:16:54.677" v="1113"/>
        <pc:sldMkLst>
          <pc:docMk/>
          <pc:sldMk cId="164261106" sldId="418"/>
        </pc:sldMkLst>
      </pc:sldChg>
      <pc:sldChg chg="add">
        <pc:chgData name="Arvind Prasad" userId="220fd94fb4863314" providerId="LiveId" clId="{EF65648A-D124-4FC9-9E19-AD4EA74EA410}" dt="2025-12-04T17:16:54.677" v="1113"/>
        <pc:sldMkLst>
          <pc:docMk/>
          <pc:sldMk cId="1730411002" sldId="419"/>
        </pc:sldMkLst>
      </pc:sldChg>
      <pc:sldChg chg="add">
        <pc:chgData name="Arvind Prasad" userId="220fd94fb4863314" providerId="LiveId" clId="{EF65648A-D124-4FC9-9E19-AD4EA74EA410}" dt="2025-12-04T17:16:54.677" v="1113"/>
        <pc:sldMkLst>
          <pc:docMk/>
          <pc:sldMk cId="94007746" sldId="420"/>
        </pc:sldMkLst>
      </pc:sldChg>
      <pc:sldChg chg="add">
        <pc:chgData name="Arvind Prasad" userId="220fd94fb4863314" providerId="LiveId" clId="{EF65648A-D124-4FC9-9E19-AD4EA74EA410}" dt="2025-12-04T17:16:54.677" v="1113"/>
        <pc:sldMkLst>
          <pc:docMk/>
          <pc:sldMk cId="1837569625" sldId="421"/>
        </pc:sldMkLst>
      </pc:sldChg>
      <pc:sldChg chg="add">
        <pc:chgData name="Arvind Prasad" userId="220fd94fb4863314" providerId="LiveId" clId="{EF65648A-D124-4FC9-9E19-AD4EA74EA410}" dt="2025-12-04T17:16:54.677" v="1113"/>
        <pc:sldMkLst>
          <pc:docMk/>
          <pc:sldMk cId="724753373" sldId="422"/>
        </pc:sldMkLst>
      </pc:sldChg>
      <pc:sldChg chg="add">
        <pc:chgData name="Arvind Prasad" userId="220fd94fb4863314" providerId="LiveId" clId="{EF65648A-D124-4FC9-9E19-AD4EA74EA410}" dt="2025-12-04T17:16:54.677" v="1113"/>
        <pc:sldMkLst>
          <pc:docMk/>
          <pc:sldMk cId="3259676467" sldId="423"/>
        </pc:sldMkLst>
      </pc:sldChg>
      <pc:sldChg chg="add">
        <pc:chgData name="Arvind Prasad" userId="220fd94fb4863314" providerId="LiveId" clId="{EF65648A-D124-4FC9-9E19-AD4EA74EA410}" dt="2025-12-04T17:16:54.677" v="1113"/>
        <pc:sldMkLst>
          <pc:docMk/>
          <pc:sldMk cId="1525420466" sldId="424"/>
        </pc:sldMkLst>
      </pc:sldChg>
      <pc:sldChg chg="add">
        <pc:chgData name="Arvind Prasad" userId="220fd94fb4863314" providerId="LiveId" clId="{EF65648A-D124-4FC9-9E19-AD4EA74EA410}" dt="2025-12-04T17:16:54.677" v="1113"/>
        <pc:sldMkLst>
          <pc:docMk/>
          <pc:sldMk cId="1001943566" sldId="425"/>
        </pc:sldMkLst>
      </pc:sldChg>
      <pc:sldChg chg="add">
        <pc:chgData name="Arvind Prasad" userId="220fd94fb4863314" providerId="LiveId" clId="{EF65648A-D124-4FC9-9E19-AD4EA74EA410}" dt="2025-12-04T17:16:54.677" v="1113"/>
        <pc:sldMkLst>
          <pc:docMk/>
          <pc:sldMk cId="3387736891" sldId="426"/>
        </pc:sldMkLst>
      </pc:sldChg>
      <pc:sldChg chg="add">
        <pc:chgData name="Arvind Prasad" userId="220fd94fb4863314" providerId="LiveId" clId="{EF65648A-D124-4FC9-9E19-AD4EA74EA410}" dt="2025-12-04T17:16:54.677" v="1113"/>
        <pc:sldMkLst>
          <pc:docMk/>
          <pc:sldMk cId="2601806949" sldId="427"/>
        </pc:sldMkLst>
      </pc:sldChg>
      <pc:sldChg chg="add">
        <pc:chgData name="Arvind Prasad" userId="220fd94fb4863314" providerId="LiveId" clId="{EF65648A-D124-4FC9-9E19-AD4EA74EA410}" dt="2025-12-04T17:16:54.677" v="1113"/>
        <pc:sldMkLst>
          <pc:docMk/>
          <pc:sldMk cId="1151737021" sldId="428"/>
        </pc:sldMkLst>
      </pc:sldChg>
      <pc:sldChg chg="add">
        <pc:chgData name="Arvind Prasad" userId="220fd94fb4863314" providerId="LiveId" clId="{EF65648A-D124-4FC9-9E19-AD4EA74EA410}" dt="2025-12-04T17:16:54.677" v="1113"/>
        <pc:sldMkLst>
          <pc:docMk/>
          <pc:sldMk cId="4234751851" sldId="429"/>
        </pc:sldMkLst>
      </pc:sldChg>
      <pc:sldChg chg="add">
        <pc:chgData name="Arvind Prasad" userId="220fd94fb4863314" providerId="LiveId" clId="{EF65648A-D124-4FC9-9E19-AD4EA74EA410}" dt="2025-12-04T17:16:54.677" v="1113"/>
        <pc:sldMkLst>
          <pc:docMk/>
          <pc:sldMk cId="2839933839" sldId="430"/>
        </pc:sldMkLst>
      </pc:sldChg>
      <pc:sldChg chg="add">
        <pc:chgData name="Arvind Prasad" userId="220fd94fb4863314" providerId="LiveId" clId="{EF65648A-D124-4FC9-9E19-AD4EA74EA410}" dt="2025-12-04T17:16:54.677" v="1113"/>
        <pc:sldMkLst>
          <pc:docMk/>
          <pc:sldMk cId="1558459730" sldId="431"/>
        </pc:sldMkLst>
      </pc:sldChg>
      <pc:sldChg chg="add">
        <pc:chgData name="Arvind Prasad" userId="220fd94fb4863314" providerId="LiveId" clId="{EF65648A-D124-4FC9-9E19-AD4EA74EA410}" dt="2025-12-04T17:16:54.677" v="1113"/>
        <pc:sldMkLst>
          <pc:docMk/>
          <pc:sldMk cId="654258665" sldId="432"/>
        </pc:sldMkLst>
      </pc:sldChg>
      <pc:sldChg chg="add">
        <pc:chgData name="Arvind Prasad" userId="220fd94fb4863314" providerId="LiveId" clId="{EF65648A-D124-4FC9-9E19-AD4EA74EA410}" dt="2025-12-04T17:16:54.677" v="1113"/>
        <pc:sldMkLst>
          <pc:docMk/>
          <pc:sldMk cId="307998" sldId="433"/>
        </pc:sldMkLst>
      </pc:sldChg>
      <pc:sldChg chg="add">
        <pc:chgData name="Arvind Prasad" userId="220fd94fb4863314" providerId="LiveId" clId="{EF65648A-D124-4FC9-9E19-AD4EA74EA410}" dt="2025-12-04T17:16:54.677" v="1113"/>
        <pc:sldMkLst>
          <pc:docMk/>
          <pc:sldMk cId="3227262099" sldId="434"/>
        </pc:sldMkLst>
      </pc:sldChg>
      <pc:sldChg chg="add">
        <pc:chgData name="Arvind Prasad" userId="220fd94fb4863314" providerId="LiveId" clId="{EF65648A-D124-4FC9-9E19-AD4EA74EA410}" dt="2025-12-04T17:16:54.677" v="1113"/>
        <pc:sldMkLst>
          <pc:docMk/>
          <pc:sldMk cId="2663827440" sldId="435"/>
        </pc:sldMkLst>
      </pc:sldChg>
      <pc:sldChg chg="add">
        <pc:chgData name="Arvind Prasad" userId="220fd94fb4863314" providerId="LiveId" clId="{EF65648A-D124-4FC9-9E19-AD4EA74EA410}" dt="2025-12-04T17:16:54.677" v="1113"/>
        <pc:sldMkLst>
          <pc:docMk/>
          <pc:sldMk cId="2742650694" sldId="436"/>
        </pc:sldMkLst>
      </pc:sldChg>
      <pc:sldChg chg="add">
        <pc:chgData name="Arvind Prasad" userId="220fd94fb4863314" providerId="LiveId" clId="{EF65648A-D124-4FC9-9E19-AD4EA74EA410}" dt="2025-12-04T17:16:54.677" v="1113"/>
        <pc:sldMkLst>
          <pc:docMk/>
          <pc:sldMk cId="189819057" sldId="437"/>
        </pc:sldMkLst>
      </pc:sldChg>
      <pc:sldChg chg="add">
        <pc:chgData name="Arvind Prasad" userId="220fd94fb4863314" providerId="LiveId" clId="{EF65648A-D124-4FC9-9E19-AD4EA74EA410}" dt="2025-12-04T17:16:54.677" v="1113"/>
        <pc:sldMkLst>
          <pc:docMk/>
          <pc:sldMk cId="1643705999" sldId="438"/>
        </pc:sldMkLst>
      </pc:sldChg>
      <pc:sldChg chg="add">
        <pc:chgData name="Arvind Prasad" userId="220fd94fb4863314" providerId="LiveId" clId="{EF65648A-D124-4FC9-9E19-AD4EA74EA410}" dt="2025-12-04T17:16:54.677" v="1113"/>
        <pc:sldMkLst>
          <pc:docMk/>
          <pc:sldMk cId="3030449640" sldId="439"/>
        </pc:sldMkLst>
      </pc:sldChg>
      <pc:sldChg chg="add">
        <pc:chgData name="Arvind Prasad" userId="220fd94fb4863314" providerId="LiveId" clId="{EF65648A-D124-4FC9-9E19-AD4EA74EA410}" dt="2025-12-04T17:16:54.677" v="1113"/>
        <pc:sldMkLst>
          <pc:docMk/>
          <pc:sldMk cId="1261083283" sldId="440"/>
        </pc:sldMkLst>
      </pc:sldChg>
      <pc:sldChg chg="add">
        <pc:chgData name="Arvind Prasad" userId="220fd94fb4863314" providerId="LiveId" clId="{EF65648A-D124-4FC9-9E19-AD4EA74EA410}" dt="2025-12-04T17:16:54.677" v="1113"/>
        <pc:sldMkLst>
          <pc:docMk/>
          <pc:sldMk cId="1841704581" sldId="441"/>
        </pc:sldMkLst>
      </pc:sldChg>
      <pc:sldChg chg="add">
        <pc:chgData name="Arvind Prasad" userId="220fd94fb4863314" providerId="LiveId" clId="{EF65648A-D124-4FC9-9E19-AD4EA74EA410}" dt="2025-12-04T17:16:54.677" v="1113"/>
        <pc:sldMkLst>
          <pc:docMk/>
          <pc:sldMk cId="3368471163" sldId="442"/>
        </pc:sldMkLst>
      </pc:sldChg>
      <pc:sldChg chg="add del">
        <pc:chgData name="Arvind Prasad" userId="220fd94fb4863314" providerId="LiveId" clId="{EF65648A-D124-4FC9-9E19-AD4EA74EA410}" dt="2025-12-04T17:17:22.355" v="1116" actId="47"/>
        <pc:sldMkLst>
          <pc:docMk/>
          <pc:sldMk cId="0" sldId="443"/>
        </pc:sldMkLst>
      </pc:sldChg>
      <pc:sldChg chg="add">
        <pc:chgData name="Arvind Prasad" userId="220fd94fb4863314" providerId="LiveId" clId="{EF65648A-D124-4FC9-9E19-AD4EA74EA410}" dt="2025-12-04T17:17:19.905" v="1115"/>
        <pc:sldMkLst>
          <pc:docMk/>
          <pc:sldMk cId="1886947079" sldId="444"/>
        </pc:sldMkLst>
      </pc:sldChg>
      <pc:sldChg chg="add">
        <pc:chgData name="Arvind Prasad" userId="220fd94fb4863314" providerId="LiveId" clId="{EF65648A-D124-4FC9-9E19-AD4EA74EA410}" dt="2025-12-04T17:17:19.905" v="1115"/>
        <pc:sldMkLst>
          <pc:docMk/>
          <pc:sldMk cId="2425088120" sldId="445"/>
        </pc:sldMkLst>
      </pc:sldChg>
      <pc:sldChg chg="add">
        <pc:chgData name="Arvind Prasad" userId="220fd94fb4863314" providerId="LiveId" clId="{EF65648A-D124-4FC9-9E19-AD4EA74EA410}" dt="2025-12-04T17:17:19.905" v="1115"/>
        <pc:sldMkLst>
          <pc:docMk/>
          <pc:sldMk cId="2867477033" sldId="446"/>
        </pc:sldMkLst>
      </pc:sldChg>
      <pc:sldChg chg="add">
        <pc:chgData name="Arvind Prasad" userId="220fd94fb4863314" providerId="LiveId" clId="{EF65648A-D124-4FC9-9E19-AD4EA74EA410}" dt="2025-12-04T17:17:19.905" v="1115"/>
        <pc:sldMkLst>
          <pc:docMk/>
          <pc:sldMk cId="3998073695" sldId="447"/>
        </pc:sldMkLst>
      </pc:sldChg>
      <pc:sldChg chg="add">
        <pc:chgData name="Arvind Prasad" userId="220fd94fb4863314" providerId="LiveId" clId="{EF65648A-D124-4FC9-9E19-AD4EA74EA410}" dt="2025-12-04T17:17:19.905" v="1115"/>
        <pc:sldMkLst>
          <pc:docMk/>
          <pc:sldMk cId="2160707789" sldId="448"/>
        </pc:sldMkLst>
      </pc:sldChg>
      <pc:sldChg chg="add">
        <pc:chgData name="Arvind Prasad" userId="220fd94fb4863314" providerId="LiveId" clId="{EF65648A-D124-4FC9-9E19-AD4EA74EA410}" dt="2025-12-04T17:17:19.905" v="1115"/>
        <pc:sldMkLst>
          <pc:docMk/>
          <pc:sldMk cId="3037660970" sldId="449"/>
        </pc:sldMkLst>
      </pc:sldChg>
      <pc:sldChg chg="add">
        <pc:chgData name="Arvind Prasad" userId="220fd94fb4863314" providerId="LiveId" clId="{EF65648A-D124-4FC9-9E19-AD4EA74EA410}" dt="2025-12-04T17:17:19.905" v="1115"/>
        <pc:sldMkLst>
          <pc:docMk/>
          <pc:sldMk cId="2504545658" sldId="450"/>
        </pc:sldMkLst>
      </pc:sldChg>
      <pc:sldChg chg="add">
        <pc:chgData name="Arvind Prasad" userId="220fd94fb4863314" providerId="LiveId" clId="{EF65648A-D124-4FC9-9E19-AD4EA74EA410}" dt="2025-12-04T17:17:19.905" v="1115"/>
        <pc:sldMkLst>
          <pc:docMk/>
          <pc:sldMk cId="474268812" sldId="451"/>
        </pc:sldMkLst>
      </pc:sldChg>
      <pc:sldChg chg="add">
        <pc:chgData name="Arvind Prasad" userId="220fd94fb4863314" providerId="LiveId" clId="{EF65648A-D124-4FC9-9E19-AD4EA74EA410}" dt="2025-12-04T17:17:19.905" v="1115"/>
        <pc:sldMkLst>
          <pc:docMk/>
          <pc:sldMk cId="1886297537" sldId="452"/>
        </pc:sldMkLst>
      </pc:sldChg>
      <pc:sldChg chg="add">
        <pc:chgData name="Arvind Prasad" userId="220fd94fb4863314" providerId="LiveId" clId="{EF65648A-D124-4FC9-9E19-AD4EA74EA410}" dt="2025-12-04T17:17:19.905" v="1115"/>
        <pc:sldMkLst>
          <pc:docMk/>
          <pc:sldMk cId="1376488441" sldId="453"/>
        </pc:sldMkLst>
      </pc:sldChg>
      <pc:sldChg chg="add">
        <pc:chgData name="Arvind Prasad" userId="220fd94fb4863314" providerId="LiveId" clId="{EF65648A-D124-4FC9-9E19-AD4EA74EA410}" dt="2025-12-04T17:17:19.905" v="1115"/>
        <pc:sldMkLst>
          <pc:docMk/>
          <pc:sldMk cId="4220327842" sldId="454"/>
        </pc:sldMkLst>
      </pc:sldChg>
      <pc:sldChg chg="add">
        <pc:chgData name="Arvind Prasad" userId="220fd94fb4863314" providerId="LiveId" clId="{EF65648A-D124-4FC9-9E19-AD4EA74EA410}" dt="2025-12-04T17:17:19.905" v="1115"/>
        <pc:sldMkLst>
          <pc:docMk/>
          <pc:sldMk cId="3841532939" sldId="455"/>
        </pc:sldMkLst>
      </pc:sldChg>
      <pc:sldChg chg="add">
        <pc:chgData name="Arvind Prasad" userId="220fd94fb4863314" providerId="LiveId" clId="{EF65648A-D124-4FC9-9E19-AD4EA74EA410}" dt="2025-12-04T17:17:19.905" v="1115"/>
        <pc:sldMkLst>
          <pc:docMk/>
          <pc:sldMk cId="3429825686" sldId="456"/>
        </pc:sldMkLst>
      </pc:sldChg>
      <pc:sldChg chg="add">
        <pc:chgData name="Arvind Prasad" userId="220fd94fb4863314" providerId="LiveId" clId="{EF65648A-D124-4FC9-9E19-AD4EA74EA410}" dt="2025-12-04T17:17:19.905" v="1115"/>
        <pc:sldMkLst>
          <pc:docMk/>
          <pc:sldMk cId="2121356913" sldId="457"/>
        </pc:sldMkLst>
      </pc:sldChg>
      <pc:sldChg chg="add">
        <pc:chgData name="Arvind Prasad" userId="220fd94fb4863314" providerId="LiveId" clId="{EF65648A-D124-4FC9-9E19-AD4EA74EA410}" dt="2025-12-04T17:17:19.905" v="1115"/>
        <pc:sldMkLst>
          <pc:docMk/>
          <pc:sldMk cId="150045296" sldId="458"/>
        </pc:sldMkLst>
      </pc:sldChg>
      <pc:sldChg chg="add">
        <pc:chgData name="Arvind Prasad" userId="220fd94fb4863314" providerId="LiveId" clId="{EF65648A-D124-4FC9-9E19-AD4EA74EA410}" dt="2025-12-04T17:17:19.905" v="1115"/>
        <pc:sldMkLst>
          <pc:docMk/>
          <pc:sldMk cId="1004363473" sldId="459"/>
        </pc:sldMkLst>
      </pc:sldChg>
      <pc:sldChg chg="add">
        <pc:chgData name="Arvind Prasad" userId="220fd94fb4863314" providerId="LiveId" clId="{EF65648A-D124-4FC9-9E19-AD4EA74EA410}" dt="2025-12-04T17:17:19.905" v="1115"/>
        <pc:sldMkLst>
          <pc:docMk/>
          <pc:sldMk cId="604669923" sldId="460"/>
        </pc:sldMkLst>
      </pc:sldChg>
      <pc:sldChg chg="add">
        <pc:chgData name="Arvind Prasad" userId="220fd94fb4863314" providerId="LiveId" clId="{EF65648A-D124-4FC9-9E19-AD4EA74EA410}" dt="2025-12-04T17:17:19.905" v="1115"/>
        <pc:sldMkLst>
          <pc:docMk/>
          <pc:sldMk cId="1782093288" sldId="461"/>
        </pc:sldMkLst>
      </pc:sldChg>
      <pc:sldChg chg="add">
        <pc:chgData name="Arvind Prasad" userId="220fd94fb4863314" providerId="LiveId" clId="{EF65648A-D124-4FC9-9E19-AD4EA74EA410}" dt="2025-12-04T17:17:19.905" v="1115"/>
        <pc:sldMkLst>
          <pc:docMk/>
          <pc:sldMk cId="3929985273" sldId="462"/>
        </pc:sldMkLst>
      </pc:sldChg>
      <pc:sldChg chg="add">
        <pc:chgData name="Arvind Prasad" userId="220fd94fb4863314" providerId="LiveId" clId="{EF65648A-D124-4FC9-9E19-AD4EA74EA410}" dt="2025-12-04T17:17:19.905" v="1115"/>
        <pc:sldMkLst>
          <pc:docMk/>
          <pc:sldMk cId="1806985398" sldId="463"/>
        </pc:sldMkLst>
      </pc:sldChg>
      <pc:sldChg chg="add">
        <pc:chgData name="Arvind Prasad" userId="220fd94fb4863314" providerId="LiveId" clId="{EF65648A-D124-4FC9-9E19-AD4EA74EA410}" dt="2025-12-04T17:17:19.905" v="1115"/>
        <pc:sldMkLst>
          <pc:docMk/>
          <pc:sldMk cId="3543631552" sldId="464"/>
        </pc:sldMkLst>
      </pc:sldChg>
      <pc:sldChg chg="add">
        <pc:chgData name="Arvind Prasad" userId="220fd94fb4863314" providerId="LiveId" clId="{EF65648A-D124-4FC9-9E19-AD4EA74EA410}" dt="2025-12-04T17:17:19.905" v="1115"/>
        <pc:sldMkLst>
          <pc:docMk/>
          <pc:sldMk cId="3898469746" sldId="465"/>
        </pc:sldMkLst>
      </pc:sldChg>
      <pc:sldChg chg="add">
        <pc:chgData name="Arvind Prasad" userId="220fd94fb4863314" providerId="LiveId" clId="{EF65648A-D124-4FC9-9E19-AD4EA74EA410}" dt="2025-12-04T17:17:19.905" v="1115"/>
        <pc:sldMkLst>
          <pc:docMk/>
          <pc:sldMk cId="3179240686" sldId="466"/>
        </pc:sldMkLst>
      </pc:sldChg>
      <pc:sldChg chg="add">
        <pc:chgData name="Arvind Prasad" userId="220fd94fb4863314" providerId="LiveId" clId="{EF65648A-D124-4FC9-9E19-AD4EA74EA410}" dt="2025-12-04T17:17:19.905" v="1115"/>
        <pc:sldMkLst>
          <pc:docMk/>
          <pc:sldMk cId="1257995863" sldId="467"/>
        </pc:sldMkLst>
      </pc:sldChg>
      <pc:sldChg chg="add">
        <pc:chgData name="Arvind Prasad" userId="220fd94fb4863314" providerId="LiveId" clId="{EF65648A-D124-4FC9-9E19-AD4EA74EA410}" dt="2025-12-04T17:17:19.905" v="1115"/>
        <pc:sldMkLst>
          <pc:docMk/>
          <pc:sldMk cId="3277082732" sldId="468"/>
        </pc:sldMkLst>
      </pc:sldChg>
      <pc:sldChg chg="add">
        <pc:chgData name="Arvind Prasad" userId="220fd94fb4863314" providerId="LiveId" clId="{EF65648A-D124-4FC9-9E19-AD4EA74EA410}" dt="2025-12-04T17:17:19.905" v="1115"/>
        <pc:sldMkLst>
          <pc:docMk/>
          <pc:sldMk cId="2832889661" sldId="469"/>
        </pc:sldMkLst>
      </pc:sldChg>
      <pc:sldChg chg="add">
        <pc:chgData name="Arvind Prasad" userId="220fd94fb4863314" providerId="LiveId" clId="{EF65648A-D124-4FC9-9E19-AD4EA74EA410}" dt="2025-12-04T17:17:19.905" v="1115"/>
        <pc:sldMkLst>
          <pc:docMk/>
          <pc:sldMk cId="2322628336" sldId="470"/>
        </pc:sldMkLst>
      </pc:sldChg>
      <pc:sldChg chg="add">
        <pc:chgData name="Arvind Prasad" userId="220fd94fb4863314" providerId="LiveId" clId="{EF65648A-D124-4FC9-9E19-AD4EA74EA410}" dt="2025-12-04T17:17:19.905" v="1115"/>
        <pc:sldMkLst>
          <pc:docMk/>
          <pc:sldMk cId="900377402" sldId="471"/>
        </pc:sldMkLst>
      </pc:sldChg>
      <pc:sldChg chg="add">
        <pc:chgData name="Arvind Prasad" userId="220fd94fb4863314" providerId="LiveId" clId="{EF65648A-D124-4FC9-9E19-AD4EA74EA410}" dt="2025-12-04T17:17:19.905" v="1115"/>
        <pc:sldMkLst>
          <pc:docMk/>
          <pc:sldMk cId="2629583408" sldId="472"/>
        </pc:sldMkLst>
      </pc:sldChg>
      <pc:sldChg chg="add">
        <pc:chgData name="Arvind Prasad" userId="220fd94fb4863314" providerId="LiveId" clId="{EF65648A-D124-4FC9-9E19-AD4EA74EA410}" dt="2025-12-04T17:17:19.905" v="1115"/>
        <pc:sldMkLst>
          <pc:docMk/>
          <pc:sldMk cId="1199997093" sldId="473"/>
        </pc:sldMkLst>
      </pc:sldChg>
      <pc:sldChg chg="add">
        <pc:chgData name="Arvind Prasad" userId="220fd94fb4863314" providerId="LiveId" clId="{EF65648A-D124-4FC9-9E19-AD4EA74EA410}" dt="2025-12-04T17:17:19.905" v="1115"/>
        <pc:sldMkLst>
          <pc:docMk/>
          <pc:sldMk cId="2958107322" sldId="474"/>
        </pc:sldMkLst>
      </pc:sldChg>
      <pc:sldChg chg="add">
        <pc:chgData name="Arvind Prasad" userId="220fd94fb4863314" providerId="LiveId" clId="{EF65648A-D124-4FC9-9E19-AD4EA74EA410}" dt="2025-12-04T17:17:19.905" v="1115"/>
        <pc:sldMkLst>
          <pc:docMk/>
          <pc:sldMk cId="2422925330" sldId="475"/>
        </pc:sldMkLst>
      </pc:sldChg>
      <pc:sldChg chg="add">
        <pc:chgData name="Arvind Prasad" userId="220fd94fb4863314" providerId="LiveId" clId="{EF65648A-D124-4FC9-9E19-AD4EA74EA410}" dt="2025-12-04T17:17:19.905" v="1115"/>
        <pc:sldMkLst>
          <pc:docMk/>
          <pc:sldMk cId="1614798915" sldId="476"/>
        </pc:sldMkLst>
      </pc:sldChg>
      <pc:sldChg chg="add">
        <pc:chgData name="Arvind Prasad" userId="220fd94fb4863314" providerId="LiveId" clId="{EF65648A-D124-4FC9-9E19-AD4EA74EA410}" dt="2025-12-04T17:17:19.905" v="1115"/>
        <pc:sldMkLst>
          <pc:docMk/>
          <pc:sldMk cId="1024867287" sldId="477"/>
        </pc:sldMkLst>
      </pc:sldChg>
      <pc:sldChg chg="add">
        <pc:chgData name="Arvind Prasad" userId="220fd94fb4863314" providerId="LiveId" clId="{EF65648A-D124-4FC9-9E19-AD4EA74EA410}" dt="2025-12-04T17:17:19.905" v="1115"/>
        <pc:sldMkLst>
          <pc:docMk/>
          <pc:sldMk cId="1484892143" sldId="478"/>
        </pc:sldMkLst>
      </pc:sldChg>
      <pc:sldChg chg="add">
        <pc:chgData name="Arvind Prasad" userId="220fd94fb4863314" providerId="LiveId" clId="{EF65648A-D124-4FC9-9E19-AD4EA74EA410}" dt="2025-12-04T17:17:19.905" v="1115"/>
        <pc:sldMkLst>
          <pc:docMk/>
          <pc:sldMk cId="4270409333" sldId="479"/>
        </pc:sldMkLst>
      </pc:sldChg>
      <pc:sldChg chg="add">
        <pc:chgData name="Arvind Prasad" userId="220fd94fb4863314" providerId="LiveId" clId="{EF65648A-D124-4FC9-9E19-AD4EA74EA410}" dt="2025-12-04T17:17:19.905" v="1115"/>
        <pc:sldMkLst>
          <pc:docMk/>
          <pc:sldMk cId="55980050" sldId="480"/>
        </pc:sldMkLst>
      </pc:sldChg>
      <pc:sldChg chg="add">
        <pc:chgData name="Arvind Prasad" userId="220fd94fb4863314" providerId="LiveId" clId="{EF65648A-D124-4FC9-9E19-AD4EA74EA410}" dt="2025-12-04T17:17:19.905" v="1115"/>
        <pc:sldMkLst>
          <pc:docMk/>
          <pc:sldMk cId="3071072614" sldId="481"/>
        </pc:sldMkLst>
      </pc:sldChg>
      <pc:sldMasterChg chg="delSldLayout modSldLayout">
        <pc:chgData name="Arvind Prasad" userId="220fd94fb4863314" providerId="LiveId" clId="{EF65648A-D124-4FC9-9E19-AD4EA74EA410}" dt="2025-11-07T08:13:34.273" v="949" actId="47"/>
        <pc:sldMasterMkLst>
          <pc:docMk/>
          <pc:sldMasterMk cId="0" sldId="2147483672"/>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75221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err="1"/>
              <a:t>SELinux</a:t>
            </a:r>
            <a:r>
              <a:rPr lang="en-US" b="1" dirty="0"/>
              <a:t> (Security-Enhanced Linux)</a:t>
            </a:r>
            <a:r>
              <a:rPr lang="en-US" dirty="0"/>
              <a:t> is a </a:t>
            </a:r>
            <a:r>
              <a:rPr lang="en-US" b="1" dirty="0"/>
              <a:t>security module built into the Linux kernel</a:t>
            </a:r>
            <a:r>
              <a:rPr lang="en-US" dirty="0"/>
              <a:t> that enforces </a:t>
            </a:r>
            <a:r>
              <a:rPr lang="en-US" b="1" dirty="0"/>
              <a:t>mandatory access control (MAC)</a:t>
            </a:r>
            <a:r>
              <a:rPr lang="en-US" dirty="0"/>
              <a:t> policies.</a:t>
            </a:r>
          </a:p>
          <a:p>
            <a:r>
              <a:rPr lang="en-US" b="1" dirty="0"/>
              <a:t>Sandboxing</a:t>
            </a:r>
            <a:r>
              <a:rPr lang="en-US" dirty="0"/>
              <a:t> ensures </a:t>
            </a:r>
            <a:r>
              <a:rPr lang="en-US" b="1" dirty="0"/>
              <a:t>every app lives in its own secure box</a:t>
            </a:r>
            <a:r>
              <a:rPr lang="en-US" dirty="0"/>
              <a:t>, isolated by the Linux kernel and controlled by the OS — protecting user data and the system from malicious interference. Android assigns a </a:t>
            </a:r>
            <a:r>
              <a:rPr lang="en-US" b="1" dirty="0"/>
              <a:t>unique Linux User ID (UID)</a:t>
            </a:r>
            <a:r>
              <a:rPr lang="en-US" dirty="0"/>
              <a:t> to each app when it’s installed.</a:t>
            </a:r>
          </a:p>
          <a:p>
            <a:r>
              <a:rPr lang="en-US" dirty="0"/>
              <a:t>The Linux Kernel uses this UID to </a:t>
            </a:r>
            <a:r>
              <a:rPr lang="en-US" b="1" dirty="0"/>
              <a:t>separate app processes and data</a:t>
            </a:r>
            <a:r>
              <a:rPr lang="en-US" dirty="0"/>
              <a:t> — just like different users on a Linux system.</a:t>
            </a:r>
          </a:p>
          <a:p>
            <a:r>
              <a:rPr lang="en-US" dirty="0"/>
              <a:t>One app’s files are stored in </a:t>
            </a:r>
            <a:r>
              <a:rPr lang="en-US" sz="1100" b="0" i="0" u="none" strike="noStrike" cap="none" dirty="0">
                <a:solidFill>
                  <a:srgbClr val="000000"/>
                </a:solidFill>
                <a:latin typeface="Arial"/>
                <a:ea typeface="Arial"/>
                <a:cs typeface="Arial"/>
                <a:sym typeface="Arial"/>
              </a:rPr>
              <a:t>/data/data/&lt;</a:t>
            </a:r>
            <a:r>
              <a:rPr lang="en-US" sz="1100" b="0" i="0" u="none" strike="noStrike" cap="none" dirty="0" err="1">
                <a:solidFill>
                  <a:srgbClr val="000000"/>
                </a:solidFill>
                <a:latin typeface="Arial"/>
                <a:ea typeface="Arial"/>
                <a:cs typeface="Arial"/>
                <a:sym typeface="Arial"/>
              </a:rPr>
              <a:t>app_package</a:t>
            </a:r>
            <a:r>
              <a:rPr lang="en-US" sz="1100" b="0" i="0" u="none" strike="noStrike" cap="none" dirty="0">
                <a:solidFill>
                  <a:srgbClr val="000000"/>
                </a:solidFill>
                <a:latin typeface="Arial"/>
                <a:ea typeface="Arial"/>
                <a:cs typeface="Arial"/>
                <a:sym typeface="Arial"/>
              </a:rPr>
              <a:t>&gt;</a:t>
            </a:r>
            <a:r>
              <a:rPr lang="en-US" dirty="0"/>
              <a:t> and cannot be accessed by another app.</a:t>
            </a:r>
          </a:p>
          <a:p>
            <a:endParaRPr lang="en-IN" dirty="0"/>
          </a:p>
        </p:txBody>
      </p:sp>
    </p:spTree>
    <p:extLst>
      <p:ext uri="{BB962C8B-B14F-4D97-AF65-F5344CB8AC3E}">
        <p14:creationId xmlns:p14="http://schemas.microsoft.com/office/powerpoint/2010/main" val="3512157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b="1" dirty="0" err="1"/>
              <a:t>SELinux</a:t>
            </a:r>
            <a:r>
              <a:rPr lang="en-US" b="1" dirty="0"/>
              <a:t> (Security-Enhanced Linux)</a:t>
            </a:r>
            <a:r>
              <a:rPr lang="en-US" dirty="0"/>
              <a:t> is a </a:t>
            </a:r>
            <a:r>
              <a:rPr lang="en-US" b="1" dirty="0"/>
              <a:t>security module built into the Linux kernel</a:t>
            </a:r>
            <a:r>
              <a:rPr lang="en-US" dirty="0"/>
              <a:t> that enforces </a:t>
            </a:r>
            <a:r>
              <a:rPr lang="en-US" b="1" dirty="0"/>
              <a:t>mandatory access control (MAC)</a:t>
            </a:r>
            <a:r>
              <a:rPr lang="en-US" dirty="0"/>
              <a:t> policies.</a:t>
            </a:r>
          </a:p>
          <a:p>
            <a:r>
              <a:rPr lang="en-US" dirty="0"/>
              <a:t>Zygote is a system process in Android Runtime (ART) that acts as the parent process for all Android apps.</a:t>
            </a:r>
          </a:p>
          <a:p>
            <a:r>
              <a:rPr lang="en-US" dirty="0"/>
              <a:t>When the Android system boots, it starts the Zygote process.</a:t>
            </a:r>
          </a:p>
          <a:p>
            <a:r>
              <a:rPr lang="en-US" dirty="0"/>
              <a:t>Zygote preloads common libraries, frameworks, and resources (like UI elements, core classes, etc.).</a:t>
            </a:r>
            <a:endParaRPr lang="en-IN" dirty="0"/>
          </a:p>
        </p:txBody>
      </p:sp>
    </p:spTree>
    <p:extLst>
      <p:ext uri="{BB962C8B-B14F-4D97-AF65-F5344CB8AC3E}">
        <p14:creationId xmlns:p14="http://schemas.microsoft.com/office/powerpoint/2010/main" val="2837248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sz="1100" b="1" dirty="0"/>
              <a:t>Security-Enhanced Linux</a:t>
            </a:r>
            <a:endParaRPr lang="en-IN" dirty="0"/>
          </a:p>
        </p:txBody>
      </p:sp>
    </p:spTree>
    <p:extLst>
      <p:ext uri="{BB962C8B-B14F-4D97-AF65-F5344CB8AC3E}">
        <p14:creationId xmlns:p14="http://schemas.microsoft.com/office/powerpoint/2010/main" val="39538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Hardware Abstraction</a:t>
            </a:r>
            <a:r>
              <a:rPr lang="en-US" dirty="0"/>
              <a:t> means creating a </a:t>
            </a:r>
            <a:r>
              <a:rPr lang="en-US" b="1" dirty="0"/>
              <a:t>middle layer</a:t>
            </a:r>
            <a:r>
              <a:rPr lang="en-US" dirty="0"/>
              <a:t> between the device’s physical hardware (camera, GPS, Wi-Fi, sensors, etc.) and the software (apps).</a:t>
            </a:r>
            <a:endParaRPr lang="en-IN" dirty="0"/>
          </a:p>
        </p:txBody>
      </p:sp>
    </p:spTree>
    <p:extLst>
      <p:ext uri="{BB962C8B-B14F-4D97-AF65-F5344CB8AC3E}">
        <p14:creationId xmlns:p14="http://schemas.microsoft.com/office/powerpoint/2010/main" val="382153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40D5F538-F365-44F7-BFD5-18A67AAE81DB}" type="slidenum">
              <a:rPr lang="en-US" altLang="en-US"/>
              <a:pPr/>
              <a:t>17</a:t>
            </a:fld>
            <a:endParaRPr lang="en-US" altLang="en-US" dirty="0"/>
          </a:p>
        </p:txBody>
      </p:sp>
      <p:sp>
        <p:nvSpPr>
          <p:cNvPr id="38913"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A193D418-4FED-4DE4-98C9-843195D0F88D}" type="slidenum">
              <a:rPr lang="en-US" altLang="en-US" sz="1300">
                <a:latin typeface="Times New Roman" pitchFamily="16" charset="0"/>
              </a:rPr>
              <a:pPr algn="r" eaLnBrk="1">
                <a:lnSpc>
                  <a:spcPct val="95000"/>
                </a:lnSpc>
                <a:buClrTx/>
                <a:buFontTx/>
                <a:buNone/>
              </a:pPr>
              <a:t>17</a:t>
            </a:fld>
            <a:endParaRPr lang="en-US" altLang="en-US" sz="1300" dirty="0">
              <a:latin typeface="Times New Roman" pitchFamily="16" charset="0"/>
            </a:endParaRPr>
          </a:p>
        </p:txBody>
      </p:sp>
      <p:sp>
        <p:nvSpPr>
          <p:cNvPr id="38914"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8915"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r>
              <a:rPr lang="en-US" b="1" dirty="0" err="1"/>
              <a:t>onCreate</a:t>
            </a:r>
            <a:r>
              <a:rPr lang="en-US" b="1" dirty="0"/>
              <a:t>()</a:t>
            </a:r>
            <a:r>
              <a:rPr lang="en-US" dirty="0"/>
              <a:t> → Initializes the activity; sets up UI and essential components.</a:t>
            </a:r>
          </a:p>
          <a:p>
            <a:r>
              <a:rPr lang="en-US" b="1" dirty="0" err="1"/>
              <a:t>onStart</a:t>
            </a:r>
            <a:r>
              <a:rPr lang="en-US" b="1" dirty="0"/>
              <a:t>()</a:t>
            </a:r>
            <a:r>
              <a:rPr lang="en-US" dirty="0"/>
              <a:t> → Makes the activity visible to the user (not yet interactive).</a:t>
            </a:r>
          </a:p>
          <a:p>
            <a:r>
              <a:rPr lang="en-US" b="1" dirty="0" err="1"/>
              <a:t>onResume</a:t>
            </a:r>
            <a:r>
              <a:rPr lang="en-US" b="1" dirty="0"/>
              <a:t>()</a:t>
            </a:r>
            <a:r>
              <a:rPr lang="en-US" dirty="0"/>
              <a:t> → Brings the activity to the foreground and ready for user interaction.</a:t>
            </a:r>
          </a:p>
          <a:p>
            <a:r>
              <a:rPr lang="en-US" b="1" dirty="0" err="1"/>
              <a:t>onPause</a:t>
            </a:r>
            <a:r>
              <a:rPr lang="en-US" b="1" dirty="0"/>
              <a:t>()</a:t>
            </a:r>
            <a:r>
              <a:rPr lang="en-US" dirty="0"/>
              <a:t> → Called when another activity overlaps; pause ongoing tasks or animations.</a:t>
            </a:r>
          </a:p>
          <a:p>
            <a:r>
              <a:rPr lang="en-US" b="1" dirty="0" err="1"/>
              <a:t>onStop</a:t>
            </a:r>
            <a:r>
              <a:rPr lang="en-US" b="1" dirty="0"/>
              <a:t>()</a:t>
            </a:r>
            <a:r>
              <a:rPr lang="en-US" dirty="0"/>
              <a:t> → Activity becomes fully hidden; release resources or save data.</a:t>
            </a:r>
          </a:p>
          <a:p>
            <a:r>
              <a:rPr lang="en-US" b="1" dirty="0" err="1"/>
              <a:t>onRestart</a:t>
            </a:r>
            <a:r>
              <a:rPr lang="en-US" b="1" dirty="0"/>
              <a:t>()</a:t>
            </a:r>
            <a:r>
              <a:rPr lang="en-US" dirty="0"/>
              <a:t> → Called when returning to the activity after being stopped.</a:t>
            </a:r>
          </a:p>
          <a:p>
            <a:r>
              <a:rPr lang="en-US" b="1" dirty="0" err="1"/>
              <a:t>onDestroy</a:t>
            </a:r>
            <a:r>
              <a:rPr lang="en-US" b="1" dirty="0"/>
              <a:t>()</a:t>
            </a:r>
            <a:r>
              <a:rPr lang="en-US" dirty="0"/>
              <a:t> → Cleans up resources before the activity is destroyed.</a:t>
            </a:r>
          </a:p>
          <a:p>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7CA74F3B-7741-4A1F-9EF7-D5756E153B05}" type="slidenum">
              <a:rPr lang="en-US" altLang="en-US"/>
              <a:pPr/>
              <a:t>20</a:t>
            </a:fld>
            <a:endParaRPr lang="en-US" altLang="en-US"/>
          </a:p>
        </p:txBody>
      </p:sp>
      <p:sp>
        <p:nvSpPr>
          <p:cNvPr id="47105"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77A4A56A-F76E-4DEE-99BD-9EFC7E71FA5D}" type="slidenum">
              <a:rPr lang="en-US" altLang="en-US" sz="1300">
                <a:latin typeface="Times New Roman" pitchFamily="16" charset="0"/>
              </a:rPr>
              <a:pPr algn="r" eaLnBrk="1">
                <a:lnSpc>
                  <a:spcPct val="95000"/>
                </a:lnSpc>
                <a:buClrTx/>
                <a:buFontTx/>
                <a:buNone/>
              </a:pPr>
              <a:t>20</a:t>
            </a:fld>
            <a:endParaRPr lang="en-US" altLang="en-US" sz="1300">
              <a:latin typeface="Times New Roman" pitchFamily="16" charset="0"/>
            </a:endParaRPr>
          </a:p>
        </p:txBody>
      </p:sp>
      <p:sp>
        <p:nvSpPr>
          <p:cNvPr id="47106"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7107"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3D526F8-2382-4E1C-9A1D-AB2B5D8F793D}" type="slidenum">
              <a:rPr lang="en-US" altLang="en-US"/>
              <a:pPr/>
              <a:t>21</a:t>
            </a:fld>
            <a:endParaRPr lang="en-US" altLang="en-US"/>
          </a:p>
        </p:txBody>
      </p:sp>
      <p:sp>
        <p:nvSpPr>
          <p:cNvPr id="48129"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35F5FB4F-E6CE-471A-B33C-E9BB4DDA0D09}" type="slidenum">
              <a:rPr lang="en-US" altLang="en-US" sz="1300">
                <a:latin typeface="Times New Roman" pitchFamily="16" charset="0"/>
              </a:rPr>
              <a:pPr algn="r" eaLnBrk="1">
                <a:lnSpc>
                  <a:spcPct val="95000"/>
                </a:lnSpc>
                <a:buClrTx/>
                <a:buFontTx/>
                <a:buNone/>
              </a:pPr>
              <a:t>21</a:t>
            </a:fld>
            <a:endParaRPr lang="en-US" altLang="en-US" sz="1300">
              <a:latin typeface="Times New Roman" pitchFamily="16" charset="0"/>
            </a:endParaRPr>
          </a:p>
        </p:txBody>
      </p:sp>
      <p:sp>
        <p:nvSpPr>
          <p:cNvPr id="48130"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8131"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1D7B19F5-0C01-4B86-834C-84ED8CC9D532}" type="slidenum">
              <a:rPr lang="en-US" altLang="en-US"/>
              <a:pPr/>
              <a:t>22</a:t>
            </a:fld>
            <a:endParaRPr lang="en-US" altLang="en-US"/>
          </a:p>
        </p:txBody>
      </p:sp>
      <p:sp>
        <p:nvSpPr>
          <p:cNvPr id="49153"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93BBC529-98EE-419B-BB90-78734C67F3F3}" type="slidenum">
              <a:rPr lang="en-US" altLang="en-US" sz="1300">
                <a:latin typeface="Times New Roman" pitchFamily="16" charset="0"/>
              </a:rPr>
              <a:pPr algn="r" eaLnBrk="1">
                <a:lnSpc>
                  <a:spcPct val="95000"/>
                </a:lnSpc>
                <a:buClrTx/>
                <a:buFontTx/>
                <a:buNone/>
              </a:pPr>
              <a:t>22</a:t>
            </a:fld>
            <a:endParaRPr lang="en-US" altLang="en-US" sz="1300">
              <a:latin typeface="Times New Roman" pitchFamily="16" charset="0"/>
            </a:endParaRPr>
          </a:p>
        </p:txBody>
      </p:sp>
      <p:sp>
        <p:nvSpPr>
          <p:cNvPr id="49154"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9155"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35E6682E-5FAE-4218-AF1D-240EBB81EADD}" type="slidenum">
              <a:rPr lang="en-US" altLang="en-US"/>
              <a:pPr/>
              <a:t>23</a:t>
            </a:fld>
            <a:endParaRPr lang="en-US" altLang="en-US"/>
          </a:p>
        </p:txBody>
      </p:sp>
      <p:sp>
        <p:nvSpPr>
          <p:cNvPr id="50177"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D487EF69-6B61-40F9-AE59-6082346497AE}" type="slidenum">
              <a:rPr lang="en-US" altLang="en-US" sz="1300">
                <a:latin typeface="Times New Roman" pitchFamily="16" charset="0"/>
              </a:rPr>
              <a:pPr algn="r" eaLnBrk="1">
                <a:lnSpc>
                  <a:spcPct val="95000"/>
                </a:lnSpc>
                <a:buClrTx/>
                <a:buFontTx/>
                <a:buNone/>
              </a:pPr>
              <a:t>23</a:t>
            </a:fld>
            <a:endParaRPr lang="en-US" altLang="en-US" sz="1300">
              <a:latin typeface="Times New Roman" pitchFamily="16" charset="0"/>
            </a:endParaRPr>
          </a:p>
        </p:txBody>
      </p:sp>
      <p:sp>
        <p:nvSpPr>
          <p:cNvPr id="50178"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0179"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B35E81F6-D16B-48F9-A2C6-E7E6B5DEB219}" type="slidenum">
              <a:rPr lang="en-US" altLang="en-US"/>
              <a:pPr/>
              <a:t>24</a:t>
            </a:fld>
            <a:endParaRPr lang="en-US" altLang="en-US"/>
          </a:p>
        </p:txBody>
      </p:sp>
      <p:sp>
        <p:nvSpPr>
          <p:cNvPr id="53249"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C90F4941-DB54-497B-9112-35D158C73A0D}" type="slidenum">
              <a:rPr lang="en-US" altLang="en-US" sz="1300">
                <a:latin typeface="Times New Roman" pitchFamily="16" charset="0"/>
              </a:rPr>
              <a:pPr algn="r" eaLnBrk="1">
                <a:lnSpc>
                  <a:spcPct val="95000"/>
                </a:lnSpc>
                <a:buClrTx/>
                <a:buFontTx/>
                <a:buNone/>
              </a:pPr>
              <a:t>24</a:t>
            </a:fld>
            <a:endParaRPr lang="en-US" altLang="en-US" sz="1300">
              <a:latin typeface="Times New Roman" pitchFamily="16" charset="0"/>
            </a:endParaRPr>
          </a:p>
        </p:txBody>
      </p:sp>
      <p:sp>
        <p:nvSpPr>
          <p:cNvPr id="53250"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3251"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3D3682F7-112A-404C-8390-42B1DFF5BB5F}" type="slidenum">
              <a:rPr lang="en-US" altLang="en-US"/>
              <a:pPr/>
              <a:t>25</a:t>
            </a:fld>
            <a:endParaRPr lang="en-US" altLang="en-US"/>
          </a:p>
        </p:txBody>
      </p:sp>
      <p:sp>
        <p:nvSpPr>
          <p:cNvPr id="58369"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8C0118C6-2657-4C21-87BD-422A81876F8C}" type="slidenum">
              <a:rPr lang="en-US" altLang="en-US" sz="1300">
                <a:latin typeface="Times New Roman" pitchFamily="16" charset="0"/>
              </a:rPr>
              <a:pPr algn="r" eaLnBrk="1">
                <a:lnSpc>
                  <a:spcPct val="95000"/>
                </a:lnSpc>
                <a:buClrTx/>
                <a:buFontTx/>
                <a:buNone/>
              </a:pPr>
              <a:t>25</a:t>
            </a:fld>
            <a:endParaRPr lang="en-US" altLang="en-US" sz="1300">
              <a:latin typeface="Times New Roman" pitchFamily="16" charset="0"/>
            </a:endParaRPr>
          </a:p>
        </p:txBody>
      </p:sp>
      <p:sp>
        <p:nvSpPr>
          <p:cNvPr id="58370"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8371"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FC413DB-A2DB-469E-B511-1B7BE4357732}" type="slidenum">
              <a:rPr lang="en-US" altLang="en-US"/>
              <a:pPr/>
              <a:t>26</a:t>
            </a:fld>
            <a:endParaRPr lang="en-US" altLang="en-US"/>
          </a:p>
        </p:txBody>
      </p:sp>
      <p:sp>
        <p:nvSpPr>
          <p:cNvPr id="59393"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66E8A7B5-AD0A-41A7-B82C-79796C770A3D}" type="slidenum">
              <a:rPr lang="en-US" altLang="en-US" sz="1300">
                <a:latin typeface="Times New Roman" pitchFamily="16" charset="0"/>
              </a:rPr>
              <a:pPr algn="r" eaLnBrk="1">
                <a:lnSpc>
                  <a:spcPct val="95000"/>
                </a:lnSpc>
                <a:buClrTx/>
                <a:buFontTx/>
                <a:buNone/>
              </a:pPr>
              <a:t>26</a:t>
            </a:fld>
            <a:endParaRPr lang="en-US" altLang="en-US" sz="1300">
              <a:latin typeface="Times New Roman" pitchFamily="16" charset="0"/>
            </a:endParaRPr>
          </a:p>
        </p:txBody>
      </p:sp>
      <p:sp>
        <p:nvSpPr>
          <p:cNvPr id="59394"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5"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6B6F59D2-AC73-44E1-9CA1-D4419D1C6900}" type="slidenum">
              <a:rPr lang="en-US" altLang="en-US"/>
              <a:pPr/>
              <a:t>27</a:t>
            </a:fld>
            <a:endParaRPr lang="en-US" altLang="en-US"/>
          </a:p>
        </p:txBody>
      </p:sp>
      <p:sp>
        <p:nvSpPr>
          <p:cNvPr id="60417" name="Text Box 1"/>
          <p:cNvSpPr txBox="1">
            <a:spLocks noChangeArrowheads="1"/>
          </p:cNvSpPr>
          <p:nvPr/>
        </p:nvSpPr>
        <p:spPr bwMode="auto">
          <a:xfrm>
            <a:off x="3881438" y="8686512"/>
            <a:ext cx="2975162" cy="456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b"/>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r" eaLnBrk="1">
              <a:lnSpc>
                <a:spcPct val="95000"/>
              </a:lnSpc>
              <a:buClrTx/>
              <a:buFontTx/>
              <a:buNone/>
            </a:pPr>
            <a:fld id="{23A6721E-2D80-4753-9CFB-9ADDE7C0C00A}" type="slidenum">
              <a:rPr lang="en-US" altLang="en-US" sz="1300">
                <a:latin typeface="Times New Roman" pitchFamily="16" charset="0"/>
              </a:rPr>
              <a:pPr algn="r" eaLnBrk="1">
                <a:lnSpc>
                  <a:spcPct val="95000"/>
                </a:lnSpc>
                <a:buClrTx/>
                <a:buFontTx/>
                <a:buNone/>
              </a:pPr>
              <a:t>27</a:t>
            </a:fld>
            <a:endParaRPr lang="en-US" altLang="en-US" sz="1300">
              <a:latin typeface="Times New Roman" pitchFamily="16" charset="0"/>
            </a:endParaRPr>
          </a:p>
        </p:txBody>
      </p:sp>
      <p:sp>
        <p:nvSpPr>
          <p:cNvPr id="60418" name="Rectangle 2"/>
          <p:cNvSpPr txBox="1">
            <a:spLocks noGrp="1" noRot="1" noChangeAspect="1" noChangeArrowheads="1"/>
          </p:cNvSpPr>
          <p:nvPr>
            <p:ph type="sldImg"/>
          </p:nvPr>
        </p:nvSpPr>
        <p:spPr bwMode="auto">
          <a:xfrm>
            <a:off x="381000" y="693738"/>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0419" name="Rectangle 3"/>
          <p:cNvSpPr txBox="1">
            <a:spLocks noGrp="1" noChangeArrowheads="1"/>
          </p:cNvSpPr>
          <p:nvPr>
            <p:ph type="body" idx="1"/>
          </p:nvPr>
        </p:nvSpPr>
        <p:spPr bwMode="auto">
          <a:xfrm>
            <a:off x="686360" y="4342535"/>
            <a:ext cx="5486681" cy="411451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a:t>
            </a:r>
            <a:r>
              <a:rPr lang="en-US" b="1" dirty="0"/>
              <a:t>Custom ROM</a:t>
            </a:r>
            <a:r>
              <a:rPr lang="en-US" dirty="0"/>
              <a:t> is a </a:t>
            </a:r>
            <a:r>
              <a:rPr lang="en-US" b="1" dirty="0"/>
              <a:t>modified version of the Android operating system</a:t>
            </a:r>
            <a:r>
              <a:rPr lang="en-US" dirty="0"/>
              <a:t> that replaces the original (stock) firmware installed by the device manufacturer. To get the </a:t>
            </a:r>
            <a:r>
              <a:rPr lang="en-US" b="1" dirty="0"/>
              <a:t>latest Android version</a:t>
            </a:r>
            <a:r>
              <a:rPr lang="en-US" dirty="0"/>
              <a:t> when the manufacturer stops official updates.</a:t>
            </a:r>
            <a:endParaRPr lang="en-IN" dirty="0"/>
          </a:p>
        </p:txBody>
      </p:sp>
    </p:spTree>
    <p:extLst>
      <p:ext uri="{BB962C8B-B14F-4D97-AF65-F5344CB8AC3E}">
        <p14:creationId xmlns:p14="http://schemas.microsoft.com/office/powerpoint/2010/main" val="3347688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Integrity Attestation</a:t>
            </a:r>
            <a:r>
              <a:rPr lang="en-US" dirty="0"/>
              <a:t> is a mechanism that allows apps or remote servers to </a:t>
            </a:r>
            <a:r>
              <a:rPr lang="en-US" b="1" dirty="0"/>
              <a:t>verify the integrity and security state of a device</a:t>
            </a:r>
            <a:r>
              <a:rPr lang="en-US" dirty="0"/>
              <a:t> before trusting it. Prevents sensitive apps (banking, corporate, payment) from running on compromised devices.</a:t>
            </a:r>
            <a:endParaRPr lang="en-IN" dirty="0"/>
          </a:p>
        </p:txBody>
      </p:sp>
    </p:spTree>
    <p:extLst>
      <p:ext uri="{BB962C8B-B14F-4D97-AF65-F5344CB8AC3E}">
        <p14:creationId xmlns:p14="http://schemas.microsoft.com/office/powerpoint/2010/main" val="3725658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Intents</a:t>
            </a:r>
            <a:r>
              <a:rPr lang="en-US" dirty="0"/>
              <a:t> are messages used in Android to start activities, send data, or communicate between apps.</a:t>
            </a:r>
          </a:p>
          <a:p>
            <a:r>
              <a:rPr lang="en-US" dirty="0"/>
              <a:t>If developers don’t </a:t>
            </a:r>
            <a:r>
              <a:rPr lang="en-US" b="1" dirty="0"/>
              <a:t>properly secure intents</a:t>
            </a:r>
            <a:r>
              <a:rPr lang="en-US" dirty="0"/>
              <a:t>, other apps can </a:t>
            </a:r>
            <a:r>
              <a:rPr lang="en-US" b="1" dirty="0"/>
              <a:t>intercept, modify, or trigger</a:t>
            </a:r>
            <a:r>
              <a:rPr lang="en-US" dirty="0"/>
              <a:t> them.</a:t>
            </a:r>
          </a:p>
          <a:p>
            <a:endParaRPr lang="en-IN" dirty="0"/>
          </a:p>
          <a:p>
            <a:r>
              <a:rPr lang="en-US" b="1" dirty="0"/>
              <a:t>URL Schemes</a:t>
            </a:r>
            <a:r>
              <a:rPr lang="en-US" dirty="0"/>
              <a:t> in iOS let apps communicate using custom URLs (e.g., </a:t>
            </a:r>
            <a:r>
              <a:rPr lang="en-US" sz="1100" b="0" i="0" u="none" strike="noStrike" cap="none" dirty="0">
                <a:solidFill>
                  <a:srgbClr val="000000"/>
                </a:solidFill>
                <a:latin typeface="Arial"/>
                <a:ea typeface="Arial"/>
                <a:cs typeface="Arial"/>
                <a:sym typeface="Arial"/>
              </a:rPr>
              <a:t>mybank://transfer</a:t>
            </a:r>
            <a:r>
              <a:rPr lang="en-US" dirty="0"/>
              <a:t>).</a:t>
            </a:r>
            <a:endParaRPr lang="en-IN" dirty="0"/>
          </a:p>
        </p:txBody>
      </p:sp>
    </p:spTree>
    <p:extLst>
      <p:ext uri="{BB962C8B-B14F-4D97-AF65-F5344CB8AC3E}">
        <p14:creationId xmlns:p14="http://schemas.microsoft.com/office/powerpoint/2010/main" val="33764183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b="1" dirty="0"/>
              <a:t>Secure Enclave (iOS)</a:t>
            </a:r>
            <a:r>
              <a:rPr lang="en-IN" dirty="0"/>
              <a:t> and </a:t>
            </a:r>
            <a:r>
              <a:rPr lang="en-IN" b="1" dirty="0"/>
              <a:t>Android Keystore</a:t>
            </a:r>
            <a:r>
              <a:rPr lang="en-IN" dirty="0"/>
              <a:t> are </a:t>
            </a:r>
            <a:r>
              <a:rPr lang="en-IN" b="1" dirty="0"/>
              <a:t>hardware-backed security modules</a:t>
            </a:r>
            <a:r>
              <a:rPr lang="en-IN" dirty="0"/>
              <a:t> that safely store sensitive information like passwords, cryptographic keys, and tokens.</a:t>
            </a:r>
          </a:p>
          <a:p>
            <a:endParaRPr lang="en-IN" dirty="0"/>
          </a:p>
          <a:p>
            <a:r>
              <a:rPr lang="en-US" dirty="0"/>
              <a:t>A </a:t>
            </a:r>
            <a:r>
              <a:rPr lang="en-US" b="1" dirty="0"/>
              <a:t>hardware-backed security module</a:t>
            </a:r>
            <a:r>
              <a:rPr lang="en-US" dirty="0"/>
              <a:t> is a </a:t>
            </a:r>
            <a:r>
              <a:rPr lang="en-US" b="1" dirty="0"/>
              <a:t>dedicated chip or processor</a:t>
            </a:r>
            <a:r>
              <a:rPr lang="en-US" dirty="0"/>
              <a:t> inside a mobile device that performs </a:t>
            </a:r>
            <a:r>
              <a:rPr lang="en-US" b="1" dirty="0"/>
              <a:t>security-critical operations</a:t>
            </a:r>
            <a:r>
              <a:rPr lang="en-US" dirty="0"/>
              <a:t> (like encryption, key storage, and authentication) in a </a:t>
            </a:r>
            <a:r>
              <a:rPr lang="en-US" b="1" dirty="0"/>
              <a:t>physically isolated environment</a:t>
            </a:r>
            <a:r>
              <a:rPr lang="en-US" dirty="0"/>
              <a:t> — separate from the main operating system and apps.</a:t>
            </a:r>
            <a:endParaRPr lang="en-IN" dirty="0"/>
          </a:p>
        </p:txBody>
      </p:sp>
    </p:spTree>
    <p:extLst>
      <p:ext uri="{BB962C8B-B14F-4D97-AF65-F5344CB8AC3E}">
        <p14:creationId xmlns:p14="http://schemas.microsoft.com/office/powerpoint/2010/main" val="965858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Certificate pinning </a:t>
            </a:r>
            <a:r>
              <a:rPr lang="en-US" dirty="0"/>
              <a:t>is a cybersecurity practice where a specific certificate or public key is “pinned” to an application or browser, allowing only the pinned certificate to establish a secure connection with the server. When a mobile app or browser attempts to communicate with a server, it checks whether the server’s certificate matches the pinned certificate. If it doesn’t, the connection is blocked, effectively reducing the risk of an attack.</a:t>
            </a:r>
            <a:endParaRPr lang="en-IN" dirty="0"/>
          </a:p>
        </p:txBody>
      </p:sp>
    </p:spTree>
    <p:extLst>
      <p:ext uri="{BB962C8B-B14F-4D97-AF65-F5344CB8AC3E}">
        <p14:creationId xmlns:p14="http://schemas.microsoft.com/office/powerpoint/2010/main" val="2981267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dirty="0"/>
              <a:t>IMEI-</a:t>
            </a:r>
            <a:r>
              <a:rPr lang="en-IN" dirty="0"/>
              <a:t>International Mobile Equipment Identity</a:t>
            </a:r>
          </a:p>
        </p:txBody>
      </p:sp>
    </p:spTree>
    <p:extLst>
      <p:ext uri="{BB962C8B-B14F-4D97-AF65-F5344CB8AC3E}">
        <p14:creationId xmlns:p14="http://schemas.microsoft.com/office/powerpoint/2010/main" val="34979222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Both </a:t>
            </a:r>
            <a:r>
              <a:rPr lang="en-US" b="1" dirty="0"/>
              <a:t>Android KeyStore</a:t>
            </a:r>
            <a:r>
              <a:rPr lang="en-US" dirty="0"/>
              <a:t> and </a:t>
            </a:r>
            <a:r>
              <a:rPr lang="en-US" b="1" dirty="0"/>
              <a:t>iOS Keychain</a:t>
            </a:r>
            <a:r>
              <a:rPr lang="en-US" dirty="0"/>
              <a:t> are </a:t>
            </a:r>
            <a:r>
              <a:rPr lang="en-US" b="1" dirty="0"/>
              <a:t>secure storage systems</a:t>
            </a:r>
            <a:r>
              <a:rPr lang="en-US" dirty="0"/>
              <a:t> provided by the OS for managing cryptographic keys and sensitive credentials (like passwords, tokens, certificates, etc.).</a:t>
            </a:r>
            <a:br>
              <a:rPr lang="en-US" dirty="0"/>
            </a:br>
            <a:r>
              <a:rPr lang="en-US" dirty="0"/>
              <a:t>They ensure that </a:t>
            </a:r>
            <a:r>
              <a:rPr lang="en-US" b="1" dirty="0"/>
              <a:t>keys never leave the secure hardware</a:t>
            </a:r>
            <a:r>
              <a:rPr lang="en-US" dirty="0"/>
              <a:t> and are accessible </a:t>
            </a:r>
            <a:r>
              <a:rPr lang="en-US" b="1" dirty="0"/>
              <a:t>only to the authorized app</a:t>
            </a:r>
            <a:r>
              <a:rPr lang="en-US" dirty="0"/>
              <a:t>.</a:t>
            </a:r>
            <a:endParaRPr lang="en-IN" dirty="0"/>
          </a:p>
        </p:txBody>
      </p:sp>
    </p:spTree>
    <p:extLst>
      <p:ext uri="{BB962C8B-B14F-4D97-AF65-F5344CB8AC3E}">
        <p14:creationId xmlns:p14="http://schemas.microsoft.com/office/powerpoint/2010/main" val="22051500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SAST - </a:t>
            </a:r>
            <a:r>
              <a:rPr lang="en-IN" dirty="0"/>
              <a:t>Static Application Security Testing)</a:t>
            </a:r>
          </a:p>
        </p:txBody>
      </p:sp>
    </p:spTree>
    <p:extLst>
      <p:ext uri="{BB962C8B-B14F-4D97-AF65-F5344CB8AC3E}">
        <p14:creationId xmlns:p14="http://schemas.microsoft.com/office/powerpoint/2010/main" val="32400990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IPA</a:t>
            </a:r>
            <a:r>
              <a:rPr lang="en-US" dirty="0"/>
              <a:t> stands for </a:t>
            </a:r>
            <a:r>
              <a:rPr lang="en-US" b="1" dirty="0"/>
              <a:t>iOS App Store Package</a:t>
            </a:r>
            <a:r>
              <a:rPr lang="en-US" dirty="0"/>
              <a:t> (or </a:t>
            </a:r>
            <a:r>
              <a:rPr lang="en-US" b="1" dirty="0"/>
              <a:t>iPhone Application Archive</a:t>
            </a:r>
            <a:r>
              <a:rPr lang="en-US" dirty="0"/>
              <a:t>).</a:t>
            </a:r>
          </a:p>
          <a:p>
            <a:r>
              <a:rPr lang="en-IN" b="1" dirty="0"/>
              <a:t>APK</a:t>
            </a:r>
            <a:r>
              <a:rPr lang="en-IN" dirty="0"/>
              <a:t> stands for Android Application Package.</a:t>
            </a:r>
          </a:p>
        </p:txBody>
      </p:sp>
    </p:spTree>
    <p:extLst>
      <p:ext uri="{BB962C8B-B14F-4D97-AF65-F5344CB8AC3E}">
        <p14:creationId xmlns:p14="http://schemas.microsoft.com/office/powerpoint/2010/main" val="3594647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87309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6D427-0C59-D064-2940-ACE1A04E3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D6C01-F20C-0549-9D8B-D96AF924F6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4853575-9A94-0F7A-E6FB-25B45652961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301639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Exported components (Activities/Services/</a:t>
            </a:r>
            <a:r>
              <a:rPr lang="en-US" b="1" dirty="0" err="1"/>
              <a:t>BroadcastReceivers</a:t>
            </a:r>
            <a:r>
              <a:rPr lang="en-US" b="1" dirty="0"/>
              <a:t>/</a:t>
            </a:r>
            <a:r>
              <a:rPr lang="en-US" b="1" dirty="0" err="1"/>
              <a:t>ContentProviders</a:t>
            </a:r>
            <a:r>
              <a:rPr lang="en-US" b="1" dirty="0"/>
              <a:t>)</a:t>
            </a:r>
            <a:r>
              <a:rPr lang="en-US" dirty="0"/>
              <a:t> — App components exposed to other apps that, if left unprotected, allow external apps to invoke functionality or read data they shouldn’t..</a:t>
            </a:r>
          </a:p>
          <a:p>
            <a:r>
              <a:rPr lang="en-IN" b="1" dirty="0"/>
              <a:t>Insecure WebView usage</a:t>
            </a:r>
            <a:r>
              <a:rPr lang="en-IN" dirty="0"/>
              <a:t> — Using WebView with unsafe settings (e.g., </a:t>
            </a:r>
            <a:r>
              <a:rPr lang="en-IN" sz="1100" b="0" i="0" u="none" strike="noStrike" cap="none" dirty="0" err="1">
                <a:solidFill>
                  <a:srgbClr val="000000"/>
                </a:solidFill>
                <a:latin typeface="Arial"/>
                <a:ea typeface="Arial"/>
                <a:cs typeface="Arial"/>
                <a:sym typeface="Arial"/>
              </a:rPr>
              <a:t>addJavascriptInterface</a:t>
            </a:r>
            <a:r>
              <a:rPr lang="en-IN" dirty="0"/>
              <a:t>, enabling JS for untrusted content) that allows XSS or remote code execution.</a:t>
            </a:r>
          </a:p>
        </p:txBody>
      </p:sp>
    </p:spTree>
    <p:extLst>
      <p:ext uri="{BB962C8B-B14F-4D97-AF65-F5344CB8AC3E}">
        <p14:creationId xmlns:p14="http://schemas.microsoft.com/office/powerpoint/2010/main" val="3606719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Activity:</a:t>
            </a:r>
            <a:r>
              <a:rPr lang="en-US" dirty="0"/>
              <a:t> A single screen in the app with a user interface that the user can interact with.</a:t>
            </a:r>
          </a:p>
          <a:p>
            <a:r>
              <a:rPr lang="en-US" b="1" dirty="0"/>
              <a:t>Service:</a:t>
            </a:r>
            <a:r>
              <a:rPr lang="en-US" dirty="0"/>
              <a:t> A background worker that performs long-running operations without a user interface.</a:t>
            </a:r>
          </a:p>
          <a:p>
            <a:r>
              <a:rPr lang="en-US" b="1" dirty="0"/>
              <a:t>Broadcast Receiver:</a:t>
            </a:r>
            <a:r>
              <a:rPr lang="en-US" dirty="0"/>
              <a:t> An event-driven component that listens for and reacts to system-wide or app-wide announcements.</a:t>
            </a:r>
          </a:p>
          <a:p>
            <a:r>
              <a:rPr lang="en-US" b="1" dirty="0"/>
              <a:t>Content Provider:</a:t>
            </a:r>
            <a:r>
              <a:rPr lang="en-US" dirty="0"/>
              <a:t> A managed data store that handles shared data and provides a structured interface for other apps to query or modify it.</a:t>
            </a:r>
          </a:p>
          <a:p>
            <a:endParaRPr lang="en-IN" dirty="0"/>
          </a:p>
        </p:txBody>
      </p:sp>
    </p:spTree>
    <p:extLst>
      <p:ext uri="{BB962C8B-B14F-4D97-AF65-F5344CB8AC3E}">
        <p14:creationId xmlns:p14="http://schemas.microsoft.com/office/powerpoint/2010/main" val="2122913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BOOT_COMPLETED </a:t>
            </a:r>
            <a:r>
              <a:rPr lang="en-US" dirty="0"/>
              <a:t>is considered a classic persistence mechanism because it allows an application or malware to automatically restart or remain active whenever the Android device is rebooted, ensuring its continued operation without requiring the user to manually launch it.</a:t>
            </a:r>
            <a:endParaRPr lang="en-IN" dirty="0"/>
          </a:p>
        </p:txBody>
      </p:sp>
    </p:spTree>
    <p:extLst>
      <p:ext uri="{BB962C8B-B14F-4D97-AF65-F5344CB8AC3E}">
        <p14:creationId xmlns:p14="http://schemas.microsoft.com/office/powerpoint/2010/main" val="17227862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a:t>
            </a:r>
            <a:r>
              <a:rPr lang="en-US" b="1" dirty="0"/>
              <a:t>Kill Chain </a:t>
            </a:r>
            <a:r>
              <a:rPr lang="en-US" dirty="0"/>
              <a:t>breaks down a cyberattack into sequential phases, from early reconnaissance to the final achievement of the attacker's objectives. Understanding each stage helps defenders identify, prevent, and disrupt attacks at various points.</a:t>
            </a:r>
          </a:p>
          <a:p>
            <a:r>
              <a:rPr lang="en-US" b="1" dirty="0"/>
              <a:t>Evasion</a:t>
            </a:r>
            <a:r>
              <a:rPr lang="en-US" dirty="0"/>
              <a:t> is the tactic of using techniques to bypass security defenses to avoid detection. </a:t>
            </a:r>
            <a:endParaRPr lang="en-IN" dirty="0"/>
          </a:p>
        </p:txBody>
      </p:sp>
    </p:spTree>
    <p:extLst>
      <p:ext uri="{BB962C8B-B14F-4D97-AF65-F5344CB8AC3E}">
        <p14:creationId xmlns:p14="http://schemas.microsoft.com/office/powerpoint/2010/main" val="25884218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Control flow flattening is a code obfuscation technique that transforms a program's original, structured control flow into a flat structure of a single, infinite loop containing a large </a:t>
            </a:r>
            <a:r>
              <a:rPr lang="en-US" sz="1100" b="0" i="0" u="none" strike="noStrike" cap="none" dirty="0">
                <a:solidFill>
                  <a:srgbClr val="000000"/>
                </a:solidFill>
                <a:latin typeface="Arial"/>
                <a:ea typeface="Arial"/>
                <a:cs typeface="Arial"/>
                <a:sym typeface="Arial"/>
              </a:rPr>
              <a:t>switch</a:t>
            </a:r>
            <a:r>
              <a:rPr lang="en-US" dirty="0"/>
              <a:t> statement. </a:t>
            </a:r>
            <a:endParaRPr lang="en-IN" dirty="0"/>
          </a:p>
        </p:txBody>
      </p:sp>
    </p:spTree>
    <p:extLst>
      <p:ext uri="{BB962C8B-B14F-4D97-AF65-F5344CB8AC3E}">
        <p14:creationId xmlns:p14="http://schemas.microsoft.com/office/powerpoint/2010/main" val="26646454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a:extLst>
            <a:ext uri="{FF2B5EF4-FFF2-40B4-BE49-F238E27FC236}">
              <a16:creationId xmlns:a16="http://schemas.microsoft.com/office/drawing/2014/main" id="{06091078-0940-9080-F53F-87B3D6225123}"/>
            </a:ext>
          </a:extLst>
        </p:cNvPr>
        <p:cNvGrpSpPr/>
        <p:nvPr/>
      </p:nvGrpSpPr>
      <p:grpSpPr>
        <a:xfrm>
          <a:off x="0" y="0"/>
          <a:ext cx="0" cy="0"/>
          <a:chOff x="0" y="0"/>
          <a:chExt cx="0" cy="0"/>
        </a:xfrm>
      </p:grpSpPr>
      <p:sp>
        <p:nvSpPr>
          <p:cNvPr id="152" name="Google Shape;152;g4dfce81f19_0_45:notes">
            <a:extLst>
              <a:ext uri="{FF2B5EF4-FFF2-40B4-BE49-F238E27FC236}">
                <a16:creationId xmlns:a16="http://schemas.microsoft.com/office/drawing/2014/main" id="{B62E1C46-096E-B483-170F-D54CE5DC80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a:extLst>
              <a:ext uri="{FF2B5EF4-FFF2-40B4-BE49-F238E27FC236}">
                <a16:creationId xmlns:a16="http://schemas.microsoft.com/office/drawing/2014/main" id="{B4FD657E-3D34-C72B-65B4-70B2A0A40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80628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Multi-tenancy</a:t>
            </a:r>
            <a:r>
              <a:rPr lang="en-US" dirty="0"/>
              <a:t> is a core concept in cloud computing where </a:t>
            </a:r>
            <a:r>
              <a:rPr lang="en-US" b="1" dirty="0"/>
              <a:t>a single physical or virtual infrastructure (like servers, storage, or applications)</a:t>
            </a:r>
            <a:r>
              <a:rPr lang="en-US" dirty="0"/>
              <a:t> is </a:t>
            </a:r>
            <a:r>
              <a:rPr lang="en-US" b="1" dirty="0"/>
              <a:t>shared by multiple users or organizations (called tenants)</a:t>
            </a:r>
            <a:r>
              <a:rPr lang="en-US" dirty="0"/>
              <a:t>, while keeping each tenant’s data and configurations </a:t>
            </a:r>
            <a:r>
              <a:rPr lang="en-US" b="1" dirty="0"/>
              <a:t>logically isolated</a:t>
            </a:r>
            <a:r>
              <a:rPr lang="en-US" dirty="0"/>
              <a:t> from others.</a:t>
            </a:r>
            <a:endParaRPr lang="en-IN" dirty="0"/>
          </a:p>
        </p:txBody>
      </p:sp>
    </p:spTree>
    <p:extLst>
      <p:ext uri="{BB962C8B-B14F-4D97-AF65-F5344CB8AC3E}">
        <p14:creationId xmlns:p14="http://schemas.microsoft.com/office/powerpoint/2010/main" val="24754795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REST: </a:t>
            </a:r>
            <a:r>
              <a:rPr lang="en-US" b="0" dirty="0"/>
              <a:t>Representational State Transfer</a:t>
            </a:r>
          </a:p>
          <a:p>
            <a:endParaRPr lang="en-IN" dirty="0"/>
          </a:p>
        </p:txBody>
      </p:sp>
    </p:spTree>
    <p:extLst>
      <p:ext uri="{BB962C8B-B14F-4D97-AF65-F5344CB8AC3E}">
        <p14:creationId xmlns:p14="http://schemas.microsoft.com/office/powerpoint/2010/main" val="31545256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sz="1100" b="1" i="0" u="none" strike="noStrike" cap="none" dirty="0">
                <a:solidFill>
                  <a:srgbClr val="000000"/>
                </a:solidFill>
                <a:latin typeface="Arial"/>
                <a:ea typeface="Arial"/>
                <a:cs typeface="Arial"/>
                <a:sym typeface="Arial"/>
              </a:rPr>
              <a:t>docker run -d -p 8080:80 nginx</a:t>
            </a:r>
            <a:endParaRPr lang="en-IN" b="1" dirty="0"/>
          </a:p>
          <a:p>
            <a:pPr lvl="1"/>
            <a:r>
              <a:rPr lang="en-IN" b="1" dirty="0"/>
              <a:t>run</a:t>
            </a:r>
            <a:r>
              <a:rPr lang="en-IN" dirty="0"/>
              <a:t> → start a new container</a:t>
            </a:r>
          </a:p>
          <a:p>
            <a:pPr lvl="1"/>
            <a:r>
              <a:rPr lang="en-IN" b="1" dirty="0"/>
              <a:t>-d</a:t>
            </a:r>
            <a:r>
              <a:rPr lang="en-IN" dirty="0"/>
              <a:t> → run it in </a:t>
            </a:r>
            <a:r>
              <a:rPr lang="en-IN" i="1" dirty="0"/>
              <a:t>detached</a:t>
            </a:r>
            <a:r>
              <a:rPr lang="en-IN" dirty="0"/>
              <a:t> mode (in background)</a:t>
            </a:r>
          </a:p>
          <a:p>
            <a:pPr lvl="1"/>
            <a:r>
              <a:rPr lang="en-IN" b="1" dirty="0"/>
              <a:t>-p 8080:80</a:t>
            </a:r>
            <a:r>
              <a:rPr lang="en-IN" dirty="0"/>
              <a:t> → map </a:t>
            </a:r>
            <a:r>
              <a:rPr lang="en-IN" b="1" dirty="0"/>
              <a:t>host port 8080</a:t>
            </a:r>
            <a:r>
              <a:rPr lang="en-IN" dirty="0"/>
              <a:t> → </a:t>
            </a:r>
            <a:r>
              <a:rPr lang="en-IN" b="1" dirty="0"/>
              <a:t>container port 80</a:t>
            </a:r>
            <a:endParaRPr lang="en-IN" dirty="0"/>
          </a:p>
          <a:p>
            <a:pPr lvl="1"/>
            <a:r>
              <a:rPr lang="en-IN" b="1" dirty="0"/>
              <a:t>nginx</a:t>
            </a:r>
            <a:r>
              <a:rPr lang="en-IN" dirty="0"/>
              <a:t> → use the nginx image</a:t>
            </a:r>
          </a:p>
          <a:p>
            <a:endParaRPr lang="en-IN" dirty="0"/>
          </a:p>
        </p:txBody>
      </p:sp>
    </p:spTree>
    <p:extLst>
      <p:ext uri="{BB962C8B-B14F-4D97-AF65-F5344CB8AC3E}">
        <p14:creationId xmlns:p14="http://schemas.microsoft.com/office/powerpoint/2010/main" val="5517158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Docker Daemon: </a:t>
            </a:r>
            <a:r>
              <a:rPr lang="en-US" dirty="0"/>
              <a:t>The </a:t>
            </a:r>
            <a:r>
              <a:rPr lang="en-US" b="1" dirty="0"/>
              <a:t>Docker Daemon</a:t>
            </a:r>
            <a:r>
              <a:rPr lang="en-US" dirty="0"/>
              <a:t> (</a:t>
            </a:r>
            <a:r>
              <a:rPr lang="en-US" sz="1100" b="0" i="0" u="none" strike="noStrike" cap="none" dirty="0" err="1">
                <a:solidFill>
                  <a:srgbClr val="000000"/>
                </a:solidFill>
                <a:latin typeface="Arial"/>
                <a:ea typeface="Arial"/>
                <a:cs typeface="Arial"/>
                <a:sym typeface="Arial"/>
              </a:rPr>
              <a:t>dockerd</a:t>
            </a:r>
            <a:r>
              <a:rPr lang="en-US" dirty="0"/>
              <a:t>) is the </a:t>
            </a:r>
            <a:r>
              <a:rPr lang="en-US" b="1" dirty="0"/>
              <a:t>background service</a:t>
            </a:r>
            <a:r>
              <a:rPr lang="en-US" dirty="0"/>
              <a:t> on a machine that </a:t>
            </a:r>
            <a:r>
              <a:rPr lang="en-US" b="1" dirty="0"/>
              <a:t>runs and manages Docker</a:t>
            </a:r>
            <a:r>
              <a:rPr lang="en-US" dirty="0"/>
              <a:t>.</a:t>
            </a:r>
          </a:p>
          <a:p>
            <a:r>
              <a:rPr lang="en-US" b="1" dirty="0"/>
              <a:t>What it does:</a:t>
            </a:r>
          </a:p>
          <a:p>
            <a:pPr lvl="1"/>
            <a:r>
              <a:rPr lang="en-US" dirty="0"/>
              <a:t>Receives commands from the </a:t>
            </a:r>
            <a:r>
              <a:rPr lang="en-US" b="1" dirty="0"/>
              <a:t>Docker CLI</a:t>
            </a:r>
            <a:r>
              <a:rPr lang="en-US" dirty="0"/>
              <a:t> or </a:t>
            </a:r>
            <a:r>
              <a:rPr lang="en-US" b="1" dirty="0"/>
              <a:t>REST API</a:t>
            </a:r>
            <a:endParaRPr lang="en-US" dirty="0"/>
          </a:p>
          <a:p>
            <a:pPr lvl="1"/>
            <a:r>
              <a:rPr lang="en-US" dirty="0"/>
              <a:t>Builds images</a:t>
            </a:r>
          </a:p>
          <a:p>
            <a:pPr lvl="1"/>
            <a:r>
              <a:rPr lang="en-US" dirty="0"/>
              <a:t>Starts/stops containers</a:t>
            </a:r>
          </a:p>
          <a:p>
            <a:pPr lvl="1"/>
            <a:r>
              <a:rPr lang="en-US" dirty="0"/>
              <a:t>Manages networks, volumes, and registries</a:t>
            </a:r>
          </a:p>
          <a:p>
            <a:endParaRPr lang="en-IN" dirty="0"/>
          </a:p>
        </p:txBody>
      </p:sp>
    </p:spTree>
    <p:extLst>
      <p:ext uri="{BB962C8B-B14F-4D97-AF65-F5344CB8AC3E}">
        <p14:creationId xmlns:p14="http://schemas.microsoft.com/office/powerpoint/2010/main" val="1567585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AWS Config</a:t>
            </a:r>
            <a:r>
              <a:rPr lang="en-US" dirty="0"/>
              <a:t> continuously checks whether your buckets follow security rules.</a:t>
            </a:r>
          </a:p>
          <a:p>
            <a:r>
              <a:rPr lang="en-US" b="1" dirty="0"/>
              <a:t>S3 Block Public Access</a:t>
            </a:r>
            <a:r>
              <a:rPr lang="en-US" dirty="0"/>
              <a:t> prevents any bucket or object from becoming public—no matter what the IAM policy or ACL says.</a:t>
            </a:r>
          </a:p>
          <a:p>
            <a:r>
              <a:rPr lang="en-US" b="1" dirty="0"/>
              <a:t>AWS CloudTrail</a:t>
            </a:r>
            <a:r>
              <a:rPr lang="en-US" dirty="0"/>
              <a:t> is an AWS service that records </a:t>
            </a:r>
            <a:r>
              <a:rPr lang="en-US" b="1" dirty="0"/>
              <a:t>all API activity</a:t>
            </a:r>
            <a:r>
              <a:rPr lang="en-US" dirty="0"/>
              <a:t> that happens in your AWS account.</a:t>
            </a:r>
            <a:endParaRPr lang="en-IN" dirty="0"/>
          </a:p>
        </p:txBody>
      </p:sp>
    </p:spTree>
    <p:extLst>
      <p:ext uri="{BB962C8B-B14F-4D97-AF65-F5344CB8AC3E}">
        <p14:creationId xmlns:p14="http://schemas.microsoft.com/office/powerpoint/2010/main" val="32700341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Enumeration</a:t>
            </a:r>
            <a:r>
              <a:rPr lang="en-US" dirty="0"/>
              <a:t> tool used to </a:t>
            </a:r>
            <a:r>
              <a:rPr lang="en-US" b="1" dirty="0"/>
              <a:t>discover and list resources, services, configurations, or assets</a:t>
            </a:r>
            <a:r>
              <a:rPr lang="en-US" dirty="0"/>
              <a:t> in a target environment.</a:t>
            </a:r>
          </a:p>
          <a:p>
            <a:r>
              <a:rPr lang="en-US" b="1" dirty="0"/>
              <a:t>Auditing tool: </a:t>
            </a:r>
            <a:r>
              <a:rPr lang="en-US" dirty="0"/>
              <a:t>A tool used to </a:t>
            </a:r>
            <a:r>
              <a:rPr lang="en-US" b="1" dirty="0"/>
              <a:t>analyze configurations, logs, and activities to check for compliance, security issues, or misconfigurations</a:t>
            </a:r>
            <a:r>
              <a:rPr lang="en-US" dirty="0"/>
              <a:t>.</a:t>
            </a:r>
          </a:p>
          <a:p>
            <a:r>
              <a:rPr lang="en-US" dirty="0">
                <a:solidFill>
                  <a:schemeClr val="tx1"/>
                </a:solidFill>
              </a:rPr>
              <a:t>S3Scanner = discovery &amp; enumeration (external scanning)</a:t>
            </a:r>
          </a:p>
          <a:p>
            <a:endParaRPr lang="en-US" dirty="0">
              <a:solidFill>
                <a:schemeClr val="tx1"/>
              </a:solidFill>
            </a:endParaRPr>
          </a:p>
          <a:p>
            <a:endParaRPr lang="en-IN" dirty="0"/>
          </a:p>
        </p:txBody>
      </p:sp>
    </p:spTree>
    <p:extLst>
      <p:ext uri="{BB962C8B-B14F-4D97-AF65-F5344CB8AC3E}">
        <p14:creationId xmlns:p14="http://schemas.microsoft.com/office/powerpoint/2010/main" val="10076457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S3Inspector = auditing &amp; security assessment (internal analysis)</a:t>
            </a:r>
            <a:endParaRPr lang="en-IN" dirty="0"/>
          </a:p>
        </p:txBody>
      </p:sp>
    </p:spTree>
    <p:extLst>
      <p:ext uri="{BB962C8B-B14F-4D97-AF65-F5344CB8AC3E}">
        <p14:creationId xmlns:p14="http://schemas.microsoft.com/office/powerpoint/2010/main" val="3226158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75221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1" dirty="0"/>
              <a:t>Reactive</a:t>
            </a:r>
            <a:r>
              <a:rPr lang="en-US" sz="1400" dirty="0"/>
              <a:t>: Responding to events after they happen.</a:t>
            </a:r>
          </a:p>
          <a:p>
            <a:r>
              <a:rPr lang="en-US" sz="1400" b="1" dirty="0"/>
              <a:t>Proactive</a:t>
            </a:r>
            <a:r>
              <a:rPr lang="en-US" sz="1400" dirty="0"/>
              <a:t>: Identifying and addressing potential issues before they become problems.</a:t>
            </a:r>
            <a:endParaRPr lang="en-IN" sz="1400" dirty="0"/>
          </a:p>
        </p:txBody>
      </p:sp>
    </p:spTree>
    <p:extLst>
      <p:ext uri="{BB962C8B-B14F-4D97-AF65-F5344CB8AC3E}">
        <p14:creationId xmlns:p14="http://schemas.microsoft.com/office/powerpoint/2010/main" val="36806769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783525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ISO 27001:</a:t>
            </a:r>
            <a:r>
              <a:rPr lang="en-IN" dirty="0"/>
              <a:t> </a:t>
            </a:r>
            <a:r>
              <a:rPr lang="en-IN" i="1" dirty="0"/>
              <a:t>International Organization for Standardization</a:t>
            </a:r>
            <a:endParaRPr lang="en-IN" dirty="0"/>
          </a:p>
          <a:p>
            <a:r>
              <a:rPr lang="en-IN" b="1" dirty="0"/>
              <a:t>NIST Cybersecurity Framework:</a:t>
            </a:r>
            <a:r>
              <a:rPr lang="en-IN" dirty="0"/>
              <a:t> </a:t>
            </a:r>
            <a:r>
              <a:rPr lang="en-IN" i="1" dirty="0"/>
              <a:t>National Institute of Standards and Technology Cybersecurity Framework</a:t>
            </a:r>
            <a:endParaRPr lang="en-IN" dirty="0"/>
          </a:p>
          <a:p>
            <a:r>
              <a:rPr lang="en-IN" b="1" dirty="0"/>
              <a:t>COBIT:</a:t>
            </a:r>
            <a:r>
              <a:rPr lang="en-IN" dirty="0"/>
              <a:t> </a:t>
            </a:r>
            <a:r>
              <a:rPr lang="en-IN" i="1" dirty="0"/>
              <a:t>Control Objectives for Information and Related Technologies</a:t>
            </a:r>
            <a:endParaRPr lang="en-IN" dirty="0"/>
          </a:p>
          <a:p>
            <a:pPr marL="457200" indent="-298450"/>
            <a:r>
              <a:rPr lang="en-IN" sz="1100" b="1" i="0" u="none" strike="noStrike" cap="none" baseline="0" dirty="0">
                <a:solidFill>
                  <a:srgbClr val="000000"/>
                </a:solidFill>
                <a:latin typeface="Arial"/>
                <a:ea typeface="Arial"/>
                <a:cs typeface="Arial"/>
                <a:sym typeface="Arial"/>
              </a:rPr>
              <a:t>SP 800-53: </a:t>
            </a:r>
            <a:r>
              <a:rPr lang="en-IN" dirty="0"/>
              <a:t>NIST Special Publication 800-53</a:t>
            </a:r>
            <a:endParaRPr lang="en-IN" sz="1100" b="0" i="0" u="none" strike="noStrike" cap="none" baseline="0" dirty="0">
              <a:solidFill>
                <a:srgbClr val="000000"/>
              </a:solidFill>
              <a:latin typeface="Arial"/>
              <a:ea typeface="Arial"/>
              <a:cs typeface="Arial"/>
              <a:sym typeface="Arial"/>
            </a:endParaRPr>
          </a:p>
          <a:p>
            <a:endParaRPr lang="en-IN"/>
          </a:p>
          <a:p>
            <a:endParaRPr lang="en-IN"/>
          </a:p>
        </p:txBody>
      </p:sp>
    </p:spTree>
    <p:extLst>
      <p:ext uri="{BB962C8B-B14F-4D97-AF65-F5344CB8AC3E}">
        <p14:creationId xmlns:p14="http://schemas.microsoft.com/office/powerpoint/2010/main" val="11225278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Security audits validate </a:t>
            </a:r>
            <a:r>
              <a:rPr lang="en-US" b="1" dirty="0"/>
              <a:t>compliance</a:t>
            </a:r>
            <a:r>
              <a:rPr lang="en-US" dirty="0"/>
              <a:t>, </a:t>
            </a:r>
            <a:r>
              <a:rPr lang="en-US" b="1" dirty="0"/>
              <a:t>control effectiveness</a:t>
            </a:r>
            <a:r>
              <a:rPr lang="en-US" dirty="0"/>
              <a:t>, and </a:t>
            </a:r>
            <a:r>
              <a:rPr lang="en-US" b="1" dirty="0"/>
              <a:t>risk readiness</a:t>
            </a:r>
            <a:endParaRPr lang="en-US" dirty="0"/>
          </a:p>
          <a:p>
            <a:r>
              <a:rPr lang="en-US" dirty="0"/>
              <a:t>Assurance provides </a:t>
            </a:r>
            <a:r>
              <a:rPr lang="en-US" b="1" dirty="0"/>
              <a:t>continuous confidence</a:t>
            </a:r>
            <a:r>
              <a:rPr lang="en-US" dirty="0"/>
              <a:t> in the security posture</a:t>
            </a:r>
          </a:p>
          <a:p>
            <a:endParaRPr lang="en-IN" dirty="0"/>
          </a:p>
        </p:txBody>
      </p:sp>
    </p:spTree>
    <p:extLst>
      <p:ext uri="{BB962C8B-B14F-4D97-AF65-F5344CB8AC3E}">
        <p14:creationId xmlns:p14="http://schemas.microsoft.com/office/powerpoint/2010/main" val="31432204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dirty="0"/>
              <a:t>“Map controls to regulations” means </a:t>
            </a:r>
            <a:r>
              <a:rPr lang="en-US" sz="1400" b="1" dirty="0"/>
              <a:t>matching the security controls implemented by the organization to the specific requirements of laws, standards, and regulations</a:t>
            </a:r>
            <a:r>
              <a:rPr lang="en-US" sz="1400" dirty="0"/>
              <a:t>.</a:t>
            </a:r>
            <a:endParaRPr lang="en-IN" sz="1400" dirty="0"/>
          </a:p>
        </p:txBody>
      </p:sp>
    </p:spTree>
    <p:extLst>
      <p:ext uri="{BB962C8B-B14F-4D97-AF65-F5344CB8AC3E}">
        <p14:creationId xmlns:p14="http://schemas.microsoft.com/office/powerpoint/2010/main" val="9770509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b="1" dirty="0"/>
              <a:t>ISO 27001:</a:t>
            </a:r>
            <a:r>
              <a:rPr lang="en-IN" dirty="0"/>
              <a:t> </a:t>
            </a:r>
            <a:r>
              <a:rPr lang="en-IN" i="1" dirty="0"/>
              <a:t>International Organization for Standardization</a:t>
            </a:r>
            <a:endParaRPr lang="en-IN" dirty="0"/>
          </a:p>
          <a:p>
            <a:r>
              <a:rPr lang="en-IN" b="1" dirty="0"/>
              <a:t>NIST Cybersecurity Framework:</a:t>
            </a:r>
            <a:r>
              <a:rPr lang="en-IN" dirty="0"/>
              <a:t> </a:t>
            </a:r>
            <a:r>
              <a:rPr lang="en-IN" i="1" dirty="0"/>
              <a:t>National Institute of Standards and Technology Cybersecurity Framework</a:t>
            </a:r>
            <a:endParaRPr lang="en-IN" dirty="0"/>
          </a:p>
          <a:p>
            <a:r>
              <a:rPr lang="en-IN" b="1" dirty="0"/>
              <a:t>COBIT:</a:t>
            </a:r>
            <a:r>
              <a:rPr lang="en-IN" dirty="0"/>
              <a:t> </a:t>
            </a:r>
            <a:r>
              <a:rPr lang="en-IN" i="1" dirty="0"/>
              <a:t>Control Objectives for Information and Related Technologies</a:t>
            </a:r>
            <a:endParaRPr lang="en-IN" dirty="0"/>
          </a:p>
          <a:p>
            <a:pPr marL="457200" indent="-298450"/>
            <a:r>
              <a:rPr lang="en-IN" sz="1100" b="1" i="0" u="none" strike="noStrike" cap="none" baseline="0" dirty="0">
                <a:solidFill>
                  <a:srgbClr val="000000"/>
                </a:solidFill>
                <a:latin typeface="Arial"/>
                <a:ea typeface="Arial"/>
                <a:cs typeface="Arial"/>
                <a:sym typeface="Arial"/>
              </a:rPr>
              <a:t>SP 800-53: </a:t>
            </a:r>
            <a:r>
              <a:rPr lang="en-IN" dirty="0"/>
              <a:t>NIST Special Publication 800-53</a:t>
            </a:r>
            <a:endParaRPr lang="en-IN" sz="1100" b="0" i="0" u="none" strike="noStrike" cap="none" baseline="0" dirty="0">
              <a:solidFill>
                <a:srgbClr val="000000"/>
              </a:solidFill>
              <a:latin typeface="Arial"/>
              <a:ea typeface="Arial"/>
              <a:cs typeface="Arial"/>
              <a:sym typeface="Arial"/>
            </a:endParaRPr>
          </a:p>
          <a:p>
            <a:endParaRPr lang="en-IN" dirty="0"/>
          </a:p>
        </p:txBody>
      </p:sp>
    </p:spTree>
    <p:extLst>
      <p:ext uri="{BB962C8B-B14F-4D97-AF65-F5344CB8AC3E}">
        <p14:creationId xmlns:p14="http://schemas.microsoft.com/office/powerpoint/2010/main" val="21044426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258891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Control implementation evidence</a:t>
            </a:r>
            <a:r>
              <a:rPr lang="en-US" dirty="0"/>
              <a:t> is the </a:t>
            </a:r>
            <a:r>
              <a:rPr lang="en-US" b="1" dirty="0"/>
              <a:t>proof that a security control is actually implemented and working</a:t>
            </a:r>
            <a:r>
              <a:rPr lang="en-US" dirty="0"/>
              <a:t> as intended.</a:t>
            </a:r>
          </a:p>
          <a:p>
            <a:r>
              <a:rPr lang="en-US" dirty="0"/>
              <a:t>It includes documents, logs, screenshots, reports, configurations, or records that show a control—like access restrictions, backups, encryption, or monitoring—is properly applied and functioning in the organization.</a:t>
            </a:r>
          </a:p>
          <a:p>
            <a:endParaRPr lang="en-IN" dirty="0"/>
          </a:p>
        </p:txBody>
      </p:sp>
    </p:spTree>
    <p:extLst>
      <p:ext uri="{BB962C8B-B14F-4D97-AF65-F5344CB8AC3E}">
        <p14:creationId xmlns:p14="http://schemas.microsoft.com/office/powerpoint/2010/main" val="33642518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ISO 27001 focuses on the overall ISMS and risk management, while NIST 800-53 provides detailed, technical controls for specific systems.</a:t>
            </a:r>
            <a:endParaRPr lang="en-IN" dirty="0"/>
          </a:p>
        </p:txBody>
      </p:sp>
    </p:spTree>
    <p:extLst>
      <p:ext uri="{BB962C8B-B14F-4D97-AF65-F5344CB8AC3E}">
        <p14:creationId xmlns:p14="http://schemas.microsoft.com/office/powerpoint/2010/main" val="16714564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a:t>
            </a:r>
            <a:r>
              <a:rPr lang="en-US" b="1" dirty="0"/>
              <a:t>Risk Register</a:t>
            </a:r>
            <a:r>
              <a:rPr lang="en-US" dirty="0"/>
              <a:t> is a </a:t>
            </a:r>
            <a:r>
              <a:rPr lang="en-US" b="1" dirty="0"/>
              <a:t>centralized document</a:t>
            </a:r>
            <a:r>
              <a:rPr lang="en-US" dirty="0"/>
              <a:t> that lists all identified risks, along with their likelihood, impact, risk level, owners, and the actions taken to mitigate them.</a:t>
            </a:r>
          </a:p>
          <a:p>
            <a:r>
              <a:rPr lang="en-US" b="1" dirty="0"/>
              <a:t>Document procedures and assign responsibilities </a:t>
            </a:r>
            <a:r>
              <a:rPr lang="en-US" dirty="0"/>
              <a:t> means </a:t>
            </a:r>
            <a:r>
              <a:rPr lang="en-US" b="1" dirty="0"/>
              <a:t>writing down step-by-step instructions</a:t>
            </a:r>
            <a:r>
              <a:rPr lang="en-US" dirty="0"/>
              <a:t> for how security processes should be carried out (e.g., how to back up data, how to respond to incidents) and clearly defining </a:t>
            </a:r>
            <a:r>
              <a:rPr lang="en-US" b="1" dirty="0"/>
              <a:t>who is responsible</a:t>
            </a:r>
            <a:r>
              <a:rPr lang="en-US" dirty="0"/>
              <a:t> for performing each task.</a:t>
            </a:r>
          </a:p>
          <a:p>
            <a:endParaRPr lang="en-IN" dirty="0"/>
          </a:p>
        </p:txBody>
      </p:sp>
    </p:spTree>
    <p:extLst>
      <p:ext uri="{BB962C8B-B14F-4D97-AF65-F5344CB8AC3E}">
        <p14:creationId xmlns:p14="http://schemas.microsoft.com/office/powerpoint/2010/main" val="17951834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Annex A = List of security controls.</a:t>
            </a:r>
          </a:p>
          <a:p>
            <a:r>
              <a:rPr lang="en-US" dirty="0"/>
              <a:t>Annex B = Informative guidance (not controls, not mandatory).</a:t>
            </a:r>
            <a:endParaRPr lang="en-IN" dirty="0"/>
          </a:p>
        </p:txBody>
      </p:sp>
    </p:spTree>
    <p:extLst>
      <p:ext uri="{BB962C8B-B14F-4D97-AF65-F5344CB8AC3E}">
        <p14:creationId xmlns:p14="http://schemas.microsoft.com/office/powerpoint/2010/main" val="34341930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a:t>
            </a:r>
            <a:r>
              <a:rPr lang="en-US" b="1" dirty="0"/>
              <a:t>Risk Matrix</a:t>
            </a:r>
            <a:r>
              <a:rPr lang="en-US" dirty="0"/>
              <a:t> is a grid that shows each risk based on two factors:</a:t>
            </a:r>
          </a:p>
          <a:p>
            <a:pPr lvl="1"/>
            <a:r>
              <a:rPr lang="en-US" b="1" dirty="0"/>
              <a:t>Probability (likelihood)</a:t>
            </a:r>
            <a:r>
              <a:rPr lang="en-US" dirty="0"/>
              <a:t> of the risk happening</a:t>
            </a:r>
          </a:p>
          <a:p>
            <a:pPr lvl="1"/>
            <a:r>
              <a:rPr lang="en-US" b="1" dirty="0"/>
              <a:t>Impact (severity)</a:t>
            </a:r>
            <a:r>
              <a:rPr lang="en-US" dirty="0"/>
              <a:t> if the risk occurs</a:t>
            </a:r>
          </a:p>
          <a:p>
            <a:r>
              <a:rPr lang="en-US" dirty="0"/>
              <a:t>The risk is </a:t>
            </a:r>
            <a:r>
              <a:rPr lang="en-US" b="1" dirty="0"/>
              <a:t>within the organization’s risk appetite</a:t>
            </a:r>
            <a:r>
              <a:rPr lang="en-US" dirty="0"/>
              <a:t> (i.e., it is considered low enough to tolerate), or</a:t>
            </a:r>
          </a:p>
          <a:p>
            <a:r>
              <a:rPr lang="en-US" dirty="0"/>
              <a:t>The </a:t>
            </a:r>
            <a:r>
              <a:rPr lang="en-US" b="1" dirty="0"/>
              <a:t>cost of implementing a control is higher</a:t>
            </a:r>
            <a:r>
              <a:rPr lang="en-US" dirty="0"/>
              <a:t> than the potential damage the risk may cause.</a:t>
            </a:r>
          </a:p>
          <a:p>
            <a:pPr lvl="1"/>
            <a:endParaRPr lang="en-US" dirty="0"/>
          </a:p>
          <a:p>
            <a:endParaRPr lang="en-IN" dirty="0"/>
          </a:p>
        </p:txBody>
      </p:sp>
    </p:spTree>
    <p:extLst>
      <p:ext uri="{BB962C8B-B14F-4D97-AF65-F5344CB8AC3E}">
        <p14:creationId xmlns:p14="http://schemas.microsoft.com/office/powerpoint/2010/main" val="38880502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userDrawn="1">
  <p:cSld name="TITLE">
    <p:spTree>
      <p:nvGrpSpPr>
        <p:cNvPr id="1" name="Shape 8"/>
        <p:cNvGrpSpPr/>
        <p:nvPr/>
      </p:nvGrpSpPr>
      <p:grpSpPr>
        <a:xfrm>
          <a:off x="0" y="0"/>
          <a:ext cx="0" cy="0"/>
          <a:chOff x="0" y="0"/>
          <a:chExt cx="0" cy="0"/>
        </a:xfrm>
      </p:grpSpPr>
      <p:pic>
        <p:nvPicPr>
          <p:cNvPr id="7" name="Picture 6">
            <a:extLst>
              <a:ext uri="{FF2B5EF4-FFF2-40B4-BE49-F238E27FC236}">
                <a16:creationId xmlns:a16="http://schemas.microsoft.com/office/drawing/2014/main" id="{25B0D7B3-AED4-B036-7EDB-779E6F6668DC}"/>
              </a:ext>
            </a:extLst>
          </p:cNvPr>
          <p:cNvPicPr>
            <a:picLocks noChangeAspect="1"/>
          </p:cNvPicPr>
          <p:nvPr userDrawn="1"/>
        </p:nvPicPr>
        <p:blipFill>
          <a:blip r:embed="rId2">
            <a:alphaModFix amt="20000"/>
          </a:blip>
          <a:stretch>
            <a:fillRect/>
          </a:stretch>
        </p:blipFill>
        <p:spPr>
          <a:xfrm>
            <a:off x="0" y="537210"/>
            <a:ext cx="9144000" cy="4069080"/>
          </a:xfrm>
          <a:prstGeom prst="rect">
            <a:avLst/>
          </a:prstGeom>
        </p:spPr>
      </p:pic>
      <p:pic>
        <p:nvPicPr>
          <p:cNvPr id="9" name="Google Shape;9;p2"/>
          <p:cNvPicPr preferRelativeResize="0"/>
          <p:nvPr userDrawn="1"/>
        </p:nvPicPr>
        <p:blipFill rotWithShape="1">
          <a:blip r:embed="rId3">
            <a:alphaModFix/>
          </a:blip>
          <a:srcRect t="835" b="845"/>
          <a:stretch/>
        </p:blipFill>
        <p:spPr>
          <a:xfrm>
            <a:off x="0" y="0"/>
            <a:ext cx="9143998" cy="5143501"/>
          </a:xfrm>
          <a:prstGeom prst="rect">
            <a:avLst/>
          </a:prstGeom>
          <a:noFill/>
          <a:ln>
            <a:noFill/>
          </a:ln>
        </p:spPr>
      </p:pic>
      <p:grpSp>
        <p:nvGrpSpPr>
          <p:cNvPr id="10" name="Google Shape;10;p2"/>
          <p:cNvGrpSpPr/>
          <p:nvPr/>
        </p:nvGrpSpPr>
        <p:grpSpPr>
          <a:xfrm>
            <a:off x="-396402" y="-536388"/>
            <a:ext cx="9936804" cy="6150201"/>
            <a:chOff x="-396402" y="-536388"/>
            <a:chExt cx="9936804" cy="6150201"/>
          </a:xfrm>
        </p:grpSpPr>
        <p:sp>
          <p:nvSpPr>
            <p:cNvPr id="11" name="Google Shape;11;p2"/>
            <p:cNvSpPr/>
            <p:nvPr/>
          </p:nvSpPr>
          <p:spPr>
            <a:xfrm>
              <a:off x="5188502" y="3870002"/>
              <a:ext cx="4144196" cy="1743811"/>
            </a:xfrm>
            <a:custGeom>
              <a:avLst/>
              <a:gdLst/>
              <a:ahLst/>
              <a:cxnLst/>
              <a:rect l="l" t="t" r="r" b="b"/>
              <a:pathLst>
                <a:path w="67985" h="28607" extrusionOk="0">
                  <a:moveTo>
                    <a:pt x="65362" y="0"/>
                  </a:moveTo>
                  <a:cubicBezTo>
                    <a:pt x="62926" y="0"/>
                    <a:pt x="60336" y="1525"/>
                    <a:pt x="58411" y="3232"/>
                  </a:cubicBezTo>
                  <a:cubicBezTo>
                    <a:pt x="55768" y="5592"/>
                    <a:pt x="53139" y="8519"/>
                    <a:pt x="49600" y="8743"/>
                  </a:cubicBezTo>
                  <a:cubicBezTo>
                    <a:pt x="49451" y="8753"/>
                    <a:pt x="49303" y="8758"/>
                    <a:pt x="49156" y="8758"/>
                  </a:cubicBezTo>
                  <a:cubicBezTo>
                    <a:pt x="45971" y="8758"/>
                    <a:pt x="42955" y="6603"/>
                    <a:pt x="39809" y="6603"/>
                  </a:cubicBezTo>
                  <a:cubicBezTo>
                    <a:pt x="39504" y="6603"/>
                    <a:pt x="39199" y="6623"/>
                    <a:pt x="38891" y="6667"/>
                  </a:cubicBezTo>
                  <a:cubicBezTo>
                    <a:pt x="35755" y="7115"/>
                    <a:pt x="33515" y="9893"/>
                    <a:pt x="30632" y="11178"/>
                  </a:cubicBezTo>
                  <a:cubicBezTo>
                    <a:pt x="29067" y="11873"/>
                    <a:pt x="27423" y="12099"/>
                    <a:pt x="25737" y="12099"/>
                  </a:cubicBezTo>
                  <a:cubicBezTo>
                    <a:pt x="22587" y="12099"/>
                    <a:pt x="19287" y="11309"/>
                    <a:pt x="16067" y="11309"/>
                  </a:cubicBezTo>
                  <a:cubicBezTo>
                    <a:pt x="15568" y="11309"/>
                    <a:pt x="15071" y="11328"/>
                    <a:pt x="14577" y="11372"/>
                  </a:cubicBezTo>
                  <a:cubicBezTo>
                    <a:pt x="6498" y="12074"/>
                    <a:pt x="1" y="20617"/>
                    <a:pt x="1494" y="28607"/>
                  </a:cubicBezTo>
                  <a:lnTo>
                    <a:pt x="66775" y="25650"/>
                  </a:lnTo>
                  <a:lnTo>
                    <a:pt x="67985" y="708"/>
                  </a:lnTo>
                  <a:cubicBezTo>
                    <a:pt x="67160" y="213"/>
                    <a:pt x="66272" y="0"/>
                    <a:pt x="65362"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5397121" y="-536388"/>
              <a:ext cx="4143281" cy="1743445"/>
            </a:xfrm>
            <a:custGeom>
              <a:avLst/>
              <a:gdLst/>
              <a:ahLst/>
              <a:cxnLst/>
              <a:rect l="l" t="t" r="r" b="b"/>
              <a:pathLst>
                <a:path w="67970" h="28601" extrusionOk="0">
                  <a:moveTo>
                    <a:pt x="1479" y="0"/>
                  </a:moveTo>
                  <a:cubicBezTo>
                    <a:pt x="1" y="7976"/>
                    <a:pt x="6482" y="16518"/>
                    <a:pt x="14577" y="17235"/>
                  </a:cubicBezTo>
                  <a:cubicBezTo>
                    <a:pt x="15058" y="17277"/>
                    <a:pt x="15542" y="17295"/>
                    <a:pt x="16027" y="17295"/>
                  </a:cubicBezTo>
                  <a:cubicBezTo>
                    <a:pt x="19245" y="17295"/>
                    <a:pt x="22549" y="16505"/>
                    <a:pt x="25705" y="16505"/>
                  </a:cubicBezTo>
                  <a:cubicBezTo>
                    <a:pt x="27397" y="16505"/>
                    <a:pt x="29046" y="16732"/>
                    <a:pt x="30617" y="17429"/>
                  </a:cubicBezTo>
                  <a:cubicBezTo>
                    <a:pt x="33500" y="18714"/>
                    <a:pt x="35740" y="21492"/>
                    <a:pt x="38876" y="21940"/>
                  </a:cubicBezTo>
                  <a:cubicBezTo>
                    <a:pt x="39182" y="21984"/>
                    <a:pt x="39486" y="22004"/>
                    <a:pt x="39789" y="22004"/>
                  </a:cubicBezTo>
                  <a:cubicBezTo>
                    <a:pt x="42938" y="22004"/>
                    <a:pt x="45956" y="19835"/>
                    <a:pt x="49143" y="19835"/>
                  </a:cubicBezTo>
                  <a:cubicBezTo>
                    <a:pt x="49290" y="19835"/>
                    <a:pt x="49437" y="19839"/>
                    <a:pt x="49584" y="19849"/>
                  </a:cubicBezTo>
                  <a:cubicBezTo>
                    <a:pt x="53124" y="20073"/>
                    <a:pt x="55768" y="23000"/>
                    <a:pt x="58411" y="25360"/>
                  </a:cubicBezTo>
                  <a:cubicBezTo>
                    <a:pt x="60333" y="27075"/>
                    <a:pt x="62909" y="28601"/>
                    <a:pt x="65337" y="28601"/>
                  </a:cubicBezTo>
                  <a:cubicBezTo>
                    <a:pt x="66250" y="28601"/>
                    <a:pt x="67141" y="28385"/>
                    <a:pt x="67969" y="27884"/>
                  </a:cubicBezTo>
                  <a:lnTo>
                    <a:pt x="66760" y="2957"/>
                  </a:lnTo>
                  <a:lnTo>
                    <a:pt x="1479" y="0"/>
                  </a:ln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396402" y="-536388"/>
              <a:ext cx="4144196" cy="1743445"/>
            </a:xfrm>
            <a:custGeom>
              <a:avLst/>
              <a:gdLst/>
              <a:ahLst/>
              <a:cxnLst/>
              <a:rect l="l" t="t" r="r" b="b"/>
              <a:pathLst>
                <a:path w="67985" h="28601" extrusionOk="0">
                  <a:moveTo>
                    <a:pt x="66491" y="0"/>
                  </a:moveTo>
                  <a:lnTo>
                    <a:pt x="1210" y="2958"/>
                  </a:lnTo>
                  <a:lnTo>
                    <a:pt x="1" y="27884"/>
                  </a:lnTo>
                  <a:cubicBezTo>
                    <a:pt x="829" y="28386"/>
                    <a:pt x="1721" y="28601"/>
                    <a:pt x="2635" y="28601"/>
                  </a:cubicBezTo>
                  <a:cubicBezTo>
                    <a:pt x="5068" y="28601"/>
                    <a:pt x="7652" y="27075"/>
                    <a:pt x="9574" y="25360"/>
                  </a:cubicBezTo>
                  <a:cubicBezTo>
                    <a:pt x="12217" y="23015"/>
                    <a:pt x="14846" y="20073"/>
                    <a:pt x="18386" y="19849"/>
                  </a:cubicBezTo>
                  <a:cubicBezTo>
                    <a:pt x="18525" y="19840"/>
                    <a:pt x="18664" y="19836"/>
                    <a:pt x="18803" y="19836"/>
                  </a:cubicBezTo>
                  <a:cubicBezTo>
                    <a:pt x="21997" y="19836"/>
                    <a:pt x="25021" y="22004"/>
                    <a:pt x="28177" y="22004"/>
                  </a:cubicBezTo>
                  <a:cubicBezTo>
                    <a:pt x="28481" y="22004"/>
                    <a:pt x="28787" y="21984"/>
                    <a:pt x="29094" y="21940"/>
                  </a:cubicBezTo>
                  <a:cubicBezTo>
                    <a:pt x="32230" y="21492"/>
                    <a:pt x="34470" y="18714"/>
                    <a:pt x="37353" y="17429"/>
                  </a:cubicBezTo>
                  <a:cubicBezTo>
                    <a:pt x="38924" y="16732"/>
                    <a:pt x="40573" y="16505"/>
                    <a:pt x="42266" y="16505"/>
                  </a:cubicBezTo>
                  <a:cubicBezTo>
                    <a:pt x="45422" y="16505"/>
                    <a:pt x="48729" y="17295"/>
                    <a:pt x="51954" y="17295"/>
                  </a:cubicBezTo>
                  <a:cubicBezTo>
                    <a:pt x="52441" y="17295"/>
                    <a:pt x="52926" y="17277"/>
                    <a:pt x="53408" y="17235"/>
                  </a:cubicBezTo>
                  <a:cubicBezTo>
                    <a:pt x="61488" y="16518"/>
                    <a:pt x="67984" y="7991"/>
                    <a:pt x="66491"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484975" y="-235697"/>
            <a:ext cx="8659031" cy="2471548"/>
            <a:chOff x="484975" y="-235697"/>
            <a:chExt cx="8659031" cy="2471548"/>
          </a:xfrm>
        </p:grpSpPr>
        <p:sp>
          <p:nvSpPr>
            <p:cNvPr id="15" name="Google Shape;15;p2"/>
            <p:cNvSpPr/>
            <p:nvPr/>
          </p:nvSpPr>
          <p:spPr>
            <a:xfrm>
              <a:off x="484975" y="599300"/>
              <a:ext cx="228254" cy="228296"/>
            </a:xfrm>
            <a:custGeom>
              <a:avLst/>
              <a:gdLst/>
              <a:ahLst/>
              <a:cxnLst/>
              <a:rect l="l" t="t" r="r" b="b"/>
              <a:pathLst>
                <a:path w="3719" h="3720" fill="none" extrusionOk="0">
                  <a:moveTo>
                    <a:pt x="0" y="1867"/>
                  </a:moveTo>
                  <a:cubicBezTo>
                    <a:pt x="1195" y="2226"/>
                    <a:pt x="1494" y="2509"/>
                    <a:pt x="1852" y="3719"/>
                  </a:cubicBezTo>
                  <a:cubicBezTo>
                    <a:pt x="2211" y="2509"/>
                    <a:pt x="2509" y="2226"/>
                    <a:pt x="3719" y="1867"/>
                  </a:cubicBezTo>
                  <a:cubicBezTo>
                    <a:pt x="2509" y="1494"/>
                    <a:pt x="2211" y="1210"/>
                    <a:pt x="1852" y="0"/>
                  </a:cubicBezTo>
                  <a:cubicBezTo>
                    <a:pt x="1494" y="1210"/>
                    <a:pt x="1195" y="1494"/>
                    <a:pt x="0" y="1867"/>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922903">
              <a:off x="7087076" y="239811"/>
              <a:ext cx="2267335" cy="1520533"/>
            </a:xfrm>
            <a:custGeom>
              <a:avLst/>
              <a:gdLst/>
              <a:ahLst/>
              <a:cxnLst/>
              <a:rect l="l" t="t" r="r" b="b"/>
              <a:pathLst>
                <a:path w="62892" h="42177" fill="none" extrusionOk="0">
                  <a:moveTo>
                    <a:pt x="1" y="42176"/>
                  </a:moveTo>
                  <a:cubicBezTo>
                    <a:pt x="1838" y="37352"/>
                    <a:pt x="3675" y="32513"/>
                    <a:pt x="6273" y="28078"/>
                  </a:cubicBezTo>
                  <a:cubicBezTo>
                    <a:pt x="8887" y="23627"/>
                    <a:pt x="12337" y="19565"/>
                    <a:pt x="16773" y="16966"/>
                  </a:cubicBezTo>
                  <a:cubicBezTo>
                    <a:pt x="19401" y="15413"/>
                    <a:pt x="23000" y="14487"/>
                    <a:pt x="25345" y="16443"/>
                  </a:cubicBezTo>
                  <a:cubicBezTo>
                    <a:pt x="27571" y="18295"/>
                    <a:pt x="27451" y="21925"/>
                    <a:pt x="25928" y="24389"/>
                  </a:cubicBezTo>
                  <a:cubicBezTo>
                    <a:pt x="24584" y="26554"/>
                    <a:pt x="21522" y="28137"/>
                    <a:pt x="19536" y="26539"/>
                  </a:cubicBezTo>
                  <a:cubicBezTo>
                    <a:pt x="17594" y="24956"/>
                    <a:pt x="18430" y="21686"/>
                    <a:pt x="20208" y="19923"/>
                  </a:cubicBezTo>
                  <a:cubicBezTo>
                    <a:pt x="22836" y="17295"/>
                    <a:pt x="26824" y="16518"/>
                    <a:pt x="30543" y="16533"/>
                  </a:cubicBezTo>
                  <a:cubicBezTo>
                    <a:pt x="34276" y="16563"/>
                    <a:pt x="37980" y="17265"/>
                    <a:pt x="41699" y="17071"/>
                  </a:cubicBezTo>
                  <a:cubicBezTo>
                    <a:pt x="51377" y="16563"/>
                    <a:pt x="60338" y="9349"/>
                    <a:pt x="62892" y="0"/>
                  </a:cubicBezTo>
                </a:path>
              </a:pathLst>
            </a:custGeom>
            <a:noFill/>
            <a:ln w="19050"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txBox="1">
            <a:spLocks noGrp="1"/>
          </p:cNvSpPr>
          <p:nvPr>
            <p:ph type="ctrTitle"/>
          </p:nvPr>
        </p:nvSpPr>
        <p:spPr>
          <a:xfrm>
            <a:off x="1123200" y="1378950"/>
            <a:ext cx="6745200" cy="1483529"/>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pic>
        <p:nvPicPr>
          <p:cNvPr id="15" name="Picture 14">
            <a:extLst>
              <a:ext uri="{FF2B5EF4-FFF2-40B4-BE49-F238E27FC236}">
                <a16:creationId xmlns:a16="http://schemas.microsoft.com/office/drawing/2014/main" id="{4F9C8F8E-AE77-AEEA-2CC5-72BF2EB24B28}"/>
              </a:ext>
            </a:extLst>
          </p:cNvPr>
          <p:cNvPicPr>
            <a:picLocks noChangeAspect="1"/>
          </p:cNvPicPr>
          <p:nvPr userDrawn="1"/>
        </p:nvPicPr>
        <p:blipFill>
          <a:blip r:embed="rId2"/>
          <a:stretch>
            <a:fillRect/>
          </a:stretch>
        </p:blipFill>
        <p:spPr>
          <a:xfrm>
            <a:off x="8011329" y="40875"/>
            <a:ext cx="1120619" cy="498675"/>
          </a:xfrm>
          <a:prstGeom prst="rect">
            <a:avLst/>
          </a:prstGeom>
        </p:spPr>
      </p:pic>
      <p:pic>
        <p:nvPicPr>
          <p:cNvPr id="3" name="Picture 2">
            <a:extLst>
              <a:ext uri="{FF2B5EF4-FFF2-40B4-BE49-F238E27FC236}">
                <a16:creationId xmlns:a16="http://schemas.microsoft.com/office/drawing/2014/main" id="{B1EB6C48-3B3E-9388-9F86-BEA01E2BBC6F}"/>
              </a:ext>
            </a:extLst>
          </p:cNvPr>
          <p:cNvPicPr>
            <a:picLocks noChangeAspect="1"/>
          </p:cNvPicPr>
          <p:nvPr userDrawn="1"/>
        </p:nvPicPr>
        <p:blipFill>
          <a:blip r:embed="rId3"/>
          <a:stretch>
            <a:fillRect/>
          </a:stretch>
        </p:blipFill>
        <p:spPr>
          <a:xfrm>
            <a:off x="7665667" y="4495799"/>
            <a:ext cx="1554058" cy="604529"/>
          </a:xfrm>
          <a:prstGeom prst="rect">
            <a:avLst/>
          </a:prstGeom>
        </p:spPr>
      </p:pic>
      <p:pic>
        <p:nvPicPr>
          <p:cNvPr id="25" name="Google Shape;25;p4"/>
          <p:cNvPicPr preferRelativeResize="0"/>
          <p:nvPr userDrawn="1"/>
        </p:nvPicPr>
        <p:blipFill>
          <a:blip r:embed="rId4">
            <a:alphaModFix/>
          </a:blip>
          <a:stretch>
            <a:fillRect/>
          </a:stretch>
        </p:blipFill>
        <p:spPr>
          <a:xfrm>
            <a:off x="0" y="-43885"/>
            <a:ext cx="9143998" cy="5231259"/>
          </a:xfrm>
          <a:prstGeom prst="rect">
            <a:avLst/>
          </a:prstGeom>
          <a:noFill/>
          <a:ln>
            <a:noFill/>
          </a:ln>
        </p:spPr>
      </p:pic>
      <p:sp>
        <p:nvSpPr>
          <p:cNvPr id="26" name="Google Shape;26;p4"/>
          <p:cNvSpPr/>
          <p:nvPr/>
        </p:nvSpPr>
        <p:spPr>
          <a:xfrm flipH="1">
            <a:off x="6962775" y="3809999"/>
            <a:ext cx="2421038" cy="1514747"/>
          </a:xfrm>
          <a:custGeom>
            <a:avLst/>
            <a:gdLst/>
            <a:ahLst/>
            <a:cxnLst/>
            <a:rect l="l" t="t" r="r" b="b"/>
            <a:pathLst>
              <a:path w="67985" h="28608" extrusionOk="0">
                <a:moveTo>
                  <a:pt x="2624" y="0"/>
                </a:moveTo>
                <a:cubicBezTo>
                  <a:pt x="1714" y="0"/>
                  <a:pt x="825" y="213"/>
                  <a:pt x="1" y="709"/>
                </a:cubicBezTo>
                <a:lnTo>
                  <a:pt x="1225" y="25635"/>
                </a:lnTo>
                <a:lnTo>
                  <a:pt x="66491" y="28607"/>
                </a:lnTo>
                <a:cubicBezTo>
                  <a:pt x="67984" y="20617"/>
                  <a:pt x="61488" y="12074"/>
                  <a:pt x="53408" y="11372"/>
                </a:cubicBezTo>
                <a:cubicBezTo>
                  <a:pt x="52914" y="11328"/>
                  <a:pt x="52417" y="11309"/>
                  <a:pt x="51918" y="11309"/>
                </a:cubicBezTo>
                <a:cubicBezTo>
                  <a:pt x="48698" y="11309"/>
                  <a:pt x="45399" y="12100"/>
                  <a:pt x="42248" y="12100"/>
                </a:cubicBezTo>
                <a:cubicBezTo>
                  <a:pt x="40562" y="12100"/>
                  <a:pt x="38919" y="11873"/>
                  <a:pt x="37353" y="11178"/>
                </a:cubicBezTo>
                <a:cubicBezTo>
                  <a:pt x="34471" y="9894"/>
                  <a:pt x="32230" y="7116"/>
                  <a:pt x="29094" y="6668"/>
                </a:cubicBezTo>
                <a:cubicBezTo>
                  <a:pt x="28787" y="6623"/>
                  <a:pt x="28481" y="6603"/>
                  <a:pt x="28177" y="6603"/>
                </a:cubicBezTo>
                <a:cubicBezTo>
                  <a:pt x="25030" y="6603"/>
                  <a:pt x="22014" y="8758"/>
                  <a:pt x="18830" y="8758"/>
                </a:cubicBezTo>
                <a:cubicBezTo>
                  <a:pt x="18682" y="8758"/>
                  <a:pt x="18534" y="8753"/>
                  <a:pt x="18386" y="8744"/>
                </a:cubicBezTo>
                <a:cubicBezTo>
                  <a:pt x="14846" y="8520"/>
                  <a:pt x="12217" y="5592"/>
                  <a:pt x="9574" y="3233"/>
                </a:cubicBezTo>
                <a:cubicBezTo>
                  <a:pt x="7649" y="1525"/>
                  <a:pt x="5060" y="0"/>
                  <a:pt x="2624"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b="1">
                <a:solidFill>
                  <a:srgbClr val="002060"/>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dirty="0"/>
          </a:p>
        </p:txBody>
      </p:sp>
      <p:sp>
        <p:nvSpPr>
          <p:cNvPr id="29" name="Google Shape;29;p4"/>
          <p:cNvSpPr txBox="1">
            <a:spLocks noGrp="1"/>
          </p:cNvSpPr>
          <p:nvPr>
            <p:ph type="body" idx="1"/>
          </p:nvPr>
        </p:nvSpPr>
        <p:spPr>
          <a:xfrm>
            <a:off x="720000" y="1215750"/>
            <a:ext cx="7704000" cy="3388200"/>
          </a:xfrm>
          <a:prstGeom prst="rect">
            <a:avLst/>
          </a:prstGeom>
        </p:spPr>
        <p:txBody>
          <a:bodyPr spcFirstLastPara="1" wrap="square" lIns="91425" tIns="91425" rIns="91425" bIns="91425" anchor="t" anchorCtr="0">
            <a:noAutofit/>
          </a:bodyPr>
          <a:lstStyle>
            <a:lvl1pPr marL="139700" lvl="0" indent="0" algn="just" rtl="0">
              <a:spcBef>
                <a:spcPts val="0"/>
              </a:spcBef>
              <a:spcAft>
                <a:spcPts val="0"/>
              </a:spcAft>
              <a:buClr>
                <a:schemeClr val="accent1"/>
              </a:buClr>
              <a:buSzPts val="1400"/>
              <a:buFont typeface="Arial" panose="020B0604020202020204" pitchFamily="34" charset="0"/>
              <a:buNone/>
              <a:defRPr sz="1600">
                <a:latin typeface="Times New Roman" panose="02020603050405020304" pitchFamily="18" charset="0"/>
                <a:cs typeface="Times New Roman" panose="02020603050405020304" pitchFamily="18" charset="0"/>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dirty="0"/>
          </a:p>
        </p:txBody>
      </p:sp>
      <p:pic>
        <p:nvPicPr>
          <p:cNvPr id="9" name="Picture 8">
            <a:extLst>
              <a:ext uri="{FF2B5EF4-FFF2-40B4-BE49-F238E27FC236}">
                <a16:creationId xmlns:a16="http://schemas.microsoft.com/office/drawing/2014/main" id="{E4287DB7-C23A-B648-E690-BF9613457D2E}"/>
              </a:ext>
            </a:extLst>
          </p:cNvPr>
          <p:cNvPicPr>
            <a:picLocks noChangeAspect="1"/>
          </p:cNvPicPr>
          <p:nvPr userDrawn="1"/>
        </p:nvPicPr>
        <p:blipFill>
          <a:blip r:embed="rId5"/>
          <a:stretch>
            <a:fillRect/>
          </a:stretch>
        </p:blipFill>
        <p:spPr>
          <a:xfrm>
            <a:off x="7200891" y="-181258"/>
            <a:ext cx="2143141" cy="130969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reserve="1" userDrawn="1">
  <p:cSld name="1_Title and body">
    <p:spTree>
      <p:nvGrpSpPr>
        <p:cNvPr id="1" name="Shape 24"/>
        <p:cNvGrpSpPr/>
        <p:nvPr/>
      </p:nvGrpSpPr>
      <p:grpSpPr>
        <a:xfrm>
          <a:off x="0" y="0"/>
          <a:ext cx="0" cy="0"/>
          <a:chOff x="0" y="0"/>
          <a:chExt cx="0" cy="0"/>
        </a:xfrm>
      </p:grpSpPr>
      <p:pic>
        <p:nvPicPr>
          <p:cNvPr id="15" name="Picture 14">
            <a:extLst>
              <a:ext uri="{FF2B5EF4-FFF2-40B4-BE49-F238E27FC236}">
                <a16:creationId xmlns:a16="http://schemas.microsoft.com/office/drawing/2014/main" id="{4F9C8F8E-AE77-AEEA-2CC5-72BF2EB24B28}"/>
              </a:ext>
            </a:extLst>
          </p:cNvPr>
          <p:cNvPicPr>
            <a:picLocks noChangeAspect="1"/>
          </p:cNvPicPr>
          <p:nvPr userDrawn="1"/>
        </p:nvPicPr>
        <p:blipFill>
          <a:blip r:embed="rId2"/>
          <a:stretch>
            <a:fillRect/>
          </a:stretch>
        </p:blipFill>
        <p:spPr>
          <a:xfrm>
            <a:off x="8011329" y="40875"/>
            <a:ext cx="1120619" cy="498675"/>
          </a:xfrm>
          <a:prstGeom prst="rect">
            <a:avLst/>
          </a:prstGeom>
        </p:spPr>
      </p:pic>
      <p:pic>
        <p:nvPicPr>
          <p:cNvPr id="3" name="Picture 2">
            <a:extLst>
              <a:ext uri="{FF2B5EF4-FFF2-40B4-BE49-F238E27FC236}">
                <a16:creationId xmlns:a16="http://schemas.microsoft.com/office/drawing/2014/main" id="{B1EB6C48-3B3E-9388-9F86-BEA01E2BBC6F}"/>
              </a:ext>
            </a:extLst>
          </p:cNvPr>
          <p:cNvPicPr>
            <a:picLocks noChangeAspect="1"/>
          </p:cNvPicPr>
          <p:nvPr userDrawn="1"/>
        </p:nvPicPr>
        <p:blipFill>
          <a:blip r:embed="rId3"/>
          <a:stretch>
            <a:fillRect/>
          </a:stretch>
        </p:blipFill>
        <p:spPr>
          <a:xfrm>
            <a:off x="7665667" y="4495799"/>
            <a:ext cx="1554058" cy="604529"/>
          </a:xfrm>
          <a:prstGeom prst="rect">
            <a:avLst/>
          </a:prstGeom>
        </p:spPr>
      </p:pic>
      <p:pic>
        <p:nvPicPr>
          <p:cNvPr id="25" name="Google Shape;25;p4"/>
          <p:cNvPicPr preferRelativeResize="0"/>
          <p:nvPr userDrawn="1"/>
        </p:nvPicPr>
        <p:blipFill>
          <a:blip r:embed="rId4">
            <a:alphaModFix/>
          </a:blip>
          <a:stretch>
            <a:fillRect/>
          </a:stretch>
        </p:blipFill>
        <p:spPr>
          <a:xfrm>
            <a:off x="0" y="-43885"/>
            <a:ext cx="9143998" cy="5231259"/>
          </a:xfrm>
          <a:prstGeom prst="rect">
            <a:avLst/>
          </a:prstGeom>
          <a:noFill/>
          <a:ln>
            <a:noFill/>
          </a:ln>
        </p:spPr>
      </p:pic>
      <p:sp>
        <p:nvSpPr>
          <p:cNvPr id="26" name="Google Shape;26;p4"/>
          <p:cNvSpPr/>
          <p:nvPr/>
        </p:nvSpPr>
        <p:spPr>
          <a:xfrm flipH="1">
            <a:off x="6962775" y="3809999"/>
            <a:ext cx="2421038" cy="1514747"/>
          </a:xfrm>
          <a:custGeom>
            <a:avLst/>
            <a:gdLst/>
            <a:ahLst/>
            <a:cxnLst/>
            <a:rect l="l" t="t" r="r" b="b"/>
            <a:pathLst>
              <a:path w="67985" h="28608" extrusionOk="0">
                <a:moveTo>
                  <a:pt x="2624" y="0"/>
                </a:moveTo>
                <a:cubicBezTo>
                  <a:pt x="1714" y="0"/>
                  <a:pt x="825" y="213"/>
                  <a:pt x="1" y="709"/>
                </a:cubicBezTo>
                <a:lnTo>
                  <a:pt x="1225" y="25635"/>
                </a:lnTo>
                <a:lnTo>
                  <a:pt x="66491" y="28607"/>
                </a:lnTo>
                <a:cubicBezTo>
                  <a:pt x="67984" y="20617"/>
                  <a:pt x="61488" y="12074"/>
                  <a:pt x="53408" y="11372"/>
                </a:cubicBezTo>
                <a:cubicBezTo>
                  <a:pt x="52914" y="11328"/>
                  <a:pt x="52417" y="11309"/>
                  <a:pt x="51918" y="11309"/>
                </a:cubicBezTo>
                <a:cubicBezTo>
                  <a:pt x="48698" y="11309"/>
                  <a:pt x="45399" y="12100"/>
                  <a:pt x="42248" y="12100"/>
                </a:cubicBezTo>
                <a:cubicBezTo>
                  <a:pt x="40562" y="12100"/>
                  <a:pt x="38919" y="11873"/>
                  <a:pt x="37353" y="11178"/>
                </a:cubicBezTo>
                <a:cubicBezTo>
                  <a:pt x="34471" y="9894"/>
                  <a:pt x="32230" y="7116"/>
                  <a:pt x="29094" y="6668"/>
                </a:cubicBezTo>
                <a:cubicBezTo>
                  <a:pt x="28787" y="6623"/>
                  <a:pt x="28481" y="6603"/>
                  <a:pt x="28177" y="6603"/>
                </a:cubicBezTo>
                <a:cubicBezTo>
                  <a:pt x="25030" y="6603"/>
                  <a:pt x="22014" y="8758"/>
                  <a:pt x="18830" y="8758"/>
                </a:cubicBezTo>
                <a:cubicBezTo>
                  <a:pt x="18682" y="8758"/>
                  <a:pt x="18534" y="8753"/>
                  <a:pt x="18386" y="8744"/>
                </a:cubicBezTo>
                <a:cubicBezTo>
                  <a:pt x="14846" y="8520"/>
                  <a:pt x="12217" y="5592"/>
                  <a:pt x="9574" y="3233"/>
                </a:cubicBezTo>
                <a:cubicBezTo>
                  <a:pt x="7649" y="1525"/>
                  <a:pt x="5060" y="0"/>
                  <a:pt x="2624"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9" name="Picture 8">
            <a:extLst>
              <a:ext uri="{FF2B5EF4-FFF2-40B4-BE49-F238E27FC236}">
                <a16:creationId xmlns:a16="http://schemas.microsoft.com/office/drawing/2014/main" id="{E4287DB7-C23A-B648-E690-BF9613457D2E}"/>
              </a:ext>
            </a:extLst>
          </p:cNvPr>
          <p:cNvPicPr>
            <a:picLocks noChangeAspect="1"/>
          </p:cNvPicPr>
          <p:nvPr userDrawn="1"/>
        </p:nvPicPr>
        <p:blipFill>
          <a:blip r:embed="rId5"/>
          <a:stretch>
            <a:fillRect/>
          </a:stretch>
        </p:blipFill>
        <p:spPr>
          <a:xfrm>
            <a:off x="7200891" y="-181258"/>
            <a:ext cx="2143141" cy="1309697"/>
          </a:xfrm>
          <a:prstGeom prst="rect">
            <a:avLst/>
          </a:prstGeom>
        </p:spPr>
      </p:pic>
    </p:spTree>
    <p:extLst>
      <p:ext uri="{BB962C8B-B14F-4D97-AF65-F5344CB8AC3E}">
        <p14:creationId xmlns:p14="http://schemas.microsoft.com/office/powerpoint/2010/main" val="4132789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a:spLocks noGrp="1"/>
          </p:cNvSpPr>
          <p:nvPr>
            <p:ph type="pic" idx="2"/>
          </p:nvPr>
        </p:nvSpPr>
        <p:spPr>
          <a:xfrm>
            <a:off x="-25" y="-13725"/>
            <a:ext cx="9144000" cy="5157300"/>
          </a:xfrm>
          <a:prstGeom prst="rect">
            <a:avLst/>
          </a:prstGeom>
          <a:noFill/>
          <a:ln>
            <a:noFill/>
          </a:ln>
        </p:spPr>
      </p:sp>
      <p:sp>
        <p:nvSpPr>
          <p:cNvPr id="56" name="Google Shape;56;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pic>
        <p:nvPicPr>
          <p:cNvPr id="58" name="Google Shape;58;p11"/>
          <p:cNvPicPr preferRelativeResize="0"/>
          <p:nvPr/>
        </p:nvPicPr>
        <p:blipFill>
          <a:blip r:embed="rId2">
            <a:alphaModFix/>
          </a:blip>
          <a:stretch>
            <a:fillRect/>
          </a:stretch>
        </p:blipFill>
        <p:spPr>
          <a:xfrm>
            <a:off x="0" y="-43885"/>
            <a:ext cx="9143998" cy="5231259"/>
          </a:xfrm>
          <a:prstGeom prst="rect">
            <a:avLst/>
          </a:prstGeom>
          <a:noFill/>
          <a:ln>
            <a:noFill/>
          </a:ln>
        </p:spPr>
      </p:pic>
      <p:sp>
        <p:nvSpPr>
          <p:cNvPr id="59" name="Google Shape;59;p11"/>
          <p:cNvSpPr/>
          <p:nvPr/>
        </p:nvSpPr>
        <p:spPr>
          <a:xfrm>
            <a:off x="5188502" y="3870002"/>
            <a:ext cx="4144196" cy="1743811"/>
          </a:xfrm>
          <a:custGeom>
            <a:avLst/>
            <a:gdLst/>
            <a:ahLst/>
            <a:cxnLst/>
            <a:rect l="l" t="t" r="r" b="b"/>
            <a:pathLst>
              <a:path w="67985" h="28607" extrusionOk="0">
                <a:moveTo>
                  <a:pt x="65362" y="0"/>
                </a:moveTo>
                <a:cubicBezTo>
                  <a:pt x="62926" y="0"/>
                  <a:pt x="60336" y="1525"/>
                  <a:pt x="58411" y="3232"/>
                </a:cubicBezTo>
                <a:cubicBezTo>
                  <a:pt x="55768" y="5592"/>
                  <a:pt x="53139" y="8519"/>
                  <a:pt x="49600" y="8743"/>
                </a:cubicBezTo>
                <a:cubicBezTo>
                  <a:pt x="49451" y="8753"/>
                  <a:pt x="49303" y="8758"/>
                  <a:pt x="49156" y="8758"/>
                </a:cubicBezTo>
                <a:cubicBezTo>
                  <a:pt x="45971" y="8758"/>
                  <a:pt x="42955" y="6603"/>
                  <a:pt x="39809" y="6603"/>
                </a:cubicBezTo>
                <a:cubicBezTo>
                  <a:pt x="39504" y="6603"/>
                  <a:pt x="39199" y="6623"/>
                  <a:pt x="38891" y="6667"/>
                </a:cubicBezTo>
                <a:cubicBezTo>
                  <a:pt x="35755" y="7115"/>
                  <a:pt x="33515" y="9893"/>
                  <a:pt x="30632" y="11178"/>
                </a:cubicBezTo>
                <a:cubicBezTo>
                  <a:pt x="29067" y="11873"/>
                  <a:pt x="27423" y="12099"/>
                  <a:pt x="25737" y="12099"/>
                </a:cubicBezTo>
                <a:cubicBezTo>
                  <a:pt x="22587" y="12099"/>
                  <a:pt x="19287" y="11309"/>
                  <a:pt x="16067" y="11309"/>
                </a:cubicBezTo>
                <a:cubicBezTo>
                  <a:pt x="15568" y="11309"/>
                  <a:pt x="15071" y="11328"/>
                  <a:pt x="14577" y="11372"/>
                </a:cubicBezTo>
                <a:cubicBezTo>
                  <a:pt x="6498" y="12074"/>
                  <a:pt x="1" y="20617"/>
                  <a:pt x="1494" y="28607"/>
                </a:cubicBezTo>
                <a:lnTo>
                  <a:pt x="66775" y="25650"/>
                </a:lnTo>
                <a:lnTo>
                  <a:pt x="67985" y="708"/>
                </a:lnTo>
                <a:cubicBezTo>
                  <a:pt x="67160" y="213"/>
                  <a:pt x="66272" y="0"/>
                  <a:pt x="65362"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1"/>
          <p:cNvSpPr txBox="1">
            <a:spLocks noGrp="1"/>
          </p:cNvSpPr>
          <p:nvPr>
            <p:ph type="title" hasCustomPrompt="1"/>
          </p:nvPr>
        </p:nvSpPr>
        <p:spPr>
          <a:xfrm>
            <a:off x="1284000" y="1057549"/>
            <a:ext cx="6576000" cy="17163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2774099"/>
            <a:ext cx="6576000" cy="497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2"/>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
        <p:cNvGrpSpPr/>
        <p:nvPr/>
      </p:nvGrpSpPr>
      <p:grpSpPr>
        <a:xfrm>
          <a:off x="0" y="0"/>
          <a:ext cx="0" cy="0"/>
          <a:chOff x="0" y="0"/>
          <a:chExt cx="0" cy="0"/>
        </a:xfrm>
      </p:grpSpPr>
      <p:pic>
        <p:nvPicPr>
          <p:cNvPr id="134" name="Google Shape;134;p22"/>
          <p:cNvPicPr preferRelativeResize="0"/>
          <p:nvPr/>
        </p:nvPicPr>
        <p:blipFill>
          <a:blip r:embed="rId2">
            <a:alphaModFix/>
          </a:blip>
          <a:stretch>
            <a:fillRect/>
          </a:stretch>
        </p:blipFill>
        <p:spPr>
          <a:xfrm>
            <a:off x="0" y="-43885"/>
            <a:ext cx="9143998" cy="5231259"/>
          </a:xfrm>
          <a:prstGeom prst="rect">
            <a:avLst/>
          </a:prstGeom>
          <a:noFill/>
          <a:ln>
            <a:noFill/>
          </a:ln>
        </p:spPr>
      </p:pic>
      <p:sp>
        <p:nvSpPr>
          <p:cNvPr id="135" name="Google Shape;135;p22"/>
          <p:cNvSpPr/>
          <p:nvPr/>
        </p:nvSpPr>
        <p:spPr>
          <a:xfrm flipH="1">
            <a:off x="5151255" y="3819000"/>
            <a:ext cx="4144196" cy="1743872"/>
          </a:xfrm>
          <a:custGeom>
            <a:avLst/>
            <a:gdLst/>
            <a:ahLst/>
            <a:cxnLst/>
            <a:rect l="l" t="t" r="r" b="b"/>
            <a:pathLst>
              <a:path w="67985" h="28608" extrusionOk="0">
                <a:moveTo>
                  <a:pt x="2624" y="0"/>
                </a:moveTo>
                <a:cubicBezTo>
                  <a:pt x="1714" y="0"/>
                  <a:pt x="825" y="213"/>
                  <a:pt x="1" y="709"/>
                </a:cubicBezTo>
                <a:lnTo>
                  <a:pt x="1225" y="25635"/>
                </a:lnTo>
                <a:lnTo>
                  <a:pt x="66491" y="28607"/>
                </a:lnTo>
                <a:cubicBezTo>
                  <a:pt x="67984" y="20617"/>
                  <a:pt x="61488" y="12074"/>
                  <a:pt x="53408" y="11372"/>
                </a:cubicBezTo>
                <a:cubicBezTo>
                  <a:pt x="52914" y="11328"/>
                  <a:pt x="52417" y="11309"/>
                  <a:pt x="51918" y="11309"/>
                </a:cubicBezTo>
                <a:cubicBezTo>
                  <a:pt x="48698" y="11309"/>
                  <a:pt x="45399" y="12100"/>
                  <a:pt x="42248" y="12100"/>
                </a:cubicBezTo>
                <a:cubicBezTo>
                  <a:pt x="40562" y="12100"/>
                  <a:pt x="38919" y="11873"/>
                  <a:pt x="37353" y="11178"/>
                </a:cubicBezTo>
                <a:cubicBezTo>
                  <a:pt x="34471" y="9894"/>
                  <a:pt x="32230" y="7116"/>
                  <a:pt x="29094" y="6668"/>
                </a:cubicBezTo>
                <a:cubicBezTo>
                  <a:pt x="28787" y="6623"/>
                  <a:pt x="28481" y="6603"/>
                  <a:pt x="28177" y="6603"/>
                </a:cubicBezTo>
                <a:cubicBezTo>
                  <a:pt x="25030" y="6603"/>
                  <a:pt x="22014" y="8758"/>
                  <a:pt x="18830" y="8758"/>
                </a:cubicBezTo>
                <a:cubicBezTo>
                  <a:pt x="18682" y="8758"/>
                  <a:pt x="18534" y="8753"/>
                  <a:pt x="18386" y="8744"/>
                </a:cubicBezTo>
                <a:cubicBezTo>
                  <a:pt x="14846" y="8520"/>
                  <a:pt x="12217" y="5592"/>
                  <a:pt x="9574" y="3233"/>
                </a:cubicBezTo>
                <a:cubicBezTo>
                  <a:pt x="7649" y="1525"/>
                  <a:pt x="5060" y="0"/>
                  <a:pt x="2624"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 name="Google Shape;136;p22"/>
          <p:cNvGrpSpPr/>
          <p:nvPr/>
        </p:nvGrpSpPr>
        <p:grpSpPr>
          <a:xfrm>
            <a:off x="-291571" y="297125"/>
            <a:ext cx="9216725" cy="5076680"/>
            <a:chOff x="-291571" y="297125"/>
            <a:chExt cx="9216725" cy="5076680"/>
          </a:xfrm>
        </p:grpSpPr>
        <p:sp>
          <p:nvSpPr>
            <p:cNvPr id="137" name="Google Shape;137;p22"/>
            <p:cNvSpPr/>
            <p:nvPr/>
          </p:nvSpPr>
          <p:spPr>
            <a:xfrm rot="-10558294" flipH="1">
              <a:off x="-240965" y="3775604"/>
              <a:ext cx="2267198" cy="1520441"/>
            </a:xfrm>
            <a:custGeom>
              <a:avLst/>
              <a:gdLst/>
              <a:ahLst/>
              <a:cxnLst/>
              <a:rect l="l" t="t" r="r" b="b"/>
              <a:pathLst>
                <a:path w="62892" h="42177" fill="none" extrusionOk="0">
                  <a:moveTo>
                    <a:pt x="1" y="42176"/>
                  </a:moveTo>
                  <a:cubicBezTo>
                    <a:pt x="1838" y="37352"/>
                    <a:pt x="3675" y="32513"/>
                    <a:pt x="6273" y="28078"/>
                  </a:cubicBezTo>
                  <a:cubicBezTo>
                    <a:pt x="8887" y="23627"/>
                    <a:pt x="12337" y="19565"/>
                    <a:pt x="16773" y="16966"/>
                  </a:cubicBezTo>
                  <a:cubicBezTo>
                    <a:pt x="19401" y="15413"/>
                    <a:pt x="23000" y="14487"/>
                    <a:pt x="25345" y="16443"/>
                  </a:cubicBezTo>
                  <a:cubicBezTo>
                    <a:pt x="27571" y="18295"/>
                    <a:pt x="27451" y="21925"/>
                    <a:pt x="25928" y="24389"/>
                  </a:cubicBezTo>
                  <a:cubicBezTo>
                    <a:pt x="24584" y="26554"/>
                    <a:pt x="21522" y="28137"/>
                    <a:pt x="19536" y="26539"/>
                  </a:cubicBezTo>
                  <a:cubicBezTo>
                    <a:pt x="17594" y="24956"/>
                    <a:pt x="18430" y="21686"/>
                    <a:pt x="20208" y="19923"/>
                  </a:cubicBezTo>
                  <a:cubicBezTo>
                    <a:pt x="22836" y="17295"/>
                    <a:pt x="26824" y="16518"/>
                    <a:pt x="30543" y="16533"/>
                  </a:cubicBezTo>
                  <a:cubicBezTo>
                    <a:pt x="34276" y="16563"/>
                    <a:pt x="37980" y="17265"/>
                    <a:pt x="41699" y="17071"/>
                  </a:cubicBezTo>
                  <a:cubicBezTo>
                    <a:pt x="51377" y="16563"/>
                    <a:pt x="60338" y="9349"/>
                    <a:pt x="62892" y="0"/>
                  </a:cubicBezTo>
                </a:path>
              </a:pathLst>
            </a:custGeom>
            <a:noFill/>
            <a:ln w="19050"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2"/>
            <p:cNvSpPr/>
            <p:nvPr/>
          </p:nvSpPr>
          <p:spPr>
            <a:xfrm rot="10800000" flipH="1">
              <a:off x="5003800" y="4879974"/>
              <a:ext cx="664502" cy="66826"/>
            </a:xfrm>
            <a:custGeom>
              <a:avLst/>
              <a:gdLst/>
              <a:ahLst/>
              <a:cxnLst/>
              <a:rect l="l" t="t" r="r" b="b"/>
              <a:pathLst>
                <a:path w="7289" h="733" fill="none" extrusionOk="0">
                  <a:moveTo>
                    <a:pt x="0" y="1"/>
                  </a:moveTo>
                  <a:cubicBezTo>
                    <a:pt x="732" y="1"/>
                    <a:pt x="732" y="733"/>
                    <a:pt x="1464" y="733"/>
                  </a:cubicBezTo>
                  <a:cubicBezTo>
                    <a:pt x="2196" y="733"/>
                    <a:pt x="2196" y="1"/>
                    <a:pt x="2913" y="1"/>
                  </a:cubicBezTo>
                  <a:cubicBezTo>
                    <a:pt x="3644" y="1"/>
                    <a:pt x="3644" y="733"/>
                    <a:pt x="4376" y="733"/>
                  </a:cubicBezTo>
                  <a:cubicBezTo>
                    <a:pt x="5108" y="733"/>
                    <a:pt x="5108" y="1"/>
                    <a:pt x="5840" y="1"/>
                  </a:cubicBezTo>
                  <a:cubicBezTo>
                    <a:pt x="6557" y="1"/>
                    <a:pt x="6572" y="733"/>
                    <a:pt x="7289" y="733"/>
                  </a:cubicBezTo>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2"/>
            <p:cNvSpPr/>
            <p:nvPr/>
          </p:nvSpPr>
          <p:spPr>
            <a:xfrm>
              <a:off x="8696900" y="4329950"/>
              <a:ext cx="228254" cy="228296"/>
            </a:xfrm>
            <a:custGeom>
              <a:avLst/>
              <a:gdLst/>
              <a:ahLst/>
              <a:cxnLst/>
              <a:rect l="l" t="t" r="r" b="b"/>
              <a:pathLst>
                <a:path w="3719" h="3720" fill="none" extrusionOk="0">
                  <a:moveTo>
                    <a:pt x="0" y="1867"/>
                  </a:moveTo>
                  <a:cubicBezTo>
                    <a:pt x="1195" y="2226"/>
                    <a:pt x="1494" y="2509"/>
                    <a:pt x="1852" y="3719"/>
                  </a:cubicBezTo>
                  <a:cubicBezTo>
                    <a:pt x="2211" y="2509"/>
                    <a:pt x="2509" y="2226"/>
                    <a:pt x="3719" y="1867"/>
                  </a:cubicBezTo>
                  <a:cubicBezTo>
                    <a:pt x="2509" y="1494"/>
                    <a:pt x="2211" y="1210"/>
                    <a:pt x="1852" y="0"/>
                  </a:cubicBezTo>
                  <a:cubicBezTo>
                    <a:pt x="1494" y="1210"/>
                    <a:pt x="1195" y="1494"/>
                    <a:pt x="0" y="1867"/>
                  </a:cubicBezTo>
                  <a:close/>
                </a:path>
              </a:pathLst>
            </a:custGeom>
            <a:noFill/>
            <a:ln w="19050"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2"/>
            <p:cNvSpPr/>
            <p:nvPr/>
          </p:nvSpPr>
          <p:spPr>
            <a:xfrm>
              <a:off x="8737075" y="297125"/>
              <a:ext cx="147900" cy="1479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lbert Sans"/>
                <a:ea typeface="Albert Sans"/>
                <a:cs typeface="Albert Sans"/>
                <a:sym typeface="Albert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41"/>
        <p:cNvGrpSpPr/>
        <p:nvPr/>
      </p:nvGrpSpPr>
      <p:grpSpPr>
        <a:xfrm>
          <a:off x="0" y="0"/>
          <a:ext cx="0" cy="0"/>
          <a:chOff x="0" y="0"/>
          <a:chExt cx="0" cy="0"/>
        </a:xfrm>
      </p:grpSpPr>
      <p:pic>
        <p:nvPicPr>
          <p:cNvPr id="142" name="Google Shape;142;p23"/>
          <p:cNvPicPr preferRelativeResize="0"/>
          <p:nvPr/>
        </p:nvPicPr>
        <p:blipFill>
          <a:blip r:embed="rId2">
            <a:alphaModFix/>
          </a:blip>
          <a:stretch>
            <a:fillRect/>
          </a:stretch>
        </p:blipFill>
        <p:spPr>
          <a:xfrm>
            <a:off x="0" y="-43885"/>
            <a:ext cx="9143998" cy="5231259"/>
          </a:xfrm>
          <a:prstGeom prst="rect">
            <a:avLst/>
          </a:prstGeom>
          <a:noFill/>
          <a:ln>
            <a:noFill/>
          </a:ln>
        </p:spPr>
      </p:pic>
      <p:sp>
        <p:nvSpPr>
          <p:cNvPr id="143" name="Google Shape;143;p23"/>
          <p:cNvSpPr/>
          <p:nvPr/>
        </p:nvSpPr>
        <p:spPr>
          <a:xfrm>
            <a:off x="-396402" y="-536388"/>
            <a:ext cx="4144196" cy="1743445"/>
          </a:xfrm>
          <a:custGeom>
            <a:avLst/>
            <a:gdLst/>
            <a:ahLst/>
            <a:cxnLst/>
            <a:rect l="l" t="t" r="r" b="b"/>
            <a:pathLst>
              <a:path w="67985" h="28601" extrusionOk="0">
                <a:moveTo>
                  <a:pt x="66491" y="0"/>
                </a:moveTo>
                <a:lnTo>
                  <a:pt x="1210" y="2958"/>
                </a:lnTo>
                <a:lnTo>
                  <a:pt x="1" y="27884"/>
                </a:lnTo>
                <a:cubicBezTo>
                  <a:pt x="829" y="28386"/>
                  <a:pt x="1721" y="28601"/>
                  <a:pt x="2635" y="28601"/>
                </a:cubicBezTo>
                <a:cubicBezTo>
                  <a:pt x="5068" y="28601"/>
                  <a:pt x="7652" y="27075"/>
                  <a:pt x="9574" y="25360"/>
                </a:cubicBezTo>
                <a:cubicBezTo>
                  <a:pt x="12217" y="23015"/>
                  <a:pt x="14846" y="20073"/>
                  <a:pt x="18386" y="19849"/>
                </a:cubicBezTo>
                <a:cubicBezTo>
                  <a:pt x="18525" y="19840"/>
                  <a:pt x="18664" y="19836"/>
                  <a:pt x="18803" y="19836"/>
                </a:cubicBezTo>
                <a:cubicBezTo>
                  <a:pt x="21997" y="19836"/>
                  <a:pt x="25021" y="22004"/>
                  <a:pt x="28177" y="22004"/>
                </a:cubicBezTo>
                <a:cubicBezTo>
                  <a:pt x="28481" y="22004"/>
                  <a:pt x="28787" y="21984"/>
                  <a:pt x="29094" y="21940"/>
                </a:cubicBezTo>
                <a:cubicBezTo>
                  <a:pt x="32230" y="21492"/>
                  <a:pt x="34470" y="18714"/>
                  <a:pt x="37353" y="17429"/>
                </a:cubicBezTo>
                <a:cubicBezTo>
                  <a:pt x="38924" y="16732"/>
                  <a:pt x="40573" y="16505"/>
                  <a:pt x="42266" y="16505"/>
                </a:cubicBezTo>
                <a:cubicBezTo>
                  <a:pt x="45422" y="16505"/>
                  <a:pt x="48729" y="17295"/>
                  <a:pt x="51954" y="17295"/>
                </a:cubicBezTo>
                <a:cubicBezTo>
                  <a:pt x="52441" y="17295"/>
                  <a:pt x="52926" y="17277"/>
                  <a:pt x="53408" y="17235"/>
                </a:cubicBezTo>
                <a:cubicBezTo>
                  <a:pt x="61488" y="16518"/>
                  <a:pt x="67984" y="7991"/>
                  <a:pt x="66491" y="0"/>
                </a:cubicBezTo>
                <a:close/>
              </a:path>
            </a:pathLst>
          </a:custGeom>
          <a:solidFill>
            <a:srgbClr val="D6E6EB">
              <a:alpha val="52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3"/>
          <p:cNvSpPr/>
          <p:nvPr/>
        </p:nvSpPr>
        <p:spPr>
          <a:xfrm rot="-4877097" flipH="1">
            <a:off x="7246776" y="3715561"/>
            <a:ext cx="2267335" cy="1520533"/>
          </a:xfrm>
          <a:custGeom>
            <a:avLst/>
            <a:gdLst/>
            <a:ahLst/>
            <a:cxnLst/>
            <a:rect l="l" t="t" r="r" b="b"/>
            <a:pathLst>
              <a:path w="62892" h="42177" fill="none" extrusionOk="0">
                <a:moveTo>
                  <a:pt x="1" y="42176"/>
                </a:moveTo>
                <a:cubicBezTo>
                  <a:pt x="1838" y="37352"/>
                  <a:pt x="3675" y="32513"/>
                  <a:pt x="6273" y="28078"/>
                </a:cubicBezTo>
                <a:cubicBezTo>
                  <a:pt x="8887" y="23627"/>
                  <a:pt x="12337" y="19565"/>
                  <a:pt x="16773" y="16966"/>
                </a:cubicBezTo>
                <a:cubicBezTo>
                  <a:pt x="19401" y="15413"/>
                  <a:pt x="23000" y="14487"/>
                  <a:pt x="25345" y="16443"/>
                </a:cubicBezTo>
                <a:cubicBezTo>
                  <a:pt x="27571" y="18295"/>
                  <a:pt x="27451" y="21925"/>
                  <a:pt x="25928" y="24389"/>
                </a:cubicBezTo>
                <a:cubicBezTo>
                  <a:pt x="24584" y="26554"/>
                  <a:pt x="21522" y="28137"/>
                  <a:pt x="19536" y="26539"/>
                </a:cubicBezTo>
                <a:cubicBezTo>
                  <a:pt x="17594" y="24956"/>
                  <a:pt x="18430" y="21686"/>
                  <a:pt x="20208" y="19923"/>
                </a:cubicBezTo>
                <a:cubicBezTo>
                  <a:pt x="22836" y="17295"/>
                  <a:pt x="26824" y="16518"/>
                  <a:pt x="30543" y="16533"/>
                </a:cubicBezTo>
                <a:cubicBezTo>
                  <a:pt x="34276" y="16563"/>
                  <a:pt x="37980" y="17265"/>
                  <a:pt x="41699" y="17071"/>
                </a:cubicBezTo>
                <a:cubicBezTo>
                  <a:pt x="51377" y="16563"/>
                  <a:pt x="60338" y="9349"/>
                  <a:pt x="62892" y="0"/>
                </a:cubicBezTo>
              </a:path>
            </a:pathLst>
          </a:custGeom>
          <a:noFill/>
          <a:ln w="19050" cap="rnd" cmpd="sng">
            <a:solidFill>
              <a:schemeClr val="dk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0BD552-508A-47D1-9546-B8AF3D887579}" type="datetimeFigureOut">
              <a:rPr lang="en-US" smtClean="0"/>
              <a:pPr/>
              <a:t>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50EE5F-0027-4A6D-B4BE-ED9346D1634D}" type="slidenum">
              <a:rPr lang="en-US" smtClean="0"/>
              <a:pPr/>
              <a:t>‹#›</a:t>
            </a:fld>
            <a:endParaRPr lang="en-US"/>
          </a:p>
        </p:txBody>
      </p:sp>
    </p:spTree>
    <p:extLst>
      <p:ext uri="{BB962C8B-B14F-4D97-AF65-F5344CB8AC3E}">
        <p14:creationId xmlns:p14="http://schemas.microsoft.com/office/powerpoint/2010/main" val="2134389832"/>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60177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1pPr>
            <a:lvl2pPr lvl="1"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2pPr>
            <a:lvl3pPr lvl="2"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3pPr>
            <a:lvl4pPr lvl="3"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4pPr>
            <a:lvl5pPr lvl="4"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5pPr>
            <a:lvl6pPr lvl="5"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6pPr>
            <a:lvl7pPr lvl="6"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7pPr>
            <a:lvl8pPr lvl="7"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8pPr>
            <a:lvl9pPr lvl="8" rtl="0">
              <a:spcBef>
                <a:spcPts val="0"/>
              </a:spcBef>
              <a:spcAft>
                <a:spcPts val="0"/>
              </a:spcAft>
              <a:buClr>
                <a:schemeClr val="dk1"/>
              </a:buClr>
              <a:buSzPts val="3000"/>
              <a:buFont typeface="Manrope ExtraBold"/>
              <a:buNone/>
              <a:defRPr sz="3000">
                <a:solidFill>
                  <a:schemeClr val="dk1"/>
                </a:solidFill>
                <a:latin typeface="Manrope ExtraBold"/>
                <a:ea typeface="Manrope ExtraBold"/>
                <a:cs typeface="Manrope ExtraBold"/>
                <a:sym typeface="Manrope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15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75" r:id="rId3"/>
    <p:sldLayoutId id="2147483656" r:id="rId4"/>
    <p:sldLayoutId id="2147483657" r:id="rId5"/>
    <p:sldLayoutId id="2147483658" r:id="rId6"/>
    <p:sldLayoutId id="2147483668" r:id="rId7"/>
    <p:sldLayoutId id="2147483669" r:id="rId8"/>
    <p:sldLayoutId id="2147483673" r:id="rId9"/>
    <p:sldLayoutId id="2147483674"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google.com/"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5" name="Picture 4">
            <a:extLst>
              <a:ext uri="{FF2B5EF4-FFF2-40B4-BE49-F238E27FC236}">
                <a16:creationId xmlns:a16="http://schemas.microsoft.com/office/drawing/2014/main" id="{517B0FD0-3666-A076-B519-6D2FC651B96F}"/>
              </a:ext>
            </a:extLst>
          </p:cNvPr>
          <p:cNvPicPr>
            <a:picLocks noChangeAspect="1"/>
          </p:cNvPicPr>
          <p:nvPr/>
        </p:nvPicPr>
        <p:blipFill>
          <a:blip r:embed="rId3"/>
          <a:stretch>
            <a:fillRect/>
          </a:stretch>
        </p:blipFill>
        <p:spPr>
          <a:xfrm>
            <a:off x="11113" y="1"/>
            <a:ext cx="9135318" cy="947676"/>
          </a:xfrm>
          <a:prstGeom prst="rect">
            <a:avLst/>
          </a:prstGeom>
        </p:spPr>
      </p:pic>
      <p:sp>
        <p:nvSpPr>
          <p:cNvPr id="2" name="Title 1">
            <a:extLst>
              <a:ext uri="{FF2B5EF4-FFF2-40B4-BE49-F238E27FC236}">
                <a16:creationId xmlns:a16="http://schemas.microsoft.com/office/drawing/2014/main" id="{2EB90EFD-8A4A-B1AC-A380-5E8E3874C66A}"/>
              </a:ext>
            </a:extLst>
          </p:cNvPr>
          <p:cNvSpPr>
            <a:spLocks noGrp="1"/>
          </p:cNvSpPr>
          <p:nvPr>
            <p:ph type="ctrTitle"/>
          </p:nvPr>
        </p:nvSpPr>
        <p:spPr>
          <a:xfrm>
            <a:off x="925652" y="1847222"/>
            <a:ext cx="7391400" cy="1143427"/>
          </a:xfrm>
        </p:spPr>
        <p:txBody>
          <a:bodyPr>
            <a:noAutofit/>
          </a:bodyPr>
          <a:lstStyle/>
          <a:p>
            <a:r>
              <a:rPr lang="en-US" sz="3600" b="1" dirty="0">
                <a:solidFill>
                  <a:srgbClr val="00B0F0"/>
                </a:solidFill>
                <a:latin typeface="Times New Roman" pitchFamily="18" charset="0"/>
                <a:cs typeface="Times New Roman" pitchFamily="18" charset="0"/>
              </a:rPr>
              <a:t>BCSE-0611 Application &amp; Data Security</a:t>
            </a:r>
          </a:p>
        </p:txBody>
      </p:sp>
      <p:sp>
        <p:nvSpPr>
          <p:cNvPr id="6" name="Subtitle 2">
            <a:extLst>
              <a:ext uri="{FF2B5EF4-FFF2-40B4-BE49-F238E27FC236}">
                <a16:creationId xmlns:a16="http://schemas.microsoft.com/office/drawing/2014/main" id="{B1E4CA82-9959-86DB-3B88-4F0FDC81607A}"/>
              </a:ext>
            </a:extLst>
          </p:cNvPr>
          <p:cNvSpPr txBox="1">
            <a:spLocks/>
          </p:cNvSpPr>
          <p:nvPr/>
        </p:nvSpPr>
        <p:spPr>
          <a:xfrm>
            <a:off x="3529012" y="3433769"/>
            <a:ext cx="5467351" cy="1709730"/>
          </a:xfrm>
          <a:prstGeom prst="rect">
            <a:avLst/>
          </a:prstGeo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spcBef>
                <a:spcPct val="0"/>
              </a:spcBef>
            </a:pPr>
            <a:r>
              <a:rPr lang="en-US" sz="3600" b="1" dirty="0">
                <a:solidFill>
                  <a:schemeClr val="tx1"/>
                </a:solidFill>
                <a:latin typeface="Times New Roman" pitchFamily="18" charset="0"/>
                <a:ea typeface="+mj-ea"/>
                <a:cs typeface="Times New Roman" pitchFamily="18" charset="0"/>
              </a:rPr>
              <a:t>Dr. Arvind Prasad</a:t>
            </a:r>
          </a:p>
          <a:p>
            <a:pPr algn="r">
              <a:spcBef>
                <a:spcPct val="0"/>
              </a:spcBef>
            </a:pPr>
            <a:r>
              <a:rPr lang="en-US" sz="2800" b="1" dirty="0">
                <a:solidFill>
                  <a:schemeClr val="tx1"/>
                </a:solidFill>
                <a:latin typeface="Times New Roman" pitchFamily="18" charset="0"/>
                <a:ea typeface="+mj-ea"/>
                <a:cs typeface="Times New Roman" pitchFamily="18" charset="0"/>
              </a:rPr>
              <a:t>Department of CEA </a:t>
            </a:r>
          </a:p>
          <a:p>
            <a:pPr algn="r">
              <a:spcBef>
                <a:spcPct val="0"/>
              </a:spcBef>
            </a:pPr>
            <a:r>
              <a:rPr lang="en-US" sz="2800" b="1" dirty="0">
                <a:solidFill>
                  <a:schemeClr val="tx1"/>
                </a:solidFill>
                <a:latin typeface="Times New Roman" pitchFamily="18" charset="0"/>
                <a:ea typeface="+mj-ea"/>
                <a:cs typeface="Times New Roman" pitchFamily="18" charset="0"/>
              </a:rPr>
              <a:t>GLA University, Mathura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1000"/>
                                        <p:tgtEl>
                                          <p:spTgt spid="2"/>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diamond(in)">
                                      <p:cBhvr>
                                        <p:cTn id="10" dur="500"/>
                                        <p:tgtEl>
                                          <p:spTgt spid="6">
                                            <p:txEl>
                                              <p:pRg st="0" end="0"/>
                                            </p:txEl>
                                          </p:spTgt>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diamond(in)">
                                      <p:cBhvr>
                                        <p:cTn id="13" dur="500"/>
                                        <p:tgtEl>
                                          <p:spTgt spid="6">
                                            <p:txEl>
                                              <p:pRg st="1" end="1"/>
                                            </p:txEl>
                                          </p:spTgt>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diamond(in)">
                                      <p:cBhvr>
                                        <p:cTn id="16"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4" name="TextBox 3">
            <a:extLst>
              <a:ext uri="{FF2B5EF4-FFF2-40B4-BE49-F238E27FC236}">
                <a16:creationId xmlns:a16="http://schemas.microsoft.com/office/drawing/2014/main" id="{2D4AEA93-B45D-C658-A60F-6ED845F9FE86}"/>
              </a:ext>
            </a:extLst>
          </p:cNvPr>
          <p:cNvSpPr txBox="1"/>
          <p:nvPr/>
        </p:nvSpPr>
        <p:spPr>
          <a:xfrm>
            <a:off x="709613" y="1443038"/>
            <a:ext cx="8434387" cy="707886"/>
          </a:xfrm>
          <a:prstGeom prst="rect">
            <a:avLst/>
          </a:prstGeom>
          <a:noFill/>
        </p:spPr>
        <p:txBody>
          <a:bodyPr wrap="square" rtlCol="0">
            <a:spAutoFit/>
          </a:bodyPr>
          <a:lstStyle/>
          <a:p>
            <a:pPr algn="ctr"/>
            <a: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t>Mobile Security</a:t>
            </a:r>
            <a:endParaRPr lang="en-IN" sz="40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02161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A929E-8F1D-F1AB-163D-F76F6C34E8E0}"/>
              </a:ext>
            </a:extLst>
          </p:cNvPr>
          <p:cNvSpPr>
            <a:spLocks noGrp="1"/>
          </p:cNvSpPr>
          <p:nvPr>
            <p:ph type="title"/>
          </p:nvPr>
        </p:nvSpPr>
        <p:spPr>
          <a:xfrm>
            <a:off x="670839" y="91064"/>
            <a:ext cx="7704000" cy="572700"/>
          </a:xfrm>
        </p:spPr>
        <p:txBody>
          <a:bodyPr/>
          <a:lstStyle/>
          <a:p>
            <a:r>
              <a:rPr lang="en-IN" dirty="0"/>
              <a:t>Introduction to Mobile Security</a:t>
            </a:r>
          </a:p>
        </p:txBody>
      </p:sp>
      <p:sp>
        <p:nvSpPr>
          <p:cNvPr id="3" name="Text Placeholder 2">
            <a:extLst>
              <a:ext uri="{FF2B5EF4-FFF2-40B4-BE49-F238E27FC236}">
                <a16:creationId xmlns:a16="http://schemas.microsoft.com/office/drawing/2014/main" id="{FE4BE4B0-A18D-3D5B-C5D2-237F41848FEE}"/>
              </a:ext>
            </a:extLst>
          </p:cNvPr>
          <p:cNvSpPr>
            <a:spLocks noGrp="1"/>
          </p:cNvSpPr>
          <p:nvPr>
            <p:ph type="body" idx="1"/>
          </p:nvPr>
        </p:nvSpPr>
        <p:spPr>
          <a:xfrm>
            <a:off x="592180" y="812627"/>
            <a:ext cx="7704000" cy="3388200"/>
          </a:xfrm>
        </p:spPr>
        <p:txBody>
          <a:bodyPr/>
          <a:lstStyle/>
          <a:p>
            <a:r>
              <a:rPr lang="en-US" sz="1800" dirty="0"/>
              <a:t>Mobile Security refers to protecting smartphones, tablets, and other portable devices from threats such as data theft, malware, unauthorized access, and network attacks.</a:t>
            </a:r>
          </a:p>
          <a:p>
            <a:r>
              <a:rPr lang="en-US" sz="1800" b="1" dirty="0"/>
              <a:t>Why It Matters:</a:t>
            </a:r>
            <a:endParaRPr lang="en-US" sz="1800" dirty="0"/>
          </a:p>
          <a:p>
            <a:pPr lvl="1"/>
            <a:r>
              <a:rPr lang="en-US" sz="1600" dirty="0"/>
              <a:t>Mobile devices store </a:t>
            </a:r>
            <a:r>
              <a:rPr lang="en-US" sz="1600" b="1" dirty="0"/>
              <a:t>personal, financial, and corporate data</a:t>
            </a:r>
            <a:r>
              <a:rPr lang="en-US" sz="1600" dirty="0"/>
              <a:t>.</a:t>
            </a:r>
          </a:p>
          <a:p>
            <a:pPr lvl="1"/>
            <a:r>
              <a:rPr lang="en-US" sz="1600" dirty="0"/>
              <a:t>High risk of </a:t>
            </a:r>
            <a:r>
              <a:rPr lang="en-US" sz="1600" b="1" dirty="0"/>
              <a:t>loss or theft</a:t>
            </a:r>
            <a:r>
              <a:rPr lang="en-US" sz="1600" dirty="0"/>
              <a:t>.</a:t>
            </a:r>
          </a:p>
          <a:p>
            <a:pPr lvl="1"/>
            <a:r>
              <a:rPr lang="en-US" sz="1600" dirty="0"/>
              <a:t>Frequent </a:t>
            </a:r>
            <a:r>
              <a:rPr lang="en-US" sz="1600" b="1" dirty="0"/>
              <a:t>internet connectivity</a:t>
            </a:r>
            <a:r>
              <a:rPr lang="en-US" sz="1600" dirty="0"/>
              <a:t> → exposure to phishing, malware, and network attacks.</a:t>
            </a:r>
          </a:p>
          <a:p>
            <a:pPr lvl="1"/>
            <a:r>
              <a:rPr lang="en-US" sz="1600" dirty="0"/>
              <a:t>Use of </a:t>
            </a:r>
            <a:r>
              <a:rPr lang="en-US" sz="1600" b="1" dirty="0"/>
              <a:t>third-party apps</a:t>
            </a:r>
            <a:r>
              <a:rPr lang="en-US" sz="1600" dirty="0"/>
              <a:t> can introduce vulnerabilities.</a:t>
            </a:r>
          </a:p>
          <a:p>
            <a:r>
              <a:rPr lang="en-US" sz="1800" b="1" dirty="0"/>
              <a:t>Common Threats:</a:t>
            </a:r>
            <a:endParaRPr lang="en-US" sz="1800" dirty="0"/>
          </a:p>
          <a:p>
            <a:pPr lvl="1"/>
            <a:r>
              <a:rPr lang="en-US" sz="1600" b="1" dirty="0"/>
              <a:t>Phishing Attacks</a:t>
            </a:r>
            <a:r>
              <a:rPr lang="en-US" sz="1600" dirty="0"/>
              <a:t> – fake apps or links stealing credentials.</a:t>
            </a:r>
          </a:p>
          <a:p>
            <a:pPr lvl="1"/>
            <a:r>
              <a:rPr lang="en-US" sz="1600" b="1" dirty="0"/>
              <a:t>Malware &amp; Spyware</a:t>
            </a:r>
            <a:r>
              <a:rPr lang="en-US" sz="1600" dirty="0"/>
              <a:t> – malicious code stealing or tracking user data.</a:t>
            </a:r>
          </a:p>
          <a:p>
            <a:pPr lvl="1"/>
            <a:r>
              <a:rPr lang="en-US" sz="1600" b="1" dirty="0"/>
              <a:t>Data Leakage</a:t>
            </a:r>
            <a:r>
              <a:rPr lang="en-US" sz="1600" dirty="0"/>
              <a:t> – via insecure apps or permissions.</a:t>
            </a:r>
          </a:p>
          <a:p>
            <a:pPr lvl="1"/>
            <a:r>
              <a:rPr lang="en-US" sz="1600" b="1" dirty="0"/>
              <a:t>Network Attacks</a:t>
            </a:r>
            <a:r>
              <a:rPr lang="en-US" sz="1600" dirty="0"/>
              <a:t> – man-in-the-middle, Wi-Fi spoofing.</a:t>
            </a:r>
          </a:p>
          <a:p>
            <a:pPr lvl="1"/>
            <a:r>
              <a:rPr lang="en-US" sz="1600" b="1" dirty="0"/>
              <a:t>Device Theft</a:t>
            </a:r>
            <a:r>
              <a:rPr lang="en-US" sz="1600" dirty="0"/>
              <a:t> – physical compromise of data.</a:t>
            </a:r>
          </a:p>
          <a:p>
            <a:endParaRPr lang="en-IN" sz="1800" dirty="0"/>
          </a:p>
        </p:txBody>
      </p:sp>
    </p:spTree>
    <p:extLst>
      <p:ext uri="{BB962C8B-B14F-4D97-AF65-F5344CB8AC3E}">
        <p14:creationId xmlns:p14="http://schemas.microsoft.com/office/powerpoint/2010/main" val="2671436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9DF20-10B4-94D8-3CE4-789C3D46724E}"/>
              </a:ext>
            </a:extLst>
          </p:cNvPr>
          <p:cNvSpPr>
            <a:spLocks noGrp="1"/>
          </p:cNvSpPr>
          <p:nvPr>
            <p:ph type="title"/>
          </p:nvPr>
        </p:nvSpPr>
        <p:spPr>
          <a:xfrm>
            <a:off x="720000" y="110728"/>
            <a:ext cx="7704000" cy="572700"/>
          </a:xfrm>
        </p:spPr>
        <p:txBody>
          <a:bodyPr/>
          <a:lstStyle/>
          <a:p>
            <a:r>
              <a:rPr lang="en-US" dirty="0"/>
              <a:t>Why Focus on Android Security</a:t>
            </a:r>
            <a:endParaRPr lang="en-IN" dirty="0"/>
          </a:p>
        </p:txBody>
      </p:sp>
      <p:sp>
        <p:nvSpPr>
          <p:cNvPr id="3" name="Text Placeholder 2">
            <a:extLst>
              <a:ext uri="{FF2B5EF4-FFF2-40B4-BE49-F238E27FC236}">
                <a16:creationId xmlns:a16="http://schemas.microsoft.com/office/drawing/2014/main" id="{09761A07-B530-8195-E124-7FE7B4465695}"/>
              </a:ext>
            </a:extLst>
          </p:cNvPr>
          <p:cNvSpPr>
            <a:spLocks noGrp="1"/>
          </p:cNvSpPr>
          <p:nvPr>
            <p:ph type="body" idx="1"/>
          </p:nvPr>
        </p:nvSpPr>
        <p:spPr>
          <a:xfrm>
            <a:off x="720000" y="807710"/>
            <a:ext cx="7704000" cy="4054341"/>
          </a:xfrm>
        </p:spPr>
        <p:txBody>
          <a:bodyPr/>
          <a:lstStyle/>
          <a:p>
            <a:r>
              <a:rPr lang="en-US" sz="2000" b="1" dirty="0"/>
              <a:t>Why Android?</a:t>
            </a:r>
            <a:endParaRPr lang="en-US" sz="2000" dirty="0"/>
          </a:p>
          <a:p>
            <a:pPr lvl="1"/>
            <a:r>
              <a:rPr lang="en-US" sz="1800" dirty="0"/>
              <a:t>Over </a:t>
            </a:r>
            <a:r>
              <a:rPr lang="en-US" sz="1800" b="1" dirty="0"/>
              <a:t>70% of mobile devices</a:t>
            </a:r>
            <a:r>
              <a:rPr lang="en-US" sz="1800" dirty="0"/>
              <a:t> run Android.</a:t>
            </a:r>
          </a:p>
          <a:p>
            <a:pPr lvl="1"/>
            <a:r>
              <a:rPr lang="en-US" sz="1800" b="1" dirty="0"/>
              <a:t>Open-source nature</a:t>
            </a:r>
            <a:r>
              <a:rPr lang="en-US" sz="1800" dirty="0"/>
              <a:t> makes it flexible but more exposed to malicious modifications.</a:t>
            </a:r>
          </a:p>
          <a:p>
            <a:pPr lvl="1"/>
            <a:r>
              <a:rPr lang="en-US" sz="1800" dirty="0"/>
              <a:t>Allows installation from </a:t>
            </a:r>
            <a:r>
              <a:rPr lang="en-US" sz="1800" b="1" dirty="0"/>
              <a:t>unverified sources (APK sideloading)</a:t>
            </a:r>
            <a:r>
              <a:rPr lang="en-US" sz="1800" dirty="0"/>
              <a:t>.</a:t>
            </a:r>
          </a:p>
          <a:p>
            <a:pPr lvl="1"/>
            <a:r>
              <a:rPr lang="en-US" sz="1800" dirty="0"/>
              <a:t>Highly </a:t>
            </a:r>
            <a:r>
              <a:rPr lang="en-US" sz="1800" b="1" dirty="0"/>
              <a:t>customizable</a:t>
            </a:r>
            <a:r>
              <a:rPr lang="en-US" sz="1800" dirty="0"/>
              <a:t>, leading to fragmentation and inconsistent security patches.</a:t>
            </a:r>
          </a:p>
          <a:p>
            <a:r>
              <a:rPr lang="en-US" sz="2000" b="1" dirty="0"/>
              <a:t>Key Security Goals:</a:t>
            </a:r>
            <a:endParaRPr lang="en-US" sz="2000" dirty="0"/>
          </a:p>
          <a:p>
            <a:pPr lvl="1"/>
            <a:r>
              <a:rPr lang="en-US" sz="1800" b="1" dirty="0"/>
              <a:t>Confidentiality:</a:t>
            </a:r>
            <a:r>
              <a:rPr lang="en-US" sz="1800" dirty="0"/>
              <a:t> Protect user data.</a:t>
            </a:r>
          </a:p>
          <a:p>
            <a:pPr lvl="1"/>
            <a:r>
              <a:rPr lang="en-US" sz="1800" b="1" dirty="0"/>
              <a:t>Integrity:</a:t>
            </a:r>
            <a:r>
              <a:rPr lang="en-US" sz="1800" dirty="0"/>
              <a:t> Prevent unauthorized modification.</a:t>
            </a:r>
          </a:p>
          <a:p>
            <a:pPr lvl="1"/>
            <a:r>
              <a:rPr lang="en-US" sz="1800" b="1" dirty="0"/>
              <a:t>Availability:</a:t>
            </a:r>
            <a:r>
              <a:rPr lang="en-US" sz="1800" dirty="0"/>
              <a:t> Ensure secure and stable operation.</a:t>
            </a:r>
          </a:p>
          <a:p>
            <a:pPr lvl="1"/>
            <a:r>
              <a:rPr lang="en-US" sz="1800" b="1" dirty="0"/>
              <a:t>Authenticity:</a:t>
            </a:r>
            <a:r>
              <a:rPr lang="en-US" sz="1800" dirty="0"/>
              <a:t> Verify apps and sources.</a:t>
            </a:r>
          </a:p>
          <a:p>
            <a:pPr lvl="1"/>
            <a:r>
              <a:rPr lang="en-US" sz="1800" b="1" dirty="0"/>
              <a:t>Isolation:</a:t>
            </a:r>
            <a:r>
              <a:rPr lang="en-US" sz="1800" dirty="0"/>
              <a:t> Contain the impact of malicious apps.</a:t>
            </a:r>
          </a:p>
          <a:p>
            <a:endParaRPr lang="en-IN" sz="2000" dirty="0"/>
          </a:p>
        </p:txBody>
      </p:sp>
    </p:spTree>
    <p:extLst>
      <p:ext uri="{BB962C8B-B14F-4D97-AF65-F5344CB8AC3E}">
        <p14:creationId xmlns:p14="http://schemas.microsoft.com/office/powerpoint/2010/main" val="292481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A73A6-2DCD-33F4-6466-8F230DEF739D}"/>
              </a:ext>
            </a:extLst>
          </p:cNvPr>
          <p:cNvSpPr>
            <a:spLocks noGrp="1"/>
          </p:cNvSpPr>
          <p:nvPr>
            <p:ph type="title"/>
          </p:nvPr>
        </p:nvSpPr>
        <p:spPr/>
        <p:txBody>
          <a:bodyPr/>
          <a:lstStyle/>
          <a:p>
            <a:r>
              <a:rPr lang="en-IN" dirty="0"/>
              <a:t>Android Architecture Overview</a:t>
            </a:r>
          </a:p>
        </p:txBody>
      </p:sp>
      <p:sp>
        <p:nvSpPr>
          <p:cNvPr id="3" name="Text Placeholder 2">
            <a:extLst>
              <a:ext uri="{FF2B5EF4-FFF2-40B4-BE49-F238E27FC236}">
                <a16:creationId xmlns:a16="http://schemas.microsoft.com/office/drawing/2014/main" id="{71BACC01-6F1E-5F0F-6852-A3A1953CC94E}"/>
              </a:ext>
            </a:extLst>
          </p:cNvPr>
          <p:cNvSpPr>
            <a:spLocks noGrp="1"/>
          </p:cNvSpPr>
          <p:nvPr>
            <p:ph type="body" idx="1"/>
          </p:nvPr>
        </p:nvSpPr>
        <p:spPr/>
        <p:txBody>
          <a:bodyPr/>
          <a:lstStyle/>
          <a:p>
            <a:r>
              <a:rPr lang="en-US" sz="2800" b="1" dirty="0"/>
              <a:t>Five Key Layers:</a:t>
            </a:r>
            <a:endParaRPr lang="en-US" sz="2800" dirty="0"/>
          </a:p>
          <a:p>
            <a:pPr marL="1111250" lvl="1" indent="-514350">
              <a:buFont typeface="+mj-lt"/>
              <a:buAutoNum type="arabicPeriod"/>
            </a:pPr>
            <a:r>
              <a:rPr lang="en-US" sz="2600" b="1" dirty="0"/>
              <a:t>Applications</a:t>
            </a:r>
            <a:endParaRPr lang="en-US" sz="2600" dirty="0"/>
          </a:p>
          <a:p>
            <a:pPr marL="1111250" lvl="1" indent="-514350">
              <a:buFont typeface="+mj-lt"/>
              <a:buAutoNum type="arabicPeriod"/>
            </a:pPr>
            <a:r>
              <a:rPr lang="en-US" sz="2600" b="1" dirty="0"/>
              <a:t>Application Framework</a:t>
            </a:r>
            <a:endParaRPr lang="en-US" sz="2600" dirty="0"/>
          </a:p>
          <a:p>
            <a:pPr marL="1111250" lvl="1" indent="-514350">
              <a:buFont typeface="+mj-lt"/>
              <a:buAutoNum type="arabicPeriod"/>
            </a:pPr>
            <a:r>
              <a:rPr lang="en-US" sz="2600" b="1" dirty="0"/>
              <a:t>Android Runtime</a:t>
            </a:r>
            <a:endParaRPr lang="en-US" sz="2600" dirty="0"/>
          </a:p>
          <a:p>
            <a:pPr marL="1111250" lvl="1" indent="-514350">
              <a:buFont typeface="+mj-lt"/>
              <a:buAutoNum type="arabicPeriod"/>
            </a:pPr>
            <a:r>
              <a:rPr lang="en-US" sz="2600" b="1" dirty="0"/>
              <a:t>Platform Libraries</a:t>
            </a:r>
            <a:endParaRPr lang="en-US" sz="2600" dirty="0"/>
          </a:p>
          <a:p>
            <a:pPr marL="1111250" lvl="1" indent="-514350">
              <a:buFont typeface="+mj-lt"/>
              <a:buAutoNum type="arabicPeriod"/>
            </a:pPr>
            <a:r>
              <a:rPr lang="en-US" sz="2600" b="1" dirty="0"/>
              <a:t>Linux Kernel</a:t>
            </a:r>
            <a:endParaRPr lang="en-US" sz="2600" dirty="0"/>
          </a:p>
          <a:p>
            <a:endParaRPr lang="en-IN" sz="2800" dirty="0"/>
          </a:p>
        </p:txBody>
      </p:sp>
    </p:spTree>
    <p:extLst>
      <p:ext uri="{BB962C8B-B14F-4D97-AF65-F5344CB8AC3E}">
        <p14:creationId xmlns:p14="http://schemas.microsoft.com/office/powerpoint/2010/main" val="1783933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3D97A-49D8-83F8-2176-8F606370DD62}"/>
              </a:ext>
            </a:extLst>
          </p:cNvPr>
          <p:cNvSpPr>
            <a:spLocks noGrp="1"/>
          </p:cNvSpPr>
          <p:nvPr>
            <p:ph type="title"/>
          </p:nvPr>
        </p:nvSpPr>
        <p:spPr>
          <a:xfrm>
            <a:off x="685587" y="91063"/>
            <a:ext cx="7704000" cy="572700"/>
          </a:xfrm>
        </p:spPr>
        <p:txBody>
          <a:bodyPr/>
          <a:lstStyle/>
          <a:p>
            <a:r>
              <a:rPr lang="en-IN" dirty="0"/>
              <a:t>Android Security Overview</a:t>
            </a:r>
          </a:p>
        </p:txBody>
      </p:sp>
      <p:sp>
        <p:nvSpPr>
          <p:cNvPr id="3" name="Text Placeholder 2">
            <a:extLst>
              <a:ext uri="{FF2B5EF4-FFF2-40B4-BE49-F238E27FC236}">
                <a16:creationId xmlns:a16="http://schemas.microsoft.com/office/drawing/2014/main" id="{483069A9-8BB1-8E03-FC8B-3D1B2E32B7AB}"/>
              </a:ext>
            </a:extLst>
          </p:cNvPr>
          <p:cNvSpPr>
            <a:spLocks noGrp="1"/>
          </p:cNvSpPr>
          <p:nvPr>
            <p:ph type="body" idx="1"/>
          </p:nvPr>
        </p:nvSpPr>
        <p:spPr>
          <a:xfrm>
            <a:off x="720000" y="811161"/>
            <a:ext cx="7704000" cy="3792789"/>
          </a:xfrm>
        </p:spPr>
        <p:txBody>
          <a:bodyPr/>
          <a:lstStyle/>
          <a:p>
            <a:r>
              <a:rPr lang="en-US" sz="2400" dirty="0"/>
              <a:t>Android Security uses a </a:t>
            </a:r>
            <a:r>
              <a:rPr lang="en-US" sz="2400" b="1" dirty="0"/>
              <a:t>multi-layered defense-in-depth model</a:t>
            </a:r>
            <a:r>
              <a:rPr lang="en-US" sz="2400" dirty="0"/>
              <a:t> — meaning each layer of the architecture contributes to overall protection.</a:t>
            </a:r>
          </a:p>
          <a:p>
            <a:r>
              <a:rPr lang="en-US" sz="2400" b="1" dirty="0"/>
              <a:t>Main Security Mechanisms:</a:t>
            </a:r>
            <a:endParaRPr lang="en-US" sz="2400" dirty="0"/>
          </a:p>
          <a:p>
            <a:pPr lvl="1"/>
            <a:r>
              <a:rPr lang="en-US" sz="2000" b="1" dirty="0"/>
              <a:t>Sandboxing:</a:t>
            </a:r>
            <a:r>
              <a:rPr lang="en-US" sz="2000" dirty="0"/>
              <a:t> Isolates apps from each other.</a:t>
            </a:r>
          </a:p>
          <a:p>
            <a:pPr lvl="1"/>
            <a:r>
              <a:rPr lang="en-US" sz="2000" b="1" dirty="0"/>
              <a:t>Permissions System:</a:t>
            </a:r>
            <a:r>
              <a:rPr lang="en-US" sz="2000" dirty="0"/>
              <a:t> User consent for sensitive operations.</a:t>
            </a:r>
          </a:p>
          <a:p>
            <a:pPr lvl="1"/>
            <a:r>
              <a:rPr lang="en-US" sz="2000" b="1" dirty="0"/>
              <a:t>Google Play Protect:</a:t>
            </a:r>
            <a:r>
              <a:rPr lang="en-US" sz="2000" dirty="0"/>
              <a:t> Scans apps for malicious behavior.</a:t>
            </a:r>
          </a:p>
          <a:p>
            <a:pPr lvl="1"/>
            <a:r>
              <a:rPr lang="en-US" sz="2000" b="1" dirty="0" err="1"/>
              <a:t>SELinux</a:t>
            </a:r>
            <a:r>
              <a:rPr lang="en-US" sz="2000" b="1" dirty="0"/>
              <a:t>:</a:t>
            </a:r>
            <a:r>
              <a:rPr lang="en-US" sz="2000" dirty="0"/>
              <a:t> Enforces strict access control at the kernel level.</a:t>
            </a:r>
          </a:p>
          <a:p>
            <a:pPr lvl="1"/>
            <a:r>
              <a:rPr lang="en-US" sz="2000" b="1" dirty="0"/>
              <a:t>Regular Security Patches:</a:t>
            </a:r>
            <a:r>
              <a:rPr lang="en-US" sz="2000" dirty="0"/>
              <a:t> Fix known vulnerabilities.</a:t>
            </a:r>
          </a:p>
          <a:p>
            <a:endParaRPr lang="en-IN" sz="2400" dirty="0"/>
          </a:p>
        </p:txBody>
      </p:sp>
    </p:spTree>
    <p:extLst>
      <p:ext uri="{BB962C8B-B14F-4D97-AF65-F5344CB8AC3E}">
        <p14:creationId xmlns:p14="http://schemas.microsoft.com/office/powerpoint/2010/main" val="3591130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962" y="63361"/>
            <a:ext cx="7704000" cy="572700"/>
          </a:xfrm>
        </p:spPr>
        <p:txBody>
          <a:bodyPr/>
          <a:lstStyle/>
          <a:p>
            <a:r>
              <a:rPr lang="en-US" dirty="0"/>
              <a:t>Architecture</a:t>
            </a:r>
          </a:p>
        </p:txBody>
      </p:sp>
      <p:pic>
        <p:nvPicPr>
          <p:cNvPr id="4" name="Picture 3" descr="A screenshot of a computer program&#10;&#10;AI-generated content may be incorrect.">
            <a:extLst>
              <a:ext uri="{FF2B5EF4-FFF2-40B4-BE49-F238E27FC236}">
                <a16:creationId xmlns:a16="http://schemas.microsoft.com/office/drawing/2014/main" id="{2D8E1D25-322E-E8A1-9CA7-E96F9D79D5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88549" y="81731"/>
            <a:ext cx="4993663" cy="4980038"/>
          </a:xfrm>
          <a:prstGeom prst="rect">
            <a:avLst/>
          </a:prstGeom>
        </p:spPr>
      </p:pic>
    </p:spTree>
    <p:extLst>
      <p:ext uri="{BB962C8B-B14F-4D97-AF65-F5344CB8AC3E}">
        <p14:creationId xmlns:p14="http://schemas.microsoft.com/office/powerpoint/2010/main" val="1395229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5068A-F897-671D-B5B4-184D7DD536B1}"/>
              </a:ext>
            </a:extLst>
          </p:cNvPr>
          <p:cNvSpPr>
            <a:spLocks noGrp="1"/>
          </p:cNvSpPr>
          <p:nvPr>
            <p:ph type="title"/>
          </p:nvPr>
        </p:nvSpPr>
        <p:spPr>
          <a:xfrm>
            <a:off x="720000" y="145141"/>
            <a:ext cx="7704000" cy="572700"/>
          </a:xfrm>
        </p:spPr>
        <p:txBody>
          <a:bodyPr/>
          <a:lstStyle/>
          <a:p>
            <a:r>
              <a:rPr lang="en-IN" dirty="0"/>
              <a:t>Applications Layer</a:t>
            </a:r>
          </a:p>
        </p:txBody>
      </p:sp>
      <p:sp>
        <p:nvSpPr>
          <p:cNvPr id="3" name="Text Placeholder 2">
            <a:extLst>
              <a:ext uri="{FF2B5EF4-FFF2-40B4-BE49-F238E27FC236}">
                <a16:creationId xmlns:a16="http://schemas.microsoft.com/office/drawing/2014/main" id="{2F342216-6055-B2D1-1D2E-5648819C427A}"/>
              </a:ext>
            </a:extLst>
          </p:cNvPr>
          <p:cNvSpPr>
            <a:spLocks noGrp="1"/>
          </p:cNvSpPr>
          <p:nvPr>
            <p:ph type="body" idx="1"/>
          </p:nvPr>
        </p:nvSpPr>
        <p:spPr>
          <a:xfrm>
            <a:off x="720000" y="889819"/>
            <a:ext cx="7704000" cy="3714131"/>
          </a:xfrm>
        </p:spPr>
        <p:txBody>
          <a:bodyPr/>
          <a:lstStyle/>
          <a:p>
            <a:r>
              <a:rPr lang="en-US" sz="2400" b="1" dirty="0"/>
              <a:t>Description:</a:t>
            </a:r>
            <a:endParaRPr lang="en-US" sz="2400" dirty="0"/>
          </a:p>
          <a:p>
            <a:pPr lvl="1"/>
            <a:r>
              <a:rPr lang="en-US" sz="2000" dirty="0"/>
              <a:t>The topmost layer where user and system apps run (Home, Camera, Gallery, Clock, etc.).</a:t>
            </a:r>
          </a:p>
          <a:p>
            <a:pPr lvl="1"/>
            <a:r>
              <a:rPr lang="en-US" sz="2000" dirty="0"/>
              <a:t>Apps communicate through defined interfaces — no direct hardware or kernel access.</a:t>
            </a:r>
          </a:p>
          <a:p>
            <a:r>
              <a:rPr lang="en-US" sz="2400" b="1" dirty="0"/>
              <a:t>Security Role:</a:t>
            </a:r>
            <a:endParaRPr lang="en-US" sz="2400" dirty="0"/>
          </a:p>
          <a:p>
            <a:pPr lvl="1"/>
            <a:r>
              <a:rPr lang="en-US" sz="2000" b="1" dirty="0"/>
              <a:t>Sandboxing:</a:t>
            </a:r>
            <a:r>
              <a:rPr lang="en-US" sz="2000" dirty="0"/>
              <a:t> Each app runs in an isolated environment.</a:t>
            </a:r>
          </a:p>
          <a:p>
            <a:pPr lvl="1"/>
            <a:r>
              <a:rPr lang="en-US" sz="2000" b="1" dirty="0"/>
              <a:t>Permissions:</a:t>
            </a:r>
            <a:r>
              <a:rPr lang="en-US" sz="2000" dirty="0"/>
              <a:t> Apps request user approval to access resources.</a:t>
            </a:r>
          </a:p>
          <a:p>
            <a:pPr lvl="1"/>
            <a:r>
              <a:rPr lang="en-US" sz="2000" b="1" dirty="0"/>
              <a:t>App Signing:</a:t>
            </a:r>
            <a:r>
              <a:rPr lang="en-US" sz="2000" dirty="0"/>
              <a:t> Ensures integrity and authenticity of applications.</a:t>
            </a:r>
          </a:p>
          <a:p>
            <a:endParaRPr lang="en-IN" sz="2400" dirty="0"/>
          </a:p>
        </p:txBody>
      </p:sp>
    </p:spTree>
    <p:extLst>
      <p:ext uri="{BB962C8B-B14F-4D97-AF65-F5344CB8AC3E}">
        <p14:creationId xmlns:p14="http://schemas.microsoft.com/office/powerpoint/2010/main" val="3613177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22012-66F0-1136-9E22-318A5E11F85B}"/>
              </a:ext>
            </a:extLst>
          </p:cNvPr>
          <p:cNvSpPr>
            <a:spLocks noGrp="1"/>
          </p:cNvSpPr>
          <p:nvPr>
            <p:ph type="title"/>
          </p:nvPr>
        </p:nvSpPr>
        <p:spPr>
          <a:xfrm>
            <a:off x="720000" y="120561"/>
            <a:ext cx="7704000" cy="572700"/>
          </a:xfrm>
        </p:spPr>
        <p:txBody>
          <a:bodyPr/>
          <a:lstStyle/>
          <a:p>
            <a:r>
              <a:rPr lang="en-IN" dirty="0"/>
              <a:t>Application Framework Layer</a:t>
            </a:r>
          </a:p>
        </p:txBody>
      </p:sp>
      <p:sp>
        <p:nvSpPr>
          <p:cNvPr id="3" name="Text Placeholder 2">
            <a:extLst>
              <a:ext uri="{FF2B5EF4-FFF2-40B4-BE49-F238E27FC236}">
                <a16:creationId xmlns:a16="http://schemas.microsoft.com/office/drawing/2014/main" id="{393965FF-BC02-0BA8-09F4-52A76315506B}"/>
              </a:ext>
            </a:extLst>
          </p:cNvPr>
          <p:cNvSpPr>
            <a:spLocks noGrp="1"/>
          </p:cNvSpPr>
          <p:nvPr>
            <p:ph type="body" idx="1"/>
          </p:nvPr>
        </p:nvSpPr>
        <p:spPr>
          <a:xfrm>
            <a:off x="388373" y="742334"/>
            <a:ext cx="8878530" cy="4355691"/>
          </a:xfrm>
        </p:spPr>
        <p:txBody>
          <a:bodyPr/>
          <a:lstStyle/>
          <a:p>
            <a:r>
              <a:rPr lang="en-US" sz="2000" b="1" dirty="0"/>
              <a:t>Description:</a:t>
            </a:r>
            <a:endParaRPr lang="en-US" sz="2000" dirty="0"/>
          </a:p>
          <a:p>
            <a:pPr lvl="1"/>
            <a:r>
              <a:rPr lang="en-US" sz="1800" dirty="0"/>
              <a:t>Provides reusable APIs and system services for app developers.</a:t>
            </a:r>
          </a:p>
          <a:p>
            <a:pPr lvl="1"/>
            <a:r>
              <a:rPr lang="en-US" sz="1800" dirty="0"/>
              <a:t>Components:</a:t>
            </a:r>
          </a:p>
          <a:p>
            <a:pPr lvl="2"/>
            <a:r>
              <a:rPr lang="en-US" sz="1800" dirty="0"/>
              <a:t>Activity Manager</a:t>
            </a:r>
          </a:p>
          <a:p>
            <a:pPr lvl="2"/>
            <a:r>
              <a:rPr lang="en-US" sz="1800" dirty="0"/>
              <a:t>Notification Manager</a:t>
            </a:r>
          </a:p>
          <a:p>
            <a:pPr lvl="2"/>
            <a:r>
              <a:rPr lang="en-US" sz="1800" dirty="0"/>
              <a:t>Content Providers</a:t>
            </a:r>
          </a:p>
          <a:p>
            <a:pPr lvl="2"/>
            <a:r>
              <a:rPr lang="en-US" sz="1800" dirty="0"/>
              <a:t>Package Manager</a:t>
            </a:r>
          </a:p>
          <a:p>
            <a:pPr lvl="2"/>
            <a:r>
              <a:rPr lang="en-US" sz="1800" dirty="0"/>
              <a:t>Window Manager</a:t>
            </a:r>
          </a:p>
          <a:p>
            <a:pPr lvl="2"/>
            <a:r>
              <a:rPr lang="en-US" sz="1800" dirty="0"/>
              <a:t>View System</a:t>
            </a:r>
          </a:p>
          <a:p>
            <a:r>
              <a:rPr lang="en-US" sz="2000" b="1" dirty="0"/>
              <a:t>Security Role:</a:t>
            </a:r>
            <a:endParaRPr lang="en-US" sz="2000" dirty="0"/>
          </a:p>
          <a:p>
            <a:pPr lvl="1"/>
            <a:r>
              <a:rPr lang="en-US" sz="1800" dirty="0"/>
              <a:t>Controls </a:t>
            </a:r>
            <a:r>
              <a:rPr lang="en-US" sz="1800" b="1" dirty="0"/>
              <a:t>data sharing</a:t>
            </a:r>
            <a:r>
              <a:rPr lang="en-US" sz="1800" dirty="0"/>
              <a:t> through Content Providers.</a:t>
            </a:r>
          </a:p>
          <a:p>
            <a:pPr lvl="1"/>
            <a:r>
              <a:rPr lang="en-US" sz="1800" dirty="0"/>
              <a:t>Enforces </a:t>
            </a:r>
            <a:r>
              <a:rPr lang="en-US" sz="1800" b="1" dirty="0"/>
              <a:t>permissions and policy checks</a:t>
            </a:r>
            <a:r>
              <a:rPr lang="en-US" sz="1800" dirty="0"/>
              <a:t> before granting resource access.</a:t>
            </a:r>
          </a:p>
          <a:p>
            <a:pPr lvl="1"/>
            <a:r>
              <a:rPr lang="en-US" sz="1800" dirty="0"/>
              <a:t>Manages secure </a:t>
            </a:r>
            <a:r>
              <a:rPr lang="en-US" sz="1800" b="1" dirty="0"/>
              <a:t>inter-process communication (IPC)</a:t>
            </a:r>
            <a:r>
              <a:rPr lang="en-US" sz="1800" dirty="0"/>
              <a:t>.</a:t>
            </a:r>
          </a:p>
          <a:p>
            <a:endParaRPr lang="en-IN" sz="2000" dirty="0"/>
          </a:p>
        </p:txBody>
      </p:sp>
    </p:spTree>
    <p:extLst>
      <p:ext uri="{BB962C8B-B14F-4D97-AF65-F5344CB8AC3E}">
        <p14:creationId xmlns:p14="http://schemas.microsoft.com/office/powerpoint/2010/main" val="1930327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82BCF-BB5C-74AF-EBF6-9F2A01DD3AEF}"/>
              </a:ext>
            </a:extLst>
          </p:cNvPr>
          <p:cNvSpPr>
            <a:spLocks noGrp="1"/>
          </p:cNvSpPr>
          <p:nvPr>
            <p:ph type="title"/>
          </p:nvPr>
        </p:nvSpPr>
        <p:spPr>
          <a:xfrm>
            <a:off x="720000" y="100896"/>
            <a:ext cx="7704000" cy="572700"/>
          </a:xfrm>
        </p:spPr>
        <p:txBody>
          <a:bodyPr/>
          <a:lstStyle/>
          <a:p>
            <a:r>
              <a:rPr lang="en-IN" dirty="0"/>
              <a:t>Android Runtime Layer</a:t>
            </a:r>
          </a:p>
        </p:txBody>
      </p:sp>
      <p:sp>
        <p:nvSpPr>
          <p:cNvPr id="3" name="Text Placeholder 2">
            <a:extLst>
              <a:ext uri="{FF2B5EF4-FFF2-40B4-BE49-F238E27FC236}">
                <a16:creationId xmlns:a16="http://schemas.microsoft.com/office/drawing/2014/main" id="{EC4E33D3-4BBD-6D26-F9A7-B8774ACC8562}"/>
              </a:ext>
            </a:extLst>
          </p:cNvPr>
          <p:cNvSpPr>
            <a:spLocks noGrp="1"/>
          </p:cNvSpPr>
          <p:nvPr>
            <p:ph type="body" idx="1"/>
          </p:nvPr>
        </p:nvSpPr>
        <p:spPr>
          <a:xfrm>
            <a:off x="720000" y="747252"/>
            <a:ext cx="7704000" cy="3856698"/>
          </a:xfrm>
        </p:spPr>
        <p:txBody>
          <a:bodyPr/>
          <a:lstStyle/>
          <a:p>
            <a:r>
              <a:rPr lang="en-IN" sz="2000" b="1" dirty="0"/>
              <a:t>Description:</a:t>
            </a:r>
            <a:endParaRPr lang="en-IN" sz="2000" dirty="0"/>
          </a:p>
          <a:p>
            <a:pPr lvl="1"/>
            <a:r>
              <a:rPr lang="en-IN" sz="1800" dirty="0"/>
              <a:t>Core part of Android responsible for executing applications.</a:t>
            </a:r>
          </a:p>
          <a:p>
            <a:pPr lvl="1"/>
            <a:r>
              <a:rPr lang="en-IN" sz="1800" dirty="0"/>
              <a:t>Contains:</a:t>
            </a:r>
          </a:p>
          <a:p>
            <a:pPr lvl="2"/>
            <a:r>
              <a:rPr lang="en-IN" sz="1800" b="1" dirty="0"/>
              <a:t>ART (Android Runtime)</a:t>
            </a:r>
            <a:r>
              <a:rPr lang="en-IN" sz="1800" dirty="0"/>
              <a:t> — executes app bytecode.</a:t>
            </a:r>
          </a:p>
          <a:p>
            <a:pPr lvl="2"/>
            <a:r>
              <a:rPr lang="en-IN" sz="1800" b="1" dirty="0"/>
              <a:t>Zygote</a:t>
            </a:r>
            <a:r>
              <a:rPr lang="en-IN" sz="1800" dirty="0"/>
              <a:t> — preloads system classes for faster app launch.</a:t>
            </a:r>
          </a:p>
          <a:p>
            <a:pPr lvl="2"/>
            <a:r>
              <a:rPr lang="en-IN" sz="1800" b="1" dirty="0"/>
              <a:t>Core Libraries</a:t>
            </a:r>
            <a:r>
              <a:rPr lang="en-IN" sz="1800" dirty="0"/>
              <a:t> — provide Java-based system functionalities.</a:t>
            </a:r>
          </a:p>
          <a:p>
            <a:r>
              <a:rPr lang="en-IN" sz="2000" b="1" dirty="0"/>
              <a:t>Security Role:</a:t>
            </a:r>
            <a:endParaRPr lang="en-IN" sz="2000" dirty="0"/>
          </a:p>
          <a:p>
            <a:pPr lvl="1"/>
            <a:r>
              <a:rPr lang="en-IN" sz="1800" b="1" dirty="0"/>
              <a:t>Runtime Permissions:</a:t>
            </a:r>
            <a:r>
              <a:rPr lang="en-IN" sz="1800" dirty="0"/>
              <a:t> Apps request access dynamically.</a:t>
            </a:r>
          </a:p>
          <a:p>
            <a:pPr lvl="1"/>
            <a:r>
              <a:rPr lang="en-IN" sz="1800" b="1" dirty="0"/>
              <a:t>Memory Management:</a:t>
            </a:r>
            <a:r>
              <a:rPr lang="en-IN" sz="1800" dirty="0"/>
              <a:t> Prevents buffer overflows and memory corruption.</a:t>
            </a:r>
          </a:p>
          <a:p>
            <a:pPr lvl="1"/>
            <a:r>
              <a:rPr lang="en-IN" sz="1800" b="1" dirty="0"/>
              <a:t>Code Verification:</a:t>
            </a:r>
            <a:r>
              <a:rPr lang="en-IN" sz="1800" dirty="0"/>
              <a:t> Ensures apps run safely within a managed environment.</a:t>
            </a:r>
          </a:p>
          <a:p>
            <a:endParaRPr lang="en-IN" sz="2000" dirty="0"/>
          </a:p>
        </p:txBody>
      </p:sp>
    </p:spTree>
    <p:extLst>
      <p:ext uri="{BB962C8B-B14F-4D97-AF65-F5344CB8AC3E}">
        <p14:creationId xmlns:p14="http://schemas.microsoft.com/office/powerpoint/2010/main" val="58805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4D043-D881-2383-EA1E-A05F17FCA9B9}"/>
              </a:ext>
            </a:extLst>
          </p:cNvPr>
          <p:cNvSpPr>
            <a:spLocks noGrp="1"/>
          </p:cNvSpPr>
          <p:nvPr>
            <p:ph type="title"/>
          </p:nvPr>
        </p:nvSpPr>
        <p:spPr>
          <a:xfrm>
            <a:off x="720000" y="66484"/>
            <a:ext cx="7704000" cy="572700"/>
          </a:xfrm>
        </p:spPr>
        <p:txBody>
          <a:bodyPr/>
          <a:lstStyle/>
          <a:p>
            <a:r>
              <a:rPr lang="en-IN" dirty="0"/>
              <a:t>Platform Libraries Layer</a:t>
            </a:r>
          </a:p>
        </p:txBody>
      </p:sp>
      <p:sp>
        <p:nvSpPr>
          <p:cNvPr id="3" name="Text Placeholder 2">
            <a:extLst>
              <a:ext uri="{FF2B5EF4-FFF2-40B4-BE49-F238E27FC236}">
                <a16:creationId xmlns:a16="http://schemas.microsoft.com/office/drawing/2014/main" id="{6079EDFD-1D91-5E47-E011-80ED04F75FCE}"/>
              </a:ext>
            </a:extLst>
          </p:cNvPr>
          <p:cNvSpPr>
            <a:spLocks noGrp="1"/>
          </p:cNvSpPr>
          <p:nvPr>
            <p:ph type="body" idx="1"/>
          </p:nvPr>
        </p:nvSpPr>
        <p:spPr>
          <a:xfrm>
            <a:off x="720000" y="639184"/>
            <a:ext cx="7704000" cy="3964766"/>
          </a:xfrm>
        </p:spPr>
        <p:txBody>
          <a:bodyPr/>
          <a:lstStyle/>
          <a:p>
            <a:r>
              <a:rPr lang="en-IN" sz="2400" b="1" dirty="0"/>
              <a:t>Description:</a:t>
            </a:r>
            <a:endParaRPr lang="en-IN" sz="2400" dirty="0"/>
          </a:p>
          <a:p>
            <a:pPr lvl="1"/>
            <a:r>
              <a:rPr lang="en-IN" sz="2200" dirty="0"/>
              <a:t>Includes essential C/C++ libraries for system operations (Media, Graphics, SQLite, SSL, </a:t>
            </a:r>
            <a:r>
              <a:rPr lang="en-IN" sz="2200" dirty="0" err="1"/>
              <a:t>FreeType</a:t>
            </a:r>
            <a:r>
              <a:rPr lang="en-IN" sz="2200" dirty="0"/>
              <a:t>, OpenGL).</a:t>
            </a:r>
          </a:p>
          <a:p>
            <a:r>
              <a:rPr lang="en-IN" sz="2400" b="1" dirty="0"/>
              <a:t>Security Role:</a:t>
            </a:r>
            <a:endParaRPr lang="en-IN" sz="2400" dirty="0"/>
          </a:p>
          <a:p>
            <a:pPr lvl="1"/>
            <a:r>
              <a:rPr lang="en-IN" sz="2200" b="1" dirty="0"/>
              <a:t>SSL/TLS:</a:t>
            </a:r>
            <a:r>
              <a:rPr lang="en-IN" sz="2200" dirty="0"/>
              <a:t> Secure network communication (HTTPS).</a:t>
            </a:r>
          </a:p>
          <a:p>
            <a:pPr lvl="1"/>
            <a:r>
              <a:rPr lang="en-IN" sz="2200" b="1" dirty="0"/>
              <a:t>SQLite:</a:t>
            </a:r>
            <a:r>
              <a:rPr lang="en-IN" sz="2200" dirty="0"/>
              <a:t> Manages secure, isolated data storage.</a:t>
            </a:r>
          </a:p>
          <a:p>
            <a:pPr lvl="1"/>
            <a:r>
              <a:rPr lang="en-IN" sz="2200" b="1" dirty="0"/>
              <a:t>Library Hardening:</a:t>
            </a:r>
            <a:r>
              <a:rPr lang="en-IN" sz="2200" dirty="0"/>
              <a:t> Prevents exploits in native code.</a:t>
            </a:r>
          </a:p>
          <a:p>
            <a:endParaRPr lang="en-IN" sz="2400" dirty="0"/>
          </a:p>
        </p:txBody>
      </p:sp>
    </p:spTree>
    <p:extLst>
      <p:ext uri="{BB962C8B-B14F-4D97-AF65-F5344CB8AC3E}">
        <p14:creationId xmlns:p14="http://schemas.microsoft.com/office/powerpoint/2010/main" val="1606052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80B73-BEE0-A6F2-A7B0-F77FF088CFF9}"/>
              </a:ext>
            </a:extLst>
          </p:cNvPr>
          <p:cNvSpPr>
            <a:spLocks noGrp="1"/>
          </p:cNvSpPr>
          <p:nvPr>
            <p:ph type="title"/>
          </p:nvPr>
        </p:nvSpPr>
        <p:spPr>
          <a:xfrm>
            <a:off x="720000" y="91064"/>
            <a:ext cx="7704000" cy="572700"/>
          </a:xfrm>
        </p:spPr>
        <p:txBody>
          <a:bodyPr/>
          <a:lstStyle/>
          <a:p>
            <a:r>
              <a:rPr lang="en-IN" dirty="0"/>
              <a:t>Linux Kernel Layer</a:t>
            </a:r>
          </a:p>
        </p:txBody>
      </p:sp>
      <p:sp>
        <p:nvSpPr>
          <p:cNvPr id="3" name="Text Placeholder 2">
            <a:extLst>
              <a:ext uri="{FF2B5EF4-FFF2-40B4-BE49-F238E27FC236}">
                <a16:creationId xmlns:a16="http://schemas.microsoft.com/office/drawing/2014/main" id="{8F05C941-672A-508F-29AC-45E8BADE4139}"/>
              </a:ext>
            </a:extLst>
          </p:cNvPr>
          <p:cNvSpPr>
            <a:spLocks noGrp="1"/>
          </p:cNvSpPr>
          <p:nvPr>
            <p:ph type="body" idx="1"/>
          </p:nvPr>
        </p:nvSpPr>
        <p:spPr>
          <a:xfrm>
            <a:off x="720000" y="737419"/>
            <a:ext cx="7704000" cy="3866531"/>
          </a:xfrm>
        </p:spPr>
        <p:txBody>
          <a:bodyPr/>
          <a:lstStyle/>
          <a:p>
            <a:r>
              <a:rPr lang="en-IN" sz="2000" b="1" dirty="0"/>
              <a:t>Description:</a:t>
            </a:r>
            <a:endParaRPr lang="en-IN" sz="2000" dirty="0"/>
          </a:p>
          <a:p>
            <a:pPr lvl="1"/>
            <a:r>
              <a:rPr lang="en-IN" sz="1800" dirty="0"/>
              <a:t>The foundation of Android OS; manages process, memory, and hardware.</a:t>
            </a:r>
          </a:p>
          <a:p>
            <a:pPr lvl="1"/>
            <a:r>
              <a:rPr lang="en-IN" sz="1800" dirty="0"/>
              <a:t>Includes hardware drivers (Wi-Fi, Camera, Bluetooth, Audio, USB).</a:t>
            </a:r>
          </a:p>
          <a:p>
            <a:r>
              <a:rPr lang="en-IN" sz="2000" b="1" dirty="0"/>
              <a:t>Security Role:</a:t>
            </a:r>
            <a:endParaRPr lang="en-IN" sz="2000" dirty="0"/>
          </a:p>
          <a:p>
            <a:pPr lvl="1"/>
            <a:r>
              <a:rPr lang="en-IN" sz="1800" b="1" dirty="0"/>
              <a:t>Process Isolation:</a:t>
            </a:r>
            <a:r>
              <a:rPr lang="en-IN" sz="1800" dirty="0"/>
              <a:t> Each app has a unique user ID (UID).</a:t>
            </a:r>
          </a:p>
          <a:p>
            <a:pPr lvl="1"/>
            <a:r>
              <a:rPr lang="en-IN" sz="1800" b="1" dirty="0" err="1"/>
              <a:t>SELinux</a:t>
            </a:r>
            <a:r>
              <a:rPr lang="en-IN" sz="1800" b="1" dirty="0"/>
              <a:t> (Security-Enhanced Linux):</a:t>
            </a:r>
            <a:r>
              <a:rPr lang="en-IN" sz="1800" dirty="0"/>
              <a:t> Enforces mandatory access control.</a:t>
            </a:r>
          </a:p>
          <a:p>
            <a:pPr lvl="1"/>
            <a:r>
              <a:rPr lang="en-IN" sz="1800" b="1" dirty="0"/>
              <a:t>Hardware Abstraction:</a:t>
            </a:r>
            <a:r>
              <a:rPr lang="en-IN" sz="1800" dirty="0"/>
              <a:t> Prevents apps from directly accessing device drivers.</a:t>
            </a:r>
          </a:p>
          <a:p>
            <a:pPr lvl="1"/>
            <a:r>
              <a:rPr lang="en-IN" sz="1800" b="1" dirty="0"/>
              <a:t>Secure Boot &amp; Verified Boot:</a:t>
            </a:r>
            <a:r>
              <a:rPr lang="en-IN" sz="1800" dirty="0"/>
              <a:t> Ensure OS integrity from startup.</a:t>
            </a:r>
          </a:p>
          <a:p>
            <a:endParaRPr lang="en-IN" sz="2000" dirty="0"/>
          </a:p>
        </p:txBody>
      </p:sp>
    </p:spTree>
    <p:extLst>
      <p:ext uri="{BB962C8B-B14F-4D97-AF65-F5344CB8AC3E}">
        <p14:creationId xmlns:p14="http://schemas.microsoft.com/office/powerpoint/2010/main" val="980124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C0A0-2682-FFDF-203A-8619C89655CB}"/>
              </a:ext>
            </a:extLst>
          </p:cNvPr>
          <p:cNvSpPr>
            <a:spLocks noGrp="1"/>
          </p:cNvSpPr>
          <p:nvPr>
            <p:ph type="title"/>
          </p:nvPr>
        </p:nvSpPr>
        <p:spPr/>
        <p:txBody>
          <a:bodyPr/>
          <a:lstStyle/>
          <a:p>
            <a:r>
              <a:rPr lang="en-IN" dirty="0"/>
              <a:t>Summary — Security by Design</a:t>
            </a:r>
          </a:p>
        </p:txBody>
      </p:sp>
      <p:graphicFrame>
        <p:nvGraphicFramePr>
          <p:cNvPr id="4" name="Table 3">
            <a:extLst>
              <a:ext uri="{FF2B5EF4-FFF2-40B4-BE49-F238E27FC236}">
                <a16:creationId xmlns:a16="http://schemas.microsoft.com/office/drawing/2014/main" id="{34B61FEB-5367-2183-020F-4AA77ADF1373}"/>
              </a:ext>
            </a:extLst>
          </p:cNvPr>
          <p:cNvGraphicFramePr>
            <a:graphicFrameLocks noGrp="1"/>
          </p:cNvGraphicFramePr>
          <p:nvPr>
            <p:extLst>
              <p:ext uri="{D42A27DB-BD31-4B8C-83A1-F6EECF244321}">
                <p14:modId xmlns:p14="http://schemas.microsoft.com/office/powerpoint/2010/main" val="2832102584"/>
              </p:ext>
            </p:extLst>
          </p:nvPr>
        </p:nvGraphicFramePr>
        <p:xfrm>
          <a:off x="762000" y="1214284"/>
          <a:ext cx="7669212" cy="3124670"/>
        </p:xfrm>
        <a:graphic>
          <a:graphicData uri="http://schemas.openxmlformats.org/drawingml/2006/table">
            <a:tbl>
              <a:tblPr/>
              <a:tblGrid>
                <a:gridCol w="2379406">
                  <a:extLst>
                    <a:ext uri="{9D8B030D-6E8A-4147-A177-3AD203B41FA5}">
                      <a16:colId xmlns:a16="http://schemas.microsoft.com/office/drawing/2014/main" val="424119724"/>
                    </a:ext>
                  </a:extLst>
                </a:gridCol>
                <a:gridCol w="5289806">
                  <a:extLst>
                    <a:ext uri="{9D8B030D-6E8A-4147-A177-3AD203B41FA5}">
                      <a16:colId xmlns:a16="http://schemas.microsoft.com/office/drawing/2014/main" val="3055838104"/>
                    </a:ext>
                  </a:extLst>
                </a:gridCol>
              </a:tblGrid>
              <a:tr h="419163">
                <a:tc>
                  <a:txBody>
                    <a:bodyPr/>
                    <a:lstStyle/>
                    <a:p>
                      <a:pPr>
                        <a:buNone/>
                      </a:pPr>
                      <a:r>
                        <a:rPr lang="en-IN" sz="1600" b="1"/>
                        <a:t>Layer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dirty="0"/>
                        <a:t>Key Security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93619872"/>
                  </a:ext>
                </a:extLst>
              </a:tr>
              <a:tr h="419163">
                <a:tc>
                  <a:txBody>
                    <a:bodyPr/>
                    <a:lstStyle/>
                    <a:p>
                      <a:pPr>
                        <a:buNone/>
                      </a:pPr>
                      <a:r>
                        <a:rPr lang="en-IN" sz="1600" b="1" dirty="0"/>
                        <a:t>Applications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Sandboxing, App Signing, Permissions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8345294"/>
                  </a:ext>
                </a:extLst>
              </a:tr>
              <a:tr h="419163">
                <a:tc>
                  <a:txBody>
                    <a:bodyPr/>
                    <a:lstStyle/>
                    <a:p>
                      <a:pPr>
                        <a:buNone/>
                      </a:pPr>
                      <a:r>
                        <a:rPr lang="en-IN" sz="1600" b="1" dirty="0"/>
                        <a:t>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Access Control, Data Protection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1342581"/>
                  </a:ext>
                </a:extLst>
              </a:tr>
              <a:tr h="419163">
                <a:tc>
                  <a:txBody>
                    <a:bodyPr/>
                    <a:lstStyle/>
                    <a:p>
                      <a:pPr>
                        <a:buNone/>
                      </a:pPr>
                      <a:r>
                        <a:rPr lang="en-IN" sz="1600" b="1"/>
                        <a:t>Runtime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Code Verification, Memory Safety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4081944"/>
                  </a:ext>
                </a:extLst>
              </a:tr>
              <a:tr h="724009">
                <a:tc>
                  <a:txBody>
                    <a:bodyPr/>
                    <a:lstStyle/>
                    <a:p>
                      <a:pPr>
                        <a:buNone/>
                      </a:pPr>
                      <a:r>
                        <a:rPr lang="en-IN" sz="1600" b="1"/>
                        <a:t>Libraries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Secure Communication, Encrypted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7682942"/>
                  </a:ext>
                </a:extLst>
              </a:tr>
              <a:tr h="724009">
                <a:tc>
                  <a:txBody>
                    <a:bodyPr/>
                    <a:lstStyle/>
                    <a:p>
                      <a:pPr>
                        <a:buNone/>
                      </a:pPr>
                      <a:r>
                        <a:rPr lang="en-IN" sz="1600" b="1" dirty="0"/>
                        <a:t>Kernel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err="1"/>
                        <a:t>SELinux</a:t>
                      </a:r>
                      <a:r>
                        <a:rPr lang="en-IN" sz="1600" dirty="0"/>
                        <a:t>, Process Isolation, Hardware Protection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1030278"/>
                  </a:ext>
                </a:extLst>
              </a:tr>
            </a:tbl>
          </a:graphicData>
        </a:graphic>
      </p:graphicFrame>
    </p:spTree>
    <p:extLst>
      <p:ext uri="{BB962C8B-B14F-4D97-AF65-F5344CB8AC3E}">
        <p14:creationId xmlns:p14="http://schemas.microsoft.com/office/powerpoint/2010/main" val="1846292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D269C-DC65-D246-1573-918F7A528D98}"/>
              </a:ext>
            </a:extLst>
          </p:cNvPr>
          <p:cNvSpPr>
            <a:spLocks noGrp="1"/>
          </p:cNvSpPr>
          <p:nvPr>
            <p:ph type="title"/>
          </p:nvPr>
        </p:nvSpPr>
        <p:spPr/>
        <p:txBody>
          <a:bodyPr/>
          <a:lstStyle/>
          <a:p>
            <a:r>
              <a:rPr lang="en-IN" dirty="0"/>
              <a:t>Linux Kernel</a:t>
            </a:r>
          </a:p>
        </p:txBody>
      </p:sp>
      <p:sp>
        <p:nvSpPr>
          <p:cNvPr id="3" name="Text Placeholder 2">
            <a:extLst>
              <a:ext uri="{FF2B5EF4-FFF2-40B4-BE49-F238E27FC236}">
                <a16:creationId xmlns:a16="http://schemas.microsoft.com/office/drawing/2014/main" id="{80062AF6-9DF6-D031-1838-332C9C1994C2}"/>
              </a:ext>
            </a:extLst>
          </p:cNvPr>
          <p:cNvSpPr>
            <a:spLocks noGrp="1"/>
          </p:cNvSpPr>
          <p:nvPr>
            <p:ph type="body" idx="1"/>
          </p:nvPr>
        </p:nvSpPr>
        <p:spPr>
          <a:xfrm>
            <a:off x="720000" y="1017725"/>
            <a:ext cx="7704000" cy="3586225"/>
          </a:xfrm>
        </p:spPr>
        <p:txBody>
          <a:bodyPr/>
          <a:lstStyle/>
          <a:p>
            <a:pPr marL="425450" indent="-285750">
              <a:buFont typeface="Arial" panose="020B0604020202020204" pitchFamily="34" charset="0"/>
              <a:buChar char="•"/>
            </a:pPr>
            <a:r>
              <a:rPr lang="en-IN" sz="1800" dirty="0"/>
              <a:t>The </a:t>
            </a:r>
            <a:r>
              <a:rPr lang="en-IN" sz="1800" b="1" dirty="0"/>
              <a:t>core</a:t>
            </a:r>
            <a:r>
              <a:rPr lang="en-IN" sz="1800" dirty="0"/>
              <a:t> of Android OS — built on the </a:t>
            </a:r>
            <a:r>
              <a:rPr lang="en-IN" sz="1800" b="1" dirty="0"/>
              <a:t>Linux kernel</a:t>
            </a:r>
            <a:r>
              <a:rPr lang="en-IN" sz="1800" dirty="0"/>
              <a:t>.</a:t>
            </a:r>
          </a:p>
          <a:p>
            <a:pPr marL="425450" indent="-285750">
              <a:buFont typeface="Arial" panose="020B0604020202020204" pitchFamily="34" charset="0"/>
              <a:buChar char="•"/>
            </a:pPr>
            <a:r>
              <a:rPr lang="en-IN" sz="1800" dirty="0"/>
              <a:t>Handles </a:t>
            </a:r>
            <a:r>
              <a:rPr lang="en-IN" sz="1800" b="1" dirty="0"/>
              <a:t>low-level system services</a:t>
            </a:r>
            <a:r>
              <a:rPr lang="en-IN" sz="1800" dirty="0"/>
              <a:t> </a:t>
            </a:r>
            <a:r>
              <a:rPr lang="en-IN" sz="1800" b="1" dirty="0"/>
              <a:t>like process management, memory management, power management, device drivers, and security</a:t>
            </a:r>
            <a:r>
              <a:rPr lang="en-IN" sz="1800" dirty="0"/>
              <a:t>.</a:t>
            </a:r>
          </a:p>
          <a:p>
            <a:pPr marL="425450" indent="-285750">
              <a:buFont typeface="Arial" panose="020B0604020202020204" pitchFamily="34" charset="0"/>
              <a:buChar char="•"/>
            </a:pPr>
            <a:r>
              <a:rPr lang="en-IN" sz="1800" dirty="0"/>
              <a:t>Provides </a:t>
            </a:r>
            <a:r>
              <a:rPr lang="en-IN" sz="1800" b="1" dirty="0"/>
              <a:t>hardware abstraction</a:t>
            </a:r>
            <a:r>
              <a:rPr lang="en-IN" sz="1800" dirty="0"/>
              <a:t> — meaning apps don’t access hardware directly (e.g., camera, Wi-Fi, Bluetooth).</a:t>
            </a:r>
          </a:p>
          <a:p>
            <a:pPr marL="425450" indent="-285750">
              <a:buFont typeface="Arial" panose="020B0604020202020204" pitchFamily="34" charset="0"/>
              <a:buChar char="•"/>
            </a:pPr>
            <a:r>
              <a:rPr lang="en-IN" sz="1800" dirty="0"/>
              <a:t>Uses </a:t>
            </a:r>
            <a:r>
              <a:rPr lang="en-IN" sz="1800" b="1" dirty="0"/>
              <a:t>process isolation</a:t>
            </a:r>
            <a:r>
              <a:rPr lang="en-IN" sz="1800" dirty="0"/>
              <a:t> and </a:t>
            </a:r>
            <a:r>
              <a:rPr lang="en-IN" sz="1800" b="1" dirty="0"/>
              <a:t>user-based permissions (UIDs)</a:t>
            </a:r>
            <a:r>
              <a:rPr lang="en-IN" sz="1800" dirty="0"/>
              <a:t> to sandbox apps.</a:t>
            </a:r>
          </a:p>
          <a:p>
            <a:pPr marL="425450" indent="-285750">
              <a:buFont typeface="Arial" panose="020B0604020202020204" pitchFamily="34" charset="0"/>
              <a:buChar char="•"/>
            </a:pPr>
            <a:r>
              <a:rPr lang="en-IN" sz="1800" dirty="0"/>
              <a:t>Implements </a:t>
            </a:r>
            <a:r>
              <a:rPr lang="en-IN" sz="1800" b="1" dirty="0" err="1"/>
              <a:t>SELinux</a:t>
            </a:r>
            <a:r>
              <a:rPr lang="en-IN" sz="1800" b="1" dirty="0"/>
              <a:t> (Security-Enhanced Linux)</a:t>
            </a:r>
            <a:r>
              <a:rPr lang="en-IN" sz="1800" dirty="0"/>
              <a:t> for enforcing strict access control. </a:t>
            </a:r>
            <a:r>
              <a:rPr lang="en-US" sz="1800" dirty="0"/>
              <a:t>Defines strict rules about what each app or system component is allowed to do. Even if an app is hacked, </a:t>
            </a:r>
            <a:r>
              <a:rPr lang="en-US" sz="1800" dirty="0" err="1"/>
              <a:t>SELinux</a:t>
            </a:r>
            <a:r>
              <a:rPr lang="en-US" sz="1800" dirty="0"/>
              <a:t> prevents it from accessing things it shouldn’t.</a:t>
            </a:r>
            <a:endParaRPr lang="en-IN" sz="1800" dirty="0"/>
          </a:p>
          <a:p>
            <a:pPr marL="4254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429580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EF1B-939A-691F-2F23-0787E21ADB2A}"/>
              </a:ext>
            </a:extLst>
          </p:cNvPr>
          <p:cNvSpPr>
            <a:spLocks noGrp="1"/>
          </p:cNvSpPr>
          <p:nvPr>
            <p:ph type="title"/>
          </p:nvPr>
        </p:nvSpPr>
        <p:spPr/>
        <p:txBody>
          <a:bodyPr/>
          <a:lstStyle/>
          <a:p>
            <a:r>
              <a:rPr lang="en-IN" dirty="0"/>
              <a:t>Libraries</a:t>
            </a:r>
          </a:p>
        </p:txBody>
      </p:sp>
      <p:sp>
        <p:nvSpPr>
          <p:cNvPr id="3" name="Text Placeholder 2">
            <a:extLst>
              <a:ext uri="{FF2B5EF4-FFF2-40B4-BE49-F238E27FC236}">
                <a16:creationId xmlns:a16="http://schemas.microsoft.com/office/drawing/2014/main" id="{6F0BE5BC-2B21-1DBD-1B7E-D74EB3918C5C}"/>
              </a:ext>
            </a:extLst>
          </p:cNvPr>
          <p:cNvSpPr>
            <a:spLocks noGrp="1"/>
          </p:cNvSpPr>
          <p:nvPr>
            <p:ph type="body" idx="1"/>
          </p:nvPr>
        </p:nvSpPr>
        <p:spPr/>
        <p:txBody>
          <a:bodyPr/>
          <a:lstStyle/>
          <a:p>
            <a:pPr marL="425450" indent="-285750">
              <a:buFont typeface="Arial" panose="020B0604020202020204" pitchFamily="34" charset="0"/>
              <a:buChar char="•"/>
            </a:pPr>
            <a:r>
              <a:rPr lang="en-US" sz="2000" dirty="0"/>
              <a:t>A set of </a:t>
            </a:r>
            <a:r>
              <a:rPr lang="en-US" sz="2000" b="1" dirty="0"/>
              <a:t>C/C++ libraries</a:t>
            </a:r>
            <a:r>
              <a:rPr lang="en-US" sz="2000" dirty="0"/>
              <a:t> that provide key functionalities to higher layers.</a:t>
            </a:r>
          </a:p>
          <a:p>
            <a:pPr marL="425450" indent="-285750">
              <a:buFont typeface="Arial" panose="020B0604020202020204" pitchFamily="34" charset="0"/>
              <a:buChar char="•"/>
            </a:pPr>
            <a:r>
              <a:rPr lang="en-US" sz="2000" dirty="0"/>
              <a:t>These libraries are used by the Android Runtime and Application Framework.</a:t>
            </a:r>
          </a:p>
          <a:p>
            <a:pPr marL="425450" indent="-285750">
              <a:buFont typeface="Arial" panose="020B0604020202020204" pitchFamily="34" charset="0"/>
              <a:buChar char="•"/>
            </a:pPr>
            <a:r>
              <a:rPr lang="en-US" sz="2000" dirty="0"/>
              <a:t>Examples:</a:t>
            </a:r>
          </a:p>
          <a:p>
            <a:pPr lvl="1"/>
            <a:r>
              <a:rPr lang="en-US" sz="1800" b="1" dirty="0"/>
              <a:t>OpenGL ES:</a:t>
            </a:r>
            <a:r>
              <a:rPr lang="en-US" sz="1800" dirty="0"/>
              <a:t> Graphics rendering</a:t>
            </a:r>
          </a:p>
          <a:p>
            <a:pPr lvl="1"/>
            <a:r>
              <a:rPr lang="en-US" sz="1800" b="1" dirty="0"/>
              <a:t>SQLite:</a:t>
            </a:r>
            <a:r>
              <a:rPr lang="en-US" sz="1800" dirty="0"/>
              <a:t> Database storage</a:t>
            </a:r>
          </a:p>
          <a:p>
            <a:pPr lvl="1"/>
            <a:r>
              <a:rPr lang="en-US" sz="1800" b="1" dirty="0"/>
              <a:t>WebKit:</a:t>
            </a:r>
            <a:r>
              <a:rPr lang="en-US" sz="1800" dirty="0"/>
              <a:t> Browser engine</a:t>
            </a:r>
          </a:p>
          <a:p>
            <a:pPr lvl="1"/>
            <a:r>
              <a:rPr lang="en-US" sz="1800" b="1" dirty="0"/>
              <a:t>SSL:</a:t>
            </a:r>
            <a:r>
              <a:rPr lang="en-US" sz="1800" dirty="0"/>
              <a:t> Secure network communication</a:t>
            </a:r>
          </a:p>
          <a:p>
            <a:pPr lvl="1"/>
            <a:r>
              <a:rPr lang="en-US" sz="1800" b="1" dirty="0"/>
              <a:t>Media Framework:</a:t>
            </a:r>
            <a:r>
              <a:rPr lang="en-US" sz="1800" dirty="0"/>
              <a:t> Audio/video playback and recording</a:t>
            </a:r>
          </a:p>
          <a:p>
            <a:endParaRPr lang="en-IN" sz="2000" dirty="0"/>
          </a:p>
        </p:txBody>
      </p:sp>
    </p:spTree>
    <p:extLst>
      <p:ext uri="{BB962C8B-B14F-4D97-AF65-F5344CB8AC3E}">
        <p14:creationId xmlns:p14="http://schemas.microsoft.com/office/powerpoint/2010/main" val="1121998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FF42B-20C4-2C33-5FEB-F1262ABEB0BA}"/>
              </a:ext>
            </a:extLst>
          </p:cNvPr>
          <p:cNvSpPr>
            <a:spLocks noGrp="1"/>
          </p:cNvSpPr>
          <p:nvPr>
            <p:ph type="title"/>
          </p:nvPr>
        </p:nvSpPr>
        <p:spPr/>
        <p:txBody>
          <a:bodyPr/>
          <a:lstStyle/>
          <a:p>
            <a:r>
              <a:rPr lang="en-IN" dirty="0"/>
              <a:t>Android Runtime (ART)</a:t>
            </a:r>
          </a:p>
        </p:txBody>
      </p:sp>
      <p:sp>
        <p:nvSpPr>
          <p:cNvPr id="3" name="Text Placeholder 2">
            <a:extLst>
              <a:ext uri="{FF2B5EF4-FFF2-40B4-BE49-F238E27FC236}">
                <a16:creationId xmlns:a16="http://schemas.microsoft.com/office/drawing/2014/main" id="{36FF2305-AA59-0700-AB9C-82D319A6A53A}"/>
              </a:ext>
            </a:extLst>
          </p:cNvPr>
          <p:cNvSpPr>
            <a:spLocks noGrp="1"/>
          </p:cNvSpPr>
          <p:nvPr>
            <p:ph type="body" idx="1"/>
          </p:nvPr>
        </p:nvSpPr>
        <p:spPr/>
        <p:txBody>
          <a:bodyPr/>
          <a:lstStyle/>
          <a:p>
            <a:pPr marL="425450" indent="-285750">
              <a:buFont typeface="Arial" panose="020B0604020202020204" pitchFamily="34" charset="0"/>
              <a:buChar char="•"/>
            </a:pPr>
            <a:r>
              <a:rPr lang="en-US" sz="2000" dirty="0"/>
              <a:t>This layer runs and manages </a:t>
            </a:r>
            <a:r>
              <a:rPr lang="en-US" sz="2000" b="1" dirty="0"/>
              <a:t>Android applications</a:t>
            </a:r>
            <a:r>
              <a:rPr lang="en-US" sz="2000" dirty="0"/>
              <a:t>.</a:t>
            </a:r>
          </a:p>
          <a:p>
            <a:pPr marL="425450" indent="-285750">
              <a:buFont typeface="Arial" panose="020B0604020202020204" pitchFamily="34" charset="0"/>
              <a:buChar char="•"/>
            </a:pPr>
            <a:r>
              <a:rPr lang="en-US" sz="2000" b="1" dirty="0"/>
              <a:t>ART (Android Runtime)</a:t>
            </a:r>
            <a:r>
              <a:rPr lang="en-US" sz="2000" dirty="0"/>
              <a:t> replaced the older </a:t>
            </a:r>
            <a:r>
              <a:rPr lang="en-US" sz="2000" b="1" dirty="0"/>
              <a:t>Dalvik VM</a:t>
            </a:r>
            <a:r>
              <a:rPr lang="en-US" sz="2000" dirty="0"/>
              <a:t>.</a:t>
            </a:r>
          </a:p>
          <a:p>
            <a:pPr marL="425450" indent="-285750">
              <a:buFont typeface="Arial" panose="020B0604020202020204" pitchFamily="34" charset="0"/>
              <a:buChar char="•"/>
            </a:pPr>
            <a:r>
              <a:rPr lang="en-US" sz="2000" dirty="0"/>
              <a:t>Each app runs in its </a:t>
            </a:r>
            <a:r>
              <a:rPr lang="en-US" sz="2000" b="1" dirty="0"/>
              <a:t>own process and sandboxed environment</a:t>
            </a:r>
            <a:r>
              <a:rPr lang="en-US" sz="2000" dirty="0"/>
              <a:t>.</a:t>
            </a:r>
          </a:p>
          <a:p>
            <a:pPr marL="425450" indent="-285750">
              <a:buFont typeface="Arial" panose="020B0604020202020204" pitchFamily="34" charset="0"/>
              <a:buChar char="•"/>
            </a:pPr>
            <a:r>
              <a:rPr lang="en-US" sz="2000" dirty="0"/>
              <a:t>ART compiles app code </a:t>
            </a:r>
            <a:r>
              <a:rPr lang="en-US" sz="2000" b="1" dirty="0"/>
              <a:t>Ahead-of-Time (AOT)</a:t>
            </a:r>
            <a:r>
              <a:rPr lang="en-US" sz="2000" dirty="0"/>
              <a:t> into native machine code, improving performance.</a:t>
            </a:r>
          </a:p>
          <a:p>
            <a:pPr marL="425450" indent="-285750">
              <a:buFont typeface="Arial" panose="020B0604020202020204" pitchFamily="34" charset="0"/>
              <a:buChar char="•"/>
            </a:pPr>
            <a:r>
              <a:rPr lang="en-US" sz="2000" dirty="0"/>
              <a:t>Includes </a:t>
            </a:r>
            <a:r>
              <a:rPr lang="en-US" sz="2000" b="1" dirty="0"/>
              <a:t>core Java libraries</a:t>
            </a:r>
            <a:r>
              <a:rPr lang="en-US" sz="2000" dirty="0"/>
              <a:t> that provide basic Android functionality.</a:t>
            </a:r>
          </a:p>
          <a:p>
            <a:pPr marL="425450" indent="-285750">
              <a:buFont typeface="Arial" panose="020B0604020202020204" pitchFamily="34" charset="0"/>
              <a:buChar char="•"/>
            </a:pPr>
            <a:r>
              <a:rPr lang="en-US" sz="2000" dirty="0"/>
              <a:t>Handles </a:t>
            </a:r>
            <a:r>
              <a:rPr lang="en-US" sz="2000" b="1" dirty="0"/>
              <a:t>memory management</a:t>
            </a:r>
            <a:r>
              <a:rPr lang="en-US" sz="2000" dirty="0"/>
              <a:t>, </a:t>
            </a:r>
            <a:r>
              <a:rPr lang="en-US" sz="2000" b="1" dirty="0"/>
              <a:t>garbage collection</a:t>
            </a:r>
            <a:r>
              <a:rPr lang="en-US" sz="2000" dirty="0"/>
              <a:t>, and </a:t>
            </a:r>
            <a:r>
              <a:rPr lang="en-US" sz="2000" b="1" dirty="0"/>
              <a:t>runtime permissions</a:t>
            </a:r>
            <a:r>
              <a:rPr lang="en-US" sz="2000" dirty="0"/>
              <a:t>.</a:t>
            </a:r>
          </a:p>
          <a:p>
            <a:pPr marL="4254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1057219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ext Box 1"/>
          <p:cNvSpPr txBox="1">
            <a:spLocks noChangeArrowheads="1"/>
          </p:cNvSpPr>
          <p:nvPr/>
        </p:nvSpPr>
        <p:spPr bwMode="auto">
          <a:xfrm>
            <a:off x="1515333" y="206614"/>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ctr" eaLnBrk="1">
              <a:lnSpc>
                <a:spcPct val="93000"/>
              </a:lnSpc>
              <a:buClrTx/>
              <a:buFontTx/>
              <a:buNone/>
            </a:pPr>
            <a:r>
              <a:rPr lang="en-US" altLang="en-US" sz="2775" b="1" dirty="0">
                <a:cs typeface="Arial Unicode MS" charset="0"/>
              </a:rPr>
              <a:t>Activity Life Cycle</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985" y="854877"/>
            <a:ext cx="8276357" cy="368762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85985415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8D286-70EC-7C0D-395C-F3DD44AFC99C}"/>
              </a:ext>
            </a:extLst>
          </p:cNvPr>
          <p:cNvSpPr>
            <a:spLocks noGrp="1"/>
          </p:cNvSpPr>
          <p:nvPr>
            <p:ph type="title"/>
          </p:nvPr>
        </p:nvSpPr>
        <p:spPr/>
        <p:txBody>
          <a:bodyPr/>
          <a:lstStyle/>
          <a:p>
            <a:r>
              <a:rPr lang="en-IN" dirty="0"/>
              <a:t>Android Activity Lifecycle</a:t>
            </a:r>
          </a:p>
        </p:txBody>
      </p:sp>
      <p:sp>
        <p:nvSpPr>
          <p:cNvPr id="3" name="Text Placeholder 2">
            <a:extLst>
              <a:ext uri="{FF2B5EF4-FFF2-40B4-BE49-F238E27FC236}">
                <a16:creationId xmlns:a16="http://schemas.microsoft.com/office/drawing/2014/main" id="{A9364FAB-BA7D-2FAC-9C4A-B3CEFD32F3BD}"/>
              </a:ext>
            </a:extLst>
          </p:cNvPr>
          <p:cNvSpPr>
            <a:spLocks noGrp="1"/>
          </p:cNvSpPr>
          <p:nvPr>
            <p:ph type="body" idx="1"/>
          </p:nvPr>
        </p:nvSpPr>
        <p:spPr/>
        <p:txBody>
          <a:bodyPr/>
          <a:lstStyle/>
          <a:p>
            <a:pPr algn="l"/>
            <a:r>
              <a:rPr lang="en-US" b="1" dirty="0" err="1"/>
              <a:t>onCreate</a:t>
            </a:r>
            <a:r>
              <a:rPr lang="en-US" b="1" dirty="0"/>
              <a:t>()</a:t>
            </a:r>
            <a:br>
              <a:rPr lang="en-US" dirty="0"/>
            </a:br>
            <a:r>
              <a:rPr lang="en-US" dirty="0"/>
              <a:t>→ Called when the activity is first created.</a:t>
            </a:r>
            <a:br>
              <a:rPr lang="en-US" dirty="0"/>
            </a:br>
            <a:r>
              <a:rPr lang="en-US" dirty="0"/>
              <a:t>→ Initialize the UI, bind views, set up essential components, restore state.</a:t>
            </a:r>
          </a:p>
          <a:p>
            <a:pPr algn="l"/>
            <a:r>
              <a:rPr lang="en-US" b="1" dirty="0" err="1"/>
              <a:t>onStart</a:t>
            </a:r>
            <a:r>
              <a:rPr lang="en-US" b="1" dirty="0"/>
              <a:t>()</a:t>
            </a:r>
            <a:br>
              <a:rPr lang="en-US" dirty="0"/>
            </a:br>
            <a:r>
              <a:rPr lang="en-US" dirty="0"/>
              <a:t>→ Activity becomes visible to the user (but not yet in the foreground).</a:t>
            </a:r>
            <a:br>
              <a:rPr lang="en-US" dirty="0"/>
            </a:br>
            <a:r>
              <a:rPr lang="en-US" dirty="0"/>
              <a:t>→ Prepare UI-related updates.</a:t>
            </a:r>
          </a:p>
          <a:p>
            <a:pPr algn="l"/>
            <a:r>
              <a:rPr lang="en-US" b="1" dirty="0" err="1"/>
              <a:t>onResume</a:t>
            </a:r>
            <a:r>
              <a:rPr lang="en-US" b="1" dirty="0"/>
              <a:t>()</a:t>
            </a:r>
            <a:br>
              <a:rPr lang="en-US" dirty="0"/>
            </a:br>
            <a:r>
              <a:rPr lang="en-US" dirty="0"/>
              <a:t>→ Activity moves to the foreground and becomes interactive.</a:t>
            </a:r>
            <a:br>
              <a:rPr lang="en-US" dirty="0"/>
            </a:br>
            <a:r>
              <a:rPr lang="en-US" dirty="0"/>
              <a:t>→ Start animations, listeners, or any processes that need to run while visible.</a:t>
            </a:r>
          </a:p>
          <a:p>
            <a:pPr algn="l"/>
            <a:r>
              <a:rPr lang="en-US" b="1" dirty="0" err="1"/>
              <a:t>onPause</a:t>
            </a:r>
            <a:r>
              <a:rPr lang="en-US" b="1" dirty="0"/>
              <a:t>()</a:t>
            </a:r>
            <a:br>
              <a:rPr lang="en-US" dirty="0"/>
            </a:br>
            <a:r>
              <a:rPr lang="en-US" dirty="0"/>
              <a:t>→ Another activity is partially covering this one.</a:t>
            </a:r>
            <a:br>
              <a:rPr lang="en-US" dirty="0"/>
            </a:br>
            <a:r>
              <a:rPr lang="en-US" dirty="0"/>
              <a:t>→ Pause ongoing tasks, animations, sensors; commit unsaved changes.</a:t>
            </a:r>
          </a:p>
          <a:p>
            <a:pPr algn="l"/>
            <a:endParaRPr lang="en-US" dirty="0"/>
          </a:p>
          <a:p>
            <a:pPr algn="l"/>
            <a:endParaRPr lang="en-IN" dirty="0"/>
          </a:p>
        </p:txBody>
      </p:sp>
    </p:spTree>
    <p:extLst>
      <p:ext uri="{BB962C8B-B14F-4D97-AF65-F5344CB8AC3E}">
        <p14:creationId xmlns:p14="http://schemas.microsoft.com/office/powerpoint/2010/main" val="1873391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3F4E5-7E69-42DA-B790-91871ACB82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0F33D-C26A-E336-1CB1-353E4F748D6A}"/>
              </a:ext>
            </a:extLst>
          </p:cNvPr>
          <p:cNvSpPr>
            <a:spLocks noGrp="1"/>
          </p:cNvSpPr>
          <p:nvPr>
            <p:ph type="title"/>
          </p:nvPr>
        </p:nvSpPr>
        <p:spPr/>
        <p:txBody>
          <a:bodyPr/>
          <a:lstStyle/>
          <a:p>
            <a:r>
              <a:rPr lang="en-IN" dirty="0"/>
              <a:t>Android Activity Lifecycle</a:t>
            </a:r>
          </a:p>
        </p:txBody>
      </p:sp>
      <p:sp>
        <p:nvSpPr>
          <p:cNvPr id="3" name="Text Placeholder 2">
            <a:extLst>
              <a:ext uri="{FF2B5EF4-FFF2-40B4-BE49-F238E27FC236}">
                <a16:creationId xmlns:a16="http://schemas.microsoft.com/office/drawing/2014/main" id="{B027FAE3-402E-6819-41F4-950983865B33}"/>
              </a:ext>
            </a:extLst>
          </p:cNvPr>
          <p:cNvSpPr>
            <a:spLocks noGrp="1"/>
          </p:cNvSpPr>
          <p:nvPr>
            <p:ph type="body" idx="1"/>
          </p:nvPr>
        </p:nvSpPr>
        <p:spPr/>
        <p:txBody>
          <a:bodyPr/>
          <a:lstStyle/>
          <a:p>
            <a:pPr algn="l"/>
            <a:r>
              <a:rPr lang="en-US" b="1" dirty="0" err="1"/>
              <a:t>onStop</a:t>
            </a:r>
            <a:r>
              <a:rPr lang="en-US" b="1" dirty="0"/>
              <a:t>()</a:t>
            </a:r>
            <a:br>
              <a:rPr lang="en-US" dirty="0"/>
            </a:br>
            <a:r>
              <a:rPr lang="en-US" dirty="0"/>
              <a:t>→ Activity is completely hidden.</a:t>
            </a:r>
            <a:br>
              <a:rPr lang="en-US" dirty="0"/>
            </a:br>
            <a:r>
              <a:rPr lang="en-US" dirty="0"/>
              <a:t>→ Release heavy resources, unregister receivers, save persistent data.</a:t>
            </a:r>
          </a:p>
          <a:p>
            <a:pPr algn="l"/>
            <a:r>
              <a:rPr lang="en-US" b="1" dirty="0" err="1"/>
              <a:t>onRestart</a:t>
            </a:r>
            <a:r>
              <a:rPr lang="en-US" b="1" dirty="0"/>
              <a:t>()</a:t>
            </a:r>
            <a:br>
              <a:rPr lang="en-US" dirty="0"/>
            </a:br>
            <a:r>
              <a:rPr lang="en-US" dirty="0"/>
              <a:t>→ Called when the activity transitions from </a:t>
            </a:r>
            <a:r>
              <a:rPr lang="en-US" i="1" dirty="0"/>
              <a:t>stopped</a:t>
            </a:r>
            <a:r>
              <a:rPr lang="en-US" dirty="0"/>
              <a:t> back to </a:t>
            </a:r>
            <a:r>
              <a:rPr lang="en-US" i="1" dirty="0"/>
              <a:t>started</a:t>
            </a:r>
            <a:r>
              <a:rPr lang="en-US" dirty="0"/>
              <a:t>.</a:t>
            </a:r>
            <a:br>
              <a:rPr lang="en-US" dirty="0"/>
            </a:br>
            <a:r>
              <a:rPr lang="en-US" dirty="0"/>
              <a:t>→ Re-initialize components released in </a:t>
            </a:r>
            <a:r>
              <a:rPr lang="en-US" dirty="0" err="1"/>
              <a:t>onStop</a:t>
            </a:r>
            <a:r>
              <a:rPr lang="en-US" dirty="0"/>
              <a:t>().</a:t>
            </a:r>
          </a:p>
          <a:p>
            <a:pPr algn="l"/>
            <a:r>
              <a:rPr lang="en-US" b="1" dirty="0" err="1"/>
              <a:t>onDestroy</a:t>
            </a:r>
            <a:r>
              <a:rPr lang="en-US" b="1" dirty="0"/>
              <a:t>()</a:t>
            </a:r>
            <a:br>
              <a:rPr lang="en-US" dirty="0"/>
            </a:br>
            <a:r>
              <a:rPr lang="en-US" dirty="0"/>
              <a:t>→ Final cleanup before the activity is destroyed.</a:t>
            </a:r>
            <a:br>
              <a:rPr lang="en-US" dirty="0"/>
            </a:br>
            <a:r>
              <a:rPr lang="en-US"/>
              <a:t>→ Release all remaining resources.</a:t>
            </a:r>
            <a:endParaRPr lang="en-IN" dirty="0"/>
          </a:p>
        </p:txBody>
      </p:sp>
    </p:spTree>
    <p:extLst>
      <p:ext uri="{BB962C8B-B14F-4D97-AF65-F5344CB8AC3E}">
        <p14:creationId xmlns:p14="http://schemas.microsoft.com/office/powerpoint/2010/main" val="519944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algn="ctr" eaLnBrk="1">
              <a:lnSpc>
                <a:spcPct val="93000"/>
              </a:lnSpc>
              <a:buClrTx/>
              <a:buFontTx/>
              <a:buNone/>
            </a:pPr>
            <a:r>
              <a:rPr lang="en-US" altLang="en-US" sz="2775">
                <a:cs typeface="Arial Unicode MS" charset="0"/>
              </a:rPr>
              <a:t>Views</a:t>
            </a:r>
          </a:p>
        </p:txBody>
      </p:sp>
      <p:sp>
        <p:nvSpPr>
          <p:cNvPr id="15362" name="Text Box 2"/>
          <p:cNvSpPr txBox="1">
            <a:spLocks noChangeArrowheads="1"/>
          </p:cNvSpPr>
          <p:nvPr/>
        </p:nvSpPr>
        <p:spPr bwMode="auto">
          <a:xfrm>
            <a:off x="1633320" y="1326380"/>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a:cs typeface="Arial Unicode MS" charset="0"/>
              </a:rPr>
              <a:t>A building block for UI components</a:t>
            </a:r>
          </a:p>
          <a:p>
            <a:pPr>
              <a:lnSpc>
                <a:spcPct val="93000"/>
              </a:lnSpc>
              <a:spcAft>
                <a:spcPts val="970"/>
              </a:spcAft>
              <a:buFont typeface="Arial" charset="0"/>
              <a:buChar char="•"/>
            </a:pPr>
            <a:r>
              <a:rPr lang="en-US" altLang="en-US" sz="2175">
                <a:cs typeface="Arial Unicode MS" charset="0"/>
              </a:rPr>
              <a:t>Responsible for drawing and event handling</a:t>
            </a:r>
          </a:p>
          <a:p>
            <a:pPr>
              <a:lnSpc>
                <a:spcPct val="93000"/>
              </a:lnSpc>
              <a:spcAft>
                <a:spcPts val="970"/>
              </a:spcAft>
              <a:buFont typeface="Arial" charset="0"/>
              <a:buChar char="•"/>
            </a:pPr>
            <a:r>
              <a:rPr lang="en-US" altLang="en-US" sz="2175">
                <a:cs typeface="Arial Unicode MS" charset="0"/>
              </a:rPr>
              <a:t>Each View has an id</a:t>
            </a:r>
          </a:p>
          <a:p>
            <a:pPr>
              <a:lnSpc>
                <a:spcPct val="93000"/>
              </a:lnSpc>
              <a:spcAft>
                <a:spcPts val="970"/>
              </a:spcAft>
              <a:buFont typeface="Arial" charset="0"/>
              <a:buChar char="•"/>
            </a:pPr>
            <a:r>
              <a:rPr lang="en-US" altLang="en-US" sz="2175">
                <a:cs typeface="Arial Unicode MS" charset="0"/>
              </a:rPr>
              <a:t>findViewById(int)</a:t>
            </a:r>
          </a:p>
        </p:txBody>
      </p:sp>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4920" y="1306938"/>
            <a:ext cx="1756080" cy="284501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364" name="Text Box 4"/>
          <p:cNvSpPr txBox="1">
            <a:spLocks noChangeArrowheads="1"/>
          </p:cNvSpPr>
          <p:nvPr/>
        </p:nvSpPr>
        <p:spPr bwMode="auto">
          <a:xfrm>
            <a:off x="5434920" y="4151956"/>
            <a:ext cx="1756080" cy="5843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1229" tIns="41391" rIns="61229" bIns="30615"/>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eaLnBrk="1">
              <a:lnSpc>
                <a:spcPct val="93000"/>
              </a:lnSpc>
              <a:buClrTx/>
              <a:buFontTx/>
              <a:buNone/>
            </a:pPr>
            <a:r>
              <a:rPr lang="en-US" altLang="en-US" sz="1050"/>
              <a:t>Text box, check box, radio button, time picker, and image view</a:t>
            </a:r>
          </a:p>
        </p:txBody>
      </p:sp>
    </p:spTree>
    <p:extLst>
      <p:ext uri="{BB962C8B-B14F-4D97-AF65-F5344CB8AC3E}">
        <p14:creationId xmlns:p14="http://schemas.microsoft.com/office/powerpoint/2010/main" val="3570788914"/>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eaLnBrk="1">
              <a:lnSpc>
                <a:spcPct val="93000"/>
              </a:lnSpc>
              <a:buClrTx/>
              <a:buFontTx/>
              <a:buNone/>
            </a:pPr>
            <a:r>
              <a:rPr lang="en-US" altLang="en-US" sz="2775" b="1" dirty="0">
                <a:cs typeface="Arial Unicode MS" charset="0"/>
              </a:rPr>
              <a:t>XML</a:t>
            </a:r>
          </a:p>
        </p:txBody>
      </p:sp>
      <p:sp>
        <p:nvSpPr>
          <p:cNvPr id="16386" name="Text Box 2"/>
          <p:cNvSpPr txBox="1">
            <a:spLocks noChangeArrowheads="1"/>
          </p:cNvSpPr>
          <p:nvPr/>
        </p:nvSpPr>
        <p:spPr bwMode="auto">
          <a:xfrm>
            <a:off x="889201" y="1191906"/>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dirty="0">
                <a:cs typeface="Arial Unicode MS" charset="0"/>
              </a:rPr>
              <a:t>Eclipse IDE</a:t>
            </a:r>
          </a:p>
          <a:p>
            <a:pPr>
              <a:lnSpc>
                <a:spcPct val="93000"/>
              </a:lnSpc>
              <a:spcAft>
                <a:spcPts val="970"/>
              </a:spcAft>
              <a:buFont typeface="Arial" charset="0"/>
              <a:buChar char="•"/>
            </a:pPr>
            <a:r>
              <a:rPr lang="en-US" altLang="en-US" sz="2175" dirty="0">
                <a:cs typeface="Arial Unicode MS" charset="0"/>
              </a:rPr>
              <a:t>Uses XML files to set up the mobile application</a:t>
            </a:r>
          </a:p>
        </p:txBody>
      </p:sp>
      <p:pic>
        <p:nvPicPr>
          <p:cNvPr id="163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8961" y="1191906"/>
            <a:ext cx="5140983" cy="229364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388" name="Text Box 4"/>
          <p:cNvSpPr txBox="1">
            <a:spLocks noChangeArrowheads="1"/>
          </p:cNvSpPr>
          <p:nvPr/>
        </p:nvSpPr>
        <p:spPr bwMode="auto">
          <a:xfrm>
            <a:off x="4572000" y="3667525"/>
            <a:ext cx="2239920" cy="235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1229" tIns="41391" rIns="61229" bIns="30615"/>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eaLnBrk="1">
              <a:lnSpc>
                <a:spcPct val="93000"/>
              </a:lnSpc>
              <a:buClrTx/>
              <a:buFontTx/>
              <a:buNone/>
            </a:pPr>
            <a:r>
              <a:rPr lang="en-US" altLang="en-US" sz="1050" dirty="0"/>
              <a:t>Android Layout File</a:t>
            </a:r>
          </a:p>
        </p:txBody>
      </p:sp>
    </p:spTree>
    <p:extLst>
      <p:ext uri="{BB962C8B-B14F-4D97-AF65-F5344CB8AC3E}">
        <p14:creationId xmlns:p14="http://schemas.microsoft.com/office/powerpoint/2010/main" val="378261881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defPPr marR="0" lvl="0" algn="l" rtl="0">
              <a:lnSpc>
                <a:spcPct val="100000"/>
              </a:lnSpc>
              <a:spcBef>
                <a:spcPts val="0"/>
              </a:spcBef>
              <a:spcAft>
                <a:spcPts val="0"/>
              </a:spcAft>
            </a:defPPr>
            <a:lvl1pPr eaLnBrk="1">
              <a:lnSpc>
                <a:spcPct val="93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775" b="1">
                <a:latin typeface="Arial" charset="0"/>
                <a:ea typeface="Microsoft YaHei" charset="-122"/>
                <a:cs typeface="Arial Unicode MS"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5pPr>
            <a:lvl6pPr marL="25146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6pPr>
            <a:lvl7pPr marL="29718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7pPr>
            <a:lvl8pPr marL="34290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8pPr>
            <a:lvl9pPr marL="38862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9pPr>
          </a:lstStyle>
          <a:p>
            <a:r>
              <a:rPr lang="en-US" altLang="en-US" dirty="0"/>
              <a:t>XML - Android Manifest</a:t>
            </a:r>
          </a:p>
        </p:txBody>
      </p:sp>
      <p:sp>
        <p:nvSpPr>
          <p:cNvPr id="17410" name="Text Box 2"/>
          <p:cNvSpPr txBox="1">
            <a:spLocks noChangeArrowheads="1"/>
          </p:cNvSpPr>
          <p:nvPr/>
        </p:nvSpPr>
        <p:spPr bwMode="auto">
          <a:xfrm>
            <a:off x="1633320" y="1326380"/>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a:cs typeface="Arial Unicode MS" charset="0"/>
              </a:rPr>
              <a:t>Contains properties of the application</a:t>
            </a:r>
          </a:p>
          <a:p>
            <a:pPr>
              <a:lnSpc>
                <a:spcPct val="93000"/>
              </a:lnSpc>
              <a:spcAft>
                <a:spcPts val="970"/>
              </a:spcAft>
              <a:buFont typeface="Arial" charset="0"/>
              <a:buChar char="•"/>
            </a:pPr>
            <a:r>
              <a:rPr lang="en-US" altLang="en-US" sz="2175">
                <a:cs typeface="Arial Unicode MS" charset="0"/>
              </a:rPr>
              <a:t>Permissions, SDK, Icon, Activities</a:t>
            </a:r>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8640" y="1368504"/>
            <a:ext cx="4617643" cy="362628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412" name="Text Box 4"/>
          <p:cNvSpPr txBox="1">
            <a:spLocks noChangeArrowheads="1"/>
          </p:cNvSpPr>
          <p:nvPr/>
        </p:nvSpPr>
        <p:spPr bwMode="auto">
          <a:xfrm>
            <a:off x="2873320" y="4402823"/>
            <a:ext cx="2239920" cy="235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1229" tIns="41391" rIns="61229" bIns="30615"/>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eaLnBrk="1">
              <a:lnSpc>
                <a:spcPct val="93000"/>
              </a:lnSpc>
              <a:buClrTx/>
              <a:buFontTx/>
              <a:buNone/>
            </a:pPr>
            <a:r>
              <a:rPr lang="en-US" altLang="en-US" sz="1050" dirty="0"/>
              <a:t>Android Manifest File</a:t>
            </a:r>
          </a:p>
        </p:txBody>
      </p:sp>
    </p:spTree>
    <p:extLst>
      <p:ext uri="{BB962C8B-B14F-4D97-AF65-F5344CB8AC3E}">
        <p14:creationId xmlns:p14="http://schemas.microsoft.com/office/powerpoint/2010/main" val="62975975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eaLnBrk="1">
              <a:lnSpc>
                <a:spcPct val="93000"/>
              </a:lnSpc>
              <a:buClrTx/>
              <a:buFontTx/>
              <a:buNone/>
            </a:pPr>
            <a:r>
              <a:rPr lang="en-US" altLang="en-US" sz="2775" b="1" dirty="0">
                <a:cs typeface="Arial Unicode MS" charset="0"/>
              </a:rPr>
              <a:t>XML</a:t>
            </a:r>
            <a:r>
              <a:rPr lang="en-US" altLang="en-US" sz="2775" dirty="0">
                <a:cs typeface="Arial Unicode MS" charset="0"/>
              </a:rPr>
              <a:t> - </a:t>
            </a:r>
            <a:r>
              <a:rPr lang="en-US" altLang="en-US" sz="2775" b="1" dirty="0">
                <a:cs typeface="Arial Unicode MS" charset="0"/>
              </a:rPr>
              <a:t>Layout</a:t>
            </a:r>
          </a:p>
        </p:txBody>
      </p:sp>
      <p:sp>
        <p:nvSpPr>
          <p:cNvPr id="18434" name="Text Box 2"/>
          <p:cNvSpPr txBox="1">
            <a:spLocks noChangeArrowheads="1"/>
          </p:cNvSpPr>
          <p:nvPr/>
        </p:nvSpPr>
        <p:spPr bwMode="auto">
          <a:xfrm>
            <a:off x="1633320" y="1326380"/>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a:cs typeface="Arial Unicode MS" charset="0"/>
              </a:rPr>
              <a:t>Defines the layout of the Activity</a:t>
            </a:r>
          </a:p>
          <a:p>
            <a:pPr>
              <a:lnSpc>
                <a:spcPct val="93000"/>
              </a:lnSpc>
              <a:spcAft>
                <a:spcPts val="970"/>
              </a:spcAft>
              <a:buFont typeface="Arial" charset="0"/>
              <a:buChar char="•"/>
            </a:pPr>
            <a:r>
              <a:rPr lang="en-US" altLang="en-US" sz="2175">
                <a:cs typeface="Arial Unicode MS" charset="0"/>
              </a:rPr>
              <a:t>Set View id values</a:t>
            </a:r>
          </a:p>
          <a:p>
            <a:pPr>
              <a:lnSpc>
                <a:spcPct val="93000"/>
              </a:lnSpc>
              <a:spcAft>
                <a:spcPts val="970"/>
              </a:spcAft>
              <a:buFont typeface="Arial" charset="0"/>
              <a:buChar char="•"/>
            </a:pPr>
            <a:r>
              <a:rPr lang="en-US" altLang="en-US" sz="2175">
                <a:cs typeface="Arial Unicode MS" charset="0"/>
              </a:rPr>
              <a:t>Could achieve the same results through java code</a:t>
            </a:r>
          </a:p>
        </p:txBody>
      </p:sp>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081" y="1181644"/>
            <a:ext cx="3098520" cy="138254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6" name="Text Box 4"/>
          <p:cNvSpPr txBox="1">
            <a:spLocks noChangeArrowheads="1"/>
          </p:cNvSpPr>
          <p:nvPr/>
        </p:nvSpPr>
        <p:spPr bwMode="auto">
          <a:xfrm>
            <a:off x="4875481" y="2669478"/>
            <a:ext cx="2301480" cy="235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1229" tIns="41391" rIns="61229" bIns="30615"/>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9pPr>
          </a:lstStyle>
          <a:p>
            <a:pPr eaLnBrk="1">
              <a:lnSpc>
                <a:spcPct val="93000"/>
              </a:lnSpc>
              <a:buClrTx/>
              <a:buFontTx/>
              <a:buNone/>
            </a:pPr>
            <a:r>
              <a:rPr lang="en-US" altLang="en-US" sz="1050" dirty="0"/>
              <a:t>Android Layout File</a:t>
            </a:r>
          </a:p>
        </p:txBody>
      </p:sp>
      <p:pic>
        <p:nvPicPr>
          <p:cNvPr id="184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2839" y="2957351"/>
            <a:ext cx="3537303" cy="212592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8" name="Line 6"/>
          <p:cNvSpPr>
            <a:spLocks noChangeShapeType="1"/>
          </p:cNvSpPr>
          <p:nvPr/>
        </p:nvSpPr>
        <p:spPr bwMode="auto">
          <a:xfrm>
            <a:off x="6430680" y="2438896"/>
            <a:ext cx="1080" cy="518455"/>
          </a:xfrm>
          <a:prstGeom prst="line">
            <a:avLst/>
          </a:prstGeom>
          <a:noFill/>
          <a:ln w="9360">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2209" tIns="31105" rIns="62209" bIns="31105"/>
          <a:lstStyle/>
          <a:p>
            <a:endParaRPr lang="en-US" sz="1050"/>
          </a:p>
        </p:txBody>
      </p:sp>
    </p:spTree>
    <p:extLst>
      <p:ext uri="{BB962C8B-B14F-4D97-AF65-F5344CB8AC3E}">
        <p14:creationId xmlns:p14="http://schemas.microsoft.com/office/powerpoint/2010/main" val="2177241209"/>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defPPr marR="0" lvl="0" algn="l" rtl="0">
              <a:lnSpc>
                <a:spcPct val="100000"/>
              </a:lnSpc>
              <a:spcBef>
                <a:spcPts val="0"/>
              </a:spcBef>
              <a:spcAft>
                <a:spcPts val="0"/>
              </a:spcAft>
            </a:defPPr>
            <a:lvl1pPr eaLnBrk="1">
              <a:lnSpc>
                <a:spcPct val="93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775" b="1">
                <a:latin typeface="Arial" charset="0"/>
                <a:ea typeface="Microsoft YaHei" charset="-122"/>
                <a:cs typeface="Arial Unicode MS"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5pPr>
            <a:lvl6pPr marL="25146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6pPr>
            <a:lvl7pPr marL="29718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7pPr>
            <a:lvl8pPr marL="34290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8pPr>
            <a:lvl9pPr marL="38862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9pPr>
          </a:lstStyle>
          <a:p>
            <a:r>
              <a:rPr lang="en-US" altLang="en-US" dirty="0"/>
              <a:t>Input Events</a:t>
            </a:r>
          </a:p>
        </p:txBody>
      </p:sp>
      <p:sp>
        <p:nvSpPr>
          <p:cNvPr id="21506" name="Text Box 2"/>
          <p:cNvSpPr txBox="1">
            <a:spLocks noChangeArrowheads="1"/>
          </p:cNvSpPr>
          <p:nvPr/>
        </p:nvSpPr>
        <p:spPr bwMode="auto">
          <a:xfrm>
            <a:off x="1633320" y="1326380"/>
            <a:ext cx="602424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dirty="0" err="1">
                <a:cs typeface="Arial Unicode MS" charset="0"/>
              </a:rPr>
              <a:t>OnClickListener</a:t>
            </a:r>
            <a:endParaRPr lang="en-US" altLang="en-US" sz="2175" dirty="0">
              <a:cs typeface="Arial Unicode MS" charset="0"/>
            </a:endParaRPr>
          </a:p>
          <a:p>
            <a:pPr>
              <a:lnSpc>
                <a:spcPct val="93000"/>
              </a:lnSpc>
              <a:spcAft>
                <a:spcPts val="970"/>
              </a:spcAft>
              <a:buFont typeface="Arial" charset="0"/>
              <a:buChar char="•"/>
            </a:pPr>
            <a:r>
              <a:rPr lang="en-US" altLang="en-US" sz="2175" dirty="0" err="1">
                <a:cs typeface="Arial Unicode MS" charset="0"/>
              </a:rPr>
              <a:t>OnLongClickListener</a:t>
            </a:r>
            <a:endParaRPr lang="en-US" altLang="en-US" sz="2175" dirty="0">
              <a:cs typeface="Arial Unicode MS" charset="0"/>
            </a:endParaRPr>
          </a:p>
          <a:p>
            <a:pPr>
              <a:lnSpc>
                <a:spcPct val="93000"/>
              </a:lnSpc>
              <a:spcAft>
                <a:spcPts val="970"/>
              </a:spcAft>
              <a:buFont typeface="Arial" charset="0"/>
              <a:buChar char="•"/>
            </a:pPr>
            <a:r>
              <a:rPr lang="en-US" altLang="en-US" sz="2175" dirty="0" err="1">
                <a:cs typeface="Arial Unicode MS" charset="0"/>
              </a:rPr>
              <a:t>OnFocusChangeListener</a:t>
            </a:r>
            <a:endParaRPr lang="en-US" altLang="en-US" sz="2175" dirty="0">
              <a:cs typeface="Arial Unicode MS" charset="0"/>
            </a:endParaRPr>
          </a:p>
          <a:p>
            <a:pPr>
              <a:lnSpc>
                <a:spcPct val="93000"/>
              </a:lnSpc>
              <a:spcAft>
                <a:spcPts val="970"/>
              </a:spcAft>
              <a:buFont typeface="Arial" charset="0"/>
              <a:buChar char="•"/>
            </a:pPr>
            <a:r>
              <a:rPr lang="en-US" altLang="en-US" sz="2175" dirty="0" err="1">
                <a:cs typeface="Arial Unicode MS" charset="0"/>
              </a:rPr>
              <a:t>OnKeyListener</a:t>
            </a:r>
            <a:endParaRPr lang="en-US" altLang="en-US" sz="2175" dirty="0">
              <a:cs typeface="Arial Unicode MS" charset="0"/>
            </a:endParaRPr>
          </a:p>
          <a:p>
            <a:pPr>
              <a:lnSpc>
                <a:spcPct val="93000"/>
              </a:lnSpc>
              <a:spcAft>
                <a:spcPts val="970"/>
              </a:spcAft>
              <a:buFont typeface="Arial" charset="0"/>
              <a:buChar char="•"/>
            </a:pPr>
            <a:r>
              <a:rPr lang="en-US" altLang="en-US" sz="2175" dirty="0" err="1">
                <a:cs typeface="Arial Unicode MS" charset="0"/>
              </a:rPr>
              <a:t>OnTouchListener</a:t>
            </a:r>
            <a:endParaRPr lang="en-US" altLang="en-US" sz="2175" dirty="0">
              <a:cs typeface="Arial Unicode MS" charset="0"/>
            </a:endParaRPr>
          </a:p>
          <a:p>
            <a:pPr>
              <a:lnSpc>
                <a:spcPct val="93000"/>
              </a:lnSpc>
              <a:spcAft>
                <a:spcPts val="970"/>
              </a:spcAft>
              <a:buFont typeface="Arial" charset="0"/>
              <a:buChar char="•"/>
            </a:pPr>
            <a:r>
              <a:rPr lang="en-US" altLang="en-US" sz="2175" dirty="0" err="1">
                <a:cs typeface="Arial Unicode MS" charset="0"/>
              </a:rPr>
              <a:t>OnCreateContextMenuListener</a:t>
            </a:r>
            <a:endParaRPr lang="en-US" altLang="en-US" sz="2175" dirty="0">
              <a:cs typeface="Arial Unicode MS" charset="0"/>
            </a:endParaRPr>
          </a:p>
        </p:txBody>
      </p:sp>
    </p:spTree>
    <p:extLst>
      <p:ext uri="{BB962C8B-B14F-4D97-AF65-F5344CB8AC3E}">
        <p14:creationId xmlns:p14="http://schemas.microsoft.com/office/powerpoint/2010/main" val="179250411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defPPr marR="0" lvl="0" algn="l" rtl="0">
              <a:lnSpc>
                <a:spcPct val="100000"/>
              </a:lnSpc>
              <a:spcBef>
                <a:spcPts val="0"/>
              </a:spcBef>
              <a:spcAft>
                <a:spcPts val="0"/>
              </a:spcAft>
            </a:defPPr>
            <a:lvl1pPr eaLnBrk="1">
              <a:lnSpc>
                <a:spcPct val="93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775" b="1">
                <a:latin typeface="Arial" charset="0"/>
                <a:ea typeface="Microsoft YaHei" charset="-122"/>
                <a:cs typeface="Arial Unicode MS"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5pPr>
            <a:lvl6pPr marL="25146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6pPr>
            <a:lvl7pPr marL="29718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7pPr>
            <a:lvl8pPr marL="34290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8pPr>
            <a:lvl9pPr marL="38862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9pPr>
          </a:lstStyle>
          <a:p>
            <a:r>
              <a:rPr lang="en-US" altLang="en-US" dirty="0"/>
              <a:t>Permission</a:t>
            </a:r>
          </a:p>
        </p:txBody>
      </p:sp>
      <p:sp>
        <p:nvSpPr>
          <p:cNvPr id="26626" name="Text Box 2"/>
          <p:cNvSpPr txBox="1">
            <a:spLocks noChangeArrowheads="1"/>
          </p:cNvSpPr>
          <p:nvPr/>
        </p:nvSpPr>
        <p:spPr bwMode="auto">
          <a:xfrm>
            <a:off x="1633320" y="1326380"/>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a:cs typeface="Arial Unicode MS" charset="0"/>
              </a:rPr>
              <a:t>Allows developers to use security features</a:t>
            </a:r>
          </a:p>
          <a:p>
            <a:pPr>
              <a:lnSpc>
                <a:spcPct val="93000"/>
              </a:lnSpc>
              <a:spcAft>
                <a:spcPts val="970"/>
              </a:spcAft>
              <a:buFont typeface="Arial" charset="0"/>
              <a:buChar char="•"/>
            </a:pPr>
            <a:r>
              <a:rPr lang="en-US" altLang="en-US" sz="2175">
                <a:cs typeface="Arial Unicode MS" charset="0"/>
              </a:rPr>
              <a:t>Provides additional capabilities to consumers that otherwise would be impossible</a:t>
            </a:r>
          </a:p>
        </p:txBody>
      </p:sp>
      <p:sp>
        <p:nvSpPr>
          <p:cNvPr id="26627" name="Text Box 3"/>
          <p:cNvSpPr txBox="1">
            <a:spLocks noChangeArrowheads="1"/>
          </p:cNvSpPr>
          <p:nvPr/>
        </p:nvSpPr>
        <p:spPr bwMode="auto">
          <a:xfrm>
            <a:off x="4719960" y="1326379"/>
            <a:ext cx="2939760" cy="29865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6899" rIns="0" bIns="0"/>
          <a:lstStyle>
            <a:lvl1pPr marL="431800" indent="-322263">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1pPr>
            <a:lvl2pPr>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2pPr>
            <a:lvl3pPr>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3pPr>
            <a:lvl4pPr>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4pPr>
            <a:lvl5pPr>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31800" algn="l"/>
                <a:tab pos="544513" algn="l"/>
                <a:tab pos="1001713" algn="l"/>
                <a:tab pos="1458913" algn="l"/>
                <a:tab pos="1916113" algn="l"/>
                <a:tab pos="2373313" algn="l"/>
                <a:tab pos="2830513" algn="l"/>
                <a:tab pos="3287713" algn="l"/>
                <a:tab pos="3744913" algn="l"/>
                <a:tab pos="4202113" algn="l"/>
                <a:tab pos="4659313" algn="l"/>
                <a:tab pos="5116513" algn="l"/>
                <a:tab pos="5573713" algn="l"/>
                <a:tab pos="6030913" algn="l"/>
                <a:tab pos="6488113" algn="l"/>
                <a:tab pos="6945313" algn="l"/>
                <a:tab pos="7402513" algn="l"/>
                <a:tab pos="7859713" algn="l"/>
                <a:tab pos="8316913" algn="l"/>
                <a:tab pos="8774113" algn="l"/>
                <a:tab pos="9231313" algn="l"/>
              </a:tabLst>
              <a:defRPr>
                <a:solidFill>
                  <a:srgbClr val="000000"/>
                </a:solidFill>
                <a:latin typeface="Arial" charset="0"/>
                <a:ea typeface="Microsoft YaHei" charset="-122"/>
              </a:defRPr>
            </a:lvl9pPr>
          </a:lstStyle>
          <a:p>
            <a:pPr>
              <a:lnSpc>
                <a:spcPct val="93000"/>
              </a:lnSpc>
              <a:spcAft>
                <a:spcPts val="970"/>
              </a:spcAft>
              <a:buSzPct val="45000"/>
            </a:pPr>
            <a:r>
              <a:rPr lang="en-US" altLang="en-US" sz="1875">
                <a:cs typeface="Arial Unicode MS" charset="0"/>
              </a:rPr>
              <a:t>“A central design point of the Android security architecture is that no application, by default, has permission to perform any operations that would adversely impact other applications, the operating system, or the user”</a:t>
            </a:r>
          </a:p>
        </p:txBody>
      </p:sp>
    </p:spTree>
    <p:extLst>
      <p:ext uri="{BB962C8B-B14F-4D97-AF65-F5344CB8AC3E}">
        <p14:creationId xmlns:p14="http://schemas.microsoft.com/office/powerpoint/2010/main" val="8857525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defPPr marR="0" lvl="0" algn="l" rtl="0">
              <a:lnSpc>
                <a:spcPct val="100000"/>
              </a:lnSpc>
              <a:spcBef>
                <a:spcPts val="0"/>
              </a:spcBef>
              <a:spcAft>
                <a:spcPts val="0"/>
              </a:spcAft>
              <a:defRPr/>
            </a:defPPr>
            <a:lvl1pPr eaLnBrk="1">
              <a:lnSpc>
                <a:spcPct val="93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775" b="1">
                <a:latin typeface="Arial" charset="0"/>
                <a:ea typeface="Microsoft YaHei" charset="-122"/>
                <a:cs typeface="Arial Unicode MS"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5pPr>
            <a:lvl6pPr marL="25146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6pPr>
            <a:lvl7pPr marL="29718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7pPr>
            <a:lvl8pPr marL="34290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8pPr>
            <a:lvl9pPr marL="38862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9pPr>
          </a:lstStyle>
          <a:p>
            <a:r>
              <a:rPr lang="en-US" altLang="en-US" dirty="0"/>
              <a:t>Permission</a:t>
            </a:r>
          </a:p>
        </p:txBody>
      </p:sp>
      <p:sp>
        <p:nvSpPr>
          <p:cNvPr id="27650" name="Text Box 2"/>
          <p:cNvSpPr txBox="1">
            <a:spLocks noChangeArrowheads="1"/>
          </p:cNvSpPr>
          <p:nvPr/>
        </p:nvSpPr>
        <p:spPr bwMode="auto">
          <a:xfrm>
            <a:off x="1633320" y="1326380"/>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a:cs typeface="Arial Unicode MS" charset="0"/>
              </a:rPr>
              <a:t>When an Application is installed the consumer must accept the permissions requested by an application</a:t>
            </a:r>
          </a:p>
        </p:txBody>
      </p:sp>
      <p:sp>
        <p:nvSpPr>
          <p:cNvPr id="27651" name="Text Box 3"/>
          <p:cNvSpPr txBox="1">
            <a:spLocks noChangeArrowheads="1"/>
          </p:cNvSpPr>
          <p:nvPr/>
        </p:nvSpPr>
        <p:spPr bwMode="auto">
          <a:xfrm>
            <a:off x="4719960" y="1326380"/>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103" rIns="0" bIns="0"/>
          <a:lstStyle>
            <a:lvl1pPr marL="563563" indent="-45720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1pPr>
            <a:lvl2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2pPr>
            <a:lvl3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3pPr>
            <a:lvl4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4pPr>
            <a:lvl5pPr>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563563" algn="l"/>
                <a:tab pos="676275" algn="l"/>
                <a:tab pos="1133475" algn="l"/>
                <a:tab pos="1590675" algn="l"/>
                <a:tab pos="2047875" algn="l"/>
                <a:tab pos="2505075" algn="l"/>
                <a:tab pos="2962275" algn="l"/>
                <a:tab pos="3419475" algn="l"/>
                <a:tab pos="3876675" algn="l"/>
                <a:tab pos="4333875" algn="l"/>
                <a:tab pos="4791075" algn="l"/>
                <a:tab pos="5248275" algn="l"/>
                <a:tab pos="5705475" algn="l"/>
                <a:tab pos="6162675" algn="l"/>
                <a:tab pos="6619875" algn="l"/>
                <a:tab pos="7077075" algn="l"/>
                <a:tab pos="7534275" algn="l"/>
                <a:tab pos="7991475" algn="l"/>
                <a:tab pos="8448675" algn="l"/>
                <a:tab pos="8905875" algn="l"/>
                <a:tab pos="93630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2175">
                <a:cs typeface="Arial Unicode MS" charset="0"/>
              </a:rPr>
              <a:t>Permissions are defined in the Manifest file</a:t>
            </a:r>
          </a:p>
        </p:txBody>
      </p:sp>
    </p:spTree>
    <p:extLst>
      <p:ext uri="{BB962C8B-B14F-4D97-AF65-F5344CB8AC3E}">
        <p14:creationId xmlns:p14="http://schemas.microsoft.com/office/powerpoint/2010/main" val="4246031827"/>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1"/>
          <p:cNvSpPr txBox="1">
            <a:spLocks noChangeArrowheads="1"/>
          </p:cNvSpPr>
          <p:nvPr/>
        </p:nvSpPr>
        <p:spPr bwMode="auto">
          <a:xfrm>
            <a:off x="1633320" y="465530"/>
            <a:ext cx="5755320" cy="6966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defPPr marR="0" lvl="0" algn="l" rtl="0">
              <a:lnSpc>
                <a:spcPct val="100000"/>
              </a:lnSpc>
              <a:spcBef>
                <a:spcPts val="0"/>
              </a:spcBef>
              <a:spcAft>
                <a:spcPts val="0"/>
              </a:spcAft>
              <a:defRPr/>
            </a:defPPr>
            <a:lvl1pPr eaLnBrk="1">
              <a:lnSpc>
                <a:spcPct val="93000"/>
              </a:lnSpc>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775" b="1">
                <a:latin typeface="Arial" charset="0"/>
                <a:ea typeface="Microsoft YaHei" charset="-122"/>
                <a:cs typeface="Arial Unicode MS" charset="0"/>
              </a:defRPr>
            </a:lvl1pPr>
            <a:lvl2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2pPr>
            <a:lvl3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3pPr>
            <a:lvl4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4pPr>
            <a:lvl5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5pPr>
            <a:lvl6pPr marL="25146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6pPr>
            <a:lvl7pPr marL="29718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7pPr>
            <a:lvl8pPr marL="34290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8pPr>
            <a:lvl9pPr marL="3886200" indent="-228600" defTabSz="457200" eaLnBrk="0" fontAlgn="base" hangingPunct="0">
              <a:spcBef>
                <a:spcPct val="0"/>
              </a:spcBef>
              <a:spcAft>
                <a:spcPct val="0"/>
              </a:spcAft>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latin typeface="Arial" charset="0"/>
                <a:ea typeface="Microsoft YaHei" charset="-122"/>
              </a:defRPr>
            </a:lvl9pPr>
          </a:lstStyle>
          <a:p>
            <a:r>
              <a:rPr lang="en-US" altLang="en-US" dirty="0"/>
              <a:t>Permission</a:t>
            </a:r>
          </a:p>
        </p:txBody>
      </p:sp>
      <p:sp>
        <p:nvSpPr>
          <p:cNvPr id="28674" name="Text Box 2"/>
          <p:cNvSpPr txBox="1">
            <a:spLocks noChangeArrowheads="1"/>
          </p:cNvSpPr>
          <p:nvPr/>
        </p:nvSpPr>
        <p:spPr bwMode="auto">
          <a:xfrm>
            <a:off x="1633320" y="1326380"/>
            <a:ext cx="2939760" cy="3252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3226" rIns="0" bIns="0"/>
          <a:lstStyle>
            <a:lvl1pPr marL="430213" indent="-323850">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1pPr>
            <a:lvl2pPr marL="830263" indent="-322263">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2pPr>
            <a:lvl3pPr>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3pPr>
            <a:lvl4pPr>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4pPr>
            <a:lvl5pPr>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30213" algn="l"/>
                <a:tab pos="542925" algn="l"/>
                <a:tab pos="1000125" algn="l"/>
                <a:tab pos="1457325" algn="l"/>
                <a:tab pos="1914525" algn="l"/>
                <a:tab pos="2371725" algn="l"/>
                <a:tab pos="2828925" algn="l"/>
                <a:tab pos="3286125" algn="l"/>
                <a:tab pos="3743325" algn="l"/>
                <a:tab pos="4200525" algn="l"/>
                <a:tab pos="4657725" algn="l"/>
                <a:tab pos="5114925" algn="l"/>
                <a:tab pos="5572125" algn="l"/>
                <a:tab pos="6029325" algn="l"/>
                <a:tab pos="6486525" algn="l"/>
                <a:tab pos="6943725" algn="l"/>
                <a:tab pos="7400925" algn="l"/>
                <a:tab pos="7858125" algn="l"/>
                <a:tab pos="8315325" algn="l"/>
                <a:tab pos="8772525" algn="l"/>
                <a:tab pos="9229725" algn="l"/>
              </a:tabLst>
              <a:defRPr>
                <a:solidFill>
                  <a:srgbClr val="000000"/>
                </a:solidFill>
                <a:latin typeface="Arial" charset="0"/>
                <a:ea typeface="Microsoft YaHei" charset="-122"/>
              </a:defRPr>
            </a:lvl9pPr>
          </a:lstStyle>
          <a:p>
            <a:pPr>
              <a:lnSpc>
                <a:spcPct val="93000"/>
              </a:lnSpc>
              <a:spcAft>
                <a:spcPts val="970"/>
              </a:spcAft>
              <a:buSzPct val="45000"/>
              <a:buFont typeface="Wingdings" charset="2"/>
              <a:buChar char=""/>
            </a:pPr>
            <a:r>
              <a:rPr lang="en-US" altLang="en-US" sz="1500">
                <a:cs typeface="Arial Unicode MS" charset="0"/>
              </a:rPr>
              <a:t>Facebook Messenger</a:t>
            </a:r>
          </a:p>
          <a:p>
            <a:pPr lvl="1">
              <a:lnSpc>
                <a:spcPct val="93000"/>
              </a:lnSpc>
              <a:spcAft>
                <a:spcPts val="774"/>
              </a:spcAft>
              <a:buSzPct val="45000"/>
              <a:buFont typeface="Wingdings" charset="2"/>
              <a:buChar char=""/>
            </a:pPr>
            <a:r>
              <a:rPr lang="en-US" altLang="en-US" sz="1125"/>
              <a:t>Identity</a:t>
            </a:r>
          </a:p>
          <a:p>
            <a:pPr lvl="1">
              <a:lnSpc>
                <a:spcPct val="93000"/>
              </a:lnSpc>
              <a:spcAft>
                <a:spcPts val="774"/>
              </a:spcAft>
              <a:buSzPct val="45000"/>
              <a:buFont typeface="Wingdings" charset="2"/>
              <a:buChar char=""/>
            </a:pPr>
            <a:r>
              <a:rPr lang="en-US" altLang="en-US" sz="1125"/>
              <a:t>Contacts/Calendar</a:t>
            </a:r>
          </a:p>
          <a:p>
            <a:pPr lvl="1">
              <a:lnSpc>
                <a:spcPct val="93000"/>
              </a:lnSpc>
              <a:spcAft>
                <a:spcPts val="774"/>
              </a:spcAft>
              <a:buSzPct val="45000"/>
              <a:buFont typeface="Wingdings" charset="2"/>
              <a:buChar char=""/>
            </a:pPr>
            <a:r>
              <a:rPr lang="en-US" altLang="en-US" sz="1125"/>
              <a:t>Location</a:t>
            </a:r>
          </a:p>
          <a:p>
            <a:pPr lvl="1">
              <a:lnSpc>
                <a:spcPct val="93000"/>
              </a:lnSpc>
              <a:spcAft>
                <a:spcPts val="774"/>
              </a:spcAft>
              <a:buSzPct val="45000"/>
              <a:buFont typeface="Wingdings" charset="2"/>
              <a:buChar char=""/>
            </a:pPr>
            <a:r>
              <a:rPr lang="en-US" altLang="en-US" sz="1125"/>
              <a:t>SMS</a:t>
            </a:r>
          </a:p>
          <a:p>
            <a:pPr lvl="1">
              <a:lnSpc>
                <a:spcPct val="93000"/>
              </a:lnSpc>
              <a:spcAft>
                <a:spcPts val="774"/>
              </a:spcAft>
              <a:buSzPct val="45000"/>
              <a:buFont typeface="Wingdings" charset="2"/>
              <a:buChar char=""/>
            </a:pPr>
            <a:r>
              <a:rPr lang="en-US" altLang="en-US" sz="1125"/>
              <a:t>Phone</a:t>
            </a:r>
          </a:p>
          <a:p>
            <a:pPr lvl="1">
              <a:lnSpc>
                <a:spcPct val="93000"/>
              </a:lnSpc>
              <a:spcAft>
                <a:spcPts val="774"/>
              </a:spcAft>
              <a:buSzPct val="45000"/>
              <a:buFont typeface="Wingdings" charset="2"/>
              <a:buChar char=""/>
            </a:pPr>
            <a:r>
              <a:rPr lang="en-US" altLang="en-US" sz="1125"/>
              <a:t>Photos/Media/Files</a:t>
            </a:r>
          </a:p>
          <a:p>
            <a:pPr lvl="1">
              <a:lnSpc>
                <a:spcPct val="93000"/>
              </a:lnSpc>
              <a:spcAft>
                <a:spcPts val="774"/>
              </a:spcAft>
              <a:buSzPct val="45000"/>
              <a:buFont typeface="Wingdings" charset="2"/>
              <a:buChar char=""/>
            </a:pPr>
            <a:r>
              <a:rPr lang="en-US" altLang="en-US" sz="1125"/>
              <a:t>Camera/Microphone</a:t>
            </a:r>
          </a:p>
          <a:p>
            <a:pPr lvl="1">
              <a:lnSpc>
                <a:spcPct val="93000"/>
              </a:lnSpc>
              <a:spcAft>
                <a:spcPts val="774"/>
              </a:spcAft>
              <a:buSzPct val="45000"/>
              <a:buFont typeface="Wingdings" charset="2"/>
              <a:buChar char=""/>
            </a:pPr>
            <a:r>
              <a:rPr lang="en-US" altLang="en-US" sz="1125"/>
              <a:t>Wi-Fi Connection Information</a:t>
            </a:r>
          </a:p>
          <a:p>
            <a:pPr lvl="1">
              <a:lnSpc>
                <a:spcPct val="93000"/>
              </a:lnSpc>
              <a:spcAft>
                <a:spcPts val="774"/>
              </a:spcAft>
              <a:buSzPct val="45000"/>
              <a:buFont typeface="Wingdings" charset="2"/>
              <a:buChar char=""/>
            </a:pPr>
            <a:r>
              <a:rPr lang="en-US" altLang="en-US" sz="1125"/>
              <a:t>Device ID &amp; Call Information</a:t>
            </a:r>
          </a:p>
        </p:txBody>
      </p:sp>
      <p:sp>
        <p:nvSpPr>
          <p:cNvPr id="28675" name="Text Box 3"/>
          <p:cNvSpPr txBox="1">
            <a:spLocks noChangeArrowheads="1"/>
          </p:cNvSpPr>
          <p:nvPr/>
        </p:nvSpPr>
        <p:spPr bwMode="auto">
          <a:xfrm>
            <a:off x="4719960" y="1326380"/>
            <a:ext cx="2939760" cy="2593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3226" rIns="0" bIns="0"/>
          <a:lstStyle>
            <a:lvl1pPr marL="449263" indent="-342900">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1pPr>
            <a:lvl2pPr marL="849313">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2pPr>
            <a:lvl3pPr>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3pPr>
            <a:lvl4pPr>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4pPr>
            <a:lvl5pPr>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5pPr>
            <a:lvl6pPr marL="2514600" indent="-228600" defTabSz="457200" eaLnBrk="0" fontAlgn="base" hangingPunct="0">
              <a:spcBef>
                <a:spcPct val="0"/>
              </a:spcBef>
              <a:spcAft>
                <a:spcPct val="0"/>
              </a:spcAft>
              <a:buClr>
                <a:srgbClr val="000000"/>
              </a:buClr>
              <a:buSzPct val="100000"/>
              <a:buFont typeface="Times New Roman" pitchFamily="16" charset="0"/>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6pPr>
            <a:lvl7pPr marL="2971800" indent="-228600" defTabSz="457200" eaLnBrk="0" fontAlgn="base" hangingPunct="0">
              <a:spcBef>
                <a:spcPct val="0"/>
              </a:spcBef>
              <a:spcAft>
                <a:spcPct val="0"/>
              </a:spcAft>
              <a:buClr>
                <a:srgbClr val="000000"/>
              </a:buClr>
              <a:buSzPct val="100000"/>
              <a:buFont typeface="Times New Roman" pitchFamily="16" charset="0"/>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7pPr>
            <a:lvl8pPr marL="3429000" indent="-228600" defTabSz="457200" eaLnBrk="0" fontAlgn="base" hangingPunct="0">
              <a:spcBef>
                <a:spcPct val="0"/>
              </a:spcBef>
              <a:spcAft>
                <a:spcPct val="0"/>
              </a:spcAft>
              <a:buClr>
                <a:srgbClr val="000000"/>
              </a:buClr>
              <a:buSzPct val="100000"/>
              <a:buFont typeface="Times New Roman" pitchFamily="16" charset="0"/>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8pPr>
            <a:lvl9pPr marL="3886200" indent="-228600" defTabSz="457200" eaLnBrk="0" fontAlgn="base" hangingPunct="0">
              <a:spcBef>
                <a:spcPct val="0"/>
              </a:spcBef>
              <a:spcAft>
                <a:spcPct val="0"/>
              </a:spcAft>
              <a:buClr>
                <a:srgbClr val="000000"/>
              </a:buClr>
              <a:buSzPct val="100000"/>
              <a:buFont typeface="Times New Roman" pitchFamily="16" charset="0"/>
              <a:tabLst>
                <a:tab pos="449263" algn="l"/>
                <a:tab pos="561975" algn="l"/>
                <a:tab pos="1019175" algn="l"/>
                <a:tab pos="1476375" algn="l"/>
                <a:tab pos="1933575" algn="l"/>
                <a:tab pos="2390775" algn="l"/>
                <a:tab pos="2847975" algn="l"/>
                <a:tab pos="3305175" algn="l"/>
                <a:tab pos="3762375" algn="l"/>
                <a:tab pos="4219575" algn="l"/>
                <a:tab pos="4676775" algn="l"/>
                <a:tab pos="5133975" algn="l"/>
                <a:tab pos="5591175" algn="l"/>
                <a:tab pos="6048375" algn="l"/>
                <a:tab pos="6505575" algn="l"/>
                <a:tab pos="6962775" algn="l"/>
                <a:tab pos="7419975" algn="l"/>
                <a:tab pos="7877175" algn="l"/>
                <a:tab pos="8334375" algn="l"/>
                <a:tab pos="8791575" algn="l"/>
                <a:tab pos="9248775" algn="l"/>
              </a:tabLst>
              <a:defRPr>
                <a:solidFill>
                  <a:srgbClr val="000000"/>
                </a:solidFill>
                <a:latin typeface="Arial" charset="0"/>
                <a:ea typeface="Microsoft YaHei" charset="-122"/>
              </a:defRPr>
            </a:lvl9pPr>
          </a:lstStyle>
          <a:p>
            <a:pPr>
              <a:lnSpc>
                <a:spcPct val="93000"/>
              </a:lnSpc>
              <a:spcAft>
                <a:spcPts val="970"/>
              </a:spcAft>
              <a:buFont typeface="Arial" charset="0"/>
              <a:buChar char="•"/>
            </a:pPr>
            <a:r>
              <a:rPr lang="en-US" altLang="en-US" sz="1500">
                <a:cs typeface="Arial Unicode MS" charset="0"/>
              </a:rPr>
              <a:t>Angry Birds</a:t>
            </a:r>
          </a:p>
          <a:p>
            <a:pPr lvl="1">
              <a:lnSpc>
                <a:spcPct val="93000"/>
              </a:lnSpc>
              <a:spcAft>
                <a:spcPts val="774"/>
              </a:spcAft>
              <a:buFont typeface="Arial" charset="0"/>
              <a:buChar char="•"/>
            </a:pPr>
            <a:r>
              <a:rPr lang="en-US" altLang="en-US" sz="1125"/>
              <a:t>Identity</a:t>
            </a:r>
          </a:p>
          <a:p>
            <a:pPr lvl="1">
              <a:lnSpc>
                <a:spcPct val="93000"/>
              </a:lnSpc>
              <a:spcAft>
                <a:spcPts val="774"/>
              </a:spcAft>
              <a:buFont typeface="Arial" charset="0"/>
              <a:buChar char="•"/>
            </a:pPr>
            <a:r>
              <a:rPr lang="en-US" altLang="en-US" sz="1125"/>
              <a:t>In-app purchases</a:t>
            </a:r>
          </a:p>
          <a:p>
            <a:pPr lvl="1">
              <a:lnSpc>
                <a:spcPct val="93000"/>
              </a:lnSpc>
              <a:spcAft>
                <a:spcPts val="774"/>
              </a:spcAft>
              <a:buFont typeface="Arial" charset="0"/>
              <a:buChar char="•"/>
            </a:pPr>
            <a:r>
              <a:rPr lang="en-US" altLang="en-US" sz="1125"/>
              <a:t>Location</a:t>
            </a:r>
          </a:p>
          <a:p>
            <a:pPr lvl="1">
              <a:lnSpc>
                <a:spcPct val="93000"/>
              </a:lnSpc>
              <a:spcAft>
                <a:spcPts val="774"/>
              </a:spcAft>
              <a:buFont typeface="Arial" charset="0"/>
              <a:buChar char="•"/>
            </a:pPr>
            <a:r>
              <a:rPr lang="en-US" altLang="en-US" sz="1125"/>
              <a:t>Photos/Media/Files</a:t>
            </a:r>
          </a:p>
          <a:p>
            <a:pPr lvl="1">
              <a:lnSpc>
                <a:spcPct val="93000"/>
              </a:lnSpc>
              <a:spcAft>
                <a:spcPts val="774"/>
              </a:spcAft>
              <a:buFont typeface="Arial" charset="0"/>
              <a:buChar char="•"/>
            </a:pPr>
            <a:r>
              <a:rPr lang="en-US" altLang="en-US" sz="1125"/>
              <a:t>Wi-Fi Connection Information</a:t>
            </a:r>
          </a:p>
          <a:p>
            <a:pPr lvl="1">
              <a:lnSpc>
                <a:spcPct val="93000"/>
              </a:lnSpc>
              <a:spcAft>
                <a:spcPts val="774"/>
              </a:spcAft>
              <a:buFont typeface="Arial" charset="0"/>
              <a:buChar char="•"/>
            </a:pPr>
            <a:r>
              <a:rPr lang="en-US" altLang="en-US" sz="1125"/>
              <a:t>Device ID &amp; Call Information</a:t>
            </a:r>
          </a:p>
        </p:txBody>
      </p:sp>
    </p:spTree>
    <p:extLst>
      <p:ext uri="{BB962C8B-B14F-4D97-AF65-F5344CB8AC3E}">
        <p14:creationId xmlns:p14="http://schemas.microsoft.com/office/powerpoint/2010/main" val="2506806931"/>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55522" y="444500"/>
            <a:ext cx="7147027" cy="573088"/>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4492" rIns="0" bIns="0" anchor="ctr"/>
          <a:lstStyle/>
          <a:p>
            <a:pPr>
              <a:lnSpc>
                <a:spcPct val="93000"/>
              </a:lnSpc>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IN" sz="2800" dirty="0"/>
              <a:t>Rooting (Android)</a:t>
            </a:r>
            <a:endParaRPr lang="en-US" sz="2775" b="1" dirty="0">
              <a:solidFill>
                <a:srgbClr val="000000"/>
              </a:solidFill>
              <a:latin typeface="Arial" charset="0"/>
              <a:ea typeface="Microsoft YaHei" charset="-122"/>
              <a:cs typeface="Arial Unicode MS" charset="0"/>
              <a:sym typeface="Arial"/>
            </a:endParaRPr>
          </a:p>
        </p:txBody>
      </p:sp>
      <p:sp>
        <p:nvSpPr>
          <p:cNvPr id="3" name="Content Placeholder 2"/>
          <p:cNvSpPr>
            <a:spLocks noGrp="1"/>
          </p:cNvSpPr>
          <p:nvPr>
            <p:ph type="body" idx="4294967295"/>
          </p:nvPr>
        </p:nvSpPr>
        <p:spPr>
          <a:xfrm>
            <a:off x="604684" y="1216025"/>
            <a:ext cx="7097866" cy="3387725"/>
          </a:xfrm>
        </p:spPr>
        <p:txBody>
          <a:bodyPr/>
          <a:lstStyle/>
          <a:p>
            <a:r>
              <a:rPr lang="en-US" dirty="0"/>
              <a:t>Rooting is the process of </a:t>
            </a:r>
            <a:r>
              <a:rPr lang="en-US" b="1" dirty="0"/>
              <a:t>gaining privileged (root) access</a:t>
            </a:r>
            <a:r>
              <a:rPr lang="en-US" dirty="0"/>
              <a:t> to an Android device’s operating system.</a:t>
            </a:r>
            <a:br>
              <a:rPr lang="en-US" dirty="0"/>
            </a:br>
            <a:r>
              <a:rPr lang="en-US" dirty="0"/>
              <a:t>It allows the user (or attacker) to modify system files, install unauthorized apps, and bypass built-in security controls.</a:t>
            </a:r>
          </a:p>
          <a:p>
            <a:r>
              <a:rPr lang="en-US" b="1" dirty="0"/>
              <a:t>Pros (for advanced users):</a:t>
            </a:r>
            <a:endParaRPr lang="en-US" dirty="0"/>
          </a:p>
          <a:p>
            <a:pPr lvl="1"/>
            <a:r>
              <a:rPr lang="en-US" dirty="0"/>
              <a:t>Full control over device and OS.</a:t>
            </a:r>
          </a:p>
          <a:p>
            <a:pPr lvl="1"/>
            <a:r>
              <a:rPr lang="en-US" dirty="0"/>
              <a:t>Custom ROMs, performance tuning, deep customization.</a:t>
            </a:r>
          </a:p>
          <a:p>
            <a:r>
              <a:rPr lang="en-US" b="1" dirty="0"/>
              <a:t>Security Risks:</a:t>
            </a:r>
            <a:endParaRPr lang="en-US" dirty="0"/>
          </a:p>
          <a:p>
            <a:pPr lvl="1"/>
            <a:r>
              <a:rPr lang="en-US" dirty="0"/>
              <a:t>Removes Android’s built-in sandboxing and app isolation.</a:t>
            </a:r>
          </a:p>
          <a:p>
            <a:pPr lvl="1"/>
            <a:r>
              <a:rPr lang="en-US" dirty="0"/>
              <a:t>Increases risk of </a:t>
            </a:r>
            <a:r>
              <a:rPr lang="en-US" b="1" dirty="0"/>
              <a:t>malware</a:t>
            </a:r>
            <a:r>
              <a:rPr lang="en-US" dirty="0"/>
              <a:t>, </a:t>
            </a:r>
            <a:r>
              <a:rPr lang="en-US" b="1" dirty="0"/>
              <a:t>data theft</a:t>
            </a:r>
            <a:r>
              <a:rPr lang="en-US" dirty="0"/>
              <a:t>, and </a:t>
            </a:r>
            <a:r>
              <a:rPr lang="en-US" b="1" dirty="0"/>
              <a:t>system compromise</a:t>
            </a:r>
            <a:r>
              <a:rPr lang="en-US" dirty="0"/>
              <a:t>.</a:t>
            </a:r>
          </a:p>
          <a:p>
            <a:pPr lvl="1"/>
            <a:r>
              <a:rPr lang="en-US" dirty="0"/>
              <a:t>Voids warranty and disables secure apps (e.g., banking, UPI).</a:t>
            </a:r>
          </a:p>
        </p:txBody>
      </p:sp>
    </p:spTree>
    <p:extLst>
      <p:ext uri="{BB962C8B-B14F-4D97-AF65-F5344CB8AC3E}">
        <p14:creationId xmlns:p14="http://schemas.microsoft.com/office/powerpoint/2010/main" val="369475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C5C95-25A0-E19F-4E74-11BC46559303}"/>
              </a:ext>
            </a:extLst>
          </p:cNvPr>
          <p:cNvSpPr>
            <a:spLocks noGrp="1"/>
          </p:cNvSpPr>
          <p:nvPr>
            <p:ph type="title"/>
          </p:nvPr>
        </p:nvSpPr>
        <p:spPr/>
        <p:txBody>
          <a:bodyPr/>
          <a:lstStyle/>
          <a:p>
            <a:r>
              <a:rPr lang="en-IN" dirty="0"/>
              <a:t>Jailbreaking (iOS)</a:t>
            </a:r>
          </a:p>
        </p:txBody>
      </p:sp>
      <p:sp>
        <p:nvSpPr>
          <p:cNvPr id="3" name="Text Placeholder 2">
            <a:extLst>
              <a:ext uri="{FF2B5EF4-FFF2-40B4-BE49-F238E27FC236}">
                <a16:creationId xmlns:a16="http://schemas.microsoft.com/office/drawing/2014/main" id="{CFB0F033-D843-C6D3-9DB5-F9A48D98938A}"/>
              </a:ext>
            </a:extLst>
          </p:cNvPr>
          <p:cNvSpPr>
            <a:spLocks noGrp="1"/>
          </p:cNvSpPr>
          <p:nvPr>
            <p:ph type="body" idx="1"/>
          </p:nvPr>
        </p:nvSpPr>
        <p:spPr/>
        <p:txBody>
          <a:bodyPr/>
          <a:lstStyle/>
          <a:p>
            <a:r>
              <a:rPr lang="en-US" sz="2000" dirty="0"/>
              <a:t>Jailbreaking is the </a:t>
            </a:r>
            <a:r>
              <a:rPr lang="en-US" sz="2000" b="1" dirty="0"/>
              <a:t>iOS equivalent of rooting</a:t>
            </a:r>
            <a:r>
              <a:rPr lang="en-US" sz="2000" dirty="0"/>
              <a:t> — it removes Apple’s software restrictions to gain access to the iPhone’s file system and install non-App Store apps.</a:t>
            </a:r>
          </a:p>
          <a:p>
            <a:r>
              <a:rPr lang="en-US" sz="2000" b="1" dirty="0"/>
              <a:t>Pros:</a:t>
            </a:r>
            <a:endParaRPr lang="en-US" sz="2000" dirty="0"/>
          </a:p>
          <a:p>
            <a:pPr lvl="1"/>
            <a:r>
              <a:rPr lang="en-US" sz="1800" dirty="0"/>
              <a:t>More customization, third-party app installation.</a:t>
            </a:r>
          </a:p>
          <a:p>
            <a:r>
              <a:rPr lang="en-US" sz="2000" b="1" dirty="0"/>
              <a:t>Security Risks:</a:t>
            </a:r>
            <a:endParaRPr lang="en-US" sz="2000" dirty="0"/>
          </a:p>
          <a:p>
            <a:pPr lvl="1"/>
            <a:r>
              <a:rPr lang="en-US" sz="1800" dirty="0"/>
              <a:t>Disables iOS security layers (code signing, sandboxing).</a:t>
            </a:r>
          </a:p>
          <a:p>
            <a:pPr lvl="1"/>
            <a:r>
              <a:rPr lang="en-US" sz="1800" dirty="0"/>
              <a:t>Makes device vulnerable to </a:t>
            </a:r>
            <a:r>
              <a:rPr lang="en-US" sz="1800" b="1" dirty="0"/>
              <a:t>malware</a:t>
            </a:r>
            <a:r>
              <a:rPr lang="en-US" sz="1800" dirty="0"/>
              <a:t> and </a:t>
            </a:r>
            <a:r>
              <a:rPr lang="en-US" sz="1800" b="1" dirty="0"/>
              <a:t>remote exploits</a:t>
            </a:r>
            <a:r>
              <a:rPr lang="en-US" sz="1800" dirty="0"/>
              <a:t>.</a:t>
            </a:r>
          </a:p>
          <a:p>
            <a:pPr lvl="1"/>
            <a:r>
              <a:rPr lang="en-US" sz="1800" dirty="0"/>
              <a:t>Sensitive apps (like banking) often refuse to run on jailbroken devices.</a:t>
            </a:r>
          </a:p>
          <a:p>
            <a:endParaRPr lang="en-IN" sz="2000" dirty="0"/>
          </a:p>
        </p:txBody>
      </p:sp>
    </p:spTree>
    <p:extLst>
      <p:ext uri="{BB962C8B-B14F-4D97-AF65-F5344CB8AC3E}">
        <p14:creationId xmlns:p14="http://schemas.microsoft.com/office/powerpoint/2010/main" val="2584540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0F260-108B-1E98-A911-767B7B6036E7}"/>
              </a:ext>
            </a:extLst>
          </p:cNvPr>
          <p:cNvSpPr>
            <a:spLocks noGrp="1"/>
          </p:cNvSpPr>
          <p:nvPr>
            <p:ph type="title"/>
          </p:nvPr>
        </p:nvSpPr>
        <p:spPr/>
        <p:txBody>
          <a:bodyPr/>
          <a:lstStyle/>
          <a:p>
            <a:r>
              <a:rPr lang="en-IN" dirty="0"/>
              <a:t>Rooting vs. Jailbreaking:</a:t>
            </a:r>
          </a:p>
        </p:txBody>
      </p:sp>
      <p:graphicFrame>
        <p:nvGraphicFramePr>
          <p:cNvPr id="10" name="Table 9">
            <a:extLst>
              <a:ext uri="{FF2B5EF4-FFF2-40B4-BE49-F238E27FC236}">
                <a16:creationId xmlns:a16="http://schemas.microsoft.com/office/drawing/2014/main" id="{4EC416B4-B430-39CF-8E87-1902273FFD63}"/>
              </a:ext>
            </a:extLst>
          </p:cNvPr>
          <p:cNvGraphicFramePr>
            <a:graphicFrameLocks noGrp="1"/>
          </p:cNvGraphicFramePr>
          <p:nvPr>
            <p:extLst>
              <p:ext uri="{D42A27DB-BD31-4B8C-83A1-F6EECF244321}">
                <p14:modId xmlns:p14="http://schemas.microsoft.com/office/powerpoint/2010/main" val="6723540"/>
              </p:ext>
            </p:extLst>
          </p:nvPr>
        </p:nvGraphicFramePr>
        <p:xfrm>
          <a:off x="755650" y="1790700"/>
          <a:ext cx="7842661" cy="2547349"/>
        </p:xfrm>
        <a:graphic>
          <a:graphicData uri="http://schemas.openxmlformats.org/drawingml/2006/table">
            <a:tbl>
              <a:tblPr>
                <a:tableStyleId>{EEEFB3D3-C7DD-41E9-AA9F-930C74197033}</a:tableStyleId>
              </a:tblPr>
              <a:tblGrid>
                <a:gridCol w="991751">
                  <a:extLst>
                    <a:ext uri="{9D8B030D-6E8A-4147-A177-3AD203B41FA5}">
                      <a16:colId xmlns:a16="http://schemas.microsoft.com/office/drawing/2014/main" val="3184877489"/>
                    </a:ext>
                  </a:extLst>
                </a:gridCol>
                <a:gridCol w="3484177">
                  <a:extLst>
                    <a:ext uri="{9D8B030D-6E8A-4147-A177-3AD203B41FA5}">
                      <a16:colId xmlns:a16="http://schemas.microsoft.com/office/drawing/2014/main" val="2942522404"/>
                    </a:ext>
                  </a:extLst>
                </a:gridCol>
                <a:gridCol w="3366733">
                  <a:extLst>
                    <a:ext uri="{9D8B030D-6E8A-4147-A177-3AD203B41FA5}">
                      <a16:colId xmlns:a16="http://schemas.microsoft.com/office/drawing/2014/main" val="2285567871"/>
                    </a:ext>
                  </a:extLst>
                </a:gridCol>
              </a:tblGrid>
              <a:tr h="277060">
                <a:tc>
                  <a:txBody>
                    <a:bodyPr/>
                    <a:lstStyle/>
                    <a:p>
                      <a:pPr algn="ctr" fontAlgn="ctr">
                        <a:buNone/>
                      </a:pPr>
                      <a:r>
                        <a:rPr lang="en-IN" sz="1400" b="1" u="none" strike="noStrike" dirty="0">
                          <a:effectLst/>
                        </a:rPr>
                        <a:t>Aspect</a:t>
                      </a:r>
                      <a:endParaRPr lang="en-IN" sz="14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buNone/>
                      </a:pPr>
                      <a:r>
                        <a:rPr lang="en-IN" sz="1400" b="1" u="none" strike="noStrike">
                          <a:effectLst/>
                        </a:rPr>
                        <a:t>Rooting (Android)</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buNone/>
                      </a:pPr>
                      <a:r>
                        <a:rPr lang="en-IN" sz="1400" b="1" u="none" strike="noStrike" dirty="0">
                          <a:effectLst/>
                        </a:rPr>
                        <a:t>Jailbreaking (iOS)</a:t>
                      </a:r>
                      <a:endParaRPr lang="en-IN" sz="14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650370338"/>
                  </a:ext>
                </a:extLst>
              </a:tr>
              <a:tr h="520582">
                <a:tc>
                  <a:txBody>
                    <a:bodyPr/>
                    <a:lstStyle/>
                    <a:p>
                      <a:pPr algn="l" fontAlgn="ctr">
                        <a:buNone/>
                      </a:pPr>
                      <a:r>
                        <a:rPr lang="en-IN" sz="1400" b="1" u="none" strike="noStrike">
                          <a:effectLst/>
                        </a:rPr>
                        <a:t>Purpose</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400" u="none" strike="noStrike" dirty="0">
                          <a:effectLst/>
                        </a:rPr>
                        <a:t>Gain root access for customization, removing OEM limits.</a:t>
                      </a:r>
                      <a:endParaRPr lang="en-US" sz="14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400" u="none" strike="noStrike">
                          <a:effectLst/>
                        </a:rPr>
                        <a:t>Bypass Apple’s restrictions to install non-App Store apps.</a:t>
                      </a:r>
                      <a:endParaRPr lang="en-US"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934063545"/>
                  </a:ext>
                </a:extLst>
              </a:tr>
              <a:tr h="277060">
                <a:tc>
                  <a:txBody>
                    <a:bodyPr/>
                    <a:lstStyle/>
                    <a:p>
                      <a:pPr algn="l" fontAlgn="ctr">
                        <a:buNone/>
                      </a:pPr>
                      <a:r>
                        <a:rPr lang="en-IN" sz="1400" b="1" u="none" strike="noStrike">
                          <a:effectLst/>
                        </a:rPr>
                        <a:t>OS</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Android (Linux-based)</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iOS (Apple)</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965410340"/>
                  </a:ext>
                </a:extLst>
              </a:tr>
              <a:tr h="520582">
                <a:tc>
                  <a:txBody>
                    <a:bodyPr/>
                    <a:lstStyle/>
                    <a:p>
                      <a:pPr algn="l" fontAlgn="ctr">
                        <a:buNone/>
                      </a:pPr>
                      <a:r>
                        <a:rPr lang="en-IN" sz="1400" b="1" u="none" strike="noStrike">
                          <a:effectLst/>
                        </a:rPr>
                        <a:t>Method</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400" u="none" strike="noStrike" dirty="0">
                          <a:effectLst/>
                        </a:rPr>
                        <a:t>Exploits OS vulnerabilities to unlock root access.</a:t>
                      </a:r>
                      <a:endParaRPr lang="en-US" sz="14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dirty="0">
                          <a:effectLst/>
                        </a:rPr>
                        <a:t>Uses iOS exploits to disable Apple’s code-signing checks.</a:t>
                      </a:r>
                      <a:endParaRPr lang="en-IN" sz="14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110436388"/>
                  </a:ext>
                </a:extLst>
              </a:tr>
              <a:tr h="520582">
                <a:tc>
                  <a:txBody>
                    <a:bodyPr/>
                    <a:lstStyle/>
                    <a:p>
                      <a:pPr algn="l" fontAlgn="ctr">
                        <a:buNone/>
                      </a:pPr>
                      <a:r>
                        <a:rPr lang="en-IN" sz="1400" b="1" u="none" strike="noStrike">
                          <a:effectLst/>
                        </a:rPr>
                        <a:t>Security Impact</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400" u="none" strike="noStrike">
                          <a:effectLst/>
                        </a:rPr>
                        <a:t>Breaks app sandboxing, allows malware full system access.</a:t>
                      </a:r>
                      <a:endParaRPr lang="en-US"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400" u="none" strike="noStrike" dirty="0">
                          <a:effectLst/>
                        </a:rPr>
                        <a:t>Disables iOS security layers (sandboxing, app signing).</a:t>
                      </a:r>
                      <a:endParaRPr lang="en-US" sz="14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277271167"/>
                  </a:ext>
                </a:extLst>
              </a:tr>
              <a:tr h="277060">
                <a:tc>
                  <a:txBody>
                    <a:bodyPr/>
                    <a:lstStyle/>
                    <a:p>
                      <a:pPr algn="l" fontAlgn="ctr">
                        <a:buNone/>
                      </a:pPr>
                      <a:r>
                        <a:rPr lang="en-IN" sz="1400" b="1" u="none" strike="noStrike" dirty="0">
                          <a:effectLst/>
                        </a:rPr>
                        <a:t>Official Support</a:t>
                      </a:r>
                      <a:endParaRPr lang="en-IN" sz="14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400" u="none" strike="noStrike">
                          <a:effectLst/>
                        </a:rPr>
                        <a:t>Not allowed by Google; voids warranty.</a:t>
                      </a:r>
                      <a:endParaRPr lang="en-US"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400" u="none" strike="noStrike" dirty="0">
                          <a:effectLst/>
                        </a:rPr>
                        <a:t>Not allowed by Apple; voids warranty.</a:t>
                      </a:r>
                      <a:endParaRPr lang="en-US" sz="14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073002945"/>
                  </a:ext>
                </a:extLst>
              </a:tr>
            </a:tbl>
          </a:graphicData>
        </a:graphic>
      </p:graphicFrame>
    </p:spTree>
    <p:extLst>
      <p:ext uri="{BB962C8B-B14F-4D97-AF65-F5344CB8AC3E}">
        <p14:creationId xmlns:p14="http://schemas.microsoft.com/office/powerpoint/2010/main" val="2694031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7D9CE-6840-A5F9-EBD5-1BAC15449502}"/>
              </a:ext>
            </a:extLst>
          </p:cNvPr>
          <p:cNvSpPr>
            <a:spLocks noGrp="1"/>
          </p:cNvSpPr>
          <p:nvPr>
            <p:ph type="title"/>
          </p:nvPr>
        </p:nvSpPr>
        <p:spPr/>
        <p:txBody>
          <a:bodyPr/>
          <a:lstStyle/>
          <a:p>
            <a:r>
              <a:rPr lang="en-IN" dirty="0"/>
              <a:t>Preventive Measures:</a:t>
            </a:r>
          </a:p>
        </p:txBody>
      </p:sp>
      <p:sp>
        <p:nvSpPr>
          <p:cNvPr id="3" name="Text Placeholder 2">
            <a:extLst>
              <a:ext uri="{FF2B5EF4-FFF2-40B4-BE49-F238E27FC236}">
                <a16:creationId xmlns:a16="http://schemas.microsoft.com/office/drawing/2014/main" id="{1377B654-DF9C-028A-4B97-E57482CBE858}"/>
              </a:ext>
            </a:extLst>
          </p:cNvPr>
          <p:cNvSpPr>
            <a:spLocks noGrp="1"/>
          </p:cNvSpPr>
          <p:nvPr>
            <p:ph type="body" idx="1"/>
          </p:nvPr>
        </p:nvSpPr>
        <p:spPr/>
        <p:txBody>
          <a:bodyPr/>
          <a:lstStyle/>
          <a:p>
            <a:pPr marL="425450" indent="-285750">
              <a:buFont typeface="Arial" panose="020B0604020202020204" pitchFamily="34" charset="0"/>
              <a:buChar char="•"/>
            </a:pPr>
            <a:r>
              <a:rPr lang="en-US" sz="2000" dirty="0"/>
              <a:t>Avoid unauthorized system modifications or privilege escalation tools.</a:t>
            </a:r>
          </a:p>
          <a:p>
            <a:pPr marL="425450" indent="-285750">
              <a:buFont typeface="Arial" panose="020B0604020202020204" pitchFamily="34" charset="0"/>
              <a:buChar char="•"/>
            </a:pPr>
            <a:r>
              <a:rPr lang="en-US" sz="2000" dirty="0"/>
              <a:t>Use only official app marketplaces and verified updates.</a:t>
            </a:r>
          </a:p>
          <a:p>
            <a:pPr marL="425450" indent="-285750">
              <a:buFont typeface="Arial" panose="020B0604020202020204" pitchFamily="34" charset="0"/>
              <a:buChar char="•"/>
            </a:pPr>
            <a:r>
              <a:rPr lang="en-US" sz="2000" dirty="0"/>
              <a:t>Apply security patches regularly.</a:t>
            </a:r>
          </a:p>
          <a:p>
            <a:pPr marL="425450" indent="-285750">
              <a:buFont typeface="Arial" panose="020B0604020202020204" pitchFamily="34" charset="0"/>
              <a:buChar char="•"/>
            </a:pPr>
            <a:r>
              <a:rPr lang="en-US" sz="2000" dirty="0"/>
              <a:t>Enable device integrity checks (e.g., </a:t>
            </a:r>
            <a:r>
              <a:rPr lang="en-US" sz="2000" b="1" dirty="0"/>
              <a:t>verified boot, integrity attestation</a:t>
            </a:r>
            <a:r>
              <a:rPr lang="en-US" sz="2000" dirty="0"/>
              <a:t>).</a:t>
            </a:r>
          </a:p>
          <a:p>
            <a:pPr marL="425450" indent="-285750">
              <a:buFont typeface="Arial" panose="020B0604020202020204" pitchFamily="34" charset="0"/>
              <a:buChar char="•"/>
            </a:pPr>
            <a:r>
              <a:rPr lang="en-US" sz="2000" dirty="0"/>
              <a:t>Use enterprise policies or mobile device management (MDM) to block altered devices.</a:t>
            </a:r>
          </a:p>
          <a:p>
            <a:pPr marL="425450" indent="-285750">
              <a:buFont typeface="Arial" panose="020B0604020202020204" pitchFamily="34" charset="0"/>
              <a:buChar char="•"/>
            </a:pPr>
            <a:r>
              <a:rPr lang="en-US" sz="2000" dirty="0"/>
              <a:t>Educate users about the risks of unrestricted system access.</a:t>
            </a:r>
            <a:endParaRPr lang="en-IN" sz="2000" dirty="0"/>
          </a:p>
        </p:txBody>
      </p:sp>
    </p:spTree>
    <p:extLst>
      <p:ext uri="{BB962C8B-B14F-4D97-AF65-F5344CB8AC3E}">
        <p14:creationId xmlns:p14="http://schemas.microsoft.com/office/powerpoint/2010/main" val="36493379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377A1-74D6-7FB1-6A04-F1CF72C974F1}"/>
              </a:ext>
            </a:extLst>
          </p:cNvPr>
          <p:cNvSpPr>
            <a:spLocks noGrp="1"/>
          </p:cNvSpPr>
          <p:nvPr>
            <p:ph type="title"/>
          </p:nvPr>
        </p:nvSpPr>
        <p:spPr>
          <a:xfrm>
            <a:off x="720000" y="216310"/>
            <a:ext cx="7704000" cy="801415"/>
          </a:xfrm>
        </p:spPr>
        <p:txBody>
          <a:bodyPr/>
          <a:lstStyle/>
          <a:p>
            <a:r>
              <a:rPr lang="en-US" sz="2400" dirty="0"/>
              <a:t>Mobile Application Security Vulnerabilities — OWASP Top 10</a:t>
            </a:r>
            <a:endParaRPr lang="en-IN" sz="2400" dirty="0"/>
          </a:p>
        </p:txBody>
      </p:sp>
      <p:sp>
        <p:nvSpPr>
          <p:cNvPr id="3" name="Text Placeholder 2">
            <a:extLst>
              <a:ext uri="{FF2B5EF4-FFF2-40B4-BE49-F238E27FC236}">
                <a16:creationId xmlns:a16="http://schemas.microsoft.com/office/drawing/2014/main" id="{17E6680B-4678-BBF0-6B3F-CE1E86D59F38}"/>
              </a:ext>
            </a:extLst>
          </p:cNvPr>
          <p:cNvSpPr>
            <a:spLocks noGrp="1"/>
          </p:cNvSpPr>
          <p:nvPr>
            <p:ph type="body" idx="1"/>
          </p:nvPr>
        </p:nvSpPr>
        <p:spPr/>
        <p:txBody>
          <a:bodyPr/>
          <a:lstStyle/>
          <a:p>
            <a:r>
              <a:rPr lang="en-US" dirty="0"/>
              <a:t>The </a:t>
            </a:r>
            <a:r>
              <a:rPr lang="en-US" b="1" dirty="0"/>
              <a:t>OWASP (Open Web Application Security Project)</a:t>
            </a:r>
            <a:r>
              <a:rPr lang="en-US" dirty="0"/>
              <a:t> Mobile Top 10 lists the most critical security risks found in </a:t>
            </a:r>
            <a:r>
              <a:rPr lang="en-US" b="1" dirty="0"/>
              <a:t>mobile applications</a:t>
            </a:r>
            <a:r>
              <a:rPr lang="en-US" dirty="0"/>
              <a:t>.</a:t>
            </a:r>
            <a:br>
              <a:rPr lang="en-US" dirty="0"/>
            </a:br>
            <a:r>
              <a:rPr lang="en-US" dirty="0"/>
              <a:t>It helps developers, testers, and security analysts identify and mitigate common weaknesses in Android and iOS apps.</a:t>
            </a:r>
          </a:p>
          <a:p>
            <a:endParaRPr lang="en-IN" dirty="0"/>
          </a:p>
        </p:txBody>
      </p:sp>
    </p:spTree>
    <p:extLst>
      <p:ext uri="{BB962C8B-B14F-4D97-AF65-F5344CB8AC3E}">
        <p14:creationId xmlns:p14="http://schemas.microsoft.com/office/powerpoint/2010/main" val="3830162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27CFF-6C76-21E2-8D63-5106AB331C0E}"/>
              </a:ext>
            </a:extLst>
          </p:cNvPr>
          <p:cNvSpPr>
            <a:spLocks noGrp="1"/>
          </p:cNvSpPr>
          <p:nvPr>
            <p:ph type="title"/>
          </p:nvPr>
        </p:nvSpPr>
        <p:spPr/>
        <p:txBody>
          <a:bodyPr/>
          <a:lstStyle/>
          <a:p>
            <a:r>
              <a:rPr lang="en-US" dirty="0"/>
              <a:t>M1 – Improper Platform Usage</a:t>
            </a:r>
            <a:br>
              <a:rPr lang="en-US" dirty="0"/>
            </a:br>
            <a:endParaRPr lang="en-IN" dirty="0"/>
          </a:p>
        </p:txBody>
      </p:sp>
      <p:sp>
        <p:nvSpPr>
          <p:cNvPr id="3" name="Text Placeholder 2">
            <a:extLst>
              <a:ext uri="{FF2B5EF4-FFF2-40B4-BE49-F238E27FC236}">
                <a16:creationId xmlns:a16="http://schemas.microsoft.com/office/drawing/2014/main" id="{786FD6D7-545B-D53B-EA4B-E42150E1FDAA}"/>
              </a:ext>
            </a:extLst>
          </p:cNvPr>
          <p:cNvSpPr>
            <a:spLocks noGrp="1"/>
          </p:cNvSpPr>
          <p:nvPr>
            <p:ph type="body" idx="1"/>
          </p:nvPr>
        </p:nvSpPr>
        <p:spPr/>
        <p:txBody>
          <a:bodyPr/>
          <a:lstStyle/>
          <a:p>
            <a:r>
              <a:rPr lang="en-US" sz="2000" dirty="0"/>
              <a:t>Occurs when a mobile app </a:t>
            </a:r>
            <a:r>
              <a:rPr lang="en-US" sz="2000" b="1" dirty="0"/>
              <a:t>misuses platform-specific features or permissions</a:t>
            </a:r>
            <a:r>
              <a:rPr lang="en-US" sz="2000" dirty="0"/>
              <a:t>, or fails to use security controls properly.</a:t>
            </a:r>
          </a:p>
          <a:p>
            <a:r>
              <a:rPr lang="en-US" sz="2000" b="1" dirty="0"/>
              <a:t>Examples:</a:t>
            </a:r>
            <a:endParaRPr lang="en-US" sz="2000" dirty="0"/>
          </a:p>
          <a:p>
            <a:pPr lvl="1"/>
            <a:r>
              <a:rPr lang="en-US" sz="1800" dirty="0"/>
              <a:t>Misusing </a:t>
            </a:r>
            <a:r>
              <a:rPr lang="en-US" sz="1800" b="1" u="sng" dirty="0"/>
              <a:t>Android intents or iOS URL schemes</a:t>
            </a:r>
            <a:r>
              <a:rPr lang="en-US" sz="1800" dirty="0"/>
              <a:t>.</a:t>
            </a:r>
          </a:p>
          <a:p>
            <a:pPr lvl="1"/>
            <a:r>
              <a:rPr lang="en-US" sz="1800" dirty="0"/>
              <a:t>Failing to enforce permissions (e.g., camera, location).</a:t>
            </a:r>
          </a:p>
          <a:p>
            <a:pPr lvl="1"/>
            <a:r>
              <a:rPr lang="en-US" sz="1800" dirty="0"/>
              <a:t>Ignoring platform security features like Keychain or Keystore.</a:t>
            </a:r>
          </a:p>
          <a:p>
            <a:r>
              <a:rPr lang="en-US" sz="2000" b="1" dirty="0"/>
              <a:t>Mitigation:</a:t>
            </a:r>
            <a:endParaRPr lang="en-US" sz="2000" dirty="0"/>
          </a:p>
          <a:p>
            <a:pPr lvl="1"/>
            <a:r>
              <a:rPr lang="en-US" sz="1800" dirty="0"/>
              <a:t>Follow </a:t>
            </a:r>
            <a:r>
              <a:rPr lang="en-US" sz="1800" b="1" dirty="0"/>
              <a:t>official platform security guidelines</a:t>
            </a:r>
            <a:r>
              <a:rPr lang="en-US" sz="1800" dirty="0"/>
              <a:t>.</a:t>
            </a:r>
          </a:p>
          <a:p>
            <a:pPr lvl="1"/>
            <a:r>
              <a:rPr lang="en-US" sz="1800" dirty="0"/>
              <a:t>Use </a:t>
            </a:r>
            <a:r>
              <a:rPr lang="en-US" sz="1800" b="1" dirty="0"/>
              <a:t>Android Permissions Model</a:t>
            </a:r>
            <a:r>
              <a:rPr lang="en-US" sz="1800" dirty="0"/>
              <a:t> and </a:t>
            </a:r>
            <a:r>
              <a:rPr lang="en-US" sz="1800" b="1" dirty="0"/>
              <a:t>KeyStore API</a:t>
            </a:r>
            <a:r>
              <a:rPr lang="en-US" sz="1800" dirty="0"/>
              <a:t> properly.</a:t>
            </a:r>
          </a:p>
          <a:p>
            <a:pPr lvl="1"/>
            <a:r>
              <a:rPr lang="en-US" sz="1800" dirty="0"/>
              <a:t>Disable </a:t>
            </a:r>
            <a:r>
              <a:rPr lang="en-US" sz="1800" b="1" dirty="0"/>
              <a:t>exported components</a:t>
            </a:r>
            <a:r>
              <a:rPr lang="en-US" sz="1800" dirty="0"/>
              <a:t> unless required.</a:t>
            </a:r>
          </a:p>
          <a:p>
            <a:endParaRPr lang="en-IN" sz="2000" dirty="0"/>
          </a:p>
        </p:txBody>
      </p:sp>
    </p:spTree>
    <p:extLst>
      <p:ext uri="{BB962C8B-B14F-4D97-AF65-F5344CB8AC3E}">
        <p14:creationId xmlns:p14="http://schemas.microsoft.com/office/powerpoint/2010/main" val="3473362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FDF0C-21AF-EE11-7B32-55EC5BF983B4}"/>
              </a:ext>
            </a:extLst>
          </p:cNvPr>
          <p:cNvSpPr>
            <a:spLocks noGrp="1"/>
          </p:cNvSpPr>
          <p:nvPr>
            <p:ph type="title"/>
          </p:nvPr>
        </p:nvSpPr>
        <p:spPr/>
        <p:txBody>
          <a:bodyPr/>
          <a:lstStyle/>
          <a:p>
            <a:r>
              <a:rPr lang="en-IN" dirty="0"/>
              <a:t>M2 – Insecure Data Storage</a:t>
            </a:r>
          </a:p>
        </p:txBody>
      </p:sp>
      <p:sp>
        <p:nvSpPr>
          <p:cNvPr id="3" name="Text Placeholder 2">
            <a:extLst>
              <a:ext uri="{FF2B5EF4-FFF2-40B4-BE49-F238E27FC236}">
                <a16:creationId xmlns:a16="http://schemas.microsoft.com/office/drawing/2014/main" id="{B41B30D4-7AEF-6F1B-E777-C06719DBB810}"/>
              </a:ext>
            </a:extLst>
          </p:cNvPr>
          <p:cNvSpPr>
            <a:spLocks noGrp="1"/>
          </p:cNvSpPr>
          <p:nvPr>
            <p:ph type="body" idx="1"/>
          </p:nvPr>
        </p:nvSpPr>
        <p:spPr/>
        <p:txBody>
          <a:bodyPr/>
          <a:lstStyle/>
          <a:p>
            <a:r>
              <a:rPr lang="en-US" sz="2000" dirty="0"/>
              <a:t>Sensitive data is stored </a:t>
            </a:r>
            <a:r>
              <a:rPr lang="en-US" sz="2000" b="1" dirty="0"/>
              <a:t>unencrypted</a:t>
            </a:r>
            <a:r>
              <a:rPr lang="en-US" sz="2000" dirty="0"/>
              <a:t> or insecurely on the device’s file system, shared preferences, or databases.</a:t>
            </a:r>
          </a:p>
          <a:p>
            <a:r>
              <a:rPr lang="en-US" sz="2000" b="1" dirty="0"/>
              <a:t>Examples:</a:t>
            </a:r>
            <a:endParaRPr lang="en-US" sz="2000" dirty="0"/>
          </a:p>
          <a:p>
            <a:pPr lvl="1"/>
            <a:r>
              <a:rPr lang="en-US" sz="1800" dirty="0"/>
              <a:t>Storing passwords, tokens, or personal info in plain text.</a:t>
            </a:r>
          </a:p>
          <a:p>
            <a:pPr lvl="1"/>
            <a:r>
              <a:rPr lang="en-US" sz="1800" dirty="0"/>
              <a:t>Saving sensitive logs or caches that can be read by other apps.</a:t>
            </a:r>
          </a:p>
          <a:p>
            <a:r>
              <a:rPr lang="en-US" sz="2000" b="1" dirty="0"/>
              <a:t>Mitigation:</a:t>
            </a:r>
            <a:endParaRPr lang="en-US" sz="2000" dirty="0"/>
          </a:p>
          <a:p>
            <a:pPr lvl="1"/>
            <a:r>
              <a:rPr lang="en-US" sz="1800" dirty="0"/>
              <a:t>Use </a:t>
            </a:r>
            <a:r>
              <a:rPr lang="en-US" sz="1800" b="1" dirty="0"/>
              <a:t>encryption</a:t>
            </a:r>
            <a:r>
              <a:rPr lang="en-US" sz="1800" dirty="0"/>
              <a:t> for local data.</a:t>
            </a:r>
          </a:p>
          <a:p>
            <a:pPr lvl="1"/>
            <a:r>
              <a:rPr lang="en-US" sz="1800" dirty="0"/>
              <a:t>Store secrets only in </a:t>
            </a:r>
            <a:r>
              <a:rPr lang="en-US" sz="1800" b="1" dirty="0"/>
              <a:t>Secure Enclave/KeyStore</a:t>
            </a:r>
            <a:r>
              <a:rPr lang="en-US" sz="1800" dirty="0"/>
              <a:t>.</a:t>
            </a:r>
          </a:p>
          <a:p>
            <a:pPr lvl="1"/>
            <a:r>
              <a:rPr lang="en-US" sz="1800" dirty="0"/>
              <a:t>Avoid writing sensitive data to logs or external storage.</a:t>
            </a:r>
          </a:p>
          <a:p>
            <a:endParaRPr lang="en-IN" sz="2000" dirty="0"/>
          </a:p>
        </p:txBody>
      </p:sp>
    </p:spTree>
    <p:extLst>
      <p:ext uri="{BB962C8B-B14F-4D97-AF65-F5344CB8AC3E}">
        <p14:creationId xmlns:p14="http://schemas.microsoft.com/office/powerpoint/2010/main" val="2323399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E8512-992D-C12B-D71F-9BBA197C6BD0}"/>
              </a:ext>
            </a:extLst>
          </p:cNvPr>
          <p:cNvSpPr>
            <a:spLocks noGrp="1"/>
          </p:cNvSpPr>
          <p:nvPr>
            <p:ph type="title"/>
          </p:nvPr>
        </p:nvSpPr>
        <p:spPr/>
        <p:txBody>
          <a:bodyPr/>
          <a:lstStyle/>
          <a:p>
            <a:r>
              <a:rPr lang="en-IN" dirty="0"/>
              <a:t>M3 – Insecure Communication</a:t>
            </a:r>
          </a:p>
        </p:txBody>
      </p:sp>
      <p:sp>
        <p:nvSpPr>
          <p:cNvPr id="3" name="Text Placeholder 2">
            <a:extLst>
              <a:ext uri="{FF2B5EF4-FFF2-40B4-BE49-F238E27FC236}">
                <a16:creationId xmlns:a16="http://schemas.microsoft.com/office/drawing/2014/main" id="{3D29BC7A-5A8D-0047-E33B-9540696EB52A}"/>
              </a:ext>
            </a:extLst>
          </p:cNvPr>
          <p:cNvSpPr>
            <a:spLocks noGrp="1"/>
          </p:cNvSpPr>
          <p:nvPr>
            <p:ph type="body" idx="1"/>
          </p:nvPr>
        </p:nvSpPr>
        <p:spPr/>
        <p:txBody>
          <a:bodyPr/>
          <a:lstStyle/>
          <a:p>
            <a:r>
              <a:rPr lang="en-US" sz="2000" dirty="0"/>
              <a:t>Occurs when the app transmits sensitive data over </a:t>
            </a:r>
            <a:r>
              <a:rPr lang="en-US" sz="2000" b="1" dirty="0"/>
              <a:t>unsecured or poorly configured network connections</a:t>
            </a:r>
            <a:r>
              <a:rPr lang="en-US" sz="2000" dirty="0"/>
              <a:t>.</a:t>
            </a:r>
          </a:p>
          <a:p>
            <a:r>
              <a:rPr lang="en-US" sz="2000" b="1" dirty="0"/>
              <a:t>Examples:</a:t>
            </a:r>
            <a:endParaRPr lang="en-US" sz="2000" dirty="0"/>
          </a:p>
          <a:p>
            <a:pPr lvl="1"/>
            <a:r>
              <a:rPr lang="en-US" sz="1800" dirty="0"/>
              <a:t>Using </a:t>
            </a:r>
            <a:r>
              <a:rPr lang="en-US" sz="1800" b="1" dirty="0"/>
              <a:t>HTTP instead of HTTPS</a:t>
            </a:r>
            <a:r>
              <a:rPr lang="en-US" sz="1800" dirty="0"/>
              <a:t>.</a:t>
            </a:r>
          </a:p>
          <a:p>
            <a:pPr lvl="1"/>
            <a:r>
              <a:rPr lang="en-US" sz="1800" dirty="0"/>
              <a:t>No SSL/TLS certificate validation.</a:t>
            </a:r>
          </a:p>
          <a:p>
            <a:pPr lvl="1"/>
            <a:r>
              <a:rPr lang="en-US" sz="1800" dirty="0"/>
              <a:t>Allowing weak ciphers or old protocols.</a:t>
            </a:r>
          </a:p>
          <a:p>
            <a:r>
              <a:rPr lang="en-US" sz="2000" b="1" dirty="0"/>
              <a:t>Mitigation:</a:t>
            </a:r>
            <a:endParaRPr lang="en-US" sz="2000" dirty="0"/>
          </a:p>
          <a:p>
            <a:pPr lvl="1"/>
            <a:r>
              <a:rPr lang="en-US" sz="1800" dirty="0"/>
              <a:t>Always use </a:t>
            </a:r>
            <a:r>
              <a:rPr lang="en-US" sz="1800" b="1" dirty="0"/>
              <a:t>HTTPS/TLS 1.2+</a:t>
            </a:r>
            <a:r>
              <a:rPr lang="en-US" sz="1800" dirty="0"/>
              <a:t>.</a:t>
            </a:r>
          </a:p>
          <a:p>
            <a:pPr lvl="1"/>
            <a:r>
              <a:rPr lang="en-US" sz="1800" dirty="0"/>
              <a:t>Implement </a:t>
            </a:r>
            <a:r>
              <a:rPr lang="en-US" sz="1800" b="1" dirty="0"/>
              <a:t>certificate pinning</a:t>
            </a:r>
            <a:r>
              <a:rPr lang="en-US" sz="1800" dirty="0"/>
              <a:t>.</a:t>
            </a:r>
          </a:p>
          <a:p>
            <a:pPr lvl="1"/>
            <a:r>
              <a:rPr lang="en-US" sz="1800" dirty="0"/>
              <a:t>Validate SSL certificates strictly.</a:t>
            </a:r>
          </a:p>
          <a:p>
            <a:pPr lvl="1"/>
            <a:r>
              <a:rPr lang="en-US" sz="1800" dirty="0"/>
              <a:t>Never transmit sensitive data in URLs or GET parameters.</a:t>
            </a:r>
          </a:p>
          <a:p>
            <a:endParaRPr lang="en-IN" sz="2000" dirty="0"/>
          </a:p>
        </p:txBody>
      </p:sp>
    </p:spTree>
    <p:extLst>
      <p:ext uri="{BB962C8B-B14F-4D97-AF65-F5344CB8AC3E}">
        <p14:creationId xmlns:p14="http://schemas.microsoft.com/office/powerpoint/2010/main" val="3064234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28D32-65C5-398A-6C6A-3FFDE63AA1E2}"/>
              </a:ext>
            </a:extLst>
          </p:cNvPr>
          <p:cNvSpPr>
            <a:spLocks noGrp="1"/>
          </p:cNvSpPr>
          <p:nvPr>
            <p:ph type="title"/>
          </p:nvPr>
        </p:nvSpPr>
        <p:spPr/>
        <p:txBody>
          <a:bodyPr/>
          <a:lstStyle/>
          <a:p>
            <a:r>
              <a:rPr lang="en-IN" dirty="0"/>
              <a:t>M4 – Insecure Authentication</a:t>
            </a:r>
          </a:p>
        </p:txBody>
      </p:sp>
      <p:sp>
        <p:nvSpPr>
          <p:cNvPr id="3" name="Text Placeholder 2">
            <a:extLst>
              <a:ext uri="{FF2B5EF4-FFF2-40B4-BE49-F238E27FC236}">
                <a16:creationId xmlns:a16="http://schemas.microsoft.com/office/drawing/2014/main" id="{E9B5FA6C-21A7-E0BB-0898-BEF0E5442485}"/>
              </a:ext>
            </a:extLst>
          </p:cNvPr>
          <p:cNvSpPr>
            <a:spLocks noGrp="1"/>
          </p:cNvSpPr>
          <p:nvPr>
            <p:ph type="body" idx="1"/>
          </p:nvPr>
        </p:nvSpPr>
        <p:spPr/>
        <p:txBody>
          <a:bodyPr/>
          <a:lstStyle/>
          <a:p>
            <a:r>
              <a:rPr lang="en-US" sz="2000" dirty="0"/>
              <a:t>Weak or flawed authentication mechanisms that allow attackers to bypass login or impersonate users.</a:t>
            </a:r>
          </a:p>
          <a:p>
            <a:r>
              <a:rPr lang="en-US" sz="2000" b="1" dirty="0"/>
              <a:t>Examples:</a:t>
            </a:r>
            <a:endParaRPr lang="en-US" sz="2000" dirty="0"/>
          </a:p>
          <a:p>
            <a:pPr lvl="1"/>
            <a:r>
              <a:rPr lang="en-US" sz="1800" dirty="0"/>
              <a:t>Relying only on device identifiers (IMEI, MAC).</a:t>
            </a:r>
          </a:p>
          <a:p>
            <a:pPr lvl="1"/>
            <a:r>
              <a:rPr lang="en-US" sz="1800" dirty="0"/>
              <a:t>Poor session management (no expiry, predictable tokens).</a:t>
            </a:r>
          </a:p>
          <a:p>
            <a:pPr lvl="1"/>
            <a:r>
              <a:rPr lang="en-US" sz="1800" dirty="0"/>
              <a:t>No MFA (Multi-Factor Authentication).</a:t>
            </a:r>
          </a:p>
          <a:p>
            <a:r>
              <a:rPr lang="en-US" sz="2000" b="1" dirty="0"/>
              <a:t>Mitigation:</a:t>
            </a:r>
            <a:endParaRPr lang="en-US" sz="2000" dirty="0"/>
          </a:p>
          <a:p>
            <a:pPr lvl="1"/>
            <a:r>
              <a:rPr lang="en-US" sz="1800" dirty="0"/>
              <a:t>Use strong </a:t>
            </a:r>
            <a:r>
              <a:rPr lang="en-US" sz="1800" b="1" dirty="0"/>
              <a:t>multi-factor authentication (MFA)</a:t>
            </a:r>
            <a:r>
              <a:rPr lang="en-US" sz="1800" dirty="0"/>
              <a:t>.</a:t>
            </a:r>
          </a:p>
          <a:p>
            <a:pPr lvl="1"/>
            <a:r>
              <a:rPr lang="en-US" sz="1800" dirty="0"/>
              <a:t>Implement secure </a:t>
            </a:r>
            <a:r>
              <a:rPr lang="en-US" sz="1800" b="1" dirty="0"/>
              <a:t>session tokens</a:t>
            </a:r>
            <a:r>
              <a:rPr lang="en-US" sz="1800" dirty="0"/>
              <a:t> and </a:t>
            </a:r>
            <a:r>
              <a:rPr lang="en-US" sz="1800" b="1" dirty="0"/>
              <a:t>expiry mechanisms</a:t>
            </a:r>
            <a:r>
              <a:rPr lang="en-US" sz="1800" dirty="0"/>
              <a:t>.</a:t>
            </a:r>
          </a:p>
          <a:p>
            <a:pPr lvl="1"/>
            <a:r>
              <a:rPr lang="en-US" sz="1800" dirty="0"/>
              <a:t>Avoid storing credentials locally.</a:t>
            </a:r>
          </a:p>
          <a:p>
            <a:pPr lvl="1"/>
            <a:r>
              <a:rPr lang="en-US" sz="1800" dirty="0"/>
              <a:t>Enforce server-side authentication checks.</a:t>
            </a:r>
          </a:p>
          <a:p>
            <a:endParaRPr lang="en-IN" sz="2000" dirty="0"/>
          </a:p>
        </p:txBody>
      </p:sp>
    </p:spTree>
    <p:extLst>
      <p:ext uri="{BB962C8B-B14F-4D97-AF65-F5344CB8AC3E}">
        <p14:creationId xmlns:p14="http://schemas.microsoft.com/office/powerpoint/2010/main" val="1131932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5E6B4-C276-EBDE-3C50-B9E39357683C}"/>
              </a:ext>
            </a:extLst>
          </p:cNvPr>
          <p:cNvSpPr>
            <a:spLocks noGrp="1"/>
          </p:cNvSpPr>
          <p:nvPr>
            <p:ph type="title"/>
          </p:nvPr>
        </p:nvSpPr>
        <p:spPr/>
        <p:txBody>
          <a:bodyPr/>
          <a:lstStyle/>
          <a:p>
            <a:r>
              <a:rPr lang="en-IN" dirty="0"/>
              <a:t>M5 – Insufficient Cryptography</a:t>
            </a:r>
          </a:p>
        </p:txBody>
      </p:sp>
      <p:sp>
        <p:nvSpPr>
          <p:cNvPr id="3" name="Text Placeholder 2">
            <a:extLst>
              <a:ext uri="{FF2B5EF4-FFF2-40B4-BE49-F238E27FC236}">
                <a16:creationId xmlns:a16="http://schemas.microsoft.com/office/drawing/2014/main" id="{89DE447E-A315-F309-94DD-B8854F5BE1A6}"/>
              </a:ext>
            </a:extLst>
          </p:cNvPr>
          <p:cNvSpPr>
            <a:spLocks noGrp="1"/>
          </p:cNvSpPr>
          <p:nvPr>
            <p:ph type="body" idx="1"/>
          </p:nvPr>
        </p:nvSpPr>
        <p:spPr/>
        <p:txBody>
          <a:bodyPr/>
          <a:lstStyle/>
          <a:p>
            <a:r>
              <a:rPr lang="en-IN" sz="1800" dirty="0"/>
              <a:t>Using </a:t>
            </a:r>
            <a:r>
              <a:rPr lang="en-IN" sz="1800" b="1" dirty="0"/>
              <a:t>weak, outdated, or incorrect cryptographic algorithms</a:t>
            </a:r>
            <a:r>
              <a:rPr lang="en-IN" sz="1800" dirty="0"/>
              <a:t> to protect data.</a:t>
            </a:r>
          </a:p>
          <a:p>
            <a:r>
              <a:rPr lang="en-IN" sz="1800" b="1" dirty="0"/>
              <a:t>Examples:</a:t>
            </a:r>
            <a:endParaRPr lang="en-IN" sz="1800" dirty="0"/>
          </a:p>
          <a:p>
            <a:pPr lvl="1"/>
            <a:r>
              <a:rPr lang="en-IN" sz="1600" dirty="0"/>
              <a:t>Using </a:t>
            </a:r>
            <a:r>
              <a:rPr lang="en-IN" sz="1600" b="1" dirty="0"/>
              <a:t>MD5/SHA-1</a:t>
            </a:r>
            <a:r>
              <a:rPr lang="en-IN" sz="1600" dirty="0"/>
              <a:t> instead of modern algorithms.</a:t>
            </a:r>
          </a:p>
          <a:p>
            <a:pPr lvl="1"/>
            <a:r>
              <a:rPr lang="en-IN" sz="1600" dirty="0"/>
              <a:t>Hardcoding cryptographic keys in source code.</a:t>
            </a:r>
          </a:p>
          <a:p>
            <a:pPr lvl="1"/>
            <a:r>
              <a:rPr lang="en-IN" sz="1600" dirty="0"/>
              <a:t>Poor random number generation.</a:t>
            </a:r>
          </a:p>
          <a:p>
            <a:r>
              <a:rPr lang="en-IN" sz="1800" dirty="0"/>
              <a:t>	</a:t>
            </a:r>
          </a:p>
          <a:p>
            <a:r>
              <a:rPr lang="en-IN" sz="1800" b="1" dirty="0"/>
              <a:t>Mitigation:</a:t>
            </a:r>
            <a:endParaRPr lang="en-IN" sz="1800" dirty="0"/>
          </a:p>
          <a:p>
            <a:pPr lvl="1"/>
            <a:r>
              <a:rPr lang="en-IN" sz="1600" dirty="0"/>
              <a:t>Use proven, up-to-date algorithms (</a:t>
            </a:r>
            <a:r>
              <a:rPr lang="en-IN" sz="1600" b="1" dirty="0"/>
              <a:t>AES-256, SHA-256</a:t>
            </a:r>
            <a:r>
              <a:rPr lang="en-IN" sz="1600" dirty="0"/>
              <a:t>).</a:t>
            </a:r>
          </a:p>
          <a:p>
            <a:pPr lvl="1"/>
            <a:r>
              <a:rPr lang="en-IN" sz="1600" dirty="0"/>
              <a:t>Use </a:t>
            </a:r>
            <a:r>
              <a:rPr lang="en-IN" sz="1600" b="1" dirty="0"/>
              <a:t>KeyStore/Keychain</a:t>
            </a:r>
            <a:r>
              <a:rPr lang="en-IN" sz="1600" dirty="0"/>
              <a:t> for key management.</a:t>
            </a:r>
          </a:p>
          <a:p>
            <a:pPr lvl="1"/>
            <a:r>
              <a:rPr lang="en-IN" sz="1600" dirty="0"/>
              <a:t>Never hardcode keys or credentials in the app.</a:t>
            </a:r>
          </a:p>
          <a:p>
            <a:pPr lvl="1"/>
            <a:r>
              <a:rPr lang="en-IN" sz="1600" dirty="0"/>
              <a:t>Use hardware-backed cryptography if available.</a:t>
            </a:r>
          </a:p>
          <a:p>
            <a:endParaRPr lang="en-IN" sz="1800" dirty="0"/>
          </a:p>
        </p:txBody>
      </p:sp>
    </p:spTree>
    <p:extLst>
      <p:ext uri="{BB962C8B-B14F-4D97-AF65-F5344CB8AC3E}">
        <p14:creationId xmlns:p14="http://schemas.microsoft.com/office/powerpoint/2010/main" val="22919740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9869A-E352-E33B-2EE9-C73CD4367CDA}"/>
              </a:ext>
            </a:extLst>
          </p:cNvPr>
          <p:cNvSpPr>
            <a:spLocks noGrp="1"/>
          </p:cNvSpPr>
          <p:nvPr>
            <p:ph type="title"/>
          </p:nvPr>
        </p:nvSpPr>
        <p:spPr/>
        <p:txBody>
          <a:bodyPr/>
          <a:lstStyle/>
          <a:p>
            <a:r>
              <a:rPr lang="en-IN" dirty="0"/>
              <a:t>M6 – Insecure Authorization</a:t>
            </a:r>
          </a:p>
        </p:txBody>
      </p:sp>
      <p:sp>
        <p:nvSpPr>
          <p:cNvPr id="3" name="Text Placeholder 2">
            <a:extLst>
              <a:ext uri="{FF2B5EF4-FFF2-40B4-BE49-F238E27FC236}">
                <a16:creationId xmlns:a16="http://schemas.microsoft.com/office/drawing/2014/main" id="{EA5DDAA3-CF10-913A-7F37-A8BB41572669}"/>
              </a:ext>
            </a:extLst>
          </p:cNvPr>
          <p:cNvSpPr>
            <a:spLocks noGrp="1"/>
          </p:cNvSpPr>
          <p:nvPr>
            <p:ph type="body" idx="1"/>
          </p:nvPr>
        </p:nvSpPr>
        <p:spPr/>
        <p:txBody>
          <a:bodyPr/>
          <a:lstStyle/>
          <a:p>
            <a:r>
              <a:rPr lang="en-US" sz="2000" dirty="0"/>
              <a:t>Flawed implementation of access control that allows users to </a:t>
            </a:r>
            <a:r>
              <a:rPr lang="en-US" sz="2000" b="1" dirty="0"/>
              <a:t>access data or functionality beyond their privileges</a:t>
            </a:r>
            <a:r>
              <a:rPr lang="en-US" sz="2000" dirty="0"/>
              <a:t>.</a:t>
            </a:r>
          </a:p>
          <a:p>
            <a:r>
              <a:rPr lang="en-US" sz="2000" b="1" dirty="0"/>
              <a:t>Examples:</a:t>
            </a:r>
            <a:endParaRPr lang="en-US" sz="2000" dirty="0"/>
          </a:p>
          <a:p>
            <a:pPr lvl="1"/>
            <a:r>
              <a:rPr lang="en-US" sz="1800" dirty="0"/>
              <a:t>A user modifying an API request to access another user’s records.</a:t>
            </a:r>
          </a:p>
          <a:p>
            <a:pPr lvl="1"/>
            <a:r>
              <a:rPr lang="en-US" sz="1800" dirty="0"/>
              <a:t>Missing server-side role validation.</a:t>
            </a:r>
          </a:p>
          <a:p>
            <a:r>
              <a:rPr lang="en-US" sz="2000" b="1" dirty="0"/>
              <a:t>Mitigation:</a:t>
            </a:r>
            <a:endParaRPr lang="en-US" sz="2000" dirty="0"/>
          </a:p>
          <a:p>
            <a:pPr lvl="1"/>
            <a:r>
              <a:rPr lang="en-US" sz="1800" dirty="0"/>
              <a:t>Enforce </a:t>
            </a:r>
            <a:r>
              <a:rPr lang="en-US" sz="1800" b="1" dirty="0"/>
              <a:t>server-side authorization checks</a:t>
            </a:r>
            <a:r>
              <a:rPr lang="en-US" sz="1800" dirty="0"/>
              <a:t>.</a:t>
            </a:r>
          </a:p>
          <a:p>
            <a:pPr lvl="1"/>
            <a:r>
              <a:rPr lang="en-US" sz="1800" dirty="0"/>
              <a:t>Use </a:t>
            </a:r>
            <a:r>
              <a:rPr lang="en-US" sz="1800" b="1" dirty="0"/>
              <a:t>Role-Based Access Control (RBAC)</a:t>
            </a:r>
            <a:r>
              <a:rPr lang="en-US" sz="1800" dirty="0"/>
              <a:t>.</a:t>
            </a:r>
          </a:p>
          <a:p>
            <a:pPr lvl="1"/>
            <a:r>
              <a:rPr lang="en-US" sz="1800" dirty="0"/>
              <a:t>Validate every request against user privileges.</a:t>
            </a:r>
          </a:p>
          <a:p>
            <a:endParaRPr lang="en-IN" sz="2000" dirty="0"/>
          </a:p>
        </p:txBody>
      </p:sp>
    </p:spTree>
    <p:extLst>
      <p:ext uri="{BB962C8B-B14F-4D97-AF65-F5344CB8AC3E}">
        <p14:creationId xmlns:p14="http://schemas.microsoft.com/office/powerpoint/2010/main" val="29555999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0A4D-0E03-1C25-9A92-66858A4CE578}"/>
              </a:ext>
            </a:extLst>
          </p:cNvPr>
          <p:cNvSpPr>
            <a:spLocks noGrp="1"/>
          </p:cNvSpPr>
          <p:nvPr>
            <p:ph type="title"/>
          </p:nvPr>
        </p:nvSpPr>
        <p:spPr/>
        <p:txBody>
          <a:bodyPr/>
          <a:lstStyle/>
          <a:p>
            <a:r>
              <a:rPr lang="en-IN" dirty="0"/>
              <a:t>M7 – Client Code Quality Issues</a:t>
            </a:r>
          </a:p>
        </p:txBody>
      </p:sp>
      <p:sp>
        <p:nvSpPr>
          <p:cNvPr id="3" name="Text Placeholder 2">
            <a:extLst>
              <a:ext uri="{FF2B5EF4-FFF2-40B4-BE49-F238E27FC236}">
                <a16:creationId xmlns:a16="http://schemas.microsoft.com/office/drawing/2014/main" id="{82D1C8BF-A8D9-BC57-1C8E-72B26D8308A8}"/>
              </a:ext>
            </a:extLst>
          </p:cNvPr>
          <p:cNvSpPr>
            <a:spLocks noGrp="1"/>
          </p:cNvSpPr>
          <p:nvPr>
            <p:ph type="body" idx="1"/>
          </p:nvPr>
        </p:nvSpPr>
        <p:spPr/>
        <p:txBody>
          <a:bodyPr/>
          <a:lstStyle/>
          <a:p>
            <a:r>
              <a:rPr lang="en-US" sz="2000" dirty="0"/>
              <a:t>Poor coding practices such as unhandled exceptions, insecure logic, or buffer overflows in the client-side code.</a:t>
            </a:r>
          </a:p>
          <a:p>
            <a:r>
              <a:rPr lang="en-US" sz="2000" b="1" dirty="0"/>
              <a:t>Examples:</a:t>
            </a:r>
            <a:endParaRPr lang="en-US" sz="2000" dirty="0"/>
          </a:p>
          <a:p>
            <a:pPr lvl="1"/>
            <a:r>
              <a:rPr lang="en-US" sz="1800" dirty="0"/>
              <a:t>Lack of input validation in native code (C/C++).</a:t>
            </a:r>
          </a:p>
          <a:p>
            <a:pPr lvl="1"/>
            <a:r>
              <a:rPr lang="en-US" sz="1800" dirty="0"/>
              <a:t>Debug code left in production.</a:t>
            </a:r>
          </a:p>
          <a:p>
            <a:r>
              <a:rPr lang="en-US" sz="2000" b="1" dirty="0"/>
              <a:t>Mitigation:</a:t>
            </a:r>
            <a:endParaRPr lang="en-US" sz="2000" dirty="0"/>
          </a:p>
          <a:p>
            <a:pPr lvl="1"/>
            <a:r>
              <a:rPr lang="en-US" sz="1800" dirty="0"/>
              <a:t>Follow </a:t>
            </a:r>
            <a:r>
              <a:rPr lang="en-US" sz="1800" b="1" dirty="0"/>
              <a:t>secure coding standards</a:t>
            </a:r>
            <a:r>
              <a:rPr lang="en-US" sz="1800" dirty="0"/>
              <a:t>.</a:t>
            </a:r>
          </a:p>
          <a:p>
            <a:pPr lvl="1"/>
            <a:r>
              <a:rPr lang="en-US" sz="1800" dirty="0"/>
              <a:t>Perform </a:t>
            </a:r>
            <a:r>
              <a:rPr lang="en-US" sz="1800" b="1" dirty="0"/>
              <a:t>static and dynamic code analysis (SAST/DAST)</a:t>
            </a:r>
            <a:r>
              <a:rPr lang="en-US" sz="1800" dirty="0"/>
              <a:t>.</a:t>
            </a:r>
          </a:p>
          <a:p>
            <a:pPr lvl="1"/>
            <a:r>
              <a:rPr lang="en-US" sz="1800" dirty="0"/>
              <a:t>Use safe functions and proper exception handling.</a:t>
            </a:r>
          </a:p>
          <a:p>
            <a:endParaRPr lang="en-IN" sz="2000" dirty="0"/>
          </a:p>
        </p:txBody>
      </p:sp>
    </p:spTree>
    <p:extLst>
      <p:ext uri="{BB962C8B-B14F-4D97-AF65-F5344CB8AC3E}">
        <p14:creationId xmlns:p14="http://schemas.microsoft.com/office/powerpoint/2010/main" val="14717700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CFAEE-1134-0904-3517-EC69E81BFF4D}"/>
              </a:ext>
            </a:extLst>
          </p:cNvPr>
          <p:cNvSpPr>
            <a:spLocks noGrp="1"/>
          </p:cNvSpPr>
          <p:nvPr>
            <p:ph type="title"/>
          </p:nvPr>
        </p:nvSpPr>
        <p:spPr/>
        <p:txBody>
          <a:bodyPr/>
          <a:lstStyle/>
          <a:p>
            <a:r>
              <a:rPr lang="en-IN" dirty="0"/>
              <a:t>M8 – Code Tampering</a:t>
            </a:r>
          </a:p>
        </p:txBody>
      </p:sp>
      <p:sp>
        <p:nvSpPr>
          <p:cNvPr id="3" name="Text Placeholder 2">
            <a:extLst>
              <a:ext uri="{FF2B5EF4-FFF2-40B4-BE49-F238E27FC236}">
                <a16:creationId xmlns:a16="http://schemas.microsoft.com/office/drawing/2014/main" id="{7E582135-8D81-DB6B-336C-EAF6A31A36D6}"/>
              </a:ext>
            </a:extLst>
          </p:cNvPr>
          <p:cNvSpPr>
            <a:spLocks noGrp="1"/>
          </p:cNvSpPr>
          <p:nvPr>
            <p:ph type="body" idx="1"/>
          </p:nvPr>
        </p:nvSpPr>
        <p:spPr/>
        <p:txBody>
          <a:bodyPr/>
          <a:lstStyle/>
          <a:p>
            <a:r>
              <a:rPr lang="en-IN" sz="2000" dirty="0"/>
              <a:t>Attackers modify or repackage the app’s code (APK/IPA) to add malicious functionality.</a:t>
            </a:r>
          </a:p>
          <a:p>
            <a:r>
              <a:rPr lang="en-IN" sz="2000" b="1" dirty="0"/>
              <a:t>Examples:</a:t>
            </a:r>
            <a:endParaRPr lang="en-IN" sz="2000" dirty="0"/>
          </a:p>
          <a:p>
            <a:pPr lvl="1"/>
            <a:r>
              <a:rPr lang="en-IN" sz="1800" dirty="0"/>
              <a:t>Reverse-engineering and injecting malware into a legitimate app.</a:t>
            </a:r>
          </a:p>
          <a:p>
            <a:pPr lvl="1"/>
            <a:r>
              <a:rPr lang="en-IN" sz="1800" dirty="0"/>
              <a:t>Removing license verification or security checks.</a:t>
            </a:r>
          </a:p>
          <a:p>
            <a:r>
              <a:rPr lang="en-IN" sz="2000" b="1" dirty="0"/>
              <a:t>Mitigation:</a:t>
            </a:r>
            <a:endParaRPr lang="en-IN" sz="2000" dirty="0"/>
          </a:p>
          <a:p>
            <a:pPr lvl="1"/>
            <a:r>
              <a:rPr lang="en-IN" sz="1800" dirty="0"/>
              <a:t>Implement </a:t>
            </a:r>
            <a:r>
              <a:rPr lang="en-IN" sz="1800" b="1" dirty="0"/>
              <a:t>code signing and integrity verification</a:t>
            </a:r>
            <a:r>
              <a:rPr lang="en-IN" sz="1800" dirty="0"/>
              <a:t>.</a:t>
            </a:r>
          </a:p>
          <a:p>
            <a:pPr lvl="1"/>
            <a:r>
              <a:rPr lang="en-IN" sz="1800" dirty="0"/>
              <a:t>Use </a:t>
            </a:r>
            <a:r>
              <a:rPr lang="en-IN" sz="1800" b="1" dirty="0"/>
              <a:t>runtime integrity checks</a:t>
            </a:r>
            <a:r>
              <a:rPr lang="en-IN" sz="1800" dirty="0"/>
              <a:t> and </a:t>
            </a:r>
            <a:r>
              <a:rPr lang="en-IN" sz="1800" b="1" dirty="0"/>
              <a:t>tamper detection</a:t>
            </a:r>
            <a:r>
              <a:rPr lang="en-IN" sz="1800" dirty="0"/>
              <a:t>.</a:t>
            </a:r>
          </a:p>
          <a:p>
            <a:pPr lvl="1"/>
            <a:r>
              <a:rPr lang="en-IN" sz="1800" dirty="0"/>
              <a:t>Obfuscate code to make reverse engineering harder.</a:t>
            </a:r>
          </a:p>
          <a:p>
            <a:endParaRPr lang="en-IN" sz="2000" dirty="0"/>
          </a:p>
        </p:txBody>
      </p:sp>
    </p:spTree>
    <p:extLst>
      <p:ext uri="{BB962C8B-B14F-4D97-AF65-F5344CB8AC3E}">
        <p14:creationId xmlns:p14="http://schemas.microsoft.com/office/powerpoint/2010/main" val="28759897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6233B-2DFD-5512-B302-9FF73267C1A5}"/>
              </a:ext>
            </a:extLst>
          </p:cNvPr>
          <p:cNvSpPr>
            <a:spLocks noGrp="1"/>
          </p:cNvSpPr>
          <p:nvPr>
            <p:ph type="title"/>
          </p:nvPr>
        </p:nvSpPr>
        <p:spPr/>
        <p:txBody>
          <a:bodyPr/>
          <a:lstStyle/>
          <a:p>
            <a:r>
              <a:rPr lang="en-IN" dirty="0"/>
              <a:t>M9 – Reverse Engineering</a:t>
            </a:r>
          </a:p>
        </p:txBody>
      </p:sp>
      <p:sp>
        <p:nvSpPr>
          <p:cNvPr id="3" name="Text Placeholder 2">
            <a:extLst>
              <a:ext uri="{FF2B5EF4-FFF2-40B4-BE49-F238E27FC236}">
                <a16:creationId xmlns:a16="http://schemas.microsoft.com/office/drawing/2014/main" id="{C38F0B17-A5F1-7060-BF7E-64002C0F66AC}"/>
              </a:ext>
            </a:extLst>
          </p:cNvPr>
          <p:cNvSpPr>
            <a:spLocks noGrp="1"/>
          </p:cNvSpPr>
          <p:nvPr>
            <p:ph type="body" idx="1"/>
          </p:nvPr>
        </p:nvSpPr>
        <p:spPr/>
        <p:txBody>
          <a:bodyPr/>
          <a:lstStyle/>
          <a:p>
            <a:r>
              <a:rPr lang="en-US" sz="2000" dirty="0"/>
              <a:t>Attackers decompile or analyze the app’s binary to extract sensitive information or understand its logic.</a:t>
            </a:r>
          </a:p>
          <a:p>
            <a:r>
              <a:rPr lang="en-US" sz="2000" b="1" dirty="0"/>
              <a:t>Examples:</a:t>
            </a:r>
            <a:endParaRPr lang="en-US" sz="2000" dirty="0"/>
          </a:p>
          <a:p>
            <a:pPr lvl="1"/>
            <a:r>
              <a:rPr lang="en-US" sz="1800" dirty="0"/>
              <a:t>Using tools like </a:t>
            </a:r>
            <a:r>
              <a:rPr lang="en-US" sz="1800" b="1" dirty="0" err="1"/>
              <a:t>APKTool</a:t>
            </a:r>
            <a:r>
              <a:rPr lang="en-US" sz="1800" b="1" dirty="0"/>
              <a:t>, JADX, or IDA Pro</a:t>
            </a:r>
            <a:r>
              <a:rPr lang="en-US" sz="1800" dirty="0"/>
              <a:t> to view source code.</a:t>
            </a:r>
          </a:p>
          <a:p>
            <a:pPr lvl="1"/>
            <a:r>
              <a:rPr lang="en-US" sz="1800" dirty="0"/>
              <a:t>Extracting API keys or encryption logic.</a:t>
            </a:r>
          </a:p>
          <a:p>
            <a:r>
              <a:rPr lang="en-US" sz="2000" b="1" dirty="0"/>
              <a:t>Mitigation:</a:t>
            </a:r>
            <a:endParaRPr lang="en-US" sz="2000" dirty="0"/>
          </a:p>
          <a:p>
            <a:pPr lvl="1"/>
            <a:r>
              <a:rPr lang="en-US" sz="1800" dirty="0"/>
              <a:t>Use </a:t>
            </a:r>
            <a:r>
              <a:rPr lang="en-US" sz="1800" b="1" dirty="0"/>
              <a:t>code obfuscation</a:t>
            </a:r>
            <a:r>
              <a:rPr lang="en-US" sz="1800" dirty="0"/>
              <a:t> (e.g., </a:t>
            </a:r>
            <a:r>
              <a:rPr lang="en-US" sz="1800" dirty="0" err="1"/>
              <a:t>ProGuard</a:t>
            </a:r>
            <a:r>
              <a:rPr lang="en-US" sz="1800" dirty="0"/>
              <a:t>, R8).</a:t>
            </a:r>
          </a:p>
          <a:p>
            <a:pPr lvl="1"/>
            <a:r>
              <a:rPr lang="en-US" sz="1800" dirty="0"/>
              <a:t>Encrypt critical strings and resources.</a:t>
            </a:r>
          </a:p>
          <a:p>
            <a:pPr lvl="1"/>
            <a:r>
              <a:rPr lang="en-US" sz="1800" dirty="0"/>
              <a:t>Store secrets on secure servers, not in the app.</a:t>
            </a:r>
          </a:p>
          <a:p>
            <a:endParaRPr lang="en-IN" sz="2000" dirty="0"/>
          </a:p>
        </p:txBody>
      </p:sp>
    </p:spTree>
    <p:extLst>
      <p:ext uri="{BB962C8B-B14F-4D97-AF65-F5344CB8AC3E}">
        <p14:creationId xmlns:p14="http://schemas.microsoft.com/office/powerpoint/2010/main" val="25390041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55AE-7C36-71AA-C813-32867401123A}"/>
              </a:ext>
            </a:extLst>
          </p:cNvPr>
          <p:cNvSpPr>
            <a:spLocks noGrp="1"/>
          </p:cNvSpPr>
          <p:nvPr>
            <p:ph type="title"/>
          </p:nvPr>
        </p:nvSpPr>
        <p:spPr/>
        <p:txBody>
          <a:bodyPr/>
          <a:lstStyle/>
          <a:p>
            <a:r>
              <a:rPr lang="en-IN" dirty="0"/>
              <a:t>M10 – Extraneous Functionality</a:t>
            </a:r>
          </a:p>
        </p:txBody>
      </p:sp>
      <p:sp>
        <p:nvSpPr>
          <p:cNvPr id="3" name="Text Placeholder 2">
            <a:extLst>
              <a:ext uri="{FF2B5EF4-FFF2-40B4-BE49-F238E27FC236}">
                <a16:creationId xmlns:a16="http://schemas.microsoft.com/office/drawing/2014/main" id="{F878344B-99C0-9DC3-C4AC-D24056C5D1D4}"/>
              </a:ext>
            </a:extLst>
          </p:cNvPr>
          <p:cNvSpPr>
            <a:spLocks noGrp="1"/>
          </p:cNvSpPr>
          <p:nvPr>
            <p:ph type="body" idx="1"/>
          </p:nvPr>
        </p:nvSpPr>
        <p:spPr/>
        <p:txBody>
          <a:bodyPr/>
          <a:lstStyle/>
          <a:p>
            <a:r>
              <a:rPr lang="en-IN" sz="2000" dirty="0"/>
              <a:t>Extraneous functionality are </a:t>
            </a:r>
            <a:r>
              <a:rPr lang="en-IN" sz="2000" b="1" dirty="0"/>
              <a:t>functions or secrets hidden inside the app </a:t>
            </a:r>
            <a:r>
              <a:rPr lang="en-US" sz="2000" dirty="0"/>
              <a:t>(like test code or debug endpoints) that expose internal functions or data.</a:t>
            </a:r>
          </a:p>
          <a:p>
            <a:r>
              <a:rPr lang="en-US" sz="2000" b="1" dirty="0"/>
              <a:t>Examples:</a:t>
            </a:r>
            <a:endParaRPr lang="en-US" sz="2000" dirty="0"/>
          </a:p>
          <a:p>
            <a:pPr lvl="1"/>
            <a:r>
              <a:rPr lang="en-US" sz="1800" dirty="0"/>
              <a:t>Debug logs, test APIs, admin panels left in production.</a:t>
            </a:r>
          </a:p>
          <a:p>
            <a:pPr lvl="1"/>
            <a:r>
              <a:rPr lang="en-US" sz="1800" dirty="0"/>
              <a:t>Hardcoded backdoor credentials.</a:t>
            </a:r>
          </a:p>
          <a:p>
            <a:endParaRPr lang="en-US" sz="2000" dirty="0"/>
          </a:p>
          <a:p>
            <a:r>
              <a:rPr lang="en-US" sz="2000" b="1" dirty="0"/>
              <a:t>Mitigation:</a:t>
            </a:r>
            <a:endParaRPr lang="en-US" sz="2000" dirty="0"/>
          </a:p>
          <a:p>
            <a:pPr lvl="1"/>
            <a:r>
              <a:rPr lang="en-US" sz="1800" dirty="0"/>
              <a:t>Remove </a:t>
            </a:r>
            <a:r>
              <a:rPr lang="en-US" sz="1800" b="1" dirty="0"/>
              <a:t>debug and test code</a:t>
            </a:r>
            <a:r>
              <a:rPr lang="en-US" sz="1800" dirty="0"/>
              <a:t> before release.</a:t>
            </a:r>
          </a:p>
          <a:p>
            <a:pPr lvl="1"/>
            <a:r>
              <a:rPr lang="en-US" sz="1800" dirty="0"/>
              <a:t>Conduct </a:t>
            </a:r>
            <a:r>
              <a:rPr lang="en-US" sz="1800" b="1" dirty="0"/>
              <a:t>security reviews</a:t>
            </a:r>
            <a:r>
              <a:rPr lang="en-US" sz="1800" dirty="0"/>
              <a:t> and </a:t>
            </a:r>
            <a:r>
              <a:rPr lang="en-US" sz="1800" b="1" dirty="0"/>
              <a:t>penetration testing</a:t>
            </a:r>
            <a:r>
              <a:rPr lang="en-US" sz="1800" dirty="0"/>
              <a:t>.</a:t>
            </a:r>
          </a:p>
          <a:p>
            <a:pPr lvl="1"/>
            <a:r>
              <a:rPr lang="en-US" sz="1800" dirty="0"/>
              <a:t>Enforce </a:t>
            </a:r>
            <a:r>
              <a:rPr lang="en-US" sz="1800" b="1" dirty="0"/>
              <a:t>secure deployment practices</a:t>
            </a:r>
            <a:r>
              <a:rPr lang="en-US" sz="1800" dirty="0"/>
              <a:t>.</a:t>
            </a:r>
          </a:p>
          <a:p>
            <a:endParaRPr lang="en-IN" sz="2000" dirty="0"/>
          </a:p>
        </p:txBody>
      </p:sp>
    </p:spTree>
    <p:extLst>
      <p:ext uri="{BB962C8B-B14F-4D97-AF65-F5344CB8AC3E}">
        <p14:creationId xmlns:p14="http://schemas.microsoft.com/office/powerpoint/2010/main" val="3805560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5B7A-C124-0D8E-82C3-D41F6DEB2005}"/>
              </a:ext>
            </a:extLst>
          </p:cNvPr>
          <p:cNvSpPr>
            <a:spLocks noGrp="1"/>
          </p:cNvSpPr>
          <p:nvPr>
            <p:ph type="title"/>
          </p:nvPr>
        </p:nvSpPr>
        <p:spPr/>
        <p:txBody>
          <a:bodyPr/>
          <a:lstStyle/>
          <a:p>
            <a:r>
              <a:rPr lang="en-IN" dirty="0"/>
              <a:t>Summary Table</a:t>
            </a:r>
          </a:p>
        </p:txBody>
      </p:sp>
      <p:graphicFrame>
        <p:nvGraphicFramePr>
          <p:cNvPr id="4" name="Table 3">
            <a:extLst>
              <a:ext uri="{FF2B5EF4-FFF2-40B4-BE49-F238E27FC236}">
                <a16:creationId xmlns:a16="http://schemas.microsoft.com/office/drawing/2014/main" id="{4E9EA8D3-5D26-D4B0-FE40-9C9196F3CB49}"/>
              </a:ext>
            </a:extLst>
          </p:cNvPr>
          <p:cNvGraphicFramePr>
            <a:graphicFrameLocks noGrp="1"/>
          </p:cNvGraphicFramePr>
          <p:nvPr>
            <p:extLst>
              <p:ext uri="{D42A27DB-BD31-4B8C-83A1-F6EECF244321}">
                <p14:modId xmlns:p14="http://schemas.microsoft.com/office/powerpoint/2010/main" val="3915272885"/>
              </p:ext>
            </p:extLst>
          </p:nvPr>
        </p:nvGraphicFramePr>
        <p:xfrm>
          <a:off x="535858" y="1145458"/>
          <a:ext cx="7600337" cy="3457561"/>
        </p:xfrm>
        <a:graphic>
          <a:graphicData uri="http://schemas.openxmlformats.org/drawingml/2006/table">
            <a:tbl>
              <a:tblPr>
                <a:tableStyleId>{EEEFB3D3-C7DD-41E9-AA9F-930C74197033}</a:tableStyleId>
              </a:tblPr>
              <a:tblGrid>
                <a:gridCol w="496106">
                  <a:extLst>
                    <a:ext uri="{9D8B030D-6E8A-4147-A177-3AD203B41FA5}">
                      <a16:colId xmlns:a16="http://schemas.microsoft.com/office/drawing/2014/main" val="505651735"/>
                    </a:ext>
                  </a:extLst>
                </a:gridCol>
                <a:gridCol w="2321774">
                  <a:extLst>
                    <a:ext uri="{9D8B030D-6E8A-4147-A177-3AD203B41FA5}">
                      <a16:colId xmlns:a16="http://schemas.microsoft.com/office/drawing/2014/main" val="2423992372"/>
                    </a:ext>
                  </a:extLst>
                </a:gridCol>
                <a:gridCol w="2004266">
                  <a:extLst>
                    <a:ext uri="{9D8B030D-6E8A-4147-A177-3AD203B41FA5}">
                      <a16:colId xmlns:a16="http://schemas.microsoft.com/office/drawing/2014/main" val="2510672811"/>
                    </a:ext>
                  </a:extLst>
                </a:gridCol>
                <a:gridCol w="2778191">
                  <a:extLst>
                    <a:ext uri="{9D8B030D-6E8A-4147-A177-3AD203B41FA5}">
                      <a16:colId xmlns:a16="http://schemas.microsoft.com/office/drawing/2014/main" val="1014144039"/>
                    </a:ext>
                  </a:extLst>
                </a:gridCol>
              </a:tblGrid>
              <a:tr h="209953">
                <a:tc>
                  <a:txBody>
                    <a:bodyPr/>
                    <a:lstStyle/>
                    <a:p>
                      <a:pPr algn="ctr" fontAlgn="ctr">
                        <a:buNone/>
                      </a:pPr>
                      <a:r>
                        <a:rPr lang="en-IN" sz="1400" b="1" u="none" strike="noStrike">
                          <a:effectLst/>
                        </a:rPr>
                        <a:t>ID</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buNone/>
                      </a:pPr>
                      <a:r>
                        <a:rPr lang="en-IN" sz="1400" b="1" u="none" strike="noStrike">
                          <a:effectLst/>
                        </a:rPr>
                        <a:t>Vulnerability</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buNone/>
                      </a:pPr>
                      <a:r>
                        <a:rPr lang="en-IN" sz="1400" b="1" u="none" strike="noStrike">
                          <a:effectLst/>
                        </a:rPr>
                        <a:t>Core Risk</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buNone/>
                      </a:pPr>
                      <a:r>
                        <a:rPr lang="en-IN" sz="1400" b="1" u="none" strike="noStrike" dirty="0">
                          <a:effectLst/>
                        </a:rPr>
                        <a:t>Key Mitigation</a:t>
                      </a:r>
                      <a:endParaRPr lang="en-IN" sz="14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641511830"/>
                  </a:ext>
                </a:extLst>
              </a:tr>
              <a:tr h="394491">
                <a:tc>
                  <a:txBody>
                    <a:bodyPr/>
                    <a:lstStyle/>
                    <a:p>
                      <a:pPr algn="l" fontAlgn="ctr">
                        <a:buNone/>
                      </a:pPr>
                      <a:r>
                        <a:rPr lang="en-IN" sz="1400" b="1" u="none" strike="noStrike">
                          <a:effectLst/>
                        </a:rPr>
                        <a:t>M1</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Improper Platform Usage</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Misuse of OS features</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Follow platform security APIs</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092346878"/>
                  </a:ext>
                </a:extLst>
              </a:tr>
              <a:tr h="209953">
                <a:tc>
                  <a:txBody>
                    <a:bodyPr/>
                    <a:lstStyle/>
                    <a:p>
                      <a:pPr algn="l" fontAlgn="ctr">
                        <a:buNone/>
                      </a:pPr>
                      <a:r>
                        <a:rPr lang="en-IN" sz="1400" b="1" u="none" strike="noStrike">
                          <a:effectLst/>
                        </a:rPr>
                        <a:t>M2</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Insecure Data Storage</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Data leakage</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Encrypt local data</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790960537"/>
                  </a:ext>
                </a:extLst>
              </a:tr>
              <a:tr h="394491">
                <a:tc>
                  <a:txBody>
                    <a:bodyPr/>
                    <a:lstStyle/>
                    <a:p>
                      <a:pPr algn="l" fontAlgn="ctr">
                        <a:buNone/>
                      </a:pPr>
                      <a:r>
                        <a:rPr lang="en-IN" sz="1400" b="1" u="none" strike="noStrike">
                          <a:effectLst/>
                        </a:rPr>
                        <a:t>M3</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Insecure Communication</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MITM attacks</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Enforce HTTPS &amp; TLS</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799776844"/>
                  </a:ext>
                </a:extLst>
              </a:tr>
              <a:tr h="209953">
                <a:tc>
                  <a:txBody>
                    <a:bodyPr/>
                    <a:lstStyle/>
                    <a:p>
                      <a:pPr algn="l" fontAlgn="ctr">
                        <a:buNone/>
                      </a:pPr>
                      <a:r>
                        <a:rPr lang="en-IN" sz="1400" b="1" u="none" strike="noStrike">
                          <a:effectLst/>
                        </a:rPr>
                        <a:t>M4</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Insecure Authentication</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Account takeover</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Use MFA &amp; secure sessions</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371056728"/>
                  </a:ext>
                </a:extLst>
              </a:tr>
              <a:tr h="394491">
                <a:tc>
                  <a:txBody>
                    <a:bodyPr/>
                    <a:lstStyle/>
                    <a:p>
                      <a:pPr algn="l" fontAlgn="ctr">
                        <a:buNone/>
                      </a:pPr>
                      <a:r>
                        <a:rPr lang="en-IN" sz="1400" b="1" u="none" strike="noStrike">
                          <a:effectLst/>
                        </a:rPr>
                        <a:t>M5</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Insufficient Cryptography</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Weak encryption</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Use modern crypto algorithms</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150000509"/>
                  </a:ext>
                </a:extLst>
              </a:tr>
              <a:tr h="209953">
                <a:tc>
                  <a:txBody>
                    <a:bodyPr/>
                    <a:lstStyle/>
                    <a:p>
                      <a:pPr algn="l" fontAlgn="ctr">
                        <a:buNone/>
                      </a:pPr>
                      <a:r>
                        <a:rPr lang="en-IN" sz="1400" b="1" u="none" strike="noStrike">
                          <a:effectLst/>
                        </a:rPr>
                        <a:t>M6</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Insecure Authorization</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Privilege escalation</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Server-side access control</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255054977"/>
                  </a:ext>
                </a:extLst>
              </a:tr>
              <a:tr h="394491">
                <a:tc>
                  <a:txBody>
                    <a:bodyPr/>
                    <a:lstStyle/>
                    <a:p>
                      <a:pPr algn="l" fontAlgn="ctr">
                        <a:buNone/>
                      </a:pPr>
                      <a:r>
                        <a:rPr lang="en-IN" sz="1400" b="1" u="none" strike="noStrike">
                          <a:effectLst/>
                        </a:rPr>
                        <a:t>M7</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Client Code Quality</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Memory corruption</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Secure coding &amp; code review</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576852600"/>
                  </a:ext>
                </a:extLst>
              </a:tr>
              <a:tr h="394491">
                <a:tc>
                  <a:txBody>
                    <a:bodyPr/>
                    <a:lstStyle/>
                    <a:p>
                      <a:pPr algn="l" fontAlgn="ctr">
                        <a:buNone/>
                      </a:pPr>
                      <a:r>
                        <a:rPr lang="en-IN" sz="1400" b="1" u="none" strike="noStrike">
                          <a:effectLst/>
                        </a:rPr>
                        <a:t>M8</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Code Tampering</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Repackaged malware</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Code signing &amp; integrity check</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691832479"/>
                  </a:ext>
                </a:extLst>
              </a:tr>
              <a:tr h="209953">
                <a:tc>
                  <a:txBody>
                    <a:bodyPr/>
                    <a:lstStyle/>
                    <a:p>
                      <a:pPr algn="l" fontAlgn="ctr">
                        <a:buNone/>
                      </a:pPr>
                      <a:r>
                        <a:rPr lang="en-IN" sz="1400" b="1" u="none" strike="noStrike">
                          <a:effectLst/>
                        </a:rPr>
                        <a:t>M9</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Reverse Engineering</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Logic exposure</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Obfuscation &amp; encryption</a:t>
                      </a:r>
                      <a:endParaRPr lang="en-IN" sz="14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704194637"/>
                  </a:ext>
                </a:extLst>
              </a:tr>
              <a:tr h="394491">
                <a:tc>
                  <a:txBody>
                    <a:bodyPr/>
                    <a:lstStyle/>
                    <a:p>
                      <a:pPr algn="l" fontAlgn="ctr">
                        <a:buNone/>
                      </a:pPr>
                      <a:r>
                        <a:rPr lang="en-IN" sz="1400" b="1" u="none" strike="noStrike" dirty="0">
                          <a:effectLst/>
                        </a:rPr>
                        <a:t>M10</a:t>
                      </a:r>
                      <a:endParaRPr lang="en-IN" sz="14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Extraneous Functionality</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a:effectLst/>
                        </a:rPr>
                        <a:t>Hidden backdoors</a:t>
                      </a:r>
                      <a:endParaRPr lang="en-IN" sz="14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400" u="none" strike="noStrike" dirty="0">
                          <a:effectLst/>
                        </a:rPr>
                        <a:t>Remove debug/test code</a:t>
                      </a:r>
                      <a:endParaRPr lang="en-IN" sz="14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580582356"/>
                  </a:ext>
                </a:extLst>
              </a:tr>
            </a:tbl>
          </a:graphicData>
        </a:graphic>
      </p:graphicFrame>
    </p:spTree>
    <p:extLst>
      <p:ext uri="{BB962C8B-B14F-4D97-AF65-F5344CB8AC3E}">
        <p14:creationId xmlns:p14="http://schemas.microsoft.com/office/powerpoint/2010/main" val="1743545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0BB8-69EA-50FD-5920-4F9CA4766500}"/>
              </a:ext>
            </a:extLst>
          </p:cNvPr>
          <p:cNvSpPr>
            <a:spLocks noGrp="1"/>
          </p:cNvSpPr>
          <p:nvPr>
            <p:ph type="title"/>
          </p:nvPr>
        </p:nvSpPr>
        <p:spPr/>
        <p:txBody>
          <a:bodyPr/>
          <a:lstStyle/>
          <a:p>
            <a:r>
              <a:rPr lang="en-IN" dirty="0"/>
              <a:t>Mobile APK Penetration Testing</a:t>
            </a:r>
          </a:p>
        </p:txBody>
      </p:sp>
      <p:sp>
        <p:nvSpPr>
          <p:cNvPr id="3" name="Text Placeholder 2">
            <a:extLst>
              <a:ext uri="{FF2B5EF4-FFF2-40B4-BE49-F238E27FC236}">
                <a16:creationId xmlns:a16="http://schemas.microsoft.com/office/drawing/2014/main" id="{5C680332-F72A-2111-48FA-E0326FF50549}"/>
              </a:ext>
            </a:extLst>
          </p:cNvPr>
          <p:cNvSpPr>
            <a:spLocks noGrp="1"/>
          </p:cNvSpPr>
          <p:nvPr>
            <p:ph type="body" idx="1"/>
          </p:nvPr>
        </p:nvSpPr>
        <p:spPr/>
        <p:txBody>
          <a:bodyPr/>
          <a:lstStyle/>
          <a:p>
            <a:r>
              <a:rPr lang="en-US" b="1" dirty="0"/>
              <a:t>What is Mobile APK Penetration Testing?</a:t>
            </a:r>
          </a:p>
          <a:p>
            <a:r>
              <a:rPr lang="en-US" dirty="0"/>
              <a:t>A simulated cyber attack against an Android Application Package (APK) conducted by </a:t>
            </a:r>
            <a:r>
              <a:rPr lang="en-US" b="1" dirty="0"/>
              <a:t>authorized security professionals </a:t>
            </a:r>
            <a:r>
              <a:rPr lang="en-US" dirty="0"/>
              <a:t>to identify and exploit security vulnerabilities.</a:t>
            </a:r>
          </a:p>
          <a:p>
            <a:endParaRPr lang="en-US" dirty="0"/>
          </a:p>
          <a:p>
            <a:r>
              <a:rPr lang="en-US" b="1" dirty="0"/>
              <a:t>Key Mindset</a:t>
            </a:r>
          </a:p>
          <a:p>
            <a:r>
              <a:rPr lang="en-US" b="1" dirty="0"/>
              <a:t>Authorized &amp; Legal:</a:t>
            </a:r>
            <a:r>
              <a:rPr lang="en-US" dirty="0"/>
              <a:t> Always obtain explicit permission before testing</a:t>
            </a:r>
          </a:p>
          <a:p>
            <a:r>
              <a:rPr lang="en-US" b="1" dirty="0"/>
              <a:t>Simulates Real Attackers:</a:t>
            </a:r>
            <a:r>
              <a:rPr lang="en-US" dirty="0"/>
              <a:t> Use same tools/techniques as malicious hackers</a:t>
            </a:r>
          </a:p>
          <a:p>
            <a:r>
              <a:rPr lang="en-US" b="1" dirty="0"/>
              <a:t>Goal-Oriented:</a:t>
            </a:r>
            <a:r>
              <a:rPr lang="en-US" dirty="0"/>
              <a:t> Focus on business impact and risk</a:t>
            </a:r>
          </a:p>
          <a:p>
            <a:r>
              <a:rPr lang="en-US" b="1" dirty="0"/>
              <a:t>Comprehensive:</a:t>
            </a:r>
            <a:r>
              <a:rPr lang="en-US" dirty="0"/>
              <a:t> Test both client (APK) AND server components</a:t>
            </a:r>
          </a:p>
          <a:p>
            <a:endParaRPr lang="en-IN" dirty="0"/>
          </a:p>
        </p:txBody>
      </p:sp>
    </p:spTree>
    <p:extLst>
      <p:ext uri="{BB962C8B-B14F-4D97-AF65-F5344CB8AC3E}">
        <p14:creationId xmlns:p14="http://schemas.microsoft.com/office/powerpoint/2010/main" val="3169735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C13A1-E40C-40CF-88E4-50BDE3983074}"/>
              </a:ext>
            </a:extLst>
          </p:cNvPr>
          <p:cNvSpPr>
            <a:spLocks noGrp="1"/>
          </p:cNvSpPr>
          <p:nvPr>
            <p:ph type="title"/>
          </p:nvPr>
        </p:nvSpPr>
        <p:spPr/>
        <p:txBody>
          <a:bodyPr/>
          <a:lstStyle/>
          <a:p>
            <a:r>
              <a:rPr lang="en-US" sz="2400" dirty="0"/>
              <a:t>Primary Legal and Ethical Risks during </a:t>
            </a:r>
            <a:r>
              <a:rPr lang="en-IN" sz="2400" dirty="0"/>
              <a:t>Mobile APK Penetration Testing</a:t>
            </a:r>
          </a:p>
        </p:txBody>
      </p:sp>
      <p:sp>
        <p:nvSpPr>
          <p:cNvPr id="3" name="Text Placeholder 2">
            <a:extLst>
              <a:ext uri="{FF2B5EF4-FFF2-40B4-BE49-F238E27FC236}">
                <a16:creationId xmlns:a16="http://schemas.microsoft.com/office/drawing/2014/main" id="{E941E389-222A-ADD6-8F0B-1C0AF1C0AA0C}"/>
              </a:ext>
            </a:extLst>
          </p:cNvPr>
          <p:cNvSpPr>
            <a:spLocks noGrp="1"/>
          </p:cNvSpPr>
          <p:nvPr>
            <p:ph type="body" idx="1"/>
          </p:nvPr>
        </p:nvSpPr>
        <p:spPr/>
        <p:txBody>
          <a:bodyPr/>
          <a:lstStyle/>
          <a:p>
            <a:pPr marL="425450" indent="-285750">
              <a:buFont typeface="Arial" panose="020B0604020202020204" pitchFamily="34" charset="0"/>
              <a:buChar char="•"/>
            </a:pPr>
            <a:r>
              <a:rPr lang="en-US" sz="1800" dirty="0"/>
              <a:t>Testing without written authorization may violate laws (e.g., Computer Misuse or Cybercrime Acts).</a:t>
            </a:r>
          </a:p>
          <a:p>
            <a:pPr marL="425450" indent="-285750">
              <a:buFont typeface="Arial" panose="020B0604020202020204" pitchFamily="34" charset="0"/>
              <a:buChar char="•"/>
            </a:pPr>
            <a:endParaRPr lang="en-US" sz="1800" dirty="0"/>
          </a:p>
          <a:p>
            <a:pPr marL="425450" indent="-285750">
              <a:buFont typeface="Arial" panose="020B0604020202020204" pitchFamily="34" charset="0"/>
              <a:buChar char="•"/>
            </a:pPr>
            <a:r>
              <a:rPr lang="en-US" sz="1800" dirty="0"/>
              <a:t>Accessing live user data breaches privacy and data protection regulations (e.g., GDPR).</a:t>
            </a:r>
          </a:p>
          <a:p>
            <a:pPr marL="425450" indent="-285750">
              <a:buFont typeface="Arial" panose="020B0604020202020204" pitchFamily="34" charset="0"/>
              <a:buChar char="•"/>
            </a:pPr>
            <a:endParaRPr lang="en-US" sz="1800" dirty="0"/>
          </a:p>
          <a:p>
            <a:pPr marL="425450" indent="-285750">
              <a:buFont typeface="Arial" panose="020B0604020202020204" pitchFamily="34" charset="0"/>
              <a:buChar char="•"/>
            </a:pPr>
            <a:r>
              <a:rPr lang="en-US" sz="1800" dirty="0"/>
              <a:t>Risk of unauthorized data exposure or system disruption during testing.</a:t>
            </a:r>
            <a:endParaRPr lang="en-IN" sz="1800" dirty="0"/>
          </a:p>
        </p:txBody>
      </p:sp>
    </p:spTree>
    <p:extLst>
      <p:ext uri="{BB962C8B-B14F-4D97-AF65-F5344CB8AC3E}">
        <p14:creationId xmlns:p14="http://schemas.microsoft.com/office/powerpoint/2010/main" val="30740071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85AF7-A9FC-3838-2E24-6B04520F63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C65E1-C2DF-B553-C86E-3B9BCD1D13A4}"/>
              </a:ext>
            </a:extLst>
          </p:cNvPr>
          <p:cNvSpPr>
            <a:spLocks noGrp="1"/>
          </p:cNvSpPr>
          <p:nvPr>
            <p:ph type="title"/>
          </p:nvPr>
        </p:nvSpPr>
        <p:spPr/>
        <p:txBody>
          <a:bodyPr/>
          <a:lstStyle/>
          <a:p>
            <a:r>
              <a:rPr lang="en-IN" sz="2000" dirty="0"/>
              <a:t>Recommended Safeguards </a:t>
            </a:r>
            <a:r>
              <a:rPr lang="en-US" sz="2000" dirty="0"/>
              <a:t>during</a:t>
            </a:r>
            <a:r>
              <a:rPr lang="en-IN" sz="2000" dirty="0"/>
              <a:t> Testing </a:t>
            </a:r>
            <a:r>
              <a:rPr lang="en-US" sz="2000" dirty="0"/>
              <a:t>during </a:t>
            </a:r>
            <a:r>
              <a:rPr lang="en-IN" sz="2000" dirty="0"/>
              <a:t>Mobile APK Penetration Testing</a:t>
            </a:r>
          </a:p>
        </p:txBody>
      </p:sp>
      <p:sp>
        <p:nvSpPr>
          <p:cNvPr id="3" name="Text Placeholder 2">
            <a:extLst>
              <a:ext uri="{FF2B5EF4-FFF2-40B4-BE49-F238E27FC236}">
                <a16:creationId xmlns:a16="http://schemas.microsoft.com/office/drawing/2014/main" id="{C1B75AAB-8D5F-FFE0-AEE7-193D7737D5E2}"/>
              </a:ext>
            </a:extLst>
          </p:cNvPr>
          <p:cNvSpPr>
            <a:spLocks noGrp="1"/>
          </p:cNvSpPr>
          <p:nvPr>
            <p:ph type="body" idx="1"/>
          </p:nvPr>
        </p:nvSpPr>
        <p:spPr/>
        <p:txBody>
          <a:bodyPr/>
          <a:lstStyle/>
          <a:p>
            <a:pPr marL="425450" indent="-285750">
              <a:buFont typeface="Arial" panose="020B0604020202020204" pitchFamily="34" charset="0"/>
              <a:buChar char="•"/>
            </a:pPr>
            <a:r>
              <a:rPr lang="en-US" sz="2000" dirty="0"/>
              <a:t>Use a staging or test environment instead of production systems.</a:t>
            </a:r>
          </a:p>
          <a:p>
            <a:pPr marL="425450" indent="-285750">
              <a:buFont typeface="Arial" panose="020B0604020202020204" pitchFamily="34" charset="0"/>
              <a:buChar char="•"/>
            </a:pPr>
            <a:endParaRPr lang="en-US" sz="2000" dirty="0"/>
          </a:p>
          <a:p>
            <a:pPr marL="425450" indent="-285750">
              <a:buFont typeface="Arial" panose="020B0604020202020204" pitchFamily="34" charset="0"/>
              <a:buChar char="•"/>
            </a:pPr>
            <a:r>
              <a:rPr lang="en-US" sz="2000" dirty="0"/>
              <a:t>Mask any sensitive or personal data encountered.</a:t>
            </a:r>
          </a:p>
          <a:p>
            <a:pPr marL="425450" indent="-285750">
              <a:buFont typeface="Arial" panose="020B0604020202020204" pitchFamily="34" charset="0"/>
              <a:buChar char="•"/>
            </a:pPr>
            <a:endParaRPr lang="en-US" sz="2000" dirty="0"/>
          </a:p>
          <a:p>
            <a:pPr marL="425450" indent="-285750">
              <a:buFont typeface="Arial" panose="020B0604020202020204" pitchFamily="34" charset="0"/>
              <a:buChar char="•"/>
            </a:pPr>
            <a:r>
              <a:rPr lang="en-US" sz="2000" dirty="0"/>
              <a:t>Maintain detailed logs and communication with the client to ensure transparency and accountability.</a:t>
            </a:r>
            <a:endParaRPr lang="en-IN" sz="2000" dirty="0"/>
          </a:p>
        </p:txBody>
      </p:sp>
    </p:spTree>
    <p:extLst>
      <p:ext uri="{BB962C8B-B14F-4D97-AF65-F5344CB8AC3E}">
        <p14:creationId xmlns:p14="http://schemas.microsoft.com/office/powerpoint/2010/main" val="1861275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B49F5-D5BD-77CE-B481-35E45707C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4409B-DF39-09BA-5CFD-416D6743A859}"/>
              </a:ext>
            </a:extLst>
          </p:cNvPr>
          <p:cNvSpPr>
            <a:spLocks noGrp="1"/>
          </p:cNvSpPr>
          <p:nvPr>
            <p:ph type="title"/>
          </p:nvPr>
        </p:nvSpPr>
        <p:spPr/>
        <p:txBody>
          <a:bodyPr/>
          <a:lstStyle/>
          <a:p>
            <a:r>
              <a:rPr lang="en-US" sz="2400" dirty="0"/>
              <a:t>Primary Legal and Ethical Risks while </a:t>
            </a:r>
            <a:r>
              <a:rPr lang="en-IN" sz="2400" dirty="0"/>
              <a:t>Mobile APK Penetration Testing</a:t>
            </a:r>
          </a:p>
        </p:txBody>
      </p:sp>
      <p:sp>
        <p:nvSpPr>
          <p:cNvPr id="3" name="Text Placeholder 2">
            <a:extLst>
              <a:ext uri="{FF2B5EF4-FFF2-40B4-BE49-F238E27FC236}">
                <a16:creationId xmlns:a16="http://schemas.microsoft.com/office/drawing/2014/main" id="{05D90A1B-AFCE-FFA3-93FC-B6DA03572D73}"/>
              </a:ext>
            </a:extLst>
          </p:cNvPr>
          <p:cNvSpPr>
            <a:spLocks noGrp="1"/>
          </p:cNvSpPr>
          <p:nvPr>
            <p:ph type="body" idx="1"/>
          </p:nvPr>
        </p:nvSpPr>
        <p:spPr/>
        <p:txBody>
          <a:bodyPr/>
          <a:lstStyle/>
          <a:p>
            <a:pPr marL="425450" indent="-285750">
              <a:buFont typeface="Arial" panose="020B0604020202020204" pitchFamily="34" charset="0"/>
              <a:buChar char="•"/>
            </a:pPr>
            <a:r>
              <a:rPr lang="en-US" sz="1800" dirty="0"/>
              <a:t>Testing without written authorization may violate laws (e.g., Computer Misuse or Cybercrime Acts).</a:t>
            </a:r>
          </a:p>
          <a:p>
            <a:pPr marL="425450" indent="-285750">
              <a:buFont typeface="Arial" panose="020B0604020202020204" pitchFamily="34" charset="0"/>
              <a:buChar char="•"/>
            </a:pPr>
            <a:endParaRPr lang="en-US" sz="1800" dirty="0"/>
          </a:p>
          <a:p>
            <a:pPr marL="425450" indent="-285750">
              <a:buFont typeface="Arial" panose="020B0604020202020204" pitchFamily="34" charset="0"/>
              <a:buChar char="•"/>
            </a:pPr>
            <a:r>
              <a:rPr lang="en-US" sz="1800" dirty="0"/>
              <a:t>Accessing live user data breaches privacy and data protection regulations (e.g., GDPR).</a:t>
            </a:r>
          </a:p>
          <a:p>
            <a:pPr marL="425450" indent="-285750">
              <a:buFont typeface="Arial" panose="020B0604020202020204" pitchFamily="34" charset="0"/>
              <a:buChar char="•"/>
            </a:pPr>
            <a:endParaRPr lang="en-US" sz="1800" dirty="0"/>
          </a:p>
          <a:p>
            <a:pPr marL="425450" indent="-285750">
              <a:buFont typeface="Arial" panose="020B0604020202020204" pitchFamily="34" charset="0"/>
              <a:buChar char="•"/>
            </a:pPr>
            <a:r>
              <a:rPr lang="en-US" sz="1800" dirty="0"/>
              <a:t>Risk of unauthorized data exposure or system disruption during testing.</a:t>
            </a:r>
            <a:endParaRPr lang="en-IN" sz="1800" dirty="0"/>
          </a:p>
        </p:txBody>
      </p:sp>
    </p:spTree>
    <p:extLst>
      <p:ext uri="{BB962C8B-B14F-4D97-AF65-F5344CB8AC3E}">
        <p14:creationId xmlns:p14="http://schemas.microsoft.com/office/powerpoint/2010/main" val="26609483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9026F-DE84-6406-F805-73B14443199A}"/>
              </a:ext>
            </a:extLst>
          </p:cNvPr>
          <p:cNvSpPr>
            <a:spLocks noGrp="1"/>
          </p:cNvSpPr>
          <p:nvPr>
            <p:ph type="title"/>
          </p:nvPr>
        </p:nvSpPr>
        <p:spPr>
          <a:xfrm>
            <a:off x="720000" y="135308"/>
            <a:ext cx="7704000" cy="572700"/>
          </a:xfrm>
        </p:spPr>
        <p:txBody>
          <a:bodyPr/>
          <a:lstStyle/>
          <a:p>
            <a:r>
              <a:rPr lang="en-IN" dirty="0"/>
              <a:t>Testing Environment &amp; Tooling</a:t>
            </a:r>
            <a:br>
              <a:rPr lang="en-IN" dirty="0"/>
            </a:br>
            <a:endParaRPr lang="en-IN" dirty="0"/>
          </a:p>
        </p:txBody>
      </p:sp>
      <p:sp>
        <p:nvSpPr>
          <p:cNvPr id="3" name="Text Placeholder 2">
            <a:extLst>
              <a:ext uri="{FF2B5EF4-FFF2-40B4-BE49-F238E27FC236}">
                <a16:creationId xmlns:a16="http://schemas.microsoft.com/office/drawing/2014/main" id="{5E4AFC81-BF30-2927-F22C-D9451CBCBD22}"/>
              </a:ext>
            </a:extLst>
          </p:cNvPr>
          <p:cNvSpPr>
            <a:spLocks noGrp="1"/>
          </p:cNvSpPr>
          <p:nvPr>
            <p:ph type="body" idx="1"/>
          </p:nvPr>
        </p:nvSpPr>
        <p:spPr>
          <a:xfrm>
            <a:off x="720000" y="644013"/>
            <a:ext cx="7704000" cy="4277032"/>
          </a:xfrm>
        </p:spPr>
        <p:txBody>
          <a:bodyPr/>
          <a:lstStyle/>
          <a:p>
            <a:r>
              <a:rPr lang="en-IN" sz="1800" b="1" dirty="0"/>
              <a:t>Essential Setup</a:t>
            </a:r>
          </a:p>
          <a:p>
            <a:pPr marL="1257300" lvl="1" indent="-342900">
              <a:buFont typeface="+mj-lt"/>
              <a:buAutoNum type="arabicPeriod"/>
            </a:pPr>
            <a:r>
              <a:rPr lang="en-IN" sz="1600" b="1" dirty="0"/>
              <a:t>Android Studio &amp; SDK</a:t>
            </a:r>
            <a:r>
              <a:rPr lang="en-IN" sz="1600" dirty="0"/>
              <a:t> - Official tools, emulators, ADB</a:t>
            </a:r>
          </a:p>
          <a:p>
            <a:pPr marL="1257300" lvl="1" indent="-342900">
              <a:buFont typeface="+mj-lt"/>
              <a:buAutoNum type="arabicPeriod"/>
            </a:pPr>
            <a:r>
              <a:rPr lang="en-IN" sz="1600" b="1" dirty="0"/>
              <a:t>Rooted Device/Emulator</a:t>
            </a:r>
            <a:r>
              <a:rPr lang="en-IN" sz="1600" dirty="0"/>
              <a:t> - Critical for deep analysis</a:t>
            </a:r>
          </a:p>
          <a:p>
            <a:pPr marL="1397000" lvl="2" indent="-342900">
              <a:buFont typeface="+mj-lt"/>
              <a:buAutoNum type="alphaLcPeriod"/>
            </a:pPr>
            <a:r>
              <a:rPr lang="en-IN" sz="1600" dirty="0"/>
              <a:t>Google AVD (Android Virtual Device)</a:t>
            </a:r>
          </a:p>
          <a:p>
            <a:pPr marL="1257300" lvl="1" indent="-342900">
              <a:buFont typeface="+mj-lt"/>
              <a:buAutoNum type="arabicPeriod"/>
            </a:pPr>
            <a:r>
              <a:rPr lang="en-IN" sz="1600" b="1" dirty="0"/>
              <a:t>Intercepting Proxy</a:t>
            </a:r>
            <a:r>
              <a:rPr lang="en-IN" sz="1600" dirty="0"/>
              <a:t> - Burp Suite or OWASP ZAP</a:t>
            </a:r>
          </a:p>
          <a:p>
            <a:r>
              <a:rPr lang="en-IN" sz="1800" b="1" dirty="0"/>
              <a:t>Core Testing Tools</a:t>
            </a:r>
          </a:p>
          <a:p>
            <a:r>
              <a:rPr lang="en-IN" b="1" dirty="0"/>
              <a:t>      </a:t>
            </a:r>
            <a:r>
              <a:rPr lang="en-IN" sz="1600" b="1" dirty="0"/>
              <a:t>Static Analysis (White-Box)</a:t>
            </a:r>
          </a:p>
          <a:p>
            <a:pPr marL="1257300" lvl="1" indent="-342900">
              <a:buFont typeface="+mj-lt"/>
              <a:buAutoNum type="arabicPeriod"/>
            </a:pPr>
            <a:r>
              <a:rPr lang="en-IN" sz="1600" b="1" dirty="0" err="1"/>
              <a:t>Jadx</a:t>
            </a:r>
            <a:r>
              <a:rPr lang="en-IN" sz="1600" b="1" dirty="0"/>
              <a:t>-</a:t>
            </a:r>
            <a:r>
              <a:rPr lang="en-IN" sz="1600" dirty="0"/>
              <a:t> #1 tool for decompiling to Java/Kotlin</a:t>
            </a:r>
          </a:p>
          <a:p>
            <a:pPr marL="1257300" lvl="1" indent="-342900">
              <a:buFont typeface="+mj-lt"/>
              <a:buAutoNum type="arabicPeriod"/>
            </a:pPr>
            <a:r>
              <a:rPr lang="en-IN" sz="1600" b="1" dirty="0" err="1"/>
              <a:t>APKTool</a:t>
            </a:r>
            <a:r>
              <a:rPr lang="en-IN" sz="1600" dirty="0"/>
              <a:t> - Disassembles to </a:t>
            </a:r>
            <a:r>
              <a:rPr lang="en-IN" sz="1600" dirty="0" err="1"/>
              <a:t>Smali</a:t>
            </a:r>
            <a:r>
              <a:rPr lang="en-IN" sz="1600" dirty="0"/>
              <a:t> code, allows repackaging</a:t>
            </a:r>
          </a:p>
          <a:p>
            <a:pPr marL="1257300" lvl="1" indent="-342900">
              <a:buFont typeface="+mj-lt"/>
              <a:buAutoNum type="arabicPeriod"/>
            </a:pPr>
            <a:r>
              <a:rPr lang="en-IN" sz="1600" b="1" dirty="0" err="1"/>
              <a:t>MobSF</a:t>
            </a:r>
            <a:r>
              <a:rPr lang="en-IN" sz="1600" dirty="0"/>
              <a:t> - Automated static analysis framework</a:t>
            </a:r>
          </a:p>
          <a:p>
            <a:r>
              <a:rPr lang="en-IN" sz="1800" b="1" dirty="0"/>
              <a:t>      Dynamic Analysis (Black-Box)</a:t>
            </a:r>
          </a:p>
          <a:p>
            <a:pPr marL="1257300" lvl="1" indent="-342900">
              <a:buFont typeface="+mj-lt"/>
              <a:buAutoNum type="arabicPeriod"/>
            </a:pPr>
            <a:r>
              <a:rPr lang="en-IN" sz="1600" b="1" dirty="0"/>
              <a:t>Frida</a:t>
            </a:r>
            <a:r>
              <a:rPr lang="en-IN" sz="1600" dirty="0"/>
              <a:t> - Dynamic instrumentation toolkit</a:t>
            </a:r>
          </a:p>
          <a:p>
            <a:pPr marL="1257300" lvl="1" indent="-342900">
              <a:buFont typeface="+mj-lt"/>
              <a:buAutoNum type="arabicPeriod"/>
            </a:pPr>
            <a:r>
              <a:rPr lang="en-IN" sz="1600" b="1" dirty="0"/>
              <a:t>Objection</a:t>
            </a:r>
            <a:r>
              <a:rPr lang="en-IN" sz="1600" dirty="0"/>
              <a:t> - Runtime exploration (built on Frida)</a:t>
            </a:r>
          </a:p>
          <a:p>
            <a:r>
              <a:rPr lang="en-IN" sz="1800" b="1" dirty="0"/>
              <a:t>      Advanced Reverse Engineering</a:t>
            </a:r>
          </a:p>
          <a:p>
            <a:pPr marL="1257300" lvl="1" indent="-342900">
              <a:buFont typeface="+mj-lt"/>
              <a:buAutoNum type="arabicPeriod"/>
            </a:pPr>
            <a:r>
              <a:rPr lang="en-IN" sz="1600" b="1" dirty="0" err="1"/>
              <a:t>Ghidra</a:t>
            </a:r>
            <a:r>
              <a:rPr lang="en-IN" sz="1600" b="1" dirty="0"/>
              <a:t>/IDA Pro</a:t>
            </a:r>
            <a:r>
              <a:rPr lang="en-IN" sz="1600" dirty="0"/>
              <a:t> - For </a:t>
            </a:r>
            <a:r>
              <a:rPr lang="en-IN" sz="1600" dirty="0" err="1"/>
              <a:t>analyzing</a:t>
            </a:r>
            <a:r>
              <a:rPr lang="en-IN" sz="1600" dirty="0"/>
              <a:t> native libraries (.so files)</a:t>
            </a:r>
          </a:p>
          <a:p>
            <a:endParaRPr lang="en-IN" sz="1800" dirty="0"/>
          </a:p>
        </p:txBody>
      </p:sp>
    </p:spTree>
    <p:extLst>
      <p:ext uri="{BB962C8B-B14F-4D97-AF65-F5344CB8AC3E}">
        <p14:creationId xmlns:p14="http://schemas.microsoft.com/office/powerpoint/2010/main" val="32203845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AC1B7-5336-82AC-CD8E-AE2797DED538}"/>
              </a:ext>
            </a:extLst>
          </p:cNvPr>
          <p:cNvSpPr>
            <a:spLocks noGrp="1"/>
          </p:cNvSpPr>
          <p:nvPr>
            <p:ph type="title"/>
          </p:nvPr>
        </p:nvSpPr>
        <p:spPr/>
        <p:txBody>
          <a:bodyPr/>
          <a:lstStyle/>
          <a:p>
            <a:r>
              <a:rPr lang="en-IN" dirty="0"/>
              <a:t>Testing Process</a:t>
            </a:r>
          </a:p>
        </p:txBody>
      </p:sp>
      <p:sp>
        <p:nvSpPr>
          <p:cNvPr id="3" name="Text Placeholder 2">
            <a:extLst>
              <a:ext uri="{FF2B5EF4-FFF2-40B4-BE49-F238E27FC236}">
                <a16:creationId xmlns:a16="http://schemas.microsoft.com/office/drawing/2014/main" id="{2D3D0D24-1F08-2B7D-3820-5F82FBCBFB0E}"/>
              </a:ext>
            </a:extLst>
          </p:cNvPr>
          <p:cNvSpPr>
            <a:spLocks noGrp="1"/>
          </p:cNvSpPr>
          <p:nvPr>
            <p:ph type="body" idx="1"/>
          </p:nvPr>
        </p:nvSpPr>
        <p:spPr/>
        <p:txBody>
          <a:bodyPr/>
          <a:lstStyle/>
          <a:p>
            <a:r>
              <a:rPr lang="en-IN" sz="2400" dirty="0" err="1"/>
              <a:t>A.Reconnaissance</a:t>
            </a:r>
            <a:r>
              <a:rPr lang="en-IN" sz="2400" dirty="0"/>
              <a:t> (pre-test)</a:t>
            </a:r>
          </a:p>
          <a:p>
            <a:r>
              <a:rPr lang="en-IN" sz="2400" dirty="0"/>
              <a:t>B. Static Analysis (offline)</a:t>
            </a:r>
          </a:p>
          <a:p>
            <a:r>
              <a:rPr lang="en-IN" sz="2400" dirty="0"/>
              <a:t>C. Dynamic / Runtime Analysis</a:t>
            </a:r>
          </a:p>
          <a:p>
            <a:r>
              <a:rPr lang="en-IN" sz="2400" dirty="0"/>
              <a:t>D. Tampering &amp; Repackaging</a:t>
            </a:r>
          </a:p>
          <a:p>
            <a:r>
              <a:rPr lang="en-IN" sz="2400" dirty="0"/>
              <a:t>E. Post-Exploitation Checks</a:t>
            </a:r>
          </a:p>
          <a:p>
            <a:pPr marL="482600" indent="-342900">
              <a:buAutoNum type="alphaUcPeriod"/>
            </a:pPr>
            <a:endParaRPr lang="en-IN" sz="2400" dirty="0"/>
          </a:p>
        </p:txBody>
      </p:sp>
    </p:spTree>
    <p:extLst>
      <p:ext uri="{BB962C8B-B14F-4D97-AF65-F5344CB8AC3E}">
        <p14:creationId xmlns:p14="http://schemas.microsoft.com/office/powerpoint/2010/main" val="3468894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C461-187B-C598-1E8B-ADD02E193FEA}"/>
              </a:ext>
            </a:extLst>
          </p:cNvPr>
          <p:cNvSpPr>
            <a:spLocks noGrp="1"/>
          </p:cNvSpPr>
          <p:nvPr>
            <p:ph type="title"/>
          </p:nvPr>
        </p:nvSpPr>
        <p:spPr/>
        <p:txBody>
          <a:bodyPr/>
          <a:lstStyle/>
          <a:p>
            <a:r>
              <a:rPr lang="en-IN" dirty="0"/>
              <a:t>A. Reconnaissance (pre-test)</a:t>
            </a:r>
          </a:p>
        </p:txBody>
      </p:sp>
      <p:sp>
        <p:nvSpPr>
          <p:cNvPr id="3" name="Text Placeholder 2">
            <a:extLst>
              <a:ext uri="{FF2B5EF4-FFF2-40B4-BE49-F238E27FC236}">
                <a16:creationId xmlns:a16="http://schemas.microsoft.com/office/drawing/2014/main" id="{F3824F21-60E0-DC55-17F2-8BF916717EB9}"/>
              </a:ext>
            </a:extLst>
          </p:cNvPr>
          <p:cNvSpPr>
            <a:spLocks noGrp="1"/>
          </p:cNvSpPr>
          <p:nvPr>
            <p:ph type="body" idx="1"/>
          </p:nvPr>
        </p:nvSpPr>
        <p:spPr/>
        <p:txBody>
          <a:bodyPr/>
          <a:lstStyle/>
          <a:p>
            <a:endParaRPr lang="en-IN" b="1" dirty="0"/>
          </a:p>
          <a:p>
            <a:r>
              <a:rPr lang="en-US" dirty="0"/>
              <a:t>Reconnaissance in cybersecurity is the initial phase of a cyberattack where attackers gather information about a target to identify vulnerabilities and plan an attack. This can be done through </a:t>
            </a:r>
            <a:r>
              <a:rPr lang="en-US" b="1" dirty="0"/>
              <a:t>passive methods</a:t>
            </a:r>
            <a:r>
              <a:rPr lang="en-US" dirty="0"/>
              <a:t>, which collect data from public sources without direct interaction, or </a:t>
            </a:r>
            <a:r>
              <a:rPr lang="en-US" b="1" dirty="0"/>
              <a:t>active methods</a:t>
            </a:r>
            <a:r>
              <a:rPr lang="en-US" dirty="0"/>
              <a:t>, which involve probing the target's systems directly. The goal is to build a comprehensive profile of the target's network, systems, and potential weaknesses to find the best entry point. </a:t>
            </a:r>
          </a:p>
          <a:p>
            <a:endParaRPr lang="en-IN" dirty="0"/>
          </a:p>
          <a:p>
            <a:r>
              <a:rPr lang="en-IN" dirty="0"/>
              <a:t>Identify app version, target SDK, permissions.</a:t>
            </a:r>
          </a:p>
          <a:p>
            <a:r>
              <a:rPr lang="en-IN" dirty="0"/>
              <a:t>Get APK: from Play Store (via downloader), from device </a:t>
            </a:r>
            <a:r>
              <a:rPr lang="en-IN" dirty="0" err="1"/>
              <a:t>adb</a:t>
            </a:r>
            <a:r>
              <a:rPr lang="en-IN" dirty="0"/>
              <a:t> pull /data/app/... or provided by client.</a:t>
            </a:r>
          </a:p>
          <a:p>
            <a:r>
              <a:rPr lang="en-IN" dirty="0"/>
              <a:t>Read app description and functionality to prioritize sensitive flows (auth, payments, storage).</a:t>
            </a:r>
          </a:p>
        </p:txBody>
      </p:sp>
    </p:spTree>
    <p:extLst>
      <p:ext uri="{BB962C8B-B14F-4D97-AF65-F5344CB8AC3E}">
        <p14:creationId xmlns:p14="http://schemas.microsoft.com/office/powerpoint/2010/main" val="34007154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19419-9656-98F8-6FC7-F26E14FDF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2F8FE-F3E3-3CBF-929E-68DCAD97ACCC}"/>
              </a:ext>
            </a:extLst>
          </p:cNvPr>
          <p:cNvSpPr>
            <a:spLocks noGrp="1"/>
          </p:cNvSpPr>
          <p:nvPr>
            <p:ph type="title"/>
          </p:nvPr>
        </p:nvSpPr>
        <p:spPr/>
        <p:txBody>
          <a:bodyPr/>
          <a:lstStyle/>
          <a:p>
            <a:r>
              <a:rPr lang="en-IN" dirty="0"/>
              <a:t>B. Static Analysis (offline)</a:t>
            </a:r>
          </a:p>
        </p:txBody>
      </p:sp>
      <p:sp>
        <p:nvSpPr>
          <p:cNvPr id="3" name="Text Placeholder 2">
            <a:extLst>
              <a:ext uri="{FF2B5EF4-FFF2-40B4-BE49-F238E27FC236}">
                <a16:creationId xmlns:a16="http://schemas.microsoft.com/office/drawing/2014/main" id="{227969C3-4E44-3D81-7AC8-B855A7446270}"/>
              </a:ext>
            </a:extLst>
          </p:cNvPr>
          <p:cNvSpPr>
            <a:spLocks noGrp="1"/>
          </p:cNvSpPr>
          <p:nvPr>
            <p:ph type="body" idx="1"/>
          </p:nvPr>
        </p:nvSpPr>
        <p:spPr/>
        <p:txBody>
          <a:bodyPr/>
          <a:lstStyle/>
          <a:p>
            <a:r>
              <a:rPr lang="en-IN" b="1" dirty="0"/>
              <a:t>Unpack APK</a:t>
            </a:r>
            <a:endParaRPr lang="en-IN" dirty="0"/>
          </a:p>
          <a:p>
            <a:pPr lvl="1"/>
            <a:r>
              <a:rPr lang="en-IN" dirty="0" err="1"/>
              <a:t>apktool</a:t>
            </a:r>
            <a:r>
              <a:rPr lang="en-IN" dirty="0"/>
              <a:t> d </a:t>
            </a:r>
            <a:r>
              <a:rPr lang="en-IN" dirty="0" err="1"/>
              <a:t>app.apk</a:t>
            </a:r>
            <a:r>
              <a:rPr lang="en-IN" dirty="0"/>
              <a:t> -o </a:t>
            </a:r>
            <a:r>
              <a:rPr lang="en-IN" dirty="0" err="1"/>
              <a:t>app_src</a:t>
            </a:r>
            <a:r>
              <a:rPr lang="en-IN" dirty="0"/>
              <a:t> (resources + </a:t>
            </a:r>
            <a:r>
              <a:rPr lang="en-IN" dirty="0" err="1"/>
              <a:t>smali</a:t>
            </a:r>
            <a:r>
              <a:rPr lang="en-IN" dirty="0"/>
              <a:t>)</a:t>
            </a:r>
          </a:p>
          <a:p>
            <a:pPr lvl="1"/>
            <a:r>
              <a:rPr lang="en-IN" dirty="0" err="1"/>
              <a:t>jadx-gui</a:t>
            </a:r>
            <a:r>
              <a:rPr lang="en-IN" dirty="0"/>
              <a:t> </a:t>
            </a:r>
            <a:r>
              <a:rPr lang="en-IN" dirty="0" err="1"/>
              <a:t>app.apk</a:t>
            </a:r>
            <a:r>
              <a:rPr lang="en-IN" dirty="0"/>
              <a:t> (readable Java source)</a:t>
            </a:r>
          </a:p>
          <a:p>
            <a:r>
              <a:rPr lang="en-IN" b="1" dirty="0"/>
              <a:t>Manifest analysis</a:t>
            </a:r>
            <a:endParaRPr lang="en-IN" dirty="0"/>
          </a:p>
          <a:p>
            <a:pPr lvl="1"/>
            <a:r>
              <a:rPr lang="en-IN" dirty="0"/>
              <a:t>AndroidManifest.xml: exported components, permissions, intent-filters, </a:t>
            </a:r>
            <a:r>
              <a:rPr lang="en-IN" dirty="0" err="1"/>
              <a:t>allowBackup</a:t>
            </a:r>
            <a:r>
              <a:rPr lang="en-IN" dirty="0"/>
              <a:t>, </a:t>
            </a:r>
            <a:r>
              <a:rPr lang="en-IN" dirty="0" err="1"/>
              <a:t>debuggable</a:t>
            </a:r>
            <a:r>
              <a:rPr lang="en-IN" dirty="0"/>
              <a:t>, </a:t>
            </a:r>
            <a:r>
              <a:rPr lang="en-IN" dirty="0" err="1"/>
              <a:t>usesCleartextTraffic</a:t>
            </a:r>
            <a:r>
              <a:rPr lang="en-IN" dirty="0"/>
              <a:t>.</a:t>
            </a:r>
          </a:p>
          <a:p>
            <a:pPr lvl="1"/>
            <a:r>
              <a:rPr lang="en-IN" dirty="0"/>
              <a:t>Look for </a:t>
            </a:r>
            <a:r>
              <a:rPr lang="en-IN" dirty="0" err="1"/>
              <a:t>android:exported</a:t>
            </a:r>
            <a:r>
              <a:rPr lang="en-IN" dirty="0"/>
              <a:t>="true", </a:t>
            </a:r>
            <a:r>
              <a:rPr lang="en-IN" dirty="0" err="1"/>
              <a:t>android:debuggable</a:t>
            </a:r>
            <a:r>
              <a:rPr lang="en-IN" dirty="0"/>
              <a:t>="true", </a:t>
            </a:r>
            <a:r>
              <a:rPr lang="en-IN" dirty="0" err="1"/>
              <a:t>android:allowBackup</a:t>
            </a:r>
            <a:r>
              <a:rPr lang="en-IN" dirty="0"/>
              <a:t>="true".</a:t>
            </a:r>
          </a:p>
          <a:p>
            <a:r>
              <a:rPr lang="en-IN" b="1" dirty="0"/>
              <a:t>Code inspection</a:t>
            </a:r>
            <a:endParaRPr lang="en-IN" dirty="0"/>
          </a:p>
          <a:p>
            <a:pPr lvl="1"/>
            <a:r>
              <a:rPr lang="en-IN" dirty="0"/>
              <a:t>Search for API keys, hardcoded secrets, credentials, weak crypto, insecure URL endpoints.</a:t>
            </a:r>
          </a:p>
          <a:p>
            <a:pPr lvl="1"/>
            <a:r>
              <a:rPr lang="en-IN" dirty="0"/>
              <a:t>Check use of WebView with </a:t>
            </a:r>
            <a:r>
              <a:rPr lang="en-IN" dirty="0" err="1"/>
              <a:t>addJavascriptInterface</a:t>
            </a:r>
            <a:r>
              <a:rPr lang="en-IN" dirty="0"/>
              <a:t>, </a:t>
            </a:r>
            <a:r>
              <a:rPr lang="en-IN" dirty="0" err="1"/>
              <a:t>loadUrl</a:t>
            </a:r>
            <a:r>
              <a:rPr lang="en-IN" dirty="0"/>
              <a:t> patterns.</a:t>
            </a:r>
          </a:p>
          <a:p>
            <a:pPr lvl="1"/>
            <a:r>
              <a:rPr lang="en-IN" dirty="0"/>
              <a:t>Check use of insecure crypto (MD5, SHA1, ECB mode, hardcoded keys).</a:t>
            </a:r>
          </a:p>
        </p:txBody>
      </p:sp>
    </p:spTree>
    <p:extLst>
      <p:ext uri="{BB962C8B-B14F-4D97-AF65-F5344CB8AC3E}">
        <p14:creationId xmlns:p14="http://schemas.microsoft.com/office/powerpoint/2010/main" val="31806638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26231-F439-45C8-13A4-C1E07A94E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26DC1-D3CF-1644-DF67-51E46F8068E3}"/>
              </a:ext>
            </a:extLst>
          </p:cNvPr>
          <p:cNvSpPr>
            <a:spLocks noGrp="1"/>
          </p:cNvSpPr>
          <p:nvPr>
            <p:ph type="title"/>
          </p:nvPr>
        </p:nvSpPr>
        <p:spPr/>
        <p:txBody>
          <a:bodyPr/>
          <a:lstStyle/>
          <a:p>
            <a:r>
              <a:rPr lang="en-IN" dirty="0"/>
              <a:t>B. Static Analysis (offline)</a:t>
            </a:r>
          </a:p>
        </p:txBody>
      </p:sp>
      <p:sp>
        <p:nvSpPr>
          <p:cNvPr id="3" name="Text Placeholder 2">
            <a:extLst>
              <a:ext uri="{FF2B5EF4-FFF2-40B4-BE49-F238E27FC236}">
                <a16:creationId xmlns:a16="http://schemas.microsoft.com/office/drawing/2014/main" id="{12757890-C8F2-DA21-1E85-040839F4F988}"/>
              </a:ext>
            </a:extLst>
          </p:cNvPr>
          <p:cNvSpPr>
            <a:spLocks noGrp="1"/>
          </p:cNvSpPr>
          <p:nvPr>
            <p:ph type="body" idx="1"/>
          </p:nvPr>
        </p:nvSpPr>
        <p:spPr/>
        <p:txBody>
          <a:bodyPr/>
          <a:lstStyle/>
          <a:p>
            <a:r>
              <a:rPr lang="en-IN" b="1" dirty="0"/>
              <a:t>Resources &amp; assets</a:t>
            </a:r>
            <a:endParaRPr lang="en-IN" dirty="0"/>
          </a:p>
          <a:p>
            <a:pPr lvl="1"/>
            <a:r>
              <a:rPr lang="en-IN" dirty="0"/>
              <a:t>Inspect res/, assets/ for config files, secrets, certificates, .keystore files.</a:t>
            </a:r>
          </a:p>
          <a:p>
            <a:r>
              <a:rPr lang="en-IN" b="1" dirty="0"/>
              <a:t>Native libs</a:t>
            </a:r>
            <a:endParaRPr lang="en-IN" dirty="0"/>
          </a:p>
          <a:p>
            <a:pPr lvl="1"/>
            <a:r>
              <a:rPr lang="en-IN" dirty="0"/>
              <a:t>Disassemble .so with </a:t>
            </a:r>
            <a:r>
              <a:rPr lang="en-IN" dirty="0" err="1"/>
              <a:t>Ghidra</a:t>
            </a:r>
            <a:r>
              <a:rPr lang="en-IN" dirty="0"/>
              <a:t> for logic hidden in native code.</a:t>
            </a:r>
          </a:p>
          <a:p>
            <a:r>
              <a:rPr lang="en-IN" b="1" dirty="0"/>
              <a:t>Third-party libs</a:t>
            </a:r>
            <a:endParaRPr lang="en-IN" dirty="0"/>
          </a:p>
          <a:p>
            <a:pPr lvl="1"/>
            <a:r>
              <a:rPr lang="en-IN" dirty="0"/>
              <a:t>Identify outdated libraries with known CVEs.</a:t>
            </a:r>
          </a:p>
          <a:p>
            <a:r>
              <a:rPr lang="en-IN" b="1" dirty="0"/>
              <a:t>Build config</a:t>
            </a:r>
            <a:endParaRPr lang="en-IN" dirty="0"/>
          </a:p>
          <a:p>
            <a:pPr lvl="1"/>
            <a:r>
              <a:rPr lang="en-IN" dirty="0"/>
              <a:t>Look for </a:t>
            </a:r>
            <a:r>
              <a:rPr lang="en-IN" dirty="0" err="1"/>
              <a:t>ProGuard</a:t>
            </a:r>
            <a:r>
              <a:rPr lang="en-IN" dirty="0"/>
              <a:t>/R8 obfuscation presence. If not present, easier to reverse.</a:t>
            </a:r>
          </a:p>
        </p:txBody>
      </p:sp>
    </p:spTree>
    <p:extLst>
      <p:ext uri="{BB962C8B-B14F-4D97-AF65-F5344CB8AC3E}">
        <p14:creationId xmlns:p14="http://schemas.microsoft.com/office/powerpoint/2010/main" val="4546490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D1D8F-911D-C59B-F511-48727FF950DD}"/>
              </a:ext>
            </a:extLst>
          </p:cNvPr>
          <p:cNvSpPr>
            <a:spLocks noGrp="1"/>
          </p:cNvSpPr>
          <p:nvPr>
            <p:ph type="title"/>
          </p:nvPr>
        </p:nvSpPr>
        <p:spPr/>
        <p:txBody>
          <a:bodyPr/>
          <a:lstStyle/>
          <a:p>
            <a:r>
              <a:rPr lang="en-IN" dirty="0"/>
              <a:t>C. Dynamic / Runtime Analysis</a:t>
            </a:r>
          </a:p>
        </p:txBody>
      </p:sp>
      <p:sp>
        <p:nvSpPr>
          <p:cNvPr id="3" name="Text Placeholder 2">
            <a:extLst>
              <a:ext uri="{FF2B5EF4-FFF2-40B4-BE49-F238E27FC236}">
                <a16:creationId xmlns:a16="http://schemas.microsoft.com/office/drawing/2014/main" id="{5F1680A3-AB14-8BF8-CB0D-872A79DA1632}"/>
              </a:ext>
            </a:extLst>
          </p:cNvPr>
          <p:cNvSpPr>
            <a:spLocks noGrp="1"/>
          </p:cNvSpPr>
          <p:nvPr>
            <p:ph type="body" idx="1"/>
          </p:nvPr>
        </p:nvSpPr>
        <p:spPr/>
        <p:txBody>
          <a:bodyPr/>
          <a:lstStyle/>
          <a:p>
            <a:r>
              <a:rPr lang="en-IN" b="1" dirty="0"/>
              <a:t>Dynamic / Runtime Analysis</a:t>
            </a:r>
          </a:p>
          <a:p>
            <a:r>
              <a:rPr lang="en-IN" b="1" dirty="0"/>
              <a:t>Install on test device</a:t>
            </a:r>
            <a:endParaRPr lang="en-IN" dirty="0"/>
          </a:p>
          <a:p>
            <a:pPr lvl="1"/>
            <a:r>
              <a:rPr lang="en-IN" dirty="0" err="1"/>
              <a:t>adb</a:t>
            </a:r>
            <a:r>
              <a:rPr lang="en-IN" dirty="0"/>
              <a:t> install -r </a:t>
            </a:r>
            <a:r>
              <a:rPr lang="en-IN" dirty="0" err="1"/>
              <a:t>app.apk</a:t>
            </a:r>
            <a:endParaRPr lang="en-IN" dirty="0"/>
          </a:p>
          <a:p>
            <a:r>
              <a:rPr lang="en-IN" b="1" dirty="0"/>
              <a:t>Run and observe logs</a:t>
            </a:r>
            <a:endParaRPr lang="en-IN" dirty="0"/>
          </a:p>
          <a:p>
            <a:pPr lvl="1"/>
            <a:r>
              <a:rPr lang="en-IN" dirty="0" err="1"/>
              <a:t>adb</a:t>
            </a:r>
            <a:r>
              <a:rPr lang="en-IN" dirty="0"/>
              <a:t> logcat — look for leaks, stack traces, tokens printed.</a:t>
            </a:r>
          </a:p>
          <a:p>
            <a:r>
              <a:rPr lang="en-IN" b="1" dirty="0"/>
              <a:t>Network interception</a:t>
            </a:r>
            <a:endParaRPr lang="en-IN" dirty="0"/>
          </a:p>
          <a:p>
            <a:pPr lvl="1"/>
            <a:r>
              <a:rPr lang="en-IN" dirty="0"/>
              <a:t>Configure device/emulator to proxy through Burp.</a:t>
            </a:r>
          </a:p>
          <a:p>
            <a:pPr lvl="1"/>
            <a:r>
              <a:rPr lang="en-IN" dirty="0"/>
              <a:t>Install Burp’s CA on device (user or system CA depending on Android API and cert-pinning).</a:t>
            </a:r>
          </a:p>
          <a:p>
            <a:pPr lvl="1"/>
            <a:r>
              <a:rPr lang="en-IN" dirty="0"/>
              <a:t>Test API calls, observe sensitive data in requests/responses (tokens, PII).</a:t>
            </a:r>
          </a:p>
          <a:p>
            <a:r>
              <a:rPr lang="en-IN" b="1" dirty="0"/>
              <a:t>Certificate pinning</a:t>
            </a:r>
            <a:endParaRPr lang="en-IN" dirty="0"/>
          </a:p>
          <a:p>
            <a:pPr lvl="1"/>
            <a:r>
              <a:rPr lang="en-IN" dirty="0"/>
              <a:t>If pinning prevents interception, test bypass:</a:t>
            </a:r>
          </a:p>
          <a:p>
            <a:pPr lvl="2"/>
            <a:r>
              <a:rPr lang="en-IN" dirty="0"/>
              <a:t>Patch app (replace </a:t>
            </a:r>
            <a:r>
              <a:rPr lang="en-IN" dirty="0" err="1"/>
              <a:t>okhttp</a:t>
            </a:r>
            <a:r>
              <a:rPr lang="en-IN" dirty="0"/>
              <a:t>/</a:t>
            </a:r>
            <a:r>
              <a:rPr lang="en-IN" dirty="0" err="1"/>
              <a:t>ssl</a:t>
            </a:r>
            <a:r>
              <a:rPr lang="en-IN" dirty="0"/>
              <a:t> logic) or use Frida scripts (e.g., </a:t>
            </a:r>
            <a:r>
              <a:rPr lang="en-IN" dirty="0" err="1"/>
              <a:t>frida</a:t>
            </a:r>
            <a:r>
              <a:rPr lang="en-IN" dirty="0"/>
              <a:t>-</a:t>
            </a:r>
            <a:r>
              <a:rPr lang="en-IN" dirty="0" err="1"/>
              <a:t>ssl</a:t>
            </a:r>
            <a:r>
              <a:rPr lang="en-IN" dirty="0"/>
              <a:t>-pinning-bypass), or run on rooted device with </a:t>
            </a:r>
            <a:r>
              <a:rPr lang="en-IN" dirty="0" err="1"/>
              <a:t>Xposed</a:t>
            </a:r>
            <a:r>
              <a:rPr lang="en-IN" dirty="0"/>
              <a:t> module </a:t>
            </a:r>
            <a:r>
              <a:rPr lang="en-IN" dirty="0" err="1"/>
              <a:t>JustTrustMe</a:t>
            </a:r>
            <a:r>
              <a:rPr lang="en-IN" dirty="0"/>
              <a:t>/</a:t>
            </a:r>
            <a:r>
              <a:rPr lang="en-IN" dirty="0" err="1"/>
              <a:t>SSLUnpinning</a:t>
            </a:r>
            <a:r>
              <a:rPr lang="en-IN" dirty="0"/>
              <a:t>, or patch Network Security Config.</a:t>
            </a:r>
          </a:p>
        </p:txBody>
      </p:sp>
    </p:spTree>
    <p:extLst>
      <p:ext uri="{BB962C8B-B14F-4D97-AF65-F5344CB8AC3E}">
        <p14:creationId xmlns:p14="http://schemas.microsoft.com/office/powerpoint/2010/main" val="2734933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DBD7A-4106-8F3E-262B-2E7A2A778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BF269-2E17-F333-B8A1-C7806A10B403}"/>
              </a:ext>
            </a:extLst>
          </p:cNvPr>
          <p:cNvSpPr>
            <a:spLocks noGrp="1"/>
          </p:cNvSpPr>
          <p:nvPr>
            <p:ph type="title"/>
          </p:nvPr>
        </p:nvSpPr>
        <p:spPr/>
        <p:txBody>
          <a:bodyPr/>
          <a:lstStyle/>
          <a:p>
            <a:r>
              <a:rPr lang="en-IN" dirty="0"/>
              <a:t>C. Dynamic / Runtime Analysis</a:t>
            </a:r>
          </a:p>
        </p:txBody>
      </p:sp>
      <p:sp>
        <p:nvSpPr>
          <p:cNvPr id="3" name="Text Placeholder 2">
            <a:extLst>
              <a:ext uri="{FF2B5EF4-FFF2-40B4-BE49-F238E27FC236}">
                <a16:creationId xmlns:a16="http://schemas.microsoft.com/office/drawing/2014/main" id="{4FF5F9CB-D7E2-899E-2864-A317E8AA73A3}"/>
              </a:ext>
            </a:extLst>
          </p:cNvPr>
          <p:cNvSpPr>
            <a:spLocks noGrp="1"/>
          </p:cNvSpPr>
          <p:nvPr>
            <p:ph type="body" idx="1"/>
          </p:nvPr>
        </p:nvSpPr>
        <p:spPr/>
        <p:txBody>
          <a:bodyPr/>
          <a:lstStyle/>
          <a:p>
            <a:r>
              <a:rPr lang="en-IN" b="1" dirty="0"/>
              <a:t>Runtime hooking</a:t>
            </a:r>
            <a:endParaRPr lang="en-IN" dirty="0"/>
          </a:p>
          <a:p>
            <a:pPr lvl="1"/>
            <a:r>
              <a:rPr lang="en-IN" dirty="0"/>
              <a:t>Use Frida to hook functions (e.g., </a:t>
            </a:r>
            <a:r>
              <a:rPr lang="en-IN" dirty="0" err="1"/>
              <a:t>java.crypto</a:t>
            </a:r>
            <a:r>
              <a:rPr lang="en-IN" dirty="0"/>
              <a:t>, KeyStore calls, WebView methods, auth flow).</a:t>
            </a:r>
          </a:p>
          <a:p>
            <a:pPr lvl="1"/>
            <a:r>
              <a:rPr lang="en-IN" dirty="0" err="1"/>
              <a:t>frida</a:t>
            </a:r>
            <a:r>
              <a:rPr lang="en-IN" dirty="0"/>
              <a:t> -U -f your.package.name -l script.js --no-pause</a:t>
            </a:r>
          </a:p>
          <a:p>
            <a:r>
              <a:rPr lang="en-IN" b="1" dirty="0"/>
              <a:t>Input fuzzing &amp; IPC</a:t>
            </a:r>
            <a:endParaRPr lang="en-IN" dirty="0"/>
          </a:p>
          <a:p>
            <a:pPr lvl="1"/>
            <a:r>
              <a:rPr lang="en-IN" dirty="0"/>
              <a:t>Send crafted Intents/Broadcasts to exported components to test parameter handling and privilege escalation.</a:t>
            </a:r>
          </a:p>
          <a:p>
            <a:pPr lvl="1"/>
            <a:r>
              <a:rPr lang="en-IN" dirty="0"/>
              <a:t>Example: </a:t>
            </a:r>
            <a:r>
              <a:rPr lang="en-IN" dirty="0" err="1"/>
              <a:t>adb</a:t>
            </a:r>
            <a:r>
              <a:rPr lang="en-IN" dirty="0"/>
              <a:t> shell am start -n </a:t>
            </a:r>
            <a:r>
              <a:rPr lang="en-IN" dirty="0" err="1"/>
              <a:t>com.example</a:t>
            </a:r>
            <a:r>
              <a:rPr lang="en-IN" dirty="0"/>
              <a:t>/.</a:t>
            </a:r>
            <a:r>
              <a:rPr lang="en-IN" dirty="0" err="1"/>
              <a:t>SensitiveActivity</a:t>
            </a:r>
            <a:r>
              <a:rPr lang="en-IN" dirty="0"/>
              <a:t> --es amount 100000</a:t>
            </a:r>
          </a:p>
          <a:p>
            <a:r>
              <a:rPr lang="en-IN" b="1" dirty="0"/>
              <a:t>Local storage checks</a:t>
            </a:r>
            <a:endParaRPr lang="en-IN" dirty="0"/>
          </a:p>
          <a:p>
            <a:pPr lvl="1"/>
            <a:r>
              <a:rPr lang="en-IN" dirty="0"/>
              <a:t>Inspect app storage: /data/data/&lt;</a:t>
            </a:r>
            <a:r>
              <a:rPr lang="en-IN" dirty="0" err="1"/>
              <a:t>pkg</a:t>
            </a:r>
            <a:r>
              <a:rPr lang="en-IN" dirty="0"/>
              <a:t>&gt;/ (requires root) for databases, </a:t>
            </a:r>
            <a:r>
              <a:rPr lang="en-IN" dirty="0" err="1"/>
              <a:t>shared_prefs</a:t>
            </a:r>
            <a:r>
              <a:rPr lang="en-IN" dirty="0"/>
              <a:t>, files.</a:t>
            </a:r>
          </a:p>
          <a:p>
            <a:pPr lvl="1"/>
            <a:r>
              <a:rPr lang="en-IN" dirty="0"/>
              <a:t>Check for plaintext tokens, passwords, PII.</a:t>
            </a:r>
          </a:p>
          <a:p>
            <a:r>
              <a:rPr lang="en-IN" b="1" dirty="0"/>
              <a:t>Behaviour under rooting/jailbreak</a:t>
            </a:r>
            <a:endParaRPr lang="en-IN" dirty="0"/>
          </a:p>
          <a:p>
            <a:pPr lvl="1"/>
            <a:r>
              <a:rPr lang="en-IN" dirty="0"/>
              <a:t>Test whether app detects rooted devices and how it behaves; check for logic bypasses.</a:t>
            </a:r>
          </a:p>
          <a:p>
            <a:endParaRPr lang="en-IN" dirty="0"/>
          </a:p>
        </p:txBody>
      </p:sp>
    </p:spTree>
    <p:extLst>
      <p:ext uri="{BB962C8B-B14F-4D97-AF65-F5344CB8AC3E}">
        <p14:creationId xmlns:p14="http://schemas.microsoft.com/office/powerpoint/2010/main" val="5221252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BE8EB-8296-7045-349F-E4181FE8FB9D}"/>
              </a:ext>
            </a:extLst>
          </p:cNvPr>
          <p:cNvSpPr>
            <a:spLocks noGrp="1"/>
          </p:cNvSpPr>
          <p:nvPr>
            <p:ph type="title"/>
          </p:nvPr>
        </p:nvSpPr>
        <p:spPr/>
        <p:txBody>
          <a:bodyPr/>
          <a:lstStyle/>
          <a:p>
            <a:r>
              <a:rPr lang="en-IN" dirty="0"/>
              <a:t>D. Tampering &amp; Repackaging</a:t>
            </a:r>
          </a:p>
        </p:txBody>
      </p:sp>
      <p:sp>
        <p:nvSpPr>
          <p:cNvPr id="3" name="Text Placeholder 2">
            <a:extLst>
              <a:ext uri="{FF2B5EF4-FFF2-40B4-BE49-F238E27FC236}">
                <a16:creationId xmlns:a16="http://schemas.microsoft.com/office/drawing/2014/main" id="{88FC3681-8075-45CB-4C43-48F2E2A93548}"/>
              </a:ext>
            </a:extLst>
          </p:cNvPr>
          <p:cNvSpPr>
            <a:spLocks noGrp="1"/>
          </p:cNvSpPr>
          <p:nvPr>
            <p:ph type="body" idx="1"/>
          </p:nvPr>
        </p:nvSpPr>
        <p:spPr/>
        <p:txBody>
          <a:bodyPr/>
          <a:lstStyle/>
          <a:p>
            <a:r>
              <a:rPr lang="en-IN" b="1" dirty="0"/>
              <a:t>Repack flow:</a:t>
            </a:r>
            <a:endParaRPr lang="en-IN" dirty="0"/>
          </a:p>
          <a:p>
            <a:pPr lvl="1"/>
            <a:r>
              <a:rPr lang="en-IN" dirty="0" err="1"/>
              <a:t>apktool</a:t>
            </a:r>
            <a:r>
              <a:rPr lang="en-IN" dirty="0"/>
              <a:t> d </a:t>
            </a:r>
            <a:r>
              <a:rPr lang="en-IN" dirty="0" err="1"/>
              <a:t>app.apk</a:t>
            </a:r>
            <a:endParaRPr lang="en-IN" dirty="0"/>
          </a:p>
          <a:p>
            <a:pPr lvl="1"/>
            <a:r>
              <a:rPr lang="en-IN" dirty="0"/>
              <a:t>Modify payload (e.g., add malicious activity or bypass authentication)</a:t>
            </a:r>
          </a:p>
          <a:p>
            <a:pPr lvl="1"/>
            <a:r>
              <a:rPr lang="en-IN" dirty="0" err="1"/>
              <a:t>apktool</a:t>
            </a:r>
            <a:r>
              <a:rPr lang="en-IN" dirty="0"/>
              <a:t> b </a:t>
            </a:r>
            <a:r>
              <a:rPr lang="en-IN" dirty="0" err="1"/>
              <a:t>app_src</a:t>
            </a:r>
            <a:r>
              <a:rPr lang="en-IN" dirty="0"/>
              <a:t> → output unsigned APK</a:t>
            </a:r>
          </a:p>
          <a:p>
            <a:pPr lvl="1"/>
            <a:r>
              <a:rPr lang="en-IN" dirty="0"/>
              <a:t>Sign APK: </a:t>
            </a:r>
            <a:r>
              <a:rPr lang="en-IN" dirty="0" err="1"/>
              <a:t>apksigner</a:t>
            </a:r>
            <a:r>
              <a:rPr lang="en-IN" dirty="0"/>
              <a:t> sign --</a:t>
            </a:r>
            <a:r>
              <a:rPr lang="en-IN" dirty="0" err="1"/>
              <a:t>ks</a:t>
            </a:r>
            <a:r>
              <a:rPr lang="en-IN" dirty="0"/>
              <a:t> </a:t>
            </a:r>
            <a:r>
              <a:rPr lang="en-IN" dirty="0" err="1"/>
              <a:t>mykeystore.jks</a:t>
            </a:r>
            <a:r>
              <a:rPr lang="en-IN" dirty="0"/>
              <a:t> </a:t>
            </a:r>
            <a:r>
              <a:rPr lang="en-IN" dirty="0" err="1"/>
              <a:t>app_unsigned.apk</a:t>
            </a:r>
            <a:endParaRPr lang="en-IN" dirty="0"/>
          </a:p>
          <a:p>
            <a:pPr lvl="1"/>
            <a:r>
              <a:rPr lang="en-IN" dirty="0"/>
              <a:t>Install and run; observe </a:t>
            </a:r>
            <a:r>
              <a:rPr lang="en-IN" dirty="0" err="1"/>
              <a:t>behavior</a:t>
            </a:r>
            <a:endParaRPr lang="en-IN" dirty="0"/>
          </a:p>
          <a:p>
            <a:r>
              <a:rPr lang="en-IN" dirty="0"/>
              <a:t>Purpose: test anti-tamper, integrity checks, signature checks.</a:t>
            </a:r>
          </a:p>
          <a:p>
            <a:endParaRPr lang="en-IN" dirty="0"/>
          </a:p>
        </p:txBody>
      </p:sp>
    </p:spTree>
    <p:extLst>
      <p:ext uri="{BB962C8B-B14F-4D97-AF65-F5344CB8AC3E}">
        <p14:creationId xmlns:p14="http://schemas.microsoft.com/office/powerpoint/2010/main" val="705912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71E03-1100-354C-BDA9-2DDE9C8C7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C2D71-72D1-1199-D9C5-0FD9F698F6BC}"/>
              </a:ext>
            </a:extLst>
          </p:cNvPr>
          <p:cNvSpPr>
            <a:spLocks noGrp="1"/>
          </p:cNvSpPr>
          <p:nvPr>
            <p:ph type="title"/>
          </p:nvPr>
        </p:nvSpPr>
        <p:spPr/>
        <p:txBody>
          <a:bodyPr/>
          <a:lstStyle/>
          <a:p>
            <a:r>
              <a:rPr lang="en-IN" dirty="0"/>
              <a:t>E. Post-Exploitation Checks</a:t>
            </a:r>
          </a:p>
        </p:txBody>
      </p:sp>
      <p:sp>
        <p:nvSpPr>
          <p:cNvPr id="3" name="Text Placeholder 2">
            <a:extLst>
              <a:ext uri="{FF2B5EF4-FFF2-40B4-BE49-F238E27FC236}">
                <a16:creationId xmlns:a16="http://schemas.microsoft.com/office/drawing/2014/main" id="{1675475F-97C8-D3BC-286C-4D6E0E793E7D}"/>
              </a:ext>
            </a:extLst>
          </p:cNvPr>
          <p:cNvSpPr>
            <a:spLocks noGrp="1"/>
          </p:cNvSpPr>
          <p:nvPr>
            <p:ph type="body" idx="1"/>
          </p:nvPr>
        </p:nvSpPr>
        <p:spPr/>
        <p:txBody>
          <a:bodyPr/>
          <a:lstStyle/>
          <a:p>
            <a:r>
              <a:rPr lang="en-IN" sz="1800" dirty="0"/>
              <a:t>If you can perform actions (change PIN, access data), evaluate impact and persistence.</a:t>
            </a:r>
          </a:p>
          <a:p>
            <a:r>
              <a:rPr lang="en-IN" sz="1800" dirty="0"/>
              <a:t>Try to exfiltrate sensitive data, persist background services, or escalate privileges.</a:t>
            </a:r>
          </a:p>
          <a:p>
            <a:endParaRPr lang="en-IN" sz="1800" dirty="0"/>
          </a:p>
        </p:txBody>
      </p:sp>
    </p:spTree>
    <p:extLst>
      <p:ext uri="{BB962C8B-B14F-4D97-AF65-F5344CB8AC3E}">
        <p14:creationId xmlns:p14="http://schemas.microsoft.com/office/powerpoint/2010/main" val="36301228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EA4E0-8BBD-A259-3D6D-C02AF806464F}"/>
              </a:ext>
            </a:extLst>
          </p:cNvPr>
          <p:cNvSpPr>
            <a:spLocks noGrp="1"/>
          </p:cNvSpPr>
          <p:nvPr>
            <p:ph type="title"/>
          </p:nvPr>
        </p:nvSpPr>
        <p:spPr/>
        <p:txBody>
          <a:bodyPr/>
          <a:lstStyle/>
          <a:p>
            <a:r>
              <a:rPr lang="en-US" sz="2400" dirty="0"/>
              <a:t>Common Vulnerabilities &amp; How to Test / Exploit</a:t>
            </a:r>
            <a:endParaRPr lang="en-IN" sz="2400" dirty="0"/>
          </a:p>
        </p:txBody>
      </p:sp>
      <p:sp>
        <p:nvSpPr>
          <p:cNvPr id="3" name="Text Placeholder 2">
            <a:extLst>
              <a:ext uri="{FF2B5EF4-FFF2-40B4-BE49-F238E27FC236}">
                <a16:creationId xmlns:a16="http://schemas.microsoft.com/office/drawing/2014/main" id="{424B9FB0-B0E7-3DB7-77E3-1B7D80F59371}"/>
              </a:ext>
            </a:extLst>
          </p:cNvPr>
          <p:cNvSpPr>
            <a:spLocks noGrp="1"/>
          </p:cNvSpPr>
          <p:nvPr>
            <p:ph type="body" idx="1"/>
          </p:nvPr>
        </p:nvSpPr>
        <p:spPr/>
        <p:txBody>
          <a:bodyPr/>
          <a:lstStyle/>
          <a:p>
            <a:pPr algn="l"/>
            <a:r>
              <a:rPr lang="en-IN" sz="1800" dirty="0"/>
              <a:t>1. Exported components</a:t>
            </a:r>
          </a:p>
          <a:p>
            <a:pPr algn="l"/>
            <a:r>
              <a:rPr lang="en-IN" sz="1800" dirty="0"/>
              <a:t>2. Insecure Data Storage</a:t>
            </a:r>
          </a:p>
          <a:p>
            <a:pPr algn="l"/>
            <a:r>
              <a:rPr lang="en-IN" sz="1800" dirty="0"/>
              <a:t>3. Insecure Communication / No TLS or wrong TLS</a:t>
            </a:r>
          </a:p>
          <a:p>
            <a:pPr algn="l"/>
            <a:r>
              <a:rPr lang="en-IN" sz="1800" dirty="0"/>
              <a:t>4. Hardcoded secrets</a:t>
            </a:r>
          </a:p>
          <a:p>
            <a:pPr algn="l"/>
            <a:r>
              <a:rPr lang="en-IN" sz="1800" dirty="0"/>
              <a:t>5. Insecure WebView usage</a:t>
            </a:r>
          </a:p>
          <a:p>
            <a:pPr algn="l"/>
            <a:r>
              <a:rPr lang="en-IN" sz="1800" dirty="0"/>
              <a:t>6. Insufficient authentication and session management</a:t>
            </a:r>
          </a:p>
          <a:p>
            <a:pPr algn="l"/>
            <a:r>
              <a:rPr lang="en-IN" sz="1800" dirty="0"/>
              <a:t>7. Signature / Integrity checks absent</a:t>
            </a:r>
          </a:p>
          <a:p>
            <a:pPr algn="l"/>
            <a:r>
              <a:rPr lang="en-IN" sz="1800" dirty="0"/>
              <a:t>8. Reverse-engineering / Lack of obfuscation</a:t>
            </a:r>
          </a:p>
          <a:p>
            <a:pPr algn="l"/>
            <a:r>
              <a:rPr lang="en-IN" sz="1800" dirty="0"/>
              <a:t>9. Insecure inter-app communication (Intents &amp; URL Schemes)</a:t>
            </a:r>
          </a:p>
          <a:p>
            <a:pPr algn="l"/>
            <a:r>
              <a:rPr lang="en-IN" sz="1800" dirty="0"/>
              <a:t>10. Insecure use of cryptography</a:t>
            </a:r>
          </a:p>
        </p:txBody>
      </p:sp>
    </p:spTree>
    <p:extLst>
      <p:ext uri="{BB962C8B-B14F-4D97-AF65-F5344CB8AC3E}">
        <p14:creationId xmlns:p14="http://schemas.microsoft.com/office/powerpoint/2010/main" val="36695562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FE8FF-1563-CD97-0302-DEBC68E9D60C}"/>
              </a:ext>
            </a:extLst>
          </p:cNvPr>
          <p:cNvSpPr>
            <a:spLocks noGrp="1"/>
          </p:cNvSpPr>
          <p:nvPr>
            <p:ph type="title"/>
          </p:nvPr>
        </p:nvSpPr>
        <p:spPr/>
        <p:txBody>
          <a:bodyPr/>
          <a:lstStyle/>
          <a:p>
            <a:r>
              <a:rPr lang="en-IN" dirty="0"/>
              <a:t>TLS (Transport Layer Security)</a:t>
            </a:r>
          </a:p>
        </p:txBody>
      </p:sp>
      <p:sp>
        <p:nvSpPr>
          <p:cNvPr id="3" name="Text Placeholder 2">
            <a:extLst>
              <a:ext uri="{FF2B5EF4-FFF2-40B4-BE49-F238E27FC236}">
                <a16:creationId xmlns:a16="http://schemas.microsoft.com/office/drawing/2014/main" id="{0910251F-7C4A-E846-867F-68488C7168DB}"/>
              </a:ext>
            </a:extLst>
          </p:cNvPr>
          <p:cNvSpPr>
            <a:spLocks noGrp="1"/>
          </p:cNvSpPr>
          <p:nvPr>
            <p:ph type="body" idx="1"/>
          </p:nvPr>
        </p:nvSpPr>
        <p:spPr/>
        <p:txBody>
          <a:bodyPr/>
          <a:lstStyle/>
          <a:p>
            <a:r>
              <a:rPr lang="en-US" b="1" dirty="0"/>
              <a:t>What it is:</a:t>
            </a:r>
            <a:r>
              <a:rPr lang="en-US" dirty="0"/>
              <a:t> A cryptographic protocol designed to provide secure communication over a computer network.</a:t>
            </a:r>
          </a:p>
          <a:p>
            <a:r>
              <a:rPr lang="en-US" b="1" dirty="0"/>
              <a:t>Primary Goal:</a:t>
            </a:r>
            <a:r>
              <a:rPr lang="en-US" dirty="0"/>
              <a:t> To ensure </a:t>
            </a:r>
            <a:r>
              <a:rPr lang="en-US" b="1" dirty="0"/>
              <a:t>privacy</a:t>
            </a:r>
            <a:r>
              <a:rPr lang="en-US" dirty="0"/>
              <a:t>, </a:t>
            </a:r>
            <a:r>
              <a:rPr lang="en-US" b="1" dirty="0"/>
              <a:t>data integrity</a:t>
            </a:r>
            <a:r>
              <a:rPr lang="en-US" dirty="0"/>
              <a:t>, and </a:t>
            </a:r>
            <a:r>
              <a:rPr lang="en-US" b="1" dirty="0"/>
              <a:t>authentication</a:t>
            </a:r>
            <a:r>
              <a:rPr lang="en-US" dirty="0"/>
              <a:t> between two communicating applications (e.g., a web browser and a server).</a:t>
            </a:r>
          </a:p>
          <a:p>
            <a:r>
              <a:rPr lang="en-US" b="1" dirty="0"/>
              <a:t>Key Features &amp; Benefits</a:t>
            </a:r>
          </a:p>
          <a:p>
            <a:pPr lvl="1"/>
            <a:r>
              <a:rPr lang="en-US" b="1" dirty="0"/>
              <a:t>Encryption:</a:t>
            </a:r>
            <a:r>
              <a:rPr lang="en-US" dirty="0"/>
              <a:t> Scrambles data to prevent eavesdropping (confidentiality). Uses a combination of </a:t>
            </a:r>
            <a:r>
              <a:rPr lang="en-US" b="1" dirty="0"/>
              <a:t>asymmetric encryption</a:t>
            </a:r>
            <a:r>
              <a:rPr lang="en-US" dirty="0"/>
              <a:t> (for the handshake) and faster </a:t>
            </a:r>
            <a:r>
              <a:rPr lang="en-US" b="1" dirty="0"/>
              <a:t>symmetric encryption</a:t>
            </a:r>
            <a:r>
              <a:rPr lang="en-US" dirty="0"/>
              <a:t> (for the data transfer).</a:t>
            </a:r>
          </a:p>
          <a:p>
            <a:pPr lvl="1"/>
            <a:r>
              <a:rPr lang="en-US" b="1" dirty="0"/>
              <a:t>Authentication:</a:t>
            </a:r>
            <a:r>
              <a:rPr lang="en-US" dirty="0"/>
              <a:t> Uses digital certificates to verify the identity of the server (and optionally the client). This prevents man-in-the-middle attacks.</a:t>
            </a:r>
          </a:p>
          <a:p>
            <a:pPr lvl="1"/>
            <a:r>
              <a:rPr lang="en-US" b="1" dirty="0"/>
              <a:t>Data Integrity:</a:t>
            </a:r>
            <a:r>
              <a:rPr lang="en-US" dirty="0"/>
              <a:t> Uses Message Authentication Codes (MACs) to ensure that data sent between client and server is not tampered with or altered in transit.</a:t>
            </a:r>
          </a:p>
          <a:p>
            <a:endParaRPr lang="en-US" dirty="0"/>
          </a:p>
          <a:p>
            <a:endParaRPr lang="en-IN" dirty="0"/>
          </a:p>
        </p:txBody>
      </p:sp>
    </p:spTree>
    <p:extLst>
      <p:ext uri="{BB962C8B-B14F-4D97-AF65-F5344CB8AC3E}">
        <p14:creationId xmlns:p14="http://schemas.microsoft.com/office/powerpoint/2010/main" val="9696521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46101-01D6-A381-88F1-2E74F74D50EC}"/>
              </a:ext>
            </a:extLst>
          </p:cNvPr>
          <p:cNvSpPr>
            <a:spLocks noGrp="1"/>
          </p:cNvSpPr>
          <p:nvPr>
            <p:ph type="title"/>
          </p:nvPr>
        </p:nvSpPr>
        <p:spPr/>
        <p:txBody>
          <a:bodyPr/>
          <a:lstStyle/>
          <a:p>
            <a:r>
              <a:rPr lang="en-IN" dirty="0"/>
              <a:t>Intercepting TLS Traffic</a:t>
            </a:r>
          </a:p>
        </p:txBody>
      </p:sp>
      <p:sp>
        <p:nvSpPr>
          <p:cNvPr id="3" name="Text Placeholder 2">
            <a:extLst>
              <a:ext uri="{FF2B5EF4-FFF2-40B4-BE49-F238E27FC236}">
                <a16:creationId xmlns:a16="http://schemas.microsoft.com/office/drawing/2014/main" id="{53A63DF4-5C28-2437-19E5-390FBB4C8157}"/>
              </a:ext>
            </a:extLst>
          </p:cNvPr>
          <p:cNvSpPr>
            <a:spLocks noGrp="1"/>
          </p:cNvSpPr>
          <p:nvPr>
            <p:ph type="body" idx="1"/>
          </p:nvPr>
        </p:nvSpPr>
        <p:spPr>
          <a:xfrm>
            <a:off x="719999" y="1215749"/>
            <a:ext cx="7996297" cy="3842947"/>
          </a:xfrm>
        </p:spPr>
        <p:txBody>
          <a:bodyPr/>
          <a:lstStyle/>
          <a:p>
            <a:r>
              <a:rPr lang="en-US" dirty="0"/>
              <a:t>TLS is a protocol for setting up and using a cryptographically secured connection between two computer systems, a client and a server.</a:t>
            </a:r>
          </a:p>
          <a:p>
            <a:r>
              <a:rPr lang="en-US" b="1" dirty="0"/>
              <a:t>TLS (Transport Layer Security) </a:t>
            </a:r>
            <a:r>
              <a:rPr lang="en-US" dirty="0"/>
              <a:t>interception is the process of </a:t>
            </a:r>
            <a:r>
              <a:rPr lang="en-US" b="1" dirty="0"/>
              <a:t>decrypting</a:t>
            </a:r>
            <a:r>
              <a:rPr lang="en-US" dirty="0"/>
              <a:t>, </a:t>
            </a:r>
            <a:r>
              <a:rPr lang="en-US" b="1" dirty="0"/>
              <a:t>inspecting</a:t>
            </a:r>
            <a:r>
              <a:rPr lang="en-US" dirty="0"/>
              <a:t>, and then </a:t>
            </a:r>
            <a:r>
              <a:rPr lang="en-US" b="1" dirty="0"/>
              <a:t>re-encrypting</a:t>
            </a:r>
            <a:r>
              <a:rPr lang="en-US" dirty="0"/>
              <a:t> secure HTTPS traffic as it passes through a middlebox. This middlebox acts as a "Man-in-the-Middle" (MitM), breaking the end-to-end encryption between a client (e.g., a user's browser) and a server (e.g., </a:t>
            </a:r>
            <a:r>
              <a:rPr lang="en-US" dirty="0">
                <a:hlinkClick r:id="rId2"/>
              </a:rPr>
              <a:t>google.com</a:t>
            </a:r>
            <a:r>
              <a:rPr lang="en-US" dirty="0"/>
              <a:t>).</a:t>
            </a:r>
          </a:p>
          <a:p>
            <a:r>
              <a:rPr lang="en-US" b="1" dirty="0"/>
              <a:t>TLS interception</a:t>
            </a:r>
            <a:r>
              <a:rPr lang="en-US" dirty="0"/>
              <a:t> involves capturing obtaining the </a:t>
            </a:r>
            <a:r>
              <a:rPr lang="en-US" i="1" dirty="0"/>
              <a:t>plain text</a:t>
            </a:r>
            <a:r>
              <a:rPr lang="en-US" dirty="0"/>
              <a:t> of an encrypted transport (usually "HTTPS" using </a:t>
            </a:r>
            <a:r>
              <a:rPr lang="en-US" i="1" dirty="0"/>
              <a:t>TLS (Transport Layer Security)</a:t>
            </a:r>
            <a:r>
              <a:rPr lang="en-US" dirty="0"/>
              <a:t> previously/commonly known as </a:t>
            </a:r>
            <a:r>
              <a:rPr lang="en-US" i="1" dirty="0"/>
              <a:t>SSL (Secure Sockets Layer)</a:t>
            </a:r>
            <a:r>
              <a:rPr lang="en-US" dirty="0"/>
              <a:t> ) either by collecting the encrypted stream and decoding it at a later stage, or more conventionally by posing as the sender (to the receiver) and receiver (to the sender). Security researchers refer to this as a </a:t>
            </a:r>
            <a:r>
              <a:rPr lang="en-US" b="1" dirty="0"/>
              <a:t>man-in-the-middle attack (MITM)</a:t>
            </a:r>
            <a:r>
              <a:rPr lang="en-US" dirty="0"/>
              <a:t> when applied without user knowledge. Vendors that supply equipment for this purpose often refer to the capacity as </a:t>
            </a:r>
            <a:r>
              <a:rPr lang="en-US" b="1" dirty="0"/>
              <a:t>SSL inspection</a:t>
            </a:r>
            <a:r>
              <a:rPr lang="en-US" dirty="0"/>
              <a:t>. </a:t>
            </a:r>
            <a:endParaRPr lang="en-IN" dirty="0"/>
          </a:p>
        </p:txBody>
      </p:sp>
    </p:spTree>
    <p:extLst>
      <p:ext uri="{BB962C8B-B14F-4D97-AF65-F5344CB8AC3E}">
        <p14:creationId xmlns:p14="http://schemas.microsoft.com/office/powerpoint/2010/main" val="11426771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ACF56-C99B-B3E3-A791-F11420654D85}"/>
              </a:ext>
            </a:extLst>
          </p:cNvPr>
          <p:cNvSpPr>
            <a:spLocks noGrp="1"/>
          </p:cNvSpPr>
          <p:nvPr>
            <p:ph type="title"/>
          </p:nvPr>
        </p:nvSpPr>
        <p:spPr/>
        <p:txBody>
          <a:bodyPr/>
          <a:lstStyle/>
          <a:p>
            <a:r>
              <a:rPr lang="en-US" dirty="0"/>
              <a:t>The Static Analysis with </a:t>
            </a:r>
            <a:r>
              <a:rPr lang="en-US" dirty="0" err="1"/>
              <a:t>JADx</a:t>
            </a:r>
            <a:br>
              <a:rPr lang="en-US" dirty="0"/>
            </a:br>
            <a:endParaRPr lang="en-IN" dirty="0"/>
          </a:p>
        </p:txBody>
      </p:sp>
      <p:sp>
        <p:nvSpPr>
          <p:cNvPr id="3" name="Text Placeholder 2">
            <a:extLst>
              <a:ext uri="{FF2B5EF4-FFF2-40B4-BE49-F238E27FC236}">
                <a16:creationId xmlns:a16="http://schemas.microsoft.com/office/drawing/2014/main" id="{FB085F42-4E96-1C9B-0720-B0EF82BEDBC3}"/>
              </a:ext>
            </a:extLst>
          </p:cNvPr>
          <p:cNvSpPr>
            <a:spLocks noGrp="1"/>
          </p:cNvSpPr>
          <p:nvPr>
            <p:ph type="body" idx="1"/>
          </p:nvPr>
        </p:nvSpPr>
        <p:spPr/>
        <p:txBody>
          <a:bodyPr/>
          <a:lstStyle/>
          <a:p>
            <a:r>
              <a:rPr lang="en-US" b="1" dirty="0" err="1"/>
              <a:t>JADx</a:t>
            </a:r>
            <a:r>
              <a:rPr lang="en-US" dirty="0"/>
              <a:t> is a powerful, open-source tool that </a:t>
            </a:r>
            <a:r>
              <a:rPr lang="en-US" b="1" dirty="0"/>
              <a:t>decompiles</a:t>
            </a:r>
            <a:r>
              <a:rPr lang="en-US" dirty="0"/>
              <a:t> Android DEX files (the compiled bytecode) back into a very readable, high-level Java source code. It's often more accurate and produces cleaner output than many other </a:t>
            </a:r>
            <a:r>
              <a:rPr lang="en-US" dirty="0" err="1"/>
              <a:t>decompilers</a:t>
            </a:r>
            <a:r>
              <a:rPr lang="en-US" dirty="0"/>
              <a:t>.</a:t>
            </a:r>
          </a:p>
          <a:p>
            <a:r>
              <a:rPr lang="en-US" b="1" dirty="0"/>
              <a:t>Step 0: Preparation &amp; Safety First!</a:t>
            </a:r>
          </a:p>
          <a:p>
            <a:pPr lvl="1"/>
            <a:r>
              <a:rPr lang="en-US" b="1" dirty="0"/>
              <a:t>Isolate the Environment:</a:t>
            </a:r>
            <a:r>
              <a:rPr lang="en-US" dirty="0"/>
              <a:t> Perform analysis in a virtual machine (e.g., VirtualBox, VMware) that is not connected to your personal or corporate network. Malware can attempt to escape or infect the host system.</a:t>
            </a:r>
          </a:p>
          <a:p>
            <a:pPr lvl="1"/>
            <a:r>
              <a:rPr lang="en-US" b="1" dirty="0"/>
              <a:t>Acquire the Sample:</a:t>
            </a:r>
            <a:r>
              <a:rPr lang="en-US" dirty="0"/>
              <a:t> The suspicious APK file will be your sample (e.g., </a:t>
            </a:r>
            <a:r>
              <a:rPr lang="en-US" dirty="0" err="1"/>
              <a:t>suspicious_app.apk</a:t>
            </a:r>
            <a:r>
              <a:rPr lang="en-US" dirty="0"/>
              <a:t>).</a:t>
            </a:r>
          </a:p>
          <a:p>
            <a:pPr lvl="1"/>
            <a:r>
              <a:rPr lang="en-US" b="1" dirty="0"/>
              <a:t>Have </a:t>
            </a:r>
            <a:r>
              <a:rPr lang="en-US" b="1" dirty="0" err="1"/>
              <a:t>JADx</a:t>
            </a:r>
            <a:r>
              <a:rPr lang="en-US" b="1" dirty="0"/>
              <a:t> Ready:</a:t>
            </a:r>
            <a:r>
              <a:rPr lang="en-US" dirty="0"/>
              <a:t> You can use the command-line tool (</a:t>
            </a:r>
            <a:r>
              <a:rPr lang="en-US" dirty="0" err="1"/>
              <a:t>jadx</a:t>
            </a:r>
            <a:r>
              <a:rPr lang="en-US" dirty="0"/>
              <a:t>) or the GUI (</a:t>
            </a:r>
            <a:r>
              <a:rPr lang="en-US" dirty="0" err="1"/>
              <a:t>jadx-gui</a:t>
            </a:r>
            <a:r>
              <a:rPr lang="en-US" dirty="0"/>
              <a:t>). The GUI is excellent for exploratory analysis.</a:t>
            </a:r>
          </a:p>
          <a:p>
            <a:endParaRPr lang="en-IN" dirty="0"/>
          </a:p>
        </p:txBody>
      </p:sp>
    </p:spTree>
    <p:extLst>
      <p:ext uri="{BB962C8B-B14F-4D97-AF65-F5344CB8AC3E}">
        <p14:creationId xmlns:p14="http://schemas.microsoft.com/office/powerpoint/2010/main" val="6040619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2692-0CB0-94B0-CFE3-029DF5E25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77432A-2740-7C51-2DB2-3E19552D0720}"/>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72E47553-11F8-9131-4B0F-5873ECA631C0}"/>
              </a:ext>
            </a:extLst>
          </p:cNvPr>
          <p:cNvSpPr>
            <a:spLocks noGrp="1"/>
          </p:cNvSpPr>
          <p:nvPr>
            <p:ph type="body" idx="1"/>
          </p:nvPr>
        </p:nvSpPr>
        <p:spPr/>
        <p:txBody>
          <a:bodyPr/>
          <a:lstStyle/>
          <a:p>
            <a:pPr algn="l"/>
            <a:r>
              <a:rPr lang="en-US" b="1" dirty="0"/>
              <a:t>Step 1: Initial Reconnaissance with </a:t>
            </a:r>
            <a:r>
              <a:rPr lang="en-US" b="1" dirty="0" err="1"/>
              <a:t>JADx</a:t>
            </a:r>
            <a:endParaRPr lang="en-US" b="1" dirty="0"/>
          </a:p>
          <a:p>
            <a:pPr algn="l"/>
            <a:r>
              <a:rPr lang="en-US" dirty="0"/>
              <a:t>Open the APK file with </a:t>
            </a:r>
            <a:r>
              <a:rPr lang="en-US" dirty="0" err="1"/>
              <a:t>jadx-gui</a:t>
            </a:r>
            <a:r>
              <a:rPr lang="en-US" dirty="0"/>
              <a:t>. The left panel will show the project structure.</a:t>
            </a:r>
          </a:p>
          <a:p>
            <a:pPr algn="l"/>
            <a:r>
              <a:rPr lang="en-US" b="1" dirty="0"/>
              <a:t>Examine the AndroidManifest.xml:</a:t>
            </a:r>
            <a:br>
              <a:rPr lang="en-US" dirty="0"/>
            </a:br>
            <a:r>
              <a:rPr lang="en-US" dirty="0"/>
              <a:t>This is the app's configuration file. It tells you everything the app </a:t>
            </a:r>
            <a:r>
              <a:rPr lang="en-US" i="1" dirty="0"/>
              <a:t>says</a:t>
            </a:r>
            <a:r>
              <a:rPr lang="en-US" dirty="0"/>
              <a:t> it needs to do.</a:t>
            </a:r>
          </a:p>
          <a:p>
            <a:pPr lvl="1"/>
            <a:r>
              <a:rPr lang="en-US" b="1" dirty="0"/>
              <a:t>Package Name:</a:t>
            </a:r>
            <a:r>
              <a:rPr lang="en-US" dirty="0"/>
              <a:t> Note the unique identifier (e.g., </a:t>
            </a:r>
            <a:r>
              <a:rPr lang="en-US" dirty="0" err="1"/>
              <a:t>com.example.fake.cleaner</a:t>
            </a:r>
            <a:r>
              <a:rPr lang="en-US" dirty="0"/>
              <a:t>). Is it trying to impersonate a legitimate app?</a:t>
            </a:r>
          </a:p>
          <a:p>
            <a:pPr lvl="1"/>
            <a:r>
              <a:rPr lang="en-US" b="1" dirty="0"/>
              <a:t>Permissions</a:t>
            </a:r>
          </a:p>
          <a:p>
            <a:pPr lvl="1"/>
            <a:r>
              <a:rPr lang="en-US" b="1" dirty="0"/>
              <a:t>Components (Activities, Services, Receivers, Providers):</a:t>
            </a:r>
            <a:endParaRPr lang="en-US" dirty="0"/>
          </a:p>
          <a:p>
            <a:pPr lvl="2"/>
            <a:r>
              <a:rPr lang="en-US" dirty="0"/>
              <a:t>Look for exported components ( </a:t>
            </a:r>
            <a:r>
              <a:rPr lang="en-US" dirty="0" err="1"/>
              <a:t>android:exported</a:t>
            </a:r>
            <a:r>
              <a:rPr lang="en-US" dirty="0"/>
              <a:t>="true"), which can be triggered by other apps. This is a common privilege escalation vector.</a:t>
            </a:r>
          </a:p>
          <a:p>
            <a:pPr lvl="2"/>
            <a:r>
              <a:rPr lang="en-US" dirty="0"/>
              <a:t>Note the main activity (the app's entry point).</a:t>
            </a:r>
          </a:p>
          <a:p>
            <a:pPr algn="l"/>
            <a:r>
              <a:rPr lang="en-US" b="1" dirty="0"/>
              <a:t>Scan the resources/ Folder:</a:t>
            </a:r>
            <a:endParaRPr lang="en-US" dirty="0"/>
          </a:p>
          <a:p>
            <a:pPr lvl="1"/>
            <a:r>
              <a:rPr lang="en-US" dirty="0"/>
              <a:t>Look in res/values/strings.xml for hardcoded URLs, IP addresses, passwords, or encryption keys.</a:t>
            </a:r>
          </a:p>
          <a:p>
            <a:pPr lvl="1"/>
            <a:r>
              <a:rPr lang="en-US" dirty="0"/>
              <a:t>Check other resource files for any embedded configuration data.</a:t>
            </a:r>
          </a:p>
          <a:p>
            <a:pPr algn="l"/>
            <a:endParaRPr lang="en-IN" dirty="0"/>
          </a:p>
        </p:txBody>
      </p:sp>
    </p:spTree>
    <p:extLst>
      <p:ext uri="{BB962C8B-B14F-4D97-AF65-F5344CB8AC3E}">
        <p14:creationId xmlns:p14="http://schemas.microsoft.com/office/powerpoint/2010/main" val="255371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492C2-BB10-E1D0-3107-CBE758B15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2BA7D2-0788-1BAA-61A1-C8D5A9A58545}"/>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5A64D6FA-9627-0068-D940-4CAE79DAFCB3}"/>
              </a:ext>
            </a:extLst>
          </p:cNvPr>
          <p:cNvSpPr>
            <a:spLocks noGrp="1"/>
          </p:cNvSpPr>
          <p:nvPr>
            <p:ph type="body" idx="1"/>
          </p:nvPr>
        </p:nvSpPr>
        <p:spPr/>
        <p:txBody>
          <a:bodyPr/>
          <a:lstStyle/>
          <a:p>
            <a:r>
              <a:rPr lang="en-US" b="1" dirty="0"/>
              <a:t>Step 2: Code Analysis - The Hunt for Malicious Logic</a:t>
            </a:r>
          </a:p>
          <a:p>
            <a:r>
              <a:rPr lang="en-US" dirty="0"/>
              <a:t>This is the core of the analysis. Use the search function (</a:t>
            </a:r>
            <a:r>
              <a:rPr lang="en-US" dirty="0" err="1"/>
              <a:t>Ctrl+F</a:t>
            </a:r>
            <a:r>
              <a:rPr lang="en-US" dirty="0"/>
              <a:t>) extensively.</a:t>
            </a:r>
          </a:p>
          <a:p>
            <a:r>
              <a:rPr lang="en-US" b="1" dirty="0"/>
              <a:t>Search for Indicators of Compromise (</a:t>
            </a:r>
            <a:r>
              <a:rPr lang="en-US" b="1" dirty="0" err="1"/>
              <a:t>IoCs</a:t>
            </a:r>
            <a:r>
              <a:rPr lang="en-US" b="1" dirty="0"/>
              <a:t>):</a:t>
            </a:r>
            <a:endParaRPr lang="en-US" dirty="0"/>
          </a:p>
          <a:p>
            <a:pPr lvl="1"/>
            <a:r>
              <a:rPr lang="en-US" b="1" dirty="0"/>
              <a:t>URLs &amp; IPs:</a:t>
            </a:r>
            <a:r>
              <a:rPr lang="en-US" dirty="0"/>
              <a:t> Search for "http://", "https://", and IP address patterns. These are often Command &amp; Control (C&amp;C) servers.</a:t>
            </a:r>
          </a:p>
          <a:p>
            <a:pPr lvl="1"/>
            <a:r>
              <a:rPr lang="en-US" b="1" dirty="0"/>
              <a:t>File Paths:</a:t>
            </a:r>
            <a:r>
              <a:rPr lang="en-US" dirty="0"/>
              <a:t> Look for references to sensitive files (/data/data/, /</a:t>
            </a:r>
            <a:r>
              <a:rPr lang="en-US" dirty="0" err="1"/>
              <a:t>sdcard</a:t>
            </a:r>
            <a:r>
              <a:rPr lang="en-US" dirty="0"/>
              <a:t>/).</a:t>
            </a:r>
          </a:p>
          <a:p>
            <a:pPr lvl="1"/>
            <a:r>
              <a:rPr lang="en-US" b="1" dirty="0"/>
              <a:t>Suspicious Strings:</a:t>
            </a:r>
            <a:r>
              <a:rPr lang="en-US" dirty="0"/>
              <a:t> Search for keywords like:</a:t>
            </a:r>
          </a:p>
          <a:p>
            <a:pPr lvl="2"/>
            <a:r>
              <a:rPr lang="en-US" dirty="0"/>
              <a:t>"</a:t>
            </a:r>
            <a:r>
              <a:rPr lang="en-US" dirty="0" err="1"/>
              <a:t>su</a:t>
            </a:r>
            <a:r>
              <a:rPr lang="en-US" dirty="0"/>
              <a:t>" (Superuser - rooting)</a:t>
            </a:r>
          </a:p>
          <a:p>
            <a:pPr lvl="2"/>
            <a:r>
              <a:rPr lang="en-US" dirty="0"/>
              <a:t>"</a:t>
            </a:r>
            <a:r>
              <a:rPr lang="en-US" dirty="0" err="1"/>
              <a:t>runtime.exec</a:t>
            </a:r>
            <a:r>
              <a:rPr lang="en-US" dirty="0"/>
              <a:t>", "</a:t>
            </a:r>
            <a:r>
              <a:rPr lang="en-US" dirty="0" err="1"/>
              <a:t>ProcessBuilder</a:t>
            </a:r>
            <a:r>
              <a:rPr lang="en-US" dirty="0"/>
              <a:t>" (Executing shell commands)</a:t>
            </a:r>
          </a:p>
          <a:p>
            <a:pPr lvl="2"/>
            <a:r>
              <a:rPr lang="en-US" dirty="0"/>
              <a:t>"</a:t>
            </a:r>
            <a:r>
              <a:rPr lang="en-US" dirty="0" err="1"/>
              <a:t>getDeviceId</a:t>
            </a:r>
            <a:r>
              <a:rPr lang="en-US" dirty="0"/>
              <a:t>", "</a:t>
            </a:r>
            <a:r>
              <a:rPr lang="en-US" dirty="0" err="1"/>
              <a:t>getSubscriberId</a:t>
            </a:r>
            <a:r>
              <a:rPr lang="en-US" dirty="0"/>
              <a:t>" (Hardware identifiers)</a:t>
            </a:r>
          </a:p>
          <a:p>
            <a:pPr lvl="2"/>
            <a:r>
              <a:rPr lang="en-US" dirty="0"/>
              <a:t>"crypto", "AES", "DES" (Encryption routines, might be for data exfiltration)</a:t>
            </a:r>
          </a:p>
          <a:p>
            <a:pPr lvl="2"/>
            <a:r>
              <a:rPr lang="en-US" dirty="0"/>
              <a:t>"banking", "</a:t>
            </a:r>
            <a:r>
              <a:rPr lang="en-US" dirty="0" err="1"/>
              <a:t>paypal</a:t>
            </a:r>
            <a:r>
              <a:rPr lang="en-US" dirty="0"/>
              <a:t>", etc. (Targeting specific apps)</a:t>
            </a:r>
          </a:p>
          <a:p>
            <a:pPr algn="l"/>
            <a:endParaRPr lang="en-IN" dirty="0"/>
          </a:p>
        </p:txBody>
      </p:sp>
    </p:spTree>
    <p:extLst>
      <p:ext uri="{BB962C8B-B14F-4D97-AF65-F5344CB8AC3E}">
        <p14:creationId xmlns:p14="http://schemas.microsoft.com/office/powerpoint/2010/main" val="31045136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A900-6ECD-ADD2-EFD7-29ECA0AE8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D62068-1F62-794D-4155-4E8BA7BEBB77}"/>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0DD567B2-3551-5BCF-6E56-88E4EE51DE5F}"/>
              </a:ext>
            </a:extLst>
          </p:cNvPr>
          <p:cNvSpPr>
            <a:spLocks noGrp="1"/>
          </p:cNvSpPr>
          <p:nvPr>
            <p:ph type="body" idx="1"/>
          </p:nvPr>
        </p:nvSpPr>
        <p:spPr/>
        <p:txBody>
          <a:bodyPr/>
          <a:lstStyle/>
          <a:p>
            <a:r>
              <a:rPr lang="en-US" b="1" dirty="0"/>
              <a:t>Analyze the Entry Points:</a:t>
            </a:r>
            <a:endParaRPr lang="en-US" dirty="0"/>
          </a:p>
          <a:p>
            <a:pPr lvl="1"/>
            <a:r>
              <a:rPr lang="en-US" dirty="0"/>
              <a:t>Start from the </a:t>
            </a:r>
            <a:r>
              <a:rPr lang="en-US" dirty="0" err="1"/>
              <a:t>MainActivity</a:t>
            </a:r>
            <a:r>
              <a:rPr lang="en-US" dirty="0"/>
              <a:t> (found via the AndroidManifest.xml). Trace the code from </a:t>
            </a:r>
            <a:r>
              <a:rPr lang="en-US" dirty="0" err="1"/>
              <a:t>onCreate</a:t>
            </a:r>
            <a:r>
              <a:rPr lang="en-US" dirty="0"/>
              <a:t>().</a:t>
            </a:r>
          </a:p>
          <a:p>
            <a:pPr lvl="1"/>
            <a:r>
              <a:rPr lang="en-US" dirty="0"/>
              <a:t>Examine other components:</a:t>
            </a:r>
          </a:p>
          <a:p>
            <a:pPr lvl="2"/>
            <a:r>
              <a:rPr lang="en-US" b="1" dirty="0"/>
              <a:t>Services:</a:t>
            </a:r>
            <a:r>
              <a:rPr lang="en-US" dirty="0"/>
              <a:t> Look for long-running background tasks (e.g., </a:t>
            </a:r>
            <a:r>
              <a:rPr lang="en-US" dirty="0" err="1"/>
              <a:t>onStartCommand</a:t>
            </a:r>
            <a:r>
              <a:rPr lang="en-US" dirty="0"/>
              <a:t>). Malware uses these for persistence.</a:t>
            </a:r>
          </a:p>
          <a:p>
            <a:pPr lvl="2"/>
            <a:r>
              <a:rPr lang="en-US" b="1" dirty="0" err="1"/>
              <a:t>BroadcastReceivers</a:t>
            </a:r>
            <a:r>
              <a:rPr lang="en-US" b="1" dirty="0"/>
              <a:t>:</a:t>
            </a:r>
            <a:r>
              <a:rPr lang="en-US" dirty="0"/>
              <a:t> See what system events (e.g., BOOT_COMPLETED) trigger the app's code. BOOT_COMPLETED is a classic persistence mechanism.</a:t>
            </a:r>
          </a:p>
          <a:p>
            <a:pPr lvl="2"/>
            <a:r>
              <a:rPr lang="en-US" b="1" dirty="0" err="1"/>
              <a:t>ContentProviders</a:t>
            </a:r>
            <a:r>
              <a:rPr lang="en-US" b="1" dirty="0"/>
              <a:t>:</a:t>
            </a:r>
            <a:r>
              <a:rPr lang="en-US" dirty="0"/>
              <a:t> Check for data leakage through improperly secured providers.</a:t>
            </a:r>
          </a:p>
          <a:p>
            <a:pPr algn="l"/>
            <a:endParaRPr lang="en-IN" dirty="0"/>
          </a:p>
        </p:txBody>
      </p:sp>
    </p:spTree>
    <p:extLst>
      <p:ext uri="{BB962C8B-B14F-4D97-AF65-F5344CB8AC3E}">
        <p14:creationId xmlns:p14="http://schemas.microsoft.com/office/powerpoint/2010/main" val="19712888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F28FA-8EA3-4DC9-E199-40313870E240}"/>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219BE546-CC11-4FB2-5FD9-C8257DCB1C51}"/>
              </a:ext>
            </a:extLst>
          </p:cNvPr>
          <p:cNvSpPr>
            <a:spLocks noGrp="1"/>
          </p:cNvSpPr>
          <p:nvPr>
            <p:ph type="body" idx="1"/>
          </p:nvPr>
        </p:nvSpPr>
        <p:spPr/>
        <p:txBody>
          <a:bodyPr/>
          <a:lstStyle/>
          <a:p>
            <a:r>
              <a:rPr lang="en-US" b="1" dirty="0"/>
              <a:t>Understand the Malware's "Kill Chain":</a:t>
            </a:r>
            <a:endParaRPr lang="en-US" dirty="0"/>
          </a:p>
          <a:p>
            <a:pPr lvl="1"/>
            <a:r>
              <a:rPr lang="en-US" b="1" dirty="0"/>
              <a:t>Dropper/Payload:</a:t>
            </a:r>
            <a:r>
              <a:rPr lang="en-US" dirty="0"/>
              <a:t> Is the app downloading and executing another APK? Look for code that uses </a:t>
            </a:r>
            <a:r>
              <a:rPr lang="en-US" dirty="0" err="1"/>
              <a:t>PackageManager</a:t>
            </a:r>
            <a:r>
              <a:rPr lang="en-US" dirty="0"/>
              <a:t> to install apps or </a:t>
            </a:r>
            <a:r>
              <a:rPr lang="en-US" dirty="0" err="1"/>
              <a:t>DexClassLoader</a:t>
            </a:r>
            <a:r>
              <a:rPr lang="en-US" dirty="0"/>
              <a:t> to load external code.</a:t>
            </a:r>
          </a:p>
          <a:p>
            <a:pPr lvl="1"/>
            <a:r>
              <a:rPr lang="en-US" b="1" dirty="0"/>
              <a:t>Data Theft:</a:t>
            </a:r>
            <a:r>
              <a:rPr lang="en-US" dirty="0"/>
              <a:t> Is it reading SMS, contacts, or files? Search for </a:t>
            </a:r>
            <a:r>
              <a:rPr lang="en-US" dirty="0" err="1"/>
              <a:t>ContentResolver</a:t>
            </a:r>
            <a:r>
              <a:rPr lang="en-US" dirty="0"/>
              <a:t> queries for content://sms/ or content://contacts/.</a:t>
            </a:r>
          </a:p>
          <a:p>
            <a:pPr lvl="1"/>
            <a:r>
              <a:rPr lang="en-US" b="1" dirty="0"/>
              <a:t>Evasion:</a:t>
            </a:r>
            <a:r>
              <a:rPr lang="en-US" dirty="0"/>
              <a:t> Does it check for </a:t>
            </a:r>
            <a:r>
              <a:rPr lang="en-US" b="1" dirty="0"/>
              <a:t>emulators, rooted devices, or debugging</a:t>
            </a:r>
            <a:r>
              <a:rPr lang="en-US" dirty="0"/>
              <a:t>? Look for checks against Build properties, </a:t>
            </a:r>
            <a:r>
              <a:rPr lang="en-US" b="1" dirty="0" err="1"/>
              <a:t>isDebuggerConnected</a:t>
            </a:r>
            <a:r>
              <a:rPr lang="en-US" dirty="0"/>
              <a:t>(), or the presence of specific files like /system/bin/</a:t>
            </a:r>
            <a:r>
              <a:rPr lang="en-US" dirty="0" err="1"/>
              <a:t>su</a:t>
            </a:r>
            <a:r>
              <a:rPr lang="en-US" dirty="0"/>
              <a:t>.</a:t>
            </a:r>
          </a:p>
          <a:p>
            <a:pPr lvl="1"/>
            <a:r>
              <a:rPr lang="en-US" b="1" dirty="0"/>
              <a:t>Communication:</a:t>
            </a:r>
            <a:r>
              <a:rPr lang="en-US" dirty="0"/>
              <a:t> How does it talk to the C&amp;C server? Analyze the network code, often found in classes with names like </a:t>
            </a:r>
            <a:r>
              <a:rPr lang="en-US" dirty="0" err="1"/>
              <a:t>NetworkUtils</a:t>
            </a:r>
            <a:r>
              <a:rPr lang="en-US" dirty="0"/>
              <a:t>, </a:t>
            </a:r>
            <a:r>
              <a:rPr lang="en-US" dirty="0" err="1"/>
              <a:t>HttpRequest</a:t>
            </a:r>
            <a:r>
              <a:rPr lang="en-US" dirty="0"/>
              <a:t>, or </a:t>
            </a:r>
            <a:r>
              <a:rPr lang="en-US" dirty="0" err="1"/>
              <a:t>CommandHandler</a:t>
            </a:r>
            <a:r>
              <a:rPr lang="en-US" dirty="0"/>
              <a:t>.</a:t>
            </a:r>
          </a:p>
          <a:p>
            <a:endParaRPr lang="en-IN" dirty="0"/>
          </a:p>
        </p:txBody>
      </p:sp>
    </p:spTree>
    <p:extLst>
      <p:ext uri="{BB962C8B-B14F-4D97-AF65-F5344CB8AC3E}">
        <p14:creationId xmlns:p14="http://schemas.microsoft.com/office/powerpoint/2010/main" val="20830693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B1F86-95D2-B7F5-F064-056601603F4A}"/>
              </a:ext>
            </a:extLst>
          </p:cNvPr>
          <p:cNvSpPr>
            <a:spLocks noGrp="1"/>
          </p:cNvSpPr>
          <p:nvPr>
            <p:ph type="title"/>
          </p:nvPr>
        </p:nvSpPr>
        <p:spPr/>
        <p:txBody>
          <a:bodyPr/>
          <a:lstStyle/>
          <a:p>
            <a:r>
              <a:rPr lang="en-IN" sz="2000" dirty="0"/>
              <a:t>Android Malware analysis dynamic analysis (Sandbox)</a:t>
            </a:r>
          </a:p>
        </p:txBody>
      </p:sp>
      <p:sp>
        <p:nvSpPr>
          <p:cNvPr id="3" name="Text Placeholder 2">
            <a:extLst>
              <a:ext uri="{FF2B5EF4-FFF2-40B4-BE49-F238E27FC236}">
                <a16:creationId xmlns:a16="http://schemas.microsoft.com/office/drawing/2014/main" id="{1C021E08-EDB8-1098-BB07-FA041B6B590E}"/>
              </a:ext>
            </a:extLst>
          </p:cNvPr>
          <p:cNvSpPr>
            <a:spLocks noGrp="1"/>
          </p:cNvSpPr>
          <p:nvPr>
            <p:ph type="body" idx="1"/>
          </p:nvPr>
        </p:nvSpPr>
        <p:spPr/>
        <p:txBody>
          <a:bodyPr/>
          <a:lstStyle/>
          <a:p>
            <a:r>
              <a:rPr lang="en-US" dirty="0"/>
              <a:t>Dynamic analysis involves running the malware in an isolated, monitored environment to observe its:</a:t>
            </a:r>
          </a:p>
          <a:p>
            <a:pPr marL="425450" indent="-285750">
              <a:buFont typeface="Arial" panose="020B0604020202020204" pitchFamily="34" charset="0"/>
              <a:buChar char="•"/>
            </a:pPr>
            <a:r>
              <a:rPr lang="en-US" b="1" dirty="0"/>
              <a:t>Network communications</a:t>
            </a:r>
            <a:endParaRPr lang="en-US" dirty="0"/>
          </a:p>
          <a:p>
            <a:pPr marL="425450" indent="-285750">
              <a:buFont typeface="Arial" panose="020B0604020202020204" pitchFamily="34" charset="0"/>
              <a:buChar char="•"/>
            </a:pPr>
            <a:r>
              <a:rPr lang="en-US" b="1" dirty="0"/>
              <a:t>File system operations</a:t>
            </a:r>
            <a:endParaRPr lang="en-US" dirty="0"/>
          </a:p>
          <a:p>
            <a:pPr marL="425450" indent="-285750">
              <a:buFont typeface="Arial" panose="020B0604020202020204" pitchFamily="34" charset="0"/>
              <a:buChar char="•"/>
            </a:pPr>
            <a:r>
              <a:rPr lang="en-US" b="1" dirty="0"/>
              <a:t>API calls</a:t>
            </a:r>
            <a:endParaRPr lang="en-US" dirty="0"/>
          </a:p>
          <a:p>
            <a:pPr marL="425450" indent="-285750">
              <a:buFont typeface="Arial" panose="020B0604020202020204" pitchFamily="34" charset="0"/>
              <a:buChar char="•"/>
            </a:pPr>
            <a:r>
              <a:rPr lang="en-US" b="1" dirty="0"/>
              <a:t>System interactions</a:t>
            </a:r>
            <a:endParaRPr lang="en-US" dirty="0"/>
          </a:p>
          <a:p>
            <a:pPr marL="425450" indent="-285750">
              <a:buFont typeface="Arial" panose="020B0604020202020204" pitchFamily="34" charset="0"/>
              <a:buChar char="•"/>
            </a:pPr>
            <a:r>
              <a:rPr lang="en-US" b="1" dirty="0"/>
              <a:t>User interface behavior</a:t>
            </a:r>
            <a:endParaRPr lang="en-US" dirty="0"/>
          </a:p>
          <a:p>
            <a:endParaRPr lang="en-IN" dirty="0"/>
          </a:p>
        </p:txBody>
      </p:sp>
    </p:spTree>
    <p:extLst>
      <p:ext uri="{BB962C8B-B14F-4D97-AF65-F5344CB8AC3E}">
        <p14:creationId xmlns:p14="http://schemas.microsoft.com/office/powerpoint/2010/main" val="3609512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BE1AE-25C5-C5F7-3D5F-805E3FE3C882}"/>
              </a:ext>
            </a:extLst>
          </p:cNvPr>
          <p:cNvSpPr>
            <a:spLocks noGrp="1"/>
          </p:cNvSpPr>
          <p:nvPr>
            <p:ph type="title"/>
          </p:nvPr>
        </p:nvSpPr>
        <p:spPr/>
        <p:txBody>
          <a:bodyPr/>
          <a:lstStyle/>
          <a:p>
            <a:r>
              <a:rPr lang="en-US" sz="2400" dirty="0"/>
              <a:t>Why Dynamic Analysis for Android Malware?</a:t>
            </a:r>
            <a:br>
              <a:rPr lang="en-US" sz="2400" dirty="0"/>
            </a:br>
            <a:endParaRPr lang="en-IN" sz="2400" dirty="0"/>
          </a:p>
        </p:txBody>
      </p:sp>
      <p:sp>
        <p:nvSpPr>
          <p:cNvPr id="3" name="Text Placeholder 2">
            <a:extLst>
              <a:ext uri="{FF2B5EF4-FFF2-40B4-BE49-F238E27FC236}">
                <a16:creationId xmlns:a16="http://schemas.microsoft.com/office/drawing/2014/main" id="{7E5BA754-E193-59D7-0AA9-60E071CA9D96}"/>
              </a:ext>
            </a:extLst>
          </p:cNvPr>
          <p:cNvSpPr>
            <a:spLocks noGrp="1"/>
          </p:cNvSpPr>
          <p:nvPr>
            <p:ph type="body" idx="1"/>
          </p:nvPr>
        </p:nvSpPr>
        <p:spPr/>
        <p:txBody>
          <a:bodyPr/>
          <a:lstStyle/>
          <a:p>
            <a:r>
              <a:rPr lang="en-US" sz="2000" dirty="0"/>
              <a:t>Static analysis can be defeated by:</a:t>
            </a:r>
          </a:p>
          <a:p>
            <a:pPr lvl="1"/>
            <a:r>
              <a:rPr lang="en-US" sz="1800" b="1" dirty="0"/>
              <a:t>Obfuscation</a:t>
            </a:r>
            <a:r>
              <a:rPr lang="en-US" sz="1800" dirty="0"/>
              <a:t> (renaming, encryption, packing)</a:t>
            </a:r>
          </a:p>
          <a:p>
            <a:pPr lvl="1"/>
            <a:r>
              <a:rPr lang="en-US" sz="1800" b="1" dirty="0"/>
              <a:t>Native code</a:t>
            </a:r>
            <a:r>
              <a:rPr lang="en-US" sz="1800" dirty="0"/>
              <a:t> (C/C++ libraries)</a:t>
            </a:r>
          </a:p>
          <a:p>
            <a:pPr lvl="1"/>
            <a:r>
              <a:rPr lang="en-US" sz="1800" b="1" dirty="0"/>
              <a:t>Runtime loading</a:t>
            </a:r>
            <a:r>
              <a:rPr lang="en-US" sz="1800" dirty="0"/>
              <a:t> (</a:t>
            </a:r>
            <a:r>
              <a:rPr lang="en-US" sz="1800" dirty="0" err="1"/>
              <a:t>DexClassLoader</a:t>
            </a:r>
            <a:r>
              <a:rPr lang="en-US" sz="1800" dirty="0"/>
              <a:t>)</a:t>
            </a:r>
          </a:p>
          <a:p>
            <a:pPr lvl="1"/>
            <a:r>
              <a:rPr lang="en-US" sz="1800" b="1" dirty="0"/>
              <a:t>Conditional logic</a:t>
            </a:r>
            <a:r>
              <a:rPr lang="en-US" sz="1800" dirty="0"/>
              <a:t> (only activates in specific circumstances)</a:t>
            </a:r>
          </a:p>
          <a:p>
            <a:endParaRPr lang="en-US" sz="2000" dirty="0"/>
          </a:p>
          <a:p>
            <a:r>
              <a:rPr lang="en-US" sz="2000" dirty="0"/>
              <a:t>Dynamic analysis reveals what the malware </a:t>
            </a:r>
            <a:r>
              <a:rPr lang="en-US" sz="2000" b="1" dirty="0"/>
              <a:t>actually does</a:t>
            </a:r>
            <a:r>
              <a:rPr lang="en-US" sz="2000" dirty="0"/>
              <a:t> when executed.</a:t>
            </a:r>
          </a:p>
          <a:p>
            <a:endParaRPr lang="en-IN" sz="2000" dirty="0"/>
          </a:p>
        </p:txBody>
      </p:sp>
    </p:spTree>
    <p:extLst>
      <p:ext uri="{BB962C8B-B14F-4D97-AF65-F5344CB8AC3E}">
        <p14:creationId xmlns:p14="http://schemas.microsoft.com/office/powerpoint/2010/main" val="30690781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E33F1-7783-2142-819A-9ABDEA123638}"/>
              </a:ext>
            </a:extLst>
          </p:cNvPr>
          <p:cNvSpPr>
            <a:spLocks noGrp="1"/>
          </p:cNvSpPr>
          <p:nvPr>
            <p:ph type="title"/>
          </p:nvPr>
        </p:nvSpPr>
        <p:spPr/>
        <p:txBody>
          <a:bodyPr/>
          <a:lstStyle/>
          <a:p>
            <a:r>
              <a:rPr lang="en-IN" sz="2400" dirty="0"/>
              <a:t>Dynamic Analysis Setup &amp; Sandbox Environments</a:t>
            </a:r>
            <a:br>
              <a:rPr lang="en-IN" sz="2400" dirty="0"/>
            </a:br>
            <a:endParaRPr lang="en-IN" sz="2400" dirty="0"/>
          </a:p>
        </p:txBody>
      </p:sp>
      <p:sp>
        <p:nvSpPr>
          <p:cNvPr id="3" name="Text Placeholder 2">
            <a:extLst>
              <a:ext uri="{FF2B5EF4-FFF2-40B4-BE49-F238E27FC236}">
                <a16:creationId xmlns:a16="http://schemas.microsoft.com/office/drawing/2014/main" id="{04C6C8A5-4649-BCB9-6453-4617076D260E}"/>
              </a:ext>
            </a:extLst>
          </p:cNvPr>
          <p:cNvSpPr>
            <a:spLocks noGrp="1"/>
          </p:cNvSpPr>
          <p:nvPr>
            <p:ph type="body" idx="1"/>
          </p:nvPr>
        </p:nvSpPr>
        <p:spPr/>
        <p:txBody>
          <a:bodyPr/>
          <a:lstStyle/>
          <a:p>
            <a:r>
              <a:rPr lang="en-US" b="1" dirty="0"/>
              <a:t>Step 0: Critical Safety Precautions</a:t>
            </a:r>
          </a:p>
          <a:p>
            <a:r>
              <a:rPr lang="en-US" dirty="0"/>
              <a:t>⚠️ </a:t>
            </a:r>
            <a:r>
              <a:rPr lang="en-US" b="1" dirty="0"/>
              <a:t>NEVER run malware on your personal device or primary network!</a:t>
            </a:r>
            <a:endParaRPr lang="en-US" dirty="0"/>
          </a:p>
          <a:p>
            <a:r>
              <a:rPr lang="en-US" b="1" dirty="0"/>
              <a:t>Isolated Lab Environment:</a:t>
            </a:r>
            <a:endParaRPr lang="en-US" dirty="0"/>
          </a:p>
          <a:p>
            <a:pPr lvl="1"/>
            <a:r>
              <a:rPr lang="en-US" dirty="0"/>
              <a:t>Use a dedicated physical machine or virtual machine</a:t>
            </a:r>
          </a:p>
          <a:p>
            <a:pPr lvl="1"/>
            <a:r>
              <a:rPr lang="en-US" dirty="0"/>
              <a:t>Isolate from your main network (air-gapped or separate VLAN)</a:t>
            </a:r>
          </a:p>
          <a:p>
            <a:pPr lvl="1"/>
            <a:r>
              <a:rPr lang="en-US" dirty="0"/>
              <a:t>Consider using a "throwaway" Google account if needed</a:t>
            </a:r>
          </a:p>
          <a:p>
            <a:r>
              <a:rPr lang="en-US" b="1" dirty="0"/>
              <a:t>Network Isolation:</a:t>
            </a:r>
            <a:endParaRPr lang="en-US" dirty="0"/>
          </a:p>
          <a:p>
            <a:pPr lvl="1"/>
            <a:r>
              <a:rPr lang="en-US" dirty="0"/>
              <a:t>Use a dedicated analysis network</a:t>
            </a:r>
          </a:p>
          <a:p>
            <a:pPr lvl="1"/>
            <a:r>
              <a:rPr lang="en-US" dirty="0"/>
              <a:t>Consider using </a:t>
            </a:r>
            <a:r>
              <a:rPr lang="en-US" b="1" dirty="0" err="1"/>
              <a:t>InetSim</a:t>
            </a:r>
            <a:r>
              <a:rPr lang="en-US" dirty="0"/>
              <a:t> or </a:t>
            </a:r>
            <a:r>
              <a:rPr lang="en-US" b="1" dirty="0" err="1"/>
              <a:t>FakeNet</a:t>
            </a:r>
            <a:r>
              <a:rPr lang="en-US" dirty="0"/>
              <a:t> to simulate internet services</a:t>
            </a:r>
          </a:p>
          <a:p>
            <a:pPr lvl="1"/>
            <a:r>
              <a:rPr lang="en-US" dirty="0"/>
              <a:t>Use firewall rules to prevent accidental C2 callbacks to real victims</a:t>
            </a:r>
          </a:p>
          <a:p>
            <a:endParaRPr lang="en-IN" dirty="0"/>
          </a:p>
        </p:txBody>
      </p:sp>
    </p:spTree>
    <p:extLst>
      <p:ext uri="{BB962C8B-B14F-4D97-AF65-F5344CB8AC3E}">
        <p14:creationId xmlns:p14="http://schemas.microsoft.com/office/powerpoint/2010/main" val="19895605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78596-AFEF-B11C-0ECA-4515543A0534}"/>
              </a:ext>
            </a:extLst>
          </p:cNvPr>
          <p:cNvSpPr>
            <a:spLocks noGrp="1"/>
          </p:cNvSpPr>
          <p:nvPr>
            <p:ph type="title"/>
          </p:nvPr>
        </p:nvSpPr>
        <p:spPr>
          <a:xfrm>
            <a:off x="720000" y="135309"/>
            <a:ext cx="7704000" cy="572700"/>
          </a:xfrm>
        </p:spPr>
        <p:txBody>
          <a:bodyPr/>
          <a:lstStyle/>
          <a:p>
            <a:r>
              <a:rPr lang="en-IN" dirty="0"/>
              <a:t>Types of Sandboxes</a:t>
            </a:r>
            <a:br>
              <a:rPr lang="en-IN" dirty="0"/>
            </a:br>
            <a:endParaRPr lang="en-IN" dirty="0"/>
          </a:p>
        </p:txBody>
      </p:sp>
      <p:sp>
        <p:nvSpPr>
          <p:cNvPr id="3" name="Text Placeholder 2">
            <a:extLst>
              <a:ext uri="{FF2B5EF4-FFF2-40B4-BE49-F238E27FC236}">
                <a16:creationId xmlns:a16="http://schemas.microsoft.com/office/drawing/2014/main" id="{D0BCC5EE-349D-CB00-9D3C-3D5659338DB2}"/>
              </a:ext>
            </a:extLst>
          </p:cNvPr>
          <p:cNvSpPr>
            <a:spLocks noGrp="1"/>
          </p:cNvSpPr>
          <p:nvPr>
            <p:ph type="body" idx="1"/>
          </p:nvPr>
        </p:nvSpPr>
        <p:spPr>
          <a:xfrm>
            <a:off x="720000" y="768383"/>
            <a:ext cx="7704000" cy="3388200"/>
          </a:xfrm>
        </p:spPr>
        <p:txBody>
          <a:bodyPr/>
          <a:lstStyle/>
          <a:p>
            <a:r>
              <a:rPr lang="en-US" dirty="0"/>
              <a:t>Sandboxing is a security practice that isolates programs or files in a virtual environment to safely analyze them without risking the rest of a system.</a:t>
            </a:r>
            <a:endParaRPr lang="en-IN" b="1" dirty="0"/>
          </a:p>
          <a:p>
            <a:r>
              <a:rPr lang="en-IN" b="1" dirty="0"/>
              <a:t>1. Local Emulator Sandboxes</a:t>
            </a:r>
          </a:p>
          <a:p>
            <a:pPr lvl="1"/>
            <a:r>
              <a:rPr lang="en-IN" b="1" dirty="0"/>
              <a:t>Android Studio Emulator</a:t>
            </a:r>
            <a:r>
              <a:rPr lang="en-IN" dirty="0"/>
              <a:t> - Official Google emulator</a:t>
            </a:r>
          </a:p>
          <a:p>
            <a:pPr lvl="1"/>
            <a:r>
              <a:rPr lang="en-IN" b="1" dirty="0" err="1"/>
              <a:t>Genymotion</a:t>
            </a:r>
            <a:r>
              <a:rPr lang="en-IN" dirty="0"/>
              <a:t> - Commercial, high-performance</a:t>
            </a:r>
          </a:p>
          <a:p>
            <a:pPr lvl="1"/>
            <a:r>
              <a:rPr lang="en-IN" b="1" dirty="0"/>
              <a:t>Use Case:</a:t>
            </a:r>
            <a:r>
              <a:rPr lang="en-IN" dirty="0"/>
              <a:t> Basic dynamic analysis, controlled environments</a:t>
            </a:r>
          </a:p>
          <a:p>
            <a:r>
              <a:rPr lang="en-IN" b="1" dirty="0"/>
              <a:t>2. Physical Device Sandboxes</a:t>
            </a:r>
          </a:p>
          <a:p>
            <a:pPr lvl="1"/>
            <a:r>
              <a:rPr lang="en-IN" b="1" dirty="0"/>
              <a:t>Rooted Android Phones</a:t>
            </a:r>
            <a:r>
              <a:rPr lang="en-IN" dirty="0"/>
              <a:t> - Actual hardware with monitoring tools</a:t>
            </a:r>
          </a:p>
          <a:p>
            <a:pPr lvl="1"/>
            <a:r>
              <a:rPr lang="en-IN" b="1" dirty="0"/>
              <a:t>Use Case:</a:t>
            </a:r>
            <a:r>
              <a:rPr lang="en-IN" dirty="0"/>
              <a:t> Bypassing emulator detection, realistic analysis</a:t>
            </a:r>
          </a:p>
          <a:p>
            <a:r>
              <a:rPr lang="en-IN" b="1" dirty="0"/>
              <a:t>3. Cloud Sandboxes</a:t>
            </a:r>
          </a:p>
          <a:p>
            <a:pPr lvl="1"/>
            <a:r>
              <a:rPr lang="en-IN" b="1" dirty="0" err="1"/>
              <a:t>Any.run</a:t>
            </a:r>
            <a:r>
              <a:rPr lang="en-IN" dirty="0"/>
              <a:t> - Interactive, real-time control</a:t>
            </a:r>
          </a:p>
          <a:p>
            <a:pPr lvl="1"/>
            <a:r>
              <a:rPr lang="en-IN" b="1" dirty="0"/>
              <a:t>Joe Sandbox</a:t>
            </a:r>
            <a:r>
              <a:rPr lang="en-IN" dirty="0"/>
              <a:t> - Enterprise-grade analysis</a:t>
            </a:r>
          </a:p>
          <a:p>
            <a:pPr lvl="1"/>
            <a:r>
              <a:rPr lang="en-IN" b="1" dirty="0"/>
              <a:t>Use Case:</a:t>
            </a:r>
            <a:r>
              <a:rPr lang="en-IN" dirty="0"/>
              <a:t> Quick analysis without local setup</a:t>
            </a:r>
          </a:p>
          <a:p>
            <a:r>
              <a:rPr lang="en-IN" b="1" dirty="0"/>
              <a:t>4. Open-Source Sandboxes</a:t>
            </a:r>
          </a:p>
          <a:p>
            <a:pPr lvl="1"/>
            <a:r>
              <a:rPr lang="en-IN" b="1" dirty="0" err="1"/>
              <a:t>MobSF</a:t>
            </a:r>
            <a:r>
              <a:rPr lang="en-IN" dirty="0"/>
              <a:t> - All-in-one static + dynamic analysis</a:t>
            </a:r>
          </a:p>
          <a:p>
            <a:pPr lvl="1"/>
            <a:r>
              <a:rPr lang="en-IN" b="1" dirty="0" err="1"/>
              <a:t>DroidBox</a:t>
            </a:r>
            <a:r>
              <a:rPr lang="en-IN" dirty="0"/>
              <a:t> - </a:t>
            </a:r>
            <a:r>
              <a:rPr lang="en-IN" dirty="0" err="1"/>
              <a:t>Behavioral</a:t>
            </a:r>
            <a:r>
              <a:rPr lang="en-IN" dirty="0"/>
              <a:t> analysis focused</a:t>
            </a:r>
          </a:p>
          <a:p>
            <a:pPr lvl="1"/>
            <a:r>
              <a:rPr lang="en-IN" b="1" dirty="0"/>
              <a:t>Use Case:</a:t>
            </a:r>
            <a:r>
              <a:rPr lang="en-IN" dirty="0"/>
              <a:t> Self-hosted, customizable analysis</a:t>
            </a:r>
          </a:p>
        </p:txBody>
      </p:sp>
    </p:spTree>
    <p:extLst>
      <p:ext uri="{BB962C8B-B14F-4D97-AF65-F5344CB8AC3E}">
        <p14:creationId xmlns:p14="http://schemas.microsoft.com/office/powerpoint/2010/main" val="3134914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3B646-F5B3-81B4-CAEA-F687592514A8}"/>
              </a:ext>
            </a:extLst>
          </p:cNvPr>
          <p:cNvSpPr>
            <a:spLocks noGrp="1"/>
          </p:cNvSpPr>
          <p:nvPr>
            <p:ph type="title"/>
          </p:nvPr>
        </p:nvSpPr>
        <p:spPr/>
        <p:txBody>
          <a:bodyPr/>
          <a:lstStyle/>
          <a:p>
            <a:r>
              <a:rPr lang="en-US" sz="1800" b="0" dirty="0"/>
              <a:t> Reverse-Engineering Obfuscated Applications (</a:t>
            </a:r>
            <a:r>
              <a:rPr lang="en-US" sz="1800" b="0" dirty="0" err="1"/>
              <a:t>jadx</a:t>
            </a:r>
            <a:r>
              <a:rPr lang="en-US" sz="1800" b="0" dirty="0"/>
              <a:t>, </a:t>
            </a:r>
            <a:r>
              <a:rPr lang="en-US" sz="1800" b="0" dirty="0" err="1"/>
              <a:t>Ghidra</a:t>
            </a:r>
            <a:r>
              <a:rPr lang="en-US" sz="1800" b="0" dirty="0"/>
              <a:t>)</a:t>
            </a:r>
            <a:endParaRPr lang="en-IN" sz="1800" dirty="0"/>
          </a:p>
        </p:txBody>
      </p:sp>
      <p:sp>
        <p:nvSpPr>
          <p:cNvPr id="3" name="Text Placeholder 2">
            <a:extLst>
              <a:ext uri="{FF2B5EF4-FFF2-40B4-BE49-F238E27FC236}">
                <a16:creationId xmlns:a16="http://schemas.microsoft.com/office/drawing/2014/main" id="{9F5D3876-16A9-0AA7-618E-4680286074E8}"/>
              </a:ext>
            </a:extLst>
          </p:cNvPr>
          <p:cNvSpPr>
            <a:spLocks noGrp="1"/>
          </p:cNvSpPr>
          <p:nvPr>
            <p:ph type="body" idx="1"/>
          </p:nvPr>
        </p:nvSpPr>
        <p:spPr/>
        <p:txBody>
          <a:bodyPr/>
          <a:lstStyle/>
          <a:p>
            <a:r>
              <a:rPr lang="en-US" dirty="0"/>
              <a:t>When reverse-engineering obfuscated applications, the techniques and tools used depend on the platform and nature of the obfuscation. JADX is primarily for Android applications, while </a:t>
            </a:r>
            <a:r>
              <a:rPr lang="en-US" dirty="0" err="1"/>
              <a:t>Ghidra</a:t>
            </a:r>
            <a:r>
              <a:rPr lang="en-US" dirty="0"/>
              <a:t> is a multi-purpose tool for analyzing compiled code</a:t>
            </a:r>
          </a:p>
          <a:p>
            <a:r>
              <a:rPr lang="en-US" b="1" dirty="0"/>
              <a:t>Using JADX for obfuscated Android applications: </a:t>
            </a:r>
            <a:r>
              <a:rPr lang="en-US" dirty="0"/>
              <a:t>JADX is a </a:t>
            </a:r>
            <a:r>
              <a:rPr lang="en-US" dirty="0" err="1"/>
              <a:t>decompiler</a:t>
            </a:r>
            <a:r>
              <a:rPr lang="en-US" dirty="0"/>
              <a:t> that converts Android DEX bytecode (the format used by Android apps) into human-readable Java source code. </a:t>
            </a:r>
          </a:p>
          <a:p>
            <a:r>
              <a:rPr lang="en-US" b="1" dirty="0"/>
              <a:t>Common obfuscation challenges</a:t>
            </a:r>
            <a:endParaRPr lang="en-US" dirty="0"/>
          </a:p>
          <a:p>
            <a:pPr lvl="1"/>
            <a:r>
              <a:rPr lang="en-US" b="1" dirty="0"/>
              <a:t>Renaming:</a:t>
            </a:r>
            <a:r>
              <a:rPr lang="en-US" dirty="0"/>
              <a:t> Obfuscators change meaningful class, method, and variable names to short</a:t>
            </a:r>
          </a:p>
          <a:p>
            <a:pPr lvl="1"/>
            <a:r>
              <a:rPr lang="en-US" b="1" dirty="0"/>
              <a:t>String encryption:</a:t>
            </a:r>
            <a:r>
              <a:rPr lang="en-US" dirty="0"/>
              <a:t> Important strings, like API keys or URLs, are often encrypted. </a:t>
            </a:r>
          </a:p>
          <a:p>
            <a:pPr lvl="1"/>
            <a:r>
              <a:rPr lang="en-US" b="1" dirty="0"/>
              <a:t>Control flow obfuscation:</a:t>
            </a:r>
            <a:r>
              <a:rPr lang="en-US" dirty="0"/>
              <a:t> The code's execution path is intentionally complicated with extra jumps and traps to confuse </a:t>
            </a:r>
            <a:r>
              <a:rPr lang="en-US" dirty="0" err="1"/>
              <a:t>decompilers</a:t>
            </a:r>
            <a:r>
              <a:rPr lang="en-US" dirty="0"/>
              <a:t>.</a:t>
            </a:r>
            <a:endParaRPr lang="en-IN" dirty="0"/>
          </a:p>
        </p:txBody>
      </p:sp>
    </p:spTree>
    <p:extLst>
      <p:ext uri="{BB962C8B-B14F-4D97-AF65-F5344CB8AC3E}">
        <p14:creationId xmlns:p14="http://schemas.microsoft.com/office/powerpoint/2010/main" val="7693356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F6230-30B9-6E7C-E593-2165351A6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2D63F8-D7C6-EACA-6115-DDFE3A2FF89B}"/>
              </a:ext>
            </a:extLst>
          </p:cNvPr>
          <p:cNvSpPr>
            <a:spLocks noGrp="1"/>
          </p:cNvSpPr>
          <p:nvPr>
            <p:ph type="title"/>
          </p:nvPr>
        </p:nvSpPr>
        <p:spPr/>
        <p:txBody>
          <a:bodyPr/>
          <a:lstStyle/>
          <a:p>
            <a:r>
              <a:rPr lang="en-US" sz="1800" b="0" dirty="0"/>
              <a:t> Reverse-Engineering Obfuscated Applications (</a:t>
            </a:r>
            <a:r>
              <a:rPr lang="en-US" sz="1800" b="0" dirty="0" err="1"/>
              <a:t>jadx</a:t>
            </a:r>
            <a:r>
              <a:rPr lang="en-US" sz="1800" b="0" dirty="0"/>
              <a:t>, </a:t>
            </a:r>
            <a:r>
              <a:rPr lang="en-US" sz="1800" b="0" dirty="0" err="1"/>
              <a:t>Ghidra</a:t>
            </a:r>
            <a:r>
              <a:rPr lang="en-US" sz="1800" b="0" dirty="0"/>
              <a:t>)</a:t>
            </a:r>
            <a:endParaRPr lang="en-IN" sz="1800" dirty="0"/>
          </a:p>
        </p:txBody>
      </p:sp>
      <p:sp>
        <p:nvSpPr>
          <p:cNvPr id="3" name="Text Placeholder 2">
            <a:extLst>
              <a:ext uri="{FF2B5EF4-FFF2-40B4-BE49-F238E27FC236}">
                <a16:creationId xmlns:a16="http://schemas.microsoft.com/office/drawing/2014/main" id="{A897AE14-A34F-DA3A-EB69-3D1EDD7BADB8}"/>
              </a:ext>
            </a:extLst>
          </p:cNvPr>
          <p:cNvSpPr>
            <a:spLocks noGrp="1"/>
          </p:cNvSpPr>
          <p:nvPr>
            <p:ph type="body" idx="1"/>
          </p:nvPr>
        </p:nvSpPr>
        <p:spPr/>
        <p:txBody>
          <a:bodyPr/>
          <a:lstStyle/>
          <a:p>
            <a:r>
              <a:rPr lang="en-US" b="1" dirty="0"/>
              <a:t>Using </a:t>
            </a:r>
            <a:r>
              <a:rPr lang="en-US" b="1" dirty="0" err="1"/>
              <a:t>Ghidra</a:t>
            </a:r>
            <a:r>
              <a:rPr lang="en-US" b="1" dirty="0"/>
              <a:t> for obfuscated applications: </a:t>
            </a:r>
            <a:r>
              <a:rPr lang="en-US" dirty="0" err="1"/>
              <a:t>Ghidra</a:t>
            </a:r>
            <a:r>
              <a:rPr lang="en-US" dirty="0"/>
              <a:t> is a powerful reverse-engineering framework from the NSA for analyzing compiled code across many different CPU architectures. It is used when an application contains native, compiled libraries (e.g., C or C++) which JADX cannot process. </a:t>
            </a:r>
          </a:p>
          <a:p>
            <a:r>
              <a:rPr lang="en-US" b="1" dirty="0"/>
              <a:t>Common obfuscation challenges</a:t>
            </a:r>
            <a:endParaRPr lang="en-US" dirty="0"/>
          </a:p>
          <a:p>
            <a:pPr lvl="1"/>
            <a:r>
              <a:rPr lang="en-US" b="1" dirty="0"/>
              <a:t>Packed binaries:</a:t>
            </a:r>
            <a:r>
              <a:rPr lang="en-US" dirty="0"/>
              <a:t> The binary may be compressed or encrypted to protect it until runtime. You must unpack it first using dynamic analysis or other techniques.</a:t>
            </a:r>
          </a:p>
          <a:p>
            <a:pPr lvl="1"/>
            <a:r>
              <a:rPr lang="en-US" b="1" dirty="0"/>
              <a:t>Control flow flattening:</a:t>
            </a:r>
            <a:r>
              <a:rPr lang="en-US" dirty="0"/>
              <a:t> Similar to Java, control flow can be manipulated to make the program's logic hard to follow in </a:t>
            </a:r>
            <a:r>
              <a:rPr lang="en-US" dirty="0" err="1"/>
              <a:t>Ghidra's</a:t>
            </a:r>
            <a:r>
              <a:rPr lang="en-US" dirty="0"/>
              <a:t> disassembly and decompilation views.</a:t>
            </a:r>
          </a:p>
          <a:p>
            <a:pPr lvl="1"/>
            <a:r>
              <a:rPr lang="en-US" b="1" dirty="0"/>
              <a:t>Indirect calls:</a:t>
            </a:r>
            <a:r>
              <a:rPr lang="en-US" dirty="0"/>
              <a:t> Instead of calling a function directly, the program may use a complex chain of instructions to calculate the function's address at runtime, making static analysis difficult. </a:t>
            </a:r>
          </a:p>
        </p:txBody>
      </p:sp>
    </p:spTree>
    <p:extLst>
      <p:ext uri="{BB962C8B-B14F-4D97-AF65-F5344CB8AC3E}">
        <p14:creationId xmlns:p14="http://schemas.microsoft.com/office/powerpoint/2010/main" val="2463687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8E7AF-D7D1-5FB7-F3E3-3066527DB400}"/>
              </a:ext>
            </a:extLst>
          </p:cNvPr>
          <p:cNvSpPr>
            <a:spLocks noGrp="1"/>
          </p:cNvSpPr>
          <p:nvPr>
            <p:ph type="title"/>
          </p:nvPr>
        </p:nvSpPr>
        <p:spPr/>
        <p:txBody>
          <a:bodyPr/>
          <a:lstStyle/>
          <a:p>
            <a:r>
              <a:rPr lang="en-IN" sz="2800" b="0" dirty="0"/>
              <a:t> RAT for Mobile </a:t>
            </a:r>
            <a:endParaRPr lang="en-IN" sz="2800" dirty="0"/>
          </a:p>
        </p:txBody>
      </p:sp>
      <p:sp>
        <p:nvSpPr>
          <p:cNvPr id="3" name="Text Placeholder 2">
            <a:extLst>
              <a:ext uri="{FF2B5EF4-FFF2-40B4-BE49-F238E27FC236}">
                <a16:creationId xmlns:a16="http://schemas.microsoft.com/office/drawing/2014/main" id="{0AC92106-F165-CEA9-251C-F6DEA05BEF9F}"/>
              </a:ext>
            </a:extLst>
          </p:cNvPr>
          <p:cNvSpPr>
            <a:spLocks noGrp="1"/>
          </p:cNvSpPr>
          <p:nvPr>
            <p:ph type="body" idx="1"/>
          </p:nvPr>
        </p:nvSpPr>
        <p:spPr/>
        <p:txBody>
          <a:bodyPr/>
          <a:lstStyle/>
          <a:p>
            <a:r>
              <a:rPr lang="en-US" dirty="0"/>
              <a:t>A Remote Access Trojan (RAT) is a type of malware that grants an attacker </a:t>
            </a:r>
            <a:r>
              <a:rPr lang="en-US" b="1" dirty="0"/>
              <a:t>administrative-level control </a:t>
            </a:r>
            <a:r>
              <a:rPr lang="en-US" dirty="0"/>
              <a:t>over an </a:t>
            </a:r>
            <a:r>
              <a:rPr lang="en-US" b="1" dirty="0"/>
              <a:t>infected computer </a:t>
            </a:r>
            <a:r>
              <a:rPr lang="en-US" dirty="0"/>
              <a:t>or </a:t>
            </a:r>
            <a:r>
              <a:rPr lang="en-US" b="1"/>
              <a:t>network device.</a:t>
            </a:r>
            <a:endParaRPr lang="en-US" b="1" dirty="0"/>
          </a:p>
          <a:p>
            <a:r>
              <a:rPr lang="en-US" dirty="0"/>
              <a:t>Like other trojans, a RAT disguises itself as legitimate software to trick users into downloading and installing it. Once the malware is installed, the attacker can operate the compromised machine covertly and without the user's knowledge</a:t>
            </a:r>
            <a:endParaRPr lang="en-IN" dirty="0"/>
          </a:p>
        </p:txBody>
      </p:sp>
    </p:spTree>
    <p:extLst>
      <p:ext uri="{BB962C8B-B14F-4D97-AF65-F5344CB8AC3E}">
        <p14:creationId xmlns:p14="http://schemas.microsoft.com/office/powerpoint/2010/main" val="5145179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E9B47-C1E2-6116-53DE-0924215402F1}"/>
              </a:ext>
            </a:extLst>
          </p:cNvPr>
          <p:cNvSpPr>
            <a:spLocks noGrp="1"/>
          </p:cNvSpPr>
          <p:nvPr>
            <p:ph type="title"/>
          </p:nvPr>
        </p:nvSpPr>
        <p:spPr>
          <a:xfrm>
            <a:off x="665923" y="125477"/>
            <a:ext cx="7704000" cy="572700"/>
          </a:xfrm>
        </p:spPr>
        <p:txBody>
          <a:bodyPr/>
          <a:lstStyle/>
          <a:p>
            <a:r>
              <a:rPr lang="en-IN" dirty="0"/>
              <a:t>How Remote Access Trojans Work</a:t>
            </a:r>
            <a:br>
              <a:rPr lang="en-IN" dirty="0"/>
            </a:br>
            <a:endParaRPr lang="en-IN" dirty="0"/>
          </a:p>
        </p:txBody>
      </p:sp>
      <p:sp>
        <p:nvSpPr>
          <p:cNvPr id="3" name="Text Placeholder 2">
            <a:extLst>
              <a:ext uri="{FF2B5EF4-FFF2-40B4-BE49-F238E27FC236}">
                <a16:creationId xmlns:a16="http://schemas.microsoft.com/office/drawing/2014/main" id="{650727AC-0AF1-43FD-DCB8-17B4A63234E6}"/>
              </a:ext>
            </a:extLst>
          </p:cNvPr>
          <p:cNvSpPr>
            <a:spLocks noGrp="1"/>
          </p:cNvSpPr>
          <p:nvPr>
            <p:ph type="body" idx="1"/>
          </p:nvPr>
        </p:nvSpPr>
        <p:spPr>
          <a:xfrm>
            <a:off x="720000" y="812627"/>
            <a:ext cx="7704000" cy="3388200"/>
          </a:xfrm>
        </p:spPr>
        <p:txBody>
          <a:bodyPr/>
          <a:lstStyle/>
          <a:p>
            <a:r>
              <a:rPr lang="en-US" b="1" dirty="0"/>
              <a:t>How a RAT works: </a:t>
            </a:r>
            <a:r>
              <a:rPr lang="en-US" dirty="0"/>
              <a:t>A RAT infection typically unfolds in three stages: </a:t>
            </a:r>
          </a:p>
          <a:p>
            <a:pPr marL="482600" indent="-342900">
              <a:buFont typeface="+mj-lt"/>
              <a:buAutoNum type="arabicPeriod"/>
            </a:pPr>
            <a:r>
              <a:rPr lang="en-US" b="1" dirty="0"/>
              <a:t>Infection:</a:t>
            </a:r>
            <a:r>
              <a:rPr lang="en-US" dirty="0"/>
              <a:t> The RAT is delivered to the target's device through social engineering tactics, such as phishing emails, malicious links, or bundled downloads with seemingly harmless software.</a:t>
            </a:r>
          </a:p>
          <a:p>
            <a:pPr marL="482600" indent="-342900">
              <a:buFont typeface="+mj-lt"/>
              <a:buAutoNum type="arabicPeriod"/>
            </a:pPr>
            <a:r>
              <a:rPr lang="en-US" b="1" dirty="0"/>
              <a:t>Installation and backdoor:</a:t>
            </a:r>
            <a:r>
              <a:rPr lang="en-US" dirty="0"/>
              <a:t> Once executed by the victim, the RAT installs itself and opens a "backdoor" into the system. It often disguises itself as a legitimate file or service to evade detection by the user and security software.</a:t>
            </a:r>
          </a:p>
          <a:p>
            <a:pPr marL="482600" indent="-342900">
              <a:buFont typeface="+mj-lt"/>
              <a:buAutoNum type="arabicPeriod"/>
            </a:pPr>
            <a:r>
              <a:rPr lang="en-US" b="1" dirty="0"/>
              <a:t>Command and control:</a:t>
            </a:r>
            <a:r>
              <a:rPr lang="en-US" dirty="0"/>
              <a:t> The RAT connects to a command-and-control (C&amp;C) server operated by the attacker. This allows the attacker to issue commands and receive stolen data from the infected device</a:t>
            </a:r>
            <a:endParaRPr lang="en-IN" dirty="0"/>
          </a:p>
        </p:txBody>
      </p:sp>
    </p:spTree>
    <p:extLst>
      <p:ext uri="{BB962C8B-B14F-4D97-AF65-F5344CB8AC3E}">
        <p14:creationId xmlns:p14="http://schemas.microsoft.com/office/powerpoint/2010/main" val="23628035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0C1B9-8F42-4195-7360-40F7A4271FDC}"/>
              </a:ext>
            </a:extLst>
          </p:cNvPr>
          <p:cNvSpPr>
            <a:spLocks noGrp="1"/>
          </p:cNvSpPr>
          <p:nvPr>
            <p:ph type="title"/>
          </p:nvPr>
        </p:nvSpPr>
        <p:spPr/>
        <p:txBody>
          <a:bodyPr/>
          <a:lstStyle/>
          <a:p>
            <a:r>
              <a:rPr lang="en-IN" sz="2400" b="0" dirty="0"/>
              <a:t>Countermeasures: </a:t>
            </a:r>
            <a:r>
              <a:rPr lang="en-US" sz="2400" dirty="0"/>
              <a:t>How to protect against RATs</a:t>
            </a:r>
            <a:endParaRPr lang="en-IN" sz="2400" dirty="0"/>
          </a:p>
        </p:txBody>
      </p:sp>
      <p:sp>
        <p:nvSpPr>
          <p:cNvPr id="3" name="Text Placeholder 2">
            <a:extLst>
              <a:ext uri="{FF2B5EF4-FFF2-40B4-BE49-F238E27FC236}">
                <a16:creationId xmlns:a16="http://schemas.microsoft.com/office/drawing/2014/main" id="{81BA1A44-1607-668B-8453-6BAB48E86C2C}"/>
              </a:ext>
            </a:extLst>
          </p:cNvPr>
          <p:cNvSpPr>
            <a:spLocks noGrp="1"/>
          </p:cNvSpPr>
          <p:nvPr>
            <p:ph type="body" idx="1"/>
          </p:nvPr>
        </p:nvSpPr>
        <p:spPr/>
        <p:txBody>
          <a:bodyPr/>
          <a:lstStyle/>
          <a:p>
            <a:r>
              <a:rPr lang="en-US" dirty="0"/>
              <a:t>Protecting against RATs requires a multi-layered security approach:</a:t>
            </a:r>
          </a:p>
          <a:p>
            <a:pPr marL="425450" indent="-285750">
              <a:buFont typeface="Arial" panose="020B0604020202020204" pitchFamily="34" charset="0"/>
              <a:buChar char="•"/>
            </a:pPr>
            <a:r>
              <a:rPr lang="en-US" b="1" dirty="0"/>
              <a:t>Use security software:</a:t>
            </a:r>
            <a:r>
              <a:rPr lang="en-US" dirty="0"/>
              <a:t> Keep antivirus and anti-malware software updated and run regular system scans.</a:t>
            </a:r>
          </a:p>
          <a:p>
            <a:pPr marL="425450" indent="-285750">
              <a:buFont typeface="Arial" panose="020B0604020202020204" pitchFamily="34" charset="0"/>
              <a:buChar char="•"/>
            </a:pPr>
            <a:r>
              <a:rPr lang="en-US" b="1" dirty="0"/>
              <a:t>Update and patch:</a:t>
            </a:r>
            <a:r>
              <a:rPr lang="en-US" dirty="0"/>
              <a:t> Ensure your operating system and all software are kept up to date with the latest security patches to fix vulnerabilities.</a:t>
            </a:r>
          </a:p>
          <a:p>
            <a:pPr marL="425450" indent="-285750">
              <a:buFont typeface="Arial" panose="020B0604020202020204" pitchFamily="34" charset="0"/>
              <a:buChar char="•"/>
            </a:pPr>
            <a:r>
              <a:rPr lang="en-US" b="1" dirty="0"/>
              <a:t>Be careful with downloads:</a:t>
            </a:r>
            <a:r>
              <a:rPr lang="en-US" dirty="0"/>
              <a:t> Practice caution when opening email attachments or downloading files from unknown or untrusted sources.</a:t>
            </a:r>
          </a:p>
          <a:p>
            <a:pPr marL="425450" indent="-285750">
              <a:buFont typeface="Arial" panose="020B0604020202020204" pitchFamily="34" charset="0"/>
              <a:buChar char="•"/>
            </a:pPr>
            <a:r>
              <a:rPr lang="en-US" b="1" dirty="0"/>
              <a:t>Practice safe browsing:</a:t>
            </a:r>
            <a:r>
              <a:rPr lang="en-US" dirty="0"/>
              <a:t> Avoid clicking on suspicious links or pop-ups.</a:t>
            </a:r>
          </a:p>
          <a:p>
            <a:pPr marL="425450" indent="-285750">
              <a:buFont typeface="Arial" panose="020B0604020202020204" pitchFamily="34" charset="0"/>
              <a:buChar char="•"/>
            </a:pPr>
            <a:r>
              <a:rPr lang="en-US" b="1" dirty="0"/>
              <a:t>Monitor for signs of infection:</a:t>
            </a:r>
            <a:r>
              <a:rPr lang="en-US" dirty="0"/>
              <a:t> Watch for signs of a RAT infection, such as unusually high network traffic, a slow computer, or unexplained system changes. </a:t>
            </a:r>
          </a:p>
          <a:p>
            <a:endParaRPr lang="en-IN" dirty="0"/>
          </a:p>
        </p:txBody>
      </p:sp>
    </p:spTree>
    <p:extLst>
      <p:ext uri="{BB962C8B-B14F-4D97-AF65-F5344CB8AC3E}">
        <p14:creationId xmlns:p14="http://schemas.microsoft.com/office/powerpoint/2010/main" val="25312286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4">
          <a:extLst>
            <a:ext uri="{FF2B5EF4-FFF2-40B4-BE49-F238E27FC236}">
              <a16:creationId xmlns:a16="http://schemas.microsoft.com/office/drawing/2014/main" id="{124CBE0C-D32E-7171-E1DF-654B1B0F92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E5949E3-BE16-E08B-E02F-BDF80C7EDEC3}"/>
              </a:ext>
            </a:extLst>
          </p:cNvPr>
          <p:cNvSpPr txBox="1"/>
          <p:nvPr/>
        </p:nvSpPr>
        <p:spPr>
          <a:xfrm>
            <a:off x="709613" y="1443038"/>
            <a:ext cx="8434387" cy="1938992"/>
          </a:xfrm>
          <a:prstGeom prst="rect">
            <a:avLst/>
          </a:prstGeom>
          <a:noFill/>
        </p:spPr>
        <p:txBody>
          <a:bodyPr wrap="square" rtlCol="0">
            <a:spAutoFit/>
          </a:bodyPr>
          <a:lstStyle/>
          <a:p>
            <a:pPr algn="ctr"/>
            <a:b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br>
            <a: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t> Cloud Security </a:t>
            </a:r>
            <a:b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br>
            <a:endParaRPr lang="en-IN" sz="40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781931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F411-6B9F-3C55-996B-BB8ACE6EC07E}"/>
              </a:ext>
            </a:extLst>
          </p:cNvPr>
          <p:cNvSpPr>
            <a:spLocks noGrp="1"/>
          </p:cNvSpPr>
          <p:nvPr>
            <p:ph type="title"/>
          </p:nvPr>
        </p:nvSpPr>
        <p:spPr/>
        <p:txBody>
          <a:bodyPr/>
          <a:lstStyle/>
          <a:p>
            <a:r>
              <a:rPr lang="en-IN" b="0" dirty="0"/>
              <a:t> Introduction to cloud computing</a:t>
            </a:r>
            <a:br>
              <a:rPr lang="en-IN" b="0" dirty="0"/>
            </a:br>
            <a:endParaRPr lang="en-IN" dirty="0"/>
          </a:p>
        </p:txBody>
      </p:sp>
      <p:sp>
        <p:nvSpPr>
          <p:cNvPr id="3" name="Text Placeholder 2">
            <a:extLst>
              <a:ext uri="{FF2B5EF4-FFF2-40B4-BE49-F238E27FC236}">
                <a16:creationId xmlns:a16="http://schemas.microsoft.com/office/drawing/2014/main" id="{0BECB6FD-A6F4-E743-0295-6711D9C4E074}"/>
              </a:ext>
            </a:extLst>
          </p:cNvPr>
          <p:cNvSpPr>
            <a:spLocks noGrp="1"/>
          </p:cNvSpPr>
          <p:nvPr>
            <p:ph type="body" idx="1"/>
          </p:nvPr>
        </p:nvSpPr>
        <p:spPr/>
        <p:txBody>
          <a:bodyPr/>
          <a:lstStyle/>
          <a:p>
            <a:r>
              <a:rPr lang="en-US" sz="2000" dirty="0"/>
              <a:t>Cloud computing is a model for enabling convenient, on-demand network access to a shared pool of configurable computing resources that can be rapidly provisioned and released with minimal management effort or service provider interaction.</a:t>
            </a:r>
          </a:p>
          <a:p>
            <a:r>
              <a:rPr lang="en-US" sz="2000" dirty="0"/>
              <a:t>It allows users to access and use resources without needing to own or manage the underlying infrastructure physically.</a:t>
            </a:r>
            <a:endParaRPr lang="en-IN" sz="2000" dirty="0"/>
          </a:p>
        </p:txBody>
      </p:sp>
    </p:spTree>
    <p:extLst>
      <p:ext uri="{BB962C8B-B14F-4D97-AF65-F5344CB8AC3E}">
        <p14:creationId xmlns:p14="http://schemas.microsoft.com/office/powerpoint/2010/main" val="40943393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D36F7-DFDB-6A43-DCDF-5961F1CC32BF}"/>
              </a:ext>
            </a:extLst>
          </p:cNvPr>
          <p:cNvSpPr>
            <a:spLocks noGrp="1"/>
          </p:cNvSpPr>
          <p:nvPr>
            <p:ph type="title"/>
          </p:nvPr>
        </p:nvSpPr>
        <p:spPr/>
        <p:txBody>
          <a:bodyPr/>
          <a:lstStyle/>
          <a:p>
            <a:r>
              <a:rPr lang="en-IN" dirty="0"/>
              <a:t>Key Characteristics</a:t>
            </a:r>
          </a:p>
        </p:txBody>
      </p:sp>
      <p:sp>
        <p:nvSpPr>
          <p:cNvPr id="3" name="Text Placeholder 2">
            <a:extLst>
              <a:ext uri="{FF2B5EF4-FFF2-40B4-BE49-F238E27FC236}">
                <a16:creationId xmlns:a16="http://schemas.microsoft.com/office/drawing/2014/main" id="{993AB24D-DD41-C439-CECE-0FFA7FD5860D}"/>
              </a:ext>
            </a:extLst>
          </p:cNvPr>
          <p:cNvSpPr>
            <a:spLocks noGrp="1"/>
          </p:cNvSpPr>
          <p:nvPr>
            <p:ph type="body" idx="1"/>
          </p:nvPr>
        </p:nvSpPr>
        <p:spPr>
          <a:xfrm>
            <a:off x="720000" y="1215750"/>
            <a:ext cx="7704000" cy="3798702"/>
          </a:xfrm>
        </p:spPr>
        <p:txBody>
          <a:bodyPr/>
          <a:lstStyle/>
          <a:p>
            <a:pPr marL="482600" indent="-342900">
              <a:buFont typeface="+mj-lt"/>
              <a:buAutoNum type="arabicPeriod"/>
            </a:pPr>
            <a:r>
              <a:rPr lang="en-US" b="1" dirty="0"/>
              <a:t>On-Demand Self-Service</a:t>
            </a:r>
            <a:endParaRPr lang="en-US" dirty="0"/>
          </a:p>
          <a:p>
            <a:pPr lvl="1"/>
            <a:r>
              <a:rPr lang="en-US" dirty="0"/>
              <a:t>Users can provision computing resources as needed automatically, without human intervention from the service provider.</a:t>
            </a:r>
          </a:p>
          <a:p>
            <a:pPr marL="482600" indent="-342900">
              <a:buFont typeface="+mj-lt"/>
              <a:buAutoNum type="arabicPeriod"/>
            </a:pPr>
            <a:r>
              <a:rPr lang="en-US" b="1" dirty="0"/>
              <a:t>Broad Network Access</a:t>
            </a:r>
            <a:endParaRPr lang="en-US" dirty="0"/>
          </a:p>
          <a:p>
            <a:pPr lvl="1"/>
            <a:r>
              <a:rPr lang="en-US" dirty="0"/>
              <a:t>Services are available over the network and accessed through standard mechanisms (e.g., web browsers, mobile apps, APIs).</a:t>
            </a:r>
          </a:p>
          <a:p>
            <a:pPr marL="482600" indent="-342900">
              <a:buFont typeface="+mj-lt"/>
              <a:buAutoNum type="arabicPeriod"/>
            </a:pPr>
            <a:r>
              <a:rPr lang="en-US" b="1" dirty="0"/>
              <a:t>Resource Pooling</a:t>
            </a:r>
            <a:endParaRPr lang="en-US" dirty="0"/>
          </a:p>
          <a:p>
            <a:pPr lvl="1"/>
            <a:r>
              <a:rPr lang="en-US" dirty="0"/>
              <a:t>Providers use multi-tenancy to serve multiple customers from a shared pool of resources, dynamically allocated based on demand.</a:t>
            </a:r>
          </a:p>
          <a:p>
            <a:pPr marL="482600" indent="-342900">
              <a:buFont typeface="+mj-lt"/>
              <a:buAutoNum type="arabicPeriod"/>
            </a:pPr>
            <a:r>
              <a:rPr lang="en-US" b="1" dirty="0"/>
              <a:t>Rapid Scalability</a:t>
            </a:r>
            <a:endParaRPr lang="en-US" dirty="0"/>
          </a:p>
          <a:p>
            <a:pPr lvl="1"/>
            <a:r>
              <a:rPr lang="en-US" dirty="0"/>
              <a:t>Resources can be scaled up or down according to user needs, appearing unlimited to the consumer.</a:t>
            </a:r>
          </a:p>
          <a:p>
            <a:pPr marL="482600" indent="-342900">
              <a:buFont typeface="+mj-lt"/>
              <a:buAutoNum type="arabicPeriod"/>
            </a:pPr>
            <a:r>
              <a:rPr lang="en-US" b="1" dirty="0"/>
              <a:t>Measured Service</a:t>
            </a:r>
            <a:endParaRPr lang="en-US" dirty="0"/>
          </a:p>
          <a:p>
            <a:pPr lvl="1"/>
            <a:r>
              <a:rPr lang="en-US" dirty="0"/>
              <a:t>Resource usage is monitored, controlled, and reported—enabling pay-as-you-go or metered billing models.</a:t>
            </a:r>
          </a:p>
          <a:p>
            <a:endParaRPr lang="en-IN" dirty="0"/>
          </a:p>
        </p:txBody>
      </p:sp>
    </p:spTree>
    <p:extLst>
      <p:ext uri="{BB962C8B-B14F-4D97-AF65-F5344CB8AC3E}">
        <p14:creationId xmlns:p14="http://schemas.microsoft.com/office/powerpoint/2010/main" val="37139753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DE67A-C9B8-94A0-76DE-6049ADBE367A}"/>
              </a:ext>
            </a:extLst>
          </p:cNvPr>
          <p:cNvSpPr>
            <a:spLocks noGrp="1"/>
          </p:cNvSpPr>
          <p:nvPr>
            <p:ph type="title"/>
          </p:nvPr>
        </p:nvSpPr>
        <p:spPr/>
        <p:txBody>
          <a:bodyPr/>
          <a:lstStyle/>
          <a:p>
            <a:r>
              <a:rPr lang="en-IN" dirty="0"/>
              <a:t>Cloud Deployment Models</a:t>
            </a:r>
          </a:p>
        </p:txBody>
      </p:sp>
      <p:sp>
        <p:nvSpPr>
          <p:cNvPr id="3" name="Text Placeholder 2">
            <a:extLst>
              <a:ext uri="{FF2B5EF4-FFF2-40B4-BE49-F238E27FC236}">
                <a16:creationId xmlns:a16="http://schemas.microsoft.com/office/drawing/2014/main" id="{CBF1B5B4-495C-F1EE-D489-F52710E5F7FB}"/>
              </a:ext>
            </a:extLst>
          </p:cNvPr>
          <p:cNvSpPr>
            <a:spLocks noGrp="1"/>
          </p:cNvSpPr>
          <p:nvPr>
            <p:ph type="body" idx="1"/>
          </p:nvPr>
        </p:nvSpPr>
        <p:spPr/>
        <p:txBody>
          <a:bodyPr/>
          <a:lstStyle/>
          <a:p>
            <a:r>
              <a:rPr lang="en-US" b="1" dirty="0"/>
              <a:t>Public Cloud</a:t>
            </a:r>
            <a:endParaRPr lang="en-US" dirty="0"/>
          </a:p>
          <a:p>
            <a:pPr lvl="1"/>
            <a:r>
              <a:rPr lang="en-US" dirty="0"/>
              <a:t>Owned and operated by third-party providers, delivering services over the public internet.</a:t>
            </a:r>
          </a:p>
          <a:p>
            <a:pPr lvl="1"/>
            <a:r>
              <a:rPr lang="en-US" b="1" dirty="0"/>
              <a:t>Example:</a:t>
            </a:r>
            <a:r>
              <a:rPr lang="en-US" dirty="0"/>
              <a:t> AWS, Azure, Google Cloud Platform.</a:t>
            </a:r>
          </a:p>
          <a:p>
            <a:pPr lvl="1"/>
            <a:r>
              <a:rPr lang="en-US" b="1" dirty="0"/>
              <a:t>Advantages:</a:t>
            </a:r>
            <a:r>
              <a:rPr lang="en-US" dirty="0"/>
              <a:t> Low cost, scalability, maintenance-free.</a:t>
            </a:r>
          </a:p>
          <a:p>
            <a:r>
              <a:rPr lang="en-US" b="1" dirty="0"/>
              <a:t>Private Cloud</a:t>
            </a:r>
            <a:endParaRPr lang="en-US" dirty="0"/>
          </a:p>
          <a:p>
            <a:pPr lvl="1"/>
            <a:r>
              <a:rPr lang="en-US" dirty="0"/>
              <a:t>Exclusively used by a single organization; can be hosted internally or externally.</a:t>
            </a:r>
          </a:p>
          <a:p>
            <a:pPr lvl="1"/>
            <a:r>
              <a:rPr lang="en-US" b="1" dirty="0"/>
              <a:t>Advantages:</a:t>
            </a:r>
            <a:r>
              <a:rPr lang="en-US" dirty="0"/>
              <a:t> Enhanced security, full control, compliance support.</a:t>
            </a:r>
          </a:p>
          <a:p>
            <a:r>
              <a:rPr lang="en-US" b="1" dirty="0"/>
              <a:t>Hybrid Cloud</a:t>
            </a:r>
            <a:endParaRPr lang="en-US" dirty="0"/>
          </a:p>
          <a:p>
            <a:pPr lvl="1"/>
            <a:r>
              <a:rPr lang="en-US" dirty="0"/>
              <a:t>Combines public and private clouds, enabling data and application portability.</a:t>
            </a:r>
          </a:p>
          <a:p>
            <a:pPr lvl="1"/>
            <a:r>
              <a:rPr lang="en-US" b="1" dirty="0"/>
              <a:t>Advantages:</a:t>
            </a:r>
            <a:r>
              <a:rPr lang="en-US" dirty="0"/>
              <a:t> Flexibility, optimized performance, disaster recovery options.</a:t>
            </a:r>
          </a:p>
          <a:p>
            <a:endParaRPr lang="en-IN" dirty="0"/>
          </a:p>
        </p:txBody>
      </p:sp>
    </p:spTree>
    <p:extLst>
      <p:ext uri="{BB962C8B-B14F-4D97-AF65-F5344CB8AC3E}">
        <p14:creationId xmlns:p14="http://schemas.microsoft.com/office/powerpoint/2010/main" val="39847726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94BF-B2B0-1ABF-2DA7-F8556B4FB4A6}"/>
              </a:ext>
            </a:extLst>
          </p:cNvPr>
          <p:cNvSpPr>
            <a:spLocks noGrp="1"/>
          </p:cNvSpPr>
          <p:nvPr>
            <p:ph type="title"/>
          </p:nvPr>
        </p:nvSpPr>
        <p:spPr/>
        <p:txBody>
          <a:bodyPr/>
          <a:lstStyle/>
          <a:p>
            <a:r>
              <a:rPr lang="en-IN" dirty="0"/>
              <a:t>Public Cloud Deployment Model</a:t>
            </a:r>
          </a:p>
        </p:txBody>
      </p:sp>
      <p:sp>
        <p:nvSpPr>
          <p:cNvPr id="3" name="Text Placeholder 2">
            <a:extLst>
              <a:ext uri="{FF2B5EF4-FFF2-40B4-BE49-F238E27FC236}">
                <a16:creationId xmlns:a16="http://schemas.microsoft.com/office/drawing/2014/main" id="{D4941F5D-9D47-8B18-DE5F-B939042E03B4}"/>
              </a:ext>
            </a:extLst>
          </p:cNvPr>
          <p:cNvSpPr>
            <a:spLocks noGrp="1"/>
          </p:cNvSpPr>
          <p:nvPr>
            <p:ph type="body" idx="1"/>
          </p:nvPr>
        </p:nvSpPr>
        <p:spPr>
          <a:xfrm>
            <a:off x="720000" y="1215750"/>
            <a:ext cx="7704000" cy="3808534"/>
          </a:xfrm>
        </p:spPr>
        <p:txBody>
          <a:bodyPr/>
          <a:lstStyle/>
          <a:p>
            <a:r>
              <a:rPr lang="en-US" dirty="0"/>
              <a:t>A </a:t>
            </a:r>
            <a:r>
              <a:rPr lang="en-US" b="1" dirty="0"/>
              <a:t>Public Cloud</a:t>
            </a:r>
            <a:r>
              <a:rPr lang="en-US" dirty="0"/>
              <a:t> is a cloud computing model in which computing resources (like servers, storage, and applications) are </a:t>
            </a:r>
            <a:r>
              <a:rPr lang="en-US" b="1" dirty="0"/>
              <a:t>owned and operated by third-party cloud service providers</a:t>
            </a:r>
            <a:r>
              <a:rPr lang="en-US" dirty="0"/>
              <a:t> and </a:t>
            </a:r>
            <a:r>
              <a:rPr lang="en-US" b="1" dirty="0"/>
              <a:t>Key Characteristics:</a:t>
            </a:r>
          </a:p>
          <a:p>
            <a:pPr algn="l"/>
            <a:r>
              <a:rPr lang="en-US" b="1" dirty="0"/>
              <a:t>Shared Infrastructure: </a:t>
            </a:r>
            <a:r>
              <a:rPr lang="en-US" dirty="0"/>
              <a:t>Multiple organizations (tenants) share the same cloud infrastructure.</a:t>
            </a:r>
          </a:p>
          <a:p>
            <a:pPr algn="l"/>
            <a:r>
              <a:rPr lang="en-US" b="1" dirty="0"/>
              <a:t>Pay-as-you-go Model: </a:t>
            </a:r>
            <a:r>
              <a:rPr lang="en-US" dirty="0"/>
              <a:t>Users pay only for the resources they consume (e.g., compute hours, storage).</a:t>
            </a:r>
          </a:p>
          <a:p>
            <a:pPr algn="l"/>
            <a:r>
              <a:rPr lang="en-US" b="1" dirty="0"/>
              <a:t>Scalability: </a:t>
            </a:r>
            <a:r>
              <a:rPr lang="en-US" dirty="0"/>
              <a:t>Virtually unlimited resources are available on demand.</a:t>
            </a:r>
          </a:p>
          <a:p>
            <a:pPr algn="l"/>
            <a:r>
              <a:rPr lang="en-US" b="1" dirty="0"/>
              <a:t>Accessibility: </a:t>
            </a:r>
            <a:r>
              <a:rPr lang="en-US" dirty="0"/>
              <a:t>Services are accessible via the internet from anywhere, anytime.</a:t>
            </a:r>
          </a:p>
          <a:p>
            <a:pPr algn="l"/>
            <a:r>
              <a:rPr lang="en-US" b="1" dirty="0"/>
              <a:t>Maintenance-Free: </a:t>
            </a:r>
            <a:r>
              <a:rPr lang="en-US" dirty="0"/>
              <a:t>The cloud provider manages all hardware, software updates, and infrastructure maintenance.</a:t>
            </a:r>
          </a:p>
          <a:p>
            <a:pPr algn="l"/>
            <a:r>
              <a:rPr lang="en-US" b="1" dirty="0"/>
              <a:t>Multi-Tenancy: </a:t>
            </a:r>
            <a:r>
              <a:rPr lang="en-US" dirty="0"/>
              <a:t>Resources are dynamically allocated among multiple users securely.</a:t>
            </a:r>
          </a:p>
          <a:p>
            <a:pPr algn="l"/>
            <a:r>
              <a:rPr lang="en-US" dirty="0"/>
              <a:t>are </a:t>
            </a:r>
            <a:r>
              <a:rPr lang="en-US" b="1" dirty="0"/>
              <a:t>made available to the general public</a:t>
            </a:r>
            <a:r>
              <a:rPr lang="en-US" dirty="0"/>
              <a:t> over the internet.</a:t>
            </a:r>
            <a:endParaRPr lang="en-IN" dirty="0"/>
          </a:p>
        </p:txBody>
      </p:sp>
    </p:spTree>
    <p:extLst>
      <p:ext uri="{BB962C8B-B14F-4D97-AF65-F5344CB8AC3E}">
        <p14:creationId xmlns:p14="http://schemas.microsoft.com/office/powerpoint/2010/main" val="173041100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7E9EC-326F-338C-A16A-C924FD3EB0E5}"/>
              </a:ext>
            </a:extLst>
          </p:cNvPr>
          <p:cNvSpPr>
            <a:spLocks noGrp="1"/>
          </p:cNvSpPr>
          <p:nvPr>
            <p:ph type="title"/>
          </p:nvPr>
        </p:nvSpPr>
        <p:spPr/>
        <p:txBody>
          <a:bodyPr/>
          <a:lstStyle/>
          <a:p>
            <a:r>
              <a:rPr lang="en-IN" dirty="0"/>
              <a:t>Private Cloud Deployment Model</a:t>
            </a:r>
          </a:p>
        </p:txBody>
      </p:sp>
      <p:sp>
        <p:nvSpPr>
          <p:cNvPr id="3" name="Text Placeholder 2">
            <a:extLst>
              <a:ext uri="{FF2B5EF4-FFF2-40B4-BE49-F238E27FC236}">
                <a16:creationId xmlns:a16="http://schemas.microsoft.com/office/drawing/2014/main" id="{43467BDA-7F27-D356-842E-DEA7C0902450}"/>
              </a:ext>
            </a:extLst>
          </p:cNvPr>
          <p:cNvSpPr>
            <a:spLocks noGrp="1"/>
          </p:cNvSpPr>
          <p:nvPr>
            <p:ph type="body" idx="1"/>
          </p:nvPr>
        </p:nvSpPr>
        <p:spPr>
          <a:xfrm>
            <a:off x="720000" y="1071715"/>
            <a:ext cx="7704000" cy="3918155"/>
          </a:xfrm>
        </p:spPr>
        <p:txBody>
          <a:bodyPr/>
          <a:lstStyle/>
          <a:p>
            <a:r>
              <a:rPr lang="en-US" dirty="0"/>
              <a:t>A </a:t>
            </a:r>
            <a:r>
              <a:rPr lang="en-US" b="1" dirty="0"/>
              <a:t>Private Cloud</a:t>
            </a:r>
            <a:r>
              <a:rPr lang="en-US" dirty="0"/>
              <a:t> is a cloud computing model where the </a:t>
            </a:r>
            <a:r>
              <a:rPr lang="en-US" b="1" dirty="0"/>
              <a:t>cloud infrastructure is exclusively used by a single organization</a:t>
            </a:r>
            <a:r>
              <a:rPr lang="en-US" dirty="0"/>
              <a:t>. It can be </a:t>
            </a:r>
            <a:r>
              <a:rPr lang="en-US" b="1" dirty="0"/>
              <a:t>managed internally</a:t>
            </a:r>
            <a:r>
              <a:rPr lang="en-US" dirty="0"/>
              <a:t> or by a </a:t>
            </a:r>
            <a:r>
              <a:rPr lang="en-US" b="1" dirty="0"/>
              <a:t>third-party provider</a:t>
            </a:r>
            <a:r>
              <a:rPr lang="en-US" dirty="0"/>
              <a:t>, and it may be </a:t>
            </a:r>
            <a:r>
              <a:rPr lang="en-US" b="1" dirty="0"/>
              <a:t>hosted on-premises</a:t>
            </a:r>
            <a:r>
              <a:rPr lang="en-US" dirty="0"/>
              <a:t> or </a:t>
            </a:r>
            <a:r>
              <a:rPr lang="en-US" b="1" dirty="0"/>
              <a:t>in a dedicated data center</a:t>
            </a:r>
            <a:r>
              <a:rPr lang="en-US" dirty="0"/>
              <a:t>.</a:t>
            </a:r>
          </a:p>
          <a:p>
            <a:pPr algn="l"/>
            <a:r>
              <a:rPr lang="en-US" b="1" dirty="0"/>
              <a:t>Key Characteristics:</a:t>
            </a:r>
          </a:p>
          <a:p>
            <a:pPr algn="l"/>
            <a:r>
              <a:rPr lang="en-US" b="1" dirty="0"/>
              <a:t>Single-Tenant Environment: </a:t>
            </a:r>
            <a:r>
              <a:rPr lang="en-US" dirty="0"/>
              <a:t>All computing resources are dedicated to one organization — no sharing with others.</a:t>
            </a:r>
          </a:p>
          <a:p>
            <a:pPr algn="l"/>
            <a:r>
              <a:rPr lang="en-US" b="1" dirty="0"/>
              <a:t>Greater Control: </a:t>
            </a:r>
            <a:r>
              <a:rPr lang="en-US" dirty="0"/>
              <a:t>The organization has full control over infrastructure, data, and security policies.</a:t>
            </a:r>
          </a:p>
          <a:p>
            <a:pPr algn="l"/>
            <a:r>
              <a:rPr lang="en-US" b="1" dirty="0"/>
              <a:t>Customization: </a:t>
            </a:r>
            <a:r>
              <a:rPr lang="en-US" dirty="0"/>
              <a:t>Infrastructure and services can be tailored to specific business or regulatory needs.</a:t>
            </a:r>
          </a:p>
          <a:p>
            <a:pPr algn="l"/>
            <a:r>
              <a:rPr lang="en-US" b="1" dirty="0"/>
              <a:t>Enhanced Security: </a:t>
            </a:r>
            <a:r>
              <a:rPr lang="en-US" dirty="0"/>
              <a:t>Data and resources remain within the organization’s boundaries or under its governance.</a:t>
            </a:r>
          </a:p>
          <a:p>
            <a:pPr algn="l"/>
            <a:r>
              <a:rPr lang="en-US" b="1" dirty="0"/>
              <a:t>Can be On-Premises or Off-Premises: </a:t>
            </a:r>
            <a:r>
              <a:rPr lang="en-US" dirty="0"/>
              <a:t>Hosted in the company’s data center or by a trusted third-party provider.</a:t>
            </a:r>
          </a:p>
          <a:p>
            <a:pPr algn="l"/>
            <a:br>
              <a:rPr lang="en-US" dirty="0"/>
            </a:br>
            <a:endParaRPr lang="en-IN" dirty="0"/>
          </a:p>
        </p:txBody>
      </p:sp>
    </p:spTree>
    <p:extLst>
      <p:ext uri="{BB962C8B-B14F-4D97-AF65-F5344CB8AC3E}">
        <p14:creationId xmlns:p14="http://schemas.microsoft.com/office/powerpoint/2010/main" val="940077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234C3-7F46-E8E9-84A5-1455B00EAE03}"/>
              </a:ext>
            </a:extLst>
          </p:cNvPr>
          <p:cNvSpPr>
            <a:spLocks noGrp="1"/>
          </p:cNvSpPr>
          <p:nvPr>
            <p:ph type="title"/>
          </p:nvPr>
        </p:nvSpPr>
        <p:spPr/>
        <p:txBody>
          <a:bodyPr/>
          <a:lstStyle/>
          <a:p>
            <a:r>
              <a:rPr lang="en-IN" dirty="0"/>
              <a:t>Hybrid Cloud Deployment Model</a:t>
            </a:r>
            <a:br>
              <a:rPr lang="en-IN" dirty="0"/>
            </a:br>
            <a:endParaRPr lang="en-IN" dirty="0"/>
          </a:p>
        </p:txBody>
      </p:sp>
      <p:sp>
        <p:nvSpPr>
          <p:cNvPr id="3" name="Text Placeholder 2">
            <a:extLst>
              <a:ext uri="{FF2B5EF4-FFF2-40B4-BE49-F238E27FC236}">
                <a16:creationId xmlns:a16="http://schemas.microsoft.com/office/drawing/2014/main" id="{981E38FF-B32B-800D-3811-40D8F3C72B39}"/>
              </a:ext>
            </a:extLst>
          </p:cNvPr>
          <p:cNvSpPr>
            <a:spLocks noGrp="1"/>
          </p:cNvSpPr>
          <p:nvPr>
            <p:ph type="body" idx="1"/>
          </p:nvPr>
        </p:nvSpPr>
        <p:spPr>
          <a:xfrm>
            <a:off x="720000" y="1091381"/>
            <a:ext cx="7704000" cy="3996813"/>
          </a:xfrm>
        </p:spPr>
        <p:txBody>
          <a:bodyPr/>
          <a:lstStyle/>
          <a:p>
            <a:pPr algn="l"/>
            <a:r>
              <a:rPr lang="en-US" dirty="0"/>
              <a:t>A </a:t>
            </a:r>
            <a:r>
              <a:rPr lang="en-US" b="1" dirty="0"/>
              <a:t>Hybrid Cloud</a:t>
            </a:r>
            <a:r>
              <a:rPr lang="en-US" dirty="0"/>
              <a:t> is a </a:t>
            </a:r>
            <a:r>
              <a:rPr lang="en-US" b="1" dirty="0"/>
              <a:t>combination of public and private cloud environments</a:t>
            </a:r>
            <a:r>
              <a:rPr lang="en-US" dirty="0"/>
              <a:t>, designed to </a:t>
            </a:r>
            <a:r>
              <a:rPr lang="en-US" b="1" dirty="0"/>
              <a:t>share data and applications</a:t>
            </a:r>
            <a:r>
              <a:rPr lang="en-US" dirty="0"/>
              <a:t> between them.</a:t>
            </a:r>
            <a:br>
              <a:rPr lang="en-US" dirty="0"/>
            </a:br>
            <a:r>
              <a:rPr lang="en-US" dirty="0"/>
              <a:t>It enables organizations to </a:t>
            </a:r>
            <a:r>
              <a:rPr lang="en-US" b="1" dirty="0"/>
              <a:t>leverage the scalability and cost-efficiency of the public cloud</a:t>
            </a:r>
            <a:r>
              <a:rPr lang="en-US" dirty="0"/>
              <a:t> while </a:t>
            </a:r>
            <a:r>
              <a:rPr lang="en-US" b="1" dirty="0"/>
              <a:t>maintaining control and security of critical workloads</a:t>
            </a:r>
            <a:r>
              <a:rPr lang="en-US" dirty="0"/>
              <a:t> in the private cloud.</a:t>
            </a:r>
          </a:p>
          <a:p>
            <a:pPr algn="l"/>
            <a:r>
              <a:rPr lang="en-US" b="1" dirty="0"/>
              <a:t>Key Characteristics:</a:t>
            </a:r>
          </a:p>
          <a:p>
            <a:pPr algn="l"/>
            <a:r>
              <a:rPr lang="en-US" b="1" dirty="0"/>
              <a:t>Integration of Environments: </a:t>
            </a:r>
            <a:r>
              <a:rPr lang="en-US" dirty="0"/>
              <a:t>Combines </a:t>
            </a:r>
            <a:r>
              <a:rPr lang="en-US" b="1" dirty="0"/>
              <a:t>private cloud (on-premises)</a:t>
            </a:r>
            <a:r>
              <a:rPr lang="en-US" dirty="0"/>
              <a:t> and </a:t>
            </a:r>
            <a:r>
              <a:rPr lang="en-US" b="1" dirty="0"/>
              <a:t>public cloud (off-premises)</a:t>
            </a:r>
            <a:r>
              <a:rPr lang="en-US" dirty="0"/>
              <a:t> infrastructure.</a:t>
            </a:r>
          </a:p>
          <a:p>
            <a:pPr algn="l"/>
            <a:r>
              <a:rPr lang="en-US" b="1" dirty="0"/>
              <a:t>Data and Application Portability: </a:t>
            </a:r>
            <a:r>
              <a:rPr lang="en-US" dirty="0"/>
              <a:t>Workloads can move seamlessly between clouds as per business or technical requirements.</a:t>
            </a:r>
          </a:p>
          <a:p>
            <a:pPr algn="l"/>
            <a:r>
              <a:rPr lang="en-US" b="1" dirty="0"/>
              <a:t>Scalable and Flexible: </a:t>
            </a:r>
            <a:r>
              <a:rPr lang="en-US" dirty="0"/>
              <a:t>Use private cloud for sensitive operations and public cloud for scaling or high-demand tasks.</a:t>
            </a:r>
          </a:p>
          <a:p>
            <a:pPr algn="l"/>
            <a:r>
              <a:rPr lang="en-US" b="1" dirty="0"/>
              <a:t>Unified Management: </a:t>
            </a:r>
            <a:r>
              <a:rPr lang="en-US" dirty="0"/>
              <a:t>Managed through common orchestration tools to monitor and control both environments.</a:t>
            </a:r>
          </a:p>
        </p:txBody>
      </p:sp>
    </p:spTree>
    <p:extLst>
      <p:ext uri="{BB962C8B-B14F-4D97-AF65-F5344CB8AC3E}">
        <p14:creationId xmlns:p14="http://schemas.microsoft.com/office/powerpoint/2010/main" val="18375696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94A5-F685-1B92-1B7A-772040D1368F}"/>
              </a:ext>
            </a:extLst>
          </p:cNvPr>
          <p:cNvSpPr>
            <a:spLocks noGrp="1"/>
          </p:cNvSpPr>
          <p:nvPr>
            <p:ph type="title"/>
          </p:nvPr>
        </p:nvSpPr>
        <p:spPr/>
        <p:txBody>
          <a:bodyPr/>
          <a:lstStyle/>
          <a:p>
            <a:r>
              <a:rPr lang="en-US" dirty="0"/>
              <a:t>Benefits of Cloud Computing</a:t>
            </a:r>
            <a:endParaRPr lang="en-IN" dirty="0"/>
          </a:p>
        </p:txBody>
      </p:sp>
      <p:sp>
        <p:nvSpPr>
          <p:cNvPr id="3" name="Text Placeholder 2">
            <a:extLst>
              <a:ext uri="{FF2B5EF4-FFF2-40B4-BE49-F238E27FC236}">
                <a16:creationId xmlns:a16="http://schemas.microsoft.com/office/drawing/2014/main" id="{765FD575-C358-385D-1CBF-B77801E47046}"/>
              </a:ext>
            </a:extLst>
          </p:cNvPr>
          <p:cNvSpPr>
            <a:spLocks noGrp="1"/>
          </p:cNvSpPr>
          <p:nvPr>
            <p:ph type="body" idx="1"/>
          </p:nvPr>
        </p:nvSpPr>
        <p:spPr/>
        <p:txBody>
          <a:bodyPr/>
          <a:lstStyle/>
          <a:p>
            <a:pPr marL="425450" indent="-285750">
              <a:buFont typeface="Arial" panose="020B0604020202020204" pitchFamily="34" charset="0"/>
              <a:buChar char="•"/>
            </a:pPr>
            <a:r>
              <a:rPr lang="en-US" sz="1800" b="1" dirty="0"/>
              <a:t>Cost Efficiency:</a:t>
            </a:r>
            <a:r>
              <a:rPr lang="en-US" sz="1800" dirty="0"/>
              <a:t> No capital investment in hardware; pay only for what you use.</a:t>
            </a:r>
          </a:p>
          <a:p>
            <a:pPr marL="425450" indent="-285750">
              <a:buFont typeface="Arial" panose="020B0604020202020204" pitchFamily="34" charset="0"/>
              <a:buChar char="•"/>
            </a:pPr>
            <a:r>
              <a:rPr lang="en-US" sz="1800" b="1" dirty="0"/>
              <a:t>Scalability:</a:t>
            </a:r>
            <a:r>
              <a:rPr lang="en-US" sz="1800" dirty="0"/>
              <a:t> Easily adjust resources based on demand.</a:t>
            </a:r>
          </a:p>
          <a:p>
            <a:pPr marL="425450" indent="-285750">
              <a:buFont typeface="Arial" panose="020B0604020202020204" pitchFamily="34" charset="0"/>
              <a:buChar char="•"/>
            </a:pPr>
            <a:r>
              <a:rPr lang="en-US" sz="1800" b="1" dirty="0"/>
              <a:t>Accessibility:</a:t>
            </a:r>
            <a:r>
              <a:rPr lang="en-US" sz="1800" dirty="0"/>
              <a:t> Access data and applications from anywhere.</a:t>
            </a:r>
          </a:p>
          <a:p>
            <a:pPr marL="425450" indent="-285750">
              <a:buFont typeface="Arial" panose="020B0604020202020204" pitchFamily="34" charset="0"/>
              <a:buChar char="•"/>
            </a:pPr>
            <a:r>
              <a:rPr lang="en-US" sz="1800" b="1" dirty="0"/>
              <a:t>Performance:</a:t>
            </a:r>
            <a:r>
              <a:rPr lang="en-US" sz="1800" dirty="0"/>
              <a:t> High-speed computing with minimal downtime.</a:t>
            </a:r>
          </a:p>
          <a:p>
            <a:pPr marL="425450" indent="-285750">
              <a:buFont typeface="Arial" panose="020B0604020202020204" pitchFamily="34" charset="0"/>
              <a:buChar char="•"/>
            </a:pPr>
            <a:r>
              <a:rPr lang="en-US" sz="1800" b="1" dirty="0"/>
              <a:t>Disaster Recovery &amp; Backup:</a:t>
            </a:r>
            <a:r>
              <a:rPr lang="en-US" sz="1800" dirty="0"/>
              <a:t> Automatic data backup and replication across data centers.</a:t>
            </a:r>
          </a:p>
          <a:p>
            <a:pPr marL="425450" indent="-285750">
              <a:buFont typeface="Arial" panose="020B0604020202020204" pitchFamily="34" charset="0"/>
              <a:buChar char="•"/>
            </a:pPr>
            <a:r>
              <a:rPr lang="en-US" sz="1800" b="1" dirty="0"/>
              <a:t>Innovation Agility:</a:t>
            </a:r>
            <a:r>
              <a:rPr lang="en-US" sz="1800" dirty="0"/>
              <a:t> Quick deployment of new applications and services.</a:t>
            </a:r>
          </a:p>
          <a:p>
            <a:pPr marL="4254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7247533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CC3F2-CE55-2C87-A831-C5543EF9EC1B}"/>
              </a:ext>
            </a:extLst>
          </p:cNvPr>
          <p:cNvSpPr>
            <a:spLocks noGrp="1"/>
          </p:cNvSpPr>
          <p:nvPr>
            <p:ph type="title"/>
          </p:nvPr>
        </p:nvSpPr>
        <p:spPr/>
        <p:txBody>
          <a:bodyPr/>
          <a:lstStyle/>
          <a:p>
            <a:r>
              <a:rPr lang="en-US" dirty="0"/>
              <a:t>Examples of Cloud Service Providers</a:t>
            </a:r>
            <a:endParaRPr lang="en-IN" dirty="0"/>
          </a:p>
        </p:txBody>
      </p:sp>
      <p:graphicFrame>
        <p:nvGraphicFramePr>
          <p:cNvPr id="4" name="Table 3">
            <a:extLst>
              <a:ext uri="{FF2B5EF4-FFF2-40B4-BE49-F238E27FC236}">
                <a16:creationId xmlns:a16="http://schemas.microsoft.com/office/drawing/2014/main" id="{8FD5174C-DB5D-4F5B-D5BE-73E68A6FC827}"/>
              </a:ext>
            </a:extLst>
          </p:cNvPr>
          <p:cNvGraphicFramePr>
            <a:graphicFrameLocks noGrp="1"/>
          </p:cNvGraphicFramePr>
          <p:nvPr/>
        </p:nvGraphicFramePr>
        <p:xfrm>
          <a:off x="835691" y="1484158"/>
          <a:ext cx="7546310" cy="2478240"/>
        </p:xfrm>
        <a:graphic>
          <a:graphicData uri="http://schemas.openxmlformats.org/drawingml/2006/table">
            <a:tbl>
              <a:tblPr/>
              <a:tblGrid>
                <a:gridCol w="3111961">
                  <a:extLst>
                    <a:ext uri="{9D8B030D-6E8A-4147-A177-3AD203B41FA5}">
                      <a16:colId xmlns:a16="http://schemas.microsoft.com/office/drawing/2014/main" val="3657838838"/>
                    </a:ext>
                  </a:extLst>
                </a:gridCol>
                <a:gridCol w="4434349">
                  <a:extLst>
                    <a:ext uri="{9D8B030D-6E8A-4147-A177-3AD203B41FA5}">
                      <a16:colId xmlns:a16="http://schemas.microsoft.com/office/drawing/2014/main" val="3930188344"/>
                    </a:ext>
                  </a:extLst>
                </a:gridCol>
              </a:tblGrid>
              <a:tr h="413040">
                <a:tc>
                  <a:txBody>
                    <a:bodyPr/>
                    <a:lstStyle/>
                    <a:p>
                      <a:pPr>
                        <a:buNone/>
                      </a:pPr>
                      <a:r>
                        <a:rPr lang="en-IN" sz="1400" b="1"/>
                        <a:t>Provider</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Popular Services</a:t>
                      </a:r>
                      <a:endParaRPr lang="en-IN"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6902309"/>
                  </a:ext>
                </a:extLst>
              </a:tr>
              <a:tr h="413040">
                <a:tc>
                  <a:txBody>
                    <a:bodyPr/>
                    <a:lstStyle/>
                    <a:p>
                      <a:pPr>
                        <a:buNone/>
                      </a:pPr>
                      <a:r>
                        <a:rPr lang="en-IN" sz="1400" dirty="0"/>
                        <a:t>Amazon Web Services (AWS)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EC2, S3, Lambda, 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6489379"/>
                  </a:ext>
                </a:extLst>
              </a:tr>
              <a:tr h="413040">
                <a:tc>
                  <a:txBody>
                    <a:bodyPr/>
                    <a:lstStyle/>
                    <a:p>
                      <a:pPr>
                        <a:buNone/>
                      </a:pPr>
                      <a:r>
                        <a:rPr lang="en-IN" sz="1400"/>
                        <a:t>Microsoft Azure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Virtual Machines, Azure SQL, Functions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5514308"/>
                  </a:ext>
                </a:extLst>
              </a:tr>
              <a:tr h="413040">
                <a:tc>
                  <a:txBody>
                    <a:bodyPr/>
                    <a:lstStyle/>
                    <a:p>
                      <a:pPr>
                        <a:buNone/>
                      </a:pPr>
                      <a:r>
                        <a:rPr lang="en-IN" sz="1400"/>
                        <a:t>Google Cloud Platform (GCP)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Compute Engine, Cloud Storage, BigQuery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4310873"/>
                  </a:ext>
                </a:extLst>
              </a:tr>
              <a:tr h="413040">
                <a:tc>
                  <a:txBody>
                    <a:bodyPr/>
                    <a:lstStyle/>
                    <a:p>
                      <a:pPr>
                        <a:buNone/>
                      </a:pPr>
                      <a:r>
                        <a:rPr lang="en-IN" sz="1400"/>
                        <a:t>IBM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Watson AI, Kubernetes 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5879679"/>
                  </a:ext>
                </a:extLst>
              </a:tr>
              <a:tr h="413040">
                <a:tc>
                  <a:txBody>
                    <a:bodyPr/>
                    <a:lstStyle/>
                    <a:p>
                      <a:pPr>
                        <a:buNone/>
                      </a:pPr>
                      <a:r>
                        <a:rPr lang="en-IN" sz="1400"/>
                        <a:t>Oracle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Autonomous Database, OCI Compute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2410591"/>
                  </a:ext>
                </a:extLst>
              </a:tr>
            </a:tbl>
          </a:graphicData>
        </a:graphic>
      </p:graphicFrame>
    </p:spTree>
    <p:extLst>
      <p:ext uri="{BB962C8B-B14F-4D97-AF65-F5344CB8AC3E}">
        <p14:creationId xmlns:p14="http://schemas.microsoft.com/office/powerpoint/2010/main" val="325967646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CCE02-5A3C-A098-7A8B-B98967156463}"/>
              </a:ext>
            </a:extLst>
          </p:cNvPr>
          <p:cNvSpPr>
            <a:spLocks noGrp="1"/>
          </p:cNvSpPr>
          <p:nvPr>
            <p:ph type="title"/>
          </p:nvPr>
        </p:nvSpPr>
        <p:spPr/>
        <p:txBody>
          <a:bodyPr/>
          <a:lstStyle/>
          <a:p>
            <a:r>
              <a:rPr lang="en-IN" dirty="0"/>
              <a:t>Applications of Cloud Computing</a:t>
            </a:r>
          </a:p>
        </p:txBody>
      </p:sp>
      <p:sp>
        <p:nvSpPr>
          <p:cNvPr id="3" name="Text Placeholder 2">
            <a:extLst>
              <a:ext uri="{FF2B5EF4-FFF2-40B4-BE49-F238E27FC236}">
                <a16:creationId xmlns:a16="http://schemas.microsoft.com/office/drawing/2014/main" id="{7D61C69D-FDB7-10B5-38AD-46BB57A5B24A}"/>
              </a:ext>
            </a:extLst>
          </p:cNvPr>
          <p:cNvSpPr>
            <a:spLocks noGrp="1"/>
          </p:cNvSpPr>
          <p:nvPr>
            <p:ph type="body" idx="1"/>
          </p:nvPr>
        </p:nvSpPr>
        <p:spPr/>
        <p:txBody>
          <a:bodyPr/>
          <a:lstStyle/>
          <a:p>
            <a:r>
              <a:rPr lang="en-US" sz="2000" b="1" dirty="0"/>
              <a:t>Education:</a:t>
            </a:r>
            <a:r>
              <a:rPr lang="en-US" sz="2000" dirty="0"/>
              <a:t> Online learning platforms and data management systems.</a:t>
            </a:r>
          </a:p>
          <a:p>
            <a:r>
              <a:rPr lang="en-US" sz="2000" b="1" dirty="0"/>
              <a:t>Healthcare:</a:t>
            </a:r>
            <a:r>
              <a:rPr lang="en-US" sz="2000" dirty="0"/>
              <a:t> Electronic health records, telemedicine, and analytics.</a:t>
            </a:r>
          </a:p>
          <a:p>
            <a:r>
              <a:rPr lang="en-US" sz="2000" b="1" dirty="0"/>
              <a:t>Finance:</a:t>
            </a:r>
            <a:r>
              <a:rPr lang="en-US" sz="2000" dirty="0"/>
              <a:t> Fraud detection, data security, and scalable transaction systems.</a:t>
            </a:r>
          </a:p>
          <a:p>
            <a:r>
              <a:rPr lang="en-US" sz="2000" b="1" dirty="0"/>
              <a:t>E-commerce:</a:t>
            </a:r>
            <a:r>
              <a:rPr lang="en-US" sz="2000" dirty="0"/>
              <a:t> Hosting web apps, managing customer data, and scaling resources.</a:t>
            </a:r>
          </a:p>
          <a:p>
            <a:r>
              <a:rPr lang="en-US" sz="2000" b="1" dirty="0"/>
              <a:t>Research and Development:</a:t>
            </a:r>
            <a:r>
              <a:rPr lang="en-US" sz="2000" dirty="0"/>
              <a:t> High-performance computing (HPC) for simulations and modeling.</a:t>
            </a:r>
          </a:p>
          <a:p>
            <a:endParaRPr lang="en-IN" sz="2000" dirty="0"/>
          </a:p>
        </p:txBody>
      </p:sp>
    </p:spTree>
    <p:extLst>
      <p:ext uri="{BB962C8B-B14F-4D97-AF65-F5344CB8AC3E}">
        <p14:creationId xmlns:p14="http://schemas.microsoft.com/office/powerpoint/2010/main" val="15254204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32CC6-3284-8E41-4CAC-1EF5D46890CF}"/>
              </a:ext>
            </a:extLst>
          </p:cNvPr>
          <p:cNvSpPr>
            <a:spLocks noGrp="1"/>
          </p:cNvSpPr>
          <p:nvPr>
            <p:ph type="title"/>
          </p:nvPr>
        </p:nvSpPr>
        <p:spPr/>
        <p:txBody>
          <a:bodyPr/>
          <a:lstStyle/>
          <a:p>
            <a:r>
              <a:rPr lang="en-IN" b="0" dirty="0"/>
              <a:t> Types of cloud computing 	</a:t>
            </a:r>
            <a:br>
              <a:rPr lang="en-IN" b="0" dirty="0"/>
            </a:br>
            <a:endParaRPr lang="en-IN" dirty="0"/>
          </a:p>
        </p:txBody>
      </p:sp>
      <p:sp>
        <p:nvSpPr>
          <p:cNvPr id="3" name="Text Placeholder 2">
            <a:extLst>
              <a:ext uri="{FF2B5EF4-FFF2-40B4-BE49-F238E27FC236}">
                <a16:creationId xmlns:a16="http://schemas.microsoft.com/office/drawing/2014/main" id="{CCB80971-E8B4-0C9A-5BCC-8780FE29DDDE}"/>
              </a:ext>
            </a:extLst>
          </p:cNvPr>
          <p:cNvSpPr>
            <a:spLocks noGrp="1"/>
          </p:cNvSpPr>
          <p:nvPr>
            <p:ph type="body" idx="1"/>
          </p:nvPr>
        </p:nvSpPr>
        <p:spPr/>
        <p:txBody>
          <a:bodyPr/>
          <a:lstStyle/>
          <a:p>
            <a:pPr marL="425450" indent="-285750">
              <a:buFont typeface="Arial" panose="020B0604020202020204" pitchFamily="34" charset="0"/>
              <a:buChar char="•"/>
            </a:pPr>
            <a:r>
              <a:rPr lang="en-IN" sz="2800" dirty="0"/>
              <a:t>Infrastructure as a Service (IaaS)</a:t>
            </a:r>
          </a:p>
          <a:p>
            <a:pPr marL="425450" indent="-285750">
              <a:buFont typeface="Arial" panose="020B0604020202020204" pitchFamily="34" charset="0"/>
              <a:buChar char="•"/>
            </a:pPr>
            <a:r>
              <a:rPr lang="en-IN" sz="2800" dirty="0"/>
              <a:t>Platform as a Service (PaaS)</a:t>
            </a:r>
          </a:p>
          <a:p>
            <a:pPr marL="425450" indent="-285750">
              <a:buFont typeface="Arial" panose="020B0604020202020204" pitchFamily="34" charset="0"/>
              <a:buChar char="•"/>
            </a:pPr>
            <a:r>
              <a:rPr lang="en-US" sz="2800" dirty="0"/>
              <a:t>Software as a Service (SaaS)</a:t>
            </a:r>
            <a:endParaRPr lang="en-IN" sz="2800" dirty="0"/>
          </a:p>
        </p:txBody>
      </p:sp>
    </p:spTree>
    <p:extLst>
      <p:ext uri="{BB962C8B-B14F-4D97-AF65-F5344CB8AC3E}">
        <p14:creationId xmlns:p14="http://schemas.microsoft.com/office/powerpoint/2010/main" val="10019435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1603-E768-D1E8-E3BE-E3E61964DFF3}"/>
              </a:ext>
            </a:extLst>
          </p:cNvPr>
          <p:cNvSpPr>
            <a:spLocks noGrp="1"/>
          </p:cNvSpPr>
          <p:nvPr>
            <p:ph type="title"/>
          </p:nvPr>
        </p:nvSpPr>
        <p:spPr/>
        <p:txBody>
          <a:bodyPr/>
          <a:lstStyle/>
          <a:p>
            <a:r>
              <a:rPr lang="en-IN" dirty="0"/>
              <a:t>Infrastructure as a Service (IaaS)</a:t>
            </a:r>
          </a:p>
        </p:txBody>
      </p:sp>
      <p:sp>
        <p:nvSpPr>
          <p:cNvPr id="3" name="Text Placeholder 2">
            <a:extLst>
              <a:ext uri="{FF2B5EF4-FFF2-40B4-BE49-F238E27FC236}">
                <a16:creationId xmlns:a16="http://schemas.microsoft.com/office/drawing/2014/main" id="{1696A90D-4918-F875-9C0E-3BE205822FD0}"/>
              </a:ext>
            </a:extLst>
          </p:cNvPr>
          <p:cNvSpPr>
            <a:spLocks noGrp="1"/>
          </p:cNvSpPr>
          <p:nvPr>
            <p:ph type="body" idx="1"/>
          </p:nvPr>
        </p:nvSpPr>
        <p:spPr>
          <a:xfrm>
            <a:off x="720000" y="1061884"/>
            <a:ext cx="7704000" cy="4081616"/>
          </a:xfrm>
        </p:spPr>
        <p:txBody>
          <a:bodyPr/>
          <a:lstStyle/>
          <a:p>
            <a:r>
              <a:rPr lang="en-US" dirty="0"/>
              <a:t>IaaS provides the </a:t>
            </a:r>
            <a:r>
              <a:rPr lang="en-US" b="1" dirty="0"/>
              <a:t>basic building blocks of cloud computing</a:t>
            </a:r>
            <a:r>
              <a:rPr lang="en-US" dirty="0"/>
              <a:t>—virtual servers, storage, and networking—on a pay-as-you-go basis.</a:t>
            </a:r>
          </a:p>
          <a:p>
            <a:r>
              <a:rPr lang="en-US" dirty="0"/>
              <a:t>Users manage </a:t>
            </a:r>
            <a:r>
              <a:rPr lang="en-US" b="1" dirty="0"/>
              <a:t>operating systems, applications, and runtime</a:t>
            </a:r>
            <a:r>
              <a:rPr lang="en-US" dirty="0"/>
              <a:t>, while the provider manages the physical infrastructure.</a:t>
            </a:r>
          </a:p>
          <a:p>
            <a:r>
              <a:rPr lang="en-US" b="1" dirty="0"/>
              <a:t>Examples:</a:t>
            </a:r>
          </a:p>
          <a:p>
            <a:pPr lvl="1"/>
            <a:r>
              <a:rPr lang="en-US" b="1" dirty="0"/>
              <a:t>Amazon Web Services (AWS EC2)</a:t>
            </a:r>
            <a:endParaRPr lang="en-US" dirty="0"/>
          </a:p>
          <a:p>
            <a:pPr lvl="1"/>
            <a:r>
              <a:rPr lang="en-US" b="1" dirty="0"/>
              <a:t>Microsoft Azure Virtual Machines</a:t>
            </a:r>
            <a:endParaRPr lang="en-US" dirty="0"/>
          </a:p>
          <a:p>
            <a:pPr lvl="1"/>
            <a:r>
              <a:rPr lang="en-US" b="1" dirty="0"/>
              <a:t>Google Compute Engine (GCE)</a:t>
            </a:r>
            <a:endParaRPr lang="en-US" dirty="0"/>
          </a:p>
          <a:p>
            <a:r>
              <a:rPr lang="en-US" b="1" dirty="0"/>
              <a:t>Use Case:</a:t>
            </a:r>
          </a:p>
          <a:p>
            <a:pPr lvl="1"/>
            <a:r>
              <a:rPr lang="en-US" dirty="0"/>
              <a:t>Hosting virtual machines and applications</a:t>
            </a:r>
          </a:p>
          <a:p>
            <a:pPr lvl="1"/>
            <a:r>
              <a:rPr lang="en-US" dirty="0"/>
              <a:t>Data backup and disaster recovery</a:t>
            </a:r>
          </a:p>
          <a:p>
            <a:pPr lvl="1"/>
            <a:r>
              <a:rPr lang="en-US" dirty="0"/>
              <a:t>Scalable website hosting</a:t>
            </a:r>
          </a:p>
          <a:p>
            <a:r>
              <a:rPr lang="en-US" b="1" dirty="0"/>
              <a:t>Key Benefits:</a:t>
            </a:r>
          </a:p>
          <a:p>
            <a:pPr lvl="1"/>
            <a:r>
              <a:rPr lang="en-US" dirty="0"/>
              <a:t>High scalability and flexibility</a:t>
            </a:r>
          </a:p>
          <a:p>
            <a:pPr lvl="1"/>
            <a:r>
              <a:rPr lang="en-US" dirty="0"/>
              <a:t>Cost-effective (no physical hardware needed)</a:t>
            </a:r>
          </a:p>
          <a:p>
            <a:pPr lvl="1"/>
            <a:r>
              <a:rPr lang="en-US" dirty="0"/>
              <a:t>Full control over OS and applications</a:t>
            </a:r>
          </a:p>
          <a:p>
            <a:endParaRPr lang="en-IN" dirty="0"/>
          </a:p>
        </p:txBody>
      </p:sp>
    </p:spTree>
    <p:extLst>
      <p:ext uri="{BB962C8B-B14F-4D97-AF65-F5344CB8AC3E}">
        <p14:creationId xmlns:p14="http://schemas.microsoft.com/office/powerpoint/2010/main" val="338773689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6F4FB-2A75-E7B5-B0E5-F858ECBE044D}"/>
              </a:ext>
            </a:extLst>
          </p:cNvPr>
          <p:cNvSpPr>
            <a:spLocks noGrp="1"/>
          </p:cNvSpPr>
          <p:nvPr>
            <p:ph type="title"/>
          </p:nvPr>
        </p:nvSpPr>
        <p:spPr/>
        <p:txBody>
          <a:bodyPr/>
          <a:lstStyle/>
          <a:p>
            <a:r>
              <a:rPr lang="en-IN" dirty="0"/>
              <a:t>Platform as a Service (PaaS)</a:t>
            </a:r>
          </a:p>
        </p:txBody>
      </p:sp>
      <p:sp>
        <p:nvSpPr>
          <p:cNvPr id="3" name="Text Placeholder 2">
            <a:extLst>
              <a:ext uri="{FF2B5EF4-FFF2-40B4-BE49-F238E27FC236}">
                <a16:creationId xmlns:a16="http://schemas.microsoft.com/office/drawing/2014/main" id="{BE164E72-857B-3092-F277-56B83F9BFA7E}"/>
              </a:ext>
            </a:extLst>
          </p:cNvPr>
          <p:cNvSpPr>
            <a:spLocks noGrp="1"/>
          </p:cNvSpPr>
          <p:nvPr>
            <p:ph type="body" idx="1"/>
          </p:nvPr>
        </p:nvSpPr>
        <p:spPr>
          <a:xfrm>
            <a:off x="720000" y="1125794"/>
            <a:ext cx="7704000" cy="3819832"/>
          </a:xfrm>
        </p:spPr>
        <p:txBody>
          <a:bodyPr/>
          <a:lstStyle/>
          <a:p>
            <a:r>
              <a:rPr lang="en-US" dirty="0"/>
              <a:t>PaaS offers a </a:t>
            </a:r>
            <a:r>
              <a:rPr lang="en-US" b="1" dirty="0"/>
              <a:t>ready-to-use development and deployment environment</a:t>
            </a:r>
            <a:r>
              <a:rPr lang="en-US" dirty="0"/>
              <a:t>. Developers can </a:t>
            </a:r>
            <a:r>
              <a:rPr lang="en-US" b="1" dirty="0"/>
              <a:t>build, test, and deploy software applications</a:t>
            </a:r>
            <a:r>
              <a:rPr lang="en-US" dirty="0"/>
              <a:t> without managing the underlying servers, storage, or networking.</a:t>
            </a:r>
          </a:p>
          <a:p>
            <a:r>
              <a:rPr lang="en-US" b="1" dirty="0"/>
              <a:t>Examples:</a:t>
            </a:r>
          </a:p>
          <a:p>
            <a:pPr lvl="1"/>
            <a:r>
              <a:rPr lang="en-US" b="1" dirty="0"/>
              <a:t>Google App Engine</a:t>
            </a:r>
            <a:endParaRPr lang="en-US" dirty="0"/>
          </a:p>
          <a:p>
            <a:pPr lvl="1"/>
            <a:r>
              <a:rPr lang="en-US" b="1" dirty="0"/>
              <a:t>Microsoft Azure App Services</a:t>
            </a:r>
            <a:endParaRPr lang="en-US" dirty="0"/>
          </a:p>
          <a:p>
            <a:pPr lvl="1"/>
            <a:r>
              <a:rPr lang="en-US" b="1" dirty="0"/>
              <a:t>Heroku</a:t>
            </a:r>
            <a:endParaRPr lang="en-US" dirty="0"/>
          </a:p>
          <a:p>
            <a:r>
              <a:rPr lang="en-US" b="1" dirty="0"/>
              <a:t>Use Case:</a:t>
            </a:r>
          </a:p>
          <a:p>
            <a:pPr lvl="1"/>
            <a:r>
              <a:rPr lang="en-US" dirty="0"/>
              <a:t>Web and mobile app development</a:t>
            </a:r>
          </a:p>
          <a:p>
            <a:pPr lvl="1"/>
            <a:r>
              <a:rPr lang="en-US" dirty="0"/>
              <a:t>Continuous integration and delivery (CI/CD)</a:t>
            </a:r>
          </a:p>
          <a:p>
            <a:pPr lvl="1"/>
            <a:r>
              <a:rPr lang="en-US" dirty="0"/>
              <a:t>Building APIs and microservices</a:t>
            </a:r>
          </a:p>
          <a:p>
            <a:r>
              <a:rPr lang="en-US" b="1" dirty="0"/>
              <a:t>Key Benefits:</a:t>
            </a:r>
          </a:p>
          <a:p>
            <a:pPr lvl="1"/>
            <a:r>
              <a:rPr lang="en-US" dirty="0"/>
              <a:t>Simplifies development workflows</a:t>
            </a:r>
          </a:p>
          <a:p>
            <a:pPr lvl="1"/>
            <a:r>
              <a:rPr lang="en-US" dirty="0"/>
              <a:t>Reduces coding and infrastructure complexity</a:t>
            </a:r>
          </a:p>
          <a:p>
            <a:pPr lvl="1"/>
            <a:r>
              <a:rPr lang="en-US" dirty="0"/>
              <a:t>Automatic scalability and updates</a:t>
            </a:r>
          </a:p>
          <a:p>
            <a:endParaRPr lang="en-IN" dirty="0"/>
          </a:p>
        </p:txBody>
      </p:sp>
    </p:spTree>
    <p:extLst>
      <p:ext uri="{BB962C8B-B14F-4D97-AF65-F5344CB8AC3E}">
        <p14:creationId xmlns:p14="http://schemas.microsoft.com/office/powerpoint/2010/main" val="3999779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1CB12-377A-745A-B768-6AC2BBCB6795}"/>
              </a:ext>
            </a:extLst>
          </p:cNvPr>
          <p:cNvSpPr>
            <a:spLocks noGrp="1"/>
          </p:cNvSpPr>
          <p:nvPr>
            <p:ph type="title"/>
          </p:nvPr>
        </p:nvSpPr>
        <p:spPr/>
        <p:txBody>
          <a:bodyPr/>
          <a:lstStyle/>
          <a:p>
            <a:r>
              <a:rPr lang="en-US" dirty="0"/>
              <a:t>Software as a Service (SaaS)</a:t>
            </a:r>
            <a:endParaRPr lang="en-IN" dirty="0"/>
          </a:p>
        </p:txBody>
      </p:sp>
      <p:sp>
        <p:nvSpPr>
          <p:cNvPr id="3" name="Text Placeholder 2">
            <a:extLst>
              <a:ext uri="{FF2B5EF4-FFF2-40B4-BE49-F238E27FC236}">
                <a16:creationId xmlns:a16="http://schemas.microsoft.com/office/drawing/2014/main" id="{0F481BEB-A194-E14C-48FC-3D69D7572FBE}"/>
              </a:ext>
            </a:extLst>
          </p:cNvPr>
          <p:cNvSpPr>
            <a:spLocks noGrp="1"/>
          </p:cNvSpPr>
          <p:nvPr>
            <p:ph type="body" idx="1"/>
          </p:nvPr>
        </p:nvSpPr>
        <p:spPr/>
        <p:txBody>
          <a:bodyPr/>
          <a:lstStyle/>
          <a:p>
            <a:r>
              <a:rPr lang="en-US" dirty="0"/>
              <a:t>SaaS delivers </a:t>
            </a:r>
            <a:r>
              <a:rPr lang="en-US" b="1" dirty="0"/>
              <a:t>fully functional applications</a:t>
            </a:r>
            <a:r>
              <a:rPr lang="en-US" dirty="0"/>
              <a:t> over the internet. Users simply access the software through a web browser—no installation or maintenance required.</a:t>
            </a:r>
          </a:p>
          <a:p>
            <a:r>
              <a:rPr lang="en-US" b="1" dirty="0"/>
              <a:t>Examples:</a:t>
            </a:r>
          </a:p>
          <a:p>
            <a:pPr lvl="1"/>
            <a:r>
              <a:rPr lang="en-US" b="1" dirty="0"/>
              <a:t>Google Workspace (Gmail, Docs)</a:t>
            </a:r>
            <a:endParaRPr lang="en-US" dirty="0"/>
          </a:p>
          <a:p>
            <a:pPr lvl="1"/>
            <a:r>
              <a:rPr lang="en-US" b="1" dirty="0"/>
              <a:t>Microsoft 365</a:t>
            </a:r>
            <a:endParaRPr lang="en-US" dirty="0"/>
          </a:p>
          <a:p>
            <a:pPr lvl="1"/>
            <a:r>
              <a:rPr lang="en-US" b="1" dirty="0"/>
              <a:t>Salesforce CRM</a:t>
            </a:r>
            <a:endParaRPr lang="en-US" dirty="0"/>
          </a:p>
          <a:p>
            <a:pPr lvl="1"/>
            <a:r>
              <a:rPr lang="en-US" b="1" dirty="0"/>
              <a:t>Dropbox</a:t>
            </a:r>
            <a:endParaRPr lang="en-US" dirty="0"/>
          </a:p>
          <a:p>
            <a:r>
              <a:rPr lang="en-US" b="1" dirty="0"/>
              <a:t>Use Case:</a:t>
            </a:r>
          </a:p>
          <a:p>
            <a:pPr lvl="1"/>
            <a:r>
              <a:rPr lang="en-US" dirty="0"/>
              <a:t>Email and collaboration tools</a:t>
            </a:r>
          </a:p>
          <a:p>
            <a:pPr lvl="1"/>
            <a:r>
              <a:rPr lang="en-US" dirty="0"/>
              <a:t>Customer relationship management (CRM)</a:t>
            </a:r>
          </a:p>
          <a:p>
            <a:pPr lvl="1"/>
            <a:r>
              <a:rPr lang="en-US" dirty="0"/>
              <a:t>Accounting and office productivity</a:t>
            </a:r>
          </a:p>
          <a:p>
            <a:r>
              <a:rPr lang="en-US" b="1" dirty="0"/>
              <a:t>Key Benefits:</a:t>
            </a:r>
          </a:p>
          <a:p>
            <a:pPr lvl="1"/>
            <a:r>
              <a:rPr lang="en-US" dirty="0"/>
              <a:t>No need for software installation or updates</a:t>
            </a:r>
          </a:p>
          <a:p>
            <a:pPr lvl="1"/>
            <a:r>
              <a:rPr lang="en-US" dirty="0"/>
              <a:t>Accessible from anywhere, on any device</a:t>
            </a:r>
          </a:p>
          <a:p>
            <a:pPr lvl="1"/>
            <a:r>
              <a:rPr lang="en-US" dirty="0"/>
              <a:t>Subscription-based cost model</a:t>
            </a:r>
          </a:p>
          <a:p>
            <a:endParaRPr lang="en-IN" dirty="0"/>
          </a:p>
        </p:txBody>
      </p:sp>
    </p:spTree>
    <p:extLst>
      <p:ext uri="{BB962C8B-B14F-4D97-AF65-F5344CB8AC3E}">
        <p14:creationId xmlns:p14="http://schemas.microsoft.com/office/powerpoint/2010/main" val="2136456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B9741-F9F6-1358-1CB4-38A7FDC30ACD}"/>
              </a:ext>
            </a:extLst>
          </p:cNvPr>
          <p:cNvSpPr>
            <a:spLocks noGrp="1"/>
          </p:cNvSpPr>
          <p:nvPr>
            <p:ph type="title"/>
          </p:nvPr>
        </p:nvSpPr>
        <p:spPr/>
        <p:txBody>
          <a:bodyPr/>
          <a:lstStyle/>
          <a:p>
            <a:r>
              <a:rPr lang="en-IN" dirty="0"/>
              <a:t>Summary Table:</a:t>
            </a:r>
          </a:p>
        </p:txBody>
      </p:sp>
      <p:graphicFrame>
        <p:nvGraphicFramePr>
          <p:cNvPr id="4" name="Table 3">
            <a:extLst>
              <a:ext uri="{FF2B5EF4-FFF2-40B4-BE49-F238E27FC236}">
                <a16:creationId xmlns:a16="http://schemas.microsoft.com/office/drawing/2014/main" id="{DB85E8FD-6C37-A8B4-78F3-4A1AB316639B}"/>
              </a:ext>
            </a:extLst>
          </p:cNvPr>
          <p:cNvGraphicFramePr>
            <a:graphicFrameLocks noGrp="1"/>
          </p:cNvGraphicFramePr>
          <p:nvPr/>
        </p:nvGraphicFramePr>
        <p:xfrm>
          <a:off x="712788" y="1931035"/>
          <a:ext cx="7718424" cy="1859280"/>
        </p:xfrm>
        <a:graphic>
          <a:graphicData uri="http://schemas.openxmlformats.org/drawingml/2006/table">
            <a:tbl>
              <a:tblPr/>
              <a:tblGrid>
                <a:gridCol w="1929606">
                  <a:extLst>
                    <a:ext uri="{9D8B030D-6E8A-4147-A177-3AD203B41FA5}">
                      <a16:colId xmlns:a16="http://schemas.microsoft.com/office/drawing/2014/main" val="144859617"/>
                    </a:ext>
                  </a:extLst>
                </a:gridCol>
                <a:gridCol w="1929606">
                  <a:extLst>
                    <a:ext uri="{9D8B030D-6E8A-4147-A177-3AD203B41FA5}">
                      <a16:colId xmlns:a16="http://schemas.microsoft.com/office/drawing/2014/main" val="2162196726"/>
                    </a:ext>
                  </a:extLst>
                </a:gridCol>
                <a:gridCol w="1929606">
                  <a:extLst>
                    <a:ext uri="{9D8B030D-6E8A-4147-A177-3AD203B41FA5}">
                      <a16:colId xmlns:a16="http://schemas.microsoft.com/office/drawing/2014/main" val="1205625008"/>
                    </a:ext>
                  </a:extLst>
                </a:gridCol>
                <a:gridCol w="1929606">
                  <a:extLst>
                    <a:ext uri="{9D8B030D-6E8A-4147-A177-3AD203B41FA5}">
                      <a16:colId xmlns:a16="http://schemas.microsoft.com/office/drawing/2014/main" val="408534265"/>
                    </a:ext>
                  </a:extLst>
                </a:gridCol>
              </a:tblGrid>
              <a:tr h="0">
                <a:tc>
                  <a:txBody>
                    <a:bodyPr/>
                    <a:lstStyle/>
                    <a:p>
                      <a:pPr>
                        <a:buNone/>
                      </a:pPr>
                      <a:r>
                        <a:rPr lang="en-IN" b="1"/>
                        <a:t>Service Model</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User Manages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Provider Manages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Example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4338222"/>
                  </a:ext>
                </a:extLst>
              </a:tr>
              <a:tr h="0">
                <a:tc>
                  <a:txBody>
                    <a:bodyPr/>
                    <a:lstStyle/>
                    <a:p>
                      <a:pPr>
                        <a:buNone/>
                      </a:pPr>
                      <a:r>
                        <a:rPr lang="en-IN" b="1"/>
                        <a:t>IaaS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OS, Applications,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Servers, Storage, Networking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AWS EC2, Azure VM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9211127"/>
                  </a:ext>
                </a:extLst>
              </a:tr>
              <a:tr h="0">
                <a:tc>
                  <a:txBody>
                    <a:bodyPr/>
                    <a:lstStyle/>
                    <a:p>
                      <a:pPr>
                        <a:buNone/>
                      </a:pPr>
                      <a:r>
                        <a:rPr lang="en-IN" b="1"/>
                        <a:t>PaaS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Applications,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OS, Middleware, Infrastructure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Google App Engine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3424150"/>
                  </a:ext>
                </a:extLst>
              </a:tr>
              <a:tr h="0">
                <a:tc>
                  <a:txBody>
                    <a:bodyPr/>
                    <a:lstStyle/>
                    <a:p>
                      <a:pPr>
                        <a:buNone/>
                      </a:pPr>
                      <a:r>
                        <a:rPr lang="en-IN" b="1"/>
                        <a:t>SaaS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Only Usage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Everything (App + Infra)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Gmail, Salesforce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5735393"/>
                  </a:ext>
                </a:extLst>
              </a:tr>
            </a:tbl>
          </a:graphicData>
        </a:graphic>
      </p:graphicFrame>
    </p:spTree>
    <p:extLst>
      <p:ext uri="{BB962C8B-B14F-4D97-AF65-F5344CB8AC3E}">
        <p14:creationId xmlns:p14="http://schemas.microsoft.com/office/powerpoint/2010/main" val="1642611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40D2B-5128-8C2A-97AB-57DC34E99D8B}"/>
              </a:ext>
            </a:extLst>
          </p:cNvPr>
          <p:cNvSpPr>
            <a:spLocks noGrp="1"/>
          </p:cNvSpPr>
          <p:nvPr>
            <p:ph type="title"/>
          </p:nvPr>
        </p:nvSpPr>
        <p:spPr>
          <a:xfrm>
            <a:off x="720000" y="145141"/>
            <a:ext cx="7704000" cy="572700"/>
          </a:xfrm>
        </p:spPr>
        <p:txBody>
          <a:bodyPr/>
          <a:lstStyle/>
          <a:p>
            <a:r>
              <a:rPr lang="en-IN" dirty="0"/>
              <a:t>Docker Container Security</a:t>
            </a:r>
          </a:p>
        </p:txBody>
      </p:sp>
      <p:sp>
        <p:nvSpPr>
          <p:cNvPr id="3" name="Text Placeholder 2">
            <a:extLst>
              <a:ext uri="{FF2B5EF4-FFF2-40B4-BE49-F238E27FC236}">
                <a16:creationId xmlns:a16="http://schemas.microsoft.com/office/drawing/2014/main" id="{0734BAB2-9BCD-7718-410E-D8786B31515F}"/>
              </a:ext>
            </a:extLst>
          </p:cNvPr>
          <p:cNvSpPr>
            <a:spLocks noGrp="1"/>
          </p:cNvSpPr>
          <p:nvPr>
            <p:ph type="body" idx="1"/>
          </p:nvPr>
        </p:nvSpPr>
        <p:spPr>
          <a:xfrm>
            <a:off x="720000" y="678427"/>
            <a:ext cx="7704000" cy="3925524"/>
          </a:xfrm>
        </p:spPr>
        <p:txBody>
          <a:bodyPr/>
          <a:lstStyle/>
          <a:p>
            <a:r>
              <a:rPr lang="en-US" dirty="0"/>
              <a:t>Docker containers package applications and dependencies into isolated units. Security ensures these containers cannot be exploited to compromise the system.</a:t>
            </a:r>
          </a:p>
          <a:p>
            <a:r>
              <a:rPr lang="en-US" b="1" dirty="0"/>
              <a:t>Key Security Concepts:</a:t>
            </a:r>
            <a:endParaRPr lang="en-US" dirty="0"/>
          </a:p>
          <a:p>
            <a:r>
              <a:rPr lang="en-US" b="1" dirty="0"/>
              <a:t>Isolation:</a:t>
            </a:r>
            <a:r>
              <a:rPr lang="en-US" dirty="0"/>
              <a:t> Containers should be isolated from each other and the host OS.</a:t>
            </a:r>
          </a:p>
          <a:p>
            <a:r>
              <a:rPr lang="en-US" b="1" dirty="0"/>
              <a:t>Image Security:</a:t>
            </a:r>
            <a:endParaRPr lang="en-US" dirty="0"/>
          </a:p>
          <a:p>
            <a:pPr lvl="1"/>
            <a:r>
              <a:rPr lang="en-US" dirty="0"/>
              <a:t>Use </a:t>
            </a:r>
            <a:r>
              <a:rPr lang="en-US" b="1" dirty="0"/>
              <a:t>trusted base images</a:t>
            </a:r>
            <a:r>
              <a:rPr lang="en-US" dirty="0"/>
              <a:t> only.</a:t>
            </a:r>
          </a:p>
          <a:p>
            <a:pPr lvl="1"/>
            <a:r>
              <a:rPr lang="en-US" dirty="0"/>
              <a:t>Regularly </a:t>
            </a:r>
            <a:r>
              <a:rPr lang="en-US" b="1" dirty="0"/>
              <a:t>scan images</a:t>
            </a:r>
            <a:r>
              <a:rPr lang="en-US" dirty="0"/>
              <a:t> for vulnerabilities (using tools like </a:t>
            </a:r>
            <a:r>
              <a:rPr lang="en-US" i="1" dirty="0" err="1"/>
              <a:t>Trivy</a:t>
            </a:r>
            <a:r>
              <a:rPr lang="en-US" dirty="0"/>
              <a:t>, </a:t>
            </a:r>
            <a:r>
              <a:rPr lang="en-US" i="1" dirty="0"/>
              <a:t>Clair</a:t>
            </a:r>
            <a:r>
              <a:rPr lang="en-US" dirty="0"/>
              <a:t>, </a:t>
            </a:r>
            <a:r>
              <a:rPr lang="en-US" i="1" dirty="0" err="1"/>
              <a:t>Anchore</a:t>
            </a:r>
            <a:r>
              <a:rPr lang="en-US" dirty="0"/>
              <a:t>).</a:t>
            </a:r>
          </a:p>
          <a:p>
            <a:r>
              <a:rPr lang="en-US" b="1" dirty="0"/>
              <a:t>Least Privilege:</a:t>
            </a:r>
            <a:endParaRPr lang="en-US" dirty="0"/>
          </a:p>
          <a:p>
            <a:pPr lvl="1"/>
            <a:r>
              <a:rPr lang="en-US" dirty="0"/>
              <a:t>Run containers as non-root users.</a:t>
            </a:r>
          </a:p>
          <a:p>
            <a:pPr lvl="1"/>
            <a:r>
              <a:rPr lang="en-US" dirty="0"/>
              <a:t>Limit capabilities and privileges (e.g., via --cap-drop).</a:t>
            </a:r>
          </a:p>
          <a:p>
            <a:r>
              <a:rPr lang="en-US" b="1" dirty="0"/>
              <a:t>Secrets Management: </a:t>
            </a:r>
            <a:r>
              <a:rPr lang="en-US" dirty="0"/>
              <a:t>Avoid hardcoding credentials. Use Docker secrets or environment variables securely.</a:t>
            </a:r>
          </a:p>
          <a:p>
            <a:r>
              <a:rPr lang="en-US" b="1" dirty="0"/>
              <a:t>Network Security:</a:t>
            </a:r>
            <a:endParaRPr lang="en-US" dirty="0"/>
          </a:p>
          <a:p>
            <a:pPr lvl="1"/>
            <a:r>
              <a:rPr lang="en-US" dirty="0"/>
              <a:t>Restrict open ports and apply network policies.</a:t>
            </a:r>
          </a:p>
          <a:p>
            <a:r>
              <a:rPr lang="en-US" b="1" dirty="0"/>
              <a:t>Runtime Security:</a:t>
            </a:r>
            <a:endParaRPr lang="en-US" dirty="0"/>
          </a:p>
          <a:p>
            <a:pPr lvl="1"/>
            <a:r>
              <a:rPr lang="en-US" dirty="0"/>
              <a:t>Monitor containers for unusual activity.</a:t>
            </a:r>
            <a:endParaRPr lang="en-IN" dirty="0"/>
          </a:p>
        </p:txBody>
      </p:sp>
    </p:spTree>
    <p:extLst>
      <p:ext uri="{BB962C8B-B14F-4D97-AF65-F5344CB8AC3E}">
        <p14:creationId xmlns:p14="http://schemas.microsoft.com/office/powerpoint/2010/main" val="260180694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CF65B-3D6A-6206-94E5-0A2BD82759C4}"/>
              </a:ext>
            </a:extLst>
          </p:cNvPr>
          <p:cNvSpPr>
            <a:spLocks noGrp="1"/>
          </p:cNvSpPr>
          <p:nvPr>
            <p:ph type="title"/>
          </p:nvPr>
        </p:nvSpPr>
        <p:spPr/>
        <p:txBody>
          <a:bodyPr/>
          <a:lstStyle/>
          <a:p>
            <a:r>
              <a:rPr lang="en-IN" dirty="0"/>
              <a:t>Docker Engine</a:t>
            </a:r>
          </a:p>
        </p:txBody>
      </p:sp>
      <p:sp>
        <p:nvSpPr>
          <p:cNvPr id="3" name="Text Placeholder 2">
            <a:extLst>
              <a:ext uri="{FF2B5EF4-FFF2-40B4-BE49-F238E27FC236}">
                <a16:creationId xmlns:a16="http://schemas.microsoft.com/office/drawing/2014/main" id="{5ADCDD9E-B1D1-691A-A2DA-1A5D8E7052E8}"/>
              </a:ext>
            </a:extLst>
          </p:cNvPr>
          <p:cNvSpPr>
            <a:spLocks noGrp="1"/>
          </p:cNvSpPr>
          <p:nvPr>
            <p:ph type="body" idx="1"/>
          </p:nvPr>
        </p:nvSpPr>
        <p:spPr>
          <a:xfrm>
            <a:off x="720000" y="1215749"/>
            <a:ext cx="7704000" cy="3759373"/>
          </a:xfrm>
        </p:spPr>
        <p:txBody>
          <a:bodyPr/>
          <a:lstStyle/>
          <a:p>
            <a:pPr algn="l"/>
            <a:r>
              <a:rPr lang="en-US" dirty="0"/>
              <a:t>The </a:t>
            </a:r>
            <a:r>
              <a:rPr lang="en-US" b="1" dirty="0"/>
              <a:t>Docker Engine</a:t>
            </a:r>
            <a:r>
              <a:rPr lang="en-US" dirty="0"/>
              <a:t> is the </a:t>
            </a:r>
            <a:r>
              <a:rPr lang="en-US" b="1" dirty="0"/>
              <a:t>core component</a:t>
            </a:r>
            <a:r>
              <a:rPr lang="en-US" dirty="0"/>
              <a:t> of the Docker platform. It is responsible for </a:t>
            </a:r>
            <a:r>
              <a:rPr lang="en-US" b="1" dirty="0"/>
              <a:t>building, running, and managing containers</a:t>
            </a:r>
            <a:r>
              <a:rPr lang="en-US" dirty="0"/>
              <a:t> on a host system.</a:t>
            </a:r>
          </a:p>
          <a:p>
            <a:pPr algn="l"/>
            <a:endParaRPr lang="en-US" dirty="0"/>
          </a:p>
          <a:p>
            <a:pPr algn="ctr"/>
            <a:r>
              <a:rPr lang="en-US" sz="1800" b="1" dirty="0"/>
              <a:t>Components of Docker Engine:</a:t>
            </a:r>
            <a:endParaRPr lang="en-US" sz="1800" dirty="0"/>
          </a:p>
          <a:p>
            <a:pPr algn="l"/>
            <a:r>
              <a:rPr lang="en-US" b="1" dirty="0"/>
              <a:t>Docker Daemon (</a:t>
            </a:r>
            <a:r>
              <a:rPr lang="en-US" b="1" dirty="0" err="1"/>
              <a:t>dockerd</a:t>
            </a:r>
            <a:r>
              <a:rPr lang="en-US" b="1" dirty="0"/>
              <a:t>): </a:t>
            </a:r>
            <a:br>
              <a:rPr lang="en-US" dirty="0"/>
            </a:br>
            <a:r>
              <a:rPr lang="en-US" dirty="0"/>
              <a:t>        Runs in the background</a:t>
            </a:r>
            <a:r>
              <a:rPr lang="en-US" b="1" dirty="0"/>
              <a:t>; manages images, containers, networks, and volumes</a:t>
            </a:r>
            <a:r>
              <a:rPr lang="en-US" dirty="0"/>
              <a:t>.</a:t>
            </a:r>
            <a:br>
              <a:rPr lang="en-US" dirty="0"/>
            </a:br>
            <a:r>
              <a:rPr lang="en-US" dirty="0"/>
              <a:t>        Listens to Docker API requests.</a:t>
            </a:r>
          </a:p>
          <a:p>
            <a:pPr algn="l"/>
            <a:r>
              <a:rPr lang="en-US" b="1" dirty="0"/>
              <a:t>Docker CLI (Command-Line Interface): </a:t>
            </a:r>
            <a:r>
              <a:rPr lang="en-US" dirty="0"/>
              <a:t>The user-facing tool (docker command) used to interact with the Docker Daemon via REST API.</a:t>
            </a:r>
          </a:p>
          <a:p>
            <a:pPr algn="l"/>
            <a:endParaRPr lang="en-US" dirty="0"/>
          </a:p>
          <a:p>
            <a:pPr algn="l"/>
            <a:r>
              <a:rPr lang="en-US" b="1" dirty="0"/>
              <a:t>Docker REST API: </a:t>
            </a:r>
            <a:r>
              <a:rPr lang="en-US" dirty="0"/>
              <a:t>Provides an interface for external tools or programs to communicate with the Docker Daemon programmatically.</a:t>
            </a:r>
          </a:p>
          <a:p>
            <a:pPr algn="l"/>
            <a:endParaRPr lang="en-IN" dirty="0"/>
          </a:p>
        </p:txBody>
      </p:sp>
    </p:spTree>
    <p:extLst>
      <p:ext uri="{BB962C8B-B14F-4D97-AF65-F5344CB8AC3E}">
        <p14:creationId xmlns:p14="http://schemas.microsoft.com/office/powerpoint/2010/main" val="6542586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ABFBF-2B7D-FF6B-9A8E-89556D164E78}"/>
              </a:ext>
            </a:extLst>
          </p:cNvPr>
          <p:cNvSpPr>
            <a:spLocks noGrp="1"/>
          </p:cNvSpPr>
          <p:nvPr>
            <p:ph type="title"/>
          </p:nvPr>
        </p:nvSpPr>
        <p:spPr/>
        <p:txBody>
          <a:bodyPr/>
          <a:lstStyle/>
          <a:p>
            <a:r>
              <a:rPr lang="en-IN" dirty="0"/>
              <a:t>Docker Images</a:t>
            </a:r>
          </a:p>
        </p:txBody>
      </p:sp>
      <p:sp>
        <p:nvSpPr>
          <p:cNvPr id="3" name="Text Placeholder 2">
            <a:extLst>
              <a:ext uri="{FF2B5EF4-FFF2-40B4-BE49-F238E27FC236}">
                <a16:creationId xmlns:a16="http://schemas.microsoft.com/office/drawing/2014/main" id="{8088795C-B2B4-1444-2D22-17B7A1F909FC}"/>
              </a:ext>
            </a:extLst>
          </p:cNvPr>
          <p:cNvSpPr>
            <a:spLocks noGrp="1"/>
          </p:cNvSpPr>
          <p:nvPr>
            <p:ph type="body" idx="1"/>
          </p:nvPr>
        </p:nvSpPr>
        <p:spPr/>
        <p:txBody>
          <a:bodyPr/>
          <a:lstStyle/>
          <a:p>
            <a:r>
              <a:rPr lang="en-US" dirty="0"/>
              <a:t>A </a:t>
            </a:r>
            <a:r>
              <a:rPr lang="en-US" b="1" dirty="0"/>
              <a:t>Docker Image</a:t>
            </a:r>
            <a:r>
              <a:rPr lang="en-US" dirty="0"/>
              <a:t> is a </a:t>
            </a:r>
            <a:r>
              <a:rPr lang="en-US" b="1" dirty="0"/>
              <a:t>read-only template</a:t>
            </a:r>
            <a:r>
              <a:rPr lang="en-US" dirty="0"/>
              <a:t> that contains the </a:t>
            </a:r>
            <a:r>
              <a:rPr lang="en-US" b="1" dirty="0"/>
              <a:t>application code, libraries, dependencies, tools, and configuration</a:t>
            </a:r>
            <a:r>
              <a:rPr lang="en-US" dirty="0"/>
              <a:t> needed to run a container.</a:t>
            </a:r>
          </a:p>
          <a:p>
            <a:r>
              <a:rPr lang="en-US" b="1" dirty="0"/>
              <a:t>Key Points:</a:t>
            </a:r>
            <a:endParaRPr lang="en-US" dirty="0"/>
          </a:p>
          <a:p>
            <a:pPr lvl="1"/>
            <a:r>
              <a:rPr lang="en-US" dirty="0"/>
              <a:t>Built using a </a:t>
            </a:r>
            <a:r>
              <a:rPr lang="en-US" b="1" dirty="0" err="1"/>
              <a:t>Dockerfile</a:t>
            </a:r>
            <a:r>
              <a:rPr lang="en-US" dirty="0"/>
              <a:t> (a script defining build instructions).</a:t>
            </a:r>
          </a:p>
          <a:p>
            <a:pPr lvl="1"/>
            <a:r>
              <a:rPr lang="en-US" dirty="0"/>
              <a:t>Immutable — cannot be changed after creation.</a:t>
            </a:r>
          </a:p>
          <a:p>
            <a:pPr lvl="1"/>
            <a:r>
              <a:rPr lang="en-US" dirty="0"/>
              <a:t>Stored locally or in a remote </a:t>
            </a:r>
            <a:r>
              <a:rPr lang="en-US" b="1" dirty="0"/>
              <a:t>Docker Registry</a:t>
            </a:r>
            <a:r>
              <a:rPr lang="en-US" dirty="0"/>
              <a:t>.</a:t>
            </a:r>
          </a:p>
          <a:p>
            <a:endParaRPr lang="en-IN" dirty="0"/>
          </a:p>
          <a:p>
            <a:r>
              <a:rPr lang="de-DE" b="1" dirty="0"/>
              <a:t>docker build -t myapp:1.0</a:t>
            </a:r>
          </a:p>
          <a:p>
            <a:endParaRPr lang="de-DE" b="1" dirty="0"/>
          </a:p>
          <a:p>
            <a:r>
              <a:rPr lang="en-US" dirty="0"/>
              <a:t>Creates an image named </a:t>
            </a:r>
            <a:r>
              <a:rPr lang="en-US" dirty="0" err="1"/>
              <a:t>myapp</a:t>
            </a:r>
            <a:r>
              <a:rPr lang="en-US" dirty="0"/>
              <a:t> with tag 1.0.</a:t>
            </a:r>
            <a:endParaRPr lang="en-IN" b="1" dirty="0"/>
          </a:p>
        </p:txBody>
      </p:sp>
    </p:spTree>
    <p:extLst>
      <p:ext uri="{BB962C8B-B14F-4D97-AF65-F5344CB8AC3E}">
        <p14:creationId xmlns:p14="http://schemas.microsoft.com/office/powerpoint/2010/main" val="3079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3209D-F30B-4656-A6C0-815B5809AE7A}"/>
              </a:ext>
            </a:extLst>
          </p:cNvPr>
          <p:cNvSpPr>
            <a:spLocks noGrp="1"/>
          </p:cNvSpPr>
          <p:nvPr>
            <p:ph type="title"/>
          </p:nvPr>
        </p:nvSpPr>
        <p:spPr/>
        <p:txBody>
          <a:bodyPr/>
          <a:lstStyle/>
          <a:p>
            <a:r>
              <a:rPr lang="en-IN" dirty="0"/>
              <a:t>Docker Containers</a:t>
            </a:r>
          </a:p>
        </p:txBody>
      </p:sp>
      <p:sp>
        <p:nvSpPr>
          <p:cNvPr id="3" name="Text Placeholder 2">
            <a:extLst>
              <a:ext uri="{FF2B5EF4-FFF2-40B4-BE49-F238E27FC236}">
                <a16:creationId xmlns:a16="http://schemas.microsoft.com/office/drawing/2014/main" id="{D2AC3129-84EE-769A-1216-91439AADD05C}"/>
              </a:ext>
            </a:extLst>
          </p:cNvPr>
          <p:cNvSpPr>
            <a:spLocks noGrp="1"/>
          </p:cNvSpPr>
          <p:nvPr>
            <p:ph type="body" idx="1"/>
          </p:nvPr>
        </p:nvSpPr>
        <p:spPr/>
        <p:txBody>
          <a:bodyPr/>
          <a:lstStyle/>
          <a:p>
            <a:r>
              <a:rPr lang="en-US" sz="1800" dirty="0"/>
              <a:t>A </a:t>
            </a:r>
            <a:r>
              <a:rPr lang="en-US" sz="1800" b="1" dirty="0"/>
              <a:t>Docker Container</a:t>
            </a:r>
            <a:r>
              <a:rPr lang="en-US" sz="1800" dirty="0"/>
              <a:t> is a </a:t>
            </a:r>
            <a:r>
              <a:rPr lang="en-US" sz="1800" b="1" dirty="0"/>
              <a:t>runtime instance of a Docker Image</a:t>
            </a:r>
            <a:r>
              <a:rPr lang="en-US" sz="1800" dirty="0"/>
              <a:t>.</a:t>
            </a:r>
            <a:br>
              <a:rPr lang="en-US" sz="1800" dirty="0"/>
            </a:br>
            <a:r>
              <a:rPr lang="en-US" sz="1800" dirty="0"/>
              <a:t>It includes everything needed to run an application — code, dependencies, and environment.</a:t>
            </a:r>
          </a:p>
          <a:p>
            <a:r>
              <a:rPr lang="en-US" sz="1800" b="1" dirty="0"/>
              <a:t>Characteristics:</a:t>
            </a:r>
            <a:endParaRPr lang="en-US" sz="1800" dirty="0"/>
          </a:p>
          <a:p>
            <a:pPr lvl="1"/>
            <a:r>
              <a:rPr lang="en-US" sz="1600" dirty="0"/>
              <a:t>Lightweight and isolated.</a:t>
            </a:r>
          </a:p>
          <a:p>
            <a:pPr lvl="1"/>
            <a:r>
              <a:rPr lang="en-US" sz="1600" dirty="0"/>
              <a:t>Starts quickly.</a:t>
            </a:r>
          </a:p>
          <a:p>
            <a:pPr lvl="1"/>
            <a:r>
              <a:rPr lang="en-US" sz="1600" dirty="0"/>
              <a:t>Can be easily created, stopped, moved, or deleted.</a:t>
            </a:r>
          </a:p>
          <a:p>
            <a:pPr lvl="1"/>
            <a:r>
              <a:rPr lang="en-US" sz="1600" dirty="0"/>
              <a:t>Uses the </a:t>
            </a:r>
            <a:r>
              <a:rPr lang="en-US" sz="1600" b="1" dirty="0"/>
              <a:t>image</a:t>
            </a:r>
            <a:r>
              <a:rPr lang="en-US" sz="1600" dirty="0"/>
              <a:t> as a blueprint.</a:t>
            </a:r>
          </a:p>
          <a:p>
            <a:endParaRPr lang="en-IN" sz="1800" dirty="0"/>
          </a:p>
          <a:p>
            <a:r>
              <a:rPr lang="en-IN" sz="1800" dirty="0"/>
              <a:t>docker run -d -p 8080:80 nginx - </a:t>
            </a:r>
            <a:r>
              <a:rPr lang="en-US" sz="1800" dirty="0"/>
              <a:t>This command starts an Nginx web server 					accessible at </a:t>
            </a:r>
            <a:r>
              <a:rPr lang="en-US" sz="1800" b="1" dirty="0"/>
              <a:t>http://localhost:8080</a:t>
            </a:r>
            <a:endParaRPr lang="en-IN" sz="1800" dirty="0"/>
          </a:p>
          <a:p>
            <a:r>
              <a:rPr lang="en-IN" sz="1800" dirty="0"/>
              <a:t>docker </a:t>
            </a:r>
            <a:r>
              <a:rPr lang="en-IN" sz="1800" dirty="0" err="1"/>
              <a:t>psdocker</a:t>
            </a:r>
            <a:r>
              <a:rPr lang="en-IN" sz="1800" dirty="0"/>
              <a:t>  - Shows all </a:t>
            </a:r>
            <a:r>
              <a:rPr lang="en-IN" sz="1800" b="1" dirty="0"/>
              <a:t>running containers</a:t>
            </a:r>
            <a:endParaRPr lang="en-IN" sz="1800" dirty="0"/>
          </a:p>
          <a:p>
            <a:r>
              <a:rPr lang="en-IN" sz="1800" dirty="0"/>
              <a:t>stop &lt;</a:t>
            </a:r>
            <a:r>
              <a:rPr lang="en-IN" sz="1800" dirty="0" err="1"/>
              <a:t>container_id</a:t>
            </a:r>
            <a:r>
              <a:rPr lang="en-IN" sz="1800" dirty="0"/>
              <a:t>&gt;</a:t>
            </a:r>
          </a:p>
        </p:txBody>
      </p:sp>
    </p:spTree>
    <p:extLst>
      <p:ext uri="{BB962C8B-B14F-4D97-AF65-F5344CB8AC3E}">
        <p14:creationId xmlns:p14="http://schemas.microsoft.com/office/powerpoint/2010/main" val="32272620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5C601-F70D-1F69-86BD-E4E5F60843ED}"/>
              </a:ext>
            </a:extLst>
          </p:cNvPr>
          <p:cNvSpPr>
            <a:spLocks noGrp="1"/>
          </p:cNvSpPr>
          <p:nvPr>
            <p:ph type="title"/>
          </p:nvPr>
        </p:nvSpPr>
        <p:spPr/>
        <p:txBody>
          <a:bodyPr/>
          <a:lstStyle/>
          <a:p>
            <a:r>
              <a:rPr lang="en-IN" dirty="0"/>
              <a:t>Docker Hub</a:t>
            </a:r>
          </a:p>
        </p:txBody>
      </p:sp>
      <p:sp>
        <p:nvSpPr>
          <p:cNvPr id="3" name="Text Placeholder 2">
            <a:extLst>
              <a:ext uri="{FF2B5EF4-FFF2-40B4-BE49-F238E27FC236}">
                <a16:creationId xmlns:a16="http://schemas.microsoft.com/office/drawing/2014/main" id="{AC9D643E-DEB3-BA5B-B563-A20C51A7E040}"/>
              </a:ext>
            </a:extLst>
          </p:cNvPr>
          <p:cNvSpPr>
            <a:spLocks noGrp="1"/>
          </p:cNvSpPr>
          <p:nvPr>
            <p:ph type="body" idx="1"/>
          </p:nvPr>
        </p:nvSpPr>
        <p:spPr/>
        <p:txBody>
          <a:bodyPr/>
          <a:lstStyle/>
          <a:p>
            <a:r>
              <a:rPr lang="en-US" sz="2000" b="1" dirty="0"/>
              <a:t>Docker Hub</a:t>
            </a:r>
            <a:r>
              <a:rPr lang="en-US" sz="2000" dirty="0"/>
              <a:t> is the </a:t>
            </a:r>
            <a:r>
              <a:rPr lang="en-US" sz="2000" b="1" dirty="0"/>
              <a:t>official cloud-based repository</a:t>
            </a:r>
            <a:r>
              <a:rPr lang="en-US" sz="2000" dirty="0"/>
              <a:t> for storing, sharing, and distributing Docker images.</a:t>
            </a:r>
          </a:p>
          <a:p>
            <a:r>
              <a:rPr lang="en-US" sz="2000" b="1" dirty="0"/>
              <a:t>Key Features:</a:t>
            </a:r>
            <a:endParaRPr lang="en-US" sz="2000" dirty="0"/>
          </a:p>
          <a:p>
            <a:pPr lvl="1"/>
            <a:r>
              <a:rPr lang="en-US" sz="1800" dirty="0"/>
              <a:t>Hosts </a:t>
            </a:r>
            <a:r>
              <a:rPr lang="en-US" sz="1800" b="1" dirty="0"/>
              <a:t>official images</a:t>
            </a:r>
            <a:r>
              <a:rPr lang="en-US" sz="1800" dirty="0"/>
              <a:t> (e.g., Ubuntu, Nginx, MySQL).</a:t>
            </a:r>
          </a:p>
          <a:p>
            <a:pPr lvl="1"/>
            <a:r>
              <a:rPr lang="en-US" sz="1800" dirty="0"/>
              <a:t>Allows users to </a:t>
            </a:r>
            <a:r>
              <a:rPr lang="en-US" sz="1800" b="1" dirty="0"/>
              <a:t>push/pull</a:t>
            </a:r>
            <a:r>
              <a:rPr lang="en-US" sz="1800" dirty="0"/>
              <a:t> custom images.</a:t>
            </a:r>
          </a:p>
          <a:p>
            <a:pPr lvl="1"/>
            <a:r>
              <a:rPr lang="en-US" sz="1800" dirty="0"/>
              <a:t>Supports </a:t>
            </a:r>
            <a:r>
              <a:rPr lang="en-US" sz="1800" b="1" dirty="0"/>
              <a:t>automated builds</a:t>
            </a:r>
            <a:r>
              <a:rPr lang="en-US" sz="1800" dirty="0"/>
              <a:t> and </a:t>
            </a:r>
            <a:r>
              <a:rPr lang="en-US" sz="1800" b="1" dirty="0"/>
              <a:t>webhooks</a:t>
            </a:r>
            <a:r>
              <a:rPr lang="en-US" sz="1800" dirty="0"/>
              <a:t> for CI/CD integration.</a:t>
            </a:r>
          </a:p>
          <a:p>
            <a:endParaRPr lang="en-IN" sz="2000" dirty="0"/>
          </a:p>
        </p:txBody>
      </p:sp>
    </p:spTree>
    <p:extLst>
      <p:ext uri="{BB962C8B-B14F-4D97-AF65-F5344CB8AC3E}">
        <p14:creationId xmlns:p14="http://schemas.microsoft.com/office/powerpoint/2010/main" val="26638274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5469F-8EBE-CBA7-D054-5306275DD61E}"/>
              </a:ext>
            </a:extLst>
          </p:cNvPr>
          <p:cNvSpPr>
            <a:spLocks noGrp="1"/>
          </p:cNvSpPr>
          <p:nvPr>
            <p:ph type="title"/>
          </p:nvPr>
        </p:nvSpPr>
        <p:spPr/>
        <p:txBody>
          <a:bodyPr/>
          <a:lstStyle/>
          <a:p>
            <a:r>
              <a:rPr lang="en-IN" dirty="0"/>
              <a:t>Docker REST API</a:t>
            </a:r>
          </a:p>
        </p:txBody>
      </p:sp>
      <p:sp>
        <p:nvSpPr>
          <p:cNvPr id="3" name="Text Placeholder 2">
            <a:extLst>
              <a:ext uri="{FF2B5EF4-FFF2-40B4-BE49-F238E27FC236}">
                <a16:creationId xmlns:a16="http://schemas.microsoft.com/office/drawing/2014/main" id="{DDA84025-1DE7-A21C-18CC-19BA6B2963C1}"/>
              </a:ext>
            </a:extLst>
          </p:cNvPr>
          <p:cNvSpPr>
            <a:spLocks noGrp="1"/>
          </p:cNvSpPr>
          <p:nvPr>
            <p:ph type="body" idx="1"/>
          </p:nvPr>
        </p:nvSpPr>
        <p:spPr/>
        <p:txBody>
          <a:bodyPr/>
          <a:lstStyle/>
          <a:p>
            <a:pPr algn="l"/>
            <a:r>
              <a:rPr lang="en-US" sz="2000" dirty="0"/>
              <a:t>The </a:t>
            </a:r>
            <a:r>
              <a:rPr lang="en-US" sz="2000" b="1" dirty="0"/>
              <a:t>Docker REST API</a:t>
            </a:r>
            <a:r>
              <a:rPr lang="en-US" sz="2000" dirty="0"/>
              <a:t> enables </a:t>
            </a:r>
            <a:r>
              <a:rPr lang="en-US" sz="2000" b="1" dirty="0"/>
              <a:t>programmatic access</a:t>
            </a:r>
            <a:r>
              <a:rPr lang="en-US" sz="2000" dirty="0"/>
              <a:t> to the Docker Daemon.</a:t>
            </a:r>
            <a:br>
              <a:rPr lang="en-US" sz="2000" dirty="0"/>
            </a:br>
            <a:r>
              <a:rPr lang="en-US" sz="2000" dirty="0"/>
              <a:t>It allows other applications, scripts, or management tools to control Docker remotely.</a:t>
            </a:r>
          </a:p>
          <a:p>
            <a:pPr algn="l"/>
            <a:r>
              <a:rPr lang="en-US" sz="2000" b="1" dirty="0"/>
              <a:t>Common Operations via REST API:</a:t>
            </a:r>
            <a:endParaRPr lang="en-US" sz="2000" dirty="0"/>
          </a:p>
          <a:p>
            <a:pPr lvl="1"/>
            <a:r>
              <a:rPr lang="en-US" sz="1800" dirty="0"/>
              <a:t>List images or containers</a:t>
            </a:r>
          </a:p>
          <a:p>
            <a:pPr lvl="1"/>
            <a:r>
              <a:rPr lang="en-US" sz="1800" dirty="0"/>
              <a:t>Create, start, stop containers</a:t>
            </a:r>
          </a:p>
          <a:p>
            <a:pPr lvl="1"/>
            <a:r>
              <a:rPr lang="en-US" sz="1800" dirty="0"/>
              <a:t>Manage networks and volumes</a:t>
            </a:r>
          </a:p>
          <a:p>
            <a:pPr algn="l"/>
            <a:endParaRPr lang="en-IN" sz="2000" dirty="0"/>
          </a:p>
        </p:txBody>
      </p:sp>
    </p:spTree>
    <p:extLst>
      <p:ext uri="{BB962C8B-B14F-4D97-AF65-F5344CB8AC3E}">
        <p14:creationId xmlns:p14="http://schemas.microsoft.com/office/powerpoint/2010/main" val="27426506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759DC-833B-FF5A-BDF8-A9377166ED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501EB-A91C-9038-2004-AF4C7B8E242B}"/>
              </a:ext>
            </a:extLst>
          </p:cNvPr>
          <p:cNvSpPr>
            <a:spLocks noGrp="1"/>
          </p:cNvSpPr>
          <p:nvPr>
            <p:ph type="title"/>
          </p:nvPr>
        </p:nvSpPr>
        <p:spPr/>
        <p:txBody>
          <a:bodyPr/>
          <a:lstStyle/>
          <a:p>
            <a:r>
              <a:rPr lang="en-IN" dirty="0"/>
              <a:t>Docker Registry</a:t>
            </a:r>
          </a:p>
        </p:txBody>
      </p:sp>
      <p:sp>
        <p:nvSpPr>
          <p:cNvPr id="3" name="Text Placeholder 2">
            <a:extLst>
              <a:ext uri="{FF2B5EF4-FFF2-40B4-BE49-F238E27FC236}">
                <a16:creationId xmlns:a16="http://schemas.microsoft.com/office/drawing/2014/main" id="{F4D2E849-FB97-457B-91B1-400E418FFF49}"/>
              </a:ext>
            </a:extLst>
          </p:cNvPr>
          <p:cNvSpPr>
            <a:spLocks noGrp="1"/>
          </p:cNvSpPr>
          <p:nvPr>
            <p:ph type="body" idx="1"/>
          </p:nvPr>
        </p:nvSpPr>
        <p:spPr/>
        <p:txBody>
          <a:bodyPr/>
          <a:lstStyle/>
          <a:p>
            <a:r>
              <a:rPr lang="en-US" sz="2000" dirty="0"/>
              <a:t>A Docker Registry refers to a </a:t>
            </a:r>
            <a:r>
              <a:rPr lang="en-US" sz="2000" b="1" dirty="0"/>
              <a:t>storage and distribution system </a:t>
            </a:r>
            <a:r>
              <a:rPr lang="en-US" sz="2000" dirty="0"/>
              <a:t>for </a:t>
            </a:r>
            <a:r>
              <a:rPr lang="en-US" sz="2000" b="1" dirty="0"/>
              <a:t>Docker images</a:t>
            </a:r>
            <a:r>
              <a:rPr lang="en-US" sz="2000" dirty="0"/>
              <a:t>. It acts as a central location where you can push (upload) and pull (download) Docker images. Registries can be public, allowing anyone to access and use images, or private, restricting access to authorized users or organizations.</a:t>
            </a:r>
            <a:r>
              <a:rPr lang="en-IN" sz="2000" dirty="0"/>
              <a:t>.</a:t>
            </a:r>
          </a:p>
          <a:p>
            <a:r>
              <a:rPr lang="en-IN" sz="2000" b="1" dirty="0"/>
              <a:t>Types:</a:t>
            </a:r>
            <a:endParaRPr lang="en-IN" sz="2000" dirty="0"/>
          </a:p>
          <a:p>
            <a:pPr lvl="1"/>
            <a:r>
              <a:rPr lang="en-IN" sz="1800" b="1" dirty="0"/>
              <a:t>Public Registry:</a:t>
            </a:r>
            <a:r>
              <a:rPr lang="en-IN" sz="1800" dirty="0"/>
              <a:t> Docker Hub (default).</a:t>
            </a:r>
          </a:p>
          <a:p>
            <a:pPr lvl="1"/>
            <a:r>
              <a:rPr lang="en-IN" sz="1800" b="1" dirty="0"/>
              <a:t>Private Registry:</a:t>
            </a:r>
            <a:r>
              <a:rPr lang="en-IN" sz="1800" dirty="0"/>
              <a:t> Self-hosted (for internal enterprise use).</a:t>
            </a:r>
          </a:p>
          <a:p>
            <a:r>
              <a:rPr lang="en-IN" sz="2000" b="1" dirty="0"/>
              <a:t>Functions:</a:t>
            </a:r>
            <a:endParaRPr lang="en-IN" sz="2000" dirty="0"/>
          </a:p>
          <a:p>
            <a:pPr lvl="1"/>
            <a:r>
              <a:rPr lang="en-IN" sz="1800" b="1" dirty="0"/>
              <a:t>Store</a:t>
            </a:r>
            <a:r>
              <a:rPr lang="en-IN" sz="1800" dirty="0"/>
              <a:t> built images.</a:t>
            </a:r>
          </a:p>
          <a:p>
            <a:pPr lvl="1"/>
            <a:r>
              <a:rPr lang="en-IN" sz="1800" b="1" dirty="0"/>
              <a:t>Serve</a:t>
            </a:r>
            <a:r>
              <a:rPr lang="en-IN" sz="1800" dirty="0"/>
              <a:t> images to Docker clients when pulled.</a:t>
            </a:r>
          </a:p>
          <a:p>
            <a:pPr lvl="1"/>
            <a:r>
              <a:rPr lang="en-IN" sz="1800" b="1" dirty="0"/>
              <a:t>Enable version control</a:t>
            </a:r>
            <a:r>
              <a:rPr lang="en-IN" sz="1800" dirty="0"/>
              <a:t> through image tags.</a:t>
            </a:r>
          </a:p>
          <a:p>
            <a:endParaRPr lang="en-IN" sz="2000" dirty="0"/>
          </a:p>
        </p:txBody>
      </p:sp>
    </p:spTree>
    <p:extLst>
      <p:ext uri="{BB962C8B-B14F-4D97-AF65-F5344CB8AC3E}">
        <p14:creationId xmlns:p14="http://schemas.microsoft.com/office/powerpoint/2010/main" val="18981905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0BE6-849F-BA34-9517-3BD66D7284F1}"/>
              </a:ext>
            </a:extLst>
          </p:cNvPr>
          <p:cNvSpPr>
            <a:spLocks noGrp="1"/>
          </p:cNvSpPr>
          <p:nvPr>
            <p:ph type="title"/>
          </p:nvPr>
        </p:nvSpPr>
        <p:spPr>
          <a:xfrm>
            <a:off x="720000" y="297541"/>
            <a:ext cx="7704000" cy="572700"/>
          </a:xfrm>
        </p:spPr>
        <p:txBody>
          <a:bodyPr/>
          <a:lstStyle/>
          <a:p>
            <a:r>
              <a:rPr lang="en-IN" dirty="0"/>
              <a:t>Exploiting S3 Buckets</a:t>
            </a:r>
          </a:p>
        </p:txBody>
      </p:sp>
      <p:sp>
        <p:nvSpPr>
          <p:cNvPr id="3" name="Text Placeholder 2">
            <a:extLst>
              <a:ext uri="{FF2B5EF4-FFF2-40B4-BE49-F238E27FC236}">
                <a16:creationId xmlns:a16="http://schemas.microsoft.com/office/drawing/2014/main" id="{5777218B-282D-F40A-330E-B70EC0375583}"/>
              </a:ext>
            </a:extLst>
          </p:cNvPr>
          <p:cNvSpPr>
            <a:spLocks noGrp="1"/>
          </p:cNvSpPr>
          <p:nvPr>
            <p:ph type="body" idx="1"/>
          </p:nvPr>
        </p:nvSpPr>
        <p:spPr>
          <a:xfrm>
            <a:off x="720000" y="1215750"/>
            <a:ext cx="7704000" cy="3630210"/>
          </a:xfrm>
        </p:spPr>
        <p:txBody>
          <a:bodyPr/>
          <a:lstStyle/>
          <a:p>
            <a:r>
              <a:rPr lang="en-US" dirty="0"/>
              <a:t>Amazon S3 is a </a:t>
            </a:r>
            <a:r>
              <a:rPr lang="en-US" b="1" dirty="0"/>
              <a:t>Simple Storage Service </a:t>
            </a:r>
            <a:r>
              <a:rPr lang="en-US" dirty="0"/>
              <a:t>in AWS that stores files of different types like Photos, Audio, and Videos as Objects providing more scalability and security. It allows the users to store and retrieve any amount of data at any point in time from anywhere on the web. It facilitates features such as extremely high availability, security, and simple connection to other AWS Services.</a:t>
            </a:r>
          </a:p>
          <a:p>
            <a:r>
              <a:rPr lang="en-US" sz="2000" b="1" dirty="0"/>
              <a:t>Common Misconfigurations:</a:t>
            </a:r>
            <a:endParaRPr lang="en-US" sz="2000" dirty="0"/>
          </a:p>
          <a:p>
            <a:r>
              <a:rPr lang="en-US" b="1" dirty="0"/>
              <a:t>Publicly accessible buckets:</a:t>
            </a:r>
            <a:endParaRPr lang="en-US" dirty="0"/>
          </a:p>
          <a:p>
            <a:pPr lvl="1"/>
            <a:r>
              <a:rPr lang="en-US" dirty="0"/>
              <a:t>Buckets set to “public-read” or “public-write”.</a:t>
            </a:r>
          </a:p>
          <a:p>
            <a:r>
              <a:rPr lang="en-US" b="1" dirty="0"/>
              <a:t>Weak permissions:</a:t>
            </a:r>
            <a:endParaRPr lang="en-US" dirty="0"/>
          </a:p>
          <a:p>
            <a:pPr lvl="1"/>
            <a:r>
              <a:rPr lang="en-US" dirty="0"/>
              <a:t>Improper IAM (</a:t>
            </a:r>
            <a:r>
              <a:rPr lang="en-IN" dirty="0"/>
              <a:t>Identity and Access Management</a:t>
            </a:r>
            <a:r>
              <a:rPr lang="en-US" dirty="0"/>
              <a:t>) policies or Access Control Lists (ACLs).</a:t>
            </a:r>
          </a:p>
          <a:p>
            <a:r>
              <a:rPr lang="en-US" b="1" dirty="0"/>
              <a:t>Open bucket listings:</a:t>
            </a:r>
            <a:endParaRPr lang="en-US" dirty="0"/>
          </a:p>
          <a:p>
            <a:pPr lvl="1"/>
            <a:r>
              <a:rPr lang="en-US" dirty="0"/>
              <a:t>Allowing listing of bucket contents.</a:t>
            </a:r>
          </a:p>
          <a:p>
            <a:endParaRPr lang="en-IN" dirty="0"/>
          </a:p>
        </p:txBody>
      </p:sp>
    </p:spTree>
    <p:extLst>
      <p:ext uri="{BB962C8B-B14F-4D97-AF65-F5344CB8AC3E}">
        <p14:creationId xmlns:p14="http://schemas.microsoft.com/office/powerpoint/2010/main" val="16437059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77AD3-8587-31EC-CCFC-50AA6583B846}"/>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DFEE32DA-A28B-2012-B3D8-9D84D9484A27}"/>
              </a:ext>
            </a:extLst>
          </p:cNvPr>
          <p:cNvSpPr>
            <a:spLocks noGrp="1"/>
          </p:cNvSpPr>
          <p:nvPr>
            <p:ph type="body" idx="1"/>
          </p:nvPr>
        </p:nvSpPr>
        <p:spPr>
          <a:xfrm>
            <a:off x="720000" y="1215749"/>
            <a:ext cx="7704000" cy="3759373"/>
          </a:xfrm>
        </p:spPr>
        <p:txBody>
          <a:bodyPr/>
          <a:lstStyle/>
          <a:p>
            <a:r>
              <a:rPr lang="en-IN" sz="2000" b="1" dirty="0"/>
              <a:t>Exploitation Techniques (for ethical testing):</a:t>
            </a:r>
            <a:endParaRPr lang="en-IN" sz="2000" dirty="0"/>
          </a:p>
          <a:p>
            <a:pPr lvl="1"/>
            <a:r>
              <a:rPr lang="en-IN" sz="1800" b="1" dirty="0"/>
              <a:t>Bucket Enumeration:</a:t>
            </a:r>
            <a:r>
              <a:rPr lang="en-IN" sz="1800" dirty="0"/>
              <a:t> Finding open buckets with predictable names.</a:t>
            </a:r>
          </a:p>
          <a:p>
            <a:pPr lvl="1"/>
            <a:r>
              <a:rPr lang="en-IN" sz="1800" b="1" dirty="0"/>
              <a:t>Data Extraction:</a:t>
            </a:r>
            <a:r>
              <a:rPr lang="en-IN" sz="1800" dirty="0"/>
              <a:t> Reading or downloading exposed files.</a:t>
            </a:r>
          </a:p>
          <a:p>
            <a:pPr lvl="1"/>
            <a:r>
              <a:rPr lang="en-IN" sz="1800" b="1" dirty="0"/>
              <a:t>Privilege Escalation:</a:t>
            </a:r>
            <a:r>
              <a:rPr lang="en-IN" sz="1800" dirty="0"/>
              <a:t> Using misconfigured policies to gain write/delete access.</a:t>
            </a:r>
          </a:p>
          <a:p>
            <a:r>
              <a:rPr lang="en-IN" sz="2000" b="1" dirty="0"/>
              <a:t>Prevention:</a:t>
            </a:r>
            <a:endParaRPr lang="en-IN" sz="2000" dirty="0"/>
          </a:p>
          <a:p>
            <a:pPr lvl="1"/>
            <a:r>
              <a:rPr lang="en-IN" sz="1800" dirty="0"/>
              <a:t>Use AWS Config or S3 Block Public Access.</a:t>
            </a:r>
          </a:p>
          <a:p>
            <a:pPr lvl="1"/>
            <a:r>
              <a:rPr lang="en-IN" sz="1800" dirty="0"/>
              <a:t>Enforce IAM </a:t>
            </a:r>
            <a:r>
              <a:rPr lang="en-US" sz="1800" dirty="0"/>
              <a:t>(</a:t>
            </a:r>
            <a:r>
              <a:rPr lang="en-IN" sz="1800" dirty="0"/>
              <a:t>Identity and Access Management</a:t>
            </a:r>
            <a:r>
              <a:rPr lang="en-US" sz="1800" dirty="0"/>
              <a:t>) </a:t>
            </a:r>
            <a:r>
              <a:rPr lang="en-IN" sz="1800" dirty="0"/>
              <a:t>least privilege.</a:t>
            </a:r>
          </a:p>
          <a:p>
            <a:pPr lvl="1"/>
            <a:r>
              <a:rPr lang="en-IN" sz="1800" dirty="0"/>
              <a:t>Use server-side encryption (SSE).</a:t>
            </a:r>
          </a:p>
          <a:p>
            <a:pPr lvl="1"/>
            <a:r>
              <a:rPr lang="en-IN" sz="1800" dirty="0"/>
              <a:t>Monitor with AWS CloudTrail.</a:t>
            </a:r>
          </a:p>
          <a:p>
            <a:endParaRPr lang="en-IN" sz="2000" dirty="0"/>
          </a:p>
        </p:txBody>
      </p:sp>
    </p:spTree>
    <p:extLst>
      <p:ext uri="{BB962C8B-B14F-4D97-AF65-F5344CB8AC3E}">
        <p14:creationId xmlns:p14="http://schemas.microsoft.com/office/powerpoint/2010/main" val="303044964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740E-46BA-7898-D68A-7DE7FAF1FBFB}"/>
              </a:ext>
            </a:extLst>
          </p:cNvPr>
          <p:cNvSpPr>
            <a:spLocks noGrp="1"/>
          </p:cNvSpPr>
          <p:nvPr>
            <p:ph type="title"/>
          </p:nvPr>
        </p:nvSpPr>
        <p:spPr/>
        <p:txBody>
          <a:bodyPr/>
          <a:lstStyle/>
          <a:p>
            <a:r>
              <a:rPr lang="en-IN" sz="2000" dirty="0"/>
              <a:t>Prevention 1: </a:t>
            </a:r>
            <a:r>
              <a:rPr lang="en-US" sz="2000" dirty="0"/>
              <a:t>Use AWS Config or S3 Block Public Access</a:t>
            </a:r>
            <a:endParaRPr lang="en-IN" sz="2000" dirty="0"/>
          </a:p>
        </p:txBody>
      </p:sp>
      <p:sp>
        <p:nvSpPr>
          <p:cNvPr id="3" name="Text Placeholder 2">
            <a:extLst>
              <a:ext uri="{FF2B5EF4-FFF2-40B4-BE49-F238E27FC236}">
                <a16:creationId xmlns:a16="http://schemas.microsoft.com/office/drawing/2014/main" id="{2D3830D1-6539-BEAF-6D40-C0473D904D78}"/>
              </a:ext>
            </a:extLst>
          </p:cNvPr>
          <p:cNvSpPr>
            <a:spLocks noGrp="1"/>
          </p:cNvSpPr>
          <p:nvPr>
            <p:ph type="body" idx="1"/>
          </p:nvPr>
        </p:nvSpPr>
        <p:spPr>
          <a:xfrm>
            <a:off x="720000" y="1081548"/>
            <a:ext cx="7704000" cy="3522402"/>
          </a:xfrm>
        </p:spPr>
        <p:txBody>
          <a:bodyPr/>
          <a:lstStyle/>
          <a:p>
            <a:r>
              <a:rPr lang="en-US" b="1" dirty="0"/>
              <a:t>What they do:</a:t>
            </a:r>
          </a:p>
          <a:p>
            <a:pPr marL="425450" indent="-285750">
              <a:buFont typeface="Arial" panose="020B0604020202020204" pitchFamily="34" charset="0"/>
              <a:buChar char="•"/>
            </a:pPr>
            <a:r>
              <a:rPr lang="en-US" b="1" dirty="0"/>
              <a:t>S3 Block Public Access</a:t>
            </a:r>
            <a:r>
              <a:rPr lang="en-US" dirty="0"/>
              <a:t> prevents any bucket or object from becoming public—no matter what the IAM policy or ACL says.</a:t>
            </a:r>
          </a:p>
          <a:p>
            <a:pPr marL="425450" indent="-285750">
              <a:buFont typeface="Arial" panose="020B0604020202020204" pitchFamily="34" charset="0"/>
              <a:buChar char="•"/>
            </a:pPr>
            <a:r>
              <a:rPr lang="en-US" b="1" dirty="0"/>
              <a:t>AWS Config</a:t>
            </a:r>
            <a:r>
              <a:rPr lang="en-US" dirty="0"/>
              <a:t> continuously checks whether your buckets follow security rules (e.g., “no public buckets”).</a:t>
            </a:r>
          </a:p>
          <a:p>
            <a:r>
              <a:rPr lang="en-US" b="1" dirty="0"/>
              <a:t>Why it helps:</a:t>
            </a:r>
          </a:p>
          <a:p>
            <a:pPr marL="425450" indent="-285750">
              <a:buFont typeface="Arial" panose="020B0604020202020204" pitchFamily="34" charset="0"/>
              <a:buChar char="•"/>
            </a:pPr>
            <a:r>
              <a:rPr lang="en-US" dirty="0"/>
              <a:t>It ensures no accidental configuration exposes your data.</a:t>
            </a:r>
          </a:p>
          <a:p>
            <a:r>
              <a:rPr lang="en-US" b="1" dirty="0"/>
              <a:t>How it prevents exploitation:</a:t>
            </a:r>
          </a:p>
          <a:p>
            <a:pPr marL="425450" indent="-285750">
              <a:buFont typeface="Arial" panose="020B0604020202020204" pitchFamily="34" charset="0"/>
              <a:buChar char="•"/>
            </a:pPr>
            <a:r>
              <a:rPr lang="en-US" dirty="0"/>
              <a:t>Stops public-read/public-write settings.</a:t>
            </a:r>
          </a:p>
          <a:p>
            <a:pPr marL="425450" indent="-285750">
              <a:buFont typeface="Arial" panose="020B0604020202020204" pitchFamily="34" charset="0"/>
              <a:buChar char="•"/>
            </a:pPr>
            <a:r>
              <a:rPr lang="en-US" dirty="0"/>
              <a:t>Detects policy misconfigurations.</a:t>
            </a:r>
          </a:p>
          <a:p>
            <a:pPr marL="425450" indent="-285750">
              <a:buFont typeface="Arial" panose="020B0604020202020204" pitchFamily="34" charset="0"/>
              <a:buChar char="•"/>
            </a:pPr>
            <a:r>
              <a:rPr lang="en-US" dirty="0"/>
              <a:t>Alerts you if a bucket becomes risky.</a:t>
            </a:r>
          </a:p>
          <a:p>
            <a:endParaRPr lang="en-IN" dirty="0"/>
          </a:p>
        </p:txBody>
      </p:sp>
    </p:spTree>
    <p:extLst>
      <p:ext uri="{BB962C8B-B14F-4D97-AF65-F5344CB8AC3E}">
        <p14:creationId xmlns:p14="http://schemas.microsoft.com/office/powerpoint/2010/main" val="12610832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805C3-E3B1-06F6-4F9F-D7FCAD009563}"/>
              </a:ext>
            </a:extLst>
          </p:cNvPr>
          <p:cNvSpPr>
            <a:spLocks noGrp="1"/>
          </p:cNvSpPr>
          <p:nvPr>
            <p:ph type="title"/>
          </p:nvPr>
        </p:nvSpPr>
        <p:spPr>
          <a:xfrm>
            <a:off x="720000" y="248380"/>
            <a:ext cx="7704000" cy="572700"/>
          </a:xfrm>
        </p:spPr>
        <p:txBody>
          <a:bodyPr/>
          <a:lstStyle/>
          <a:p>
            <a:r>
              <a:rPr lang="en-IN" sz="2800" dirty="0"/>
              <a:t>Prevention 2: Enforce IAM Least Privilege</a:t>
            </a:r>
          </a:p>
        </p:txBody>
      </p:sp>
      <p:sp>
        <p:nvSpPr>
          <p:cNvPr id="3" name="Text Placeholder 2">
            <a:extLst>
              <a:ext uri="{FF2B5EF4-FFF2-40B4-BE49-F238E27FC236}">
                <a16:creationId xmlns:a16="http://schemas.microsoft.com/office/drawing/2014/main" id="{2C57440E-E4E7-ABD7-FFE8-72E30DA3DC72}"/>
              </a:ext>
            </a:extLst>
          </p:cNvPr>
          <p:cNvSpPr>
            <a:spLocks noGrp="1"/>
          </p:cNvSpPr>
          <p:nvPr>
            <p:ph type="body" idx="1"/>
          </p:nvPr>
        </p:nvSpPr>
        <p:spPr>
          <a:xfrm>
            <a:off x="720000" y="877650"/>
            <a:ext cx="7704000" cy="3388200"/>
          </a:xfrm>
        </p:spPr>
        <p:txBody>
          <a:bodyPr/>
          <a:lstStyle/>
          <a:p>
            <a:pPr algn="l"/>
            <a:r>
              <a:rPr lang="en-US" b="1" dirty="0"/>
              <a:t>What it means:</a:t>
            </a:r>
          </a:p>
          <a:p>
            <a:pPr marL="425450" indent="-285750" algn="l">
              <a:buFont typeface="Arial" panose="020B0604020202020204" pitchFamily="34" charset="0"/>
              <a:buChar char="•"/>
            </a:pPr>
            <a:r>
              <a:rPr lang="en-US" dirty="0"/>
              <a:t>Only grant </a:t>
            </a:r>
            <a:r>
              <a:rPr lang="en-US" b="1" dirty="0"/>
              <a:t>exact permissions needed</a:t>
            </a:r>
            <a:r>
              <a:rPr lang="en-US" dirty="0"/>
              <a:t>—nothing more.</a:t>
            </a:r>
          </a:p>
          <a:p>
            <a:pPr algn="l"/>
            <a:r>
              <a:rPr lang="en-US" b="1" dirty="0"/>
              <a:t>Example:</a:t>
            </a:r>
          </a:p>
          <a:p>
            <a:pPr marL="425450" indent="-285750" algn="l">
              <a:buFont typeface="Arial" panose="020B0604020202020204" pitchFamily="34" charset="0"/>
              <a:buChar char="•"/>
            </a:pPr>
            <a:r>
              <a:rPr lang="en-US" dirty="0"/>
              <a:t>If a user only needs to upload files:</a:t>
            </a:r>
            <a:br>
              <a:rPr lang="en-US" dirty="0"/>
            </a:br>
            <a:r>
              <a:rPr lang="en-US" dirty="0"/>
              <a:t>Use s3:PutObject instead of s3:*.</a:t>
            </a:r>
          </a:p>
          <a:p>
            <a:pPr algn="l"/>
            <a:r>
              <a:rPr lang="en-US" b="1" dirty="0"/>
              <a:t>Why it helps:</a:t>
            </a:r>
          </a:p>
          <a:p>
            <a:pPr marL="425450" indent="-285750" algn="l">
              <a:buFont typeface="Arial" panose="020B0604020202020204" pitchFamily="34" charset="0"/>
              <a:buChar char="•"/>
            </a:pPr>
            <a:r>
              <a:rPr lang="en-US" dirty="0"/>
              <a:t>Minimizes damage if:</a:t>
            </a:r>
          </a:p>
          <a:p>
            <a:pPr marL="425450" indent="-285750" algn="l">
              <a:buFont typeface="Arial" panose="020B0604020202020204" pitchFamily="34" charset="0"/>
              <a:buChar char="•"/>
            </a:pPr>
            <a:r>
              <a:rPr lang="en-US" dirty="0"/>
              <a:t>A user account is hacked</a:t>
            </a:r>
          </a:p>
          <a:p>
            <a:pPr marL="425450" indent="-285750" algn="l">
              <a:buFont typeface="Arial" panose="020B0604020202020204" pitchFamily="34" charset="0"/>
              <a:buChar char="•"/>
            </a:pPr>
            <a:r>
              <a:rPr lang="en-US" dirty="0"/>
              <a:t>An internal user misuses privileges</a:t>
            </a:r>
          </a:p>
          <a:p>
            <a:pPr marL="425450" indent="-285750" algn="l">
              <a:buFont typeface="Arial" panose="020B0604020202020204" pitchFamily="34" charset="0"/>
              <a:buChar char="•"/>
            </a:pPr>
            <a:r>
              <a:rPr lang="en-US" dirty="0"/>
              <a:t>A role is misconfigured</a:t>
            </a:r>
          </a:p>
          <a:p>
            <a:pPr algn="l"/>
            <a:r>
              <a:rPr lang="en-US" b="1" dirty="0"/>
              <a:t>How it prevents exploitation:</a:t>
            </a:r>
          </a:p>
          <a:p>
            <a:pPr marL="425450" indent="-285750" algn="l">
              <a:buFont typeface="Arial" panose="020B0604020202020204" pitchFamily="34" charset="0"/>
              <a:buChar char="•"/>
            </a:pPr>
            <a:r>
              <a:rPr lang="en-US" dirty="0"/>
              <a:t>Reduces exposure area</a:t>
            </a:r>
          </a:p>
          <a:p>
            <a:pPr marL="425450" indent="-285750" algn="l">
              <a:buFont typeface="Arial" panose="020B0604020202020204" pitchFamily="34" charset="0"/>
              <a:buChar char="•"/>
            </a:pPr>
            <a:r>
              <a:rPr lang="en-US" dirty="0"/>
              <a:t>Limits attackers from deleting or manipulating data</a:t>
            </a:r>
          </a:p>
          <a:p>
            <a:pPr marL="425450" indent="-285750" algn="l">
              <a:buFont typeface="Arial" panose="020B0604020202020204" pitchFamily="34" charset="0"/>
              <a:buChar char="•"/>
            </a:pPr>
            <a:r>
              <a:rPr lang="en-US" dirty="0"/>
              <a:t>Prevents access to unintended buckets or objects</a:t>
            </a:r>
          </a:p>
          <a:p>
            <a:pPr algn="l"/>
            <a:endParaRPr lang="en-IN" dirty="0"/>
          </a:p>
        </p:txBody>
      </p:sp>
    </p:spTree>
    <p:extLst>
      <p:ext uri="{BB962C8B-B14F-4D97-AF65-F5344CB8AC3E}">
        <p14:creationId xmlns:p14="http://schemas.microsoft.com/office/powerpoint/2010/main" val="11517370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3E8D7-DF75-974F-59B6-B0169DBEAB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AC224-A974-0790-EB27-A6D81C32F693}"/>
              </a:ext>
            </a:extLst>
          </p:cNvPr>
          <p:cNvSpPr>
            <a:spLocks noGrp="1"/>
          </p:cNvSpPr>
          <p:nvPr>
            <p:ph type="title"/>
          </p:nvPr>
        </p:nvSpPr>
        <p:spPr/>
        <p:txBody>
          <a:bodyPr/>
          <a:lstStyle/>
          <a:p>
            <a:r>
              <a:rPr lang="en-IN" sz="2400" dirty="0"/>
              <a:t>Prevention 3: Use Server-Side Encryption (SSE)</a:t>
            </a:r>
          </a:p>
        </p:txBody>
      </p:sp>
      <p:sp>
        <p:nvSpPr>
          <p:cNvPr id="3" name="Text Placeholder 2">
            <a:extLst>
              <a:ext uri="{FF2B5EF4-FFF2-40B4-BE49-F238E27FC236}">
                <a16:creationId xmlns:a16="http://schemas.microsoft.com/office/drawing/2014/main" id="{199D3BC6-8E54-B687-167D-792E5E30AC2B}"/>
              </a:ext>
            </a:extLst>
          </p:cNvPr>
          <p:cNvSpPr>
            <a:spLocks noGrp="1"/>
          </p:cNvSpPr>
          <p:nvPr>
            <p:ph type="body" idx="1"/>
          </p:nvPr>
        </p:nvSpPr>
        <p:spPr/>
        <p:txBody>
          <a:bodyPr/>
          <a:lstStyle/>
          <a:p>
            <a:r>
              <a:rPr lang="en-US" b="1" dirty="0"/>
              <a:t>What it does:</a:t>
            </a:r>
          </a:p>
          <a:p>
            <a:pPr marL="425450" indent="-285750">
              <a:buFont typeface="Arial" panose="020B0604020202020204" pitchFamily="34" charset="0"/>
              <a:buChar char="•"/>
            </a:pPr>
            <a:r>
              <a:rPr lang="en-US" dirty="0"/>
              <a:t>Encrypts your data </a:t>
            </a:r>
            <a:r>
              <a:rPr lang="en-US" b="1" dirty="0"/>
              <a:t>at rest</a:t>
            </a:r>
            <a:r>
              <a:rPr lang="en-US" dirty="0"/>
              <a:t> in S3.</a:t>
            </a:r>
          </a:p>
          <a:p>
            <a:r>
              <a:rPr lang="en-US" b="1" dirty="0"/>
              <a:t>Types:</a:t>
            </a:r>
          </a:p>
          <a:p>
            <a:pPr marL="425450" indent="-285750">
              <a:buFont typeface="Arial" panose="020B0604020202020204" pitchFamily="34" charset="0"/>
              <a:buChar char="•"/>
            </a:pPr>
            <a:r>
              <a:rPr lang="en-US" b="1" dirty="0"/>
              <a:t>SSE-S3</a:t>
            </a:r>
            <a:r>
              <a:rPr lang="en-US" dirty="0"/>
              <a:t> – managed by AWS</a:t>
            </a:r>
          </a:p>
          <a:p>
            <a:pPr marL="425450" indent="-285750">
              <a:buFont typeface="Arial" panose="020B0604020202020204" pitchFamily="34" charset="0"/>
              <a:buChar char="•"/>
            </a:pPr>
            <a:r>
              <a:rPr lang="en-US" b="1" dirty="0"/>
              <a:t>SSE-KMS</a:t>
            </a:r>
            <a:r>
              <a:rPr lang="en-US" dirty="0"/>
              <a:t> – uses KMS keys for tighter access control</a:t>
            </a:r>
          </a:p>
          <a:p>
            <a:pPr marL="425450" indent="-285750">
              <a:buFont typeface="Arial" panose="020B0604020202020204" pitchFamily="34" charset="0"/>
              <a:buChar char="•"/>
            </a:pPr>
            <a:r>
              <a:rPr lang="en-US" b="1" dirty="0"/>
              <a:t>SSE-C</a:t>
            </a:r>
            <a:r>
              <a:rPr lang="en-US" dirty="0"/>
              <a:t> – customer-provided keys (less common)</a:t>
            </a:r>
          </a:p>
          <a:p>
            <a:r>
              <a:rPr lang="en-US" b="1" dirty="0"/>
              <a:t>Why it helps:</a:t>
            </a:r>
          </a:p>
          <a:p>
            <a:pPr marL="425450" indent="-285750">
              <a:buFont typeface="Arial" panose="020B0604020202020204" pitchFamily="34" charset="0"/>
              <a:buChar char="•"/>
            </a:pPr>
            <a:r>
              <a:rPr lang="en-US" dirty="0"/>
              <a:t>Even if someone gains access to S3 storage behind the scenes, the data remains unreadable.</a:t>
            </a:r>
          </a:p>
          <a:p>
            <a:r>
              <a:rPr lang="en-US" b="1" dirty="0"/>
              <a:t>How it prevents exploitation:</a:t>
            </a:r>
          </a:p>
          <a:p>
            <a:pPr marL="425450" indent="-285750">
              <a:buFont typeface="Arial" panose="020B0604020202020204" pitchFamily="34" charset="0"/>
              <a:buChar char="•"/>
            </a:pPr>
            <a:r>
              <a:rPr lang="en-US" dirty="0"/>
              <a:t>Protects data from being exposed in plaintext</a:t>
            </a:r>
          </a:p>
          <a:p>
            <a:pPr marL="425450" indent="-285750">
              <a:buFont typeface="Arial" panose="020B0604020202020204" pitchFamily="34" charset="0"/>
              <a:buChar char="•"/>
            </a:pPr>
            <a:r>
              <a:rPr lang="en-US" dirty="0"/>
              <a:t>Restricts access to objects unless IAM + KMS permissions are correct</a:t>
            </a:r>
          </a:p>
          <a:p>
            <a:pPr marL="425450" indent="-285750">
              <a:buFont typeface="Arial" panose="020B0604020202020204" pitchFamily="34" charset="0"/>
              <a:buChar char="•"/>
            </a:pPr>
            <a:r>
              <a:rPr lang="en-US" dirty="0"/>
              <a:t>Adds an extra layer of security during breaches</a:t>
            </a:r>
          </a:p>
          <a:p>
            <a:endParaRPr lang="en-IN" dirty="0"/>
          </a:p>
        </p:txBody>
      </p:sp>
    </p:spTree>
    <p:extLst>
      <p:ext uri="{BB962C8B-B14F-4D97-AF65-F5344CB8AC3E}">
        <p14:creationId xmlns:p14="http://schemas.microsoft.com/office/powerpoint/2010/main" val="42347518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0D9E9-63F0-7658-529E-C31B5F06CF4C}"/>
              </a:ext>
            </a:extLst>
          </p:cNvPr>
          <p:cNvSpPr>
            <a:spLocks noGrp="1"/>
          </p:cNvSpPr>
          <p:nvPr>
            <p:ph type="title"/>
          </p:nvPr>
        </p:nvSpPr>
        <p:spPr>
          <a:xfrm>
            <a:off x="720000" y="253200"/>
            <a:ext cx="7704000" cy="572700"/>
          </a:xfrm>
        </p:spPr>
        <p:txBody>
          <a:bodyPr/>
          <a:lstStyle/>
          <a:p>
            <a:r>
              <a:rPr lang="en-IN" sz="2800" dirty="0"/>
              <a:t>Prevention 4: Monitor with AWS CloudTrail</a:t>
            </a:r>
          </a:p>
        </p:txBody>
      </p:sp>
      <p:sp>
        <p:nvSpPr>
          <p:cNvPr id="3" name="Text Placeholder 2">
            <a:extLst>
              <a:ext uri="{FF2B5EF4-FFF2-40B4-BE49-F238E27FC236}">
                <a16:creationId xmlns:a16="http://schemas.microsoft.com/office/drawing/2014/main" id="{2AE342E4-CE89-33E4-8CC9-8D7CDB56E50A}"/>
              </a:ext>
            </a:extLst>
          </p:cNvPr>
          <p:cNvSpPr>
            <a:spLocks noGrp="1"/>
          </p:cNvSpPr>
          <p:nvPr>
            <p:ph type="body" idx="1"/>
          </p:nvPr>
        </p:nvSpPr>
        <p:spPr>
          <a:xfrm>
            <a:off x="720000" y="825900"/>
            <a:ext cx="7704000" cy="3625640"/>
          </a:xfrm>
        </p:spPr>
        <p:txBody>
          <a:bodyPr/>
          <a:lstStyle/>
          <a:p>
            <a:r>
              <a:rPr lang="en-US" b="1" dirty="0"/>
              <a:t>What it does:</a:t>
            </a:r>
          </a:p>
          <a:p>
            <a:pPr marL="425450" indent="-285750">
              <a:buFont typeface="Arial" panose="020B0604020202020204" pitchFamily="34" charset="0"/>
              <a:buChar char="•"/>
            </a:pPr>
            <a:r>
              <a:rPr lang="en-US" dirty="0"/>
              <a:t>Logs every API call made in your AWS account, including:</a:t>
            </a:r>
          </a:p>
          <a:p>
            <a:pPr marL="1200150" lvl="1" indent="-285750">
              <a:buFont typeface="Arial" panose="020B0604020202020204" pitchFamily="34" charset="0"/>
              <a:buChar char="•"/>
            </a:pPr>
            <a:r>
              <a:rPr lang="en-US" dirty="0" err="1"/>
              <a:t>GetObject</a:t>
            </a:r>
            <a:r>
              <a:rPr lang="en-US" dirty="0"/>
              <a:t> </a:t>
            </a:r>
          </a:p>
          <a:p>
            <a:pPr marL="1200150" lvl="1" indent="-285750">
              <a:buFont typeface="Arial" panose="020B0604020202020204" pitchFamily="34" charset="0"/>
              <a:buChar char="•"/>
            </a:pPr>
            <a:r>
              <a:rPr lang="en-US" dirty="0" err="1"/>
              <a:t>PutObject</a:t>
            </a:r>
            <a:endParaRPr lang="en-US" dirty="0"/>
          </a:p>
          <a:p>
            <a:pPr marL="1200150" lvl="1" indent="-285750">
              <a:buFont typeface="Arial" panose="020B0604020202020204" pitchFamily="34" charset="0"/>
              <a:buChar char="•"/>
            </a:pPr>
            <a:r>
              <a:rPr lang="en-US" dirty="0" err="1"/>
              <a:t>ListBucket</a:t>
            </a:r>
            <a:endParaRPr lang="en-US" dirty="0"/>
          </a:p>
          <a:p>
            <a:pPr marL="1200150" lvl="1" indent="-285750">
              <a:buFont typeface="Arial" panose="020B0604020202020204" pitchFamily="34" charset="0"/>
              <a:buChar char="•"/>
            </a:pPr>
            <a:r>
              <a:rPr lang="en-US" dirty="0" err="1"/>
              <a:t>DeleteObject</a:t>
            </a:r>
            <a:endParaRPr lang="en-US" dirty="0"/>
          </a:p>
          <a:p>
            <a:r>
              <a:rPr lang="en-US" b="1" dirty="0"/>
              <a:t>Why it helps:</a:t>
            </a:r>
          </a:p>
          <a:p>
            <a:pPr marL="425450" indent="-285750">
              <a:buFont typeface="Arial" panose="020B0604020202020204" pitchFamily="34" charset="0"/>
              <a:buChar char="•"/>
            </a:pPr>
            <a:r>
              <a:rPr lang="en-US" dirty="0"/>
              <a:t>Allows detection of suspicious activity such as:</a:t>
            </a:r>
          </a:p>
          <a:p>
            <a:pPr marL="425450" indent="-285750">
              <a:buFont typeface="Arial" panose="020B0604020202020204" pitchFamily="34" charset="0"/>
              <a:buChar char="•"/>
            </a:pPr>
            <a:r>
              <a:rPr lang="en-US" dirty="0"/>
              <a:t>Unexpected object downloads</a:t>
            </a:r>
          </a:p>
          <a:p>
            <a:pPr marL="425450" indent="-285750">
              <a:buFont typeface="Arial" panose="020B0604020202020204" pitchFamily="34" charset="0"/>
              <a:buChar char="•"/>
            </a:pPr>
            <a:r>
              <a:rPr lang="en-US" dirty="0"/>
              <a:t>Attempts to change bucket permissions</a:t>
            </a:r>
          </a:p>
          <a:p>
            <a:pPr marL="425450" indent="-285750">
              <a:buFont typeface="Arial" panose="020B0604020202020204" pitchFamily="34" charset="0"/>
              <a:buChar char="•"/>
            </a:pPr>
            <a:r>
              <a:rPr lang="en-US" dirty="0"/>
              <a:t>Large data exfiltration patterns</a:t>
            </a:r>
          </a:p>
          <a:p>
            <a:r>
              <a:rPr lang="en-US" b="1" dirty="0"/>
              <a:t>How it prevents exploitation:</a:t>
            </a:r>
          </a:p>
          <a:p>
            <a:pPr marL="425450" indent="-285750">
              <a:buFont typeface="Arial" panose="020B0604020202020204" pitchFamily="34" charset="0"/>
              <a:buChar char="•"/>
            </a:pPr>
            <a:r>
              <a:rPr lang="en-US" dirty="0"/>
              <a:t>Helps detect attacks in real time</a:t>
            </a:r>
          </a:p>
          <a:p>
            <a:pPr marL="425450" indent="-285750">
              <a:buFont typeface="Arial" panose="020B0604020202020204" pitchFamily="34" charset="0"/>
              <a:buChar char="•"/>
            </a:pPr>
            <a:r>
              <a:rPr lang="en-US" dirty="0"/>
              <a:t>Enables alerts through CloudWatch</a:t>
            </a:r>
          </a:p>
          <a:p>
            <a:pPr marL="425450" indent="-285750">
              <a:buFont typeface="Arial" panose="020B0604020202020204" pitchFamily="34" charset="0"/>
              <a:buChar char="•"/>
            </a:pPr>
            <a:r>
              <a:rPr lang="en-US" dirty="0"/>
              <a:t>Provides audit trails for investigation</a:t>
            </a:r>
          </a:p>
          <a:p>
            <a:pPr marL="425450" indent="-285750">
              <a:buFont typeface="Arial" panose="020B0604020202020204" pitchFamily="34" charset="0"/>
              <a:buChar char="•"/>
            </a:pPr>
            <a:r>
              <a:rPr lang="en-US" dirty="0"/>
              <a:t>Adds accountability (who did what?)</a:t>
            </a:r>
          </a:p>
          <a:p>
            <a:endParaRPr lang="en-IN" dirty="0"/>
          </a:p>
        </p:txBody>
      </p:sp>
    </p:spTree>
    <p:extLst>
      <p:ext uri="{BB962C8B-B14F-4D97-AF65-F5344CB8AC3E}">
        <p14:creationId xmlns:p14="http://schemas.microsoft.com/office/powerpoint/2010/main" val="283993383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817AA-B238-D957-EBD7-806296024564}"/>
              </a:ext>
            </a:extLst>
          </p:cNvPr>
          <p:cNvSpPr>
            <a:spLocks noGrp="1"/>
          </p:cNvSpPr>
          <p:nvPr>
            <p:ph type="title"/>
          </p:nvPr>
        </p:nvSpPr>
        <p:spPr/>
        <p:txBody>
          <a:bodyPr/>
          <a:lstStyle/>
          <a:p>
            <a:r>
              <a:rPr lang="en-IN" dirty="0"/>
              <a:t>s3scanner</a:t>
            </a:r>
          </a:p>
        </p:txBody>
      </p:sp>
      <p:sp>
        <p:nvSpPr>
          <p:cNvPr id="3" name="Text Placeholder 2">
            <a:extLst>
              <a:ext uri="{FF2B5EF4-FFF2-40B4-BE49-F238E27FC236}">
                <a16:creationId xmlns:a16="http://schemas.microsoft.com/office/drawing/2014/main" id="{4C8E64EC-E042-C438-CF63-D2770752D464}"/>
              </a:ext>
            </a:extLst>
          </p:cNvPr>
          <p:cNvSpPr>
            <a:spLocks noGrp="1"/>
          </p:cNvSpPr>
          <p:nvPr>
            <p:ph type="body" idx="1"/>
          </p:nvPr>
        </p:nvSpPr>
        <p:spPr>
          <a:xfrm>
            <a:off x="720000" y="1086465"/>
            <a:ext cx="7704000" cy="3923069"/>
          </a:xfrm>
        </p:spPr>
        <p:txBody>
          <a:bodyPr/>
          <a:lstStyle/>
          <a:p>
            <a:pPr algn="l"/>
            <a:r>
              <a:rPr lang="en-US" b="1" dirty="0"/>
              <a:t>s3scanner</a:t>
            </a:r>
            <a:r>
              <a:rPr lang="en-US" dirty="0"/>
              <a:t> is an open-source </a:t>
            </a:r>
            <a:r>
              <a:rPr lang="en-US" b="1" dirty="0"/>
              <a:t>Amazon S3 bucket enumeration and auditing tool</a:t>
            </a:r>
            <a:r>
              <a:rPr lang="en-US" dirty="0"/>
              <a:t> used by penetration testers, bug bounty hunters, and cloud security professionals.</a:t>
            </a:r>
            <a:br>
              <a:rPr lang="en-US" dirty="0"/>
            </a:br>
            <a:r>
              <a:rPr lang="en-US" dirty="0"/>
              <a:t>It helps identify </a:t>
            </a:r>
            <a:r>
              <a:rPr lang="en-US" b="1" dirty="0"/>
              <a:t>publicly accessible or misconfigured S3 buckets</a:t>
            </a:r>
            <a:r>
              <a:rPr lang="en-US" dirty="0"/>
              <a:t> that may expose sensitive data.</a:t>
            </a:r>
          </a:p>
          <a:p>
            <a:pPr algn="l"/>
            <a:r>
              <a:rPr lang="en-US" b="1" dirty="0"/>
              <a:t>Goal: </a:t>
            </a:r>
            <a:r>
              <a:rPr lang="en-US" dirty="0"/>
              <a:t>To </a:t>
            </a:r>
            <a:r>
              <a:rPr lang="en-US" b="1" dirty="0"/>
              <a:t>find, test, and report insecure S3 buckets</a:t>
            </a:r>
            <a:r>
              <a:rPr lang="en-US" dirty="0"/>
              <a:t> (Simple Storage Service) in a given list of domains or bucket names.</a:t>
            </a:r>
          </a:p>
          <a:p>
            <a:pPr algn="l"/>
            <a:r>
              <a:rPr lang="en-US" b="1" dirty="0"/>
              <a:t>2. Purpose and Use Cases</a:t>
            </a:r>
          </a:p>
          <a:p>
            <a:pPr lvl="1"/>
            <a:r>
              <a:rPr lang="en-US" b="1" dirty="0"/>
              <a:t>Security Assessment: </a:t>
            </a:r>
            <a:r>
              <a:rPr lang="en-US" dirty="0"/>
              <a:t>Identify S3 buckets that are publicly accessible or misconfigured.</a:t>
            </a:r>
          </a:p>
          <a:p>
            <a:pPr lvl="1"/>
            <a:r>
              <a:rPr lang="en-US" b="1" dirty="0"/>
              <a:t>Vulnerability Scanning: </a:t>
            </a:r>
            <a:r>
              <a:rPr lang="en-US" dirty="0"/>
              <a:t>Check whether buckets allow </a:t>
            </a:r>
            <a:r>
              <a:rPr lang="en-US" i="1" dirty="0"/>
              <a:t>read</a:t>
            </a:r>
            <a:r>
              <a:rPr lang="en-US" dirty="0"/>
              <a:t>, </a:t>
            </a:r>
            <a:r>
              <a:rPr lang="en-US" i="1" dirty="0"/>
              <a:t>write</a:t>
            </a:r>
            <a:r>
              <a:rPr lang="en-US" dirty="0"/>
              <a:t>, or </a:t>
            </a:r>
            <a:r>
              <a:rPr lang="en-US" i="1" dirty="0"/>
              <a:t>list</a:t>
            </a:r>
            <a:r>
              <a:rPr lang="en-US" dirty="0"/>
              <a:t> permissions.</a:t>
            </a:r>
          </a:p>
          <a:p>
            <a:pPr lvl="1"/>
            <a:r>
              <a:rPr lang="en-US" b="1" dirty="0"/>
              <a:t>Incident Response: </a:t>
            </a:r>
            <a:r>
              <a:rPr lang="en-US" dirty="0"/>
              <a:t>Detect data exposure or leaks caused by human error.</a:t>
            </a:r>
          </a:p>
          <a:p>
            <a:pPr lvl="1"/>
            <a:r>
              <a:rPr lang="en-US" b="1" dirty="0"/>
              <a:t>Compliance Auditing: </a:t>
            </a:r>
            <a:r>
              <a:rPr lang="en-US" dirty="0"/>
              <a:t>Verify that cloud storage complies with privacy and data protection standards.</a:t>
            </a:r>
          </a:p>
          <a:p>
            <a:pPr algn="l"/>
            <a:endParaRPr lang="en-IN" dirty="0"/>
          </a:p>
        </p:txBody>
      </p:sp>
    </p:spTree>
    <p:extLst>
      <p:ext uri="{BB962C8B-B14F-4D97-AF65-F5344CB8AC3E}">
        <p14:creationId xmlns:p14="http://schemas.microsoft.com/office/powerpoint/2010/main" val="18417045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8ECAF-CC30-FCFF-554F-84D688A3C148}"/>
              </a:ext>
            </a:extLst>
          </p:cNvPr>
          <p:cNvSpPr>
            <a:spLocks noGrp="1"/>
          </p:cNvSpPr>
          <p:nvPr>
            <p:ph type="title"/>
          </p:nvPr>
        </p:nvSpPr>
        <p:spPr/>
        <p:txBody>
          <a:bodyPr/>
          <a:lstStyle/>
          <a:p>
            <a:r>
              <a:rPr lang="en-US" dirty="0"/>
              <a:t>s3Inspector</a:t>
            </a:r>
            <a:endParaRPr lang="en-IN" dirty="0"/>
          </a:p>
        </p:txBody>
      </p:sp>
      <p:sp>
        <p:nvSpPr>
          <p:cNvPr id="3" name="Text Placeholder 2">
            <a:extLst>
              <a:ext uri="{FF2B5EF4-FFF2-40B4-BE49-F238E27FC236}">
                <a16:creationId xmlns:a16="http://schemas.microsoft.com/office/drawing/2014/main" id="{A8D4818C-F8ED-7974-0885-E657E63591C8}"/>
              </a:ext>
            </a:extLst>
          </p:cNvPr>
          <p:cNvSpPr>
            <a:spLocks noGrp="1"/>
          </p:cNvSpPr>
          <p:nvPr>
            <p:ph type="body" idx="1"/>
          </p:nvPr>
        </p:nvSpPr>
        <p:spPr/>
        <p:txBody>
          <a:bodyPr/>
          <a:lstStyle/>
          <a:p>
            <a:pPr algn="l"/>
            <a:r>
              <a:rPr lang="en-US" b="1" dirty="0"/>
              <a:t>s3Inspector</a:t>
            </a:r>
            <a:r>
              <a:rPr lang="en-US" dirty="0"/>
              <a:t> is an </a:t>
            </a:r>
            <a:r>
              <a:rPr lang="en-US" b="1" dirty="0"/>
              <a:t>open-source security auditing tool</a:t>
            </a:r>
            <a:r>
              <a:rPr lang="en-US" dirty="0"/>
              <a:t> for </a:t>
            </a:r>
            <a:r>
              <a:rPr lang="en-US" b="1" dirty="0"/>
              <a:t>Amazon S3 (Simple Storage Service)</a:t>
            </a:r>
            <a:r>
              <a:rPr lang="en-US" dirty="0"/>
              <a:t>.</a:t>
            </a:r>
            <a:br>
              <a:rPr lang="en-US" dirty="0"/>
            </a:br>
            <a:r>
              <a:rPr lang="en-US" dirty="0"/>
              <a:t>It helps identify </a:t>
            </a:r>
            <a:r>
              <a:rPr lang="en-US" b="1" dirty="0"/>
              <a:t>misconfigured, publicly accessible, or vulnerable S3 buckets</a:t>
            </a:r>
            <a:r>
              <a:rPr lang="en-US" dirty="0"/>
              <a:t> by testing access permissions and generating detailed reports.</a:t>
            </a:r>
          </a:p>
          <a:p>
            <a:pPr algn="l"/>
            <a:r>
              <a:rPr lang="en-US" dirty="0"/>
              <a:t>It is primarily used by:</a:t>
            </a:r>
          </a:p>
          <a:p>
            <a:pPr lvl="1"/>
            <a:r>
              <a:rPr lang="en-US" dirty="0"/>
              <a:t>Cloud security professionals</a:t>
            </a:r>
          </a:p>
          <a:p>
            <a:pPr lvl="1"/>
            <a:r>
              <a:rPr lang="en-US" dirty="0"/>
              <a:t>Penetration testers</a:t>
            </a:r>
          </a:p>
          <a:p>
            <a:pPr lvl="1"/>
            <a:r>
              <a:rPr lang="en-US" dirty="0" err="1"/>
              <a:t>DevSecOps</a:t>
            </a:r>
            <a:r>
              <a:rPr lang="en-US" dirty="0"/>
              <a:t> teams</a:t>
            </a:r>
          </a:p>
          <a:p>
            <a:pPr lvl="1"/>
            <a:r>
              <a:rPr lang="en-US" dirty="0"/>
              <a:t>Compliance auditors</a:t>
            </a:r>
          </a:p>
          <a:p>
            <a:pPr algn="l"/>
            <a:endParaRPr lang="en-US" dirty="0"/>
          </a:p>
          <a:p>
            <a:pPr algn="l"/>
            <a:r>
              <a:rPr lang="en-US" b="1" dirty="0"/>
              <a:t>Objective: </a:t>
            </a:r>
            <a:r>
              <a:rPr lang="en-US" dirty="0"/>
              <a:t>To </a:t>
            </a:r>
            <a:r>
              <a:rPr lang="en-US" b="1" dirty="0"/>
              <a:t>inspect S3 buckets for security weaknesses</a:t>
            </a:r>
            <a:r>
              <a:rPr lang="en-US" dirty="0"/>
              <a:t> such as public read/write/list access and misconfigured ACLs or IAM policies.</a:t>
            </a:r>
          </a:p>
          <a:p>
            <a:pPr algn="l"/>
            <a:endParaRPr lang="en-IN" dirty="0"/>
          </a:p>
        </p:txBody>
      </p:sp>
    </p:spTree>
    <p:extLst>
      <p:ext uri="{BB962C8B-B14F-4D97-AF65-F5344CB8AC3E}">
        <p14:creationId xmlns:p14="http://schemas.microsoft.com/office/powerpoint/2010/main" val="33684711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74678-235E-CB1F-A810-D233E69AA6CA}"/>
              </a:ext>
            </a:extLst>
          </p:cNvPr>
          <p:cNvSpPr>
            <a:spLocks noGrp="1"/>
          </p:cNvSpPr>
          <p:nvPr>
            <p:ph type="title"/>
          </p:nvPr>
        </p:nvSpPr>
        <p:spPr/>
        <p:txBody>
          <a:bodyPr/>
          <a:lstStyle/>
          <a:p>
            <a:r>
              <a:rPr lang="en-US" sz="2800" dirty="0"/>
              <a:t>Comparison of S3Scanner vs S3Inspector:</a:t>
            </a:r>
            <a:endParaRPr lang="en-IN" sz="2800" dirty="0"/>
          </a:p>
        </p:txBody>
      </p:sp>
      <p:graphicFrame>
        <p:nvGraphicFramePr>
          <p:cNvPr id="4" name="Table 3">
            <a:extLst>
              <a:ext uri="{FF2B5EF4-FFF2-40B4-BE49-F238E27FC236}">
                <a16:creationId xmlns:a16="http://schemas.microsoft.com/office/drawing/2014/main" id="{9BEF4CD8-0BAA-A639-655F-782877241918}"/>
              </a:ext>
            </a:extLst>
          </p:cNvPr>
          <p:cNvGraphicFramePr>
            <a:graphicFrameLocks noGrp="1"/>
          </p:cNvGraphicFramePr>
          <p:nvPr/>
        </p:nvGraphicFramePr>
        <p:xfrm>
          <a:off x="919315" y="1076631"/>
          <a:ext cx="7256207" cy="3310695"/>
        </p:xfrm>
        <a:graphic>
          <a:graphicData uri="http://schemas.openxmlformats.org/drawingml/2006/table">
            <a:tbl>
              <a:tblPr>
                <a:tableStyleId>{EEEFB3D3-C7DD-41E9-AA9F-930C74197033}</a:tableStyleId>
              </a:tblPr>
              <a:tblGrid>
                <a:gridCol w="1523312">
                  <a:extLst>
                    <a:ext uri="{9D8B030D-6E8A-4147-A177-3AD203B41FA5}">
                      <a16:colId xmlns:a16="http://schemas.microsoft.com/office/drawing/2014/main" val="2437759701"/>
                    </a:ext>
                  </a:extLst>
                </a:gridCol>
                <a:gridCol w="2882827">
                  <a:extLst>
                    <a:ext uri="{9D8B030D-6E8A-4147-A177-3AD203B41FA5}">
                      <a16:colId xmlns:a16="http://schemas.microsoft.com/office/drawing/2014/main" val="1936915960"/>
                    </a:ext>
                  </a:extLst>
                </a:gridCol>
                <a:gridCol w="2850068">
                  <a:extLst>
                    <a:ext uri="{9D8B030D-6E8A-4147-A177-3AD203B41FA5}">
                      <a16:colId xmlns:a16="http://schemas.microsoft.com/office/drawing/2014/main" val="1873265517"/>
                    </a:ext>
                  </a:extLst>
                </a:gridCol>
              </a:tblGrid>
              <a:tr h="220898">
                <a:tc>
                  <a:txBody>
                    <a:bodyPr/>
                    <a:lstStyle/>
                    <a:p>
                      <a:pPr algn="ctr" fontAlgn="ctr">
                        <a:buNone/>
                      </a:pPr>
                      <a:r>
                        <a:rPr lang="en-IN" sz="1400" b="1" u="none" strike="noStrike" dirty="0">
                          <a:effectLst/>
                        </a:rPr>
                        <a:t>Feature</a:t>
                      </a:r>
                      <a:endParaRPr lang="en-IN" sz="14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buNone/>
                      </a:pPr>
                      <a:r>
                        <a:rPr lang="en-IN" sz="1400" b="1" u="none" strike="noStrike">
                          <a:effectLst/>
                        </a:rPr>
                        <a:t>S3Scanner</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buNone/>
                      </a:pPr>
                      <a:r>
                        <a:rPr lang="en-IN" sz="1400" b="1" u="none" strike="noStrike" dirty="0">
                          <a:effectLst/>
                        </a:rPr>
                        <a:t>S3Inspector</a:t>
                      </a:r>
                      <a:endParaRPr lang="en-IN" sz="14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727748534"/>
                  </a:ext>
                </a:extLst>
              </a:tr>
              <a:tr h="441796">
                <a:tc>
                  <a:txBody>
                    <a:bodyPr/>
                    <a:lstStyle/>
                    <a:p>
                      <a:pPr algn="l" fontAlgn="ctr">
                        <a:buNone/>
                      </a:pPr>
                      <a:r>
                        <a:rPr lang="en-IN" sz="1400" b="1" u="none" strike="noStrike">
                          <a:effectLst/>
                        </a:rPr>
                        <a:t>Primary Purpose</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100" u="none" strike="noStrike">
                          <a:effectLst/>
                        </a:rPr>
                        <a:t>Discover publicly accessible S3 buckets</a:t>
                      </a:r>
                      <a:endParaRPr lang="en-US"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100" u="none" strike="noStrike">
                          <a:effectLst/>
                        </a:rPr>
                        <a:t>Audit and analyze S3 bucket permissions &amp; security</a:t>
                      </a:r>
                      <a:endParaRPr lang="en-US"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065953058"/>
                  </a:ext>
                </a:extLst>
              </a:tr>
              <a:tr h="220898">
                <a:tc>
                  <a:txBody>
                    <a:bodyPr/>
                    <a:lstStyle/>
                    <a:p>
                      <a:pPr algn="l" fontAlgn="ctr">
                        <a:buNone/>
                      </a:pPr>
                      <a:r>
                        <a:rPr lang="en-IN" sz="1400" b="1" u="none" strike="noStrike">
                          <a:effectLst/>
                        </a:rPr>
                        <a:t>Usage Type</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External enumeration</a:t>
                      </a:r>
                      <a:endParaRPr lang="en-IN"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Internal auditing</a:t>
                      </a:r>
                      <a:endParaRPr lang="en-IN"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4182577985"/>
                  </a:ext>
                </a:extLst>
              </a:tr>
              <a:tr h="220898">
                <a:tc>
                  <a:txBody>
                    <a:bodyPr/>
                    <a:lstStyle/>
                    <a:p>
                      <a:pPr algn="l" fontAlgn="ctr">
                        <a:buNone/>
                      </a:pPr>
                      <a:r>
                        <a:rPr lang="en-IN" sz="1400" b="1" u="none" strike="noStrike">
                          <a:effectLst/>
                        </a:rPr>
                        <a:t>Input Required</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100" u="none" strike="noStrike">
                          <a:effectLst/>
                        </a:rPr>
                        <a:t>List/wordlist of bucket names</a:t>
                      </a:r>
                      <a:endParaRPr lang="en-US"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AWS credentials (IAM user/role)</a:t>
                      </a:r>
                      <a:endParaRPr lang="en-IN"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499556772"/>
                  </a:ext>
                </a:extLst>
              </a:tr>
              <a:tr h="441796">
                <a:tc>
                  <a:txBody>
                    <a:bodyPr/>
                    <a:lstStyle/>
                    <a:p>
                      <a:pPr algn="l" fontAlgn="ctr">
                        <a:buNone/>
                      </a:pPr>
                      <a:r>
                        <a:rPr lang="en-IN" sz="1400" b="1" u="none" strike="noStrike">
                          <a:effectLst/>
                        </a:rPr>
                        <a:t>Focus</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Finding open buckets</a:t>
                      </a:r>
                      <a:endParaRPr lang="en-IN"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100" u="none" strike="noStrike">
                          <a:effectLst/>
                        </a:rPr>
                        <a:t>Checking configuration, ACLs, IAM policies</a:t>
                      </a:r>
                      <a:endParaRPr lang="en-US"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239460689"/>
                  </a:ext>
                </a:extLst>
              </a:tr>
              <a:tr h="441796">
                <a:tc>
                  <a:txBody>
                    <a:bodyPr/>
                    <a:lstStyle/>
                    <a:p>
                      <a:pPr algn="l" fontAlgn="ctr">
                        <a:buNone/>
                      </a:pPr>
                      <a:r>
                        <a:rPr lang="en-IN" sz="1400" b="1" u="none" strike="noStrike">
                          <a:effectLst/>
                        </a:rPr>
                        <a:t>Output</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Public-read/write findings</a:t>
                      </a:r>
                      <a:endParaRPr lang="en-IN"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100" u="none" strike="noStrike">
                          <a:effectLst/>
                        </a:rPr>
                        <a:t>Detailed security report of bucket settings</a:t>
                      </a:r>
                      <a:endParaRPr lang="en-US"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498126942"/>
                  </a:ext>
                </a:extLst>
              </a:tr>
              <a:tr h="441796">
                <a:tc>
                  <a:txBody>
                    <a:bodyPr/>
                    <a:lstStyle/>
                    <a:p>
                      <a:pPr algn="l" fontAlgn="ctr">
                        <a:buNone/>
                      </a:pPr>
                      <a:r>
                        <a:rPr lang="en-IN" sz="1400" b="1" u="none" strike="noStrike">
                          <a:effectLst/>
                        </a:rPr>
                        <a:t>Typical Use Case</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100" u="none" strike="noStrike">
                          <a:effectLst/>
                        </a:rPr>
                        <a:t>Identify exposed buckets during security tests</a:t>
                      </a:r>
                      <a:endParaRPr lang="en-US"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100" u="none" strike="noStrike">
                          <a:effectLst/>
                        </a:rPr>
                        <a:t>Ensure compliance and correct bucket configurations</a:t>
                      </a:r>
                      <a:endParaRPr lang="en-US"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732948547"/>
                  </a:ext>
                </a:extLst>
              </a:tr>
              <a:tr h="441796">
                <a:tc>
                  <a:txBody>
                    <a:bodyPr/>
                    <a:lstStyle/>
                    <a:p>
                      <a:pPr algn="l" fontAlgn="ctr">
                        <a:buNone/>
                      </a:pPr>
                      <a:r>
                        <a:rPr lang="en-IN" sz="1400" b="1" u="none" strike="noStrike">
                          <a:effectLst/>
                        </a:rPr>
                        <a:t>Risk Level Detected</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Public exposure</a:t>
                      </a:r>
                      <a:endParaRPr lang="en-IN"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Misconfigurations, overly permissive policies</a:t>
                      </a:r>
                      <a:endParaRPr lang="en-IN"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571992768"/>
                  </a:ext>
                </a:extLst>
              </a:tr>
              <a:tr h="220898">
                <a:tc>
                  <a:txBody>
                    <a:bodyPr/>
                    <a:lstStyle/>
                    <a:p>
                      <a:pPr algn="l" fontAlgn="ctr">
                        <a:buNone/>
                      </a:pPr>
                      <a:r>
                        <a:rPr lang="en-IN" sz="1400" b="1" u="none" strike="noStrike">
                          <a:effectLst/>
                        </a:rPr>
                        <a:t>Environment</a:t>
                      </a:r>
                      <a:endParaRPr lang="en-IN" sz="14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No AWS access required</a:t>
                      </a:r>
                      <a:endParaRPr lang="en-IN"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Requires AWS access</a:t>
                      </a:r>
                      <a:endParaRPr lang="en-IN" sz="11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753938041"/>
                  </a:ext>
                </a:extLst>
              </a:tr>
              <a:tr h="156991">
                <a:tc>
                  <a:txBody>
                    <a:bodyPr/>
                    <a:lstStyle/>
                    <a:p>
                      <a:pPr algn="l" fontAlgn="ctr">
                        <a:buNone/>
                      </a:pPr>
                      <a:r>
                        <a:rPr lang="en-IN" sz="1400" b="1" u="none" strike="noStrike" dirty="0">
                          <a:effectLst/>
                        </a:rPr>
                        <a:t>Nature of Tool</a:t>
                      </a:r>
                      <a:endParaRPr lang="en-IN" sz="14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a:effectLst/>
                        </a:rPr>
                        <a:t>Offensive/external security testing</a:t>
                      </a:r>
                      <a:endParaRPr lang="en-IN" sz="11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100" u="none" strike="noStrike" dirty="0">
                          <a:effectLst/>
                        </a:rPr>
                        <a:t>Defensive/internal security auditing</a:t>
                      </a:r>
                      <a:endParaRPr lang="en-IN" sz="11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581689304"/>
                  </a:ext>
                </a:extLst>
              </a:tr>
            </a:tbl>
          </a:graphicData>
        </a:graphic>
      </p:graphicFrame>
    </p:spTree>
    <p:extLst>
      <p:ext uri="{BB962C8B-B14F-4D97-AF65-F5344CB8AC3E}">
        <p14:creationId xmlns:p14="http://schemas.microsoft.com/office/powerpoint/2010/main" val="15584597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4" name="TextBox 3">
            <a:extLst>
              <a:ext uri="{FF2B5EF4-FFF2-40B4-BE49-F238E27FC236}">
                <a16:creationId xmlns:a16="http://schemas.microsoft.com/office/drawing/2014/main" id="{2D4AEA93-B45D-C658-A60F-6ED845F9FE86}"/>
              </a:ext>
            </a:extLst>
          </p:cNvPr>
          <p:cNvSpPr txBox="1"/>
          <p:nvPr/>
        </p:nvSpPr>
        <p:spPr>
          <a:xfrm>
            <a:off x="709614" y="1443038"/>
            <a:ext cx="7549484" cy="707886"/>
          </a:xfrm>
          <a:prstGeom prst="rect">
            <a:avLst/>
          </a:prstGeom>
          <a:noFill/>
        </p:spPr>
        <p:txBody>
          <a:bodyPr wrap="square" rtlCol="0">
            <a:spAutoFit/>
          </a:bodyPr>
          <a:lstStyle/>
          <a:p>
            <a:pPr algn="ctr"/>
            <a:r>
              <a:rPr lang="en-US" sz="4000" b="1" dirty="0">
                <a:solidFill>
                  <a:srgbClr val="0070C0"/>
                </a:solidFill>
                <a:latin typeface="Calibri" panose="020F0502020204030204" pitchFamily="34" charset="0"/>
                <a:ea typeface="Calibri" panose="020F0502020204030204" pitchFamily="34" charset="0"/>
                <a:cs typeface="Calibri" panose="020F0502020204030204" pitchFamily="34" charset="0"/>
              </a:rPr>
              <a:t>Introduction to GRC</a:t>
            </a:r>
            <a:endParaRPr lang="en-IN" sz="4000" b="1" dirty="0">
              <a:solidFill>
                <a:srgbClr val="0070C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694707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A929E-8F1D-F1AB-163D-F76F6C34E8E0}"/>
              </a:ext>
            </a:extLst>
          </p:cNvPr>
          <p:cNvSpPr>
            <a:spLocks noGrp="1"/>
          </p:cNvSpPr>
          <p:nvPr>
            <p:ph type="title"/>
          </p:nvPr>
        </p:nvSpPr>
        <p:spPr/>
        <p:txBody>
          <a:bodyPr/>
          <a:lstStyle/>
          <a:p>
            <a:r>
              <a:rPr lang="en-IN" b="0" dirty="0"/>
              <a:t> </a:t>
            </a:r>
            <a:r>
              <a:rPr lang="en-IN" dirty="0"/>
              <a:t>Introduction to GRC: </a:t>
            </a:r>
            <a:r>
              <a:rPr lang="en-IN" b="0" dirty="0"/>
              <a:t>	</a:t>
            </a:r>
          </a:p>
        </p:txBody>
      </p:sp>
      <p:sp>
        <p:nvSpPr>
          <p:cNvPr id="4" name="Text Placeholder 3">
            <a:extLst>
              <a:ext uri="{FF2B5EF4-FFF2-40B4-BE49-F238E27FC236}">
                <a16:creationId xmlns:a16="http://schemas.microsoft.com/office/drawing/2014/main" id="{35934257-3BA3-1692-D9FF-6ECE2D4E9642}"/>
              </a:ext>
            </a:extLst>
          </p:cNvPr>
          <p:cNvSpPr>
            <a:spLocks noGrp="1"/>
          </p:cNvSpPr>
          <p:nvPr>
            <p:ph type="body" idx="1"/>
          </p:nvPr>
        </p:nvSpPr>
        <p:spPr>
          <a:xfrm>
            <a:off x="720000" y="841572"/>
            <a:ext cx="7704000" cy="3917241"/>
          </a:xfrm>
        </p:spPr>
        <p:txBody>
          <a:bodyPr/>
          <a:lstStyle/>
          <a:p>
            <a:r>
              <a:rPr lang="en-US" dirty="0"/>
              <a:t>GRC, which stands for </a:t>
            </a:r>
            <a:r>
              <a:rPr lang="en-US" b="1" dirty="0"/>
              <a:t>Governance, Risk Management, and Compliance</a:t>
            </a:r>
            <a:r>
              <a:rPr lang="en-US" dirty="0"/>
              <a:t>, is a strategic framework that helps organizations align their operations with business goals, manage risks effectively, and meet regulatory requirements. It integrates these three separate functions into a unified model to improve efficiency, reduce waste, and ensure ethical, legal, and policy adherence across the company. GRC's goal is to enable organizations to achieve principled performance by reliably meeting objectives, addressing uncertainty, and acting with integrity</a:t>
            </a:r>
          </a:p>
          <a:p>
            <a:pPr marL="425450" indent="-285750">
              <a:buFont typeface="Arial" panose="020B0604020202020204" pitchFamily="34" charset="0"/>
              <a:buChar char="•"/>
            </a:pPr>
            <a:r>
              <a:rPr lang="en-US" dirty="0"/>
              <a:t>A structured approach to aligning IT and business operations with organizational goals, while effectively managing risk and meeting compliance requirements.</a:t>
            </a:r>
          </a:p>
          <a:p>
            <a:pPr marL="425450" indent="-285750">
              <a:buFont typeface="Arial" panose="020B0604020202020204" pitchFamily="34" charset="0"/>
              <a:buChar char="•"/>
            </a:pPr>
            <a:r>
              <a:rPr lang="en-US" dirty="0"/>
              <a:t>It’s about doing the right thing (Governance), understanding and navigating uncertainty (Risk), and following the rules (Compliance).</a:t>
            </a:r>
          </a:p>
          <a:p>
            <a:pPr marL="425450" indent="-285750">
              <a:buFont typeface="Arial" panose="020B0604020202020204" pitchFamily="34" charset="0"/>
              <a:buChar char="•"/>
            </a:pPr>
            <a:r>
              <a:rPr lang="en-US" dirty="0"/>
              <a:t>GRC is not just about avoiding fines; it's about creating value, ensuring long-term sustainability, and making informed decisions.</a:t>
            </a:r>
          </a:p>
          <a:p>
            <a:pPr marL="425450" indent="-285750">
              <a:buFont typeface="Arial" panose="020B0604020202020204" pitchFamily="34" charset="0"/>
              <a:buChar char="•"/>
            </a:pPr>
            <a:r>
              <a:rPr lang="en-US" dirty="0"/>
              <a:t>It's proactive, not just reactive. A strong GRC program doesn't just prevent problems; it identifies opportunities for improvement and efficiency.</a:t>
            </a:r>
            <a:endParaRPr lang="en-IN" dirty="0"/>
          </a:p>
        </p:txBody>
      </p:sp>
    </p:spTree>
    <p:extLst>
      <p:ext uri="{BB962C8B-B14F-4D97-AF65-F5344CB8AC3E}">
        <p14:creationId xmlns:p14="http://schemas.microsoft.com/office/powerpoint/2010/main" val="242508812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98C1220-38AB-BAA1-4AF7-2156A7D84727}"/>
              </a:ext>
            </a:extLst>
          </p:cNvPr>
          <p:cNvSpPr>
            <a:spLocks noGrp="1"/>
          </p:cNvSpPr>
          <p:nvPr>
            <p:ph type="title"/>
          </p:nvPr>
        </p:nvSpPr>
        <p:spPr/>
        <p:txBody>
          <a:bodyPr/>
          <a:lstStyle/>
          <a:p>
            <a:r>
              <a:rPr lang="en-IN" dirty="0"/>
              <a:t>Components of GRC</a:t>
            </a:r>
            <a:br>
              <a:rPr lang="en-IN" dirty="0"/>
            </a:br>
            <a:endParaRPr lang="en-IN" dirty="0"/>
          </a:p>
        </p:txBody>
      </p:sp>
      <p:pic>
        <p:nvPicPr>
          <p:cNvPr id="7" name="Picture 6">
            <a:extLst>
              <a:ext uri="{FF2B5EF4-FFF2-40B4-BE49-F238E27FC236}">
                <a16:creationId xmlns:a16="http://schemas.microsoft.com/office/drawing/2014/main" id="{458D8934-2721-4FBA-7434-FAB838583DDF}"/>
              </a:ext>
            </a:extLst>
          </p:cNvPr>
          <p:cNvPicPr>
            <a:picLocks noChangeAspect="1"/>
          </p:cNvPicPr>
          <p:nvPr/>
        </p:nvPicPr>
        <p:blipFill>
          <a:blip r:embed="rId2"/>
          <a:srcRect l="17258" r="17043"/>
          <a:stretch>
            <a:fillRect/>
          </a:stretch>
        </p:blipFill>
        <p:spPr>
          <a:xfrm>
            <a:off x="2841523" y="257029"/>
            <a:ext cx="6007509" cy="4550784"/>
          </a:xfrm>
          <a:prstGeom prst="rect">
            <a:avLst/>
          </a:prstGeom>
        </p:spPr>
      </p:pic>
    </p:spTree>
    <p:extLst>
      <p:ext uri="{BB962C8B-B14F-4D97-AF65-F5344CB8AC3E}">
        <p14:creationId xmlns:p14="http://schemas.microsoft.com/office/powerpoint/2010/main" val="286747703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24B6D1-D2AA-CBAC-0B36-4FBF4E9A5B2F}"/>
              </a:ext>
            </a:extLst>
          </p:cNvPr>
          <p:cNvPicPr>
            <a:picLocks noChangeAspect="1"/>
          </p:cNvPicPr>
          <p:nvPr/>
        </p:nvPicPr>
        <p:blipFill>
          <a:blip r:embed="rId2"/>
          <a:stretch>
            <a:fillRect/>
          </a:stretch>
        </p:blipFill>
        <p:spPr>
          <a:xfrm>
            <a:off x="3110137" y="47625"/>
            <a:ext cx="5652863" cy="4732974"/>
          </a:xfrm>
          <a:prstGeom prst="rect">
            <a:avLst/>
          </a:prstGeom>
        </p:spPr>
      </p:pic>
      <p:sp>
        <p:nvSpPr>
          <p:cNvPr id="6" name="Title 3">
            <a:extLst>
              <a:ext uri="{FF2B5EF4-FFF2-40B4-BE49-F238E27FC236}">
                <a16:creationId xmlns:a16="http://schemas.microsoft.com/office/drawing/2014/main" id="{4BC144EF-834E-7EAF-5CE8-AFFEC424A192}"/>
              </a:ext>
            </a:extLst>
          </p:cNvPr>
          <p:cNvSpPr>
            <a:spLocks noGrp="1"/>
          </p:cNvSpPr>
          <p:nvPr>
            <p:ph type="title"/>
          </p:nvPr>
        </p:nvSpPr>
        <p:spPr>
          <a:xfrm>
            <a:off x="119925" y="186117"/>
            <a:ext cx="7704000" cy="570488"/>
          </a:xfrm>
        </p:spPr>
        <p:txBody>
          <a:bodyPr/>
          <a:lstStyle/>
          <a:p>
            <a:r>
              <a:rPr lang="en-IN" dirty="0"/>
              <a:t>Components </a:t>
            </a:r>
            <a:br>
              <a:rPr lang="en-IN" dirty="0"/>
            </a:br>
            <a:r>
              <a:rPr lang="en-IN" dirty="0"/>
              <a:t>of GRC</a:t>
            </a:r>
            <a:br>
              <a:rPr lang="en-IN" dirty="0"/>
            </a:br>
            <a:endParaRPr lang="en-IN" dirty="0"/>
          </a:p>
        </p:txBody>
      </p:sp>
    </p:spTree>
    <p:extLst>
      <p:ext uri="{BB962C8B-B14F-4D97-AF65-F5344CB8AC3E}">
        <p14:creationId xmlns:p14="http://schemas.microsoft.com/office/powerpoint/2010/main" val="39980736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BB7F1-AF0D-8704-4C59-E9F4943CED83}"/>
              </a:ext>
            </a:extLst>
          </p:cNvPr>
          <p:cNvSpPr>
            <a:spLocks noGrp="1"/>
          </p:cNvSpPr>
          <p:nvPr>
            <p:ph type="title"/>
          </p:nvPr>
        </p:nvSpPr>
        <p:spPr/>
        <p:txBody>
          <a:bodyPr/>
          <a:lstStyle/>
          <a:p>
            <a:r>
              <a:rPr lang="en-IN" dirty="0"/>
              <a:t>Why GRC Matters</a:t>
            </a:r>
          </a:p>
        </p:txBody>
      </p:sp>
      <p:sp>
        <p:nvSpPr>
          <p:cNvPr id="3" name="Text Placeholder 2">
            <a:extLst>
              <a:ext uri="{FF2B5EF4-FFF2-40B4-BE49-F238E27FC236}">
                <a16:creationId xmlns:a16="http://schemas.microsoft.com/office/drawing/2014/main" id="{EBE630A5-1D40-E720-E030-E93909734964}"/>
              </a:ext>
            </a:extLst>
          </p:cNvPr>
          <p:cNvSpPr>
            <a:spLocks noGrp="1"/>
          </p:cNvSpPr>
          <p:nvPr>
            <p:ph type="body" idx="1"/>
          </p:nvPr>
        </p:nvSpPr>
        <p:spPr/>
        <p:txBody>
          <a:bodyPr/>
          <a:lstStyle/>
          <a:p>
            <a:pPr marL="596900" indent="-457200">
              <a:buFont typeface="Arial" panose="020B0604020202020204" pitchFamily="34" charset="0"/>
              <a:buChar char="•"/>
            </a:pPr>
            <a:r>
              <a:rPr lang="en-US" sz="2400" dirty="0"/>
              <a:t>Growing complexity of </a:t>
            </a:r>
            <a:r>
              <a:rPr lang="en-US" sz="2400" b="1" dirty="0"/>
              <a:t>regulations</a:t>
            </a:r>
            <a:r>
              <a:rPr lang="en-US" sz="2400" dirty="0"/>
              <a:t>, </a:t>
            </a:r>
            <a:r>
              <a:rPr lang="en-US" sz="2400" b="1" dirty="0"/>
              <a:t>cyber threats</a:t>
            </a:r>
            <a:r>
              <a:rPr lang="en-US" sz="2400" dirty="0"/>
              <a:t>, and </a:t>
            </a:r>
            <a:r>
              <a:rPr lang="en-US" sz="2400" b="1" dirty="0"/>
              <a:t>business operations</a:t>
            </a:r>
            <a:endParaRPr lang="en-US" sz="2400" dirty="0"/>
          </a:p>
          <a:p>
            <a:pPr marL="596900" indent="-457200">
              <a:buFont typeface="Arial" panose="020B0604020202020204" pitchFamily="34" charset="0"/>
              <a:buChar char="•"/>
            </a:pPr>
            <a:r>
              <a:rPr lang="en-US" sz="2400" dirty="0"/>
              <a:t>Minimizes </a:t>
            </a:r>
            <a:r>
              <a:rPr lang="en-US" sz="2400" b="1" dirty="0"/>
              <a:t>financial</a:t>
            </a:r>
            <a:r>
              <a:rPr lang="en-US" sz="2400" dirty="0"/>
              <a:t>, </a:t>
            </a:r>
            <a:r>
              <a:rPr lang="en-US" sz="2400" b="1" dirty="0"/>
              <a:t>operational</a:t>
            </a:r>
            <a:r>
              <a:rPr lang="en-US" sz="2400" dirty="0"/>
              <a:t>, and </a:t>
            </a:r>
            <a:r>
              <a:rPr lang="en-US" sz="2400" b="1" dirty="0"/>
              <a:t>reputational</a:t>
            </a:r>
            <a:r>
              <a:rPr lang="en-US" sz="2400" dirty="0"/>
              <a:t> risks</a:t>
            </a:r>
          </a:p>
          <a:p>
            <a:pPr marL="596900" indent="-457200">
              <a:buFont typeface="Arial" panose="020B0604020202020204" pitchFamily="34" charset="0"/>
              <a:buChar char="•"/>
            </a:pPr>
            <a:r>
              <a:rPr lang="en-US" sz="2400" dirty="0"/>
              <a:t>Supports </a:t>
            </a:r>
            <a:r>
              <a:rPr lang="en-US" sz="2400" b="1" dirty="0"/>
              <a:t>strategic decision-making</a:t>
            </a:r>
            <a:endParaRPr lang="en-US" sz="2400" dirty="0"/>
          </a:p>
          <a:p>
            <a:pPr marL="596900" indent="-457200">
              <a:buFont typeface="Arial" panose="020B0604020202020204" pitchFamily="34" charset="0"/>
              <a:buChar char="•"/>
            </a:pPr>
            <a:r>
              <a:rPr lang="en-US" sz="2400" dirty="0"/>
              <a:t>Reduces costs through </a:t>
            </a:r>
            <a:r>
              <a:rPr lang="en-US" sz="2400" b="1" dirty="0"/>
              <a:t>unified processes</a:t>
            </a:r>
            <a:r>
              <a:rPr lang="en-US" sz="2400" dirty="0"/>
              <a:t>.</a:t>
            </a:r>
          </a:p>
          <a:p>
            <a:pPr marL="596900" indent="-457200">
              <a:buFont typeface="Arial" panose="020B0604020202020204" pitchFamily="34" charset="0"/>
              <a:buChar char="•"/>
            </a:pPr>
            <a:r>
              <a:rPr lang="en-US" sz="2400" dirty="0"/>
              <a:t>Builds </a:t>
            </a:r>
            <a:r>
              <a:rPr lang="en-US" sz="2400" b="1" dirty="0"/>
              <a:t>stakeholder trust</a:t>
            </a:r>
            <a:r>
              <a:rPr lang="en-US" sz="2400" dirty="0"/>
              <a:t> (customers, investors, regulators)</a:t>
            </a:r>
          </a:p>
          <a:p>
            <a:pPr marL="596900" indent="-457200">
              <a:buFont typeface="Arial" panose="020B0604020202020204" pitchFamily="34" charset="0"/>
              <a:buChar char="•"/>
            </a:pPr>
            <a:endParaRPr lang="en-IN" sz="2400" dirty="0"/>
          </a:p>
        </p:txBody>
      </p:sp>
    </p:spTree>
    <p:extLst>
      <p:ext uri="{BB962C8B-B14F-4D97-AF65-F5344CB8AC3E}">
        <p14:creationId xmlns:p14="http://schemas.microsoft.com/office/powerpoint/2010/main" val="216070778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446BF-057B-E81F-8AE4-3AF618D95357}"/>
              </a:ext>
            </a:extLst>
          </p:cNvPr>
          <p:cNvSpPr>
            <a:spLocks noGrp="1"/>
          </p:cNvSpPr>
          <p:nvPr>
            <p:ph type="title"/>
          </p:nvPr>
        </p:nvSpPr>
        <p:spPr/>
        <p:txBody>
          <a:bodyPr/>
          <a:lstStyle/>
          <a:p>
            <a:r>
              <a:rPr lang="en-IN" dirty="0"/>
              <a:t>Governance</a:t>
            </a:r>
            <a:br>
              <a:rPr lang="en-IN" dirty="0"/>
            </a:br>
            <a:endParaRPr lang="en-IN" dirty="0"/>
          </a:p>
        </p:txBody>
      </p:sp>
      <p:sp>
        <p:nvSpPr>
          <p:cNvPr id="3" name="Text Placeholder 2">
            <a:extLst>
              <a:ext uri="{FF2B5EF4-FFF2-40B4-BE49-F238E27FC236}">
                <a16:creationId xmlns:a16="http://schemas.microsoft.com/office/drawing/2014/main" id="{2F81BA88-18B0-72D1-7EA3-E904CAA52A6D}"/>
              </a:ext>
            </a:extLst>
          </p:cNvPr>
          <p:cNvSpPr>
            <a:spLocks noGrp="1"/>
          </p:cNvSpPr>
          <p:nvPr>
            <p:ph type="body" idx="1"/>
          </p:nvPr>
        </p:nvSpPr>
        <p:spPr/>
        <p:txBody>
          <a:bodyPr/>
          <a:lstStyle/>
          <a:p>
            <a:r>
              <a:rPr lang="en-US" dirty="0"/>
              <a:t>Governance refers to </a:t>
            </a:r>
            <a:r>
              <a:rPr lang="en-US" b="1" dirty="0"/>
              <a:t>frameworks, rules, processes</a:t>
            </a:r>
            <a:r>
              <a:rPr lang="en-US" dirty="0"/>
              <a:t>, and </a:t>
            </a:r>
            <a:r>
              <a:rPr lang="en-US" b="1" dirty="0"/>
              <a:t>leadership structures</a:t>
            </a:r>
            <a:r>
              <a:rPr lang="en-US" dirty="0"/>
              <a:t> that direct an organization.</a:t>
            </a:r>
          </a:p>
          <a:p>
            <a:r>
              <a:rPr lang="en-US" dirty="0"/>
              <a:t>Ensures:</a:t>
            </a:r>
          </a:p>
          <a:p>
            <a:pPr lvl="1"/>
            <a:r>
              <a:rPr lang="en-US" dirty="0"/>
              <a:t>Alignment with </a:t>
            </a:r>
            <a:r>
              <a:rPr lang="en-US" b="1" dirty="0"/>
              <a:t>mission and vision</a:t>
            </a:r>
            <a:endParaRPr lang="en-US" dirty="0"/>
          </a:p>
          <a:p>
            <a:pPr lvl="1"/>
            <a:r>
              <a:rPr lang="en-US" dirty="0"/>
              <a:t>Ethical behavior</a:t>
            </a:r>
          </a:p>
          <a:p>
            <a:pPr lvl="1"/>
            <a:r>
              <a:rPr lang="en-US" dirty="0"/>
              <a:t>Transparent communication</a:t>
            </a:r>
          </a:p>
          <a:p>
            <a:pPr lvl="1"/>
            <a:r>
              <a:rPr lang="en-US" dirty="0"/>
              <a:t>Accountability at all levels</a:t>
            </a:r>
          </a:p>
          <a:p>
            <a:endParaRPr lang="en-US" sz="1800" dirty="0"/>
          </a:p>
          <a:p>
            <a:r>
              <a:rPr lang="en-US" sz="1800" b="1" dirty="0"/>
              <a:t>Key Components of Governance</a:t>
            </a:r>
          </a:p>
          <a:p>
            <a:pPr lvl="1"/>
            <a:r>
              <a:rPr lang="en-US" sz="1600" dirty="0"/>
              <a:t>Strategic Planning</a:t>
            </a:r>
          </a:p>
          <a:p>
            <a:pPr lvl="1"/>
            <a:r>
              <a:rPr lang="en-US" sz="1600" dirty="0"/>
              <a:t>Organizational Structure &amp; Roles</a:t>
            </a:r>
          </a:p>
          <a:p>
            <a:pPr lvl="1"/>
            <a:r>
              <a:rPr lang="en-US" sz="1600" dirty="0"/>
              <a:t>Policies &amp; Procedures</a:t>
            </a:r>
          </a:p>
          <a:p>
            <a:pPr lvl="1"/>
            <a:r>
              <a:rPr lang="en-US" sz="1600" dirty="0"/>
              <a:t>Performance Measurement &amp; KPIs</a:t>
            </a:r>
          </a:p>
          <a:p>
            <a:pPr lvl="1"/>
            <a:r>
              <a:rPr lang="en-US" sz="1600" dirty="0"/>
              <a:t>Decision-Making Frameworks</a:t>
            </a:r>
          </a:p>
          <a:p>
            <a:pPr lvl="1"/>
            <a:r>
              <a:rPr lang="en-US" sz="1600" dirty="0"/>
              <a:t>Internal Controls</a:t>
            </a:r>
          </a:p>
          <a:p>
            <a:pPr lvl="1"/>
            <a:r>
              <a:rPr lang="en-US" sz="1600" dirty="0"/>
              <a:t>Stakeholder Communication &amp; Reporting</a:t>
            </a:r>
          </a:p>
          <a:p>
            <a:endParaRPr lang="en-IN" sz="1800" dirty="0"/>
          </a:p>
          <a:p>
            <a:endParaRPr lang="en-US" sz="1800" dirty="0"/>
          </a:p>
          <a:p>
            <a:endParaRPr lang="en-IN" sz="1800" dirty="0"/>
          </a:p>
        </p:txBody>
      </p:sp>
    </p:spTree>
    <p:extLst>
      <p:ext uri="{BB962C8B-B14F-4D97-AF65-F5344CB8AC3E}">
        <p14:creationId xmlns:p14="http://schemas.microsoft.com/office/powerpoint/2010/main" val="303766097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52A5C-CEA6-FC75-CC1B-212032E3664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2D62672-194B-1473-80BC-4DF6AA4A429E}"/>
              </a:ext>
            </a:extLst>
          </p:cNvPr>
          <p:cNvSpPr>
            <a:spLocks noGrp="1"/>
          </p:cNvSpPr>
          <p:nvPr>
            <p:ph type="body" idx="1"/>
          </p:nvPr>
        </p:nvSpPr>
        <p:spPr/>
        <p:txBody>
          <a:bodyPr/>
          <a:lstStyle/>
          <a:p>
            <a:r>
              <a:rPr lang="en-US" sz="2400" b="1" dirty="0"/>
              <a:t>Objectives of Good Governance</a:t>
            </a:r>
          </a:p>
          <a:p>
            <a:pPr lvl="1"/>
            <a:r>
              <a:rPr lang="en-US" sz="2000" dirty="0"/>
              <a:t>Improve </a:t>
            </a:r>
            <a:r>
              <a:rPr lang="en-US" sz="2000" b="1" dirty="0"/>
              <a:t>organizational effectiveness</a:t>
            </a:r>
            <a:endParaRPr lang="en-US" sz="2000" dirty="0"/>
          </a:p>
          <a:p>
            <a:pPr lvl="1"/>
            <a:r>
              <a:rPr lang="en-US" sz="2000" dirty="0"/>
              <a:t>Ensure </a:t>
            </a:r>
            <a:r>
              <a:rPr lang="en-US" sz="2000" b="1" dirty="0"/>
              <a:t>responsibility</a:t>
            </a:r>
            <a:r>
              <a:rPr lang="en-US" sz="2000" dirty="0"/>
              <a:t> and </a:t>
            </a:r>
            <a:r>
              <a:rPr lang="en-US" sz="2000" b="1" dirty="0"/>
              <a:t>accountability</a:t>
            </a:r>
            <a:endParaRPr lang="en-US" sz="2000" dirty="0"/>
          </a:p>
          <a:p>
            <a:pPr lvl="1"/>
            <a:r>
              <a:rPr lang="en-US" sz="2000" dirty="0"/>
              <a:t>Facilitate </a:t>
            </a:r>
            <a:r>
              <a:rPr lang="en-US" sz="2000" b="1" dirty="0"/>
              <a:t>compliance</a:t>
            </a:r>
            <a:r>
              <a:rPr lang="en-US" sz="2000" dirty="0"/>
              <a:t> with laws and ethics</a:t>
            </a:r>
          </a:p>
          <a:p>
            <a:pPr lvl="1"/>
            <a:r>
              <a:rPr lang="en-US" sz="2000" dirty="0"/>
              <a:t>Enable </a:t>
            </a:r>
            <a:r>
              <a:rPr lang="en-US" sz="2000" b="1" dirty="0"/>
              <a:t>sustainable growth</a:t>
            </a:r>
            <a:endParaRPr lang="en-US" sz="2000" dirty="0"/>
          </a:p>
          <a:p>
            <a:pPr lvl="1"/>
            <a:r>
              <a:rPr lang="en-US" sz="2000" dirty="0"/>
              <a:t>Enhance </a:t>
            </a:r>
            <a:r>
              <a:rPr lang="en-US" sz="2000" b="1" dirty="0"/>
              <a:t>transparency</a:t>
            </a:r>
            <a:r>
              <a:rPr lang="en-US" sz="2000" dirty="0"/>
              <a:t> and </a:t>
            </a:r>
            <a:r>
              <a:rPr lang="en-US" sz="2000" b="1" dirty="0"/>
              <a:t>trust</a:t>
            </a:r>
            <a:endParaRPr lang="en-US" sz="2000" dirty="0"/>
          </a:p>
          <a:p>
            <a:endParaRPr lang="en-IN" sz="2400" dirty="0"/>
          </a:p>
        </p:txBody>
      </p:sp>
    </p:spTree>
    <p:extLst>
      <p:ext uri="{BB962C8B-B14F-4D97-AF65-F5344CB8AC3E}">
        <p14:creationId xmlns:p14="http://schemas.microsoft.com/office/powerpoint/2010/main" val="25045456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7ED49-15D5-6ABD-B33B-2B5C2D5AB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D76F8-9DEF-ADF4-6F56-1257200779B4}"/>
              </a:ext>
            </a:extLst>
          </p:cNvPr>
          <p:cNvSpPr>
            <a:spLocks noGrp="1"/>
          </p:cNvSpPr>
          <p:nvPr>
            <p:ph type="title"/>
          </p:nvPr>
        </p:nvSpPr>
        <p:spPr/>
        <p:txBody>
          <a:bodyPr/>
          <a:lstStyle/>
          <a:p>
            <a:r>
              <a:rPr lang="en-IN" dirty="0"/>
              <a:t>Risk Management</a:t>
            </a:r>
          </a:p>
        </p:txBody>
      </p:sp>
      <p:sp>
        <p:nvSpPr>
          <p:cNvPr id="3" name="Text Placeholder 2">
            <a:extLst>
              <a:ext uri="{FF2B5EF4-FFF2-40B4-BE49-F238E27FC236}">
                <a16:creationId xmlns:a16="http://schemas.microsoft.com/office/drawing/2014/main" id="{925F476E-D3E1-B82D-5019-34FECD8CF3CC}"/>
              </a:ext>
            </a:extLst>
          </p:cNvPr>
          <p:cNvSpPr>
            <a:spLocks noGrp="1"/>
          </p:cNvSpPr>
          <p:nvPr>
            <p:ph type="body" idx="1"/>
          </p:nvPr>
        </p:nvSpPr>
        <p:spPr/>
        <p:txBody>
          <a:bodyPr/>
          <a:lstStyle/>
          <a:p>
            <a:r>
              <a:rPr lang="en-IN" sz="1800" dirty="0"/>
              <a:t>A </a:t>
            </a:r>
            <a:r>
              <a:rPr lang="en-IN" sz="1800" b="1" dirty="0"/>
              <a:t>systematic process</a:t>
            </a:r>
            <a:r>
              <a:rPr lang="en-IN" sz="1800" dirty="0"/>
              <a:t> of identifying, assessing, and controlling risks that may impact organizational objectives.</a:t>
            </a:r>
          </a:p>
          <a:p>
            <a:r>
              <a:rPr lang="en-IN" sz="1800" dirty="0"/>
              <a:t>Involves:</a:t>
            </a:r>
          </a:p>
          <a:p>
            <a:pPr lvl="1"/>
            <a:r>
              <a:rPr lang="en-IN" sz="1600" dirty="0"/>
              <a:t>Identifying threats/opportunities</a:t>
            </a:r>
          </a:p>
          <a:p>
            <a:pPr lvl="1"/>
            <a:r>
              <a:rPr lang="en-IN" sz="1600" dirty="0"/>
              <a:t>Measuring likelihood + impact</a:t>
            </a:r>
          </a:p>
          <a:p>
            <a:pPr lvl="1"/>
            <a:r>
              <a:rPr lang="en-IN" sz="1600" dirty="0"/>
              <a:t>Implementing mitigation measures</a:t>
            </a:r>
          </a:p>
          <a:p>
            <a:br>
              <a:rPr lang="en-IN" sz="1800" dirty="0"/>
            </a:br>
            <a:r>
              <a:rPr lang="en-IN" sz="1800" b="1" dirty="0"/>
              <a:t>Types of Risks</a:t>
            </a:r>
          </a:p>
          <a:p>
            <a:pPr lvl="1"/>
            <a:r>
              <a:rPr lang="en-IN" sz="1600" b="1" dirty="0"/>
              <a:t>Strategic Risks</a:t>
            </a:r>
            <a:r>
              <a:rPr lang="en-IN" sz="1600" dirty="0"/>
              <a:t> (market changes, competition)</a:t>
            </a:r>
          </a:p>
          <a:p>
            <a:pPr lvl="1"/>
            <a:r>
              <a:rPr lang="en-IN" sz="1600" b="1" dirty="0"/>
              <a:t>Operational Risks</a:t>
            </a:r>
            <a:r>
              <a:rPr lang="en-IN" sz="1600" dirty="0"/>
              <a:t> (process failures, human error)</a:t>
            </a:r>
          </a:p>
          <a:p>
            <a:pPr lvl="1"/>
            <a:r>
              <a:rPr lang="en-IN" sz="1600" b="1" dirty="0"/>
              <a:t>Financial Risks</a:t>
            </a:r>
            <a:r>
              <a:rPr lang="en-IN" sz="1600" dirty="0"/>
              <a:t> (liquidity, credit issues)</a:t>
            </a:r>
          </a:p>
          <a:p>
            <a:pPr lvl="1"/>
            <a:r>
              <a:rPr lang="en-IN" sz="1600" b="1" dirty="0"/>
              <a:t>Cyber/Information Security Risks</a:t>
            </a:r>
            <a:r>
              <a:rPr lang="en-IN" sz="1600" dirty="0"/>
              <a:t> (breaches, ransomware)</a:t>
            </a:r>
          </a:p>
          <a:p>
            <a:pPr lvl="1"/>
            <a:r>
              <a:rPr lang="en-IN" sz="1600" b="1" dirty="0"/>
              <a:t>Compliance/Legal Risks</a:t>
            </a:r>
            <a:endParaRPr lang="en-IN" sz="1600" dirty="0"/>
          </a:p>
          <a:p>
            <a:pPr lvl="1"/>
            <a:r>
              <a:rPr lang="en-IN" sz="1600" b="1" dirty="0"/>
              <a:t>Reputational Risks</a:t>
            </a:r>
            <a:endParaRPr lang="en-IN" sz="1600" dirty="0"/>
          </a:p>
          <a:p>
            <a:pPr lvl="1"/>
            <a:r>
              <a:rPr lang="en-IN" sz="1600" b="1" dirty="0"/>
              <a:t>Environmental/External Risks</a:t>
            </a:r>
            <a:endParaRPr lang="en-IN" sz="1600" dirty="0"/>
          </a:p>
          <a:p>
            <a:endParaRPr lang="en-IN" sz="1800" dirty="0"/>
          </a:p>
        </p:txBody>
      </p:sp>
    </p:spTree>
    <p:extLst>
      <p:ext uri="{BB962C8B-B14F-4D97-AF65-F5344CB8AC3E}">
        <p14:creationId xmlns:p14="http://schemas.microsoft.com/office/powerpoint/2010/main" val="47426881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BFE6B-8F81-4190-8A22-3D70A6201A0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06170FF-64EC-EECD-493A-65E3DF7535D1}"/>
              </a:ext>
            </a:extLst>
          </p:cNvPr>
          <p:cNvSpPr>
            <a:spLocks noGrp="1"/>
          </p:cNvSpPr>
          <p:nvPr>
            <p:ph type="body" idx="1"/>
          </p:nvPr>
        </p:nvSpPr>
        <p:spPr/>
        <p:txBody>
          <a:bodyPr/>
          <a:lstStyle/>
          <a:p>
            <a:r>
              <a:rPr lang="en-IN" sz="3200" b="1" dirty="0"/>
              <a:t>Risk Management Process</a:t>
            </a:r>
          </a:p>
          <a:p>
            <a:pPr lvl="1"/>
            <a:r>
              <a:rPr lang="en-IN" sz="2800" dirty="0"/>
              <a:t>Risk Identification</a:t>
            </a:r>
          </a:p>
          <a:p>
            <a:pPr lvl="1"/>
            <a:r>
              <a:rPr lang="en-IN" sz="2800" dirty="0"/>
              <a:t>Risk Assessment </a:t>
            </a:r>
          </a:p>
          <a:p>
            <a:pPr lvl="1"/>
            <a:r>
              <a:rPr lang="en-IN" sz="2800" dirty="0"/>
              <a:t>Risk Prioritization </a:t>
            </a:r>
          </a:p>
          <a:p>
            <a:pPr lvl="1"/>
            <a:r>
              <a:rPr lang="en-IN" sz="2800" dirty="0"/>
              <a:t>Risk Mitigation</a:t>
            </a:r>
          </a:p>
          <a:p>
            <a:pPr lvl="1"/>
            <a:r>
              <a:rPr lang="en-IN" sz="2800" dirty="0"/>
              <a:t>Monitoring &amp; Review</a:t>
            </a:r>
          </a:p>
          <a:p>
            <a:pPr lvl="1"/>
            <a:r>
              <a:rPr lang="en-IN" sz="2800" dirty="0"/>
              <a:t>Reporting &amp; Communication</a:t>
            </a:r>
          </a:p>
          <a:p>
            <a:endParaRPr lang="en-IN" sz="3200" dirty="0"/>
          </a:p>
        </p:txBody>
      </p:sp>
    </p:spTree>
    <p:extLst>
      <p:ext uri="{BB962C8B-B14F-4D97-AF65-F5344CB8AC3E}">
        <p14:creationId xmlns:p14="http://schemas.microsoft.com/office/powerpoint/2010/main" val="188629753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53A4E-9926-C284-5972-033CFEBFE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8F7CE-C4FA-7033-87DD-A92AB31845D0}"/>
              </a:ext>
            </a:extLst>
          </p:cNvPr>
          <p:cNvSpPr>
            <a:spLocks noGrp="1"/>
          </p:cNvSpPr>
          <p:nvPr>
            <p:ph type="title"/>
          </p:nvPr>
        </p:nvSpPr>
        <p:spPr/>
        <p:txBody>
          <a:bodyPr/>
          <a:lstStyle/>
          <a:p>
            <a:r>
              <a:rPr lang="en-IN" dirty="0"/>
              <a:t>Compliance</a:t>
            </a:r>
          </a:p>
        </p:txBody>
      </p:sp>
      <p:sp>
        <p:nvSpPr>
          <p:cNvPr id="3" name="Text Placeholder 2">
            <a:extLst>
              <a:ext uri="{FF2B5EF4-FFF2-40B4-BE49-F238E27FC236}">
                <a16:creationId xmlns:a16="http://schemas.microsoft.com/office/drawing/2014/main" id="{45B736F2-24E3-F613-D7AA-DD6306D5D74A}"/>
              </a:ext>
            </a:extLst>
          </p:cNvPr>
          <p:cNvSpPr>
            <a:spLocks noGrp="1"/>
          </p:cNvSpPr>
          <p:nvPr>
            <p:ph type="body" idx="1"/>
          </p:nvPr>
        </p:nvSpPr>
        <p:spPr/>
        <p:txBody>
          <a:bodyPr/>
          <a:lstStyle/>
          <a:p>
            <a:r>
              <a:rPr lang="en-US" sz="1800" dirty="0"/>
              <a:t>Ensuring the organization follows all </a:t>
            </a:r>
            <a:r>
              <a:rPr lang="en-US" sz="1800" b="1" dirty="0"/>
              <a:t>laws</a:t>
            </a:r>
            <a:r>
              <a:rPr lang="en-US" sz="1800" dirty="0"/>
              <a:t>, </a:t>
            </a:r>
            <a:r>
              <a:rPr lang="en-US" sz="1800" b="1" dirty="0"/>
              <a:t>regulations</a:t>
            </a:r>
            <a:r>
              <a:rPr lang="en-US" sz="1800" dirty="0"/>
              <a:t>, </a:t>
            </a:r>
            <a:r>
              <a:rPr lang="en-US" sz="1800" b="1" dirty="0"/>
              <a:t>standards</a:t>
            </a:r>
            <a:r>
              <a:rPr lang="en-US" sz="1800" dirty="0"/>
              <a:t>, and </a:t>
            </a:r>
            <a:r>
              <a:rPr lang="en-US" sz="1800" b="1" dirty="0"/>
              <a:t>internal policies</a:t>
            </a:r>
            <a:r>
              <a:rPr lang="en-US" sz="1800" dirty="0"/>
              <a:t> relevant to its operations.</a:t>
            </a:r>
          </a:p>
          <a:p>
            <a:r>
              <a:rPr lang="en-US" sz="1800" dirty="0"/>
              <a:t>Includes:</a:t>
            </a:r>
          </a:p>
          <a:p>
            <a:pPr lvl="1"/>
            <a:r>
              <a:rPr lang="en-US" sz="1600" dirty="0"/>
              <a:t>Regulatory compliance</a:t>
            </a:r>
          </a:p>
          <a:p>
            <a:pPr lvl="1"/>
            <a:r>
              <a:rPr lang="en-US" sz="1600" dirty="0"/>
              <a:t>Industry standards</a:t>
            </a:r>
          </a:p>
          <a:p>
            <a:pPr lvl="1"/>
            <a:r>
              <a:rPr lang="en-US" sz="1600" dirty="0"/>
              <a:t>Contractual obligations</a:t>
            </a:r>
          </a:p>
          <a:p>
            <a:pPr lvl="1"/>
            <a:r>
              <a:rPr lang="en-US" sz="1600" dirty="0"/>
              <a:t>Ethical standards &amp; internal policies</a:t>
            </a:r>
          </a:p>
          <a:p>
            <a:pPr lvl="1"/>
            <a:endParaRPr lang="en-US" sz="1600" dirty="0"/>
          </a:p>
          <a:p>
            <a:r>
              <a:rPr lang="en-US" sz="1800" b="1" dirty="0"/>
              <a:t>Compliance Activities</a:t>
            </a:r>
          </a:p>
          <a:p>
            <a:pPr lvl="1"/>
            <a:r>
              <a:rPr lang="en-US" sz="1600" dirty="0"/>
              <a:t>Policy creation and enforcement</a:t>
            </a:r>
          </a:p>
          <a:p>
            <a:pPr lvl="1"/>
            <a:r>
              <a:rPr lang="en-US" sz="1600" dirty="0"/>
              <a:t>Monitoring &amp; audits</a:t>
            </a:r>
          </a:p>
          <a:p>
            <a:pPr lvl="1"/>
            <a:r>
              <a:rPr lang="en-US" sz="1600" dirty="0"/>
              <a:t>Internal training and awareness</a:t>
            </a:r>
          </a:p>
          <a:p>
            <a:pPr lvl="1"/>
            <a:r>
              <a:rPr lang="en-US" sz="1600" dirty="0"/>
              <a:t>Reporting violations</a:t>
            </a:r>
          </a:p>
          <a:p>
            <a:pPr lvl="1"/>
            <a:r>
              <a:rPr lang="en-US" sz="1600" dirty="0"/>
              <a:t>Documentation and evidence collection</a:t>
            </a:r>
          </a:p>
          <a:p>
            <a:pPr lvl="1"/>
            <a:endParaRPr lang="en-US" sz="1600" dirty="0"/>
          </a:p>
          <a:p>
            <a:endParaRPr lang="en-IN" sz="1800" dirty="0"/>
          </a:p>
        </p:txBody>
      </p:sp>
    </p:spTree>
    <p:extLst>
      <p:ext uri="{BB962C8B-B14F-4D97-AF65-F5344CB8AC3E}">
        <p14:creationId xmlns:p14="http://schemas.microsoft.com/office/powerpoint/2010/main" val="13764884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8E26E-156D-927F-C691-2C5D0668F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4CD91-6E0A-3EA5-FE60-757BCEEBE974}"/>
              </a:ext>
            </a:extLst>
          </p:cNvPr>
          <p:cNvSpPr>
            <a:spLocks noGrp="1"/>
          </p:cNvSpPr>
          <p:nvPr>
            <p:ph type="title"/>
          </p:nvPr>
        </p:nvSpPr>
        <p:spPr/>
        <p:txBody>
          <a:bodyPr/>
          <a:lstStyle/>
          <a:p>
            <a:r>
              <a:rPr lang="en-IN" dirty="0"/>
              <a:t>How GRC Works Together</a:t>
            </a:r>
          </a:p>
        </p:txBody>
      </p:sp>
      <p:sp>
        <p:nvSpPr>
          <p:cNvPr id="3" name="Text Placeholder 2">
            <a:extLst>
              <a:ext uri="{FF2B5EF4-FFF2-40B4-BE49-F238E27FC236}">
                <a16:creationId xmlns:a16="http://schemas.microsoft.com/office/drawing/2014/main" id="{3DD15ED1-1D84-ACE3-D3BE-85345926E6DB}"/>
              </a:ext>
            </a:extLst>
          </p:cNvPr>
          <p:cNvSpPr>
            <a:spLocks noGrp="1"/>
          </p:cNvSpPr>
          <p:nvPr>
            <p:ph type="body" idx="1"/>
          </p:nvPr>
        </p:nvSpPr>
        <p:spPr/>
        <p:txBody>
          <a:bodyPr/>
          <a:lstStyle/>
          <a:p>
            <a:pPr marL="425450" indent="-285750">
              <a:buFont typeface="Arial" panose="020B0604020202020204" pitchFamily="34" charset="0"/>
              <a:buChar char="•"/>
            </a:pPr>
            <a:r>
              <a:rPr lang="en-US" sz="2000" b="1" dirty="0"/>
              <a:t>Governance</a:t>
            </a:r>
            <a:r>
              <a:rPr lang="en-US" sz="2000" dirty="0"/>
              <a:t> sets direction, policies, and accountability for IT operations.</a:t>
            </a:r>
          </a:p>
          <a:p>
            <a:pPr marL="425450" indent="-285750">
              <a:buFont typeface="Arial" panose="020B0604020202020204" pitchFamily="34" charset="0"/>
              <a:buChar char="•"/>
            </a:pPr>
            <a:r>
              <a:rPr lang="en-US" sz="2000" b="1" dirty="0"/>
              <a:t>Risk Management</a:t>
            </a:r>
            <a:r>
              <a:rPr lang="en-US" sz="2000" dirty="0"/>
              <a:t> identifies and mitigates threats that could impact IT assets and services.</a:t>
            </a:r>
          </a:p>
          <a:p>
            <a:pPr marL="425450" indent="-285750">
              <a:buFont typeface="Arial" panose="020B0604020202020204" pitchFamily="34" charset="0"/>
              <a:buChar char="•"/>
            </a:pPr>
            <a:r>
              <a:rPr lang="en-US" sz="2000" b="1" dirty="0"/>
              <a:t>Compliance</a:t>
            </a:r>
            <a:r>
              <a:rPr lang="en-US" sz="2000" dirty="0"/>
              <a:t> ensures adherence to laws, standards, and internal controls.</a:t>
            </a:r>
          </a:p>
          <a:p>
            <a:pPr marL="425450" indent="-285750">
              <a:buFont typeface="Arial" panose="020B0604020202020204" pitchFamily="34" charset="0"/>
              <a:buChar char="•"/>
            </a:pPr>
            <a:r>
              <a:rPr lang="en-US" sz="2000" dirty="0"/>
              <a:t>Together, they create a </a:t>
            </a:r>
            <a:r>
              <a:rPr lang="en-US" sz="2000" b="1" dirty="0"/>
              <a:t>coherent security posture</a:t>
            </a:r>
            <a:r>
              <a:rPr lang="en-US" sz="2000" dirty="0"/>
              <a:t>, reduce operational gaps, and ensure </a:t>
            </a:r>
            <a:r>
              <a:rPr lang="en-US" sz="2000" b="1" dirty="0"/>
              <a:t>regulated, predictable, and resilient IT environments</a:t>
            </a:r>
            <a:r>
              <a:rPr lang="en-US" sz="2000" dirty="0"/>
              <a:t>.</a:t>
            </a:r>
          </a:p>
          <a:p>
            <a:pPr marL="425450" indent="-285750">
              <a:buFont typeface="Arial" panose="020B0604020202020204" pitchFamily="34" charset="0"/>
              <a:buChar char="•"/>
            </a:pPr>
            <a:r>
              <a:rPr lang="en-US" sz="2000" dirty="0"/>
              <a:t>Integration enables </a:t>
            </a:r>
            <a:r>
              <a:rPr lang="en-US" sz="2000" b="1" dirty="0"/>
              <a:t>continuous monitoring</a:t>
            </a:r>
            <a:r>
              <a:rPr lang="en-US" sz="2000" dirty="0"/>
              <a:t>, </a:t>
            </a:r>
            <a:r>
              <a:rPr lang="en-US" sz="2000" b="1" dirty="0"/>
              <a:t>faster decision-making</a:t>
            </a:r>
            <a:r>
              <a:rPr lang="en-US" sz="2000" dirty="0"/>
              <a:t>, and </a:t>
            </a:r>
            <a:r>
              <a:rPr lang="en-US" sz="2000" b="1" dirty="0"/>
              <a:t>reduced security and regulatory failures</a:t>
            </a:r>
            <a:r>
              <a:rPr lang="en-US" sz="2000" dirty="0"/>
              <a:t>.</a:t>
            </a:r>
          </a:p>
          <a:p>
            <a:pPr marL="4254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422032784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75D93-4EEA-B759-7ECB-C4248D863CE8}"/>
              </a:ext>
            </a:extLst>
          </p:cNvPr>
          <p:cNvSpPr>
            <a:spLocks noGrp="1"/>
          </p:cNvSpPr>
          <p:nvPr>
            <p:ph type="title"/>
          </p:nvPr>
        </p:nvSpPr>
        <p:spPr>
          <a:xfrm>
            <a:off x="358877" y="186117"/>
            <a:ext cx="8065123" cy="447296"/>
          </a:xfrm>
        </p:spPr>
        <p:txBody>
          <a:bodyPr/>
          <a:lstStyle/>
          <a:p>
            <a:r>
              <a:rPr lang="en-US" sz="2000" dirty="0"/>
              <a:t>GRC in an Organization’s Information Security Program</a:t>
            </a:r>
            <a:endParaRPr lang="en-IN" sz="2000" dirty="0"/>
          </a:p>
        </p:txBody>
      </p:sp>
      <p:sp>
        <p:nvSpPr>
          <p:cNvPr id="3" name="Text Placeholder 2">
            <a:extLst>
              <a:ext uri="{FF2B5EF4-FFF2-40B4-BE49-F238E27FC236}">
                <a16:creationId xmlns:a16="http://schemas.microsoft.com/office/drawing/2014/main" id="{22BBE5F1-F7D9-7AC0-F895-01303C3D0393}"/>
              </a:ext>
            </a:extLst>
          </p:cNvPr>
          <p:cNvSpPr>
            <a:spLocks noGrp="1"/>
          </p:cNvSpPr>
          <p:nvPr>
            <p:ph type="body" idx="1"/>
          </p:nvPr>
        </p:nvSpPr>
        <p:spPr>
          <a:xfrm>
            <a:off x="358877" y="781050"/>
            <a:ext cx="8436077" cy="4319278"/>
          </a:xfrm>
        </p:spPr>
        <p:txBody>
          <a:bodyPr/>
          <a:lstStyle/>
          <a:p>
            <a:pPr algn="l"/>
            <a:r>
              <a:rPr lang="en-IN" b="1" dirty="0"/>
              <a:t>1. Governance – Setting Direction &amp; Rules: </a:t>
            </a:r>
            <a:endParaRPr lang="en-IN" dirty="0"/>
          </a:p>
          <a:p>
            <a:pPr algn="l"/>
            <a:r>
              <a:rPr lang="en-IN" b="1" dirty="0"/>
              <a:t>Example</a:t>
            </a:r>
            <a:r>
              <a:rPr lang="en-IN" dirty="0"/>
              <a:t>: A company’s leadership creates an </a:t>
            </a:r>
            <a:r>
              <a:rPr lang="en-IN" b="1" dirty="0"/>
              <a:t>Information Security Policy</a:t>
            </a:r>
            <a:r>
              <a:rPr lang="en-IN" dirty="0"/>
              <a:t> that states:</a:t>
            </a:r>
          </a:p>
          <a:p>
            <a:pPr lvl="1"/>
            <a:r>
              <a:rPr lang="en-IN" dirty="0"/>
              <a:t>All employee devices must use strong passwords</a:t>
            </a:r>
          </a:p>
          <a:p>
            <a:pPr lvl="1"/>
            <a:r>
              <a:rPr lang="en-IN" dirty="0"/>
              <a:t>Sensitive data must be encrypted</a:t>
            </a:r>
          </a:p>
          <a:p>
            <a:pPr lvl="1"/>
            <a:r>
              <a:rPr lang="en-IN" dirty="0"/>
              <a:t>Only authorized staff can access customer information</a:t>
            </a:r>
          </a:p>
          <a:p>
            <a:pPr algn="l"/>
            <a:r>
              <a:rPr lang="en-IN" dirty="0"/>
              <a:t>This policy provides </a:t>
            </a:r>
            <a:r>
              <a:rPr lang="en-IN" b="1" dirty="0"/>
              <a:t>direction, structure, and expectations</a:t>
            </a:r>
            <a:r>
              <a:rPr lang="en-IN" dirty="0"/>
              <a:t> for how security should function across the organization.</a:t>
            </a:r>
          </a:p>
          <a:p>
            <a:pPr algn="l"/>
            <a:r>
              <a:rPr lang="en-IN" b="1" dirty="0"/>
              <a:t>2. Risk Management – Identifying and Handling Security Threats</a:t>
            </a:r>
            <a:endParaRPr lang="en-IN" dirty="0"/>
          </a:p>
          <a:p>
            <a:pPr algn="l"/>
            <a:r>
              <a:rPr lang="en-IN" b="1" i="1" dirty="0"/>
              <a:t>Example</a:t>
            </a:r>
            <a:r>
              <a:rPr lang="en-IN" i="1" dirty="0"/>
              <a:t>: </a:t>
            </a:r>
            <a:r>
              <a:rPr lang="en-IN" dirty="0"/>
              <a:t>The security team identifies a risk:</a:t>
            </a:r>
          </a:p>
          <a:p>
            <a:pPr lvl="0" algn="l"/>
            <a:r>
              <a:rPr lang="en-IN" dirty="0"/>
              <a:t>	Employees may fall for phishing emails, leading to data breaches.</a:t>
            </a:r>
          </a:p>
          <a:p>
            <a:pPr algn="l"/>
            <a:r>
              <a:rPr lang="en-IN" dirty="0"/>
              <a:t>They assess the risk and decide to:</a:t>
            </a:r>
          </a:p>
          <a:p>
            <a:pPr lvl="1"/>
            <a:r>
              <a:rPr lang="en-IN" dirty="0"/>
              <a:t>Conduct phishing-awareness training</a:t>
            </a:r>
          </a:p>
          <a:p>
            <a:pPr lvl="1"/>
            <a:r>
              <a:rPr lang="en-IN" dirty="0"/>
              <a:t>Enable email filtering</a:t>
            </a:r>
          </a:p>
          <a:p>
            <a:pPr lvl="1"/>
            <a:r>
              <a:rPr lang="en-IN" dirty="0"/>
              <a:t>Implement multi-factor authentication (MFA)</a:t>
            </a:r>
          </a:p>
          <a:p>
            <a:pPr algn="l"/>
            <a:r>
              <a:rPr lang="en-IN" dirty="0"/>
              <a:t>This shows how the organization </a:t>
            </a:r>
            <a:r>
              <a:rPr lang="en-IN" b="1" dirty="0"/>
              <a:t>identifies, evaluates, and mitigates risks</a:t>
            </a:r>
            <a:r>
              <a:rPr lang="en-IN" dirty="0"/>
              <a:t> to protect its assets.</a:t>
            </a:r>
          </a:p>
          <a:p>
            <a:pPr algn="l"/>
            <a:endParaRPr lang="en-IN" sz="1100" dirty="0"/>
          </a:p>
        </p:txBody>
      </p:sp>
    </p:spTree>
    <p:extLst>
      <p:ext uri="{BB962C8B-B14F-4D97-AF65-F5344CB8AC3E}">
        <p14:creationId xmlns:p14="http://schemas.microsoft.com/office/powerpoint/2010/main" val="384153293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24974-6786-1312-5D2E-63FAD971714F}"/>
              </a:ext>
            </a:extLst>
          </p:cNvPr>
          <p:cNvSpPr>
            <a:spLocks noGrp="1"/>
          </p:cNvSpPr>
          <p:nvPr>
            <p:ph type="title"/>
          </p:nvPr>
        </p:nvSpPr>
        <p:spPr>
          <a:xfrm>
            <a:off x="309563" y="186117"/>
            <a:ext cx="8114437" cy="570488"/>
          </a:xfrm>
        </p:spPr>
        <p:txBody>
          <a:bodyPr/>
          <a:lstStyle/>
          <a:p>
            <a:r>
              <a:rPr lang="en-US" sz="2000" dirty="0"/>
              <a:t>GRC in an Organization’s Information Security Program</a:t>
            </a:r>
            <a:endParaRPr lang="en-IN" sz="2000" dirty="0"/>
          </a:p>
        </p:txBody>
      </p:sp>
      <p:sp>
        <p:nvSpPr>
          <p:cNvPr id="3" name="Text Placeholder 2">
            <a:extLst>
              <a:ext uri="{FF2B5EF4-FFF2-40B4-BE49-F238E27FC236}">
                <a16:creationId xmlns:a16="http://schemas.microsoft.com/office/drawing/2014/main" id="{BDB17C6A-F257-DEEF-2CBF-06BD9CFEE97C}"/>
              </a:ext>
            </a:extLst>
          </p:cNvPr>
          <p:cNvSpPr>
            <a:spLocks noGrp="1"/>
          </p:cNvSpPr>
          <p:nvPr>
            <p:ph type="body" idx="1"/>
          </p:nvPr>
        </p:nvSpPr>
        <p:spPr>
          <a:xfrm>
            <a:off x="381000" y="609600"/>
            <a:ext cx="8043000" cy="4490728"/>
          </a:xfrm>
        </p:spPr>
        <p:txBody>
          <a:bodyPr/>
          <a:lstStyle/>
          <a:p>
            <a:pPr algn="l"/>
            <a:r>
              <a:rPr lang="en-IN" b="1" dirty="0"/>
              <a:t>3. Compliance – Following Laws, Standards, and Policies</a:t>
            </a:r>
            <a:endParaRPr lang="en-IN" dirty="0"/>
          </a:p>
          <a:p>
            <a:pPr algn="l"/>
            <a:r>
              <a:rPr lang="en-IN" i="1" dirty="0"/>
              <a:t>Example: </a:t>
            </a:r>
            <a:br>
              <a:rPr lang="en-IN" dirty="0"/>
            </a:br>
            <a:r>
              <a:rPr lang="en-IN" dirty="0"/>
              <a:t>The company must comply with </a:t>
            </a:r>
            <a:r>
              <a:rPr lang="en-IN" b="1" dirty="0"/>
              <a:t>ISO 27001</a:t>
            </a:r>
            <a:r>
              <a:rPr lang="en-IN" dirty="0"/>
              <a:t> requirements.</a:t>
            </a:r>
            <a:br>
              <a:rPr lang="en-IN" dirty="0"/>
            </a:br>
            <a:r>
              <a:rPr lang="en-IN" dirty="0"/>
              <a:t>To do this, they:</a:t>
            </a:r>
          </a:p>
          <a:p>
            <a:pPr lvl="1"/>
            <a:r>
              <a:rPr lang="en-IN" dirty="0"/>
              <a:t>Maintain audit logs</a:t>
            </a:r>
          </a:p>
          <a:p>
            <a:pPr lvl="1"/>
            <a:r>
              <a:rPr lang="en-IN" dirty="0"/>
              <a:t>Protect customer data</a:t>
            </a:r>
          </a:p>
          <a:p>
            <a:pPr lvl="1"/>
            <a:r>
              <a:rPr lang="en-IN" dirty="0"/>
              <a:t>Perform regular security audits</a:t>
            </a:r>
          </a:p>
          <a:p>
            <a:pPr lvl="1"/>
            <a:r>
              <a:rPr lang="en-IN" dirty="0"/>
              <a:t>Document processes and controls</a:t>
            </a:r>
          </a:p>
          <a:p>
            <a:pPr algn="l"/>
            <a:r>
              <a:rPr lang="en-IN" dirty="0"/>
              <a:t>Compliance ensures the organization </a:t>
            </a:r>
            <a:r>
              <a:rPr lang="en-IN" b="1" dirty="0"/>
              <a:t>meets legal obligations</a:t>
            </a:r>
            <a:r>
              <a:rPr lang="en-IN" dirty="0"/>
              <a:t>, industry standards, and its own internal policies.</a:t>
            </a:r>
          </a:p>
          <a:p>
            <a:pPr algn="l"/>
            <a:r>
              <a:rPr lang="en-IN" b="1" dirty="0"/>
              <a:t>🎯 Putting It Together (Integrated Example)</a:t>
            </a:r>
            <a:endParaRPr lang="en-IN" dirty="0"/>
          </a:p>
          <a:p>
            <a:pPr algn="l"/>
            <a:r>
              <a:rPr lang="en-IN" dirty="0"/>
              <a:t>A company’s leaders set security policies (</a:t>
            </a:r>
            <a:r>
              <a:rPr lang="en-IN" b="1" dirty="0"/>
              <a:t>Governance</a:t>
            </a:r>
            <a:r>
              <a:rPr lang="en-IN" dirty="0"/>
              <a:t>), the security team identifies and fixes vulnerabilities (</a:t>
            </a:r>
            <a:r>
              <a:rPr lang="en-IN" b="1" dirty="0"/>
              <a:t>Risk Management</a:t>
            </a:r>
            <a:r>
              <a:rPr lang="en-IN" dirty="0"/>
              <a:t>), and the organization ensures it follows laws and standards like </a:t>
            </a:r>
            <a:r>
              <a:rPr lang="en-IN" b="1" dirty="0"/>
              <a:t>ISO 27001</a:t>
            </a:r>
            <a:r>
              <a:rPr lang="en-IN" dirty="0"/>
              <a:t> (</a:t>
            </a:r>
            <a:r>
              <a:rPr lang="en-IN" b="1" dirty="0"/>
              <a:t>Compliance</a:t>
            </a:r>
            <a:r>
              <a:rPr lang="en-IN" dirty="0"/>
              <a:t>).</a:t>
            </a:r>
            <a:br>
              <a:rPr lang="en-IN" dirty="0"/>
            </a:br>
            <a:r>
              <a:rPr lang="en-IN" dirty="0"/>
              <a:t>Together, this creates a </a:t>
            </a:r>
            <a:r>
              <a:rPr lang="en-IN" b="1" dirty="0"/>
              <a:t>secure, trustworthy, and well-regulated information security environment</a:t>
            </a:r>
            <a:r>
              <a:rPr lang="en-IN" dirty="0"/>
              <a:t>.</a:t>
            </a:r>
          </a:p>
          <a:p>
            <a:pPr algn="l"/>
            <a:endParaRPr lang="en-IN" dirty="0"/>
          </a:p>
        </p:txBody>
      </p:sp>
    </p:spTree>
    <p:extLst>
      <p:ext uri="{BB962C8B-B14F-4D97-AF65-F5344CB8AC3E}">
        <p14:creationId xmlns:p14="http://schemas.microsoft.com/office/powerpoint/2010/main" val="342982568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01555-F3BE-AFD9-B3B2-A95A3D2DDA7D}"/>
              </a:ext>
            </a:extLst>
          </p:cNvPr>
          <p:cNvSpPr>
            <a:spLocks noGrp="1"/>
          </p:cNvSpPr>
          <p:nvPr>
            <p:ph type="title"/>
          </p:nvPr>
        </p:nvSpPr>
        <p:spPr/>
        <p:txBody>
          <a:bodyPr/>
          <a:lstStyle/>
          <a:p>
            <a:r>
              <a:rPr lang="en-US" sz="2400" b="0" dirty="0"/>
              <a:t> Importance of GRC in Information Security</a:t>
            </a:r>
            <a:endParaRPr lang="en-IN" sz="2400" dirty="0"/>
          </a:p>
        </p:txBody>
      </p:sp>
      <p:sp>
        <p:nvSpPr>
          <p:cNvPr id="3" name="Text Placeholder 2">
            <a:extLst>
              <a:ext uri="{FF2B5EF4-FFF2-40B4-BE49-F238E27FC236}">
                <a16:creationId xmlns:a16="http://schemas.microsoft.com/office/drawing/2014/main" id="{4D039908-29F4-5B3D-6E16-DB04E66A59C1}"/>
              </a:ext>
            </a:extLst>
          </p:cNvPr>
          <p:cNvSpPr>
            <a:spLocks noGrp="1"/>
          </p:cNvSpPr>
          <p:nvPr>
            <p:ph type="body" idx="1"/>
          </p:nvPr>
        </p:nvSpPr>
        <p:spPr/>
        <p:txBody>
          <a:bodyPr/>
          <a:lstStyle/>
          <a:p>
            <a:pPr marL="425450" indent="-285750">
              <a:buFont typeface="Arial" panose="020B0604020202020204" pitchFamily="34" charset="0"/>
              <a:buChar char="•"/>
            </a:pPr>
            <a:r>
              <a:rPr lang="en-US" b="1" dirty="0"/>
              <a:t>Aligns security with business goals:</a:t>
            </a:r>
            <a:r>
              <a:rPr lang="en-US" dirty="0"/>
              <a:t> Ensures security initiatives support organizational strategy.</a:t>
            </a:r>
          </a:p>
          <a:p>
            <a:pPr marL="425450" indent="-285750">
              <a:buFont typeface="Arial" panose="020B0604020202020204" pitchFamily="34" charset="0"/>
              <a:buChar char="•"/>
            </a:pPr>
            <a:r>
              <a:rPr lang="en-US" b="1" dirty="0"/>
              <a:t>Identifies and reduces risks:</a:t>
            </a:r>
            <a:r>
              <a:rPr lang="en-US" dirty="0"/>
              <a:t> Structured risk assessments help prevent data breaches, cyberattacks, and system failures.</a:t>
            </a:r>
          </a:p>
          <a:p>
            <a:pPr marL="425450" indent="-285750">
              <a:buFont typeface="Arial" panose="020B0604020202020204" pitchFamily="34" charset="0"/>
              <a:buChar char="•"/>
            </a:pPr>
            <a:r>
              <a:rPr lang="en-US" b="1" dirty="0"/>
              <a:t>Ensures regulatory compliance:</a:t>
            </a:r>
            <a:r>
              <a:rPr lang="en-US" dirty="0"/>
              <a:t> Helps meet standards like ISO 27001, NIST, PCI-DSS, GDPR, reducing penalties and legal exposure.</a:t>
            </a:r>
          </a:p>
          <a:p>
            <a:pPr marL="425450" indent="-285750">
              <a:buFont typeface="Arial" panose="020B0604020202020204" pitchFamily="34" charset="0"/>
              <a:buChar char="•"/>
            </a:pPr>
            <a:r>
              <a:rPr lang="en-US" b="1" dirty="0"/>
              <a:t>Enhances security governance:</a:t>
            </a:r>
            <a:r>
              <a:rPr lang="en-US" dirty="0"/>
              <a:t> Establishes clear policies, accountability, and decision-making structures.</a:t>
            </a:r>
          </a:p>
          <a:p>
            <a:pPr marL="425450" indent="-285750">
              <a:buFont typeface="Arial" panose="020B0604020202020204" pitchFamily="34" charset="0"/>
              <a:buChar char="•"/>
            </a:pPr>
            <a:r>
              <a:rPr lang="en-US" b="1" dirty="0"/>
              <a:t>Improves incident response:</a:t>
            </a:r>
            <a:r>
              <a:rPr lang="en-US" dirty="0"/>
              <a:t> Integrated controls enable faster detection, reporting, and mitigation of security events. </a:t>
            </a:r>
          </a:p>
          <a:p>
            <a:pPr marL="425450" indent="-285750">
              <a:buFont typeface="Arial" panose="020B0604020202020204" pitchFamily="34" charset="0"/>
              <a:buChar char="•"/>
            </a:pPr>
            <a:r>
              <a:rPr lang="en-US" b="1" dirty="0"/>
              <a:t>Supports continuous monitoring:</a:t>
            </a:r>
            <a:r>
              <a:rPr lang="en-US" dirty="0"/>
              <a:t> Ensures ongoing evaluation of controls, vulnerabilities, and compliance gaps.</a:t>
            </a:r>
          </a:p>
          <a:p>
            <a:pPr marL="425450" indent="-285750">
              <a:buFont typeface="Arial" panose="020B0604020202020204" pitchFamily="34" charset="0"/>
              <a:buChar char="•"/>
            </a:pPr>
            <a:r>
              <a:rPr lang="en-US" b="1" dirty="0"/>
              <a:t>Strengthens stakeholder trust:</a:t>
            </a:r>
            <a:r>
              <a:rPr lang="en-US" dirty="0"/>
              <a:t> Demonstrates commitment to protecting information assets.</a:t>
            </a:r>
          </a:p>
          <a:p>
            <a:pPr marL="4254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1213569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88BF9-999C-C1C0-21FB-6489503A7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0F88B-456E-EEF1-0C34-AE4E4A50A870}"/>
              </a:ext>
            </a:extLst>
          </p:cNvPr>
          <p:cNvSpPr>
            <a:spLocks noGrp="1"/>
          </p:cNvSpPr>
          <p:nvPr>
            <p:ph type="title"/>
          </p:nvPr>
        </p:nvSpPr>
        <p:spPr/>
        <p:txBody>
          <a:bodyPr/>
          <a:lstStyle/>
          <a:p>
            <a:r>
              <a:rPr lang="en-US" sz="2400" b="0" dirty="0"/>
              <a:t> Principles of security audits and assurance</a:t>
            </a:r>
            <a:endParaRPr lang="en-IN" sz="2400" dirty="0"/>
          </a:p>
        </p:txBody>
      </p:sp>
      <p:sp>
        <p:nvSpPr>
          <p:cNvPr id="3" name="Text Placeholder 2">
            <a:extLst>
              <a:ext uri="{FF2B5EF4-FFF2-40B4-BE49-F238E27FC236}">
                <a16:creationId xmlns:a16="http://schemas.microsoft.com/office/drawing/2014/main" id="{36341B0E-F892-2224-CE12-10F9ECFE7282}"/>
              </a:ext>
            </a:extLst>
          </p:cNvPr>
          <p:cNvSpPr>
            <a:spLocks noGrp="1"/>
          </p:cNvSpPr>
          <p:nvPr>
            <p:ph type="body" idx="1"/>
          </p:nvPr>
        </p:nvSpPr>
        <p:spPr>
          <a:xfrm>
            <a:off x="720000" y="841572"/>
            <a:ext cx="7704000" cy="3954266"/>
          </a:xfrm>
        </p:spPr>
        <p:txBody>
          <a:bodyPr/>
          <a:lstStyle/>
          <a:p>
            <a:r>
              <a:rPr lang="en-US" b="1" dirty="0"/>
              <a:t>Security Audit:</a:t>
            </a:r>
            <a:endParaRPr lang="en-US" dirty="0"/>
          </a:p>
          <a:p>
            <a:pPr lvl="1"/>
            <a:r>
              <a:rPr lang="en-US" b="1" dirty="0"/>
              <a:t>A Specific </a:t>
            </a:r>
            <a:r>
              <a:rPr lang="en-US" b="1" i="1" dirty="0"/>
              <a:t>Event</a:t>
            </a:r>
            <a:r>
              <a:rPr lang="en-US" b="1" dirty="0"/>
              <a:t>.</a:t>
            </a:r>
            <a:r>
              <a:rPr lang="en-US" dirty="0"/>
              <a:t> A formal, point-in-time examination.</a:t>
            </a:r>
          </a:p>
          <a:p>
            <a:pPr lvl="1"/>
            <a:r>
              <a:rPr lang="en-US" b="1" dirty="0"/>
              <a:t>Focus:</a:t>
            </a:r>
            <a:r>
              <a:rPr lang="en-US" dirty="0"/>
              <a:t> Independently verifying and validating controls against a specific </a:t>
            </a:r>
            <a:r>
              <a:rPr lang="en-US" b="1" dirty="0"/>
              <a:t>standard or framework</a:t>
            </a:r>
            <a:r>
              <a:rPr lang="en-US" dirty="0"/>
              <a:t> (e.g., ISO 27001, NIST).</a:t>
            </a:r>
          </a:p>
          <a:p>
            <a:pPr lvl="1"/>
            <a:r>
              <a:rPr lang="en-US" b="1" dirty="0"/>
              <a:t>Output:</a:t>
            </a:r>
            <a:r>
              <a:rPr lang="en-US" dirty="0"/>
              <a:t> A formal report with findings and evidence.</a:t>
            </a:r>
          </a:p>
          <a:p>
            <a:pPr lvl="1"/>
            <a:r>
              <a:rPr lang="en-US" b="1" dirty="0"/>
              <a:t>Analogy:</a:t>
            </a:r>
            <a:r>
              <a:rPr lang="en-US" dirty="0"/>
              <a:t> The annual medical check-up with a doctor</a:t>
            </a:r>
          </a:p>
          <a:p>
            <a:endParaRPr lang="en-US" b="1" dirty="0"/>
          </a:p>
          <a:p>
            <a:r>
              <a:rPr lang="en-US" b="1" dirty="0"/>
              <a:t>Security Assurance:</a:t>
            </a:r>
            <a:endParaRPr lang="en-US" dirty="0"/>
          </a:p>
          <a:p>
            <a:pPr lvl="1"/>
            <a:r>
              <a:rPr lang="en-US" b="1" dirty="0"/>
              <a:t>The Ongoing </a:t>
            </a:r>
            <a:r>
              <a:rPr lang="en-US" b="1" i="1" dirty="0"/>
              <a:t>Process</a:t>
            </a:r>
            <a:r>
              <a:rPr lang="en-US" b="1" dirty="0"/>
              <a:t>.</a:t>
            </a:r>
            <a:r>
              <a:rPr lang="en-US" dirty="0"/>
              <a:t> A broad, continuous program of activities.</a:t>
            </a:r>
          </a:p>
          <a:p>
            <a:pPr lvl="1"/>
            <a:r>
              <a:rPr lang="en-US" b="1" dirty="0"/>
              <a:t>Focus:</a:t>
            </a:r>
            <a:r>
              <a:rPr lang="en-US" dirty="0"/>
              <a:t> Building confidence that security controls are effective </a:t>
            </a:r>
            <a:r>
              <a:rPr lang="en-US" i="1" dirty="0"/>
              <a:t>over time</a:t>
            </a:r>
            <a:r>
              <a:rPr lang="en-US" dirty="0"/>
              <a:t>.</a:t>
            </a:r>
          </a:p>
          <a:p>
            <a:pPr lvl="1"/>
            <a:r>
              <a:rPr lang="en-US" b="1" dirty="0"/>
              <a:t>Includes:</a:t>
            </a:r>
            <a:r>
              <a:rPr lang="en-US" dirty="0"/>
              <a:t> Design reviews, risk assessments, training, monitoring.</a:t>
            </a:r>
          </a:p>
          <a:p>
            <a:pPr lvl="1"/>
            <a:r>
              <a:rPr lang="en-US" b="1" dirty="0"/>
              <a:t>Analogy:</a:t>
            </a:r>
            <a:r>
              <a:rPr lang="en-US" dirty="0"/>
              <a:t> The daily diet and exercise for good health.</a:t>
            </a:r>
          </a:p>
          <a:p>
            <a:endParaRPr lang="en-US" b="1" dirty="0"/>
          </a:p>
          <a:p>
            <a:endParaRPr lang="en-US" b="1" dirty="0"/>
          </a:p>
          <a:p>
            <a:r>
              <a:rPr lang="en-US" dirty="0"/>
              <a:t>Together, they verify </a:t>
            </a:r>
            <a:r>
              <a:rPr lang="en-US" b="1" dirty="0"/>
              <a:t>effectiveness</a:t>
            </a:r>
            <a:r>
              <a:rPr lang="en-US" dirty="0"/>
              <a:t>, </a:t>
            </a:r>
            <a:r>
              <a:rPr lang="en-US" b="1" dirty="0"/>
              <a:t>compliance</a:t>
            </a:r>
            <a:r>
              <a:rPr lang="en-US" dirty="0"/>
              <a:t>, and </a:t>
            </a:r>
            <a:r>
              <a:rPr lang="en-US" b="1" dirty="0"/>
              <a:t>resilience</a:t>
            </a:r>
            <a:r>
              <a:rPr lang="en-US" dirty="0"/>
              <a:t> of security controls.</a:t>
            </a:r>
          </a:p>
          <a:p>
            <a:endParaRPr lang="en-IN" dirty="0"/>
          </a:p>
        </p:txBody>
      </p:sp>
    </p:spTree>
    <p:extLst>
      <p:ext uri="{BB962C8B-B14F-4D97-AF65-F5344CB8AC3E}">
        <p14:creationId xmlns:p14="http://schemas.microsoft.com/office/powerpoint/2010/main" val="15004529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7E88F-3619-B603-5FF8-9B3B45FE1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25CE9-BEE3-E824-F813-E89472F7CAD7}"/>
              </a:ext>
            </a:extLst>
          </p:cNvPr>
          <p:cNvSpPr>
            <a:spLocks noGrp="1"/>
          </p:cNvSpPr>
          <p:nvPr>
            <p:ph type="title"/>
          </p:nvPr>
        </p:nvSpPr>
        <p:spPr/>
        <p:txBody>
          <a:bodyPr/>
          <a:lstStyle/>
          <a:p>
            <a:r>
              <a:rPr lang="en-US" dirty="0"/>
              <a:t>Why Are Security Audits Essential?</a:t>
            </a:r>
            <a:br>
              <a:rPr lang="en-US" dirty="0"/>
            </a:br>
            <a:endParaRPr lang="en-IN" dirty="0"/>
          </a:p>
        </p:txBody>
      </p:sp>
      <p:sp>
        <p:nvSpPr>
          <p:cNvPr id="3" name="Text Placeholder 2">
            <a:extLst>
              <a:ext uri="{FF2B5EF4-FFF2-40B4-BE49-F238E27FC236}">
                <a16:creationId xmlns:a16="http://schemas.microsoft.com/office/drawing/2014/main" id="{97B1076D-8FCB-8DCE-E38E-2A40187BF710}"/>
              </a:ext>
            </a:extLst>
          </p:cNvPr>
          <p:cNvSpPr>
            <a:spLocks noGrp="1"/>
          </p:cNvSpPr>
          <p:nvPr>
            <p:ph type="body" idx="1"/>
          </p:nvPr>
        </p:nvSpPr>
        <p:spPr/>
        <p:txBody>
          <a:bodyPr/>
          <a:lstStyle/>
          <a:p>
            <a:r>
              <a:rPr lang="en-US" sz="2000" b="1" dirty="0"/>
              <a:t>Verify Compliance:</a:t>
            </a:r>
            <a:r>
              <a:rPr lang="en-US" sz="2000" dirty="0"/>
              <a:t> Demonstrate adherence to laws, regulations, and contractual obligations (e.g., GDPR, SOX, PCI-DSS).</a:t>
            </a:r>
          </a:p>
          <a:p>
            <a:r>
              <a:rPr lang="en-US" sz="2000" b="1" dirty="0"/>
              <a:t>Identify Vulnerabilities:</a:t>
            </a:r>
            <a:r>
              <a:rPr lang="en-US" sz="2000" dirty="0"/>
              <a:t> Uncover weaknesses in systems, processes, and controls </a:t>
            </a:r>
            <a:r>
              <a:rPr lang="en-US" sz="2000" i="1" dirty="0"/>
              <a:t>before</a:t>
            </a:r>
            <a:r>
              <a:rPr lang="en-US" sz="2000" dirty="0"/>
              <a:t> they are exploited.</a:t>
            </a:r>
          </a:p>
          <a:p>
            <a:r>
              <a:rPr lang="en-US" sz="2000" b="1" dirty="0"/>
              <a:t>Manage Third-Party Risk:</a:t>
            </a:r>
            <a:r>
              <a:rPr lang="en-US" sz="2000" dirty="0"/>
              <a:t> Assess the security of partners and vendors.</a:t>
            </a:r>
          </a:p>
          <a:p>
            <a:r>
              <a:rPr lang="en-US" sz="2000" b="1" dirty="0"/>
              <a:t>Build Trust &amp; Confidence:</a:t>
            </a:r>
            <a:r>
              <a:rPr lang="en-US" sz="2000" dirty="0"/>
              <a:t> Provide assurance to customers, investors, and management.</a:t>
            </a:r>
          </a:p>
          <a:p>
            <a:endParaRPr lang="en-IN" sz="2000" dirty="0"/>
          </a:p>
        </p:txBody>
      </p:sp>
    </p:spTree>
    <p:extLst>
      <p:ext uri="{BB962C8B-B14F-4D97-AF65-F5344CB8AC3E}">
        <p14:creationId xmlns:p14="http://schemas.microsoft.com/office/powerpoint/2010/main" val="100436347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A2A30-FE91-4902-833B-1BCBD3BF6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A01DB-CD08-2309-85AB-8691847B8BE4}"/>
              </a:ext>
            </a:extLst>
          </p:cNvPr>
          <p:cNvSpPr>
            <a:spLocks noGrp="1"/>
          </p:cNvSpPr>
          <p:nvPr>
            <p:ph type="title"/>
          </p:nvPr>
        </p:nvSpPr>
        <p:spPr/>
        <p:txBody>
          <a:bodyPr/>
          <a:lstStyle/>
          <a:p>
            <a:r>
              <a:rPr lang="en-US" b="0" dirty="0"/>
              <a:t> Roles and responsibilities in audits 	</a:t>
            </a:r>
            <a:br>
              <a:rPr lang="en-US" b="0" dirty="0"/>
            </a:br>
            <a:endParaRPr lang="en-IN" dirty="0"/>
          </a:p>
        </p:txBody>
      </p:sp>
      <p:sp>
        <p:nvSpPr>
          <p:cNvPr id="3" name="Text Placeholder 2">
            <a:extLst>
              <a:ext uri="{FF2B5EF4-FFF2-40B4-BE49-F238E27FC236}">
                <a16:creationId xmlns:a16="http://schemas.microsoft.com/office/drawing/2014/main" id="{07D21AC1-579B-E874-C203-32D7389311A6}"/>
              </a:ext>
            </a:extLst>
          </p:cNvPr>
          <p:cNvSpPr>
            <a:spLocks noGrp="1"/>
          </p:cNvSpPr>
          <p:nvPr>
            <p:ph type="body" idx="1"/>
          </p:nvPr>
        </p:nvSpPr>
        <p:spPr/>
        <p:txBody>
          <a:bodyPr/>
          <a:lstStyle/>
          <a:p>
            <a:pPr marL="425450" indent="-285750">
              <a:buFont typeface="Arial" panose="020B0604020202020204" pitchFamily="34" charset="0"/>
              <a:buChar char="•"/>
            </a:pPr>
            <a:r>
              <a:rPr lang="en-US" sz="1800" b="1" dirty="0"/>
              <a:t>Audit Team (Internal/External Auditors):</a:t>
            </a:r>
            <a:r>
              <a:rPr lang="en-US" sz="1800" dirty="0"/>
              <a:t> Conducts independent evaluations of controls, processes, and compliance to identify gaps and risks.</a:t>
            </a:r>
          </a:p>
          <a:p>
            <a:pPr marL="425450" indent="-285750">
              <a:buFont typeface="Arial" panose="020B0604020202020204" pitchFamily="34" charset="0"/>
              <a:buChar char="•"/>
            </a:pPr>
            <a:r>
              <a:rPr lang="en-US" sz="1800" b="1" dirty="0"/>
              <a:t>Management:</a:t>
            </a:r>
            <a:r>
              <a:rPr lang="en-US" sz="1800" dirty="0"/>
              <a:t> Provides resources, supports the audit process, and ensures remediation of audit findings.</a:t>
            </a:r>
          </a:p>
          <a:p>
            <a:pPr marL="425450" indent="-285750">
              <a:buFont typeface="Arial" panose="020B0604020202020204" pitchFamily="34" charset="0"/>
              <a:buChar char="•"/>
            </a:pPr>
            <a:r>
              <a:rPr lang="en-US" sz="1800" b="1" dirty="0"/>
              <a:t>IT &amp; Security Teams:</a:t>
            </a:r>
            <a:r>
              <a:rPr lang="en-US" sz="1800" dirty="0"/>
              <a:t> Supplies technical evidence, demonstrates control implementation, and assists in resolving identified issues.</a:t>
            </a:r>
          </a:p>
          <a:p>
            <a:pPr marL="425450" indent="-285750">
              <a:buFont typeface="Arial" panose="020B0604020202020204" pitchFamily="34" charset="0"/>
              <a:buChar char="•"/>
            </a:pPr>
            <a:r>
              <a:rPr lang="en-US" sz="1800" b="1" dirty="0"/>
              <a:t>Process Owners:</a:t>
            </a:r>
            <a:r>
              <a:rPr lang="en-US" sz="1800" dirty="0"/>
              <a:t> Explain business workflows, provide process-related documentation, and maintain effective operational controls.</a:t>
            </a:r>
          </a:p>
          <a:p>
            <a:pPr marL="425450" indent="-285750">
              <a:buFont typeface="Arial" panose="020B0604020202020204" pitchFamily="34" charset="0"/>
              <a:buChar char="•"/>
            </a:pPr>
            <a:r>
              <a:rPr lang="en-US" sz="1800" b="1" dirty="0"/>
              <a:t>Risk &amp; Compliance Teams:</a:t>
            </a:r>
            <a:r>
              <a:rPr lang="en-US" sz="1800" dirty="0"/>
              <a:t> Interpret requirements, map controls to regulations, and track remediation to maintain compliance posture.</a:t>
            </a:r>
          </a:p>
          <a:p>
            <a:pPr marL="425450" indent="-285750">
              <a:buFont typeface="Arial" panose="020B0604020202020204" pitchFamily="34" charset="0"/>
              <a:buChar char="•"/>
            </a:pPr>
            <a:r>
              <a:rPr lang="en-US" sz="1800" b="1" dirty="0"/>
              <a:t>Executive Leadership / Audit Committee:</a:t>
            </a:r>
            <a:r>
              <a:rPr lang="en-US" sz="1800" dirty="0"/>
              <a:t> Oversees audit activities, reviews major findings, and ensures accountability and resource allocation.</a:t>
            </a:r>
          </a:p>
        </p:txBody>
      </p:sp>
    </p:spTree>
    <p:extLst>
      <p:ext uri="{BB962C8B-B14F-4D97-AF65-F5344CB8AC3E}">
        <p14:creationId xmlns:p14="http://schemas.microsoft.com/office/powerpoint/2010/main" val="60466992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570E1-96B5-B59F-4FC5-2AFC62EAE96A}"/>
              </a:ext>
            </a:extLst>
          </p:cNvPr>
          <p:cNvSpPr>
            <a:spLocks noGrp="1"/>
          </p:cNvSpPr>
          <p:nvPr>
            <p:ph type="title"/>
          </p:nvPr>
        </p:nvSpPr>
        <p:spPr/>
        <p:txBody>
          <a:bodyPr/>
          <a:lstStyle/>
          <a:p>
            <a:r>
              <a:rPr lang="en-IN" b="0" dirty="0"/>
              <a:t>Introduction to audit frameworks, 	</a:t>
            </a:r>
            <a:br>
              <a:rPr lang="en-IN" b="0" dirty="0"/>
            </a:br>
            <a:endParaRPr lang="en-IN" dirty="0"/>
          </a:p>
        </p:txBody>
      </p:sp>
      <p:sp>
        <p:nvSpPr>
          <p:cNvPr id="3" name="Text Placeholder 2">
            <a:extLst>
              <a:ext uri="{FF2B5EF4-FFF2-40B4-BE49-F238E27FC236}">
                <a16:creationId xmlns:a16="http://schemas.microsoft.com/office/drawing/2014/main" id="{16003DC3-56AC-375A-08D3-0B1844CF5B5B}"/>
              </a:ext>
            </a:extLst>
          </p:cNvPr>
          <p:cNvSpPr>
            <a:spLocks noGrp="1"/>
          </p:cNvSpPr>
          <p:nvPr>
            <p:ph type="body" idx="1"/>
          </p:nvPr>
        </p:nvSpPr>
        <p:spPr/>
        <p:txBody>
          <a:bodyPr/>
          <a:lstStyle/>
          <a:p>
            <a:r>
              <a:rPr lang="en-US" sz="1800" dirty="0"/>
              <a:t>Audit frameworks are </a:t>
            </a:r>
            <a:r>
              <a:rPr lang="en-US" sz="1800" b="1" dirty="0"/>
              <a:t>structured, standardized methodologies</a:t>
            </a:r>
            <a:r>
              <a:rPr lang="en-US" sz="1800" dirty="0"/>
              <a:t> that guide how audits are planned, conducted, and evaluated. They provide a </a:t>
            </a:r>
            <a:r>
              <a:rPr lang="en-US" sz="1800" b="1" dirty="0"/>
              <a:t>consistent, repeatable, and objective approach</a:t>
            </a:r>
            <a:r>
              <a:rPr lang="en-US" sz="1800" dirty="0"/>
              <a:t> to assessing an organization’s controls, policies, risks, and compliance posture. </a:t>
            </a:r>
          </a:p>
          <a:p>
            <a:r>
              <a:rPr lang="en-US" sz="1600" dirty="0"/>
              <a:t>Audit frameworks are essential because they:</a:t>
            </a:r>
          </a:p>
          <a:p>
            <a:pPr lvl="1"/>
            <a:r>
              <a:rPr lang="en-US" sz="1600" dirty="0"/>
              <a:t>Ensure </a:t>
            </a:r>
            <a:r>
              <a:rPr lang="en-US" sz="1600" b="1" dirty="0"/>
              <a:t>uniformity and reliability</a:t>
            </a:r>
            <a:r>
              <a:rPr lang="en-US" sz="1600" dirty="0"/>
              <a:t> in audit results</a:t>
            </a:r>
          </a:p>
          <a:p>
            <a:pPr lvl="1"/>
            <a:r>
              <a:rPr lang="en-US" sz="1600" dirty="0"/>
              <a:t>Align audits with </a:t>
            </a:r>
            <a:r>
              <a:rPr lang="en-US" sz="1600" b="1" dirty="0"/>
              <a:t>industry best practices and regulatory requirements</a:t>
            </a:r>
            <a:endParaRPr lang="en-US" sz="1600" dirty="0"/>
          </a:p>
          <a:p>
            <a:pPr lvl="1"/>
            <a:r>
              <a:rPr lang="en-US" sz="1600" dirty="0"/>
              <a:t>Improve </a:t>
            </a:r>
            <a:r>
              <a:rPr lang="en-US" sz="1600" b="1" dirty="0"/>
              <a:t>accuracy, transparency, and accountability</a:t>
            </a:r>
            <a:endParaRPr lang="en-US" sz="1600" dirty="0"/>
          </a:p>
          <a:p>
            <a:pPr lvl="1"/>
            <a:r>
              <a:rPr lang="en-US" sz="1600" dirty="0"/>
              <a:t>Support organizations in identifying gaps and strengthening their security posture</a:t>
            </a:r>
          </a:p>
          <a:p>
            <a:pPr lvl="1"/>
            <a:r>
              <a:rPr lang="en-US" sz="1600" dirty="0"/>
              <a:t>Provide </a:t>
            </a:r>
            <a:r>
              <a:rPr lang="en-US" sz="1600" b="1" dirty="0"/>
              <a:t>benchmark criteria</a:t>
            </a:r>
            <a:r>
              <a:rPr lang="en-US" sz="1600" dirty="0"/>
              <a:t> for certifications and compliance assessments</a:t>
            </a:r>
          </a:p>
          <a:p>
            <a:r>
              <a:rPr lang="en-US" sz="1800" dirty="0"/>
              <a:t>Common audit frameworks include </a:t>
            </a:r>
            <a:r>
              <a:rPr lang="en-US" sz="1800" b="1" dirty="0"/>
              <a:t>ISO 27001</a:t>
            </a:r>
            <a:r>
              <a:rPr lang="en-US" sz="1800" dirty="0"/>
              <a:t>, </a:t>
            </a:r>
            <a:r>
              <a:rPr lang="en-US" sz="1800" b="1" dirty="0"/>
              <a:t>NIST Cybersecurity Framework</a:t>
            </a:r>
            <a:r>
              <a:rPr lang="en-US" sz="1800" dirty="0"/>
              <a:t>, </a:t>
            </a:r>
            <a:r>
              <a:rPr lang="en-US" sz="1800" b="1" dirty="0"/>
              <a:t>COBIT</a:t>
            </a:r>
            <a:r>
              <a:rPr lang="en-US" sz="1800" dirty="0"/>
              <a:t>, </a:t>
            </a:r>
            <a:r>
              <a:rPr lang="en-IN" b="1" dirty="0"/>
              <a:t>SP 800-53 </a:t>
            </a:r>
            <a:r>
              <a:rPr lang="en-IN" dirty="0"/>
              <a:t>	</a:t>
            </a:r>
          </a:p>
          <a:p>
            <a:endParaRPr lang="en-IN" sz="1800" dirty="0"/>
          </a:p>
        </p:txBody>
      </p:sp>
    </p:spTree>
    <p:extLst>
      <p:ext uri="{BB962C8B-B14F-4D97-AF65-F5344CB8AC3E}">
        <p14:creationId xmlns:p14="http://schemas.microsoft.com/office/powerpoint/2010/main" val="17820932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C0E65-F7D5-393E-E574-FCC337D22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EED9F-BE97-0FC8-50FA-AF3690C2A94F}"/>
              </a:ext>
            </a:extLst>
          </p:cNvPr>
          <p:cNvSpPr>
            <a:spLocks noGrp="1"/>
          </p:cNvSpPr>
          <p:nvPr>
            <p:ph type="title"/>
          </p:nvPr>
        </p:nvSpPr>
        <p:spPr/>
        <p:txBody>
          <a:bodyPr/>
          <a:lstStyle/>
          <a:p>
            <a:r>
              <a:rPr lang="en-IN" b="0" dirty="0"/>
              <a:t> ISO 27001</a:t>
            </a:r>
            <a:br>
              <a:rPr lang="en-IN" b="0" dirty="0"/>
            </a:br>
            <a:endParaRPr lang="en-IN" dirty="0"/>
          </a:p>
        </p:txBody>
      </p:sp>
      <p:sp>
        <p:nvSpPr>
          <p:cNvPr id="3" name="Text Placeholder 2">
            <a:extLst>
              <a:ext uri="{FF2B5EF4-FFF2-40B4-BE49-F238E27FC236}">
                <a16:creationId xmlns:a16="http://schemas.microsoft.com/office/drawing/2014/main" id="{4C9A9DA5-F7EA-F1A6-B25D-84A020DB7B84}"/>
              </a:ext>
            </a:extLst>
          </p:cNvPr>
          <p:cNvSpPr>
            <a:spLocks noGrp="1"/>
          </p:cNvSpPr>
          <p:nvPr>
            <p:ph type="body" idx="1"/>
          </p:nvPr>
        </p:nvSpPr>
        <p:spPr>
          <a:xfrm>
            <a:off x="720000" y="756605"/>
            <a:ext cx="7704000" cy="4258756"/>
          </a:xfrm>
        </p:spPr>
        <p:txBody>
          <a:bodyPr/>
          <a:lstStyle/>
          <a:p>
            <a:pPr algn="l"/>
            <a:r>
              <a:rPr lang="en-US" sz="2000" dirty="0"/>
              <a:t>ISO 27001 is an international standard that specifies the requirements for an </a:t>
            </a:r>
            <a:r>
              <a:rPr lang="en-US" sz="2000" b="1" dirty="0"/>
              <a:t>Information Security Management System (ISMS).</a:t>
            </a:r>
            <a:r>
              <a:rPr lang="en-US" sz="2000" dirty="0"/>
              <a:t> It provides a framework for organizations to </a:t>
            </a:r>
            <a:r>
              <a:rPr lang="en-US" sz="2000" b="1" dirty="0"/>
              <a:t>manage, monitor, and improve</a:t>
            </a:r>
            <a:r>
              <a:rPr lang="en-US" sz="2000" dirty="0"/>
              <a:t> the security of their information assets by ensuring the </a:t>
            </a:r>
            <a:r>
              <a:rPr lang="en-US" sz="2000" b="1" dirty="0"/>
              <a:t>confidentiality</a:t>
            </a:r>
            <a:r>
              <a:rPr lang="en-US" sz="2000" dirty="0"/>
              <a:t>, </a:t>
            </a:r>
            <a:r>
              <a:rPr lang="en-US" sz="2000" b="1" dirty="0"/>
              <a:t>integrity</a:t>
            </a:r>
            <a:r>
              <a:rPr lang="en-US" sz="2000" dirty="0"/>
              <a:t>, and </a:t>
            </a:r>
            <a:r>
              <a:rPr lang="en-US" sz="2000" b="1" dirty="0"/>
              <a:t>availability</a:t>
            </a:r>
            <a:r>
              <a:rPr lang="en-US" sz="2000" dirty="0"/>
              <a:t> of information..</a:t>
            </a:r>
            <a:br>
              <a:rPr lang="en-US" sz="2000" dirty="0"/>
            </a:br>
            <a:r>
              <a:rPr lang="en-US" sz="2000" dirty="0"/>
              <a:t>It is a globally recognized standard that provides a </a:t>
            </a:r>
            <a:r>
              <a:rPr lang="en-US" sz="2000" b="1" dirty="0"/>
              <a:t>framework for </a:t>
            </a:r>
          </a:p>
          <a:p>
            <a:pPr lvl="1"/>
            <a:r>
              <a:rPr lang="en-US" sz="2000" b="1" dirty="0"/>
              <a:t>Building</a:t>
            </a:r>
          </a:p>
          <a:p>
            <a:pPr lvl="1"/>
            <a:r>
              <a:rPr lang="en-US" sz="2000" b="1" dirty="0"/>
              <a:t>Implementing</a:t>
            </a:r>
          </a:p>
          <a:p>
            <a:pPr lvl="1"/>
            <a:r>
              <a:rPr lang="en-US" sz="2000" b="1" dirty="0"/>
              <a:t>Maintaining,</a:t>
            </a:r>
          </a:p>
          <a:p>
            <a:pPr lvl="1"/>
            <a:r>
              <a:rPr lang="en-US" sz="2000" b="1" dirty="0"/>
              <a:t>Improving </a:t>
            </a:r>
          </a:p>
          <a:p>
            <a:pPr algn="l"/>
            <a:r>
              <a:rPr lang="en-US" sz="2000" b="1" dirty="0"/>
              <a:t>an organization’s information security management system</a:t>
            </a:r>
            <a:r>
              <a:rPr lang="en-US" sz="2000" dirty="0"/>
              <a:t>.</a:t>
            </a:r>
          </a:p>
          <a:p>
            <a:pPr algn="l"/>
            <a:endParaRPr lang="en-US" sz="2000" dirty="0"/>
          </a:p>
          <a:p>
            <a:pPr algn="l"/>
            <a:endParaRPr lang="en-IN" sz="2000" dirty="0"/>
          </a:p>
        </p:txBody>
      </p:sp>
    </p:spTree>
    <p:extLst>
      <p:ext uri="{BB962C8B-B14F-4D97-AF65-F5344CB8AC3E}">
        <p14:creationId xmlns:p14="http://schemas.microsoft.com/office/powerpoint/2010/main" val="392998527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DC0FD-8994-88AD-5364-95F6761D2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5E1CF-898D-EF6A-DB7E-19ED5DCFE20B}"/>
              </a:ext>
            </a:extLst>
          </p:cNvPr>
          <p:cNvSpPr>
            <a:spLocks noGrp="1"/>
          </p:cNvSpPr>
          <p:nvPr>
            <p:ph type="title"/>
          </p:nvPr>
        </p:nvSpPr>
        <p:spPr/>
        <p:txBody>
          <a:bodyPr/>
          <a:lstStyle/>
          <a:p>
            <a:r>
              <a:rPr lang="en-US" dirty="0"/>
              <a:t>Key Points About ISO 27001</a:t>
            </a:r>
            <a:endParaRPr lang="en-IN" dirty="0"/>
          </a:p>
        </p:txBody>
      </p:sp>
      <p:sp>
        <p:nvSpPr>
          <p:cNvPr id="3" name="Text Placeholder 2">
            <a:extLst>
              <a:ext uri="{FF2B5EF4-FFF2-40B4-BE49-F238E27FC236}">
                <a16:creationId xmlns:a16="http://schemas.microsoft.com/office/drawing/2014/main" id="{5906DD47-FF5E-B88D-2D1C-73C34FE12908}"/>
              </a:ext>
            </a:extLst>
          </p:cNvPr>
          <p:cNvSpPr>
            <a:spLocks noGrp="1"/>
          </p:cNvSpPr>
          <p:nvPr>
            <p:ph type="body" idx="1"/>
          </p:nvPr>
        </p:nvSpPr>
        <p:spPr/>
        <p:txBody>
          <a:bodyPr/>
          <a:lstStyle/>
          <a:p>
            <a:r>
              <a:rPr lang="en-US" sz="1800" b="1" dirty="0"/>
              <a:t>Purpose:</a:t>
            </a:r>
            <a:r>
              <a:rPr lang="en-US" sz="1800" dirty="0"/>
              <a:t> Protect confidentiality, integrity, and availability of information.</a:t>
            </a:r>
          </a:p>
          <a:p>
            <a:r>
              <a:rPr lang="en-US" sz="1800" b="1" dirty="0"/>
              <a:t>Scope:</a:t>
            </a:r>
            <a:r>
              <a:rPr lang="en-US" sz="1800" dirty="0"/>
              <a:t> Applies to people, processes, technology, and physical security.</a:t>
            </a:r>
          </a:p>
          <a:p>
            <a:r>
              <a:rPr lang="en-US" sz="1800" b="1" dirty="0"/>
              <a:t>Risk-Based:</a:t>
            </a:r>
            <a:r>
              <a:rPr lang="en-US" sz="1800" dirty="0"/>
              <a:t> Requires organizations to identify and treat security risks systematically.</a:t>
            </a:r>
          </a:p>
          <a:p>
            <a:r>
              <a:rPr lang="en-US" sz="1800" b="1" dirty="0"/>
              <a:t>Mandatory Documents:</a:t>
            </a:r>
            <a:r>
              <a:rPr lang="en-US" sz="1800" dirty="0"/>
              <a:t> Policies, procedures, risk assessment reports, control implementation evidence.</a:t>
            </a:r>
          </a:p>
          <a:p>
            <a:r>
              <a:rPr lang="en-US" sz="1800" b="1" dirty="0"/>
              <a:t>Annex A Controls:</a:t>
            </a:r>
            <a:r>
              <a:rPr lang="en-US" sz="1800" dirty="0"/>
              <a:t> Contains </a:t>
            </a:r>
            <a:r>
              <a:rPr lang="en-US" sz="1800" b="1" dirty="0"/>
              <a:t>93 security controls</a:t>
            </a:r>
            <a:r>
              <a:rPr lang="en-US" sz="1800" dirty="0"/>
              <a:t> categorized into themes such as access control, physical security, operations security, encryption, supplier management, and incident management.</a:t>
            </a:r>
          </a:p>
          <a:p>
            <a:r>
              <a:rPr lang="en-US" sz="1800" b="1" dirty="0"/>
              <a:t>Certification:</a:t>
            </a:r>
            <a:r>
              <a:rPr lang="en-US" sz="1800" dirty="0"/>
              <a:t> Organizations can get certified through accredited auditors to prove their security maturity.</a:t>
            </a:r>
          </a:p>
          <a:p>
            <a:endParaRPr lang="en-IN" sz="1800" dirty="0"/>
          </a:p>
        </p:txBody>
      </p:sp>
    </p:spTree>
    <p:extLst>
      <p:ext uri="{BB962C8B-B14F-4D97-AF65-F5344CB8AC3E}">
        <p14:creationId xmlns:p14="http://schemas.microsoft.com/office/powerpoint/2010/main" val="18069853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6AA5E-E6F0-9892-B8EA-B44EEC5B9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688372-B979-BDFD-D462-50365B387000}"/>
              </a:ext>
            </a:extLst>
          </p:cNvPr>
          <p:cNvSpPr>
            <a:spLocks noGrp="1"/>
          </p:cNvSpPr>
          <p:nvPr>
            <p:ph type="title"/>
          </p:nvPr>
        </p:nvSpPr>
        <p:spPr/>
        <p:txBody>
          <a:bodyPr/>
          <a:lstStyle/>
          <a:p>
            <a:r>
              <a:rPr lang="en-US" dirty="0"/>
              <a:t>Why ISO 27001 is Important</a:t>
            </a:r>
            <a:br>
              <a:rPr lang="en-US" dirty="0"/>
            </a:br>
            <a:endParaRPr lang="en-IN" dirty="0"/>
          </a:p>
        </p:txBody>
      </p:sp>
      <p:sp>
        <p:nvSpPr>
          <p:cNvPr id="3" name="Text Placeholder 2">
            <a:extLst>
              <a:ext uri="{FF2B5EF4-FFF2-40B4-BE49-F238E27FC236}">
                <a16:creationId xmlns:a16="http://schemas.microsoft.com/office/drawing/2014/main" id="{90EB0EC7-BF77-A8CA-FD99-1CED12075246}"/>
              </a:ext>
            </a:extLst>
          </p:cNvPr>
          <p:cNvSpPr>
            <a:spLocks noGrp="1"/>
          </p:cNvSpPr>
          <p:nvPr>
            <p:ph type="body" idx="1"/>
          </p:nvPr>
        </p:nvSpPr>
        <p:spPr/>
        <p:txBody>
          <a:bodyPr/>
          <a:lstStyle/>
          <a:p>
            <a:pPr marL="482600" indent="-342900">
              <a:buFont typeface="Arial" panose="020B0604020202020204" pitchFamily="34" charset="0"/>
              <a:buChar char="•"/>
            </a:pPr>
            <a:r>
              <a:rPr lang="en-US" sz="2000" dirty="0"/>
              <a:t>Ensures </a:t>
            </a:r>
            <a:r>
              <a:rPr lang="en-US" sz="2000" b="1" dirty="0"/>
              <a:t>structured, standardized</a:t>
            </a:r>
            <a:r>
              <a:rPr lang="en-US" sz="2000" dirty="0"/>
              <a:t> security practices</a:t>
            </a:r>
          </a:p>
          <a:p>
            <a:pPr marL="482600" indent="-342900">
              <a:buFont typeface="Arial" panose="020B0604020202020204" pitchFamily="34" charset="0"/>
              <a:buChar char="•"/>
            </a:pPr>
            <a:r>
              <a:rPr lang="en-US" sz="2000" dirty="0"/>
              <a:t>Builds </a:t>
            </a:r>
            <a:r>
              <a:rPr lang="en-US" sz="2000" b="1" dirty="0"/>
              <a:t>customer trust</a:t>
            </a:r>
            <a:endParaRPr lang="en-US" sz="2000" dirty="0"/>
          </a:p>
          <a:p>
            <a:pPr marL="482600" indent="-342900">
              <a:buFont typeface="Arial" panose="020B0604020202020204" pitchFamily="34" charset="0"/>
              <a:buChar char="•"/>
            </a:pPr>
            <a:r>
              <a:rPr lang="en-US" sz="2000" dirty="0"/>
              <a:t>Helps meet </a:t>
            </a:r>
            <a:r>
              <a:rPr lang="en-US" sz="2000" b="1" dirty="0"/>
              <a:t>legal and regulatory requirements</a:t>
            </a:r>
            <a:endParaRPr lang="en-US" sz="2000" dirty="0"/>
          </a:p>
          <a:p>
            <a:pPr marL="482600" indent="-342900">
              <a:buFont typeface="Arial" panose="020B0604020202020204" pitchFamily="34" charset="0"/>
              <a:buChar char="•"/>
            </a:pPr>
            <a:r>
              <a:rPr lang="en-US" sz="2000" dirty="0"/>
              <a:t>Reduces risk of breaches and cyber incidents</a:t>
            </a:r>
          </a:p>
          <a:p>
            <a:pPr marL="482600" indent="-342900">
              <a:buFont typeface="Arial" panose="020B0604020202020204" pitchFamily="34" charset="0"/>
              <a:buChar char="•"/>
            </a:pPr>
            <a:r>
              <a:rPr lang="en-US" sz="2000" dirty="0"/>
              <a:t>Supports continuous improvement of security posture</a:t>
            </a:r>
          </a:p>
        </p:txBody>
      </p:sp>
    </p:spTree>
    <p:extLst>
      <p:ext uri="{BB962C8B-B14F-4D97-AF65-F5344CB8AC3E}">
        <p14:creationId xmlns:p14="http://schemas.microsoft.com/office/powerpoint/2010/main" val="35436315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C67A6-F682-86F5-8C50-CBA770DA608A}"/>
              </a:ext>
            </a:extLst>
          </p:cNvPr>
          <p:cNvSpPr>
            <a:spLocks noGrp="1"/>
          </p:cNvSpPr>
          <p:nvPr>
            <p:ph type="title"/>
          </p:nvPr>
        </p:nvSpPr>
        <p:spPr/>
        <p:txBody>
          <a:bodyPr/>
          <a:lstStyle/>
          <a:p>
            <a:r>
              <a:rPr lang="en-IN" dirty="0"/>
              <a:t>NIST SP 800-53</a:t>
            </a:r>
            <a:br>
              <a:rPr lang="en-IN" dirty="0"/>
            </a:br>
            <a:endParaRPr lang="en-IN" dirty="0"/>
          </a:p>
        </p:txBody>
      </p:sp>
      <p:sp>
        <p:nvSpPr>
          <p:cNvPr id="3" name="Text Placeholder 2">
            <a:extLst>
              <a:ext uri="{FF2B5EF4-FFF2-40B4-BE49-F238E27FC236}">
                <a16:creationId xmlns:a16="http://schemas.microsoft.com/office/drawing/2014/main" id="{11266CC8-2CF4-7C4C-B8AD-D1D5FD68E3B9}"/>
              </a:ext>
            </a:extLst>
          </p:cNvPr>
          <p:cNvSpPr>
            <a:spLocks noGrp="1"/>
          </p:cNvSpPr>
          <p:nvPr>
            <p:ph type="body" idx="1"/>
          </p:nvPr>
        </p:nvSpPr>
        <p:spPr>
          <a:xfrm>
            <a:off x="720000" y="841572"/>
            <a:ext cx="7704000" cy="4059041"/>
          </a:xfrm>
        </p:spPr>
        <p:txBody>
          <a:bodyPr/>
          <a:lstStyle/>
          <a:p>
            <a:r>
              <a:rPr lang="en-US" sz="1800" b="1" dirty="0"/>
              <a:t>NIST SP 800-53</a:t>
            </a:r>
            <a:r>
              <a:rPr lang="en-US" sz="1800" dirty="0"/>
              <a:t> stands for </a:t>
            </a:r>
            <a:r>
              <a:rPr lang="en-US" sz="1800" b="1" dirty="0"/>
              <a:t>National Institute of Standards and Technology Special Publication 800-53</a:t>
            </a:r>
            <a:r>
              <a:rPr lang="en-US" sz="1800" dirty="0"/>
              <a:t>.</a:t>
            </a:r>
          </a:p>
          <a:p>
            <a:r>
              <a:rPr lang="en-US" sz="1800" dirty="0"/>
              <a:t>It provides a </a:t>
            </a:r>
            <a:r>
              <a:rPr lang="en-US" sz="1800" b="1" dirty="0"/>
              <a:t>comprehensive catalog of security and privacy controls</a:t>
            </a:r>
            <a:r>
              <a:rPr lang="en-US" sz="1800" dirty="0"/>
              <a:t> designed to protect </a:t>
            </a:r>
            <a:r>
              <a:rPr lang="en-US" sz="1800" b="1" dirty="0"/>
              <a:t>U.S. federal information systems</a:t>
            </a:r>
            <a:r>
              <a:rPr lang="en-US" sz="1800" dirty="0"/>
              <a:t>, but it is widely used by private organizations globally to strengthen cybersecurity programs.</a:t>
            </a:r>
          </a:p>
          <a:p>
            <a:endParaRPr lang="en-US" sz="1800" dirty="0"/>
          </a:p>
          <a:p>
            <a:r>
              <a:rPr lang="en-US" sz="1800" b="1" dirty="0"/>
              <a:t>Security and privacy controls</a:t>
            </a:r>
            <a:r>
              <a:rPr lang="en-US" sz="1800" dirty="0"/>
              <a:t> are the </a:t>
            </a:r>
            <a:r>
              <a:rPr lang="en-US" sz="1800" b="1" dirty="0"/>
              <a:t>safeguards, rules, and mechanisms</a:t>
            </a:r>
            <a:r>
              <a:rPr lang="en-US" sz="1800" dirty="0"/>
              <a:t> an organization puts in place to </a:t>
            </a:r>
            <a:r>
              <a:rPr lang="en-US" sz="1800" b="1" dirty="0"/>
              <a:t>protect information, systems, and user data</a:t>
            </a:r>
            <a:r>
              <a:rPr lang="en-US" sz="1800" dirty="0"/>
              <a:t> from threats, misuse, and unauthorized access.</a:t>
            </a:r>
          </a:p>
          <a:p>
            <a:endParaRPr lang="en-IN" sz="1800" dirty="0"/>
          </a:p>
        </p:txBody>
      </p:sp>
    </p:spTree>
    <p:extLst>
      <p:ext uri="{BB962C8B-B14F-4D97-AF65-F5344CB8AC3E}">
        <p14:creationId xmlns:p14="http://schemas.microsoft.com/office/powerpoint/2010/main" val="389846974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76148-3B87-B380-8E8A-5108E8C72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ED294-6229-AA95-B564-215132D15116}"/>
              </a:ext>
            </a:extLst>
          </p:cNvPr>
          <p:cNvSpPr>
            <a:spLocks noGrp="1"/>
          </p:cNvSpPr>
          <p:nvPr>
            <p:ph type="title"/>
          </p:nvPr>
        </p:nvSpPr>
        <p:spPr/>
        <p:txBody>
          <a:bodyPr/>
          <a:lstStyle/>
          <a:p>
            <a:r>
              <a:rPr lang="en-IN" dirty="0"/>
              <a:t>NIST SP 800-53 - Key Points</a:t>
            </a:r>
            <a:br>
              <a:rPr lang="en-IN" dirty="0"/>
            </a:br>
            <a:endParaRPr lang="en-IN" dirty="0"/>
          </a:p>
        </p:txBody>
      </p:sp>
      <p:sp>
        <p:nvSpPr>
          <p:cNvPr id="3" name="Text Placeholder 2">
            <a:extLst>
              <a:ext uri="{FF2B5EF4-FFF2-40B4-BE49-F238E27FC236}">
                <a16:creationId xmlns:a16="http://schemas.microsoft.com/office/drawing/2014/main" id="{E58924AA-303F-046D-CB73-FC5E35A12E86}"/>
              </a:ext>
            </a:extLst>
          </p:cNvPr>
          <p:cNvSpPr>
            <a:spLocks noGrp="1"/>
          </p:cNvSpPr>
          <p:nvPr>
            <p:ph type="body" idx="1"/>
          </p:nvPr>
        </p:nvSpPr>
        <p:spPr/>
        <p:txBody>
          <a:bodyPr/>
          <a:lstStyle/>
          <a:p>
            <a:r>
              <a:rPr lang="en-US" sz="1800" b="1" dirty="0"/>
              <a:t>Purpose:</a:t>
            </a:r>
            <a:r>
              <a:rPr lang="en-US" sz="1800" dirty="0"/>
              <a:t> To provide a standardized set of security and privacy controls to ensure confidentiality, integrity, and availability of information systems.</a:t>
            </a:r>
          </a:p>
          <a:p>
            <a:r>
              <a:rPr lang="en-US" sz="1800" b="1" dirty="0"/>
              <a:t>Scope:</a:t>
            </a:r>
            <a:r>
              <a:rPr lang="en-US" sz="1800" dirty="0"/>
              <a:t> Applies to federal agencies, contractors, and organizations seeking strong security baselines.</a:t>
            </a:r>
          </a:p>
          <a:p>
            <a:r>
              <a:rPr lang="en-US" sz="1800" b="1" dirty="0"/>
              <a:t>Control Families:</a:t>
            </a:r>
            <a:r>
              <a:rPr lang="en-US" sz="1800" dirty="0"/>
              <a:t> Controls are organized into categories such as Access Control, Audit &amp; Accountability, Incident Response, Risk Assessment, System &amp; Communications Protection, etc.</a:t>
            </a:r>
          </a:p>
          <a:p>
            <a:r>
              <a:rPr lang="en-US" sz="1800" b="1" dirty="0"/>
              <a:t>Risk-Based:</a:t>
            </a:r>
            <a:r>
              <a:rPr lang="en-US" sz="1800" dirty="0"/>
              <a:t> Supports selecting and tailoring controls based on risk and system impact level (</a:t>
            </a:r>
            <a:r>
              <a:rPr lang="en-US" sz="1800" b="1" dirty="0"/>
              <a:t>Low, Moderate, High</a:t>
            </a:r>
            <a:r>
              <a:rPr lang="en-US" sz="1800" dirty="0"/>
              <a:t>).</a:t>
            </a:r>
          </a:p>
        </p:txBody>
      </p:sp>
    </p:spTree>
    <p:extLst>
      <p:ext uri="{BB962C8B-B14F-4D97-AF65-F5344CB8AC3E}">
        <p14:creationId xmlns:p14="http://schemas.microsoft.com/office/powerpoint/2010/main" val="317924068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B434D-815D-8224-5EAE-2291891D870F}"/>
              </a:ext>
            </a:extLst>
          </p:cNvPr>
          <p:cNvSpPr>
            <a:spLocks noGrp="1"/>
          </p:cNvSpPr>
          <p:nvPr>
            <p:ph type="title"/>
          </p:nvPr>
        </p:nvSpPr>
        <p:spPr/>
        <p:txBody>
          <a:bodyPr/>
          <a:lstStyle/>
          <a:p>
            <a:r>
              <a:rPr lang="en-IN" dirty="0"/>
              <a:t>COBIT</a:t>
            </a:r>
          </a:p>
        </p:txBody>
      </p:sp>
      <p:sp>
        <p:nvSpPr>
          <p:cNvPr id="3" name="Text Placeholder 2">
            <a:extLst>
              <a:ext uri="{FF2B5EF4-FFF2-40B4-BE49-F238E27FC236}">
                <a16:creationId xmlns:a16="http://schemas.microsoft.com/office/drawing/2014/main" id="{F16A71CC-BD19-8A74-FFBC-5824B9DFBD79}"/>
              </a:ext>
            </a:extLst>
          </p:cNvPr>
          <p:cNvSpPr>
            <a:spLocks noGrp="1"/>
          </p:cNvSpPr>
          <p:nvPr>
            <p:ph type="body" idx="1"/>
          </p:nvPr>
        </p:nvSpPr>
        <p:spPr/>
        <p:txBody>
          <a:bodyPr/>
          <a:lstStyle/>
          <a:p>
            <a:r>
              <a:rPr lang="en-US" b="1" dirty="0"/>
              <a:t>COBIT</a:t>
            </a:r>
            <a:r>
              <a:rPr lang="en-US" dirty="0"/>
              <a:t> stands for </a:t>
            </a:r>
            <a:r>
              <a:rPr lang="en-US" b="1" dirty="0"/>
              <a:t>Control Objectives for Information and Related Technologies</a:t>
            </a:r>
            <a:r>
              <a:rPr lang="en-US" dirty="0"/>
              <a:t>.</a:t>
            </a:r>
            <a:br>
              <a:rPr lang="en-US" dirty="0"/>
            </a:br>
            <a:r>
              <a:rPr lang="en-US" dirty="0"/>
              <a:t>It is a globally recognized </a:t>
            </a:r>
            <a:r>
              <a:rPr lang="en-US" b="1" dirty="0"/>
              <a:t>IT governance and management framework</a:t>
            </a:r>
            <a:r>
              <a:rPr lang="en-US" dirty="0"/>
              <a:t> developed by </a:t>
            </a:r>
            <a:r>
              <a:rPr lang="en-US" b="1" dirty="0"/>
              <a:t>ISACA</a:t>
            </a:r>
            <a:r>
              <a:rPr lang="en-US" dirty="0"/>
              <a:t> that helps organizations ensure that IT processes align with business goals, manage risks effectively, and meet regulatory requirements.</a:t>
            </a:r>
          </a:p>
          <a:p>
            <a:endParaRPr lang="en-US" dirty="0"/>
          </a:p>
          <a:p>
            <a:r>
              <a:rPr lang="en-US" dirty="0"/>
              <a:t>COBIT is a framework for IT governance and management that focuses on aligning IT with business goals and </a:t>
            </a:r>
            <a:r>
              <a:rPr lang="en-US" b="1" dirty="0"/>
              <a:t>managing the entire IT landscape, rather than just security</a:t>
            </a:r>
            <a:r>
              <a:rPr lang="en-US" dirty="0"/>
              <a:t>.</a:t>
            </a:r>
          </a:p>
          <a:p>
            <a:endParaRPr lang="en-US" dirty="0"/>
          </a:p>
          <a:p>
            <a:r>
              <a:rPr lang="en-US" dirty="0"/>
              <a:t>An </a:t>
            </a:r>
            <a:r>
              <a:rPr lang="en-US" b="1" dirty="0"/>
              <a:t>IT governance and management framework</a:t>
            </a:r>
            <a:r>
              <a:rPr lang="en-US" dirty="0"/>
              <a:t> is a structured set of </a:t>
            </a:r>
            <a:r>
              <a:rPr lang="en-US" b="1" dirty="0"/>
              <a:t>policies, processes, roles, and best practices</a:t>
            </a:r>
            <a:r>
              <a:rPr lang="en-US" dirty="0"/>
              <a:t> that help an organization ensure its IT systems support </a:t>
            </a:r>
            <a:r>
              <a:rPr lang="en-US" b="1" dirty="0"/>
              <a:t>business goals, operate efficiently, manage risks, and comply with regulations</a:t>
            </a:r>
            <a:r>
              <a:rPr lang="en-US" dirty="0"/>
              <a:t>.</a:t>
            </a:r>
            <a:endParaRPr lang="en-IN" dirty="0"/>
          </a:p>
        </p:txBody>
      </p:sp>
    </p:spTree>
    <p:extLst>
      <p:ext uri="{BB962C8B-B14F-4D97-AF65-F5344CB8AC3E}">
        <p14:creationId xmlns:p14="http://schemas.microsoft.com/office/powerpoint/2010/main" val="125799586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D5A1-3B10-8996-4BCB-5EFCD3AE0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ED74C-C75B-01F4-DAB9-AF7BE29E85BE}"/>
              </a:ext>
            </a:extLst>
          </p:cNvPr>
          <p:cNvSpPr>
            <a:spLocks noGrp="1"/>
          </p:cNvSpPr>
          <p:nvPr>
            <p:ph type="title"/>
          </p:nvPr>
        </p:nvSpPr>
        <p:spPr/>
        <p:txBody>
          <a:bodyPr/>
          <a:lstStyle/>
          <a:p>
            <a:r>
              <a:rPr lang="en-IN" dirty="0"/>
              <a:t>COBIT - </a:t>
            </a:r>
            <a:r>
              <a:rPr lang="en-US" dirty="0"/>
              <a:t>Key Points</a:t>
            </a:r>
            <a:br>
              <a:rPr lang="en-US" dirty="0"/>
            </a:br>
            <a:endParaRPr lang="en-IN" dirty="0"/>
          </a:p>
        </p:txBody>
      </p:sp>
      <p:sp>
        <p:nvSpPr>
          <p:cNvPr id="3" name="Text Placeholder 2">
            <a:extLst>
              <a:ext uri="{FF2B5EF4-FFF2-40B4-BE49-F238E27FC236}">
                <a16:creationId xmlns:a16="http://schemas.microsoft.com/office/drawing/2014/main" id="{6F050603-3C2C-3A84-D17A-5C59344D34F2}"/>
              </a:ext>
            </a:extLst>
          </p:cNvPr>
          <p:cNvSpPr>
            <a:spLocks noGrp="1"/>
          </p:cNvSpPr>
          <p:nvPr>
            <p:ph type="body" idx="1"/>
          </p:nvPr>
        </p:nvSpPr>
        <p:spPr/>
        <p:txBody>
          <a:bodyPr/>
          <a:lstStyle/>
          <a:p>
            <a:r>
              <a:rPr lang="en-US" sz="1800" b="1" dirty="0"/>
              <a:t>Purpose:</a:t>
            </a:r>
            <a:r>
              <a:rPr lang="en-US" sz="1800" dirty="0"/>
              <a:t> To provide a structured framework for governing and managing enterprise IT.</a:t>
            </a:r>
          </a:p>
          <a:p>
            <a:r>
              <a:rPr lang="en-US" sz="1800" b="1" dirty="0"/>
              <a:t>Scope:</a:t>
            </a:r>
            <a:r>
              <a:rPr lang="en-US" sz="1800" dirty="0"/>
              <a:t> Covers security, risk, compliance, performance, value delivery, and IT operations.</a:t>
            </a:r>
          </a:p>
          <a:p>
            <a:r>
              <a:rPr lang="en-US" sz="1800" b="1" dirty="0"/>
              <a:t>Domains:</a:t>
            </a:r>
            <a:r>
              <a:rPr lang="en-US" sz="1800" dirty="0"/>
              <a:t> COBIT 2019 organizes practices into focus areas such as </a:t>
            </a:r>
            <a:r>
              <a:rPr lang="en-US" sz="1800" b="1" dirty="0"/>
              <a:t>Governance, Risk Management, Information Security, Compliance</a:t>
            </a:r>
            <a:r>
              <a:rPr lang="en-US" sz="1800" dirty="0"/>
              <a:t>, and Performance Management.</a:t>
            </a:r>
          </a:p>
          <a:p>
            <a:r>
              <a:rPr lang="en-US" sz="1800" b="1" dirty="0"/>
              <a:t>Principles-Based:</a:t>
            </a:r>
            <a:r>
              <a:rPr lang="en-US" sz="1800" dirty="0"/>
              <a:t> Uses governance and management objectives to help organizations build a holistic IT governance system.</a:t>
            </a:r>
          </a:p>
        </p:txBody>
      </p:sp>
    </p:spTree>
    <p:extLst>
      <p:ext uri="{BB962C8B-B14F-4D97-AF65-F5344CB8AC3E}">
        <p14:creationId xmlns:p14="http://schemas.microsoft.com/office/powerpoint/2010/main" val="327708273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CAAD7-520F-5BDF-6F5D-99ECAF0B55E7}"/>
              </a:ext>
            </a:extLst>
          </p:cNvPr>
          <p:cNvSpPr>
            <a:spLocks noGrp="1"/>
          </p:cNvSpPr>
          <p:nvPr>
            <p:ph type="title"/>
          </p:nvPr>
        </p:nvSpPr>
        <p:spPr/>
        <p:txBody>
          <a:bodyPr/>
          <a:lstStyle/>
          <a:p>
            <a:r>
              <a:rPr lang="en-IN" dirty="0"/>
              <a:t>Implementing GRC policies</a:t>
            </a:r>
            <a:br>
              <a:rPr lang="en-IN" dirty="0"/>
            </a:br>
            <a:endParaRPr lang="en-IN" dirty="0"/>
          </a:p>
        </p:txBody>
      </p:sp>
      <p:sp>
        <p:nvSpPr>
          <p:cNvPr id="3" name="Text Placeholder 2">
            <a:extLst>
              <a:ext uri="{FF2B5EF4-FFF2-40B4-BE49-F238E27FC236}">
                <a16:creationId xmlns:a16="http://schemas.microsoft.com/office/drawing/2014/main" id="{1A3018D3-521B-C8A5-F4F9-C81513782533}"/>
              </a:ext>
            </a:extLst>
          </p:cNvPr>
          <p:cNvSpPr>
            <a:spLocks noGrp="1"/>
          </p:cNvSpPr>
          <p:nvPr>
            <p:ph type="body" idx="1"/>
          </p:nvPr>
        </p:nvSpPr>
        <p:spPr/>
        <p:txBody>
          <a:bodyPr/>
          <a:lstStyle/>
          <a:p>
            <a:pPr marL="596900" indent="-457200">
              <a:buFont typeface="Arial" panose="020B0604020202020204" pitchFamily="34" charset="0"/>
              <a:buChar char="•"/>
            </a:pPr>
            <a:r>
              <a:rPr lang="en-US" sz="2600" dirty="0"/>
              <a:t>Define governance structure and policies</a:t>
            </a:r>
          </a:p>
          <a:p>
            <a:pPr marL="596900" indent="-457200">
              <a:buFont typeface="Arial" panose="020B0604020202020204" pitchFamily="34" charset="0"/>
              <a:buChar char="•"/>
            </a:pPr>
            <a:r>
              <a:rPr lang="en-US" sz="2600" dirty="0"/>
              <a:t>Conduct risk assessments and maintain a risk register</a:t>
            </a:r>
          </a:p>
          <a:p>
            <a:pPr marL="596900" indent="-457200">
              <a:buFont typeface="Arial" panose="020B0604020202020204" pitchFamily="34" charset="0"/>
              <a:buChar char="•"/>
            </a:pPr>
            <a:r>
              <a:rPr lang="en-US" sz="2600" dirty="0"/>
              <a:t>Map and implement compliance requirements</a:t>
            </a:r>
          </a:p>
          <a:p>
            <a:pPr marL="596900" indent="-457200">
              <a:buFont typeface="Arial" panose="020B0604020202020204" pitchFamily="34" charset="0"/>
              <a:buChar char="•"/>
            </a:pPr>
            <a:r>
              <a:rPr lang="en-US" sz="2600" dirty="0"/>
              <a:t>Document procedures and assign responsibilities</a:t>
            </a:r>
          </a:p>
          <a:p>
            <a:pPr marL="596900" indent="-457200">
              <a:buFont typeface="Arial" panose="020B0604020202020204" pitchFamily="34" charset="0"/>
              <a:buChar char="•"/>
            </a:pPr>
            <a:r>
              <a:rPr lang="en-US" sz="2600" dirty="0"/>
              <a:t>Train employees and enforce controls</a:t>
            </a:r>
          </a:p>
          <a:p>
            <a:pPr marL="596900" indent="-457200">
              <a:buFont typeface="Arial" panose="020B0604020202020204" pitchFamily="34" charset="0"/>
              <a:buChar char="•"/>
            </a:pPr>
            <a:r>
              <a:rPr lang="en-US" sz="2600" dirty="0"/>
              <a:t>Continuously monitor, audit, and improve</a:t>
            </a:r>
          </a:p>
        </p:txBody>
      </p:sp>
    </p:spTree>
    <p:extLst>
      <p:ext uri="{BB962C8B-B14F-4D97-AF65-F5344CB8AC3E}">
        <p14:creationId xmlns:p14="http://schemas.microsoft.com/office/powerpoint/2010/main" val="283288966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E0A2F-DD82-96EC-3358-07C94C79CC93}"/>
              </a:ext>
            </a:extLst>
          </p:cNvPr>
          <p:cNvSpPr>
            <a:spLocks noGrp="1"/>
          </p:cNvSpPr>
          <p:nvPr>
            <p:ph type="title"/>
          </p:nvPr>
        </p:nvSpPr>
        <p:spPr/>
        <p:txBody>
          <a:bodyPr/>
          <a:lstStyle/>
          <a:p>
            <a:r>
              <a:rPr lang="en-US" dirty="0"/>
              <a:t>GRC Policy Implementation for ISO 27001</a:t>
            </a:r>
            <a:endParaRPr lang="en-IN" dirty="0"/>
          </a:p>
        </p:txBody>
      </p:sp>
      <p:sp>
        <p:nvSpPr>
          <p:cNvPr id="3" name="Text Placeholder 2">
            <a:extLst>
              <a:ext uri="{FF2B5EF4-FFF2-40B4-BE49-F238E27FC236}">
                <a16:creationId xmlns:a16="http://schemas.microsoft.com/office/drawing/2014/main" id="{FB7086B1-C17C-D062-4CAD-284DAA10819A}"/>
              </a:ext>
            </a:extLst>
          </p:cNvPr>
          <p:cNvSpPr>
            <a:spLocks noGrp="1"/>
          </p:cNvSpPr>
          <p:nvPr>
            <p:ph type="body" idx="1"/>
          </p:nvPr>
        </p:nvSpPr>
        <p:spPr>
          <a:xfrm>
            <a:off x="555008" y="718783"/>
            <a:ext cx="8225051" cy="4381546"/>
          </a:xfrm>
        </p:spPr>
        <p:txBody>
          <a:bodyPr/>
          <a:lstStyle/>
          <a:p>
            <a:r>
              <a:rPr lang="en-US" sz="1400" b="1" dirty="0"/>
              <a:t>1. Governance Implementation: </a:t>
            </a:r>
            <a:r>
              <a:rPr lang="en-US" sz="1400" dirty="0"/>
              <a:t>Governance ensures </a:t>
            </a:r>
            <a:r>
              <a:rPr lang="en-US" sz="1400" b="1" dirty="0"/>
              <a:t>direction, accountability, and structure</a:t>
            </a:r>
            <a:r>
              <a:rPr lang="en-US" sz="1400" dirty="0"/>
              <a:t> for the ISMS.</a:t>
            </a:r>
          </a:p>
          <a:p>
            <a:r>
              <a:rPr lang="en-US" sz="1400" dirty="0"/>
              <a:t>Develop core policies:</a:t>
            </a:r>
          </a:p>
          <a:p>
            <a:pPr lvl="1"/>
            <a:r>
              <a:rPr lang="en-US" sz="1200" b="1" dirty="0"/>
              <a:t>Information Security Policy</a:t>
            </a:r>
            <a:endParaRPr lang="en-US" sz="1200" dirty="0"/>
          </a:p>
          <a:p>
            <a:pPr lvl="1"/>
            <a:r>
              <a:rPr lang="en-US" sz="1200" b="1" dirty="0"/>
              <a:t>Access Control Policy</a:t>
            </a:r>
            <a:endParaRPr lang="en-US" sz="1200" dirty="0"/>
          </a:p>
          <a:p>
            <a:pPr lvl="1"/>
            <a:r>
              <a:rPr lang="en-US" sz="1200" b="1" dirty="0"/>
              <a:t>Acceptable Use Policy</a:t>
            </a:r>
            <a:endParaRPr lang="en-US" sz="1200" dirty="0"/>
          </a:p>
          <a:p>
            <a:pPr lvl="1"/>
            <a:r>
              <a:rPr lang="en-US" sz="1200" b="1" dirty="0"/>
              <a:t>Asset Management Policy</a:t>
            </a:r>
          </a:p>
          <a:p>
            <a:r>
              <a:rPr lang="en-US" sz="1400" b="1" dirty="0"/>
              <a:t>2. Risk Management Implementation: </a:t>
            </a:r>
            <a:r>
              <a:rPr lang="en-US" sz="1400" dirty="0"/>
              <a:t>Risk Management ensures the ISMS is </a:t>
            </a:r>
            <a:r>
              <a:rPr lang="en-US" sz="1400" b="1" dirty="0"/>
              <a:t>risk-based</a:t>
            </a:r>
            <a:r>
              <a:rPr lang="en-US" sz="1400" dirty="0"/>
              <a:t>, as required by ISO 27001.</a:t>
            </a:r>
          </a:p>
          <a:p>
            <a:pPr lvl="1"/>
            <a:r>
              <a:rPr lang="en-US" sz="1200" dirty="0"/>
              <a:t>Conduct a </a:t>
            </a:r>
            <a:r>
              <a:rPr lang="en-US" sz="1200" b="1" dirty="0"/>
              <a:t>formal risk assessment</a:t>
            </a:r>
            <a:r>
              <a:rPr lang="en-US" sz="1200" dirty="0"/>
              <a:t> using qualitative or semi-quantitative methods.</a:t>
            </a:r>
          </a:p>
          <a:p>
            <a:pPr lvl="1"/>
            <a:r>
              <a:rPr lang="en-US" sz="1200" dirty="0"/>
              <a:t>Identify threats, vulnerabilities, and impacts on information assets.</a:t>
            </a:r>
          </a:p>
          <a:p>
            <a:pPr lvl="1"/>
            <a:r>
              <a:rPr lang="en-US" sz="1200" dirty="0"/>
              <a:t>Maintain a </a:t>
            </a:r>
            <a:r>
              <a:rPr lang="en-US" sz="1200" b="1" dirty="0"/>
              <a:t>Risk Register</a:t>
            </a:r>
            <a:r>
              <a:rPr lang="en-US" sz="1200" dirty="0"/>
              <a:t> listing risks, owners, controls, and treatment plans.</a:t>
            </a:r>
          </a:p>
          <a:p>
            <a:pPr lvl="1"/>
            <a:r>
              <a:rPr lang="en-US" sz="1200" dirty="0"/>
              <a:t>Choose controls from </a:t>
            </a:r>
            <a:r>
              <a:rPr lang="en-US" sz="1200" b="1" dirty="0"/>
              <a:t>Annex A (93 controls)</a:t>
            </a:r>
            <a:r>
              <a:rPr lang="en-US" sz="1200" dirty="0"/>
              <a:t> based on risk results.</a:t>
            </a:r>
          </a:p>
          <a:p>
            <a:pPr lvl="1"/>
            <a:r>
              <a:rPr lang="en-US" sz="1200" dirty="0"/>
              <a:t>Document </a:t>
            </a:r>
            <a:r>
              <a:rPr lang="en-US" sz="1200" b="1" dirty="0"/>
              <a:t>risk treatment plans</a:t>
            </a:r>
            <a:r>
              <a:rPr lang="en-US" sz="1200" dirty="0"/>
              <a:t> and residual risk acceptance.</a:t>
            </a:r>
          </a:p>
          <a:p>
            <a:r>
              <a:rPr lang="en-US" sz="1400" b="1" dirty="0"/>
              <a:t>3. Compliance Implementation: </a:t>
            </a:r>
            <a:r>
              <a:rPr lang="en-US" sz="1400" dirty="0"/>
              <a:t>Compliance ensures the organization </a:t>
            </a:r>
            <a:r>
              <a:rPr lang="en-US" sz="1400" b="1" dirty="0"/>
              <a:t>meets ISO 27001 requirements</a:t>
            </a:r>
            <a:r>
              <a:rPr lang="en-US" sz="1400" dirty="0"/>
              <a:t> and any legal or regulatory obligations.</a:t>
            </a:r>
          </a:p>
          <a:p>
            <a:pPr lvl="1"/>
            <a:r>
              <a:rPr lang="en-US" sz="1200" dirty="0"/>
              <a:t>Map existing controls to ISO 27001 Annex A requirements.</a:t>
            </a:r>
          </a:p>
          <a:p>
            <a:pPr lvl="1"/>
            <a:r>
              <a:rPr lang="en-US" sz="1200" dirty="0"/>
              <a:t>Implement </a:t>
            </a:r>
            <a:r>
              <a:rPr lang="en-US" sz="1200" b="1" dirty="0"/>
              <a:t>procedures and SOPs</a:t>
            </a:r>
            <a:r>
              <a:rPr lang="en-US" sz="1200" dirty="0"/>
              <a:t> that support the policies.</a:t>
            </a:r>
          </a:p>
          <a:p>
            <a:pPr lvl="1"/>
            <a:r>
              <a:rPr lang="en-US" sz="1200" dirty="0"/>
              <a:t>Maintain evidence: logs, reports, audit trails, meeting minutes, training records.</a:t>
            </a:r>
          </a:p>
          <a:p>
            <a:pPr lvl="1"/>
            <a:r>
              <a:rPr lang="en-US" sz="1200" dirty="0"/>
              <a:t>Perform </a:t>
            </a:r>
            <a:r>
              <a:rPr lang="en-US" sz="1200" b="1" dirty="0"/>
              <a:t>internal ISMS audits</a:t>
            </a:r>
            <a:r>
              <a:rPr lang="en-US" sz="1200" dirty="0"/>
              <a:t> to identify gaps before the external audit.</a:t>
            </a:r>
          </a:p>
          <a:p>
            <a:pPr lvl="1"/>
            <a:r>
              <a:rPr lang="en-US" sz="1200" dirty="0"/>
              <a:t>Conduct </a:t>
            </a:r>
            <a:r>
              <a:rPr lang="en-US" sz="1200" b="1" dirty="0"/>
              <a:t>management review meetings</a:t>
            </a:r>
            <a:r>
              <a:rPr lang="en-US" sz="1200" dirty="0"/>
              <a:t> and track corrective actions (CAPA).</a:t>
            </a:r>
          </a:p>
        </p:txBody>
      </p:sp>
    </p:spTree>
    <p:extLst>
      <p:ext uri="{BB962C8B-B14F-4D97-AF65-F5344CB8AC3E}">
        <p14:creationId xmlns:p14="http://schemas.microsoft.com/office/powerpoint/2010/main" val="232262833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390E9-EFA0-6099-3589-3D715E8A50F2}"/>
              </a:ext>
            </a:extLst>
          </p:cNvPr>
          <p:cNvSpPr>
            <a:spLocks noGrp="1"/>
          </p:cNvSpPr>
          <p:nvPr>
            <p:ph type="title"/>
          </p:nvPr>
        </p:nvSpPr>
        <p:spPr/>
        <p:txBody>
          <a:bodyPr/>
          <a:lstStyle/>
          <a:p>
            <a:r>
              <a:rPr lang="en-US" sz="2400" dirty="0"/>
              <a:t>GRC Essentials for ISO 27001 Audit Readiness</a:t>
            </a:r>
            <a:endParaRPr lang="en-IN" sz="2400" dirty="0"/>
          </a:p>
        </p:txBody>
      </p:sp>
      <p:sp>
        <p:nvSpPr>
          <p:cNvPr id="3" name="Text Placeholder 2">
            <a:extLst>
              <a:ext uri="{FF2B5EF4-FFF2-40B4-BE49-F238E27FC236}">
                <a16:creationId xmlns:a16="http://schemas.microsoft.com/office/drawing/2014/main" id="{319224C9-B79E-C8CF-19A2-567C250AE0FC}"/>
              </a:ext>
            </a:extLst>
          </p:cNvPr>
          <p:cNvSpPr>
            <a:spLocks noGrp="1"/>
          </p:cNvSpPr>
          <p:nvPr>
            <p:ph type="body" idx="1"/>
          </p:nvPr>
        </p:nvSpPr>
        <p:spPr/>
        <p:txBody>
          <a:bodyPr/>
          <a:lstStyle/>
          <a:p>
            <a:r>
              <a:rPr lang="en-US" sz="1800" b="1" dirty="0"/>
              <a:t>Policies to Implement Before the Audit</a:t>
            </a:r>
          </a:p>
          <a:p>
            <a:pPr marL="425450" indent="-285750">
              <a:buFont typeface="Arial" panose="020B0604020202020204" pitchFamily="34" charset="0"/>
              <a:buChar char="•"/>
            </a:pPr>
            <a:r>
              <a:rPr lang="en-US" sz="1800" b="1" dirty="0"/>
              <a:t>Information Security Policy (Governance):</a:t>
            </a:r>
            <a:r>
              <a:rPr lang="en-US" sz="1800" dirty="0"/>
              <a:t> Defines security objectives, responsibilities, and accountability across the organization.</a:t>
            </a:r>
          </a:p>
          <a:p>
            <a:pPr marL="425450" indent="-285750">
              <a:buFont typeface="Arial" panose="020B0604020202020204" pitchFamily="34" charset="0"/>
              <a:buChar char="•"/>
            </a:pPr>
            <a:r>
              <a:rPr lang="en-US" sz="1800" b="1" dirty="0"/>
              <a:t>Risk Management Policy &amp; Risk Register (Risk Management):</a:t>
            </a:r>
            <a:r>
              <a:rPr lang="en-US" sz="1800" dirty="0"/>
              <a:t> Outlines how risks will be identified, assessed, treated, and monitored as required by ISO 27001.</a:t>
            </a:r>
          </a:p>
          <a:p>
            <a:pPr marL="425450" indent="-285750">
              <a:buFont typeface="Arial" panose="020B0604020202020204" pitchFamily="34" charset="0"/>
              <a:buChar char="•"/>
            </a:pPr>
            <a:r>
              <a:rPr lang="en-US" sz="1800" b="1" dirty="0"/>
              <a:t>Compliance &amp; Documentation Management Policy (Compliance):</a:t>
            </a:r>
            <a:r>
              <a:rPr lang="en-US" sz="1800" dirty="0"/>
              <a:t> Ensures all ISO 27001 controls, evidence, procedures, and records are properly maintained and audit-ready.</a:t>
            </a:r>
          </a:p>
          <a:p>
            <a:pPr marL="425450" indent="-285750">
              <a:buFont typeface="Arial" panose="020B0604020202020204" pitchFamily="34" charset="0"/>
              <a:buChar char="•"/>
            </a:pPr>
            <a:endParaRPr lang="en-IN" sz="1800" dirty="0"/>
          </a:p>
        </p:txBody>
      </p:sp>
    </p:spTree>
    <p:extLst>
      <p:ext uri="{BB962C8B-B14F-4D97-AF65-F5344CB8AC3E}">
        <p14:creationId xmlns:p14="http://schemas.microsoft.com/office/powerpoint/2010/main" val="90037740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CF50F-F423-32FF-C312-4A92272F5F1A}"/>
              </a:ext>
            </a:extLst>
          </p:cNvPr>
          <p:cNvSpPr>
            <a:spLocks noGrp="1"/>
          </p:cNvSpPr>
          <p:nvPr>
            <p:ph type="title"/>
          </p:nvPr>
        </p:nvSpPr>
        <p:spPr>
          <a:xfrm>
            <a:off x="720000" y="80963"/>
            <a:ext cx="7704000" cy="481012"/>
          </a:xfrm>
        </p:spPr>
        <p:txBody>
          <a:bodyPr/>
          <a:lstStyle/>
          <a:p>
            <a:r>
              <a:rPr lang="en-US" sz="2400" dirty="0"/>
              <a:t>Importance of GRC in Preparing for an Audit</a:t>
            </a:r>
          </a:p>
        </p:txBody>
      </p:sp>
      <p:sp>
        <p:nvSpPr>
          <p:cNvPr id="3" name="Text Placeholder 2">
            <a:extLst>
              <a:ext uri="{FF2B5EF4-FFF2-40B4-BE49-F238E27FC236}">
                <a16:creationId xmlns:a16="http://schemas.microsoft.com/office/drawing/2014/main" id="{F2F0B8FC-0CFB-DB7A-A6AD-28AE99722A01}"/>
              </a:ext>
            </a:extLst>
          </p:cNvPr>
          <p:cNvSpPr>
            <a:spLocks noGrp="1"/>
          </p:cNvSpPr>
          <p:nvPr>
            <p:ph type="body" idx="1"/>
          </p:nvPr>
        </p:nvSpPr>
        <p:spPr>
          <a:xfrm>
            <a:off x="477672" y="561975"/>
            <a:ext cx="7946328" cy="4538353"/>
          </a:xfrm>
        </p:spPr>
        <p:txBody>
          <a:bodyPr/>
          <a:lstStyle/>
          <a:p>
            <a:r>
              <a:rPr lang="en-US" dirty="0"/>
              <a:t>A strong </a:t>
            </a:r>
            <a:r>
              <a:rPr lang="en-US" b="1" dirty="0"/>
              <a:t>Governance, Risk Management, and Compliance (GRC)</a:t>
            </a:r>
            <a:r>
              <a:rPr lang="en-US" dirty="0"/>
              <a:t> framework is essential for audit readiness because it provides the </a:t>
            </a:r>
            <a:r>
              <a:rPr lang="en-US" b="1" dirty="0"/>
              <a:t>structure, controls, documentation, and accountability</a:t>
            </a:r>
            <a:r>
              <a:rPr lang="en-US" dirty="0"/>
              <a:t> an auditor expects. Effective GRC:</a:t>
            </a:r>
          </a:p>
          <a:p>
            <a:r>
              <a:rPr lang="en-US" b="1" dirty="0"/>
              <a:t>1. Ensures Clear Governance: </a:t>
            </a:r>
            <a:r>
              <a:rPr lang="en-US" dirty="0"/>
              <a:t>Establishes </a:t>
            </a:r>
            <a:r>
              <a:rPr lang="en-US" b="1" dirty="0"/>
              <a:t>policies, roles, and responsibilities</a:t>
            </a:r>
            <a:r>
              <a:rPr lang="en-US" dirty="0"/>
              <a:t>, helping auditors see who owns which processes.</a:t>
            </a:r>
          </a:p>
          <a:p>
            <a:r>
              <a:rPr lang="en-US" b="1" dirty="0"/>
              <a:t>2. Strengthens Risk Management: </a:t>
            </a:r>
            <a:r>
              <a:rPr lang="en-US" dirty="0"/>
              <a:t>Provides documented </a:t>
            </a:r>
            <a:r>
              <a:rPr lang="en-US" b="1" dirty="0"/>
              <a:t>risk assessments, risk registers, and treatment plans</a:t>
            </a:r>
            <a:r>
              <a:rPr lang="en-US" dirty="0"/>
              <a:t>, showing the organization understands and manages its security risks.</a:t>
            </a:r>
          </a:p>
          <a:p>
            <a:r>
              <a:rPr lang="en-US" b="1" dirty="0"/>
              <a:t>3. Improves Compliance: </a:t>
            </a:r>
            <a:r>
              <a:rPr lang="en-US" dirty="0"/>
              <a:t>Ensures the organization </a:t>
            </a:r>
            <a:r>
              <a:rPr lang="en-US" b="1" dirty="0"/>
              <a:t>follows required laws, standards, and internal policies</a:t>
            </a:r>
            <a:r>
              <a:rPr lang="en-US" dirty="0"/>
              <a:t>.</a:t>
            </a:r>
          </a:p>
          <a:p>
            <a:r>
              <a:rPr lang="en-US" b="1" dirty="0"/>
              <a:t>4. Enhances Documentation &amp; Control Evidence: </a:t>
            </a:r>
            <a:r>
              <a:rPr lang="en-US" dirty="0"/>
              <a:t>GRC frameworks ensure </a:t>
            </a:r>
            <a:r>
              <a:rPr lang="en-US" b="1" dirty="0"/>
              <a:t>procedures, logs, records, and reports</a:t>
            </a:r>
            <a:r>
              <a:rPr lang="en-US" dirty="0"/>
              <a:t> are properly maintained and easily accessible for auditors.</a:t>
            </a:r>
          </a:p>
          <a:p>
            <a:r>
              <a:rPr lang="en-US" b="1" dirty="0"/>
              <a:t>5. Supports Continuous Monitoring: </a:t>
            </a:r>
            <a:r>
              <a:rPr lang="en-US" dirty="0"/>
              <a:t>Helps track control performance, incidents, corrective actions, and improvements.</a:t>
            </a:r>
          </a:p>
          <a:p>
            <a:r>
              <a:rPr lang="en-US" b="1" dirty="0"/>
              <a:t>6. Provides Accountability and Transparency: </a:t>
            </a:r>
            <a:r>
              <a:rPr lang="en-US" dirty="0"/>
              <a:t>Clarifies who performs, approves, and reviews security tasks.</a:t>
            </a:r>
          </a:p>
        </p:txBody>
      </p:sp>
    </p:spTree>
    <p:extLst>
      <p:ext uri="{BB962C8B-B14F-4D97-AF65-F5344CB8AC3E}">
        <p14:creationId xmlns:p14="http://schemas.microsoft.com/office/powerpoint/2010/main" val="26295834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A086B-C04F-CF8D-21A8-EDC5CEFE6288}"/>
              </a:ext>
            </a:extLst>
          </p:cNvPr>
          <p:cNvSpPr>
            <a:spLocks noGrp="1"/>
          </p:cNvSpPr>
          <p:nvPr>
            <p:ph type="title"/>
          </p:nvPr>
        </p:nvSpPr>
        <p:spPr>
          <a:xfrm>
            <a:off x="720000" y="0"/>
            <a:ext cx="7704000" cy="756605"/>
          </a:xfrm>
        </p:spPr>
        <p:txBody>
          <a:bodyPr/>
          <a:lstStyle/>
          <a:p>
            <a:r>
              <a:rPr lang="en-US" sz="2600" dirty="0"/>
              <a:t>Case Study: Adoption of GRC &amp; ISO 27001 at GLA University IT environment</a:t>
            </a:r>
            <a:endParaRPr lang="en-IN" sz="2600" dirty="0"/>
          </a:p>
        </p:txBody>
      </p:sp>
      <p:sp>
        <p:nvSpPr>
          <p:cNvPr id="3" name="Text Placeholder 2">
            <a:extLst>
              <a:ext uri="{FF2B5EF4-FFF2-40B4-BE49-F238E27FC236}">
                <a16:creationId xmlns:a16="http://schemas.microsoft.com/office/drawing/2014/main" id="{B5402E9A-79F3-4B03-A873-8BAD2B8A7FEB}"/>
              </a:ext>
            </a:extLst>
          </p:cNvPr>
          <p:cNvSpPr>
            <a:spLocks noGrp="1"/>
          </p:cNvSpPr>
          <p:nvPr>
            <p:ph type="body" idx="1"/>
          </p:nvPr>
        </p:nvSpPr>
        <p:spPr/>
        <p:txBody>
          <a:bodyPr/>
          <a:lstStyle/>
          <a:p>
            <a:pPr algn="l"/>
            <a:r>
              <a:rPr lang="en-US" dirty="0"/>
              <a:t>GLA University manages large volumes of sensitive information, including student records, staff data, financial transactions, research documents, and digital learning systems.</a:t>
            </a:r>
            <a:br>
              <a:rPr lang="en-US" dirty="0"/>
            </a:br>
            <a:r>
              <a:rPr lang="en-US" dirty="0"/>
              <a:t>With increasing cyber threats and the shift toward online platforms (ERP, LMS, online admissions), the university identified the need for a </a:t>
            </a:r>
            <a:r>
              <a:rPr lang="en-US" b="1" dirty="0"/>
              <a:t>standardized security framework</a:t>
            </a:r>
            <a:r>
              <a:rPr lang="en-US" dirty="0"/>
              <a:t>.</a:t>
            </a:r>
          </a:p>
          <a:p>
            <a:r>
              <a:rPr lang="en-US" b="1" dirty="0"/>
              <a:t>Problem</a:t>
            </a:r>
          </a:p>
          <a:p>
            <a:r>
              <a:rPr lang="en-US" dirty="0"/>
              <a:t>Before adopting GRC and ISO 27001, GLA University faced several challenges:</a:t>
            </a:r>
          </a:p>
          <a:p>
            <a:pPr lvl="1"/>
            <a:r>
              <a:rPr lang="en-US" dirty="0"/>
              <a:t>No </a:t>
            </a:r>
            <a:r>
              <a:rPr lang="en-US" b="1" dirty="0"/>
              <a:t>centralized governance</a:t>
            </a:r>
            <a:r>
              <a:rPr lang="en-US" dirty="0"/>
              <a:t> for IT and security decisions</a:t>
            </a:r>
          </a:p>
          <a:p>
            <a:pPr lvl="1"/>
            <a:r>
              <a:rPr lang="en-US" dirty="0"/>
              <a:t>Inconsistent </a:t>
            </a:r>
            <a:r>
              <a:rPr lang="en-US" b="1" dirty="0"/>
              <a:t>policies and procedures</a:t>
            </a:r>
            <a:r>
              <a:rPr lang="en-US" dirty="0"/>
              <a:t> across departments</a:t>
            </a:r>
          </a:p>
          <a:p>
            <a:pPr lvl="1"/>
            <a:r>
              <a:rPr lang="en-US" dirty="0"/>
              <a:t>Risks like unauthorized access, data leakage, and phishing attempts</a:t>
            </a:r>
          </a:p>
          <a:p>
            <a:pPr lvl="1"/>
            <a:r>
              <a:rPr lang="en-US" dirty="0"/>
              <a:t>Compliance gaps in data protection and documentation</a:t>
            </a:r>
          </a:p>
          <a:p>
            <a:pPr lvl="1"/>
            <a:r>
              <a:rPr lang="en-US" dirty="0"/>
              <a:t>Difficulty demonstrating security readiness during external audits and accreditation visits</a:t>
            </a:r>
          </a:p>
          <a:p>
            <a:r>
              <a:rPr lang="en-US" dirty="0"/>
              <a:t>These gaps highlighted the need for a </a:t>
            </a:r>
            <a:r>
              <a:rPr lang="en-US" b="1" dirty="0"/>
              <a:t>formal ISMS (Information Security Management System)</a:t>
            </a:r>
            <a:r>
              <a:rPr lang="en-US" dirty="0"/>
              <a:t> based on </a:t>
            </a:r>
            <a:r>
              <a:rPr lang="en-US" b="1" dirty="0"/>
              <a:t>ISO 27001</a:t>
            </a:r>
            <a:r>
              <a:rPr lang="en-US" dirty="0"/>
              <a:t>.</a:t>
            </a:r>
          </a:p>
          <a:p>
            <a:pPr algn="l"/>
            <a:endParaRPr lang="en-IN" dirty="0"/>
          </a:p>
        </p:txBody>
      </p:sp>
    </p:spTree>
    <p:extLst>
      <p:ext uri="{BB962C8B-B14F-4D97-AF65-F5344CB8AC3E}">
        <p14:creationId xmlns:p14="http://schemas.microsoft.com/office/powerpoint/2010/main" val="119999709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C26CD-396F-528F-9D8A-53E5E363B42A}"/>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36252159-6D03-7EF4-8AB8-5F4319F42E01}"/>
              </a:ext>
            </a:extLst>
          </p:cNvPr>
          <p:cNvSpPr>
            <a:spLocks noGrp="1"/>
          </p:cNvSpPr>
          <p:nvPr>
            <p:ph type="body" idx="1"/>
          </p:nvPr>
        </p:nvSpPr>
        <p:spPr/>
        <p:txBody>
          <a:bodyPr/>
          <a:lstStyle/>
          <a:p>
            <a:r>
              <a:rPr lang="en-IN" sz="2400" b="1" dirty="0"/>
              <a:t>Framework Adoption Approach</a:t>
            </a:r>
            <a:endParaRPr lang="en-US" b="1" dirty="0"/>
          </a:p>
          <a:p>
            <a:r>
              <a:rPr lang="en-US" b="1" dirty="0"/>
              <a:t>1. Implementing Governance (G)</a:t>
            </a:r>
          </a:p>
          <a:p>
            <a:r>
              <a:rPr lang="en-US" dirty="0"/>
              <a:t>The University created an </a:t>
            </a:r>
            <a:r>
              <a:rPr lang="en-US" b="1" dirty="0"/>
              <a:t>Information Security Steering Committee</a:t>
            </a:r>
            <a:r>
              <a:rPr lang="en-US" dirty="0"/>
              <a:t> involving IT, Academics, Finance, and Administration.</a:t>
            </a:r>
          </a:p>
          <a:p>
            <a:r>
              <a:rPr lang="en-US" dirty="0"/>
              <a:t>Developed core security policies:</a:t>
            </a:r>
          </a:p>
          <a:p>
            <a:pPr lvl="1"/>
            <a:r>
              <a:rPr lang="en-US" dirty="0"/>
              <a:t>Information Security Policy</a:t>
            </a:r>
          </a:p>
          <a:p>
            <a:pPr lvl="1"/>
            <a:r>
              <a:rPr lang="en-US" dirty="0"/>
              <a:t>Data Protection Policy</a:t>
            </a:r>
          </a:p>
          <a:p>
            <a:pPr lvl="1"/>
            <a:r>
              <a:rPr lang="en-US" dirty="0"/>
              <a:t>Access Control Policy</a:t>
            </a:r>
          </a:p>
          <a:p>
            <a:pPr lvl="1"/>
            <a:r>
              <a:rPr lang="en-US" dirty="0"/>
              <a:t>Email &amp; Internet Use Policy</a:t>
            </a:r>
          </a:p>
          <a:p>
            <a:r>
              <a:rPr lang="en-US" dirty="0"/>
              <a:t>Defined roles such as </a:t>
            </a:r>
            <a:r>
              <a:rPr lang="en-US" b="1" dirty="0"/>
              <a:t>CISO</a:t>
            </a:r>
            <a:r>
              <a:rPr lang="en-US" dirty="0"/>
              <a:t>, </a:t>
            </a:r>
            <a:r>
              <a:rPr lang="en-US" b="1" dirty="0"/>
              <a:t>IT Security Officer</a:t>
            </a:r>
            <a:r>
              <a:rPr lang="en-US" dirty="0"/>
              <a:t>, and </a:t>
            </a:r>
            <a:r>
              <a:rPr lang="en-US" b="1" dirty="0"/>
              <a:t>Data Owners</a:t>
            </a:r>
            <a:r>
              <a:rPr lang="en-US" dirty="0"/>
              <a:t>.</a:t>
            </a:r>
          </a:p>
          <a:p>
            <a:r>
              <a:rPr lang="en-US" b="1" dirty="0"/>
              <a:t>Impact:</a:t>
            </a:r>
            <a:r>
              <a:rPr lang="en-US" dirty="0"/>
              <a:t> Clear accountability and structured decision-making for security-related activities.</a:t>
            </a:r>
          </a:p>
          <a:p>
            <a:endParaRPr lang="en-IN" dirty="0"/>
          </a:p>
        </p:txBody>
      </p:sp>
    </p:spTree>
    <p:extLst>
      <p:ext uri="{BB962C8B-B14F-4D97-AF65-F5344CB8AC3E}">
        <p14:creationId xmlns:p14="http://schemas.microsoft.com/office/powerpoint/2010/main" val="295810732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677A1-4295-CA6E-AEFC-91CA2DA29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A5E3D-8C50-ED70-DB59-132BE84525AC}"/>
              </a:ext>
            </a:extLst>
          </p:cNvPr>
          <p:cNvSpPr>
            <a:spLocks noGrp="1"/>
          </p:cNvSpPr>
          <p:nvPr>
            <p:ph type="title"/>
          </p:nvPr>
        </p:nvSpPr>
        <p:spPr/>
        <p:txBody>
          <a:bodyPr/>
          <a:lstStyle/>
          <a:p>
            <a:r>
              <a:rPr lang="en-IN" dirty="0" err="1"/>
              <a:t>Cont</a:t>
            </a:r>
            <a:r>
              <a:rPr lang="en-IN" dirty="0"/>
              <a:t>…</a:t>
            </a:r>
          </a:p>
        </p:txBody>
      </p:sp>
      <p:sp>
        <p:nvSpPr>
          <p:cNvPr id="3" name="Text Placeholder 2">
            <a:extLst>
              <a:ext uri="{FF2B5EF4-FFF2-40B4-BE49-F238E27FC236}">
                <a16:creationId xmlns:a16="http://schemas.microsoft.com/office/drawing/2014/main" id="{9C64D8DA-71ED-CC4A-3C2F-865E9AD7A02F}"/>
              </a:ext>
            </a:extLst>
          </p:cNvPr>
          <p:cNvSpPr>
            <a:spLocks noGrp="1"/>
          </p:cNvSpPr>
          <p:nvPr>
            <p:ph type="body" idx="1"/>
          </p:nvPr>
        </p:nvSpPr>
        <p:spPr/>
        <p:txBody>
          <a:bodyPr/>
          <a:lstStyle/>
          <a:p>
            <a:r>
              <a:rPr lang="en-US" b="1" dirty="0"/>
              <a:t>2. Implementing Risk Management (R)</a:t>
            </a:r>
          </a:p>
          <a:p>
            <a:r>
              <a:rPr lang="en-US" dirty="0"/>
              <a:t>Conducted a university-wide </a:t>
            </a:r>
            <a:r>
              <a:rPr lang="en-US" b="1" dirty="0"/>
              <a:t>risk assessment</a:t>
            </a:r>
            <a:r>
              <a:rPr lang="en-US" dirty="0"/>
              <a:t> covering ERP, LMS, Wi-Fi networks, research data, and examination systems.</a:t>
            </a:r>
          </a:p>
          <a:p>
            <a:r>
              <a:rPr lang="en-US" dirty="0"/>
              <a:t>Identified key risks:</a:t>
            </a:r>
          </a:p>
          <a:p>
            <a:pPr lvl="1"/>
            <a:r>
              <a:rPr lang="en-US" dirty="0"/>
              <a:t>Weak passwords by students/staff</a:t>
            </a:r>
          </a:p>
          <a:p>
            <a:pPr lvl="1"/>
            <a:r>
              <a:rPr lang="en-US" dirty="0"/>
              <a:t>Unauthorized access to ERP</a:t>
            </a:r>
          </a:p>
          <a:p>
            <a:pPr lvl="1"/>
            <a:r>
              <a:rPr lang="en-US" dirty="0"/>
              <a:t>Data loss due to system failures</a:t>
            </a:r>
          </a:p>
          <a:p>
            <a:pPr lvl="1"/>
            <a:r>
              <a:rPr lang="en-US" dirty="0"/>
              <a:t>Malware infections in labs</a:t>
            </a:r>
          </a:p>
          <a:p>
            <a:r>
              <a:rPr lang="en-US" dirty="0"/>
              <a:t>Created a </a:t>
            </a:r>
            <a:r>
              <a:rPr lang="en-US" b="1" dirty="0"/>
              <a:t>Risk Register</a:t>
            </a:r>
            <a:r>
              <a:rPr lang="en-US" dirty="0"/>
              <a:t> and applied treatment actions such as MFA, encryption, network segmentation, and awareness training.</a:t>
            </a:r>
          </a:p>
          <a:p>
            <a:r>
              <a:rPr lang="en-US" b="1" dirty="0"/>
              <a:t>Impact:</a:t>
            </a:r>
            <a:r>
              <a:rPr lang="en-US" dirty="0"/>
              <a:t> Prioritized risk areas and implemented appropriate ISO 27001 Annex A controls.</a:t>
            </a:r>
          </a:p>
        </p:txBody>
      </p:sp>
    </p:spTree>
    <p:extLst>
      <p:ext uri="{BB962C8B-B14F-4D97-AF65-F5344CB8AC3E}">
        <p14:creationId xmlns:p14="http://schemas.microsoft.com/office/powerpoint/2010/main" val="242292533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8C4F5-6F6B-07B4-EDF3-1CF3830C6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F741B-653A-2A72-E966-A6A2CCADD55C}"/>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A5178F3E-38BA-025B-8A4B-AE1E55326184}"/>
              </a:ext>
            </a:extLst>
          </p:cNvPr>
          <p:cNvSpPr>
            <a:spLocks noGrp="1"/>
          </p:cNvSpPr>
          <p:nvPr>
            <p:ph type="body" idx="1"/>
          </p:nvPr>
        </p:nvSpPr>
        <p:spPr/>
        <p:txBody>
          <a:bodyPr/>
          <a:lstStyle/>
          <a:p>
            <a:r>
              <a:rPr lang="en-US" b="1" dirty="0"/>
              <a:t>3. Implementing Compliance (C)</a:t>
            </a:r>
          </a:p>
          <a:p>
            <a:r>
              <a:rPr lang="en-US" dirty="0"/>
              <a:t>Mapped controls to ISO 27001 requirements (e.g., access control, asset management, physical security).</a:t>
            </a:r>
          </a:p>
          <a:p>
            <a:r>
              <a:rPr lang="en-US" dirty="0"/>
              <a:t>Maintained documentation such as:</a:t>
            </a:r>
          </a:p>
          <a:p>
            <a:pPr lvl="1"/>
            <a:r>
              <a:rPr lang="en-US" dirty="0"/>
              <a:t>SOPs for data access</a:t>
            </a:r>
          </a:p>
          <a:p>
            <a:pPr lvl="1"/>
            <a:r>
              <a:rPr lang="en-US" dirty="0"/>
              <a:t>Incident management procedures</a:t>
            </a:r>
          </a:p>
          <a:p>
            <a:pPr lvl="1"/>
            <a:r>
              <a:rPr lang="en-US" dirty="0"/>
              <a:t>Backup and recovery logs</a:t>
            </a:r>
          </a:p>
          <a:p>
            <a:pPr lvl="1"/>
            <a:r>
              <a:rPr lang="en-US" dirty="0"/>
              <a:t>Asset lists and user access reviews</a:t>
            </a:r>
          </a:p>
          <a:p>
            <a:r>
              <a:rPr lang="en-US" dirty="0"/>
              <a:t>Conducted internal audits and fixed non-conformities.</a:t>
            </a:r>
          </a:p>
          <a:p>
            <a:r>
              <a:rPr lang="en-US" b="1" dirty="0"/>
              <a:t>Impact:</a:t>
            </a:r>
            <a:r>
              <a:rPr lang="en-US" dirty="0"/>
              <a:t> Improved compliance posture and readiness for accreditation and external audits.</a:t>
            </a:r>
          </a:p>
        </p:txBody>
      </p:sp>
    </p:spTree>
    <p:extLst>
      <p:ext uri="{BB962C8B-B14F-4D97-AF65-F5344CB8AC3E}">
        <p14:creationId xmlns:p14="http://schemas.microsoft.com/office/powerpoint/2010/main" val="16147989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B0402-F3B3-6A5E-B1D3-AB2DD433CFC7}"/>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2136047D-C493-C816-6AE6-51CFA9E406DD}"/>
              </a:ext>
            </a:extLst>
          </p:cNvPr>
          <p:cNvSpPr>
            <a:spLocks noGrp="1"/>
          </p:cNvSpPr>
          <p:nvPr>
            <p:ph type="body" idx="1"/>
          </p:nvPr>
        </p:nvSpPr>
        <p:spPr/>
        <p:txBody>
          <a:bodyPr/>
          <a:lstStyle/>
          <a:p>
            <a:r>
              <a:rPr lang="en-IN" sz="2000" b="1" dirty="0"/>
              <a:t>ISO 27001 ISMS Implementation Steps</a:t>
            </a:r>
          </a:p>
          <a:p>
            <a:r>
              <a:rPr lang="en-IN" sz="2000" dirty="0"/>
              <a:t>GLA University followed a structured approach:</a:t>
            </a:r>
          </a:p>
          <a:p>
            <a:pPr lvl="1"/>
            <a:r>
              <a:rPr lang="en-IN" sz="1800" b="1" dirty="0"/>
              <a:t>Define ISMS scope</a:t>
            </a:r>
            <a:r>
              <a:rPr lang="en-IN" sz="1800" dirty="0"/>
              <a:t> (ERP, LMS, data </a:t>
            </a:r>
            <a:r>
              <a:rPr lang="en-IN" sz="1800" dirty="0" err="1"/>
              <a:t>centers</a:t>
            </a:r>
            <a:r>
              <a:rPr lang="en-IN" sz="1800" dirty="0"/>
              <a:t>, examination systems).</a:t>
            </a:r>
          </a:p>
          <a:p>
            <a:pPr lvl="1"/>
            <a:r>
              <a:rPr lang="en-IN" sz="1800" b="1" dirty="0"/>
              <a:t>Conduct risk assessment</a:t>
            </a:r>
            <a:r>
              <a:rPr lang="en-IN" sz="1800" dirty="0"/>
              <a:t> and select Annex A controls.</a:t>
            </a:r>
          </a:p>
          <a:p>
            <a:pPr lvl="1"/>
            <a:r>
              <a:rPr lang="en-IN" sz="1800" b="1" dirty="0"/>
              <a:t>Implement technical controls</a:t>
            </a:r>
            <a:r>
              <a:rPr lang="en-IN" sz="1800" dirty="0"/>
              <a:t> – MFA, firewalls, backups, antivirus, encryption.</a:t>
            </a:r>
          </a:p>
          <a:p>
            <a:pPr lvl="1"/>
            <a:r>
              <a:rPr lang="en-IN" sz="1800" b="1" dirty="0"/>
              <a:t>Implement administrative controls</a:t>
            </a:r>
            <a:r>
              <a:rPr lang="en-IN" sz="1800" dirty="0"/>
              <a:t> – training, policies, procedures.</a:t>
            </a:r>
          </a:p>
          <a:p>
            <a:pPr lvl="1"/>
            <a:r>
              <a:rPr lang="en-IN" sz="1800" b="1" dirty="0"/>
              <a:t>Internal audit</a:t>
            </a:r>
            <a:r>
              <a:rPr lang="en-IN" sz="1800" dirty="0"/>
              <a:t> and management review meetings.</a:t>
            </a:r>
          </a:p>
          <a:p>
            <a:pPr lvl="1"/>
            <a:r>
              <a:rPr lang="en-IN" sz="1800" b="1" dirty="0"/>
              <a:t>Corrective actions</a:t>
            </a:r>
            <a:r>
              <a:rPr lang="en-IN" sz="1800" dirty="0"/>
              <a:t> for non-conformities.</a:t>
            </a:r>
          </a:p>
          <a:p>
            <a:pPr lvl="1"/>
            <a:r>
              <a:rPr lang="en-IN" sz="1800" b="1" dirty="0"/>
              <a:t>Prepare for external ISO 27001 audit.</a:t>
            </a:r>
            <a:endParaRPr lang="en-IN" sz="1800" dirty="0"/>
          </a:p>
          <a:p>
            <a:endParaRPr lang="en-IN" sz="2000" dirty="0"/>
          </a:p>
        </p:txBody>
      </p:sp>
    </p:spTree>
    <p:extLst>
      <p:ext uri="{BB962C8B-B14F-4D97-AF65-F5344CB8AC3E}">
        <p14:creationId xmlns:p14="http://schemas.microsoft.com/office/powerpoint/2010/main" val="10248672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BB48F-3B29-A4B6-3E44-4DDB4604C13C}"/>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B855F171-10F0-1228-38A2-4E2DCBBC49D5}"/>
              </a:ext>
            </a:extLst>
          </p:cNvPr>
          <p:cNvSpPr>
            <a:spLocks noGrp="1"/>
          </p:cNvSpPr>
          <p:nvPr>
            <p:ph type="body" idx="1"/>
          </p:nvPr>
        </p:nvSpPr>
        <p:spPr/>
        <p:txBody>
          <a:bodyPr/>
          <a:lstStyle/>
          <a:p>
            <a:r>
              <a:rPr lang="en-IN" sz="2800" b="1" dirty="0"/>
              <a:t>Outcomes</a:t>
            </a:r>
            <a:endParaRPr lang="en-US" b="1" dirty="0"/>
          </a:p>
          <a:p>
            <a:r>
              <a:rPr lang="en-US" b="1" dirty="0"/>
              <a:t>Security Improvements</a:t>
            </a:r>
          </a:p>
          <a:p>
            <a:pPr marL="425450" indent="-285750">
              <a:buFont typeface="Arial" panose="020B0604020202020204" pitchFamily="34" charset="0"/>
              <a:buChar char="•"/>
            </a:pPr>
            <a:r>
              <a:rPr lang="en-US" dirty="0"/>
              <a:t>Stronger access control across ERP and LMS</a:t>
            </a:r>
          </a:p>
          <a:p>
            <a:pPr marL="425450" indent="-285750">
              <a:buFont typeface="Arial" panose="020B0604020202020204" pitchFamily="34" charset="0"/>
              <a:buChar char="•"/>
            </a:pPr>
            <a:r>
              <a:rPr lang="en-US" dirty="0"/>
              <a:t>Fewer incidents of phishing and malware due to training</a:t>
            </a:r>
          </a:p>
          <a:p>
            <a:pPr marL="425450" indent="-285750">
              <a:buFont typeface="Arial" panose="020B0604020202020204" pitchFamily="34" charset="0"/>
              <a:buChar char="•"/>
            </a:pPr>
            <a:r>
              <a:rPr lang="en-US" dirty="0"/>
              <a:t>Better documentation and control evidence for audits</a:t>
            </a:r>
          </a:p>
          <a:p>
            <a:r>
              <a:rPr lang="en-US" b="1" dirty="0"/>
              <a:t>Operational Improvements</a:t>
            </a:r>
          </a:p>
          <a:p>
            <a:pPr marL="425450" indent="-285750">
              <a:buFont typeface="Arial" panose="020B0604020202020204" pitchFamily="34" charset="0"/>
              <a:buChar char="•"/>
            </a:pPr>
            <a:r>
              <a:rPr lang="en-US" dirty="0"/>
              <a:t>Clear governance and responsibilities</a:t>
            </a:r>
          </a:p>
          <a:p>
            <a:pPr marL="425450" indent="-285750">
              <a:buFont typeface="Arial" panose="020B0604020202020204" pitchFamily="34" charset="0"/>
              <a:buChar char="•"/>
            </a:pPr>
            <a:r>
              <a:rPr lang="en-US" dirty="0"/>
              <a:t>Streamlined processes across departments</a:t>
            </a:r>
          </a:p>
          <a:p>
            <a:pPr marL="425450" indent="-285750">
              <a:buFont typeface="Arial" panose="020B0604020202020204" pitchFamily="34" charset="0"/>
              <a:buChar char="•"/>
            </a:pPr>
            <a:r>
              <a:rPr lang="en-US" dirty="0"/>
              <a:t>Faster response to incidents and vulnerabilities</a:t>
            </a:r>
          </a:p>
          <a:p>
            <a:r>
              <a:rPr lang="en-US" b="1" dirty="0"/>
              <a:t>Compliance Benefits</a:t>
            </a:r>
          </a:p>
          <a:p>
            <a:pPr marL="425450" indent="-285750">
              <a:buFont typeface="Arial" panose="020B0604020202020204" pitchFamily="34" charset="0"/>
              <a:buChar char="•"/>
            </a:pPr>
            <a:r>
              <a:rPr lang="en-US" dirty="0"/>
              <a:t>Alignment with ISO 27001:2022</a:t>
            </a:r>
          </a:p>
          <a:p>
            <a:pPr marL="425450" indent="-285750">
              <a:buFont typeface="Arial" panose="020B0604020202020204" pitchFamily="34" charset="0"/>
              <a:buChar char="•"/>
            </a:pPr>
            <a:r>
              <a:rPr lang="en-US" dirty="0"/>
              <a:t>Increased trust among students, staff, and regulatory bodies</a:t>
            </a:r>
          </a:p>
          <a:p>
            <a:pPr marL="425450" indent="-285750">
              <a:buFont typeface="Arial" panose="020B0604020202020204" pitchFamily="34" charset="0"/>
              <a:buChar char="•"/>
            </a:pPr>
            <a:r>
              <a:rPr lang="en-US" dirty="0"/>
              <a:t>Preparedness for NAAC, NBA, and external accreditation audits</a:t>
            </a:r>
          </a:p>
          <a:p>
            <a:endParaRPr lang="en-IN" dirty="0"/>
          </a:p>
        </p:txBody>
      </p:sp>
    </p:spTree>
    <p:extLst>
      <p:ext uri="{BB962C8B-B14F-4D97-AF65-F5344CB8AC3E}">
        <p14:creationId xmlns:p14="http://schemas.microsoft.com/office/powerpoint/2010/main" val="148489214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16C3-33C3-F650-A6DB-EE31F1DD0A67}"/>
              </a:ext>
            </a:extLst>
          </p:cNvPr>
          <p:cNvSpPr>
            <a:spLocks noGrp="1"/>
          </p:cNvSpPr>
          <p:nvPr>
            <p:ph type="title"/>
          </p:nvPr>
        </p:nvSpPr>
        <p:spPr/>
        <p:txBody>
          <a:bodyPr/>
          <a:lstStyle/>
          <a:p>
            <a:r>
              <a:rPr lang="en-IN" dirty="0"/>
              <a:t>Risk Identification Techniques</a:t>
            </a:r>
          </a:p>
        </p:txBody>
      </p:sp>
      <p:sp>
        <p:nvSpPr>
          <p:cNvPr id="3" name="Text Placeholder 2">
            <a:extLst>
              <a:ext uri="{FF2B5EF4-FFF2-40B4-BE49-F238E27FC236}">
                <a16:creationId xmlns:a16="http://schemas.microsoft.com/office/drawing/2014/main" id="{06F3CC49-C856-49D5-A20B-73DDD07420A4}"/>
              </a:ext>
            </a:extLst>
          </p:cNvPr>
          <p:cNvSpPr>
            <a:spLocks noGrp="1"/>
          </p:cNvSpPr>
          <p:nvPr>
            <p:ph type="body" idx="1"/>
          </p:nvPr>
        </p:nvSpPr>
        <p:spPr>
          <a:xfrm>
            <a:off x="486770" y="841572"/>
            <a:ext cx="7937230" cy="4258756"/>
          </a:xfrm>
        </p:spPr>
        <p:txBody>
          <a:bodyPr/>
          <a:lstStyle/>
          <a:p>
            <a:r>
              <a:rPr lang="en-US" b="1" dirty="0"/>
              <a:t>a) Brainstorming</a:t>
            </a:r>
          </a:p>
          <a:p>
            <a:pPr lvl="1"/>
            <a:r>
              <a:rPr lang="en-US" dirty="0"/>
              <a:t>Team members discuss possible risks based on experience and knowledge.</a:t>
            </a:r>
          </a:p>
          <a:p>
            <a:pPr lvl="1"/>
            <a:r>
              <a:rPr lang="en-US" dirty="0"/>
              <a:t>Useful for generating a broad list of risks quickly.</a:t>
            </a:r>
          </a:p>
          <a:p>
            <a:r>
              <a:rPr lang="en-US" b="1" dirty="0"/>
              <a:t>b) Interviews &amp; Questionnaires</a:t>
            </a:r>
          </a:p>
          <a:p>
            <a:pPr lvl="1"/>
            <a:r>
              <a:rPr lang="en-US" dirty="0"/>
              <a:t>One-on-one discussions with process owners, IT teams, or managers.</a:t>
            </a:r>
          </a:p>
          <a:p>
            <a:pPr lvl="1"/>
            <a:r>
              <a:rPr lang="en-US" dirty="0"/>
              <a:t>Helps uncover hidden or process-specific risks.</a:t>
            </a:r>
          </a:p>
          <a:p>
            <a:r>
              <a:rPr lang="en-US" b="1" dirty="0"/>
              <a:t>c) Checklists</a:t>
            </a:r>
          </a:p>
          <a:p>
            <a:pPr lvl="1"/>
            <a:r>
              <a:rPr lang="en-US" dirty="0"/>
              <a:t>Use </a:t>
            </a:r>
            <a:r>
              <a:rPr lang="en-US" b="1" dirty="0"/>
              <a:t>predefined lists</a:t>
            </a:r>
            <a:r>
              <a:rPr lang="en-US" dirty="0"/>
              <a:t> of common risks or control requirements (e.g., ISO 27001 Annex A, NIST controls).</a:t>
            </a:r>
          </a:p>
          <a:p>
            <a:pPr lvl="1"/>
            <a:r>
              <a:rPr lang="en-US" dirty="0"/>
              <a:t>Ensures no major areas are missed.</a:t>
            </a:r>
          </a:p>
          <a:p>
            <a:r>
              <a:rPr lang="en-US" b="1" dirty="0"/>
              <a:t>d) Asset Inventory &amp; Threat Analysis</a:t>
            </a:r>
          </a:p>
          <a:p>
            <a:pPr lvl="1"/>
            <a:r>
              <a:rPr lang="en-US" dirty="0"/>
              <a:t>Identify </a:t>
            </a:r>
            <a:r>
              <a:rPr lang="en-US" b="1" dirty="0"/>
              <a:t>critical assets </a:t>
            </a:r>
            <a:r>
              <a:rPr lang="en-US" dirty="0"/>
              <a:t>(data, systems, people) and examine what threats apply to each.</a:t>
            </a:r>
          </a:p>
          <a:p>
            <a:pPr lvl="1"/>
            <a:r>
              <a:rPr lang="en-US" dirty="0"/>
              <a:t>Used heavily in ISO 27001.</a:t>
            </a:r>
          </a:p>
          <a:p>
            <a:r>
              <a:rPr lang="en-US" b="1" dirty="0"/>
              <a:t>e) Past Incident Reviews</a:t>
            </a:r>
          </a:p>
          <a:p>
            <a:r>
              <a:rPr lang="en-US" sz="1400" dirty="0">
                <a:latin typeface="Albert Sans"/>
              </a:rPr>
              <a:t>	Analyze</a:t>
            </a:r>
            <a:r>
              <a:rPr lang="en-US" dirty="0"/>
              <a:t> previous breaches, outages, and audit findings to identify recurring risks.</a:t>
            </a:r>
          </a:p>
          <a:p>
            <a:endParaRPr lang="en-IN" dirty="0"/>
          </a:p>
        </p:txBody>
      </p:sp>
    </p:spTree>
    <p:extLst>
      <p:ext uri="{BB962C8B-B14F-4D97-AF65-F5344CB8AC3E}">
        <p14:creationId xmlns:p14="http://schemas.microsoft.com/office/powerpoint/2010/main" val="427040933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3785-F04D-35F5-153A-9F882123DC62}"/>
              </a:ext>
            </a:extLst>
          </p:cNvPr>
          <p:cNvSpPr>
            <a:spLocks noGrp="1"/>
          </p:cNvSpPr>
          <p:nvPr>
            <p:ph type="title"/>
          </p:nvPr>
        </p:nvSpPr>
        <p:spPr/>
        <p:txBody>
          <a:bodyPr/>
          <a:lstStyle/>
          <a:p>
            <a:r>
              <a:rPr lang="en-IN" dirty="0"/>
              <a:t>Risk Assessment Techniques</a:t>
            </a:r>
          </a:p>
        </p:txBody>
      </p:sp>
      <p:sp>
        <p:nvSpPr>
          <p:cNvPr id="3" name="Text Placeholder 2">
            <a:extLst>
              <a:ext uri="{FF2B5EF4-FFF2-40B4-BE49-F238E27FC236}">
                <a16:creationId xmlns:a16="http://schemas.microsoft.com/office/drawing/2014/main" id="{BF353054-8AEB-2CFD-4EA5-9BEA610D0DAE}"/>
              </a:ext>
            </a:extLst>
          </p:cNvPr>
          <p:cNvSpPr>
            <a:spLocks noGrp="1"/>
          </p:cNvSpPr>
          <p:nvPr>
            <p:ph type="body" idx="1"/>
          </p:nvPr>
        </p:nvSpPr>
        <p:spPr/>
        <p:txBody>
          <a:bodyPr/>
          <a:lstStyle/>
          <a:p>
            <a:r>
              <a:rPr lang="en-US" dirty="0"/>
              <a:t>These methods help evaluate the </a:t>
            </a:r>
            <a:r>
              <a:rPr lang="en-US" b="1" dirty="0"/>
              <a:t>likelihood</a:t>
            </a:r>
            <a:r>
              <a:rPr lang="en-US" dirty="0"/>
              <a:t> and </a:t>
            </a:r>
            <a:r>
              <a:rPr lang="en-US" b="1" dirty="0"/>
              <a:t>impact</a:t>
            </a:r>
            <a:r>
              <a:rPr lang="en-US" dirty="0"/>
              <a:t> of identified risks to determine their severity and priority.</a:t>
            </a:r>
            <a:endParaRPr lang="en-IN" b="1" dirty="0"/>
          </a:p>
          <a:p>
            <a:r>
              <a:rPr lang="en-IN" b="1" dirty="0"/>
              <a:t>a) Qualitative Risk Assessment</a:t>
            </a:r>
          </a:p>
          <a:p>
            <a:pPr lvl="1"/>
            <a:r>
              <a:rPr lang="en-IN" dirty="0"/>
              <a:t>Uses descriptive values like </a:t>
            </a:r>
            <a:r>
              <a:rPr lang="en-IN" i="1" dirty="0"/>
              <a:t>Low / Medium / High</a:t>
            </a:r>
            <a:r>
              <a:rPr lang="en-IN" dirty="0"/>
              <a:t>.</a:t>
            </a:r>
          </a:p>
          <a:p>
            <a:pPr lvl="1"/>
            <a:r>
              <a:rPr lang="en-IN" dirty="0"/>
              <a:t>Easy to understand and commonly used in ISO 27001.</a:t>
            </a:r>
          </a:p>
          <a:p>
            <a:r>
              <a:rPr lang="en-IN" b="1" dirty="0"/>
              <a:t>b) Quantitative Risk Assessment</a:t>
            </a:r>
          </a:p>
          <a:p>
            <a:pPr lvl="1"/>
            <a:r>
              <a:rPr lang="en-IN" dirty="0"/>
              <a:t>Assigns </a:t>
            </a:r>
            <a:r>
              <a:rPr lang="en-IN" b="1" dirty="0"/>
              <a:t>numeric values</a:t>
            </a:r>
            <a:r>
              <a:rPr lang="en-IN" dirty="0"/>
              <a:t> (e.g., financial loss, probability percentages).</a:t>
            </a:r>
          </a:p>
          <a:p>
            <a:pPr lvl="1"/>
            <a:r>
              <a:rPr lang="en-IN" dirty="0"/>
              <a:t>Useful for calculating risk in measurable terms.</a:t>
            </a:r>
          </a:p>
          <a:p>
            <a:r>
              <a:rPr lang="en-IN" b="1" dirty="0"/>
              <a:t>c) Semi-Quantitative Assessment</a:t>
            </a:r>
          </a:p>
          <a:p>
            <a:pPr lvl="1"/>
            <a:r>
              <a:rPr lang="en-IN" dirty="0"/>
              <a:t>Combines qualitative categories with scoring (e.g., 1–5 scale).</a:t>
            </a:r>
          </a:p>
          <a:p>
            <a:pPr lvl="1"/>
            <a:r>
              <a:rPr lang="en-IN" dirty="0"/>
              <a:t>Balances simplicity and precision.</a:t>
            </a:r>
          </a:p>
          <a:p>
            <a:r>
              <a:rPr lang="en-IN" b="1" dirty="0"/>
              <a:t>d) Risk Matrix (Probability–Impact Matrix)</a:t>
            </a:r>
          </a:p>
          <a:p>
            <a:pPr lvl="1"/>
            <a:r>
              <a:rPr lang="en-IN" dirty="0"/>
              <a:t>Plots risks on a grid to visualize severity.</a:t>
            </a:r>
          </a:p>
          <a:p>
            <a:pPr lvl="1"/>
            <a:r>
              <a:rPr lang="en-IN" dirty="0"/>
              <a:t>Helps prioritize which risks need immediate action.</a:t>
            </a:r>
          </a:p>
          <a:p>
            <a:pPr lvl="1"/>
            <a:r>
              <a:rPr lang="en-US" dirty="0"/>
              <a:t>High Probability + High Impact → Critical Risk (immediate action needed)</a:t>
            </a:r>
          </a:p>
          <a:p>
            <a:pPr lvl="1"/>
            <a:r>
              <a:rPr lang="en-US" dirty="0"/>
              <a:t>Low Probability + Medium Impact → Moderate Risk (monitor)</a:t>
            </a:r>
          </a:p>
          <a:p>
            <a:pPr lvl="1"/>
            <a:r>
              <a:rPr lang="en-US" dirty="0"/>
              <a:t>Low Probability + Low Impact → Low Risk (acceptable)</a:t>
            </a:r>
            <a:endParaRPr lang="en-IN" dirty="0"/>
          </a:p>
          <a:p>
            <a:endParaRPr lang="en-IN" dirty="0"/>
          </a:p>
        </p:txBody>
      </p:sp>
    </p:spTree>
    <p:extLst>
      <p:ext uri="{BB962C8B-B14F-4D97-AF65-F5344CB8AC3E}">
        <p14:creationId xmlns:p14="http://schemas.microsoft.com/office/powerpoint/2010/main" val="262397657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A48BC-48F7-DFD6-FB32-C7B7ADF2D40B}"/>
              </a:ext>
            </a:extLst>
          </p:cNvPr>
          <p:cNvSpPr>
            <a:spLocks noGrp="1"/>
          </p:cNvSpPr>
          <p:nvPr>
            <p:ph type="title"/>
          </p:nvPr>
        </p:nvSpPr>
        <p:spPr/>
        <p:txBody>
          <a:bodyPr/>
          <a:lstStyle/>
          <a:p>
            <a:r>
              <a:rPr lang="en-IN" dirty="0"/>
              <a:t>Qualitative vs. Quantitative Risk Analysis</a:t>
            </a:r>
          </a:p>
        </p:txBody>
      </p:sp>
      <p:graphicFrame>
        <p:nvGraphicFramePr>
          <p:cNvPr id="4" name="Table 3">
            <a:extLst>
              <a:ext uri="{FF2B5EF4-FFF2-40B4-BE49-F238E27FC236}">
                <a16:creationId xmlns:a16="http://schemas.microsoft.com/office/drawing/2014/main" id="{5D7A7852-84F1-7F5F-F053-2322F49E3CE3}"/>
              </a:ext>
            </a:extLst>
          </p:cNvPr>
          <p:cNvGraphicFramePr>
            <a:graphicFrameLocks noGrp="1"/>
          </p:cNvGraphicFramePr>
          <p:nvPr/>
        </p:nvGraphicFramePr>
        <p:xfrm>
          <a:off x="900750" y="809768"/>
          <a:ext cx="7028598" cy="3249471"/>
        </p:xfrm>
        <a:graphic>
          <a:graphicData uri="http://schemas.openxmlformats.org/drawingml/2006/table">
            <a:tbl>
              <a:tblPr>
                <a:tableStyleId>{EEEFB3D3-C7DD-41E9-AA9F-930C74197033}</a:tableStyleId>
              </a:tblPr>
              <a:tblGrid>
                <a:gridCol w="1598284">
                  <a:extLst>
                    <a:ext uri="{9D8B030D-6E8A-4147-A177-3AD203B41FA5}">
                      <a16:colId xmlns:a16="http://schemas.microsoft.com/office/drawing/2014/main" val="1628841304"/>
                    </a:ext>
                  </a:extLst>
                </a:gridCol>
                <a:gridCol w="3100285">
                  <a:extLst>
                    <a:ext uri="{9D8B030D-6E8A-4147-A177-3AD203B41FA5}">
                      <a16:colId xmlns:a16="http://schemas.microsoft.com/office/drawing/2014/main" val="3963866131"/>
                    </a:ext>
                  </a:extLst>
                </a:gridCol>
                <a:gridCol w="2330029">
                  <a:extLst>
                    <a:ext uri="{9D8B030D-6E8A-4147-A177-3AD203B41FA5}">
                      <a16:colId xmlns:a16="http://schemas.microsoft.com/office/drawing/2014/main" val="3960250463"/>
                    </a:ext>
                  </a:extLst>
                </a:gridCol>
              </a:tblGrid>
              <a:tr h="279240">
                <a:tc>
                  <a:txBody>
                    <a:bodyPr/>
                    <a:lstStyle/>
                    <a:p>
                      <a:pPr algn="ctr" fontAlgn="ctr">
                        <a:buNone/>
                      </a:pPr>
                      <a:r>
                        <a:rPr lang="en-IN" sz="1600" b="1" u="none" strike="noStrike" dirty="0">
                          <a:effectLst/>
                        </a:rPr>
                        <a:t>Aspect</a:t>
                      </a:r>
                      <a:endParaRPr lang="en-IN" sz="1600" b="1" i="0" u="none" strike="noStrike" dirty="0">
                        <a:solidFill>
                          <a:srgbClr val="000000"/>
                        </a:solidFill>
                        <a:effectLst/>
                        <a:latin typeface="Calibri" panose="020F0502020204030204" pitchFamily="34" charset="0"/>
                      </a:endParaRPr>
                    </a:p>
                  </a:txBody>
                  <a:tcPr marL="4763" marR="4763" marT="4763" marB="0" anchor="ctr">
                    <a:solidFill>
                      <a:schemeClr val="accent3">
                        <a:lumMod val="60000"/>
                        <a:lumOff val="40000"/>
                      </a:schemeClr>
                    </a:solidFill>
                  </a:tcPr>
                </a:tc>
                <a:tc>
                  <a:txBody>
                    <a:bodyPr/>
                    <a:lstStyle/>
                    <a:p>
                      <a:pPr algn="ctr" fontAlgn="ctr">
                        <a:buNone/>
                      </a:pPr>
                      <a:r>
                        <a:rPr lang="en-IN" sz="1600" b="1" u="none" strike="noStrike">
                          <a:effectLst/>
                        </a:rPr>
                        <a:t>Qualitative Analysis</a:t>
                      </a:r>
                      <a:endParaRPr lang="en-IN" sz="1600" b="1" i="0" u="none" strike="noStrike">
                        <a:solidFill>
                          <a:srgbClr val="000000"/>
                        </a:solidFill>
                        <a:effectLst/>
                        <a:latin typeface="Calibri" panose="020F0502020204030204" pitchFamily="34" charset="0"/>
                      </a:endParaRPr>
                    </a:p>
                  </a:txBody>
                  <a:tcPr marL="4763" marR="4763" marT="4763" marB="0" anchor="ctr">
                    <a:solidFill>
                      <a:schemeClr val="accent3">
                        <a:lumMod val="60000"/>
                        <a:lumOff val="40000"/>
                      </a:schemeClr>
                    </a:solidFill>
                  </a:tcPr>
                </a:tc>
                <a:tc>
                  <a:txBody>
                    <a:bodyPr/>
                    <a:lstStyle/>
                    <a:p>
                      <a:pPr algn="ctr" fontAlgn="ctr">
                        <a:buNone/>
                      </a:pPr>
                      <a:r>
                        <a:rPr lang="en-IN" sz="1600" b="1" u="none" strike="noStrike" dirty="0">
                          <a:effectLst/>
                        </a:rPr>
                        <a:t>Quantitative Analysis</a:t>
                      </a:r>
                      <a:endParaRPr lang="en-IN" sz="1600" b="1" i="0" u="none" strike="noStrike" dirty="0">
                        <a:solidFill>
                          <a:srgbClr val="000000"/>
                        </a:solidFill>
                        <a:effectLst/>
                        <a:latin typeface="Calibri" panose="020F0502020204030204" pitchFamily="34" charset="0"/>
                      </a:endParaRPr>
                    </a:p>
                  </a:txBody>
                  <a:tcPr marL="4763" marR="4763" marT="4763" marB="0" anchor="ctr">
                    <a:solidFill>
                      <a:schemeClr val="accent3">
                        <a:lumMod val="60000"/>
                        <a:lumOff val="40000"/>
                      </a:schemeClr>
                    </a:solidFill>
                  </a:tcPr>
                </a:tc>
                <a:extLst>
                  <a:ext uri="{0D108BD9-81ED-4DB2-BD59-A6C34878D82A}">
                    <a16:rowId xmlns:a16="http://schemas.microsoft.com/office/drawing/2014/main" val="975682257"/>
                  </a:ext>
                </a:extLst>
              </a:tr>
              <a:tr h="524677">
                <a:tc>
                  <a:txBody>
                    <a:bodyPr/>
                    <a:lstStyle/>
                    <a:p>
                      <a:pPr algn="l" fontAlgn="ctr">
                        <a:buNone/>
                      </a:pPr>
                      <a:r>
                        <a:rPr lang="en-IN" sz="1600" b="1" u="none" strike="noStrike" dirty="0">
                          <a:effectLst/>
                        </a:rPr>
                        <a:t>Basis</a:t>
                      </a:r>
                      <a:endParaRPr lang="en-IN" sz="16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Judgment, experience</a:t>
                      </a:r>
                      <a:endParaRPr lang="en-IN" sz="16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Numerical data, statistics</a:t>
                      </a:r>
                      <a:endParaRPr lang="en-IN" sz="16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068603908"/>
                  </a:ext>
                </a:extLst>
              </a:tr>
              <a:tr h="279240">
                <a:tc>
                  <a:txBody>
                    <a:bodyPr/>
                    <a:lstStyle/>
                    <a:p>
                      <a:pPr algn="l" fontAlgn="ctr">
                        <a:buNone/>
                      </a:pPr>
                      <a:r>
                        <a:rPr lang="en-IN" sz="1600" b="1" u="none" strike="noStrike">
                          <a:effectLst/>
                        </a:rPr>
                        <a:t>Output</a:t>
                      </a:r>
                      <a:endParaRPr lang="en-IN" sz="16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High/Med/Low</a:t>
                      </a:r>
                      <a:endParaRPr lang="en-IN" sz="16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dirty="0">
                          <a:effectLst/>
                        </a:rPr>
                        <a:t>₹ value, probability</a:t>
                      </a:r>
                      <a:endParaRPr lang="en-IN" sz="16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701014376"/>
                  </a:ext>
                </a:extLst>
              </a:tr>
              <a:tr h="279240">
                <a:tc>
                  <a:txBody>
                    <a:bodyPr/>
                    <a:lstStyle/>
                    <a:p>
                      <a:pPr algn="l" fontAlgn="ctr">
                        <a:buNone/>
                      </a:pPr>
                      <a:r>
                        <a:rPr lang="en-IN" sz="1600" b="1" u="none" strike="noStrike">
                          <a:effectLst/>
                        </a:rPr>
                        <a:t>Time Required</a:t>
                      </a:r>
                      <a:endParaRPr lang="en-IN" sz="16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Fast</a:t>
                      </a:r>
                      <a:endParaRPr lang="en-IN" sz="16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dirty="0">
                          <a:effectLst/>
                        </a:rPr>
                        <a:t>Slow</a:t>
                      </a:r>
                      <a:endParaRPr lang="en-IN" sz="16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882537553"/>
                  </a:ext>
                </a:extLst>
              </a:tr>
              <a:tr h="279240">
                <a:tc>
                  <a:txBody>
                    <a:bodyPr/>
                    <a:lstStyle/>
                    <a:p>
                      <a:pPr algn="l" fontAlgn="ctr">
                        <a:buNone/>
                      </a:pPr>
                      <a:r>
                        <a:rPr lang="en-IN" sz="1600" b="1" u="none" strike="noStrike">
                          <a:effectLst/>
                        </a:rPr>
                        <a:t>Accuracy</a:t>
                      </a:r>
                      <a:endParaRPr lang="en-IN" sz="16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Moderate</a:t>
                      </a:r>
                      <a:endParaRPr lang="en-IN" sz="16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High</a:t>
                      </a:r>
                      <a:endParaRPr lang="en-IN" sz="16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117299224"/>
                  </a:ext>
                </a:extLst>
              </a:tr>
              <a:tr h="524677">
                <a:tc>
                  <a:txBody>
                    <a:bodyPr/>
                    <a:lstStyle/>
                    <a:p>
                      <a:pPr algn="l" fontAlgn="ctr">
                        <a:buNone/>
                      </a:pPr>
                      <a:r>
                        <a:rPr lang="en-IN" sz="1600" b="1" u="none" strike="noStrike">
                          <a:effectLst/>
                        </a:rPr>
                        <a:t>Best Used For</a:t>
                      </a:r>
                      <a:endParaRPr lang="en-IN" sz="16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US" sz="1600" u="none" strike="noStrike" dirty="0">
                          <a:effectLst/>
                        </a:rPr>
                        <a:t>General security risks, ISO 27001</a:t>
                      </a:r>
                      <a:endParaRPr lang="en-US" sz="16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Financial impact modeling</a:t>
                      </a:r>
                      <a:endParaRPr lang="en-IN" sz="1600" b="0"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2118205721"/>
                  </a:ext>
                </a:extLst>
              </a:tr>
              <a:tr h="279240">
                <a:tc>
                  <a:txBody>
                    <a:bodyPr/>
                    <a:lstStyle/>
                    <a:p>
                      <a:pPr algn="l" fontAlgn="ctr">
                        <a:buNone/>
                      </a:pPr>
                      <a:r>
                        <a:rPr lang="en-IN" sz="1600" b="1" u="none" strike="noStrike">
                          <a:effectLst/>
                        </a:rPr>
                        <a:t>Data Required</a:t>
                      </a:r>
                      <a:endParaRPr lang="en-IN" sz="16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Low</a:t>
                      </a:r>
                      <a:endParaRPr lang="en-IN" sz="16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dirty="0">
                          <a:effectLst/>
                        </a:rPr>
                        <a:t>High</a:t>
                      </a:r>
                      <a:endParaRPr lang="en-IN" sz="16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632854526"/>
                  </a:ext>
                </a:extLst>
              </a:tr>
              <a:tr h="524677">
                <a:tc>
                  <a:txBody>
                    <a:bodyPr/>
                    <a:lstStyle/>
                    <a:p>
                      <a:pPr algn="l" fontAlgn="ctr">
                        <a:buNone/>
                      </a:pPr>
                      <a:r>
                        <a:rPr lang="en-IN" sz="1600" b="1" u="none" strike="noStrike">
                          <a:effectLst/>
                        </a:rPr>
                        <a:t>Decision Support</a:t>
                      </a:r>
                      <a:endParaRPr lang="en-IN" sz="1600" b="1"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a:effectLst/>
                        </a:rPr>
                        <a:t>Qualitative prioritization</a:t>
                      </a:r>
                      <a:endParaRPr lang="en-IN" sz="1600" b="0" i="0" u="none" strike="noStrike">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dirty="0">
                          <a:effectLst/>
                        </a:rPr>
                        <a:t>Financial justification</a:t>
                      </a:r>
                      <a:endParaRPr lang="en-IN" sz="16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51156511"/>
                  </a:ext>
                </a:extLst>
              </a:tr>
              <a:tr h="279240">
                <a:tc>
                  <a:txBody>
                    <a:bodyPr/>
                    <a:lstStyle/>
                    <a:p>
                      <a:pPr algn="l" fontAlgn="ctr">
                        <a:buNone/>
                      </a:pPr>
                      <a:r>
                        <a:rPr lang="en-IN" sz="1600" b="1" u="none" strike="noStrike" dirty="0">
                          <a:effectLst/>
                        </a:rPr>
                        <a:t>Complexity</a:t>
                      </a:r>
                      <a:endParaRPr lang="en-IN" sz="16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dirty="0">
                          <a:effectLst/>
                        </a:rPr>
                        <a:t>Simple</a:t>
                      </a:r>
                      <a:endParaRPr lang="en-IN" sz="1600" b="0" i="0" u="none" strike="noStrike" dirty="0">
                        <a:solidFill>
                          <a:srgbClr val="000000"/>
                        </a:solidFill>
                        <a:effectLst/>
                        <a:latin typeface="Calibri" panose="020F0502020204030204" pitchFamily="34" charset="0"/>
                      </a:endParaRPr>
                    </a:p>
                  </a:txBody>
                  <a:tcPr marL="4763" marR="4763" marT="4763" marB="0" anchor="ctr"/>
                </a:tc>
                <a:tc>
                  <a:txBody>
                    <a:bodyPr/>
                    <a:lstStyle/>
                    <a:p>
                      <a:pPr algn="l" fontAlgn="ctr">
                        <a:buNone/>
                      </a:pPr>
                      <a:r>
                        <a:rPr lang="en-IN" sz="1600" u="none" strike="noStrike" dirty="0">
                          <a:effectLst/>
                        </a:rPr>
                        <a:t>Complex</a:t>
                      </a:r>
                      <a:endParaRPr lang="en-IN" sz="1600" b="0"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3901110956"/>
                  </a:ext>
                </a:extLst>
              </a:tr>
            </a:tbl>
          </a:graphicData>
        </a:graphic>
      </p:graphicFrame>
    </p:spTree>
    <p:extLst>
      <p:ext uri="{BB962C8B-B14F-4D97-AF65-F5344CB8AC3E}">
        <p14:creationId xmlns:p14="http://schemas.microsoft.com/office/powerpoint/2010/main" val="5598005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92B6F-34BC-AEC8-F9FD-6F12AD8CF1FD}"/>
              </a:ext>
            </a:extLst>
          </p:cNvPr>
          <p:cNvSpPr>
            <a:spLocks noGrp="1"/>
          </p:cNvSpPr>
          <p:nvPr>
            <p:ph type="title"/>
          </p:nvPr>
        </p:nvSpPr>
        <p:spPr/>
        <p:txBody>
          <a:bodyPr/>
          <a:lstStyle/>
          <a:p>
            <a:r>
              <a:rPr lang="en-IN" dirty="0"/>
              <a:t>Risk Mitigation Strategies</a:t>
            </a:r>
          </a:p>
        </p:txBody>
      </p:sp>
      <p:sp>
        <p:nvSpPr>
          <p:cNvPr id="3" name="Text Placeholder 2">
            <a:extLst>
              <a:ext uri="{FF2B5EF4-FFF2-40B4-BE49-F238E27FC236}">
                <a16:creationId xmlns:a16="http://schemas.microsoft.com/office/drawing/2014/main" id="{915F11FE-B38F-D3F3-75D2-C41DFA4D9C69}"/>
              </a:ext>
            </a:extLst>
          </p:cNvPr>
          <p:cNvSpPr>
            <a:spLocks noGrp="1"/>
          </p:cNvSpPr>
          <p:nvPr>
            <p:ph type="body" idx="1"/>
          </p:nvPr>
        </p:nvSpPr>
        <p:spPr/>
        <p:txBody>
          <a:bodyPr/>
          <a:lstStyle/>
          <a:p>
            <a:pPr algn="l"/>
            <a:r>
              <a:rPr lang="en-US" dirty="0"/>
              <a:t>Risk mitigation is about selecting appropriate actions to reduce risk to an acceptable level.</a:t>
            </a:r>
          </a:p>
          <a:p>
            <a:pPr algn="l"/>
            <a:r>
              <a:rPr lang="en-US" b="1" dirty="0"/>
              <a:t>1. Risk Avoidance: </a:t>
            </a:r>
            <a:r>
              <a:rPr lang="en-US" dirty="0"/>
              <a:t>Eliminating the activity that causes the risk.</a:t>
            </a:r>
            <a:br>
              <a:rPr lang="en-US" dirty="0"/>
            </a:br>
            <a:r>
              <a:rPr lang="en-US" dirty="0"/>
              <a:t>	</a:t>
            </a:r>
            <a:r>
              <a:rPr lang="en-US" b="1" dirty="0"/>
              <a:t>Example:</a:t>
            </a:r>
            <a:r>
              <a:rPr lang="en-US" dirty="0"/>
              <a:t> Discontinue using an outdated software system.</a:t>
            </a:r>
          </a:p>
          <a:p>
            <a:pPr algn="l"/>
            <a:r>
              <a:rPr lang="en-US" b="1" dirty="0"/>
              <a:t>2. Risk Reduction (Mitigation): </a:t>
            </a:r>
            <a:r>
              <a:rPr lang="en-US" dirty="0"/>
              <a:t>Implementing controls to reduce likelihood or impact.</a:t>
            </a:r>
            <a:br>
              <a:rPr lang="en-US" dirty="0"/>
            </a:br>
            <a:r>
              <a:rPr lang="en-US" dirty="0"/>
              <a:t>	</a:t>
            </a:r>
            <a:r>
              <a:rPr lang="en-US" b="1" dirty="0"/>
              <a:t>Example:</a:t>
            </a:r>
            <a:r>
              <a:rPr lang="en-US" dirty="0"/>
              <a:t> Install firewalls, apply patches, enable MFA, encrypt data.</a:t>
            </a:r>
          </a:p>
          <a:p>
            <a:pPr algn="l"/>
            <a:r>
              <a:rPr lang="en-US" b="1" dirty="0"/>
              <a:t>3. Risk Transfer: </a:t>
            </a:r>
            <a:r>
              <a:rPr lang="en-US" dirty="0"/>
              <a:t>Shifting the financial impact to a third party.</a:t>
            </a:r>
            <a:br>
              <a:rPr lang="en-US" dirty="0"/>
            </a:br>
            <a:r>
              <a:rPr lang="en-US" dirty="0"/>
              <a:t>	</a:t>
            </a:r>
            <a:r>
              <a:rPr lang="en-US" b="1" dirty="0"/>
              <a:t>Example:</a:t>
            </a:r>
            <a:r>
              <a:rPr lang="en-US" dirty="0"/>
              <a:t> Cyber insurance, outsourcing services to secure vendors.</a:t>
            </a:r>
          </a:p>
          <a:p>
            <a:pPr algn="l"/>
            <a:r>
              <a:rPr lang="en-US" b="1" dirty="0"/>
              <a:t>4. Risk Acceptance: </a:t>
            </a:r>
            <a:r>
              <a:rPr lang="en-US" dirty="0"/>
              <a:t>Accepting the risk because it is within risk appetite or cost of control 	is too high.</a:t>
            </a:r>
            <a:br>
              <a:rPr lang="en-US" dirty="0"/>
            </a:br>
            <a:r>
              <a:rPr lang="en-US" dirty="0"/>
              <a:t>	</a:t>
            </a:r>
            <a:r>
              <a:rPr lang="en-US" b="1" dirty="0"/>
              <a:t>Example:</a:t>
            </a:r>
            <a:r>
              <a:rPr lang="en-US" dirty="0"/>
              <a:t> Accepting minor website downtime risk.</a:t>
            </a:r>
          </a:p>
          <a:p>
            <a:pPr algn="l"/>
            <a:r>
              <a:rPr lang="en-US" b="1" dirty="0"/>
              <a:t>5. Risk Sharing: </a:t>
            </a:r>
            <a:r>
              <a:rPr lang="en-US" dirty="0"/>
              <a:t>Distributing risk between multiple parties.</a:t>
            </a:r>
            <a:br>
              <a:rPr lang="en-US" dirty="0"/>
            </a:br>
            <a:r>
              <a:rPr lang="en-US" dirty="0"/>
              <a:t>	</a:t>
            </a:r>
            <a:r>
              <a:rPr lang="en-US" b="1" dirty="0"/>
              <a:t>Example:</a:t>
            </a:r>
            <a:r>
              <a:rPr lang="en-US" dirty="0"/>
              <a:t> Cloud provider and organization share responsibility for data 	security.</a:t>
            </a:r>
          </a:p>
          <a:p>
            <a:pPr algn="l"/>
            <a:endParaRPr lang="en-IN" dirty="0"/>
          </a:p>
        </p:txBody>
      </p:sp>
    </p:spTree>
    <p:extLst>
      <p:ext uri="{BB962C8B-B14F-4D97-AF65-F5344CB8AC3E}">
        <p14:creationId xmlns:p14="http://schemas.microsoft.com/office/powerpoint/2010/main" val="3071072614"/>
      </p:ext>
    </p:extLst>
  </p:cSld>
  <p:clrMapOvr>
    <a:masterClrMapping/>
  </p:clrMapOvr>
</p:sld>
</file>

<file path=ppt/theme/theme1.xml><?xml version="1.0" encoding="utf-8"?>
<a:theme xmlns:a="http://schemas.openxmlformats.org/drawingml/2006/main" name="Integers: positive or negative? by Slidesgo">
  <a:themeElements>
    <a:clrScheme name="Simple Light">
      <a:dk1>
        <a:srgbClr val="09264D"/>
      </a:dk1>
      <a:lt1>
        <a:srgbClr val="F6F6F6"/>
      </a:lt1>
      <a:dk2>
        <a:srgbClr val="309985"/>
      </a:dk2>
      <a:lt2>
        <a:srgbClr val="D6E6EB"/>
      </a:lt2>
      <a:accent1>
        <a:srgbClr val="EC687C"/>
      </a:accent1>
      <a:accent2>
        <a:srgbClr val="FFCF06"/>
      </a:accent2>
      <a:accent3>
        <a:srgbClr val="57B8DA"/>
      </a:accent3>
      <a:accent4>
        <a:srgbClr val="FFFFFF"/>
      </a:accent4>
      <a:accent5>
        <a:srgbClr val="FFFFFF"/>
      </a:accent5>
      <a:accent6>
        <a:srgbClr val="FFFFFF"/>
      </a:accent6>
      <a:hlink>
        <a:srgbClr val="0926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2218</TotalTime>
  <Words>13493</Words>
  <Application>Microsoft Office PowerPoint</Application>
  <PresentationFormat>On-screen Show (16:9)</PresentationFormat>
  <Paragraphs>1421</Paragraphs>
  <Slides>143</Slides>
  <Notes>52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143</vt:i4>
      </vt:variant>
    </vt:vector>
  </HeadingPairs>
  <TitlesOfParts>
    <vt:vector size="152" baseType="lpstr">
      <vt:lpstr>Calibri</vt:lpstr>
      <vt:lpstr>Wingdings</vt:lpstr>
      <vt:lpstr>Arial</vt:lpstr>
      <vt:lpstr>Arial Unicode MS</vt:lpstr>
      <vt:lpstr>Nunito Light</vt:lpstr>
      <vt:lpstr>Times New Roman</vt:lpstr>
      <vt:lpstr>Manrope ExtraBold</vt:lpstr>
      <vt:lpstr>Albert Sans</vt:lpstr>
      <vt:lpstr>Integers: positive or negative? by Slidesgo</vt:lpstr>
      <vt:lpstr>BCSE-0611 Application &amp; Data Security</vt:lpstr>
      <vt:lpstr>PowerPoint Presentation</vt:lpstr>
      <vt:lpstr>Introduction to Mobile Security</vt:lpstr>
      <vt:lpstr>Why Focus on Android Security</vt:lpstr>
      <vt:lpstr>Android Architecture Overview</vt:lpstr>
      <vt:lpstr>Android Security Overview</vt:lpstr>
      <vt:lpstr>Architecture</vt:lpstr>
      <vt:lpstr>Applications Layer</vt:lpstr>
      <vt:lpstr>Application Framework Layer</vt:lpstr>
      <vt:lpstr>Android Runtime Layer</vt:lpstr>
      <vt:lpstr>Platform Libraries Layer</vt:lpstr>
      <vt:lpstr>Linux Kernel Layer</vt:lpstr>
      <vt:lpstr>Summary — Security by Design</vt:lpstr>
      <vt:lpstr>Linux Kernel</vt:lpstr>
      <vt:lpstr>Libraries</vt:lpstr>
      <vt:lpstr>Android Runtime (ART)</vt:lpstr>
      <vt:lpstr>PowerPoint Presentation</vt:lpstr>
      <vt:lpstr>Android Activity Lifecycle</vt:lpstr>
      <vt:lpstr>Android Activity Lifecycle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Rooting (Android)</vt:lpstr>
      <vt:lpstr>Jailbreaking (iOS)</vt:lpstr>
      <vt:lpstr>Rooting vs. Jailbreaking:</vt:lpstr>
      <vt:lpstr>Preventive Measures:</vt:lpstr>
      <vt:lpstr>Mobile Application Security Vulnerabilities — OWASP Top 10</vt:lpstr>
      <vt:lpstr>M1 – Improper Platform Usage </vt:lpstr>
      <vt:lpstr>M2 – Insecure Data Storage</vt:lpstr>
      <vt:lpstr>M3 – Insecure Communication</vt:lpstr>
      <vt:lpstr>M4 – Insecure Authentication</vt:lpstr>
      <vt:lpstr>M5 – Insufficient Cryptography</vt:lpstr>
      <vt:lpstr>M6 – Insecure Authorization</vt:lpstr>
      <vt:lpstr>M7 – Client Code Quality Issues</vt:lpstr>
      <vt:lpstr>M8 – Code Tampering</vt:lpstr>
      <vt:lpstr>M9 – Reverse Engineering</vt:lpstr>
      <vt:lpstr>M10 – Extraneous Functionality</vt:lpstr>
      <vt:lpstr>Summary Table</vt:lpstr>
      <vt:lpstr>Mobile APK Penetration Testing</vt:lpstr>
      <vt:lpstr>Primary Legal and Ethical Risks during Mobile APK Penetration Testing</vt:lpstr>
      <vt:lpstr>Recommended Safeguards during Testing during Mobile APK Penetration Testing</vt:lpstr>
      <vt:lpstr>Primary Legal and Ethical Risks while Mobile APK Penetration Testing</vt:lpstr>
      <vt:lpstr>Testing Environment &amp; Tooling </vt:lpstr>
      <vt:lpstr>Testing Process</vt:lpstr>
      <vt:lpstr>A. Reconnaissance (pre-test)</vt:lpstr>
      <vt:lpstr>B. Static Analysis (offline)</vt:lpstr>
      <vt:lpstr>B. Static Analysis (offline)</vt:lpstr>
      <vt:lpstr>C. Dynamic / Runtime Analysis</vt:lpstr>
      <vt:lpstr>C. Dynamic / Runtime Analysis</vt:lpstr>
      <vt:lpstr>D. Tampering &amp; Repackaging</vt:lpstr>
      <vt:lpstr>E. Post-Exploitation Checks</vt:lpstr>
      <vt:lpstr>Common Vulnerabilities &amp; How to Test / Exploit</vt:lpstr>
      <vt:lpstr>TLS (Transport Layer Security)</vt:lpstr>
      <vt:lpstr>Intercepting TLS Traffic</vt:lpstr>
      <vt:lpstr>The Static Analysis with JADx </vt:lpstr>
      <vt:lpstr>Cont….</vt:lpstr>
      <vt:lpstr>Cont….</vt:lpstr>
      <vt:lpstr>Cont….</vt:lpstr>
      <vt:lpstr>Cont….</vt:lpstr>
      <vt:lpstr>Android Malware analysis dynamic analysis (Sandbox)</vt:lpstr>
      <vt:lpstr>Why Dynamic Analysis for Android Malware? </vt:lpstr>
      <vt:lpstr>Dynamic Analysis Setup &amp; Sandbox Environments </vt:lpstr>
      <vt:lpstr>Types of Sandboxes </vt:lpstr>
      <vt:lpstr> Reverse-Engineering Obfuscated Applications (jadx, Ghidra)</vt:lpstr>
      <vt:lpstr> Reverse-Engineering Obfuscated Applications (jadx, Ghidra)</vt:lpstr>
      <vt:lpstr> RAT for Mobile </vt:lpstr>
      <vt:lpstr>How Remote Access Trojans Work </vt:lpstr>
      <vt:lpstr>Countermeasures: How to protect against RATs</vt:lpstr>
      <vt:lpstr>PowerPoint Presentation</vt:lpstr>
      <vt:lpstr> Introduction to cloud computing </vt:lpstr>
      <vt:lpstr>Key Characteristics</vt:lpstr>
      <vt:lpstr>Cloud Deployment Models</vt:lpstr>
      <vt:lpstr>Public Cloud Deployment Model</vt:lpstr>
      <vt:lpstr>Private Cloud Deployment Model</vt:lpstr>
      <vt:lpstr>Hybrid Cloud Deployment Model </vt:lpstr>
      <vt:lpstr>Benefits of Cloud Computing</vt:lpstr>
      <vt:lpstr>Examples of Cloud Service Providers</vt:lpstr>
      <vt:lpstr>Applications of Cloud Computing</vt:lpstr>
      <vt:lpstr> Types of cloud computing   </vt:lpstr>
      <vt:lpstr>Infrastructure as a Service (IaaS)</vt:lpstr>
      <vt:lpstr>Platform as a Service (PaaS)</vt:lpstr>
      <vt:lpstr>Software as a Service (SaaS)</vt:lpstr>
      <vt:lpstr>Summary Table:</vt:lpstr>
      <vt:lpstr>Docker Container Security</vt:lpstr>
      <vt:lpstr>Docker Engine</vt:lpstr>
      <vt:lpstr>Docker Images</vt:lpstr>
      <vt:lpstr>Docker Containers</vt:lpstr>
      <vt:lpstr>Docker Hub</vt:lpstr>
      <vt:lpstr>Docker REST API</vt:lpstr>
      <vt:lpstr>Docker Registry</vt:lpstr>
      <vt:lpstr>Exploiting S3 Buckets</vt:lpstr>
      <vt:lpstr>Cont…</vt:lpstr>
      <vt:lpstr>Prevention 1: Use AWS Config or S3 Block Public Access</vt:lpstr>
      <vt:lpstr>Prevention 2: Enforce IAM Least Privilege</vt:lpstr>
      <vt:lpstr>Prevention 3: Use Server-Side Encryption (SSE)</vt:lpstr>
      <vt:lpstr>Prevention 4: Monitor with AWS CloudTrail</vt:lpstr>
      <vt:lpstr>s3scanner</vt:lpstr>
      <vt:lpstr>s3Inspector</vt:lpstr>
      <vt:lpstr>Comparison of S3Scanner vs S3Inspector:</vt:lpstr>
      <vt:lpstr>PowerPoint Presentation</vt:lpstr>
      <vt:lpstr> Introduction to GRC:  </vt:lpstr>
      <vt:lpstr>Components of GRC </vt:lpstr>
      <vt:lpstr>Components  of GRC </vt:lpstr>
      <vt:lpstr>Why GRC Matters</vt:lpstr>
      <vt:lpstr>Governance </vt:lpstr>
      <vt:lpstr>PowerPoint Presentation</vt:lpstr>
      <vt:lpstr>Risk Management</vt:lpstr>
      <vt:lpstr>PowerPoint Presentation</vt:lpstr>
      <vt:lpstr>Compliance</vt:lpstr>
      <vt:lpstr>How GRC Works Together</vt:lpstr>
      <vt:lpstr>GRC in an Organization’s Information Security Program</vt:lpstr>
      <vt:lpstr>GRC in an Organization’s Information Security Program</vt:lpstr>
      <vt:lpstr> Importance of GRC in Information Security</vt:lpstr>
      <vt:lpstr> Principles of security audits and assurance</vt:lpstr>
      <vt:lpstr>Why Are Security Audits Essential? </vt:lpstr>
      <vt:lpstr> Roles and responsibilities in audits   </vt:lpstr>
      <vt:lpstr>Introduction to audit frameworks,   </vt:lpstr>
      <vt:lpstr> ISO 27001 </vt:lpstr>
      <vt:lpstr>Key Points About ISO 27001</vt:lpstr>
      <vt:lpstr>Why ISO 27001 is Important </vt:lpstr>
      <vt:lpstr>NIST SP 800-53 </vt:lpstr>
      <vt:lpstr>NIST SP 800-53 - Key Points </vt:lpstr>
      <vt:lpstr>COBIT</vt:lpstr>
      <vt:lpstr>COBIT - Key Points </vt:lpstr>
      <vt:lpstr>Implementing GRC policies </vt:lpstr>
      <vt:lpstr>GRC Policy Implementation for ISO 27001</vt:lpstr>
      <vt:lpstr>GRC Essentials for ISO 27001 Audit Readiness</vt:lpstr>
      <vt:lpstr>Importance of GRC in Preparing for an Audit</vt:lpstr>
      <vt:lpstr>Case Study: Adoption of GRC &amp; ISO 27001 at GLA University IT environment</vt:lpstr>
      <vt:lpstr>Cont…</vt:lpstr>
      <vt:lpstr>Cont…</vt:lpstr>
      <vt:lpstr>Cont…</vt:lpstr>
      <vt:lpstr>Cont…</vt:lpstr>
      <vt:lpstr>Cont…</vt:lpstr>
      <vt:lpstr>Risk Identification Techniques</vt:lpstr>
      <vt:lpstr>Risk Assessment Techniques</vt:lpstr>
      <vt:lpstr>Qualitative vs. Quantitative Risk Analysis</vt:lpstr>
      <vt:lpstr>Risk Mitigation 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Arvind</dc:creator>
  <cp:lastModifiedBy>Arvind Prasad</cp:lastModifiedBy>
  <cp:revision>10</cp:revision>
  <dcterms:modified xsi:type="dcterms:W3CDTF">2025-12-04T17:17:24Z</dcterms:modified>
</cp:coreProperties>
</file>