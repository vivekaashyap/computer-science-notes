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7" r:id="rId2"/>
    <p:sldId id="258" r:id="rId3"/>
    <p:sldId id="261" r:id="rId4"/>
    <p:sldId id="259" r:id="rId5"/>
    <p:sldId id="260"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70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53A720-4155-495B-92A8-FC2559F7609B}" type="datetimeFigureOut">
              <a:rPr lang="en-IN" smtClean="0"/>
              <a:t>07-12-2021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BD82A7-B60B-42E0-8519-5B4800E871E8}" type="slidenum">
              <a:rPr lang="en-IN" smtClean="0"/>
              <a:t>‹#›</a:t>
            </a:fld>
            <a:endParaRPr lang="en-IN"/>
          </a:p>
        </p:txBody>
      </p:sp>
    </p:spTree>
    <p:extLst>
      <p:ext uri="{BB962C8B-B14F-4D97-AF65-F5344CB8AC3E}">
        <p14:creationId xmlns:p14="http://schemas.microsoft.com/office/powerpoint/2010/main" val="2732316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5EBD82A7-B60B-42E0-8519-5B4800E871E8}" type="slidenum">
              <a:rPr lang="en-IN" smtClean="0"/>
              <a:t>16</a:t>
            </a:fld>
            <a:endParaRPr lang="en-IN"/>
          </a:p>
        </p:txBody>
      </p:sp>
    </p:spTree>
    <p:extLst>
      <p:ext uri="{BB962C8B-B14F-4D97-AF65-F5344CB8AC3E}">
        <p14:creationId xmlns:p14="http://schemas.microsoft.com/office/powerpoint/2010/main" val="19420601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76DC4CBC-2B8A-43FA-9C42-09F3D19554F8}" type="datetimeFigureOut">
              <a:rPr lang="en-IN" smtClean="0"/>
              <a:t>07-12-2021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B2A8E9-65DD-4C76-83D4-3D5C92745542}" type="slidenum">
              <a:rPr lang="en-IN" smtClean="0"/>
              <a:t>‹#›</a:t>
            </a:fld>
            <a:endParaRPr lang="en-IN"/>
          </a:p>
        </p:txBody>
      </p:sp>
    </p:spTree>
    <p:extLst>
      <p:ext uri="{BB962C8B-B14F-4D97-AF65-F5344CB8AC3E}">
        <p14:creationId xmlns:p14="http://schemas.microsoft.com/office/powerpoint/2010/main" val="41177989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6DC4CBC-2B8A-43FA-9C42-09F3D19554F8}" type="datetimeFigureOut">
              <a:rPr lang="en-IN" smtClean="0"/>
              <a:t>07-12-2021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B2A8E9-65DD-4C76-83D4-3D5C92745542}" type="slidenum">
              <a:rPr lang="en-IN" smtClean="0"/>
              <a:t>‹#›</a:t>
            </a:fld>
            <a:endParaRPr lang="en-IN"/>
          </a:p>
        </p:txBody>
      </p:sp>
    </p:spTree>
    <p:extLst>
      <p:ext uri="{BB962C8B-B14F-4D97-AF65-F5344CB8AC3E}">
        <p14:creationId xmlns:p14="http://schemas.microsoft.com/office/powerpoint/2010/main" val="3921361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6DC4CBC-2B8A-43FA-9C42-09F3D19554F8}" type="datetimeFigureOut">
              <a:rPr lang="en-IN" smtClean="0"/>
              <a:t>07-12-2021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B2A8E9-65DD-4C76-83D4-3D5C92745542}" type="slidenum">
              <a:rPr lang="en-IN" smtClean="0"/>
              <a:t>‹#›</a:t>
            </a:fld>
            <a:endParaRPr lang="en-IN"/>
          </a:p>
        </p:txBody>
      </p:sp>
    </p:spTree>
    <p:extLst>
      <p:ext uri="{BB962C8B-B14F-4D97-AF65-F5344CB8AC3E}">
        <p14:creationId xmlns:p14="http://schemas.microsoft.com/office/powerpoint/2010/main" val="1388640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76DC4CBC-2B8A-43FA-9C42-09F3D19554F8}" type="datetimeFigureOut">
              <a:rPr lang="en-IN" smtClean="0"/>
              <a:t>07-12-2021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B2A8E9-65DD-4C76-83D4-3D5C92745542}" type="slidenum">
              <a:rPr lang="en-IN" smtClean="0"/>
              <a:t>‹#›</a:t>
            </a:fld>
            <a:endParaRPr lang="en-IN"/>
          </a:p>
        </p:txBody>
      </p:sp>
    </p:spTree>
    <p:extLst>
      <p:ext uri="{BB962C8B-B14F-4D97-AF65-F5344CB8AC3E}">
        <p14:creationId xmlns:p14="http://schemas.microsoft.com/office/powerpoint/2010/main" val="1042836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76DC4CBC-2B8A-43FA-9C42-09F3D19554F8}" type="datetimeFigureOut">
              <a:rPr lang="en-IN" smtClean="0"/>
              <a:t>07-12-2021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5B2A8E9-65DD-4C76-83D4-3D5C92745542}" type="slidenum">
              <a:rPr lang="en-IN" smtClean="0"/>
              <a:t>‹#›</a:t>
            </a:fld>
            <a:endParaRPr lang="en-IN"/>
          </a:p>
        </p:txBody>
      </p:sp>
    </p:spTree>
    <p:extLst>
      <p:ext uri="{BB962C8B-B14F-4D97-AF65-F5344CB8AC3E}">
        <p14:creationId xmlns:p14="http://schemas.microsoft.com/office/powerpoint/2010/main" val="31477247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76DC4CBC-2B8A-43FA-9C42-09F3D19554F8}" type="datetimeFigureOut">
              <a:rPr lang="en-IN" smtClean="0"/>
              <a:t>07-12-2021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5B2A8E9-65DD-4C76-83D4-3D5C92745542}" type="slidenum">
              <a:rPr lang="en-IN" smtClean="0"/>
              <a:t>‹#›</a:t>
            </a:fld>
            <a:endParaRPr lang="en-IN"/>
          </a:p>
        </p:txBody>
      </p:sp>
    </p:spTree>
    <p:extLst>
      <p:ext uri="{BB962C8B-B14F-4D97-AF65-F5344CB8AC3E}">
        <p14:creationId xmlns:p14="http://schemas.microsoft.com/office/powerpoint/2010/main" val="5786807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DC4CBC-2B8A-43FA-9C42-09F3D19554F8}" type="datetimeFigureOut">
              <a:rPr lang="en-IN" smtClean="0"/>
              <a:t>07-12-2021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5B2A8E9-65DD-4C76-83D4-3D5C92745542}" type="slidenum">
              <a:rPr lang="en-IN" smtClean="0"/>
              <a:t>‹#›</a:t>
            </a:fld>
            <a:endParaRPr lang="en-IN"/>
          </a:p>
        </p:txBody>
      </p:sp>
    </p:spTree>
    <p:extLst>
      <p:ext uri="{BB962C8B-B14F-4D97-AF65-F5344CB8AC3E}">
        <p14:creationId xmlns:p14="http://schemas.microsoft.com/office/powerpoint/2010/main" val="1900415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6DC4CBC-2B8A-43FA-9C42-09F3D19554F8}" type="datetimeFigureOut">
              <a:rPr lang="en-IN" smtClean="0"/>
              <a:t>07-12-2021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B2A8E9-65DD-4C76-83D4-3D5C92745542}" type="slidenum">
              <a:rPr lang="en-IN" smtClean="0"/>
              <a:t>‹#›</a:t>
            </a:fld>
            <a:endParaRPr lang="en-IN"/>
          </a:p>
        </p:txBody>
      </p:sp>
    </p:spTree>
    <p:extLst>
      <p:ext uri="{BB962C8B-B14F-4D97-AF65-F5344CB8AC3E}">
        <p14:creationId xmlns:p14="http://schemas.microsoft.com/office/powerpoint/2010/main" val="2135718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6DC4CBC-2B8A-43FA-9C42-09F3D19554F8}" type="datetimeFigureOut">
              <a:rPr lang="en-IN" smtClean="0"/>
              <a:t>07-12-2021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B2A8E9-65DD-4C76-83D4-3D5C92745542}" type="slidenum">
              <a:rPr lang="en-IN" smtClean="0"/>
              <a:t>‹#›</a:t>
            </a:fld>
            <a:endParaRPr lang="en-IN"/>
          </a:p>
        </p:txBody>
      </p:sp>
    </p:spTree>
    <p:extLst>
      <p:ext uri="{BB962C8B-B14F-4D97-AF65-F5344CB8AC3E}">
        <p14:creationId xmlns:p14="http://schemas.microsoft.com/office/powerpoint/2010/main" val="1572604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6DC4CBC-2B8A-43FA-9C42-09F3D19554F8}" type="datetimeFigureOut">
              <a:rPr lang="en-IN" smtClean="0"/>
              <a:t>07-12-2021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B2A8E9-65DD-4C76-83D4-3D5C92745542}" type="slidenum">
              <a:rPr lang="en-IN" smtClean="0"/>
              <a:t>‹#›</a:t>
            </a:fld>
            <a:endParaRPr lang="en-IN"/>
          </a:p>
        </p:txBody>
      </p:sp>
    </p:spTree>
    <p:extLst>
      <p:ext uri="{BB962C8B-B14F-4D97-AF65-F5344CB8AC3E}">
        <p14:creationId xmlns:p14="http://schemas.microsoft.com/office/powerpoint/2010/main" val="3187810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6DC4CBC-2B8A-43FA-9C42-09F3D19554F8}" type="datetimeFigureOut">
              <a:rPr lang="en-IN" smtClean="0"/>
              <a:t>07-12-2021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B2A8E9-65DD-4C76-83D4-3D5C92745542}" type="slidenum">
              <a:rPr lang="en-IN" smtClean="0"/>
              <a:t>‹#›</a:t>
            </a:fld>
            <a:endParaRPr lang="en-IN"/>
          </a:p>
        </p:txBody>
      </p:sp>
    </p:spTree>
    <p:extLst>
      <p:ext uri="{BB962C8B-B14F-4D97-AF65-F5344CB8AC3E}">
        <p14:creationId xmlns:p14="http://schemas.microsoft.com/office/powerpoint/2010/main" val="4097144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DC4CBC-2B8A-43FA-9C42-09F3D19554F8}" type="datetimeFigureOut">
              <a:rPr lang="en-IN" smtClean="0"/>
              <a:t>07-12-2021</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B2A8E9-65DD-4C76-83D4-3D5C92745542}" type="slidenum">
              <a:rPr lang="en-IN" smtClean="0"/>
              <a:t>‹#›</a:t>
            </a:fld>
            <a:endParaRPr lang="en-IN"/>
          </a:p>
        </p:txBody>
      </p:sp>
    </p:spTree>
    <p:extLst>
      <p:ext uri="{BB962C8B-B14F-4D97-AF65-F5344CB8AC3E}">
        <p14:creationId xmlns:p14="http://schemas.microsoft.com/office/powerpoint/2010/main" val="42739422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B8A638D-B6B4-4196-9F55-4B795BB1F796}"/>
              </a:ext>
            </a:extLst>
          </p:cNvPr>
          <p:cNvSpPr>
            <a:spLocks noGrp="1"/>
          </p:cNvSpPr>
          <p:nvPr>
            <p:ph type="ctrTitle"/>
          </p:nvPr>
        </p:nvSpPr>
        <p:spPr>
          <a:xfrm>
            <a:off x="1524001" y="853600"/>
            <a:ext cx="9144000" cy="1448117"/>
          </a:xfrm>
        </p:spPr>
        <p:txBody>
          <a:bodyPr>
            <a:normAutofit fontScale="90000"/>
          </a:bodyPr>
          <a:lstStyle/>
          <a:p>
            <a:r>
              <a:rPr lang="en-US" altLang="en-US" sz="4400" dirty="0">
                <a:latin typeface="Times New Roman" panose="02020603050405020304" pitchFamily="18" charset="0"/>
                <a:cs typeface="Times New Roman" panose="02020603050405020304" pitchFamily="18" charset="0"/>
              </a:rPr>
              <a:t>Operating Systems</a:t>
            </a:r>
            <a:br>
              <a:rPr lang="en-US" altLang="en-US" sz="4400" dirty="0">
                <a:latin typeface="Times New Roman" panose="02020603050405020304" pitchFamily="18" charset="0"/>
                <a:cs typeface="Times New Roman" panose="02020603050405020304" pitchFamily="18" charset="0"/>
              </a:rPr>
            </a:br>
            <a:r>
              <a:rPr lang="en-US" altLang="en-US" sz="4400" dirty="0">
                <a:latin typeface="Times New Roman" panose="02020603050405020304" pitchFamily="18" charset="0"/>
                <a:cs typeface="Times New Roman" panose="02020603050405020304" pitchFamily="18" charset="0"/>
              </a:rPr>
              <a:t>BCSC 0004</a:t>
            </a:r>
            <a:br>
              <a:rPr lang="en-US" altLang="en-US" sz="4400" dirty="0">
                <a:latin typeface="Times New Roman" panose="02020603050405020304" pitchFamily="18" charset="0"/>
                <a:cs typeface="Times New Roman" panose="02020603050405020304" pitchFamily="18" charset="0"/>
              </a:rPr>
            </a:br>
            <a:endParaRPr lang="en-US" altLang="en-US" sz="4400" dirty="0">
              <a:latin typeface="Times New Roman" panose="02020603050405020304" pitchFamily="18" charset="0"/>
              <a:cs typeface="Times New Roman" panose="02020603050405020304" pitchFamily="18" charset="0"/>
            </a:endParaRPr>
          </a:p>
        </p:txBody>
      </p:sp>
      <p:sp>
        <p:nvSpPr>
          <p:cNvPr id="5" name="Subtitle 2">
            <a:extLst>
              <a:ext uri="{FF2B5EF4-FFF2-40B4-BE49-F238E27FC236}">
                <a16:creationId xmlns:a16="http://schemas.microsoft.com/office/drawing/2014/main" id="{720B1248-DD4D-47C5-933B-57021854ED73}"/>
              </a:ext>
            </a:extLst>
          </p:cNvPr>
          <p:cNvSpPr>
            <a:spLocks noGrp="1"/>
          </p:cNvSpPr>
          <p:nvPr>
            <p:ph type="subTitle" idx="1"/>
          </p:nvPr>
        </p:nvSpPr>
        <p:spPr>
          <a:xfrm>
            <a:off x="1524001" y="3602038"/>
            <a:ext cx="9144000" cy="1655762"/>
          </a:xfrm>
        </p:spPr>
        <p:txBody>
          <a:bodyPr>
            <a:normAutofit/>
          </a:bodyPr>
          <a:lstStyle/>
          <a:p>
            <a:endParaRPr lang="en-US" altLang="en-US" sz="2800" dirty="0">
              <a:latin typeface="Times New Roman" panose="02020603050405020304" pitchFamily="18" charset="0"/>
              <a:cs typeface="Times New Roman" panose="02020603050405020304" pitchFamily="18" charset="0"/>
            </a:endParaRPr>
          </a:p>
          <a:p>
            <a:r>
              <a:rPr lang="en-US" altLang="en-US" sz="3600" dirty="0" smtClean="0">
                <a:latin typeface="Times New Roman" panose="02020603050405020304" pitchFamily="18" charset="0"/>
                <a:cs typeface="Times New Roman" panose="02020603050405020304" pitchFamily="18" charset="0"/>
              </a:rPr>
              <a:t>Deadlocks</a:t>
            </a:r>
            <a:endParaRPr lang="en-US" altLang="en-US" sz="3600" dirty="0">
              <a:latin typeface="Times New Roman" panose="02020603050405020304" pitchFamily="18" charset="0"/>
              <a:cs typeface="Times New Roman" panose="02020603050405020304" pitchFamily="18" charset="0"/>
            </a:endParaRPr>
          </a:p>
        </p:txBody>
      </p:sp>
      <p:pic>
        <p:nvPicPr>
          <p:cNvPr id="6" name="Picture 3">
            <a:extLst>
              <a:ext uri="{FF2B5EF4-FFF2-40B4-BE49-F238E27FC236}">
                <a16:creationId xmlns:a16="http://schemas.microsoft.com/office/drawing/2014/main" id="{3041B738-747A-46D4-A507-47878C5F8705}"/>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570695" y="2301717"/>
            <a:ext cx="3050611" cy="149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B055DD3A-595D-4C27-A5A4-4F86A6FDA437}" type="slidenum">
              <a:rPr lang="en-IN" smtClean="0"/>
              <a:t>1</a:t>
            </a:fld>
            <a:endParaRPr lang="en-IN"/>
          </a:p>
        </p:txBody>
      </p:sp>
    </p:spTree>
    <p:extLst>
      <p:ext uri="{BB962C8B-B14F-4D97-AF65-F5344CB8AC3E}">
        <p14:creationId xmlns:p14="http://schemas.microsoft.com/office/powerpoint/2010/main" val="15466438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7528" y="227473"/>
            <a:ext cx="10515600" cy="1021223"/>
          </a:xfrm>
        </p:spPr>
        <p:txBody>
          <a:bodyPr>
            <a:normAutofit/>
          </a:bodyPr>
          <a:lstStyle/>
          <a:p>
            <a:pPr algn="ctr"/>
            <a:r>
              <a:rPr lang="en-US" sz="3600" b="1" dirty="0" smtClean="0">
                <a:latin typeface="Times New Roman" panose="02020603050405020304" pitchFamily="18" charset="0"/>
                <a:cs typeface="Times New Roman" panose="02020603050405020304" pitchFamily="18" charset="0"/>
              </a:rPr>
              <a:t>Deadlock</a:t>
            </a:r>
            <a:endParaRPr lang="en-IN"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58760" y="1108740"/>
            <a:ext cx="10953135" cy="4721789"/>
          </a:xfrm>
        </p:spPr>
        <p:txBody>
          <a:bodyPr>
            <a:normAutofit/>
          </a:bodyPr>
          <a:lstStyle/>
          <a:p>
            <a:pPr algn="just">
              <a:lnSpc>
                <a:spcPct val="150000"/>
              </a:lnSpc>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In a multiprogramming system, a number of process compete for limited number of resources and if a resource is not available at that instance then process enters into waiting states.</a:t>
            </a:r>
          </a:p>
          <a:p>
            <a:pPr algn="just">
              <a:lnSpc>
                <a:spcPct val="150000"/>
              </a:lnSpc>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If a process unable to change its </a:t>
            </a:r>
            <a:r>
              <a:rPr lang="en-US" sz="2400" dirty="0" smtClean="0">
                <a:solidFill>
                  <a:srgbClr val="FF0000"/>
                </a:solidFill>
                <a:latin typeface="Times New Roman" panose="02020603050405020304" pitchFamily="18" charset="0"/>
                <a:cs typeface="Times New Roman" panose="02020603050405020304" pitchFamily="18" charset="0"/>
              </a:rPr>
              <a:t>waiting state indefinitely </a:t>
            </a:r>
            <a:r>
              <a:rPr lang="en-US" sz="2400" dirty="0" smtClean="0">
                <a:latin typeface="Times New Roman" panose="02020603050405020304" pitchFamily="18" charset="0"/>
                <a:cs typeface="Times New Roman" panose="02020603050405020304" pitchFamily="18" charset="0"/>
              </a:rPr>
              <a:t>because the resources required by it are held by another waiting process then system is said to be in deadlock.</a:t>
            </a:r>
            <a:endParaRPr lang="en-IN" sz="2400" dirty="0">
              <a:latin typeface="Times New Roman" panose="02020603050405020304" pitchFamily="18" charset="0"/>
              <a:cs typeface="Times New Roman" panose="02020603050405020304" pitchFamily="18" charset="0"/>
            </a:endParaRPr>
          </a:p>
        </p:txBody>
      </p:sp>
      <p:grpSp>
        <p:nvGrpSpPr>
          <p:cNvPr id="16" name="Group 15"/>
          <p:cNvGrpSpPr/>
          <p:nvPr/>
        </p:nvGrpSpPr>
        <p:grpSpPr>
          <a:xfrm>
            <a:off x="4336025" y="4434349"/>
            <a:ext cx="4011561" cy="2132141"/>
            <a:chOff x="4021393" y="4532671"/>
            <a:chExt cx="4011561" cy="2132141"/>
          </a:xfrm>
        </p:grpSpPr>
        <p:sp>
          <p:nvSpPr>
            <p:cNvPr id="4" name="Oval 3"/>
            <p:cNvSpPr/>
            <p:nvPr/>
          </p:nvSpPr>
          <p:spPr>
            <a:xfrm>
              <a:off x="4021393" y="5083276"/>
              <a:ext cx="943897" cy="845575"/>
            </a:xfrm>
            <a:prstGeom prst="ellips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Times New Roman" panose="02020603050405020304" pitchFamily="18" charset="0"/>
                  <a:cs typeface="Times New Roman" panose="02020603050405020304" pitchFamily="18" charset="0"/>
                </a:rPr>
                <a:t>P1</a:t>
              </a:r>
              <a:endParaRPr lang="en-IN" sz="2400"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5555225" y="4532671"/>
              <a:ext cx="943897" cy="668594"/>
            </a:xfrm>
            <a:prstGeom prst="rect">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Times New Roman" panose="02020603050405020304" pitchFamily="18" charset="0"/>
                  <a:cs typeface="Times New Roman" panose="02020603050405020304" pitchFamily="18" charset="0"/>
                </a:rPr>
                <a:t>R2</a:t>
              </a:r>
              <a:endParaRPr lang="en-IN" sz="2400" dirty="0">
                <a:solidFill>
                  <a:schemeClr val="tx1"/>
                </a:solidFill>
                <a:latin typeface="Times New Roman" panose="02020603050405020304" pitchFamily="18" charset="0"/>
                <a:cs typeface="Times New Roman" panose="02020603050405020304" pitchFamily="18" charset="0"/>
              </a:endParaRPr>
            </a:p>
          </p:txBody>
        </p:sp>
        <p:sp>
          <p:nvSpPr>
            <p:cNvPr id="6" name="Oval 5"/>
            <p:cNvSpPr/>
            <p:nvPr/>
          </p:nvSpPr>
          <p:spPr>
            <a:xfrm>
              <a:off x="7089057" y="5083277"/>
              <a:ext cx="943897" cy="845575"/>
            </a:xfrm>
            <a:prstGeom prst="ellips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Times New Roman" panose="02020603050405020304" pitchFamily="18" charset="0"/>
                  <a:cs typeface="Times New Roman" panose="02020603050405020304" pitchFamily="18" charset="0"/>
                </a:rPr>
                <a:t>P2</a:t>
              </a:r>
              <a:endParaRPr lang="en-IN" sz="2400" dirty="0">
                <a:solidFill>
                  <a:schemeClr val="tx1"/>
                </a:solidFill>
                <a:latin typeface="Times New Roman" panose="02020603050405020304" pitchFamily="18" charset="0"/>
                <a:cs typeface="Times New Roman" panose="02020603050405020304" pitchFamily="18" charset="0"/>
              </a:endParaRPr>
            </a:p>
          </p:txBody>
        </p:sp>
        <p:sp>
          <p:nvSpPr>
            <p:cNvPr id="7" name="Rectangle 6"/>
            <p:cNvSpPr/>
            <p:nvPr/>
          </p:nvSpPr>
          <p:spPr>
            <a:xfrm>
              <a:off x="5555225" y="5996218"/>
              <a:ext cx="943897" cy="668594"/>
            </a:xfrm>
            <a:prstGeom prst="rect">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Times New Roman" panose="02020603050405020304" pitchFamily="18" charset="0"/>
                  <a:cs typeface="Times New Roman" panose="02020603050405020304" pitchFamily="18" charset="0"/>
                </a:rPr>
                <a:t>R1</a:t>
              </a:r>
              <a:endParaRPr lang="en-IN" sz="2400" dirty="0">
                <a:solidFill>
                  <a:schemeClr val="tx1"/>
                </a:solidFill>
                <a:latin typeface="Times New Roman" panose="02020603050405020304" pitchFamily="18" charset="0"/>
                <a:cs typeface="Times New Roman" panose="02020603050405020304" pitchFamily="18" charset="0"/>
              </a:endParaRPr>
            </a:p>
          </p:txBody>
        </p:sp>
        <p:cxnSp>
          <p:nvCxnSpPr>
            <p:cNvPr id="9" name="Straight Arrow Connector 8"/>
            <p:cNvCxnSpPr>
              <a:stCxn id="4" idx="0"/>
            </p:cNvCxnSpPr>
            <p:nvPr/>
          </p:nvCxnSpPr>
          <p:spPr>
            <a:xfrm flipV="1">
              <a:off x="4493342" y="4788310"/>
              <a:ext cx="1061883" cy="294966"/>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6518787" y="4866968"/>
              <a:ext cx="914400" cy="216308"/>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endCxn id="4" idx="4"/>
            </p:cNvCxnSpPr>
            <p:nvPr/>
          </p:nvCxnSpPr>
          <p:spPr>
            <a:xfrm flipH="1" flipV="1">
              <a:off x="4493342" y="5928851"/>
              <a:ext cx="1002889" cy="523416"/>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endCxn id="7" idx="3"/>
            </p:cNvCxnSpPr>
            <p:nvPr/>
          </p:nvCxnSpPr>
          <p:spPr>
            <a:xfrm flipH="1">
              <a:off x="6499122" y="5919021"/>
              <a:ext cx="1042219" cy="411494"/>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0693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01559"/>
          </a:xfrm>
        </p:spPr>
        <p:txBody>
          <a:bodyPr>
            <a:normAutofit/>
          </a:bodyPr>
          <a:lstStyle/>
          <a:p>
            <a:pPr algn="ctr"/>
            <a:r>
              <a:rPr lang="en-US" sz="3600" b="1" dirty="0" smtClean="0">
                <a:latin typeface="Times New Roman" panose="02020603050405020304" pitchFamily="18" charset="0"/>
                <a:cs typeface="Times New Roman" panose="02020603050405020304" pitchFamily="18" charset="0"/>
              </a:rPr>
              <a:t>System Model</a:t>
            </a:r>
            <a:endParaRPr lang="en-IN"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nSpc>
                <a:spcPct val="200000"/>
              </a:lnSpc>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Every process will request for the resources.</a:t>
            </a:r>
          </a:p>
          <a:p>
            <a:pPr>
              <a:lnSpc>
                <a:spcPct val="200000"/>
              </a:lnSpc>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If entertained then, process will use the resources.</a:t>
            </a:r>
          </a:p>
          <a:p>
            <a:pPr>
              <a:lnSpc>
                <a:spcPct val="200000"/>
              </a:lnSpc>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Process must release the resource after use.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2576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7138"/>
            <a:ext cx="10515600" cy="952398"/>
          </a:xfrm>
        </p:spPr>
        <p:txBody>
          <a:bodyPr>
            <a:normAutofit/>
          </a:bodyPr>
          <a:lstStyle/>
          <a:p>
            <a:pPr algn="ctr"/>
            <a:r>
              <a:rPr lang="en-US" sz="3600" b="1" dirty="0" smtClean="0">
                <a:latin typeface="Times New Roman" panose="02020603050405020304" pitchFamily="18" charset="0"/>
                <a:cs typeface="Times New Roman" panose="02020603050405020304" pitchFamily="18" charset="0"/>
              </a:rPr>
              <a:t>Necessary Condition of Deadlock</a:t>
            </a:r>
            <a:endParaRPr lang="en-IN"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199" y="1494503"/>
            <a:ext cx="10793361" cy="4682460"/>
          </a:xfrm>
        </p:spPr>
        <p:txBody>
          <a:bodyPr>
            <a:normAutofit/>
          </a:bodyPr>
          <a:lstStyle/>
          <a:p>
            <a:pPr algn="just">
              <a:lnSpc>
                <a:spcPct val="150000"/>
              </a:lnSpc>
            </a:pPr>
            <a:r>
              <a:rPr lang="en-US" sz="2400" b="1" dirty="0" smtClean="0">
                <a:solidFill>
                  <a:srgbClr val="FF0000"/>
                </a:solidFill>
                <a:latin typeface="Times New Roman" panose="02020603050405020304" pitchFamily="18" charset="0"/>
                <a:cs typeface="Times New Roman" panose="02020603050405020304" pitchFamily="18" charset="0"/>
              </a:rPr>
              <a:t>Mutual exclusion: </a:t>
            </a:r>
            <a:r>
              <a:rPr lang="en-US" sz="2400" dirty="0" smtClean="0">
                <a:latin typeface="Times New Roman" panose="02020603050405020304" pitchFamily="18" charset="0"/>
                <a:cs typeface="Times New Roman" panose="02020603050405020304" pitchFamily="18" charset="0"/>
              </a:rPr>
              <a:t>At least one resource type in the system which can be used in non- shareable mode </a:t>
            </a:r>
            <a:r>
              <a:rPr lang="en-US" sz="2400" dirty="0" err="1" smtClean="0">
                <a:latin typeface="Times New Roman" panose="02020603050405020304" pitchFamily="18" charset="0"/>
                <a:cs typeface="Times New Roman" panose="02020603050405020304" pitchFamily="18" charset="0"/>
              </a:rPr>
              <a:t>i.e</a:t>
            </a:r>
            <a:r>
              <a:rPr lang="en-US" sz="2400" dirty="0" smtClean="0">
                <a:latin typeface="Times New Roman" panose="02020603050405020304" pitchFamily="18" charset="0"/>
                <a:cs typeface="Times New Roman" panose="02020603050405020304" pitchFamily="18" charset="0"/>
              </a:rPr>
              <a:t> mutual exclusion (one at a time/ one by one) e. g. CPU time, printer.</a:t>
            </a:r>
          </a:p>
          <a:p>
            <a:pPr algn="just">
              <a:lnSpc>
                <a:spcPct val="150000"/>
              </a:lnSpc>
            </a:pPr>
            <a:r>
              <a:rPr lang="en-US" sz="2400" b="1" dirty="0">
                <a:solidFill>
                  <a:srgbClr val="FF0000"/>
                </a:solidFill>
                <a:latin typeface="Times New Roman" panose="02020603050405020304" pitchFamily="18" charset="0"/>
                <a:cs typeface="Times New Roman" panose="02020603050405020304" pitchFamily="18" charset="0"/>
              </a:rPr>
              <a:t>Hold and wait:</a:t>
            </a:r>
            <a:r>
              <a:rPr lang="en-US" sz="2400" dirty="0" smtClean="0">
                <a:latin typeface="Times New Roman" panose="02020603050405020304" pitchFamily="18" charset="0"/>
                <a:cs typeface="Times New Roman" panose="02020603050405020304" pitchFamily="18" charset="0"/>
              </a:rPr>
              <a:t> A process is currently holding at least one resource and requesting additional resources which are being held by other processes.</a:t>
            </a:r>
          </a:p>
          <a:p>
            <a:pPr algn="just">
              <a:lnSpc>
                <a:spcPct val="150000"/>
              </a:lnSpc>
            </a:pPr>
            <a:r>
              <a:rPr lang="en-US" sz="2400" b="1" dirty="0">
                <a:solidFill>
                  <a:srgbClr val="FF0000"/>
                </a:solidFill>
                <a:latin typeface="Times New Roman" panose="02020603050405020304" pitchFamily="18" charset="0"/>
                <a:cs typeface="Times New Roman" panose="02020603050405020304" pitchFamily="18" charset="0"/>
              </a:rPr>
              <a:t>No-preemption: </a:t>
            </a:r>
            <a:r>
              <a:rPr lang="en-US" sz="2400" dirty="0" smtClean="0">
                <a:latin typeface="Times New Roman" panose="02020603050405020304" pitchFamily="18" charset="0"/>
                <a:cs typeface="Times New Roman" panose="02020603050405020304" pitchFamily="18" charset="0"/>
              </a:rPr>
              <a:t>A resource can not be preempted from a process by any other process resource can be released only voluntarily by the process holding it.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8546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27933"/>
          </a:xfrm>
        </p:spPr>
        <p:txBody>
          <a:bodyPr>
            <a:normAutofit/>
          </a:bodyPr>
          <a:lstStyle/>
          <a:p>
            <a:pPr algn="ctr"/>
            <a:r>
              <a:rPr lang="en-US" sz="3600" b="1" dirty="0">
                <a:latin typeface="Times New Roman" panose="02020603050405020304" pitchFamily="18" charset="0"/>
                <a:cs typeface="Times New Roman" panose="02020603050405020304" pitchFamily="18" charset="0"/>
              </a:rPr>
              <a:t>Necessary Condition of Deadlock</a:t>
            </a:r>
            <a:endParaRPr lang="en-IN" sz="3600" dirty="0"/>
          </a:p>
        </p:txBody>
      </p:sp>
      <p:sp>
        <p:nvSpPr>
          <p:cNvPr id="3" name="Content Placeholder 2"/>
          <p:cNvSpPr>
            <a:spLocks noGrp="1"/>
          </p:cNvSpPr>
          <p:nvPr>
            <p:ph idx="1"/>
          </p:nvPr>
        </p:nvSpPr>
        <p:spPr/>
        <p:txBody>
          <a:bodyPr>
            <a:normAutofit/>
          </a:bodyPr>
          <a:lstStyle/>
          <a:p>
            <a:pPr algn="just">
              <a:lnSpc>
                <a:spcPct val="250000"/>
              </a:lnSpc>
            </a:pPr>
            <a:r>
              <a:rPr lang="en-US" sz="2400" b="1" dirty="0">
                <a:solidFill>
                  <a:srgbClr val="FF0000"/>
                </a:solidFill>
                <a:latin typeface="Times New Roman" panose="02020603050405020304" pitchFamily="18" charset="0"/>
                <a:cs typeface="Times New Roman" panose="02020603050405020304" pitchFamily="18" charset="0"/>
              </a:rPr>
              <a:t>Circular </a:t>
            </a:r>
            <a:r>
              <a:rPr lang="en-US" sz="2400" b="1" dirty="0" smtClean="0">
                <a:solidFill>
                  <a:srgbClr val="FF0000"/>
                </a:solidFill>
                <a:latin typeface="Times New Roman" panose="02020603050405020304" pitchFamily="18" charset="0"/>
                <a:cs typeface="Times New Roman" panose="02020603050405020304" pitchFamily="18" charset="0"/>
              </a:rPr>
              <a:t>wait: </a:t>
            </a:r>
            <a:r>
              <a:rPr lang="en-US" sz="2400" dirty="0">
                <a:latin typeface="Times New Roman" panose="02020603050405020304" pitchFamily="18" charset="0"/>
                <a:cs typeface="Times New Roman" panose="02020603050405020304" pitchFamily="18" charset="0"/>
              </a:rPr>
              <a:t>Each process must be waiting for a resource which is being held by another process, which </a:t>
            </a:r>
            <a:r>
              <a:rPr lang="en-US" sz="2400" dirty="0" smtClean="0">
                <a:latin typeface="Times New Roman" panose="02020603050405020304" pitchFamily="18" charset="0"/>
                <a:cs typeface="Times New Roman" panose="02020603050405020304" pitchFamily="18" charset="0"/>
              </a:rPr>
              <a:t>in </a:t>
            </a:r>
            <a:r>
              <a:rPr lang="en-US" sz="2400" dirty="0">
                <a:latin typeface="Times New Roman" panose="02020603050405020304" pitchFamily="18" charset="0"/>
                <a:cs typeface="Times New Roman" panose="02020603050405020304" pitchFamily="18" charset="0"/>
              </a:rPr>
              <a:t>turn is waiting for the first process to release the resources</a:t>
            </a:r>
            <a:r>
              <a:rPr lang="en-US" sz="2400" dirty="0" smtClean="0">
                <a:latin typeface="Times New Roman" panose="02020603050405020304" pitchFamily="18" charset="0"/>
                <a:cs typeface="Times New Roman" panose="02020603050405020304" pitchFamily="18" charset="0"/>
              </a:rPr>
              <a:t>.</a:t>
            </a:r>
          </a:p>
          <a:p>
            <a:pPr algn="just">
              <a:lnSpc>
                <a:spcPct val="250000"/>
              </a:lnSpc>
            </a:pPr>
            <a:endParaRPr lang="en-IN" sz="2400" dirty="0">
              <a:latin typeface="Times New Roman" panose="02020603050405020304" pitchFamily="18" charset="0"/>
              <a:cs typeface="Times New Roman" panose="02020603050405020304" pitchFamily="18" charset="0"/>
            </a:endParaRPr>
          </a:p>
        </p:txBody>
      </p:sp>
      <p:grpSp>
        <p:nvGrpSpPr>
          <p:cNvPr id="13" name="Group 12"/>
          <p:cNvGrpSpPr/>
          <p:nvPr/>
        </p:nvGrpSpPr>
        <p:grpSpPr>
          <a:xfrm>
            <a:off x="4274950" y="4336027"/>
            <a:ext cx="3118907" cy="468016"/>
            <a:chOff x="1708731" y="4670323"/>
            <a:chExt cx="3118907" cy="468016"/>
          </a:xfrm>
        </p:grpSpPr>
        <p:sp>
          <p:nvSpPr>
            <p:cNvPr id="4" name="TextBox 3"/>
            <p:cNvSpPr txBox="1"/>
            <p:nvPr/>
          </p:nvSpPr>
          <p:spPr>
            <a:xfrm flipH="1">
              <a:off x="1708731" y="4670323"/>
              <a:ext cx="778830" cy="461665"/>
            </a:xfrm>
            <a:prstGeom prst="rect">
              <a:avLst/>
            </a:prstGeom>
            <a:noFill/>
          </p:spPr>
          <p:txBody>
            <a:bodyPr wrap="square" rtlCol="0">
              <a:spAutoFit/>
            </a:bodyPr>
            <a:lstStyle/>
            <a:p>
              <a:r>
                <a:rPr lang="en-US" sz="2400" dirty="0" smtClean="0">
                  <a:latin typeface="Times New Roman" panose="02020603050405020304" pitchFamily="18" charset="0"/>
                  <a:cs typeface="Times New Roman" panose="02020603050405020304" pitchFamily="18" charset="0"/>
                </a:rPr>
                <a:t>P1</a:t>
              </a:r>
              <a:endParaRPr lang="en-IN" sz="2400" dirty="0">
                <a:latin typeface="Times New Roman" panose="02020603050405020304" pitchFamily="18" charset="0"/>
                <a:cs typeface="Times New Roman" panose="02020603050405020304" pitchFamily="18" charset="0"/>
              </a:endParaRPr>
            </a:p>
          </p:txBody>
        </p:sp>
        <p:sp>
          <p:nvSpPr>
            <p:cNvPr id="5" name="TextBox 4"/>
            <p:cNvSpPr txBox="1"/>
            <p:nvPr/>
          </p:nvSpPr>
          <p:spPr>
            <a:xfrm flipH="1">
              <a:off x="2878769" y="4670323"/>
              <a:ext cx="778830" cy="461665"/>
            </a:xfrm>
            <a:prstGeom prst="rect">
              <a:avLst/>
            </a:prstGeom>
            <a:noFill/>
          </p:spPr>
          <p:txBody>
            <a:bodyPr wrap="square" rtlCol="0">
              <a:spAutoFit/>
            </a:bodyPr>
            <a:lstStyle/>
            <a:p>
              <a:r>
                <a:rPr lang="en-US" sz="2400" dirty="0" smtClean="0">
                  <a:latin typeface="Times New Roman" panose="02020603050405020304" pitchFamily="18" charset="0"/>
                  <a:cs typeface="Times New Roman" panose="02020603050405020304" pitchFamily="18" charset="0"/>
                </a:rPr>
                <a:t>P2</a:t>
              </a:r>
              <a:endParaRPr lang="en-IN" sz="2400" dirty="0">
                <a:latin typeface="Times New Roman" panose="02020603050405020304" pitchFamily="18" charset="0"/>
                <a:cs typeface="Times New Roman" panose="02020603050405020304" pitchFamily="18" charset="0"/>
              </a:endParaRPr>
            </a:p>
          </p:txBody>
        </p:sp>
        <p:sp>
          <p:nvSpPr>
            <p:cNvPr id="6" name="TextBox 5"/>
            <p:cNvSpPr txBox="1"/>
            <p:nvPr/>
          </p:nvSpPr>
          <p:spPr>
            <a:xfrm flipH="1">
              <a:off x="4048808" y="4670323"/>
              <a:ext cx="778830" cy="461665"/>
            </a:xfrm>
            <a:prstGeom prst="rect">
              <a:avLst/>
            </a:prstGeom>
            <a:noFill/>
          </p:spPr>
          <p:txBody>
            <a:bodyPr wrap="square" rtlCol="0">
              <a:spAutoFit/>
            </a:bodyPr>
            <a:lstStyle/>
            <a:p>
              <a:r>
                <a:rPr lang="en-US" sz="2400" dirty="0" smtClean="0">
                  <a:latin typeface="Times New Roman" panose="02020603050405020304" pitchFamily="18" charset="0"/>
                  <a:cs typeface="Times New Roman" panose="02020603050405020304" pitchFamily="18" charset="0"/>
                </a:rPr>
                <a:t>P3</a:t>
              </a:r>
              <a:endParaRPr lang="en-IN" sz="2400" dirty="0">
                <a:latin typeface="Times New Roman" panose="02020603050405020304" pitchFamily="18" charset="0"/>
                <a:cs typeface="Times New Roman" panose="02020603050405020304" pitchFamily="18" charset="0"/>
              </a:endParaRPr>
            </a:p>
          </p:txBody>
        </p:sp>
        <p:cxnSp>
          <p:nvCxnSpPr>
            <p:cNvPr id="8" name="Straight Arrow Connector 7"/>
            <p:cNvCxnSpPr>
              <a:endCxn id="5" idx="3"/>
            </p:cNvCxnSpPr>
            <p:nvPr/>
          </p:nvCxnSpPr>
          <p:spPr>
            <a:xfrm>
              <a:off x="2212258" y="4901155"/>
              <a:ext cx="66651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3382296" y="4901154"/>
              <a:ext cx="66651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Elbow Connector 11"/>
            <p:cNvCxnSpPr>
              <a:stCxn id="6" idx="2"/>
              <a:endCxn id="4" idx="2"/>
            </p:cNvCxnSpPr>
            <p:nvPr/>
          </p:nvCxnSpPr>
          <p:spPr>
            <a:xfrm rot="5400000">
              <a:off x="3268185" y="3961950"/>
              <a:ext cx="12700" cy="2340077"/>
            </a:xfrm>
            <a:prstGeom prst="bentConnector3">
              <a:avLst>
                <a:gd name="adj1" fmla="val 1800000"/>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29253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7808"/>
            <a:ext cx="10515600" cy="785249"/>
          </a:xfrm>
        </p:spPr>
        <p:txBody>
          <a:bodyPr>
            <a:normAutofit/>
          </a:bodyPr>
          <a:lstStyle/>
          <a:p>
            <a:pPr algn="ctr"/>
            <a:r>
              <a:rPr lang="en-US" sz="3600" dirty="0" smtClean="0">
                <a:latin typeface="Times New Roman" panose="02020603050405020304" pitchFamily="18" charset="0"/>
                <a:cs typeface="Times New Roman" panose="02020603050405020304" pitchFamily="18" charset="0"/>
              </a:rPr>
              <a:t>Deadlock handling Methods</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27355"/>
            <a:ext cx="10515600" cy="4849608"/>
          </a:xfrm>
        </p:spPr>
        <p:txBody>
          <a:bodyPr>
            <a:normAutofit/>
          </a:bodyPr>
          <a:lstStyle/>
          <a:p>
            <a:pPr algn="just">
              <a:lnSpc>
                <a:spcPct val="150000"/>
              </a:lnSpc>
              <a:buFont typeface="Wingdings" panose="05000000000000000000" pitchFamily="2" charset="2"/>
              <a:buChar char="Ø"/>
            </a:pPr>
            <a:r>
              <a:rPr lang="en-US" sz="2400" dirty="0" smtClean="0">
                <a:solidFill>
                  <a:srgbClr val="FF0000"/>
                </a:solidFill>
                <a:latin typeface="Times New Roman" panose="02020603050405020304" pitchFamily="18" charset="0"/>
                <a:cs typeface="Times New Roman" panose="02020603050405020304" pitchFamily="18" charset="0"/>
              </a:rPr>
              <a:t>Prevention:</a:t>
            </a:r>
            <a:r>
              <a:rPr lang="en-US" sz="2400" dirty="0" smtClean="0">
                <a:latin typeface="Times New Roman" panose="02020603050405020304" pitchFamily="18" charset="0"/>
                <a:cs typeface="Times New Roman" panose="02020603050405020304" pitchFamily="18" charset="0"/>
              </a:rPr>
              <a:t> Means design such a system which violate at least one of four necessary conditions of deadlock and ensure independence from deadlock.</a:t>
            </a:r>
          </a:p>
          <a:p>
            <a:pPr algn="just">
              <a:lnSpc>
                <a:spcPct val="150000"/>
              </a:lnSpc>
              <a:buFont typeface="Wingdings" panose="05000000000000000000" pitchFamily="2" charset="2"/>
              <a:buChar char="Ø"/>
            </a:pPr>
            <a:r>
              <a:rPr lang="en-US" sz="2400" dirty="0" smtClean="0">
                <a:solidFill>
                  <a:srgbClr val="FF0000"/>
                </a:solidFill>
                <a:latin typeface="Times New Roman" panose="02020603050405020304" pitchFamily="18" charset="0"/>
                <a:cs typeface="Times New Roman" panose="02020603050405020304" pitchFamily="18" charset="0"/>
              </a:rPr>
              <a:t>Avoidance: </a:t>
            </a:r>
            <a:r>
              <a:rPr lang="en-US" sz="2400" dirty="0" smtClean="0">
                <a:latin typeface="Times New Roman" panose="02020603050405020304" pitchFamily="18" charset="0"/>
                <a:cs typeface="Times New Roman" panose="02020603050405020304" pitchFamily="18" charset="0"/>
              </a:rPr>
              <a:t>system maintains a set of data using which it takes a decision weather to entertain a new request or not, to be in safe state.</a:t>
            </a:r>
          </a:p>
          <a:p>
            <a:pPr algn="just">
              <a:lnSpc>
                <a:spcPct val="150000"/>
              </a:lnSpc>
              <a:buFont typeface="Wingdings" panose="05000000000000000000" pitchFamily="2" charset="2"/>
              <a:buChar char="Ø"/>
            </a:pPr>
            <a:r>
              <a:rPr lang="en-US" sz="2400" dirty="0" smtClean="0">
                <a:solidFill>
                  <a:srgbClr val="FF0000"/>
                </a:solidFill>
                <a:latin typeface="Times New Roman" panose="02020603050405020304" pitchFamily="18" charset="0"/>
                <a:cs typeface="Times New Roman" panose="02020603050405020304" pitchFamily="18" charset="0"/>
              </a:rPr>
              <a:t>Detection and recovery:</a:t>
            </a:r>
            <a:r>
              <a:rPr lang="en-US" sz="2400" dirty="0" smtClean="0">
                <a:latin typeface="Times New Roman" panose="02020603050405020304" pitchFamily="18" charset="0"/>
                <a:cs typeface="Times New Roman" panose="02020603050405020304" pitchFamily="18" charset="0"/>
              </a:rPr>
              <a:t> Here we wait until deadlock occurs and once we detect it then recover from it.</a:t>
            </a:r>
          </a:p>
          <a:p>
            <a:pPr algn="just">
              <a:lnSpc>
                <a:spcPct val="150000"/>
              </a:lnSpc>
              <a:buFont typeface="Wingdings" panose="05000000000000000000" pitchFamily="2" charset="2"/>
              <a:buChar char="Ø"/>
            </a:pPr>
            <a:r>
              <a:rPr lang="en-US" sz="2400" dirty="0" smtClean="0">
                <a:solidFill>
                  <a:srgbClr val="FF0000"/>
                </a:solidFill>
                <a:latin typeface="Times New Roman" panose="02020603050405020304" pitchFamily="18" charset="0"/>
                <a:cs typeface="Times New Roman" panose="02020603050405020304" pitchFamily="18" charset="0"/>
              </a:rPr>
              <a:t>Ignorance:</a:t>
            </a:r>
            <a:r>
              <a:rPr lang="en-US" sz="2400" dirty="0" smtClean="0">
                <a:latin typeface="Times New Roman" panose="02020603050405020304" pitchFamily="18" charset="0"/>
                <a:cs typeface="Times New Roman" panose="02020603050405020304" pitchFamily="18" charset="0"/>
              </a:rPr>
              <a:t> we ignore the problem as if it does not exist.</a:t>
            </a:r>
          </a:p>
          <a:p>
            <a:endParaRPr lang="en-IN" dirty="0"/>
          </a:p>
        </p:txBody>
      </p:sp>
    </p:spTree>
    <p:extLst>
      <p:ext uri="{BB962C8B-B14F-4D97-AF65-F5344CB8AC3E}">
        <p14:creationId xmlns:p14="http://schemas.microsoft.com/office/powerpoint/2010/main" val="2562514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8269"/>
          </a:xfrm>
        </p:spPr>
        <p:txBody>
          <a:bodyPr>
            <a:normAutofit/>
          </a:bodyPr>
          <a:lstStyle/>
          <a:p>
            <a:pPr algn="ctr"/>
            <a:r>
              <a:rPr lang="en-US" sz="3600" dirty="0" smtClean="0">
                <a:latin typeface="Times New Roman" panose="02020603050405020304" pitchFamily="18" charset="0"/>
                <a:cs typeface="Times New Roman" panose="02020603050405020304" pitchFamily="18" charset="0"/>
              </a:rPr>
              <a:t>Deadlock Prevention</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68361"/>
            <a:ext cx="10515600" cy="5083278"/>
          </a:xfrm>
        </p:spPr>
        <p:txBody>
          <a:bodyPr>
            <a:normAutofit fontScale="92500" lnSpcReduction="10000"/>
          </a:bodyPr>
          <a:lstStyle/>
          <a:p>
            <a:pPr algn="just">
              <a:lnSpc>
                <a:spcPct val="150000"/>
              </a:lnSpc>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This guarantees that there is no deadlock</a:t>
            </a:r>
            <a:r>
              <a:rPr lang="en-US" sz="2400" dirty="0" smtClean="0">
                <a:latin typeface="Times New Roman" panose="02020603050405020304" pitchFamily="18" charset="0"/>
                <a:cs typeface="Times New Roman" panose="02020603050405020304" pitchFamily="18" charset="0"/>
              </a:rPr>
              <a:t>.</a:t>
            </a:r>
          </a:p>
          <a:p>
            <a:pPr algn="just">
              <a:lnSpc>
                <a:spcPct val="150000"/>
              </a:lnSpc>
              <a:buFont typeface="Wingdings" panose="05000000000000000000" pitchFamily="2" charset="2"/>
              <a:buChar char="v"/>
            </a:pPr>
            <a:r>
              <a:rPr lang="en-US" sz="2400" dirty="0" smtClean="0">
                <a:latin typeface="Times New Roman" panose="02020603050405020304" pitchFamily="18" charset="0"/>
                <a:cs typeface="Times New Roman" panose="02020603050405020304" pitchFamily="18" charset="0"/>
              </a:rPr>
              <a:t>Prevention method </a:t>
            </a:r>
            <a:r>
              <a:rPr lang="en-US" sz="2400" dirty="0">
                <a:latin typeface="Times New Roman" panose="02020603050405020304" pitchFamily="18" charset="0"/>
                <a:cs typeface="Times New Roman" panose="02020603050405020304" pitchFamily="18" charset="0"/>
              </a:rPr>
              <a:t>cannot </a:t>
            </a:r>
            <a:r>
              <a:rPr lang="en-US" sz="2400" dirty="0">
                <a:solidFill>
                  <a:srgbClr val="FF0000"/>
                </a:solidFill>
                <a:latin typeface="Times New Roman" panose="02020603050405020304" pitchFamily="18" charset="0"/>
                <a:cs typeface="Times New Roman" panose="02020603050405020304" pitchFamily="18" charset="0"/>
              </a:rPr>
              <a:t>violate the mutual exclusion </a:t>
            </a:r>
            <a:r>
              <a:rPr lang="en-US" sz="2400" dirty="0">
                <a:latin typeface="Times New Roman" panose="02020603050405020304" pitchFamily="18" charset="0"/>
                <a:cs typeface="Times New Roman" panose="02020603050405020304" pitchFamily="18" charset="0"/>
              </a:rPr>
              <a:t>condition</a:t>
            </a:r>
            <a:r>
              <a:rPr lang="en-US" sz="2400" dirty="0" smtClean="0">
                <a:latin typeface="Times New Roman" panose="02020603050405020304" pitchFamily="18" charset="0"/>
                <a:cs typeface="Times New Roman" panose="02020603050405020304" pitchFamily="18" charset="0"/>
              </a:rPr>
              <a:t>.</a:t>
            </a:r>
          </a:p>
          <a:p>
            <a:pPr algn="ctr">
              <a:lnSpc>
                <a:spcPct val="150000"/>
              </a:lnSpc>
              <a:buFont typeface="Wingdings" panose="05000000000000000000" pitchFamily="2" charset="2"/>
              <a:buChar char="q"/>
            </a:pPr>
            <a:r>
              <a:rPr lang="en-US" sz="2600" b="1" dirty="0" smtClean="0">
                <a:solidFill>
                  <a:srgbClr val="7030A0"/>
                </a:solidFill>
                <a:latin typeface="Times New Roman" panose="02020603050405020304" pitchFamily="18" charset="0"/>
                <a:cs typeface="Times New Roman" panose="02020603050405020304" pitchFamily="18" charset="0"/>
              </a:rPr>
              <a:t> Violate Hold and wait</a:t>
            </a:r>
            <a:endParaRPr lang="en-IN" sz="2600" b="1" dirty="0" smtClean="0">
              <a:solidFill>
                <a:srgbClr val="7030A0"/>
              </a:solidFill>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Conservative approach: Process is allowed to start execution if and only if it has acquired all the resources.</a:t>
            </a: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(Less efficient, not implementable, easy, deadlock independence)</a:t>
            </a:r>
          </a:p>
          <a:p>
            <a:pPr algn="just">
              <a:lnSpc>
                <a:spcPct val="150000"/>
              </a:lnSpc>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Do not hold: Process will acquire only desired resources, but before making any fresh request it must release all the resources that it currently hold. (Efficient, implementable)</a:t>
            </a:r>
          </a:p>
          <a:p>
            <a:pPr algn="just">
              <a:lnSpc>
                <a:spcPct val="150000"/>
              </a:lnSpc>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Wait timeouts: we place a maximum time </a:t>
            </a:r>
            <a:r>
              <a:rPr lang="en-US" sz="2400" dirty="0" err="1" smtClean="0">
                <a:latin typeface="Times New Roman" panose="02020603050405020304" pitchFamily="18" charset="0"/>
                <a:cs typeface="Times New Roman" panose="02020603050405020304" pitchFamily="18" charset="0"/>
              </a:rPr>
              <a:t>upto</a:t>
            </a:r>
            <a:r>
              <a:rPr lang="en-US" sz="2400" dirty="0" smtClean="0">
                <a:latin typeface="Times New Roman" panose="02020603050405020304" pitchFamily="18" charset="0"/>
                <a:cs typeface="Times New Roman" panose="02020603050405020304" pitchFamily="18" charset="0"/>
              </a:rPr>
              <a:t> which a process can wait. After which process must release all the holding resources &amp; exit.</a:t>
            </a:r>
          </a:p>
        </p:txBody>
      </p:sp>
    </p:spTree>
    <p:extLst>
      <p:ext uri="{BB962C8B-B14F-4D97-AF65-F5344CB8AC3E}">
        <p14:creationId xmlns:p14="http://schemas.microsoft.com/office/powerpoint/2010/main" val="858175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591"/>
          </a:xfrm>
        </p:spPr>
        <p:txBody>
          <a:bodyPr>
            <a:normAutofit/>
          </a:bodyPr>
          <a:lstStyle/>
          <a:p>
            <a:pPr algn="ctr"/>
            <a:r>
              <a:rPr lang="en-US" sz="3600" dirty="0">
                <a:latin typeface="Times New Roman" panose="02020603050405020304" pitchFamily="18" charset="0"/>
                <a:cs typeface="Times New Roman" panose="02020603050405020304" pitchFamily="18" charset="0"/>
              </a:rPr>
              <a:t>Deadlock Prevention</a:t>
            </a:r>
            <a:endParaRPr lang="en-IN" sz="3600" dirty="0"/>
          </a:p>
        </p:txBody>
      </p:sp>
      <p:sp>
        <p:nvSpPr>
          <p:cNvPr id="3" name="Content Placeholder 2"/>
          <p:cNvSpPr>
            <a:spLocks noGrp="1"/>
          </p:cNvSpPr>
          <p:nvPr>
            <p:ph idx="1"/>
          </p:nvPr>
        </p:nvSpPr>
        <p:spPr>
          <a:xfrm>
            <a:off x="658761" y="1071716"/>
            <a:ext cx="11031793" cy="5105247"/>
          </a:xfrm>
        </p:spPr>
        <p:txBody>
          <a:bodyPr/>
          <a:lstStyle/>
          <a:p>
            <a:r>
              <a:rPr lang="en-US" b="1" dirty="0" smtClean="0">
                <a:solidFill>
                  <a:srgbClr val="7030A0"/>
                </a:solidFill>
                <a:latin typeface="Times New Roman" panose="02020603050405020304" pitchFamily="18" charset="0"/>
                <a:cs typeface="Times New Roman" panose="02020603050405020304" pitchFamily="18" charset="0"/>
              </a:rPr>
              <a:t>Violate No- Preemption</a:t>
            </a:r>
          </a:p>
          <a:p>
            <a:pPr algn="just">
              <a:lnSpc>
                <a:spcPct val="150000"/>
              </a:lnSpc>
              <a:buFont typeface="Wingdings" panose="05000000000000000000" pitchFamily="2" charset="2"/>
              <a:buChar char="Ø"/>
            </a:pPr>
            <a:r>
              <a:rPr lang="en-US" sz="2400" dirty="0" smtClean="0">
                <a:solidFill>
                  <a:srgbClr val="FF0000"/>
                </a:solidFill>
                <a:latin typeface="Times New Roman" panose="02020603050405020304" pitchFamily="18" charset="0"/>
                <a:cs typeface="Times New Roman" panose="02020603050405020304" pitchFamily="18" charset="0"/>
              </a:rPr>
              <a:t>Forcefully preemption:</a:t>
            </a:r>
            <a:r>
              <a:rPr lang="en-US" sz="2400" dirty="0" smtClean="0">
                <a:latin typeface="Times New Roman" panose="02020603050405020304" pitchFamily="18" charset="0"/>
                <a:cs typeface="Times New Roman" panose="02020603050405020304" pitchFamily="18" charset="0"/>
              </a:rPr>
              <a:t> we allow a process to forcefully preempt the resources holding by other process.</a:t>
            </a:r>
          </a:p>
          <a:p>
            <a:pPr algn="just">
              <a:lnSpc>
                <a:spcPct val="150000"/>
              </a:lnSpc>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This method may be used by high priority process or system process.</a:t>
            </a:r>
          </a:p>
          <a:p>
            <a:pPr algn="just">
              <a:lnSpc>
                <a:spcPct val="150000"/>
              </a:lnSpc>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The process which are in waiting state must be selected as a victim instead of process in the running state.</a:t>
            </a:r>
            <a:endParaRPr lang="en-IN" sz="24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498494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93404"/>
          </a:xfrm>
        </p:spPr>
        <p:txBody>
          <a:bodyPr>
            <a:normAutofit/>
          </a:bodyPr>
          <a:lstStyle/>
          <a:p>
            <a:pPr algn="ctr"/>
            <a:r>
              <a:rPr lang="en-US" sz="3600" dirty="0">
                <a:latin typeface="Times New Roman" panose="02020603050405020304" pitchFamily="18" charset="0"/>
                <a:cs typeface="Times New Roman" panose="02020603050405020304" pitchFamily="18" charset="0"/>
              </a:rPr>
              <a:t>Deadlock Prevention</a:t>
            </a:r>
            <a:endParaRPr lang="en-IN" sz="3600" dirty="0"/>
          </a:p>
        </p:txBody>
      </p:sp>
      <p:sp>
        <p:nvSpPr>
          <p:cNvPr id="3" name="Content Placeholder 2"/>
          <p:cNvSpPr>
            <a:spLocks noGrp="1"/>
          </p:cNvSpPr>
          <p:nvPr>
            <p:ph idx="1"/>
          </p:nvPr>
        </p:nvSpPr>
        <p:spPr/>
        <p:txBody>
          <a:bodyPr/>
          <a:lstStyle/>
          <a:p>
            <a:r>
              <a:rPr lang="en-US" b="1" dirty="0">
                <a:solidFill>
                  <a:srgbClr val="7030A0"/>
                </a:solidFill>
                <a:latin typeface="Times New Roman" panose="02020603050405020304" pitchFamily="18" charset="0"/>
                <a:cs typeface="Times New Roman" panose="02020603050405020304" pitchFamily="18" charset="0"/>
              </a:rPr>
              <a:t>Violate </a:t>
            </a:r>
            <a:r>
              <a:rPr lang="en-US" b="1" dirty="0" smtClean="0">
                <a:solidFill>
                  <a:srgbClr val="7030A0"/>
                </a:solidFill>
                <a:latin typeface="Times New Roman" panose="02020603050405020304" pitchFamily="18" charset="0"/>
                <a:cs typeface="Times New Roman" panose="02020603050405020304" pitchFamily="18" charset="0"/>
              </a:rPr>
              <a:t>circular wait</a:t>
            </a:r>
          </a:p>
          <a:p>
            <a:pPr algn="just">
              <a:lnSpc>
                <a:spcPct val="150000"/>
              </a:lnSpc>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Circular wait can be eliminated by first giving a natural number of every resource</a:t>
            </a:r>
          </a:p>
          <a:p>
            <a:pPr marL="0" indent="0" algn="ctr">
              <a:lnSpc>
                <a:spcPct val="150000"/>
              </a:lnSpc>
              <a:buNone/>
            </a:pPr>
            <a:r>
              <a:rPr lang="en-US" sz="2400" dirty="0" smtClean="0">
                <a:latin typeface="Times New Roman" panose="02020603050405020304" pitchFamily="18" charset="0"/>
                <a:cs typeface="Times New Roman" panose="02020603050405020304" pitchFamily="18" charset="0"/>
              </a:rPr>
              <a:t>F : N</a:t>
            </a:r>
            <a:r>
              <a:rPr lang="en-US" sz="2400" dirty="0" smtClean="0">
                <a:latin typeface="Times New Roman" panose="02020603050405020304" pitchFamily="18" charset="0"/>
                <a:cs typeface="Times New Roman" panose="02020603050405020304" pitchFamily="18" charset="0"/>
                <a:sym typeface="Wingdings" panose="05000000000000000000" pitchFamily="2" charset="2"/>
              </a:rPr>
              <a:t> R</a:t>
            </a:r>
          </a:p>
          <a:p>
            <a:pPr algn="just">
              <a:lnSpc>
                <a:spcPct val="150000"/>
              </a:lnSpc>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sym typeface="Wingdings" panose="05000000000000000000" pitchFamily="2" charset="2"/>
              </a:rPr>
              <a:t>Allow every process to either only in the increasing or decreasing order of the resource number.</a:t>
            </a:r>
          </a:p>
          <a:p>
            <a:pPr algn="just">
              <a:lnSpc>
                <a:spcPct val="150000"/>
              </a:lnSpc>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sym typeface="Wingdings" panose="05000000000000000000" pitchFamily="2" charset="2"/>
              </a:rPr>
              <a:t>If a process require a lesser number (in any of increasing order), then it must first release all the resources larger than required number. </a:t>
            </a:r>
            <a:endParaRPr lang="en-US" sz="24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5239358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83572"/>
          </a:xfrm>
        </p:spPr>
        <p:txBody>
          <a:bodyPr>
            <a:normAutofit/>
          </a:bodyPr>
          <a:lstStyle/>
          <a:p>
            <a:pPr algn="ctr"/>
            <a:r>
              <a:rPr lang="en-US" sz="3600" dirty="0" smtClean="0">
                <a:solidFill>
                  <a:srgbClr val="FF0000"/>
                </a:solidFill>
                <a:latin typeface="Times New Roman" panose="02020603050405020304" pitchFamily="18" charset="0"/>
                <a:cs typeface="Times New Roman" panose="02020603050405020304" pitchFamily="18" charset="0"/>
              </a:rPr>
              <a:t>Deadlock Avoidance</a:t>
            </a:r>
            <a:endParaRPr lang="en-IN" sz="36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73626" y="1690688"/>
            <a:ext cx="11434916" cy="4486275"/>
          </a:xfrm>
        </p:spPr>
        <p:txBody>
          <a:bodyPr>
            <a:normAutofit/>
          </a:bodyPr>
          <a:lstStyle/>
          <a:p>
            <a:pPr algn="just">
              <a:lnSpc>
                <a:spcPct val="150000"/>
              </a:lnSpc>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A deadlock avoidance algorithm dynamically examines the resource allocation state.</a:t>
            </a:r>
          </a:p>
          <a:p>
            <a:pPr algn="just">
              <a:lnSpc>
                <a:spcPct val="150000"/>
              </a:lnSpc>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The resource allocation state is defined by the number of available and allocated resources and the maximum demands of the processes before allowing that request first.</a:t>
            </a:r>
          </a:p>
          <a:p>
            <a:pPr algn="just">
              <a:lnSpc>
                <a:spcPct val="150000"/>
              </a:lnSpc>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We check, if there exist “ some sequence in which we can satisfies demand of every process without going into deadlock, if yes the sequence is called safe sequence” and request can be allowed. Otherwise there is a possibility of going into deadlock.</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14693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24578"/>
          </a:xfrm>
        </p:spPr>
        <p:txBody>
          <a:bodyPr>
            <a:normAutofit fontScale="90000"/>
          </a:bodyPr>
          <a:lstStyle/>
          <a:p>
            <a:pPr algn="ctr"/>
            <a:r>
              <a:rPr lang="en-IN" sz="3600" b="1" dirty="0">
                <a:latin typeface="Times New Roman" panose="02020603050405020304" pitchFamily="18" charset="0"/>
                <a:cs typeface="Times New Roman" panose="02020603050405020304" pitchFamily="18" charset="0"/>
              </a:rPr>
              <a:t>Banker’s Algorithm </a:t>
            </a:r>
            <a:br>
              <a:rPr lang="en-IN" sz="3600" b="1" dirty="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34298" y="1189704"/>
            <a:ext cx="3741020" cy="4987259"/>
          </a:xfrm>
        </p:spPr>
        <p:txBody>
          <a:bodyPr/>
          <a:lstStyle/>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banker’s algorithm is a resource allocation and deadlock avoidance algorithm that tests </a:t>
            </a:r>
            <a:r>
              <a:rPr lang="en-US" sz="2400" dirty="0" smtClean="0">
                <a:latin typeface="Times New Roman" panose="02020603050405020304" pitchFamily="18" charset="0"/>
                <a:cs typeface="Times New Roman" panose="02020603050405020304" pitchFamily="18" charset="0"/>
              </a:rPr>
              <a:t>for safety.</a:t>
            </a:r>
          </a:p>
          <a:p>
            <a:pPr marL="0" indent="0" algn="just">
              <a:buNone/>
            </a:pPr>
            <a:endParaRPr lang="en-US" sz="24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algorithm for finding out whether or not a system is in a safe </a:t>
            </a:r>
            <a:r>
              <a:rPr lang="en-US" sz="2400" dirty="0" smtClean="0">
                <a:latin typeface="Times New Roman" panose="02020603050405020304" pitchFamily="18" charset="0"/>
                <a:cs typeface="Times New Roman" panose="02020603050405020304" pitchFamily="18" charset="0"/>
              </a:rPr>
              <a:t>state.</a:t>
            </a:r>
          </a:p>
          <a:p>
            <a:endParaRPr lang="en-IN" dirty="0"/>
          </a:p>
        </p:txBody>
      </p:sp>
      <p:pic>
        <p:nvPicPr>
          <p:cNvPr id="4" name="Picture 3"/>
          <p:cNvPicPr>
            <a:picLocks noChangeAspect="1"/>
          </p:cNvPicPr>
          <p:nvPr/>
        </p:nvPicPr>
        <p:blipFill>
          <a:blip r:embed="rId2"/>
          <a:stretch>
            <a:fillRect/>
          </a:stretch>
        </p:blipFill>
        <p:spPr>
          <a:xfrm>
            <a:off x="4075317" y="1130633"/>
            <a:ext cx="7915275" cy="5105400"/>
          </a:xfrm>
          <a:prstGeom prst="rect">
            <a:avLst/>
          </a:prstGeom>
        </p:spPr>
      </p:pic>
    </p:spTree>
    <p:extLst>
      <p:ext uri="{BB962C8B-B14F-4D97-AF65-F5344CB8AC3E}">
        <p14:creationId xmlns:p14="http://schemas.microsoft.com/office/powerpoint/2010/main" val="3144171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591"/>
          </a:xfrm>
        </p:spPr>
        <p:txBody>
          <a:bodyPr>
            <a:normAutofit/>
          </a:bodyPr>
          <a:lstStyle/>
          <a:p>
            <a:pPr algn="ctr"/>
            <a:r>
              <a:rPr lang="en-IN" sz="3600" b="1" dirty="0">
                <a:latin typeface="Times New Roman" panose="02020603050405020304" pitchFamily="18" charset="0"/>
                <a:cs typeface="Times New Roman" panose="02020603050405020304" pitchFamily="18" charset="0"/>
              </a:rPr>
              <a:t>Resource-Request Algorithm</a:t>
            </a:r>
            <a:endParaRPr lang="en-IN" sz="36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2252662" y="1375440"/>
            <a:ext cx="7686675" cy="5267325"/>
          </a:xfrm>
          <a:prstGeom prst="rect">
            <a:avLst/>
          </a:prstGeom>
        </p:spPr>
      </p:pic>
    </p:spTree>
    <p:extLst>
      <p:ext uri="{BB962C8B-B14F-4D97-AF65-F5344CB8AC3E}">
        <p14:creationId xmlns:p14="http://schemas.microsoft.com/office/powerpoint/2010/main" val="32374274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just"/>
            <a:r>
              <a:rPr lang="en-US" sz="2000" dirty="0">
                <a:latin typeface="Times New Roman" panose="02020603050405020304" pitchFamily="18" charset="0"/>
                <a:cs typeface="Times New Roman" panose="02020603050405020304" pitchFamily="18" charset="0"/>
              </a:rPr>
              <a:t>Considering a system with five </a:t>
            </a:r>
            <a:r>
              <a:rPr lang="en-US" sz="2000" dirty="0" smtClean="0">
                <a:latin typeface="Times New Roman" panose="02020603050405020304" pitchFamily="18" charset="0"/>
                <a:cs typeface="Times New Roman" panose="02020603050405020304" pitchFamily="18" charset="0"/>
              </a:rPr>
              <a:t>processes </a:t>
            </a:r>
            <a:r>
              <a:rPr lang="en-US" sz="2000" dirty="0">
                <a:latin typeface="Times New Roman" panose="02020603050405020304" pitchFamily="18" charset="0"/>
                <a:cs typeface="Times New Roman" panose="02020603050405020304" pitchFamily="18" charset="0"/>
              </a:rPr>
              <a:t>P</a:t>
            </a:r>
            <a:r>
              <a:rPr lang="en-US" sz="2000" baseline="-25000" dirty="0">
                <a:latin typeface="Times New Roman" panose="02020603050405020304" pitchFamily="18" charset="0"/>
                <a:cs typeface="Times New Roman" panose="02020603050405020304" pitchFamily="18" charset="0"/>
              </a:rPr>
              <a:t>0</a:t>
            </a:r>
            <a:r>
              <a:rPr lang="en-US" sz="2000" dirty="0">
                <a:latin typeface="Times New Roman" panose="02020603050405020304" pitchFamily="18" charset="0"/>
                <a:cs typeface="Times New Roman" panose="02020603050405020304" pitchFamily="18" charset="0"/>
              </a:rPr>
              <a:t> through P</a:t>
            </a:r>
            <a:r>
              <a:rPr lang="en-US" sz="2000" baseline="-25000" dirty="0">
                <a:latin typeface="Times New Roman" panose="02020603050405020304" pitchFamily="18" charset="0"/>
                <a:cs typeface="Times New Roman" panose="02020603050405020304" pitchFamily="18" charset="0"/>
              </a:rPr>
              <a:t>4</a:t>
            </a:r>
            <a:r>
              <a:rPr lang="en-US" sz="2000" dirty="0">
                <a:latin typeface="Times New Roman" panose="02020603050405020304" pitchFamily="18" charset="0"/>
                <a:cs typeface="Times New Roman" panose="02020603050405020304" pitchFamily="18" charset="0"/>
              </a:rPr>
              <a:t> and three resources of type A, B, C. Resource type A has 10 instances, B has 5 instances and type C has 7 instances. Suppose at time t</a:t>
            </a:r>
            <a:r>
              <a:rPr lang="en-US" sz="2000" baseline="-25000" dirty="0">
                <a:latin typeface="Times New Roman" panose="02020603050405020304" pitchFamily="18" charset="0"/>
                <a:cs typeface="Times New Roman" panose="02020603050405020304" pitchFamily="18" charset="0"/>
              </a:rPr>
              <a:t>0</a:t>
            </a:r>
            <a:r>
              <a:rPr lang="en-US" sz="2000" dirty="0">
                <a:latin typeface="Times New Roman" panose="02020603050405020304" pitchFamily="18" charset="0"/>
                <a:cs typeface="Times New Roman" panose="02020603050405020304" pitchFamily="18" charset="0"/>
              </a:rPr>
              <a:t> following snapshot of the system has been taken</a:t>
            </a:r>
            <a:r>
              <a:rPr lang="en-US" sz="2000" dirty="0" smtClean="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2116" y="1592825"/>
            <a:ext cx="6358097" cy="3171229"/>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6542" y="1690689"/>
            <a:ext cx="4031226" cy="3073366"/>
          </a:xfrm>
          <a:prstGeom prst="rect">
            <a:avLst/>
          </a:prstGeom>
        </p:spPr>
      </p:pic>
    </p:spTree>
    <p:extLst>
      <p:ext uri="{BB962C8B-B14F-4D97-AF65-F5344CB8AC3E}">
        <p14:creationId xmlns:p14="http://schemas.microsoft.com/office/powerpoint/2010/main" val="40454806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38200" y="835742"/>
            <a:ext cx="10252587" cy="5341221"/>
          </a:xfrm>
          <a:prstGeom prst="rect">
            <a:avLst/>
          </a:prstGeom>
        </p:spPr>
      </p:pic>
      <p:sp>
        <p:nvSpPr>
          <p:cNvPr id="5" name="Rectangle 4"/>
          <p:cNvSpPr/>
          <p:nvPr/>
        </p:nvSpPr>
        <p:spPr>
          <a:xfrm>
            <a:off x="2684207" y="183958"/>
            <a:ext cx="10520515" cy="923330"/>
          </a:xfrm>
          <a:prstGeom prst="rect">
            <a:avLst/>
          </a:prstGeom>
        </p:spPr>
        <p:txBody>
          <a:bodyPr wrap="square">
            <a:spAutoFit/>
          </a:bodyPr>
          <a:lstStyle/>
          <a:p>
            <a:r>
              <a:rPr lang="en-US" b="1" dirty="0"/>
              <a:t>Is the system in a safe state? If Yes, then what is the safe sequence?</a:t>
            </a:r>
            <a:r>
              <a:rPr lang="en-US" dirty="0"/>
              <a:t/>
            </a:r>
            <a:br>
              <a:rPr lang="en-US" dirty="0"/>
            </a:br>
            <a:r>
              <a:rPr lang="en-US" dirty="0"/>
              <a:t>Applying the Safety algorithm on the given system,</a:t>
            </a:r>
            <a:br>
              <a:rPr lang="en-US" dirty="0"/>
            </a:br>
            <a:r>
              <a:rPr lang="en-US" dirty="0"/>
              <a:t> </a:t>
            </a:r>
            <a:endParaRPr lang="en-IN" dirty="0"/>
          </a:p>
        </p:txBody>
      </p:sp>
    </p:spTree>
    <p:extLst>
      <p:ext uri="{BB962C8B-B14F-4D97-AF65-F5344CB8AC3E}">
        <p14:creationId xmlns:p14="http://schemas.microsoft.com/office/powerpoint/2010/main" val="17320120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11623"/>
          </a:xfrm>
        </p:spPr>
        <p:txBody>
          <a:bodyPr>
            <a:noAutofit/>
          </a:bodyPr>
          <a:lstStyle/>
          <a:p>
            <a:pPr algn="just"/>
            <a:r>
              <a:rPr lang="en-US" sz="2400" dirty="0">
                <a:latin typeface="Times New Roman" panose="02020603050405020304" pitchFamily="18" charset="0"/>
                <a:cs typeface="Times New Roman" panose="02020603050405020304" pitchFamily="18" charset="0"/>
              </a:rPr>
              <a:t>What will happen if process P</a:t>
            </a:r>
            <a:r>
              <a:rPr lang="en-US" sz="2400" baseline="-25000" dirty="0">
                <a:latin typeface="Times New Roman" panose="02020603050405020304" pitchFamily="18" charset="0"/>
                <a:cs typeface="Times New Roman" panose="02020603050405020304" pitchFamily="18" charset="0"/>
              </a:rPr>
              <a:t>1 </a:t>
            </a:r>
            <a:r>
              <a:rPr lang="en-US" sz="2400" dirty="0">
                <a:latin typeface="Times New Roman" panose="02020603050405020304" pitchFamily="18" charset="0"/>
                <a:cs typeface="Times New Roman" panose="02020603050405020304" pitchFamily="18" charset="0"/>
              </a:rPr>
              <a:t>requests one additional instance of resource type A and two instances of resource type C?</a:t>
            </a:r>
            <a:endParaRPr lang="en-IN" sz="2400"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stretch>
            <a:fillRect/>
          </a:stretch>
        </p:blipFill>
        <p:spPr>
          <a:xfrm>
            <a:off x="1140542" y="1288026"/>
            <a:ext cx="10481187" cy="4975121"/>
          </a:xfrm>
          <a:prstGeom prst="rect">
            <a:avLst/>
          </a:prstGeom>
        </p:spPr>
      </p:pic>
    </p:spTree>
    <p:extLst>
      <p:ext uri="{BB962C8B-B14F-4D97-AF65-F5344CB8AC3E}">
        <p14:creationId xmlns:p14="http://schemas.microsoft.com/office/powerpoint/2010/main" val="25181218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99768" y="481781"/>
            <a:ext cx="10648335" cy="5695182"/>
          </a:xfrm>
        </p:spPr>
      </p:pic>
      <p:sp>
        <p:nvSpPr>
          <p:cNvPr id="5" name="Rectangle 4"/>
          <p:cNvSpPr/>
          <p:nvPr/>
        </p:nvSpPr>
        <p:spPr>
          <a:xfrm>
            <a:off x="1297859" y="6176963"/>
            <a:ext cx="9950244" cy="369332"/>
          </a:xfrm>
          <a:prstGeom prst="rect">
            <a:avLst/>
          </a:prstGeom>
        </p:spPr>
        <p:txBody>
          <a:bodyPr wrap="square">
            <a:spAutoFit/>
          </a:bodyPr>
          <a:lstStyle/>
          <a:p>
            <a:r>
              <a:rPr lang="en-US" dirty="0"/>
              <a:t>Hence the new system state is safe, so we can immediately grant the request for process </a:t>
            </a:r>
            <a:r>
              <a:rPr lang="en-US" b="1" dirty="0"/>
              <a:t> P</a:t>
            </a:r>
            <a:r>
              <a:rPr lang="en-US" b="1" baseline="-25000" dirty="0"/>
              <a:t>1</a:t>
            </a:r>
            <a:endParaRPr lang="en-IN" dirty="0"/>
          </a:p>
        </p:txBody>
      </p:sp>
    </p:spTree>
    <p:extLst>
      <p:ext uri="{BB962C8B-B14F-4D97-AF65-F5344CB8AC3E}">
        <p14:creationId xmlns:p14="http://schemas.microsoft.com/office/powerpoint/2010/main" val="34367403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just">
              <a:lnSpc>
                <a:spcPct val="150000"/>
              </a:lnSpc>
            </a:pPr>
            <a:r>
              <a:rPr lang="en-US" sz="3200" dirty="0" smtClean="0">
                <a:latin typeface="Times New Roman" panose="02020603050405020304" pitchFamily="18" charset="0"/>
                <a:cs typeface="Times New Roman" panose="02020603050405020304" pitchFamily="18" charset="0"/>
              </a:rPr>
              <a:t>If a request (3 , 3, 0) by process P4 arrives in the state defined by above can it be granted immediately?</a:t>
            </a:r>
            <a:endParaRPr lang="en-IN"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29265" y="1825625"/>
            <a:ext cx="11198941" cy="4351338"/>
          </a:xfrm>
        </p:spPr>
        <p:txBody>
          <a:bodyPr/>
          <a:lstStyle/>
          <a:p>
            <a:pPr>
              <a:lnSpc>
                <a:spcPct val="200000"/>
              </a:lnSpc>
            </a:pPr>
            <a:r>
              <a:rPr lang="en-US" dirty="0">
                <a:latin typeface="Times New Roman" panose="02020603050405020304" pitchFamily="18" charset="0"/>
                <a:cs typeface="Times New Roman" panose="02020603050405020304" pitchFamily="18" charset="0"/>
              </a:rPr>
              <a:t>If a request </a:t>
            </a:r>
            <a:r>
              <a:rPr lang="en-US" dirty="0" smtClean="0">
                <a:latin typeface="Times New Roman" panose="02020603050405020304" pitchFamily="18" charset="0"/>
                <a:cs typeface="Times New Roman" panose="02020603050405020304" pitchFamily="18" charset="0"/>
              </a:rPr>
              <a:t>(0 </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2, </a:t>
            </a:r>
            <a:r>
              <a:rPr lang="en-US" dirty="0">
                <a:latin typeface="Times New Roman" panose="02020603050405020304" pitchFamily="18" charset="0"/>
                <a:cs typeface="Times New Roman" panose="02020603050405020304" pitchFamily="18" charset="0"/>
              </a:rPr>
              <a:t>0) by process </a:t>
            </a:r>
            <a:r>
              <a:rPr lang="en-US" dirty="0" smtClean="0">
                <a:latin typeface="Times New Roman" panose="02020603050405020304" pitchFamily="18" charset="0"/>
                <a:cs typeface="Times New Roman" panose="02020603050405020304" pitchFamily="18" charset="0"/>
              </a:rPr>
              <a:t>P0 </a:t>
            </a:r>
            <a:r>
              <a:rPr lang="en-US" dirty="0">
                <a:latin typeface="Times New Roman" panose="02020603050405020304" pitchFamily="18" charset="0"/>
                <a:cs typeface="Times New Roman" panose="02020603050405020304" pitchFamily="18" charset="0"/>
              </a:rPr>
              <a:t>arrives </a:t>
            </a:r>
            <a:r>
              <a:rPr lang="en-US" dirty="0" smtClean="0">
                <a:latin typeface="Times New Roman" panose="02020603050405020304" pitchFamily="18" charset="0"/>
                <a:cs typeface="Times New Roman" panose="02020603050405020304" pitchFamily="18" charset="0"/>
              </a:rPr>
              <a:t>then check weather it is granted or not? If granted then the new state of the system?</a:t>
            </a:r>
            <a:endParaRPr lang="en-IN" dirty="0"/>
          </a:p>
        </p:txBody>
      </p:sp>
    </p:spTree>
    <p:extLst>
      <p:ext uri="{BB962C8B-B14F-4D97-AF65-F5344CB8AC3E}">
        <p14:creationId xmlns:p14="http://schemas.microsoft.com/office/powerpoint/2010/main" val="1469790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752029235"/>
              </p:ext>
            </p:extLst>
          </p:nvPr>
        </p:nvGraphicFramePr>
        <p:xfrm>
          <a:off x="1671485" y="724412"/>
          <a:ext cx="8620432" cy="4389120"/>
        </p:xfrm>
        <a:graphic>
          <a:graphicData uri="http://schemas.openxmlformats.org/drawingml/2006/table">
            <a:tbl>
              <a:tblPr firstRow="1" bandRow="1">
                <a:tableStyleId>{5C22544A-7EE6-4342-B048-85BDC9FD1C3A}</a:tableStyleId>
              </a:tblPr>
              <a:tblGrid>
                <a:gridCol w="1646287">
                  <a:extLst>
                    <a:ext uri="{9D8B030D-6E8A-4147-A177-3AD203B41FA5}">
                      <a16:colId xmlns:a16="http://schemas.microsoft.com/office/drawing/2014/main" val="613657903"/>
                    </a:ext>
                  </a:extLst>
                </a:gridCol>
                <a:gridCol w="774905">
                  <a:extLst>
                    <a:ext uri="{9D8B030D-6E8A-4147-A177-3AD203B41FA5}">
                      <a16:colId xmlns:a16="http://schemas.microsoft.com/office/drawing/2014/main" val="3340364732"/>
                    </a:ext>
                  </a:extLst>
                </a:gridCol>
                <a:gridCol w="774905">
                  <a:extLst>
                    <a:ext uri="{9D8B030D-6E8A-4147-A177-3AD203B41FA5}">
                      <a16:colId xmlns:a16="http://schemas.microsoft.com/office/drawing/2014/main" val="1158104381"/>
                    </a:ext>
                  </a:extLst>
                </a:gridCol>
                <a:gridCol w="774905">
                  <a:extLst>
                    <a:ext uri="{9D8B030D-6E8A-4147-A177-3AD203B41FA5}">
                      <a16:colId xmlns:a16="http://schemas.microsoft.com/office/drawing/2014/main" val="3123228196"/>
                    </a:ext>
                  </a:extLst>
                </a:gridCol>
                <a:gridCol w="774905">
                  <a:extLst>
                    <a:ext uri="{9D8B030D-6E8A-4147-A177-3AD203B41FA5}">
                      <a16:colId xmlns:a16="http://schemas.microsoft.com/office/drawing/2014/main" val="876330346"/>
                    </a:ext>
                  </a:extLst>
                </a:gridCol>
                <a:gridCol w="774905">
                  <a:extLst>
                    <a:ext uri="{9D8B030D-6E8A-4147-A177-3AD203B41FA5}">
                      <a16:colId xmlns:a16="http://schemas.microsoft.com/office/drawing/2014/main" val="2343013848"/>
                    </a:ext>
                  </a:extLst>
                </a:gridCol>
                <a:gridCol w="774905">
                  <a:extLst>
                    <a:ext uri="{9D8B030D-6E8A-4147-A177-3AD203B41FA5}">
                      <a16:colId xmlns:a16="http://schemas.microsoft.com/office/drawing/2014/main" val="3750282797"/>
                    </a:ext>
                  </a:extLst>
                </a:gridCol>
                <a:gridCol w="774905">
                  <a:extLst>
                    <a:ext uri="{9D8B030D-6E8A-4147-A177-3AD203B41FA5}">
                      <a16:colId xmlns:a16="http://schemas.microsoft.com/office/drawing/2014/main" val="2183851329"/>
                    </a:ext>
                  </a:extLst>
                </a:gridCol>
                <a:gridCol w="774905">
                  <a:extLst>
                    <a:ext uri="{9D8B030D-6E8A-4147-A177-3AD203B41FA5}">
                      <a16:colId xmlns:a16="http://schemas.microsoft.com/office/drawing/2014/main" val="1329166032"/>
                    </a:ext>
                  </a:extLst>
                </a:gridCol>
                <a:gridCol w="774905">
                  <a:extLst>
                    <a:ext uri="{9D8B030D-6E8A-4147-A177-3AD203B41FA5}">
                      <a16:colId xmlns:a16="http://schemas.microsoft.com/office/drawing/2014/main" val="2052032277"/>
                    </a:ext>
                  </a:extLst>
                </a:gridCol>
              </a:tblGrid>
              <a:tr h="370840">
                <a:tc>
                  <a:txBody>
                    <a:bodyPr/>
                    <a:lstStyle/>
                    <a:p>
                      <a:pPr>
                        <a:lnSpc>
                          <a:spcPct val="150000"/>
                        </a:lnSpc>
                      </a:pPr>
                      <a:r>
                        <a:rPr lang="en-US" sz="2800" dirty="0" smtClean="0">
                          <a:solidFill>
                            <a:srgbClr val="002060"/>
                          </a:solidFill>
                          <a:latin typeface="Times New Roman" panose="02020603050405020304" pitchFamily="18" charset="0"/>
                          <a:cs typeface="Times New Roman" panose="02020603050405020304" pitchFamily="18" charset="0"/>
                        </a:rPr>
                        <a:t>Process</a:t>
                      </a:r>
                      <a:endParaRPr lang="en-IN" sz="2800" dirty="0">
                        <a:solidFill>
                          <a:srgbClr val="002060"/>
                        </a:solidFill>
                        <a:latin typeface="Times New Roman" panose="02020603050405020304" pitchFamily="18" charset="0"/>
                        <a:cs typeface="Times New Roman" panose="02020603050405020304" pitchFamily="18" charset="0"/>
                      </a:endParaRPr>
                    </a:p>
                  </a:txBody>
                  <a:tcPr/>
                </a:tc>
                <a:tc gridSpan="3">
                  <a:txBody>
                    <a:bodyPr/>
                    <a:lstStyle/>
                    <a:p>
                      <a:pPr>
                        <a:lnSpc>
                          <a:spcPct val="150000"/>
                        </a:lnSpc>
                      </a:pPr>
                      <a:r>
                        <a:rPr lang="en-US" sz="2800" dirty="0" smtClean="0">
                          <a:solidFill>
                            <a:srgbClr val="002060"/>
                          </a:solidFill>
                          <a:latin typeface="Times New Roman" panose="02020603050405020304" pitchFamily="18" charset="0"/>
                          <a:cs typeface="Times New Roman" panose="02020603050405020304" pitchFamily="18" charset="0"/>
                        </a:rPr>
                        <a:t>Allocation</a:t>
                      </a:r>
                      <a:endParaRPr lang="en-IN" sz="2800" dirty="0">
                        <a:solidFill>
                          <a:srgbClr val="002060"/>
                        </a:solidFill>
                        <a:latin typeface="Times New Roman" panose="02020603050405020304" pitchFamily="18" charset="0"/>
                        <a:cs typeface="Times New Roman" panose="02020603050405020304" pitchFamily="18" charset="0"/>
                      </a:endParaRPr>
                    </a:p>
                  </a:txBody>
                  <a:tcPr/>
                </a:tc>
                <a:tc hMerge="1">
                  <a:txBody>
                    <a:bodyPr/>
                    <a:lstStyle/>
                    <a:p>
                      <a:endParaRPr lang="en-IN"/>
                    </a:p>
                  </a:txBody>
                  <a:tcPr/>
                </a:tc>
                <a:tc hMerge="1">
                  <a:txBody>
                    <a:bodyPr/>
                    <a:lstStyle/>
                    <a:p>
                      <a:endParaRPr lang="en-IN"/>
                    </a:p>
                  </a:txBody>
                  <a:tcPr/>
                </a:tc>
                <a:tc gridSpan="3">
                  <a:txBody>
                    <a:bodyPr/>
                    <a:lstStyle/>
                    <a:p>
                      <a:pPr>
                        <a:lnSpc>
                          <a:spcPct val="150000"/>
                        </a:lnSpc>
                      </a:pPr>
                      <a:r>
                        <a:rPr lang="en-US" sz="2800" dirty="0" smtClean="0">
                          <a:solidFill>
                            <a:srgbClr val="002060"/>
                          </a:solidFill>
                          <a:latin typeface="Times New Roman" panose="02020603050405020304" pitchFamily="18" charset="0"/>
                          <a:cs typeface="Times New Roman" panose="02020603050405020304" pitchFamily="18" charset="0"/>
                        </a:rPr>
                        <a:t>Need</a:t>
                      </a:r>
                      <a:endParaRPr lang="en-IN" sz="2800" dirty="0">
                        <a:solidFill>
                          <a:srgbClr val="002060"/>
                        </a:solidFill>
                        <a:latin typeface="Times New Roman" panose="02020603050405020304" pitchFamily="18" charset="0"/>
                        <a:cs typeface="Times New Roman" panose="02020603050405020304" pitchFamily="18" charset="0"/>
                      </a:endParaRPr>
                    </a:p>
                  </a:txBody>
                  <a:tcPr/>
                </a:tc>
                <a:tc hMerge="1">
                  <a:txBody>
                    <a:bodyPr/>
                    <a:lstStyle/>
                    <a:p>
                      <a:endParaRPr lang="en-IN"/>
                    </a:p>
                  </a:txBody>
                  <a:tcPr/>
                </a:tc>
                <a:tc hMerge="1">
                  <a:txBody>
                    <a:bodyPr/>
                    <a:lstStyle/>
                    <a:p>
                      <a:endParaRPr lang="en-IN"/>
                    </a:p>
                  </a:txBody>
                  <a:tcPr/>
                </a:tc>
                <a:tc gridSpan="3">
                  <a:txBody>
                    <a:bodyPr/>
                    <a:lstStyle/>
                    <a:p>
                      <a:pPr>
                        <a:lnSpc>
                          <a:spcPct val="150000"/>
                        </a:lnSpc>
                      </a:pPr>
                      <a:r>
                        <a:rPr lang="en-US" sz="2800" dirty="0" smtClean="0">
                          <a:solidFill>
                            <a:srgbClr val="002060"/>
                          </a:solidFill>
                          <a:latin typeface="Times New Roman" panose="02020603050405020304" pitchFamily="18" charset="0"/>
                          <a:cs typeface="Times New Roman" panose="02020603050405020304" pitchFamily="18" charset="0"/>
                        </a:rPr>
                        <a:t>Available</a:t>
                      </a:r>
                      <a:endParaRPr lang="en-IN" sz="2800" dirty="0">
                        <a:solidFill>
                          <a:srgbClr val="002060"/>
                        </a:solidFill>
                        <a:latin typeface="Times New Roman" panose="02020603050405020304" pitchFamily="18" charset="0"/>
                        <a:cs typeface="Times New Roman" panose="02020603050405020304" pitchFamily="18" charset="0"/>
                      </a:endParaRPr>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569249408"/>
                  </a:ext>
                </a:extLst>
              </a:tr>
              <a:tr h="370840">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P0</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0</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3</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0</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7</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2</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3</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2</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1</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0</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91138828"/>
                  </a:ext>
                </a:extLst>
              </a:tr>
              <a:tr h="370840">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P1</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3</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0</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2</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0</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2</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0</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36757963"/>
                  </a:ext>
                </a:extLst>
              </a:tr>
              <a:tr h="370840">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P2</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3</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0</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2</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8</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0</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0</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56018007"/>
                  </a:ext>
                </a:extLst>
              </a:tr>
              <a:tr h="370840">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P3</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2</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1</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1</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0</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1</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1</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10403255"/>
                  </a:ext>
                </a:extLst>
              </a:tr>
              <a:tr h="370840">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P4</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0</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0</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2</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4</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3</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2800" dirty="0" smtClean="0">
                          <a:latin typeface="Times New Roman" panose="02020603050405020304" pitchFamily="18" charset="0"/>
                          <a:cs typeface="Times New Roman" panose="02020603050405020304" pitchFamily="18" charset="0"/>
                        </a:rPr>
                        <a:t>1</a:t>
                      </a: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endParaRPr lang="en-IN" sz="2800" dirty="0">
                        <a:latin typeface="Times New Roman" panose="02020603050405020304" pitchFamily="18" charset="0"/>
                        <a:cs typeface="Times New Roman" panose="02020603050405020304" pitchFamily="18" charset="0"/>
                      </a:endParaRPr>
                    </a:p>
                  </a:txBody>
                  <a:tcPr/>
                </a:tc>
                <a:tc>
                  <a:txBody>
                    <a:bodyPr/>
                    <a:lstStyle/>
                    <a:p>
                      <a:pPr>
                        <a:lnSpc>
                          <a:spcPct val="150000"/>
                        </a:lnSpc>
                      </a:pP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18999395"/>
                  </a:ext>
                </a:extLst>
              </a:tr>
            </a:tbl>
          </a:graphicData>
        </a:graphic>
      </p:graphicFrame>
      <p:sp>
        <p:nvSpPr>
          <p:cNvPr id="5" name="TextBox 4"/>
          <p:cNvSpPr txBox="1"/>
          <p:nvPr/>
        </p:nvSpPr>
        <p:spPr>
          <a:xfrm>
            <a:off x="668594" y="5820697"/>
            <a:ext cx="9802761" cy="830997"/>
          </a:xfrm>
          <a:prstGeom prst="rect">
            <a:avLst/>
          </a:prstGeom>
          <a:noFill/>
        </p:spPr>
        <p:txBody>
          <a:bodyPr wrap="square" rtlCol="0">
            <a:spAutoFit/>
          </a:bodyPr>
          <a:lstStyle/>
          <a:p>
            <a:r>
              <a:rPr lang="en-US" sz="2400" dirty="0" smtClean="0">
                <a:latin typeface="Times New Roman" panose="02020603050405020304" pitchFamily="18" charset="0"/>
                <a:cs typeface="Times New Roman" panose="02020603050405020304" pitchFamily="18" charset="0"/>
              </a:rPr>
              <a:t>All five processes are in waiting state as none is able to satisfy the condition </a:t>
            </a:r>
          </a:p>
          <a:p>
            <a:pPr algn="ctr"/>
            <a:r>
              <a:rPr lang="en-US" sz="2400" dirty="0" err="1" smtClean="0">
                <a:latin typeface="Times New Roman" panose="02020603050405020304" pitchFamily="18" charset="0"/>
                <a:cs typeface="Times New Roman" panose="02020603050405020304" pitchFamily="18" charset="0"/>
              </a:rPr>
              <a:t>Need</a:t>
            </a:r>
            <a:r>
              <a:rPr lang="en-US" sz="2400" baseline="-25000" dirty="0" err="1" smtClean="0">
                <a:latin typeface="Times New Roman" panose="02020603050405020304" pitchFamily="18" charset="0"/>
                <a:cs typeface="Times New Roman" panose="02020603050405020304" pitchFamily="18" charset="0"/>
              </a:rPr>
              <a:t>i</a:t>
            </a:r>
            <a:r>
              <a:rPr lang="en-US" sz="2400" baseline="-25000" dirty="0" smtClean="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&lt; Available</a:t>
            </a:r>
            <a:endParaRPr lang="en-IN" sz="2400"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89654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8313"/>
            <a:ext cx="10515600" cy="667262"/>
          </a:xfrm>
        </p:spPr>
        <p:txBody>
          <a:bodyPr>
            <a:normAutofit/>
          </a:bodyPr>
          <a:lstStyle/>
          <a:p>
            <a:pPr algn="ctr"/>
            <a:r>
              <a:rPr lang="en-US" sz="3600" dirty="0" smtClean="0">
                <a:solidFill>
                  <a:srgbClr val="FF0000"/>
                </a:solidFill>
                <a:latin typeface="Times New Roman" panose="02020603050405020304" pitchFamily="18" charset="0"/>
                <a:cs typeface="Times New Roman" panose="02020603050405020304" pitchFamily="18" charset="0"/>
              </a:rPr>
              <a:t>Deadlock detection and recovery</a:t>
            </a:r>
            <a:endParaRPr lang="en-IN" sz="36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091381"/>
            <a:ext cx="10813026" cy="5085582"/>
          </a:xfrm>
        </p:spPr>
        <p:txBody>
          <a:bodyPr>
            <a:normAutofit/>
          </a:bodyPr>
          <a:lstStyle/>
          <a:p>
            <a:pPr algn="just">
              <a:lnSpc>
                <a:spcPct val="150000"/>
              </a:lnSpc>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Here we do not check safety and where any process request for some resources then these resources are allocated immediately, if available.</a:t>
            </a:r>
          </a:p>
          <a:p>
            <a:pPr algn="just">
              <a:lnSpc>
                <a:spcPct val="150000"/>
              </a:lnSpc>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Here there is a possibility of deadlock, which must be detected using different approach.</a:t>
            </a:r>
          </a:p>
          <a:p>
            <a:pPr algn="just">
              <a:lnSpc>
                <a:spcPct val="150000"/>
              </a:lnSpc>
              <a:buFont typeface="Wingdings" panose="05000000000000000000" pitchFamily="2" charset="2"/>
              <a:buChar char="Ø"/>
            </a:pPr>
            <a:r>
              <a:rPr lang="en-US" sz="2400" dirty="0" smtClean="0">
                <a:solidFill>
                  <a:srgbClr val="FF0000"/>
                </a:solidFill>
                <a:latin typeface="Times New Roman" panose="02020603050405020304" pitchFamily="18" charset="0"/>
                <a:cs typeface="Times New Roman" panose="02020603050405020304" pitchFamily="18" charset="0"/>
              </a:rPr>
              <a:t>Active approach: </a:t>
            </a:r>
            <a:r>
              <a:rPr lang="en-US" sz="2400" dirty="0" smtClean="0">
                <a:latin typeface="Times New Roman" panose="02020603050405020304" pitchFamily="18" charset="0"/>
                <a:cs typeface="Times New Roman" panose="02020603050405020304" pitchFamily="18" charset="0"/>
              </a:rPr>
              <a:t>here we simply invoke the algorithm at defined intervals for example once per hour or whenever CPU utilization drop below 40%.</a:t>
            </a:r>
          </a:p>
          <a:p>
            <a:pPr algn="just">
              <a:lnSpc>
                <a:spcPct val="150000"/>
              </a:lnSpc>
              <a:buFont typeface="Wingdings" panose="05000000000000000000" pitchFamily="2" charset="2"/>
              <a:buChar char="Ø"/>
            </a:pPr>
            <a:r>
              <a:rPr lang="en-US" sz="2400" dirty="0" smtClean="0">
                <a:solidFill>
                  <a:srgbClr val="FF0000"/>
                </a:solidFill>
                <a:latin typeface="Times New Roman" panose="02020603050405020304" pitchFamily="18" charset="0"/>
                <a:cs typeface="Times New Roman" panose="02020603050405020304" pitchFamily="18" charset="0"/>
              </a:rPr>
              <a:t>Lazy approach: </a:t>
            </a:r>
            <a:r>
              <a:rPr lang="en-US" sz="2400" dirty="0" smtClean="0">
                <a:latin typeface="Times New Roman" panose="02020603050405020304" pitchFamily="18" charset="0"/>
                <a:cs typeface="Times New Roman" panose="02020603050405020304" pitchFamily="18" charset="0"/>
              </a:rPr>
              <a:t>whenever CPU utilization drops below 40 % or some unusual performance is there, we go for detection.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8798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39443"/>
          </a:xfrm>
        </p:spPr>
        <p:txBody>
          <a:bodyPr>
            <a:noAutofit/>
          </a:bodyPr>
          <a:lstStyle/>
          <a:p>
            <a:pPr algn="ctr"/>
            <a:r>
              <a:rPr lang="en-US" sz="3600" dirty="0" smtClean="0">
                <a:solidFill>
                  <a:srgbClr val="FF0000"/>
                </a:solidFill>
                <a:latin typeface="Times New Roman" panose="02020603050405020304" pitchFamily="18" charset="0"/>
                <a:cs typeface="Times New Roman" panose="02020603050405020304" pitchFamily="18" charset="0"/>
              </a:rPr>
              <a:t>Deadlock </a:t>
            </a:r>
            <a:r>
              <a:rPr lang="en-US" sz="3600" dirty="0">
                <a:solidFill>
                  <a:srgbClr val="FF0000"/>
                </a:solidFill>
                <a:latin typeface="Times New Roman" panose="02020603050405020304" pitchFamily="18" charset="0"/>
                <a:cs typeface="Times New Roman" panose="02020603050405020304" pitchFamily="18" charset="0"/>
              </a:rPr>
              <a:t>recovery</a:t>
            </a:r>
            <a:endParaRPr lang="en-IN" sz="36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875871164"/>
              </p:ext>
            </p:extLst>
          </p:nvPr>
        </p:nvGraphicFramePr>
        <p:xfrm>
          <a:off x="838200" y="1022350"/>
          <a:ext cx="10812464" cy="5669280"/>
        </p:xfrm>
        <a:graphic>
          <a:graphicData uri="http://schemas.openxmlformats.org/drawingml/2006/table">
            <a:tbl>
              <a:tblPr firstRow="1" bandRow="1">
                <a:tableStyleId>{2D5ABB26-0587-4C30-8999-92F81FD0307C}</a:tableStyleId>
              </a:tblPr>
              <a:tblGrid>
                <a:gridCol w="5406232">
                  <a:extLst>
                    <a:ext uri="{9D8B030D-6E8A-4147-A177-3AD203B41FA5}">
                      <a16:colId xmlns:a16="http://schemas.microsoft.com/office/drawing/2014/main" val="1981808128"/>
                    </a:ext>
                  </a:extLst>
                </a:gridCol>
                <a:gridCol w="5406232">
                  <a:extLst>
                    <a:ext uri="{9D8B030D-6E8A-4147-A177-3AD203B41FA5}">
                      <a16:colId xmlns:a16="http://schemas.microsoft.com/office/drawing/2014/main" val="2289482142"/>
                    </a:ext>
                  </a:extLst>
                </a:gridCol>
              </a:tblGrid>
              <a:tr h="370840">
                <a:tc>
                  <a:txBody>
                    <a:bodyPr/>
                    <a:lstStyle/>
                    <a:p>
                      <a:pPr algn="ctr"/>
                      <a:r>
                        <a:rPr lang="en-US" sz="2400" dirty="0" smtClean="0">
                          <a:solidFill>
                            <a:srgbClr val="FF0000"/>
                          </a:solidFill>
                          <a:latin typeface="Times New Roman" panose="02020603050405020304" pitchFamily="18" charset="0"/>
                          <a:cs typeface="Times New Roman" panose="02020603050405020304" pitchFamily="18" charset="0"/>
                        </a:rPr>
                        <a:t>Optimistic approach</a:t>
                      </a:r>
                      <a:endParaRPr lang="en-IN" sz="2400"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sz="2400" dirty="0" smtClean="0">
                          <a:solidFill>
                            <a:srgbClr val="FF0000"/>
                          </a:solidFill>
                          <a:latin typeface="Times New Roman" panose="02020603050405020304" pitchFamily="18" charset="0"/>
                          <a:cs typeface="Times New Roman" panose="02020603050405020304" pitchFamily="18" charset="0"/>
                        </a:rPr>
                        <a:t>Pessimistic approach</a:t>
                      </a:r>
                      <a:endParaRPr lang="en-IN" sz="2400" dirty="0">
                        <a:solidFill>
                          <a:srgbClr val="FF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27857243"/>
                  </a:ext>
                </a:extLst>
              </a:tr>
              <a:tr h="370840">
                <a:tc>
                  <a:txBody>
                    <a:bodyPr/>
                    <a:lstStyle/>
                    <a:p>
                      <a:pPr marL="342900" indent="-342900" algn="just">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Pre-empt some resources</a:t>
                      </a:r>
                      <a:r>
                        <a:rPr lang="en-US" sz="2400" baseline="0" dirty="0" smtClean="0">
                          <a:latin typeface="Times New Roman" panose="02020603050405020304" pitchFamily="18" charset="0"/>
                          <a:cs typeface="Times New Roman" panose="02020603050405020304" pitchFamily="18" charset="0"/>
                        </a:rPr>
                        <a:t> from</a:t>
                      </a:r>
                      <a:r>
                        <a:rPr lang="en-US" sz="2400" dirty="0" smtClean="0">
                          <a:latin typeface="Times New Roman" panose="02020603050405020304" pitchFamily="18" charset="0"/>
                          <a:cs typeface="Times New Roman" panose="02020603050405020304" pitchFamily="18" charset="0"/>
                        </a:rPr>
                        <a:t> processes and give these resources to other processes until the deadlock cycle is broken.</a:t>
                      </a:r>
                    </a:p>
                    <a:p>
                      <a:pPr marL="342900" indent="-342900" algn="just">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Handles the three problems</a:t>
                      </a:r>
                    </a:p>
                    <a:p>
                      <a:pPr marL="342900" indent="-342900" algn="just">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Selecting a victim process</a:t>
                      </a:r>
                    </a:p>
                    <a:p>
                      <a:pPr marL="342900" indent="-342900" algn="just">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Rollback</a:t>
                      </a:r>
                    </a:p>
                    <a:p>
                      <a:pPr marL="342900" indent="-342900" algn="just">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Starvation </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smtClean="0">
                          <a:solidFill>
                            <a:schemeClr val="accent2"/>
                          </a:solidFill>
                          <a:latin typeface="Times New Roman" panose="02020603050405020304" pitchFamily="18" charset="0"/>
                          <a:cs typeface="Times New Roman" panose="02020603050405020304" pitchFamily="18" charset="0"/>
                        </a:rPr>
                        <a:t>Process termination</a:t>
                      </a:r>
                    </a:p>
                    <a:p>
                      <a:pPr algn="just"/>
                      <a:r>
                        <a:rPr lang="en-US" sz="2400" dirty="0" smtClean="0">
                          <a:latin typeface="Times New Roman" panose="02020603050405020304" pitchFamily="18" charset="0"/>
                          <a:cs typeface="Times New Roman" panose="02020603050405020304" pitchFamily="18" charset="0"/>
                        </a:rPr>
                        <a:t>Abort all deadlock process (Costly)</a:t>
                      </a:r>
                    </a:p>
                    <a:p>
                      <a:pPr algn="just"/>
                      <a:r>
                        <a:rPr lang="en-US" sz="2400" dirty="0" smtClean="0">
                          <a:latin typeface="Times New Roman" panose="02020603050405020304" pitchFamily="18" charset="0"/>
                          <a:cs typeface="Times New Roman" panose="02020603050405020304" pitchFamily="18" charset="0"/>
                        </a:rPr>
                        <a:t>Abort one process at a time and decide next to abort after deadlock detection.</a:t>
                      </a:r>
                    </a:p>
                    <a:p>
                      <a:pPr algn="just"/>
                      <a:r>
                        <a:rPr lang="en-US" sz="2400" dirty="0" smtClean="0">
                          <a:latin typeface="Times New Roman" panose="02020603050405020304" pitchFamily="18" charset="0"/>
                          <a:cs typeface="Times New Roman" panose="02020603050405020304" pitchFamily="18" charset="0"/>
                        </a:rPr>
                        <a:t>Some factor based on these process will be terminated:</a:t>
                      </a:r>
                    </a:p>
                    <a:p>
                      <a:pPr marL="342900" indent="-342900" algn="just">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Priority of the process</a:t>
                      </a:r>
                    </a:p>
                    <a:p>
                      <a:pPr marL="342900" indent="-342900" algn="just">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How long the process has completed</a:t>
                      </a:r>
                    </a:p>
                    <a:p>
                      <a:pPr marL="342900" indent="-342900" algn="just">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How much longer a process will compute before completion</a:t>
                      </a:r>
                    </a:p>
                    <a:p>
                      <a:pPr marL="342900" indent="-342900" algn="just">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How many and what type of resources</a:t>
                      </a:r>
                      <a:r>
                        <a:rPr lang="en-US" sz="2400" baseline="0" dirty="0" smtClean="0">
                          <a:latin typeface="Times New Roman" panose="02020603050405020304" pitchFamily="18" charset="0"/>
                          <a:cs typeface="Times New Roman" panose="02020603050405020304" pitchFamily="18" charset="0"/>
                        </a:rPr>
                        <a:t> process has used</a:t>
                      </a:r>
                    </a:p>
                    <a:p>
                      <a:pPr marL="342900" indent="-342900" algn="just">
                        <a:buFont typeface="Wingdings" panose="05000000000000000000" pitchFamily="2" charset="2"/>
                        <a:buChar char="Ø"/>
                      </a:pPr>
                      <a:r>
                        <a:rPr lang="en-US" sz="2400" baseline="0" dirty="0" smtClean="0">
                          <a:latin typeface="Times New Roman" panose="02020603050405020304" pitchFamily="18" charset="0"/>
                          <a:cs typeface="Times New Roman" panose="02020603050405020304" pitchFamily="18" charset="0"/>
                        </a:rPr>
                        <a:t>How many resources the process needs to complete its execution.</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18595652"/>
                  </a:ext>
                </a:extLst>
              </a:tr>
            </a:tbl>
          </a:graphicData>
        </a:graphic>
      </p:graphicFrame>
    </p:spTree>
    <p:extLst>
      <p:ext uri="{BB962C8B-B14F-4D97-AF65-F5344CB8AC3E}">
        <p14:creationId xmlns:p14="http://schemas.microsoft.com/office/powerpoint/2010/main" val="171202926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3324</TotalTime>
  <Words>1101</Words>
  <Application>Microsoft Office PowerPoint</Application>
  <PresentationFormat>Widescreen</PresentationFormat>
  <Paragraphs>129</Paragraphs>
  <Slides>20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Calibri Light</vt:lpstr>
      <vt:lpstr>Times New Roman</vt:lpstr>
      <vt:lpstr>Wingdings</vt:lpstr>
      <vt:lpstr>Office Theme</vt:lpstr>
      <vt:lpstr>Operating Systems BCSC 0004 </vt:lpstr>
      <vt:lpstr>Deadlock</vt:lpstr>
      <vt:lpstr>System Model</vt:lpstr>
      <vt:lpstr>Necessary Condition of Deadlock</vt:lpstr>
      <vt:lpstr>Necessary Condition of Deadlock</vt:lpstr>
      <vt:lpstr>Deadlock handling Methods</vt:lpstr>
      <vt:lpstr>Deadlock Prevention</vt:lpstr>
      <vt:lpstr>Deadlock Prevention</vt:lpstr>
      <vt:lpstr>Deadlock Prevention</vt:lpstr>
      <vt:lpstr>Deadlock Avoidance</vt:lpstr>
      <vt:lpstr>Banker’s Algorithm  </vt:lpstr>
      <vt:lpstr>Resource-Request Algorithm</vt:lpstr>
      <vt:lpstr>Considering a system with five processes P0 through P4 and three resources of type A, B, C. Resource type A has 10 instances, B has 5 instances and type C has 7 instances. Suppose at time t0 following snapshot of the system has been taken: </vt:lpstr>
      <vt:lpstr>PowerPoint Presentation</vt:lpstr>
      <vt:lpstr>What will happen if process P1 requests one additional instance of resource type A and two instances of resource type C?</vt:lpstr>
      <vt:lpstr>PowerPoint Presentation</vt:lpstr>
      <vt:lpstr>If a request (3 , 3, 0) by process P4 arrives in the state defined by above can it be granted immediately?</vt:lpstr>
      <vt:lpstr>PowerPoint Presentation</vt:lpstr>
      <vt:lpstr>Deadlock detection and recovery</vt:lpstr>
      <vt:lpstr>Deadlock recovery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Systems BCSC 0004 </dc:title>
  <dc:creator>hp</dc:creator>
  <cp:lastModifiedBy>hp</cp:lastModifiedBy>
  <cp:revision>29</cp:revision>
  <dcterms:created xsi:type="dcterms:W3CDTF">2021-11-15T01:47:43Z</dcterms:created>
  <dcterms:modified xsi:type="dcterms:W3CDTF">2021-12-08T09:45:53Z</dcterms:modified>
</cp:coreProperties>
</file>