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40"/>
  </p:normalViewPr>
  <p:slideViewPr>
    <p:cSldViewPr>
      <p:cViewPr varScale="1">
        <p:scale>
          <a:sx n="102" d="100"/>
          <a:sy n="102" d="100"/>
        </p:scale>
        <p:origin x="1920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429064" y="3337560"/>
            <a:ext cx="6480048" cy="2301240"/>
          </a:xfrm>
        </p:spPr>
        <p:txBody>
          <a:bodyPr rIns="45720" anchor="t"/>
          <a:lstStyle>
            <a:lvl1pPr algn="r">
              <a:defRPr lang="en-US" b="1" cap="all" baseline="0" dirty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433050" y="1544812"/>
            <a:ext cx="6480048" cy="1752600"/>
          </a:xfrm>
        </p:spPr>
        <p:txBody>
          <a:bodyPr tIns="0" rIns="45720" bIns="0" anchor="b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5/9/23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83837"/>
            <a:ext cx="6629400" cy="1826363"/>
          </a:xfrm>
        </p:spPr>
        <p:txBody>
          <a:bodyPr tIns="0" bIns="0" anchor="t"/>
          <a:lstStyle>
            <a:lvl1pPr algn="l">
              <a:buNone/>
              <a:defRPr sz="4200" b="1" cap="none" baseline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485800"/>
            <a:ext cx="6629400" cy="1066688"/>
          </a:xfrm>
        </p:spPr>
        <p:txBody>
          <a:bodyPr lIns="45720" tIns="0" rIns="45720" bIns="0" anchor="b"/>
          <a:lstStyle>
            <a:lvl1pPr marL="0" indent="0" algn="l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6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86400"/>
            <a:ext cx="4040188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5486400"/>
            <a:ext cx="4041775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516912"/>
            <a:ext cx="4040188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516912"/>
            <a:ext cx="4041775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7470648" cy="1143000"/>
          </a:xfrm>
        </p:spPr>
        <p:txBody>
          <a:bodyPr anchor="ctr"/>
          <a:lstStyle>
            <a:lvl1pPr algn="l">
              <a:defRPr sz="460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5/9/23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85528"/>
            <a:ext cx="3200400" cy="730250"/>
          </a:xfrm>
        </p:spPr>
        <p:txBody>
          <a:bodyPr tIns="0" bIns="0" anchor="t"/>
          <a:lstStyle>
            <a:lvl1pPr algn="l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214424"/>
            <a:ext cx="2743200" cy="914400"/>
          </a:xfrm>
        </p:spPr>
        <p:txBody>
          <a:bodyPr lIns="45720" tIns="0" rIns="45720" bIns="0" anchor="b"/>
          <a:lstStyle>
            <a:lvl1pPr marL="0" indent="0" algn="l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7086600" cy="3810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156448" y="6422064"/>
            <a:ext cx="7620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56732" y="1705709"/>
            <a:ext cx="3053868" cy="1253808"/>
          </a:xfrm>
        </p:spPr>
        <p:txBody>
          <a:bodyPr anchor="b"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65628" y="1019907"/>
            <a:ext cx="4114800" cy="4114800"/>
          </a:xfrm>
          <a:prstGeom prst="ellipse">
            <a:avLst/>
          </a:prstGeom>
          <a:solidFill>
            <a:schemeClr val="bg2">
              <a:shade val="50000"/>
            </a:schemeClr>
          </a:solidFill>
          <a:ln w="50800" cap="flat">
            <a:solidFill>
              <a:schemeClr val="bg2"/>
            </a:solidFill>
            <a:miter lim="800000"/>
          </a:ln>
          <a:effectLst>
            <a:outerShdw blurRad="152000" dist="345000" dir="5400000" sx="-80000" sy="-18000" rotWithShape="0">
              <a:srgbClr val="000000">
                <a:alpha val="25000"/>
              </a:srgbClr>
            </a:outerShdw>
          </a:effectLst>
          <a:scene3d>
            <a:camera prst="orthographicFront"/>
            <a:lightRig rig="contrasting" dir="t">
              <a:rot lat="0" lon="0" rev="2400000"/>
            </a:lightRig>
          </a:scene3d>
          <a:sp3d contourW="7620">
            <a:bevelT w="63500" h="63500"/>
            <a:contourClr>
              <a:schemeClr val="bg2">
                <a:shade val="50000"/>
              </a:schemeClr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56734" y="2998765"/>
            <a:ext cx="3053866" cy="2663482"/>
          </a:xfrm>
        </p:spPr>
        <p:txBody>
          <a:bodyPr lIns="45720" rIns="45720"/>
          <a:lstStyle>
            <a:lvl1pPr marL="0" indent="0">
              <a:buFontTx/>
              <a:buNone/>
              <a:defRPr sz="12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422064"/>
            <a:ext cx="2133600" cy="365125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5/9/23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Freeform 15"/>
          <p:cNvSpPr>
            <a:spLocks/>
          </p:cNvSpPr>
          <p:nvPr/>
        </p:nvSpPr>
        <p:spPr bwMode="auto">
          <a:xfrm>
            <a:off x="7315200" y="0"/>
            <a:ext cx="1828800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2082" y="1734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422064"/>
            <a:ext cx="2133600" cy="365125"/>
          </a:xfrm>
          <a:prstGeom prst="rect">
            <a:avLst/>
          </a:prstGeom>
        </p:spPr>
        <p:txBody>
          <a:bodyPr vert="horz" bIns="0" anchor="b"/>
          <a:lstStyle>
            <a:lvl1pPr algn="l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5/9/23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3124200" y="6422064"/>
            <a:ext cx="2895600" cy="365125"/>
          </a:xfrm>
          <a:prstGeom prst="rect">
            <a:avLst/>
          </a:prstGeom>
        </p:spPr>
        <p:txBody>
          <a:bodyPr vert="horz" lIns="0" rIns="0" bIns="0" anchor="b"/>
          <a:lstStyle>
            <a:lvl1pPr algn="ct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153400" y="6422064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4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20624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22376" indent="-274320" algn="l" rtl="0" eaLnBrk="1" latinLnBrk="0" hangingPunct="1">
        <a:spcBef>
          <a:spcPct val="20000"/>
        </a:spcBef>
        <a:buClr>
          <a:schemeClr val="accent1"/>
        </a:buClr>
        <a:buSzPct val="90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56032" algn="l" rtl="0" eaLnBrk="1" latinLnBrk="0" hangingPunct="1">
        <a:spcBef>
          <a:spcPct val="20000"/>
        </a:spcBef>
        <a:buClr>
          <a:schemeClr val="accent2"/>
        </a:buClr>
        <a:buSzPct val="85000"/>
        <a:buFont typeface="Arial"/>
        <a:buChar char="○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37744" algn="l" rtl="0" eaLnBrk="1" latinLnBrk="0" hangingPunct="1">
        <a:spcBef>
          <a:spcPct val="20000"/>
        </a:spcBef>
        <a:buClr>
          <a:schemeClr val="accent3"/>
        </a:buClr>
        <a:buSzPct val="9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90472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Arial"/>
        <a:buChar char="-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0784" indent="-182880" algn="l" rtl="0" eaLnBrk="1" latinLnBrk="0" hangingPunct="1">
        <a:spcBef>
          <a:spcPct val="20000"/>
        </a:spcBef>
        <a:buClr>
          <a:schemeClr val="accent5"/>
        </a:buClr>
        <a:buFont typeface="Arial"/>
        <a:buChar char="-"/>
        <a:defRPr kumimoji="0" sz="20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Arial"/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39696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▪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81001"/>
            <a:ext cx="7772400" cy="1066799"/>
          </a:xfrm>
        </p:spPr>
        <p:txBody>
          <a:bodyPr/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 Cloze Test</a:t>
            </a:r>
            <a:endParaRPr lang="en-GB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Tips to Solve Cloze Test</a:t>
            </a:r>
            <a:endParaRPr lang="en-GB"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Read Thoroughly</a:t>
            </a:r>
            <a:endParaRPr lang="en-GB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Read the entire text to understand the context , theme and meaning of the text. </a:t>
            </a:r>
            <a:endParaRPr lang="en-GB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924800" cy="11430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Identify type of word to be filled in</a:t>
            </a:r>
            <a:endParaRPr lang="en-GB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Assess the kind of word to be filled in. Which part of speech it can be? 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Would it be a Noun, Pronoun, verb or preposition ?</a:t>
            </a:r>
          </a:p>
          <a:p>
            <a:pPr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A Noun- I forgot to carry my ________ to library. So I had to come back.</a:t>
            </a:r>
          </a:p>
          <a:p>
            <a:pPr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An Article/determiner- He ate ______apple and threw ___ seeds away.</a:t>
            </a:r>
          </a:p>
          <a:p>
            <a:pPr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A non-finite verb/noun phrase- ________ for an hour keeps me refreshed.</a:t>
            </a:r>
            <a:endParaRPr lang="en-GB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>
                <a:latin typeface="Times New Roman" pitchFamily="18" charset="0"/>
                <a:cs typeface="Times New Roman" pitchFamily="18" charset="0"/>
              </a:rPr>
              <a:t>Analyse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the word</a:t>
            </a:r>
            <a:endParaRPr lang="en-GB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word must fit in the context and theme.</a:t>
            </a:r>
          </a:p>
          <a:p>
            <a:pPr>
              <a:buNone/>
            </a:pPr>
            <a:r>
              <a:rPr lang="en-US" dirty="0"/>
              <a:t>He had managed to reach in time. She ____ at him with astonishment.</a:t>
            </a:r>
          </a:p>
          <a:p>
            <a:pPr marL="550926" indent="-514350">
              <a:buFont typeface="+mj-lt"/>
              <a:buAutoNum type="alphaLcPeriod"/>
            </a:pPr>
            <a:r>
              <a:rPr lang="en-US" dirty="0"/>
              <a:t>stared </a:t>
            </a:r>
          </a:p>
          <a:p>
            <a:pPr marL="550926" indent="-514350">
              <a:buFont typeface="+mj-lt"/>
              <a:buAutoNum type="alphaLcPeriod"/>
            </a:pPr>
            <a:r>
              <a:rPr lang="en-US" dirty="0"/>
              <a:t>gazed</a:t>
            </a:r>
          </a:p>
          <a:p>
            <a:pPr marL="550926" indent="-514350">
              <a:buFont typeface="+mj-lt"/>
              <a:buAutoNum type="alphaLcPeriod"/>
            </a:pPr>
            <a:r>
              <a:rPr lang="en-US" dirty="0"/>
              <a:t>Shot</a:t>
            </a:r>
          </a:p>
          <a:p>
            <a:pPr marL="550926" indent="-514350">
              <a:buFont typeface="+mj-lt"/>
              <a:buAutoNum type="alphaLcPeriod"/>
            </a:pPr>
            <a:r>
              <a:rPr lang="en-US" dirty="0"/>
              <a:t>looked</a:t>
            </a:r>
          </a:p>
          <a:p>
            <a:pPr>
              <a:buNone/>
            </a:pPr>
            <a:endParaRPr lang="en-GB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Link the sentence together</a:t>
            </a:r>
            <a:endParaRPr lang="en-GB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Try to come up with logical connections that link up the sentence together.</a:t>
            </a:r>
          </a:p>
          <a:p>
            <a:r>
              <a:rPr lang="en-US" dirty="0"/>
              <a:t>Don’t treat each sentence as individual unit.</a:t>
            </a:r>
            <a:endParaRPr lang="en-GB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Stay aware of the general terms</a:t>
            </a:r>
            <a:endParaRPr lang="en-GB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 must have good knowledge of general terms used in different sectors.</a:t>
            </a:r>
          </a:p>
          <a:p>
            <a:pPr>
              <a:buNone/>
            </a:pPr>
            <a:r>
              <a:rPr lang="en-US" dirty="0"/>
              <a:t> The court ruled that the Indian navy should grant _______ to women.</a:t>
            </a:r>
          </a:p>
          <a:p>
            <a:pPr marL="550926" indent="-514350">
              <a:buFont typeface="+mj-lt"/>
              <a:buAutoNum type="alphaLcPeriod"/>
            </a:pPr>
            <a:r>
              <a:rPr lang="en-US" dirty="0"/>
              <a:t>service </a:t>
            </a:r>
          </a:p>
          <a:p>
            <a:pPr marL="550926" indent="-514350">
              <a:buFont typeface="+mj-lt"/>
              <a:buAutoNum type="alphaLcPeriod"/>
            </a:pPr>
            <a:r>
              <a:rPr lang="en-US" dirty="0"/>
              <a:t>commission</a:t>
            </a:r>
          </a:p>
          <a:p>
            <a:pPr marL="550926" indent="-514350">
              <a:buFont typeface="+mj-lt"/>
              <a:buAutoNum type="alphaLcPeriod"/>
            </a:pPr>
            <a:r>
              <a:rPr lang="en-US" dirty="0"/>
              <a:t>Tenure</a:t>
            </a:r>
          </a:p>
          <a:p>
            <a:pPr marL="550926" indent="-514350">
              <a:buFont typeface="+mj-lt"/>
              <a:buAutoNum type="alphaLcPeriod"/>
            </a:pPr>
            <a:r>
              <a:rPr lang="en-US" dirty="0"/>
              <a:t>position</a:t>
            </a:r>
          </a:p>
          <a:p>
            <a:pPr>
              <a:buNone/>
            </a:pPr>
            <a:endParaRPr lang="en-GB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Maintain tone</a:t>
            </a:r>
            <a:endParaRPr lang="en-GB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7848600" cy="452596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passage is written in certain tone ; sometimes narrative, sometimes critical,</a:t>
            </a:r>
          </a:p>
          <a:p>
            <a:pPr>
              <a:buNone/>
            </a:pPr>
            <a:r>
              <a:rPr lang="en-US" dirty="0"/>
              <a:t>   sometimes humorous.</a:t>
            </a:r>
          </a:p>
          <a:p>
            <a:pPr>
              <a:buNone/>
            </a:pPr>
            <a:r>
              <a:rPr lang="en-US" dirty="0"/>
              <a:t> His father ______ him on his back in admiration.</a:t>
            </a:r>
          </a:p>
          <a:p>
            <a:pPr marL="550926" indent="-514350">
              <a:buFont typeface="+mj-lt"/>
              <a:buAutoNum type="alphaLcPeriod"/>
            </a:pPr>
            <a:r>
              <a:rPr lang="en-US" dirty="0"/>
              <a:t>slapped </a:t>
            </a:r>
          </a:p>
          <a:p>
            <a:pPr marL="550926" indent="-514350">
              <a:buFont typeface="+mj-lt"/>
              <a:buAutoNum type="alphaLcPeriod"/>
            </a:pPr>
            <a:r>
              <a:rPr lang="en-US" dirty="0"/>
              <a:t>patted</a:t>
            </a:r>
          </a:p>
          <a:p>
            <a:pPr marL="550926" indent="-514350">
              <a:buFont typeface="+mj-lt"/>
              <a:buAutoNum type="alphaLcPeriod"/>
            </a:pPr>
            <a:r>
              <a:rPr lang="en-US" dirty="0"/>
              <a:t>touched</a:t>
            </a:r>
          </a:p>
          <a:p>
            <a:pPr marL="550926" indent="-514350">
              <a:buFont typeface="+mj-lt"/>
              <a:buAutoNum type="alphaLcPeriod"/>
            </a:pPr>
            <a:r>
              <a:rPr lang="en-US" dirty="0"/>
              <a:t>hit</a:t>
            </a:r>
            <a:endParaRPr lang="en-GB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chnic">
  <a:themeElements>
    <a:clrScheme name="Technic">
      <a:dk1>
        <a:sysClr val="windowText" lastClr="000000"/>
      </a:dk1>
      <a:lt1>
        <a:sysClr val="window" lastClr="FFFFFF"/>
      </a:lt1>
      <a:dk2>
        <a:srgbClr val="3B3B3B"/>
      </a:dk2>
      <a:lt2>
        <a:srgbClr val="D4D2D0"/>
      </a:lt2>
      <a:accent1>
        <a:srgbClr val="6EA0B0"/>
      </a:accent1>
      <a:accent2>
        <a:srgbClr val="CCAF0A"/>
      </a:accent2>
      <a:accent3>
        <a:srgbClr val="8D89A4"/>
      </a:accent3>
      <a:accent4>
        <a:srgbClr val="748560"/>
      </a:accent4>
      <a:accent5>
        <a:srgbClr val="9E9273"/>
      </a:accent5>
      <a:accent6>
        <a:srgbClr val="7E848D"/>
      </a:accent6>
      <a:hlink>
        <a:srgbClr val="00C8C3"/>
      </a:hlink>
      <a:folHlink>
        <a:srgbClr val="A116E0"/>
      </a:folHlink>
    </a:clrScheme>
    <a:fontScheme name="Technic">
      <a:majorFont>
        <a:latin typeface="Franklin Gothic Book"/>
        <a:ea typeface=""/>
        <a:cs typeface=""/>
        <a:font script="Jpan" typeface="ＭＳ Ｐゴシック"/>
        <a:font script="Hang" typeface="HY견고딕"/>
        <a:font script="Hans" typeface="宋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Technic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</a:schemeClr>
            </a:gs>
            <a:gs pos="68000">
              <a:schemeClr val="phClr">
                <a:tint val="77000"/>
              </a:schemeClr>
            </a:gs>
            <a:gs pos="81000">
              <a:schemeClr val="phClr">
                <a:tint val="79000"/>
              </a:schemeClr>
            </a:gs>
            <a:gs pos="86000">
              <a:schemeClr val="phClr">
                <a:tint val="73000"/>
              </a:schemeClr>
            </a:gs>
            <a:gs pos="100000">
              <a:schemeClr val="phClr">
                <a:tint val="3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3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shade val="57000"/>
                <a:satMod val="120000"/>
              </a:schemeClr>
            </a:gs>
            <a:gs pos="80000">
              <a:schemeClr val="phClr">
                <a:shade val="56000"/>
                <a:satMod val="145000"/>
              </a:schemeClr>
            </a:gs>
            <a:gs pos="88000">
              <a:schemeClr val="phClr">
                <a:shade val="63000"/>
                <a:satMod val="160000"/>
              </a:schemeClr>
            </a:gs>
            <a:gs pos="100000">
              <a:schemeClr val="phClr">
                <a:tint val="99555"/>
                <a:satMod val="155000"/>
              </a:schemeClr>
            </a:gs>
          </a:gsLst>
          <a:lin ang="5400000" scaled="1"/>
        </a:gradFill>
      </a:fillStyleLst>
      <a:lnStyleLst>
        <a:ln w="9525" cap="flat" cmpd="sng" algn="ctr">
          <a:solidFill>
            <a:schemeClr val="phClr">
              <a:shade val="60000"/>
              <a:satMod val="30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00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62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  <a:scene3d>
            <a:camera prst="orthographicFront" fov="0">
              <a:rot lat="0" lon="0" rev="0"/>
            </a:camera>
            <a:lightRig rig="harsh" dir="t">
              <a:rot lat="6000000" lon="6000000" rev="0"/>
            </a:lightRig>
          </a:scene3d>
          <a:sp3d contourW="10000" prstMaterial="metal">
            <a:bevelT w="20000" h="9000" prst="softRound"/>
            <a:contourClr>
              <a:schemeClr val="phClr">
                <a:shade val="30000"/>
                <a:satMod val="2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50000"/>
              </a:schemeClr>
            </a:gs>
            <a:gs pos="30000">
              <a:schemeClr val="phClr">
                <a:shade val="60000"/>
                <a:satMod val="150000"/>
              </a:schemeClr>
            </a:gs>
            <a:gs pos="100000">
              <a:schemeClr val="phClr">
                <a:tint val="83000"/>
                <a:satMod val="200000"/>
              </a:schemeClr>
            </a:gs>
          </a:gsLst>
          <a:lin ang="13000000" scaled="0"/>
        </a:gra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60000" t="50000" r="4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Technic</Template>
  <TotalTime>52</TotalTime>
  <Words>241</Words>
  <Application>Microsoft Macintosh PowerPoint</Application>
  <PresentationFormat>On-screen Show (4:3)</PresentationFormat>
  <Paragraphs>35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Franklin Gothic Book</vt:lpstr>
      <vt:lpstr>Times New Roman</vt:lpstr>
      <vt:lpstr>Wingdings 2</vt:lpstr>
      <vt:lpstr>Technic</vt:lpstr>
      <vt:lpstr> Cloze Test</vt:lpstr>
      <vt:lpstr>Read Thoroughly</vt:lpstr>
      <vt:lpstr>Identify type of word to be filled in</vt:lpstr>
      <vt:lpstr>Analyse the word</vt:lpstr>
      <vt:lpstr>Link the sentence together</vt:lpstr>
      <vt:lpstr>Stay aware of the general terms</vt:lpstr>
      <vt:lpstr>Maintain tone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Cloze Test</dc:title>
  <dc:creator>jaya sharma</dc:creator>
  <cp:lastModifiedBy>Ramanjaney K</cp:lastModifiedBy>
  <cp:revision>13</cp:revision>
  <dcterms:created xsi:type="dcterms:W3CDTF">2006-08-16T00:00:00Z</dcterms:created>
  <dcterms:modified xsi:type="dcterms:W3CDTF">2023-05-09T12:18:33Z</dcterms:modified>
</cp:coreProperties>
</file>