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9144000"/>
  <p:notesSz cx="6858000" cy="9144000"/>
  <p:embeddedFontLst>
    <p:embeddedFont>
      <p:font typeface="Gill Sans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36" roundtripDataSignature="AMtx7mgoU1alNjdiK9pj206yp+43/JkG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GillSans-bold.fntdata"/><Relationship Id="rId12" Type="http://schemas.openxmlformats.org/officeDocument/2006/relationships/slide" Target="slides/slide7.xml"/><Relationship Id="rId34" Type="http://schemas.openxmlformats.org/officeDocument/2006/relationships/font" Target="fonts/GillSans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  Through slides 2 to  4 students should be given an idea of how place of pause(s) in a sentence brings variation in the meaning. </a:t>
            </a:r>
            <a:endParaRPr/>
          </a:p>
        </p:txBody>
      </p:sp>
      <p:sp>
        <p:nvSpPr>
          <p:cNvPr id="113" name="Google Shape;11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 to Jennifer’s video 1</a:t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Refer to Jennifer’s video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 to Jennifer’s vedio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 to Jennifer’s video</a:t>
            </a:r>
            <a:endParaRPr/>
          </a:p>
        </p:txBody>
      </p:sp>
      <p:sp>
        <p:nvSpPr>
          <p:cNvPr id="170" name="Google Shape;17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 of single slash and double slash may be introduced here. Refer to Jennifer’s video</a:t>
            </a:r>
            <a:endParaRPr/>
          </a:p>
        </p:txBody>
      </p:sp>
      <p:sp>
        <p:nvSpPr>
          <p:cNvPr id="177" name="Google Shape;17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Instruction: </a:t>
            </a: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Listen to the video as you read the text below, and make a note of where you think Adichie separates her thought groups.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of the transcript may be shared with the students. The students will listen and read at the same time.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sample answer is here: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Instruction: </a:t>
            </a: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Listen to the video as you read the text below, and make a note of where you think Mr Tharoor separates his thought groups.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Link of the transcript may be shared with the students. The students will listen and read at the same time.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0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0"/>
          <p:cNvSpPr/>
          <p:nvPr/>
        </p:nvSpPr>
        <p:spPr>
          <a:xfrm>
            <a:off x="1157288" y="1344613"/>
            <a:ext cx="63500" cy="65087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0"/>
          <p:cNvSpPr txBox="1"/>
          <p:nvPr>
            <p:ph type="ctrTitle"/>
          </p:nvPr>
        </p:nvSpPr>
        <p:spPr>
          <a:xfrm>
            <a:off x="1432560" y="359898"/>
            <a:ext cx="7406640" cy="14721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" type="subTitle"/>
          </p:nvPr>
        </p:nvSpPr>
        <p:spPr>
          <a:xfrm>
            <a:off x="1432560" y="1850064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600"/>
              </a:spcBef>
              <a:spcAft>
                <a:spcPts val="0"/>
              </a:spcAft>
              <a:buSzPts val="2080"/>
              <a:buNone/>
              <a:defRPr sz="2600">
                <a:solidFill>
                  <a:srgbClr val="341108"/>
                </a:solidFill>
              </a:defRPr>
            </a:lvl1pPr>
            <a:lvl2pPr lvl="1" algn="ctr">
              <a:spcBef>
                <a:spcPts val="55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12" type="sldNum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1"/>
          <p:cNvSpPr txBox="1"/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1"/>
          <p:cNvSpPr txBox="1"/>
          <p:nvPr>
            <p:ph idx="1" type="body"/>
          </p:nvPr>
        </p:nvSpPr>
        <p:spPr>
          <a:xfrm>
            <a:off x="1435100" y="1447800"/>
            <a:ext cx="749935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1"/>
          <p:cNvSpPr txBox="1"/>
          <p:nvPr>
            <p:ph idx="12" type="sldNum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2"/>
          <p:cNvSpPr/>
          <p:nvPr/>
        </p:nvSpPr>
        <p:spPr>
          <a:xfrm>
            <a:off x="1014413" y="0"/>
            <a:ext cx="8129587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2"/>
          <p:cNvSpPr/>
          <p:nvPr/>
        </p:nvSpPr>
        <p:spPr>
          <a:xfrm>
            <a:off x="1014413" y="0"/>
            <a:ext cx="73025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2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2" type="sldNum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3"/>
          <p:cNvSpPr/>
          <p:nvPr/>
        </p:nvSpPr>
        <p:spPr>
          <a:xfrm>
            <a:off x="2286000" y="0"/>
            <a:ext cx="762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3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3"/>
          <p:cNvSpPr/>
          <p:nvPr/>
        </p:nvSpPr>
        <p:spPr>
          <a:xfrm>
            <a:off x="2408238" y="2746375"/>
            <a:ext cx="63500" cy="63500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3"/>
          <p:cNvSpPr txBox="1"/>
          <p:nvPr>
            <p:ph type="title"/>
          </p:nvPr>
        </p:nvSpPr>
        <p:spPr>
          <a:xfrm>
            <a:off x="2578392" y="2600325"/>
            <a:ext cx="6400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3"/>
          <p:cNvSpPr txBox="1"/>
          <p:nvPr>
            <p:ph idx="1" type="body"/>
          </p:nvPr>
        </p:nvSpPr>
        <p:spPr>
          <a:xfrm>
            <a:off x="2578392" y="1066800"/>
            <a:ext cx="64008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341108"/>
                </a:solidFill>
              </a:defRPr>
            </a:lvl1pPr>
            <a:lvl2pPr indent="-228600" lvl="1" marL="914400" algn="l">
              <a:spcBef>
                <a:spcPts val="5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3"/>
          <p:cNvSpPr txBox="1"/>
          <p:nvPr>
            <p:ph idx="12" type="sldNum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4"/>
          <p:cNvSpPr txBox="1"/>
          <p:nvPr>
            <p:ph type="title"/>
          </p:nvPr>
        </p:nvSpPr>
        <p:spPr>
          <a:xfrm>
            <a:off x="1435608" y="27432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" type="body"/>
          </p:nvPr>
        </p:nvSpPr>
        <p:spPr>
          <a:xfrm>
            <a:off x="1435608" y="1524000"/>
            <a:ext cx="365760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algn="l"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2" type="body"/>
          </p:nvPr>
        </p:nvSpPr>
        <p:spPr>
          <a:xfrm>
            <a:off x="5276088" y="1524000"/>
            <a:ext cx="365760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algn="l"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4" name="Google Shape;54;p34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4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2" type="sldNum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5"/>
          <p:cNvSpPr txBox="1"/>
          <p:nvPr>
            <p:ph type="title"/>
          </p:nvPr>
        </p:nvSpPr>
        <p:spPr>
          <a:xfrm>
            <a:off x="457200" y="51603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45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idx="1" type="body"/>
          </p:nvPr>
        </p:nvSpPr>
        <p:spPr>
          <a:xfrm>
            <a:off x="457200" y="328278"/>
            <a:ext cx="4023360" cy="64008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b="0" sz="19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2" type="body"/>
          </p:nvPr>
        </p:nvSpPr>
        <p:spPr>
          <a:xfrm>
            <a:off x="4663440" y="328278"/>
            <a:ext cx="4023360" cy="64008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b="0" sz="19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1" name="Google Shape;61;p35"/>
          <p:cNvSpPr txBox="1"/>
          <p:nvPr>
            <p:ph idx="3" type="body"/>
          </p:nvPr>
        </p:nvSpPr>
        <p:spPr>
          <a:xfrm>
            <a:off x="457200" y="969336"/>
            <a:ext cx="4023360" cy="411480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2" name="Google Shape;62;p35"/>
          <p:cNvSpPr txBox="1"/>
          <p:nvPr>
            <p:ph idx="4" type="body"/>
          </p:nvPr>
        </p:nvSpPr>
        <p:spPr>
          <a:xfrm>
            <a:off x="4663440" y="969336"/>
            <a:ext cx="4023360" cy="411480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3" name="Google Shape;63;p35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5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5"/>
          <p:cNvSpPr txBox="1"/>
          <p:nvPr>
            <p:ph idx="12" type="sldNum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6"/>
          <p:cNvSpPr txBox="1"/>
          <p:nvPr>
            <p:ph type="title"/>
          </p:nvPr>
        </p:nvSpPr>
        <p:spPr>
          <a:xfrm>
            <a:off x="1435608" y="27432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6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6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2" type="sldNum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7"/>
          <p:cNvSpPr txBox="1"/>
          <p:nvPr>
            <p:ph type="title"/>
          </p:nvPr>
        </p:nvSpPr>
        <p:spPr>
          <a:xfrm>
            <a:off x="457200" y="216778"/>
            <a:ext cx="38100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2200"/>
              <a:buFont typeface="Gill Sans"/>
              <a:buNone/>
              <a:defRPr b="1" sz="2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 txBox="1"/>
          <p:nvPr>
            <p:ph idx="1" type="body"/>
          </p:nvPr>
        </p:nvSpPr>
        <p:spPr>
          <a:xfrm>
            <a:off x="457200" y="1406964"/>
            <a:ext cx="3810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55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4" name="Google Shape;74;p37"/>
          <p:cNvSpPr txBox="1"/>
          <p:nvPr>
            <p:ph idx="2" type="body"/>
          </p:nvPr>
        </p:nvSpPr>
        <p:spPr>
          <a:xfrm>
            <a:off x="457200" y="2133600"/>
            <a:ext cx="8153400" cy="3992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1160" lvl="0" marL="457200" algn="l">
              <a:spcBef>
                <a:spcPts val="600"/>
              </a:spcBef>
              <a:spcAft>
                <a:spcPts val="0"/>
              </a:spcAft>
              <a:buSzPts val="2560"/>
              <a:buChar char="⚫"/>
              <a:defRPr sz="3200"/>
            </a:lvl1pPr>
            <a:lvl2pPr indent="-406400" lvl="1" marL="914400" algn="l">
              <a:spcBef>
                <a:spcPts val="550"/>
              </a:spcBef>
              <a:spcAft>
                <a:spcPts val="0"/>
              </a:spcAft>
              <a:buSzPts val="2800"/>
              <a:buChar char="◦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5" name="Google Shape;75;p37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7"/>
          <p:cNvSpPr txBox="1"/>
          <p:nvPr>
            <p:ph idx="12" type="sldNum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8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500" rotWithShape="0" algn="tl" dir="5400000" dist="185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274300">
            <a:normAutofit/>
          </a:bodyPr>
          <a:lstStyle/>
          <a:p>
            <a:pPr indent="0" lvl="0" marL="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0" name="Google Shape;80;p38"/>
          <p:cNvSpPr/>
          <p:nvPr/>
        </p:nvSpPr>
        <p:spPr>
          <a:xfrm rot="-2131329">
            <a:off x="396875" y="954088"/>
            <a:ext cx="685800" cy="204787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rgbClr val="EAD8B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8"/>
          <p:cNvSpPr/>
          <p:nvPr/>
        </p:nvSpPr>
        <p:spPr>
          <a:xfrm flipH="1" rot="2103354">
            <a:off x="5003800" y="936625"/>
            <a:ext cx="649288" cy="204788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chemeClr val="lt2">
                <a:alpha val="2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8"/>
          <p:cNvSpPr txBox="1"/>
          <p:nvPr>
            <p:ph type="title"/>
          </p:nvPr>
        </p:nvSpPr>
        <p:spPr>
          <a:xfrm>
            <a:off x="5886896" y="1066800"/>
            <a:ext cx="27432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2100"/>
              <a:buFont typeface="Gill Sans"/>
              <a:buNone/>
              <a:defRPr b="1" sz="21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8"/>
          <p:cNvSpPr/>
          <p:nvPr>
            <p:ph idx="2" type="pic"/>
          </p:nvPr>
        </p:nvSpPr>
        <p:spPr>
          <a:xfrm>
            <a:off x="838200" y="1143003"/>
            <a:ext cx="4419600" cy="3514531"/>
          </a:xfrm>
          <a:prstGeom prst="roundRect">
            <a:avLst>
              <a:gd fmla="val 783" name="adj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4" name="Google Shape;84;p38"/>
          <p:cNvSpPr txBox="1"/>
          <p:nvPr>
            <p:ph idx="1" type="body"/>
          </p:nvPr>
        </p:nvSpPr>
        <p:spPr>
          <a:xfrm>
            <a:off x="838200" y="4800600"/>
            <a:ext cx="441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777777"/>
                </a:solidFill>
              </a:defRPr>
            </a:lvl1pPr>
            <a:lvl2pPr indent="-304800" lvl="1" marL="914400" algn="l">
              <a:spcBef>
                <a:spcPts val="550"/>
              </a:spcBef>
              <a:spcAft>
                <a:spcPts val="0"/>
              </a:spcAft>
              <a:buSzPts val="1200"/>
              <a:buChar char="◦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3pPr>
            <a:lvl4pPr indent="-285750" lvl="3" marL="1828800" algn="l"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5" name="Google Shape;85;p38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8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8"/>
          <p:cNvSpPr txBox="1"/>
          <p:nvPr>
            <p:ph idx="12" type="sldNum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9"/>
          <p:cNvSpPr txBox="1"/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9"/>
          <p:cNvSpPr txBox="1"/>
          <p:nvPr>
            <p:ph idx="1" type="body"/>
          </p:nvPr>
        </p:nvSpPr>
        <p:spPr>
          <a:xfrm rot="5400000">
            <a:off x="2784475" y="98425"/>
            <a:ext cx="4800600" cy="7499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1" name="Google Shape;91;p39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9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9"/>
          <p:cNvSpPr txBox="1"/>
          <p:nvPr>
            <p:ph idx="12" type="sldNum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0"/>
          <p:cNvSpPr txBox="1"/>
          <p:nvPr>
            <p:ph type="title"/>
          </p:nvPr>
        </p:nvSpPr>
        <p:spPr>
          <a:xfrm rot="5400000">
            <a:off x="4846638" y="2286002"/>
            <a:ext cx="585152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0"/>
          <p:cNvSpPr txBox="1"/>
          <p:nvPr>
            <p:ph idx="1" type="body"/>
          </p:nvPr>
        </p:nvSpPr>
        <p:spPr>
          <a:xfrm rot="5400000">
            <a:off x="998538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7" name="Google Shape;97;p40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0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0"/>
          <p:cNvSpPr txBox="1"/>
          <p:nvPr>
            <p:ph idx="12" type="sldNum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1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1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1"/>
          <p:cNvSpPr txBox="1"/>
          <p:nvPr>
            <p:ph idx="12" type="sldNum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xy" tx="0" sx="90000" ty="0" sy="90000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fmla="val 0" name="adj1"/>
              <a:gd fmla="val 5402120" name="adj2"/>
            </a:avLst>
          </a:prstGeom>
          <a:solidFill>
            <a:srgbClr val="FEF9F3">
              <a:alpha val="32941"/>
            </a:srgbClr>
          </a:solidFill>
          <a:ln cap="rnd" cmpd="sng" w="9525">
            <a:solidFill>
              <a:srgbClr val="D1C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9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cap="rnd" cmpd="sng" w="27300">
            <a:solidFill>
              <a:srgbClr val="FFF5D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tl" dir="5400000" dist="25400">
              <a:srgbClr val="ADA48C">
                <a:alpha val="8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9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9"/>
          <p:cNvSpPr/>
          <p:nvPr/>
        </p:nvSpPr>
        <p:spPr>
          <a:xfrm>
            <a:off x="1012825" y="0"/>
            <a:ext cx="813117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9"/>
          <p:cNvSpPr txBox="1"/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3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3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3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3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3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3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3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3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3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5" name="Google Shape;15;p29"/>
          <p:cNvSpPr txBox="1"/>
          <p:nvPr>
            <p:ph idx="1" type="body"/>
          </p:nvPr>
        </p:nvSpPr>
        <p:spPr>
          <a:xfrm>
            <a:off x="1435100" y="1447800"/>
            <a:ext cx="749935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116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06400" lvl="1" marL="914400" marR="0" rtl="0" algn="l"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C32D2E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84AA33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6" name="Google Shape;16;p29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9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9"/>
          <p:cNvSpPr txBox="1"/>
          <p:nvPr>
            <p:ph idx="12" type="sldNum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9"/>
          <p:cNvSpPr/>
          <p:nvPr/>
        </p:nvSpPr>
        <p:spPr>
          <a:xfrm>
            <a:off x="1014413" y="0"/>
            <a:ext cx="73025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ted.com/talks/chimamanda_ngozi_adichie_the_danger_of_a_single_story/transcript" TargetMode="External"/><Relationship Id="rId4" Type="http://schemas.openxmlformats.org/officeDocument/2006/relationships/image" Target="../media/image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singjupost.com/dr-shashi-tharoor-on-a-well-educated-mind-vs-a-well-formed-mind-full-transcript/#:~:text=text%20of%20Dr.-,Shashi%20Tharoor%20on%20A%20Well%20Educated%20Mind%20Vs%20a,Mind%20at%20TEDxGateway%202013%20conference.&amp;text=TRANSCRIPT%3A&amp;text=In%20fact%2C%20if%20you%20just,and%20ready%20for%20higher%20education." TargetMode="External"/><Relationship Id="rId4" Type="http://schemas.openxmlformats.org/officeDocument/2006/relationships/hyperlink" Target="https://singjupost.com/dr-shashi-tharoor-on-a-well-educated-mind-vs-a-well-formed-mind-full-transcript/#:~:text=text%20of%20Dr.-,Shashi%20Tharoor%20on%20A%20Well%20Educated%20Mind%20Vs%20a,Mind%20at%20TEDxGateway%202013%20conference.&amp;text=TRANSCRIPT%3A&amp;text=In%20fact%2C%20if%20you%20just,and%20ready%20for%20higher%20education." TargetMode="External"/><Relationship Id="rId5" Type="http://schemas.openxmlformats.org/officeDocument/2006/relationships/hyperlink" Target="https://singjupost.com/dr-shashi-tharoor-on-a-well-educated-mind-vs-a-well-formed-mind-full-transcript/#:~:text=text%20of%20Dr.-,Shashi%20Tharoor%20on%20A%20Well%20Educated%20Mind%20Vs%20a,Mind%20at%20TEDxGateway%202013%20conference.&amp;text=TRANSCRIPT%3A&amp;text=In%20fact%2C%20if%20you%20just,and%20ready%20for%20higher%20education." TargetMode="External"/><Relationship Id="rId6" Type="http://schemas.openxmlformats.org/officeDocument/2006/relationships/image" Target="../media/image4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jpg"/><Relationship Id="rId4" Type="http://schemas.openxmlformats.org/officeDocument/2006/relationships/hyperlink" Target="http://constructionlawva.com/guest-post-fridays-have-been-great-thanks-all-that-contribute/" TargetMode="External"/><Relationship Id="rId5" Type="http://schemas.openxmlformats.org/officeDocument/2006/relationships/hyperlink" Target="https://creativecommons.org/licenses/by-nc-nd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/>
          <p:nvPr>
            <p:ph type="ctrTitle"/>
          </p:nvPr>
        </p:nvSpPr>
        <p:spPr>
          <a:xfrm>
            <a:off x="1219200" y="1295400"/>
            <a:ext cx="7407275" cy="3144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 u="sng"/>
              <a:t>Sense Groups / Thought Groups and Emphasis Markers</a:t>
            </a:r>
            <a:endParaRPr>
              <a:solidFill>
                <a:srgbClr val="562214"/>
              </a:solidFill>
            </a:endParaRPr>
          </a:p>
        </p:txBody>
      </p:sp>
      <p:sp>
        <p:nvSpPr>
          <p:cNvPr id="109" name="Google Shape;109;p1"/>
          <p:cNvSpPr txBox="1"/>
          <p:nvPr>
            <p:ph idx="1" type="subTitle"/>
          </p:nvPr>
        </p:nvSpPr>
        <p:spPr>
          <a:xfrm>
            <a:off x="1431925" y="3124200"/>
            <a:ext cx="740727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 lnSpcReduction="20000"/>
          </a:bodyPr>
          <a:lstStyle/>
          <a:p>
            <a:pPr indent="0" lvl="0" marL="27432" rtl="0" algn="r">
              <a:spcBef>
                <a:spcPts val="600"/>
              </a:spcBef>
              <a:spcAft>
                <a:spcPts val="0"/>
              </a:spcAft>
              <a:buSzPts val="2080"/>
              <a:buFont typeface="Noto Sans Symbols"/>
              <a:buNone/>
            </a:pPr>
            <a:r>
              <a:t/>
            </a:r>
            <a:endParaRPr/>
          </a:p>
          <a:p>
            <a:pPr indent="0" lvl="0" marL="27432" rtl="0" algn="l">
              <a:spcBef>
                <a:spcPts val="0"/>
              </a:spcBef>
              <a:spcAft>
                <a:spcPts val="0"/>
              </a:spcAft>
              <a:buSzPts val="2080"/>
              <a:buFont typeface="Noto Sans Symbols"/>
              <a:buNone/>
            </a:pPr>
            <a:r>
              <a:t/>
            </a:r>
            <a:endParaRPr/>
          </a:p>
          <a:p>
            <a:pPr indent="0" lvl="0" marL="27432" rtl="0" algn="l">
              <a:spcBef>
                <a:spcPts val="600"/>
              </a:spcBef>
              <a:spcAft>
                <a:spcPts val="0"/>
              </a:spcAft>
              <a:buSzPts val="2080"/>
              <a:buFont typeface="Noto Sans Symbols"/>
              <a:buNone/>
            </a:pPr>
            <a:r>
              <a:t/>
            </a:r>
            <a:endParaRPr/>
          </a:p>
          <a:p>
            <a:pPr indent="0" lvl="0" marL="27432" rtl="0" algn="r">
              <a:spcBef>
                <a:spcPts val="600"/>
              </a:spcBef>
              <a:spcAft>
                <a:spcPts val="0"/>
              </a:spcAft>
              <a:buSzPts val="208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/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"/>
          <p:cNvSpPr txBox="1"/>
          <p:nvPr>
            <p:ph idx="1" type="body"/>
          </p:nvPr>
        </p:nvSpPr>
        <p:spPr>
          <a:xfrm>
            <a:off x="1435100" y="1447800"/>
            <a:ext cx="74803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365125" rtl="0" algn="just"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lang="en-US" sz="2800"/>
              <a:t>1. The government of India said the Chief Minister of Maharshtra has grossly neglected the incidence of Covid-19.</a:t>
            </a:r>
            <a:endParaRPr/>
          </a:p>
          <a:p>
            <a:pPr indent="-282575" lvl="0" marL="365125" rtl="0" algn="just"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rPr lang="en-US" sz="2800"/>
              <a:t>   </a:t>
            </a:r>
            <a:endParaRPr/>
          </a:p>
          <a:p>
            <a:pPr indent="0" lvl="0" marL="82550" rtl="0" algn="just"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rPr lang="en-US" sz="2800"/>
              <a:t>1a. The government of India/ said the Chief Minister of Maharshtra/ has grossly neglected/ the incidence of Covid-19.</a:t>
            </a:r>
            <a:endParaRPr/>
          </a:p>
          <a:p>
            <a:pPr indent="0" lvl="0" marL="82550" rtl="0" algn="ctr"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rPr lang="en-US" sz="2800"/>
              <a:t>Vs</a:t>
            </a:r>
            <a:endParaRPr/>
          </a:p>
          <a:p>
            <a:pPr indent="0" lvl="0" marL="82550" rtl="0" algn="just"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rPr lang="en-US" sz="2800"/>
              <a:t>1b. The government of India said/ the Chief Minister of Maharshtra / has grossly neglected/ the incidence of Covid-19.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 txBox="1"/>
          <p:nvPr>
            <p:ph idx="1" type="body"/>
          </p:nvPr>
        </p:nvSpPr>
        <p:spPr>
          <a:xfrm>
            <a:off x="1435100" y="1447800"/>
            <a:ext cx="749935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82550" rtl="0" algn="l">
              <a:spcBef>
                <a:spcPts val="0"/>
              </a:spcBef>
              <a:spcAft>
                <a:spcPts val="0"/>
              </a:spcAft>
              <a:buSzPts val="2880"/>
              <a:buNone/>
            </a:pPr>
            <a:r>
              <a:rPr lang="en-US" sz="3600"/>
              <a:t>2. A woman without her man is nothing.</a:t>
            </a:r>
            <a:endParaRPr/>
          </a:p>
          <a:p>
            <a:pPr indent="-99695" lvl="0" marL="365125" rtl="0" algn="l">
              <a:spcBef>
                <a:spcPts val="6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 sz="3600"/>
          </a:p>
          <a:p>
            <a:pPr indent="-514350" lvl="0" marL="596900" rtl="0" algn="l">
              <a:spcBef>
                <a:spcPts val="600"/>
              </a:spcBef>
              <a:spcAft>
                <a:spcPts val="0"/>
              </a:spcAft>
              <a:buSzPts val="2880"/>
              <a:buNone/>
            </a:pPr>
            <a:r>
              <a:rPr lang="en-US" sz="3600"/>
              <a:t> 2a.  A woman/ without her/ man is nothing.</a:t>
            </a:r>
            <a:endParaRPr/>
          </a:p>
          <a:p>
            <a:pPr indent="-514350" lvl="0" marL="596900" rtl="0" algn="ctr">
              <a:spcBef>
                <a:spcPts val="600"/>
              </a:spcBef>
              <a:spcAft>
                <a:spcPts val="0"/>
              </a:spcAft>
              <a:buSzPts val="2880"/>
              <a:buNone/>
            </a:pPr>
            <a:r>
              <a:rPr lang="en-US" sz="3600"/>
              <a:t>Vs</a:t>
            </a:r>
            <a:endParaRPr/>
          </a:p>
          <a:p>
            <a:pPr indent="-514350" lvl="0" marL="596900" rtl="0" algn="l">
              <a:spcBef>
                <a:spcPts val="600"/>
              </a:spcBef>
              <a:spcAft>
                <a:spcPts val="0"/>
              </a:spcAft>
              <a:buSzPts val="2880"/>
              <a:buNone/>
            </a:pPr>
            <a:r>
              <a:rPr lang="en-US" sz="3600"/>
              <a:t>2b. A woman without her man/ is nothing.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 txBox="1"/>
          <p:nvPr>
            <p:ph idx="1" type="body"/>
          </p:nvPr>
        </p:nvSpPr>
        <p:spPr>
          <a:xfrm>
            <a:off x="1435100" y="1447800"/>
            <a:ext cx="749935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365125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/>
              <a:t>3. Do you take sugar?</a:t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US"/>
              <a:t>    </a:t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US"/>
              <a:t>3a.  / I don't / no /</a:t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US"/>
              <a:t>Meaning: I don't, no. </a:t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US"/>
              <a:t>3b.  / I don't no/</a:t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US"/>
              <a:t>Meaning: I don't know.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 txBox="1"/>
          <p:nvPr>
            <p:ph idx="1" type="body"/>
          </p:nvPr>
        </p:nvSpPr>
        <p:spPr>
          <a:xfrm>
            <a:off x="1435100" y="1447800"/>
            <a:ext cx="7499350" cy="5135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365125" rtl="0" algn="l"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lang="en-US" sz="2800"/>
              <a:t>4. The prince said the princess had been unfaithful.  </a:t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rPr lang="en-US" sz="2800"/>
              <a:t>  </a:t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rPr lang="en-US" sz="2800"/>
              <a:t>4a.  The prince said / the princess had been unfaithful./</a:t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rPr lang="en-US" sz="2800"/>
              <a:t>   Meaning:  The prince said (that) the princess had been unfaithful.</a:t>
            </a:r>
            <a:br>
              <a:rPr lang="en-US" sz="2800"/>
            </a:br>
            <a:endParaRPr sz="2800"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rPr lang="en-US" sz="2800"/>
              <a:t>4b. / The prince / said the princess / had been unfaithful./</a:t>
            </a:r>
            <a:br>
              <a:rPr lang="en-US" sz="2800"/>
            </a:br>
            <a:r>
              <a:rPr lang="en-US" sz="2800"/>
              <a:t> Meaning: "The prince," said the princess, "had been unfaithful."</a:t>
            </a:r>
            <a:endParaRPr/>
          </a:p>
          <a:p>
            <a:pPr indent="-120015" lvl="0" marL="365125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624" y="685800"/>
            <a:ext cx="7858783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3962" y="685801"/>
            <a:ext cx="7615238" cy="586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/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Sense Groups/ Thought Groups</a:t>
            </a:r>
            <a:endParaRPr/>
          </a:p>
        </p:txBody>
      </p:sp>
      <p:sp>
        <p:nvSpPr>
          <p:cNvPr id="153" name="Google Shape;153;p8"/>
          <p:cNvSpPr txBox="1"/>
          <p:nvPr>
            <p:ph idx="1" type="body"/>
          </p:nvPr>
        </p:nvSpPr>
        <p:spPr>
          <a:xfrm>
            <a:off x="1435100" y="1447800"/>
            <a:ext cx="749935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144398" lvl="0" marL="365125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lang="en-US"/>
              <a:t>A group or sequence of words conveying a particular meaning or idea</a:t>
            </a:r>
            <a:endParaRPr/>
          </a:p>
          <a:p>
            <a:pPr indent="-144398" lvl="0" marL="365125" rtl="0" algn="l">
              <a:spcBef>
                <a:spcPts val="600"/>
              </a:spcBef>
              <a:spcAft>
                <a:spcPts val="0"/>
              </a:spcAft>
              <a:buSzPct val="80000"/>
              <a:buFont typeface="Arial"/>
              <a:buNone/>
            </a:pPr>
            <a:r>
              <a:t/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Allow you to organize your speech into groups of words that make up a single idea</a:t>
            </a:r>
            <a:endParaRPr/>
          </a:p>
          <a:p>
            <a:pPr indent="-144398" lvl="0" marL="365125" rtl="0" algn="l">
              <a:spcBef>
                <a:spcPts val="600"/>
              </a:spcBef>
              <a:spcAft>
                <a:spcPts val="0"/>
              </a:spcAft>
              <a:buSzPct val="80000"/>
              <a:buFont typeface="Arial"/>
              <a:buNone/>
            </a:pPr>
            <a:r>
              <a:t/>
            </a:r>
            <a:endParaRPr b="0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Help your listener(s) better understand the information in your speech by organizing your ideas into comprehensible “packages”</a:t>
            </a:r>
            <a:endParaRPr/>
          </a:p>
          <a:p>
            <a:pPr indent="-144398" lvl="0" marL="365125" rtl="0" algn="l">
              <a:spcBef>
                <a:spcPts val="600"/>
              </a:spcBef>
              <a:spcAft>
                <a:spcPts val="0"/>
              </a:spcAft>
              <a:buSzPct val="80000"/>
              <a:buFont typeface="Arial"/>
              <a:buNone/>
            </a:pPr>
            <a:r>
              <a:t/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Different speakers can and do use thought groups differently (refer to slides 2-5)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/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Identifying Thought Groups</a:t>
            </a:r>
            <a:endParaRPr/>
          </a:p>
        </p:txBody>
      </p:sp>
      <p:sp>
        <p:nvSpPr>
          <p:cNvPr id="160" name="Google Shape;160;p9"/>
          <p:cNvSpPr txBox="1"/>
          <p:nvPr>
            <p:ph idx="1" type="body"/>
          </p:nvPr>
        </p:nvSpPr>
        <p:spPr>
          <a:xfrm>
            <a:off x="1435100" y="1447800"/>
            <a:ext cx="749935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82550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/>
              <a:t>1. Punctuation </a:t>
            </a:r>
            <a:endParaRPr/>
          </a:p>
          <a:p>
            <a:pPr indent="0" lvl="0" marL="82550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US"/>
              <a:t>When we read aloud, the writer’s  punctuation tells us where to pause:</a:t>
            </a:r>
            <a:endParaRPr/>
          </a:p>
          <a:p>
            <a:pPr indent="-236537" lvl="1" marL="639763" rtl="0" algn="l"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comma = ,</a:t>
            </a:r>
            <a:endParaRPr/>
          </a:p>
          <a:p>
            <a:pPr indent="-236537" lvl="1" marL="639763" rtl="0" algn="l"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period = .</a:t>
            </a:r>
            <a:endParaRPr/>
          </a:p>
          <a:p>
            <a:pPr indent="-236537" lvl="1" marL="639763" rtl="0" algn="l"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semicolon = ;</a:t>
            </a:r>
            <a:endParaRPr/>
          </a:p>
          <a:p>
            <a:pPr indent="-236537" lvl="1" marL="639763" rtl="0" algn="l"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colon = :</a:t>
            </a:r>
            <a:endParaRPr/>
          </a:p>
          <a:p>
            <a:pPr indent="-236537" lvl="1" marL="639763" rtl="0" algn="l"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parenthesis = ()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/>
          <p:cNvSpPr txBox="1"/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Cont…</a:t>
            </a:r>
            <a:endParaRPr/>
          </a:p>
        </p:txBody>
      </p:sp>
      <p:sp>
        <p:nvSpPr>
          <p:cNvPr id="166" name="Google Shape;166;p10"/>
          <p:cNvSpPr txBox="1"/>
          <p:nvPr>
            <p:ph idx="1" type="body"/>
          </p:nvPr>
        </p:nvSpPr>
        <p:spPr>
          <a:xfrm>
            <a:off x="1435100" y="1447800"/>
            <a:ext cx="749935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82550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/>
              <a:t>2. Grammar</a:t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 Identification of grammatical units in a sentence</a:t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Pausing between larger grammatical units creates natural rhythm</a:t>
            </a:r>
            <a:endParaRPr/>
          </a:p>
          <a:p>
            <a:pPr indent="0" lvl="0" marL="82550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0" lvl="0" marL="82550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 txBox="1"/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Grammatical Units</a:t>
            </a:r>
            <a:endParaRPr/>
          </a:p>
        </p:txBody>
      </p:sp>
      <p:sp>
        <p:nvSpPr>
          <p:cNvPr id="173" name="Google Shape;173;p11"/>
          <p:cNvSpPr txBox="1"/>
          <p:nvPr>
            <p:ph idx="1" type="body"/>
          </p:nvPr>
        </p:nvSpPr>
        <p:spPr>
          <a:xfrm>
            <a:off x="1435100" y="1447800"/>
            <a:ext cx="749935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365125" rtl="0" algn="l"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Noun phrases</a:t>
            </a:r>
            <a:endParaRPr/>
          </a:p>
          <a:p>
            <a:pPr indent="-236537" lvl="1" marL="639763" rtl="0" algn="l"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i="1" lang="en-US"/>
              <a:t>the blue-eyed girl</a:t>
            </a:r>
            <a:endParaRPr i="1"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Verb phrases</a:t>
            </a:r>
            <a:endParaRPr/>
          </a:p>
          <a:p>
            <a:pPr indent="-236537" lvl="1" marL="639763" rtl="0" algn="l"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i="1" lang="en-US"/>
              <a:t>have been studying</a:t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Prepositional phrases</a:t>
            </a:r>
            <a:endParaRPr/>
          </a:p>
          <a:p>
            <a:pPr indent="-236537" lvl="1" marL="639763" rtl="0" algn="l"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i="1" lang="en-US"/>
              <a:t>on the table</a:t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Clauses</a:t>
            </a:r>
            <a:endParaRPr/>
          </a:p>
          <a:p>
            <a:pPr indent="-236537" lvl="1" marL="639763" rtl="0" algn="l"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i="1" lang="en-US"/>
              <a:t>When I was a student, I studied for hours.</a:t>
            </a:r>
            <a:endParaRPr/>
          </a:p>
          <a:p>
            <a:pPr indent="0" lvl="0" marL="82550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 txBox="1"/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</a:t>
            </a:r>
            <a:endParaRPr/>
          </a:p>
        </p:txBody>
      </p:sp>
      <p:sp>
        <p:nvSpPr>
          <p:cNvPr id="180" name="Google Shape;180;p12"/>
          <p:cNvSpPr txBox="1"/>
          <p:nvPr>
            <p:ph idx="1" type="body"/>
          </p:nvPr>
        </p:nvSpPr>
        <p:spPr>
          <a:xfrm>
            <a:off x="1435100" y="1447800"/>
            <a:ext cx="749935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365125" rtl="0" algn="l">
              <a:spcBef>
                <a:spcPts val="0"/>
              </a:spcBef>
              <a:spcAft>
                <a:spcPts val="0"/>
              </a:spcAft>
              <a:buSzPts val="2880"/>
              <a:buChar char="⚫"/>
            </a:pPr>
            <a:r>
              <a:rPr lang="en-US" sz="3600"/>
              <a:t>A blue-eyed girl/ entered the classroom.//</a:t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880"/>
              <a:buChar char="⚫"/>
            </a:pPr>
            <a:r>
              <a:rPr lang="en-US" sz="3600"/>
              <a:t>A blue-eyed girl/ and her best friend/ entered the room.//</a:t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880"/>
              <a:buChar char="⚫"/>
            </a:pPr>
            <a:r>
              <a:rPr lang="en-US" sz="3600"/>
              <a:t>The blue-eyed girl/ is playing with her brother.//</a:t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880"/>
              <a:buChar char="⚫"/>
            </a:pPr>
            <a:r>
              <a:rPr lang="en-US" sz="3600"/>
              <a:t>The teacher,/ whom I loved most,/ has resigned.//</a:t>
            </a:r>
            <a:endParaRPr/>
          </a:p>
          <a:p>
            <a:pPr indent="-120015" lvl="0" marL="365125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 txBox="1"/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Avoid breaking up short sentences</a:t>
            </a:r>
            <a:endParaRPr/>
          </a:p>
        </p:txBody>
      </p:sp>
      <p:sp>
        <p:nvSpPr>
          <p:cNvPr id="186" name="Google Shape;186;p13"/>
          <p:cNvSpPr txBox="1"/>
          <p:nvPr>
            <p:ph idx="1" type="body"/>
          </p:nvPr>
        </p:nvSpPr>
        <p:spPr>
          <a:xfrm>
            <a:off x="1435100" y="1447800"/>
            <a:ext cx="749935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82550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/>
              <a:t>I came.</a:t>
            </a:r>
            <a:endParaRPr/>
          </a:p>
          <a:p>
            <a:pPr indent="0" lvl="0" marL="82550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US"/>
              <a:t>		Vs</a:t>
            </a:r>
            <a:endParaRPr/>
          </a:p>
          <a:p>
            <a:pPr indent="0" lvl="0" marL="82550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US"/>
              <a:t>I came, I saw, I conquered. </a:t>
            </a:r>
            <a:endParaRPr/>
          </a:p>
          <a:p>
            <a:pPr indent="0" lvl="0" marL="82550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0" lvl="0" marL="82550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US"/>
              <a:t>I danced.</a:t>
            </a:r>
            <a:endParaRPr/>
          </a:p>
          <a:p>
            <a:pPr indent="0" lvl="0" marL="82550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US"/>
              <a:t>		Vs</a:t>
            </a:r>
            <a:endParaRPr/>
          </a:p>
          <a:p>
            <a:pPr indent="0" lvl="0" marL="82550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US"/>
              <a:t>I danced in the auditorium.</a:t>
            </a:r>
            <a:endParaRPr/>
          </a:p>
          <a:p>
            <a:pPr indent="0" lvl="0" marL="82550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0" lvl="0" marL="82550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0" lvl="0" marL="82550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"/>
          <p:cNvSpPr txBox="1"/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Thought groups usually end with content words  (not function words)</a:t>
            </a:r>
            <a:endParaRPr/>
          </a:p>
        </p:txBody>
      </p:sp>
      <p:sp>
        <p:nvSpPr>
          <p:cNvPr id="192" name="Google Shape;192;p14"/>
          <p:cNvSpPr txBox="1"/>
          <p:nvPr>
            <p:ph idx="1" type="body"/>
          </p:nvPr>
        </p:nvSpPr>
        <p:spPr>
          <a:xfrm>
            <a:off x="1435100" y="1828800"/>
            <a:ext cx="73279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365125" rtl="0" algn="l"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Content Words</a:t>
            </a:r>
            <a:endParaRPr/>
          </a:p>
          <a:p>
            <a:pPr indent="-236537" lvl="1" marL="639763" rtl="0" algn="l"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Usually nouns, main verbs, adjectives and adverbs </a:t>
            </a:r>
            <a:endParaRPr/>
          </a:p>
          <a:p>
            <a:pPr indent="-120015" lvl="0" marL="365125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Function Words</a:t>
            </a:r>
            <a:endParaRPr/>
          </a:p>
          <a:p>
            <a:pPr indent="-236537" lvl="1" marL="639763" rtl="0" algn="l"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Usually pronouns, articles, auxiliary verbs, and prepositions</a:t>
            </a:r>
            <a:endParaRPr/>
          </a:p>
          <a:p>
            <a:pPr indent="0" lvl="1" marL="403225" rtl="0" algn="l">
              <a:spcBef>
                <a:spcPts val="550"/>
              </a:spcBef>
              <a:spcAft>
                <a:spcPts val="0"/>
              </a:spcAft>
              <a:buSzPts val="2800"/>
              <a:buNone/>
            </a:pPr>
            <a:r>
              <a:rPr lang="en-US"/>
              <a:t>	</a:t>
            </a:r>
            <a:endParaRPr/>
          </a:p>
          <a:p>
            <a:pPr indent="0" lvl="1" marL="403225" rtl="0" algn="l">
              <a:spcBef>
                <a:spcPts val="55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"/>
          <p:cNvSpPr txBox="1"/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Focus Word</a:t>
            </a:r>
            <a:endParaRPr/>
          </a:p>
        </p:txBody>
      </p:sp>
      <p:sp>
        <p:nvSpPr>
          <p:cNvPr id="198" name="Google Shape;198;p15"/>
          <p:cNvSpPr txBox="1"/>
          <p:nvPr>
            <p:ph idx="1" type="body"/>
          </p:nvPr>
        </p:nvSpPr>
        <p:spPr>
          <a:xfrm>
            <a:off x="1435100" y="1447800"/>
            <a:ext cx="749935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365125" rtl="0" algn="l"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Usually the last content word in the thought group. </a:t>
            </a:r>
            <a:endParaRPr/>
          </a:p>
          <a:p>
            <a:pPr indent="0" lvl="0" marL="82550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usually louder and longer</a:t>
            </a:r>
            <a:endParaRPr/>
          </a:p>
          <a:p>
            <a:pPr indent="0" lvl="0" marL="82550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2550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exa</a:t>
            </a: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mple:</a:t>
            </a:r>
            <a:endParaRPr b="0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2550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first </a:t>
            </a:r>
            <a:r>
              <a:rPr b="1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</a:t>
            </a: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on our </a:t>
            </a:r>
            <a:r>
              <a:rPr b="1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is to address </a:t>
            </a:r>
            <a:r>
              <a:rPr b="1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parking</a:t>
            </a: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82550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"/>
          <p:cNvSpPr txBox="1"/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(1) the most likely thought group boundaries and (2) the focus word in each thought group</a:t>
            </a:r>
            <a:endParaRPr sz="2400"/>
          </a:p>
        </p:txBody>
      </p:sp>
      <p:sp>
        <p:nvSpPr>
          <p:cNvPr id="204" name="Google Shape;204;p16"/>
          <p:cNvSpPr txBox="1"/>
          <p:nvPr>
            <p:ph idx="1" type="body"/>
          </p:nvPr>
        </p:nvSpPr>
        <p:spPr>
          <a:xfrm>
            <a:off x="1435100" y="1447800"/>
            <a:ext cx="749935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365125" rtl="0" algn="l">
              <a:spcBef>
                <a:spcPts val="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I’d like to introduce my wife Nita.</a:t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you take care of the accounts I’ll handle the meeting.</a:t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Microsoft CEO Satya Nadella started a charity to fight poverty.</a:t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 new phone is acting up so could you email me instead?</a:t>
            </a:r>
            <a:endParaRPr/>
          </a:p>
          <a:p>
            <a:pPr indent="0" lvl="0" marL="82550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"/>
          <p:cNvSpPr txBox="1"/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Answers</a:t>
            </a:r>
            <a:endParaRPr/>
          </a:p>
        </p:txBody>
      </p:sp>
      <p:sp>
        <p:nvSpPr>
          <p:cNvPr id="210" name="Google Shape;210;p17"/>
          <p:cNvSpPr txBox="1"/>
          <p:nvPr>
            <p:ph idx="1" type="body"/>
          </p:nvPr>
        </p:nvSpPr>
        <p:spPr>
          <a:xfrm>
            <a:off x="1435100" y="1447800"/>
            <a:ext cx="749935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365125" rtl="0" algn="l">
              <a:spcBef>
                <a:spcPts val="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I’d like to introduce my </a:t>
            </a:r>
            <a:r>
              <a:rPr b="1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wife</a:t>
            </a: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 </a:t>
            </a:r>
            <a:r>
              <a:rPr b="1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Nita</a:t>
            </a: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you take care of the </a:t>
            </a:r>
            <a:r>
              <a:rPr b="1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accounts</a:t>
            </a: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I’ll handle the </a:t>
            </a:r>
            <a:r>
              <a:rPr b="1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meeting</a:t>
            </a: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Microsoft CEO Satya </a:t>
            </a:r>
            <a:r>
              <a:rPr b="1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Nadella</a:t>
            </a: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/started a </a:t>
            </a:r>
            <a:r>
              <a:rPr b="1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charity</a:t>
            </a: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to fight </a:t>
            </a:r>
            <a:r>
              <a:rPr b="1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poverty</a:t>
            </a: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 new phone is acting </a:t>
            </a:r>
            <a:r>
              <a:rPr b="1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</a:t>
            </a: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so could you email me </a:t>
            </a:r>
            <a:r>
              <a:rPr b="1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instead</a:t>
            </a: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  <a:p>
            <a:pPr indent="-120015" lvl="0" marL="365125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"/>
          <p:cNvSpPr txBox="1"/>
          <p:nvPr>
            <p:ph type="ctrTitle"/>
          </p:nvPr>
        </p:nvSpPr>
        <p:spPr>
          <a:xfrm>
            <a:off x="1432560" y="359898"/>
            <a:ext cx="7406640" cy="14721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8"/>
          <p:cNvSpPr txBox="1"/>
          <p:nvPr>
            <p:ph idx="1" type="subTitle"/>
          </p:nvPr>
        </p:nvSpPr>
        <p:spPr>
          <a:xfrm>
            <a:off x="1432560" y="1850064"/>
            <a:ext cx="7254240" cy="2874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27432" rtl="0" algn="l">
              <a:spcBef>
                <a:spcPts val="0"/>
              </a:spcBef>
              <a:spcAft>
                <a:spcPts val="0"/>
              </a:spcAft>
              <a:buSzPts val="5280"/>
              <a:buNone/>
            </a:pPr>
            <a:r>
              <a:rPr b="1" i="0" lang="en-US" sz="6600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     	Emphasis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 txBox="1"/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Emphasis</a:t>
            </a:r>
            <a:endParaRPr/>
          </a:p>
        </p:txBody>
      </p:sp>
      <p:sp>
        <p:nvSpPr>
          <p:cNvPr id="222" name="Google Shape;222;p19"/>
          <p:cNvSpPr txBox="1"/>
          <p:nvPr>
            <p:ph idx="1" type="body"/>
          </p:nvPr>
        </p:nvSpPr>
        <p:spPr>
          <a:xfrm>
            <a:off x="1435100" y="1447800"/>
            <a:ext cx="74803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0830" lvl="0" marL="596900" rtl="0" algn="l">
              <a:spcBef>
                <a:spcPts val="0"/>
              </a:spcBef>
              <a:spcAft>
                <a:spcPts val="0"/>
              </a:spcAft>
              <a:buSzPts val="3520"/>
              <a:buFont typeface="Gill Sans"/>
              <a:buNone/>
            </a:pPr>
            <a:r>
              <a:t/>
            </a:r>
            <a:endParaRPr sz="4400"/>
          </a:p>
          <a:p>
            <a:pPr indent="-514350" lvl="0" marL="596900" rtl="0" algn="l">
              <a:spcBef>
                <a:spcPts val="600"/>
              </a:spcBef>
              <a:spcAft>
                <a:spcPts val="0"/>
              </a:spcAft>
              <a:buSzPts val="3520"/>
              <a:buFont typeface="Gill Sans"/>
              <a:buAutoNum type="alphaLcParenR"/>
            </a:pPr>
            <a:r>
              <a:rPr lang="en-US" sz="4400"/>
              <a:t>You have stolen </a:t>
            </a:r>
            <a:r>
              <a:rPr b="1" lang="en-US" sz="4400"/>
              <a:t>my pen.</a:t>
            </a:r>
            <a:endParaRPr sz="4400"/>
          </a:p>
          <a:p>
            <a:pPr indent="-514350" lvl="0" marL="596900" rtl="0" algn="l">
              <a:spcBef>
                <a:spcPts val="600"/>
              </a:spcBef>
              <a:spcAft>
                <a:spcPts val="0"/>
              </a:spcAft>
              <a:buSzPts val="3520"/>
              <a:buFont typeface="Gill Sans"/>
              <a:buAutoNum type="alphaLcParenR"/>
            </a:pPr>
            <a:r>
              <a:rPr lang="en-US" sz="4400"/>
              <a:t>You have </a:t>
            </a:r>
            <a:r>
              <a:rPr b="1" lang="en-US" sz="4400"/>
              <a:t>stolen</a:t>
            </a:r>
            <a:r>
              <a:rPr lang="en-US" sz="4400"/>
              <a:t> my pen.</a:t>
            </a:r>
            <a:endParaRPr/>
          </a:p>
          <a:p>
            <a:pPr indent="-514350" lvl="0" marL="596900" rtl="0" algn="l">
              <a:spcBef>
                <a:spcPts val="600"/>
              </a:spcBef>
              <a:spcAft>
                <a:spcPts val="0"/>
              </a:spcAft>
              <a:buSzPts val="3520"/>
              <a:buFont typeface="Gill Sans"/>
              <a:buAutoNum type="alphaLcParenR"/>
            </a:pPr>
            <a:r>
              <a:rPr b="1" lang="en-US" sz="4400"/>
              <a:t>You</a:t>
            </a:r>
            <a:r>
              <a:rPr lang="en-US" sz="4400"/>
              <a:t> have stolen my pen.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"/>
          <p:cNvSpPr txBox="1"/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Emphasis</a:t>
            </a:r>
            <a:endParaRPr/>
          </a:p>
        </p:txBody>
      </p:sp>
      <p:sp>
        <p:nvSpPr>
          <p:cNvPr id="228" name="Google Shape;228;p20"/>
          <p:cNvSpPr txBox="1"/>
          <p:nvPr>
            <p:ph idx="1" type="body"/>
          </p:nvPr>
        </p:nvSpPr>
        <p:spPr>
          <a:xfrm>
            <a:off x="1435100" y="1447800"/>
            <a:ext cx="749935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742950" lvl="0" marL="825500" rtl="0" algn="l">
              <a:spcBef>
                <a:spcPts val="0"/>
              </a:spcBef>
              <a:spcAft>
                <a:spcPts val="0"/>
              </a:spcAft>
              <a:buSzPts val="3200"/>
              <a:buFont typeface="Gill Sans"/>
              <a:buAutoNum type="alphaLcParenR"/>
            </a:pPr>
            <a:r>
              <a:rPr b="1" lang="en-US" sz="4000"/>
              <a:t>I</a:t>
            </a:r>
            <a:r>
              <a:rPr lang="en-US" sz="4000"/>
              <a:t> want you to read it aloud.</a:t>
            </a:r>
            <a:endParaRPr/>
          </a:p>
          <a:p>
            <a:pPr indent="-742950" lvl="0" marL="825500" rtl="0" algn="l">
              <a:spcBef>
                <a:spcPts val="600"/>
              </a:spcBef>
              <a:spcAft>
                <a:spcPts val="0"/>
              </a:spcAft>
              <a:buSzPts val="3200"/>
              <a:buFont typeface="Gill Sans"/>
              <a:buAutoNum type="alphaLcParenR"/>
            </a:pPr>
            <a:r>
              <a:rPr lang="en-US" sz="4000"/>
              <a:t>I </a:t>
            </a:r>
            <a:r>
              <a:rPr b="1" lang="en-US" sz="4000"/>
              <a:t>want </a:t>
            </a:r>
            <a:r>
              <a:rPr lang="en-US" sz="4000"/>
              <a:t>you to read it aloud.</a:t>
            </a:r>
            <a:endParaRPr/>
          </a:p>
          <a:p>
            <a:pPr indent="-742950" lvl="0" marL="825500" rtl="0" algn="l">
              <a:spcBef>
                <a:spcPts val="600"/>
              </a:spcBef>
              <a:spcAft>
                <a:spcPts val="0"/>
              </a:spcAft>
              <a:buSzPts val="3200"/>
              <a:buFont typeface="Gill Sans"/>
              <a:buAutoNum type="alphaLcParenR"/>
            </a:pPr>
            <a:r>
              <a:rPr lang="en-US" sz="4000"/>
              <a:t>I want </a:t>
            </a:r>
            <a:r>
              <a:rPr b="1" lang="en-US" sz="4000"/>
              <a:t>you </a:t>
            </a:r>
            <a:r>
              <a:rPr lang="en-US" sz="4000"/>
              <a:t> to read it aloud.</a:t>
            </a:r>
            <a:endParaRPr/>
          </a:p>
          <a:p>
            <a:pPr indent="-742950" lvl="0" marL="825500" rtl="0" algn="l">
              <a:spcBef>
                <a:spcPts val="600"/>
              </a:spcBef>
              <a:spcAft>
                <a:spcPts val="0"/>
              </a:spcAft>
              <a:buSzPts val="3200"/>
              <a:buFont typeface="Gill Sans"/>
              <a:buAutoNum type="alphaLcParenR"/>
            </a:pPr>
            <a:r>
              <a:rPr lang="en-US" sz="4000"/>
              <a:t>I want you </a:t>
            </a:r>
            <a:r>
              <a:rPr b="1" lang="en-US" sz="4000"/>
              <a:t> to read </a:t>
            </a:r>
            <a:r>
              <a:rPr lang="en-US" sz="4000"/>
              <a:t>it aloud.</a:t>
            </a:r>
            <a:endParaRPr/>
          </a:p>
          <a:p>
            <a:pPr indent="-742950" lvl="0" marL="825500" rtl="0" algn="l">
              <a:spcBef>
                <a:spcPts val="600"/>
              </a:spcBef>
              <a:spcAft>
                <a:spcPts val="0"/>
              </a:spcAft>
              <a:buSzPts val="3200"/>
              <a:buFont typeface="Gill Sans"/>
              <a:buAutoNum type="alphaLcParenR"/>
            </a:pPr>
            <a:r>
              <a:rPr lang="en-US" sz="4000"/>
              <a:t>I want you to read </a:t>
            </a:r>
            <a:r>
              <a:rPr b="1" lang="en-US" sz="4000"/>
              <a:t>it </a:t>
            </a:r>
            <a:r>
              <a:rPr lang="en-US" sz="4000"/>
              <a:t>aloud.</a:t>
            </a:r>
            <a:endParaRPr/>
          </a:p>
          <a:p>
            <a:pPr indent="-742950" lvl="0" marL="825500" rtl="0" algn="l">
              <a:spcBef>
                <a:spcPts val="600"/>
              </a:spcBef>
              <a:spcAft>
                <a:spcPts val="0"/>
              </a:spcAft>
              <a:buSzPts val="3200"/>
              <a:buFont typeface="Gill Sans"/>
              <a:buAutoNum type="alphaLcParenR"/>
            </a:pPr>
            <a:r>
              <a:rPr lang="en-US" sz="4000"/>
              <a:t>I want you to read it </a:t>
            </a:r>
            <a:r>
              <a:rPr b="1" lang="en-US" sz="4000"/>
              <a:t>aloud.</a:t>
            </a:r>
            <a:endParaRPr sz="4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"/>
          <p:cNvSpPr txBox="1"/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Emphasis</a:t>
            </a:r>
            <a:endParaRPr/>
          </a:p>
        </p:txBody>
      </p:sp>
      <p:sp>
        <p:nvSpPr>
          <p:cNvPr id="234" name="Google Shape;234;p21"/>
          <p:cNvSpPr txBox="1"/>
          <p:nvPr>
            <p:ph idx="1" type="body"/>
          </p:nvPr>
        </p:nvSpPr>
        <p:spPr>
          <a:xfrm>
            <a:off x="1435100" y="1447800"/>
            <a:ext cx="749935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365125" rtl="0" algn="l"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the extra force that you give to a word or part of a word when you utter it</a:t>
            </a:r>
            <a:endParaRPr/>
          </a:p>
          <a:p>
            <a:pPr indent="-120015" lvl="0" marL="365125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to reinforce or to give special meaning to the part of an utterance</a:t>
            </a:r>
            <a:endParaRPr/>
          </a:p>
          <a:p>
            <a:pPr indent="-120015" lvl="0" marL="365125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the emphasized part(s) of a sentence is/are louder and longer. </a:t>
            </a:r>
            <a:endParaRPr/>
          </a:p>
          <a:p>
            <a:pPr indent="-120015" lvl="0" marL="365125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120015" lvl="0" marL="365125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"/>
          <p:cNvSpPr txBox="1"/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2"/>
          <p:cNvSpPr txBox="1"/>
          <p:nvPr>
            <p:ph idx="1" type="body"/>
          </p:nvPr>
        </p:nvSpPr>
        <p:spPr>
          <a:xfrm>
            <a:off x="1435100" y="1447800"/>
            <a:ext cx="749935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96900" rtl="0" algn="l">
              <a:spcBef>
                <a:spcPts val="0"/>
              </a:spcBef>
              <a:spcAft>
                <a:spcPts val="0"/>
              </a:spcAft>
              <a:buSzPts val="2560"/>
              <a:buAutoNum type="alphaUcPeriod"/>
            </a:pPr>
            <a:r>
              <a:rPr lang="en-US" u="sng"/>
              <a:t>I </a:t>
            </a:r>
            <a:r>
              <a:rPr lang="en-US"/>
              <a:t>want you to unmute your mike.</a:t>
            </a:r>
            <a:endParaRPr/>
          </a:p>
          <a:p>
            <a:pPr indent="-514350" lvl="0" marL="596900" rtl="0" algn="l">
              <a:spcBef>
                <a:spcPts val="600"/>
              </a:spcBef>
              <a:spcAft>
                <a:spcPts val="0"/>
              </a:spcAft>
              <a:buSzPts val="2560"/>
              <a:buFont typeface="Noto Sans Symbols"/>
              <a:buAutoNum type="alphaUcPeriod"/>
            </a:pPr>
            <a:r>
              <a:rPr lang="en-US"/>
              <a:t>I want you to unmute </a:t>
            </a:r>
            <a:r>
              <a:rPr lang="en-US" u="sng"/>
              <a:t>your mike</a:t>
            </a:r>
            <a:r>
              <a:rPr lang="en-US"/>
              <a:t>.</a:t>
            </a:r>
            <a:endParaRPr/>
          </a:p>
          <a:p>
            <a:pPr indent="-514350" lvl="0" marL="596900" rtl="0" algn="l">
              <a:spcBef>
                <a:spcPts val="600"/>
              </a:spcBef>
              <a:spcAft>
                <a:spcPts val="0"/>
              </a:spcAft>
              <a:buSzPts val="2560"/>
              <a:buFont typeface="Noto Sans Symbols"/>
              <a:buAutoNum type="alphaUcPeriod"/>
            </a:pPr>
            <a:r>
              <a:rPr lang="en-US"/>
              <a:t>I want </a:t>
            </a:r>
            <a:r>
              <a:rPr lang="en-US" u="sng"/>
              <a:t>you</a:t>
            </a:r>
            <a:r>
              <a:rPr lang="en-US"/>
              <a:t> to unmute your mike.</a:t>
            </a:r>
            <a:endParaRPr/>
          </a:p>
          <a:p>
            <a:pPr indent="0" lvl="0" marL="82550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/>
          <p:cNvSpPr txBox="1"/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3"/>
          <p:cNvSpPr txBox="1"/>
          <p:nvPr>
            <p:ph idx="1" type="body"/>
          </p:nvPr>
        </p:nvSpPr>
        <p:spPr>
          <a:xfrm>
            <a:off x="1435100" y="1447800"/>
            <a:ext cx="749935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365125" rtl="0" algn="l"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A.</a:t>
            </a:r>
            <a:r>
              <a:rPr lang="en-US" u="sng"/>
              <a:t> I </a:t>
            </a:r>
            <a:r>
              <a:rPr lang="en-US"/>
              <a:t>want a red rose.</a:t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B. I want a </a:t>
            </a:r>
            <a:r>
              <a:rPr lang="en-US" u="sng"/>
              <a:t>red</a:t>
            </a:r>
            <a:r>
              <a:rPr lang="en-US"/>
              <a:t> rose.</a:t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C. I want a red </a:t>
            </a:r>
            <a:r>
              <a:rPr lang="en-US" u="sng"/>
              <a:t>rose</a:t>
            </a:r>
            <a:r>
              <a:rPr lang="en-US"/>
              <a:t>.</a:t>
            </a:r>
            <a:endParaRPr/>
          </a:p>
          <a:p>
            <a:pPr indent="-120015" lvl="0" marL="365125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"/>
          <p:cNvSpPr txBox="1"/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4"/>
          <p:cNvSpPr txBox="1"/>
          <p:nvPr>
            <p:ph idx="1" type="body"/>
          </p:nvPr>
        </p:nvSpPr>
        <p:spPr>
          <a:xfrm>
            <a:off x="1435100" y="1447800"/>
            <a:ext cx="749935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365125" rtl="0" algn="l"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US" u="sng"/>
              <a:t>I </a:t>
            </a:r>
            <a:r>
              <a:rPr lang="en-US"/>
              <a:t>want a ripe mango.</a:t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I want a </a:t>
            </a:r>
            <a:r>
              <a:rPr lang="en-US" u="sng"/>
              <a:t>ripe</a:t>
            </a:r>
            <a:r>
              <a:rPr lang="en-US"/>
              <a:t> mango.</a:t>
            </a:r>
            <a:endParaRPr/>
          </a:p>
          <a:p>
            <a:pPr indent="-282575" lvl="0" marL="365125" rtl="0" algn="l"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I want a ripe </a:t>
            </a:r>
            <a:r>
              <a:rPr lang="en-US" u="sng"/>
              <a:t>mango.</a:t>
            </a:r>
            <a:endParaRPr u="sng"/>
          </a:p>
          <a:p>
            <a:pPr indent="-120015" lvl="0" marL="365125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5"/>
          <p:cNvSpPr txBox="1"/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5"/>
          <p:cNvSpPr txBox="1"/>
          <p:nvPr>
            <p:ph idx="1" type="body"/>
          </p:nvPr>
        </p:nvSpPr>
        <p:spPr>
          <a:xfrm>
            <a:off x="1435100" y="1447800"/>
            <a:ext cx="749935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365125" rtl="0" algn="l"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b="0" i="0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I’m a storyteller / and / I would like to tell you a few personal stories about / what I like to call the danger / of the single story / I grew up on a university campus / in eastern Nigeria / my mother says that I started reading at the age of two / although I think four is probably close to the truth / so I was an early reader / and what I read / were British and American children’s books / I was also an early writer / and when I began to write / at about / the age of seven / stories in pencil with crayon illustrations that my poor mother was obligated to read / I wrote exactly the kinds of stories I was reading / all my characters were white / and blue-eyed / they played in the snow / they ate apples / and they talked a lot about the weather / how lovely it was that the sun had come out / now this despite the fact / that I lived / in Nigeria / I had never been outside Nigeria / we didn’t have snow / we ate mangoes / and we never talked about the weather because there was no need to/</a:t>
            </a:r>
            <a:endParaRPr/>
          </a:p>
          <a:p>
            <a:pPr indent="-120015" lvl="0" marL="365125" rtl="0" algn="l"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6"/>
          <p:cNvSpPr txBox="1"/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Practice:  </a:t>
            </a:r>
            <a:r>
              <a:rPr b="0" i="0" lang="en-US" sz="3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en-US" sz="3100" u="sng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TED Talk by Chimamanda Ngozi Adichie, entitled “The danger of a single story.”</a:t>
            </a:r>
            <a:endParaRPr/>
          </a:p>
        </p:txBody>
      </p:sp>
      <p:pic>
        <p:nvPicPr>
          <p:cNvPr id="265" name="Google Shape;265;p26" title="The danger of a single story | Chimamanda Ngozi Adichie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5100" y="1738313"/>
            <a:ext cx="7499350" cy="4217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7"/>
          <p:cNvSpPr txBox="1"/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Practice: </a:t>
            </a:r>
            <a:r>
              <a:rPr lang="en-US" sz="3100" u="sng">
                <a:solidFill>
                  <a:schemeClr val="hlink"/>
                </a:solidFill>
                <a:hlinkClick r:id="rId3"/>
              </a:rPr>
              <a:t>S</a:t>
            </a:r>
            <a:r>
              <a:rPr b="0" i="0" lang="en-US" sz="3100" u="sng">
                <a:solidFill>
                  <a:srgbClr val="3A3A3A"/>
                </a:solidFill>
                <a:latin typeface="Verdana"/>
                <a:ea typeface="Verdana"/>
                <a:cs typeface="Verdana"/>
                <a:sym typeface="Verdan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hashi Tharoor on </a:t>
            </a:r>
            <a:r>
              <a:rPr b="0" i="1" lang="en-US" sz="3100" u="sng">
                <a:solidFill>
                  <a:srgbClr val="3A3A3A"/>
                </a:solidFill>
                <a:latin typeface="Verdana"/>
                <a:ea typeface="Verdana"/>
                <a:cs typeface="Verdana"/>
                <a:sym typeface="Verdan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 Well Educated Mind Vs a Well Formed Mind</a:t>
            </a:r>
            <a:endParaRPr/>
          </a:p>
        </p:txBody>
      </p:sp>
      <p:pic>
        <p:nvPicPr>
          <p:cNvPr id="272" name="Google Shape;272;p27" title="A well educated mind vs a well formed mind: Dr. Shashi Tharoor at TEDxGateway 2013"/>
          <p:cNvPicPr preferRelativeResize="0"/>
          <p:nvPr>
            <p:ph idx="1" type="body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35100" y="1738313"/>
            <a:ext cx="7499350" cy="4217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8"/>
          <p:cNvSpPr txBox="1"/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8" name="Google Shape;278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4375" y="1447800"/>
            <a:ext cx="640080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8"/>
          <p:cNvSpPr txBox="1"/>
          <p:nvPr/>
        </p:nvSpPr>
        <p:spPr>
          <a:xfrm>
            <a:off x="1984375" y="6248400"/>
            <a:ext cx="640080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This Photo</a:t>
            </a: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Unknown Author is licensed under </a:t>
            </a:r>
            <a:r>
              <a:rPr b="0" i="0" lang="en-US" sz="9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 BY-NC-ND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2012-08-30T17:08:10Z</dcterms:created>
  <dc:creator>p14commni</dc:creator>
</cp:coreProperties>
</file>