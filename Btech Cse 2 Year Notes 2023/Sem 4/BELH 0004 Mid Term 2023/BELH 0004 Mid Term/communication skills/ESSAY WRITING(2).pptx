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embeddedFontLst>
    <p:embeddedFont>
      <p:font typeface="Open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3" roundtripDataSignature="AMtx7mgNACHHReVX8Yq6xF9T2B1gS1qz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OpenSans-bold.fntdata"/><Relationship Id="rId11" Type="http://schemas.openxmlformats.org/officeDocument/2006/relationships/slide" Target="slides/slide7.xml"/><Relationship Id="rId22" Type="http://schemas.openxmlformats.org/officeDocument/2006/relationships/font" Target="fonts/OpenSans-boldItalic.fntdata"/><Relationship Id="rId10" Type="http://schemas.openxmlformats.org/officeDocument/2006/relationships/slide" Target="slides/slide6.xml"/><Relationship Id="rId21" Type="http://schemas.openxmlformats.org/officeDocument/2006/relationships/font" Target="fonts/OpenSans-italic.fntdata"/><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OpenSans-regular.fnt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 name="Google Shape;10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1" name="Google Shape;13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 name="Shape 21"/>
        <p:cNvGrpSpPr/>
        <p:nvPr/>
      </p:nvGrpSpPr>
      <p:grpSpPr>
        <a:xfrm>
          <a:off x="0" y="0"/>
          <a:ext cx="0" cy="0"/>
          <a:chOff x="0" y="0"/>
          <a:chExt cx="0" cy="0"/>
        </a:xfrm>
      </p:grpSpPr>
      <p:sp>
        <p:nvSpPr>
          <p:cNvPr id="22" name="Google Shape;22;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8" name="Shape 28"/>
        <p:cNvGrpSpPr/>
        <p:nvPr/>
      </p:nvGrpSpPr>
      <p:grpSpPr>
        <a:xfrm>
          <a:off x="0" y="0"/>
          <a:ext cx="0" cy="0"/>
          <a:chOff x="0" y="0"/>
          <a:chExt cx="0" cy="0"/>
        </a:xfrm>
      </p:grpSpPr>
      <p:sp>
        <p:nvSpPr>
          <p:cNvPr id="29" name="Google Shape;29;p2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1" name="Google Shape;3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7"/>
          <p:cNvSpPr/>
          <p:nvPr>
            <p:ph idx="2" type="pic"/>
          </p:nvPr>
        </p:nvSpPr>
        <p:spPr>
          <a:xfrm>
            <a:off x="5183188" y="987425"/>
            <a:ext cx="6172200" cy="4873625"/>
          </a:xfrm>
          <a:prstGeom prst="rect">
            <a:avLst/>
          </a:prstGeom>
          <a:noFill/>
          <a:ln>
            <a:noFill/>
          </a:ln>
        </p:spPr>
      </p:sp>
      <p:sp>
        <p:nvSpPr>
          <p:cNvPr id="64" name="Google Shape;64;p2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www.collegeessay.org/blog/descriptive-essay-examples/descriptive-essay-example-for-university.pdf"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www.myperfectwords.com/blog/essay-writing-guide/essay-writing" TargetMode="Externa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idx="4294967295" type="ctrTitle"/>
          </p:nvPr>
        </p:nvSpPr>
        <p:spPr>
          <a:xfrm>
            <a:off x="4114800" y="1771650"/>
            <a:ext cx="4419599" cy="609600"/>
          </a:xfrm>
          <a:prstGeom prst="rect">
            <a:avLst/>
          </a:prstGeom>
          <a:noFill/>
          <a:ln>
            <a:noFill/>
          </a:ln>
        </p:spPr>
        <p:txBody>
          <a:bodyPr anchorCtr="0" anchor="ctr" bIns="45700" lIns="91425" spcFirstLastPara="1" rIns="91425" wrap="square" tIns="45700">
            <a:normAutofit fontScale="90000"/>
          </a:bodyPr>
          <a:lstStyle/>
          <a:p>
            <a:pPr indent="0" lvl="0" marL="0" marR="0" rtl="0" algn="ctr">
              <a:lnSpc>
                <a:spcPct val="90000"/>
              </a:lnSpc>
              <a:spcBef>
                <a:spcPts val="0"/>
              </a:spcBef>
              <a:spcAft>
                <a:spcPts val="0"/>
              </a:spcAft>
              <a:buClr>
                <a:schemeClr val="dk1"/>
              </a:buClr>
              <a:buSzPct val="100000"/>
              <a:buFont typeface="Calibri"/>
              <a:buNone/>
            </a:pPr>
            <a:br>
              <a:rPr b="0" i="0" lang="en-US" sz="4800" u="none" cap="none" strike="noStrike">
                <a:solidFill>
                  <a:schemeClr val="dk1"/>
                </a:solidFill>
                <a:latin typeface="Calibri"/>
                <a:ea typeface="Calibri"/>
                <a:cs typeface="Calibri"/>
                <a:sym typeface="Calibri"/>
              </a:rPr>
            </a:br>
            <a:br>
              <a:rPr b="0" i="0" lang="en-US" sz="4800" u="none" cap="none" strike="noStrike">
                <a:solidFill>
                  <a:schemeClr val="dk1"/>
                </a:solidFill>
                <a:latin typeface="Calibri"/>
                <a:ea typeface="Calibri"/>
                <a:cs typeface="Calibri"/>
                <a:sym typeface="Calibri"/>
              </a:rPr>
            </a:br>
            <a:br>
              <a:rPr b="0" i="0" lang="en-US" sz="4800" u="none" cap="none" strike="noStrike">
                <a:solidFill>
                  <a:schemeClr val="dk1"/>
                </a:solidFill>
                <a:latin typeface="Calibri"/>
                <a:ea typeface="Calibri"/>
                <a:cs typeface="Calibri"/>
                <a:sym typeface="Calibri"/>
              </a:rPr>
            </a:br>
            <a:br>
              <a:rPr b="0" i="0" lang="en-US" sz="4800" u="none" cap="none" strike="noStrike">
                <a:solidFill>
                  <a:schemeClr val="dk1"/>
                </a:solidFill>
                <a:latin typeface="Calibri"/>
                <a:ea typeface="Calibri"/>
                <a:cs typeface="Calibri"/>
                <a:sym typeface="Calibri"/>
              </a:rPr>
            </a:br>
            <a:br>
              <a:rPr b="0" i="0" lang="en-US" sz="4800" u="none" cap="none" strike="noStrike">
                <a:solidFill>
                  <a:schemeClr val="dk1"/>
                </a:solidFill>
                <a:latin typeface="Calibri"/>
                <a:ea typeface="Calibri"/>
                <a:cs typeface="Calibri"/>
                <a:sym typeface="Calibri"/>
              </a:rPr>
            </a:br>
            <a:r>
              <a:rPr b="0" i="0" lang="en-US" sz="4800" u="none" cap="none" strike="noStrike">
                <a:solidFill>
                  <a:schemeClr val="dk1"/>
                </a:solidFill>
                <a:latin typeface="Calibri"/>
                <a:ea typeface="Calibri"/>
                <a:cs typeface="Calibri"/>
                <a:sym typeface="Calibri"/>
              </a:rPr>
              <a:t>ESSAY WRITING </a:t>
            </a:r>
            <a:endParaRPr b="0" i="0" sz="4400" u="none" cap="none" strike="noStrike">
              <a:solidFill>
                <a:schemeClr val="dk1"/>
              </a:solidFill>
              <a:latin typeface="Calibri"/>
              <a:ea typeface="Calibri"/>
              <a:cs typeface="Calibri"/>
              <a:sym typeface="Calibri"/>
            </a:endParaRPr>
          </a:p>
        </p:txBody>
      </p:sp>
      <p:pic>
        <p:nvPicPr>
          <p:cNvPr id="85" name="Google Shape;85;p1"/>
          <p:cNvPicPr preferRelativeResize="0"/>
          <p:nvPr/>
        </p:nvPicPr>
        <p:blipFill rotWithShape="1">
          <a:blip r:embed="rId3">
            <a:alphaModFix/>
          </a:blip>
          <a:srcRect b="0" l="0" r="0" t="0"/>
          <a:stretch/>
        </p:blipFill>
        <p:spPr>
          <a:xfrm>
            <a:off x="3629025" y="314324"/>
            <a:ext cx="4905374" cy="2257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SAMPLE I</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			</a:t>
            </a:r>
            <a:r>
              <a:rPr lang="en-US">
                <a:latin typeface="Times New Roman"/>
                <a:ea typeface="Times New Roman"/>
                <a:cs typeface="Times New Roman"/>
                <a:sym typeface="Times New Roman"/>
              </a:rPr>
              <a:t>	</a:t>
            </a:r>
            <a:r>
              <a:rPr b="1" lang="en-US" sz="2800">
                <a:latin typeface="Times New Roman"/>
                <a:ea typeface="Times New Roman"/>
                <a:cs typeface="Times New Roman"/>
                <a:sym typeface="Times New Roman"/>
              </a:rPr>
              <a:t>Lying</a:t>
            </a:r>
            <a:endParaRPr/>
          </a:p>
          <a:p>
            <a:pPr indent="0" lvl="0" marL="0" rtl="0" algn="l">
              <a:lnSpc>
                <a:spcPct val="90000"/>
              </a:lnSpc>
              <a:spcBef>
                <a:spcPts val="1000"/>
              </a:spcBef>
              <a:spcAft>
                <a:spcPts val="0"/>
              </a:spcAft>
              <a:buClr>
                <a:srgbClr val="000000"/>
              </a:buClr>
              <a:buSzPts val="2400"/>
              <a:buNone/>
            </a:pPr>
            <a:r>
              <a:rPr b="0" i="0" lang="en-US" sz="2400">
                <a:solidFill>
                  <a:srgbClr val="000000"/>
                </a:solidFill>
                <a:latin typeface="Times New Roman"/>
                <a:ea typeface="Times New Roman"/>
                <a:cs typeface="Times New Roman"/>
                <a:sym typeface="Times New Roman"/>
              </a:rPr>
              <a:t>In my opinion, exaggeration is the same as lying. My friend John is always exaggerating. When we met two years ago, he told me he spoke French fluently. However, last week we met a French man at a soccer match. John couldn’t say to him anything in French except, “Where are you from?” and “Do you like England?” I think he lies because he wants to be exciting. </a:t>
            </a:r>
            <a:r>
              <a:rPr lang="en-US" sz="2400">
                <a:solidFill>
                  <a:srgbClr val="000000"/>
                </a:solidFill>
                <a:latin typeface="Times New Roman"/>
                <a:ea typeface="Times New Roman"/>
                <a:cs typeface="Times New Roman"/>
                <a:sym typeface="Times New Roman"/>
              </a:rPr>
              <a:t>Last night, he told me he has a new millionaire friend. He probably has a lot of money but isn’t a millionaire. I don’t believe John is a good friend.</a:t>
            </a:r>
            <a:endParaRPr b="0" i="0" sz="2400">
              <a:solidFill>
                <a:srgbClr val="000000"/>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400"/>
              <a:buNone/>
            </a:pPr>
            <a:r>
              <a:t/>
            </a:r>
            <a:endParaRPr sz="2400">
              <a:solidFill>
                <a:srgbClr val="000000"/>
              </a:solidFill>
              <a:latin typeface="Open Sans"/>
              <a:ea typeface="Open Sans"/>
              <a:cs typeface="Open Sans"/>
              <a:sym typeface="Open Sans"/>
            </a:endParaRPr>
          </a:p>
        </p:txBody>
      </p:sp>
      <p:pic>
        <p:nvPicPr>
          <p:cNvPr id="92" name="Google Shape;92;p2"/>
          <p:cNvPicPr preferRelativeResize="0"/>
          <p:nvPr/>
        </p:nvPicPr>
        <p:blipFill rotWithShape="1">
          <a:blip r:embed="rId3">
            <a:alphaModFix/>
          </a:blip>
          <a:srcRect b="0" l="0" r="0" t="0"/>
          <a:stretch/>
        </p:blipFill>
        <p:spPr>
          <a:xfrm>
            <a:off x="10419160" y="0"/>
            <a:ext cx="1441053" cy="8572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677334" y="104776"/>
            <a:ext cx="8596668" cy="4381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Sample II</a:t>
            </a:r>
            <a:endParaRPr/>
          </a:p>
        </p:txBody>
      </p:sp>
      <p:sp>
        <p:nvSpPr>
          <p:cNvPr id="98" name="Google Shape;98;p3"/>
          <p:cNvSpPr txBox="1"/>
          <p:nvPr>
            <p:ph idx="1" type="body"/>
          </p:nvPr>
        </p:nvSpPr>
        <p:spPr>
          <a:xfrm>
            <a:off x="677334" y="257175"/>
            <a:ext cx="9057216" cy="660082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lang="en-US" sz="1400">
                <a:latin typeface="Times New Roman"/>
                <a:ea typeface="Times New Roman"/>
                <a:cs typeface="Times New Roman"/>
                <a:sym typeface="Times New Roman"/>
              </a:rPr>
              <a:t>					</a:t>
            </a:r>
            <a:r>
              <a:rPr b="1" lang="en-US" sz="2000">
                <a:latin typeface="Times New Roman"/>
                <a:ea typeface="Times New Roman"/>
                <a:cs typeface="Times New Roman"/>
                <a:sym typeface="Times New Roman"/>
              </a:rPr>
              <a:t>Frustration at the Airport </a:t>
            </a:r>
            <a:endParaRPr/>
          </a:p>
          <a:p>
            <a:pPr indent="0" lvl="0" marL="0" rtl="0" algn="l">
              <a:lnSpc>
                <a:spcPct val="90000"/>
              </a:lnSpc>
              <a:spcBef>
                <a:spcPts val="1000"/>
              </a:spcBef>
              <a:spcAft>
                <a:spcPts val="0"/>
              </a:spcAft>
              <a:buClr>
                <a:schemeClr val="dk1"/>
              </a:buClr>
              <a:buSzPts val="1400"/>
              <a:buNone/>
            </a:pPr>
            <a:r>
              <a:rPr lang="en-US" sz="1400">
                <a:latin typeface="Times New Roman"/>
                <a:ea typeface="Times New Roman"/>
                <a:cs typeface="Times New Roman"/>
                <a:sym typeface="Times New Roman"/>
              </a:rPr>
              <a:t>I had never been more anxious in my life. I had just spent the last three endless hours trying to get to the airport so that I could travel home. Now, as I watched the bus driver set my luggage on the airport sidewalk, I realized that my frustration had only just begun. </a:t>
            </a:r>
            <a:endParaRPr/>
          </a:p>
          <a:p>
            <a:pPr indent="0" lvl="0" marL="0" rtl="0" algn="l">
              <a:lnSpc>
                <a:spcPct val="90000"/>
              </a:lnSpc>
              <a:spcBef>
                <a:spcPts val="1000"/>
              </a:spcBef>
              <a:spcAft>
                <a:spcPts val="0"/>
              </a:spcAft>
              <a:buClr>
                <a:schemeClr val="dk1"/>
              </a:buClr>
              <a:buSzPts val="1400"/>
              <a:buNone/>
            </a:pPr>
            <a:r>
              <a:rPr lang="en-US" sz="1400">
                <a:latin typeface="Times New Roman"/>
                <a:ea typeface="Times New Roman"/>
                <a:cs typeface="Times New Roman"/>
                <a:sym typeface="Times New Roman"/>
              </a:rPr>
              <a:t>This was my first visit to the international terminal of the airport, and nothing was familiar. I could not make sense of any of the signs. Where was the check-in counter? Where should I take my luggage? I had no idea where the immigration line was. I began to panic. What time was it? Where was my plane? I had to find help because I could not be late! </a:t>
            </a:r>
            <a:endParaRPr/>
          </a:p>
          <a:p>
            <a:pPr indent="0" lvl="0" marL="0" rtl="0" algn="l">
              <a:lnSpc>
                <a:spcPct val="90000"/>
              </a:lnSpc>
              <a:spcBef>
                <a:spcPts val="1000"/>
              </a:spcBef>
              <a:spcAft>
                <a:spcPts val="0"/>
              </a:spcAft>
              <a:buClr>
                <a:schemeClr val="dk1"/>
              </a:buClr>
              <a:buSzPts val="1400"/>
              <a:buNone/>
            </a:pPr>
            <a:r>
              <a:rPr lang="en-US" sz="1400">
                <a:latin typeface="Times New Roman"/>
                <a:ea typeface="Times New Roman"/>
                <a:cs typeface="Times New Roman"/>
                <a:sym typeface="Times New Roman"/>
              </a:rPr>
              <a:t>I tried to ask a passing businessman for help, but my words all came out wrong. He just scowled and walked away. What had happened? I had been in this country for a whole semester, and I could not even remember how to ask for directions. This was awful! Another bus arrived at the terminal, and the passengers came out carrying all sorts of luggage. Here was my chance! I could follow them to the right place, and I would not have to say a word. </a:t>
            </a:r>
            <a:endParaRPr/>
          </a:p>
          <a:p>
            <a:pPr indent="0" lvl="0" marL="0" rtl="0" algn="l">
              <a:lnSpc>
                <a:spcPct val="90000"/>
              </a:lnSpc>
              <a:spcBef>
                <a:spcPts val="1000"/>
              </a:spcBef>
              <a:spcAft>
                <a:spcPts val="0"/>
              </a:spcAft>
              <a:buClr>
                <a:schemeClr val="dk1"/>
              </a:buClr>
              <a:buSzPts val="1400"/>
              <a:buNone/>
            </a:pPr>
            <a:r>
              <a:rPr lang="en-US" sz="1400">
                <a:latin typeface="Times New Roman"/>
                <a:ea typeface="Times New Roman"/>
                <a:cs typeface="Times New Roman"/>
                <a:sym typeface="Times New Roman"/>
              </a:rPr>
              <a:t>I dragged my enormous suitcase behind me and followed the group. We finally reached the elevators. Oh, no! They all fit in it, but there was not enough room for me. I watched in despair as the elevator doors closed. I had no idea what to do next. I got on the elevator when it returned and gazed at all the buttons. Which one could it be? I pressed button 3. The elevator slowly climbed up to the third floor and jerked to a stop. A high, squeaking noise announced the opening of the doors, and I looked around timidly. </a:t>
            </a:r>
            <a:endParaRPr/>
          </a:p>
          <a:p>
            <a:pPr indent="0" lvl="0" marL="0" rtl="0" algn="l">
              <a:lnSpc>
                <a:spcPct val="90000"/>
              </a:lnSpc>
              <a:spcBef>
                <a:spcPts val="1000"/>
              </a:spcBef>
              <a:spcAft>
                <a:spcPts val="0"/>
              </a:spcAft>
              <a:buClr>
                <a:schemeClr val="dk1"/>
              </a:buClr>
              <a:buSzPts val="1400"/>
              <a:buNone/>
            </a:pPr>
            <a:r>
              <a:rPr lang="en-US" sz="1400">
                <a:latin typeface="Times New Roman"/>
                <a:ea typeface="Times New Roman"/>
                <a:cs typeface="Times New Roman"/>
                <a:sym typeface="Times New Roman"/>
              </a:rPr>
              <a:t>Tears formed in my eyes as I saw the deserted lobby and realized that I would miss my plane. Just then an elderly airport employee shuffled around the corner. He saw that I was lost and asked if he could help. He gave me his handkerchief to dry my eyes as I related my predicament. He smiled kindly, and led me down a long hallway. We walked up some stairs, turned a corner, and, at last, there was customs! He led me past all the lines of people and pushed my luggage to the inspection counter. </a:t>
            </a:r>
            <a:endParaRPr/>
          </a:p>
          <a:p>
            <a:pPr indent="0" lvl="0" marL="0" rtl="0" algn="l">
              <a:lnSpc>
                <a:spcPct val="90000"/>
              </a:lnSpc>
              <a:spcBef>
                <a:spcPts val="1000"/>
              </a:spcBef>
              <a:spcAft>
                <a:spcPts val="0"/>
              </a:spcAft>
              <a:buClr>
                <a:schemeClr val="dk1"/>
              </a:buClr>
              <a:buSzPts val="1400"/>
              <a:buNone/>
            </a:pPr>
            <a:r>
              <a:rPr lang="en-US" sz="1400">
                <a:latin typeface="Times New Roman"/>
                <a:ea typeface="Times New Roman"/>
                <a:cs typeface="Times New Roman"/>
                <a:sym typeface="Times New Roman"/>
              </a:rPr>
              <a:t>When I turned to thank him for all his help, he was gone. I will never know that kind man’s name, but I will always remember his unexpected courtesy. He helped me when I needed it the most. I can only hope that one day I will be able to do the same for another traveller who is suffering through a terrible journey.</a:t>
            </a:r>
            <a:endParaRPr/>
          </a:p>
          <a:p>
            <a:pPr indent="0" lvl="0" marL="0" rtl="0" algn="l">
              <a:lnSpc>
                <a:spcPct val="90000"/>
              </a:lnSpc>
              <a:spcBef>
                <a:spcPts val="1000"/>
              </a:spcBef>
              <a:spcAft>
                <a:spcPts val="0"/>
              </a:spcAft>
              <a:buClr>
                <a:schemeClr val="dk1"/>
              </a:buClr>
              <a:buSzPts val="1400"/>
              <a:buNone/>
            </a:pPr>
            <a:r>
              <a:rPr lang="en-US" sz="1400" u="sng">
                <a:solidFill>
                  <a:schemeClr val="hlink"/>
                </a:solidFill>
                <a:latin typeface="Times New Roman"/>
                <a:ea typeface="Times New Roman"/>
                <a:cs typeface="Times New Roman"/>
                <a:sym typeface="Times New Roman"/>
                <a:hlinkClick r:id="rId3"/>
              </a:rPr>
              <a:t>www.collegeessay.org/blog/descriptive-essay-examples/descriptive-essay-example-for-university.pdf</a:t>
            </a:r>
            <a:r>
              <a:rPr lang="en-US" sz="1400">
                <a:latin typeface="Times New Roman"/>
                <a:ea typeface="Times New Roman"/>
                <a:cs typeface="Times New Roman"/>
                <a:sym typeface="Times New Roman"/>
              </a:rPr>
              <a:t> </a:t>
            </a:r>
            <a:endParaRPr sz="1400">
              <a:latin typeface="Times New Roman"/>
              <a:ea typeface="Times New Roman"/>
              <a:cs typeface="Times New Roman"/>
              <a:sym typeface="Times New Roman"/>
            </a:endParaRPr>
          </a:p>
        </p:txBody>
      </p:sp>
      <p:pic>
        <p:nvPicPr>
          <p:cNvPr id="99" name="Google Shape;99;p3"/>
          <p:cNvPicPr preferRelativeResize="0"/>
          <p:nvPr/>
        </p:nvPicPr>
        <p:blipFill rotWithShape="1">
          <a:blip r:embed="rId4">
            <a:alphaModFix/>
          </a:blip>
          <a:srcRect b="0" l="0" r="0" t="0"/>
          <a:stretch/>
        </p:blipFill>
        <p:spPr>
          <a:xfrm>
            <a:off x="10419160" y="0"/>
            <a:ext cx="1441053" cy="857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extLst>
                  <a:ext uri="http://customooxmlschemas.google.com/">
                    <go:slidesCustomData xmlns:go="http://customooxmlschemas.google.com/" textRoundtripDataId="0"/>
                  </a:ext>
                </a:extLst>
              </a:rPr>
              <a:t>Structure of an Essay</a:t>
            </a:r>
            <a:br>
              <a:rPr lang="en-US"/>
            </a:br>
            <a:endParaRPr/>
          </a:p>
        </p:txBody>
      </p:sp>
      <p:sp>
        <p:nvSpPr>
          <p:cNvPr id="105" name="Google Shape;105;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latin typeface="Times New Roman"/>
                <a:ea typeface="Times New Roman"/>
                <a:cs typeface="Times New Roman"/>
                <a:sym typeface="Times New Roman"/>
              </a:rPr>
              <a:t>An essay is a prose text and consists of three basic parts: an introduction, a body, and a conclusion.</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Introduction: It is the first paragraph of an essay having a topic sentence and thesis statement.</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Body Paragraphs: An essay has multiple body paragraphs whose role would be to develop the idea portrayed in the introduction.</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Conclusion: It is the last and final paragraph that sums up the idea or ideas expressed in the essay.</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pic>
        <p:nvPicPr>
          <p:cNvPr id="106" name="Google Shape;106;p4"/>
          <p:cNvPicPr preferRelativeResize="0"/>
          <p:nvPr/>
        </p:nvPicPr>
        <p:blipFill rotWithShape="1">
          <a:blip r:embed="rId3">
            <a:alphaModFix/>
          </a:blip>
          <a:srcRect b="0" l="0" r="0" t="0"/>
          <a:stretch/>
        </p:blipFill>
        <p:spPr>
          <a:xfrm>
            <a:off x="10419160" y="0"/>
            <a:ext cx="1441053" cy="857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Essay – its features</a:t>
            </a:r>
            <a:endParaRPr/>
          </a:p>
        </p:txBody>
      </p:sp>
      <p:sp>
        <p:nvSpPr>
          <p:cNvPr id="112" name="Google Shape;112;p6"/>
          <p:cNvSpPr txBox="1"/>
          <p:nvPr>
            <p:ph idx="1" type="body"/>
          </p:nvPr>
        </p:nvSpPr>
        <p:spPr>
          <a:xfrm>
            <a:off x="8105775" y="2293938"/>
            <a:ext cx="1053928" cy="388077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None/>
            </a:pPr>
            <a:r>
              <a:rPr lang="en-US">
                <a:solidFill>
                  <a:schemeClr val="lt1"/>
                </a:solidFill>
              </a:rPr>
              <a:t>.</a:t>
            </a:r>
            <a:endParaRPr/>
          </a:p>
        </p:txBody>
      </p:sp>
      <p:sp>
        <p:nvSpPr>
          <p:cNvPr id="113" name="Google Shape;113;p6"/>
          <p:cNvSpPr txBox="1"/>
          <p:nvPr>
            <p:ph idx="2" type="body"/>
          </p:nvPr>
        </p:nvSpPr>
        <p:spPr>
          <a:xfrm>
            <a:off x="626363" y="2160589"/>
            <a:ext cx="7479412" cy="388077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	       </a:t>
            </a:r>
            <a:endParaRPr/>
          </a:p>
          <a:p>
            <a:pPr indent="-228600" lvl="0" marL="228600" rtl="0" algn="l">
              <a:lnSpc>
                <a:spcPct val="90000"/>
              </a:lnSpc>
              <a:spcBef>
                <a:spcPts val="1000"/>
              </a:spcBef>
              <a:spcAft>
                <a:spcPts val="0"/>
              </a:spcAft>
              <a:buClr>
                <a:schemeClr val="dk1"/>
              </a:buClr>
              <a:buSzPts val="2400"/>
              <a:buAutoNum type="arabicPeriod"/>
            </a:pPr>
            <a:r>
              <a:rPr lang="en-US" sz="2400">
                <a:latin typeface="Times New Roman"/>
                <a:ea typeface="Times New Roman"/>
                <a:cs typeface="Times New Roman"/>
                <a:sym typeface="Times New Roman"/>
              </a:rPr>
              <a:t>Topic is provided in the introductory paragraph.</a:t>
            </a:r>
            <a:endParaRPr/>
          </a:p>
          <a:p>
            <a:pPr indent="-228600" lvl="0" marL="228600" rtl="0" algn="l">
              <a:lnSpc>
                <a:spcPct val="90000"/>
              </a:lnSpc>
              <a:spcBef>
                <a:spcPts val="1000"/>
              </a:spcBef>
              <a:spcAft>
                <a:spcPts val="0"/>
              </a:spcAft>
              <a:buClr>
                <a:schemeClr val="dk1"/>
              </a:buClr>
              <a:buSzPts val="2400"/>
              <a:buAutoNum type="arabicPeriod"/>
            </a:pPr>
            <a:r>
              <a:rPr lang="en-US" sz="2400">
                <a:latin typeface="Times New Roman"/>
                <a:ea typeface="Times New Roman"/>
                <a:cs typeface="Times New Roman"/>
                <a:sym typeface="Times New Roman"/>
              </a:rPr>
              <a:t>Here, the controlling idea is expressed in the ‘thesis statement’. The thesis statement is the last sentence in the introductory paragraph.</a:t>
            </a:r>
            <a:endParaRPr/>
          </a:p>
          <a:p>
            <a:pPr indent="-228600" lvl="0" marL="228600" rtl="0" algn="l">
              <a:lnSpc>
                <a:spcPct val="90000"/>
              </a:lnSpc>
              <a:spcBef>
                <a:spcPts val="1000"/>
              </a:spcBef>
              <a:spcAft>
                <a:spcPts val="0"/>
              </a:spcAft>
              <a:buClr>
                <a:schemeClr val="dk1"/>
              </a:buClr>
              <a:buSzPts val="2400"/>
              <a:buAutoNum type="arabicPeriod"/>
            </a:pPr>
            <a:r>
              <a:rPr lang="en-US" sz="2400">
                <a:latin typeface="Times New Roman"/>
                <a:ea typeface="Times New Roman"/>
                <a:cs typeface="Times New Roman"/>
                <a:sym typeface="Times New Roman"/>
              </a:rPr>
              <a:t>The idea expressed by the thesis statement is assisted by body paragraphs.</a:t>
            </a:r>
            <a:endParaRPr/>
          </a:p>
          <a:p>
            <a:pPr indent="-228600" lvl="0" marL="228600" rtl="0" algn="l">
              <a:lnSpc>
                <a:spcPct val="90000"/>
              </a:lnSpc>
              <a:spcBef>
                <a:spcPts val="1000"/>
              </a:spcBef>
              <a:spcAft>
                <a:spcPts val="0"/>
              </a:spcAft>
              <a:buClr>
                <a:schemeClr val="dk1"/>
              </a:buClr>
              <a:buSzPts val="2400"/>
              <a:buAutoNum type="arabicPeriod"/>
            </a:pPr>
            <a:r>
              <a:rPr lang="en-US" sz="2400">
                <a:latin typeface="Times New Roman"/>
                <a:ea typeface="Times New Roman"/>
                <a:cs typeface="Times New Roman"/>
                <a:sym typeface="Times New Roman"/>
              </a:rPr>
              <a:t>The idea presented by the thesis statement is expressed in the conclusion.</a:t>
            </a:r>
            <a:endParaRPr/>
          </a:p>
        </p:txBody>
      </p:sp>
      <p:pic>
        <p:nvPicPr>
          <p:cNvPr id="114" name="Google Shape;114;p6"/>
          <p:cNvPicPr preferRelativeResize="0"/>
          <p:nvPr/>
        </p:nvPicPr>
        <p:blipFill rotWithShape="1">
          <a:blip r:embed="rId3">
            <a:alphaModFix/>
          </a:blip>
          <a:srcRect b="0" l="0" r="0" t="0"/>
          <a:stretch/>
        </p:blipFill>
        <p:spPr>
          <a:xfrm>
            <a:off x="10419160" y="0"/>
            <a:ext cx="1441053" cy="857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How to write a good essay?</a:t>
            </a:r>
            <a:endParaRPr/>
          </a:p>
        </p:txBody>
      </p:sp>
      <p:sp>
        <p:nvSpPr>
          <p:cNvPr id="120" name="Google Shape;120;p7"/>
          <p:cNvSpPr txBox="1"/>
          <p:nvPr>
            <p:ph idx="1" type="body"/>
          </p:nvPr>
        </p:nvSpPr>
        <p:spPr>
          <a:xfrm>
            <a:off x="677334" y="1362075"/>
            <a:ext cx="8596668" cy="5105400"/>
          </a:xfrm>
          <a:prstGeom prst="rect">
            <a:avLst/>
          </a:prstGeom>
          <a:noFill/>
          <a:ln>
            <a:noFill/>
          </a:ln>
        </p:spPr>
        <p:txBody>
          <a:bodyPr anchorCtr="0" anchor="t" bIns="45700" lIns="91425" spcFirstLastPara="1" rIns="91425" wrap="square" tIns="45700">
            <a:normAutofit fontScale="62500" lnSpcReduction="10000"/>
          </a:bodyPr>
          <a:lstStyle/>
          <a:p>
            <a:pPr indent="-228600" lvl="0" marL="228600" rtl="0" algn="l">
              <a:lnSpc>
                <a:spcPct val="150000"/>
              </a:lnSpc>
              <a:spcBef>
                <a:spcPts val="0"/>
              </a:spcBef>
              <a:spcAft>
                <a:spcPts val="0"/>
              </a:spcAft>
              <a:buClr>
                <a:schemeClr val="dk1"/>
              </a:buClr>
              <a:buSzPct val="100000"/>
              <a:buAutoNum type="arabicPeriod"/>
            </a:pPr>
            <a:r>
              <a:rPr lang="en-US">
                <a:latin typeface="Times New Roman"/>
                <a:ea typeface="Times New Roman"/>
                <a:cs typeface="Times New Roman"/>
                <a:sym typeface="Times New Roman"/>
              </a:rPr>
              <a:t>Choice of topic – There should always be more than one topic to select from. The introductory paragraph may specify</a:t>
            </a:r>
            <a:endParaRPr/>
          </a:p>
          <a:p>
            <a:pPr indent="0" lvl="0" marL="0" rtl="0" algn="l">
              <a:lnSpc>
                <a:spcPct val="160000"/>
              </a:lnSpc>
              <a:spcBef>
                <a:spcPts val="1000"/>
              </a:spcBef>
              <a:spcAft>
                <a:spcPts val="0"/>
              </a:spcAft>
              <a:buClr>
                <a:schemeClr val="dk1"/>
              </a:buClr>
              <a:buSzPct val="100000"/>
              <a:buNone/>
            </a:pPr>
            <a:r>
              <a:rPr lang="en-US">
                <a:latin typeface="Times New Roman"/>
                <a:ea typeface="Times New Roman"/>
                <a:cs typeface="Times New Roman"/>
                <a:sym typeface="Times New Roman"/>
              </a:rPr>
              <a:t>	a. The topic you will address;</a:t>
            </a:r>
            <a:endParaRPr>
              <a:latin typeface="Times New Roman"/>
              <a:ea typeface="Times New Roman"/>
              <a:cs typeface="Times New Roman"/>
              <a:sym typeface="Times New Roman"/>
            </a:endParaRPr>
          </a:p>
          <a:p>
            <a:pPr indent="0" lvl="0" marL="0" rtl="0" algn="l">
              <a:lnSpc>
                <a:spcPct val="160000"/>
              </a:lnSpc>
              <a:spcBef>
                <a:spcPts val="1000"/>
              </a:spcBef>
              <a:spcAft>
                <a:spcPts val="0"/>
              </a:spcAft>
              <a:buClr>
                <a:schemeClr val="dk1"/>
              </a:buClr>
              <a:buSzPct val="100000"/>
              <a:buNone/>
            </a:pPr>
            <a:r>
              <a:rPr lang="en-US">
                <a:latin typeface="Times New Roman"/>
                <a:ea typeface="Times New Roman"/>
                <a:cs typeface="Times New Roman"/>
                <a:sym typeface="Times New Roman"/>
              </a:rPr>
              <a:t>	b. Your position on the subject;</a:t>
            </a:r>
            <a:endParaRPr/>
          </a:p>
          <a:p>
            <a:pPr indent="0" lvl="0" marL="0" rtl="0" algn="l">
              <a:lnSpc>
                <a:spcPct val="160000"/>
              </a:lnSpc>
              <a:spcBef>
                <a:spcPts val="1000"/>
              </a:spcBef>
              <a:spcAft>
                <a:spcPts val="0"/>
              </a:spcAft>
              <a:buClr>
                <a:schemeClr val="dk1"/>
              </a:buClr>
              <a:buSzPct val="100000"/>
              <a:buNone/>
            </a:pPr>
            <a:r>
              <a:rPr lang="en-US">
                <a:latin typeface="Times New Roman"/>
                <a:ea typeface="Times New Roman"/>
                <a:cs typeface="Times New Roman"/>
                <a:sym typeface="Times New Roman"/>
              </a:rPr>
              <a:t>	c. Why the reader should be at all interested in the subject;</a:t>
            </a:r>
            <a:endParaRPr/>
          </a:p>
          <a:p>
            <a:pPr indent="0" lvl="0" marL="0" rtl="0" algn="l">
              <a:lnSpc>
                <a:spcPct val="160000"/>
              </a:lnSpc>
              <a:spcBef>
                <a:spcPts val="1000"/>
              </a:spcBef>
              <a:spcAft>
                <a:spcPts val="0"/>
              </a:spcAft>
              <a:buClr>
                <a:schemeClr val="dk1"/>
              </a:buClr>
              <a:buSzPct val="100000"/>
              <a:buNone/>
            </a:pPr>
            <a:r>
              <a:rPr lang="en-US">
                <a:latin typeface="Times New Roman"/>
                <a:ea typeface="Times New Roman"/>
                <a:cs typeface="Times New Roman"/>
                <a:sym typeface="Times New Roman"/>
              </a:rPr>
              <a:t>	d. Why your reader should pay any attention to your take on this subject.</a:t>
            </a:r>
            <a:endParaRPr>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ct val="100000"/>
              <a:buNone/>
            </a:pPr>
            <a:r>
              <a:rPr lang="en-US">
                <a:latin typeface="Times New Roman"/>
                <a:ea typeface="Times New Roman"/>
                <a:cs typeface="Times New Roman"/>
                <a:sym typeface="Times New Roman"/>
              </a:rPr>
              <a:t>2. Prepare an outline of your essay – If the topic is ‘Indian Agriculture’, create some key points to guide your essay.</a:t>
            </a:r>
            <a:endParaRPr/>
          </a:p>
          <a:p>
            <a:pPr indent="0" lvl="0" marL="0" rtl="0" algn="l">
              <a:lnSpc>
                <a:spcPct val="150000"/>
              </a:lnSpc>
              <a:spcBef>
                <a:spcPts val="1000"/>
              </a:spcBef>
              <a:spcAft>
                <a:spcPts val="0"/>
              </a:spcAft>
              <a:buClr>
                <a:schemeClr val="dk1"/>
              </a:buClr>
              <a:buSzPct val="100000"/>
              <a:buNone/>
            </a:pPr>
            <a:r>
              <a:rPr lang="en-US">
                <a:latin typeface="Times New Roman"/>
                <a:ea typeface="Times New Roman"/>
                <a:cs typeface="Times New Roman"/>
                <a:sym typeface="Times New Roman"/>
              </a:rPr>
              <a:t> Historical background – how important agriculture is to India – unique traits of Indian agriculture – modern agronomy- contemporary issues – probable solutions – future of agriculture – conclusion</a:t>
            </a:r>
            <a:endParaRPr/>
          </a:p>
        </p:txBody>
      </p:sp>
      <p:pic>
        <p:nvPicPr>
          <p:cNvPr id="121" name="Google Shape;121;p7"/>
          <p:cNvPicPr preferRelativeResize="0"/>
          <p:nvPr/>
        </p:nvPicPr>
        <p:blipFill rotWithShape="1">
          <a:blip r:embed="rId3">
            <a:alphaModFix/>
          </a:blip>
          <a:srcRect b="0" l="0" r="0" t="0"/>
          <a:stretch/>
        </p:blipFill>
        <p:spPr>
          <a:xfrm>
            <a:off x="10419160" y="0"/>
            <a:ext cx="1441053" cy="857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9"/>
          <p:cNvSpPr txBox="1"/>
          <p:nvPr>
            <p:ph type="title"/>
          </p:nvPr>
        </p:nvSpPr>
        <p:spPr>
          <a:xfrm>
            <a:off x="838200" y="37147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How to introduce the subject of your essay?</a:t>
            </a:r>
            <a:endParaRPr/>
          </a:p>
        </p:txBody>
      </p:sp>
      <p:sp>
        <p:nvSpPr>
          <p:cNvPr id="127" name="Google Shape;127;p9"/>
          <p:cNvSpPr txBox="1"/>
          <p:nvPr>
            <p:ph idx="1" type="body"/>
          </p:nvPr>
        </p:nvSpPr>
        <p:spPr>
          <a:xfrm>
            <a:off x="1797609" y="1186250"/>
            <a:ext cx="8596800" cy="47052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chemeClr val="dk1"/>
              </a:buClr>
              <a:buSzPct val="100000"/>
              <a:buNone/>
            </a:pPr>
            <a:r>
              <a:rPr lang="en-US"/>
              <a:t>3. </a:t>
            </a:r>
            <a:r>
              <a:rPr lang="en-US">
                <a:latin typeface="Times New Roman"/>
                <a:ea typeface="Times New Roman"/>
                <a:cs typeface="Times New Roman"/>
                <a:sym typeface="Times New Roman"/>
              </a:rPr>
              <a:t>Use your ideas, anecdotes, opinions, evidence and suggestions – It is feasible to prepare a first draft of an essay and then go for the final draft.</a:t>
            </a:r>
            <a:endParaRPr/>
          </a:p>
          <a:p>
            <a:pPr indent="0" lvl="0" marL="0" rtl="0" algn="l">
              <a:lnSpc>
                <a:spcPct val="90000"/>
              </a:lnSpc>
              <a:spcBef>
                <a:spcPts val="1000"/>
              </a:spcBef>
              <a:spcAft>
                <a:spcPts val="0"/>
              </a:spcAft>
              <a:buClr>
                <a:schemeClr val="dk1"/>
              </a:buClr>
              <a:buSzPct val="100000"/>
              <a:buNone/>
            </a:pPr>
            <a:r>
              <a:rPr b="1" lang="en-US">
                <a:latin typeface="Times New Roman"/>
                <a:ea typeface="Times New Roman"/>
                <a:cs typeface="Times New Roman"/>
                <a:sym typeface="Times New Roman"/>
              </a:rPr>
              <a:t>	a. Analogy:</a:t>
            </a:r>
            <a:r>
              <a:rPr lang="en-US">
                <a:latin typeface="Times New Roman"/>
                <a:ea typeface="Times New Roman"/>
                <a:cs typeface="Times New Roman"/>
                <a:sym typeface="Times New Roman"/>
              </a:rPr>
              <a:t> Portray a comparison between something which your reader is acquainted with and your subject.</a:t>
            </a:r>
            <a:endParaRPr/>
          </a:p>
          <a:p>
            <a:pPr indent="0" lvl="0" marL="0" rtl="0" algn="l">
              <a:lnSpc>
                <a:spcPct val="90000"/>
              </a:lnSpc>
              <a:spcBef>
                <a:spcPts val="1000"/>
              </a:spcBef>
              <a:spcAft>
                <a:spcPts val="0"/>
              </a:spcAft>
              <a:buClr>
                <a:schemeClr val="dk1"/>
              </a:buClr>
              <a:buSzPct val="100000"/>
              <a:buNone/>
            </a:pPr>
            <a:r>
              <a:rPr b="1" lang="en-US">
                <a:latin typeface="Times New Roman"/>
                <a:ea typeface="Times New Roman"/>
                <a:cs typeface="Times New Roman"/>
                <a:sym typeface="Times New Roman"/>
              </a:rPr>
              <a:t>	b. Anecdote: </a:t>
            </a:r>
            <a:r>
              <a:rPr lang="en-US">
                <a:latin typeface="Times New Roman"/>
                <a:ea typeface="Times New Roman"/>
                <a:cs typeface="Times New Roman"/>
                <a:sym typeface="Times New Roman"/>
              </a:rPr>
              <a:t>Select a brief fact/situation that links your subject to it and reports the story.</a:t>
            </a:r>
            <a:endParaRPr/>
          </a:p>
          <a:p>
            <a:pPr indent="0" lvl="0" marL="0" rtl="0" algn="l">
              <a:lnSpc>
                <a:spcPct val="90000"/>
              </a:lnSpc>
              <a:spcBef>
                <a:spcPts val="1000"/>
              </a:spcBef>
              <a:spcAft>
                <a:spcPts val="0"/>
              </a:spcAft>
              <a:buClr>
                <a:schemeClr val="dk1"/>
              </a:buClr>
              <a:buSzPct val="100000"/>
              <a:buNone/>
            </a:pPr>
            <a:r>
              <a:rPr b="1" lang="en-US">
                <a:latin typeface="Times New Roman"/>
                <a:ea typeface="Times New Roman"/>
                <a:cs typeface="Times New Roman"/>
                <a:sym typeface="Times New Roman"/>
              </a:rPr>
              <a:t>	c. Dialogue:</a:t>
            </a:r>
            <a:r>
              <a:rPr lang="en-US">
                <a:latin typeface="Times New Roman"/>
                <a:ea typeface="Times New Roman"/>
                <a:cs typeface="Times New Roman"/>
                <a:sym typeface="Times New Roman"/>
              </a:rPr>
              <a:t> Include a brief conversation from a source that is linked to your subject and that can guide you to your argument.</a:t>
            </a:r>
            <a:endParaRPr/>
          </a:p>
          <a:p>
            <a:pPr indent="0" lvl="0" marL="0" rtl="0" algn="l">
              <a:lnSpc>
                <a:spcPct val="90000"/>
              </a:lnSpc>
              <a:spcBef>
                <a:spcPts val="1000"/>
              </a:spcBef>
              <a:spcAft>
                <a:spcPts val="0"/>
              </a:spcAft>
              <a:buClr>
                <a:schemeClr val="dk1"/>
              </a:buClr>
              <a:buSzPct val="100000"/>
              <a:buNone/>
            </a:pPr>
            <a:r>
              <a:rPr b="1" lang="en-US">
                <a:latin typeface="Times New Roman"/>
                <a:ea typeface="Times New Roman"/>
                <a:cs typeface="Times New Roman"/>
                <a:sym typeface="Times New Roman"/>
              </a:rPr>
              <a:t>	d. Startling remark/ hook</a:t>
            </a:r>
            <a:r>
              <a:rPr lang="en-US">
                <a:latin typeface="Times New Roman"/>
                <a:ea typeface="Times New Roman"/>
                <a:cs typeface="Times New Roman"/>
                <a:sym typeface="Times New Roman"/>
              </a:rPr>
              <a:t>: This should be a real attention grabber. However, make certain that it is actually related to your subject and your assertion about it. </a:t>
            </a:r>
            <a:endParaRPr/>
          </a:p>
          <a:p>
            <a:pPr indent="0" lvl="0" marL="0" rtl="0" algn="l">
              <a:lnSpc>
                <a:spcPct val="90000"/>
              </a:lnSpc>
              <a:spcBef>
                <a:spcPts val="1000"/>
              </a:spcBef>
              <a:spcAft>
                <a:spcPts val="0"/>
              </a:spcAft>
              <a:buClr>
                <a:schemeClr val="dk1"/>
              </a:buClr>
              <a:buSzPct val="100000"/>
              <a:buNone/>
            </a:pPr>
            <a:r>
              <a:rPr b="1" lang="en-US">
                <a:latin typeface="Times New Roman"/>
                <a:ea typeface="Times New Roman"/>
                <a:cs typeface="Times New Roman"/>
                <a:sym typeface="Times New Roman"/>
              </a:rPr>
              <a:t>	e. Quotation:</a:t>
            </a:r>
            <a:r>
              <a:rPr lang="en-US">
                <a:latin typeface="Times New Roman"/>
                <a:ea typeface="Times New Roman"/>
                <a:cs typeface="Times New Roman"/>
                <a:sym typeface="Times New Roman"/>
              </a:rPr>
              <a:t> Find a quotation that is related to your subject and indicate how it is related to your thesis. Quotations can come from within the text being discussed or from another source.</a:t>
            </a:r>
            <a:endParaRPr>
              <a:latin typeface="Times New Roman"/>
              <a:ea typeface="Times New Roman"/>
              <a:cs typeface="Times New Roman"/>
              <a:sym typeface="Times New Roman"/>
            </a:endParaRPr>
          </a:p>
        </p:txBody>
      </p:sp>
      <p:pic>
        <p:nvPicPr>
          <p:cNvPr id="128" name="Google Shape;128;p9"/>
          <p:cNvPicPr preferRelativeResize="0"/>
          <p:nvPr/>
        </p:nvPicPr>
        <p:blipFill rotWithShape="1">
          <a:blip r:embed="rId3">
            <a:alphaModFix/>
          </a:blip>
          <a:srcRect b="0" l="0" r="0" t="0"/>
          <a:stretch/>
        </p:blipFill>
        <p:spPr>
          <a:xfrm>
            <a:off x="10419160" y="0"/>
            <a:ext cx="1441053" cy="8572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34" name="Google Shape;134;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10000"/>
          </a:bodyPr>
          <a:lstStyle/>
          <a:p>
            <a:pPr indent="0" lvl="0" marL="0" rtl="0" algn="l">
              <a:lnSpc>
                <a:spcPct val="200000"/>
              </a:lnSpc>
              <a:spcBef>
                <a:spcPts val="0"/>
              </a:spcBef>
              <a:spcAft>
                <a:spcPts val="0"/>
              </a:spcAft>
              <a:buClr>
                <a:schemeClr val="dk1"/>
              </a:buClr>
              <a:buSzPct val="100000"/>
              <a:buNone/>
            </a:pPr>
            <a:r>
              <a:rPr lang="en-US"/>
              <a:t>4</a:t>
            </a:r>
            <a:r>
              <a:rPr lang="en-US">
                <a:latin typeface="Times New Roman"/>
                <a:ea typeface="Times New Roman"/>
                <a:cs typeface="Times New Roman"/>
                <a:sym typeface="Times New Roman"/>
              </a:rPr>
              <a:t>. Read </a:t>
            </a:r>
            <a:r>
              <a:rPr lang="en-US">
                <a:latin typeface="Times New Roman"/>
                <a:ea typeface="Times New Roman"/>
                <a:cs typeface="Times New Roman"/>
                <a:sym typeface="Times New Roman"/>
                <a:extLst>
                  <a:ext uri="http://customooxmlschemas.google.com/">
                    <go:slidesCustomData xmlns:go="http://customooxmlschemas.google.com/" textRoundtripDataId="1"/>
                  </a:ext>
                </a:extLst>
              </a:rPr>
              <a:t>others’ </a:t>
            </a:r>
            <a:r>
              <a:rPr lang="en-US">
                <a:latin typeface="Times New Roman"/>
                <a:ea typeface="Times New Roman"/>
                <a:cs typeface="Times New Roman"/>
                <a:sym typeface="Times New Roman"/>
              </a:rPr>
              <a:t>essays – explore the archive of essays written over the years starting from Bacon, Lamb, Hazlitt, Addison, Shaw, and so on.</a:t>
            </a:r>
            <a:endParaRPr/>
          </a:p>
          <a:p>
            <a:pPr indent="0" lvl="0" marL="0" rtl="0" algn="l">
              <a:lnSpc>
                <a:spcPct val="200000"/>
              </a:lnSpc>
              <a:spcBef>
                <a:spcPts val="1000"/>
              </a:spcBef>
              <a:spcAft>
                <a:spcPts val="0"/>
              </a:spcAft>
              <a:buClr>
                <a:schemeClr val="dk1"/>
              </a:buClr>
              <a:buSzPct val="100000"/>
              <a:buNone/>
            </a:pPr>
            <a:r>
              <a:rPr lang="en-US">
                <a:latin typeface="Times New Roman"/>
                <a:ea typeface="Times New Roman"/>
                <a:cs typeface="Times New Roman"/>
                <a:sym typeface="Times New Roman"/>
              </a:rPr>
              <a:t>5. Build your vocabulary, use transitions, avoid passive voice</a:t>
            </a:r>
            <a:endParaRPr/>
          </a:p>
          <a:p>
            <a:pPr indent="0" lvl="0" marL="0" rtl="0" algn="l">
              <a:lnSpc>
                <a:spcPct val="200000"/>
              </a:lnSpc>
              <a:spcBef>
                <a:spcPts val="1000"/>
              </a:spcBef>
              <a:spcAft>
                <a:spcPts val="0"/>
              </a:spcAft>
              <a:buClr>
                <a:schemeClr val="dk1"/>
              </a:buClr>
              <a:buSzPct val="100000"/>
              <a:buNone/>
            </a:pPr>
            <a:r>
              <a:rPr lang="en-US">
                <a:latin typeface="Times New Roman"/>
                <a:ea typeface="Times New Roman"/>
                <a:cs typeface="Times New Roman"/>
                <a:sym typeface="Times New Roman"/>
              </a:rPr>
              <a:t>6. Check your grammar </a:t>
            </a:r>
            <a:endParaRPr/>
          </a:p>
          <a:p>
            <a:pPr indent="0" lvl="0" marL="0" rtl="0" algn="l">
              <a:lnSpc>
                <a:spcPct val="200000"/>
              </a:lnSpc>
              <a:spcBef>
                <a:spcPts val="1000"/>
              </a:spcBef>
              <a:spcAft>
                <a:spcPts val="0"/>
              </a:spcAft>
              <a:buClr>
                <a:schemeClr val="dk1"/>
              </a:buClr>
              <a:buSzPct val="100000"/>
              <a:buNone/>
            </a:pPr>
            <a:r>
              <a:rPr lang="en-US">
                <a:latin typeface="Times New Roman"/>
                <a:ea typeface="Times New Roman"/>
                <a:cs typeface="Times New Roman"/>
                <a:sym typeface="Times New Roman"/>
              </a:rPr>
              <a:t>7. Check your essay before submission – clear out all the redundancies that might be present in your first draft (as in the model essay).</a:t>
            </a:r>
            <a:endParaRPr/>
          </a:p>
          <a:p>
            <a:pPr indent="0" lvl="0" marL="0" rtl="0" algn="l">
              <a:lnSpc>
                <a:spcPct val="90000"/>
              </a:lnSpc>
              <a:spcBef>
                <a:spcPts val="1000"/>
              </a:spcBef>
              <a:spcAft>
                <a:spcPts val="0"/>
              </a:spcAft>
              <a:buClr>
                <a:schemeClr val="dk1"/>
              </a:buClr>
              <a:buSzPct val="100000"/>
              <a:buNone/>
            </a:pPr>
            <a:r>
              <a:t/>
            </a:r>
            <a:endParaRPr/>
          </a:p>
        </p:txBody>
      </p:sp>
      <p:pic>
        <p:nvPicPr>
          <p:cNvPr id="135" name="Google Shape;135;p11"/>
          <p:cNvPicPr preferRelativeResize="0"/>
          <p:nvPr/>
        </p:nvPicPr>
        <p:blipFill rotWithShape="1">
          <a:blip r:embed="rId3">
            <a:alphaModFix/>
          </a:blip>
          <a:srcRect b="0" l="0" r="0" t="0"/>
          <a:stretch/>
        </p:blipFill>
        <p:spPr>
          <a:xfrm>
            <a:off x="10419160" y="0"/>
            <a:ext cx="1441053" cy="857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Construction of body and using syntax properly</a:t>
            </a:r>
            <a:endParaRPr/>
          </a:p>
        </p:txBody>
      </p:sp>
      <p:sp>
        <p:nvSpPr>
          <p:cNvPr id="141" name="Google Shape;141;p12"/>
          <p:cNvSpPr txBox="1"/>
          <p:nvPr>
            <p:ph idx="1" type="body"/>
          </p:nvPr>
        </p:nvSpPr>
        <p:spPr>
          <a:xfrm>
            <a:off x="677334" y="1930401"/>
            <a:ext cx="8596668" cy="4110962"/>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150000"/>
              </a:lnSpc>
              <a:spcBef>
                <a:spcPts val="0"/>
              </a:spcBef>
              <a:spcAft>
                <a:spcPts val="0"/>
              </a:spcAft>
              <a:buClr>
                <a:schemeClr val="dk1"/>
              </a:buClr>
              <a:buSzPct val="100000"/>
              <a:buChar char="•"/>
            </a:pPr>
            <a:r>
              <a:rPr b="1" lang="en-US">
                <a:latin typeface="Times New Roman"/>
                <a:ea typeface="Times New Roman"/>
                <a:cs typeface="Times New Roman"/>
                <a:sym typeface="Times New Roman"/>
              </a:rPr>
              <a:t>Chronological order</a:t>
            </a:r>
            <a:r>
              <a:rPr lang="en-US">
                <a:latin typeface="Times New Roman"/>
                <a:ea typeface="Times New Roman"/>
                <a:cs typeface="Times New Roman"/>
                <a:sym typeface="Times New Roman"/>
              </a:rPr>
              <a:t> deals with elements in time frame in which they take place. </a:t>
            </a:r>
            <a:r>
              <a:rPr b="1" lang="en-US">
                <a:latin typeface="Times New Roman"/>
                <a:ea typeface="Times New Roman"/>
                <a:cs typeface="Times New Roman"/>
                <a:sym typeface="Times New Roman"/>
              </a:rPr>
              <a:t>Narration</a:t>
            </a:r>
            <a:r>
              <a:rPr lang="en-US">
                <a:latin typeface="Times New Roman"/>
                <a:ea typeface="Times New Roman"/>
                <a:cs typeface="Times New Roman"/>
                <a:sym typeface="Times New Roman"/>
              </a:rPr>
              <a:t> and </a:t>
            </a:r>
            <a:r>
              <a:rPr b="1" lang="en-US">
                <a:latin typeface="Times New Roman"/>
                <a:ea typeface="Times New Roman"/>
                <a:cs typeface="Times New Roman"/>
                <a:sym typeface="Times New Roman"/>
              </a:rPr>
              <a:t>process </a:t>
            </a:r>
            <a:r>
              <a:rPr lang="en-US">
                <a:latin typeface="Times New Roman"/>
                <a:ea typeface="Times New Roman"/>
                <a:cs typeface="Times New Roman"/>
                <a:sym typeface="Times New Roman"/>
              </a:rPr>
              <a:t>are the two to use this pattern.</a:t>
            </a:r>
            <a:endParaRPr/>
          </a:p>
          <a:p>
            <a:pPr indent="-228600" lvl="0" marL="228600" rtl="0" algn="l">
              <a:lnSpc>
                <a:spcPct val="150000"/>
              </a:lnSpc>
              <a:spcBef>
                <a:spcPts val="1000"/>
              </a:spcBef>
              <a:spcAft>
                <a:spcPts val="0"/>
              </a:spcAft>
              <a:buClr>
                <a:schemeClr val="dk1"/>
              </a:buClr>
              <a:buSzPct val="100000"/>
              <a:buChar char="•"/>
            </a:pPr>
            <a:r>
              <a:rPr b="1" lang="en-US">
                <a:latin typeface="Times New Roman"/>
                <a:ea typeface="Times New Roman"/>
                <a:cs typeface="Times New Roman"/>
                <a:sym typeface="Times New Roman"/>
              </a:rPr>
              <a:t>Spatial order</a:t>
            </a:r>
            <a:r>
              <a:rPr lang="en-US">
                <a:latin typeface="Times New Roman"/>
                <a:ea typeface="Times New Roman"/>
                <a:cs typeface="Times New Roman"/>
                <a:sym typeface="Times New Roman"/>
              </a:rPr>
              <a:t> lists items as they present themselves in a specific environment: be it right to left, top to bottom, front to back, etc. This is the most employed pattern in </a:t>
            </a:r>
            <a:r>
              <a:rPr b="1" lang="en-US">
                <a:latin typeface="Times New Roman"/>
                <a:ea typeface="Times New Roman"/>
                <a:cs typeface="Times New Roman"/>
                <a:sym typeface="Times New Roman"/>
              </a:rPr>
              <a:t>description</a:t>
            </a:r>
            <a:r>
              <a:rPr lang="en-US">
                <a:latin typeface="Times New Roman"/>
                <a:ea typeface="Times New Roman"/>
                <a:cs typeface="Times New Roman"/>
                <a:sym typeface="Times New Roman"/>
              </a:rPr>
              <a:t>.</a:t>
            </a:r>
            <a:endParaRPr/>
          </a:p>
          <a:p>
            <a:pPr indent="-228600" lvl="0" marL="228600" rtl="0" algn="l">
              <a:lnSpc>
                <a:spcPct val="150000"/>
              </a:lnSpc>
              <a:spcBef>
                <a:spcPts val="1000"/>
              </a:spcBef>
              <a:spcAft>
                <a:spcPts val="0"/>
              </a:spcAft>
              <a:buClr>
                <a:schemeClr val="dk1"/>
              </a:buClr>
              <a:buSzPct val="100000"/>
              <a:buChar char="•"/>
            </a:pPr>
            <a:r>
              <a:rPr b="1" lang="en-US">
                <a:latin typeface="Times New Roman"/>
                <a:ea typeface="Times New Roman"/>
                <a:cs typeface="Times New Roman"/>
                <a:sym typeface="Times New Roman"/>
              </a:rPr>
              <a:t>Subject by subject</a:t>
            </a:r>
            <a:r>
              <a:rPr lang="en-US">
                <a:latin typeface="Times New Roman"/>
                <a:ea typeface="Times New Roman"/>
                <a:cs typeface="Times New Roman"/>
                <a:sym typeface="Times New Roman"/>
              </a:rPr>
              <a:t> involves every subject in different paragraphs or sections.</a:t>
            </a:r>
            <a:endParaRPr/>
          </a:p>
          <a:p>
            <a:pPr indent="-228600" lvl="0" marL="228600" rtl="0" algn="l">
              <a:lnSpc>
                <a:spcPct val="150000"/>
              </a:lnSpc>
              <a:spcBef>
                <a:spcPts val="1000"/>
              </a:spcBef>
              <a:spcAft>
                <a:spcPts val="0"/>
              </a:spcAft>
              <a:buClr>
                <a:schemeClr val="dk1"/>
              </a:buClr>
              <a:buSzPct val="100000"/>
              <a:buChar char="•"/>
            </a:pPr>
            <a:r>
              <a:rPr b="1" lang="en-US">
                <a:latin typeface="Times New Roman"/>
                <a:ea typeface="Times New Roman"/>
                <a:cs typeface="Times New Roman"/>
                <a:sym typeface="Times New Roman"/>
              </a:rPr>
              <a:t>Point by point</a:t>
            </a:r>
            <a:r>
              <a:rPr lang="en-US">
                <a:latin typeface="Times New Roman"/>
                <a:ea typeface="Times New Roman"/>
                <a:cs typeface="Times New Roman"/>
                <a:sym typeface="Times New Roman"/>
              </a:rPr>
              <a:t> analyses every point within a distinct paragraph. Such patterns are engaged with </a:t>
            </a:r>
            <a:r>
              <a:rPr b="1" lang="en-US">
                <a:latin typeface="Times New Roman"/>
                <a:ea typeface="Times New Roman"/>
                <a:cs typeface="Times New Roman"/>
                <a:sym typeface="Times New Roman"/>
              </a:rPr>
              <a:t>contrast/comparison</a:t>
            </a:r>
            <a:r>
              <a:rPr lang="en-US">
                <a:latin typeface="Times New Roman"/>
                <a:ea typeface="Times New Roman"/>
                <a:cs typeface="Times New Roman"/>
                <a:sym typeface="Times New Roman"/>
              </a:rPr>
              <a:t>.</a:t>
            </a:r>
            <a:endParaRPr/>
          </a:p>
          <a:p>
            <a:pPr indent="0" lvl="0" marL="0" rtl="0" algn="l">
              <a:lnSpc>
                <a:spcPct val="90000"/>
              </a:lnSpc>
              <a:spcBef>
                <a:spcPts val="1000"/>
              </a:spcBef>
              <a:spcAft>
                <a:spcPts val="0"/>
              </a:spcAft>
              <a:buClr>
                <a:schemeClr val="dk1"/>
              </a:buClr>
              <a:buSzPct val="100000"/>
              <a:buNone/>
            </a:pPr>
            <a:r>
              <a:t/>
            </a:r>
            <a:endParaRPr/>
          </a:p>
          <a:p>
            <a:pPr indent="-104140" lvl="0" marL="228600" rtl="0" algn="l">
              <a:lnSpc>
                <a:spcPct val="90000"/>
              </a:lnSpc>
              <a:spcBef>
                <a:spcPts val="1000"/>
              </a:spcBef>
              <a:spcAft>
                <a:spcPts val="0"/>
              </a:spcAft>
              <a:buClr>
                <a:schemeClr val="dk1"/>
              </a:buClr>
              <a:buSzPct val="100000"/>
              <a:buNone/>
            </a:pPr>
            <a:r>
              <a:t/>
            </a:r>
            <a:endParaRPr/>
          </a:p>
        </p:txBody>
      </p:sp>
      <p:pic>
        <p:nvPicPr>
          <p:cNvPr id="142" name="Google Shape;142;p12"/>
          <p:cNvPicPr preferRelativeResize="0"/>
          <p:nvPr/>
        </p:nvPicPr>
        <p:blipFill rotWithShape="1">
          <a:blip r:embed="rId3">
            <a:alphaModFix/>
          </a:blip>
          <a:srcRect b="0" l="0" r="0" t="0"/>
          <a:stretch/>
        </p:blipFill>
        <p:spPr>
          <a:xfrm>
            <a:off x="10419160" y="0"/>
            <a:ext cx="1441053" cy="857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Conclude: How?</a:t>
            </a:r>
            <a:endParaRPr/>
          </a:p>
        </p:txBody>
      </p:sp>
      <p:sp>
        <p:nvSpPr>
          <p:cNvPr id="148" name="Google Shape;148;p13"/>
          <p:cNvSpPr txBox="1"/>
          <p:nvPr>
            <p:ph idx="1" type="body"/>
          </p:nvPr>
        </p:nvSpPr>
        <p:spPr>
          <a:xfrm>
            <a:off x="677334" y="1381125"/>
            <a:ext cx="8596668" cy="5162550"/>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200000"/>
              </a:lnSpc>
              <a:spcBef>
                <a:spcPts val="0"/>
              </a:spcBef>
              <a:spcAft>
                <a:spcPts val="0"/>
              </a:spcAft>
              <a:buClr>
                <a:schemeClr val="dk1"/>
              </a:buClr>
              <a:buSzPct val="100000"/>
              <a:buChar char="•"/>
            </a:pPr>
            <a:r>
              <a:rPr lang="en-US">
                <a:latin typeface="Times New Roman"/>
                <a:ea typeface="Times New Roman"/>
                <a:cs typeface="Times New Roman"/>
                <a:sym typeface="Times New Roman"/>
              </a:rPr>
              <a:t>Join conclusion to what you stated in the introduction.</a:t>
            </a:r>
            <a:endParaRPr/>
          </a:p>
          <a:p>
            <a:pPr indent="-228600" lvl="0" marL="228600" rtl="0" algn="l">
              <a:lnSpc>
                <a:spcPct val="20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Make your idea more universal.</a:t>
            </a:r>
            <a:endParaRPr/>
          </a:p>
          <a:p>
            <a:pPr indent="-228600" lvl="0" marL="228600" rtl="0" algn="l">
              <a:lnSpc>
                <a:spcPct val="20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Relate a personal anecdote and emphasize a significant point to your thesis.</a:t>
            </a:r>
            <a:endParaRPr/>
          </a:p>
          <a:p>
            <a:pPr indent="-228600" lvl="0" marL="228600" rtl="0" algn="l">
              <a:lnSpc>
                <a:spcPct val="20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Connect your thesis to your reader’s world.</a:t>
            </a:r>
            <a:endParaRPr/>
          </a:p>
          <a:p>
            <a:pPr indent="-228600" lvl="0" marL="228600" rtl="0" algn="l">
              <a:lnSpc>
                <a:spcPct val="20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Finish with an important line from the body of the text.</a:t>
            </a:r>
            <a:endParaRPr/>
          </a:p>
          <a:p>
            <a:pPr indent="0" lvl="8" marL="3657600" rtl="0" algn="l">
              <a:lnSpc>
                <a:spcPct val="200000"/>
              </a:lnSpc>
              <a:spcBef>
                <a:spcPts val="500"/>
              </a:spcBef>
              <a:spcAft>
                <a:spcPts val="0"/>
              </a:spcAft>
              <a:buClr>
                <a:schemeClr val="dk1"/>
              </a:buClr>
              <a:buSzPct val="100000"/>
              <a:buNone/>
            </a:pPr>
            <a:r>
              <a:t/>
            </a:r>
            <a:endParaRPr/>
          </a:p>
          <a:p>
            <a:pPr indent="-104140" lvl="0" marL="228600" rtl="0" algn="l">
              <a:lnSpc>
                <a:spcPct val="90000"/>
              </a:lnSpc>
              <a:spcBef>
                <a:spcPts val="1000"/>
              </a:spcBef>
              <a:spcAft>
                <a:spcPts val="0"/>
              </a:spcAft>
              <a:buClr>
                <a:schemeClr val="dk1"/>
              </a:buClr>
              <a:buSzPct val="100000"/>
              <a:buNone/>
            </a:pPr>
            <a:r>
              <a:t/>
            </a:r>
            <a:endParaRPr/>
          </a:p>
        </p:txBody>
      </p:sp>
      <p:pic>
        <p:nvPicPr>
          <p:cNvPr id="149" name="Google Shape;149;p13"/>
          <p:cNvPicPr preferRelativeResize="0"/>
          <p:nvPr/>
        </p:nvPicPr>
        <p:blipFill rotWithShape="1">
          <a:blip r:embed="rId3">
            <a:alphaModFix/>
          </a:blip>
          <a:srcRect b="0" l="0" r="0" t="0"/>
          <a:stretch/>
        </p:blipFill>
        <p:spPr>
          <a:xfrm>
            <a:off x="10419160" y="0"/>
            <a:ext cx="1441053" cy="857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Model Essay (both drafts to be handed over to the students)</a:t>
            </a:r>
            <a:endParaRPr/>
          </a:p>
        </p:txBody>
      </p:sp>
      <p:sp>
        <p:nvSpPr>
          <p:cNvPr id="155" name="Google Shape;155;p14"/>
          <p:cNvSpPr txBox="1"/>
          <p:nvPr>
            <p:ph idx="1" type="body"/>
          </p:nvPr>
        </p:nvSpPr>
        <p:spPr>
          <a:xfrm>
            <a:off x="677334" y="1930401"/>
            <a:ext cx="8596668" cy="46990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000"/>
              <a:buAutoNum type="arabicPeriod"/>
            </a:pPr>
            <a:r>
              <a:rPr lang="en-US" sz="2000">
                <a:latin typeface="Times New Roman"/>
                <a:ea typeface="Times New Roman"/>
                <a:cs typeface="Times New Roman"/>
                <a:sym typeface="Times New Roman"/>
              </a:rPr>
              <a:t>Length of the final draft compared to the first, as it appears in the model essay, should always be shorter.</a:t>
            </a:r>
            <a:endParaRPr/>
          </a:p>
          <a:p>
            <a:pPr indent="0" lvl="0" marL="0" rtl="0" algn="l">
              <a:lnSpc>
                <a:spcPct val="90000"/>
              </a:lnSpc>
              <a:spcBef>
                <a:spcPts val="1000"/>
              </a:spcBef>
              <a:spcAft>
                <a:spcPts val="0"/>
              </a:spcAft>
              <a:buClr>
                <a:schemeClr val="dk1"/>
              </a:buClr>
              <a:buSzPts val="2000"/>
              <a:buNone/>
            </a:pPr>
            <a:r>
              <a:rPr lang="en-US" sz="2000">
                <a:latin typeface="Times New Roman"/>
                <a:ea typeface="Times New Roman"/>
                <a:cs typeface="Times New Roman"/>
                <a:sym typeface="Times New Roman"/>
              </a:rPr>
              <a:t>2. Redundancies: It is important to remove those words, phrases and sentences that keep saying the same thing. For example, if the essay is on Pacific Ocean, one should only say that it is the largest ocean. There is no need to mention that Atlantic ocean is the second largest and the Indian ocean is the third largest.</a:t>
            </a:r>
            <a:endParaRPr/>
          </a:p>
          <a:p>
            <a:pPr indent="0" lvl="0" marL="0" rtl="0" algn="l">
              <a:lnSpc>
                <a:spcPct val="90000"/>
              </a:lnSpc>
              <a:spcBef>
                <a:spcPts val="1000"/>
              </a:spcBef>
              <a:spcAft>
                <a:spcPts val="0"/>
              </a:spcAft>
              <a:buClr>
                <a:schemeClr val="dk1"/>
              </a:buClr>
              <a:buSzPts val="2000"/>
              <a:buNone/>
            </a:pPr>
            <a:r>
              <a:rPr lang="en-US" sz="2000">
                <a:latin typeface="Times New Roman"/>
                <a:ea typeface="Times New Roman"/>
                <a:cs typeface="Times New Roman"/>
                <a:sym typeface="Times New Roman"/>
              </a:rPr>
              <a:t>Such examples can be found in the model essay as well (in the first paragraph right away).</a:t>
            </a:r>
            <a:endParaRPr/>
          </a:p>
          <a:p>
            <a:pPr indent="0" lvl="0" marL="0" rtl="0" algn="l">
              <a:lnSpc>
                <a:spcPct val="90000"/>
              </a:lnSpc>
              <a:spcBef>
                <a:spcPts val="1000"/>
              </a:spcBef>
              <a:spcAft>
                <a:spcPts val="0"/>
              </a:spcAft>
              <a:buClr>
                <a:schemeClr val="dk1"/>
              </a:buClr>
              <a:buSzPts val="2000"/>
              <a:buNone/>
            </a:pPr>
            <a:r>
              <a:rPr lang="en-US" sz="2000">
                <a:latin typeface="Times New Roman"/>
                <a:ea typeface="Times New Roman"/>
                <a:cs typeface="Times New Roman"/>
                <a:sym typeface="Times New Roman"/>
              </a:rPr>
              <a:t>3. Precision: Short and precise expression thereby eliminating the wordiness is essential.</a:t>
            </a:r>
            <a:endParaRPr/>
          </a:p>
          <a:p>
            <a:pPr indent="0" lvl="0" marL="0" rtl="0" algn="l">
              <a:lnSpc>
                <a:spcPct val="90000"/>
              </a:lnSpc>
              <a:spcBef>
                <a:spcPts val="1000"/>
              </a:spcBef>
              <a:spcAft>
                <a:spcPts val="0"/>
              </a:spcAft>
              <a:buClr>
                <a:schemeClr val="dk1"/>
              </a:buClr>
              <a:buSzPts val="2000"/>
              <a:buNone/>
            </a:pPr>
            <a:r>
              <a:rPr lang="en-US" sz="2000">
                <a:latin typeface="Times New Roman"/>
                <a:ea typeface="Times New Roman"/>
                <a:cs typeface="Times New Roman"/>
                <a:sym typeface="Times New Roman"/>
              </a:rPr>
              <a:t>4. Choice of words: try to go for words that can cut short a long expression. In place of “of fruits and vegetables there is such a large variety that even cataloguing them all here in this short essay is not possible.”, use “Of fruits and vegetables, there are countless varieties.”</a:t>
            </a:r>
            <a:endParaRPr sz="2000">
              <a:latin typeface="Times New Roman"/>
              <a:ea typeface="Times New Roman"/>
              <a:cs typeface="Times New Roman"/>
              <a:sym typeface="Times New Roman"/>
            </a:endParaRPr>
          </a:p>
        </p:txBody>
      </p:sp>
      <p:pic>
        <p:nvPicPr>
          <p:cNvPr id="156" name="Google Shape;156;p14"/>
          <p:cNvPicPr preferRelativeResize="0"/>
          <p:nvPr/>
        </p:nvPicPr>
        <p:blipFill rotWithShape="1">
          <a:blip r:embed="rId3">
            <a:alphaModFix/>
          </a:blip>
          <a:srcRect b="0" l="0" r="0" t="0"/>
          <a:stretch/>
        </p:blipFill>
        <p:spPr>
          <a:xfrm>
            <a:off x="10801350" y="0"/>
            <a:ext cx="1390650" cy="857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5"/>
          <p:cNvSpPr txBox="1"/>
          <p:nvPr>
            <p:ph type="title"/>
          </p:nvPr>
        </p:nvSpPr>
        <p:spPr>
          <a:xfrm>
            <a:off x="677334" y="609600"/>
            <a:ext cx="8596668" cy="65722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TYPES OF ESSAY: PRACTICE</a:t>
            </a:r>
            <a:endParaRPr/>
          </a:p>
        </p:txBody>
      </p:sp>
      <p:sp>
        <p:nvSpPr>
          <p:cNvPr id="162" name="Google Shape;162;p15"/>
          <p:cNvSpPr txBox="1"/>
          <p:nvPr>
            <p:ph idx="1" type="body"/>
          </p:nvPr>
        </p:nvSpPr>
        <p:spPr>
          <a:xfrm>
            <a:off x="677326" y="1266825"/>
            <a:ext cx="7919400" cy="3819300"/>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90000"/>
              </a:lnSpc>
              <a:spcBef>
                <a:spcPts val="0"/>
              </a:spcBef>
              <a:spcAft>
                <a:spcPts val="0"/>
              </a:spcAft>
              <a:buClr>
                <a:srgbClr val="333333"/>
              </a:buClr>
              <a:buSzPct val="100000"/>
              <a:buNone/>
            </a:pPr>
            <a:r>
              <a:rPr b="1" lang="en-US" sz="2400">
                <a:solidFill>
                  <a:srgbClr val="333333"/>
                </a:solidFill>
                <a:latin typeface="Times New Roman"/>
                <a:ea typeface="Times New Roman"/>
                <a:cs typeface="Times New Roman"/>
                <a:sym typeface="Times New Roman"/>
              </a:rPr>
              <a:t>1.</a:t>
            </a:r>
            <a:r>
              <a:rPr b="1" i="0" lang="en-US" sz="2400">
                <a:solidFill>
                  <a:srgbClr val="333333"/>
                </a:solidFill>
                <a:latin typeface="Times New Roman"/>
                <a:ea typeface="Times New Roman"/>
                <a:cs typeface="Times New Roman"/>
                <a:sym typeface="Times New Roman"/>
              </a:rPr>
              <a:t> </a:t>
            </a:r>
            <a:r>
              <a:rPr b="0" i="0" lang="en-US" sz="2400">
                <a:solidFill>
                  <a:srgbClr val="333333"/>
                </a:solidFill>
                <a:latin typeface="Times New Roman"/>
                <a:ea typeface="Times New Roman"/>
                <a:cs typeface="Times New Roman"/>
                <a:sym typeface="Times New Roman"/>
              </a:rPr>
              <a:t>A rebellious act of your life </a:t>
            </a:r>
            <a:r>
              <a:rPr b="1" i="0" lang="en-US" sz="2400">
                <a:solidFill>
                  <a:srgbClr val="333333"/>
                </a:solidFill>
                <a:latin typeface="Times New Roman"/>
                <a:ea typeface="Times New Roman"/>
                <a:cs typeface="Times New Roman"/>
                <a:sym typeface="Times New Roman"/>
              </a:rPr>
              <a:t>OR</a:t>
            </a:r>
            <a:r>
              <a:rPr b="0" i="0" lang="en-US" sz="2400">
                <a:solidFill>
                  <a:srgbClr val="333333"/>
                </a:solidFill>
                <a:latin typeface="Times New Roman"/>
                <a:ea typeface="Times New Roman"/>
                <a:cs typeface="Times New Roman"/>
                <a:sym typeface="Times New Roman"/>
              </a:rPr>
              <a:t> The most embarrassing event of my life. </a:t>
            </a:r>
            <a:endParaRPr/>
          </a:p>
          <a:p>
            <a:pPr indent="0" lvl="0" marL="0" rtl="0" algn="l">
              <a:lnSpc>
                <a:spcPct val="90000"/>
              </a:lnSpc>
              <a:spcBef>
                <a:spcPts val="1000"/>
              </a:spcBef>
              <a:spcAft>
                <a:spcPts val="0"/>
              </a:spcAft>
              <a:buClr>
                <a:schemeClr val="dk1"/>
              </a:buClr>
              <a:buSzPct val="100000"/>
              <a:buNone/>
            </a:pPr>
            <a:r>
              <a:rPr b="0" i="0" lang="en-US" sz="2400">
                <a:solidFill>
                  <a:schemeClr val="dk1"/>
                </a:solidFill>
                <a:latin typeface="Calibri"/>
                <a:ea typeface="Calibri"/>
                <a:cs typeface="Calibri"/>
                <a:sym typeface="Calibri"/>
              </a:rPr>
              <a:t>2. </a:t>
            </a:r>
            <a:r>
              <a:rPr b="0" i="0" lang="en-US" sz="2400">
                <a:solidFill>
                  <a:srgbClr val="333333"/>
                </a:solidFill>
                <a:latin typeface="Times New Roman"/>
                <a:ea typeface="Times New Roman"/>
                <a:cs typeface="Times New Roman"/>
                <a:sym typeface="Times New Roman"/>
              </a:rPr>
              <a:t>Is censorship on the internet effective? </a:t>
            </a:r>
            <a:r>
              <a:rPr b="1" i="0" lang="en-US" sz="2400">
                <a:solidFill>
                  <a:srgbClr val="333333"/>
                </a:solidFill>
                <a:latin typeface="Times New Roman"/>
                <a:ea typeface="Times New Roman"/>
                <a:cs typeface="Times New Roman"/>
                <a:sym typeface="Times New Roman"/>
              </a:rPr>
              <a:t>OR</a:t>
            </a:r>
            <a:endParaRPr/>
          </a:p>
          <a:p>
            <a:pPr indent="0" lvl="0" marL="0" rtl="0" algn="l">
              <a:lnSpc>
                <a:spcPct val="90000"/>
              </a:lnSpc>
              <a:spcBef>
                <a:spcPts val="1000"/>
              </a:spcBef>
              <a:spcAft>
                <a:spcPts val="0"/>
              </a:spcAft>
              <a:buClr>
                <a:schemeClr val="dk1"/>
              </a:buClr>
              <a:buSzPct val="100000"/>
              <a:buNone/>
            </a:pPr>
            <a:r>
              <a:rPr b="0" i="0" lang="en-US" sz="2400">
                <a:solidFill>
                  <a:schemeClr val="dk1"/>
                </a:solidFill>
                <a:latin typeface="Times New Roman"/>
                <a:ea typeface="Times New Roman"/>
                <a:cs typeface="Times New Roman"/>
                <a:sym typeface="Times New Roman"/>
              </a:rPr>
              <a:t> </a:t>
            </a:r>
            <a:r>
              <a:rPr b="0" i="0" lang="en-US" sz="2400">
                <a:solidFill>
                  <a:srgbClr val="333333"/>
                </a:solidFill>
                <a:latin typeface="Times New Roman"/>
                <a:ea typeface="Times New Roman"/>
                <a:cs typeface="Times New Roman"/>
                <a:sym typeface="Times New Roman"/>
              </a:rPr>
              <a:t>What is the reason behind the popularity of Apple products?</a:t>
            </a:r>
            <a:endParaRPr/>
          </a:p>
          <a:p>
            <a:pPr indent="0" lvl="0" marL="0" rtl="0" algn="l">
              <a:lnSpc>
                <a:spcPct val="90000"/>
              </a:lnSpc>
              <a:spcBef>
                <a:spcPts val="1000"/>
              </a:spcBef>
              <a:spcAft>
                <a:spcPts val="0"/>
              </a:spcAft>
              <a:buClr>
                <a:schemeClr val="dk1"/>
              </a:buClr>
              <a:buSzPct val="100000"/>
              <a:buNone/>
            </a:pPr>
            <a:r>
              <a:rPr b="0" i="0" lang="en-US" sz="2400">
                <a:solidFill>
                  <a:schemeClr val="dk1"/>
                </a:solidFill>
                <a:latin typeface="Calibri"/>
                <a:ea typeface="Calibri"/>
                <a:cs typeface="Calibri"/>
                <a:sym typeface="Calibri"/>
              </a:rPr>
              <a:t>3. </a:t>
            </a:r>
            <a:r>
              <a:rPr b="0" i="0" lang="en-US" sz="2400">
                <a:solidFill>
                  <a:srgbClr val="333333"/>
                </a:solidFill>
                <a:latin typeface="Times New Roman"/>
                <a:ea typeface="Times New Roman"/>
                <a:cs typeface="Times New Roman"/>
                <a:sym typeface="Times New Roman"/>
              </a:rPr>
              <a:t>Describe how you imagine Niagara falls. </a:t>
            </a:r>
            <a:r>
              <a:rPr b="1" i="0" lang="en-US" sz="2400">
                <a:solidFill>
                  <a:srgbClr val="333333"/>
                </a:solidFill>
                <a:latin typeface="Times New Roman"/>
                <a:ea typeface="Times New Roman"/>
                <a:cs typeface="Times New Roman"/>
                <a:sym typeface="Times New Roman"/>
              </a:rPr>
              <a:t>OR</a:t>
            </a:r>
            <a:r>
              <a:rPr b="0" i="0" lang="en-US" sz="2400">
                <a:solidFill>
                  <a:srgbClr val="333333"/>
                </a:solidFill>
                <a:latin typeface="Times New Roman"/>
                <a:ea typeface="Times New Roman"/>
                <a:cs typeface="Times New Roman"/>
                <a:sym typeface="Times New Roman"/>
              </a:rPr>
              <a:t> What is the happiest memory in your mind?</a:t>
            </a:r>
            <a:r>
              <a:rPr lang="en-US" sz="2400">
                <a:solidFill>
                  <a:srgbClr val="333333"/>
                </a:solidFill>
                <a:latin typeface="Times New Roman"/>
                <a:ea typeface="Times New Roman"/>
                <a:cs typeface="Times New Roman"/>
                <a:sym typeface="Times New Roman"/>
              </a:rPr>
              <a:t>  </a:t>
            </a:r>
            <a:r>
              <a:rPr b="1" lang="en-US" sz="2400">
                <a:solidFill>
                  <a:srgbClr val="333333"/>
                </a:solidFill>
                <a:latin typeface="Times New Roman"/>
                <a:ea typeface="Times New Roman"/>
                <a:cs typeface="Times New Roman"/>
                <a:sym typeface="Times New Roman"/>
              </a:rPr>
              <a:t>OR</a:t>
            </a:r>
            <a:r>
              <a:rPr lang="en-US" sz="2400">
                <a:solidFill>
                  <a:srgbClr val="333333"/>
                </a:solidFill>
                <a:latin typeface="Times New Roman"/>
                <a:ea typeface="Times New Roman"/>
                <a:cs typeface="Times New Roman"/>
                <a:sym typeface="Times New Roman"/>
              </a:rPr>
              <a:t> </a:t>
            </a:r>
            <a:r>
              <a:rPr b="0" i="0" lang="en-US" sz="2400">
                <a:solidFill>
                  <a:srgbClr val="333333"/>
                </a:solidFill>
                <a:latin typeface="Times New Roman"/>
                <a:ea typeface="Times New Roman"/>
                <a:cs typeface="Times New Roman"/>
                <a:sym typeface="Times New Roman"/>
              </a:rPr>
              <a:t>Explain how you imagine aliens to be like.</a:t>
            </a:r>
            <a:endParaRPr/>
          </a:p>
          <a:p>
            <a:pPr indent="0" lvl="0" marL="0" rtl="0" algn="l">
              <a:lnSpc>
                <a:spcPct val="90000"/>
              </a:lnSpc>
              <a:spcBef>
                <a:spcPts val="1000"/>
              </a:spcBef>
              <a:spcAft>
                <a:spcPts val="0"/>
              </a:spcAft>
              <a:buClr>
                <a:srgbClr val="333333"/>
              </a:buClr>
              <a:buSzPct val="100000"/>
              <a:buNone/>
            </a:pPr>
            <a:r>
              <a:rPr lang="en-US" sz="2400">
                <a:solidFill>
                  <a:srgbClr val="333333"/>
                </a:solidFill>
                <a:latin typeface="Times New Roman"/>
                <a:ea typeface="Times New Roman"/>
                <a:cs typeface="Times New Roman"/>
                <a:sym typeface="Times New Roman"/>
              </a:rPr>
              <a:t>4. </a:t>
            </a:r>
            <a:r>
              <a:rPr b="0" i="0" lang="en-US" sz="2400">
                <a:solidFill>
                  <a:srgbClr val="333333"/>
                </a:solidFill>
                <a:latin typeface="Times New Roman"/>
                <a:ea typeface="Times New Roman"/>
                <a:cs typeface="Times New Roman"/>
                <a:sym typeface="Times New Roman"/>
              </a:rPr>
              <a:t>Does physical appearance affect a person’s professional life?</a:t>
            </a:r>
            <a:endParaRPr/>
          </a:p>
          <a:p>
            <a:pPr indent="0" lvl="0" marL="0" rtl="0" algn="l">
              <a:lnSpc>
                <a:spcPct val="90000"/>
              </a:lnSpc>
              <a:spcBef>
                <a:spcPts val="1000"/>
              </a:spcBef>
              <a:spcAft>
                <a:spcPts val="0"/>
              </a:spcAft>
              <a:buClr>
                <a:srgbClr val="333333"/>
              </a:buClr>
              <a:buSzPct val="100000"/>
              <a:buNone/>
            </a:pPr>
            <a:r>
              <a:rPr b="1" i="0" lang="en-US" sz="2400">
                <a:solidFill>
                  <a:srgbClr val="333333"/>
                </a:solidFill>
                <a:latin typeface="Times New Roman"/>
                <a:ea typeface="Times New Roman"/>
                <a:cs typeface="Times New Roman"/>
                <a:sym typeface="Times New Roman"/>
              </a:rPr>
              <a:t>OR </a:t>
            </a:r>
            <a:r>
              <a:rPr b="0" i="0" lang="en-US" sz="2400">
                <a:solidFill>
                  <a:srgbClr val="333333"/>
                </a:solidFill>
                <a:latin typeface="Times New Roman"/>
                <a:ea typeface="Times New Roman"/>
                <a:cs typeface="Times New Roman"/>
                <a:sym typeface="Times New Roman"/>
              </a:rPr>
              <a:t>How to promote gender equality?  </a:t>
            </a:r>
            <a:r>
              <a:rPr b="1" i="0" lang="en-US" sz="2400">
                <a:solidFill>
                  <a:srgbClr val="333333"/>
                </a:solidFill>
                <a:latin typeface="Times New Roman"/>
                <a:ea typeface="Times New Roman"/>
                <a:cs typeface="Times New Roman"/>
                <a:sym typeface="Times New Roman"/>
              </a:rPr>
              <a:t>OR</a:t>
            </a:r>
            <a:r>
              <a:rPr b="0" i="0" lang="en-US" sz="2400">
                <a:solidFill>
                  <a:srgbClr val="333333"/>
                </a:solidFill>
                <a:latin typeface="Times New Roman"/>
                <a:ea typeface="Times New Roman"/>
                <a:cs typeface="Times New Roman"/>
                <a:sym typeface="Times New Roman"/>
              </a:rPr>
              <a:t> Is digital life a dream came true for us?</a:t>
            </a:r>
            <a:endParaRPr/>
          </a:p>
          <a:p>
            <a:pPr indent="0" lvl="0" marL="0" rtl="0" algn="l">
              <a:lnSpc>
                <a:spcPct val="90000"/>
              </a:lnSpc>
              <a:spcBef>
                <a:spcPts val="1000"/>
              </a:spcBef>
              <a:spcAft>
                <a:spcPts val="0"/>
              </a:spcAft>
              <a:buClr>
                <a:schemeClr val="dk1"/>
              </a:buClr>
              <a:buSzPct val="100000"/>
              <a:buNone/>
            </a:pPr>
            <a:r>
              <a:rPr b="0" i="0" lang="en-US" sz="2400">
                <a:solidFill>
                  <a:schemeClr val="dk1"/>
                </a:solidFill>
                <a:latin typeface="Calibri"/>
                <a:ea typeface="Calibri"/>
                <a:cs typeface="Calibri"/>
                <a:sym typeface="Calibri"/>
              </a:rPr>
              <a:t>5. </a:t>
            </a:r>
            <a:r>
              <a:rPr b="0" i="0" lang="en-US" sz="2400">
                <a:solidFill>
                  <a:srgbClr val="333333"/>
                </a:solidFill>
                <a:latin typeface="Times New Roman"/>
                <a:ea typeface="Times New Roman"/>
                <a:cs typeface="Times New Roman"/>
                <a:sym typeface="Times New Roman"/>
              </a:rPr>
              <a:t>Coronavirus is more of a blessing for the earth than a curse.</a:t>
            </a:r>
            <a:endParaRPr/>
          </a:p>
          <a:p>
            <a:pPr indent="0" lvl="0" marL="0" rtl="0" algn="l">
              <a:lnSpc>
                <a:spcPct val="90000"/>
              </a:lnSpc>
              <a:spcBef>
                <a:spcPts val="1000"/>
              </a:spcBef>
              <a:spcAft>
                <a:spcPts val="0"/>
              </a:spcAft>
              <a:buClr>
                <a:srgbClr val="3C4043"/>
              </a:buClr>
              <a:buSzPct val="100000"/>
              <a:buNone/>
            </a:pPr>
            <a:r>
              <a:rPr b="1" lang="en-US" sz="2400">
                <a:solidFill>
                  <a:srgbClr val="3C4043"/>
                </a:solidFill>
                <a:latin typeface="Times New Roman"/>
                <a:ea typeface="Times New Roman"/>
                <a:cs typeface="Times New Roman"/>
                <a:sym typeface="Times New Roman"/>
              </a:rPr>
              <a:t>OR </a:t>
            </a:r>
            <a:r>
              <a:rPr b="0" i="0" lang="en-US" sz="2400">
                <a:solidFill>
                  <a:srgbClr val="333333"/>
                </a:solidFill>
                <a:latin typeface="Times New Roman"/>
                <a:ea typeface="Times New Roman"/>
                <a:cs typeface="Times New Roman"/>
                <a:sym typeface="Times New Roman"/>
              </a:rPr>
              <a:t>Social media have caused social distancing. </a:t>
            </a:r>
            <a:endParaRPr/>
          </a:p>
          <a:p>
            <a:pPr indent="0" lvl="0" marL="0" rtl="0" algn="l">
              <a:lnSpc>
                <a:spcPct val="90000"/>
              </a:lnSpc>
              <a:spcBef>
                <a:spcPts val="1000"/>
              </a:spcBef>
              <a:spcAft>
                <a:spcPts val="0"/>
              </a:spcAft>
              <a:buClr>
                <a:srgbClr val="333333"/>
              </a:buClr>
              <a:buSzPct val="100000"/>
              <a:buNone/>
            </a:pPr>
            <a:r>
              <a:rPr lang="en-US" sz="2400">
                <a:solidFill>
                  <a:srgbClr val="333333"/>
                </a:solidFill>
                <a:latin typeface="Times New Roman"/>
                <a:ea typeface="Times New Roman"/>
                <a:cs typeface="Times New Roman"/>
                <a:sym typeface="Times New Roman"/>
              </a:rPr>
              <a:t>6. </a:t>
            </a:r>
            <a:r>
              <a:rPr b="0" i="0" lang="en-US" sz="2400">
                <a:solidFill>
                  <a:srgbClr val="333333"/>
                </a:solidFill>
                <a:latin typeface="Times New Roman"/>
                <a:ea typeface="Times New Roman"/>
                <a:cs typeface="Times New Roman"/>
                <a:sym typeface="Times New Roman"/>
              </a:rPr>
              <a:t>What is the reason for fantasy books becoming best sellers these days? </a:t>
            </a:r>
            <a:r>
              <a:rPr b="1" i="0" lang="en-US" sz="2400">
                <a:solidFill>
                  <a:srgbClr val="333333"/>
                </a:solidFill>
                <a:latin typeface="Times New Roman"/>
                <a:ea typeface="Times New Roman"/>
                <a:cs typeface="Times New Roman"/>
                <a:sym typeface="Times New Roman"/>
              </a:rPr>
              <a:t>OR</a:t>
            </a:r>
            <a:r>
              <a:rPr b="0" i="0" lang="en-US" sz="2400">
                <a:solidFill>
                  <a:srgbClr val="333333"/>
                </a:solidFill>
                <a:latin typeface="Times New Roman"/>
                <a:ea typeface="Times New Roman"/>
                <a:cs typeface="Times New Roman"/>
                <a:sym typeface="Times New Roman"/>
              </a:rPr>
              <a:t> Explain why teenagers indulge in drugs </a:t>
            </a:r>
            <a:r>
              <a:rPr b="1" i="0" lang="en-US" sz="2400">
                <a:solidFill>
                  <a:srgbClr val="333333"/>
                </a:solidFill>
                <a:latin typeface="Times New Roman"/>
                <a:ea typeface="Times New Roman"/>
                <a:cs typeface="Times New Roman"/>
                <a:sym typeface="Times New Roman"/>
              </a:rPr>
              <a:t>OR</a:t>
            </a:r>
            <a:r>
              <a:rPr b="0" i="0" lang="en-US" sz="2400">
                <a:solidFill>
                  <a:srgbClr val="333333"/>
                </a:solidFill>
                <a:latin typeface="Times New Roman"/>
                <a:ea typeface="Times New Roman"/>
                <a:cs typeface="Times New Roman"/>
                <a:sym typeface="Times New Roman"/>
              </a:rPr>
              <a:t> Explain how music affects your life.</a:t>
            </a:r>
            <a:endParaRPr/>
          </a:p>
          <a:p>
            <a:pPr indent="0" lvl="0" marL="0" rtl="0" algn="l">
              <a:lnSpc>
                <a:spcPct val="90000"/>
              </a:lnSpc>
              <a:spcBef>
                <a:spcPts val="1000"/>
              </a:spcBef>
              <a:spcAft>
                <a:spcPts val="0"/>
              </a:spcAft>
              <a:buClr>
                <a:schemeClr val="dk1"/>
              </a:buClr>
              <a:buSzPct val="100000"/>
              <a:buNone/>
            </a:pPr>
            <a:r>
              <a:t/>
            </a:r>
            <a:endParaRPr b="0" i="0" sz="2400">
              <a:solidFill>
                <a:schemeClr val="dk1"/>
              </a:solidFill>
              <a:latin typeface="Calibri"/>
              <a:ea typeface="Calibri"/>
              <a:cs typeface="Calibri"/>
              <a:sym typeface="Calibri"/>
            </a:endParaRPr>
          </a:p>
          <a:p>
            <a:pPr indent="0" lvl="0" marL="0" rtl="0" algn="l">
              <a:lnSpc>
                <a:spcPct val="90000"/>
              </a:lnSpc>
              <a:spcBef>
                <a:spcPts val="1000"/>
              </a:spcBef>
              <a:spcAft>
                <a:spcPts val="0"/>
              </a:spcAft>
              <a:buClr>
                <a:schemeClr val="dk1"/>
              </a:buClr>
              <a:buSzPct val="100000"/>
              <a:buNone/>
            </a:pPr>
            <a:r>
              <a:t/>
            </a:r>
            <a:endParaRPr b="0" i="0" sz="2400" u="sng">
              <a:solidFill>
                <a:schemeClr val="dk1"/>
              </a:solidFill>
              <a:latin typeface="Calibri"/>
              <a:ea typeface="Calibri"/>
              <a:cs typeface="Calibri"/>
              <a:sym typeface="Calibri"/>
            </a:endParaRPr>
          </a:p>
          <a:p>
            <a:pPr indent="-64135" lvl="0" marL="228600" rtl="0" algn="l">
              <a:lnSpc>
                <a:spcPct val="90000"/>
              </a:lnSpc>
              <a:spcBef>
                <a:spcPts val="1000"/>
              </a:spcBef>
              <a:spcAft>
                <a:spcPts val="0"/>
              </a:spcAft>
              <a:buClr>
                <a:schemeClr val="dk1"/>
              </a:buClr>
              <a:buSzPct val="100000"/>
              <a:buNone/>
            </a:pPr>
            <a:r>
              <a:t/>
            </a:r>
            <a:endParaRPr/>
          </a:p>
        </p:txBody>
      </p:sp>
      <p:pic>
        <p:nvPicPr>
          <p:cNvPr id="163" name="Google Shape;163;p15"/>
          <p:cNvPicPr preferRelativeResize="0"/>
          <p:nvPr/>
        </p:nvPicPr>
        <p:blipFill rotWithShape="1">
          <a:blip r:embed="rId3">
            <a:alphaModFix/>
          </a:blip>
          <a:srcRect b="0" l="0" r="0" t="0"/>
          <a:stretch/>
        </p:blipFill>
        <p:spPr>
          <a:xfrm>
            <a:off x="10419160" y="0"/>
            <a:ext cx="1441053" cy="857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6"/>
          <p:cNvSpPr txBox="1"/>
          <p:nvPr>
            <p:ph type="title"/>
          </p:nvPr>
        </p:nvSpPr>
        <p:spPr>
          <a:xfrm>
            <a:off x="677334" y="609600"/>
            <a:ext cx="8596668" cy="685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ESSAY WRITING TIPS</a:t>
            </a:r>
            <a:endParaRPr/>
          </a:p>
        </p:txBody>
      </p:sp>
      <p:sp>
        <p:nvSpPr>
          <p:cNvPr id="169" name="Google Shape;169;p16"/>
          <p:cNvSpPr txBox="1"/>
          <p:nvPr>
            <p:ph idx="1" type="body"/>
          </p:nvPr>
        </p:nvSpPr>
        <p:spPr>
          <a:xfrm>
            <a:off x="677334" y="1295400"/>
            <a:ext cx="8596668" cy="5333999"/>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rgbClr val="333333"/>
              </a:buClr>
              <a:buSzPct val="100000"/>
              <a:buFont typeface="Arial"/>
              <a:buChar char="•"/>
            </a:pPr>
            <a:r>
              <a:rPr b="1" i="0" lang="en-US">
                <a:solidFill>
                  <a:srgbClr val="333333"/>
                </a:solidFill>
                <a:latin typeface="Times New Roman"/>
                <a:ea typeface="Times New Roman"/>
                <a:cs typeface="Times New Roman"/>
                <a:sym typeface="Times New Roman"/>
              </a:rPr>
              <a:t>Start writing your essay early</a:t>
            </a:r>
            <a:endParaRPr/>
          </a:p>
          <a:p>
            <a:pPr indent="-228600" lvl="0" marL="228600" rtl="0" algn="l">
              <a:lnSpc>
                <a:spcPct val="90000"/>
              </a:lnSpc>
              <a:spcBef>
                <a:spcPts val="1000"/>
              </a:spcBef>
              <a:spcAft>
                <a:spcPts val="0"/>
              </a:spcAft>
              <a:buClr>
                <a:srgbClr val="333333"/>
              </a:buClr>
              <a:buSzPct val="100000"/>
              <a:buFont typeface="Arial"/>
              <a:buChar char="•"/>
            </a:pPr>
            <a:r>
              <a:rPr b="1" i="0" lang="en-US">
                <a:solidFill>
                  <a:srgbClr val="333333"/>
                </a:solidFill>
                <a:latin typeface="Times New Roman"/>
                <a:ea typeface="Times New Roman"/>
                <a:cs typeface="Times New Roman"/>
                <a:sym typeface="Times New Roman"/>
              </a:rPr>
              <a:t>Remember the main question or idea in your mind.</a:t>
            </a:r>
            <a:endParaRPr/>
          </a:p>
          <a:p>
            <a:pPr indent="-228600" lvl="0" marL="228600" rtl="0" algn="l">
              <a:lnSpc>
                <a:spcPct val="90000"/>
              </a:lnSpc>
              <a:spcBef>
                <a:spcPts val="1000"/>
              </a:spcBef>
              <a:spcAft>
                <a:spcPts val="0"/>
              </a:spcAft>
              <a:buClr>
                <a:srgbClr val="333333"/>
              </a:buClr>
              <a:buSzPct val="100000"/>
              <a:buFont typeface="Arial"/>
              <a:buChar char="•"/>
            </a:pPr>
            <a:r>
              <a:rPr b="1" i="0" lang="en-US">
                <a:solidFill>
                  <a:srgbClr val="333333"/>
                </a:solidFill>
                <a:latin typeface="Times New Roman"/>
                <a:ea typeface="Times New Roman"/>
                <a:cs typeface="Times New Roman"/>
                <a:sym typeface="Times New Roman"/>
              </a:rPr>
              <a:t>Brainstorm ideas</a:t>
            </a:r>
            <a:endParaRPr/>
          </a:p>
          <a:p>
            <a:pPr indent="-228600" lvl="0" marL="228600" rtl="0" algn="l">
              <a:lnSpc>
                <a:spcPct val="90000"/>
              </a:lnSpc>
              <a:spcBef>
                <a:spcPts val="1000"/>
              </a:spcBef>
              <a:spcAft>
                <a:spcPts val="0"/>
              </a:spcAft>
              <a:buClr>
                <a:srgbClr val="333333"/>
              </a:buClr>
              <a:buSzPct val="100000"/>
              <a:buFont typeface="Arial"/>
              <a:buChar char="•"/>
            </a:pPr>
            <a:r>
              <a:rPr b="1" i="0" lang="en-US">
                <a:solidFill>
                  <a:srgbClr val="333333"/>
                </a:solidFill>
                <a:latin typeface="Times New Roman"/>
                <a:ea typeface="Times New Roman"/>
                <a:cs typeface="Times New Roman"/>
                <a:sym typeface="Times New Roman"/>
              </a:rPr>
              <a:t>Research your topic in-depth</a:t>
            </a:r>
            <a:endParaRPr/>
          </a:p>
          <a:p>
            <a:pPr indent="-228600" lvl="0" marL="228600" rtl="0" algn="l">
              <a:lnSpc>
                <a:spcPct val="90000"/>
              </a:lnSpc>
              <a:spcBef>
                <a:spcPts val="1000"/>
              </a:spcBef>
              <a:spcAft>
                <a:spcPts val="0"/>
              </a:spcAft>
              <a:buClr>
                <a:srgbClr val="333333"/>
              </a:buClr>
              <a:buSzPct val="100000"/>
              <a:buFont typeface="Arial"/>
              <a:buChar char="•"/>
            </a:pPr>
            <a:r>
              <a:rPr b="1" i="0" lang="en-US">
                <a:solidFill>
                  <a:srgbClr val="333333"/>
                </a:solidFill>
                <a:latin typeface="Times New Roman"/>
                <a:ea typeface="Times New Roman"/>
                <a:cs typeface="Times New Roman"/>
                <a:sym typeface="Times New Roman"/>
              </a:rPr>
              <a:t>Break down the essay into different sections and do not try to finish it in a single sitting.</a:t>
            </a:r>
            <a:endParaRPr/>
          </a:p>
          <a:p>
            <a:pPr indent="-228600" lvl="0" marL="228600" rtl="0" algn="l">
              <a:lnSpc>
                <a:spcPct val="90000"/>
              </a:lnSpc>
              <a:spcBef>
                <a:spcPts val="1000"/>
              </a:spcBef>
              <a:spcAft>
                <a:spcPts val="0"/>
              </a:spcAft>
              <a:buClr>
                <a:srgbClr val="333333"/>
              </a:buClr>
              <a:buSzPct val="100000"/>
              <a:buFont typeface="Arial"/>
              <a:buChar char="•"/>
            </a:pPr>
            <a:r>
              <a:rPr b="1" i="0" lang="en-US">
                <a:solidFill>
                  <a:srgbClr val="333333"/>
                </a:solidFill>
                <a:latin typeface="Times New Roman"/>
                <a:ea typeface="Times New Roman"/>
                <a:cs typeface="Times New Roman"/>
                <a:sym typeface="Times New Roman"/>
              </a:rPr>
              <a:t>Use transition words to create a coherent flow between the paragraphs.</a:t>
            </a:r>
            <a:endParaRPr/>
          </a:p>
          <a:p>
            <a:pPr indent="-228600" lvl="0" marL="228600" rtl="0" algn="l">
              <a:lnSpc>
                <a:spcPct val="90000"/>
              </a:lnSpc>
              <a:spcBef>
                <a:spcPts val="1000"/>
              </a:spcBef>
              <a:spcAft>
                <a:spcPts val="0"/>
              </a:spcAft>
              <a:buClr>
                <a:srgbClr val="333333"/>
              </a:buClr>
              <a:buSzPct val="100000"/>
              <a:buFont typeface="Arial"/>
              <a:buChar char="•"/>
            </a:pPr>
            <a:r>
              <a:rPr b="1" i="0" lang="en-US">
                <a:solidFill>
                  <a:srgbClr val="333333"/>
                </a:solidFill>
                <a:latin typeface="Times New Roman"/>
                <a:ea typeface="Times New Roman"/>
                <a:cs typeface="Times New Roman"/>
                <a:sym typeface="Times New Roman"/>
              </a:rPr>
              <a:t>Connect the evidence with the main idea carefully.</a:t>
            </a:r>
            <a:endParaRPr/>
          </a:p>
          <a:p>
            <a:pPr indent="-228600" lvl="0" marL="228600" rtl="0" algn="l">
              <a:lnSpc>
                <a:spcPct val="90000"/>
              </a:lnSpc>
              <a:spcBef>
                <a:spcPts val="1000"/>
              </a:spcBef>
              <a:spcAft>
                <a:spcPts val="0"/>
              </a:spcAft>
              <a:buClr>
                <a:srgbClr val="333333"/>
              </a:buClr>
              <a:buSzPct val="100000"/>
              <a:buFont typeface="Arial"/>
              <a:buChar char="•"/>
            </a:pPr>
            <a:r>
              <a:rPr b="1" i="0" lang="en-US">
                <a:solidFill>
                  <a:srgbClr val="333333"/>
                </a:solidFill>
                <a:latin typeface="Times New Roman"/>
                <a:ea typeface="Times New Roman"/>
                <a:cs typeface="Times New Roman"/>
                <a:sym typeface="Times New Roman"/>
              </a:rPr>
              <a:t>Do not copy-paste the content.</a:t>
            </a:r>
            <a:endParaRPr/>
          </a:p>
          <a:p>
            <a:pPr indent="-228600" lvl="0" marL="228600" rtl="0" algn="l">
              <a:lnSpc>
                <a:spcPct val="90000"/>
              </a:lnSpc>
              <a:spcBef>
                <a:spcPts val="1000"/>
              </a:spcBef>
              <a:spcAft>
                <a:spcPts val="0"/>
              </a:spcAft>
              <a:buClr>
                <a:srgbClr val="333333"/>
              </a:buClr>
              <a:buSzPct val="100000"/>
              <a:buFont typeface="Arial"/>
              <a:buChar char="•"/>
            </a:pPr>
            <a:r>
              <a:rPr b="1" i="0" lang="en-US">
                <a:solidFill>
                  <a:srgbClr val="333333"/>
                </a:solidFill>
                <a:latin typeface="Times New Roman"/>
                <a:ea typeface="Times New Roman"/>
                <a:cs typeface="Times New Roman"/>
                <a:sym typeface="Times New Roman"/>
              </a:rPr>
              <a:t>Ensure flawless grammar and punctuation.</a:t>
            </a:r>
            <a:endParaRPr/>
          </a:p>
          <a:p>
            <a:pPr indent="-228600" lvl="0" marL="228600" rtl="0" algn="l">
              <a:lnSpc>
                <a:spcPct val="90000"/>
              </a:lnSpc>
              <a:spcBef>
                <a:spcPts val="1000"/>
              </a:spcBef>
              <a:spcAft>
                <a:spcPts val="0"/>
              </a:spcAft>
              <a:buClr>
                <a:srgbClr val="333333"/>
              </a:buClr>
              <a:buSzPct val="100000"/>
              <a:buFont typeface="Arial"/>
              <a:buChar char="•"/>
            </a:pPr>
            <a:r>
              <a:rPr b="1" i="0" lang="en-US">
                <a:solidFill>
                  <a:srgbClr val="333333"/>
                </a:solidFill>
                <a:latin typeface="Times New Roman"/>
                <a:ea typeface="Times New Roman"/>
                <a:cs typeface="Times New Roman"/>
                <a:sym typeface="Times New Roman"/>
              </a:rPr>
              <a:t>Cite the references properly.</a:t>
            </a:r>
            <a:endParaRPr/>
          </a:p>
          <a:p>
            <a:pPr indent="-228600" lvl="0" marL="228600" rtl="0" algn="l">
              <a:lnSpc>
                <a:spcPct val="90000"/>
              </a:lnSpc>
              <a:spcBef>
                <a:spcPts val="1000"/>
              </a:spcBef>
              <a:spcAft>
                <a:spcPts val="0"/>
              </a:spcAft>
              <a:buClr>
                <a:srgbClr val="333333"/>
              </a:buClr>
              <a:buSzPct val="100000"/>
              <a:buFont typeface="Arial"/>
              <a:buChar char="•"/>
            </a:pPr>
            <a:r>
              <a:rPr b="1" i="0" lang="en-US">
                <a:solidFill>
                  <a:srgbClr val="333333"/>
                </a:solidFill>
                <a:latin typeface="Times New Roman"/>
                <a:ea typeface="Times New Roman"/>
                <a:cs typeface="Times New Roman"/>
                <a:sym typeface="Times New Roman"/>
              </a:rPr>
              <a:t>Edit and revise relentlessly.</a:t>
            </a:r>
            <a:endParaRPr/>
          </a:p>
          <a:p>
            <a:pPr indent="-228600" lvl="0" marL="228600" rtl="0" algn="l">
              <a:lnSpc>
                <a:spcPct val="90000"/>
              </a:lnSpc>
              <a:spcBef>
                <a:spcPts val="1000"/>
              </a:spcBef>
              <a:spcAft>
                <a:spcPts val="0"/>
              </a:spcAft>
              <a:buClr>
                <a:srgbClr val="333333"/>
              </a:buClr>
              <a:buSzPct val="100000"/>
              <a:buFont typeface="Arial"/>
              <a:buChar char="•"/>
            </a:pPr>
            <a:r>
              <a:rPr b="1" i="0" lang="en-US">
                <a:solidFill>
                  <a:srgbClr val="333333"/>
                </a:solidFill>
                <a:latin typeface="Times New Roman"/>
                <a:ea typeface="Times New Roman"/>
                <a:cs typeface="Times New Roman"/>
                <a:sym typeface="Times New Roman"/>
              </a:rPr>
              <a:t>Put the essay away for a few days and check again.</a:t>
            </a:r>
            <a:endParaRPr/>
          </a:p>
          <a:p>
            <a:pPr indent="-104140" lvl="0" marL="228600" rtl="0" algn="l">
              <a:lnSpc>
                <a:spcPct val="90000"/>
              </a:lnSpc>
              <a:spcBef>
                <a:spcPts val="1000"/>
              </a:spcBef>
              <a:spcAft>
                <a:spcPts val="0"/>
              </a:spcAft>
              <a:buClr>
                <a:schemeClr val="dk1"/>
              </a:buClr>
              <a:buSzPct val="100000"/>
              <a:buNone/>
            </a:pPr>
            <a:r>
              <a:t/>
            </a:r>
            <a:endParaRPr/>
          </a:p>
        </p:txBody>
      </p:sp>
      <p:pic>
        <p:nvPicPr>
          <p:cNvPr id="170" name="Google Shape;170;p16"/>
          <p:cNvPicPr preferRelativeResize="0"/>
          <p:nvPr/>
        </p:nvPicPr>
        <p:blipFill rotWithShape="1">
          <a:blip r:embed="rId3">
            <a:alphaModFix/>
          </a:blip>
          <a:srcRect b="0" l="0" r="0" t="0"/>
          <a:stretch/>
        </p:blipFill>
        <p:spPr>
          <a:xfrm>
            <a:off x="10419160" y="0"/>
            <a:ext cx="1441053" cy="8572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References</a:t>
            </a:r>
            <a:endParaRPr/>
          </a:p>
        </p:txBody>
      </p:sp>
      <p:sp>
        <p:nvSpPr>
          <p:cNvPr id="176" name="Google Shape;176;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Savage, Alice &amp; Patricia Mayer. </a:t>
            </a:r>
            <a:r>
              <a:rPr i="1" lang="en-US"/>
              <a:t>Effective Academic Writing</a:t>
            </a:r>
            <a:r>
              <a:rPr lang="en-US"/>
              <a:t> 2. OUP: New York, 1980.</a:t>
            </a:r>
            <a:endParaRPr/>
          </a:p>
          <a:p>
            <a:pPr indent="-228600" lvl="0" marL="228600" rtl="0" algn="l">
              <a:lnSpc>
                <a:spcPct val="90000"/>
              </a:lnSpc>
              <a:spcBef>
                <a:spcPts val="1000"/>
              </a:spcBef>
              <a:spcAft>
                <a:spcPts val="0"/>
              </a:spcAft>
              <a:buClr>
                <a:schemeClr val="dk1"/>
              </a:buClr>
              <a:buSzPts val="2800"/>
              <a:buChar char="•"/>
            </a:pPr>
            <a:r>
              <a:rPr lang="en-US"/>
              <a:t>Murphy, Barbara L. &amp; Estelle M. Rankin. </a:t>
            </a:r>
            <a:r>
              <a:rPr i="1" lang="en-US"/>
              <a:t>Writing the AP English Essay</a:t>
            </a:r>
            <a:r>
              <a:rPr lang="en-US"/>
              <a:t>. McGraw Hill: New York, 2004.</a:t>
            </a:r>
            <a:endParaRPr/>
          </a:p>
          <a:p>
            <a:pPr indent="-228600" lvl="0" marL="228600" rtl="0" algn="l">
              <a:lnSpc>
                <a:spcPct val="90000"/>
              </a:lnSpc>
              <a:spcBef>
                <a:spcPts val="1000"/>
              </a:spcBef>
              <a:spcAft>
                <a:spcPts val="0"/>
              </a:spcAft>
              <a:buClr>
                <a:schemeClr val="dk1"/>
              </a:buClr>
              <a:buSzPts val="2800"/>
              <a:buChar char="•"/>
            </a:pPr>
            <a:r>
              <a:rPr lang="en-US"/>
              <a:t>Dubey, Shyam Ji, Manish Kumar &amp; Shreesh Chaudhury. </a:t>
            </a:r>
            <a:r>
              <a:rPr i="1" lang="en-US"/>
              <a:t>English for Engineers and Technocrats</a:t>
            </a:r>
            <a:r>
              <a:rPr lang="en-US"/>
              <a:t>. S. Chand: New Delhi, 2019.</a:t>
            </a:r>
            <a:endParaRPr/>
          </a:p>
          <a:p>
            <a:pPr indent="-228600" lvl="0" marL="228600" rtl="0" algn="l">
              <a:lnSpc>
                <a:spcPct val="90000"/>
              </a:lnSpc>
              <a:spcBef>
                <a:spcPts val="1000"/>
              </a:spcBef>
              <a:spcAft>
                <a:spcPts val="0"/>
              </a:spcAft>
              <a:buClr>
                <a:schemeClr val="dk1"/>
              </a:buClr>
              <a:buSzPts val="2800"/>
              <a:buChar char="•"/>
            </a:pPr>
            <a:r>
              <a:rPr lang="en-US"/>
              <a:t>Zemach, Dorothy E. &amp; Carlos Islam. </a:t>
            </a:r>
            <a:r>
              <a:rPr i="1" lang="en-US"/>
              <a:t>Paragraph Writing</a:t>
            </a:r>
            <a:r>
              <a:rPr lang="en-US"/>
              <a:t>. Macmillan: Oxford, 2004.</a:t>
            </a:r>
            <a:endParaRPr/>
          </a:p>
          <a:p>
            <a:pPr indent="0" lvl="0" marL="0" rtl="0" algn="l">
              <a:lnSpc>
                <a:spcPct val="90000"/>
              </a:lnSpc>
              <a:spcBef>
                <a:spcPts val="1000"/>
              </a:spcBef>
              <a:spcAft>
                <a:spcPts val="0"/>
              </a:spcAft>
              <a:buClr>
                <a:schemeClr val="dk1"/>
              </a:buClr>
              <a:buSzPts val="2800"/>
              <a:buNone/>
            </a:pPr>
            <a:r>
              <a:rPr lang="en-US" u="sng">
                <a:solidFill>
                  <a:schemeClr val="dk1"/>
                </a:solidFill>
                <a:hlinkClick r:id="rId3">
                  <a:extLst>
                    <a:ext uri="{A12FA001-AC4F-418D-AE19-62706E023703}">
                      <ahyp:hlinkClr val="tx"/>
                    </a:ext>
                  </a:extLst>
                </a:hlinkClick>
              </a:rPr>
              <a:t>https://www.myperfectwords.com/blog/essay-writing-guide/essay-writing</a:t>
            </a:r>
            <a:r>
              <a:rPr lang="en-US">
                <a:solidFill>
                  <a:schemeClr val="dk1"/>
                </a:solidFill>
              </a:rPr>
              <a:t> </a:t>
            </a:r>
            <a:endParaRPr>
              <a:solidFill>
                <a:schemeClr val="dk1"/>
              </a:solidFill>
            </a:endParaRPr>
          </a:p>
        </p:txBody>
      </p:sp>
      <p:pic>
        <p:nvPicPr>
          <p:cNvPr id="177" name="Google Shape;177;p17"/>
          <p:cNvPicPr preferRelativeResize="0"/>
          <p:nvPr/>
        </p:nvPicPr>
        <p:blipFill rotWithShape="1">
          <a:blip r:embed="rId4">
            <a:alphaModFix/>
          </a:blip>
          <a:srcRect b="0" l="0" r="0" t="0"/>
          <a:stretch/>
        </p:blipFill>
        <p:spPr>
          <a:xfrm>
            <a:off x="10419160" y="0"/>
            <a:ext cx="1441053" cy="8572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2021-09-02T06:23:11Z</dcterms:created>
  <dc:creator>Avishek Deb</dc:creator>
</cp:coreProperties>
</file>