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1"/>
  </p:notesMasterIdLst>
  <p:handoutMasterIdLst>
    <p:handoutMasterId r:id="rId62"/>
  </p:handoutMasterIdLst>
  <p:sldIdLst>
    <p:sldId id="425" r:id="rId2"/>
    <p:sldId id="262" r:id="rId3"/>
    <p:sldId id="277" r:id="rId4"/>
    <p:sldId id="257" r:id="rId5"/>
    <p:sldId id="302" r:id="rId6"/>
    <p:sldId id="304" r:id="rId7"/>
    <p:sldId id="305" r:id="rId8"/>
    <p:sldId id="330" r:id="rId9"/>
    <p:sldId id="309" r:id="rId10"/>
    <p:sldId id="264" r:id="rId11"/>
    <p:sldId id="265" r:id="rId12"/>
    <p:sldId id="266" r:id="rId13"/>
    <p:sldId id="267" r:id="rId14"/>
    <p:sldId id="268" r:id="rId15"/>
    <p:sldId id="278" r:id="rId16"/>
    <p:sldId id="480" r:id="rId17"/>
    <p:sldId id="269" r:id="rId18"/>
    <p:sldId id="491" r:id="rId19"/>
    <p:sldId id="481" r:id="rId20"/>
    <p:sldId id="483" r:id="rId21"/>
    <p:sldId id="482" r:id="rId22"/>
    <p:sldId id="484" r:id="rId23"/>
    <p:sldId id="485" r:id="rId24"/>
    <p:sldId id="272" r:id="rId25"/>
    <p:sldId id="321" r:id="rId26"/>
    <p:sldId id="322" r:id="rId27"/>
    <p:sldId id="323" r:id="rId28"/>
    <p:sldId id="324" r:id="rId29"/>
    <p:sldId id="325" r:id="rId30"/>
    <p:sldId id="326" r:id="rId31"/>
    <p:sldId id="327" r:id="rId32"/>
    <p:sldId id="280" r:id="rId33"/>
    <p:sldId id="384" r:id="rId34"/>
    <p:sldId id="426" r:id="rId35"/>
    <p:sldId id="434" r:id="rId36"/>
    <p:sldId id="435" r:id="rId37"/>
    <p:sldId id="436" r:id="rId38"/>
    <p:sldId id="437" r:id="rId39"/>
    <p:sldId id="438" r:id="rId40"/>
    <p:sldId id="439" r:id="rId41"/>
    <p:sldId id="473" r:id="rId42"/>
    <p:sldId id="474" r:id="rId43"/>
    <p:sldId id="475" r:id="rId44"/>
    <p:sldId id="476" r:id="rId45"/>
    <p:sldId id="441" r:id="rId46"/>
    <p:sldId id="442" r:id="rId47"/>
    <p:sldId id="443" r:id="rId48"/>
    <p:sldId id="444" r:id="rId49"/>
    <p:sldId id="445" r:id="rId50"/>
    <p:sldId id="446" r:id="rId51"/>
    <p:sldId id="447" r:id="rId52"/>
    <p:sldId id="448" r:id="rId53"/>
    <p:sldId id="449" r:id="rId54"/>
    <p:sldId id="450" r:id="rId55"/>
    <p:sldId id="451" r:id="rId56"/>
    <p:sldId id="452" r:id="rId57"/>
    <p:sldId id="453" r:id="rId58"/>
    <p:sldId id="454" r:id="rId59"/>
    <p:sldId id="455" r:id="rId60"/>
  </p:sldIdLst>
  <p:sldSz cx="9144000" cy="6858000" type="screen4x3"/>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A1C4EBB7-3ABC-4BED-BA7D-7C3B348ECFEB}">
          <p14:sldIdLst>
            <p14:sldId id="425"/>
          </p14:sldIdLst>
        </p14:section>
        <p14:section name="Default Section" id="{B58F9E8C-0A85-4C74-BFCD-97BDB3FC2975}">
          <p14:sldIdLst>
            <p14:sldId id="262"/>
            <p14:sldId id="277"/>
            <p14:sldId id="257"/>
            <p14:sldId id="302"/>
            <p14:sldId id="304"/>
            <p14:sldId id="305"/>
            <p14:sldId id="330"/>
            <p14:sldId id="309"/>
            <p14:sldId id="264"/>
            <p14:sldId id="265"/>
            <p14:sldId id="266"/>
            <p14:sldId id="267"/>
            <p14:sldId id="268"/>
            <p14:sldId id="278"/>
            <p14:sldId id="480"/>
            <p14:sldId id="269"/>
            <p14:sldId id="491"/>
            <p14:sldId id="481"/>
            <p14:sldId id="483"/>
            <p14:sldId id="482"/>
            <p14:sldId id="484"/>
            <p14:sldId id="485"/>
            <p14:sldId id="272"/>
            <p14:sldId id="321"/>
            <p14:sldId id="322"/>
            <p14:sldId id="323"/>
            <p14:sldId id="324"/>
            <p14:sldId id="325"/>
            <p14:sldId id="326"/>
            <p14:sldId id="327"/>
            <p14:sldId id="280"/>
            <p14:sldId id="384"/>
            <p14:sldId id="426"/>
            <p14:sldId id="434"/>
            <p14:sldId id="435"/>
            <p14:sldId id="436"/>
            <p14:sldId id="437"/>
            <p14:sldId id="438"/>
            <p14:sldId id="439"/>
            <p14:sldId id="473"/>
            <p14:sldId id="474"/>
            <p14:sldId id="475"/>
            <p14:sldId id="476"/>
            <p14:sldId id="441"/>
            <p14:sldId id="442"/>
            <p14:sldId id="443"/>
            <p14:sldId id="444"/>
            <p14:sldId id="445"/>
            <p14:sldId id="446"/>
            <p14:sldId id="447"/>
            <p14:sldId id="448"/>
            <p14:sldId id="449"/>
            <p14:sldId id="450"/>
            <p14:sldId id="451"/>
            <p14:sldId id="452"/>
            <p14:sldId id="453"/>
            <p14:sldId id="454"/>
            <p14:sldId id="45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33"/>
    <a:srgbClr val="CCECFF"/>
    <a:srgbClr val="FF9900"/>
    <a:srgbClr val="CCFF99"/>
    <a:srgbClr val="FF99CC"/>
    <a:srgbClr val="99FF66"/>
    <a:srgbClr val="FFCCFF"/>
    <a:srgbClr val="FF99FF"/>
    <a:srgbClr val="99FFCC"/>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varScale="1">
        <p:scale>
          <a:sx n="66" d="100"/>
          <a:sy n="66" d="100"/>
        </p:scale>
        <p:origin x="1280" y="44"/>
      </p:cViewPr>
      <p:guideLst>
        <p:guide orient="horz" pos="2160"/>
        <p:guide pos="2880"/>
      </p:guideLst>
    </p:cSldViewPr>
  </p:slideViewPr>
  <p:outlineViewPr>
    <p:cViewPr>
      <p:scale>
        <a:sx n="33" d="100"/>
        <a:sy n="33" d="100"/>
      </p:scale>
      <p:origin x="0" y="1353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438458" y="0"/>
            <a:ext cx="4160520" cy="365760"/>
          </a:xfrm>
          <a:prstGeom prst="rect">
            <a:avLst/>
          </a:prstGeom>
        </p:spPr>
        <p:txBody>
          <a:bodyPr vert="horz" lIns="91440" tIns="45720" rIns="91440" bIns="45720" rtlCol="0"/>
          <a:lstStyle>
            <a:lvl1pPr algn="r">
              <a:defRPr sz="1200"/>
            </a:lvl1pPr>
          </a:lstStyle>
          <a:p>
            <a:fld id="{EB02F3A7-3287-473E-9878-88F1FA1C4F21}" type="datetimeFigureOut">
              <a:rPr lang="en-US" smtClean="0"/>
              <a:pPr/>
              <a:t>5/31/2021</a:t>
            </a:fld>
            <a:endParaRPr lang="en-US"/>
          </a:p>
        </p:txBody>
      </p:sp>
      <p:sp>
        <p:nvSpPr>
          <p:cNvPr id="4" name="Footer Placeholder 3"/>
          <p:cNvSpPr>
            <a:spLocks noGrp="1"/>
          </p:cNvSpPr>
          <p:nvPr>
            <p:ph type="ftr" sz="quarter" idx="2"/>
          </p:nvPr>
        </p:nvSpPr>
        <p:spPr>
          <a:xfrm>
            <a:off x="0" y="6948171"/>
            <a:ext cx="4160520" cy="36576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438458" y="6948171"/>
            <a:ext cx="4160520" cy="365760"/>
          </a:xfrm>
          <a:prstGeom prst="rect">
            <a:avLst/>
          </a:prstGeom>
        </p:spPr>
        <p:txBody>
          <a:bodyPr vert="horz" lIns="91440" tIns="45720" rIns="91440" bIns="45720" rtlCol="0" anchor="b"/>
          <a:lstStyle>
            <a:lvl1pPr algn="r">
              <a:defRPr sz="1200"/>
            </a:lvl1pPr>
          </a:lstStyle>
          <a:p>
            <a:fld id="{58418193-B5E2-4693-84D6-D19E11D1025A}" type="slidenum">
              <a:rPr lang="en-US" smtClean="0"/>
              <a:pPr/>
              <a:t>‹#›</a:t>
            </a:fld>
            <a:endParaRPr lang="en-US"/>
          </a:p>
        </p:txBody>
      </p:sp>
    </p:spTree>
    <p:extLst>
      <p:ext uri="{BB962C8B-B14F-4D97-AF65-F5344CB8AC3E}">
        <p14:creationId xmlns:p14="http://schemas.microsoft.com/office/powerpoint/2010/main" val="977881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438458" y="0"/>
            <a:ext cx="4160520" cy="365760"/>
          </a:xfrm>
          <a:prstGeom prst="rect">
            <a:avLst/>
          </a:prstGeom>
        </p:spPr>
        <p:txBody>
          <a:bodyPr vert="horz" lIns="91440" tIns="45720" rIns="91440" bIns="45720" rtlCol="0"/>
          <a:lstStyle>
            <a:lvl1pPr algn="r">
              <a:defRPr sz="1200"/>
            </a:lvl1pPr>
          </a:lstStyle>
          <a:p>
            <a:fld id="{3ACFE8BD-D62C-4981-974D-EABB634BAEC5}" type="datetimeFigureOut">
              <a:rPr lang="en-US" smtClean="0"/>
              <a:pPr/>
              <a:t>5/31/2021</a:t>
            </a:fld>
            <a:endParaRPr lang="en-US" dirty="0"/>
          </a:p>
        </p:txBody>
      </p:sp>
      <p:sp>
        <p:nvSpPr>
          <p:cNvPr id="4" name="Slide Image Placeholder 3"/>
          <p:cNvSpPr>
            <a:spLocks noGrp="1" noRot="1" noChangeAspect="1"/>
          </p:cNvSpPr>
          <p:nvPr>
            <p:ph type="sldImg" idx="2"/>
          </p:nvPr>
        </p:nvSpPr>
        <p:spPr>
          <a:xfrm>
            <a:off x="2971800" y="549275"/>
            <a:ext cx="3657600" cy="27432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60120" y="3474720"/>
            <a:ext cx="7680960" cy="329184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948171"/>
            <a:ext cx="4160520" cy="36576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438458" y="6948171"/>
            <a:ext cx="4160520" cy="365760"/>
          </a:xfrm>
          <a:prstGeom prst="rect">
            <a:avLst/>
          </a:prstGeom>
        </p:spPr>
        <p:txBody>
          <a:bodyPr vert="horz" lIns="91440" tIns="45720" rIns="91440" bIns="45720" rtlCol="0" anchor="b"/>
          <a:lstStyle>
            <a:lvl1pPr algn="r">
              <a:defRPr sz="1200"/>
            </a:lvl1pPr>
          </a:lstStyle>
          <a:p>
            <a:fld id="{D51EF0D4-BE3D-4F70-BEA1-EA1AD3D8A7C6}" type="slidenum">
              <a:rPr lang="en-US" smtClean="0"/>
              <a:pPr/>
              <a:t>‹#›</a:t>
            </a:fld>
            <a:endParaRPr lang="en-US" dirty="0"/>
          </a:p>
        </p:txBody>
      </p:sp>
    </p:spTree>
    <p:extLst>
      <p:ext uri="{BB962C8B-B14F-4D97-AF65-F5344CB8AC3E}">
        <p14:creationId xmlns:p14="http://schemas.microsoft.com/office/powerpoint/2010/main" val="3174677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AutoShape 1"/>
          <p:cNvSpPr>
            <a:spLocks noChangeArrowheads="1"/>
          </p:cNvSpPr>
          <p:nvPr/>
        </p:nvSpPr>
        <p:spPr bwMode="auto">
          <a:xfrm>
            <a:off x="1896071" y="702734"/>
            <a:ext cx="5813227" cy="2531533"/>
          </a:xfrm>
          <a:prstGeom prst="roundRect">
            <a:avLst>
              <a:gd name="adj" fmla="val 46"/>
            </a:avLst>
          </a:prstGeom>
          <a:solidFill>
            <a:srgbClr val="FFFFFF"/>
          </a:solidFill>
          <a:ln w="9360">
            <a:solidFill>
              <a:srgbClr val="000000"/>
            </a:solidFill>
            <a:miter lim="800000"/>
            <a:headEnd/>
            <a:tailEnd/>
          </a:ln>
        </p:spPr>
        <p:txBody>
          <a:bodyPr wrap="none" anchor="ctr"/>
          <a:lstStyle/>
          <a:p>
            <a:pPr algn="ctr" eaLnBrk="0" hangingPunct="0">
              <a:lnSpc>
                <a:spcPct val="126000"/>
              </a:lnSpc>
              <a:buClr>
                <a:srgbClr val="000000"/>
              </a:buClr>
              <a:buSzPct val="100000"/>
              <a:buFont typeface="Times New Roman" pitchFamily="18" charset="0"/>
              <a:buNone/>
            </a:pPr>
            <a:endParaRPr lang="en-US" dirty="0"/>
          </a:p>
        </p:txBody>
      </p:sp>
      <p:sp>
        <p:nvSpPr>
          <p:cNvPr id="46083" name="Rectangle 2"/>
          <p:cNvSpPr>
            <a:spLocks noGrp="1" noChangeArrowheads="1"/>
          </p:cNvSpPr>
          <p:nvPr>
            <p:ph type="body"/>
          </p:nvPr>
        </p:nvSpPr>
        <p:spPr>
          <a:xfrm>
            <a:off x="1485603" y="3479801"/>
            <a:ext cx="6600825" cy="2810933"/>
          </a:xfrm>
          <a:noFill/>
          <a:ln/>
        </p:spPr>
        <p:txBody>
          <a:bodyPr wrap="none" anchor="ctr"/>
          <a:lstStyle/>
          <a:p>
            <a:endParaRPr lang="en-US" dirty="0" smtClean="0"/>
          </a:p>
        </p:txBody>
      </p:sp>
    </p:spTree>
    <p:extLst>
      <p:ext uri="{BB962C8B-B14F-4D97-AF65-F5344CB8AC3E}">
        <p14:creationId xmlns:p14="http://schemas.microsoft.com/office/powerpoint/2010/main" val="2770964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DIP- Dual </a:t>
            </a:r>
            <a:r>
              <a:rPr lang="en-US" smtClean="0"/>
              <a:t>Inline Package</a:t>
            </a:r>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a:t>
            </a:fld>
            <a:endParaRPr lang="en-US" dirty="0"/>
          </a:p>
        </p:txBody>
      </p:sp>
    </p:spTree>
    <p:extLst>
      <p:ext uri="{BB962C8B-B14F-4D97-AF65-F5344CB8AC3E}">
        <p14:creationId xmlns:p14="http://schemas.microsoft.com/office/powerpoint/2010/main" val="4094889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a:t>
            </a:fld>
            <a:endParaRPr lang="en-US" dirty="0"/>
          </a:p>
        </p:txBody>
      </p:sp>
    </p:spTree>
    <p:extLst>
      <p:ext uri="{BB962C8B-B14F-4D97-AF65-F5344CB8AC3E}">
        <p14:creationId xmlns:p14="http://schemas.microsoft.com/office/powerpoint/2010/main" val="2864460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4</a:t>
            </a:fld>
            <a:endParaRPr lang="en-US" dirty="0"/>
          </a:p>
        </p:txBody>
      </p:sp>
    </p:spTree>
    <p:extLst>
      <p:ext uri="{BB962C8B-B14F-4D97-AF65-F5344CB8AC3E}">
        <p14:creationId xmlns:p14="http://schemas.microsoft.com/office/powerpoint/2010/main" val="973796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5</a:t>
            </a:fld>
            <a:endParaRPr lang="en-US" dirty="0"/>
          </a:p>
        </p:txBody>
      </p:sp>
    </p:spTree>
    <p:extLst>
      <p:ext uri="{BB962C8B-B14F-4D97-AF65-F5344CB8AC3E}">
        <p14:creationId xmlns:p14="http://schemas.microsoft.com/office/powerpoint/2010/main" val="2961272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6</a:t>
            </a:fld>
            <a:endParaRPr lang="en-US" dirty="0"/>
          </a:p>
        </p:txBody>
      </p:sp>
    </p:spTree>
    <p:extLst>
      <p:ext uri="{BB962C8B-B14F-4D97-AF65-F5344CB8AC3E}">
        <p14:creationId xmlns:p14="http://schemas.microsoft.com/office/powerpoint/2010/main" val="1736396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7</a:t>
            </a:fld>
            <a:endParaRPr lang="en-US" dirty="0"/>
          </a:p>
        </p:txBody>
      </p:sp>
    </p:spTree>
    <p:extLst>
      <p:ext uri="{BB962C8B-B14F-4D97-AF65-F5344CB8AC3E}">
        <p14:creationId xmlns:p14="http://schemas.microsoft.com/office/powerpoint/2010/main" val="451538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8</a:t>
            </a:fld>
            <a:endParaRPr lang="en-US" dirty="0"/>
          </a:p>
        </p:txBody>
      </p:sp>
    </p:spTree>
    <p:extLst>
      <p:ext uri="{BB962C8B-B14F-4D97-AF65-F5344CB8AC3E}">
        <p14:creationId xmlns:p14="http://schemas.microsoft.com/office/powerpoint/2010/main" val="2958417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9</a:t>
            </a:fld>
            <a:endParaRPr lang="en-US" dirty="0"/>
          </a:p>
        </p:txBody>
      </p:sp>
    </p:spTree>
    <p:extLst>
      <p:ext uri="{BB962C8B-B14F-4D97-AF65-F5344CB8AC3E}">
        <p14:creationId xmlns:p14="http://schemas.microsoft.com/office/powerpoint/2010/main" val="864865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10</a:t>
            </a:fld>
            <a:endParaRPr lang="en-US" dirty="0"/>
          </a:p>
        </p:txBody>
      </p:sp>
    </p:spTree>
    <p:extLst>
      <p:ext uri="{BB962C8B-B14F-4D97-AF65-F5344CB8AC3E}">
        <p14:creationId xmlns:p14="http://schemas.microsoft.com/office/powerpoint/2010/main" val="429046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11</a:t>
            </a:fld>
            <a:endParaRPr lang="en-US" dirty="0"/>
          </a:p>
        </p:txBody>
      </p:sp>
    </p:spTree>
    <p:extLst>
      <p:ext uri="{BB962C8B-B14F-4D97-AF65-F5344CB8AC3E}">
        <p14:creationId xmlns:p14="http://schemas.microsoft.com/office/powerpoint/2010/main" val="2151716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12</a:t>
            </a:fld>
            <a:endParaRPr lang="en-US" dirty="0"/>
          </a:p>
        </p:txBody>
      </p:sp>
    </p:spTree>
    <p:extLst>
      <p:ext uri="{BB962C8B-B14F-4D97-AF65-F5344CB8AC3E}">
        <p14:creationId xmlns:p14="http://schemas.microsoft.com/office/powerpoint/2010/main" val="2041568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13</a:t>
            </a:fld>
            <a:endParaRPr lang="en-US" dirty="0"/>
          </a:p>
        </p:txBody>
      </p:sp>
    </p:spTree>
    <p:extLst>
      <p:ext uri="{BB962C8B-B14F-4D97-AF65-F5344CB8AC3E}">
        <p14:creationId xmlns:p14="http://schemas.microsoft.com/office/powerpoint/2010/main" val="1712421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14</a:t>
            </a:fld>
            <a:endParaRPr lang="en-US" dirty="0"/>
          </a:p>
        </p:txBody>
      </p:sp>
    </p:spTree>
    <p:extLst>
      <p:ext uri="{BB962C8B-B14F-4D97-AF65-F5344CB8AC3E}">
        <p14:creationId xmlns:p14="http://schemas.microsoft.com/office/powerpoint/2010/main" val="609920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15</a:t>
            </a:fld>
            <a:endParaRPr lang="en-US" dirty="0"/>
          </a:p>
        </p:txBody>
      </p:sp>
    </p:spTree>
    <p:extLst>
      <p:ext uri="{BB962C8B-B14F-4D97-AF65-F5344CB8AC3E}">
        <p14:creationId xmlns:p14="http://schemas.microsoft.com/office/powerpoint/2010/main" val="3424120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17</a:t>
            </a:fld>
            <a:endParaRPr lang="en-US" dirty="0"/>
          </a:p>
        </p:txBody>
      </p:sp>
    </p:spTree>
    <p:extLst>
      <p:ext uri="{BB962C8B-B14F-4D97-AF65-F5344CB8AC3E}">
        <p14:creationId xmlns:p14="http://schemas.microsoft.com/office/powerpoint/2010/main" val="20312776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24</a:t>
            </a:fld>
            <a:endParaRPr lang="en-US" dirty="0"/>
          </a:p>
        </p:txBody>
      </p:sp>
    </p:spTree>
    <p:extLst>
      <p:ext uri="{BB962C8B-B14F-4D97-AF65-F5344CB8AC3E}">
        <p14:creationId xmlns:p14="http://schemas.microsoft.com/office/powerpoint/2010/main" val="19930264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25</a:t>
            </a:fld>
            <a:endParaRPr lang="en-US" dirty="0"/>
          </a:p>
        </p:txBody>
      </p:sp>
    </p:spTree>
    <p:extLst>
      <p:ext uri="{BB962C8B-B14F-4D97-AF65-F5344CB8AC3E}">
        <p14:creationId xmlns:p14="http://schemas.microsoft.com/office/powerpoint/2010/main" val="20582310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26</a:t>
            </a:fld>
            <a:endParaRPr lang="en-US" dirty="0"/>
          </a:p>
        </p:txBody>
      </p:sp>
    </p:spTree>
    <p:extLst>
      <p:ext uri="{BB962C8B-B14F-4D97-AF65-F5344CB8AC3E}">
        <p14:creationId xmlns:p14="http://schemas.microsoft.com/office/powerpoint/2010/main" val="34170997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27</a:t>
            </a:fld>
            <a:endParaRPr lang="en-US" dirty="0"/>
          </a:p>
        </p:txBody>
      </p:sp>
    </p:spTree>
    <p:extLst>
      <p:ext uri="{BB962C8B-B14F-4D97-AF65-F5344CB8AC3E}">
        <p14:creationId xmlns:p14="http://schemas.microsoft.com/office/powerpoint/2010/main" val="2949268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28</a:t>
            </a:fld>
            <a:endParaRPr lang="en-US" dirty="0"/>
          </a:p>
        </p:txBody>
      </p:sp>
    </p:spTree>
    <p:extLst>
      <p:ext uri="{BB962C8B-B14F-4D97-AF65-F5344CB8AC3E}">
        <p14:creationId xmlns:p14="http://schemas.microsoft.com/office/powerpoint/2010/main" val="29465952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29</a:t>
            </a:fld>
            <a:endParaRPr lang="en-US" dirty="0"/>
          </a:p>
        </p:txBody>
      </p:sp>
    </p:spTree>
    <p:extLst>
      <p:ext uri="{BB962C8B-B14F-4D97-AF65-F5344CB8AC3E}">
        <p14:creationId xmlns:p14="http://schemas.microsoft.com/office/powerpoint/2010/main" val="14847662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30</a:t>
            </a:fld>
            <a:endParaRPr lang="en-US" dirty="0"/>
          </a:p>
        </p:txBody>
      </p:sp>
    </p:spTree>
    <p:extLst>
      <p:ext uri="{BB962C8B-B14F-4D97-AF65-F5344CB8AC3E}">
        <p14:creationId xmlns:p14="http://schemas.microsoft.com/office/powerpoint/2010/main" val="17569774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31</a:t>
            </a:fld>
            <a:endParaRPr lang="en-US" dirty="0"/>
          </a:p>
        </p:txBody>
      </p:sp>
    </p:spTree>
    <p:extLst>
      <p:ext uri="{BB962C8B-B14F-4D97-AF65-F5344CB8AC3E}">
        <p14:creationId xmlns:p14="http://schemas.microsoft.com/office/powerpoint/2010/main" val="2953082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32</a:t>
            </a:fld>
            <a:endParaRPr lang="en-US" dirty="0"/>
          </a:p>
        </p:txBody>
      </p:sp>
    </p:spTree>
    <p:extLst>
      <p:ext uri="{BB962C8B-B14F-4D97-AF65-F5344CB8AC3E}">
        <p14:creationId xmlns:p14="http://schemas.microsoft.com/office/powerpoint/2010/main" val="41115747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33</a:t>
            </a:fld>
            <a:endParaRPr lang="en-US" dirty="0"/>
          </a:p>
        </p:txBody>
      </p:sp>
    </p:spTree>
    <p:extLst>
      <p:ext uri="{BB962C8B-B14F-4D97-AF65-F5344CB8AC3E}">
        <p14:creationId xmlns:p14="http://schemas.microsoft.com/office/powerpoint/2010/main" val="2223511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Shape 110"/>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11" name="Shape 111"/>
          <p:cNvSpPr>
            <a:spLocks noGrp="1" noRot="1" noChangeAspect="1"/>
          </p:cNvSpPr>
          <p:nvPr>
            <p:ph type="sldImg" idx="2"/>
          </p:nvPr>
        </p:nvSpPr>
        <p:spPr>
          <a:xfrm>
            <a:off x="2971800" y="549275"/>
            <a:ext cx="3657600"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91579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Shape 273"/>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74" name="Shape 274"/>
          <p:cNvSpPr>
            <a:spLocks noGrp="1" noRot="1" noChangeAspect="1"/>
          </p:cNvSpPr>
          <p:nvPr>
            <p:ph type="sldImg" idx="2"/>
          </p:nvPr>
        </p:nvSpPr>
        <p:spPr>
          <a:xfrm>
            <a:off x="1600516" y="548640"/>
            <a:ext cx="6401115"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85898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Shape 281"/>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82" name="Shape 282"/>
          <p:cNvSpPr>
            <a:spLocks noGrp="1" noRot="1" noChangeAspect="1"/>
          </p:cNvSpPr>
          <p:nvPr>
            <p:ph type="sldImg" idx="2"/>
          </p:nvPr>
        </p:nvSpPr>
        <p:spPr>
          <a:xfrm>
            <a:off x="1600516" y="548640"/>
            <a:ext cx="6401115"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3849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Shape 289"/>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90" name="Shape 290"/>
          <p:cNvSpPr>
            <a:spLocks noGrp="1" noRot="1" noChangeAspect="1"/>
          </p:cNvSpPr>
          <p:nvPr>
            <p:ph type="sldImg" idx="2"/>
          </p:nvPr>
        </p:nvSpPr>
        <p:spPr>
          <a:xfrm>
            <a:off x="2971800" y="549275"/>
            <a:ext cx="3657600"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8017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Shape 297"/>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98" name="Shape 298"/>
          <p:cNvSpPr>
            <a:spLocks noGrp="1" noRot="1" noChangeAspect="1"/>
          </p:cNvSpPr>
          <p:nvPr>
            <p:ph type="sldImg" idx="2"/>
          </p:nvPr>
        </p:nvSpPr>
        <p:spPr>
          <a:xfrm>
            <a:off x="1600516" y="548640"/>
            <a:ext cx="6401115"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00297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Shape 305"/>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06" name="Shape 306"/>
          <p:cNvSpPr>
            <a:spLocks noGrp="1" noRot="1" noChangeAspect="1"/>
          </p:cNvSpPr>
          <p:nvPr>
            <p:ph type="sldImg" idx="2"/>
          </p:nvPr>
        </p:nvSpPr>
        <p:spPr>
          <a:xfrm>
            <a:off x="1600516" y="548640"/>
            <a:ext cx="6401115"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42279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Shape 313"/>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14" name="Shape 314"/>
          <p:cNvSpPr>
            <a:spLocks noGrp="1" noRot="1" noChangeAspect="1"/>
          </p:cNvSpPr>
          <p:nvPr>
            <p:ph type="sldImg" idx="2"/>
          </p:nvPr>
        </p:nvSpPr>
        <p:spPr>
          <a:xfrm>
            <a:off x="1600516" y="548640"/>
            <a:ext cx="6401115"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59225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Shape 321"/>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22" name="Shape 322"/>
          <p:cNvSpPr>
            <a:spLocks noGrp="1" noRot="1" noChangeAspect="1"/>
          </p:cNvSpPr>
          <p:nvPr>
            <p:ph type="sldImg" idx="2"/>
          </p:nvPr>
        </p:nvSpPr>
        <p:spPr>
          <a:xfrm>
            <a:off x="2971800" y="549275"/>
            <a:ext cx="3657600"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13802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Shape 329"/>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30" name="Shape 330"/>
          <p:cNvSpPr>
            <a:spLocks noGrp="1" noRot="1" noChangeAspect="1"/>
          </p:cNvSpPr>
          <p:nvPr>
            <p:ph type="sldImg" idx="2"/>
          </p:nvPr>
        </p:nvSpPr>
        <p:spPr>
          <a:xfrm>
            <a:off x="2971800" y="549275"/>
            <a:ext cx="3657600"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2169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Shape 337"/>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38" name="Shape 338"/>
          <p:cNvSpPr>
            <a:spLocks noGrp="1" noRot="1" noChangeAspect="1"/>
          </p:cNvSpPr>
          <p:nvPr>
            <p:ph type="sldImg" idx="2"/>
          </p:nvPr>
        </p:nvSpPr>
        <p:spPr>
          <a:xfrm>
            <a:off x="1600516" y="548640"/>
            <a:ext cx="6401115"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54220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Shape 376"/>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77" name="Shape 377"/>
          <p:cNvSpPr>
            <a:spLocks noGrp="1" noRot="1" noChangeAspect="1"/>
          </p:cNvSpPr>
          <p:nvPr>
            <p:ph type="sldImg" idx="2"/>
          </p:nvPr>
        </p:nvSpPr>
        <p:spPr>
          <a:xfrm>
            <a:off x="2971800" y="549275"/>
            <a:ext cx="3657600"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11360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Shape 384"/>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85" name="Shape 385"/>
          <p:cNvSpPr>
            <a:spLocks noGrp="1" noRot="1" noChangeAspect="1"/>
          </p:cNvSpPr>
          <p:nvPr>
            <p:ph type="sldImg" idx="2"/>
          </p:nvPr>
        </p:nvSpPr>
        <p:spPr>
          <a:xfrm>
            <a:off x="1600516" y="548640"/>
            <a:ext cx="6401115"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71810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Shape 392"/>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93" name="Shape 393"/>
          <p:cNvSpPr>
            <a:spLocks noGrp="1" noRot="1" noChangeAspect="1"/>
          </p:cNvSpPr>
          <p:nvPr>
            <p:ph type="sldImg" idx="2"/>
          </p:nvPr>
        </p:nvSpPr>
        <p:spPr>
          <a:xfrm>
            <a:off x="2971800" y="549275"/>
            <a:ext cx="3657600"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96719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Shape 400"/>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01" name="Shape 401"/>
          <p:cNvSpPr>
            <a:spLocks noGrp="1" noRot="1" noChangeAspect="1"/>
          </p:cNvSpPr>
          <p:nvPr>
            <p:ph type="sldImg" idx="2"/>
          </p:nvPr>
        </p:nvSpPr>
        <p:spPr>
          <a:xfrm>
            <a:off x="1600516" y="548640"/>
            <a:ext cx="6401115"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40751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Shape 408"/>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09" name="Shape 409"/>
          <p:cNvSpPr>
            <a:spLocks noGrp="1" noRot="1" noChangeAspect="1"/>
          </p:cNvSpPr>
          <p:nvPr>
            <p:ph type="sldImg" idx="2"/>
          </p:nvPr>
        </p:nvSpPr>
        <p:spPr>
          <a:xfrm>
            <a:off x="2971800" y="549275"/>
            <a:ext cx="3657600"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80559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Shape 414"/>
          <p:cNvSpPr txBox="1">
            <a:spLocks noGrp="1"/>
          </p:cNvSpPr>
          <p:nvPr>
            <p:ph type="body" idx="1"/>
          </p:nvPr>
        </p:nvSpPr>
        <p:spPr>
          <a:xfrm>
            <a:off x="960121" y="3474720"/>
            <a:ext cx="7680959" cy="32918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15" name="Shape 415"/>
          <p:cNvSpPr>
            <a:spLocks noGrp="1" noRot="1" noChangeAspect="1"/>
          </p:cNvSpPr>
          <p:nvPr>
            <p:ph type="sldImg" idx="2"/>
          </p:nvPr>
        </p:nvSpPr>
        <p:spPr>
          <a:xfrm>
            <a:off x="2971800" y="549275"/>
            <a:ext cx="3657600" cy="27432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504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fld id="{4AAE850C-AF93-4956-BF48-54E389529FC9}" type="datetime1">
              <a:rPr lang="en-US" smtClean="0"/>
              <a:pPr/>
              <a:t>5/31/2021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355991740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7CC5F7-AF58-4935-854F-1294D8480485}" type="datetime1">
              <a:rPr lang="en-US" smtClean="0"/>
              <a:pPr/>
              <a:t>5/31/2021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179330170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4573B3-9B98-4AD7-A970-0B8A65E9F455}" type="datetime1">
              <a:rPr lang="en-US" smtClean="0"/>
              <a:pPr/>
              <a:t>5/31/2021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116994476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84CF42-69A5-4F2A-9DCF-72FD5EDAD5B3}" type="datetime1">
              <a:rPr lang="en-US" smtClean="0"/>
              <a:pPr/>
              <a:t>5/31/2021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92714760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5048530-A9A2-42A9-972D-2A40F4592579}" type="datetime1">
              <a:rPr lang="en-US" smtClean="0"/>
              <a:pPr/>
              <a:t>5/31/2021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27030863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895600" y="110756"/>
            <a:ext cx="6019800" cy="487362"/>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D169FFB-2912-4B6A-A049-8F3BD1CC1E5A}" type="datetime1">
              <a:rPr lang="en-US" smtClean="0"/>
              <a:pPr/>
              <a:t>5/31/2021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5E6815B-E59C-4D87-B1F6-ECBDD22AF1DC}" type="slidenum">
              <a:rPr lang="en-US" smtClean="0"/>
              <a:pPr/>
              <a:t>‹#›</a:t>
            </a:fld>
            <a:endParaRPr lang="en-US" dirty="0"/>
          </a:p>
        </p:txBody>
      </p:sp>
      <p:pic>
        <p:nvPicPr>
          <p:cNvPr id="2051" name="Picture 3" descr="C:\Users\AMMU\Desktop\Border.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878905" y="-25052"/>
            <a:ext cx="7265095"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755607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DDC750-60AD-4FDC-BC50-E950272131C1}" type="datetime1">
              <a:rPr lang="en-US" smtClean="0"/>
              <a:pPr/>
              <a:t>5/31/2021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411303086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6FC14E-AC3E-4FE0-8224-6CB0D030CA8B}" type="datetime1">
              <a:rPr lang="en-US" smtClean="0"/>
              <a:pPr/>
              <a:t>5/31/2021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1516865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B32CF68-A398-40A5-AE77-71E77434B9D5}" type="datetime1">
              <a:rPr lang="en-US" smtClean="0"/>
              <a:pPr/>
              <a:t>5/31/2021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1781286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077206-DE01-4673-95B1-850E8293398C}" type="datetime1">
              <a:rPr lang="en-US" smtClean="0"/>
              <a:pPr/>
              <a:t>5/31/2021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76730189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41FC94-5558-4295-BD29-57EEAEDAF123}" type="datetime1">
              <a:rPr lang="en-US" smtClean="0"/>
              <a:pPr/>
              <a:t>5/31/2021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3440403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EXT_AND_OBJECT">
    <p:spTree>
      <p:nvGrpSpPr>
        <p:cNvPr id="1" name="Shape 15"/>
        <p:cNvGrpSpPr/>
        <p:nvPr/>
      </p:nvGrpSpPr>
      <p:grpSpPr>
        <a:xfrm>
          <a:off x="0" y="0"/>
          <a:ext cx="0" cy="0"/>
          <a:chOff x="0" y="0"/>
          <a:chExt cx="0" cy="0"/>
        </a:xfrm>
      </p:grpSpPr>
      <p:sp>
        <p:nvSpPr>
          <p:cNvPr id="16" name="Shape 16"/>
          <p:cNvSpPr txBox="1">
            <a:spLocks noGrp="1"/>
          </p:cNvSpPr>
          <p:nvPr>
            <p:ph type="title"/>
          </p:nvPr>
        </p:nvSpPr>
        <p:spPr>
          <a:xfrm>
            <a:off x="457200" y="274637"/>
            <a:ext cx="8229600" cy="1143000"/>
          </a:xfrm>
          <a:prstGeom prst="rect">
            <a:avLst/>
          </a:prstGeom>
          <a:noFill/>
          <a:ln>
            <a:noFill/>
          </a:ln>
        </p:spPr>
        <p:txBody>
          <a:bodyPr lIns="91425" tIns="91425" rIns="91425" bIns="91425" anchor="t" anchorCtr="0"/>
          <a:lstStyle>
            <a:lvl1pPr lvl="0" algn="ctr" rtl="0">
              <a:spcBef>
                <a:spcPts val="0"/>
              </a:spcBef>
              <a:spcAft>
                <a:spcPts val="0"/>
              </a:spcAft>
              <a:defRPr sz="4400">
                <a:solidFill>
                  <a:schemeClr val="dk2"/>
                </a:solidFill>
                <a:latin typeface="Arial"/>
                <a:ea typeface="Arial"/>
                <a:cs typeface="Arial"/>
                <a:sym typeface="Arial"/>
              </a:defRPr>
            </a:lvl1pPr>
            <a:lvl2pPr lvl="1" algn="ctr" rtl="0">
              <a:spcBef>
                <a:spcPts val="0"/>
              </a:spcBef>
              <a:spcAft>
                <a:spcPts val="0"/>
              </a:spcAft>
              <a:defRPr sz="4400">
                <a:solidFill>
                  <a:schemeClr val="dk2"/>
                </a:solidFill>
                <a:latin typeface="Arial"/>
                <a:ea typeface="Arial"/>
                <a:cs typeface="Arial"/>
                <a:sym typeface="Arial"/>
              </a:defRPr>
            </a:lvl2pPr>
            <a:lvl3pPr lvl="2" algn="ctr" rtl="0">
              <a:spcBef>
                <a:spcPts val="0"/>
              </a:spcBef>
              <a:spcAft>
                <a:spcPts val="0"/>
              </a:spcAft>
              <a:defRPr sz="4400">
                <a:solidFill>
                  <a:schemeClr val="dk2"/>
                </a:solidFill>
                <a:latin typeface="Arial"/>
                <a:ea typeface="Arial"/>
                <a:cs typeface="Arial"/>
                <a:sym typeface="Arial"/>
              </a:defRPr>
            </a:lvl3pPr>
            <a:lvl4pPr lvl="3" algn="ctr" rtl="0">
              <a:spcBef>
                <a:spcPts val="0"/>
              </a:spcBef>
              <a:spcAft>
                <a:spcPts val="0"/>
              </a:spcAft>
              <a:defRPr sz="4400">
                <a:solidFill>
                  <a:schemeClr val="dk2"/>
                </a:solidFill>
                <a:latin typeface="Arial"/>
                <a:ea typeface="Arial"/>
                <a:cs typeface="Arial"/>
                <a:sym typeface="Arial"/>
              </a:defRPr>
            </a:lvl4pPr>
            <a:lvl5pPr lvl="4" algn="ctr" rtl="0">
              <a:spcBef>
                <a:spcPts val="0"/>
              </a:spcBef>
              <a:spcAft>
                <a:spcPts val="0"/>
              </a:spcAft>
              <a:defRPr sz="4400">
                <a:solidFill>
                  <a:schemeClr val="dk2"/>
                </a:solidFill>
                <a:latin typeface="Arial"/>
                <a:ea typeface="Arial"/>
                <a:cs typeface="Arial"/>
                <a:sym typeface="Arial"/>
              </a:defRPr>
            </a:lvl5pPr>
            <a:lvl6pPr marL="457200" lvl="5" algn="ctr" rtl="0">
              <a:spcBef>
                <a:spcPts val="0"/>
              </a:spcBef>
              <a:spcAft>
                <a:spcPts val="0"/>
              </a:spcAft>
              <a:defRPr sz="4400">
                <a:solidFill>
                  <a:schemeClr val="dk2"/>
                </a:solidFill>
                <a:latin typeface="Arial"/>
                <a:ea typeface="Arial"/>
                <a:cs typeface="Arial"/>
                <a:sym typeface="Arial"/>
              </a:defRPr>
            </a:lvl6pPr>
            <a:lvl7pPr marL="914400" lvl="6" algn="ctr" rtl="0">
              <a:spcBef>
                <a:spcPts val="0"/>
              </a:spcBef>
              <a:spcAft>
                <a:spcPts val="0"/>
              </a:spcAft>
              <a:defRPr sz="4400">
                <a:solidFill>
                  <a:schemeClr val="dk2"/>
                </a:solidFill>
                <a:latin typeface="Arial"/>
                <a:ea typeface="Arial"/>
                <a:cs typeface="Arial"/>
                <a:sym typeface="Arial"/>
              </a:defRPr>
            </a:lvl7pPr>
            <a:lvl8pPr marL="1371600" lvl="7" algn="ctr" rtl="0">
              <a:spcBef>
                <a:spcPts val="0"/>
              </a:spcBef>
              <a:spcAft>
                <a:spcPts val="0"/>
              </a:spcAft>
              <a:defRPr sz="4400">
                <a:solidFill>
                  <a:schemeClr val="dk2"/>
                </a:solidFill>
                <a:latin typeface="Arial"/>
                <a:ea typeface="Arial"/>
                <a:cs typeface="Arial"/>
                <a:sym typeface="Arial"/>
              </a:defRPr>
            </a:lvl8pPr>
            <a:lvl9pPr marL="1828800" lvl="8" algn="ctr" rtl="0">
              <a:spcBef>
                <a:spcPts val="0"/>
              </a:spcBef>
              <a:spcAft>
                <a:spcPts val="0"/>
              </a:spcAft>
              <a:defRPr sz="4400">
                <a:solidFill>
                  <a:schemeClr val="dk2"/>
                </a:solidFill>
                <a:latin typeface="Arial"/>
                <a:ea typeface="Arial"/>
                <a:cs typeface="Arial"/>
                <a:sym typeface="Arial"/>
              </a:defRPr>
            </a:lvl9pPr>
          </a:lstStyle>
          <a:p>
            <a:endParaRPr/>
          </a:p>
        </p:txBody>
      </p:sp>
      <p:sp>
        <p:nvSpPr>
          <p:cNvPr id="17" name="Shape 17"/>
          <p:cNvSpPr txBox="1">
            <a:spLocks noGrp="1"/>
          </p:cNvSpPr>
          <p:nvPr>
            <p:ph type="body" idx="1"/>
          </p:nvPr>
        </p:nvSpPr>
        <p:spPr>
          <a:xfrm>
            <a:off x="457200" y="1600200"/>
            <a:ext cx="4038599" cy="4525963"/>
          </a:xfrm>
          <a:prstGeom prst="rect">
            <a:avLst/>
          </a:prstGeom>
          <a:noFill/>
          <a:ln>
            <a:noFill/>
          </a:ln>
        </p:spPr>
        <p:txBody>
          <a:bodyPr lIns="91425" tIns="91425" rIns="91425" bIns="91425" anchor="t" anchorCtr="0"/>
          <a:lstStyle>
            <a:lvl1pPr marL="342900" lvl="0" indent="-222250" algn="l" rtl="0">
              <a:spcBef>
                <a:spcPts val="640"/>
              </a:spcBef>
              <a:spcAft>
                <a:spcPts val="0"/>
              </a:spcAft>
              <a:buClr>
                <a:schemeClr val="dk1"/>
              </a:buClr>
              <a:buFont typeface="Arial"/>
              <a:buChar char="●"/>
              <a:defRPr sz="3200">
                <a:solidFill>
                  <a:schemeClr val="dk1"/>
                </a:solidFill>
                <a:latin typeface="Arial"/>
                <a:ea typeface="Arial"/>
                <a:cs typeface="Arial"/>
                <a:sym typeface="Arial"/>
              </a:defRPr>
            </a:lvl1pPr>
            <a:lvl2pPr marL="742950" lvl="1" indent="-177800" algn="l" rtl="0">
              <a:spcBef>
                <a:spcPts val="560"/>
              </a:spcBef>
              <a:spcAft>
                <a:spcPts val="0"/>
              </a:spcAft>
              <a:buClr>
                <a:schemeClr val="dk1"/>
              </a:buClr>
              <a:buFont typeface="Arial"/>
              <a:buChar char="●"/>
              <a:defRPr sz="2800">
                <a:solidFill>
                  <a:schemeClr val="dk1"/>
                </a:solidFill>
                <a:latin typeface="Arial"/>
                <a:ea typeface="Arial"/>
                <a:cs typeface="Arial"/>
                <a:sym typeface="Arial"/>
              </a:defRPr>
            </a:lvl2pPr>
            <a:lvl3pPr marL="1143000" lvl="2" indent="-136525" algn="l" rtl="0">
              <a:spcBef>
                <a:spcPts val="480"/>
              </a:spcBef>
              <a:spcAft>
                <a:spcPts val="0"/>
              </a:spcAft>
              <a:buClr>
                <a:schemeClr val="dk1"/>
              </a:buClr>
              <a:buFont typeface="Arial"/>
              <a:buChar char="●"/>
              <a:defRPr sz="2400">
                <a:solidFill>
                  <a:schemeClr val="dk1"/>
                </a:solidFill>
                <a:latin typeface="Arial"/>
                <a:ea typeface="Arial"/>
                <a:cs typeface="Arial"/>
                <a:sym typeface="Arial"/>
              </a:defRPr>
            </a:lvl3pPr>
            <a:lvl4pPr marL="1600200" lvl="3" indent="-152400" algn="l" rtl="0">
              <a:spcBef>
                <a:spcPts val="400"/>
              </a:spcBef>
              <a:spcAft>
                <a:spcPts val="0"/>
              </a:spcAft>
              <a:buClr>
                <a:schemeClr val="dk1"/>
              </a:buClr>
              <a:buFont typeface="Arial"/>
              <a:buChar char="●"/>
              <a:defRPr sz="2000">
                <a:solidFill>
                  <a:schemeClr val="dk1"/>
                </a:solidFill>
                <a:latin typeface="Arial"/>
                <a:ea typeface="Arial"/>
                <a:cs typeface="Arial"/>
                <a:sym typeface="Arial"/>
              </a:defRPr>
            </a:lvl4pPr>
            <a:lvl5pPr marL="2057400" lvl="4" indent="-152400" algn="l" rtl="0">
              <a:spcBef>
                <a:spcPts val="400"/>
              </a:spcBef>
              <a:spcAft>
                <a:spcPts val="0"/>
              </a:spcAft>
              <a:buClr>
                <a:schemeClr val="dk1"/>
              </a:buClr>
              <a:buFont typeface="Arial"/>
              <a:buChar char="●"/>
              <a:defRPr sz="2000">
                <a:solidFill>
                  <a:schemeClr val="dk1"/>
                </a:solidFill>
                <a:latin typeface="Arial"/>
                <a:ea typeface="Arial"/>
                <a:cs typeface="Arial"/>
                <a:sym typeface="Arial"/>
              </a:defRPr>
            </a:lvl5pPr>
            <a:lvl6pPr marL="2514600" lvl="5" indent="-152400" algn="l" rtl="0">
              <a:spcBef>
                <a:spcPts val="400"/>
              </a:spcBef>
              <a:spcAft>
                <a:spcPts val="0"/>
              </a:spcAft>
              <a:buClr>
                <a:schemeClr val="dk1"/>
              </a:buClr>
              <a:buFont typeface="Arial"/>
              <a:buChar char="●"/>
              <a:defRPr sz="2000">
                <a:solidFill>
                  <a:schemeClr val="dk1"/>
                </a:solidFill>
                <a:latin typeface="Arial"/>
                <a:ea typeface="Arial"/>
                <a:cs typeface="Arial"/>
                <a:sym typeface="Arial"/>
              </a:defRPr>
            </a:lvl6pPr>
            <a:lvl7pPr marL="2971800" lvl="6" indent="-152400" algn="l" rtl="0">
              <a:spcBef>
                <a:spcPts val="400"/>
              </a:spcBef>
              <a:spcAft>
                <a:spcPts val="0"/>
              </a:spcAft>
              <a:buClr>
                <a:schemeClr val="dk1"/>
              </a:buClr>
              <a:buFont typeface="Arial"/>
              <a:buChar char="●"/>
              <a:defRPr sz="2000">
                <a:solidFill>
                  <a:schemeClr val="dk1"/>
                </a:solidFill>
                <a:latin typeface="Arial"/>
                <a:ea typeface="Arial"/>
                <a:cs typeface="Arial"/>
                <a:sym typeface="Arial"/>
              </a:defRPr>
            </a:lvl7pPr>
            <a:lvl8pPr marL="3429000" lvl="7" indent="-152400" algn="l" rtl="0">
              <a:spcBef>
                <a:spcPts val="400"/>
              </a:spcBef>
              <a:spcAft>
                <a:spcPts val="0"/>
              </a:spcAft>
              <a:buClr>
                <a:schemeClr val="dk1"/>
              </a:buClr>
              <a:buFont typeface="Arial"/>
              <a:buChar char="●"/>
              <a:defRPr sz="2000">
                <a:solidFill>
                  <a:schemeClr val="dk1"/>
                </a:solidFill>
                <a:latin typeface="Arial"/>
                <a:ea typeface="Arial"/>
                <a:cs typeface="Arial"/>
                <a:sym typeface="Arial"/>
              </a:defRPr>
            </a:lvl8pPr>
            <a:lvl9pPr marL="3886200" lvl="8" indent="-152400" algn="l" rtl="0">
              <a:spcBef>
                <a:spcPts val="400"/>
              </a:spcBef>
              <a:spcAft>
                <a:spcPts val="0"/>
              </a:spcAft>
              <a:buClr>
                <a:schemeClr val="dk1"/>
              </a:buClr>
              <a:buFont typeface="Arial"/>
              <a:buChar char="●"/>
              <a:defRPr sz="2000">
                <a:solidFill>
                  <a:schemeClr val="dk1"/>
                </a:solidFill>
                <a:latin typeface="Arial"/>
                <a:ea typeface="Arial"/>
                <a:cs typeface="Arial"/>
                <a:sym typeface="Arial"/>
              </a:defRPr>
            </a:lvl9pPr>
          </a:lstStyle>
          <a:p>
            <a:endParaRPr/>
          </a:p>
        </p:txBody>
      </p:sp>
      <p:sp>
        <p:nvSpPr>
          <p:cNvPr id="18" name="Shape 18"/>
          <p:cNvSpPr txBox="1">
            <a:spLocks noGrp="1"/>
          </p:cNvSpPr>
          <p:nvPr>
            <p:ph type="body" idx="2"/>
          </p:nvPr>
        </p:nvSpPr>
        <p:spPr>
          <a:xfrm>
            <a:off x="4648200" y="1600200"/>
            <a:ext cx="4038599" cy="4525963"/>
          </a:xfrm>
          <a:prstGeom prst="rect">
            <a:avLst/>
          </a:prstGeom>
          <a:noFill/>
          <a:ln>
            <a:noFill/>
          </a:ln>
        </p:spPr>
        <p:txBody>
          <a:bodyPr lIns="91425" tIns="91425" rIns="91425" bIns="91425" anchor="t" anchorCtr="0"/>
          <a:lstStyle>
            <a:lvl1pPr marL="342900" lvl="0" indent="-222250" algn="l" rtl="0">
              <a:spcBef>
                <a:spcPts val="640"/>
              </a:spcBef>
              <a:spcAft>
                <a:spcPts val="0"/>
              </a:spcAft>
              <a:buClr>
                <a:schemeClr val="dk1"/>
              </a:buClr>
              <a:buFont typeface="Arial"/>
              <a:buChar char="●"/>
              <a:defRPr sz="3200">
                <a:solidFill>
                  <a:schemeClr val="dk1"/>
                </a:solidFill>
                <a:latin typeface="Arial"/>
                <a:ea typeface="Arial"/>
                <a:cs typeface="Arial"/>
                <a:sym typeface="Arial"/>
              </a:defRPr>
            </a:lvl1pPr>
            <a:lvl2pPr marL="742950" lvl="1" indent="-177800" algn="l" rtl="0">
              <a:spcBef>
                <a:spcPts val="560"/>
              </a:spcBef>
              <a:spcAft>
                <a:spcPts val="0"/>
              </a:spcAft>
              <a:buClr>
                <a:schemeClr val="dk1"/>
              </a:buClr>
              <a:buFont typeface="Arial"/>
              <a:buChar char="●"/>
              <a:defRPr sz="2800">
                <a:solidFill>
                  <a:schemeClr val="dk1"/>
                </a:solidFill>
                <a:latin typeface="Arial"/>
                <a:ea typeface="Arial"/>
                <a:cs typeface="Arial"/>
                <a:sym typeface="Arial"/>
              </a:defRPr>
            </a:lvl2pPr>
            <a:lvl3pPr marL="1143000" lvl="2" indent="-136525" algn="l" rtl="0">
              <a:spcBef>
                <a:spcPts val="480"/>
              </a:spcBef>
              <a:spcAft>
                <a:spcPts val="0"/>
              </a:spcAft>
              <a:buClr>
                <a:schemeClr val="dk1"/>
              </a:buClr>
              <a:buFont typeface="Arial"/>
              <a:buChar char="●"/>
              <a:defRPr sz="2400">
                <a:solidFill>
                  <a:schemeClr val="dk1"/>
                </a:solidFill>
                <a:latin typeface="Arial"/>
                <a:ea typeface="Arial"/>
                <a:cs typeface="Arial"/>
                <a:sym typeface="Arial"/>
              </a:defRPr>
            </a:lvl3pPr>
            <a:lvl4pPr marL="1600200" lvl="3" indent="-152400" algn="l" rtl="0">
              <a:spcBef>
                <a:spcPts val="400"/>
              </a:spcBef>
              <a:spcAft>
                <a:spcPts val="0"/>
              </a:spcAft>
              <a:buClr>
                <a:schemeClr val="dk1"/>
              </a:buClr>
              <a:buFont typeface="Arial"/>
              <a:buChar char="●"/>
              <a:defRPr sz="2000">
                <a:solidFill>
                  <a:schemeClr val="dk1"/>
                </a:solidFill>
                <a:latin typeface="Arial"/>
                <a:ea typeface="Arial"/>
                <a:cs typeface="Arial"/>
                <a:sym typeface="Arial"/>
              </a:defRPr>
            </a:lvl4pPr>
            <a:lvl5pPr marL="2057400" lvl="4" indent="-152400" algn="l" rtl="0">
              <a:spcBef>
                <a:spcPts val="400"/>
              </a:spcBef>
              <a:spcAft>
                <a:spcPts val="0"/>
              </a:spcAft>
              <a:buClr>
                <a:schemeClr val="dk1"/>
              </a:buClr>
              <a:buFont typeface="Arial"/>
              <a:buChar char="●"/>
              <a:defRPr sz="2000">
                <a:solidFill>
                  <a:schemeClr val="dk1"/>
                </a:solidFill>
                <a:latin typeface="Arial"/>
                <a:ea typeface="Arial"/>
                <a:cs typeface="Arial"/>
                <a:sym typeface="Arial"/>
              </a:defRPr>
            </a:lvl5pPr>
            <a:lvl6pPr marL="2514600" lvl="5" indent="-152400" algn="l" rtl="0">
              <a:spcBef>
                <a:spcPts val="400"/>
              </a:spcBef>
              <a:spcAft>
                <a:spcPts val="0"/>
              </a:spcAft>
              <a:buClr>
                <a:schemeClr val="dk1"/>
              </a:buClr>
              <a:buFont typeface="Arial"/>
              <a:buChar char="●"/>
              <a:defRPr sz="2000">
                <a:solidFill>
                  <a:schemeClr val="dk1"/>
                </a:solidFill>
                <a:latin typeface="Arial"/>
                <a:ea typeface="Arial"/>
                <a:cs typeface="Arial"/>
                <a:sym typeface="Arial"/>
              </a:defRPr>
            </a:lvl6pPr>
            <a:lvl7pPr marL="2971800" lvl="6" indent="-152400" algn="l" rtl="0">
              <a:spcBef>
                <a:spcPts val="400"/>
              </a:spcBef>
              <a:spcAft>
                <a:spcPts val="0"/>
              </a:spcAft>
              <a:buClr>
                <a:schemeClr val="dk1"/>
              </a:buClr>
              <a:buFont typeface="Arial"/>
              <a:buChar char="●"/>
              <a:defRPr sz="2000">
                <a:solidFill>
                  <a:schemeClr val="dk1"/>
                </a:solidFill>
                <a:latin typeface="Arial"/>
                <a:ea typeface="Arial"/>
                <a:cs typeface="Arial"/>
                <a:sym typeface="Arial"/>
              </a:defRPr>
            </a:lvl7pPr>
            <a:lvl8pPr marL="3429000" lvl="7" indent="-152400" algn="l" rtl="0">
              <a:spcBef>
                <a:spcPts val="400"/>
              </a:spcBef>
              <a:spcAft>
                <a:spcPts val="0"/>
              </a:spcAft>
              <a:buClr>
                <a:schemeClr val="dk1"/>
              </a:buClr>
              <a:buFont typeface="Arial"/>
              <a:buChar char="●"/>
              <a:defRPr sz="2000">
                <a:solidFill>
                  <a:schemeClr val="dk1"/>
                </a:solidFill>
                <a:latin typeface="Arial"/>
                <a:ea typeface="Arial"/>
                <a:cs typeface="Arial"/>
                <a:sym typeface="Arial"/>
              </a:defRPr>
            </a:lvl8pPr>
            <a:lvl9pPr marL="3886200" lvl="8" indent="-152400" algn="l" rtl="0">
              <a:spcBef>
                <a:spcPts val="400"/>
              </a:spcBef>
              <a:spcAft>
                <a:spcPts val="0"/>
              </a:spcAft>
              <a:buClr>
                <a:schemeClr val="dk1"/>
              </a:buClr>
              <a:buFont typeface="Arial"/>
              <a:buChar char="●"/>
              <a:defRPr sz="2000">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67000" y="198438"/>
            <a:ext cx="6019800" cy="487362"/>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143000"/>
            <a:ext cx="8229600" cy="5105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AFFD7ED8-47ED-49B8-A8ED-5D345B6B7BCC}" type="datetime1">
              <a:rPr lang="en-US" smtClean="0"/>
              <a:pPr/>
              <a:t>5/31/2021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3754410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hdr="0" ftr="0" dt="0"/>
  <p:txStyles>
    <p:titleStyle>
      <a:lvl1pPr algn="l" defTabSz="914400" rtl="0" eaLnBrk="1" latinLnBrk="0" hangingPunct="1">
        <a:spcBef>
          <a:spcPct val="0"/>
        </a:spcBef>
        <a:buNone/>
        <a:defRPr sz="2000" b="1" kern="1200">
          <a:solidFill>
            <a:srgbClr val="FF0066"/>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5.tiff"/><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17.tiff"/><Relationship Id="rId5" Type="http://schemas.openxmlformats.org/officeDocument/2006/relationships/image" Target="../media/image14.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4.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
          <p:cNvSpPr txBox="1">
            <a:spLocks noChangeArrowheads="1"/>
          </p:cNvSpPr>
          <p:nvPr/>
        </p:nvSpPr>
        <p:spPr bwMode="auto">
          <a:xfrm>
            <a:off x="1428728" y="285728"/>
            <a:ext cx="6359039" cy="1522533"/>
          </a:xfrm>
          <a:prstGeom prst="rect">
            <a:avLst/>
          </a:prstGeom>
          <a:noFill/>
          <a:ln w="9525">
            <a:noFill/>
            <a:round/>
            <a:headEnd/>
            <a:tailEnd/>
          </a:ln>
        </p:spPr>
        <p:txBody>
          <a:bodyPr wrap="square" lIns="0" tIns="0" rIns="0" bIns="0" anchor="ctr">
            <a:spAutoFit/>
          </a:bodyPr>
          <a:lstStyle/>
          <a:p>
            <a:pPr algn="ctr">
              <a:lnSpc>
                <a:spcPct val="97000"/>
              </a:lnSpc>
              <a:buClr>
                <a:srgbClr val="000000"/>
              </a:buClr>
              <a:buSzPct val="100000"/>
              <a:tabLst>
                <a:tab pos="0" algn="l"/>
                <a:tab pos="414640" algn="l"/>
                <a:tab pos="806244" algn="l"/>
                <a:tab pos="1243920" algn="l"/>
                <a:tab pos="1658560" algn="l"/>
                <a:tab pos="2073201" algn="l"/>
                <a:tab pos="2464806" algn="l"/>
                <a:tab pos="2902481" algn="l"/>
                <a:tab pos="3317121" algn="l"/>
                <a:tab pos="3731761" algn="l"/>
                <a:tab pos="4123366" algn="l"/>
                <a:tab pos="4561041" algn="l"/>
                <a:tab pos="4975681" algn="l"/>
                <a:tab pos="5365848" algn="l"/>
                <a:tab pos="5781926" algn="l"/>
                <a:tab pos="6219602" algn="l"/>
                <a:tab pos="6634242" algn="l"/>
                <a:tab pos="7024407" algn="l"/>
                <a:tab pos="7440488" algn="l"/>
                <a:tab pos="7878163" algn="l"/>
                <a:tab pos="8292803" algn="l"/>
                <a:tab pos="8682969" algn="l"/>
                <a:tab pos="9097608" algn="l"/>
                <a:tab pos="9536723" algn="l"/>
                <a:tab pos="9751242" algn="l"/>
                <a:tab pos="9754122" algn="l"/>
                <a:tab pos="9774277" algn="l"/>
                <a:tab pos="9912491" algn="l"/>
              </a:tabLst>
            </a:pPr>
            <a:r>
              <a:rPr lang="en-US" sz="3300" b="1" dirty="0" smtClean="0">
                <a:solidFill>
                  <a:schemeClr val="accent2"/>
                </a:solidFill>
                <a:latin typeface="Arial" charset="0"/>
              </a:rPr>
              <a:t>Introduction To Microprocessor</a:t>
            </a:r>
          </a:p>
          <a:p>
            <a:pPr algn="ctr">
              <a:lnSpc>
                <a:spcPct val="97000"/>
              </a:lnSpc>
              <a:buClr>
                <a:srgbClr val="000000"/>
              </a:buClr>
              <a:buSzPct val="100000"/>
              <a:tabLst>
                <a:tab pos="0" algn="l"/>
                <a:tab pos="414640" algn="l"/>
                <a:tab pos="806244" algn="l"/>
                <a:tab pos="1243920" algn="l"/>
                <a:tab pos="1658560" algn="l"/>
                <a:tab pos="2073201" algn="l"/>
                <a:tab pos="2464806" algn="l"/>
                <a:tab pos="2902481" algn="l"/>
                <a:tab pos="3317121" algn="l"/>
                <a:tab pos="3731761" algn="l"/>
                <a:tab pos="4123366" algn="l"/>
                <a:tab pos="4561041" algn="l"/>
                <a:tab pos="4975681" algn="l"/>
                <a:tab pos="5365848" algn="l"/>
                <a:tab pos="5781926" algn="l"/>
                <a:tab pos="6219602" algn="l"/>
                <a:tab pos="6634242" algn="l"/>
                <a:tab pos="7024407" algn="l"/>
                <a:tab pos="7440488" algn="l"/>
                <a:tab pos="7878163" algn="l"/>
                <a:tab pos="8292803" algn="l"/>
                <a:tab pos="8682969" algn="l"/>
                <a:tab pos="9097608" algn="l"/>
                <a:tab pos="9536723" algn="l"/>
                <a:tab pos="9751242" algn="l"/>
                <a:tab pos="9754122" algn="l"/>
                <a:tab pos="9774277" algn="l"/>
                <a:tab pos="9912491" algn="l"/>
              </a:tabLst>
            </a:pPr>
            <a:r>
              <a:rPr lang="en-US" sz="3300" b="1" dirty="0" smtClean="0">
                <a:solidFill>
                  <a:schemeClr val="accent2"/>
                </a:solidFill>
                <a:latin typeface="Arial" charset="0"/>
              </a:rPr>
              <a:t>Module 2</a:t>
            </a:r>
          </a:p>
          <a:p>
            <a:pPr algn="r">
              <a:lnSpc>
                <a:spcPct val="97000"/>
              </a:lnSpc>
              <a:buClr>
                <a:srgbClr val="000000"/>
              </a:buClr>
              <a:buSzPct val="100000"/>
              <a:tabLst>
                <a:tab pos="0" algn="l"/>
                <a:tab pos="414640" algn="l"/>
                <a:tab pos="806244" algn="l"/>
                <a:tab pos="1243920" algn="l"/>
                <a:tab pos="1658560" algn="l"/>
                <a:tab pos="2073201" algn="l"/>
                <a:tab pos="2464806" algn="l"/>
                <a:tab pos="2902481" algn="l"/>
                <a:tab pos="3317121" algn="l"/>
                <a:tab pos="3731761" algn="l"/>
                <a:tab pos="4123366" algn="l"/>
                <a:tab pos="4561041" algn="l"/>
                <a:tab pos="4975681" algn="l"/>
                <a:tab pos="5365848" algn="l"/>
                <a:tab pos="5781926" algn="l"/>
                <a:tab pos="6219602" algn="l"/>
                <a:tab pos="6634242" algn="l"/>
                <a:tab pos="7024407" algn="l"/>
                <a:tab pos="7440488" algn="l"/>
                <a:tab pos="7878163" algn="l"/>
                <a:tab pos="8292803" algn="l"/>
                <a:tab pos="8682969" algn="l"/>
                <a:tab pos="9097608" algn="l"/>
                <a:tab pos="9536723" algn="l"/>
                <a:tab pos="9751242" algn="l"/>
                <a:tab pos="9754122" algn="l"/>
                <a:tab pos="9774277" algn="l"/>
                <a:tab pos="9912491" algn="l"/>
              </a:tabLst>
            </a:pPr>
            <a:endParaRPr lang="en-GB" sz="3600" b="1" dirty="0">
              <a:solidFill>
                <a:srgbClr val="FF9933"/>
              </a:solidFill>
              <a:latin typeface="Arial" charset="0"/>
            </a:endParaRPr>
          </a:p>
        </p:txBody>
      </p:sp>
      <p:sp>
        <p:nvSpPr>
          <p:cNvPr id="13315" name="Text Box 2"/>
          <p:cNvSpPr txBox="1">
            <a:spLocks noChangeArrowheads="1"/>
          </p:cNvSpPr>
          <p:nvPr/>
        </p:nvSpPr>
        <p:spPr bwMode="auto">
          <a:xfrm>
            <a:off x="355680" y="4683374"/>
            <a:ext cx="8252640" cy="517706"/>
          </a:xfrm>
          <a:prstGeom prst="rect">
            <a:avLst/>
          </a:prstGeom>
          <a:noFill/>
          <a:ln w="9525">
            <a:noFill/>
            <a:round/>
            <a:headEnd/>
            <a:tailEnd/>
          </a:ln>
        </p:spPr>
        <p:txBody>
          <a:bodyPr lIns="0" tIns="0" rIns="0" bIns="0" anchor="ctr">
            <a:spAutoFit/>
          </a:bodyPr>
          <a:lstStyle/>
          <a:p>
            <a:pPr marL="321059" lvl="1" indent="-175645" algn="ctr">
              <a:lnSpc>
                <a:spcPct val="116000"/>
              </a:lnSpc>
              <a:buClr>
                <a:srgbClr val="000000"/>
              </a:buClr>
              <a:buSzPct val="100000"/>
              <a:tabLst>
                <a:tab pos="321059" algn="l"/>
                <a:tab pos="735699" algn="l"/>
                <a:tab pos="1150339" algn="l"/>
                <a:tab pos="1564980" algn="l"/>
                <a:tab pos="1979620" algn="l"/>
                <a:tab pos="2394260" algn="l"/>
                <a:tab pos="2808900" algn="l"/>
                <a:tab pos="3223539" algn="l"/>
                <a:tab pos="3636740" algn="l"/>
                <a:tab pos="4051380" algn="l"/>
                <a:tab pos="4467460" algn="l"/>
                <a:tab pos="4882100" algn="l"/>
                <a:tab pos="5295300" algn="l"/>
                <a:tab pos="5709940" algn="l"/>
                <a:tab pos="6126021" algn="l"/>
                <a:tab pos="6540660" algn="l"/>
                <a:tab pos="6953860" algn="l"/>
                <a:tab pos="7368501" algn="l"/>
                <a:tab pos="7784581" algn="l"/>
                <a:tab pos="8197781" algn="l"/>
                <a:tab pos="8612421" algn="l"/>
              </a:tabLst>
            </a:pPr>
            <a:r>
              <a:rPr lang="en-GB" sz="2900" dirty="0" smtClean="0">
                <a:solidFill>
                  <a:schemeClr val="accent2">
                    <a:lumMod val="50000"/>
                  </a:schemeClr>
                </a:solidFill>
                <a:latin typeface="Times New Roman" pitchFamily="18" charset="0"/>
              </a:rPr>
              <a:t>GLA UNIVERSITY Mathura, Uttar Pradesh, India </a:t>
            </a:r>
            <a:endParaRPr lang="en-GB" sz="2900" dirty="0">
              <a:solidFill>
                <a:schemeClr val="accent2">
                  <a:lumMod val="50000"/>
                </a:schemeClr>
              </a:solidFill>
              <a:latin typeface="Times New Roman" pitchFamily="18" charset="0"/>
            </a:endParaRPr>
          </a:p>
        </p:txBody>
      </p:sp>
      <p:pic>
        <p:nvPicPr>
          <p:cNvPr id="13316" name="Picture 4"/>
          <p:cNvPicPr>
            <a:picLocks noChangeAspect="1" noChangeArrowheads="1"/>
          </p:cNvPicPr>
          <p:nvPr/>
        </p:nvPicPr>
        <p:blipFill>
          <a:blip r:embed="rId3"/>
          <a:srcRect/>
          <a:stretch>
            <a:fillRect/>
          </a:stretch>
        </p:blipFill>
        <p:spPr bwMode="auto">
          <a:xfrm>
            <a:off x="1876320" y="2115583"/>
            <a:ext cx="5384160" cy="1690738"/>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p:cNvSpPr/>
          <p:nvPr/>
        </p:nvSpPr>
        <p:spPr>
          <a:xfrm>
            <a:off x="4648200" y="2267664"/>
            <a:ext cx="4343400" cy="704136"/>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ounded Rectangle 8"/>
          <p:cNvSpPr/>
          <p:nvPr/>
        </p:nvSpPr>
        <p:spPr>
          <a:xfrm>
            <a:off x="4648200" y="1524000"/>
            <a:ext cx="4343400" cy="1447800"/>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ounded Rectangle 3"/>
          <p:cNvSpPr/>
          <p:nvPr/>
        </p:nvSpPr>
        <p:spPr>
          <a:xfrm>
            <a:off x="152400" y="1496911"/>
            <a:ext cx="4343400" cy="704136"/>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normAutofit/>
          </a:bodyPr>
          <a:lstStyle/>
          <a:p>
            <a:r>
              <a:rPr lang="en-US" dirty="0" smtClean="0"/>
              <a:t>Overview </a:t>
            </a:r>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sp>
        <p:nvSpPr>
          <p:cNvPr id="5" name="TextBox 4"/>
          <p:cNvSpPr txBox="1"/>
          <p:nvPr/>
        </p:nvSpPr>
        <p:spPr>
          <a:xfrm>
            <a:off x="228600" y="1568708"/>
            <a:ext cx="4191000" cy="4832092"/>
          </a:xfrm>
          <a:prstGeom prst="rect">
            <a:avLst/>
          </a:prstGeom>
          <a:noFill/>
        </p:spPr>
        <p:txBody>
          <a:bodyPr wrap="square" rtlCol="0">
            <a:spAutoFit/>
          </a:bodyPr>
          <a:lstStyle/>
          <a:p>
            <a:pPr algn="just"/>
            <a:r>
              <a:rPr lang="en-US" sz="1400" b="1" dirty="0" smtClean="0">
                <a:latin typeface="Verdana" pitchFamily="34" charset="0"/>
                <a:ea typeface="Verdana" pitchFamily="34" charset="0"/>
                <a:cs typeface="Verdana" pitchFamily="34" charset="0"/>
              </a:rPr>
              <a:t>First 16- bit processor released by INTEL in the year 1978</a:t>
            </a:r>
          </a:p>
          <a:p>
            <a:pPr algn="just"/>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Originally HMOS, now manufactured using HMOS III technique</a:t>
            </a:r>
          </a:p>
          <a:p>
            <a:pPr algn="just"/>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Approximately 29, 000 transistors, 40 pin , 5V supply</a:t>
            </a:r>
          </a:p>
          <a:p>
            <a:pPr algn="just"/>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Does not have internal clock; external asymmetric clock source with 33% duty cycle</a:t>
            </a:r>
          </a:p>
          <a:p>
            <a:pPr algn="just"/>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20-bit address to access memory </a:t>
            </a:r>
            <a:r>
              <a:rPr lang="en-US" sz="1400" b="1" dirty="0" smtClean="0">
                <a:latin typeface="Verdana" pitchFamily="34" charset="0"/>
                <a:ea typeface="Verdana" pitchFamily="34" charset="0"/>
                <a:cs typeface="Verdana" pitchFamily="34" charset="0"/>
                <a:sym typeface="Symbol"/>
              </a:rPr>
              <a:t> can address up to 2</a:t>
            </a:r>
            <a:r>
              <a:rPr lang="en-US" sz="1400" b="1" baseline="30000" dirty="0" smtClean="0">
                <a:latin typeface="Verdana" pitchFamily="34" charset="0"/>
                <a:ea typeface="Verdana" pitchFamily="34" charset="0"/>
                <a:cs typeface="Verdana" pitchFamily="34" charset="0"/>
                <a:sym typeface="Symbol"/>
              </a:rPr>
              <a:t>20</a:t>
            </a:r>
            <a:r>
              <a:rPr lang="en-US" sz="1400" b="1" dirty="0" smtClean="0">
                <a:latin typeface="Verdana" pitchFamily="34" charset="0"/>
                <a:ea typeface="Verdana" pitchFamily="34" charset="0"/>
                <a:cs typeface="Verdana" pitchFamily="34" charset="0"/>
                <a:sym typeface="Symbol"/>
              </a:rPr>
              <a:t> = 1 megabytes of memory space.</a:t>
            </a:r>
          </a:p>
          <a:p>
            <a:pPr algn="just"/>
            <a:endParaRPr lang="en-US" sz="1400" b="1" dirty="0">
              <a:latin typeface="Verdana" pitchFamily="34" charset="0"/>
              <a:ea typeface="Verdana" pitchFamily="34" charset="0"/>
              <a:cs typeface="Verdana" pitchFamily="34" charset="0"/>
              <a:sym typeface="Symbol"/>
            </a:endParaRPr>
          </a:p>
          <a:p>
            <a:pPr algn="just"/>
            <a:endParaRPr lang="en-US" sz="1400" b="1" dirty="0">
              <a:latin typeface="Verdana" pitchFamily="34" charset="0"/>
              <a:ea typeface="Verdana" pitchFamily="34" charset="0"/>
              <a:cs typeface="Verdana" pitchFamily="34" charset="0"/>
              <a:sym typeface="Symbol"/>
            </a:endParaRPr>
          </a:p>
        </p:txBody>
      </p:sp>
      <mc:AlternateContent xmlns:mc="http://schemas.openxmlformats.org/markup-compatibility/2006" xmlns:a14="http://schemas.microsoft.com/office/drawing/2010/main">
        <mc:Choice Requires="a14">
          <p:sp>
            <p:nvSpPr>
              <p:cNvPr id="7" name="TextBox 6"/>
              <p:cNvSpPr txBox="1"/>
              <p:nvPr/>
            </p:nvSpPr>
            <p:spPr>
              <a:xfrm>
                <a:off x="4724400" y="1568708"/>
                <a:ext cx="4191000" cy="3108543"/>
              </a:xfrm>
              <a:prstGeom prst="rect">
                <a:avLst/>
              </a:prstGeom>
              <a:noFill/>
            </p:spPr>
            <p:txBody>
              <a:bodyPr wrap="square" rtlCol="0">
                <a:spAutoFit/>
              </a:bodyPr>
              <a:lstStyle/>
              <a:p>
                <a:pPr algn="just"/>
                <a:r>
                  <a:rPr lang="en-US" sz="1400" b="1" dirty="0" smtClean="0">
                    <a:latin typeface="Verdana" pitchFamily="34" charset="0"/>
                    <a:ea typeface="Verdana" pitchFamily="34" charset="0"/>
                    <a:cs typeface="Verdana" pitchFamily="34" charset="0"/>
                    <a:sym typeface="Symbol"/>
                  </a:rPr>
                  <a:t>Addressable </a:t>
                </a:r>
                <a:r>
                  <a:rPr lang="en-US" sz="1400" b="1" dirty="0">
                    <a:latin typeface="Verdana" pitchFamily="34" charset="0"/>
                    <a:ea typeface="Verdana" pitchFamily="34" charset="0"/>
                    <a:cs typeface="Verdana" pitchFamily="34" charset="0"/>
                    <a:sym typeface="Symbol"/>
                  </a:rPr>
                  <a:t>memory space is organized in to two banks of 512 kb each; </a:t>
                </a:r>
                <a:r>
                  <a:rPr lang="en-US" sz="1400" b="1" dirty="0">
                    <a:solidFill>
                      <a:srgbClr val="FF0066"/>
                    </a:solidFill>
                    <a:latin typeface="Verdana" pitchFamily="34" charset="0"/>
                    <a:ea typeface="Verdana" pitchFamily="34" charset="0"/>
                    <a:cs typeface="Verdana" pitchFamily="34" charset="0"/>
                    <a:sym typeface="Symbol"/>
                  </a:rPr>
                  <a:t>Even (or lower) bank </a:t>
                </a:r>
                <a:r>
                  <a:rPr lang="en-US" sz="1400" b="1" dirty="0">
                    <a:latin typeface="Verdana" pitchFamily="34" charset="0"/>
                    <a:ea typeface="Verdana" pitchFamily="34" charset="0"/>
                    <a:cs typeface="Verdana" pitchFamily="34" charset="0"/>
                    <a:sym typeface="Symbol"/>
                  </a:rPr>
                  <a:t>and</a:t>
                </a:r>
                <a:r>
                  <a:rPr lang="en-US" sz="1400" b="1" dirty="0">
                    <a:solidFill>
                      <a:srgbClr val="FF0066"/>
                    </a:solidFill>
                    <a:latin typeface="Verdana" pitchFamily="34" charset="0"/>
                    <a:ea typeface="Verdana" pitchFamily="34" charset="0"/>
                    <a:cs typeface="Verdana" pitchFamily="34" charset="0"/>
                    <a:sym typeface="Symbol"/>
                  </a:rPr>
                  <a:t> Odd (or higher) bank</a:t>
                </a:r>
                <a:r>
                  <a:rPr lang="en-US" sz="1400" b="1" dirty="0">
                    <a:latin typeface="Verdana" pitchFamily="34" charset="0"/>
                    <a:ea typeface="Verdana" pitchFamily="34" charset="0"/>
                    <a:cs typeface="Verdana" pitchFamily="34" charset="0"/>
                    <a:sym typeface="Symbol"/>
                  </a:rPr>
                  <a:t>. Address line A</a:t>
                </a:r>
                <a:r>
                  <a:rPr lang="en-US" sz="1400" b="1" baseline="-25000" dirty="0">
                    <a:latin typeface="Verdana" pitchFamily="34" charset="0"/>
                    <a:ea typeface="Verdana" pitchFamily="34" charset="0"/>
                    <a:cs typeface="Verdana" pitchFamily="34" charset="0"/>
                    <a:sym typeface="Symbol"/>
                  </a:rPr>
                  <a:t>0</a:t>
                </a:r>
                <a:r>
                  <a:rPr lang="en-US" sz="1400" b="1" dirty="0">
                    <a:latin typeface="Verdana" pitchFamily="34" charset="0"/>
                    <a:ea typeface="Verdana" pitchFamily="34" charset="0"/>
                    <a:cs typeface="Verdana" pitchFamily="34" charset="0"/>
                    <a:sym typeface="Symbol"/>
                  </a:rPr>
                  <a:t> is used to select even bank and control </a:t>
                </a:r>
                <a:r>
                  <a:rPr lang="en-US" sz="1400" b="1" dirty="0" smtClean="0">
                    <a:latin typeface="Verdana" pitchFamily="34" charset="0"/>
                    <a:ea typeface="Verdana" pitchFamily="34" charset="0"/>
                    <a:cs typeface="Verdana" pitchFamily="34" charset="0"/>
                    <a:sym typeface="Symbol"/>
                  </a:rPr>
                  <a:t>signal </a:t>
                </a:r>
                <a14:m>
                  <m:oMath xmlns:m="http://schemas.openxmlformats.org/officeDocument/2006/math">
                    <m:acc>
                      <m:accPr>
                        <m:chr m:val="̅"/>
                        <m:ctrlPr>
                          <a:rPr lang="en-US" sz="1400" b="1" i="1">
                            <a:latin typeface="Cambria Math" panose="02040503050406030204" pitchFamily="18" charset="0"/>
                            <a:ea typeface="Verdana" pitchFamily="34" charset="0"/>
                            <a:cs typeface="Verdana" pitchFamily="34" charset="0"/>
                            <a:sym typeface="Symbol"/>
                          </a:rPr>
                        </m:ctrlPr>
                      </m:accPr>
                      <m:e>
                        <m:r>
                          <a:rPr lang="en-US" sz="1400" b="1">
                            <a:latin typeface="Cambria Math"/>
                            <a:ea typeface="Verdana" pitchFamily="34" charset="0"/>
                            <a:cs typeface="Verdana" pitchFamily="34" charset="0"/>
                            <a:sym typeface="Symbol"/>
                          </a:rPr>
                          <m:t>𝐁𝐇𝐄</m:t>
                        </m:r>
                      </m:e>
                    </m:acc>
                  </m:oMath>
                </a14:m>
                <a:endParaRPr lang="en-US" sz="1400" b="1" dirty="0">
                  <a:latin typeface="Verdana" pitchFamily="34" charset="0"/>
                  <a:ea typeface="Verdana" pitchFamily="34" charset="0"/>
                  <a:cs typeface="Verdana" pitchFamily="34" charset="0"/>
                  <a:sym typeface="Symbol"/>
                </a:endParaRPr>
              </a:p>
              <a:p>
                <a:pPr algn="just"/>
                <a:r>
                  <a:rPr lang="en-US" sz="1400" b="1" dirty="0">
                    <a:latin typeface="Verdana" pitchFamily="34" charset="0"/>
                    <a:ea typeface="Verdana" pitchFamily="34" charset="0"/>
                    <a:cs typeface="Verdana" pitchFamily="34" charset="0"/>
                    <a:sym typeface="Symbol"/>
                  </a:rPr>
                  <a:t>is used  to access odd </a:t>
                </a:r>
                <a:r>
                  <a:rPr lang="en-US" sz="1400" b="1" dirty="0" smtClean="0">
                    <a:latin typeface="Verdana" pitchFamily="34" charset="0"/>
                    <a:ea typeface="Verdana" pitchFamily="34" charset="0"/>
                    <a:cs typeface="Verdana" pitchFamily="34" charset="0"/>
                    <a:sym typeface="Symbol"/>
                  </a:rPr>
                  <a:t>bank</a:t>
                </a:r>
                <a:endParaRPr lang="en-US" sz="1400" b="1" dirty="0">
                  <a:latin typeface="Verdana" pitchFamily="34" charset="0"/>
                  <a:ea typeface="Verdana" pitchFamily="34" charset="0"/>
                  <a:cs typeface="Verdana" pitchFamily="34" charset="0"/>
                  <a:sym typeface="Symbol"/>
                </a:endParaRPr>
              </a:p>
              <a:p>
                <a:pPr algn="just"/>
                <a:endParaRPr lang="en-US" sz="1400" b="1" dirty="0" smtClean="0">
                  <a:latin typeface="Verdana" pitchFamily="34" charset="0"/>
                  <a:ea typeface="Verdana" pitchFamily="34" charset="0"/>
                  <a:cs typeface="Verdana" pitchFamily="34" charset="0"/>
                  <a:sym typeface="Symbol"/>
                </a:endParaRPr>
              </a:p>
              <a:p>
                <a:pPr algn="just"/>
                <a:r>
                  <a:rPr lang="en-US" sz="1400" b="1" dirty="0" smtClean="0">
                    <a:latin typeface="Verdana" pitchFamily="34" charset="0"/>
                    <a:ea typeface="Verdana" pitchFamily="34" charset="0"/>
                    <a:cs typeface="Verdana" pitchFamily="34" charset="0"/>
                    <a:sym typeface="Symbol"/>
                  </a:rPr>
                  <a:t>Uses a separate 16 bit address for I/O mapped devices  can generate 2</a:t>
                </a:r>
                <a:r>
                  <a:rPr lang="en-US" sz="1400" b="1" baseline="30000" dirty="0" smtClean="0">
                    <a:latin typeface="Verdana" pitchFamily="34" charset="0"/>
                    <a:ea typeface="Verdana" pitchFamily="34" charset="0"/>
                    <a:cs typeface="Verdana" pitchFamily="34" charset="0"/>
                    <a:sym typeface="Symbol"/>
                  </a:rPr>
                  <a:t>16</a:t>
                </a:r>
                <a:r>
                  <a:rPr lang="en-US" sz="1400" b="1" dirty="0" smtClean="0">
                    <a:latin typeface="Verdana" pitchFamily="34" charset="0"/>
                    <a:ea typeface="Verdana" pitchFamily="34" charset="0"/>
                    <a:cs typeface="Verdana" pitchFamily="34" charset="0"/>
                    <a:sym typeface="Symbol"/>
                  </a:rPr>
                  <a:t> = 64 k addresses.</a:t>
                </a:r>
              </a:p>
              <a:p>
                <a:pPr algn="just"/>
                <a:endParaRPr lang="en-US" sz="1400" b="1" dirty="0">
                  <a:latin typeface="Verdana" pitchFamily="34" charset="0"/>
                  <a:ea typeface="Verdana" pitchFamily="34" charset="0"/>
                  <a:cs typeface="Verdana" pitchFamily="34" charset="0"/>
                  <a:sym typeface="Symbol"/>
                </a:endParaRPr>
              </a:p>
              <a:p>
                <a:pPr algn="just"/>
                <a:r>
                  <a:rPr lang="en-US" sz="1400" b="1" dirty="0" smtClean="0">
                    <a:latin typeface="Verdana" pitchFamily="34" charset="0"/>
                    <a:ea typeface="Verdana" pitchFamily="34" charset="0"/>
                    <a:cs typeface="Verdana" pitchFamily="34" charset="0"/>
                    <a:sym typeface="Symbol"/>
                  </a:rPr>
                  <a:t>Operates in two modes: </a:t>
                </a:r>
                <a:r>
                  <a:rPr lang="en-US" sz="1400" b="1" dirty="0" smtClean="0">
                    <a:solidFill>
                      <a:srgbClr val="FF0066"/>
                    </a:solidFill>
                    <a:latin typeface="Verdana" pitchFamily="34" charset="0"/>
                    <a:ea typeface="Verdana" pitchFamily="34" charset="0"/>
                    <a:cs typeface="Verdana" pitchFamily="34" charset="0"/>
                    <a:sym typeface="Symbol"/>
                  </a:rPr>
                  <a:t>minimum mode </a:t>
                </a:r>
                <a:r>
                  <a:rPr lang="en-US" sz="1400" b="1" dirty="0" smtClean="0">
                    <a:latin typeface="Verdana" pitchFamily="34" charset="0"/>
                    <a:ea typeface="Verdana" pitchFamily="34" charset="0"/>
                    <a:cs typeface="Verdana" pitchFamily="34" charset="0"/>
                    <a:sym typeface="Symbol"/>
                  </a:rPr>
                  <a:t>and </a:t>
                </a:r>
                <a:r>
                  <a:rPr lang="en-US" sz="1400" b="1" dirty="0" smtClean="0">
                    <a:solidFill>
                      <a:srgbClr val="FF0066"/>
                    </a:solidFill>
                    <a:latin typeface="Verdana" pitchFamily="34" charset="0"/>
                    <a:ea typeface="Verdana" pitchFamily="34" charset="0"/>
                    <a:cs typeface="Verdana" pitchFamily="34" charset="0"/>
                    <a:sym typeface="Symbol"/>
                  </a:rPr>
                  <a:t>maximum mode</a:t>
                </a:r>
                <a:r>
                  <a:rPr lang="en-US" sz="1400" b="1" dirty="0" smtClean="0">
                    <a:latin typeface="Verdana" pitchFamily="34" charset="0"/>
                    <a:ea typeface="Verdana" pitchFamily="34" charset="0"/>
                    <a:cs typeface="Verdana" pitchFamily="34" charset="0"/>
                    <a:sym typeface="Symbol"/>
                  </a:rPr>
                  <a:t>, decided by the signal at MN and </a:t>
                </a:r>
                <a14:m>
                  <m:oMath xmlns:m="http://schemas.openxmlformats.org/officeDocument/2006/math">
                    <m:acc>
                      <m:accPr>
                        <m:chr m:val="̅"/>
                        <m:ctrlPr>
                          <a:rPr lang="en-US" sz="1400" b="1" i="1" smtClean="0">
                            <a:latin typeface="Cambria Math" panose="02040503050406030204" pitchFamily="18" charset="0"/>
                            <a:ea typeface="Verdana" pitchFamily="34" charset="0"/>
                            <a:cs typeface="Verdana" pitchFamily="34" charset="0"/>
                            <a:sym typeface="Symbol"/>
                          </a:rPr>
                        </m:ctrlPr>
                      </m:accPr>
                      <m:e>
                        <m:r>
                          <a:rPr lang="en-US" sz="1400" b="1" i="0" smtClean="0">
                            <a:latin typeface="Cambria Math"/>
                            <a:ea typeface="Verdana" pitchFamily="34" charset="0"/>
                            <a:cs typeface="Verdana" pitchFamily="34" charset="0"/>
                            <a:sym typeface="Symbol"/>
                          </a:rPr>
                          <m:t>𝐌𝐗</m:t>
                        </m:r>
                      </m:e>
                    </m:acc>
                  </m:oMath>
                </a14:m>
                <a:r>
                  <a:rPr lang="en-US" sz="1400" b="1" dirty="0" smtClean="0">
                    <a:latin typeface="Verdana" pitchFamily="34" charset="0"/>
                    <a:ea typeface="Verdana" pitchFamily="34" charset="0"/>
                    <a:cs typeface="Verdana" pitchFamily="34" charset="0"/>
                    <a:sym typeface="Symbol"/>
                  </a:rPr>
                  <a:t> pins.</a:t>
                </a:r>
                <a:endParaRPr lang="en-US" sz="1400" b="1" dirty="0">
                  <a:latin typeface="Verdana" pitchFamily="34" charset="0"/>
                  <a:ea typeface="Verdana" pitchFamily="34" charset="0"/>
                  <a:cs typeface="Verdana"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724400" y="1568708"/>
                <a:ext cx="4191000" cy="3108543"/>
              </a:xfrm>
              <a:prstGeom prst="rect">
                <a:avLst/>
              </a:prstGeom>
              <a:blipFill rotWithShape="1">
                <a:blip r:embed="rId3"/>
                <a:stretch>
                  <a:fillRect l="-291" t="-196" r="-291" b="-980"/>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85E6815B-E59C-4D87-B1F6-ECBDD22AF1DC}" type="slidenum">
              <a:rPr lang="en-US" smtClean="0"/>
              <a:pPr/>
              <a:t>2</a:t>
            </a:fld>
            <a:endParaRPr lang="en-US" dirty="0"/>
          </a:p>
        </p:txBody>
      </p:sp>
    </p:spTree>
    <p:extLst>
      <p:ext uri="{BB962C8B-B14F-4D97-AF65-F5344CB8AC3E}">
        <p14:creationId xmlns:p14="http://schemas.microsoft.com/office/powerpoint/2010/main" val="246577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4.81036E-6 L 3.33333E-6 0.11933 " pathEditMode="relative" rAng="0" ptsTypes="AA">
                                      <p:cBhvr>
                                        <p:cTn id="6" dur="500" fill="hold"/>
                                        <p:tgtEl>
                                          <p:spTgt spid="4"/>
                                        </p:tgtEl>
                                        <p:attrNameLst>
                                          <p:attrName>ppt_x</p:attrName>
                                          <p:attrName>ppt_y</p:attrName>
                                        </p:attrNameLst>
                                      </p:cBhvr>
                                      <p:rCtr x="0" y="5967"/>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3.33333E-6 0.11933 L 3.33333E-6 0.25254 " pathEditMode="relative" rAng="0" ptsTypes="AA">
                                      <p:cBhvr>
                                        <p:cTn id="10" dur="500" fill="hold"/>
                                        <p:tgtEl>
                                          <p:spTgt spid="4"/>
                                        </p:tgtEl>
                                        <p:attrNameLst>
                                          <p:attrName>ppt_x</p:attrName>
                                          <p:attrName>ppt_y</p:attrName>
                                        </p:attrNameLst>
                                      </p:cBhvr>
                                      <p:rCtr x="0" y="666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2" nodeType="clickEffect">
                                  <p:stCondLst>
                                    <p:cond delay="0"/>
                                  </p:stCondLst>
                                  <p:childTnLst>
                                    <p:animMotion origin="layout" path="M 3.33333E-6 0.25254 L 3.33333E-6 0.38575 " pathEditMode="relative" rAng="0" ptsTypes="AA">
                                      <p:cBhvr>
                                        <p:cTn id="14" dur="500" fill="hold"/>
                                        <p:tgtEl>
                                          <p:spTgt spid="4"/>
                                        </p:tgtEl>
                                        <p:attrNameLst>
                                          <p:attrName>ppt_x</p:attrName>
                                          <p:attrName>ppt_y</p:attrName>
                                        </p:attrNameLst>
                                      </p:cBhvr>
                                      <p:rCtr x="0" y="666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3" nodeType="clickEffect">
                                  <p:stCondLst>
                                    <p:cond delay="0"/>
                                  </p:stCondLst>
                                  <p:childTnLst>
                                    <p:animMotion origin="layout" path="M 3.33333E-6 0.38575 L 3.33333E-6 0.54116 " pathEditMode="relative" rAng="0" ptsTypes="AA">
                                      <p:cBhvr>
                                        <p:cTn id="18" dur="500" fill="hold"/>
                                        <p:tgtEl>
                                          <p:spTgt spid="4"/>
                                        </p:tgtEl>
                                        <p:attrNameLst>
                                          <p:attrName>ppt_x</p:attrName>
                                          <p:attrName>ppt_y</p:attrName>
                                        </p:attrNameLst>
                                      </p:cBhvr>
                                      <p:rCtr x="0" y="7771"/>
                                    </p:animMotion>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4" nodeType="click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9"/>
                                        </p:tgtEl>
                                      </p:cBhvr>
                                    </p:animEffect>
                                    <p:set>
                                      <p:cBhvr>
                                        <p:cTn id="29" dur="1" fill="hold">
                                          <p:stCondLst>
                                            <p:cond delay="499"/>
                                          </p:stCondLst>
                                        </p:cTn>
                                        <p:tgtEl>
                                          <p:spTgt spid="9"/>
                                        </p:tgtEl>
                                        <p:attrNameLst>
                                          <p:attrName>style.visibility</p:attrName>
                                        </p:attrNameLst>
                                      </p:cBhvr>
                                      <p:to>
                                        <p:strVal val="hidden"/>
                                      </p:to>
                                    </p:se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42" presetClass="path" presetSubtype="0" accel="50000" decel="50000" fill="hold" grpId="1" nodeType="withEffect">
                                  <p:stCondLst>
                                    <p:cond delay="0"/>
                                  </p:stCondLst>
                                  <p:childTnLst>
                                    <p:animMotion origin="layout" path="M -3.33333E-6 -1.11933E-6 L -3.33333E-6 0.11795 " pathEditMode="relative" rAng="0" ptsTypes="AA">
                                      <p:cBhvr>
                                        <p:cTn id="34" dur="500" fill="hold"/>
                                        <p:tgtEl>
                                          <p:spTgt spid="10"/>
                                        </p:tgtEl>
                                        <p:attrNameLst>
                                          <p:attrName>ppt_x</p:attrName>
                                          <p:attrName>ppt_y</p:attrName>
                                        </p:attrNameLst>
                                      </p:cBhvr>
                                      <p:rCtr x="0" y="5897"/>
                                    </p:animMotion>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grpId="2" nodeType="clickEffect">
                                  <p:stCondLst>
                                    <p:cond delay="0"/>
                                  </p:stCondLst>
                                  <p:childTnLst>
                                    <p:animMotion origin="layout" path="M -3.33333E-6 0.11795 L -3.33333E-6 0.24006 " pathEditMode="relative" rAng="0" ptsTypes="AA">
                                      <p:cBhvr>
                                        <p:cTn id="38" dur="500" fill="hold"/>
                                        <p:tgtEl>
                                          <p:spTgt spid="10"/>
                                        </p:tgtEl>
                                        <p:attrNameLst>
                                          <p:attrName>ppt_x</p:attrName>
                                          <p:attrName>ppt_y</p:attrName>
                                        </p:attrNameLst>
                                      </p:cBhvr>
                                      <p:rCtr x="0" y="610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2" animBg="1"/>
      <p:bldP spid="9" grpId="0" animBg="1"/>
      <p:bldP spid="9" grpId="1" animBg="1"/>
      <p:bldP spid="4" grpId="0" animBg="1"/>
      <p:bldP spid="4" grpId="1" animBg="1"/>
      <p:bldP spid="4" grpId="2" animBg="1"/>
      <p:bldP spid="4" grpId="3" animBg="1"/>
      <p:bldP spid="4" grpId="4"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smtClean="0">
                <a:latin typeface="Octapost NBP" pitchFamily="2" charset="0"/>
              </a:rPr>
              <a:t>Pins  and  signals</a:t>
            </a:r>
            <a:endParaRPr lang="en-US" sz="3600" dirty="0">
              <a:latin typeface="Octapost NBP" pitchFamily="2" charset="0"/>
            </a:endParaRPr>
          </a:p>
        </p:txBody>
      </p:sp>
    </p:spTree>
    <p:extLst>
      <p:ext uri="{BB962C8B-B14F-4D97-AF65-F5344CB8AC3E}">
        <p14:creationId xmlns:p14="http://schemas.microsoft.com/office/powerpoint/2010/main" val="270092751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196152" y="2034808"/>
            <a:ext cx="1385248" cy="93699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2196152" y="1779896"/>
            <a:ext cx="1385248" cy="25491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76200" y="1828800"/>
            <a:ext cx="1205552" cy="3311856"/>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Pins and Signals</a:t>
            </a:r>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r="32350"/>
          <a:stretch/>
        </p:blipFill>
        <p:spPr bwMode="auto">
          <a:xfrm>
            <a:off x="228600" y="1524000"/>
            <a:ext cx="4191000" cy="4531232"/>
          </a:xfrm>
          <a:prstGeom prst="rect">
            <a:avLst/>
          </a:prstGeom>
          <a:noFill/>
          <a:extLst>
            <a:ext uri="{909E8E84-426E-40DD-AFC4-6F175D3DCCD1}">
              <a14:hiddenFill xmlns:a14="http://schemas.microsoft.com/office/drawing/2010/main">
                <a:solidFill>
                  <a:srgbClr val="FFFFFF"/>
                </a:solidFill>
              </a14:hiddenFill>
            </a:ext>
          </a:extLst>
        </p:spPr>
      </p:pic>
      <p:sp>
        <p:nvSpPr>
          <p:cNvPr id="44" name="Slide Number Placeholder 43"/>
          <p:cNvSpPr>
            <a:spLocks noGrp="1"/>
          </p:cNvSpPr>
          <p:nvPr>
            <p:ph type="sldNum" sz="quarter" idx="12"/>
          </p:nvPr>
        </p:nvSpPr>
        <p:spPr/>
        <p:txBody>
          <a:bodyPr/>
          <a:lstStyle/>
          <a:p>
            <a:fld id="{85E6815B-E59C-4D87-B1F6-ECBDD22AF1DC}" type="slidenum">
              <a:rPr lang="en-US" smtClean="0"/>
              <a:pPr/>
              <a:t>4</a:t>
            </a:fld>
            <a:endParaRPr lang="en-US" dirty="0"/>
          </a:p>
        </p:txBody>
      </p:sp>
      <p:sp>
        <p:nvSpPr>
          <p:cNvPr id="46" name="Rectangle 45"/>
          <p:cNvSpPr/>
          <p:nvPr/>
        </p:nvSpPr>
        <p:spPr>
          <a:xfrm>
            <a:off x="5791456" y="188879"/>
            <a:ext cx="2077813" cy="338554"/>
          </a:xfrm>
          <a:prstGeom prst="rect">
            <a:avLst/>
          </a:prstGeom>
          <a:solidFill>
            <a:srgbClr val="99CCFF"/>
          </a:solidFill>
        </p:spPr>
        <p:txBody>
          <a:bodyPr wrap="none">
            <a:spAutoFit/>
          </a:bodyPr>
          <a:lstStyle/>
          <a:p>
            <a:r>
              <a:rPr lang="en-US" sz="1600" b="1" dirty="0" smtClean="0">
                <a:solidFill>
                  <a:srgbClr val="FF0000"/>
                </a:solidFill>
                <a:latin typeface="Verdana" pitchFamily="34" charset="0"/>
                <a:ea typeface="Verdana" pitchFamily="34" charset="0"/>
                <a:cs typeface="Verdana" pitchFamily="34" charset="0"/>
              </a:rPr>
              <a:t>Common signals</a:t>
            </a:r>
            <a:endParaRPr lang="en-US" sz="1600" b="1" dirty="0">
              <a:solidFill>
                <a:srgbClr val="FF0000"/>
              </a:solidFill>
              <a:latin typeface="Verdana" pitchFamily="34" charset="0"/>
              <a:ea typeface="Verdana" pitchFamily="34" charset="0"/>
              <a:cs typeface="Verdana" pitchFamily="34" charset="0"/>
            </a:endParaRPr>
          </a:p>
        </p:txBody>
      </p:sp>
      <p:sp>
        <p:nvSpPr>
          <p:cNvPr id="47" name="Rectangle 46"/>
          <p:cNvSpPr/>
          <p:nvPr/>
        </p:nvSpPr>
        <p:spPr>
          <a:xfrm>
            <a:off x="4648200" y="800993"/>
            <a:ext cx="4343400" cy="3293209"/>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AD</a:t>
            </a:r>
            <a:r>
              <a:rPr lang="en-US" b="1" baseline="-25000" dirty="0">
                <a:latin typeface="Verdana" pitchFamily="34" charset="0"/>
                <a:ea typeface="Verdana" pitchFamily="34" charset="0"/>
                <a:cs typeface="Verdana" pitchFamily="34" charset="0"/>
              </a:rPr>
              <a:t>0</a:t>
            </a:r>
            <a:r>
              <a:rPr lang="en-US" b="1" dirty="0">
                <a:latin typeface="Verdana" pitchFamily="34" charset="0"/>
                <a:ea typeface="Verdana" pitchFamily="34" charset="0"/>
                <a:cs typeface="Verdana" pitchFamily="34" charset="0"/>
              </a:rPr>
              <a:t>-AD</a:t>
            </a:r>
            <a:r>
              <a:rPr lang="en-US" b="1" baseline="-25000" dirty="0">
                <a:latin typeface="Verdana" pitchFamily="34" charset="0"/>
                <a:ea typeface="Verdana" pitchFamily="34" charset="0"/>
                <a:cs typeface="Verdana" pitchFamily="34" charset="0"/>
              </a:rPr>
              <a:t>15</a:t>
            </a:r>
            <a:r>
              <a:rPr lang="en-US" b="1" dirty="0">
                <a:latin typeface="Verdana" pitchFamily="34" charset="0"/>
                <a:ea typeface="Verdana" pitchFamily="34" charset="0"/>
                <a:cs typeface="Verdana" pitchFamily="34" charset="0"/>
              </a:rPr>
              <a:t> (Bidirectional)</a:t>
            </a:r>
            <a:r>
              <a:rPr lang="en-US" dirty="0">
                <a:latin typeface="Verdana" pitchFamily="34" charset="0"/>
                <a:ea typeface="Verdana" pitchFamily="34" charset="0"/>
                <a:cs typeface="Verdana" pitchFamily="34" charset="0"/>
              </a:rPr>
              <a:t> </a:t>
            </a:r>
            <a:endParaRPr lang="en-US" b="1" dirty="0">
              <a:latin typeface="Verdana" pitchFamily="34" charset="0"/>
              <a:ea typeface="Verdana" pitchFamily="34" charset="0"/>
              <a:cs typeface="Verdana" pitchFamily="34" charset="0"/>
            </a:endParaRPr>
          </a:p>
          <a:p>
            <a:pPr algn="just"/>
            <a:endParaRPr lang="en-US" b="1" dirty="0" smtClean="0">
              <a:latin typeface="Verdana" pitchFamily="34" charset="0"/>
              <a:ea typeface="Verdana" pitchFamily="34" charset="0"/>
              <a:cs typeface="Verdana" pitchFamily="34" charset="0"/>
            </a:endParaRPr>
          </a:p>
          <a:p>
            <a:pPr algn="ctr"/>
            <a:r>
              <a:rPr lang="en-US" sz="1600" b="1" dirty="0" smtClean="0">
                <a:solidFill>
                  <a:srgbClr val="FF0066"/>
                </a:solidFill>
                <a:latin typeface="Verdana" pitchFamily="34" charset="0"/>
                <a:ea typeface="Verdana" pitchFamily="34" charset="0"/>
                <a:cs typeface="Verdana" pitchFamily="34" charset="0"/>
              </a:rPr>
              <a:t>Address/Data bus</a:t>
            </a:r>
          </a:p>
          <a:p>
            <a:pPr algn="just"/>
            <a:endParaRPr lang="en-US" sz="1600"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L</a:t>
            </a:r>
            <a:r>
              <a:rPr lang="en-US" sz="1400" b="1" dirty="0" smtClean="0">
                <a:latin typeface="Verdana" pitchFamily="34" charset="0"/>
                <a:ea typeface="Verdana" pitchFamily="34" charset="0"/>
                <a:cs typeface="Verdana" pitchFamily="34" charset="0"/>
              </a:rPr>
              <a:t>ow </a:t>
            </a:r>
            <a:r>
              <a:rPr lang="en-US" sz="1400" b="1" dirty="0">
                <a:latin typeface="Verdana" pitchFamily="34" charset="0"/>
                <a:ea typeface="Verdana" pitchFamily="34" charset="0"/>
                <a:cs typeface="Verdana" pitchFamily="34" charset="0"/>
              </a:rPr>
              <a:t>order address </a:t>
            </a:r>
            <a:r>
              <a:rPr lang="en-US" sz="1400" b="1" dirty="0" smtClean="0">
                <a:latin typeface="Verdana" pitchFamily="34" charset="0"/>
                <a:ea typeface="Verdana" pitchFamily="34" charset="0"/>
                <a:cs typeface="Verdana" pitchFamily="34" charset="0"/>
              </a:rPr>
              <a:t>bus; these are </a:t>
            </a:r>
            <a:r>
              <a:rPr lang="en-US" sz="1400" b="1" dirty="0">
                <a:latin typeface="Verdana" pitchFamily="34" charset="0"/>
                <a:ea typeface="Verdana" pitchFamily="34" charset="0"/>
                <a:cs typeface="Verdana" pitchFamily="34" charset="0"/>
              </a:rPr>
              <a:t>multiplexed with data. </a:t>
            </a:r>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When </a:t>
            </a:r>
            <a:r>
              <a:rPr lang="en-US" sz="1400" b="1" dirty="0">
                <a:latin typeface="Verdana" pitchFamily="34" charset="0"/>
                <a:ea typeface="Verdana" pitchFamily="34" charset="0"/>
                <a:cs typeface="Verdana" pitchFamily="34" charset="0"/>
              </a:rPr>
              <a:t>AD lines are used to transmit memory address the symbol A is used instead of AD, for example A</a:t>
            </a:r>
            <a:r>
              <a:rPr lang="en-US" sz="1400" b="1" baseline="-25000" dirty="0">
                <a:latin typeface="Verdana" pitchFamily="34" charset="0"/>
                <a:ea typeface="Verdana" pitchFamily="34" charset="0"/>
                <a:cs typeface="Verdana" pitchFamily="34" charset="0"/>
              </a:rPr>
              <a:t>0</a:t>
            </a:r>
            <a:r>
              <a:rPr lang="en-US" sz="1400" b="1" dirty="0">
                <a:latin typeface="Verdana" pitchFamily="34" charset="0"/>
                <a:ea typeface="Verdana" pitchFamily="34" charset="0"/>
                <a:cs typeface="Verdana" pitchFamily="34" charset="0"/>
              </a:rPr>
              <a:t>-A</a:t>
            </a:r>
            <a:r>
              <a:rPr lang="en-US" sz="1400" b="1" baseline="-25000" dirty="0">
                <a:latin typeface="Verdana" pitchFamily="34" charset="0"/>
                <a:ea typeface="Verdana" pitchFamily="34" charset="0"/>
                <a:cs typeface="Verdana" pitchFamily="34" charset="0"/>
              </a:rPr>
              <a:t>15</a:t>
            </a:r>
            <a:r>
              <a:rPr lang="en-US" sz="1400" b="1" dirty="0">
                <a:latin typeface="Verdana" pitchFamily="34" charset="0"/>
                <a:ea typeface="Verdana" pitchFamily="34" charset="0"/>
                <a:cs typeface="Verdana" pitchFamily="34" charset="0"/>
              </a:rPr>
              <a:t>. </a:t>
            </a:r>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When </a:t>
            </a:r>
            <a:r>
              <a:rPr lang="en-US" sz="1400" b="1" dirty="0">
                <a:latin typeface="Verdana" pitchFamily="34" charset="0"/>
                <a:ea typeface="Verdana" pitchFamily="34" charset="0"/>
                <a:cs typeface="Verdana" pitchFamily="34" charset="0"/>
              </a:rPr>
              <a:t>data are transmitted over AD lines the symbol D is used in place of AD, for example D</a:t>
            </a:r>
            <a:r>
              <a:rPr lang="en-US" sz="1400" b="1" baseline="-25000" dirty="0">
                <a:latin typeface="Verdana" pitchFamily="34" charset="0"/>
                <a:ea typeface="Verdana" pitchFamily="34" charset="0"/>
                <a:cs typeface="Verdana" pitchFamily="34" charset="0"/>
              </a:rPr>
              <a:t>0</a:t>
            </a:r>
            <a:r>
              <a:rPr lang="en-US" sz="1400" b="1" dirty="0">
                <a:latin typeface="Verdana" pitchFamily="34" charset="0"/>
                <a:ea typeface="Verdana" pitchFamily="34" charset="0"/>
                <a:cs typeface="Verdana" pitchFamily="34" charset="0"/>
              </a:rPr>
              <a:t>-D</a:t>
            </a:r>
            <a:r>
              <a:rPr lang="en-US" sz="1400" b="1" baseline="-25000" dirty="0">
                <a:latin typeface="Verdana" pitchFamily="34" charset="0"/>
                <a:ea typeface="Verdana" pitchFamily="34" charset="0"/>
                <a:cs typeface="Verdana" pitchFamily="34" charset="0"/>
              </a:rPr>
              <a:t>7</a:t>
            </a:r>
            <a:r>
              <a:rPr lang="en-US" sz="1400" b="1" dirty="0">
                <a:latin typeface="Verdana" pitchFamily="34" charset="0"/>
                <a:ea typeface="Verdana" pitchFamily="34" charset="0"/>
                <a:cs typeface="Verdana" pitchFamily="34" charset="0"/>
              </a:rPr>
              <a:t>, D</a:t>
            </a:r>
            <a:r>
              <a:rPr lang="en-US" sz="1400" b="1" baseline="-25000" dirty="0">
                <a:latin typeface="Verdana" pitchFamily="34" charset="0"/>
                <a:ea typeface="Verdana" pitchFamily="34" charset="0"/>
                <a:cs typeface="Verdana" pitchFamily="34" charset="0"/>
              </a:rPr>
              <a:t>8</a:t>
            </a:r>
            <a:r>
              <a:rPr lang="en-US" sz="1400" b="1" dirty="0">
                <a:latin typeface="Verdana" pitchFamily="34" charset="0"/>
                <a:ea typeface="Verdana" pitchFamily="34" charset="0"/>
                <a:cs typeface="Verdana" pitchFamily="34" charset="0"/>
              </a:rPr>
              <a:t>-D</a:t>
            </a:r>
            <a:r>
              <a:rPr lang="en-US" sz="1400" b="1" baseline="-25000" dirty="0">
                <a:latin typeface="Verdana" pitchFamily="34" charset="0"/>
                <a:ea typeface="Verdana" pitchFamily="34" charset="0"/>
                <a:cs typeface="Verdana" pitchFamily="34" charset="0"/>
              </a:rPr>
              <a:t>15</a:t>
            </a:r>
            <a:r>
              <a:rPr lang="en-US" sz="1400" b="1" dirty="0">
                <a:latin typeface="Verdana" pitchFamily="34" charset="0"/>
                <a:ea typeface="Verdana" pitchFamily="34" charset="0"/>
                <a:cs typeface="Verdana" pitchFamily="34" charset="0"/>
              </a:rPr>
              <a:t> or D</a:t>
            </a:r>
            <a:r>
              <a:rPr lang="en-US" sz="1400" b="1" baseline="-25000" dirty="0">
                <a:latin typeface="Verdana" pitchFamily="34" charset="0"/>
                <a:ea typeface="Verdana" pitchFamily="34" charset="0"/>
                <a:cs typeface="Verdana" pitchFamily="34" charset="0"/>
              </a:rPr>
              <a:t>0</a:t>
            </a:r>
            <a:r>
              <a:rPr lang="en-US" sz="1400" b="1" dirty="0">
                <a:latin typeface="Verdana" pitchFamily="34" charset="0"/>
                <a:ea typeface="Verdana" pitchFamily="34" charset="0"/>
                <a:cs typeface="Verdana" pitchFamily="34" charset="0"/>
              </a:rPr>
              <a:t>-D</a:t>
            </a:r>
            <a:r>
              <a:rPr lang="en-US" sz="1400" b="1" baseline="-25000" dirty="0">
                <a:latin typeface="Verdana" pitchFamily="34" charset="0"/>
                <a:ea typeface="Verdana" pitchFamily="34" charset="0"/>
                <a:cs typeface="Verdana" pitchFamily="34" charset="0"/>
              </a:rPr>
              <a:t>15</a:t>
            </a:r>
            <a:r>
              <a:rPr lang="en-US" sz="1400" b="1" dirty="0" smtClean="0">
                <a:latin typeface="Verdana" pitchFamily="34" charset="0"/>
                <a:ea typeface="Verdana" pitchFamily="34" charset="0"/>
                <a:cs typeface="Verdana" pitchFamily="34" charset="0"/>
              </a:rPr>
              <a:t>.</a:t>
            </a:r>
            <a:endParaRPr lang="en-US" sz="1400" b="1" dirty="0">
              <a:latin typeface="Verdana" pitchFamily="34" charset="0"/>
              <a:ea typeface="Verdana" pitchFamily="34" charset="0"/>
              <a:cs typeface="Verdana" pitchFamily="34" charset="0"/>
            </a:endParaRPr>
          </a:p>
        </p:txBody>
      </p:sp>
      <p:sp>
        <p:nvSpPr>
          <p:cNvPr id="10" name="Rectangle 9"/>
          <p:cNvSpPr/>
          <p:nvPr/>
        </p:nvSpPr>
        <p:spPr>
          <a:xfrm>
            <a:off x="4648200" y="5109627"/>
            <a:ext cx="4343400" cy="1046440"/>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A</a:t>
            </a:r>
            <a:r>
              <a:rPr lang="en-US" b="1" baseline="-25000" dirty="0">
                <a:latin typeface="Verdana" pitchFamily="34" charset="0"/>
                <a:ea typeface="Verdana" pitchFamily="34" charset="0"/>
                <a:cs typeface="Verdana" pitchFamily="34" charset="0"/>
              </a:rPr>
              <a:t>16</a:t>
            </a:r>
            <a:r>
              <a:rPr lang="en-US" b="1" dirty="0">
                <a:latin typeface="Verdana" pitchFamily="34" charset="0"/>
                <a:ea typeface="Verdana" pitchFamily="34" charset="0"/>
                <a:cs typeface="Verdana" pitchFamily="34" charset="0"/>
              </a:rPr>
              <a:t>/S</a:t>
            </a:r>
            <a:r>
              <a:rPr lang="en-US" b="1" baseline="-25000" dirty="0">
                <a:latin typeface="Verdana" pitchFamily="34" charset="0"/>
                <a:ea typeface="Verdana" pitchFamily="34" charset="0"/>
                <a:cs typeface="Verdana" pitchFamily="34" charset="0"/>
              </a:rPr>
              <a:t>3</a:t>
            </a:r>
            <a:r>
              <a:rPr lang="en-US" b="1" dirty="0">
                <a:latin typeface="Verdana" pitchFamily="34" charset="0"/>
                <a:ea typeface="Verdana" pitchFamily="34" charset="0"/>
                <a:cs typeface="Verdana" pitchFamily="34" charset="0"/>
              </a:rPr>
              <a:t>, A</a:t>
            </a:r>
            <a:r>
              <a:rPr lang="en-US" b="1" baseline="-25000" dirty="0">
                <a:latin typeface="Verdana" pitchFamily="34" charset="0"/>
                <a:ea typeface="Verdana" pitchFamily="34" charset="0"/>
                <a:cs typeface="Verdana" pitchFamily="34" charset="0"/>
              </a:rPr>
              <a:t>17</a:t>
            </a:r>
            <a:r>
              <a:rPr lang="en-US" b="1" dirty="0">
                <a:latin typeface="Verdana" pitchFamily="34" charset="0"/>
                <a:ea typeface="Verdana" pitchFamily="34" charset="0"/>
                <a:cs typeface="Verdana" pitchFamily="34" charset="0"/>
              </a:rPr>
              <a:t>/S</a:t>
            </a:r>
            <a:r>
              <a:rPr lang="en-US" b="1" baseline="-25000" dirty="0">
                <a:latin typeface="Verdana" pitchFamily="34" charset="0"/>
                <a:ea typeface="Verdana" pitchFamily="34" charset="0"/>
                <a:cs typeface="Verdana" pitchFamily="34" charset="0"/>
              </a:rPr>
              <a:t>4</a:t>
            </a:r>
            <a:r>
              <a:rPr lang="en-US" b="1" dirty="0">
                <a:latin typeface="Verdana" pitchFamily="34" charset="0"/>
                <a:ea typeface="Verdana" pitchFamily="34" charset="0"/>
                <a:cs typeface="Verdana" pitchFamily="34" charset="0"/>
              </a:rPr>
              <a:t>, A</a:t>
            </a:r>
            <a:r>
              <a:rPr lang="en-US" b="1" baseline="-25000" dirty="0">
                <a:latin typeface="Verdana" pitchFamily="34" charset="0"/>
                <a:ea typeface="Verdana" pitchFamily="34" charset="0"/>
                <a:cs typeface="Verdana" pitchFamily="34" charset="0"/>
              </a:rPr>
              <a:t>18</a:t>
            </a:r>
            <a:r>
              <a:rPr lang="en-US" b="1" dirty="0">
                <a:latin typeface="Verdana" pitchFamily="34" charset="0"/>
                <a:ea typeface="Verdana" pitchFamily="34" charset="0"/>
                <a:cs typeface="Verdana" pitchFamily="34" charset="0"/>
              </a:rPr>
              <a:t>/S</a:t>
            </a:r>
            <a:r>
              <a:rPr lang="en-US" b="1" baseline="-25000" dirty="0">
                <a:latin typeface="Verdana" pitchFamily="34" charset="0"/>
                <a:ea typeface="Verdana" pitchFamily="34" charset="0"/>
                <a:cs typeface="Verdana" pitchFamily="34" charset="0"/>
              </a:rPr>
              <a:t>5</a:t>
            </a:r>
            <a:r>
              <a:rPr lang="en-US" b="1" dirty="0">
                <a:latin typeface="Verdana" pitchFamily="34" charset="0"/>
                <a:ea typeface="Verdana" pitchFamily="34" charset="0"/>
                <a:cs typeface="Verdana" pitchFamily="34" charset="0"/>
              </a:rPr>
              <a:t>, A</a:t>
            </a:r>
            <a:r>
              <a:rPr lang="en-US" b="1" baseline="-25000" dirty="0">
                <a:latin typeface="Verdana" pitchFamily="34" charset="0"/>
                <a:ea typeface="Verdana" pitchFamily="34" charset="0"/>
                <a:cs typeface="Verdana" pitchFamily="34" charset="0"/>
              </a:rPr>
              <a:t>19</a:t>
            </a:r>
            <a:r>
              <a:rPr lang="en-US" b="1" dirty="0">
                <a:latin typeface="Verdana" pitchFamily="34" charset="0"/>
                <a:ea typeface="Verdana" pitchFamily="34" charset="0"/>
                <a:cs typeface="Verdana" pitchFamily="34" charset="0"/>
              </a:rPr>
              <a:t>/S</a:t>
            </a:r>
            <a:r>
              <a:rPr lang="en-US" b="1" baseline="-25000" dirty="0">
                <a:latin typeface="Verdana" pitchFamily="34" charset="0"/>
                <a:ea typeface="Verdana" pitchFamily="34" charset="0"/>
                <a:cs typeface="Verdana" pitchFamily="34" charset="0"/>
              </a:rPr>
              <a:t>6</a:t>
            </a:r>
            <a:r>
              <a:rPr lang="en-US" dirty="0">
                <a:latin typeface="Verdana" pitchFamily="34" charset="0"/>
                <a:ea typeface="Verdana" pitchFamily="34" charset="0"/>
                <a:cs typeface="Verdana" pitchFamily="34" charset="0"/>
              </a:rPr>
              <a:t> </a:t>
            </a:r>
            <a:endParaRPr lang="en-US" dirty="0" smtClean="0">
              <a:latin typeface="Verdana" pitchFamily="34" charset="0"/>
              <a:ea typeface="Verdana" pitchFamily="34" charset="0"/>
              <a:cs typeface="Verdana" pitchFamily="34" charset="0"/>
            </a:endParaRPr>
          </a:p>
          <a:p>
            <a:pPr algn="ctr"/>
            <a:endParaRPr lang="en-US" sz="1600" b="1" dirty="0" smtClean="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High order address bus. These are multiplexed with status signals</a:t>
            </a:r>
          </a:p>
        </p:txBody>
      </p:sp>
    </p:spTree>
    <p:extLst>
      <p:ext uri="{BB962C8B-B14F-4D97-AF65-F5344CB8AC3E}">
        <p14:creationId xmlns:p14="http://schemas.microsoft.com/office/powerpoint/2010/main" val="2088648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hidden"/>
                                      </p:to>
                                    </p:se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48" grpId="0" animBg="1"/>
      <p:bldP spid="48" grpId="1" animBg="1"/>
      <p:bldP spid="45" grpId="0" animBg="1"/>
      <p:bldP spid="45" grpId="1" animBg="1"/>
      <p:bldP spid="47"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2196152" y="2918192"/>
            <a:ext cx="1385248" cy="25491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Pins and Signals</a:t>
            </a:r>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r="32350"/>
          <a:stretch/>
        </p:blipFill>
        <p:spPr bwMode="auto">
          <a:xfrm>
            <a:off x="228600" y="1524000"/>
            <a:ext cx="4191000" cy="4531232"/>
          </a:xfrm>
          <a:prstGeom prst="rect">
            <a:avLst/>
          </a:prstGeom>
          <a:noFill/>
          <a:extLst>
            <a:ext uri="{909E8E84-426E-40DD-AFC4-6F175D3DCCD1}">
              <a14:hiddenFill xmlns:a14="http://schemas.microsoft.com/office/drawing/2010/main">
                <a:solidFill>
                  <a:srgbClr val="FFFFFF"/>
                </a:solidFill>
              </a14:hiddenFill>
            </a:ext>
          </a:extLst>
        </p:spPr>
      </p:pic>
      <p:sp>
        <p:nvSpPr>
          <p:cNvPr id="44" name="Slide Number Placeholder 43"/>
          <p:cNvSpPr>
            <a:spLocks noGrp="1"/>
          </p:cNvSpPr>
          <p:nvPr>
            <p:ph type="sldNum" sz="quarter" idx="12"/>
          </p:nvPr>
        </p:nvSpPr>
        <p:spPr/>
        <p:txBody>
          <a:bodyPr/>
          <a:lstStyle/>
          <a:p>
            <a:fld id="{85E6815B-E59C-4D87-B1F6-ECBDD22AF1DC}" type="slidenum">
              <a:rPr lang="en-US" smtClean="0"/>
              <a:pPr/>
              <a:t>5</a:t>
            </a:fld>
            <a:endParaRPr lang="en-US" dirty="0"/>
          </a:p>
        </p:txBody>
      </p:sp>
      <p:sp>
        <p:nvSpPr>
          <p:cNvPr id="46" name="Rectangle 45"/>
          <p:cNvSpPr/>
          <p:nvPr/>
        </p:nvSpPr>
        <p:spPr>
          <a:xfrm>
            <a:off x="5791456" y="188879"/>
            <a:ext cx="2077813" cy="338554"/>
          </a:xfrm>
          <a:prstGeom prst="rect">
            <a:avLst/>
          </a:prstGeom>
          <a:solidFill>
            <a:srgbClr val="99CCFF"/>
          </a:solidFill>
        </p:spPr>
        <p:txBody>
          <a:bodyPr wrap="none">
            <a:spAutoFit/>
          </a:bodyPr>
          <a:lstStyle/>
          <a:p>
            <a:r>
              <a:rPr lang="en-US" sz="1600" b="1" dirty="0" smtClean="0">
                <a:solidFill>
                  <a:srgbClr val="FF0000"/>
                </a:solidFill>
                <a:latin typeface="Verdana" pitchFamily="34" charset="0"/>
                <a:ea typeface="Verdana" pitchFamily="34" charset="0"/>
                <a:cs typeface="Verdana" pitchFamily="34" charset="0"/>
              </a:rPr>
              <a:t>Common signals</a:t>
            </a:r>
            <a:endParaRPr lang="en-US" sz="1600" b="1" dirty="0">
              <a:solidFill>
                <a:srgbClr val="FF0000"/>
              </a:solidFill>
              <a:latin typeface="Verdana" pitchFamily="34" charset="0"/>
              <a:ea typeface="Verdana" pitchFamily="34" charset="0"/>
              <a:cs typeface="Verdana" pitchFamily="34" charset="0"/>
            </a:endParaRPr>
          </a:p>
        </p:txBody>
      </p:sp>
      <p:sp>
        <p:nvSpPr>
          <p:cNvPr id="47" name="Rectangle 46"/>
          <p:cNvSpPr/>
          <p:nvPr/>
        </p:nvSpPr>
        <p:spPr>
          <a:xfrm>
            <a:off x="4648200" y="800993"/>
            <a:ext cx="4343400" cy="2215991"/>
          </a:xfrm>
          <a:prstGeom prst="rect">
            <a:avLst/>
          </a:prstGeom>
          <a:ln w="28575">
            <a:solidFill>
              <a:schemeClr val="accent6">
                <a:lumMod val="75000"/>
              </a:schemeClr>
            </a:solidFill>
          </a:ln>
        </p:spPr>
        <p:txBody>
          <a:bodyPr wrap="square">
            <a:spAutoFit/>
          </a:bodyPr>
          <a:lstStyle/>
          <a:p>
            <a:pPr algn="ctr"/>
            <a:r>
              <a:rPr lang="en-US" b="1" dirty="0" smtClean="0">
                <a:latin typeface="Verdana" pitchFamily="34" charset="0"/>
                <a:ea typeface="Verdana" pitchFamily="34" charset="0"/>
                <a:cs typeface="Verdana" pitchFamily="34" charset="0"/>
              </a:rPr>
              <a:t>BHE </a:t>
            </a:r>
            <a:r>
              <a:rPr lang="en-US" b="1" dirty="0">
                <a:latin typeface="Verdana" pitchFamily="34" charset="0"/>
                <a:ea typeface="Verdana" pitchFamily="34" charset="0"/>
                <a:cs typeface="Verdana" pitchFamily="34" charset="0"/>
              </a:rPr>
              <a:t>(Active Low)/S</a:t>
            </a:r>
            <a:r>
              <a:rPr lang="en-US" b="1" baseline="-25000" dirty="0">
                <a:latin typeface="Verdana" pitchFamily="34" charset="0"/>
                <a:ea typeface="Verdana" pitchFamily="34" charset="0"/>
                <a:cs typeface="Verdana" pitchFamily="34" charset="0"/>
              </a:rPr>
              <a:t>7</a:t>
            </a:r>
            <a:r>
              <a:rPr lang="en-US" b="1" dirty="0">
                <a:latin typeface="Verdana" pitchFamily="34" charset="0"/>
                <a:ea typeface="Verdana" pitchFamily="34" charset="0"/>
                <a:cs typeface="Verdana" pitchFamily="34" charset="0"/>
              </a:rPr>
              <a:t> (Output)  </a:t>
            </a:r>
          </a:p>
          <a:p>
            <a:pPr algn="ctr"/>
            <a:endParaRPr lang="en-US" sz="1600" b="1" dirty="0">
              <a:solidFill>
                <a:srgbClr val="FF0066"/>
              </a:solidFill>
              <a:latin typeface="Verdana" pitchFamily="34" charset="0"/>
              <a:ea typeface="Verdana" pitchFamily="34" charset="0"/>
              <a:cs typeface="Verdana" pitchFamily="34" charset="0"/>
            </a:endParaRPr>
          </a:p>
          <a:p>
            <a:pPr algn="ctr"/>
            <a:r>
              <a:rPr lang="en-US" sz="1600" b="1" dirty="0" smtClean="0">
                <a:solidFill>
                  <a:srgbClr val="FF0066"/>
                </a:solidFill>
                <a:latin typeface="Verdana" pitchFamily="34" charset="0"/>
                <a:ea typeface="Verdana" pitchFamily="34" charset="0"/>
                <a:cs typeface="Verdana" pitchFamily="34" charset="0"/>
              </a:rPr>
              <a:t>Bus </a:t>
            </a:r>
            <a:r>
              <a:rPr lang="en-US" sz="1600" b="1" dirty="0">
                <a:solidFill>
                  <a:srgbClr val="FF0066"/>
                </a:solidFill>
                <a:latin typeface="Verdana" pitchFamily="34" charset="0"/>
                <a:ea typeface="Verdana" pitchFamily="34" charset="0"/>
                <a:cs typeface="Verdana" pitchFamily="34" charset="0"/>
              </a:rPr>
              <a:t>High </a:t>
            </a:r>
            <a:r>
              <a:rPr lang="en-US" sz="1600" b="1" dirty="0" smtClean="0">
                <a:solidFill>
                  <a:srgbClr val="FF0066"/>
                </a:solidFill>
                <a:latin typeface="Verdana" pitchFamily="34" charset="0"/>
                <a:ea typeface="Verdana" pitchFamily="34" charset="0"/>
                <a:cs typeface="Verdana" pitchFamily="34" charset="0"/>
              </a:rPr>
              <a:t>Enable/Status </a:t>
            </a:r>
          </a:p>
          <a:p>
            <a:pPr algn="just"/>
            <a:endParaRPr lang="en-US"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It </a:t>
            </a:r>
            <a:r>
              <a:rPr lang="en-US" sz="1400" b="1" dirty="0">
                <a:latin typeface="Verdana" pitchFamily="34" charset="0"/>
                <a:ea typeface="Verdana" pitchFamily="34" charset="0"/>
                <a:cs typeface="Verdana" pitchFamily="34" charset="0"/>
              </a:rPr>
              <a:t>is used to enable data onto the most significant half of data bus, D</a:t>
            </a:r>
            <a:r>
              <a:rPr lang="en-US" sz="1400" b="1" baseline="-25000" dirty="0">
                <a:latin typeface="Verdana" pitchFamily="34" charset="0"/>
                <a:ea typeface="Verdana" pitchFamily="34" charset="0"/>
                <a:cs typeface="Verdana" pitchFamily="34" charset="0"/>
              </a:rPr>
              <a:t>8</a:t>
            </a:r>
            <a:r>
              <a:rPr lang="en-US" sz="1400" b="1" dirty="0">
                <a:latin typeface="Verdana" pitchFamily="34" charset="0"/>
                <a:ea typeface="Verdana" pitchFamily="34" charset="0"/>
                <a:cs typeface="Verdana" pitchFamily="34" charset="0"/>
              </a:rPr>
              <a:t>-D</a:t>
            </a:r>
            <a:r>
              <a:rPr lang="en-US" sz="1400" b="1" baseline="-25000" dirty="0">
                <a:latin typeface="Verdana" pitchFamily="34" charset="0"/>
                <a:ea typeface="Verdana" pitchFamily="34" charset="0"/>
                <a:cs typeface="Verdana" pitchFamily="34" charset="0"/>
              </a:rPr>
              <a:t>15</a:t>
            </a:r>
            <a:r>
              <a:rPr lang="en-US" sz="1400" b="1" dirty="0">
                <a:latin typeface="Verdana" pitchFamily="34" charset="0"/>
                <a:ea typeface="Verdana" pitchFamily="34" charset="0"/>
                <a:cs typeface="Verdana" pitchFamily="34" charset="0"/>
              </a:rPr>
              <a:t>. 8-bit device connected to upper half of the data bus use BHE (Active Low) signal. It is multiplexed with status signal S</a:t>
            </a:r>
            <a:r>
              <a:rPr lang="en-US" sz="1400" b="1" baseline="-25000" dirty="0">
                <a:latin typeface="Verdana" pitchFamily="34" charset="0"/>
                <a:ea typeface="Verdana" pitchFamily="34" charset="0"/>
                <a:cs typeface="Verdana" pitchFamily="34" charset="0"/>
              </a:rPr>
              <a:t>7</a:t>
            </a:r>
            <a:r>
              <a:rPr lang="en-US" sz="1400" b="1" dirty="0">
                <a:latin typeface="Verdana" pitchFamily="34" charset="0"/>
                <a:ea typeface="Verdana" pitchFamily="34" charset="0"/>
                <a:cs typeface="Verdana" pitchFamily="34" charset="0"/>
              </a:rPr>
              <a:t>. </a:t>
            </a:r>
          </a:p>
        </p:txBody>
      </p:sp>
      <p:sp>
        <p:nvSpPr>
          <p:cNvPr id="10" name="Rectangle 9"/>
          <p:cNvSpPr/>
          <p:nvPr/>
        </p:nvSpPr>
        <p:spPr>
          <a:xfrm>
            <a:off x="4648200" y="3276362"/>
            <a:ext cx="4343400" cy="1600438"/>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 MN/ MX </a:t>
            </a:r>
            <a:r>
              <a:rPr lang="en-US" b="1" dirty="0" smtClean="0">
                <a:latin typeface="Verdana" pitchFamily="34" charset="0"/>
                <a:ea typeface="Verdana" pitchFamily="34" charset="0"/>
                <a:cs typeface="Verdana" pitchFamily="34" charset="0"/>
              </a:rPr>
              <a:t>(Active Low) </a:t>
            </a:r>
          </a:p>
          <a:p>
            <a:pPr algn="ctr"/>
            <a:endParaRPr lang="en-US" b="1" dirty="0" smtClean="0">
              <a:latin typeface="Verdana" pitchFamily="34" charset="0"/>
              <a:ea typeface="Verdana" pitchFamily="34" charset="0"/>
              <a:cs typeface="Verdana" pitchFamily="34" charset="0"/>
            </a:endParaRPr>
          </a:p>
          <a:p>
            <a:pPr algn="ctr"/>
            <a:r>
              <a:rPr lang="en-US" sz="1600" b="1" dirty="0" smtClean="0">
                <a:solidFill>
                  <a:srgbClr val="FF0066"/>
                </a:solidFill>
                <a:latin typeface="Verdana" pitchFamily="34" charset="0"/>
                <a:ea typeface="Verdana" pitchFamily="34" charset="0"/>
                <a:cs typeface="Verdana" pitchFamily="34" charset="0"/>
              </a:rPr>
              <a:t>MINIMUM </a:t>
            </a:r>
            <a:r>
              <a:rPr lang="en-US" sz="1600" b="1" dirty="0">
                <a:solidFill>
                  <a:srgbClr val="FF0066"/>
                </a:solidFill>
                <a:latin typeface="Verdana" pitchFamily="34" charset="0"/>
                <a:ea typeface="Verdana" pitchFamily="34" charset="0"/>
                <a:cs typeface="Verdana" pitchFamily="34" charset="0"/>
              </a:rPr>
              <a:t>/ MAXIMUM </a:t>
            </a:r>
            <a:endParaRPr lang="en-US" sz="1600" b="1" dirty="0" smtClean="0">
              <a:solidFill>
                <a:srgbClr val="FF0066"/>
              </a:solidFill>
              <a:latin typeface="Verdana" pitchFamily="34" charset="0"/>
              <a:ea typeface="Verdana" pitchFamily="34" charset="0"/>
              <a:cs typeface="Verdana" pitchFamily="34" charset="0"/>
            </a:endParaRPr>
          </a:p>
          <a:p>
            <a:endParaRPr lang="en-US"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This </a:t>
            </a:r>
            <a:r>
              <a:rPr lang="en-US" sz="1400" b="1" dirty="0">
                <a:latin typeface="Verdana" pitchFamily="34" charset="0"/>
                <a:ea typeface="Verdana" pitchFamily="34" charset="0"/>
                <a:cs typeface="Verdana" pitchFamily="34" charset="0"/>
              </a:rPr>
              <a:t>pin signal indicates  what mode the processor is to operate in. </a:t>
            </a:r>
          </a:p>
        </p:txBody>
      </p:sp>
      <p:sp>
        <p:nvSpPr>
          <p:cNvPr id="14" name="Rectangle 13"/>
          <p:cNvSpPr/>
          <p:nvPr/>
        </p:nvSpPr>
        <p:spPr>
          <a:xfrm>
            <a:off x="4648200" y="5108138"/>
            <a:ext cx="4343400" cy="1077218"/>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 RD (Read) (Active Low) </a:t>
            </a:r>
          </a:p>
          <a:p>
            <a:pPr algn="ctr"/>
            <a:endParaRPr lang="en-US" dirty="0" smtClean="0">
              <a:latin typeface="Verdana" pitchFamily="34" charset="0"/>
              <a:ea typeface="Verdana" pitchFamily="34" charset="0"/>
              <a:cs typeface="Verdana" pitchFamily="34" charset="0"/>
            </a:endParaRPr>
          </a:p>
          <a:p>
            <a:pPr algn="ctr"/>
            <a:r>
              <a:rPr lang="en-US" sz="1400" b="1" dirty="0" smtClean="0">
                <a:latin typeface="Verdana" pitchFamily="34" charset="0"/>
                <a:ea typeface="Verdana" pitchFamily="34" charset="0"/>
                <a:cs typeface="Verdana" pitchFamily="34" charset="0"/>
              </a:rPr>
              <a:t>The </a:t>
            </a:r>
            <a:r>
              <a:rPr lang="en-US" sz="1400" b="1" dirty="0">
                <a:latin typeface="Verdana" pitchFamily="34" charset="0"/>
                <a:ea typeface="Verdana" pitchFamily="34" charset="0"/>
                <a:cs typeface="Verdana" pitchFamily="34" charset="0"/>
              </a:rPr>
              <a:t>signal is used for read operation. </a:t>
            </a:r>
            <a:endParaRPr lang="en-US" sz="1400" b="1" dirty="0" smtClean="0">
              <a:latin typeface="Verdana" pitchFamily="34" charset="0"/>
              <a:ea typeface="Verdana" pitchFamily="34" charset="0"/>
              <a:cs typeface="Verdana" pitchFamily="34" charset="0"/>
            </a:endParaRPr>
          </a:p>
          <a:p>
            <a:pPr algn="ctr"/>
            <a:r>
              <a:rPr lang="en-US" sz="1400" b="1" dirty="0" smtClean="0">
                <a:latin typeface="Verdana" pitchFamily="34" charset="0"/>
                <a:ea typeface="Verdana" pitchFamily="34" charset="0"/>
                <a:cs typeface="Verdana" pitchFamily="34" charset="0"/>
              </a:rPr>
              <a:t>It </a:t>
            </a:r>
            <a:r>
              <a:rPr lang="en-US" sz="1400" b="1" dirty="0">
                <a:latin typeface="Verdana" pitchFamily="34" charset="0"/>
                <a:ea typeface="Verdana" pitchFamily="34" charset="0"/>
                <a:cs typeface="Verdana" pitchFamily="34" charset="0"/>
              </a:rPr>
              <a:t>is active when low.</a:t>
            </a:r>
          </a:p>
        </p:txBody>
      </p:sp>
    </p:spTree>
    <p:extLst>
      <p:ext uri="{BB962C8B-B14F-4D97-AF65-F5344CB8AC3E}">
        <p14:creationId xmlns:p14="http://schemas.microsoft.com/office/powerpoint/2010/main" val="237827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1" nodeType="clickEffect">
                                  <p:stCondLst>
                                    <p:cond delay="0"/>
                                  </p:stCondLst>
                                  <p:childTnLst>
                                    <p:animMotion origin="layout" path="M 1.38889E-6 -7.67808E-7 L 1.38889E-6 0.03377 " pathEditMode="relative" rAng="0" ptsTypes="AA">
                                      <p:cBhvr>
                                        <p:cTn id="14" dur="500" fill="hold"/>
                                        <p:tgtEl>
                                          <p:spTgt spid="48"/>
                                        </p:tgtEl>
                                        <p:attrNameLst>
                                          <p:attrName>ppt_x</p:attrName>
                                          <p:attrName>ppt_y</p:attrName>
                                        </p:attrNameLst>
                                      </p:cBhvr>
                                      <p:rCtr x="0" y="1688"/>
                                    </p:animMotion>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path" presetSubtype="0" accel="50000" decel="50000" fill="hold" grpId="2" nodeType="clickEffect">
                                  <p:stCondLst>
                                    <p:cond delay="0"/>
                                  </p:stCondLst>
                                  <p:childTnLst>
                                    <p:animMotion origin="layout" path="M 1.38889E-6 0.03377 L 1.38889E-6 0.06707 " pathEditMode="relative" rAng="0" ptsTypes="AA">
                                      <p:cBhvr>
                                        <p:cTn id="21" dur="500" fill="hold"/>
                                        <p:tgtEl>
                                          <p:spTgt spid="48"/>
                                        </p:tgtEl>
                                        <p:attrNameLst>
                                          <p:attrName>ppt_x</p:attrName>
                                          <p:attrName>ppt_y</p:attrName>
                                        </p:attrNameLst>
                                      </p:cBhvr>
                                      <p:rCtr x="0" y="1665"/>
                                    </p:animMotion>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8" grpId="2" animBg="1"/>
      <p:bldP spid="47" grpId="0" animBg="1"/>
      <p:bldP spid="10"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2196152" y="3340136"/>
            <a:ext cx="1385248" cy="25491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Pins and Signals</a:t>
            </a:r>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r="32350"/>
          <a:stretch/>
        </p:blipFill>
        <p:spPr bwMode="auto">
          <a:xfrm>
            <a:off x="228600" y="1524000"/>
            <a:ext cx="4191000" cy="4531232"/>
          </a:xfrm>
          <a:prstGeom prst="rect">
            <a:avLst/>
          </a:prstGeom>
          <a:noFill/>
          <a:extLst>
            <a:ext uri="{909E8E84-426E-40DD-AFC4-6F175D3DCCD1}">
              <a14:hiddenFill xmlns:a14="http://schemas.microsoft.com/office/drawing/2010/main">
                <a:solidFill>
                  <a:srgbClr val="FFFFFF"/>
                </a:solidFill>
              </a14:hiddenFill>
            </a:ext>
          </a:extLst>
        </p:spPr>
      </p:pic>
      <p:sp>
        <p:nvSpPr>
          <p:cNvPr id="44" name="Slide Number Placeholder 43"/>
          <p:cNvSpPr>
            <a:spLocks noGrp="1"/>
          </p:cNvSpPr>
          <p:nvPr>
            <p:ph type="sldNum" sz="quarter" idx="12"/>
          </p:nvPr>
        </p:nvSpPr>
        <p:spPr/>
        <p:txBody>
          <a:bodyPr/>
          <a:lstStyle/>
          <a:p>
            <a:fld id="{85E6815B-E59C-4D87-B1F6-ECBDD22AF1DC}" type="slidenum">
              <a:rPr lang="en-US" smtClean="0"/>
              <a:pPr/>
              <a:t>6</a:t>
            </a:fld>
            <a:endParaRPr lang="en-US" dirty="0"/>
          </a:p>
        </p:txBody>
      </p:sp>
      <p:sp>
        <p:nvSpPr>
          <p:cNvPr id="46" name="Rectangle 45"/>
          <p:cNvSpPr/>
          <p:nvPr/>
        </p:nvSpPr>
        <p:spPr>
          <a:xfrm>
            <a:off x="5791456" y="188879"/>
            <a:ext cx="2077813" cy="338554"/>
          </a:xfrm>
          <a:prstGeom prst="rect">
            <a:avLst/>
          </a:prstGeom>
          <a:solidFill>
            <a:srgbClr val="99CCFF"/>
          </a:solidFill>
        </p:spPr>
        <p:txBody>
          <a:bodyPr wrap="none">
            <a:spAutoFit/>
          </a:bodyPr>
          <a:lstStyle/>
          <a:p>
            <a:r>
              <a:rPr lang="en-US" sz="1600" b="1" dirty="0" smtClean="0">
                <a:solidFill>
                  <a:srgbClr val="FF0000"/>
                </a:solidFill>
                <a:latin typeface="Verdana" pitchFamily="34" charset="0"/>
                <a:ea typeface="Verdana" pitchFamily="34" charset="0"/>
                <a:cs typeface="Verdana" pitchFamily="34" charset="0"/>
              </a:rPr>
              <a:t>Common signals</a:t>
            </a:r>
            <a:endParaRPr lang="en-US" sz="1600" b="1" dirty="0">
              <a:solidFill>
                <a:srgbClr val="FF0000"/>
              </a:solidFill>
              <a:latin typeface="Verdana" pitchFamily="34" charset="0"/>
              <a:ea typeface="Verdana" pitchFamily="34" charset="0"/>
              <a:cs typeface="Verdana" pitchFamily="34" charset="0"/>
            </a:endParaRPr>
          </a:p>
        </p:txBody>
      </p:sp>
      <mc:AlternateContent xmlns:mc="http://schemas.openxmlformats.org/markup-compatibility/2006" xmlns:a14="http://schemas.microsoft.com/office/drawing/2010/main">
        <mc:Choice Requires="a14">
          <p:sp>
            <p:nvSpPr>
              <p:cNvPr id="47" name="Rectangle 46"/>
              <p:cNvSpPr/>
              <p:nvPr/>
            </p:nvSpPr>
            <p:spPr>
              <a:xfrm>
                <a:off x="4648200" y="800993"/>
                <a:ext cx="4343400" cy="3016660"/>
              </a:xfrm>
              <a:prstGeom prst="rect">
                <a:avLst/>
              </a:prstGeom>
              <a:ln w="28575">
                <a:solidFill>
                  <a:schemeClr val="accent6">
                    <a:lumMod val="75000"/>
                  </a:schemeClr>
                </a:solidFill>
              </a:ln>
            </p:spPr>
            <p:txBody>
              <a:bodyPr wrap="square">
                <a:spAutoFit/>
              </a:bodyPr>
              <a:lstStyle/>
              <a:p>
                <a:pPr algn="ctr"/>
                <a:r>
                  <a:rPr lang="en-US" b="1" dirty="0" smtClean="0">
                    <a:latin typeface="Verdana" pitchFamily="34" charset="0"/>
                    <a:ea typeface="Verdana" pitchFamily="34" charset="0"/>
                    <a:cs typeface="Verdana" pitchFamily="34" charset="0"/>
                  </a:rPr>
                  <a:t>TEST</a:t>
                </a:r>
              </a:p>
              <a:p>
                <a:pPr algn="just"/>
                <a:endParaRPr lang="en-US" b="1" dirty="0" smtClean="0">
                  <a:latin typeface="Verdana" pitchFamily="34" charset="0"/>
                  <a:ea typeface="Verdana" pitchFamily="34" charset="0"/>
                  <a:cs typeface="Verdana" pitchFamily="34" charset="0"/>
                </a:endParaRPr>
              </a:p>
              <a:p>
                <a:pPr algn="just"/>
                <a14:m>
                  <m:oMath xmlns:m="http://schemas.openxmlformats.org/officeDocument/2006/math">
                    <m:acc>
                      <m:accPr>
                        <m:chr m:val="̅"/>
                        <m:ctrlPr>
                          <a:rPr lang="en-US" sz="1400" b="1" i="1">
                            <a:latin typeface="Cambria Math" panose="02040503050406030204" pitchFamily="18" charset="0"/>
                            <a:ea typeface="Verdana" pitchFamily="34" charset="0"/>
                            <a:cs typeface="Verdana" pitchFamily="34" charset="0"/>
                          </a:rPr>
                        </m:ctrlPr>
                      </m:accPr>
                      <m:e>
                        <m:r>
                          <a:rPr lang="en-US" sz="1400" b="1">
                            <a:latin typeface="Cambria Math"/>
                            <a:ea typeface="Verdana" pitchFamily="34" charset="0"/>
                            <a:cs typeface="Verdana" pitchFamily="34" charset="0"/>
                          </a:rPr>
                          <m:t>𝐓𝐄𝐒𝐓</m:t>
                        </m:r>
                      </m:e>
                    </m:acc>
                  </m:oMath>
                </a14:m>
                <a:r>
                  <a:rPr lang="en-US" sz="1400" b="1" dirty="0">
                    <a:latin typeface="Verdana" pitchFamily="34" charset="0"/>
                    <a:ea typeface="Verdana" pitchFamily="34" charset="0"/>
                    <a:cs typeface="Verdana" pitchFamily="34" charset="0"/>
                  </a:rPr>
                  <a:t>input is </a:t>
                </a:r>
                <a:r>
                  <a:rPr lang="en-US" sz="1400" b="1" dirty="0" smtClean="0">
                    <a:latin typeface="Verdana" pitchFamily="34" charset="0"/>
                    <a:ea typeface="Verdana" pitchFamily="34" charset="0"/>
                    <a:cs typeface="Verdana" pitchFamily="34" charset="0"/>
                  </a:rPr>
                  <a:t>tested </a:t>
                </a:r>
                <a:r>
                  <a:rPr lang="en-US" sz="1400" b="1" dirty="0">
                    <a:latin typeface="Verdana" pitchFamily="34" charset="0"/>
                    <a:ea typeface="Verdana" pitchFamily="34" charset="0"/>
                    <a:cs typeface="Verdana" pitchFamily="34" charset="0"/>
                  </a:rPr>
                  <a:t>by </a:t>
                </a:r>
                <a:r>
                  <a:rPr lang="en-US" sz="1400" b="1" dirty="0" smtClean="0">
                    <a:latin typeface="Verdana" pitchFamily="34" charset="0"/>
                    <a:ea typeface="Verdana" pitchFamily="34" charset="0"/>
                    <a:cs typeface="Verdana" pitchFamily="34" charset="0"/>
                  </a:rPr>
                  <a:t>the </a:t>
                </a:r>
                <a:r>
                  <a:rPr lang="en-US" sz="1400" b="1" dirty="0">
                    <a:latin typeface="Verdana" pitchFamily="34" charset="0"/>
                    <a:ea typeface="Verdana" pitchFamily="34" charset="0"/>
                    <a:cs typeface="Verdana" pitchFamily="34" charset="0"/>
                  </a:rPr>
                  <a:t>‘WAIT’ instruction. </a:t>
                </a:r>
                <a:endParaRPr lang="en-US" sz="1400" b="1" dirty="0" smtClean="0">
                  <a:latin typeface="Verdana" pitchFamily="34" charset="0"/>
                  <a:ea typeface="Verdana" pitchFamily="34" charset="0"/>
                  <a:cs typeface="Verdana" pitchFamily="34" charset="0"/>
                </a:endParaRPr>
              </a:p>
              <a:p>
                <a:pPr algn="just"/>
                <a:endParaRPr lang="en-US" sz="1400" b="1" dirty="0" smtClean="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8086 will enter a wait state after execution of the WAIT instruction and will resume execution only when the </a:t>
                </a:r>
                <a14:m>
                  <m:oMath xmlns:m="http://schemas.openxmlformats.org/officeDocument/2006/math">
                    <m:acc>
                      <m:accPr>
                        <m:chr m:val="̅"/>
                        <m:ctrlPr>
                          <a:rPr lang="en-US" sz="1400" b="1" i="1" smtClean="0">
                            <a:latin typeface="Cambria Math" panose="02040503050406030204" pitchFamily="18" charset="0"/>
                            <a:ea typeface="Verdana" pitchFamily="34" charset="0"/>
                            <a:cs typeface="Verdana" pitchFamily="34" charset="0"/>
                          </a:rPr>
                        </m:ctrlPr>
                      </m:accPr>
                      <m:e>
                        <m:r>
                          <a:rPr lang="en-US" sz="1400" b="1" i="0" smtClean="0">
                            <a:latin typeface="Cambria Math"/>
                            <a:ea typeface="Verdana" pitchFamily="34" charset="0"/>
                            <a:cs typeface="Verdana" pitchFamily="34" charset="0"/>
                          </a:rPr>
                          <m:t>𝐓𝐄𝐒𝐓</m:t>
                        </m:r>
                      </m:e>
                    </m:acc>
                  </m:oMath>
                </a14:m>
                <a:r>
                  <a:rPr lang="en-US" sz="1400" b="1" dirty="0" smtClean="0">
                    <a:latin typeface="Verdana" pitchFamily="34" charset="0"/>
                    <a:ea typeface="Verdana" pitchFamily="34" charset="0"/>
                    <a:cs typeface="Verdana" pitchFamily="34" charset="0"/>
                  </a:rPr>
                  <a:t> is made low by an active hardware.</a:t>
                </a: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This is used to synchronize an external activity to the processor internal operation.</a:t>
                </a:r>
              </a:p>
            </p:txBody>
          </p:sp>
        </mc:Choice>
        <mc:Fallback xmlns="">
          <p:sp>
            <p:nvSpPr>
              <p:cNvPr id="47" name="Rectangle 46"/>
              <p:cNvSpPr>
                <a:spLocks noRot="1" noChangeAspect="1" noMove="1" noResize="1" noEditPoints="1" noAdjustHandles="1" noChangeArrowheads="1" noChangeShapeType="1" noTextEdit="1"/>
              </p:cNvSpPr>
              <p:nvPr/>
            </p:nvSpPr>
            <p:spPr>
              <a:xfrm>
                <a:off x="4648200" y="800993"/>
                <a:ext cx="4343400" cy="3016660"/>
              </a:xfrm>
              <a:prstGeom prst="rect">
                <a:avLst/>
              </a:prstGeom>
              <a:blipFill rotWithShape="1">
                <a:blip r:embed="rId4"/>
                <a:stretch>
                  <a:fillRect l="-139" t="-600" b="-400"/>
                </a:stretch>
              </a:blipFill>
              <a:ln w="28575">
                <a:solidFill>
                  <a:schemeClr val="accent6">
                    <a:lumMod val="75000"/>
                  </a:schemeClr>
                </a:solidFill>
              </a:ln>
            </p:spPr>
            <p:txBody>
              <a:bodyPr/>
              <a:lstStyle/>
              <a:p>
                <a:r>
                  <a:rPr lang="en-US">
                    <a:noFill/>
                  </a:rPr>
                  <a:t> </a:t>
                </a:r>
              </a:p>
            </p:txBody>
          </p:sp>
        </mc:Fallback>
      </mc:AlternateContent>
      <p:sp>
        <p:nvSpPr>
          <p:cNvPr id="10" name="Rectangle 9"/>
          <p:cNvSpPr/>
          <p:nvPr/>
        </p:nvSpPr>
        <p:spPr>
          <a:xfrm>
            <a:off x="4648200" y="3981033"/>
            <a:ext cx="4343400" cy="1938992"/>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 READY </a:t>
            </a:r>
            <a:endParaRPr lang="en-US" b="1" dirty="0" smtClean="0">
              <a:latin typeface="Verdana" pitchFamily="34" charset="0"/>
              <a:ea typeface="Verdana" pitchFamily="34" charset="0"/>
              <a:cs typeface="Verdana" pitchFamily="34" charset="0"/>
            </a:endParaRPr>
          </a:p>
          <a:p>
            <a:endParaRPr lang="en-US"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This </a:t>
            </a:r>
            <a:r>
              <a:rPr lang="en-US" sz="1400" b="1" dirty="0">
                <a:latin typeface="Verdana" pitchFamily="34" charset="0"/>
                <a:ea typeface="Verdana" pitchFamily="34" charset="0"/>
                <a:cs typeface="Verdana" pitchFamily="34" charset="0"/>
              </a:rPr>
              <a:t>is the acknowledgement from the slow device or memory that they have completed the data transfer. </a:t>
            </a:r>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The </a:t>
            </a:r>
            <a:r>
              <a:rPr lang="en-US" sz="1400" b="1" dirty="0">
                <a:latin typeface="Verdana" pitchFamily="34" charset="0"/>
                <a:ea typeface="Verdana" pitchFamily="34" charset="0"/>
                <a:cs typeface="Verdana" pitchFamily="34" charset="0"/>
              </a:rPr>
              <a:t>signal is active high.</a:t>
            </a:r>
          </a:p>
        </p:txBody>
      </p:sp>
    </p:spTree>
    <p:extLst>
      <p:ext uri="{BB962C8B-B14F-4D97-AF65-F5344CB8AC3E}">
        <p14:creationId xmlns:p14="http://schemas.microsoft.com/office/powerpoint/2010/main" val="655034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1.38889E-6 2.11841E-6 L 1.38889E-6 0.29417 " pathEditMode="relative" rAng="0" ptsTypes="AA">
                                      <p:cBhvr>
                                        <p:cTn id="6" dur="500" fill="hold"/>
                                        <p:tgtEl>
                                          <p:spTgt spid="48"/>
                                        </p:tgtEl>
                                        <p:attrNameLst>
                                          <p:attrName>ppt_x</p:attrName>
                                          <p:attrName>ppt_y</p:attrName>
                                        </p:attrNameLst>
                                      </p:cBhvr>
                                      <p:rCtr x="0" y="14709"/>
                                    </p:animMotion>
                                  </p:childTnLst>
                                </p:cTn>
                              </p:par>
                              <p:par>
                                <p:cTn id="7" presetID="10"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animEffect transition="in" filter="fade">
                                      <p:cBhvr>
                                        <p:cTn id="9" dur="500"/>
                                        <p:tgtEl>
                                          <p:spTgt spid="4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1" nodeType="clickEffect">
                                  <p:stCondLst>
                                    <p:cond delay="0"/>
                                  </p:stCondLst>
                                  <p:childTnLst>
                                    <p:animMotion origin="layout" path="M 1.38889E-6 0.29417 L 0.00087 0.32747 " pathEditMode="relative" rAng="0" ptsTypes="AA">
                                      <p:cBhvr>
                                        <p:cTn id="13" dur="500" fill="hold"/>
                                        <p:tgtEl>
                                          <p:spTgt spid="48"/>
                                        </p:tgtEl>
                                        <p:attrNameLst>
                                          <p:attrName>ppt_x</p:attrName>
                                          <p:attrName>ppt_y</p:attrName>
                                        </p:attrNameLst>
                                      </p:cBhvr>
                                      <p:rCtr x="35" y="1665"/>
                                    </p:animMotion>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7"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2196152" y="5563584"/>
            <a:ext cx="1385248" cy="25491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Pins and Signals</a:t>
            </a:r>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r="32350"/>
          <a:stretch/>
        </p:blipFill>
        <p:spPr bwMode="auto">
          <a:xfrm>
            <a:off x="228600" y="1524000"/>
            <a:ext cx="4191000" cy="4531232"/>
          </a:xfrm>
          <a:prstGeom prst="rect">
            <a:avLst/>
          </a:prstGeom>
          <a:noFill/>
          <a:extLst>
            <a:ext uri="{909E8E84-426E-40DD-AFC4-6F175D3DCCD1}">
              <a14:hiddenFill xmlns:a14="http://schemas.microsoft.com/office/drawing/2010/main">
                <a:solidFill>
                  <a:srgbClr val="FFFFFF"/>
                </a:solidFill>
              </a14:hiddenFill>
            </a:ext>
          </a:extLst>
        </p:spPr>
      </p:pic>
      <p:sp>
        <p:nvSpPr>
          <p:cNvPr id="44" name="Slide Number Placeholder 43"/>
          <p:cNvSpPr>
            <a:spLocks noGrp="1"/>
          </p:cNvSpPr>
          <p:nvPr>
            <p:ph type="sldNum" sz="quarter" idx="12"/>
          </p:nvPr>
        </p:nvSpPr>
        <p:spPr/>
        <p:txBody>
          <a:bodyPr/>
          <a:lstStyle/>
          <a:p>
            <a:fld id="{85E6815B-E59C-4D87-B1F6-ECBDD22AF1DC}" type="slidenum">
              <a:rPr lang="en-US" smtClean="0"/>
              <a:pPr/>
              <a:t>7</a:t>
            </a:fld>
            <a:endParaRPr lang="en-US" dirty="0"/>
          </a:p>
        </p:txBody>
      </p:sp>
      <p:sp>
        <p:nvSpPr>
          <p:cNvPr id="46" name="Rectangle 45"/>
          <p:cNvSpPr/>
          <p:nvPr/>
        </p:nvSpPr>
        <p:spPr>
          <a:xfrm>
            <a:off x="5791456" y="188879"/>
            <a:ext cx="2077813" cy="338554"/>
          </a:xfrm>
          <a:prstGeom prst="rect">
            <a:avLst/>
          </a:prstGeom>
          <a:solidFill>
            <a:srgbClr val="99CCFF"/>
          </a:solidFill>
        </p:spPr>
        <p:txBody>
          <a:bodyPr wrap="none">
            <a:spAutoFit/>
          </a:bodyPr>
          <a:lstStyle/>
          <a:p>
            <a:r>
              <a:rPr lang="en-US" sz="1600" b="1" dirty="0" smtClean="0">
                <a:solidFill>
                  <a:srgbClr val="FF0000"/>
                </a:solidFill>
                <a:latin typeface="Verdana" pitchFamily="34" charset="0"/>
                <a:ea typeface="Verdana" pitchFamily="34" charset="0"/>
                <a:cs typeface="Verdana" pitchFamily="34" charset="0"/>
              </a:rPr>
              <a:t>Common signals</a:t>
            </a:r>
            <a:endParaRPr lang="en-US" sz="1600" b="1" dirty="0">
              <a:solidFill>
                <a:srgbClr val="FF0000"/>
              </a:solidFill>
              <a:latin typeface="Verdana" pitchFamily="34" charset="0"/>
              <a:ea typeface="Verdana" pitchFamily="34" charset="0"/>
              <a:cs typeface="Verdana" pitchFamily="34" charset="0"/>
            </a:endParaRPr>
          </a:p>
        </p:txBody>
      </p:sp>
      <p:sp>
        <p:nvSpPr>
          <p:cNvPr id="47" name="Rectangle 46"/>
          <p:cNvSpPr/>
          <p:nvPr/>
        </p:nvSpPr>
        <p:spPr>
          <a:xfrm>
            <a:off x="4643438" y="800993"/>
            <a:ext cx="4343400" cy="1723549"/>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RESET (Input)</a:t>
            </a:r>
            <a:r>
              <a:rPr lang="en-US" dirty="0">
                <a:latin typeface="Verdana" pitchFamily="34" charset="0"/>
                <a:ea typeface="Verdana" pitchFamily="34" charset="0"/>
                <a:cs typeface="Verdana" pitchFamily="34" charset="0"/>
              </a:rPr>
              <a:t>  </a:t>
            </a:r>
            <a:endParaRPr lang="en-US" dirty="0" smtClean="0">
              <a:latin typeface="Verdana" pitchFamily="34" charset="0"/>
              <a:ea typeface="Verdana" pitchFamily="34" charset="0"/>
              <a:cs typeface="Verdana" pitchFamily="34" charset="0"/>
            </a:endParaRPr>
          </a:p>
          <a:p>
            <a:endParaRPr lang="en-US"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Causes </a:t>
            </a:r>
            <a:r>
              <a:rPr lang="en-US" sz="1400" b="1" dirty="0">
                <a:latin typeface="Verdana" pitchFamily="34" charset="0"/>
                <a:ea typeface="Verdana" pitchFamily="34" charset="0"/>
                <a:cs typeface="Verdana" pitchFamily="34" charset="0"/>
              </a:rPr>
              <a:t>the processor to immediately terminate its present  activity. </a:t>
            </a:r>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The </a:t>
            </a:r>
            <a:r>
              <a:rPr lang="en-US" sz="1400" b="1" dirty="0">
                <a:latin typeface="Verdana" pitchFamily="34" charset="0"/>
                <a:ea typeface="Verdana" pitchFamily="34" charset="0"/>
                <a:cs typeface="Verdana" pitchFamily="34" charset="0"/>
              </a:rPr>
              <a:t>signal must be active HIGH for at least four clock cycles.</a:t>
            </a:r>
          </a:p>
        </p:txBody>
      </p:sp>
      <p:sp>
        <p:nvSpPr>
          <p:cNvPr id="10" name="Rectangle 9"/>
          <p:cNvSpPr/>
          <p:nvPr/>
        </p:nvSpPr>
        <p:spPr>
          <a:xfrm>
            <a:off x="4648200" y="2606695"/>
            <a:ext cx="4343400" cy="1508105"/>
          </a:xfrm>
          <a:prstGeom prst="rect">
            <a:avLst/>
          </a:prstGeom>
          <a:ln w="28575">
            <a:solidFill>
              <a:schemeClr val="accent6">
                <a:lumMod val="75000"/>
              </a:schemeClr>
            </a:solidFill>
          </a:ln>
        </p:spPr>
        <p:txBody>
          <a:bodyPr wrap="square">
            <a:spAutoFit/>
          </a:bodyPr>
          <a:lstStyle/>
          <a:p>
            <a:pPr algn="ctr"/>
            <a:r>
              <a:rPr lang="en-US" b="1" dirty="0" smtClean="0">
                <a:latin typeface="Verdana" pitchFamily="34" charset="0"/>
                <a:ea typeface="Verdana" pitchFamily="34" charset="0"/>
                <a:cs typeface="Verdana" pitchFamily="34" charset="0"/>
              </a:rPr>
              <a:t>CLK</a:t>
            </a:r>
          </a:p>
          <a:p>
            <a:pPr algn="ctr"/>
            <a:endParaRPr lang="en-US"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The </a:t>
            </a:r>
            <a:r>
              <a:rPr lang="en-US" sz="1400" b="1" dirty="0">
                <a:latin typeface="Verdana" pitchFamily="34" charset="0"/>
                <a:ea typeface="Verdana" pitchFamily="34" charset="0"/>
                <a:cs typeface="Verdana" pitchFamily="34" charset="0"/>
              </a:rPr>
              <a:t>clock input provides the basic timing for processor operation and bus control activity. Its an asymmetric square wave with 33% duty cycle.</a:t>
            </a:r>
          </a:p>
        </p:txBody>
      </p:sp>
      <p:sp>
        <p:nvSpPr>
          <p:cNvPr id="11" name="Rectangle 10"/>
          <p:cNvSpPr/>
          <p:nvPr/>
        </p:nvSpPr>
        <p:spPr>
          <a:xfrm>
            <a:off x="4648200" y="4191000"/>
            <a:ext cx="4343400" cy="2585323"/>
          </a:xfrm>
          <a:prstGeom prst="rect">
            <a:avLst/>
          </a:prstGeom>
          <a:ln w="28575">
            <a:solidFill>
              <a:schemeClr val="accent6">
                <a:lumMod val="75000"/>
              </a:schemeClr>
            </a:solidFill>
          </a:ln>
        </p:spPr>
        <p:txBody>
          <a:bodyPr wrap="square">
            <a:spAutoFit/>
          </a:bodyPr>
          <a:lstStyle/>
          <a:p>
            <a:pPr algn="ctr"/>
            <a:r>
              <a:rPr lang="en-US" b="1" dirty="0" smtClean="0">
                <a:latin typeface="Verdana" pitchFamily="34" charset="0"/>
                <a:ea typeface="Verdana" pitchFamily="34" charset="0"/>
                <a:cs typeface="Verdana" pitchFamily="34" charset="0"/>
              </a:rPr>
              <a:t>INTR Interrupt </a:t>
            </a:r>
            <a:r>
              <a:rPr lang="en-US" b="1" dirty="0">
                <a:latin typeface="Verdana" pitchFamily="34" charset="0"/>
                <a:ea typeface="Verdana" pitchFamily="34" charset="0"/>
                <a:cs typeface="Verdana" pitchFamily="34" charset="0"/>
              </a:rPr>
              <a:t>Request  </a:t>
            </a:r>
          </a:p>
          <a:p>
            <a:endParaRPr lang="en-US" b="1" dirty="0" smtClean="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This </a:t>
            </a:r>
            <a:r>
              <a:rPr lang="en-US" sz="1400" b="1" dirty="0">
                <a:latin typeface="Verdana" pitchFamily="34" charset="0"/>
                <a:ea typeface="Verdana" pitchFamily="34" charset="0"/>
                <a:cs typeface="Verdana" pitchFamily="34" charset="0"/>
              </a:rPr>
              <a:t>is a triggered input. This is sampled during the last clock cycles of each instruction to determine the availability of the request. If any interrupt request is pending, the processor enters the interrupt acknowledge cycle. </a:t>
            </a:r>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This </a:t>
            </a:r>
            <a:r>
              <a:rPr lang="en-US" sz="1400" b="1" dirty="0">
                <a:latin typeface="Verdana" pitchFamily="34" charset="0"/>
                <a:ea typeface="Verdana" pitchFamily="34" charset="0"/>
                <a:cs typeface="Verdana" pitchFamily="34" charset="0"/>
              </a:rPr>
              <a:t>signal is active high and internally synchronized.</a:t>
            </a:r>
          </a:p>
        </p:txBody>
      </p:sp>
    </p:spTree>
    <p:extLst>
      <p:ext uri="{BB962C8B-B14F-4D97-AF65-F5344CB8AC3E}">
        <p14:creationId xmlns:p14="http://schemas.microsoft.com/office/powerpoint/2010/main" val="3176544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1.38889E-6 -3.43201E-6 L 1.38889E-6 0.03677 " pathEditMode="relative" rAng="0" ptsTypes="AA">
                                      <p:cBhvr>
                                        <p:cTn id="6" dur="500" fill="hold"/>
                                        <p:tgtEl>
                                          <p:spTgt spid="48"/>
                                        </p:tgtEl>
                                        <p:attrNameLst>
                                          <p:attrName>ppt_x</p:attrName>
                                          <p:attrName>ppt_y</p:attrName>
                                        </p:attrNameLst>
                                      </p:cBhvr>
                                      <p:rCtr x="0" y="1827"/>
                                    </p:animMotion>
                                  </p:childTnLst>
                                </p:cTn>
                              </p:par>
                              <p:par>
                                <p:cTn id="7" presetID="10"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animEffect transition="in" filter="fade">
                                      <p:cBhvr>
                                        <p:cTn id="9" dur="500"/>
                                        <p:tgtEl>
                                          <p:spTgt spid="47"/>
                                        </p:tgtEl>
                                      </p:cBhvr>
                                    </p:animEffect>
                                  </p:childTnLst>
                                </p:cTn>
                              </p:par>
                            </p:childTnLst>
                          </p:cTn>
                        </p:par>
                      </p:childTnLst>
                    </p:cTn>
                  </p:par>
                  <p:par>
                    <p:cTn id="10" fill="hold">
                      <p:stCondLst>
                        <p:cond delay="indefinite"/>
                      </p:stCondLst>
                      <p:childTnLst>
                        <p:par>
                          <p:cTn id="11" fill="hold">
                            <p:stCondLst>
                              <p:cond delay="0"/>
                            </p:stCondLst>
                            <p:childTnLst>
                              <p:par>
                                <p:cTn id="12" presetID="35" presetClass="path" presetSubtype="0" accel="50000" decel="50000" fill="hold" grpId="1" nodeType="clickEffect">
                                  <p:stCondLst>
                                    <p:cond delay="0"/>
                                  </p:stCondLst>
                                  <p:childTnLst>
                                    <p:animMotion origin="layout" path="M 1.38889E-6 0.03677 L -0.25 0.03677 " pathEditMode="relative" rAng="0" ptsTypes="AA">
                                      <p:cBhvr>
                                        <p:cTn id="13" dur="500" fill="hold"/>
                                        <p:tgtEl>
                                          <p:spTgt spid="48"/>
                                        </p:tgtEl>
                                        <p:attrNameLst>
                                          <p:attrName>ppt_x</p:attrName>
                                          <p:attrName>ppt_y</p:attrName>
                                        </p:attrNameLst>
                                      </p:cBhvr>
                                      <p:rCtr x="-12500" y="0"/>
                                    </p:animMotion>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64" presetClass="path" presetSubtype="0" accel="50000" decel="50000" fill="hold" grpId="2" nodeType="withEffect">
                                  <p:stCondLst>
                                    <p:cond delay="0"/>
                                  </p:stCondLst>
                                  <p:childTnLst>
                                    <p:animMotion origin="layout" path="M -0.25 0.03677 L -0.25 0.00347 " pathEditMode="relative" rAng="0" ptsTypes="AA">
                                      <p:cBhvr>
                                        <p:cTn id="20" dur="500" fill="hold"/>
                                        <p:tgtEl>
                                          <p:spTgt spid="48"/>
                                        </p:tgtEl>
                                        <p:attrNameLst>
                                          <p:attrName>ppt_x</p:attrName>
                                          <p:attrName>ppt_y</p:attrName>
                                        </p:attrNameLst>
                                      </p:cBhvr>
                                      <p:rCtr x="0" y="-1665"/>
                                    </p:animMotion>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64" presetClass="path" presetSubtype="0" accel="50000" decel="50000" fill="hold" grpId="3" nodeType="withEffect">
                                  <p:stCondLst>
                                    <p:cond delay="0"/>
                                  </p:stCondLst>
                                  <p:childTnLst>
                                    <p:animMotion origin="layout" path="M -0.25 0.00347 L -0.25 -0.02983 " pathEditMode="relative" rAng="0" ptsTypes="AA">
                                      <p:cBhvr>
                                        <p:cTn id="27" dur="500" fill="hold"/>
                                        <p:tgtEl>
                                          <p:spTgt spid="48"/>
                                        </p:tgtEl>
                                        <p:attrNameLst>
                                          <p:attrName>ppt_x</p:attrName>
                                          <p:attrName>ppt_y</p:attrName>
                                        </p:attrNameLst>
                                      </p:cBhvr>
                                      <p:rCtr x="0" y="-1665"/>
                                    </p:animMotion>
                                  </p:childTnLst>
                                </p:cTn>
                              </p:par>
                            </p:childTnLst>
                          </p:cTn>
                        </p:par>
                      </p:childTnLst>
                    </p:cTn>
                  </p:par>
                  <p:par>
                    <p:cTn id="28" fill="hold">
                      <p:stCondLst>
                        <p:cond delay="indefinite"/>
                      </p:stCondLst>
                      <p:childTnLst>
                        <p:par>
                          <p:cTn id="29" fill="hold">
                            <p:stCondLst>
                              <p:cond delay="0"/>
                            </p:stCondLst>
                            <p:childTnLst>
                              <p:par>
                                <p:cTn id="30" presetID="64" presetClass="path" presetSubtype="0" accel="50000" decel="50000" fill="hold" grpId="4" nodeType="clickEffect">
                                  <p:stCondLst>
                                    <p:cond delay="0"/>
                                  </p:stCondLst>
                                  <p:childTnLst>
                                    <p:animMotion origin="layout" path="M -0.25 -0.02983 L -0.25 -0.06313 " pathEditMode="relative" rAng="0" ptsTypes="AA">
                                      <p:cBhvr>
                                        <p:cTn id="31" dur="500" fill="hold"/>
                                        <p:tgtEl>
                                          <p:spTgt spid="48"/>
                                        </p:tgtEl>
                                        <p:attrNameLst>
                                          <p:attrName>ppt_x</p:attrName>
                                          <p:attrName>ppt_y</p:attrName>
                                        </p:attrNameLst>
                                      </p:cBhvr>
                                      <p:rCtr x="0" y="-1665"/>
                                    </p:animMotion>
                                  </p:childTnLst>
                                </p:cTn>
                              </p:par>
                            </p:childTnLst>
                          </p:cTn>
                        </p:par>
                      </p:childTnLst>
                    </p:cTn>
                  </p:par>
                  <p:par>
                    <p:cTn id="32" fill="hold">
                      <p:stCondLst>
                        <p:cond delay="indefinite"/>
                      </p:stCondLst>
                      <p:childTnLst>
                        <p:par>
                          <p:cTn id="33" fill="hold">
                            <p:stCondLst>
                              <p:cond delay="0"/>
                            </p:stCondLst>
                            <p:childTnLst>
                              <p:par>
                                <p:cTn id="34" presetID="56" presetClass="path" presetSubtype="0" accel="50000" decel="50000" fill="hold" grpId="5" nodeType="clickEffect">
                                  <p:stCondLst>
                                    <p:cond delay="0"/>
                                  </p:stCondLst>
                                  <p:childTnLst>
                                    <p:animMotion origin="layout" path="M -0.25 -0.06521 L -0.00747 -0.57585 " pathEditMode="relative" rAng="0" ptsTypes="AA">
                                      <p:cBhvr>
                                        <p:cTn id="35" dur="500" fill="hold"/>
                                        <p:tgtEl>
                                          <p:spTgt spid="48"/>
                                        </p:tgtEl>
                                        <p:attrNameLst>
                                          <p:attrName>ppt_x</p:attrName>
                                          <p:attrName>ppt_y</p:attrName>
                                        </p:attrNameLst>
                                      </p:cBhvr>
                                      <p:rCtr x="12118" y="-2553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8" grpId="2" animBg="1"/>
      <p:bldP spid="48" grpId="3" animBg="1"/>
      <p:bldP spid="48" grpId="4" animBg="1"/>
      <p:bldP spid="48" grpId="5" animBg="1"/>
      <p:bldP spid="47"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5E6815B-E59C-4D87-B1F6-ECBDD22AF1DC}" type="slidenum">
              <a:rPr lang="en-US" smtClean="0"/>
              <a:pPr/>
              <a:t>8</a:t>
            </a:fld>
            <a:endParaRPr lang="en-US" dirty="0"/>
          </a:p>
        </p:txBody>
      </p:sp>
      <p:sp>
        <p:nvSpPr>
          <p:cNvPr id="3" name="Rectangle 2"/>
          <p:cNvSpPr/>
          <p:nvPr/>
        </p:nvSpPr>
        <p:spPr>
          <a:xfrm>
            <a:off x="571472" y="800993"/>
            <a:ext cx="3929090" cy="861774"/>
          </a:xfrm>
          <a:prstGeom prst="rect">
            <a:avLst/>
          </a:prstGeom>
          <a:ln w="28575">
            <a:solidFill>
              <a:schemeClr val="accent6">
                <a:lumMod val="75000"/>
              </a:schemeClr>
            </a:solidFill>
          </a:ln>
        </p:spPr>
        <p:txBody>
          <a:bodyPr wrap="square">
            <a:spAutoFit/>
          </a:bodyPr>
          <a:lstStyle/>
          <a:p>
            <a:pPr algn="ctr"/>
            <a:r>
              <a:rPr lang="en-US" b="1" dirty="0" smtClean="0">
                <a:latin typeface="Verdana" pitchFamily="34" charset="0"/>
                <a:ea typeface="Verdana" pitchFamily="34" charset="0"/>
                <a:cs typeface="Verdana" pitchFamily="34" charset="0"/>
              </a:rPr>
              <a:t>NMI</a:t>
            </a:r>
            <a:r>
              <a:rPr lang="en-US" dirty="0" smtClean="0">
                <a:latin typeface="Verdana" pitchFamily="34" charset="0"/>
                <a:ea typeface="Verdana" pitchFamily="34" charset="0"/>
                <a:cs typeface="Verdana" pitchFamily="34" charset="0"/>
              </a:rPr>
              <a:t>  </a:t>
            </a:r>
          </a:p>
          <a:p>
            <a:endParaRPr lang="en-US"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Non -</a:t>
            </a:r>
            <a:r>
              <a:rPr lang="en-US" sz="1400" b="1" dirty="0" err="1" smtClean="0">
                <a:latin typeface="Verdana" pitchFamily="34" charset="0"/>
                <a:ea typeface="Verdana" pitchFamily="34" charset="0"/>
                <a:cs typeface="Verdana" pitchFamily="34" charset="0"/>
              </a:rPr>
              <a:t>Maskable</a:t>
            </a:r>
            <a:r>
              <a:rPr lang="en-US" sz="1400" b="1" dirty="0" smtClean="0">
                <a:latin typeface="Verdana" pitchFamily="34" charset="0"/>
                <a:ea typeface="Verdana" pitchFamily="34" charset="0"/>
                <a:cs typeface="Verdana" pitchFamily="34" charset="0"/>
              </a:rPr>
              <a:t> Interrupt Request </a:t>
            </a:r>
          </a:p>
        </p:txBody>
      </p:sp>
    </p:spTree>
    <p:extLst>
      <p:ext uri="{BB962C8B-B14F-4D97-AF65-F5344CB8AC3E}">
        <p14:creationId xmlns:p14="http://schemas.microsoft.com/office/powerpoint/2010/main" val="364650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114800" y="990600"/>
            <a:ext cx="4572000" cy="881877"/>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Pins and Signals</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l="1" r="46893"/>
          <a:stretch/>
        </p:blipFill>
        <p:spPr bwMode="auto">
          <a:xfrm>
            <a:off x="33837" y="1868506"/>
            <a:ext cx="3014163" cy="4151293"/>
          </a:xfrm>
          <a:prstGeom prst="rect">
            <a:avLst/>
          </a:prstGeom>
          <a:noFill/>
          <a:extLst>
            <a:ext uri="{909E8E84-426E-40DD-AFC4-6F175D3DCCD1}">
              <a14:hiddenFill xmlns:a14="http://schemas.microsoft.com/office/drawing/2010/main">
                <a:solidFill>
                  <a:srgbClr val="FFFFFF"/>
                </a:solidFill>
              </a14:hiddenFill>
            </a:ext>
          </a:extLst>
        </p:spPr>
      </p:pic>
      <p:sp>
        <p:nvSpPr>
          <p:cNvPr id="48" name="Slide Number Placeholder 47"/>
          <p:cNvSpPr>
            <a:spLocks noGrp="1"/>
          </p:cNvSpPr>
          <p:nvPr>
            <p:ph type="sldNum" sz="quarter" idx="12"/>
          </p:nvPr>
        </p:nvSpPr>
        <p:spPr/>
        <p:txBody>
          <a:bodyPr/>
          <a:lstStyle/>
          <a:p>
            <a:fld id="{85E6815B-E59C-4D87-B1F6-ECBDD22AF1DC}" type="slidenum">
              <a:rPr lang="en-US" smtClean="0"/>
              <a:pPr/>
              <a:t>9</a:t>
            </a:fld>
            <a:endParaRPr lang="en-US" dirty="0"/>
          </a:p>
        </p:txBody>
      </p:sp>
      <p:sp>
        <p:nvSpPr>
          <p:cNvPr id="4" name="Rectangle 3"/>
          <p:cNvSpPr/>
          <p:nvPr/>
        </p:nvSpPr>
        <p:spPr>
          <a:xfrm>
            <a:off x="0" y="1752600"/>
            <a:ext cx="3200400" cy="1586552"/>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003507" y="138752"/>
            <a:ext cx="2249334" cy="400110"/>
          </a:xfrm>
          <a:prstGeom prst="rect">
            <a:avLst/>
          </a:prstGeom>
          <a:noFill/>
        </p:spPr>
        <p:txBody>
          <a:bodyPr wrap="none" rtlCol="0">
            <a:spAutoFit/>
          </a:bodyPr>
          <a:lstStyle/>
          <a:p>
            <a:r>
              <a:rPr lang="en-US" sz="2000" b="1" dirty="0" smtClean="0">
                <a:latin typeface="Verdana" pitchFamily="34" charset="0"/>
                <a:ea typeface="Verdana" pitchFamily="34" charset="0"/>
                <a:cs typeface="Verdana" pitchFamily="34" charset="0"/>
              </a:rPr>
              <a:t>Min/ Max Pins</a:t>
            </a:r>
            <a:endParaRPr lang="en-US" sz="2000" b="1" dirty="0">
              <a:latin typeface="Verdana" pitchFamily="34" charset="0"/>
              <a:ea typeface="Verdana" pitchFamily="34" charset="0"/>
              <a:cs typeface="Verdana" pitchFamily="34" charset="0"/>
            </a:endParaRPr>
          </a:p>
        </p:txBody>
      </p:sp>
      <p:sp>
        <p:nvSpPr>
          <p:cNvPr id="6" name="Rectangle 5"/>
          <p:cNvSpPr/>
          <p:nvPr/>
        </p:nvSpPr>
        <p:spPr>
          <a:xfrm>
            <a:off x="4114800" y="1066800"/>
            <a:ext cx="4572000" cy="5047536"/>
          </a:xfrm>
          <a:prstGeom prst="rect">
            <a:avLst/>
          </a:prstGeom>
        </p:spPr>
        <p:txBody>
          <a:bodyPr>
            <a:spAutoFit/>
          </a:bodyPr>
          <a:lstStyle/>
          <a:p>
            <a:pPr algn="just"/>
            <a:r>
              <a:rPr lang="en-US" sz="1400" b="1" dirty="0">
                <a:latin typeface="Verdana" pitchFamily="34" charset="0"/>
                <a:ea typeface="Verdana" pitchFamily="34" charset="0"/>
                <a:cs typeface="Verdana" pitchFamily="34" charset="0"/>
              </a:rPr>
              <a:t>The 8086 microprocessor can work in two  modes of  operations :</a:t>
            </a:r>
            <a:r>
              <a:rPr lang="en-US" sz="1400" b="1" dirty="0" smtClean="0">
                <a:latin typeface="Verdana" pitchFamily="34" charset="0"/>
                <a:ea typeface="Verdana" pitchFamily="34" charset="0"/>
                <a:cs typeface="Verdana" pitchFamily="34" charset="0"/>
              </a:rPr>
              <a:t> </a:t>
            </a:r>
            <a:r>
              <a:rPr lang="en-US" sz="1400" b="1" dirty="0" smtClean="0">
                <a:solidFill>
                  <a:srgbClr val="FF0066"/>
                </a:solidFill>
                <a:latin typeface="Verdana" pitchFamily="34" charset="0"/>
                <a:ea typeface="Verdana" pitchFamily="34" charset="0"/>
                <a:cs typeface="Verdana" pitchFamily="34" charset="0"/>
              </a:rPr>
              <a:t>Minimum </a:t>
            </a:r>
            <a:r>
              <a:rPr lang="en-US" sz="1400" b="1" dirty="0">
                <a:solidFill>
                  <a:srgbClr val="FF0066"/>
                </a:solidFill>
                <a:latin typeface="Verdana" pitchFamily="34" charset="0"/>
                <a:ea typeface="Verdana" pitchFamily="34" charset="0"/>
                <a:cs typeface="Verdana" pitchFamily="34" charset="0"/>
              </a:rPr>
              <a:t>mode </a:t>
            </a:r>
            <a:r>
              <a:rPr lang="en-US" sz="1400" b="1" dirty="0">
                <a:latin typeface="Verdana" pitchFamily="34" charset="0"/>
                <a:ea typeface="Verdana" pitchFamily="34" charset="0"/>
                <a:cs typeface="Verdana" pitchFamily="34" charset="0"/>
              </a:rPr>
              <a:t>and </a:t>
            </a:r>
            <a:r>
              <a:rPr lang="en-US" sz="1400" b="1" dirty="0">
                <a:solidFill>
                  <a:srgbClr val="FF0066"/>
                </a:solidFill>
                <a:latin typeface="Verdana" pitchFamily="34" charset="0"/>
                <a:ea typeface="Verdana" pitchFamily="34" charset="0"/>
                <a:cs typeface="Verdana" pitchFamily="34" charset="0"/>
              </a:rPr>
              <a:t>Maximum mode</a:t>
            </a:r>
            <a:r>
              <a:rPr lang="en-US" sz="1400" b="1" dirty="0">
                <a:latin typeface="Verdana" pitchFamily="34" charset="0"/>
                <a:ea typeface="Verdana" pitchFamily="34" charset="0"/>
                <a:cs typeface="Verdana" pitchFamily="34" charset="0"/>
              </a:rPr>
              <a:t>. </a:t>
            </a:r>
            <a:endParaRPr lang="en-US" sz="1400" b="1" dirty="0" smtClean="0">
              <a:latin typeface="Verdana" pitchFamily="34" charset="0"/>
              <a:ea typeface="Verdana" pitchFamily="34" charset="0"/>
              <a:cs typeface="Verdana" pitchFamily="34" charset="0"/>
            </a:endParaRPr>
          </a:p>
          <a:p>
            <a:pPr algn="just"/>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In </a:t>
            </a:r>
            <a:r>
              <a:rPr lang="en-US" sz="1400" b="1" dirty="0">
                <a:latin typeface="Verdana" pitchFamily="34" charset="0"/>
                <a:ea typeface="Verdana" pitchFamily="34" charset="0"/>
                <a:cs typeface="Verdana" pitchFamily="34" charset="0"/>
              </a:rPr>
              <a:t>the </a:t>
            </a:r>
            <a:r>
              <a:rPr lang="en-US" sz="1400" b="1" u="sng" dirty="0">
                <a:latin typeface="Verdana" pitchFamily="34" charset="0"/>
                <a:ea typeface="Verdana" pitchFamily="34" charset="0"/>
                <a:cs typeface="Verdana" pitchFamily="34" charset="0"/>
              </a:rPr>
              <a:t>minimum mode</a:t>
            </a:r>
            <a:r>
              <a:rPr lang="en-US" sz="1400" b="1" dirty="0">
                <a:latin typeface="Verdana" pitchFamily="34" charset="0"/>
                <a:ea typeface="Verdana" pitchFamily="34" charset="0"/>
                <a:cs typeface="Verdana" pitchFamily="34" charset="0"/>
              </a:rPr>
              <a:t> of operation the microprocessor </a:t>
            </a:r>
            <a:r>
              <a:rPr lang="en-US" sz="1400" b="1" u="sng" dirty="0">
                <a:latin typeface="Verdana" pitchFamily="34" charset="0"/>
                <a:ea typeface="Verdana" pitchFamily="34" charset="0"/>
                <a:cs typeface="Verdana" pitchFamily="34" charset="0"/>
              </a:rPr>
              <a:t>do not </a:t>
            </a:r>
            <a:r>
              <a:rPr lang="en-US" sz="1400" b="1" dirty="0">
                <a:latin typeface="Verdana" pitchFamily="34" charset="0"/>
                <a:ea typeface="Verdana" pitchFamily="34" charset="0"/>
                <a:cs typeface="Verdana" pitchFamily="34" charset="0"/>
              </a:rPr>
              <a:t>associate with any co-processors   and can not be used for multiprocessor   systems. </a:t>
            </a:r>
            <a:endParaRPr lang="en-US" sz="1400" b="1" dirty="0" smtClean="0">
              <a:latin typeface="Verdana" pitchFamily="34" charset="0"/>
              <a:ea typeface="Verdana" pitchFamily="34" charset="0"/>
              <a:cs typeface="Verdana" pitchFamily="34" charset="0"/>
            </a:endParaRPr>
          </a:p>
          <a:p>
            <a:pPr algn="just"/>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In </a:t>
            </a:r>
            <a:r>
              <a:rPr lang="en-US" sz="1400" b="1" dirty="0">
                <a:latin typeface="Verdana" pitchFamily="34" charset="0"/>
                <a:ea typeface="Verdana" pitchFamily="34" charset="0"/>
                <a:cs typeface="Verdana" pitchFamily="34" charset="0"/>
              </a:rPr>
              <a:t>the </a:t>
            </a:r>
            <a:r>
              <a:rPr lang="en-US" sz="1400" b="1" u="sng" dirty="0">
                <a:latin typeface="Verdana" pitchFamily="34" charset="0"/>
                <a:ea typeface="Verdana" pitchFamily="34" charset="0"/>
                <a:cs typeface="Verdana" pitchFamily="34" charset="0"/>
              </a:rPr>
              <a:t>maximum mode</a:t>
            </a:r>
            <a:r>
              <a:rPr lang="en-US" sz="1400" b="1" dirty="0">
                <a:latin typeface="Verdana" pitchFamily="34" charset="0"/>
                <a:ea typeface="Verdana" pitchFamily="34" charset="0"/>
                <a:cs typeface="Verdana" pitchFamily="34" charset="0"/>
              </a:rPr>
              <a:t> the 8086 </a:t>
            </a:r>
            <a:r>
              <a:rPr lang="en-US" sz="1400" b="1" u="sng" dirty="0">
                <a:latin typeface="Verdana" pitchFamily="34" charset="0"/>
                <a:ea typeface="Verdana" pitchFamily="34" charset="0"/>
                <a:cs typeface="Verdana" pitchFamily="34" charset="0"/>
              </a:rPr>
              <a:t>can work</a:t>
            </a:r>
            <a:r>
              <a:rPr lang="en-US" sz="1400" b="1" dirty="0">
                <a:latin typeface="Verdana" pitchFamily="34" charset="0"/>
                <a:ea typeface="Verdana" pitchFamily="34" charset="0"/>
                <a:cs typeface="Verdana" pitchFamily="34" charset="0"/>
              </a:rPr>
              <a:t> in multi-processor or co-processor   configuration. </a:t>
            </a:r>
            <a:endParaRPr lang="en-US" sz="1400" b="1" dirty="0" smtClean="0">
              <a:latin typeface="Verdana" pitchFamily="34" charset="0"/>
              <a:ea typeface="Verdana" pitchFamily="34" charset="0"/>
              <a:cs typeface="Verdana" pitchFamily="34" charset="0"/>
            </a:endParaRPr>
          </a:p>
          <a:p>
            <a:pPr algn="just"/>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Minimum  </a:t>
            </a:r>
            <a:r>
              <a:rPr lang="en-US" sz="1400" b="1" dirty="0">
                <a:latin typeface="Verdana" pitchFamily="34" charset="0"/>
                <a:ea typeface="Verdana" pitchFamily="34" charset="0"/>
                <a:cs typeface="Verdana" pitchFamily="34" charset="0"/>
              </a:rPr>
              <a:t>or maximum </a:t>
            </a:r>
            <a:r>
              <a:rPr lang="en-US" sz="1400" b="1" dirty="0" smtClean="0">
                <a:latin typeface="Verdana" pitchFamily="34" charset="0"/>
                <a:ea typeface="Verdana" pitchFamily="34" charset="0"/>
                <a:cs typeface="Verdana" pitchFamily="34" charset="0"/>
              </a:rPr>
              <a:t>mode operations  </a:t>
            </a:r>
            <a:r>
              <a:rPr lang="en-US" sz="1400" b="1" dirty="0">
                <a:latin typeface="Verdana" pitchFamily="34" charset="0"/>
                <a:ea typeface="Verdana" pitchFamily="34" charset="0"/>
                <a:cs typeface="Verdana" pitchFamily="34" charset="0"/>
              </a:rPr>
              <a:t>are decided by the pin MN/ MX(Active low). </a:t>
            </a:r>
            <a:endParaRPr lang="en-US" sz="1400" b="1" dirty="0" smtClean="0">
              <a:latin typeface="Verdana" pitchFamily="34" charset="0"/>
              <a:ea typeface="Verdana" pitchFamily="34" charset="0"/>
              <a:cs typeface="Verdana" pitchFamily="34" charset="0"/>
            </a:endParaRPr>
          </a:p>
          <a:p>
            <a:pPr algn="just"/>
            <a:endParaRPr lang="en-US" sz="1400" b="1" dirty="0" smtClean="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When </a:t>
            </a:r>
            <a:r>
              <a:rPr lang="en-US" sz="1400" b="1" dirty="0">
                <a:latin typeface="Verdana" pitchFamily="34" charset="0"/>
                <a:ea typeface="Verdana" pitchFamily="34" charset="0"/>
                <a:cs typeface="Verdana" pitchFamily="34" charset="0"/>
              </a:rPr>
              <a:t>this pin is </a:t>
            </a:r>
            <a:r>
              <a:rPr lang="en-US" sz="1400" b="1" u="sng" dirty="0">
                <a:latin typeface="Verdana" pitchFamily="34" charset="0"/>
                <a:ea typeface="Verdana" pitchFamily="34" charset="0"/>
                <a:cs typeface="Verdana" pitchFamily="34" charset="0"/>
              </a:rPr>
              <a:t>high</a:t>
            </a:r>
            <a:r>
              <a:rPr lang="en-US" sz="1400" b="1" dirty="0">
                <a:latin typeface="Verdana" pitchFamily="34" charset="0"/>
                <a:ea typeface="Verdana" pitchFamily="34" charset="0"/>
                <a:cs typeface="Verdana" pitchFamily="34" charset="0"/>
              </a:rPr>
              <a:t> 8086 operates in </a:t>
            </a:r>
            <a:r>
              <a:rPr lang="en-US" sz="1400" b="1" u="sng" dirty="0">
                <a:latin typeface="Verdana" pitchFamily="34" charset="0"/>
                <a:ea typeface="Verdana" pitchFamily="34" charset="0"/>
                <a:cs typeface="Verdana" pitchFamily="34" charset="0"/>
              </a:rPr>
              <a:t>minimum mode</a:t>
            </a:r>
            <a:r>
              <a:rPr lang="en-US" sz="1400" b="1" dirty="0">
                <a:latin typeface="Verdana" pitchFamily="34" charset="0"/>
                <a:ea typeface="Verdana" pitchFamily="34" charset="0"/>
                <a:cs typeface="Verdana" pitchFamily="34" charset="0"/>
              </a:rPr>
              <a:t>  otherwise it operates in </a:t>
            </a:r>
            <a:r>
              <a:rPr lang="en-US" sz="1400" b="1" dirty="0" smtClean="0">
                <a:latin typeface="Verdana" pitchFamily="34" charset="0"/>
                <a:ea typeface="Verdana" pitchFamily="34" charset="0"/>
                <a:cs typeface="Verdana" pitchFamily="34" charset="0"/>
              </a:rPr>
              <a:t>Maximum </a:t>
            </a:r>
            <a:r>
              <a:rPr lang="en-US" sz="1400" b="1" dirty="0">
                <a:latin typeface="Verdana" pitchFamily="34" charset="0"/>
                <a:ea typeface="Verdana" pitchFamily="34" charset="0"/>
                <a:cs typeface="Verdana" pitchFamily="34" charset="0"/>
              </a:rPr>
              <a:t>mode.</a:t>
            </a:r>
          </a:p>
        </p:txBody>
      </p:sp>
      <p:sp>
        <p:nvSpPr>
          <p:cNvPr id="21" name="Rectangle 20"/>
          <p:cNvSpPr/>
          <p:nvPr/>
        </p:nvSpPr>
        <p:spPr>
          <a:xfrm>
            <a:off x="1351129" y="3557872"/>
            <a:ext cx="1890215" cy="16228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0" y="3352800"/>
            <a:ext cx="1022294" cy="367352"/>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27068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4"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2" presetClass="path" presetSubtype="0" accel="50000" decel="50000" fill="hold" grpId="0" nodeType="clickEffect">
                                  <p:stCondLst>
                                    <p:cond delay="0"/>
                                  </p:stCondLst>
                                  <p:childTnLst>
                                    <p:animMotion origin="layout" path="M 0 -3.14524E-6 L 0 0.16883 " pathEditMode="relative" rAng="0" ptsTypes="AA">
                                      <p:cBhvr>
                                        <p:cTn id="12" dur="500" fill="hold"/>
                                        <p:tgtEl>
                                          <p:spTgt spid="7"/>
                                        </p:tgtEl>
                                        <p:attrNameLst>
                                          <p:attrName>ppt_x</p:attrName>
                                          <p:attrName>ppt_y</p:attrName>
                                        </p:attrNameLst>
                                      </p:cBhvr>
                                      <p:rCtr x="0" y="8441"/>
                                    </p:animMotion>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1" nodeType="clickEffect">
                                  <p:stCondLst>
                                    <p:cond delay="0"/>
                                  </p:stCondLst>
                                  <p:childTnLst>
                                    <p:animMotion origin="layout" path="M 0 0.16883 L 0 0.34644 " pathEditMode="relative" rAng="0" ptsTypes="AA">
                                      <p:cBhvr>
                                        <p:cTn id="16" dur="500" fill="hold"/>
                                        <p:tgtEl>
                                          <p:spTgt spid="7"/>
                                        </p:tgtEl>
                                        <p:attrNameLst>
                                          <p:attrName>ppt_x</p:attrName>
                                          <p:attrName>ppt_y</p:attrName>
                                        </p:attrNameLst>
                                      </p:cBhvr>
                                      <p:rCtr x="0" y="8881"/>
                                    </p:animMotion>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grpId="2" nodeType="clickEffect">
                                  <p:stCondLst>
                                    <p:cond delay="0"/>
                                  </p:stCondLst>
                                  <p:childTnLst>
                                    <p:animMotion origin="layout" path="M 0 0.34644 L 0 0.47965 " pathEditMode="relative" rAng="0" ptsTypes="AA">
                                      <p:cBhvr>
                                        <p:cTn id="20" dur="500" fill="hold"/>
                                        <p:tgtEl>
                                          <p:spTgt spid="7"/>
                                        </p:tgtEl>
                                        <p:attrNameLst>
                                          <p:attrName>ppt_x</p:attrName>
                                          <p:attrName>ppt_y</p:attrName>
                                        </p:attrNameLst>
                                      </p:cBhvr>
                                      <p:rCtr x="0" y="6660"/>
                                    </p:animMotion>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grpId="3" nodeType="clickEffect">
                                  <p:stCondLst>
                                    <p:cond delay="0"/>
                                  </p:stCondLst>
                                  <p:childTnLst>
                                    <p:animMotion origin="layout" path="M 0 0.47965 L 0 0.62396 " pathEditMode="relative" rAng="0" ptsTypes="AA">
                                      <p:cBhvr>
                                        <p:cTn id="24" dur="500" fill="hold"/>
                                        <p:tgtEl>
                                          <p:spTgt spid="7"/>
                                        </p:tgtEl>
                                        <p:attrNameLst>
                                          <p:attrName>ppt_x</p:attrName>
                                          <p:attrName>ppt_y</p:attrName>
                                        </p:attrNameLst>
                                      </p:cBhvr>
                                      <p:rCtr x="0" y="721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1698172" y="4539344"/>
            <a:ext cx="1295400" cy="242084"/>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Pins and Signals</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l="1" r="46893"/>
          <a:stretch/>
        </p:blipFill>
        <p:spPr bwMode="auto">
          <a:xfrm>
            <a:off x="33837" y="1868506"/>
            <a:ext cx="3014163" cy="415129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5" name="TextBox 44"/>
              <p:cNvSpPr txBox="1"/>
              <p:nvPr/>
            </p:nvSpPr>
            <p:spPr>
              <a:xfrm>
                <a:off x="3429000" y="762000"/>
                <a:ext cx="5334000" cy="1384995"/>
              </a:xfrm>
              <a:prstGeom prst="rect">
                <a:avLst/>
              </a:prstGeom>
              <a:solidFill>
                <a:srgbClr val="FFFFCC"/>
              </a:solidFill>
            </p:spPr>
            <p:txBody>
              <a:bodyPr wrap="square" rtlCol="0">
                <a:spAutoFit/>
              </a:bodyPr>
              <a:lstStyle/>
              <a:p>
                <a:pPr algn="ctr"/>
                <a:r>
                  <a:rPr lang="en-US" sz="1400" b="1" dirty="0">
                    <a:latin typeface="Verdana" pitchFamily="34" charset="0"/>
                    <a:ea typeface="Verdana" pitchFamily="34" charset="0"/>
                    <a:cs typeface="Verdana" pitchFamily="34" charset="0"/>
                  </a:rPr>
                  <a:t>Pins 24 -31</a:t>
                </a:r>
              </a:p>
              <a:p>
                <a:pPr algn="ctr"/>
                <a:endParaRPr lang="en-US" sz="1400" b="1" dirty="0" smtClean="0">
                  <a:latin typeface="Verdana" pitchFamily="34" charset="0"/>
                  <a:ea typeface="Verdana" pitchFamily="34" charset="0"/>
                  <a:cs typeface="Verdana" pitchFamily="34" charset="0"/>
                </a:endParaRPr>
              </a:p>
              <a:p>
                <a:pPr algn="ctr"/>
                <a:r>
                  <a:rPr lang="en-US" sz="1400" b="1" dirty="0" smtClean="0">
                    <a:latin typeface="Verdana" pitchFamily="34" charset="0"/>
                    <a:ea typeface="Verdana" pitchFamily="34" charset="0"/>
                    <a:cs typeface="Verdana" pitchFamily="34" charset="0"/>
                  </a:rPr>
                  <a:t>For minimum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smtClean="0">
                    <a:latin typeface="Verdana" pitchFamily="34" charset="0"/>
                    <a:ea typeface="Verdana" pitchFamily="34" charset="0"/>
                    <a:cs typeface="Verdana" pitchFamily="34" charset="0"/>
                  </a:rPr>
                  <a:t> is tied to VCC (logic high)</a:t>
                </a:r>
              </a:p>
              <a:p>
                <a:pPr algn="ctr"/>
                <a:endParaRPr lang="en-US" sz="1400" b="1" dirty="0">
                  <a:latin typeface="Verdana" pitchFamily="34" charset="0"/>
                  <a:ea typeface="Verdana" pitchFamily="34" charset="0"/>
                  <a:cs typeface="Verdana" pitchFamily="34" charset="0"/>
                </a:endParaRPr>
              </a:p>
              <a:p>
                <a:pPr algn="ctr"/>
                <a:r>
                  <a:rPr lang="en-US" sz="1400" b="1" dirty="0" smtClean="0">
                    <a:latin typeface="Verdana" pitchFamily="34" charset="0"/>
                    <a:ea typeface="Verdana" pitchFamily="34" charset="0"/>
                    <a:cs typeface="Verdana" pitchFamily="34" charset="0"/>
                  </a:rPr>
                  <a:t>8086 itself generates all the bus control signals</a:t>
                </a:r>
                <a:endParaRPr lang="en-US" sz="1400" b="1" dirty="0">
                  <a:latin typeface="Verdana" pitchFamily="34" charset="0"/>
                  <a:ea typeface="Verdana" pitchFamily="34" charset="0"/>
                  <a:cs typeface="Verdana" pitchFamily="34" charset="0"/>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3429000" y="762000"/>
                <a:ext cx="5334000" cy="1384995"/>
              </a:xfrm>
              <a:prstGeom prst="rect">
                <a:avLst/>
              </a:prstGeom>
              <a:blipFill rotWithShape="1">
                <a:blip r:embed="rId4"/>
                <a:stretch>
                  <a:fillRect t="-441" b="-3524"/>
                </a:stretch>
              </a:blipFill>
            </p:spPr>
            <p:txBody>
              <a:bodyPr/>
              <a:lstStyle/>
              <a:p>
                <a:r>
                  <a:rPr lang="en-US">
                    <a:noFill/>
                  </a:rPr>
                  <a:t> </a:t>
                </a:r>
              </a:p>
            </p:txBody>
          </p:sp>
        </mc:Fallback>
      </mc:AlternateContent>
      <p:graphicFrame>
        <p:nvGraphicFramePr>
          <p:cNvPr id="47" name="Table 46"/>
          <p:cNvGraphicFramePr>
            <a:graphicFrameLocks noGrp="1"/>
          </p:cNvGraphicFramePr>
          <p:nvPr>
            <p:extLst>
              <p:ext uri="{D42A27DB-BD31-4B8C-83A1-F6EECF244321}">
                <p14:modId xmlns:p14="http://schemas.microsoft.com/office/powerpoint/2010/main" val="694115271"/>
              </p:ext>
            </p:extLst>
          </p:nvPr>
        </p:nvGraphicFramePr>
        <p:xfrm>
          <a:off x="3385457" y="2377440"/>
          <a:ext cx="5529943" cy="822960"/>
        </p:xfrm>
        <a:graphic>
          <a:graphicData uri="http://schemas.openxmlformats.org/drawingml/2006/table">
            <a:tbl>
              <a:tblPr firstRow="1" bandRow="1">
                <a:tableStyleId>{5C22544A-7EE6-4342-B048-85BDC9FD1C3A}</a:tableStyleId>
              </a:tblPr>
              <a:tblGrid>
                <a:gridCol w="938115"/>
                <a:gridCol w="4591828"/>
              </a:tblGrid>
              <a:tr h="640080">
                <a:tc>
                  <a:txBody>
                    <a:bodyPr/>
                    <a:lstStyle/>
                    <a:p>
                      <a:endParaRPr lang="en-US" dirty="0"/>
                    </a:p>
                  </a:txBody>
                  <a:tcPr>
                    <a:blipFill rotWithShape="1">
                      <a:blip r:embed="rId5"/>
                      <a:stretch>
                        <a:fillRect r="-489610" b="-7619"/>
                      </a:stretch>
                    </a:blipFill>
                  </a:tcPr>
                </a:tc>
                <a:tc>
                  <a:txBody>
                    <a:bodyPr/>
                    <a:lstStyle/>
                    <a:p>
                      <a:r>
                        <a:rPr lang="en-US" sz="1200" dirty="0" smtClean="0">
                          <a:solidFill>
                            <a:sysClr val="windowText" lastClr="000000"/>
                          </a:solidFill>
                          <a:latin typeface="Verdana" pitchFamily="34" charset="0"/>
                          <a:ea typeface="Verdana" pitchFamily="34" charset="0"/>
                          <a:cs typeface="Verdana" pitchFamily="34" charset="0"/>
                        </a:rPr>
                        <a:t>(</a:t>
                      </a:r>
                      <a:r>
                        <a:rPr lang="en-US" sz="1200" dirty="0" smtClean="0">
                          <a:solidFill>
                            <a:srgbClr val="FF0066"/>
                          </a:solidFill>
                          <a:latin typeface="Verdana" pitchFamily="34" charset="0"/>
                          <a:ea typeface="Verdana" pitchFamily="34" charset="0"/>
                          <a:cs typeface="Verdana" pitchFamily="34" charset="0"/>
                        </a:rPr>
                        <a:t>Data Transmit/ Receive</a:t>
                      </a:r>
                      <a:r>
                        <a:rPr lang="en-US" sz="1200" dirty="0" smtClean="0">
                          <a:solidFill>
                            <a:sysClr val="windowText" lastClr="000000"/>
                          </a:solidFill>
                          <a:latin typeface="Verdana" pitchFamily="34" charset="0"/>
                          <a:ea typeface="Verdana" pitchFamily="34" charset="0"/>
                          <a:cs typeface="Verdana" pitchFamily="34" charset="0"/>
                        </a:rPr>
                        <a:t>) </a:t>
                      </a:r>
                      <a:r>
                        <a:rPr lang="en-US" sz="1200" baseline="0" dirty="0" smtClean="0">
                          <a:solidFill>
                            <a:sysClr val="windowText" lastClr="000000"/>
                          </a:solidFill>
                          <a:latin typeface="Verdana" pitchFamily="34" charset="0"/>
                          <a:ea typeface="Verdana" pitchFamily="34" charset="0"/>
                          <a:cs typeface="Verdana" pitchFamily="34" charset="0"/>
                        </a:rPr>
                        <a:t> This signal </a:t>
                      </a:r>
                      <a:r>
                        <a:rPr lang="en-US" sz="1200" dirty="0" smtClean="0">
                          <a:solidFill>
                            <a:sysClr val="windowText" lastClr="000000"/>
                          </a:solidFill>
                          <a:latin typeface="Verdana" pitchFamily="34" charset="0"/>
                          <a:ea typeface="Verdana" pitchFamily="34" charset="0"/>
                          <a:cs typeface="Verdana" pitchFamily="34" charset="0"/>
                        </a:rPr>
                        <a:t>control the direction of data flow through the data transceivers. When it is HIGH</a:t>
                      </a:r>
                      <a:r>
                        <a:rPr lang="en-US" sz="1200" baseline="0" dirty="0" smtClean="0">
                          <a:solidFill>
                            <a:sysClr val="windowText" lastClr="000000"/>
                          </a:solidFill>
                          <a:latin typeface="Verdana" pitchFamily="34" charset="0"/>
                          <a:ea typeface="Verdana" pitchFamily="34" charset="0"/>
                          <a:cs typeface="Verdana" pitchFamily="34" charset="0"/>
                        </a:rPr>
                        <a:t> data are sent out. When it is LOW data are received. </a:t>
                      </a:r>
                      <a:endParaRPr lang="en-US" sz="1200" dirty="0">
                        <a:solidFill>
                          <a:sysClr val="windowText" lastClr="000000"/>
                        </a:solidFill>
                        <a:latin typeface="Verdana" pitchFamily="34" charset="0"/>
                        <a:ea typeface="Verdana" pitchFamily="34" charset="0"/>
                        <a:cs typeface="Verdana" pitchFamily="34" charset="0"/>
                      </a:endParaRPr>
                    </a:p>
                  </a:txBody>
                  <a:tcPr>
                    <a:noFill/>
                  </a:tcPr>
                </a:tc>
              </a:tr>
            </a:tbl>
          </a:graphicData>
        </a:graphic>
      </p:graphicFrame>
      <p:graphicFrame>
        <p:nvGraphicFramePr>
          <p:cNvPr id="49" name="Table 48"/>
          <p:cNvGraphicFramePr>
            <a:graphicFrameLocks noGrp="1"/>
          </p:cNvGraphicFramePr>
          <p:nvPr>
            <p:extLst>
              <p:ext uri="{D42A27DB-BD31-4B8C-83A1-F6EECF244321}">
                <p14:modId xmlns:p14="http://schemas.microsoft.com/office/powerpoint/2010/main" val="3373928436"/>
              </p:ext>
            </p:extLst>
          </p:nvPr>
        </p:nvGraphicFramePr>
        <p:xfrm>
          <a:off x="3385457" y="3215640"/>
          <a:ext cx="5529943" cy="457200"/>
        </p:xfrm>
        <a:graphic>
          <a:graphicData uri="http://schemas.openxmlformats.org/drawingml/2006/table">
            <a:tbl>
              <a:tblPr firstRow="1" bandRow="1">
                <a:tableStyleId>{5C22544A-7EE6-4342-B048-85BDC9FD1C3A}</a:tableStyleId>
              </a:tblPr>
              <a:tblGrid>
                <a:gridCol w="938115"/>
                <a:gridCol w="4591828"/>
              </a:tblGrid>
              <a:tr h="457200">
                <a:tc>
                  <a:txBody>
                    <a:bodyPr/>
                    <a:lstStyle/>
                    <a:p>
                      <a:endParaRPr lang="en-US" dirty="0"/>
                    </a:p>
                  </a:txBody>
                  <a:tcPr>
                    <a:blipFill rotWithShape="1">
                      <a:blip r:embed="rId6"/>
                      <a:stretch>
                        <a:fillRect t="-1333" r="-489610" b="-9333"/>
                      </a:stretch>
                    </a:blipFill>
                  </a:tcPr>
                </a:tc>
                <a:tc>
                  <a:txBody>
                    <a:bodyPr/>
                    <a:lstStyle/>
                    <a:p>
                      <a:r>
                        <a:rPr lang="en-US" sz="1200" dirty="0" smtClean="0">
                          <a:solidFill>
                            <a:sysClr val="windowText" lastClr="000000"/>
                          </a:solidFill>
                          <a:latin typeface="Verdana" pitchFamily="34" charset="0"/>
                          <a:ea typeface="Verdana" pitchFamily="34" charset="0"/>
                          <a:cs typeface="Verdana" pitchFamily="34" charset="0"/>
                        </a:rPr>
                        <a:t>(</a:t>
                      </a:r>
                      <a:r>
                        <a:rPr lang="en-US" sz="1200" dirty="0" smtClean="0">
                          <a:solidFill>
                            <a:srgbClr val="FF0066"/>
                          </a:solidFill>
                          <a:latin typeface="Verdana" pitchFamily="34" charset="0"/>
                          <a:ea typeface="Verdana" pitchFamily="34" charset="0"/>
                          <a:cs typeface="Verdana" pitchFamily="34" charset="0"/>
                        </a:rPr>
                        <a:t>Data Enable</a:t>
                      </a:r>
                      <a:r>
                        <a:rPr lang="en-US" sz="1200" dirty="0" smtClean="0">
                          <a:solidFill>
                            <a:sysClr val="windowText" lastClr="000000"/>
                          </a:solidFill>
                          <a:latin typeface="Verdana" pitchFamily="34" charset="0"/>
                          <a:ea typeface="Verdana" pitchFamily="34" charset="0"/>
                          <a:cs typeface="Verdana" pitchFamily="34" charset="0"/>
                        </a:rPr>
                        <a:t>) Output signal</a:t>
                      </a:r>
                      <a:r>
                        <a:rPr lang="en-US" sz="1200" baseline="0" dirty="0" smtClean="0">
                          <a:solidFill>
                            <a:sysClr val="windowText" lastClr="000000"/>
                          </a:solidFill>
                          <a:latin typeface="Verdana" pitchFamily="34" charset="0"/>
                          <a:ea typeface="Verdana" pitchFamily="34" charset="0"/>
                          <a:cs typeface="Verdana" pitchFamily="34" charset="0"/>
                        </a:rPr>
                        <a:t> from the processor used as out put enable for the transceivers.</a:t>
                      </a:r>
                      <a:endParaRPr lang="en-US" sz="1200" dirty="0">
                        <a:solidFill>
                          <a:sysClr val="windowText" lastClr="000000"/>
                        </a:solidFill>
                        <a:latin typeface="Verdana" pitchFamily="34" charset="0"/>
                        <a:ea typeface="Verdana" pitchFamily="34" charset="0"/>
                        <a:cs typeface="Verdana" pitchFamily="34" charset="0"/>
                      </a:endParaRPr>
                    </a:p>
                  </a:txBody>
                  <a:tcPr>
                    <a:noFill/>
                  </a:tcPr>
                </a:tc>
              </a:tr>
            </a:tbl>
          </a:graphicData>
        </a:graphic>
      </p:graphicFrame>
      <p:graphicFrame>
        <p:nvGraphicFramePr>
          <p:cNvPr id="50" name="Table 49"/>
          <p:cNvGraphicFramePr>
            <a:graphicFrameLocks noGrp="1"/>
          </p:cNvGraphicFramePr>
          <p:nvPr>
            <p:extLst>
              <p:ext uri="{D42A27DB-BD31-4B8C-83A1-F6EECF244321}">
                <p14:modId xmlns:p14="http://schemas.microsoft.com/office/powerpoint/2010/main" val="3590338562"/>
              </p:ext>
            </p:extLst>
          </p:nvPr>
        </p:nvGraphicFramePr>
        <p:xfrm>
          <a:off x="3385457" y="3855720"/>
          <a:ext cx="5529943" cy="457200"/>
        </p:xfrm>
        <a:graphic>
          <a:graphicData uri="http://schemas.openxmlformats.org/drawingml/2006/table">
            <a:tbl>
              <a:tblPr firstRow="1" bandRow="1">
                <a:tableStyleId>{5C22544A-7EE6-4342-B048-85BDC9FD1C3A}</a:tableStyleId>
              </a:tblPr>
              <a:tblGrid>
                <a:gridCol w="938115">
                  <a:extLst>
                    <a:ext uri="{9D8B030D-6E8A-4147-A177-3AD203B41FA5}">
                      <a16:colId xmlns="" xmlns:a16="http://schemas.microsoft.com/office/drawing/2014/main" val="20000"/>
                    </a:ext>
                  </a:extLst>
                </a:gridCol>
                <a:gridCol w="4591828">
                  <a:extLst>
                    <a:ext uri="{9D8B030D-6E8A-4147-A177-3AD203B41FA5}">
                      <a16:colId xmlns="" xmlns:a16="http://schemas.microsoft.com/office/drawing/2014/main" val="20001"/>
                    </a:ext>
                  </a:extLst>
                </a:gridCol>
              </a:tblGrid>
              <a:tr h="370840">
                <a:tc>
                  <a:txBody>
                    <a:bodyPr/>
                    <a:lstStyle/>
                    <a:p>
                      <a:r>
                        <a:rPr lang="en-US" sz="1200" i="0" dirty="0" smtClean="0">
                          <a:solidFill>
                            <a:srgbClr val="FF0066"/>
                          </a:solidFill>
                          <a:latin typeface="Verdana" pitchFamily="34" charset="0"/>
                          <a:ea typeface="Verdana" pitchFamily="34" charset="0"/>
                          <a:cs typeface="Verdana" pitchFamily="34" charset="0"/>
                        </a:rPr>
                        <a:t>ALE</a:t>
                      </a:r>
                      <a:endParaRPr lang="en-US" sz="1200" i="0" dirty="0">
                        <a:solidFill>
                          <a:srgbClr val="FF0066"/>
                        </a:solidFill>
                        <a:latin typeface="Verdana" pitchFamily="34" charset="0"/>
                        <a:ea typeface="Verdana" pitchFamily="34" charset="0"/>
                        <a:cs typeface="Verdana" pitchFamily="34" charset="0"/>
                      </a:endParaRPr>
                    </a:p>
                  </a:txBody>
                  <a:tcPr>
                    <a:noFill/>
                  </a:tcPr>
                </a:tc>
                <a:tc>
                  <a:txBody>
                    <a:bodyPr/>
                    <a:lstStyle/>
                    <a:p>
                      <a:r>
                        <a:rPr lang="en-US" sz="1200" dirty="0" smtClean="0">
                          <a:solidFill>
                            <a:sysClr val="windowText" lastClr="000000"/>
                          </a:solidFill>
                          <a:latin typeface="Verdana" pitchFamily="34" charset="0"/>
                          <a:ea typeface="Verdana" pitchFamily="34" charset="0"/>
                          <a:cs typeface="Verdana" pitchFamily="34" charset="0"/>
                        </a:rPr>
                        <a:t>(</a:t>
                      </a:r>
                      <a:r>
                        <a:rPr lang="en-US" sz="1200" dirty="0" smtClean="0">
                          <a:solidFill>
                            <a:srgbClr val="FF0066"/>
                          </a:solidFill>
                          <a:latin typeface="Verdana" pitchFamily="34" charset="0"/>
                          <a:ea typeface="Verdana" pitchFamily="34" charset="0"/>
                          <a:cs typeface="Verdana" pitchFamily="34" charset="0"/>
                        </a:rPr>
                        <a:t>Address Latch Enable</a:t>
                      </a:r>
                      <a:r>
                        <a:rPr lang="en-US" sz="1200" dirty="0" smtClean="0">
                          <a:solidFill>
                            <a:schemeClr val="tx1"/>
                          </a:solidFill>
                          <a:latin typeface="Verdana" pitchFamily="34" charset="0"/>
                          <a:ea typeface="Verdana" pitchFamily="34" charset="0"/>
                          <a:cs typeface="Verdana" pitchFamily="34" charset="0"/>
                        </a:rPr>
                        <a:t>) Used</a:t>
                      </a:r>
                      <a:r>
                        <a:rPr lang="en-US" sz="1200" baseline="0" dirty="0" smtClean="0">
                          <a:solidFill>
                            <a:schemeClr val="tx1"/>
                          </a:solidFill>
                          <a:latin typeface="Verdana" pitchFamily="34" charset="0"/>
                          <a:ea typeface="Verdana" pitchFamily="34" charset="0"/>
                          <a:cs typeface="Verdana" pitchFamily="34" charset="0"/>
                        </a:rPr>
                        <a:t> to demultiplex the address and data lines using external latches</a:t>
                      </a:r>
                      <a:endParaRPr lang="en-US" sz="1200" dirty="0">
                        <a:solidFill>
                          <a:schemeClr val="tx1"/>
                        </a:solidFill>
                        <a:latin typeface="Verdana" pitchFamily="34" charset="0"/>
                        <a:ea typeface="Verdana" pitchFamily="34" charset="0"/>
                        <a:cs typeface="Verdana" pitchFamily="34" charset="0"/>
                      </a:endParaRPr>
                    </a:p>
                  </a:txBody>
                  <a:tcPr>
                    <a:noFill/>
                  </a:tcPr>
                </a:tc>
                <a:extLst>
                  <a:ext uri="{0D108BD9-81ED-4DB2-BD59-A6C34878D82A}">
                    <a16:rowId xmlns="" xmlns:a16="http://schemas.microsoft.com/office/drawing/2014/main" val="10000"/>
                  </a:ext>
                </a:extLst>
              </a:tr>
            </a:tbl>
          </a:graphicData>
        </a:graphic>
      </p:graphicFrame>
      <p:graphicFrame>
        <p:nvGraphicFramePr>
          <p:cNvPr id="51" name="Table 50"/>
          <p:cNvGraphicFramePr>
            <a:graphicFrameLocks noGrp="1"/>
          </p:cNvGraphicFramePr>
          <p:nvPr>
            <p:extLst>
              <p:ext uri="{D42A27DB-BD31-4B8C-83A1-F6EECF244321}">
                <p14:modId xmlns:p14="http://schemas.microsoft.com/office/powerpoint/2010/main" val="87097923"/>
              </p:ext>
            </p:extLst>
          </p:nvPr>
        </p:nvGraphicFramePr>
        <p:xfrm>
          <a:off x="3385457" y="4465320"/>
          <a:ext cx="5529943" cy="640080"/>
        </p:xfrm>
        <a:graphic>
          <a:graphicData uri="http://schemas.openxmlformats.org/drawingml/2006/table">
            <a:tbl>
              <a:tblPr firstRow="1" bandRow="1">
                <a:tableStyleId>{5C22544A-7EE6-4342-B048-85BDC9FD1C3A}</a:tableStyleId>
              </a:tblPr>
              <a:tblGrid>
                <a:gridCol w="938115"/>
                <a:gridCol w="4591828"/>
              </a:tblGrid>
              <a:tr h="640080">
                <a:tc>
                  <a:txBody>
                    <a:bodyPr/>
                    <a:lstStyle/>
                    <a:p>
                      <a:endParaRPr lang="en-US" dirty="0"/>
                    </a:p>
                  </a:txBody>
                  <a:tcPr>
                    <a:blipFill rotWithShape="1">
                      <a:blip r:embed="rId7"/>
                      <a:stretch>
                        <a:fillRect t="-952" r="-489610" b="-6667"/>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ysClr val="windowText" lastClr="000000"/>
                          </a:solidFill>
                          <a:latin typeface="Verdana" pitchFamily="34" charset="0"/>
                          <a:ea typeface="Verdana" pitchFamily="34" charset="0"/>
                          <a:cs typeface="Verdana" pitchFamily="34" charset="0"/>
                        </a:rPr>
                        <a:t>Used to differentiate</a:t>
                      </a:r>
                      <a:r>
                        <a:rPr lang="en-US" sz="1200" baseline="0" dirty="0" smtClean="0">
                          <a:solidFill>
                            <a:sysClr val="windowText" lastClr="000000"/>
                          </a:solidFill>
                          <a:latin typeface="Verdana" pitchFamily="34" charset="0"/>
                          <a:ea typeface="Verdana" pitchFamily="34" charset="0"/>
                          <a:cs typeface="Verdana" pitchFamily="34" charset="0"/>
                        </a:rPr>
                        <a:t> memory or I/O access. When it is high the CPU wants to access memory. When it is low the CPU wants to access I/O device.  </a:t>
                      </a:r>
                      <a:endParaRPr lang="en-US" sz="1200" dirty="0">
                        <a:solidFill>
                          <a:schemeClr val="tx1"/>
                        </a:solidFill>
                        <a:latin typeface="Verdana" pitchFamily="34" charset="0"/>
                        <a:ea typeface="Verdana" pitchFamily="34" charset="0"/>
                        <a:cs typeface="Verdana" pitchFamily="34" charset="0"/>
                      </a:endParaRPr>
                    </a:p>
                  </a:txBody>
                  <a:tcPr>
                    <a:noFill/>
                  </a:tcPr>
                </a:tc>
              </a:tr>
            </a:tbl>
          </a:graphicData>
        </a:graphic>
      </p:graphicFrame>
      <p:graphicFrame>
        <p:nvGraphicFramePr>
          <p:cNvPr id="52" name="Table 51"/>
          <p:cNvGraphicFramePr>
            <a:graphicFrameLocks noGrp="1"/>
          </p:cNvGraphicFramePr>
          <p:nvPr>
            <p:extLst>
              <p:ext uri="{D42A27DB-BD31-4B8C-83A1-F6EECF244321}">
                <p14:modId xmlns:p14="http://schemas.microsoft.com/office/powerpoint/2010/main" val="3770986844"/>
              </p:ext>
            </p:extLst>
          </p:nvPr>
        </p:nvGraphicFramePr>
        <p:xfrm>
          <a:off x="3385457" y="5227320"/>
          <a:ext cx="5529943" cy="457200"/>
        </p:xfrm>
        <a:graphic>
          <a:graphicData uri="http://schemas.openxmlformats.org/drawingml/2006/table">
            <a:tbl>
              <a:tblPr firstRow="1" bandRow="1">
                <a:tableStyleId>{5C22544A-7EE6-4342-B048-85BDC9FD1C3A}</a:tableStyleId>
              </a:tblPr>
              <a:tblGrid>
                <a:gridCol w="938115"/>
                <a:gridCol w="4591828"/>
              </a:tblGrid>
              <a:tr h="457200">
                <a:tc>
                  <a:txBody>
                    <a:bodyPr/>
                    <a:lstStyle/>
                    <a:p>
                      <a:endParaRPr lang="en-US" dirty="0"/>
                    </a:p>
                  </a:txBody>
                  <a:tcPr>
                    <a:blipFill rotWithShape="1">
                      <a:blip r:embed="rId8"/>
                      <a:stretch>
                        <a:fillRect t="-1333" r="-489610" b="-9333"/>
                      </a:stretch>
                    </a:blipFill>
                  </a:tcPr>
                </a:tc>
                <a:tc>
                  <a:txBody>
                    <a:bodyPr/>
                    <a:lstStyle/>
                    <a:p>
                      <a:r>
                        <a:rPr lang="en-US" sz="1200" baseline="0" dirty="0" smtClean="0">
                          <a:solidFill>
                            <a:sysClr val="windowText" lastClr="000000"/>
                          </a:solidFill>
                          <a:latin typeface="Verdana" pitchFamily="34" charset="0"/>
                          <a:ea typeface="Verdana" pitchFamily="34" charset="0"/>
                          <a:cs typeface="Verdana" pitchFamily="34" charset="0"/>
                        </a:rPr>
                        <a:t>Write control signal. When it is low the CPU performs memory or I/O write operation. </a:t>
                      </a:r>
                      <a:endParaRPr lang="en-US" sz="1200" dirty="0">
                        <a:solidFill>
                          <a:schemeClr val="tx1"/>
                        </a:solidFill>
                        <a:latin typeface="Verdana" pitchFamily="34" charset="0"/>
                        <a:ea typeface="Verdana" pitchFamily="34" charset="0"/>
                        <a:cs typeface="Verdana" pitchFamily="34" charset="0"/>
                      </a:endParaRPr>
                    </a:p>
                  </a:txBody>
                  <a:tcPr>
                    <a:noFill/>
                  </a:tcPr>
                </a:tc>
              </a:tr>
            </a:tbl>
          </a:graphicData>
        </a:graphic>
      </p:graphicFrame>
      <p:graphicFrame>
        <p:nvGraphicFramePr>
          <p:cNvPr id="53" name="Table 52"/>
          <p:cNvGraphicFramePr>
            <a:graphicFrameLocks noGrp="1"/>
          </p:cNvGraphicFramePr>
          <p:nvPr>
            <p:extLst>
              <p:ext uri="{D42A27DB-BD31-4B8C-83A1-F6EECF244321}">
                <p14:modId xmlns:p14="http://schemas.microsoft.com/office/powerpoint/2010/main" val="2490951794"/>
              </p:ext>
            </p:extLst>
          </p:nvPr>
        </p:nvGraphicFramePr>
        <p:xfrm>
          <a:off x="3385457" y="5760720"/>
          <a:ext cx="5529943" cy="822960"/>
        </p:xfrm>
        <a:graphic>
          <a:graphicData uri="http://schemas.openxmlformats.org/drawingml/2006/table">
            <a:tbl>
              <a:tblPr firstRow="1" bandRow="1">
                <a:tableStyleId>{5C22544A-7EE6-4342-B048-85BDC9FD1C3A}</a:tableStyleId>
              </a:tblPr>
              <a:tblGrid>
                <a:gridCol w="938115"/>
                <a:gridCol w="4591828"/>
              </a:tblGrid>
              <a:tr h="640080">
                <a:tc>
                  <a:txBody>
                    <a:bodyPr/>
                    <a:lstStyle/>
                    <a:p>
                      <a:endParaRPr lang="en-US" dirty="0"/>
                    </a:p>
                  </a:txBody>
                  <a:tcPr>
                    <a:blipFill rotWithShape="1">
                      <a:blip r:embed="rId9"/>
                      <a:stretch>
                        <a:fillRect r="-489610" b="-7619"/>
                      </a:stretch>
                    </a:blipFill>
                  </a:tcPr>
                </a:tc>
                <a:tc>
                  <a:txBody>
                    <a:bodyPr/>
                    <a:lstStyle/>
                    <a:p>
                      <a:r>
                        <a:rPr lang="en-US" sz="1200" dirty="0" smtClean="0">
                          <a:solidFill>
                            <a:sysClr val="windowText" lastClr="000000"/>
                          </a:solidFill>
                          <a:latin typeface="Verdana" pitchFamily="34" charset="0"/>
                          <a:ea typeface="Verdana" pitchFamily="34" charset="0"/>
                          <a:cs typeface="Verdana" pitchFamily="34" charset="0"/>
                        </a:rPr>
                        <a:t>(</a:t>
                      </a:r>
                      <a:r>
                        <a:rPr lang="en-US" sz="1200" dirty="0" smtClean="0">
                          <a:solidFill>
                            <a:srgbClr val="FF0066"/>
                          </a:solidFill>
                          <a:latin typeface="Verdana" pitchFamily="34" charset="0"/>
                          <a:ea typeface="Verdana" pitchFamily="34" charset="0"/>
                          <a:cs typeface="Verdana" pitchFamily="34" charset="0"/>
                        </a:rPr>
                        <a:t>Interrupt Acknowledge</a:t>
                      </a:r>
                      <a:r>
                        <a:rPr lang="en-US" sz="1200" dirty="0" smtClean="0">
                          <a:solidFill>
                            <a:schemeClr val="tx1"/>
                          </a:solidFill>
                          <a:latin typeface="Verdana" pitchFamily="34" charset="0"/>
                          <a:ea typeface="Verdana" pitchFamily="34" charset="0"/>
                          <a:cs typeface="Verdana" pitchFamily="34" charset="0"/>
                        </a:rPr>
                        <a:t>) When the interrupt request is accepted by the processor, the</a:t>
                      </a:r>
                      <a:r>
                        <a:rPr lang="en-US" sz="1200" baseline="0" dirty="0" smtClean="0">
                          <a:solidFill>
                            <a:schemeClr val="tx1"/>
                          </a:solidFill>
                          <a:latin typeface="Verdana" pitchFamily="34" charset="0"/>
                          <a:ea typeface="Verdana" pitchFamily="34" charset="0"/>
                          <a:cs typeface="Verdana" pitchFamily="34" charset="0"/>
                        </a:rPr>
                        <a:t> processor issues an interrupt acknowledgement signal. </a:t>
                      </a:r>
                      <a:endParaRPr lang="en-US" sz="1200" dirty="0">
                        <a:solidFill>
                          <a:schemeClr val="tx1"/>
                        </a:solidFill>
                        <a:latin typeface="Verdana" pitchFamily="34" charset="0"/>
                        <a:ea typeface="Verdana" pitchFamily="34" charset="0"/>
                        <a:cs typeface="Verdana" pitchFamily="34" charset="0"/>
                      </a:endParaRPr>
                    </a:p>
                  </a:txBody>
                  <a:tcPr>
                    <a:noFill/>
                  </a:tcPr>
                </a:tc>
              </a:tr>
            </a:tbl>
          </a:graphicData>
        </a:graphic>
      </p:graphicFrame>
      <p:sp>
        <p:nvSpPr>
          <p:cNvPr id="48" name="Slide Number Placeholder 47"/>
          <p:cNvSpPr>
            <a:spLocks noGrp="1"/>
          </p:cNvSpPr>
          <p:nvPr>
            <p:ph type="sldNum" sz="quarter" idx="12"/>
          </p:nvPr>
        </p:nvSpPr>
        <p:spPr/>
        <p:txBody>
          <a:bodyPr/>
          <a:lstStyle/>
          <a:p>
            <a:fld id="{85E6815B-E59C-4D87-B1F6-ECBDD22AF1DC}" type="slidenum">
              <a:rPr lang="en-US" smtClean="0"/>
              <a:pPr/>
              <a:t>10</a:t>
            </a:fld>
            <a:endParaRPr lang="en-US" dirty="0"/>
          </a:p>
        </p:txBody>
      </p:sp>
      <p:sp>
        <p:nvSpPr>
          <p:cNvPr id="4" name="Rectangle 3"/>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791456" y="188879"/>
            <a:ext cx="2906565" cy="338554"/>
          </a:xfrm>
          <a:prstGeom prst="rect">
            <a:avLst/>
          </a:prstGeom>
          <a:solidFill>
            <a:srgbClr val="99FFCC"/>
          </a:solidFill>
        </p:spPr>
        <p:txBody>
          <a:bodyPr wrap="none">
            <a:spAutoFit/>
          </a:bodyPr>
          <a:lstStyle/>
          <a:p>
            <a:r>
              <a:rPr lang="en-US" sz="1600" b="1" dirty="0" smtClean="0">
                <a:solidFill>
                  <a:srgbClr val="FF0000"/>
                </a:solidFill>
                <a:latin typeface="Verdana" pitchFamily="34" charset="0"/>
                <a:ea typeface="Verdana" pitchFamily="34" charset="0"/>
                <a:cs typeface="Verdana" pitchFamily="34" charset="0"/>
              </a:rPr>
              <a:t>Minimum </a:t>
            </a:r>
            <a:r>
              <a:rPr lang="en-US" sz="1600" b="1" dirty="0">
                <a:solidFill>
                  <a:srgbClr val="FF0000"/>
                </a:solidFill>
                <a:latin typeface="Verdana" pitchFamily="34" charset="0"/>
                <a:ea typeface="Verdana" pitchFamily="34" charset="0"/>
                <a:cs typeface="Verdana" pitchFamily="34" charset="0"/>
              </a:rPr>
              <a:t>mode signals</a:t>
            </a:r>
          </a:p>
        </p:txBody>
      </p:sp>
    </p:spTree>
    <p:extLst>
      <p:ext uri="{BB962C8B-B14F-4D97-AF65-F5344CB8AC3E}">
        <p14:creationId xmlns:p14="http://schemas.microsoft.com/office/powerpoint/2010/main" val="2228875349"/>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500"/>
                                        <p:tgtEl>
                                          <p:spTgt spid="49"/>
                                        </p:tgtEl>
                                      </p:cBhvr>
                                    </p:animEffect>
                                  </p:childTnLst>
                                </p:cTn>
                              </p:par>
                              <p:par>
                                <p:cTn id="16" presetID="42" presetClass="path" presetSubtype="0" accel="50000" decel="50000" fill="hold" grpId="1" nodeType="withEffect">
                                  <p:stCondLst>
                                    <p:cond delay="0"/>
                                  </p:stCondLst>
                                  <p:childTnLst>
                                    <p:animMotion origin="layout" path="M 2.77778E-6 1.85185E-6 L 2.77778E-6 0.03171 " pathEditMode="relative" rAng="0" ptsTypes="AA">
                                      <p:cBhvr>
                                        <p:cTn id="17" dur="500" fill="hold"/>
                                        <p:tgtEl>
                                          <p:spTgt spid="44"/>
                                        </p:tgtEl>
                                        <p:attrNameLst>
                                          <p:attrName>ppt_x</p:attrName>
                                          <p:attrName>ppt_y</p:attrName>
                                        </p:attrNameLst>
                                      </p:cBhvr>
                                      <p:rCtr x="0" y="1574"/>
                                    </p:animMotion>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par>
                                <p:cTn id="23" presetID="42" presetClass="path" presetSubtype="0" accel="50000" decel="50000" fill="hold" grpId="2" nodeType="withEffect">
                                  <p:stCondLst>
                                    <p:cond delay="0"/>
                                  </p:stCondLst>
                                  <p:childTnLst>
                                    <p:animMotion origin="layout" path="M 2.77778E-6 0.03171 L 2.77778E-6 0.06342 " pathEditMode="relative" rAng="0" ptsTypes="AA">
                                      <p:cBhvr>
                                        <p:cTn id="24" dur="500" fill="hold"/>
                                        <p:tgtEl>
                                          <p:spTgt spid="44"/>
                                        </p:tgtEl>
                                        <p:attrNameLst>
                                          <p:attrName>ppt_x</p:attrName>
                                          <p:attrName>ppt_y</p:attrName>
                                        </p:attrNameLst>
                                      </p:cBhvr>
                                      <p:rCtr x="0" y="1574"/>
                                    </p:animMotion>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500"/>
                                        <p:tgtEl>
                                          <p:spTgt spid="51"/>
                                        </p:tgtEl>
                                      </p:cBhvr>
                                    </p:animEffect>
                                  </p:childTnLst>
                                </p:cTn>
                              </p:par>
                              <p:par>
                                <p:cTn id="30" presetID="64" presetClass="path" presetSubtype="0" accel="50000" decel="50000" fill="hold" grpId="3" nodeType="withEffect">
                                  <p:stCondLst>
                                    <p:cond delay="0"/>
                                  </p:stCondLst>
                                  <p:childTnLst>
                                    <p:animMotion origin="layout" path="M 2.77778E-6 0.06412 L 2.77778E-6 -0.03588 " pathEditMode="relative" rAng="0" ptsTypes="AA">
                                      <p:cBhvr>
                                        <p:cTn id="31" dur="500" fill="hold"/>
                                        <p:tgtEl>
                                          <p:spTgt spid="44"/>
                                        </p:tgtEl>
                                        <p:attrNameLst>
                                          <p:attrName>ppt_x</p:attrName>
                                          <p:attrName>ppt_y</p:attrName>
                                        </p:attrNameLst>
                                      </p:cBhvr>
                                      <p:rCtr x="0" y="-5000"/>
                                    </p:animMotion>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fade">
                                      <p:cBhvr>
                                        <p:cTn id="36" dur="500"/>
                                        <p:tgtEl>
                                          <p:spTgt spid="52"/>
                                        </p:tgtEl>
                                      </p:cBhvr>
                                    </p:animEffect>
                                  </p:childTnLst>
                                </p:cTn>
                              </p:par>
                              <p:par>
                                <p:cTn id="37" presetID="64" presetClass="path" presetSubtype="0" accel="50000" decel="50000" fill="hold" grpId="4" nodeType="withEffect">
                                  <p:stCondLst>
                                    <p:cond delay="0"/>
                                  </p:stCondLst>
                                  <p:childTnLst>
                                    <p:animMotion origin="layout" path="M 2.77778E-6 -0.03496 L 2.77778E-6 -0.0581 " pathEditMode="relative" rAng="0" ptsTypes="AA">
                                      <p:cBhvr>
                                        <p:cTn id="38" dur="500" fill="hold"/>
                                        <p:tgtEl>
                                          <p:spTgt spid="44"/>
                                        </p:tgtEl>
                                        <p:attrNameLst>
                                          <p:attrName>ppt_x</p:attrName>
                                          <p:attrName>ppt_y</p:attrName>
                                        </p:attrNameLst>
                                      </p:cBhvr>
                                      <p:rCtr x="0" y="-1157"/>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fade">
                                      <p:cBhvr>
                                        <p:cTn id="43" dur="500"/>
                                        <p:tgtEl>
                                          <p:spTgt spid="53"/>
                                        </p:tgtEl>
                                      </p:cBhvr>
                                    </p:animEffect>
                                  </p:childTnLst>
                                </p:cTn>
                              </p:par>
                              <p:par>
                                <p:cTn id="44" presetID="42" presetClass="path" presetSubtype="0" accel="50000" decel="50000" fill="hold" grpId="5" nodeType="withEffect">
                                  <p:stCondLst>
                                    <p:cond delay="0"/>
                                  </p:stCondLst>
                                  <p:childTnLst>
                                    <p:animMotion origin="layout" path="M 2.77778E-6 -0.05648 L 2.77778E-6 0.08819 " pathEditMode="relative" rAng="0" ptsTypes="AA">
                                      <p:cBhvr>
                                        <p:cTn id="45" dur="500" fill="hold"/>
                                        <p:tgtEl>
                                          <p:spTgt spid="44"/>
                                        </p:tgtEl>
                                        <p:attrNameLst>
                                          <p:attrName>ppt_x</p:attrName>
                                          <p:attrName>ppt_y</p:attrName>
                                        </p:attrNameLst>
                                      </p:cBhvr>
                                      <p:rCtr x="0" y="722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4" grpId="1" animBg="1"/>
      <p:bldP spid="44" grpId="2" animBg="1"/>
      <p:bldP spid="44" grpId="3" animBg="1"/>
      <p:bldP spid="44" grpId="4" animBg="1"/>
      <p:bldP spid="44" grpId="5"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1698172" y="3733800"/>
            <a:ext cx="1295400" cy="242084"/>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Pins and Signals</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l="1" r="46893"/>
          <a:stretch/>
        </p:blipFill>
        <p:spPr bwMode="auto">
          <a:xfrm>
            <a:off x="33837" y="1868506"/>
            <a:ext cx="3014163" cy="415129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7" name="Table 46"/>
          <p:cNvGraphicFramePr>
            <a:graphicFrameLocks noGrp="1"/>
          </p:cNvGraphicFramePr>
          <p:nvPr>
            <p:extLst>
              <p:ext uri="{D42A27DB-BD31-4B8C-83A1-F6EECF244321}">
                <p14:modId xmlns:p14="http://schemas.microsoft.com/office/powerpoint/2010/main" val="1320106113"/>
              </p:ext>
            </p:extLst>
          </p:nvPr>
        </p:nvGraphicFramePr>
        <p:xfrm>
          <a:off x="3385457" y="2362200"/>
          <a:ext cx="5529943" cy="1005840"/>
        </p:xfrm>
        <a:graphic>
          <a:graphicData uri="http://schemas.openxmlformats.org/drawingml/2006/table">
            <a:tbl>
              <a:tblPr firstRow="1" bandRow="1">
                <a:tableStyleId>{5C22544A-7EE6-4342-B048-85BDC9FD1C3A}</a:tableStyleId>
              </a:tblPr>
              <a:tblGrid>
                <a:gridCol w="938115">
                  <a:extLst>
                    <a:ext uri="{9D8B030D-6E8A-4147-A177-3AD203B41FA5}">
                      <a16:colId xmlns="" xmlns:a16="http://schemas.microsoft.com/office/drawing/2014/main" val="20000"/>
                    </a:ext>
                  </a:extLst>
                </a:gridCol>
                <a:gridCol w="4591828">
                  <a:extLst>
                    <a:ext uri="{9D8B030D-6E8A-4147-A177-3AD203B41FA5}">
                      <a16:colId xmlns="" xmlns:a16="http://schemas.microsoft.com/office/drawing/2014/main" val="20001"/>
                    </a:ext>
                  </a:extLst>
                </a:gridCol>
              </a:tblGrid>
              <a:tr h="370840">
                <a:tc>
                  <a:txBody>
                    <a:bodyPr/>
                    <a:lstStyle/>
                    <a:p>
                      <a:r>
                        <a:rPr lang="en-US" sz="1200" i="0" dirty="0" smtClean="0">
                          <a:solidFill>
                            <a:srgbClr val="FF0066"/>
                          </a:solidFill>
                          <a:latin typeface="Verdana" pitchFamily="34" charset="0"/>
                          <a:ea typeface="Verdana" pitchFamily="34" charset="0"/>
                          <a:cs typeface="Verdana" pitchFamily="34" charset="0"/>
                        </a:rPr>
                        <a:t>HOLD</a:t>
                      </a:r>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r>
                        <a:rPr lang="en-US" sz="1200" dirty="0" smtClean="0">
                          <a:solidFill>
                            <a:sysClr val="windowText" lastClr="000000"/>
                          </a:solidFill>
                          <a:latin typeface="Verdana" pitchFamily="34" charset="0"/>
                          <a:ea typeface="Verdana" pitchFamily="34" charset="0"/>
                          <a:cs typeface="Verdana" pitchFamily="34" charset="0"/>
                        </a:rPr>
                        <a:t>Input signal to the processor from the</a:t>
                      </a:r>
                      <a:r>
                        <a:rPr lang="en-US" sz="1200" baseline="0" dirty="0" smtClean="0">
                          <a:solidFill>
                            <a:sysClr val="windowText" lastClr="000000"/>
                          </a:solidFill>
                          <a:latin typeface="Verdana" pitchFamily="34" charset="0"/>
                          <a:ea typeface="Verdana" pitchFamily="34" charset="0"/>
                          <a:cs typeface="Verdana" pitchFamily="34" charset="0"/>
                        </a:rPr>
                        <a:t> bus masters as a request to grant the control of the bus. </a:t>
                      </a:r>
                    </a:p>
                    <a:p>
                      <a:endParaRPr lang="en-US" sz="1200" baseline="0" dirty="0" smtClean="0">
                        <a:solidFill>
                          <a:sysClr val="windowText" lastClr="000000"/>
                        </a:solidFill>
                        <a:latin typeface="Verdana" pitchFamily="34" charset="0"/>
                        <a:ea typeface="Verdana" pitchFamily="34" charset="0"/>
                        <a:cs typeface="Verdana" pitchFamily="34" charset="0"/>
                      </a:endParaRPr>
                    </a:p>
                    <a:p>
                      <a:r>
                        <a:rPr lang="en-US" sz="1200" baseline="0" dirty="0" smtClean="0">
                          <a:solidFill>
                            <a:sysClr val="windowText" lastClr="000000"/>
                          </a:solidFill>
                          <a:latin typeface="Verdana" pitchFamily="34" charset="0"/>
                          <a:ea typeface="Verdana" pitchFamily="34" charset="0"/>
                          <a:cs typeface="Verdana" pitchFamily="34" charset="0"/>
                        </a:rPr>
                        <a:t>Usually used by the DMA controller to get the control of the bus.</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 xmlns:a16="http://schemas.microsoft.com/office/drawing/2014/main" val="10000"/>
                  </a:ext>
                </a:extLst>
              </a:tr>
            </a:tbl>
          </a:graphicData>
        </a:graphic>
      </p:graphicFrame>
      <p:graphicFrame>
        <p:nvGraphicFramePr>
          <p:cNvPr id="49" name="Table 48"/>
          <p:cNvGraphicFramePr>
            <a:graphicFrameLocks noGrp="1"/>
          </p:cNvGraphicFramePr>
          <p:nvPr>
            <p:extLst>
              <p:ext uri="{D42A27DB-BD31-4B8C-83A1-F6EECF244321}">
                <p14:modId xmlns:p14="http://schemas.microsoft.com/office/powerpoint/2010/main" val="2229589364"/>
              </p:ext>
            </p:extLst>
          </p:nvPr>
        </p:nvGraphicFramePr>
        <p:xfrm>
          <a:off x="3385457" y="3764280"/>
          <a:ext cx="5529943" cy="1188720"/>
        </p:xfrm>
        <a:graphic>
          <a:graphicData uri="http://schemas.openxmlformats.org/drawingml/2006/table">
            <a:tbl>
              <a:tblPr firstRow="1" bandRow="1">
                <a:tableStyleId>{5C22544A-7EE6-4342-B048-85BDC9FD1C3A}</a:tableStyleId>
              </a:tblPr>
              <a:tblGrid>
                <a:gridCol w="938115">
                  <a:extLst>
                    <a:ext uri="{9D8B030D-6E8A-4147-A177-3AD203B41FA5}">
                      <a16:colId xmlns="" xmlns:a16="http://schemas.microsoft.com/office/drawing/2014/main" val="20000"/>
                    </a:ext>
                  </a:extLst>
                </a:gridCol>
                <a:gridCol w="4591828">
                  <a:extLst>
                    <a:ext uri="{9D8B030D-6E8A-4147-A177-3AD203B41FA5}">
                      <a16:colId xmlns="" xmlns:a16="http://schemas.microsoft.com/office/drawing/2014/main" val="20001"/>
                    </a:ext>
                  </a:extLst>
                </a:gridCol>
              </a:tblGrid>
              <a:tr h="370840">
                <a:tc>
                  <a:txBody>
                    <a:bodyPr/>
                    <a:lstStyle/>
                    <a:p>
                      <a:r>
                        <a:rPr lang="en-US" sz="1200" i="0" dirty="0" smtClean="0">
                          <a:solidFill>
                            <a:srgbClr val="FF0066"/>
                          </a:solidFill>
                          <a:latin typeface="Verdana" pitchFamily="34" charset="0"/>
                          <a:ea typeface="Verdana" pitchFamily="34" charset="0"/>
                          <a:cs typeface="Verdana" pitchFamily="34" charset="0"/>
                        </a:rPr>
                        <a:t>HLDA</a:t>
                      </a:r>
                      <a:endParaRPr lang="en-US" sz="1200" i="0" dirty="0">
                        <a:solidFill>
                          <a:srgbClr val="FF0066"/>
                        </a:solidFill>
                        <a:latin typeface="Verdana" pitchFamily="34" charset="0"/>
                        <a:ea typeface="Verdana" pitchFamily="34" charset="0"/>
                        <a:cs typeface="Verdana" pitchFamily="34" charset="0"/>
                      </a:endParaRPr>
                    </a:p>
                  </a:txBody>
                  <a:tcPr>
                    <a:noFill/>
                  </a:tcPr>
                </a:tc>
                <a:tc>
                  <a:txBody>
                    <a:bodyPr/>
                    <a:lstStyle/>
                    <a:p>
                      <a:r>
                        <a:rPr lang="en-US" sz="1200" dirty="0" smtClean="0">
                          <a:solidFill>
                            <a:sysClr val="windowText" lastClr="000000"/>
                          </a:solidFill>
                          <a:latin typeface="Verdana" pitchFamily="34" charset="0"/>
                          <a:ea typeface="Verdana" pitchFamily="34" charset="0"/>
                          <a:cs typeface="Verdana" pitchFamily="34" charset="0"/>
                        </a:rPr>
                        <a:t>(</a:t>
                      </a:r>
                      <a:r>
                        <a:rPr lang="en-US" sz="1200" dirty="0" smtClean="0">
                          <a:solidFill>
                            <a:srgbClr val="FF0066"/>
                          </a:solidFill>
                          <a:latin typeface="Verdana" pitchFamily="34" charset="0"/>
                          <a:ea typeface="Verdana" pitchFamily="34" charset="0"/>
                          <a:cs typeface="Verdana" pitchFamily="34" charset="0"/>
                        </a:rPr>
                        <a:t>Hold Acknowledge</a:t>
                      </a:r>
                      <a:r>
                        <a:rPr lang="en-US" sz="1200" dirty="0" smtClean="0">
                          <a:solidFill>
                            <a:sysClr val="windowText" lastClr="000000"/>
                          </a:solidFill>
                          <a:latin typeface="Verdana" pitchFamily="34" charset="0"/>
                          <a:ea typeface="Verdana" pitchFamily="34" charset="0"/>
                          <a:cs typeface="Verdana" pitchFamily="34" charset="0"/>
                        </a:rPr>
                        <a:t>) Acknowledge</a:t>
                      </a:r>
                      <a:r>
                        <a:rPr lang="en-US" sz="1200" baseline="0" dirty="0" smtClean="0">
                          <a:solidFill>
                            <a:sysClr val="windowText" lastClr="000000"/>
                          </a:solidFill>
                          <a:latin typeface="Verdana" pitchFamily="34" charset="0"/>
                          <a:ea typeface="Verdana" pitchFamily="34" charset="0"/>
                          <a:cs typeface="Verdana" pitchFamily="34" charset="0"/>
                        </a:rPr>
                        <a:t> signal by the processor to the bus master requesting the control of the bus through HOLD.</a:t>
                      </a:r>
                    </a:p>
                    <a:p>
                      <a:endParaRPr lang="en-US" sz="1200" baseline="0" dirty="0" smtClean="0">
                        <a:solidFill>
                          <a:sysClr val="windowText" lastClr="000000"/>
                        </a:solidFill>
                        <a:latin typeface="Verdana" pitchFamily="34" charset="0"/>
                        <a:ea typeface="Verdana" pitchFamily="34" charset="0"/>
                        <a:cs typeface="Verdana" pitchFamily="34" charset="0"/>
                      </a:endParaRPr>
                    </a:p>
                    <a:p>
                      <a:r>
                        <a:rPr lang="en-US" sz="1200" dirty="0" smtClean="0">
                          <a:solidFill>
                            <a:sysClr val="windowText" lastClr="000000"/>
                          </a:solidFill>
                          <a:latin typeface="Verdana" pitchFamily="34" charset="0"/>
                          <a:ea typeface="Verdana" pitchFamily="34" charset="0"/>
                          <a:cs typeface="Verdana" pitchFamily="34" charset="0"/>
                        </a:rPr>
                        <a:t>The acknowledge</a:t>
                      </a:r>
                      <a:r>
                        <a:rPr lang="en-US" sz="1200" baseline="0" dirty="0" smtClean="0">
                          <a:solidFill>
                            <a:sysClr val="windowText" lastClr="000000"/>
                          </a:solidFill>
                          <a:latin typeface="Verdana" pitchFamily="34" charset="0"/>
                          <a:ea typeface="Verdana" pitchFamily="34" charset="0"/>
                          <a:cs typeface="Verdana" pitchFamily="34" charset="0"/>
                        </a:rPr>
                        <a:t> is asserted high, when the processor accepts HOLD.</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 xmlns:a16="http://schemas.microsoft.com/office/drawing/2014/main" val="10000"/>
                  </a:ext>
                </a:extLst>
              </a:tr>
            </a:tbl>
          </a:graphicData>
        </a:graphic>
      </p:graphicFrame>
      <p:sp>
        <p:nvSpPr>
          <p:cNvPr id="48" name="Slide Number Placeholder 47"/>
          <p:cNvSpPr>
            <a:spLocks noGrp="1"/>
          </p:cNvSpPr>
          <p:nvPr>
            <p:ph type="sldNum" sz="quarter" idx="12"/>
          </p:nvPr>
        </p:nvSpPr>
        <p:spPr/>
        <p:txBody>
          <a:bodyPr/>
          <a:lstStyle/>
          <a:p>
            <a:fld id="{85E6815B-E59C-4D87-B1F6-ECBDD22AF1DC}" type="slidenum">
              <a:rPr lang="en-US" smtClean="0"/>
              <a:pPr/>
              <a:t>11</a:t>
            </a:fld>
            <a:endParaRPr lang="en-US" dirty="0"/>
          </a:p>
        </p:txBody>
      </p:sp>
      <p:sp>
        <p:nvSpPr>
          <p:cNvPr id="10" name="Rectangle 9"/>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791456" y="188879"/>
            <a:ext cx="2906565" cy="338554"/>
          </a:xfrm>
          <a:prstGeom prst="rect">
            <a:avLst/>
          </a:prstGeom>
          <a:solidFill>
            <a:srgbClr val="99FFCC"/>
          </a:solidFill>
        </p:spPr>
        <p:txBody>
          <a:bodyPr wrap="none">
            <a:spAutoFit/>
          </a:bodyPr>
          <a:lstStyle/>
          <a:p>
            <a:r>
              <a:rPr lang="en-US" sz="1600" b="1" dirty="0" smtClean="0">
                <a:solidFill>
                  <a:srgbClr val="FF0000"/>
                </a:solidFill>
                <a:latin typeface="Verdana" pitchFamily="34" charset="0"/>
                <a:ea typeface="Verdana" pitchFamily="34" charset="0"/>
                <a:cs typeface="Verdana" pitchFamily="34" charset="0"/>
              </a:rPr>
              <a:t>Minimum </a:t>
            </a:r>
            <a:r>
              <a:rPr lang="en-US" sz="1600" b="1" dirty="0">
                <a:solidFill>
                  <a:srgbClr val="FF0000"/>
                </a:solidFill>
                <a:latin typeface="Verdana" pitchFamily="34" charset="0"/>
                <a:ea typeface="Verdana" pitchFamily="34" charset="0"/>
                <a:cs typeface="Verdana" pitchFamily="34" charset="0"/>
              </a:rPr>
              <a:t>mode signals</a:t>
            </a:r>
          </a:p>
        </p:txBody>
      </p:sp>
      <mc:AlternateContent xmlns:mc="http://schemas.openxmlformats.org/markup-compatibility/2006" xmlns:a14="http://schemas.microsoft.com/office/drawing/2010/main">
        <mc:Choice Requires="a14">
          <p:sp>
            <p:nvSpPr>
              <p:cNvPr id="15" name="TextBox 14"/>
              <p:cNvSpPr txBox="1"/>
              <p:nvPr/>
            </p:nvSpPr>
            <p:spPr>
              <a:xfrm>
                <a:off x="3429000" y="762000"/>
                <a:ext cx="5334000" cy="1384995"/>
              </a:xfrm>
              <a:prstGeom prst="rect">
                <a:avLst/>
              </a:prstGeom>
              <a:solidFill>
                <a:srgbClr val="FFFFCC"/>
              </a:solidFill>
            </p:spPr>
            <p:txBody>
              <a:bodyPr wrap="square" rtlCol="0">
                <a:spAutoFit/>
              </a:bodyPr>
              <a:lstStyle/>
              <a:p>
                <a:pPr algn="ctr"/>
                <a:r>
                  <a:rPr lang="en-US" sz="1400" b="1" dirty="0">
                    <a:latin typeface="Verdana" pitchFamily="34" charset="0"/>
                    <a:ea typeface="Verdana" pitchFamily="34" charset="0"/>
                    <a:cs typeface="Verdana" pitchFamily="34" charset="0"/>
                  </a:rPr>
                  <a:t>Pins 24 -31</a:t>
                </a:r>
              </a:p>
              <a:p>
                <a:pPr algn="ctr"/>
                <a:endParaRPr lang="en-US" sz="1400" b="1" dirty="0" smtClean="0">
                  <a:latin typeface="Verdana" pitchFamily="34" charset="0"/>
                  <a:ea typeface="Verdana" pitchFamily="34" charset="0"/>
                  <a:cs typeface="Verdana" pitchFamily="34" charset="0"/>
                </a:endParaRPr>
              </a:p>
              <a:p>
                <a:pPr algn="ctr"/>
                <a:r>
                  <a:rPr lang="en-US" sz="1400" b="1" dirty="0" smtClean="0">
                    <a:latin typeface="Verdana" pitchFamily="34" charset="0"/>
                    <a:ea typeface="Verdana" pitchFamily="34" charset="0"/>
                    <a:cs typeface="Verdana" pitchFamily="34" charset="0"/>
                  </a:rPr>
                  <a:t>For minimum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smtClean="0">
                    <a:latin typeface="Verdana" pitchFamily="34" charset="0"/>
                    <a:ea typeface="Verdana" pitchFamily="34" charset="0"/>
                    <a:cs typeface="Verdana" pitchFamily="34" charset="0"/>
                  </a:rPr>
                  <a:t> is tied to VCC (logic high)</a:t>
                </a:r>
              </a:p>
              <a:p>
                <a:pPr algn="ctr"/>
                <a:endParaRPr lang="en-US" sz="1400" b="1" dirty="0">
                  <a:latin typeface="Verdana" pitchFamily="34" charset="0"/>
                  <a:ea typeface="Verdana" pitchFamily="34" charset="0"/>
                  <a:cs typeface="Verdana" pitchFamily="34" charset="0"/>
                </a:endParaRPr>
              </a:p>
              <a:p>
                <a:pPr algn="ctr"/>
                <a:r>
                  <a:rPr lang="en-US" sz="1400" b="1" dirty="0" smtClean="0">
                    <a:latin typeface="Verdana" pitchFamily="34" charset="0"/>
                    <a:ea typeface="Verdana" pitchFamily="34" charset="0"/>
                    <a:cs typeface="Verdana" pitchFamily="34" charset="0"/>
                  </a:rPr>
                  <a:t>8086 itself generates all the bus control signals</a:t>
                </a:r>
                <a:endParaRPr lang="en-US" sz="1400" b="1" dirty="0">
                  <a:latin typeface="Verdana" pitchFamily="34" charset="0"/>
                  <a:ea typeface="Verdana" pitchFamily="34" charset="0"/>
                  <a:cs typeface="Verdana" pitchFamily="34"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3429000" y="762000"/>
                <a:ext cx="5334000" cy="1384995"/>
              </a:xfrm>
              <a:prstGeom prst="rect">
                <a:avLst/>
              </a:prstGeom>
              <a:blipFill rotWithShape="1">
                <a:blip r:embed="rId4"/>
                <a:stretch>
                  <a:fillRect t="-441" b="-3524"/>
                </a:stretch>
              </a:blipFill>
            </p:spPr>
            <p:txBody>
              <a:bodyPr/>
              <a:lstStyle/>
              <a:p>
                <a:r>
                  <a:rPr lang="en-US">
                    <a:noFill/>
                  </a:rPr>
                  <a:t> </a:t>
                </a:r>
              </a:p>
            </p:txBody>
          </p:sp>
        </mc:Fallback>
      </mc:AlternateContent>
    </p:spTree>
    <p:extLst>
      <p:ext uri="{BB962C8B-B14F-4D97-AF65-F5344CB8AC3E}">
        <p14:creationId xmlns:p14="http://schemas.microsoft.com/office/powerpoint/2010/main" val="306276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42" presetClass="path" presetSubtype="0" accel="50000" decel="50000" fill="hold" grpId="0" nodeType="withEffect">
                                  <p:stCondLst>
                                    <p:cond delay="0"/>
                                  </p:stCondLst>
                                  <p:childTnLst>
                                    <p:animMotion origin="layout" path="M 2.77778E-6 0.00463 L 2.77778E-6 0.03148 " pathEditMode="relative" rAng="0" ptsTypes="AA">
                                      <p:cBhvr>
                                        <p:cTn id="9" dur="500" fill="hold"/>
                                        <p:tgtEl>
                                          <p:spTgt spid="44"/>
                                        </p:tgtEl>
                                        <p:attrNameLst>
                                          <p:attrName>ppt_x</p:attrName>
                                          <p:attrName>ppt_y</p:attrName>
                                        </p:attrNameLst>
                                      </p:cBhvr>
                                      <p:rCtr x="0" y="134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1802130" y="4338891"/>
            <a:ext cx="1424940" cy="627902"/>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Pins and Signals</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mc:AlternateContent xmlns:mc="http://schemas.openxmlformats.org/markup-compatibility/2006" xmlns:a14="http://schemas.microsoft.com/office/drawing/2010/main">
        <mc:Choice Requires="a14">
          <p:sp>
            <p:nvSpPr>
              <p:cNvPr id="45" name="TextBox 44"/>
              <p:cNvSpPr txBox="1"/>
              <p:nvPr/>
            </p:nvSpPr>
            <p:spPr>
              <a:xfrm>
                <a:off x="3429000" y="762000"/>
                <a:ext cx="5334000" cy="954107"/>
              </a:xfrm>
              <a:prstGeom prst="rect">
                <a:avLst/>
              </a:prstGeom>
              <a:solidFill>
                <a:srgbClr val="FFFFCC"/>
              </a:solidFill>
            </p:spPr>
            <p:txBody>
              <a:bodyPr wrap="square" rtlCol="0">
                <a:spAutoFit/>
              </a:bodyPr>
              <a:lstStyle/>
              <a:p>
                <a:pPr algn="ctr"/>
                <a:r>
                  <a:rPr lang="en-US" sz="1400" b="1" dirty="0" smtClean="0">
                    <a:latin typeface="Verdana" pitchFamily="34" charset="0"/>
                    <a:ea typeface="Verdana" pitchFamily="34" charset="0"/>
                    <a:cs typeface="Verdana" pitchFamily="34" charset="0"/>
                  </a:rPr>
                  <a:t>During maximum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smtClean="0">
                    <a:latin typeface="Verdana" pitchFamily="34" charset="0"/>
                    <a:ea typeface="Verdana" pitchFamily="34" charset="0"/>
                    <a:cs typeface="Verdana" pitchFamily="34" charset="0"/>
                  </a:rPr>
                  <a:t> is grounded (logic low)</a:t>
                </a:r>
              </a:p>
              <a:p>
                <a:pPr algn="ctr"/>
                <a:endParaRPr lang="en-US" sz="1400" b="1" dirty="0">
                  <a:latin typeface="Verdana" pitchFamily="34" charset="0"/>
                  <a:ea typeface="Verdana" pitchFamily="34" charset="0"/>
                  <a:cs typeface="Verdana" pitchFamily="34" charset="0"/>
                </a:endParaRPr>
              </a:p>
              <a:p>
                <a:pPr algn="ctr"/>
                <a:r>
                  <a:rPr lang="en-US" sz="1400" b="1" dirty="0" smtClean="0">
                    <a:latin typeface="Verdana" pitchFamily="34" charset="0"/>
                    <a:ea typeface="Verdana" pitchFamily="34" charset="0"/>
                    <a:cs typeface="Verdana" pitchFamily="34" charset="0"/>
                  </a:rPr>
                  <a:t>Pins 24 -31 are reassigned</a:t>
                </a:r>
                <a:endParaRPr lang="en-US" sz="1400" b="1" dirty="0">
                  <a:latin typeface="Verdana" pitchFamily="34" charset="0"/>
                  <a:ea typeface="Verdana" pitchFamily="34" charset="0"/>
                  <a:cs typeface="Verdana" pitchFamily="34" charset="0"/>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3429000" y="762000"/>
                <a:ext cx="5334000" cy="954107"/>
              </a:xfrm>
              <a:prstGeom prst="rect">
                <a:avLst/>
              </a:prstGeom>
              <a:blipFill rotWithShape="1">
                <a:blip r:embed="rId3"/>
                <a:stretch>
                  <a:fillRect t="-637" b="-50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7" name="Table 46"/>
              <p:cNvGraphicFramePr>
                <a:graphicFrameLocks noGrp="1"/>
              </p:cNvGraphicFramePr>
              <p:nvPr>
                <p:extLst>
                  <p:ext uri="{D42A27DB-BD31-4B8C-83A1-F6EECF244321}">
                    <p14:modId xmlns:p14="http://schemas.microsoft.com/office/powerpoint/2010/main" val="2094630352"/>
                  </p:ext>
                </p:extLst>
              </p:nvPr>
            </p:nvGraphicFramePr>
            <p:xfrm>
              <a:off x="3385457" y="213360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 xmlns:a16="http://schemas.microsoft.com/office/drawing/2014/main" val="20000"/>
                        </a:ext>
                      </a:extLst>
                    </a:gridCol>
                    <a:gridCol w="4591828">
                      <a:extLst>
                        <a:ext uri="{9D8B030D-6E8A-4147-A177-3AD203B41FA5}">
                          <a16:colId xmlns="" xmlns:a16="http://schemas.microsoft.com/office/drawing/2014/main" val="20001"/>
                        </a:ext>
                      </a:extLst>
                    </a:gridCol>
                  </a:tblGrid>
                  <a:tr h="370840">
                    <a:tc>
                      <a:txBody>
                        <a:bodyPr/>
                        <a:lstStyle/>
                        <a:p>
                          <a14:m>
                            <m:oMath xmlns:m="http://schemas.openxmlformats.org/officeDocument/2006/math">
                              <m:acc>
                                <m:accPr>
                                  <m:chr m:val="̅"/>
                                  <m:ctrlPr>
                                    <a:rPr lang="en-US" sz="1200" i="1" smtClean="0">
                                      <a:solidFill>
                                        <a:srgbClr val="FF0066"/>
                                      </a:solidFill>
                                      <a:latin typeface="Cambria Math" panose="02040503050406030204" pitchFamily="18" charset="0"/>
                                    </a:rPr>
                                  </m:ctrlPr>
                                </m:accPr>
                                <m:e>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𝑺</m:t>
                                      </m:r>
                                    </m:e>
                                    <m:sub>
                                      <m:r>
                                        <a:rPr lang="en-US" sz="1200" b="1" i="1" smtClean="0">
                                          <a:solidFill>
                                            <a:srgbClr val="FF0066"/>
                                          </a:solidFill>
                                          <a:latin typeface="Cambria Math"/>
                                        </a:rPr>
                                        <m:t>𝟎</m:t>
                                      </m:r>
                                    </m:sub>
                                  </m:sSub>
                                </m:e>
                              </m:acc>
                            </m:oMath>
                          </a14:m>
                          <a:r>
                            <a:rPr lang="en-US" sz="1200" i="0" dirty="0" smtClean="0">
                              <a:solidFill>
                                <a:sysClr val="windowText" lastClr="000000"/>
                              </a:solidFill>
                              <a:latin typeface="Verdana" pitchFamily="34" charset="0"/>
                              <a:ea typeface="Verdana" pitchFamily="34" charset="0"/>
                              <a:cs typeface="Verdana" pitchFamily="34" charset="0"/>
                            </a:rPr>
                            <a:t>,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𝑺</m:t>
                                      </m:r>
                                    </m:e>
                                    <m:sub>
                                      <m:r>
                                        <a:rPr lang="en-US" sz="1200" b="1" i="1" smtClean="0">
                                          <a:solidFill>
                                            <a:srgbClr val="FF0066"/>
                                          </a:solidFill>
                                          <a:latin typeface="Cambria Math"/>
                                        </a:rPr>
                                        <m:t>𝟏</m:t>
                                      </m:r>
                                    </m:sub>
                                  </m:sSub>
                                </m:e>
                              </m:acc>
                            </m:oMath>
                          </a14:m>
                          <a:r>
                            <a:rPr lang="en-US" sz="1200" i="0" dirty="0" smtClean="0">
                              <a:solidFill>
                                <a:sysClr val="windowText" lastClr="000000"/>
                              </a:solidFill>
                              <a:latin typeface="Verdana" pitchFamily="34" charset="0"/>
                              <a:ea typeface="Verdana" pitchFamily="34" charset="0"/>
                              <a:cs typeface="Verdana" pitchFamily="34" charset="0"/>
                            </a:rPr>
                            <a:t>,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𝑺</m:t>
                                      </m:r>
                                    </m:e>
                                    <m:sub>
                                      <m:r>
                                        <a:rPr lang="en-US" sz="1200" b="1" i="1" smtClean="0">
                                          <a:solidFill>
                                            <a:srgbClr val="FF0066"/>
                                          </a:solidFill>
                                          <a:latin typeface="Cambria Math"/>
                                        </a:rPr>
                                        <m:t>𝟐</m:t>
                                      </m:r>
                                    </m:sub>
                                  </m:sSub>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r>
                            <a:rPr lang="en-US" sz="1200" dirty="0" smtClean="0">
                              <a:solidFill>
                                <a:srgbClr val="FF0066"/>
                              </a:solidFill>
                              <a:latin typeface="Verdana" pitchFamily="34" charset="0"/>
                              <a:ea typeface="Verdana" pitchFamily="34" charset="0"/>
                              <a:cs typeface="Verdana" pitchFamily="34" charset="0"/>
                            </a:rPr>
                            <a:t>Status signals</a:t>
                          </a:r>
                          <a:r>
                            <a:rPr lang="en-US" sz="1200" dirty="0" smtClean="0">
                              <a:solidFill>
                                <a:sysClr val="windowText" lastClr="000000"/>
                              </a:solidFill>
                              <a:latin typeface="Verdana" pitchFamily="34" charset="0"/>
                              <a:ea typeface="Verdana" pitchFamily="34" charset="0"/>
                              <a:cs typeface="Verdana" pitchFamily="34" charset="0"/>
                            </a:rPr>
                            <a:t>; used by the 8086 bus controller to generate bus timing and control signals. These are decoded</a:t>
                          </a:r>
                          <a:r>
                            <a:rPr lang="en-US" sz="1200" baseline="0" dirty="0" smtClean="0">
                              <a:solidFill>
                                <a:sysClr val="windowText" lastClr="000000"/>
                              </a:solidFill>
                              <a:latin typeface="Verdana" pitchFamily="34" charset="0"/>
                              <a:ea typeface="Verdana" pitchFamily="34" charset="0"/>
                              <a:cs typeface="Verdana" pitchFamily="34" charset="0"/>
                            </a:rPr>
                            <a:t> as shown.</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 xmlns:a16="http://schemas.microsoft.com/office/drawing/2014/main" val="10000"/>
                      </a:ext>
                    </a:extLst>
                  </a:tr>
                </a:tbl>
              </a:graphicData>
            </a:graphic>
          </p:graphicFrame>
        </mc:Choice>
        <mc:Fallback xmlns="">
          <p:graphicFrame>
            <p:nvGraphicFramePr>
              <p:cNvPr id="47" name="Table 46"/>
              <p:cNvGraphicFramePr>
                <a:graphicFrameLocks noGrp="1"/>
              </p:cNvGraphicFramePr>
              <p:nvPr>
                <p:extLst>
                  <p:ext uri="{D42A27DB-BD31-4B8C-83A1-F6EECF244321}">
                    <p14:modId xmlns:p14="http://schemas.microsoft.com/office/powerpoint/2010/main" xmlns="" xmlns:a14="http://schemas.microsoft.com/office/drawing/2010/main" val="2094630352"/>
                  </p:ext>
                </p:extLst>
              </p:nvPr>
            </p:nvGraphicFramePr>
            <p:xfrm>
              <a:off x="3385457" y="2133600"/>
              <a:ext cx="5529943" cy="640080"/>
            </p:xfrm>
            <a:graphic>
              <a:graphicData uri="http://schemas.openxmlformats.org/drawingml/2006/table">
                <a:tbl>
                  <a:tblPr firstRow="1" bandRow="1">
                    <a:tableStyleId>{5C22544A-7EE6-4342-B048-85BDC9FD1C3A}</a:tableStyleId>
                  </a:tblPr>
                  <a:tblGrid>
                    <a:gridCol w="938115"/>
                    <a:gridCol w="4591828"/>
                  </a:tblGrid>
                  <a:tr h="640080">
                    <a:tc>
                      <a:txBody>
                        <a:bodyPr/>
                        <a:lstStyle/>
                        <a:p>
                          <a:endParaRPr lang="en-US"/>
                        </a:p>
                      </a:txBody>
                      <a:tcPr>
                        <a:blipFill rotWithShape="1">
                          <a:blip r:embed="rId4"/>
                          <a:stretch>
                            <a:fillRect r="-489610" b="-7619"/>
                          </a:stretch>
                        </a:blipFill>
                      </a:tcPr>
                    </a:tc>
                    <a:tc>
                      <a:txBody>
                        <a:bodyPr/>
                        <a:lstStyle/>
                        <a:p>
                          <a:r>
                            <a:rPr lang="en-US" sz="1200" dirty="0" smtClean="0">
                              <a:solidFill>
                                <a:srgbClr val="FF0066"/>
                              </a:solidFill>
                              <a:latin typeface="Verdana" pitchFamily="34" charset="0"/>
                              <a:ea typeface="Verdana" pitchFamily="34" charset="0"/>
                              <a:cs typeface="Verdana" pitchFamily="34" charset="0"/>
                            </a:rPr>
                            <a:t>Status signals</a:t>
                          </a:r>
                          <a:r>
                            <a:rPr lang="en-US" sz="1200" dirty="0" smtClean="0">
                              <a:solidFill>
                                <a:sysClr val="windowText" lastClr="000000"/>
                              </a:solidFill>
                              <a:latin typeface="Verdana" pitchFamily="34" charset="0"/>
                              <a:ea typeface="Verdana" pitchFamily="34" charset="0"/>
                              <a:cs typeface="Verdana" pitchFamily="34" charset="0"/>
                            </a:rPr>
                            <a:t>; used by the 8086 bus controller to generate bus timing and control signals. These are decoded</a:t>
                          </a:r>
                          <a:r>
                            <a:rPr lang="en-US" sz="1200" baseline="0" dirty="0" smtClean="0">
                              <a:solidFill>
                                <a:sysClr val="windowText" lastClr="000000"/>
                              </a:solidFill>
                              <a:latin typeface="Verdana" pitchFamily="34" charset="0"/>
                              <a:ea typeface="Verdana" pitchFamily="34" charset="0"/>
                              <a:cs typeface="Verdana" pitchFamily="34" charset="0"/>
                            </a:rPr>
                            <a:t> as shown.</a:t>
                          </a:r>
                          <a:endParaRPr lang="en-US" sz="1200" dirty="0">
                            <a:solidFill>
                              <a:sysClr val="windowText" lastClr="000000"/>
                            </a:solidFill>
                            <a:latin typeface="Verdana" pitchFamily="34" charset="0"/>
                            <a:ea typeface="Verdana" pitchFamily="34" charset="0"/>
                            <a:cs typeface="Verdana" pitchFamily="34" charset="0"/>
                          </a:endParaRPr>
                        </a:p>
                      </a:txBody>
                      <a:tcPr>
                        <a:noFill/>
                      </a:tcPr>
                    </a:tc>
                  </a:tr>
                </a:tbl>
              </a:graphicData>
            </a:graphic>
          </p:graphicFrame>
        </mc:Fallback>
      </mc:AlternateContent>
      <p:sp>
        <p:nvSpPr>
          <p:cNvPr id="48" name="Slide Number Placeholder 47"/>
          <p:cNvSpPr>
            <a:spLocks noGrp="1"/>
          </p:cNvSpPr>
          <p:nvPr>
            <p:ph type="sldNum" sz="quarter" idx="12"/>
          </p:nvPr>
        </p:nvSpPr>
        <p:spPr/>
        <p:txBody>
          <a:bodyPr/>
          <a:lstStyle/>
          <a:p>
            <a:fld id="{85E6815B-E59C-4D87-B1F6-ECBDD22AF1DC}" type="slidenum">
              <a:rPr lang="en-US" smtClean="0"/>
              <a:pPr/>
              <a:t>12</a:t>
            </a:fld>
            <a:endParaRPr lang="en-US" dirty="0"/>
          </a:p>
        </p:txBody>
      </p:sp>
      <p:pic>
        <p:nvPicPr>
          <p:cNvPr id="1026" name="Picture 2" descr="C:\Users\APARNA\Desktop\Microprocessor\8086_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 y="1847850"/>
            <a:ext cx="3202599" cy="417194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descr="C:\Users\APARNA\Desktop\mm.t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41837" y="2911474"/>
            <a:ext cx="3108325" cy="310832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5791456" y="188879"/>
            <a:ext cx="2895344" cy="338554"/>
          </a:xfrm>
          <a:prstGeom prst="rect">
            <a:avLst/>
          </a:prstGeom>
          <a:solidFill>
            <a:srgbClr val="FFC000"/>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Maximum mode signals</a:t>
            </a:r>
          </a:p>
        </p:txBody>
      </p:sp>
    </p:spTree>
    <p:extLst>
      <p:ext uri="{BB962C8B-B14F-4D97-AF65-F5344CB8AC3E}">
        <p14:creationId xmlns:p14="http://schemas.microsoft.com/office/powerpoint/2010/main" val="332730063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1802130" y="4952999"/>
            <a:ext cx="1424940" cy="427877"/>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Pins and Signals</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mc:AlternateContent xmlns:mc="http://schemas.openxmlformats.org/markup-compatibility/2006" xmlns:a14="http://schemas.microsoft.com/office/drawing/2010/main">
        <mc:Choice Requires="a14">
          <p:sp>
            <p:nvSpPr>
              <p:cNvPr id="45" name="TextBox 44"/>
              <p:cNvSpPr txBox="1"/>
              <p:nvPr/>
            </p:nvSpPr>
            <p:spPr>
              <a:xfrm>
                <a:off x="3429000" y="762000"/>
                <a:ext cx="5334000" cy="954107"/>
              </a:xfrm>
              <a:prstGeom prst="rect">
                <a:avLst/>
              </a:prstGeom>
              <a:solidFill>
                <a:srgbClr val="FFFFCC"/>
              </a:solidFill>
            </p:spPr>
            <p:txBody>
              <a:bodyPr wrap="square" rtlCol="0">
                <a:spAutoFit/>
              </a:bodyPr>
              <a:lstStyle/>
              <a:p>
                <a:pPr algn="ctr"/>
                <a:r>
                  <a:rPr lang="en-US" sz="1400" b="1" dirty="0" smtClean="0">
                    <a:latin typeface="Verdana" pitchFamily="34" charset="0"/>
                    <a:ea typeface="Verdana" pitchFamily="34" charset="0"/>
                    <a:cs typeface="Verdana" pitchFamily="34" charset="0"/>
                  </a:rPr>
                  <a:t>During maximum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smtClean="0">
                    <a:latin typeface="Verdana" pitchFamily="34" charset="0"/>
                    <a:ea typeface="Verdana" pitchFamily="34" charset="0"/>
                    <a:cs typeface="Verdana" pitchFamily="34" charset="0"/>
                  </a:rPr>
                  <a:t> is grounded (logic low)</a:t>
                </a:r>
              </a:p>
              <a:p>
                <a:pPr algn="ctr"/>
                <a:endParaRPr lang="en-US" sz="1400" b="1" dirty="0">
                  <a:latin typeface="Verdana" pitchFamily="34" charset="0"/>
                  <a:ea typeface="Verdana" pitchFamily="34" charset="0"/>
                  <a:cs typeface="Verdana" pitchFamily="34" charset="0"/>
                </a:endParaRPr>
              </a:p>
              <a:p>
                <a:pPr algn="ctr"/>
                <a:r>
                  <a:rPr lang="en-US" sz="1400" b="1" dirty="0" smtClean="0">
                    <a:latin typeface="Verdana" pitchFamily="34" charset="0"/>
                    <a:ea typeface="Verdana" pitchFamily="34" charset="0"/>
                    <a:cs typeface="Verdana" pitchFamily="34" charset="0"/>
                  </a:rPr>
                  <a:t>Pins 24 -31 are reassigned</a:t>
                </a:r>
                <a:endParaRPr lang="en-US" sz="1400" b="1" dirty="0">
                  <a:latin typeface="Verdana" pitchFamily="34" charset="0"/>
                  <a:ea typeface="Verdana" pitchFamily="34" charset="0"/>
                  <a:cs typeface="Verdana" pitchFamily="34" charset="0"/>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3429000" y="762000"/>
                <a:ext cx="5334000" cy="954107"/>
              </a:xfrm>
              <a:prstGeom prst="rect">
                <a:avLst/>
              </a:prstGeom>
              <a:blipFill rotWithShape="1">
                <a:blip r:embed="rId3"/>
                <a:stretch>
                  <a:fillRect t="-637" b="-5096"/>
                </a:stretch>
              </a:blipFill>
            </p:spPr>
            <p:txBody>
              <a:bodyPr/>
              <a:lstStyle/>
              <a:p>
                <a:r>
                  <a:rPr lang="en-US">
                    <a:noFill/>
                  </a:rPr>
                  <a:t> </a:t>
                </a:r>
              </a:p>
            </p:txBody>
          </p:sp>
        </mc:Fallback>
      </mc:AlternateContent>
      <p:graphicFrame>
        <p:nvGraphicFramePr>
          <p:cNvPr id="47" name="Table 46"/>
          <p:cNvGraphicFramePr>
            <a:graphicFrameLocks noGrp="1"/>
          </p:cNvGraphicFramePr>
          <p:nvPr>
            <p:extLst>
              <p:ext uri="{D42A27DB-BD31-4B8C-83A1-F6EECF244321}">
                <p14:modId xmlns:p14="http://schemas.microsoft.com/office/powerpoint/2010/main" val="2786467240"/>
              </p:ext>
            </p:extLst>
          </p:nvPr>
        </p:nvGraphicFramePr>
        <p:xfrm>
          <a:off x="3385457" y="2133600"/>
          <a:ext cx="5529943" cy="1554480"/>
        </p:xfrm>
        <a:graphic>
          <a:graphicData uri="http://schemas.openxmlformats.org/drawingml/2006/table">
            <a:tbl>
              <a:tblPr firstRow="1" bandRow="1">
                <a:tableStyleId>{5C22544A-7EE6-4342-B048-85BDC9FD1C3A}</a:tableStyleId>
              </a:tblPr>
              <a:tblGrid>
                <a:gridCol w="938115"/>
                <a:gridCol w="4591828"/>
              </a:tblGrid>
              <a:tr h="1554480">
                <a:tc>
                  <a:txBody>
                    <a:bodyPr/>
                    <a:lstStyle/>
                    <a:p>
                      <a:endParaRPr lang="en-US" dirty="0"/>
                    </a:p>
                  </a:txBody>
                  <a:tcPr>
                    <a:blipFill rotWithShape="1">
                      <a:blip r:embed="rId4"/>
                      <a:stretch>
                        <a:fillRect r="-489610" b="-3137"/>
                      </a:stretch>
                    </a:blipFill>
                  </a:tcPr>
                </a:tc>
                <a:tc>
                  <a:txBody>
                    <a:bodyPr/>
                    <a:lstStyle/>
                    <a:p>
                      <a:pPr algn="just"/>
                      <a:r>
                        <a:rPr lang="en-US" sz="1200" dirty="0" smtClean="0">
                          <a:solidFill>
                            <a:sysClr val="windowText" lastClr="000000"/>
                          </a:solidFill>
                          <a:latin typeface="Verdana" pitchFamily="34" charset="0"/>
                          <a:ea typeface="Verdana" pitchFamily="34" charset="0"/>
                          <a:cs typeface="Verdana" pitchFamily="34" charset="0"/>
                        </a:rPr>
                        <a:t>(</a:t>
                      </a:r>
                      <a:r>
                        <a:rPr lang="en-US" sz="1200" dirty="0" smtClean="0">
                          <a:solidFill>
                            <a:srgbClr val="FF0000"/>
                          </a:solidFill>
                          <a:latin typeface="Verdana" pitchFamily="34" charset="0"/>
                          <a:ea typeface="Verdana" pitchFamily="34" charset="0"/>
                          <a:cs typeface="Verdana" pitchFamily="34" charset="0"/>
                        </a:rPr>
                        <a:t>Queue Status</a:t>
                      </a:r>
                      <a:r>
                        <a:rPr lang="en-US" sz="1200" dirty="0" smtClean="0">
                          <a:solidFill>
                            <a:sysClr val="windowText" lastClr="000000"/>
                          </a:solidFill>
                          <a:latin typeface="Verdana" pitchFamily="34" charset="0"/>
                          <a:ea typeface="Verdana" pitchFamily="34" charset="0"/>
                          <a:cs typeface="Verdana" pitchFamily="34" charset="0"/>
                        </a:rPr>
                        <a:t>) The processor provides the status of queue in these</a:t>
                      </a:r>
                      <a:r>
                        <a:rPr lang="en-US" sz="1200" baseline="0" dirty="0" smtClean="0">
                          <a:solidFill>
                            <a:sysClr val="windowText" lastClr="000000"/>
                          </a:solidFill>
                          <a:latin typeface="Verdana" pitchFamily="34" charset="0"/>
                          <a:ea typeface="Verdana" pitchFamily="34" charset="0"/>
                          <a:cs typeface="Verdana" pitchFamily="34" charset="0"/>
                        </a:rPr>
                        <a:t> lines. </a:t>
                      </a:r>
                    </a:p>
                    <a:p>
                      <a:pPr algn="just"/>
                      <a:endParaRPr lang="en-US" sz="1200" baseline="0" dirty="0" smtClean="0">
                        <a:solidFill>
                          <a:sysClr val="windowText" lastClr="000000"/>
                        </a:solidFill>
                        <a:latin typeface="Verdana" pitchFamily="34" charset="0"/>
                        <a:ea typeface="Verdana" pitchFamily="34" charset="0"/>
                        <a:cs typeface="Verdana" pitchFamily="34" charset="0"/>
                      </a:endParaRPr>
                    </a:p>
                    <a:p>
                      <a:pPr algn="just"/>
                      <a:r>
                        <a:rPr lang="en-US" sz="1200" baseline="0" dirty="0" smtClean="0">
                          <a:solidFill>
                            <a:sysClr val="windowText" lastClr="000000"/>
                          </a:solidFill>
                          <a:latin typeface="Verdana" pitchFamily="34" charset="0"/>
                          <a:ea typeface="Verdana" pitchFamily="34" charset="0"/>
                          <a:cs typeface="Verdana" pitchFamily="34" charset="0"/>
                        </a:rPr>
                        <a:t>The output on QS</a:t>
                      </a:r>
                      <a:r>
                        <a:rPr lang="en-US" sz="1200" baseline="-25000" dirty="0" smtClean="0">
                          <a:solidFill>
                            <a:sysClr val="windowText" lastClr="000000"/>
                          </a:solidFill>
                          <a:latin typeface="Verdana" pitchFamily="34" charset="0"/>
                          <a:ea typeface="Verdana" pitchFamily="34" charset="0"/>
                          <a:cs typeface="Verdana" pitchFamily="34" charset="0"/>
                        </a:rPr>
                        <a:t>0</a:t>
                      </a:r>
                      <a:r>
                        <a:rPr lang="en-US" sz="1200" baseline="0" dirty="0" smtClean="0">
                          <a:solidFill>
                            <a:sysClr val="windowText" lastClr="000000"/>
                          </a:solidFill>
                          <a:latin typeface="Verdana" pitchFamily="34" charset="0"/>
                          <a:ea typeface="Verdana" pitchFamily="34" charset="0"/>
                          <a:cs typeface="Verdana" pitchFamily="34" charset="0"/>
                        </a:rPr>
                        <a:t> and QS</a:t>
                      </a:r>
                      <a:r>
                        <a:rPr lang="en-US" sz="1200" baseline="-25000" dirty="0" smtClean="0">
                          <a:solidFill>
                            <a:sysClr val="windowText" lastClr="000000"/>
                          </a:solidFill>
                          <a:latin typeface="Verdana" pitchFamily="34" charset="0"/>
                          <a:ea typeface="Verdana" pitchFamily="34" charset="0"/>
                          <a:cs typeface="Verdana" pitchFamily="34" charset="0"/>
                        </a:rPr>
                        <a:t>1</a:t>
                      </a:r>
                      <a:r>
                        <a:rPr lang="en-US" sz="1200" baseline="0" dirty="0" smtClean="0">
                          <a:solidFill>
                            <a:sysClr val="windowText" lastClr="000000"/>
                          </a:solidFill>
                          <a:latin typeface="Verdana" pitchFamily="34" charset="0"/>
                          <a:ea typeface="Verdana" pitchFamily="34" charset="0"/>
                          <a:cs typeface="Verdana" pitchFamily="34" charset="0"/>
                        </a:rPr>
                        <a:t> can be interpreted as shown in the table.</a:t>
                      </a:r>
                      <a:endParaRPr lang="en-US" sz="1200" dirty="0">
                        <a:solidFill>
                          <a:sysClr val="windowText" lastClr="000000"/>
                        </a:solidFill>
                        <a:latin typeface="Verdana" pitchFamily="34" charset="0"/>
                        <a:ea typeface="Verdana" pitchFamily="34" charset="0"/>
                        <a:cs typeface="Verdana" pitchFamily="34" charset="0"/>
                      </a:endParaRPr>
                    </a:p>
                  </a:txBody>
                  <a:tcPr>
                    <a:noFill/>
                  </a:tcPr>
                </a:tc>
              </a:tr>
            </a:tbl>
          </a:graphicData>
        </a:graphic>
      </p:graphicFrame>
      <p:sp>
        <p:nvSpPr>
          <p:cNvPr id="48" name="Slide Number Placeholder 47"/>
          <p:cNvSpPr>
            <a:spLocks noGrp="1"/>
          </p:cNvSpPr>
          <p:nvPr>
            <p:ph type="sldNum" sz="quarter" idx="12"/>
          </p:nvPr>
        </p:nvSpPr>
        <p:spPr/>
        <p:txBody>
          <a:bodyPr/>
          <a:lstStyle/>
          <a:p>
            <a:fld id="{85E6815B-E59C-4D87-B1F6-ECBDD22AF1DC}" type="slidenum">
              <a:rPr lang="en-US" smtClean="0"/>
              <a:pPr/>
              <a:t>13</a:t>
            </a:fld>
            <a:endParaRPr lang="en-US" dirty="0"/>
          </a:p>
        </p:txBody>
      </p:sp>
      <p:pic>
        <p:nvPicPr>
          <p:cNvPr id="1026" name="Picture 2" descr="C:\Users\APARNA\Desktop\Microprocessor\8086_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 y="1847850"/>
            <a:ext cx="3202599" cy="417194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C:\Users\APARNA\Desktop\mm.t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62400" y="3914775"/>
            <a:ext cx="4344504" cy="21050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791456" y="188879"/>
            <a:ext cx="2895344" cy="338554"/>
          </a:xfrm>
          <a:prstGeom prst="rect">
            <a:avLst/>
          </a:prstGeom>
          <a:solidFill>
            <a:srgbClr val="FFC000"/>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Maximum mode signals</a:t>
            </a:r>
          </a:p>
        </p:txBody>
      </p:sp>
    </p:spTree>
    <p:extLst>
      <p:ext uri="{BB962C8B-B14F-4D97-AF65-F5344CB8AC3E}">
        <p14:creationId xmlns:p14="http://schemas.microsoft.com/office/powerpoint/2010/main" val="5860129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828800" y="4133851"/>
            <a:ext cx="1424940" cy="213938"/>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1802130" y="3725023"/>
            <a:ext cx="1424940" cy="427877"/>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smtClean="0"/>
              <a:t>Pins and Signals</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mc:AlternateContent xmlns:mc="http://schemas.openxmlformats.org/markup-compatibility/2006" xmlns:a14="http://schemas.microsoft.com/office/drawing/2010/main">
        <mc:Choice Requires="a14">
          <p:sp>
            <p:nvSpPr>
              <p:cNvPr id="45" name="TextBox 44"/>
              <p:cNvSpPr txBox="1"/>
              <p:nvPr/>
            </p:nvSpPr>
            <p:spPr>
              <a:xfrm>
                <a:off x="3429000" y="762000"/>
                <a:ext cx="5334000" cy="954107"/>
              </a:xfrm>
              <a:prstGeom prst="rect">
                <a:avLst/>
              </a:prstGeom>
              <a:solidFill>
                <a:srgbClr val="FFFFCC"/>
              </a:solidFill>
            </p:spPr>
            <p:txBody>
              <a:bodyPr wrap="square" rtlCol="0">
                <a:spAutoFit/>
              </a:bodyPr>
              <a:lstStyle/>
              <a:p>
                <a:pPr algn="ctr"/>
                <a:r>
                  <a:rPr lang="en-US" sz="1400" b="1" dirty="0" smtClean="0">
                    <a:latin typeface="Verdana" pitchFamily="34" charset="0"/>
                    <a:ea typeface="Verdana" pitchFamily="34" charset="0"/>
                    <a:cs typeface="Verdana" pitchFamily="34" charset="0"/>
                  </a:rPr>
                  <a:t>During maximum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smtClean="0">
                    <a:latin typeface="Verdana" pitchFamily="34" charset="0"/>
                    <a:ea typeface="Verdana" pitchFamily="34" charset="0"/>
                    <a:cs typeface="Verdana" pitchFamily="34" charset="0"/>
                  </a:rPr>
                  <a:t> is grounded (logic low)</a:t>
                </a:r>
              </a:p>
              <a:p>
                <a:pPr algn="ctr"/>
                <a:endParaRPr lang="en-US" sz="1400" b="1" dirty="0">
                  <a:latin typeface="Verdana" pitchFamily="34" charset="0"/>
                  <a:ea typeface="Verdana" pitchFamily="34" charset="0"/>
                  <a:cs typeface="Verdana" pitchFamily="34" charset="0"/>
                </a:endParaRPr>
              </a:p>
              <a:p>
                <a:pPr algn="ctr"/>
                <a:r>
                  <a:rPr lang="en-US" sz="1400" b="1" dirty="0" smtClean="0">
                    <a:latin typeface="Verdana" pitchFamily="34" charset="0"/>
                    <a:ea typeface="Verdana" pitchFamily="34" charset="0"/>
                    <a:cs typeface="Verdana" pitchFamily="34" charset="0"/>
                  </a:rPr>
                  <a:t>Pins 24 -31 are reassigned</a:t>
                </a:r>
                <a:endParaRPr lang="en-US" sz="1400" b="1" dirty="0">
                  <a:latin typeface="Verdana" pitchFamily="34" charset="0"/>
                  <a:ea typeface="Verdana" pitchFamily="34" charset="0"/>
                  <a:cs typeface="Verdana" pitchFamily="34" charset="0"/>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3429000" y="762000"/>
                <a:ext cx="5334000" cy="954107"/>
              </a:xfrm>
              <a:prstGeom prst="rect">
                <a:avLst/>
              </a:prstGeom>
              <a:blipFill rotWithShape="1">
                <a:blip r:embed="rId3"/>
                <a:stretch>
                  <a:fillRect t="-637" b="-50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7" name="Table 46"/>
              <p:cNvGraphicFramePr>
                <a:graphicFrameLocks noGrp="1"/>
              </p:cNvGraphicFramePr>
              <p:nvPr>
                <p:extLst>
                  <p:ext uri="{D42A27DB-BD31-4B8C-83A1-F6EECF244321}">
                    <p14:modId xmlns:p14="http://schemas.microsoft.com/office/powerpoint/2010/main" val="3328042336"/>
                  </p:ext>
                </p:extLst>
              </p:nvPr>
            </p:nvGraphicFramePr>
            <p:xfrm>
              <a:off x="3385457" y="2133600"/>
              <a:ext cx="5529943" cy="1554861"/>
            </p:xfrm>
            <a:graphic>
              <a:graphicData uri="http://schemas.openxmlformats.org/drawingml/2006/table">
                <a:tbl>
                  <a:tblPr firstRow="1" bandRow="1">
                    <a:tableStyleId>{5C22544A-7EE6-4342-B048-85BDC9FD1C3A}</a:tableStyleId>
                  </a:tblPr>
                  <a:tblGrid>
                    <a:gridCol w="938115">
                      <a:extLst>
                        <a:ext uri="{9D8B030D-6E8A-4147-A177-3AD203B41FA5}">
                          <a16:colId xmlns="" xmlns:a16="http://schemas.microsoft.com/office/drawing/2014/main" val="20000"/>
                        </a:ext>
                      </a:extLst>
                    </a:gridCol>
                    <a:gridCol w="4591828">
                      <a:extLst>
                        <a:ext uri="{9D8B030D-6E8A-4147-A177-3AD203B41FA5}">
                          <a16:colId xmlns="" xmlns:a16="http://schemas.microsoft.com/office/drawing/2014/main" val="20001"/>
                        </a:ext>
                      </a:extLst>
                    </a:gridCol>
                  </a:tblGrid>
                  <a:tr h="370840">
                    <a:tc>
                      <a:txBody>
                        <a:bodyPr/>
                        <a:lstStyle/>
                        <a:p>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𝐑𝐐</m:t>
                                  </m:r>
                                </m:e>
                              </m:acc>
                              <m:r>
                                <a:rPr lang="en-US" sz="1200" b="1" i="0" smtClean="0">
                                  <a:solidFill>
                                    <a:srgbClr val="FF0066"/>
                                  </a:solidFill>
                                  <a:latin typeface="Cambria Math"/>
                                </a:rPr>
                                <m:t>/</m:t>
                              </m:r>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𝐆</m:t>
                                  </m:r>
                                  <m:sSub>
                                    <m:sSubPr>
                                      <m:ctrlPr>
                                        <a:rPr lang="en-US" sz="1200" b="1" i="1" smtClean="0">
                                          <a:solidFill>
                                            <a:srgbClr val="FF0066"/>
                                          </a:solidFill>
                                          <a:latin typeface="Cambria Math" panose="02040503050406030204" pitchFamily="18" charset="0"/>
                                        </a:rPr>
                                      </m:ctrlPr>
                                    </m:sSubPr>
                                    <m:e>
                                      <m:r>
                                        <a:rPr lang="en-US" sz="1200" b="1" i="0" smtClean="0">
                                          <a:solidFill>
                                            <a:srgbClr val="FF0066"/>
                                          </a:solidFill>
                                          <a:latin typeface="Cambria Math"/>
                                        </a:rPr>
                                        <m:t>𝐓</m:t>
                                      </m:r>
                                    </m:e>
                                    <m:sub>
                                      <m:r>
                                        <a:rPr lang="en-US" sz="1200" b="1" i="0" smtClean="0">
                                          <a:solidFill>
                                            <a:srgbClr val="FF0066"/>
                                          </a:solidFill>
                                          <a:latin typeface="Cambria Math"/>
                                        </a:rPr>
                                        <m:t>𝟎</m:t>
                                      </m:r>
                                    </m:sub>
                                  </m:sSub>
                                </m:e>
                              </m:acc>
                            </m:oMath>
                          </a14:m>
                          <a:r>
                            <a:rPr lang="en-US" sz="1200" i="0" dirty="0" smtClean="0">
                              <a:solidFill>
                                <a:sysClr val="windowText" lastClr="000000"/>
                              </a:solidFill>
                              <a:latin typeface="Verdana" pitchFamily="34" charset="0"/>
                              <a:ea typeface="Verdana" pitchFamily="34" charset="0"/>
                              <a:cs typeface="Verdana" pitchFamily="34" charset="0"/>
                            </a:rPr>
                            <a:t>,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𝐑𝐐</m:t>
                                  </m:r>
                                </m:e>
                              </m:acc>
                              <m:r>
                                <a:rPr lang="en-US" sz="1200" b="1" i="0" smtClean="0">
                                  <a:solidFill>
                                    <a:srgbClr val="FF0066"/>
                                  </a:solidFill>
                                  <a:latin typeface="Cambria Math"/>
                                </a:rPr>
                                <m:t>/</m:t>
                              </m:r>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𝐆</m:t>
                                  </m:r>
                                  <m:sSub>
                                    <m:sSubPr>
                                      <m:ctrlPr>
                                        <a:rPr lang="en-US" sz="1200" b="1" i="1" smtClean="0">
                                          <a:solidFill>
                                            <a:srgbClr val="FF0066"/>
                                          </a:solidFill>
                                          <a:latin typeface="Cambria Math" panose="02040503050406030204" pitchFamily="18" charset="0"/>
                                        </a:rPr>
                                      </m:ctrlPr>
                                    </m:sSubPr>
                                    <m:e>
                                      <m:r>
                                        <a:rPr lang="en-US" sz="1200" b="1" i="0" smtClean="0">
                                          <a:solidFill>
                                            <a:srgbClr val="FF0066"/>
                                          </a:solidFill>
                                          <a:latin typeface="Cambria Math"/>
                                        </a:rPr>
                                        <m:t>𝐓</m:t>
                                      </m:r>
                                    </m:e>
                                    <m:sub>
                                      <m:r>
                                        <a:rPr lang="en-US" sz="1200" b="1" i="0" smtClean="0">
                                          <a:solidFill>
                                            <a:srgbClr val="FF0066"/>
                                          </a:solidFill>
                                          <a:latin typeface="Cambria Math"/>
                                        </a:rPr>
                                        <m:t>𝟏</m:t>
                                      </m:r>
                                    </m:sub>
                                  </m:sSub>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pPr algn="just"/>
                          <a:r>
                            <a:rPr lang="en-US" sz="1200" dirty="0" smtClean="0">
                              <a:solidFill>
                                <a:sysClr val="windowText" lastClr="000000"/>
                              </a:solidFill>
                              <a:latin typeface="Verdana" pitchFamily="34" charset="0"/>
                              <a:ea typeface="Verdana" pitchFamily="34" charset="0"/>
                              <a:cs typeface="Verdana" pitchFamily="34" charset="0"/>
                            </a:rPr>
                            <a:t>(</a:t>
                          </a:r>
                          <a:r>
                            <a:rPr lang="en-US" sz="1200" dirty="0" smtClean="0">
                              <a:solidFill>
                                <a:srgbClr val="FF0066"/>
                              </a:solidFill>
                              <a:latin typeface="Verdana" pitchFamily="34" charset="0"/>
                              <a:ea typeface="Verdana" pitchFamily="34" charset="0"/>
                              <a:cs typeface="Verdana" pitchFamily="34" charset="0"/>
                            </a:rPr>
                            <a:t>Bus Request/ Bus Grant</a:t>
                          </a:r>
                          <a:r>
                            <a:rPr lang="en-US" sz="1200" dirty="0" smtClean="0">
                              <a:solidFill>
                                <a:sysClr val="windowText" lastClr="000000"/>
                              </a:solidFill>
                              <a:latin typeface="Verdana" pitchFamily="34" charset="0"/>
                              <a:ea typeface="Verdana" pitchFamily="34" charset="0"/>
                              <a:cs typeface="Verdana" pitchFamily="34" charset="0"/>
                            </a:rPr>
                            <a:t>) These requests are used by other local bus masters to force the processor to release the local bus</a:t>
                          </a:r>
                          <a:r>
                            <a:rPr lang="en-US" sz="1200" baseline="0" dirty="0" smtClean="0">
                              <a:solidFill>
                                <a:sysClr val="windowText" lastClr="000000"/>
                              </a:solidFill>
                              <a:latin typeface="Verdana" pitchFamily="34" charset="0"/>
                              <a:ea typeface="Verdana" pitchFamily="34" charset="0"/>
                              <a:cs typeface="Verdana" pitchFamily="34" charset="0"/>
                            </a:rPr>
                            <a:t> at the end of the processor’s current bus cycle. </a:t>
                          </a:r>
                        </a:p>
                        <a:p>
                          <a:endParaRPr lang="en-US" sz="1200" baseline="0" dirty="0" smtClean="0">
                            <a:solidFill>
                              <a:sysClr val="windowText" lastClr="000000"/>
                            </a:solidFill>
                            <a:latin typeface="Verdana" pitchFamily="34" charset="0"/>
                            <a:ea typeface="Verdana" pitchFamily="34" charset="0"/>
                            <a:cs typeface="Verdana" pitchFamily="34" charset="0"/>
                          </a:endParaRPr>
                        </a:p>
                        <a:p>
                          <a:r>
                            <a:rPr lang="en-US" sz="1200" baseline="0" dirty="0" smtClean="0">
                              <a:solidFill>
                                <a:sysClr val="windowText" lastClr="000000"/>
                              </a:solidFill>
                              <a:latin typeface="Verdana" pitchFamily="34" charset="0"/>
                              <a:ea typeface="Verdana" pitchFamily="34" charset="0"/>
                              <a:cs typeface="Verdana" pitchFamily="34" charset="0"/>
                            </a:rPr>
                            <a:t>These pins are bidirectional. </a:t>
                          </a:r>
                        </a:p>
                        <a:p>
                          <a:endParaRPr lang="en-US" sz="1200" baseline="0" dirty="0" smtClean="0">
                            <a:solidFill>
                              <a:sysClr val="windowText" lastClr="000000"/>
                            </a:solidFill>
                            <a:latin typeface="Verdana" pitchFamily="34" charset="0"/>
                            <a:ea typeface="Verdana" pitchFamily="34" charset="0"/>
                            <a:cs typeface="Verdana" pitchFamily="34" charset="0"/>
                          </a:endParaRPr>
                        </a:p>
                        <a:p>
                          <a:r>
                            <a:rPr lang="en-US" sz="1200" baseline="0" dirty="0" smtClean="0">
                              <a:solidFill>
                                <a:sysClr val="windowText" lastClr="000000"/>
                              </a:solidFill>
                              <a:latin typeface="Verdana" pitchFamily="34" charset="0"/>
                              <a:ea typeface="Verdana" pitchFamily="34" charset="0"/>
                              <a:cs typeface="Verdana" pitchFamily="34" charset="0"/>
                            </a:rPr>
                            <a:t>The request on</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𝐆</m:t>
                                  </m:r>
                                  <m:sSub>
                                    <m:sSubPr>
                                      <m:ctrlPr>
                                        <a:rPr lang="en-US" sz="1200" b="1" i="1" smtClean="0">
                                          <a:solidFill>
                                            <a:srgbClr val="FF0066"/>
                                          </a:solidFill>
                                          <a:latin typeface="Cambria Math" panose="02040503050406030204" pitchFamily="18" charset="0"/>
                                        </a:rPr>
                                      </m:ctrlPr>
                                    </m:sSubPr>
                                    <m:e>
                                      <m:r>
                                        <a:rPr lang="en-US" sz="1200" b="1" i="0" smtClean="0">
                                          <a:solidFill>
                                            <a:srgbClr val="FF0066"/>
                                          </a:solidFill>
                                          <a:latin typeface="Cambria Math"/>
                                        </a:rPr>
                                        <m:t>𝐓</m:t>
                                      </m:r>
                                    </m:e>
                                    <m:sub>
                                      <m:r>
                                        <a:rPr lang="en-US" sz="1200" b="1" i="0" smtClean="0">
                                          <a:solidFill>
                                            <a:srgbClr val="FF0066"/>
                                          </a:solidFill>
                                          <a:latin typeface="Cambria Math"/>
                                        </a:rPr>
                                        <m:t>𝟎</m:t>
                                      </m:r>
                                    </m:sub>
                                  </m:sSub>
                                </m:e>
                              </m:acc>
                            </m:oMath>
                          </a14:m>
                          <a:r>
                            <a:rPr lang="en-US" sz="1200" dirty="0" smtClean="0">
                              <a:solidFill>
                                <a:sysClr val="windowText" lastClr="000000"/>
                              </a:solidFill>
                              <a:latin typeface="Verdana" pitchFamily="34" charset="0"/>
                              <a:ea typeface="Verdana" pitchFamily="34" charset="0"/>
                              <a:cs typeface="Verdana" pitchFamily="34" charset="0"/>
                            </a:rPr>
                            <a:t> will have higher priority than</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𝐆</m:t>
                                  </m:r>
                                  <m:sSub>
                                    <m:sSubPr>
                                      <m:ctrlPr>
                                        <a:rPr lang="en-US" sz="1200" b="1" i="1" smtClean="0">
                                          <a:solidFill>
                                            <a:srgbClr val="FF0066"/>
                                          </a:solidFill>
                                          <a:latin typeface="Cambria Math" panose="02040503050406030204" pitchFamily="18" charset="0"/>
                                        </a:rPr>
                                      </m:ctrlPr>
                                    </m:sSubPr>
                                    <m:e>
                                      <m:r>
                                        <a:rPr lang="en-US" sz="1200" b="1" i="0" smtClean="0">
                                          <a:solidFill>
                                            <a:srgbClr val="FF0066"/>
                                          </a:solidFill>
                                          <a:latin typeface="Cambria Math"/>
                                        </a:rPr>
                                        <m:t>𝐓</m:t>
                                      </m:r>
                                    </m:e>
                                    <m:sub>
                                      <m:r>
                                        <a:rPr lang="en-US" sz="1200" b="1" i="0" smtClean="0">
                                          <a:solidFill>
                                            <a:srgbClr val="FF0066"/>
                                          </a:solidFill>
                                          <a:latin typeface="Cambria Math"/>
                                        </a:rPr>
                                        <m:t>𝟏</m:t>
                                      </m:r>
                                    </m:sub>
                                  </m:sSub>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 xmlns:a16="http://schemas.microsoft.com/office/drawing/2014/main" val="10000"/>
                      </a:ext>
                    </a:extLst>
                  </a:tr>
                </a:tbl>
              </a:graphicData>
            </a:graphic>
          </p:graphicFrame>
        </mc:Choice>
        <mc:Fallback xmlns="">
          <p:graphicFrame>
            <p:nvGraphicFramePr>
              <p:cNvPr id="47" name="Table 46"/>
              <p:cNvGraphicFramePr>
                <a:graphicFrameLocks noGrp="1"/>
              </p:cNvGraphicFramePr>
              <p:nvPr>
                <p:extLst>
                  <p:ext uri="{D42A27DB-BD31-4B8C-83A1-F6EECF244321}">
                    <p14:modId xmlns:p14="http://schemas.microsoft.com/office/powerpoint/2010/main" xmlns="" xmlns:a14="http://schemas.microsoft.com/office/drawing/2010/main" val="3328042336"/>
                  </p:ext>
                </p:extLst>
              </p:nvPr>
            </p:nvGraphicFramePr>
            <p:xfrm>
              <a:off x="3385457" y="2133600"/>
              <a:ext cx="5529943" cy="1738122"/>
            </p:xfrm>
            <a:graphic>
              <a:graphicData uri="http://schemas.openxmlformats.org/drawingml/2006/table">
                <a:tbl>
                  <a:tblPr firstRow="1" bandRow="1">
                    <a:tableStyleId>{5C22544A-7EE6-4342-B048-85BDC9FD1C3A}</a:tableStyleId>
                  </a:tblPr>
                  <a:tblGrid>
                    <a:gridCol w="938115"/>
                    <a:gridCol w="4591828"/>
                  </a:tblGrid>
                  <a:tr h="1738122">
                    <a:tc>
                      <a:txBody>
                        <a:bodyPr/>
                        <a:lstStyle/>
                        <a:p>
                          <a:endParaRPr lang="en-US" dirty="0"/>
                        </a:p>
                      </a:txBody>
                      <a:tcPr>
                        <a:blipFill rotWithShape="1">
                          <a:blip r:embed="rId4"/>
                          <a:stretch>
                            <a:fillRect r="-489610" b="-351"/>
                          </a:stretch>
                        </a:blipFill>
                      </a:tcPr>
                    </a:tc>
                    <a:tc>
                      <a:txBody>
                        <a:bodyPr/>
                        <a:lstStyle/>
                        <a:p>
                          <a:endParaRPr lang="en-US" dirty="0"/>
                        </a:p>
                      </a:txBody>
                      <a:tcPr>
                        <a:blipFill rotWithShape="1">
                          <a:blip r:embed="rId4"/>
                          <a:stretch>
                            <a:fillRect l="-20424" b="-351"/>
                          </a:stretch>
                        </a:blipFill>
                      </a:tcPr>
                    </a:tc>
                  </a:tr>
                </a:tbl>
              </a:graphicData>
            </a:graphic>
          </p:graphicFrame>
        </mc:Fallback>
      </mc:AlternateContent>
      <p:sp>
        <p:nvSpPr>
          <p:cNvPr id="48" name="Slide Number Placeholder 47"/>
          <p:cNvSpPr>
            <a:spLocks noGrp="1"/>
          </p:cNvSpPr>
          <p:nvPr>
            <p:ph type="sldNum" sz="quarter" idx="12"/>
          </p:nvPr>
        </p:nvSpPr>
        <p:spPr/>
        <p:txBody>
          <a:bodyPr/>
          <a:lstStyle/>
          <a:p>
            <a:fld id="{85E6815B-E59C-4D87-B1F6-ECBDD22AF1DC}" type="slidenum">
              <a:rPr lang="en-US" smtClean="0"/>
              <a:pPr/>
              <a:t>14</a:t>
            </a:fld>
            <a:endParaRPr lang="en-US" dirty="0"/>
          </a:p>
        </p:txBody>
      </p:sp>
      <p:pic>
        <p:nvPicPr>
          <p:cNvPr id="1026" name="Picture 2" descr="C:\Users\APARNA\Desktop\Microprocessor\8086_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 y="1847850"/>
            <a:ext cx="3202599" cy="417194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p:cNvGraphicFramePr>
            <a:graphicFrameLocks noGrp="1"/>
          </p:cNvGraphicFramePr>
          <p:nvPr>
            <p:extLst>
              <p:ext uri="{D42A27DB-BD31-4B8C-83A1-F6EECF244321}">
                <p14:modId xmlns:p14="http://schemas.microsoft.com/office/powerpoint/2010/main" val="4010108024"/>
              </p:ext>
            </p:extLst>
          </p:nvPr>
        </p:nvGraphicFramePr>
        <p:xfrm>
          <a:off x="3385457" y="4144899"/>
          <a:ext cx="5529943" cy="2284497"/>
        </p:xfrm>
        <a:graphic>
          <a:graphicData uri="http://schemas.openxmlformats.org/drawingml/2006/table">
            <a:tbl>
              <a:tblPr firstRow="1" bandRow="1">
                <a:tableStyleId>{5C22544A-7EE6-4342-B048-85BDC9FD1C3A}</a:tableStyleId>
              </a:tblPr>
              <a:tblGrid>
                <a:gridCol w="938115"/>
                <a:gridCol w="4591828"/>
              </a:tblGrid>
              <a:tr h="2284497">
                <a:tc>
                  <a:txBody>
                    <a:bodyPr/>
                    <a:lstStyle/>
                    <a:p>
                      <a:endParaRPr lang="en-US" dirty="0"/>
                    </a:p>
                  </a:txBody>
                  <a:tcPr>
                    <a:blipFill rotWithShape="1">
                      <a:blip r:embed="rId6"/>
                      <a:stretch>
                        <a:fillRect t="-290" r="-489610"/>
                      </a:stretch>
                    </a:blipFill>
                  </a:tcPr>
                </a:tc>
                <a:tc>
                  <a:txBody>
                    <a:bodyPr/>
                    <a:lstStyle/>
                    <a:p>
                      <a:endParaRPr lang="en-US" dirty="0"/>
                    </a:p>
                  </a:txBody>
                  <a:tcPr>
                    <a:blipFill rotWithShape="1">
                      <a:blip r:embed="rId6"/>
                      <a:stretch>
                        <a:fillRect l="-20424" t="-290"/>
                      </a:stretch>
                    </a:blipFill>
                  </a:tcPr>
                </a:tc>
              </a:tr>
            </a:tbl>
          </a:graphicData>
        </a:graphic>
      </p:graphicFrame>
      <p:sp>
        <p:nvSpPr>
          <p:cNvPr id="18" name="Rectangle 17"/>
          <p:cNvSpPr/>
          <p:nvPr/>
        </p:nvSpPr>
        <p:spPr>
          <a:xfrm>
            <a:off x="5791456" y="188879"/>
            <a:ext cx="2895344" cy="338554"/>
          </a:xfrm>
          <a:prstGeom prst="rect">
            <a:avLst/>
          </a:prstGeom>
          <a:solidFill>
            <a:srgbClr val="FFC000"/>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Maximum mode signals</a:t>
            </a:r>
          </a:p>
        </p:txBody>
      </p:sp>
    </p:spTree>
    <p:extLst>
      <p:ext uri="{BB962C8B-B14F-4D97-AF65-F5344CB8AC3E}">
        <p14:creationId xmlns:p14="http://schemas.microsoft.com/office/powerpoint/2010/main" val="4245909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 presetClass="exit"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hidden"/>
                                      </p:to>
                                    </p:set>
                                  </p:childTnLst>
                                </p:cTn>
                              </p:par>
                              <p:par>
                                <p:cTn id="10" presetID="10"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smtClean="0">
                <a:latin typeface="Octapost NBP" pitchFamily="2" charset="0"/>
              </a:rPr>
              <a:t>Architecture</a:t>
            </a:r>
            <a:endParaRPr lang="en-US" sz="3600" dirty="0">
              <a:latin typeface="Octapost NBP" pitchFamily="2" charset="0"/>
            </a:endParaRPr>
          </a:p>
        </p:txBody>
      </p:sp>
    </p:spTree>
    <p:extLst>
      <p:ext uri="{BB962C8B-B14F-4D97-AF65-F5344CB8AC3E}">
        <p14:creationId xmlns:p14="http://schemas.microsoft.com/office/powerpoint/2010/main" val="336019605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5E6815B-E59C-4D87-B1F6-ECBDD22AF1DC}" type="slidenum">
              <a:rPr lang="en-US" smtClean="0"/>
              <a:pPr/>
              <a:t>16</a:t>
            </a:fld>
            <a:endParaRPr lang="en-US" dirty="0"/>
          </a:p>
        </p:txBody>
      </p:sp>
      <p:pic>
        <p:nvPicPr>
          <p:cNvPr id="1026" name="Picture 2" descr="C:\Users\deepak\Desktop\block-diagram-of-8086-microprocessor-1.jpg"/>
          <p:cNvPicPr>
            <a:picLocks noChangeAspect="1" noChangeArrowheads="1"/>
          </p:cNvPicPr>
          <p:nvPr/>
        </p:nvPicPr>
        <p:blipFill>
          <a:blip r:embed="rId2"/>
          <a:srcRect/>
          <a:stretch>
            <a:fillRect/>
          </a:stretch>
        </p:blipFill>
        <p:spPr bwMode="auto">
          <a:xfrm>
            <a:off x="500034" y="285728"/>
            <a:ext cx="8358246" cy="607223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Architecture</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17</a:t>
            </a:fld>
            <a:endParaRPr lang="en-US" dirty="0"/>
          </a:p>
        </p:txBody>
      </p:sp>
      <p:sp>
        <p:nvSpPr>
          <p:cNvPr id="18" name="TextBox 17"/>
          <p:cNvSpPr txBox="1"/>
          <p:nvPr/>
        </p:nvSpPr>
        <p:spPr>
          <a:xfrm>
            <a:off x="533400" y="5181600"/>
            <a:ext cx="3657600" cy="1292662"/>
          </a:xfrm>
          <a:prstGeom prst="rect">
            <a:avLst/>
          </a:prstGeom>
          <a:solidFill>
            <a:srgbClr val="99FF66"/>
          </a:solidFill>
        </p:spPr>
        <p:txBody>
          <a:bodyPr wrap="square" rtlCol="0">
            <a:spAutoFit/>
          </a:bodyPr>
          <a:lstStyle/>
          <a:p>
            <a:pPr algn="ctr"/>
            <a:r>
              <a:rPr lang="en-US" sz="1300" b="1" dirty="0" smtClean="0">
                <a:solidFill>
                  <a:srgbClr val="FF0066"/>
                </a:solidFill>
                <a:latin typeface="Verdana" pitchFamily="34" charset="0"/>
                <a:ea typeface="Verdana" pitchFamily="34" charset="0"/>
                <a:cs typeface="Verdana" pitchFamily="34" charset="0"/>
              </a:rPr>
              <a:t>Execution </a:t>
            </a:r>
            <a:r>
              <a:rPr lang="en-US" sz="1300" b="1" dirty="0">
                <a:solidFill>
                  <a:srgbClr val="FF0066"/>
                </a:solidFill>
                <a:latin typeface="Verdana" pitchFamily="34" charset="0"/>
                <a:ea typeface="Verdana" pitchFamily="34" charset="0"/>
                <a:cs typeface="Verdana" pitchFamily="34" charset="0"/>
              </a:rPr>
              <a:t>Unit (EU</a:t>
            </a:r>
            <a:r>
              <a:rPr lang="en-US" sz="1300" b="1" dirty="0" smtClean="0">
                <a:solidFill>
                  <a:srgbClr val="FF0066"/>
                </a:solidFill>
                <a:latin typeface="Verdana" pitchFamily="34" charset="0"/>
                <a:ea typeface="Verdana" pitchFamily="34" charset="0"/>
                <a:cs typeface="Verdana" pitchFamily="34" charset="0"/>
              </a:rPr>
              <a:t>)</a:t>
            </a:r>
          </a:p>
          <a:p>
            <a:pPr algn="ctr"/>
            <a:endParaRPr lang="en-US" sz="1300" b="1" dirty="0" smtClean="0">
              <a:solidFill>
                <a:srgbClr val="FF0066"/>
              </a:solidFill>
              <a:latin typeface="Verdana" pitchFamily="34" charset="0"/>
              <a:ea typeface="Verdana" pitchFamily="34" charset="0"/>
              <a:cs typeface="Verdana" pitchFamily="34" charset="0"/>
            </a:endParaRPr>
          </a:p>
          <a:p>
            <a:pPr algn="ctr"/>
            <a:r>
              <a:rPr lang="en-US" sz="1300" b="1" dirty="0" smtClean="0">
                <a:latin typeface="Verdana" pitchFamily="34" charset="0"/>
                <a:ea typeface="Verdana" pitchFamily="34" charset="0"/>
                <a:cs typeface="Verdana" pitchFamily="34" charset="0"/>
              </a:rPr>
              <a:t>EU executes instructions that have already been fetched by the BIU.</a:t>
            </a:r>
          </a:p>
          <a:p>
            <a:pPr algn="ctr"/>
            <a:endParaRPr lang="en-US" sz="1300" b="1" dirty="0">
              <a:latin typeface="Verdana" pitchFamily="34" charset="0"/>
              <a:ea typeface="Verdana" pitchFamily="34" charset="0"/>
              <a:cs typeface="Verdana" pitchFamily="34" charset="0"/>
            </a:endParaRPr>
          </a:p>
          <a:p>
            <a:pPr algn="ctr"/>
            <a:r>
              <a:rPr lang="en-US" sz="1300" b="1" dirty="0" smtClean="0">
                <a:latin typeface="Verdana" pitchFamily="34" charset="0"/>
                <a:ea typeface="Verdana" pitchFamily="34" charset="0"/>
                <a:cs typeface="Verdana" pitchFamily="34" charset="0"/>
              </a:rPr>
              <a:t>BIU and EU functions separately.</a:t>
            </a:r>
            <a:endParaRPr lang="en-US" sz="1300" b="1" dirty="0">
              <a:latin typeface="Verdana" pitchFamily="34" charset="0"/>
              <a:ea typeface="Verdana" pitchFamily="34" charset="0"/>
              <a:cs typeface="Verdana" pitchFamily="34" charset="0"/>
            </a:endParaRPr>
          </a:p>
        </p:txBody>
      </p:sp>
      <p:sp>
        <p:nvSpPr>
          <p:cNvPr id="7" name="TextBox 6"/>
          <p:cNvSpPr txBox="1"/>
          <p:nvPr/>
        </p:nvSpPr>
        <p:spPr>
          <a:xfrm>
            <a:off x="4572000" y="5181600"/>
            <a:ext cx="3657600" cy="1292662"/>
          </a:xfrm>
          <a:prstGeom prst="rect">
            <a:avLst/>
          </a:prstGeom>
          <a:solidFill>
            <a:srgbClr val="99FF66"/>
          </a:solidFill>
        </p:spPr>
        <p:txBody>
          <a:bodyPr wrap="square" rtlCol="0">
            <a:spAutoFit/>
          </a:bodyPr>
          <a:lstStyle/>
          <a:p>
            <a:pPr algn="ctr"/>
            <a:r>
              <a:rPr lang="en-US" sz="1300" b="1" dirty="0" smtClean="0">
                <a:solidFill>
                  <a:srgbClr val="FF0066"/>
                </a:solidFill>
                <a:latin typeface="Verdana" pitchFamily="34" charset="0"/>
                <a:ea typeface="Verdana" pitchFamily="34" charset="0"/>
                <a:cs typeface="Verdana" pitchFamily="34" charset="0"/>
              </a:rPr>
              <a:t>Bus Interface Unit (BIU)</a:t>
            </a:r>
          </a:p>
          <a:p>
            <a:pPr algn="ctr"/>
            <a:endParaRPr lang="en-US" sz="1300" b="1" dirty="0">
              <a:solidFill>
                <a:srgbClr val="FF0066"/>
              </a:solidFill>
              <a:latin typeface="Verdana" pitchFamily="34" charset="0"/>
              <a:ea typeface="Verdana" pitchFamily="34" charset="0"/>
              <a:cs typeface="Verdana" pitchFamily="34" charset="0"/>
            </a:endParaRPr>
          </a:p>
          <a:p>
            <a:pPr algn="ctr"/>
            <a:r>
              <a:rPr lang="en-US" sz="1300" b="1" dirty="0">
                <a:latin typeface="Verdana" pitchFamily="34" charset="0"/>
                <a:ea typeface="Verdana" pitchFamily="34" charset="0"/>
                <a:cs typeface="Verdana" pitchFamily="34" charset="0"/>
              </a:rPr>
              <a:t>BIU fetches instructions, reads data from memory and I/O ports, writes data to memory and I/ O ports</a:t>
            </a:r>
            <a:r>
              <a:rPr lang="en-US" sz="1300" b="1" dirty="0" smtClean="0">
                <a:latin typeface="Verdana" pitchFamily="34" charset="0"/>
                <a:ea typeface="Verdana" pitchFamily="34" charset="0"/>
                <a:cs typeface="Verdana" pitchFamily="34" charset="0"/>
              </a:rPr>
              <a:t>.</a:t>
            </a:r>
          </a:p>
          <a:p>
            <a:pPr algn="ctr"/>
            <a:endParaRPr lang="en-US" sz="1300" b="1" dirty="0" smtClean="0">
              <a:solidFill>
                <a:srgbClr val="FF0066"/>
              </a:solidFill>
              <a:latin typeface="Verdana" pitchFamily="34" charset="0"/>
              <a:ea typeface="Verdana" pitchFamily="34" charset="0"/>
              <a:cs typeface="Verdana" pitchFamily="34" charset="0"/>
            </a:endParaRPr>
          </a:p>
        </p:txBody>
      </p:sp>
      <p:pic>
        <p:nvPicPr>
          <p:cNvPr id="4" name="Picture 2" descr="C:\Users\AMMU\Desktop\Microprocessor\Internal Architecture.png"/>
          <p:cNvPicPr>
            <a:picLocks noChangeAspect="1" noChangeArrowheads="1"/>
          </p:cNvPicPr>
          <p:nvPr/>
        </p:nvPicPr>
        <p:blipFill rotWithShape="1">
          <a:blip r:embed="rId3">
            <a:extLst>
              <a:ext uri="{28A0092B-C50C-407E-A947-70E740481C1C}">
                <a14:useLocalDpi xmlns:a14="http://schemas.microsoft.com/office/drawing/2010/main" val="0"/>
              </a:ext>
            </a:extLst>
          </a:blip>
          <a:srcRect b="5908"/>
          <a:stretch/>
        </p:blipFill>
        <p:spPr bwMode="auto">
          <a:xfrm>
            <a:off x="1447800" y="685799"/>
            <a:ext cx="6324600" cy="4434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380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Slide Number Placeholder 2"/>
          <p:cNvSpPr>
            <a:spLocks noGrp="1"/>
          </p:cNvSpPr>
          <p:nvPr>
            <p:ph type="sldNum" sz="quarter" idx="12"/>
          </p:nvPr>
        </p:nvSpPr>
        <p:spPr/>
        <p:txBody>
          <a:bodyPr/>
          <a:lstStyle/>
          <a:p>
            <a:fld id="{85E6815B-E59C-4D87-B1F6-ECBDD22AF1DC}" type="slidenum">
              <a:rPr lang="en-US" smtClean="0"/>
              <a:pPr/>
              <a:t>18</a:t>
            </a:fld>
            <a:endParaRPr lang="en-US" dirty="0"/>
          </a:p>
        </p:txBody>
      </p:sp>
      <p:pic>
        <p:nvPicPr>
          <p:cNvPr id="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913" y="131763"/>
            <a:ext cx="9082087" cy="593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48898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85E6815B-E59C-4D87-B1F6-ECBDD22AF1DC}" type="slidenum">
              <a:rPr lang="en-US" smtClean="0"/>
              <a:pPr/>
              <a:t>19</a:t>
            </a:fld>
            <a:endParaRPr lang="en-US" dirty="0"/>
          </a:p>
        </p:txBody>
      </p:sp>
      <p:sp>
        <p:nvSpPr>
          <p:cNvPr id="4" name="Rectangle 1"/>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smtClean="0">
                <a:ln>
                  <a:noFill/>
                </a:ln>
                <a:solidFill>
                  <a:srgbClr val="313131"/>
                </a:solidFill>
                <a:effectLst/>
                <a:latin typeface="Roboto-Regular"/>
                <a:cs typeface="Arial" pitchFamily="34" charset="0"/>
              </a:rPr>
              <a:t>e) Status Register</a:t>
            </a:r>
            <a:r>
              <a:rPr kumimoji="0" lang="en-US" sz="800" b="0" i="0" u="none" strike="noStrike" cap="none" normalizeH="0" baseline="0" smtClean="0">
                <a:ln>
                  <a:noFill/>
                </a:ln>
                <a:solidFill>
                  <a:schemeClr val="tx1"/>
                </a:solidFill>
                <a:effectLst/>
                <a:latin typeface="Arial" pitchFamily="34" charset="0"/>
                <a:cs typeface="Arial" pitchFamily="34" charset="0"/>
              </a:rPr>
              <a:t/>
            </a:r>
            <a:br>
              <a:rPr kumimoji="0" lang="en-US" sz="800" b="0" i="0" u="none" strike="noStrike" cap="none" normalizeH="0" baseline="0" smtClean="0">
                <a:ln>
                  <a:noFill/>
                </a:ln>
                <a:solidFill>
                  <a:schemeClr val="tx1"/>
                </a:solidFill>
                <a:effectLst/>
                <a:latin typeface="Arial" pitchFamily="34" charset="0"/>
                <a:cs typeface="Arial" pitchFamily="34" charset="0"/>
              </a:rPr>
            </a:br>
            <a:r>
              <a:rPr kumimoji="0" lang="en-US" sz="1800" b="0" i="0" u="none" strike="noStrike" cap="none" normalizeH="0" baseline="0" smtClean="0">
                <a:ln>
                  <a:noFill/>
                </a:ln>
                <a:solidFill>
                  <a:schemeClr val="tx1"/>
                </a:solidFill>
                <a:effectLst/>
                <a:latin typeface="Arial" pitchFamily="34" charset="0"/>
                <a:cs typeface="Arial" pitchFamily="34" charset="0"/>
              </a:rPr>
              <a:t>  </a:t>
            </a:r>
            <a:r>
              <a:rPr kumimoji="0" lang="en-US" sz="22400" b="0" i="0" u="none" strike="noStrike" cap="none" normalizeH="0" baseline="0" smtClean="0">
                <a:ln>
                  <a:noFill/>
                </a:ln>
                <a:solidFill>
                  <a:schemeClr val="tx1"/>
                </a:solidFill>
                <a:effectLst/>
                <a:latin typeface="Arial" pitchFamily="34" charset="0"/>
                <a:cs typeface="Arial" pitchFamily="34" charset="0"/>
              </a:rPr>
              <a:t/>
            </a:r>
            <a:br>
              <a:rPr kumimoji="0" lang="en-US" sz="22400" b="0" i="0" u="none" strike="noStrike" cap="none" normalizeH="0" baseline="0" smtClean="0">
                <a:ln>
                  <a:noFill/>
                </a:ln>
                <a:solidFill>
                  <a:schemeClr val="tx1"/>
                </a:solidFill>
                <a:effectLst/>
                <a:latin typeface="Arial" pitchFamily="34" charset="0"/>
                <a:cs typeface="Arial" pitchFamily="34" charset="0"/>
              </a:rPr>
            </a:br>
            <a:r>
              <a:rPr kumimoji="0" lang="en-US" sz="1000" b="1" i="0" u="none" strike="noStrike" cap="none" normalizeH="0" baseline="0" smtClean="0">
                <a:ln>
                  <a:noFill/>
                </a:ln>
                <a:solidFill>
                  <a:srgbClr val="313131"/>
                </a:solidFill>
                <a:effectLst/>
                <a:latin typeface="Roboto-Regular"/>
                <a:cs typeface="Arial" pitchFamily="34" charset="0"/>
              </a:rPr>
              <a:t>Figure:</a:t>
            </a:r>
            <a:r>
              <a:rPr kumimoji="0" lang="en-US" sz="1000" b="0" i="0" u="none" strike="noStrike" cap="none" normalizeH="0" baseline="0" smtClean="0">
                <a:ln>
                  <a:noFill/>
                </a:ln>
                <a:solidFill>
                  <a:srgbClr val="313131"/>
                </a:solidFill>
                <a:effectLst/>
                <a:latin typeface="Roboto-Regular"/>
                <a:cs typeface="Arial" pitchFamily="34" charset="0"/>
              </a:rPr>
              <a:t> Register groups of 8086 micro-processor</a:t>
            </a:r>
            <a:r>
              <a:rPr kumimoji="0" lang="en-US" sz="800" b="0" i="0" u="none" strike="noStrike" cap="none" normalizeH="0" baseline="0" smtClean="0">
                <a:ln>
                  <a:noFill/>
                </a:ln>
                <a:solidFill>
                  <a:schemeClr val="tx1"/>
                </a:solidFill>
                <a:effectLst/>
                <a:latin typeface="Arial"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1026" name="Picture 2" descr="Engineering Study Mate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88640"/>
            <a:ext cx="7848872" cy="6336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17726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85E6815B-E59C-4D87-B1F6-ECBDD22AF1DC}" type="slidenum">
              <a:rPr lang="en-US" smtClean="0"/>
              <a:pPr/>
              <a:t>20</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88640"/>
            <a:ext cx="6984775" cy="6480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02254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85E6815B-E59C-4D87-B1F6-ECBDD22AF1DC}" type="slidenum">
              <a:rPr lang="en-US" smtClean="0"/>
              <a:pPr/>
              <a:t>21</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75" y="57150"/>
            <a:ext cx="6953250" cy="674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63488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85E6815B-E59C-4D87-B1F6-ECBDD22AF1DC}" type="slidenum">
              <a:rPr lang="en-US" smtClean="0"/>
              <a:pPr/>
              <a:t>22</a:t>
            </a:fld>
            <a:endParaRPr lang="en-US" dirty="0"/>
          </a:p>
        </p:txBody>
      </p:sp>
      <p:sp>
        <p:nvSpPr>
          <p:cNvPr id="6" name="Rectangle 5"/>
          <p:cNvSpPr/>
          <p:nvPr/>
        </p:nvSpPr>
        <p:spPr>
          <a:xfrm>
            <a:off x="586087" y="692696"/>
            <a:ext cx="8280920" cy="5139869"/>
          </a:xfrm>
          <a:prstGeom prst="rect">
            <a:avLst/>
          </a:prstGeom>
        </p:spPr>
        <p:txBody>
          <a:bodyPr wrap="square">
            <a:spAutoFit/>
          </a:bodyPr>
          <a:lstStyle/>
          <a:p>
            <a:r>
              <a:rPr lang="en-US" sz="2800" b="1" dirty="0" smtClean="0"/>
              <a:t>Pipelining</a:t>
            </a:r>
            <a:r>
              <a:rPr lang="en-US" sz="2800" b="1" dirty="0"/>
              <a:t>: </a:t>
            </a:r>
            <a:endParaRPr lang="en-US" sz="2800" b="1" dirty="0" smtClean="0"/>
          </a:p>
          <a:p>
            <a:r>
              <a:rPr lang="en-US" sz="2000" dirty="0" smtClean="0"/>
              <a:t>The </a:t>
            </a:r>
            <a:r>
              <a:rPr lang="en-US" sz="2000" dirty="0"/>
              <a:t>process of fetching the next instruction when the present instruction is being executed is called as pipelining.</a:t>
            </a:r>
          </a:p>
          <a:p>
            <a:r>
              <a:rPr lang="en-US" sz="2000" dirty="0"/>
              <a:t>Pipelining has become possible due to the use of queue.</a:t>
            </a:r>
          </a:p>
          <a:p>
            <a:r>
              <a:rPr lang="en-US" sz="2000" dirty="0"/>
              <a:t>BIU (Bus Interfacing Unit) fills in the queue until the entire queue is full.</a:t>
            </a:r>
          </a:p>
          <a:p>
            <a:r>
              <a:rPr lang="en-US" sz="2000" dirty="0"/>
              <a:t>BIU restarts filling in the queue when at least two locations of queue are vacant.</a:t>
            </a:r>
          </a:p>
          <a:p>
            <a:r>
              <a:rPr lang="en-US" sz="2000" b="1" dirty="0"/>
              <a:t>Advantages of pipelining:</a:t>
            </a:r>
            <a:endParaRPr lang="en-US" sz="2000" dirty="0"/>
          </a:p>
          <a:p>
            <a:r>
              <a:rPr lang="en-US" sz="2000" dirty="0"/>
              <a:t>The execution unit always reads the next instruction byte from the queue in BIU. This is faster than sending out an address to the memory and waiting for the next instruction byte to come.</a:t>
            </a:r>
          </a:p>
          <a:p>
            <a:r>
              <a:rPr lang="en-US" sz="2000" dirty="0"/>
              <a:t>In short pipelining eliminates the waiting time of EU and speeds up the processing. -The 8086 BIU will not initiate a fetch unless and until there are two empty bytes in its queue. 8086 BIU normally obtains two instruction bytes per fetch.</a:t>
            </a:r>
          </a:p>
        </p:txBody>
      </p:sp>
    </p:spTree>
    <p:extLst>
      <p:ext uri="{BB962C8B-B14F-4D97-AF65-F5344CB8AC3E}">
        <p14:creationId xmlns:p14="http://schemas.microsoft.com/office/powerpoint/2010/main" val="17168740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85E6815B-E59C-4D87-B1F6-ECBDD22AF1DC}" type="slidenum">
              <a:rPr lang="en-US" smtClean="0"/>
              <a:pPr/>
              <a:t>23</a:t>
            </a:fld>
            <a:endParaRPr lang="en-US" dirty="0"/>
          </a:p>
        </p:txBody>
      </p:sp>
      <p:sp>
        <p:nvSpPr>
          <p:cNvPr id="4" name="Rectangle 3"/>
          <p:cNvSpPr/>
          <p:nvPr/>
        </p:nvSpPr>
        <p:spPr>
          <a:xfrm>
            <a:off x="611560" y="1582341"/>
            <a:ext cx="7992888" cy="3785652"/>
          </a:xfrm>
          <a:prstGeom prst="rect">
            <a:avLst/>
          </a:prstGeom>
        </p:spPr>
        <p:txBody>
          <a:bodyPr wrap="square">
            <a:spAutoFit/>
          </a:bodyPr>
          <a:lstStyle/>
          <a:p>
            <a:r>
              <a:rPr lang="en-US" sz="2400" b="1" dirty="0"/>
              <a:t>The Instruction Queue:</a:t>
            </a:r>
            <a:endParaRPr lang="en-US" sz="2400" dirty="0"/>
          </a:p>
          <a:p>
            <a:r>
              <a:rPr lang="en-US" sz="2400" dirty="0"/>
              <a:t>The execution unit (EU) is supposed to decode or execute an instruction.</a:t>
            </a:r>
          </a:p>
          <a:p>
            <a:r>
              <a:rPr lang="en-US" sz="2400" dirty="0"/>
              <a:t>Decoding does not require the use of buses.</a:t>
            </a:r>
          </a:p>
          <a:p>
            <a:r>
              <a:rPr lang="en-US" sz="2400" dirty="0"/>
              <a:t>When EU is busy in decoding and executing an instruction, the BIU fetches up to six instruction bytes for the next instructions.</a:t>
            </a:r>
          </a:p>
          <a:p>
            <a:r>
              <a:rPr lang="en-US" sz="2400" dirty="0"/>
              <a:t>These bytes are called as the pre-fetched bytes and they are stored in a first in first out (FIFO) register set, which is called as a queue.</a:t>
            </a:r>
          </a:p>
        </p:txBody>
      </p:sp>
    </p:spTree>
    <p:extLst>
      <p:ext uri="{BB962C8B-B14F-4D97-AF65-F5344CB8AC3E}">
        <p14:creationId xmlns:p14="http://schemas.microsoft.com/office/powerpoint/2010/main" val="12273813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Architecture</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24</a:t>
            </a:fld>
            <a:endParaRPr lang="en-US" dirty="0"/>
          </a:p>
        </p:txBody>
      </p:sp>
      <p:sp>
        <p:nvSpPr>
          <p:cNvPr id="11" name="Rectangle 10"/>
          <p:cNvSpPr/>
          <p:nvPr/>
        </p:nvSpPr>
        <p:spPr>
          <a:xfrm>
            <a:off x="3581400" y="5349642"/>
            <a:ext cx="3886200" cy="1492716"/>
          </a:xfrm>
          <a:prstGeom prst="rect">
            <a:avLst/>
          </a:prstGeom>
          <a:solidFill>
            <a:srgbClr val="99FFCC"/>
          </a:solidFill>
        </p:spPr>
        <p:txBody>
          <a:bodyPr wrap="square">
            <a:spAutoFit/>
          </a:bodyPr>
          <a:lstStyle/>
          <a:p>
            <a:pPr algn="ctr"/>
            <a:r>
              <a:rPr lang="en-US" sz="1300" b="1" dirty="0" smtClean="0">
                <a:latin typeface="Verdana" pitchFamily="34" charset="0"/>
                <a:ea typeface="Verdana" pitchFamily="34" charset="0"/>
                <a:cs typeface="Verdana" pitchFamily="34" charset="0"/>
              </a:rPr>
              <a:t>Some of the 16 bit registers can be used as two 8 bit registers as :</a:t>
            </a:r>
          </a:p>
          <a:p>
            <a:pPr algn="ctr"/>
            <a:endParaRPr lang="en-US" sz="1300" b="1" dirty="0">
              <a:latin typeface="Verdana" pitchFamily="34" charset="0"/>
              <a:ea typeface="Verdana" pitchFamily="34" charset="0"/>
              <a:cs typeface="Verdana" pitchFamily="34" charset="0"/>
            </a:endParaRPr>
          </a:p>
          <a:p>
            <a:pPr algn="ctr"/>
            <a:r>
              <a:rPr lang="en-US" sz="1300" b="1" dirty="0" smtClean="0">
                <a:latin typeface="Verdana" pitchFamily="34" charset="0"/>
                <a:ea typeface="Verdana" pitchFamily="34" charset="0"/>
                <a:cs typeface="Verdana" pitchFamily="34" charset="0"/>
              </a:rPr>
              <a:t>AX can be used as AH and AL</a:t>
            </a:r>
          </a:p>
          <a:p>
            <a:pPr algn="ctr"/>
            <a:r>
              <a:rPr lang="en-US" sz="1300" b="1" dirty="0" smtClean="0">
                <a:latin typeface="Verdana" pitchFamily="34" charset="0"/>
                <a:ea typeface="Verdana" pitchFamily="34" charset="0"/>
                <a:cs typeface="Verdana" pitchFamily="34" charset="0"/>
              </a:rPr>
              <a:t>BX </a:t>
            </a:r>
            <a:r>
              <a:rPr lang="en-US" sz="1300" b="1" dirty="0">
                <a:latin typeface="Verdana" pitchFamily="34" charset="0"/>
                <a:ea typeface="Verdana" pitchFamily="34" charset="0"/>
                <a:cs typeface="Verdana" pitchFamily="34" charset="0"/>
              </a:rPr>
              <a:t>can be used as </a:t>
            </a:r>
            <a:r>
              <a:rPr lang="en-US" sz="1300" b="1" dirty="0" smtClean="0">
                <a:latin typeface="Verdana" pitchFamily="34" charset="0"/>
                <a:ea typeface="Verdana" pitchFamily="34" charset="0"/>
                <a:cs typeface="Verdana" pitchFamily="34" charset="0"/>
              </a:rPr>
              <a:t>BH </a:t>
            </a:r>
            <a:r>
              <a:rPr lang="en-US" sz="1300" b="1" dirty="0">
                <a:latin typeface="Verdana" pitchFamily="34" charset="0"/>
                <a:ea typeface="Verdana" pitchFamily="34" charset="0"/>
                <a:cs typeface="Verdana" pitchFamily="34" charset="0"/>
              </a:rPr>
              <a:t>and </a:t>
            </a:r>
            <a:r>
              <a:rPr lang="en-US" sz="1300" b="1" dirty="0" smtClean="0">
                <a:latin typeface="Verdana" pitchFamily="34" charset="0"/>
                <a:ea typeface="Verdana" pitchFamily="34" charset="0"/>
                <a:cs typeface="Verdana" pitchFamily="34" charset="0"/>
              </a:rPr>
              <a:t>BL</a:t>
            </a:r>
            <a:endParaRPr lang="en-US" sz="1300" b="1" dirty="0">
              <a:latin typeface="Verdana" pitchFamily="34" charset="0"/>
              <a:ea typeface="Verdana" pitchFamily="34" charset="0"/>
              <a:cs typeface="Verdana" pitchFamily="34" charset="0"/>
            </a:endParaRPr>
          </a:p>
          <a:p>
            <a:pPr algn="ctr"/>
            <a:r>
              <a:rPr lang="en-US" sz="1300" b="1" dirty="0" smtClean="0">
                <a:latin typeface="Verdana" pitchFamily="34" charset="0"/>
                <a:ea typeface="Verdana" pitchFamily="34" charset="0"/>
                <a:cs typeface="Verdana" pitchFamily="34" charset="0"/>
              </a:rPr>
              <a:t>CX </a:t>
            </a:r>
            <a:r>
              <a:rPr lang="en-US" sz="1300" b="1" dirty="0">
                <a:latin typeface="Verdana" pitchFamily="34" charset="0"/>
                <a:ea typeface="Verdana" pitchFamily="34" charset="0"/>
                <a:cs typeface="Verdana" pitchFamily="34" charset="0"/>
              </a:rPr>
              <a:t>can be used as </a:t>
            </a:r>
            <a:r>
              <a:rPr lang="en-US" sz="1300" b="1" dirty="0" smtClean="0">
                <a:latin typeface="Verdana" pitchFamily="34" charset="0"/>
                <a:ea typeface="Verdana" pitchFamily="34" charset="0"/>
                <a:cs typeface="Verdana" pitchFamily="34" charset="0"/>
              </a:rPr>
              <a:t>CH </a:t>
            </a:r>
            <a:r>
              <a:rPr lang="en-US" sz="1300" b="1" dirty="0">
                <a:latin typeface="Verdana" pitchFamily="34" charset="0"/>
                <a:ea typeface="Verdana" pitchFamily="34" charset="0"/>
                <a:cs typeface="Verdana" pitchFamily="34" charset="0"/>
              </a:rPr>
              <a:t>and </a:t>
            </a:r>
            <a:r>
              <a:rPr lang="en-US" sz="1300" b="1" dirty="0" smtClean="0">
                <a:latin typeface="Verdana" pitchFamily="34" charset="0"/>
                <a:ea typeface="Verdana" pitchFamily="34" charset="0"/>
                <a:cs typeface="Verdana" pitchFamily="34" charset="0"/>
              </a:rPr>
              <a:t>CL</a:t>
            </a:r>
            <a:endParaRPr lang="en-US" sz="1300" b="1" dirty="0">
              <a:latin typeface="Verdana" pitchFamily="34" charset="0"/>
              <a:ea typeface="Verdana" pitchFamily="34" charset="0"/>
              <a:cs typeface="Verdana" pitchFamily="34" charset="0"/>
            </a:endParaRPr>
          </a:p>
          <a:p>
            <a:pPr algn="ctr"/>
            <a:r>
              <a:rPr lang="en-US" sz="1300" b="1" dirty="0" smtClean="0">
                <a:latin typeface="Verdana" pitchFamily="34" charset="0"/>
                <a:ea typeface="Verdana" pitchFamily="34" charset="0"/>
                <a:cs typeface="Verdana" pitchFamily="34" charset="0"/>
              </a:rPr>
              <a:t>DX </a:t>
            </a:r>
            <a:r>
              <a:rPr lang="en-US" sz="1300" b="1" dirty="0">
                <a:latin typeface="Verdana" pitchFamily="34" charset="0"/>
                <a:ea typeface="Verdana" pitchFamily="34" charset="0"/>
                <a:cs typeface="Verdana" pitchFamily="34" charset="0"/>
              </a:rPr>
              <a:t>can be used as </a:t>
            </a:r>
            <a:r>
              <a:rPr lang="en-US" sz="1300" b="1" dirty="0" smtClean="0">
                <a:latin typeface="Verdana" pitchFamily="34" charset="0"/>
                <a:ea typeface="Verdana" pitchFamily="34" charset="0"/>
                <a:cs typeface="Verdana" pitchFamily="34" charset="0"/>
              </a:rPr>
              <a:t>DH </a:t>
            </a:r>
            <a:r>
              <a:rPr lang="en-US" sz="1300" b="1" dirty="0">
                <a:latin typeface="Verdana" pitchFamily="34" charset="0"/>
                <a:ea typeface="Verdana" pitchFamily="34" charset="0"/>
                <a:cs typeface="Verdana" pitchFamily="34" charset="0"/>
              </a:rPr>
              <a:t>and </a:t>
            </a:r>
            <a:r>
              <a:rPr lang="en-US" sz="1300" b="1" dirty="0" smtClean="0">
                <a:latin typeface="Verdana" pitchFamily="34" charset="0"/>
                <a:ea typeface="Verdana" pitchFamily="34" charset="0"/>
                <a:cs typeface="Verdana" pitchFamily="34" charset="0"/>
              </a:rPr>
              <a:t>DL</a:t>
            </a:r>
            <a:endParaRPr lang="en-US" sz="1300" b="1" dirty="0">
              <a:solidFill>
                <a:srgbClr val="0070C0"/>
              </a:solidFill>
              <a:latin typeface="Verdana" pitchFamily="34" charset="0"/>
              <a:ea typeface="Verdana" pitchFamily="34" charset="0"/>
              <a:cs typeface="Verdana" pitchFamily="34" charset="0"/>
            </a:endParaRPr>
          </a:p>
        </p:txBody>
      </p:sp>
      <p:sp>
        <p:nvSpPr>
          <p:cNvPr id="14" name="TextBox 13"/>
          <p:cNvSpPr txBox="1"/>
          <p:nvPr/>
        </p:nvSpPr>
        <p:spPr>
          <a:xfrm>
            <a:off x="5239608" y="152400"/>
            <a:ext cx="3657600" cy="369332"/>
          </a:xfrm>
          <a:prstGeom prst="rect">
            <a:avLst/>
          </a:prstGeom>
          <a:noFill/>
        </p:spPr>
        <p:txBody>
          <a:bodyPr wrap="square" rtlCol="0">
            <a:spAutoFit/>
          </a:bodyPr>
          <a:lstStyle/>
          <a:p>
            <a:pPr algn="ctr"/>
            <a:r>
              <a:rPr lang="en-US" b="1" dirty="0" smtClean="0">
                <a:latin typeface="Verdana" pitchFamily="34" charset="0"/>
                <a:ea typeface="Verdana" pitchFamily="34" charset="0"/>
                <a:cs typeface="Verdana" pitchFamily="34" charset="0"/>
              </a:rPr>
              <a:t>Execution Unit (EU)</a:t>
            </a:r>
            <a:endParaRPr lang="en-US" b="1" dirty="0">
              <a:latin typeface="Verdana" pitchFamily="34" charset="0"/>
              <a:ea typeface="Verdana" pitchFamily="34" charset="0"/>
              <a:cs typeface="Verdana" pitchFamily="34" charset="0"/>
            </a:endParaRPr>
          </a:p>
        </p:txBody>
      </p:sp>
      <p:pic>
        <p:nvPicPr>
          <p:cNvPr id="10" name="Picture 2" descr="C:\Users\AMMU\Desktop\Microprocessor\Internal Architectu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9319" y="852985"/>
            <a:ext cx="5765305" cy="42964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6200" y="914400"/>
            <a:ext cx="2971800" cy="1569660"/>
          </a:xfrm>
          <a:prstGeom prst="rect">
            <a:avLst/>
          </a:prstGeom>
          <a:noFill/>
        </p:spPr>
        <p:txBody>
          <a:bodyPr wrap="square" rtlCol="0">
            <a:spAutoFit/>
          </a:bodyPr>
          <a:lstStyle/>
          <a:p>
            <a:pPr algn="ctr"/>
            <a:r>
              <a:rPr lang="en-US" sz="1600" b="1" dirty="0" smtClean="0">
                <a:solidFill>
                  <a:schemeClr val="accent1">
                    <a:lumMod val="75000"/>
                  </a:schemeClr>
                </a:solidFill>
                <a:latin typeface="Verdana" pitchFamily="34" charset="0"/>
                <a:ea typeface="Verdana" pitchFamily="34" charset="0"/>
                <a:cs typeface="Verdana" pitchFamily="34" charset="0"/>
              </a:rPr>
              <a:t>EU decodes and executes instructions. </a:t>
            </a:r>
          </a:p>
          <a:p>
            <a:pPr algn="ctr"/>
            <a:endParaRPr lang="en-US" sz="1600" b="1" dirty="0">
              <a:solidFill>
                <a:schemeClr val="accent1">
                  <a:lumMod val="75000"/>
                </a:schemeClr>
              </a:solidFill>
              <a:latin typeface="Verdana" pitchFamily="34" charset="0"/>
              <a:ea typeface="Verdana" pitchFamily="34" charset="0"/>
              <a:cs typeface="Verdana" pitchFamily="34" charset="0"/>
            </a:endParaRPr>
          </a:p>
          <a:p>
            <a:pPr algn="ctr"/>
            <a:r>
              <a:rPr lang="en-US" sz="1600" b="1" dirty="0" smtClean="0">
                <a:solidFill>
                  <a:schemeClr val="accent1">
                    <a:lumMod val="75000"/>
                  </a:schemeClr>
                </a:solidFill>
                <a:latin typeface="Verdana" pitchFamily="34" charset="0"/>
                <a:ea typeface="Verdana" pitchFamily="34" charset="0"/>
                <a:cs typeface="Verdana" pitchFamily="34" charset="0"/>
              </a:rPr>
              <a:t>A decoder in the EU control system translates instructions.</a:t>
            </a:r>
            <a:endParaRPr lang="en-US" sz="1600" b="1" dirty="0">
              <a:solidFill>
                <a:schemeClr val="accent1">
                  <a:lumMod val="75000"/>
                </a:schemeClr>
              </a:solidFill>
              <a:latin typeface="Verdana" pitchFamily="34" charset="0"/>
              <a:ea typeface="Verdana" pitchFamily="34" charset="0"/>
              <a:cs typeface="Verdana" pitchFamily="34" charset="0"/>
            </a:endParaRPr>
          </a:p>
        </p:txBody>
      </p:sp>
      <p:sp>
        <p:nvSpPr>
          <p:cNvPr id="15" name="Line Callout 2 14"/>
          <p:cNvSpPr/>
          <p:nvPr/>
        </p:nvSpPr>
        <p:spPr>
          <a:xfrm>
            <a:off x="89848" y="2674393"/>
            <a:ext cx="2500952" cy="653648"/>
          </a:xfrm>
          <a:prstGeom prst="borderCallout2">
            <a:avLst>
              <a:gd name="adj1" fmla="val 47981"/>
              <a:gd name="adj2" fmla="val 99405"/>
              <a:gd name="adj3" fmla="val 47981"/>
              <a:gd name="adj4" fmla="val 117030"/>
              <a:gd name="adj5" fmla="val 196143"/>
              <a:gd name="adj6" fmla="val 169403"/>
            </a:avLst>
          </a:prstGeom>
          <a:solidFill>
            <a:srgbClr val="FF99FF"/>
          </a:solid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smtClean="0">
                <a:solidFill>
                  <a:schemeClr val="tx1"/>
                </a:solidFill>
                <a:latin typeface="Verdana" pitchFamily="34" charset="0"/>
                <a:ea typeface="Verdana" pitchFamily="34" charset="0"/>
                <a:cs typeface="Verdana" pitchFamily="34" charset="0"/>
              </a:rPr>
              <a:t>16-bit ALU for performing arithmetic and logic operation</a:t>
            </a:r>
            <a:endParaRPr lang="en-US" sz="1400" b="1" dirty="0">
              <a:solidFill>
                <a:schemeClr val="tx1"/>
              </a:solidFill>
              <a:latin typeface="Verdana" pitchFamily="34" charset="0"/>
              <a:ea typeface="Verdana" pitchFamily="34" charset="0"/>
              <a:cs typeface="Verdana" pitchFamily="34" charset="0"/>
            </a:endParaRPr>
          </a:p>
        </p:txBody>
      </p:sp>
      <p:sp>
        <p:nvSpPr>
          <p:cNvPr id="16" name="Line Callout 2 15"/>
          <p:cNvSpPr/>
          <p:nvPr/>
        </p:nvSpPr>
        <p:spPr>
          <a:xfrm>
            <a:off x="107476" y="3810000"/>
            <a:ext cx="2864324" cy="2362200"/>
          </a:xfrm>
          <a:prstGeom prst="borderCallout2">
            <a:avLst>
              <a:gd name="adj1" fmla="val 47981"/>
              <a:gd name="adj2" fmla="val 99405"/>
              <a:gd name="adj3" fmla="val 47981"/>
              <a:gd name="adj4" fmla="val 117030"/>
              <a:gd name="adj5" fmla="val -65066"/>
              <a:gd name="adj6" fmla="val 150283"/>
            </a:avLst>
          </a:prstGeom>
          <a:solidFill>
            <a:srgbClr val="FF99FF"/>
          </a:solid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smtClean="0">
                <a:solidFill>
                  <a:schemeClr val="tx1"/>
                </a:solidFill>
                <a:latin typeface="Verdana" pitchFamily="34" charset="0"/>
                <a:ea typeface="Verdana" pitchFamily="34" charset="0"/>
                <a:cs typeface="Verdana" pitchFamily="34" charset="0"/>
              </a:rPr>
              <a:t>Four </a:t>
            </a:r>
            <a:r>
              <a:rPr lang="en-US" sz="1400" b="1" dirty="0">
                <a:solidFill>
                  <a:schemeClr val="tx1"/>
                </a:solidFill>
                <a:latin typeface="Verdana" pitchFamily="34" charset="0"/>
                <a:ea typeface="Verdana" pitchFamily="34" charset="0"/>
                <a:cs typeface="Verdana" pitchFamily="34" charset="0"/>
              </a:rPr>
              <a:t>general purpose registers(AX, BX, CX, DX</a:t>
            </a:r>
            <a:r>
              <a:rPr lang="en-US" sz="1400" b="1" dirty="0" smtClean="0">
                <a:solidFill>
                  <a:schemeClr val="tx1"/>
                </a:solidFill>
                <a:latin typeface="Verdana" pitchFamily="34" charset="0"/>
                <a:ea typeface="Verdana" pitchFamily="34" charset="0"/>
                <a:cs typeface="Verdana" pitchFamily="34" charset="0"/>
              </a:rPr>
              <a:t>);</a:t>
            </a:r>
          </a:p>
          <a:p>
            <a:endParaRPr lang="en-US" sz="1400" b="1" dirty="0" smtClean="0">
              <a:solidFill>
                <a:schemeClr val="tx1"/>
              </a:solidFill>
              <a:latin typeface="Verdana" pitchFamily="34" charset="0"/>
              <a:ea typeface="Verdana" pitchFamily="34" charset="0"/>
              <a:cs typeface="Verdana" pitchFamily="34" charset="0"/>
            </a:endParaRPr>
          </a:p>
          <a:p>
            <a:r>
              <a:rPr lang="en-US" sz="1400" b="1" dirty="0" smtClean="0">
                <a:solidFill>
                  <a:schemeClr val="tx1"/>
                </a:solidFill>
                <a:latin typeface="Verdana" pitchFamily="34" charset="0"/>
                <a:ea typeface="Verdana" pitchFamily="34" charset="0"/>
                <a:cs typeface="Verdana" pitchFamily="34" charset="0"/>
              </a:rPr>
              <a:t>Pointer </a:t>
            </a:r>
            <a:r>
              <a:rPr lang="en-US" sz="1400" b="1" dirty="0">
                <a:solidFill>
                  <a:schemeClr val="tx1"/>
                </a:solidFill>
                <a:latin typeface="Verdana" pitchFamily="34" charset="0"/>
                <a:ea typeface="Verdana" pitchFamily="34" charset="0"/>
                <a:cs typeface="Verdana" pitchFamily="34" charset="0"/>
              </a:rPr>
              <a:t>registers (Stack Pointer, Base Pointer); </a:t>
            </a:r>
            <a:endParaRPr lang="en-US" sz="1400" b="1" dirty="0" smtClean="0">
              <a:solidFill>
                <a:schemeClr val="tx1"/>
              </a:solidFill>
              <a:latin typeface="Verdana" pitchFamily="34" charset="0"/>
              <a:ea typeface="Verdana" pitchFamily="34" charset="0"/>
              <a:cs typeface="Verdana" pitchFamily="34" charset="0"/>
            </a:endParaRPr>
          </a:p>
          <a:p>
            <a:endParaRPr lang="en-US" sz="1400" b="1" dirty="0">
              <a:solidFill>
                <a:schemeClr val="tx1"/>
              </a:solidFill>
              <a:latin typeface="Verdana" pitchFamily="34" charset="0"/>
              <a:ea typeface="Verdana" pitchFamily="34" charset="0"/>
              <a:cs typeface="Verdana" pitchFamily="34" charset="0"/>
            </a:endParaRPr>
          </a:p>
          <a:p>
            <a:r>
              <a:rPr lang="en-US" sz="1400" b="1" dirty="0" smtClean="0">
                <a:solidFill>
                  <a:schemeClr val="tx1"/>
                </a:solidFill>
                <a:latin typeface="Verdana" pitchFamily="34" charset="0"/>
                <a:ea typeface="Verdana" pitchFamily="34" charset="0"/>
                <a:cs typeface="Verdana" pitchFamily="34" charset="0"/>
              </a:rPr>
              <a:t>and                     </a:t>
            </a:r>
          </a:p>
          <a:p>
            <a:endParaRPr lang="en-US" sz="1400" b="1" dirty="0">
              <a:solidFill>
                <a:schemeClr val="tx1"/>
              </a:solidFill>
              <a:latin typeface="Verdana" pitchFamily="34" charset="0"/>
              <a:ea typeface="Verdana" pitchFamily="34" charset="0"/>
              <a:cs typeface="Verdana" pitchFamily="34" charset="0"/>
            </a:endParaRPr>
          </a:p>
          <a:p>
            <a:r>
              <a:rPr lang="en-US" sz="1400" b="1" dirty="0" smtClean="0">
                <a:solidFill>
                  <a:schemeClr val="tx1"/>
                </a:solidFill>
                <a:latin typeface="Verdana" pitchFamily="34" charset="0"/>
                <a:ea typeface="Verdana" pitchFamily="34" charset="0"/>
                <a:cs typeface="Verdana" pitchFamily="34" charset="0"/>
              </a:rPr>
              <a:t>Index registers (</a:t>
            </a:r>
            <a:r>
              <a:rPr lang="en-US" sz="1400" b="1" dirty="0">
                <a:solidFill>
                  <a:schemeClr val="tx1"/>
                </a:solidFill>
                <a:latin typeface="Verdana" pitchFamily="34" charset="0"/>
                <a:ea typeface="Verdana" pitchFamily="34" charset="0"/>
                <a:cs typeface="Verdana" pitchFamily="34" charset="0"/>
              </a:rPr>
              <a:t>Source Index, Destination Index) each of 16-bits </a:t>
            </a:r>
          </a:p>
        </p:txBody>
      </p:sp>
    </p:spTree>
    <p:extLst>
      <p:ext uri="{BB962C8B-B14F-4D97-AF65-F5344CB8AC3E}">
        <p14:creationId xmlns:p14="http://schemas.microsoft.com/office/powerpoint/2010/main" val="1169891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Architecture</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25</a:t>
            </a:fld>
            <a:endParaRPr lang="en-US" dirty="0"/>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smtClean="0">
                <a:latin typeface="Verdana" pitchFamily="34" charset="0"/>
                <a:ea typeface="Verdana" pitchFamily="34" charset="0"/>
                <a:cs typeface="Verdana" pitchFamily="34" charset="0"/>
              </a:rPr>
              <a:t>EU</a:t>
            </a:r>
          </a:p>
          <a:p>
            <a:pPr algn="r"/>
            <a:r>
              <a:rPr lang="en-US" b="1" dirty="0" smtClean="0">
                <a:latin typeface="Verdana" pitchFamily="34" charset="0"/>
                <a:ea typeface="Verdana" pitchFamily="34" charset="0"/>
                <a:cs typeface="Verdana" pitchFamily="34" charset="0"/>
              </a:rPr>
              <a:t>Registers</a:t>
            </a:r>
            <a:endParaRPr lang="en-US" b="1" dirty="0">
              <a:latin typeface="Verdana" pitchFamily="34" charset="0"/>
              <a:ea typeface="Verdana" pitchFamily="34" charset="0"/>
              <a:cs typeface="Verdana" pitchFamily="34" charset="0"/>
            </a:endParaRP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3231654"/>
          </a:xfrm>
          <a:prstGeom prst="rect">
            <a:avLst/>
          </a:prstGeom>
          <a:noFill/>
        </p:spPr>
        <p:txBody>
          <a:bodyPr wrap="square" rtlCol="0">
            <a:spAutoFit/>
          </a:bodyPr>
          <a:lstStyle/>
          <a:p>
            <a:r>
              <a:rPr lang="en-US" b="1" dirty="0" smtClean="0">
                <a:solidFill>
                  <a:srgbClr val="0070C0"/>
                </a:solidFill>
                <a:latin typeface="Verdana" pitchFamily="34" charset="0"/>
                <a:ea typeface="Verdana" pitchFamily="34" charset="0"/>
                <a:cs typeface="Verdana" pitchFamily="34" charset="0"/>
              </a:rPr>
              <a:t>Accumulator Register (AX)</a:t>
            </a:r>
          </a:p>
          <a:p>
            <a:endParaRPr lang="en-US" b="1" dirty="0" smtClean="0">
              <a:solidFill>
                <a:srgbClr val="0070C0"/>
              </a:solidFill>
              <a:latin typeface="Verdana" pitchFamily="34" charset="0"/>
              <a:ea typeface="Verdana" pitchFamily="34" charset="0"/>
              <a:cs typeface="Verdana" pitchFamily="34" charset="0"/>
            </a:endParaRPr>
          </a:p>
          <a:p>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Consists </a:t>
            </a:r>
            <a:r>
              <a:rPr lang="en-US" sz="1400" b="1" dirty="0">
                <a:latin typeface="Verdana" pitchFamily="34" charset="0"/>
                <a:ea typeface="Verdana" pitchFamily="34" charset="0"/>
                <a:cs typeface="Verdana" pitchFamily="34" charset="0"/>
              </a:rPr>
              <a:t>of two 8-bit registers AL and AH, which can be combined together and used as a 16-bit register AX.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AL in this case contains the low order byte of the word, and AH contains the high-order byte. </a:t>
            </a:r>
            <a:endParaRPr lang="en-US" sz="1400" b="1" dirty="0" smtClean="0">
              <a:latin typeface="Verdana" pitchFamily="34" charset="0"/>
              <a:ea typeface="Verdana" pitchFamily="34" charset="0"/>
              <a:cs typeface="Verdana" pitchFamily="34" charset="0"/>
            </a:endParaRP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The I/O instructions use the AX or AL for inputting / outputting 16 or 8 bit data to or from an I/O port.</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Multiplication and Division instructions also use the AX or AL.</a:t>
            </a:r>
            <a:endParaRPr lang="en-US" sz="1400" b="1" dirty="0">
              <a:latin typeface="Verdana" pitchFamily="34" charset="0"/>
              <a:ea typeface="Verdana" pitchFamily="34" charset="0"/>
              <a:cs typeface="Verdana" pitchFamily="34" charset="0"/>
            </a:endParaRPr>
          </a:p>
        </p:txBody>
      </p:sp>
      <p:sp>
        <p:nvSpPr>
          <p:cNvPr id="10" name="TextBox 9"/>
          <p:cNvSpPr txBox="1"/>
          <p:nvPr/>
        </p:nvSpPr>
        <p:spPr>
          <a:xfrm>
            <a:off x="5239608" y="152400"/>
            <a:ext cx="3657600" cy="369332"/>
          </a:xfrm>
          <a:prstGeom prst="rect">
            <a:avLst/>
          </a:prstGeom>
          <a:noFill/>
        </p:spPr>
        <p:txBody>
          <a:bodyPr wrap="square" rtlCol="0">
            <a:spAutoFit/>
          </a:bodyPr>
          <a:lstStyle/>
          <a:p>
            <a:pPr algn="ctr"/>
            <a:r>
              <a:rPr lang="en-US" b="1" dirty="0" smtClean="0">
                <a:latin typeface="Verdana" pitchFamily="34" charset="0"/>
                <a:ea typeface="Verdana" pitchFamily="34" charset="0"/>
                <a:cs typeface="Verdana" pitchFamily="34" charset="0"/>
              </a:rPr>
              <a:t>Execution Unit (EU)</a:t>
            </a:r>
            <a:endParaRPr lang="en-US" b="1" dirty="0">
              <a:latin typeface="Verdana" pitchFamily="34" charset="0"/>
              <a:ea typeface="Verdana" pitchFamily="34" charset="0"/>
              <a:cs typeface="Verdana" pitchFamily="34" charset="0"/>
            </a:endParaRPr>
          </a:p>
        </p:txBody>
      </p:sp>
      <p:pic>
        <p:nvPicPr>
          <p:cNvPr id="11"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434711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Architecture</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26</a:t>
            </a:fld>
            <a:endParaRPr lang="en-US" dirty="0"/>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smtClean="0">
                <a:latin typeface="Verdana" pitchFamily="34" charset="0"/>
                <a:ea typeface="Verdana" pitchFamily="34" charset="0"/>
                <a:cs typeface="Verdana" pitchFamily="34" charset="0"/>
              </a:rPr>
              <a:t>EU</a:t>
            </a:r>
          </a:p>
          <a:p>
            <a:pPr algn="r"/>
            <a:r>
              <a:rPr lang="en-US" b="1" dirty="0" smtClean="0">
                <a:latin typeface="Verdana" pitchFamily="34" charset="0"/>
                <a:ea typeface="Verdana" pitchFamily="34" charset="0"/>
                <a:cs typeface="Verdana" pitchFamily="34" charset="0"/>
              </a:rPr>
              <a:t>Registers</a:t>
            </a:r>
            <a:endParaRPr lang="en-US" b="1" dirty="0">
              <a:latin typeface="Verdana" pitchFamily="34" charset="0"/>
              <a:ea typeface="Verdana" pitchFamily="34" charset="0"/>
              <a:cs typeface="Verdana" pitchFamily="34" charset="0"/>
            </a:endParaRP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3231654"/>
          </a:xfrm>
          <a:prstGeom prst="rect">
            <a:avLst/>
          </a:prstGeom>
          <a:noFill/>
        </p:spPr>
        <p:txBody>
          <a:bodyPr wrap="square" rtlCol="0">
            <a:spAutoFit/>
          </a:bodyPr>
          <a:lstStyle/>
          <a:p>
            <a:r>
              <a:rPr lang="en-US" b="1" dirty="0" smtClean="0">
                <a:solidFill>
                  <a:srgbClr val="0070C0"/>
                </a:solidFill>
                <a:latin typeface="Verdana" pitchFamily="34" charset="0"/>
                <a:ea typeface="Verdana" pitchFamily="34" charset="0"/>
                <a:cs typeface="Verdana" pitchFamily="34" charset="0"/>
              </a:rPr>
              <a:t>Base Register (BX)</a:t>
            </a:r>
          </a:p>
          <a:p>
            <a:endParaRPr lang="en-US" b="1" dirty="0" smtClean="0">
              <a:solidFill>
                <a:srgbClr val="0070C0"/>
              </a:solidFill>
              <a:latin typeface="Verdana" pitchFamily="34" charset="0"/>
              <a:ea typeface="Verdana" pitchFamily="34" charset="0"/>
              <a:cs typeface="Verdana" pitchFamily="34" charset="0"/>
            </a:endParaRPr>
          </a:p>
          <a:p>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Consists of two 8-bit registers BL and BH, which can be combined together and used as a 16-bit register BX.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BL in this case contains the low-order byte of the word, and BH contains the high-order byte. </a:t>
            </a:r>
            <a:endParaRPr lang="en-US" sz="1400" b="1" dirty="0" smtClean="0">
              <a:latin typeface="Verdana" pitchFamily="34" charset="0"/>
              <a:ea typeface="Verdana" pitchFamily="34" charset="0"/>
              <a:cs typeface="Verdana" pitchFamily="34" charset="0"/>
            </a:endParaRP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This is the only general purpose register whose contents can be used for addressing the 8086 memory.</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All memory references utilizing this register content for addressing use DS as the default segment register.</a:t>
            </a:r>
            <a:endParaRPr lang="en-US" sz="1400" b="1" dirty="0">
              <a:latin typeface="Verdana" pitchFamily="34" charset="0"/>
              <a:ea typeface="Verdana" pitchFamily="34" charset="0"/>
              <a:cs typeface="Verdana" pitchFamily="34" charset="0"/>
            </a:endParaRPr>
          </a:p>
        </p:txBody>
      </p:sp>
      <p:sp>
        <p:nvSpPr>
          <p:cNvPr id="11" name="TextBox 10"/>
          <p:cNvSpPr txBox="1"/>
          <p:nvPr/>
        </p:nvSpPr>
        <p:spPr>
          <a:xfrm>
            <a:off x="5239608" y="152400"/>
            <a:ext cx="3657600" cy="369332"/>
          </a:xfrm>
          <a:prstGeom prst="rect">
            <a:avLst/>
          </a:prstGeom>
          <a:noFill/>
        </p:spPr>
        <p:txBody>
          <a:bodyPr wrap="square" rtlCol="0">
            <a:spAutoFit/>
          </a:bodyPr>
          <a:lstStyle/>
          <a:p>
            <a:pPr algn="ctr"/>
            <a:r>
              <a:rPr lang="en-US" b="1" dirty="0" smtClean="0">
                <a:latin typeface="Verdana" pitchFamily="34" charset="0"/>
                <a:ea typeface="Verdana" pitchFamily="34" charset="0"/>
                <a:cs typeface="Verdana" pitchFamily="34" charset="0"/>
              </a:rPr>
              <a:t>Execution Unit (EU)</a:t>
            </a:r>
            <a:endParaRPr lang="en-US" b="1" dirty="0">
              <a:latin typeface="Verdana" pitchFamily="34" charset="0"/>
              <a:ea typeface="Verdana" pitchFamily="34" charset="0"/>
              <a:cs typeface="Verdana" pitchFamily="34" charset="0"/>
            </a:endParaRPr>
          </a:p>
        </p:txBody>
      </p:sp>
      <p:pic>
        <p:nvPicPr>
          <p:cNvPr id="12"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8425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Architecture</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27</a:t>
            </a:fld>
            <a:endParaRPr lang="en-US" dirty="0"/>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smtClean="0">
                <a:latin typeface="Verdana" pitchFamily="34" charset="0"/>
                <a:ea typeface="Verdana" pitchFamily="34" charset="0"/>
                <a:cs typeface="Verdana" pitchFamily="34" charset="0"/>
              </a:rPr>
              <a:t>EU</a:t>
            </a:r>
          </a:p>
          <a:p>
            <a:pPr algn="r"/>
            <a:r>
              <a:rPr lang="en-US" b="1" dirty="0" smtClean="0">
                <a:latin typeface="Verdana" pitchFamily="34" charset="0"/>
                <a:ea typeface="Verdana" pitchFamily="34" charset="0"/>
                <a:cs typeface="Verdana" pitchFamily="34" charset="0"/>
              </a:rPr>
              <a:t>Registers</a:t>
            </a:r>
            <a:endParaRPr lang="en-US" b="1" dirty="0">
              <a:latin typeface="Verdana" pitchFamily="34" charset="0"/>
              <a:ea typeface="Verdana" pitchFamily="34" charset="0"/>
              <a:cs typeface="Verdana" pitchFamily="34" charset="0"/>
            </a:endParaRP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2369880"/>
          </a:xfrm>
          <a:prstGeom prst="rect">
            <a:avLst/>
          </a:prstGeom>
          <a:noFill/>
        </p:spPr>
        <p:txBody>
          <a:bodyPr wrap="square" rtlCol="0">
            <a:spAutoFit/>
          </a:bodyPr>
          <a:lstStyle/>
          <a:p>
            <a:r>
              <a:rPr lang="en-US" b="1" dirty="0" smtClean="0">
                <a:solidFill>
                  <a:srgbClr val="0070C0"/>
                </a:solidFill>
                <a:latin typeface="Verdana" pitchFamily="34" charset="0"/>
                <a:ea typeface="Verdana" pitchFamily="34" charset="0"/>
                <a:cs typeface="Verdana" pitchFamily="34" charset="0"/>
              </a:rPr>
              <a:t>Counter Register (CX)</a:t>
            </a:r>
          </a:p>
          <a:p>
            <a:endParaRPr lang="en-US" b="1" dirty="0" smtClean="0">
              <a:solidFill>
                <a:srgbClr val="0070C0"/>
              </a:solidFill>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Consists </a:t>
            </a:r>
            <a:r>
              <a:rPr lang="en-US" sz="1400" b="1" dirty="0">
                <a:latin typeface="Verdana" pitchFamily="34" charset="0"/>
                <a:ea typeface="Verdana" pitchFamily="34" charset="0"/>
                <a:cs typeface="Verdana" pitchFamily="34" charset="0"/>
              </a:rPr>
              <a:t>of two 8-bit registers CL and CH, which can be combined together and used as a 16-bit register CX.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When combined, CL register contains the low order byte of the word, and CH contains the high-order byte. </a:t>
            </a:r>
            <a:endParaRPr lang="en-US" sz="1400" b="1" dirty="0" smtClean="0">
              <a:latin typeface="Verdana" pitchFamily="34" charset="0"/>
              <a:ea typeface="Verdana" pitchFamily="34" charset="0"/>
              <a:cs typeface="Verdana" pitchFamily="34" charset="0"/>
            </a:endParaRP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Instructions such as </a:t>
            </a:r>
            <a:r>
              <a:rPr lang="en-US" sz="1400" b="1" dirty="0" smtClean="0">
                <a:solidFill>
                  <a:schemeClr val="accent2">
                    <a:lumMod val="75000"/>
                  </a:schemeClr>
                </a:solidFill>
                <a:latin typeface="Verdana" pitchFamily="34" charset="0"/>
                <a:ea typeface="Verdana" pitchFamily="34" charset="0"/>
                <a:cs typeface="Verdana" pitchFamily="34" charset="0"/>
              </a:rPr>
              <a:t>SHIFT</a:t>
            </a:r>
            <a:r>
              <a:rPr lang="en-US" sz="1400" b="1" dirty="0" smtClean="0">
                <a:latin typeface="Verdana" pitchFamily="34" charset="0"/>
                <a:ea typeface="Verdana" pitchFamily="34" charset="0"/>
                <a:cs typeface="Verdana" pitchFamily="34" charset="0"/>
              </a:rPr>
              <a:t>, </a:t>
            </a:r>
            <a:r>
              <a:rPr lang="en-US" sz="1400" b="1" dirty="0" smtClean="0">
                <a:solidFill>
                  <a:schemeClr val="accent2">
                    <a:lumMod val="75000"/>
                  </a:schemeClr>
                </a:solidFill>
                <a:latin typeface="Verdana" pitchFamily="34" charset="0"/>
                <a:ea typeface="Verdana" pitchFamily="34" charset="0"/>
                <a:cs typeface="Verdana" pitchFamily="34" charset="0"/>
              </a:rPr>
              <a:t>ROTATE</a:t>
            </a:r>
            <a:r>
              <a:rPr lang="en-US" sz="1400" b="1" dirty="0" smtClean="0">
                <a:latin typeface="Verdana" pitchFamily="34" charset="0"/>
                <a:ea typeface="Verdana" pitchFamily="34" charset="0"/>
                <a:cs typeface="Verdana" pitchFamily="34" charset="0"/>
              </a:rPr>
              <a:t> and </a:t>
            </a:r>
            <a:r>
              <a:rPr lang="en-US" sz="1400" b="1" dirty="0" smtClean="0">
                <a:solidFill>
                  <a:schemeClr val="accent2">
                    <a:lumMod val="75000"/>
                  </a:schemeClr>
                </a:solidFill>
                <a:latin typeface="Verdana" pitchFamily="34" charset="0"/>
                <a:ea typeface="Verdana" pitchFamily="34" charset="0"/>
                <a:cs typeface="Verdana" pitchFamily="34" charset="0"/>
              </a:rPr>
              <a:t>LOOP</a:t>
            </a:r>
            <a:r>
              <a:rPr lang="en-US" sz="1400" b="1" dirty="0" smtClean="0">
                <a:latin typeface="Verdana" pitchFamily="34" charset="0"/>
                <a:ea typeface="Verdana" pitchFamily="34" charset="0"/>
                <a:cs typeface="Verdana" pitchFamily="34" charset="0"/>
              </a:rPr>
              <a:t> use the contents of CX as a counter.</a:t>
            </a:r>
          </a:p>
        </p:txBody>
      </p:sp>
      <p:sp>
        <p:nvSpPr>
          <p:cNvPr id="11" name="TextBox 10"/>
          <p:cNvSpPr txBox="1"/>
          <p:nvPr/>
        </p:nvSpPr>
        <p:spPr>
          <a:xfrm>
            <a:off x="5239608" y="152400"/>
            <a:ext cx="3657600" cy="369332"/>
          </a:xfrm>
          <a:prstGeom prst="rect">
            <a:avLst/>
          </a:prstGeom>
          <a:noFill/>
        </p:spPr>
        <p:txBody>
          <a:bodyPr wrap="square" rtlCol="0">
            <a:spAutoFit/>
          </a:bodyPr>
          <a:lstStyle/>
          <a:p>
            <a:pPr algn="ctr"/>
            <a:r>
              <a:rPr lang="en-US" b="1" dirty="0" smtClean="0">
                <a:latin typeface="Verdana" pitchFamily="34" charset="0"/>
                <a:ea typeface="Verdana" pitchFamily="34" charset="0"/>
                <a:cs typeface="Verdana" pitchFamily="34" charset="0"/>
              </a:rPr>
              <a:t>Execution Unit (EU)</a:t>
            </a:r>
            <a:endParaRPr lang="en-US" b="1" dirty="0">
              <a:latin typeface="Verdana" pitchFamily="34" charset="0"/>
              <a:ea typeface="Verdana" pitchFamily="34" charset="0"/>
              <a:cs typeface="Verdana" pitchFamily="34" charset="0"/>
            </a:endParaRPr>
          </a:p>
        </p:txBody>
      </p:sp>
      <p:pic>
        <p:nvPicPr>
          <p:cNvPr id="12"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3110552" y="4177605"/>
            <a:ext cx="5786656" cy="1815882"/>
          </a:xfrm>
          <a:prstGeom prst="rect">
            <a:avLst/>
          </a:prstGeom>
          <a:noFill/>
        </p:spPr>
        <p:txBody>
          <a:bodyPr wrap="square" rtlCol="0">
            <a:spAutoFit/>
          </a:bodyPr>
          <a:lstStyle/>
          <a:p>
            <a:pPr algn="just"/>
            <a:r>
              <a:rPr lang="en-US" sz="1400" b="1" dirty="0" smtClean="0">
                <a:solidFill>
                  <a:srgbClr val="FF0000"/>
                </a:solidFill>
                <a:latin typeface="Verdana" pitchFamily="34" charset="0"/>
                <a:ea typeface="Verdana" pitchFamily="34" charset="0"/>
                <a:cs typeface="Verdana" pitchFamily="34" charset="0"/>
              </a:rPr>
              <a:t>Example:</a:t>
            </a: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The instruction </a:t>
            </a:r>
            <a:r>
              <a:rPr lang="en-US" sz="1400" b="1" dirty="0" smtClean="0">
                <a:solidFill>
                  <a:srgbClr val="C00000"/>
                </a:solidFill>
                <a:latin typeface="Verdana" pitchFamily="34" charset="0"/>
                <a:ea typeface="Verdana" pitchFamily="34" charset="0"/>
                <a:cs typeface="Verdana" pitchFamily="34" charset="0"/>
              </a:rPr>
              <a:t>LOOP START</a:t>
            </a:r>
            <a:r>
              <a:rPr lang="en-US" sz="1400" b="1" dirty="0" smtClean="0">
                <a:latin typeface="Verdana" pitchFamily="34" charset="0"/>
                <a:ea typeface="Verdana" pitchFamily="34" charset="0"/>
                <a:cs typeface="Verdana" pitchFamily="34" charset="0"/>
              </a:rPr>
              <a:t> automatically decrements CX by 1 without affecting flags and will check if [CX] = 0. </a:t>
            </a:r>
          </a:p>
          <a:p>
            <a:pPr algn="just"/>
            <a:endParaRPr lang="en-US" sz="1400" b="1" dirty="0">
              <a:latin typeface="Verdana" pitchFamily="34" charset="0"/>
              <a:ea typeface="Verdana" pitchFamily="34" charset="0"/>
              <a:cs typeface="Verdana" pitchFamily="34" charset="0"/>
            </a:endParaRPr>
          </a:p>
          <a:p>
            <a:pPr algn="just"/>
            <a:r>
              <a:rPr lang="en-US" sz="1400" b="1" dirty="0" smtClean="0">
                <a:latin typeface="Verdana" pitchFamily="34" charset="0"/>
                <a:ea typeface="Verdana" pitchFamily="34" charset="0"/>
                <a:cs typeface="Verdana" pitchFamily="34" charset="0"/>
              </a:rPr>
              <a:t>If it is  zero, 8086 executes the next instruction; otherwise the 8086 branches to the label START.</a:t>
            </a:r>
            <a:endParaRPr lang="en-US" sz="1400" b="1"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9373833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Architecture</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28</a:t>
            </a:fld>
            <a:endParaRPr lang="en-US" dirty="0"/>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smtClean="0">
                <a:latin typeface="Verdana" pitchFamily="34" charset="0"/>
                <a:ea typeface="Verdana" pitchFamily="34" charset="0"/>
                <a:cs typeface="Verdana" pitchFamily="34" charset="0"/>
              </a:rPr>
              <a:t>EU</a:t>
            </a:r>
          </a:p>
          <a:p>
            <a:pPr algn="r"/>
            <a:r>
              <a:rPr lang="en-US" b="1" dirty="0" smtClean="0">
                <a:latin typeface="Verdana" pitchFamily="34" charset="0"/>
                <a:ea typeface="Verdana" pitchFamily="34" charset="0"/>
                <a:cs typeface="Verdana" pitchFamily="34" charset="0"/>
              </a:rPr>
              <a:t>Registers</a:t>
            </a:r>
            <a:endParaRPr lang="en-US" b="1" dirty="0">
              <a:latin typeface="Verdana" pitchFamily="34" charset="0"/>
              <a:ea typeface="Verdana" pitchFamily="34" charset="0"/>
              <a:cs typeface="Verdana" pitchFamily="34" charset="0"/>
            </a:endParaRP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p:cNvSpPr txBox="1"/>
              <p:nvPr/>
            </p:nvSpPr>
            <p:spPr>
              <a:xfrm>
                <a:off x="2500952" y="1110258"/>
                <a:ext cx="6396256" cy="2585323"/>
              </a:xfrm>
              <a:prstGeom prst="rect">
                <a:avLst/>
              </a:prstGeom>
              <a:noFill/>
            </p:spPr>
            <p:txBody>
              <a:bodyPr wrap="square" rtlCol="0">
                <a:spAutoFit/>
              </a:bodyPr>
              <a:lstStyle/>
              <a:p>
                <a:r>
                  <a:rPr lang="en-US" b="1" dirty="0" smtClean="0">
                    <a:solidFill>
                      <a:srgbClr val="0070C0"/>
                    </a:solidFill>
                    <a:latin typeface="Verdana" pitchFamily="34" charset="0"/>
                    <a:ea typeface="Verdana" pitchFamily="34" charset="0"/>
                    <a:cs typeface="Verdana" pitchFamily="34" charset="0"/>
                  </a:rPr>
                  <a:t>Data Register (DX)</a:t>
                </a:r>
              </a:p>
              <a:p>
                <a:endParaRPr lang="en-US" b="1" dirty="0" smtClean="0">
                  <a:solidFill>
                    <a:srgbClr val="0070C0"/>
                  </a:solidFill>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Consists </a:t>
                </a:r>
                <a:r>
                  <a:rPr lang="en-US" sz="1400" b="1" dirty="0">
                    <a:latin typeface="Verdana" pitchFamily="34" charset="0"/>
                    <a:ea typeface="Verdana" pitchFamily="34" charset="0"/>
                    <a:cs typeface="Verdana" pitchFamily="34" charset="0"/>
                  </a:rPr>
                  <a:t>of two 8-bit registers DL and DH, which can be combined together and used as a 16-bit register DX.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When combined, DL register contains the low order byte of the word, and DH contains the high-order byte. </a:t>
                </a:r>
                <a:endParaRPr lang="en-US" sz="1400" b="1" dirty="0" smtClean="0">
                  <a:latin typeface="Verdana" pitchFamily="34" charset="0"/>
                  <a:ea typeface="Verdana" pitchFamily="34" charset="0"/>
                  <a:cs typeface="Verdana" pitchFamily="34" charset="0"/>
                </a:endParaRP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Used to hold the high 16-bit result (data) in 16 X 16 multiplication or the high 16-bit dividend (data) before a 32 </a:t>
                </a:r>
                <a14:m>
                  <m:oMath xmlns:m="http://schemas.openxmlformats.org/officeDocument/2006/math">
                    <m:r>
                      <a:rPr lang="en-US" sz="1400" b="1" i="1" smtClean="0">
                        <a:latin typeface="Cambria Math"/>
                        <a:ea typeface="Cambria Math"/>
                        <a:cs typeface="Verdana" pitchFamily="34" charset="0"/>
                      </a:rPr>
                      <m:t>÷</m:t>
                    </m:r>
                  </m:oMath>
                </a14:m>
                <a:r>
                  <a:rPr lang="en-US" sz="1400" b="1" dirty="0" smtClean="0">
                    <a:latin typeface="Verdana" pitchFamily="34" charset="0"/>
                    <a:ea typeface="Verdana" pitchFamily="34" charset="0"/>
                    <a:cs typeface="Verdana" pitchFamily="34" charset="0"/>
                  </a:rPr>
                  <a:t> 16 division and the 16-bit reminder after division. </a:t>
                </a:r>
                <a:endParaRPr lang="en-US" sz="1400" b="1" dirty="0">
                  <a:latin typeface="Verdana" pitchFamily="34" charset="0"/>
                  <a:ea typeface="Verdana" pitchFamily="34" charset="0"/>
                  <a:cs typeface="Verdana" pitchFamily="34"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2500952" y="1110258"/>
                <a:ext cx="6396256" cy="2585323"/>
              </a:xfrm>
              <a:prstGeom prst="rect">
                <a:avLst/>
              </a:prstGeom>
              <a:blipFill rotWithShape="1">
                <a:blip r:embed="rId4"/>
                <a:stretch>
                  <a:fillRect l="-762" t="-1179" r="-286" b="-1415"/>
                </a:stretch>
              </a:blipFill>
            </p:spPr>
            <p:txBody>
              <a:bodyPr/>
              <a:lstStyle/>
              <a:p>
                <a:r>
                  <a:rPr lang="en-US">
                    <a:noFill/>
                  </a:rPr>
                  <a:t> </a:t>
                </a:r>
              </a:p>
            </p:txBody>
          </p:sp>
        </mc:Fallback>
      </mc:AlternateContent>
      <p:sp>
        <p:nvSpPr>
          <p:cNvPr id="11" name="TextBox 10"/>
          <p:cNvSpPr txBox="1"/>
          <p:nvPr/>
        </p:nvSpPr>
        <p:spPr>
          <a:xfrm>
            <a:off x="5239608" y="152400"/>
            <a:ext cx="3657600" cy="369332"/>
          </a:xfrm>
          <a:prstGeom prst="rect">
            <a:avLst/>
          </a:prstGeom>
          <a:noFill/>
        </p:spPr>
        <p:txBody>
          <a:bodyPr wrap="square" rtlCol="0">
            <a:spAutoFit/>
          </a:bodyPr>
          <a:lstStyle/>
          <a:p>
            <a:pPr algn="ctr"/>
            <a:r>
              <a:rPr lang="en-US" b="1" dirty="0" smtClean="0">
                <a:latin typeface="Verdana" pitchFamily="34" charset="0"/>
                <a:ea typeface="Verdana" pitchFamily="34" charset="0"/>
                <a:cs typeface="Verdana" pitchFamily="34" charset="0"/>
              </a:rPr>
              <a:t>Execution Unit (EU)</a:t>
            </a:r>
            <a:endParaRPr lang="en-US" b="1" dirty="0">
              <a:latin typeface="Verdana" pitchFamily="34" charset="0"/>
              <a:ea typeface="Verdana" pitchFamily="34" charset="0"/>
              <a:cs typeface="Verdana" pitchFamily="34" charset="0"/>
            </a:endParaRPr>
          </a:p>
        </p:txBody>
      </p:sp>
      <p:pic>
        <p:nvPicPr>
          <p:cNvPr id="10" name="Picture 2" descr="C:\Users\AMMU\Desktop\Microprocessor\Registers.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065287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Architecture</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29</a:t>
            </a:fld>
            <a:endParaRPr lang="en-US" dirty="0"/>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smtClean="0">
                <a:latin typeface="Verdana" pitchFamily="34" charset="0"/>
                <a:ea typeface="Verdana" pitchFamily="34" charset="0"/>
                <a:cs typeface="Verdana" pitchFamily="34" charset="0"/>
              </a:rPr>
              <a:t>EU</a:t>
            </a:r>
          </a:p>
          <a:p>
            <a:pPr algn="r"/>
            <a:r>
              <a:rPr lang="en-US" b="1" dirty="0" smtClean="0">
                <a:latin typeface="Verdana" pitchFamily="34" charset="0"/>
                <a:ea typeface="Verdana" pitchFamily="34" charset="0"/>
                <a:cs typeface="Verdana" pitchFamily="34" charset="0"/>
              </a:rPr>
              <a:t>Registers</a:t>
            </a:r>
            <a:endParaRPr lang="en-US" b="1" dirty="0">
              <a:latin typeface="Verdana" pitchFamily="34" charset="0"/>
              <a:ea typeface="Verdana" pitchFamily="34" charset="0"/>
              <a:cs typeface="Verdana" pitchFamily="34" charset="0"/>
            </a:endParaRP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3231654"/>
          </a:xfrm>
          <a:prstGeom prst="rect">
            <a:avLst/>
          </a:prstGeom>
          <a:noFill/>
        </p:spPr>
        <p:txBody>
          <a:bodyPr wrap="square" rtlCol="0">
            <a:spAutoFit/>
          </a:bodyPr>
          <a:lstStyle/>
          <a:p>
            <a:r>
              <a:rPr lang="en-US" b="1" dirty="0" smtClean="0">
                <a:solidFill>
                  <a:srgbClr val="0070C0"/>
                </a:solidFill>
                <a:latin typeface="Verdana" pitchFamily="34" charset="0"/>
                <a:ea typeface="Verdana" pitchFamily="34" charset="0"/>
                <a:cs typeface="Verdana" pitchFamily="34" charset="0"/>
              </a:rPr>
              <a:t>Stack Pointer (SP) and Base Pointer (BP)</a:t>
            </a:r>
          </a:p>
          <a:p>
            <a:endParaRPr lang="en-US" b="1" dirty="0" smtClean="0">
              <a:solidFill>
                <a:srgbClr val="0070C0"/>
              </a:solidFill>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SP and BP are used to access data in the stack segment.</a:t>
            </a:r>
            <a:endParaRPr lang="en-US" sz="1400" b="1" dirty="0">
              <a:latin typeface="Verdana" pitchFamily="34" charset="0"/>
              <a:ea typeface="Verdana" pitchFamily="34" charset="0"/>
              <a:cs typeface="Verdana" pitchFamily="34" charset="0"/>
            </a:endParaRP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SP is used as an offset from the current SS during execution of instructions that involve the stack segment in the external memory.</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SP contents are automatically updated (incremented/ decremented) due to execution of a POP or PUSH instruction.</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BP contains an offset address in the current SS, which is used by instructions utilizing the based addressing mode.</a:t>
            </a:r>
            <a:endParaRPr lang="en-US" sz="1400" b="1" dirty="0">
              <a:latin typeface="Verdana" pitchFamily="34" charset="0"/>
              <a:ea typeface="Verdana" pitchFamily="34" charset="0"/>
              <a:cs typeface="Verdana" pitchFamily="34" charset="0"/>
            </a:endParaRPr>
          </a:p>
        </p:txBody>
      </p:sp>
      <p:sp>
        <p:nvSpPr>
          <p:cNvPr id="11" name="TextBox 10"/>
          <p:cNvSpPr txBox="1"/>
          <p:nvPr/>
        </p:nvSpPr>
        <p:spPr>
          <a:xfrm>
            <a:off x="5239608" y="152400"/>
            <a:ext cx="3657600" cy="369332"/>
          </a:xfrm>
          <a:prstGeom prst="rect">
            <a:avLst/>
          </a:prstGeom>
          <a:noFill/>
        </p:spPr>
        <p:txBody>
          <a:bodyPr wrap="square" rtlCol="0">
            <a:spAutoFit/>
          </a:bodyPr>
          <a:lstStyle/>
          <a:p>
            <a:pPr algn="ctr"/>
            <a:r>
              <a:rPr lang="en-US" b="1" dirty="0" smtClean="0">
                <a:latin typeface="Verdana" pitchFamily="34" charset="0"/>
                <a:ea typeface="Verdana" pitchFamily="34" charset="0"/>
                <a:cs typeface="Verdana" pitchFamily="34" charset="0"/>
              </a:rPr>
              <a:t>Execution Unit (EU)</a:t>
            </a:r>
            <a:endParaRPr lang="en-US" b="1" dirty="0">
              <a:latin typeface="Verdana" pitchFamily="34" charset="0"/>
              <a:ea typeface="Verdana" pitchFamily="34" charset="0"/>
              <a:cs typeface="Verdana" pitchFamily="34" charset="0"/>
            </a:endParaRPr>
          </a:p>
        </p:txBody>
      </p:sp>
      <p:pic>
        <p:nvPicPr>
          <p:cNvPr id="12"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56638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Architecture</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30</a:t>
            </a:fld>
            <a:endParaRPr lang="en-US" dirty="0"/>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smtClean="0">
                <a:latin typeface="Verdana" pitchFamily="34" charset="0"/>
                <a:ea typeface="Verdana" pitchFamily="34" charset="0"/>
                <a:cs typeface="Verdana" pitchFamily="34" charset="0"/>
              </a:rPr>
              <a:t>EU</a:t>
            </a:r>
          </a:p>
          <a:p>
            <a:pPr algn="r"/>
            <a:r>
              <a:rPr lang="en-US" b="1" dirty="0" smtClean="0">
                <a:latin typeface="Verdana" pitchFamily="34" charset="0"/>
                <a:ea typeface="Verdana" pitchFamily="34" charset="0"/>
                <a:cs typeface="Verdana" pitchFamily="34" charset="0"/>
              </a:rPr>
              <a:t>Registers</a:t>
            </a:r>
            <a:endParaRPr lang="en-US" b="1" dirty="0">
              <a:latin typeface="Verdana" pitchFamily="34" charset="0"/>
              <a:ea typeface="Verdana" pitchFamily="34" charset="0"/>
              <a:cs typeface="Verdana" pitchFamily="34" charset="0"/>
            </a:endParaRP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1938992"/>
          </a:xfrm>
          <a:prstGeom prst="rect">
            <a:avLst/>
          </a:prstGeom>
          <a:noFill/>
        </p:spPr>
        <p:txBody>
          <a:bodyPr wrap="square" rtlCol="0">
            <a:spAutoFit/>
          </a:bodyPr>
          <a:lstStyle/>
          <a:p>
            <a:r>
              <a:rPr lang="en-US" b="1" dirty="0" smtClean="0">
                <a:solidFill>
                  <a:srgbClr val="0070C0"/>
                </a:solidFill>
                <a:latin typeface="Verdana" pitchFamily="34" charset="0"/>
                <a:ea typeface="Verdana" pitchFamily="34" charset="0"/>
                <a:cs typeface="Verdana" pitchFamily="34" charset="0"/>
              </a:rPr>
              <a:t>Source Index (SI) and Destination Index (DI)</a:t>
            </a:r>
          </a:p>
          <a:p>
            <a:endParaRPr lang="en-US" b="1" dirty="0" smtClean="0">
              <a:solidFill>
                <a:srgbClr val="0070C0"/>
              </a:solidFill>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Used in indexed addressing.</a:t>
            </a:r>
            <a:endParaRPr lang="en-US" sz="1400" b="1" dirty="0">
              <a:latin typeface="Verdana" pitchFamily="34" charset="0"/>
              <a:ea typeface="Verdana" pitchFamily="34" charset="0"/>
              <a:cs typeface="Verdana" pitchFamily="34" charset="0"/>
            </a:endParaRP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Instructions that process data strings use the SI and DI registers together with DS and ES respectively  in order to distinguish between the source and destination addresses.</a:t>
            </a:r>
          </a:p>
          <a:p>
            <a:pPr algn="just"/>
            <a:endParaRPr lang="en-US" sz="1400" b="1" dirty="0">
              <a:latin typeface="Verdana" pitchFamily="34" charset="0"/>
              <a:ea typeface="Verdana" pitchFamily="34" charset="0"/>
              <a:cs typeface="Verdana" pitchFamily="34" charset="0"/>
            </a:endParaRPr>
          </a:p>
        </p:txBody>
      </p:sp>
      <p:sp>
        <p:nvSpPr>
          <p:cNvPr id="11" name="TextBox 10"/>
          <p:cNvSpPr txBox="1"/>
          <p:nvPr/>
        </p:nvSpPr>
        <p:spPr>
          <a:xfrm>
            <a:off x="5239608" y="152400"/>
            <a:ext cx="3657600" cy="369332"/>
          </a:xfrm>
          <a:prstGeom prst="rect">
            <a:avLst/>
          </a:prstGeom>
          <a:noFill/>
        </p:spPr>
        <p:txBody>
          <a:bodyPr wrap="square" rtlCol="0">
            <a:spAutoFit/>
          </a:bodyPr>
          <a:lstStyle/>
          <a:p>
            <a:pPr algn="ctr"/>
            <a:r>
              <a:rPr lang="en-US" b="1" dirty="0" smtClean="0">
                <a:latin typeface="Verdana" pitchFamily="34" charset="0"/>
                <a:ea typeface="Verdana" pitchFamily="34" charset="0"/>
                <a:cs typeface="Verdana" pitchFamily="34" charset="0"/>
              </a:rPr>
              <a:t>Execution Unit (EU)</a:t>
            </a:r>
            <a:endParaRPr lang="en-US" b="1" dirty="0">
              <a:latin typeface="Verdana" pitchFamily="34" charset="0"/>
              <a:ea typeface="Verdana" pitchFamily="34" charset="0"/>
              <a:cs typeface="Verdana" pitchFamily="34" charset="0"/>
            </a:endParaRPr>
          </a:p>
        </p:txBody>
      </p:sp>
      <p:pic>
        <p:nvPicPr>
          <p:cNvPr id="12"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6073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Architecture</a:t>
            </a:r>
            <a:endParaRPr lang="en-US" dirty="0">
              <a:solidFill>
                <a:srgbClr val="002060"/>
              </a:solidFill>
            </a:endParaRPr>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31</a:t>
            </a:fld>
            <a:endParaRPr lang="en-US" dirty="0"/>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smtClean="0">
                <a:latin typeface="Verdana" pitchFamily="34" charset="0"/>
                <a:ea typeface="Verdana" pitchFamily="34" charset="0"/>
                <a:cs typeface="Verdana" pitchFamily="34" charset="0"/>
              </a:rPr>
              <a:t>EU</a:t>
            </a:r>
          </a:p>
          <a:p>
            <a:pPr algn="r"/>
            <a:r>
              <a:rPr lang="en-US" b="1" dirty="0" smtClean="0">
                <a:latin typeface="Verdana" pitchFamily="34" charset="0"/>
                <a:ea typeface="Verdana" pitchFamily="34" charset="0"/>
                <a:cs typeface="Verdana" pitchFamily="34" charset="0"/>
              </a:rPr>
              <a:t>Registers</a:t>
            </a:r>
            <a:endParaRPr lang="en-US" b="1" dirty="0">
              <a:latin typeface="Verdana" pitchFamily="34" charset="0"/>
              <a:ea typeface="Verdana" pitchFamily="34" charset="0"/>
              <a:cs typeface="Verdana" pitchFamily="34" charset="0"/>
            </a:endParaRP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1938992"/>
          </a:xfrm>
          <a:prstGeom prst="rect">
            <a:avLst/>
          </a:prstGeom>
          <a:noFill/>
        </p:spPr>
        <p:txBody>
          <a:bodyPr wrap="square" rtlCol="0">
            <a:spAutoFit/>
          </a:bodyPr>
          <a:lstStyle/>
          <a:p>
            <a:r>
              <a:rPr lang="en-US" b="1" dirty="0" smtClean="0">
                <a:solidFill>
                  <a:srgbClr val="0070C0"/>
                </a:solidFill>
                <a:latin typeface="Verdana" pitchFamily="34" charset="0"/>
                <a:ea typeface="Verdana" pitchFamily="34" charset="0"/>
                <a:cs typeface="Verdana" pitchFamily="34" charset="0"/>
              </a:rPr>
              <a:t>Source Index (SI) and Destination Index (DI)</a:t>
            </a:r>
          </a:p>
          <a:p>
            <a:endParaRPr lang="en-US" b="1" dirty="0" smtClean="0">
              <a:solidFill>
                <a:srgbClr val="0070C0"/>
              </a:solidFill>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Used in indexed addressing.</a:t>
            </a:r>
            <a:endParaRPr lang="en-US" sz="1400" b="1" dirty="0">
              <a:latin typeface="Verdana" pitchFamily="34" charset="0"/>
              <a:ea typeface="Verdana" pitchFamily="34" charset="0"/>
              <a:cs typeface="Verdana" pitchFamily="34" charset="0"/>
            </a:endParaRP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smtClean="0">
                <a:latin typeface="Verdana" pitchFamily="34" charset="0"/>
                <a:ea typeface="Verdana" pitchFamily="34" charset="0"/>
                <a:cs typeface="Verdana" pitchFamily="34" charset="0"/>
              </a:rPr>
              <a:t>Instructions that process data strings use the SI and DI registers together with DS and ES respectively  in order to distinguish between the source and destination addresses.</a:t>
            </a:r>
          </a:p>
          <a:p>
            <a:pPr algn="just"/>
            <a:endParaRPr lang="en-US" sz="1400" b="1" dirty="0">
              <a:latin typeface="Verdana" pitchFamily="34" charset="0"/>
              <a:ea typeface="Verdana" pitchFamily="34" charset="0"/>
              <a:cs typeface="Verdana" pitchFamily="34" charset="0"/>
            </a:endParaRPr>
          </a:p>
        </p:txBody>
      </p:sp>
      <p:sp>
        <p:nvSpPr>
          <p:cNvPr id="11" name="TextBox 10"/>
          <p:cNvSpPr txBox="1"/>
          <p:nvPr/>
        </p:nvSpPr>
        <p:spPr>
          <a:xfrm>
            <a:off x="5239608" y="152400"/>
            <a:ext cx="3657600" cy="369332"/>
          </a:xfrm>
          <a:prstGeom prst="rect">
            <a:avLst/>
          </a:prstGeom>
          <a:noFill/>
        </p:spPr>
        <p:txBody>
          <a:bodyPr wrap="square" rtlCol="0">
            <a:spAutoFit/>
          </a:bodyPr>
          <a:lstStyle/>
          <a:p>
            <a:pPr algn="ctr"/>
            <a:r>
              <a:rPr lang="en-US" b="1" dirty="0" smtClean="0">
                <a:latin typeface="Verdana" pitchFamily="34" charset="0"/>
                <a:ea typeface="Verdana" pitchFamily="34" charset="0"/>
                <a:cs typeface="Verdana" pitchFamily="34" charset="0"/>
              </a:rPr>
              <a:t>Execution Unit (EU)</a:t>
            </a:r>
            <a:endParaRPr lang="en-US" b="1" dirty="0">
              <a:latin typeface="Verdana" pitchFamily="34" charset="0"/>
              <a:ea typeface="Verdana" pitchFamily="34" charset="0"/>
              <a:cs typeface="Verdana" pitchFamily="34" charset="0"/>
            </a:endParaRPr>
          </a:p>
        </p:txBody>
      </p:sp>
      <p:pic>
        <p:nvPicPr>
          <p:cNvPr id="12"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16016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5E6815B-E59C-4D87-B1F6-ECBDD22AF1DC}" type="slidenum">
              <a:rPr lang="en-US" smtClean="0"/>
              <a:pPr/>
              <a:t>32</a:t>
            </a:fld>
            <a:endParaRPr lang="en-US" dirty="0"/>
          </a:p>
        </p:txBody>
      </p:sp>
      <p:sp>
        <p:nvSpPr>
          <p:cNvPr id="5" name="Title 1"/>
          <p:cNvSpPr txBox="1">
            <a:spLocks/>
          </p:cNvSpPr>
          <p:nvPr/>
        </p:nvSpPr>
        <p:spPr>
          <a:xfrm>
            <a:off x="2895600" y="110756"/>
            <a:ext cx="6019800" cy="4873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000" b="1" kern="1200">
                <a:solidFill>
                  <a:srgbClr val="FF0066"/>
                </a:solidFill>
                <a:latin typeface="Verdana" pitchFamily="34" charset="0"/>
                <a:ea typeface="Verdana" pitchFamily="34" charset="0"/>
                <a:cs typeface="Verdana" pitchFamily="34" charset="0"/>
              </a:defRPr>
            </a:lvl1pPr>
          </a:lstStyle>
          <a:p>
            <a:r>
              <a:rPr lang="en-US" smtClean="0"/>
              <a:t>Architecture</a:t>
            </a:r>
            <a:endParaRPr lang="en-US" dirty="0">
              <a:solidFill>
                <a:srgbClr val="002060"/>
              </a:solidFill>
            </a:endParaRPr>
          </a:p>
        </p:txBody>
      </p:sp>
      <p:sp>
        <p:nvSpPr>
          <p:cNvPr id="6" name="TextBox 5"/>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graphicFrame>
        <p:nvGraphicFramePr>
          <p:cNvPr id="8" name="Table 7"/>
          <p:cNvGraphicFramePr>
            <a:graphicFrameLocks noGrp="1"/>
          </p:cNvGraphicFramePr>
          <p:nvPr>
            <p:extLst>
              <p:ext uri="{D42A27DB-BD31-4B8C-83A1-F6EECF244321}">
                <p14:modId xmlns:p14="http://schemas.microsoft.com/office/powerpoint/2010/main" val="2770319774"/>
              </p:ext>
            </p:extLst>
          </p:nvPr>
        </p:nvGraphicFramePr>
        <p:xfrm>
          <a:off x="263856" y="2882624"/>
          <a:ext cx="8610600" cy="3795680"/>
        </p:xfrm>
        <a:graphic>
          <a:graphicData uri="http://schemas.openxmlformats.org/drawingml/2006/table">
            <a:tbl>
              <a:tblPr firstRow="1" bandRow="1">
                <a:tableStyleId>{93296810-A885-4BE3-A3E7-6D5BEEA58F35}</a:tableStyleId>
              </a:tblPr>
              <a:tblGrid>
                <a:gridCol w="838200">
                  <a:extLst>
                    <a:ext uri="{9D8B030D-6E8A-4147-A177-3AD203B41FA5}">
                      <a16:colId xmlns="" xmlns:a16="http://schemas.microsoft.com/office/drawing/2014/main" val="20000"/>
                    </a:ext>
                  </a:extLst>
                </a:gridCol>
                <a:gridCol w="2743200">
                  <a:extLst>
                    <a:ext uri="{9D8B030D-6E8A-4147-A177-3AD203B41FA5}">
                      <a16:colId xmlns="" xmlns:a16="http://schemas.microsoft.com/office/drawing/2014/main" val="20001"/>
                    </a:ext>
                  </a:extLst>
                </a:gridCol>
                <a:gridCol w="1752600">
                  <a:extLst>
                    <a:ext uri="{9D8B030D-6E8A-4147-A177-3AD203B41FA5}">
                      <a16:colId xmlns="" xmlns:a16="http://schemas.microsoft.com/office/drawing/2014/main" val="20002"/>
                    </a:ext>
                  </a:extLst>
                </a:gridCol>
                <a:gridCol w="3276600">
                  <a:extLst>
                    <a:ext uri="{9D8B030D-6E8A-4147-A177-3AD203B41FA5}">
                      <a16:colId xmlns="" xmlns:a16="http://schemas.microsoft.com/office/drawing/2014/main" val="20003"/>
                    </a:ext>
                  </a:extLst>
                </a:gridCol>
              </a:tblGrid>
              <a:tr h="335310">
                <a:tc>
                  <a:txBody>
                    <a:bodyPr/>
                    <a:lstStyle/>
                    <a:p>
                      <a:pPr algn="ctr"/>
                      <a:r>
                        <a:rPr lang="en-US" sz="1400" dirty="0" err="1" smtClean="0">
                          <a:latin typeface="Verdana" pitchFamily="34" charset="0"/>
                          <a:ea typeface="Verdana" pitchFamily="34" charset="0"/>
                          <a:cs typeface="Verdana" pitchFamily="34" charset="0"/>
                        </a:rPr>
                        <a:t>Sl.No</a:t>
                      </a:r>
                      <a:r>
                        <a:rPr lang="en-US" sz="1400" dirty="0" smtClean="0">
                          <a:latin typeface="Verdana" pitchFamily="34" charset="0"/>
                          <a:ea typeface="Verdana" pitchFamily="34" charset="0"/>
                          <a:cs typeface="Verdana" pitchFamily="34" charset="0"/>
                        </a:rPr>
                        <a:t>.</a:t>
                      </a:r>
                      <a:endParaRPr lang="en-US" sz="1400" dirty="0">
                        <a:latin typeface="Verdana" pitchFamily="34" charset="0"/>
                        <a:ea typeface="Verdana" pitchFamily="34" charset="0"/>
                        <a:cs typeface="Verdana" pitchFamily="34" charset="0"/>
                      </a:endParaRPr>
                    </a:p>
                  </a:txBody>
                  <a:tcPr marL="91434" marR="91434" marT="45722" marB="45722"/>
                </a:tc>
                <a:tc>
                  <a:txBody>
                    <a:bodyPr/>
                    <a:lstStyle/>
                    <a:p>
                      <a:pPr algn="ctr"/>
                      <a:r>
                        <a:rPr lang="en-US" sz="1400" dirty="0" smtClean="0">
                          <a:latin typeface="Verdana" pitchFamily="34" charset="0"/>
                          <a:ea typeface="Verdana" pitchFamily="34" charset="0"/>
                          <a:cs typeface="Verdana" pitchFamily="34" charset="0"/>
                        </a:rPr>
                        <a:t>Type</a:t>
                      </a:r>
                      <a:endParaRPr lang="en-US" sz="1400" dirty="0">
                        <a:latin typeface="Verdana" pitchFamily="34" charset="0"/>
                        <a:ea typeface="Verdana" pitchFamily="34" charset="0"/>
                        <a:cs typeface="Verdana" pitchFamily="34" charset="0"/>
                      </a:endParaRPr>
                    </a:p>
                  </a:txBody>
                  <a:tcPr marL="91434" marR="91434" marT="45722" marB="45722"/>
                </a:tc>
                <a:tc>
                  <a:txBody>
                    <a:bodyPr/>
                    <a:lstStyle/>
                    <a:p>
                      <a:pPr algn="ctr"/>
                      <a:r>
                        <a:rPr lang="en-US" sz="1400" dirty="0" smtClean="0">
                          <a:latin typeface="Verdana" pitchFamily="34" charset="0"/>
                          <a:ea typeface="Verdana" pitchFamily="34" charset="0"/>
                          <a:cs typeface="Verdana" pitchFamily="34" charset="0"/>
                        </a:rPr>
                        <a:t>Register width</a:t>
                      </a:r>
                      <a:endParaRPr lang="en-US" sz="1400" dirty="0">
                        <a:latin typeface="Verdana" pitchFamily="34" charset="0"/>
                        <a:ea typeface="Verdana" pitchFamily="34" charset="0"/>
                        <a:cs typeface="Verdana" pitchFamily="34" charset="0"/>
                      </a:endParaRPr>
                    </a:p>
                  </a:txBody>
                  <a:tcPr marL="91434" marR="91434" marT="45722" marB="45722"/>
                </a:tc>
                <a:tc>
                  <a:txBody>
                    <a:bodyPr/>
                    <a:lstStyle/>
                    <a:p>
                      <a:pPr algn="ctr"/>
                      <a:r>
                        <a:rPr lang="en-US" sz="1400" dirty="0" smtClean="0">
                          <a:latin typeface="Verdana" pitchFamily="34" charset="0"/>
                          <a:ea typeface="Verdana" pitchFamily="34" charset="0"/>
                          <a:cs typeface="Verdana" pitchFamily="34" charset="0"/>
                        </a:rPr>
                        <a:t>Name of register</a:t>
                      </a:r>
                      <a:endParaRPr lang="en-US" sz="1400"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0"/>
                  </a:ext>
                </a:extLst>
              </a:tr>
              <a:tr h="501594">
                <a:tc rowSpan="2">
                  <a:txBody>
                    <a:bodyPr/>
                    <a:lstStyle/>
                    <a:p>
                      <a:pPr algn="ctr"/>
                      <a:r>
                        <a:rPr lang="en-US" sz="1400" b="1" dirty="0" smtClean="0">
                          <a:latin typeface="Verdana" pitchFamily="34" charset="0"/>
                          <a:ea typeface="Verdana" pitchFamily="34" charset="0"/>
                          <a:cs typeface="Verdana" pitchFamily="34" charset="0"/>
                        </a:rPr>
                        <a:t>1</a:t>
                      </a:r>
                      <a:endParaRPr lang="en-US" sz="1400" b="1" dirty="0">
                        <a:latin typeface="Verdana" pitchFamily="34" charset="0"/>
                        <a:ea typeface="Verdana" pitchFamily="34" charset="0"/>
                        <a:cs typeface="Verdana" pitchFamily="34" charset="0"/>
                      </a:endParaRPr>
                    </a:p>
                  </a:txBody>
                  <a:tcPr marL="91434" marR="91434" marT="45722" marB="45722"/>
                </a:tc>
                <a:tc rowSpan="2">
                  <a:txBody>
                    <a:bodyPr/>
                    <a:lstStyle/>
                    <a:p>
                      <a:r>
                        <a:rPr lang="en-US" sz="1400" b="1" dirty="0" smtClean="0">
                          <a:latin typeface="Verdana" pitchFamily="34" charset="0"/>
                          <a:ea typeface="Verdana" pitchFamily="34" charset="0"/>
                          <a:cs typeface="Verdana" pitchFamily="34" charset="0"/>
                        </a:rPr>
                        <a:t>General purpose register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16 bit</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AX, BX, CX, DX</a:t>
                      </a:r>
                      <a:endParaRPr lang="en-US" sz="14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1"/>
                  </a:ext>
                </a:extLst>
              </a:tr>
              <a:tr h="473551">
                <a:tc vMerge="1">
                  <a:txBody>
                    <a:bodyPr/>
                    <a:lstStyle/>
                    <a:p>
                      <a:endParaRPr lang="en-US"/>
                    </a:p>
                  </a:txBody>
                  <a:tcPr/>
                </a:tc>
                <a:tc vMerge="1">
                  <a:txBody>
                    <a:bodyPr/>
                    <a:lstStyle/>
                    <a:p>
                      <a:endParaRPr lang="en-US"/>
                    </a:p>
                  </a:txBody>
                  <a:tcPr/>
                </a:tc>
                <a:tc>
                  <a:txBody>
                    <a:bodyPr/>
                    <a:lstStyle/>
                    <a:p>
                      <a:r>
                        <a:rPr lang="en-US" sz="1400" b="1" dirty="0" smtClean="0">
                          <a:latin typeface="Verdana" pitchFamily="34" charset="0"/>
                          <a:ea typeface="Verdana" pitchFamily="34" charset="0"/>
                          <a:cs typeface="Verdana" pitchFamily="34" charset="0"/>
                        </a:rPr>
                        <a:t>8 bit</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AL, AH, BL, BH, CL, CH, DL,</a:t>
                      </a:r>
                      <a:r>
                        <a:rPr lang="en-US" sz="1400" b="1" baseline="0" dirty="0" smtClean="0">
                          <a:latin typeface="Verdana" pitchFamily="34" charset="0"/>
                          <a:ea typeface="Verdana" pitchFamily="34" charset="0"/>
                          <a:cs typeface="Verdana" pitchFamily="34" charset="0"/>
                        </a:rPr>
                        <a:t> DH</a:t>
                      </a:r>
                      <a:endParaRPr lang="en-US" sz="14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2"/>
                  </a:ext>
                </a:extLst>
              </a:tr>
              <a:tr h="497045">
                <a:tc>
                  <a:txBody>
                    <a:bodyPr/>
                    <a:lstStyle/>
                    <a:p>
                      <a:pPr algn="ctr"/>
                      <a:r>
                        <a:rPr lang="en-US" sz="1400" b="1" dirty="0" smtClean="0">
                          <a:latin typeface="Verdana" pitchFamily="34" charset="0"/>
                          <a:ea typeface="Verdana" pitchFamily="34" charset="0"/>
                          <a:cs typeface="Verdana" pitchFamily="34" charset="0"/>
                        </a:rPr>
                        <a:t>2</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Pointer</a:t>
                      </a:r>
                      <a:r>
                        <a:rPr lang="en-US" sz="1400" b="1" baseline="0" dirty="0" smtClean="0">
                          <a:latin typeface="Verdana" pitchFamily="34" charset="0"/>
                          <a:ea typeface="Verdana" pitchFamily="34" charset="0"/>
                          <a:cs typeface="Verdana" pitchFamily="34" charset="0"/>
                        </a:rPr>
                        <a:t> register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16 bit</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SP, BP</a:t>
                      </a:r>
                      <a:endParaRPr lang="en-US" sz="14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3"/>
                  </a:ext>
                </a:extLst>
              </a:tr>
              <a:tr h="497045">
                <a:tc>
                  <a:txBody>
                    <a:bodyPr/>
                    <a:lstStyle/>
                    <a:p>
                      <a:pPr algn="ctr"/>
                      <a:r>
                        <a:rPr lang="en-US" sz="1400" b="1" dirty="0" smtClean="0">
                          <a:latin typeface="Verdana" pitchFamily="34" charset="0"/>
                          <a:ea typeface="Verdana" pitchFamily="34" charset="0"/>
                          <a:cs typeface="Verdana" pitchFamily="34" charset="0"/>
                        </a:rPr>
                        <a:t>3</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Index register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16 bit</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SI, DI</a:t>
                      </a:r>
                      <a:endParaRPr lang="en-US" sz="14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4"/>
                  </a:ext>
                </a:extLst>
              </a:tr>
              <a:tr h="497045">
                <a:tc>
                  <a:txBody>
                    <a:bodyPr/>
                    <a:lstStyle/>
                    <a:p>
                      <a:pPr algn="ctr"/>
                      <a:r>
                        <a:rPr lang="en-US" sz="1400" b="1" dirty="0" smtClean="0">
                          <a:latin typeface="Verdana" pitchFamily="34" charset="0"/>
                          <a:ea typeface="Verdana" pitchFamily="34" charset="0"/>
                          <a:cs typeface="Verdana" pitchFamily="34" charset="0"/>
                        </a:rPr>
                        <a:t>4</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Instruction Pointer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16 bit</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IP</a:t>
                      </a:r>
                      <a:endParaRPr lang="en-US" sz="14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5"/>
                  </a:ext>
                </a:extLst>
              </a:tr>
              <a:tr h="497045">
                <a:tc>
                  <a:txBody>
                    <a:bodyPr/>
                    <a:lstStyle/>
                    <a:p>
                      <a:pPr algn="ctr"/>
                      <a:r>
                        <a:rPr lang="en-US" sz="1400" b="1" dirty="0" smtClean="0">
                          <a:latin typeface="Verdana" pitchFamily="34" charset="0"/>
                          <a:ea typeface="Verdana" pitchFamily="34" charset="0"/>
                          <a:cs typeface="Verdana" pitchFamily="34" charset="0"/>
                        </a:rPr>
                        <a:t>5</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Segment register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16 bit</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CS,</a:t>
                      </a:r>
                      <a:r>
                        <a:rPr lang="en-US" sz="1400" b="1" baseline="0" dirty="0" smtClean="0">
                          <a:latin typeface="Verdana" pitchFamily="34" charset="0"/>
                          <a:ea typeface="Verdana" pitchFamily="34" charset="0"/>
                          <a:cs typeface="Verdana" pitchFamily="34" charset="0"/>
                        </a:rPr>
                        <a:t> DS, SS, ES</a:t>
                      </a:r>
                      <a:endParaRPr lang="en-US" sz="14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6"/>
                  </a:ext>
                </a:extLst>
              </a:tr>
              <a:tr h="497045">
                <a:tc>
                  <a:txBody>
                    <a:bodyPr/>
                    <a:lstStyle/>
                    <a:p>
                      <a:pPr algn="ctr"/>
                      <a:r>
                        <a:rPr lang="en-US" sz="1400" b="1" dirty="0" smtClean="0">
                          <a:latin typeface="Verdana" pitchFamily="34" charset="0"/>
                          <a:ea typeface="Verdana" pitchFamily="34" charset="0"/>
                          <a:cs typeface="Verdana" pitchFamily="34" charset="0"/>
                        </a:rPr>
                        <a:t>6</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Flag (PSW)</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16 bit</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latin typeface="Verdana" pitchFamily="34" charset="0"/>
                          <a:ea typeface="Verdana" pitchFamily="34" charset="0"/>
                          <a:cs typeface="Verdana" pitchFamily="34" charset="0"/>
                        </a:rPr>
                        <a:t>Flag register</a:t>
                      </a:r>
                      <a:endParaRPr lang="en-US" sz="14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7"/>
                  </a:ext>
                </a:extLst>
              </a:tr>
            </a:tbl>
          </a:graphicData>
        </a:graphic>
      </p:graphicFrame>
      <p:sp>
        <p:nvSpPr>
          <p:cNvPr id="9" name="Rectangle 8"/>
          <p:cNvSpPr/>
          <p:nvPr/>
        </p:nvSpPr>
        <p:spPr>
          <a:xfrm>
            <a:off x="152400" y="990600"/>
            <a:ext cx="1905000" cy="830997"/>
          </a:xfrm>
          <a:prstGeom prst="rect">
            <a:avLst/>
          </a:prstGeom>
        </p:spPr>
        <p:txBody>
          <a:bodyPr wrap="square">
            <a:spAutoFit/>
          </a:bodyPr>
          <a:lstStyle/>
          <a:p>
            <a:pPr algn="r"/>
            <a:r>
              <a:rPr lang="en-US" sz="1600" b="1" dirty="0" smtClean="0">
                <a:solidFill>
                  <a:srgbClr val="0070C0"/>
                </a:solidFill>
                <a:latin typeface="Verdana" pitchFamily="34" charset="0"/>
                <a:ea typeface="Verdana" pitchFamily="34" charset="0"/>
                <a:cs typeface="Verdana" pitchFamily="34" charset="0"/>
              </a:rPr>
              <a:t>8086 registers </a:t>
            </a:r>
            <a:r>
              <a:rPr lang="en-US" sz="1600" b="1" dirty="0">
                <a:solidFill>
                  <a:srgbClr val="0070C0"/>
                </a:solidFill>
                <a:latin typeface="Verdana" pitchFamily="34" charset="0"/>
                <a:ea typeface="Verdana" pitchFamily="34" charset="0"/>
                <a:cs typeface="Verdana" pitchFamily="34" charset="0"/>
              </a:rPr>
              <a:t>categorized into </a:t>
            </a:r>
            <a:r>
              <a:rPr lang="en-US" sz="1600" b="1" dirty="0" smtClean="0">
                <a:solidFill>
                  <a:srgbClr val="0070C0"/>
                </a:solidFill>
                <a:latin typeface="Verdana" pitchFamily="34" charset="0"/>
                <a:ea typeface="Verdana" pitchFamily="34" charset="0"/>
                <a:cs typeface="Verdana" pitchFamily="34" charset="0"/>
              </a:rPr>
              <a:t>4 groups </a:t>
            </a:r>
            <a:endParaRPr lang="en-US" sz="1600" b="1" dirty="0">
              <a:solidFill>
                <a:srgbClr val="0070C0"/>
              </a:solidFill>
              <a:latin typeface="Verdana" pitchFamily="34" charset="0"/>
              <a:ea typeface="Verdana" pitchFamily="34" charset="0"/>
              <a:cs typeface="Verdana" pitchFamily="34" charset="0"/>
            </a:endParaRPr>
          </a:p>
        </p:txBody>
      </p:sp>
      <p:cxnSp>
        <p:nvCxnSpPr>
          <p:cNvPr id="10" name="Straight Connector 9"/>
          <p:cNvCxnSpPr/>
          <p:nvPr/>
        </p:nvCxnSpPr>
        <p:spPr>
          <a:xfrm>
            <a:off x="2033889" y="1100554"/>
            <a:ext cx="0" cy="12192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14" name="Table 13"/>
          <p:cNvGraphicFramePr>
            <a:graphicFrameLocks noGrp="1"/>
          </p:cNvGraphicFramePr>
          <p:nvPr>
            <p:extLst>
              <p:ext uri="{D42A27DB-BD31-4B8C-83A1-F6EECF244321}">
                <p14:modId xmlns:p14="http://schemas.microsoft.com/office/powerpoint/2010/main" val="3449686430"/>
              </p:ext>
            </p:extLst>
          </p:nvPr>
        </p:nvGraphicFramePr>
        <p:xfrm>
          <a:off x="4038600" y="1295400"/>
          <a:ext cx="5029199" cy="609600"/>
        </p:xfrm>
        <a:graphic>
          <a:graphicData uri="http://schemas.openxmlformats.org/drawingml/2006/table">
            <a:tbl>
              <a:tblPr>
                <a:tableStyleId>{5C22544A-7EE6-4342-B048-85BDC9FD1C3A}</a:tableStyleId>
              </a:tblPr>
              <a:tblGrid>
                <a:gridCol w="298765">
                  <a:extLst>
                    <a:ext uri="{9D8B030D-6E8A-4147-A177-3AD203B41FA5}">
                      <a16:colId xmlns="" xmlns:a16="http://schemas.microsoft.com/office/drawing/2014/main" val="20000"/>
                    </a:ext>
                  </a:extLst>
                </a:gridCol>
                <a:gridCol w="298765">
                  <a:extLst>
                    <a:ext uri="{9D8B030D-6E8A-4147-A177-3AD203B41FA5}">
                      <a16:colId xmlns="" xmlns:a16="http://schemas.microsoft.com/office/drawing/2014/main" val="20001"/>
                    </a:ext>
                  </a:extLst>
                </a:gridCol>
                <a:gridCol w="298765">
                  <a:extLst>
                    <a:ext uri="{9D8B030D-6E8A-4147-A177-3AD203B41FA5}">
                      <a16:colId xmlns="" xmlns:a16="http://schemas.microsoft.com/office/drawing/2014/main" val="20002"/>
                    </a:ext>
                  </a:extLst>
                </a:gridCol>
                <a:gridCol w="298765">
                  <a:extLst>
                    <a:ext uri="{9D8B030D-6E8A-4147-A177-3AD203B41FA5}">
                      <a16:colId xmlns="" xmlns:a16="http://schemas.microsoft.com/office/drawing/2014/main" val="20003"/>
                    </a:ext>
                  </a:extLst>
                </a:gridCol>
                <a:gridCol w="348557">
                  <a:extLst>
                    <a:ext uri="{9D8B030D-6E8A-4147-A177-3AD203B41FA5}">
                      <a16:colId xmlns="" xmlns:a16="http://schemas.microsoft.com/office/drawing/2014/main" val="20004"/>
                    </a:ext>
                  </a:extLst>
                </a:gridCol>
                <a:gridCol w="348557">
                  <a:extLst>
                    <a:ext uri="{9D8B030D-6E8A-4147-A177-3AD203B41FA5}">
                      <a16:colId xmlns="" xmlns:a16="http://schemas.microsoft.com/office/drawing/2014/main" val="20005"/>
                    </a:ext>
                  </a:extLst>
                </a:gridCol>
                <a:gridCol w="348557">
                  <a:extLst>
                    <a:ext uri="{9D8B030D-6E8A-4147-A177-3AD203B41FA5}">
                      <a16:colId xmlns="" xmlns:a16="http://schemas.microsoft.com/office/drawing/2014/main" val="20006"/>
                    </a:ext>
                  </a:extLst>
                </a:gridCol>
                <a:gridCol w="348557">
                  <a:extLst>
                    <a:ext uri="{9D8B030D-6E8A-4147-A177-3AD203B41FA5}">
                      <a16:colId xmlns="" xmlns:a16="http://schemas.microsoft.com/office/drawing/2014/main" val="20007"/>
                    </a:ext>
                  </a:extLst>
                </a:gridCol>
                <a:gridCol w="298765">
                  <a:extLst>
                    <a:ext uri="{9D8B030D-6E8A-4147-A177-3AD203B41FA5}">
                      <a16:colId xmlns="" xmlns:a16="http://schemas.microsoft.com/office/drawing/2014/main" val="20008"/>
                    </a:ext>
                  </a:extLst>
                </a:gridCol>
                <a:gridCol w="298765">
                  <a:extLst>
                    <a:ext uri="{9D8B030D-6E8A-4147-A177-3AD203B41FA5}">
                      <a16:colId xmlns="" xmlns:a16="http://schemas.microsoft.com/office/drawing/2014/main" val="20009"/>
                    </a:ext>
                  </a:extLst>
                </a:gridCol>
                <a:gridCol w="298765">
                  <a:extLst>
                    <a:ext uri="{9D8B030D-6E8A-4147-A177-3AD203B41FA5}">
                      <a16:colId xmlns="" xmlns:a16="http://schemas.microsoft.com/office/drawing/2014/main" val="20010"/>
                    </a:ext>
                  </a:extLst>
                </a:gridCol>
                <a:gridCol w="348557">
                  <a:extLst>
                    <a:ext uri="{9D8B030D-6E8A-4147-A177-3AD203B41FA5}">
                      <a16:colId xmlns="" xmlns:a16="http://schemas.microsoft.com/office/drawing/2014/main" val="20011"/>
                    </a:ext>
                  </a:extLst>
                </a:gridCol>
                <a:gridCol w="298765">
                  <a:extLst>
                    <a:ext uri="{9D8B030D-6E8A-4147-A177-3AD203B41FA5}">
                      <a16:colId xmlns="" xmlns:a16="http://schemas.microsoft.com/office/drawing/2014/main" val="20012"/>
                    </a:ext>
                  </a:extLst>
                </a:gridCol>
                <a:gridCol w="298765">
                  <a:extLst>
                    <a:ext uri="{9D8B030D-6E8A-4147-A177-3AD203B41FA5}">
                      <a16:colId xmlns="" xmlns:a16="http://schemas.microsoft.com/office/drawing/2014/main" val="20013"/>
                    </a:ext>
                  </a:extLst>
                </a:gridCol>
                <a:gridCol w="298765">
                  <a:extLst>
                    <a:ext uri="{9D8B030D-6E8A-4147-A177-3AD203B41FA5}">
                      <a16:colId xmlns="" xmlns:a16="http://schemas.microsoft.com/office/drawing/2014/main" val="20014"/>
                    </a:ext>
                  </a:extLst>
                </a:gridCol>
                <a:gridCol w="298764">
                  <a:extLst>
                    <a:ext uri="{9D8B030D-6E8A-4147-A177-3AD203B41FA5}">
                      <a16:colId xmlns="" xmlns:a16="http://schemas.microsoft.com/office/drawing/2014/main" val="20015"/>
                    </a:ext>
                  </a:extLst>
                </a:gridCol>
              </a:tblGrid>
              <a:tr h="215153">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15</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14</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13</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12</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11</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10</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9</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8</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7</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6</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5</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4</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3</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2</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1</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tc>
                  <a:txBody>
                    <a:bodyPr/>
                    <a:lstStyle/>
                    <a:p>
                      <a:pPr marL="0" marR="0" algn="ctr">
                        <a:spcBef>
                          <a:spcPts val="0"/>
                        </a:spcBef>
                        <a:spcAft>
                          <a:spcPts val="0"/>
                        </a:spcAft>
                      </a:pPr>
                      <a:r>
                        <a:rPr lang="en-US" sz="900" b="0" dirty="0" smtClean="0">
                          <a:effectLst/>
                          <a:latin typeface="Verdana" pitchFamily="34" charset="0"/>
                          <a:ea typeface="Verdana" pitchFamily="34" charset="0"/>
                          <a:cs typeface="Verdana" pitchFamily="34" charset="0"/>
                        </a:rPr>
                        <a:t>0</a:t>
                      </a:r>
                      <a:endParaRPr lang="en-US" sz="900" b="0" dirty="0">
                        <a:effectLst/>
                        <a:latin typeface="Verdana" pitchFamily="34" charset="0"/>
                        <a:ea typeface="Verdana" pitchFamily="34" charset="0"/>
                        <a:cs typeface="Verdana" pitchFamily="34" charset="0"/>
                      </a:endParaRPr>
                    </a:p>
                  </a:txBody>
                  <a:tcPr marL="68580" marR="68580" marT="0" marB="0">
                    <a:solidFill>
                      <a:schemeClr val="bg1"/>
                    </a:solidFill>
                  </a:tcPr>
                </a:tc>
                <a:extLst>
                  <a:ext uri="{0D108BD9-81ED-4DB2-BD59-A6C34878D82A}">
                    <a16:rowId xmlns="" xmlns:a16="http://schemas.microsoft.com/office/drawing/2014/main" val="10000"/>
                  </a:ext>
                </a:extLst>
              </a:tr>
              <a:tr h="394447">
                <a:tc>
                  <a:txBody>
                    <a:bodyPr/>
                    <a:lstStyle/>
                    <a:p>
                      <a:pPr marL="0" marR="0" algn="ctr">
                        <a:spcBef>
                          <a:spcPts val="0"/>
                        </a:spcBef>
                        <a:spcAft>
                          <a:spcPts val="0"/>
                        </a:spcAft>
                      </a:pPr>
                      <a:endParaRPr lang="en-US" sz="900" b="1" dirty="0">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smtClean="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smtClean="0">
                          <a:solidFill>
                            <a:schemeClr val="bg1"/>
                          </a:solidFill>
                          <a:effectLst/>
                          <a:latin typeface="Verdana" pitchFamily="34" charset="0"/>
                          <a:ea typeface="Verdana" pitchFamily="34" charset="0"/>
                          <a:cs typeface="Verdana" pitchFamily="34" charset="0"/>
                        </a:rPr>
                        <a:t>OF</a:t>
                      </a: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smtClean="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smtClean="0">
                          <a:solidFill>
                            <a:schemeClr val="bg1"/>
                          </a:solidFill>
                          <a:effectLst/>
                          <a:latin typeface="Verdana" pitchFamily="34" charset="0"/>
                          <a:ea typeface="Verdana" pitchFamily="34" charset="0"/>
                          <a:cs typeface="Verdana" pitchFamily="34" charset="0"/>
                        </a:rPr>
                        <a:t>DF</a:t>
                      </a: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smtClean="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smtClean="0">
                          <a:solidFill>
                            <a:schemeClr val="bg1"/>
                          </a:solidFill>
                          <a:effectLst/>
                          <a:latin typeface="Verdana" pitchFamily="34" charset="0"/>
                          <a:ea typeface="Verdana" pitchFamily="34" charset="0"/>
                          <a:cs typeface="Verdana" pitchFamily="34" charset="0"/>
                        </a:rPr>
                        <a:t>IF</a:t>
                      </a: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smtClean="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smtClean="0">
                          <a:solidFill>
                            <a:schemeClr val="bg1"/>
                          </a:solidFill>
                          <a:effectLst/>
                          <a:latin typeface="Verdana" pitchFamily="34" charset="0"/>
                          <a:ea typeface="Verdana" pitchFamily="34" charset="0"/>
                          <a:cs typeface="Verdana" pitchFamily="34" charset="0"/>
                        </a:rPr>
                        <a:t>TF</a:t>
                      </a: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smtClean="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smtClean="0">
                          <a:solidFill>
                            <a:schemeClr val="bg1"/>
                          </a:solidFill>
                          <a:effectLst/>
                          <a:latin typeface="Verdana" pitchFamily="34" charset="0"/>
                          <a:ea typeface="Verdana" pitchFamily="34" charset="0"/>
                          <a:cs typeface="Verdana" pitchFamily="34" charset="0"/>
                        </a:rPr>
                        <a:t>SF</a:t>
                      </a: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smtClean="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smtClean="0">
                          <a:solidFill>
                            <a:schemeClr val="bg1"/>
                          </a:solidFill>
                          <a:effectLst/>
                          <a:latin typeface="Verdana" pitchFamily="34" charset="0"/>
                          <a:ea typeface="Verdana" pitchFamily="34" charset="0"/>
                          <a:cs typeface="Verdana" pitchFamily="34" charset="0"/>
                        </a:rPr>
                        <a:t>ZF</a:t>
                      </a: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smtClean="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smtClean="0">
                          <a:solidFill>
                            <a:schemeClr val="bg1"/>
                          </a:solidFill>
                          <a:effectLst/>
                          <a:latin typeface="Verdana" pitchFamily="34" charset="0"/>
                          <a:ea typeface="Verdana" pitchFamily="34" charset="0"/>
                          <a:cs typeface="Verdana" pitchFamily="34" charset="0"/>
                        </a:rPr>
                        <a:t>AF</a:t>
                      </a: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smtClean="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smtClean="0">
                          <a:solidFill>
                            <a:schemeClr val="bg1"/>
                          </a:solidFill>
                          <a:effectLst/>
                          <a:latin typeface="Verdana" pitchFamily="34" charset="0"/>
                          <a:ea typeface="Verdana" pitchFamily="34" charset="0"/>
                          <a:cs typeface="Verdana" pitchFamily="34" charset="0"/>
                        </a:rPr>
                        <a:t>PF</a:t>
                      </a: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smtClean="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smtClean="0">
                          <a:solidFill>
                            <a:schemeClr val="bg1"/>
                          </a:solidFill>
                          <a:effectLst/>
                          <a:latin typeface="Verdana" pitchFamily="34" charset="0"/>
                          <a:ea typeface="Verdana" pitchFamily="34" charset="0"/>
                          <a:cs typeface="Verdana" pitchFamily="34" charset="0"/>
                        </a:rPr>
                        <a:t>CF</a:t>
                      </a: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extLst>
                  <a:ext uri="{0D108BD9-81ED-4DB2-BD59-A6C34878D82A}">
                    <a16:rowId xmlns="" xmlns:a16="http://schemas.microsoft.com/office/drawing/2014/main" val="10001"/>
                  </a:ext>
                </a:extLst>
              </a:tr>
            </a:tbl>
          </a:graphicData>
        </a:graphic>
      </p:graphicFrame>
      <p:pic>
        <p:nvPicPr>
          <p:cNvPr id="15"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1177" y="981136"/>
            <a:ext cx="1714551" cy="1685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2583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5E6815B-E59C-4D87-B1F6-ECBDD22AF1DC}" type="slidenum">
              <a:rPr lang="en-US" smtClean="0"/>
              <a:pPr/>
              <a:t>33</a:t>
            </a:fld>
            <a:endParaRPr lang="en-US" dirty="0"/>
          </a:p>
        </p:txBody>
      </p:sp>
      <p:sp>
        <p:nvSpPr>
          <p:cNvPr id="5" name="Title 1"/>
          <p:cNvSpPr txBox="1">
            <a:spLocks/>
          </p:cNvSpPr>
          <p:nvPr/>
        </p:nvSpPr>
        <p:spPr>
          <a:xfrm>
            <a:off x="2895600" y="110756"/>
            <a:ext cx="6019800" cy="4873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000" b="1" kern="1200">
                <a:solidFill>
                  <a:srgbClr val="FF0066"/>
                </a:solidFill>
                <a:latin typeface="Verdana" pitchFamily="34" charset="0"/>
                <a:ea typeface="Verdana" pitchFamily="34" charset="0"/>
                <a:cs typeface="Verdana" pitchFamily="34" charset="0"/>
              </a:defRPr>
            </a:lvl1pPr>
          </a:lstStyle>
          <a:p>
            <a:r>
              <a:rPr lang="en-US" smtClean="0"/>
              <a:t>Architecture</a:t>
            </a:r>
            <a:endParaRPr lang="en-US" dirty="0">
              <a:solidFill>
                <a:srgbClr val="002060"/>
              </a:solidFill>
            </a:endParaRPr>
          </a:p>
        </p:txBody>
      </p:sp>
      <p:sp>
        <p:nvSpPr>
          <p:cNvPr id="6" name="TextBox 5"/>
          <p:cNvSpPr txBox="1"/>
          <p:nvPr/>
        </p:nvSpPr>
        <p:spPr>
          <a:xfrm>
            <a:off x="62552" y="65769"/>
            <a:ext cx="2438400" cy="584775"/>
          </a:xfrm>
          <a:prstGeom prst="rect">
            <a:avLst/>
          </a:prstGeom>
          <a:noFill/>
        </p:spPr>
        <p:txBody>
          <a:bodyPr wrap="square" rtlCol="0">
            <a:spAutoFit/>
          </a:bodyPr>
          <a:lstStyle/>
          <a:p>
            <a:pPr algn="ctr"/>
            <a:r>
              <a:rPr lang="en-US" sz="1600" b="1" dirty="0" smtClean="0">
                <a:latin typeface="Octapost NBP" pitchFamily="2" charset="0"/>
              </a:rPr>
              <a:t>8086 Microprocessor</a:t>
            </a:r>
            <a:endParaRPr lang="en-US" sz="1600" b="1" dirty="0">
              <a:latin typeface="Octapost NBP" pitchFamily="2" charset="0"/>
            </a:endParaRPr>
          </a:p>
        </p:txBody>
      </p:sp>
      <p:graphicFrame>
        <p:nvGraphicFramePr>
          <p:cNvPr id="8" name="Table 7"/>
          <p:cNvGraphicFramePr>
            <a:graphicFrameLocks noGrp="1"/>
          </p:cNvGraphicFramePr>
          <p:nvPr>
            <p:extLst>
              <p:ext uri="{D42A27DB-BD31-4B8C-83A1-F6EECF244321}">
                <p14:modId xmlns:p14="http://schemas.microsoft.com/office/powerpoint/2010/main" val="1230916814"/>
              </p:ext>
            </p:extLst>
          </p:nvPr>
        </p:nvGraphicFramePr>
        <p:xfrm>
          <a:off x="348740" y="914400"/>
          <a:ext cx="8566660" cy="5754845"/>
        </p:xfrm>
        <a:graphic>
          <a:graphicData uri="http://schemas.openxmlformats.org/drawingml/2006/table">
            <a:tbl>
              <a:tblPr firstRow="1" bandRow="1">
                <a:tableStyleId>{21E4AEA4-8DFA-4A89-87EB-49C32662AFE0}</a:tableStyleId>
              </a:tblPr>
              <a:tblGrid>
                <a:gridCol w="1022860">
                  <a:extLst>
                    <a:ext uri="{9D8B030D-6E8A-4147-A177-3AD203B41FA5}">
                      <a16:colId xmlns="" xmlns:a16="http://schemas.microsoft.com/office/drawing/2014/main" val="20000"/>
                    </a:ext>
                  </a:extLst>
                </a:gridCol>
                <a:gridCol w="2998237">
                  <a:extLst>
                    <a:ext uri="{9D8B030D-6E8A-4147-A177-3AD203B41FA5}">
                      <a16:colId xmlns="" xmlns:a16="http://schemas.microsoft.com/office/drawing/2014/main" val="20001"/>
                    </a:ext>
                  </a:extLst>
                </a:gridCol>
                <a:gridCol w="4545563">
                  <a:extLst>
                    <a:ext uri="{9D8B030D-6E8A-4147-A177-3AD203B41FA5}">
                      <a16:colId xmlns="" xmlns:a16="http://schemas.microsoft.com/office/drawing/2014/main" val="20002"/>
                    </a:ext>
                  </a:extLst>
                </a:gridCol>
              </a:tblGrid>
              <a:tr h="335310">
                <a:tc>
                  <a:txBody>
                    <a:bodyPr/>
                    <a:lstStyle/>
                    <a:p>
                      <a:pPr algn="ctr"/>
                      <a:r>
                        <a:rPr lang="en-US" sz="1200" b="1" dirty="0" smtClean="0"/>
                        <a:t>Register</a:t>
                      </a:r>
                      <a:endParaRPr lang="en-US" sz="1200" b="1" dirty="0">
                        <a:latin typeface="Verdana" pitchFamily="34" charset="0"/>
                        <a:ea typeface="Verdana" pitchFamily="34" charset="0"/>
                        <a:cs typeface="Verdana" pitchFamily="34" charset="0"/>
                      </a:endParaRPr>
                    </a:p>
                  </a:txBody>
                  <a:tcPr marL="91434" marR="91434" marT="45722" marB="45722"/>
                </a:tc>
                <a:tc>
                  <a:txBody>
                    <a:bodyPr/>
                    <a:lstStyle/>
                    <a:p>
                      <a:pPr algn="ctr"/>
                      <a:r>
                        <a:rPr lang="en-US" sz="1200" b="1" dirty="0" smtClean="0"/>
                        <a:t>Name</a:t>
                      </a:r>
                      <a:r>
                        <a:rPr lang="en-US" sz="1200" b="1" baseline="0" dirty="0" smtClean="0"/>
                        <a:t> of the Register</a:t>
                      </a:r>
                      <a:endParaRPr lang="en-US" sz="1200" b="1" dirty="0">
                        <a:latin typeface="Verdana" pitchFamily="34" charset="0"/>
                        <a:ea typeface="Verdana" pitchFamily="34" charset="0"/>
                        <a:cs typeface="Verdana" pitchFamily="34" charset="0"/>
                      </a:endParaRPr>
                    </a:p>
                  </a:txBody>
                  <a:tcPr marL="91434" marR="91434" marT="45722" marB="45722"/>
                </a:tc>
                <a:tc>
                  <a:txBody>
                    <a:bodyPr/>
                    <a:lstStyle/>
                    <a:p>
                      <a:pPr algn="ctr"/>
                      <a:r>
                        <a:rPr lang="en-US" sz="1200" b="1" dirty="0" smtClean="0"/>
                        <a:t>Special Function</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0"/>
                  </a:ext>
                </a:extLst>
              </a:tr>
              <a:tr h="579090">
                <a:tc>
                  <a:txBody>
                    <a:bodyPr/>
                    <a:lstStyle/>
                    <a:p>
                      <a:pPr algn="ctr"/>
                      <a:r>
                        <a:rPr lang="en-US" sz="1400" b="1" dirty="0" smtClean="0"/>
                        <a:t>AX</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t>16-bit Accumulator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smtClean="0"/>
                        <a:t>Stores the 16-bit results of</a:t>
                      </a:r>
                      <a:r>
                        <a:rPr lang="en-US" sz="1200" b="1" baseline="0" dirty="0" smtClean="0"/>
                        <a:t> arithmetic and logic operations</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1"/>
                  </a:ext>
                </a:extLst>
              </a:tr>
              <a:tr h="533400">
                <a:tc>
                  <a:txBody>
                    <a:bodyPr/>
                    <a:lstStyle/>
                    <a:p>
                      <a:pPr algn="ctr"/>
                      <a:r>
                        <a:rPr lang="en-US" sz="1400" b="1" dirty="0" smtClean="0"/>
                        <a:t>AL</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8-bit Accumulator</a:t>
                      </a:r>
                    </a:p>
                    <a:p>
                      <a:endParaRPr lang="en-US" sz="1400" b="1" dirty="0">
                        <a:latin typeface="Verdana" pitchFamily="34" charset="0"/>
                        <a:ea typeface="Verdana" pitchFamily="34" charset="0"/>
                        <a:cs typeface="Verdana" pitchFamily="34" charset="0"/>
                      </a:endParaRPr>
                    </a:p>
                  </a:txBody>
                  <a:tcPr marL="91434" marR="91434" marT="45722" marB="4572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t>Stores the 8-bit results of</a:t>
                      </a:r>
                      <a:r>
                        <a:rPr lang="en-US" sz="1200" b="1" baseline="0" dirty="0" smtClean="0"/>
                        <a:t> arithmetic and logic operations</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2"/>
                  </a:ext>
                </a:extLst>
              </a:tr>
              <a:tr h="609600">
                <a:tc>
                  <a:txBody>
                    <a:bodyPr/>
                    <a:lstStyle/>
                    <a:p>
                      <a:pPr algn="ctr"/>
                      <a:r>
                        <a:rPr lang="en-US" sz="1400" b="1" dirty="0" smtClean="0"/>
                        <a:t>BX</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t>Base register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smtClean="0"/>
                        <a:t>Used to hold base value in base addressing</a:t>
                      </a:r>
                      <a:r>
                        <a:rPr lang="en-US" sz="1200" b="1" baseline="0" dirty="0" smtClean="0"/>
                        <a:t> mode to access memory data</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3"/>
                  </a:ext>
                </a:extLst>
              </a:tr>
              <a:tr h="609600">
                <a:tc>
                  <a:txBody>
                    <a:bodyPr/>
                    <a:lstStyle/>
                    <a:p>
                      <a:pPr algn="ctr"/>
                      <a:r>
                        <a:rPr lang="en-US" sz="1400" b="1" dirty="0" smtClean="0"/>
                        <a:t>CX</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t>Count Register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smtClean="0"/>
                        <a:t>Used to hold the count value in SHIFT,</a:t>
                      </a:r>
                      <a:r>
                        <a:rPr lang="en-US" sz="1200" b="1" baseline="0" dirty="0" smtClean="0"/>
                        <a:t> ROTATE and LOOP instructions</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4"/>
                  </a:ext>
                </a:extLst>
              </a:tr>
              <a:tr h="609600">
                <a:tc>
                  <a:txBody>
                    <a:bodyPr/>
                    <a:lstStyle/>
                    <a:p>
                      <a:pPr algn="ctr"/>
                      <a:r>
                        <a:rPr lang="en-US" sz="1400" b="1" dirty="0" smtClean="0"/>
                        <a:t>DX</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t>Data Register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smtClean="0"/>
                        <a:t>Used to hold</a:t>
                      </a:r>
                      <a:r>
                        <a:rPr lang="en-US" sz="1200" b="1" baseline="0" dirty="0" smtClean="0"/>
                        <a:t> data for multiplication and division operations</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5"/>
                  </a:ext>
                </a:extLst>
              </a:tr>
              <a:tr h="609600">
                <a:tc>
                  <a:txBody>
                    <a:bodyPr/>
                    <a:lstStyle/>
                    <a:p>
                      <a:pPr algn="ctr"/>
                      <a:r>
                        <a:rPr lang="en-US" sz="1400" b="1" dirty="0" smtClean="0"/>
                        <a:t>SP</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t>Stack Pointer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smtClean="0"/>
                        <a:t>Used to hold the offset address</a:t>
                      </a:r>
                      <a:r>
                        <a:rPr lang="en-US" sz="1200" b="1" baseline="0" dirty="0" smtClean="0"/>
                        <a:t> of top stack memory</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6"/>
                  </a:ext>
                </a:extLst>
              </a:tr>
              <a:tr h="762000">
                <a:tc>
                  <a:txBody>
                    <a:bodyPr/>
                    <a:lstStyle/>
                    <a:p>
                      <a:pPr algn="ctr"/>
                      <a:r>
                        <a:rPr lang="en-US" sz="1400" b="1" dirty="0" smtClean="0"/>
                        <a:t>BP</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t>Base Pointer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smtClean="0"/>
                        <a:t>Used to hold the base value</a:t>
                      </a:r>
                      <a:r>
                        <a:rPr lang="en-US" sz="1200" b="1" baseline="0" dirty="0" smtClean="0"/>
                        <a:t> in base addressing using SS register to access data from stack memory</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7"/>
                  </a:ext>
                </a:extLst>
              </a:tr>
              <a:tr h="609600">
                <a:tc>
                  <a:txBody>
                    <a:bodyPr/>
                    <a:lstStyle/>
                    <a:p>
                      <a:pPr algn="ctr"/>
                      <a:r>
                        <a:rPr lang="en-US" sz="1400" b="1" dirty="0" smtClean="0"/>
                        <a:t>SI</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t>Source Index</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smtClean="0"/>
                        <a:t>Used to hold index value of source</a:t>
                      </a:r>
                      <a:r>
                        <a:rPr lang="en-US" sz="1200" b="1" baseline="0" dirty="0" smtClean="0"/>
                        <a:t> operand (data) for string instructions</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8"/>
                  </a:ext>
                </a:extLst>
              </a:tr>
              <a:tr h="497045">
                <a:tc>
                  <a:txBody>
                    <a:bodyPr/>
                    <a:lstStyle/>
                    <a:p>
                      <a:pPr algn="ctr"/>
                      <a:r>
                        <a:rPr lang="en-US" sz="1400" b="1" dirty="0" smtClean="0"/>
                        <a:t>DI</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smtClean="0"/>
                        <a:t>Data Index</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smtClean="0"/>
                        <a:t>Used to hold the index value of destination operand (data) for</a:t>
                      </a:r>
                      <a:r>
                        <a:rPr lang="en-US" sz="1200" b="1" baseline="0" dirty="0" smtClean="0"/>
                        <a:t> string operations</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 xmlns:a16="http://schemas.microsoft.com/office/drawing/2014/main" val="10009"/>
                  </a:ext>
                </a:extLst>
              </a:tr>
            </a:tbl>
          </a:graphicData>
        </a:graphic>
      </p:graphicFrame>
      <p:sp>
        <p:nvSpPr>
          <p:cNvPr id="4" name="TextBox 3"/>
          <p:cNvSpPr txBox="1"/>
          <p:nvPr/>
        </p:nvSpPr>
        <p:spPr>
          <a:xfrm>
            <a:off x="5105400" y="169771"/>
            <a:ext cx="3853940" cy="338554"/>
          </a:xfrm>
          <a:prstGeom prst="rect">
            <a:avLst/>
          </a:prstGeom>
          <a:noFill/>
        </p:spPr>
        <p:txBody>
          <a:bodyPr wrap="none" rtlCol="0">
            <a:spAutoFit/>
          </a:bodyPr>
          <a:lstStyle/>
          <a:p>
            <a:r>
              <a:rPr lang="en-US" sz="1600" b="1" dirty="0" smtClean="0"/>
              <a:t>Registers and Special Functions</a:t>
            </a:r>
            <a:endParaRPr lang="en-US" sz="1600" b="1" dirty="0"/>
          </a:p>
        </p:txBody>
      </p:sp>
    </p:spTree>
    <p:extLst>
      <p:ext uri="{BB962C8B-B14F-4D97-AF65-F5344CB8AC3E}">
        <p14:creationId xmlns:p14="http://schemas.microsoft.com/office/powerpoint/2010/main" val="22339040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5E6815B-E59C-4D87-B1F6-ECBDD22AF1DC}" type="slidenum">
              <a:rPr lang="en-US" smtClean="0"/>
              <a:pPr/>
              <a:t>34</a:t>
            </a:fld>
            <a:endParaRPr lang="en-US" dirty="0"/>
          </a:p>
        </p:txBody>
      </p:sp>
      <p:sp>
        <p:nvSpPr>
          <p:cNvPr id="4" name="Rectangle 3"/>
          <p:cNvSpPr/>
          <p:nvPr/>
        </p:nvSpPr>
        <p:spPr>
          <a:xfrm>
            <a:off x="428596" y="1928802"/>
            <a:ext cx="8715404" cy="1077218"/>
          </a:xfrm>
          <a:prstGeom prst="rect">
            <a:avLst/>
          </a:prstGeom>
        </p:spPr>
        <p:txBody>
          <a:bodyPr wrap="square">
            <a:spAutoFit/>
          </a:bodyPr>
          <a:lstStyle/>
          <a:p>
            <a:r>
              <a:rPr lang="en-US" sz="3200" dirty="0" smtClean="0">
                <a:solidFill>
                  <a:schemeClr val="tx2">
                    <a:satMod val="130000"/>
                  </a:schemeClr>
                </a:solidFill>
                <a:latin typeface="Times New Roman" pitchFamily="18" charset="0"/>
                <a:cs typeface="Times New Roman" pitchFamily="18" charset="0"/>
              </a:rPr>
              <a:t>Programming Techniques: Looping, Counting and Indexing</a:t>
            </a:r>
            <a:endParaRPr lang="en-US" sz="32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534044"/>
          </a:xfrm>
        </p:spPr>
        <p:txBody>
          <a:bodyPr/>
          <a:lstStyle/>
          <a:p>
            <a:pPr lvl="0" algn="ctr">
              <a:spcBef>
                <a:spcPts val="480"/>
              </a:spcBef>
              <a:buClr>
                <a:schemeClr val="dk1"/>
              </a:buClr>
              <a:buSzPct val="25000"/>
              <a:buNone/>
            </a:pPr>
            <a:r>
              <a:rPr lang="en-US" sz="4000" b="1" dirty="0" smtClean="0">
                <a:solidFill>
                  <a:schemeClr val="dk1"/>
                </a:solidFill>
                <a:latin typeface="Times New Roman"/>
                <a:ea typeface="Times New Roman"/>
                <a:cs typeface="Times New Roman"/>
                <a:sym typeface="Times New Roman"/>
              </a:rPr>
              <a:t>Calculate the sum of series of numbers. The length of the series is in memory location 4200H and the series begins from memory location 4201H.	</a:t>
            </a:r>
          </a:p>
          <a:p>
            <a:pPr lvl="0" algn="ctr">
              <a:spcBef>
                <a:spcPts val="480"/>
              </a:spcBef>
              <a:buClr>
                <a:schemeClr val="dk1"/>
              </a:buClr>
              <a:buSzPct val="25000"/>
              <a:buNone/>
            </a:pPr>
            <a:r>
              <a:rPr lang="en-US" sz="4000" b="1" dirty="0" smtClean="0">
                <a:solidFill>
                  <a:schemeClr val="dk1"/>
                </a:solidFill>
                <a:latin typeface="Times New Roman"/>
                <a:ea typeface="Times New Roman"/>
                <a:cs typeface="Times New Roman"/>
                <a:sym typeface="Times New Roman"/>
              </a:rPr>
              <a:t>	 Consider the sum to be 8 bit number. So, ignore carries. Store the sum at memory location 4300H</a:t>
            </a:r>
          </a:p>
          <a:p>
            <a:endParaRPr lang="en-US" dirty="0"/>
          </a:p>
        </p:txBody>
      </p:sp>
      <p:sp>
        <p:nvSpPr>
          <p:cNvPr id="4" name="Slide Number Placeholder 3"/>
          <p:cNvSpPr>
            <a:spLocks noGrp="1"/>
          </p:cNvSpPr>
          <p:nvPr>
            <p:ph type="sldNum" sz="quarter" idx="12"/>
          </p:nvPr>
        </p:nvSpPr>
        <p:spPr/>
        <p:txBody>
          <a:bodyPr/>
          <a:lstStyle/>
          <a:p>
            <a:fld id="{85E6815B-E59C-4D87-B1F6-ECBDD22AF1DC}" type="slidenum">
              <a:rPr lang="en-US" smtClean="0"/>
              <a:pPr/>
              <a:t>35</a:t>
            </a:fld>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Shape 113"/>
          <p:cNvSpPr txBox="1">
            <a:spLocks noGrp="1"/>
          </p:cNvSpPr>
          <p:nvPr>
            <p:ph type="body" idx="1"/>
          </p:nvPr>
        </p:nvSpPr>
        <p:spPr>
          <a:xfrm>
            <a:off x="457200" y="762000"/>
            <a:ext cx="5400684" cy="5410200"/>
          </a:xfrm>
          <a:prstGeom prst="rect">
            <a:avLst/>
          </a:prstGeom>
          <a:noFill/>
          <a:ln>
            <a:noFill/>
          </a:ln>
        </p:spPr>
        <p:txBody>
          <a:bodyPr lIns="91425" tIns="45700" rIns="91425" bIns="45700" anchor="t" anchorCtr="0">
            <a:noAutofit/>
          </a:bodyPr>
          <a:lstStyle/>
          <a:p>
            <a:pPr marL="342900" marR="0" lvl="0" indent="-342900" algn="l" rtl="0">
              <a:lnSpc>
                <a:spcPct val="80000"/>
              </a:lnSpc>
              <a:spcBef>
                <a:spcPts val="360"/>
              </a:spcBef>
              <a:spcAft>
                <a:spcPts val="0"/>
              </a:spcAft>
              <a:buClr>
                <a:schemeClr val="dk1"/>
              </a:buClr>
              <a:buSzPct val="25000"/>
              <a:buFont typeface="Arial"/>
              <a:buNone/>
            </a:pPr>
            <a:r>
              <a:rPr lang="en-US" sz="1800" b="1" i="1" u="none" strike="noStrike" cap="none" dirty="0">
                <a:solidFill>
                  <a:schemeClr val="dk1"/>
                </a:solidFill>
                <a:latin typeface="Arial"/>
                <a:ea typeface="Arial"/>
                <a:cs typeface="Arial"/>
                <a:sym typeface="Arial"/>
              </a:rPr>
              <a:t>LDA 4200H </a:t>
            </a:r>
            <a:r>
              <a:rPr lang="en-US" sz="1800" b="1" i="1" u="none" strike="noStrike" cap="none" dirty="0" smtClean="0">
                <a:solidFill>
                  <a:schemeClr val="dk1"/>
                </a:solidFill>
                <a:latin typeface="Arial"/>
                <a:ea typeface="Arial"/>
                <a:cs typeface="Arial"/>
                <a:sym typeface="Arial"/>
              </a:rPr>
              <a:t>:Load the no. In the Accumulator</a:t>
            </a:r>
            <a:endParaRPr lang="en-US" sz="1800" b="1" i="1" u="none" strike="noStrike" cap="none" dirty="0">
              <a:solidFill>
                <a:schemeClr val="dk1"/>
              </a:solidFill>
              <a:latin typeface="Arial"/>
              <a:ea typeface="Arial"/>
              <a:cs typeface="Arial"/>
              <a:sym typeface="Arial"/>
            </a:endParaRPr>
          </a:p>
          <a:p>
            <a:pPr marL="342900" marR="0" lvl="0" indent="-342900" algn="l" rtl="0">
              <a:lnSpc>
                <a:spcPct val="80000"/>
              </a:lnSpc>
              <a:spcBef>
                <a:spcPts val="360"/>
              </a:spcBef>
              <a:spcAft>
                <a:spcPts val="0"/>
              </a:spcAft>
              <a:buClr>
                <a:schemeClr val="dk1"/>
              </a:buClr>
              <a:buSzPct val="25000"/>
              <a:buFont typeface="Arial"/>
              <a:buNone/>
            </a:pPr>
            <a:r>
              <a:rPr lang="en-US" sz="1800" b="1" i="1" u="none" strike="noStrike" cap="none" dirty="0">
                <a:solidFill>
                  <a:schemeClr val="dk1"/>
                </a:solidFill>
                <a:latin typeface="Arial"/>
                <a:ea typeface="Arial"/>
                <a:cs typeface="Arial"/>
                <a:sym typeface="Arial"/>
              </a:rPr>
              <a:t>MOV C, A : Initialize counter</a:t>
            </a:r>
          </a:p>
          <a:p>
            <a:pPr marL="342900" marR="0" lvl="0" indent="-342900" algn="l" rtl="0">
              <a:lnSpc>
                <a:spcPct val="80000"/>
              </a:lnSpc>
              <a:spcBef>
                <a:spcPts val="360"/>
              </a:spcBef>
              <a:spcAft>
                <a:spcPts val="0"/>
              </a:spcAft>
              <a:buClr>
                <a:schemeClr val="dk1"/>
              </a:buClr>
              <a:buSzPct val="25000"/>
              <a:buFont typeface="Arial"/>
              <a:buNone/>
            </a:pPr>
            <a:r>
              <a:rPr lang="en-US" sz="1800" b="1" i="1" u="none" strike="noStrike" cap="none" dirty="0">
                <a:solidFill>
                  <a:schemeClr val="dk1"/>
                </a:solidFill>
                <a:latin typeface="Arial"/>
                <a:ea typeface="Arial"/>
                <a:cs typeface="Arial"/>
                <a:sym typeface="Arial"/>
              </a:rPr>
              <a:t>SUB A : sum = 0</a:t>
            </a:r>
          </a:p>
          <a:p>
            <a:pPr marL="342900" marR="0" lvl="0" indent="-342900" algn="l" rtl="0">
              <a:lnSpc>
                <a:spcPct val="80000"/>
              </a:lnSpc>
              <a:spcBef>
                <a:spcPts val="360"/>
              </a:spcBef>
              <a:spcAft>
                <a:spcPts val="0"/>
              </a:spcAft>
              <a:buClr>
                <a:schemeClr val="dk1"/>
              </a:buClr>
              <a:buSzPct val="25000"/>
              <a:buFont typeface="Arial"/>
              <a:buNone/>
            </a:pPr>
            <a:r>
              <a:rPr lang="en-US" sz="1800" b="1" i="1" u="none" strike="noStrike" cap="none" dirty="0">
                <a:solidFill>
                  <a:schemeClr val="dk1"/>
                </a:solidFill>
                <a:latin typeface="Arial"/>
                <a:ea typeface="Arial"/>
                <a:cs typeface="Arial"/>
                <a:sym typeface="Arial"/>
              </a:rPr>
              <a:t>LXI H, 420lH : Initialize pointer</a:t>
            </a:r>
          </a:p>
          <a:p>
            <a:pPr marL="342900" marR="0" lvl="0" indent="-342900" algn="l" rtl="0">
              <a:lnSpc>
                <a:spcPct val="80000"/>
              </a:lnSpc>
              <a:spcBef>
                <a:spcPts val="360"/>
              </a:spcBef>
              <a:spcAft>
                <a:spcPts val="0"/>
              </a:spcAft>
              <a:buClr>
                <a:schemeClr val="dk1"/>
              </a:buClr>
              <a:buSzPct val="25000"/>
              <a:buFont typeface="Arial"/>
              <a:buNone/>
            </a:pPr>
            <a:r>
              <a:rPr lang="en-US" sz="1800" b="1" i="1" u="none" strike="noStrike" cap="none" dirty="0">
                <a:solidFill>
                  <a:schemeClr val="dk1"/>
                </a:solidFill>
                <a:latin typeface="Arial"/>
                <a:ea typeface="Arial"/>
                <a:cs typeface="Arial"/>
                <a:sym typeface="Arial"/>
              </a:rPr>
              <a:t>BACK: ADD M : </a:t>
            </a:r>
            <a:r>
              <a:rPr lang="en-US" sz="1600" b="1" i="1" u="none" strike="noStrike" cap="none" dirty="0">
                <a:solidFill>
                  <a:schemeClr val="dk1"/>
                </a:solidFill>
                <a:latin typeface="Arial"/>
                <a:ea typeface="Arial"/>
                <a:cs typeface="Arial"/>
                <a:sym typeface="Arial"/>
              </a:rPr>
              <a:t>SUM = SUM + data</a:t>
            </a:r>
          </a:p>
          <a:p>
            <a:pPr marL="342900" marR="0" lvl="0" indent="-342900" algn="l" rtl="0">
              <a:lnSpc>
                <a:spcPct val="80000"/>
              </a:lnSpc>
              <a:spcBef>
                <a:spcPts val="360"/>
              </a:spcBef>
              <a:spcAft>
                <a:spcPts val="0"/>
              </a:spcAft>
              <a:buClr>
                <a:schemeClr val="dk1"/>
              </a:buClr>
              <a:buSzPct val="25000"/>
              <a:buFont typeface="Arial"/>
              <a:buNone/>
            </a:pPr>
            <a:r>
              <a:rPr lang="en-US" sz="1800" b="1" i="1" u="none" strike="noStrike" cap="none" dirty="0">
                <a:solidFill>
                  <a:schemeClr val="dk1"/>
                </a:solidFill>
                <a:latin typeface="Arial"/>
                <a:ea typeface="Arial"/>
                <a:cs typeface="Arial"/>
                <a:sym typeface="Arial"/>
              </a:rPr>
              <a:t>INX H : increment pointer</a:t>
            </a:r>
          </a:p>
          <a:p>
            <a:pPr marL="342900" marR="0" lvl="0" indent="-342900" algn="l" rtl="0">
              <a:lnSpc>
                <a:spcPct val="80000"/>
              </a:lnSpc>
              <a:spcBef>
                <a:spcPts val="360"/>
              </a:spcBef>
              <a:spcAft>
                <a:spcPts val="0"/>
              </a:spcAft>
              <a:buClr>
                <a:schemeClr val="dk1"/>
              </a:buClr>
              <a:buSzPct val="25000"/>
              <a:buFont typeface="Arial"/>
              <a:buNone/>
            </a:pPr>
            <a:r>
              <a:rPr lang="en-US" sz="1800" b="1" i="1" u="none" strike="noStrike" cap="none" dirty="0">
                <a:solidFill>
                  <a:schemeClr val="dk1"/>
                </a:solidFill>
                <a:latin typeface="Arial"/>
                <a:ea typeface="Arial"/>
                <a:cs typeface="Arial"/>
                <a:sym typeface="Arial"/>
              </a:rPr>
              <a:t>DCR C : Decrement counter</a:t>
            </a:r>
          </a:p>
          <a:p>
            <a:pPr marL="342900" marR="0" lvl="0" indent="-342900" algn="l" rtl="0">
              <a:lnSpc>
                <a:spcPct val="80000"/>
              </a:lnSpc>
              <a:spcBef>
                <a:spcPts val="360"/>
              </a:spcBef>
              <a:spcAft>
                <a:spcPts val="0"/>
              </a:spcAft>
              <a:buClr>
                <a:schemeClr val="dk1"/>
              </a:buClr>
              <a:buSzPct val="25000"/>
              <a:buFont typeface="Arial"/>
              <a:buNone/>
            </a:pPr>
            <a:r>
              <a:rPr lang="en-US" sz="1800" b="1" i="1" u="none" strike="noStrike" cap="none" dirty="0">
                <a:solidFill>
                  <a:schemeClr val="dk1"/>
                </a:solidFill>
                <a:latin typeface="Arial"/>
                <a:ea typeface="Arial"/>
                <a:cs typeface="Arial"/>
                <a:sym typeface="Arial"/>
              </a:rPr>
              <a:t>JNZ BACK : if counter </a:t>
            </a:r>
            <a:r>
              <a:rPr lang="en-US" sz="1800" b="1" i="1" u="none" strike="noStrike" cap="none" dirty="0" smtClean="0">
                <a:solidFill>
                  <a:schemeClr val="dk1"/>
                </a:solidFill>
                <a:latin typeface="Arial"/>
                <a:ea typeface="Arial"/>
                <a:cs typeface="Arial"/>
                <a:sym typeface="Arial"/>
              </a:rPr>
              <a:t>is not equal to </a:t>
            </a:r>
            <a:r>
              <a:rPr lang="en-US" sz="1800" b="1" i="1" u="none" strike="noStrike" cap="none" dirty="0">
                <a:solidFill>
                  <a:schemeClr val="dk1"/>
                </a:solidFill>
                <a:latin typeface="Arial"/>
                <a:ea typeface="Arial"/>
                <a:cs typeface="Arial"/>
                <a:sym typeface="Arial"/>
              </a:rPr>
              <a:t>0 repeat</a:t>
            </a:r>
          </a:p>
          <a:p>
            <a:pPr marL="342900" marR="0" lvl="0" indent="-342900" algn="l" rtl="0">
              <a:lnSpc>
                <a:spcPct val="80000"/>
              </a:lnSpc>
              <a:spcBef>
                <a:spcPts val="360"/>
              </a:spcBef>
              <a:spcAft>
                <a:spcPts val="0"/>
              </a:spcAft>
              <a:buClr>
                <a:schemeClr val="dk1"/>
              </a:buClr>
              <a:buSzPct val="25000"/>
              <a:buFont typeface="Arial"/>
              <a:buNone/>
            </a:pPr>
            <a:r>
              <a:rPr lang="en-US" sz="1800" b="1" i="1" u="none" strike="noStrike" cap="none" dirty="0">
                <a:solidFill>
                  <a:schemeClr val="dk1"/>
                </a:solidFill>
                <a:latin typeface="Arial"/>
                <a:ea typeface="Arial"/>
                <a:cs typeface="Arial"/>
                <a:sym typeface="Arial"/>
              </a:rPr>
              <a:t>STA 4300H : Store sum</a:t>
            </a:r>
          </a:p>
          <a:p>
            <a:pPr marL="342900" marR="0" lvl="0" indent="-342900" algn="l" rtl="0">
              <a:lnSpc>
                <a:spcPct val="80000"/>
              </a:lnSpc>
              <a:spcBef>
                <a:spcPts val="360"/>
              </a:spcBef>
              <a:spcAft>
                <a:spcPts val="0"/>
              </a:spcAft>
              <a:buClr>
                <a:schemeClr val="dk1"/>
              </a:buClr>
              <a:buSzPct val="25000"/>
              <a:buFont typeface="Arial"/>
              <a:buNone/>
            </a:pPr>
            <a:r>
              <a:rPr lang="en-US" sz="1800" b="1" i="1" u="none" strike="noStrike" cap="none" dirty="0">
                <a:solidFill>
                  <a:schemeClr val="dk1"/>
                </a:solidFill>
                <a:latin typeface="Arial"/>
                <a:ea typeface="Arial"/>
                <a:cs typeface="Arial"/>
                <a:sym typeface="Arial"/>
              </a:rPr>
              <a:t>HLT : Terminate program execution</a:t>
            </a:r>
          </a:p>
        </p:txBody>
      </p:sp>
      <p:pic>
        <p:nvPicPr>
          <p:cNvPr id="114" name="Shape 114"/>
          <p:cNvPicPr preferRelativeResize="0"/>
          <p:nvPr/>
        </p:nvPicPr>
        <p:blipFill>
          <a:blip r:embed="rId3">
            <a:alphaModFix/>
          </a:blip>
          <a:stretch>
            <a:fillRect/>
          </a:stretch>
        </p:blipFill>
        <p:spPr>
          <a:xfrm>
            <a:off x="6019800" y="0"/>
            <a:ext cx="2884487" cy="6629400"/>
          </a:xfrm>
          <a:prstGeom prst="rect">
            <a:avLst/>
          </a:prstGeom>
          <a:noFill/>
          <a:ln>
            <a:noFill/>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6"/>
            <a:ext cx="8229600" cy="6154760"/>
          </a:xfrm>
        </p:spPr>
        <p:txBody>
          <a:bodyPr>
            <a:noAutofit/>
          </a:bodyPr>
          <a:lstStyle/>
          <a:p>
            <a:r>
              <a:rPr lang="en-US" sz="6600" dirty="0" smtClean="0"/>
              <a:t>Write a program to count number of 1’s in given data (2000) and store the result in memory location 3000h.</a:t>
            </a:r>
            <a:endParaRPr lang="en-US" sz="66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41"/>
          <p:cNvSpPr txBox="1">
            <a:spLocks noGrp="1"/>
          </p:cNvSpPr>
          <p:nvPr>
            <p:ph type="body" idx="1"/>
          </p:nvPr>
        </p:nvSpPr>
        <p:spPr>
          <a:xfrm>
            <a:off x="457200" y="428604"/>
            <a:ext cx="8543956" cy="5697559"/>
          </a:xfrm>
          <a:prstGeom prst="rect">
            <a:avLst/>
          </a:prstGeom>
          <a:noFill/>
          <a:ln>
            <a:noFill/>
          </a:ln>
        </p:spPr>
        <p:txBody>
          <a:bodyPr lIns="91425" tIns="45700" rIns="91425" bIns="45700" anchor="t" anchorCtr="0">
            <a:noAutofit/>
          </a:bodyPr>
          <a:lstStyle/>
          <a:p>
            <a:pPr marL="342900" marR="0" lvl="0" indent="-342900" algn="l" rtl="0">
              <a:lnSpc>
                <a:spcPct val="80000"/>
              </a:lnSpc>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LDA </a:t>
            </a:r>
            <a:r>
              <a:rPr lang="en-US" sz="2400" b="0" i="0" u="none" strike="noStrike" cap="none" dirty="0" smtClean="0">
                <a:solidFill>
                  <a:schemeClr val="dk1"/>
                </a:solidFill>
                <a:latin typeface="Arial"/>
                <a:ea typeface="Arial"/>
                <a:cs typeface="Arial"/>
                <a:sym typeface="Arial"/>
              </a:rPr>
              <a:t>2000H :Load No. In Acc.</a:t>
            </a:r>
            <a:endParaRPr lang="en-US" sz="2400" b="0" i="0" u="none" strike="noStrike" cap="none" dirty="0">
              <a:solidFill>
                <a:schemeClr val="dk1"/>
              </a:solidFill>
              <a:latin typeface="Arial"/>
              <a:ea typeface="Arial"/>
              <a:cs typeface="Arial"/>
              <a:sym typeface="Arial"/>
            </a:endParaRPr>
          </a:p>
          <a:p>
            <a:pPr marL="342900" marR="0" lvl="0" indent="-342900" algn="l" rtl="0">
              <a:lnSpc>
                <a:spcPct val="80000"/>
              </a:lnSpc>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a:t>
            </a:r>
          </a:p>
          <a:p>
            <a:pPr marL="342900" marR="0" lvl="0" indent="-342900" algn="l" rtl="0">
              <a:lnSpc>
                <a:spcPct val="80000"/>
              </a:lnSpc>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MVI </a:t>
            </a:r>
            <a:r>
              <a:rPr lang="en-US" sz="2400" b="0" i="0" u="none" strike="noStrike" cap="none" dirty="0" smtClean="0">
                <a:solidFill>
                  <a:schemeClr val="dk1"/>
                </a:solidFill>
                <a:latin typeface="Arial"/>
                <a:ea typeface="Arial"/>
                <a:cs typeface="Arial"/>
                <a:sym typeface="Arial"/>
              </a:rPr>
              <a:t>B,00 :B as counter with initial value 00H</a:t>
            </a:r>
            <a:endParaRPr lang="en-US" sz="2400" b="0" i="0" u="none" strike="noStrike" cap="none" dirty="0">
              <a:solidFill>
                <a:schemeClr val="dk1"/>
              </a:solidFill>
              <a:latin typeface="Arial"/>
              <a:ea typeface="Arial"/>
              <a:cs typeface="Arial"/>
              <a:sym typeface="Arial"/>
            </a:endParaRPr>
          </a:p>
          <a:p>
            <a:pPr marL="342900" marR="0" lvl="0" indent="-342900" algn="l" rtl="0">
              <a:lnSpc>
                <a:spcPct val="80000"/>
              </a:lnSpc>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MVI </a:t>
            </a:r>
            <a:r>
              <a:rPr lang="en-US" sz="2400" b="0" i="0" u="none" strike="noStrike" cap="none" dirty="0" smtClean="0">
                <a:solidFill>
                  <a:schemeClr val="dk1"/>
                </a:solidFill>
                <a:latin typeface="Arial"/>
                <a:ea typeface="Arial"/>
                <a:cs typeface="Arial"/>
                <a:sym typeface="Arial"/>
              </a:rPr>
              <a:t>C,08 :</a:t>
            </a:r>
            <a:r>
              <a:rPr lang="en-US" sz="2400" b="0" i="0" u="none" strike="noStrike" cap="none" smtClean="0">
                <a:solidFill>
                  <a:schemeClr val="dk1"/>
                </a:solidFill>
                <a:latin typeface="Arial"/>
                <a:ea typeface="Arial"/>
                <a:cs typeface="Arial"/>
                <a:sym typeface="Arial"/>
              </a:rPr>
              <a:t>C as </a:t>
            </a:r>
            <a:r>
              <a:rPr lang="en-US" sz="2400" b="0" i="0" u="none" strike="noStrike" cap="none" dirty="0" smtClean="0">
                <a:solidFill>
                  <a:schemeClr val="dk1"/>
                </a:solidFill>
                <a:latin typeface="Arial"/>
                <a:ea typeface="Arial"/>
                <a:cs typeface="Arial"/>
                <a:sym typeface="Arial"/>
              </a:rPr>
              <a:t>counter for looping</a:t>
            </a:r>
            <a:endParaRPr lang="en-US" sz="2400" b="0" i="0" u="none" strike="noStrike" cap="none" dirty="0">
              <a:solidFill>
                <a:schemeClr val="dk1"/>
              </a:solidFill>
              <a:latin typeface="Arial"/>
              <a:ea typeface="Arial"/>
              <a:cs typeface="Arial"/>
              <a:sym typeface="Arial"/>
            </a:endParaRPr>
          </a:p>
          <a:p>
            <a:pPr marL="342900" marR="0" lvl="0" indent="-342900" algn="l" rtl="0">
              <a:lnSpc>
                <a:spcPct val="80000"/>
              </a:lnSpc>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BACK:	</a:t>
            </a:r>
            <a:r>
              <a:rPr lang="en-US" sz="2400" b="0" i="0" u="none" strike="noStrike" cap="none" dirty="0" smtClean="0">
                <a:solidFill>
                  <a:schemeClr val="dk1"/>
                </a:solidFill>
                <a:latin typeface="Arial"/>
                <a:ea typeface="Arial"/>
                <a:cs typeface="Arial"/>
                <a:sym typeface="Arial"/>
              </a:rPr>
              <a:t>RAR : Rotate the content of Acc.right with carry</a:t>
            </a:r>
            <a:endParaRPr lang="en-US" sz="2400" b="0" i="0" u="none" strike="noStrike" cap="none" dirty="0">
              <a:solidFill>
                <a:schemeClr val="dk1"/>
              </a:solidFill>
              <a:latin typeface="Arial"/>
              <a:ea typeface="Arial"/>
              <a:cs typeface="Arial"/>
              <a:sym typeface="Arial"/>
            </a:endParaRPr>
          </a:p>
          <a:p>
            <a:pPr marL="342900" marR="0" lvl="0" indent="-342900" algn="l" rtl="0">
              <a:lnSpc>
                <a:spcPct val="80000"/>
              </a:lnSpc>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JNC </a:t>
            </a:r>
            <a:r>
              <a:rPr lang="en-US" sz="2400" dirty="0" smtClean="0"/>
              <a:t>NEXT: if bit is not 1 go to next</a:t>
            </a:r>
            <a:endParaRPr lang="en-US" sz="2400" b="0" i="0" u="none" strike="noStrike" cap="none" dirty="0">
              <a:solidFill>
                <a:schemeClr val="dk1"/>
              </a:solidFill>
              <a:latin typeface="Arial"/>
              <a:ea typeface="Arial"/>
              <a:cs typeface="Arial"/>
              <a:sym typeface="Arial"/>
            </a:endParaRPr>
          </a:p>
          <a:p>
            <a:pPr marL="342900" marR="0" lvl="0" indent="-342900" algn="l" rtl="0">
              <a:lnSpc>
                <a:spcPct val="80000"/>
              </a:lnSpc>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INR </a:t>
            </a:r>
            <a:r>
              <a:rPr lang="en-US" sz="2400" b="0" i="0" u="none" strike="noStrike" cap="none" dirty="0" smtClean="0">
                <a:solidFill>
                  <a:schemeClr val="dk1"/>
                </a:solidFill>
                <a:latin typeface="Arial"/>
                <a:ea typeface="Arial"/>
                <a:cs typeface="Arial"/>
                <a:sym typeface="Arial"/>
              </a:rPr>
              <a:t>B: if bit is 1 increment counter B</a:t>
            </a:r>
            <a:endParaRPr lang="en-US" sz="2400" b="0" i="0" u="none" strike="noStrike" cap="none" dirty="0">
              <a:solidFill>
                <a:schemeClr val="dk1"/>
              </a:solidFill>
              <a:latin typeface="Arial"/>
              <a:ea typeface="Arial"/>
              <a:cs typeface="Arial"/>
              <a:sym typeface="Arial"/>
            </a:endParaRPr>
          </a:p>
          <a:p>
            <a:pPr marL="342900" marR="0" lvl="0" indent="-342900" algn="l" rtl="0">
              <a:lnSpc>
                <a:spcPct val="80000"/>
              </a:lnSpc>
              <a:spcBef>
                <a:spcPts val="480"/>
              </a:spcBef>
              <a:spcAft>
                <a:spcPts val="0"/>
              </a:spcAft>
              <a:buClr>
                <a:schemeClr val="dk1"/>
              </a:buClr>
              <a:buSzPct val="25000"/>
              <a:buFont typeface="Arial"/>
              <a:buNone/>
            </a:pPr>
            <a:r>
              <a:rPr lang="en-US" sz="2400" dirty="0" smtClean="0"/>
              <a:t>NEXT</a:t>
            </a:r>
            <a:r>
              <a:rPr lang="en-US" sz="2400" b="0" i="0" u="none" strike="noStrike" cap="none" dirty="0" smtClean="0">
                <a:solidFill>
                  <a:schemeClr val="dk1"/>
                </a:solidFill>
                <a:latin typeface="Arial"/>
                <a:ea typeface="Arial"/>
                <a:cs typeface="Arial"/>
                <a:sym typeface="Arial"/>
              </a:rPr>
              <a:t>:</a:t>
            </a:r>
            <a:r>
              <a:rPr lang="en-US" sz="2400" b="0" i="0" u="none" strike="noStrike" cap="none" dirty="0">
                <a:solidFill>
                  <a:schemeClr val="dk1"/>
                </a:solidFill>
                <a:latin typeface="Arial"/>
                <a:ea typeface="Arial"/>
                <a:cs typeface="Arial"/>
                <a:sym typeface="Arial"/>
              </a:rPr>
              <a:t>		DCR </a:t>
            </a:r>
            <a:r>
              <a:rPr lang="en-US" sz="2400" b="0" i="0" u="none" strike="noStrike" cap="none" dirty="0" smtClean="0">
                <a:solidFill>
                  <a:schemeClr val="dk1"/>
                </a:solidFill>
                <a:latin typeface="Arial"/>
                <a:ea typeface="Arial"/>
                <a:cs typeface="Arial"/>
                <a:sym typeface="Arial"/>
              </a:rPr>
              <a:t>C : Decrement counter C</a:t>
            </a:r>
            <a:endParaRPr lang="en-US" sz="2400" b="0" i="0" u="none" strike="noStrike" cap="none" dirty="0">
              <a:solidFill>
                <a:schemeClr val="dk1"/>
              </a:solidFill>
              <a:latin typeface="Arial"/>
              <a:ea typeface="Arial"/>
              <a:cs typeface="Arial"/>
              <a:sym typeface="Arial"/>
            </a:endParaRPr>
          </a:p>
          <a:p>
            <a:pPr marL="342900" marR="0" lvl="0" indent="-342900" algn="l" rtl="0">
              <a:lnSpc>
                <a:spcPct val="80000"/>
              </a:lnSpc>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JNZ </a:t>
            </a:r>
            <a:r>
              <a:rPr lang="en-US" sz="2400" b="0" i="0" u="none" strike="noStrike" cap="none" dirty="0" smtClean="0">
                <a:solidFill>
                  <a:schemeClr val="dk1"/>
                </a:solidFill>
                <a:latin typeface="Arial"/>
                <a:ea typeface="Arial"/>
                <a:cs typeface="Arial"/>
                <a:sym typeface="Arial"/>
              </a:rPr>
              <a:t>BACK: if C is not zero jump to BACK</a:t>
            </a:r>
            <a:endParaRPr lang="en-US" sz="2400" b="0" i="0" u="none" strike="noStrike" cap="none" dirty="0">
              <a:solidFill>
                <a:schemeClr val="dk1"/>
              </a:solidFill>
              <a:latin typeface="Arial"/>
              <a:ea typeface="Arial"/>
              <a:cs typeface="Arial"/>
              <a:sym typeface="Arial"/>
            </a:endParaRPr>
          </a:p>
          <a:p>
            <a:pPr marL="342900" marR="0" lvl="0" indent="-342900" algn="l" rtl="0">
              <a:lnSpc>
                <a:spcPct val="80000"/>
              </a:lnSpc>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MOV </a:t>
            </a:r>
            <a:r>
              <a:rPr lang="en-US" sz="2400" b="0" i="0" u="none" strike="noStrike" cap="none" dirty="0" smtClean="0">
                <a:solidFill>
                  <a:schemeClr val="dk1"/>
                </a:solidFill>
                <a:latin typeface="Arial"/>
                <a:ea typeface="Arial"/>
                <a:cs typeface="Arial"/>
                <a:sym typeface="Arial"/>
              </a:rPr>
              <a:t>A,B: move the result </a:t>
            </a:r>
            <a:r>
              <a:rPr lang="en-US" sz="2400" dirty="0" smtClean="0"/>
              <a:t>from B to A</a:t>
            </a:r>
            <a:endParaRPr lang="en-US" sz="2400" b="0" i="0" u="none" strike="noStrike" cap="none" dirty="0">
              <a:solidFill>
                <a:schemeClr val="dk1"/>
              </a:solidFill>
              <a:latin typeface="Arial"/>
              <a:ea typeface="Arial"/>
              <a:cs typeface="Arial"/>
              <a:sym typeface="Arial"/>
            </a:endParaRPr>
          </a:p>
          <a:p>
            <a:pPr marL="342900" marR="0" lvl="0" indent="-342900" algn="l" rtl="0">
              <a:lnSpc>
                <a:spcPct val="80000"/>
              </a:lnSpc>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STA </a:t>
            </a:r>
            <a:r>
              <a:rPr lang="en-US" sz="2400" b="0" i="0" u="none" strike="noStrike" cap="none" dirty="0" smtClean="0">
                <a:solidFill>
                  <a:schemeClr val="dk1"/>
                </a:solidFill>
                <a:latin typeface="Arial"/>
                <a:ea typeface="Arial"/>
                <a:cs typeface="Arial"/>
                <a:sym typeface="Arial"/>
              </a:rPr>
              <a:t>3000: Store the result in 3000H</a:t>
            </a:r>
            <a:endParaRPr lang="en-US" sz="2400" b="0" i="0" u="none" strike="noStrike" cap="none" dirty="0">
              <a:solidFill>
                <a:schemeClr val="dk1"/>
              </a:solidFill>
              <a:latin typeface="Arial"/>
              <a:ea typeface="Arial"/>
              <a:cs typeface="Arial"/>
              <a:sym typeface="Arial"/>
            </a:endParaRPr>
          </a:p>
          <a:p>
            <a:pPr marL="342900" marR="0" lvl="0" indent="-342900" algn="l" rtl="0">
              <a:lnSpc>
                <a:spcPct val="80000"/>
              </a:lnSpc>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HLT </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6"/>
            <a:ext cx="8786874" cy="6226198"/>
          </a:xfrm>
        </p:spPr>
        <p:txBody>
          <a:bodyPr>
            <a:normAutofit/>
          </a:bodyPr>
          <a:lstStyle/>
          <a:p>
            <a:r>
              <a:rPr lang="en-US" sz="5400" dirty="0" smtClean="0"/>
              <a:t>16 bytes of data are stored in memory location at xx50H to xx5FH.Transfer the </a:t>
            </a:r>
            <a:r>
              <a:rPr lang="en-US" sz="5400" smtClean="0"/>
              <a:t>entire block </a:t>
            </a:r>
            <a:r>
              <a:rPr lang="en-US" sz="5400" dirty="0" smtClean="0"/>
              <a:t>of data to new memory location starting at xx70H.</a:t>
            </a:r>
            <a:endParaRPr lang="en-US" sz="54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85728"/>
            <a:ext cx="8329642" cy="6572272"/>
          </a:xfrm>
        </p:spPr>
        <p:txBody>
          <a:bodyPr>
            <a:normAutofit/>
          </a:bodyPr>
          <a:lstStyle/>
          <a:p>
            <a:pPr marL="635000" indent="-514350">
              <a:buAutoNum type="arabicPeriod"/>
            </a:pPr>
            <a:r>
              <a:rPr lang="en-US" sz="2400" dirty="0" smtClean="0"/>
              <a:t>LXI H,XX50H: Initialize source memory pointer</a:t>
            </a:r>
          </a:p>
          <a:p>
            <a:pPr marL="635000" indent="-514350">
              <a:buAutoNum type="arabicPeriod"/>
            </a:pPr>
            <a:r>
              <a:rPr lang="en-US" sz="2400" dirty="0" smtClean="0"/>
              <a:t>LXI D,XX70H: Initialize Destination memory pointer</a:t>
            </a:r>
          </a:p>
          <a:p>
            <a:pPr marL="635000" indent="-514350">
              <a:buAutoNum type="arabicPeriod"/>
            </a:pPr>
            <a:r>
              <a:rPr lang="en-US" sz="2400" dirty="0" smtClean="0"/>
              <a:t>MVI B.10H: Counter to count 16 byte of data</a:t>
            </a:r>
          </a:p>
          <a:p>
            <a:pPr marL="635000" indent="-514350">
              <a:buNone/>
            </a:pPr>
            <a:endParaRPr lang="en-US" sz="2400" dirty="0" smtClean="0"/>
          </a:p>
          <a:p>
            <a:pPr marL="635000" indent="-514350">
              <a:buNone/>
            </a:pPr>
            <a:r>
              <a:rPr lang="en-US" sz="2400" dirty="0" smtClean="0"/>
              <a:t>4. MOV A,M: Get data from Source address</a:t>
            </a:r>
          </a:p>
          <a:p>
            <a:pPr marL="635000" indent="-514350">
              <a:buNone/>
            </a:pPr>
            <a:r>
              <a:rPr lang="en-US" sz="2400" dirty="0" smtClean="0"/>
              <a:t>5. STAX D: store the data in destination Address</a:t>
            </a:r>
          </a:p>
          <a:p>
            <a:pPr marL="635000" indent="-514350">
              <a:buNone/>
            </a:pPr>
            <a:endParaRPr lang="en-US" sz="2400" dirty="0" smtClean="0"/>
          </a:p>
          <a:p>
            <a:pPr marL="635000" indent="-514350">
              <a:buNone/>
            </a:pPr>
            <a:r>
              <a:rPr lang="en-US" sz="2400" dirty="0" smtClean="0"/>
              <a:t>6. INX H</a:t>
            </a:r>
          </a:p>
          <a:p>
            <a:pPr marL="635000" indent="-514350">
              <a:buNone/>
            </a:pPr>
            <a:r>
              <a:rPr lang="en-US" sz="2400" dirty="0" smtClean="0"/>
              <a:t>7. INX D</a:t>
            </a:r>
          </a:p>
          <a:p>
            <a:pPr marL="635000" indent="-514350">
              <a:buNone/>
            </a:pPr>
            <a:r>
              <a:rPr lang="en-US" sz="2400" dirty="0" smtClean="0"/>
              <a:t>8. DCR B</a:t>
            </a:r>
          </a:p>
          <a:p>
            <a:pPr marL="635000" indent="-514350">
              <a:buNone/>
            </a:pPr>
            <a:endParaRPr lang="en-US" sz="2400" dirty="0" smtClean="0"/>
          </a:p>
          <a:p>
            <a:pPr marL="635000" indent="-514350">
              <a:buNone/>
            </a:pPr>
            <a:r>
              <a:rPr lang="en-US" sz="2400" dirty="0" smtClean="0"/>
              <a:t>9. JNZ 4.</a:t>
            </a:r>
          </a:p>
          <a:p>
            <a:pPr marL="635000" indent="-514350">
              <a:buNone/>
            </a:pPr>
            <a:r>
              <a:rPr lang="en-US" sz="2400" dirty="0" smtClean="0"/>
              <a:t>10.HLT</a:t>
            </a:r>
            <a:endParaRPr lang="en-US" sz="24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500042"/>
            <a:ext cx="8229600" cy="5572164"/>
          </a:xfrm>
        </p:spPr>
        <p:txBody>
          <a:bodyPr>
            <a:noAutofit/>
          </a:bodyPr>
          <a:lstStyle/>
          <a:p>
            <a:pPr algn="ctr">
              <a:buNone/>
            </a:pPr>
            <a:r>
              <a:rPr lang="en-US" sz="7200" dirty="0" smtClean="0">
                <a:solidFill>
                  <a:srgbClr val="0070C0"/>
                </a:solidFill>
              </a:rPr>
              <a:t>Write an ALP for finding the largest number in a given series.</a:t>
            </a:r>
            <a:endParaRPr lang="en-US" sz="7200" dirty="0">
              <a:solidFill>
                <a:srgbClr val="0070C0"/>
              </a:solidFill>
            </a:endParaRPr>
          </a:p>
        </p:txBody>
      </p:sp>
      <p:sp>
        <p:nvSpPr>
          <p:cNvPr id="4" name="Slide Number Placeholder 3"/>
          <p:cNvSpPr>
            <a:spLocks noGrp="1"/>
          </p:cNvSpPr>
          <p:nvPr>
            <p:ph type="sldNum" sz="quarter" idx="12"/>
          </p:nvPr>
        </p:nvSpPr>
        <p:spPr/>
        <p:txBody>
          <a:bodyPr/>
          <a:lstStyle/>
          <a:p>
            <a:fld id="{85E6815B-E59C-4D87-B1F6-ECBDD22AF1DC}" type="slidenum">
              <a:rPr lang="en-US" smtClean="0"/>
              <a:pPr/>
              <a:t>41</a:t>
            </a:fld>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285728"/>
            <a:ext cx="8229600" cy="6357982"/>
          </a:xfrm>
        </p:spPr>
        <p:txBody>
          <a:bodyPr>
            <a:normAutofit fontScale="85000" lnSpcReduction="10000"/>
          </a:bodyPr>
          <a:lstStyle/>
          <a:p>
            <a:pPr>
              <a:buNone/>
            </a:pPr>
            <a:r>
              <a:rPr lang="en-US" b="1" dirty="0" smtClean="0"/>
              <a:t>LDA 9000H //</a:t>
            </a:r>
            <a:r>
              <a:rPr lang="en-US" dirty="0" smtClean="0"/>
              <a:t>Load the length of series</a:t>
            </a:r>
          </a:p>
          <a:p>
            <a:pPr>
              <a:buNone/>
            </a:pPr>
            <a:r>
              <a:rPr lang="en-US" b="1" dirty="0" smtClean="0"/>
              <a:t>MOV C,A//</a:t>
            </a:r>
            <a:r>
              <a:rPr lang="en-US" dirty="0" smtClean="0"/>
              <a:t>initialize c as counter</a:t>
            </a:r>
          </a:p>
          <a:p>
            <a:pPr>
              <a:buNone/>
            </a:pPr>
            <a:r>
              <a:rPr lang="en-US" b="1" dirty="0" smtClean="0"/>
              <a:t>MVI A,00H//</a:t>
            </a:r>
            <a:r>
              <a:rPr lang="en-US" dirty="0" smtClean="0"/>
              <a:t>initialize Max=0</a:t>
            </a:r>
          </a:p>
          <a:p>
            <a:pPr>
              <a:buNone/>
            </a:pPr>
            <a:r>
              <a:rPr lang="en-US" b="1" dirty="0" smtClean="0"/>
              <a:t>LXI H,9001H//</a:t>
            </a:r>
            <a:r>
              <a:rPr lang="en-US" dirty="0" smtClean="0"/>
              <a:t>initialize the memory pointer</a:t>
            </a:r>
          </a:p>
          <a:p>
            <a:pPr>
              <a:buNone/>
            </a:pPr>
            <a:endParaRPr lang="en-US" b="1" dirty="0" smtClean="0"/>
          </a:p>
          <a:p>
            <a:pPr>
              <a:buNone/>
            </a:pPr>
            <a:r>
              <a:rPr lang="en-US" b="1" dirty="0" smtClean="0"/>
              <a:t>Loop: CMP M//</a:t>
            </a:r>
            <a:r>
              <a:rPr lang="en-US" sz="2400" dirty="0" smtClean="0"/>
              <a:t>check if data from the series &gt;max</a:t>
            </a:r>
          </a:p>
          <a:p>
            <a:pPr>
              <a:buNone/>
            </a:pPr>
            <a:r>
              <a:rPr lang="en-US" b="1" dirty="0" smtClean="0"/>
              <a:t>JNC Next//</a:t>
            </a:r>
            <a:r>
              <a:rPr lang="en-US" dirty="0" smtClean="0"/>
              <a:t>if not jump next</a:t>
            </a:r>
          </a:p>
          <a:p>
            <a:pPr>
              <a:buNone/>
            </a:pPr>
            <a:r>
              <a:rPr lang="en-US" b="1" dirty="0" smtClean="0"/>
              <a:t>MOV A,M//</a:t>
            </a:r>
            <a:r>
              <a:rPr lang="en-US" sz="2100" dirty="0" smtClean="0"/>
              <a:t>If it is, replace Max with the data from the series</a:t>
            </a:r>
          </a:p>
          <a:p>
            <a:pPr>
              <a:buNone/>
            </a:pPr>
            <a:r>
              <a:rPr lang="en-US" b="1" dirty="0" smtClean="0"/>
              <a:t>	</a:t>
            </a:r>
          </a:p>
          <a:p>
            <a:pPr>
              <a:buNone/>
            </a:pPr>
            <a:r>
              <a:rPr lang="en-US" b="1" dirty="0" smtClean="0"/>
              <a:t>	Next: 	INX H</a:t>
            </a:r>
          </a:p>
          <a:p>
            <a:pPr>
              <a:buNone/>
            </a:pPr>
            <a:r>
              <a:rPr lang="en-US" b="1" dirty="0" smtClean="0"/>
              <a:t>			DCR C</a:t>
            </a:r>
          </a:p>
          <a:p>
            <a:pPr>
              <a:buNone/>
            </a:pPr>
            <a:r>
              <a:rPr lang="en-US" b="1" dirty="0" smtClean="0"/>
              <a:t>			JNZ Loop</a:t>
            </a:r>
          </a:p>
          <a:p>
            <a:pPr>
              <a:buNone/>
            </a:pPr>
            <a:r>
              <a:rPr lang="en-US" b="1" dirty="0" smtClean="0"/>
              <a:t>			STA 9100H</a:t>
            </a:r>
          </a:p>
          <a:p>
            <a:pPr>
              <a:buNone/>
            </a:pPr>
            <a:r>
              <a:rPr lang="en-US" b="1" dirty="0" smtClean="0"/>
              <a:t>HLT</a:t>
            </a:r>
          </a:p>
          <a:p>
            <a:pPr>
              <a:buNone/>
            </a:pPr>
            <a:endParaRPr lang="en-US" dirty="0" smtClean="0"/>
          </a:p>
          <a:p>
            <a:pPr>
              <a:buNone/>
            </a:pPr>
            <a:endParaRPr lang="en-US" dirty="0"/>
          </a:p>
        </p:txBody>
      </p:sp>
      <p:sp>
        <p:nvSpPr>
          <p:cNvPr id="4" name="Slide Number Placeholder 3"/>
          <p:cNvSpPr>
            <a:spLocks noGrp="1"/>
          </p:cNvSpPr>
          <p:nvPr>
            <p:ph type="sldNum" sz="quarter" idx="12"/>
          </p:nvPr>
        </p:nvSpPr>
        <p:spPr/>
        <p:txBody>
          <a:bodyPr/>
          <a:lstStyle/>
          <a:p>
            <a:fld id="{85E6815B-E59C-4D87-B1F6-ECBDD22AF1DC}" type="slidenum">
              <a:rPr lang="en-US" smtClean="0"/>
              <a:pPr/>
              <a:t>42</a:t>
            </a:fld>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buNone/>
            </a:pPr>
            <a:r>
              <a:rPr lang="en-US" dirty="0" smtClean="0"/>
              <a:t>	</a:t>
            </a:r>
            <a:r>
              <a:rPr lang="en-US" sz="6000" dirty="0" smtClean="0">
                <a:solidFill>
                  <a:srgbClr val="00B050"/>
                </a:solidFill>
              </a:rPr>
              <a:t>Sort a given list of 10 numbers starting at memory location 9000H in ascending order.</a:t>
            </a:r>
            <a:endParaRPr lang="en-US" sz="6000" dirty="0">
              <a:solidFill>
                <a:srgbClr val="00B050"/>
              </a:solidFill>
            </a:endParaRPr>
          </a:p>
        </p:txBody>
      </p:sp>
      <p:sp>
        <p:nvSpPr>
          <p:cNvPr id="4" name="Slide Number Placeholder 3"/>
          <p:cNvSpPr>
            <a:spLocks noGrp="1"/>
          </p:cNvSpPr>
          <p:nvPr>
            <p:ph type="sldNum" sz="quarter" idx="12"/>
          </p:nvPr>
        </p:nvSpPr>
        <p:spPr/>
        <p:txBody>
          <a:bodyPr/>
          <a:lstStyle/>
          <a:p>
            <a:fld id="{85E6815B-E59C-4D87-B1F6-ECBDD22AF1DC}" type="slidenum">
              <a:rPr lang="en-US" smtClean="0"/>
              <a:pPr/>
              <a:t>43</a:t>
            </a:fld>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6429420"/>
          </a:xfrm>
        </p:spPr>
        <p:txBody>
          <a:bodyPr>
            <a:normAutofit fontScale="62500" lnSpcReduction="20000"/>
          </a:bodyPr>
          <a:lstStyle/>
          <a:p>
            <a:pPr>
              <a:buNone/>
            </a:pPr>
            <a:r>
              <a:rPr lang="en-US" b="1" dirty="0" smtClean="0"/>
              <a:t>MVI B,09H//</a:t>
            </a:r>
            <a:r>
              <a:rPr lang="en-US" dirty="0" smtClean="0"/>
              <a:t>Initialize outer counter1</a:t>
            </a:r>
          </a:p>
          <a:p>
            <a:pPr>
              <a:buNone/>
            </a:pPr>
            <a:endParaRPr lang="en-US" b="1" dirty="0" smtClean="0"/>
          </a:p>
          <a:p>
            <a:pPr>
              <a:buNone/>
            </a:pPr>
            <a:r>
              <a:rPr lang="en-US" b="1" dirty="0" smtClean="0"/>
              <a:t>Loop2: LXI H,9000H//</a:t>
            </a:r>
            <a:r>
              <a:rPr lang="en-US" dirty="0" smtClean="0"/>
              <a:t>Initialize The memory pointer</a:t>
            </a:r>
          </a:p>
          <a:p>
            <a:pPr>
              <a:buNone/>
            </a:pPr>
            <a:r>
              <a:rPr lang="en-US" b="1" dirty="0" smtClean="0"/>
              <a:t>		  MVI C,09H// </a:t>
            </a:r>
            <a:r>
              <a:rPr lang="en-US" dirty="0" smtClean="0"/>
              <a:t>Initialize inner counter2</a:t>
            </a:r>
          </a:p>
          <a:p>
            <a:pPr>
              <a:buNone/>
            </a:pPr>
            <a:endParaRPr lang="en-US" b="1" dirty="0" smtClean="0"/>
          </a:p>
          <a:p>
            <a:pPr>
              <a:buNone/>
            </a:pPr>
            <a:r>
              <a:rPr lang="en-US" b="1" dirty="0" smtClean="0"/>
              <a:t>Loop1: MOV A,M//</a:t>
            </a:r>
            <a:r>
              <a:rPr lang="en-US" dirty="0" smtClean="0"/>
              <a:t>Load data from series in the Accumulator</a:t>
            </a:r>
          </a:p>
          <a:p>
            <a:pPr>
              <a:buNone/>
            </a:pPr>
            <a:r>
              <a:rPr lang="en-US" b="1" dirty="0" smtClean="0"/>
              <a:t>            INX H</a:t>
            </a:r>
          </a:p>
          <a:p>
            <a:pPr>
              <a:buNone/>
            </a:pPr>
            <a:r>
              <a:rPr lang="en-US" b="1" dirty="0" smtClean="0"/>
              <a:t>            CMP M//</a:t>
            </a:r>
            <a:r>
              <a:rPr lang="en-US" dirty="0" smtClean="0"/>
              <a:t>Compare the No. with the next no. in series</a:t>
            </a:r>
          </a:p>
          <a:p>
            <a:pPr>
              <a:buNone/>
            </a:pPr>
            <a:r>
              <a:rPr lang="en-US" b="1" dirty="0" smtClean="0"/>
              <a:t>		 JC Next//</a:t>
            </a:r>
            <a:r>
              <a:rPr lang="en-US" sz="2900" dirty="0" smtClean="0"/>
              <a:t>If it is lesser, do not do not interchange the no.</a:t>
            </a:r>
          </a:p>
          <a:p>
            <a:pPr>
              <a:buNone/>
            </a:pPr>
            <a:r>
              <a:rPr lang="en-US" b="1" dirty="0" smtClean="0"/>
              <a:t>		MOV D,M//</a:t>
            </a:r>
            <a:r>
              <a:rPr lang="en-US" dirty="0" smtClean="0"/>
              <a:t>get the data from memory to register D</a:t>
            </a:r>
          </a:p>
          <a:p>
            <a:pPr>
              <a:buNone/>
            </a:pPr>
            <a:r>
              <a:rPr lang="en-US" b="1" dirty="0" smtClean="0"/>
              <a:t>		MOV M,A//</a:t>
            </a:r>
            <a:r>
              <a:rPr lang="en-US" dirty="0" smtClean="0"/>
              <a:t>Move the contents of register A to memory</a:t>
            </a:r>
          </a:p>
          <a:p>
            <a:pPr>
              <a:buNone/>
            </a:pPr>
            <a:r>
              <a:rPr lang="en-US" b="1" dirty="0" smtClean="0"/>
              <a:t>		DCX H// </a:t>
            </a:r>
            <a:r>
              <a:rPr lang="en-US" dirty="0" smtClean="0"/>
              <a:t>Point the previous data</a:t>
            </a:r>
          </a:p>
          <a:p>
            <a:pPr>
              <a:buNone/>
            </a:pPr>
            <a:r>
              <a:rPr lang="en-US" b="1" dirty="0" smtClean="0"/>
              <a:t>		MOV M,D//</a:t>
            </a:r>
            <a:r>
              <a:rPr lang="en-US" dirty="0" smtClean="0"/>
              <a:t>Move the content of register D to memory</a:t>
            </a:r>
          </a:p>
          <a:p>
            <a:pPr>
              <a:buNone/>
            </a:pPr>
            <a:r>
              <a:rPr lang="en-US" b="1" dirty="0" smtClean="0"/>
              <a:t>		INX H//</a:t>
            </a:r>
            <a:r>
              <a:rPr lang="en-US" sz="2600" dirty="0" smtClean="0"/>
              <a:t>Increment pointer(Interchange of numbers complete)</a:t>
            </a:r>
          </a:p>
          <a:p>
            <a:pPr>
              <a:buNone/>
            </a:pPr>
            <a:endParaRPr lang="en-US" b="1" dirty="0" smtClean="0"/>
          </a:p>
          <a:p>
            <a:pPr>
              <a:buNone/>
            </a:pPr>
            <a:r>
              <a:rPr lang="en-US" b="1" dirty="0" smtClean="0"/>
              <a:t>Next: DCR C//</a:t>
            </a:r>
            <a:r>
              <a:rPr lang="en-US" dirty="0" smtClean="0"/>
              <a:t>Decrement inner counter2</a:t>
            </a:r>
          </a:p>
          <a:p>
            <a:pPr>
              <a:buNone/>
            </a:pPr>
            <a:r>
              <a:rPr lang="en-US" b="1" dirty="0" smtClean="0"/>
              <a:t>		JNZ loop1//</a:t>
            </a:r>
            <a:r>
              <a:rPr lang="en-US" dirty="0" smtClean="0"/>
              <a:t>If it is not zero, repeat the process</a:t>
            </a:r>
          </a:p>
          <a:p>
            <a:pPr>
              <a:buNone/>
            </a:pPr>
            <a:r>
              <a:rPr lang="en-US" b="1" dirty="0" smtClean="0"/>
              <a:t>		DCR B//</a:t>
            </a:r>
            <a:r>
              <a:rPr lang="en-US" dirty="0" smtClean="0"/>
              <a:t>decrement outer counter1</a:t>
            </a:r>
          </a:p>
          <a:p>
            <a:pPr>
              <a:buNone/>
            </a:pPr>
            <a:r>
              <a:rPr lang="en-US" b="1" dirty="0" smtClean="0"/>
              <a:t>		JNZ loop2//</a:t>
            </a:r>
            <a:r>
              <a:rPr lang="en-US" dirty="0" smtClean="0"/>
              <a:t>if it is zero jump to loop2</a:t>
            </a:r>
          </a:p>
          <a:p>
            <a:pPr>
              <a:buNone/>
            </a:pPr>
            <a:r>
              <a:rPr lang="en-US" b="1" dirty="0" smtClean="0"/>
              <a:t>		HLT</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sp>
        <p:nvSpPr>
          <p:cNvPr id="4" name="Slide Number Placeholder 3"/>
          <p:cNvSpPr>
            <a:spLocks noGrp="1"/>
          </p:cNvSpPr>
          <p:nvPr>
            <p:ph type="sldNum" sz="quarter" idx="12"/>
          </p:nvPr>
        </p:nvSpPr>
        <p:spPr/>
        <p:txBody>
          <a:bodyPr/>
          <a:lstStyle/>
          <a:p>
            <a:fld id="{85E6815B-E59C-4D87-B1F6-ECBDD22AF1DC}" type="slidenum">
              <a:rPr lang="en-US" smtClean="0"/>
              <a:pPr/>
              <a:t>44</a:t>
            </a:fld>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Shape 276"/>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277" name="Shape 277"/>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a:solidFill>
                  <a:srgbClr val="FF0000"/>
                </a:solidFill>
                <a:latin typeface="Arial"/>
                <a:ea typeface="Arial"/>
                <a:cs typeface="Arial"/>
                <a:sym typeface="Arial"/>
              </a:rPr>
              <a:t>Delays</a:t>
            </a:r>
          </a:p>
        </p:txBody>
      </p:sp>
      <p:sp>
        <p:nvSpPr>
          <p:cNvPr id="278" name="Shape 278"/>
          <p:cNvSpPr txBox="1">
            <a:spLocks noGrp="1"/>
          </p:cNvSpPr>
          <p:nvPr>
            <p:ph type="body" idx="1"/>
          </p:nvPr>
        </p:nvSpPr>
        <p:spPr>
          <a:xfrm>
            <a:off x="457200" y="1600200"/>
            <a:ext cx="8229600" cy="4525961"/>
          </a:xfrm>
          <a:prstGeom prst="rect">
            <a:avLst/>
          </a:prstGeom>
          <a:noFill/>
          <a:ln>
            <a:noFill/>
          </a:ln>
        </p:spPr>
        <p:txBody>
          <a:bodyPr lIns="91425" tIns="45700" rIns="91425" bIns="45700" anchor="t" anchorCtr="0">
            <a:noAutofit/>
          </a:bodyPr>
          <a:lstStyle/>
          <a:p>
            <a:pPr marL="0" marR="0" lvl="0" indent="0" algn="l" rtl="0">
              <a:spcBef>
                <a:spcPts val="480"/>
              </a:spcBef>
              <a:spcAft>
                <a:spcPts val="0"/>
              </a:spcAft>
              <a:buClr>
                <a:schemeClr val="dk1"/>
              </a:buClr>
              <a:buSzPct val="60416"/>
              <a:buFont typeface="Arial"/>
              <a:buChar char="●"/>
            </a:pPr>
            <a:r>
              <a:rPr lang="en-US" sz="2400" b="0" i="0" u="none" strike="noStrike" cap="none">
                <a:solidFill>
                  <a:schemeClr val="dk1"/>
                </a:solidFill>
                <a:latin typeface="Arial"/>
                <a:ea typeface="Arial"/>
                <a:cs typeface="Arial"/>
                <a:sym typeface="Arial"/>
              </a:rPr>
              <a:t> Each instruction passes through different combinations of Fetch, Memory Read, and Memory Write cycles.</a:t>
            </a:r>
          </a:p>
          <a:p>
            <a:pPr marL="0" marR="0" lvl="0" indent="0" algn="l" rtl="0">
              <a:spcBef>
                <a:spcPts val="480"/>
              </a:spcBef>
              <a:spcAft>
                <a:spcPts val="0"/>
              </a:spcAft>
              <a:buClr>
                <a:schemeClr val="dk1"/>
              </a:buClr>
              <a:buSzPct val="60416"/>
              <a:buFont typeface="Arial"/>
              <a:buChar char="●"/>
            </a:pPr>
            <a:r>
              <a:rPr lang="en-US" sz="2400" b="0" i="0" u="none" strike="noStrike" cap="none">
                <a:solidFill>
                  <a:schemeClr val="dk1"/>
                </a:solidFill>
                <a:latin typeface="Arial"/>
                <a:ea typeface="Arial"/>
                <a:cs typeface="Arial"/>
                <a:sym typeface="Arial"/>
              </a:rPr>
              <a:t>Knowing the combinations of cycles, one can calculate how long such an instruction would require to complete.</a:t>
            </a:r>
          </a:p>
          <a:p>
            <a:pPr marL="0" marR="0" lvl="1" indent="0" algn="l" rtl="0">
              <a:spcBef>
                <a:spcPts val="480"/>
              </a:spcBef>
              <a:spcAft>
                <a:spcPts val="0"/>
              </a:spcAft>
              <a:buClr>
                <a:schemeClr val="dk1"/>
              </a:buClr>
              <a:buSzPct val="60416"/>
              <a:buFont typeface="Arial"/>
              <a:buChar char="●"/>
            </a:pPr>
            <a:r>
              <a:rPr lang="en-US" sz="2400" b="0" i="0" u="none" strike="noStrike" cap="none">
                <a:solidFill>
                  <a:schemeClr val="dk1"/>
                </a:solidFill>
                <a:latin typeface="Arial"/>
                <a:ea typeface="Arial"/>
                <a:cs typeface="Arial"/>
                <a:sym typeface="Arial"/>
              </a:rPr>
              <a:t>B for Number of Bytes</a:t>
            </a:r>
          </a:p>
          <a:p>
            <a:pPr marL="0" marR="0" lvl="1" indent="0" algn="l" rtl="0">
              <a:spcBef>
                <a:spcPts val="480"/>
              </a:spcBef>
              <a:spcAft>
                <a:spcPts val="0"/>
              </a:spcAft>
              <a:buClr>
                <a:schemeClr val="dk1"/>
              </a:buClr>
              <a:buSzPct val="60416"/>
              <a:buFont typeface="Arial"/>
              <a:buChar char="●"/>
            </a:pPr>
            <a:r>
              <a:rPr lang="en-US" sz="2400" b="0" i="0" u="none" strike="noStrike" cap="none">
                <a:solidFill>
                  <a:schemeClr val="dk1"/>
                </a:solidFill>
                <a:latin typeface="Arial"/>
                <a:ea typeface="Arial"/>
                <a:cs typeface="Arial"/>
                <a:sym typeface="Arial"/>
              </a:rPr>
              <a:t>M for Number of Machine Cycles</a:t>
            </a:r>
          </a:p>
          <a:p>
            <a:pPr marL="0" marR="0" lvl="1" indent="0" algn="l" rtl="0">
              <a:spcBef>
                <a:spcPts val="480"/>
              </a:spcBef>
              <a:spcAft>
                <a:spcPts val="0"/>
              </a:spcAft>
              <a:buClr>
                <a:schemeClr val="dk1"/>
              </a:buClr>
              <a:buSzPct val="60416"/>
              <a:buFont typeface="Arial"/>
              <a:buChar char="●"/>
            </a:pPr>
            <a:r>
              <a:rPr lang="en-US" sz="2400" b="0" i="0" u="none" strike="noStrike" cap="none">
                <a:solidFill>
                  <a:schemeClr val="dk1"/>
                </a:solidFill>
                <a:latin typeface="Arial"/>
                <a:ea typeface="Arial"/>
                <a:cs typeface="Arial"/>
                <a:sym typeface="Arial"/>
              </a:rPr>
              <a:t>T for Number of T-State.</a:t>
            </a:r>
          </a:p>
        </p:txBody>
      </p:sp>
      <p:sp>
        <p:nvSpPr>
          <p:cNvPr id="279" name="Shape 279"/>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Shape 284"/>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285" name="Shape 285"/>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a:solidFill>
                  <a:srgbClr val="FF0000"/>
                </a:solidFill>
                <a:latin typeface="Arial"/>
                <a:ea typeface="Arial"/>
                <a:cs typeface="Arial"/>
                <a:sym typeface="Arial"/>
              </a:rPr>
              <a:t>Delays</a:t>
            </a:r>
          </a:p>
        </p:txBody>
      </p:sp>
      <p:sp>
        <p:nvSpPr>
          <p:cNvPr id="286" name="Shape 286"/>
          <p:cNvSpPr txBox="1">
            <a:spLocks noGrp="1"/>
          </p:cNvSpPr>
          <p:nvPr>
            <p:ph type="body" idx="1"/>
          </p:nvPr>
        </p:nvSpPr>
        <p:spPr>
          <a:xfrm>
            <a:off x="457200" y="1600200"/>
            <a:ext cx="8229600" cy="4525961"/>
          </a:xfrm>
          <a:prstGeom prst="rect">
            <a:avLst/>
          </a:prstGeom>
          <a:noFill/>
          <a:ln>
            <a:noFill/>
          </a:ln>
        </p:spPr>
        <p:txBody>
          <a:bodyPr lIns="91425" tIns="45700" rIns="91425" bIns="45700" anchor="t" anchorCtr="0">
            <a:noAutofit/>
          </a:bodyPr>
          <a:lstStyle/>
          <a:p>
            <a:pPr marL="342900" marR="0" lvl="0" indent="-342900" algn="l" rtl="0">
              <a:spcBef>
                <a:spcPts val="480"/>
              </a:spcBef>
              <a:spcAft>
                <a:spcPts val="0"/>
              </a:spcAft>
              <a:buClr>
                <a:schemeClr val="dk1"/>
              </a:buClr>
              <a:buSzPct val="60416"/>
              <a:buFont typeface="Arial"/>
              <a:buChar char="●"/>
            </a:pPr>
            <a:r>
              <a:rPr lang="en-US" sz="2400" b="0" i="0" u="none" strike="noStrike" cap="none" dirty="0">
                <a:solidFill>
                  <a:schemeClr val="dk1"/>
                </a:solidFill>
                <a:latin typeface="Arial"/>
                <a:ea typeface="Arial"/>
                <a:cs typeface="Arial"/>
                <a:sym typeface="Arial"/>
              </a:rPr>
              <a:t>Knowing how many T-States an instruction requires, and keeping in mind that a T-State is one clock cycle long, we can calculate the time using the following formula:</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a:p>
            <a:pPr marL="342900" marR="0" lvl="0" indent="-342900" algn="ctr" rtl="0">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Delay = No. of T-States / Frequency</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a:p>
            <a:pPr marL="342900" marR="0" lvl="0" indent="-342900" algn="l" rtl="0">
              <a:spcBef>
                <a:spcPts val="480"/>
              </a:spcBef>
              <a:spcAft>
                <a:spcPts val="0"/>
              </a:spcAft>
              <a:buClr>
                <a:schemeClr val="dk1"/>
              </a:buClr>
              <a:buSzPct val="60416"/>
              <a:buFont typeface="Arial"/>
              <a:buChar char="●"/>
            </a:pPr>
            <a:r>
              <a:rPr lang="en-US" sz="2400" b="0" i="0" u="none" strike="noStrike" cap="none" dirty="0">
                <a:solidFill>
                  <a:schemeClr val="dk1"/>
                </a:solidFill>
                <a:latin typeface="Arial"/>
                <a:ea typeface="Arial"/>
                <a:cs typeface="Arial"/>
                <a:sym typeface="Arial"/>
              </a:rPr>
              <a:t>For example a “MVI” instruction uses 7 T-States. Therefore, if the Microprocessor is running at 2 MHz, the instruction would require 3.5 </a:t>
            </a:r>
            <a:r>
              <a:rPr lang="en-US" sz="2400" b="0" i="0" u="none" strike="noStrike" cap="none" dirty="0" err="1">
                <a:solidFill>
                  <a:schemeClr val="dk1"/>
                </a:solidFill>
                <a:latin typeface="Arial"/>
                <a:ea typeface="Arial"/>
                <a:cs typeface="Arial"/>
                <a:sym typeface="Arial"/>
              </a:rPr>
              <a:t>μSeconds</a:t>
            </a:r>
            <a:r>
              <a:rPr lang="en-US" sz="2400" b="0" i="0" u="none" strike="noStrike" cap="none" dirty="0">
                <a:solidFill>
                  <a:schemeClr val="dk1"/>
                </a:solidFill>
                <a:latin typeface="Arial"/>
                <a:ea typeface="Arial"/>
                <a:cs typeface="Arial"/>
                <a:sym typeface="Arial"/>
              </a:rPr>
              <a:t> to complete.</a:t>
            </a:r>
          </a:p>
        </p:txBody>
      </p:sp>
      <p:sp>
        <p:nvSpPr>
          <p:cNvPr id="287" name="Shape 287"/>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Shape 292"/>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293" name="Shape 293"/>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dirty="0">
                <a:solidFill>
                  <a:srgbClr val="FF0000"/>
                </a:solidFill>
                <a:latin typeface="Arial"/>
                <a:ea typeface="Arial"/>
                <a:cs typeface="Arial"/>
                <a:sym typeface="Arial"/>
              </a:rPr>
              <a:t>Delay loops</a:t>
            </a:r>
          </a:p>
        </p:txBody>
      </p:sp>
      <p:sp>
        <p:nvSpPr>
          <p:cNvPr id="294" name="Shape 294"/>
          <p:cNvSpPr txBox="1">
            <a:spLocks noGrp="1"/>
          </p:cNvSpPr>
          <p:nvPr>
            <p:ph type="body" idx="1"/>
          </p:nvPr>
        </p:nvSpPr>
        <p:spPr>
          <a:xfrm>
            <a:off x="457200" y="1371601"/>
            <a:ext cx="8229600" cy="5272110"/>
          </a:xfrm>
          <a:prstGeom prst="rect">
            <a:avLst/>
          </a:prstGeom>
          <a:noFill/>
          <a:ln>
            <a:noFill/>
          </a:ln>
        </p:spPr>
        <p:txBody>
          <a:bodyPr lIns="91425" tIns="45700" rIns="91425" bIns="45700" anchor="t" anchorCtr="0">
            <a:noAutofit/>
          </a:bodyPr>
          <a:lstStyle/>
          <a:p>
            <a:pPr marL="0" marR="0" lvl="0" indent="0" algn="l" rtl="0">
              <a:spcBef>
                <a:spcPts val="480"/>
              </a:spcBef>
              <a:spcAft>
                <a:spcPts val="0"/>
              </a:spcAft>
              <a:buClr>
                <a:schemeClr val="dk1"/>
              </a:buClr>
              <a:buSzPct val="60416"/>
              <a:buFont typeface="Arial"/>
              <a:buChar char="●"/>
            </a:pPr>
            <a:r>
              <a:rPr lang="en-US" sz="2400" b="0" i="0" u="none" strike="noStrike" cap="none" dirty="0">
                <a:solidFill>
                  <a:schemeClr val="dk1"/>
                </a:solidFill>
                <a:latin typeface="Arial"/>
                <a:ea typeface="Arial"/>
                <a:cs typeface="Arial"/>
                <a:sym typeface="Arial"/>
              </a:rPr>
              <a:t>We can use a loop to produce a certain amount of time delay in a program.</a:t>
            </a:r>
          </a:p>
          <a:p>
            <a:pPr marL="342900" marR="0" lvl="0" indent="-342900" algn="l" rtl="0">
              <a:spcBef>
                <a:spcPts val="640"/>
              </a:spcBef>
              <a:spcAft>
                <a:spcPts val="0"/>
              </a:spcAft>
              <a:buClr>
                <a:schemeClr val="dk1"/>
              </a:buClr>
              <a:buSzPct val="59375"/>
              <a:buFont typeface="Arial"/>
              <a:buNone/>
            </a:pPr>
            <a:endParaRPr sz="2400" b="0" i="0" u="none" strike="noStrike" cap="none">
              <a:solidFill>
                <a:schemeClr val="dk1"/>
              </a:solidFill>
              <a:latin typeface="Arial"/>
              <a:ea typeface="Arial"/>
              <a:cs typeface="Arial"/>
              <a:sym typeface="Arial"/>
            </a:endParaRPr>
          </a:p>
          <a:p>
            <a:pPr marL="0" marR="0" lvl="0" indent="0" algn="l" rtl="0">
              <a:spcBef>
                <a:spcPts val="480"/>
              </a:spcBef>
              <a:spcAft>
                <a:spcPts val="0"/>
              </a:spcAft>
              <a:buClr>
                <a:schemeClr val="dk1"/>
              </a:buClr>
              <a:buSzPct val="60416"/>
              <a:buFont typeface="Arial"/>
              <a:buChar char="●"/>
            </a:pPr>
            <a:r>
              <a:rPr lang="en-US" sz="2400" b="0" i="0" u="none" strike="noStrike" cap="none" dirty="0">
                <a:solidFill>
                  <a:schemeClr val="dk1"/>
                </a:solidFill>
                <a:latin typeface="Arial"/>
                <a:ea typeface="Arial"/>
                <a:cs typeface="Arial"/>
                <a:sym typeface="Arial"/>
              </a:rPr>
              <a:t>The following is an example of a delay loop:</a:t>
            </a:r>
          </a:p>
          <a:p>
            <a:pPr marL="0" marR="0" lvl="0" indent="0" algn="l" rtl="0">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MVI C, FFH	</a:t>
            </a:r>
            <a:r>
              <a:rPr lang="en-US" sz="2400" b="0" i="0" u="none" strike="noStrike" cap="none" dirty="0" smtClean="0">
                <a:solidFill>
                  <a:schemeClr val="dk1"/>
                </a:solidFill>
                <a:latin typeface="Arial"/>
                <a:ea typeface="Arial"/>
                <a:cs typeface="Arial"/>
                <a:sym typeface="Arial"/>
              </a:rPr>
              <a:t>           7 </a:t>
            </a:r>
            <a:r>
              <a:rPr lang="en-US" sz="2400" b="0" i="0" u="none" strike="noStrike" cap="none" dirty="0">
                <a:solidFill>
                  <a:schemeClr val="dk1"/>
                </a:solidFill>
                <a:latin typeface="Arial"/>
                <a:ea typeface="Arial"/>
                <a:cs typeface="Arial"/>
                <a:sym typeface="Arial"/>
              </a:rPr>
              <a:t>T-States</a:t>
            </a:r>
          </a:p>
          <a:p>
            <a:pPr marL="0" marR="0" lvl="0" indent="0" algn="l" rtl="0">
              <a:spcBef>
                <a:spcPts val="480"/>
              </a:spcBef>
              <a:spcAft>
                <a:spcPts val="0"/>
              </a:spcAft>
              <a:buClr>
                <a:schemeClr val="dk1"/>
              </a:buClr>
              <a:buSzPct val="25000"/>
              <a:buFont typeface="Arial"/>
              <a:buNone/>
            </a:pPr>
            <a:r>
              <a:rPr lang="en-US" sz="2400" b="0" i="0" u="none" strike="noStrike" cap="none" dirty="0" smtClean="0">
                <a:solidFill>
                  <a:schemeClr val="dk1"/>
                </a:solidFill>
                <a:latin typeface="Arial"/>
                <a:ea typeface="Arial"/>
                <a:cs typeface="Arial"/>
                <a:sym typeface="Arial"/>
              </a:rPr>
              <a:t>		LOOP:DCR </a:t>
            </a:r>
            <a:r>
              <a:rPr lang="en-US" sz="2400" b="0" i="0" u="none" strike="noStrike" cap="none" dirty="0">
                <a:solidFill>
                  <a:schemeClr val="dk1"/>
                </a:solidFill>
                <a:latin typeface="Arial"/>
                <a:ea typeface="Arial"/>
                <a:cs typeface="Arial"/>
                <a:sym typeface="Arial"/>
              </a:rPr>
              <a:t>C	4 T-States</a:t>
            </a:r>
          </a:p>
          <a:p>
            <a:pPr marL="0" marR="0" lvl="0" indent="0" algn="l" rtl="0">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JNZ LOOP	</a:t>
            </a:r>
            <a:r>
              <a:rPr lang="en-US" sz="2400" b="0" i="0" u="none" strike="noStrike" cap="none" dirty="0" smtClean="0">
                <a:solidFill>
                  <a:schemeClr val="dk1"/>
                </a:solidFill>
                <a:latin typeface="Arial"/>
                <a:ea typeface="Arial"/>
                <a:cs typeface="Arial"/>
                <a:sym typeface="Arial"/>
              </a:rPr>
              <a:t>           10 </a:t>
            </a:r>
            <a:r>
              <a:rPr lang="en-US" sz="2400" b="0" i="0" u="none" strike="noStrike" cap="none" dirty="0">
                <a:solidFill>
                  <a:schemeClr val="dk1"/>
                </a:solidFill>
                <a:latin typeface="Arial"/>
                <a:ea typeface="Arial"/>
                <a:cs typeface="Arial"/>
                <a:sym typeface="Arial"/>
              </a:rPr>
              <a:t>T-States</a:t>
            </a:r>
          </a:p>
          <a:p>
            <a:pPr marL="342900" marR="0" lvl="0" indent="-342900" algn="l" rtl="0">
              <a:spcBef>
                <a:spcPts val="640"/>
              </a:spcBef>
              <a:spcAft>
                <a:spcPts val="0"/>
              </a:spcAft>
              <a:buClr>
                <a:schemeClr val="dk1"/>
              </a:buClr>
              <a:buSzPct val="59375"/>
              <a:buFont typeface="Arial"/>
              <a:buNone/>
            </a:pPr>
            <a:endParaRPr sz="2400" b="0" i="0" u="none" strike="noStrike" cap="none">
              <a:solidFill>
                <a:schemeClr val="dk1"/>
              </a:solidFill>
              <a:latin typeface="Arial"/>
              <a:ea typeface="Arial"/>
              <a:cs typeface="Arial"/>
              <a:sym typeface="Arial"/>
            </a:endParaRPr>
          </a:p>
          <a:p>
            <a:pPr marL="0" marR="0" lvl="0" indent="0" algn="l" rtl="0">
              <a:spcBef>
                <a:spcPts val="480"/>
              </a:spcBef>
              <a:spcAft>
                <a:spcPts val="0"/>
              </a:spcAft>
              <a:buClr>
                <a:schemeClr val="dk1"/>
              </a:buClr>
              <a:buSzPct val="60416"/>
              <a:buFont typeface="Arial"/>
              <a:buChar char="●"/>
            </a:pPr>
            <a:r>
              <a:rPr lang="en-US" sz="2400" b="0" i="0" u="none" strike="noStrike" cap="none" dirty="0">
                <a:solidFill>
                  <a:schemeClr val="dk1"/>
                </a:solidFill>
                <a:latin typeface="Arial"/>
                <a:ea typeface="Arial"/>
                <a:cs typeface="Arial"/>
                <a:sym typeface="Arial"/>
              </a:rPr>
              <a:t>The first instruction initializes the loop counter and is executed only once requiring only 7 T-States.</a:t>
            </a:r>
          </a:p>
          <a:p>
            <a:pPr marL="0" marR="0" lvl="0" indent="0" algn="l" rtl="0">
              <a:spcBef>
                <a:spcPts val="480"/>
              </a:spcBef>
              <a:spcAft>
                <a:spcPts val="0"/>
              </a:spcAft>
              <a:buClr>
                <a:schemeClr val="dk1"/>
              </a:buClr>
              <a:buSzPct val="60416"/>
              <a:buFont typeface="Arial"/>
              <a:buChar char="●"/>
            </a:pPr>
            <a:r>
              <a:rPr lang="en-US" sz="2400" b="0" i="0" u="none" strike="noStrike" cap="none" dirty="0">
                <a:solidFill>
                  <a:schemeClr val="dk1"/>
                </a:solidFill>
                <a:latin typeface="Arial"/>
                <a:ea typeface="Arial"/>
                <a:cs typeface="Arial"/>
                <a:sym typeface="Arial"/>
              </a:rPr>
              <a:t>The following two instructions form a loop that requires 14 T-States to execute and is repeated 255 times until C becomes 0.</a:t>
            </a:r>
          </a:p>
        </p:txBody>
      </p:sp>
      <p:sp>
        <p:nvSpPr>
          <p:cNvPr id="295" name="Shape 295"/>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Shape 300"/>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301" name="Shape 301"/>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a:solidFill>
                  <a:srgbClr val="FF0000"/>
                </a:solidFill>
                <a:latin typeface="Arial"/>
                <a:ea typeface="Arial"/>
                <a:cs typeface="Arial"/>
                <a:sym typeface="Arial"/>
              </a:rPr>
              <a:t>Delay Loops</a:t>
            </a:r>
          </a:p>
        </p:txBody>
      </p:sp>
      <p:sp>
        <p:nvSpPr>
          <p:cNvPr id="302" name="Shape 302"/>
          <p:cNvSpPr txBox="1">
            <a:spLocks noGrp="1"/>
          </p:cNvSpPr>
          <p:nvPr>
            <p:ph type="body" idx="1"/>
          </p:nvPr>
        </p:nvSpPr>
        <p:spPr>
          <a:xfrm>
            <a:off x="457200" y="1600200"/>
            <a:ext cx="8229600" cy="4876799"/>
          </a:xfrm>
          <a:prstGeom prst="rect">
            <a:avLst/>
          </a:prstGeom>
          <a:noFill/>
          <a:ln>
            <a:noFill/>
          </a:ln>
        </p:spPr>
        <p:txBody>
          <a:bodyPr lIns="91425" tIns="45700" rIns="91425" bIns="45700" anchor="t" anchorCtr="0">
            <a:noAutofit/>
          </a:bodyPr>
          <a:lstStyle/>
          <a:p>
            <a:pPr marL="342900" marR="0" lvl="0" indent="-34290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We need to keep in mind though that in the last iteration of the loop, the JNZ instruction will fail and require only 7 T-States rather than the 10.</a:t>
            </a:r>
          </a:p>
          <a:p>
            <a:pPr marL="342900" marR="0" lvl="0" indent="-34290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Therefore, we must deduct 3 T-States from the total delay to get an accurate delay calculation.</a:t>
            </a:r>
          </a:p>
          <a:p>
            <a:pPr marL="342900" marR="0" lvl="0" indent="-34290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To calculate the delay, we use the following formula:</a:t>
            </a:r>
          </a:p>
          <a:p>
            <a:pPr marL="342900" marR="0" lvl="0" indent="-342900" algn="ctr" rtl="0">
              <a:spcBef>
                <a:spcPts val="400"/>
              </a:spcBef>
              <a:spcAft>
                <a:spcPts val="0"/>
              </a:spcAft>
              <a:buClr>
                <a:schemeClr val="dk1"/>
              </a:buClr>
              <a:buSzPct val="25000"/>
              <a:buFont typeface="Arial"/>
              <a:buNone/>
            </a:pPr>
            <a:r>
              <a:rPr lang="en-US" sz="2000" b="0" i="0" u="none" strike="noStrike" cap="none">
                <a:solidFill>
                  <a:schemeClr val="dk1"/>
                </a:solidFill>
                <a:latin typeface="Arial"/>
                <a:ea typeface="Arial"/>
                <a:cs typeface="Arial"/>
                <a:sym typeface="Arial"/>
              </a:rPr>
              <a:t>T</a:t>
            </a:r>
            <a:r>
              <a:rPr lang="en-US" sz="2000" b="0" i="0" u="none" strike="noStrike" cap="none" baseline="-25000">
                <a:solidFill>
                  <a:schemeClr val="dk1"/>
                </a:solidFill>
                <a:latin typeface="Arial"/>
                <a:ea typeface="Arial"/>
                <a:cs typeface="Arial"/>
                <a:sym typeface="Arial"/>
              </a:rPr>
              <a:t>delay</a:t>
            </a:r>
            <a:r>
              <a:rPr lang="en-US" sz="2000" b="0" i="0" u="none" strike="noStrike" cap="none">
                <a:solidFill>
                  <a:schemeClr val="dk1"/>
                </a:solidFill>
                <a:latin typeface="Arial"/>
                <a:ea typeface="Arial"/>
                <a:cs typeface="Arial"/>
                <a:sym typeface="Arial"/>
              </a:rPr>
              <a:t> = T</a:t>
            </a:r>
            <a:r>
              <a:rPr lang="en-US" sz="2000" b="0" i="0" u="none" strike="noStrike" cap="none" baseline="-25000">
                <a:solidFill>
                  <a:schemeClr val="dk1"/>
                </a:solidFill>
                <a:latin typeface="Arial"/>
                <a:ea typeface="Arial"/>
                <a:cs typeface="Arial"/>
                <a:sym typeface="Arial"/>
              </a:rPr>
              <a:t>O</a:t>
            </a:r>
            <a:r>
              <a:rPr lang="en-US" sz="2000" b="0" i="0" u="none" strike="noStrike" cap="none">
                <a:solidFill>
                  <a:schemeClr val="dk1"/>
                </a:solidFill>
                <a:latin typeface="Arial"/>
                <a:ea typeface="Arial"/>
                <a:cs typeface="Arial"/>
                <a:sym typeface="Arial"/>
              </a:rPr>
              <a:t> + T</a:t>
            </a:r>
            <a:r>
              <a:rPr lang="en-US" sz="2000" b="0" i="0" u="none" strike="noStrike" cap="none" baseline="-25000">
                <a:solidFill>
                  <a:schemeClr val="dk1"/>
                </a:solidFill>
                <a:latin typeface="Arial"/>
                <a:ea typeface="Arial"/>
                <a:cs typeface="Arial"/>
                <a:sym typeface="Arial"/>
              </a:rPr>
              <a:t>L</a:t>
            </a:r>
          </a:p>
          <a:p>
            <a:pPr marL="742950" marR="0" lvl="1" indent="-28575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T</a:t>
            </a:r>
            <a:r>
              <a:rPr lang="en-US" sz="2000" b="0" i="0" u="none" strike="noStrike" cap="none" baseline="-25000">
                <a:solidFill>
                  <a:schemeClr val="dk1"/>
                </a:solidFill>
                <a:latin typeface="Arial"/>
                <a:ea typeface="Arial"/>
                <a:cs typeface="Arial"/>
                <a:sym typeface="Arial"/>
              </a:rPr>
              <a:t>delay</a:t>
            </a:r>
            <a:r>
              <a:rPr lang="en-US" sz="2000" b="0" i="0" u="none" strike="noStrike" cap="none">
                <a:solidFill>
                  <a:schemeClr val="dk1"/>
                </a:solidFill>
                <a:latin typeface="Arial"/>
                <a:ea typeface="Arial"/>
                <a:cs typeface="Arial"/>
                <a:sym typeface="Arial"/>
              </a:rPr>
              <a:t> = total delay</a:t>
            </a:r>
          </a:p>
          <a:p>
            <a:pPr marL="742950" marR="0" lvl="1" indent="-28575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T</a:t>
            </a:r>
            <a:r>
              <a:rPr lang="en-US" sz="2000" b="0" i="0" u="none" strike="noStrike" cap="none" baseline="-25000">
                <a:solidFill>
                  <a:schemeClr val="dk1"/>
                </a:solidFill>
                <a:latin typeface="Arial"/>
                <a:ea typeface="Arial"/>
                <a:cs typeface="Arial"/>
                <a:sym typeface="Arial"/>
              </a:rPr>
              <a:t>O</a:t>
            </a:r>
            <a:r>
              <a:rPr lang="en-US" sz="2000" b="0" i="0" u="none" strike="noStrike" cap="none">
                <a:solidFill>
                  <a:schemeClr val="dk1"/>
                </a:solidFill>
                <a:latin typeface="Arial"/>
                <a:ea typeface="Arial"/>
                <a:cs typeface="Arial"/>
                <a:sym typeface="Arial"/>
              </a:rPr>
              <a:t> = delay outside the loop</a:t>
            </a:r>
          </a:p>
          <a:p>
            <a:pPr marL="742950" marR="0" lvl="1" indent="-28575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T</a:t>
            </a:r>
            <a:r>
              <a:rPr lang="en-US" sz="2000" b="0" i="0" u="none" strike="noStrike" cap="none" baseline="-25000">
                <a:solidFill>
                  <a:schemeClr val="dk1"/>
                </a:solidFill>
                <a:latin typeface="Arial"/>
                <a:ea typeface="Arial"/>
                <a:cs typeface="Arial"/>
                <a:sym typeface="Arial"/>
              </a:rPr>
              <a:t>L</a:t>
            </a:r>
            <a:r>
              <a:rPr lang="en-US" sz="2000" b="0" i="0" u="none" strike="noStrike" cap="none">
                <a:solidFill>
                  <a:schemeClr val="dk1"/>
                </a:solidFill>
                <a:latin typeface="Arial"/>
                <a:ea typeface="Arial"/>
                <a:cs typeface="Arial"/>
                <a:sym typeface="Arial"/>
              </a:rPr>
              <a:t> = delay of the loop</a:t>
            </a:r>
          </a:p>
          <a:p>
            <a:pPr marL="342900" marR="0" lvl="0" indent="-342900" algn="l" rtl="0">
              <a:spcBef>
                <a:spcPts val="640"/>
              </a:spcBef>
              <a:spcAft>
                <a:spcPts val="0"/>
              </a:spcAft>
              <a:buClr>
                <a:schemeClr val="dk1"/>
              </a:buClr>
              <a:buSzPct val="59375"/>
              <a:buFont typeface="Arial"/>
              <a:buNone/>
            </a:pPr>
            <a:endParaRPr sz="3200" b="0" i="0" u="none" strike="noStrike" cap="none">
              <a:solidFill>
                <a:schemeClr val="dk1"/>
              </a:solidFill>
              <a:latin typeface="Arial"/>
              <a:ea typeface="Arial"/>
              <a:cs typeface="Arial"/>
              <a:sym typeface="Arial"/>
            </a:endParaRPr>
          </a:p>
          <a:p>
            <a:pPr marL="342900" marR="0" lvl="0" indent="-34290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T</a:t>
            </a:r>
            <a:r>
              <a:rPr lang="en-US" sz="2000" b="0" i="0" u="none" strike="noStrike" cap="none" baseline="-25000">
                <a:solidFill>
                  <a:schemeClr val="dk1"/>
                </a:solidFill>
                <a:latin typeface="Arial"/>
                <a:ea typeface="Arial"/>
                <a:cs typeface="Arial"/>
                <a:sym typeface="Arial"/>
              </a:rPr>
              <a:t>O</a:t>
            </a:r>
            <a:r>
              <a:rPr lang="en-US" sz="2000" b="0" i="0" u="none" strike="noStrike" cap="none">
                <a:solidFill>
                  <a:schemeClr val="dk1"/>
                </a:solidFill>
                <a:latin typeface="Arial"/>
                <a:ea typeface="Arial"/>
                <a:cs typeface="Arial"/>
                <a:sym typeface="Arial"/>
              </a:rPr>
              <a:t> is the sum of all delays outside the loop.</a:t>
            </a:r>
          </a:p>
          <a:p>
            <a:pPr marL="342900" marR="0" lvl="0" indent="-342900" algn="l" rtl="0">
              <a:spcBef>
                <a:spcPts val="640"/>
              </a:spcBef>
              <a:spcAft>
                <a:spcPts val="0"/>
              </a:spcAft>
              <a:buClr>
                <a:schemeClr val="dk1"/>
              </a:buClr>
              <a:buSzPct val="59375"/>
              <a:buFont typeface="Arial"/>
              <a:buNone/>
            </a:pPr>
            <a:endParaRPr sz="3200" b="0" i="0" u="none" strike="noStrike" cap="none">
              <a:solidFill>
                <a:schemeClr val="dk1"/>
              </a:solidFill>
              <a:latin typeface="Arial"/>
              <a:ea typeface="Arial"/>
              <a:cs typeface="Arial"/>
              <a:sym typeface="Arial"/>
            </a:endParaRPr>
          </a:p>
          <a:p>
            <a:pPr marL="342900" marR="0" lvl="0" indent="-34290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T</a:t>
            </a:r>
            <a:r>
              <a:rPr lang="en-US" sz="2000" b="0" i="0" u="none" strike="noStrike" cap="none" baseline="-25000">
                <a:solidFill>
                  <a:schemeClr val="dk1"/>
                </a:solidFill>
                <a:latin typeface="Arial"/>
                <a:ea typeface="Arial"/>
                <a:cs typeface="Arial"/>
                <a:sym typeface="Arial"/>
              </a:rPr>
              <a:t>L</a:t>
            </a:r>
            <a:r>
              <a:rPr lang="en-US" sz="2000" b="0" i="0" u="none" strike="noStrike" cap="none">
                <a:solidFill>
                  <a:schemeClr val="dk1"/>
                </a:solidFill>
                <a:latin typeface="Arial"/>
                <a:ea typeface="Arial"/>
                <a:cs typeface="Arial"/>
                <a:sym typeface="Arial"/>
              </a:rPr>
              <a:t> is calculated using the formula</a:t>
            </a:r>
          </a:p>
          <a:p>
            <a:pPr marL="742950" marR="0" lvl="1" indent="-285750" algn="ctr" rtl="0">
              <a:spcBef>
                <a:spcPts val="400"/>
              </a:spcBef>
              <a:spcAft>
                <a:spcPts val="0"/>
              </a:spcAft>
              <a:buClr>
                <a:schemeClr val="dk1"/>
              </a:buClr>
              <a:buSzPct val="25000"/>
              <a:buFont typeface="Arial"/>
              <a:buNone/>
            </a:pPr>
            <a:r>
              <a:rPr lang="en-US" sz="2000" b="0" i="0" u="none" strike="noStrike" cap="none">
                <a:solidFill>
                  <a:schemeClr val="dk1"/>
                </a:solidFill>
                <a:latin typeface="Arial"/>
                <a:ea typeface="Arial"/>
                <a:cs typeface="Arial"/>
                <a:sym typeface="Arial"/>
              </a:rPr>
              <a:t>T</a:t>
            </a:r>
            <a:r>
              <a:rPr lang="en-US" sz="2000" b="0" i="0" u="none" strike="noStrike" cap="none" baseline="-25000">
                <a:solidFill>
                  <a:schemeClr val="dk1"/>
                </a:solidFill>
                <a:latin typeface="Arial"/>
                <a:ea typeface="Arial"/>
                <a:cs typeface="Arial"/>
                <a:sym typeface="Arial"/>
              </a:rPr>
              <a:t>L</a:t>
            </a:r>
            <a:r>
              <a:rPr lang="en-US" sz="2000" b="0" i="0" u="none" strike="noStrike" cap="none">
                <a:solidFill>
                  <a:schemeClr val="dk1"/>
                </a:solidFill>
                <a:latin typeface="Arial"/>
                <a:ea typeface="Arial"/>
                <a:cs typeface="Arial"/>
                <a:sym typeface="Arial"/>
              </a:rPr>
              <a:t> = T X Loop T-States X N</a:t>
            </a:r>
            <a:r>
              <a:rPr lang="en-US" sz="2000" b="0" i="0" u="none" strike="noStrike" cap="none" baseline="-25000">
                <a:solidFill>
                  <a:schemeClr val="dk1"/>
                </a:solidFill>
                <a:latin typeface="Arial"/>
                <a:ea typeface="Arial"/>
                <a:cs typeface="Arial"/>
                <a:sym typeface="Arial"/>
              </a:rPr>
              <a:t>10</a:t>
            </a:r>
          </a:p>
        </p:txBody>
      </p:sp>
      <p:sp>
        <p:nvSpPr>
          <p:cNvPr id="303" name="Shape 303"/>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Shape 308"/>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309" name="Shape 309"/>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a:solidFill>
                  <a:srgbClr val="FF0000"/>
                </a:solidFill>
                <a:latin typeface="Arial"/>
                <a:ea typeface="Arial"/>
                <a:cs typeface="Arial"/>
                <a:sym typeface="Arial"/>
              </a:rPr>
              <a:t>Delay Loops</a:t>
            </a:r>
          </a:p>
        </p:txBody>
      </p:sp>
      <p:sp>
        <p:nvSpPr>
          <p:cNvPr id="310" name="Shape 310"/>
          <p:cNvSpPr txBox="1">
            <a:spLocks noGrp="1"/>
          </p:cNvSpPr>
          <p:nvPr>
            <p:ph type="body" idx="1"/>
          </p:nvPr>
        </p:nvSpPr>
        <p:spPr>
          <a:xfrm>
            <a:off x="457200" y="1600200"/>
            <a:ext cx="8229600" cy="4525961"/>
          </a:xfrm>
          <a:prstGeom prst="rect">
            <a:avLst/>
          </a:prstGeom>
          <a:noFill/>
          <a:ln>
            <a:noFill/>
          </a:ln>
        </p:spPr>
        <p:txBody>
          <a:bodyPr lIns="91425" tIns="45700" rIns="91425" bIns="45700" anchor="t" anchorCtr="0">
            <a:noAutofit/>
          </a:bodyPr>
          <a:lstStyle/>
          <a:p>
            <a:pPr marL="342900" marR="0" lvl="0" indent="-342900" algn="l" rtl="0">
              <a:spcBef>
                <a:spcPts val="640"/>
              </a:spcBef>
              <a:spcAft>
                <a:spcPts val="0"/>
              </a:spcAft>
              <a:buClr>
                <a:schemeClr val="dk1"/>
              </a:buClr>
              <a:buSzPct val="59375"/>
              <a:buFont typeface="Arial"/>
              <a:buChar char="●"/>
            </a:pPr>
            <a:r>
              <a:rPr lang="en-US" sz="3200" b="0" i="0" u="none" strike="noStrike" cap="none" dirty="0">
                <a:solidFill>
                  <a:schemeClr val="dk1"/>
                </a:solidFill>
                <a:latin typeface="Arial"/>
                <a:ea typeface="Arial"/>
                <a:cs typeface="Arial"/>
                <a:sym typeface="Arial"/>
              </a:rPr>
              <a:t>Using these formulas, we can calculate the time delay for the previous example:</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a:p>
            <a:pPr marL="342900" marR="0" lvl="0" indent="-342900" algn="l" rtl="0">
              <a:spcBef>
                <a:spcPts val="440"/>
              </a:spcBef>
              <a:spcAft>
                <a:spcPts val="0"/>
              </a:spcAft>
              <a:buClr>
                <a:schemeClr val="dk1"/>
              </a:buClr>
              <a:buSzPct val="59090"/>
              <a:buFont typeface="Arial"/>
              <a:buChar char="●"/>
            </a:pPr>
            <a:r>
              <a:rPr lang="en-US" sz="2200" b="0" i="0" u="none" strike="noStrike" cap="none" dirty="0">
                <a:solidFill>
                  <a:schemeClr val="dk1"/>
                </a:solidFill>
                <a:latin typeface="Arial"/>
                <a:ea typeface="Arial"/>
                <a:cs typeface="Arial"/>
                <a:sym typeface="Arial"/>
              </a:rPr>
              <a:t>T</a:t>
            </a:r>
            <a:r>
              <a:rPr lang="en-US" sz="2200" b="0" i="0" u="none" strike="noStrike" cap="none" baseline="-25000" dirty="0">
                <a:solidFill>
                  <a:schemeClr val="dk1"/>
                </a:solidFill>
                <a:latin typeface="Arial"/>
                <a:ea typeface="Arial"/>
                <a:cs typeface="Arial"/>
                <a:sym typeface="Arial"/>
              </a:rPr>
              <a:t>O</a:t>
            </a:r>
            <a:r>
              <a:rPr lang="en-US" sz="2200" b="0" i="0" u="none" strike="noStrike" cap="none" dirty="0">
                <a:solidFill>
                  <a:schemeClr val="dk1"/>
                </a:solidFill>
                <a:latin typeface="Arial"/>
                <a:ea typeface="Arial"/>
                <a:cs typeface="Arial"/>
                <a:sym typeface="Arial"/>
              </a:rPr>
              <a:t> = 7 T-States</a:t>
            </a:r>
          </a:p>
          <a:p>
            <a:pPr marL="742950" marR="0" lvl="1" indent="-285750" algn="l" rtl="0">
              <a:spcBef>
                <a:spcPts val="400"/>
              </a:spcBef>
              <a:spcAft>
                <a:spcPts val="0"/>
              </a:spcAft>
              <a:buClr>
                <a:schemeClr val="dk1"/>
              </a:buClr>
              <a:buSzPct val="60000"/>
              <a:buFont typeface="Arial"/>
              <a:buChar char="●"/>
            </a:pPr>
            <a:r>
              <a:rPr lang="en-US" sz="2000" b="0" i="0" u="none" strike="noStrike" cap="none" dirty="0">
                <a:solidFill>
                  <a:schemeClr val="dk1"/>
                </a:solidFill>
                <a:latin typeface="Arial"/>
                <a:ea typeface="Arial"/>
                <a:cs typeface="Arial"/>
                <a:sym typeface="Arial"/>
              </a:rPr>
              <a:t>Delay of the MVI instruction</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a:p>
            <a:pPr marL="342900" marR="0" lvl="0" indent="-342900" algn="l" rtl="0">
              <a:spcBef>
                <a:spcPts val="440"/>
              </a:spcBef>
              <a:spcAft>
                <a:spcPts val="0"/>
              </a:spcAft>
              <a:buClr>
                <a:schemeClr val="dk1"/>
              </a:buClr>
              <a:buSzPct val="59090"/>
              <a:buFont typeface="Arial"/>
              <a:buChar char="●"/>
            </a:pPr>
            <a:r>
              <a:rPr lang="en-US" sz="2200" b="0" i="0" u="none" strike="noStrike" cap="none" dirty="0">
                <a:solidFill>
                  <a:schemeClr val="dk1"/>
                </a:solidFill>
                <a:latin typeface="Arial"/>
                <a:ea typeface="Arial"/>
                <a:cs typeface="Arial"/>
                <a:sym typeface="Arial"/>
              </a:rPr>
              <a:t>T</a:t>
            </a:r>
            <a:r>
              <a:rPr lang="en-US" sz="2200" b="0" i="0" u="none" strike="noStrike" cap="none" baseline="-25000" dirty="0">
                <a:solidFill>
                  <a:schemeClr val="dk1"/>
                </a:solidFill>
                <a:latin typeface="Arial"/>
                <a:ea typeface="Arial"/>
                <a:cs typeface="Arial"/>
                <a:sym typeface="Arial"/>
              </a:rPr>
              <a:t>L</a:t>
            </a:r>
            <a:r>
              <a:rPr lang="en-US" sz="2200" b="0" i="0" u="none" strike="noStrike" cap="none" dirty="0">
                <a:solidFill>
                  <a:schemeClr val="dk1"/>
                </a:solidFill>
                <a:latin typeface="Arial"/>
                <a:ea typeface="Arial"/>
                <a:cs typeface="Arial"/>
                <a:sym typeface="Arial"/>
              </a:rPr>
              <a:t> = (14 X 255) - 3 = 3567 T-States</a:t>
            </a:r>
          </a:p>
          <a:p>
            <a:pPr marL="742950" marR="0" lvl="1" indent="-285750" algn="l" rtl="0">
              <a:spcBef>
                <a:spcPts val="400"/>
              </a:spcBef>
              <a:spcAft>
                <a:spcPts val="0"/>
              </a:spcAft>
              <a:buClr>
                <a:schemeClr val="dk1"/>
              </a:buClr>
              <a:buSzPct val="60000"/>
              <a:buFont typeface="Arial"/>
              <a:buChar char="●"/>
            </a:pPr>
            <a:r>
              <a:rPr lang="en-US" sz="2000" b="0" i="0" u="none" strike="noStrike" cap="none" dirty="0">
                <a:solidFill>
                  <a:schemeClr val="dk1"/>
                </a:solidFill>
                <a:latin typeface="Arial"/>
                <a:ea typeface="Arial"/>
                <a:cs typeface="Arial"/>
                <a:sym typeface="Arial"/>
              </a:rPr>
              <a:t>14 T-States for the 2 instructions repeated 255 times </a:t>
            </a:r>
            <a:br>
              <a:rPr lang="en-US" sz="2000" b="0" i="0" u="none" strike="noStrike" cap="none" dirty="0">
                <a:solidFill>
                  <a:schemeClr val="dk1"/>
                </a:solidFill>
                <a:latin typeface="Arial"/>
                <a:ea typeface="Arial"/>
                <a:cs typeface="Arial"/>
                <a:sym typeface="Arial"/>
              </a:rPr>
            </a:br>
            <a:r>
              <a:rPr lang="en-US" sz="2000" b="0" i="0" u="none" strike="noStrike" cap="none" dirty="0">
                <a:solidFill>
                  <a:schemeClr val="dk1"/>
                </a:solidFill>
                <a:latin typeface="Arial"/>
                <a:ea typeface="Arial"/>
                <a:cs typeface="Arial"/>
                <a:sym typeface="Arial"/>
              </a:rPr>
              <a:t>(FF</a:t>
            </a:r>
            <a:r>
              <a:rPr lang="en-US" sz="2000" b="0" i="0" u="none" strike="noStrike" cap="none" baseline="-25000" dirty="0">
                <a:solidFill>
                  <a:schemeClr val="dk1"/>
                </a:solidFill>
                <a:latin typeface="Arial"/>
                <a:ea typeface="Arial"/>
                <a:cs typeface="Arial"/>
                <a:sym typeface="Arial"/>
              </a:rPr>
              <a:t>16</a:t>
            </a:r>
            <a:r>
              <a:rPr lang="en-US" sz="2000" b="0" i="0" u="none" strike="noStrike" cap="none" dirty="0">
                <a:solidFill>
                  <a:schemeClr val="dk1"/>
                </a:solidFill>
                <a:latin typeface="Arial"/>
                <a:ea typeface="Arial"/>
                <a:cs typeface="Arial"/>
                <a:sym typeface="Arial"/>
              </a:rPr>
              <a:t> = 255</a:t>
            </a:r>
            <a:r>
              <a:rPr lang="en-US" sz="2000" b="0" i="0" u="none" strike="noStrike" cap="none" baseline="-25000" dirty="0">
                <a:solidFill>
                  <a:schemeClr val="dk1"/>
                </a:solidFill>
                <a:latin typeface="Arial"/>
                <a:ea typeface="Arial"/>
                <a:cs typeface="Arial"/>
                <a:sym typeface="Arial"/>
              </a:rPr>
              <a:t>10</a:t>
            </a:r>
            <a:r>
              <a:rPr lang="en-US" sz="2000" b="0" i="0" u="none" strike="noStrike" cap="none" dirty="0">
                <a:solidFill>
                  <a:schemeClr val="dk1"/>
                </a:solidFill>
                <a:latin typeface="Arial"/>
                <a:ea typeface="Arial"/>
                <a:cs typeface="Arial"/>
                <a:sym typeface="Arial"/>
              </a:rPr>
              <a:t>) reduced by the 3 T-States for the final JNZ.</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a:p>
            <a:pPr marL="342900" marR="0" lvl="0" indent="-342900" algn="l" rtl="0">
              <a:spcBef>
                <a:spcPts val="440"/>
              </a:spcBef>
              <a:spcAft>
                <a:spcPts val="0"/>
              </a:spcAft>
              <a:buClr>
                <a:schemeClr val="dk1"/>
              </a:buClr>
              <a:buSzPct val="59090"/>
              <a:buFont typeface="Arial"/>
              <a:buChar char="●"/>
            </a:pPr>
            <a:r>
              <a:rPr lang="en-US" sz="2200" b="0" i="0" u="none" strike="noStrike" cap="none" dirty="0" err="1">
                <a:solidFill>
                  <a:schemeClr val="dk1"/>
                </a:solidFill>
                <a:latin typeface="Arial"/>
                <a:ea typeface="Arial"/>
                <a:cs typeface="Arial"/>
                <a:sym typeface="Arial"/>
              </a:rPr>
              <a:t>T</a:t>
            </a:r>
            <a:r>
              <a:rPr lang="en-US" sz="2200" b="0" i="0" u="none" strike="noStrike" cap="none" baseline="-25000" dirty="0" err="1">
                <a:solidFill>
                  <a:schemeClr val="dk1"/>
                </a:solidFill>
                <a:latin typeface="Arial"/>
                <a:ea typeface="Arial"/>
                <a:cs typeface="Arial"/>
                <a:sym typeface="Arial"/>
              </a:rPr>
              <a:t>Delay</a:t>
            </a:r>
            <a:r>
              <a:rPr lang="en-US" sz="2200" b="0" i="0" u="none" strike="noStrike" cap="none" dirty="0">
                <a:solidFill>
                  <a:schemeClr val="dk1"/>
                </a:solidFill>
                <a:latin typeface="Arial"/>
                <a:ea typeface="Arial"/>
                <a:cs typeface="Arial"/>
                <a:sym typeface="Arial"/>
              </a:rPr>
              <a:t> = (7 + 3567) X 0.5 </a:t>
            </a:r>
            <a:r>
              <a:rPr lang="en-US" sz="2200" b="0" i="0" u="none" strike="noStrike" cap="none" dirty="0" err="1">
                <a:solidFill>
                  <a:schemeClr val="dk1"/>
                </a:solidFill>
                <a:latin typeface="Arial"/>
                <a:ea typeface="Arial"/>
                <a:cs typeface="Arial"/>
                <a:sym typeface="Arial"/>
              </a:rPr>
              <a:t>μSec</a:t>
            </a:r>
            <a:r>
              <a:rPr lang="en-US" sz="2200" b="0" i="0" u="none" strike="noStrike" cap="none" dirty="0">
                <a:solidFill>
                  <a:schemeClr val="dk1"/>
                </a:solidFill>
                <a:latin typeface="Arial"/>
                <a:ea typeface="Arial"/>
                <a:cs typeface="Arial"/>
                <a:sym typeface="Arial"/>
              </a:rPr>
              <a:t> = 1.787 </a:t>
            </a:r>
            <a:r>
              <a:rPr lang="en-US" sz="2200" b="0" i="0" u="none" strike="noStrike" cap="none" dirty="0" err="1">
                <a:solidFill>
                  <a:schemeClr val="dk1"/>
                </a:solidFill>
                <a:latin typeface="Arial"/>
                <a:ea typeface="Arial"/>
                <a:cs typeface="Arial"/>
                <a:sym typeface="Arial"/>
              </a:rPr>
              <a:t>mSec</a:t>
            </a:r>
            <a:endParaRPr lang="en-US" sz="2200" b="0" i="0" u="none" strike="noStrike" cap="none" dirty="0">
              <a:solidFill>
                <a:schemeClr val="dk1"/>
              </a:solidFill>
              <a:latin typeface="Arial"/>
              <a:ea typeface="Arial"/>
              <a:cs typeface="Arial"/>
              <a:sym typeface="Arial"/>
            </a:endParaRPr>
          </a:p>
          <a:p>
            <a:pPr marL="742950" marR="0" lvl="1" indent="-285750" algn="l" rtl="0">
              <a:spcBef>
                <a:spcPts val="400"/>
              </a:spcBef>
              <a:spcAft>
                <a:spcPts val="0"/>
              </a:spcAft>
              <a:buClr>
                <a:schemeClr val="dk1"/>
              </a:buClr>
              <a:buSzPct val="60000"/>
              <a:buFont typeface="Arial"/>
              <a:buChar char="●"/>
            </a:pPr>
            <a:r>
              <a:rPr lang="en-US" sz="2000" b="0" i="0" u="none" strike="noStrike" cap="none" dirty="0">
                <a:solidFill>
                  <a:schemeClr val="dk1"/>
                </a:solidFill>
                <a:latin typeface="Arial"/>
                <a:ea typeface="Arial"/>
                <a:cs typeface="Arial"/>
                <a:sym typeface="Arial"/>
              </a:rPr>
              <a:t>Assuming f = 2 MHz</a:t>
            </a:r>
          </a:p>
        </p:txBody>
      </p:sp>
      <p:sp>
        <p:nvSpPr>
          <p:cNvPr id="311" name="Shape 311"/>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Shape 316"/>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317" name="Shape 317"/>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000" b="0" i="0" u="none" strike="noStrike" cap="none">
                <a:solidFill>
                  <a:srgbClr val="FF0000"/>
                </a:solidFill>
                <a:latin typeface="Arial"/>
                <a:ea typeface="Arial"/>
                <a:cs typeface="Arial"/>
                <a:sym typeface="Arial"/>
              </a:rPr>
              <a:t>Using a Register Pair as a Loop Counter</a:t>
            </a:r>
          </a:p>
        </p:txBody>
      </p:sp>
      <p:sp>
        <p:nvSpPr>
          <p:cNvPr id="318" name="Shape 318"/>
          <p:cNvSpPr txBox="1">
            <a:spLocks noGrp="1"/>
          </p:cNvSpPr>
          <p:nvPr>
            <p:ph type="body" idx="1"/>
          </p:nvPr>
        </p:nvSpPr>
        <p:spPr>
          <a:xfrm>
            <a:off x="457200" y="1600200"/>
            <a:ext cx="8229600" cy="4525961"/>
          </a:xfrm>
          <a:prstGeom prst="rect">
            <a:avLst/>
          </a:prstGeom>
          <a:noFill/>
          <a:ln>
            <a:noFill/>
          </a:ln>
        </p:spPr>
        <p:txBody>
          <a:bodyPr lIns="91425" tIns="45700" rIns="91425" bIns="45700" anchor="t" anchorCtr="0">
            <a:noAutofit/>
          </a:bodyPr>
          <a:lstStyle/>
          <a:p>
            <a:pPr marL="0" marR="0" lvl="0" indent="0" algn="just" rtl="0">
              <a:spcBef>
                <a:spcPts val="480"/>
              </a:spcBef>
              <a:spcAft>
                <a:spcPts val="0"/>
              </a:spcAft>
              <a:buClr>
                <a:schemeClr val="dk1"/>
              </a:buClr>
              <a:buSzPct val="60416"/>
              <a:buFont typeface="Arial"/>
              <a:buChar char="●"/>
            </a:pPr>
            <a:r>
              <a:rPr lang="en-US" sz="2400" b="0" i="0" u="none" strike="noStrike" cap="none">
                <a:solidFill>
                  <a:schemeClr val="dk1"/>
                </a:solidFill>
                <a:latin typeface="Arial"/>
                <a:ea typeface="Arial"/>
                <a:cs typeface="Arial"/>
                <a:sym typeface="Arial"/>
              </a:rPr>
              <a:t>Using a single register, one can repeat a loop for a maximum count of 255 times.</a:t>
            </a:r>
          </a:p>
          <a:p>
            <a:pPr marL="342900" marR="0" lvl="0" indent="-342900" algn="l" rtl="0">
              <a:spcBef>
                <a:spcPts val="640"/>
              </a:spcBef>
              <a:spcAft>
                <a:spcPts val="0"/>
              </a:spcAft>
              <a:buClr>
                <a:schemeClr val="dk1"/>
              </a:buClr>
              <a:buSzPct val="59375"/>
              <a:buFont typeface="Arial"/>
              <a:buNone/>
            </a:pPr>
            <a:endParaRPr sz="3200" b="0" i="0" u="none" strike="noStrike" cap="none">
              <a:solidFill>
                <a:schemeClr val="dk1"/>
              </a:solidFill>
              <a:latin typeface="Arial"/>
              <a:ea typeface="Arial"/>
              <a:cs typeface="Arial"/>
              <a:sym typeface="Arial"/>
            </a:endParaRPr>
          </a:p>
          <a:p>
            <a:pPr marL="0" marR="0" lvl="0" indent="0" algn="just" rtl="0">
              <a:spcBef>
                <a:spcPts val="480"/>
              </a:spcBef>
              <a:spcAft>
                <a:spcPts val="0"/>
              </a:spcAft>
              <a:buClr>
                <a:schemeClr val="dk1"/>
              </a:buClr>
              <a:buSzPct val="60416"/>
              <a:buFont typeface="Arial"/>
              <a:buChar char="●"/>
            </a:pPr>
            <a:r>
              <a:rPr lang="en-US" sz="2400" b="0" i="0" u="none" strike="noStrike" cap="none">
                <a:solidFill>
                  <a:schemeClr val="dk1"/>
                </a:solidFill>
                <a:latin typeface="Arial"/>
                <a:ea typeface="Arial"/>
                <a:cs typeface="Arial"/>
                <a:sym typeface="Arial"/>
              </a:rPr>
              <a:t>It is possible to increase this count by using a register pair for the loop counter instead of the single register.</a:t>
            </a:r>
          </a:p>
          <a:p>
            <a:pPr marL="0" marR="0" lvl="1" indent="0" algn="just" rtl="0">
              <a:spcBef>
                <a:spcPts val="480"/>
              </a:spcBef>
              <a:spcAft>
                <a:spcPts val="0"/>
              </a:spcAft>
              <a:buClr>
                <a:schemeClr val="dk1"/>
              </a:buClr>
              <a:buSzPct val="60416"/>
              <a:buFont typeface="Arial"/>
              <a:buChar char="●"/>
            </a:pPr>
            <a:r>
              <a:rPr lang="en-US" sz="2400" b="0" i="0" u="none" strike="noStrike" cap="none">
                <a:solidFill>
                  <a:schemeClr val="dk1"/>
                </a:solidFill>
                <a:latin typeface="Arial"/>
                <a:ea typeface="Arial"/>
                <a:cs typeface="Arial"/>
                <a:sym typeface="Arial"/>
              </a:rPr>
              <a:t>A minor problem arises in how to test for the final count since DCX and INX do not modify the flags.</a:t>
            </a:r>
          </a:p>
          <a:p>
            <a:pPr marL="0" marR="0" lvl="1" indent="0" algn="just" rtl="0">
              <a:spcBef>
                <a:spcPts val="480"/>
              </a:spcBef>
              <a:spcAft>
                <a:spcPts val="0"/>
              </a:spcAft>
              <a:buClr>
                <a:schemeClr val="dk1"/>
              </a:buClr>
              <a:buSzPct val="60416"/>
              <a:buFont typeface="Arial"/>
              <a:buChar char="●"/>
            </a:pPr>
            <a:r>
              <a:rPr lang="en-US" sz="2400" b="0" i="0" u="none" strike="noStrike" cap="none">
                <a:solidFill>
                  <a:schemeClr val="dk1"/>
                </a:solidFill>
                <a:latin typeface="Arial"/>
                <a:ea typeface="Arial"/>
                <a:cs typeface="Arial"/>
                <a:sym typeface="Arial"/>
              </a:rPr>
              <a:t>However, if the loop is looking for when the count becomes zero, we can use a small trick by ORing the two registers in the pair and then checking the zero flag.</a:t>
            </a:r>
          </a:p>
        </p:txBody>
      </p:sp>
      <p:sp>
        <p:nvSpPr>
          <p:cNvPr id="319" name="Shape 319"/>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Shape 324"/>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325" name="Shape 325"/>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a:solidFill>
                  <a:srgbClr val="FF0000"/>
                </a:solidFill>
                <a:latin typeface="Arial"/>
                <a:ea typeface="Arial"/>
                <a:cs typeface="Arial"/>
                <a:sym typeface="Arial"/>
              </a:rPr>
              <a:t>Using a Register Pair as a Loop Counter</a:t>
            </a:r>
          </a:p>
        </p:txBody>
      </p:sp>
      <p:sp>
        <p:nvSpPr>
          <p:cNvPr id="326" name="Shape 326"/>
          <p:cNvSpPr txBox="1">
            <a:spLocks noGrp="1"/>
          </p:cNvSpPr>
          <p:nvPr>
            <p:ph type="body" idx="1"/>
          </p:nvPr>
        </p:nvSpPr>
        <p:spPr>
          <a:xfrm>
            <a:off x="457200" y="1600200"/>
            <a:ext cx="8229600" cy="4525961"/>
          </a:xfrm>
          <a:prstGeom prst="rect">
            <a:avLst/>
          </a:prstGeom>
          <a:noFill/>
          <a:ln>
            <a:noFill/>
          </a:ln>
        </p:spPr>
        <p:txBody>
          <a:bodyPr lIns="91425" tIns="45700" rIns="91425" bIns="45700" anchor="t" anchorCtr="0">
            <a:noAutofit/>
          </a:bodyPr>
          <a:lstStyle/>
          <a:p>
            <a:pPr marL="0" marR="0" lvl="0" indent="0" algn="l" rtl="0">
              <a:spcBef>
                <a:spcPts val="640"/>
              </a:spcBef>
              <a:spcAft>
                <a:spcPts val="0"/>
              </a:spcAft>
              <a:buClr>
                <a:schemeClr val="dk1"/>
              </a:buClr>
              <a:buSzPct val="59375"/>
              <a:buFont typeface="Arial"/>
              <a:buChar char="●"/>
            </a:pPr>
            <a:r>
              <a:rPr lang="en-US" sz="3200" b="0" i="0" u="none" strike="noStrike" cap="none" dirty="0">
                <a:solidFill>
                  <a:schemeClr val="dk1"/>
                </a:solidFill>
                <a:latin typeface="Arial"/>
                <a:ea typeface="Arial"/>
                <a:cs typeface="Arial"/>
                <a:sym typeface="Arial"/>
              </a:rPr>
              <a:t>The following is an example of a delay loop set up with a register pair as the loop counter.</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a:p>
            <a:pPr marL="0" marR="0" lvl="0" indent="0" algn="l" rtl="0">
              <a:spcBef>
                <a:spcPts val="400"/>
              </a:spcBef>
              <a:spcAft>
                <a:spcPts val="0"/>
              </a:spcAft>
              <a:buClr>
                <a:schemeClr val="dk1"/>
              </a:buClr>
              <a:buSzPct val="25000"/>
              <a:buFont typeface="Arial"/>
              <a:buNone/>
            </a:pPr>
            <a:r>
              <a:rPr lang="en-US" sz="2000" b="0" i="0" u="none" strike="noStrike" cap="none" dirty="0">
                <a:solidFill>
                  <a:schemeClr val="dk1"/>
                </a:solidFill>
                <a:latin typeface="Arial"/>
                <a:ea typeface="Arial"/>
                <a:cs typeface="Arial"/>
                <a:sym typeface="Arial"/>
              </a:rPr>
              <a:t>		LXI B, 1000H	10 T-States</a:t>
            </a:r>
          </a:p>
          <a:p>
            <a:pPr marL="0" marR="0" lvl="0" indent="0" algn="l" rtl="0">
              <a:spcBef>
                <a:spcPts val="400"/>
              </a:spcBef>
              <a:spcAft>
                <a:spcPts val="0"/>
              </a:spcAft>
              <a:buClr>
                <a:schemeClr val="dk1"/>
              </a:buClr>
              <a:buSzPct val="25000"/>
              <a:buFont typeface="Arial"/>
              <a:buNone/>
            </a:pPr>
            <a:r>
              <a:rPr lang="en-US" sz="2000" b="0" i="0" u="none" strike="noStrike" cap="none" dirty="0" smtClean="0">
                <a:solidFill>
                  <a:schemeClr val="dk1"/>
                </a:solidFill>
                <a:latin typeface="Arial"/>
                <a:ea typeface="Arial"/>
                <a:cs typeface="Arial"/>
                <a:sym typeface="Arial"/>
              </a:rPr>
              <a:t>	LOOP</a:t>
            </a:r>
            <a:r>
              <a:rPr lang="en-US" sz="2000" b="0" i="0" u="none" strike="noStrike" cap="none" dirty="0">
                <a:solidFill>
                  <a:schemeClr val="dk1"/>
                </a:solidFill>
                <a:latin typeface="Arial"/>
                <a:ea typeface="Arial"/>
                <a:cs typeface="Arial"/>
                <a:sym typeface="Arial"/>
              </a:rPr>
              <a:t>	DCX B	6 T-States</a:t>
            </a:r>
          </a:p>
          <a:p>
            <a:pPr marL="0" marR="0" lvl="0" indent="0" algn="l" rtl="0">
              <a:spcBef>
                <a:spcPts val="400"/>
              </a:spcBef>
              <a:spcAft>
                <a:spcPts val="0"/>
              </a:spcAft>
              <a:buClr>
                <a:schemeClr val="dk1"/>
              </a:buClr>
              <a:buSzPct val="25000"/>
              <a:buFont typeface="Arial"/>
              <a:buNone/>
            </a:pPr>
            <a:r>
              <a:rPr lang="en-US" sz="2000" b="0" i="0" u="none" strike="noStrike" cap="none" dirty="0">
                <a:solidFill>
                  <a:schemeClr val="dk1"/>
                </a:solidFill>
                <a:latin typeface="Arial"/>
                <a:ea typeface="Arial"/>
                <a:cs typeface="Arial"/>
                <a:sym typeface="Arial"/>
              </a:rPr>
              <a:t>		MOV A, C	4 T-States</a:t>
            </a:r>
          </a:p>
          <a:p>
            <a:pPr marL="0" marR="0" lvl="0" indent="0" algn="l" rtl="0">
              <a:spcBef>
                <a:spcPts val="400"/>
              </a:spcBef>
              <a:spcAft>
                <a:spcPts val="0"/>
              </a:spcAft>
              <a:buClr>
                <a:schemeClr val="dk1"/>
              </a:buClr>
              <a:buSzPct val="25000"/>
              <a:buFont typeface="Arial"/>
              <a:buNone/>
            </a:pPr>
            <a:r>
              <a:rPr lang="en-US" sz="2000" b="0" i="0" u="none" strike="noStrike" cap="none" dirty="0">
                <a:solidFill>
                  <a:schemeClr val="dk1"/>
                </a:solidFill>
                <a:latin typeface="Arial"/>
                <a:ea typeface="Arial"/>
                <a:cs typeface="Arial"/>
                <a:sym typeface="Arial"/>
              </a:rPr>
              <a:t>		ORA B	4 T-States</a:t>
            </a:r>
          </a:p>
          <a:p>
            <a:pPr marL="0" marR="0" lvl="0" indent="0" algn="l" rtl="0">
              <a:spcBef>
                <a:spcPts val="400"/>
              </a:spcBef>
              <a:spcAft>
                <a:spcPts val="0"/>
              </a:spcAft>
              <a:buClr>
                <a:schemeClr val="dk1"/>
              </a:buClr>
              <a:buSzPct val="25000"/>
              <a:buFont typeface="Arial"/>
              <a:buNone/>
            </a:pPr>
            <a:r>
              <a:rPr lang="en-US" sz="2000" b="0" i="0" u="none" strike="noStrike" cap="none" dirty="0">
                <a:solidFill>
                  <a:schemeClr val="dk1"/>
                </a:solidFill>
                <a:latin typeface="Arial"/>
                <a:ea typeface="Arial"/>
                <a:cs typeface="Arial"/>
                <a:sym typeface="Arial"/>
              </a:rPr>
              <a:t>		JNZ LOOP	10 T-States</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p:txBody>
      </p:sp>
      <p:sp>
        <p:nvSpPr>
          <p:cNvPr id="327" name="Shape 327"/>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Shape 332"/>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333" name="Shape 333"/>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dirty="0">
                <a:solidFill>
                  <a:srgbClr val="FF0000"/>
                </a:solidFill>
                <a:latin typeface="Arial"/>
                <a:ea typeface="Arial"/>
                <a:cs typeface="Arial"/>
                <a:sym typeface="Arial"/>
              </a:rPr>
              <a:t>Using a Register Pair as a Loop Counter</a:t>
            </a:r>
          </a:p>
        </p:txBody>
      </p:sp>
      <p:sp>
        <p:nvSpPr>
          <p:cNvPr id="334" name="Shape 334"/>
          <p:cNvSpPr txBox="1">
            <a:spLocks noGrp="1"/>
          </p:cNvSpPr>
          <p:nvPr>
            <p:ph type="body" idx="1"/>
          </p:nvPr>
        </p:nvSpPr>
        <p:spPr>
          <a:xfrm>
            <a:off x="457200" y="1600200"/>
            <a:ext cx="8229600" cy="4525961"/>
          </a:xfrm>
          <a:prstGeom prst="rect">
            <a:avLst/>
          </a:prstGeom>
          <a:noFill/>
          <a:ln>
            <a:noFill/>
          </a:ln>
        </p:spPr>
        <p:txBody>
          <a:bodyPr lIns="91425" tIns="45700" rIns="91425" bIns="45700" anchor="t" anchorCtr="0">
            <a:noAutofit/>
          </a:bodyPr>
          <a:lstStyle/>
          <a:p>
            <a:pPr marL="0" marR="0" lvl="0" indent="279400" algn="l" rtl="0">
              <a:spcBef>
                <a:spcPts val="640"/>
              </a:spcBef>
              <a:spcAft>
                <a:spcPts val="0"/>
              </a:spcAft>
              <a:buClr>
                <a:schemeClr val="dk1"/>
              </a:buClr>
              <a:buSzPct val="59375"/>
              <a:buFont typeface="Arial"/>
              <a:buChar char="●"/>
            </a:pPr>
            <a:r>
              <a:rPr lang="en-US" sz="3200" b="0" i="0" u="none" strike="noStrike" cap="none" dirty="0">
                <a:solidFill>
                  <a:schemeClr val="dk1"/>
                </a:solidFill>
                <a:latin typeface="Arial"/>
                <a:ea typeface="Arial"/>
                <a:cs typeface="Arial"/>
                <a:sym typeface="Arial"/>
              </a:rPr>
              <a:t>Using the same formula from before, we can calculate:</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a:p>
            <a:pPr marL="0" marR="0" lvl="0" indent="279400" algn="l" rtl="0">
              <a:spcBef>
                <a:spcPts val="440"/>
              </a:spcBef>
              <a:spcAft>
                <a:spcPts val="0"/>
              </a:spcAft>
              <a:buClr>
                <a:schemeClr val="dk1"/>
              </a:buClr>
              <a:buSzPct val="59090"/>
              <a:buFont typeface="Arial"/>
              <a:buChar char="●"/>
            </a:pPr>
            <a:r>
              <a:rPr lang="en-US" sz="2200" b="0" i="0" u="none" strike="noStrike" cap="none" dirty="0">
                <a:solidFill>
                  <a:schemeClr val="dk1"/>
                </a:solidFill>
                <a:latin typeface="Arial"/>
                <a:ea typeface="Arial"/>
                <a:cs typeface="Arial"/>
                <a:sym typeface="Arial"/>
              </a:rPr>
              <a:t>T</a:t>
            </a:r>
            <a:r>
              <a:rPr lang="en-US" sz="2200" b="0" i="0" u="none" strike="noStrike" cap="none" baseline="-25000" dirty="0">
                <a:solidFill>
                  <a:schemeClr val="dk1"/>
                </a:solidFill>
                <a:latin typeface="Arial"/>
                <a:ea typeface="Arial"/>
                <a:cs typeface="Arial"/>
                <a:sym typeface="Arial"/>
              </a:rPr>
              <a:t>O</a:t>
            </a:r>
            <a:r>
              <a:rPr lang="en-US" sz="2200" b="0" i="0" u="none" strike="noStrike" cap="none" dirty="0">
                <a:solidFill>
                  <a:schemeClr val="dk1"/>
                </a:solidFill>
                <a:latin typeface="Arial"/>
                <a:ea typeface="Arial"/>
                <a:cs typeface="Arial"/>
                <a:sym typeface="Arial"/>
              </a:rPr>
              <a:t> = 10 T-States</a:t>
            </a:r>
          </a:p>
          <a:p>
            <a:pPr marL="625475" marR="0" lvl="1" indent="454025" algn="l" rtl="0">
              <a:spcBef>
                <a:spcPts val="400"/>
              </a:spcBef>
              <a:spcAft>
                <a:spcPts val="0"/>
              </a:spcAft>
              <a:buClr>
                <a:schemeClr val="dk1"/>
              </a:buClr>
              <a:buSzPct val="60000"/>
              <a:buFont typeface="Arial"/>
              <a:buChar char="●"/>
            </a:pPr>
            <a:r>
              <a:rPr lang="en-US" sz="2000" b="0" i="0" u="none" strike="noStrike" cap="none" dirty="0">
                <a:solidFill>
                  <a:schemeClr val="dk1"/>
                </a:solidFill>
                <a:latin typeface="Arial"/>
                <a:ea typeface="Arial"/>
                <a:cs typeface="Arial"/>
                <a:sym typeface="Arial"/>
              </a:rPr>
              <a:t>The delay for the LXI instruction</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a:p>
            <a:pPr marL="0" marR="0" lvl="0" indent="279400" algn="l" rtl="0">
              <a:spcBef>
                <a:spcPts val="440"/>
              </a:spcBef>
              <a:spcAft>
                <a:spcPts val="0"/>
              </a:spcAft>
              <a:buClr>
                <a:schemeClr val="dk1"/>
              </a:buClr>
              <a:buSzPct val="59090"/>
              <a:buFont typeface="Arial"/>
              <a:buChar char="●"/>
            </a:pPr>
            <a:r>
              <a:rPr lang="en-US" sz="2200" b="0" i="0" u="none" strike="noStrike" cap="none" dirty="0">
                <a:solidFill>
                  <a:schemeClr val="dk1"/>
                </a:solidFill>
                <a:latin typeface="Arial"/>
                <a:ea typeface="Arial"/>
                <a:cs typeface="Arial"/>
                <a:sym typeface="Arial"/>
              </a:rPr>
              <a:t>T</a:t>
            </a:r>
            <a:r>
              <a:rPr lang="en-US" sz="2200" b="0" i="0" u="none" strike="noStrike" cap="none" baseline="-25000" dirty="0">
                <a:solidFill>
                  <a:schemeClr val="dk1"/>
                </a:solidFill>
                <a:latin typeface="Arial"/>
                <a:ea typeface="Arial"/>
                <a:cs typeface="Arial"/>
                <a:sym typeface="Arial"/>
              </a:rPr>
              <a:t>L</a:t>
            </a:r>
            <a:r>
              <a:rPr lang="en-US" sz="2200" b="0" i="0" u="none" strike="noStrike" cap="none" dirty="0">
                <a:solidFill>
                  <a:schemeClr val="dk1"/>
                </a:solidFill>
                <a:latin typeface="Arial"/>
                <a:ea typeface="Arial"/>
                <a:cs typeface="Arial"/>
                <a:sym typeface="Arial"/>
              </a:rPr>
              <a:t> = (24 X 4096) - 3 = 98301 T- States</a:t>
            </a:r>
          </a:p>
          <a:p>
            <a:pPr marL="625475" marR="0" lvl="1" indent="454025" algn="l" rtl="0">
              <a:spcBef>
                <a:spcPts val="400"/>
              </a:spcBef>
              <a:spcAft>
                <a:spcPts val="0"/>
              </a:spcAft>
              <a:buClr>
                <a:schemeClr val="dk1"/>
              </a:buClr>
              <a:buSzPct val="60000"/>
              <a:buFont typeface="Arial"/>
              <a:buChar char="●"/>
            </a:pPr>
            <a:r>
              <a:rPr lang="en-US" sz="2000" b="0" i="0" u="none" strike="noStrike" cap="none" dirty="0">
                <a:solidFill>
                  <a:schemeClr val="dk1"/>
                </a:solidFill>
                <a:latin typeface="Arial"/>
                <a:ea typeface="Arial"/>
                <a:cs typeface="Arial"/>
                <a:sym typeface="Arial"/>
              </a:rPr>
              <a:t>24 T-States for the 4 instructions in the loop repeated 4096 times (1000</a:t>
            </a:r>
            <a:r>
              <a:rPr lang="en-US" sz="2000" b="0" i="0" u="none" strike="noStrike" cap="none" baseline="-25000" dirty="0">
                <a:solidFill>
                  <a:schemeClr val="dk1"/>
                </a:solidFill>
                <a:latin typeface="Arial"/>
                <a:ea typeface="Arial"/>
                <a:cs typeface="Arial"/>
                <a:sym typeface="Arial"/>
              </a:rPr>
              <a:t>16</a:t>
            </a:r>
            <a:r>
              <a:rPr lang="en-US" sz="2000" b="0" i="0" u="none" strike="noStrike" cap="none" dirty="0">
                <a:solidFill>
                  <a:schemeClr val="dk1"/>
                </a:solidFill>
                <a:latin typeface="Arial"/>
                <a:ea typeface="Arial"/>
                <a:cs typeface="Arial"/>
                <a:sym typeface="Arial"/>
              </a:rPr>
              <a:t> = 4096</a:t>
            </a:r>
            <a:r>
              <a:rPr lang="en-US" sz="2000" b="0" i="0" u="none" strike="noStrike" cap="none" baseline="-25000" dirty="0">
                <a:solidFill>
                  <a:schemeClr val="dk1"/>
                </a:solidFill>
                <a:latin typeface="Arial"/>
                <a:ea typeface="Arial"/>
                <a:cs typeface="Arial"/>
                <a:sym typeface="Arial"/>
              </a:rPr>
              <a:t>10</a:t>
            </a:r>
            <a:r>
              <a:rPr lang="en-US" sz="2000" b="0" i="0" u="none" strike="noStrike" cap="none" dirty="0">
                <a:solidFill>
                  <a:schemeClr val="dk1"/>
                </a:solidFill>
                <a:latin typeface="Arial"/>
                <a:ea typeface="Arial"/>
                <a:cs typeface="Arial"/>
                <a:sym typeface="Arial"/>
              </a:rPr>
              <a:t>) reduced by the 3 T-States for the JNZ in the last iteration.</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a:p>
            <a:pPr marL="0" marR="0" lvl="0" indent="279400" algn="l" rtl="0">
              <a:spcBef>
                <a:spcPts val="440"/>
              </a:spcBef>
              <a:spcAft>
                <a:spcPts val="0"/>
              </a:spcAft>
              <a:buClr>
                <a:schemeClr val="dk1"/>
              </a:buClr>
              <a:buSzPct val="59090"/>
              <a:buFont typeface="Arial"/>
              <a:buChar char="●"/>
            </a:pPr>
            <a:r>
              <a:rPr lang="en-US" sz="2200" b="0" i="0" u="none" strike="noStrike" cap="none" dirty="0" err="1">
                <a:solidFill>
                  <a:schemeClr val="dk1"/>
                </a:solidFill>
                <a:latin typeface="Arial"/>
                <a:ea typeface="Arial"/>
                <a:cs typeface="Arial"/>
                <a:sym typeface="Arial"/>
              </a:rPr>
              <a:t>T</a:t>
            </a:r>
            <a:r>
              <a:rPr lang="en-US" sz="2200" b="0" i="0" u="none" strike="noStrike" cap="none" baseline="-25000" dirty="0" err="1">
                <a:solidFill>
                  <a:schemeClr val="dk1"/>
                </a:solidFill>
                <a:latin typeface="Arial"/>
                <a:ea typeface="Arial"/>
                <a:cs typeface="Arial"/>
                <a:sym typeface="Arial"/>
              </a:rPr>
              <a:t>Delay</a:t>
            </a:r>
            <a:r>
              <a:rPr lang="en-US" sz="2200" b="0" i="0" u="none" strike="noStrike" cap="none" dirty="0">
                <a:solidFill>
                  <a:schemeClr val="dk1"/>
                </a:solidFill>
                <a:latin typeface="Arial"/>
                <a:ea typeface="Arial"/>
                <a:cs typeface="Arial"/>
                <a:sym typeface="Arial"/>
              </a:rPr>
              <a:t> = (10 + 98301) X 0.5 </a:t>
            </a:r>
            <a:r>
              <a:rPr lang="en-US" sz="2200" dirty="0">
                <a:solidFill>
                  <a:schemeClr val="dk1"/>
                </a:solidFill>
                <a:latin typeface="Arial"/>
                <a:ea typeface="Arial"/>
                <a:cs typeface="Arial"/>
                <a:sym typeface="Arial"/>
              </a:rPr>
              <a:t>µ</a:t>
            </a:r>
            <a:r>
              <a:rPr lang="en-US" sz="2200" b="0" i="0" u="none" strike="noStrike" cap="none" dirty="0" smtClean="0">
                <a:solidFill>
                  <a:schemeClr val="dk1"/>
                </a:solidFill>
                <a:latin typeface="Arial"/>
                <a:ea typeface="Arial"/>
                <a:cs typeface="Arial"/>
                <a:sym typeface="Arial"/>
              </a:rPr>
              <a:t>Sec </a:t>
            </a:r>
            <a:r>
              <a:rPr lang="en-US" sz="2200" b="0" i="0" u="none" strike="noStrike" cap="none" dirty="0">
                <a:solidFill>
                  <a:schemeClr val="dk1"/>
                </a:solidFill>
                <a:latin typeface="Arial"/>
                <a:ea typeface="Arial"/>
                <a:cs typeface="Arial"/>
                <a:sym typeface="Arial"/>
              </a:rPr>
              <a:t>= 49.155 </a:t>
            </a:r>
            <a:r>
              <a:rPr lang="en-US" sz="2200" b="0" i="0" u="none" strike="noStrike" cap="none" dirty="0" err="1">
                <a:solidFill>
                  <a:schemeClr val="dk1"/>
                </a:solidFill>
                <a:latin typeface="Arial"/>
                <a:ea typeface="Arial"/>
                <a:cs typeface="Arial"/>
                <a:sym typeface="Arial"/>
              </a:rPr>
              <a:t>mSec</a:t>
            </a:r>
            <a:endParaRPr lang="en-US" sz="2200" b="0" i="0" u="none" strike="noStrike" cap="none" dirty="0">
              <a:solidFill>
                <a:schemeClr val="dk1"/>
              </a:solidFill>
              <a:latin typeface="Arial"/>
              <a:ea typeface="Arial"/>
              <a:cs typeface="Arial"/>
              <a:sym typeface="Arial"/>
            </a:endParaRPr>
          </a:p>
        </p:txBody>
      </p:sp>
      <p:sp>
        <p:nvSpPr>
          <p:cNvPr id="335" name="Shape 335"/>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Shape 340"/>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341" name="Shape 341"/>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a:solidFill>
                  <a:srgbClr val="FF0000"/>
                </a:solidFill>
                <a:latin typeface="Arial"/>
                <a:ea typeface="Arial"/>
                <a:cs typeface="Arial"/>
                <a:sym typeface="Arial"/>
              </a:rPr>
              <a:t>Nested Loops</a:t>
            </a:r>
          </a:p>
        </p:txBody>
      </p:sp>
      <p:sp>
        <p:nvSpPr>
          <p:cNvPr id="342" name="Shape 342"/>
          <p:cNvSpPr txBox="1">
            <a:spLocks noGrp="1"/>
          </p:cNvSpPr>
          <p:nvPr>
            <p:ph type="body" idx="1"/>
          </p:nvPr>
        </p:nvSpPr>
        <p:spPr>
          <a:xfrm>
            <a:off x="685800" y="1066800"/>
            <a:ext cx="4024312" cy="5105399"/>
          </a:xfrm>
          <a:prstGeom prst="rect">
            <a:avLst/>
          </a:prstGeom>
          <a:noFill/>
          <a:ln>
            <a:noFill/>
          </a:ln>
        </p:spPr>
        <p:txBody>
          <a:bodyPr lIns="91425" tIns="45700" rIns="91425" bIns="45700" anchor="t" anchorCtr="0">
            <a:noAutofit/>
          </a:bodyPr>
          <a:lstStyle/>
          <a:p>
            <a:pPr marL="0" marR="0" lvl="0" indent="0" algn="l" rtl="0">
              <a:spcBef>
                <a:spcPts val="480"/>
              </a:spcBef>
              <a:spcAft>
                <a:spcPts val="0"/>
              </a:spcAft>
              <a:buClr>
                <a:schemeClr val="dk1"/>
              </a:buClr>
              <a:buSzPct val="60416"/>
              <a:buFont typeface="Arial"/>
              <a:buChar char="●"/>
            </a:pPr>
            <a:r>
              <a:rPr lang="en-US" sz="2400" b="0" i="0" u="none" strike="noStrike" cap="none">
                <a:solidFill>
                  <a:schemeClr val="dk1"/>
                </a:solidFill>
                <a:latin typeface="Arial"/>
                <a:ea typeface="Arial"/>
                <a:cs typeface="Arial"/>
                <a:sym typeface="Arial"/>
              </a:rPr>
              <a:t>Nested loops can be easily setup in Assembly language by using two registers for the two loop counters and updating the right register in the right loop.</a:t>
            </a:r>
          </a:p>
          <a:p>
            <a:pPr marL="0" marR="0" lvl="1" indent="0" algn="l" rtl="0">
              <a:spcBef>
                <a:spcPts val="480"/>
              </a:spcBef>
              <a:spcAft>
                <a:spcPts val="0"/>
              </a:spcAft>
              <a:buClr>
                <a:schemeClr val="dk1"/>
              </a:buClr>
              <a:buSzPct val="60416"/>
              <a:buFont typeface="Arial"/>
              <a:buChar char="●"/>
            </a:pPr>
            <a:r>
              <a:rPr lang="en-US" sz="2400" b="0" i="0" u="none" strike="noStrike" cap="none">
                <a:solidFill>
                  <a:schemeClr val="dk1"/>
                </a:solidFill>
                <a:latin typeface="Arial"/>
                <a:ea typeface="Arial"/>
                <a:cs typeface="Arial"/>
                <a:sym typeface="Arial"/>
              </a:rPr>
              <a:t>In the figure, the body of loop2 can be before or after loop1.</a:t>
            </a:r>
          </a:p>
          <a:p>
            <a:pPr marL="342900" marR="0" lvl="0" indent="-342900" algn="l" rtl="0">
              <a:spcBef>
                <a:spcPts val="640"/>
              </a:spcBef>
              <a:spcAft>
                <a:spcPts val="0"/>
              </a:spcAft>
              <a:buClr>
                <a:schemeClr val="dk1"/>
              </a:buClr>
              <a:buSzPct val="59375"/>
              <a:buFont typeface="Arial"/>
              <a:buNone/>
            </a:pPr>
            <a:endParaRPr sz="3200" b="0" i="0" u="none" strike="noStrike" cap="none">
              <a:solidFill>
                <a:schemeClr val="dk1"/>
              </a:solidFill>
              <a:latin typeface="Arial"/>
              <a:ea typeface="Arial"/>
              <a:cs typeface="Arial"/>
              <a:sym typeface="Arial"/>
            </a:endParaRPr>
          </a:p>
        </p:txBody>
      </p:sp>
      <p:grpSp>
        <p:nvGrpSpPr>
          <p:cNvPr id="2" name="Shape 343"/>
          <p:cNvGrpSpPr/>
          <p:nvPr/>
        </p:nvGrpSpPr>
        <p:grpSpPr>
          <a:xfrm>
            <a:off x="5667374" y="1174750"/>
            <a:ext cx="1792287" cy="4841874"/>
            <a:chOff x="0" y="0"/>
            <a:chExt cx="2147483647" cy="2147483647"/>
          </a:xfrm>
        </p:grpSpPr>
        <p:sp>
          <p:nvSpPr>
            <p:cNvPr id="344" name="Shape 344"/>
            <p:cNvSpPr txBox="1"/>
            <p:nvPr/>
          </p:nvSpPr>
          <p:spPr>
            <a:xfrm>
              <a:off x="589654556" y="394996396"/>
              <a:ext cx="1536905359" cy="93644150"/>
            </a:xfrm>
            <a:prstGeom prst="rect">
              <a:avLst/>
            </a:prstGeom>
            <a:solidFill>
              <a:srgbClr val="FFFFCC"/>
            </a:solidFill>
            <a:ln w="9525" cap="rnd" cmpd="sng">
              <a:solidFill>
                <a:schemeClr val="dk1"/>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Font typeface="Arial"/>
                <a:buNone/>
              </a:pPr>
              <a:r>
                <a:rPr lang="en-US" sz="1200" b="0" i="0" u="none" strike="noStrike" cap="none">
                  <a:solidFill>
                    <a:schemeClr val="dk1"/>
                  </a:solidFill>
                  <a:latin typeface="Arial"/>
                  <a:ea typeface="Arial"/>
                  <a:cs typeface="Arial"/>
                  <a:sym typeface="Arial"/>
                </a:rPr>
                <a:t>Initialize loop 1</a:t>
              </a:r>
            </a:p>
          </p:txBody>
        </p:sp>
        <p:sp>
          <p:nvSpPr>
            <p:cNvPr id="345" name="Shape 345"/>
            <p:cNvSpPr txBox="1"/>
            <p:nvPr/>
          </p:nvSpPr>
          <p:spPr>
            <a:xfrm>
              <a:off x="589654556" y="780839368"/>
              <a:ext cx="1536905359" cy="99276897"/>
            </a:xfrm>
            <a:prstGeom prst="rect">
              <a:avLst/>
            </a:prstGeom>
            <a:solidFill>
              <a:srgbClr val="FFFFCC"/>
            </a:solidFill>
            <a:ln w="9525" cap="rnd" cmpd="sng">
              <a:solidFill>
                <a:schemeClr val="dk1"/>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Font typeface="Arial"/>
                <a:buNone/>
              </a:pPr>
              <a:r>
                <a:rPr lang="en-US" sz="1200" b="0" i="0" u="none" strike="noStrike" cap="none">
                  <a:solidFill>
                    <a:schemeClr val="dk1"/>
                  </a:solidFill>
                  <a:latin typeface="Arial"/>
                  <a:ea typeface="Arial"/>
                  <a:cs typeface="Arial"/>
                  <a:sym typeface="Arial"/>
                </a:rPr>
                <a:t>Update the count1</a:t>
              </a:r>
            </a:p>
          </p:txBody>
        </p:sp>
        <p:cxnSp>
          <p:nvCxnSpPr>
            <p:cNvPr id="346" name="Shape 346"/>
            <p:cNvCxnSpPr/>
            <p:nvPr/>
          </p:nvCxnSpPr>
          <p:spPr>
            <a:xfrm rot="10800000">
              <a:off x="281512602" y="1153304396"/>
              <a:ext cx="523081010" cy="0"/>
            </a:xfrm>
            <a:prstGeom prst="straightConnector1">
              <a:avLst/>
            </a:prstGeom>
            <a:noFill/>
            <a:ln w="9525" cap="rnd" cmpd="sng">
              <a:solidFill>
                <a:schemeClr val="dk1"/>
              </a:solidFill>
              <a:prstDash val="solid"/>
              <a:miter/>
              <a:headEnd type="none" w="med" len="med"/>
              <a:tailEnd type="none" w="med" len="med"/>
            </a:ln>
          </p:spPr>
        </p:cxnSp>
        <p:sp>
          <p:nvSpPr>
            <p:cNvPr id="347" name="Shape 347"/>
            <p:cNvSpPr txBox="1"/>
            <p:nvPr/>
          </p:nvSpPr>
          <p:spPr>
            <a:xfrm>
              <a:off x="604871101" y="594254550"/>
              <a:ext cx="1536905359" cy="93644591"/>
            </a:xfrm>
            <a:prstGeom prst="rect">
              <a:avLst/>
            </a:prstGeom>
            <a:solidFill>
              <a:srgbClr val="FFFFCC"/>
            </a:solidFill>
            <a:ln w="9525" cap="rnd" cmpd="sng">
              <a:solidFill>
                <a:schemeClr val="dk1"/>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Font typeface="Arial"/>
                <a:buNone/>
              </a:pPr>
              <a:r>
                <a:rPr lang="en-US" sz="1200" b="0" i="0" u="none" strike="noStrike" cap="none">
                  <a:solidFill>
                    <a:schemeClr val="dk1"/>
                  </a:solidFill>
                  <a:latin typeface="Arial"/>
                  <a:ea typeface="Arial"/>
                  <a:cs typeface="Arial"/>
                  <a:sym typeface="Arial"/>
                </a:rPr>
                <a:t>Body of loop 1</a:t>
              </a:r>
            </a:p>
          </p:txBody>
        </p:sp>
        <p:cxnSp>
          <p:nvCxnSpPr>
            <p:cNvPr id="348" name="Shape 348"/>
            <p:cNvCxnSpPr/>
            <p:nvPr/>
          </p:nvCxnSpPr>
          <p:spPr>
            <a:xfrm rot="10800000">
              <a:off x="266295878" y="535110658"/>
              <a:ext cx="0" cy="618898010"/>
            </a:xfrm>
            <a:prstGeom prst="straightConnector1">
              <a:avLst/>
            </a:prstGeom>
            <a:noFill/>
            <a:ln w="9525" cap="rnd" cmpd="sng">
              <a:solidFill>
                <a:schemeClr val="dk1"/>
              </a:solidFill>
              <a:prstDash val="solid"/>
              <a:miter/>
              <a:headEnd type="none" w="med" len="med"/>
              <a:tailEnd type="none" w="med" len="med"/>
            </a:ln>
          </p:spPr>
        </p:cxnSp>
        <p:cxnSp>
          <p:nvCxnSpPr>
            <p:cNvPr id="349" name="Shape 349"/>
            <p:cNvCxnSpPr/>
            <p:nvPr/>
          </p:nvCxnSpPr>
          <p:spPr>
            <a:xfrm>
              <a:off x="266295878" y="526661563"/>
              <a:ext cx="1089909942" cy="0"/>
            </a:xfrm>
            <a:prstGeom prst="straightConnector1">
              <a:avLst/>
            </a:prstGeom>
            <a:noFill/>
            <a:ln w="9525" cap="rnd" cmpd="sng">
              <a:solidFill>
                <a:schemeClr val="dk1"/>
              </a:solidFill>
              <a:prstDash val="solid"/>
              <a:miter/>
              <a:headEnd type="none" w="med" len="med"/>
              <a:tailEnd type="triangle" w="med" len="med"/>
            </a:ln>
          </p:spPr>
        </p:cxnSp>
        <p:sp>
          <p:nvSpPr>
            <p:cNvPr id="350" name="Shape 350"/>
            <p:cNvSpPr txBox="1"/>
            <p:nvPr/>
          </p:nvSpPr>
          <p:spPr>
            <a:xfrm>
              <a:off x="397541825" y="1044874087"/>
              <a:ext cx="443191171" cy="121808310"/>
            </a:xfrm>
            <a:prstGeom prst="rect">
              <a:avLst/>
            </a:prstGeom>
            <a:noFill/>
            <a:ln>
              <a:noFill/>
            </a:ln>
          </p:spPr>
          <p:txBody>
            <a:bodyPr lIns="91425" tIns="45700" rIns="91425" bIns="45700" anchor="t" anchorCtr="0">
              <a:noAutofit/>
            </a:bodyPr>
            <a:lstStyle/>
            <a:p>
              <a:pPr marL="0" marR="0" lvl="0" indent="0" algn="l" rtl="0">
                <a:spcBef>
                  <a:spcPts val="0"/>
                </a:spcBef>
                <a:buSzPct val="25000"/>
                <a:buFont typeface="Arial"/>
                <a:buNone/>
              </a:pPr>
              <a:r>
                <a:rPr lang="en-US" sz="1200" b="0" i="0" u="none" strike="noStrike" cap="none">
                  <a:solidFill>
                    <a:schemeClr val="dk1"/>
                  </a:solidFill>
                  <a:latin typeface="Arial"/>
                  <a:ea typeface="Arial"/>
                  <a:cs typeface="Arial"/>
                  <a:sym typeface="Arial"/>
                </a:rPr>
                <a:t>No</a:t>
              </a:r>
            </a:p>
          </p:txBody>
        </p:sp>
        <p:sp>
          <p:nvSpPr>
            <p:cNvPr id="351" name="Shape 351"/>
            <p:cNvSpPr txBox="1"/>
            <p:nvPr/>
          </p:nvSpPr>
          <p:spPr>
            <a:xfrm>
              <a:off x="610578287" y="210524061"/>
              <a:ext cx="1536905359" cy="99276897"/>
            </a:xfrm>
            <a:prstGeom prst="rect">
              <a:avLst/>
            </a:prstGeom>
            <a:solidFill>
              <a:srgbClr val="CCFFCC"/>
            </a:solidFill>
            <a:ln w="9525" cap="rnd" cmpd="sng">
              <a:solidFill>
                <a:schemeClr val="dk1"/>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Font typeface="Arial"/>
                <a:buNone/>
              </a:pPr>
              <a:r>
                <a:rPr lang="en-US" sz="1200" b="0" i="0" u="none" strike="noStrike" cap="none">
                  <a:solidFill>
                    <a:schemeClr val="dk1"/>
                  </a:solidFill>
                  <a:latin typeface="Arial"/>
                  <a:ea typeface="Arial"/>
                  <a:cs typeface="Arial"/>
                  <a:sym typeface="Arial"/>
                </a:rPr>
                <a:t>Body of loop 2</a:t>
              </a:r>
            </a:p>
          </p:txBody>
        </p:sp>
        <p:cxnSp>
          <p:nvCxnSpPr>
            <p:cNvPr id="352" name="Shape 352"/>
            <p:cNvCxnSpPr/>
            <p:nvPr/>
          </p:nvCxnSpPr>
          <p:spPr>
            <a:xfrm>
              <a:off x="0" y="142931130"/>
              <a:ext cx="1373323786" cy="0"/>
            </a:xfrm>
            <a:prstGeom prst="straightConnector1">
              <a:avLst/>
            </a:prstGeom>
            <a:noFill/>
            <a:ln w="9525" cap="rnd" cmpd="sng">
              <a:solidFill>
                <a:schemeClr val="dk1"/>
              </a:solidFill>
              <a:prstDash val="solid"/>
              <a:miter/>
              <a:headEnd type="none" w="med" len="med"/>
              <a:tailEnd type="triangle" w="med" len="med"/>
            </a:ln>
          </p:spPr>
        </p:cxnSp>
        <p:sp>
          <p:nvSpPr>
            <p:cNvPr id="353" name="Shape 353"/>
            <p:cNvSpPr txBox="1"/>
            <p:nvPr/>
          </p:nvSpPr>
          <p:spPr>
            <a:xfrm>
              <a:off x="578241996" y="1434237642"/>
              <a:ext cx="1536905359" cy="93644150"/>
            </a:xfrm>
            <a:prstGeom prst="rect">
              <a:avLst/>
            </a:prstGeom>
            <a:solidFill>
              <a:srgbClr val="CCFFCC"/>
            </a:solidFill>
            <a:ln w="9525" cap="rnd" cmpd="sng">
              <a:solidFill>
                <a:schemeClr val="dk1"/>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Font typeface="Arial"/>
                <a:buNone/>
              </a:pPr>
              <a:r>
                <a:rPr lang="en-US" sz="1200" b="0" i="0" u="none" strike="noStrike" cap="none">
                  <a:solidFill>
                    <a:schemeClr val="dk1"/>
                  </a:solidFill>
                  <a:latin typeface="Arial"/>
                  <a:ea typeface="Arial"/>
                  <a:cs typeface="Arial"/>
                  <a:sym typeface="Arial"/>
                </a:rPr>
                <a:t>Update the count 2</a:t>
              </a:r>
            </a:p>
          </p:txBody>
        </p:sp>
        <p:sp>
          <p:nvSpPr>
            <p:cNvPr id="354" name="Shape 354"/>
            <p:cNvSpPr/>
            <p:nvPr/>
          </p:nvSpPr>
          <p:spPr>
            <a:xfrm>
              <a:off x="802691018" y="1615189506"/>
              <a:ext cx="1074693100" cy="397812789"/>
            </a:xfrm>
            <a:prstGeom prst="diamond">
              <a:avLst/>
            </a:prstGeom>
            <a:solidFill>
              <a:srgbClr val="CCFFCC"/>
            </a:solidFill>
            <a:ln w="9525" cap="rnd" cmpd="sng">
              <a:solidFill>
                <a:schemeClr val="dk1"/>
              </a:solidFill>
              <a:prstDash val="solid"/>
              <a:miter/>
              <a:headEnd type="none" w="med" len="med"/>
              <a:tailEnd type="none" w="med" len="med"/>
            </a:ln>
          </p:spPr>
          <p:txBody>
            <a:bodyPr lIns="91425" tIns="45700" rIns="91425" bIns="45700" anchor="ctr" anchorCtr="0">
              <a:noAutofit/>
            </a:bodyPr>
            <a:lstStyle/>
            <a:p>
              <a:pPr lvl="0">
                <a:spcBef>
                  <a:spcPts val="0"/>
                </a:spcBef>
                <a:buNone/>
              </a:pPr>
              <a:endParaRPr/>
            </a:p>
          </p:txBody>
        </p:sp>
        <p:cxnSp>
          <p:nvCxnSpPr>
            <p:cNvPr id="355" name="Shape 355"/>
            <p:cNvCxnSpPr/>
            <p:nvPr/>
          </p:nvCxnSpPr>
          <p:spPr>
            <a:xfrm rot="10800000">
              <a:off x="17119952" y="1813743722"/>
              <a:ext cx="776061101" cy="0"/>
            </a:xfrm>
            <a:prstGeom prst="straightConnector1">
              <a:avLst/>
            </a:prstGeom>
            <a:noFill/>
            <a:ln w="9525" cap="rnd" cmpd="sng">
              <a:solidFill>
                <a:schemeClr val="dk1"/>
              </a:solidFill>
              <a:prstDash val="solid"/>
              <a:miter/>
              <a:headEnd type="none" w="med" len="med"/>
              <a:tailEnd type="none" w="med" len="med"/>
            </a:ln>
          </p:spPr>
        </p:cxnSp>
        <p:sp>
          <p:nvSpPr>
            <p:cNvPr id="356" name="Shape 356"/>
            <p:cNvSpPr txBox="1"/>
            <p:nvPr/>
          </p:nvSpPr>
          <p:spPr>
            <a:xfrm>
              <a:off x="401345810" y="1699680571"/>
              <a:ext cx="443191171" cy="121808310"/>
            </a:xfrm>
            <a:prstGeom prst="rect">
              <a:avLst/>
            </a:prstGeom>
            <a:noFill/>
            <a:ln>
              <a:noFill/>
            </a:ln>
          </p:spPr>
          <p:txBody>
            <a:bodyPr lIns="91425" tIns="45700" rIns="91425" bIns="45700" anchor="t" anchorCtr="0">
              <a:noAutofit/>
            </a:bodyPr>
            <a:lstStyle/>
            <a:p>
              <a:pPr marL="0" marR="0" lvl="0" indent="0" algn="l" rtl="0">
                <a:spcBef>
                  <a:spcPts val="0"/>
                </a:spcBef>
                <a:buSzPct val="25000"/>
                <a:buFont typeface="Arial"/>
                <a:buNone/>
              </a:pPr>
              <a:r>
                <a:rPr lang="en-US" sz="1200" b="0" i="0" u="none" strike="noStrike" cap="none">
                  <a:solidFill>
                    <a:schemeClr val="dk1"/>
                  </a:solidFill>
                  <a:latin typeface="Arial"/>
                  <a:ea typeface="Arial"/>
                  <a:cs typeface="Arial"/>
                  <a:sym typeface="Arial"/>
                </a:rPr>
                <a:t>No</a:t>
              </a:r>
            </a:p>
          </p:txBody>
        </p:sp>
        <p:grpSp>
          <p:nvGrpSpPr>
            <p:cNvPr id="3" name="Shape 357"/>
            <p:cNvGrpSpPr/>
            <p:nvPr/>
          </p:nvGrpSpPr>
          <p:grpSpPr>
            <a:xfrm>
              <a:off x="606774301" y="0"/>
              <a:ext cx="1536905359" cy="2147483647"/>
              <a:chOff x="0" y="0"/>
              <a:chExt cx="2147483647" cy="2147483647"/>
            </a:xfrm>
          </p:grpSpPr>
          <p:grpSp>
            <p:nvGrpSpPr>
              <p:cNvPr id="4" name="Shape 358"/>
              <p:cNvGrpSpPr/>
              <p:nvPr/>
            </p:nvGrpSpPr>
            <p:grpSpPr>
              <a:xfrm>
                <a:off x="289696497" y="954750250"/>
                <a:ext cx="1501644788" cy="397812800"/>
                <a:chOff x="4184650" y="4071937"/>
                <a:chExt cx="935037" cy="935037"/>
              </a:xfrm>
            </p:grpSpPr>
            <p:sp>
              <p:nvSpPr>
                <p:cNvPr id="359" name="Shape 359"/>
                <p:cNvSpPr/>
                <p:nvPr/>
              </p:nvSpPr>
              <p:spPr>
                <a:xfrm>
                  <a:off x="4184650" y="4071937"/>
                  <a:ext cx="935037" cy="935037"/>
                </a:xfrm>
                <a:prstGeom prst="diamond">
                  <a:avLst/>
                </a:prstGeom>
                <a:solidFill>
                  <a:srgbClr val="FFFFCC"/>
                </a:solidFill>
                <a:ln w="9525" cap="rnd" cmpd="sng">
                  <a:solidFill>
                    <a:schemeClr val="dk1"/>
                  </a:solidFill>
                  <a:prstDash val="solid"/>
                  <a:miter/>
                  <a:headEnd type="none" w="med" len="med"/>
                  <a:tailEnd type="none" w="med" len="med"/>
                </a:ln>
              </p:spPr>
              <p:txBody>
                <a:bodyPr lIns="91425" tIns="45700" rIns="91425" bIns="45700" anchor="ctr" anchorCtr="0">
                  <a:noAutofit/>
                </a:bodyPr>
                <a:lstStyle/>
                <a:p>
                  <a:pPr lvl="0">
                    <a:spcBef>
                      <a:spcPts val="0"/>
                    </a:spcBef>
                    <a:buNone/>
                  </a:pPr>
                  <a:endParaRPr/>
                </a:p>
              </p:txBody>
            </p:sp>
            <p:sp>
              <p:nvSpPr>
                <p:cNvPr id="360" name="Shape 360"/>
                <p:cNvSpPr txBox="1"/>
                <p:nvPr/>
              </p:nvSpPr>
              <p:spPr>
                <a:xfrm>
                  <a:off x="4344987" y="4224337"/>
                  <a:ext cx="652462" cy="666749"/>
                </a:xfrm>
                <a:prstGeom prst="rect">
                  <a:avLst/>
                </a:prstGeom>
                <a:noFill/>
                <a:ln>
                  <a:noFill/>
                </a:ln>
              </p:spPr>
              <p:txBody>
                <a:bodyPr lIns="91425" tIns="45700" rIns="91425" bIns="45700" anchor="t" anchorCtr="0">
                  <a:noAutofit/>
                </a:bodyPr>
                <a:lstStyle/>
                <a:p>
                  <a:pPr marL="0" marR="0" lvl="0" indent="0" algn="ctr" rtl="0">
                    <a:spcBef>
                      <a:spcPts val="0"/>
                    </a:spcBef>
                    <a:buSzPct val="25000"/>
                    <a:buFont typeface="Arial"/>
                    <a:buNone/>
                  </a:pPr>
                  <a:r>
                    <a:rPr lang="en-US" sz="1200" b="0" i="0" u="none" strike="noStrike" cap="none">
                      <a:solidFill>
                        <a:schemeClr val="dk1"/>
                      </a:solidFill>
                      <a:latin typeface="Arial"/>
                      <a:ea typeface="Arial"/>
                      <a:cs typeface="Arial"/>
                      <a:sym typeface="Arial"/>
                    </a:rPr>
                    <a:t>Is this</a:t>
                  </a:r>
                </a:p>
                <a:p>
                  <a:pPr marL="0" marR="0" lvl="0" indent="0" algn="ctr" rtl="0">
                    <a:spcBef>
                      <a:spcPts val="0"/>
                    </a:spcBef>
                    <a:buSzPct val="25000"/>
                    <a:buFont typeface="Arial"/>
                    <a:buNone/>
                  </a:pPr>
                  <a:r>
                    <a:rPr lang="en-US" sz="1200" b="0" i="0" u="none" strike="noStrike" cap="none">
                      <a:solidFill>
                        <a:schemeClr val="dk1"/>
                      </a:solidFill>
                      <a:latin typeface="Arial"/>
                      <a:ea typeface="Arial"/>
                      <a:cs typeface="Arial"/>
                      <a:sym typeface="Arial"/>
                    </a:rPr>
                    <a:t>Final</a:t>
                  </a:r>
                </a:p>
                <a:p>
                  <a:pPr marL="0" marR="0" lvl="0" indent="0" algn="ctr" rtl="0">
                    <a:spcBef>
                      <a:spcPts val="0"/>
                    </a:spcBef>
                    <a:buSzPct val="25000"/>
                    <a:buFont typeface="Arial"/>
                    <a:buNone/>
                  </a:pPr>
                  <a:r>
                    <a:rPr lang="en-US" sz="1200" b="0" i="0" u="none" strike="noStrike" cap="none">
                      <a:solidFill>
                        <a:schemeClr val="dk1"/>
                      </a:solidFill>
                      <a:latin typeface="Arial"/>
                      <a:ea typeface="Arial"/>
                      <a:cs typeface="Arial"/>
                      <a:sym typeface="Arial"/>
                    </a:rPr>
                    <a:t>Count?</a:t>
                  </a:r>
                </a:p>
              </p:txBody>
            </p:sp>
          </p:grpSp>
          <p:cxnSp>
            <p:nvCxnSpPr>
              <p:cNvPr id="361" name="Shape 361"/>
              <p:cNvCxnSpPr/>
              <p:nvPr/>
            </p:nvCxnSpPr>
            <p:spPr>
              <a:xfrm>
                <a:off x="1047164093" y="482303994"/>
                <a:ext cx="0" cy="110542380"/>
              </a:xfrm>
              <a:prstGeom prst="straightConnector1">
                <a:avLst/>
              </a:prstGeom>
              <a:noFill/>
              <a:ln w="9525" cap="rnd" cmpd="sng">
                <a:solidFill>
                  <a:schemeClr val="dk1"/>
                </a:solidFill>
                <a:prstDash val="solid"/>
                <a:miter/>
                <a:headEnd type="none" w="med" len="med"/>
                <a:tailEnd type="triangle" w="med" len="med"/>
              </a:ln>
            </p:spPr>
          </p:cxnSp>
          <p:cxnSp>
            <p:nvCxnSpPr>
              <p:cNvPr id="362" name="Shape 362"/>
              <p:cNvCxnSpPr/>
              <p:nvPr/>
            </p:nvCxnSpPr>
            <p:spPr>
              <a:xfrm>
                <a:off x="1047164093" y="887861578"/>
                <a:ext cx="0" cy="72521360"/>
              </a:xfrm>
              <a:prstGeom prst="straightConnector1">
                <a:avLst/>
              </a:prstGeom>
              <a:noFill/>
              <a:ln w="9525" cap="rnd" cmpd="sng">
                <a:solidFill>
                  <a:schemeClr val="dk1"/>
                </a:solidFill>
                <a:prstDash val="solid"/>
                <a:miter/>
                <a:headEnd type="none" w="med" len="med"/>
                <a:tailEnd type="triangle" w="med" len="med"/>
              </a:ln>
            </p:spPr>
          </p:cxnSp>
          <p:cxnSp>
            <p:nvCxnSpPr>
              <p:cNvPr id="363" name="Shape 363"/>
              <p:cNvCxnSpPr/>
              <p:nvPr/>
            </p:nvCxnSpPr>
            <p:spPr>
              <a:xfrm>
                <a:off x="1047164093" y="1357491343"/>
                <a:ext cx="0" cy="83082975"/>
              </a:xfrm>
              <a:prstGeom prst="straightConnector1">
                <a:avLst/>
              </a:prstGeom>
              <a:noFill/>
              <a:ln w="9525" cap="rnd" cmpd="sng">
                <a:solidFill>
                  <a:schemeClr val="dk1"/>
                </a:solidFill>
                <a:prstDash val="solid"/>
                <a:miter/>
                <a:headEnd type="none" w="med" len="med"/>
                <a:tailEnd type="triangle" w="med" len="med"/>
              </a:ln>
            </p:spPr>
          </p:cxnSp>
          <p:cxnSp>
            <p:nvCxnSpPr>
              <p:cNvPr id="364" name="Shape 364"/>
              <p:cNvCxnSpPr/>
              <p:nvPr/>
            </p:nvCxnSpPr>
            <p:spPr>
              <a:xfrm>
                <a:off x="1052479317" y="692123671"/>
                <a:ext cx="0" cy="99981212"/>
              </a:xfrm>
              <a:prstGeom prst="straightConnector1">
                <a:avLst/>
              </a:prstGeom>
              <a:noFill/>
              <a:ln w="9525" cap="rnd" cmpd="sng">
                <a:solidFill>
                  <a:schemeClr val="dk1"/>
                </a:solidFill>
                <a:prstDash val="solid"/>
                <a:miter/>
                <a:headEnd type="none" w="med" len="med"/>
                <a:tailEnd type="triangle" w="med" len="med"/>
              </a:ln>
            </p:spPr>
          </p:cxnSp>
          <p:sp>
            <p:nvSpPr>
              <p:cNvPr id="365" name="Shape 365"/>
              <p:cNvSpPr txBox="1"/>
              <p:nvPr/>
            </p:nvSpPr>
            <p:spPr>
              <a:xfrm>
                <a:off x="1057794541" y="1331440175"/>
                <a:ext cx="704310020" cy="121807875"/>
              </a:xfrm>
              <a:prstGeom prst="rect">
                <a:avLst/>
              </a:prstGeom>
              <a:noFill/>
              <a:ln>
                <a:noFill/>
              </a:ln>
            </p:spPr>
            <p:txBody>
              <a:bodyPr lIns="91425" tIns="45700" rIns="91425" bIns="45700" anchor="t" anchorCtr="0">
                <a:noAutofit/>
              </a:bodyPr>
              <a:lstStyle/>
              <a:p>
                <a:pPr marL="0" marR="0" lvl="0" indent="0" algn="l" rtl="0">
                  <a:spcBef>
                    <a:spcPts val="0"/>
                  </a:spcBef>
                  <a:buSzPct val="25000"/>
                  <a:buFont typeface="Arial"/>
                  <a:buNone/>
                </a:pPr>
                <a:r>
                  <a:rPr lang="en-US" sz="1200" b="0" i="0" u="none" strike="noStrike" cap="none">
                    <a:solidFill>
                      <a:schemeClr val="dk1"/>
                    </a:solidFill>
                    <a:latin typeface="Arial"/>
                    <a:ea typeface="Arial"/>
                    <a:cs typeface="Arial"/>
                    <a:sym typeface="Arial"/>
                  </a:rPr>
                  <a:t>Yes</a:t>
                </a:r>
              </a:p>
            </p:txBody>
          </p:sp>
          <p:sp>
            <p:nvSpPr>
              <p:cNvPr id="366" name="Shape 366"/>
              <p:cNvSpPr txBox="1"/>
              <p:nvPr/>
            </p:nvSpPr>
            <p:spPr>
              <a:xfrm>
                <a:off x="0" y="0"/>
                <a:ext cx="2147483647" cy="99277338"/>
              </a:xfrm>
              <a:prstGeom prst="rect">
                <a:avLst/>
              </a:prstGeom>
              <a:solidFill>
                <a:srgbClr val="CCFFCC"/>
              </a:solidFill>
              <a:ln w="9525" cap="rnd" cmpd="sng">
                <a:solidFill>
                  <a:schemeClr val="dk1"/>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Font typeface="Arial"/>
                  <a:buNone/>
                </a:pPr>
                <a:r>
                  <a:rPr lang="en-US" sz="1200" b="0" i="0" u="none" strike="noStrike" cap="none">
                    <a:solidFill>
                      <a:schemeClr val="dk1"/>
                    </a:solidFill>
                    <a:latin typeface="Arial"/>
                    <a:ea typeface="Arial"/>
                    <a:cs typeface="Arial"/>
                    <a:sym typeface="Arial"/>
                  </a:rPr>
                  <a:t>Initialize loop 2</a:t>
                </a:r>
              </a:p>
            </p:txBody>
          </p:sp>
          <p:cxnSp>
            <p:nvCxnSpPr>
              <p:cNvPr id="367" name="Shape 367"/>
              <p:cNvCxnSpPr/>
              <p:nvPr/>
            </p:nvCxnSpPr>
            <p:spPr>
              <a:xfrm>
                <a:off x="1071082601" y="98573058"/>
                <a:ext cx="0" cy="110542827"/>
              </a:xfrm>
              <a:prstGeom prst="straightConnector1">
                <a:avLst/>
              </a:prstGeom>
              <a:noFill/>
              <a:ln w="9525" cap="rnd" cmpd="sng">
                <a:solidFill>
                  <a:schemeClr val="dk1"/>
                </a:solidFill>
                <a:prstDash val="solid"/>
                <a:miter/>
                <a:headEnd type="none" w="med" len="med"/>
                <a:tailEnd type="triangle" w="med" len="med"/>
              </a:ln>
            </p:spPr>
          </p:cxnSp>
          <p:cxnSp>
            <p:nvCxnSpPr>
              <p:cNvPr id="368" name="Shape 368"/>
              <p:cNvCxnSpPr/>
              <p:nvPr/>
            </p:nvCxnSpPr>
            <p:spPr>
              <a:xfrm>
                <a:off x="1076398668" y="314729794"/>
                <a:ext cx="0" cy="83082975"/>
              </a:xfrm>
              <a:prstGeom prst="straightConnector1">
                <a:avLst/>
              </a:prstGeom>
              <a:noFill/>
              <a:ln w="9525" cap="rnd" cmpd="sng">
                <a:solidFill>
                  <a:schemeClr val="dk1"/>
                </a:solidFill>
                <a:prstDash val="solid"/>
                <a:miter/>
                <a:headEnd type="none" w="med" len="med"/>
                <a:tailEnd type="triangle" w="med" len="med"/>
              </a:ln>
            </p:spPr>
          </p:cxnSp>
          <p:sp>
            <p:nvSpPr>
              <p:cNvPr id="369" name="Shape 369"/>
              <p:cNvSpPr txBox="1"/>
              <p:nvPr/>
            </p:nvSpPr>
            <p:spPr>
              <a:xfrm>
                <a:off x="531555304" y="1679966071"/>
                <a:ext cx="1047164081" cy="283749716"/>
              </a:xfrm>
              <a:prstGeom prst="rect">
                <a:avLst/>
              </a:prstGeom>
              <a:noFill/>
              <a:ln>
                <a:noFill/>
              </a:ln>
            </p:spPr>
            <p:txBody>
              <a:bodyPr lIns="91425" tIns="45700" rIns="91425" bIns="45700" anchor="t" anchorCtr="0">
                <a:noAutofit/>
              </a:bodyPr>
              <a:lstStyle/>
              <a:p>
                <a:pPr marL="0" marR="0" lvl="0" indent="0" algn="ctr" rtl="0">
                  <a:spcBef>
                    <a:spcPts val="0"/>
                  </a:spcBef>
                  <a:buSzPct val="25000"/>
                  <a:buFont typeface="Arial"/>
                  <a:buNone/>
                </a:pPr>
                <a:r>
                  <a:rPr lang="en-US" sz="1200" b="0" i="0" u="none" strike="noStrike" cap="none">
                    <a:solidFill>
                      <a:schemeClr val="dk1"/>
                    </a:solidFill>
                    <a:latin typeface="Arial"/>
                    <a:ea typeface="Arial"/>
                    <a:cs typeface="Arial"/>
                    <a:sym typeface="Arial"/>
                  </a:rPr>
                  <a:t>Is this</a:t>
                </a:r>
              </a:p>
              <a:p>
                <a:pPr marL="0" marR="0" lvl="0" indent="0" algn="ctr" rtl="0">
                  <a:spcBef>
                    <a:spcPts val="0"/>
                  </a:spcBef>
                  <a:buSzPct val="25000"/>
                  <a:buFont typeface="Arial"/>
                  <a:buNone/>
                </a:pPr>
                <a:r>
                  <a:rPr lang="en-US" sz="1200" b="0" i="0" u="none" strike="noStrike" cap="none">
                    <a:solidFill>
                      <a:schemeClr val="dk1"/>
                    </a:solidFill>
                    <a:latin typeface="Arial"/>
                    <a:ea typeface="Arial"/>
                    <a:cs typeface="Arial"/>
                    <a:sym typeface="Arial"/>
                  </a:rPr>
                  <a:t>Final</a:t>
                </a:r>
              </a:p>
              <a:p>
                <a:pPr marL="0" marR="0" lvl="0" indent="0" algn="ctr" rtl="0">
                  <a:spcBef>
                    <a:spcPts val="0"/>
                  </a:spcBef>
                  <a:buSzPct val="25000"/>
                  <a:buFont typeface="Arial"/>
                  <a:buNone/>
                </a:pPr>
                <a:r>
                  <a:rPr lang="en-US" sz="1200" b="0" i="0" u="none" strike="noStrike" cap="none">
                    <a:solidFill>
                      <a:schemeClr val="dk1"/>
                    </a:solidFill>
                    <a:latin typeface="Arial"/>
                    <a:ea typeface="Arial"/>
                    <a:cs typeface="Arial"/>
                    <a:sym typeface="Arial"/>
                  </a:rPr>
                  <a:t>Count?</a:t>
                </a:r>
              </a:p>
            </p:txBody>
          </p:sp>
          <p:cxnSp>
            <p:nvCxnSpPr>
              <p:cNvPr id="370" name="Shape 370"/>
              <p:cNvCxnSpPr/>
              <p:nvPr/>
            </p:nvCxnSpPr>
            <p:spPr>
              <a:xfrm>
                <a:off x="1031216733" y="1527177970"/>
                <a:ext cx="0" cy="93644150"/>
              </a:xfrm>
              <a:prstGeom prst="straightConnector1">
                <a:avLst/>
              </a:prstGeom>
              <a:noFill/>
              <a:ln w="9525" cap="rnd" cmpd="sng">
                <a:solidFill>
                  <a:schemeClr val="dk1"/>
                </a:solidFill>
                <a:prstDash val="solid"/>
                <a:miter/>
                <a:headEnd type="none" w="med" len="med"/>
                <a:tailEnd type="triangle" w="med" len="med"/>
              </a:ln>
            </p:spPr>
          </p:cxnSp>
          <p:cxnSp>
            <p:nvCxnSpPr>
              <p:cNvPr id="371" name="Shape 371"/>
              <p:cNvCxnSpPr/>
              <p:nvPr/>
            </p:nvCxnSpPr>
            <p:spPr>
              <a:xfrm>
                <a:off x="1031216733" y="2012297939"/>
                <a:ext cx="0" cy="127441064"/>
              </a:xfrm>
              <a:prstGeom prst="straightConnector1">
                <a:avLst/>
              </a:prstGeom>
              <a:noFill/>
              <a:ln w="9525" cap="rnd" cmpd="sng">
                <a:solidFill>
                  <a:schemeClr val="dk1"/>
                </a:solidFill>
                <a:prstDash val="solid"/>
                <a:miter/>
                <a:headEnd type="none" w="med" len="med"/>
                <a:tailEnd type="triangle" w="med" len="med"/>
              </a:ln>
            </p:spPr>
          </p:cxnSp>
          <p:sp>
            <p:nvSpPr>
              <p:cNvPr id="372" name="Shape 372"/>
              <p:cNvSpPr txBox="1"/>
              <p:nvPr/>
            </p:nvSpPr>
            <p:spPr>
              <a:xfrm>
                <a:off x="1063110608" y="2025675771"/>
                <a:ext cx="704310020" cy="121807875"/>
              </a:xfrm>
              <a:prstGeom prst="rect">
                <a:avLst/>
              </a:prstGeom>
              <a:noFill/>
              <a:ln>
                <a:noFill/>
              </a:ln>
            </p:spPr>
            <p:txBody>
              <a:bodyPr lIns="91425" tIns="45700" rIns="91425" bIns="45700" anchor="t" anchorCtr="0">
                <a:noAutofit/>
              </a:bodyPr>
              <a:lstStyle/>
              <a:p>
                <a:pPr marL="0" marR="0" lvl="0" indent="0" algn="l" rtl="0">
                  <a:spcBef>
                    <a:spcPts val="0"/>
                  </a:spcBef>
                  <a:buSzPct val="25000"/>
                  <a:buFont typeface="Arial"/>
                  <a:buNone/>
                </a:pPr>
                <a:r>
                  <a:rPr lang="en-US" sz="1200" b="0" i="0" u="none" strike="noStrike" cap="none">
                    <a:solidFill>
                      <a:schemeClr val="dk1"/>
                    </a:solidFill>
                    <a:latin typeface="Arial"/>
                    <a:ea typeface="Arial"/>
                    <a:cs typeface="Arial"/>
                    <a:sym typeface="Arial"/>
                  </a:rPr>
                  <a:t>Yes</a:t>
                </a:r>
              </a:p>
            </p:txBody>
          </p:sp>
        </p:grpSp>
        <p:cxnSp>
          <p:nvCxnSpPr>
            <p:cNvPr id="373" name="Shape 373"/>
            <p:cNvCxnSpPr/>
            <p:nvPr/>
          </p:nvCxnSpPr>
          <p:spPr>
            <a:xfrm rot="10800000">
              <a:off x="13315760" y="141522873"/>
              <a:ext cx="0" cy="1673628947"/>
            </a:xfrm>
            <a:prstGeom prst="straightConnector1">
              <a:avLst/>
            </a:prstGeom>
            <a:noFill/>
            <a:ln w="9525" cap="rnd" cmpd="sng">
              <a:solidFill>
                <a:schemeClr val="dk1"/>
              </a:solidFill>
              <a:prstDash val="solid"/>
              <a:miter/>
              <a:headEnd type="none" w="med" len="med"/>
              <a:tailEnd type="none" w="med" len="med"/>
            </a:ln>
          </p:spPr>
        </p:cxnSp>
      </p:grpSp>
      <p:sp>
        <p:nvSpPr>
          <p:cNvPr id="374" name="Shape 374"/>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Shape 379"/>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380" name="Shape 380"/>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a:solidFill>
                  <a:srgbClr val="FF0000"/>
                </a:solidFill>
                <a:latin typeface="Arial"/>
                <a:ea typeface="Arial"/>
                <a:cs typeface="Arial"/>
                <a:sym typeface="Arial"/>
              </a:rPr>
              <a:t>Nested Loops for Delay</a:t>
            </a:r>
          </a:p>
        </p:txBody>
      </p:sp>
      <p:sp>
        <p:nvSpPr>
          <p:cNvPr id="381" name="Shape 381"/>
          <p:cNvSpPr txBox="1">
            <a:spLocks noGrp="1"/>
          </p:cNvSpPr>
          <p:nvPr>
            <p:ph type="body" idx="1"/>
          </p:nvPr>
        </p:nvSpPr>
        <p:spPr>
          <a:xfrm>
            <a:off x="457200" y="1600200"/>
            <a:ext cx="8229600" cy="4525961"/>
          </a:xfrm>
          <a:prstGeom prst="rect">
            <a:avLst/>
          </a:prstGeom>
          <a:noFill/>
          <a:ln>
            <a:noFill/>
          </a:ln>
        </p:spPr>
        <p:txBody>
          <a:bodyPr lIns="91425" tIns="45700" rIns="91425" bIns="45700" anchor="t" anchorCtr="0">
            <a:noAutofit/>
          </a:bodyPr>
          <a:lstStyle/>
          <a:p>
            <a:pPr marL="0" marR="0" lvl="0" indent="0" algn="l" rtl="0">
              <a:spcBef>
                <a:spcPts val="640"/>
              </a:spcBef>
              <a:spcAft>
                <a:spcPts val="0"/>
              </a:spcAft>
              <a:buClr>
                <a:schemeClr val="dk1"/>
              </a:buClr>
              <a:buSzPct val="59375"/>
              <a:buFont typeface="Arial"/>
              <a:buChar char="●"/>
            </a:pPr>
            <a:r>
              <a:rPr lang="en-US" sz="3200" b="0" i="0" u="none" strike="noStrike" cap="none" dirty="0">
                <a:solidFill>
                  <a:schemeClr val="dk1"/>
                </a:solidFill>
                <a:latin typeface="Arial"/>
                <a:ea typeface="Arial"/>
                <a:cs typeface="Arial"/>
                <a:sym typeface="Arial"/>
              </a:rPr>
              <a:t>Instead Register Pairs, a nested loop structure can be used to increase the total delay produced.</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a:p>
            <a:pPr marL="0" marR="0" lvl="0" indent="0" algn="l" rtl="0">
              <a:spcBef>
                <a:spcPts val="400"/>
              </a:spcBef>
              <a:spcAft>
                <a:spcPts val="0"/>
              </a:spcAft>
              <a:buClr>
                <a:schemeClr val="dk1"/>
              </a:buClr>
              <a:buSzPct val="25000"/>
              <a:buFont typeface="Arial"/>
              <a:buNone/>
            </a:pPr>
            <a:r>
              <a:rPr lang="en-US" sz="2000" b="0" i="0" u="none" strike="noStrike" cap="none" dirty="0">
                <a:solidFill>
                  <a:schemeClr val="dk1"/>
                </a:solidFill>
                <a:latin typeface="Arial"/>
                <a:ea typeface="Arial"/>
                <a:cs typeface="Arial"/>
                <a:sym typeface="Arial"/>
              </a:rPr>
              <a:t>		MVI B, 10H	7 T-States</a:t>
            </a:r>
          </a:p>
          <a:p>
            <a:pPr marL="0" marR="0" lvl="0" indent="0" algn="l" rtl="0">
              <a:spcBef>
                <a:spcPts val="400"/>
              </a:spcBef>
              <a:spcAft>
                <a:spcPts val="0"/>
              </a:spcAft>
              <a:buClr>
                <a:schemeClr val="dk1"/>
              </a:buClr>
              <a:buSzPct val="25000"/>
              <a:buFont typeface="Arial"/>
              <a:buNone/>
            </a:pPr>
            <a:r>
              <a:rPr lang="en-US" sz="2000" b="0" i="0" u="none" strike="noStrike" cap="none" dirty="0" smtClean="0">
                <a:solidFill>
                  <a:schemeClr val="dk1"/>
                </a:solidFill>
                <a:latin typeface="Arial"/>
                <a:ea typeface="Arial"/>
                <a:cs typeface="Arial"/>
                <a:sym typeface="Arial"/>
              </a:rPr>
              <a:t>	LOOP2</a:t>
            </a:r>
            <a:r>
              <a:rPr lang="en-US" sz="2000" b="0" i="0" u="none" strike="noStrike" cap="none" dirty="0">
                <a:solidFill>
                  <a:schemeClr val="dk1"/>
                </a:solidFill>
                <a:latin typeface="Arial"/>
                <a:ea typeface="Arial"/>
                <a:cs typeface="Arial"/>
                <a:sym typeface="Arial"/>
              </a:rPr>
              <a:t>	MVI C, FFH	7 T-States</a:t>
            </a:r>
          </a:p>
          <a:p>
            <a:pPr marL="0" marR="0" lvl="0" indent="0" algn="l" rtl="0">
              <a:spcBef>
                <a:spcPts val="400"/>
              </a:spcBef>
              <a:spcAft>
                <a:spcPts val="0"/>
              </a:spcAft>
              <a:buClr>
                <a:schemeClr val="dk1"/>
              </a:buClr>
              <a:buSzPct val="25000"/>
              <a:buFont typeface="Arial"/>
              <a:buNone/>
            </a:pPr>
            <a:r>
              <a:rPr lang="en-US" sz="2000" b="0" i="0" u="none" strike="noStrike" cap="none" smtClean="0">
                <a:solidFill>
                  <a:schemeClr val="dk1"/>
                </a:solidFill>
                <a:latin typeface="Arial"/>
                <a:ea typeface="Arial"/>
                <a:cs typeface="Arial"/>
                <a:sym typeface="Arial"/>
              </a:rPr>
              <a:t>	LOOP1</a:t>
            </a:r>
            <a:r>
              <a:rPr lang="en-US" sz="2000" b="0" i="0" u="none" strike="noStrike" cap="none" dirty="0">
                <a:solidFill>
                  <a:schemeClr val="dk1"/>
                </a:solidFill>
                <a:latin typeface="Arial"/>
                <a:ea typeface="Arial"/>
                <a:cs typeface="Arial"/>
                <a:sym typeface="Arial"/>
              </a:rPr>
              <a:t>	DCR C	4 T-States</a:t>
            </a:r>
          </a:p>
          <a:p>
            <a:pPr marL="0" marR="0" lvl="0" indent="0" algn="l" rtl="0">
              <a:spcBef>
                <a:spcPts val="400"/>
              </a:spcBef>
              <a:spcAft>
                <a:spcPts val="0"/>
              </a:spcAft>
              <a:buClr>
                <a:schemeClr val="dk1"/>
              </a:buClr>
              <a:buSzPct val="25000"/>
              <a:buFont typeface="Arial"/>
              <a:buNone/>
            </a:pPr>
            <a:r>
              <a:rPr lang="en-US" sz="2000" b="0" i="0" u="none" strike="noStrike" cap="none" dirty="0">
                <a:solidFill>
                  <a:schemeClr val="dk1"/>
                </a:solidFill>
                <a:latin typeface="Arial"/>
                <a:ea typeface="Arial"/>
                <a:cs typeface="Arial"/>
                <a:sym typeface="Arial"/>
              </a:rPr>
              <a:t>		JNZ LOOP1	10 T-States</a:t>
            </a:r>
          </a:p>
          <a:p>
            <a:pPr marL="0" marR="0" lvl="0" indent="0" algn="l" rtl="0">
              <a:spcBef>
                <a:spcPts val="400"/>
              </a:spcBef>
              <a:spcAft>
                <a:spcPts val="0"/>
              </a:spcAft>
              <a:buClr>
                <a:schemeClr val="dk1"/>
              </a:buClr>
              <a:buSzPct val="25000"/>
              <a:buFont typeface="Arial"/>
              <a:buNone/>
            </a:pPr>
            <a:r>
              <a:rPr lang="en-US" sz="2000" b="0" i="0" u="none" strike="noStrike" cap="none" dirty="0">
                <a:solidFill>
                  <a:schemeClr val="dk1"/>
                </a:solidFill>
                <a:latin typeface="Arial"/>
                <a:ea typeface="Arial"/>
                <a:cs typeface="Arial"/>
                <a:sym typeface="Arial"/>
              </a:rPr>
              <a:t>		DCR B	4 T-States</a:t>
            </a:r>
          </a:p>
          <a:p>
            <a:pPr marL="0" marR="0" lvl="0" indent="0" algn="l" rtl="0">
              <a:spcBef>
                <a:spcPts val="400"/>
              </a:spcBef>
              <a:spcAft>
                <a:spcPts val="0"/>
              </a:spcAft>
              <a:buClr>
                <a:schemeClr val="dk1"/>
              </a:buClr>
              <a:buSzPct val="25000"/>
              <a:buFont typeface="Arial"/>
              <a:buNone/>
            </a:pPr>
            <a:r>
              <a:rPr lang="en-US" sz="2000" b="0" i="0" u="none" strike="noStrike" cap="none" dirty="0">
                <a:solidFill>
                  <a:schemeClr val="dk1"/>
                </a:solidFill>
                <a:latin typeface="Arial"/>
                <a:ea typeface="Arial"/>
                <a:cs typeface="Arial"/>
                <a:sym typeface="Arial"/>
              </a:rPr>
              <a:t>		JNZ LOOP2	10 T-States</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p:txBody>
      </p:sp>
      <p:sp>
        <p:nvSpPr>
          <p:cNvPr id="382" name="Shape 382"/>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Shape 387"/>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388" name="Shape 388"/>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a:solidFill>
                  <a:srgbClr val="FF0000"/>
                </a:solidFill>
                <a:latin typeface="Arial"/>
                <a:ea typeface="Arial"/>
                <a:cs typeface="Arial"/>
                <a:sym typeface="Arial"/>
              </a:rPr>
              <a:t>Delay Calculation of Nested Loops</a:t>
            </a:r>
          </a:p>
        </p:txBody>
      </p:sp>
      <p:sp>
        <p:nvSpPr>
          <p:cNvPr id="389" name="Shape 389"/>
          <p:cNvSpPr txBox="1">
            <a:spLocks noGrp="1"/>
          </p:cNvSpPr>
          <p:nvPr>
            <p:ph type="body" idx="1"/>
          </p:nvPr>
        </p:nvSpPr>
        <p:spPr>
          <a:xfrm>
            <a:off x="457200" y="1600200"/>
            <a:ext cx="8229600" cy="4525961"/>
          </a:xfrm>
          <a:prstGeom prst="rect">
            <a:avLst/>
          </a:prstGeom>
          <a:noFill/>
          <a:ln>
            <a:noFill/>
          </a:ln>
        </p:spPr>
        <p:txBody>
          <a:bodyPr lIns="91425" tIns="45700" rIns="91425" bIns="45700" anchor="t" anchorCtr="0">
            <a:noAutofit/>
          </a:bodyPr>
          <a:lstStyle/>
          <a:p>
            <a:pPr marL="342900" marR="0" lvl="0" indent="-34290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The calculation remains the same except that it the formula must be applied recursively to each loop.</a:t>
            </a:r>
          </a:p>
          <a:p>
            <a:pPr marL="742950" marR="0" lvl="1" indent="-28575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Start with the inner loop, then plug that delay in the calculation of the outer loop.</a:t>
            </a:r>
          </a:p>
          <a:p>
            <a:pPr marL="342900" marR="0" lvl="0" indent="-342900" algn="l" rtl="0">
              <a:spcBef>
                <a:spcPts val="640"/>
              </a:spcBef>
              <a:spcAft>
                <a:spcPts val="0"/>
              </a:spcAft>
              <a:buClr>
                <a:schemeClr val="dk1"/>
              </a:buClr>
              <a:buSzPct val="59375"/>
              <a:buFont typeface="Arial"/>
              <a:buNone/>
            </a:pPr>
            <a:endParaRPr sz="3200" b="0" i="0" u="none" strike="noStrike" cap="none">
              <a:solidFill>
                <a:schemeClr val="dk1"/>
              </a:solidFill>
              <a:latin typeface="Arial"/>
              <a:ea typeface="Arial"/>
              <a:cs typeface="Arial"/>
              <a:sym typeface="Arial"/>
            </a:endParaRPr>
          </a:p>
          <a:p>
            <a:pPr marL="342900" marR="0" lvl="0" indent="-34290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Delay of inner loop</a:t>
            </a:r>
          </a:p>
          <a:p>
            <a:pPr marL="742950" marR="0" lvl="1" indent="-28575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T</a:t>
            </a:r>
            <a:r>
              <a:rPr lang="en-US" sz="2000" b="0" i="0" u="none" strike="noStrike" cap="none" baseline="-25000">
                <a:solidFill>
                  <a:schemeClr val="dk1"/>
                </a:solidFill>
                <a:latin typeface="Arial"/>
                <a:ea typeface="Arial"/>
                <a:cs typeface="Arial"/>
                <a:sym typeface="Arial"/>
              </a:rPr>
              <a:t>O1</a:t>
            </a:r>
            <a:r>
              <a:rPr lang="en-US" sz="2000" b="0" i="0" u="none" strike="noStrike" cap="none">
                <a:solidFill>
                  <a:schemeClr val="dk1"/>
                </a:solidFill>
                <a:latin typeface="Arial"/>
                <a:ea typeface="Arial"/>
                <a:cs typeface="Arial"/>
                <a:sym typeface="Arial"/>
              </a:rPr>
              <a:t> = 7 T-States</a:t>
            </a:r>
          </a:p>
          <a:p>
            <a:pPr marL="1143000" marR="0" lvl="2" indent="-22860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MVI C, FFH instruction</a:t>
            </a:r>
          </a:p>
          <a:p>
            <a:pPr marL="742950" marR="0" lvl="1" indent="-28575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T</a:t>
            </a:r>
            <a:r>
              <a:rPr lang="en-US" sz="2000" b="0" i="0" u="none" strike="noStrike" cap="none" baseline="-25000">
                <a:solidFill>
                  <a:schemeClr val="dk1"/>
                </a:solidFill>
                <a:latin typeface="Arial"/>
                <a:ea typeface="Arial"/>
                <a:cs typeface="Arial"/>
                <a:sym typeface="Arial"/>
              </a:rPr>
              <a:t>L1</a:t>
            </a:r>
            <a:r>
              <a:rPr lang="en-US" sz="2000" b="0" i="0" u="none" strike="noStrike" cap="none">
                <a:solidFill>
                  <a:schemeClr val="dk1"/>
                </a:solidFill>
                <a:latin typeface="Arial"/>
                <a:ea typeface="Arial"/>
                <a:cs typeface="Arial"/>
                <a:sym typeface="Arial"/>
              </a:rPr>
              <a:t> = (255 X 14) - 3 = 3567 T-States</a:t>
            </a:r>
          </a:p>
          <a:p>
            <a:pPr marL="1143000" marR="0" lvl="2" indent="-22860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14 T-States for the DCR C and JNZ instructions repeated 255 times (FF</a:t>
            </a:r>
            <a:r>
              <a:rPr lang="en-US" sz="2000" b="0" i="0" u="none" strike="noStrike" cap="none" baseline="-25000">
                <a:solidFill>
                  <a:schemeClr val="dk1"/>
                </a:solidFill>
                <a:latin typeface="Arial"/>
                <a:ea typeface="Arial"/>
                <a:cs typeface="Arial"/>
                <a:sym typeface="Arial"/>
              </a:rPr>
              <a:t>16</a:t>
            </a:r>
            <a:r>
              <a:rPr lang="en-US" sz="2000" b="0" i="0" u="none" strike="noStrike" cap="none">
                <a:solidFill>
                  <a:schemeClr val="dk1"/>
                </a:solidFill>
                <a:latin typeface="Arial"/>
                <a:ea typeface="Arial"/>
                <a:cs typeface="Arial"/>
                <a:sym typeface="Arial"/>
              </a:rPr>
              <a:t> = 255</a:t>
            </a:r>
            <a:r>
              <a:rPr lang="en-US" sz="2000" b="0" i="0" u="none" strike="noStrike" cap="none" baseline="-25000">
                <a:solidFill>
                  <a:schemeClr val="dk1"/>
                </a:solidFill>
                <a:latin typeface="Arial"/>
                <a:ea typeface="Arial"/>
                <a:cs typeface="Arial"/>
                <a:sym typeface="Arial"/>
              </a:rPr>
              <a:t>10</a:t>
            </a:r>
            <a:r>
              <a:rPr lang="en-US" sz="2000" b="0" i="0" u="none" strike="noStrike" cap="none">
                <a:solidFill>
                  <a:schemeClr val="dk1"/>
                </a:solidFill>
                <a:latin typeface="Arial"/>
                <a:ea typeface="Arial"/>
                <a:cs typeface="Arial"/>
                <a:sym typeface="Arial"/>
              </a:rPr>
              <a:t>) minus 3 for the final JNZ.</a:t>
            </a:r>
          </a:p>
          <a:p>
            <a:pPr marL="742950" marR="0" lvl="1" indent="-285750" algn="l" rtl="0">
              <a:spcBef>
                <a:spcPts val="400"/>
              </a:spcBef>
              <a:spcAft>
                <a:spcPts val="0"/>
              </a:spcAft>
              <a:buClr>
                <a:schemeClr val="dk1"/>
              </a:buClr>
              <a:buSzPct val="60000"/>
              <a:buFont typeface="Arial"/>
              <a:buChar char="●"/>
            </a:pPr>
            <a:r>
              <a:rPr lang="en-US" sz="2000" b="0" i="0" u="none" strike="noStrike" cap="none">
                <a:solidFill>
                  <a:schemeClr val="dk1"/>
                </a:solidFill>
                <a:latin typeface="Arial"/>
                <a:ea typeface="Arial"/>
                <a:cs typeface="Arial"/>
                <a:sym typeface="Arial"/>
              </a:rPr>
              <a:t>T</a:t>
            </a:r>
            <a:r>
              <a:rPr lang="en-US" sz="2000" b="0" i="0" u="none" strike="noStrike" cap="none" baseline="-25000">
                <a:solidFill>
                  <a:schemeClr val="dk1"/>
                </a:solidFill>
                <a:latin typeface="Arial"/>
                <a:ea typeface="Arial"/>
                <a:cs typeface="Arial"/>
                <a:sym typeface="Arial"/>
              </a:rPr>
              <a:t>LOOP1</a:t>
            </a:r>
            <a:r>
              <a:rPr lang="en-US" sz="2000" b="0" i="0" u="none" strike="noStrike" cap="none">
                <a:solidFill>
                  <a:schemeClr val="dk1"/>
                </a:solidFill>
                <a:latin typeface="Arial"/>
                <a:ea typeface="Arial"/>
                <a:cs typeface="Arial"/>
                <a:sym typeface="Arial"/>
              </a:rPr>
              <a:t> = 7 + 3567 = 3574 T-States</a:t>
            </a:r>
          </a:p>
        </p:txBody>
      </p:sp>
      <p:sp>
        <p:nvSpPr>
          <p:cNvPr id="390" name="Shape 390"/>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Shape 395"/>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396" name="Shape 396"/>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a:solidFill>
                  <a:srgbClr val="CC3300"/>
                </a:solidFill>
                <a:latin typeface="Arial"/>
                <a:ea typeface="Arial"/>
                <a:cs typeface="Arial"/>
                <a:sym typeface="Arial"/>
              </a:rPr>
              <a:t>Delay Calculation of Nested Loops</a:t>
            </a:r>
          </a:p>
        </p:txBody>
      </p:sp>
      <p:sp>
        <p:nvSpPr>
          <p:cNvPr id="397" name="Shape 397"/>
          <p:cNvSpPr txBox="1">
            <a:spLocks noGrp="1"/>
          </p:cNvSpPr>
          <p:nvPr>
            <p:ph type="body" idx="1"/>
          </p:nvPr>
        </p:nvSpPr>
        <p:spPr>
          <a:xfrm>
            <a:off x="457200" y="1600200"/>
            <a:ext cx="8229600" cy="4525961"/>
          </a:xfrm>
          <a:prstGeom prst="rect">
            <a:avLst/>
          </a:prstGeom>
          <a:noFill/>
          <a:ln>
            <a:noFill/>
          </a:ln>
        </p:spPr>
        <p:txBody>
          <a:bodyPr lIns="91425" tIns="45700" rIns="91425" bIns="45700" anchor="t" anchorCtr="0">
            <a:noAutofit/>
          </a:bodyPr>
          <a:lstStyle/>
          <a:p>
            <a:pPr marL="342900" marR="0" lvl="0" indent="-342900" algn="l" rtl="0">
              <a:spcBef>
                <a:spcPts val="440"/>
              </a:spcBef>
              <a:spcAft>
                <a:spcPts val="0"/>
              </a:spcAft>
              <a:buClr>
                <a:schemeClr val="dk1"/>
              </a:buClr>
              <a:buSzPct val="59090"/>
              <a:buFont typeface="Arial"/>
              <a:buChar char="●"/>
            </a:pPr>
            <a:r>
              <a:rPr lang="en-US" sz="2200" b="0" i="0" u="none" strike="noStrike" cap="none" dirty="0">
                <a:solidFill>
                  <a:schemeClr val="dk1"/>
                </a:solidFill>
                <a:latin typeface="Arial"/>
                <a:ea typeface="Arial"/>
                <a:cs typeface="Arial"/>
                <a:sym typeface="Arial"/>
              </a:rPr>
              <a:t>Delay of outer loop</a:t>
            </a:r>
          </a:p>
          <a:p>
            <a:pPr marL="742950" marR="0" lvl="1" indent="-285750" algn="l" rtl="0">
              <a:spcBef>
                <a:spcPts val="400"/>
              </a:spcBef>
              <a:spcAft>
                <a:spcPts val="0"/>
              </a:spcAft>
              <a:buClr>
                <a:schemeClr val="dk1"/>
              </a:buClr>
              <a:buSzPct val="60000"/>
              <a:buFont typeface="Arial"/>
              <a:buChar char="●"/>
            </a:pPr>
            <a:r>
              <a:rPr lang="en-US" sz="2000" b="0" i="0" u="none" strike="noStrike" cap="none" dirty="0">
                <a:solidFill>
                  <a:schemeClr val="dk1"/>
                </a:solidFill>
                <a:latin typeface="Arial"/>
                <a:ea typeface="Arial"/>
                <a:cs typeface="Arial"/>
                <a:sym typeface="Arial"/>
              </a:rPr>
              <a:t>T</a:t>
            </a:r>
            <a:r>
              <a:rPr lang="en-US" sz="2000" b="0" i="0" u="none" strike="noStrike" cap="none" baseline="-25000" dirty="0">
                <a:solidFill>
                  <a:schemeClr val="dk1"/>
                </a:solidFill>
                <a:latin typeface="Arial"/>
                <a:ea typeface="Arial"/>
                <a:cs typeface="Arial"/>
                <a:sym typeface="Arial"/>
              </a:rPr>
              <a:t>O2</a:t>
            </a:r>
            <a:r>
              <a:rPr lang="en-US" sz="2000" b="0" i="0" u="none" strike="noStrike" cap="none" dirty="0">
                <a:solidFill>
                  <a:schemeClr val="dk1"/>
                </a:solidFill>
                <a:latin typeface="Arial"/>
                <a:ea typeface="Arial"/>
                <a:cs typeface="Arial"/>
                <a:sym typeface="Arial"/>
              </a:rPr>
              <a:t> = 7 T-States</a:t>
            </a:r>
          </a:p>
          <a:p>
            <a:pPr marL="1143000" marR="0" lvl="2" indent="-228600" algn="l" rtl="0">
              <a:spcBef>
                <a:spcPts val="360"/>
              </a:spcBef>
              <a:spcAft>
                <a:spcPts val="0"/>
              </a:spcAft>
              <a:buClr>
                <a:schemeClr val="dk1"/>
              </a:buClr>
              <a:buSzPct val="61111"/>
              <a:buFont typeface="Arial"/>
              <a:buChar char="●"/>
            </a:pPr>
            <a:r>
              <a:rPr lang="en-US" sz="1800" b="0" i="0" u="none" strike="noStrike" cap="none" dirty="0">
                <a:solidFill>
                  <a:schemeClr val="dk1"/>
                </a:solidFill>
                <a:latin typeface="Arial"/>
                <a:ea typeface="Arial"/>
                <a:cs typeface="Arial"/>
                <a:sym typeface="Arial"/>
              </a:rPr>
              <a:t>MVI B, 10H instruction</a:t>
            </a:r>
          </a:p>
          <a:p>
            <a:pPr marL="742950" marR="0" lvl="1" indent="-285750" algn="l" rtl="0">
              <a:spcBef>
                <a:spcPts val="400"/>
              </a:spcBef>
              <a:spcAft>
                <a:spcPts val="0"/>
              </a:spcAft>
              <a:buClr>
                <a:schemeClr val="dk1"/>
              </a:buClr>
              <a:buSzPct val="60000"/>
              <a:buFont typeface="Arial"/>
              <a:buChar char="●"/>
            </a:pPr>
            <a:r>
              <a:rPr lang="en-US" sz="2000" b="0" i="0" u="none" strike="noStrike" cap="none" dirty="0" smtClean="0">
                <a:solidFill>
                  <a:schemeClr val="dk1"/>
                </a:solidFill>
                <a:latin typeface="Arial"/>
                <a:ea typeface="Arial"/>
                <a:cs typeface="Arial"/>
                <a:sym typeface="Arial"/>
              </a:rPr>
              <a:t>T</a:t>
            </a:r>
            <a:r>
              <a:rPr lang="en-US" sz="2000" b="0" i="0" u="none" strike="noStrike" cap="none" baseline="-25000" dirty="0" smtClean="0">
                <a:solidFill>
                  <a:schemeClr val="dk1"/>
                </a:solidFill>
                <a:latin typeface="Arial"/>
                <a:ea typeface="Arial"/>
                <a:cs typeface="Arial"/>
                <a:sym typeface="Arial"/>
              </a:rPr>
              <a:t>L2</a:t>
            </a:r>
            <a:r>
              <a:rPr lang="en-US" sz="2000" b="0" i="0" u="none" strike="noStrike" cap="none" dirty="0" smtClean="0">
                <a:solidFill>
                  <a:schemeClr val="dk1"/>
                </a:solidFill>
                <a:latin typeface="Arial"/>
                <a:ea typeface="Arial"/>
                <a:cs typeface="Arial"/>
                <a:sym typeface="Arial"/>
              </a:rPr>
              <a:t> </a:t>
            </a:r>
            <a:r>
              <a:rPr lang="en-US" sz="2000" b="0" i="0" u="none" strike="noStrike" cap="none" dirty="0">
                <a:solidFill>
                  <a:schemeClr val="dk1"/>
                </a:solidFill>
                <a:latin typeface="Arial"/>
                <a:ea typeface="Arial"/>
                <a:cs typeface="Arial"/>
                <a:sym typeface="Arial"/>
              </a:rPr>
              <a:t>= (16 X (14 + 3574)) - 3 = 57405 T-States</a:t>
            </a:r>
          </a:p>
          <a:p>
            <a:pPr marL="1143000" marR="0" lvl="2" indent="-228600" algn="l" rtl="0">
              <a:spcBef>
                <a:spcPts val="360"/>
              </a:spcBef>
              <a:spcAft>
                <a:spcPts val="0"/>
              </a:spcAft>
              <a:buClr>
                <a:schemeClr val="dk1"/>
              </a:buClr>
              <a:buSzPct val="61111"/>
              <a:buFont typeface="Arial"/>
              <a:buChar char="●"/>
            </a:pPr>
            <a:r>
              <a:rPr lang="en-US" sz="1800" b="0" i="0" u="none" strike="noStrike" cap="none" dirty="0">
                <a:solidFill>
                  <a:schemeClr val="dk1"/>
                </a:solidFill>
                <a:latin typeface="Arial"/>
                <a:ea typeface="Arial"/>
                <a:cs typeface="Arial"/>
                <a:sym typeface="Arial"/>
              </a:rPr>
              <a:t>14 T-States for the DCR B and JNZ instructions and 3574 </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T-States for loop1 repeated 16 times (10</a:t>
            </a:r>
            <a:r>
              <a:rPr lang="en-US" sz="1800" b="0" i="0" u="none" strike="noStrike" cap="none" baseline="-25000" dirty="0">
                <a:solidFill>
                  <a:schemeClr val="dk1"/>
                </a:solidFill>
                <a:latin typeface="Arial"/>
                <a:ea typeface="Arial"/>
                <a:cs typeface="Arial"/>
                <a:sym typeface="Arial"/>
              </a:rPr>
              <a:t>16</a:t>
            </a:r>
            <a:r>
              <a:rPr lang="en-US" sz="1800" b="0" i="0" u="none" strike="noStrike" cap="none" dirty="0">
                <a:solidFill>
                  <a:schemeClr val="dk1"/>
                </a:solidFill>
                <a:latin typeface="Arial"/>
                <a:ea typeface="Arial"/>
                <a:cs typeface="Arial"/>
                <a:sym typeface="Arial"/>
              </a:rPr>
              <a:t> = 16</a:t>
            </a:r>
            <a:r>
              <a:rPr lang="en-US" sz="1800" b="0" i="0" u="none" strike="noStrike" cap="none" baseline="-25000" dirty="0">
                <a:solidFill>
                  <a:schemeClr val="dk1"/>
                </a:solidFill>
                <a:latin typeface="Arial"/>
                <a:ea typeface="Arial"/>
                <a:cs typeface="Arial"/>
                <a:sym typeface="Arial"/>
              </a:rPr>
              <a:t>10</a:t>
            </a:r>
            <a:r>
              <a:rPr lang="en-US" sz="1800" b="0" i="0" u="none" strike="noStrike" cap="none" dirty="0">
                <a:solidFill>
                  <a:schemeClr val="dk1"/>
                </a:solidFill>
                <a:latin typeface="Arial"/>
                <a:ea typeface="Arial"/>
                <a:cs typeface="Arial"/>
                <a:sym typeface="Arial"/>
              </a:rPr>
              <a:t>) minus 3 for the final JNZ.</a:t>
            </a:r>
          </a:p>
          <a:p>
            <a:pPr marL="742950" marR="0" lvl="1" indent="-285750" algn="l" rtl="0">
              <a:spcBef>
                <a:spcPts val="400"/>
              </a:spcBef>
              <a:spcAft>
                <a:spcPts val="0"/>
              </a:spcAft>
              <a:buClr>
                <a:schemeClr val="dk1"/>
              </a:buClr>
              <a:buSzPct val="60000"/>
              <a:buFont typeface="Arial"/>
              <a:buChar char="●"/>
            </a:pPr>
            <a:r>
              <a:rPr lang="en-US" sz="2000" b="0" i="0" u="none" strike="noStrike" cap="none" dirty="0" err="1">
                <a:solidFill>
                  <a:schemeClr val="dk1"/>
                </a:solidFill>
                <a:latin typeface="Arial"/>
                <a:ea typeface="Arial"/>
                <a:cs typeface="Arial"/>
                <a:sym typeface="Arial"/>
              </a:rPr>
              <a:t>T</a:t>
            </a:r>
            <a:r>
              <a:rPr lang="en-US" sz="2000" b="0" i="0" u="none" strike="noStrike" cap="none" baseline="-25000" dirty="0" err="1">
                <a:solidFill>
                  <a:schemeClr val="dk1"/>
                </a:solidFill>
                <a:latin typeface="Arial"/>
                <a:ea typeface="Arial"/>
                <a:cs typeface="Arial"/>
                <a:sym typeface="Arial"/>
              </a:rPr>
              <a:t>Delay</a:t>
            </a:r>
            <a:r>
              <a:rPr lang="en-US" sz="2000" b="0" i="0" u="none" strike="noStrike" cap="none" dirty="0">
                <a:solidFill>
                  <a:schemeClr val="dk1"/>
                </a:solidFill>
                <a:latin typeface="Arial"/>
                <a:ea typeface="Arial"/>
                <a:cs typeface="Arial"/>
                <a:sym typeface="Arial"/>
              </a:rPr>
              <a:t> = 7 + 57405 = 57412 T-States</a:t>
            </a: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a:p>
            <a:pPr marL="342900" marR="0" lvl="0" indent="-342900" algn="l" rtl="0">
              <a:spcBef>
                <a:spcPts val="440"/>
              </a:spcBef>
              <a:spcAft>
                <a:spcPts val="0"/>
              </a:spcAft>
              <a:buClr>
                <a:schemeClr val="dk1"/>
              </a:buClr>
              <a:buSzPct val="59090"/>
              <a:buFont typeface="Arial"/>
              <a:buChar char="●"/>
            </a:pPr>
            <a:r>
              <a:rPr lang="en-US" sz="2200" b="0" i="0" u="none" strike="noStrike" cap="none" dirty="0">
                <a:solidFill>
                  <a:schemeClr val="dk1"/>
                </a:solidFill>
                <a:latin typeface="Arial"/>
                <a:ea typeface="Arial"/>
                <a:cs typeface="Arial"/>
                <a:sym typeface="Arial"/>
              </a:rPr>
              <a:t>Total Delay</a:t>
            </a:r>
          </a:p>
          <a:p>
            <a:pPr marL="742950" marR="0" lvl="1" indent="-285750" algn="l" rtl="0">
              <a:spcBef>
                <a:spcPts val="400"/>
              </a:spcBef>
              <a:spcAft>
                <a:spcPts val="0"/>
              </a:spcAft>
              <a:buClr>
                <a:schemeClr val="dk1"/>
              </a:buClr>
              <a:buSzPct val="60000"/>
              <a:buFont typeface="Arial"/>
              <a:buChar char="●"/>
            </a:pPr>
            <a:r>
              <a:rPr lang="en-US" sz="2000" b="0" i="0" u="none" strike="noStrike" cap="none" dirty="0" err="1">
                <a:solidFill>
                  <a:schemeClr val="dk1"/>
                </a:solidFill>
                <a:latin typeface="Arial"/>
                <a:ea typeface="Arial"/>
                <a:cs typeface="Arial"/>
                <a:sym typeface="Arial"/>
              </a:rPr>
              <a:t>T</a:t>
            </a:r>
            <a:r>
              <a:rPr lang="en-US" sz="2000" b="0" i="0" u="none" strike="noStrike" cap="none" baseline="-25000" dirty="0" err="1">
                <a:solidFill>
                  <a:schemeClr val="dk1"/>
                </a:solidFill>
                <a:latin typeface="Arial"/>
                <a:ea typeface="Arial"/>
                <a:cs typeface="Arial"/>
                <a:sym typeface="Arial"/>
              </a:rPr>
              <a:t>Delay</a:t>
            </a:r>
            <a:r>
              <a:rPr lang="en-US" sz="2000" b="0" i="0" u="none" strike="noStrike" cap="none" dirty="0">
                <a:solidFill>
                  <a:schemeClr val="dk1"/>
                </a:solidFill>
                <a:latin typeface="Arial"/>
                <a:ea typeface="Arial"/>
                <a:cs typeface="Arial"/>
                <a:sym typeface="Arial"/>
              </a:rPr>
              <a:t> = 57412 X 0.5 </a:t>
            </a:r>
            <a:r>
              <a:rPr lang="en-US" sz="2000" b="0" i="0" u="none" strike="noStrike" cap="none" dirty="0" err="1">
                <a:solidFill>
                  <a:schemeClr val="dk1"/>
                </a:solidFill>
                <a:latin typeface="Arial"/>
                <a:ea typeface="Arial"/>
                <a:cs typeface="Arial"/>
                <a:sym typeface="Arial"/>
              </a:rPr>
              <a:t>μSec</a:t>
            </a:r>
            <a:r>
              <a:rPr lang="en-US" sz="2000" b="0" i="0" u="none" strike="noStrike" cap="none" dirty="0">
                <a:solidFill>
                  <a:schemeClr val="dk1"/>
                </a:solidFill>
                <a:latin typeface="Arial"/>
                <a:ea typeface="Arial"/>
                <a:cs typeface="Arial"/>
                <a:sym typeface="Arial"/>
              </a:rPr>
              <a:t> = 28.706 </a:t>
            </a:r>
            <a:r>
              <a:rPr lang="en-US" sz="2000" b="0" i="0" u="none" strike="noStrike" cap="none" dirty="0" err="1">
                <a:solidFill>
                  <a:schemeClr val="dk1"/>
                </a:solidFill>
                <a:latin typeface="Arial"/>
                <a:ea typeface="Arial"/>
                <a:cs typeface="Arial"/>
                <a:sym typeface="Arial"/>
              </a:rPr>
              <a:t>mSec</a:t>
            </a:r>
            <a:endParaRPr lang="en-US" sz="2000" b="0" i="0" u="none" strike="noStrike" cap="none" dirty="0">
              <a:solidFill>
                <a:schemeClr val="dk1"/>
              </a:solidFill>
              <a:latin typeface="Arial"/>
              <a:ea typeface="Arial"/>
              <a:cs typeface="Arial"/>
              <a:sym typeface="Arial"/>
            </a:endParaRPr>
          </a:p>
          <a:p>
            <a:pPr marL="342900" marR="0" lvl="0" indent="-342900" algn="l" rtl="0">
              <a:spcBef>
                <a:spcPts val="640"/>
              </a:spcBef>
              <a:spcAft>
                <a:spcPts val="0"/>
              </a:spcAft>
              <a:buClr>
                <a:schemeClr val="dk1"/>
              </a:buClr>
              <a:buSzPct val="59375"/>
              <a:buFont typeface="Arial"/>
              <a:buNone/>
            </a:pPr>
            <a:endParaRPr sz="3200" b="0" i="0" u="none" strike="noStrike" cap="none" dirty="0">
              <a:solidFill>
                <a:schemeClr val="dk1"/>
              </a:solidFill>
              <a:latin typeface="Arial"/>
              <a:ea typeface="Arial"/>
              <a:cs typeface="Arial"/>
              <a:sym typeface="Arial"/>
            </a:endParaRPr>
          </a:p>
        </p:txBody>
      </p:sp>
      <p:sp>
        <p:nvSpPr>
          <p:cNvPr id="398" name="Shape 398"/>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Shape 403"/>
          <p:cNvSpPr txBox="1"/>
          <p:nvPr/>
        </p:nvSpPr>
        <p:spPr>
          <a:xfrm>
            <a:off x="457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1400" b="0" i="0" u="none" strike="noStrike" cap="none">
                <a:solidFill>
                  <a:schemeClr val="dk1"/>
                </a:solidFill>
                <a:latin typeface="Arial"/>
                <a:ea typeface="Arial"/>
                <a:cs typeface="Arial"/>
                <a:sym typeface="Arial"/>
              </a:rPr>
              <a:t>*</a:t>
            </a:r>
          </a:p>
        </p:txBody>
      </p:sp>
      <p:sp>
        <p:nvSpPr>
          <p:cNvPr id="404" name="Shape 404"/>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a:solidFill>
                  <a:srgbClr val="CC3300"/>
                </a:solidFill>
                <a:latin typeface="Arial"/>
                <a:ea typeface="Arial"/>
                <a:cs typeface="Arial"/>
                <a:sym typeface="Arial"/>
              </a:rPr>
              <a:t>Increasing the delay</a:t>
            </a:r>
          </a:p>
        </p:txBody>
      </p:sp>
      <p:sp>
        <p:nvSpPr>
          <p:cNvPr id="405" name="Shape 405"/>
          <p:cNvSpPr txBox="1">
            <a:spLocks noGrp="1"/>
          </p:cNvSpPr>
          <p:nvPr>
            <p:ph type="body" idx="1"/>
          </p:nvPr>
        </p:nvSpPr>
        <p:spPr>
          <a:xfrm>
            <a:off x="457200" y="1600200"/>
            <a:ext cx="8229600" cy="4525961"/>
          </a:xfrm>
          <a:prstGeom prst="rect">
            <a:avLst/>
          </a:prstGeom>
          <a:noFill/>
          <a:ln>
            <a:noFill/>
          </a:ln>
        </p:spPr>
        <p:txBody>
          <a:bodyPr lIns="91425" tIns="45700" rIns="91425" bIns="45700" anchor="t" anchorCtr="0">
            <a:noAutofit/>
          </a:bodyPr>
          <a:lstStyle/>
          <a:p>
            <a:pPr marL="342900" marR="0" lvl="0" indent="-342900" algn="l" rtl="0">
              <a:spcBef>
                <a:spcPts val="640"/>
              </a:spcBef>
              <a:spcAft>
                <a:spcPts val="0"/>
              </a:spcAft>
              <a:buClr>
                <a:schemeClr val="dk1"/>
              </a:buClr>
              <a:buSzPct val="59375"/>
              <a:buFont typeface="Arial"/>
              <a:buChar char="●"/>
            </a:pPr>
            <a:r>
              <a:rPr lang="en-US" sz="3200" b="0" i="0" u="none" strike="noStrike" cap="none">
                <a:solidFill>
                  <a:schemeClr val="dk1"/>
                </a:solidFill>
                <a:latin typeface="Arial"/>
                <a:ea typeface="Arial"/>
                <a:cs typeface="Arial"/>
                <a:sym typeface="Arial"/>
              </a:rPr>
              <a:t>The delay can be further increased by using register pairs for each of the loop counters in the nested loops setup.</a:t>
            </a:r>
          </a:p>
          <a:p>
            <a:pPr marL="342900" marR="0" lvl="0" indent="-342900" algn="l" rtl="0">
              <a:spcBef>
                <a:spcPts val="640"/>
              </a:spcBef>
              <a:spcAft>
                <a:spcPts val="0"/>
              </a:spcAft>
              <a:buClr>
                <a:schemeClr val="dk1"/>
              </a:buClr>
              <a:buSzPct val="59375"/>
              <a:buFont typeface="Arial"/>
              <a:buChar char="●"/>
            </a:pPr>
            <a:r>
              <a:rPr lang="en-US" sz="3200" b="0" i="0" u="none" strike="noStrike" cap="none">
                <a:solidFill>
                  <a:schemeClr val="dk1"/>
                </a:solidFill>
                <a:latin typeface="Arial"/>
                <a:ea typeface="Arial"/>
                <a:cs typeface="Arial"/>
                <a:sym typeface="Arial"/>
              </a:rPr>
              <a:t>It can also be increased by adding dummy instructions (like NOP) in the body of the loop.</a:t>
            </a:r>
          </a:p>
        </p:txBody>
      </p:sp>
      <p:sp>
        <p:nvSpPr>
          <p:cNvPr id="406" name="Shape 406"/>
          <p:cNvSpPr txBox="1">
            <a:spLocks noGrp="1"/>
          </p:cNvSpPr>
          <p:nvPr>
            <p:ph type="sldNum" idx="4294967295"/>
          </p:nvPr>
        </p:nvSpPr>
        <p:spPr>
          <a:xfrm>
            <a:off x="6553200" y="6245225"/>
            <a:ext cx="2133599" cy="47624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a:t> </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Shape 411"/>
          <p:cNvSpPr txBox="1">
            <a:spLocks noGrp="1"/>
          </p:cNvSpPr>
          <p:nvPr>
            <p:ph type="ctrTitle"/>
          </p:nvPr>
        </p:nvSpPr>
        <p:spPr>
          <a:xfrm>
            <a:off x="685800" y="381000"/>
            <a:ext cx="7772400" cy="1470024"/>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Clr>
                <a:schemeClr val="dk2"/>
              </a:buClr>
              <a:buSzPct val="25000"/>
              <a:buFont typeface="Arial"/>
              <a:buNone/>
            </a:pPr>
            <a:r>
              <a:rPr lang="en-US" sz="4400" b="0" i="0" u="none" strike="noStrike" cap="none" dirty="0">
                <a:solidFill>
                  <a:schemeClr val="dk2"/>
                </a:solidFill>
                <a:latin typeface="Arial"/>
                <a:ea typeface="Arial"/>
                <a:cs typeface="Arial"/>
                <a:sym typeface="Arial"/>
              </a:rPr>
              <a:t>Write a program to generate a delay of </a:t>
            </a:r>
            <a:r>
              <a:rPr lang="en-US" sz="4400" b="0" i="0" u="none" strike="noStrike" cap="none" dirty="0" smtClean="0">
                <a:solidFill>
                  <a:schemeClr val="dk2"/>
                </a:solidFill>
                <a:latin typeface="Arial"/>
                <a:ea typeface="Arial"/>
                <a:cs typeface="Arial"/>
                <a:sym typeface="Arial"/>
              </a:rPr>
              <a:t>0.4 </a:t>
            </a:r>
            <a:r>
              <a:rPr lang="en-US" sz="4400" b="0" i="0" u="none" strike="noStrike" cap="none" dirty="0">
                <a:solidFill>
                  <a:schemeClr val="dk2"/>
                </a:solidFill>
                <a:latin typeface="Arial"/>
                <a:ea typeface="Arial"/>
                <a:cs typeface="Arial"/>
                <a:sym typeface="Arial"/>
              </a:rPr>
              <a:t>sec if the crystal frequency is 5MHz</a:t>
            </a:r>
          </a:p>
        </p:txBody>
      </p:sp>
      <p:sp>
        <p:nvSpPr>
          <p:cNvPr id="412" name="Shape 412"/>
          <p:cNvSpPr txBox="1">
            <a:spLocks noGrp="1"/>
          </p:cNvSpPr>
          <p:nvPr>
            <p:ph type="subTitle" idx="1"/>
          </p:nvPr>
        </p:nvSpPr>
        <p:spPr>
          <a:xfrm>
            <a:off x="1371600" y="2514600"/>
            <a:ext cx="6400799" cy="3124199"/>
          </a:xfrm>
          <a:prstGeom prst="rect">
            <a:avLst/>
          </a:prstGeom>
          <a:noFill/>
          <a:ln>
            <a:noFill/>
          </a:ln>
        </p:spPr>
        <p:txBody>
          <a:bodyPr lIns="91425" tIns="45700" rIns="91425" bIns="45700" anchor="t" anchorCtr="0">
            <a:noAutofit/>
          </a:bodyPr>
          <a:lstStyle/>
          <a:p>
            <a:pPr marL="0" marR="0" lvl="0" indent="0" algn="l" rtl="0">
              <a:spcBef>
                <a:spcPts val="640"/>
              </a:spcBef>
              <a:spcAft>
                <a:spcPts val="0"/>
              </a:spcAft>
              <a:buClr>
                <a:schemeClr val="dk1"/>
              </a:buClr>
              <a:buSzPct val="25000"/>
              <a:buFont typeface="Arial"/>
              <a:buNone/>
            </a:pPr>
            <a:r>
              <a:rPr lang="en-US" sz="3200" b="0" i="0" u="none" strike="noStrike" cap="none" dirty="0">
                <a:solidFill>
                  <a:schemeClr val="dk1"/>
                </a:solidFill>
                <a:latin typeface="Arial"/>
                <a:ea typeface="Arial"/>
                <a:cs typeface="Arial"/>
                <a:sym typeface="Arial"/>
              </a:rPr>
              <a:t>Operating frequency is half of crystal frequency 2.5MHz</a:t>
            </a:r>
          </a:p>
          <a:p>
            <a:pPr algn="l">
              <a:spcBef>
                <a:spcPts val="480"/>
              </a:spcBef>
              <a:buClr>
                <a:schemeClr val="dk1"/>
              </a:buClr>
              <a:buSzPct val="25000"/>
            </a:pPr>
            <a:r>
              <a:rPr lang="en-US" sz="2400" dirty="0">
                <a:solidFill>
                  <a:schemeClr val="dk1"/>
                </a:solidFill>
                <a:latin typeface="Arial"/>
                <a:ea typeface="Arial"/>
                <a:cs typeface="Arial"/>
                <a:sym typeface="Arial"/>
              </a:rPr>
              <a:t>Delay = No. of T-States / </a:t>
            </a:r>
            <a:r>
              <a:rPr lang="en-US" sz="2400" dirty="0" smtClean="0">
                <a:solidFill>
                  <a:schemeClr val="dk1"/>
                </a:solidFill>
                <a:latin typeface="Arial"/>
                <a:ea typeface="Arial"/>
                <a:cs typeface="Arial"/>
                <a:sym typeface="Arial"/>
              </a:rPr>
              <a:t>Frequency</a:t>
            </a:r>
            <a:endParaRPr lang="en-US" sz="2400" b="0" i="0" u="none" strike="noStrike" cap="none" dirty="0" smtClean="0">
              <a:solidFill>
                <a:schemeClr val="dk1"/>
              </a:solidFill>
              <a:latin typeface="Arial"/>
              <a:ea typeface="Arial"/>
              <a:cs typeface="Arial"/>
              <a:sym typeface="Arial"/>
            </a:endParaRPr>
          </a:p>
          <a:p>
            <a:pPr algn="l">
              <a:spcBef>
                <a:spcPts val="480"/>
              </a:spcBef>
              <a:buClr>
                <a:schemeClr val="dk1"/>
              </a:buClr>
              <a:buSzPct val="25000"/>
            </a:pPr>
            <a:r>
              <a:rPr lang="en-US" sz="2400" dirty="0" smtClean="0">
                <a:solidFill>
                  <a:schemeClr val="dk1"/>
                </a:solidFill>
                <a:latin typeface="Arial"/>
                <a:ea typeface="Arial"/>
                <a:cs typeface="Arial"/>
                <a:sym typeface="Arial"/>
              </a:rPr>
              <a:t> </a:t>
            </a:r>
            <a:r>
              <a:rPr lang="en-US" sz="2400" dirty="0">
                <a:solidFill>
                  <a:schemeClr val="dk1"/>
                </a:solidFill>
                <a:latin typeface="Arial"/>
                <a:ea typeface="Arial"/>
                <a:cs typeface="Arial"/>
                <a:sym typeface="Arial"/>
              </a:rPr>
              <a:t>No. of </a:t>
            </a:r>
            <a:r>
              <a:rPr lang="en-US" sz="2400" dirty="0" smtClean="0">
                <a:solidFill>
                  <a:schemeClr val="dk1"/>
                </a:solidFill>
                <a:latin typeface="Arial"/>
                <a:ea typeface="Arial"/>
                <a:cs typeface="Arial"/>
                <a:sym typeface="Arial"/>
              </a:rPr>
              <a:t>T-States= Delay × Frequency</a:t>
            </a:r>
          </a:p>
          <a:p>
            <a:pPr algn="l">
              <a:spcBef>
                <a:spcPts val="480"/>
              </a:spcBef>
              <a:buClr>
                <a:schemeClr val="dk1"/>
              </a:buClr>
              <a:buSzPct val="25000"/>
            </a:pPr>
            <a:r>
              <a:rPr lang="en-US" sz="2400" b="0" i="0" u="none" strike="noStrike" cap="none" dirty="0">
                <a:solidFill>
                  <a:schemeClr val="dk1"/>
                </a:solidFill>
                <a:latin typeface="Arial"/>
                <a:ea typeface="Arial"/>
                <a:cs typeface="Arial"/>
                <a:sym typeface="Arial"/>
              </a:rPr>
              <a:t> </a:t>
            </a:r>
            <a:r>
              <a:rPr lang="en-US" sz="2400" b="0" i="0" u="none" strike="noStrike" cap="none" dirty="0" smtClean="0">
                <a:solidFill>
                  <a:schemeClr val="dk1"/>
                </a:solidFill>
                <a:latin typeface="Arial"/>
                <a:ea typeface="Arial"/>
                <a:cs typeface="Arial"/>
                <a:sym typeface="Arial"/>
              </a:rPr>
              <a:t>                        = 0.4 </a:t>
            </a:r>
            <a:r>
              <a:rPr lang="en-US" sz="2400" dirty="0" smtClean="0">
                <a:solidFill>
                  <a:schemeClr val="dk1"/>
                </a:solidFill>
                <a:latin typeface="Arial"/>
                <a:ea typeface="Arial"/>
                <a:cs typeface="Arial"/>
                <a:sym typeface="Arial"/>
              </a:rPr>
              <a:t>× 2.5MHZ</a:t>
            </a:r>
            <a:endParaRPr lang="en-US" sz="2400" b="0" i="0" u="none" strike="noStrike" cap="none" dirty="0">
              <a:solidFill>
                <a:schemeClr val="dk1"/>
              </a:solidFill>
              <a:latin typeface="Arial"/>
              <a:ea typeface="Arial"/>
              <a:cs typeface="Arial"/>
              <a:sym typeface="Arial"/>
            </a:endParaRPr>
          </a:p>
          <a:p>
            <a:pPr marL="0" marR="0" lvl="0" indent="0" algn="l" rtl="0">
              <a:spcBef>
                <a:spcPts val="480"/>
              </a:spcBef>
              <a:spcAft>
                <a:spcPts val="0"/>
              </a:spcAft>
              <a:buClr>
                <a:schemeClr val="dk1"/>
              </a:buClr>
              <a:buSzPct val="25000"/>
              <a:buFont typeface="Arial"/>
              <a:buNone/>
            </a:pPr>
            <a:r>
              <a:rPr lang="en-US" sz="2400" b="0" i="0" u="none" strike="noStrike" cap="none" dirty="0">
                <a:solidFill>
                  <a:schemeClr val="dk1"/>
                </a:solidFill>
                <a:latin typeface="Arial"/>
                <a:ea typeface="Arial"/>
                <a:cs typeface="Arial"/>
                <a:sym typeface="Arial"/>
              </a:rPr>
              <a:t>		</a:t>
            </a:r>
            <a:r>
              <a:rPr lang="en-US" sz="2400" b="0" i="0" u="none" strike="noStrike" cap="none" dirty="0" smtClean="0">
                <a:solidFill>
                  <a:schemeClr val="dk1"/>
                </a:solidFill>
                <a:latin typeface="Arial"/>
                <a:ea typeface="Arial"/>
                <a:cs typeface="Arial"/>
                <a:sym typeface="Arial"/>
              </a:rPr>
              <a:t>   =</a:t>
            </a:r>
            <a:r>
              <a:rPr lang="en-US" sz="2400" b="0" i="0" u="none" strike="noStrike" cap="none" dirty="0">
                <a:solidFill>
                  <a:schemeClr val="dk1"/>
                </a:solidFill>
                <a:latin typeface="Arial"/>
                <a:ea typeface="Arial"/>
                <a:cs typeface="Arial"/>
                <a:sym typeface="Arial"/>
              </a:rPr>
              <a:t>1000000</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Shape 417"/>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lvl="0">
              <a:spcBef>
                <a:spcPts val="0"/>
              </a:spcBef>
              <a:buNone/>
            </a:pPr>
            <a:endParaRPr/>
          </a:p>
        </p:txBody>
      </p:sp>
      <p:sp>
        <p:nvSpPr>
          <p:cNvPr id="418" name="Shape 418"/>
          <p:cNvSpPr txBox="1">
            <a:spLocks noGrp="1"/>
          </p:cNvSpPr>
          <p:nvPr>
            <p:ph type="body" idx="1"/>
          </p:nvPr>
        </p:nvSpPr>
        <p:spPr>
          <a:xfrm>
            <a:off x="457200" y="1600200"/>
            <a:ext cx="8229600" cy="4997152"/>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SzPct val="25000"/>
              <a:buFont typeface="Arial"/>
              <a:buNone/>
            </a:pPr>
            <a:r>
              <a:rPr lang="en-US" sz="3200" b="0" i="0" u="none" strike="noStrike" cap="none" dirty="0">
                <a:solidFill>
                  <a:schemeClr val="dk1"/>
                </a:solidFill>
                <a:latin typeface="Arial"/>
                <a:ea typeface="Arial"/>
                <a:cs typeface="Arial"/>
                <a:sym typeface="Arial"/>
              </a:rPr>
              <a:t>		</a:t>
            </a:r>
            <a:r>
              <a:rPr lang="en-US" sz="3200" b="0" i="0" u="none" strike="noStrike" cap="none" dirty="0" smtClean="0">
                <a:solidFill>
                  <a:schemeClr val="dk1"/>
                </a:solidFill>
                <a:latin typeface="Arial"/>
                <a:ea typeface="Arial"/>
                <a:cs typeface="Arial"/>
                <a:sym typeface="Arial"/>
              </a:rPr>
              <a:t>LXI </a:t>
            </a:r>
            <a:r>
              <a:rPr lang="en-US" sz="3200" b="0" i="0" u="none" strike="noStrike" cap="none" dirty="0">
                <a:solidFill>
                  <a:schemeClr val="dk1"/>
                </a:solidFill>
                <a:latin typeface="Arial"/>
                <a:ea typeface="Arial"/>
                <a:cs typeface="Arial"/>
                <a:sym typeface="Arial"/>
              </a:rPr>
              <a:t>B, </a:t>
            </a:r>
            <a:r>
              <a:rPr lang="en-US" dirty="0" smtClean="0">
                <a:solidFill>
                  <a:schemeClr val="dk1"/>
                </a:solidFill>
                <a:latin typeface="Arial"/>
                <a:ea typeface="Arial"/>
                <a:cs typeface="Arial"/>
                <a:sym typeface="Arial"/>
              </a:rPr>
              <a:t>n (Count)</a:t>
            </a:r>
            <a:r>
              <a:rPr lang="en-US" sz="3200" b="0" i="0" u="none" strike="noStrike" cap="none" dirty="0" smtClean="0">
                <a:solidFill>
                  <a:schemeClr val="dk1"/>
                </a:solidFill>
                <a:latin typeface="Arial"/>
                <a:ea typeface="Arial"/>
                <a:cs typeface="Arial"/>
                <a:sym typeface="Arial"/>
              </a:rPr>
              <a:t>  (10T States)</a:t>
            </a:r>
            <a:endParaRPr lang="en-US" sz="3200" b="0" i="0" u="none" strike="noStrike" cap="none" dirty="0">
              <a:solidFill>
                <a:schemeClr val="dk1"/>
              </a:solidFill>
              <a:latin typeface="Arial"/>
              <a:ea typeface="Arial"/>
              <a:cs typeface="Arial"/>
              <a:sym typeface="Arial"/>
            </a:endParaRPr>
          </a:p>
          <a:p>
            <a:pPr marL="0" marR="0" lvl="0" indent="0" algn="l" rtl="0">
              <a:spcBef>
                <a:spcPts val="0"/>
              </a:spcBef>
              <a:buClr>
                <a:schemeClr val="dk1"/>
              </a:buClr>
              <a:buSzPct val="25000"/>
              <a:buFont typeface="Arial"/>
              <a:buNone/>
            </a:pPr>
            <a:r>
              <a:rPr lang="en-US" sz="3200" b="0" i="0" u="none" strike="noStrike" cap="none" dirty="0">
                <a:solidFill>
                  <a:schemeClr val="dk1"/>
                </a:solidFill>
                <a:latin typeface="Arial"/>
                <a:ea typeface="Arial"/>
                <a:cs typeface="Arial"/>
                <a:sym typeface="Arial"/>
              </a:rPr>
              <a:t>BACK:	DCX </a:t>
            </a:r>
            <a:r>
              <a:rPr lang="en-US" sz="3200" b="0" i="0" u="none" strike="noStrike" cap="none" dirty="0" smtClean="0">
                <a:solidFill>
                  <a:schemeClr val="dk1"/>
                </a:solidFill>
                <a:latin typeface="Arial"/>
                <a:ea typeface="Arial"/>
                <a:cs typeface="Arial"/>
                <a:sym typeface="Arial"/>
              </a:rPr>
              <a:t>B            (6T States)</a:t>
            </a:r>
            <a:endParaRPr lang="en-US" sz="3200" b="0" i="0" u="none" strike="noStrike" cap="none" dirty="0">
              <a:solidFill>
                <a:schemeClr val="dk1"/>
              </a:solidFill>
              <a:latin typeface="Arial"/>
              <a:ea typeface="Arial"/>
              <a:cs typeface="Arial"/>
              <a:sym typeface="Arial"/>
            </a:endParaRPr>
          </a:p>
          <a:p>
            <a:pPr marL="0" marR="0" lvl="0" indent="0" algn="l" rtl="0">
              <a:spcBef>
                <a:spcPts val="0"/>
              </a:spcBef>
              <a:buClr>
                <a:schemeClr val="dk1"/>
              </a:buClr>
              <a:buSzPct val="25000"/>
              <a:buFont typeface="Arial"/>
              <a:buNone/>
            </a:pPr>
            <a:r>
              <a:rPr lang="en-US" sz="3200" b="0" i="0" u="none" strike="noStrike" cap="none" dirty="0">
                <a:solidFill>
                  <a:schemeClr val="dk1"/>
                </a:solidFill>
                <a:latin typeface="Arial"/>
                <a:ea typeface="Arial"/>
                <a:cs typeface="Arial"/>
                <a:sym typeface="Arial"/>
              </a:rPr>
              <a:t>			</a:t>
            </a:r>
            <a:r>
              <a:rPr lang="en-US" sz="3200" b="0" i="0" u="none" strike="noStrike" cap="none" dirty="0" smtClean="0">
                <a:solidFill>
                  <a:schemeClr val="dk1"/>
                </a:solidFill>
                <a:latin typeface="Arial"/>
                <a:ea typeface="Arial"/>
                <a:cs typeface="Arial"/>
                <a:sym typeface="Arial"/>
              </a:rPr>
              <a:t>MOVA,C   (4T States)</a:t>
            </a:r>
            <a:endParaRPr lang="en-US" sz="3200" b="0" i="0" u="none" strike="noStrike" cap="none" dirty="0">
              <a:solidFill>
                <a:schemeClr val="dk1"/>
              </a:solidFill>
              <a:latin typeface="Arial"/>
              <a:ea typeface="Arial"/>
              <a:cs typeface="Arial"/>
              <a:sym typeface="Arial"/>
            </a:endParaRPr>
          </a:p>
          <a:p>
            <a:pPr marL="0" marR="0" lvl="0" indent="0" algn="l" rtl="0">
              <a:spcBef>
                <a:spcPts val="0"/>
              </a:spcBef>
              <a:buClr>
                <a:schemeClr val="dk1"/>
              </a:buClr>
              <a:buSzPct val="25000"/>
              <a:buFont typeface="Arial"/>
              <a:buNone/>
            </a:pPr>
            <a:r>
              <a:rPr lang="en-US" sz="3200" b="0" i="0" u="none" strike="noStrike" cap="none" dirty="0">
                <a:solidFill>
                  <a:schemeClr val="dk1"/>
                </a:solidFill>
                <a:latin typeface="Arial"/>
                <a:ea typeface="Arial"/>
                <a:cs typeface="Arial"/>
                <a:sym typeface="Arial"/>
              </a:rPr>
              <a:t>			</a:t>
            </a:r>
            <a:r>
              <a:rPr lang="en-US" sz="3200" b="0" i="0" u="none" strike="noStrike" cap="none" dirty="0" smtClean="0">
                <a:solidFill>
                  <a:schemeClr val="dk1"/>
                </a:solidFill>
                <a:latin typeface="Arial"/>
                <a:ea typeface="Arial"/>
                <a:cs typeface="Arial"/>
                <a:sym typeface="Arial"/>
              </a:rPr>
              <a:t>ORA B     (4T States)</a:t>
            </a:r>
            <a:endParaRPr lang="en-US" sz="3200" b="0" i="0" u="none" strike="noStrike" cap="none" dirty="0">
              <a:solidFill>
                <a:schemeClr val="dk1"/>
              </a:solidFill>
              <a:latin typeface="Arial"/>
              <a:ea typeface="Arial"/>
              <a:cs typeface="Arial"/>
              <a:sym typeface="Arial"/>
            </a:endParaRPr>
          </a:p>
          <a:p>
            <a:pPr marL="0" marR="0" lvl="0" indent="0" algn="l" rtl="0">
              <a:spcBef>
                <a:spcPts val="0"/>
              </a:spcBef>
              <a:buClr>
                <a:schemeClr val="dk1"/>
              </a:buClr>
              <a:buSzPct val="25000"/>
              <a:buFont typeface="Arial"/>
              <a:buNone/>
            </a:pPr>
            <a:r>
              <a:rPr lang="en-US" sz="3200" b="0" i="0" u="none" strike="noStrike" cap="none" dirty="0">
                <a:solidFill>
                  <a:schemeClr val="dk1"/>
                </a:solidFill>
                <a:latin typeface="Arial"/>
                <a:ea typeface="Arial"/>
                <a:cs typeface="Arial"/>
                <a:sym typeface="Arial"/>
              </a:rPr>
              <a:t>			JNZ </a:t>
            </a:r>
            <a:r>
              <a:rPr lang="en-US" sz="3200" b="0" i="0" u="none" strike="noStrike" cap="none" dirty="0" smtClean="0">
                <a:solidFill>
                  <a:schemeClr val="dk1"/>
                </a:solidFill>
                <a:latin typeface="Arial"/>
                <a:ea typeface="Arial"/>
                <a:cs typeface="Arial"/>
                <a:sym typeface="Arial"/>
              </a:rPr>
              <a:t>BACK  (10T States)</a:t>
            </a:r>
          </a:p>
          <a:p>
            <a:pPr marL="0" marR="0" lvl="0" indent="0" algn="l" rtl="0">
              <a:spcBef>
                <a:spcPts val="0"/>
              </a:spcBef>
              <a:buClr>
                <a:schemeClr val="dk1"/>
              </a:buClr>
              <a:buSzPct val="25000"/>
              <a:buFont typeface="Arial"/>
              <a:buNone/>
            </a:pPr>
            <a:endParaRPr lang="en-US" dirty="0">
              <a:solidFill>
                <a:schemeClr val="dk1"/>
              </a:solidFill>
              <a:latin typeface="Arial"/>
              <a:ea typeface="Arial"/>
              <a:cs typeface="Arial"/>
              <a:sym typeface="Arial"/>
            </a:endParaRPr>
          </a:p>
          <a:p>
            <a:pPr marL="0" lvl="0" indent="0">
              <a:spcBef>
                <a:spcPts val="0"/>
              </a:spcBef>
              <a:buClr>
                <a:schemeClr val="dk1"/>
              </a:buClr>
              <a:buSzPct val="25000"/>
              <a:buNone/>
            </a:pPr>
            <a:r>
              <a:rPr lang="en-US" sz="3200" b="0" i="0" u="none" strike="noStrike" cap="none" dirty="0" smtClean="0">
                <a:solidFill>
                  <a:schemeClr val="dk1"/>
                </a:solidFill>
                <a:latin typeface="Arial"/>
                <a:ea typeface="Arial"/>
                <a:cs typeface="Arial"/>
                <a:sym typeface="Arial"/>
              </a:rPr>
              <a:t>Total T states= 10T + (24</a:t>
            </a:r>
            <a:r>
              <a:rPr lang="en-US" dirty="0" smtClean="0">
                <a:solidFill>
                  <a:schemeClr val="dk1"/>
                </a:solidFill>
                <a:latin typeface="Arial"/>
                <a:ea typeface="Arial"/>
                <a:cs typeface="Arial"/>
                <a:sym typeface="Arial"/>
              </a:rPr>
              <a:t>×</a:t>
            </a:r>
            <a:r>
              <a:rPr lang="en-US" sz="3200" b="0" i="0" u="none" strike="noStrike" cap="none" dirty="0" smtClean="0">
                <a:solidFill>
                  <a:schemeClr val="dk1"/>
                </a:solidFill>
                <a:latin typeface="Arial"/>
                <a:ea typeface="Arial"/>
                <a:cs typeface="Arial"/>
                <a:sym typeface="Arial"/>
              </a:rPr>
              <a:t>n -3)T= 1000000T</a:t>
            </a:r>
          </a:p>
          <a:p>
            <a:pPr marL="0" marR="0" lvl="0" indent="0" algn="l" rtl="0">
              <a:spcBef>
                <a:spcPts val="0"/>
              </a:spcBef>
              <a:buClr>
                <a:schemeClr val="dk1"/>
              </a:buClr>
              <a:buSzPct val="25000"/>
              <a:buFont typeface="Arial"/>
              <a:buNone/>
            </a:pPr>
            <a:r>
              <a:rPr lang="en-US" sz="3200" b="0" i="0" u="none" strike="noStrike" cap="none" dirty="0" smtClean="0">
                <a:solidFill>
                  <a:schemeClr val="dk1"/>
                </a:solidFill>
                <a:latin typeface="Arial"/>
                <a:ea typeface="Arial"/>
                <a:cs typeface="Arial"/>
                <a:sym typeface="Arial"/>
              </a:rPr>
              <a:t> After solving n= (41666)</a:t>
            </a:r>
            <a:r>
              <a:rPr lang="en-US" sz="2400" b="0" i="0" u="none" strike="noStrike" cap="none" dirty="0" smtClean="0">
                <a:solidFill>
                  <a:schemeClr val="dk1"/>
                </a:solidFill>
                <a:latin typeface="Arial"/>
                <a:ea typeface="Arial"/>
                <a:cs typeface="Arial"/>
                <a:sym typeface="Arial"/>
              </a:rPr>
              <a:t>D</a:t>
            </a:r>
            <a:r>
              <a:rPr lang="en-US" sz="3200" b="0" i="0" u="none" strike="noStrike" cap="none" dirty="0" smtClean="0">
                <a:solidFill>
                  <a:schemeClr val="dk1"/>
                </a:solidFill>
                <a:latin typeface="Arial"/>
                <a:ea typeface="Arial"/>
                <a:cs typeface="Arial"/>
                <a:sym typeface="Arial"/>
              </a:rPr>
              <a:t> = (A2C2)</a:t>
            </a:r>
            <a:r>
              <a:rPr lang="en-US" sz="2400" b="0" i="0" u="none" strike="noStrike" cap="none" dirty="0" smtClean="0">
                <a:solidFill>
                  <a:schemeClr val="dk1"/>
                </a:solidFill>
                <a:latin typeface="Arial"/>
                <a:ea typeface="Arial"/>
                <a:cs typeface="Arial"/>
                <a:sym typeface="Arial"/>
              </a:rPr>
              <a:t>H</a:t>
            </a:r>
          </a:p>
          <a:p>
            <a:pPr marL="0" marR="0" lvl="0" indent="0" algn="l" rtl="0">
              <a:spcBef>
                <a:spcPts val="0"/>
              </a:spcBef>
              <a:buClr>
                <a:schemeClr val="dk1"/>
              </a:buClr>
              <a:buSzPct val="25000"/>
              <a:buFont typeface="Arial"/>
              <a:buNone/>
            </a:pPr>
            <a:endParaRPr lang="en-US" sz="3200" b="0" i="0" u="none" strike="noStrike" cap="none" dirty="0">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6482</TotalTime>
  <Words>3485</Words>
  <Application>Microsoft Office PowerPoint</Application>
  <PresentationFormat>On-screen Show (4:3)</PresentationFormat>
  <Paragraphs>711</Paragraphs>
  <Slides>59</Slides>
  <Notes>42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Arial</vt:lpstr>
      <vt:lpstr>Calibri</vt:lpstr>
      <vt:lpstr>Cambria Math</vt:lpstr>
      <vt:lpstr>Octapost NBP</vt:lpstr>
      <vt:lpstr>Roboto-Regular</vt:lpstr>
      <vt:lpstr>Symbol</vt:lpstr>
      <vt:lpstr>Times New Roman</vt:lpstr>
      <vt:lpstr>Verdana</vt:lpstr>
      <vt:lpstr>Office Theme</vt:lpstr>
      <vt:lpstr>PowerPoint Presentation</vt:lpstr>
      <vt:lpstr>Overview </vt:lpstr>
      <vt:lpstr>Pins  and  signals</vt:lpstr>
      <vt:lpstr>Pins and Signals</vt:lpstr>
      <vt:lpstr>Pins and Signals</vt:lpstr>
      <vt:lpstr>Pins and Signals</vt:lpstr>
      <vt:lpstr>Pins and Signals</vt:lpstr>
      <vt:lpstr>PowerPoint Presentation</vt:lpstr>
      <vt:lpstr>Pins and Signals</vt:lpstr>
      <vt:lpstr>Pins and Signals</vt:lpstr>
      <vt:lpstr>Pins and Signals</vt:lpstr>
      <vt:lpstr>Pins and Signals</vt:lpstr>
      <vt:lpstr>Pins and Signals</vt:lpstr>
      <vt:lpstr>Pins and Signals</vt:lpstr>
      <vt:lpstr>Architecture</vt:lpstr>
      <vt:lpstr>PowerPoint Presentation</vt:lpstr>
      <vt:lpstr>Architecture</vt:lpstr>
      <vt:lpstr>PowerPoint Presentation</vt:lpstr>
      <vt:lpstr>PowerPoint Presentation</vt:lpstr>
      <vt:lpstr>PowerPoint Presentation</vt:lpstr>
      <vt:lpstr>PowerPoint Presentation</vt:lpstr>
      <vt:lpstr>PowerPoint Presentation</vt:lpstr>
      <vt:lpstr>PowerPoint Presentation</vt:lpstr>
      <vt:lpstr>Architecture</vt:lpstr>
      <vt:lpstr>Architecture</vt:lpstr>
      <vt:lpstr>Architecture</vt:lpstr>
      <vt:lpstr>Architecture</vt:lpstr>
      <vt:lpstr>Architecture</vt:lpstr>
      <vt:lpstr>Architecture</vt:lpstr>
      <vt:lpstr>Architecture</vt:lpstr>
      <vt:lpstr>Architecture</vt:lpstr>
      <vt:lpstr>PowerPoint Presentation</vt:lpstr>
      <vt:lpstr>PowerPoint Presentation</vt:lpstr>
      <vt:lpstr>PowerPoint Presentation</vt:lpstr>
      <vt:lpstr>PowerPoint Presentation</vt:lpstr>
      <vt:lpstr>PowerPoint Presentation</vt:lpstr>
      <vt:lpstr>Write a program to count number of 1’s in given data (2000) and store the result in memory location 3000h.</vt:lpstr>
      <vt:lpstr>PowerPoint Presentation</vt:lpstr>
      <vt:lpstr>16 bytes of data are stored in memory location at xx50H to xx5FH.Transfer the entire block of data to new memory location starting at xx70H.</vt:lpstr>
      <vt:lpstr>PowerPoint Presentation</vt:lpstr>
      <vt:lpstr>PowerPoint Presentation</vt:lpstr>
      <vt:lpstr>PowerPoint Presentation</vt:lpstr>
      <vt:lpstr>PowerPoint Presentation</vt:lpstr>
      <vt:lpstr>PowerPoint Presentation</vt:lpstr>
      <vt:lpstr>Delays</vt:lpstr>
      <vt:lpstr>Delays</vt:lpstr>
      <vt:lpstr>Delay loops</vt:lpstr>
      <vt:lpstr>Delay Loops</vt:lpstr>
      <vt:lpstr>Delay Loops</vt:lpstr>
      <vt:lpstr>Using a Register Pair as a Loop Counter</vt:lpstr>
      <vt:lpstr>Using a Register Pair as a Loop Counter</vt:lpstr>
      <vt:lpstr>Using a Register Pair as a Loop Counter</vt:lpstr>
      <vt:lpstr>Nested Loops</vt:lpstr>
      <vt:lpstr>Nested Loops for Delay</vt:lpstr>
      <vt:lpstr>Delay Calculation of Nested Loops</vt:lpstr>
      <vt:lpstr>Delay Calculation of Nested Loops</vt:lpstr>
      <vt:lpstr>Increasing the delay</vt:lpstr>
      <vt:lpstr>Write a program to generate a delay of 0.4 sec if the crystal frequency is 5MHz</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AMMU</dc:creator>
  <cp:lastModifiedBy>Lenovo</cp:lastModifiedBy>
  <cp:revision>474</cp:revision>
  <cp:lastPrinted>2013-10-07T00:50:59Z</cp:lastPrinted>
  <dcterms:created xsi:type="dcterms:W3CDTF">2013-08-29T12:51:00Z</dcterms:created>
  <dcterms:modified xsi:type="dcterms:W3CDTF">2021-05-31T10:13:51Z</dcterms:modified>
</cp:coreProperties>
</file>