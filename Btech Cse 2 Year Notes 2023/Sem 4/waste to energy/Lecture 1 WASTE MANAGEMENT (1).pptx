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75" r:id="rId14"/>
    <p:sldId id="270" r:id="rId15"/>
    <p:sldId id="271" r:id="rId16"/>
    <p:sldId id="272" r:id="rId17"/>
    <p:sldId id="273" r:id="rId18"/>
    <p:sldId id="274" r:id="rId19"/>
    <p:sldId id="269"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4" d="100"/>
          <a:sy n="64" d="100"/>
        </p:scale>
        <p:origin x="-1482"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9579184-43F0-40D6-B815-3521C84D74EC}" type="datetimeFigureOut">
              <a:rPr lang="en-US" smtClean="0"/>
              <a:pPr/>
              <a:t>3/11/2022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42715D9-A789-4B4D-9631-F8F0E7FE36D1}"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42715D9-A789-4B4D-9631-F8F0E7FE36D1}" type="slidenum">
              <a:rPr lang="en-US" smtClean="0"/>
              <a:pPr/>
              <a:t>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61374ABB-94F8-4D78-B9B2-78E92E0B4A8C}" type="datetimeFigureOut">
              <a:rPr lang="en-US" smtClean="0"/>
              <a:pPr/>
              <a:t>3/11/2022</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22E85D48-A224-4EF6-AC02-118E54C5053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61374ABB-94F8-4D78-B9B2-78E92E0B4A8C}" type="datetimeFigureOut">
              <a:rPr lang="en-US" smtClean="0"/>
              <a:pPr/>
              <a:t>3/11/2022</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22E85D48-A224-4EF6-AC02-118E54C50531}" type="slidenum">
              <a:rPr lang="en-US" smtClean="0"/>
              <a:pPr/>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61374ABB-94F8-4D78-B9B2-78E92E0B4A8C}" type="datetimeFigureOut">
              <a:rPr lang="en-US" smtClean="0"/>
              <a:pPr/>
              <a:t>3/11/2022</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22E85D48-A224-4EF6-AC02-118E54C50531}"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61374ABB-94F8-4D78-B9B2-78E92E0B4A8C}" type="datetimeFigureOut">
              <a:rPr lang="en-US" smtClean="0"/>
              <a:pPr/>
              <a:t>3/11/2022</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22E85D48-A224-4EF6-AC02-118E54C50531}" type="slidenum">
              <a:rPr lang="en-US" smtClean="0"/>
              <a:pPr/>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61374ABB-94F8-4D78-B9B2-78E92E0B4A8C}" type="datetimeFigureOut">
              <a:rPr lang="en-US" smtClean="0"/>
              <a:pPr/>
              <a:t>3/11/2022</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22E85D48-A224-4EF6-AC02-118E54C50531}"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61374ABB-94F8-4D78-B9B2-78E92E0B4A8C}" type="datetimeFigureOut">
              <a:rPr lang="en-US" smtClean="0"/>
              <a:pPr/>
              <a:t>3/11/2022</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22E85D48-A224-4EF6-AC02-118E54C50531}" type="slidenum">
              <a:rPr lang="en-US" smtClean="0"/>
              <a:pPr/>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61374ABB-94F8-4D78-B9B2-78E92E0B4A8C}" type="datetimeFigureOut">
              <a:rPr lang="en-US" smtClean="0"/>
              <a:pPr/>
              <a:t>3/11/2022</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22E85D48-A224-4EF6-AC02-118E54C5053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61374ABB-94F8-4D78-B9B2-78E92E0B4A8C}" type="datetimeFigureOut">
              <a:rPr lang="en-US" smtClean="0"/>
              <a:pPr/>
              <a:t>3/11/2022</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22E85D48-A224-4EF6-AC02-118E54C50531}"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61374ABB-94F8-4D78-B9B2-78E92E0B4A8C}" type="datetimeFigureOut">
              <a:rPr lang="en-US" smtClean="0"/>
              <a:pPr/>
              <a:t>3/11/2022</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22E85D48-A224-4EF6-AC02-118E54C50531}"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61374ABB-94F8-4D78-B9B2-78E92E0B4A8C}" type="datetimeFigureOut">
              <a:rPr lang="en-US" smtClean="0"/>
              <a:pPr/>
              <a:t>3/11/2022</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22E85D48-A224-4EF6-AC02-118E54C5053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61374ABB-94F8-4D78-B9B2-78E92E0B4A8C}" type="datetimeFigureOut">
              <a:rPr lang="en-US" smtClean="0"/>
              <a:pPr/>
              <a:t>3/11/2022</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22E85D48-A224-4EF6-AC02-118E54C5053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61374ABB-94F8-4D78-B9B2-78E92E0B4A8C}" type="datetimeFigureOut">
              <a:rPr lang="en-US" smtClean="0"/>
              <a:pPr/>
              <a:t>3/11/2022</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22E85D48-A224-4EF6-AC02-118E54C5053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marL="342900" lvl="0" indent="-342900">
              <a:spcBef>
                <a:spcPct val="20000"/>
              </a:spcBef>
              <a:defRPr/>
            </a:pPr>
            <a:r>
              <a:rPr lang="en-US" dirty="0" smtClean="0">
                <a:solidFill>
                  <a:srgbClr val="7030A0"/>
                </a:solidFill>
                <a:effectLst/>
                <a:latin typeface="Times New Roman" pitchFamily="18" charset="0"/>
                <a:cs typeface="Times New Roman" pitchFamily="18" charset="0"/>
              </a:rPr>
              <a:t>Lecture 1</a:t>
            </a:r>
            <a:br>
              <a:rPr lang="en-US" dirty="0" smtClean="0">
                <a:solidFill>
                  <a:srgbClr val="7030A0"/>
                </a:solidFill>
                <a:effectLst/>
                <a:latin typeface="Times New Roman" pitchFamily="18" charset="0"/>
                <a:cs typeface="Times New Roman" pitchFamily="18" charset="0"/>
              </a:rPr>
            </a:br>
            <a:r>
              <a:rPr lang="en-US" sz="4000" dirty="0" smtClean="0">
                <a:solidFill>
                  <a:srgbClr val="7030A0"/>
                </a:solidFill>
                <a:effectLst/>
                <a:latin typeface="Times New Roman" pitchFamily="18" charset="0"/>
                <a:cs typeface="Times New Roman" pitchFamily="18" charset="0"/>
              </a:rPr>
              <a:t>Introduction of Waste Management </a:t>
            </a:r>
            <a:r>
              <a:rPr lang="en-US" dirty="0" smtClean="0">
                <a:solidFill>
                  <a:srgbClr val="7030A0"/>
                </a:solidFill>
                <a:effectLst/>
                <a:latin typeface="Times New Roman" pitchFamily="18" charset="0"/>
                <a:cs typeface="Times New Roman" pitchFamily="18" charset="0"/>
              </a:rPr>
              <a:t/>
            </a:r>
            <a:br>
              <a:rPr lang="en-US" dirty="0" smtClean="0">
                <a:solidFill>
                  <a:srgbClr val="7030A0"/>
                </a:solidFill>
                <a:effectLst/>
                <a:latin typeface="Times New Roman" pitchFamily="18" charset="0"/>
                <a:cs typeface="Times New Roman" pitchFamily="18" charset="0"/>
              </a:rPr>
            </a:br>
            <a:endParaRPr lang="en-US" dirty="0"/>
          </a:p>
        </p:txBody>
      </p:sp>
      <p:sp>
        <p:nvSpPr>
          <p:cNvPr id="3" name="Subtitle 2"/>
          <p:cNvSpPr>
            <a:spLocks noGrp="1"/>
          </p:cNvSpPr>
          <p:nvPr>
            <p:ph type="subTitle" idx="1"/>
          </p:nvPr>
        </p:nvSpPr>
        <p:spPr/>
        <p:txBody>
          <a:bodyPr>
            <a:normAutofit fontScale="47500" lnSpcReduction="20000"/>
          </a:bodyPr>
          <a:lstStyle/>
          <a:p>
            <a:r>
              <a:rPr lang="en-US" sz="3800" dirty="0" smtClean="0">
                <a:latin typeface="Times New Roman" pitchFamily="18" charset="0"/>
                <a:cs typeface="Times New Roman" pitchFamily="18" charset="0"/>
              </a:rPr>
              <a:t>Mr. Vishwesh Mishra</a:t>
            </a:r>
          </a:p>
          <a:p>
            <a:r>
              <a:rPr lang="en-US" sz="3800" dirty="0" smtClean="0">
                <a:latin typeface="Times New Roman" pitchFamily="18" charset="0"/>
                <a:cs typeface="Times New Roman" pitchFamily="18" charset="0"/>
              </a:rPr>
              <a:t>Assistant Professor</a:t>
            </a:r>
          </a:p>
          <a:p>
            <a:r>
              <a:rPr lang="en-US" sz="3800" dirty="0" smtClean="0">
                <a:latin typeface="Times New Roman" pitchFamily="18" charset="0"/>
                <a:cs typeface="Times New Roman" pitchFamily="18" charset="0"/>
              </a:rPr>
              <a:t>Department of Mechanical Engineering</a:t>
            </a:r>
          </a:p>
          <a:p>
            <a:r>
              <a:rPr lang="en-US" sz="3800" dirty="0" smtClean="0">
                <a:latin typeface="Times New Roman" pitchFamily="18" charset="0"/>
                <a:cs typeface="Times New Roman" pitchFamily="18" charset="0"/>
              </a:rPr>
              <a:t>GLA University, Mathura</a:t>
            </a:r>
          </a:p>
          <a:p>
            <a:endParaRPr lang="en-US" dirty="0"/>
          </a:p>
        </p:txBody>
      </p:sp>
      <p:pic>
        <p:nvPicPr>
          <p:cNvPr id="4" name="Picture 3" descr="Logo Coloured Final 2011.jpg"/>
          <p:cNvPicPr/>
          <p:nvPr/>
        </p:nvPicPr>
        <p:blipFill>
          <a:blip r:embed="rId2" cstate="print"/>
          <a:srcRect/>
          <a:stretch>
            <a:fillRect/>
          </a:stretch>
        </p:blipFill>
        <p:spPr bwMode="auto">
          <a:xfrm>
            <a:off x="7162800" y="228600"/>
            <a:ext cx="1619201" cy="762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p:cNvPicPr>
            <a:picLocks noChangeAspect="1" noChangeArrowheads="1"/>
          </p:cNvPicPr>
          <p:nvPr/>
        </p:nvPicPr>
        <p:blipFill>
          <a:blip r:embed="rId2"/>
          <a:srcRect/>
          <a:stretch>
            <a:fillRect/>
          </a:stretch>
        </p:blipFill>
        <p:spPr bwMode="auto">
          <a:xfrm>
            <a:off x="0" y="0"/>
            <a:ext cx="9144000" cy="6858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p:cNvPicPr>
            <a:picLocks noChangeAspect="1" noChangeArrowheads="1"/>
          </p:cNvPicPr>
          <p:nvPr/>
        </p:nvPicPr>
        <p:blipFill>
          <a:blip r:embed="rId2"/>
          <a:srcRect/>
          <a:stretch>
            <a:fillRect/>
          </a:stretch>
        </p:blipFill>
        <p:spPr bwMode="auto">
          <a:xfrm>
            <a:off x="0" y="1066801"/>
            <a:ext cx="9143999" cy="5791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p:cNvPicPr>
            <a:picLocks noChangeAspect="1" noChangeArrowheads="1"/>
          </p:cNvPicPr>
          <p:nvPr/>
        </p:nvPicPr>
        <p:blipFill>
          <a:blip r:embed="rId2"/>
          <a:srcRect/>
          <a:stretch>
            <a:fillRect/>
          </a:stretch>
        </p:blipFill>
        <p:spPr bwMode="auto">
          <a:xfrm>
            <a:off x="0" y="1"/>
            <a:ext cx="9144000" cy="6858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descr="Waste Management"/>
          <p:cNvPicPr>
            <a:picLocks noChangeAspect="1" noChangeArrowheads="1"/>
          </p:cNvPicPr>
          <p:nvPr/>
        </p:nvPicPr>
        <p:blipFill>
          <a:blip r:embed="rId2"/>
          <a:srcRect/>
          <a:stretch>
            <a:fillRect/>
          </a:stretch>
        </p:blipFill>
        <p:spPr bwMode="auto">
          <a:xfrm>
            <a:off x="0" y="0"/>
            <a:ext cx="9144000" cy="6858000"/>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descr="Waste Management In India - A Rapidly Growing Industry » Waste Solutions"/>
          <p:cNvPicPr>
            <a:picLocks noChangeAspect="1" noChangeArrowheads="1"/>
          </p:cNvPicPr>
          <p:nvPr/>
        </p:nvPicPr>
        <p:blipFill>
          <a:blip r:embed="rId3"/>
          <a:srcRect/>
          <a:stretch>
            <a:fillRect/>
          </a:stretch>
        </p:blipFill>
        <p:spPr bwMode="auto">
          <a:xfrm>
            <a:off x="0" y="0"/>
            <a:ext cx="9144000" cy="6858000"/>
          </a:xfrm>
          <a:prstGeom prst="rect">
            <a:avLst/>
          </a:prstGeo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3600" dirty="0" smtClean="0"/>
              <a:t>I. Reduce</a:t>
            </a:r>
            <a:r>
              <a:rPr lang="en-US" dirty="0" smtClean="0"/>
              <a:t>: Buy only what you need because a better way to reduce waste is by not creating it. </a:t>
            </a:r>
          </a:p>
          <a:p>
            <a:r>
              <a:rPr lang="en-US" sz="3200" dirty="0" smtClean="0"/>
              <a:t>II. Reuse</a:t>
            </a:r>
            <a:r>
              <a:rPr lang="en-US" dirty="0" smtClean="0"/>
              <a:t>: If you have to acquire goods, try getting used ones or obtaining substitutes. </a:t>
            </a:r>
          </a:p>
          <a:p>
            <a:r>
              <a:rPr lang="en-US" dirty="0" smtClean="0"/>
              <a:t>III. </a:t>
            </a:r>
            <a:r>
              <a:rPr lang="en-US" sz="3200" dirty="0" smtClean="0"/>
              <a:t>Recycle</a:t>
            </a:r>
            <a:r>
              <a:rPr lang="en-US" dirty="0" smtClean="0"/>
              <a:t>: When discarding your waste, find ways to recycle it instead of letting it go to landfill</a:t>
            </a:r>
            <a:endParaRPr lang="en-US" dirty="0"/>
          </a:p>
        </p:txBody>
      </p:sp>
      <p:sp>
        <p:nvSpPr>
          <p:cNvPr id="3" name="Title 2"/>
          <p:cNvSpPr>
            <a:spLocks noGrp="1"/>
          </p:cNvSpPr>
          <p:nvPr>
            <p:ph type="title"/>
          </p:nvPr>
        </p:nvSpPr>
        <p:spPr/>
        <p:txBody>
          <a:bodyPr>
            <a:normAutofit/>
          </a:bodyPr>
          <a:lstStyle/>
          <a:p>
            <a:r>
              <a:rPr lang="en-US" sz="3000" dirty="0" smtClean="0"/>
              <a:t>Reduce, Reuse, Recycle/ 3R Principal </a:t>
            </a:r>
            <a:endParaRPr lang="en-US" sz="30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fontAlgn="base"/>
            <a:r>
              <a:rPr lang="en-US" dirty="0" smtClean="0"/>
              <a:t>Human society produces some unwanted and discarded materials which are called wastes.</a:t>
            </a:r>
          </a:p>
          <a:p>
            <a:pPr fontAlgn="base"/>
            <a:r>
              <a:rPr lang="en-US" dirty="0" smtClean="0"/>
              <a:t>Wastes are produced from different activities such as household activities, agricultural activities industrial activities, hospitals, educational institutions, mining operations, and so on.</a:t>
            </a:r>
          </a:p>
          <a:p>
            <a:pPr fontAlgn="base"/>
            <a:r>
              <a:rPr lang="en-US" dirty="0" smtClean="0"/>
              <a:t>These sources general different types of wastes, many of which are hazardous in nature. They cause spread of many diseases.</a:t>
            </a:r>
          </a:p>
          <a:p>
            <a:endParaRPr lang="en-US" dirty="0"/>
          </a:p>
        </p:txBody>
      </p:sp>
      <p:sp>
        <p:nvSpPr>
          <p:cNvPr id="3" name="Title 2"/>
          <p:cNvSpPr>
            <a:spLocks noGrp="1"/>
          </p:cNvSpPr>
          <p:nvPr>
            <p:ph type="title"/>
          </p:nvPr>
        </p:nvSpPr>
        <p:spPr/>
        <p:txBody>
          <a:bodyPr>
            <a:normAutofit fontScale="90000"/>
          </a:bodyPr>
          <a:lstStyle/>
          <a:p>
            <a:r>
              <a:rPr lang="en-US" dirty="0" smtClean="0"/>
              <a:t>Wastes: Sources, Classification and Impact</a:t>
            </a:r>
            <a:br>
              <a:rPr lang="en-US" dirty="0" smtClean="0"/>
            </a:b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676400"/>
            <a:ext cx="8229600" cy="4330891"/>
          </a:xfrm>
        </p:spPr>
        <p:txBody>
          <a:bodyPr/>
          <a:lstStyle/>
          <a:p>
            <a:pPr fontAlgn="base">
              <a:buNone/>
            </a:pPr>
            <a:r>
              <a:rPr lang="en-US" sz="2800" b="1" dirty="0" smtClean="0"/>
              <a:t>Solid wastes:</a:t>
            </a:r>
            <a:endParaRPr lang="en-US" sz="2800" dirty="0" smtClean="0"/>
          </a:p>
          <a:p>
            <a:pPr fontAlgn="base"/>
            <a:r>
              <a:rPr lang="en-US" dirty="0" smtClean="0"/>
              <a:t>The solid wastes are the useless and unwanted substances discarded by human society. These include urban wastes, industrial wastes, agricultural wastes, biomedical wastes and radioactive wastes. The term refuse is also used for solid waste.</a:t>
            </a:r>
          </a:p>
          <a:p>
            <a:endParaRPr lang="en-US" dirty="0"/>
          </a:p>
        </p:txBody>
      </p:sp>
      <p:sp>
        <p:nvSpPr>
          <p:cNvPr id="3" name="Title 2"/>
          <p:cNvSpPr>
            <a:spLocks noGrp="1"/>
          </p:cNvSpPr>
          <p:nvPr>
            <p:ph type="title"/>
          </p:nvPr>
        </p:nvSpPr>
        <p:spPr/>
        <p:txBody>
          <a:bodyPr>
            <a:normAutofit fontScale="90000"/>
          </a:bodyPr>
          <a:lstStyle/>
          <a:p>
            <a:r>
              <a:rPr lang="en-US" dirty="0" smtClean="0"/>
              <a:t>In general, the wastes maybe categorized as follows:</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fontAlgn="base">
              <a:buNone/>
            </a:pPr>
            <a:r>
              <a:rPr lang="en-US" sz="2800" b="1" dirty="0" smtClean="0"/>
              <a:t>Liquid wastes:</a:t>
            </a:r>
            <a:endParaRPr lang="en-US" sz="2800" dirty="0" smtClean="0"/>
          </a:p>
          <a:p>
            <a:pPr fontAlgn="base">
              <a:buNone/>
            </a:pPr>
            <a:endParaRPr lang="en-US" cap="all" dirty="0" smtClean="0"/>
          </a:p>
          <a:p>
            <a:pPr fontAlgn="base"/>
            <a:r>
              <a:rPr lang="en-US" dirty="0" smtClean="0"/>
              <a:t>Wastes generated from washing, flushing or manufacturing processes of industries are called liquid wastes. Such a waste is called sewage. The most common practice is to discharge it on the ground, </a:t>
            </a:r>
            <a:r>
              <a:rPr lang="en-US" dirty="0" err="1" smtClean="0"/>
              <a:t>nallahs</a:t>
            </a:r>
            <a:r>
              <a:rPr lang="en-US" dirty="0" smtClean="0"/>
              <a:t>, rivers and other water bodies, often without any treatment.</a:t>
            </a:r>
          </a:p>
          <a:p>
            <a:endParaRPr lang="en-US" dirty="0"/>
          </a:p>
        </p:txBody>
      </p:sp>
      <p:sp>
        <p:nvSpPr>
          <p:cNvPr id="3" name="Title 2"/>
          <p:cNvSpPr>
            <a:spLocks noGrp="1"/>
          </p:cNvSpPr>
          <p:nvPr>
            <p:ph type="title"/>
          </p:nvPr>
        </p:nvSpPr>
        <p:spPr/>
        <p:txBody>
          <a:bodyPr/>
          <a:lstStyle/>
          <a:p>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fontAlgn="base">
              <a:buNone/>
            </a:pPr>
            <a:r>
              <a:rPr lang="en-US" sz="2800" b="1" dirty="0" smtClean="0"/>
              <a:t>Gaseous wastes:</a:t>
            </a:r>
          </a:p>
          <a:p>
            <a:pPr fontAlgn="base">
              <a:buNone/>
            </a:pPr>
            <a:endParaRPr lang="en-US" dirty="0" smtClean="0"/>
          </a:p>
          <a:p>
            <a:pPr fontAlgn="base"/>
            <a:r>
              <a:rPr lang="en-US" dirty="0" smtClean="0"/>
              <a:t>These wastes are released in the form of gases from automobiles, factories, burning of fossil fuels etc. and get mixed in the atmosphere. These gases include carbon monoxide, CO</a:t>
            </a:r>
            <a:r>
              <a:rPr lang="en-US" baseline="-25000" dirty="0" smtClean="0"/>
              <a:t>2</a:t>
            </a:r>
            <a:r>
              <a:rPr lang="en-US" dirty="0" smtClean="0"/>
              <a:t>, </a:t>
            </a:r>
            <a:r>
              <a:rPr lang="en-US" dirty="0" err="1" smtClean="0"/>
              <a:t>sulphur</a:t>
            </a:r>
            <a:r>
              <a:rPr lang="en-US" dirty="0" smtClean="0"/>
              <a:t> dioxide, nitrogen dioxide, ozone, methane, etc.</a:t>
            </a:r>
          </a:p>
          <a:p>
            <a:endParaRPr lang="en-US" dirty="0"/>
          </a:p>
        </p:txBody>
      </p:sp>
      <p:sp>
        <p:nvSpPr>
          <p:cNvPr id="3" name="Title 2"/>
          <p:cNvSpPr>
            <a:spLocks noGrp="1"/>
          </p:cNvSpPr>
          <p:nvPr>
            <p:ph type="title"/>
          </p:nvPr>
        </p:nvSpPr>
        <p:spPr/>
        <p:txBody>
          <a:bodyPr/>
          <a:lstStyle/>
          <a:p>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fontAlgn="base">
              <a:buNone/>
            </a:pPr>
            <a:r>
              <a:rPr lang="en-US" b="1" dirty="0" smtClean="0"/>
              <a:t>Wastes produced from different sources, are classified as follows:</a:t>
            </a:r>
            <a:endParaRPr lang="en-US" dirty="0" smtClean="0"/>
          </a:p>
          <a:p>
            <a:pPr fontAlgn="base">
              <a:buNone/>
            </a:pPr>
            <a:r>
              <a:rPr lang="en-US" dirty="0" smtClean="0"/>
              <a:t>1. Urban or Municipal wastes</a:t>
            </a:r>
          </a:p>
          <a:p>
            <a:pPr fontAlgn="base">
              <a:buNone/>
            </a:pPr>
            <a:r>
              <a:rPr lang="en-US" dirty="0" smtClean="0"/>
              <a:t>2. Industrial wastes</a:t>
            </a:r>
          </a:p>
          <a:p>
            <a:pPr fontAlgn="base">
              <a:buNone/>
            </a:pPr>
            <a:r>
              <a:rPr lang="en-US" dirty="0" smtClean="0"/>
              <a:t>3. Commercial wastes</a:t>
            </a:r>
          </a:p>
          <a:p>
            <a:pPr fontAlgn="base">
              <a:buNone/>
            </a:pPr>
            <a:r>
              <a:rPr lang="en-US" dirty="0" smtClean="0"/>
              <a:t>4. Agricultural wastes</a:t>
            </a:r>
          </a:p>
          <a:p>
            <a:endParaRPr lang="en-US" dirty="0"/>
          </a:p>
        </p:txBody>
      </p:sp>
      <p:sp>
        <p:nvSpPr>
          <p:cNvPr id="3" name="Title 2"/>
          <p:cNvSpPr>
            <a:spLocks noGrp="1"/>
          </p:cNvSpPr>
          <p:nvPr>
            <p:ph type="title"/>
          </p:nvPr>
        </p:nvSpPr>
        <p:spPr/>
        <p:txBody>
          <a:bodyPr/>
          <a:lstStyle/>
          <a:p>
            <a:r>
              <a:rPr lang="en-US" dirty="0" smtClean="0"/>
              <a:t>Sources of Wastes:</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dirty="0" smtClean="0"/>
              <a:t>Waste Resource and Characterization</a:t>
            </a:r>
            <a:endParaRPr lang="en-US" dirty="0"/>
          </a:p>
        </p:txBody>
      </p:sp>
      <p:sp>
        <p:nvSpPr>
          <p:cNvPr id="3" name="Subtitle 2"/>
          <p:cNvSpPr>
            <a:spLocks noGrp="1"/>
          </p:cNvSpPr>
          <p:nvPr>
            <p:ph type="subTitle" idx="1"/>
          </p:nvPr>
        </p:nvSpPr>
        <p:spPr/>
        <p:txBody>
          <a:bodyPr/>
          <a:lstStyle/>
          <a:p>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fontAlgn="base"/>
            <a:r>
              <a:rPr lang="en-US" dirty="0" smtClean="0"/>
              <a:t>The wastes, collected from the residential houses, markets, streets and other places mostly in the urban areas and disposed of by municipal bodies are called municipal solid wastes (MSW). In general, the urban solid wastes are called refuse. The Municipal solid wastes are a mixture of paper, plastic, clothes, metals, glass, organic matter etc. generated from households, commercial establishments and markets.</a:t>
            </a:r>
          </a:p>
          <a:p>
            <a:endParaRPr lang="en-US" dirty="0"/>
          </a:p>
        </p:txBody>
      </p:sp>
      <p:sp>
        <p:nvSpPr>
          <p:cNvPr id="3" name="Title 2"/>
          <p:cNvSpPr>
            <a:spLocks noGrp="1"/>
          </p:cNvSpPr>
          <p:nvPr>
            <p:ph type="title"/>
          </p:nvPr>
        </p:nvSpPr>
        <p:spPr/>
        <p:txBody>
          <a:bodyPr>
            <a:normAutofit fontScale="90000"/>
          </a:bodyPr>
          <a:lstStyle/>
          <a:p>
            <a:r>
              <a:rPr lang="en-US" dirty="0" smtClean="0"/>
              <a:t>Municipal Solid Waste:</a:t>
            </a:r>
            <a:br>
              <a:rPr lang="en-US" dirty="0" smtClean="0"/>
            </a:b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fontAlgn="base"/>
            <a:r>
              <a:rPr lang="en-US" dirty="0" smtClean="0"/>
              <a:t>Industrial wastes are released from chemical plants, paint industries, cement factories, power plants, metallurgical plants, mining operations, textile industries, food processing industries petroleum industries and thermal power plants. These industries produce different types of waste products . Industrial solid wastes can be classified into two groups.</a:t>
            </a:r>
          </a:p>
          <a:p>
            <a:endParaRPr lang="en-US" dirty="0"/>
          </a:p>
        </p:txBody>
      </p:sp>
      <p:sp>
        <p:nvSpPr>
          <p:cNvPr id="3" name="Title 2"/>
          <p:cNvSpPr>
            <a:spLocks noGrp="1"/>
          </p:cNvSpPr>
          <p:nvPr>
            <p:ph type="title"/>
          </p:nvPr>
        </p:nvSpPr>
        <p:spPr/>
        <p:txBody>
          <a:bodyPr>
            <a:normAutofit fontScale="90000"/>
          </a:bodyPr>
          <a:lstStyle/>
          <a:p>
            <a:r>
              <a:rPr lang="en-US" dirty="0" smtClean="0"/>
              <a:t>Industrial Wastes:</a:t>
            </a:r>
            <a:br>
              <a:rPr lang="en-US" dirty="0" smtClean="0"/>
            </a:b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fontAlgn="base"/>
            <a:r>
              <a:rPr lang="en-US" dirty="0" smtClean="0"/>
              <a:t>These wastes are produced from food processing plants, cotton mills, paper mills, sugar mills and textile industries.</a:t>
            </a:r>
          </a:p>
          <a:p>
            <a:pPr fontAlgn="base">
              <a:buNone/>
            </a:pPr>
            <a:r>
              <a:rPr lang="en-US" cap="all" dirty="0" smtClean="0"/>
              <a:t>:</a:t>
            </a:r>
            <a:endParaRPr lang="en-US" sz="4000" cap="all" dirty="0" smtClean="0"/>
          </a:p>
          <a:p>
            <a:pPr fontAlgn="base">
              <a:buNone/>
            </a:pPr>
            <a:r>
              <a:rPr lang="en-US" sz="4000" b="1" dirty="0" smtClean="0"/>
              <a:t>Hazardous wastes:</a:t>
            </a:r>
            <a:endParaRPr lang="en-US" sz="4000" dirty="0" smtClean="0"/>
          </a:p>
          <a:p>
            <a:pPr fontAlgn="base"/>
            <a:r>
              <a:rPr lang="en-US" dirty="0" smtClean="0"/>
              <a:t>Hazardous wastes are generated by nearly every industry. Metals, chemical, drugs, lather, pulp, electroplating, dye, rubber are some of important examples. Liquid Industrial waste that runs into a stream from a factory can kill the aquatic fauna and also cause health problems for humans.</a:t>
            </a:r>
          </a:p>
          <a:p>
            <a:endParaRPr lang="en-US" dirty="0"/>
          </a:p>
        </p:txBody>
      </p:sp>
      <p:sp>
        <p:nvSpPr>
          <p:cNvPr id="3" name="Title 2"/>
          <p:cNvSpPr>
            <a:spLocks noGrp="1"/>
          </p:cNvSpPr>
          <p:nvPr>
            <p:ph type="title"/>
          </p:nvPr>
        </p:nvSpPr>
        <p:spPr/>
        <p:txBody>
          <a:bodyPr>
            <a:normAutofit fontScale="90000"/>
          </a:bodyPr>
          <a:lstStyle/>
          <a:p>
            <a:r>
              <a:rPr lang="en-US" dirty="0" smtClean="0"/>
              <a:t>Non-hazardous wastes:</a:t>
            </a:r>
            <a:br>
              <a:rPr lang="en-US" dirty="0" smtClean="0"/>
            </a:b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10000"/>
          </a:bodyPr>
          <a:lstStyle/>
          <a:p>
            <a:pPr fontAlgn="base">
              <a:buNone/>
            </a:pPr>
            <a:endParaRPr lang="en-US" cap="all" dirty="0" smtClean="0"/>
          </a:p>
          <a:p>
            <a:pPr fontAlgn="base"/>
            <a:r>
              <a:rPr lang="en-US" dirty="0" smtClean="0"/>
              <a:t>Agricultural areas produce plants and animals wastes.</a:t>
            </a:r>
          </a:p>
          <a:p>
            <a:pPr fontAlgn="base"/>
            <a:r>
              <a:rPr lang="en-US" dirty="0" smtClean="0"/>
              <a:t> Excess use of fertilizer, pesticides and other chemicals used in agriculture and the wastes formed from these cause land and water pollution. They also contaminate the soil. Among pesticides chlorinated hydrocarbons, DDT, BHC, endrin, dieldrin, lindane, parathion, malathion and endosulphon are important which are absorbed by the soil and contaminate crops grown in the soil. Other agriculture wastes are produced from sugar factories, tobacco processing units, slaughter houses, livestock, poultry etc.</a:t>
            </a:r>
          </a:p>
          <a:p>
            <a:endParaRPr lang="en-US" dirty="0"/>
          </a:p>
        </p:txBody>
      </p:sp>
      <p:sp>
        <p:nvSpPr>
          <p:cNvPr id="3" name="Title 2"/>
          <p:cNvSpPr>
            <a:spLocks noGrp="1"/>
          </p:cNvSpPr>
          <p:nvPr>
            <p:ph type="title"/>
          </p:nvPr>
        </p:nvSpPr>
        <p:spPr/>
        <p:txBody>
          <a:bodyPr>
            <a:normAutofit fontScale="90000"/>
          </a:bodyPr>
          <a:lstStyle/>
          <a:p>
            <a:r>
              <a:rPr lang="en-US" dirty="0" smtClean="0"/>
              <a:t>Agricultural Wastes:</a:t>
            </a:r>
            <a:br>
              <a:rPr lang="en-US" dirty="0" smtClean="0"/>
            </a:b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fontAlgn="base"/>
            <a:r>
              <a:rPr lang="en-US" dirty="0" smtClean="0"/>
              <a:t>With the advancement of modem cities, industries and automobiles, huge amount of wastes are generated daily. These include markets, roads, buildings, hotels, commercial complexes, hostels, auto workshops, printing press etc. Hospitals, nursing homes and medical institutes also release tremendous amount of wastes which are hazardous and are much toxic in nature.</a:t>
            </a:r>
          </a:p>
          <a:p>
            <a:endParaRPr lang="en-US" dirty="0"/>
          </a:p>
        </p:txBody>
      </p:sp>
      <p:sp>
        <p:nvSpPr>
          <p:cNvPr id="3" name="Title 2"/>
          <p:cNvSpPr>
            <a:spLocks noGrp="1"/>
          </p:cNvSpPr>
          <p:nvPr>
            <p:ph type="title"/>
          </p:nvPr>
        </p:nvSpPr>
        <p:spPr/>
        <p:txBody>
          <a:bodyPr>
            <a:normAutofit fontScale="90000"/>
          </a:bodyPr>
          <a:lstStyle/>
          <a:p>
            <a:r>
              <a:rPr lang="en-US" dirty="0" smtClean="0"/>
              <a:t>Commercial Wastes:</a:t>
            </a:r>
            <a:br>
              <a:rPr lang="en-US" dirty="0" smtClean="0"/>
            </a:b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One of the major environmental problems is the collection, management and disposal of the MSW in the urban areas. </a:t>
            </a:r>
          </a:p>
          <a:p>
            <a:r>
              <a:rPr lang="en-US" dirty="0" smtClean="0"/>
              <a:t>Lack of MSW management and disposal is leading to significant environmental problems. </a:t>
            </a:r>
          </a:p>
          <a:p>
            <a:r>
              <a:rPr lang="en-US" dirty="0" smtClean="0"/>
              <a:t>This includes soil, air water, and aesthetic pollution. Such environmental problems are associated with human health disorder, due to the increase in greenhouse gas emissions.</a:t>
            </a:r>
            <a:endParaRPr lang="en-US" dirty="0"/>
          </a:p>
        </p:txBody>
      </p:sp>
      <p:sp>
        <p:nvSpPr>
          <p:cNvPr id="3" name="Title 2"/>
          <p:cNvSpPr>
            <a:spLocks noGrp="1"/>
          </p:cNvSpPr>
          <p:nvPr>
            <p:ph type="title"/>
          </p:nvPr>
        </p:nvSpPr>
        <p:spPr/>
        <p:txBody>
          <a:bodyPr>
            <a:normAutofit fontScale="90000"/>
          </a:bodyPr>
          <a:lstStyle/>
          <a:p>
            <a:r>
              <a:rPr lang="en-US" b="0" dirty="0" smtClean="0"/>
              <a:t>Disposal of municipal solid waste</a:t>
            </a:r>
            <a:br>
              <a:rPr lang="en-US" b="0" dirty="0" smtClean="0"/>
            </a:b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r>
              <a:rPr lang="en-US" sz="2400" dirty="0" smtClean="0"/>
              <a:t>Globally, about 71% of MSW’s are disposed of in landfills .</a:t>
            </a:r>
          </a:p>
          <a:p>
            <a:r>
              <a:rPr lang="en-US" sz="2400" dirty="0" smtClean="0"/>
              <a:t>MSW contains, mostly, hazardous substances including some batteries, paints, mercury-containing waste, pharmaceuticals, vehicle maintenance products, and many other products . </a:t>
            </a:r>
          </a:p>
          <a:p>
            <a:r>
              <a:rPr lang="en-US" sz="2400" dirty="0" smtClean="0"/>
              <a:t>On the other hands, more than 53% of the landfilled wastes consist of hard board paper, yard waste, papers and food that are biodegradable by the anaerobic bacteria . </a:t>
            </a:r>
          </a:p>
          <a:p>
            <a:r>
              <a:rPr lang="en-US" sz="2400" dirty="0" smtClean="0"/>
              <a:t>This makes the land filling as the primary method of disposing waste.</a:t>
            </a:r>
            <a:endParaRPr lang="en-US" sz="2400" dirty="0"/>
          </a:p>
        </p:txBody>
      </p:sp>
      <p:sp>
        <p:nvSpPr>
          <p:cNvPr id="3" name="Title 2"/>
          <p:cNvSpPr>
            <a:spLocks noGrp="1"/>
          </p:cNvSpPr>
          <p:nvPr>
            <p:ph type="title"/>
          </p:nvPr>
        </p:nvSpPr>
        <p:spPr/>
        <p:txBody>
          <a:bodyPr/>
          <a:lstStyle/>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Waste-to-Energy (WTE) technologies consist of any waste treatment process that creates energy in the form of electricity, heat or transport fuels (e.g. diesel) from a waste source.</a:t>
            </a:r>
          </a:p>
          <a:p>
            <a:r>
              <a:rPr lang="en-US" dirty="0" smtClean="0"/>
              <a:t>There are number of ways of generating energy from waste. These include combustion, gasification, pyrolysis, anaerobic digestion and landfill gas recovery.</a:t>
            </a:r>
            <a:endParaRPr lang="en-US" dirty="0"/>
          </a:p>
        </p:txBody>
      </p:sp>
      <p:sp>
        <p:nvSpPr>
          <p:cNvPr id="3" name="Title 2"/>
          <p:cNvSpPr>
            <a:spLocks noGrp="1"/>
          </p:cNvSpPr>
          <p:nvPr>
            <p:ph type="title"/>
          </p:nvPr>
        </p:nvSpPr>
        <p:spPr/>
        <p:txBody>
          <a:bodyPr>
            <a:normAutofit fontScale="90000"/>
          </a:bodyPr>
          <a:lstStyle/>
          <a:p>
            <a:r>
              <a:rPr lang="en-US" b="0" dirty="0" smtClean="0"/>
              <a:t> Technologies for waste to Energy</a:t>
            </a:r>
            <a:br>
              <a:rPr lang="en-US" b="0" dirty="0" smtClean="0"/>
            </a:b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There are different types of waste-to-energy systems or technologies. </a:t>
            </a:r>
          </a:p>
          <a:p>
            <a:r>
              <a:rPr lang="en-US" dirty="0" smtClean="0"/>
              <a:t>The most common type used in the United States is </a:t>
            </a:r>
            <a:r>
              <a:rPr lang="en-US" b="1" dirty="0" smtClean="0"/>
              <a:t>the mass-burn system</a:t>
            </a:r>
            <a:r>
              <a:rPr lang="en-US" dirty="0" smtClean="0"/>
              <a:t>, where unprocessed MSW is burned in a large incinerator with a boiler and a generator for producing electricity.</a:t>
            </a:r>
            <a:endParaRPr lang="en-US" dirty="0"/>
          </a:p>
        </p:txBody>
      </p:sp>
      <p:sp>
        <p:nvSpPr>
          <p:cNvPr id="3" name="Title 2"/>
          <p:cNvSpPr>
            <a:spLocks noGrp="1"/>
          </p:cNvSpPr>
          <p:nvPr>
            <p:ph type="title"/>
          </p:nvPr>
        </p:nvSpPr>
        <p:spPr/>
        <p:txBody>
          <a:bodyPr>
            <a:normAutofit fontScale="90000"/>
          </a:bodyPr>
          <a:lstStyle/>
          <a:p>
            <a:r>
              <a:rPr lang="en-US" b="0" dirty="0" smtClean="0"/>
              <a:t>Most common waste-to-energy method</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200" dirty="0" smtClean="0"/>
              <a:t>Waste is dumped from garbage trucks into a large pit.</a:t>
            </a:r>
          </a:p>
          <a:p>
            <a:r>
              <a:rPr lang="en-US" sz="2200" dirty="0" smtClean="0"/>
              <a:t>A giant claw on a crane grabs waste and dumps it in a combustion chamber.</a:t>
            </a:r>
          </a:p>
          <a:p>
            <a:r>
              <a:rPr lang="en-US" sz="2200" dirty="0" smtClean="0"/>
              <a:t>The waste (fuel) is burned, releasing heat.</a:t>
            </a:r>
          </a:p>
          <a:p>
            <a:r>
              <a:rPr lang="en-US" sz="2200" dirty="0" smtClean="0"/>
              <a:t>The heat turns water into steam in a boiler.</a:t>
            </a:r>
          </a:p>
          <a:p>
            <a:r>
              <a:rPr lang="en-US" sz="2200" dirty="0" smtClean="0"/>
              <a:t>The high-pressure steam turns the blades of a turbine generator to produce electricity.</a:t>
            </a:r>
          </a:p>
          <a:p>
            <a:r>
              <a:rPr lang="en-US" sz="2200" dirty="0" smtClean="0"/>
              <a:t>An air pollution control system removes pollutants from the combustion gas before it is released through a smoke stack.</a:t>
            </a:r>
          </a:p>
          <a:p>
            <a:r>
              <a:rPr lang="en-US" sz="2200" dirty="0" smtClean="0"/>
              <a:t>Ash is collected from the boiler and the air pollution control system.</a:t>
            </a:r>
          </a:p>
          <a:p>
            <a:endParaRPr lang="en-US" dirty="0"/>
          </a:p>
        </p:txBody>
      </p:sp>
      <p:sp>
        <p:nvSpPr>
          <p:cNvPr id="3" name="Title 2"/>
          <p:cNvSpPr>
            <a:spLocks noGrp="1"/>
          </p:cNvSpPr>
          <p:nvPr>
            <p:ph type="title"/>
          </p:nvPr>
        </p:nvSpPr>
        <p:spPr/>
        <p:txBody>
          <a:bodyPr>
            <a:noAutofit/>
          </a:bodyPr>
          <a:lstStyle/>
          <a:p>
            <a:r>
              <a:rPr lang="en-US" sz="2800" b="0" dirty="0" smtClean="0"/>
              <a:t>The process of generating electricity in a mass-burn waste-to-energy plant has seven stages</a:t>
            </a:r>
            <a:endParaRPr lang="en-US" sz="2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400" dirty="0" smtClean="0"/>
              <a:t>Waste-to-energy plants burn municipal solid waste (MSW), often called garbage or trash, to produce steam in a boiler that is used to generate electricity.</a:t>
            </a:r>
          </a:p>
          <a:p>
            <a:r>
              <a:rPr lang="en-US" sz="2400" dirty="0" smtClean="0"/>
              <a:t>MSW is a mixture of energy-rich materials such as paper, plastics, yard waste, and products made from wood. For every 100 pounds of MSW in the United States, about 85 pounds can be burned as fuel to generate electricity.</a:t>
            </a:r>
          </a:p>
          <a:p>
            <a:endParaRPr lang="en-US" dirty="0"/>
          </a:p>
        </p:txBody>
      </p:sp>
      <p:sp>
        <p:nvSpPr>
          <p:cNvPr id="3" name="Title 2"/>
          <p:cNvSpPr>
            <a:spLocks noGrp="1"/>
          </p:cNvSpPr>
          <p:nvPr>
            <p:ph type="title"/>
          </p:nvPr>
        </p:nvSpPr>
        <p:spPr/>
        <p:txBody>
          <a:bodyPr>
            <a:normAutofit fontScale="90000"/>
          </a:bodyPr>
          <a:lstStyle/>
          <a:p>
            <a:r>
              <a:rPr lang="en-US" dirty="0" smtClean="0"/>
              <a:t>How waste-to-energy plants work</a:t>
            </a:r>
            <a:br>
              <a:rPr lang="en-US" dirty="0" smtClean="0"/>
            </a:b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304800" y="228600"/>
            <a:ext cx="8534399" cy="6324600"/>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Gasification is a unique process that transforms a carbon-based material, such as MSW or biomass, into other forms of energy without actually burning it.</a:t>
            </a:r>
          </a:p>
          <a:p>
            <a:r>
              <a:rPr lang="en-US" dirty="0" smtClean="0"/>
              <a:t> Instead, gasification </a:t>
            </a:r>
            <a:r>
              <a:rPr lang="en-US" b="1" dirty="0" smtClean="0"/>
              <a:t>converts the solid and liquid waste materials into a gas through a chemical reaction</a:t>
            </a:r>
            <a:r>
              <a:rPr lang="en-US" dirty="0" smtClean="0"/>
              <a:t>.</a:t>
            </a:r>
            <a:endParaRPr lang="en-US" dirty="0"/>
          </a:p>
        </p:txBody>
      </p:sp>
      <p:sp>
        <p:nvSpPr>
          <p:cNvPr id="3" name="Title 2"/>
          <p:cNvSpPr>
            <a:spLocks noGrp="1"/>
          </p:cNvSpPr>
          <p:nvPr>
            <p:ph type="title"/>
          </p:nvPr>
        </p:nvSpPr>
        <p:spPr/>
        <p:txBody>
          <a:bodyPr/>
          <a:lstStyle/>
          <a:p>
            <a:r>
              <a:rPr lang="en-US" dirty="0" smtClean="0"/>
              <a:t>Gasification process</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Thermal gasification of municipal solid waste (MSW) is a chemical process that generates a gaseous, fuel-rich product. </a:t>
            </a:r>
          </a:p>
          <a:p>
            <a:r>
              <a:rPr lang="en-US" dirty="0" smtClean="0"/>
              <a:t>This product can then be combusted in a boiler, producing steam for power generation.</a:t>
            </a:r>
          </a:p>
          <a:p>
            <a:r>
              <a:rPr lang="en-US" dirty="0" smtClean="0"/>
              <a:t>The main product of gasification is a mixture of gases (“producer gas”) with the main components H2, CO, CO2, H2O, CH4, and air nitrogen</a:t>
            </a:r>
            <a:endParaRPr lang="en-US" dirty="0"/>
          </a:p>
        </p:txBody>
      </p:sp>
      <p:sp>
        <p:nvSpPr>
          <p:cNvPr id="3" name="Title 2"/>
          <p:cNvSpPr>
            <a:spLocks noGrp="1"/>
          </p:cNvSpPr>
          <p:nvPr>
            <p:ph type="title"/>
          </p:nvPr>
        </p:nvSpPr>
        <p:spPr/>
        <p:txBody>
          <a:bodyPr/>
          <a:lstStyle/>
          <a:p>
            <a:r>
              <a:rPr lang="en-US" dirty="0" smtClean="0"/>
              <a:t>Gasification of waste</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endParaRPr lang="en-US" dirty="0" smtClean="0"/>
          </a:p>
          <a:p>
            <a:r>
              <a:rPr lang="en-US" sz="2200" b="1" dirty="0" smtClean="0"/>
              <a:t>Drying:</a:t>
            </a:r>
            <a:r>
              <a:rPr lang="en-US" sz="2200" dirty="0" smtClean="0"/>
              <a:t> water vapor is evaporated off the biomass</a:t>
            </a:r>
          </a:p>
          <a:p>
            <a:r>
              <a:rPr lang="en-US" sz="2200" b="1" dirty="0" smtClean="0"/>
              <a:t>Pyrolysis:</a:t>
            </a:r>
            <a:r>
              <a:rPr lang="en-US" sz="2200" dirty="0" smtClean="0"/>
              <a:t> the intense heat decomposes the dry biomass into organic gasses, vapors, carbon and tar, in the absence of oxygen.</a:t>
            </a:r>
          </a:p>
          <a:p>
            <a:r>
              <a:rPr lang="en-US" sz="2200" b="1" dirty="0" smtClean="0"/>
              <a:t>Reduction:</a:t>
            </a:r>
            <a:r>
              <a:rPr lang="en-US" sz="2200" dirty="0" smtClean="0"/>
              <a:t> the water vapor interacts with carbon, creating hydrogen, carbon monoxide and methane.</a:t>
            </a:r>
          </a:p>
          <a:p>
            <a:r>
              <a:rPr lang="en-US" sz="2200" b="1" dirty="0" smtClean="0"/>
              <a:t>Combustion:</a:t>
            </a:r>
            <a:r>
              <a:rPr lang="en-US" sz="2200" dirty="0" smtClean="0"/>
              <a:t> some of the carbon and organic chemicals burn with oxygen to produce heat, enabling the final stages of the gasification to occur</a:t>
            </a:r>
          </a:p>
          <a:p>
            <a:endParaRPr lang="en-US" dirty="0"/>
          </a:p>
        </p:txBody>
      </p:sp>
      <p:sp>
        <p:nvSpPr>
          <p:cNvPr id="3" name="Title 2"/>
          <p:cNvSpPr>
            <a:spLocks noGrp="1"/>
          </p:cNvSpPr>
          <p:nvPr>
            <p:ph type="title"/>
          </p:nvPr>
        </p:nvSpPr>
        <p:spPr/>
        <p:txBody>
          <a:bodyPr>
            <a:normAutofit fontScale="90000"/>
          </a:bodyPr>
          <a:lstStyle/>
          <a:p>
            <a:r>
              <a:rPr lang="en-US" dirty="0" smtClean="0"/>
              <a:t>Biomass gasification occurs in four stages</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smtClean="0"/>
              <a:t> </a:t>
            </a:r>
            <a:r>
              <a:rPr lang="en-US" sz="2200" dirty="0" smtClean="0"/>
              <a:t>Utilization of biomass gasification not only reduces the need for landfill space, but also decreases the methane emissions from organic wastes that would have decomposed in the landfill. </a:t>
            </a:r>
          </a:p>
          <a:p>
            <a:r>
              <a:rPr lang="en-US" sz="2200" dirty="0" smtClean="0"/>
              <a:t> Additionally, typical waste-to-energy plants that utilize traditional incineration methods transform one ton of municipal solid waste (MSW) into roughly 550 kilowatt-hours of electricity. With gasification technology, one ton of MSW will produce up to almost twice the kilowatt-hours that are cleaner as well.</a:t>
            </a:r>
            <a:endParaRPr lang="en-US" sz="2200" dirty="0"/>
          </a:p>
        </p:txBody>
      </p:sp>
      <p:sp>
        <p:nvSpPr>
          <p:cNvPr id="3" name="Title 2"/>
          <p:cNvSpPr>
            <a:spLocks noGrp="1"/>
          </p:cNvSpPr>
          <p:nvPr>
            <p:ph type="title"/>
          </p:nvPr>
        </p:nvSpPr>
        <p:spPr/>
        <p:txBody>
          <a:bodyPr/>
          <a:lstStyle/>
          <a:p>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buNone/>
            </a:pPr>
            <a:r>
              <a:rPr lang="en-US" sz="2400" dirty="0" smtClean="0"/>
              <a:t>Biomass is </a:t>
            </a:r>
            <a:r>
              <a:rPr lang="en-US" sz="2400" b="1" dirty="0" smtClean="0"/>
              <a:t>renewable organic material that comes from plants and animals</a:t>
            </a:r>
            <a:r>
              <a:rPr lang="en-US" sz="2400" dirty="0" smtClean="0"/>
              <a:t>. </a:t>
            </a:r>
          </a:p>
          <a:p>
            <a:pPr>
              <a:buNone/>
            </a:pPr>
            <a:r>
              <a:rPr lang="en-US" sz="2400" dirty="0" smtClean="0"/>
              <a:t>   Biomass was the largest source of total annual U.S. energy consumption until the mid-1800s</a:t>
            </a:r>
          </a:p>
          <a:p>
            <a:r>
              <a:rPr lang="en-US" sz="2400" dirty="0" smtClean="0"/>
              <a:t>Most electricity generated from biomass is produced by direct combustion.</a:t>
            </a:r>
          </a:p>
          <a:p>
            <a:r>
              <a:rPr lang="en-US" sz="2400" dirty="0" smtClean="0"/>
              <a:t> Biomass is burned in a boiler to produce high-pressure steam. </a:t>
            </a:r>
          </a:p>
          <a:p>
            <a:r>
              <a:rPr lang="en-US" sz="2400" dirty="0" smtClean="0"/>
              <a:t>This steam flows over a series of turbine blades, causing them to rotate. The rotation of the turbine drives a generator, producing electricity.</a:t>
            </a:r>
          </a:p>
          <a:p>
            <a:endParaRPr lang="en-US" dirty="0"/>
          </a:p>
        </p:txBody>
      </p:sp>
      <p:sp>
        <p:nvSpPr>
          <p:cNvPr id="3" name="Title 2"/>
          <p:cNvSpPr>
            <a:spLocks noGrp="1"/>
          </p:cNvSpPr>
          <p:nvPr>
            <p:ph type="title"/>
          </p:nvPr>
        </p:nvSpPr>
        <p:spPr/>
        <p:txBody>
          <a:bodyPr>
            <a:normAutofit fontScale="90000"/>
          </a:bodyPr>
          <a:lstStyle/>
          <a:p>
            <a:r>
              <a:rPr lang="en-US" dirty="0" smtClean="0"/>
              <a:t>How does biomass energy work?</a:t>
            </a:r>
            <a:br>
              <a:rPr lang="en-US" dirty="0" smtClean="0"/>
            </a:b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srcRect/>
          <a:stretch>
            <a:fillRect/>
          </a:stretch>
        </p:blipFill>
        <p:spPr bwMode="auto">
          <a:xfrm>
            <a:off x="152400" y="228600"/>
            <a:ext cx="8991600" cy="6248400"/>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400" dirty="0" smtClean="0"/>
              <a:t>Pyrolysis is one of the technologies available to convert biomass to an intermediate liquid product that can be refined to drop-in hydrocarbon biofuels, oxygenated fuel additives and petrochemical replacements.</a:t>
            </a:r>
          </a:p>
          <a:p>
            <a:r>
              <a:rPr lang="en-US" sz="2400" dirty="0" smtClean="0"/>
              <a:t> Pyrolysis is the heating of an organic material, such as biomass, in the absence of oxygen.</a:t>
            </a:r>
            <a:endParaRPr lang="en-US" sz="2400" dirty="0"/>
          </a:p>
        </p:txBody>
      </p:sp>
      <p:sp>
        <p:nvSpPr>
          <p:cNvPr id="3" name="Title 2"/>
          <p:cNvSpPr>
            <a:spLocks noGrp="1"/>
          </p:cNvSpPr>
          <p:nvPr>
            <p:ph type="title"/>
          </p:nvPr>
        </p:nvSpPr>
        <p:spPr/>
        <p:txBody>
          <a:bodyPr/>
          <a:lstStyle/>
          <a:p>
            <a:r>
              <a:rPr lang="en-US" dirty="0" smtClean="0"/>
              <a:t> Pyrolysis</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Pyrolysis is the thermal decomposition of biomass occurring in the absence of oxygen.  The products of biomass pyrolysis include biochar, bio-oil and gases including methane, hydrogen, carbon monoxide, and carbon dioxide.</a:t>
            </a:r>
            <a:endParaRPr lang="en-US" dirty="0"/>
          </a:p>
        </p:txBody>
      </p:sp>
      <p:sp>
        <p:nvSpPr>
          <p:cNvPr id="3" name="Title 2"/>
          <p:cNvSpPr>
            <a:spLocks noGrp="1"/>
          </p:cNvSpPr>
          <p:nvPr>
            <p:ph type="title"/>
          </p:nvPr>
        </p:nvSpPr>
        <p:spPr/>
        <p:txBody>
          <a:bodyPr/>
          <a:lstStyle/>
          <a:p>
            <a:endParaRPr 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252</TotalTime>
  <Words>1238</Words>
  <Application>Microsoft Office PowerPoint</Application>
  <PresentationFormat>On-screen Show (4:3)</PresentationFormat>
  <Paragraphs>95</Paragraphs>
  <Slides>33</Slides>
  <Notes>1</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Concourse</vt:lpstr>
      <vt:lpstr>Lecture 1 Introduction of Waste Management  </vt:lpstr>
      <vt:lpstr>Slide 2</vt:lpstr>
      <vt:lpstr>Slide 3</vt:lpstr>
      <vt:lpstr>Slide 4</vt:lpstr>
      <vt:lpstr>Slide 5</vt:lpstr>
      <vt:lpstr>Slide 6</vt:lpstr>
      <vt:lpstr>Reduce, Reuse, Recycle/ 3R Principal </vt:lpstr>
      <vt:lpstr>Wastes: Sources, Classification and Impact </vt:lpstr>
      <vt:lpstr>In general, the wastes maybe categorized as follows:</vt:lpstr>
      <vt:lpstr>Slide 10</vt:lpstr>
      <vt:lpstr>Slide 11</vt:lpstr>
      <vt:lpstr>Sources of Wastes:</vt:lpstr>
      <vt:lpstr>Waste Resource and Characterization</vt:lpstr>
      <vt:lpstr>Municipal Solid Waste: </vt:lpstr>
      <vt:lpstr>Industrial Wastes: </vt:lpstr>
      <vt:lpstr>Non-hazardous wastes: </vt:lpstr>
      <vt:lpstr>Agricultural Wastes: </vt:lpstr>
      <vt:lpstr>Commercial Wastes: </vt:lpstr>
      <vt:lpstr>Disposal of municipal solid waste </vt:lpstr>
      <vt:lpstr>Slide 20</vt:lpstr>
      <vt:lpstr> Technologies for waste to Energy </vt:lpstr>
      <vt:lpstr>Most common waste-to-energy method</vt:lpstr>
      <vt:lpstr>The process of generating electricity in a mass-burn waste-to-energy plant has seven stages</vt:lpstr>
      <vt:lpstr>How waste-to-energy plants work </vt:lpstr>
      <vt:lpstr>Slide 25</vt:lpstr>
      <vt:lpstr>Gasification process</vt:lpstr>
      <vt:lpstr>Gasification of waste</vt:lpstr>
      <vt:lpstr>Biomass gasification occurs in four stages</vt:lpstr>
      <vt:lpstr>Slide 29</vt:lpstr>
      <vt:lpstr>How does biomass energy work? </vt:lpstr>
      <vt:lpstr>Slide 31</vt:lpstr>
      <vt:lpstr> Pyrolysis</vt:lpstr>
      <vt:lpstr>Slide 33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Introduction of Waste Management  </dc:title>
  <dc:creator>Windows User</dc:creator>
  <cp:lastModifiedBy>Windows User</cp:lastModifiedBy>
  <cp:revision>15</cp:revision>
  <dcterms:created xsi:type="dcterms:W3CDTF">2022-01-19T15:35:49Z</dcterms:created>
  <dcterms:modified xsi:type="dcterms:W3CDTF">2022-03-11T10:22:36Z</dcterms:modified>
</cp:coreProperties>
</file>