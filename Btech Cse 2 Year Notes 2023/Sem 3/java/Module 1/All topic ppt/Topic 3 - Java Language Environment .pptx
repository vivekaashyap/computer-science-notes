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14" roundtripDataSignature="AMtx7mhgYUWYgP3CMKWPqA/T4n0aucqu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714348" y="2214554"/>
            <a:ext cx="7772400" cy="1143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b="1" lang="en-GB" sz="4100">
                <a:latin typeface="Times New Roman"/>
                <a:ea typeface="Times New Roman"/>
                <a:cs typeface="Times New Roman"/>
                <a:sym typeface="Times New Roman"/>
              </a:rPr>
              <a:t>Java Language Environment</a:t>
            </a:r>
            <a:r>
              <a:rPr b="1" lang="en-GB" sz="5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Related image" id="90" name="Google Shape;90;p1"/>
          <p:cNvPicPr preferRelativeResize="0"/>
          <p:nvPr/>
        </p:nvPicPr>
        <p:blipFill rotWithShape="1">
          <a:blip r:embed="rId3">
            <a:alphaModFix/>
          </a:blip>
          <a:srcRect b="23463" l="3793" r="3779" t="21969"/>
          <a:stretch/>
        </p:blipFill>
        <p:spPr>
          <a:xfrm>
            <a:off x="3286116" y="500042"/>
            <a:ext cx="2286016" cy="1143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lang="en-GB" sz="3200">
                <a:latin typeface="Times New Roman"/>
                <a:ea typeface="Times New Roman"/>
                <a:cs typeface="Times New Roman"/>
                <a:sym typeface="Times New Roman"/>
              </a:rPr>
              <a:t>Java language Environment 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" name="Google Shape;97;p2"/>
          <p:cNvSpPr txBox="1"/>
          <p:nvPr>
            <p:ph idx="11" type="ftr"/>
          </p:nvPr>
        </p:nvSpPr>
        <p:spPr>
          <a:xfrm>
            <a:off x="3124200" y="6356350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BCSC1002 Object Oriented Programming</a:t>
            </a:r>
            <a:endParaRPr/>
          </a:p>
        </p:txBody>
      </p:sp>
      <p:pic>
        <p:nvPicPr>
          <p:cNvPr descr="Related image" id="98" name="Google Shape;98;p2"/>
          <p:cNvPicPr preferRelativeResize="0"/>
          <p:nvPr/>
        </p:nvPicPr>
        <p:blipFill rotWithShape="1">
          <a:blip r:embed="rId3">
            <a:alphaModFix/>
          </a:blip>
          <a:srcRect b="23463" l="3793" r="3779" t="21969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20191"/>
          <a:stretch/>
        </p:blipFill>
        <p:spPr>
          <a:xfrm>
            <a:off x="678700" y="1417650"/>
            <a:ext cx="8008100" cy="46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lang="en-GB" sz="4800">
                <a:latin typeface="Times New Roman"/>
                <a:ea typeface="Times New Roman"/>
                <a:cs typeface="Times New Roman"/>
                <a:sym typeface="Times New Roman"/>
              </a:rPr>
              <a:t>Java Software 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p3"/>
          <p:cNvSpPr txBox="1"/>
          <p:nvPr>
            <p:ph idx="11" type="ftr"/>
          </p:nvPr>
        </p:nvSpPr>
        <p:spPr>
          <a:xfrm>
            <a:off x="3124200" y="6356350"/>
            <a:ext cx="335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BCSC1002  Object Oriented Programming</a:t>
            </a:r>
            <a:endParaRPr/>
          </a:p>
        </p:txBody>
      </p:sp>
      <p:pic>
        <p:nvPicPr>
          <p:cNvPr descr="Related image" id="107" name="Google Shape;107;p3"/>
          <p:cNvPicPr preferRelativeResize="0"/>
          <p:nvPr/>
        </p:nvPicPr>
        <p:blipFill rotWithShape="1">
          <a:blip r:embed="rId3">
            <a:alphaModFix/>
          </a:blip>
          <a:srcRect b="23463" l="3789" r="3780" t="21968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457200" y="1524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00"/>
              <a:buChar char="•"/>
            </a:pPr>
            <a:r>
              <a:rPr lang="en-GB" sz="2600"/>
              <a:t>JDK stands for Java Development Kit. JDK Provides environment to develop and run Java Application. </a:t>
            </a:r>
            <a:endParaRPr sz="2600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GB" sz="2600"/>
              <a:t>We install JDK on Developer machine. 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00"/>
              <a:buChar char="•"/>
            </a:pPr>
            <a:r>
              <a:rPr lang="en-GB" sz="2600"/>
              <a:t>JRE stands for Java Runtime Environment. JRE provides Environment to only run Java Application. </a:t>
            </a:r>
            <a:endParaRPr sz="2600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GB" sz="2600"/>
              <a:t>We Install JRE on Client Machine   </a:t>
            </a:r>
            <a:endParaRPr sz="2600"/>
          </a:p>
        </p:txBody>
      </p:sp>
      <p:cxnSp>
        <p:nvCxnSpPr>
          <p:cNvPr id="109" name="Google Shape;109;p3"/>
          <p:cNvCxnSpPr/>
          <p:nvPr/>
        </p:nvCxnSpPr>
        <p:spPr>
          <a:xfrm flipH="1" rot="10800000">
            <a:off x="1003525" y="3043575"/>
            <a:ext cx="63726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1801450" y="427050"/>
            <a:ext cx="72132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lang="en-GB" sz="3400">
                <a:latin typeface="Times New Roman"/>
                <a:ea typeface="Times New Roman"/>
                <a:cs typeface="Times New Roman"/>
                <a:sym typeface="Times New Roman"/>
              </a:rPr>
              <a:t>Difference between JDK, JRE, JVM, JIT</a:t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6" name="Google Shape;116;p4"/>
          <p:cNvSpPr txBox="1"/>
          <p:nvPr>
            <p:ph idx="11" type="ftr"/>
          </p:nvPr>
        </p:nvSpPr>
        <p:spPr>
          <a:xfrm>
            <a:off x="3124200" y="6356350"/>
            <a:ext cx="335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BCSC1002 Object Oriented Programming</a:t>
            </a:r>
            <a:endParaRPr/>
          </a:p>
        </p:txBody>
      </p:sp>
      <p:pic>
        <p:nvPicPr>
          <p:cNvPr descr="Related image" id="117" name="Google Shape;117;p4"/>
          <p:cNvPicPr preferRelativeResize="0"/>
          <p:nvPr/>
        </p:nvPicPr>
        <p:blipFill rotWithShape="1">
          <a:blip r:embed="rId3">
            <a:alphaModFix/>
          </a:blip>
          <a:srcRect b="23463" l="3789" r="3780" t="21968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18" name="Google Shape;118;p4"/>
          <p:cNvPicPr preferRelativeResize="0"/>
          <p:nvPr/>
        </p:nvPicPr>
        <p:blipFill rotWithShape="1">
          <a:blip r:embed="rId3">
            <a:alphaModFix/>
          </a:blip>
          <a:srcRect b="23463" l="3789" r="3780" t="21968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56173" t="37241"/>
          <a:stretch/>
        </p:blipFill>
        <p:spPr>
          <a:xfrm>
            <a:off x="2065600" y="1856025"/>
            <a:ext cx="5110224" cy="460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2338750" y="1889750"/>
            <a:ext cx="8190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GB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JDK</a:t>
            </a:r>
            <a:endParaRPr b="1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lang="en-GB" sz="4800">
                <a:latin typeface="Times New Roman"/>
                <a:ea typeface="Times New Roman"/>
                <a:cs typeface="Times New Roman"/>
                <a:sym typeface="Times New Roman"/>
              </a:rPr>
              <a:t>JDK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7" name="Google Shape;127;p5"/>
          <p:cNvSpPr txBox="1"/>
          <p:nvPr>
            <p:ph idx="11" type="ftr"/>
          </p:nvPr>
        </p:nvSpPr>
        <p:spPr>
          <a:xfrm>
            <a:off x="3124200" y="6356350"/>
            <a:ext cx="335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BCSC1002 Object Oriented Programming</a:t>
            </a:r>
            <a:endParaRPr/>
          </a:p>
        </p:txBody>
      </p:sp>
      <p:pic>
        <p:nvPicPr>
          <p:cNvPr descr="Related image" id="128" name="Google Shape;128;p5"/>
          <p:cNvPicPr preferRelativeResize="0"/>
          <p:nvPr/>
        </p:nvPicPr>
        <p:blipFill rotWithShape="1">
          <a:blip r:embed="rId3">
            <a:alphaModFix/>
          </a:blip>
          <a:srcRect b="23463" l="3789" r="3780" t="21968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457200" y="1524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500"/>
              <a:buChar char="•"/>
            </a:pPr>
            <a:r>
              <a:rPr b="1" lang="en-GB" sz="2500">
                <a:solidFill>
                  <a:srgbClr val="980000"/>
                </a:solidFill>
              </a:rPr>
              <a:t>JDK</a:t>
            </a:r>
            <a:r>
              <a:rPr lang="en-GB" sz="2500"/>
              <a:t> stands for </a:t>
            </a:r>
            <a:r>
              <a:rPr b="1" lang="en-GB" sz="2500"/>
              <a:t>Java Development Kit</a:t>
            </a:r>
            <a:r>
              <a:rPr lang="en-GB" sz="2500"/>
              <a:t>. 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It provides </a:t>
            </a:r>
            <a:r>
              <a:rPr b="1" lang="en-GB" sz="2500"/>
              <a:t>Development Tools</a:t>
            </a:r>
            <a:r>
              <a:rPr lang="en-GB" sz="2500"/>
              <a:t>( program preparation related small small softwares like Compiler, Decompiler, Debugging, Developing Documentation, Preparing Jar files etc) and runtime environment. 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Using JDK we can develop, compile and execute new applications and we can modify existing applications.</a:t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457200" y="1524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500"/>
              <a:buChar char="•"/>
            </a:pPr>
            <a:r>
              <a:rPr b="1" lang="en-GB" sz="2500">
                <a:solidFill>
                  <a:srgbClr val="980000"/>
                </a:solidFill>
              </a:rPr>
              <a:t>JRE</a:t>
            </a:r>
            <a:r>
              <a:rPr lang="en-GB" sz="2500"/>
              <a:t> stands for Java Runtime Environment. 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JRE does not provide any development tools. It  contains only JVM. 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We can only execute already developed applications.</a:t>
            </a:r>
            <a:endParaRPr sz="25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5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/>
          </a:p>
        </p:txBody>
      </p:sp>
      <p:sp>
        <p:nvSpPr>
          <p:cNvPr id="135" name="Google Shape;1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lang="en-GB" sz="4800">
                <a:latin typeface="Times New Roman"/>
                <a:ea typeface="Times New Roman"/>
                <a:cs typeface="Times New Roman"/>
                <a:sym typeface="Times New Roman"/>
              </a:rPr>
              <a:t>JRE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" name="Google Shape;137;p6"/>
          <p:cNvSpPr txBox="1"/>
          <p:nvPr>
            <p:ph idx="11" type="ftr"/>
          </p:nvPr>
        </p:nvSpPr>
        <p:spPr>
          <a:xfrm>
            <a:off x="3124200" y="6356350"/>
            <a:ext cx="335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BCSC1002 Object Oriented Programming</a:t>
            </a:r>
            <a:endParaRPr/>
          </a:p>
        </p:txBody>
      </p:sp>
      <p:pic>
        <p:nvPicPr>
          <p:cNvPr descr="Related image" id="138" name="Google Shape;138;p6"/>
          <p:cNvPicPr preferRelativeResize="0"/>
          <p:nvPr/>
        </p:nvPicPr>
        <p:blipFill rotWithShape="1">
          <a:blip r:embed="rId3">
            <a:alphaModFix/>
          </a:blip>
          <a:srcRect b="23463" l="3789" r="3780" t="21968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lang="en-GB" sz="4800">
                <a:latin typeface="Times New Roman"/>
                <a:ea typeface="Times New Roman"/>
                <a:cs typeface="Times New Roman"/>
                <a:sym typeface="Times New Roman"/>
              </a:rPr>
              <a:t>JVM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5" name="Google Shape;145;p7"/>
          <p:cNvSpPr txBox="1"/>
          <p:nvPr>
            <p:ph idx="11" type="ftr"/>
          </p:nvPr>
        </p:nvSpPr>
        <p:spPr>
          <a:xfrm>
            <a:off x="3124200" y="6356350"/>
            <a:ext cx="335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BCSC1002 Object Oriented Programming</a:t>
            </a:r>
            <a:endParaRPr/>
          </a:p>
        </p:txBody>
      </p:sp>
      <p:pic>
        <p:nvPicPr>
          <p:cNvPr descr="Related image" id="146" name="Google Shape;146;p7"/>
          <p:cNvPicPr preferRelativeResize="0"/>
          <p:nvPr/>
        </p:nvPicPr>
        <p:blipFill rotWithShape="1">
          <a:blip r:embed="rId3">
            <a:alphaModFix/>
          </a:blip>
          <a:srcRect b="23463" l="3789" r="3780" t="21968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>
            <p:ph idx="1" type="body"/>
          </p:nvPr>
        </p:nvSpPr>
        <p:spPr>
          <a:xfrm>
            <a:off x="457200" y="1524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500"/>
              <a:buChar char="•"/>
            </a:pPr>
            <a:r>
              <a:rPr b="1" lang="en-GB" sz="2500">
                <a:solidFill>
                  <a:srgbClr val="980000"/>
                </a:solidFill>
              </a:rPr>
              <a:t>JVM</a:t>
            </a:r>
            <a:r>
              <a:rPr lang="en-GB" sz="2500"/>
              <a:t> stands for Java Virtual Machine.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It is a java Platform. It provides interpreter and JIT using which we can run java byte code by converting them into  machine language.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You can run Java Program Line wise Line</a:t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lang="en-GB" sz="4800">
                <a:latin typeface="Times New Roman"/>
                <a:ea typeface="Times New Roman"/>
                <a:cs typeface="Times New Roman"/>
                <a:sym typeface="Times New Roman"/>
              </a:rPr>
              <a:t>JIT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4" name="Google Shape;154;p8"/>
          <p:cNvSpPr txBox="1"/>
          <p:nvPr>
            <p:ph idx="11" type="ftr"/>
          </p:nvPr>
        </p:nvSpPr>
        <p:spPr>
          <a:xfrm>
            <a:off x="3124200" y="6356350"/>
            <a:ext cx="335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BCSC1002 Object Oriented Programming</a:t>
            </a:r>
            <a:endParaRPr/>
          </a:p>
        </p:txBody>
      </p:sp>
      <p:pic>
        <p:nvPicPr>
          <p:cNvPr descr="Related image" id="155" name="Google Shape;155;p8"/>
          <p:cNvPicPr preferRelativeResize="0"/>
          <p:nvPr/>
        </p:nvPicPr>
        <p:blipFill rotWithShape="1">
          <a:blip r:embed="rId3">
            <a:alphaModFix/>
          </a:blip>
          <a:srcRect b="23463" l="3789" r="3780" t="21968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457200" y="1524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500"/>
              <a:buChar char="•"/>
            </a:pPr>
            <a:r>
              <a:rPr b="1" lang="en-GB" sz="2500">
                <a:solidFill>
                  <a:srgbClr val="980000"/>
                </a:solidFill>
              </a:rPr>
              <a:t>JIT</a:t>
            </a:r>
            <a:r>
              <a:rPr lang="en-GB" sz="2500"/>
              <a:t> stands for Just in Time Compiler.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 It is responsible to help Interpreter for executing java byte code fast. 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GB" sz="2500"/>
              <a:t>Basically it improves the performance of java program</a:t>
            </a:r>
            <a:endParaRPr sz="25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5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