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24" roundtripDataSignature="AMtx7mivm+MESUlDam34gS2zw7bdjCKz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821b6a0978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821b6a0978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821b6a0978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g821b6a0978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821b6a0978_0_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821b6a0978_0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821b6a0978_0_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821b6a0978_0_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821b6a0978_0_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821b6a0978_0_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821b6a0978_0_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821b6a0978_0_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821b6a0978_0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821b6a0978_0_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821b6a0978_0_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g821b6a0978_0_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821b6a0978_0_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821b6a0978_0_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821b6a0978_0_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g821b6a0978_0_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821b6a0978_0_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821b6a0978_0_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821b6a0978_0_1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821b6a0978_0_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821b6a0978_0_1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821b6a0978_0_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821b6a0978_0_1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821b6a0978_0_1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821b6a0978_0_1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821b6a0978_0_1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821b6a0978_0_1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g821b6a0978_0_1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1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2"/>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1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3"/>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4"/>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4"/>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714348" y="2976554"/>
            <a:ext cx="77724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100"/>
              <a:buFont typeface="Arial"/>
              <a:buNone/>
            </a:pPr>
            <a:r>
              <a:rPr b="1" lang="en-GB" sz="5200">
                <a:latin typeface="Times New Roman"/>
                <a:ea typeface="Times New Roman"/>
                <a:cs typeface="Times New Roman"/>
                <a:sym typeface="Times New Roman"/>
              </a:rPr>
              <a:t>Java Features</a:t>
            </a:r>
            <a:endParaRPr b="1" sz="5400">
              <a:latin typeface="Times New Roman"/>
              <a:ea typeface="Times New Roman"/>
              <a:cs typeface="Times New Roman"/>
              <a:sym typeface="Times New Roman"/>
            </a:endParaRPr>
          </a:p>
        </p:txBody>
      </p:sp>
      <p:pic>
        <p:nvPicPr>
          <p:cNvPr descr="Related image" id="90" name="Google Shape;90;p1"/>
          <p:cNvPicPr preferRelativeResize="0"/>
          <p:nvPr/>
        </p:nvPicPr>
        <p:blipFill rotWithShape="1">
          <a:blip r:embed="rId3">
            <a:alphaModFix/>
          </a:blip>
          <a:srcRect b="23464" l="3793" r="3780" t="21969"/>
          <a:stretch/>
        </p:blipFill>
        <p:spPr>
          <a:xfrm>
            <a:off x="3286116" y="500042"/>
            <a:ext cx="2286016" cy="114300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100"/>
              <a:buFont typeface="Arial"/>
              <a:buNone/>
            </a:pPr>
            <a:r>
              <a:rPr b="1" lang="en-GB" sz="5200">
                <a:latin typeface="Times New Roman"/>
                <a:ea typeface="Times New Roman"/>
                <a:cs typeface="Times New Roman"/>
                <a:sym typeface="Times New Roman"/>
              </a:rPr>
              <a:t>Java Features</a:t>
            </a:r>
            <a:endParaRPr b="1" sz="4800">
              <a:latin typeface="Times New Roman"/>
              <a:ea typeface="Times New Roman"/>
              <a:cs typeface="Times New Roman"/>
              <a:sym typeface="Times New Roman"/>
            </a:endParaRPr>
          </a:p>
        </p:txBody>
      </p:sp>
      <p:sp>
        <p:nvSpPr>
          <p:cNvPr id="96" name="Google Shape;96;p2"/>
          <p:cNvSpPr txBox="1"/>
          <p:nvPr>
            <p:ph idx="1" type="body"/>
          </p:nvPr>
        </p:nvSpPr>
        <p:spPr>
          <a:xfrm>
            <a:off x="457200" y="1371600"/>
            <a:ext cx="8229600" cy="4984800"/>
          </a:xfrm>
          <a:prstGeom prst="rect">
            <a:avLst/>
          </a:prstGeom>
          <a:noFill/>
          <a:ln>
            <a:noFill/>
          </a:ln>
        </p:spPr>
        <p:txBody>
          <a:bodyPr anchorCtr="0" anchor="t" bIns="45700" lIns="91425" spcFirstLastPara="1" rIns="91425" wrap="square" tIns="45700">
            <a:normAutofit/>
          </a:bodyPr>
          <a:lstStyle/>
          <a:p>
            <a:pPr indent="-381000" lvl="0" marL="457200" rtl="0" algn="l">
              <a:lnSpc>
                <a:spcPct val="115000"/>
              </a:lnSpc>
              <a:spcBef>
                <a:spcPts val="0"/>
              </a:spcBef>
              <a:spcAft>
                <a:spcPts val="0"/>
              </a:spcAft>
              <a:buClr>
                <a:srgbClr val="595959"/>
              </a:buClr>
              <a:buSzPts val="2400"/>
              <a:buFont typeface="Times New Roman"/>
              <a:buAutoNum type="arabicPeriod"/>
            </a:pPr>
            <a:r>
              <a:rPr b="1" lang="en-GB" sz="2400">
                <a:solidFill>
                  <a:srgbClr val="595959"/>
                </a:solidFill>
                <a:latin typeface="Times New Roman"/>
                <a:ea typeface="Times New Roman"/>
                <a:cs typeface="Times New Roman"/>
                <a:sym typeface="Times New Roman"/>
              </a:rPr>
              <a:t>Simple</a:t>
            </a:r>
            <a:endParaRPr b="1" sz="2400">
              <a:solidFill>
                <a:srgbClr val="595959"/>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595959"/>
              </a:buClr>
              <a:buSzPts val="2400"/>
              <a:buFont typeface="Times New Roman"/>
              <a:buAutoNum type="arabicPeriod"/>
            </a:pPr>
            <a:r>
              <a:rPr b="1" lang="en-GB" sz="2400">
                <a:solidFill>
                  <a:srgbClr val="595959"/>
                </a:solidFill>
                <a:latin typeface="Times New Roman"/>
                <a:ea typeface="Times New Roman"/>
                <a:cs typeface="Times New Roman"/>
                <a:sym typeface="Times New Roman"/>
              </a:rPr>
              <a:t>Platform Independent</a:t>
            </a:r>
            <a:endParaRPr b="1" sz="2400">
              <a:solidFill>
                <a:srgbClr val="595959"/>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595959"/>
              </a:buClr>
              <a:buSzPts val="2400"/>
              <a:buFont typeface="Times New Roman"/>
              <a:buAutoNum type="arabicPeriod"/>
            </a:pPr>
            <a:r>
              <a:rPr b="1" lang="en-GB" sz="2400">
                <a:solidFill>
                  <a:srgbClr val="595959"/>
                </a:solidFill>
                <a:latin typeface="Times New Roman"/>
                <a:ea typeface="Times New Roman"/>
                <a:cs typeface="Times New Roman"/>
                <a:sym typeface="Times New Roman"/>
              </a:rPr>
              <a:t>Architectural-Neutral</a:t>
            </a:r>
            <a:endParaRPr b="1" sz="2400">
              <a:solidFill>
                <a:srgbClr val="595959"/>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595959"/>
              </a:buClr>
              <a:buSzPts val="2400"/>
              <a:buFont typeface="Times New Roman"/>
              <a:buAutoNum type="arabicPeriod"/>
            </a:pPr>
            <a:r>
              <a:rPr b="1" lang="en-GB" sz="2400">
                <a:solidFill>
                  <a:srgbClr val="595959"/>
                </a:solidFill>
                <a:latin typeface="Times New Roman"/>
                <a:ea typeface="Times New Roman"/>
                <a:cs typeface="Times New Roman"/>
                <a:sym typeface="Times New Roman"/>
              </a:rPr>
              <a:t>Portable</a:t>
            </a:r>
            <a:endParaRPr b="1" sz="2400">
              <a:solidFill>
                <a:srgbClr val="595959"/>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595959"/>
              </a:buClr>
              <a:buSzPts val="2400"/>
              <a:buFont typeface="Times New Roman"/>
              <a:buAutoNum type="arabicPeriod"/>
            </a:pPr>
            <a:r>
              <a:rPr b="1" lang="en-GB" sz="2400">
                <a:solidFill>
                  <a:srgbClr val="595959"/>
                </a:solidFill>
                <a:latin typeface="Times New Roman"/>
                <a:ea typeface="Times New Roman"/>
                <a:cs typeface="Times New Roman"/>
                <a:sym typeface="Times New Roman"/>
              </a:rPr>
              <a:t>Secure</a:t>
            </a:r>
            <a:endParaRPr b="1" sz="2400">
              <a:solidFill>
                <a:srgbClr val="595959"/>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595959"/>
              </a:buClr>
              <a:buSzPts val="2400"/>
              <a:buFont typeface="Times New Roman"/>
              <a:buAutoNum type="arabicPeriod"/>
            </a:pPr>
            <a:r>
              <a:rPr b="1" lang="en-GB" sz="2400">
                <a:solidFill>
                  <a:srgbClr val="595959"/>
                </a:solidFill>
                <a:latin typeface="Times New Roman"/>
                <a:ea typeface="Times New Roman"/>
                <a:cs typeface="Times New Roman"/>
                <a:sym typeface="Times New Roman"/>
              </a:rPr>
              <a:t>Object Oriented</a:t>
            </a:r>
            <a:endParaRPr b="1" sz="2400">
              <a:solidFill>
                <a:srgbClr val="595959"/>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595959"/>
              </a:buClr>
              <a:buSzPts val="2400"/>
              <a:buFont typeface="Times New Roman"/>
              <a:buAutoNum type="arabicPeriod"/>
            </a:pPr>
            <a:r>
              <a:rPr b="1" lang="en-GB" sz="2400">
                <a:solidFill>
                  <a:srgbClr val="595959"/>
                </a:solidFill>
                <a:latin typeface="Times New Roman"/>
                <a:ea typeface="Times New Roman"/>
                <a:cs typeface="Times New Roman"/>
                <a:sym typeface="Times New Roman"/>
              </a:rPr>
              <a:t>Multithreaded</a:t>
            </a:r>
            <a:endParaRPr b="1" sz="2400">
              <a:solidFill>
                <a:srgbClr val="595959"/>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595959"/>
              </a:buClr>
              <a:buSzPts val="2400"/>
              <a:buFont typeface="Times New Roman"/>
              <a:buAutoNum type="arabicPeriod"/>
            </a:pPr>
            <a:r>
              <a:rPr b="1" lang="en-GB" sz="2400">
                <a:solidFill>
                  <a:srgbClr val="595959"/>
                </a:solidFill>
                <a:latin typeface="Times New Roman"/>
                <a:ea typeface="Times New Roman"/>
                <a:cs typeface="Times New Roman"/>
                <a:sym typeface="Times New Roman"/>
              </a:rPr>
              <a:t>Robust</a:t>
            </a:r>
            <a:endParaRPr b="1" sz="2400">
              <a:solidFill>
                <a:srgbClr val="595959"/>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595959"/>
              </a:buClr>
              <a:buSzPts val="2400"/>
              <a:buFont typeface="Times New Roman"/>
              <a:buAutoNum type="arabicPeriod"/>
            </a:pPr>
            <a:r>
              <a:rPr b="1" lang="en-GB" sz="2400">
                <a:solidFill>
                  <a:srgbClr val="595959"/>
                </a:solidFill>
                <a:latin typeface="Times New Roman"/>
                <a:ea typeface="Times New Roman"/>
                <a:cs typeface="Times New Roman"/>
                <a:sym typeface="Times New Roman"/>
              </a:rPr>
              <a:t>Distributed</a:t>
            </a:r>
            <a:endParaRPr b="1" sz="2400">
              <a:solidFill>
                <a:srgbClr val="595959"/>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595959"/>
              </a:buClr>
              <a:buSzPts val="2400"/>
              <a:buFont typeface="Times New Roman"/>
              <a:buAutoNum type="arabicPeriod"/>
            </a:pPr>
            <a:r>
              <a:rPr b="1" lang="en-GB" sz="2400">
                <a:solidFill>
                  <a:srgbClr val="595959"/>
                </a:solidFill>
                <a:latin typeface="Times New Roman"/>
                <a:ea typeface="Times New Roman"/>
                <a:cs typeface="Times New Roman"/>
                <a:sym typeface="Times New Roman"/>
              </a:rPr>
              <a:t>Interpreted</a:t>
            </a:r>
            <a:endParaRPr b="1" sz="2400">
              <a:solidFill>
                <a:srgbClr val="595959"/>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595959"/>
              </a:buClr>
              <a:buSzPts val="2400"/>
              <a:buFont typeface="Times New Roman"/>
              <a:buAutoNum type="arabicPeriod"/>
            </a:pPr>
            <a:r>
              <a:rPr b="1" lang="en-GB" sz="2400">
                <a:solidFill>
                  <a:srgbClr val="595959"/>
                </a:solidFill>
                <a:latin typeface="Times New Roman"/>
                <a:ea typeface="Times New Roman"/>
                <a:cs typeface="Times New Roman"/>
                <a:sym typeface="Times New Roman"/>
              </a:rPr>
              <a:t>High Performance</a:t>
            </a:r>
            <a:endParaRPr b="1" sz="2400">
              <a:solidFill>
                <a:srgbClr val="595959"/>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595959"/>
              </a:buClr>
              <a:buSzPts val="2400"/>
              <a:buFont typeface="Times New Roman"/>
              <a:buAutoNum type="arabicPeriod"/>
            </a:pPr>
            <a:r>
              <a:rPr b="1" lang="en-GB" sz="2400">
                <a:solidFill>
                  <a:srgbClr val="595959"/>
                </a:solidFill>
                <a:latin typeface="Times New Roman"/>
                <a:ea typeface="Times New Roman"/>
                <a:cs typeface="Times New Roman"/>
                <a:sym typeface="Times New Roman"/>
              </a:rPr>
              <a:t>Dynamic</a:t>
            </a:r>
            <a:endParaRPr sz="2400">
              <a:latin typeface="Times New Roman"/>
              <a:ea typeface="Times New Roman"/>
              <a:cs typeface="Times New Roman"/>
              <a:sym typeface="Times New Roman"/>
            </a:endParaRPr>
          </a:p>
        </p:txBody>
      </p:sp>
      <p:sp>
        <p:nvSpPr>
          <p:cNvPr id="97" name="Google Shape;97;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98" name="Google Shape;98;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99" name="Google Shape;99;p2"/>
          <p:cNvPicPr preferRelativeResize="0"/>
          <p:nvPr/>
        </p:nvPicPr>
        <p:blipFill rotWithShape="1">
          <a:blip r:embed="rId3">
            <a:alphaModFix/>
          </a:blip>
          <a:srcRect b="23464" l="3793" r="3780" t="21969"/>
          <a:stretch/>
        </p:blipFill>
        <p:spPr>
          <a:xfrm>
            <a:off x="214282" y="214290"/>
            <a:ext cx="1622550" cy="82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821b6a0978_0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GB" sz="4800">
                <a:latin typeface="Times New Roman"/>
                <a:ea typeface="Times New Roman"/>
                <a:cs typeface="Times New Roman"/>
                <a:sym typeface="Times New Roman"/>
              </a:rPr>
              <a:t>Java is Simple</a:t>
            </a:r>
            <a:endParaRPr b="1" sz="4800">
              <a:latin typeface="Times New Roman"/>
              <a:ea typeface="Times New Roman"/>
              <a:cs typeface="Times New Roman"/>
              <a:sym typeface="Times New Roman"/>
            </a:endParaRPr>
          </a:p>
        </p:txBody>
      </p:sp>
      <p:sp>
        <p:nvSpPr>
          <p:cNvPr id="105" name="Google Shape;105;g821b6a0978_0_0"/>
          <p:cNvSpPr txBox="1"/>
          <p:nvPr>
            <p:ph idx="1" type="body"/>
          </p:nvPr>
        </p:nvSpPr>
        <p:spPr>
          <a:xfrm>
            <a:off x="457200" y="1524000"/>
            <a:ext cx="8229600" cy="4526100"/>
          </a:xfrm>
          <a:prstGeom prst="rect">
            <a:avLst/>
          </a:prstGeom>
          <a:noFill/>
          <a:ln>
            <a:noFill/>
          </a:ln>
        </p:spPr>
        <p:txBody>
          <a:bodyPr anchorCtr="0" anchor="t" bIns="45700" lIns="91425" spcFirstLastPara="1" rIns="91425" wrap="square" tIns="45700">
            <a:noAutofit/>
          </a:bodyPr>
          <a:lstStyle/>
          <a:p>
            <a:pPr indent="-387350" lvl="0" marL="457200" rtl="0" algn="l">
              <a:lnSpc>
                <a:spcPct val="115000"/>
              </a:lnSpc>
              <a:spcBef>
                <a:spcPts val="0"/>
              </a:spcBef>
              <a:spcAft>
                <a:spcPts val="0"/>
              </a:spcAft>
              <a:buClr>
                <a:srgbClr val="595959"/>
              </a:buClr>
              <a:buSzPts val="2500"/>
              <a:buFont typeface="Times New Roman"/>
              <a:buChar char="•"/>
            </a:pPr>
            <a:r>
              <a:rPr b="1" lang="en-GB" sz="2500">
                <a:solidFill>
                  <a:srgbClr val="595959"/>
                </a:solidFill>
                <a:latin typeface="Times New Roman"/>
                <a:ea typeface="Times New Roman"/>
                <a:cs typeface="Times New Roman"/>
                <a:sym typeface="Times New Roman"/>
              </a:rPr>
              <a:t>Java is very simple and easy to learn </a:t>
            </a:r>
            <a:endParaRPr b="1" sz="2500">
              <a:solidFill>
                <a:srgbClr val="595959"/>
              </a:solidFill>
              <a:latin typeface="Times New Roman"/>
              <a:ea typeface="Times New Roman"/>
              <a:cs typeface="Times New Roman"/>
              <a:sym typeface="Times New Roman"/>
            </a:endParaRPr>
          </a:p>
          <a:p>
            <a:pPr indent="-387350" lvl="0" marL="457200" rtl="0" algn="l">
              <a:lnSpc>
                <a:spcPct val="115000"/>
              </a:lnSpc>
              <a:spcBef>
                <a:spcPts val="0"/>
              </a:spcBef>
              <a:spcAft>
                <a:spcPts val="0"/>
              </a:spcAft>
              <a:buClr>
                <a:srgbClr val="595959"/>
              </a:buClr>
              <a:buSzPts val="2500"/>
              <a:buFont typeface="Times New Roman"/>
              <a:buChar char="•"/>
            </a:pPr>
            <a:r>
              <a:rPr b="1" lang="en-GB" sz="2500">
                <a:solidFill>
                  <a:srgbClr val="595959"/>
                </a:solidFill>
                <a:latin typeface="Times New Roman"/>
                <a:ea typeface="Times New Roman"/>
                <a:cs typeface="Times New Roman"/>
                <a:sym typeface="Times New Roman"/>
              </a:rPr>
              <a:t>Java is partially modeled on C++, but greatly simplified and improved.</a:t>
            </a:r>
            <a:endParaRPr b="1" sz="2500">
              <a:solidFill>
                <a:srgbClr val="595959"/>
              </a:solidFill>
              <a:latin typeface="Times New Roman"/>
              <a:ea typeface="Times New Roman"/>
              <a:cs typeface="Times New Roman"/>
              <a:sym typeface="Times New Roman"/>
            </a:endParaRPr>
          </a:p>
          <a:p>
            <a:pPr indent="-387350" lvl="0" marL="457200" rtl="0" algn="l">
              <a:lnSpc>
                <a:spcPct val="115000"/>
              </a:lnSpc>
              <a:spcBef>
                <a:spcPts val="0"/>
              </a:spcBef>
              <a:spcAft>
                <a:spcPts val="0"/>
              </a:spcAft>
              <a:buClr>
                <a:srgbClr val="595959"/>
              </a:buClr>
              <a:buSzPts val="2500"/>
              <a:buFont typeface="Times New Roman"/>
              <a:buChar char="•"/>
            </a:pPr>
            <a:r>
              <a:rPr b="1" lang="en-GB" sz="2500">
                <a:solidFill>
                  <a:srgbClr val="595959"/>
                </a:solidFill>
                <a:latin typeface="Times New Roman"/>
                <a:ea typeface="Times New Roman"/>
                <a:cs typeface="Times New Roman"/>
                <a:sym typeface="Times New Roman"/>
              </a:rPr>
              <a:t>The end user who is familiar with C and C++, requires less efforts in learning java.</a:t>
            </a:r>
            <a:endParaRPr b="1" sz="2500">
              <a:solidFill>
                <a:srgbClr val="595959"/>
              </a:solidFill>
              <a:latin typeface="Times New Roman"/>
              <a:ea typeface="Times New Roman"/>
              <a:cs typeface="Times New Roman"/>
              <a:sym typeface="Times New Roman"/>
            </a:endParaRPr>
          </a:p>
          <a:p>
            <a:pPr indent="-387350" lvl="0" marL="457200" rtl="0" algn="l">
              <a:lnSpc>
                <a:spcPct val="115000"/>
              </a:lnSpc>
              <a:spcBef>
                <a:spcPts val="0"/>
              </a:spcBef>
              <a:spcAft>
                <a:spcPts val="0"/>
              </a:spcAft>
              <a:buClr>
                <a:srgbClr val="595959"/>
              </a:buClr>
              <a:buSzPts val="2500"/>
              <a:buFont typeface="Times New Roman"/>
              <a:buChar char="•"/>
            </a:pPr>
            <a:r>
              <a:rPr b="1" lang="en-GB" sz="2500">
                <a:solidFill>
                  <a:srgbClr val="595959"/>
                </a:solidFill>
                <a:latin typeface="Times New Roman"/>
                <a:ea typeface="Times New Roman"/>
                <a:cs typeface="Times New Roman"/>
                <a:sym typeface="Times New Roman"/>
              </a:rPr>
              <a:t>Most of the complex and confusing features of other languages(C,C++) like pointers, multiple inheritance…. Removed from java </a:t>
            </a:r>
            <a:endParaRPr b="1" sz="2500">
              <a:solidFill>
                <a:srgbClr val="595959"/>
              </a:solidFill>
              <a:latin typeface="Times New Roman"/>
              <a:ea typeface="Times New Roman"/>
              <a:cs typeface="Times New Roman"/>
              <a:sym typeface="Times New Roman"/>
            </a:endParaRPr>
          </a:p>
          <a:p>
            <a:pPr indent="0" lvl="0" marL="342900" rtl="0" algn="l">
              <a:spcBef>
                <a:spcPts val="1600"/>
              </a:spcBef>
              <a:spcAft>
                <a:spcPts val="0"/>
              </a:spcAft>
              <a:buNone/>
            </a:pPr>
            <a:r>
              <a:t/>
            </a:r>
            <a:endParaRPr b="1" sz="2400">
              <a:solidFill>
                <a:srgbClr val="595959"/>
              </a:solidFill>
              <a:latin typeface="Times New Roman"/>
              <a:ea typeface="Times New Roman"/>
              <a:cs typeface="Times New Roman"/>
              <a:sym typeface="Times New Roman"/>
            </a:endParaRPr>
          </a:p>
        </p:txBody>
      </p:sp>
      <p:sp>
        <p:nvSpPr>
          <p:cNvPr id="106" name="Google Shape;106;g821b6a0978_0_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07" name="Google Shape;107;g821b6a0978_0_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108" name="Google Shape;108;g821b6a0978_0_0"/>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821b6a0978_0_8"/>
          <p:cNvSpPr txBox="1"/>
          <p:nvPr>
            <p:ph type="title"/>
          </p:nvPr>
        </p:nvSpPr>
        <p:spPr>
          <a:xfrm>
            <a:off x="6096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GB" sz="4500">
                <a:latin typeface="Times New Roman"/>
                <a:ea typeface="Times New Roman"/>
                <a:cs typeface="Times New Roman"/>
                <a:sym typeface="Times New Roman"/>
              </a:rPr>
              <a:t>Platform Independent</a:t>
            </a:r>
            <a:endParaRPr b="1" sz="4500">
              <a:latin typeface="Times New Roman"/>
              <a:ea typeface="Times New Roman"/>
              <a:cs typeface="Times New Roman"/>
              <a:sym typeface="Times New Roman"/>
            </a:endParaRPr>
          </a:p>
        </p:txBody>
      </p:sp>
      <p:sp>
        <p:nvSpPr>
          <p:cNvPr id="114" name="Google Shape;114;g821b6a0978_0_8"/>
          <p:cNvSpPr txBox="1"/>
          <p:nvPr>
            <p:ph idx="1" type="body"/>
          </p:nvPr>
        </p:nvSpPr>
        <p:spPr>
          <a:xfrm>
            <a:off x="457200" y="15240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GB" sz="2500">
                <a:solidFill>
                  <a:srgbClr val="595959"/>
                </a:solidFill>
                <a:latin typeface="Times New Roman"/>
                <a:ea typeface="Times New Roman"/>
                <a:cs typeface="Times New Roman"/>
                <a:sym typeface="Times New Roman"/>
              </a:rPr>
              <a:t>If we write java program once, we can run on any platform. I.e java follows Write Once Run Anywhere principle (WORA)</a:t>
            </a:r>
            <a:endParaRPr b="1" sz="2500">
              <a:solidFill>
                <a:srgbClr val="595959"/>
              </a:solidFill>
              <a:latin typeface="Times New Roman"/>
              <a:ea typeface="Times New Roman"/>
              <a:cs typeface="Times New Roman"/>
              <a:sym typeface="Times New Roman"/>
            </a:endParaRPr>
          </a:p>
          <a:p>
            <a:pPr indent="0" lvl="0" marL="457200" rtl="0" algn="l">
              <a:lnSpc>
                <a:spcPct val="115000"/>
              </a:lnSpc>
              <a:spcBef>
                <a:spcPts val="1600"/>
              </a:spcBef>
              <a:spcAft>
                <a:spcPts val="0"/>
              </a:spcAft>
              <a:buNone/>
            </a:pPr>
            <a:r>
              <a:t/>
            </a:r>
            <a:endParaRPr b="1" sz="2500">
              <a:solidFill>
                <a:srgbClr val="595959"/>
              </a:solidFill>
              <a:latin typeface="Times New Roman"/>
              <a:ea typeface="Times New Roman"/>
              <a:cs typeface="Times New Roman"/>
              <a:sym typeface="Times New Roman"/>
            </a:endParaRPr>
          </a:p>
          <a:p>
            <a:pPr indent="0" lvl="0" marL="342900" rtl="0" algn="l">
              <a:spcBef>
                <a:spcPts val="1600"/>
              </a:spcBef>
              <a:spcAft>
                <a:spcPts val="0"/>
              </a:spcAft>
              <a:buNone/>
            </a:pPr>
            <a:r>
              <a:t/>
            </a:r>
            <a:endParaRPr b="1" sz="2400">
              <a:solidFill>
                <a:srgbClr val="595959"/>
              </a:solidFill>
              <a:latin typeface="Times New Roman"/>
              <a:ea typeface="Times New Roman"/>
              <a:cs typeface="Times New Roman"/>
              <a:sym typeface="Times New Roman"/>
            </a:endParaRPr>
          </a:p>
        </p:txBody>
      </p:sp>
      <p:sp>
        <p:nvSpPr>
          <p:cNvPr id="115" name="Google Shape;115;g821b6a0978_0_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16" name="Google Shape;116;g821b6a0978_0_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117" name="Google Shape;117;g821b6a0978_0_8"/>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
        <p:nvSpPr>
          <p:cNvPr id="118" name="Google Shape;118;g821b6a0978_0_8"/>
          <p:cNvSpPr txBox="1"/>
          <p:nvPr/>
        </p:nvSpPr>
        <p:spPr>
          <a:xfrm>
            <a:off x="3498300" y="2730125"/>
            <a:ext cx="1362300" cy="5073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Java Program </a:t>
            </a:r>
            <a:endParaRPr/>
          </a:p>
        </p:txBody>
      </p:sp>
      <p:sp>
        <p:nvSpPr>
          <p:cNvPr id="119" name="Google Shape;119;g821b6a0978_0_8"/>
          <p:cNvSpPr txBox="1"/>
          <p:nvPr/>
        </p:nvSpPr>
        <p:spPr>
          <a:xfrm>
            <a:off x="1701400" y="4135775"/>
            <a:ext cx="1217100" cy="5073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Windows</a:t>
            </a:r>
            <a:endParaRPr/>
          </a:p>
        </p:txBody>
      </p:sp>
      <p:sp>
        <p:nvSpPr>
          <p:cNvPr id="120" name="Google Shape;120;g821b6a0978_0_8"/>
          <p:cNvSpPr txBox="1"/>
          <p:nvPr/>
        </p:nvSpPr>
        <p:spPr>
          <a:xfrm>
            <a:off x="3585250" y="4150275"/>
            <a:ext cx="1202700" cy="5727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Unix, Linux</a:t>
            </a:r>
            <a:endParaRPr/>
          </a:p>
        </p:txBody>
      </p:sp>
      <p:sp>
        <p:nvSpPr>
          <p:cNvPr id="121" name="Google Shape;121;g821b6a0978_0_8"/>
          <p:cNvSpPr txBox="1"/>
          <p:nvPr/>
        </p:nvSpPr>
        <p:spPr>
          <a:xfrm>
            <a:off x="5599550" y="4150275"/>
            <a:ext cx="825900" cy="4347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MAC</a:t>
            </a:r>
            <a:endParaRPr/>
          </a:p>
        </p:txBody>
      </p:sp>
      <p:cxnSp>
        <p:nvCxnSpPr>
          <p:cNvPr id="122" name="Google Shape;122;g821b6a0978_0_8"/>
          <p:cNvCxnSpPr>
            <a:stCxn id="118" idx="2"/>
            <a:endCxn id="119" idx="0"/>
          </p:cNvCxnSpPr>
          <p:nvPr/>
        </p:nvCxnSpPr>
        <p:spPr>
          <a:xfrm flipH="1">
            <a:off x="2309850" y="3237425"/>
            <a:ext cx="1869600" cy="898500"/>
          </a:xfrm>
          <a:prstGeom prst="straightConnector1">
            <a:avLst/>
          </a:prstGeom>
          <a:noFill/>
          <a:ln cap="flat" cmpd="sng" w="19050">
            <a:solidFill>
              <a:srgbClr val="595959"/>
            </a:solidFill>
            <a:prstDash val="solid"/>
            <a:round/>
            <a:headEnd len="med" w="med" type="none"/>
            <a:tailEnd len="med" w="med" type="none"/>
          </a:ln>
        </p:spPr>
      </p:cxnSp>
      <p:cxnSp>
        <p:nvCxnSpPr>
          <p:cNvPr id="123" name="Google Shape;123;g821b6a0978_0_8"/>
          <p:cNvCxnSpPr>
            <a:stCxn id="118" idx="2"/>
            <a:endCxn id="120" idx="0"/>
          </p:cNvCxnSpPr>
          <p:nvPr/>
        </p:nvCxnSpPr>
        <p:spPr>
          <a:xfrm>
            <a:off x="4179450" y="3237425"/>
            <a:ext cx="7200" cy="912900"/>
          </a:xfrm>
          <a:prstGeom prst="straightConnector1">
            <a:avLst/>
          </a:prstGeom>
          <a:noFill/>
          <a:ln cap="flat" cmpd="sng" w="19050">
            <a:solidFill>
              <a:srgbClr val="595959"/>
            </a:solidFill>
            <a:prstDash val="solid"/>
            <a:round/>
            <a:headEnd len="med" w="med" type="none"/>
            <a:tailEnd len="med" w="med" type="none"/>
          </a:ln>
        </p:spPr>
      </p:cxnSp>
      <p:cxnSp>
        <p:nvCxnSpPr>
          <p:cNvPr id="124" name="Google Shape;124;g821b6a0978_0_8"/>
          <p:cNvCxnSpPr>
            <a:stCxn id="118" idx="2"/>
            <a:endCxn id="121" idx="0"/>
          </p:cNvCxnSpPr>
          <p:nvPr/>
        </p:nvCxnSpPr>
        <p:spPr>
          <a:xfrm>
            <a:off x="4179450" y="3237425"/>
            <a:ext cx="1833000" cy="912900"/>
          </a:xfrm>
          <a:prstGeom prst="straightConnector1">
            <a:avLst/>
          </a:prstGeom>
          <a:noFill/>
          <a:ln cap="flat" cmpd="sng" w="19050">
            <a:solidFill>
              <a:srgbClr val="595959"/>
            </a:solidFill>
            <a:prstDash val="solid"/>
            <a:round/>
            <a:headEnd len="med" w="med" type="none"/>
            <a:tailEnd len="med" w="med" type="none"/>
          </a:ln>
        </p:spPr>
      </p:cxnSp>
      <p:sp>
        <p:nvSpPr>
          <p:cNvPr id="125" name="Google Shape;125;g821b6a0978_0_8"/>
          <p:cNvSpPr txBox="1"/>
          <p:nvPr/>
        </p:nvSpPr>
        <p:spPr>
          <a:xfrm>
            <a:off x="770675" y="5124925"/>
            <a:ext cx="7916100" cy="4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Times New Roman"/>
                <a:ea typeface="Times New Roman"/>
                <a:cs typeface="Times New Roman"/>
                <a:sym typeface="Times New Roman"/>
              </a:rPr>
              <a:t>You can run same java programs on different platform </a:t>
            </a:r>
            <a:endParaRPr sz="25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821b6a0978_0_25"/>
          <p:cNvSpPr txBox="1"/>
          <p:nvPr>
            <p:ph type="title"/>
          </p:nvPr>
        </p:nvSpPr>
        <p:spPr>
          <a:xfrm>
            <a:off x="7584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GB" sz="4500">
                <a:solidFill>
                  <a:srgbClr val="000000"/>
                </a:solidFill>
                <a:latin typeface="Times New Roman"/>
                <a:ea typeface="Times New Roman"/>
                <a:cs typeface="Times New Roman"/>
                <a:sym typeface="Times New Roman"/>
              </a:rPr>
              <a:t>Architectural-Neutral</a:t>
            </a:r>
            <a:endParaRPr b="1" sz="4500">
              <a:latin typeface="Times New Roman"/>
              <a:ea typeface="Times New Roman"/>
              <a:cs typeface="Times New Roman"/>
              <a:sym typeface="Times New Roman"/>
            </a:endParaRPr>
          </a:p>
        </p:txBody>
      </p:sp>
      <p:sp>
        <p:nvSpPr>
          <p:cNvPr id="131" name="Google Shape;131;g821b6a0978_0_25"/>
          <p:cNvSpPr txBox="1"/>
          <p:nvPr>
            <p:ph idx="1" type="body"/>
          </p:nvPr>
        </p:nvSpPr>
        <p:spPr>
          <a:xfrm>
            <a:off x="457200" y="1524000"/>
            <a:ext cx="8229600" cy="4526100"/>
          </a:xfrm>
          <a:prstGeom prst="rect">
            <a:avLst/>
          </a:prstGeom>
          <a:noFill/>
          <a:ln>
            <a:noFill/>
          </a:ln>
        </p:spPr>
        <p:txBody>
          <a:bodyPr anchorCtr="0" anchor="t" bIns="45700" lIns="91425" spcFirstLastPara="1" rIns="91425" wrap="square" tIns="45700">
            <a:noAutofit/>
          </a:bodyPr>
          <a:lstStyle/>
          <a:p>
            <a:pPr indent="-387350" lvl="0" marL="457200" rtl="0" algn="l">
              <a:lnSpc>
                <a:spcPct val="115000"/>
              </a:lnSpc>
              <a:spcBef>
                <a:spcPts val="0"/>
              </a:spcBef>
              <a:spcAft>
                <a:spcPts val="0"/>
              </a:spcAft>
              <a:buClr>
                <a:srgbClr val="595959"/>
              </a:buClr>
              <a:buSzPts val="2500"/>
              <a:buFont typeface="Times New Roman"/>
              <a:buChar char="•"/>
            </a:pPr>
            <a:r>
              <a:rPr b="1" lang="en-GB" sz="2500">
                <a:solidFill>
                  <a:srgbClr val="595959"/>
                </a:solidFill>
                <a:latin typeface="Times New Roman"/>
                <a:ea typeface="Times New Roman"/>
                <a:cs typeface="Times New Roman"/>
                <a:sym typeface="Times New Roman"/>
              </a:rPr>
              <a:t>Java programs never communicates with the platform directly. </a:t>
            </a:r>
            <a:endParaRPr b="1" sz="2500">
              <a:solidFill>
                <a:srgbClr val="595959"/>
              </a:solidFill>
              <a:latin typeface="Times New Roman"/>
              <a:ea typeface="Times New Roman"/>
              <a:cs typeface="Times New Roman"/>
              <a:sym typeface="Times New Roman"/>
            </a:endParaRPr>
          </a:p>
          <a:p>
            <a:pPr indent="-387350" lvl="0" marL="457200" rtl="0" algn="l">
              <a:lnSpc>
                <a:spcPct val="115000"/>
              </a:lnSpc>
              <a:spcBef>
                <a:spcPts val="0"/>
              </a:spcBef>
              <a:spcAft>
                <a:spcPts val="0"/>
              </a:spcAft>
              <a:buClr>
                <a:srgbClr val="595959"/>
              </a:buClr>
              <a:buSzPts val="2500"/>
              <a:buFont typeface="Times New Roman"/>
              <a:buChar char="•"/>
            </a:pPr>
            <a:r>
              <a:rPr b="1" lang="en-GB" sz="2500">
                <a:solidFill>
                  <a:srgbClr val="595959"/>
                </a:solidFill>
                <a:latin typeface="Times New Roman"/>
                <a:ea typeface="Times New Roman"/>
                <a:cs typeface="Times New Roman"/>
                <a:sym typeface="Times New Roman"/>
              </a:rPr>
              <a:t>Changes and upgrades in operating system, processors and system resources will not force any changes in java programs.  </a:t>
            </a:r>
            <a:endParaRPr b="1" sz="2500">
              <a:solidFill>
                <a:srgbClr val="595959"/>
              </a:solidFill>
              <a:latin typeface="Times New Roman"/>
              <a:ea typeface="Times New Roman"/>
              <a:cs typeface="Times New Roman"/>
              <a:sym typeface="Times New Roman"/>
            </a:endParaRPr>
          </a:p>
          <a:p>
            <a:pPr indent="0" lvl="0" marL="457200" rtl="0" algn="l">
              <a:lnSpc>
                <a:spcPct val="115000"/>
              </a:lnSpc>
              <a:spcBef>
                <a:spcPts val="1600"/>
              </a:spcBef>
              <a:spcAft>
                <a:spcPts val="0"/>
              </a:spcAft>
              <a:buNone/>
            </a:pPr>
            <a:r>
              <a:t/>
            </a:r>
            <a:endParaRPr b="1" sz="2500">
              <a:solidFill>
                <a:srgbClr val="595959"/>
              </a:solidFill>
              <a:latin typeface="Times New Roman"/>
              <a:ea typeface="Times New Roman"/>
              <a:cs typeface="Times New Roman"/>
              <a:sym typeface="Times New Roman"/>
            </a:endParaRPr>
          </a:p>
          <a:p>
            <a:pPr indent="0" lvl="0" marL="342900" rtl="0" algn="l">
              <a:spcBef>
                <a:spcPts val="1600"/>
              </a:spcBef>
              <a:spcAft>
                <a:spcPts val="0"/>
              </a:spcAft>
              <a:buNone/>
            </a:pPr>
            <a:r>
              <a:t/>
            </a:r>
            <a:endParaRPr b="1" sz="2400">
              <a:solidFill>
                <a:srgbClr val="595959"/>
              </a:solidFill>
              <a:latin typeface="Times New Roman"/>
              <a:ea typeface="Times New Roman"/>
              <a:cs typeface="Times New Roman"/>
              <a:sym typeface="Times New Roman"/>
            </a:endParaRPr>
          </a:p>
        </p:txBody>
      </p:sp>
      <p:sp>
        <p:nvSpPr>
          <p:cNvPr id="132" name="Google Shape;132;g821b6a0978_0_2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33" name="Google Shape;133;g821b6a0978_0_2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134" name="Google Shape;134;g821b6a0978_0_25"/>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821b6a0978_0_33"/>
          <p:cNvSpPr txBox="1"/>
          <p:nvPr>
            <p:ph type="title"/>
          </p:nvPr>
        </p:nvSpPr>
        <p:spPr>
          <a:xfrm>
            <a:off x="7584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GB" sz="4500">
                <a:solidFill>
                  <a:srgbClr val="000000"/>
                </a:solidFill>
                <a:latin typeface="Times New Roman"/>
                <a:ea typeface="Times New Roman"/>
                <a:cs typeface="Times New Roman"/>
                <a:sym typeface="Times New Roman"/>
              </a:rPr>
              <a:t>Portable</a:t>
            </a:r>
            <a:endParaRPr b="1" sz="4500">
              <a:solidFill>
                <a:srgbClr val="000000"/>
              </a:solidFill>
              <a:latin typeface="Times New Roman"/>
              <a:ea typeface="Times New Roman"/>
              <a:cs typeface="Times New Roman"/>
              <a:sym typeface="Times New Roman"/>
            </a:endParaRPr>
          </a:p>
        </p:txBody>
      </p:sp>
      <p:sp>
        <p:nvSpPr>
          <p:cNvPr id="140" name="Google Shape;140;g821b6a0978_0_33"/>
          <p:cNvSpPr txBox="1"/>
          <p:nvPr>
            <p:ph idx="1" type="body"/>
          </p:nvPr>
        </p:nvSpPr>
        <p:spPr>
          <a:xfrm>
            <a:off x="457200" y="15240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GB" sz="2500">
                <a:solidFill>
                  <a:srgbClr val="595959"/>
                </a:solidFill>
                <a:latin typeface="Times New Roman"/>
                <a:ea typeface="Times New Roman"/>
                <a:cs typeface="Times New Roman"/>
                <a:sym typeface="Times New Roman"/>
              </a:rPr>
              <a:t>We can carry the java byte code to any platform without making any changes.</a:t>
            </a:r>
            <a:endParaRPr b="1" sz="2500">
              <a:solidFill>
                <a:srgbClr val="595959"/>
              </a:solidFill>
              <a:latin typeface="Times New Roman"/>
              <a:ea typeface="Times New Roman"/>
              <a:cs typeface="Times New Roman"/>
              <a:sym typeface="Times New Roman"/>
            </a:endParaRPr>
          </a:p>
          <a:p>
            <a:pPr indent="0" lvl="0" marL="457200" rtl="0" algn="l">
              <a:lnSpc>
                <a:spcPct val="115000"/>
              </a:lnSpc>
              <a:spcBef>
                <a:spcPts val="1600"/>
              </a:spcBef>
              <a:spcAft>
                <a:spcPts val="0"/>
              </a:spcAft>
              <a:buNone/>
            </a:pPr>
            <a:r>
              <a:t/>
            </a:r>
            <a:endParaRPr b="1" sz="25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0"/>
              </a:spcAft>
              <a:buNone/>
            </a:pPr>
            <a:r>
              <a:rPr b="1" lang="en-GB" sz="2500">
                <a:solidFill>
                  <a:srgbClr val="980000"/>
                </a:solidFill>
                <a:latin typeface="Times New Roman"/>
                <a:ea typeface="Times New Roman"/>
                <a:cs typeface="Times New Roman"/>
                <a:sym typeface="Times New Roman"/>
              </a:rPr>
              <a:t>For Example </a:t>
            </a:r>
            <a:endParaRPr b="1" sz="2500">
              <a:solidFill>
                <a:srgbClr val="980000"/>
              </a:solidFill>
              <a:latin typeface="Times New Roman"/>
              <a:ea typeface="Times New Roman"/>
              <a:cs typeface="Times New Roman"/>
              <a:sym typeface="Times New Roman"/>
            </a:endParaRPr>
          </a:p>
          <a:p>
            <a:pPr indent="0" lvl="0" marL="0" rtl="0" algn="l">
              <a:lnSpc>
                <a:spcPct val="115000"/>
              </a:lnSpc>
              <a:spcBef>
                <a:spcPts val="1600"/>
              </a:spcBef>
              <a:spcAft>
                <a:spcPts val="0"/>
              </a:spcAft>
              <a:buNone/>
            </a:pPr>
            <a:r>
              <a:rPr b="1" lang="en-GB" sz="2500">
                <a:solidFill>
                  <a:srgbClr val="595959"/>
                </a:solidFill>
                <a:latin typeface="Times New Roman"/>
                <a:ea typeface="Times New Roman"/>
                <a:cs typeface="Times New Roman"/>
                <a:sym typeface="Times New Roman"/>
              </a:rPr>
              <a:t>Just like Mobile number portability in India from one service provider to another service provider without changing the mobile number.</a:t>
            </a:r>
            <a:endParaRPr b="1" sz="25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0"/>
              </a:spcAft>
              <a:buNone/>
            </a:pPr>
            <a:r>
              <a:t/>
            </a:r>
            <a:endParaRPr b="1" sz="2500">
              <a:solidFill>
                <a:srgbClr val="595959"/>
              </a:solidFill>
              <a:latin typeface="Times New Roman"/>
              <a:ea typeface="Times New Roman"/>
              <a:cs typeface="Times New Roman"/>
              <a:sym typeface="Times New Roman"/>
            </a:endParaRPr>
          </a:p>
          <a:p>
            <a:pPr indent="0" lvl="0" marL="457200" rtl="0" algn="l">
              <a:lnSpc>
                <a:spcPct val="115000"/>
              </a:lnSpc>
              <a:spcBef>
                <a:spcPts val="1600"/>
              </a:spcBef>
              <a:spcAft>
                <a:spcPts val="0"/>
              </a:spcAft>
              <a:buNone/>
            </a:pPr>
            <a:r>
              <a:t/>
            </a:r>
            <a:endParaRPr b="1" sz="2500">
              <a:solidFill>
                <a:srgbClr val="595959"/>
              </a:solidFill>
              <a:latin typeface="Times New Roman"/>
              <a:ea typeface="Times New Roman"/>
              <a:cs typeface="Times New Roman"/>
              <a:sym typeface="Times New Roman"/>
            </a:endParaRPr>
          </a:p>
          <a:p>
            <a:pPr indent="0" lvl="0" marL="0" rtl="0" algn="l">
              <a:spcBef>
                <a:spcPts val="1600"/>
              </a:spcBef>
              <a:spcAft>
                <a:spcPts val="0"/>
              </a:spcAft>
              <a:buNone/>
            </a:pPr>
            <a:r>
              <a:t/>
            </a:r>
            <a:endParaRPr b="1" sz="2400">
              <a:solidFill>
                <a:srgbClr val="595959"/>
              </a:solidFill>
              <a:latin typeface="Times New Roman"/>
              <a:ea typeface="Times New Roman"/>
              <a:cs typeface="Times New Roman"/>
              <a:sym typeface="Times New Roman"/>
            </a:endParaRPr>
          </a:p>
        </p:txBody>
      </p:sp>
      <p:sp>
        <p:nvSpPr>
          <p:cNvPr id="141" name="Google Shape;141;g821b6a0978_0_3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42" name="Google Shape;142;g821b6a0978_0_3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143" name="Google Shape;143;g821b6a0978_0_33"/>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821b6a0978_0_41"/>
          <p:cNvSpPr txBox="1"/>
          <p:nvPr>
            <p:ph type="title"/>
          </p:nvPr>
        </p:nvSpPr>
        <p:spPr>
          <a:xfrm>
            <a:off x="7584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GB" sz="4500">
                <a:solidFill>
                  <a:srgbClr val="000000"/>
                </a:solidFill>
                <a:latin typeface="Times New Roman"/>
                <a:ea typeface="Times New Roman"/>
                <a:cs typeface="Times New Roman"/>
                <a:sym typeface="Times New Roman"/>
              </a:rPr>
              <a:t>Secure</a:t>
            </a:r>
            <a:endParaRPr b="1" sz="4500">
              <a:solidFill>
                <a:srgbClr val="000000"/>
              </a:solidFill>
              <a:latin typeface="Times New Roman"/>
              <a:ea typeface="Times New Roman"/>
              <a:cs typeface="Times New Roman"/>
              <a:sym typeface="Times New Roman"/>
            </a:endParaRPr>
          </a:p>
        </p:txBody>
      </p:sp>
      <p:sp>
        <p:nvSpPr>
          <p:cNvPr id="149" name="Google Shape;149;g821b6a0978_0_41"/>
          <p:cNvSpPr txBox="1"/>
          <p:nvPr>
            <p:ph idx="1" type="body"/>
          </p:nvPr>
        </p:nvSpPr>
        <p:spPr>
          <a:xfrm>
            <a:off x="457200" y="15240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GB" sz="2500">
                <a:solidFill>
                  <a:srgbClr val="595959"/>
                </a:solidFill>
                <a:latin typeface="Times New Roman"/>
                <a:ea typeface="Times New Roman"/>
                <a:cs typeface="Times New Roman"/>
                <a:sym typeface="Times New Roman"/>
              </a:rPr>
              <a:t>Java program never communicates directly with the machine. First converted into byte code and then converted into machine code by the JVM</a:t>
            </a:r>
            <a:endParaRPr b="1" sz="25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0"/>
              </a:spcAft>
              <a:buClr>
                <a:schemeClr val="dk1"/>
              </a:buClr>
              <a:buSzPts val="1100"/>
              <a:buFont typeface="Arial"/>
              <a:buNone/>
            </a:pPr>
            <a:r>
              <a:rPr b="1" lang="en-GB" sz="2500">
                <a:solidFill>
                  <a:srgbClr val="595959"/>
                </a:solidFill>
                <a:latin typeface="Times New Roman"/>
                <a:ea typeface="Times New Roman"/>
                <a:cs typeface="Times New Roman"/>
                <a:sym typeface="Times New Roman"/>
              </a:rPr>
              <a:t>If the bytecode contains any problem or if it is not properly formatted, then JVM won’t allow that code to run and will raise VerifyError. Internally inside JVM, Bytecode verifier is responsible to verify byte code</a:t>
            </a:r>
            <a:endParaRPr b="1" sz="25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0"/>
              </a:spcAft>
              <a:buClr>
                <a:schemeClr val="dk1"/>
              </a:buClr>
              <a:buSzPts val="1100"/>
              <a:buFont typeface="Arial"/>
              <a:buNone/>
            </a:pPr>
            <a:r>
              <a:rPr b="1" lang="en-GB" sz="2500">
                <a:solidFill>
                  <a:srgbClr val="595959"/>
                </a:solidFill>
                <a:latin typeface="Times New Roman"/>
                <a:ea typeface="Times New Roman"/>
                <a:cs typeface="Times New Roman"/>
                <a:sym typeface="Times New Roman"/>
              </a:rPr>
              <a:t>So  java programs won’t cause any problem to the system.</a:t>
            </a:r>
            <a:endParaRPr b="1" sz="2500">
              <a:solidFill>
                <a:srgbClr val="595959"/>
              </a:solidFill>
              <a:latin typeface="Times New Roman"/>
              <a:ea typeface="Times New Roman"/>
              <a:cs typeface="Times New Roman"/>
              <a:sym typeface="Times New Roman"/>
            </a:endParaRPr>
          </a:p>
          <a:p>
            <a:pPr indent="0" lvl="0" marL="0" rtl="0" algn="l">
              <a:spcBef>
                <a:spcPts val="1600"/>
              </a:spcBef>
              <a:spcAft>
                <a:spcPts val="0"/>
              </a:spcAft>
              <a:buNone/>
            </a:pPr>
            <a:r>
              <a:t/>
            </a:r>
            <a:endParaRPr b="1" sz="2500">
              <a:solidFill>
                <a:srgbClr val="595959"/>
              </a:solidFill>
              <a:latin typeface="Times New Roman"/>
              <a:ea typeface="Times New Roman"/>
              <a:cs typeface="Times New Roman"/>
              <a:sym typeface="Times New Roman"/>
            </a:endParaRPr>
          </a:p>
        </p:txBody>
      </p:sp>
      <p:sp>
        <p:nvSpPr>
          <p:cNvPr id="150" name="Google Shape;150;g821b6a0978_0_4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51" name="Google Shape;151;g821b6a0978_0_4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152" name="Google Shape;152;g821b6a0978_0_41"/>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821b6a0978_0_63"/>
          <p:cNvSpPr txBox="1"/>
          <p:nvPr>
            <p:ph type="title"/>
          </p:nvPr>
        </p:nvSpPr>
        <p:spPr>
          <a:xfrm>
            <a:off x="7584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GB" sz="4500">
                <a:solidFill>
                  <a:srgbClr val="000000"/>
                </a:solidFill>
                <a:latin typeface="Times New Roman"/>
                <a:ea typeface="Times New Roman"/>
                <a:cs typeface="Times New Roman"/>
                <a:sym typeface="Times New Roman"/>
              </a:rPr>
              <a:t>Object Oriented</a:t>
            </a:r>
            <a:endParaRPr b="1" sz="4500">
              <a:solidFill>
                <a:srgbClr val="000000"/>
              </a:solidFill>
              <a:latin typeface="Times New Roman"/>
              <a:ea typeface="Times New Roman"/>
              <a:cs typeface="Times New Roman"/>
              <a:sym typeface="Times New Roman"/>
            </a:endParaRPr>
          </a:p>
        </p:txBody>
      </p:sp>
      <p:sp>
        <p:nvSpPr>
          <p:cNvPr id="158" name="Google Shape;158;g821b6a0978_0_63"/>
          <p:cNvSpPr txBox="1"/>
          <p:nvPr>
            <p:ph idx="1" type="body"/>
          </p:nvPr>
        </p:nvSpPr>
        <p:spPr>
          <a:xfrm>
            <a:off x="457200" y="15240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GB" sz="2500">
                <a:solidFill>
                  <a:srgbClr val="595959"/>
                </a:solidFill>
                <a:latin typeface="Times New Roman"/>
                <a:ea typeface="Times New Roman"/>
                <a:cs typeface="Times New Roman"/>
                <a:sym typeface="Times New Roman"/>
              </a:rPr>
              <a:t>Java is object Oriented Programming Language like C++. Most ot the times in java we have to handle everything in terms of Object.</a:t>
            </a:r>
            <a:endParaRPr b="1" sz="25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0"/>
              </a:spcAft>
              <a:buNone/>
            </a:pPr>
            <a:r>
              <a:rPr b="1" lang="en-GB" sz="2500">
                <a:solidFill>
                  <a:srgbClr val="595959"/>
                </a:solidFill>
                <a:latin typeface="Times New Roman"/>
                <a:ea typeface="Times New Roman"/>
                <a:cs typeface="Times New Roman"/>
                <a:sym typeface="Times New Roman"/>
              </a:rPr>
              <a:t>One of the central issues in software development is how to reuse code. Object-oriented programming provide great flexibility, modularity, clarity, and reusability through encapsulation, inheritance, and polymorphism.</a:t>
            </a:r>
            <a:endParaRPr b="1" sz="25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0"/>
              </a:spcAft>
              <a:buNone/>
            </a:pPr>
            <a:r>
              <a:t/>
            </a:r>
            <a:endParaRPr b="1" sz="2500">
              <a:solidFill>
                <a:srgbClr val="595959"/>
              </a:solidFill>
              <a:latin typeface="Times New Roman"/>
              <a:ea typeface="Times New Roman"/>
              <a:cs typeface="Times New Roman"/>
              <a:sym typeface="Times New Roman"/>
            </a:endParaRPr>
          </a:p>
          <a:p>
            <a:pPr indent="0" lvl="0" marL="0" rtl="0" algn="l">
              <a:spcBef>
                <a:spcPts val="1600"/>
              </a:spcBef>
              <a:spcAft>
                <a:spcPts val="0"/>
              </a:spcAft>
              <a:buNone/>
            </a:pPr>
            <a:r>
              <a:t/>
            </a:r>
            <a:endParaRPr b="1" sz="2500">
              <a:solidFill>
                <a:srgbClr val="595959"/>
              </a:solidFill>
              <a:latin typeface="Times New Roman"/>
              <a:ea typeface="Times New Roman"/>
              <a:cs typeface="Times New Roman"/>
              <a:sym typeface="Times New Roman"/>
            </a:endParaRPr>
          </a:p>
        </p:txBody>
      </p:sp>
      <p:sp>
        <p:nvSpPr>
          <p:cNvPr id="159" name="Google Shape;159;g821b6a0978_0_6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60" name="Google Shape;160;g821b6a0978_0_6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161" name="Google Shape;161;g821b6a0978_0_63"/>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821b6a0978_0_71"/>
          <p:cNvSpPr txBox="1"/>
          <p:nvPr>
            <p:ph type="title"/>
          </p:nvPr>
        </p:nvSpPr>
        <p:spPr>
          <a:xfrm>
            <a:off x="7584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GB" sz="4500">
                <a:solidFill>
                  <a:srgbClr val="000000"/>
                </a:solidFill>
                <a:latin typeface="Times New Roman"/>
                <a:ea typeface="Times New Roman"/>
                <a:cs typeface="Times New Roman"/>
                <a:sym typeface="Times New Roman"/>
              </a:rPr>
              <a:t>Multithreaded</a:t>
            </a:r>
            <a:endParaRPr b="1" sz="4500">
              <a:solidFill>
                <a:srgbClr val="000000"/>
              </a:solidFill>
              <a:latin typeface="Times New Roman"/>
              <a:ea typeface="Times New Roman"/>
              <a:cs typeface="Times New Roman"/>
              <a:sym typeface="Times New Roman"/>
            </a:endParaRPr>
          </a:p>
        </p:txBody>
      </p:sp>
      <p:sp>
        <p:nvSpPr>
          <p:cNvPr id="167" name="Google Shape;167;g821b6a0978_0_71"/>
          <p:cNvSpPr txBox="1"/>
          <p:nvPr>
            <p:ph idx="1" type="body"/>
          </p:nvPr>
        </p:nvSpPr>
        <p:spPr>
          <a:xfrm>
            <a:off x="457200" y="1524000"/>
            <a:ext cx="8229600" cy="4526100"/>
          </a:xfrm>
          <a:prstGeom prst="rect">
            <a:avLst/>
          </a:prstGeom>
          <a:noFill/>
          <a:ln>
            <a:noFill/>
          </a:ln>
        </p:spPr>
        <p:txBody>
          <a:bodyPr anchorCtr="0" anchor="t" bIns="45700" lIns="91425" spcFirstLastPara="1" rIns="91425" wrap="square" tIns="45700">
            <a:noAutofit/>
          </a:bodyPr>
          <a:lstStyle/>
          <a:p>
            <a:pPr indent="-387350" lvl="0" marL="457200" rtl="0" algn="l">
              <a:lnSpc>
                <a:spcPct val="115000"/>
              </a:lnSpc>
              <a:spcBef>
                <a:spcPts val="0"/>
              </a:spcBef>
              <a:spcAft>
                <a:spcPts val="0"/>
              </a:spcAft>
              <a:buClr>
                <a:srgbClr val="595959"/>
              </a:buClr>
              <a:buSzPts val="2500"/>
              <a:buFont typeface="Times New Roman"/>
              <a:buChar char="●"/>
            </a:pPr>
            <a:r>
              <a:rPr b="1" lang="en-GB" sz="2500">
                <a:solidFill>
                  <a:srgbClr val="595959"/>
                </a:solidFill>
                <a:latin typeface="Times New Roman"/>
                <a:ea typeface="Times New Roman"/>
                <a:cs typeface="Times New Roman"/>
                <a:sym typeface="Times New Roman"/>
              </a:rPr>
              <a:t>In the case of multithreading, multiple threads can run simultaneously and can perform specific tasks simultaneously, so that performance of the application will be improved.</a:t>
            </a:r>
            <a:endParaRPr b="1" sz="2500">
              <a:solidFill>
                <a:srgbClr val="595959"/>
              </a:solidFill>
              <a:latin typeface="Times New Roman"/>
              <a:ea typeface="Times New Roman"/>
              <a:cs typeface="Times New Roman"/>
              <a:sym typeface="Times New Roman"/>
            </a:endParaRPr>
          </a:p>
          <a:p>
            <a:pPr indent="-387350" lvl="0" marL="457200" rtl="0" algn="l">
              <a:lnSpc>
                <a:spcPct val="115000"/>
              </a:lnSpc>
              <a:spcBef>
                <a:spcPts val="0"/>
              </a:spcBef>
              <a:spcAft>
                <a:spcPts val="0"/>
              </a:spcAft>
              <a:buClr>
                <a:srgbClr val="595959"/>
              </a:buClr>
              <a:buSzPts val="2500"/>
              <a:buFont typeface="Times New Roman"/>
              <a:buChar char="●"/>
            </a:pPr>
            <a:r>
              <a:rPr b="1" lang="en-GB" sz="2500">
                <a:solidFill>
                  <a:srgbClr val="595959"/>
                </a:solidFill>
                <a:latin typeface="Times New Roman"/>
                <a:ea typeface="Times New Roman"/>
                <a:cs typeface="Times New Roman"/>
                <a:sym typeface="Times New Roman"/>
              </a:rPr>
              <a:t>Java provides inbuilt support for multithreading by providing a rich API.</a:t>
            </a:r>
            <a:endParaRPr b="1" sz="2500">
              <a:solidFill>
                <a:srgbClr val="595959"/>
              </a:solidFill>
              <a:latin typeface="Times New Roman"/>
              <a:ea typeface="Times New Roman"/>
              <a:cs typeface="Times New Roman"/>
              <a:sym typeface="Times New Roman"/>
            </a:endParaRPr>
          </a:p>
          <a:p>
            <a:pPr indent="-387350" lvl="0" marL="457200" rtl="0" algn="l">
              <a:lnSpc>
                <a:spcPct val="115000"/>
              </a:lnSpc>
              <a:spcBef>
                <a:spcPts val="0"/>
              </a:spcBef>
              <a:spcAft>
                <a:spcPts val="0"/>
              </a:spcAft>
              <a:buClr>
                <a:srgbClr val="595959"/>
              </a:buClr>
              <a:buSzPts val="2500"/>
              <a:buFont typeface="Times New Roman"/>
              <a:buChar char="●"/>
            </a:pPr>
            <a:r>
              <a:rPr b="1" lang="en-GB" sz="2500">
                <a:solidFill>
                  <a:srgbClr val="595959"/>
                </a:solidFill>
                <a:latin typeface="Times New Roman"/>
                <a:ea typeface="Times New Roman"/>
                <a:cs typeface="Times New Roman"/>
                <a:sym typeface="Times New Roman"/>
              </a:rPr>
              <a:t>Java won’t parallelized code execution automatically. It provides libraries, by using those we have to write code for parallel execution.</a:t>
            </a:r>
            <a:endParaRPr b="1" sz="2500">
              <a:solidFill>
                <a:srgbClr val="595959"/>
              </a:solidFill>
              <a:latin typeface="Times New Roman"/>
              <a:ea typeface="Times New Roman"/>
              <a:cs typeface="Times New Roman"/>
              <a:sym typeface="Times New Roman"/>
            </a:endParaRPr>
          </a:p>
          <a:p>
            <a:pPr indent="0" lvl="0" marL="0" rtl="0" algn="l">
              <a:spcBef>
                <a:spcPts val="1600"/>
              </a:spcBef>
              <a:spcAft>
                <a:spcPts val="0"/>
              </a:spcAft>
              <a:buNone/>
            </a:pPr>
            <a:r>
              <a:t/>
            </a:r>
            <a:endParaRPr b="1" sz="2500">
              <a:solidFill>
                <a:srgbClr val="595959"/>
              </a:solidFill>
              <a:latin typeface="Times New Roman"/>
              <a:ea typeface="Times New Roman"/>
              <a:cs typeface="Times New Roman"/>
              <a:sym typeface="Times New Roman"/>
            </a:endParaRPr>
          </a:p>
        </p:txBody>
      </p:sp>
      <p:sp>
        <p:nvSpPr>
          <p:cNvPr id="168" name="Google Shape;168;g821b6a0978_0_7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69" name="Google Shape;169;g821b6a0978_0_7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170" name="Google Shape;170;g821b6a0978_0_71"/>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821b6a0978_0_79"/>
          <p:cNvSpPr txBox="1"/>
          <p:nvPr>
            <p:ph type="title"/>
          </p:nvPr>
        </p:nvSpPr>
        <p:spPr>
          <a:xfrm>
            <a:off x="7584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GB" sz="4500">
                <a:solidFill>
                  <a:srgbClr val="000000"/>
                </a:solidFill>
                <a:latin typeface="Times New Roman"/>
                <a:ea typeface="Times New Roman"/>
                <a:cs typeface="Times New Roman"/>
                <a:sym typeface="Times New Roman"/>
              </a:rPr>
              <a:t>Robust</a:t>
            </a:r>
            <a:endParaRPr b="1" sz="4500">
              <a:solidFill>
                <a:srgbClr val="000000"/>
              </a:solidFill>
              <a:latin typeface="Times New Roman"/>
              <a:ea typeface="Times New Roman"/>
              <a:cs typeface="Times New Roman"/>
              <a:sym typeface="Times New Roman"/>
            </a:endParaRPr>
          </a:p>
        </p:txBody>
      </p:sp>
      <p:sp>
        <p:nvSpPr>
          <p:cNvPr id="176" name="Google Shape;176;g821b6a0978_0_79"/>
          <p:cNvSpPr txBox="1"/>
          <p:nvPr>
            <p:ph idx="1" type="body"/>
          </p:nvPr>
        </p:nvSpPr>
        <p:spPr>
          <a:xfrm>
            <a:off x="457200" y="1524000"/>
            <a:ext cx="8229600" cy="4832400"/>
          </a:xfrm>
          <a:prstGeom prst="rect">
            <a:avLst/>
          </a:prstGeom>
          <a:noFill/>
          <a:ln>
            <a:noFill/>
          </a:ln>
        </p:spPr>
        <p:txBody>
          <a:bodyPr anchorCtr="0" anchor="t" bIns="45700" lIns="91425" spcFirstLastPara="1" rIns="91425" wrap="square" tIns="45700">
            <a:noAutofit/>
          </a:bodyPr>
          <a:lstStyle/>
          <a:p>
            <a:pPr indent="-374650" lvl="0" marL="457200" rtl="0" algn="l">
              <a:lnSpc>
                <a:spcPct val="115000"/>
              </a:lnSpc>
              <a:spcBef>
                <a:spcPts val="0"/>
              </a:spcBef>
              <a:spcAft>
                <a:spcPts val="0"/>
              </a:spcAft>
              <a:buClr>
                <a:srgbClr val="595959"/>
              </a:buClr>
              <a:buSzPts val="2300"/>
              <a:buFont typeface="Times New Roman"/>
              <a:buChar char="●"/>
            </a:pPr>
            <a:r>
              <a:rPr b="1" lang="en-GB" sz="2300">
                <a:solidFill>
                  <a:srgbClr val="595959"/>
                </a:solidFill>
                <a:latin typeface="Times New Roman"/>
                <a:ea typeface="Times New Roman"/>
                <a:cs typeface="Times New Roman"/>
                <a:sym typeface="Times New Roman"/>
              </a:rPr>
              <a:t>Java is strongly typed language. Compiler will check each and every declaration and assignments at  compile time only for type compatibility. If any problem with respect to the types, then at compile time only we can identify the problem.</a:t>
            </a:r>
            <a:endParaRPr b="1" sz="2300">
              <a:solidFill>
                <a:srgbClr val="595959"/>
              </a:solidFill>
              <a:latin typeface="Times New Roman"/>
              <a:ea typeface="Times New Roman"/>
              <a:cs typeface="Times New Roman"/>
              <a:sym typeface="Times New Roman"/>
            </a:endParaRPr>
          </a:p>
          <a:p>
            <a:pPr indent="-374650" lvl="0" marL="457200" rtl="0" algn="l">
              <a:lnSpc>
                <a:spcPct val="115000"/>
              </a:lnSpc>
              <a:spcBef>
                <a:spcPts val="0"/>
              </a:spcBef>
              <a:spcAft>
                <a:spcPts val="0"/>
              </a:spcAft>
              <a:buClr>
                <a:srgbClr val="595959"/>
              </a:buClr>
              <a:buSzPts val="2300"/>
              <a:buFont typeface="Times New Roman"/>
              <a:buChar char="●"/>
            </a:pPr>
            <a:r>
              <a:rPr b="1" lang="en-GB" sz="2300">
                <a:solidFill>
                  <a:srgbClr val="595959"/>
                </a:solidFill>
                <a:latin typeface="Times New Roman"/>
                <a:ea typeface="Times New Roman"/>
                <a:cs typeface="Times New Roman"/>
                <a:sym typeface="Times New Roman"/>
              </a:rPr>
              <a:t>Java provides garbage collector for automatic memory management hence there is no chance of memory related problems.</a:t>
            </a:r>
            <a:endParaRPr b="1" sz="2300">
              <a:solidFill>
                <a:srgbClr val="595959"/>
              </a:solidFill>
              <a:latin typeface="Times New Roman"/>
              <a:ea typeface="Times New Roman"/>
              <a:cs typeface="Times New Roman"/>
              <a:sym typeface="Times New Roman"/>
            </a:endParaRPr>
          </a:p>
          <a:p>
            <a:pPr indent="-374650" lvl="0" marL="457200" rtl="0" algn="l">
              <a:lnSpc>
                <a:spcPct val="115000"/>
              </a:lnSpc>
              <a:spcBef>
                <a:spcPts val="0"/>
              </a:spcBef>
              <a:spcAft>
                <a:spcPts val="0"/>
              </a:spcAft>
              <a:buClr>
                <a:srgbClr val="595959"/>
              </a:buClr>
              <a:buSzPts val="2300"/>
              <a:buFont typeface="Times New Roman"/>
              <a:buChar char="●"/>
            </a:pPr>
            <a:r>
              <a:rPr b="1" lang="en-GB" sz="2300">
                <a:solidFill>
                  <a:srgbClr val="595959"/>
                </a:solidFill>
                <a:latin typeface="Times New Roman"/>
                <a:ea typeface="Times New Roman"/>
                <a:cs typeface="Times New Roman"/>
                <a:sym typeface="Times New Roman"/>
              </a:rPr>
              <a:t>Java provides inbuilt Exception handling, which prevents abnormal termination of the program at runtime.</a:t>
            </a:r>
            <a:endParaRPr b="1" sz="2300">
              <a:solidFill>
                <a:srgbClr val="595959"/>
              </a:solidFill>
              <a:latin typeface="Times New Roman"/>
              <a:ea typeface="Times New Roman"/>
              <a:cs typeface="Times New Roman"/>
              <a:sym typeface="Times New Roman"/>
            </a:endParaRPr>
          </a:p>
          <a:p>
            <a:pPr indent="-374650" lvl="0" marL="457200" rtl="0" algn="l">
              <a:lnSpc>
                <a:spcPct val="115000"/>
              </a:lnSpc>
              <a:spcBef>
                <a:spcPts val="0"/>
              </a:spcBef>
              <a:spcAft>
                <a:spcPts val="0"/>
              </a:spcAft>
              <a:buClr>
                <a:srgbClr val="595959"/>
              </a:buClr>
              <a:buSzPts val="2300"/>
              <a:buFont typeface="Times New Roman"/>
              <a:buChar char="●"/>
            </a:pPr>
            <a:r>
              <a:rPr b="1" lang="en-GB" sz="2300">
                <a:solidFill>
                  <a:srgbClr val="595959"/>
                </a:solidFill>
                <a:latin typeface="Times New Roman"/>
                <a:ea typeface="Times New Roman"/>
                <a:cs typeface="Times New Roman"/>
                <a:sym typeface="Times New Roman"/>
              </a:rPr>
              <a:t>Java is platform independent and it can run on any platform.</a:t>
            </a:r>
            <a:endParaRPr b="1" sz="2300">
              <a:solidFill>
                <a:srgbClr val="595959"/>
              </a:solidFill>
              <a:latin typeface="Times New Roman"/>
              <a:ea typeface="Times New Roman"/>
              <a:cs typeface="Times New Roman"/>
              <a:sym typeface="Times New Roman"/>
            </a:endParaRPr>
          </a:p>
          <a:p>
            <a:pPr indent="0" lvl="0" marL="457200" rtl="0" algn="l">
              <a:lnSpc>
                <a:spcPct val="115000"/>
              </a:lnSpc>
              <a:spcBef>
                <a:spcPts val="1600"/>
              </a:spcBef>
              <a:spcAft>
                <a:spcPts val="0"/>
              </a:spcAft>
              <a:buNone/>
            </a:pPr>
            <a:r>
              <a:t/>
            </a:r>
            <a:endParaRPr b="1" sz="2300">
              <a:solidFill>
                <a:srgbClr val="595959"/>
              </a:solidFill>
              <a:latin typeface="Times New Roman"/>
              <a:ea typeface="Times New Roman"/>
              <a:cs typeface="Times New Roman"/>
              <a:sym typeface="Times New Roman"/>
            </a:endParaRPr>
          </a:p>
          <a:p>
            <a:pPr indent="0" lvl="0" marL="0" rtl="0" algn="l">
              <a:spcBef>
                <a:spcPts val="1600"/>
              </a:spcBef>
              <a:spcAft>
                <a:spcPts val="0"/>
              </a:spcAft>
              <a:buNone/>
            </a:pPr>
            <a:r>
              <a:t/>
            </a:r>
            <a:endParaRPr b="1" sz="2300">
              <a:solidFill>
                <a:srgbClr val="595959"/>
              </a:solidFill>
              <a:latin typeface="Times New Roman"/>
              <a:ea typeface="Times New Roman"/>
              <a:cs typeface="Times New Roman"/>
              <a:sym typeface="Times New Roman"/>
            </a:endParaRPr>
          </a:p>
        </p:txBody>
      </p:sp>
      <p:sp>
        <p:nvSpPr>
          <p:cNvPr id="177" name="Google Shape;177;g821b6a0978_0_7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78" name="Google Shape;178;g821b6a0978_0_7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179" name="Google Shape;179;g821b6a0978_0_79"/>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821b6a0978_0_87"/>
          <p:cNvSpPr txBox="1"/>
          <p:nvPr>
            <p:ph type="title"/>
          </p:nvPr>
        </p:nvSpPr>
        <p:spPr>
          <a:xfrm>
            <a:off x="7584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GB" sz="4500">
                <a:solidFill>
                  <a:srgbClr val="000000"/>
                </a:solidFill>
                <a:latin typeface="Times New Roman"/>
                <a:ea typeface="Times New Roman"/>
                <a:cs typeface="Times New Roman"/>
                <a:sym typeface="Times New Roman"/>
              </a:rPr>
              <a:t>Distributed</a:t>
            </a:r>
            <a:endParaRPr b="1" sz="4500">
              <a:solidFill>
                <a:srgbClr val="000000"/>
              </a:solidFill>
              <a:latin typeface="Times New Roman"/>
              <a:ea typeface="Times New Roman"/>
              <a:cs typeface="Times New Roman"/>
              <a:sym typeface="Times New Roman"/>
            </a:endParaRPr>
          </a:p>
        </p:txBody>
      </p:sp>
      <p:sp>
        <p:nvSpPr>
          <p:cNvPr id="185" name="Google Shape;185;g821b6a0978_0_87"/>
          <p:cNvSpPr txBox="1"/>
          <p:nvPr>
            <p:ph idx="1" type="body"/>
          </p:nvPr>
        </p:nvSpPr>
        <p:spPr>
          <a:xfrm>
            <a:off x="457200" y="1524000"/>
            <a:ext cx="8229600" cy="4832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GB" sz="2500">
                <a:solidFill>
                  <a:srgbClr val="595959"/>
                </a:solidFill>
                <a:latin typeface="Times New Roman"/>
                <a:ea typeface="Times New Roman"/>
                <a:cs typeface="Times New Roman"/>
                <a:sym typeface="Times New Roman"/>
              </a:rPr>
              <a:t>If the application is distributed across multiple machines (JVMs), such type of application is called Distributed Application. </a:t>
            </a:r>
            <a:endParaRPr b="1" sz="25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0"/>
              </a:spcAft>
              <a:buNone/>
            </a:pPr>
            <a:r>
              <a:rPr b="1" lang="en-GB" sz="2500">
                <a:solidFill>
                  <a:srgbClr val="595959"/>
                </a:solidFill>
                <a:latin typeface="Times New Roman"/>
                <a:ea typeface="Times New Roman"/>
                <a:cs typeface="Times New Roman"/>
                <a:sym typeface="Times New Roman"/>
              </a:rPr>
              <a:t>Java provides inbuilt support for Distributed programming with RMI, EJB etc.</a:t>
            </a:r>
            <a:endParaRPr b="1" sz="2500">
              <a:solidFill>
                <a:srgbClr val="595959"/>
              </a:solidFill>
              <a:latin typeface="Times New Roman"/>
              <a:ea typeface="Times New Roman"/>
              <a:cs typeface="Times New Roman"/>
              <a:sym typeface="Times New Roman"/>
            </a:endParaRPr>
          </a:p>
          <a:p>
            <a:pPr indent="0" lvl="0" marL="0" rtl="0" algn="l">
              <a:spcBef>
                <a:spcPts val="1600"/>
              </a:spcBef>
              <a:spcAft>
                <a:spcPts val="0"/>
              </a:spcAft>
              <a:buNone/>
            </a:pPr>
            <a:r>
              <a:t/>
            </a:r>
            <a:endParaRPr b="1" sz="2500">
              <a:solidFill>
                <a:srgbClr val="595959"/>
              </a:solidFill>
              <a:latin typeface="Times New Roman"/>
              <a:ea typeface="Times New Roman"/>
              <a:cs typeface="Times New Roman"/>
              <a:sym typeface="Times New Roman"/>
            </a:endParaRPr>
          </a:p>
        </p:txBody>
      </p:sp>
      <p:sp>
        <p:nvSpPr>
          <p:cNvPr id="186" name="Google Shape;186;g821b6a0978_0_8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87" name="Google Shape;187;g821b6a0978_0_8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188" name="Google Shape;188;g821b6a0978_0_87"/>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821b6a0978_0_95"/>
          <p:cNvSpPr txBox="1"/>
          <p:nvPr>
            <p:ph type="title"/>
          </p:nvPr>
        </p:nvSpPr>
        <p:spPr>
          <a:xfrm>
            <a:off x="7584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GB" sz="4000">
                <a:solidFill>
                  <a:srgbClr val="000000"/>
                </a:solidFill>
                <a:latin typeface="Times New Roman"/>
                <a:ea typeface="Times New Roman"/>
                <a:cs typeface="Times New Roman"/>
                <a:sym typeface="Times New Roman"/>
              </a:rPr>
              <a:t>Compiled and Interpreted</a:t>
            </a:r>
            <a:endParaRPr b="1" sz="4000">
              <a:solidFill>
                <a:srgbClr val="000000"/>
              </a:solidFill>
              <a:latin typeface="Times New Roman"/>
              <a:ea typeface="Times New Roman"/>
              <a:cs typeface="Times New Roman"/>
              <a:sym typeface="Times New Roman"/>
            </a:endParaRPr>
          </a:p>
        </p:txBody>
      </p:sp>
      <p:sp>
        <p:nvSpPr>
          <p:cNvPr id="194" name="Google Shape;194;g821b6a0978_0_95"/>
          <p:cNvSpPr txBox="1"/>
          <p:nvPr>
            <p:ph idx="1" type="body"/>
          </p:nvPr>
        </p:nvSpPr>
        <p:spPr>
          <a:xfrm>
            <a:off x="457200" y="1524000"/>
            <a:ext cx="8229600" cy="4832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GB" sz="2500">
                <a:solidFill>
                  <a:srgbClr val="595959"/>
                </a:solidFill>
                <a:latin typeface="Times New Roman"/>
                <a:ea typeface="Times New Roman"/>
                <a:cs typeface="Times New Roman"/>
                <a:sym typeface="Times New Roman"/>
              </a:rPr>
              <a:t>Java is both Compiled and Interpreted Programming language. First java compiler compiles java code and generates machine independent Byte Code</a:t>
            </a:r>
            <a:endParaRPr b="1" sz="25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0"/>
              </a:spcAft>
              <a:buClr>
                <a:schemeClr val="dk1"/>
              </a:buClr>
              <a:buSzPts val="1100"/>
              <a:buFont typeface="Arial"/>
              <a:buNone/>
            </a:pPr>
            <a:r>
              <a:rPr b="1" lang="en-GB" sz="2500">
                <a:solidFill>
                  <a:srgbClr val="595959"/>
                </a:solidFill>
                <a:latin typeface="Times New Roman"/>
                <a:ea typeface="Times New Roman"/>
                <a:cs typeface="Times New Roman"/>
                <a:sym typeface="Times New Roman"/>
              </a:rPr>
              <a:t>Runtime JVM interprets this byte code into machine code and executes that machine code.</a:t>
            </a:r>
            <a:endParaRPr b="1" sz="2500">
              <a:solidFill>
                <a:srgbClr val="595959"/>
              </a:solidFill>
              <a:latin typeface="Times New Roman"/>
              <a:ea typeface="Times New Roman"/>
              <a:cs typeface="Times New Roman"/>
              <a:sym typeface="Times New Roman"/>
            </a:endParaRPr>
          </a:p>
          <a:p>
            <a:pPr indent="0" lvl="0" marL="0" rtl="0" algn="l">
              <a:spcBef>
                <a:spcPts val="1600"/>
              </a:spcBef>
              <a:spcAft>
                <a:spcPts val="0"/>
              </a:spcAft>
              <a:buNone/>
            </a:pPr>
            <a:r>
              <a:t/>
            </a:r>
            <a:endParaRPr b="1" sz="2500">
              <a:solidFill>
                <a:srgbClr val="595959"/>
              </a:solidFill>
              <a:latin typeface="Times New Roman"/>
              <a:ea typeface="Times New Roman"/>
              <a:cs typeface="Times New Roman"/>
              <a:sym typeface="Times New Roman"/>
            </a:endParaRPr>
          </a:p>
        </p:txBody>
      </p:sp>
      <p:sp>
        <p:nvSpPr>
          <p:cNvPr id="195" name="Google Shape;195;g821b6a0978_0_9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96" name="Google Shape;196;g821b6a0978_0_9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197" name="Google Shape;197;g821b6a0978_0_95"/>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821b6a0978_0_110"/>
          <p:cNvSpPr txBox="1"/>
          <p:nvPr>
            <p:ph type="title"/>
          </p:nvPr>
        </p:nvSpPr>
        <p:spPr>
          <a:xfrm>
            <a:off x="7584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GB" sz="4000">
                <a:solidFill>
                  <a:srgbClr val="000000"/>
                </a:solidFill>
                <a:latin typeface="Times New Roman"/>
                <a:ea typeface="Times New Roman"/>
                <a:cs typeface="Times New Roman"/>
                <a:sym typeface="Times New Roman"/>
              </a:rPr>
              <a:t>High </a:t>
            </a:r>
            <a:r>
              <a:rPr b="1" lang="en-GB" sz="4000">
                <a:solidFill>
                  <a:srgbClr val="000000"/>
                </a:solidFill>
                <a:latin typeface="Times New Roman"/>
                <a:ea typeface="Times New Roman"/>
                <a:cs typeface="Times New Roman"/>
                <a:sym typeface="Times New Roman"/>
              </a:rPr>
              <a:t>Performance</a:t>
            </a:r>
            <a:endParaRPr b="1" sz="4000">
              <a:solidFill>
                <a:srgbClr val="000000"/>
              </a:solidFill>
              <a:latin typeface="Times New Roman"/>
              <a:ea typeface="Times New Roman"/>
              <a:cs typeface="Times New Roman"/>
              <a:sym typeface="Times New Roman"/>
            </a:endParaRPr>
          </a:p>
        </p:txBody>
      </p:sp>
      <p:sp>
        <p:nvSpPr>
          <p:cNvPr id="203" name="Google Shape;203;g821b6a0978_0_110"/>
          <p:cNvSpPr txBox="1"/>
          <p:nvPr>
            <p:ph idx="1" type="body"/>
          </p:nvPr>
        </p:nvSpPr>
        <p:spPr>
          <a:xfrm>
            <a:off x="457200" y="1524000"/>
            <a:ext cx="8229600" cy="4832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1600"/>
              </a:spcAft>
              <a:buClr>
                <a:schemeClr val="dk1"/>
              </a:buClr>
              <a:buSzPts val="1100"/>
              <a:buFont typeface="Arial"/>
              <a:buNone/>
            </a:pPr>
            <a:r>
              <a:rPr b="1" lang="en-GB" sz="2500">
                <a:solidFill>
                  <a:srgbClr val="595959"/>
                </a:solidFill>
                <a:latin typeface="Times New Roman"/>
                <a:ea typeface="Times New Roman"/>
                <a:cs typeface="Times New Roman"/>
                <a:sym typeface="Times New Roman"/>
              </a:rPr>
              <a:t>Java is relatively faster than traditional interpreted languages, since byte code is “close” to native code. But java is still somewhat slower than C or C++.</a:t>
            </a:r>
            <a:endParaRPr b="1" sz="2500">
              <a:solidFill>
                <a:srgbClr val="595959"/>
              </a:solidFill>
              <a:latin typeface="Times New Roman"/>
              <a:ea typeface="Times New Roman"/>
              <a:cs typeface="Times New Roman"/>
              <a:sym typeface="Times New Roman"/>
            </a:endParaRPr>
          </a:p>
        </p:txBody>
      </p:sp>
      <p:sp>
        <p:nvSpPr>
          <p:cNvPr id="204" name="Google Shape;204;g821b6a0978_0_11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05" name="Google Shape;205;g821b6a0978_0_11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206" name="Google Shape;206;g821b6a0978_0_110"/>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821b6a0978_0_125"/>
          <p:cNvSpPr txBox="1"/>
          <p:nvPr>
            <p:ph type="title"/>
          </p:nvPr>
        </p:nvSpPr>
        <p:spPr>
          <a:xfrm>
            <a:off x="7584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GB" sz="4000">
                <a:solidFill>
                  <a:srgbClr val="000000"/>
                </a:solidFill>
                <a:latin typeface="Times New Roman"/>
                <a:ea typeface="Times New Roman"/>
                <a:cs typeface="Times New Roman"/>
                <a:sym typeface="Times New Roman"/>
              </a:rPr>
              <a:t>Dynamic</a:t>
            </a:r>
            <a:endParaRPr b="1" sz="4000">
              <a:solidFill>
                <a:srgbClr val="000000"/>
              </a:solidFill>
              <a:latin typeface="Times New Roman"/>
              <a:ea typeface="Times New Roman"/>
              <a:cs typeface="Times New Roman"/>
              <a:sym typeface="Times New Roman"/>
            </a:endParaRPr>
          </a:p>
        </p:txBody>
      </p:sp>
      <p:sp>
        <p:nvSpPr>
          <p:cNvPr id="212" name="Google Shape;212;g821b6a0978_0_125"/>
          <p:cNvSpPr txBox="1"/>
          <p:nvPr>
            <p:ph idx="1" type="body"/>
          </p:nvPr>
        </p:nvSpPr>
        <p:spPr>
          <a:xfrm>
            <a:off x="457200" y="1524000"/>
            <a:ext cx="8229600" cy="4832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GB" sz="2500">
                <a:solidFill>
                  <a:srgbClr val="595959"/>
                </a:solidFill>
                <a:latin typeface="Times New Roman"/>
                <a:ea typeface="Times New Roman"/>
                <a:cs typeface="Times New Roman"/>
                <a:sym typeface="Times New Roman"/>
              </a:rPr>
              <a:t>In the case of java programs, all .class files won’t be loaded at the beginning. </a:t>
            </a:r>
            <a:endParaRPr b="1" sz="25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0"/>
              </a:spcAft>
              <a:buNone/>
            </a:pPr>
            <a:r>
              <a:rPr b="1" lang="en-GB" sz="2500">
                <a:solidFill>
                  <a:srgbClr val="595959"/>
                </a:solidFill>
                <a:latin typeface="Times New Roman"/>
                <a:ea typeface="Times New Roman"/>
                <a:cs typeface="Times New Roman"/>
                <a:sym typeface="Times New Roman"/>
              </a:rPr>
              <a:t>At runtime if JVM required any class then only the corresponding .class file will be loaded ( Dynamic Loading).</a:t>
            </a:r>
            <a:endParaRPr b="1" sz="25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b="1" sz="2500">
              <a:solidFill>
                <a:srgbClr val="595959"/>
              </a:solidFill>
              <a:latin typeface="Times New Roman"/>
              <a:ea typeface="Times New Roman"/>
              <a:cs typeface="Times New Roman"/>
              <a:sym typeface="Times New Roman"/>
            </a:endParaRPr>
          </a:p>
        </p:txBody>
      </p:sp>
      <p:sp>
        <p:nvSpPr>
          <p:cNvPr id="213" name="Google Shape;213;g821b6a0978_0_12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14" name="Google Shape;214;g821b6a0978_0_12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215" name="Google Shape;215;g821b6a0978_0_125"/>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821b6a0978_0_133"/>
          <p:cNvSpPr txBox="1"/>
          <p:nvPr>
            <p:ph type="title"/>
          </p:nvPr>
        </p:nvSpPr>
        <p:spPr>
          <a:xfrm>
            <a:off x="377400" y="2560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GB" sz="4000">
                <a:solidFill>
                  <a:srgbClr val="000000"/>
                </a:solidFill>
                <a:latin typeface="Times New Roman"/>
                <a:ea typeface="Times New Roman"/>
                <a:cs typeface="Times New Roman"/>
                <a:sym typeface="Times New Roman"/>
              </a:rPr>
              <a:t>Quiz</a:t>
            </a:r>
            <a:endParaRPr b="1" sz="4000">
              <a:solidFill>
                <a:srgbClr val="000000"/>
              </a:solidFill>
              <a:latin typeface="Times New Roman"/>
              <a:ea typeface="Times New Roman"/>
              <a:cs typeface="Times New Roman"/>
              <a:sym typeface="Times New Roman"/>
            </a:endParaRPr>
          </a:p>
        </p:txBody>
      </p:sp>
      <p:sp>
        <p:nvSpPr>
          <p:cNvPr id="221" name="Google Shape;221;g821b6a0978_0_13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22" name="Google Shape;222;g821b6a0978_0_13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223" name="Google Shape;223;g821b6a0978_0_133"/>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821b6a0978_0_148"/>
          <p:cNvSpPr txBox="1"/>
          <p:nvPr>
            <p:ph type="title"/>
          </p:nvPr>
        </p:nvSpPr>
        <p:spPr>
          <a:xfrm>
            <a:off x="453600" y="1036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GB" sz="3100">
                <a:latin typeface="Times New Roman"/>
                <a:ea typeface="Times New Roman"/>
                <a:cs typeface="Times New Roman"/>
                <a:sym typeface="Times New Roman"/>
              </a:rPr>
              <a:t>Q. Which of the following is TRUE?</a:t>
            </a:r>
            <a:endParaRPr b="1" sz="3100">
              <a:solidFill>
                <a:srgbClr val="000000"/>
              </a:solidFill>
              <a:latin typeface="Times New Roman"/>
              <a:ea typeface="Times New Roman"/>
              <a:cs typeface="Times New Roman"/>
              <a:sym typeface="Times New Roman"/>
            </a:endParaRPr>
          </a:p>
        </p:txBody>
      </p:sp>
      <p:sp>
        <p:nvSpPr>
          <p:cNvPr id="229" name="Google Shape;229;g821b6a0978_0_148"/>
          <p:cNvSpPr txBox="1"/>
          <p:nvPr>
            <p:ph idx="1" type="body"/>
          </p:nvPr>
        </p:nvSpPr>
        <p:spPr>
          <a:xfrm>
            <a:off x="457200" y="2133600"/>
            <a:ext cx="8229600" cy="4832400"/>
          </a:xfrm>
          <a:prstGeom prst="rect">
            <a:avLst/>
          </a:prstGeom>
          <a:noFill/>
          <a:ln>
            <a:noFill/>
          </a:ln>
        </p:spPr>
        <p:txBody>
          <a:bodyPr anchorCtr="0" anchor="t" bIns="45700" lIns="91425" spcFirstLastPara="1" rIns="91425" wrap="square" tIns="45700">
            <a:noAutofit/>
          </a:bodyPr>
          <a:lstStyle/>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Java is Platform Independent, Portable, Object-Oriented, Multithreaded and Distributed Programming Language.</a:t>
            </a:r>
            <a:endParaRPr b="1" sz="2100">
              <a:solidFill>
                <a:srgbClr val="595959"/>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Java is Platform Dependent, Portable, Object-Oriented, Multithreaded and Distributed Programming Language</a:t>
            </a:r>
            <a:endParaRPr b="1" sz="2100">
              <a:solidFill>
                <a:srgbClr val="595959"/>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Java is Platform Independent, Portable, Procedure-Oriented, Multithreaded and Distributed Programming Language.</a:t>
            </a:r>
            <a:endParaRPr b="1" sz="2100">
              <a:solidFill>
                <a:srgbClr val="595959"/>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Java is Platform independent, Portable, Object Oriented, Multithreaded and Centralized programming language</a:t>
            </a:r>
            <a:endParaRPr b="1" sz="21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b="1" sz="2100">
              <a:solidFill>
                <a:srgbClr val="595959"/>
              </a:solidFill>
              <a:latin typeface="Times New Roman"/>
              <a:ea typeface="Times New Roman"/>
              <a:cs typeface="Times New Roman"/>
              <a:sym typeface="Times New Roman"/>
            </a:endParaRPr>
          </a:p>
        </p:txBody>
      </p:sp>
      <p:sp>
        <p:nvSpPr>
          <p:cNvPr id="230" name="Google Shape;230;g821b6a0978_0_14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31" name="Google Shape;231;g821b6a0978_0_14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232" name="Google Shape;232;g821b6a0978_0_148"/>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821b6a0978_0_156"/>
          <p:cNvSpPr txBox="1"/>
          <p:nvPr>
            <p:ph type="title"/>
          </p:nvPr>
        </p:nvSpPr>
        <p:spPr>
          <a:xfrm>
            <a:off x="453600" y="1036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GB" sz="3100">
                <a:latin typeface="Times New Roman"/>
                <a:ea typeface="Times New Roman"/>
                <a:cs typeface="Times New Roman"/>
                <a:sym typeface="Times New Roman"/>
              </a:rPr>
              <a:t>Q. </a:t>
            </a:r>
            <a:r>
              <a:rPr b="1" lang="en-GB" sz="3100">
                <a:latin typeface="Times New Roman"/>
                <a:ea typeface="Times New Roman"/>
                <a:cs typeface="Times New Roman"/>
                <a:sym typeface="Times New Roman"/>
              </a:rPr>
              <a:t>Which of the following are features of java?</a:t>
            </a:r>
            <a:endParaRPr b="1" sz="3100">
              <a:solidFill>
                <a:srgbClr val="000000"/>
              </a:solidFill>
              <a:latin typeface="Times New Roman"/>
              <a:ea typeface="Times New Roman"/>
              <a:cs typeface="Times New Roman"/>
              <a:sym typeface="Times New Roman"/>
            </a:endParaRPr>
          </a:p>
        </p:txBody>
      </p:sp>
      <p:sp>
        <p:nvSpPr>
          <p:cNvPr id="238" name="Google Shape;238;g821b6a0978_0_156"/>
          <p:cNvSpPr txBox="1"/>
          <p:nvPr>
            <p:ph idx="1" type="body"/>
          </p:nvPr>
        </p:nvSpPr>
        <p:spPr>
          <a:xfrm>
            <a:off x="457200" y="2133600"/>
            <a:ext cx="8229600" cy="4832400"/>
          </a:xfrm>
          <a:prstGeom prst="rect">
            <a:avLst/>
          </a:prstGeom>
          <a:noFill/>
          <a:ln>
            <a:noFill/>
          </a:ln>
        </p:spPr>
        <p:txBody>
          <a:bodyPr anchorCtr="0" anchor="t" bIns="45700" lIns="91425" spcFirstLastPara="1" rIns="91425" wrap="square" tIns="45700">
            <a:noAutofit/>
          </a:bodyPr>
          <a:lstStyle/>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Object- Oriented</a:t>
            </a:r>
            <a:endParaRPr b="1" sz="2100">
              <a:solidFill>
                <a:srgbClr val="595959"/>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Multithreaded</a:t>
            </a:r>
            <a:endParaRPr b="1" sz="2100">
              <a:solidFill>
                <a:srgbClr val="595959"/>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Portable</a:t>
            </a:r>
            <a:endParaRPr b="1" sz="2100">
              <a:solidFill>
                <a:srgbClr val="595959"/>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Distributed</a:t>
            </a:r>
            <a:endParaRPr b="1" sz="2100">
              <a:solidFill>
                <a:srgbClr val="595959"/>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Platform Dependent</a:t>
            </a:r>
            <a:endParaRPr b="1" sz="2100">
              <a:solidFill>
                <a:srgbClr val="595959"/>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Procedural and function Oriented</a:t>
            </a:r>
            <a:endParaRPr b="1" sz="2100">
              <a:solidFill>
                <a:srgbClr val="595959"/>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Compiled into Machine Executable Code.</a:t>
            </a:r>
            <a:endParaRPr b="1" sz="21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b="1" sz="2100">
              <a:solidFill>
                <a:srgbClr val="595959"/>
              </a:solidFill>
              <a:latin typeface="Times New Roman"/>
              <a:ea typeface="Times New Roman"/>
              <a:cs typeface="Times New Roman"/>
              <a:sym typeface="Times New Roman"/>
            </a:endParaRPr>
          </a:p>
        </p:txBody>
      </p:sp>
      <p:sp>
        <p:nvSpPr>
          <p:cNvPr id="239" name="Google Shape;239;g821b6a0978_0_15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40" name="Google Shape;240;g821b6a0978_0_15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241" name="Google Shape;241;g821b6a0978_0_156"/>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821b6a0978_0_164"/>
          <p:cNvSpPr txBox="1"/>
          <p:nvPr>
            <p:ph type="title"/>
          </p:nvPr>
        </p:nvSpPr>
        <p:spPr>
          <a:xfrm>
            <a:off x="453600" y="1036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GB" sz="3100">
                <a:latin typeface="Times New Roman"/>
                <a:ea typeface="Times New Roman"/>
                <a:cs typeface="Times New Roman"/>
                <a:sym typeface="Times New Roman"/>
              </a:rPr>
              <a:t>Q. </a:t>
            </a:r>
            <a:r>
              <a:rPr b="1" lang="en-GB" sz="3100">
                <a:latin typeface="Times New Roman"/>
                <a:ea typeface="Times New Roman"/>
                <a:cs typeface="Times New Roman"/>
                <a:sym typeface="Times New Roman"/>
              </a:rPr>
              <a:t>Consider the following Lines:</a:t>
            </a:r>
            <a:endParaRPr b="1" sz="3100">
              <a:latin typeface="Times New Roman"/>
              <a:ea typeface="Times New Roman"/>
              <a:cs typeface="Times New Roman"/>
              <a:sym typeface="Times New Roman"/>
            </a:endParaRPr>
          </a:p>
        </p:txBody>
      </p:sp>
      <p:sp>
        <p:nvSpPr>
          <p:cNvPr id="247" name="Google Shape;247;g821b6a0978_0_164"/>
          <p:cNvSpPr txBox="1"/>
          <p:nvPr>
            <p:ph idx="1" type="body"/>
          </p:nvPr>
        </p:nvSpPr>
        <p:spPr>
          <a:xfrm>
            <a:off x="457200" y="2133600"/>
            <a:ext cx="8229600" cy="4832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GB" sz="2100">
                <a:solidFill>
                  <a:srgbClr val="595959"/>
                </a:solidFill>
                <a:latin typeface="Times New Roman"/>
                <a:ea typeface="Times New Roman"/>
                <a:cs typeface="Times New Roman"/>
                <a:sym typeface="Times New Roman"/>
              </a:rPr>
              <a:t>L1:  Java is Dynamic because the classes will be loaded on demand whenever required.</a:t>
            </a:r>
            <a:endParaRPr b="1" sz="21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0"/>
              </a:spcAft>
              <a:buNone/>
            </a:pPr>
            <a:r>
              <a:rPr b="1" lang="en-GB" sz="2100">
                <a:solidFill>
                  <a:srgbClr val="595959"/>
                </a:solidFill>
                <a:latin typeface="Times New Roman"/>
                <a:ea typeface="Times New Roman"/>
                <a:cs typeface="Times New Roman"/>
                <a:sym typeface="Times New Roman"/>
              </a:rPr>
              <a:t>L2: Java is Static  because all required classes will be loaded at the beginning and then execution will be started.</a:t>
            </a:r>
            <a:endParaRPr b="1" sz="21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0"/>
              </a:spcAft>
              <a:buNone/>
            </a:pPr>
            <a:r>
              <a:rPr b="1" lang="en-GB" sz="2100">
                <a:solidFill>
                  <a:srgbClr val="595959"/>
                </a:solidFill>
                <a:latin typeface="Times New Roman"/>
                <a:ea typeface="Times New Roman"/>
                <a:cs typeface="Times New Roman"/>
                <a:sym typeface="Times New Roman"/>
              </a:rPr>
              <a:t>Which of the above lines are TRUE?</a:t>
            </a:r>
            <a:endParaRPr b="1" sz="2100">
              <a:solidFill>
                <a:srgbClr val="595959"/>
              </a:solidFill>
              <a:latin typeface="Times New Roman"/>
              <a:ea typeface="Times New Roman"/>
              <a:cs typeface="Times New Roman"/>
              <a:sym typeface="Times New Roman"/>
            </a:endParaRPr>
          </a:p>
          <a:p>
            <a:pPr indent="-361950" lvl="0" marL="457200" rtl="0" algn="l">
              <a:lnSpc>
                <a:spcPct val="115000"/>
              </a:lnSpc>
              <a:spcBef>
                <a:spcPts val="160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Only L1</a:t>
            </a:r>
            <a:endParaRPr b="1" sz="2100">
              <a:solidFill>
                <a:srgbClr val="595959"/>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Only L2</a:t>
            </a:r>
            <a:endParaRPr b="1" sz="2100">
              <a:solidFill>
                <a:srgbClr val="595959"/>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None of L1 and L2</a:t>
            </a:r>
            <a:endParaRPr b="1" sz="2100">
              <a:solidFill>
                <a:srgbClr val="595959"/>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595959"/>
              </a:buClr>
              <a:buSzPts val="2100"/>
              <a:buFont typeface="Times New Roman"/>
              <a:buAutoNum type="alphaUcParenR"/>
            </a:pPr>
            <a:r>
              <a:rPr b="1" lang="en-GB" sz="2100">
                <a:solidFill>
                  <a:srgbClr val="595959"/>
                </a:solidFill>
                <a:latin typeface="Times New Roman"/>
                <a:ea typeface="Times New Roman"/>
                <a:cs typeface="Times New Roman"/>
                <a:sym typeface="Times New Roman"/>
              </a:rPr>
              <a:t>Both L1 and L2</a:t>
            </a:r>
            <a:endParaRPr b="1" sz="2100">
              <a:solidFill>
                <a:srgbClr val="595959"/>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b="1" sz="2100">
              <a:solidFill>
                <a:srgbClr val="595959"/>
              </a:solidFill>
              <a:latin typeface="Times New Roman"/>
              <a:ea typeface="Times New Roman"/>
              <a:cs typeface="Times New Roman"/>
              <a:sym typeface="Times New Roman"/>
            </a:endParaRPr>
          </a:p>
        </p:txBody>
      </p:sp>
      <p:sp>
        <p:nvSpPr>
          <p:cNvPr id="248" name="Google Shape;248;g821b6a0978_0_16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49" name="Google Shape;249;g821b6a0978_0_16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GB"/>
              <a:t>BCSC1002  Object Oriented Programming </a:t>
            </a:r>
            <a:endParaRPr/>
          </a:p>
        </p:txBody>
      </p:sp>
      <p:pic>
        <p:nvPicPr>
          <p:cNvPr descr="Related image" id="250" name="Google Shape;250;g821b6a0978_0_164"/>
          <p:cNvPicPr preferRelativeResize="0"/>
          <p:nvPr/>
        </p:nvPicPr>
        <p:blipFill rotWithShape="1">
          <a:blip r:embed="rId3">
            <a:alphaModFix/>
          </a:blip>
          <a:srcRect b="23463" l="3789" r="3780" t="21968"/>
          <a:stretch/>
        </p:blipFill>
        <p:spPr>
          <a:xfrm>
            <a:off x="214282" y="214290"/>
            <a:ext cx="1622550" cy="82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2020-06-30T05:06:42Z</dcterms:created>
  <dc:creator>admin</dc:creator>
</cp:coreProperties>
</file>