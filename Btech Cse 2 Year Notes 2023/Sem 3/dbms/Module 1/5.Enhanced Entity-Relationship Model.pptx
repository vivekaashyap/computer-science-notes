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9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8" r:id="rId33"/>
    <p:sldId id="289" r:id="rId34"/>
    <p:sldId id="286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622" autoAdjust="0"/>
  </p:normalViewPr>
  <p:slideViewPr>
    <p:cSldViewPr snapToGrid="0">
      <p:cViewPr varScale="1">
        <p:scale>
          <a:sx n="75" d="100"/>
          <a:sy n="75" d="100"/>
        </p:scale>
        <p:origin x="97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867F4-423E-454D-B5A3-BE171CF990A5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A16CF-FFBE-4444-BAB8-A251BDB8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4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EER is a high-level data model that incorporates the extensions to the original ER model. Enhanced ERD are high level models that represent the requirements and complexities of complex database.</a:t>
            </a:r>
          </a:p>
          <a:p>
            <a:endParaRPr lang="en-US" dirty="0"/>
          </a:p>
          <a:p>
            <a:r>
              <a:rPr lang="en-US" dirty="0"/>
              <a:t>In addition to ER model concepts EE-R includes −</a:t>
            </a:r>
          </a:p>
          <a:p>
            <a:endParaRPr lang="en-US" dirty="0"/>
          </a:p>
          <a:p>
            <a:r>
              <a:rPr lang="en-US" dirty="0"/>
              <a:t>Subclasses and Super classes.</a:t>
            </a:r>
          </a:p>
          <a:p>
            <a:r>
              <a:rPr lang="en-US" dirty="0"/>
              <a:t>Specialization and Generalization.</a:t>
            </a:r>
          </a:p>
          <a:p>
            <a:r>
              <a:rPr lang="en-US" dirty="0"/>
              <a:t>Category or union type.</a:t>
            </a:r>
          </a:p>
          <a:p>
            <a:r>
              <a:rPr lang="en-US" dirty="0"/>
              <a:t>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A16CF-FFBE-4444-BAB8-A251BDB87B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30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Super class is an entity that can be divided into further subtype.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A16CF-FFBE-4444-BAB8-A251BDB87B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627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A16CF-FFBE-4444-BAB8-A251BDB87B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19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disjoint rule states an entity instance of a supertype can only be a member of one subtype. The overlap rule states an entity instance of a supertype can be a member of multiple subtypes.</a:t>
            </a:r>
          </a:p>
          <a:p>
            <a:endParaRPr lang="en-US" dirty="0"/>
          </a:p>
          <a:p>
            <a:r>
              <a:rPr lang="en-US" dirty="0"/>
              <a:t>Example of disjoint rule: Instance of Super-type Animal can only be member of exactly one of these Sub-types being Panda, Cheetah and Dog Disjoint Union , (An animal can either be Panda or be Dog or be Cheetah but can't be any two or more at the same time)</a:t>
            </a:r>
          </a:p>
          <a:p>
            <a:endParaRPr lang="en-US" dirty="0"/>
          </a:p>
          <a:p>
            <a:r>
              <a:rPr lang="en-US" dirty="0"/>
              <a:t>Example of overlap rule: Instance of Super-type Person can be member of multiple Sub-types being Woman, Driver and Engineer Overlapping Union , (A person can be a Woman and that same Woman can be Driver and that same Woman can be Engineer at the same time)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A16CF-FFBE-4444-BAB8-A251BDB87B1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95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An ER diagram is not capable of representing relationship between an entity and a relationship which may be required in some scenarios. In those cases, a relationship with its corresponding entities is aggregated into a higher level entity. Aggregation is an abstraction through which we can represent relationships as higher level entity 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A16CF-FFBE-4444-BAB8-A251BDB87B1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8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91C4-9A4A-4FD7-AE7C-879AEFCC0833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5F65E-943C-468A-8555-F3F94787DE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91C4-9A4A-4FD7-AE7C-879AEFCC0833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5F65E-943C-468A-8555-F3F94787DE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91C4-9A4A-4FD7-AE7C-879AEFCC0833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5F65E-943C-468A-8555-F3F94787DE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91C4-9A4A-4FD7-AE7C-879AEFCC0833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5F65E-943C-468A-8555-F3F94787DE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91C4-9A4A-4FD7-AE7C-879AEFCC0833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5F65E-943C-468A-8555-F3F94787DE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91C4-9A4A-4FD7-AE7C-879AEFCC0833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5F65E-943C-468A-8555-F3F94787DE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91C4-9A4A-4FD7-AE7C-879AEFCC0833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5F65E-943C-468A-8555-F3F94787DE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91C4-9A4A-4FD7-AE7C-879AEFCC0833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5F65E-943C-468A-8555-F3F94787DE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91C4-9A4A-4FD7-AE7C-879AEFCC0833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5F65E-943C-468A-8555-F3F94787DE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91C4-9A4A-4FD7-AE7C-879AEFCC0833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5F65E-943C-468A-8555-F3F94787DE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91C4-9A4A-4FD7-AE7C-879AEFCC0833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5F65E-943C-468A-8555-F3F94787DE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491C4-9A4A-4FD7-AE7C-879AEFCC0833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5F65E-943C-468A-8555-F3F94787DE0E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8" y="32037"/>
            <a:ext cx="870440" cy="8443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01335"/>
            <a:ext cx="9144000" cy="183208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2">
                    <a:lumMod val="50000"/>
                  </a:schemeClr>
                </a:solidFill>
                <a:ea typeface="MS PGothic" panose="020B0600070205080204" charset="-128"/>
              </a:rPr>
              <a:t>Extended Entity-Relationship </a:t>
            </a:r>
            <a:br>
              <a:rPr lang="en-US" sz="6000" b="1" dirty="0">
                <a:solidFill>
                  <a:schemeClr val="accent2">
                    <a:lumMod val="50000"/>
                  </a:schemeClr>
                </a:solidFill>
                <a:ea typeface="MS PGothic" panose="020B0600070205080204" charset="-128"/>
              </a:rPr>
            </a:br>
            <a:r>
              <a:rPr lang="en-US" sz="6000" b="1" dirty="0">
                <a:solidFill>
                  <a:schemeClr val="accent2">
                    <a:lumMod val="50000"/>
                  </a:schemeClr>
                </a:solidFill>
                <a:ea typeface="MS PGothic" panose="020B0600070205080204" charset="-128"/>
              </a:rPr>
              <a:t>(EER) Model</a:t>
            </a:r>
            <a:endParaRPr lang="en-IN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16"/>
            <a:ext cx="10515600" cy="984284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EER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6342" y="861134"/>
            <a:ext cx="10919534" cy="591252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EER stands for </a:t>
            </a:r>
            <a:r>
              <a:rPr lang="en-IN" b="1" dirty="0">
                <a:solidFill>
                  <a:srgbClr val="7030A0"/>
                </a:solidFill>
              </a:rPr>
              <a:t>Enhanced ER </a:t>
            </a:r>
            <a:r>
              <a:rPr lang="en-IN" dirty="0"/>
              <a:t>or </a:t>
            </a:r>
            <a:r>
              <a:rPr lang="en-IN" b="1" dirty="0">
                <a:solidFill>
                  <a:srgbClr val="7030A0"/>
                </a:solidFill>
              </a:rPr>
              <a:t>Extended ER</a:t>
            </a:r>
            <a:r>
              <a:rPr lang="en-IN" dirty="0">
                <a:solidFill>
                  <a:srgbClr val="7030A0"/>
                </a:solidFill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sz="2800" dirty="0"/>
              <a:t>Includes all modeling concepts of basic ER</a:t>
            </a:r>
            <a:r>
              <a:rPr lang="en-IN" altLang="en-US" sz="2800" dirty="0">
                <a:solidFill>
                  <a:srgbClr val="7030A0"/>
                </a:solidFill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Additional concepts: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subclasses/</a:t>
            </a:r>
            <a:r>
              <a:rPr lang="en-IN" dirty="0" err="1"/>
              <a:t>superclasses</a:t>
            </a:r>
            <a:endParaRPr lang="en-IN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rgbClr val="7030A0"/>
                </a:solidFill>
              </a:rPr>
              <a:t>specialization</a:t>
            </a:r>
            <a:r>
              <a:rPr lang="en-IN" dirty="0"/>
              <a:t>/</a:t>
            </a:r>
            <a:r>
              <a:rPr lang="en-IN" b="1" dirty="0">
                <a:solidFill>
                  <a:srgbClr val="7030A0"/>
                </a:solidFill>
              </a:rPr>
              <a:t>generalization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rgbClr val="7030A0"/>
                </a:solidFill>
              </a:rPr>
              <a:t>categories (UNION types)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attribute and relationship inheritance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sz="2800" dirty="0"/>
              <a:t>Constraints on Specialization/Generalization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sz="2800" dirty="0"/>
              <a:t>The additional EER concepts are used to model applications more completely and more accurately.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sz="2800" dirty="0"/>
              <a:t>EER includes some object-oriented concepts, such as </a:t>
            </a:r>
            <a:r>
              <a:rPr lang="en-US" altLang="en-US" sz="2800" b="1" dirty="0">
                <a:solidFill>
                  <a:srgbClr val="7030A0"/>
                </a:solidFill>
              </a:rPr>
              <a:t>inheritance</a:t>
            </a:r>
            <a:r>
              <a:rPr lang="en-US" altLang="en-US" sz="2800" dirty="0">
                <a:solidFill>
                  <a:srgbClr val="7030A0"/>
                </a:solidFill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altLang="en-US" sz="2800" b="1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altLang="en-US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b="1" dirty="0"/>
          </a:p>
          <a:p>
            <a:pPr>
              <a:lnSpc>
                <a:spcPct val="100000"/>
              </a:lnSpc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1"/>
            <a:ext cx="10515600" cy="1099695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Subclass and Superclass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219" y="914400"/>
            <a:ext cx="10884023" cy="58592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An entity type may have additional meaningful subgroupings of its entities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Example: </a:t>
            </a:r>
            <a:r>
              <a:rPr lang="en-IN" dirty="0"/>
              <a:t>EMPLOYEE may be further grouped into: </a:t>
            </a:r>
          </a:p>
          <a:p>
            <a:pPr lvl="2"/>
            <a:r>
              <a:rPr lang="en-IN" dirty="0"/>
              <a:t>SECRETARY, ENGINEER, TECHNICIAN, …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dirty="0"/>
              <a:t>Based on the EMPLOYEE’s Job</a:t>
            </a:r>
          </a:p>
          <a:p>
            <a:pPr lvl="2"/>
            <a:r>
              <a:rPr lang="en-IN" dirty="0"/>
              <a:t>MANAGER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dirty="0"/>
              <a:t>EMPLOYEEs who are managers (the role they play)</a:t>
            </a:r>
          </a:p>
          <a:p>
            <a:pPr lvl="2"/>
            <a:r>
              <a:rPr lang="en-IN" dirty="0"/>
              <a:t>SALARIED_EMPLOYEE, HOURLY_EMPLOYEE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dirty="0"/>
              <a:t>Based on the EMPLOYEE’s method of pay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EER diagrams extend ER diagrams to represent these additional subgroupings, called </a:t>
            </a:r>
            <a:r>
              <a:rPr lang="en-IN" b="1" dirty="0">
                <a:solidFill>
                  <a:srgbClr val="7030A0"/>
                </a:solidFill>
              </a:rPr>
              <a:t>subclasses</a:t>
            </a:r>
            <a:r>
              <a:rPr lang="en-IN" dirty="0"/>
              <a:t> or </a:t>
            </a:r>
            <a:r>
              <a:rPr lang="en-IN" b="1" dirty="0">
                <a:solidFill>
                  <a:srgbClr val="7030A0"/>
                </a:solidFill>
              </a:rPr>
              <a:t>subtypes.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800" dirty="0"/>
              <a:t>Each of these subgroupings is a subset of EMPLOYEE entities</a:t>
            </a:r>
            <a:r>
              <a:rPr lang="en-IN" altLang="en-US" sz="2800" b="1" dirty="0">
                <a:solidFill>
                  <a:srgbClr val="7030A0"/>
                </a:solidFill>
              </a:rPr>
              <a:t>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800" dirty="0"/>
              <a:t>Each is called a subclass of EMPLOYEE.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800" dirty="0"/>
              <a:t>EMPLOYEE is the </a:t>
            </a:r>
            <a:r>
              <a:rPr lang="en-US" altLang="en-US" sz="2800" b="1" dirty="0">
                <a:solidFill>
                  <a:srgbClr val="7030A0"/>
                </a:solidFill>
              </a:rPr>
              <a:t>superclass</a:t>
            </a:r>
            <a:r>
              <a:rPr lang="en-US" altLang="en-US" sz="2800" dirty="0"/>
              <a:t> for each of these subclasses.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>
              <a:solidFill>
                <a:srgbClr val="7030A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b="1" dirty="0">
              <a:solidFill>
                <a:srgbClr val="7030A0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218" y="923278"/>
            <a:ext cx="10892901" cy="58503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Superclass/subclass relationships: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EMPLOYEE/SECRETARY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EMPLOYEE/TECHNICIAN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EMPLOYEE/MANAGER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These are also called </a:t>
            </a:r>
            <a:r>
              <a:rPr lang="en-IN" b="1" dirty="0">
                <a:solidFill>
                  <a:srgbClr val="7030A0"/>
                </a:solidFill>
              </a:rPr>
              <a:t>IS-A </a:t>
            </a:r>
            <a:r>
              <a:rPr lang="en-IN" dirty="0">
                <a:solidFill>
                  <a:srgbClr val="7030A0"/>
                </a:solidFill>
              </a:rPr>
              <a:t>(</a:t>
            </a:r>
            <a:r>
              <a:rPr lang="en-IN" dirty="0"/>
              <a:t>or </a:t>
            </a:r>
            <a:r>
              <a:rPr lang="en-IN" b="1" dirty="0">
                <a:solidFill>
                  <a:srgbClr val="7030A0"/>
                </a:solidFill>
              </a:rPr>
              <a:t>IS-AN</a:t>
            </a:r>
            <a:r>
              <a:rPr lang="en-IN" dirty="0"/>
              <a:t>)</a:t>
            </a:r>
            <a:r>
              <a:rPr lang="en-IN" b="1" dirty="0">
                <a:solidFill>
                  <a:srgbClr val="7030A0"/>
                </a:solidFill>
              </a:rPr>
              <a:t> relationships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SECRETARY IS-AN EMPLOYEE, TECHNICIAN IS-AN EMPLOYEE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sz="2800" dirty="0"/>
              <a:t>An entity that is member of a subclass represents the same real-world entity as some member of the superclass</a:t>
            </a:r>
            <a:r>
              <a:rPr lang="en-IN" altLang="en-US" sz="2800" dirty="0"/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The subclass member is the same entity in a distinct specific role.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/>
              <a:t>Super class shape has sub groups: Triangle, Square and Circle.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1"/>
            <a:ext cx="10515600" cy="1099695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Subclass and Superclass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3A68F6-BCAA-F5F3-1C55-1B7C7DEBD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480" y="5140337"/>
            <a:ext cx="2509520" cy="1588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1"/>
            <a:ext cx="10515600" cy="1099695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Subclass and Superclass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767" y="924928"/>
            <a:ext cx="3345598" cy="58598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2975" y="976544"/>
            <a:ext cx="10919533" cy="5779363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Examples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A salaried employee who is also an engineer belongs to the two subclasses:</a:t>
            </a:r>
          </a:p>
          <a:p>
            <a:pPr lvl="2" algn="just">
              <a:lnSpc>
                <a:spcPct val="100000"/>
              </a:lnSpc>
            </a:pPr>
            <a:r>
              <a:rPr lang="en-IN" dirty="0"/>
              <a:t>ENGINEER, and</a:t>
            </a:r>
          </a:p>
          <a:p>
            <a:pPr lvl="2" algn="just">
              <a:lnSpc>
                <a:spcPct val="100000"/>
              </a:lnSpc>
            </a:pPr>
            <a:r>
              <a:rPr lang="en-IN" dirty="0"/>
              <a:t>SALARIED_EMPLOYEE 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A salaried employee who is also an engineering manager belongs to the three subclasses:</a:t>
            </a:r>
          </a:p>
          <a:p>
            <a:pPr lvl="2" algn="just">
              <a:lnSpc>
                <a:spcPct val="100000"/>
              </a:lnSpc>
            </a:pPr>
            <a:r>
              <a:rPr lang="en-IN" dirty="0"/>
              <a:t>MANAGER,</a:t>
            </a:r>
          </a:p>
          <a:p>
            <a:pPr lvl="2" algn="just">
              <a:lnSpc>
                <a:spcPct val="100000"/>
              </a:lnSpc>
            </a:pPr>
            <a:r>
              <a:rPr lang="en-IN" dirty="0"/>
              <a:t>ENGINEER, and</a:t>
            </a:r>
          </a:p>
          <a:p>
            <a:pPr lvl="2" algn="just">
              <a:lnSpc>
                <a:spcPct val="100000"/>
              </a:lnSpc>
            </a:pPr>
            <a:r>
              <a:rPr lang="en-IN" dirty="0"/>
              <a:t>SALARIED_EMPLOYEE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It is not necessary that every entity in a superclass be a member of some subclass</a:t>
            </a:r>
          </a:p>
          <a:p>
            <a:pPr algn="just">
              <a:lnSpc>
                <a:spcPct val="100000"/>
              </a:lnSpc>
            </a:pP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1"/>
            <a:ext cx="10515600" cy="1099695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Subclass and Superclass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EER diagram notation to represent subclasses and</a:t>
            </a:r>
            <a:br>
              <a:rPr lang="en-IN" b="1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specialization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269" y="1438967"/>
            <a:ext cx="8854016" cy="51038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2"/>
            <a:ext cx="10515600" cy="1179594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chemeClr val="accent4">
                    <a:lumMod val="50000"/>
                  </a:schemeClr>
                </a:solidFill>
              </a:rPr>
              <a:t>Inheritance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9608" y="1065320"/>
            <a:ext cx="10848512" cy="5708342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An entity that is member of a subclass </a:t>
            </a:r>
            <a:r>
              <a:rPr lang="en-US" altLang="en-US" i="1" dirty="0"/>
              <a:t>inherits</a:t>
            </a:r>
            <a:r>
              <a:rPr lang="en-US" altLang="en-US" dirty="0"/>
              <a:t>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All attributes of the entity as a member of the superclass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All relationships of the entity as a member of the superclass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b="1" dirty="0"/>
              <a:t>Example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SECRETARY (as well as TECHNICIAN and ENGINEER) inherit the attributes Name, SSN, …, from EMPLOYEE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Every SECRETARY entity will have values for the inherited attributes.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lnSpc>
                <a:spcPct val="100000"/>
              </a:lnSpc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1117450"/>
          </a:xfrm>
        </p:spPr>
        <p:txBody>
          <a:bodyPr/>
          <a:lstStyle/>
          <a:p>
            <a:pPr algn="ctr"/>
            <a:r>
              <a:rPr lang="en-US" altLang="en-US" sz="4400" b="1" dirty="0">
                <a:solidFill>
                  <a:schemeClr val="accent4">
                    <a:lumMod val="50000"/>
                  </a:schemeClr>
                </a:solidFill>
              </a:rPr>
              <a:t>Specialization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464" y="985421"/>
            <a:ext cx="10910656" cy="575273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The process of designating subgroupings within an entity set is called specialization or </a:t>
            </a:r>
            <a:r>
              <a:rPr lang="en-US" dirty="0"/>
              <a:t>a process in which an entity is divided into sub-entities.</a:t>
            </a:r>
            <a:endParaRPr lang="en-IN"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Specialization is the process of defining a set of subclasses of a superclass.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The set of subclasses is based upon some distinguishing characteristics of the entities in the superclass.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b="1" dirty="0"/>
              <a:t>Example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{SECRETARY, ENGINEER, TECHNICIAN} is a specialization of EMPLOYEE based upon </a:t>
            </a:r>
            <a:r>
              <a:rPr lang="en-US" altLang="en-US" i="1" dirty="0"/>
              <a:t>job type.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altLang="en-US" dirty="0"/>
              <a:t>MANAGER is a specialization of EMPLOYEE based on the </a:t>
            </a:r>
            <a:r>
              <a:rPr lang="en-IN" altLang="en-US" i="1" dirty="0"/>
              <a:t>role the employee plays</a:t>
            </a:r>
            <a:r>
              <a:rPr lang="en-IN" altLang="en-US" dirty="0"/>
              <a:t>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/>
              <a:t>{SALARIED_EMPLOYEE, HOURLY_EMPLOYEE} is a specialization of </a:t>
            </a:r>
            <a:r>
              <a:rPr lang="en-IN" altLang="en-US" dirty="0"/>
              <a:t>EMPLOYEE </a:t>
            </a:r>
            <a:r>
              <a:rPr lang="en-US" altLang="en-US" sz="2400" dirty="0"/>
              <a:t>based on </a:t>
            </a:r>
            <a:r>
              <a:rPr lang="en-US" altLang="en-US" sz="2400" i="1" dirty="0"/>
              <a:t>method of pay</a:t>
            </a:r>
            <a:r>
              <a:rPr lang="en-US" altLang="en-US" sz="2400" dirty="0"/>
              <a:t>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May have several specializations of the same superclass.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sz="2800" dirty="0"/>
              <a:t>Superclass/subclass relationships and specialization can be diagrammatically represented in EER diagrams.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altLang="en-US" i="1"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en-US" i="1"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altLang="en-US"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1117450"/>
          </a:xfrm>
        </p:spPr>
        <p:txBody>
          <a:bodyPr/>
          <a:lstStyle/>
          <a:p>
            <a:pPr algn="ctr"/>
            <a:r>
              <a:rPr lang="en-US" altLang="en-US" sz="4400" b="1" dirty="0">
                <a:solidFill>
                  <a:schemeClr val="accent4">
                    <a:lumMod val="50000"/>
                  </a:schemeClr>
                </a:solidFill>
              </a:rPr>
              <a:t>Specialization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566" y="1375900"/>
            <a:ext cx="7616882" cy="45099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0730" y="923278"/>
            <a:ext cx="10857390" cy="5841506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Attributes of a subclass are called specific or local attributes.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For example, the attribute </a:t>
            </a:r>
            <a:r>
              <a:rPr lang="en-IN" dirty="0" err="1"/>
              <a:t>TypingSpeed</a:t>
            </a:r>
            <a:r>
              <a:rPr lang="en-IN" dirty="0"/>
              <a:t> of SECRETARY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The subclass can also participate in specific relationship types.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For example, a relationship BELONGS_TO of HOURLY_EMPLOYEE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sz="2800" b="1" dirty="0">
                <a:solidFill>
                  <a:srgbClr val="7030A0"/>
                </a:solidFill>
              </a:rPr>
              <a:t>Top-down design process</a:t>
            </a:r>
            <a:r>
              <a:rPr lang="en-US" altLang="en-US" b="1" dirty="0">
                <a:solidFill>
                  <a:srgbClr val="7030A0"/>
                </a:solidFill>
              </a:rPr>
              <a:t>:</a:t>
            </a:r>
            <a:r>
              <a:rPr lang="en-US" altLang="en-US" sz="2800" dirty="0"/>
              <a:t> we designate sub-groupings within an entity set that are distinctive from other entities in the set.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altLang="en-US" sz="2800" dirty="0"/>
              <a:t>Depicted by a triangle component </a:t>
            </a:r>
            <a:r>
              <a:rPr lang="en-IN" altLang="en-US" sz="2800" dirty="0" err="1"/>
              <a:t>labeled</a:t>
            </a:r>
            <a:r>
              <a:rPr lang="en-IN" altLang="en-US" sz="2800" dirty="0"/>
              <a:t> ISA.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A</a:t>
            </a:r>
            <a:r>
              <a:rPr lang="en-US" altLang="en-US" sz="2800" dirty="0"/>
              <a:t> lower-level entity set inherits all the attributes and relationship participation of the higher-level entity set to which it is linked.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altLang="en-US" sz="2800"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dirty="0"/>
          </a:p>
          <a:p>
            <a:pPr algn="just">
              <a:lnSpc>
                <a:spcPct val="100000"/>
              </a:lnSpc>
            </a:pP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1117450"/>
          </a:xfrm>
        </p:spPr>
        <p:txBody>
          <a:bodyPr/>
          <a:lstStyle/>
          <a:p>
            <a:pPr algn="ctr"/>
            <a:r>
              <a:rPr lang="en-US" altLang="en-US" sz="4400" b="1" dirty="0">
                <a:solidFill>
                  <a:schemeClr val="accent4">
                    <a:lumMod val="50000"/>
                  </a:schemeClr>
                </a:solidFill>
              </a:rPr>
              <a:t>Specialization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1117450"/>
          </a:xfrm>
        </p:spPr>
        <p:txBody>
          <a:bodyPr/>
          <a:lstStyle/>
          <a:p>
            <a:pPr algn="ctr"/>
            <a:r>
              <a:rPr lang="en-US" altLang="en-US" sz="4400" b="1" dirty="0">
                <a:solidFill>
                  <a:schemeClr val="accent4">
                    <a:lumMod val="50000"/>
                  </a:schemeClr>
                </a:solidFill>
              </a:rPr>
              <a:t>Specialization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431" y="1136343"/>
            <a:ext cx="5547549" cy="55574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076" y="994298"/>
            <a:ext cx="10963922" cy="577048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Overlapping specialization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entity may belong to multiple specialized entity sets</a:t>
            </a:r>
            <a:endParaRPr lang="en-IN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Disjoint specialization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entity must belong to at most one specialized entity set.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1117450"/>
          </a:xfrm>
        </p:spPr>
        <p:txBody>
          <a:bodyPr/>
          <a:lstStyle/>
          <a:p>
            <a:pPr algn="ctr"/>
            <a:r>
              <a:rPr lang="en-US" altLang="en-US" sz="44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  <a:endParaRPr lang="en-IN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54FFB2-6467-E458-6529-FECC540EA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146104"/>
            <a:ext cx="3810000" cy="2514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37F0F4-8849-35F5-D8F1-68782B5AD808}"/>
              </a:ext>
            </a:extLst>
          </p:cNvPr>
          <p:cNvSpPr txBox="1"/>
          <p:nvPr/>
        </p:nvSpPr>
        <p:spPr>
          <a:xfrm>
            <a:off x="172720" y="5792007"/>
            <a:ext cx="4937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Disjoint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 users can participate in saving account and current account but both are different so, it can be participated one at a 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22D188-4972-51CD-258A-BC9B055E50E6}"/>
              </a:ext>
            </a:extLst>
          </p:cNvPr>
          <p:cNvSpPr txBox="1"/>
          <p:nvPr/>
        </p:nvSpPr>
        <p:spPr>
          <a:xfrm>
            <a:off x="6020836" y="5388642"/>
            <a:ext cx="57444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Overlapping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I.e. A person who knows Java and PHP can participate in both teams, A person can be a Woman and that same Woman can be Driver and that same Woman can be Engineer at the same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EA7E40-7F93-DEBF-4A42-0CC1E2526E52}"/>
              </a:ext>
            </a:extLst>
          </p:cNvPr>
          <p:cNvSpPr txBox="1"/>
          <p:nvPr/>
        </p:nvSpPr>
        <p:spPr>
          <a:xfrm>
            <a:off x="4791476" y="34597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Disjoint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i.e. An animal can either be Panda or be Dog or be Cheetah but can't be any two or more at the same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111745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GENERALIZATION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026" name="Picture 2" descr="DBMS Specialization example">
            <a:extLst>
              <a:ext uri="{FF2B5EF4-FFF2-40B4-BE49-F238E27FC236}">
                <a16:creationId xmlns:a16="http://schemas.microsoft.com/office/drawing/2014/main" id="{DF723080-9BE8-F3F0-4113-59BB3365F9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7"/>
          <a:stretch/>
        </p:blipFill>
        <p:spPr bwMode="auto">
          <a:xfrm>
            <a:off x="3035300" y="1695142"/>
            <a:ext cx="6525260" cy="4409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2"/>
            <a:ext cx="10515600" cy="1303882"/>
          </a:xfrm>
        </p:spPr>
        <p:txBody>
          <a:bodyPr/>
          <a:lstStyle/>
          <a:p>
            <a:pPr algn="ctr"/>
            <a:r>
              <a:rPr lang="en-US" altLang="en-US" sz="4400" b="1" dirty="0">
                <a:solidFill>
                  <a:schemeClr val="accent4">
                    <a:lumMod val="50000"/>
                  </a:schemeClr>
                </a:solidFill>
              </a:rPr>
              <a:t>Generalization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2974" y="1003176"/>
            <a:ext cx="10875145" cy="5761607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Generalization is the reverse of the specialization process.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Several classes with common features are generalized into a superclass. 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Original classes become its subclasses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Example:</a:t>
            </a:r>
            <a:r>
              <a:rPr lang="en-IN" dirty="0"/>
              <a:t> CAR, TRUCK generalized into VEHICLE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Both CAR, TRUCK become subclasses of the superclass VEHICLE.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We can view {CAR, TRUCK} as a specialization of VEHICLE.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Alternatively, we can view VEHICLE as a generalization of CAR and TRUCK.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Generalization refers to the process of defining a generalized entity type from the given entity types.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Generalization is the process of extracting common properties from a set of entities and create a generalized entity from it.</a:t>
            </a:r>
          </a:p>
          <a:p>
            <a:pPr algn="just">
              <a:lnSpc>
                <a:spcPct val="100000"/>
              </a:lnSpc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2"/>
            <a:ext cx="10515600" cy="1303882"/>
          </a:xfrm>
        </p:spPr>
        <p:txBody>
          <a:bodyPr/>
          <a:lstStyle/>
          <a:p>
            <a:pPr algn="ctr"/>
            <a:r>
              <a:rPr lang="en-US" altLang="en-US" sz="4400" b="1" dirty="0">
                <a:solidFill>
                  <a:schemeClr val="accent4">
                    <a:lumMod val="50000"/>
                  </a:schemeClr>
                </a:solidFill>
              </a:rPr>
              <a:t>Generalization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11173"/>
            <a:ext cx="4872449" cy="25665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353" y="1185761"/>
            <a:ext cx="4561309" cy="230316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6659" y="3759602"/>
            <a:ext cx="8101416" cy="2747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836" y="1140"/>
            <a:ext cx="9817963" cy="1325563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chemeClr val="accent4">
                    <a:lumMod val="50000"/>
                  </a:schemeClr>
                </a:solidFill>
              </a:rPr>
              <a:t>Notations for </a:t>
            </a:r>
            <a:r>
              <a:rPr lang="en-US" altLang="en-US" sz="4400" b="1" dirty="0">
                <a:solidFill>
                  <a:schemeClr val="accent4">
                    <a:lumMod val="50000"/>
                  </a:schemeClr>
                </a:solidFill>
              </a:rPr>
              <a:t>Generalization and Specialization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8586" y="1326703"/>
            <a:ext cx="10901778" cy="4850260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Diagrammatic notations are sometimes used to distinguish between generalization and specialization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Arrow pointing to the generalized superclass represents a generalization 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Arrows pointing to the specialized subclasses represent a specialization </a:t>
            </a:r>
          </a:p>
          <a:p>
            <a:pPr algn="just">
              <a:lnSpc>
                <a:spcPct val="100000"/>
              </a:lnSpc>
            </a:pPr>
            <a:endParaRPr lang="en-IN" dirty="0"/>
          </a:p>
        </p:txBody>
      </p:sp>
      <p:pic>
        <p:nvPicPr>
          <p:cNvPr id="4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4500" y="3178506"/>
            <a:ext cx="4202999" cy="3679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9709" y="1091953"/>
            <a:ext cx="10963921" cy="5655076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2060"/>
                </a:solidFill>
              </a:rPr>
              <a:t>Bottom-up design process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combine a number of entity sets that share the same features (attributes) into a higher-level entity set.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Specialization and generalization are inversions of each other.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altLang="en-US" b="1" dirty="0">
                <a:solidFill>
                  <a:srgbClr val="7030A0"/>
                </a:solidFill>
              </a:rPr>
              <a:t>Single inheritance</a:t>
            </a:r>
            <a:r>
              <a:rPr lang="en-IN" altLang="en-US" dirty="0"/>
              <a:t> - In a hierarchy, a given entity set is involved as a lower-level entity set in only one ISA relationship.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7030A0"/>
                </a:solidFill>
              </a:rPr>
              <a:t>Multiple inheritance - </a:t>
            </a:r>
            <a:r>
              <a:rPr lang="en-IN" dirty="0"/>
              <a:t>If an entity set is a lower-level entity set in more than one ISA relationship, then the entity set has multiple inheritance.</a:t>
            </a:r>
          </a:p>
          <a:p>
            <a:endParaRPr lang="en-US" altLang="en-US" b="1" dirty="0">
              <a:solidFill>
                <a:srgbClr val="7030A0"/>
              </a:solidFill>
            </a:endParaRPr>
          </a:p>
          <a:p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2"/>
            <a:ext cx="10515600" cy="1303882"/>
          </a:xfrm>
        </p:spPr>
        <p:txBody>
          <a:bodyPr/>
          <a:lstStyle/>
          <a:p>
            <a:pPr algn="ctr"/>
            <a:r>
              <a:rPr lang="en-US" altLang="en-US" sz="4400" b="1" dirty="0">
                <a:solidFill>
                  <a:schemeClr val="accent4">
                    <a:lumMod val="50000"/>
                  </a:schemeClr>
                </a:solidFill>
              </a:rPr>
              <a:t>Generalization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27F595-D3B9-5D68-4746-BA52852F0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20" y="557417"/>
            <a:ext cx="9740005" cy="574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52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16"/>
            <a:ext cx="10515600" cy="922139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3894" y="816746"/>
            <a:ext cx="10733103" cy="59480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Two basic constraints can apply to a specialization/generalization: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dirty="0" err="1"/>
              <a:t>Disjointness</a:t>
            </a:r>
            <a:r>
              <a:rPr lang="en-US" altLang="en-US" dirty="0"/>
              <a:t> Constraint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Completeness Constraint</a:t>
            </a:r>
          </a:p>
          <a:p>
            <a:pPr lvl="2">
              <a:lnSpc>
                <a:spcPct val="100000"/>
              </a:lnSpc>
            </a:pPr>
            <a:r>
              <a:rPr lang="en-US" altLang="en-US" dirty="0"/>
              <a:t>Total</a:t>
            </a:r>
          </a:p>
          <a:p>
            <a:pPr lvl="2">
              <a:lnSpc>
                <a:spcPct val="100000"/>
              </a:lnSpc>
            </a:pPr>
            <a:r>
              <a:rPr lang="en-US" altLang="en-US" dirty="0"/>
              <a:t>Partial</a:t>
            </a: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b="1" dirty="0" err="1">
                <a:solidFill>
                  <a:srgbClr val="7030A0"/>
                </a:solidFill>
              </a:rPr>
              <a:t>Disjointness</a:t>
            </a:r>
            <a:r>
              <a:rPr lang="en-US" altLang="en-US" b="1" dirty="0">
                <a:solidFill>
                  <a:srgbClr val="7030A0"/>
                </a:solidFill>
              </a:rPr>
              <a:t> Constraint</a:t>
            </a:r>
            <a:endParaRPr lang="en-US" altLang="en-US" dirty="0"/>
          </a:p>
          <a:p>
            <a:pPr lvl="1" eaLnBrk="1" hangingPunct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Specifies that the subclasses of the specialization must be </a:t>
            </a:r>
            <a:r>
              <a:rPr lang="en-US" altLang="en-US" i="1" dirty="0"/>
              <a:t>disjoint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dirty="0"/>
              <a:t>an entity can be a member of at most one of the subclasses of the specialization</a:t>
            </a:r>
          </a:p>
          <a:p>
            <a:pPr lvl="1" eaLnBrk="1" hangingPunct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Specified by </a:t>
            </a:r>
            <a:r>
              <a:rPr lang="en-US" altLang="en-US" b="1" i="1" dirty="0"/>
              <a:t>d</a:t>
            </a:r>
            <a:r>
              <a:rPr lang="en-US" altLang="en-US" dirty="0"/>
              <a:t> in EER diagram </a:t>
            </a:r>
          </a:p>
          <a:p>
            <a:pPr lvl="1" eaLnBrk="1" hangingPunct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If not disjoint, specialization is </a:t>
            </a:r>
            <a:r>
              <a:rPr lang="en-US" altLang="en-US" i="1" dirty="0"/>
              <a:t>overlapping</a:t>
            </a:r>
            <a:endParaRPr lang="en-US" altLang="en-US" dirty="0"/>
          </a:p>
          <a:p>
            <a:pPr lvl="2" eaLnBrk="1" hangingPunct="1">
              <a:lnSpc>
                <a:spcPct val="100000"/>
              </a:lnSpc>
            </a:pPr>
            <a:r>
              <a:rPr lang="en-US" altLang="en-US" dirty="0"/>
              <a:t>same entity may be a member of more than one subclass of the specialization</a:t>
            </a:r>
          </a:p>
          <a:p>
            <a:pPr lvl="1" eaLnBrk="1" hangingPunct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Specified by </a:t>
            </a:r>
            <a:r>
              <a:rPr lang="en-US" altLang="en-US" b="1" i="1" dirty="0"/>
              <a:t>o</a:t>
            </a:r>
            <a:r>
              <a:rPr lang="en-US" altLang="en-US" dirty="0"/>
              <a:t> in EER diagram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485" y="816746"/>
            <a:ext cx="10875145" cy="59480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7030A0"/>
                </a:solidFill>
              </a:rPr>
              <a:t>Completeness Constraint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rgbClr val="7030A0"/>
                </a:solidFill>
              </a:rPr>
              <a:t>Total</a:t>
            </a:r>
            <a:r>
              <a:rPr lang="en-IN" dirty="0"/>
              <a:t> specialization/generalization specifies that every entity in the superclass must be a member of some subclass in the specialization/generalization.</a:t>
            </a:r>
          </a:p>
          <a:p>
            <a:pPr lvl="2">
              <a:lnSpc>
                <a:spcPct val="110000"/>
              </a:lnSpc>
            </a:pPr>
            <a:r>
              <a:rPr lang="en-US" altLang="en-US" dirty="0"/>
              <a:t>Shown in EER diagrams by a </a:t>
            </a:r>
            <a:r>
              <a:rPr lang="en-US" altLang="en-US" i="1" dirty="0"/>
              <a:t>double line</a:t>
            </a:r>
            <a:r>
              <a:rPr lang="en-US" altLang="en-US" dirty="0"/>
              <a:t> </a:t>
            </a:r>
            <a:r>
              <a:rPr lang="en-IN" altLang="en-US" dirty="0"/>
              <a:t>to connect the superclass to the circle.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IN" altLang="en-US" b="1" dirty="0">
                <a:solidFill>
                  <a:srgbClr val="7030A0"/>
                </a:solidFill>
              </a:rPr>
              <a:t>Partial</a:t>
            </a:r>
            <a:r>
              <a:rPr lang="en-IN" altLang="en-US" dirty="0"/>
              <a:t> </a:t>
            </a:r>
            <a:r>
              <a:rPr lang="en-IN" dirty="0"/>
              <a:t>specialization/generalization </a:t>
            </a:r>
            <a:r>
              <a:rPr lang="en-IN" altLang="en-US" dirty="0"/>
              <a:t>allows an entity not to belong to any of the subclasses. </a:t>
            </a:r>
          </a:p>
          <a:p>
            <a:pPr lvl="2">
              <a:lnSpc>
                <a:spcPct val="110000"/>
              </a:lnSpc>
            </a:pPr>
            <a:r>
              <a:rPr lang="en-IN" altLang="en-US" dirty="0"/>
              <a:t>Shown in EER diagrams by a single line.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We have four types of specialization/generalization: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Disjoint, total 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Disjoint, partial 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Overlapping, total 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Overlapping, partial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Generalization usually is total because the superclass is derived from the subclasses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Minion-Regular"/>
              </a:rPr>
              <a:t>C</a:t>
            </a:r>
            <a:r>
              <a:rPr lang="en-IN" b="0" i="0" u="none" strike="noStrike" baseline="0" dirty="0">
                <a:latin typeface="Minion-Regular"/>
              </a:rPr>
              <a:t>ontains only the entities that are in the subclasses</a:t>
            </a:r>
            <a:endParaRPr lang="en-US" altLang="en-US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endParaRPr lang="en-IN" altLang="en-US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0016"/>
            <a:ext cx="10515600" cy="922139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Constraints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8282" y="1141"/>
            <a:ext cx="9995517" cy="1073058"/>
          </a:xfrm>
        </p:spPr>
        <p:txBody>
          <a:bodyPr/>
          <a:lstStyle/>
          <a:p>
            <a:pPr algn="ctr"/>
            <a:r>
              <a:rPr lang="en-US" altLang="en-US" sz="4400" b="1" dirty="0">
                <a:solidFill>
                  <a:schemeClr val="accent4">
                    <a:lumMod val="50000"/>
                  </a:schemeClr>
                </a:solidFill>
              </a:rPr>
              <a:t>Example of disjoint partial Specialization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341" y="1376570"/>
            <a:ext cx="7755125" cy="47667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1108571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Example of overlapping total Specialization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164" y="2104009"/>
            <a:ext cx="9151992" cy="29385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15"/>
            <a:ext cx="10515600" cy="1108572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chemeClr val="accent4">
                    <a:lumMod val="50000"/>
                  </a:schemeClr>
                </a:solidFill>
              </a:rPr>
              <a:t>Specialization/Generalization Hierarchies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485" y="949910"/>
            <a:ext cx="10830757" cy="5823751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A subclass may itself have further subclasses specified on it 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forms a hierarchy </a:t>
            </a:r>
            <a:r>
              <a:rPr lang="en-US" altLang="en-US" dirty="0"/>
              <a:t>or a lattice</a:t>
            </a:r>
            <a:endParaRPr lang="en-IN"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7030A0"/>
                </a:solidFill>
              </a:rPr>
              <a:t>Hierarchy</a:t>
            </a:r>
            <a:r>
              <a:rPr lang="en-IN" dirty="0"/>
              <a:t> has a constraint that every subclass has only one superclass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Called </a:t>
            </a:r>
            <a:r>
              <a:rPr lang="en-IN" b="1" dirty="0">
                <a:solidFill>
                  <a:srgbClr val="7030A0"/>
                </a:solidFill>
              </a:rPr>
              <a:t>single inheritance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Basically a </a:t>
            </a:r>
            <a:r>
              <a:rPr lang="en-IN" b="1" dirty="0">
                <a:solidFill>
                  <a:srgbClr val="7030A0"/>
                </a:solidFill>
              </a:rPr>
              <a:t>tree structure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In a </a:t>
            </a:r>
            <a:r>
              <a:rPr lang="en-IN" b="1" dirty="0">
                <a:solidFill>
                  <a:srgbClr val="7030A0"/>
                </a:solidFill>
              </a:rPr>
              <a:t>lattice</a:t>
            </a:r>
            <a:r>
              <a:rPr lang="en-IN" dirty="0"/>
              <a:t>, a subclass can be subclass of more than one superclass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Called </a:t>
            </a:r>
            <a:r>
              <a:rPr lang="en-IN" b="1" dirty="0">
                <a:solidFill>
                  <a:srgbClr val="7030A0"/>
                </a:solidFill>
              </a:rPr>
              <a:t>multiple inheritance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16"/>
            <a:ext cx="10515600" cy="109969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Specialization lattice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253" y="1704512"/>
            <a:ext cx="9570128" cy="34800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4"/>
            <a:ext cx="10515600" cy="1325563"/>
          </a:xfrm>
        </p:spPr>
        <p:txBody>
          <a:bodyPr/>
          <a:lstStyle/>
          <a:p>
            <a:pPr algn="ctr"/>
            <a:r>
              <a:rPr lang="en-US" altLang="en-US" sz="4400" b="1" dirty="0">
                <a:solidFill>
                  <a:schemeClr val="accent4">
                    <a:lumMod val="50000"/>
                  </a:schemeClr>
                </a:solidFill>
              </a:rPr>
              <a:t>Specialization/Generalization Hierarchies and Lattices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363" y="1344457"/>
            <a:ext cx="10875145" cy="541145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In a lattice or hierarchy, a subclass inherits attributes not only of its direct superclass, but also of all its predecessor </a:t>
            </a:r>
            <a:r>
              <a:rPr lang="en-IN" dirty="0" err="1"/>
              <a:t>superclasses</a:t>
            </a:r>
            <a:r>
              <a:rPr lang="en-IN" dirty="0"/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800" dirty="0"/>
              <a:t>A subclass with more than one superclass is called a </a:t>
            </a:r>
            <a:r>
              <a:rPr lang="en-US" altLang="en-US" sz="2800" b="1" dirty="0">
                <a:solidFill>
                  <a:srgbClr val="7030A0"/>
                </a:solidFill>
              </a:rPr>
              <a:t>shared subclass </a:t>
            </a:r>
            <a:r>
              <a:rPr lang="en-US" altLang="en-US" sz="2800" dirty="0"/>
              <a:t>(multiple inheritance)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In specialization, start with an entity type and then define subclasses of the entity type by successive specialization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dirty="0"/>
              <a:t>called a top down conceptual refinement process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In generalization, start with many entity types and generalize those that have common properties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dirty="0"/>
              <a:t>Called a bottom up conceptual synthesis process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In practice, a combination of both processes is usually employed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dirty="0"/>
          </a:p>
          <a:p>
            <a:pPr algn="just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1"/>
            <a:ext cx="10515600" cy="1325563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chemeClr val="accent4">
                    <a:lumMod val="50000"/>
                  </a:schemeClr>
                </a:solidFill>
              </a:rPr>
              <a:t>Specialization / Generalization Lattice Example </a:t>
            </a:r>
            <a:r>
              <a:rPr lang="en-US" altLang="en-US" sz="3600" b="1" dirty="0">
                <a:solidFill>
                  <a:schemeClr val="accent4">
                    <a:lumMod val="50000"/>
                  </a:schemeClr>
                </a:solidFill>
              </a:rPr>
              <a:t>(UNIVERSITY)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808" y="1344454"/>
            <a:ext cx="6673300" cy="53215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17"/>
            <a:ext cx="10515600" cy="1010916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Categories (UNION TYPES)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219" y="905522"/>
            <a:ext cx="10928411" cy="5868140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All of the superclass/subclass relationships we have seen thus far have a </a:t>
            </a:r>
            <a:r>
              <a:rPr lang="en-IN" i="1" dirty="0"/>
              <a:t>single superclass</a:t>
            </a:r>
            <a:r>
              <a:rPr lang="en-IN" dirty="0"/>
              <a:t>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A shared subclass is a subclass in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more than one distinct superclass/subclass relationships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each relationships has a single superclass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shared subclass leads to multiple inheritance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In some cases, we need to model a single subclass relationship with </a:t>
            </a:r>
            <a:r>
              <a:rPr lang="en-IN" i="1" dirty="0"/>
              <a:t>more than one </a:t>
            </a:r>
            <a:r>
              <a:rPr lang="en-IN" dirty="0"/>
              <a:t>superclass.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sz="2800" dirty="0" err="1"/>
              <a:t>Superclasses</a:t>
            </a:r>
            <a:r>
              <a:rPr lang="en-US" altLang="en-US" sz="2800" dirty="0"/>
              <a:t> can represent different entity types.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sz="2800" dirty="0"/>
              <a:t>Such a subclass is called a </a:t>
            </a:r>
            <a:r>
              <a:rPr lang="en-US" altLang="en-US" sz="2800" b="1" dirty="0">
                <a:solidFill>
                  <a:srgbClr val="7030A0"/>
                </a:solidFill>
              </a:rPr>
              <a:t>category</a:t>
            </a:r>
            <a:r>
              <a:rPr lang="en-US" altLang="en-US" sz="2800" dirty="0"/>
              <a:t> or </a:t>
            </a:r>
            <a:r>
              <a:rPr lang="en-US" altLang="en-US" sz="2800" b="1" dirty="0">
                <a:solidFill>
                  <a:srgbClr val="7030A0"/>
                </a:solidFill>
              </a:rPr>
              <a:t>UNION TYPE</a:t>
            </a:r>
            <a:r>
              <a:rPr lang="en-US" altLang="en-US" sz="2800" dirty="0">
                <a:solidFill>
                  <a:srgbClr val="7030A0"/>
                </a:solidFill>
              </a:rPr>
              <a:t>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altLang="en-US" sz="2800" b="1" dirty="0">
              <a:solidFill>
                <a:srgbClr val="7030A0"/>
              </a:solidFill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363" y="914400"/>
            <a:ext cx="10857389" cy="5841507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sz="2800" b="1" dirty="0"/>
              <a:t>Example</a:t>
            </a:r>
            <a:endParaRPr lang="en-US" altLang="en-US" sz="28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In a database for vehicle registration, a vehicle owner can be a PERSON, a BANK (holding a lien on a vehicle) or a COMPANY.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altLang="en-US" dirty="0"/>
              <a:t>A </a:t>
            </a:r>
            <a:r>
              <a:rPr lang="en-IN" altLang="en-US" i="1" dirty="0"/>
              <a:t>category</a:t>
            </a:r>
            <a:r>
              <a:rPr lang="en-IN" altLang="en-US" dirty="0"/>
              <a:t> (UNION type) called OWNER is created to represent a subset of the </a:t>
            </a:r>
            <a:r>
              <a:rPr lang="en-IN" altLang="en-US" i="1" dirty="0"/>
              <a:t>union</a:t>
            </a:r>
            <a:r>
              <a:rPr lang="en-IN" altLang="en-US" dirty="0"/>
              <a:t> of the three </a:t>
            </a:r>
            <a:r>
              <a:rPr lang="en-IN" altLang="en-US" dirty="0" err="1"/>
              <a:t>superclasses</a:t>
            </a:r>
            <a:r>
              <a:rPr lang="en-IN" altLang="en-US" dirty="0"/>
              <a:t> COMPANY, BANK, and PERSON.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altLang="en-US" dirty="0"/>
              <a:t>A category member must exist in </a:t>
            </a:r>
            <a:r>
              <a:rPr lang="en-IN" altLang="en-US" b="1" dirty="0">
                <a:solidFill>
                  <a:srgbClr val="7030A0"/>
                </a:solidFill>
              </a:rPr>
              <a:t>at least one </a:t>
            </a:r>
            <a:r>
              <a:rPr lang="en-IN" altLang="en-US" dirty="0"/>
              <a:t>of its </a:t>
            </a:r>
            <a:r>
              <a:rPr lang="en-IN" altLang="en-US" dirty="0" err="1"/>
              <a:t>superclasses</a:t>
            </a:r>
            <a:r>
              <a:rPr lang="en-IN" altLang="en-US" dirty="0"/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altLang="en-US" dirty="0"/>
              <a:t>A category has two or more </a:t>
            </a:r>
            <a:r>
              <a:rPr lang="en-IN" altLang="en-US" dirty="0" err="1"/>
              <a:t>superclasses</a:t>
            </a:r>
            <a:r>
              <a:rPr lang="en-IN" altLang="en-US" dirty="0"/>
              <a:t> that may represent </a:t>
            </a:r>
            <a:r>
              <a:rPr lang="en-IN" altLang="en-US" i="1" dirty="0"/>
              <a:t>distinct entity types</a:t>
            </a:r>
            <a:r>
              <a:rPr lang="en-IN" altLang="en-US" dirty="0"/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altLang="en-US" dirty="0"/>
              <a:t>Difference from shared subclass, which is a: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altLang="en-US" dirty="0"/>
              <a:t>subset of the </a:t>
            </a:r>
            <a:r>
              <a:rPr lang="en-IN" altLang="en-US" i="1" dirty="0"/>
              <a:t>intersection</a:t>
            </a:r>
            <a:r>
              <a:rPr lang="en-IN" altLang="en-US" dirty="0"/>
              <a:t> of its </a:t>
            </a:r>
            <a:r>
              <a:rPr lang="en-IN" altLang="en-US" dirty="0" err="1"/>
              <a:t>superclasses</a:t>
            </a:r>
            <a:endParaRPr lang="en-IN" altLang="en-US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altLang="en-US" dirty="0"/>
              <a:t>shared subclass member must exist in </a:t>
            </a:r>
            <a:r>
              <a:rPr lang="en-IN" altLang="en-US" i="1" dirty="0"/>
              <a:t>all</a:t>
            </a:r>
            <a:r>
              <a:rPr lang="en-IN" altLang="en-US" dirty="0"/>
              <a:t> of its </a:t>
            </a:r>
            <a:r>
              <a:rPr lang="en-IN" altLang="en-US" dirty="0" err="1"/>
              <a:t>superclasses</a:t>
            </a:r>
            <a:endParaRPr lang="en-IN" altLang="en-US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altLang="en-US" dirty="0"/>
              <a:t>Category is a subset of the </a:t>
            </a:r>
            <a:r>
              <a:rPr lang="en-IN" altLang="en-US" i="1" dirty="0"/>
              <a:t>union</a:t>
            </a:r>
            <a:r>
              <a:rPr lang="en-IN" altLang="en-US" dirty="0"/>
              <a:t> of its </a:t>
            </a:r>
            <a:r>
              <a:rPr lang="en-IN" altLang="en-US" dirty="0" err="1"/>
              <a:t>superclasses</a:t>
            </a:r>
            <a:r>
              <a:rPr lang="en-IN" altLang="en-US" dirty="0"/>
              <a:t>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altLang="en-US" dirty="0"/>
              <a:t>A member of OWNER must exist in only one of the </a:t>
            </a:r>
            <a:r>
              <a:rPr lang="en-IN" altLang="en-US" dirty="0" err="1"/>
              <a:t>superclasses</a:t>
            </a:r>
            <a:r>
              <a:rPr lang="en-IN" altLang="en-US" dirty="0"/>
              <a:t>.</a:t>
            </a:r>
            <a:endParaRPr lang="en-US" altLang="en-US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7" name="Title 1"/>
          <p:cNvSpPr txBox="1"/>
          <p:nvPr/>
        </p:nvSpPr>
        <p:spPr>
          <a:xfrm>
            <a:off x="838200" y="10017"/>
            <a:ext cx="10515600" cy="1010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Categories (UNION TYPES)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838200" y="10017"/>
            <a:ext cx="10515600" cy="1010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Categories (UNION TYPES)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181" y="880856"/>
            <a:ext cx="4127127" cy="58439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08668" y="1154097"/>
            <a:ext cx="48472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Minion-Regular"/>
              </a:rPr>
              <a:t>C</a:t>
            </a:r>
            <a:r>
              <a:rPr lang="en-IN" sz="2400" b="0" i="0" u="none" strike="noStrike" baseline="0" dirty="0">
                <a:latin typeface="Minion-Regular"/>
              </a:rPr>
              <a:t>ategory can be </a:t>
            </a:r>
            <a:r>
              <a:rPr lang="en-IN" sz="2400" b="1" i="0" u="none" strike="noStrike" baseline="0" dirty="0">
                <a:solidFill>
                  <a:srgbClr val="7030A0"/>
                </a:solidFill>
                <a:latin typeface="Minion-Bold"/>
              </a:rPr>
              <a:t>total</a:t>
            </a:r>
            <a:r>
              <a:rPr lang="en-IN" sz="2400" b="1" i="0" u="none" strike="noStrike" baseline="0" dirty="0">
                <a:latin typeface="Minion-Bold"/>
              </a:rPr>
              <a:t> </a:t>
            </a:r>
            <a:r>
              <a:rPr lang="en-IN" sz="2400" b="0" i="0" u="none" strike="noStrike" baseline="0" dirty="0">
                <a:latin typeface="Minion-Regular"/>
              </a:rPr>
              <a:t>or </a:t>
            </a:r>
            <a:r>
              <a:rPr lang="en-IN" sz="2400" b="1" i="0" u="none" strike="noStrike" baseline="0" dirty="0">
                <a:solidFill>
                  <a:srgbClr val="7030A0"/>
                </a:solidFill>
                <a:latin typeface="Minion-Bold"/>
              </a:rPr>
              <a:t>partial</a:t>
            </a:r>
            <a:r>
              <a:rPr lang="en-IN" sz="2400" dirty="0">
                <a:latin typeface="Minion-Bold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400" b="0" i="0" u="none" strike="noStrike" baseline="0" dirty="0">
                <a:latin typeface="Minion-Regular"/>
              </a:rPr>
              <a:t>Total category holds the </a:t>
            </a:r>
            <a:r>
              <a:rPr lang="en-IN" sz="2400" b="0" i="1" u="none" strike="noStrike" baseline="0" dirty="0">
                <a:latin typeface="Minion-Italic"/>
              </a:rPr>
              <a:t>union </a:t>
            </a:r>
            <a:r>
              <a:rPr lang="en-IN" sz="2400" b="0" i="0" u="none" strike="noStrike" baseline="0" dirty="0">
                <a:latin typeface="Minion-Regular"/>
              </a:rPr>
              <a:t>of all entities in its </a:t>
            </a:r>
            <a:r>
              <a:rPr lang="en-IN" sz="2400" b="0" i="0" u="none" strike="noStrike" baseline="0" dirty="0" err="1">
                <a:latin typeface="Minion-Regular"/>
              </a:rPr>
              <a:t>superclasses</a:t>
            </a:r>
            <a:r>
              <a:rPr lang="en-IN" sz="2400" b="0" i="0" u="none" strike="noStrike" baseline="0" dirty="0">
                <a:latin typeface="Minion-Regular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Minion-Regular"/>
              </a:rPr>
              <a:t>P</a:t>
            </a:r>
            <a:r>
              <a:rPr lang="en-IN" sz="2400" b="0" i="0" u="none" strike="noStrike" baseline="0" dirty="0">
                <a:latin typeface="Minion-Regular"/>
              </a:rPr>
              <a:t>artial category can hold a </a:t>
            </a:r>
            <a:r>
              <a:rPr lang="en-IN" sz="2400" b="0" i="1" u="none" strike="noStrike" baseline="0" dirty="0">
                <a:latin typeface="Minion-Italic"/>
              </a:rPr>
              <a:t>subset of the union</a:t>
            </a:r>
            <a:r>
              <a:rPr lang="en-IN" sz="2400" b="0" u="none" strike="noStrike" baseline="0" dirty="0">
                <a:latin typeface="Minion-Italic"/>
              </a:rPr>
              <a:t>.</a:t>
            </a:r>
            <a:endParaRPr lang="en-IN" sz="24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0560" y="1916439"/>
            <a:ext cx="5070825" cy="4839468"/>
          </a:xfrm>
        </p:spPr>
        <p:txBody>
          <a:bodyPr>
            <a:normAutofit/>
          </a:bodyPr>
          <a:lstStyle/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1800" dirty="0"/>
              <a:t>Consider the ternary relationship </a:t>
            </a:r>
            <a:r>
              <a:rPr lang="en-IN" sz="1800" i="1" dirty="0" err="1"/>
              <a:t>proj_guide</a:t>
            </a:r>
            <a:r>
              <a:rPr lang="en-IN" sz="1800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800" dirty="0"/>
              <a:t>Suppose we want to record evaluations of a student by a guide on a project.</a:t>
            </a:r>
          </a:p>
          <a:p>
            <a:endParaRPr lang="en-IN" sz="1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94877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Aggregation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40" y="967666"/>
            <a:ext cx="4950782" cy="44477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1C5937-BC5E-1078-73ED-4533E1E5651C}"/>
              </a:ext>
            </a:extLst>
          </p:cNvPr>
          <p:cNvSpPr txBox="1"/>
          <p:nvPr/>
        </p:nvSpPr>
        <p:spPr>
          <a:xfrm>
            <a:off x="100614" y="1280775"/>
            <a:ext cx="61173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aggregation, the relation between two entities is treated as a single entity. In aggregation, relationship with its corresponding entities is aggregated into a higher level entity.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050" name="Picture 2" descr="DBMS Aggregation">
            <a:extLst>
              <a:ext uri="{FF2B5EF4-FFF2-40B4-BE49-F238E27FC236}">
                <a16:creationId xmlns:a16="http://schemas.microsoft.com/office/drawing/2014/main" id="{DE83EDC1-5F4C-CB9E-6DF8-DB007B70E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013" y="2497635"/>
            <a:ext cx="5180507" cy="2429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863E7D-9D66-A3C0-C2A8-EDDEA8259ED0}"/>
              </a:ext>
            </a:extLst>
          </p:cNvPr>
          <p:cNvSpPr txBox="1"/>
          <p:nvPr/>
        </p:nvSpPr>
        <p:spPr>
          <a:xfrm>
            <a:off x="100614" y="5195648"/>
            <a:ext cx="67777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Center entity offers the Course entity act as a single entity in the relationship which is in a relationship with another entity visitor. In the real world, if a visitor visits a coaching center then he will never enquiry about the Course only or just about the Center instead he will ask the enquiry about both.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6443" y="878888"/>
            <a:ext cx="11017187" cy="5894773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Relationship sets </a:t>
            </a:r>
            <a:r>
              <a:rPr lang="en-IN" i="1" dirty="0" err="1"/>
              <a:t>eval_for</a:t>
            </a:r>
            <a:r>
              <a:rPr lang="en-IN" i="1" dirty="0"/>
              <a:t> </a:t>
            </a:r>
            <a:r>
              <a:rPr lang="en-IN" dirty="0"/>
              <a:t>and </a:t>
            </a:r>
            <a:r>
              <a:rPr lang="en-IN" i="1" dirty="0" err="1"/>
              <a:t>proj_guide</a:t>
            </a:r>
            <a:r>
              <a:rPr lang="en-IN" dirty="0"/>
              <a:t> represent overlapping information.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There is redundant information, since every instructor, student, project combination in </a:t>
            </a:r>
            <a:r>
              <a:rPr lang="en-IN" i="1" dirty="0" err="1"/>
              <a:t>eval_for</a:t>
            </a:r>
            <a:r>
              <a:rPr lang="en-IN" dirty="0"/>
              <a:t> must also be in </a:t>
            </a:r>
            <a:r>
              <a:rPr lang="en-IN" i="1" dirty="0" err="1"/>
              <a:t>proj_guide</a:t>
            </a:r>
            <a:r>
              <a:rPr lang="en-IN" dirty="0"/>
              <a:t>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Every </a:t>
            </a:r>
            <a:r>
              <a:rPr lang="en-IN" i="1" dirty="0" err="1"/>
              <a:t>eval_for</a:t>
            </a:r>
            <a:r>
              <a:rPr lang="en-IN" i="1" dirty="0"/>
              <a:t> </a:t>
            </a:r>
            <a:r>
              <a:rPr lang="en-IN" dirty="0"/>
              <a:t>relationship corresponds to a </a:t>
            </a:r>
            <a:r>
              <a:rPr lang="en-IN" i="1" dirty="0" err="1"/>
              <a:t>proj_guide</a:t>
            </a:r>
            <a:r>
              <a:rPr lang="en-IN" dirty="0"/>
              <a:t> relationship.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ea typeface="MS PGothic" panose="020B0600070205080204" charset="-128"/>
              </a:rPr>
              <a:t>S</a:t>
            </a:r>
            <a:r>
              <a:rPr lang="en-US" altLang="en-US" sz="2800" dirty="0">
                <a:ea typeface="MS PGothic" panose="020B0600070205080204" charset="-128"/>
              </a:rPr>
              <a:t>ome </a:t>
            </a:r>
            <a:r>
              <a:rPr lang="en-US" altLang="en-US" sz="2800" i="1" dirty="0" err="1">
                <a:ea typeface="MS PGothic" panose="020B0600070205080204" charset="-128"/>
              </a:rPr>
              <a:t>proj_guide</a:t>
            </a:r>
            <a:r>
              <a:rPr lang="en-US" altLang="en-US" sz="2800" dirty="0">
                <a:ea typeface="MS PGothic" panose="020B0600070205080204" charset="-128"/>
              </a:rPr>
              <a:t> relationships may not correspond to any </a:t>
            </a:r>
            <a:r>
              <a:rPr lang="en-US" altLang="en-US" sz="2800" i="1" dirty="0" err="1">
                <a:ea typeface="MS PGothic" panose="020B0600070205080204" charset="-128"/>
              </a:rPr>
              <a:t>eval_for</a:t>
            </a:r>
            <a:r>
              <a:rPr lang="en-US" altLang="en-US" sz="2800" dirty="0">
                <a:ea typeface="MS PGothic" panose="020B0600070205080204" charset="-128"/>
              </a:rPr>
              <a:t> relationships.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ea typeface="MS PGothic" panose="020B0600070205080204" charset="-128"/>
              </a:rPr>
              <a:t>W</a:t>
            </a:r>
            <a:r>
              <a:rPr lang="en-US" altLang="en-US" sz="2800" dirty="0">
                <a:ea typeface="MS PGothic" panose="020B0600070205080204" charset="-128"/>
              </a:rPr>
              <a:t>e can’t discard the </a:t>
            </a:r>
            <a:r>
              <a:rPr lang="en-US" altLang="en-US" sz="2800" i="1" dirty="0" err="1">
                <a:ea typeface="MS PGothic" panose="020B0600070205080204" charset="-128"/>
              </a:rPr>
              <a:t>proj_guide</a:t>
            </a:r>
            <a:r>
              <a:rPr lang="en-US" altLang="en-US" sz="2800" dirty="0">
                <a:ea typeface="MS PGothic" panose="020B0600070205080204" charset="-128"/>
              </a:rPr>
              <a:t> relationship.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altLang="en-US" sz="2800" dirty="0">
                <a:ea typeface="MS PGothic" panose="020B0600070205080204" charset="-128"/>
              </a:rPr>
              <a:t>Eliminate this redundancy via </a:t>
            </a:r>
            <a:r>
              <a:rPr lang="en-IN" altLang="en-US" sz="2800" b="1" dirty="0">
                <a:solidFill>
                  <a:srgbClr val="7030A0"/>
                </a:solidFill>
                <a:ea typeface="MS PGothic" panose="020B0600070205080204" charset="-128"/>
              </a:rPr>
              <a:t>aggregation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altLang="en-US" dirty="0">
                <a:ea typeface="MS PGothic" panose="020B0600070205080204" charset="-128"/>
              </a:rPr>
              <a:t>Treat relationship as an abstract entity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altLang="en-US" dirty="0">
                <a:ea typeface="MS PGothic" panose="020B0600070205080204" charset="-128"/>
              </a:rPr>
              <a:t>Allows relationships between relationships 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altLang="en-US" dirty="0">
                <a:ea typeface="MS PGothic" panose="020B0600070205080204" charset="-128"/>
              </a:rPr>
              <a:t>Abstraction of relationship into new entity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altLang="en-US" sz="2800" dirty="0">
              <a:ea typeface="MS PGothic" panose="020B0600070205080204" charset="-128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dirty="0"/>
          </a:p>
          <a:p>
            <a:pPr algn="just">
              <a:lnSpc>
                <a:spcPct val="100000"/>
              </a:lnSpc>
            </a:pP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94877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Aggregation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6322" y="967666"/>
            <a:ext cx="4740676" cy="5788241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Aggregation is an abstraction through which relationships are treated as higher-level entities.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We regard relationship set </a:t>
            </a:r>
            <a:r>
              <a:rPr lang="en-IN" i="1" dirty="0" err="1"/>
              <a:t>proj</a:t>
            </a:r>
            <a:r>
              <a:rPr lang="en-IN" i="1" dirty="0"/>
              <a:t> guide</a:t>
            </a:r>
            <a:r>
              <a:rPr lang="en-IN" dirty="0"/>
              <a:t> (relating entity sets instructor, student, and project) as a higher-level entity set </a:t>
            </a:r>
            <a:r>
              <a:rPr lang="en-IN" i="1" dirty="0" err="1"/>
              <a:t>proj_guide</a:t>
            </a:r>
            <a:r>
              <a:rPr lang="en-IN" dirty="0"/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800" dirty="0">
                <a:ea typeface="MS PGothic" panose="020B0600070205080204" charset="-128"/>
              </a:rPr>
              <a:t>A student is guided by a particular instructor on a particular project.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800" dirty="0">
                <a:ea typeface="MS PGothic" panose="020B0600070205080204" charset="-128"/>
              </a:rPr>
              <a:t>A student, instructor, project combination may have an associated evaluation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94877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Aggregation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89" y="1083762"/>
            <a:ext cx="6130344" cy="4939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94877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097" y="870012"/>
            <a:ext cx="10928411" cy="5885895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One limitation of the E-R model is that it cannot express relationships among relationships.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An ER diagram is not capable of representing relationship between an entity and a relationship which may be required in some scenarios.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In those cases, a relationship with its corresponding entities is aggregated into a higher level entity.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Aggregation is an abstraction through which we can represent relationships as higher level entity sets.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0408" y="905522"/>
            <a:ext cx="4465467" cy="5868140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0" i="0" dirty="0">
                <a:solidFill>
                  <a:srgbClr val="273239"/>
                </a:solidFill>
                <a:effectLst/>
                <a:latin typeface="urw-din"/>
              </a:rPr>
              <a:t>Employee working for a project may require some machinery.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0" i="0" dirty="0">
                <a:solidFill>
                  <a:srgbClr val="273239"/>
                </a:solidFill>
                <a:effectLst/>
                <a:latin typeface="urw-din"/>
              </a:rPr>
              <a:t>REQUIRE relationship is needed between relationship WORKS_FOR and entity MACHINERY.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0" i="0" dirty="0">
                <a:solidFill>
                  <a:srgbClr val="273239"/>
                </a:solidFill>
                <a:effectLst/>
                <a:latin typeface="urw-din"/>
              </a:rPr>
              <a:t>Using aggregation, WORKS_FOR relationship with its entities EMPLOYEE and PROJECT is aggregated into single entity</a:t>
            </a:r>
            <a:r>
              <a:rPr lang="en-IN" dirty="0">
                <a:solidFill>
                  <a:srgbClr val="273239"/>
                </a:solidFill>
                <a:latin typeface="urw-din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273239"/>
                </a:solidFill>
                <a:latin typeface="urw-din"/>
              </a:rPr>
              <a:t>R</a:t>
            </a:r>
            <a:r>
              <a:rPr lang="en-IN" b="0" i="0" dirty="0">
                <a:solidFill>
                  <a:srgbClr val="273239"/>
                </a:solidFill>
                <a:effectLst/>
                <a:latin typeface="urw-din"/>
              </a:rPr>
              <a:t>elationship REQUIRE is created between aggregated entity and MACHINERY.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94877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Aggregation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750" y="843378"/>
            <a:ext cx="6238274" cy="49475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7596" y="18892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Formal Definitions for the EER Model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8586" y="1162974"/>
            <a:ext cx="10928412" cy="5610687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A </a:t>
            </a:r>
            <a:r>
              <a:rPr lang="en-IN" b="1" dirty="0">
                <a:solidFill>
                  <a:srgbClr val="7030A0"/>
                </a:solidFill>
              </a:rPr>
              <a:t>class</a:t>
            </a:r>
            <a:r>
              <a:rPr lang="en-IN" dirty="0"/>
              <a:t> is a set or collection of entities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dirty="0"/>
              <a:t>could be entity type, subclass, superclass, or category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altLang="en-US" b="1" dirty="0">
                <a:solidFill>
                  <a:srgbClr val="7030A0"/>
                </a:solidFill>
              </a:rPr>
              <a:t>Subclass</a:t>
            </a:r>
            <a:r>
              <a:rPr lang="en-IN" altLang="en-US" dirty="0"/>
              <a:t> S is a class whose: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altLang="en-US" dirty="0"/>
              <a:t>Type inherits all the attributes and relationship of a class C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altLang="en-US" dirty="0"/>
              <a:t>Set of entities must always be a subset of the set of entities of the other class C</a:t>
            </a:r>
          </a:p>
          <a:p>
            <a:pPr lvl="2" algn="just"/>
            <a:r>
              <a:rPr lang="en-IN" altLang="en-US" dirty="0"/>
              <a:t>S ⊆ C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altLang="en-US" dirty="0"/>
              <a:t>C is called the superclass of 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altLang="en-US" dirty="0"/>
              <a:t>A superclass/subclass relationship exists between S and C.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7030A0"/>
                </a:solidFill>
              </a:rPr>
              <a:t>Specialization</a:t>
            </a:r>
            <a:r>
              <a:rPr lang="en-US" altLang="en-US" dirty="0"/>
              <a:t> Z = {S</a:t>
            </a:r>
            <a:r>
              <a:rPr lang="en-US" altLang="en-US" baseline="-25000" dirty="0"/>
              <a:t>1</a:t>
            </a:r>
            <a:r>
              <a:rPr lang="en-US" altLang="en-US" dirty="0"/>
              <a:t>, S</a:t>
            </a:r>
            <a:r>
              <a:rPr lang="en-US" altLang="en-US" baseline="-25000" dirty="0"/>
              <a:t>2</a:t>
            </a:r>
            <a:r>
              <a:rPr lang="en-US" altLang="en-US" dirty="0"/>
              <a:t>,…, S</a:t>
            </a:r>
            <a:r>
              <a:rPr lang="en-US" altLang="en-US" baseline="-25000" dirty="0"/>
              <a:t>n</a:t>
            </a:r>
            <a:r>
              <a:rPr lang="en-US" altLang="en-US" dirty="0"/>
              <a:t>} is a set of subclasses with same superclass G.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altLang="en-US" dirty="0"/>
              <a:t>G is called generalized entity type (or the superclass of the specialization, or </a:t>
            </a:r>
            <a:r>
              <a:rPr lang="en-IN" altLang="en-US" b="1" dirty="0">
                <a:solidFill>
                  <a:srgbClr val="7030A0"/>
                </a:solidFill>
              </a:rPr>
              <a:t>generalization </a:t>
            </a:r>
            <a:r>
              <a:rPr lang="en-IN" altLang="en-US" dirty="0"/>
              <a:t>of the subclasses {S</a:t>
            </a:r>
            <a:r>
              <a:rPr lang="en-IN" altLang="en-US" baseline="-25000" dirty="0"/>
              <a:t>1</a:t>
            </a:r>
            <a:r>
              <a:rPr lang="en-IN" altLang="en-US" dirty="0"/>
              <a:t>, S</a:t>
            </a:r>
            <a:r>
              <a:rPr lang="en-IN" altLang="en-US" baseline="-25000" dirty="0"/>
              <a:t>2</a:t>
            </a:r>
            <a:r>
              <a:rPr lang="en-IN" altLang="en-US" dirty="0"/>
              <a:t>, ..., S</a:t>
            </a:r>
            <a:r>
              <a:rPr lang="en-IN" altLang="en-US" baseline="-25000" dirty="0"/>
              <a:t>n</a:t>
            </a:r>
            <a:r>
              <a:rPr lang="en-IN" altLang="en-US" dirty="0"/>
              <a:t>}).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alt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6342" y="1100830"/>
            <a:ext cx="10946166" cy="566395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Z is </a:t>
            </a:r>
            <a:r>
              <a:rPr lang="en-IN" b="1" dirty="0">
                <a:solidFill>
                  <a:srgbClr val="7030A0"/>
                </a:solidFill>
              </a:rPr>
              <a:t>total</a:t>
            </a:r>
            <a:r>
              <a:rPr lang="en-IN" dirty="0"/>
              <a:t> if we always have: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S</a:t>
            </a:r>
            <a:r>
              <a:rPr lang="en-IN" baseline="-25000" dirty="0"/>
              <a:t>1</a:t>
            </a:r>
            <a:r>
              <a:rPr lang="en-IN" dirty="0"/>
              <a:t> ∪ S</a:t>
            </a:r>
            <a:r>
              <a:rPr lang="en-IN" baseline="-25000" dirty="0"/>
              <a:t>2</a:t>
            </a:r>
            <a:r>
              <a:rPr lang="en-IN" dirty="0"/>
              <a:t> ∪ … ∪ S</a:t>
            </a:r>
            <a:r>
              <a:rPr lang="en-IN" baseline="-25000" dirty="0"/>
              <a:t>n</a:t>
            </a:r>
            <a:r>
              <a:rPr lang="en-IN" dirty="0"/>
              <a:t> = 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Otherwise, Z is </a:t>
            </a:r>
            <a:r>
              <a:rPr lang="en-IN" dirty="0">
                <a:solidFill>
                  <a:srgbClr val="7030A0"/>
                </a:solidFill>
              </a:rPr>
              <a:t>partial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Z is </a:t>
            </a:r>
            <a:r>
              <a:rPr lang="en-IN" b="1" dirty="0">
                <a:solidFill>
                  <a:srgbClr val="7030A0"/>
                </a:solidFill>
              </a:rPr>
              <a:t>disjoint</a:t>
            </a:r>
            <a:r>
              <a:rPr lang="en-IN" dirty="0"/>
              <a:t> if we always have: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S</a:t>
            </a:r>
            <a:r>
              <a:rPr lang="en-IN" baseline="-25000" dirty="0"/>
              <a:t>i</a:t>
            </a:r>
            <a:r>
              <a:rPr lang="en-IN" dirty="0"/>
              <a:t> ∩ </a:t>
            </a:r>
            <a:r>
              <a:rPr lang="en-IN" dirty="0" err="1"/>
              <a:t>S</a:t>
            </a:r>
            <a:r>
              <a:rPr lang="en-IN" baseline="-25000" dirty="0" err="1"/>
              <a:t>j</a:t>
            </a:r>
            <a:r>
              <a:rPr lang="en-IN" dirty="0"/>
              <a:t> = Ø (empty-set) for </a:t>
            </a:r>
            <a:r>
              <a:rPr lang="en-IN" dirty="0" err="1"/>
              <a:t>i</a:t>
            </a:r>
            <a:r>
              <a:rPr lang="en-IN" dirty="0"/>
              <a:t> ≠ j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Otherwise, Z is </a:t>
            </a:r>
            <a:r>
              <a:rPr lang="en-US" altLang="en-US" b="1" dirty="0">
                <a:solidFill>
                  <a:srgbClr val="7030A0"/>
                </a:solidFill>
              </a:rPr>
              <a:t>overlapping</a:t>
            </a:r>
            <a:r>
              <a:rPr lang="en-US" alt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7030A0"/>
                </a:solidFill>
              </a:rPr>
              <a:t>Category</a:t>
            </a:r>
            <a:r>
              <a:rPr lang="en-IN" dirty="0"/>
              <a:t> or </a:t>
            </a:r>
            <a:r>
              <a:rPr lang="en-IN" b="1" dirty="0">
                <a:solidFill>
                  <a:srgbClr val="7030A0"/>
                </a:solidFill>
              </a:rPr>
              <a:t>UNION type </a:t>
            </a:r>
            <a:r>
              <a:rPr lang="en-IN" dirty="0"/>
              <a:t>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A class that is a subset of the union of n different </a:t>
            </a:r>
            <a:r>
              <a:rPr lang="en-IN" dirty="0" err="1"/>
              <a:t>superclasses</a:t>
            </a:r>
            <a:r>
              <a:rPr lang="en-IN" dirty="0"/>
              <a:t> D</a:t>
            </a:r>
            <a:r>
              <a:rPr lang="en-IN" baseline="-25000" dirty="0"/>
              <a:t>1</a:t>
            </a:r>
            <a:r>
              <a:rPr lang="en-IN" dirty="0"/>
              <a:t>, D</a:t>
            </a:r>
            <a:r>
              <a:rPr lang="en-IN" baseline="-25000" dirty="0"/>
              <a:t>2</a:t>
            </a:r>
            <a:r>
              <a:rPr lang="en-IN" dirty="0"/>
              <a:t>,…,</a:t>
            </a:r>
            <a:r>
              <a:rPr lang="en-IN" dirty="0" err="1"/>
              <a:t>D</a:t>
            </a:r>
            <a:r>
              <a:rPr lang="en-IN" baseline="-25000" dirty="0" err="1"/>
              <a:t>n</a:t>
            </a:r>
            <a:r>
              <a:rPr lang="en-IN" dirty="0"/>
              <a:t>, n&gt;1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T ⊆ (D</a:t>
            </a:r>
            <a:r>
              <a:rPr lang="en-IN" baseline="-25000" dirty="0"/>
              <a:t>1</a:t>
            </a:r>
            <a:r>
              <a:rPr lang="en-IN" dirty="0"/>
              <a:t> ∪ D</a:t>
            </a:r>
            <a:r>
              <a:rPr lang="en-IN" baseline="-25000" dirty="0"/>
              <a:t>2</a:t>
            </a:r>
            <a:r>
              <a:rPr lang="en-IN" dirty="0"/>
              <a:t> ∪ … ∪ </a:t>
            </a:r>
            <a:r>
              <a:rPr lang="en-IN" dirty="0" err="1"/>
              <a:t>D</a:t>
            </a:r>
            <a:r>
              <a:rPr lang="en-IN" baseline="-25000" dirty="0" err="1"/>
              <a:t>n</a:t>
            </a:r>
            <a:r>
              <a:rPr lang="en-IN" dirty="0"/>
              <a:t>)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  <a:p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317596" y="18892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Formal Definitions for the EER Model Concepts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2507</Words>
  <Application>Microsoft Office PowerPoint</Application>
  <PresentationFormat>Widescreen</PresentationFormat>
  <Paragraphs>267</Paragraphs>
  <Slides>37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Arial</vt:lpstr>
      <vt:lpstr>Calibri</vt:lpstr>
      <vt:lpstr>Calibri Light</vt:lpstr>
      <vt:lpstr>Courier New</vt:lpstr>
      <vt:lpstr>Minion-Bold</vt:lpstr>
      <vt:lpstr>Minion-Italic</vt:lpstr>
      <vt:lpstr>Minion-Regular</vt:lpstr>
      <vt:lpstr>Nunito</vt:lpstr>
      <vt:lpstr>Times New Roman</vt:lpstr>
      <vt:lpstr>urw-din</vt:lpstr>
      <vt:lpstr>Wingdings</vt:lpstr>
      <vt:lpstr>Office Theme</vt:lpstr>
      <vt:lpstr>Extended Entity-Relationship  (EER) Model</vt:lpstr>
      <vt:lpstr>EER Model</vt:lpstr>
      <vt:lpstr>Subclass and Superclass</vt:lpstr>
      <vt:lpstr>Subclass and Superclass </vt:lpstr>
      <vt:lpstr>Subclass and Superclass </vt:lpstr>
      <vt:lpstr>Subclass and Superclass </vt:lpstr>
      <vt:lpstr>EER diagram notation to represent subclasses and specialization</vt:lpstr>
      <vt:lpstr>Inheritance</vt:lpstr>
      <vt:lpstr>Specialization</vt:lpstr>
      <vt:lpstr>Specialization</vt:lpstr>
      <vt:lpstr>Specialization</vt:lpstr>
      <vt:lpstr>Specialization</vt:lpstr>
      <vt:lpstr>Specialization</vt:lpstr>
      <vt:lpstr>GENERALIZATION</vt:lpstr>
      <vt:lpstr>Generalization</vt:lpstr>
      <vt:lpstr>Generalization</vt:lpstr>
      <vt:lpstr>Notations for Generalization and Specialization</vt:lpstr>
      <vt:lpstr>Generalization</vt:lpstr>
      <vt:lpstr>PowerPoint Presentation</vt:lpstr>
      <vt:lpstr>Constraints</vt:lpstr>
      <vt:lpstr>Constraints</vt:lpstr>
      <vt:lpstr>Example of disjoint partial Specialization</vt:lpstr>
      <vt:lpstr>Example of overlapping total Specialization</vt:lpstr>
      <vt:lpstr>Specialization/Generalization Hierarchies</vt:lpstr>
      <vt:lpstr>Specialization lattice</vt:lpstr>
      <vt:lpstr>Specialization/Generalization Hierarchies and Lattices</vt:lpstr>
      <vt:lpstr>Specialization / Generalization Lattice Example (UNIVERSITY)</vt:lpstr>
      <vt:lpstr>Categories (UNION TYPES) </vt:lpstr>
      <vt:lpstr>PowerPoint Presentation</vt:lpstr>
      <vt:lpstr>PowerPoint Presentation</vt:lpstr>
      <vt:lpstr>Aggregation</vt:lpstr>
      <vt:lpstr>Aggregation</vt:lpstr>
      <vt:lpstr>Aggregation</vt:lpstr>
      <vt:lpstr>Aggregation</vt:lpstr>
      <vt:lpstr>Aggregation</vt:lpstr>
      <vt:lpstr>Formal Definitions for the EER Model Concepts</vt:lpstr>
      <vt:lpstr>Formal Definitions for the EER Model Concepts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Enhanced Entity-Relationship  (EER) Modeling</dc:title>
  <dc:creator>PRATIK ROY</dc:creator>
  <cp:lastModifiedBy>Mohd. Aquib Ansari</cp:lastModifiedBy>
  <cp:revision>45</cp:revision>
  <dcterms:created xsi:type="dcterms:W3CDTF">2021-09-28T02:26:00Z</dcterms:created>
  <dcterms:modified xsi:type="dcterms:W3CDTF">2022-09-14T08:03:33Z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1125C3C5BFB8473CBF62F9A658AC7DF6</vt:lpwstr>
  </property>
  <property fmtid="{D5CDD505-2E9C-101B-9397-08002B2CF9AE}" pid="3" name="KSOProductBuildVer">
    <vt:lpwstr>1033-11.2.0.10463</vt:lpwstr>
  </property>
</Properties>
</file>