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2"/>
    <p:sldId id="257" r:id="rId3"/>
    <p:sldId id="366" r:id="rId4"/>
    <p:sldId id="367" r:id="rId5"/>
    <p:sldId id="368" r:id="rId6"/>
    <p:sldId id="370" r:id="rId7"/>
    <p:sldId id="369" r:id="rId8"/>
    <p:sldId id="371" r:id="rId9"/>
    <p:sldId id="372" r:id="rId10"/>
    <p:sldId id="373" r:id="rId11"/>
    <p:sldId id="374" r:id="rId12"/>
    <p:sldId id="375" r:id="rId13"/>
    <p:sldId id="376" r:id="rId14"/>
    <p:sldId id="377" r:id="rId15"/>
    <p:sldId id="378" r:id="rId16"/>
    <p:sldId id="379" r:id="rId17"/>
    <p:sldId id="381" r:id="rId18"/>
    <p:sldId id="382" r:id="rId19"/>
    <p:sldId id="383" r:id="rId20"/>
    <p:sldId id="384" r:id="rId21"/>
    <p:sldId id="385" r:id="rId22"/>
    <p:sldId id="386" r:id="rId23"/>
    <p:sldId id="388" r:id="rId24"/>
    <p:sldId id="387" r:id="rId25"/>
    <p:sldId id="389" r:id="rId26"/>
    <p:sldId id="390" r:id="rId27"/>
    <p:sldId id="391" r:id="rId28"/>
    <p:sldId id="392" r:id="rId29"/>
    <p:sldId id="393" r:id="rId30"/>
    <p:sldId id="394" r:id="rId31"/>
    <p:sldId id="395" r:id="rId32"/>
    <p:sldId id="396" r:id="rId33"/>
    <p:sldId id="397" r:id="rId34"/>
    <p:sldId id="398" r:id="rId35"/>
    <p:sldId id="399" r:id="rId36"/>
    <p:sldId id="417" r:id="rId37"/>
    <p:sldId id="418" r:id="rId38"/>
    <p:sldId id="419" r:id="rId39"/>
    <p:sldId id="420" r:id="rId40"/>
    <p:sldId id="400" r:id="rId41"/>
    <p:sldId id="401" r:id="rId42"/>
    <p:sldId id="402" r:id="rId43"/>
    <p:sldId id="403" r:id="rId44"/>
    <p:sldId id="404" r:id="rId45"/>
    <p:sldId id="405" r:id="rId46"/>
    <p:sldId id="421" r:id="rId47"/>
    <p:sldId id="406" r:id="rId48"/>
    <p:sldId id="407" r:id="rId49"/>
    <p:sldId id="408" r:id="rId50"/>
    <p:sldId id="409" r:id="rId51"/>
    <p:sldId id="410" r:id="rId52"/>
    <p:sldId id="411" r:id="rId53"/>
    <p:sldId id="412" r:id="rId54"/>
    <p:sldId id="413" r:id="rId55"/>
    <p:sldId id="414" r:id="rId56"/>
    <p:sldId id="41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186" autoAdjust="0"/>
  </p:normalViewPr>
  <p:slideViewPr>
    <p:cSldViewPr snapToGrid="0">
      <p:cViewPr>
        <p:scale>
          <a:sx n="70" d="100"/>
          <a:sy n="70" d="100"/>
        </p:scale>
        <p:origin x="1166" y="67"/>
      </p:cViewPr>
      <p:guideLst>
        <p:guide orient="horz" pos="220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92CBED-50DA-455F-88E5-7B058048E7AA}" type="datetimeFigureOut">
              <a:rPr lang="en-IN" smtClean="0"/>
              <a:t>08-09-2022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47490D-ACFE-46B2-85A5-34A660371A07}"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43434"/>
                </a:solidFill>
                <a:effectLst/>
                <a:latin typeface="roboto" panose="02000000000000000000" pitchFamily="2" charset="0"/>
              </a:rPr>
              <a:t>In a Relationship, </a:t>
            </a:r>
            <a:r>
              <a:rPr lang="en-US" dirty="0"/>
              <a:t>Participation constraint</a:t>
            </a:r>
            <a:r>
              <a:rPr lang="en-US" b="0" i="0" dirty="0">
                <a:solidFill>
                  <a:srgbClr val="343434"/>
                </a:solidFill>
                <a:effectLst/>
                <a:latin typeface="roboto" panose="02000000000000000000" pitchFamily="2" charset="0"/>
              </a:rPr>
              <a:t> specifies the presence of an entity when it is related to another entity in a relationship type. It is also called the minimum cardinality constraint.</a:t>
            </a:r>
          </a:p>
          <a:p>
            <a:endParaRPr lang="en-US" b="0" i="0" dirty="0">
              <a:solidFill>
                <a:srgbClr val="343434"/>
              </a:solidFill>
              <a:effectLst/>
              <a:latin typeface="roboto" panose="02000000000000000000" pitchFamily="2" charset="0"/>
            </a:endParaRPr>
          </a:p>
          <a:p>
            <a:r>
              <a:rPr lang="en-US" b="0" i="0" dirty="0">
                <a:solidFill>
                  <a:srgbClr val="343434"/>
                </a:solidFill>
                <a:effectLst/>
                <a:latin typeface="roboto" panose="02000000000000000000" pitchFamily="2" charset="0"/>
              </a:rPr>
              <a:t>This constraint </a:t>
            </a:r>
            <a:r>
              <a:rPr lang="en-US" b="1" i="0" dirty="0">
                <a:solidFill>
                  <a:srgbClr val="343434"/>
                </a:solidFill>
                <a:effectLst/>
                <a:latin typeface="roboto" panose="02000000000000000000" pitchFamily="2" charset="0"/>
              </a:rPr>
              <a:t>specifies the number of instances of an entity that are participating in the relationship type.</a:t>
            </a:r>
            <a:endParaRPr lang="en-US" dirty="0"/>
          </a:p>
        </p:txBody>
      </p:sp>
      <p:sp>
        <p:nvSpPr>
          <p:cNvPr id="4" name="Slide Number Placeholder 3"/>
          <p:cNvSpPr>
            <a:spLocks noGrp="1"/>
          </p:cNvSpPr>
          <p:nvPr>
            <p:ph type="sldNum" sz="quarter" idx="5"/>
          </p:nvPr>
        </p:nvSpPr>
        <p:spPr/>
        <p:txBody>
          <a:bodyPr/>
          <a:lstStyle/>
          <a:p>
            <a:fld id="{DB47490D-ACFE-46B2-85A5-34A660371A07}" type="slidenum">
              <a:rPr lang="en-IN" smtClean="0"/>
              <a:t>40</a:t>
            </a:fld>
            <a:endParaRPr lang="en-IN"/>
          </a:p>
        </p:txBody>
      </p:sp>
    </p:spTree>
    <p:extLst>
      <p:ext uri="{BB962C8B-B14F-4D97-AF65-F5344CB8AC3E}">
        <p14:creationId xmlns:p14="http://schemas.microsoft.com/office/powerpoint/2010/main" val="1272317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For example, A company may store the information of dependents (Parents, Children, Spouse) of an Employee. But the dependents don’t have existence without the employee. So Dependent will be weak entity type and Employee will be Identifying Entity type for Dependent.</a:t>
            </a:r>
            <a:endParaRPr lang="en-US" dirty="0"/>
          </a:p>
        </p:txBody>
      </p:sp>
      <p:sp>
        <p:nvSpPr>
          <p:cNvPr id="4" name="Slide Number Placeholder 3"/>
          <p:cNvSpPr>
            <a:spLocks noGrp="1"/>
          </p:cNvSpPr>
          <p:nvPr>
            <p:ph type="sldNum" sz="quarter" idx="5"/>
          </p:nvPr>
        </p:nvSpPr>
        <p:spPr/>
        <p:txBody>
          <a:bodyPr/>
          <a:lstStyle/>
          <a:p>
            <a:fld id="{DB47490D-ACFE-46B2-85A5-34A660371A07}" type="slidenum">
              <a:rPr lang="en-IN" smtClean="0"/>
              <a:t>44</a:t>
            </a:fld>
            <a:endParaRPr lang="en-IN"/>
          </a:p>
        </p:txBody>
      </p:sp>
    </p:spTree>
    <p:extLst>
      <p:ext uri="{BB962C8B-B14F-4D97-AF65-F5344CB8AC3E}">
        <p14:creationId xmlns:p14="http://schemas.microsoft.com/office/powerpoint/2010/main" val="19070284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The set of attributes that are used to uniquely identify a weak entity set is called the Partial key. Only a bunch of the tuples can be identified using the partial keys. The partial Key of the weak entity set is also known as a discriminator.</a:t>
            </a:r>
          </a:p>
          <a:p>
            <a:endParaRPr lang="en-US" b="0" i="0" dirty="0">
              <a:solidFill>
                <a:srgbClr val="273239"/>
              </a:solidFill>
              <a:effectLst/>
              <a:latin typeface="urw-din"/>
            </a:endParaRPr>
          </a:p>
        </p:txBody>
      </p:sp>
      <p:sp>
        <p:nvSpPr>
          <p:cNvPr id="4" name="Slide Number Placeholder 3"/>
          <p:cNvSpPr>
            <a:spLocks noGrp="1"/>
          </p:cNvSpPr>
          <p:nvPr>
            <p:ph type="sldNum" sz="quarter" idx="5"/>
          </p:nvPr>
        </p:nvSpPr>
        <p:spPr/>
        <p:txBody>
          <a:bodyPr/>
          <a:lstStyle/>
          <a:p>
            <a:fld id="{DB47490D-ACFE-46B2-85A5-34A660371A07}" type="slidenum">
              <a:rPr lang="en-IN" smtClean="0"/>
              <a:t>45</a:t>
            </a:fld>
            <a:endParaRPr lang="en-IN"/>
          </a:p>
        </p:txBody>
      </p:sp>
    </p:spTree>
    <p:extLst>
      <p:ext uri="{BB962C8B-B14F-4D97-AF65-F5344CB8AC3E}">
        <p14:creationId xmlns:p14="http://schemas.microsoft.com/office/powerpoint/2010/main" val="8229380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73239"/>
                </a:solidFill>
                <a:effectLst/>
                <a:latin typeface="urw-din"/>
              </a:rPr>
              <a:t>Here we have an apartment as a weak entity and building as a strong entity type connected via ‘belongs to’ relationship set. Apartment number is not globally unique i.e. more than one apartment may have same number globally but it is unique for a particular building since a building may not have same apartment number. Thus apartment number cannot be primary key of entity Apartment but it is a partial key shown with a dashed line.</a:t>
            </a:r>
            <a:endParaRPr lang="en-US" dirty="0"/>
          </a:p>
          <a:p>
            <a:endParaRPr lang="en-US" dirty="0"/>
          </a:p>
        </p:txBody>
      </p:sp>
      <p:sp>
        <p:nvSpPr>
          <p:cNvPr id="4" name="Slide Number Placeholder 3"/>
          <p:cNvSpPr>
            <a:spLocks noGrp="1"/>
          </p:cNvSpPr>
          <p:nvPr>
            <p:ph type="sldNum" sz="quarter" idx="5"/>
          </p:nvPr>
        </p:nvSpPr>
        <p:spPr/>
        <p:txBody>
          <a:bodyPr/>
          <a:lstStyle/>
          <a:p>
            <a:fld id="{DB47490D-ACFE-46B2-85A5-34A660371A07}" type="slidenum">
              <a:rPr lang="en-IN" smtClean="0"/>
              <a:t>46</a:t>
            </a:fld>
            <a:endParaRPr lang="en-IN"/>
          </a:p>
        </p:txBody>
      </p:sp>
    </p:spTree>
    <p:extLst>
      <p:ext uri="{BB962C8B-B14F-4D97-AF65-F5344CB8AC3E}">
        <p14:creationId xmlns:p14="http://schemas.microsoft.com/office/powerpoint/2010/main" val="3294927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64F171-40B6-40A3-9726-F606593A7691}" type="datetimeFigureOut">
              <a:rPr lang="en-IN" smtClean="0"/>
              <a:t>08-09-2022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64F171-40B6-40A3-9726-F606593A7691}" type="datetimeFigureOut">
              <a:rPr lang="en-IN" smtClean="0"/>
              <a:t>08-09-2022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4F171-40B6-40A3-9726-F606593A7691}" type="datetimeFigureOut">
              <a:rPr lang="en-IN" smtClean="0"/>
              <a:t>08-09-2022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C64F171-40B6-40A3-9726-F606593A7691}" type="datetimeFigureOut">
              <a:rPr lang="en-IN" smtClean="0"/>
              <a:t>08-09-2022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C64F171-40B6-40A3-9726-F606593A7691}" type="datetimeFigureOut">
              <a:rPr lang="en-IN" smtClean="0"/>
              <a:t>08-09-2022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64F171-40B6-40A3-9726-F606593A7691}" type="datetimeFigureOut">
              <a:rPr lang="en-IN" smtClean="0"/>
              <a:t>08-09-2022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4F171-40B6-40A3-9726-F606593A7691}" type="datetimeFigureOut">
              <a:rPr lang="en-IN" smtClean="0"/>
              <a:t>08-09-2022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4F171-40B6-40A3-9726-F606593A7691}" type="datetimeFigureOut">
              <a:rPr lang="en-IN" smtClean="0"/>
              <a:t>08-09-2022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4F171-40B6-40A3-9726-F606593A7691}" type="datetimeFigureOut">
              <a:rPr lang="en-IN" smtClean="0"/>
              <a:t>08-09-2022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64F171-40B6-40A3-9726-F606593A7691}" type="datetimeFigureOut">
              <a:rPr lang="en-IN" smtClean="0"/>
              <a:t>08-09-2022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C64F171-40B6-40A3-9726-F606593A7691}" type="datetimeFigureOut">
              <a:rPr lang="en-IN" smtClean="0"/>
              <a:t>08-09-2022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964F16-121D-4FA0-BCC3-756DE9CB561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64F171-40B6-40A3-9726-F606593A7691}" type="datetimeFigureOut">
              <a:rPr lang="en-IN" smtClean="0"/>
              <a:t>08-09-2022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964F16-121D-4FA0-BCC3-756DE9CB5613}" type="slidenum">
              <a:rPr lang="en-IN" smtClean="0"/>
              <a:t>‹#›</a:t>
            </a:fld>
            <a:endParaRPr lang="en-IN"/>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5922" y="0"/>
            <a:ext cx="924858" cy="89711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22.emf"/><Relationship Id="rId7" Type="http://schemas.openxmlformats.org/officeDocument/2006/relationships/image" Target="../media/image26.emf"/><Relationship Id="rId12" Type="http://schemas.openxmlformats.org/officeDocument/2006/relationships/image" Target="../media/image31.emf"/><Relationship Id="rId2" Type="http://schemas.openxmlformats.org/officeDocument/2006/relationships/image" Target="../media/image21.emf"/><Relationship Id="rId1" Type="http://schemas.openxmlformats.org/officeDocument/2006/relationships/slideLayout" Target="../slideLayouts/slideLayout2.xml"/><Relationship Id="rId6" Type="http://schemas.openxmlformats.org/officeDocument/2006/relationships/image" Target="../media/image25.emf"/><Relationship Id="rId11" Type="http://schemas.openxmlformats.org/officeDocument/2006/relationships/image" Target="../media/image30.emf"/><Relationship Id="rId5" Type="http://schemas.openxmlformats.org/officeDocument/2006/relationships/image" Target="../media/image24.emf"/><Relationship Id="rId10" Type="http://schemas.openxmlformats.org/officeDocument/2006/relationships/image" Target="../media/image29.emf"/><Relationship Id="rId4" Type="http://schemas.openxmlformats.org/officeDocument/2006/relationships/image" Target="../media/image23.emf"/><Relationship Id="rId9" Type="http://schemas.openxmlformats.org/officeDocument/2006/relationships/image" Target="../media/image2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3278" y="89024"/>
            <a:ext cx="10117584" cy="2387600"/>
          </a:xfrm>
        </p:spPr>
        <p:txBody>
          <a:bodyPr/>
          <a:lstStyle/>
          <a:p>
            <a:r>
              <a:rPr lang="en-US" sz="6000" b="1" dirty="0">
                <a:solidFill>
                  <a:schemeClr val="accent2">
                    <a:lumMod val="50000"/>
                  </a:schemeClr>
                </a:solidFill>
                <a:ea typeface="MS PGothic" panose="020B0600070205080204" charset="-128"/>
              </a:rPr>
              <a:t>Entity-Relationship (ER) Model</a:t>
            </a:r>
            <a:endParaRPr lang="en-IN" b="1" dirty="0">
              <a:solidFill>
                <a:schemeClr val="accent2">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15"/>
            <a:ext cx="10515600" cy="1002039"/>
          </a:xfrm>
        </p:spPr>
        <p:txBody>
          <a:bodyPr/>
          <a:lstStyle/>
          <a:p>
            <a:pPr algn="ctr"/>
            <a:r>
              <a:rPr lang="en-IN" b="1" dirty="0">
                <a:solidFill>
                  <a:schemeClr val="accent4">
                    <a:lumMod val="50000"/>
                  </a:schemeClr>
                </a:solidFill>
              </a:rPr>
              <a:t>Database Design</a:t>
            </a:r>
          </a:p>
        </p:txBody>
      </p:sp>
      <p:sp>
        <p:nvSpPr>
          <p:cNvPr id="3" name="Content Placeholder 2"/>
          <p:cNvSpPr>
            <a:spLocks noGrp="1"/>
          </p:cNvSpPr>
          <p:nvPr>
            <p:ph idx="1"/>
          </p:nvPr>
        </p:nvSpPr>
        <p:spPr>
          <a:xfrm>
            <a:off x="976845" y="875055"/>
            <a:ext cx="10768613" cy="5850384"/>
          </a:xfrm>
        </p:spPr>
        <p:txBody>
          <a:bodyPr/>
          <a:lstStyle/>
          <a:p>
            <a:pPr algn="just">
              <a:lnSpc>
                <a:spcPct val="100000"/>
              </a:lnSpc>
              <a:buFont typeface="Wingdings" panose="05000000000000000000" pitchFamily="2" charset="2"/>
              <a:buChar char="q"/>
            </a:pPr>
            <a:r>
              <a:rPr lang="en-IN" b="1" dirty="0">
                <a:solidFill>
                  <a:srgbClr val="7030A0"/>
                </a:solidFill>
              </a:rPr>
              <a:t>Requirements collection and analysis</a:t>
            </a:r>
          </a:p>
          <a:p>
            <a:pPr lvl="1" algn="just">
              <a:lnSpc>
                <a:spcPct val="100000"/>
              </a:lnSpc>
              <a:buFont typeface="Wingdings" panose="05000000000000000000" pitchFamily="2" charset="2"/>
              <a:buChar char="§"/>
            </a:pPr>
            <a:r>
              <a:rPr lang="en-IN" dirty="0"/>
              <a:t>Database designers interview database users to understand and document their data requirements.</a:t>
            </a:r>
          </a:p>
          <a:p>
            <a:pPr lvl="1" algn="just">
              <a:lnSpc>
                <a:spcPct val="100000"/>
              </a:lnSpc>
              <a:buFont typeface="Wingdings" panose="05000000000000000000" pitchFamily="2" charset="2"/>
              <a:buChar char="§"/>
            </a:pPr>
            <a:r>
              <a:rPr lang="en-IN" dirty="0"/>
              <a:t>Result of this step is a concisely written set of users’ requirements.</a:t>
            </a:r>
          </a:p>
          <a:p>
            <a:pPr algn="just">
              <a:lnSpc>
                <a:spcPct val="100000"/>
              </a:lnSpc>
              <a:buFont typeface="Wingdings" panose="05000000000000000000" pitchFamily="2" charset="2"/>
              <a:buChar char="q"/>
            </a:pPr>
            <a:r>
              <a:rPr lang="en-IN" dirty="0"/>
              <a:t>Once the requirements have been collected and </a:t>
            </a:r>
            <a:r>
              <a:rPr lang="en-IN" dirty="0" err="1"/>
              <a:t>analyzed</a:t>
            </a:r>
            <a:r>
              <a:rPr lang="en-IN" dirty="0"/>
              <a:t>, the next step is to create a </a:t>
            </a:r>
            <a:r>
              <a:rPr lang="en-IN" b="1" dirty="0">
                <a:solidFill>
                  <a:srgbClr val="7030A0"/>
                </a:solidFill>
              </a:rPr>
              <a:t>conceptual schema </a:t>
            </a:r>
            <a:r>
              <a:rPr lang="en-IN" dirty="0"/>
              <a:t>for the database, using a high-level conceptual data model. This step is called </a:t>
            </a:r>
            <a:r>
              <a:rPr lang="en-IN" b="1" dirty="0">
                <a:solidFill>
                  <a:srgbClr val="7030A0"/>
                </a:solidFill>
              </a:rPr>
              <a:t>conceptual design</a:t>
            </a:r>
            <a:r>
              <a:rPr lang="en-IN" dirty="0"/>
              <a:t>.</a:t>
            </a:r>
          </a:p>
          <a:p>
            <a:pPr algn="just">
              <a:lnSpc>
                <a:spcPct val="100000"/>
              </a:lnSpc>
              <a:buFont typeface="Wingdings" panose="05000000000000000000" pitchFamily="2" charset="2"/>
              <a:buChar char="q"/>
            </a:pPr>
            <a:r>
              <a:rPr lang="en-IN" dirty="0"/>
              <a:t>Conceptual schema is a concise description of the data requirements of the users and includes detailed descriptions of the entity types, relationships, and constraints; these are expressed using the concepts provided by the high-level data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2"/>
            <a:ext cx="10515600" cy="1325563"/>
          </a:xfrm>
        </p:spPr>
        <p:txBody>
          <a:bodyPr/>
          <a:lstStyle/>
          <a:p>
            <a:pPr algn="ctr"/>
            <a:r>
              <a:rPr lang="en-IN" b="1" dirty="0">
                <a:solidFill>
                  <a:schemeClr val="accent4">
                    <a:lumMod val="50000"/>
                  </a:schemeClr>
                </a:solidFill>
              </a:rPr>
              <a:t>Example COMPANY Database</a:t>
            </a:r>
          </a:p>
        </p:txBody>
      </p:sp>
      <p:sp>
        <p:nvSpPr>
          <p:cNvPr id="3" name="Content Placeholder 2"/>
          <p:cNvSpPr>
            <a:spLocks noGrp="1"/>
          </p:cNvSpPr>
          <p:nvPr>
            <p:ph idx="1"/>
          </p:nvPr>
        </p:nvSpPr>
        <p:spPr>
          <a:xfrm>
            <a:off x="596265" y="1092200"/>
            <a:ext cx="10688320" cy="5646420"/>
          </a:xfrm>
        </p:spPr>
        <p:txBody>
          <a:bodyPr>
            <a:normAutofit/>
          </a:bodyPr>
          <a:lstStyle/>
          <a:p>
            <a:pPr algn="just">
              <a:lnSpc>
                <a:spcPct val="100000"/>
              </a:lnSpc>
              <a:buFont typeface="Wingdings" panose="05000000000000000000" pitchFamily="2" charset="2"/>
              <a:buChar char="q"/>
            </a:pPr>
            <a:r>
              <a:rPr lang="en-IN" dirty="0"/>
              <a:t>We need to create a database schema design based on the following </a:t>
            </a:r>
            <a:r>
              <a:rPr lang="en-IN" b="1" dirty="0">
                <a:solidFill>
                  <a:srgbClr val="7030A0"/>
                </a:solidFill>
              </a:rPr>
              <a:t>requirements</a:t>
            </a:r>
            <a:r>
              <a:rPr lang="en-IN" dirty="0"/>
              <a:t> of the COMPANY Database:</a:t>
            </a:r>
          </a:p>
          <a:p>
            <a:pPr lvl="1" algn="just">
              <a:lnSpc>
                <a:spcPct val="100000"/>
              </a:lnSpc>
              <a:buFont typeface="Wingdings" panose="05000000000000000000" pitchFamily="2" charset="2"/>
              <a:buChar char="§"/>
            </a:pPr>
            <a:r>
              <a:rPr lang="en-IN" dirty="0"/>
              <a:t>The company is organized into DEPARTMENTs. Each department has a name, number and an employee who </a:t>
            </a:r>
            <a:r>
              <a:rPr lang="en-IN" i="1" dirty="0"/>
              <a:t>manages</a:t>
            </a:r>
            <a:r>
              <a:rPr lang="en-IN" dirty="0"/>
              <a:t> the department. We keep track of the start date of the department manager. A department may have several locations.</a:t>
            </a:r>
          </a:p>
          <a:p>
            <a:pPr lvl="1" algn="just">
              <a:lnSpc>
                <a:spcPct val="100000"/>
              </a:lnSpc>
              <a:buFont typeface="Wingdings" panose="05000000000000000000" pitchFamily="2" charset="2"/>
              <a:buChar char="§"/>
            </a:pPr>
            <a:r>
              <a:rPr lang="en-US" altLang="en-US" dirty="0"/>
              <a:t>Each department </a:t>
            </a:r>
            <a:r>
              <a:rPr lang="en-US" altLang="en-US" i="1" dirty="0"/>
              <a:t>controls</a:t>
            </a:r>
            <a:r>
              <a:rPr lang="en-US" altLang="en-US" dirty="0"/>
              <a:t> a number of PROJECTs. Each project has a unique name, unique number and is located at a single location.</a:t>
            </a:r>
          </a:p>
          <a:p>
            <a:pPr lvl="1" algn="just">
              <a:lnSpc>
                <a:spcPct val="100000"/>
              </a:lnSpc>
              <a:buFont typeface="Wingdings" panose="05000000000000000000" pitchFamily="2" charset="2"/>
              <a:buChar char="§"/>
            </a:pPr>
            <a:endParaRPr lang="en-US" altLang="en-US" dirty="0"/>
          </a:p>
          <a:p>
            <a:pPr lvl="1" algn="just">
              <a:lnSpc>
                <a:spcPct val="100000"/>
              </a:lnSpc>
              <a:buFont typeface="Wingdings" panose="05000000000000000000" pitchFamily="2" charset="2"/>
              <a:buChar char="§"/>
            </a:pPr>
            <a:endParaRPr lang="en-IN" dirty="0"/>
          </a:p>
          <a:p>
            <a:pPr lvl="1" algn="just">
              <a:lnSpc>
                <a:spcPct val="100000"/>
              </a:lnSpc>
              <a:buFont typeface="Wingdings" panose="05000000000000000000" pitchFamily="2" charset="2"/>
              <a:buChar char="§"/>
            </a:pPr>
            <a:endParaRPr lang="en-IN" dirty="0"/>
          </a:p>
          <a:p>
            <a:pPr algn="just">
              <a:lnSpc>
                <a:spcPct val="100000"/>
              </a:lnSpc>
              <a:buFont typeface="Wingdings" panose="05000000000000000000" pitchFamily="2" charset="2"/>
              <a:buChar char="q"/>
            </a:pPr>
            <a:endParaRPr lang="en-IN" dirty="0"/>
          </a:p>
          <a:p>
            <a:pPr algn="just">
              <a:lnSpc>
                <a:spcPct val="100000"/>
              </a:lnSpc>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317" y="1175786"/>
            <a:ext cx="10786368" cy="5681708"/>
          </a:xfrm>
        </p:spPr>
        <p:txBody>
          <a:bodyPr/>
          <a:lstStyle/>
          <a:p>
            <a:pPr lvl="1" algn="just">
              <a:lnSpc>
                <a:spcPct val="100000"/>
              </a:lnSpc>
              <a:buFont typeface="Wingdings" panose="05000000000000000000" pitchFamily="2" charset="2"/>
              <a:buChar char="§"/>
            </a:pPr>
            <a:r>
              <a:rPr lang="en-IN" dirty="0"/>
              <a:t>The database will store each EMPLOYEE’s social security number, address, salary, gender, and birthdate. </a:t>
            </a:r>
          </a:p>
          <a:p>
            <a:pPr lvl="2" algn="just">
              <a:lnSpc>
                <a:spcPct val="100000"/>
              </a:lnSpc>
            </a:pPr>
            <a:r>
              <a:rPr lang="en-IN" dirty="0"/>
              <a:t>Each employee </a:t>
            </a:r>
            <a:r>
              <a:rPr lang="en-IN" i="1" dirty="0"/>
              <a:t>works for </a:t>
            </a:r>
            <a:r>
              <a:rPr lang="en-IN" dirty="0"/>
              <a:t>one department but may </a:t>
            </a:r>
            <a:r>
              <a:rPr lang="en-IN" i="1" dirty="0"/>
              <a:t>work on </a:t>
            </a:r>
            <a:r>
              <a:rPr lang="en-IN" dirty="0"/>
              <a:t>several projects, which are not necessarily controlled by the same department.</a:t>
            </a:r>
          </a:p>
          <a:p>
            <a:pPr lvl="2" algn="just">
              <a:lnSpc>
                <a:spcPct val="100000"/>
              </a:lnSpc>
            </a:pPr>
            <a:r>
              <a:rPr lang="en-IN" dirty="0"/>
              <a:t>The DB will keep track of the number of hours per week that an employee currently works on each project.</a:t>
            </a:r>
          </a:p>
          <a:p>
            <a:pPr lvl="2" algn="just">
              <a:lnSpc>
                <a:spcPct val="100000"/>
              </a:lnSpc>
            </a:pPr>
            <a:r>
              <a:rPr lang="en-IN" dirty="0"/>
              <a:t>It is required to keep track of the </a:t>
            </a:r>
            <a:r>
              <a:rPr lang="en-IN" i="1" dirty="0"/>
              <a:t>direct supervisor </a:t>
            </a:r>
            <a:r>
              <a:rPr lang="en-IN" dirty="0"/>
              <a:t>of each employee (who is another employee).</a:t>
            </a:r>
          </a:p>
          <a:p>
            <a:pPr lvl="1" algn="just">
              <a:lnSpc>
                <a:spcPct val="100000"/>
              </a:lnSpc>
              <a:buFont typeface="Wingdings" panose="05000000000000000000" pitchFamily="2" charset="2"/>
              <a:buChar char="§"/>
            </a:pPr>
            <a:r>
              <a:rPr lang="en-IN" dirty="0"/>
              <a:t>Each employee may </a:t>
            </a:r>
            <a:r>
              <a:rPr lang="en-IN" i="1" dirty="0"/>
              <a:t>have</a:t>
            </a:r>
            <a:r>
              <a:rPr lang="en-IN" dirty="0"/>
              <a:t> a number of DEPENDENTs (for insurance purposes)</a:t>
            </a:r>
          </a:p>
          <a:p>
            <a:pPr lvl="2" algn="just">
              <a:lnSpc>
                <a:spcPct val="100000"/>
              </a:lnSpc>
            </a:pPr>
            <a:r>
              <a:rPr lang="en-IN" dirty="0"/>
              <a:t>For each dependent, the DB keeps a record of name, gender, birthdate, and relationship to the employee.</a:t>
            </a:r>
          </a:p>
          <a:p>
            <a:pPr lvl="1" algn="just">
              <a:lnSpc>
                <a:spcPct val="100000"/>
              </a:lnSpc>
            </a:pPr>
            <a:endParaRPr lang="en-IN" dirty="0"/>
          </a:p>
          <a:p>
            <a:pPr algn="just">
              <a:lnSpc>
                <a:spcPct val="100000"/>
              </a:lnSpc>
            </a:pPr>
            <a:endParaRPr lang="en-IN" dirty="0"/>
          </a:p>
        </p:txBody>
      </p:sp>
      <p:sp>
        <p:nvSpPr>
          <p:cNvPr id="4" name="Title 1"/>
          <p:cNvSpPr>
            <a:spLocks noGrp="1"/>
          </p:cNvSpPr>
          <p:nvPr>
            <p:ph type="title"/>
          </p:nvPr>
        </p:nvSpPr>
        <p:spPr>
          <a:xfrm>
            <a:off x="838200" y="18892"/>
            <a:ext cx="10515600" cy="1325563"/>
          </a:xfrm>
        </p:spPr>
        <p:txBody>
          <a:bodyPr/>
          <a:lstStyle/>
          <a:p>
            <a:pPr algn="ctr"/>
            <a:r>
              <a:rPr lang="en-IN" b="1" dirty="0">
                <a:solidFill>
                  <a:schemeClr val="accent4">
                    <a:lumMod val="50000"/>
                  </a:schemeClr>
                </a:solidFill>
              </a:rPr>
              <a:t>Example COMPANY Database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2"/>
            <a:ext cx="10515600" cy="1081939"/>
          </a:xfrm>
        </p:spPr>
        <p:txBody>
          <a:bodyPr/>
          <a:lstStyle/>
          <a:p>
            <a:pPr algn="ctr"/>
            <a:r>
              <a:rPr lang="en-US" altLang="en-US" sz="4400" b="1" dirty="0">
                <a:solidFill>
                  <a:schemeClr val="accent4">
                    <a:lumMod val="50000"/>
                  </a:schemeClr>
                </a:solidFill>
              </a:rPr>
              <a:t>Entities and Attributes</a:t>
            </a:r>
            <a:endParaRPr lang="en-IN" b="1" dirty="0">
              <a:solidFill>
                <a:schemeClr val="accent4">
                  <a:lumMod val="50000"/>
                </a:schemeClr>
              </a:solidFill>
            </a:endParaRPr>
          </a:p>
        </p:txBody>
      </p:sp>
      <p:sp>
        <p:nvSpPr>
          <p:cNvPr id="3" name="Content Placeholder 2"/>
          <p:cNvSpPr>
            <a:spLocks noGrp="1"/>
          </p:cNvSpPr>
          <p:nvPr>
            <p:ph idx="1"/>
          </p:nvPr>
        </p:nvSpPr>
        <p:spPr>
          <a:xfrm>
            <a:off x="756302" y="836221"/>
            <a:ext cx="10679837" cy="5770485"/>
          </a:xfrm>
        </p:spPr>
        <p:txBody>
          <a:bodyPr>
            <a:normAutofit fontScale="92500" lnSpcReduction="10000"/>
          </a:bodyPr>
          <a:lstStyle/>
          <a:p>
            <a:pPr algn="just">
              <a:buFont typeface="Wingdings" panose="05000000000000000000" pitchFamily="2" charset="2"/>
              <a:buChar char="q"/>
            </a:pPr>
            <a:r>
              <a:rPr lang="en-IN" dirty="0"/>
              <a:t>The basic object that the ER model represents is an </a:t>
            </a:r>
            <a:r>
              <a:rPr lang="en-IN" b="1" dirty="0">
                <a:solidFill>
                  <a:srgbClr val="7030A0"/>
                </a:solidFill>
              </a:rPr>
              <a:t>entity</a:t>
            </a:r>
            <a:r>
              <a:rPr lang="en-IN" dirty="0"/>
              <a:t>, which is a thing in the real world with an independent existence. An entity may be an object with a physical existence (for example, a particular person, car, house, or employee) or it may be an object with a conceptual existence (for instance, a company, a job, or a university course).</a:t>
            </a:r>
          </a:p>
          <a:p>
            <a:pPr lvl="1" algn="just">
              <a:buFont typeface="Wingdings" panose="05000000000000000000" pitchFamily="2" charset="2"/>
              <a:buChar char="§"/>
            </a:pPr>
            <a:r>
              <a:rPr lang="en-IN" dirty="0"/>
              <a:t>For example the EMPLOYEE John Smith, the Research DEPARTMENT, the </a:t>
            </a:r>
            <a:r>
              <a:rPr lang="en-IN" dirty="0" err="1"/>
              <a:t>ProductX</a:t>
            </a:r>
            <a:r>
              <a:rPr lang="en-IN" dirty="0"/>
              <a:t> PROJECT</a:t>
            </a:r>
          </a:p>
          <a:p>
            <a:pPr algn="just">
              <a:buFont typeface="Wingdings" panose="05000000000000000000" pitchFamily="2" charset="2"/>
              <a:buChar char="q"/>
            </a:pPr>
            <a:r>
              <a:rPr lang="en-IN" dirty="0"/>
              <a:t>Each entity has </a:t>
            </a:r>
            <a:r>
              <a:rPr lang="en-IN" b="1" dirty="0">
                <a:solidFill>
                  <a:srgbClr val="7030A0"/>
                </a:solidFill>
              </a:rPr>
              <a:t>attributes</a:t>
            </a:r>
            <a:r>
              <a:rPr lang="en-IN" dirty="0"/>
              <a:t>. Attributes are properties used to describe an entity.</a:t>
            </a:r>
          </a:p>
          <a:p>
            <a:pPr lvl="1" algn="just">
              <a:buFont typeface="Wingdings" panose="05000000000000000000" pitchFamily="2" charset="2"/>
              <a:buChar char="§"/>
            </a:pPr>
            <a:r>
              <a:rPr lang="en-IN" dirty="0"/>
              <a:t>For example an EMPLOYEE entity may have the attributes Name, SSN, Address, Gender, </a:t>
            </a:r>
            <a:r>
              <a:rPr lang="en-IN" dirty="0" err="1"/>
              <a:t>BirthDate</a:t>
            </a:r>
            <a:endParaRPr lang="en-IN" dirty="0"/>
          </a:p>
          <a:p>
            <a:pPr algn="just">
              <a:buFont typeface="Wingdings" panose="05000000000000000000" pitchFamily="2" charset="2"/>
              <a:buChar char="q"/>
            </a:pPr>
            <a:r>
              <a:rPr lang="en-IN" dirty="0"/>
              <a:t>A specific entity will have a value for each of its attributes.</a:t>
            </a:r>
          </a:p>
          <a:p>
            <a:pPr lvl="1" algn="just">
              <a:buFont typeface="Wingdings" panose="05000000000000000000" pitchFamily="2" charset="2"/>
              <a:buChar char="§"/>
            </a:pPr>
            <a:r>
              <a:rPr lang="en-IN" dirty="0"/>
              <a:t>For example a specific employee entity may have Name='John Smith', SSN='123456789', Address ='731, Fondren, Houston, TX’, Gender='M', </a:t>
            </a:r>
            <a:r>
              <a:rPr lang="en-IN" dirty="0" err="1"/>
              <a:t>BirthDate</a:t>
            </a:r>
            <a:r>
              <a:rPr lang="en-IN" dirty="0"/>
              <a:t>='09-JAN-55‘</a:t>
            </a:r>
          </a:p>
          <a:p>
            <a:pPr algn="just">
              <a:buFont typeface="Wingdings" panose="05000000000000000000" pitchFamily="2" charset="2"/>
              <a:buChar char="q"/>
            </a:pPr>
            <a:r>
              <a:rPr lang="en-IN" dirty="0"/>
              <a:t>Each attribute has a </a:t>
            </a:r>
            <a:r>
              <a:rPr lang="en-IN" i="1" dirty="0"/>
              <a:t>value set </a:t>
            </a:r>
            <a:r>
              <a:rPr lang="en-IN" dirty="0"/>
              <a:t>(or data type) associated with it – e.g. integer, string, date, enumerated type, …</a:t>
            </a:r>
          </a:p>
          <a:p>
            <a:pPr algn="just">
              <a:buFont typeface="Wingdings" panose="05000000000000000000" pitchFamily="2" charset="2"/>
              <a:buChar char="q"/>
            </a:pPr>
            <a:endParaRPr lang="en-IN" dirty="0"/>
          </a:p>
          <a:p>
            <a:pPr algn="just">
              <a:buFont typeface="Wingdings" panose="05000000000000000000" pitchFamily="2" charset="2"/>
              <a:buChar char="§"/>
            </a:pPr>
            <a:endParaRPr lang="en-IN" dirty="0"/>
          </a:p>
          <a:p>
            <a:pPr algn="just"/>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18586" y="1058662"/>
            <a:ext cx="10910656" cy="5218175"/>
          </a:xfrm>
        </p:spPr>
        <p:txBody>
          <a:bodyPr/>
          <a:lstStyle/>
          <a:p>
            <a:pPr>
              <a:buFont typeface="Wingdings" panose="05000000000000000000" pitchFamily="2" charset="2"/>
              <a:buChar char="q"/>
            </a:pPr>
            <a:r>
              <a:rPr lang="en-IN" dirty="0"/>
              <a:t>Two entities, EMPLOYEE e</a:t>
            </a:r>
            <a:r>
              <a:rPr lang="en-IN" baseline="-25000" dirty="0"/>
              <a:t>1</a:t>
            </a:r>
            <a:r>
              <a:rPr lang="en-IN" dirty="0"/>
              <a:t>, and COMPANY c</a:t>
            </a:r>
            <a:r>
              <a:rPr lang="en-IN" baseline="-25000" dirty="0"/>
              <a:t>1</a:t>
            </a:r>
            <a:r>
              <a:rPr lang="en-IN" dirty="0"/>
              <a:t>, and their attributes</a:t>
            </a:r>
          </a:p>
        </p:txBody>
      </p:sp>
      <p:sp>
        <p:nvSpPr>
          <p:cNvPr id="4" name="Title 1"/>
          <p:cNvSpPr>
            <a:spLocks noGrp="1"/>
          </p:cNvSpPr>
          <p:nvPr>
            <p:ph type="title"/>
          </p:nvPr>
        </p:nvSpPr>
        <p:spPr>
          <a:xfrm>
            <a:off x="838200" y="18892"/>
            <a:ext cx="10515600" cy="1081939"/>
          </a:xfrm>
        </p:spPr>
        <p:txBody>
          <a:bodyPr/>
          <a:lstStyle/>
          <a:p>
            <a:pPr algn="ctr"/>
            <a:r>
              <a:rPr lang="en-US" altLang="en-US" sz="4400" b="1" dirty="0">
                <a:solidFill>
                  <a:schemeClr val="accent4">
                    <a:lumMod val="50000"/>
                  </a:schemeClr>
                </a:solidFill>
              </a:rPr>
              <a:t>Entities and Attributes</a:t>
            </a:r>
            <a:endParaRPr lang="en-IN" b="1" dirty="0">
              <a:solidFill>
                <a:schemeClr val="accent4">
                  <a:lumMod val="50000"/>
                </a:schemeClr>
              </a:solidFill>
            </a:endParaRPr>
          </a:p>
        </p:txBody>
      </p:sp>
      <p:pic>
        <p:nvPicPr>
          <p:cNvPr id="6" name="Picture 5"/>
          <p:cNvPicPr>
            <a:picLocks noChangeAspect="1"/>
          </p:cNvPicPr>
          <p:nvPr/>
        </p:nvPicPr>
        <p:blipFill>
          <a:blip r:embed="rId2"/>
          <a:stretch>
            <a:fillRect/>
          </a:stretch>
        </p:blipFill>
        <p:spPr>
          <a:xfrm>
            <a:off x="1398211" y="2002665"/>
            <a:ext cx="9533472" cy="339495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2"/>
            <a:ext cx="10515600" cy="1325563"/>
          </a:xfrm>
        </p:spPr>
        <p:txBody>
          <a:bodyPr/>
          <a:lstStyle/>
          <a:p>
            <a:pPr algn="ctr"/>
            <a:r>
              <a:rPr lang="en-IN" b="1" dirty="0">
                <a:solidFill>
                  <a:schemeClr val="accent4">
                    <a:lumMod val="50000"/>
                  </a:schemeClr>
                </a:solidFill>
              </a:rPr>
              <a:t>Types of Attributes</a:t>
            </a:r>
          </a:p>
        </p:txBody>
      </p:sp>
      <p:sp>
        <p:nvSpPr>
          <p:cNvPr id="3" name="Content Placeholder 2"/>
          <p:cNvSpPr>
            <a:spLocks noGrp="1"/>
          </p:cNvSpPr>
          <p:nvPr>
            <p:ph idx="1"/>
          </p:nvPr>
        </p:nvSpPr>
        <p:spPr>
          <a:xfrm>
            <a:off x="1216240" y="1038686"/>
            <a:ext cx="10821879" cy="5734975"/>
          </a:xfrm>
        </p:spPr>
        <p:txBody>
          <a:bodyPr/>
          <a:lstStyle/>
          <a:p>
            <a:pPr algn="just">
              <a:lnSpc>
                <a:spcPct val="100000"/>
              </a:lnSpc>
              <a:buFont typeface="Wingdings" panose="05000000000000000000" pitchFamily="2" charset="2"/>
              <a:buChar char="q"/>
            </a:pPr>
            <a:r>
              <a:rPr lang="en-US" altLang="en-US" sz="2800" b="1" dirty="0">
                <a:solidFill>
                  <a:srgbClr val="7030A0"/>
                </a:solidFill>
              </a:rPr>
              <a:t>Simple</a:t>
            </a:r>
          </a:p>
          <a:p>
            <a:pPr lvl="1" algn="just">
              <a:lnSpc>
                <a:spcPct val="100000"/>
              </a:lnSpc>
              <a:buFont typeface="Wingdings" panose="05000000000000000000" pitchFamily="2" charset="2"/>
              <a:buChar char="§"/>
            </a:pPr>
            <a:r>
              <a:rPr lang="en-IN" dirty="0"/>
              <a:t>Attributes that are not divisible are called simple or atomic attributes. Each entity has a single atomic value for the attribute. For example, SSN or Gender.</a:t>
            </a:r>
          </a:p>
          <a:p>
            <a:pPr algn="just">
              <a:lnSpc>
                <a:spcPct val="100000"/>
              </a:lnSpc>
              <a:buFont typeface="Wingdings" panose="05000000000000000000" pitchFamily="2" charset="2"/>
              <a:buChar char="q"/>
            </a:pPr>
            <a:r>
              <a:rPr lang="en-IN" b="1" dirty="0">
                <a:solidFill>
                  <a:srgbClr val="7030A0"/>
                </a:solidFill>
              </a:rPr>
              <a:t>Composite</a:t>
            </a:r>
          </a:p>
          <a:p>
            <a:pPr lvl="1" algn="just">
              <a:lnSpc>
                <a:spcPct val="100000"/>
              </a:lnSpc>
              <a:buFont typeface="Wingdings" panose="05000000000000000000" pitchFamily="2" charset="2"/>
              <a:buChar char="§"/>
            </a:pPr>
            <a:r>
              <a:rPr lang="en-IN" dirty="0"/>
              <a:t>The attribute may be composed of several components. Composite attributes can be divided into smaller subparts, which represent more basic attributes with independent meanings. For example:</a:t>
            </a:r>
          </a:p>
          <a:p>
            <a:pPr lvl="2" algn="just">
              <a:lnSpc>
                <a:spcPct val="100000"/>
              </a:lnSpc>
            </a:pPr>
            <a:r>
              <a:rPr lang="en-IN" dirty="0"/>
              <a:t>Address (</a:t>
            </a:r>
            <a:r>
              <a:rPr lang="en-IN" dirty="0" err="1"/>
              <a:t>Street_address</a:t>
            </a:r>
            <a:r>
              <a:rPr lang="en-IN" dirty="0"/>
              <a:t>, City, State, Zip)</a:t>
            </a:r>
          </a:p>
          <a:p>
            <a:pPr lvl="2" algn="just">
              <a:lnSpc>
                <a:spcPct val="100000"/>
              </a:lnSpc>
            </a:pPr>
            <a:r>
              <a:rPr lang="en-IN" dirty="0"/>
              <a:t>Name (FirstName, </a:t>
            </a:r>
            <a:r>
              <a:rPr lang="en-IN" dirty="0" err="1"/>
              <a:t>MiddleName</a:t>
            </a:r>
            <a:r>
              <a:rPr lang="en-IN" dirty="0"/>
              <a:t>, </a:t>
            </a:r>
            <a:r>
              <a:rPr lang="en-IN" dirty="0" err="1"/>
              <a:t>LastName</a:t>
            </a:r>
            <a:r>
              <a:rPr lang="en-IN" dirty="0"/>
              <a:t>)</a:t>
            </a:r>
          </a:p>
          <a:p>
            <a:pPr lvl="1" algn="just">
              <a:lnSpc>
                <a:spcPct val="100000"/>
              </a:lnSpc>
              <a:buFont typeface="Wingdings" panose="05000000000000000000" pitchFamily="2" charset="2"/>
              <a:buChar char="§"/>
            </a:pPr>
            <a:r>
              <a:rPr lang="en-US" altLang="en-US" sz="2400" dirty="0"/>
              <a:t>Composition may form a hierarchy where some components are themselves composite.</a:t>
            </a:r>
          </a:p>
          <a:p>
            <a:pPr lvl="1" algn="just">
              <a:lnSpc>
                <a:spcPct val="100000"/>
              </a:lnSpc>
            </a:pPr>
            <a:endParaRPr lang="en-IN" dirty="0"/>
          </a:p>
          <a:p>
            <a:pPr algn="just">
              <a:lnSpc>
                <a:spcPct val="100000"/>
              </a:lnSpc>
              <a:buFont typeface="Wingdings" panose="05000000000000000000" pitchFamily="2" charset="2"/>
              <a:buChar char="§"/>
            </a:pPr>
            <a:endParaRPr lang="en-IN" dirty="0"/>
          </a:p>
          <a:p>
            <a:pPr lvl="1" algn="just">
              <a:lnSpc>
                <a:spcPct val="100000"/>
              </a:lnSpc>
              <a:buFont typeface="Wingdings" panose="05000000000000000000" pitchFamily="2" charset="2"/>
              <a:buChar char="§"/>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0"/>
            <a:ext cx="10515600" cy="975409"/>
          </a:xfrm>
        </p:spPr>
        <p:txBody>
          <a:bodyPr>
            <a:normAutofit/>
          </a:bodyPr>
          <a:lstStyle/>
          <a:p>
            <a:pPr algn="ctr"/>
            <a:r>
              <a:rPr lang="en-IN" b="1" dirty="0">
                <a:solidFill>
                  <a:schemeClr val="accent4">
                    <a:lumMod val="50000"/>
                  </a:schemeClr>
                </a:solidFill>
              </a:rPr>
              <a:t>A hierarchy of composite attributes</a:t>
            </a:r>
          </a:p>
        </p:txBody>
      </p:sp>
      <p:pic>
        <p:nvPicPr>
          <p:cNvPr id="4" name="Picture 4" descr="fig03_04"/>
          <p:cNvPicPr>
            <a:picLocks noChangeAspect="1" noChangeArrowheads="1"/>
          </p:cNvPicPr>
          <p:nvPr/>
        </p:nvPicPr>
        <p:blipFill>
          <a:blip r:embed="rId2">
            <a:extLst>
              <a:ext uri="{28A0092B-C50C-407E-A947-70E740481C1C}">
                <a14:useLocalDpi xmlns:a14="http://schemas.microsoft.com/office/drawing/2010/main" val="0"/>
              </a:ext>
            </a:extLst>
          </a:blip>
          <a:srcRect l="30150"/>
          <a:stretch>
            <a:fillRect/>
          </a:stretch>
        </p:blipFill>
        <p:spPr bwMode="auto">
          <a:xfrm>
            <a:off x="2710648" y="1421906"/>
            <a:ext cx="6377124" cy="3736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5017" y="1083076"/>
            <a:ext cx="10759735" cy="5663953"/>
          </a:xfrm>
        </p:spPr>
        <p:txBody>
          <a:bodyPr/>
          <a:lstStyle/>
          <a:p>
            <a:pPr>
              <a:lnSpc>
                <a:spcPct val="100000"/>
              </a:lnSpc>
              <a:buFont typeface="Wingdings" panose="05000000000000000000" pitchFamily="2" charset="2"/>
              <a:buChar char="q"/>
            </a:pPr>
            <a:r>
              <a:rPr lang="en-IN" b="1" dirty="0">
                <a:solidFill>
                  <a:srgbClr val="7030A0"/>
                </a:solidFill>
              </a:rPr>
              <a:t>Single-Valued</a:t>
            </a:r>
          </a:p>
          <a:p>
            <a:pPr lvl="1">
              <a:lnSpc>
                <a:spcPct val="100000"/>
              </a:lnSpc>
              <a:buFont typeface="Wingdings" panose="05000000000000000000" pitchFamily="2" charset="2"/>
              <a:buChar char="§"/>
            </a:pPr>
            <a:r>
              <a:rPr lang="en-IN" dirty="0"/>
              <a:t>Attributes that have a single value for a particular entity. For example, Age is a single-valued attribute of a person.</a:t>
            </a:r>
          </a:p>
          <a:p>
            <a:pPr>
              <a:lnSpc>
                <a:spcPct val="100000"/>
              </a:lnSpc>
              <a:buFont typeface="Wingdings" panose="05000000000000000000" pitchFamily="2" charset="2"/>
              <a:buChar char="q"/>
            </a:pPr>
            <a:r>
              <a:rPr lang="en-IN" b="1" dirty="0">
                <a:solidFill>
                  <a:srgbClr val="7030A0"/>
                </a:solidFill>
              </a:rPr>
              <a:t>Multi-valued</a:t>
            </a:r>
          </a:p>
          <a:p>
            <a:pPr lvl="1">
              <a:lnSpc>
                <a:spcPct val="100000"/>
              </a:lnSpc>
              <a:buFont typeface="Wingdings" panose="05000000000000000000" pitchFamily="2" charset="2"/>
              <a:buChar char="§"/>
            </a:pPr>
            <a:r>
              <a:rPr lang="en-IN" dirty="0"/>
              <a:t>An attribute can have a set of values or </a:t>
            </a:r>
            <a:r>
              <a:rPr lang="en-US" altLang="en-US" sz="2400" dirty="0"/>
              <a:t>multiple values</a:t>
            </a:r>
            <a:r>
              <a:rPr lang="en-IN" dirty="0"/>
              <a:t> for the same entity.</a:t>
            </a:r>
          </a:p>
          <a:p>
            <a:pPr lvl="1">
              <a:lnSpc>
                <a:spcPct val="100000"/>
              </a:lnSpc>
              <a:buFont typeface="Wingdings" panose="05000000000000000000" pitchFamily="2" charset="2"/>
              <a:buChar char="§"/>
            </a:pPr>
            <a:r>
              <a:rPr lang="en-IN" dirty="0"/>
              <a:t>For example, </a:t>
            </a:r>
            <a:r>
              <a:rPr lang="en-IN" dirty="0" err="1"/>
              <a:t>Phone_number</a:t>
            </a:r>
            <a:r>
              <a:rPr lang="en-IN" dirty="0"/>
              <a:t> attribute for an employee, or a Degree attribute for a person.</a:t>
            </a:r>
          </a:p>
          <a:p>
            <a:pPr lvl="1">
              <a:lnSpc>
                <a:spcPct val="100000"/>
              </a:lnSpc>
              <a:buFont typeface="Wingdings" panose="05000000000000000000" pitchFamily="2" charset="2"/>
              <a:buChar char="§"/>
            </a:pPr>
            <a:r>
              <a:rPr lang="en-IN" dirty="0"/>
              <a:t>Denoted as {</a:t>
            </a:r>
            <a:r>
              <a:rPr lang="en-IN" dirty="0" err="1"/>
              <a:t>Phone_number</a:t>
            </a:r>
            <a:r>
              <a:rPr lang="en-IN" dirty="0"/>
              <a:t>} or {Degrees}</a:t>
            </a:r>
          </a:p>
        </p:txBody>
      </p:sp>
      <p:sp>
        <p:nvSpPr>
          <p:cNvPr id="4" name="Title 1"/>
          <p:cNvSpPr>
            <a:spLocks noGrp="1"/>
          </p:cNvSpPr>
          <p:nvPr>
            <p:ph type="title"/>
          </p:nvPr>
        </p:nvSpPr>
        <p:spPr>
          <a:xfrm>
            <a:off x="838200" y="18892"/>
            <a:ext cx="10515600" cy="1325563"/>
          </a:xfrm>
        </p:spPr>
        <p:txBody>
          <a:bodyPr/>
          <a:lstStyle/>
          <a:p>
            <a:pPr algn="ctr"/>
            <a:r>
              <a:rPr lang="en-IN" b="1" dirty="0">
                <a:solidFill>
                  <a:schemeClr val="accent4">
                    <a:lumMod val="50000"/>
                  </a:schemeClr>
                </a:solidFill>
              </a:rPr>
              <a:t>Types of Attributes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0830" y="1003178"/>
            <a:ext cx="10937289" cy="5761606"/>
          </a:xfrm>
        </p:spPr>
        <p:txBody>
          <a:bodyPr>
            <a:normAutofit/>
          </a:bodyPr>
          <a:lstStyle/>
          <a:p>
            <a:pPr algn="just">
              <a:lnSpc>
                <a:spcPct val="100000"/>
              </a:lnSpc>
              <a:buFont typeface="Wingdings" panose="05000000000000000000" pitchFamily="2" charset="2"/>
              <a:buChar char="q"/>
            </a:pPr>
            <a:r>
              <a:rPr lang="en-IN" b="1" dirty="0">
                <a:solidFill>
                  <a:srgbClr val="7030A0"/>
                </a:solidFill>
              </a:rPr>
              <a:t>Stored</a:t>
            </a:r>
          </a:p>
          <a:p>
            <a:pPr lvl="1" algn="just">
              <a:lnSpc>
                <a:spcPct val="100000"/>
              </a:lnSpc>
              <a:buFont typeface="Wingdings" panose="05000000000000000000" pitchFamily="2" charset="2"/>
              <a:buChar char="§"/>
            </a:pPr>
            <a:r>
              <a:rPr lang="en-IN" dirty="0"/>
              <a:t>Attribute which already stored in database. For example, </a:t>
            </a:r>
            <a:r>
              <a:rPr lang="en-IN" dirty="0" err="1"/>
              <a:t>Birth_date</a:t>
            </a:r>
            <a:r>
              <a:rPr lang="en-IN" dirty="0"/>
              <a:t> attribute of a person.</a:t>
            </a:r>
          </a:p>
          <a:p>
            <a:pPr algn="just">
              <a:lnSpc>
                <a:spcPct val="100000"/>
              </a:lnSpc>
              <a:buFont typeface="Wingdings" panose="05000000000000000000" pitchFamily="2" charset="2"/>
              <a:buChar char="q"/>
            </a:pPr>
            <a:r>
              <a:rPr lang="en-IN" b="1" dirty="0">
                <a:solidFill>
                  <a:srgbClr val="7030A0"/>
                </a:solidFill>
              </a:rPr>
              <a:t>Derived</a:t>
            </a:r>
          </a:p>
          <a:p>
            <a:pPr lvl="1" algn="just">
              <a:lnSpc>
                <a:spcPct val="100000"/>
              </a:lnSpc>
              <a:buFont typeface="Wingdings" panose="05000000000000000000" pitchFamily="2" charset="2"/>
              <a:buChar char="§"/>
            </a:pPr>
            <a:r>
              <a:rPr lang="en-IN" dirty="0"/>
              <a:t>Derivable from stored attribute. For example, Age attribute of a person. Age attribute is derivable from the </a:t>
            </a:r>
            <a:r>
              <a:rPr lang="en-IN" dirty="0" err="1"/>
              <a:t>Birth_date</a:t>
            </a:r>
            <a:r>
              <a:rPr lang="en-IN" dirty="0"/>
              <a:t> attribute, which is a stored attribute.</a:t>
            </a:r>
          </a:p>
          <a:p>
            <a:pPr marL="457200" lvl="1" indent="0" algn="just">
              <a:lnSpc>
                <a:spcPct val="100000"/>
              </a:lnSpc>
              <a:buFont typeface="Wingdings" panose="05000000000000000000" pitchFamily="2" charset="2"/>
              <a:buNone/>
            </a:pPr>
            <a:endParaRPr lang="en-IN" dirty="0"/>
          </a:p>
        </p:txBody>
      </p:sp>
      <p:sp>
        <p:nvSpPr>
          <p:cNvPr id="7" name="Title 1"/>
          <p:cNvSpPr>
            <a:spLocks noGrp="1"/>
          </p:cNvSpPr>
          <p:nvPr>
            <p:ph type="title"/>
          </p:nvPr>
        </p:nvSpPr>
        <p:spPr>
          <a:xfrm>
            <a:off x="838200" y="10015"/>
            <a:ext cx="10515600" cy="993164"/>
          </a:xfrm>
        </p:spPr>
        <p:txBody>
          <a:bodyPr/>
          <a:lstStyle/>
          <a:p>
            <a:pPr algn="ctr"/>
            <a:r>
              <a:rPr lang="en-IN" b="1" dirty="0">
                <a:solidFill>
                  <a:schemeClr val="accent4">
                    <a:lumMod val="50000"/>
                  </a:schemeClr>
                </a:solidFill>
              </a:rPr>
              <a:t>Types of Attributes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16"/>
            <a:ext cx="10515600" cy="993162"/>
          </a:xfrm>
        </p:spPr>
        <p:txBody>
          <a:bodyPr/>
          <a:lstStyle/>
          <a:p>
            <a:pPr algn="ctr"/>
            <a:r>
              <a:rPr lang="en-IN" b="1" dirty="0">
                <a:solidFill>
                  <a:schemeClr val="accent4">
                    <a:lumMod val="50000"/>
                  </a:schemeClr>
                </a:solidFill>
              </a:rPr>
              <a:t>NULL Values</a:t>
            </a:r>
            <a:endParaRPr lang="en-IN" dirty="0">
              <a:solidFill>
                <a:schemeClr val="accent4">
                  <a:lumMod val="50000"/>
                </a:schemeClr>
              </a:solidFill>
            </a:endParaRPr>
          </a:p>
        </p:txBody>
      </p:sp>
      <p:sp>
        <p:nvSpPr>
          <p:cNvPr id="3" name="Content Placeholder 2"/>
          <p:cNvSpPr>
            <a:spLocks noGrp="1"/>
          </p:cNvSpPr>
          <p:nvPr>
            <p:ph idx="1"/>
          </p:nvPr>
        </p:nvSpPr>
        <p:spPr>
          <a:xfrm>
            <a:off x="720816" y="840117"/>
            <a:ext cx="10750859" cy="5877018"/>
          </a:xfrm>
        </p:spPr>
        <p:txBody>
          <a:bodyPr>
            <a:normAutofit/>
          </a:bodyPr>
          <a:lstStyle/>
          <a:p>
            <a:pPr>
              <a:lnSpc>
                <a:spcPct val="100000"/>
              </a:lnSpc>
              <a:buFont typeface="Wingdings" panose="05000000000000000000" pitchFamily="2" charset="2"/>
              <a:buChar char="q"/>
            </a:pPr>
            <a:r>
              <a:rPr lang="en-IN" b="1" dirty="0">
                <a:solidFill>
                  <a:srgbClr val="7030A0"/>
                </a:solidFill>
              </a:rPr>
              <a:t>Not applicable:</a:t>
            </a:r>
            <a:r>
              <a:rPr lang="en-IN" dirty="0"/>
              <a:t> In some cases, a particular entity may not have an applicable value for an attribute. For example,</a:t>
            </a:r>
          </a:p>
          <a:p>
            <a:pPr lvl="1">
              <a:lnSpc>
                <a:spcPct val="100000"/>
              </a:lnSpc>
              <a:buFont typeface="Wingdings" panose="05000000000000000000" pitchFamily="2" charset="2"/>
              <a:buChar char="§"/>
            </a:pPr>
            <a:r>
              <a:rPr lang="en-IN" dirty="0" err="1"/>
              <a:t>Apartment_number</a:t>
            </a:r>
            <a:r>
              <a:rPr lang="en-IN" dirty="0"/>
              <a:t> attribute of an address applies only to addresses that are in apartment buildings and not to other types of residences, such as single-family homes.</a:t>
            </a:r>
          </a:p>
          <a:p>
            <a:pPr lvl="1">
              <a:lnSpc>
                <a:spcPct val="100000"/>
              </a:lnSpc>
              <a:buFont typeface="Wingdings" panose="05000000000000000000" pitchFamily="2" charset="2"/>
              <a:buChar char="§"/>
            </a:pPr>
            <a:r>
              <a:rPr lang="en-IN" dirty="0" err="1"/>
              <a:t>College_degrees</a:t>
            </a:r>
            <a:r>
              <a:rPr lang="en-IN" dirty="0"/>
              <a:t> attribute applies only to people with college degrees.</a:t>
            </a:r>
          </a:p>
          <a:p>
            <a:pPr>
              <a:lnSpc>
                <a:spcPct val="100000"/>
              </a:lnSpc>
              <a:buFont typeface="Wingdings" panose="05000000000000000000" pitchFamily="2" charset="2"/>
              <a:buChar char="q"/>
            </a:pPr>
            <a:r>
              <a:rPr lang="en-IN" dirty="0"/>
              <a:t>For such situations, a special value called NULL is created. An address of a single-family home would have NULL for its </a:t>
            </a:r>
            <a:r>
              <a:rPr lang="en-IN" dirty="0" err="1"/>
              <a:t>Apartment_number</a:t>
            </a:r>
            <a:r>
              <a:rPr lang="en-IN" dirty="0"/>
              <a:t> attribute, and a person with no college degree would have NULL for </a:t>
            </a:r>
            <a:r>
              <a:rPr lang="en-IN" dirty="0" err="1"/>
              <a:t>College_degrees</a:t>
            </a:r>
            <a:r>
              <a:rPr lang="en-IN" dirty="0"/>
              <a:t>.</a:t>
            </a:r>
          </a:p>
          <a:p>
            <a:pPr>
              <a:lnSpc>
                <a:spcPct val="100000"/>
              </a:lnSpc>
              <a:buFont typeface="Wingdings" panose="05000000000000000000" pitchFamily="2" charset="2"/>
              <a:buChar char="q"/>
            </a:pPr>
            <a:r>
              <a:rPr lang="en-IN" b="1" dirty="0">
                <a:solidFill>
                  <a:srgbClr val="7030A0"/>
                </a:solidFill>
              </a:rPr>
              <a:t>Unknown:</a:t>
            </a:r>
            <a:r>
              <a:rPr lang="en-IN" dirty="0"/>
              <a:t> NULL can also be used if we do not know the value of an attribute for a particular entity. For example, if we do not know the home phone number of an employee. </a:t>
            </a:r>
          </a:p>
          <a:p>
            <a:pPr>
              <a:lnSpc>
                <a:spcPct val="100000"/>
              </a:lnSpc>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1090815"/>
          </a:xfrm>
        </p:spPr>
        <p:txBody>
          <a:bodyPr/>
          <a:lstStyle/>
          <a:p>
            <a:pPr algn="ctr"/>
            <a:r>
              <a:rPr lang="en-IN" b="1" dirty="0">
                <a:solidFill>
                  <a:schemeClr val="accent4">
                    <a:lumMod val="50000"/>
                  </a:schemeClr>
                </a:solidFill>
              </a:rPr>
              <a:t>Entity Types and Entity Sets</a:t>
            </a:r>
          </a:p>
        </p:txBody>
      </p:sp>
      <p:sp>
        <p:nvSpPr>
          <p:cNvPr id="3" name="Content Placeholder 2"/>
          <p:cNvSpPr>
            <a:spLocks noGrp="1"/>
          </p:cNvSpPr>
          <p:nvPr>
            <p:ph idx="1"/>
          </p:nvPr>
        </p:nvSpPr>
        <p:spPr>
          <a:xfrm>
            <a:off x="1384916" y="994299"/>
            <a:ext cx="10653203" cy="5761608"/>
          </a:xfrm>
        </p:spPr>
        <p:txBody>
          <a:bodyPr/>
          <a:lstStyle/>
          <a:p>
            <a:pPr algn="just">
              <a:buFont typeface="Wingdings" panose="05000000000000000000" pitchFamily="2" charset="2"/>
              <a:buChar char="q"/>
            </a:pPr>
            <a:r>
              <a:rPr lang="en-IN" dirty="0"/>
              <a:t>An </a:t>
            </a:r>
            <a:r>
              <a:rPr lang="en-IN" b="1" dirty="0">
                <a:solidFill>
                  <a:srgbClr val="7030A0"/>
                </a:solidFill>
              </a:rPr>
              <a:t>entity type </a:t>
            </a:r>
            <a:r>
              <a:rPr lang="en-IN" dirty="0"/>
              <a:t>defines a collection (or set) of entities that have the same attributes. </a:t>
            </a:r>
            <a:r>
              <a:rPr lang="en-US" altLang="en-US" dirty="0"/>
              <a:t>Entities with the same basic attributes are grouped or typed into an entity type.</a:t>
            </a:r>
            <a:endParaRPr lang="en-IN" dirty="0"/>
          </a:p>
          <a:p>
            <a:pPr algn="just">
              <a:buFont typeface="Wingdings" panose="05000000000000000000" pitchFamily="2" charset="2"/>
              <a:buChar char="q"/>
            </a:pPr>
            <a:r>
              <a:rPr lang="en-IN" dirty="0"/>
              <a:t>Each entity type in the database is described by its name and attributes.</a:t>
            </a:r>
          </a:p>
        </p:txBody>
      </p:sp>
      <p:pic>
        <p:nvPicPr>
          <p:cNvPr id="5" name="Picture 4"/>
          <p:cNvPicPr>
            <a:picLocks noChangeAspect="1"/>
          </p:cNvPicPr>
          <p:nvPr/>
        </p:nvPicPr>
        <p:blipFill>
          <a:blip r:embed="rId2"/>
          <a:stretch>
            <a:fillRect/>
          </a:stretch>
        </p:blipFill>
        <p:spPr>
          <a:xfrm>
            <a:off x="3213717" y="3073284"/>
            <a:ext cx="6092500" cy="36826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04850" y="958850"/>
            <a:ext cx="11377295" cy="5880100"/>
          </a:xfrm>
        </p:spPr>
        <p:txBody>
          <a:bodyPr>
            <a:normAutofit fontScale="85000" lnSpcReduction="20000"/>
          </a:bodyPr>
          <a:lstStyle/>
          <a:p>
            <a:pPr algn="just">
              <a:lnSpc>
                <a:spcPct val="100000"/>
              </a:lnSpc>
              <a:buFont typeface="Wingdings" panose="05000000000000000000" pitchFamily="2" charset="2"/>
              <a:buChar char="q"/>
            </a:pPr>
            <a:r>
              <a:rPr lang="en-US" altLang="en-US" dirty="0"/>
              <a:t>Each entity type will have a collection of entities stored in the database.</a:t>
            </a:r>
            <a:endParaRPr lang="en-IN" dirty="0"/>
          </a:p>
          <a:p>
            <a:pPr algn="just">
              <a:lnSpc>
                <a:spcPct val="100000"/>
              </a:lnSpc>
              <a:buFont typeface="Wingdings" panose="05000000000000000000" pitchFamily="2" charset="2"/>
              <a:buChar char="q"/>
            </a:pPr>
            <a:r>
              <a:rPr lang="en-IN" dirty="0"/>
              <a:t>The collection of all entities of a particular entity type in the database at any point in time is called an </a:t>
            </a:r>
            <a:r>
              <a:rPr lang="en-IN" b="1" dirty="0">
                <a:solidFill>
                  <a:srgbClr val="7030A0"/>
                </a:solidFill>
              </a:rPr>
              <a:t>entity set</a:t>
            </a:r>
            <a:r>
              <a:rPr lang="en-IN" dirty="0"/>
              <a:t>. </a:t>
            </a:r>
            <a:r>
              <a:rPr lang="en-US" altLang="en-US" dirty="0"/>
              <a:t>Entity set is the current </a:t>
            </a:r>
            <a:r>
              <a:rPr lang="en-US" altLang="en-US" i="1" dirty="0"/>
              <a:t>state</a:t>
            </a:r>
            <a:r>
              <a:rPr lang="en-US" altLang="en-US" dirty="0"/>
              <a:t> of the entities of that type that are stored in the database.</a:t>
            </a:r>
            <a:endParaRPr lang="en-IN" dirty="0"/>
          </a:p>
          <a:p>
            <a:pPr algn="just">
              <a:lnSpc>
                <a:spcPct val="100000"/>
              </a:lnSpc>
              <a:buFont typeface="Wingdings" panose="05000000000000000000" pitchFamily="2" charset="2"/>
              <a:buChar char="q"/>
            </a:pPr>
            <a:r>
              <a:rPr lang="en-IN" dirty="0"/>
              <a:t>Entity set is usually referred to using the same name as the entity type. For example, EMPLOYEE refers to both a </a:t>
            </a:r>
            <a:r>
              <a:rPr lang="en-IN" i="1" dirty="0"/>
              <a:t>type of entity</a:t>
            </a:r>
            <a:r>
              <a:rPr lang="en-IN" dirty="0"/>
              <a:t> as well as the current set of </a:t>
            </a:r>
            <a:r>
              <a:rPr lang="en-IN" i="1" dirty="0"/>
              <a:t>all employee entities</a:t>
            </a:r>
            <a:r>
              <a:rPr lang="en-IN" dirty="0"/>
              <a:t> in the database.</a:t>
            </a:r>
          </a:p>
          <a:p>
            <a:pPr algn="just">
              <a:lnSpc>
                <a:spcPct val="100000"/>
              </a:lnSpc>
              <a:buFont typeface="Wingdings" panose="05000000000000000000" pitchFamily="2" charset="2"/>
              <a:buChar char="q"/>
            </a:pPr>
            <a:r>
              <a:rPr lang="en-IN" dirty="0"/>
              <a:t>An entity type is represented in </a:t>
            </a:r>
            <a:r>
              <a:rPr lang="en-IN" b="1" dirty="0">
                <a:solidFill>
                  <a:srgbClr val="7030A0"/>
                </a:solidFill>
              </a:rPr>
              <a:t>ER diagram</a:t>
            </a:r>
            <a:r>
              <a:rPr lang="en-IN" dirty="0"/>
              <a:t> as a rectangular box enclosing the entity type name. </a:t>
            </a:r>
          </a:p>
          <a:p>
            <a:pPr algn="just">
              <a:lnSpc>
                <a:spcPct val="100000"/>
              </a:lnSpc>
              <a:buFont typeface="Wingdings" panose="05000000000000000000" pitchFamily="2" charset="2"/>
              <a:buChar char="q"/>
            </a:pPr>
            <a:r>
              <a:rPr lang="en-IN" dirty="0"/>
              <a:t>Attribute names are enclosed in ovals and are attached to their entity type by straight lines. </a:t>
            </a:r>
          </a:p>
          <a:p>
            <a:pPr algn="just">
              <a:lnSpc>
                <a:spcPct val="100000"/>
              </a:lnSpc>
              <a:buFont typeface="Wingdings" panose="05000000000000000000" pitchFamily="2" charset="2"/>
              <a:buChar char="q"/>
            </a:pPr>
            <a:r>
              <a:rPr lang="en-IN" dirty="0"/>
              <a:t>Composite attributes are attached to their component attributes by straight lines.</a:t>
            </a:r>
          </a:p>
          <a:p>
            <a:pPr algn="just">
              <a:lnSpc>
                <a:spcPct val="100000"/>
              </a:lnSpc>
              <a:buFont typeface="Wingdings" panose="05000000000000000000" pitchFamily="2" charset="2"/>
              <a:buChar char="q"/>
            </a:pPr>
            <a:r>
              <a:rPr lang="en-IN" dirty="0"/>
              <a:t>Multivalued attributes are displayed in double ovals.</a:t>
            </a:r>
          </a:p>
          <a:p>
            <a:pPr algn="just">
              <a:lnSpc>
                <a:spcPct val="100000"/>
              </a:lnSpc>
              <a:buFont typeface="Wingdings" panose="05000000000000000000" pitchFamily="2" charset="2"/>
              <a:buChar char="q"/>
            </a:pPr>
            <a:r>
              <a:rPr lang="en-IN" dirty="0"/>
              <a:t>An entity type describes the schema or intension for a set of entities that share the same structure. The collection of entities of a particular entity type is grouped into an entity set, which is also called the extension of the entity type.</a:t>
            </a:r>
          </a:p>
        </p:txBody>
      </p:sp>
      <p:sp>
        <p:nvSpPr>
          <p:cNvPr id="4" name="Title 1"/>
          <p:cNvSpPr>
            <a:spLocks noGrp="1"/>
          </p:cNvSpPr>
          <p:nvPr>
            <p:ph type="title"/>
          </p:nvPr>
        </p:nvSpPr>
        <p:spPr>
          <a:xfrm>
            <a:off x="838200" y="18894"/>
            <a:ext cx="10515600" cy="1090815"/>
          </a:xfrm>
        </p:spPr>
        <p:txBody>
          <a:bodyPr/>
          <a:lstStyle/>
          <a:p>
            <a:pPr algn="ctr"/>
            <a:r>
              <a:rPr lang="en-IN" b="1" dirty="0">
                <a:solidFill>
                  <a:schemeClr val="accent4">
                    <a:lumMod val="50000"/>
                  </a:schemeClr>
                </a:solidFill>
              </a:rPr>
              <a:t>Entity Types and Entity Sets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1126325"/>
          </a:xfrm>
        </p:spPr>
        <p:txBody>
          <a:bodyPr/>
          <a:lstStyle/>
          <a:p>
            <a:pPr algn="ctr"/>
            <a:r>
              <a:rPr lang="en-IN" b="1" dirty="0">
                <a:solidFill>
                  <a:schemeClr val="accent4">
                    <a:lumMod val="50000"/>
                  </a:schemeClr>
                </a:solidFill>
              </a:rPr>
              <a:t>Example: CAR Entity Type</a:t>
            </a:r>
          </a:p>
        </p:txBody>
      </p:sp>
      <p:sp>
        <p:nvSpPr>
          <p:cNvPr id="3" name="Content Placeholder 2"/>
          <p:cNvSpPr>
            <a:spLocks noGrp="1"/>
          </p:cNvSpPr>
          <p:nvPr>
            <p:ph idx="1"/>
          </p:nvPr>
        </p:nvSpPr>
        <p:spPr>
          <a:xfrm>
            <a:off x="1367161" y="1012054"/>
            <a:ext cx="10670959" cy="5734975"/>
          </a:xfrm>
        </p:spPr>
        <p:txBody>
          <a:bodyPr/>
          <a:lstStyle/>
          <a:p>
            <a:pPr>
              <a:buFont typeface="Wingdings" panose="05000000000000000000" pitchFamily="2" charset="2"/>
              <a:buChar char="q"/>
            </a:pPr>
            <a:r>
              <a:rPr lang="en-IN" dirty="0"/>
              <a:t>ER diagram notation:</a:t>
            </a:r>
          </a:p>
          <a:p>
            <a:pPr>
              <a:buFont typeface="Wingdings" panose="05000000000000000000" pitchFamily="2" charset="2"/>
              <a:buChar char="q"/>
            </a:pPr>
            <a:endParaRPr lang="en-IN" dirty="0"/>
          </a:p>
          <a:p>
            <a:pPr>
              <a:buFont typeface="Wingdings" panose="05000000000000000000" pitchFamily="2" charset="2"/>
              <a:buChar char="q"/>
            </a:pPr>
            <a:endParaRPr lang="en-IN" dirty="0"/>
          </a:p>
          <a:p>
            <a:pPr>
              <a:buFont typeface="Wingdings" panose="05000000000000000000" pitchFamily="2" charset="2"/>
              <a:buChar char="q"/>
            </a:pPr>
            <a:endParaRPr lang="en-IN" dirty="0"/>
          </a:p>
          <a:p>
            <a:pPr>
              <a:buFont typeface="Wingdings" panose="05000000000000000000" pitchFamily="2" charset="2"/>
              <a:buChar char="q"/>
            </a:pPr>
            <a:endParaRPr lang="en-IN" dirty="0"/>
          </a:p>
          <a:p>
            <a:pPr>
              <a:buFont typeface="Wingdings" panose="05000000000000000000" pitchFamily="2" charset="2"/>
              <a:buChar char="q"/>
            </a:pPr>
            <a:endParaRPr lang="en-IN" dirty="0"/>
          </a:p>
          <a:p>
            <a:pPr>
              <a:buFont typeface="Wingdings" panose="05000000000000000000" pitchFamily="2" charset="2"/>
              <a:buChar char="q"/>
            </a:pPr>
            <a:r>
              <a:rPr lang="en-IN" dirty="0"/>
              <a:t>Entity set with three entities:</a:t>
            </a:r>
          </a:p>
        </p:txBody>
      </p:sp>
      <p:pic>
        <p:nvPicPr>
          <p:cNvPr id="5" name="Picture 4"/>
          <p:cNvPicPr>
            <a:picLocks noChangeAspect="1"/>
          </p:cNvPicPr>
          <p:nvPr/>
        </p:nvPicPr>
        <p:blipFill>
          <a:blip r:embed="rId2"/>
          <a:stretch>
            <a:fillRect/>
          </a:stretch>
        </p:blipFill>
        <p:spPr>
          <a:xfrm>
            <a:off x="4490768" y="1456919"/>
            <a:ext cx="4617722" cy="2593992"/>
          </a:xfrm>
          <a:prstGeom prst="rect">
            <a:avLst/>
          </a:prstGeom>
        </p:spPr>
      </p:pic>
      <p:pic>
        <p:nvPicPr>
          <p:cNvPr id="7" name="Picture 6"/>
          <p:cNvPicPr>
            <a:picLocks noChangeAspect="1"/>
          </p:cNvPicPr>
          <p:nvPr/>
        </p:nvPicPr>
        <p:blipFill>
          <a:blip r:embed="rId3"/>
          <a:stretch>
            <a:fillRect/>
          </a:stretch>
        </p:blipFill>
        <p:spPr>
          <a:xfrm>
            <a:off x="3991325" y="4447713"/>
            <a:ext cx="4748745" cy="23913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14"/>
            <a:ext cx="10515600" cy="868875"/>
          </a:xfrm>
        </p:spPr>
        <p:txBody>
          <a:bodyPr/>
          <a:lstStyle/>
          <a:p>
            <a:pPr algn="ctr"/>
            <a:r>
              <a:rPr lang="en-IN" b="1" dirty="0">
                <a:solidFill>
                  <a:schemeClr val="accent4">
                    <a:lumMod val="50000"/>
                  </a:schemeClr>
                </a:solidFill>
              </a:rPr>
              <a:t>Key Attributes of an Entity Type</a:t>
            </a:r>
          </a:p>
        </p:txBody>
      </p:sp>
      <p:sp>
        <p:nvSpPr>
          <p:cNvPr id="3" name="Content Placeholder 2"/>
          <p:cNvSpPr>
            <a:spLocks noGrp="1"/>
          </p:cNvSpPr>
          <p:nvPr>
            <p:ph idx="1"/>
          </p:nvPr>
        </p:nvSpPr>
        <p:spPr>
          <a:xfrm>
            <a:off x="1278384" y="781235"/>
            <a:ext cx="10741980" cy="5956916"/>
          </a:xfrm>
        </p:spPr>
        <p:txBody>
          <a:bodyPr/>
          <a:lstStyle/>
          <a:p>
            <a:pPr algn="just">
              <a:lnSpc>
                <a:spcPct val="100000"/>
              </a:lnSpc>
              <a:buFont typeface="Wingdings" panose="05000000000000000000" pitchFamily="2" charset="2"/>
              <a:buChar char="q"/>
            </a:pPr>
            <a:r>
              <a:rPr lang="en-IN" dirty="0"/>
              <a:t>An entity type usually has one or more attributes whose values are distinct for each individual entity in the entity set. Such an attribute is called a </a:t>
            </a:r>
            <a:r>
              <a:rPr lang="en-IN" b="1" dirty="0">
                <a:solidFill>
                  <a:srgbClr val="7030A0"/>
                </a:solidFill>
              </a:rPr>
              <a:t>key attribute</a:t>
            </a:r>
            <a:r>
              <a:rPr lang="en-IN" dirty="0"/>
              <a:t>, and its values can be used to identify each entity uniquely.</a:t>
            </a:r>
          </a:p>
          <a:p>
            <a:pPr algn="just">
              <a:lnSpc>
                <a:spcPct val="100000"/>
              </a:lnSpc>
              <a:buFont typeface="Wingdings" panose="05000000000000000000" pitchFamily="2" charset="2"/>
              <a:buChar char="q"/>
            </a:pPr>
            <a:r>
              <a:rPr lang="en-IN" dirty="0"/>
              <a:t>An attribute of an entity type for which each entity must have a unique value is called a key attribute of the entity type. </a:t>
            </a:r>
          </a:p>
          <a:p>
            <a:pPr algn="just">
              <a:lnSpc>
                <a:spcPct val="100000"/>
              </a:lnSpc>
              <a:buFont typeface="Wingdings" panose="05000000000000000000" pitchFamily="2" charset="2"/>
              <a:buChar char="q"/>
            </a:pPr>
            <a:r>
              <a:rPr lang="en-IN" dirty="0"/>
              <a:t>For example</a:t>
            </a:r>
          </a:p>
          <a:p>
            <a:pPr lvl="1" algn="just">
              <a:lnSpc>
                <a:spcPct val="100000"/>
              </a:lnSpc>
              <a:buFont typeface="Wingdings" panose="05000000000000000000" pitchFamily="2" charset="2"/>
              <a:buChar char="§"/>
            </a:pPr>
            <a:r>
              <a:rPr lang="en-IN" dirty="0"/>
              <a:t>Name attribute is a key of the COMPANY entity type because no two companies are allowed to have the same name.</a:t>
            </a:r>
          </a:p>
          <a:p>
            <a:pPr lvl="1" algn="just">
              <a:lnSpc>
                <a:spcPct val="100000"/>
              </a:lnSpc>
              <a:buFont typeface="Wingdings" panose="05000000000000000000" pitchFamily="2" charset="2"/>
              <a:buChar char="§"/>
            </a:pPr>
            <a:r>
              <a:rPr lang="en-US" altLang="en-US" sz="2400" dirty="0"/>
              <a:t>SSN (Social Security number) of EMPLOYEE</a:t>
            </a:r>
          </a:p>
          <a:p>
            <a:pPr algn="just">
              <a:lnSpc>
                <a:spcPct val="100000"/>
              </a:lnSpc>
              <a:buFont typeface="Wingdings" panose="05000000000000000000" pitchFamily="2" charset="2"/>
              <a:buChar char="q"/>
            </a:pPr>
            <a:r>
              <a:rPr lang="en-IN" dirty="0"/>
              <a:t>A key attribute may be composite. </a:t>
            </a:r>
          </a:p>
          <a:p>
            <a:pPr lvl="1" algn="just">
              <a:lnSpc>
                <a:spcPct val="100000"/>
              </a:lnSpc>
              <a:buFont typeface="Wingdings" panose="05000000000000000000" pitchFamily="2" charset="2"/>
              <a:buChar char="§"/>
            </a:pPr>
            <a:r>
              <a:rPr lang="en-IN" dirty="0" err="1"/>
              <a:t>VehicleRegistrationNumber</a:t>
            </a:r>
            <a:r>
              <a:rPr lang="en-IN" dirty="0"/>
              <a:t> is a key of the CAR entity type with components (Number, State).</a:t>
            </a:r>
          </a:p>
          <a:p>
            <a:pPr algn="just">
              <a:lnSpc>
                <a:spcPct val="100000"/>
              </a:lnSpc>
              <a:buFont typeface="Wingdings" panose="05000000000000000000" pitchFamily="2" charset="2"/>
              <a:buChar char="q"/>
            </a:pPr>
            <a:endParaRPr lang="en-IN" dirty="0"/>
          </a:p>
          <a:p>
            <a:pPr algn="just">
              <a:lnSpc>
                <a:spcPct val="100000"/>
              </a:lnSpc>
              <a:buFont typeface="Wingdings" panose="05000000000000000000" pitchFamily="2" charset="2"/>
              <a:buChar char="q"/>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40528" y="878889"/>
            <a:ext cx="10715348" cy="5877018"/>
          </a:xfrm>
        </p:spPr>
        <p:txBody>
          <a:bodyPr/>
          <a:lstStyle/>
          <a:p>
            <a:pPr algn="just">
              <a:lnSpc>
                <a:spcPct val="100000"/>
              </a:lnSpc>
              <a:buFont typeface="Wingdings" panose="05000000000000000000" pitchFamily="2" charset="2"/>
              <a:buChar char="q"/>
            </a:pPr>
            <a:r>
              <a:rPr lang="en-US" altLang="en-US" dirty="0"/>
              <a:t>An entity type may have more than one key. </a:t>
            </a:r>
            <a:r>
              <a:rPr lang="en-IN" altLang="en-US" dirty="0"/>
              <a:t>For example, each of the </a:t>
            </a:r>
            <a:r>
              <a:rPr lang="en-IN" altLang="en-US" dirty="0" err="1"/>
              <a:t>Vehicle_id</a:t>
            </a:r>
            <a:r>
              <a:rPr lang="en-IN" altLang="en-US" dirty="0"/>
              <a:t> and Registration attributes of the entity type CAR is a key.</a:t>
            </a:r>
          </a:p>
          <a:p>
            <a:pPr algn="just">
              <a:lnSpc>
                <a:spcPct val="100000"/>
              </a:lnSpc>
              <a:buFont typeface="Wingdings" panose="05000000000000000000" pitchFamily="2" charset="2"/>
              <a:buChar char="q"/>
            </a:pPr>
            <a:r>
              <a:rPr lang="en-IN" altLang="en-US" dirty="0"/>
              <a:t>An entity type may also have </a:t>
            </a:r>
            <a:r>
              <a:rPr lang="en-IN" altLang="en-US" i="1" dirty="0"/>
              <a:t>no key</a:t>
            </a:r>
            <a:r>
              <a:rPr lang="en-IN" altLang="en-US" dirty="0"/>
              <a:t>, in which case it is called a </a:t>
            </a:r>
            <a:r>
              <a:rPr lang="en-IN" altLang="en-US" i="1" dirty="0"/>
              <a:t>weak entity type</a:t>
            </a:r>
            <a:r>
              <a:rPr lang="en-IN" altLang="en-US" dirty="0"/>
              <a:t>.</a:t>
            </a:r>
          </a:p>
          <a:p>
            <a:pPr algn="just">
              <a:lnSpc>
                <a:spcPct val="100000"/>
              </a:lnSpc>
              <a:buFont typeface="Wingdings" panose="05000000000000000000" pitchFamily="2" charset="2"/>
              <a:buChar char="q"/>
            </a:pPr>
            <a:r>
              <a:rPr lang="en-IN" altLang="en-US" dirty="0"/>
              <a:t>In ER diagrammatic notation, each key attribute has its name underlined inside the oval.</a:t>
            </a:r>
            <a:endParaRPr lang="en-US" altLang="en-US" dirty="0"/>
          </a:p>
          <a:p>
            <a:pPr algn="just">
              <a:lnSpc>
                <a:spcPct val="100000"/>
              </a:lnSpc>
            </a:pPr>
            <a:endParaRPr lang="en-IN" dirty="0"/>
          </a:p>
        </p:txBody>
      </p:sp>
      <p:sp>
        <p:nvSpPr>
          <p:cNvPr id="4" name="Title 1"/>
          <p:cNvSpPr>
            <a:spLocks noGrp="1"/>
          </p:cNvSpPr>
          <p:nvPr>
            <p:ph type="title"/>
          </p:nvPr>
        </p:nvSpPr>
        <p:spPr>
          <a:xfrm>
            <a:off x="838200" y="10014"/>
            <a:ext cx="10515600" cy="868875"/>
          </a:xfrm>
        </p:spPr>
        <p:txBody>
          <a:bodyPr/>
          <a:lstStyle/>
          <a:p>
            <a:pPr algn="ctr"/>
            <a:r>
              <a:rPr lang="en-IN" b="1" dirty="0">
                <a:solidFill>
                  <a:schemeClr val="accent4">
                    <a:lumMod val="50000"/>
                  </a:schemeClr>
                </a:solidFill>
              </a:rPr>
              <a:t>Key Attributes of an Entity Type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922"/>
            <a:ext cx="10515600" cy="1325563"/>
          </a:xfrm>
        </p:spPr>
        <p:txBody>
          <a:bodyPr/>
          <a:lstStyle/>
          <a:p>
            <a:pPr algn="ctr"/>
            <a:r>
              <a:rPr lang="en-IN" b="1" dirty="0">
                <a:solidFill>
                  <a:schemeClr val="accent4">
                    <a:lumMod val="50000"/>
                  </a:schemeClr>
                </a:solidFill>
              </a:rPr>
              <a:t>Initial Conceptual Design of Entity Types for the COMPANY Database Schema</a:t>
            </a:r>
          </a:p>
        </p:txBody>
      </p:sp>
      <p:sp>
        <p:nvSpPr>
          <p:cNvPr id="3" name="Content Placeholder 2"/>
          <p:cNvSpPr>
            <a:spLocks noGrp="1"/>
          </p:cNvSpPr>
          <p:nvPr>
            <p:ph idx="1"/>
          </p:nvPr>
        </p:nvSpPr>
        <p:spPr>
          <a:xfrm>
            <a:off x="838354" y="1709585"/>
            <a:ext cx="10768613" cy="5420323"/>
          </a:xfrm>
        </p:spPr>
        <p:txBody>
          <a:bodyPr/>
          <a:lstStyle/>
          <a:p>
            <a:pPr>
              <a:lnSpc>
                <a:spcPct val="100000"/>
              </a:lnSpc>
              <a:buFont typeface="Wingdings" panose="05000000000000000000" pitchFamily="2" charset="2"/>
              <a:buChar char="q"/>
            </a:pPr>
            <a:r>
              <a:rPr lang="en-IN" dirty="0"/>
              <a:t>Based on the requirements, we can identify four initial entity types in the COMPANY database:</a:t>
            </a:r>
          </a:p>
          <a:p>
            <a:pPr lvl="1">
              <a:lnSpc>
                <a:spcPct val="100000"/>
              </a:lnSpc>
              <a:buFont typeface="Wingdings" panose="05000000000000000000" pitchFamily="2" charset="2"/>
              <a:buChar char="§"/>
            </a:pPr>
            <a:r>
              <a:rPr lang="en-IN" dirty="0"/>
              <a:t>DEPARTMENT</a:t>
            </a:r>
          </a:p>
          <a:p>
            <a:pPr lvl="1">
              <a:lnSpc>
                <a:spcPct val="100000"/>
              </a:lnSpc>
              <a:buFont typeface="Wingdings" panose="05000000000000000000" pitchFamily="2" charset="2"/>
              <a:buChar char="§"/>
            </a:pPr>
            <a:r>
              <a:rPr lang="en-IN" dirty="0"/>
              <a:t>PROJECT</a:t>
            </a:r>
          </a:p>
          <a:p>
            <a:pPr lvl="1">
              <a:lnSpc>
                <a:spcPct val="100000"/>
              </a:lnSpc>
              <a:buFont typeface="Wingdings" panose="05000000000000000000" pitchFamily="2" charset="2"/>
              <a:buChar char="§"/>
            </a:pPr>
            <a:r>
              <a:rPr lang="en-IN" dirty="0"/>
              <a:t>EMPLOYEE</a:t>
            </a:r>
          </a:p>
          <a:p>
            <a:pPr lvl="1">
              <a:lnSpc>
                <a:spcPct val="100000"/>
              </a:lnSpc>
              <a:buFont typeface="Wingdings" panose="05000000000000000000" pitchFamily="2" charset="2"/>
              <a:buChar char="§"/>
            </a:pPr>
            <a:r>
              <a:rPr lang="en-IN" dirty="0"/>
              <a:t>DEPENDENT</a:t>
            </a:r>
          </a:p>
          <a:p>
            <a:pPr>
              <a:lnSpc>
                <a:spcPct val="100000"/>
              </a:lnSpc>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0528" y="18891"/>
            <a:ext cx="10013272" cy="1325563"/>
          </a:xfrm>
        </p:spPr>
        <p:txBody>
          <a:bodyPr>
            <a:normAutofit/>
          </a:bodyPr>
          <a:lstStyle/>
          <a:p>
            <a:pPr algn="ctr"/>
            <a:r>
              <a:rPr lang="en-IN" sz="3555" b="1" dirty="0">
                <a:solidFill>
                  <a:schemeClr val="accent4">
                    <a:lumMod val="50000"/>
                  </a:schemeClr>
                </a:solidFill>
              </a:rPr>
              <a:t>Initial Design of Entity Types:</a:t>
            </a:r>
            <a:br>
              <a:rPr lang="en-IN" sz="3555" b="1" dirty="0">
                <a:solidFill>
                  <a:schemeClr val="accent4">
                    <a:lumMod val="50000"/>
                  </a:schemeClr>
                </a:solidFill>
              </a:rPr>
            </a:br>
            <a:r>
              <a:rPr lang="en-IN" sz="3555" b="1" dirty="0">
                <a:solidFill>
                  <a:schemeClr val="accent4">
                    <a:lumMod val="50000"/>
                  </a:schemeClr>
                </a:solidFill>
              </a:rPr>
              <a:t>EMPLOYEE, DEPARTMENT, PROJECT, DEPENDENT</a:t>
            </a:r>
          </a:p>
        </p:txBody>
      </p:sp>
      <p:pic>
        <p:nvPicPr>
          <p:cNvPr id="5" name="Picture 4"/>
          <p:cNvPicPr>
            <a:picLocks noChangeAspect="1"/>
          </p:cNvPicPr>
          <p:nvPr/>
        </p:nvPicPr>
        <p:blipFill>
          <a:blip r:embed="rId2"/>
          <a:stretch>
            <a:fillRect/>
          </a:stretch>
        </p:blipFill>
        <p:spPr>
          <a:xfrm>
            <a:off x="1485363" y="1373306"/>
            <a:ext cx="4610637" cy="1635617"/>
          </a:xfrm>
          <a:prstGeom prst="rect">
            <a:avLst/>
          </a:prstGeom>
        </p:spPr>
      </p:pic>
      <p:pic>
        <p:nvPicPr>
          <p:cNvPr id="7" name="Picture 6"/>
          <p:cNvPicPr>
            <a:picLocks noChangeAspect="1"/>
          </p:cNvPicPr>
          <p:nvPr/>
        </p:nvPicPr>
        <p:blipFill>
          <a:blip r:embed="rId3"/>
          <a:stretch>
            <a:fillRect/>
          </a:stretch>
        </p:blipFill>
        <p:spPr>
          <a:xfrm>
            <a:off x="7630587" y="1503702"/>
            <a:ext cx="3322749" cy="1680693"/>
          </a:xfrm>
          <a:prstGeom prst="rect">
            <a:avLst/>
          </a:prstGeom>
        </p:spPr>
      </p:pic>
      <p:pic>
        <p:nvPicPr>
          <p:cNvPr id="9" name="Picture 8"/>
          <p:cNvPicPr>
            <a:picLocks noChangeAspect="1"/>
          </p:cNvPicPr>
          <p:nvPr/>
        </p:nvPicPr>
        <p:blipFill>
          <a:blip r:embed="rId4"/>
          <a:stretch>
            <a:fillRect/>
          </a:stretch>
        </p:blipFill>
        <p:spPr>
          <a:xfrm>
            <a:off x="654738" y="3904563"/>
            <a:ext cx="6053070" cy="2240924"/>
          </a:xfrm>
          <a:prstGeom prst="rect">
            <a:avLst/>
          </a:prstGeom>
        </p:spPr>
      </p:pic>
      <p:pic>
        <p:nvPicPr>
          <p:cNvPr id="11" name="Picture 10"/>
          <p:cNvPicPr>
            <a:picLocks noChangeAspect="1"/>
          </p:cNvPicPr>
          <p:nvPr/>
        </p:nvPicPr>
        <p:blipFill>
          <a:blip r:embed="rId5"/>
          <a:stretch>
            <a:fillRect/>
          </a:stretch>
        </p:blipFill>
        <p:spPr>
          <a:xfrm>
            <a:off x="6867606" y="4556727"/>
            <a:ext cx="5254580" cy="11719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0474" y="344647"/>
            <a:ext cx="10110926" cy="1325563"/>
          </a:xfrm>
        </p:spPr>
        <p:txBody>
          <a:bodyPr/>
          <a:lstStyle/>
          <a:p>
            <a:pPr algn="ctr"/>
            <a:r>
              <a:rPr lang="en-IN" b="1" dirty="0">
                <a:solidFill>
                  <a:schemeClr val="accent4">
                    <a:lumMod val="50000"/>
                  </a:schemeClr>
                </a:solidFill>
              </a:rPr>
              <a:t>Refining the initial design by introducing relationships</a:t>
            </a:r>
          </a:p>
        </p:txBody>
      </p:sp>
      <p:sp>
        <p:nvSpPr>
          <p:cNvPr id="3" name="Content Placeholder 2"/>
          <p:cNvSpPr>
            <a:spLocks noGrp="1"/>
          </p:cNvSpPr>
          <p:nvPr>
            <p:ph idx="1"/>
          </p:nvPr>
        </p:nvSpPr>
        <p:spPr>
          <a:xfrm>
            <a:off x="1090472" y="1844835"/>
            <a:ext cx="10795248" cy="5402574"/>
          </a:xfrm>
        </p:spPr>
        <p:txBody>
          <a:bodyPr/>
          <a:lstStyle/>
          <a:p>
            <a:pPr algn="just">
              <a:lnSpc>
                <a:spcPct val="100000"/>
              </a:lnSpc>
              <a:buFont typeface="Wingdings" panose="05000000000000000000" pitchFamily="2" charset="2"/>
              <a:buChar char="q"/>
            </a:pPr>
            <a:r>
              <a:rPr lang="en-US" altLang="en-US" dirty="0"/>
              <a:t>The initial design is typically not complete.</a:t>
            </a:r>
          </a:p>
          <a:p>
            <a:pPr algn="just">
              <a:lnSpc>
                <a:spcPct val="100000"/>
              </a:lnSpc>
              <a:buFont typeface="Wingdings" panose="05000000000000000000" pitchFamily="2" charset="2"/>
              <a:buChar char="q"/>
            </a:pPr>
            <a:r>
              <a:rPr lang="en-US" altLang="en-US" dirty="0"/>
              <a:t>Some aspects in the requirements will be represented as </a:t>
            </a:r>
            <a:r>
              <a:rPr lang="en-US" altLang="en-US" b="1" dirty="0">
                <a:solidFill>
                  <a:srgbClr val="7030A0"/>
                </a:solidFill>
              </a:rPr>
              <a:t>relationships</a:t>
            </a:r>
            <a:r>
              <a:rPr lang="en-US" altLang="en-US" b="1" dirty="0"/>
              <a:t>.</a:t>
            </a:r>
            <a:endParaRPr lang="en-US" altLang="en-US" dirty="0"/>
          </a:p>
          <a:p>
            <a:pPr algn="just">
              <a:lnSpc>
                <a:spcPct val="100000"/>
              </a:lnSpc>
              <a:buFont typeface="Wingdings" panose="05000000000000000000" pitchFamily="2" charset="2"/>
              <a:buChar char="q"/>
            </a:pPr>
            <a:r>
              <a:rPr lang="en-US" altLang="en-US" dirty="0"/>
              <a:t>ER model has three main concepts:</a:t>
            </a:r>
          </a:p>
          <a:p>
            <a:pPr lvl="1" algn="just">
              <a:lnSpc>
                <a:spcPct val="100000"/>
              </a:lnSpc>
              <a:buFont typeface="Wingdings" panose="05000000000000000000" pitchFamily="2" charset="2"/>
              <a:buChar char="§"/>
            </a:pPr>
            <a:r>
              <a:rPr lang="en-US" altLang="en-US" dirty="0"/>
              <a:t>Entities (and their entity types and entity sets)</a:t>
            </a:r>
          </a:p>
          <a:p>
            <a:pPr lvl="1" algn="just">
              <a:lnSpc>
                <a:spcPct val="100000"/>
              </a:lnSpc>
              <a:buFont typeface="Wingdings" panose="05000000000000000000" pitchFamily="2" charset="2"/>
              <a:buChar char="§"/>
            </a:pPr>
            <a:r>
              <a:rPr lang="en-US" altLang="en-US" dirty="0"/>
              <a:t>Attributes (simple, composite, multivalued)</a:t>
            </a:r>
          </a:p>
          <a:p>
            <a:pPr lvl="1" algn="just">
              <a:lnSpc>
                <a:spcPct val="100000"/>
              </a:lnSpc>
              <a:buFont typeface="Wingdings" panose="05000000000000000000" pitchFamily="2" charset="2"/>
              <a:buChar char="§"/>
            </a:pPr>
            <a:r>
              <a:rPr lang="en-US" altLang="en-US" dirty="0"/>
              <a:t>Relationships (and their relationship types and relationship sets)</a:t>
            </a:r>
          </a:p>
          <a:p>
            <a:pPr algn="just">
              <a:lnSpc>
                <a:spcPct val="100000"/>
              </a:lnSpc>
              <a:buFont typeface="Wingdings" panose="05000000000000000000" pitchFamily="2" charset="2"/>
              <a:buChar char="q"/>
            </a:pPr>
            <a:r>
              <a:rPr lang="en-US" altLang="en-US" dirty="0"/>
              <a:t>We introduce relationship concepts. </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1"/>
            <a:ext cx="10515600" cy="1325563"/>
          </a:xfrm>
        </p:spPr>
        <p:txBody>
          <a:bodyPr/>
          <a:lstStyle/>
          <a:p>
            <a:pPr algn="ctr"/>
            <a:r>
              <a:rPr lang="en-IN" b="1" dirty="0">
                <a:solidFill>
                  <a:schemeClr val="accent4">
                    <a:lumMod val="50000"/>
                  </a:schemeClr>
                </a:solidFill>
              </a:rPr>
              <a:t>Relationships</a:t>
            </a:r>
            <a:endParaRPr lang="en-IN" dirty="0">
              <a:solidFill>
                <a:schemeClr val="accent4">
                  <a:lumMod val="50000"/>
                </a:schemeClr>
              </a:solidFill>
            </a:endParaRPr>
          </a:p>
        </p:txBody>
      </p:sp>
      <p:sp>
        <p:nvSpPr>
          <p:cNvPr id="3" name="Content Placeholder 2"/>
          <p:cNvSpPr>
            <a:spLocks noGrp="1"/>
          </p:cNvSpPr>
          <p:nvPr>
            <p:ph idx="1"/>
          </p:nvPr>
        </p:nvSpPr>
        <p:spPr>
          <a:xfrm>
            <a:off x="617855" y="1066165"/>
            <a:ext cx="11195050" cy="5791835"/>
          </a:xfrm>
        </p:spPr>
        <p:txBody>
          <a:bodyPr>
            <a:normAutofit lnSpcReduction="10000"/>
          </a:bodyPr>
          <a:lstStyle/>
          <a:p>
            <a:pPr algn="just">
              <a:lnSpc>
                <a:spcPct val="110000"/>
              </a:lnSpc>
              <a:buFont typeface="Wingdings" panose="05000000000000000000" pitchFamily="2" charset="2"/>
              <a:buChar char="q"/>
            </a:pPr>
            <a:r>
              <a:rPr lang="en-IN" dirty="0"/>
              <a:t>There are several </a:t>
            </a:r>
            <a:r>
              <a:rPr lang="en-IN" i="1" dirty="0"/>
              <a:t>implicit relationships </a:t>
            </a:r>
            <a:r>
              <a:rPr lang="en-IN" dirty="0"/>
              <a:t>among the various entity types.</a:t>
            </a:r>
          </a:p>
          <a:p>
            <a:pPr algn="just">
              <a:lnSpc>
                <a:spcPct val="110000"/>
              </a:lnSpc>
              <a:buFont typeface="Wingdings" panose="05000000000000000000" pitchFamily="2" charset="2"/>
              <a:buChar char="q"/>
            </a:pPr>
            <a:r>
              <a:rPr lang="en-IN" dirty="0"/>
              <a:t>Whenever an attribute of one entity type refers to another entity type, some relationship exists. For example,</a:t>
            </a:r>
          </a:p>
          <a:p>
            <a:pPr lvl="1" algn="just">
              <a:lnSpc>
                <a:spcPct val="110000"/>
              </a:lnSpc>
              <a:buFont typeface="Wingdings" panose="05000000000000000000" pitchFamily="2" charset="2"/>
              <a:buChar char="§"/>
            </a:pPr>
            <a:r>
              <a:rPr lang="en-IN" dirty="0"/>
              <a:t>Attribute Manager of DEPARTMENT refers to an employee who manages the department.</a:t>
            </a:r>
          </a:p>
          <a:p>
            <a:pPr lvl="1" algn="just">
              <a:lnSpc>
                <a:spcPct val="110000"/>
              </a:lnSpc>
              <a:buFont typeface="Wingdings" panose="05000000000000000000" pitchFamily="2" charset="2"/>
              <a:buChar char="§"/>
            </a:pPr>
            <a:r>
              <a:rPr lang="en-IN" dirty="0"/>
              <a:t>Attribute </a:t>
            </a:r>
            <a:r>
              <a:rPr lang="en-IN" dirty="0" err="1"/>
              <a:t>Controlling_department</a:t>
            </a:r>
            <a:r>
              <a:rPr lang="en-IN" dirty="0"/>
              <a:t> of PROJECT refers to the department that controls the project.</a:t>
            </a:r>
          </a:p>
          <a:p>
            <a:pPr lvl="1" algn="just">
              <a:lnSpc>
                <a:spcPct val="110000"/>
              </a:lnSpc>
              <a:buFont typeface="Wingdings" panose="05000000000000000000" pitchFamily="2" charset="2"/>
              <a:buChar char="§"/>
            </a:pPr>
            <a:r>
              <a:rPr lang="en-IN" dirty="0"/>
              <a:t>Attribute Supervisor of EMPLOYEE refers to another employee.</a:t>
            </a:r>
          </a:p>
          <a:p>
            <a:pPr lvl="1" algn="just">
              <a:lnSpc>
                <a:spcPct val="110000"/>
              </a:lnSpc>
              <a:buFont typeface="Wingdings" panose="05000000000000000000" pitchFamily="2" charset="2"/>
              <a:buChar char="§"/>
            </a:pPr>
            <a:r>
              <a:rPr lang="en-IN" dirty="0"/>
              <a:t>Attribute Department of EMPLOYEE refers to the department for which the employee works.</a:t>
            </a:r>
          </a:p>
          <a:p>
            <a:pPr algn="just">
              <a:lnSpc>
                <a:spcPct val="110000"/>
              </a:lnSpc>
              <a:buFont typeface="Wingdings" panose="05000000000000000000" pitchFamily="2" charset="2"/>
              <a:buChar char="q"/>
            </a:pPr>
            <a:r>
              <a:rPr lang="en-IN" dirty="0"/>
              <a:t>In the initial design of entity types, relationships are typically captured in the form of attributes. As the design is refined, these attributes get converted into relationships between entity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720" y="-157"/>
            <a:ext cx="10515600" cy="1339390"/>
          </a:xfrm>
        </p:spPr>
        <p:txBody>
          <a:bodyPr/>
          <a:lstStyle/>
          <a:p>
            <a:pPr algn="ctr"/>
            <a:r>
              <a:rPr lang="en-IN" b="1" dirty="0">
                <a:solidFill>
                  <a:schemeClr val="accent4">
                    <a:lumMod val="50000"/>
                  </a:schemeClr>
                </a:solidFill>
              </a:rPr>
              <a:t>Relationship Types, Sets, and Instances</a:t>
            </a:r>
          </a:p>
        </p:txBody>
      </p:sp>
      <p:sp>
        <p:nvSpPr>
          <p:cNvPr id="3" name="Content Placeholder 2"/>
          <p:cNvSpPr>
            <a:spLocks noGrp="1"/>
          </p:cNvSpPr>
          <p:nvPr>
            <p:ph idx="1"/>
          </p:nvPr>
        </p:nvSpPr>
        <p:spPr>
          <a:xfrm>
            <a:off x="680935" y="1103382"/>
            <a:ext cx="10830757" cy="5672831"/>
          </a:xfrm>
        </p:spPr>
        <p:txBody>
          <a:bodyPr/>
          <a:lstStyle/>
          <a:p>
            <a:pPr algn="just">
              <a:lnSpc>
                <a:spcPct val="100000"/>
              </a:lnSpc>
              <a:buFont typeface="Wingdings" panose="05000000000000000000" pitchFamily="2" charset="2"/>
              <a:buChar char="q"/>
            </a:pPr>
            <a:r>
              <a:rPr lang="en-IN" dirty="0"/>
              <a:t>A relationship relates two or more distinct entities with a specific meaning.</a:t>
            </a:r>
          </a:p>
          <a:p>
            <a:pPr lvl="1" algn="just">
              <a:lnSpc>
                <a:spcPct val="100000"/>
              </a:lnSpc>
              <a:buFont typeface="Wingdings" panose="05000000000000000000" pitchFamily="2" charset="2"/>
              <a:buChar char="§"/>
            </a:pPr>
            <a:r>
              <a:rPr lang="en-IN" dirty="0"/>
              <a:t>For example, EMPLOYEE  Rama works on the </a:t>
            </a:r>
            <a:r>
              <a:rPr lang="en-IN" dirty="0" err="1"/>
              <a:t>ProductX</a:t>
            </a:r>
            <a:r>
              <a:rPr lang="en-IN" dirty="0"/>
              <a:t> PROJECT, or EMPLOYEE  Krishna manages the Research DEPARTMENT.</a:t>
            </a:r>
          </a:p>
          <a:p>
            <a:pPr algn="just">
              <a:lnSpc>
                <a:spcPct val="100000"/>
              </a:lnSpc>
              <a:buFont typeface="Wingdings" panose="05000000000000000000" pitchFamily="2" charset="2"/>
              <a:buChar char="q"/>
            </a:pPr>
            <a:r>
              <a:rPr lang="en-IN" dirty="0"/>
              <a:t>Relationships of the same type are grouped or typed into a </a:t>
            </a:r>
            <a:r>
              <a:rPr lang="en-IN" b="1" dirty="0">
                <a:solidFill>
                  <a:srgbClr val="7030A0"/>
                </a:solidFill>
              </a:rPr>
              <a:t>relationship type</a:t>
            </a:r>
            <a:r>
              <a:rPr lang="en-IN" dirty="0"/>
              <a:t>.</a:t>
            </a:r>
          </a:p>
          <a:p>
            <a:pPr lvl="1" algn="just">
              <a:lnSpc>
                <a:spcPct val="100000"/>
              </a:lnSpc>
              <a:buFont typeface="Wingdings" panose="05000000000000000000" pitchFamily="2" charset="2"/>
              <a:buChar char="§"/>
            </a:pPr>
            <a:r>
              <a:rPr lang="en-IN" dirty="0"/>
              <a:t>For example, the </a:t>
            </a:r>
            <a:r>
              <a:rPr lang="en-IN" b="1" dirty="0"/>
              <a:t>WORKS_ON</a:t>
            </a:r>
            <a:r>
              <a:rPr lang="en-IN" dirty="0"/>
              <a:t> relationship type in which EMPLOYEEs and PROJECTs participate, or the </a:t>
            </a:r>
            <a:r>
              <a:rPr lang="en-IN" b="1" dirty="0"/>
              <a:t>MANAGES</a:t>
            </a:r>
            <a:r>
              <a:rPr lang="en-IN" dirty="0"/>
              <a:t> relationship type in which EMPLOYEEs and DEPARTMENTs participate.</a:t>
            </a:r>
          </a:p>
          <a:p>
            <a:pPr algn="just">
              <a:lnSpc>
                <a:spcPct val="100000"/>
              </a:lnSpc>
              <a:buFont typeface="Wingdings" panose="05000000000000000000" pitchFamily="2" charset="2"/>
              <a:buChar char="q"/>
            </a:pPr>
            <a:r>
              <a:rPr lang="en-IN" dirty="0"/>
              <a:t>A </a:t>
            </a:r>
            <a:r>
              <a:rPr lang="en-IN" b="1" dirty="0">
                <a:solidFill>
                  <a:srgbClr val="7030A0"/>
                </a:solidFill>
              </a:rPr>
              <a:t>relationship type </a:t>
            </a:r>
            <a:r>
              <a:rPr lang="en-IN" i="1" dirty="0"/>
              <a:t>R</a:t>
            </a:r>
            <a:r>
              <a:rPr lang="en-IN" dirty="0"/>
              <a:t> among n entity types </a:t>
            </a:r>
            <a:r>
              <a:rPr lang="en-IN" i="1" dirty="0"/>
              <a:t>E</a:t>
            </a:r>
            <a:r>
              <a:rPr lang="en-IN" i="1" baseline="-25000" dirty="0"/>
              <a:t>1</a:t>
            </a:r>
            <a:r>
              <a:rPr lang="en-IN" i="1" dirty="0"/>
              <a:t>, E</a:t>
            </a:r>
            <a:r>
              <a:rPr lang="en-IN" i="1" baseline="-25000" dirty="0"/>
              <a:t>2</a:t>
            </a:r>
            <a:r>
              <a:rPr lang="en-IN" i="1" dirty="0"/>
              <a:t>, ..., </a:t>
            </a:r>
            <a:r>
              <a:rPr lang="en-IN" i="1" dirty="0" err="1"/>
              <a:t>E</a:t>
            </a:r>
            <a:r>
              <a:rPr lang="en-IN" i="1" baseline="-25000" dirty="0" err="1"/>
              <a:t>n</a:t>
            </a:r>
            <a:r>
              <a:rPr lang="en-IN" i="1" dirty="0"/>
              <a:t> </a:t>
            </a:r>
            <a:r>
              <a:rPr lang="en-IN" dirty="0"/>
              <a:t>defines a set of associations—or a </a:t>
            </a:r>
            <a:r>
              <a:rPr lang="en-IN" b="1" dirty="0">
                <a:solidFill>
                  <a:srgbClr val="7030A0"/>
                </a:solidFill>
              </a:rPr>
              <a:t>relationship set</a:t>
            </a:r>
            <a:r>
              <a:rPr lang="en-IN" dirty="0"/>
              <a:t>—among entities from these entity types.</a:t>
            </a:r>
          </a:p>
          <a:p>
            <a:pPr marL="0" indent="0" algn="just">
              <a:lnSpc>
                <a:spcPct val="100000"/>
              </a:lnSpc>
              <a:buNone/>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428" y="1175787"/>
            <a:ext cx="10857389" cy="5681708"/>
          </a:xfrm>
        </p:spPr>
        <p:txBody>
          <a:bodyPr/>
          <a:lstStyle/>
          <a:p>
            <a:pPr algn="just">
              <a:buFont typeface="Wingdings" panose="05000000000000000000" pitchFamily="2" charset="2"/>
              <a:buChar char="q"/>
            </a:pPr>
            <a:r>
              <a:rPr lang="en-IN" dirty="0"/>
              <a:t>Mathematically, the relationship set </a:t>
            </a:r>
            <a:r>
              <a:rPr lang="en-IN" i="1" dirty="0"/>
              <a:t>R</a:t>
            </a:r>
            <a:r>
              <a:rPr lang="en-IN" dirty="0"/>
              <a:t> is a set of </a:t>
            </a:r>
            <a:r>
              <a:rPr lang="en-IN" b="1" dirty="0">
                <a:solidFill>
                  <a:srgbClr val="7030A0"/>
                </a:solidFill>
              </a:rPr>
              <a:t>relationship instances </a:t>
            </a:r>
            <a:r>
              <a:rPr lang="en-IN" i="1" dirty="0" err="1"/>
              <a:t>r</a:t>
            </a:r>
            <a:r>
              <a:rPr lang="en-IN" i="1" baseline="-25000" dirty="0" err="1"/>
              <a:t>i</a:t>
            </a:r>
            <a:r>
              <a:rPr lang="en-IN" dirty="0"/>
              <a:t>, where each </a:t>
            </a:r>
            <a:r>
              <a:rPr lang="en-IN" i="1" dirty="0" err="1"/>
              <a:t>r</a:t>
            </a:r>
            <a:r>
              <a:rPr lang="en-IN" i="1" baseline="-25000" dirty="0" err="1"/>
              <a:t>i</a:t>
            </a:r>
            <a:r>
              <a:rPr lang="en-IN" dirty="0"/>
              <a:t> associates </a:t>
            </a:r>
            <a:r>
              <a:rPr lang="en-IN" i="1" dirty="0"/>
              <a:t>n</a:t>
            </a:r>
            <a:r>
              <a:rPr lang="en-IN" dirty="0"/>
              <a:t> individual entities (e</a:t>
            </a:r>
            <a:r>
              <a:rPr lang="en-IN" baseline="-25000" dirty="0"/>
              <a:t>1</a:t>
            </a:r>
            <a:r>
              <a:rPr lang="en-IN" dirty="0"/>
              <a:t>, e</a:t>
            </a:r>
            <a:r>
              <a:rPr lang="en-IN" baseline="-25000" dirty="0"/>
              <a:t>2</a:t>
            </a:r>
            <a:r>
              <a:rPr lang="en-IN" dirty="0"/>
              <a:t>, ..., </a:t>
            </a:r>
            <a:r>
              <a:rPr lang="en-IN" dirty="0" err="1"/>
              <a:t>e</a:t>
            </a:r>
            <a:r>
              <a:rPr lang="en-IN" baseline="-25000" dirty="0" err="1"/>
              <a:t>n</a:t>
            </a:r>
            <a:r>
              <a:rPr lang="en-IN" dirty="0"/>
              <a:t>), and each entity </a:t>
            </a:r>
            <a:r>
              <a:rPr lang="en-IN" i="1" dirty="0" err="1"/>
              <a:t>e</a:t>
            </a:r>
            <a:r>
              <a:rPr lang="en-IN" i="1" baseline="-25000" dirty="0" err="1"/>
              <a:t>j</a:t>
            </a:r>
            <a:r>
              <a:rPr lang="en-IN" dirty="0"/>
              <a:t> in </a:t>
            </a:r>
            <a:r>
              <a:rPr lang="en-IN" i="1" dirty="0" err="1"/>
              <a:t>r</a:t>
            </a:r>
            <a:r>
              <a:rPr lang="en-IN" i="1" baseline="-25000" dirty="0" err="1"/>
              <a:t>i</a:t>
            </a:r>
            <a:r>
              <a:rPr lang="en-IN" dirty="0"/>
              <a:t> is a member of entity set </a:t>
            </a:r>
            <a:r>
              <a:rPr lang="en-IN" i="1" dirty="0" err="1"/>
              <a:t>E</a:t>
            </a:r>
            <a:r>
              <a:rPr lang="en-IN" i="1" baseline="-25000" dirty="0" err="1"/>
              <a:t>j</a:t>
            </a:r>
            <a:r>
              <a:rPr lang="en-IN" i="1" dirty="0"/>
              <a:t>, 1 ≤ j ≤n</a:t>
            </a:r>
            <a:r>
              <a:rPr lang="en-IN" dirty="0"/>
              <a:t>.</a:t>
            </a:r>
          </a:p>
          <a:p>
            <a:pPr algn="just">
              <a:buFont typeface="Wingdings" panose="05000000000000000000" pitchFamily="2" charset="2"/>
              <a:buChar char="q"/>
            </a:pPr>
            <a:r>
              <a:rPr lang="en-IN" dirty="0"/>
              <a:t>A relationship set is a mathematical relation on E</a:t>
            </a:r>
            <a:r>
              <a:rPr lang="en-IN" baseline="-25000" dirty="0"/>
              <a:t>1</a:t>
            </a:r>
            <a:r>
              <a:rPr lang="en-IN" dirty="0"/>
              <a:t>, E</a:t>
            </a:r>
            <a:r>
              <a:rPr lang="en-IN" baseline="-25000" dirty="0"/>
              <a:t>2</a:t>
            </a:r>
            <a:r>
              <a:rPr lang="en-IN" dirty="0"/>
              <a:t>, ... , </a:t>
            </a:r>
            <a:r>
              <a:rPr lang="en-IN" dirty="0" err="1"/>
              <a:t>E</a:t>
            </a:r>
            <a:r>
              <a:rPr lang="en-IN" baseline="-25000" dirty="0" err="1"/>
              <a:t>n</a:t>
            </a:r>
            <a:endParaRPr lang="en-IN" dirty="0"/>
          </a:p>
          <a:p>
            <a:pPr algn="just">
              <a:buFont typeface="Wingdings" panose="05000000000000000000" pitchFamily="2" charset="2"/>
              <a:buChar char="q"/>
            </a:pPr>
            <a:r>
              <a:rPr lang="en-IN" dirty="0"/>
              <a:t>It can be defined as a subset of the Cartesian product of the entity sets E</a:t>
            </a:r>
            <a:r>
              <a:rPr lang="en-IN" baseline="-25000" dirty="0"/>
              <a:t>1</a:t>
            </a:r>
            <a:r>
              <a:rPr lang="en-IN" dirty="0"/>
              <a:t> × E</a:t>
            </a:r>
            <a:r>
              <a:rPr lang="en-IN" baseline="-25000" dirty="0"/>
              <a:t>2</a:t>
            </a:r>
            <a:r>
              <a:rPr lang="en-IN" dirty="0"/>
              <a:t> × ... × </a:t>
            </a:r>
            <a:r>
              <a:rPr lang="en-IN" dirty="0" err="1"/>
              <a:t>E</a:t>
            </a:r>
            <a:r>
              <a:rPr lang="en-IN" baseline="-25000" dirty="0" err="1"/>
              <a:t>n</a:t>
            </a:r>
            <a:r>
              <a:rPr lang="en-IN" dirty="0"/>
              <a:t>.</a:t>
            </a:r>
          </a:p>
          <a:p>
            <a:pPr algn="just">
              <a:buFont typeface="Wingdings" panose="05000000000000000000" pitchFamily="2" charset="2"/>
              <a:buChar char="q"/>
            </a:pPr>
            <a:r>
              <a:rPr lang="en-IN" dirty="0"/>
              <a:t>Each of the entity types E</a:t>
            </a:r>
            <a:r>
              <a:rPr lang="en-IN" baseline="-25000" dirty="0"/>
              <a:t>1</a:t>
            </a:r>
            <a:r>
              <a:rPr lang="en-IN" dirty="0"/>
              <a:t>, E</a:t>
            </a:r>
            <a:r>
              <a:rPr lang="en-IN" baseline="-25000" dirty="0"/>
              <a:t>2</a:t>
            </a:r>
            <a:r>
              <a:rPr lang="en-IN" dirty="0"/>
              <a:t>,..., </a:t>
            </a:r>
            <a:r>
              <a:rPr lang="en-IN" dirty="0" err="1"/>
              <a:t>E</a:t>
            </a:r>
            <a:r>
              <a:rPr lang="en-IN" baseline="-25000" dirty="0" err="1"/>
              <a:t>n</a:t>
            </a:r>
            <a:r>
              <a:rPr lang="en-IN" dirty="0"/>
              <a:t> is said to participate in the relationship type R.</a:t>
            </a:r>
          </a:p>
          <a:p>
            <a:pPr algn="just">
              <a:buFont typeface="Wingdings" panose="05000000000000000000" pitchFamily="2" charset="2"/>
              <a:buChar char="q"/>
            </a:pPr>
            <a:r>
              <a:rPr lang="en-IN" dirty="0"/>
              <a:t>Each of the individual entities e</a:t>
            </a:r>
            <a:r>
              <a:rPr lang="en-IN" baseline="-25000" dirty="0"/>
              <a:t>1</a:t>
            </a:r>
            <a:r>
              <a:rPr lang="en-IN" dirty="0"/>
              <a:t>, e</a:t>
            </a:r>
            <a:r>
              <a:rPr lang="en-IN" baseline="-25000" dirty="0"/>
              <a:t>2</a:t>
            </a:r>
            <a:r>
              <a:rPr lang="en-IN" dirty="0"/>
              <a:t>, ..., </a:t>
            </a:r>
            <a:r>
              <a:rPr lang="en-IN" dirty="0" err="1"/>
              <a:t>e</a:t>
            </a:r>
            <a:r>
              <a:rPr lang="en-IN" baseline="-25000" dirty="0" err="1"/>
              <a:t>n</a:t>
            </a:r>
            <a:r>
              <a:rPr lang="en-IN" dirty="0"/>
              <a:t> is said to participate in the relationship instance </a:t>
            </a:r>
            <a:r>
              <a:rPr lang="en-IN" dirty="0" err="1"/>
              <a:t>r</a:t>
            </a:r>
            <a:r>
              <a:rPr lang="en-IN" baseline="-25000" dirty="0" err="1"/>
              <a:t>i</a:t>
            </a:r>
            <a:r>
              <a:rPr lang="en-IN" dirty="0"/>
              <a:t> = (e</a:t>
            </a:r>
            <a:r>
              <a:rPr lang="en-IN" baseline="-25000" dirty="0"/>
              <a:t>1</a:t>
            </a:r>
            <a:r>
              <a:rPr lang="en-IN" dirty="0"/>
              <a:t>, e</a:t>
            </a:r>
            <a:r>
              <a:rPr lang="en-IN" baseline="-25000" dirty="0"/>
              <a:t>2</a:t>
            </a:r>
            <a:r>
              <a:rPr lang="en-IN" dirty="0"/>
              <a:t>, ..., </a:t>
            </a:r>
            <a:r>
              <a:rPr lang="en-IN" dirty="0" err="1"/>
              <a:t>e</a:t>
            </a:r>
            <a:r>
              <a:rPr lang="en-IN" baseline="-25000" dirty="0" err="1"/>
              <a:t>n</a:t>
            </a:r>
            <a:r>
              <a:rPr lang="en-IN" dirty="0"/>
              <a:t>)</a:t>
            </a:r>
          </a:p>
        </p:txBody>
      </p:sp>
      <p:sp>
        <p:nvSpPr>
          <p:cNvPr id="4" name="Title 1"/>
          <p:cNvSpPr>
            <a:spLocks noGrp="1"/>
          </p:cNvSpPr>
          <p:nvPr>
            <p:ph type="title"/>
          </p:nvPr>
        </p:nvSpPr>
        <p:spPr>
          <a:xfrm>
            <a:off x="838200" y="18893"/>
            <a:ext cx="10515600" cy="1339390"/>
          </a:xfrm>
        </p:spPr>
        <p:txBody>
          <a:bodyPr/>
          <a:lstStyle/>
          <a:p>
            <a:pPr algn="ctr"/>
            <a:r>
              <a:rPr lang="en-IN" b="1" dirty="0">
                <a:solidFill>
                  <a:schemeClr val="accent4">
                    <a:lumMod val="50000"/>
                  </a:schemeClr>
                </a:solidFill>
              </a:rPr>
              <a:t>Relationship Types, Sets, and Instances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7037" y="1856265"/>
            <a:ext cx="10901778" cy="5402574"/>
          </a:xfrm>
        </p:spPr>
        <p:txBody>
          <a:bodyPr/>
          <a:lstStyle/>
          <a:p>
            <a:pPr algn="just">
              <a:lnSpc>
                <a:spcPct val="100000"/>
              </a:lnSpc>
              <a:buFont typeface="Wingdings" panose="05000000000000000000" pitchFamily="2" charset="2"/>
              <a:buChar char="q"/>
            </a:pPr>
            <a:r>
              <a:rPr lang="en-IN" dirty="0"/>
              <a:t>Consider a relationship type WORKS_FOR between the two entity types EMPLOYEE and DEPARTMENT, which associates each employee with the department for which the employee works in the corresponding entity set.</a:t>
            </a:r>
          </a:p>
          <a:p>
            <a:pPr algn="just">
              <a:lnSpc>
                <a:spcPct val="100000"/>
              </a:lnSpc>
              <a:buFont typeface="Wingdings" panose="05000000000000000000" pitchFamily="2" charset="2"/>
              <a:buChar char="q"/>
            </a:pPr>
            <a:r>
              <a:rPr lang="en-IN" dirty="0"/>
              <a:t>Each relationship instance in the relationship set WORKS_FOR associates one EMPLOYEE entity and one DEPARTMENT entity.</a:t>
            </a:r>
          </a:p>
        </p:txBody>
      </p:sp>
      <p:sp>
        <p:nvSpPr>
          <p:cNvPr id="4" name="Title 1"/>
          <p:cNvSpPr>
            <a:spLocks noGrp="1"/>
          </p:cNvSpPr>
          <p:nvPr>
            <p:ph type="title"/>
          </p:nvPr>
        </p:nvSpPr>
        <p:spPr>
          <a:xfrm>
            <a:off x="1115188" y="355442"/>
            <a:ext cx="10679837" cy="1325563"/>
          </a:xfrm>
        </p:spPr>
        <p:txBody>
          <a:bodyPr>
            <a:normAutofit fontScale="90000"/>
          </a:bodyPr>
          <a:lstStyle/>
          <a:p>
            <a:pPr algn="ctr"/>
            <a:r>
              <a:rPr lang="en-IN" b="1" dirty="0">
                <a:solidFill>
                  <a:schemeClr val="accent4">
                    <a:lumMod val="50000"/>
                  </a:schemeClr>
                </a:solidFill>
              </a:rPr>
              <a:t>Relationship instances of the WORKS_FOR N:1 relationship between EMPLOYEE and DEPARTMENT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488" y="323692"/>
            <a:ext cx="10515600" cy="1325563"/>
          </a:xfrm>
        </p:spPr>
        <p:txBody>
          <a:bodyPr>
            <a:normAutofit fontScale="90000"/>
          </a:bodyPr>
          <a:lstStyle/>
          <a:p>
            <a:pPr algn="ctr"/>
            <a:r>
              <a:rPr lang="en-IN" b="1" dirty="0">
                <a:solidFill>
                  <a:schemeClr val="accent4">
                    <a:lumMod val="50000"/>
                  </a:schemeClr>
                </a:solidFill>
              </a:rPr>
              <a:t>Relationship instances of the WORKS_FOR N:1 relationship between EMPLOYEE and DEPARTMENT</a:t>
            </a:r>
          </a:p>
        </p:txBody>
      </p:sp>
      <p:pic>
        <p:nvPicPr>
          <p:cNvPr id="5" name="Picture 4"/>
          <p:cNvPicPr>
            <a:picLocks noChangeAspect="1"/>
          </p:cNvPicPr>
          <p:nvPr/>
        </p:nvPicPr>
        <p:blipFill>
          <a:blip r:embed="rId2"/>
          <a:stretch>
            <a:fillRect/>
          </a:stretch>
        </p:blipFill>
        <p:spPr>
          <a:xfrm>
            <a:off x="2814955" y="1830070"/>
            <a:ext cx="6562090" cy="48723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5990" y="538945"/>
            <a:ext cx="10515600" cy="1325563"/>
          </a:xfrm>
        </p:spPr>
        <p:txBody>
          <a:bodyPr>
            <a:normAutofit/>
          </a:bodyPr>
          <a:lstStyle/>
          <a:p>
            <a:pPr algn="ctr"/>
            <a:r>
              <a:rPr lang="en-IN" b="1" dirty="0">
                <a:solidFill>
                  <a:schemeClr val="accent4">
                    <a:lumMod val="50000"/>
                  </a:schemeClr>
                </a:solidFill>
              </a:rPr>
              <a:t>Relationship instances of the M:N  WORKS_ON relationship between EMPLOYEE and PROJECT</a:t>
            </a:r>
          </a:p>
        </p:txBody>
      </p:sp>
      <p:pic>
        <p:nvPicPr>
          <p:cNvPr id="5" name="Picture 4"/>
          <p:cNvPicPr>
            <a:picLocks noChangeAspect="1"/>
          </p:cNvPicPr>
          <p:nvPr/>
        </p:nvPicPr>
        <p:blipFill>
          <a:blip r:embed="rId2"/>
          <a:stretch>
            <a:fillRect/>
          </a:stretch>
        </p:blipFill>
        <p:spPr>
          <a:xfrm>
            <a:off x="2998470" y="2277745"/>
            <a:ext cx="5801360" cy="40652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14"/>
            <a:ext cx="10515600" cy="1325563"/>
          </a:xfrm>
        </p:spPr>
        <p:txBody>
          <a:bodyPr/>
          <a:lstStyle/>
          <a:p>
            <a:pPr algn="ctr"/>
            <a:r>
              <a:rPr lang="en-IN" b="1" dirty="0">
                <a:solidFill>
                  <a:schemeClr val="accent4">
                    <a:lumMod val="50000"/>
                  </a:schemeClr>
                </a:solidFill>
              </a:rPr>
              <a:t>Relationship type vs. relationship set </a:t>
            </a:r>
          </a:p>
        </p:txBody>
      </p:sp>
      <p:sp>
        <p:nvSpPr>
          <p:cNvPr id="3" name="Content Placeholder 2"/>
          <p:cNvSpPr>
            <a:spLocks noGrp="1"/>
          </p:cNvSpPr>
          <p:nvPr>
            <p:ph idx="1"/>
          </p:nvPr>
        </p:nvSpPr>
        <p:spPr>
          <a:xfrm>
            <a:off x="1420426" y="1065320"/>
            <a:ext cx="10617693" cy="5681709"/>
          </a:xfrm>
        </p:spPr>
        <p:txBody>
          <a:bodyPr/>
          <a:lstStyle/>
          <a:p>
            <a:pPr>
              <a:buFont typeface="Wingdings" panose="05000000000000000000" pitchFamily="2" charset="2"/>
              <a:buChar char="q"/>
            </a:pPr>
            <a:r>
              <a:rPr lang="en-IN" dirty="0"/>
              <a:t>Relationship Type:</a:t>
            </a:r>
          </a:p>
          <a:p>
            <a:pPr lvl="1">
              <a:buFont typeface="Wingdings" panose="05000000000000000000" pitchFamily="2" charset="2"/>
              <a:buChar char="§"/>
            </a:pPr>
            <a:r>
              <a:rPr lang="en-IN" dirty="0"/>
              <a:t>Is the schema description of a relationship</a:t>
            </a:r>
          </a:p>
          <a:p>
            <a:pPr lvl="1">
              <a:buFont typeface="Wingdings" panose="05000000000000000000" pitchFamily="2" charset="2"/>
              <a:buChar char="§"/>
            </a:pPr>
            <a:r>
              <a:rPr lang="en-IN" dirty="0"/>
              <a:t>Identifies the relationship name and the participating entity types</a:t>
            </a:r>
          </a:p>
          <a:p>
            <a:pPr lvl="1">
              <a:buFont typeface="Wingdings" panose="05000000000000000000" pitchFamily="2" charset="2"/>
              <a:buChar char="§"/>
            </a:pPr>
            <a:r>
              <a:rPr lang="en-IN" dirty="0"/>
              <a:t>Also identifies certain relationship constraints</a:t>
            </a:r>
          </a:p>
          <a:p>
            <a:pPr>
              <a:buFont typeface="Wingdings" panose="05000000000000000000" pitchFamily="2" charset="2"/>
              <a:buChar char="q"/>
            </a:pPr>
            <a:r>
              <a:rPr lang="en-IN" dirty="0"/>
              <a:t>Relationship Set:</a:t>
            </a:r>
          </a:p>
          <a:p>
            <a:pPr lvl="1">
              <a:buFont typeface="Wingdings" panose="05000000000000000000" pitchFamily="2" charset="2"/>
              <a:buChar char="§"/>
            </a:pPr>
            <a:r>
              <a:rPr lang="en-IN" dirty="0"/>
              <a:t>The current set of relationship instances represented in the database</a:t>
            </a:r>
          </a:p>
          <a:p>
            <a:pPr lvl="1">
              <a:buFont typeface="Wingdings" panose="05000000000000000000" pitchFamily="2" charset="2"/>
              <a:buChar char="§"/>
            </a:pPr>
            <a:r>
              <a:rPr lang="en-IN" dirty="0"/>
              <a:t>The current state of a relationship type</a:t>
            </a:r>
          </a:p>
          <a:p>
            <a:pPr>
              <a:buFont typeface="Wingdings" panose="05000000000000000000" pitchFamily="2" charset="2"/>
              <a:buChar char="q"/>
            </a:pPr>
            <a:r>
              <a:rPr lang="en-US" altLang="en-US" dirty="0"/>
              <a:t>Each instance in the relationship set relates individual participating entities – one from each participating entity type.</a:t>
            </a:r>
          </a:p>
          <a:p>
            <a:pPr>
              <a:buFont typeface="Wingdings" panose="05000000000000000000" pitchFamily="2" charset="2"/>
              <a:buChar char="q"/>
            </a:pPr>
            <a:r>
              <a:rPr lang="en-IN" altLang="en-US" dirty="0"/>
              <a:t>In ER diagrams, we represent the relationship type as follows:</a:t>
            </a:r>
          </a:p>
          <a:p>
            <a:pPr lvl="1">
              <a:buFont typeface="Wingdings" panose="05000000000000000000" pitchFamily="2" charset="2"/>
              <a:buChar char="§"/>
            </a:pPr>
            <a:r>
              <a:rPr lang="en-IN" altLang="en-US" dirty="0"/>
              <a:t>Diamond-shaped box is used to display a relationship type</a:t>
            </a:r>
          </a:p>
          <a:p>
            <a:pPr lvl="1">
              <a:buFont typeface="Wingdings" panose="05000000000000000000" pitchFamily="2" charset="2"/>
              <a:buChar char="§"/>
            </a:pPr>
            <a:r>
              <a:rPr lang="en-IN" altLang="en-US" dirty="0"/>
              <a:t>Connected to the participating entity types via straight lines</a:t>
            </a:r>
          </a:p>
          <a:p>
            <a:pPr>
              <a:buFont typeface="Wingdings" panose="05000000000000000000" pitchFamily="2" charset="2"/>
              <a:buChar char="§"/>
            </a:pPr>
            <a:endParaRPr lang="en-US" altLang="en-US" dirty="0"/>
          </a:p>
          <a:p>
            <a:pPr>
              <a:buFont typeface="Wingdings" panose="05000000000000000000" pitchFamily="2" charset="2"/>
              <a:buChar char="§"/>
            </a:pPr>
            <a:endParaRPr lang="en-IN" dirty="0"/>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21"/>
            <a:ext cx="10515600" cy="1108566"/>
          </a:xfrm>
        </p:spPr>
        <p:txBody>
          <a:bodyPr/>
          <a:lstStyle/>
          <a:p>
            <a:pPr algn="ctr"/>
            <a:r>
              <a:rPr lang="en-IN" b="1" dirty="0">
                <a:solidFill>
                  <a:schemeClr val="accent4">
                    <a:lumMod val="50000"/>
                  </a:schemeClr>
                </a:solidFill>
              </a:rPr>
              <a:t>Degree of a Relationship Type</a:t>
            </a:r>
          </a:p>
        </p:txBody>
      </p:sp>
      <p:sp>
        <p:nvSpPr>
          <p:cNvPr id="3" name="Content Placeholder 2"/>
          <p:cNvSpPr>
            <a:spLocks noGrp="1"/>
          </p:cNvSpPr>
          <p:nvPr>
            <p:ph idx="1"/>
          </p:nvPr>
        </p:nvSpPr>
        <p:spPr>
          <a:xfrm>
            <a:off x="1376039" y="932154"/>
            <a:ext cx="10697591" cy="5841507"/>
          </a:xfrm>
        </p:spPr>
        <p:txBody>
          <a:bodyPr/>
          <a:lstStyle/>
          <a:p>
            <a:pPr>
              <a:lnSpc>
                <a:spcPct val="100000"/>
              </a:lnSpc>
              <a:buFont typeface="Wingdings" panose="05000000000000000000" pitchFamily="2" charset="2"/>
              <a:buChar char="q"/>
            </a:pPr>
            <a:r>
              <a:rPr lang="en-IN" dirty="0"/>
              <a:t>The </a:t>
            </a:r>
            <a:r>
              <a:rPr lang="en-IN" b="1" dirty="0">
                <a:solidFill>
                  <a:srgbClr val="7030A0"/>
                </a:solidFill>
              </a:rPr>
              <a:t>degree</a:t>
            </a:r>
            <a:r>
              <a:rPr lang="en-IN" dirty="0"/>
              <a:t> of a relationship type is the number of participating entity types.</a:t>
            </a:r>
          </a:p>
          <a:p>
            <a:pPr>
              <a:lnSpc>
                <a:spcPct val="100000"/>
              </a:lnSpc>
              <a:buFont typeface="Wingdings" panose="05000000000000000000" pitchFamily="2" charset="2"/>
              <a:buChar char="q"/>
            </a:pPr>
            <a:r>
              <a:rPr lang="en-IN" dirty="0"/>
              <a:t>WORKS_FOR relationship is of degree two.</a:t>
            </a:r>
          </a:p>
          <a:p>
            <a:pPr>
              <a:lnSpc>
                <a:spcPct val="100000"/>
              </a:lnSpc>
              <a:buFont typeface="Wingdings" panose="05000000000000000000" pitchFamily="2" charset="2"/>
              <a:buChar char="q"/>
            </a:pPr>
            <a:r>
              <a:rPr lang="en-IN" dirty="0"/>
              <a:t>A relationship type of degree two is called </a:t>
            </a:r>
            <a:r>
              <a:rPr lang="en-IN" b="1" dirty="0">
                <a:solidFill>
                  <a:srgbClr val="7030A0"/>
                </a:solidFill>
              </a:rPr>
              <a:t>binary</a:t>
            </a:r>
            <a:r>
              <a:rPr lang="en-IN" dirty="0"/>
              <a:t>, and one of degree three is called </a:t>
            </a:r>
            <a:r>
              <a:rPr lang="en-IN" b="1" dirty="0">
                <a:solidFill>
                  <a:srgbClr val="7030A0"/>
                </a:solidFill>
              </a:rPr>
              <a:t>ternary</a:t>
            </a:r>
            <a:r>
              <a:rPr lang="en-IN" dirty="0"/>
              <a:t>.</a:t>
            </a:r>
          </a:p>
          <a:p>
            <a:pPr marL="0" indent="0">
              <a:lnSpc>
                <a:spcPct val="100000"/>
              </a:lnSpc>
              <a:buNone/>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3"/>
            <a:ext cx="10515600" cy="1325563"/>
          </a:xfrm>
        </p:spPr>
        <p:txBody>
          <a:bodyPr/>
          <a:lstStyle/>
          <a:p>
            <a:pPr algn="ctr"/>
            <a:r>
              <a:rPr lang="en-IN" b="1" dirty="0">
                <a:solidFill>
                  <a:schemeClr val="accent4">
                    <a:lumMod val="50000"/>
                  </a:schemeClr>
                </a:solidFill>
              </a:rPr>
              <a:t>Example of ternary relationship</a:t>
            </a:r>
          </a:p>
        </p:txBody>
      </p:sp>
      <p:sp>
        <p:nvSpPr>
          <p:cNvPr id="3" name="Content Placeholder 2"/>
          <p:cNvSpPr>
            <a:spLocks noGrp="1"/>
          </p:cNvSpPr>
          <p:nvPr>
            <p:ph idx="1"/>
          </p:nvPr>
        </p:nvSpPr>
        <p:spPr>
          <a:xfrm>
            <a:off x="1305016" y="1056443"/>
            <a:ext cx="10750859" cy="5699464"/>
          </a:xfrm>
        </p:spPr>
        <p:txBody>
          <a:bodyPr>
            <a:normAutofit fontScale="92500" lnSpcReduction="2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buFont typeface="Wingdings" panose="05000000000000000000" pitchFamily="2" charset="2"/>
              <a:buChar char="q"/>
            </a:pPr>
            <a:r>
              <a:rPr lang="en-IN" dirty="0"/>
              <a:t>Each relationship instance </a:t>
            </a:r>
            <a:r>
              <a:rPr lang="en-IN" dirty="0" err="1"/>
              <a:t>r</a:t>
            </a:r>
            <a:r>
              <a:rPr lang="en-IN" baseline="-25000" dirty="0" err="1"/>
              <a:t>i</a:t>
            </a:r>
            <a:r>
              <a:rPr lang="en-IN" dirty="0"/>
              <a:t> associates three entities—a supplier s, a part p, and a project j—whenever s supplies part p to project j.</a:t>
            </a:r>
          </a:p>
        </p:txBody>
      </p:sp>
      <p:pic>
        <p:nvPicPr>
          <p:cNvPr id="5" name="Picture 4"/>
          <p:cNvPicPr>
            <a:picLocks noChangeAspect="1"/>
          </p:cNvPicPr>
          <p:nvPr/>
        </p:nvPicPr>
        <p:blipFill>
          <a:blip r:embed="rId2"/>
          <a:stretch>
            <a:fillRect/>
          </a:stretch>
        </p:blipFill>
        <p:spPr>
          <a:xfrm>
            <a:off x="3426781" y="1069873"/>
            <a:ext cx="5104660" cy="47028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2" end="12"/>
                                            </p:txEl>
                                          </p:spTgt>
                                        </p:tgtEl>
                                        <p:attrNameLst>
                                          <p:attrName>style.visibility</p:attrName>
                                        </p:attrNameLst>
                                      </p:cBhvr>
                                      <p:to>
                                        <p:strVal val="visible"/>
                                      </p:to>
                                    </p:set>
                                    <p:animEffect transition="in" filter="fade">
                                      <p:cBhvr>
                                        <p:cTn id="14" dur="1000"/>
                                        <p:tgtEl>
                                          <p:spTgt spid="3">
                                            <p:txEl>
                                              <p:pRg st="12" end="12"/>
                                            </p:txEl>
                                          </p:spTgt>
                                        </p:tgtEl>
                                      </p:cBhvr>
                                    </p:animEffect>
                                    <p:anim calcmode="lin" valueType="num">
                                      <p:cBhvr>
                                        <p:cTn id="15"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2"/>
            <a:ext cx="10515600" cy="877754"/>
          </a:xfrm>
        </p:spPr>
        <p:txBody>
          <a:bodyPr/>
          <a:lstStyle/>
          <a:p>
            <a:pPr algn="ctr"/>
            <a:r>
              <a:rPr lang="en-IN" b="1" dirty="0">
                <a:solidFill>
                  <a:schemeClr val="accent4">
                    <a:lumMod val="50000"/>
                  </a:schemeClr>
                </a:solidFill>
              </a:rPr>
              <a:t>Recursive Relationship Type</a:t>
            </a:r>
          </a:p>
        </p:txBody>
      </p:sp>
      <p:sp>
        <p:nvSpPr>
          <p:cNvPr id="3" name="Content Placeholder 2"/>
          <p:cNvSpPr>
            <a:spLocks noGrp="1"/>
          </p:cNvSpPr>
          <p:nvPr>
            <p:ph idx="1"/>
          </p:nvPr>
        </p:nvSpPr>
        <p:spPr>
          <a:xfrm>
            <a:off x="1085781" y="896730"/>
            <a:ext cx="10617693" cy="5939161"/>
          </a:xfrm>
        </p:spPr>
        <p:txBody>
          <a:bodyPr>
            <a:normAutofit fontScale="85000" lnSpcReduction="10000"/>
          </a:bodyPr>
          <a:lstStyle/>
          <a:p>
            <a:pPr algn="just">
              <a:lnSpc>
                <a:spcPct val="110000"/>
              </a:lnSpc>
              <a:buFont typeface="Wingdings" panose="05000000000000000000" pitchFamily="2" charset="2"/>
              <a:buChar char="q"/>
            </a:pPr>
            <a:r>
              <a:rPr lang="en-IN" dirty="0"/>
              <a:t>In some cases the </a:t>
            </a:r>
            <a:r>
              <a:rPr lang="en-IN" i="1" dirty="0"/>
              <a:t>same </a:t>
            </a:r>
            <a:r>
              <a:rPr lang="en-IN" dirty="0"/>
              <a:t>entity type participates more than once in a relationship type in </a:t>
            </a:r>
            <a:r>
              <a:rPr lang="en-IN" i="1" dirty="0"/>
              <a:t>different roles</a:t>
            </a:r>
            <a:r>
              <a:rPr lang="en-IN" dirty="0"/>
              <a:t>.</a:t>
            </a:r>
          </a:p>
          <a:p>
            <a:pPr algn="just">
              <a:lnSpc>
                <a:spcPct val="110000"/>
              </a:lnSpc>
              <a:buFont typeface="Wingdings" panose="05000000000000000000" pitchFamily="2" charset="2"/>
              <a:buChar char="q"/>
            </a:pPr>
            <a:r>
              <a:rPr lang="en-IN" dirty="0"/>
              <a:t>A relationship type between the same participating entity type in </a:t>
            </a:r>
            <a:r>
              <a:rPr lang="en-IN" b="1" dirty="0">
                <a:solidFill>
                  <a:srgbClr val="7030A0"/>
                </a:solidFill>
              </a:rPr>
              <a:t>distinct roles.</a:t>
            </a:r>
            <a:endParaRPr lang="en-IN" b="1" dirty="0"/>
          </a:p>
          <a:p>
            <a:pPr algn="just">
              <a:lnSpc>
                <a:spcPct val="110000"/>
              </a:lnSpc>
              <a:buFont typeface="Wingdings" panose="05000000000000000000" pitchFamily="2" charset="2"/>
              <a:buChar char="q"/>
            </a:pPr>
            <a:r>
              <a:rPr lang="en-IN" dirty="0"/>
              <a:t>Also called </a:t>
            </a:r>
            <a:r>
              <a:rPr lang="en-IN" b="1" dirty="0">
                <a:solidFill>
                  <a:srgbClr val="7030A0"/>
                </a:solidFill>
              </a:rPr>
              <a:t>self-referencing</a:t>
            </a:r>
            <a:r>
              <a:rPr lang="en-IN" dirty="0"/>
              <a:t> relationship type.</a:t>
            </a:r>
          </a:p>
          <a:p>
            <a:pPr algn="just">
              <a:lnSpc>
                <a:spcPct val="110000"/>
              </a:lnSpc>
              <a:buFont typeface="Wingdings" panose="05000000000000000000" pitchFamily="2" charset="2"/>
              <a:buChar char="q"/>
            </a:pPr>
            <a:r>
              <a:rPr lang="en-IN" dirty="0"/>
              <a:t>Example: SUPERVISION relationship type relates an employee to a supervisor, where both employee and supervisor entities are members of the same EMPLOYEE entity set.</a:t>
            </a:r>
          </a:p>
          <a:p>
            <a:pPr algn="just">
              <a:lnSpc>
                <a:spcPct val="110000"/>
              </a:lnSpc>
              <a:buFont typeface="Wingdings" panose="05000000000000000000" pitchFamily="2" charset="2"/>
              <a:buChar char="q"/>
            </a:pPr>
            <a:r>
              <a:rPr lang="en-IN" dirty="0"/>
              <a:t>EMPLOYEE participates twice in two distinct roles:</a:t>
            </a:r>
          </a:p>
          <a:p>
            <a:pPr lvl="1" algn="just">
              <a:lnSpc>
                <a:spcPct val="110000"/>
              </a:lnSpc>
              <a:buFont typeface="Wingdings" panose="05000000000000000000" pitchFamily="2" charset="2"/>
              <a:buChar char="§"/>
            </a:pPr>
            <a:r>
              <a:rPr lang="en-IN" dirty="0"/>
              <a:t>supervisor role</a:t>
            </a:r>
          </a:p>
          <a:p>
            <a:pPr lvl="1" algn="just">
              <a:lnSpc>
                <a:spcPct val="110000"/>
              </a:lnSpc>
              <a:buFont typeface="Wingdings" panose="05000000000000000000" pitchFamily="2" charset="2"/>
              <a:buChar char="§"/>
            </a:pPr>
            <a:r>
              <a:rPr lang="en-IN" dirty="0"/>
              <a:t>supervisee (or subordinate) role</a:t>
            </a:r>
          </a:p>
          <a:p>
            <a:pPr algn="just">
              <a:lnSpc>
                <a:spcPct val="110000"/>
              </a:lnSpc>
              <a:buFont typeface="Wingdings" panose="05000000000000000000" pitchFamily="2" charset="2"/>
              <a:buChar char="q"/>
            </a:pPr>
            <a:r>
              <a:rPr lang="en-US" altLang="en-US" sz="2400" dirty="0"/>
              <a:t>Each relationship instance relates two distinct EMPLOYEE entities:</a:t>
            </a:r>
          </a:p>
          <a:p>
            <a:pPr lvl="1" algn="just">
              <a:lnSpc>
                <a:spcPct val="110000"/>
              </a:lnSpc>
              <a:buFont typeface="Wingdings" panose="05000000000000000000" pitchFamily="2" charset="2"/>
              <a:buChar char="§"/>
            </a:pPr>
            <a:r>
              <a:rPr lang="en-US" altLang="en-US" sz="2200" dirty="0"/>
              <a:t>One employee in </a:t>
            </a:r>
            <a:r>
              <a:rPr lang="en-US" altLang="en-US" sz="2200" i="1" dirty="0"/>
              <a:t>supervisor</a:t>
            </a:r>
            <a:r>
              <a:rPr lang="en-US" altLang="en-US" sz="2200" dirty="0"/>
              <a:t> role</a:t>
            </a:r>
          </a:p>
          <a:p>
            <a:pPr lvl="1" algn="just">
              <a:lnSpc>
                <a:spcPct val="110000"/>
              </a:lnSpc>
              <a:buFont typeface="Wingdings" panose="05000000000000000000" pitchFamily="2" charset="2"/>
              <a:buChar char="§"/>
            </a:pPr>
            <a:r>
              <a:rPr lang="en-US" altLang="en-US" sz="2200" dirty="0"/>
              <a:t>One employee in </a:t>
            </a:r>
            <a:r>
              <a:rPr lang="en-US" altLang="en-US" sz="2200" i="1" dirty="0"/>
              <a:t>supervisee</a:t>
            </a:r>
            <a:r>
              <a:rPr lang="en-US" altLang="en-US" sz="2200" dirty="0"/>
              <a:t> role</a:t>
            </a:r>
          </a:p>
          <a:p>
            <a:pPr algn="just">
              <a:lnSpc>
                <a:spcPct val="110000"/>
              </a:lnSpc>
              <a:buFont typeface="Wingdings" panose="05000000000000000000" pitchFamily="2" charset="2"/>
              <a:buChar char="q"/>
            </a:pPr>
            <a:r>
              <a:rPr lang="en-IN" altLang="en-US" sz="3000" dirty="0"/>
              <a:t>In ER diagram, need to display role names to distinguish participations.</a:t>
            </a:r>
          </a:p>
          <a:p>
            <a:pPr algn="just">
              <a:lnSpc>
                <a:spcPct val="110000"/>
              </a:lnSpc>
              <a:buFont typeface="Wingdings" panose="05000000000000000000" pitchFamily="2" charset="2"/>
              <a:buChar char="q"/>
            </a:pPr>
            <a:endParaRPr lang="en-IN" altLang="en-US" sz="3000" dirty="0"/>
          </a:p>
          <a:p>
            <a:pPr algn="just">
              <a:lnSpc>
                <a:spcPct val="110000"/>
              </a:lnSpc>
              <a:buFont typeface="Wingdings" panose="05000000000000000000" pitchFamily="2" charset="2"/>
              <a:buChar char="q"/>
            </a:pPr>
            <a:endParaRPr lang="en-US" altLang="en-US" sz="2600" dirty="0"/>
          </a:p>
          <a:p>
            <a:pPr algn="just">
              <a:lnSpc>
                <a:spcPct val="110000"/>
              </a:lnSpc>
              <a:buFont typeface="Wingdings" panose="05000000000000000000" pitchFamily="2" charset="2"/>
              <a:buChar char="§"/>
            </a:pPr>
            <a:endParaRPr lang="en-IN" dirty="0"/>
          </a:p>
          <a:p>
            <a:pPr algn="just">
              <a:lnSpc>
                <a:spcPct val="110000"/>
              </a:lnSpc>
              <a:buFont typeface="Wingdings" panose="05000000000000000000" pitchFamily="2" charset="2"/>
              <a:buChar char="q"/>
            </a:pPr>
            <a:endParaRPr lang="en-IN" dirty="0"/>
          </a:p>
          <a:p>
            <a:pPr algn="just">
              <a:lnSpc>
                <a:spcPct val="110000"/>
              </a:lnSpc>
              <a:buFont typeface="Wingdings" panose="05000000000000000000" pitchFamily="2" charset="2"/>
              <a:buChar char="q"/>
            </a:pPr>
            <a:endParaRPr lang="en-IN" b="1" dirty="0">
              <a:solidFill>
                <a:srgbClr val="7030A0"/>
              </a:solidFill>
            </a:endParaRPr>
          </a:p>
          <a:p>
            <a:pPr algn="just">
              <a:lnSpc>
                <a:spcPct val="110000"/>
              </a:lnSpc>
              <a:buFont typeface="Wingdings" panose="05000000000000000000" pitchFamily="2" charset="2"/>
              <a:buChar char="q"/>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fade">
                                      <p:cBhvr>
                                        <p:cTn id="57" dur="1000"/>
                                        <p:tgtEl>
                                          <p:spTgt spid="3">
                                            <p:txEl>
                                              <p:pRg st="8" end="8"/>
                                            </p:txEl>
                                          </p:spTgt>
                                        </p:tgtEl>
                                      </p:cBhvr>
                                    </p:animEffect>
                                    <p:anim calcmode="lin" valueType="num">
                                      <p:cBhvr>
                                        <p:cTn id="5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8" end="8"/>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fade">
                                      <p:cBhvr>
                                        <p:cTn id="62" dur="1000"/>
                                        <p:tgtEl>
                                          <p:spTgt spid="3">
                                            <p:txEl>
                                              <p:pRg st="9" end="9"/>
                                            </p:txEl>
                                          </p:spTgt>
                                        </p:tgtEl>
                                      </p:cBhvr>
                                    </p:animEffect>
                                    <p:anim calcmode="lin" valueType="num">
                                      <p:cBhvr>
                                        <p:cTn id="6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animEffect transition="in" filter="fade">
                                      <p:cBhvr>
                                        <p:cTn id="69" dur="1000"/>
                                        <p:tgtEl>
                                          <p:spTgt spid="3">
                                            <p:txEl>
                                              <p:pRg st="10" end="10"/>
                                            </p:txEl>
                                          </p:spTgt>
                                        </p:tgtEl>
                                      </p:cBhvr>
                                    </p:animEffect>
                                    <p:anim calcmode="lin" valueType="num">
                                      <p:cBhvr>
                                        <p:cTn id="7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18"/>
            <a:ext cx="10515600" cy="1099691"/>
          </a:xfrm>
        </p:spPr>
        <p:txBody>
          <a:bodyPr/>
          <a:lstStyle/>
          <a:p>
            <a:pPr algn="ctr"/>
            <a:r>
              <a:rPr lang="en-IN" b="1" dirty="0">
                <a:solidFill>
                  <a:schemeClr val="accent4">
                    <a:lumMod val="50000"/>
                  </a:schemeClr>
                </a:solidFill>
              </a:rPr>
              <a:t>A Recursive Relationship Supervision</a:t>
            </a:r>
          </a:p>
        </p:txBody>
      </p:sp>
      <p:sp>
        <p:nvSpPr>
          <p:cNvPr id="3" name="Content Placeholder 2"/>
          <p:cNvSpPr>
            <a:spLocks noGrp="1"/>
          </p:cNvSpPr>
          <p:nvPr>
            <p:ph idx="1"/>
          </p:nvPr>
        </p:nvSpPr>
        <p:spPr>
          <a:xfrm>
            <a:off x="6942338" y="941033"/>
            <a:ext cx="5140172" cy="5814874"/>
          </a:xfrm>
        </p:spPr>
        <p:txBody>
          <a:bodyPr/>
          <a:lstStyle/>
          <a:p>
            <a:pPr algn="just">
              <a:buFont typeface="Wingdings" panose="05000000000000000000" pitchFamily="2" charset="2"/>
              <a:buChar char="q"/>
            </a:pPr>
            <a:r>
              <a:rPr lang="en-IN" dirty="0"/>
              <a:t>Lines marked ‘1’ represent the supervisor role, and those marked ‘2’ represent the supervisee role.</a:t>
            </a:r>
          </a:p>
          <a:p>
            <a:pPr algn="just">
              <a:buFont typeface="Wingdings" panose="05000000000000000000" pitchFamily="2" charset="2"/>
              <a:buChar char="q"/>
            </a:pPr>
            <a:r>
              <a:rPr lang="en-IN" dirty="0"/>
              <a:t>e</a:t>
            </a:r>
            <a:r>
              <a:rPr lang="en-IN" baseline="-25000" dirty="0"/>
              <a:t>1</a:t>
            </a:r>
            <a:r>
              <a:rPr lang="en-IN" dirty="0"/>
              <a:t> supervises e</a:t>
            </a:r>
            <a:r>
              <a:rPr lang="en-IN" baseline="-25000" dirty="0"/>
              <a:t>2 </a:t>
            </a:r>
            <a:r>
              <a:rPr lang="en-IN" dirty="0"/>
              <a:t>and e</a:t>
            </a:r>
            <a:r>
              <a:rPr lang="en-IN" baseline="-25000" dirty="0"/>
              <a:t>3</a:t>
            </a:r>
            <a:r>
              <a:rPr lang="en-IN" dirty="0"/>
              <a:t>, e</a:t>
            </a:r>
            <a:r>
              <a:rPr lang="en-IN" baseline="-25000" dirty="0"/>
              <a:t>4</a:t>
            </a:r>
            <a:r>
              <a:rPr lang="en-IN" dirty="0"/>
              <a:t> supervises e</a:t>
            </a:r>
            <a:r>
              <a:rPr lang="en-IN" baseline="-25000" dirty="0"/>
              <a:t>6</a:t>
            </a:r>
            <a:r>
              <a:rPr lang="en-IN" dirty="0"/>
              <a:t> and e</a:t>
            </a:r>
            <a:r>
              <a:rPr lang="en-IN" baseline="-25000" dirty="0"/>
              <a:t>7</a:t>
            </a:r>
            <a:r>
              <a:rPr lang="en-IN" dirty="0"/>
              <a:t>, and e</a:t>
            </a:r>
            <a:r>
              <a:rPr lang="en-IN" baseline="-25000" dirty="0"/>
              <a:t>5</a:t>
            </a:r>
            <a:r>
              <a:rPr lang="en-IN" dirty="0"/>
              <a:t> supervises e</a:t>
            </a:r>
            <a:r>
              <a:rPr lang="en-IN" baseline="-25000" dirty="0"/>
              <a:t>1</a:t>
            </a:r>
            <a:r>
              <a:rPr lang="en-IN" dirty="0"/>
              <a:t> and e</a:t>
            </a:r>
            <a:r>
              <a:rPr lang="en-IN" baseline="-25000" dirty="0"/>
              <a:t>4</a:t>
            </a:r>
          </a:p>
          <a:p>
            <a:pPr algn="just">
              <a:buFont typeface="Wingdings" panose="05000000000000000000" pitchFamily="2" charset="2"/>
              <a:buChar char="q"/>
            </a:pPr>
            <a:r>
              <a:rPr lang="en-IN" dirty="0"/>
              <a:t>Each relationship instance must be connected with two lines, one marked with ‘1’ (supervisor) and the other with ‘2’ (supervisee).</a:t>
            </a:r>
          </a:p>
        </p:txBody>
      </p:sp>
      <p:pic>
        <p:nvPicPr>
          <p:cNvPr id="5" name="Picture 4"/>
          <p:cNvPicPr>
            <a:picLocks noChangeAspect="1"/>
          </p:cNvPicPr>
          <p:nvPr/>
        </p:nvPicPr>
        <p:blipFill>
          <a:blip r:embed="rId2"/>
          <a:stretch>
            <a:fillRect/>
          </a:stretch>
        </p:blipFill>
        <p:spPr>
          <a:xfrm>
            <a:off x="1455937" y="1617858"/>
            <a:ext cx="5388745" cy="42991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1"/>
            <a:ext cx="10515600" cy="1325563"/>
          </a:xfrm>
        </p:spPr>
        <p:txBody>
          <a:bodyPr/>
          <a:lstStyle/>
          <a:p>
            <a:pPr algn="ctr"/>
            <a:r>
              <a:rPr lang="en-IN" b="1" dirty="0">
                <a:solidFill>
                  <a:schemeClr val="accent4">
                    <a:lumMod val="50000"/>
                  </a:schemeClr>
                </a:solidFill>
              </a:rPr>
              <a:t>Constraints on Binary Relationship Types</a:t>
            </a:r>
          </a:p>
        </p:txBody>
      </p:sp>
      <p:sp>
        <p:nvSpPr>
          <p:cNvPr id="3" name="Content Placeholder 2"/>
          <p:cNvSpPr>
            <a:spLocks noGrp="1"/>
          </p:cNvSpPr>
          <p:nvPr>
            <p:ph idx="1"/>
          </p:nvPr>
        </p:nvSpPr>
        <p:spPr>
          <a:xfrm>
            <a:off x="921526" y="1105387"/>
            <a:ext cx="10830757" cy="5752730"/>
          </a:xfrm>
        </p:spPr>
        <p:txBody>
          <a:bodyPr>
            <a:normAutofit fontScale="92500" lnSpcReduction="20000"/>
          </a:bodyPr>
          <a:lstStyle/>
          <a:p>
            <a:pPr algn="just">
              <a:lnSpc>
                <a:spcPct val="110000"/>
              </a:lnSpc>
              <a:buFont typeface="Wingdings" panose="05000000000000000000" pitchFamily="2" charset="2"/>
              <a:buChar char="q"/>
            </a:pPr>
            <a:r>
              <a:rPr lang="en-IN" dirty="0"/>
              <a:t>Relationship types usually have certain constraints that limit the possible combinations of entities that may participate in the corresponding relationship set.</a:t>
            </a:r>
          </a:p>
          <a:p>
            <a:pPr algn="just">
              <a:lnSpc>
                <a:spcPct val="110000"/>
              </a:lnSpc>
              <a:buFont typeface="Wingdings" panose="05000000000000000000" pitchFamily="2" charset="2"/>
              <a:buChar char="q"/>
            </a:pPr>
            <a:r>
              <a:rPr lang="en-IN" dirty="0"/>
              <a:t>The </a:t>
            </a:r>
            <a:r>
              <a:rPr lang="en-IN" b="1" dirty="0">
                <a:solidFill>
                  <a:srgbClr val="7030A0"/>
                </a:solidFill>
              </a:rPr>
              <a:t>cardinality ratio </a:t>
            </a:r>
            <a:r>
              <a:rPr lang="en-IN" dirty="0"/>
              <a:t>for a binary relationship specifies the </a:t>
            </a:r>
            <a:r>
              <a:rPr lang="en-IN" i="1" dirty="0"/>
              <a:t>maximum </a:t>
            </a:r>
            <a:r>
              <a:rPr lang="en-IN" dirty="0"/>
              <a:t>number of relationship instances that an entity can participate in.</a:t>
            </a:r>
          </a:p>
          <a:p>
            <a:pPr>
              <a:lnSpc>
                <a:spcPct val="110000"/>
              </a:lnSpc>
              <a:buFont typeface="Wingdings" panose="05000000000000000000" pitchFamily="2" charset="2"/>
              <a:buChar char="q"/>
            </a:pPr>
            <a:r>
              <a:rPr lang="en-IN" dirty="0"/>
              <a:t>For example, in the WORKS_FOR binary relationship type, DEPARTMENT:EMPLOYEE is of cardinality ratio 1:N, meaning that each department can be related to (that is, employs) any number of employees, but an employee can be related to (work for) only one department. </a:t>
            </a:r>
          </a:p>
          <a:p>
            <a:pPr algn="just">
              <a:lnSpc>
                <a:spcPct val="110000"/>
              </a:lnSpc>
              <a:buFont typeface="Wingdings" panose="05000000000000000000" pitchFamily="2" charset="2"/>
              <a:buChar char="q"/>
            </a:pPr>
            <a:r>
              <a:rPr lang="en-IN" dirty="0"/>
              <a:t>For this particular relationship WORKS_FOR, a particular department entity can be related to any number of employees (N indicates there is no maximum number).</a:t>
            </a:r>
          </a:p>
          <a:p>
            <a:pPr algn="just">
              <a:lnSpc>
                <a:spcPct val="110000"/>
              </a:lnSpc>
              <a:buFont typeface="Wingdings" panose="05000000000000000000" pitchFamily="2" charset="2"/>
              <a:buChar char="q"/>
            </a:pPr>
            <a:r>
              <a:rPr lang="en-IN" dirty="0"/>
              <a:t>On the other hand, an employee can be related to a maximum of one department.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1064182"/>
          </a:xfrm>
        </p:spPr>
        <p:txBody>
          <a:bodyPr/>
          <a:lstStyle/>
          <a:p>
            <a:pPr algn="ctr"/>
            <a:r>
              <a:rPr lang="en-IN" b="1" dirty="0">
                <a:solidFill>
                  <a:schemeClr val="accent4">
                    <a:lumMod val="50000"/>
                  </a:schemeClr>
                </a:solidFill>
              </a:rPr>
              <a:t>Cardinality ratios</a:t>
            </a:r>
          </a:p>
        </p:txBody>
      </p:sp>
      <p:sp>
        <p:nvSpPr>
          <p:cNvPr id="3" name="Content Placeholder 2"/>
          <p:cNvSpPr>
            <a:spLocks noGrp="1"/>
          </p:cNvSpPr>
          <p:nvPr>
            <p:ph idx="1"/>
          </p:nvPr>
        </p:nvSpPr>
        <p:spPr>
          <a:xfrm>
            <a:off x="1313894" y="887766"/>
            <a:ext cx="10777491" cy="5885895"/>
          </a:xfrm>
        </p:spPr>
        <p:txBody>
          <a:bodyPr/>
          <a:lstStyle/>
          <a:p>
            <a:pPr>
              <a:lnSpc>
                <a:spcPct val="100000"/>
              </a:lnSpc>
              <a:buFont typeface="Wingdings" panose="05000000000000000000" pitchFamily="2" charset="2"/>
              <a:buChar char="q"/>
            </a:pPr>
            <a:r>
              <a:rPr lang="en-IN" dirty="0"/>
              <a:t>Cardinality Ratio (specifies maximum participation) </a:t>
            </a:r>
          </a:p>
          <a:p>
            <a:pPr lvl="1">
              <a:lnSpc>
                <a:spcPct val="100000"/>
              </a:lnSpc>
              <a:buFont typeface="Wingdings" panose="05000000000000000000" pitchFamily="2" charset="2"/>
              <a:buChar char="§"/>
            </a:pPr>
            <a:r>
              <a:rPr lang="en-IN" dirty="0"/>
              <a:t>One-to-one (1:1)</a:t>
            </a:r>
          </a:p>
          <a:p>
            <a:pPr lvl="1">
              <a:lnSpc>
                <a:spcPct val="100000"/>
              </a:lnSpc>
              <a:buFont typeface="Wingdings" panose="05000000000000000000" pitchFamily="2" charset="2"/>
              <a:buChar char="§"/>
            </a:pPr>
            <a:r>
              <a:rPr lang="en-IN" dirty="0"/>
              <a:t>One-to-many (1:N) </a:t>
            </a:r>
          </a:p>
          <a:p>
            <a:pPr lvl="1">
              <a:lnSpc>
                <a:spcPct val="100000"/>
              </a:lnSpc>
              <a:buFont typeface="Wingdings" panose="05000000000000000000" pitchFamily="2" charset="2"/>
              <a:buChar char="§"/>
            </a:pPr>
            <a:r>
              <a:rPr lang="en-IN" dirty="0"/>
              <a:t>Many-to-one (N:1)</a:t>
            </a:r>
          </a:p>
          <a:p>
            <a:pPr lvl="1">
              <a:lnSpc>
                <a:spcPct val="100000"/>
              </a:lnSpc>
              <a:buFont typeface="Wingdings" panose="05000000000000000000" pitchFamily="2" charset="2"/>
              <a:buChar char="§"/>
            </a:pPr>
            <a:r>
              <a:rPr lang="en-IN" dirty="0"/>
              <a:t>Many-to-many (M:N)</a:t>
            </a:r>
          </a:p>
          <a:p>
            <a:pPr>
              <a:lnSpc>
                <a:spcPct val="100000"/>
              </a:lnSpc>
              <a:buFont typeface="Wingdings" panose="05000000000000000000" pitchFamily="2" charset="2"/>
              <a:buChar char="q"/>
            </a:pPr>
            <a:r>
              <a:rPr lang="en-IN" dirty="0"/>
              <a:t>Cardinality ratios for binary relationships are represented on ER diagrams by displaying 1, M, and N on the diamonds. </a:t>
            </a:r>
          </a:p>
          <a:p>
            <a:pPr>
              <a:lnSpc>
                <a:spcPct val="100000"/>
              </a:lnSpc>
              <a:buFont typeface="Wingdings" panose="05000000000000000000" pitchFamily="2" charset="2"/>
              <a:buChar char="q"/>
            </a:pPr>
            <a:r>
              <a:rPr lang="en-IN" dirty="0"/>
              <a:t>We can either specify no maximum (N) or a maximum of one (1) on participation.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1090815"/>
          </a:xfrm>
        </p:spPr>
        <p:txBody>
          <a:bodyPr/>
          <a:lstStyle/>
          <a:p>
            <a:pPr algn="ctr"/>
            <a:r>
              <a:rPr lang="en-IN" b="1" dirty="0">
                <a:solidFill>
                  <a:schemeClr val="accent4">
                    <a:lumMod val="50000"/>
                  </a:schemeClr>
                </a:solidFill>
              </a:rPr>
              <a:t>One-to-one (1:1) Relationship</a:t>
            </a:r>
          </a:p>
        </p:txBody>
      </p:sp>
      <p:sp>
        <p:nvSpPr>
          <p:cNvPr id="3" name="Content Placeholder 2"/>
          <p:cNvSpPr>
            <a:spLocks noGrp="1"/>
          </p:cNvSpPr>
          <p:nvPr>
            <p:ph idx="1"/>
          </p:nvPr>
        </p:nvSpPr>
        <p:spPr>
          <a:xfrm>
            <a:off x="1225118" y="1003177"/>
            <a:ext cx="10813002" cy="5743852"/>
          </a:xfrm>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a:buFont typeface="Wingdings" panose="05000000000000000000" pitchFamily="2" charset="2"/>
              <a:buChar char="q"/>
            </a:pPr>
            <a:r>
              <a:rPr lang="en-IN" dirty="0"/>
              <a:t>An employee can manage one department only and a department can have one manager only.</a:t>
            </a:r>
          </a:p>
        </p:txBody>
      </p:sp>
      <p:pic>
        <p:nvPicPr>
          <p:cNvPr id="5" name="Picture 4"/>
          <p:cNvPicPr>
            <a:picLocks noChangeAspect="1"/>
          </p:cNvPicPr>
          <p:nvPr/>
        </p:nvPicPr>
        <p:blipFill>
          <a:blip r:embed="rId2"/>
          <a:stretch>
            <a:fillRect/>
          </a:stretch>
        </p:blipFill>
        <p:spPr>
          <a:xfrm>
            <a:off x="2778711" y="1003177"/>
            <a:ext cx="6130344" cy="44110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1000"/>
                                        <p:tgtEl>
                                          <p:spTgt spid="3">
                                            <p:txEl>
                                              <p:pRg st="9" end="9"/>
                                            </p:txEl>
                                          </p:spTgt>
                                        </p:tgtEl>
                                      </p:cBhvr>
                                    </p:animEffect>
                                    <p:anim calcmode="lin" valueType="num">
                                      <p:cBhvr>
                                        <p:cTn id="1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5"/>
            <a:ext cx="10515600" cy="1161835"/>
          </a:xfrm>
        </p:spPr>
        <p:txBody>
          <a:bodyPr/>
          <a:lstStyle/>
          <a:p>
            <a:pPr algn="ctr"/>
            <a:r>
              <a:rPr lang="en-IN" b="1" dirty="0">
                <a:solidFill>
                  <a:schemeClr val="accent4">
                    <a:lumMod val="50000"/>
                  </a:schemeClr>
                </a:solidFill>
              </a:rPr>
              <a:t>Many-to-one (N:1) Relationship</a:t>
            </a:r>
          </a:p>
        </p:txBody>
      </p:sp>
      <p:pic>
        <p:nvPicPr>
          <p:cNvPr id="4" name="Picture 3"/>
          <p:cNvPicPr>
            <a:picLocks noChangeAspect="1"/>
          </p:cNvPicPr>
          <p:nvPr/>
        </p:nvPicPr>
        <p:blipFill>
          <a:blip r:embed="rId2"/>
          <a:stretch>
            <a:fillRect/>
          </a:stretch>
        </p:blipFill>
        <p:spPr>
          <a:xfrm>
            <a:off x="2397844" y="1116036"/>
            <a:ext cx="6561809" cy="52758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771"/>
            <a:ext cx="10515600" cy="1152959"/>
          </a:xfrm>
        </p:spPr>
        <p:txBody>
          <a:bodyPr/>
          <a:lstStyle/>
          <a:p>
            <a:pPr algn="ctr"/>
            <a:r>
              <a:rPr lang="en-IN" b="1" dirty="0">
                <a:solidFill>
                  <a:schemeClr val="accent4">
                    <a:lumMod val="50000"/>
                  </a:schemeClr>
                </a:solidFill>
              </a:rPr>
              <a:t>Many-to-many (M:N) Relationship</a:t>
            </a:r>
          </a:p>
        </p:txBody>
      </p:sp>
      <p:sp>
        <p:nvSpPr>
          <p:cNvPr id="3" name="Content Placeholder 2"/>
          <p:cNvSpPr>
            <a:spLocks noGrp="1"/>
          </p:cNvSpPr>
          <p:nvPr>
            <p:ph idx="1"/>
          </p:nvPr>
        </p:nvSpPr>
        <p:spPr>
          <a:xfrm>
            <a:off x="1278384" y="985421"/>
            <a:ext cx="10821880" cy="5770486"/>
          </a:xfrm>
        </p:spPr>
        <p:txBody>
          <a:bodyPr>
            <a:normAutofit lnSpcReduction="10000"/>
          </a:bodyPr>
          <a:lstStyle/>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algn="just"/>
            <a:endParaRPr lang="en-IN" dirty="0"/>
          </a:p>
          <a:p>
            <a:pPr algn="just">
              <a:buFont typeface="Wingdings" panose="05000000000000000000" pitchFamily="2" charset="2"/>
              <a:buChar char="q"/>
            </a:pPr>
            <a:r>
              <a:rPr lang="en-IN" dirty="0"/>
              <a:t>An employee can work on several projects and a project can have several employees.</a:t>
            </a:r>
          </a:p>
        </p:txBody>
      </p:sp>
      <p:pic>
        <p:nvPicPr>
          <p:cNvPr id="5" name="Picture 4"/>
          <p:cNvPicPr>
            <a:picLocks noChangeAspect="1"/>
          </p:cNvPicPr>
          <p:nvPr/>
        </p:nvPicPr>
        <p:blipFill>
          <a:blip r:embed="rId2"/>
          <a:stretch>
            <a:fillRect/>
          </a:stretch>
        </p:blipFill>
        <p:spPr>
          <a:xfrm>
            <a:off x="3355758" y="985421"/>
            <a:ext cx="5416171" cy="477507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0" end="10"/>
                                            </p:txEl>
                                          </p:spTgt>
                                        </p:tgtEl>
                                        <p:attrNameLst>
                                          <p:attrName>style.visibility</p:attrName>
                                        </p:attrNameLst>
                                      </p:cBhvr>
                                      <p:to>
                                        <p:strVal val="visible"/>
                                      </p:to>
                                    </p:set>
                                    <p:animEffect transition="in" filter="fade">
                                      <p:cBhvr>
                                        <p:cTn id="14" dur="1000"/>
                                        <p:tgtEl>
                                          <p:spTgt spid="3">
                                            <p:txEl>
                                              <p:pRg st="10" end="10"/>
                                            </p:txEl>
                                          </p:spTgt>
                                        </p:tgtEl>
                                      </p:cBhvr>
                                    </p:animEffect>
                                    <p:anim calcmode="lin" valueType="num">
                                      <p:cBhvr>
                                        <p:cTn id="1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5145"/>
          </a:xfrm>
        </p:spPr>
        <p:txBody>
          <a:bodyPr>
            <a:normAutofit fontScale="90000"/>
          </a:bodyPr>
          <a:lstStyle/>
          <a:p>
            <a:r>
              <a:rPr lang="en-IN" altLang="en-US"/>
              <a:t>MCQs</a:t>
            </a:r>
          </a:p>
        </p:txBody>
      </p:sp>
      <p:sp>
        <p:nvSpPr>
          <p:cNvPr id="3" name="Content Placeholder 2"/>
          <p:cNvSpPr>
            <a:spLocks noGrp="1"/>
          </p:cNvSpPr>
          <p:nvPr>
            <p:ph idx="1"/>
          </p:nvPr>
        </p:nvSpPr>
        <p:spPr>
          <a:xfrm>
            <a:off x="838200" y="890270"/>
            <a:ext cx="10515600" cy="5287010"/>
          </a:xfrm>
        </p:spPr>
        <p:txBody>
          <a:bodyPr>
            <a:noAutofit/>
          </a:bodyPr>
          <a:lstStyle/>
          <a:p>
            <a:pPr marL="0" indent="0">
              <a:buNone/>
            </a:pPr>
            <a:r>
              <a:rPr lang="en-IN" altLang="en-US" sz="2000"/>
              <a:t>1. </a:t>
            </a:r>
            <a:r>
              <a:rPr lang="en-US" sz="2000"/>
              <a:t>An ________ is a set of entities of the same type that share the same properties, or attributes.</a:t>
            </a:r>
          </a:p>
          <a:p>
            <a:pPr marL="0" indent="0">
              <a:buNone/>
            </a:pPr>
            <a:r>
              <a:rPr lang="en-US" sz="2000"/>
              <a:t>a) Entity set</a:t>
            </a:r>
            <a:r>
              <a:rPr lang="en-IN" altLang="en-US" sz="2000"/>
              <a:t>                                                            </a:t>
            </a:r>
            <a:r>
              <a:rPr lang="en-US" sz="2000"/>
              <a:t>b) Attribute set</a:t>
            </a:r>
          </a:p>
          <a:p>
            <a:pPr marL="0" indent="0">
              <a:buNone/>
            </a:pPr>
            <a:r>
              <a:rPr lang="en-US" sz="2000"/>
              <a:t>c) Relation set</a:t>
            </a:r>
            <a:r>
              <a:rPr lang="en-IN" altLang="en-US" sz="2000"/>
              <a:t>                                                        </a:t>
            </a:r>
            <a:r>
              <a:rPr lang="en-US" sz="2000"/>
              <a:t>d) Entity model</a:t>
            </a:r>
          </a:p>
          <a:p>
            <a:pPr marL="0" indent="0">
              <a:buNone/>
            </a:pPr>
            <a:endParaRPr lang="en-US" sz="2000"/>
          </a:p>
          <a:p>
            <a:pPr marL="0" indent="0">
              <a:buNone/>
            </a:pPr>
            <a:r>
              <a:rPr lang="en-IN" altLang="en-US" sz="2000"/>
              <a:t>2. Entity is a _________</a:t>
            </a:r>
          </a:p>
          <a:p>
            <a:pPr marL="0" indent="0">
              <a:buNone/>
            </a:pPr>
            <a:r>
              <a:rPr lang="en-IN" altLang="en-US" sz="2000"/>
              <a:t>a) Object of relation                                              b) Present working model</a:t>
            </a:r>
          </a:p>
          <a:p>
            <a:pPr marL="0" indent="0">
              <a:buNone/>
            </a:pPr>
            <a:r>
              <a:rPr lang="en-IN" altLang="en-US" sz="2000"/>
              <a:t>c) Thing in real world                                            d) Model of relation</a:t>
            </a:r>
          </a:p>
          <a:p>
            <a:pPr marL="0" indent="0">
              <a:buNone/>
            </a:pPr>
            <a:endParaRPr lang="en-IN" altLang="en-US" sz="2000"/>
          </a:p>
          <a:p>
            <a:pPr marL="0" indent="0">
              <a:buNone/>
            </a:pPr>
            <a:r>
              <a:rPr lang="en-IN" altLang="en-US" sz="2000"/>
              <a:t>3. The descriptive property possessed by each entity set is _________</a:t>
            </a:r>
          </a:p>
          <a:p>
            <a:pPr marL="0" indent="0">
              <a:buNone/>
            </a:pPr>
            <a:r>
              <a:rPr lang="en-IN" altLang="en-US" sz="2000"/>
              <a:t>a) Entity                                                                   b) Attribute</a:t>
            </a:r>
          </a:p>
          <a:p>
            <a:pPr marL="0" indent="0">
              <a:buNone/>
            </a:pPr>
            <a:r>
              <a:rPr lang="en-IN" altLang="en-US" sz="2000"/>
              <a:t>c) Relation                                                               d) Model</a:t>
            </a:r>
          </a:p>
          <a:p>
            <a:pPr marL="0" indent="0">
              <a:buNone/>
            </a:pPr>
            <a:endParaRPr lang="en-IN" altLang="en-US" sz="2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362585"/>
          </a:xfrm>
        </p:spPr>
        <p:txBody>
          <a:bodyPr>
            <a:normAutofit fontScale="90000"/>
          </a:bodyPr>
          <a:lstStyle/>
          <a:p>
            <a:r>
              <a:rPr lang="en-IN" altLang="en-US"/>
              <a:t>MCQs</a:t>
            </a:r>
          </a:p>
        </p:txBody>
      </p:sp>
      <p:sp>
        <p:nvSpPr>
          <p:cNvPr id="3" name="Content Placeholder 2"/>
          <p:cNvSpPr>
            <a:spLocks noGrp="1"/>
          </p:cNvSpPr>
          <p:nvPr>
            <p:ph idx="1"/>
          </p:nvPr>
        </p:nvSpPr>
        <p:spPr>
          <a:xfrm>
            <a:off x="838200" y="810895"/>
            <a:ext cx="10515600" cy="5366385"/>
          </a:xfrm>
        </p:spPr>
        <p:txBody>
          <a:bodyPr>
            <a:noAutofit/>
          </a:bodyPr>
          <a:lstStyle/>
          <a:p>
            <a:pPr marL="0" indent="0">
              <a:buNone/>
            </a:pPr>
            <a:r>
              <a:rPr lang="en-US" sz="2000"/>
              <a:t>4. The function that an entity plays in a relationship is called that entity’s _____________</a:t>
            </a:r>
          </a:p>
          <a:p>
            <a:pPr marL="0" indent="0">
              <a:buNone/>
            </a:pPr>
            <a:r>
              <a:rPr lang="en-US" sz="2000"/>
              <a:t>a) Participation</a:t>
            </a:r>
            <a:r>
              <a:rPr lang="en-IN" altLang="en-US" sz="2000"/>
              <a:t>                                                                  </a:t>
            </a:r>
            <a:r>
              <a:rPr lang="en-US" sz="2000"/>
              <a:t>b) Position</a:t>
            </a:r>
          </a:p>
          <a:p>
            <a:pPr marL="0" indent="0">
              <a:buNone/>
            </a:pPr>
            <a:r>
              <a:rPr lang="en-US" sz="2000"/>
              <a:t>c) Role</a:t>
            </a:r>
            <a:r>
              <a:rPr lang="en-IN" altLang="en-US" sz="2000"/>
              <a:t>                                                                                 </a:t>
            </a:r>
            <a:r>
              <a:rPr lang="en-US" sz="2000"/>
              <a:t>d) Instance</a:t>
            </a:r>
          </a:p>
          <a:p>
            <a:pPr marL="0" indent="0">
              <a:buNone/>
            </a:pPr>
            <a:endParaRPr lang="en-US" sz="2000"/>
          </a:p>
          <a:p>
            <a:pPr marL="0" indent="0">
              <a:buNone/>
            </a:pPr>
            <a:r>
              <a:rPr lang="en-IN" altLang="en-US" sz="2000"/>
              <a:t>5.</a:t>
            </a:r>
            <a:r>
              <a:rPr lang="en-US" sz="2000"/>
              <a:t> The attribute name could be structured as an attribute consisting of first name, middle initial, and last name. This type of attribute is called</a:t>
            </a:r>
          </a:p>
          <a:p>
            <a:pPr marL="0" indent="0">
              <a:buNone/>
            </a:pPr>
            <a:r>
              <a:rPr lang="en-US" sz="2000"/>
              <a:t>a) Simple attribute</a:t>
            </a:r>
            <a:r>
              <a:rPr lang="en-IN" altLang="en-US" sz="2000"/>
              <a:t>                                                             </a:t>
            </a:r>
            <a:r>
              <a:rPr lang="en-US" sz="2000"/>
              <a:t>b) Composite attribute</a:t>
            </a:r>
          </a:p>
          <a:p>
            <a:pPr marL="0" indent="0">
              <a:buNone/>
            </a:pPr>
            <a:r>
              <a:rPr lang="en-US" sz="2000"/>
              <a:t>c) Multivalued attribute</a:t>
            </a:r>
            <a:r>
              <a:rPr lang="en-IN" altLang="en-US" sz="2000"/>
              <a:t>                                                    </a:t>
            </a:r>
            <a:r>
              <a:rPr lang="en-US" sz="2000"/>
              <a:t>d) Derived attribute</a:t>
            </a:r>
          </a:p>
          <a:p>
            <a:pPr marL="0" indent="0">
              <a:buNone/>
            </a:pPr>
            <a:endParaRPr lang="en-US" sz="2000"/>
          </a:p>
          <a:p>
            <a:pPr marL="0" indent="0">
              <a:buNone/>
            </a:pPr>
            <a:r>
              <a:rPr lang="en-US" sz="2000"/>
              <a:t>6. The attribute AGE is calculated from DATE_OF_BIRTH. The attribute AGE is</a:t>
            </a:r>
          </a:p>
          <a:p>
            <a:pPr marL="0" indent="0">
              <a:buNone/>
            </a:pPr>
            <a:r>
              <a:rPr lang="en-US" sz="2000"/>
              <a:t>a) Single valued</a:t>
            </a:r>
            <a:r>
              <a:rPr lang="en-IN" altLang="en-US" sz="2000"/>
              <a:t>                                                                    </a:t>
            </a:r>
            <a:r>
              <a:rPr lang="en-US" sz="2000"/>
              <a:t>b) Multi valued</a:t>
            </a:r>
          </a:p>
          <a:p>
            <a:pPr marL="0" indent="0">
              <a:buNone/>
            </a:pPr>
            <a:r>
              <a:rPr lang="en-US" sz="2000"/>
              <a:t>c) Composite</a:t>
            </a:r>
            <a:r>
              <a:rPr lang="en-IN" altLang="en-US" sz="2000"/>
              <a:t>                                                                         </a:t>
            </a:r>
            <a:r>
              <a:rPr lang="en-US" sz="2000"/>
              <a:t>d) Derived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25" y="365125"/>
            <a:ext cx="10353675" cy="514985"/>
          </a:xfrm>
        </p:spPr>
        <p:txBody>
          <a:bodyPr>
            <a:normAutofit fontScale="90000"/>
          </a:bodyPr>
          <a:lstStyle/>
          <a:p>
            <a:r>
              <a:rPr lang="en-IN" altLang="en-US"/>
              <a:t>MCQs</a:t>
            </a:r>
          </a:p>
        </p:txBody>
      </p:sp>
      <p:sp>
        <p:nvSpPr>
          <p:cNvPr id="3" name="Content Placeholder 2"/>
          <p:cNvSpPr>
            <a:spLocks noGrp="1"/>
          </p:cNvSpPr>
          <p:nvPr>
            <p:ph idx="1"/>
          </p:nvPr>
        </p:nvSpPr>
        <p:spPr>
          <a:xfrm>
            <a:off x="838200" y="942975"/>
            <a:ext cx="10515600" cy="5234305"/>
          </a:xfrm>
        </p:spPr>
        <p:txBody>
          <a:bodyPr>
            <a:normAutofit/>
          </a:bodyPr>
          <a:lstStyle/>
          <a:p>
            <a:pPr marL="0" indent="0">
              <a:buNone/>
            </a:pPr>
            <a:r>
              <a:rPr lang="en-US" sz="2000"/>
              <a:t>7. Not applicable condition can be represented in relation entry as</a:t>
            </a:r>
          </a:p>
          <a:p>
            <a:pPr marL="0" indent="0">
              <a:buNone/>
            </a:pPr>
            <a:r>
              <a:rPr lang="en-US" sz="2000"/>
              <a:t>a) NA</a:t>
            </a:r>
            <a:r>
              <a:rPr lang="en-IN" altLang="en-US" sz="2000"/>
              <a:t>                                                            </a:t>
            </a:r>
            <a:r>
              <a:rPr lang="en-US" sz="2000"/>
              <a:t>b) 0</a:t>
            </a:r>
          </a:p>
          <a:p>
            <a:pPr marL="0" indent="0">
              <a:buNone/>
            </a:pPr>
            <a:r>
              <a:rPr lang="en-US" sz="2000"/>
              <a:t>c) NULL</a:t>
            </a:r>
            <a:r>
              <a:rPr lang="en-IN" altLang="en-US" sz="2000"/>
              <a:t>                                                        </a:t>
            </a:r>
            <a:r>
              <a:rPr lang="en-US" sz="2000"/>
              <a:t>d) Blank Space</a:t>
            </a:r>
          </a:p>
          <a:p>
            <a:pPr marL="0" indent="0">
              <a:buNone/>
            </a:pPr>
            <a:endParaRPr lang="en-US" sz="2000"/>
          </a:p>
          <a:p>
            <a:pPr marL="0" indent="0">
              <a:buNone/>
            </a:pPr>
            <a:r>
              <a:rPr lang="en-US" sz="2000"/>
              <a:t>8. Which of the following can be a multivalued attribute?</a:t>
            </a:r>
          </a:p>
          <a:p>
            <a:pPr marL="0" indent="0">
              <a:buNone/>
            </a:pPr>
            <a:r>
              <a:rPr lang="en-US" sz="2000"/>
              <a:t>a) Phone_number</a:t>
            </a:r>
            <a:r>
              <a:rPr lang="en-IN" altLang="en-US" sz="2000"/>
              <a:t>                                      </a:t>
            </a:r>
            <a:r>
              <a:rPr lang="en-US" sz="2000"/>
              <a:t>b) Name</a:t>
            </a:r>
          </a:p>
          <a:p>
            <a:pPr marL="0" indent="0">
              <a:buNone/>
            </a:pPr>
            <a:r>
              <a:rPr lang="en-US" sz="2000"/>
              <a:t>c) Date_of_birth</a:t>
            </a:r>
            <a:r>
              <a:rPr lang="en-IN" altLang="en-US" sz="2000"/>
              <a:t>                                         </a:t>
            </a:r>
            <a:r>
              <a:rPr lang="en-US" sz="2000"/>
              <a:t>d) All of the mentioned</a:t>
            </a:r>
          </a:p>
          <a:p>
            <a:pPr marL="0" indent="0">
              <a:buNone/>
            </a:pPr>
            <a:endParaRPr lang="en-US" sz="2000"/>
          </a:p>
          <a:p>
            <a:pPr marL="0" indent="0">
              <a:buNone/>
            </a:pPr>
            <a:r>
              <a:rPr lang="en-US" sz="2000"/>
              <a:t>9. Which of the following is a single valued attribute</a:t>
            </a:r>
          </a:p>
          <a:p>
            <a:pPr marL="0" indent="0">
              <a:buNone/>
            </a:pPr>
            <a:r>
              <a:rPr lang="en-US" sz="2000"/>
              <a:t>a) Register_number</a:t>
            </a:r>
            <a:r>
              <a:rPr lang="en-IN" altLang="en-US" sz="2000"/>
              <a:t>                                   </a:t>
            </a:r>
            <a:r>
              <a:rPr lang="en-US" sz="2000"/>
              <a:t>b) Address</a:t>
            </a:r>
          </a:p>
          <a:p>
            <a:pPr marL="0" indent="0">
              <a:buNone/>
            </a:pPr>
            <a:r>
              <a:rPr lang="en-US" sz="2000"/>
              <a:t>c) SUBJECT_TAKEN</a:t>
            </a:r>
            <a:r>
              <a:rPr lang="en-IN" altLang="en-US" sz="2000"/>
              <a:t>                                     </a:t>
            </a:r>
            <a:r>
              <a:rPr lang="en-US" sz="2000"/>
              <a:t>d) Reference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25000" lnSpcReduction="20000"/>
          </a:bodyPr>
          <a:lstStyle/>
          <a:p>
            <a:r>
              <a:rPr lang="en-US"/>
              <a:t>1.</a:t>
            </a:r>
          </a:p>
          <a:p>
            <a:r>
              <a:rPr lang="en-US"/>
              <a:t>A.</a:t>
            </a:r>
          </a:p>
          <a:p>
            <a:endParaRPr lang="en-US"/>
          </a:p>
          <a:p>
            <a:r>
              <a:rPr lang="en-US"/>
              <a:t>Minimum cardinality</a:t>
            </a:r>
          </a:p>
          <a:p>
            <a:r>
              <a:rPr lang="en-US"/>
              <a:t>B.</a:t>
            </a:r>
          </a:p>
          <a:p>
            <a:endParaRPr lang="en-US"/>
          </a:p>
          <a:p>
            <a:r>
              <a:rPr lang="en-US"/>
              <a:t>Maximum cardinality</a:t>
            </a:r>
          </a:p>
          <a:p>
            <a:r>
              <a:rPr lang="en-US"/>
              <a:t>C.</a:t>
            </a:r>
          </a:p>
          <a:p>
            <a:endParaRPr lang="en-US"/>
          </a:p>
          <a:p>
            <a:r>
              <a:rPr lang="en-US"/>
              <a:t>ERD</a:t>
            </a:r>
          </a:p>
          <a:p>
            <a:r>
              <a:rPr lang="en-US"/>
              <a:t>D.</a:t>
            </a:r>
          </a:p>
          <a:p>
            <a:endParaRPr lang="en-US"/>
          </a:p>
          <a:p>
            <a:r>
              <a:rPr lang="en-US"/>
              <a:t>Greater Entity Count (GEC)</a:t>
            </a:r>
          </a:p>
          <a:p>
            <a:r>
              <a:rPr lang="en-US"/>
              <a:t>2.</a:t>
            </a:r>
          </a:p>
          <a:p>
            <a:r>
              <a:rPr lang="en-US"/>
              <a:t>A.</a:t>
            </a:r>
          </a:p>
          <a:p>
            <a:endParaRPr lang="en-US"/>
          </a:p>
          <a:p>
            <a:r>
              <a:rPr lang="en-US"/>
              <a:t>Weak entity</a:t>
            </a:r>
          </a:p>
          <a:p>
            <a:r>
              <a:rPr lang="en-US"/>
              <a:t>B.</a:t>
            </a:r>
          </a:p>
          <a:p>
            <a:endParaRPr lang="en-US"/>
          </a:p>
          <a:p>
            <a:r>
              <a:rPr lang="en-US"/>
              <a:t>Strong entity</a:t>
            </a:r>
          </a:p>
          <a:p>
            <a:r>
              <a:rPr lang="en-US"/>
              <a:t>C.</a:t>
            </a:r>
          </a:p>
          <a:p>
            <a:endParaRPr lang="en-US"/>
          </a:p>
          <a:p>
            <a:r>
              <a:rPr lang="en-US"/>
              <a:t>ID-dependent entity</a:t>
            </a:r>
          </a:p>
          <a:p>
            <a:r>
              <a:rPr lang="en-US"/>
              <a:t>D.</a:t>
            </a:r>
          </a:p>
          <a:p>
            <a:endParaRPr lang="en-US"/>
          </a:p>
          <a:p>
            <a:r>
              <a:rPr lang="en-US"/>
              <a:t>ID- independent entity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3"/>
            <a:ext cx="10515600" cy="1325563"/>
          </a:xfrm>
        </p:spPr>
        <p:txBody>
          <a:bodyPr/>
          <a:lstStyle/>
          <a:p>
            <a:pPr algn="ctr"/>
            <a:r>
              <a:rPr lang="en-IN" b="1" dirty="0">
                <a:solidFill>
                  <a:schemeClr val="accent4">
                    <a:lumMod val="50000"/>
                  </a:schemeClr>
                </a:solidFill>
              </a:rPr>
              <a:t>Participation Constraints and Existence Dependencies</a:t>
            </a:r>
          </a:p>
        </p:txBody>
      </p:sp>
      <p:sp>
        <p:nvSpPr>
          <p:cNvPr id="3" name="Content Placeholder 2"/>
          <p:cNvSpPr>
            <a:spLocks noGrp="1"/>
          </p:cNvSpPr>
          <p:nvPr>
            <p:ph idx="1"/>
          </p:nvPr>
        </p:nvSpPr>
        <p:spPr>
          <a:xfrm>
            <a:off x="1331650" y="1344457"/>
            <a:ext cx="10750858" cy="4298698"/>
          </a:xfrm>
        </p:spPr>
        <p:txBody>
          <a:bodyPr>
            <a:normAutofit fontScale="92500" lnSpcReduction="20000"/>
          </a:bodyPr>
          <a:lstStyle/>
          <a:p>
            <a:pPr algn="just">
              <a:lnSpc>
                <a:spcPct val="100000"/>
              </a:lnSpc>
              <a:buFont typeface="Wingdings" panose="05000000000000000000" pitchFamily="2" charset="2"/>
              <a:buChar char="q"/>
            </a:pPr>
            <a:r>
              <a:rPr lang="en-IN" dirty="0"/>
              <a:t>The </a:t>
            </a:r>
            <a:r>
              <a:rPr lang="en-IN" b="1" dirty="0">
                <a:solidFill>
                  <a:srgbClr val="7030A0"/>
                </a:solidFill>
              </a:rPr>
              <a:t>participation constraint</a:t>
            </a:r>
            <a:r>
              <a:rPr lang="en-IN" dirty="0"/>
              <a:t> specifies whether the existence of an entity depends on another entity via the relationship type.</a:t>
            </a:r>
          </a:p>
          <a:p>
            <a:pPr algn="just">
              <a:lnSpc>
                <a:spcPct val="100000"/>
              </a:lnSpc>
              <a:buFont typeface="Wingdings" panose="05000000000000000000" pitchFamily="2" charset="2"/>
              <a:buChar char="q"/>
            </a:pPr>
            <a:r>
              <a:rPr lang="en-IN" dirty="0"/>
              <a:t>This constraint specifies the minimum number of relationship instances that each entity can participate in, and is called the </a:t>
            </a:r>
            <a:r>
              <a:rPr lang="en-IN" b="1" dirty="0">
                <a:solidFill>
                  <a:srgbClr val="7030A0"/>
                </a:solidFill>
              </a:rPr>
              <a:t>minimum cardinality constraint</a:t>
            </a:r>
            <a:r>
              <a:rPr lang="en-IN" dirty="0"/>
              <a:t>.</a:t>
            </a:r>
          </a:p>
          <a:p>
            <a:pPr algn="just">
              <a:lnSpc>
                <a:spcPct val="100000"/>
              </a:lnSpc>
              <a:buFont typeface="Wingdings" panose="05000000000000000000" pitchFamily="2" charset="2"/>
              <a:buChar char="q"/>
            </a:pPr>
            <a:r>
              <a:rPr lang="en-IN" dirty="0"/>
              <a:t>Two types of participation constraints</a:t>
            </a:r>
          </a:p>
          <a:p>
            <a:pPr lvl="1" algn="just">
              <a:lnSpc>
                <a:spcPct val="100000"/>
              </a:lnSpc>
              <a:buFont typeface="Wingdings" panose="05000000000000000000" pitchFamily="2" charset="2"/>
              <a:buChar char="§"/>
            </a:pPr>
            <a:r>
              <a:rPr lang="en-IN" dirty="0"/>
              <a:t>Total </a:t>
            </a:r>
          </a:p>
          <a:p>
            <a:pPr lvl="1" algn="just">
              <a:lnSpc>
                <a:spcPct val="100000"/>
              </a:lnSpc>
              <a:buFont typeface="Wingdings" panose="05000000000000000000" pitchFamily="2" charset="2"/>
              <a:buChar char="§"/>
            </a:pPr>
            <a:r>
              <a:rPr lang="en-IN" dirty="0"/>
              <a:t>Partial</a:t>
            </a:r>
          </a:p>
          <a:p>
            <a:pPr algn="just">
              <a:lnSpc>
                <a:spcPct val="100000"/>
              </a:lnSpc>
              <a:buFont typeface="Wingdings" panose="05000000000000000000" pitchFamily="2" charset="2"/>
              <a:buChar char="q"/>
            </a:pPr>
            <a:r>
              <a:rPr lang="en-IN" dirty="0"/>
              <a:t>If a company policy states that </a:t>
            </a:r>
            <a:r>
              <a:rPr lang="en-IN" i="1" dirty="0"/>
              <a:t>every</a:t>
            </a:r>
            <a:r>
              <a:rPr lang="en-IN" dirty="0"/>
              <a:t> employee must work for a department, then an employee entity can exist only if it participates in at least one WORKS_FOR relationship instance.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3575" y="1344295"/>
            <a:ext cx="11182985" cy="5384800"/>
          </a:xfrm>
        </p:spPr>
        <p:txBody>
          <a:bodyPr/>
          <a:lstStyle/>
          <a:p>
            <a:pPr algn="just">
              <a:buFont typeface="Wingdings" panose="05000000000000000000" pitchFamily="2" charset="2"/>
              <a:buChar char="q"/>
            </a:pPr>
            <a:r>
              <a:rPr lang="en-IN" dirty="0"/>
              <a:t> Participation of EMPLOYEE in WORKS_FOR is called </a:t>
            </a:r>
            <a:r>
              <a:rPr lang="en-IN" b="1" dirty="0">
                <a:solidFill>
                  <a:srgbClr val="7030A0"/>
                </a:solidFill>
              </a:rPr>
              <a:t>total participation</a:t>
            </a:r>
            <a:r>
              <a:rPr lang="en-IN" dirty="0"/>
              <a:t>, meaning that every entity in </a:t>
            </a:r>
            <a:r>
              <a:rPr lang="en-IN" i="1" dirty="0"/>
              <a:t>the total set </a:t>
            </a:r>
            <a:r>
              <a:rPr lang="en-IN" dirty="0"/>
              <a:t>of employee entities must be related to a department entity via WORKS_FOR.</a:t>
            </a:r>
          </a:p>
          <a:p>
            <a:pPr algn="just">
              <a:buFont typeface="Wingdings" panose="05000000000000000000" pitchFamily="2" charset="2"/>
              <a:buChar char="q"/>
            </a:pPr>
            <a:r>
              <a:rPr lang="en-IN" dirty="0"/>
              <a:t> Total participation is also called </a:t>
            </a:r>
            <a:r>
              <a:rPr lang="en-IN" b="1" dirty="0">
                <a:solidFill>
                  <a:srgbClr val="7030A0"/>
                </a:solidFill>
              </a:rPr>
              <a:t>existence dependency.</a:t>
            </a:r>
          </a:p>
          <a:p>
            <a:pPr algn="just">
              <a:buFont typeface="Wingdings" panose="05000000000000000000" pitchFamily="2" charset="2"/>
              <a:buChar char="q"/>
            </a:pPr>
            <a:r>
              <a:rPr lang="en-IN" dirty="0"/>
              <a:t> We do not expect every employee to manage a department, so the participation of EMPLOYEE in the MANAGES relationship type is </a:t>
            </a:r>
            <a:r>
              <a:rPr lang="en-IN" b="1" dirty="0">
                <a:solidFill>
                  <a:srgbClr val="7030A0"/>
                </a:solidFill>
              </a:rPr>
              <a:t>partial</a:t>
            </a:r>
            <a:r>
              <a:rPr lang="en-IN" dirty="0"/>
              <a:t>, meaning that </a:t>
            </a:r>
            <a:r>
              <a:rPr lang="en-IN" i="1" dirty="0"/>
              <a:t>some</a:t>
            </a:r>
            <a:r>
              <a:rPr lang="en-IN" dirty="0"/>
              <a:t> or </a:t>
            </a:r>
            <a:r>
              <a:rPr lang="en-IN" i="1" dirty="0"/>
              <a:t>part of the set of</a:t>
            </a:r>
            <a:r>
              <a:rPr lang="en-IN" dirty="0"/>
              <a:t> employee entities are related to some department entity via MANAGES, but not necessarily all.</a:t>
            </a:r>
          </a:p>
        </p:txBody>
      </p:sp>
      <p:sp>
        <p:nvSpPr>
          <p:cNvPr id="4" name="Title 1"/>
          <p:cNvSpPr>
            <a:spLocks noGrp="1"/>
          </p:cNvSpPr>
          <p:nvPr>
            <p:ph type="title"/>
          </p:nvPr>
        </p:nvSpPr>
        <p:spPr>
          <a:xfrm>
            <a:off x="838200" y="18893"/>
            <a:ext cx="10515600" cy="1325563"/>
          </a:xfrm>
        </p:spPr>
        <p:txBody>
          <a:bodyPr/>
          <a:lstStyle/>
          <a:p>
            <a:pPr algn="ctr"/>
            <a:r>
              <a:rPr lang="en-IN" b="1" dirty="0">
                <a:solidFill>
                  <a:schemeClr val="accent4">
                    <a:lumMod val="50000"/>
                  </a:schemeClr>
                </a:solidFill>
              </a:rPr>
              <a:t>Participation Constraints and Existence Dependencies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1435" y="1534452"/>
            <a:ext cx="10750550" cy="2927985"/>
          </a:xfrm>
        </p:spPr>
        <p:txBody>
          <a:bodyPr/>
          <a:lstStyle/>
          <a:p>
            <a:pPr>
              <a:lnSpc>
                <a:spcPct val="100000"/>
              </a:lnSpc>
              <a:buFont typeface="Wingdings" panose="05000000000000000000" pitchFamily="2" charset="2"/>
              <a:buChar char="q"/>
            </a:pPr>
            <a:r>
              <a:rPr lang="en-IN" dirty="0"/>
              <a:t>In ER diagram, </a:t>
            </a:r>
          </a:p>
          <a:p>
            <a:pPr lvl="1">
              <a:lnSpc>
                <a:spcPct val="100000"/>
              </a:lnSpc>
              <a:buFont typeface="Wingdings" panose="05000000000000000000" pitchFamily="2" charset="2"/>
              <a:buChar char="§"/>
            </a:pPr>
            <a:r>
              <a:rPr lang="en-IN" dirty="0"/>
              <a:t>Total participation (or existence dependency) is displayed as a double line connecting the participating entity type to the relationship.</a:t>
            </a:r>
          </a:p>
          <a:p>
            <a:pPr lvl="1">
              <a:lnSpc>
                <a:spcPct val="100000"/>
              </a:lnSpc>
              <a:buFont typeface="Wingdings" panose="05000000000000000000" pitchFamily="2" charset="2"/>
              <a:buChar char="§"/>
            </a:pPr>
            <a:r>
              <a:rPr lang="en-IN" dirty="0"/>
              <a:t>Partial participation is represented by a single line.</a:t>
            </a:r>
          </a:p>
          <a:p>
            <a:pPr marL="457200" lvl="1" indent="0">
              <a:lnSpc>
                <a:spcPct val="100000"/>
              </a:lnSpc>
              <a:buNone/>
            </a:pPr>
            <a:endParaRPr lang="en-IN" dirty="0"/>
          </a:p>
        </p:txBody>
      </p:sp>
      <p:sp>
        <p:nvSpPr>
          <p:cNvPr id="4" name="Title 1"/>
          <p:cNvSpPr>
            <a:spLocks noGrp="1"/>
          </p:cNvSpPr>
          <p:nvPr>
            <p:ph type="title"/>
          </p:nvPr>
        </p:nvSpPr>
        <p:spPr>
          <a:xfrm>
            <a:off x="838200" y="323058"/>
            <a:ext cx="10515600" cy="1325563"/>
          </a:xfrm>
        </p:spPr>
        <p:txBody>
          <a:bodyPr/>
          <a:lstStyle/>
          <a:p>
            <a:pPr algn="ctr"/>
            <a:r>
              <a:rPr lang="en-IN" b="1" dirty="0">
                <a:solidFill>
                  <a:schemeClr val="accent4">
                    <a:lumMod val="50000"/>
                  </a:schemeClr>
                </a:solidFill>
              </a:rPr>
              <a:t>Participation Constraints and Existence Dependencies</a:t>
            </a:r>
          </a:p>
        </p:txBody>
      </p:sp>
      <p:pic>
        <p:nvPicPr>
          <p:cNvPr id="1026" name="Picture 2" descr="Lightbox">
            <a:extLst>
              <a:ext uri="{FF2B5EF4-FFF2-40B4-BE49-F238E27FC236}">
                <a16:creationId xmlns:a16="http://schemas.microsoft.com/office/drawing/2014/main" id="{2BF5BEC5-224B-96B4-3099-08848DEF5A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900771"/>
            <a:ext cx="5745368" cy="112333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ightbox">
            <a:extLst>
              <a:ext uri="{FF2B5EF4-FFF2-40B4-BE49-F238E27FC236}">
                <a16:creationId xmlns:a16="http://schemas.microsoft.com/office/drawing/2014/main" id="{86A1D552-82CE-0D7F-2693-2216FF6F4A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3736" y="3560771"/>
            <a:ext cx="4276725" cy="2105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14"/>
            <a:ext cx="10515600" cy="1135205"/>
          </a:xfrm>
        </p:spPr>
        <p:txBody>
          <a:bodyPr/>
          <a:lstStyle/>
          <a:p>
            <a:pPr algn="ctr"/>
            <a:r>
              <a:rPr lang="en-IN" b="1" dirty="0">
                <a:solidFill>
                  <a:schemeClr val="accent4">
                    <a:lumMod val="50000"/>
                  </a:schemeClr>
                </a:solidFill>
              </a:rPr>
              <a:t>Attributes of Relationship Types</a:t>
            </a:r>
          </a:p>
        </p:txBody>
      </p:sp>
      <p:sp>
        <p:nvSpPr>
          <p:cNvPr id="3" name="Content Placeholder 2"/>
          <p:cNvSpPr>
            <a:spLocks noGrp="1"/>
          </p:cNvSpPr>
          <p:nvPr>
            <p:ph idx="1"/>
          </p:nvPr>
        </p:nvSpPr>
        <p:spPr>
          <a:xfrm>
            <a:off x="603250" y="932180"/>
            <a:ext cx="11425555" cy="5823585"/>
          </a:xfrm>
        </p:spPr>
        <p:txBody>
          <a:bodyPr/>
          <a:lstStyle/>
          <a:p>
            <a:pPr>
              <a:lnSpc>
                <a:spcPct val="100000"/>
              </a:lnSpc>
              <a:buFont typeface="Wingdings" panose="05000000000000000000" pitchFamily="2" charset="2"/>
              <a:buChar char="q"/>
            </a:pPr>
            <a:r>
              <a:rPr lang="en-IN" dirty="0"/>
              <a:t> A Relationship type can have attributes.</a:t>
            </a:r>
          </a:p>
          <a:p>
            <a:pPr>
              <a:lnSpc>
                <a:spcPct val="100000"/>
              </a:lnSpc>
              <a:buFont typeface="Wingdings" panose="05000000000000000000" pitchFamily="2" charset="2"/>
              <a:buChar char="q"/>
            </a:pPr>
            <a:r>
              <a:rPr lang="en-IN" dirty="0"/>
              <a:t> For example</a:t>
            </a:r>
          </a:p>
          <a:p>
            <a:pPr lvl="1">
              <a:lnSpc>
                <a:spcPct val="100000"/>
              </a:lnSpc>
              <a:buFont typeface="Wingdings" panose="05000000000000000000" pitchFamily="2" charset="2"/>
              <a:buChar char="§"/>
            </a:pPr>
            <a:r>
              <a:rPr lang="en-IN" dirty="0"/>
              <a:t>To record the number of hours per week that an employee works on a particular project, we can include an attribute Hours for the WORKS_ON relationship type.</a:t>
            </a:r>
          </a:p>
          <a:p>
            <a:pPr lvl="2">
              <a:lnSpc>
                <a:spcPct val="100000"/>
              </a:lnSpc>
            </a:pPr>
            <a:r>
              <a:rPr lang="en-US" altLang="en-US" dirty="0"/>
              <a:t>A value of Hours depends on a particular (employee, project) combination.</a:t>
            </a:r>
            <a:endParaRPr lang="en-IN" dirty="0"/>
          </a:p>
          <a:p>
            <a:pPr lvl="1">
              <a:lnSpc>
                <a:spcPct val="100000"/>
              </a:lnSpc>
              <a:buFont typeface="Wingdings" panose="05000000000000000000" pitchFamily="2" charset="2"/>
              <a:buChar char="§"/>
            </a:pPr>
            <a:r>
              <a:rPr lang="en-IN" dirty="0"/>
              <a:t>To include the date on which a manager started managing a department via an attribute </a:t>
            </a:r>
            <a:r>
              <a:rPr lang="en-IN" dirty="0" err="1"/>
              <a:t>Start_date</a:t>
            </a:r>
            <a:r>
              <a:rPr lang="en-IN" dirty="0"/>
              <a:t> for the MANAGES relationship type.</a:t>
            </a:r>
          </a:p>
          <a:p>
            <a:pPr>
              <a:lnSpc>
                <a:spcPct val="100000"/>
              </a:lnSpc>
              <a:buFont typeface="Wingdings" panose="05000000000000000000" pitchFamily="2" charset="2"/>
              <a:buChar char="q"/>
            </a:pPr>
            <a:r>
              <a:rPr lang="en-IN" altLang="en-US" dirty="0"/>
              <a:t> </a:t>
            </a:r>
            <a:r>
              <a:rPr lang="en-US" altLang="en-US" dirty="0"/>
              <a:t>Most relationship attributes are used with M:N relationships.</a:t>
            </a:r>
          </a:p>
          <a:p>
            <a:pPr marL="0" indent="0">
              <a:lnSpc>
                <a:spcPct val="100000"/>
              </a:lnSpc>
              <a:buNone/>
            </a:pPr>
            <a:endParaRPr lang="en-US" altLang="en-US" dirty="0"/>
          </a:p>
          <a:p>
            <a:pPr>
              <a:lnSpc>
                <a:spcPct val="100000"/>
              </a:lnSpc>
              <a:buFont typeface="Wingdings" panose="05000000000000000000" pitchFamily="2" charset="2"/>
              <a:buChar char="q"/>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1037550"/>
          </a:xfrm>
        </p:spPr>
        <p:txBody>
          <a:bodyPr/>
          <a:lstStyle/>
          <a:p>
            <a:pPr algn="ctr"/>
            <a:r>
              <a:rPr lang="en-IN" b="1" dirty="0">
                <a:solidFill>
                  <a:schemeClr val="accent4">
                    <a:lumMod val="50000"/>
                  </a:schemeClr>
                </a:solidFill>
              </a:rPr>
              <a:t>Weak Entity Types</a:t>
            </a:r>
          </a:p>
        </p:txBody>
      </p:sp>
      <p:sp>
        <p:nvSpPr>
          <p:cNvPr id="3" name="Content Placeholder 2"/>
          <p:cNvSpPr>
            <a:spLocks noGrp="1"/>
          </p:cNvSpPr>
          <p:nvPr>
            <p:ph idx="1"/>
          </p:nvPr>
        </p:nvSpPr>
        <p:spPr>
          <a:xfrm>
            <a:off x="379730" y="958215"/>
            <a:ext cx="11132820" cy="4638830"/>
          </a:xfrm>
        </p:spPr>
        <p:txBody>
          <a:bodyPr>
            <a:normAutofit fontScale="92500" lnSpcReduction="20000"/>
          </a:bodyPr>
          <a:lstStyle/>
          <a:p>
            <a:pPr algn="just">
              <a:lnSpc>
                <a:spcPct val="100000"/>
              </a:lnSpc>
              <a:buFont typeface="Wingdings" panose="05000000000000000000" pitchFamily="2" charset="2"/>
              <a:buChar char="q"/>
            </a:pPr>
            <a:r>
              <a:rPr lang="en-IN" dirty="0"/>
              <a:t>An entity type that does not have a key attribute of its own and </a:t>
            </a:r>
            <a:r>
              <a:rPr lang="en-US" altLang="en-US" dirty="0"/>
              <a:t>and that is identification-dependent on another entity type.</a:t>
            </a:r>
            <a:endParaRPr lang="en-IN" dirty="0"/>
          </a:p>
          <a:p>
            <a:pPr algn="just">
              <a:lnSpc>
                <a:spcPct val="100000"/>
              </a:lnSpc>
              <a:buFont typeface="Wingdings" panose="05000000000000000000" pitchFamily="2" charset="2"/>
              <a:buChar char="q"/>
            </a:pPr>
            <a:r>
              <a:rPr lang="en-IN" b="1" dirty="0">
                <a:solidFill>
                  <a:srgbClr val="7030A0"/>
                </a:solidFill>
              </a:rPr>
              <a:t>Regular entity types</a:t>
            </a:r>
            <a:r>
              <a:rPr lang="en-IN" dirty="0"/>
              <a:t> that do have a key attribute are called </a:t>
            </a:r>
            <a:r>
              <a:rPr lang="en-IN" b="1" dirty="0">
                <a:solidFill>
                  <a:srgbClr val="7030A0"/>
                </a:solidFill>
              </a:rPr>
              <a:t>strong entity types</a:t>
            </a:r>
            <a:r>
              <a:rPr lang="en-IN" dirty="0"/>
              <a:t>.</a:t>
            </a:r>
          </a:p>
          <a:p>
            <a:pPr algn="just">
              <a:lnSpc>
                <a:spcPct val="100000"/>
              </a:lnSpc>
              <a:buFont typeface="Wingdings" panose="05000000000000000000" pitchFamily="2" charset="2"/>
              <a:buChar char="q"/>
            </a:pPr>
            <a:r>
              <a:rPr lang="en-IN" altLang="en-US" sz="2800" dirty="0"/>
              <a:t>Entities belonging to a weak entity type are identified by being related to specific entities from </a:t>
            </a:r>
            <a:r>
              <a:rPr lang="en-IN" altLang="en-US" sz="2800" b="1" dirty="0">
                <a:solidFill>
                  <a:srgbClr val="7030A0"/>
                </a:solidFill>
              </a:rPr>
              <a:t>another entity type </a:t>
            </a:r>
            <a:r>
              <a:rPr lang="en-IN" altLang="en-US" sz="2800" dirty="0"/>
              <a:t>in combination with one of their attribute values.</a:t>
            </a:r>
            <a:endParaRPr lang="en-US" altLang="en-US" sz="2800" dirty="0"/>
          </a:p>
          <a:p>
            <a:pPr>
              <a:lnSpc>
                <a:spcPct val="100000"/>
              </a:lnSpc>
              <a:buFont typeface="Wingdings" panose="05000000000000000000" pitchFamily="2" charset="2"/>
              <a:buChar char="q"/>
            </a:pPr>
            <a:r>
              <a:rPr lang="en-IN" dirty="0"/>
              <a:t>We call this other entity type the </a:t>
            </a:r>
            <a:r>
              <a:rPr lang="en-IN" b="1" dirty="0">
                <a:solidFill>
                  <a:srgbClr val="7030A0"/>
                </a:solidFill>
              </a:rPr>
              <a:t>identifying</a:t>
            </a:r>
            <a:r>
              <a:rPr lang="en-IN" dirty="0"/>
              <a:t> or </a:t>
            </a:r>
            <a:r>
              <a:rPr lang="en-IN" b="1" dirty="0">
                <a:solidFill>
                  <a:srgbClr val="7030A0"/>
                </a:solidFill>
              </a:rPr>
              <a:t>owner entity type </a:t>
            </a:r>
            <a:r>
              <a:rPr lang="en-IN" dirty="0"/>
              <a:t>of the weak entity type.</a:t>
            </a:r>
          </a:p>
          <a:p>
            <a:pPr>
              <a:lnSpc>
                <a:spcPct val="100000"/>
              </a:lnSpc>
              <a:buFont typeface="Wingdings" panose="05000000000000000000" pitchFamily="2" charset="2"/>
              <a:buChar char="q"/>
            </a:pPr>
            <a:r>
              <a:rPr lang="en-IN" dirty="0"/>
              <a:t>We call the relationship type that relates a weak entity type to its owner the </a:t>
            </a:r>
            <a:r>
              <a:rPr lang="en-IN" b="1" dirty="0">
                <a:solidFill>
                  <a:srgbClr val="7030A0"/>
                </a:solidFill>
              </a:rPr>
              <a:t>identifying relationship </a:t>
            </a:r>
            <a:r>
              <a:rPr lang="en-IN" dirty="0"/>
              <a:t>of the weak entity type.</a:t>
            </a:r>
          </a:p>
          <a:p>
            <a:pPr algn="just">
              <a:lnSpc>
                <a:spcPct val="100000"/>
              </a:lnSpc>
              <a:buFont typeface="Wingdings" panose="05000000000000000000" pitchFamily="2" charset="2"/>
              <a:buChar char="q"/>
            </a:pPr>
            <a:r>
              <a:rPr lang="en-IN" dirty="0"/>
              <a:t>A weak entity must participate in n identifying relationship type with an owner or identifying entity type. </a:t>
            </a:r>
          </a:p>
          <a:p>
            <a:pPr algn="just">
              <a:lnSpc>
                <a:spcPct val="100000"/>
              </a:lnSpc>
              <a:buFont typeface="Wingdings" panose="05000000000000000000" pitchFamily="2" charset="2"/>
              <a:buChar char="q"/>
            </a:pPr>
            <a:endParaRPr lang="en-IN" dirty="0"/>
          </a:p>
        </p:txBody>
      </p:sp>
      <p:pic>
        <p:nvPicPr>
          <p:cNvPr id="2050" name="Picture 2" descr="Lightbox">
            <a:extLst>
              <a:ext uri="{FF2B5EF4-FFF2-40B4-BE49-F238E27FC236}">
                <a16:creationId xmlns:a16="http://schemas.microsoft.com/office/drawing/2014/main" id="{1DF9E2CF-860E-6AB2-CF10-00B812966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8487" y="5597044"/>
            <a:ext cx="5915025" cy="12420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937" y="963343"/>
            <a:ext cx="10715347" cy="5894773"/>
          </a:xfrm>
        </p:spPr>
        <p:txBody>
          <a:bodyPr>
            <a:normAutofit lnSpcReduction="10000"/>
          </a:bodyPr>
          <a:lstStyle/>
          <a:p>
            <a:pPr algn="just">
              <a:buFont typeface="Wingdings" panose="05000000000000000000" pitchFamily="2" charset="2"/>
              <a:buChar char="q"/>
            </a:pPr>
            <a:r>
              <a:rPr lang="en-IN" dirty="0"/>
              <a:t>A weak entity type always has a </a:t>
            </a:r>
            <a:r>
              <a:rPr lang="en-IN" i="1" dirty="0"/>
              <a:t>total participation constraint </a:t>
            </a:r>
            <a:r>
              <a:rPr lang="en-IN" dirty="0"/>
              <a:t>(existence dependency) with respect to its identifying relationship because a weak entity cannot be identified without an owner entity.</a:t>
            </a:r>
          </a:p>
          <a:p>
            <a:pPr algn="just">
              <a:buFont typeface="Wingdings" panose="05000000000000000000" pitchFamily="2" charset="2"/>
              <a:buChar char="q"/>
            </a:pPr>
            <a:r>
              <a:rPr lang="en-IN" dirty="0"/>
              <a:t> For example, a DRIVER_LICENSE entity cannot exist unless it is related to a PERSON entity, even though it has its own key (</a:t>
            </a:r>
            <a:r>
              <a:rPr lang="en-IN" dirty="0" err="1"/>
              <a:t>License_number</a:t>
            </a:r>
            <a:r>
              <a:rPr lang="en-IN" dirty="0"/>
              <a:t>) and hence is not a weak entity.</a:t>
            </a:r>
          </a:p>
          <a:p>
            <a:pPr algn="just">
              <a:buFont typeface="Wingdings" panose="05000000000000000000" pitchFamily="2" charset="2"/>
              <a:buChar char="q"/>
            </a:pPr>
            <a:r>
              <a:rPr lang="en-IN" dirty="0"/>
              <a:t> A weak entity type has a </a:t>
            </a:r>
            <a:r>
              <a:rPr lang="en-IN" b="1" dirty="0">
                <a:solidFill>
                  <a:srgbClr val="7030A0"/>
                </a:solidFill>
              </a:rPr>
              <a:t>partial key</a:t>
            </a:r>
            <a:r>
              <a:rPr lang="en-IN" dirty="0"/>
              <a:t>, which is the attribute that can uniquely identify weak entities that are related to the same owner entity.</a:t>
            </a:r>
          </a:p>
          <a:p>
            <a:pPr algn="just">
              <a:buFont typeface="Wingdings" panose="05000000000000000000" pitchFamily="2" charset="2"/>
              <a:buChar char="q"/>
            </a:pPr>
            <a:r>
              <a:rPr lang="en-US" b="0" i="0" dirty="0">
                <a:solidFill>
                  <a:srgbClr val="273239"/>
                </a:solidFill>
                <a:effectLst/>
                <a:latin typeface="urw-din"/>
              </a:rPr>
              <a:t>The set of attributes that are used to uniquely identify a weak entity set is called the Partial key. Only a bunch of the tuples can be identified using the partial keys. The partial Key of the weak entity set is also known as a discriminator.</a:t>
            </a:r>
            <a:endParaRPr lang="en-IN" dirty="0"/>
          </a:p>
          <a:p>
            <a:pPr algn="just">
              <a:buFont typeface="Wingdings" panose="05000000000000000000" pitchFamily="2" charset="2"/>
              <a:buChar char="q"/>
            </a:pPr>
            <a:r>
              <a:rPr lang="en-IN" dirty="0"/>
              <a:t>In the worst case, a composite attribute of all the weak entity’s attributes will be the partial key.</a:t>
            </a:r>
          </a:p>
        </p:txBody>
      </p:sp>
      <p:sp>
        <p:nvSpPr>
          <p:cNvPr id="4" name="Title 1"/>
          <p:cNvSpPr>
            <a:spLocks noGrp="1"/>
          </p:cNvSpPr>
          <p:nvPr>
            <p:ph type="title"/>
          </p:nvPr>
        </p:nvSpPr>
        <p:spPr>
          <a:xfrm>
            <a:off x="838200" y="18894"/>
            <a:ext cx="10515600" cy="1037550"/>
          </a:xfrm>
        </p:spPr>
        <p:txBody>
          <a:bodyPr/>
          <a:lstStyle/>
          <a:p>
            <a:pPr algn="ctr"/>
            <a:r>
              <a:rPr lang="en-IN" b="1" dirty="0">
                <a:solidFill>
                  <a:schemeClr val="accent4">
                    <a:lumMod val="50000"/>
                  </a:schemeClr>
                </a:solidFill>
              </a:rPr>
              <a:t> Weak Entity Types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ightbox">
            <a:extLst>
              <a:ext uri="{FF2B5EF4-FFF2-40B4-BE49-F238E27FC236}">
                <a16:creationId xmlns:a16="http://schemas.microsoft.com/office/drawing/2014/main" id="{90901765-8D38-15BD-B14E-2D6647651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456" y="1740165"/>
            <a:ext cx="10479088" cy="3377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72766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0730" y="896644"/>
            <a:ext cx="10928412" cy="5868140"/>
          </a:xfrm>
        </p:spPr>
        <p:txBody>
          <a:bodyPr>
            <a:normAutofit/>
          </a:bodyPr>
          <a:lstStyle/>
          <a:p>
            <a:pPr>
              <a:buFont typeface="Wingdings" panose="05000000000000000000" pitchFamily="2" charset="2"/>
              <a:buChar char="q"/>
            </a:pPr>
            <a:r>
              <a:rPr lang="en-IN" dirty="0"/>
              <a:t>Example:</a:t>
            </a:r>
          </a:p>
          <a:p>
            <a:pPr lvl="1">
              <a:buFont typeface="Wingdings" panose="05000000000000000000" pitchFamily="2" charset="2"/>
              <a:buChar char="§"/>
            </a:pPr>
            <a:r>
              <a:rPr lang="en-IN" dirty="0"/>
              <a:t>A DEPENDENT entity is identified by the dependent’s name, and the specific EMPLOYEE with whom the dependent is related. </a:t>
            </a:r>
          </a:p>
          <a:p>
            <a:pPr lvl="1">
              <a:buFont typeface="Wingdings" panose="05000000000000000000" pitchFamily="2" charset="2"/>
              <a:buChar char="§"/>
            </a:pPr>
            <a:r>
              <a:rPr lang="en-IN" dirty="0"/>
              <a:t>Name of DEPENDENT is the partial key</a:t>
            </a:r>
          </a:p>
          <a:p>
            <a:pPr lvl="1">
              <a:buFont typeface="Wingdings" panose="05000000000000000000" pitchFamily="2" charset="2"/>
              <a:buChar char="§"/>
            </a:pPr>
            <a:r>
              <a:rPr lang="en-IN" dirty="0"/>
              <a:t>DEPENDENT is a weak entity type</a:t>
            </a:r>
          </a:p>
          <a:p>
            <a:pPr lvl="1">
              <a:buFont typeface="Wingdings" panose="05000000000000000000" pitchFamily="2" charset="2"/>
              <a:buChar char="§"/>
            </a:pPr>
            <a:r>
              <a:rPr lang="en-IN" dirty="0"/>
              <a:t>EMPLOYEE is its identifying entity type via the identifying relationship type DEPENDENT_OF</a:t>
            </a:r>
          </a:p>
          <a:p>
            <a:pPr>
              <a:buFont typeface="Wingdings" panose="05000000000000000000" pitchFamily="2" charset="2"/>
              <a:buChar char="q"/>
            </a:pPr>
            <a:r>
              <a:rPr lang="en-IN" dirty="0"/>
              <a:t>In ER diagram </a:t>
            </a:r>
          </a:p>
          <a:p>
            <a:pPr lvl="1">
              <a:buFont typeface="Wingdings" panose="05000000000000000000" pitchFamily="2" charset="2"/>
              <a:buChar char="§"/>
            </a:pPr>
            <a:r>
              <a:rPr lang="en-IN" dirty="0"/>
              <a:t>Both a weak entity type and its identifying relationship are distinguished by surrounding their boxes and diamonds with double lines.</a:t>
            </a:r>
          </a:p>
          <a:p>
            <a:pPr lvl="1">
              <a:buFont typeface="Wingdings" panose="05000000000000000000" pitchFamily="2" charset="2"/>
              <a:buChar char="§"/>
            </a:pPr>
            <a:r>
              <a:rPr lang="en-IN" dirty="0"/>
              <a:t>The partial key attribute is underlined with a dashed or dotted line.</a:t>
            </a:r>
          </a:p>
          <a:p>
            <a:pPr>
              <a:buFont typeface="Wingdings" panose="05000000000000000000" pitchFamily="2" charset="2"/>
              <a:buChar char="q"/>
            </a:pPr>
            <a:r>
              <a:rPr lang="en-IN" dirty="0"/>
              <a:t>A weak entity type may have more than one identifying entity type and an identifying relationship type of degree higher than two. </a:t>
            </a:r>
          </a:p>
        </p:txBody>
      </p:sp>
      <p:sp>
        <p:nvSpPr>
          <p:cNvPr id="4" name="Title 1"/>
          <p:cNvSpPr>
            <a:spLocks noGrp="1"/>
          </p:cNvSpPr>
          <p:nvPr>
            <p:ph type="title"/>
          </p:nvPr>
        </p:nvSpPr>
        <p:spPr>
          <a:xfrm>
            <a:off x="838200" y="18894"/>
            <a:ext cx="10515600" cy="1037550"/>
          </a:xfrm>
        </p:spPr>
        <p:txBody>
          <a:bodyPr/>
          <a:lstStyle/>
          <a:p>
            <a:pPr algn="ctr"/>
            <a:r>
              <a:rPr lang="en-IN" b="1" dirty="0">
                <a:solidFill>
                  <a:schemeClr val="accent4">
                    <a:lumMod val="50000"/>
                  </a:schemeClr>
                </a:solidFill>
              </a:rPr>
              <a:t>Weak Entity Types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3"/>
            <a:ext cx="10515600" cy="948774"/>
          </a:xfrm>
        </p:spPr>
        <p:txBody>
          <a:bodyPr/>
          <a:lstStyle/>
          <a:p>
            <a:pPr algn="ctr"/>
            <a:r>
              <a:rPr lang="en-IN" b="1" dirty="0">
                <a:solidFill>
                  <a:schemeClr val="accent4">
                    <a:lumMod val="50000"/>
                  </a:schemeClr>
                </a:solidFill>
              </a:rPr>
              <a:t>Notation for ER Diagrams</a:t>
            </a:r>
          </a:p>
        </p:txBody>
      </p:sp>
      <p:pic>
        <p:nvPicPr>
          <p:cNvPr id="7" name="Picture 6"/>
          <p:cNvPicPr>
            <a:picLocks noChangeAspect="1"/>
          </p:cNvPicPr>
          <p:nvPr/>
        </p:nvPicPr>
        <p:blipFill>
          <a:blip r:embed="rId2"/>
          <a:stretch>
            <a:fillRect/>
          </a:stretch>
        </p:blipFill>
        <p:spPr>
          <a:xfrm>
            <a:off x="1343820" y="967667"/>
            <a:ext cx="3503054" cy="521594"/>
          </a:xfrm>
          <a:prstGeom prst="rect">
            <a:avLst/>
          </a:prstGeom>
        </p:spPr>
      </p:pic>
      <p:pic>
        <p:nvPicPr>
          <p:cNvPr id="9" name="Picture 8"/>
          <p:cNvPicPr>
            <a:picLocks noChangeAspect="1"/>
          </p:cNvPicPr>
          <p:nvPr/>
        </p:nvPicPr>
        <p:blipFill>
          <a:blip r:embed="rId3"/>
          <a:stretch>
            <a:fillRect/>
          </a:stretch>
        </p:blipFill>
        <p:spPr>
          <a:xfrm>
            <a:off x="6550978" y="832438"/>
            <a:ext cx="4198513" cy="656823"/>
          </a:xfrm>
          <a:prstGeom prst="rect">
            <a:avLst/>
          </a:prstGeom>
        </p:spPr>
      </p:pic>
      <p:pic>
        <p:nvPicPr>
          <p:cNvPr id="11" name="Picture 10"/>
          <p:cNvPicPr>
            <a:picLocks noChangeAspect="1"/>
          </p:cNvPicPr>
          <p:nvPr/>
        </p:nvPicPr>
        <p:blipFill>
          <a:blip r:embed="rId4"/>
          <a:stretch>
            <a:fillRect/>
          </a:stretch>
        </p:blipFill>
        <p:spPr>
          <a:xfrm>
            <a:off x="1343820" y="1620831"/>
            <a:ext cx="4018208" cy="953037"/>
          </a:xfrm>
          <a:prstGeom prst="rect">
            <a:avLst/>
          </a:prstGeom>
        </p:spPr>
      </p:pic>
      <p:pic>
        <p:nvPicPr>
          <p:cNvPr id="13" name="Picture 12"/>
          <p:cNvPicPr>
            <a:picLocks noChangeAspect="1"/>
          </p:cNvPicPr>
          <p:nvPr/>
        </p:nvPicPr>
        <p:blipFill>
          <a:blip r:embed="rId5"/>
          <a:stretch>
            <a:fillRect/>
          </a:stretch>
        </p:blipFill>
        <p:spPr>
          <a:xfrm>
            <a:off x="6829974" y="1588634"/>
            <a:ext cx="5022761" cy="985234"/>
          </a:xfrm>
          <a:prstGeom prst="rect">
            <a:avLst/>
          </a:prstGeom>
        </p:spPr>
      </p:pic>
      <p:pic>
        <p:nvPicPr>
          <p:cNvPr id="15" name="Picture 14"/>
          <p:cNvPicPr>
            <a:picLocks noChangeAspect="1"/>
          </p:cNvPicPr>
          <p:nvPr/>
        </p:nvPicPr>
        <p:blipFill>
          <a:blip r:embed="rId6"/>
          <a:stretch>
            <a:fillRect/>
          </a:stretch>
        </p:blipFill>
        <p:spPr>
          <a:xfrm>
            <a:off x="941950" y="2698998"/>
            <a:ext cx="4146997" cy="528034"/>
          </a:xfrm>
          <a:prstGeom prst="rect">
            <a:avLst/>
          </a:prstGeom>
        </p:spPr>
      </p:pic>
      <p:pic>
        <p:nvPicPr>
          <p:cNvPr id="17" name="Picture 16"/>
          <p:cNvPicPr>
            <a:picLocks noChangeAspect="1"/>
          </p:cNvPicPr>
          <p:nvPr/>
        </p:nvPicPr>
        <p:blipFill>
          <a:blip r:embed="rId7"/>
          <a:stretch>
            <a:fillRect/>
          </a:stretch>
        </p:blipFill>
        <p:spPr>
          <a:xfrm>
            <a:off x="6396431" y="2573868"/>
            <a:ext cx="4507606" cy="624625"/>
          </a:xfrm>
          <a:prstGeom prst="rect">
            <a:avLst/>
          </a:prstGeom>
        </p:spPr>
      </p:pic>
      <p:pic>
        <p:nvPicPr>
          <p:cNvPr id="19" name="Picture 18"/>
          <p:cNvPicPr>
            <a:picLocks noChangeAspect="1"/>
          </p:cNvPicPr>
          <p:nvPr/>
        </p:nvPicPr>
        <p:blipFill>
          <a:blip r:embed="rId8"/>
          <a:stretch>
            <a:fillRect/>
          </a:stretch>
        </p:blipFill>
        <p:spPr>
          <a:xfrm>
            <a:off x="941950" y="3352162"/>
            <a:ext cx="5151549" cy="676141"/>
          </a:xfrm>
          <a:prstGeom prst="rect">
            <a:avLst/>
          </a:prstGeom>
        </p:spPr>
      </p:pic>
      <p:pic>
        <p:nvPicPr>
          <p:cNvPr id="23" name="Picture 22"/>
          <p:cNvPicPr>
            <a:picLocks noChangeAspect="1"/>
          </p:cNvPicPr>
          <p:nvPr/>
        </p:nvPicPr>
        <p:blipFill>
          <a:blip r:embed="rId9"/>
          <a:stretch>
            <a:fillRect/>
          </a:stretch>
        </p:blipFill>
        <p:spPr>
          <a:xfrm>
            <a:off x="6261049" y="3336626"/>
            <a:ext cx="5795493" cy="1062507"/>
          </a:xfrm>
          <a:prstGeom prst="rect">
            <a:avLst/>
          </a:prstGeom>
        </p:spPr>
      </p:pic>
      <p:pic>
        <p:nvPicPr>
          <p:cNvPr id="25" name="Picture 24"/>
          <p:cNvPicPr>
            <a:picLocks noChangeAspect="1"/>
          </p:cNvPicPr>
          <p:nvPr/>
        </p:nvPicPr>
        <p:blipFill>
          <a:blip r:embed="rId10"/>
          <a:stretch>
            <a:fillRect/>
          </a:stretch>
        </p:blipFill>
        <p:spPr>
          <a:xfrm>
            <a:off x="941950" y="4278563"/>
            <a:ext cx="4868214" cy="528034"/>
          </a:xfrm>
          <a:prstGeom prst="rect">
            <a:avLst/>
          </a:prstGeom>
        </p:spPr>
      </p:pic>
      <p:pic>
        <p:nvPicPr>
          <p:cNvPr id="27" name="Picture 26"/>
          <p:cNvPicPr>
            <a:picLocks noChangeAspect="1"/>
          </p:cNvPicPr>
          <p:nvPr/>
        </p:nvPicPr>
        <p:blipFill>
          <a:blip r:embed="rId11"/>
          <a:stretch>
            <a:fillRect/>
          </a:stretch>
        </p:blipFill>
        <p:spPr>
          <a:xfrm>
            <a:off x="134238" y="5263345"/>
            <a:ext cx="5835225" cy="948773"/>
          </a:xfrm>
          <a:prstGeom prst="rect">
            <a:avLst/>
          </a:prstGeom>
        </p:spPr>
      </p:pic>
      <p:pic>
        <p:nvPicPr>
          <p:cNvPr id="29" name="Picture 28"/>
          <p:cNvPicPr>
            <a:picLocks noChangeAspect="1"/>
          </p:cNvPicPr>
          <p:nvPr/>
        </p:nvPicPr>
        <p:blipFill>
          <a:blip r:embed="rId12"/>
          <a:stretch>
            <a:fillRect/>
          </a:stretch>
        </p:blipFill>
        <p:spPr>
          <a:xfrm>
            <a:off x="6129263" y="5289007"/>
            <a:ext cx="5962126" cy="8355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1000"/>
                                        <p:tgtEl>
                                          <p:spTgt spid="19"/>
                                        </p:tgtEl>
                                      </p:cBhvr>
                                    </p:animEffect>
                                    <p:anim calcmode="lin" valueType="num">
                                      <p:cBhvr>
                                        <p:cTn id="50" dur="1000" fill="hold"/>
                                        <p:tgtEl>
                                          <p:spTgt spid="19"/>
                                        </p:tgtEl>
                                        <p:attrNameLst>
                                          <p:attrName>ppt_x</p:attrName>
                                        </p:attrNameLst>
                                      </p:cBhvr>
                                      <p:tavLst>
                                        <p:tav tm="0">
                                          <p:val>
                                            <p:strVal val="#ppt_x"/>
                                          </p:val>
                                        </p:tav>
                                        <p:tav tm="100000">
                                          <p:val>
                                            <p:strVal val="#ppt_x"/>
                                          </p:val>
                                        </p:tav>
                                      </p:tavLst>
                                    </p:anim>
                                    <p:anim calcmode="lin" valueType="num">
                                      <p:cBhvr>
                                        <p:cTn id="51"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1000"/>
                                        <p:tgtEl>
                                          <p:spTgt spid="23"/>
                                        </p:tgtEl>
                                      </p:cBhvr>
                                    </p:animEffect>
                                    <p:anim calcmode="lin" valueType="num">
                                      <p:cBhvr>
                                        <p:cTn id="57" dur="1000" fill="hold"/>
                                        <p:tgtEl>
                                          <p:spTgt spid="23"/>
                                        </p:tgtEl>
                                        <p:attrNameLst>
                                          <p:attrName>ppt_x</p:attrName>
                                        </p:attrNameLst>
                                      </p:cBhvr>
                                      <p:tavLst>
                                        <p:tav tm="0">
                                          <p:val>
                                            <p:strVal val="#ppt_x"/>
                                          </p:val>
                                        </p:tav>
                                        <p:tav tm="100000">
                                          <p:val>
                                            <p:strVal val="#ppt_x"/>
                                          </p:val>
                                        </p:tav>
                                      </p:tavLst>
                                    </p:anim>
                                    <p:anim calcmode="lin" valueType="num">
                                      <p:cBhvr>
                                        <p:cTn id="58"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1000"/>
                                        <p:tgtEl>
                                          <p:spTgt spid="25"/>
                                        </p:tgtEl>
                                      </p:cBhvr>
                                    </p:animEffect>
                                    <p:anim calcmode="lin" valueType="num">
                                      <p:cBhvr>
                                        <p:cTn id="64" dur="1000" fill="hold"/>
                                        <p:tgtEl>
                                          <p:spTgt spid="25"/>
                                        </p:tgtEl>
                                        <p:attrNameLst>
                                          <p:attrName>ppt_x</p:attrName>
                                        </p:attrNameLst>
                                      </p:cBhvr>
                                      <p:tavLst>
                                        <p:tav tm="0">
                                          <p:val>
                                            <p:strVal val="#ppt_x"/>
                                          </p:val>
                                        </p:tav>
                                        <p:tav tm="100000">
                                          <p:val>
                                            <p:strVal val="#ppt_x"/>
                                          </p:val>
                                        </p:tav>
                                      </p:tavLst>
                                    </p:anim>
                                    <p:anim calcmode="lin" valueType="num">
                                      <p:cBhvr>
                                        <p:cTn id="6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1000"/>
                                        <p:tgtEl>
                                          <p:spTgt spid="27"/>
                                        </p:tgtEl>
                                      </p:cBhvr>
                                    </p:animEffect>
                                    <p:anim calcmode="lin" valueType="num">
                                      <p:cBhvr>
                                        <p:cTn id="71" dur="1000" fill="hold"/>
                                        <p:tgtEl>
                                          <p:spTgt spid="27"/>
                                        </p:tgtEl>
                                        <p:attrNameLst>
                                          <p:attrName>ppt_x</p:attrName>
                                        </p:attrNameLst>
                                      </p:cBhvr>
                                      <p:tavLst>
                                        <p:tav tm="0">
                                          <p:val>
                                            <p:strVal val="#ppt_x"/>
                                          </p:val>
                                        </p:tav>
                                        <p:tav tm="100000">
                                          <p:val>
                                            <p:strVal val="#ppt_x"/>
                                          </p:val>
                                        </p:tav>
                                      </p:tavLst>
                                    </p:anim>
                                    <p:anim calcmode="lin" valueType="num">
                                      <p:cBhvr>
                                        <p:cTn id="7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1000"/>
                                        <p:tgtEl>
                                          <p:spTgt spid="29"/>
                                        </p:tgtEl>
                                      </p:cBhvr>
                                    </p:animEffect>
                                    <p:anim calcmode="lin" valueType="num">
                                      <p:cBhvr>
                                        <p:cTn id="78" dur="1000" fill="hold"/>
                                        <p:tgtEl>
                                          <p:spTgt spid="29"/>
                                        </p:tgtEl>
                                        <p:attrNameLst>
                                          <p:attrName>ppt_x</p:attrName>
                                        </p:attrNameLst>
                                      </p:cBhvr>
                                      <p:tavLst>
                                        <p:tav tm="0">
                                          <p:val>
                                            <p:strVal val="#ppt_x"/>
                                          </p:val>
                                        </p:tav>
                                        <p:tav tm="100000">
                                          <p:val>
                                            <p:strVal val="#ppt_x"/>
                                          </p:val>
                                        </p:tav>
                                      </p:tavLst>
                                    </p:anim>
                                    <p:anim calcmode="lin" valueType="num">
                                      <p:cBhvr>
                                        <p:cTn id="7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8632"/>
            <a:ext cx="10515600" cy="1321634"/>
          </a:xfrm>
        </p:spPr>
        <p:txBody>
          <a:bodyPr/>
          <a:lstStyle/>
          <a:p>
            <a:pPr algn="ctr"/>
            <a:r>
              <a:rPr lang="en-IN" b="1" dirty="0">
                <a:solidFill>
                  <a:schemeClr val="accent4">
                    <a:lumMod val="50000"/>
                  </a:schemeClr>
                </a:solidFill>
              </a:rPr>
              <a:t>Refining the COMPANY database schema by introducing relationships</a:t>
            </a:r>
          </a:p>
        </p:txBody>
      </p:sp>
      <p:sp>
        <p:nvSpPr>
          <p:cNvPr id="3" name="Content Placeholder 2"/>
          <p:cNvSpPr>
            <a:spLocks noGrp="1"/>
          </p:cNvSpPr>
          <p:nvPr>
            <p:ph idx="1"/>
          </p:nvPr>
        </p:nvSpPr>
        <p:spPr>
          <a:xfrm>
            <a:off x="1021080" y="1974215"/>
            <a:ext cx="10777220" cy="4509770"/>
          </a:xfrm>
        </p:spPr>
        <p:txBody>
          <a:bodyPr/>
          <a:lstStyle/>
          <a:p>
            <a:pPr>
              <a:lnSpc>
                <a:spcPct val="100000"/>
              </a:lnSpc>
              <a:buFont typeface="Wingdings" panose="05000000000000000000" pitchFamily="2" charset="2"/>
              <a:buChar char="q"/>
            </a:pPr>
            <a:r>
              <a:rPr lang="en-IN" dirty="0"/>
              <a:t>By examining the requirements, six relationship types are identified</a:t>
            </a:r>
          </a:p>
          <a:p>
            <a:pPr>
              <a:lnSpc>
                <a:spcPct val="100000"/>
              </a:lnSpc>
              <a:buFont typeface="Wingdings" panose="05000000000000000000" pitchFamily="2" charset="2"/>
              <a:buChar char="q"/>
            </a:pPr>
            <a:r>
              <a:rPr lang="en-IN" dirty="0"/>
              <a:t>All are binary relationships (degree 2)</a:t>
            </a:r>
          </a:p>
          <a:p>
            <a:pPr>
              <a:lnSpc>
                <a:spcPct val="100000"/>
              </a:lnSpc>
              <a:buFont typeface="Wingdings" panose="05000000000000000000" pitchFamily="2" charset="2"/>
              <a:buChar char="q"/>
            </a:pPr>
            <a:r>
              <a:rPr lang="en-IN" dirty="0"/>
              <a:t>Listed below with their participating entity types:</a:t>
            </a:r>
          </a:p>
          <a:p>
            <a:pPr lvl="1">
              <a:lnSpc>
                <a:spcPct val="100000"/>
              </a:lnSpc>
              <a:buFont typeface="Wingdings" panose="05000000000000000000" pitchFamily="2" charset="2"/>
              <a:buChar char="§"/>
            </a:pPr>
            <a:r>
              <a:rPr lang="en-IN" dirty="0"/>
              <a:t>WORKS_FOR (between EMPLOYEE, DEPARTMENT)</a:t>
            </a:r>
          </a:p>
          <a:p>
            <a:pPr lvl="1">
              <a:lnSpc>
                <a:spcPct val="100000"/>
              </a:lnSpc>
              <a:buFont typeface="Wingdings" panose="05000000000000000000" pitchFamily="2" charset="2"/>
              <a:buChar char="§"/>
            </a:pPr>
            <a:r>
              <a:rPr lang="en-IN" dirty="0"/>
              <a:t>MANAGES (also between EMPLOYEE, DEPARTMENT)</a:t>
            </a:r>
          </a:p>
          <a:p>
            <a:pPr lvl="1">
              <a:lnSpc>
                <a:spcPct val="100000"/>
              </a:lnSpc>
              <a:buFont typeface="Wingdings" panose="05000000000000000000" pitchFamily="2" charset="2"/>
              <a:buChar char="§"/>
            </a:pPr>
            <a:r>
              <a:rPr lang="en-IN" dirty="0"/>
              <a:t>CONTROLS (between DEPARTMENT, PROJECT)</a:t>
            </a:r>
          </a:p>
          <a:p>
            <a:pPr lvl="1">
              <a:lnSpc>
                <a:spcPct val="100000"/>
              </a:lnSpc>
              <a:buFont typeface="Wingdings" panose="05000000000000000000" pitchFamily="2" charset="2"/>
              <a:buChar char="§"/>
            </a:pPr>
            <a:r>
              <a:rPr lang="en-IN" dirty="0"/>
              <a:t>WORKS_ON (between EMPLOYEE, PROJECT)</a:t>
            </a:r>
          </a:p>
          <a:p>
            <a:pPr lvl="1">
              <a:lnSpc>
                <a:spcPct val="100000"/>
              </a:lnSpc>
              <a:buFont typeface="Wingdings" panose="05000000000000000000" pitchFamily="2" charset="2"/>
              <a:buChar char="§"/>
            </a:pPr>
            <a:r>
              <a:rPr lang="en-IN" dirty="0"/>
              <a:t>SUPERVISION (between EMPLOYEE (as subordinate), EMPLOYEE (as supervisor))</a:t>
            </a:r>
          </a:p>
          <a:p>
            <a:pPr lvl="1">
              <a:lnSpc>
                <a:spcPct val="100000"/>
              </a:lnSpc>
              <a:buFont typeface="Wingdings" panose="05000000000000000000" pitchFamily="2" charset="2"/>
              <a:buChar char="§"/>
            </a:pPr>
            <a:r>
              <a:rPr lang="en-IN" dirty="0"/>
              <a:t>DEPENDENTS_OF (between EMPLOYEE, DEPENDENT)</a:t>
            </a:r>
          </a:p>
          <a:p>
            <a:pPr>
              <a:lnSpc>
                <a:spcPct val="100000"/>
              </a:lnSpc>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2"/>
            <a:ext cx="10515600" cy="1081939"/>
          </a:xfrm>
        </p:spPr>
        <p:txBody>
          <a:bodyPr/>
          <a:lstStyle/>
          <a:p>
            <a:pPr algn="ctr"/>
            <a:r>
              <a:rPr lang="en-IN" b="1" dirty="0">
                <a:solidFill>
                  <a:schemeClr val="accent4">
                    <a:lumMod val="50000"/>
                  </a:schemeClr>
                </a:solidFill>
              </a:rPr>
              <a:t>Discussion on Relationship Types</a:t>
            </a:r>
          </a:p>
        </p:txBody>
      </p:sp>
      <p:sp>
        <p:nvSpPr>
          <p:cNvPr id="3" name="Content Placeholder 2"/>
          <p:cNvSpPr>
            <a:spLocks noGrp="1"/>
          </p:cNvSpPr>
          <p:nvPr>
            <p:ph idx="1"/>
          </p:nvPr>
        </p:nvSpPr>
        <p:spPr>
          <a:xfrm>
            <a:off x="1047565" y="923278"/>
            <a:ext cx="11026065" cy="5814873"/>
          </a:xfrm>
        </p:spPr>
        <p:txBody>
          <a:bodyPr/>
          <a:lstStyle/>
          <a:p>
            <a:pPr>
              <a:lnSpc>
                <a:spcPct val="100000"/>
              </a:lnSpc>
              <a:buFont typeface="Wingdings" panose="05000000000000000000" pitchFamily="2" charset="2"/>
              <a:buChar char="q"/>
            </a:pPr>
            <a:r>
              <a:rPr lang="en-IN" dirty="0"/>
              <a:t>In the refined design, some attributes from the initial entity types are refined into relationships:</a:t>
            </a:r>
          </a:p>
          <a:p>
            <a:pPr lvl="1">
              <a:lnSpc>
                <a:spcPct val="100000"/>
              </a:lnSpc>
              <a:buFont typeface="Wingdings" panose="05000000000000000000" pitchFamily="2" charset="2"/>
              <a:buChar char="§"/>
            </a:pPr>
            <a:r>
              <a:rPr lang="en-IN" dirty="0"/>
              <a:t>Manager of DEPARTMENT -&gt; MANAGES</a:t>
            </a:r>
          </a:p>
          <a:p>
            <a:pPr lvl="1">
              <a:lnSpc>
                <a:spcPct val="100000"/>
              </a:lnSpc>
              <a:buFont typeface="Wingdings" panose="05000000000000000000" pitchFamily="2" charset="2"/>
              <a:buChar char="§"/>
            </a:pPr>
            <a:r>
              <a:rPr lang="en-IN" dirty="0" err="1"/>
              <a:t>Works_on</a:t>
            </a:r>
            <a:r>
              <a:rPr lang="en-IN" dirty="0"/>
              <a:t> of EMPLOYEE -&gt; WORKS_ON</a:t>
            </a:r>
          </a:p>
          <a:p>
            <a:pPr lvl="1">
              <a:lnSpc>
                <a:spcPct val="100000"/>
              </a:lnSpc>
              <a:buFont typeface="Wingdings" panose="05000000000000000000" pitchFamily="2" charset="2"/>
              <a:buChar char="§"/>
            </a:pPr>
            <a:r>
              <a:rPr lang="en-IN" dirty="0"/>
              <a:t>Department of EMPLOYEE -&gt; WORKS_FOR</a:t>
            </a:r>
          </a:p>
          <a:p>
            <a:pPr lvl="1">
              <a:lnSpc>
                <a:spcPct val="100000"/>
              </a:lnSpc>
              <a:buFont typeface="Wingdings" panose="05000000000000000000" pitchFamily="2" charset="2"/>
              <a:buChar char="§"/>
            </a:pPr>
            <a:r>
              <a:rPr lang="en-IN" dirty="0"/>
              <a:t>etc</a:t>
            </a:r>
          </a:p>
          <a:p>
            <a:pPr>
              <a:lnSpc>
                <a:spcPct val="100000"/>
              </a:lnSpc>
              <a:buFont typeface="Wingdings" panose="05000000000000000000" pitchFamily="2" charset="2"/>
              <a:buChar char="q"/>
            </a:pPr>
            <a:r>
              <a:rPr lang="en-IN" dirty="0"/>
              <a:t>In general, more than one relationship type can exist between the same participating entity types </a:t>
            </a:r>
          </a:p>
          <a:p>
            <a:pPr lvl="1">
              <a:lnSpc>
                <a:spcPct val="100000"/>
              </a:lnSpc>
              <a:buFont typeface="Wingdings" panose="05000000000000000000" pitchFamily="2" charset="2"/>
              <a:buChar char="§"/>
            </a:pPr>
            <a:r>
              <a:rPr lang="en-IN" dirty="0"/>
              <a:t>MANAGES and WORKS_FOR are distinct relationship types between EMPLOYEE and DEPARTMENT</a:t>
            </a:r>
          </a:p>
          <a:p>
            <a:pPr lvl="1">
              <a:lnSpc>
                <a:spcPct val="100000"/>
              </a:lnSpc>
              <a:buFont typeface="Wingdings" panose="05000000000000000000" pitchFamily="2" charset="2"/>
              <a:buChar char="§"/>
            </a:pPr>
            <a:r>
              <a:rPr lang="en-IN" dirty="0"/>
              <a:t>Different meanings and different relationship instances.</a:t>
            </a:r>
          </a:p>
          <a:p>
            <a:pPr>
              <a:lnSpc>
                <a:spcPct val="100000"/>
              </a:lnSpc>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anim calcmode="lin" valueType="num">
                                      <p:cBhvr>
                                        <p:cTn id="2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824485"/>
          </a:xfrm>
        </p:spPr>
        <p:txBody>
          <a:bodyPr/>
          <a:lstStyle/>
          <a:p>
            <a:pPr algn="ctr"/>
            <a:r>
              <a:rPr lang="en-IN" b="1" dirty="0">
                <a:solidFill>
                  <a:schemeClr val="accent4">
                    <a:lumMod val="50000"/>
                  </a:schemeClr>
                </a:solidFill>
              </a:rPr>
              <a:t>ER diagram for COMPANY database</a:t>
            </a:r>
          </a:p>
        </p:txBody>
      </p:sp>
      <p:pic>
        <p:nvPicPr>
          <p:cNvPr id="5" name="Picture 4"/>
          <p:cNvPicPr>
            <a:picLocks noChangeAspect="1"/>
          </p:cNvPicPr>
          <p:nvPr/>
        </p:nvPicPr>
        <p:blipFill>
          <a:blip r:embed="rId2"/>
          <a:stretch>
            <a:fillRect/>
          </a:stretch>
        </p:blipFill>
        <p:spPr>
          <a:xfrm>
            <a:off x="2325949" y="719438"/>
            <a:ext cx="6915705" cy="60557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4"/>
            <a:ext cx="10515600" cy="1179592"/>
          </a:xfrm>
        </p:spPr>
        <p:txBody>
          <a:bodyPr/>
          <a:lstStyle/>
          <a:p>
            <a:pPr algn="ctr"/>
            <a:r>
              <a:rPr lang="en-US" altLang="en-US" b="1" dirty="0">
                <a:solidFill>
                  <a:schemeClr val="accent4">
                    <a:lumMod val="50000"/>
                  </a:schemeClr>
                </a:solidFill>
              </a:rPr>
              <a:t>Relationships of Higher Degree</a:t>
            </a:r>
            <a:endParaRPr lang="en-IN" b="1" dirty="0">
              <a:solidFill>
                <a:schemeClr val="accent4">
                  <a:lumMod val="50000"/>
                </a:schemeClr>
              </a:solidFill>
            </a:endParaRPr>
          </a:p>
        </p:txBody>
      </p:sp>
      <p:sp>
        <p:nvSpPr>
          <p:cNvPr id="3" name="Content Placeholder 2"/>
          <p:cNvSpPr>
            <a:spLocks noGrp="1"/>
          </p:cNvSpPr>
          <p:nvPr>
            <p:ph idx="1"/>
          </p:nvPr>
        </p:nvSpPr>
        <p:spPr>
          <a:xfrm>
            <a:off x="1083076" y="1029810"/>
            <a:ext cx="10999432" cy="5726097"/>
          </a:xfrm>
        </p:spPr>
        <p:txBody>
          <a:bodyPr/>
          <a:lstStyle/>
          <a:p>
            <a:pPr algn="just">
              <a:lnSpc>
                <a:spcPct val="100000"/>
              </a:lnSpc>
              <a:buFont typeface="Wingdings" panose="05000000000000000000" pitchFamily="2" charset="2"/>
              <a:buChar char="q"/>
            </a:pPr>
            <a:r>
              <a:rPr lang="en-IN" dirty="0"/>
              <a:t>Relationship types of degree 2 are called binary.</a:t>
            </a:r>
          </a:p>
          <a:p>
            <a:pPr algn="just">
              <a:lnSpc>
                <a:spcPct val="100000"/>
              </a:lnSpc>
              <a:buFont typeface="Wingdings" panose="05000000000000000000" pitchFamily="2" charset="2"/>
              <a:buChar char="q"/>
            </a:pPr>
            <a:r>
              <a:rPr lang="en-IN" dirty="0"/>
              <a:t>Relationship types of degree 3 are called ternary and of degree n are called n-</a:t>
            </a:r>
            <a:r>
              <a:rPr lang="en-IN" dirty="0" err="1"/>
              <a:t>ary</a:t>
            </a:r>
            <a:r>
              <a:rPr lang="en-IN" dirty="0"/>
              <a:t>.</a:t>
            </a:r>
          </a:p>
          <a:p>
            <a:pPr algn="just">
              <a:lnSpc>
                <a:spcPct val="100000"/>
              </a:lnSpc>
              <a:buFont typeface="Wingdings" panose="05000000000000000000" pitchFamily="2" charset="2"/>
              <a:buChar char="q"/>
            </a:pPr>
            <a:r>
              <a:rPr lang="en-IN" dirty="0"/>
              <a:t>In general, an n-</a:t>
            </a:r>
            <a:r>
              <a:rPr lang="en-IN" dirty="0" err="1"/>
              <a:t>ary</a:t>
            </a:r>
            <a:r>
              <a:rPr lang="en-IN" dirty="0"/>
              <a:t> relationship is not equivalent to n binary relationships.</a:t>
            </a:r>
          </a:p>
          <a:p>
            <a:pPr algn="just">
              <a:lnSpc>
                <a:spcPct val="100000"/>
              </a:lnSpc>
              <a:buFont typeface="Wingdings" panose="05000000000000000000" pitchFamily="2" charset="2"/>
              <a:buChar char="q"/>
            </a:pPr>
            <a:r>
              <a:rPr lang="en-IN" dirty="0"/>
              <a:t>Constraints are harder to specify for higher-degree relationships (n &gt; 2) than for binary relationships.</a:t>
            </a:r>
          </a:p>
          <a:p>
            <a:pPr algn="just">
              <a:lnSpc>
                <a:spcPct val="100000"/>
              </a:lnSpc>
              <a:buFont typeface="Wingdings" panose="05000000000000000000" pitchFamily="2" charset="2"/>
              <a:buChar char="q"/>
            </a:pPr>
            <a:r>
              <a:rPr lang="en-IN" dirty="0"/>
              <a:t>In general, a relationship type R of degree n will have n edges in an ER diagram, one connecting R to each participating entity type.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5320" y="1020933"/>
            <a:ext cx="10990556" cy="5743852"/>
          </a:xfrm>
        </p:spPr>
        <p:txBody>
          <a:bodyPr>
            <a:normAutofit fontScale="92500" lnSpcReduction="10000"/>
          </a:bodyPr>
          <a:lstStyle/>
          <a:p>
            <a:pPr algn="just">
              <a:buFont typeface="Wingdings" panose="05000000000000000000" pitchFamily="2" charset="2"/>
              <a:buChar char="q"/>
            </a:pPr>
            <a:r>
              <a:rPr lang="en-IN" dirty="0"/>
              <a:t>In general, 3 binary relationships can represent different information than a single ternary relationship.</a:t>
            </a:r>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marL="0" indent="0" algn="just">
              <a:buNone/>
            </a:pPr>
            <a:endParaRPr lang="en-IN" dirty="0"/>
          </a:p>
          <a:p>
            <a:pPr marL="0" indent="0" algn="just">
              <a:buNone/>
            </a:pPr>
            <a:endParaRPr lang="en-IN" dirty="0"/>
          </a:p>
          <a:p>
            <a:pPr algn="just">
              <a:buFont typeface="Wingdings" panose="05000000000000000000" pitchFamily="2" charset="2"/>
              <a:buChar char="q"/>
            </a:pPr>
            <a:r>
              <a:rPr lang="en-IN" dirty="0"/>
              <a:t>Existence of three relationship instances (</a:t>
            </a:r>
            <a:r>
              <a:rPr lang="en-IN" i="1" dirty="0"/>
              <a:t>s</a:t>
            </a:r>
            <a:r>
              <a:rPr lang="en-IN" dirty="0"/>
              <a:t>, </a:t>
            </a:r>
            <a:r>
              <a:rPr lang="en-IN" i="1" dirty="0"/>
              <a:t>p</a:t>
            </a:r>
            <a:r>
              <a:rPr lang="en-IN" dirty="0"/>
              <a:t>), ( </a:t>
            </a:r>
            <a:r>
              <a:rPr lang="en-IN" i="1" dirty="0"/>
              <a:t>j</a:t>
            </a:r>
            <a:r>
              <a:rPr lang="en-IN" dirty="0"/>
              <a:t>, </a:t>
            </a:r>
            <a:r>
              <a:rPr lang="en-IN" i="1" dirty="0"/>
              <a:t>p</a:t>
            </a:r>
            <a:r>
              <a:rPr lang="en-IN" dirty="0"/>
              <a:t>), and (</a:t>
            </a:r>
            <a:r>
              <a:rPr lang="en-IN" i="1" dirty="0"/>
              <a:t>s</a:t>
            </a:r>
            <a:r>
              <a:rPr lang="en-IN" dirty="0"/>
              <a:t>, </a:t>
            </a:r>
            <a:r>
              <a:rPr lang="en-IN" i="1" dirty="0"/>
              <a:t>j</a:t>
            </a:r>
            <a:r>
              <a:rPr lang="en-IN" dirty="0"/>
              <a:t>) in CAN_SUPPLY, USES, and SUPPLIES, respectively, does not necessarily imply that an instance (</a:t>
            </a:r>
            <a:r>
              <a:rPr lang="en-IN" i="1" dirty="0"/>
              <a:t>s</a:t>
            </a:r>
            <a:r>
              <a:rPr lang="en-IN" dirty="0"/>
              <a:t>, </a:t>
            </a:r>
            <a:r>
              <a:rPr lang="en-IN" i="1" dirty="0"/>
              <a:t>j</a:t>
            </a:r>
            <a:r>
              <a:rPr lang="en-IN" dirty="0"/>
              <a:t>, </a:t>
            </a:r>
            <a:r>
              <a:rPr lang="en-IN" i="1" dirty="0"/>
              <a:t>p</a:t>
            </a:r>
            <a:r>
              <a:rPr lang="en-IN" dirty="0"/>
              <a:t>) exists in the ternary relationship SUPPLY, because the </a:t>
            </a:r>
            <a:r>
              <a:rPr lang="en-IN" i="1" dirty="0"/>
              <a:t>meaning is different</a:t>
            </a:r>
            <a:r>
              <a:rPr lang="en-IN" dirty="0"/>
              <a:t>.</a:t>
            </a:r>
          </a:p>
        </p:txBody>
      </p:sp>
      <p:sp>
        <p:nvSpPr>
          <p:cNvPr id="4" name="Title 1"/>
          <p:cNvSpPr>
            <a:spLocks noGrp="1"/>
          </p:cNvSpPr>
          <p:nvPr>
            <p:ph type="title"/>
          </p:nvPr>
        </p:nvSpPr>
        <p:spPr>
          <a:xfrm>
            <a:off x="838200" y="18893"/>
            <a:ext cx="10515600" cy="1232857"/>
          </a:xfrm>
        </p:spPr>
        <p:txBody>
          <a:bodyPr/>
          <a:lstStyle/>
          <a:p>
            <a:pPr algn="ctr"/>
            <a:r>
              <a:rPr lang="en-US" altLang="en-US" b="1" dirty="0">
                <a:solidFill>
                  <a:schemeClr val="accent4">
                    <a:lumMod val="50000"/>
                  </a:schemeClr>
                </a:solidFill>
              </a:rPr>
              <a:t>Relationships of Higher Degree</a:t>
            </a:r>
            <a:endParaRPr lang="en-IN" b="1" dirty="0">
              <a:solidFill>
                <a:schemeClr val="accent4">
                  <a:lumMod val="50000"/>
                </a:schemeClr>
              </a:solidFill>
            </a:endParaRPr>
          </a:p>
        </p:txBody>
      </p:sp>
      <p:pic>
        <p:nvPicPr>
          <p:cNvPr id="6" name="Picture 5"/>
          <p:cNvPicPr>
            <a:picLocks noChangeAspect="1"/>
          </p:cNvPicPr>
          <p:nvPr/>
        </p:nvPicPr>
        <p:blipFill>
          <a:blip r:embed="rId2"/>
          <a:stretch>
            <a:fillRect/>
          </a:stretch>
        </p:blipFill>
        <p:spPr>
          <a:xfrm>
            <a:off x="804575" y="2188902"/>
            <a:ext cx="5367994" cy="2205545"/>
          </a:xfrm>
          <a:prstGeom prst="rect">
            <a:avLst/>
          </a:prstGeom>
        </p:spPr>
      </p:pic>
      <p:pic>
        <p:nvPicPr>
          <p:cNvPr id="8" name="Picture 7"/>
          <p:cNvPicPr>
            <a:picLocks noChangeAspect="1"/>
          </p:cNvPicPr>
          <p:nvPr/>
        </p:nvPicPr>
        <p:blipFill>
          <a:blip r:embed="rId3"/>
          <a:stretch>
            <a:fillRect/>
          </a:stretch>
        </p:blipFill>
        <p:spPr>
          <a:xfrm>
            <a:off x="6317890" y="2029088"/>
            <a:ext cx="5737986" cy="28689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1000"/>
                                        <p:tgtEl>
                                          <p:spTgt spid="3">
                                            <p:txEl>
                                              <p:pRg st="9" end="9"/>
                                            </p:txEl>
                                          </p:spTgt>
                                        </p:tgtEl>
                                      </p:cBhvr>
                                    </p:animEffect>
                                    <p:anim calcmode="lin" valueType="num">
                                      <p:cBhvr>
                                        <p:cTn id="2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6442" y="1020932"/>
            <a:ext cx="10990555" cy="5717219"/>
          </a:xfrm>
        </p:spPr>
        <p:txBody>
          <a:bodyPr>
            <a:normAutofit/>
          </a:bodyPr>
          <a:lstStyle/>
          <a:p>
            <a:pPr algn="just">
              <a:buFont typeface="Wingdings" panose="05000000000000000000" pitchFamily="2" charset="2"/>
              <a:buChar char="q"/>
            </a:pPr>
            <a:r>
              <a:rPr lang="en-US" altLang="en-US" dirty="0"/>
              <a:t>In some cases, a ternary relationship can be represented as a weak entity.</a:t>
            </a:r>
          </a:p>
          <a:p>
            <a:pPr algn="just">
              <a:buFont typeface="Wingdings" panose="05000000000000000000" pitchFamily="2" charset="2"/>
              <a:buChar char="q"/>
            </a:pPr>
            <a:r>
              <a:rPr lang="en-US" altLang="en-US" dirty="0"/>
              <a:t>Then a weak entity type have multiple identifying relationships (and hence multiple owner entity types).</a:t>
            </a:r>
          </a:p>
          <a:p>
            <a:pPr algn="just">
              <a:buFont typeface="Wingdings" panose="05000000000000000000" pitchFamily="2" charset="2"/>
              <a:buChar char="q"/>
            </a:pPr>
            <a:endParaRPr lang="en-US" altLang="en-US" dirty="0"/>
          </a:p>
          <a:p>
            <a:pPr algn="just">
              <a:buFont typeface="Wingdings" panose="05000000000000000000" pitchFamily="2" charset="2"/>
              <a:buChar char="q"/>
            </a:pPr>
            <a:endParaRPr lang="en-US" altLang="en-US" dirty="0"/>
          </a:p>
          <a:p>
            <a:pPr algn="just">
              <a:buFont typeface="Wingdings" panose="05000000000000000000" pitchFamily="2" charset="2"/>
              <a:buChar char="q"/>
            </a:pPr>
            <a:endParaRPr lang="en-US" altLang="en-US" dirty="0"/>
          </a:p>
          <a:p>
            <a:pPr algn="just">
              <a:buFont typeface="Wingdings" panose="05000000000000000000" pitchFamily="2" charset="2"/>
              <a:buChar char="q"/>
            </a:pPr>
            <a:endParaRPr lang="en-US" altLang="en-US" dirty="0"/>
          </a:p>
          <a:p>
            <a:pPr algn="just">
              <a:buFont typeface="Wingdings" panose="05000000000000000000" pitchFamily="2" charset="2"/>
              <a:buChar char="q"/>
            </a:pPr>
            <a:endParaRPr lang="en-US" altLang="en-US" dirty="0"/>
          </a:p>
          <a:p>
            <a:pPr algn="just">
              <a:buFont typeface="Wingdings" panose="05000000000000000000" pitchFamily="2" charset="2"/>
              <a:buChar char="q"/>
            </a:pPr>
            <a:endParaRPr lang="en-IN" altLang="en-US" dirty="0"/>
          </a:p>
          <a:p>
            <a:pPr algn="just">
              <a:buFont typeface="Wingdings" panose="05000000000000000000" pitchFamily="2" charset="2"/>
              <a:buChar char="q"/>
            </a:pPr>
            <a:r>
              <a:rPr lang="en-IN" altLang="en-US" dirty="0"/>
              <a:t>SUPPLY is represented as a weak entity type, with no partial key and with three identifying relationships. </a:t>
            </a:r>
            <a:endParaRPr lang="en-IN" dirty="0"/>
          </a:p>
        </p:txBody>
      </p:sp>
      <p:sp>
        <p:nvSpPr>
          <p:cNvPr id="4" name="Title 1"/>
          <p:cNvSpPr>
            <a:spLocks noGrp="1"/>
          </p:cNvSpPr>
          <p:nvPr>
            <p:ph type="title"/>
          </p:nvPr>
        </p:nvSpPr>
        <p:spPr>
          <a:xfrm>
            <a:off x="838200" y="18893"/>
            <a:ext cx="10515600" cy="1232857"/>
          </a:xfrm>
        </p:spPr>
        <p:txBody>
          <a:bodyPr/>
          <a:lstStyle/>
          <a:p>
            <a:pPr algn="ctr"/>
            <a:r>
              <a:rPr lang="en-US" altLang="en-US" b="1" dirty="0">
                <a:solidFill>
                  <a:schemeClr val="accent4">
                    <a:lumMod val="50000"/>
                  </a:schemeClr>
                </a:solidFill>
              </a:rPr>
              <a:t>Relationships of Higher Degree</a:t>
            </a:r>
            <a:endParaRPr lang="en-IN" b="1" dirty="0">
              <a:solidFill>
                <a:schemeClr val="accent4">
                  <a:lumMod val="50000"/>
                </a:schemeClr>
              </a:solidFill>
            </a:endParaRPr>
          </a:p>
        </p:txBody>
      </p:sp>
      <p:pic>
        <p:nvPicPr>
          <p:cNvPr id="8" name="Picture 7"/>
          <p:cNvPicPr>
            <a:picLocks noChangeAspect="1"/>
          </p:cNvPicPr>
          <p:nvPr/>
        </p:nvPicPr>
        <p:blipFill>
          <a:blip r:embed="rId2"/>
          <a:stretch>
            <a:fillRect/>
          </a:stretch>
        </p:blipFill>
        <p:spPr>
          <a:xfrm>
            <a:off x="2951824" y="2949017"/>
            <a:ext cx="7199790" cy="24501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1000"/>
                                        <p:tgtEl>
                                          <p:spTgt spid="3">
                                            <p:txEl>
                                              <p:pRg st="8" end="8"/>
                                            </p:txEl>
                                          </p:spTgt>
                                        </p:tgtEl>
                                      </p:cBhvr>
                                    </p:animEffect>
                                    <p:anim calcmode="lin" valueType="num">
                                      <p:cBhvr>
                                        <p:cTn id="2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2975" y="1154096"/>
            <a:ext cx="10910655" cy="5575177"/>
          </a:xfrm>
        </p:spPr>
        <p:txBody>
          <a:bodyPr>
            <a:normAutofit/>
          </a:bodyPr>
          <a:lstStyle/>
          <a:p>
            <a:pPr algn="just">
              <a:buFont typeface="Wingdings" panose="05000000000000000000" pitchFamily="2" charset="2"/>
              <a:buChar char="q"/>
            </a:pPr>
            <a:r>
              <a:rPr lang="en-IN" dirty="0"/>
              <a:t>If a particular binary relationship can be derived from a higher-degree relationship at all times, then it is redundant. </a:t>
            </a:r>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endParaRPr lang="en-IN" dirty="0"/>
          </a:p>
          <a:p>
            <a:pPr algn="just">
              <a:buFont typeface="Wingdings" panose="05000000000000000000" pitchFamily="2" charset="2"/>
              <a:buChar char="q"/>
            </a:pPr>
            <a:r>
              <a:rPr lang="en-IN" dirty="0"/>
              <a:t>TAUGHT_DURING binary relationship can be derived from the ternary relationship OFFERS.</a:t>
            </a:r>
          </a:p>
          <a:p>
            <a:pPr algn="just">
              <a:buFont typeface="Wingdings" panose="05000000000000000000" pitchFamily="2" charset="2"/>
              <a:buChar char="q"/>
            </a:pPr>
            <a:endParaRPr lang="en-IN" dirty="0"/>
          </a:p>
          <a:p>
            <a:pPr algn="just"/>
            <a:endParaRPr lang="en-IN" dirty="0"/>
          </a:p>
        </p:txBody>
      </p:sp>
      <p:sp>
        <p:nvSpPr>
          <p:cNvPr id="4" name="Title 1"/>
          <p:cNvSpPr>
            <a:spLocks noGrp="1"/>
          </p:cNvSpPr>
          <p:nvPr>
            <p:ph type="title"/>
          </p:nvPr>
        </p:nvSpPr>
        <p:spPr>
          <a:xfrm>
            <a:off x="838200" y="18893"/>
            <a:ext cx="10515600" cy="1232857"/>
          </a:xfrm>
        </p:spPr>
        <p:txBody>
          <a:bodyPr/>
          <a:lstStyle/>
          <a:p>
            <a:pPr algn="ctr"/>
            <a:r>
              <a:rPr lang="en-US" altLang="en-US" b="1" dirty="0">
                <a:solidFill>
                  <a:schemeClr val="accent4">
                    <a:lumMod val="50000"/>
                  </a:schemeClr>
                </a:solidFill>
              </a:rPr>
              <a:t>Relationships of Higher Degree</a:t>
            </a:r>
            <a:endParaRPr lang="en-IN" b="1" dirty="0">
              <a:solidFill>
                <a:schemeClr val="accent4">
                  <a:lumMod val="50000"/>
                </a:schemeClr>
              </a:solidFill>
            </a:endParaRPr>
          </a:p>
        </p:txBody>
      </p:sp>
      <p:pic>
        <p:nvPicPr>
          <p:cNvPr id="6" name="Picture 5"/>
          <p:cNvPicPr>
            <a:picLocks noChangeAspect="1"/>
          </p:cNvPicPr>
          <p:nvPr/>
        </p:nvPicPr>
        <p:blipFill>
          <a:blip r:embed="rId2"/>
          <a:stretch>
            <a:fillRect/>
          </a:stretch>
        </p:blipFill>
        <p:spPr>
          <a:xfrm>
            <a:off x="3045041" y="2056394"/>
            <a:ext cx="5724895" cy="33285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1000"/>
                                        <p:tgtEl>
                                          <p:spTgt spid="3">
                                            <p:txEl>
                                              <p:pRg st="8" end="8"/>
                                            </p:txEl>
                                          </p:spTgt>
                                        </p:tgtEl>
                                      </p:cBhvr>
                                    </p:animEffect>
                                    <p:anim calcmode="lin" valueType="num">
                                      <p:cBhvr>
                                        <p:cTn id="2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892"/>
            <a:ext cx="10515600" cy="1325563"/>
          </a:xfrm>
        </p:spPr>
        <p:txBody>
          <a:bodyPr>
            <a:normAutofit/>
          </a:bodyPr>
          <a:lstStyle/>
          <a:p>
            <a:pPr algn="ctr"/>
            <a:r>
              <a:rPr lang="en-IN" b="1" dirty="0">
                <a:solidFill>
                  <a:schemeClr val="accent4">
                    <a:lumMod val="50000"/>
                  </a:schemeClr>
                </a:solidFill>
              </a:rPr>
              <a:t>Weak entity type with a ternary (or n-</a:t>
            </a:r>
            <a:r>
              <a:rPr lang="en-IN" b="1" dirty="0" err="1">
                <a:solidFill>
                  <a:schemeClr val="accent4">
                    <a:lumMod val="50000"/>
                  </a:schemeClr>
                </a:solidFill>
              </a:rPr>
              <a:t>ary</a:t>
            </a:r>
            <a:r>
              <a:rPr lang="en-IN" b="1" dirty="0">
                <a:solidFill>
                  <a:schemeClr val="accent4">
                    <a:lumMod val="50000"/>
                  </a:schemeClr>
                </a:solidFill>
              </a:rPr>
              <a:t>) identifying relationship type</a:t>
            </a:r>
          </a:p>
        </p:txBody>
      </p:sp>
      <p:sp>
        <p:nvSpPr>
          <p:cNvPr id="3" name="Content Placeholder 2"/>
          <p:cNvSpPr>
            <a:spLocks noGrp="1"/>
          </p:cNvSpPr>
          <p:nvPr>
            <p:ph idx="1"/>
          </p:nvPr>
        </p:nvSpPr>
        <p:spPr>
          <a:xfrm>
            <a:off x="1225118" y="1344455"/>
            <a:ext cx="10830758" cy="5402574"/>
          </a:xfrm>
        </p:spPr>
        <p:txBody>
          <a:bodyPr>
            <a:normAutofit/>
          </a:bodyPr>
          <a:lstStyle/>
          <a:p>
            <a:endParaRPr lang="en-IN" dirty="0"/>
          </a:p>
          <a:p>
            <a:endParaRPr lang="en-IN" dirty="0"/>
          </a:p>
          <a:p>
            <a:endParaRPr lang="en-IN" dirty="0"/>
          </a:p>
          <a:p>
            <a:endParaRPr lang="en-IN" dirty="0"/>
          </a:p>
          <a:p>
            <a:endParaRPr lang="en-IN" dirty="0"/>
          </a:p>
          <a:p>
            <a:endParaRPr lang="en-IN" dirty="0"/>
          </a:p>
          <a:p>
            <a:endParaRPr lang="en-IN" dirty="0"/>
          </a:p>
          <a:p>
            <a:pPr>
              <a:buFont typeface="Wingdings" panose="05000000000000000000" pitchFamily="2" charset="2"/>
              <a:buChar char="q"/>
            </a:pPr>
            <a:r>
              <a:rPr lang="en-IN" dirty="0"/>
              <a:t>Part of a database that keeps track of candidates interviewing for jobs at various companies.</a:t>
            </a:r>
          </a:p>
          <a:p>
            <a:pPr>
              <a:buFont typeface="Wingdings" panose="05000000000000000000" pitchFamily="2" charset="2"/>
              <a:buChar char="q"/>
            </a:pPr>
            <a:r>
              <a:rPr lang="en-IN" dirty="0"/>
              <a:t>INTERVIEW entity is uniquely identified by a candidate, a company, and the combination of the date and department of the interview.</a:t>
            </a:r>
          </a:p>
          <a:p>
            <a:endParaRPr lang="en-IN" dirty="0"/>
          </a:p>
        </p:txBody>
      </p:sp>
      <p:pic>
        <p:nvPicPr>
          <p:cNvPr id="5" name="Picture 4"/>
          <p:cNvPicPr>
            <a:picLocks noChangeAspect="1"/>
          </p:cNvPicPr>
          <p:nvPr/>
        </p:nvPicPr>
        <p:blipFill>
          <a:blip r:embed="rId2"/>
          <a:stretch>
            <a:fillRect/>
          </a:stretch>
        </p:blipFill>
        <p:spPr>
          <a:xfrm>
            <a:off x="2311775" y="1438183"/>
            <a:ext cx="7856485" cy="3598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7" end="7"/>
                                            </p:txEl>
                                          </p:spTgt>
                                        </p:tgtEl>
                                        <p:attrNameLst>
                                          <p:attrName>style.visibility</p:attrName>
                                        </p:attrNameLst>
                                      </p:cBhvr>
                                      <p:to>
                                        <p:strVal val="visible"/>
                                      </p:to>
                                    </p:set>
                                    <p:animEffect transition="in" filter="fade">
                                      <p:cBhvr>
                                        <p:cTn id="14" dur="1000"/>
                                        <p:tgtEl>
                                          <p:spTgt spid="3">
                                            <p:txEl>
                                              <p:pRg st="7" end="7"/>
                                            </p:txEl>
                                          </p:spTgt>
                                        </p:tgtEl>
                                      </p:cBhvr>
                                    </p:animEffect>
                                    <p:anim calcmode="lin" valueType="num">
                                      <p:cBhvr>
                                        <p:cTn id="1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1000"/>
                                        <p:tgtEl>
                                          <p:spTgt spid="3">
                                            <p:txEl>
                                              <p:pRg st="8" end="8"/>
                                            </p:txEl>
                                          </p:spTgt>
                                        </p:tgtEl>
                                      </p:cBhvr>
                                    </p:animEffect>
                                    <p:anim calcmode="lin" valueType="num">
                                      <p:cBhvr>
                                        <p:cTn id="2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TotalTime>
  <Words>4404</Words>
  <Application>Microsoft Office PowerPoint</Application>
  <PresentationFormat>Widescreen</PresentationFormat>
  <Paragraphs>406</Paragraphs>
  <Slides>56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Arial</vt:lpstr>
      <vt:lpstr>Calibri</vt:lpstr>
      <vt:lpstr>Calibri Light</vt:lpstr>
      <vt:lpstr>roboto</vt:lpstr>
      <vt:lpstr>urw-din</vt:lpstr>
      <vt:lpstr>Wingdings</vt:lpstr>
      <vt:lpstr>Office Theme</vt:lpstr>
      <vt:lpstr>Entity-Relationship (ER) Model</vt:lpstr>
      <vt:lpstr>Database Design</vt:lpstr>
      <vt:lpstr>Example COMPANY Database</vt:lpstr>
      <vt:lpstr>Example COMPANY Database</vt:lpstr>
      <vt:lpstr>Entities and Attributes</vt:lpstr>
      <vt:lpstr>Entities and Attributes</vt:lpstr>
      <vt:lpstr>Types of Attributes</vt:lpstr>
      <vt:lpstr>A hierarchy of composite attributes</vt:lpstr>
      <vt:lpstr>Types of Attributes</vt:lpstr>
      <vt:lpstr>Types of Attributes</vt:lpstr>
      <vt:lpstr>NULL Values</vt:lpstr>
      <vt:lpstr>Entity Types and Entity Sets</vt:lpstr>
      <vt:lpstr>Entity Types and Entity Sets</vt:lpstr>
      <vt:lpstr>Example: CAR Entity Type</vt:lpstr>
      <vt:lpstr>Key Attributes of an Entity Type</vt:lpstr>
      <vt:lpstr>Key Attributes of an Entity Type</vt:lpstr>
      <vt:lpstr>Initial Conceptual Design of Entity Types for the COMPANY Database Schema</vt:lpstr>
      <vt:lpstr>Initial Design of Entity Types: EMPLOYEE, DEPARTMENT, PROJECT, DEPENDENT</vt:lpstr>
      <vt:lpstr>Refining the initial design by introducing relationships</vt:lpstr>
      <vt:lpstr>Relationships</vt:lpstr>
      <vt:lpstr>Relationship Types, Sets, and Instances</vt:lpstr>
      <vt:lpstr>Relationship Types, Sets, and Instances</vt:lpstr>
      <vt:lpstr>Relationship instances of the WORKS_FOR N:1 relationship between EMPLOYEE and DEPARTMENT</vt:lpstr>
      <vt:lpstr>Relationship instances of the WORKS_FOR N:1 relationship between EMPLOYEE and DEPARTMENT</vt:lpstr>
      <vt:lpstr>Relationship instances of the M:N  WORKS_ON relationship between EMPLOYEE and PROJECT</vt:lpstr>
      <vt:lpstr>Relationship type vs. relationship set </vt:lpstr>
      <vt:lpstr>Degree of a Relationship Type</vt:lpstr>
      <vt:lpstr>Example of ternary relationship</vt:lpstr>
      <vt:lpstr>Recursive Relationship Type</vt:lpstr>
      <vt:lpstr>A Recursive Relationship Supervision</vt:lpstr>
      <vt:lpstr>Constraints on Binary Relationship Types</vt:lpstr>
      <vt:lpstr>Cardinality ratios</vt:lpstr>
      <vt:lpstr>One-to-one (1:1) Relationship</vt:lpstr>
      <vt:lpstr>Many-to-one (N:1) Relationship</vt:lpstr>
      <vt:lpstr>Many-to-many (M:N) Relationship</vt:lpstr>
      <vt:lpstr>MCQs</vt:lpstr>
      <vt:lpstr>MCQs</vt:lpstr>
      <vt:lpstr>MCQs</vt:lpstr>
      <vt:lpstr>PowerPoint Presentation</vt:lpstr>
      <vt:lpstr>Participation Constraints and Existence Dependencies</vt:lpstr>
      <vt:lpstr>Participation Constraints and Existence Dependencies</vt:lpstr>
      <vt:lpstr>Participation Constraints and Existence Dependencies</vt:lpstr>
      <vt:lpstr>Attributes of Relationship Types</vt:lpstr>
      <vt:lpstr>Weak Entity Types</vt:lpstr>
      <vt:lpstr> Weak Entity Types</vt:lpstr>
      <vt:lpstr>PowerPoint Presentation</vt:lpstr>
      <vt:lpstr>Weak Entity Types</vt:lpstr>
      <vt:lpstr>Notation for ER Diagrams</vt:lpstr>
      <vt:lpstr>Refining the COMPANY database schema by introducing relationships</vt:lpstr>
      <vt:lpstr>Discussion on Relationship Types</vt:lpstr>
      <vt:lpstr>ER diagram for COMPANY database</vt:lpstr>
      <vt:lpstr>Relationships of Higher Degree</vt:lpstr>
      <vt:lpstr>Relationships of Higher Degree</vt:lpstr>
      <vt:lpstr>Relationships of Higher Degree</vt:lpstr>
      <vt:lpstr>Relationships of Higher Degree</vt:lpstr>
      <vt:lpstr>Weak entity type with a ternary (or n-ary) identifying relationship type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Entity-Relationship (ER) Model</dc:title>
  <dc:creator>PRATIK ROY</dc:creator>
  <cp:lastModifiedBy>Mohd. Aquib Ansari</cp:lastModifiedBy>
  <cp:revision>66</cp:revision>
  <dcterms:created xsi:type="dcterms:W3CDTF">2021-09-16T21:27:00Z</dcterms:created>
  <dcterms:modified xsi:type="dcterms:W3CDTF">2022-09-08T10:39:45Z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129901865C034D9E88931D84EF67D5C9</vt:lpwstr>
  </property>
  <property fmtid="{D5CDD505-2E9C-101B-9397-08002B2CF9AE}" pid="3" name="KSOProductBuildVer">
    <vt:lpwstr>1033-11.2.0.10463</vt:lpwstr>
  </property>
</Properties>
</file>