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4" r:id="rId4"/>
    <p:sldId id="295" r:id="rId5"/>
    <p:sldId id="258" r:id="rId6"/>
    <p:sldId id="259" r:id="rId7"/>
    <p:sldId id="282" r:id="rId8"/>
    <p:sldId id="297" r:id="rId9"/>
    <p:sldId id="260" r:id="rId10"/>
    <p:sldId id="298" r:id="rId11"/>
    <p:sldId id="261" r:id="rId12"/>
    <p:sldId id="283" r:id="rId13"/>
    <p:sldId id="262" r:id="rId14"/>
    <p:sldId id="263" r:id="rId15"/>
    <p:sldId id="264" r:id="rId16"/>
    <p:sldId id="265" r:id="rId17"/>
    <p:sldId id="266" r:id="rId18"/>
    <p:sldId id="274" r:id="rId19"/>
    <p:sldId id="267" r:id="rId20"/>
    <p:sldId id="302" r:id="rId21"/>
    <p:sldId id="268" r:id="rId22"/>
    <p:sldId id="269" r:id="rId23"/>
    <p:sldId id="270" r:id="rId24"/>
    <p:sldId id="271" r:id="rId25"/>
    <p:sldId id="272" r:id="rId26"/>
    <p:sldId id="273" r:id="rId27"/>
    <p:sldId id="275" r:id="rId28"/>
    <p:sldId id="276" r:id="rId29"/>
    <p:sldId id="277" r:id="rId30"/>
    <p:sldId id="278" r:id="rId31"/>
    <p:sldId id="279" r:id="rId32"/>
    <p:sldId id="280" r:id="rId33"/>
    <p:sldId id="281" r:id="rId34"/>
    <p:sldId id="291" r:id="rId35"/>
    <p:sldId id="292" r:id="rId36"/>
    <p:sldId id="293" r:id="rId37"/>
    <p:sldId id="284" r:id="rId38"/>
    <p:sldId id="299" r:id="rId39"/>
    <p:sldId id="285" r:id="rId40"/>
    <p:sldId id="306" r:id="rId41"/>
    <p:sldId id="286" r:id="rId42"/>
    <p:sldId id="287" r:id="rId43"/>
    <p:sldId id="288" r:id="rId44"/>
    <p:sldId id="289" r:id="rId45"/>
    <p:sldId id="290" r:id="rId46"/>
    <p:sldId id="301" r:id="rId47"/>
    <p:sldId id="303" r:id="rId48"/>
    <p:sldId id="304" r:id="rId49"/>
    <p:sldId id="305"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78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6701" units="1/cm"/>
          <inkml:channelProperty channel="T" name="resolution" value="1" units="1/dev"/>
        </inkml:channelProperties>
      </inkml:inkSource>
      <inkml:timestamp xml:id="ts0" timeString="2022-09-19T08:57:04.482"/>
    </inkml:context>
    <inkml:brush xml:id="br0">
      <inkml:brushProperty name="width" value="0.05292" units="cm"/>
      <inkml:brushProperty name="height" value="0.05292" units="cm"/>
      <inkml:brushProperty name="color" value="#FF0000"/>
    </inkml:brush>
  </inkml:definitions>
  <inkml:trace contextRef="#ctx0" brushRef="#br0">14672 10090 0,'226'0'188,"28"0"-173,-112 28-15,-1-28 16,-28 0-16,-28 29 0,-57-29 16,0 0-16,1 0 15,-1 0 16</inkml:trace>
  <inkml:trace contextRef="#ctx0" brushRef="#br0" timeOffset="1396.16">14587 10768 0,'57'0'203,"-29"0"-203,57 0 16,-1 0-16,-55 0 0,-1 0 0,57 0 15,-57 0 1,0 0-16,1 0 16,-1 0 15,0 0 16</inkml:trace>
  <inkml:trace contextRef="#ctx0" brushRef="#br0" timeOffset="3057.33">14672 11927 0,'56'0'187,"1"0"-171,-1 0-16,-27 0 16,-1 0-16,0 28 0,0-28 15,1 0 1,-1 0-16,0 0 47,-28 29-16,29-29-15</inkml:trace>
  <inkml:trace contextRef="#ctx0" brushRef="#br0" timeOffset="5613.46">14644 12634 0,'113'0'187,"28"0"-171,-28 0-16,-56 0 16,56 0-16,-29 0 15,-55 0-15,-1 0 0,29 0 16,-29 0-16,0 0 31</inkml:trace>
  <inkml:trace contextRef="#ctx0" brushRef="#br0" timeOffset="7055.07">14672 13312 0,'56'0'203,"1"-28"-187,-1 28 0,1 0-16,-29 0 0,29 0 15,-29 0 1,0 0-16,1 0 16,-1 0-16,0 0 15,0 0 1,1 0 62,-1 0-47</inkml:trace>
  <inkml:trace contextRef="#ctx0" brushRef="#br0" timeOffset="9013.16">14644 15036 0,'28'29'203,"0"-29"-203,0 0 16,1 0-16,-1 0 0,0 0 0,-28 28 15,28-28-15,1 0 31,-1 0 16,0 0-31,-28 28 0,28-28 62,29 0-63</inkml:trace>
  <inkml:trace contextRef="#ctx0" brushRef="#br0" timeOffset="10646.96">14530 16619 0,'57'0'234,"0"0"-234,-29-28 16,28 28-16,1-28 16,-29 28-16,29 0 0,-29 0 15,28-29-15,-27 29 16,-1 0 31,0 0-16</inkml:trace>
  <inkml:trace contextRef="#ctx0" brushRef="#br0" timeOffset="12491.42">14502 17015 0,'142'0'187,"225"0"-155,-113 0-32,-84 0 0,-57 0 0,-28 0 15,28 0-15,-85 0 0,1 0 16,-1 0-1,0 0 17,0 0-17,1 0 1,-1 0-16,0 0 16,0 0-1,1 0-15,-1 0 31,0 0-31,1 0 16,-1 0-16,0 0 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26ABB-CA15-4101-8549-35AAEEDB8C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DB443F1-6FE5-49D4-A99A-22B5570419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13AC03-02E3-46C0-8FA6-08D5898664D9}"/>
              </a:ext>
            </a:extLst>
          </p:cNvPr>
          <p:cNvSpPr>
            <a:spLocks noGrp="1"/>
          </p:cNvSpPr>
          <p:nvPr>
            <p:ph type="dt" sz="half" idx="10"/>
          </p:nvPr>
        </p:nvSpPr>
        <p:spPr/>
        <p:txBody>
          <a:bodyPr/>
          <a:lstStyle/>
          <a:p>
            <a:fld id="{9055A5C8-0773-4C7D-8ACB-2DCD02FEF15B}" type="datetimeFigureOut">
              <a:rPr lang="en-IN" smtClean="0"/>
              <a:t>08-10-2022</a:t>
            </a:fld>
            <a:endParaRPr lang="en-IN"/>
          </a:p>
        </p:txBody>
      </p:sp>
      <p:sp>
        <p:nvSpPr>
          <p:cNvPr id="5" name="Footer Placeholder 4">
            <a:extLst>
              <a:ext uri="{FF2B5EF4-FFF2-40B4-BE49-F238E27FC236}">
                <a16:creationId xmlns:a16="http://schemas.microsoft.com/office/drawing/2014/main" id="{883B656C-2FAA-4AD0-B5AA-EBE859070D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E055F3-B7F9-4337-BC0E-FF93895D0411}"/>
              </a:ext>
            </a:extLst>
          </p:cNvPr>
          <p:cNvSpPr>
            <a:spLocks noGrp="1"/>
          </p:cNvSpPr>
          <p:nvPr>
            <p:ph type="sldNum" sz="quarter" idx="12"/>
          </p:nvPr>
        </p:nvSpPr>
        <p:spPr/>
        <p:txBody>
          <a:bodyPr/>
          <a:lstStyle/>
          <a:p>
            <a:fld id="{1F79DD15-0091-482B-81C9-6AC0E73C3F93}" type="slidenum">
              <a:rPr lang="en-IN" smtClean="0"/>
              <a:t>‹#›</a:t>
            </a:fld>
            <a:endParaRPr lang="en-IN"/>
          </a:p>
        </p:txBody>
      </p:sp>
    </p:spTree>
    <p:extLst>
      <p:ext uri="{BB962C8B-B14F-4D97-AF65-F5344CB8AC3E}">
        <p14:creationId xmlns:p14="http://schemas.microsoft.com/office/powerpoint/2010/main" val="2664344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85B19-475F-4081-AEA8-17308571D9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C6EF3C-A56C-450C-BB24-BFD0AB0732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C4701C-9335-4A02-89C5-CF7A348BCF06}"/>
              </a:ext>
            </a:extLst>
          </p:cNvPr>
          <p:cNvSpPr>
            <a:spLocks noGrp="1"/>
          </p:cNvSpPr>
          <p:nvPr>
            <p:ph type="dt" sz="half" idx="10"/>
          </p:nvPr>
        </p:nvSpPr>
        <p:spPr/>
        <p:txBody>
          <a:bodyPr/>
          <a:lstStyle/>
          <a:p>
            <a:fld id="{9055A5C8-0773-4C7D-8ACB-2DCD02FEF15B}" type="datetimeFigureOut">
              <a:rPr lang="en-IN" smtClean="0"/>
              <a:t>08-10-2022</a:t>
            </a:fld>
            <a:endParaRPr lang="en-IN"/>
          </a:p>
        </p:txBody>
      </p:sp>
      <p:sp>
        <p:nvSpPr>
          <p:cNvPr id="5" name="Footer Placeholder 4">
            <a:extLst>
              <a:ext uri="{FF2B5EF4-FFF2-40B4-BE49-F238E27FC236}">
                <a16:creationId xmlns:a16="http://schemas.microsoft.com/office/drawing/2014/main" id="{589A8B54-ECD7-40F4-BD0D-A3F44EAC91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8AA6B2-8BBA-4507-8E46-C541509B39BA}"/>
              </a:ext>
            </a:extLst>
          </p:cNvPr>
          <p:cNvSpPr>
            <a:spLocks noGrp="1"/>
          </p:cNvSpPr>
          <p:nvPr>
            <p:ph type="sldNum" sz="quarter" idx="12"/>
          </p:nvPr>
        </p:nvSpPr>
        <p:spPr/>
        <p:txBody>
          <a:bodyPr/>
          <a:lstStyle/>
          <a:p>
            <a:fld id="{1F79DD15-0091-482B-81C9-6AC0E73C3F93}" type="slidenum">
              <a:rPr lang="en-IN" smtClean="0"/>
              <a:t>‹#›</a:t>
            </a:fld>
            <a:endParaRPr lang="en-IN"/>
          </a:p>
        </p:txBody>
      </p:sp>
    </p:spTree>
    <p:extLst>
      <p:ext uri="{BB962C8B-B14F-4D97-AF65-F5344CB8AC3E}">
        <p14:creationId xmlns:p14="http://schemas.microsoft.com/office/powerpoint/2010/main" val="1703180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3A142-0DF6-43F3-976D-F60289610F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A092407-340D-427C-9051-26FA9601CC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0F6248-97E9-4B9B-9E11-D8E82E966CA5}"/>
              </a:ext>
            </a:extLst>
          </p:cNvPr>
          <p:cNvSpPr>
            <a:spLocks noGrp="1"/>
          </p:cNvSpPr>
          <p:nvPr>
            <p:ph type="dt" sz="half" idx="10"/>
          </p:nvPr>
        </p:nvSpPr>
        <p:spPr/>
        <p:txBody>
          <a:bodyPr/>
          <a:lstStyle/>
          <a:p>
            <a:fld id="{9055A5C8-0773-4C7D-8ACB-2DCD02FEF15B}" type="datetimeFigureOut">
              <a:rPr lang="en-IN" smtClean="0"/>
              <a:t>08-10-2022</a:t>
            </a:fld>
            <a:endParaRPr lang="en-IN"/>
          </a:p>
        </p:txBody>
      </p:sp>
      <p:sp>
        <p:nvSpPr>
          <p:cNvPr id="5" name="Footer Placeholder 4">
            <a:extLst>
              <a:ext uri="{FF2B5EF4-FFF2-40B4-BE49-F238E27FC236}">
                <a16:creationId xmlns:a16="http://schemas.microsoft.com/office/drawing/2014/main" id="{5B124897-DDCC-458E-B217-629B4BEE74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F97A2F-F7D9-4655-BFCF-071B42403F8E}"/>
              </a:ext>
            </a:extLst>
          </p:cNvPr>
          <p:cNvSpPr>
            <a:spLocks noGrp="1"/>
          </p:cNvSpPr>
          <p:nvPr>
            <p:ph type="sldNum" sz="quarter" idx="12"/>
          </p:nvPr>
        </p:nvSpPr>
        <p:spPr/>
        <p:txBody>
          <a:bodyPr/>
          <a:lstStyle/>
          <a:p>
            <a:fld id="{1F79DD15-0091-482B-81C9-6AC0E73C3F93}" type="slidenum">
              <a:rPr lang="en-IN" smtClean="0"/>
              <a:t>‹#›</a:t>
            </a:fld>
            <a:endParaRPr lang="en-IN"/>
          </a:p>
        </p:txBody>
      </p:sp>
    </p:spTree>
    <p:extLst>
      <p:ext uri="{BB962C8B-B14F-4D97-AF65-F5344CB8AC3E}">
        <p14:creationId xmlns:p14="http://schemas.microsoft.com/office/powerpoint/2010/main" val="3538453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C0D4-FEB6-45DD-ADDE-31070BDB68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8EEB75-E890-4FC9-95BD-3CCC0C0E96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C73F28C-3BFE-4564-AB43-0F9C31E87A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EF1C4FE-3F31-44F7-A3BF-E34742387165}"/>
              </a:ext>
            </a:extLst>
          </p:cNvPr>
          <p:cNvSpPr>
            <a:spLocks noGrp="1"/>
          </p:cNvSpPr>
          <p:nvPr>
            <p:ph type="dt" sz="half" idx="10"/>
          </p:nvPr>
        </p:nvSpPr>
        <p:spPr/>
        <p:txBody>
          <a:bodyPr/>
          <a:lstStyle/>
          <a:p>
            <a:fld id="{9055A5C8-0773-4C7D-8ACB-2DCD02FEF15B}" type="datetimeFigureOut">
              <a:rPr lang="en-IN" smtClean="0"/>
              <a:t>08-10-2022</a:t>
            </a:fld>
            <a:endParaRPr lang="en-IN"/>
          </a:p>
        </p:txBody>
      </p:sp>
      <p:sp>
        <p:nvSpPr>
          <p:cNvPr id="6" name="Footer Placeholder 5">
            <a:extLst>
              <a:ext uri="{FF2B5EF4-FFF2-40B4-BE49-F238E27FC236}">
                <a16:creationId xmlns:a16="http://schemas.microsoft.com/office/drawing/2014/main" id="{F61B8485-E15F-4696-BA84-2F5C09DF02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FBED02-0382-455C-94C9-0A38BDBB556E}"/>
              </a:ext>
            </a:extLst>
          </p:cNvPr>
          <p:cNvSpPr>
            <a:spLocks noGrp="1"/>
          </p:cNvSpPr>
          <p:nvPr>
            <p:ph type="sldNum" sz="quarter" idx="12"/>
          </p:nvPr>
        </p:nvSpPr>
        <p:spPr/>
        <p:txBody>
          <a:bodyPr/>
          <a:lstStyle/>
          <a:p>
            <a:fld id="{1F79DD15-0091-482B-81C9-6AC0E73C3F93}" type="slidenum">
              <a:rPr lang="en-IN" smtClean="0"/>
              <a:t>‹#›</a:t>
            </a:fld>
            <a:endParaRPr lang="en-IN"/>
          </a:p>
        </p:txBody>
      </p:sp>
    </p:spTree>
    <p:extLst>
      <p:ext uri="{BB962C8B-B14F-4D97-AF65-F5344CB8AC3E}">
        <p14:creationId xmlns:p14="http://schemas.microsoft.com/office/powerpoint/2010/main" val="2970873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75C28-CB04-42B6-BDC5-6A8B1488297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D9B468A-9F84-45B2-BCE7-FC9F446543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63DD5B-F5E9-45C0-9EC1-4DB1DAEE05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740B8B6-C5BA-45AD-BC14-BBAA8CDF82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0320E9-617E-4D15-BDF6-61874E9B91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894B95D-0C05-4C1F-A953-BB63AE218E5C}"/>
              </a:ext>
            </a:extLst>
          </p:cNvPr>
          <p:cNvSpPr>
            <a:spLocks noGrp="1"/>
          </p:cNvSpPr>
          <p:nvPr>
            <p:ph type="dt" sz="half" idx="10"/>
          </p:nvPr>
        </p:nvSpPr>
        <p:spPr/>
        <p:txBody>
          <a:bodyPr/>
          <a:lstStyle/>
          <a:p>
            <a:fld id="{9055A5C8-0773-4C7D-8ACB-2DCD02FEF15B}" type="datetimeFigureOut">
              <a:rPr lang="en-IN" smtClean="0"/>
              <a:t>08-10-2022</a:t>
            </a:fld>
            <a:endParaRPr lang="en-IN"/>
          </a:p>
        </p:txBody>
      </p:sp>
      <p:sp>
        <p:nvSpPr>
          <p:cNvPr id="8" name="Footer Placeholder 7">
            <a:extLst>
              <a:ext uri="{FF2B5EF4-FFF2-40B4-BE49-F238E27FC236}">
                <a16:creationId xmlns:a16="http://schemas.microsoft.com/office/drawing/2014/main" id="{7B6DAE10-16CB-4A1E-989E-D7BDFE6D16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95384F-AE69-4FCF-935F-F6C0C91EE2B6}"/>
              </a:ext>
            </a:extLst>
          </p:cNvPr>
          <p:cNvSpPr>
            <a:spLocks noGrp="1"/>
          </p:cNvSpPr>
          <p:nvPr>
            <p:ph type="sldNum" sz="quarter" idx="12"/>
          </p:nvPr>
        </p:nvSpPr>
        <p:spPr/>
        <p:txBody>
          <a:bodyPr/>
          <a:lstStyle/>
          <a:p>
            <a:fld id="{1F79DD15-0091-482B-81C9-6AC0E73C3F93}" type="slidenum">
              <a:rPr lang="en-IN" smtClean="0"/>
              <a:t>‹#›</a:t>
            </a:fld>
            <a:endParaRPr lang="en-IN"/>
          </a:p>
        </p:txBody>
      </p:sp>
    </p:spTree>
    <p:extLst>
      <p:ext uri="{BB962C8B-B14F-4D97-AF65-F5344CB8AC3E}">
        <p14:creationId xmlns:p14="http://schemas.microsoft.com/office/powerpoint/2010/main" val="4214425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B1C82-9297-48CE-A775-0789BCBFAD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6B3C652-36BC-415A-9306-00B4E158E3D6}"/>
              </a:ext>
            </a:extLst>
          </p:cNvPr>
          <p:cNvSpPr>
            <a:spLocks noGrp="1"/>
          </p:cNvSpPr>
          <p:nvPr>
            <p:ph type="dt" sz="half" idx="10"/>
          </p:nvPr>
        </p:nvSpPr>
        <p:spPr/>
        <p:txBody>
          <a:bodyPr/>
          <a:lstStyle/>
          <a:p>
            <a:fld id="{9055A5C8-0773-4C7D-8ACB-2DCD02FEF15B}" type="datetimeFigureOut">
              <a:rPr lang="en-IN" smtClean="0"/>
              <a:t>08-10-2022</a:t>
            </a:fld>
            <a:endParaRPr lang="en-IN"/>
          </a:p>
        </p:txBody>
      </p:sp>
      <p:sp>
        <p:nvSpPr>
          <p:cNvPr id="4" name="Footer Placeholder 3">
            <a:extLst>
              <a:ext uri="{FF2B5EF4-FFF2-40B4-BE49-F238E27FC236}">
                <a16:creationId xmlns:a16="http://schemas.microsoft.com/office/drawing/2014/main" id="{F50F1AF7-DEF7-4356-A5E4-01E9CCBA60A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CEC677B-E714-465A-BBCC-81AAA87D0903}"/>
              </a:ext>
            </a:extLst>
          </p:cNvPr>
          <p:cNvSpPr>
            <a:spLocks noGrp="1"/>
          </p:cNvSpPr>
          <p:nvPr>
            <p:ph type="sldNum" sz="quarter" idx="12"/>
          </p:nvPr>
        </p:nvSpPr>
        <p:spPr/>
        <p:txBody>
          <a:bodyPr/>
          <a:lstStyle/>
          <a:p>
            <a:fld id="{1F79DD15-0091-482B-81C9-6AC0E73C3F93}" type="slidenum">
              <a:rPr lang="en-IN" smtClean="0"/>
              <a:t>‹#›</a:t>
            </a:fld>
            <a:endParaRPr lang="en-IN"/>
          </a:p>
        </p:txBody>
      </p:sp>
    </p:spTree>
    <p:extLst>
      <p:ext uri="{BB962C8B-B14F-4D97-AF65-F5344CB8AC3E}">
        <p14:creationId xmlns:p14="http://schemas.microsoft.com/office/powerpoint/2010/main" val="521101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35DF39-D98A-4D97-A1B9-E8F269E5E5E2}"/>
              </a:ext>
            </a:extLst>
          </p:cNvPr>
          <p:cNvSpPr>
            <a:spLocks noGrp="1"/>
          </p:cNvSpPr>
          <p:nvPr>
            <p:ph type="dt" sz="half" idx="10"/>
          </p:nvPr>
        </p:nvSpPr>
        <p:spPr/>
        <p:txBody>
          <a:bodyPr/>
          <a:lstStyle/>
          <a:p>
            <a:fld id="{9055A5C8-0773-4C7D-8ACB-2DCD02FEF15B}" type="datetimeFigureOut">
              <a:rPr lang="en-IN" smtClean="0"/>
              <a:t>08-10-2022</a:t>
            </a:fld>
            <a:endParaRPr lang="en-IN"/>
          </a:p>
        </p:txBody>
      </p:sp>
      <p:sp>
        <p:nvSpPr>
          <p:cNvPr id="3" name="Footer Placeholder 2">
            <a:extLst>
              <a:ext uri="{FF2B5EF4-FFF2-40B4-BE49-F238E27FC236}">
                <a16:creationId xmlns:a16="http://schemas.microsoft.com/office/drawing/2014/main" id="{6A99A205-EF33-491F-877E-087B64C4C9D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073B6D-A7A0-4B56-9716-BE23D08E94B7}"/>
              </a:ext>
            </a:extLst>
          </p:cNvPr>
          <p:cNvSpPr>
            <a:spLocks noGrp="1"/>
          </p:cNvSpPr>
          <p:nvPr>
            <p:ph type="sldNum" sz="quarter" idx="12"/>
          </p:nvPr>
        </p:nvSpPr>
        <p:spPr/>
        <p:txBody>
          <a:bodyPr/>
          <a:lstStyle/>
          <a:p>
            <a:fld id="{1F79DD15-0091-482B-81C9-6AC0E73C3F93}" type="slidenum">
              <a:rPr lang="en-IN" smtClean="0"/>
              <a:t>‹#›</a:t>
            </a:fld>
            <a:endParaRPr lang="en-IN"/>
          </a:p>
        </p:txBody>
      </p:sp>
    </p:spTree>
    <p:extLst>
      <p:ext uri="{BB962C8B-B14F-4D97-AF65-F5344CB8AC3E}">
        <p14:creationId xmlns:p14="http://schemas.microsoft.com/office/powerpoint/2010/main" val="2195654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9DC0C-CD42-40EB-8703-4C16F2A4AA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D464176-5578-4F6D-83C4-05532ACDEF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9E79A0-6833-4F0D-B579-12273BB05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F9E778-F780-4F91-91B8-3771FB3B6588}"/>
              </a:ext>
            </a:extLst>
          </p:cNvPr>
          <p:cNvSpPr>
            <a:spLocks noGrp="1"/>
          </p:cNvSpPr>
          <p:nvPr>
            <p:ph type="dt" sz="half" idx="10"/>
          </p:nvPr>
        </p:nvSpPr>
        <p:spPr/>
        <p:txBody>
          <a:bodyPr/>
          <a:lstStyle/>
          <a:p>
            <a:fld id="{9055A5C8-0773-4C7D-8ACB-2DCD02FEF15B}" type="datetimeFigureOut">
              <a:rPr lang="en-IN" smtClean="0"/>
              <a:t>08-10-2022</a:t>
            </a:fld>
            <a:endParaRPr lang="en-IN"/>
          </a:p>
        </p:txBody>
      </p:sp>
      <p:sp>
        <p:nvSpPr>
          <p:cNvPr id="6" name="Footer Placeholder 5">
            <a:extLst>
              <a:ext uri="{FF2B5EF4-FFF2-40B4-BE49-F238E27FC236}">
                <a16:creationId xmlns:a16="http://schemas.microsoft.com/office/drawing/2014/main" id="{FF5D096F-3B9F-4903-BBE5-8C0E85CB78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96503A-A88A-431F-B17A-4E20B0F26389}"/>
              </a:ext>
            </a:extLst>
          </p:cNvPr>
          <p:cNvSpPr>
            <a:spLocks noGrp="1"/>
          </p:cNvSpPr>
          <p:nvPr>
            <p:ph type="sldNum" sz="quarter" idx="12"/>
          </p:nvPr>
        </p:nvSpPr>
        <p:spPr/>
        <p:txBody>
          <a:bodyPr/>
          <a:lstStyle/>
          <a:p>
            <a:fld id="{1F79DD15-0091-482B-81C9-6AC0E73C3F93}" type="slidenum">
              <a:rPr lang="en-IN" smtClean="0"/>
              <a:t>‹#›</a:t>
            </a:fld>
            <a:endParaRPr lang="en-IN"/>
          </a:p>
        </p:txBody>
      </p:sp>
    </p:spTree>
    <p:extLst>
      <p:ext uri="{BB962C8B-B14F-4D97-AF65-F5344CB8AC3E}">
        <p14:creationId xmlns:p14="http://schemas.microsoft.com/office/powerpoint/2010/main" val="1458731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6F2B8-2D6E-4174-8E69-C467C4433E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2AB564-42D0-4E4A-8B10-CC9E291720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73DE08B-EE11-48B9-AE30-CAE6AA36CE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026350-2697-4DCA-A305-57C31E2C9A58}"/>
              </a:ext>
            </a:extLst>
          </p:cNvPr>
          <p:cNvSpPr>
            <a:spLocks noGrp="1"/>
          </p:cNvSpPr>
          <p:nvPr>
            <p:ph type="dt" sz="half" idx="10"/>
          </p:nvPr>
        </p:nvSpPr>
        <p:spPr/>
        <p:txBody>
          <a:bodyPr/>
          <a:lstStyle/>
          <a:p>
            <a:fld id="{9055A5C8-0773-4C7D-8ACB-2DCD02FEF15B}" type="datetimeFigureOut">
              <a:rPr lang="en-IN" smtClean="0"/>
              <a:t>08-10-2022</a:t>
            </a:fld>
            <a:endParaRPr lang="en-IN"/>
          </a:p>
        </p:txBody>
      </p:sp>
      <p:sp>
        <p:nvSpPr>
          <p:cNvPr id="6" name="Footer Placeholder 5">
            <a:extLst>
              <a:ext uri="{FF2B5EF4-FFF2-40B4-BE49-F238E27FC236}">
                <a16:creationId xmlns:a16="http://schemas.microsoft.com/office/drawing/2014/main" id="{170C68C0-5C08-47CE-AFCC-AF15040AB5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E4EB18-7E8F-408D-9091-3F81362B6952}"/>
              </a:ext>
            </a:extLst>
          </p:cNvPr>
          <p:cNvSpPr>
            <a:spLocks noGrp="1"/>
          </p:cNvSpPr>
          <p:nvPr>
            <p:ph type="sldNum" sz="quarter" idx="12"/>
          </p:nvPr>
        </p:nvSpPr>
        <p:spPr/>
        <p:txBody>
          <a:bodyPr/>
          <a:lstStyle/>
          <a:p>
            <a:fld id="{1F79DD15-0091-482B-81C9-6AC0E73C3F93}" type="slidenum">
              <a:rPr lang="en-IN" smtClean="0"/>
              <a:t>‹#›</a:t>
            </a:fld>
            <a:endParaRPr lang="en-IN"/>
          </a:p>
        </p:txBody>
      </p:sp>
    </p:spTree>
    <p:extLst>
      <p:ext uri="{BB962C8B-B14F-4D97-AF65-F5344CB8AC3E}">
        <p14:creationId xmlns:p14="http://schemas.microsoft.com/office/powerpoint/2010/main" val="1769771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4B1A2-A633-4345-ADEC-01C0E7866A4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058E34-DB61-4DAB-8B6D-791A9C1DC6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22DD85-008F-402B-AD5B-5E0F9911A5D9}"/>
              </a:ext>
            </a:extLst>
          </p:cNvPr>
          <p:cNvSpPr>
            <a:spLocks noGrp="1"/>
          </p:cNvSpPr>
          <p:nvPr>
            <p:ph type="dt" sz="half" idx="10"/>
          </p:nvPr>
        </p:nvSpPr>
        <p:spPr/>
        <p:txBody>
          <a:bodyPr/>
          <a:lstStyle/>
          <a:p>
            <a:fld id="{9055A5C8-0773-4C7D-8ACB-2DCD02FEF15B}" type="datetimeFigureOut">
              <a:rPr lang="en-IN" smtClean="0"/>
              <a:t>08-10-2022</a:t>
            </a:fld>
            <a:endParaRPr lang="en-IN"/>
          </a:p>
        </p:txBody>
      </p:sp>
      <p:sp>
        <p:nvSpPr>
          <p:cNvPr id="5" name="Footer Placeholder 4">
            <a:extLst>
              <a:ext uri="{FF2B5EF4-FFF2-40B4-BE49-F238E27FC236}">
                <a16:creationId xmlns:a16="http://schemas.microsoft.com/office/drawing/2014/main" id="{390BDAEC-1C83-499E-B0C6-57B7F6F0AC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8F79CF-EB58-455C-80C1-8ED86D499405}"/>
              </a:ext>
            </a:extLst>
          </p:cNvPr>
          <p:cNvSpPr>
            <a:spLocks noGrp="1"/>
          </p:cNvSpPr>
          <p:nvPr>
            <p:ph type="sldNum" sz="quarter" idx="12"/>
          </p:nvPr>
        </p:nvSpPr>
        <p:spPr/>
        <p:txBody>
          <a:bodyPr/>
          <a:lstStyle/>
          <a:p>
            <a:fld id="{1F79DD15-0091-482B-81C9-6AC0E73C3F93}" type="slidenum">
              <a:rPr lang="en-IN" smtClean="0"/>
              <a:t>‹#›</a:t>
            </a:fld>
            <a:endParaRPr lang="en-IN"/>
          </a:p>
        </p:txBody>
      </p:sp>
    </p:spTree>
    <p:extLst>
      <p:ext uri="{BB962C8B-B14F-4D97-AF65-F5344CB8AC3E}">
        <p14:creationId xmlns:p14="http://schemas.microsoft.com/office/powerpoint/2010/main" val="2269378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B404E7-68EB-420C-B02A-99EDAB3B62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A2551D-A4E2-43A5-AA63-61E1609CCD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74B778-16D5-45D3-BD31-353DE30383CC}"/>
              </a:ext>
            </a:extLst>
          </p:cNvPr>
          <p:cNvSpPr>
            <a:spLocks noGrp="1"/>
          </p:cNvSpPr>
          <p:nvPr>
            <p:ph type="dt" sz="half" idx="10"/>
          </p:nvPr>
        </p:nvSpPr>
        <p:spPr/>
        <p:txBody>
          <a:bodyPr/>
          <a:lstStyle/>
          <a:p>
            <a:fld id="{9055A5C8-0773-4C7D-8ACB-2DCD02FEF15B}" type="datetimeFigureOut">
              <a:rPr lang="en-IN" smtClean="0"/>
              <a:t>08-10-2022</a:t>
            </a:fld>
            <a:endParaRPr lang="en-IN"/>
          </a:p>
        </p:txBody>
      </p:sp>
      <p:sp>
        <p:nvSpPr>
          <p:cNvPr id="5" name="Footer Placeholder 4">
            <a:extLst>
              <a:ext uri="{FF2B5EF4-FFF2-40B4-BE49-F238E27FC236}">
                <a16:creationId xmlns:a16="http://schemas.microsoft.com/office/drawing/2014/main" id="{B3905F25-0E71-4136-9931-EF00674F12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24E8AF-4AE8-4180-BD15-8F3A93949F93}"/>
              </a:ext>
            </a:extLst>
          </p:cNvPr>
          <p:cNvSpPr>
            <a:spLocks noGrp="1"/>
          </p:cNvSpPr>
          <p:nvPr>
            <p:ph type="sldNum" sz="quarter" idx="12"/>
          </p:nvPr>
        </p:nvSpPr>
        <p:spPr/>
        <p:txBody>
          <a:bodyPr/>
          <a:lstStyle/>
          <a:p>
            <a:fld id="{1F79DD15-0091-482B-81C9-6AC0E73C3F93}" type="slidenum">
              <a:rPr lang="en-IN" smtClean="0"/>
              <a:t>‹#›</a:t>
            </a:fld>
            <a:endParaRPr lang="en-IN"/>
          </a:p>
        </p:txBody>
      </p:sp>
    </p:spTree>
    <p:extLst>
      <p:ext uri="{BB962C8B-B14F-4D97-AF65-F5344CB8AC3E}">
        <p14:creationId xmlns:p14="http://schemas.microsoft.com/office/powerpoint/2010/main" val="3090498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28034D-F13C-40F4-A424-C6F4657417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BCA2B72-1C87-49C9-8B61-76AF308842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F6A9BE-5455-47E1-A80E-FF4157F584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55A5C8-0773-4C7D-8ACB-2DCD02FEF15B}" type="datetimeFigureOut">
              <a:rPr lang="en-IN" smtClean="0"/>
              <a:t>08-10-2022</a:t>
            </a:fld>
            <a:endParaRPr lang="en-IN"/>
          </a:p>
        </p:txBody>
      </p:sp>
      <p:sp>
        <p:nvSpPr>
          <p:cNvPr id="5" name="Footer Placeholder 4">
            <a:extLst>
              <a:ext uri="{FF2B5EF4-FFF2-40B4-BE49-F238E27FC236}">
                <a16:creationId xmlns:a16="http://schemas.microsoft.com/office/drawing/2014/main" id="{4B03040C-1224-442F-A06B-312AFD3EB9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8048B85-FB5F-4EDE-BF88-927E8EDBFF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79DD15-0091-482B-81C9-6AC0E73C3F93}" type="slidenum">
              <a:rPr lang="en-IN" smtClean="0"/>
              <a:t>‹#›</a:t>
            </a:fld>
            <a:endParaRPr lang="en-IN"/>
          </a:p>
        </p:txBody>
      </p:sp>
    </p:spTree>
    <p:extLst>
      <p:ext uri="{BB962C8B-B14F-4D97-AF65-F5344CB8AC3E}">
        <p14:creationId xmlns:p14="http://schemas.microsoft.com/office/powerpoint/2010/main" val="13827159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43260-40D7-4EE8-8EF9-C49A9DBD91B6}"/>
              </a:ext>
            </a:extLst>
          </p:cNvPr>
          <p:cNvSpPr>
            <a:spLocks noGrp="1"/>
          </p:cNvSpPr>
          <p:nvPr>
            <p:ph type="ctrTitle"/>
          </p:nvPr>
        </p:nvSpPr>
        <p:spPr>
          <a:xfrm>
            <a:off x="1524000" y="30408"/>
            <a:ext cx="9144000" cy="2387600"/>
          </a:xfrm>
        </p:spPr>
        <p:txBody>
          <a:bodyPr/>
          <a:lstStyle/>
          <a:p>
            <a:r>
              <a:rPr lang="en-IN" b="1" dirty="0">
                <a:solidFill>
                  <a:schemeClr val="accent2">
                    <a:lumMod val="50000"/>
                  </a:schemeClr>
                </a:solidFill>
              </a:rPr>
              <a:t>Relational Algebra</a:t>
            </a:r>
          </a:p>
        </p:txBody>
      </p:sp>
    </p:spTree>
    <p:extLst>
      <p:ext uri="{BB962C8B-B14F-4D97-AF65-F5344CB8AC3E}">
        <p14:creationId xmlns:p14="http://schemas.microsoft.com/office/powerpoint/2010/main" val="348597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DC787-0587-4343-9D3A-07B923E96FBE}"/>
              </a:ext>
            </a:extLst>
          </p:cNvPr>
          <p:cNvSpPr>
            <a:spLocks noGrp="1"/>
          </p:cNvSpPr>
          <p:nvPr>
            <p:ph type="title"/>
          </p:nvPr>
        </p:nvSpPr>
        <p:spPr>
          <a:xfrm>
            <a:off x="611777" y="-167539"/>
            <a:ext cx="10515600" cy="1108572"/>
          </a:xfrm>
        </p:spPr>
        <p:txBody>
          <a:bodyPr/>
          <a:lstStyle/>
          <a:p>
            <a:pPr algn="ctr"/>
            <a:r>
              <a:rPr lang="en-IN" b="1" dirty="0">
                <a:solidFill>
                  <a:schemeClr val="accent4">
                    <a:lumMod val="50000"/>
                  </a:schemeClr>
                </a:solidFill>
              </a:rPr>
              <a:t>Introduction</a:t>
            </a:r>
          </a:p>
        </p:txBody>
      </p:sp>
      <p:sp>
        <p:nvSpPr>
          <p:cNvPr id="3" name="Content Placeholder 2">
            <a:extLst>
              <a:ext uri="{FF2B5EF4-FFF2-40B4-BE49-F238E27FC236}">
                <a16:creationId xmlns:a16="http://schemas.microsoft.com/office/drawing/2014/main" id="{D4AD82D6-5A16-49B3-9913-487C20BA0E70}"/>
              </a:ext>
            </a:extLst>
          </p:cNvPr>
          <p:cNvSpPr>
            <a:spLocks noGrp="1"/>
          </p:cNvSpPr>
          <p:nvPr>
            <p:ph idx="1"/>
          </p:nvPr>
        </p:nvSpPr>
        <p:spPr>
          <a:xfrm>
            <a:off x="1136342" y="941033"/>
            <a:ext cx="10946166" cy="5823751"/>
          </a:xfrm>
        </p:spPr>
        <p:txBody>
          <a:bodyPr>
            <a:normAutofit/>
          </a:bodyPr>
          <a:lstStyle/>
          <a:p>
            <a:pPr>
              <a:buFont typeface="Wingdings" panose="05000000000000000000" pitchFamily="2" charset="2"/>
              <a:buChar char="q"/>
            </a:pPr>
            <a:r>
              <a:rPr lang="en-IN" dirty="0"/>
              <a:t>There are two types of query languages:</a:t>
            </a:r>
          </a:p>
          <a:p>
            <a:pPr lvl="1"/>
            <a:r>
              <a:rPr lang="en-IN" dirty="0"/>
              <a:t>Procedural QL</a:t>
            </a:r>
          </a:p>
          <a:p>
            <a:pPr lvl="1"/>
            <a:r>
              <a:rPr lang="en-IN" dirty="0"/>
              <a:t>Non-Procedural QL</a:t>
            </a:r>
          </a:p>
          <a:p>
            <a:pPr>
              <a:buFont typeface="Wingdings" panose="05000000000000000000" pitchFamily="2" charset="2"/>
              <a:buChar char="q"/>
            </a:pPr>
            <a:r>
              <a:rPr lang="en-IN" u="sng" dirty="0"/>
              <a:t>Procedural</a:t>
            </a:r>
          </a:p>
          <a:p>
            <a:pPr lvl="1"/>
            <a:r>
              <a:rPr lang="en-IN" dirty="0"/>
              <a:t>What to retrieve and how to retrieve.</a:t>
            </a:r>
          </a:p>
          <a:p>
            <a:pPr lvl="1"/>
            <a:r>
              <a:rPr lang="en-IN" dirty="0"/>
              <a:t>E.g. Relational Algebra</a:t>
            </a:r>
          </a:p>
          <a:p>
            <a:pPr lvl="1"/>
            <a:r>
              <a:rPr lang="en-IN" dirty="0"/>
              <a:t>Results always distinct tuples</a:t>
            </a:r>
          </a:p>
          <a:p>
            <a:pPr lvl="1"/>
            <a:r>
              <a:rPr lang="en-IN" dirty="0"/>
              <a:t>Operations: </a:t>
            </a:r>
            <a:r>
              <a:rPr lang="en-US" altLang="en-US" dirty="0">
                <a:sym typeface="Symbol" panose="05050102010706020507" pitchFamily="18" charset="2"/>
              </a:rPr>
              <a:t>, , , and so on</a:t>
            </a:r>
          </a:p>
          <a:p>
            <a:pPr lvl="1"/>
            <a:endParaRPr lang="en-US" dirty="0">
              <a:sym typeface="Symbol" panose="05050102010706020507" pitchFamily="18" charset="2"/>
            </a:endParaRPr>
          </a:p>
          <a:p>
            <a:pPr>
              <a:buFont typeface="Wingdings" panose="05000000000000000000" pitchFamily="2" charset="2"/>
              <a:buChar char="q"/>
            </a:pPr>
            <a:r>
              <a:rPr lang="en-US" u="sng" dirty="0">
                <a:sym typeface="Symbol" panose="05050102010706020507" pitchFamily="18" charset="2"/>
              </a:rPr>
              <a:t>Non-Procedural</a:t>
            </a:r>
          </a:p>
          <a:p>
            <a:pPr lvl="1"/>
            <a:r>
              <a:rPr lang="en-US" dirty="0">
                <a:sym typeface="Symbol" panose="05050102010706020507" pitchFamily="18" charset="2"/>
              </a:rPr>
              <a:t>What to retrieve.</a:t>
            </a:r>
          </a:p>
          <a:p>
            <a:pPr lvl="1"/>
            <a:r>
              <a:rPr lang="en-US" dirty="0">
                <a:sym typeface="Symbol" panose="05050102010706020507" pitchFamily="18" charset="2"/>
              </a:rPr>
              <a:t>E.g. Tuple Relational Calculus, SQL</a:t>
            </a:r>
          </a:p>
          <a:p>
            <a:pPr lvl="1"/>
            <a:r>
              <a:rPr lang="en-US" dirty="0">
                <a:sym typeface="Symbol" panose="05050102010706020507" pitchFamily="18" charset="2"/>
              </a:rPr>
              <a:t>Tuple relational Calculus: Symbols used in first order logic.</a:t>
            </a:r>
          </a:p>
          <a:p>
            <a:pPr lvl="1"/>
            <a:r>
              <a:rPr lang="en-US" dirty="0">
                <a:sym typeface="Symbol" panose="05050102010706020507" pitchFamily="18" charset="2"/>
              </a:rPr>
              <a:t>SQL: select * from table;</a:t>
            </a:r>
          </a:p>
          <a:p>
            <a:pPr lvl="1"/>
            <a:endParaRPr lang="en-IN" dirty="0"/>
          </a:p>
        </p:txBody>
      </p:sp>
    </p:spTree>
    <p:extLst>
      <p:ext uri="{BB962C8B-B14F-4D97-AF65-F5344CB8AC3E}">
        <p14:creationId xmlns:p14="http://schemas.microsoft.com/office/powerpoint/2010/main" val="1591708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DC787-0587-4343-9D3A-07B923E96FBE}"/>
              </a:ext>
            </a:extLst>
          </p:cNvPr>
          <p:cNvSpPr>
            <a:spLocks noGrp="1"/>
          </p:cNvSpPr>
          <p:nvPr>
            <p:ph type="title"/>
          </p:nvPr>
        </p:nvSpPr>
        <p:spPr>
          <a:xfrm>
            <a:off x="838200" y="18893"/>
            <a:ext cx="10515600" cy="1108572"/>
          </a:xfrm>
        </p:spPr>
        <p:txBody>
          <a:bodyPr/>
          <a:lstStyle/>
          <a:p>
            <a:pPr algn="ctr"/>
            <a:r>
              <a:rPr lang="en-IN" b="1" dirty="0">
                <a:solidFill>
                  <a:schemeClr val="accent4">
                    <a:lumMod val="50000"/>
                  </a:schemeClr>
                </a:solidFill>
              </a:rPr>
              <a:t>Introduction</a:t>
            </a:r>
          </a:p>
        </p:txBody>
      </p:sp>
      <p:sp>
        <p:nvSpPr>
          <p:cNvPr id="3" name="Content Placeholder 2">
            <a:extLst>
              <a:ext uri="{FF2B5EF4-FFF2-40B4-BE49-F238E27FC236}">
                <a16:creationId xmlns:a16="http://schemas.microsoft.com/office/drawing/2014/main" id="{D4AD82D6-5A16-49B3-9913-487C20BA0E70}"/>
              </a:ext>
            </a:extLst>
          </p:cNvPr>
          <p:cNvSpPr>
            <a:spLocks noGrp="1"/>
          </p:cNvSpPr>
          <p:nvPr>
            <p:ph idx="1"/>
          </p:nvPr>
        </p:nvSpPr>
        <p:spPr>
          <a:xfrm>
            <a:off x="1136342" y="941033"/>
            <a:ext cx="10946166" cy="5823751"/>
          </a:xfrm>
        </p:spPr>
        <p:txBody>
          <a:bodyPr>
            <a:normAutofit/>
          </a:bodyPr>
          <a:lstStyle/>
          <a:p>
            <a:pPr>
              <a:buFont typeface="Wingdings" panose="05000000000000000000" pitchFamily="2" charset="2"/>
              <a:buChar char="q"/>
            </a:pPr>
            <a:r>
              <a:rPr lang="en-IN" dirty="0"/>
              <a:t>Relational algebra consists of a </a:t>
            </a:r>
            <a:r>
              <a:rPr lang="en-IN" u="sng" dirty="0"/>
              <a:t>set of operations </a:t>
            </a:r>
            <a:r>
              <a:rPr lang="en-IN" dirty="0"/>
              <a:t>that take one or two relations as input and produce a new relation as their result.</a:t>
            </a:r>
          </a:p>
          <a:p>
            <a:pPr>
              <a:buFont typeface="Wingdings" panose="05000000000000000000" pitchFamily="2" charset="2"/>
              <a:buChar char="q"/>
            </a:pPr>
            <a:r>
              <a:rPr lang="en-US" altLang="en-US" dirty="0"/>
              <a:t>Six </a:t>
            </a:r>
            <a:r>
              <a:rPr lang="en-US" altLang="en-US" u="sng" dirty="0"/>
              <a:t>basic operators </a:t>
            </a:r>
          </a:p>
          <a:p>
            <a:pPr lvl="1">
              <a:buFont typeface="Wingdings" panose="05000000000000000000" pitchFamily="2" charset="2"/>
              <a:buChar char="§"/>
            </a:pPr>
            <a:r>
              <a:rPr lang="en-US" altLang="en-US" dirty="0"/>
              <a:t>select: </a:t>
            </a:r>
            <a:r>
              <a:rPr kumimoji="0" lang="en-US" altLang="en-US" dirty="0">
                <a:sym typeface="Symbol" panose="05050102010706020507" pitchFamily="18" charset="2"/>
              </a:rPr>
              <a:t></a:t>
            </a:r>
            <a:endParaRPr lang="en-US" altLang="en-US" dirty="0"/>
          </a:p>
          <a:p>
            <a:pPr lvl="1">
              <a:buFont typeface="Wingdings" panose="05000000000000000000" pitchFamily="2" charset="2"/>
              <a:buChar char="§"/>
            </a:pPr>
            <a:r>
              <a:rPr lang="en-US" altLang="en-US" dirty="0"/>
              <a:t>project: </a:t>
            </a:r>
            <a:r>
              <a:rPr lang="en-US" altLang="en-US" dirty="0">
                <a:sym typeface="Symbol" panose="05050102010706020507" pitchFamily="18" charset="2"/>
              </a:rPr>
              <a:t></a:t>
            </a:r>
            <a:endParaRPr lang="en-US" altLang="en-US" dirty="0"/>
          </a:p>
          <a:p>
            <a:pPr lvl="1">
              <a:buFont typeface="Wingdings" panose="05000000000000000000" pitchFamily="2" charset="2"/>
              <a:buChar char="§"/>
            </a:pPr>
            <a:r>
              <a:rPr lang="en-US" altLang="en-US" dirty="0"/>
              <a:t>union: </a:t>
            </a:r>
            <a:r>
              <a:rPr lang="en-US" altLang="en-US" dirty="0">
                <a:sym typeface="Symbol" panose="05050102010706020507" pitchFamily="18" charset="2"/>
              </a:rPr>
              <a:t></a:t>
            </a:r>
            <a:endParaRPr lang="en-US" altLang="en-US" dirty="0"/>
          </a:p>
          <a:p>
            <a:pPr lvl="1">
              <a:buFont typeface="Wingdings" panose="05000000000000000000" pitchFamily="2" charset="2"/>
              <a:buChar char="§"/>
            </a:pPr>
            <a:r>
              <a:rPr lang="en-US" altLang="en-US" dirty="0"/>
              <a:t>set difference: </a:t>
            </a:r>
            <a:r>
              <a:rPr lang="en-US" altLang="en-US" i="1" dirty="0"/>
              <a:t>–</a:t>
            </a:r>
            <a:r>
              <a:rPr lang="en-US" altLang="en-US" dirty="0"/>
              <a:t> </a:t>
            </a:r>
          </a:p>
          <a:p>
            <a:pPr lvl="1">
              <a:buFont typeface="Wingdings" panose="05000000000000000000" pitchFamily="2" charset="2"/>
              <a:buChar char="§"/>
            </a:pPr>
            <a:r>
              <a:rPr lang="en-US" altLang="en-US" dirty="0"/>
              <a:t>Cartesian product: x</a:t>
            </a:r>
          </a:p>
          <a:p>
            <a:pPr lvl="1">
              <a:buFont typeface="Wingdings" panose="05000000000000000000" pitchFamily="2" charset="2"/>
              <a:buChar char="§"/>
            </a:pPr>
            <a:r>
              <a:rPr lang="en-US" altLang="en-US" dirty="0"/>
              <a:t>rename: </a:t>
            </a:r>
            <a:r>
              <a:rPr lang="en-US" altLang="en-US" i="1" dirty="0">
                <a:sym typeface="Symbol" panose="05050102010706020507" pitchFamily="18" charset="2"/>
              </a:rPr>
              <a:t></a:t>
            </a:r>
          </a:p>
          <a:p>
            <a:pPr>
              <a:buFont typeface="Wingdings" panose="05000000000000000000" pitchFamily="2" charset="2"/>
              <a:buChar char="q"/>
            </a:pPr>
            <a:r>
              <a:rPr lang="en-US" altLang="en-US" u="sng" dirty="0">
                <a:sym typeface="Symbol" panose="05050102010706020507" pitchFamily="18" charset="2"/>
              </a:rPr>
              <a:t>Derived Operators</a:t>
            </a:r>
          </a:p>
          <a:p>
            <a:pPr lvl="1">
              <a:buFont typeface="Wingdings" panose="05000000000000000000" pitchFamily="2" charset="2"/>
              <a:buChar char="§"/>
            </a:pPr>
            <a:r>
              <a:rPr lang="en-US" altLang="en-US" dirty="0">
                <a:sym typeface="Symbol" panose="05050102010706020507" pitchFamily="18" charset="2"/>
              </a:rPr>
              <a:t>Intersection: </a:t>
            </a:r>
            <a:r>
              <a:rPr lang="en-US" altLang="en-US" dirty="0">
                <a:latin typeface="Symbol" panose="05050102010706020507" pitchFamily="18" charset="2"/>
              </a:rPr>
              <a:t></a:t>
            </a:r>
            <a:endParaRPr lang="en-US" altLang="en-US" dirty="0">
              <a:sym typeface="Symbol" panose="05050102010706020507" pitchFamily="18" charset="2"/>
            </a:endParaRPr>
          </a:p>
          <a:p>
            <a:pPr lvl="1">
              <a:buFont typeface="Wingdings" panose="05000000000000000000" pitchFamily="2" charset="2"/>
              <a:buChar char="§"/>
            </a:pPr>
            <a:r>
              <a:rPr lang="en-US" altLang="en-US" dirty="0">
                <a:sym typeface="Symbol" panose="05050102010706020507" pitchFamily="18" charset="2"/>
              </a:rPr>
              <a:t>Join: </a:t>
            </a:r>
            <a:r>
              <a:rPr lang="en-IN" dirty="0"/>
              <a:t>⋈</a:t>
            </a:r>
            <a:endParaRPr lang="en-US" altLang="en-US" dirty="0">
              <a:sym typeface="Symbol" panose="05050102010706020507" pitchFamily="18" charset="2"/>
            </a:endParaRPr>
          </a:p>
          <a:p>
            <a:pPr lvl="1">
              <a:buFont typeface="Wingdings" panose="05000000000000000000" pitchFamily="2" charset="2"/>
              <a:buChar char="§"/>
            </a:pPr>
            <a:r>
              <a:rPr lang="en-US" altLang="en-US" dirty="0">
                <a:sym typeface="Symbol" panose="05050102010706020507" pitchFamily="18" charset="2"/>
              </a:rPr>
              <a:t>Divide: /</a:t>
            </a:r>
          </a:p>
          <a:p>
            <a:pPr>
              <a:buFont typeface="Wingdings" panose="05000000000000000000" pitchFamily="2" charset="2"/>
              <a:buChar char="§"/>
            </a:pPr>
            <a:endParaRPr lang="en-US" altLang="en-US" dirty="0">
              <a:sym typeface="Symbol" panose="05050102010706020507" pitchFamily="18" charset="2"/>
            </a:endParaRPr>
          </a:p>
          <a:p>
            <a:pPr>
              <a:buFont typeface="Wingdings" panose="05000000000000000000" pitchFamily="2" charset="2"/>
              <a:buChar char="q"/>
            </a:pPr>
            <a:endParaRPr lang="en-US" altLang="en-US" i="1" dirty="0">
              <a:sym typeface="Symbol" panose="05050102010706020507" pitchFamily="18" charset="2"/>
            </a:endParaRPr>
          </a:p>
          <a:p>
            <a:pPr>
              <a:buFont typeface="Wingdings" panose="05000000000000000000" pitchFamily="2" charset="2"/>
              <a:buChar char="q"/>
            </a:pPr>
            <a:endParaRPr lang="en-IN" dirty="0"/>
          </a:p>
        </p:txBody>
      </p:sp>
    </p:spTree>
    <p:extLst>
      <p:ext uri="{BB962C8B-B14F-4D97-AF65-F5344CB8AC3E}">
        <p14:creationId xmlns:p14="http://schemas.microsoft.com/office/powerpoint/2010/main" val="275215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DC787-0587-4343-9D3A-07B923E96FBE}"/>
              </a:ext>
            </a:extLst>
          </p:cNvPr>
          <p:cNvSpPr>
            <a:spLocks noGrp="1"/>
          </p:cNvSpPr>
          <p:nvPr>
            <p:ph type="title"/>
          </p:nvPr>
        </p:nvSpPr>
        <p:spPr>
          <a:xfrm>
            <a:off x="838200" y="18893"/>
            <a:ext cx="10515600" cy="1108572"/>
          </a:xfrm>
        </p:spPr>
        <p:txBody>
          <a:bodyPr/>
          <a:lstStyle/>
          <a:p>
            <a:pPr algn="ctr"/>
            <a:r>
              <a:rPr lang="en-IN" b="1" dirty="0">
                <a:solidFill>
                  <a:schemeClr val="accent4">
                    <a:lumMod val="50000"/>
                  </a:schemeClr>
                </a:solidFill>
              </a:rPr>
              <a:t>Introduction</a:t>
            </a:r>
          </a:p>
        </p:txBody>
      </p:sp>
      <p:sp>
        <p:nvSpPr>
          <p:cNvPr id="3" name="Content Placeholder 2">
            <a:extLst>
              <a:ext uri="{FF2B5EF4-FFF2-40B4-BE49-F238E27FC236}">
                <a16:creationId xmlns:a16="http://schemas.microsoft.com/office/drawing/2014/main" id="{D4AD82D6-5A16-49B3-9913-487C20BA0E70}"/>
              </a:ext>
            </a:extLst>
          </p:cNvPr>
          <p:cNvSpPr>
            <a:spLocks noGrp="1"/>
          </p:cNvSpPr>
          <p:nvPr>
            <p:ph idx="1"/>
          </p:nvPr>
        </p:nvSpPr>
        <p:spPr>
          <a:xfrm>
            <a:off x="1136342" y="941033"/>
            <a:ext cx="10946166" cy="5823751"/>
          </a:xfrm>
        </p:spPr>
        <p:txBody>
          <a:bodyPr>
            <a:normAutofit/>
          </a:bodyPr>
          <a:lstStyle/>
          <a:p>
            <a:pPr eaLnBrk="1" hangingPunct="1">
              <a:buFont typeface="Wingdings" panose="05000000000000000000" pitchFamily="2" charset="2"/>
              <a:buChar char="q"/>
            </a:pPr>
            <a:r>
              <a:rPr lang="en-US" altLang="en-US" sz="2700" dirty="0"/>
              <a:t>These operations enable a user to specify </a:t>
            </a:r>
            <a:r>
              <a:rPr lang="en-US" altLang="en-US" sz="2700" b="1" dirty="0">
                <a:solidFill>
                  <a:srgbClr val="7030A0"/>
                </a:solidFill>
              </a:rPr>
              <a:t>basic retrieval requests</a:t>
            </a:r>
            <a:r>
              <a:rPr lang="en-US" altLang="en-US" sz="2700" dirty="0"/>
              <a:t> (or </a:t>
            </a:r>
            <a:r>
              <a:rPr lang="en-US" altLang="en-US" sz="2700" b="1" dirty="0">
                <a:solidFill>
                  <a:srgbClr val="7030A0"/>
                </a:solidFill>
              </a:rPr>
              <a:t>queries</a:t>
            </a:r>
            <a:r>
              <a:rPr lang="en-US" altLang="en-US" sz="2700" dirty="0"/>
              <a:t>). </a:t>
            </a:r>
          </a:p>
          <a:p>
            <a:pPr eaLnBrk="1" hangingPunct="1">
              <a:buFont typeface="Wingdings" panose="05000000000000000000" pitchFamily="2" charset="2"/>
              <a:buChar char="q"/>
            </a:pPr>
            <a:r>
              <a:rPr lang="en-US" altLang="en-US" dirty="0"/>
              <a:t>Result of an operation is a </a:t>
            </a:r>
            <a:r>
              <a:rPr lang="en-US" altLang="en-US" i="1" dirty="0"/>
              <a:t>new relation</a:t>
            </a:r>
            <a:r>
              <a:rPr lang="en-US" altLang="en-US" dirty="0"/>
              <a:t>, which may have been formed from one or more </a:t>
            </a:r>
            <a:r>
              <a:rPr lang="en-US" altLang="en-US" i="1" dirty="0"/>
              <a:t>input</a:t>
            </a:r>
            <a:r>
              <a:rPr lang="en-US" altLang="en-US" dirty="0"/>
              <a:t> relations.</a:t>
            </a:r>
          </a:p>
          <a:p>
            <a:pPr lvl="1" eaLnBrk="1" hangingPunct="1">
              <a:buFont typeface="Wingdings" panose="05000000000000000000" pitchFamily="2" charset="2"/>
              <a:buChar char="§"/>
            </a:pPr>
            <a:r>
              <a:rPr lang="en-US" altLang="en-US" dirty="0"/>
              <a:t>This property makes the algebra “closed” (all objects in relational algebra are relations).</a:t>
            </a:r>
          </a:p>
          <a:p>
            <a:pPr>
              <a:buFont typeface="Wingdings" panose="05000000000000000000" pitchFamily="2" charset="2"/>
              <a:buChar char="q"/>
            </a:pPr>
            <a:endParaRPr lang="en-US" altLang="en-US" i="1" dirty="0">
              <a:sym typeface="Symbol" panose="05050102010706020507" pitchFamily="18" charset="2"/>
            </a:endParaRPr>
          </a:p>
          <a:p>
            <a:pPr>
              <a:buFont typeface="Wingdings" panose="05000000000000000000" pitchFamily="2" charset="2"/>
              <a:buChar char="q"/>
            </a:pPr>
            <a:endParaRPr lang="en-IN" dirty="0"/>
          </a:p>
        </p:txBody>
      </p:sp>
    </p:spTree>
    <p:extLst>
      <p:ext uri="{BB962C8B-B14F-4D97-AF65-F5344CB8AC3E}">
        <p14:creationId xmlns:p14="http://schemas.microsoft.com/office/powerpoint/2010/main" val="1566767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BC4DB-EFD8-4006-8DFA-268DC91203B5}"/>
              </a:ext>
            </a:extLst>
          </p:cNvPr>
          <p:cNvSpPr>
            <a:spLocks noGrp="1"/>
          </p:cNvSpPr>
          <p:nvPr>
            <p:ph type="title"/>
          </p:nvPr>
        </p:nvSpPr>
        <p:spPr>
          <a:xfrm>
            <a:off x="838200" y="27769"/>
            <a:ext cx="10515600" cy="1002041"/>
          </a:xfrm>
        </p:spPr>
        <p:txBody>
          <a:bodyPr/>
          <a:lstStyle/>
          <a:p>
            <a:pPr algn="ctr"/>
            <a:r>
              <a:rPr lang="en-IN" b="1" dirty="0">
                <a:solidFill>
                  <a:schemeClr val="accent4">
                    <a:lumMod val="50000"/>
                  </a:schemeClr>
                </a:solidFill>
              </a:rPr>
              <a:t>1. Select Operation</a:t>
            </a:r>
          </a:p>
        </p:txBody>
      </p:sp>
      <p:sp>
        <p:nvSpPr>
          <p:cNvPr id="3" name="Content Placeholder 2">
            <a:extLst>
              <a:ext uri="{FF2B5EF4-FFF2-40B4-BE49-F238E27FC236}">
                <a16:creationId xmlns:a16="http://schemas.microsoft.com/office/drawing/2014/main" id="{F24A469E-BFF9-4473-85C1-62FD3BC2B085}"/>
              </a:ext>
            </a:extLst>
          </p:cNvPr>
          <p:cNvSpPr>
            <a:spLocks noGrp="1"/>
          </p:cNvSpPr>
          <p:nvPr>
            <p:ph idx="1"/>
          </p:nvPr>
        </p:nvSpPr>
        <p:spPr>
          <a:xfrm>
            <a:off x="1287262" y="923278"/>
            <a:ext cx="10804124" cy="2201662"/>
          </a:xfrm>
        </p:spPr>
        <p:txBody>
          <a:bodyPr>
            <a:normAutofit fontScale="70000" lnSpcReduction="20000"/>
          </a:bodyPr>
          <a:lstStyle/>
          <a:p>
            <a:pPr>
              <a:lnSpc>
                <a:spcPct val="120000"/>
              </a:lnSpc>
              <a:buFont typeface="Wingdings" panose="05000000000000000000" pitchFamily="2" charset="2"/>
              <a:buChar char="q"/>
              <a:tabLst>
                <a:tab pos="1658938" algn="l"/>
                <a:tab pos="3149600" algn="ctr"/>
                <a:tab pos="3425825" algn="l"/>
              </a:tabLst>
            </a:pPr>
            <a:r>
              <a:rPr lang="en-US" altLang="en-US" sz="2800" b="1" dirty="0">
                <a:solidFill>
                  <a:srgbClr val="002060"/>
                </a:solidFill>
              </a:rPr>
              <a:t>select</a:t>
            </a:r>
            <a:r>
              <a:rPr lang="en-US" altLang="en-US" sz="2800" dirty="0"/>
              <a:t> operation selects tuples that satisfy a given predicate.</a:t>
            </a:r>
          </a:p>
          <a:p>
            <a:pPr>
              <a:lnSpc>
                <a:spcPct val="120000"/>
              </a:lnSpc>
              <a:buFont typeface="Wingdings" panose="05000000000000000000" pitchFamily="2" charset="2"/>
              <a:buChar char="q"/>
              <a:tabLst>
                <a:tab pos="1658938" algn="l"/>
                <a:tab pos="3149600" algn="ctr"/>
                <a:tab pos="3425825" algn="l"/>
              </a:tabLst>
            </a:pPr>
            <a:r>
              <a:rPr lang="en-US" altLang="en-US" sz="2800" dirty="0"/>
              <a:t>Notation: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a:sym typeface="Symbol" panose="05050102010706020507" pitchFamily="18" charset="2"/>
              </a:rPr>
              <a:t>p </a:t>
            </a:r>
            <a:r>
              <a:rPr lang="en-US" altLang="en-US" sz="2800" dirty="0">
                <a:sym typeface="Symbol" panose="05050102010706020507" pitchFamily="18" charset="2"/>
              </a:rPr>
              <a:t>(</a:t>
            </a:r>
            <a:r>
              <a:rPr lang="en-US" altLang="en-US" sz="2800" i="1" dirty="0">
                <a:sym typeface="Symbol" panose="05050102010706020507" pitchFamily="18" charset="2"/>
              </a:rPr>
              <a:t>r</a:t>
            </a:r>
            <a:r>
              <a:rPr lang="en-US" altLang="en-US" sz="2800" dirty="0">
                <a:sym typeface="Symbol" panose="05050102010706020507" pitchFamily="18" charset="2"/>
              </a:rPr>
              <a:t>)</a:t>
            </a:r>
          </a:p>
          <a:p>
            <a:pPr>
              <a:lnSpc>
                <a:spcPct val="120000"/>
              </a:lnSpc>
              <a:buFont typeface="Wingdings" panose="05000000000000000000" pitchFamily="2" charset="2"/>
              <a:buChar char="q"/>
              <a:tabLst>
                <a:tab pos="1658938" algn="l"/>
                <a:tab pos="3149600" algn="ctr"/>
                <a:tab pos="3425825" algn="l"/>
              </a:tabLst>
            </a:pPr>
            <a:r>
              <a:rPr lang="en-US" altLang="en-US" sz="2800" i="1" dirty="0">
                <a:sym typeface="Symbol" panose="05050102010706020507" pitchFamily="18" charset="2"/>
              </a:rPr>
              <a:t>p</a:t>
            </a:r>
            <a:r>
              <a:rPr lang="en-US" altLang="en-US" sz="2800" dirty="0">
                <a:sym typeface="Symbol" panose="05050102010706020507" pitchFamily="18" charset="2"/>
              </a:rPr>
              <a:t> is called </a:t>
            </a:r>
            <a:r>
              <a:rPr lang="en-US" altLang="en-US" sz="2800" b="1" dirty="0">
                <a:solidFill>
                  <a:srgbClr val="002060"/>
                </a:solidFill>
                <a:sym typeface="Symbol" panose="05050102010706020507" pitchFamily="18" charset="2"/>
              </a:rPr>
              <a:t>selection predicate </a:t>
            </a:r>
            <a:r>
              <a:rPr lang="en-US" altLang="en-US" sz="2800" dirty="0">
                <a:solidFill>
                  <a:srgbClr val="002060"/>
                </a:solidFill>
                <a:sym typeface="Symbol" panose="05050102010706020507" pitchFamily="18" charset="2"/>
              </a:rPr>
              <a:t>(i.e. condition)</a:t>
            </a:r>
            <a:r>
              <a:rPr lang="en-US" altLang="en-US" sz="2800" dirty="0">
                <a:sym typeface="Symbol" panose="05050102010706020507" pitchFamily="18" charset="2"/>
              </a:rPr>
              <a:t>.</a:t>
            </a:r>
          </a:p>
          <a:p>
            <a:pPr>
              <a:lnSpc>
                <a:spcPct val="120000"/>
              </a:lnSpc>
              <a:buFont typeface="Wingdings" panose="05000000000000000000" pitchFamily="2" charset="2"/>
              <a:buChar char="q"/>
              <a:tabLst>
                <a:tab pos="1658938" algn="l"/>
                <a:tab pos="3149600" algn="ctr"/>
                <a:tab pos="3425825" algn="l"/>
              </a:tabLst>
            </a:pPr>
            <a:r>
              <a:rPr lang="en-US" altLang="en-US" b="1" dirty="0">
                <a:sym typeface="Symbol" panose="05050102010706020507" pitchFamily="18" charset="2"/>
              </a:rPr>
              <a:t>Example 1:</a:t>
            </a:r>
          </a:p>
          <a:p>
            <a:pPr marL="0" indent="0">
              <a:lnSpc>
                <a:spcPct val="120000"/>
              </a:lnSpc>
              <a:buNone/>
              <a:tabLst>
                <a:tab pos="1658938" algn="l"/>
                <a:tab pos="3149600" algn="ctr"/>
                <a:tab pos="3425825" algn="l"/>
              </a:tabLst>
            </a:pPr>
            <a:r>
              <a:rPr lang="en-US" altLang="en-US" sz="2800" b="1" dirty="0">
                <a:sym typeface="Symbol" panose="05050102010706020507" pitchFamily="18" charset="2"/>
              </a:rPr>
              <a:t>                                                       </a:t>
            </a:r>
          </a:p>
          <a:p>
            <a:pPr>
              <a:lnSpc>
                <a:spcPct val="120000"/>
              </a:lnSpc>
              <a:buFont typeface="Wingdings" panose="05000000000000000000" pitchFamily="2" charset="2"/>
              <a:buChar char="q"/>
              <a:tabLst>
                <a:tab pos="1658938" algn="l"/>
                <a:tab pos="3149600" algn="ctr"/>
                <a:tab pos="3425825" algn="l"/>
              </a:tabLst>
            </a:pPr>
            <a:endParaRPr lang="en-US" altLang="en-US" sz="2800" b="1" dirty="0">
              <a:solidFill>
                <a:srgbClr val="002060"/>
              </a:solidFill>
              <a:sym typeface="Symbol" panose="05050102010706020507" pitchFamily="18" charset="2"/>
            </a:endParaRPr>
          </a:p>
          <a:p>
            <a:pPr>
              <a:lnSpc>
                <a:spcPct val="120000"/>
              </a:lnSpc>
            </a:pPr>
            <a:endParaRPr lang="en-IN" dirty="0"/>
          </a:p>
        </p:txBody>
      </p:sp>
      <p:pic>
        <p:nvPicPr>
          <p:cNvPr id="4" name="Graphic 3">
            <a:extLst>
              <a:ext uri="{FF2B5EF4-FFF2-40B4-BE49-F238E27FC236}">
                <a16:creationId xmlns:a16="http://schemas.microsoft.com/office/drawing/2014/main" id="{31815E8F-C245-4825-BAFF-58685409E36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 b="12197"/>
          <a:stretch/>
        </p:blipFill>
        <p:spPr>
          <a:xfrm>
            <a:off x="1382024" y="3045041"/>
            <a:ext cx="4164978" cy="3288932"/>
          </a:xfrm>
          <a:prstGeom prst="rect">
            <a:avLst/>
          </a:prstGeom>
        </p:spPr>
      </p:pic>
      <p:sp>
        <p:nvSpPr>
          <p:cNvPr id="6" name="TextBox 5">
            <a:extLst>
              <a:ext uri="{FF2B5EF4-FFF2-40B4-BE49-F238E27FC236}">
                <a16:creationId xmlns:a16="http://schemas.microsoft.com/office/drawing/2014/main" id="{64227FD5-DA15-4C56-95FD-FD5AE84E24D7}"/>
              </a:ext>
            </a:extLst>
          </p:cNvPr>
          <p:cNvSpPr txBox="1"/>
          <p:nvPr/>
        </p:nvSpPr>
        <p:spPr>
          <a:xfrm>
            <a:off x="2499742" y="6238329"/>
            <a:ext cx="1885827" cy="369332"/>
          </a:xfrm>
          <a:prstGeom prst="rect">
            <a:avLst/>
          </a:prstGeom>
          <a:noFill/>
        </p:spPr>
        <p:txBody>
          <a:bodyPr wrap="square">
            <a:spAutoFit/>
          </a:bodyPr>
          <a:lstStyle/>
          <a:p>
            <a:r>
              <a:rPr lang="en-IN" sz="1800" b="0" i="1" u="none" strike="noStrike" baseline="0" dirty="0">
                <a:latin typeface="NimbusRomDOT-RegIta"/>
              </a:rPr>
              <a:t>instructor </a:t>
            </a:r>
            <a:r>
              <a:rPr lang="en-IN" sz="1800" b="0" i="0" u="none" strike="noStrike" baseline="0" dirty="0">
                <a:latin typeface="NimbusRomDOT-Reg"/>
              </a:rPr>
              <a:t>relation</a:t>
            </a:r>
            <a:endParaRPr lang="en-IN" dirty="0"/>
          </a:p>
        </p:txBody>
      </p:sp>
      <p:sp>
        <p:nvSpPr>
          <p:cNvPr id="8" name="TextBox 7">
            <a:extLst>
              <a:ext uri="{FF2B5EF4-FFF2-40B4-BE49-F238E27FC236}">
                <a16:creationId xmlns:a16="http://schemas.microsoft.com/office/drawing/2014/main" id="{B36941DB-CC73-4268-91B7-9EF3674508BB}"/>
              </a:ext>
            </a:extLst>
          </p:cNvPr>
          <p:cNvSpPr txBox="1"/>
          <p:nvPr/>
        </p:nvSpPr>
        <p:spPr>
          <a:xfrm>
            <a:off x="5641763" y="2966012"/>
            <a:ext cx="6378601" cy="646331"/>
          </a:xfrm>
          <a:prstGeom prst="rect">
            <a:avLst/>
          </a:prstGeom>
          <a:noFill/>
        </p:spPr>
        <p:txBody>
          <a:bodyPr wrap="square">
            <a:spAutoFit/>
          </a:bodyPr>
          <a:lstStyle/>
          <a:p>
            <a:r>
              <a:rPr lang="en-US" altLang="en-US" sz="1800" dirty="0">
                <a:sym typeface="Symbol" panose="05050102010706020507" pitchFamily="18" charset="2"/>
              </a:rPr>
              <a:t>Select those tuples of </a:t>
            </a:r>
            <a:r>
              <a:rPr lang="en-US" altLang="en-US" sz="1800" i="1" dirty="0">
                <a:sym typeface="Symbol" panose="05050102010706020507" pitchFamily="18" charset="2"/>
              </a:rPr>
              <a:t>instructor</a:t>
            </a:r>
            <a:r>
              <a:rPr lang="en-US" altLang="en-US" sz="1800" dirty="0">
                <a:sym typeface="Symbol" panose="05050102010706020507" pitchFamily="18" charset="2"/>
              </a:rPr>
              <a:t>  relation where instructor is in  “Physics” department</a:t>
            </a:r>
            <a:endParaRPr lang="en-IN" dirty="0"/>
          </a:p>
        </p:txBody>
      </p:sp>
      <p:sp>
        <p:nvSpPr>
          <p:cNvPr id="10" name="TextBox 9">
            <a:extLst>
              <a:ext uri="{FF2B5EF4-FFF2-40B4-BE49-F238E27FC236}">
                <a16:creationId xmlns:a16="http://schemas.microsoft.com/office/drawing/2014/main" id="{FAFEE7CB-7F56-4601-A128-A9B39F84190B}"/>
              </a:ext>
            </a:extLst>
          </p:cNvPr>
          <p:cNvSpPr txBox="1"/>
          <p:nvPr/>
        </p:nvSpPr>
        <p:spPr>
          <a:xfrm>
            <a:off x="5996866" y="3928471"/>
            <a:ext cx="6094520" cy="1740476"/>
          </a:xfrm>
          <a:prstGeom prst="rect">
            <a:avLst/>
          </a:prstGeom>
          <a:noFill/>
        </p:spPr>
        <p:txBody>
          <a:bodyPr wrap="square">
            <a:spAutoFit/>
          </a:bodyPr>
          <a:lstStyle/>
          <a:p>
            <a:pPr lvl="1">
              <a:lnSpc>
                <a:spcPct val="90000"/>
              </a:lnSpc>
              <a:tabLst>
                <a:tab pos="1658938" algn="l"/>
                <a:tab pos="3149600" algn="ctr"/>
                <a:tab pos="3425825" algn="l"/>
              </a:tabLst>
            </a:pPr>
            <a:r>
              <a:rPr lang="en-US" altLang="en-US" sz="1800" dirty="0">
                <a:sym typeface="Symbol" panose="05050102010706020507" pitchFamily="18" charset="2"/>
              </a:rPr>
              <a:t>Query</a:t>
            </a:r>
          </a:p>
          <a:p>
            <a:pPr marL="457200" lvl="1" indent="0">
              <a:lnSpc>
                <a:spcPct val="90000"/>
              </a:lnSpc>
              <a:buNone/>
              <a:tabLst>
                <a:tab pos="1658938" algn="l"/>
                <a:tab pos="3149600" algn="ctr"/>
                <a:tab pos="3425825" algn="l"/>
              </a:tabLst>
            </a:pPr>
            <a:r>
              <a:rPr lang="en-US" altLang="en-US" sz="900" dirty="0">
                <a:sym typeface="Symbol" panose="05050102010706020507" pitchFamily="18" charset="2"/>
              </a:rPr>
              <a:t> </a:t>
            </a:r>
            <a:br>
              <a:rPr lang="en-US" altLang="en-US" sz="1800" dirty="0">
                <a:sym typeface="Symbol" panose="05050102010706020507" pitchFamily="18" charset="2"/>
              </a:rPr>
            </a:br>
            <a:r>
              <a:rPr lang="en-US" altLang="en-US" sz="18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 </a:t>
            </a:r>
            <a:r>
              <a:rPr lang="en-US" altLang="en-US" sz="2000" i="1" baseline="-25000" dirty="0" err="1">
                <a:sym typeface="Symbol" panose="05050102010706020507" pitchFamily="18" charset="2"/>
              </a:rPr>
              <a:t>dept_name</a:t>
            </a:r>
            <a:r>
              <a:rPr lang="en-US" altLang="en-US" sz="2000" i="1" baseline="-25000" dirty="0">
                <a:sym typeface="Symbol" panose="05050102010706020507" pitchFamily="18" charset="2"/>
              </a:rPr>
              <a:t>=</a:t>
            </a:r>
            <a:r>
              <a:rPr lang="ja-JP" altLang="en-US" sz="2000" i="1" baseline="-25000" dirty="0">
                <a:sym typeface="Symbol" panose="05050102010706020507" pitchFamily="18" charset="2"/>
              </a:rPr>
              <a:t>“</a:t>
            </a:r>
            <a:r>
              <a:rPr lang="en-US" altLang="ja-JP" sz="2000" i="1" baseline="-25000" dirty="0">
                <a:sym typeface="Symbol" panose="05050102010706020507" pitchFamily="18" charset="2"/>
              </a:rPr>
              <a:t>Physics” </a:t>
            </a:r>
            <a:r>
              <a:rPr lang="en-US" altLang="ja-JP" sz="1800" dirty="0">
                <a:sym typeface="Symbol" panose="05050102010706020507" pitchFamily="18" charset="2"/>
              </a:rPr>
              <a:t>(</a:t>
            </a:r>
            <a:r>
              <a:rPr lang="en-US" altLang="ja-JP" sz="1800" i="1" dirty="0">
                <a:sym typeface="Symbol" panose="05050102010706020507" pitchFamily="18" charset="2"/>
              </a:rPr>
              <a:t>instructor</a:t>
            </a:r>
            <a:r>
              <a:rPr lang="en-US" altLang="ja-JP" sz="1800" dirty="0">
                <a:sym typeface="Symbol" panose="05050102010706020507" pitchFamily="18" charset="2"/>
              </a:rPr>
              <a:t>)</a:t>
            </a:r>
          </a:p>
          <a:p>
            <a:pPr marL="457200" lvl="1" indent="0">
              <a:lnSpc>
                <a:spcPct val="90000"/>
              </a:lnSpc>
              <a:buNone/>
              <a:tabLst>
                <a:tab pos="1658938" algn="l"/>
                <a:tab pos="3149600" algn="ctr"/>
                <a:tab pos="3425825" algn="l"/>
              </a:tabLst>
            </a:pPr>
            <a:endParaRPr lang="en-US" altLang="ja-JP" dirty="0">
              <a:sym typeface="Symbol" panose="05050102010706020507" pitchFamily="18" charset="2"/>
            </a:endParaRPr>
          </a:p>
          <a:p>
            <a:pPr marL="457200" lvl="1" indent="0">
              <a:lnSpc>
                <a:spcPct val="90000"/>
              </a:lnSpc>
              <a:buNone/>
              <a:tabLst>
                <a:tab pos="1658938" algn="l"/>
                <a:tab pos="3149600" algn="ctr"/>
                <a:tab pos="3425825" algn="l"/>
              </a:tabLst>
            </a:pPr>
            <a:endParaRPr lang="en-US" altLang="ja-JP" sz="1800" dirty="0">
              <a:sym typeface="Symbol" panose="05050102010706020507" pitchFamily="18" charset="2"/>
            </a:endParaRPr>
          </a:p>
          <a:p>
            <a:pPr marL="457200" lvl="1" indent="0">
              <a:lnSpc>
                <a:spcPct val="90000"/>
              </a:lnSpc>
              <a:buNone/>
              <a:tabLst>
                <a:tab pos="1658938" algn="l"/>
                <a:tab pos="3149600" algn="ctr"/>
                <a:tab pos="3425825" algn="l"/>
              </a:tabLst>
            </a:pPr>
            <a:r>
              <a:rPr lang="en-US" altLang="ja-JP" sz="1800" dirty="0">
                <a:sym typeface="Symbol" panose="05050102010706020507" pitchFamily="18" charset="2"/>
              </a:rPr>
              <a:t>Result</a:t>
            </a:r>
          </a:p>
          <a:p>
            <a:pPr marL="457200" lvl="1" indent="0">
              <a:lnSpc>
                <a:spcPct val="90000"/>
              </a:lnSpc>
              <a:buNone/>
              <a:tabLst>
                <a:tab pos="1658938" algn="l"/>
                <a:tab pos="3149600" algn="ctr"/>
                <a:tab pos="3425825" algn="l"/>
              </a:tabLst>
            </a:pPr>
            <a:endParaRPr lang="en-US" altLang="ja-JP" sz="1800" dirty="0">
              <a:sym typeface="Symbol" panose="05050102010706020507" pitchFamily="18" charset="2"/>
            </a:endParaRPr>
          </a:p>
        </p:txBody>
      </p:sp>
      <p:pic>
        <p:nvPicPr>
          <p:cNvPr id="11" name="Graphic 10">
            <a:extLst>
              <a:ext uri="{FF2B5EF4-FFF2-40B4-BE49-F238E27FC236}">
                <a16:creationId xmlns:a16="http://schemas.microsoft.com/office/drawing/2014/main" id="{200AC496-FE6D-4CEE-A380-AC29AD034C2F}"/>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b="31858"/>
          <a:stretch/>
        </p:blipFill>
        <p:spPr>
          <a:xfrm>
            <a:off x="6664720" y="5548545"/>
            <a:ext cx="4932139" cy="1223136"/>
          </a:xfrm>
          <a:prstGeom prst="rect">
            <a:avLst/>
          </a:prstGeom>
        </p:spPr>
      </p:pic>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ECB95745-55C0-036A-91F6-2AEE31B3B8E9}"/>
                  </a:ext>
                </a:extLst>
              </p14:cNvPr>
              <p14:cNvContentPartPr/>
              <p14:nvPr/>
            </p14:nvContentPartPr>
            <p14:xfrm>
              <a:off x="5220720" y="3632400"/>
              <a:ext cx="600840" cy="2493360"/>
            </p14:xfrm>
          </p:contentPart>
        </mc:Choice>
        <mc:Fallback xmlns="">
          <p:pic>
            <p:nvPicPr>
              <p:cNvPr id="5" name="Ink 4">
                <a:extLst>
                  <a:ext uri="{FF2B5EF4-FFF2-40B4-BE49-F238E27FC236}">
                    <a16:creationId xmlns:a16="http://schemas.microsoft.com/office/drawing/2014/main" id="{ECB95745-55C0-036A-91F6-2AEE31B3B8E9}"/>
                  </a:ext>
                </a:extLst>
              </p:cNvPr>
              <p:cNvPicPr/>
              <p:nvPr/>
            </p:nvPicPr>
            <p:blipFill>
              <a:blip r:embed="rId7"/>
              <a:stretch>
                <a:fillRect/>
              </a:stretch>
            </p:blipFill>
            <p:spPr>
              <a:xfrm>
                <a:off x="5211360" y="3623040"/>
                <a:ext cx="619560" cy="2512080"/>
              </a:xfrm>
              <a:prstGeom prst="rect">
                <a:avLst/>
              </a:prstGeom>
            </p:spPr>
          </p:pic>
        </mc:Fallback>
      </mc:AlternateContent>
    </p:spTree>
    <p:extLst>
      <p:ext uri="{BB962C8B-B14F-4D97-AF65-F5344CB8AC3E}">
        <p14:creationId xmlns:p14="http://schemas.microsoft.com/office/powerpoint/2010/main" val="2733926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9D5AD9-7E3A-4FB4-ABBA-26E71D708442}"/>
              </a:ext>
            </a:extLst>
          </p:cNvPr>
          <p:cNvSpPr>
            <a:spLocks noGrp="1"/>
          </p:cNvSpPr>
          <p:nvPr>
            <p:ph idx="1"/>
          </p:nvPr>
        </p:nvSpPr>
        <p:spPr>
          <a:xfrm>
            <a:off x="1145218" y="790113"/>
            <a:ext cx="10910657" cy="5974672"/>
          </a:xfrm>
        </p:spPr>
        <p:txBody>
          <a:bodyPr>
            <a:noAutofit/>
          </a:bodyPr>
          <a:lstStyle/>
          <a:p>
            <a:pPr>
              <a:lnSpc>
                <a:spcPct val="90000"/>
              </a:lnSpc>
              <a:buFont typeface="Wingdings" panose="05000000000000000000" pitchFamily="2" charset="2"/>
              <a:buChar char="q"/>
              <a:tabLst>
                <a:tab pos="1658938" algn="l"/>
                <a:tab pos="3149600" algn="ctr"/>
                <a:tab pos="3425825" algn="l"/>
              </a:tabLst>
            </a:pPr>
            <a:r>
              <a:rPr lang="en-US" altLang="en-US" dirty="0">
                <a:sym typeface="Symbol" panose="05050102010706020507" pitchFamily="18" charset="2"/>
              </a:rPr>
              <a:t>We allow </a:t>
            </a:r>
            <a:r>
              <a:rPr lang="en-US" altLang="en-US" b="1" dirty="0">
                <a:sym typeface="Symbol" panose="05050102010706020507" pitchFamily="18" charset="2"/>
              </a:rPr>
              <a:t>comparisons</a:t>
            </a:r>
            <a:r>
              <a:rPr lang="en-US" altLang="en-US" dirty="0">
                <a:sym typeface="Symbol" panose="05050102010706020507" pitchFamily="18" charset="2"/>
              </a:rPr>
              <a:t> using </a:t>
            </a:r>
          </a:p>
          <a:p>
            <a:pPr>
              <a:lnSpc>
                <a:spcPct val="90000"/>
              </a:lnSpc>
              <a:buNone/>
              <a:tabLst>
                <a:tab pos="1658938" algn="l"/>
                <a:tab pos="3149600" algn="ctr"/>
                <a:tab pos="3425825" algn="l"/>
              </a:tabLst>
            </a:pPr>
            <a:r>
              <a:rPr lang="en-US" altLang="en-US" dirty="0">
                <a:sym typeface="Symbol" panose="05050102010706020507" pitchFamily="18" charset="2"/>
              </a:rPr>
              <a:t>                     =, , &gt;, . &lt;. </a:t>
            </a:r>
          </a:p>
          <a:p>
            <a:pPr>
              <a:lnSpc>
                <a:spcPct val="90000"/>
              </a:lnSpc>
              <a:buNone/>
              <a:tabLst>
                <a:tab pos="1658938" algn="l"/>
                <a:tab pos="3149600" algn="ctr"/>
                <a:tab pos="3425825" algn="l"/>
              </a:tabLst>
            </a:pPr>
            <a:r>
              <a:rPr lang="en-US" altLang="en-US" dirty="0">
                <a:sym typeface="Symbol" panose="05050102010706020507" pitchFamily="18" charset="2"/>
              </a:rPr>
              <a:t>       in the selection predicate. </a:t>
            </a:r>
          </a:p>
          <a:p>
            <a:pPr>
              <a:lnSpc>
                <a:spcPct val="90000"/>
              </a:lnSpc>
              <a:buFont typeface="Wingdings" panose="05000000000000000000" pitchFamily="2" charset="2"/>
              <a:buChar char="q"/>
              <a:tabLst>
                <a:tab pos="1658938" algn="l"/>
                <a:tab pos="3149600" algn="ctr"/>
                <a:tab pos="3425825" algn="l"/>
              </a:tabLst>
            </a:pPr>
            <a:r>
              <a:rPr lang="en-US" altLang="en-US" dirty="0">
                <a:sym typeface="Symbol" panose="05050102010706020507" pitchFamily="18" charset="2"/>
              </a:rPr>
              <a:t>We can combine several predicates into a larger predicate by using </a:t>
            </a:r>
            <a:r>
              <a:rPr lang="en-US" altLang="en-US" b="1" dirty="0">
                <a:sym typeface="Symbol" panose="05050102010706020507" pitchFamily="18" charset="2"/>
              </a:rPr>
              <a:t>connectives</a:t>
            </a:r>
            <a:r>
              <a:rPr lang="en-US" altLang="en-US" dirty="0">
                <a:sym typeface="Symbol" panose="05050102010706020507" pitchFamily="18" charset="2"/>
              </a:rPr>
              <a:t>:</a:t>
            </a:r>
          </a:p>
          <a:p>
            <a:pPr>
              <a:lnSpc>
                <a:spcPct val="90000"/>
              </a:lnSpc>
              <a:buNone/>
              <a:tabLst>
                <a:tab pos="1658938" algn="l"/>
                <a:tab pos="3149600" algn="ctr"/>
                <a:tab pos="3425825" algn="l"/>
              </a:tabLst>
            </a:pPr>
            <a:r>
              <a:rPr lang="en-US" altLang="en-US" dirty="0">
                <a:sym typeface="Symbol" panose="05050102010706020507" pitchFamily="18" charset="2"/>
              </a:rPr>
              <a:t>                    (</a:t>
            </a:r>
            <a:r>
              <a:rPr lang="en-US" altLang="en-US" b="1" dirty="0">
                <a:sym typeface="Symbol" panose="05050102010706020507" pitchFamily="18" charset="2"/>
              </a:rPr>
              <a:t>and</a:t>
            </a:r>
            <a:r>
              <a:rPr lang="en-US" altLang="en-US" dirty="0">
                <a:sym typeface="Symbol" panose="05050102010706020507" pitchFamily="18" charset="2"/>
              </a:rPr>
              <a:t>),  (</a:t>
            </a:r>
            <a:r>
              <a:rPr lang="en-US" altLang="en-US" b="1" dirty="0">
                <a:sym typeface="Symbol" panose="05050102010706020507" pitchFamily="18" charset="2"/>
              </a:rPr>
              <a:t>or</a:t>
            </a:r>
            <a:r>
              <a:rPr lang="en-US" altLang="en-US" dirty="0">
                <a:sym typeface="Symbol" panose="05050102010706020507" pitchFamily="18" charset="2"/>
              </a:rPr>
              <a:t>),  (</a:t>
            </a:r>
            <a:r>
              <a:rPr lang="en-US" altLang="en-US" b="1" dirty="0">
                <a:sym typeface="Symbol" panose="05050102010706020507" pitchFamily="18" charset="2"/>
              </a:rPr>
              <a:t>not</a:t>
            </a:r>
            <a:r>
              <a:rPr lang="en-US" altLang="en-US" dirty="0">
                <a:sym typeface="Symbol" panose="05050102010706020507" pitchFamily="18" charset="2"/>
              </a:rPr>
              <a:t>)</a:t>
            </a:r>
          </a:p>
          <a:p>
            <a:pPr>
              <a:lnSpc>
                <a:spcPct val="90000"/>
              </a:lnSpc>
              <a:buNone/>
              <a:tabLst>
                <a:tab pos="1658938" algn="l"/>
                <a:tab pos="3149600" algn="ctr"/>
                <a:tab pos="3425825" algn="l"/>
              </a:tabLst>
            </a:pPr>
            <a:endParaRPr lang="en-US" altLang="en-US" dirty="0">
              <a:sym typeface="Symbol" panose="05050102010706020507" pitchFamily="18" charset="2"/>
            </a:endParaRPr>
          </a:p>
          <a:p>
            <a:pPr>
              <a:lnSpc>
                <a:spcPct val="90000"/>
              </a:lnSpc>
              <a:buFont typeface="Wingdings" panose="05000000000000000000" pitchFamily="2" charset="2"/>
              <a:buChar char="q"/>
              <a:tabLst>
                <a:tab pos="1658938" algn="l"/>
                <a:tab pos="3149600" algn="ctr"/>
                <a:tab pos="3425825" algn="l"/>
              </a:tabLst>
            </a:pPr>
            <a:r>
              <a:rPr lang="en-US" altLang="en-US" u="sng" dirty="0">
                <a:sym typeface="Symbol" panose="05050102010706020507" pitchFamily="18" charset="2"/>
              </a:rPr>
              <a:t>Example 2</a:t>
            </a:r>
            <a:r>
              <a:rPr lang="en-US" altLang="en-US" dirty="0">
                <a:sym typeface="Symbol" panose="05050102010706020507" pitchFamily="18" charset="2"/>
              </a:rPr>
              <a:t>: Find the instructors in Physics with a salary greater $90,000, we write:</a:t>
            </a:r>
          </a:p>
          <a:p>
            <a:pPr marL="0" indent="0">
              <a:lnSpc>
                <a:spcPct val="90000"/>
              </a:lnSpc>
              <a:buNone/>
              <a:tabLst>
                <a:tab pos="1658938" algn="l"/>
                <a:tab pos="3149600" algn="ctr"/>
                <a:tab pos="3425825" algn="l"/>
              </a:tabLst>
            </a:pPr>
            <a:r>
              <a:rPr lang="en-US" altLang="en-US" dirty="0">
                <a:sym typeface="Symbol" panose="05050102010706020507" pitchFamily="18" charset="2"/>
              </a:rPr>
              <a:t>           </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err="1">
                <a:sym typeface="Symbol" panose="05050102010706020507" pitchFamily="18" charset="2"/>
              </a:rPr>
              <a:t>dept_name</a:t>
            </a:r>
            <a:r>
              <a:rPr lang="en-US" altLang="en-US" i="1" baseline="-25000" dirty="0">
                <a:sym typeface="Symbol" panose="05050102010706020507" pitchFamily="18" charset="2"/>
              </a:rPr>
              <a:t>=</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 </a:t>
            </a:r>
            <a:r>
              <a:rPr lang="en-US" altLang="en-US" dirty="0">
                <a:sym typeface="Symbol" panose="05050102010706020507" pitchFamily="18" charset="2"/>
              </a:rPr>
              <a:t></a:t>
            </a:r>
            <a:r>
              <a:rPr lang="ja-JP" altLang="en-US" i="1" baseline="-25000" dirty="0">
                <a:sym typeface="Symbol" panose="05050102010706020507" pitchFamily="18" charset="2"/>
              </a:rPr>
              <a:t> </a:t>
            </a:r>
            <a:r>
              <a:rPr lang="en-US" altLang="ja-JP" i="1" baseline="-25000" dirty="0">
                <a:sym typeface="Symbol" panose="05050102010706020507" pitchFamily="18" charset="2"/>
              </a:rPr>
              <a:t>salary &gt;</a:t>
            </a:r>
            <a:r>
              <a:rPr lang="en-US" altLang="ja-JP" i="1" dirty="0">
                <a:sym typeface="Symbol" panose="05050102010706020507" pitchFamily="18" charset="2"/>
              </a:rPr>
              <a:t> </a:t>
            </a:r>
            <a:r>
              <a:rPr lang="en-US" altLang="ja-JP" i="1" baseline="-25000" dirty="0">
                <a:sym typeface="Symbol" panose="05050102010706020507" pitchFamily="18" charset="2"/>
              </a:rPr>
              <a:t>90,000</a:t>
            </a:r>
            <a:r>
              <a:rPr lang="en-US" altLang="ja-JP" i="1" dirty="0">
                <a:sym typeface="Symbol" panose="05050102010706020507" pitchFamily="18" charset="2"/>
              </a:rPr>
              <a:t> </a:t>
            </a:r>
            <a:r>
              <a:rPr lang="en-US" altLang="ja-JP" dirty="0">
                <a:sym typeface="Symbol" panose="05050102010706020507" pitchFamily="18" charset="2"/>
              </a:rPr>
              <a:t>(</a:t>
            </a:r>
            <a:r>
              <a:rPr lang="en-US" altLang="ja-JP" i="1" dirty="0">
                <a:sym typeface="Symbol" panose="05050102010706020507" pitchFamily="18" charset="2"/>
              </a:rPr>
              <a:t>instructor</a:t>
            </a:r>
            <a:r>
              <a:rPr lang="en-US" altLang="ja-JP" dirty="0">
                <a:sym typeface="Symbol" panose="05050102010706020507" pitchFamily="18" charset="2"/>
              </a:rPr>
              <a:t>)</a:t>
            </a:r>
          </a:p>
          <a:p>
            <a:pPr marL="0" indent="0">
              <a:lnSpc>
                <a:spcPct val="90000"/>
              </a:lnSpc>
              <a:buNone/>
              <a:tabLst>
                <a:tab pos="1658938" algn="l"/>
                <a:tab pos="3149600" algn="ctr"/>
                <a:tab pos="3425825" algn="l"/>
              </a:tabLst>
            </a:pPr>
            <a:endParaRPr lang="en-US" altLang="ja-JP" dirty="0">
              <a:sym typeface="Symbol" panose="05050102010706020507" pitchFamily="18" charset="2"/>
            </a:endParaRPr>
          </a:p>
          <a:p>
            <a:pPr>
              <a:buFont typeface="Wingdings" panose="05000000000000000000" pitchFamily="2" charset="2"/>
              <a:buChar char="q"/>
              <a:tabLst>
                <a:tab pos="1658938" algn="l"/>
                <a:tab pos="3149600" algn="ctr"/>
                <a:tab pos="3425825" algn="l"/>
              </a:tabLst>
            </a:pPr>
            <a:r>
              <a:rPr lang="en-US" altLang="en-US" dirty="0">
                <a:sym typeface="Symbol" panose="05050102010706020507" pitchFamily="18" charset="2"/>
              </a:rPr>
              <a:t>select predicate may include comparisons between two attributes. </a:t>
            </a:r>
          </a:p>
          <a:p>
            <a:pPr>
              <a:buFont typeface="Wingdings" panose="05000000000000000000" pitchFamily="2" charset="2"/>
              <a:buChar char="q"/>
              <a:tabLst>
                <a:tab pos="1658938" algn="l"/>
                <a:tab pos="3149600" algn="ctr"/>
                <a:tab pos="3425825" algn="l"/>
              </a:tabLst>
            </a:pPr>
            <a:endParaRPr lang="en-US" altLang="en-US" dirty="0">
              <a:sym typeface="Symbol" panose="05050102010706020507" pitchFamily="18" charset="2"/>
            </a:endParaRPr>
          </a:p>
          <a:p>
            <a:endParaRPr lang="en-IN" dirty="0"/>
          </a:p>
          <a:p>
            <a:pPr marL="0" indent="0">
              <a:lnSpc>
                <a:spcPct val="90000"/>
              </a:lnSpc>
              <a:buNone/>
              <a:tabLst>
                <a:tab pos="1658938" algn="l"/>
                <a:tab pos="3149600" algn="ctr"/>
                <a:tab pos="3425825" algn="l"/>
              </a:tabLst>
            </a:pPr>
            <a:endParaRPr lang="en-US" altLang="ja-JP" dirty="0">
              <a:sym typeface="Symbol" panose="05050102010706020507" pitchFamily="18" charset="2"/>
            </a:endParaRPr>
          </a:p>
          <a:p>
            <a:endParaRPr lang="en-IN" dirty="0"/>
          </a:p>
        </p:txBody>
      </p:sp>
      <p:sp>
        <p:nvSpPr>
          <p:cNvPr id="4" name="Title 1">
            <a:extLst>
              <a:ext uri="{FF2B5EF4-FFF2-40B4-BE49-F238E27FC236}">
                <a16:creationId xmlns:a16="http://schemas.microsoft.com/office/drawing/2014/main" id="{030DE9DD-DFE6-494F-8A98-2E418E33C788}"/>
              </a:ext>
            </a:extLst>
          </p:cNvPr>
          <p:cNvSpPr>
            <a:spLocks noGrp="1"/>
          </p:cNvSpPr>
          <p:nvPr>
            <p:ph type="title"/>
          </p:nvPr>
        </p:nvSpPr>
        <p:spPr>
          <a:xfrm>
            <a:off x="838200" y="27769"/>
            <a:ext cx="10515600" cy="1002041"/>
          </a:xfrm>
        </p:spPr>
        <p:txBody>
          <a:bodyPr/>
          <a:lstStyle/>
          <a:p>
            <a:pPr algn="ctr"/>
            <a:r>
              <a:rPr lang="en-IN" b="1" dirty="0">
                <a:solidFill>
                  <a:schemeClr val="accent4">
                    <a:lumMod val="50000"/>
                  </a:schemeClr>
                </a:solidFill>
              </a:rPr>
              <a:t>Select Operation</a:t>
            </a:r>
          </a:p>
        </p:txBody>
      </p:sp>
    </p:spTree>
    <p:extLst>
      <p:ext uri="{BB962C8B-B14F-4D97-AF65-F5344CB8AC3E}">
        <p14:creationId xmlns:p14="http://schemas.microsoft.com/office/powerpoint/2010/main" val="314833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86A3A-7421-41AC-B3FA-93BCE6D61798}"/>
              </a:ext>
            </a:extLst>
          </p:cNvPr>
          <p:cNvSpPr>
            <a:spLocks noGrp="1"/>
          </p:cNvSpPr>
          <p:nvPr>
            <p:ph type="title"/>
          </p:nvPr>
        </p:nvSpPr>
        <p:spPr>
          <a:xfrm>
            <a:off x="838200" y="18892"/>
            <a:ext cx="10515600" cy="1073061"/>
          </a:xfrm>
        </p:spPr>
        <p:txBody>
          <a:bodyPr/>
          <a:lstStyle/>
          <a:p>
            <a:pPr algn="ctr"/>
            <a:r>
              <a:rPr lang="en-US" altLang="en-US" sz="4400" b="1" dirty="0">
                <a:solidFill>
                  <a:schemeClr val="accent4">
                    <a:lumMod val="50000"/>
                  </a:schemeClr>
                </a:solidFill>
              </a:rPr>
              <a:t>SELECT Operation Properties</a:t>
            </a:r>
            <a:endParaRPr lang="en-IN" b="1" dirty="0">
              <a:solidFill>
                <a:schemeClr val="accent4">
                  <a:lumMod val="50000"/>
                </a:schemeClr>
              </a:solidFill>
            </a:endParaRPr>
          </a:p>
        </p:txBody>
      </p:sp>
      <p:sp>
        <p:nvSpPr>
          <p:cNvPr id="3" name="Content Placeholder 2">
            <a:extLst>
              <a:ext uri="{FF2B5EF4-FFF2-40B4-BE49-F238E27FC236}">
                <a16:creationId xmlns:a16="http://schemas.microsoft.com/office/drawing/2014/main" id="{F7FB06B5-9A14-4221-B6F3-232076116924}"/>
              </a:ext>
            </a:extLst>
          </p:cNvPr>
          <p:cNvSpPr>
            <a:spLocks noGrp="1"/>
          </p:cNvSpPr>
          <p:nvPr>
            <p:ph idx="1"/>
          </p:nvPr>
        </p:nvSpPr>
        <p:spPr>
          <a:xfrm>
            <a:off x="1109708" y="958789"/>
            <a:ext cx="10981677" cy="5805996"/>
          </a:xfrm>
        </p:spPr>
        <p:txBody>
          <a:bodyPr>
            <a:normAutofit/>
          </a:bodyPr>
          <a:lstStyle/>
          <a:p>
            <a:pPr algn="just">
              <a:lnSpc>
                <a:spcPct val="110000"/>
              </a:lnSpc>
              <a:buFont typeface="Wingdings" panose="05000000000000000000" pitchFamily="2" charset="2"/>
              <a:buChar char="q"/>
            </a:pPr>
            <a:r>
              <a:rPr lang="en-US" altLang="en-US" sz="3200" dirty="0"/>
              <a:t>SELECT operation </a:t>
            </a:r>
            <a:r>
              <a:rPr lang="en-US" altLang="en-US" sz="3200" dirty="0">
                <a:latin typeface="Symbol" panose="05050102010706020507" pitchFamily="18" charset="2"/>
              </a:rPr>
              <a:t></a:t>
            </a:r>
            <a:r>
              <a:rPr lang="en-US" altLang="en-US" sz="3200" dirty="0"/>
              <a:t> </a:t>
            </a:r>
            <a:r>
              <a:rPr lang="en-US" altLang="en-US" sz="3200" baseline="-25000" dirty="0"/>
              <a:t>&lt;selection condition&gt;</a:t>
            </a:r>
            <a:r>
              <a:rPr lang="en-US" altLang="en-US" sz="3200" dirty="0"/>
              <a:t>(R) produces a relation S that has the same schema (same attributes) as R.</a:t>
            </a:r>
          </a:p>
          <a:p>
            <a:pPr algn="just">
              <a:lnSpc>
                <a:spcPct val="110000"/>
              </a:lnSpc>
              <a:buFont typeface="Wingdings" panose="05000000000000000000" pitchFamily="2" charset="2"/>
              <a:buChar char="q"/>
            </a:pPr>
            <a:endParaRPr lang="en-US" altLang="en-US" sz="3200" dirty="0"/>
          </a:p>
          <a:p>
            <a:pPr algn="just">
              <a:lnSpc>
                <a:spcPct val="110000"/>
              </a:lnSpc>
              <a:buFont typeface="Wingdings" panose="05000000000000000000" pitchFamily="2" charset="2"/>
              <a:buChar char="q"/>
            </a:pPr>
            <a:r>
              <a:rPr lang="en-US" altLang="en-US" sz="3200" dirty="0"/>
              <a:t>SELECT </a:t>
            </a:r>
            <a:r>
              <a:rPr lang="en-US" altLang="en-US" sz="3200" dirty="0">
                <a:latin typeface="Symbol" panose="05050102010706020507" pitchFamily="18" charset="2"/>
              </a:rPr>
              <a:t></a:t>
            </a:r>
            <a:r>
              <a:rPr lang="en-US" altLang="en-US" sz="3200" dirty="0"/>
              <a:t> is </a:t>
            </a:r>
            <a:r>
              <a:rPr lang="en-US" altLang="en-US" sz="3200" u="sng" dirty="0"/>
              <a:t>commutative</a:t>
            </a:r>
            <a:r>
              <a:rPr lang="en-US" altLang="en-US" sz="3200" dirty="0"/>
              <a:t>:</a:t>
            </a:r>
          </a:p>
          <a:p>
            <a:pPr lvl="1" algn="just">
              <a:lnSpc>
                <a:spcPct val="110000"/>
              </a:lnSpc>
              <a:buFont typeface="Wingdings" panose="05000000000000000000" pitchFamily="2" charset="2"/>
              <a:buChar char="§"/>
            </a:pPr>
            <a:r>
              <a:rPr lang="en-US" altLang="en-US" sz="3200" dirty="0">
                <a:latin typeface="Symbol" panose="05050102010706020507" pitchFamily="18" charset="2"/>
              </a:rPr>
              <a:t></a:t>
            </a:r>
            <a:r>
              <a:rPr lang="en-US" altLang="en-US" sz="3200" dirty="0"/>
              <a:t> </a:t>
            </a:r>
            <a:r>
              <a:rPr lang="en-US" altLang="en-US" sz="3200" baseline="-25000" dirty="0"/>
              <a:t>&lt;condition1&gt;</a:t>
            </a:r>
            <a:r>
              <a:rPr lang="en-US" altLang="en-US" sz="3200" dirty="0"/>
              <a:t>(</a:t>
            </a:r>
            <a:r>
              <a:rPr lang="en-US" altLang="en-US" sz="3200" dirty="0">
                <a:latin typeface="Symbol" panose="05050102010706020507" pitchFamily="18" charset="2"/>
              </a:rPr>
              <a:t></a:t>
            </a:r>
            <a:r>
              <a:rPr lang="en-US" altLang="en-US" sz="3200" dirty="0"/>
              <a:t> </a:t>
            </a:r>
            <a:r>
              <a:rPr lang="en-US" altLang="en-US" sz="3200" baseline="-25000" dirty="0"/>
              <a:t>&lt; condition2&gt;</a:t>
            </a:r>
            <a:r>
              <a:rPr lang="en-US" altLang="en-US" sz="3200" dirty="0"/>
              <a:t> (R)) = </a:t>
            </a:r>
            <a:r>
              <a:rPr lang="en-US" altLang="en-US" sz="3200" dirty="0">
                <a:latin typeface="Symbol" panose="05050102010706020507" pitchFamily="18" charset="2"/>
              </a:rPr>
              <a:t></a:t>
            </a:r>
            <a:r>
              <a:rPr lang="en-US" altLang="en-US" sz="3200" dirty="0"/>
              <a:t> </a:t>
            </a:r>
            <a:r>
              <a:rPr lang="en-US" altLang="en-US" sz="3200" baseline="-25000" dirty="0"/>
              <a:t>&lt;condition2&gt;</a:t>
            </a:r>
            <a:r>
              <a:rPr lang="en-US" altLang="en-US" sz="3200" dirty="0"/>
              <a:t> (</a:t>
            </a:r>
            <a:r>
              <a:rPr lang="en-US" altLang="en-US" sz="3200" dirty="0">
                <a:latin typeface="Symbol" panose="05050102010706020507" pitchFamily="18" charset="2"/>
              </a:rPr>
              <a:t></a:t>
            </a:r>
            <a:r>
              <a:rPr lang="en-US" altLang="en-US" sz="3200" dirty="0"/>
              <a:t> </a:t>
            </a:r>
            <a:r>
              <a:rPr lang="en-US" altLang="en-US" sz="3200" baseline="-25000" dirty="0"/>
              <a:t>&lt; condition1&gt;</a:t>
            </a:r>
            <a:r>
              <a:rPr lang="en-US" altLang="en-US" sz="3200" dirty="0"/>
              <a:t> (R))</a:t>
            </a:r>
          </a:p>
          <a:p>
            <a:pPr lvl="1" algn="just">
              <a:lnSpc>
                <a:spcPct val="110000"/>
              </a:lnSpc>
              <a:buFont typeface="Wingdings" panose="05000000000000000000" pitchFamily="2" charset="2"/>
              <a:buChar char="§"/>
            </a:pPr>
            <a:endParaRPr lang="en-US" altLang="en-US" sz="3200" dirty="0"/>
          </a:p>
          <a:p>
            <a:pPr algn="just">
              <a:lnSpc>
                <a:spcPct val="110000"/>
              </a:lnSpc>
              <a:buFont typeface="Wingdings" panose="05000000000000000000" pitchFamily="2" charset="2"/>
              <a:buChar char="q"/>
            </a:pPr>
            <a:r>
              <a:rPr lang="en-US" altLang="en-US" sz="3200" dirty="0"/>
              <a:t>Because of commutativity property, a </a:t>
            </a:r>
            <a:r>
              <a:rPr lang="en-US" altLang="en-US" sz="3200" u="sng" dirty="0"/>
              <a:t>cascade</a:t>
            </a:r>
            <a:r>
              <a:rPr lang="en-US" altLang="en-US" sz="3200" dirty="0"/>
              <a:t> (sequence) of SELECT operations may be applied in any order:</a:t>
            </a:r>
          </a:p>
          <a:p>
            <a:pPr lvl="1" algn="just">
              <a:lnSpc>
                <a:spcPct val="110000"/>
              </a:lnSpc>
              <a:buFont typeface="Wingdings" panose="05000000000000000000" pitchFamily="2" charset="2"/>
              <a:buChar char="§"/>
            </a:pPr>
            <a:r>
              <a:rPr lang="en-US" altLang="en-US" sz="3200" dirty="0">
                <a:latin typeface="Symbol" panose="05050102010706020507" pitchFamily="18" charset="2"/>
              </a:rPr>
              <a:t></a:t>
            </a:r>
            <a:r>
              <a:rPr lang="en-US" altLang="en-US" sz="3200" baseline="-25000" dirty="0"/>
              <a:t>&lt;cond1&gt;</a:t>
            </a:r>
            <a:r>
              <a:rPr lang="en-US" altLang="en-US" sz="3200" dirty="0"/>
              <a:t>(</a:t>
            </a:r>
            <a:r>
              <a:rPr lang="en-US" altLang="en-US" sz="3200" dirty="0">
                <a:latin typeface="Symbol" panose="05050102010706020507" pitchFamily="18" charset="2"/>
              </a:rPr>
              <a:t></a:t>
            </a:r>
            <a:r>
              <a:rPr lang="en-US" altLang="en-US" sz="3200" baseline="-25000" dirty="0"/>
              <a:t>&lt;cond2&gt;</a:t>
            </a:r>
            <a:r>
              <a:rPr lang="en-US" altLang="en-US" sz="3200" dirty="0"/>
              <a:t> (</a:t>
            </a:r>
            <a:r>
              <a:rPr lang="en-US" altLang="en-US" sz="3200" dirty="0">
                <a:latin typeface="Symbol" panose="05050102010706020507" pitchFamily="18" charset="2"/>
              </a:rPr>
              <a:t></a:t>
            </a:r>
            <a:r>
              <a:rPr lang="en-US" altLang="en-US" sz="3200" baseline="-25000" dirty="0"/>
              <a:t>&lt;cond3&gt;</a:t>
            </a:r>
            <a:r>
              <a:rPr lang="en-US" altLang="en-US" sz="3200" dirty="0"/>
              <a:t> (R)) = </a:t>
            </a:r>
            <a:r>
              <a:rPr lang="en-US" altLang="en-US" sz="3200" dirty="0">
                <a:latin typeface="Symbol" panose="05050102010706020507" pitchFamily="18" charset="2"/>
              </a:rPr>
              <a:t></a:t>
            </a:r>
            <a:r>
              <a:rPr lang="en-US" altLang="en-US" sz="3200" baseline="-25000" dirty="0"/>
              <a:t>&lt;cond2&gt;</a:t>
            </a:r>
            <a:r>
              <a:rPr lang="en-US" altLang="en-US" sz="3200" dirty="0"/>
              <a:t> (</a:t>
            </a:r>
            <a:r>
              <a:rPr lang="en-US" altLang="en-US" sz="3200" dirty="0">
                <a:latin typeface="Symbol" panose="05050102010706020507" pitchFamily="18" charset="2"/>
              </a:rPr>
              <a:t></a:t>
            </a:r>
            <a:r>
              <a:rPr lang="en-US" altLang="en-US" sz="3200" baseline="-25000" dirty="0"/>
              <a:t>&lt;cond3&gt;</a:t>
            </a:r>
            <a:r>
              <a:rPr lang="en-US" altLang="en-US" sz="3200" dirty="0"/>
              <a:t> (</a:t>
            </a:r>
            <a:r>
              <a:rPr lang="en-US" altLang="en-US" sz="3200" dirty="0">
                <a:latin typeface="Symbol" panose="05050102010706020507" pitchFamily="18" charset="2"/>
              </a:rPr>
              <a:t></a:t>
            </a:r>
            <a:r>
              <a:rPr lang="en-US" altLang="en-US" sz="3200" baseline="-25000" dirty="0"/>
              <a:t>&lt;cond1&gt;</a:t>
            </a:r>
            <a:r>
              <a:rPr lang="en-US" altLang="en-US" sz="3200" dirty="0"/>
              <a:t> ( R)))</a:t>
            </a:r>
          </a:p>
          <a:p>
            <a:pPr algn="just">
              <a:lnSpc>
                <a:spcPct val="110000"/>
              </a:lnSpc>
            </a:pPr>
            <a:endParaRPr lang="en-IN" dirty="0"/>
          </a:p>
        </p:txBody>
      </p:sp>
    </p:spTree>
    <p:extLst>
      <p:ext uri="{BB962C8B-B14F-4D97-AF65-F5344CB8AC3E}">
        <p14:creationId xmlns:p14="http://schemas.microsoft.com/office/powerpoint/2010/main" val="196128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86A3A-7421-41AC-B3FA-93BCE6D61798}"/>
              </a:ext>
            </a:extLst>
          </p:cNvPr>
          <p:cNvSpPr>
            <a:spLocks noGrp="1"/>
          </p:cNvSpPr>
          <p:nvPr>
            <p:ph type="title"/>
          </p:nvPr>
        </p:nvSpPr>
        <p:spPr>
          <a:xfrm>
            <a:off x="838200" y="18892"/>
            <a:ext cx="10515600" cy="1073061"/>
          </a:xfrm>
        </p:spPr>
        <p:txBody>
          <a:bodyPr/>
          <a:lstStyle/>
          <a:p>
            <a:pPr algn="ctr"/>
            <a:r>
              <a:rPr lang="en-US" altLang="en-US" sz="4400" b="1" dirty="0">
                <a:solidFill>
                  <a:schemeClr val="accent4">
                    <a:lumMod val="50000"/>
                  </a:schemeClr>
                </a:solidFill>
              </a:rPr>
              <a:t>SELECT Operation Properties</a:t>
            </a:r>
            <a:endParaRPr lang="en-IN" b="1" dirty="0">
              <a:solidFill>
                <a:schemeClr val="accent4">
                  <a:lumMod val="50000"/>
                </a:schemeClr>
              </a:solidFill>
            </a:endParaRPr>
          </a:p>
        </p:txBody>
      </p:sp>
      <p:sp>
        <p:nvSpPr>
          <p:cNvPr id="3" name="Content Placeholder 2">
            <a:extLst>
              <a:ext uri="{FF2B5EF4-FFF2-40B4-BE49-F238E27FC236}">
                <a16:creationId xmlns:a16="http://schemas.microsoft.com/office/drawing/2014/main" id="{F7FB06B5-9A14-4221-B6F3-232076116924}"/>
              </a:ext>
            </a:extLst>
          </p:cNvPr>
          <p:cNvSpPr>
            <a:spLocks noGrp="1"/>
          </p:cNvSpPr>
          <p:nvPr>
            <p:ph idx="1"/>
          </p:nvPr>
        </p:nvSpPr>
        <p:spPr>
          <a:xfrm>
            <a:off x="1109708" y="958789"/>
            <a:ext cx="10981677" cy="5805996"/>
          </a:xfrm>
        </p:spPr>
        <p:txBody>
          <a:bodyPr>
            <a:normAutofit/>
          </a:bodyPr>
          <a:lstStyle/>
          <a:p>
            <a:pPr algn="just">
              <a:lnSpc>
                <a:spcPct val="110000"/>
              </a:lnSpc>
              <a:buFont typeface="Wingdings" panose="05000000000000000000" pitchFamily="2" charset="2"/>
              <a:buChar char="q"/>
            </a:pPr>
            <a:r>
              <a:rPr lang="en-US" altLang="en-US" sz="3200" dirty="0"/>
              <a:t>A cascade of SELECT operations may be replaced by a single selection with a </a:t>
            </a:r>
            <a:r>
              <a:rPr lang="en-US" altLang="en-US" sz="3200" u="sng" dirty="0"/>
              <a:t>conjunction</a:t>
            </a:r>
            <a:r>
              <a:rPr lang="en-US" altLang="en-US" sz="3200" dirty="0"/>
              <a:t> of all the conditions:</a:t>
            </a:r>
          </a:p>
          <a:p>
            <a:pPr lvl="1" algn="just">
              <a:lnSpc>
                <a:spcPct val="110000"/>
              </a:lnSpc>
              <a:buFont typeface="Wingdings" panose="05000000000000000000" pitchFamily="2" charset="2"/>
              <a:buChar char="§"/>
            </a:pPr>
            <a:r>
              <a:rPr lang="en-US" altLang="en-US" sz="3200" dirty="0">
                <a:latin typeface="Symbol" panose="05050102010706020507" pitchFamily="18" charset="2"/>
              </a:rPr>
              <a:t></a:t>
            </a:r>
            <a:r>
              <a:rPr lang="en-US" altLang="en-US" sz="3200" baseline="-25000" dirty="0"/>
              <a:t>&lt;cond1&gt;</a:t>
            </a:r>
            <a:r>
              <a:rPr lang="en-US" altLang="en-US" sz="3200" dirty="0"/>
              <a:t>(</a:t>
            </a:r>
            <a:r>
              <a:rPr lang="en-US" altLang="en-US" sz="3200" dirty="0">
                <a:latin typeface="Symbol" panose="05050102010706020507" pitchFamily="18" charset="2"/>
              </a:rPr>
              <a:t></a:t>
            </a:r>
            <a:r>
              <a:rPr lang="en-US" altLang="en-US" sz="3200" baseline="-25000" dirty="0"/>
              <a:t>&lt; cond2&gt;</a:t>
            </a:r>
            <a:r>
              <a:rPr lang="en-US" altLang="en-US" sz="3200" dirty="0"/>
              <a:t> (</a:t>
            </a:r>
            <a:r>
              <a:rPr lang="en-US" altLang="en-US" sz="3200" dirty="0">
                <a:latin typeface="Symbol" panose="05050102010706020507" pitchFamily="18" charset="2"/>
              </a:rPr>
              <a:t></a:t>
            </a:r>
            <a:r>
              <a:rPr lang="en-US" altLang="en-US" sz="3200" baseline="-25000" dirty="0"/>
              <a:t>&lt;cond3&gt;</a:t>
            </a:r>
            <a:r>
              <a:rPr lang="en-US" altLang="en-US" sz="3200" dirty="0"/>
              <a:t>(R))) = </a:t>
            </a:r>
            <a:r>
              <a:rPr lang="en-US" altLang="en-US" sz="3200" dirty="0">
                <a:latin typeface="Symbol" panose="05050102010706020507" pitchFamily="18" charset="2"/>
              </a:rPr>
              <a:t></a:t>
            </a:r>
            <a:r>
              <a:rPr lang="en-US" altLang="en-US" sz="3200" baseline="-25000" dirty="0"/>
              <a:t> &lt;cond1&gt; AND &lt; cond2&gt; AND &lt; cond3&gt;</a:t>
            </a:r>
            <a:r>
              <a:rPr lang="en-US" altLang="en-US" sz="3200" dirty="0"/>
              <a:t>(R)</a:t>
            </a:r>
          </a:p>
          <a:p>
            <a:pPr lvl="1" algn="just">
              <a:lnSpc>
                <a:spcPct val="110000"/>
              </a:lnSpc>
              <a:buFont typeface="Wingdings" panose="05000000000000000000" pitchFamily="2" charset="2"/>
              <a:buChar char="§"/>
            </a:pPr>
            <a:endParaRPr lang="en-US" altLang="en-US" sz="3200" dirty="0"/>
          </a:p>
          <a:p>
            <a:pPr algn="just">
              <a:lnSpc>
                <a:spcPct val="110000"/>
              </a:lnSpc>
              <a:buFont typeface="Wingdings" panose="05000000000000000000" pitchFamily="2" charset="2"/>
              <a:buChar char="q"/>
            </a:pPr>
            <a:r>
              <a:rPr lang="en-US" altLang="en-US" sz="3200" dirty="0"/>
              <a:t>Number of tuples in the result of a SELECT is less than (or equal to) the number of tuples in the input relation R</a:t>
            </a:r>
          </a:p>
          <a:p>
            <a:pPr algn="just">
              <a:lnSpc>
                <a:spcPct val="110000"/>
              </a:lnSpc>
            </a:pPr>
            <a:endParaRPr lang="en-IN" dirty="0"/>
          </a:p>
        </p:txBody>
      </p:sp>
    </p:spTree>
    <p:extLst>
      <p:ext uri="{BB962C8B-B14F-4D97-AF65-F5344CB8AC3E}">
        <p14:creationId xmlns:p14="http://schemas.microsoft.com/office/powerpoint/2010/main" val="2494529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10A6A-C249-478B-8B05-E3847DD0ECE8}"/>
              </a:ext>
            </a:extLst>
          </p:cNvPr>
          <p:cNvSpPr>
            <a:spLocks noGrp="1"/>
          </p:cNvSpPr>
          <p:nvPr>
            <p:ph type="title"/>
          </p:nvPr>
        </p:nvSpPr>
        <p:spPr>
          <a:xfrm>
            <a:off x="838200" y="18894"/>
            <a:ext cx="10515600" cy="922139"/>
          </a:xfrm>
        </p:spPr>
        <p:txBody>
          <a:bodyPr/>
          <a:lstStyle/>
          <a:p>
            <a:pPr algn="ctr"/>
            <a:r>
              <a:rPr lang="en-IN" b="1" dirty="0">
                <a:solidFill>
                  <a:schemeClr val="accent4">
                    <a:lumMod val="50000"/>
                  </a:schemeClr>
                </a:solidFill>
              </a:rPr>
              <a:t>2. Project Operation</a:t>
            </a:r>
          </a:p>
        </p:txBody>
      </p:sp>
      <p:sp>
        <p:nvSpPr>
          <p:cNvPr id="3" name="Content Placeholder 2">
            <a:extLst>
              <a:ext uri="{FF2B5EF4-FFF2-40B4-BE49-F238E27FC236}">
                <a16:creationId xmlns:a16="http://schemas.microsoft.com/office/drawing/2014/main" id="{7DF0FEAC-E4A0-4AF5-9A39-2AE294C7E40C}"/>
              </a:ext>
            </a:extLst>
          </p:cNvPr>
          <p:cNvSpPr>
            <a:spLocks noGrp="1"/>
          </p:cNvSpPr>
          <p:nvPr>
            <p:ph idx="1"/>
          </p:nvPr>
        </p:nvSpPr>
        <p:spPr>
          <a:xfrm>
            <a:off x="685061" y="843548"/>
            <a:ext cx="10821878" cy="4904110"/>
          </a:xfrm>
        </p:spPr>
        <p:txBody>
          <a:bodyPr>
            <a:normAutofit/>
          </a:bodyPr>
          <a:lstStyle/>
          <a:p>
            <a:pPr algn="just">
              <a:lnSpc>
                <a:spcPct val="100000"/>
              </a:lnSpc>
              <a:buFont typeface="Wingdings" panose="05000000000000000000" pitchFamily="2" charset="2"/>
              <a:buChar char="q"/>
              <a:tabLst>
                <a:tab pos="3257550" algn="ctr"/>
              </a:tabLst>
            </a:pPr>
            <a:endParaRPr lang="en-US" altLang="en-US" sz="2800" dirty="0"/>
          </a:p>
          <a:p>
            <a:pPr algn="just">
              <a:lnSpc>
                <a:spcPct val="100000"/>
              </a:lnSpc>
              <a:buFont typeface="Wingdings" panose="05000000000000000000" pitchFamily="2" charset="2"/>
              <a:buChar char="q"/>
              <a:tabLst>
                <a:tab pos="3257550" algn="ctr"/>
              </a:tabLst>
            </a:pPr>
            <a:r>
              <a:rPr lang="en-US" altLang="en-US" sz="2800" dirty="0"/>
              <a:t>A unary operation that returns its argument relation, with certain attributes left out.  </a:t>
            </a:r>
          </a:p>
          <a:p>
            <a:pPr algn="just">
              <a:lnSpc>
                <a:spcPct val="100000"/>
              </a:lnSpc>
              <a:buFont typeface="Wingdings" panose="05000000000000000000" pitchFamily="2" charset="2"/>
              <a:buChar char="q"/>
              <a:tabLst>
                <a:tab pos="3257550" algn="ctr"/>
              </a:tabLst>
            </a:pPr>
            <a:r>
              <a:rPr lang="en-US" altLang="en-US" sz="2800" dirty="0"/>
              <a:t>Notation:</a:t>
            </a:r>
          </a:p>
          <a:p>
            <a:pPr algn="just">
              <a:lnSpc>
                <a:spcPct val="100000"/>
              </a:lnSpc>
              <a:buNone/>
              <a:tabLst>
                <a:tab pos="3257550" algn="ctr"/>
              </a:tabLst>
            </a:pPr>
            <a:r>
              <a:rPr lang="en-US" altLang="en-US" dirty="0">
                <a:sym typeface="Symbol" panose="05050102010706020507" pitchFamily="18" charset="2"/>
              </a:rPr>
              <a:t>                   </a:t>
            </a:r>
            <a:r>
              <a:rPr lang="en-US" altLang="en-US" i="1" baseline="-25000" dirty="0">
                <a:sym typeface="Symbol" panose="05050102010706020507" pitchFamily="18" charset="2"/>
              </a:rPr>
              <a:t>A</a:t>
            </a:r>
            <a:r>
              <a:rPr lang="en-US" altLang="en-US" i="1" baseline="-50000" dirty="0">
                <a:sym typeface="Symbol" panose="05050102010706020507" pitchFamily="18" charset="2"/>
              </a:rPr>
              <a:t>1</a:t>
            </a:r>
            <a:r>
              <a:rPr lang="en-US" altLang="en-US" i="1" baseline="-25000" dirty="0">
                <a:sym typeface="Symbol" panose="05050102010706020507" pitchFamily="18" charset="2"/>
              </a:rPr>
              <a:t>,A</a:t>
            </a:r>
            <a:r>
              <a:rPr lang="en-US" altLang="en-US" i="1" baseline="-50000" dirty="0">
                <a:sym typeface="Symbol" panose="05050102010706020507" pitchFamily="18" charset="2"/>
              </a:rPr>
              <a:t>2</a:t>
            </a:r>
            <a:r>
              <a:rPr lang="en-US" altLang="en-US" i="1" baseline="-25000" dirty="0">
                <a:sym typeface="Symbol" panose="05050102010706020507" pitchFamily="18" charset="2"/>
              </a:rPr>
              <a:t>,A</a:t>
            </a:r>
            <a:r>
              <a:rPr lang="en-US" altLang="en-US" i="1" baseline="-50000" dirty="0">
                <a:sym typeface="Symbol" panose="05050102010706020507" pitchFamily="18" charset="2"/>
              </a:rPr>
              <a:t>3</a:t>
            </a:r>
            <a:r>
              <a:rPr lang="en-US" altLang="en-US" i="1" baseline="-25000" dirty="0">
                <a:sym typeface="Symbol" panose="05050102010706020507" pitchFamily="18" charset="2"/>
              </a:rPr>
              <a:t> ….A</a:t>
            </a:r>
            <a:r>
              <a:rPr lang="en-US" altLang="en-US" i="1" baseline="-50000" dirty="0">
                <a:sym typeface="Symbol" panose="05050102010706020507" pitchFamily="18" charset="2"/>
              </a:rPr>
              <a:t>k</a:t>
            </a:r>
            <a:r>
              <a:rPr lang="en-US" altLang="en-US" i="1" baseline="-25000" dirty="0">
                <a:sym typeface="Symbol" panose="05050102010706020507" pitchFamily="18" charset="2"/>
              </a:rPr>
              <a:t> </a:t>
            </a:r>
            <a:r>
              <a:rPr lang="en-US" altLang="en-US" baseline="-25000" dirty="0"/>
              <a:t> </a:t>
            </a:r>
            <a:r>
              <a:rPr lang="en-US" altLang="en-US" sz="2800" dirty="0"/>
              <a:t>(</a:t>
            </a:r>
            <a:r>
              <a:rPr lang="en-US" altLang="en-US" sz="2800" i="1" dirty="0"/>
              <a:t>r</a:t>
            </a:r>
            <a:r>
              <a:rPr lang="en-US" altLang="ja-JP" sz="2800" dirty="0">
                <a:sym typeface="Symbol" panose="05050102010706020507" pitchFamily="18" charset="2"/>
              </a:rPr>
              <a:t>)</a:t>
            </a:r>
            <a:r>
              <a:rPr lang="en-US" altLang="en-US" sz="2800" dirty="0">
                <a:solidFill>
                  <a:schemeClr val="bg1">
                    <a:lumMod val="50000"/>
                  </a:schemeClr>
                </a:solidFill>
              </a:rPr>
              <a:t>	</a:t>
            </a:r>
          </a:p>
          <a:p>
            <a:pPr algn="just">
              <a:lnSpc>
                <a:spcPct val="100000"/>
              </a:lnSpc>
              <a:buFont typeface="Monotype Sorts" charset="2"/>
              <a:buNone/>
              <a:tabLst>
                <a:tab pos="3257550" algn="ctr"/>
              </a:tabLst>
            </a:pPr>
            <a:r>
              <a:rPr lang="en-US" altLang="en-US" sz="2800" dirty="0"/>
              <a:t>	where </a:t>
            </a:r>
            <a:r>
              <a:rPr lang="en-US" altLang="en-US" sz="2800" i="1" dirty="0"/>
              <a:t>A</a:t>
            </a:r>
            <a:r>
              <a:rPr lang="en-US" altLang="en-US" sz="2800" i="1" baseline="-25000" dirty="0"/>
              <a:t>1</a:t>
            </a:r>
            <a:r>
              <a:rPr lang="en-US" altLang="en-US" sz="2800" i="1" dirty="0"/>
              <a:t>, A</a:t>
            </a:r>
            <a:r>
              <a:rPr lang="en-US" altLang="en-US" sz="2800" i="1" baseline="-25000" dirty="0"/>
              <a:t>2</a:t>
            </a:r>
            <a:r>
              <a:rPr lang="en-US" altLang="en-US" sz="2800" dirty="0"/>
              <a:t>,  …, </a:t>
            </a:r>
            <a:r>
              <a:rPr lang="en-US" altLang="en-US" i="1" dirty="0"/>
              <a:t>A</a:t>
            </a:r>
            <a:r>
              <a:rPr lang="en-US" altLang="en-US" i="1" baseline="-25000" dirty="0"/>
              <a:t>k</a:t>
            </a:r>
            <a:r>
              <a:rPr lang="en-US" altLang="en-US" sz="2800" dirty="0"/>
              <a:t>  are attribute names and </a:t>
            </a:r>
            <a:r>
              <a:rPr lang="en-US" altLang="en-US" sz="2800" i="1" dirty="0"/>
              <a:t>r</a:t>
            </a:r>
            <a:r>
              <a:rPr lang="en-US" altLang="en-US" sz="2800" dirty="0"/>
              <a:t> is a relation name.</a:t>
            </a:r>
          </a:p>
          <a:p>
            <a:pPr algn="just">
              <a:lnSpc>
                <a:spcPct val="100000"/>
              </a:lnSpc>
              <a:buFont typeface="Monotype Sorts" charset="2"/>
              <a:buNone/>
              <a:tabLst>
                <a:tab pos="3257550" algn="ctr"/>
              </a:tabLst>
            </a:pPr>
            <a:endParaRPr lang="en-US" altLang="en-US" sz="2800" dirty="0"/>
          </a:p>
          <a:p>
            <a:pPr algn="just">
              <a:lnSpc>
                <a:spcPct val="100000"/>
              </a:lnSpc>
              <a:buFont typeface="Wingdings" panose="05000000000000000000" pitchFamily="2" charset="2"/>
              <a:buChar char="q"/>
              <a:tabLst>
                <a:tab pos="3257550" algn="ctr"/>
              </a:tabLst>
            </a:pPr>
            <a:r>
              <a:rPr lang="en-US" altLang="en-US" sz="2800" dirty="0"/>
              <a:t>Result is defined as the relation of </a:t>
            </a:r>
            <a:r>
              <a:rPr lang="en-US" altLang="en-US" sz="2800" i="1" dirty="0"/>
              <a:t>k</a:t>
            </a:r>
            <a:r>
              <a:rPr lang="en-US" altLang="en-US" sz="2800" dirty="0"/>
              <a:t> columns obtained by erasing columns that are not listed</a:t>
            </a:r>
          </a:p>
          <a:p>
            <a:pPr algn="just">
              <a:lnSpc>
                <a:spcPct val="100000"/>
              </a:lnSpc>
              <a:buFont typeface="Wingdings" panose="05000000000000000000" pitchFamily="2" charset="2"/>
              <a:buChar char="q"/>
              <a:tabLst>
                <a:tab pos="3257550" algn="ctr"/>
              </a:tabLst>
            </a:pPr>
            <a:endParaRPr lang="en-US" altLang="en-US" dirty="0"/>
          </a:p>
          <a:p>
            <a:pPr algn="just">
              <a:lnSpc>
                <a:spcPct val="100000"/>
              </a:lnSpc>
              <a:buFont typeface="Wingdings" panose="05000000000000000000" pitchFamily="2" charset="2"/>
              <a:buChar char="q"/>
              <a:tabLst>
                <a:tab pos="3257550" algn="ctr"/>
              </a:tabLst>
            </a:pPr>
            <a:endParaRPr lang="en-IN" dirty="0"/>
          </a:p>
        </p:txBody>
      </p:sp>
    </p:spTree>
    <p:extLst>
      <p:ext uri="{BB962C8B-B14F-4D97-AF65-F5344CB8AC3E}">
        <p14:creationId xmlns:p14="http://schemas.microsoft.com/office/powerpoint/2010/main" val="3903238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10A6A-C249-478B-8B05-E3847DD0ECE8}"/>
              </a:ext>
            </a:extLst>
          </p:cNvPr>
          <p:cNvSpPr>
            <a:spLocks noGrp="1"/>
          </p:cNvSpPr>
          <p:nvPr>
            <p:ph type="title"/>
          </p:nvPr>
        </p:nvSpPr>
        <p:spPr>
          <a:xfrm>
            <a:off x="838200" y="18894"/>
            <a:ext cx="10515600" cy="922139"/>
          </a:xfrm>
        </p:spPr>
        <p:txBody>
          <a:bodyPr/>
          <a:lstStyle/>
          <a:p>
            <a:pPr algn="ctr"/>
            <a:r>
              <a:rPr lang="en-IN" b="1" dirty="0">
                <a:solidFill>
                  <a:schemeClr val="accent4">
                    <a:lumMod val="50000"/>
                  </a:schemeClr>
                </a:solidFill>
              </a:rPr>
              <a:t>2. Project Operation</a:t>
            </a:r>
          </a:p>
        </p:txBody>
      </p:sp>
      <p:sp>
        <p:nvSpPr>
          <p:cNvPr id="3" name="Content Placeholder 2">
            <a:extLst>
              <a:ext uri="{FF2B5EF4-FFF2-40B4-BE49-F238E27FC236}">
                <a16:creationId xmlns:a16="http://schemas.microsoft.com/office/drawing/2014/main" id="{7DF0FEAC-E4A0-4AF5-9A39-2AE294C7E40C}"/>
              </a:ext>
            </a:extLst>
          </p:cNvPr>
          <p:cNvSpPr>
            <a:spLocks noGrp="1"/>
          </p:cNvSpPr>
          <p:nvPr>
            <p:ph idx="1"/>
          </p:nvPr>
        </p:nvSpPr>
        <p:spPr>
          <a:xfrm>
            <a:off x="755194" y="834839"/>
            <a:ext cx="10821878" cy="4094212"/>
          </a:xfrm>
        </p:spPr>
        <p:txBody>
          <a:bodyPr>
            <a:normAutofit/>
          </a:bodyPr>
          <a:lstStyle/>
          <a:p>
            <a:pPr algn="just">
              <a:lnSpc>
                <a:spcPct val="100000"/>
              </a:lnSpc>
              <a:buFont typeface="Wingdings" panose="05000000000000000000" pitchFamily="2" charset="2"/>
              <a:buChar char="q"/>
              <a:tabLst>
                <a:tab pos="3257550" algn="ctr"/>
              </a:tabLst>
            </a:pPr>
            <a:endParaRPr lang="en-US" altLang="en-US" sz="2800" dirty="0"/>
          </a:p>
          <a:p>
            <a:pPr algn="just">
              <a:lnSpc>
                <a:spcPct val="100000"/>
              </a:lnSpc>
              <a:buFont typeface="Wingdings" panose="05000000000000000000" pitchFamily="2" charset="2"/>
              <a:buChar char="q"/>
              <a:tabLst>
                <a:tab pos="3257550" algn="ctr"/>
              </a:tabLst>
            </a:pPr>
            <a:r>
              <a:rPr lang="en-US" altLang="en-US" sz="2800" dirty="0"/>
              <a:t>Duplicate rows removed from result, since relations are sets. </a:t>
            </a:r>
          </a:p>
          <a:p>
            <a:pPr lvl="1" algn="just">
              <a:lnSpc>
                <a:spcPct val="100000"/>
              </a:lnSpc>
              <a:buFont typeface="Wingdings" panose="05000000000000000000" pitchFamily="2" charset="2"/>
              <a:buChar char="§"/>
              <a:tabLst>
                <a:tab pos="3257550" algn="ctr"/>
              </a:tabLst>
            </a:pPr>
            <a:r>
              <a:rPr lang="en-US" altLang="en-US" dirty="0"/>
              <a:t>Mathematical sets </a:t>
            </a:r>
            <a:r>
              <a:rPr lang="en-US" altLang="en-US" i="1" u="sng" dirty="0"/>
              <a:t>do not allow</a:t>
            </a:r>
            <a:r>
              <a:rPr lang="en-US" altLang="en-US" u="sng" dirty="0"/>
              <a:t> duplicate elements</a:t>
            </a:r>
            <a:r>
              <a:rPr lang="en-US" altLang="en-US" dirty="0"/>
              <a:t>.</a:t>
            </a:r>
          </a:p>
          <a:p>
            <a:pPr lvl="1" algn="just">
              <a:lnSpc>
                <a:spcPct val="100000"/>
              </a:lnSpc>
              <a:buFont typeface="Wingdings" panose="05000000000000000000" pitchFamily="2" charset="2"/>
              <a:buChar char="§"/>
              <a:tabLst>
                <a:tab pos="3257550" algn="ctr"/>
              </a:tabLst>
            </a:pPr>
            <a:endParaRPr lang="en-US" altLang="en-US" dirty="0"/>
          </a:p>
          <a:p>
            <a:pPr algn="just">
              <a:lnSpc>
                <a:spcPct val="100000"/>
              </a:lnSpc>
              <a:buFont typeface="Wingdings" panose="05000000000000000000" pitchFamily="2" charset="2"/>
              <a:buChar char="q"/>
              <a:tabLst>
                <a:tab pos="3257550" algn="ctr"/>
              </a:tabLst>
            </a:pPr>
            <a:r>
              <a:rPr lang="en-US" altLang="en-US" dirty="0"/>
              <a:t>PROJECT creates a </a:t>
            </a:r>
            <a:r>
              <a:rPr lang="en-US" altLang="en-US" u="sng" dirty="0"/>
              <a:t>vertical partitioning.</a:t>
            </a:r>
          </a:p>
          <a:p>
            <a:pPr lvl="1">
              <a:buFont typeface="Wingdings" panose="05000000000000000000" pitchFamily="2" charset="2"/>
              <a:buChar char="§"/>
            </a:pPr>
            <a:r>
              <a:rPr lang="en-US" altLang="en-US" dirty="0"/>
              <a:t>List of specified columns (attributes) is kept in each tuple.</a:t>
            </a:r>
          </a:p>
          <a:p>
            <a:pPr lvl="1">
              <a:buFont typeface="Wingdings" panose="05000000000000000000" pitchFamily="2" charset="2"/>
              <a:buChar char="§"/>
            </a:pPr>
            <a:r>
              <a:rPr lang="en-US" altLang="en-US" dirty="0"/>
              <a:t>Other attributes in each tuple are discarded.</a:t>
            </a:r>
          </a:p>
          <a:p>
            <a:pPr algn="just">
              <a:lnSpc>
                <a:spcPct val="100000"/>
              </a:lnSpc>
              <a:buFont typeface="Wingdings" panose="05000000000000000000" pitchFamily="2" charset="2"/>
              <a:buChar char="q"/>
              <a:tabLst>
                <a:tab pos="3257550" algn="ctr"/>
              </a:tabLst>
            </a:pPr>
            <a:endParaRPr lang="en-US" altLang="en-US" dirty="0"/>
          </a:p>
          <a:p>
            <a:pPr algn="just">
              <a:lnSpc>
                <a:spcPct val="100000"/>
              </a:lnSpc>
              <a:buFont typeface="Wingdings" panose="05000000000000000000" pitchFamily="2" charset="2"/>
              <a:buChar char="q"/>
              <a:tabLst>
                <a:tab pos="3257550" algn="ctr"/>
              </a:tabLst>
            </a:pPr>
            <a:endParaRPr lang="en-IN" dirty="0"/>
          </a:p>
        </p:txBody>
      </p:sp>
    </p:spTree>
    <p:extLst>
      <p:ext uri="{BB962C8B-B14F-4D97-AF65-F5344CB8AC3E}">
        <p14:creationId xmlns:p14="http://schemas.microsoft.com/office/powerpoint/2010/main" val="424062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AA92EE-991E-492F-84CF-EEA4E326EB5A}"/>
              </a:ext>
            </a:extLst>
          </p:cNvPr>
          <p:cNvSpPr>
            <a:spLocks noGrp="1"/>
          </p:cNvSpPr>
          <p:nvPr>
            <p:ph idx="1"/>
          </p:nvPr>
        </p:nvSpPr>
        <p:spPr>
          <a:xfrm>
            <a:off x="1251751" y="878889"/>
            <a:ext cx="10813001" cy="5868140"/>
          </a:xfrm>
        </p:spPr>
        <p:txBody>
          <a:bodyPr/>
          <a:lstStyle/>
          <a:p>
            <a:pPr>
              <a:buFont typeface="Wingdings" panose="05000000000000000000" pitchFamily="2" charset="2"/>
              <a:buChar char="q"/>
              <a:tabLst>
                <a:tab pos="3257550" algn="ctr"/>
              </a:tabLst>
            </a:pPr>
            <a:r>
              <a:rPr lang="en-US" altLang="en-US" sz="2800" b="1" dirty="0"/>
              <a:t>Example 1</a:t>
            </a:r>
            <a:r>
              <a:rPr lang="en-US" altLang="en-US" sz="2800" dirty="0"/>
              <a:t>: eliminate the </a:t>
            </a:r>
            <a:r>
              <a:rPr lang="en-US" altLang="en-US" sz="2800" i="1" dirty="0" err="1"/>
              <a:t>dept_name</a:t>
            </a:r>
            <a:r>
              <a:rPr lang="en-US" altLang="en-US" sz="2800" dirty="0"/>
              <a:t> attribute of </a:t>
            </a:r>
            <a:r>
              <a:rPr lang="en-US" altLang="en-US" sz="2800" i="1" dirty="0"/>
              <a:t>instructor</a:t>
            </a:r>
          </a:p>
          <a:p>
            <a:pPr>
              <a:buFont typeface="Wingdings" panose="05000000000000000000" pitchFamily="2" charset="2"/>
              <a:buChar char="q"/>
              <a:tabLst>
                <a:tab pos="3257550" algn="ctr"/>
              </a:tabLst>
            </a:pPr>
            <a:r>
              <a:rPr lang="en-US" altLang="en-US" sz="2800" dirty="0"/>
              <a:t>Query</a:t>
            </a:r>
            <a:r>
              <a:rPr lang="en-US" altLang="en-US" sz="2800" i="1" dirty="0"/>
              <a:t>:</a:t>
            </a:r>
            <a:br>
              <a:rPr lang="en-US" altLang="en-US" sz="2800" dirty="0"/>
            </a:br>
            <a:r>
              <a:rPr lang="en-US" altLang="en-US" sz="1050" dirty="0"/>
              <a:t> </a:t>
            </a:r>
            <a:br>
              <a:rPr lang="en-US" altLang="en-US" sz="2800" dirty="0"/>
            </a:br>
            <a:r>
              <a:rPr lang="en-US" altLang="en-US" sz="2800" dirty="0"/>
              <a:t>         	 </a:t>
            </a:r>
            <a:r>
              <a:rPr lang="en-US" altLang="en-US" dirty="0">
                <a:sym typeface="Symbol" panose="05050102010706020507" pitchFamily="18" charset="2"/>
              </a:rPr>
              <a:t></a:t>
            </a:r>
            <a:r>
              <a:rPr lang="en-US" altLang="en-US" i="1" baseline="-25000" dirty="0"/>
              <a:t>ID, name, salary</a:t>
            </a:r>
            <a:r>
              <a:rPr lang="en-US" altLang="en-US" dirty="0"/>
              <a:t> </a:t>
            </a:r>
            <a:r>
              <a:rPr lang="en-US" altLang="en-US" sz="2800" dirty="0"/>
              <a:t>(</a:t>
            </a:r>
            <a:r>
              <a:rPr lang="en-US" altLang="en-US" sz="2800" i="1" dirty="0"/>
              <a:t>instructor</a:t>
            </a:r>
            <a:r>
              <a:rPr lang="en-US" altLang="en-US" sz="2800" dirty="0"/>
              <a:t>) </a:t>
            </a:r>
          </a:p>
          <a:p>
            <a:pPr>
              <a:buFont typeface="Wingdings" panose="05000000000000000000" pitchFamily="2" charset="2"/>
              <a:buChar char="q"/>
              <a:tabLst>
                <a:tab pos="3257550" algn="ctr"/>
              </a:tabLst>
            </a:pPr>
            <a:r>
              <a:rPr lang="en-US" altLang="en-US" sz="2800" dirty="0"/>
              <a:t>Result:</a:t>
            </a:r>
            <a:br>
              <a:rPr lang="en-US" altLang="en-US" sz="2800" dirty="0"/>
            </a:br>
            <a:endParaRPr lang="en-US" altLang="en-US" sz="2800" dirty="0"/>
          </a:p>
          <a:p>
            <a:endParaRPr lang="en-IN" dirty="0"/>
          </a:p>
        </p:txBody>
      </p:sp>
      <p:sp>
        <p:nvSpPr>
          <p:cNvPr id="4" name="Title 1">
            <a:extLst>
              <a:ext uri="{FF2B5EF4-FFF2-40B4-BE49-F238E27FC236}">
                <a16:creationId xmlns:a16="http://schemas.microsoft.com/office/drawing/2014/main" id="{DE62EFDD-9C1D-4136-898C-8D6DA5410025}"/>
              </a:ext>
            </a:extLst>
          </p:cNvPr>
          <p:cNvSpPr>
            <a:spLocks noGrp="1"/>
          </p:cNvSpPr>
          <p:nvPr>
            <p:ph type="title"/>
          </p:nvPr>
        </p:nvSpPr>
        <p:spPr>
          <a:xfrm>
            <a:off x="838200" y="18894"/>
            <a:ext cx="10515600" cy="922139"/>
          </a:xfrm>
        </p:spPr>
        <p:txBody>
          <a:bodyPr/>
          <a:lstStyle/>
          <a:p>
            <a:pPr algn="ctr"/>
            <a:r>
              <a:rPr lang="en-IN" b="1" dirty="0">
                <a:solidFill>
                  <a:schemeClr val="accent4">
                    <a:lumMod val="50000"/>
                  </a:schemeClr>
                </a:solidFill>
              </a:rPr>
              <a:t>Project Operation</a:t>
            </a:r>
          </a:p>
        </p:txBody>
      </p:sp>
      <p:pic>
        <p:nvPicPr>
          <p:cNvPr id="5" name="Graphic 4">
            <a:extLst>
              <a:ext uri="{FF2B5EF4-FFF2-40B4-BE49-F238E27FC236}">
                <a16:creationId xmlns:a16="http://schemas.microsoft.com/office/drawing/2014/main" id="{AD6F8CC7-0783-4671-B4B5-78476A41D24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 b="12197"/>
          <a:stretch/>
        </p:blipFill>
        <p:spPr>
          <a:xfrm>
            <a:off x="1355391" y="3124939"/>
            <a:ext cx="4164978" cy="3288932"/>
          </a:xfrm>
          <a:prstGeom prst="rect">
            <a:avLst/>
          </a:prstGeom>
        </p:spPr>
      </p:pic>
      <p:pic>
        <p:nvPicPr>
          <p:cNvPr id="6" name="Graphic 5">
            <a:extLst>
              <a:ext uri="{FF2B5EF4-FFF2-40B4-BE49-F238E27FC236}">
                <a16:creationId xmlns:a16="http://schemas.microsoft.com/office/drawing/2014/main" id="{DBAC55DF-DEF6-42CC-A482-4D1282BD18C8}"/>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b="9823"/>
          <a:stretch/>
        </p:blipFill>
        <p:spPr>
          <a:xfrm>
            <a:off x="6684226" y="2997142"/>
            <a:ext cx="4216669" cy="3749887"/>
          </a:xfrm>
          <a:prstGeom prst="rect">
            <a:avLst/>
          </a:prstGeom>
        </p:spPr>
      </p:pic>
    </p:spTree>
    <p:extLst>
      <p:ext uri="{BB962C8B-B14F-4D97-AF65-F5344CB8AC3E}">
        <p14:creationId xmlns:p14="http://schemas.microsoft.com/office/powerpoint/2010/main" val="2481411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8284F-D9F7-47DE-A9FC-13C9469B4683}"/>
              </a:ext>
            </a:extLst>
          </p:cNvPr>
          <p:cNvSpPr>
            <a:spLocks noGrp="1"/>
          </p:cNvSpPr>
          <p:nvPr>
            <p:ph type="title"/>
          </p:nvPr>
        </p:nvSpPr>
        <p:spPr>
          <a:xfrm>
            <a:off x="838200" y="10015"/>
            <a:ext cx="10515600" cy="1108572"/>
          </a:xfrm>
        </p:spPr>
        <p:txBody>
          <a:bodyPr/>
          <a:lstStyle/>
          <a:p>
            <a:pPr algn="ctr"/>
            <a:r>
              <a:rPr lang="en-US" altLang="en-US" b="1" dirty="0">
                <a:solidFill>
                  <a:schemeClr val="accent4">
                    <a:lumMod val="50000"/>
                  </a:schemeClr>
                </a:solidFill>
              </a:rPr>
              <a:t>PROJECT Operation Properties</a:t>
            </a:r>
            <a:endParaRPr lang="en-IN" b="1" dirty="0">
              <a:solidFill>
                <a:schemeClr val="accent4">
                  <a:lumMod val="50000"/>
                </a:schemeClr>
              </a:solidFill>
            </a:endParaRPr>
          </a:p>
        </p:txBody>
      </p:sp>
      <p:sp>
        <p:nvSpPr>
          <p:cNvPr id="3" name="Content Placeholder 2">
            <a:extLst>
              <a:ext uri="{FF2B5EF4-FFF2-40B4-BE49-F238E27FC236}">
                <a16:creationId xmlns:a16="http://schemas.microsoft.com/office/drawing/2014/main" id="{4ABE1B66-1455-4CFC-8547-4621A6826002}"/>
              </a:ext>
            </a:extLst>
          </p:cNvPr>
          <p:cNvSpPr>
            <a:spLocks noGrp="1"/>
          </p:cNvSpPr>
          <p:nvPr>
            <p:ph idx="1"/>
          </p:nvPr>
        </p:nvSpPr>
        <p:spPr>
          <a:xfrm>
            <a:off x="985421" y="1012054"/>
            <a:ext cx="11034943" cy="4221797"/>
          </a:xfrm>
        </p:spPr>
        <p:txBody>
          <a:bodyPr/>
          <a:lstStyle/>
          <a:p>
            <a:pPr>
              <a:buFont typeface="Wingdings" panose="05000000000000000000" pitchFamily="2" charset="2"/>
              <a:buChar char="q"/>
            </a:pPr>
            <a:r>
              <a:rPr lang="en-US" altLang="en-US" dirty="0"/>
              <a:t>Number of tuples in the result of projection </a:t>
            </a:r>
            <a:r>
              <a:rPr lang="en-US" altLang="en-US" dirty="0">
                <a:latin typeface="Symbol" panose="05050102010706020507" pitchFamily="18" charset="2"/>
              </a:rPr>
              <a:t></a:t>
            </a:r>
            <a:r>
              <a:rPr lang="en-US" altLang="en-US" baseline="-25000" dirty="0"/>
              <a:t>&lt;list&gt;</a:t>
            </a:r>
            <a:r>
              <a:rPr lang="en-US" altLang="en-US" dirty="0"/>
              <a:t>(R) is always less or equal to the number of tuples in R</a:t>
            </a:r>
          </a:p>
          <a:p>
            <a:pPr lvl="1">
              <a:buFont typeface="Wingdings" panose="05000000000000000000" pitchFamily="2" charset="2"/>
              <a:buChar char="§"/>
            </a:pPr>
            <a:r>
              <a:rPr lang="en-US" altLang="en-US" dirty="0"/>
              <a:t>If the list of attributes includes a </a:t>
            </a:r>
            <a:r>
              <a:rPr lang="en-US" altLang="en-US" i="1" dirty="0"/>
              <a:t>key</a:t>
            </a:r>
            <a:r>
              <a:rPr lang="en-US" altLang="en-US" dirty="0"/>
              <a:t> of R, then the number of tuples in the result of PROJECT is </a:t>
            </a:r>
            <a:r>
              <a:rPr lang="en-US" altLang="en-US" i="1" dirty="0"/>
              <a:t>equal</a:t>
            </a:r>
            <a:r>
              <a:rPr lang="en-US" altLang="en-US" dirty="0"/>
              <a:t> to the number of tuples in R</a:t>
            </a:r>
          </a:p>
          <a:p>
            <a:pPr lvl="1">
              <a:buFont typeface="Wingdings" panose="05000000000000000000" pitchFamily="2" charset="2"/>
              <a:buChar char="§"/>
            </a:pPr>
            <a:endParaRPr lang="en-US" altLang="en-US" dirty="0"/>
          </a:p>
          <a:p>
            <a:pPr>
              <a:buFont typeface="Wingdings" panose="05000000000000000000" pitchFamily="2" charset="2"/>
              <a:buChar char="q"/>
            </a:pPr>
            <a:r>
              <a:rPr lang="en-US" altLang="en-US" dirty="0"/>
              <a:t>PROJECT is </a:t>
            </a:r>
            <a:r>
              <a:rPr lang="en-US" altLang="en-US" i="1" u="sng" dirty="0"/>
              <a:t>not</a:t>
            </a:r>
            <a:r>
              <a:rPr lang="en-US" altLang="en-US" u="sng" dirty="0"/>
              <a:t> commutative</a:t>
            </a:r>
            <a:endParaRPr lang="en-US" altLang="en-US" dirty="0"/>
          </a:p>
          <a:p>
            <a:endParaRPr lang="en-IN" dirty="0"/>
          </a:p>
        </p:txBody>
      </p:sp>
    </p:spTree>
    <p:extLst>
      <p:ext uri="{BB962C8B-B14F-4D97-AF65-F5344CB8AC3E}">
        <p14:creationId xmlns:p14="http://schemas.microsoft.com/office/powerpoint/2010/main" val="2513501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916D5-AFCA-4478-B72A-9D2B904B6CFC}"/>
              </a:ext>
            </a:extLst>
          </p:cNvPr>
          <p:cNvSpPr>
            <a:spLocks noGrp="1"/>
          </p:cNvSpPr>
          <p:nvPr>
            <p:ph type="title"/>
          </p:nvPr>
        </p:nvSpPr>
        <p:spPr>
          <a:xfrm>
            <a:off x="838200" y="18893"/>
            <a:ext cx="10515600" cy="1010918"/>
          </a:xfrm>
        </p:spPr>
        <p:txBody>
          <a:bodyPr/>
          <a:lstStyle/>
          <a:p>
            <a:pPr algn="ctr"/>
            <a:r>
              <a:rPr lang="en-IN" b="1" dirty="0">
                <a:solidFill>
                  <a:schemeClr val="accent4">
                    <a:lumMod val="50000"/>
                  </a:schemeClr>
                </a:solidFill>
              </a:rPr>
              <a:t>Composition of Relational Operations</a:t>
            </a:r>
          </a:p>
        </p:txBody>
      </p:sp>
      <p:sp>
        <p:nvSpPr>
          <p:cNvPr id="3" name="Content Placeholder 2">
            <a:extLst>
              <a:ext uri="{FF2B5EF4-FFF2-40B4-BE49-F238E27FC236}">
                <a16:creationId xmlns:a16="http://schemas.microsoft.com/office/drawing/2014/main" id="{AC69458A-2B79-426B-848F-77874E554D54}"/>
              </a:ext>
            </a:extLst>
          </p:cNvPr>
          <p:cNvSpPr>
            <a:spLocks noGrp="1"/>
          </p:cNvSpPr>
          <p:nvPr>
            <p:ph idx="1"/>
          </p:nvPr>
        </p:nvSpPr>
        <p:spPr>
          <a:xfrm>
            <a:off x="662866" y="1029812"/>
            <a:ext cx="10866268" cy="4447880"/>
          </a:xfrm>
        </p:spPr>
        <p:txBody>
          <a:bodyPr/>
          <a:lstStyle/>
          <a:p>
            <a:pPr algn="just">
              <a:buFont typeface="Wingdings" panose="05000000000000000000" pitchFamily="2" charset="2"/>
              <a:buChar char="q"/>
            </a:pPr>
            <a:r>
              <a:rPr lang="en-IN" dirty="0"/>
              <a:t>Result of a relational-algebra operation is relation and therefore relational-algebra operations can be </a:t>
            </a:r>
            <a:r>
              <a:rPr lang="en-IN" b="1" dirty="0"/>
              <a:t>composed together </a:t>
            </a:r>
            <a:r>
              <a:rPr lang="en-IN" dirty="0"/>
              <a:t>into a </a:t>
            </a:r>
            <a:r>
              <a:rPr lang="en-IN" b="1" dirty="0">
                <a:solidFill>
                  <a:srgbClr val="002060"/>
                </a:solidFill>
              </a:rPr>
              <a:t>relational-algebra expression</a:t>
            </a:r>
            <a:r>
              <a:rPr lang="en-IN" dirty="0"/>
              <a:t>.</a:t>
            </a:r>
          </a:p>
          <a:p>
            <a:pPr>
              <a:buFont typeface="Wingdings" panose="05000000000000000000" pitchFamily="2" charset="2"/>
              <a:buChar char="q"/>
            </a:pPr>
            <a:r>
              <a:rPr lang="en-US" altLang="en-US" sz="2800" b="1" dirty="0"/>
              <a:t>Example 1</a:t>
            </a:r>
            <a:r>
              <a:rPr lang="en-US" altLang="en-US" sz="2800" dirty="0"/>
              <a:t>- Find the names of all instructors in Physics department.</a:t>
            </a:r>
          </a:p>
          <a:p>
            <a:pPr>
              <a:buNone/>
            </a:pPr>
            <a:r>
              <a:rPr lang="en-US" altLang="ja-JP" sz="1050" dirty="0">
                <a:sym typeface="Symbol" panose="05050102010706020507" pitchFamily="18" charset="2"/>
              </a:rPr>
              <a:t> </a:t>
            </a:r>
          </a:p>
          <a:p>
            <a:pPr>
              <a:buNone/>
            </a:pPr>
            <a:r>
              <a:rPr lang="en-US" altLang="en-US" sz="2800" dirty="0">
                <a:sym typeface="Symbol" panose="05050102010706020507" pitchFamily="18" charset="2"/>
              </a:rPr>
              <a:t>             </a:t>
            </a:r>
            <a:r>
              <a:rPr lang="en-US" altLang="en-US" dirty="0">
                <a:sym typeface="Symbol" panose="05050102010706020507" pitchFamily="18" charset="2"/>
              </a:rPr>
              <a:t></a:t>
            </a:r>
            <a:r>
              <a:rPr lang="en-US" altLang="en-US" i="1" baseline="-25000" dirty="0">
                <a:sym typeface="Symbol" panose="05050102010706020507" pitchFamily="18" charset="2"/>
              </a:rPr>
              <a:t>name</a:t>
            </a:r>
            <a:r>
              <a:rPr lang="en-US" altLang="en-US" dirty="0"/>
              <a:t>(</a:t>
            </a:r>
            <a:r>
              <a:rPr lang="en-US" altLang="en-US" i="1" dirty="0">
                <a:sym typeface="Symbol" panose="05050102010706020507" pitchFamily="18" charset="2"/>
              </a:rPr>
              <a:t></a:t>
            </a:r>
            <a:r>
              <a:rPr lang="en-US" altLang="en-US" dirty="0">
                <a:sym typeface="Symbol" panose="05050102010706020507" pitchFamily="18" charset="2"/>
              </a:rPr>
              <a:t> </a:t>
            </a:r>
            <a:r>
              <a:rPr lang="en-US" altLang="en-US" i="1" baseline="-25000" dirty="0" err="1">
                <a:sym typeface="Symbol" panose="05050102010706020507" pitchFamily="18" charset="2"/>
              </a:rPr>
              <a:t>dept_name</a:t>
            </a:r>
            <a:r>
              <a:rPr lang="en-US" altLang="en-US" i="1" dirty="0">
                <a:sym typeface="Symbol" panose="05050102010706020507" pitchFamily="18" charset="2"/>
              </a:rPr>
              <a:t> </a:t>
            </a:r>
            <a:r>
              <a:rPr lang="en-US" altLang="en-US" i="1" baseline="-25000" dirty="0">
                <a:sym typeface="Symbol" panose="05050102010706020507" pitchFamily="18" charset="2"/>
              </a:rPr>
              <a:t>=</a:t>
            </a:r>
            <a:r>
              <a:rPr lang="ja-JP" altLang="en-US" i="1" baseline="-25000" dirty="0">
                <a:sym typeface="Symbol" panose="05050102010706020507" pitchFamily="18" charset="2"/>
              </a:rPr>
              <a:t>“</a:t>
            </a:r>
            <a:r>
              <a:rPr lang="en-US" altLang="ja-JP" i="1" baseline="-25000" dirty="0">
                <a:sym typeface="Symbol" panose="05050102010706020507" pitchFamily="18" charset="2"/>
              </a:rPr>
              <a:t>Physics</a:t>
            </a:r>
            <a:r>
              <a:rPr lang="ja-JP" altLang="en-US" i="1" baseline="-25000" dirty="0">
                <a:sym typeface="Symbol" panose="05050102010706020507" pitchFamily="18" charset="2"/>
              </a:rPr>
              <a:t>”</a:t>
            </a:r>
            <a:r>
              <a:rPr lang="en-US" altLang="ja-JP" i="1" baseline="-25000" dirty="0">
                <a:sym typeface="Symbol" panose="05050102010706020507" pitchFamily="18" charset="2"/>
              </a:rPr>
              <a:t> </a:t>
            </a:r>
            <a:r>
              <a:rPr lang="en-US" altLang="ja-JP" i="1" dirty="0">
                <a:sym typeface="Symbol" panose="05050102010706020507" pitchFamily="18" charset="2"/>
              </a:rPr>
              <a:t> </a:t>
            </a:r>
            <a:r>
              <a:rPr lang="en-US" altLang="ja-JP" sz="2800" dirty="0">
                <a:sym typeface="Symbol" panose="05050102010706020507" pitchFamily="18" charset="2"/>
              </a:rPr>
              <a:t>(</a:t>
            </a:r>
            <a:r>
              <a:rPr lang="en-US" altLang="ja-JP" sz="2800" i="1" dirty="0">
                <a:sym typeface="Symbol" panose="05050102010706020507" pitchFamily="18" charset="2"/>
              </a:rPr>
              <a:t>instructor</a:t>
            </a:r>
            <a:r>
              <a:rPr lang="en-US" altLang="ja-JP" sz="2800" dirty="0">
                <a:sym typeface="Symbol" panose="05050102010706020507" pitchFamily="18" charset="2"/>
              </a:rPr>
              <a:t>))</a:t>
            </a:r>
          </a:p>
          <a:p>
            <a:pPr algn="just"/>
            <a:endParaRPr lang="en-IN" dirty="0"/>
          </a:p>
          <a:p>
            <a:pPr algn="just">
              <a:buFont typeface="Wingdings" panose="05000000000000000000" pitchFamily="2" charset="2"/>
              <a:buChar char="q"/>
            </a:pPr>
            <a:r>
              <a:rPr lang="en-US" altLang="en-US" sz="2800" dirty="0">
                <a:sym typeface="Symbol" panose="05050102010706020507" pitchFamily="18" charset="2"/>
              </a:rPr>
              <a:t>Instead of giving the name of a relation as argument of the projection operation, we give an expression that evaluates to a relation.</a:t>
            </a:r>
          </a:p>
          <a:p>
            <a:pPr algn="just"/>
            <a:endParaRPr lang="en-IN" dirty="0"/>
          </a:p>
        </p:txBody>
      </p:sp>
    </p:spTree>
    <p:extLst>
      <p:ext uri="{BB962C8B-B14F-4D97-AF65-F5344CB8AC3E}">
        <p14:creationId xmlns:p14="http://schemas.microsoft.com/office/powerpoint/2010/main" val="3171309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2B9CA-9A71-4D8D-9659-7806F257DBD7}"/>
              </a:ext>
            </a:extLst>
          </p:cNvPr>
          <p:cNvSpPr>
            <a:spLocks noGrp="1"/>
          </p:cNvSpPr>
          <p:nvPr>
            <p:ph type="title"/>
          </p:nvPr>
        </p:nvSpPr>
        <p:spPr>
          <a:xfrm>
            <a:off x="838200" y="10013"/>
            <a:ext cx="10515600" cy="1064185"/>
          </a:xfrm>
        </p:spPr>
        <p:txBody>
          <a:bodyPr/>
          <a:lstStyle/>
          <a:p>
            <a:pPr algn="ctr"/>
            <a:r>
              <a:rPr lang="en-IN" b="1" dirty="0">
                <a:solidFill>
                  <a:schemeClr val="accent4">
                    <a:lumMod val="50000"/>
                  </a:schemeClr>
                </a:solidFill>
              </a:rPr>
              <a:t>3. Cartesian-Product Operation</a:t>
            </a:r>
          </a:p>
        </p:txBody>
      </p:sp>
      <p:sp>
        <p:nvSpPr>
          <p:cNvPr id="3" name="Content Placeholder 2">
            <a:extLst>
              <a:ext uri="{FF2B5EF4-FFF2-40B4-BE49-F238E27FC236}">
                <a16:creationId xmlns:a16="http://schemas.microsoft.com/office/drawing/2014/main" id="{797D1DDA-1ACE-4301-9DA2-9F6A1B7429BB}"/>
              </a:ext>
            </a:extLst>
          </p:cNvPr>
          <p:cNvSpPr>
            <a:spLocks noGrp="1"/>
          </p:cNvSpPr>
          <p:nvPr>
            <p:ph idx="1"/>
          </p:nvPr>
        </p:nvSpPr>
        <p:spPr>
          <a:xfrm>
            <a:off x="1189608" y="905522"/>
            <a:ext cx="10830756" cy="5850385"/>
          </a:xfrm>
        </p:spPr>
        <p:txBody>
          <a:bodyPr>
            <a:normAutofit/>
          </a:bodyPr>
          <a:lstStyle/>
          <a:p>
            <a:pPr>
              <a:lnSpc>
                <a:spcPct val="100000"/>
              </a:lnSpc>
              <a:buFont typeface="Wingdings" panose="05000000000000000000" pitchFamily="2" charset="2"/>
              <a:buChar char="q"/>
            </a:pPr>
            <a:r>
              <a:rPr lang="en-IN" dirty="0"/>
              <a:t>Cartesian-product operation (denoted by X) allows us to combine information from any two relations. </a:t>
            </a:r>
          </a:p>
          <a:p>
            <a:pPr>
              <a:lnSpc>
                <a:spcPct val="100000"/>
              </a:lnSpc>
              <a:buFont typeface="Wingdings" panose="05000000000000000000" pitchFamily="2" charset="2"/>
              <a:buChar char="q"/>
            </a:pPr>
            <a:r>
              <a:rPr lang="en-IN" dirty="0"/>
              <a:t>On applying cartesian product on two relations that is on two sets of tuples, it will take every tuple one by one from the left set(relation) and will pair it up with all the tuples in the right set(relation).</a:t>
            </a:r>
          </a:p>
          <a:p>
            <a:pPr>
              <a:lnSpc>
                <a:spcPct val="100000"/>
              </a:lnSpc>
              <a:buFont typeface="Wingdings" panose="05000000000000000000" pitchFamily="2" charset="2"/>
              <a:buChar char="q"/>
            </a:pPr>
            <a:r>
              <a:rPr lang="en-IN" dirty="0"/>
              <a:t>So, CROSS PRODUCT of two relation A(R1, R2, R3, …, Rp) with degree p, and B(S1, S2, S3, …, Sn) with degree n, is a relation C(R1, R2, R3, …, Rp, S1, S2, S3, …, Sn) with degree p + n attributes.</a:t>
            </a:r>
          </a:p>
          <a:p>
            <a:pPr>
              <a:lnSpc>
                <a:spcPct val="100000"/>
              </a:lnSpc>
              <a:buFont typeface="Wingdings" panose="05000000000000000000" pitchFamily="2" charset="2"/>
              <a:buChar char="q"/>
            </a:pPr>
            <a:r>
              <a:rPr lang="en-IN" dirty="0">
                <a:solidFill>
                  <a:srgbClr val="273239"/>
                </a:solidFill>
                <a:latin typeface="urw-din"/>
              </a:rPr>
              <a:t>A=m tuples</a:t>
            </a:r>
          </a:p>
          <a:p>
            <a:pPr marL="0" indent="0">
              <a:lnSpc>
                <a:spcPct val="100000"/>
              </a:lnSpc>
              <a:buNone/>
            </a:pPr>
            <a:r>
              <a:rPr lang="en-IN" i="0" dirty="0">
                <a:solidFill>
                  <a:srgbClr val="273239"/>
                </a:solidFill>
                <a:effectLst/>
                <a:latin typeface="urw-din"/>
              </a:rPr>
              <a:t>B= n tuples</a:t>
            </a:r>
          </a:p>
          <a:p>
            <a:pPr marL="0" indent="0">
              <a:lnSpc>
                <a:spcPct val="100000"/>
              </a:lnSpc>
              <a:buNone/>
            </a:pPr>
            <a:r>
              <a:rPr lang="en-IN" dirty="0">
                <a:solidFill>
                  <a:srgbClr val="273239"/>
                </a:solidFill>
                <a:latin typeface="urw-din"/>
              </a:rPr>
              <a:t>C= A x B = m x n tuples will be in cross product</a:t>
            </a:r>
            <a:endParaRPr lang="en-IN" i="0" dirty="0">
              <a:solidFill>
                <a:srgbClr val="273239"/>
              </a:solidFill>
              <a:effectLst/>
              <a:latin typeface="urw-din"/>
            </a:endParaRPr>
          </a:p>
          <a:p>
            <a:pPr marL="0" indent="0">
              <a:lnSpc>
                <a:spcPct val="100000"/>
              </a:lnSpc>
              <a:buNone/>
            </a:pPr>
            <a:endParaRPr lang="en-IN" b="0" i="0" dirty="0">
              <a:solidFill>
                <a:srgbClr val="273239"/>
              </a:solidFill>
              <a:effectLst/>
              <a:latin typeface="urw-din"/>
            </a:endParaRPr>
          </a:p>
          <a:p>
            <a:pPr>
              <a:lnSpc>
                <a:spcPct val="100000"/>
              </a:lnSpc>
              <a:buFont typeface="Wingdings" panose="05000000000000000000" pitchFamily="2" charset="2"/>
              <a:buChar char="q"/>
            </a:pPr>
            <a:endParaRPr lang="en-IN" dirty="0"/>
          </a:p>
        </p:txBody>
      </p:sp>
    </p:spTree>
    <p:extLst>
      <p:ext uri="{BB962C8B-B14F-4D97-AF65-F5344CB8AC3E}">
        <p14:creationId xmlns:p14="http://schemas.microsoft.com/office/powerpoint/2010/main" val="3342561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0CDE5-9E4C-49A6-84F5-FFDC084A681D}"/>
              </a:ext>
            </a:extLst>
          </p:cNvPr>
          <p:cNvSpPr>
            <a:spLocks noGrp="1"/>
          </p:cNvSpPr>
          <p:nvPr>
            <p:ph idx="1"/>
          </p:nvPr>
        </p:nvSpPr>
        <p:spPr>
          <a:xfrm>
            <a:off x="1091953" y="878889"/>
            <a:ext cx="10972799" cy="5868140"/>
          </a:xfrm>
        </p:spPr>
        <p:txBody>
          <a:bodyPr/>
          <a:lstStyle/>
          <a:p>
            <a:pPr>
              <a:buFont typeface="Wingdings" panose="05000000000000000000" pitchFamily="2" charset="2"/>
              <a:buChar char="q"/>
            </a:pPr>
            <a:r>
              <a:rPr lang="en-IN" dirty="0"/>
              <a:t>Consider two relations STUDENT(SNO, FNAME, LNAME) and DETAIL(ROLLNO, AGE) below:</a:t>
            </a:r>
          </a:p>
          <a:p>
            <a:pPr>
              <a:buFont typeface="Wingdings" panose="05000000000000000000" pitchFamily="2" charset="2"/>
              <a:buChar char="q"/>
            </a:pPr>
            <a:endParaRPr lang="en-IN" dirty="0">
              <a:solidFill>
                <a:srgbClr val="273239"/>
              </a:solidFill>
              <a:latin typeface="urw-din"/>
            </a:endParaRPr>
          </a:p>
          <a:p>
            <a:pPr>
              <a:buFont typeface="Wingdings" panose="05000000000000000000" pitchFamily="2" charset="2"/>
              <a:buChar char="q"/>
            </a:pPr>
            <a:endParaRPr lang="en-IN" b="0" i="0" dirty="0">
              <a:solidFill>
                <a:srgbClr val="273239"/>
              </a:solidFill>
              <a:effectLst/>
              <a:latin typeface="urw-din"/>
            </a:endParaRPr>
          </a:p>
          <a:p>
            <a:pPr>
              <a:buFont typeface="Wingdings" panose="05000000000000000000" pitchFamily="2" charset="2"/>
              <a:buChar char="q"/>
            </a:pPr>
            <a:endParaRPr lang="en-IN" dirty="0">
              <a:solidFill>
                <a:srgbClr val="273239"/>
              </a:solidFill>
              <a:latin typeface="urw-din"/>
            </a:endParaRPr>
          </a:p>
          <a:p>
            <a:pPr>
              <a:buFont typeface="Wingdings" panose="05000000000000000000" pitchFamily="2" charset="2"/>
              <a:buChar char="q"/>
            </a:pPr>
            <a:r>
              <a:rPr lang="en-IN" dirty="0"/>
              <a:t>On applying CROSS PRODUCT on STUDENT and DETAIL:</a:t>
            </a:r>
          </a:p>
          <a:p>
            <a:pPr>
              <a:buFont typeface="Wingdings" panose="05000000000000000000" pitchFamily="2" charset="2"/>
              <a:buChar char="q"/>
            </a:pPr>
            <a:endParaRPr lang="en-IN" dirty="0"/>
          </a:p>
          <a:p>
            <a:pPr>
              <a:buFont typeface="Wingdings" panose="05000000000000000000" pitchFamily="2" charset="2"/>
              <a:buChar char="q"/>
            </a:pPr>
            <a:endParaRPr lang="en-IN" b="0" i="0" dirty="0">
              <a:solidFill>
                <a:srgbClr val="273239"/>
              </a:solidFill>
              <a:effectLst/>
              <a:latin typeface="urw-din"/>
            </a:endParaRPr>
          </a:p>
          <a:p>
            <a:pPr>
              <a:buFont typeface="Wingdings" panose="05000000000000000000" pitchFamily="2" charset="2"/>
              <a:buChar char="q"/>
            </a:pPr>
            <a:endParaRPr lang="en-IN" dirty="0">
              <a:solidFill>
                <a:srgbClr val="273239"/>
              </a:solidFill>
              <a:latin typeface="urw-din"/>
            </a:endParaRPr>
          </a:p>
          <a:p>
            <a:pPr>
              <a:buFont typeface="Wingdings" panose="05000000000000000000" pitchFamily="2" charset="2"/>
              <a:buChar char="q"/>
            </a:pPr>
            <a:endParaRPr lang="en-IN" dirty="0"/>
          </a:p>
        </p:txBody>
      </p:sp>
      <p:sp>
        <p:nvSpPr>
          <p:cNvPr id="4" name="Title 1">
            <a:extLst>
              <a:ext uri="{FF2B5EF4-FFF2-40B4-BE49-F238E27FC236}">
                <a16:creationId xmlns:a16="http://schemas.microsoft.com/office/drawing/2014/main" id="{4696F981-974D-49A4-BAF0-85756F7BB9AA}"/>
              </a:ext>
            </a:extLst>
          </p:cNvPr>
          <p:cNvSpPr>
            <a:spLocks noGrp="1"/>
          </p:cNvSpPr>
          <p:nvPr>
            <p:ph type="title"/>
          </p:nvPr>
        </p:nvSpPr>
        <p:spPr>
          <a:xfrm>
            <a:off x="838200" y="10013"/>
            <a:ext cx="10515600" cy="1064185"/>
          </a:xfrm>
        </p:spPr>
        <p:txBody>
          <a:bodyPr/>
          <a:lstStyle/>
          <a:p>
            <a:pPr algn="ctr"/>
            <a:r>
              <a:rPr lang="en-IN" b="1" dirty="0">
                <a:solidFill>
                  <a:schemeClr val="accent4">
                    <a:lumMod val="50000"/>
                  </a:schemeClr>
                </a:solidFill>
              </a:rPr>
              <a:t>Cartesian-Product Operation</a:t>
            </a:r>
          </a:p>
        </p:txBody>
      </p:sp>
      <p:graphicFrame>
        <p:nvGraphicFramePr>
          <p:cNvPr id="8" name="Table 8">
            <a:extLst>
              <a:ext uri="{FF2B5EF4-FFF2-40B4-BE49-F238E27FC236}">
                <a16:creationId xmlns:a16="http://schemas.microsoft.com/office/drawing/2014/main" id="{32B5FB65-F9D7-477F-8BCB-822B16B8EFB2}"/>
              </a:ext>
            </a:extLst>
          </p:cNvPr>
          <p:cNvGraphicFramePr>
            <a:graphicFrameLocks noGrp="1"/>
          </p:cNvGraphicFramePr>
          <p:nvPr>
            <p:extLst>
              <p:ext uri="{D42A27DB-BD31-4B8C-83A1-F6EECF244321}">
                <p14:modId xmlns:p14="http://schemas.microsoft.com/office/powerpoint/2010/main" val="1693780550"/>
              </p:ext>
            </p:extLst>
          </p:nvPr>
        </p:nvGraphicFramePr>
        <p:xfrm>
          <a:off x="2653440" y="1854841"/>
          <a:ext cx="3152559" cy="1097280"/>
        </p:xfrm>
        <a:graphic>
          <a:graphicData uri="http://schemas.openxmlformats.org/drawingml/2006/table">
            <a:tbl>
              <a:tblPr firstRow="1" bandRow="1">
                <a:tableStyleId>{5C22544A-7EE6-4342-B048-85BDC9FD1C3A}</a:tableStyleId>
              </a:tblPr>
              <a:tblGrid>
                <a:gridCol w="1050853">
                  <a:extLst>
                    <a:ext uri="{9D8B030D-6E8A-4147-A177-3AD203B41FA5}">
                      <a16:colId xmlns:a16="http://schemas.microsoft.com/office/drawing/2014/main" val="590397536"/>
                    </a:ext>
                  </a:extLst>
                </a:gridCol>
                <a:gridCol w="1050853">
                  <a:extLst>
                    <a:ext uri="{9D8B030D-6E8A-4147-A177-3AD203B41FA5}">
                      <a16:colId xmlns:a16="http://schemas.microsoft.com/office/drawing/2014/main" val="3671801184"/>
                    </a:ext>
                  </a:extLst>
                </a:gridCol>
                <a:gridCol w="1050853">
                  <a:extLst>
                    <a:ext uri="{9D8B030D-6E8A-4147-A177-3AD203B41FA5}">
                      <a16:colId xmlns:a16="http://schemas.microsoft.com/office/drawing/2014/main" val="3333314442"/>
                    </a:ext>
                  </a:extLst>
                </a:gridCol>
              </a:tblGrid>
              <a:tr h="354728">
                <a:tc>
                  <a:txBody>
                    <a:bodyPr/>
                    <a:lstStyle/>
                    <a:p>
                      <a:pPr algn="ctr" fontAlgn="base"/>
                      <a:r>
                        <a:rPr lang="en-IN" sz="1400" b="0" dirty="0">
                          <a:effectLst/>
                        </a:rPr>
                        <a:t>SNO</a:t>
                      </a:r>
                    </a:p>
                  </a:txBody>
                  <a:tcPr marL="76200" marR="76200" marT="76200" marB="76200" anchor="ctr"/>
                </a:tc>
                <a:tc>
                  <a:txBody>
                    <a:bodyPr/>
                    <a:lstStyle/>
                    <a:p>
                      <a:pPr algn="ctr" fontAlgn="base"/>
                      <a:r>
                        <a:rPr lang="en-IN" sz="1400" b="0">
                          <a:effectLst/>
                        </a:rPr>
                        <a:t>FNAME</a:t>
                      </a:r>
                    </a:p>
                  </a:txBody>
                  <a:tcPr marL="76200" marR="76200" marT="76200" marB="76200" anchor="ctr"/>
                </a:tc>
                <a:tc>
                  <a:txBody>
                    <a:bodyPr/>
                    <a:lstStyle/>
                    <a:p>
                      <a:pPr algn="ctr" fontAlgn="base"/>
                      <a:r>
                        <a:rPr lang="en-IN" sz="1400" b="0" dirty="0">
                          <a:effectLst/>
                        </a:rPr>
                        <a:t>LNAME</a:t>
                      </a:r>
                    </a:p>
                  </a:txBody>
                  <a:tcPr marL="76200" marR="76200" marT="76200" marB="76200" anchor="ctr"/>
                </a:tc>
                <a:extLst>
                  <a:ext uri="{0D108BD9-81ED-4DB2-BD59-A6C34878D82A}">
                    <a16:rowId xmlns:a16="http://schemas.microsoft.com/office/drawing/2014/main" val="3690121636"/>
                  </a:ext>
                </a:extLst>
              </a:tr>
              <a:tr h="354728">
                <a:tc>
                  <a:txBody>
                    <a:bodyPr/>
                    <a:lstStyle/>
                    <a:p>
                      <a:pPr algn="ctr" fontAlgn="base"/>
                      <a:r>
                        <a:rPr lang="en-IN" b="0">
                          <a:effectLst/>
                        </a:rPr>
                        <a:t>1</a:t>
                      </a:r>
                    </a:p>
                  </a:txBody>
                  <a:tcPr anchor="ctr"/>
                </a:tc>
                <a:tc>
                  <a:txBody>
                    <a:bodyPr/>
                    <a:lstStyle/>
                    <a:p>
                      <a:pPr algn="ctr" fontAlgn="base"/>
                      <a:r>
                        <a:rPr lang="en-IN" b="0" dirty="0">
                          <a:effectLst/>
                        </a:rPr>
                        <a:t>ABC</a:t>
                      </a:r>
                    </a:p>
                  </a:txBody>
                  <a:tcPr anchor="ctr"/>
                </a:tc>
                <a:tc>
                  <a:txBody>
                    <a:bodyPr/>
                    <a:lstStyle/>
                    <a:p>
                      <a:pPr algn="ctr" fontAlgn="base"/>
                      <a:r>
                        <a:rPr lang="en-IN" b="0" dirty="0">
                          <a:effectLst/>
                        </a:rPr>
                        <a:t>XYZ</a:t>
                      </a:r>
                    </a:p>
                  </a:txBody>
                  <a:tcPr anchor="ctr"/>
                </a:tc>
                <a:extLst>
                  <a:ext uri="{0D108BD9-81ED-4DB2-BD59-A6C34878D82A}">
                    <a16:rowId xmlns:a16="http://schemas.microsoft.com/office/drawing/2014/main" val="934641313"/>
                  </a:ext>
                </a:extLst>
              </a:tr>
              <a:tr h="354728">
                <a:tc>
                  <a:txBody>
                    <a:bodyPr/>
                    <a:lstStyle/>
                    <a:p>
                      <a:pPr algn="ctr" fontAlgn="base"/>
                      <a:r>
                        <a:rPr lang="en-IN" b="0">
                          <a:effectLst/>
                        </a:rPr>
                        <a:t>2</a:t>
                      </a:r>
                    </a:p>
                  </a:txBody>
                  <a:tcPr anchor="ctr"/>
                </a:tc>
                <a:tc>
                  <a:txBody>
                    <a:bodyPr/>
                    <a:lstStyle/>
                    <a:p>
                      <a:pPr algn="ctr" fontAlgn="base"/>
                      <a:r>
                        <a:rPr lang="en-IN" b="0" dirty="0">
                          <a:effectLst/>
                        </a:rPr>
                        <a:t>PQR</a:t>
                      </a:r>
                    </a:p>
                  </a:txBody>
                  <a:tcPr anchor="ctr"/>
                </a:tc>
                <a:tc>
                  <a:txBody>
                    <a:bodyPr/>
                    <a:lstStyle/>
                    <a:p>
                      <a:pPr algn="ctr" fontAlgn="base"/>
                      <a:r>
                        <a:rPr lang="en-IN" b="0" dirty="0">
                          <a:effectLst/>
                        </a:rPr>
                        <a:t>DEF</a:t>
                      </a:r>
                    </a:p>
                  </a:txBody>
                  <a:tcPr anchor="ctr"/>
                </a:tc>
                <a:extLst>
                  <a:ext uri="{0D108BD9-81ED-4DB2-BD59-A6C34878D82A}">
                    <a16:rowId xmlns:a16="http://schemas.microsoft.com/office/drawing/2014/main" val="3111439054"/>
                  </a:ext>
                </a:extLst>
              </a:tr>
            </a:tbl>
          </a:graphicData>
        </a:graphic>
      </p:graphicFrame>
      <p:graphicFrame>
        <p:nvGraphicFramePr>
          <p:cNvPr id="9" name="Table 9">
            <a:extLst>
              <a:ext uri="{FF2B5EF4-FFF2-40B4-BE49-F238E27FC236}">
                <a16:creationId xmlns:a16="http://schemas.microsoft.com/office/drawing/2014/main" id="{34CEDC7F-3762-47AD-A6FE-5F8563EDB8C4}"/>
              </a:ext>
            </a:extLst>
          </p:cNvPr>
          <p:cNvGraphicFramePr>
            <a:graphicFrameLocks noGrp="1"/>
          </p:cNvGraphicFramePr>
          <p:nvPr>
            <p:extLst>
              <p:ext uri="{D42A27DB-BD31-4B8C-83A1-F6EECF244321}">
                <p14:modId xmlns:p14="http://schemas.microsoft.com/office/powerpoint/2010/main" val="1109622853"/>
              </p:ext>
            </p:extLst>
          </p:nvPr>
        </p:nvGraphicFramePr>
        <p:xfrm>
          <a:off x="6639511" y="1870081"/>
          <a:ext cx="2451224" cy="1097280"/>
        </p:xfrm>
        <a:graphic>
          <a:graphicData uri="http://schemas.openxmlformats.org/drawingml/2006/table">
            <a:tbl>
              <a:tblPr firstRow="1" bandRow="1">
                <a:tableStyleId>{5C22544A-7EE6-4342-B048-85BDC9FD1C3A}</a:tableStyleId>
              </a:tblPr>
              <a:tblGrid>
                <a:gridCol w="1225612">
                  <a:extLst>
                    <a:ext uri="{9D8B030D-6E8A-4147-A177-3AD203B41FA5}">
                      <a16:colId xmlns:a16="http://schemas.microsoft.com/office/drawing/2014/main" val="3915408958"/>
                    </a:ext>
                  </a:extLst>
                </a:gridCol>
                <a:gridCol w="1225612">
                  <a:extLst>
                    <a:ext uri="{9D8B030D-6E8A-4147-A177-3AD203B41FA5}">
                      <a16:colId xmlns:a16="http://schemas.microsoft.com/office/drawing/2014/main" val="1297999393"/>
                    </a:ext>
                  </a:extLst>
                </a:gridCol>
              </a:tblGrid>
              <a:tr h="332469">
                <a:tc>
                  <a:txBody>
                    <a:bodyPr/>
                    <a:lstStyle/>
                    <a:p>
                      <a:pPr algn="ctr" fontAlgn="base"/>
                      <a:r>
                        <a:rPr lang="en-IN" sz="1400" b="0">
                          <a:effectLst/>
                        </a:rPr>
                        <a:t>ROLLNO</a:t>
                      </a:r>
                    </a:p>
                  </a:txBody>
                  <a:tcPr marL="76200" marR="76200" marT="76200" marB="76200" anchor="ctr"/>
                </a:tc>
                <a:tc>
                  <a:txBody>
                    <a:bodyPr/>
                    <a:lstStyle/>
                    <a:p>
                      <a:pPr algn="ctr" fontAlgn="base"/>
                      <a:r>
                        <a:rPr lang="en-IN" sz="1400" b="0" dirty="0">
                          <a:effectLst/>
                        </a:rPr>
                        <a:t>AGE</a:t>
                      </a:r>
                    </a:p>
                  </a:txBody>
                  <a:tcPr marL="76200" marR="76200" marT="76200" marB="76200" anchor="ctr"/>
                </a:tc>
                <a:extLst>
                  <a:ext uri="{0D108BD9-81ED-4DB2-BD59-A6C34878D82A}">
                    <a16:rowId xmlns:a16="http://schemas.microsoft.com/office/drawing/2014/main" val="2953033518"/>
                  </a:ext>
                </a:extLst>
              </a:tr>
              <a:tr h="332469">
                <a:tc>
                  <a:txBody>
                    <a:bodyPr/>
                    <a:lstStyle/>
                    <a:p>
                      <a:pPr algn="ctr" fontAlgn="base"/>
                      <a:r>
                        <a:rPr lang="en-IN" b="0">
                          <a:effectLst/>
                        </a:rPr>
                        <a:t>5</a:t>
                      </a:r>
                    </a:p>
                  </a:txBody>
                  <a:tcPr anchor="ctr"/>
                </a:tc>
                <a:tc>
                  <a:txBody>
                    <a:bodyPr/>
                    <a:lstStyle/>
                    <a:p>
                      <a:pPr algn="ctr" fontAlgn="base"/>
                      <a:r>
                        <a:rPr lang="en-IN" b="0">
                          <a:effectLst/>
                        </a:rPr>
                        <a:t>18</a:t>
                      </a:r>
                    </a:p>
                  </a:txBody>
                  <a:tcPr anchor="ctr"/>
                </a:tc>
                <a:extLst>
                  <a:ext uri="{0D108BD9-81ED-4DB2-BD59-A6C34878D82A}">
                    <a16:rowId xmlns:a16="http://schemas.microsoft.com/office/drawing/2014/main" val="1132739336"/>
                  </a:ext>
                </a:extLst>
              </a:tr>
              <a:tr h="332469">
                <a:tc>
                  <a:txBody>
                    <a:bodyPr/>
                    <a:lstStyle/>
                    <a:p>
                      <a:pPr algn="ctr" fontAlgn="base"/>
                      <a:r>
                        <a:rPr lang="en-IN" b="0">
                          <a:effectLst/>
                        </a:rPr>
                        <a:t>9</a:t>
                      </a:r>
                    </a:p>
                  </a:txBody>
                  <a:tcPr anchor="ctr"/>
                </a:tc>
                <a:tc>
                  <a:txBody>
                    <a:bodyPr/>
                    <a:lstStyle/>
                    <a:p>
                      <a:pPr algn="ctr" fontAlgn="base"/>
                      <a:r>
                        <a:rPr lang="en-IN" b="0" dirty="0">
                          <a:effectLst/>
                        </a:rPr>
                        <a:t>21</a:t>
                      </a:r>
                    </a:p>
                  </a:txBody>
                  <a:tcPr anchor="ctr"/>
                </a:tc>
                <a:extLst>
                  <a:ext uri="{0D108BD9-81ED-4DB2-BD59-A6C34878D82A}">
                    <a16:rowId xmlns:a16="http://schemas.microsoft.com/office/drawing/2014/main" val="1856741620"/>
                  </a:ext>
                </a:extLst>
              </a:tr>
            </a:tbl>
          </a:graphicData>
        </a:graphic>
      </p:graphicFrame>
      <p:sp>
        <p:nvSpPr>
          <p:cNvPr id="16" name="Rectangle 6">
            <a:extLst>
              <a:ext uri="{FF2B5EF4-FFF2-40B4-BE49-F238E27FC236}">
                <a16:creationId xmlns:a16="http://schemas.microsoft.com/office/drawing/2014/main" id="{FFC11CB8-6C63-4CB9-9A18-200AE831889F}"/>
              </a:ext>
            </a:extLst>
          </p:cNvPr>
          <p:cNvSpPr>
            <a:spLocks noChangeArrowheads="1"/>
          </p:cNvSpPr>
          <p:nvPr/>
        </p:nvSpPr>
        <p:spPr bwMode="auto">
          <a:xfrm>
            <a:off x="3959351" y="3820997"/>
            <a:ext cx="3152559" cy="433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73239"/>
                </a:solidFill>
                <a:effectLst/>
                <a:latin typeface="Consolas" panose="020B0609020204030204" pitchFamily="49" charset="0"/>
              </a:rPr>
              <a:t>STUDENT ✕ DETAIL</a:t>
            </a:r>
            <a:r>
              <a:rPr kumimoji="0" lang="en-US" altLang="en-US" sz="2400" b="1" i="0" u="none" strike="noStrike" cap="none" normalizeH="0" baseline="0" dirty="0">
                <a:ln>
                  <a:noFill/>
                </a:ln>
                <a:solidFill>
                  <a:schemeClr val="tx1"/>
                </a:solidFill>
                <a:effectLst/>
              </a:rPr>
              <a:t> </a:t>
            </a:r>
            <a:endParaRPr kumimoji="0" lang="en-US" altLang="en-US" sz="2400" b="1" i="0" u="none" strike="noStrike" cap="none" normalizeH="0" baseline="0" dirty="0">
              <a:ln>
                <a:noFill/>
              </a:ln>
              <a:solidFill>
                <a:schemeClr val="tx1"/>
              </a:solidFill>
              <a:effectLst/>
              <a:latin typeface="Arial" panose="020B0604020202020204" pitchFamily="34" charset="0"/>
            </a:endParaRPr>
          </a:p>
        </p:txBody>
      </p:sp>
      <p:graphicFrame>
        <p:nvGraphicFramePr>
          <p:cNvPr id="17" name="Table 17">
            <a:extLst>
              <a:ext uri="{FF2B5EF4-FFF2-40B4-BE49-F238E27FC236}">
                <a16:creationId xmlns:a16="http://schemas.microsoft.com/office/drawing/2014/main" id="{3F453AD3-9F4B-455C-BE7B-C75675556017}"/>
              </a:ext>
            </a:extLst>
          </p:cNvPr>
          <p:cNvGraphicFramePr>
            <a:graphicFrameLocks noGrp="1"/>
          </p:cNvGraphicFramePr>
          <p:nvPr>
            <p:extLst>
              <p:ext uri="{D42A27DB-BD31-4B8C-83A1-F6EECF244321}">
                <p14:modId xmlns:p14="http://schemas.microsoft.com/office/powerpoint/2010/main" val="1758752761"/>
              </p:ext>
            </p:extLst>
          </p:nvPr>
        </p:nvGraphicFramePr>
        <p:xfrm>
          <a:off x="2653440" y="4390749"/>
          <a:ext cx="5984680" cy="1828800"/>
        </p:xfrm>
        <a:graphic>
          <a:graphicData uri="http://schemas.openxmlformats.org/drawingml/2006/table">
            <a:tbl>
              <a:tblPr firstRow="1" bandRow="1">
                <a:tableStyleId>{5C22544A-7EE6-4342-B048-85BDC9FD1C3A}</a:tableStyleId>
              </a:tblPr>
              <a:tblGrid>
                <a:gridCol w="1196936">
                  <a:extLst>
                    <a:ext uri="{9D8B030D-6E8A-4147-A177-3AD203B41FA5}">
                      <a16:colId xmlns:a16="http://schemas.microsoft.com/office/drawing/2014/main" val="3976116594"/>
                    </a:ext>
                  </a:extLst>
                </a:gridCol>
                <a:gridCol w="1196936">
                  <a:extLst>
                    <a:ext uri="{9D8B030D-6E8A-4147-A177-3AD203B41FA5}">
                      <a16:colId xmlns:a16="http://schemas.microsoft.com/office/drawing/2014/main" val="441094547"/>
                    </a:ext>
                  </a:extLst>
                </a:gridCol>
                <a:gridCol w="1196936">
                  <a:extLst>
                    <a:ext uri="{9D8B030D-6E8A-4147-A177-3AD203B41FA5}">
                      <a16:colId xmlns:a16="http://schemas.microsoft.com/office/drawing/2014/main" val="2743580234"/>
                    </a:ext>
                  </a:extLst>
                </a:gridCol>
                <a:gridCol w="1196936">
                  <a:extLst>
                    <a:ext uri="{9D8B030D-6E8A-4147-A177-3AD203B41FA5}">
                      <a16:colId xmlns:a16="http://schemas.microsoft.com/office/drawing/2014/main" val="90826901"/>
                    </a:ext>
                  </a:extLst>
                </a:gridCol>
                <a:gridCol w="1196936">
                  <a:extLst>
                    <a:ext uri="{9D8B030D-6E8A-4147-A177-3AD203B41FA5}">
                      <a16:colId xmlns:a16="http://schemas.microsoft.com/office/drawing/2014/main" val="3473842573"/>
                    </a:ext>
                  </a:extLst>
                </a:gridCol>
              </a:tblGrid>
              <a:tr h="295940">
                <a:tc>
                  <a:txBody>
                    <a:bodyPr/>
                    <a:lstStyle/>
                    <a:p>
                      <a:pPr algn="ctr" fontAlgn="base"/>
                      <a:r>
                        <a:rPr lang="en-IN" sz="1400" b="0">
                          <a:effectLst/>
                        </a:rPr>
                        <a:t>SNO</a:t>
                      </a:r>
                    </a:p>
                  </a:txBody>
                  <a:tcPr marL="76200" marR="76200" marT="76200" marB="76200" anchor="ctr"/>
                </a:tc>
                <a:tc>
                  <a:txBody>
                    <a:bodyPr/>
                    <a:lstStyle/>
                    <a:p>
                      <a:pPr algn="ctr" fontAlgn="base"/>
                      <a:r>
                        <a:rPr lang="en-IN" sz="1400" b="0">
                          <a:effectLst/>
                        </a:rPr>
                        <a:t>FNAME</a:t>
                      </a:r>
                    </a:p>
                  </a:txBody>
                  <a:tcPr marL="76200" marR="76200" marT="76200" marB="76200" anchor="ctr"/>
                </a:tc>
                <a:tc>
                  <a:txBody>
                    <a:bodyPr/>
                    <a:lstStyle/>
                    <a:p>
                      <a:pPr algn="ctr" fontAlgn="base"/>
                      <a:r>
                        <a:rPr lang="en-IN" sz="1400" b="0">
                          <a:effectLst/>
                        </a:rPr>
                        <a:t>LNAME</a:t>
                      </a:r>
                    </a:p>
                  </a:txBody>
                  <a:tcPr marL="76200" marR="76200" marT="76200" marB="76200" anchor="ctr"/>
                </a:tc>
                <a:tc>
                  <a:txBody>
                    <a:bodyPr/>
                    <a:lstStyle/>
                    <a:p>
                      <a:pPr algn="ctr" fontAlgn="base"/>
                      <a:r>
                        <a:rPr lang="en-IN" sz="1400" b="0">
                          <a:effectLst/>
                        </a:rPr>
                        <a:t>ROLLNO</a:t>
                      </a:r>
                    </a:p>
                  </a:txBody>
                  <a:tcPr marL="76200" marR="76200" marT="76200" marB="76200" anchor="ctr"/>
                </a:tc>
                <a:tc>
                  <a:txBody>
                    <a:bodyPr/>
                    <a:lstStyle/>
                    <a:p>
                      <a:pPr algn="ctr" fontAlgn="base"/>
                      <a:r>
                        <a:rPr lang="en-IN" sz="1400" b="0" dirty="0">
                          <a:effectLst/>
                        </a:rPr>
                        <a:t>AGE</a:t>
                      </a:r>
                    </a:p>
                  </a:txBody>
                  <a:tcPr marL="76200" marR="76200" marT="76200" marB="76200" anchor="ctr"/>
                </a:tc>
                <a:extLst>
                  <a:ext uri="{0D108BD9-81ED-4DB2-BD59-A6C34878D82A}">
                    <a16:rowId xmlns:a16="http://schemas.microsoft.com/office/drawing/2014/main" val="867605289"/>
                  </a:ext>
                </a:extLst>
              </a:tr>
              <a:tr h="295940">
                <a:tc>
                  <a:txBody>
                    <a:bodyPr/>
                    <a:lstStyle/>
                    <a:p>
                      <a:pPr algn="ctr" fontAlgn="base"/>
                      <a:r>
                        <a:rPr lang="en-IN" b="0">
                          <a:effectLst/>
                        </a:rPr>
                        <a:t>1</a:t>
                      </a:r>
                    </a:p>
                  </a:txBody>
                  <a:tcPr anchor="ctr"/>
                </a:tc>
                <a:tc>
                  <a:txBody>
                    <a:bodyPr/>
                    <a:lstStyle/>
                    <a:p>
                      <a:pPr algn="ctr" fontAlgn="base"/>
                      <a:r>
                        <a:rPr lang="en-IN" b="0" dirty="0">
                          <a:effectLst/>
                        </a:rPr>
                        <a:t>ABC</a:t>
                      </a:r>
                    </a:p>
                  </a:txBody>
                  <a:tcPr anchor="ctr"/>
                </a:tc>
                <a:tc>
                  <a:txBody>
                    <a:bodyPr/>
                    <a:lstStyle/>
                    <a:p>
                      <a:pPr algn="ctr" fontAlgn="base"/>
                      <a:r>
                        <a:rPr lang="en-IN" b="0" dirty="0">
                          <a:effectLst/>
                        </a:rPr>
                        <a:t>XYZ</a:t>
                      </a:r>
                    </a:p>
                  </a:txBody>
                  <a:tcPr anchor="ctr"/>
                </a:tc>
                <a:tc>
                  <a:txBody>
                    <a:bodyPr/>
                    <a:lstStyle/>
                    <a:p>
                      <a:pPr algn="ctr" fontAlgn="base"/>
                      <a:r>
                        <a:rPr lang="en-IN" b="0">
                          <a:effectLst/>
                        </a:rPr>
                        <a:t>5</a:t>
                      </a:r>
                    </a:p>
                  </a:txBody>
                  <a:tcPr anchor="ctr"/>
                </a:tc>
                <a:tc>
                  <a:txBody>
                    <a:bodyPr/>
                    <a:lstStyle/>
                    <a:p>
                      <a:pPr algn="ctr" fontAlgn="base"/>
                      <a:r>
                        <a:rPr lang="en-IN" b="0">
                          <a:effectLst/>
                        </a:rPr>
                        <a:t>18</a:t>
                      </a:r>
                    </a:p>
                  </a:txBody>
                  <a:tcPr anchor="ctr"/>
                </a:tc>
                <a:extLst>
                  <a:ext uri="{0D108BD9-81ED-4DB2-BD59-A6C34878D82A}">
                    <a16:rowId xmlns:a16="http://schemas.microsoft.com/office/drawing/2014/main" val="2405382307"/>
                  </a:ext>
                </a:extLst>
              </a:tr>
              <a:tr h="295940">
                <a:tc>
                  <a:txBody>
                    <a:bodyPr/>
                    <a:lstStyle/>
                    <a:p>
                      <a:pPr algn="ctr" fontAlgn="base"/>
                      <a:r>
                        <a:rPr lang="en-IN" b="0">
                          <a:effectLst/>
                        </a:rPr>
                        <a:t>1</a:t>
                      </a:r>
                    </a:p>
                  </a:txBody>
                  <a:tcPr anchor="ctr"/>
                </a:tc>
                <a:tc>
                  <a:txBody>
                    <a:bodyPr/>
                    <a:lstStyle/>
                    <a:p>
                      <a:pPr algn="ctr" fontAlgn="base"/>
                      <a:r>
                        <a:rPr lang="en-IN" b="0" dirty="0">
                          <a:effectLst/>
                        </a:rPr>
                        <a:t>ABC</a:t>
                      </a:r>
                    </a:p>
                  </a:txBody>
                  <a:tcPr anchor="ctr"/>
                </a:tc>
                <a:tc>
                  <a:txBody>
                    <a:bodyPr/>
                    <a:lstStyle/>
                    <a:p>
                      <a:pPr algn="ctr" fontAlgn="base"/>
                      <a:r>
                        <a:rPr lang="en-IN" b="0" dirty="0">
                          <a:effectLst/>
                        </a:rPr>
                        <a:t>XYZ</a:t>
                      </a:r>
                    </a:p>
                  </a:txBody>
                  <a:tcPr anchor="ctr"/>
                </a:tc>
                <a:tc>
                  <a:txBody>
                    <a:bodyPr/>
                    <a:lstStyle/>
                    <a:p>
                      <a:pPr algn="ctr" fontAlgn="base"/>
                      <a:r>
                        <a:rPr lang="en-IN" b="0">
                          <a:effectLst/>
                        </a:rPr>
                        <a:t>9</a:t>
                      </a:r>
                    </a:p>
                  </a:txBody>
                  <a:tcPr anchor="ctr"/>
                </a:tc>
                <a:tc>
                  <a:txBody>
                    <a:bodyPr/>
                    <a:lstStyle/>
                    <a:p>
                      <a:pPr algn="ctr" fontAlgn="base"/>
                      <a:r>
                        <a:rPr lang="en-IN" b="0">
                          <a:effectLst/>
                        </a:rPr>
                        <a:t>21</a:t>
                      </a:r>
                    </a:p>
                  </a:txBody>
                  <a:tcPr anchor="ctr"/>
                </a:tc>
                <a:extLst>
                  <a:ext uri="{0D108BD9-81ED-4DB2-BD59-A6C34878D82A}">
                    <a16:rowId xmlns:a16="http://schemas.microsoft.com/office/drawing/2014/main" val="1021141692"/>
                  </a:ext>
                </a:extLst>
              </a:tr>
              <a:tr h="295940">
                <a:tc>
                  <a:txBody>
                    <a:bodyPr/>
                    <a:lstStyle/>
                    <a:p>
                      <a:pPr algn="ctr" fontAlgn="base"/>
                      <a:r>
                        <a:rPr lang="en-IN" b="0">
                          <a:effectLst/>
                        </a:rPr>
                        <a:t>2</a:t>
                      </a:r>
                    </a:p>
                  </a:txBody>
                  <a:tcPr anchor="ctr"/>
                </a:tc>
                <a:tc>
                  <a:txBody>
                    <a:bodyPr/>
                    <a:lstStyle/>
                    <a:p>
                      <a:pPr algn="ctr" fontAlgn="base"/>
                      <a:r>
                        <a:rPr lang="en-IN" b="0" dirty="0">
                          <a:effectLst/>
                        </a:rPr>
                        <a:t>PQR</a:t>
                      </a:r>
                    </a:p>
                  </a:txBody>
                  <a:tcPr anchor="ctr"/>
                </a:tc>
                <a:tc>
                  <a:txBody>
                    <a:bodyPr/>
                    <a:lstStyle/>
                    <a:p>
                      <a:pPr algn="ctr" fontAlgn="base"/>
                      <a:r>
                        <a:rPr lang="en-IN" b="0" dirty="0">
                          <a:effectLst/>
                        </a:rPr>
                        <a:t>DEF</a:t>
                      </a:r>
                    </a:p>
                  </a:txBody>
                  <a:tcPr anchor="ctr"/>
                </a:tc>
                <a:tc>
                  <a:txBody>
                    <a:bodyPr/>
                    <a:lstStyle/>
                    <a:p>
                      <a:pPr algn="ctr" fontAlgn="base"/>
                      <a:r>
                        <a:rPr lang="en-IN" b="0">
                          <a:effectLst/>
                        </a:rPr>
                        <a:t>5</a:t>
                      </a:r>
                    </a:p>
                  </a:txBody>
                  <a:tcPr anchor="ctr"/>
                </a:tc>
                <a:tc>
                  <a:txBody>
                    <a:bodyPr/>
                    <a:lstStyle/>
                    <a:p>
                      <a:pPr algn="ctr" fontAlgn="base"/>
                      <a:r>
                        <a:rPr lang="en-IN" b="0">
                          <a:effectLst/>
                        </a:rPr>
                        <a:t>18</a:t>
                      </a:r>
                    </a:p>
                  </a:txBody>
                  <a:tcPr anchor="ctr"/>
                </a:tc>
                <a:extLst>
                  <a:ext uri="{0D108BD9-81ED-4DB2-BD59-A6C34878D82A}">
                    <a16:rowId xmlns:a16="http://schemas.microsoft.com/office/drawing/2014/main" val="2287931485"/>
                  </a:ext>
                </a:extLst>
              </a:tr>
              <a:tr h="295940">
                <a:tc>
                  <a:txBody>
                    <a:bodyPr/>
                    <a:lstStyle/>
                    <a:p>
                      <a:pPr algn="ctr" fontAlgn="base"/>
                      <a:r>
                        <a:rPr lang="en-IN" b="0">
                          <a:effectLst/>
                        </a:rPr>
                        <a:t>2</a:t>
                      </a:r>
                    </a:p>
                  </a:txBody>
                  <a:tcPr anchor="ctr"/>
                </a:tc>
                <a:tc>
                  <a:txBody>
                    <a:bodyPr/>
                    <a:lstStyle/>
                    <a:p>
                      <a:pPr algn="ctr" fontAlgn="base"/>
                      <a:r>
                        <a:rPr lang="en-IN" b="0" dirty="0">
                          <a:effectLst/>
                        </a:rPr>
                        <a:t>PQR</a:t>
                      </a:r>
                    </a:p>
                  </a:txBody>
                  <a:tcPr anchor="ctr"/>
                </a:tc>
                <a:tc>
                  <a:txBody>
                    <a:bodyPr/>
                    <a:lstStyle/>
                    <a:p>
                      <a:pPr algn="ctr" fontAlgn="base"/>
                      <a:r>
                        <a:rPr lang="en-IN" b="0" dirty="0">
                          <a:effectLst/>
                        </a:rPr>
                        <a:t>DEF</a:t>
                      </a:r>
                    </a:p>
                  </a:txBody>
                  <a:tcPr anchor="ctr"/>
                </a:tc>
                <a:tc>
                  <a:txBody>
                    <a:bodyPr/>
                    <a:lstStyle/>
                    <a:p>
                      <a:pPr algn="ctr" fontAlgn="base"/>
                      <a:r>
                        <a:rPr lang="en-IN" b="0">
                          <a:effectLst/>
                        </a:rPr>
                        <a:t>9</a:t>
                      </a:r>
                    </a:p>
                  </a:txBody>
                  <a:tcPr anchor="ctr"/>
                </a:tc>
                <a:tc>
                  <a:txBody>
                    <a:bodyPr/>
                    <a:lstStyle/>
                    <a:p>
                      <a:pPr algn="ctr" fontAlgn="base"/>
                      <a:r>
                        <a:rPr lang="en-IN" b="0" dirty="0">
                          <a:effectLst/>
                        </a:rPr>
                        <a:t>21</a:t>
                      </a:r>
                    </a:p>
                  </a:txBody>
                  <a:tcPr anchor="ctr"/>
                </a:tc>
                <a:extLst>
                  <a:ext uri="{0D108BD9-81ED-4DB2-BD59-A6C34878D82A}">
                    <a16:rowId xmlns:a16="http://schemas.microsoft.com/office/drawing/2014/main" val="73662500"/>
                  </a:ext>
                </a:extLst>
              </a:tr>
            </a:tbl>
          </a:graphicData>
        </a:graphic>
      </p:graphicFrame>
    </p:spTree>
    <p:extLst>
      <p:ext uri="{BB962C8B-B14F-4D97-AF65-F5344CB8AC3E}">
        <p14:creationId xmlns:p14="http://schemas.microsoft.com/office/powerpoint/2010/main" val="2490128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C982-C0BF-4C8F-8BF9-676EB04FC15D}"/>
              </a:ext>
            </a:extLst>
          </p:cNvPr>
          <p:cNvSpPr>
            <a:spLocks noGrp="1"/>
          </p:cNvSpPr>
          <p:nvPr>
            <p:ph idx="1"/>
          </p:nvPr>
        </p:nvSpPr>
        <p:spPr>
          <a:xfrm>
            <a:off x="1170432" y="896112"/>
            <a:ext cx="10872216" cy="5861304"/>
          </a:xfrm>
        </p:spPr>
        <p:txBody>
          <a:bodyPr/>
          <a:lstStyle/>
          <a:p>
            <a:pPr>
              <a:buFont typeface="Wingdings" panose="05000000000000000000" pitchFamily="2" charset="2"/>
              <a:buChar char="q"/>
            </a:pPr>
            <a:r>
              <a:rPr lang="en-IN" b="1" dirty="0"/>
              <a:t>Cardinality</a:t>
            </a:r>
            <a:r>
              <a:rPr lang="en-IN" dirty="0"/>
              <a:t> (</a:t>
            </a:r>
            <a:r>
              <a:rPr lang="en-IN" b="1" dirty="0"/>
              <a:t>number of tuples</a:t>
            </a:r>
            <a:r>
              <a:rPr lang="en-IN" dirty="0"/>
              <a:t>) of resulting relation from a Cross Product operation is equal to number of attributes(say m) in first relation multiplied by number of attributes in second relation(say n).</a:t>
            </a:r>
          </a:p>
          <a:p>
            <a:pPr marL="0" indent="0">
              <a:buNone/>
            </a:pPr>
            <a:endParaRPr lang="en-IN" dirty="0"/>
          </a:p>
          <a:p>
            <a:pPr marL="0" indent="0">
              <a:buNone/>
            </a:pPr>
            <a:endParaRPr lang="en-IN" dirty="0"/>
          </a:p>
          <a:p>
            <a:pPr marL="0" indent="0">
              <a:buNone/>
            </a:pPr>
            <a:r>
              <a:rPr lang="en-IN" dirty="0"/>
              <a:t>e.g. as discussed above</a:t>
            </a:r>
          </a:p>
          <a:p>
            <a:pPr>
              <a:buFont typeface="Wingdings" panose="05000000000000000000" pitchFamily="2" charset="2"/>
              <a:buChar char="q"/>
            </a:pPr>
            <a:r>
              <a:rPr lang="en-US" altLang="en-US" dirty="0"/>
              <a:t>When </a:t>
            </a:r>
            <a:r>
              <a:rPr lang="en-US" altLang="en-US" b="1" dirty="0"/>
              <a:t>same attribute appear</a:t>
            </a:r>
            <a:r>
              <a:rPr lang="en-US" altLang="en-US" sz="2800" b="1" dirty="0"/>
              <a:t> </a:t>
            </a:r>
            <a:r>
              <a:rPr lang="en-US" altLang="en-US" sz="2800" dirty="0"/>
              <a:t>in both relations we distinguish between these attribute by </a:t>
            </a:r>
            <a:r>
              <a:rPr lang="en-US" altLang="en-US" sz="2800" b="1" dirty="0"/>
              <a:t>attaching</a:t>
            </a:r>
            <a:r>
              <a:rPr lang="en-US" altLang="en-US" sz="2800" dirty="0"/>
              <a:t> to the attribute the </a:t>
            </a:r>
            <a:r>
              <a:rPr lang="en-US" altLang="en-US" sz="2800" b="1" dirty="0"/>
              <a:t>name of the relation </a:t>
            </a:r>
            <a:r>
              <a:rPr lang="en-US" altLang="en-US" sz="2800" dirty="0"/>
              <a:t>from which the attribute originally came.</a:t>
            </a:r>
          </a:p>
          <a:p>
            <a:pPr marL="0" indent="0">
              <a:buNone/>
            </a:pPr>
            <a:endParaRPr lang="en-IN" dirty="0"/>
          </a:p>
        </p:txBody>
      </p:sp>
      <p:sp>
        <p:nvSpPr>
          <p:cNvPr id="4" name="Title 1">
            <a:extLst>
              <a:ext uri="{FF2B5EF4-FFF2-40B4-BE49-F238E27FC236}">
                <a16:creationId xmlns:a16="http://schemas.microsoft.com/office/drawing/2014/main" id="{F9773049-B78F-4296-863D-32059BEAF4BA}"/>
              </a:ext>
            </a:extLst>
          </p:cNvPr>
          <p:cNvSpPr>
            <a:spLocks noGrp="1"/>
          </p:cNvSpPr>
          <p:nvPr>
            <p:ph type="title"/>
          </p:nvPr>
        </p:nvSpPr>
        <p:spPr>
          <a:xfrm>
            <a:off x="838200" y="10013"/>
            <a:ext cx="10515600" cy="1064185"/>
          </a:xfrm>
        </p:spPr>
        <p:txBody>
          <a:bodyPr/>
          <a:lstStyle/>
          <a:p>
            <a:pPr algn="ctr"/>
            <a:r>
              <a:rPr lang="en-IN" b="1" dirty="0">
                <a:solidFill>
                  <a:schemeClr val="accent4">
                    <a:lumMod val="50000"/>
                  </a:schemeClr>
                </a:solidFill>
              </a:rPr>
              <a:t>Cartesian-Product Operation</a:t>
            </a:r>
          </a:p>
        </p:txBody>
      </p:sp>
      <p:sp>
        <p:nvSpPr>
          <p:cNvPr id="9" name="Rectangle 2">
            <a:extLst>
              <a:ext uri="{FF2B5EF4-FFF2-40B4-BE49-F238E27FC236}">
                <a16:creationId xmlns:a16="http://schemas.microsoft.com/office/drawing/2014/main" id="{ED7F087C-CFE1-437A-88F5-445C3383357B}"/>
              </a:ext>
            </a:extLst>
          </p:cNvPr>
          <p:cNvSpPr>
            <a:spLocks noChangeArrowheads="1"/>
          </p:cNvSpPr>
          <p:nvPr/>
        </p:nvSpPr>
        <p:spPr bwMode="auto">
          <a:xfrm>
            <a:off x="2267712" y="2279596"/>
            <a:ext cx="3200400" cy="433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rgbClr val="273239"/>
                </a:solidFill>
                <a:effectLst/>
                <a:latin typeface="Consolas" panose="020B0609020204030204" pitchFamily="49" charset="0"/>
              </a:rPr>
              <a:t>Cardinality = m*n</a:t>
            </a:r>
            <a:r>
              <a:rPr kumimoji="0" lang="en-US" altLang="en-US" sz="2400" b="0" i="0" u="none" strike="noStrike" cap="none" normalizeH="0" baseline="0">
                <a:ln>
                  <a:noFill/>
                </a:ln>
                <a:solidFill>
                  <a:schemeClr val="tx1"/>
                </a:solidFill>
                <a:effectLst/>
              </a:rPr>
              <a:t> </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0538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969CF-7282-4909-A0DC-91DFDAAECDBC}"/>
              </a:ext>
            </a:extLst>
          </p:cNvPr>
          <p:cNvSpPr>
            <a:spLocks noGrp="1"/>
          </p:cNvSpPr>
          <p:nvPr>
            <p:ph type="title"/>
          </p:nvPr>
        </p:nvSpPr>
        <p:spPr>
          <a:xfrm>
            <a:off x="838200" y="18892"/>
            <a:ext cx="10515600" cy="922142"/>
          </a:xfrm>
        </p:spPr>
        <p:txBody>
          <a:bodyPr/>
          <a:lstStyle/>
          <a:p>
            <a:pPr algn="ctr"/>
            <a:r>
              <a:rPr lang="en-IN" b="1" dirty="0">
                <a:solidFill>
                  <a:schemeClr val="accent4">
                    <a:lumMod val="50000"/>
                  </a:schemeClr>
                </a:solidFill>
              </a:rPr>
              <a:t>4. Join Operation</a:t>
            </a:r>
          </a:p>
        </p:txBody>
      </p:sp>
      <p:sp>
        <p:nvSpPr>
          <p:cNvPr id="3" name="Content Placeholder 2">
            <a:extLst>
              <a:ext uri="{FF2B5EF4-FFF2-40B4-BE49-F238E27FC236}">
                <a16:creationId xmlns:a16="http://schemas.microsoft.com/office/drawing/2014/main" id="{D4471B18-32DF-4E2F-994A-8FA3490FB2AD}"/>
              </a:ext>
            </a:extLst>
          </p:cNvPr>
          <p:cNvSpPr>
            <a:spLocks noGrp="1"/>
          </p:cNvSpPr>
          <p:nvPr>
            <p:ph idx="1"/>
          </p:nvPr>
        </p:nvSpPr>
        <p:spPr>
          <a:xfrm>
            <a:off x="1136342" y="834501"/>
            <a:ext cx="10910656" cy="5921406"/>
          </a:xfrm>
        </p:spPr>
        <p:txBody>
          <a:bodyPr>
            <a:normAutofit lnSpcReduction="10000"/>
          </a:bodyPr>
          <a:lstStyle/>
          <a:p>
            <a:pPr>
              <a:buFont typeface="Wingdings" panose="05000000000000000000" pitchFamily="2" charset="2"/>
              <a:buChar char="q"/>
            </a:pPr>
            <a:r>
              <a:rPr lang="en-IN" dirty="0"/>
              <a:t>Join operation allows us to combine a selection and a Cartesian product into a single operation.</a:t>
            </a:r>
          </a:p>
          <a:p>
            <a:pPr>
              <a:buFont typeface="Wingdings" panose="05000000000000000000" pitchFamily="2" charset="2"/>
              <a:buChar char="q"/>
            </a:pPr>
            <a:r>
              <a:rPr lang="en-IN" dirty="0"/>
              <a:t>Consider relations r(R) and s(S), and let θ be a predicate on attributes in the schema R ∪ S. The join operation r ⋈</a:t>
            </a:r>
            <a:r>
              <a:rPr lang="en-IN" baseline="-25000" dirty="0"/>
              <a:t>θ</a:t>
            </a:r>
            <a:r>
              <a:rPr lang="en-IN" dirty="0"/>
              <a:t> s is defined as follows:</a:t>
            </a:r>
          </a:p>
          <a:p>
            <a:pPr marL="0" indent="0" algn="ctr">
              <a:buNone/>
            </a:pPr>
            <a:r>
              <a:rPr lang="en-IN" dirty="0"/>
              <a:t>r ⋈</a:t>
            </a:r>
            <a:r>
              <a:rPr lang="en-IN" baseline="-25000" dirty="0"/>
              <a:t>θ</a:t>
            </a:r>
            <a:r>
              <a:rPr lang="en-IN" dirty="0"/>
              <a:t> s = </a:t>
            </a:r>
            <a:r>
              <a:rPr lang="en-IN" dirty="0" err="1"/>
              <a:t>σ</a:t>
            </a:r>
            <a:r>
              <a:rPr lang="en-IN" baseline="-25000" dirty="0" err="1"/>
              <a:t>θ</a:t>
            </a:r>
            <a:r>
              <a:rPr lang="en-IN" dirty="0"/>
              <a:t>(r × s)</a:t>
            </a:r>
          </a:p>
          <a:p>
            <a:pPr algn="just">
              <a:buFont typeface="Wingdings" panose="05000000000000000000" pitchFamily="2" charset="2"/>
              <a:buChar char="q"/>
            </a:pPr>
            <a:r>
              <a:rPr lang="en-IN" dirty="0"/>
              <a:t>The general form of JOIN operation on two relations R(A1, A2, ..., An) and S(B1, B2, ..., Bm) is</a:t>
            </a:r>
          </a:p>
          <a:p>
            <a:pPr algn="just">
              <a:buFont typeface="Wingdings" panose="05000000000000000000" pitchFamily="2" charset="2"/>
              <a:buChar char="q"/>
            </a:pPr>
            <a:endParaRPr lang="en-IN" dirty="0"/>
          </a:p>
          <a:p>
            <a:pPr algn="just">
              <a:buFont typeface="Wingdings" panose="05000000000000000000" pitchFamily="2" charset="2"/>
              <a:buChar char="q"/>
            </a:pPr>
            <a:r>
              <a:rPr lang="en-IN" b="1" i="0" dirty="0">
                <a:solidFill>
                  <a:srgbClr val="7030A0"/>
                </a:solidFill>
                <a:effectLst/>
              </a:rPr>
              <a:t>Conditional Join </a:t>
            </a:r>
            <a:r>
              <a:rPr lang="en-IN" b="0" i="0" dirty="0">
                <a:solidFill>
                  <a:srgbClr val="273239"/>
                </a:solidFill>
                <a:effectLst/>
              </a:rPr>
              <a:t>is used when we want to join two or more relation based on some conditions. It is also called </a:t>
            </a:r>
            <a:r>
              <a:rPr lang="en-IN" b="1" i="0" dirty="0">
                <a:solidFill>
                  <a:srgbClr val="7030A0"/>
                </a:solidFill>
                <a:effectLst/>
              </a:rPr>
              <a:t>theta join</a:t>
            </a:r>
            <a:r>
              <a:rPr lang="en-IN" b="0" i="0" dirty="0">
                <a:solidFill>
                  <a:srgbClr val="273239"/>
                </a:solidFill>
                <a:effectLst/>
              </a:rPr>
              <a:t>. </a:t>
            </a:r>
            <a:r>
              <a:rPr lang="en-IN" b="0" i="0" dirty="0">
                <a:solidFill>
                  <a:srgbClr val="000000"/>
                </a:solidFill>
                <a:effectLst/>
              </a:rPr>
              <a:t>Theta join combines tuples from different relations provided they satisfy theta condition.</a:t>
            </a:r>
          </a:p>
          <a:p>
            <a:pPr algn="just">
              <a:buFont typeface="Wingdings" panose="05000000000000000000" pitchFamily="2" charset="2"/>
              <a:buChar char="q"/>
            </a:pPr>
            <a:r>
              <a:rPr lang="en-IN" b="0" i="0" dirty="0">
                <a:solidFill>
                  <a:srgbClr val="000000"/>
                </a:solidFill>
                <a:effectLst/>
                <a:latin typeface="Arial" panose="020B0604020202020204" pitchFamily="34" charset="0"/>
              </a:rPr>
              <a:t>Theta join can use all kinds of comparison operators {=, &lt;, ≤, &gt;, ≥, ≠}.</a:t>
            </a:r>
            <a:endParaRPr lang="en-IN" dirty="0"/>
          </a:p>
        </p:txBody>
      </p:sp>
      <p:pic>
        <p:nvPicPr>
          <p:cNvPr id="5" name="Picture 4">
            <a:extLst>
              <a:ext uri="{FF2B5EF4-FFF2-40B4-BE49-F238E27FC236}">
                <a16:creationId xmlns:a16="http://schemas.microsoft.com/office/drawing/2014/main" id="{CC68BAA7-D9E2-4A9A-BDC0-E2407DD7F57E}"/>
              </a:ext>
            </a:extLst>
          </p:cNvPr>
          <p:cNvPicPr>
            <a:picLocks noChangeAspect="1"/>
          </p:cNvPicPr>
          <p:nvPr/>
        </p:nvPicPr>
        <p:blipFill>
          <a:blip r:embed="rId2"/>
          <a:stretch>
            <a:fillRect/>
          </a:stretch>
        </p:blipFill>
        <p:spPr>
          <a:xfrm>
            <a:off x="5100825" y="3545656"/>
            <a:ext cx="3091500" cy="582457"/>
          </a:xfrm>
          <a:prstGeom prst="rect">
            <a:avLst/>
          </a:prstGeom>
        </p:spPr>
      </p:pic>
    </p:spTree>
    <p:extLst>
      <p:ext uri="{BB962C8B-B14F-4D97-AF65-F5344CB8AC3E}">
        <p14:creationId xmlns:p14="http://schemas.microsoft.com/office/powerpoint/2010/main" val="4214055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9A7CA-6996-4CD3-B950-937F8037B2EB}"/>
              </a:ext>
            </a:extLst>
          </p:cNvPr>
          <p:cNvSpPr>
            <a:spLocks noGrp="1"/>
          </p:cNvSpPr>
          <p:nvPr>
            <p:ph type="title"/>
          </p:nvPr>
        </p:nvSpPr>
        <p:spPr>
          <a:xfrm>
            <a:off x="838200" y="18895"/>
            <a:ext cx="10515600" cy="1064181"/>
          </a:xfrm>
        </p:spPr>
        <p:txBody>
          <a:bodyPr/>
          <a:lstStyle/>
          <a:p>
            <a:pPr algn="ctr"/>
            <a:r>
              <a:rPr lang="en-IN" b="1" dirty="0">
                <a:solidFill>
                  <a:schemeClr val="accent4">
                    <a:lumMod val="50000"/>
                  </a:schemeClr>
                </a:solidFill>
              </a:rPr>
              <a:t>Types of JOIN</a:t>
            </a:r>
          </a:p>
        </p:txBody>
      </p:sp>
      <p:sp>
        <p:nvSpPr>
          <p:cNvPr id="3" name="Content Placeholder 2">
            <a:extLst>
              <a:ext uri="{FF2B5EF4-FFF2-40B4-BE49-F238E27FC236}">
                <a16:creationId xmlns:a16="http://schemas.microsoft.com/office/drawing/2014/main" id="{070C4D6F-44C0-43CE-AFC4-55E14632D728}"/>
              </a:ext>
            </a:extLst>
          </p:cNvPr>
          <p:cNvSpPr>
            <a:spLocks noGrp="1"/>
          </p:cNvSpPr>
          <p:nvPr>
            <p:ph idx="1"/>
          </p:nvPr>
        </p:nvSpPr>
        <p:spPr>
          <a:xfrm>
            <a:off x="1083076" y="949911"/>
            <a:ext cx="10963922" cy="5823751"/>
          </a:xfrm>
        </p:spPr>
        <p:txBody>
          <a:bodyPr/>
          <a:lstStyle/>
          <a:p>
            <a:pPr>
              <a:buFont typeface="Wingdings" panose="05000000000000000000" pitchFamily="2" charset="2"/>
              <a:buChar char="q"/>
            </a:pPr>
            <a:r>
              <a:rPr lang="en-IN" dirty="0"/>
              <a:t>Inner Joins:</a:t>
            </a:r>
          </a:p>
          <a:p>
            <a:pPr lvl="1">
              <a:buFont typeface="Wingdings" panose="05000000000000000000" pitchFamily="2" charset="2"/>
              <a:buChar char="§"/>
            </a:pPr>
            <a:r>
              <a:rPr lang="en-IN" dirty="0"/>
              <a:t>Theta join</a:t>
            </a:r>
          </a:p>
          <a:p>
            <a:pPr lvl="1">
              <a:buFont typeface="Wingdings" panose="05000000000000000000" pitchFamily="2" charset="2"/>
              <a:buChar char="§"/>
            </a:pPr>
            <a:r>
              <a:rPr lang="en-IN" dirty="0"/>
              <a:t>EQUI join</a:t>
            </a:r>
          </a:p>
          <a:p>
            <a:pPr lvl="1">
              <a:buFont typeface="Wingdings" panose="05000000000000000000" pitchFamily="2" charset="2"/>
              <a:buChar char="§"/>
            </a:pPr>
            <a:r>
              <a:rPr lang="en-IN" dirty="0"/>
              <a:t>Natural join</a:t>
            </a:r>
          </a:p>
          <a:p>
            <a:pPr>
              <a:buFont typeface="Wingdings" panose="05000000000000000000" pitchFamily="2" charset="2"/>
              <a:buChar char="q"/>
            </a:pPr>
            <a:r>
              <a:rPr lang="en-IN" dirty="0"/>
              <a:t>Outer joins:</a:t>
            </a:r>
          </a:p>
          <a:p>
            <a:pPr lvl="1">
              <a:buFont typeface="Wingdings" panose="05000000000000000000" pitchFamily="2" charset="2"/>
              <a:buChar char="§"/>
            </a:pPr>
            <a:r>
              <a:rPr lang="en-IN" dirty="0"/>
              <a:t>Left Outer Join</a:t>
            </a:r>
          </a:p>
          <a:p>
            <a:pPr lvl="1">
              <a:buFont typeface="Wingdings" panose="05000000000000000000" pitchFamily="2" charset="2"/>
              <a:buChar char="§"/>
            </a:pPr>
            <a:r>
              <a:rPr lang="en-IN" dirty="0"/>
              <a:t>Right Outer Join</a:t>
            </a:r>
          </a:p>
          <a:p>
            <a:pPr lvl="1">
              <a:buFont typeface="Wingdings" panose="05000000000000000000" pitchFamily="2" charset="2"/>
              <a:buChar char="§"/>
            </a:pPr>
            <a:r>
              <a:rPr lang="en-IN" dirty="0"/>
              <a:t>Full Outer Join</a:t>
            </a:r>
          </a:p>
          <a:p>
            <a:pPr lvl="1">
              <a:buFont typeface="Wingdings" panose="05000000000000000000" pitchFamily="2" charset="2"/>
              <a:buChar char="§"/>
            </a:pPr>
            <a:endParaRPr lang="en-IN" dirty="0"/>
          </a:p>
          <a:p>
            <a:pPr>
              <a:buFont typeface="Wingdings" panose="05000000000000000000" pitchFamily="2" charset="2"/>
              <a:buChar char="q"/>
            </a:pPr>
            <a:r>
              <a:rPr lang="en-IN" b="1" dirty="0">
                <a:solidFill>
                  <a:srgbClr val="7030A0"/>
                </a:solidFill>
              </a:rPr>
              <a:t>Inner Join</a:t>
            </a:r>
          </a:p>
          <a:p>
            <a:pPr lvl="1">
              <a:buFont typeface="Wingdings" panose="05000000000000000000" pitchFamily="2" charset="2"/>
              <a:buChar char="§"/>
            </a:pPr>
            <a:r>
              <a:rPr lang="en-IN" dirty="0"/>
              <a:t>An inner join includes only those tuples with matching attributes and the rest are discarded in the resulting relation.</a:t>
            </a:r>
          </a:p>
        </p:txBody>
      </p:sp>
    </p:spTree>
    <p:extLst>
      <p:ext uri="{BB962C8B-B14F-4D97-AF65-F5344CB8AC3E}">
        <p14:creationId xmlns:p14="http://schemas.microsoft.com/office/powerpoint/2010/main" val="1526483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FC1EA533-9C04-4669-9AB4-FB5A54DA4C60}"/>
              </a:ext>
            </a:extLst>
          </p:cNvPr>
          <p:cNvGraphicFramePr>
            <a:graphicFrameLocks noGrp="1"/>
          </p:cNvGraphicFramePr>
          <p:nvPr>
            <p:ph idx="1"/>
            <p:extLst>
              <p:ext uri="{D42A27DB-BD31-4B8C-83A1-F6EECF244321}">
                <p14:modId xmlns:p14="http://schemas.microsoft.com/office/powerpoint/2010/main" val="857928694"/>
              </p:ext>
            </p:extLst>
          </p:nvPr>
        </p:nvGraphicFramePr>
        <p:xfrm>
          <a:off x="838200" y="1195307"/>
          <a:ext cx="4816875" cy="2346885"/>
        </p:xfrm>
        <a:graphic>
          <a:graphicData uri="http://schemas.openxmlformats.org/drawingml/2006/table">
            <a:tbl>
              <a:tblPr firstRow="1" bandRow="1">
                <a:tableStyleId>{5C22544A-7EE6-4342-B048-85BDC9FD1C3A}</a:tableStyleId>
              </a:tblPr>
              <a:tblGrid>
                <a:gridCol w="963375">
                  <a:extLst>
                    <a:ext uri="{9D8B030D-6E8A-4147-A177-3AD203B41FA5}">
                      <a16:colId xmlns:a16="http://schemas.microsoft.com/office/drawing/2014/main" val="658835208"/>
                    </a:ext>
                  </a:extLst>
                </a:gridCol>
                <a:gridCol w="963375">
                  <a:extLst>
                    <a:ext uri="{9D8B030D-6E8A-4147-A177-3AD203B41FA5}">
                      <a16:colId xmlns:a16="http://schemas.microsoft.com/office/drawing/2014/main" val="1320520670"/>
                    </a:ext>
                  </a:extLst>
                </a:gridCol>
                <a:gridCol w="963375">
                  <a:extLst>
                    <a:ext uri="{9D8B030D-6E8A-4147-A177-3AD203B41FA5}">
                      <a16:colId xmlns:a16="http://schemas.microsoft.com/office/drawing/2014/main" val="84726451"/>
                    </a:ext>
                  </a:extLst>
                </a:gridCol>
                <a:gridCol w="963375">
                  <a:extLst>
                    <a:ext uri="{9D8B030D-6E8A-4147-A177-3AD203B41FA5}">
                      <a16:colId xmlns:a16="http://schemas.microsoft.com/office/drawing/2014/main" val="384909602"/>
                    </a:ext>
                  </a:extLst>
                </a:gridCol>
                <a:gridCol w="963375">
                  <a:extLst>
                    <a:ext uri="{9D8B030D-6E8A-4147-A177-3AD203B41FA5}">
                      <a16:colId xmlns:a16="http://schemas.microsoft.com/office/drawing/2014/main" val="449513181"/>
                    </a:ext>
                  </a:extLst>
                </a:gridCol>
              </a:tblGrid>
              <a:tr h="469377">
                <a:tc>
                  <a:txBody>
                    <a:bodyPr/>
                    <a:lstStyle/>
                    <a:p>
                      <a:pPr algn="ctr" fontAlgn="base"/>
                      <a:r>
                        <a:rPr lang="en-IN" sz="1250" b="1" dirty="0">
                          <a:effectLst/>
                        </a:rPr>
                        <a:t>ROLL_NO</a:t>
                      </a:r>
                    </a:p>
                  </a:txBody>
                  <a:tcPr marL="76200" marR="76200" marT="106680" marB="106680" anchor="ctr"/>
                </a:tc>
                <a:tc>
                  <a:txBody>
                    <a:bodyPr/>
                    <a:lstStyle/>
                    <a:p>
                      <a:pPr algn="ctr" fontAlgn="base"/>
                      <a:r>
                        <a:rPr lang="en-IN" sz="1250" b="1" dirty="0">
                          <a:effectLst/>
                        </a:rPr>
                        <a:t>NAME</a:t>
                      </a:r>
                    </a:p>
                  </a:txBody>
                  <a:tcPr marL="76200" marR="76200" marT="106680" marB="106680" anchor="ctr"/>
                </a:tc>
                <a:tc>
                  <a:txBody>
                    <a:bodyPr/>
                    <a:lstStyle/>
                    <a:p>
                      <a:pPr algn="ctr" fontAlgn="base"/>
                      <a:r>
                        <a:rPr lang="en-IN" sz="1250" b="1" dirty="0">
                          <a:effectLst/>
                        </a:rPr>
                        <a:t>ADDRESS</a:t>
                      </a:r>
                    </a:p>
                  </a:txBody>
                  <a:tcPr marL="76200" marR="76200" marT="106680" marB="106680" anchor="ctr"/>
                </a:tc>
                <a:tc>
                  <a:txBody>
                    <a:bodyPr/>
                    <a:lstStyle/>
                    <a:p>
                      <a:pPr algn="ctr" fontAlgn="base"/>
                      <a:r>
                        <a:rPr lang="en-IN" sz="1250" b="1" dirty="0">
                          <a:effectLst/>
                        </a:rPr>
                        <a:t>PHONE</a:t>
                      </a:r>
                    </a:p>
                  </a:txBody>
                  <a:tcPr marL="76200" marR="76200" marT="106680" marB="106680" anchor="ctr"/>
                </a:tc>
                <a:tc>
                  <a:txBody>
                    <a:bodyPr/>
                    <a:lstStyle/>
                    <a:p>
                      <a:pPr algn="ctr" fontAlgn="base"/>
                      <a:r>
                        <a:rPr lang="en-IN" sz="1250" b="1" dirty="0">
                          <a:effectLst/>
                        </a:rPr>
                        <a:t>AGE</a:t>
                      </a:r>
                    </a:p>
                  </a:txBody>
                  <a:tcPr marL="76200" marR="76200" marT="106680" marB="106680" anchor="ctr"/>
                </a:tc>
                <a:extLst>
                  <a:ext uri="{0D108BD9-81ED-4DB2-BD59-A6C34878D82A}">
                    <a16:rowId xmlns:a16="http://schemas.microsoft.com/office/drawing/2014/main" val="2159006544"/>
                  </a:ext>
                </a:extLst>
              </a:tr>
              <a:tr h="469377">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1704089302"/>
                  </a:ext>
                </a:extLst>
              </a:tr>
              <a:tr h="469377">
                <a:tc>
                  <a:txBody>
                    <a:bodyPr/>
                    <a:lstStyle/>
                    <a:p>
                      <a:pPr algn="ctr" fontAlgn="base"/>
                      <a:r>
                        <a:rPr lang="en-IN" sz="1250" b="1" dirty="0">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dirty="0">
                          <a:effectLst/>
                        </a:rPr>
                        <a:t>GURGAON</a:t>
                      </a:r>
                    </a:p>
                  </a:txBody>
                  <a:tcPr marL="76200" marR="76200" marT="106680" marB="106680" anchor="ctr"/>
                </a:tc>
                <a:tc>
                  <a:txBody>
                    <a:bodyPr/>
                    <a:lstStyle/>
                    <a:p>
                      <a:pPr algn="ctr" fontAlgn="base"/>
                      <a:r>
                        <a:rPr lang="en-IN" sz="1250" b="1" dirty="0">
                          <a:effectLst/>
                        </a:rPr>
                        <a:t>9652431543</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3628182359"/>
                  </a:ext>
                </a:extLst>
              </a:tr>
              <a:tr h="469377">
                <a:tc>
                  <a:txBody>
                    <a:bodyPr/>
                    <a:lstStyle/>
                    <a:p>
                      <a:pPr algn="ctr" fontAlgn="base"/>
                      <a:r>
                        <a:rPr lang="en-IN" sz="1250" b="1" dirty="0">
                          <a:effectLst/>
                        </a:rPr>
                        <a:t>3</a:t>
                      </a:r>
                    </a:p>
                  </a:txBody>
                  <a:tcPr marL="76200" marR="76200" marT="106680" marB="106680" anchor="ctr"/>
                </a:tc>
                <a:tc>
                  <a:txBody>
                    <a:bodyPr/>
                    <a:lstStyle/>
                    <a:p>
                      <a:pPr algn="ctr" fontAlgn="base"/>
                      <a:r>
                        <a:rPr lang="en-IN" sz="1250" b="1" dirty="0">
                          <a:effectLst/>
                        </a:rPr>
                        <a:t>SUJIT</a:t>
                      </a:r>
                    </a:p>
                  </a:txBody>
                  <a:tcPr marL="76200" marR="76200" marT="106680" marB="106680" anchor="ctr"/>
                </a:tc>
                <a:tc>
                  <a:txBody>
                    <a:bodyPr/>
                    <a:lstStyle/>
                    <a:p>
                      <a:pPr algn="ctr" fontAlgn="base"/>
                      <a:r>
                        <a:rPr lang="en-IN" sz="1250" b="1" dirty="0">
                          <a:effectLst/>
                        </a:rPr>
                        <a:t>ROHTAK</a:t>
                      </a:r>
                    </a:p>
                  </a:txBody>
                  <a:tcPr marL="76200" marR="76200" marT="106680" marB="106680" anchor="ctr"/>
                </a:tc>
                <a:tc>
                  <a:txBody>
                    <a:bodyPr/>
                    <a:lstStyle/>
                    <a:p>
                      <a:pPr algn="ctr" fontAlgn="base"/>
                      <a:r>
                        <a:rPr lang="en-IN" sz="1250" b="1" dirty="0">
                          <a:effectLst/>
                        </a:rPr>
                        <a:t>9156253131</a:t>
                      </a:r>
                    </a:p>
                  </a:txBody>
                  <a:tcPr marL="76200" marR="76200" marT="106680" marB="106680" anchor="ctr"/>
                </a:tc>
                <a:tc>
                  <a:txBody>
                    <a:bodyPr/>
                    <a:lstStyle/>
                    <a:p>
                      <a:pPr algn="ctr" fontAlgn="base"/>
                      <a:r>
                        <a:rPr lang="en-IN" sz="1250" b="1" dirty="0">
                          <a:effectLst/>
                        </a:rPr>
                        <a:t>20</a:t>
                      </a:r>
                    </a:p>
                  </a:txBody>
                  <a:tcPr marL="76200" marR="76200" marT="106680" marB="106680" anchor="ctr"/>
                </a:tc>
                <a:extLst>
                  <a:ext uri="{0D108BD9-81ED-4DB2-BD59-A6C34878D82A}">
                    <a16:rowId xmlns:a16="http://schemas.microsoft.com/office/drawing/2014/main" val="1407954671"/>
                  </a:ext>
                </a:extLst>
              </a:tr>
              <a:tr h="469377">
                <a:tc>
                  <a:txBody>
                    <a:bodyPr/>
                    <a:lstStyle/>
                    <a:p>
                      <a:pPr algn="ctr" fontAlgn="base"/>
                      <a:r>
                        <a:rPr lang="en-IN" sz="1250" b="1" dirty="0">
                          <a:effectLst/>
                        </a:rPr>
                        <a:t>4</a:t>
                      </a:r>
                    </a:p>
                  </a:txBody>
                  <a:tcPr marL="76200" marR="76200" marT="106680" marB="106680" anchor="ctr"/>
                </a:tc>
                <a:tc>
                  <a:txBody>
                    <a:bodyPr/>
                    <a:lstStyle/>
                    <a:p>
                      <a:pPr algn="ctr" fontAlgn="base"/>
                      <a:r>
                        <a:rPr lang="en-IN" sz="1250" b="1" dirty="0">
                          <a:effectLst/>
                        </a:rPr>
                        <a:t>SURESH</a:t>
                      </a:r>
                    </a:p>
                  </a:txBody>
                  <a:tcPr marL="76200" marR="76200" marT="106680" marB="106680" anchor="ctr"/>
                </a:tc>
                <a:tc>
                  <a:txBody>
                    <a:bodyPr/>
                    <a:lstStyle/>
                    <a:p>
                      <a:pPr algn="ctr" fontAlgn="base"/>
                      <a:r>
                        <a:rPr lang="en-IN" sz="1250" b="1" dirty="0">
                          <a:effectLst/>
                        </a:rPr>
                        <a:t>DELHI</a:t>
                      </a:r>
                    </a:p>
                  </a:txBody>
                  <a:tcPr marL="76200" marR="76200" marT="106680" marB="106680" anchor="ctr"/>
                </a:tc>
                <a:tc>
                  <a:txBody>
                    <a:bodyPr/>
                    <a:lstStyle/>
                    <a:p>
                      <a:pPr algn="ctr" fontAlgn="base"/>
                      <a:r>
                        <a:rPr lang="en-IN" sz="1250" b="1" dirty="0">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3151996180"/>
                  </a:ext>
                </a:extLst>
              </a:tr>
            </a:tbl>
          </a:graphicData>
        </a:graphic>
      </p:graphicFrame>
      <p:sp>
        <p:nvSpPr>
          <p:cNvPr id="4" name="Title 1">
            <a:extLst>
              <a:ext uri="{FF2B5EF4-FFF2-40B4-BE49-F238E27FC236}">
                <a16:creationId xmlns:a16="http://schemas.microsoft.com/office/drawing/2014/main" id="{DEE79A66-1AEC-4CEA-8C80-F96EE6A5F490}"/>
              </a:ext>
            </a:extLst>
          </p:cNvPr>
          <p:cNvSpPr>
            <a:spLocks noGrp="1"/>
          </p:cNvSpPr>
          <p:nvPr>
            <p:ph type="title"/>
          </p:nvPr>
        </p:nvSpPr>
        <p:spPr>
          <a:xfrm>
            <a:off x="838200" y="18892"/>
            <a:ext cx="10515600" cy="922142"/>
          </a:xfrm>
        </p:spPr>
        <p:txBody>
          <a:bodyPr/>
          <a:lstStyle/>
          <a:p>
            <a:pPr algn="ctr"/>
            <a:r>
              <a:rPr lang="en-IN" b="1" dirty="0">
                <a:solidFill>
                  <a:schemeClr val="accent4">
                    <a:lumMod val="50000"/>
                  </a:schemeClr>
                </a:solidFill>
              </a:rPr>
              <a:t>Theta Join Operation</a:t>
            </a:r>
          </a:p>
        </p:txBody>
      </p:sp>
      <p:sp>
        <p:nvSpPr>
          <p:cNvPr id="7" name="TextBox 6">
            <a:extLst>
              <a:ext uri="{FF2B5EF4-FFF2-40B4-BE49-F238E27FC236}">
                <a16:creationId xmlns:a16="http://schemas.microsoft.com/office/drawing/2014/main" id="{87001273-207C-41D3-930D-09F9C546D813}"/>
              </a:ext>
            </a:extLst>
          </p:cNvPr>
          <p:cNvSpPr txBox="1"/>
          <p:nvPr/>
        </p:nvSpPr>
        <p:spPr>
          <a:xfrm>
            <a:off x="2542903" y="824892"/>
            <a:ext cx="1629601" cy="369332"/>
          </a:xfrm>
          <a:prstGeom prst="rect">
            <a:avLst/>
          </a:prstGeom>
          <a:noFill/>
        </p:spPr>
        <p:txBody>
          <a:bodyPr wrap="square">
            <a:spAutoFit/>
          </a:bodyPr>
          <a:lstStyle/>
          <a:p>
            <a:r>
              <a:rPr lang="en-IN" b="1" i="0" dirty="0">
                <a:solidFill>
                  <a:srgbClr val="273239"/>
                </a:solidFill>
                <a:effectLst/>
                <a:latin typeface="urw-din"/>
              </a:rPr>
              <a:t>STUDENT</a:t>
            </a:r>
            <a:endParaRPr lang="en-IN" dirty="0"/>
          </a:p>
        </p:txBody>
      </p:sp>
      <p:graphicFrame>
        <p:nvGraphicFramePr>
          <p:cNvPr id="8" name="Table 8">
            <a:extLst>
              <a:ext uri="{FF2B5EF4-FFF2-40B4-BE49-F238E27FC236}">
                <a16:creationId xmlns:a16="http://schemas.microsoft.com/office/drawing/2014/main" id="{EFB717FC-E887-4104-80ED-87975D4EC98F}"/>
              </a:ext>
            </a:extLst>
          </p:cNvPr>
          <p:cNvGraphicFramePr>
            <a:graphicFrameLocks noGrp="1"/>
          </p:cNvGraphicFramePr>
          <p:nvPr>
            <p:extLst>
              <p:ext uri="{D42A27DB-BD31-4B8C-83A1-F6EECF244321}">
                <p14:modId xmlns:p14="http://schemas.microsoft.com/office/powerpoint/2010/main" val="294887175"/>
              </p:ext>
            </p:extLst>
          </p:nvPr>
        </p:nvGraphicFramePr>
        <p:xfrm>
          <a:off x="6259375" y="1194224"/>
          <a:ext cx="5228330" cy="2346885"/>
        </p:xfrm>
        <a:graphic>
          <a:graphicData uri="http://schemas.openxmlformats.org/drawingml/2006/table">
            <a:tbl>
              <a:tblPr firstRow="1" bandRow="1">
                <a:tableStyleId>{5C22544A-7EE6-4342-B048-85BDC9FD1C3A}</a:tableStyleId>
              </a:tblPr>
              <a:tblGrid>
                <a:gridCol w="1045666">
                  <a:extLst>
                    <a:ext uri="{9D8B030D-6E8A-4147-A177-3AD203B41FA5}">
                      <a16:colId xmlns:a16="http://schemas.microsoft.com/office/drawing/2014/main" val="4262371446"/>
                    </a:ext>
                  </a:extLst>
                </a:gridCol>
                <a:gridCol w="1045666">
                  <a:extLst>
                    <a:ext uri="{9D8B030D-6E8A-4147-A177-3AD203B41FA5}">
                      <a16:colId xmlns:a16="http://schemas.microsoft.com/office/drawing/2014/main" val="2964771172"/>
                    </a:ext>
                  </a:extLst>
                </a:gridCol>
                <a:gridCol w="1045666">
                  <a:extLst>
                    <a:ext uri="{9D8B030D-6E8A-4147-A177-3AD203B41FA5}">
                      <a16:colId xmlns:a16="http://schemas.microsoft.com/office/drawing/2014/main" val="2336443426"/>
                    </a:ext>
                  </a:extLst>
                </a:gridCol>
                <a:gridCol w="1045666">
                  <a:extLst>
                    <a:ext uri="{9D8B030D-6E8A-4147-A177-3AD203B41FA5}">
                      <a16:colId xmlns:a16="http://schemas.microsoft.com/office/drawing/2014/main" val="2744128259"/>
                    </a:ext>
                  </a:extLst>
                </a:gridCol>
                <a:gridCol w="1045666">
                  <a:extLst>
                    <a:ext uri="{9D8B030D-6E8A-4147-A177-3AD203B41FA5}">
                      <a16:colId xmlns:a16="http://schemas.microsoft.com/office/drawing/2014/main" val="1516603564"/>
                    </a:ext>
                  </a:extLst>
                </a:gridCol>
              </a:tblGrid>
              <a:tr h="469377">
                <a:tc>
                  <a:txBody>
                    <a:bodyPr/>
                    <a:lstStyle/>
                    <a:p>
                      <a:pPr algn="ctr" fontAlgn="base"/>
                      <a:r>
                        <a:rPr lang="en-IN" sz="1250" b="1" dirty="0">
                          <a:effectLst/>
                        </a:rPr>
                        <a:t>EMP_NO</a:t>
                      </a:r>
                    </a:p>
                  </a:txBody>
                  <a:tcPr marL="76200" marR="76200" marT="106680" marB="106680" anchor="ctr"/>
                </a:tc>
                <a:tc>
                  <a:txBody>
                    <a:bodyPr/>
                    <a:lstStyle/>
                    <a:p>
                      <a:pPr algn="ctr" fontAlgn="base"/>
                      <a:r>
                        <a:rPr lang="en-IN" sz="1250" b="1" dirty="0">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1831073401"/>
                  </a:ext>
                </a:extLst>
              </a:tr>
              <a:tr h="469377">
                <a:tc>
                  <a:txBody>
                    <a:bodyPr/>
                    <a:lstStyle/>
                    <a:p>
                      <a:pPr algn="ctr" fontAlgn="base"/>
                      <a:r>
                        <a:rPr lang="en-IN" sz="1250" b="1" dirty="0">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363713498"/>
                  </a:ext>
                </a:extLst>
              </a:tr>
              <a:tr h="469377">
                <a:tc>
                  <a:txBody>
                    <a:bodyPr/>
                    <a:lstStyle/>
                    <a:p>
                      <a:pPr algn="ctr" fontAlgn="base"/>
                      <a:r>
                        <a:rPr lang="en-IN" sz="1250" b="1" dirty="0">
                          <a:effectLst/>
                        </a:rPr>
                        <a:t>5</a:t>
                      </a:r>
                    </a:p>
                  </a:txBody>
                  <a:tcPr marL="76200" marR="76200" marT="106680" marB="106680" anchor="ctr"/>
                </a:tc>
                <a:tc>
                  <a:txBody>
                    <a:bodyPr/>
                    <a:lstStyle/>
                    <a:p>
                      <a:pPr algn="ctr" fontAlgn="base"/>
                      <a:r>
                        <a:rPr lang="en-IN" sz="1250" b="1">
                          <a:effectLst/>
                        </a:rPr>
                        <a:t>NARESH</a:t>
                      </a:r>
                    </a:p>
                  </a:txBody>
                  <a:tcPr marL="76200" marR="76200" marT="106680" marB="106680" anchor="ctr"/>
                </a:tc>
                <a:tc>
                  <a:txBody>
                    <a:bodyPr/>
                    <a:lstStyle/>
                    <a:p>
                      <a:pPr algn="ctr" fontAlgn="base"/>
                      <a:r>
                        <a:rPr lang="en-IN" sz="1250" b="1">
                          <a:effectLst/>
                        </a:rPr>
                        <a:t>HISAR</a:t>
                      </a:r>
                    </a:p>
                  </a:txBody>
                  <a:tcPr marL="76200" marR="76200" marT="106680" marB="106680" anchor="ctr"/>
                </a:tc>
                <a:tc>
                  <a:txBody>
                    <a:bodyPr/>
                    <a:lstStyle/>
                    <a:p>
                      <a:pPr algn="ctr" fontAlgn="base"/>
                      <a:r>
                        <a:rPr lang="en-IN" sz="1250" b="1">
                          <a:effectLst/>
                        </a:rPr>
                        <a:t>9782918192</a:t>
                      </a:r>
                    </a:p>
                  </a:txBody>
                  <a:tcPr marL="76200" marR="76200" marT="106680" marB="106680" anchor="ctr"/>
                </a:tc>
                <a:tc>
                  <a:txBody>
                    <a:bodyPr/>
                    <a:lstStyle/>
                    <a:p>
                      <a:pPr algn="ctr" fontAlgn="base"/>
                      <a:r>
                        <a:rPr lang="en-IN" sz="1250" b="1">
                          <a:effectLst/>
                        </a:rPr>
                        <a:t>22</a:t>
                      </a:r>
                    </a:p>
                  </a:txBody>
                  <a:tcPr marL="76200" marR="76200" marT="106680" marB="106680" anchor="ctr"/>
                </a:tc>
                <a:extLst>
                  <a:ext uri="{0D108BD9-81ED-4DB2-BD59-A6C34878D82A}">
                    <a16:rowId xmlns:a16="http://schemas.microsoft.com/office/drawing/2014/main" val="902947204"/>
                  </a:ext>
                </a:extLst>
              </a:tr>
              <a:tr h="469377">
                <a:tc>
                  <a:txBody>
                    <a:bodyPr/>
                    <a:lstStyle/>
                    <a:p>
                      <a:pPr algn="ctr" fontAlgn="base"/>
                      <a:r>
                        <a:rPr lang="en-IN" sz="1250" b="1">
                          <a:effectLst/>
                        </a:rPr>
                        <a:t>6</a:t>
                      </a:r>
                    </a:p>
                  </a:txBody>
                  <a:tcPr marL="76200" marR="76200" marT="106680" marB="106680" anchor="ctr"/>
                </a:tc>
                <a:tc>
                  <a:txBody>
                    <a:bodyPr/>
                    <a:lstStyle/>
                    <a:p>
                      <a:pPr algn="ctr" fontAlgn="base"/>
                      <a:r>
                        <a:rPr lang="en-IN" sz="1250" b="1">
                          <a:effectLst/>
                        </a:rPr>
                        <a:t>SWETA</a:t>
                      </a:r>
                    </a:p>
                  </a:txBody>
                  <a:tcPr marL="76200" marR="76200" marT="106680" marB="106680" anchor="ctr"/>
                </a:tc>
                <a:tc>
                  <a:txBody>
                    <a:bodyPr/>
                    <a:lstStyle/>
                    <a:p>
                      <a:pPr algn="ctr" fontAlgn="base"/>
                      <a:r>
                        <a:rPr lang="en-IN" sz="1250" b="1">
                          <a:effectLst/>
                        </a:rPr>
                        <a:t>RANCHI</a:t>
                      </a:r>
                    </a:p>
                  </a:txBody>
                  <a:tcPr marL="76200" marR="76200" marT="106680" marB="106680" anchor="ctr"/>
                </a:tc>
                <a:tc>
                  <a:txBody>
                    <a:bodyPr/>
                    <a:lstStyle/>
                    <a:p>
                      <a:pPr algn="ctr" fontAlgn="base"/>
                      <a:r>
                        <a:rPr lang="en-IN" sz="1250" b="1">
                          <a:effectLst/>
                        </a:rPr>
                        <a:t>9852617621</a:t>
                      </a:r>
                    </a:p>
                  </a:txBody>
                  <a:tcPr marL="76200" marR="76200" marT="106680" marB="106680" anchor="ctr"/>
                </a:tc>
                <a:tc>
                  <a:txBody>
                    <a:bodyPr/>
                    <a:lstStyle/>
                    <a:p>
                      <a:pPr algn="ctr" fontAlgn="base"/>
                      <a:r>
                        <a:rPr lang="en-IN" sz="1250" b="1">
                          <a:effectLst/>
                        </a:rPr>
                        <a:t>21</a:t>
                      </a:r>
                    </a:p>
                  </a:txBody>
                  <a:tcPr marL="76200" marR="76200" marT="106680" marB="106680" anchor="ctr"/>
                </a:tc>
                <a:extLst>
                  <a:ext uri="{0D108BD9-81ED-4DB2-BD59-A6C34878D82A}">
                    <a16:rowId xmlns:a16="http://schemas.microsoft.com/office/drawing/2014/main" val="2889671715"/>
                  </a:ext>
                </a:extLst>
              </a:tr>
              <a:tr h="469377">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1625343975"/>
                  </a:ext>
                </a:extLst>
              </a:tr>
            </a:tbl>
          </a:graphicData>
        </a:graphic>
      </p:graphicFrame>
      <p:sp>
        <p:nvSpPr>
          <p:cNvPr id="10" name="TextBox 9">
            <a:extLst>
              <a:ext uri="{FF2B5EF4-FFF2-40B4-BE49-F238E27FC236}">
                <a16:creationId xmlns:a16="http://schemas.microsoft.com/office/drawing/2014/main" id="{19980AC5-A252-4E31-959E-2CB7BE934EEE}"/>
              </a:ext>
            </a:extLst>
          </p:cNvPr>
          <p:cNvSpPr txBox="1"/>
          <p:nvPr/>
        </p:nvSpPr>
        <p:spPr>
          <a:xfrm>
            <a:off x="8258451" y="698297"/>
            <a:ext cx="1686737" cy="369332"/>
          </a:xfrm>
          <a:prstGeom prst="rect">
            <a:avLst/>
          </a:prstGeom>
          <a:noFill/>
        </p:spPr>
        <p:txBody>
          <a:bodyPr wrap="square">
            <a:spAutoFit/>
          </a:bodyPr>
          <a:lstStyle/>
          <a:p>
            <a:r>
              <a:rPr lang="en-IN" b="1" i="0" dirty="0">
                <a:solidFill>
                  <a:srgbClr val="273239"/>
                </a:solidFill>
                <a:effectLst/>
                <a:latin typeface="urw-din"/>
              </a:rPr>
              <a:t>EMPLOYEE </a:t>
            </a:r>
            <a:endParaRPr lang="en-IN" dirty="0"/>
          </a:p>
        </p:txBody>
      </p:sp>
      <p:sp>
        <p:nvSpPr>
          <p:cNvPr id="12" name="TextBox 11">
            <a:extLst>
              <a:ext uri="{FF2B5EF4-FFF2-40B4-BE49-F238E27FC236}">
                <a16:creationId xmlns:a16="http://schemas.microsoft.com/office/drawing/2014/main" id="{45F44826-67F6-4D90-AF8E-EE8B26BB0F98}"/>
              </a:ext>
            </a:extLst>
          </p:cNvPr>
          <p:cNvSpPr txBox="1"/>
          <p:nvPr/>
        </p:nvSpPr>
        <p:spPr>
          <a:xfrm>
            <a:off x="739065" y="3667704"/>
            <a:ext cx="6922363" cy="369332"/>
          </a:xfrm>
          <a:prstGeom prst="rect">
            <a:avLst/>
          </a:prstGeom>
          <a:noFill/>
        </p:spPr>
        <p:txBody>
          <a:bodyPr wrap="square">
            <a:spAutoFit/>
          </a:bodyPr>
          <a:lstStyle/>
          <a:p>
            <a:r>
              <a:rPr lang="en-IN" b="0" i="0" dirty="0">
                <a:solidFill>
                  <a:srgbClr val="273239"/>
                </a:solidFill>
                <a:effectLst/>
                <a:latin typeface="urw-din"/>
              </a:rPr>
              <a:t>Select students whose ROLL_NO is greater than EMP_NO of employees</a:t>
            </a:r>
            <a:endParaRPr lang="en-IN" dirty="0"/>
          </a:p>
        </p:txBody>
      </p:sp>
      <p:sp>
        <p:nvSpPr>
          <p:cNvPr id="13" name="Rectangle 1">
            <a:extLst>
              <a:ext uri="{FF2B5EF4-FFF2-40B4-BE49-F238E27FC236}">
                <a16:creationId xmlns:a16="http://schemas.microsoft.com/office/drawing/2014/main" id="{4949B21E-D407-4D2F-AD56-895B5FF611CF}"/>
              </a:ext>
            </a:extLst>
          </p:cNvPr>
          <p:cNvSpPr>
            <a:spLocks noChangeArrowheads="1"/>
          </p:cNvSpPr>
          <p:nvPr/>
        </p:nvSpPr>
        <p:spPr bwMode="auto">
          <a:xfrm>
            <a:off x="3100525" y="4108142"/>
            <a:ext cx="580303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73239"/>
                </a:solidFill>
                <a:effectLst/>
                <a:latin typeface="Consolas" panose="020B0609020204030204" pitchFamily="49" charset="0"/>
              </a:rPr>
              <a:t>STUDENT</a:t>
            </a:r>
            <a:r>
              <a:rPr kumimoji="0" lang="en-US" altLang="en-US" sz="2000" b="1" i="1"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30000" dirty="0">
                <a:ln>
                  <a:noFill/>
                </a:ln>
                <a:solidFill>
                  <a:srgbClr val="273239"/>
                </a:solidFill>
                <a:effectLst/>
                <a:latin typeface="Consolas" panose="020B0609020204030204" pitchFamily="49" charset="0"/>
              </a:rPr>
              <a:t>STUDENT.ROLL_NO&gt;EMPLOYEE.EMP_NO </a:t>
            </a:r>
            <a:r>
              <a:rPr kumimoji="0" lang="en-US" altLang="en-US" sz="2000" b="1" i="0" u="none" strike="noStrike" cap="none" normalizeH="0" baseline="0" dirty="0">
                <a:ln>
                  <a:noFill/>
                </a:ln>
                <a:solidFill>
                  <a:srgbClr val="273239"/>
                </a:solidFill>
                <a:effectLst/>
                <a:latin typeface="Consolas" panose="020B0609020204030204" pitchFamily="49" charset="0"/>
              </a:rPr>
              <a:t>EMPLOYEE</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234C1BBB-D56A-4776-B751-D034FB4E4081}"/>
              </a:ext>
            </a:extLst>
          </p:cNvPr>
          <p:cNvSpPr txBox="1"/>
          <p:nvPr/>
        </p:nvSpPr>
        <p:spPr>
          <a:xfrm>
            <a:off x="838200" y="4589874"/>
            <a:ext cx="6094520" cy="369332"/>
          </a:xfrm>
          <a:prstGeom prst="rect">
            <a:avLst/>
          </a:prstGeom>
          <a:noFill/>
        </p:spPr>
        <p:txBody>
          <a:bodyPr wrap="square">
            <a:spAutoFit/>
          </a:bodyPr>
          <a:lstStyle/>
          <a:p>
            <a:r>
              <a:rPr lang="en-IN" b="0" i="0" dirty="0">
                <a:solidFill>
                  <a:srgbClr val="273239"/>
                </a:solidFill>
                <a:effectLst/>
                <a:latin typeface="urw-din"/>
              </a:rPr>
              <a:t>In terms of basic operators (cross product and selection) :</a:t>
            </a:r>
            <a:endParaRPr lang="en-IN" dirty="0"/>
          </a:p>
        </p:txBody>
      </p:sp>
      <p:sp>
        <p:nvSpPr>
          <p:cNvPr id="16" name="Rectangle 2">
            <a:extLst>
              <a:ext uri="{FF2B5EF4-FFF2-40B4-BE49-F238E27FC236}">
                <a16:creationId xmlns:a16="http://schemas.microsoft.com/office/drawing/2014/main" id="{415F430D-FD85-458A-B636-228E807778A5}"/>
              </a:ext>
            </a:extLst>
          </p:cNvPr>
          <p:cNvSpPr>
            <a:spLocks noChangeArrowheads="1"/>
          </p:cNvSpPr>
          <p:nvPr/>
        </p:nvSpPr>
        <p:spPr bwMode="auto">
          <a:xfrm>
            <a:off x="2299317" y="4948495"/>
            <a:ext cx="710213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73239"/>
                </a:solidFill>
                <a:effectLst/>
                <a:latin typeface="Consolas" panose="020B0609020204030204" pitchFamily="49" charset="0"/>
              </a:rPr>
              <a:t>σ</a:t>
            </a:r>
            <a:r>
              <a:rPr kumimoji="0" lang="en-US" altLang="en-US" sz="2400" b="1" i="0" u="none" strike="noStrike" cap="none" normalizeH="0" baseline="-30000">
                <a:ln>
                  <a:noFill/>
                </a:ln>
                <a:solidFill>
                  <a:srgbClr val="273239"/>
                </a:solidFill>
                <a:effectLst/>
                <a:latin typeface="Consolas" panose="020B0609020204030204" pitchFamily="49" charset="0"/>
              </a:rPr>
              <a:t> (STUDENT.ROLL_NO&gt;EMPLOYEE.EMP_NO)</a:t>
            </a:r>
            <a:r>
              <a:rPr kumimoji="0" lang="en-US" altLang="en-US" sz="2400" b="1" i="0" u="none" strike="noStrike" cap="none" normalizeH="0" baseline="0">
                <a:ln>
                  <a:noFill/>
                </a:ln>
                <a:solidFill>
                  <a:srgbClr val="273239"/>
                </a:solidFill>
                <a:effectLst/>
                <a:latin typeface="Consolas" panose="020B0609020204030204" pitchFamily="49" charset="0"/>
              </a:rPr>
              <a:t>(STUDENT×EMPLOYEE)</a:t>
            </a:r>
            <a:r>
              <a:rPr kumimoji="0" lang="en-US" altLang="en-US" sz="2400" b="0" i="0" u="none" strike="noStrike" cap="none" normalizeH="0" baseline="0">
                <a:ln>
                  <a:noFill/>
                </a:ln>
                <a:solidFill>
                  <a:schemeClr val="tx1"/>
                </a:solidFill>
                <a:effectLst/>
              </a:rPr>
              <a:t> </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563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8">
            <a:extLst>
              <a:ext uri="{FF2B5EF4-FFF2-40B4-BE49-F238E27FC236}">
                <a16:creationId xmlns:a16="http://schemas.microsoft.com/office/drawing/2014/main" id="{0CFB4E1D-DDA7-3BEC-22DF-31B51547EBFE}"/>
              </a:ext>
            </a:extLst>
          </p:cNvPr>
          <p:cNvGraphicFramePr>
            <a:graphicFrameLocks noGrp="1"/>
          </p:cNvGraphicFramePr>
          <p:nvPr>
            <p:extLst>
              <p:ext uri="{D42A27DB-BD31-4B8C-83A1-F6EECF244321}">
                <p14:modId xmlns:p14="http://schemas.microsoft.com/office/powerpoint/2010/main" val="2690929427"/>
              </p:ext>
            </p:extLst>
          </p:nvPr>
        </p:nvGraphicFramePr>
        <p:xfrm>
          <a:off x="6096000" y="519506"/>
          <a:ext cx="6096000" cy="63474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4262371446"/>
                    </a:ext>
                  </a:extLst>
                </a:gridCol>
                <a:gridCol w="1156447">
                  <a:extLst>
                    <a:ext uri="{9D8B030D-6E8A-4147-A177-3AD203B41FA5}">
                      <a16:colId xmlns:a16="http://schemas.microsoft.com/office/drawing/2014/main" val="2964771172"/>
                    </a:ext>
                  </a:extLst>
                </a:gridCol>
                <a:gridCol w="1281953">
                  <a:extLst>
                    <a:ext uri="{9D8B030D-6E8A-4147-A177-3AD203B41FA5}">
                      <a16:colId xmlns:a16="http://schemas.microsoft.com/office/drawing/2014/main" val="2336443426"/>
                    </a:ext>
                  </a:extLst>
                </a:gridCol>
                <a:gridCol w="1219200">
                  <a:extLst>
                    <a:ext uri="{9D8B030D-6E8A-4147-A177-3AD203B41FA5}">
                      <a16:colId xmlns:a16="http://schemas.microsoft.com/office/drawing/2014/main" val="2744128259"/>
                    </a:ext>
                  </a:extLst>
                </a:gridCol>
                <a:gridCol w="1219200">
                  <a:extLst>
                    <a:ext uri="{9D8B030D-6E8A-4147-A177-3AD203B41FA5}">
                      <a16:colId xmlns:a16="http://schemas.microsoft.com/office/drawing/2014/main" val="1516603564"/>
                    </a:ext>
                  </a:extLst>
                </a:gridCol>
              </a:tblGrid>
              <a:tr h="0">
                <a:tc>
                  <a:txBody>
                    <a:bodyPr/>
                    <a:lstStyle/>
                    <a:p>
                      <a:pPr algn="ctr" fontAlgn="base"/>
                      <a:r>
                        <a:rPr lang="en-IN" sz="1050" b="0" dirty="0">
                          <a:effectLst/>
                        </a:rPr>
                        <a:t>EMP_NO</a:t>
                      </a:r>
                    </a:p>
                  </a:txBody>
                  <a:tcPr marL="76200" marR="76200" marT="106680" marB="106680" anchor="ctr"/>
                </a:tc>
                <a:tc>
                  <a:txBody>
                    <a:bodyPr/>
                    <a:lstStyle/>
                    <a:p>
                      <a:pPr algn="ctr" fontAlgn="base"/>
                      <a:r>
                        <a:rPr lang="en-IN" sz="1050" b="0" dirty="0">
                          <a:effectLst/>
                        </a:rPr>
                        <a:t>EMPLOYEE.NAME</a:t>
                      </a:r>
                    </a:p>
                  </a:txBody>
                  <a:tcPr marL="76200" marR="76200" marT="106680" marB="106680" anchor="ctr"/>
                </a:tc>
                <a:tc>
                  <a:txBody>
                    <a:bodyPr/>
                    <a:lstStyle/>
                    <a:p>
                      <a:pPr algn="ctr" fontAlgn="base"/>
                      <a:r>
                        <a:rPr lang="en-IN" sz="1050" b="0" dirty="0">
                          <a:effectLst/>
                        </a:rPr>
                        <a:t>EMPLOYEE.ADDRESS</a:t>
                      </a:r>
                    </a:p>
                  </a:txBody>
                  <a:tcPr marL="76200" marR="76200" marT="106680" marB="106680" anchor="ctr"/>
                </a:tc>
                <a:tc>
                  <a:txBody>
                    <a:bodyPr/>
                    <a:lstStyle/>
                    <a:p>
                      <a:pPr algn="ctr" fontAlgn="base"/>
                      <a:r>
                        <a:rPr lang="en-IN" sz="1050" b="0" dirty="0">
                          <a:effectLst/>
                        </a:rPr>
                        <a:t>EMPLOYEE.PHONE</a:t>
                      </a:r>
                    </a:p>
                  </a:txBody>
                  <a:tcPr marL="76200" marR="76200" marT="106680" marB="106680" anchor="ctr"/>
                </a:tc>
                <a:tc>
                  <a:txBody>
                    <a:bodyPr/>
                    <a:lstStyle/>
                    <a:p>
                      <a:pPr algn="ctr" fontAlgn="base"/>
                      <a:r>
                        <a:rPr lang="en-IN" sz="1050" b="0" dirty="0">
                          <a:effectLst/>
                        </a:rPr>
                        <a:t>EMPLOYEE.AGE</a:t>
                      </a:r>
                    </a:p>
                  </a:txBody>
                  <a:tcPr marL="76200" marR="76200" marT="106680" marB="106680" anchor="ctr"/>
                </a:tc>
                <a:extLst>
                  <a:ext uri="{0D108BD9-81ED-4DB2-BD59-A6C34878D82A}">
                    <a16:rowId xmlns:a16="http://schemas.microsoft.com/office/drawing/2014/main" val="1831073401"/>
                  </a:ext>
                </a:extLst>
              </a:tr>
              <a:tr h="0">
                <a:tc>
                  <a:txBody>
                    <a:bodyPr/>
                    <a:lstStyle/>
                    <a:p>
                      <a:pPr algn="ctr" fontAlgn="base"/>
                      <a:r>
                        <a:rPr lang="en-IN" sz="1050" b="0" dirty="0">
                          <a:effectLst/>
                        </a:rPr>
                        <a:t>1</a:t>
                      </a:r>
                    </a:p>
                  </a:txBody>
                  <a:tcPr marL="76200" marR="76200" marT="106680" marB="106680" anchor="ctr"/>
                </a:tc>
                <a:tc>
                  <a:txBody>
                    <a:bodyPr/>
                    <a:lstStyle/>
                    <a:p>
                      <a:pPr algn="ctr" fontAlgn="base"/>
                      <a:r>
                        <a:rPr lang="en-IN" sz="1050" b="0">
                          <a:effectLst/>
                        </a:rPr>
                        <a:t>RAM</a:t>
                      </a:r>
                    </a:p>
                  </a:txBody>
                  <a:tcPr marL="76200" marR="76200" marT="106680" marB="106680" anchor="ctr"/>
                </a:tc>
                <a:tc>
                  <a:txBody>
                    <a:bodyPr/>
                    <a:lstStyle/>
                    <a:p>
                      <a:pPr algn="ctr" fontAlgn="base"/>
                      <a:r>
                        <a:rPr lang="en-IN" sz="1050" b="0" dirty="0">
                          <a:effectLst/>
                        </a:rPr>
                        <a:t>DELHI</a:t>
                      </a:r>
                    </a:p>
                  </a:txBody>
                  <a:tcPr marL="76200" marR="76200" marT="106680" marB="106680" anchor="ctr"/>
                </a:tc>
                <a:tc>
                  <a:txBody>
                    <a:bodyPr/>
                    <a:lstStyle/>
                    <a:p>
                      <a:pPr algn="ctr" fontAlgn="base"/>
                      <a:r>
                        <a:rPr lang="en-IN" sz="1050" b="0">
                          <a:effectLst/>
                        </a:rPr>
                        <a:t>9455123451</a:t>
                      </a:r>
                    </a:p>
                  </a:txBody>
                  <a:tcPr marL="76200" marR="76200" marT="106680" marB="106680" anchor="ctr"/>
                </a:tc>
                <a:tc>
                  <a:txBody>
                    <a:bodyPr/>
                    <a:lstStyle/>
                    <a:p>
                      <a:pPr algn="ctr" fontAlgn="base"/>
                      <a:r>
                        <a:rPr lang="en-IN" sz="1050" b="0">
                          <a:effectLst/>
                        </a:rPr>
                        <a:t>18</a:t>
                      </a:r>
                    </a:p>
                  </a:txBody>
                  <a:tcPr marL="76200" marR="76200" marT="106680" marB="106680" anchor="ctr"/>
                </a:tc>
                <a:extLst>
                  <a:ext uri="{0D108BD9-81ED-4DB2-BD59-A6C34878D82A}">
                    <a16:rowId xmlns:a16="http://schemas.microsoft.com/office/drawing/2014/main" val="2363713498"/>
                  </a:ext>
                </a:extLst>
              </a:tr>
              <a:tr h="315874">
                <a:tc>
                  <a:txBody>
                    <a:bodyPr/>
                    <a:lstStyle/>
                    <a:p>
                      <a:pPr algn="ctr" fontAlgn="base"/>
                      <a:r>
                        <a:rPr lang="en-IN" sz="1050" b="0" dirty="0">
                          <a:effectLst/>
                        </a:rPr>
                        <a:t>5</a:t>
                      </a:r>
                    </a:p>
                  </a:txBody>
                  <a:tcPr marL="76200" marR="76200" marT="106680" marB="106680" anchor="ctr"/>
                </a:tc>
                <a:tc>
                  <a:txBody>
                    <a:bodyPr/>
                    <a:lstStyle/>
                    <a:p>
                      <a:pPr algn="ctr" fontAlgn="base"/>
                      <a:r>
                        <a:rPr lang="en-IN" sz="1050" b="0">
                          <a:effectLst/>
                        </a:rPr>
                        <a:t>NARESH</a:t>
                      </a:r>
                    </a:p>
                  </a:txBody>
                  <a:tcPr marL="76200" marR="76200" marT="106680" marB="106680" anchor="ctr"/>
                </a:tc>
                <a:tc>
                  <a:txBody>
                    <a:bodyPr/>
                    <a:lstStyle/>
                    <a:p>
                      <a:pPr algn="ctr" fontAlgn="base"/>
                      <a:r>
                        <a:rPr lang="en-IN" sz="1050" b="0">
                          <a:effectLst/>
                        </a:rPr>
                        <a:t>HISAR</a:t>
                      </a:r>
                    </a:p>
                  </a:txBody>
                  <a:tcPr marL="76200" marR="76200" marT="106680" marB="106680" anchor="ctr"/>
                </a:tc>
                <a:tc>
                  <a:txBody>
                    <a:bodyPr/>
                    <a:lstStyle/>
                    <a:p>
                      <a:pPr algn="ctr" fontAlgn="base"/>
                      <a:r>
                        <a:rPr lang="en-IN" sz="1050" b="0">
                          <a:effectLst/>
                        </a:rPr>
                        <a:t>9782918192</a:t>
                      </a:r>
                    </a:p>
                  </a:txBody>
                  <a:tcPr marL="76200" marR="76200" marT="106680" marB="106680" anchor="ctr"/>
                </a:tc>
                <a:tc>
                  <a:txBody>
                    <a:bodyPr/>
                    <a:lstStyle/>
                    <a:p>
                      <a:pPr algn="ctr" fontAlgn="base"/>
                      <a:r>
                        <a:rPr lang="en-IN" sz="1050" b="0">
                          <a:effectLst/>
                        </a:rPr>
                        <a:t>22</a:t>
                      </a:r>
                    </a:p>
                  </a:txBody>
                  <a:tcPr marL="76200" marR="76200" marT="106680" marB="106680" anchor="ctr"/>
                </a:tc>
                <a:extLst>
                  <a:ext uri="{0D108BD9-81ED-4DB2-BD59-A6C34878D82A}">
                    <a16:rowId xmlns:a16="http://schemas.microsoft.com/office/drawing/2014/main" val="902947204"/>
                  </a:ext>
                </a:extLst>
              </a:tr>
              <a:tr h="315874">
                <a:tc>
                  <a:txBody>
                    <a:bodyPr/>
                    <a:lstStyle/>
                    <a:p>
                      <a:pPr algn="ctr" fontAlgn="base"/>
                      <a:r>
                        <a:rPr lang="en-IN" sz="1050" b="0">
                          <a:effectLst/>
                        </a:rPr>
                        <a:t>6</a:t>
                      </a:r>
                    </a:p>
                  </a:txBody>
                  <a:tcPr marL="76200" marR="76200" marT="106680" marB="106680" anchor="ctr"/>
                </a:tc>
                <a:tc>
                  <a:txBody>
                    <a:bodyPr/>
                    <a:lstStyle/>
                    <a:p>
                      <a:pPr algn="ctr" fontAlgn="base"/>
                      <a:r>
                        <a:rPr lang="en-IN" sz="1050" b="0" dirty="0">
                          <a:effectLst/>
                        </a:rPr>
                        <a:t>SWETA</a:t>
                      </a:r>
                    </a:p>
                  </a:txBody>
                  <a:tcPr marL="76200" marR="76200" marT="106680" marB="106680" anchor="ctr"/>
                </a:tc>
                <a:tc>
                  <a:txBody>
                    <a:bodyPr/>
                    <a:lstStyle/>
                    <a:p>
                      <a:pPr algn="ctr" fontAlgn="base"/>
                      <a:r>
                        <a:rPr lang="en-IN" sz="1050" b="0">
                          <a:effectLst/>
                        </a:rPr>
                        <a:t>RANCHI</a:t>
                      </a:r>
                    </a:p>
                  </a:txBody>
                  <a:tcPr marL="76200" marR="76200" marT="106680" marB="106680" anchor="ctr"/>
                </a:tc>
                <a:tc>
                  <a:txBody>
                    <a:bodyPr/>
                    <a:lstStyle/>
                    <a:p>
                      <a:pPr algn="ctr" fontAlgn="base"/>
                      <a:r>
                        <a:rPr lang="en-IN" sz="1050" b="0">
                          <a:effectLst/>
                        </a:rPr>
                        <a:t>9852617621</a:t>
                      </a:r>
                    </a:p>
                  </a:txBody>
                  <a:tcPr marL="76200" marR="76200" marT="106680" marB="106680" anchor="ctr"/>
                </a:tc>
                <a:tc>
                  <a:txBody>
                    <a:bodyPr/>
                    <a:lstStyle/>
                    <a:p>
                      <a:pPr algn="ctr" fontAlgn="base"/>
                      <a:r>
                        <a:rPr lang="en-IN" sz="1050" b="0">
                          <a:effectLst/>
                        </a:rPr>
                        <a:t>21</a:t>
                      </a:r>
                    </a:p>
                  </a:txBody>
                  <a:tcPr marL="76200" marR="76200" marT="106680" marB="106680" anchor="ctr"/>
                </a:tc>
                <a:extLst>
                  <a:ext uri="{0D108BD9-81ED-4DB2-BD59-A6C34878D82A}">
                    <a16:rowId xmlns:a16="http://schemas.microsoft.com/office/drawing/2014/main" val="2889671715"/>
                  </a:ext>
                </a:extLst>
              </a:tr>
              <a:tr h="315874">
                <a:tc>
                  <a:txBody>
                    <a:bodyPr/>
                    <a:lstStyle/>
                    <a:p>
                      <a:pPr algn="ctr" fontAlgn="base"/>
                      <a:r>
                        <a:rPr lang="en-IN" sz="1050" b="0">
                          <a:effectLst/>
                        </a:rPr>
                        <a:t>4</a:t>
                      </a:r>
                    </a:p>
                  </a:txBody>
                  <a:tcPr marL="76200" marR="76200" marT="106680" marB="106680" anchor="ctr"/>
                </a:tc>
                <a:tc>
                  <a:txBody>
                    <a:bodyPr/>
                    <a:lstStyle/>
                    <a:p>
                      <a:pPr algn="ctr" fontAlgn="base"/>
                      <a:r>
                        <a:rPr lang="en-IN" sz="1050" b="0" dirty="0">
                          <a:effectLst/>
                        </a:rPr>
                        <a:t>SURESH</a:t>
                      </a:r>
                    </a:p>
                  </a:txBody>
                  <a:tcPr marL="76200" marR="76200" marT="106680" marB="106680" anchor="ctr"/>
                </a:tc>
                <a:tc>
                  <a:txBody>
                    <a:bodyPr/>
                    <a:lstStyle/>
                    <a:p>
                      <a:pPr algn="ctr" fontAlgn="base"/>
                      <a:r>
                        <a:rPr lang="en-IN" sz="1050" b="0">
                          <a:effectLst/>
                        </a:rPr>
                        <a:t>DELHI</a:t>
                      </a:r>
                    </a:p>
                  </a:txBody>
                  <a:tcPr marL="76200" marR="76200" marT="106680" marB="106680" anchor="ctr"/>
                </a:tc>
                <a:tc>
                  <a:txBody>
                    <a:bodyPr/>
                    <a:lstStyle/>
                    <a:p>
                      <a:pPr algn="ctr" fontAlgn="base"/>
                      <a:r>
                        <a:rPr lang="en-IN" sz="1050" b="0">
                          <a:effectLst/>
                        </a:rPr>
                        <a:t>9156768971</a:t>
                      </a:r>
                    </a:p>
                  </a:txBody>
                  <a:tcPr marL="76200" marR="76200" marT="106680" marB="106680" anchor="ctr"/>
                </a:tc>
                <a:tc>
                  <a:txBody>
                    <a:bodyPr/>
                    <a:lstStyle/>
                    <a:p>
                      <a:pPr algn="ctr" fontAlgn="base"/>
                      <a:r>
                        <a:rPr lang="en-IN" sz="1050" b="0" dirty="0">
                          <a:effectLst/>
                        </a:rPr>
                        <a:t>18</a:t>
                      </a:r>
                    </a:p>
                  </a:txBody>
                  <a:tcPr marL="76200" marR="76200" marT="106680" marB="106680" anchor="ctr"/>
                </a:tc>
                <a:extLst>
                  <a:ext uri="{0D108BD9-81ED-4DB2-BD59-A6C34878D82A}">
                    <a16:rowId xmlns:a16="http://schemas.microsoft.com/office/drawing/2014/main" val="1625343975"/>
                  </a:ext>
                </a:extLst>
              </a:tr>
              <a:tr h="315874">
                <a:tc>
                  <a:txBody>
                    <a:bodyPr/>
                    <a:lstStyle/>
                    <a:p>
                      <a:pPr algn="ctr" fontAlgn="base"/>
                      <a:r>
                        <a:rPr lang="en-IN" sz="1050" b="0" dirty="0">
                          <a:effectLst/>
                        </a:rPr>
                        <a:t>1</a:t>
                      </a:r>
                    </a:p>
                  </a:txBody>
                  <a:tcPr marL="76200" marR="76200" marT="106680" marB="106680" anchor="ctr"/>
                </a:tc>
                <a:tc>
                  <a:txBody>
                    <a:bodyPr/>
                    <a:lstStyle/>
                    <a:p>
                      <a:pPr algn="ctr" fontAlgn="base"/>
                      <a:r>
                        <a:rPr lang="en-IN" sz="1050" b="0">
                          <a:effectLst/>
                        </a:rPr>
                        <a:t>RAM</a:t>
                      </a:r>
                    </a:p>
                  </a:txBody>
                  <a:tcPr marL="76200" marR="76200" marT="106680" marB="106680" anchor="ctr"/>
                </a:tc>
                <a:tc>
                  <a:txBody>
                    <a:bodyPr/>
                    <a:lstStyle/>
                    <a:p>
                      <a:pPr algn="ctr" fontAlgn="base"/>
                      <a:r>
                        <a:rPr lang="en-IN" sz="1050" b="0">
                          <a:effectLst/>
                        </a:rPr>
                        <a:t>DELHI</a:t>
                      </a:r>
                    </a:p>
                  </a:txBody>
                  <a:tcPr marL="76200" marR="76200" marT="106680" marB="106680" anchor="ctr"/>
                </a:tc>
                <a:tc>
                  <a:txBody>
                    <a:bodyPr/>
                    <a:lstStyle/>
                    <a:p>
                      <a:pPr algn="ctr" fontAlgn="base"/>
                      <a:r>
                        <a:rPr lang="en-IN" sz="1050" b="0">
                          <a:effectLst/>
                        </a:rPr>
                        <a:t>9455123451</a:t>
                      </a:r>
                    </a:p>
                  </a:txBody>
                  <a:tcPr marL="76200" marR="76200" marT="106680" marB="106680" anchor="ctr"/>
                </a:tc>
                <a:tc>
                  <a:txBody>
                    <a:bodyPr/>
                    <a:lstStyle/>
                    <a:p>
                      <a:pPr algn="ctr" fontAlgn="base"/>
                      <a:r>
                        <a:rPr lang="en-IN" sz="1050" b="0">
                          <a:effectLst/>
                        </a:rPr>
                        <a:t>18</a:t>
                      </a:r>
                    </a:p>
                  </a:txBody>
                  <a:tcPr marL="76200" marR="76200" marT="106680" marB="106680" anchor="ctr"/>
                </a:tc>
                <a:extLst>
                  <a:ext uri="{0D108BD9-81ED-4DB2-BD59-A6C34878D82A}">
                    <a16:rowId xmlns:a16="http://schemas.microsoft.com/office/drawing/2014/main" val="3363851247"/>
                  </a:ext>
                </a:extLst>
              </a:tr>
              <a:tr h="315874">
                <a:tc>
                  <a:txBody>
                    <a:bodyPr/>
                    <a:lstStyle/>
                    <a:p>
                      <a:pPr algn="ctr" fontAlgn="base"/>
                      <a:r>
                        <a:rPr lang="en-IN" sz="1050" b="0" dirty="0">
                          <a:effectLst/>
                        </a:rPr>
                        <a:t>5</a:t>
                      </a:r>
                    </a:p>
                  </a:txBody>
                  <a:tcPr marL="76200" marR="76200" marT="106680" marB="106680" anchor="ctr"/>
                </a:tc>
                <a:tc>
                  <a:txBody>
                    <a:bodyPr/>
                    <a:lstStyle/>
                    <a:p>
                      <a:pPr algn="ctr" fontAlgn="base"/>
                      <a:r>
                        <a:rPr lang="en-IN" sz="1050" b="0">
                          <a:effectLst/>
                        </a:rPr>
                        <a:t>NARESH</a:t>
                      </a:r>
                    </a:p>
                  </a:txBody>
                  <a:tcPr marL="76200" marR="76200" marT="106680" marB="106680" anchor="ctr"/>
                </a:tc>
                <a:tc>
                  <a:txBody>
                    <a:bodyPr/>
                    <a:lstStyle/>
                    <a:p>
                      <a:pPr algn="ctr" fontAlgn="base"/>
                      <a:r>
                        <a:rPr lang="en-IN" sz="1050" b="0">
                          <a:effectLst/>
                        </a:rPr>
                        <a:t>HISAR</a:t>
                      </a:r>
                    </a:p>
                  </a:txBody>
                  <a:tcPr marL="76200" marR="76200" marT="106680" marB="106680" anchor="ctr"/>
                </a:tc>
                <a:tc>
                  <a:txBody>
                    <a:bodyPr/>
                    <a:lstStyle/>
                    <a:p>
                      <a:pPr algn="ctr" fontAlgn="base"/>
                      <a:r>
                        <a:rPr lang="en-IN" sz="1050" b="0">
                          <a:effectLst/>
                        </a:rPr>
                        <a:t>9782918192</a:t>
                      </a:r>
                    </a:p>
                  </a:txBody>
                  <a:tcPr marL="76200" marR="76200" marT="106680" marB="106680" anchor="ctr"/>
                </a:tc>
                <a:tc>
                  <a:txBody>
                    <a:bodyPr/>
                    <a:lstStyle/>
                    <a:p>
                      <a:pPr algn="ctr" fontAlgn="base"/>
                      <a:r>
                        <a:rPr lang="en-IN" sz="1050" b="0">
                          <a:effectLst/>
                        </a:rPr>
                        <a:t>22</a:t>
                      </a:r>
                    </a:p>
                  </a:txBody>
                  <a:tcPr marL="76200" marR="76200" marT="106680" marB="106680" anchor="ctr"/>
                </a:tc>
                <a:extLst>
                  <a:ext uri="{0D108BD9-81ED-4DB2-BD59-A6C34878D82A}">
                    <a16:rowId xmlns:a16="http://schemas.microsoft.com/office/drawing/2014/main" val="1547637833"/>
                  </a:ext>
                </a:extLst>
              </a:tr>
              <a:tr h="315874">
                <a:tc>
                  <a:txBody>
                    <a:bodyPr/>
                    <a:lstStyle/>
                    <a:p>
                      <a:pPr algn="ctr" fontAlgn="base"/>
                      <a:r>
                        <a:rPr lang="en-IN" sz="1050" b="0">
                          <a:effectLst/>
                        </a:rPr>
                        <a:t>6</a:t>
                      </a:r>
                    </a:p>
                  </a:txBody>
                  <a:tcPr marL="76200" marR="76200" marT="106680" marB="106680" anchor="ctr"/>
                </a:tc>
                <a:tc>
                  <a:txBody>
                    <a:bodyPr/>
                    <a:lstStyle/>
                    <a:p>
                      <a:pPr algn="ctr" fontAlgn="base"/>
                      <a:r>
                        <a:rPr lang="en-IN" sz="1050" b="0">
                          <a:effectLst/>
                        </a:rPr>
                        <a:t>SWETA</a:t>
                      </a:r>
                    </a:p>
                  </a:txBody>
                  <a:tcPr marL="76200" marR="76200" marT="106680" marB="106680" anchor="ctr"/>
                </a:tc>
                <a:tc>
                  <a:txBody>
                    <a:bodyPr/>
                    <a:lstStyle/>
                    <a:p>
                      <a:pPr algn="ctr" fontAlgn="base"/>
                      <a:r>
                        <a:rPr lang="en-IN" sz="1050" b="0">
                          <a:effectLst/>
                        </a:rPr>
                        <a:t>RANCHI</a:t>
                      </a:r>
                    </a:p>
                  </a:txBody>
                  <a:tcPr marL="76200" marR="76200" marT="106680" marB="106680" anchor="ctr"/>
                </a:tc>
                <a:tc>
                  <a:txBody>
                    <a:bodyPr/>
                    <a:lstStyle/>
                    <a:p>
                      <a:pPr algn="ctr" fontAlgn="base"/>
                      <a:r>
                        <a:rPr lang="en-IN" sz="1050" b="0">
                          <a:effectLst/>
                        </a:rPr>
                        <a:t>9852617621</a:t>
                      </a:r>
                    </a:p>
                  </a:txBody>
                  <a:tcPr marL="76200" marR="76200" marT="106680" marB="106680" anchor="ctr"/>
                </a:tc>
                <a:tc>
                  <a:txBody>
                    <a:bodyPr/>
                    <a:lstStyle/>
                    <a:p>
                      <a:pPr algn="ctr" fontAlgn="base"/>
                      <a:r>
                        <a:rPr lang="en-IN" sz="1050" b="0">
                          <a:effectLst/>
                        </a:rPr>
                        <a:t>21</a:t>
                      </a:r>
                    </a:p>
                  </a:txBody>
                  <a:tcPr marL="76200" marR="76200" marT="106680" marB="106680" anchor="ctr"/>
                </a:tc>
                <a:extLst>
                  <a:ext uri="{0D108BD9-81ED-4DB2-BD59-A6C34878D82A}">
                    <a16:rowId xmlns:a16="http://schemas.microsoft.com/office/drawing/2014/main" val="380143884"/>
                  </a:ext>
                </a:extLst>
              </a:tr>
              <a:tr h="315874">
                <a:tc>
                  <a:txBody>
                    <a:bodyPr/>
                    <a:lstStyle/>
                    <a:p>
                      <a:pPr algn="ctr" fontAlgn="base"/>
                      <a:r>
                        <a:rPr lang="en-IN" sz="1050" b="0">
                          <a:effectLst/>
                        </a:rPr>
                        <a:t>4</a:t>
                      </a:r>
                    </a:p>
                  </a:txBody>
                  <a:tcPr marL="76200" marR="76200" marT="106680" marB="106680" anchor="ctr"/>
                </a:tc>
                <a:tc>
                  <a:txBody>
                    <a:bodyPr/>
                    <a:lstStyle/>
                    <a:p>
                      <a:pPr algn="ctr" fontAlgn="base"/>
                      <a:r>
                        <a:rPr lang="en-IN" sz="1050" b="0">
                          <a:effectLst/>
                        </a:rPr>
                        <a:t>SURESH</a:t>
                      </a:r>
                    </a:p>
                  </a:txBody>
                  <a:tcPr marL="76200" marR="76200" marT="106680" marB="106680" anchor="ctr"/>
                </a:tc>
                <a:tc>
                  <a:txBody>
                    <a:bodyPr/>
                    <a:lstStyle/>
                    <a:p>
                      <a:pPr algn="ctr" fontAlgn="base"/>
                      <a:r>
                        <a:rPr lang="en-IN" sz="1050" b="0" dirty="0">
                          <a:effectLst/>
                        </a:rPr>
                        <a:t>DELHI</a:t>
                      </a:r>
                    </a:p>
                  </a:txBody>
                  <a:tcPr marL="76200" marR="76200" marT="106680" marB="106680" anchor="ctr"/>
                </a:tc>
                <a:tc>
                  <a:txBody>
                    <a:bodyPr/>
                    <a:lstStyle/>
                    <a:p>
                      <a:pPr algn="ctr" fontAlgn="base"/>
                      <a:r>
                        <a:rPr lang="en-IN" sz="1050" b="0">
                          <a:effectLst/>
                        </a:rPr>
                        <a:t>9156768971</a:t>
                      </a:r>
                    </a:p>
                  </a:txBody>
                  <a:tcPr marL="76200" marR="76200" marT="106680" marB="106680" anchor="ctr"/>
                </a:tc>
                <a:tc>
                  <a:txBody>
                    <a:bodyPr/>
                    <a:lstStyle/>
                    <a:p>
                      <a:pPr algn="ctr" fontAlgn="base"/>
                      <a:r>
                        <a:rPr lang="en-IN" sz="1050" b="0" dirty="0">
                          <a:effectLst/>
                        </a:rPr>
                        <a:t>18</a:t>
                      </a:r>
                    </a:p>
                  </a:txBody>
                  <a:tcPr marL="76200" marR="76200" marT="106680" marB="106680" anchor="ctr"/>
                </a:tc>
                <a:extLst>
                  <a:ext uri="{0D108BD9-81ED-4DB2-BD59-A6C34878D82A}">
                    <a16:rowId xmlns:a16="http://schemas.microsoft.com/office/drawing/2014/main" val="2935675086"/>
                  </a:ext>
                </a:extLst>
              </a:tr>
              <a:tr h="315874">
                <a:tc>
                  <a:txBody>
                    <a:bodyPr/>
                    <a:lstStyle/>
                    <a:p>
                      <a:pPr algn="ctr" fontAlgn="base"/>
                      <a:r>
                        <a:rPr lang="en-IN" sz="1050" b="0" dirty="0">
                          <a:effectLst/>
                        </a:rPr>
                        <a:t>1</a:t>
                      </a:r>
                    </a:p>
                  </a:txBody>
                  <a:tcPr marL="76200" marR="76200" marT="106680" marB="106680" anchor="ctr"/>
                </a:tc>
                <a:tc>
                  <a:txBody>
                    <a:bodyPr/>
                    <a:lstStyle/>
                    <a:p>
                      <a:pPr algn="ctr" fontAlgn="base"/>
                      <a:r>
                        <a:rPr lang="en-IN" sz="1050" b="0">
                          <a:effectLst/>
                        </a:rPr>
                        <a:t>RAM</a:t>
                      </a:r>
                    </a:p>
                  </a:txBody>
                  <a:tcPr marL="76200" marR="76200" marT="106680" marB="106680" anchor="ctr"/>
                </a:tc>
                <a:tc>
                  <a:txBody>
                    <a:bodyPr/>
                    <a:lstStyle/>
                    <a:p>
                      <a:pPr algn="ctr" fontAlgn="base"/>
                      <a:r>
                        <a:rPr lang="en-IN" sz="1050" b="0">
                          <a:effectLst/>
                        </a:rPr>
                        <a:t>DELHI</a:t>
                      </a:r>
                    </a:p>
                  </a:txBody>
                  <a:tcPr marL="76200" marR="76200" marT="106680" marB="106680" anchor="ctr"/>
                </a:tc>
                <a:tc>
                  <a:txBody>
                    <a:bodyPr/>
                    <a:lstStyle/>
                    <a:p>
                      <a:pPr algn="ctr" fontAlgn="base"/>
                      <a:r>
                        <a:rPr lang="en-IN" sz="1050" b="0">
                          <a:effectLst/>
                        </a:rPr>
                        <a:t>9455123451</a:t>
                      </a:r>
                    </a:p>
                  </a:txBody>
                  <a:tcPr marL="76200" marR="76200" marT="106680" marB="106680" anchor="ctr"/>
                </a:tc>
                <a:tc>
                  <a:txBody>
                    <a:bodyPr/>
                    <a:lstStyle/>
                    <a:p>
                      <a:pPr algn="ctr" fontAlgn="base"/>
                      <a:r>
                        <a:rPr lang="en-IN" sz="1050" b="0">
                          <a:effectLst/>
                        </a:rPr>
                        <a:t>18</a:t>
                      </a:r>
                    </a:p>
                  </a:txBody>
                  <a:tcPr marL="76200" marR="76200" marT="106680" marB="106680" anchor="ctr"/>
                </a:tc>
                <a:extLst>
                  <a:ext uri="{0D108BD9-81ED-4DB2-BD59-A6C34878D82A}">
                    <a16:rowId xmlns:a16="http://schemas.microsoft.com/office/drawing/2014/main" val="424883367"/>
                  </a:ext>
                </a:extLst>
              </a:tr>
              <a:tr h="315874">
                <a:tc>
                  <a:txBody>
                    <a:bodyPr/>
                    <a:lstStyle/>
                    <a:p>
                      <a:pPr algn="ctr" fontAlgn="base"/>
                      <a:r>
                        <a:rPr lang="en-IN" sz="1050" b="0" dirty="0">
                          <a:effectLst/>
                        </a:rPr>
                        <a:t>5</a:t>
                      </a:r>
                    </a:p>
                  </a:txBody>
                  <a:tcPr marL="76200" marR="76200" marT="106680" marB="106680" anchor="ctr"/>
                </a:tc>
                <a:tc>
                  <a:txBody>
                    <a:bodyPr/>
                    <a:lstStyle/>
                    <a:p>
                      <a:pPr algn="ctr" fontAlgn="base"/>
                      <a:r>
                        <a:rPr lang="en-IN" sz="1050" b="0">
                          <a:effectLst/>
                        </a:rPr>
                        <a:t>NARESH</a:t>
                      </a:r>
                    </a:p>
                  </a:txBody>
                  <a:tcPr marL="76200" marR="76200" marT="106680" marB="106680" anchor="ctr"/>
                </a:tc>
                <a:tc>
                  <a:txBody>
                    <a:bodyPr/>
                    <a:lstStyle/>
                    <a:p>
                      <a:pPr algn="ctr" fontAlgn="base"/>
                      <a:r>
                        <a:rPr lang="en-IN" sz="1050" b="0" dirty="0">
                          <a:effectLst/>
                        </a:rPr>
                        <a:t>HISAR</a:t>
                      </a:r>
                    </a:p>
                  </a:txBody>
                  <a:tcPr marL="76200" marR="76200" marT="106680" marB="106680" anchor="ctr"/>
                </a:tc>
                <a:tc>
                  <a:txBody>
                    <a:bodyPr/>
                    <a:lstStyle/>
                    <a:p>
                      <a:pPr algn="ctr" fontAlgn="base"/>
                      <a:r>
                        <a:rPr lang="en-IN" sz="1050" b="0">
                          <a:effectLst/>
                        </a:rPr>
                        <a:t>9782918192</a:t>
                      </a:r>
                    </a:p>
                  </a:txBody>
                  <a:tcPr marL="76200" marR="76200" marT="106680" marB="106680" anchor="ctr"/>
                </a:tc>
                <a:tc>
                  <a:txBody>
                    <a:bodyPr/>
                    <a:lstStyle/>
                    <a:p>
                      <a:pPr algn="ctr" fontAlgn="base"/>
                      <a:r>
                        <a:rPr lang="en-IN" sz="1050" b="0">
                          <a:effectLst/>
                        </a:rPr>
                        <a:t>22</a:t>
                      </a:r>
                    </a:p>
                  </a:txBody>
                  <a:tcPr marL="76200" marR="76200" marT="106680" marB="106680" anchor="ctr"/>
                </a:tc>
                <a:extLst>
                  <a:ext uri="{0D108BD9-81ED-4DB2-BD59-A6C34878D82A}">
                    <a16:rowId xmlns:a16="http://schemas.microsoft.com/office/drawing/2014/main" val="1930336409"/>
                  </a:ext>
                </a:extLst>
              </a:tr>
              <a:tr h="315874">
                <a:tc>
                  <a:txBody>
                    <a:bodyPr/>
                    <a:lstStyle/>
                    <a:p>
                      <a:pPr algn="ctr" fontAlgn="base"/>
                      <a:r>
                        <a:rPr lang="en-IN" sz="1050" b="0">
                          <a:effectLst/>
                        </a:rPr>
                        <a:t>6</a:t>
                      </a:r>
                    </a:p>
                  </a:txBody>
                  <a:tcPr marL="76200" marR="76200" marT="106680" marB="106680" anchor="ctr"/>
                </a:tc>
                <a:tc>
                  <a:txBody>
                    <a:bodyPr/>
                    <a:lstStyle/>
                    <a:p>
                      <a:pPr algn="ctr" fontAlgn="base"/>
                      <a:r>
                        <a:rPr lang="en-IN" sz="1050" b="0">
                          <a:effectLst/>
                        </a:rPr>
                        <a:t>SWETA</a:t>
                      </a:r>
                    </a:p>
                  </a:txBody>
                  <a:tcPr marL="76200" marR="76200" marT="106680" marB="106680" anchor="ctr"/>
                </a:tc>
                <a:tc>
                  <a:txBody>
                    <a:bodyPr/>
                    <a:lstStyle/>
                    <a:p>
                      <a:pPr algn="ctr" fontAlgn="base"/>
                      <a:r>
                        <a:rPr lang="en-IN" sz="1050" b="0">
                          <a:effectLst/>
                        </a:rPr>
                        <a:t>RANCHI</a:t>
                      </a:r>
                    </a:p>
                  </a:txBody>
                  <a:tcPr marL="76200" marR="76200" marT="106680" marB="106680" anchor="ctr"/>
                </a:tc>
                <a:tc>
                  <a:txBody>
                    <a:bodyPr/>
                    <a:lstStyle/>
                    <a:p>
                      <a:pPr algn="ctr" fontAlgn="base"/>
                      <a:r>
                        <a:rPr lang="en-IN" sz="1050" b="0" dirty="0">
                          <a:effectLst/>
                        </a:rPr>
                        <a:t>9852617621</a:t>
                      </a:r>
                    </a:p>
                  </a:txBody>
                  <a:tcPr marL="76200" marR="76200" marT="106680" marB="106680" anchor="ctr"/>
                </a:tc>
                <a:tc>
                  <a:txBody>
                    <a:bodyPr/>
                    <a:lstStyle/>
                    <a:p>
                      <a:pPr algn="ctr" fontAlgn="base"/>
                      <a:r>
                        <a:rPr lang="en-IN" sz="1050" b="0">
                          <a:effectLst/>
                        </a:rPr>
                        <a:t>21</a:t>
                      </a:r>
                    </a:p>
                  </a:txBody>
                  <a:tcPr marL="76200" marR="76200" marT="106680" marB="106680" anchor="ctr"/>
                </a:tc>
                <a:extLst>
                  <a:ext uri="{0D108BD9-81ED-4DB2-BD59-A6C34878D82A}">
                    <a16:rowId xmlns:a16="http://schemas.microsoft.com/office/drawing/2014/main" val="663587267"/>
                  </a:ext>
                </a:extLst>
              </a:tr>
              <a:tr h="315874">
                <a:tc>
                  <a:txBody>
                    <a:bodyPr/>
                    <a:lstStyle/>
                    <a:p>
                      <a:pPr algn="ctr" fontAlgn="base"/>
                      <a:r>
                        <a:rPr lang="en-IN" sz="1050" b="0">
                          <a:effectLst/>
                        </a:rPr>
                        <a:t>4</a:t>
                      </a:r>
                    </a:p>
                  </a:txBody>
                  <a:tcPr marL="76200" marR="76200" marT="106680" marB="106680" anchor="ctr"/>
                </a:tc>
                <a:tc>
                  <a:txBody>
                    <a:bodyPr/>
                    <a:lstStyle/>
                    <a:p>
                      <a:pPr algn="ctr" fontAlgn="base"/>
                      <a:r>
                        <a:rPr lang="en-IN" sz="1050" b="0">
                          <a:effectLst/>
                        </a:rPr>
                        <a:t>SURESH</a:t>
                      </a:r>
                    </a:p>
                  </a:txBody>
                  <a:tcPr marL="76200" marR="76200" marT="106680" marB="106680" anchor="ctr"/>
                </a:tc>
                <a:tc>
                  <a:txBody>
                    <a:bodyPr/>
                    <a:lstStyle/>
                    <a:p>
                      <a:pPr algn="ctr" fontAlgn="base"/>
                      <a:r>
                        <a:rPr lang="en-IN" sz="1050" b="0">
                          <a:effectLst/>
                        </a:rPr>
                        <a:t>DELHI</a:t>
                      </a:r>
                    </a:p>
                  </a:txBody>
                  <a:tcPr marL="76200" marR="76200" marT="106680" marB="106680" anchor="ctr"/>
                </a:tc>
                <a:tc>
                  <a:txBody>
                    <a:bodyPr/>
                    <a:lstStyle/>
                    <a:p>
                      <a:pPr algn="ctr" fontAlgn="base"/>
                      <a:r>
                        <a:rPr lang="en-IN" sz="1050" b="0" dirty="0">
                          <a:effectLst/>
                        </a:rPr>
                        <a:t>9156768971</a:t>
                      </a:r>
                    </a:p>
                  </a:txBody>
                  <a:tcPr marL="76200" marR="76200" marT="106680" marB="106680" anchor="ctr"/>
                </a:tc>
                <a:tc>
                  <a:txBody>
                    <a:bodyPr/>
                    <a:lstStyle/>
                    <a:p>
                      <a:pPr algn="ctr" fontAlgn="base"/>
                      <a:r>
                        <a:rPr lang="en-IN" sz="1050" b="0" dirty="0">
                          <a:effectLst/>
                        </a:rPr>
                        <a:t>18</a:t>
                      </a:r>
                    </a:p>
                  </a:txBody>
                  <a:tcPr marL="76200" marR="76200" marT="106680" marB="106680" anchor="ctr"/>
                </a:tc>
                <a:extLst>
                  <a:ext uri="{0D108BD9-81ED-4DB2-BD59-A6C34878D82A}">
                    <a16:rowId xmlns:a16="http://schemas.microsoft.com/office/drawing/2014/main" val="2444128522"/>
                  </a:ext>
                </a:extLst>
              </a:tr>
              <a:tr h="315874">
                <a:tc>
                  <a:txBody>
                    <a:bodyPr/>
                    <a:lstStyle/>
                    <a:p>
                      <a:pPr algn="ctr" fontAlgn="base"/>
                      <a:r>
                        <a:rPr lang="en-IN" sz="1050" b="0" dirty="0">
                          <a:effectLst/>
                        </a:rPr>
                        <a:t>1</a:t>
                      </a:r>
                    </a:p>
                  </a:txBody>
                  <a:tcPr marL="76200" marR="76200" marT="106680" marB="106680" anchor="ctr"/>
                </a:tc>
                <a:tc>
                  <a:txBody>
                    <a:bodyPr/>
                    <a:lstStyle/>
                    <a:p>
                      <a:pPr algn="ctr" fontAlgn="base"/>
                      <a:r>
                        <a:rPr lang="en-IN" sz="1050" b="0">
                          <a:effectLst/>
                        </a:rPr>
                        <a:t>RAM</a:t>
                      </a:r>
                    </a:p>
                  </a:txBody>
                  <a:tcPr marL="76200" marR="76200" marT="106680" marB="106680" anchor="ctr"/>
                </a:tc>
                <a:tc>
                  <a:txBody>
                    <a:bodyPr/>
                    <a:lstStyle/>
                    <a:p>
                      <a:pPr algn="ctr" fontAlgn="base"/>
                      <a:r>
                        <a:rPr lang="en-IN" sz="1050" b="0">
                          <a:effectLst/>
                        </a:rPr>
                        <a:t>DELHI</a:t>
                      </a:r>
                    </a:p>
                  </a:txBody>
                  <a:tcPr marL="76200" marR="76200" marT="106680" marB="106680" anchor="ctr"/>
                </a:tc>
                <a:tc>
                  <a:txBody>
                    <a:bodyPr/>
                    <a:lstStyle/>
                    <a:p>
                      <a:pPr algn="ctr" fontAlgn="base"/>
                      <a:r>
                        <a:rPr lang="en-IN" sz="1050" b="0" dirty="0">
                          <a:effectLst/>
                        </a:rPr>
                        <a:t>9455123451</a:t>
                      </a:r>
                    </a:p>
                  </a:txBody>
                  <a:tcPr marL="76200" marR="76200" marT="106680" marB="106680" anchor="ctr"/>
                </a:tc>
                <a:tc>
                  <a:txBody>
                    <a:bodyPr/>
                    <a:lstStyle/>
                    <a:p>
                      <a:pPr algn="ctr" fontAlgn="base"/>
                      <a:r>
                        <a:rPr lang="en-IN" sz="1050" b="0">
                          <a:effectLst/>
                        </a:rPr>
                        <a:t>18</a:t>
                      </a:r>
                    </a:p>
                  </a:txBody>
                  <a:tcPr marL="76200" marR="76200" marT="106680" marB="106680" anchor="ctr"/>
                </a:tc>
                <a:extLst>
                  <a:ext uri="{0D108BD9-81ED-4DB2-BD59-A6C34878D82A}">
                    <a16:rowId xmlns:a16="http://schemas.microsoft.com/office/drawing/2014/main" val="2075754366"/>
                  </a:ext>
                </a:extLst>
              </a:tr>
              <a:tr h="315874">
                <a:tc>
                  <a:txBody>
                    <a:bodyPr/>
                    <a:lstStyle/>
                    <a:p>
                      <a:pPr algn="ctr" fontAlgn="base"/>
                      <a:r>
                        <a:rPr lang="en-IN" sz="1050" b="0" dirty="0">
                          <a:effectLst/>
                        </a:rPr>
                        <a:t>5</a:t>
                      </a:r>
                    </a:p>
                  </a:txBody>
                  <a:tcPr marL="76200" marR="76200" marT="106680" marB="106680" anchor="ctr"/>
                </a:tc>
                <a:tc>
                  <a:txBody>
                    <a:bodyPr/>
                    <a:lstStyle/>
                    <a:p>
                      <a:pPr algn="ctr" fontAlgn="base"/>
                      <a:r>
                        <a:rPr lang="en-IN" sz="1050" b="0">
                          <a:effectLst/>
                        </a:rPr>
                        <a:t>NARESH</a:t>
                      </a:r>
                    </a:p>
                  </a:txBody>
                  <a:tcPr marL="76200" marR="76200" marT="106680" marB="106680" anchor="ctr"/>
                </a:tc>
                <a:tc>
                  <a:txBody>
                    <a:bodyPr/>
                    <a:lstStyle/>
                    <a:p>
                      <a:pPr algn="ctr" fontAlgn="base"/>
                      <a:r>
                        <a:rPr lang="en-IN" sz="1050" b="0">
                          <a:effectLst/>
                        </a:rPr>
                        <a:t>HISAR</a:t>
                      </a:r>
                    </a:p>
                  </a:txBody>
                  <a:tcPr marL="76200" marR="76200" marT="106680" marB="106680" anchor="ctr"/>
                </a:tc>
                <a:tc>
                  <a:txBody>
                    <a:bodyPr/>
                    <a:lstStyle/>
                    <a:p>
                      <a:pPr algn="ctr" fontAlgn="base"/>
                      <a:r>
                        <a:rPr lang="en-IN" sz="1050" b="0">
                          <a:effectLst/>
                        </a:rPr>
                        <a:t>9782918192</a:t>
                      </a:r>
                    </a:p>
                  </a:txBody>
                  <a:tcPr marL="76200" marR="76200" marT="106680" marB="106680" anchor="ctr"/>
                </a:tc>
                <a:tc>
                  <a:txBody>
                    <a:bodyPr/>
                    <a:lstStyle/>
                    <a:p>
                      <a:pPr algn="ctr" fontAlgn="base"/>
                      <a:r>
                        <a:rPr lang="en-IN" sz="1050" b="0" dirty="0">
                          <a:effectLst/>
                        </a:rPr>
                        <a:t>22</a:t>
                      </a:r>
                    </a:p>
                  </a:txBody>
                  <a:tcPr marL="76200" marR="76200" marT="106680" marB="106680" anchor="ctr"/>
                </a:tc>
                <a:extLst>
                  <a:ext uri="{0D108BD9-81ED-4DB2-BD59-A6C34878D82A}">
                    <a16:rowId xmlns:a16="http://schemas.microsoft.com/office/drawing/2014/main" val="340108247"/>
                  </a:ext>
                </a:extLst>
              </a:tr>
              <a:tr h="315874">
                <a:tc>
                  <a:txBody>
                    <a:bodyPr/>
                    <a:lstStyle/>
                    <a:p>
                      <a:pPr algn="ctr" fontAlgn="base"/>
                      <a:r>
                        <a:rPr lang="en-IN" sz="1050" b="0">
                          <a:effectLst/>
                        </a:rPr>
                        <a:t>6</a:t>
                      </a:r>
                    </a:p>
                  </a:txBody>
                  <a:tcPr marL="76200" marR="76200" marT="106680" marB="106680" anchor="ctr"/>
                </a:tc>
                <a:tc>
                  <a:txBody>
                    <a:bodyPr/>
                    <a:lstStyle/>
                    <a:p>
                      <a:pPr algn="ctr" fontAlgn="base"/>
                      <a:r>
                        <a:rPr lang="en-IN" sz="1050" b="0">
                          <a:effectLst/>
                        </a:rPr>
                        <a:t>SWETA</a:t>
                      </a:r>
                    </a:p>
                  </a:txBody>
                  <a:tcPr marL="76200" marR="76200" marT="106680" marB="106680" anchor="ctr"/>
                </a:tc>
                <a:tc>
                  <a:txBody>
                    <a:bodyPr/>
                    <a:lstStyle/>
                    <a:p>
                      <a:pPr algn="ctr" fontAlgn="base"/>
                      <a:r>
                        <a:rPr lang="en-IN" sz="1050" b="0">
                          <a:effectLst/>
                        </a:rPr>
                        <a:t>RANCHI</a:t>
                      </a:r>
                    </a:p>
                  </a:txBody>
                  <a:tcPr marL="76200" marR="76200" marT="106680" marB="106680" anchor="ctr"/>
                </a:tc>
                <a:tc>
                  <a:txBody>
                    <a:bodyPr/>
                    <a:lstStyle/>
                    <a:p>
                      <a:pPr algn="ctr" fontAlgn="base"/>
                      <a:r>
                        <a:rPr lang="en-IN" sz="1050" b="0">
                          <a:effectLst/>
                        </a:rPr>
                        <a:t>9852617621</a:t>
                      </a:r>
                    </a:p>
                  </a:txBody>
                  <a:tcPr marL="76200" marR="76200" marT="106680" marB="106680" anchor="ctr"/>
                </a:tc>
                <a:tc>
                  <a:txBody>
                    <a:bodyPr/>
                    <a:lstStyle/>
                    <a:p>
                      <a:pPr algn="ctr" fontAlgn="base"/>
                      <a:r>
                        <a:rPr lang="en-IN" sz="1050" b="0" dirty="0">
                          <a:effectLst/>
                        </a:rPr>
                        <a:t>21</a:t>
                      </a:r>
                    </a:p>
                  </a:txBody>
                  <a:tcPr marL="76200" marR="76200" marT="106680" marB="106680" anchor="ctr"/>
                </a:tc>
                <a:extLst>
                  <a:ext uri="{0D108BD9-81ED-4DB2-BD59-A6C34878D82A}">
                    <a16:rowId xmlns:a16="http://schemas.microsoft.com/office/drawing/2014/main" val="1272813607"/>
                  </a:ext>
                </a:extLst>
              </a:tr>
              <a:tr h="315874">
                <a:tc>
                  <a:txBody>
                    <a:bodyPr/>
                    <a:lstStyle/>
                    <a:p>
                      <a:pPr algn="ctr" fontAlgn="base"/>
                      <a:r>
                        <a:rPr lang="en-IN" sz="1050" b="0">
                          <a:effectLst/>
                        </a:rPr>
                        <a:t>4</a:t>
                      </a:r>
                    </a:p>
                  </a:txBody>
                  <a:tcPr marL="76200" marR="76200" marT="106680" marB="106680" anchor="ctr"/>
                </a:tc>
                <a:tc>
                  <a:txBody>
                    <a:bodyPr/>
                    <a:lstStyle/>
                    <a:p>
                      <a:pPr algn="ctr" fontAlgn="base"/>
                      <a:r>
                        <a:rPr lang="en-IN" sz="1050" b="0">
                          <a:effectLst/>
                        </a:rPr>
                        <a:t>SURESH</a:t>
                      </a:r>
                    </a:p>
                  </a:txBody>
                  <a:tcPr marL="76200" marR="76200" marT="106680" marB="106680" anchor="ctr"/>
                </a:tc>
                <a:tc>
                  <a:txBody>
                    <a:bodyPr/>
                    <a:lstStyle/>
                    <a:p>
                      <a:pPr algn="ctr" fontAlgn="base"/>
                      <a:r>
                        <a:rPr lang="en-IN" sz="1050" b="0" dirty="0">
                          <a:effectLst/>
                        </a:rPr>
                        <a:t>DELHI</a:t>
                      </a:r>
                    </a:p>
                  </a:txBody>
                  <a:tcPr marL="76200" marR="76200" marT="106680" marB="106680" anchor="ctr"/>
                </a:tc>
                <a:tc>
                  <a:txBody>
                    <a:bodyPr/>
                    <a:lstStyle/>
                    <a:p>
                      <a:pPr algn="ctr" fontAlgn="base"/>
                      <a:r>
                        <a:rPr lang="en-IN" sz="1050" b="0">
                          <a:effectLst/>
                        </a:rPr>
                        <a:t>9156768971</a:t>
                      </a:r>
                    </a:p>
                  </a:txBody>
                  <a:tcPr marL="76200" marR="76200" marT="106680" marB="106680" anchor="ctr"/>
                </a:tc>
                <a:tc>
                  <a:txBody>
                    <a:bodyPr/>
                    <a:lstStyle/>
                    <a:p>
                      <a:pPr algn="ctr" fontAlgn="base"/>
                      <a:r>
                        <a:rPr lang="en-IN" sz="1050" b="0" dirty="0">
                          <a:effectLst/>
                        </a:rPr>
                        <a:t>18</a:t>
                      </a:r>
                    </a:p>
                  </a:txBody>
                  <a:tcPr marL="76200" marR="76200" marT="106680" marB="106680" anchor="ctr"/>
                </a:tc>
                <a:extLst>
                  <a:ext uri="{0D108BD9-81ED-4DB2-BD59-A6C34878D82A}">
                    <a16:rowId xmlns:a16="http://schemas.microsoft.com/office/drawing/2014/main" val="1536550927"/>
                  </a:ext>
                </a:extLst>
              </a:tr>
            </a:tbl>
          </a:graphicData>
        </a:graphic>
      </p:graphicFrame>
      <p:graphicFrame>
        <p:nvGraphicFramePr>
          <p:cNvPr id="7" name="Table 6">
            <a:extLst>
              <a:ext uri="{FF2B5EF4-FFF2-40B4-BE49-F238E27FC236}">
                <a16:creationId xmlns:a16="http://schemas.microsoft.com/office/drawing/2014/main" id="{82F6A082-9B72-25BF-31A3-F6827821E67E}"/>
              </a:ext>
            </a:extLst>
          </p:cNvPr>
          <p:cNvGraphicFramePr>
            <a:graphicFrameLocks noGrp="1"/>
          </p:cNvGraphicFramePr>
          <p:nvPr>
            <p:extLst>
              <p:ext uri="{D42A27DB-BD31-4B8C-83A1-F6EECF244321}">
                <p14:modId xmlns:p14="http://schemas.microsoft.com/office/powerpoint/2010/main" val="1447856992"/>
              </p:ext>
            </p:extLst>
          </p:nvPr>
        </p:nvGraphicFramePr>
        <p:xfrm>
          <a:off x="15915" y="510540"/>
          <a:ext cx="6080085" cy="6347460"/>
        </p:xfrm>
        <a:graphic>
          <a:graphicData uri="http://schemas.openxmlformats.org/drawingml/2006/table">
            <a:tbl>
              <a:tblPr firstRow="1" bandRow="1">
                <a:tableStyleId>{5C22544A-7EE6-4342-B048-85BDC9FD1C3A}</a:tableStyleId>
              </a:tblPr>
              <a:tblGrid>
                <a:gridCol w="1216017">
                  <a:extLst>
                    <a:ext uri="{9D8B030D-6E8A-4147-A177-3AD203B41FA5}">
                      <a16:colId xmlns:a16="http://schemas.microsoft.com/office/drawing/2014/main" val="4266849369"/>
                    </a:ext>
                  </a:extLst>
                </a:gridCol>
                <a:gridCol w="1216017">
                  <a:extLst>
                    <a:ext uri="{9D8B030D-6E8A-4147-A177-3AD203B41FA5}">
                      <a16:colId xmlns:a16="http://schemas.microsoft.com/office/drawing/2014/main" val="3010703630"/>
                    </a:ext>
                  </a:extLst>
                </a:gridCol>
                <a:gridCol w="1216017">
                  <a:extLst>
                    <a:ext uri="{9D8B030D-6E8A-4147-A177-3AD203B41FA5}">
                      <a16:colId xmlns:a16="http://schemas.microsoft.com/office/drawing/2014/main" val="3026541473"/>
                    </a:ext>
                  </a:extLst>
                </a:gridCol>
                <a:gridCol w="1216017">
                  <a:extLst>
                    <a:ext uri="{9D8B030D-6E8A-4147-A177-3AD203B41FA5}">
                      <a16:colId xmlns:a16="http://schemas.microsoft.com/office/drawing/2014/main" val="1022191623"/>
                    </a:ext>
                  </a:extLst>
                </a:gridCol>
                <a:gridCol w="1216017">
                  <a:extLst>
                    <a:ext uri="{9D8B030D-6E8A-4147-A177-3AD203B41FA5}">
                      <a16:colId xmlns:a16="http://schemas.microsoft.com/office/drawing/2014/main" val="1845674275"/>
                    </a:ext>
                  </a:extLst>
                </a:gridCol>
              </a:tblGrid>
              <a:tr h="373380">
                <a:tc>
                  <a:txBody>
                    <a:bodyPr/>
                    <a:lstStyle/>
                    <a:p>
                      <a:pPr algn="ctr" fontAlgn="base"/>
                      <a:r>
                        <a:rPr lang="en-IN" sz="1000" b="0" dirty="0">
                          <a:effectLst/>
                        </a:rPr>
                        <a:t>ROLL_NO</a:t>
                      </a:r>
                    </a:p>
                  </a:txBody>
                  <a:tcPr marL="76200" marR="76200" marT="106680" marB="106680" anchor="ctr"/>
                </a:tc>
                <a:tc>
                  <a:txBody>
                    <a:bodyPr/>
                    <a:lstStyle/>
                    <a:p>
                      <a:pPr algn="ctr" fontAlgn="base"/>
                      <a:r>
                        <a:rPr lang="en-IN" sz="1000" b="0" dirty="0">
                          <a:effectLst/>
                        </a:rPr>
                        <a:t>Student. NAME</a:t>
                      </a:r>
                    </a:p>
                  </a:txBody>
                  <a:tcPr marL="76200" marR="76200" marT="106680" marB="106680" anchor="ctr"/>
                </a:tc>
                <a:tc>
                  <a:txBody>
                    <a:bodyPr/>
                    <a:lstStyle/>
                    <a:p>
                      <a:pPr algn="ctr" fontAlgn="base"/>
                      <a:r>
                        <a:rPr lang="en-IN" sz="1000" b="0" dirty="0" err="1">
                          <a:effectLst/>
                        </a:rPr>
                        <a:t>Student.ADDRESS</a:t>
                      </a:r>
                      <a:endParaRPr lang="en-IN" sz="1000" b="0" dirty="0">
                        <a:effectLst/>
                      </a:endParaRPr>
                    </a:p>
                  </a:txBody>
                  <a:tcPr marL="76200" marR="76200" marT="106680" marB="106680" anchor="ctr"/>
                </a:tc>
                <a:tc>
                  <a:txBody>
                    <a:bodyPr/>
                    <a:lstStyle/>
                    <a:p>
                      <a:pPr algn="ctr" fontAlgn="base"/>
                      <a:r>
                        <a:rPr lang="en-IN" sz="1000" b="0" dirty="0">
                          <a:effectLst/>
                        </a:rPr>
                        <a:t>Student. PHONE</a:t>
                      </a:r>
                    </a:p>
                  </a:txBody>
                  <a:tcPr marL="76200" marR="76200" marT="106680" marB="106680" anchor="ctr"/>
                </a:tc>
                <a:tc>
                  <a:txBody>
                    <a:bodyPr/>
                    <a:lstStyle/>
                    <a:p>
                      <a:pPr algn="ctr" fontAlgn="base"/>
                      <a:r>
                        <a:rPr lang="en-IN" sz="1000" b="0" dirty="0">
                          <a:effectLst/>
                        </a:rPr>
                        <a:t>Student. AGE</a:t>
                      </a:r>
                    </a:p>
                  </a:txBody>
                  <a:tcPr marL="76200" marR="76200" marT="106680" marB="106680" anchor="ctr"/>
                </a:tc>
                <a:extLst>
                  <a:ext uri="{0D108BD9-81ED-4DB2-BD59-A6C34878D82A}">
                    <a16:rowId xmlns:a16="http://schemas.microsoft.com/office/drawing/2014/main" val="679664294"/>
                  </a:ext>
                </a:extLst>
              </a:tr>
              <a:tr h="373380">
                <a:tc>
                  <a:txBody>
                    <a:bodyPr/>
                    <a:lstStyle/>
                    <a:p>
                      <a:pPr algn="ctr" fontAlgn="base"/>
                      <a:r>
                        <a:rPr lang="en-IN" sz="1000" b="0" dirty="0">
                          <a:effectLst/>
                        </a:rPr>
                        <a:t>1</a:t>
                      </a:r>
                    </a:p>
                  </a:txBody>
                  <a:tcPr marL="76200" marR="76200" marT="106680" marB="106680" anchor="ctr"/>
                </a:tc>
                <a:tc>
                  <a:txBody>
                    <a:bodyPr/>
                    <a:lstStyle/>
                    <a:p>
                      <a:pPr algn="ctr" fontAlgn="base"/>
                      <a:r>
                        <a:rPr lang="en-IN" sz="1000" b="0">
                          <a:effectLst/>
                        </a:rPr>
                        <a:t>RAM</a:t>
                      </a:r>
                    </a:p>
                  </a:txBody>
                  <a:tcPr marL="76200" marR="76200" marT="106680" marB="106680" anchor="ctr"/>
                </a:tc>
                <a:tc>
                  <a:txBody>
                    <a:bodyPr/>
                    <a:lstStyle/>
                    <a:p>
                      <a:pPr algn="ctr" fontAlgn="base"/>
                      <a:r>
                        <a:rPr lang="en-IN" sz="1000" b="0" dirty="0">
                          <a:effectLst/>
                        </a:rPr>
                        <a:t>DELHI</a:t>
                      </a:r>
                    </a:p>
                  </a:txBody>
                  <a:tcPr marL="76200" marR="76200" marT="106680" marB="106680" anchor="ctr"/>
                </a:tc>
                <a:tc>
                  <a:txBody>
                    <a:bodyPr/>
                    <a:lstStyle/>
                    <a:p>
                      <a:pPr algn="ctr" fontAlgn="base"/>
                      <a:r>
                        <a:rPr lang="en-IN" sz="1000" b="0">
                          <a:effectLst/>
                        </a:rPr>
                        <a:t>9455123451</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383063893"/>
                  </a:ext>
                </a:extLst>
              </a:tr>
              <a:tr h="373380">
                <a:tc>
                  <a:txBody>
                    <a:bodyPr/>
                    <a:lstStyle/>
                    <a:p>
                      <a:pPr algn="ctr" fontAlgn="base"/>
                      <a:r>
                        <a:rPr lang="en-IN" sz="1000" b="0" dirty="0">
                          <a:effectLst/>
                        </a:rPr>
                        <a:t>1</a:t>
                      </a:r>
                    </a:p>
                  </a:txBody>
                  <a:tcPr marL="76200" marR="76200" marT="106680" marB="106680" anchor="ctr"/>
                </a:tc>
                <a:tc>
                  <a:txBody>
                    <a:bodyPr/>
                    <a:lstStyle/>
                    <a:p>
                      <a:pPr algn="ctr" fontAlgn="base"/>
                      <a:r>
                        <a:rPr lang="en-IN" sz="1000" b="0">
                          <a:effectLst/>
                        </a:rPr>
                        <a:t>RAM</a:t>
                      </a:r>
                    </a:p>
                  </a:txBody>
                  <a:tcPr marL="76200" marR="76200" marT="106680" marB="106680" anchor="ctr"/>
                </a:tc>
                <a:tc>
                  <a:txBody>
                    <a:bodyPr/>
                    <a:lstStyle/>
                    <a:p>
                      <a:pPr algn="ctr" fontAlgn="base"/>
                      <a:r>
                        <a:rPr lang="en-IN" sz="1000" b="0" dirty="0">
                          <a:effectLst/>
                        </a:rPr>
                        <a:t>DELHI</a:t>
                      </a:r>
                    </a:p>
                  </a:txBody>
                  <a:tcPr marL="76200" marR="76200" marT="106680" marB="106680" anchor="ctr"/>
                </a:tc>
                <a:tc>
                  <a:txBody>
                    <a:bodyPr/>
                    <a:lstStyle/>
                    <a:p>
                      <a:pPr algn="ctr" fontAlgn="base"/>
                      <a:r>
                        <a:rPr lang="en-IN" sz="1000" b="0">
                          <a:effectLst/>
                        </a:rPr>
                        <a:t>9455123451</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3661860439"/>
                  </a:ext>
                </a:extLst>
              </a:tr>
              <a:tr h="373380">
                <a:tc>
                  <a:txBody>
                    <a:bodyPr/>
                    <a:lstStyle/>
                    <a:p>
                      <a:pPr algn="ctr" fontAlgn="base"/>
                      <a:r>
                        <a:rPr lang="en-IN" sz="1000" b="0" dirty="0">
                          <a:effectLst/>
                        </a:rPr>
                        <a:t>1</a:t>
                      </a:r>
                    </a:p>
                  </a:txBody>
                  <a:tcPr marL="76200" marR="76200" marT="106680" marB="106680" anchor="ctr"/>
                </a:tc>
                <a:tc>
                  <a:txBody>
                    <a:bodyPr/>
                    <a:lstStyle/>
                    <a:p>
                      <a:pPr algn="ctr" fontAlgn="base"/>
                      <a:r>
                        <a:rPr lang="en-IN" sz="1000" b="0">
                          <a:effectLst/>
                        </a:rPr>
                        <a:t>RAM</a:t>
                      </a:r>
                    </a:p>
                  </a:txBody>
                  <a:tcPr marL="76200" marR="76200" marT="106680" marB="106680" anchor="ctr"/>
                </a:tc>
                <a:tc>
                  <a:txBody>
                    <a:bodyPr/>
                    <a:lstStyle/>
                    <a:p>
                      <a:pPr algn="ctr" fontAlgn="base"/>
                      <a:r>
                        <a:rPr lang="en-IN" sz="1000" b="0" dirty="0">
                          <a:effectLst/>
                        </a:rPr>
                        <a:t>DELHI</a:t>
                      </a:r>
                    </a:p>
                  </a:txBody>
                  <a:tcPr marL="76200" marR="76200" marT="106680" marB="106680" anchor="ctr"/>
                </a:tc>
                <a:tc>
                  <a:txBody>
                    <a:bodyPr/>
                    <a:lstStyle/>
                    <a:p>
                      <a:pPr algn="ctr" fontAlgn="base"/>
                      <a:r>
                        <a:rPr lang="en-IN" sz="1000" b="0">
                          <a:effectLst/>
                        </a:rPr>
                        <a:t>9455123451</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3813103386"/>
                  </a:ext>
                </a:extLst>
              </a:tr>
              <a:tr h="373380">
                <a:tc>
                  <a:txBody>
                    <a:bodyPr/>
                    <a:lstStyle/>
                    <a:p>
                      <a:pPr algn="ctr" fontAlgn="base"/>
                      <a:r>
                        <a:rPr lang="en-IN" sz="1000" b="0" dirty="0">
                          <a:effectLst/>
                        </a:rPr>
                        <a:t>1</a:t>
                      </a:r>
                    </a:p>
                  </a:txBody>
                  <a:tcPr marL="76200" marR="76200" marT="106680" marB="106680" anchor="ctr"/>
                </a:tc>
                <a:tc>
                  <a:txBody>
                    <a:bodyPr/>
                    <a:lstStyle/>
                    <a:p>
                      <a:pPr algn="ctr" fontAlgn="base"/>
                      <a:r>
                        <a:rPr lang="en-IN" sz="1000" b="0" dirty="0">
                          <a:effectLst/>
                        </a:rPr>
                        <a:t>RAM</a:t>
                      </a:r>
                    </a:p>
                  </a:txBody>
                  <a:tcPr marL="76200" marR="76200" marT="106680" marB="106680" anchor="ctr"/>
                </a:tc>
                <a:tc>
                  <a:txBody>
                    <a:bodyPr/>
                    <a:lstStyle/>
                    <a:p>
                      <a:pPr algn="ctr" fontAlgn="base"/>
                      <a:r>
                        <a:rPr lang="en-IN" sz="1000" b="0" dirty="0">
                          <a:effectLst/>
                        </a:rPr>
                        <a:t>DELHI</a:t>
                      </a:r>
                    </a:p>
                  </a:txBody>
                  <a:tcPr marL="76200" marR="76200" marT="106680" marB="106680" anchor="ctr"/>
                </a:tc>
                <a:tc>
                  <a:txBody>
                    <a:bodyPr/>
                    <a:lstStyle/>
                    <a:p>
                      <a:pPr algn="ctr" fontAlgn="base"/>
                      <a:r>
                        <a:rPr lang="en-IN" sz="1000" b="0">
                          <a:effectLst/>
                        </a:rPr>
                        <a:t>9455123451</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3837564565"/>
                  </a:ext>
                </a:extLst>
              </a:tr>
              <a:tr h="373380">
                <a:tc>
                  <a:txBody>
                    <a:bodyPr/>
                    <a:lstStyle/>
                    <a:p>
                      <a:pPr algn="ctr" fontAlgn="base"/>
                      <a:r>
                        <a:rPr lang="en-IN" sz="1000" b="0" dirty="0">
                          <a:effectLst/>
                        </a:rPr>
                        <a:t>2</a:t>
                      </a:r>
                    </a:p>
                  </a:txBody>
                  <a:tcPr marL="76200" marR="76200" marT="106680" marB="106680" anchor="ctr"/>
                </a:tc>
                <a:tc>
                  <a:txBody>
                    <a:bodyPr/>
                    <a:lstStyle/>
                    <a:p>
                      <a:pPr algn="ctr" fontAlgn="base"/>
                      <a:r>
                        <a:rPr lang="en-IN" sz="1000" b="0">
                          <a:effectLst/>
                        </a:rPr>
                        <a:t>RAMESH</a:t>
                      </a:r>
                    </a:p>
                  </a:txBody>
                  <a:tcPr marL="76200" marR="76200" marT="106680" marB="106680" anchor="ctr"/>
                </a:tc>
                <a:tc>
                  <a:txBody>
                    <a:bodyPr/>
                    <a:lstStyle/>
                    <a:p>
                      <a:pPr algn="ctr" fontAlgn="base"/>
                      <a:r>
                        <a:rPr lang="en-IN" sz="1000" b="0" dirty="0">
                          <a:effectLst/>
                        </a:rPr>
                        <a:t>GURGAON</a:t>
                      </a:r>
                    </a:p>
                  </a:txBody>
                  <a:tcPr marL="76200" marR="76200" marT="106680" marB="106680" anchor="ctr"/>
                </a:tc>
                <a:tc>
                  <a:txBody>
                    <a:bodyPr/>
                    <a:lstStyle/>
                    <a:p>
                      <a:pPr algn="ctr" fontAlgn="base"/>
                      <a:r>
                        <a:rPr lang="en-IN" sz="1000" b="0" dirty="0">
                          <a:effectLst/>
                        </a:rPr>
                        <a:t>9652431543</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125712162"/>
                  </a:ext>
                </a:extLst>
              </a:tr>
              <a:tr h="373380">
                <a:tc>
                  <a:txBody>
                    <a:bodyPr/>
                    <a:lstStyle/>
                    <a:p>
                      <a:pPr algn="ctr" fontAlgn="base"/>
                      <a:r>
                        <a:rPr lang="en-IN" sz="1000" b="0" dirty="0">
                          <a:effectLst/>
                        </a:rPr>
                        <a:t>2</a:t>
                      </a:r>
                    </a:p>
                  </a:txBody>
                  <a:tcPr marL="76200" marR="76200" marT="106680" marB="106680" anchor="ctr"/>
                </a:tc>
                <a:tc>
                  <a:txBody>
                    <a:bodyPr/>
                    <a:lstStyle/>
                    <a:p>
                      <a:pPr algn="ctr" fontAlgn="base"/>
                      <a:r>
                        <a:rPr lang="en-IN" sz="1000" b="0">
                          <a:effectLst/>
                        </a:rPr>
                        <a:t>RAMESH</a:t>
                      </a:r>
                    </a:p>
                  </a:txBody>
                  <a:tcPr marL="76200" marR="76200" marT="106680" marB="106680" anchor="ctr"/>
                </a:tc>
                <a:tc>
                  <a:txBody>
                    <a:bodyPr/>
                    <a:lstStyle/>
                    <a:p>
                      <a:pPr algn="ctr" fontAlgn="base"/>
                      <a:r>
                        <a:rPr lang="en-IN" sz="1000" b="0" dirty="0">
                          <a:effectLst/>
                        </a:rPr>
                        <a:t>GURGAON</a:t>
                      </a:r>
                    </a:p>
                  </a:txBody>
                  <a:tcPr marL="76200" marR="76200" marT="106680" marB="106680" anchor="ctr"/>
                </a:tc>
                <a:tc>
                  <a:txBody>
                    <a:bodyPr/>
                    <a:lstStyle/>
                    <a:p>
                      <a:pPr algn="ctr" fontAlgn="base"/>
                      <a:r>
                        <a:rPr lang="en-IN" sz="1000" b="0" dirty="0">
                          <a:effectLst/>
                        </a:rPr>
                        <a:t>9652431543</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2499531338"/>
                  </a:ext>
                </a:extLst>
              </a:tr>
              <a:tr h="373380">
                <a:tc>
                  <a:txBody>
                    <a:bodyPr/>
                    <a:lstStyle/>
                    <a:p>
                      <a:pPr algn="ctr" fontAlgn="base"/>
                      <a:r>
                        <a:rPr lang="en-IN" sz="1000" b="0" dirty="0">
                          <a:effectLst/>
                        </a:rPr>
                        <a:t>2</a:t>
                      </a:r>
                    </a:p>
                  </a:txBody>
                  <a:tcPr marL="76200" marR="76200" marT="106680" marB="106680" anchor="ctr"/>
                </a:tc>
                <a:tc>
                  <a:txBody>
                    <a:bodyPr/>
                    <a:lstStyle/>
                    <a:p>
                      <a:pPr algn="ctr" fontAlgn="base"/>
                      <a:r>
                        <a:rPr lang="en-IN" sz="1000" b="0">
                          <a:effectLst/>
                        </a:rPr>
                        <a:t>RAMESH</a:t>
                      </a:r>
                    </a:p>
                  </a:txBody>
                  <a:tcPr marL="76200" marR="76200" marT="106680" marB="106680" anchor="ctr"/>
                </a:tc>
                <a:tc>
                  <a:txBody>
                    <a:bodyPr/>
                    <a:lstStyle/>
                    <a:p>
                      <a:pPr algn="ctr" fontAlgn="base"/>
                      <a:r>
                        <a:rPr lang="en-IN" sz="1000" b="0" dirty="0">
                          <a:effectLst/>
                        </a:rPr>
                        <a:t>GURGAON</a:t>
                      </a:r>
                    </a:p>
                  </a:txBody>
                  <a:tcPr marL="76200" marR="76200" marT="106680" marB="106680" anchor="ctr"/>
                </a:tc>
                <a:tc>
                  <a:txBody>
                    <a:bodyPr/>
                    <a:lstStyle/>
                    <a:p>
                      <a:pPr algn="ctr" fontAlgn="base"/>
                      <a:r>
                        <a:rPr lang="en-IN" sz="1000" b="0" dirty="0">
                          <a:effectLst/>
                        </a:rPr>
                        <a:t>9652431543</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3907795053"/>
                  </a:ext>
                </a:extLst>
              </a:tr>
              <a:tr h="373380">
                <a:tc>
                  <a:txBody>
                    <a:bodyPr/>
                    <a:lstStyle/>
                    <a:p>
                      <a:pPr algn="ctr" fontAlgn="base"/>
                      <a:r>
                        <a:rPr lang="en-IN" sz="1000" b="0" dirty="0">
                          <a:effectLst/>
                        </a:rPr>
                        <a:t>2</a:t>
                      </a:r>
                    </a:p>
                  </a:txBody>
                  <a:tcPr marL="76200" marR="76200" marT="106680" marB="106680" anchor="ctr"/>
                </a:tc>
                <a:tc>
                  <a:txBody>
                    <a:bodyPr/>
                    <a:lstStyle/>
                    <a:p>
                      <a:pPr algn="ctr" fontAlgn="base"/>
                      <a:r>
                        <a:rPr lang="en-IN" sz="1000" b="0">
                          <a:effectLst/>
                        </a:rPr>
                        <a:t>RAMESH</a:t>
                      </a:r>
                    </a:p>
                  </a:txBody>
                  <a:tcPr marL="76200" marR="76200" marT="106680" marB="106680" anchor="ctr"/>
                </a:tc>
                <a:tc>
                  <a:txBody>
                    <a:bodyPr/>
                    <a:lstStyle/>
                    <a:p>
                      <a:pPr algn="ctr" fontAlgn="base"/>
                      <a:r>
                        <a:rPr lang="en-IN" sz="1000" b="0" dirty="0">
                          <a:effectLst/>
                        </a:rPr>
                        <a:t>GURGAON</a:t>
                      </a:r>
                    </a:p>
                  </a:txBody>
                  <a:tcPr marL="76200" marR="76200" marT="106680" marB="106680" anchor="ctr"/>
                </a:tc>
                <a:tc>
                  <a:txBody>
                    <a:bodyPr/>
                    <a:lstStyle/>
                    <a:p>
                      <a:pPr algn="ctr" fontAlgn="base"/>
                      <a:r>
                        <a:rPr lang="en-IN" sz="1000" b="0" dirty="0">
                          <a:effectLst/>
                        </a:rPr>
                        <a:t>9652431543</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1946538203"/>
                  </a:ext>
                </a:extLst>
              </a:tr>
              <a:tr h="373380">
                <a:tc>
                  <a:txBody>
                    <a:bodyPr/>
                    <a:lstStyle/>
                    <a:p>
                      <a:pPr algn="ctr" fontAlgn="base"/>
                      <a:r>
                        <a:rPr lang="en-IN" sz="1000" b="0" dirty="0">
                          <a:effectLst/>
                        </a:rPr>
                        <a:t>3</a:t>
                      </a:r>
                    </a:p>
                  </a:txBody>
                  <a:tcPr marL="76200" marR="76200" marT="106680" marB="106680" anchor="ctr"/>
                </a:tc>
                <a:tc>
                  <a:txBody>
                    <a:bodyPr/>
                    <a:lstStyle/>
                    <a:p>
                      <a:pPr algn="ctr" fontAlgn="base"/>
                      <a:r>
                        <a:rPr lang="en-IN" sz="1000" b="0" dirty="0">
                          <a:effectLst/>
                        </a:rPr>
                        <a:t>SUJIT</a:t>
                      </a:r>
                    </a:p>
                  </a:txBody>
                  <a:tcPr marL="76200" marR="76200" marT="106680" marB="106680" anchor="ctr"/>
                </a:tc>
                <a:tc>
                  <a:txBody>
                    <a:bodyPr/>
                    <a:lstStyle/>
                    <a:p>
                      <a:pPr algn="ctr" fontAlgn="base"/>
                      <a:r>
                        <a:rPr lang="en-IN" sz="1000" b="0" dirty="0">
                          <a:effectLst/>
                        </a:rPr>
                        <a:t>ROHTAK</a:t>
                      </a:r>
                    </a:p>
                  </a:txBody>
                  <a:tcPr marL="76200" marR="76200" marT="106680" marB="106680" anchor="ctr"/>
                </a:tc>
                <a:tc>
                  <a:txBody>
                    <a:bodyPr/>
                    <a:lstStyle/>
                    <a:p>
                      <a:pPr algn="ctr" fontAlgn="base"/>
                      <a:r>
                        <a:rPr lang="en-IN" sz="1000" b="0" dirty="0">
                          <a:effectLst/>
                        </a:rPr>
                        <a:t>9156253131</a:t>
                      </a:r>
                    </a:p>
                  </a:txBody>
                  <a:tcPr marL="76200" marR="76200" marT="106680" marB="106680" anchor="ctr"/>
                </a:tc>
                <a:tc>
                  <a:txBody>
                    <a:bodyPr/>
                    <a:lstStyle/>
                    <a:p>
                      <a:pPr algn="ctr" fontAlgn="base"/>
                      <a:r>
                        <a:rPr lang="en-IN" sz="1000" b="0" dirty="0">
                          <a:effectLst/>
                        </a:rPr>
                        <a:t>20</a:t>
                      </a:r>
                    </a:p>
                  </a:txBody>
                  <a:tcPr marL="76200" marR="76200" marT="106680" marB="106680" anchor="ctr"/>
                </a:tc>
                <a:extLst>
                  <a:ext uri="{0D108BD9-81ED-4DB2-BD59-A6C34878D82A}">
                    <a16:rowId xmlns:a16="http://schemas.microsoft.com/office/drawing/2014/main" val="3504931980"/>
                  </a:ext>
                </a:extLst>
              </a:tr>
              <a:tr h="373380">
                <a:tc>
                  <a:txBody>
                    <a:bodyPr/>
                    <a:lstStyle/>
                    <a:p>
                      <a:pPr algn="ctr" fontAlgn="base"/>
                      <a:r>
                        <a:rPr lang="en-IN" sz="1000" b="0" dirty="0">
                          <a:effectLst/>
                        </a:rPr>
                        <a:t>3</a:t>
                      </a:r>
                    </a:p>
                  </a:txBody>
                  <a:tcPr marL="76200" marR="76200" marT="106680" marB="106680" anchor="ctr"/>
                </a:tc>
                <a:tc>
                  <a:txBody>
                    <a:bodyPr/>
                    <a:lstStyle/>
                    <a:p>
                      <a:pPr algn="ctr" fontAlgn="base"/>
                      <a:r>
                        <a:rPr lang="en-IN" sz="1000" b="0" dirty="0">
                          <a:effectLst/>
                        </a:rPr>
                        <a:t>SUJIT</a:t>
                      </a:r>
                    </a:p>
                  </a:txBody>
                  <a:tcPr marL="76200" marR="76200" marT="106680" marB="106680" anchor="ctr"/>
                </a:tc>
                <a:tc>
                  <a:txBody>
                    <a:bodyPr/>
                    <a:lstStyle/>
                    <a:p>
                      <a:pPr algn="ctr" fontAlgn="base"/>
                      <a:r>
                        <a:rPr lang="en-IN" sz="1000" b="0" dirty="0">
                          <a:effectLst/>
                        </a:rPr>
                        <a:t>ROHTAK</a:t>
                      </a:r>
                    </a:p>
                  </a:txBody>
                  <a:tcPr marL="76200" marR="76200" marT="106680" marB="106680" anchor="ctr"/>
                </a:tc>
                <a:tc>
                  <a:txBody>
                    <a:bodyPr/>
                    <a:lstStyle/>
                    <a:p>
                      <a:pPr algn="ctr" fontAlgn="base"/>
                      <a:r>
                        <a:rPr lang="en-IN" sz="1000" b="0" dirty="0">
                          <a:effectLst/>
                        </a:rPr>
                        <a:t>9156253131</a:t>
                      </a:r>
                    </a:p>
                  </a:txBody>
                  <a:tcPr marL="76200" marR="76200" marT="106680" marB="106680" anchor="ctr"/>
                </a:tc>
                <a:tc>
                  <a:txBody>
                    <a:bodyPr/>
                    <a:lstStyle/>
                    <a:p>
                      <a:pPr algn="ctr" fontAlgn="base"/>
                      <a:r>
                        <a:rPr lang="en-IN" sz="1000" b="0" dirty="0">
                          <a:effectLst/>
                        </a:rPr>
                        <a:t>20</a:t>
                      </a:r>
                    </a:p>
                  </a:txBody>
                  <a:tcPr marL="76200" marR="76200" marT="106680" marB="106680" anchor="ctr"/>
                </a:tc>
                <a:extLst>
                  <a:ext uri="{0D108BD9-81ED-4DB2-BD59-A6C34878D82A}">
                    <a16:rowId xmlns:a16="http://schemas.microsoft.com/office/drawing/2014/main" val="326705626"/>
                  </a:ext>
                </a:extLst>
              </a:tr>
              <a:tr h="373380">
                <a:tc>
                  <a:txBody>
                    <a:bodyPr/>
                    <a:lstStyle/>
                    <a:p>
                      <a:pPr algn="ctr" fontAlgn="base"/>
                      <a:r>
                        <a:rPr lang="en-IN" sz="1000" b="0" dirty="0">
                          <a:effectLst/>
                        </a:rPr>
                        <a:t>3</a:t>
                      </a:r>
                    </a:p>
                  </a:txBody>
                  <a:tcPr marL="76200" marR="76200" marT="106680" marB="106680" anchor="ctr"/>
                </a:tc>
                <a:tc>
                  <a:txBody>
                    <a:bodyPr/>
                    <a:lstStyle/>
                    <a:p>
                      <a:pPr algn="ctr" fontAlgn="base"/>
                      <a:r>
                        <a:rPr lang="en-IN" sz="1000" b="0" dirty="0">
                          <a:effectLst/>
                        </a:rPr>
                        <a:t>SUJIT</a:t>
                      </a:r>
                    </a:p>
                  </a:txBody>
                  <a:tcPr marL="76200" marR="76200" marT="106680" marB="106680" anchor="ctr"/>
                </a:tc>
                <a:tc>
                  <a:txBody>
                    <a:bodyPr/>
                    <a:lstStyle/>
                    <a:p>
                      <a:pPr algn="ctr" fontAlgn="base"/>
                      <a:r>
                        <a:rPr lang="en-IN" sz="1000" b="0" dirty="0">
                          <a:effectLst/>
                        </a:rPr>
                        <a:t>ROHTAK</a:t>
                      </a:r>
                    </a:p>
                  </a:txBody>
                  <a:tcPr marL="76200" marR="76200" marT="106680" marB="106680" anchor="ctr"/>
                </a:tc>
                <a:tc>
                  <a:txBody>
                    <a:bodyPr/>
                    <a:lstStyle/>
                    <a:p>
                      <a:pPr algn="ctr" fontAlgn="base"/>
                      <a:r>
                        <a:rPr lang="en-IN" sz="1000" b="0" dirty="0">
                          <a:effectLst/>
                        </a:rPr>
                        <a:t>9156253131</a:t>
                      </a:r>
                    </a:p>
                  </a:txBody>
                  <a:tcPr marL="76200" marR="76200" marT="106680" marB="106680" anchor="ctr"/>
                </a:tc>
                <a:tc>
                  <a:txBody>
                    <a:bodyPr/>
                    <a:lstStyle/>
                    <a:p>
                      <a:pPr algn="ctr" fontAlgn="base"/>
                      <a:r>
                        <a:rPr lang="en-IN" sz="1000" b="0" dirty="0">
                          <a:effectLst/>
                        </a:rPr>
                        <a:t>20</a:t>
                      </a:r>
                    </a:p>
                  </a:txBody>
                  <a:tcPr marL="76200" marR="76200" marT="106680" marB="106680" anchor="ctr"/>
                </a:tc>
                <a:extLst>
                  <a:ext uri="{0D108BD9-81ED-4DB2-BD59-A6C34878D82A}">
                    <a16:rowId xmlns:a16="http://schemas.microsoft.com/office/drawing/2014/main" val="3796303721"/>
                  </a:ext>
                </a:extLst>
              </a:tr>
              <a:tr h="373380">
                <a:tc>
                  <a:txBody>
                    <a:bodyPr/>
                    <a:lstStyle/>
                    <a:p>
                      <a:pPr algn="ctr" fontAlgn="base"/>
                      <a:r>
                        <a:rPr lang="en-IN" sz="1000" b="0" dirty="0">
                          <a:effectLst/>
                        </a:rPr>
                        <a:t>3</a:t>
                      </a:r>
                    </a:p>
                  </a:txBody>
                  <a:tcPr marL="76200" marR="76200" marT="106680" marB="106680" anchor="ctr"/>
                </a:tc>
                <a:tc>
                  <a:txBody>
                    <a:bodyPr/>
                    <a:lstStyle/>
                    <a:p>
                      <a:pPr algn="ctr" fontAlgn="base"/>
                      <a:r>
                        <a:rPr lang="en-IN" sz="1000" b="0" dirty="0">
                          <a:effectLst/>
                        </a:rPr>
                        <a:t>SUJIT</a:t>
                      </a:r>
                    </a:p>
                  </a:txBody>
                  <a:tcPr marL="76200" marR="76200" marT="106680" marB="106680" anchor="ctr"/>
                </a:tc>
                <a:tc>
                  <a:txBody>
                    <a:bodyPr/>
                    <a:lstStyle/>
                    <a:p>
                      <a:pPr algn="ctr" fontAlgn="base"/>
                      <a:r>
                        <a:rPr lang="en-IN" sz="1000" b="0" dirty="0">
                          <a:effectLst/>
                        </a:rPr>
                        <a:t>ROHTAK</a:t>
                      </a:r>
                    </a:p>
                  </a:txBody>
                  <a:tcPr marL="76200" marR="76200" marT="106680" marB="106680" anchor="ctr"/>
                </a:tc>
                <a:tc>
                  <a:txBody>
                    <a:bodyPr/>
                    <a:lstStyle/>
                    <a:p>
                      <a:pPr algn="ctr" fontAlgn="base"/>
                      <a:r>
                        <a:rPr lang="en-IN" sz="1000" b="0" dirty="0">
                          <a:effectLst/>
                        </a:rPr>
                        <a:t>9156253131</a:t>
                      </a:r>
                    </a:p>
                  </a:txBody>
                  <a:tcPr marL="76200" marR="76200" marT="106680" marB="106680" anchor="ctr"/>
                </a:tc>
                <a:tc>
                  <a:txBody>
                    <a:bodyPr/>
                    <a:lstStyle/>
                    <a:p>
                      <a:pPr algn="ctr" fontAlgn="base"/>
                      <a:r>
                        <a:rPr lang="en-IN" sz="1000" b="0" dirty="0">
                          <a:effectLst/>
                        </a:rPr>
                        <a:t>20</a:t>
                      </a:r>
                    </a:p>
                  </a:txBody>
                  <a:tcPr marL="76200" marR="76200" marT="106680" marB="106680" anchor="ctr"/>
                </a:tc>
                <a:extLst>
                  <a:ext uri="{0D108BD9-81ED-4DB2-BD59-A6C34878D82A}">
                    <a16:rowId xmlns:a16="http://schemas.microsoft.com/office/drawing/2014/main" val="1653737061"/>
                  </a:ext>
                </a:extLst>
              </a:tr>
              <a:tr h="373380">
                <a:tc>
                  <a:txBody>
                    <a:bodyPr/>
                    <a:lstStyle/>
                    <a:p>
                      <a:pPr algn="ctr" fontAlgn="base"/>
                      <a:r>
                        <a:rPr lang="en-IN" sz="1000" b="0" dirty="0">
                          <a:effectLst/>
                        </a:rPr>
                        <a:t>4</a:t>
                      </a:r>
                    </a:p>
                  </a:txBody>
                  <a:tcPr marL="76200" marR="76200" marT="106680" marB="106680" anchor="ctr"/>
                </a:tc>
                <a:tc>
                  <a:txBody>
                    <a:bodyPr/>
                    <a:lstStyle/>
                    <a:p>
                      <a:pPr algn="ctr" fontAlgn="base"/>
                      <a:r>
                        <a:rPr lang="en-IN" sz="1000" b="0" dirty="0">
                          <a:effectLst/>
                        </a:rPr>
                        <a:t>SURESH</a:t>
                      </a:r>
                    </a:p>
                  </a:txBody>
                  <a:tcPr marL="76200" marR="76200" marT="106680" marB="106680" anchor="ctr"/>
                </a:tc>
                <a:tc>
                  <a:txBody>
                    <a:bodyPr/>
                    <a:lstStyle/>
                    <a:p>
                      <a:pPr algn="ctr" fontAlgn="base"/>
                      <a:r>
                        <a:rPr lang="en-IN" sz="1000" b="0" dirty="0">
                          <a:effectLst/>
                        </a:rPr>
                        <a:t>DELHI</a:t>
                      </a:r>
                    </a:p>
                  </a:txBody>
                  <a:tcPr marL="76200" marR="76200" marT="106680" marB="106680" anchor="ctr"/>
                </a:tc>
                <a:tc>
                  <a:txBody>
                    <a:bodyPr/>
                    <a:lstStyle/>
                    <a:p>
                      <a:pPr algn="ctr" fontAlgn="base"/>
                      <a:r>
                        <a:rPr lang="en-IN" sz="1000" b="0" dirty="0">
                          <a:effectLst/>
                        </a:rPr>
                        <a:t>9156768971</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2064300995"/>
                  </a:ext>
                </a:extLst>
              </a:tr>
              <a:tr h="373380">
                <a:tc>
                  <a:txBody>
                    <a:bodyPr/>
                    <a:lstStyle/>
                    <a:p>
                      <a:pPr algn="ctr" fontAlgn="base"/>
                      <a:r>
                        <a:rPr lang="en-IN" sz="1000" b="0" dirty="0">
                          <a:effectLst/>
                        </a:rPr>
                        <a:t>4</a:t>
                      </a:r>
                    </a:p>
                  </a:txBody>
                  <a:tcPr marL="76200" marR="76200" marT="106680" marB="106680" anchor="ctr"/>
                </a:tc>
                <a:tc>
                  <a:txBody>
                    <a:bodyPr/>
                    <a:lstStyle/>
                    <a:p>
                      <a:pPr algn="ctr" fontAlgn="base"/>
                      <a:r>
                        <a:rPr lang="en-IN" sz="1000" b="0" dirty="0">
                          <a:effectLst/>
                        </a:rPr>
                        <a:t>SURESH</a:t>
                      </a:r>
                    </a:p>
                  </a:txBody>
                  <a:tcPr marL="76200" marR="76200" marT="106680" marB="106680" anchor="ctr"/>
                </a:tc>
                <a:tc>
                  <a:txBody>
                    <a:bodyPr/>
                    <a:lstStyle/>
                    <a:p>
                      <a:pPr algn="ctr" fontAlgn="base"/>
                      <a:r>
                        <a:rPr lang="en-IN" sz="1000" b="0" dirty="0">
                          <a:effectLst/>
                        </a:rPr>
                        <a:t>DELHI</a:t>
                      </a:r>
                    </a:p>
                  </a:txBody>
                  <a:tcPr marL="76200" marR="76200" marT="106680" marB="106680" anchor="ctr"/>
                </a:tc>
                <a:tc>
                  <a:txBody>
                    <a:bodyPr/>
                    <a:lstStyle/>
                    <a:p>
                      <a:pPr algn="ctr" fontAlgn="base"/>
                      <a:r>
                        <a:rPr lang="en-IN" sz="1000" b="0" dirty="0">
                          <a:effectLst/>
                        </a:rPr>
                        <a:t>9156768971</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1605842728"/>
                  </a:ext>
                </a:extLst>
              </a:tr>
              <a:tr h="373380">
                <a:tc>
                  <a:txBody>
                    <a:bodyPr/>
                    <a:lstStyle/>
                    <a:p>
                      <a:pPr algn="ctr" fontAlgn="base"/>
                      <a:r>
                        <a:rPr lang="en-IN" sz="1000" b="0" dirty="0">
                          <a:effectLst/>
                        </a:rPr>
                        <a:t>4</a:t>
                      </a:r>
                    </a:p>
                  </a:txBody>
                  <a:tcPr marL="76200" marR="76200" marT="106680" marB="106680" anchor="ctr"/>
                </a:tc>
                <a:tc>
                  <a:txBody>
                    <a:bodyPr/>
                    <a:lstStyle/>
                    <a:p>
                      <a:pPr algn="ctr" fontAlgn="base"/>
                      <a:r>
                        <a:rPr lang="en-IN" sz="1000" b="0" dirty="0">
                          <a:effectLst/>
                        </a:rPr>
                        <a:t>SURESH</a:t>
                      </a:r>
                    </a:p>
                  </a:txBody>
                  <a:tcPr marL="76200" marR="76200" marT="106680" marB="106680" anchor="ctr"/>
                </a:tc>
                <a:tc>
                  <a:txBody>
                    <a:bodyPr/>
                    <a:lstStyle/>
                    <a:p>
                      <a:pPr algn="ctr" fontAlgn="base"/>
                      <a:r>
                        <a:rPr lang="en-IN" sz="1000" b="0" dirty="0">
                          <a:effectLst/>
                        </a:rPr>
                        <a:t>DELHI</a:t>
                      </a:r>
                    </a:p>
                  </a:txBody>
                  <a:tcPr marL="76200" marR="76200" marT="106680" marB="106680" anchor="ctr"/>
                </a:tc>
                <a:tc>
                  <a:txBody>
                    <a:bodyPr/>
                    <a:lstStyle/>
                    <a:p>
                      <a:pPr algn="ctr" fontAlgn="base"/>
                      <a:r>
                        <a:rPr lang="en-IN" sz="1000" b="0" dirty="0">
                          <a:effectLst/>
                        </a:rPr>
                        <a:t>9156768971</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1306484772"/>
                  </a:ext>
                </a:extLst>
              </a:tr>
              <a:tr h="373380">
                <a:tc>
                  <a:txBody>
                    <a:bodyPr/>
                    <a:lstStyle/>
                    <a:p>
                      <a:pPr algn="ctr" fontAlgn="base"/>
                      <a:r>
                        <a:rPr lang="en-IN" sz="1000" b="0" dirty="0">
                          <a:effectLst/>
                        </a:rPr>
                        <a:t>4</a:t>
                      </a:r>
                    </a:p>
                  </a:txBody>
                  <a:tcPr marL="76200" marR="76200" marT="106680" marB="106680" anchor="ctr"/>
                </a:tc>
                <a:tc>
                  <a:txBody>
                    <a:bodyPr/>
                    <a:lstStyle/>
                    <a:p>
                      <a:pPr algn="ctr" fontAlgn="base"/>
                      <a:r>
                        <a:rPr lang="en-IN" sz="1000" b="0" dirty="0">
                          <a:effectLst/>
                        </a:rPr>
                        <a:t>SURESH</a:t>
                      </a:r>
                    </a:p>
                  </a:txBody>
                  <a:tcPr marL="76200" marR="76200" marT="106680" marB="106680" anchor="ctr"/>
                </a:tc>
                <a:tc>
                  <a:txBody>
                    <a:bodyPr/>
                    <a:lstStyle/>
                    <a:p>
                      <a:pPr algn="ctr" fontAlgn="base"/>
                      <a:r>
                        <a:rPr lang="en-IN" sz="1000" b="0" dirty="0">
                          <a:effectLst/>
                        </a:rPr>
                        <a:t>DELHI</a:t>
                      </a:r>
                    </a:p>
                  </a:txBody>
                  <a:tcPr marL="76200" marR="76200" marT="106680" marB="106680" anchor="ctr"/>
                </a:tc>
                <a:tc>
                  <a:txBody>
                    <a:bodyPr/>
                    <a:lstStyle/>
                    <a:p>
                      <a:pPr algn="ctr" fontAlgn="base"/>
                      <a:r>
                        <a:rPr lang="en-IN" sz="1000" b="0" dirty="0">
                          <a:effectLst/>
                        </a:rPr>
                        <a:t>9156768971</a:t>
                      </a:r>
                    </a:p>
                  </a:txBody>
                  <a:tcPr marL="76200" marR="76200" marT="106680" marB="106680" anchor="ctr"/>
                </a:tc>
                <a:tc>
                  <a:txBody>
                    <a:bodyPr/>
                    <a:lstStyle/>
                    <a:p>
                      <a:pPr algn="ctr" fontAlgn="base"/>
                      <a:r>
                        <a:rPr lang="en-IN" sz="1000" b="0" dirty="0">
                          <a:effectLst/>
                        </a:rPr>
                        <a:t>18</a:t>
                      </a:r>
                    </a:p>
                  </a:txBody>
                  <a:tcPr marL="76200" marR="76200" marT="106680" marB="106680" anchor="ctr"/>
                </a:tc>
                <a:extLst>
                  <a:ext uri="{0D108BD9-81ED-4DB2-BD59-A6C34878D82A}">
                    <a16:rowId xmlns:a16="http://schemas.microsoft.com/office/drawing/2014/main" val="2134845095"/>
                  </a:ext>
                </a:extLst>
              </a:tr>
            </a:tbl>
          </a:graphicData>
        </a:graphic>
      </p:graphicFrame>
      <p:sp>
        <p:nvSpPr>
          <p:cNvPr id="8" name="TextBox 7">
            <a:extLst>
              <a:ext uri="{FF2B5EF4-FFF2-40B4-BE49-F238E27FC236}">
                <a16:creationId xmlns:a16="http://schemas.microsoft.com/office/drawing/2014/main" id="{F799BF48-C5D0-CBD8-A927-D11F41208DE5}"/>
              </a:ext>
            </a:extLst>
          </p:cNvPr>
          <p:cNvSpPr txBox="1"/>
          <p:nvPr/>
        </p:nvSpPr>
        <p:spPr>
          <a:xfrm>
            <a:off x="4985568" y="0"/>
            <a:ext cx="2220864"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Cross Validation</a:t>
            </a:r>
          </a:p>
        </p:txBody>
      </p:sp>
    </p:spTree>
    <p:extLst>
      <p:ext uri="{BB962C8B-B14F-4D97-AF65-F5344CB8AC3E}">
        <p14:creationId xmlns:p14="http://schemas.microsoft.com/office/powerpoint/2010/main" val="4289073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FED79C80-A7BC-4503-9BF2-FC14F2A1FEA3}"/>
              </a:ext>
            </a:extLst>
          </p:cNvPr>
          <p:cNvGraphicFramePr>
            <a:graphicFrameLocks noGrp="1"/>
          </p:cNvGraphicFramePr>
          <p:nvPr>
            <p:ph idx="1"/>
            <p:extLst>
              <p:ext uri="{D42A27DB-BD31-4B8C-83A1-F6EECF244321}">
                <p14:modId xmlns:p14="http://schemas.microsoft.com/office/powerpoint/2010/main" val="2957806429"/>
              </p:ext>
            </p:extLst>
          </p:nvPr>
        </p:nvGraphicFramePr>
        <p:xfrm>
          <a:off x="1591319" y="2391263"/>
          <a:ext cx="9825360" cy="1615440"/>
        </p:xfrm>
        <a:graphic>
          <a:graphicData uri="http://schemas.openxmlformats.org/drawingml/2006/table">
            <a:tbl>
              <a:tblPr firstRow="1" bandRow="1">
                <a:tableStyleId>{5C22544A-7EE6-4342-B048-85BDC9FD1C3A}</a:tableStyleId>
              </a:tblPr>
              <a:tblGrid>
                <a:gridCol w="982536">
                  <a:extLst>
                    <a:ext uri="{9D8B030D-6E8A-4147-A177-3AD203B41FA5}">
                      <a16:colId xmlns:a16="http://schemas.microsoft.com/office/drawing/2014/main" val="1899382296"/>
                    </a:ext>
                  </a:extLst>
                </a:gridCol>
                <a:gridCol w="982536">
                  <a:extLst>
                    <a:ext uri="{9D8B030D-6E8A-4147-A177-3AD203B41FA5}">
                      <a16:colId xmlns:a16="http://schemas.microsoft.com/office/drawing/2014/main" val="372284885"/>
                    </a:ext>
                  </a:extLst>
                </a:gridCol>
                <a:gridCol w="982536">
                  <a:extLst>
                    <a:ext uri="{9D8B030D-6E8A-4147-A177-3AD203B41FA5}">
                      <a16:colId xmlns:a16="http://schemas.microsoft.com/office/drawing/2014/main" val="3018582865"/>
                    </a:ext>
                  </a:extLst>
                </a:gridCol>
                <a:gridCol w="982536">
                  <a:extLst>
                    <a:ext uri="{9D8B030D-6E8A-4147-A177-3AD203B41FA5}">
                      <a16:colId xmlns:a16="http://schemas.microsoft.com/office/drawing/2014/main" val="4019362854"/>
                    </a:ext>
                  </a:extLst>
                </a:gridCol>
                <a:gridCol w="982536">
                  <a:extLst>
                    <a:ext uri="{9D8B030D-6E8A-4147-A177-3AD203B41FA5}">
                      <a16:colId xmlns:a16="http://schemas.microsoft.com/office/drawing/2014/main" val="187367797"/>
                    </a:ext>
                  </a:extLst>
                </a:gridCol>
                <a:gridCol w="982536">
                  <a:extLst>
                    <a:ext uri="{9D8B030D-6E8A-4147-A177-3AD203B41FA5}">
                      <a16:colId xmlns:a16="http://schemas.microsoft.com/office/drawing/2014/main" val="314681401"/>
                    </a:ext>
                  </a:extLst>
                </a:gridCol>
                <a:gridCol w="982536">
                  <a:extLst>
                    <a:ext uri="{9D8B030D-6E8A-4147-A177-3AD203B41FA5}">
                      <a16:colId xmlns:a16="http://schemas.microsoft.com/office/drawing/2014/main" val="660854041"/>
                    </a:ext>
                  </a:extLst>
                </a:gridCol>
                <a:gridCol w="982536">
                  <a:extLst>
                    <a:ext uri="{9D8B030D-6E8A-4147-A177-3AD203B41FA5}">
                      <a16:colId xmlns:a16="http://schemas.microsoft.com/office/drawing/2014/main" val="4260366847"/>
                    </a:ext>
                  </a:extLst>
                </a:gridCol>
                <a:gridCol w="982536">
                  <a:extLst>
                    <a:ext uri="{9D8B030D-6E8A-4147-A177-3AD203B41FA5}">
                      <a16:colId xmlns:a16="http://schemas.microsoft.com/office/drawing/2014/main" val="1292742888"/>
                    </a:ext>
                  </a:extLst>
                </a:gridCol>
                <a:gridCol w="982536">
                  <a:extLst>
                    <a:ext uri="{9D8B030D-6E8A-4147-A177-3AD203B41FA5}">
                      <a16:colId xmlns:a16="http://schemas.microsoft.com/office/drawing/2014/main" val="224680036"/>
                    </a:ext>
                  </a:extLst>
                </a:gridCol>
              </a:tblGrid>
              <a:tr h="370840">
                <a:tc>
                  <a:txBody>
                    <a:bodyPr/>
                    <a:lstStyle/>
                    <a:p>
                      <a:pPr algn="ctr" fontAlgn="base"/>
                      <a:r>
                        <a:rPr lang="en-IN" sz="1250" b="1">
                          <a:effectLst/>
                        </a:rPr>
                        <a:t>ROLL_NO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tc>
                  <a:txBody>
                    <a:bodyPr/>
                    <a:lstStyle/>
                    <a:p>
                      <a:pPr algn="ctr" fontAlgn="base"/>
                      <a:r>
                        <a:rPr lang="en-IN" sz="1250" b="1">
                          <a:effectLst/>
                        </a:rPr>
                        <a:t>EMP_NO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1623483421"/>
                  </a:ext>
                </a:extLst>
              </a:tr>
              <a:tr h="370840">
                <a:tc>
                  <a:txBody>
                    <a:bodyPr/>
                    <a:lstStyle/>
                    <a:p>
                      <a:pPr algn="ctr" fontAlgn="base"/>
                      <a:r>
                        <a:rPr lang="en-IN" sz="1250" b="1">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376212810"/>
                  </a:ext>
                </a:extLst>
              </a:tr>
              <a:tr h="370840">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a:effectLst/>
                        </a:rPr>
                        <a:t>20</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1187369686"/>
                  </a:ext>
                </a:extLst>
              </a:tr>
              <a:tr h="370840">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645791675"/>
                  </a:ext>
                </a:extLst>
              </a:tr>
            </a:tbl>
          </a:graphicData>
        </a:graphic>
      </p:graphicFrame>
      <p:sp>
        <p:nvSpPr>
          <p:cNvPr id="4" name="Title 1">
            <a:extLst>
              <a:ext uri="{FF2B5EF4-FFF2-40B4-BE49-F238E27FC236}">
                <a16:creationId xmlns:a16="http://schemas.microsoft.com/office/drawing/2014/main" id="{BC492166-EEAA-4732-A405-FEECD31AB45E}"/>
              </a:ext>
            </a:extLst>
          </p:cNvPr>
          <p:cNvSpPr>
            <a:spLocks noGrp="1"/>
          </p:cNvSpPr>
          <p:nvPr>
            <p:ph type="title"/>
          </p:nvPr>
        </p:nvSpPr>
        <p:spPr>
          <a:xfrm>
            <a:off x="838200" y="18892"/>
            <a:ext cx="10515600" cy="922142"/>
          </a:xfrm>
        </p:spPr>
        <p:txBody>
          <a:bodyPr/>
          <a:lstStyle/>
          <a:p>
            <a:pPr algn="ctr"/>
            <a:r>
              <a:rPr lang="en-IN" b="1" dirty="0">
                <a:solidFill>
                  <a:schemeClr val="accent4">
                    <a:lumMod val="50000"/>
                  </a:schemeClr>
                </a:solidFill>
              </a:rPr>
              <a:t>Theta Join Operation</a:t>
            </a:r>
          </a:p>
        </p:txBody>
      </p:sp>
      <p:sp>
        <p:nvSpPr>
          <p:cNvPr id="7" name="TextBox 6">
            <a:extLst>
              <a:ext uri="{FF2B5EF4-FFF2-40B4-BE49-F238E27FC236}">
                <a16:creationId xmlns:a16="http://schemas.microsoft.com/office/drawing/2014/main" id="{4C8A572C-FA32-4027-A344-C6F6497B86FB}"/>
              </a:ext>
            </a:extLst>
          </p:cNvPr>
          <p:cNvSpPr txBox="1"/>
          <p:nvPr/>
        </p:nvSpPr>
        <p:spPr>
          <a:xfrm>
            <a:off x="2159493" y="1910466"/>
            <a:ext cx="1009835" cy="369332"/>
          </a:xfrm>
          <a:prstGeom prst="rect">
            <a:avLst/>
          </a:prstGeom>
          <a:noFill/>
        </p:spPr>
        <p:txBody>
          <a:bodyPr wrap="square">
            <a:spAutoFit/>
          </a:bodyPr>
          <a:lstStyle/>
          <a:p>
            <a:r>
              <a:rPr lang="en-IN" b="1" i="0" dirty="0">
                <a:solidFill>
                  <a:srgbClr val="273239"/>
                </a:solidFill>
                <a:effectLst/>
                <a:latin typeface="urw-din"/>
              </a:rPr>
              <a:t>RESULT:</a:t>
            </a:r>
            <a:endParaRPr lang="en-IN" dirty="0"/>
          </a:p>
        </p:txBody>
      </p:sp>
    </p:spTree>
    <p:extLst>
      <p:ext uri="{BB962C8B-B14F-4D97-AF65-F5344CB8AC3E}">
        <p14:creationId xmlns:p14="http://schemas.microsoft.com/office/powerpoint/2010/main" val="4245052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AA2B1-A5F6-4613-AFBF-93FFA18984A3}"/>
              </a:ext>
            </a:extLst>
          </p:cNvPr>
          <p:cNvSpPr>
            <a:spLocks noGrp="1"/>
          </p:cNvSpPr>
          <p:nvPr>
            <p:ph type="title"/>
          </p:nvPr>
        </p:nvSpPr>
        <p:spPr>
          <a:xfrm>
            <a:off x="838200" y="18894"/>
            <a:ext cx="10515600" cy="984283"/>
          </a:xfrm>
        </p:spPr>
        <p:txBody>
          <a:bodyPr/>
          <a:lstStyle/>
          <a:p>
            <a:pPr algn="ctr"/>
            <a:r>
              <a:rPr lang="en-IN" b="1" dirty="0">
                <a:solidFill>
                  <a:schemeClr val="accent4">
                    <a:lumMod val="50000"/>
                  </a:schemeClr>
                </a:solidFill>
              </a:rPr>
              <a:t>Equijoin</a:t>
            </a:r>
          </a:p>
        </p:txBody>
      </p:sp>
      <p:sp>
        <p:nvSpPr>
          <p:cNvPr id="3" name="Content Placeholder 2">
            <a:extLst>
              <a:ext uri="{FF2B5EF4-FFF2-40B4-BE49-F238E27FC236}">
                <a16:creationId xmlns:a16="http://schemas.microsoft.com/office/drawing/2014/main" id="{FF524801-40EC-42D3-899A-8CD8DB5E886A}"/>
              </a:ext>
            </a:extLst>
          </p:cNvPr>
          <p:cNvSpPr>
            <a:spLocks noGrp="1"/>
          </p:cNvSpPr>
          <p:nvPr>
            <p:ph idx="1"/>
          </p:nvPr>
        </p:nvSpPr>
        <p:spPr>
          <a:xfrm>
            <a:off x="1305016" y="914400"/>
            <a:ext cx="10750859" cy="5841507"/>
          </a:xfrm>
        </p:spPr>
        <p:txBody>
          <a:bodyPr/>
          <a:lstStyle/>
          <a:p>
            <a:pPr>
              <a:buFont typeface="Wingdings" panose="05000000000000000000" pitchFamily="2" charset="2"/>
              <a:buChar char="q"/>
            </a:pPr>
            <a:r>
              <a:rPr lang="en-IN" dirty="0"/>
              <a:t>Equijoin is a special case of conditional join or theta join where only equality condition holds between a pair of attributes. As values of two attributes will be equal in result of equijoin, only one attribute will be appeared in result.</a:t>
            </a:r>
          </a:p>
          <a:p>
            <a:pPr>
              <a:buFont typeface="Wingdings" panose="05000000000000000000" pitchFamily="2" charset="2"/>
              <a:buChar char="q"/>
            </a:pPr>
            <a:r>
              <a:rPr lang="en-IN" b="1" i="0" dirty="0">
                <a:solidFill>
                  <a:srgbClr val="273239"/>
                </a:solidFill>
                <a:effectLst/>
                <a:latin typeface="urw-din"/>
              </a:rPr>
              <a:t>Example:</a:t>
            </a:r>
            <a:r>
              <a:rPr lang="en-IN" b="0" i="0" dirty="0">
                <a:solidFill>
                  <a:srgbClr val="273239"/>
                </a:solidFill>
                <a:effectLst/>
                <a:latin typeface="urw-din"/>
              </a:rPr>
              <a:t> Select students whose ROLL_NO is equal to EMP_NO of employees</a:t>
            </a:r>
          </a:p>
          <a:p>
            <a:pPr marL="0" indent="0">
              <a:buNone/>
            </a:pPr>
            <a:endParaRPr lang="en-IN" dirty="0"/>
          </a:p>
          <a:p>
            <a:pPr>
              <a:buFont typeface="Wingdings" panose="05000000000000000000" pitchFamily="2" charset="2"/>
              <a:buChar char="q"/>
            </a:pPr>
            <a:r>
              <a:rPr lang="en-IN" b="0" i="0" dirty="0">
                <a:solidFill>
                  <a:srgbClr val="273239"/>
                </a:solidFill>
                <a:effectLst/>
                <a:latin typeface="urw-din"/>
              </a:rPr>
              <a:t>In terms of basic operators (cross product, selection and projection) :</a:t>
            </a:r>
            <a:endParaRPr lang="en-IN" dirty="0"/>
          </a:p>
        </p:txBody>
      </p:sp>
      <p:sp>
        <p:nvSpPr>
          <p:cNvPr id="4" name="Rectangle 1">
            <a:extLst>
              <a:ext uri="{FF2B5EF4-FFF2-40B4-BE49-F238E27FC236}">
                <a16:creationId xmlns:a16="http://schemas.microsoft.com/office/drawing/2014/main" id="{F37740E0-56E2-42BE-82BA-FA6AE46A7AF7}"/>
              </a:ext>
            </a:extLst>
          </p:cNvPr>
          <p:cNvSpPr>
            <a:spLocks noChangeArrowheads="1"/>
          </p:cNvSpPr>
          <p:nvPr/>
        </p:nvSpPr>
        <p:spPr bwMode="auto">
          <a:xfrm>
            <a:off x="2999171" y="3405446"/>
            <a:ext cx="67307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73239"/>
                </a:solidFill>
                <a:effectLst/>
                <a:latin typeface="Consolas" panose="020B0609020204030204" pitchFamily="49" charset="0"/>
              </a:rPr>
              <a:t>STUDENT⋈</a:t>
            </a:r>
            <a:r>
              <a:rPr kumimoji="0" lang="en-US" altLang="en-US" sz="2400" b="1" i="0" u="none" strike="noStrike" cap="none" normalizeH="0" baseline="-30000" dirty="0">
                <a:ln>
                  <a:noFill/>
                </a:ln>
                <a:solidFill>
                  <a:srgbClr val="273239"/>
                </a:solidFill>
                <a:effectLst/>
                <a:latin typeface="Consolas" panose="020B0609020204030204" pitchFamily="49" charset="0"/>
              </a:rPr>
              <a:t>STUDENT.ROLL_NO=EMPLOYEE.EMP_NO</a:t>
            </a:r>
            <a:r>
              <a:rPr kumimoji="0" lang="en-US" altLang="en-US" sz="2400" b="1" i="0" u="none" strike="noStrike" cap="none" normalizeH="0" baseline="0" dirty="0">
                <a:ln>
                  <a:noFill/>
                </a:ln>
                <a:solidFill>
                  <a:srgbClr val="273239"/>
                </a:solidFill>
                <a:effectLst/>
                <a:latin typeface="Consolas" panose="020B0609020204030204" pitchFamily="49" charset="0"/>
              </a:rPr>
              <a:t>EMPLOYEE</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260C0AF3-055C-4FB5-8A56-263CE985F7B5}"/>
              </a:ext>
            </a:extLst>
          </p:cNvPr>
          <p:cNvSpPr>
            <a:spLocks noChangeArrowheads="1"/>
          </p:cNvSpPr>
          <p:nvPr/>
        </p:nvSpPr>
        <p:spPr bwMode="auto">
          <a:xfrm>
            <a:off x="1305016" y="4708239"/>
            <a:ext cx="10750859"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73239"/>
                </a:solidFill>
                <a:effectLst/>
                <a:latin typeface="Consolas" panose="020B0609020204030204" pitchFamily="49" charset="0"/>
              </a:rPr>
              <a:t>∏</a:t>
            </a:r>
            <a:r>
              <a:rPr kumimoji="0" lang="en-US" altLang="en-US" sz="2400" b="1" i="0" u="none" strike="noStrike" cap="none" normalizeH="0" baseline="-30000" dirty="0">
                <a:ln>
                  <a:noFill/>
                </a:ln>
                <a:solidFill>
                  <a:srgbClr val="273239"/>
                </a:solidFill>
                <a:effectLst/>
                <a:latin typeface="Consolas" panose="020B0609020204030204" pitchFamily="49" charset="0"/>
              </a:rPr>
              <a:t>(STUDENT.ROLL_NO, STUDENT.NAME, STUDENT.ADDRESS, STUDENT.PHONE, STUDENT.AGE EMPLOYEE.NAME, EMPLOYEE.ADDRESS, EMPLOYEE.PHONE, EMPLOYEE.AGE)</a:t>
            </a:r>
            <a:r>
              <a:rPr kumimoji="0" lang="en-US" altLang="en-US" sz="2400" b="1" i="0" u="none" strike="noStrike" cap="none" normalizeH="0" baseline="0" dirty="0">
                <a:ln>
                  <a:noFill/>
                </a:ln>
                <a:solidFill>
                  <a:srgbClr val="273239"/>
                </a:solidFill>
                <a:effectLst/>
                <a:latin typeface="Consolas" panose="020B0609020204030204" pitchFamily="49" charset="0"/>
              </a:rPr>
              <a:t>(σ</a:t>
            </a:r>
            <a:r>
              <a:rPr kumimoji="0" lang="en-US" altLang="en-US" sz="2400" b="1" i="0" u="none" strike="noStrike" cap="none" normalizeH="0" baseline="-30000" dirty="0">
                <a:ln>
                  <a:noFill/>
                </a:ln>
                <a:solidFill>
                  <a:srgbClr val="273239"/>
                </a:solidFill>
                <a:effectLst/>
                <a:latin typeface="Consolas" panose="020B0609020204030204" pitchFamily="49" charset="0"/>
              </a:rPr>
              <a:t> (STUDENT.ROLL_NO=EMPLOYEE.EMP_NO) </a:t>
            </a:r>
            <a:r>
              <a:rPr kumimoji="0" lang="en-US" altLang="en-US" sz="2400" b="1" i="0" u="none" strike="noStrike" cap="none" normalizeH="0" baseline="0" dirty="0">
                <a:ln>
                  <a:noFill/>
                </a:ln>
                <a:solidFill>
                  <a:srgbClr val="273239"/>
                </a:solidFill>
                <a:effectLst/>
                <a:latin typeface="Consolas" panose="020B0609020204030204" pitchFamily="49" charset="0"/>
              </a:rPr>
              <a:t>(STUDENT×EMPLOYEE))</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88005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7">
            <a:extLst>
              <a:ext uri="{FF2B5EF4-FFF2-40B4-BE49-F238E27FC236}">
                <a16:creationId xmlns:a16="http://schemas.microsoft.com/office/drawing/2014/main" id="{A75452A8-C704-4701-B76D-963BC1FC6240}"/>
              </a:ext>
            </a:extLst>
          </p:cNvPr>
          <p:cNvGraphicFramePr>
            <a:graphicFrameLocks noGrp="1"/>
          </p:cNvGraphicFramePr>
          <p:nvPr>
            <p:ph idx="1"/>
            <p:extLst>
              <p:ext uri="{D42A27DB-BD31-4B8C-83A1-F6EECF244321}">
                <p14:modId xmlns:p14="http://schemas.microsoft.com/office/powerpoint/2010/main" val="2551507122"/>
              </p:ext>
            </p:extLst>
          </p:nvPr>
        </p:nvGraphicFramePr>
        <p:xfrm>
          <a:off x="2024109" y="1594805"/>
          <a:ext cx="8841420" cy="1211580"/>
        </p:xfrm>
        <a:graphic>
          <a:graphicData uri="http://schemas.openxmlformats.org/drawingml/2006/table">
            <a:tbl>
              <a:tblPr firstRow="1" bandRow="1">
                <a:tableStyleId>{5C22544A-7EE6-4342-B048-85BDC9FD1C3A}</a:tableStyleId>
              </a:tblPr>
              <a:tblGrid>
                <a:gridCol w="982380">
                  <a:extLst>
                    <a:ext uri="{9D8B030D-6E8A-4147-A177-3AD203B41FA5}">
                      <a16:colId xmlns:a16="http://schemas.microsoft.com/office/drawing/2014/main" val="3181798779"/>
                    </a:ext>
                  </a:extLst>
                </a:gridCol>
                <a:gridCol w="982380">
                  <a:extLst>
                    <a:ext uri="{9D8B030D-6E8A-4147-A177-3AD203B41FA5}">
                      <a16:colId xmlns:a16="http://schemas.microsoft.com/office/drawing/2014/main" val="1927414001"/>
                    </a:ext>
                  </a:extLst>
                </a:gridCol>
                <a:gridCol w="982380">
                  <a:extLst>
                    <a:ext uri="{9D8B030D-6E8A-4147-A177-3AD203B41FA5}">
                      <a16:colId xmlns:a16="http://schemas.microsoft.com/office/drawing/2014/main" val="3418943202"/>
                    </a:ext>
                  </a:extLst>
                </a:gridCol>
                <a:gridCol w="982380">
                  <a:extLst>
                    <a:ext uri="{9D8B030D-6E8A-4147-A177-3AD203B41FA5}">
                      <a16:colId xmlns:a16="http://schemas.microsoft.com/office/drawing/2014/main" val="2188178558"/>
                    </a:ext>
                  </a:extLst>
                </a:gridCol>
                <a:gridCol w="982380">
                  <a:extLst>
                    <a:ext uri="{9D8B030D-6E8A-4147-A177-3AD203B41FA5}">
                      <a16:colId xmlns:a16="http://schemas.microsoft.com/office/drawing/2014/main" val="3408215657"/>
                    </a:ext>
                  </a:extLst>
                </a:gridCol>
                <a:gridCol w="982380">
                  <a:extLst>
                    <a:ext uri="{9D8B030D-6E8A-4147-A177-3AD203B41FA5}">
                      <a16:colId xmlns:a16="http://schemas.microsoft.com/office/drawing/2014/main" val="3021197395"/>
                    </a:ext>
                  </a:extLst>
                </a:gridCol>
                <a:gridCol w="982380">
                  <a:extLst>
                    <a:ext uri="{9D8B030D-6E8A-4147-A177-3AD203B41FA5}">
                      <a16:colId xmlns:a16="http://schemas.microsoft.com/office/drawing/2014/main" val="85223849"/>
                    </a:ext>
                  </a:extLst>
                </a:gridCol>
                <a:gridCol w="982380">
                  <a:extLst>
                    <a:ext uri="{9D8B030D-6E8A-4147-A177-3AD203B41FA5}">
                      <a16:colId xmlns:a16="http://schemas.microsoft.com/office/drawing/2014/main" val="373845938"/>
                    </a:ext>
                  </a:extLst>
                </a:gridCol>
                <a:gridCol w="982380">
                  <a:extLst>
                    <a:ext uri="{9D8B030D-6E8A-4147-A177-3AD203B41FA5}">
                      <a16:colId xmlns:a16="http://schemas.microsoft.com/office/drawing/2014/main" val="3767953404"/>
                    </a:ext>
                  </a:extLst>
                </a:gridCol>
              </a:tblGrid>
              <a:tr h="370840">
                <a:tc>
                  <a:txBody>
                    <a:bodyPr/>
                    <a:lstStyle/>
                    <a:p>
                      <a:pPr algn="ctr" fontAlgn="base"/>
                      <a:r>
                        <a:rPr lang="en-IN" sz="1250" b="1" dirty="0">
                          <a:effectLst/>
                        </a:rPr>
                        <a:t>ROLL_NO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1888945958"/>
                  </a:ext>
                </a:extLst>
              </a:tr>
              <a:tr h="370840">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643019524"/>
                  </a:ext>
                </a:extLst>
              </a:tr>
              <a:tr h="370840">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4055945883"/>
                  </a:ext>
                </a:extLst>
              </a:tr>
            </a:tbl>
          </a:graphicData>
        </a:graphic>
      </p:graphicFrame>
      <p:sp>
        <p:nvSpPr>
          <p:cNvPr id="4" name="Title 1">
            <a:extLst>
              <a:ext uri="{FF2B5EF4-FFF2-40B4-BE49-F238E27FC236}">
                <a16:creationId xmlns:a16="http://schemas.microsoft.com/office/drawing/2014/main" id="{788D280D-91EC-494A-B5CB-2832D25199C8}"/>
              </a:ext>
            </a:extLst>
          </p:cNvPr>
          <p:cNvSpPr>
            <a:spLocks noGrp="1"/>
          </p:cNvSpPr>
          <p:nvPr>
            <p:ph type="title"/>
          </p:nvPr>
        </p:nvSpPr>
        <p:spPr>
          <a:xfrm>
            <a:off x="838200" y="18894"/>
            <a:ext cx="10515600" cy="984283"/>
          </a:xfrm>
        </p:spPr>
        <p:txBody>
          <a:bodyPr/>
          <a:lstStyle/>
          <a:p>
            <a:pPr algn="ctr"/>
            <a:r>
              <a:rPr lang="en-IN" b="1" dirty="0">
                <a:solidFill>
                  <a:schemeClr val="accent4">
                    <a:lumMod val="50000"/>
                  </a:schemeClr>
                </a:solidFill>
              </a:rPr>
              <a:t>Equijoin</a:t>
            </a:r>
          </a:p>
        </p:txBody>
      </p:sp>
      <p:sp>
        <p:nvSpPr>
          <p:cNvPr id="6" name="TextBox 5">
            <a:extLst>
              <a:ext uri="{FF2B5EF4-FFF2-40B4-BE49-F238E27FC236}">
                <a16:creationId xmlns:a16="http://schemas.microsoft.com/office/drawing/2014/main" id="{ECCE3F8C-594C-42C4-8C43-A136FCF8076A}"/>
              </a:ext>
            </a:extLst>
          </p:cNvPr>
          <p:cNvSpPr txBox="1"/>
          <p:nvPr/>
        </p:nvSpPr>
        <p:spPr>
          <a:xfrm>
            <a:off x="2266025" y="1154097"/>
            <a:ext cx="1348032" cy="369332"/>
          </a:xfrm>
          <a:prstGeom prst="rect">
            <a:avLst/>
          </a:prstGeom>
          <a:noFill/>
        </p:spPr>
        <p:txBody>
          <a:bodyPr wrap="square">
            <a:spAutoFit/>
          </a:bodyPr>
          <a:lstStyle/>
          <a:p>
            <a:r>
              <a:rPr lang="en-IN" b="1" i="0" dirty="0">
                <a:solidFill>
                  <a:srgbClr val="273239"/>
                </a:solidFill>
                <a:effectLst/>
                <a:latin typeface="urw-din"/>
              </a:rPr>
              <a:t>RESULT:</a:t>
            </a:r>
            <a:endParaRPr lang="en-IN" b="1" dirty="0"/>
          </a:p>
        </p:txBody>
      </p:sp>
    </p:spTree>
    <p:extLst>
      <p:ext uri="{BB962C8B-B14F-4D97-AF65-F5344CB8AC3E}">
        <p14:creationId xmlns:p14="http://schemas.microsoft.com/office/powerpoint/2010/main" val="451853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69F43-2B57-4062-86D9-0C464B6BB9AD}"/>
              </a:ext>
            </a:extLst>
          </p:cNvPr>
          <p:cNvSpPr>
            <a:spLocks noGrp="1"/>
          </p:cNvSpPr>
          <p:nvPr>
            <p:ph type="title"/>
          </p:nvPr>
        </p:nvSpPr>
        <p:spPr>
          <a:xfrm>
            <a:off x="838200" y="10015"/>
            <a:ext cx="10515600" cy="859998"/>
          </a:xfrm>
        </p:spPr>
        <p:txBody>
          <a:bodyPr/>
          <a:lstStyle/>
          <a:p>
            <a:pPr algn="ctr"/>
            <a:r>
              <a:rPr lang="en-IN" b="1" dirty="0">
                <a:solidFill>
                  <a:schemeClr val="accent4">
                    <a:lumMod val="50000"/>
                  </a:schemeClr>
                </a:solidFill>
              </a:rPr>
              <a:t>Natural Join</a:t>
            </a:r>
          </a:p>
        </p:txBody>
      </p:sp>
      <p:sp>
        <p:nvSpPr>
          <p:cNvPr id="3" name="Content Placeholder 2">
            <a:extLst>
              <a:ext uri="{FF2B5EF4-FFF2-40B4-BE49-F238E27FC236}">
                <a16:creationId xmlns:a16="http://schemas.microsoft.com/office/drawing/2014/main" id="{51C493AF-A5A6-40A9-B884-4EBCD91D63CD}"/>
              </a:ext>
            </a:extLst>
          </p:cNvPr>
          <p:cNvSpPr>
            <a:spLocks noGrp="1"/>
          </p:cNvSpPr>
          <p:nvPr>
            <p:ph idx="1"/>
          </p:nvPr>
        </p:nvSpPr>
        <p:spPr>
          <a:xfrm>
            <a:off x="1100831" y="798990"/>
            <a:ext cx="10972799" cy="5965794"/>
          </a:xfrm>
        </p:spPr>
        <p:txBody>
          <a:bodyPr>
            <a:normAutofit/>
          </a:bodyPr>
          <a:lstStyle/>
          <a:p>
            <a:pPr algn="just">
              <a:buFont typeface="Wingdings" panose="05000000000000000000" pitchFamily="2" charset="2"/>
              <a:buChar char="q"/>
            </a:pPr>
            <a:r>
              <a:rPr lang="en-IN" dirty="0"/>
              <a:t>It is a special case of equijoin in which equality condition hold on all attributes which have same name in relations R and S (relations on which join operation is applied).</a:t>
            </a:r>
          </a:p>
          <a:p>
            <a:pPr algn="just">
              <a:buFont typeface="Wingdings" panose="05000000000000000000" pitchFamily="2" charset="2"/>
              <a:buChar char="q"/>
            </a:pPr>
            <a:r>
              <a:rPr lang="en-IN" b="0" i="0" dirty="0">
                <a:solidFill>
                  <a:srgbClr val="273239"/>
                </a:solidFill>
                <a:effectLst/>
                <a:latin typeface="urw-din"/>
              </a:rPr>
              <a:t>While applying natural join on two relations, there is no need to write equality condition explicitly. </a:t>
            </a:r>
          </a:p>
          <a:p>
            <a:pPr algn="just">
              <a:buFont typeface="Wingdings" panose="05000000000000000000" pitchFamily="2" charset="2"/>
              <a:buChar char="q"/>
            </a:pPr>
            <a:r>
              <a:rPr lang="en-IN" b="0" i="0" dirty="0">
                <a:solidFill>
                  <a:srgbClr val="273239"/>
                </a:solidFill>
                <a:effectLst/>
                <a:latin typeface="urw-din"/>
              </a:rPr>
              <a:t>Natural Join will also return the similar attributes only once as their value will be same in resulting relation.</a:t>
            </a:r>
          </a:p>
          <a:p>
            <a:pPr algn="just">
              <a:buFont typeface="Wingdings" panose="05000000000000000000" pitchFamily="2" charset="2"/>
              <a:buChar char="q"/>
            </a:pPr>
            <a:r>
              <a:rPr lang="en-IN" dirty="0"/>
              <a:t>Natural join does not use any comparison operator except =. </a:t>
            </a:r>
          </a:p>
          <a:p>
            <a:pPr algn="just">
              <a:buFont typeface="Wingdings" panose="05000000000000000000" pitchFamily="2" charset="2"/>
              <a:buChar char="q"/>
            </a:pPr>
            <a:r>
              <a:rPr lang="en-IN" dirty="0"/>
              <a:t>We can perform a Natural Join only if there is at least one common attribute that exists between two relations. Common attributes must have the same name and domain.</a:t>
            </a:r>
          </a:p>
          <a:p>
            <a:pPr algn="just">
              <a:buFont typeface="Wingdings" panose="05000000000000000000" pitchFamily="2" charset="2"/>
              <a:buChar char="q"/>
            </a:pPr>
            <a:r>
              <a:rPr lang="en-IN" dirty="0"/>
              <a:t>For NATURAL JOIN operation between two tables R and S, only tuples from R that have matching tuples in S, and vice versa, appear in result.</a:t>
            </a:r>
          </a:p>
        </p:txBody>
      </p:sp>
    </p:spTree>
    <p:extLst>
      <p:ext uri="{BB962C8B-B14F-4D97-AF65-F5344CB8AC3E}">
        <p14:creationId xmlns:p14="http://schemas.microsoft.com/office/powerpoint/2010/main" val="87324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377A95-5A36-460D-B1D2-4B78792EA728}"/>
              </a:ext>
            </a:extLst>
          </p:cNvPr>
          <p:cNvSpPr>
            <a:spLocks noGrp="1"/>
          </p:cNvSpPr>
          <p:nvPr>
            <p:ph idx="1"/>
          </p:nvPr>
        </p:nvSpPr>
        <p:spPr>
          <a:xfrm>
            <a:off x="1091952" y="772357"/>
            <a:ext cx="10963923" cy="5965794"/>
          </a:xfrm>
        </p:spPr>
        <p:txBody>
          <a:bodyPr/>
          <a:lstStyle/>
          <a:p>
            <a:pPr>
              <a:buFont typeface="Wingdings" panose="05000000000000000000" pitchFamily="2" charset="2"/>
              <a:buChar char="q"/>
            </a:pPr>
            <a:r>
              <a:rPr lang="en-IN" b="1" dirty="0"/>
              <a:t>Example</a:t>
            </a:r>
          </a:p>
        </p:txBody>
      </p:sp>
      <p:sp>
        <p:nvSpPr>
          <p:cNvPr id="4" name="Title 1">
            <a:extLst>
              <a:ext uri="{FF2B5EF4-FFF2-40B4-BE49-F238E27FC236}">
                <a16:creationId xmlns:a16="http://schemas.microsoft.com/office/drawing/2014/main" id="{56505E03-50B8-46F5-AF56-1F602FECEFA0}"/>
              </a:ext>
            </a:extLst>
          </p:cNvPr>
          <p:cNvSpPr>
            <a:spLocks noGrp="1"/>
          </p:cNvSpPr>
          <p:nvPr>
            <p:ph type="title"/>
          </p:nvPr>
        </p:nvSpPr>
        <p:spPr>
          <a:xfrm>
            <a:off x="838200" y="10015"/>
            <a:ext cx="10515600" cy="859998"/>
          </a:xfrm>
        </p:spPr>
        <p:txBody>
          <a:bodyPr/>
          <a:lstStyle/>
          <a:p>
            <a:pPr algn="ctr"/>
            <a:r>
              <a:rPr lang="en-IN" b="1" dirty="0">
                <a:solidFill>
                  <a:schemeClr val="accent4">
                    <a:lumMod val="50000"/>
                  </a:schemeClr>
                </a:solidFill>
              </a:rPr>
              <a:t>Natural Join</a:t>
            </a:r>
          </a:p>
        </p:txBody>
      </p:sp>
      <p:graphicFrame>
        <p:nvGraphicFramePr>
          <p:cNvPr id="5" name="Table 5">
            <a:extLst>
              <a:ext uri="{FF2B5EF4-FFF2-40B4-BE49-F238E27FC236}">
                <a16:creationId xmlns:a16="http://schemas.microsoft.com/office/drawing/2014/main" id="{027F6A8F-24F2-41E3-A4C0-30168AC46C08}"/>
              </a:ext>
            </a:extLst>
          </p:cNvPr>
          <p:cNvGraphicFramePr>
            <a:graphicFrameLocks/>
          </p:cNvGraphicFramePr>
          <p:nvPr>
            <p:extLst>
              <p:ext uri="{D42A27DB-BD31-4B8C-83A1-F6EECF244321}">
                <p14:modId xmlns:p14="http://schemas.microsoft.com/office/powerpoint/2010/main" val="2483511027"/>
              </p:ext>
            </p:extLst>
          </p:nvPr>
        </p:nvGraphicFramePr>
        <p:xfrm>
          <a:off x="1193307" y="1523781"/>
          <a:ext cx="4816875" cy="2346885"/>
        </p:xfrm>
        <a:graphic>
          <a:graphicData uri="http://schemas.openxmlformats.org/drawingml/2006/table">
            <a:tbl>
              <a:tblPr firstRow="1" bandRow="1">
                <a:tableStyleId>{5C22544A-7EE6-4342-B048-85BDC9FD1C3A}</a:tableStyleId>
              </a:tblPr>
              <a:tblGrid>
                <a:gridCol w="963375">
                  <a:extLst>
                    <a:ext uri="{9D8B030D-6E8A-4147-A177-3AD203B41FA5}">
                      <a16:colId xmlns:a16="http://schemas.microsoft.com/office/drawing/2014/main" val="658835208"/>
                    </a:ext>
                  </a:extLst>
                </a:gridCol>
                <a:gridCol w="963375">
                  <a:extLst>
                    <a:ext uri="{9D8B030D-6E8A-4147-A177-3AD203B41FA5}">
                      <a16:colId xmlns:a16="http://schemas.microsoft.com/office/drawing/2014/main" val="1320520670"/>
                    </a:ext>
                  </a:extLst>
                </a:gridCol>
                <a:gridCol w="963375">
                  <a:extLst>
                    <a:ext uri="{9D8B030D-6E8A-4147-A177-3AD203B41FA5}">
                      <a16:colId xmlns:a16="http://schemas.microsoft.com/office/drawing/2014/main" val="84726451"/>
                    </a:ext>
                  </a:extLst>
                </a:gridCol>
                <a:gridCol w="963375">
                  <a:extLst>
                    <a:ext uri="{9D8B030D-6E8A-4147-A177-3AD203B41FA5}">
                      <a16:colId xmlns:a16="http://schemas.microsoft.com/office/drawing/2014/main" val="384909602"/>
                    </a:ext>
                  </a:extLst>
                </a:gridCol>
                <a:gridCol w="963375">
                  <a:extLst>
                    <a:ext uri="{9D8B030D-6E8A-4147-A177-3AD203B41FA5}">
                      <a16:colId xmlns:a16="http://schemas.microsoft.com/office/drawing/2014/main" val="449513181"/>
                    </a:ext>
                  </a:extLst>
                </a:gridCol>
              </a:tblGrid>
              <a:tr h="469377">
                <a:tc>
                  <a:txBody>
                    <a:bodyPr/>
                    <a:lstStyle/>
                    <a:p>
                      <a:pPr algn="ctr" fontAlgn="base"/>
                      <a:r>
                        <a:rPr lang="en-IN" sz="1250" b="1" dirty="0">
                          <a:effectLst/>
                        </a:rPr>
                        <a:t>ROLL_NO</a:t>
                      </a:r>
                    </a:p>
                  </a:txBody>
                  <a:tcPr marL="76200" marR="76200" marT="106680" marB="106680" anchor="ctr"/>
                </a:tc>
                <a:tc>
                  <a:txBody>
                    <a:bodyPr/>
                    <a:lstStyle/>
                    <a:p>
                      <a:pPr algn="ctr" fontAlgn="base"/>
                      <a:r>
                        <a:rPr lang="en-IN" sz="1250" b="1" dirty="0">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2159006544"/>
                  </a:ext>
                </a:extLst>
              </a:tr>
              <a:tr h="469377">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1704089302"/>
                  </a:ext>
                </a:extLst>
              </a:tr>
              <a:tr h="469377">
                <a:tc>
                  <a:txBody>
                    <a:bodyPr/>
                    <a:lstStyle/>
                    <a:p>
                      <a:pPr algn="ctr" fontAlgn="base"/>
                      <a:r>
                        <a:rPr lang="en-IN" sz="1250" b="1" dirty="0">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3628182359"/>
                  </a:ext>
                </a:extLst>
              </a:tr>
              <a:tr h="469377">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dirty="0">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a:effectLst/>
                        </a:rPr>
                        <a:t>20</a:t>
                      </a:r>
                    </a:p>
                  </a:txBody>
                  <a:tcPr marL="76200" marR="76200" marT="106680" marB="106680" anchor="ctr"/>
                </a:tc>
                <a:extLst>
                  <a:ext uri="{0D108BD9-81ED-4DB2-BD59-A6C34878D82A}">
                    <a16:rowId xmlns:a16="http://schemas.microsoft.com/office/drawing/2014/main" val="1407954671"/>
                  </a:ext>
                </a:extLst>
              </a:tr>
              <a:tr h="469377">
                <a:tc>
                  <a:txBody>
                    <a:bodyPr/>
                    <a:lstStyle/>
                    <a:p>
                      <a:pPr algn="ctr" fontAlgn="base"/>
                      <a:r>
                        <a:rPr lang="en-IN" sz="1250" b="1" dirty="0">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3151996180"/>
                  </a:ext>
                </a:extLst>
              </a:tr>
            </a:tbl>
          </a:graphicData>
        </a:graphic>
      </p:graphicFrame>
      <p:sp>
        <p:nvSpPr>
          <p:cNvPr id="6" name="TextBox 5">
            <a:extLst>
              <a:ext uri="{FF2B5EF4-FFF2-40B4-BE49-F238E27FC236}">
                <a16:creationId xmlns:a16="http://schemas.microsoft.com/office/drawing/2014/main" id="{9A39C836-EE30-409A-B4D4-6CFA0E1C3726}"/>
              </a:ext>
            </a:extLst>
          </p:cNvPr>
          <p:cNvSpPr txBox="1"/>
          <p:nvPr/>
        </p:nvSpPr>
        <p:spPr>
          <a:xfrm>
            <a:off x="3109401" y="1153366"/>
            <a:ext cx="1071979" cy="369332"/>
          </a:xfrm>
          <a:prstGeom prst="rect">
            <a:avLst/>
          </a:prstGeom>
          <a:noFill/>
        </p:spPr>
        <p:txBody>
          <a:bodyPr wrap="square">
            <a:spAutoFit/>
          </a:bodyPr>
          <a:lstStyle/>
          <a:p>
            <a:r>
              <a:rPr lang="en-IN" b="1" i="0" dirty="0">
                <a:solidFill>
                  <a:srgbClr val="273239"/>
                </a:solidFill>
                <a:effectLst/>
                <a:latin typeface="urw-din"/>
              </a:rPr>
              <a:t>STUDENT</a:t>
            </a:r>
            <a:endParaRPr lang="en-IN" dirty="0"/>
          </a:p>
        </p:txBody>
      </p:sp>
      <p:graphicFrame>
        <p:nvGraphicFramePr>
          <p:cNvPr id="7" name="Table 7">
            <a:extLst>
              <a:ext uri="{FF2B5EF4-FFF2-40B4-BE49-F238E27FC236}">
                <a16:creationId xmlns:a16="http://schemas.microsoft.com/office/drawing/2014/main" id="{5D802296-40C2-4984-ADE7-C1A118C76B96}"/>
              </a:ext>
            </a:extLst>
          </p:cNvPr>
          <p:cNvGraphicFramePr>
            <a:graphicFrameLocks noGrp="1"/>
          </p:cNvGraphicFramePr>
          <p:nvPr>
            <p:extLst>
              <p:ext uri="{D42A27DB-BD31-4B8C-83A1-F6EECF244321}">
                <p14:modId xmlns:p14="http://schemas.microsoft.com/office/powerpoint/2010/main" val="3925618154"/>
              </p:ext>
            </p:extLst>
          </p:nvPr>
        </p:nvGraphicFramePr>
        <p:xfrm>
          <a:off x="7432582" y="1522698"/>
          <a:ext cx="2652452" cy="2019300"/>
        </p:xfrm>
        <a:graphic>
          <a:graphicData uri="http://schemas.openxmlformats.org/drawingml/2006/table">
            <a:tbl>
              <a:tblPr firstRow="1" bandRow="1">
                <a:tableStyleId>{5C22544A-7EE6-4342-B048-85BDC9FD1C3A}</a:tableStyleId>
              </a:tblPr>
              <a:tblGrid>
                <a:gridCol w="1326226">
                  <a:extLst>
                    <a:ext uri="{9D8B030D-6E8A-4147-A177-3AD203B41FA5}">
                      <a16:colId xmlns:a16="http://schemas.microsoft.com/office/drawing/2014/main" val="1371951915"/>
                    </a:ext>
                  </a:extLst>
                </a:gridCol>
                <a:gridCol w="1326226">
                  <a:extLst>
                    <a:ext uri="{9D8B030D-6E8A-4147-A177-3AD203B41FA5}">
                      <a16:colId xmlns:a16="http://schemas.microsoft.com/office/drawing/2014/main" val="4178044156"/>
                    </a:ext>
                  </a:extLst>
                </a:gridCol>
              </a:tblGrid>
              <a:tr h="351441">
                <a:tc>
                  <a:txBody>
                    <a:bodyPr/>
                    <a:lstStyle/>
                    <a:p>
                      <a:pPr algn="ctr" fontAlgn="base"/>
                      <a:r>
                        <a:rPr lang="en-IN" sz="1250" b="1">
                          <a:effectLst/>
                        </a:rPr>
                        <a:t>ROLL_NO</a:t>
                      </a:r>
                    </a:p>
                  </a:txBody>
                  <a:tcPr marL="76200" marR="76200" marT="106680" marB="106680" anchor="ctr"/>
                </a:tc>
                <a:tc>
                  <a:txBody>
                    <a:bodyPr/>
                    <a:lstStyle/>
                    <a:p>
                      <a:pPr algn="ctr" fontAlgn="base"/>
                      <a:r>
                        <a:rPr lang="en-IN" sz="1250" b="1">
                          <a:effectLst/>
                        </a:rPr>
                        <a:t>SPORTS</a:t>
                      </a:r>
                    </a:p>
                  </a:txBody>
                  <a:tcPr marL="76200" marR="76200" marT="106680" marB="106680" anchor="ctr"/>
                </a:tc>
                <a:extLst>
                  <a:ext uri="{0D108BD9-81ED-4DB2-BD59-A6C34878D82A}">
                    <a16:rowId xmlns:a16="http://schemas.microsoft.com/office/drawing/2014/main" val="240727479"/>
                  </a:ext>
                </a:extLst>
              </a:tr>
              <a:tr h="351441">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Badminton</a:t>
                      </a:r>
                    </a:p>
                  </a:txBody>
                  <a:tcPr marL="76200" marR="76200" marT="106680" marB="106680" anchor="ctr"/>
                </a:tc>
                <a:extLst>
                  <a:ext uri="{0D108BD9-81ED-4DB2-BD59-A6C34878D82A}">
                    <a16:rowId xmlns:a16="http://schemas.microsoft.com/office/drawing/2014/main" val="533960541"/>
                  </a:ext>
                </a:extLst>
              </a:tr>
              <a:tr h="351441">
                <a:tc>
                  <a:txBody>
                    <a:bodyPr/>
                    <a:lstStyle/>
                    <a:p>
                      <a:pPr algn="ctr" fontAlgn="base"/>
                      <a:r>
                        <a:rPr lang="en-IN" sz="1250" b="1">
                          <a:effectLst/>
                        </a:rPr>
                        <a:t>2</a:t>
                      </a:r>
                    </a:p>
                  </a:txBody>
                  <a:tcPr marL="76200" marR="76200" marT="106680" marB="106680" anchor="ctr"/>
                </a:tc>
                <a:tc>
                  <a:txBody>
                    <a:bodyPr/>
                    <a:lstStyle/>
                    <a:p>
                      <a:pPr algn="ctr" fontAlgn="base"/>
                      <a:r>
                        <a:rPr lang="en-IN" sz="1250" b="1">
                          <a:effectLst/>
                        </a:rPr>
                        <a:t>Cricket</a:t>
                      </a:r>
                    </a:p>
                  </a:txBody>
                  <a:tcPr marL="76200" marR="76200" marT="106680" marB="106680" anchor="ctr"/>
                </a:tc>
                <a:extLst>
                  <a:ext uri="{0D108BD9-81ED-4DB2-BD59-A6C34878D82A}">
                    <a16:rowId xmlns:a16="http://schemas.microsoft.com/office/drawing/2014/main" val="1744087771"/>
                  </a:ext>
                </a:extLst>
              </a:tr>
              <a:tr h="351441">
                <a:tc>
                  <a:txBody>
                    <a:bodyPr/>
                    <a:lstStyle/>
                    <a:p>
                      <a:pPr algn="ctr" fontAlgn="base"/>
                      <a:r>
                        <a:rPr lang="en-IN" sz="1250" b="1">
                          <a:effectLst/>
                        </a:rPr>
                        <a:t>2</a:t>
                      </a:r>
                    </a:p>
                  </a:txBody>
                  <a:tcPr marL="76200" marR="76200" marT="106680" marB="106680" anchor="ctr"/>
                </a:tc>
                <a:tc>
                  <a:txBody>
                    <a:bodyPr/>
                    <a:lstStyle/>
                    <a:p>
                      <a:pPr algn="ctr" fontAlgn="base"/>
                      <a:r>
                        <a:rPr lang="en-IN" sz="1250" b="1">
                          <a:effectLst/>
                        </a:rPr>
                        <a:t>Badminton</a:t>
                      </a:r>
                    </a:p>
                  </a:txBody>
                  <a:tcPr marL="76200" marR="76200" marT="106680" marB="106680" anchor="ctr"/>
                </a:tc>
                <a:extLst>
                  <a:ext uri="{0D108BD9-81ED-4DB2-BD59-A6C34878D82A}">
                    <a16:rowId xmlns:a16="http://schemas.microsoft.com/office/drawing/2014/main" val="2679020873"/>
                  </a:ext>
                </a:extLst>
              </a:tr>
              <a:tr h="351441">
                <a:tc>
                  <a:txBody>
                    <a:bodyPr/>
                    <a:lstStyle/>
                    <a:p>
                      <a:pPr algn="ctr" fontAlgn="base"/>
                      <a:r>
                        <a:rPr lang="en-IN" sz="1250" b="1">
                          <a:effectLst/>
                        </a:rPr>
                        <a:t>4</a:t>
                      </a:r>
                    </a:p>
                  </a:txBody>
                  <a:tcPr marL="76200" marR="76200" marT="106680" marB="106680" anchor="ctr"/>
                </a:tc>
                <a:tc>
                  <a:txBody>
                    <a:bodyPr/>
                    <a:lstStyle/>
                    <a:p>
                      <a:pPr algn="ctr" fontAlgn="base"/>
                      <a:r>
                        <a:rPr lang="en-IN" sz="1250" b="1" dirty="0">
                          <a:effectLst/>
                        </a:rPr>
                        <a:t>Badminton</a:t>
                      </a:r>
                    </a:p>
                  </a:txBody>
                  <a:tcPr marL="76200" marR="76200" marT="106680" marB="106680" anchor="ctr"/>
                </a:tc>
                <a:extLst>
                  <a:ext uri="{0D108BD9-81ED-4DB2-BD59-A6C34878D82A}">
                    <a16:rowId xmlns:a16="http://schemas.microsoft.com/office/drawing/2014/main" val="3690006178"/>
                  </a:ext>
                </a:extLst>
              </a:tr>
            </a:tbl>
          </a:graphicData>
        </a:graphic>
      </p:graphicFrame>
      <p:sp>
        <p:nvSpPr>
          <p:cNvPr id="9" name="TextBox 8">
            <a:extLst>
              <a:ext uri="{FF2B5EF4-FFF2-40B4-BE49-F238E27FC236}">
                <a16:creationId xmlns:a16="http://schemas.microsoft.com/office/drawing/2014/main" id="{3F39147D-D423-47A4-AE4F-C06E7BF99D60}"/>
              </a:ext>
            </a:extLst>
          </p:cNvPr>
          <p:cNvSpPr txBox="1"/>
          <p:nvPr/>
        </p:nvSpPr>
        <p:spPr>
          <a:xfrm>
            <a:off x="7772277" y="1153366"/>
            <a:ext cx="1973062" cy="369332"/>
          </a:xfrm>
          <a:prstGeom prst="rect">
            <a:avLst/>
          </a:prstGeom>
          <a:noFill/>
        </p:spPr>
        <p:txBody>
          <a:bodyPr wrap="square">
            <a:spAutoFit/>
          </a:bodyPr>
          <a:lstStyle/>
          <a:p>
            <a:r>
              <a:rPr lang="en-IN" b="1" i="0" dirty="0">
                <a:solidFill>
                  <a:srgbClr val="273239"/>
                </a:solidFill>
                <a:effectLst/>
                <a:latin typeface="urw-din"/>
              </a:rPr>
              <a:t>STUDENT_SPORTS</a:t>
            </a:r>
            <a:endParaRPr lang="en-IN" dirty="0"/>
          </a:p>
        </p:txBody>
      </p:sp>
      <p:sp>
        <p:nvSpPr>
          <p:cNvPr id="11" name="TextBox 10">
            <a:extLst>
              <a:ext uri="{FF2B5EF4-FFF2-40B4-BE49-F238E27FC236}">
                <a16:creationId xmlns:a16="http://schemas.microsoft.com/office/drawing/2014/main" id="{C7CA6697-76BE-45C8-B177-600704EF151B}"/>
              </a:ext>
            </a:extLst>
          </p:cNvPr>
          <p:cNvSpPr txBox="1"/>
          <p:nvPr/>
        </p:nvSpPr>
        <p:spPr>
          <a:xfrm>
            <a:off x="1091951" y="3986677"/>
            <a:ext cx="7474999" cy="369332"/>
          </a:xfrm>
          <a:prstGeom prst="rect">
            <a:avLst/>
          </a:prstGeom>
          <a:noFill/>
        </p:spPr>
        <p:txBody>
          <a:bodyPr wrap="square">
            <a:spAutoFit/>
          </a:bodyPr>
          <a:lstStyle/>
          <a:p>
            <a:r>
              <a:rPr lang="en-IN" b="0" i="0" dirty="0">
                <a:solidFill>
                  <a:srgbClr val="273239"/>
                </a:solidFill>
                <a:effectLst/>
                <a:latin typeface="urw-din"/>
              </a:rPr>
              <a:t>Select students whose ROLL_NO is equal to ROLL_NO of STUDENT_SPORTS as:</a:t>
            </a:r>
            <a:endParaRPr lang="en-IN" dirty="0"/>
          </a:p>
        </p:txBody>
      </p:sp>
      <p:sp>
        <p:nvSpPr>
          <p:cNvPr id="12" name="Rectangle 1">
            <a:extLst>
              <a:ext uri="{FF2B5EF4-FFF2-40B4-BE49-F238E27FC236}">
                <a16:creationId xmlns:a16="http://schemas.microsoft.com/office/drawing/2014/main" id="{E08FA585-309A-48DF-AD6A-F546778AF791}"/>
              </a:ext>
            </a:extLst>
          </p:cNvPr>
          <p:cNvSpPr>
            <a:spLocks noChangeArrowheads="1"/>
          </p:cNvSpPr>
          <p:nvPr/>
        </p:nvSpPr>
        <p:spPr bwMode="auto">
          <a:xfrm>
            <a:off x="4959689" y="4425291"/>
            <a:ext cx="32284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273239"/>
                </a:solidFill>
                <a:effectLst/>
                <a:latin typeface="Consolas" panose="020B0609020204030204" pitchFamily="49" charset="0"/>
              </a:rPr>
              <a:t>STUDENT⋈STUDENT_SPORTS</a:t>
            </a:r>
            <a:r>
              <a:rPr kumimoji="0" lang="en-US" altLang="en-US" sz="2000" b="0" i="0" u="none" strike="noStrike" cap="none" normalizeH="0" baseline="0">
                <a:ln>
                  <a:noFill/>
                </a:ln>
                <a:solidFill>
                  <a:schemeClr val="tx1"/>
                </a:solidFill>
                <a:effectLst/>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28A6CE69-422B-452E-93E3-C6D4EE6400F8}"/>
              </a:ext>
            </a:extLst>
          </p:cNvPr>
          <p:cNvSpPr txBox="1"/>
          <p:nvPr/>
        </p:nvSpPr>
        <p:spPr>
          <a:xfrm>
            <a:off x="1091950" y="4849079"/>
            <a:ext cx="6596111" cy="369332"/>
          </a:xfrm>
          <a:prstGeom prst="rect">
            <a:avLst/>
          </a:prstGeom>
          <a:noFill/>
        </p:spPr>
        <p:txBody>
          <a:bodyPr wrap="square">
            <a:spAutoFit/>
          </a:bodyPr>
          <a:lstStyle/>
          <a:p>
            <a:r>
              <a:rPr lang="en-IN" b="0" i="0" dirty="0">
                <a:solidFill>
                  <a:srgbClr val="273239"/>
                </a:solidFill>
                <a:effectLst/>
                <a:latin typeface="urw-din"/>
              </a:rPr>
              <a:t>In terms of basic operators (cross product, selection and projection) :</a:t>
            </a:r>
            <a:endParaRPr lang="en-IN" dirty="0"/>
          </a:p>
        </p:txBody>
      </p:sp>
      <p:sp>
        <p:nvSpPr>
          <p:cNvPr id="15" name="Rectangle 2">
            <a:extLst>
              <a:ext uri="{FF2B5EF4-FFF2-40B4-BE49-F238E27FC236}">
                <a16:creationId xmlns:a16="http://schemas.microsoft.com/office/drawing/2014/main" id="{8320B215-EE65-449B-88DE-93738A525853}"/>
              </a:ext>
            </a:extLst>
          </p:cNvPr>
          <p:cNvSpPr>
            <a:spLocks noChangeArrowheads="1"/>
          </p:cNvSpPr>
          <p:nvPr/>
        </p:nvSpPr>
        <p:spPr bwMode="auto">
          <a:xfrm>
            <a:off x="3036165" y="5242969"/>
            <a:ext cx="736846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73239"/>
                </a:solidFill>
                <a:effectLst/>
                <a:latin typeface="Consolas" panose="020B0609020204030204" pitchFamily="49" charset="0"/>
              </a:rPr>
              <a:t>∏</a:t>
            </a:r>
            <a:r>
              <a:rPr kumimoji="0" lang="en-US" altLang="en-US" sz="2000" b="1" i="0" u="none" strike="noStrike" cap="none" normalizeH="0" baseline="-30000" dirty="0">
                <a:ln>
                  <a:noFill/>
                </a:ln>
                <a:solidFill>
                  <a:srgbClr val="273239"/>
                </a:solidFill>
                <a:effectLst/>
                <a:latin typeface="Consolas" panose="020B0609020204030204" pitchFamily="49" charset="0"/>
              </a:rPr>
              <a:t>(STUDENT.ROLL_NO, STUDENT.NAME, STUDENT.ADDRESS, STUDENT.PHONE, STUDENT.AGE STUDENT_SPORTS.SPORTS)</a:t>
            </a:r>
            <a:r>
              <a:rPr kumimoji="0" lang="en-US" altLang="en-US" sz="2000" b="1" i="0" u="none" strike="noStrike" cap="none" normalizeH="0" baseline="0" dirty="0">
                <a:ln>
                  <a:noFill/>
                </a:ln>
                <a:solidFill>
                  <a:srgbClr val="273239"/>
                </a:solidFill>
                <a:effectLst/>
                <a:latin typeface="Consolas" panose="020B0609020204030204" pitchFamily="49" charset="0"/>
              </a:rPr>
              <a:t>(σ</a:t>
            </a:r>
            <a:r>
              <a:rPr kumimoji="0" lang="en-US" altLang="en-US" sz="2000" b="1" i="0" u="none" strike="noStrike" cap="none" normalizeH="0" baseline="-30000" dirty="0">
                <a:ln>
                  <a:noFill/>
                </a:ln>
                <a:solidFill>
                  <a:srgbClr val="273239"/>
                </a:solidFill>
                <a:effectLst/>
                <a:latin typeface="Consolas" panose="020B0609020204030204" pitchFamily="49" charset="0"/>
              </a:rPr>
              <a:t> (STUDENT.ROLL_NO=STUDENT_SPORTS.ROLL_NO) </a:t>
            </a:r>
            <a:r>
              <a:rPr kumimoji="0" lang="en-US" altLang="en-US" sz="2000" b="1" i="0" u="none" strike="noStrike" cap="none" normalizeH="0" baseline="0" dirty="0">
                <a:ln>
                  <a:noFill/>
                </a:ln>
                <a:solidFill>
                  <a:srgbClr val="273239"/>
                </a:solidFill>
                <a:effectLst/>
                <a:latin typeface="Consolas" panose="020B0609020204030204" pitchFamily="49" charset="0"/>
              </a:rPr>
              <a:t>(STUDENT×STUDENT_SPORTS))</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09461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E9878EC-E1BE-4A6A-AF53-7DE8A17C5FBC}"/>
              </a:ext>
            </a:extLst>
          </p:cNvPr>
          <p:cNvSpPr>
            <a:spLocks noGrp="1"/>
          </p:cNvSpPr>
          <p:nvPr>
            <p:ph type="title"/>
          </p:nvPr>
        </p:nvSpPr>
        <p:spPr>
          <a:xfrm>
            <a:off x="838200" y="10015"/>
            <a:ext cx="10515600" cy="859998"/>
          </a:xfrm>
        </p:spPr>
        <p:txBody>
          <a:bodyPr/>
          <a:lstStyle/>
          <a:p>
            <a:pPr algn="ctr"/>
            <a:r>
              <a:rPr lang="en-IN" b="1" dirty="0">
                <a:solidFill>
                  <a:schemeClr val="accent4">
                    <a:lumMod val="50000"/>
                  </a:schemeClr>
                </a:solidFill>
              </a:rPr>
              <a:t>Natural Join</a:t>
            </a:r>
          </a:p>
        </p:txBody>
      </p:sp>
      <p:sp>
        <p:nvSpPr>
          <p:cNvPr id="6" name="TextBox 5">
            <a:extLst>
              <a:ext uri="{FF2B5EF4-FFF2-40B4-BE49-F238E27FC236}">
                <a16:creationId xmlns:a16="http://schemas.microsoft.com/office/drawing/2014/main" id="{29D412E6-17A6-4A4B-82A0-3A6C64564DA3}"/>
              </a:ext>
            </a:extLst>
          </p:cNvPr>
          <p:cNvSpPr txBox="1"/>
          <p:nvPr/>
        </p:nvSpPr>
        <p:spPr>
          <a:xfrm>
            <a:off x="1644588" y="1044891"/>
            <a:ext cx="1214022" cy="366659"/>
          </a:xfrm>
          <a:prstGeom prst="rect">
            <a:avLst/>
          </a:prstGeom>
          <a:noFill/>
        </p:spPr>
        <p:txBody>
          <a:bodyPr wrap="square">
            <a:spAutoFit/>
          </a:bodyPr>
          <a:lstStyle/>
          <a:p>
            <a:r>
              <a:rPr lang="en-IN" b="1" i="0" dirty="0">
                <a:solidFill>
                  <a:srgbClr val="273239"/>
                </a:solidFill>
                <a:effectLst/>
                <a:latin typeface="urw-din"/>
              </a:rPr>
              <a:t>RESULT</a:t>
            </a:r>
            <a:endParaRPr lang="en-IN" dirty="0"/>
          </a:p>
        </p:txBody>
      </p:sp>
      <p:graphicFrame>
        <p:nvGraphicFramePr>
          <p:cNvPr id="7" name="Table 7">
            <a:extLst>
              <a:ext uri="{FF2B5EF4-FFF2-40B4-BE49-F238E27FC236}">
                <a16:creationId xmlns:a16="http://schemas.microsoft.com/office/drawing/2014/main" id="{77E37A8D-B920-4F4A-8128-8637622B77A2}"/>
              </a:ext>
            </a:extLst>
          </p:cNvPr>
          <p:cNvGraphicFramePr>
            <a:graphicFrameLocks noGrp="1"/>
          </p:cNvGraphicFramePr>
          <p:nvPr>
            <p:extLst>
              <p:ext uri="{D42A27DB-BD31-4B8C-83A1-F6EECF244321}">
                <p14:modId xmlns:p14="http://schemas.microsoft.com/office/powerpoint/2010/main" val="3700558776"/>
              </p:ext>
            </p:extLst>
          </p:nvPr>
        </p:nvGraphicFramePr>
        <p:xfrm>
          <a:off x="2999666" y="1678454"/>
          <a:ext cx="5993412" cy="2520772"/>
        </p:xfrm>
        <a:graphic>
          <a:graphicData uri="http://schemas.openxmlformats.org/drawingml/2006/table">
            <a:tbl>
              <a:tblPr firstRow="1" bandRow="1">
                <a:tableStyleId>{5C22544A-7EE6-4342-B048-85BDC9FD1C3A}</a:tableStyleId>
              </a:tblPr>
              <a:tblGrid>
                <a:gridCol w="998902">
                  <a:extLst>
                    <a:ext uri="{9D8B030D-6E8A-4147-A177-3AD203B41FA5}">
                      <a16:colId xmlns:a16="http://schemas.microsoft.com/office/drawing/2014/main" val="1577610788"/>
                    </a:ext>
                  </a:extLst>
                </a:gridCol>
                <a:gridCol w="998902">
                  <a:extLst>
                    <a:ext uri="{9D8B030D-6E8A-4147-A177-3AD203B41FA5}">
                      <a16:colId xmlns:a16="http://schemas.microsoft.com/office/drawing/2014/main" val="2808549114"/>
                    </a:ext>
                  </a:extLst>
                </a:gridCol>
                <a:gridCol w="998902">
                  <a:extLst>
                    <a:ext uri="{9D8B030D-6E8A-4147-A177-3AD203B41FA5}">
                      <a16:colId xmlns:a16="http://schemas.microsoft.com/office/drawing/2014/main" val="3978479212"/>
                    </a:ext>
                  </a:extLst>
                </a:gridCol>
                <a:gridCol w="998902">
                  <a:extLst>
                    <a:ext uri="{9D8B030D-6E8A-4147-A177-3AD203B41FA5}">
                      <a16:colId xmlns:a16="http://schemas.microsoft.com/office/drawing/2014/main" val="3918173647"/>
                    </a:ext>
                  </a:extLst>
                </a:gridCol>
                <a:gridCol w="998902">
                  <a:extLst>
                    <a:ext uri="{9D8B030D-6E8A-4147-A177-3AD203B41FA5}">
                      <a16:colId xmlns:a16="http://schemas.microsoft.com/office/drawing/2014/main" val="2833144528"/>
                    </a:ext>
                  </a:extLst>
                </a:gridCol>
                <a:gridCol w="998902">
                  <a:extLst>
                    <a:ext uri="{9D8B030D-6E8A-4147-A177-3AD203B41FA5}">
                      <a16:colId xmlns:a16="http://schemas.microsoft.com/office/drawing/2014/main" val="987180589"/>
                    </a:ext>
                  </a:extLst>
                </a:gridCol>
              </a:tblGrid>
              <a:tr h="368263">
                <a:tc>
                  <a:txBody>
                    <a:bodyPr/>
                    <a:lstStyle/>
                    <a:p>
                      <a:pPr algn="ctr" fontAlgn="base"/>
                      <a:r>
                        <a:rPr lang="en-IN" sz="1250" b="1">
                          <a:effectLst/>
                        </a:rPr>
                        <a:t>ROLL_NO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tc>
                  <a:txBody>
                    <a:bodyPr/>
                    <a:lstStyle/>
                    <a:p>
                      <a:pPr algn="ctr" fontAlgn="base"/>
                      <a:r>
                        <a:rPr lang="en-IN" sz="1250" b="1">
                          <a:effectLst/>
                        </a:rPr>
                        <a:t>SPORTS</a:t>
                      </a:r>
                    </a:p>
                  </a:txBody>
                  <a:tcPr marL="76200" marR="76200" marT="106680" marB="106680" anchor="ctr"/>
                </a:tc>
                <a:extLst>
                  <a:ext uri="{0D108BD9-81ED-4DB2-BD59-A6C34878D82A}">
                    <a16:rowId xmlns:a16="http://schemas.microsoft.com/office/drawing/2014/main" val="1419275173"/>
                  </a:ext>
                </a:extLst>
              </a:tr>
              <a:tr h="529228">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Badminton</a:t>
                      </a:r>
                    </a:p>
                  </a:txBody>
                  <a:tcPr marL="76200" marR="76200" marT="106680" marB="106680" anchor="ctr"/>
                </a:tc>
                <a:extLst>
                  <a:ext uri="{0D108BD9-81ED-4DB2-BD59-A6C34878D82A}">
                    <a16:rowId xmlns:a16="http://schemas.microsoft.com/office/drawing/2014/main" val="4169105465"/>
                  </a:ext>
                </a:extLst>
              </a:tr>
              <a:tr h="529228">
                <a:tc>
                  <a:txBody>
                    <a:bodyPr/>
                    <a:lstStyle/>
                    <a:p>
                      <a:pPr algn="ctr" fontAlgn="base"/>
                      <a:r>
                        <a:rPr lang="en-IN" sz="1250" b="1">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Cricket</a:t>
                      </a:r>
                    </a:p>
                  </a:txBody>
                  <a:tcPr marL="76200" marR="76200" marT="106680" marB="106680" anchor="ctr"/>
                </a:tc>
                <a:extLst>
                  <a:ext uri="{0D108BD9-81ED-4DB2-BD59-A6C34878D82A}">
                    <a16:rowId xmlns:a16="http://schemas.microsoft.com/office/drawing/2014/main" val="1326996361"/>
                  </a:ext>
                </a:extLst>
              </a:tr>
              <a:tr h="529228">
                <a:tc>
                  <a:txBody>
                    <a:bodyPr/>
                    <a:lstStyle/>
                    <a:p>
                      <a:pPr algn="ctr" fontAlgn="base"/>
                      <a:r>
                        <a:rPr lang="en-IN" sz="1250" b="1">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Badminton</a:t>
                      </a:r>
                    </a:p>
                  </a:txBody>
                  <a:tcPr marL="76200" marR="76200" marT="106680" marB="106680" anchor="ctr"/>
                </a:tc>
                <a:extLst>
                  <a:ext uri="{0D108BD9-81ED-4DB2-BD59-A6C34878D82A}">
                    <a16:rowId xmlns:a16="http://schemas.microsoft.com/office/drawing/2014/main" val="2324957088"/>
                  </a:ext>
                </a:extLst>
              </a:tr>
              <a:tr h="529228">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dirty="0">
                          <a:effectLst/>
                        </a:rPr>
                        <a:t>Badminton</a:t>
                      </a:r>
                    </a:p>
                  </a:txBody>
                  <a:tcPr marL="76200" marR="76200" marT="106680" marB="106680" anchor="ctr"/>
                </a:tc>
                <a:extLst>
                  <a:ext uri="{0D108BD9-81ED-4DB2-BD59-A6C34878D82A}">
                    <a16:rowId xmlns:a16="http://schemas.microsoft.com/office/drawing/2014/main" val="2161860935"/>
                  </a:ext>
                </a:extLst>
              </a:tr>
            </a:tbl>
          </a:graphicData>
        </a:graphic>
      </p:graphicFrame>
    </p:spTree>
    <p:extLst>
      <p:ext uri="{BB962C8B-B14F-4D97-AF65-F5344CB8AC3E}">
        <p14:creationId xmlns:p14="http://schemas.microsoft.com/office/powerpoint/2010/main" val="4102050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F8B82-4113-429F-9682-33FE94C9C69B}"/>
              </a:ext>
            </a:extLst>
          </p:cNvPr>
          <p:cNvSpPr>
            <a:spLocks noGrp="1"/>
          </p:cNvSpPr>
          <p:nvPr>
            <p:ph type="title"/>
          </p:nvPr>
        </p:nvSpPr>
        <p:spPr>
          <a:xfrm>
            <a:off x="838200" y="10019"/>
            <a:ext cx="10515600" cy="948770"/>
          </a:xfrm>
        </p:spPr>
        <p:txBody>
          <a:bodyPr/>
          <a:lstStyle/>
          <a:p>
            <a:pPr algn="ctr"/>
            <a:r>
              <a:rPr lang="en-IN" b="1" dirty="0">
                <a:solidFill>
                  <a:schemeClr val="accent4">
                    <a:lumMod val="50000"/>
                  </a:schemeClr>
                </a:solidFill>
              </a:rPr>
              <a:t>Outer Joins</a:t>
            </a:r>
          </a:p>
        </p:txBody>
      </p:sp>
      <p:sp>
        <p:nvSpPr>
          <p:cNvPr id="3" name="Content Placeholder 2">
            <a:extLst>
              <a:ext uri="{FF2B5EF4-FFF2-40B4-BE49-F238E27FC236}">
                <a16:creationId xmlns:a16="http://schemas.microsoft.com/office/drawing/2014/main" id="{B4EA42E2-6F84-49D3-9D0A-F9607D055EDB}"/>
              </a:ext>
            </a:extLst>
          </p:cNvPr>
          <p:cNvSpPr>
            <a:spLocks noGrp="1"/>
          </p:cNvSpPr>
          <p:nvPr>
            <p:ph idx="1"/>
          </p:nvPr>
        </p:nvSpPr>
        <p:spPr>
          <a:xfrm>
            <a:off x="1074198" y="825622"/>
            <a:ext cx="10990554" cy="5939161"/>
          </a:xfrm>
        </p:spPr>
        <p:txBody>
          <a:bodyPr/>
          <a:lstStyle/>
          <a:p>
            <a:pPr algn="just">
              <a:lnSpc>
                <a:spcPct val="100000"/>
              </a:lnSpc>
              <a:buFont typeface="Wingdings" panose="05000000000000000000" pitchFamily="2" charset="2"/>
              <a:buChar char="q"/>
            </a:pPr>
            <a:r>
              <a:rPr lang="en-IN" dirty="0"/>
              <a:t>When applying join on two relations R and S, some tuples of R or S does not appear in result set which does not satisfy the join conditions.</a:t>
            </a:r>
          </a:p>
          <a:p>
            <a:pPr algn="just">
              <a:lnSpc>
                <a:spcPct val="100000"/>
              </a:lnSpc>
              <a:buFont typeface="Wingdings" panose="05000000000000000000" pitchFamily="2" charset="2"/>
              <a:buChar char="q"/>
            </a:pPr>
            <a:r>
              <a:rPr lang="en-IN" dirty="0"/>
              <a:t>The outer join operation is an extension of the join operation. It is used to deal with missing information.</a:t>
            </a:r>
          </a:p>
          <a:p>
            <a:pPr algn="just">
              <a:lnSpc>
                <a:spcPct val="100000"/>
              </a:lnSpc>
              <a:buFont typeface="Wingdings" panose="05000000000000000000" pitchFamily="2" charset="2"/>
              <a:buChar char="q"/>
            </a:pPr>
            <a:r>
              <a:rPr lang="en-IN" b="0" i="0" dirty="0">
                <a:solidFill>
                  <a:srgbClr val="222222"/>
                </a:solidFill>
                <a:effectLst/>
                <a:latin typeface="Source Sans Pro" panose="020B0503030403020204" pitchFamily="34" charset="0"/>
              </a:rPr>
              <a:t>In outer join, along with tuples that satisfy the matching criteria, we also include some or all tuples that do not match the criteria.</a:t>
            </a:r>
            <a:endParaRPr lang="en-IN" dirty="0"/>
          </a:p>
          <a:p>
            <a:pPr algn="just">
              <a:lnSpc>
                <a:spcPct val="100000"/>
              </a:lnSpc>
              <a:buFont typeface="Wingdings" panose="05000000000000000000" pitchFamily="2" charset="2"/>
              <a:buChar char="q"/>
            </a:pPr>
            <a:r>
              <a:rPr lang="en-IN" dirty="0">
                <a:solidFill>
                  <a:srgbClr val="000000"/>
                </a:solidFill>
                <a:latin typeface="Arial" panose="020B0604020202020204" pitchFamily="34" charset="0"/>
              </a:rPr>
              <a:t>W</a:t>
            </a:r>
            <a:r>
              <a:rPr lang="en-IN" b="0" i="0" dirty="0">
                <a:solidFill>
                  <a:srgbClr val="000000"/>
                </a:solidFill>
                <a:effectLst/>
                <a:latin typeface="Arial" panose="020B0604020202020204" pitchFamily="34" charset="0"/>
              </a:rPr>
              <a:t>e need to use outer joins to include all the tuples from the participating relations in the resulting relation.</a:t>
            </a:r>
            <a:endParaRPr lang="en-IN" dirty="0"/>
          </a:p>
        </p:txBody>
      </p:sp>
    </p:spTree>
    <p:extLst>
      <p:ext uri="{BB962C8B-B14F-4D97-AF65-F5344CB8AC3E}">
        <p14:creationId xmlns:p14="http://schemas.microsoft.com/office/powerpoint/2010/main" val="17376831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209C3-2EAA-4B3F-9449-370AFAFEE526}"/>
              </a:ext>
            </a:extLst>
          </p:cNvPr>
          <p:cNvSpPr>
            <a:spLocks noGrp="1"/>
          </p:cNvSpPr>
          <p:nvPr>
            <p:ph type="title"/>
          </p:nvPr>
        </p:nvSpPr>
        <p:spPr>
          <a:xfrm>
            <a:off x="838200" y="18892"/>
            <a:ext cx="10515600" cy="1090818"/>
          </a:xfrm>
        </p:spPr>
        <p:txBody>
          <a:bodyPr/>
          <a:lstStyle/>
          <a:p>
            <a:pPr algn="ctr"/>
            <a:r>
              <a:rPr lang="en-IN" b="1" dirty="0">
                <a:solidFill>
                  <a:schemeClr val="accent4">
                    <a:lumMod val="50000"/>
                  </a:schemeClr>
                </a:solidFill>
              </a:rPr>
              <a:t>Left outer join</a:t>
            </a:r>
          </a:p>
        </p:txBody>
      </p:sp>
      <p:sp>
        <p:nvSpPr>
          <p:cNvPr id="3" name="Content Placeholder 2">
            <a:extLst>
              <a:ext uri="{FF2B5EF4-FFF2-40B4-BE49-F238E27FC236}">
                <a16:creationId xmlns:a16="http://schemas.microsoft.com/office/drawing/2014/main" id="{A4287D45-3A35-4528-B3FC-FAFD398EB077}"/>
              </a:ext>
            </a:extLst>
          </p:cNvPr>
          <p:cNvSpPr>
            <a:spLocks noGrp="1"/>
          </p:cNvSpPr>
          <p:nvPr>
            <p:ph idx="1"/>
          </p:nvPr>
        </p:nvSpPr>
        <p:spPr>
          <a:xfrm>
            <a:off x="1269506" y="896644"/>
            <a:ext cx="10786369" cy="5859262"/>
          </a:xfrm>
        </p:spPr>
        <p:txBody>
          <a:bodyPr/>
          <a:lstStyle/>
          <a:p>
            <a:pPr algn="just">
              <a:buFont typeface="Wingdings" panose="05000000000000000000" pitchFamily="2" charset="2"/>
              <a:buChar char="q"/>
            </a:pPr>
            <a:r>
              <a:rPr lang="en-IN" dirty="0">
                <a:solidFill>
                  <a:srgbClr val="222222"/>
                </a:solidFill>
                <a:latin typeface="Source Sans Pro" panose="020B0503030403020204" pitchFamily="34" charset="0"/>
              </a:rPr>
              <a:t>O</a:t>
            </a:r>
            <a:r>
              <a:rPr lang="en-IN" b="0" i="0" dirty="0">
                <a:solidFill>
                  <a:srgbClr val="222222"/>
                </a:solidFill>
                <a:effectLst/>
                <a:latin typeface="Source Sans Pro" panose="020B0503030403020204" pitchFamily="34" charset="0"/>
              </a:rPr>
              <a:t>peration allows keeping all tuple in the left relation.</a:t>
            </a:r>
          </a:p>
          <a:p>
            <a:pPr algn="just">
              <a:buFont typeface="Wingdings" panose="05000000000000000000" pitchFamily="2" charset="2"/>
              <a:buChar char="q"/>
            </a:pPr>
            <a:r>
              <a:rPr lang="en-IN" dirty="0">
                <a:solidFill>
                  <a:srgbClr val="222222"/>
                </a:solidFill>
                <a:latin typeface="Source Sans Pro" panose="020B0503030403020204" pitchFamily="34" charset="0"/>
              </a:rPr>
              <a:t>I</a:t>
            </a:r>
            <a:r>
              <a:rPr lang="en-IN" b="0" i="0" dirty="0">
                <a:solidFill>
                  <a:srgbClr val="222222"/>
                </a:solidFill>
                <a:effectLst/>
                <a:latin typeface="Source Sans Pro" panose="020B0503030403020204" pitchFamily="34" charset="0"/>
              </a:rPr>
              <a:t>f there is no matching tuple is found in right relation, then attributes of right relation in join result are filled with null values.</a:t>
            </a:r>
          </a:p>
          <a:p>
            <a:pPr algn="just">
              <a:buFont typeface="Wingdings" panose="05000000000000000000" pitchFamily="2" charset="2"/>
              <a:buChar char="q"/>
            </a:pPr>
            <a:endParaRPr lang="en-IN" dirty="0">
              <a:solidFill>
                <a:srgbClr val="222222"/>
              </a:solidFill>
              <a:latin typeface="Source Sans Pro" panose="020B0503030403020204" pitchFamily="34" charset="0"/>
            </a:endParaRPr>
          </a:p>
          <a:p>
            <a:pPr algn="just">
              <a:buFont typeface="Wingdings" panose="05000000000000000000" pitchFamily="2" charset="2"/>
              <a:buChar char="q"/>
            </a:pPr>
            <a:endParaRPr lang="en-IN" dirty="0">
              <a:solidFill>
                <a:srgbClr val="222222"/>
              </a:solidFill>
              <a:latin typeface="Source Sans Pro" panose="020B0503030403020204" pitchFamily="34" charset="0"/>
            </a:endParaRPr>
          </a:p>
          <a:p>
            <a:pPr algn="just">
              <a:buFont typeface="Wingdings" panose="05000000000000000000" pitchFamily="2" charset="2"/>
              <a:buChar char="q"/>
            </a:pPr>
            <a:endParaRPr lang="en-IN" dirty="0">
              <a:solidFill>
                <a:srgbClr val="222222"/>
              </a:solidFill>
              <a:latin typeface="Source Sans Pro" panose="020B0503030403020204" pitchFamily="34" charset="0"/>
            </a:endParaRPr>
          </a:p>
          <a:p>
            <a:pPr algn="just">
              <a:buFont typeface="Wingdings" panose="05000000000000000000" pitchFamily="2" charset="2"/>
              <a:buChar char="q"/>
            </a:pPr>
            <a:r>
              <a:rPr lang="en-IN" b="0" i="0" dirty="0">
                <a:solidFill>
                  <a:srgbClr val="000000"/>
                </a:solidFill>
                <a:effectLst/>
                <a:latin typeface="Arial" panose="020B0604020202020204" pitchFamily="34" charset="0"/>
              </a:rPr>
              <a:t>All tuples from the Left relation </a:t>
            </a:r>
            <a:r>
              <a:rPr lang="en-IN" dirty="0">
                <a:solidFill>
                  <a:srgbClr val="000000"/>
                </a:solidFill>
                <a:latin typeface="Arial" panose="020B0604020202020204" pitchFamily="34" charset="0"/>
              </a:rPr>
              <a:t>A</a:t>
            </a:r>
            <a:r>
              <a:rPr lang="en-IN" b="0" i="0" dirty="0">
                <a:solidFill>
                  <a:srgbClr val="000000"/>
                </a:solidFill>
                <a:effectLst/>
                <a:latin typeface="Arial" panose="020B0604020202020204" pitchFamily="34" charset="0"/>
              </a:rPr>
              <a:t> are included in the resulting relation.</a:t>
            </a:r>
          </a:p>
          <a:p>
            <a:pPr algn="just">
              <a:buFont typeface="Wingdings" panose="05000000000000000000" pitchFamily="2" charset="2"/>
              <a:buChar char="q"/>
            </a:pPr>
            <a:r>
              <a:rPr lang="en-IN" b="0" i="0" dirty="0">
                <a:solidFill>
                  <a:srgbClr val="000000"/>
                </a:solidFill>
                <a:effectLst/>
                <a:latin typeface="Arial" panose="020B0604020202020204" pitchFamily="34" charset="0"/>
              </a:rPr>
              <a:t>If there are tuples in A without any matching tuple in the Right relation B, then B-attributes of the resulting relation are made NULL.</a:t>
            </a:r>
          </a:p>
          <a:p>
            <a:pPr algn="just">
              <a:buFont typeface="Wingdings" panose="05000000000000000000" pitchFamily="2" charset="2"/>
              <a:buChar char="q"/>
            </a:pPr>
            <a:r>
              <a:rPr lang="en-IN" dirty="0">
                <a:solidFill>
                  <a:srgbClr val="000000"/>
                </a:solidFill>
                <a:latin typeface="Arial" panose="020B0604020202020204" pitchFamily="34" charset="0"/>
              </a:rPr>
              <a:t>Notation: A     B</a:t>
            </a:r>
            <a:endParaRPr lang="en-IN" dirty="0"/>
          </a:p>
        </p:txBody>
      </p:sp>
      <p:pic>
        <p:nvPicPr>
          <p:cNvPr id="1026" name="Picture 2">
            <a:extLst>
              <a:ext uri="{FF2B5EF4-FFF2-40B4-BE49-F238E27FC236}">
                <a16:creationId xmlns:a16="http://schemas.microsoft.com/office/drawing/2014/main" id="{DC9A8E5D-23BA-4440-B7C9-435B76BFCA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8134" y="2464200"/>
            <a:ext cx="5143500" cy="13620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718B41E2-9CF0-438C-9FEE-C760F9E0B2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9320" y="6104876"/>
            <a:ext cx="348078" cy="232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3542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BF06A4-C6A8-445C-9429-394CD52A5E2D}"/>
              </a:ext>
            </a:extLst>
          </p:cNvPr>
          <p:cNvSpPr>
            <a:spLocks noGrp="1"/>
          </p:cNvSpPr>
          <p:nvPr>
            <p:ph idx="1"/>
          </p:nvPr>
        </p:nvSpPr>
        <p:spPr>
          <a:xfrm>
            <a:off x="1074198" y="941032"/>
            <a:ext cx="10972800" cy="5832629"/>
          </a:xfrm>
        </p:spPr>
        <p:txBody>
          <a:bodyPr/>
          <a:lstStyle/>
          <a:p>
            <a:pPr>
              <a:buFont typeface="Wingdings" panose="05000000000000000000" pitchFamily="2" charset="2"/>
              <a:buChar char="q"/>
            </a:pPr>
            <a:r>
              <a:rPr lang="en-IN" b="1" dirty="0"/>
              <a:t>Example</a:t>
            </a:r>
          </a:p>
        </p:txBody>
      </p:sp>
      <p:sp>
        <p:nvSpPr>
          <p:cNvPr id="4" name="Title 1">
            <a:extLst>
              <a:ext uri="{FF2B5EF4-FFF2-40B4-BE49-F238E27FC236}">
                <a16:creationId xmlns:a16="http://schemas.microsoft.com/office/drawing/2014/main" id="{5FB79DA9-8B9B-49F6-8D11-50A8A2C60006}"/>
              </a:ext>
            </a:extLst>
          </p:cNvPr>
          <p:cNvSpPr>
            <a:spLocks noGrp="1"/>
          </p:cNvSpPr>
          <p:nvPr>
            <p:ph type="title"/>
          </p:nvPr>
        </p:nvSpPr>
        <p:spPr>
          <a:xfrm>
            <a:off x="838200" y="18892"/>
            <a:ext cx="10515600" cy="1090818"/>
          </a:xfrm>
        </p:spPr>
        <p:txBody>
          <a:bodyPr/>
          <a:lstStyle/>
          <a:p>
            <a:pPr algn="ctr"/>
            <a:r>
              <a:rPr lang="en-IN" b="1" dirty="0">
                <a:solidFill>
                  <a:schemeClr val="accent4">
                    <a:lumMod val="50000"/>
                  </a:schemeClr>
                </a:solidFill>
              </a:rPr>
              <a:t>Left outer join</a:t>
            </a:r>
          </a:p>
        </p:txBody>
      </p:sp>
      <p:sp>
        <p:nvSpPr>
          <p:cNvPr id="6" name="TextBox 5">
            <a:extLst>
              <a:ext uri="{FF2B5EF4-FFF2-40B4-BE49-F238E27FC236}">
                <a16:creationId xmlns:a16="http://schemas.microsoft.com/office/drawing/2014/main" id="{7CF6E5C5-8991-4C97-B1D8-980FBF341357}"/>
              </a:ext>
            </a:extLst>
          </p:cNvPr>
          <p:cNvSpPr txBox="1"/>
          <p:nvPr/>
        </p:nvSpPr>
        <p:spPr>
          <a:xfrm>
            <a:off x="1831018" y="1385519"/>
            <a:ext cx="9851996" cy="830997"/>
          </a:xfrm>
          <a:prstGeom prst="rect">
            <a:avLst/>
          </a:prstGeom>
          <a:noFill/>
        </p:spPr>
        <p:txBody>
          <a:bodyPr wrap="square">
            <a:spAutoFit/>
          </a:bodyPr>
          <a:lstStyle/>
          <a:p>
            <a:r>
              <a:rPr lang="en-IN" sz="2400" b="0" i="0" dirty="0">
                <a:solidFill>
                  <a:srgbClr val="273239"/>
                </a:solidFill>
                <a:effectLst/>
                <a:latin typeface="urw-din"/>
              </a:rPr>
              <a:t>Select students whose ROLL_NO is greater than EMP_NO of employees and details of other students as well</a:t>
            </a:r>
            <a:endParaRPr lang="en-IN" sz="2400" dirty="0"/>
          </a:p>
        </p:txBody>
      </p:sp>
      <p:graphicFrame>
        <p:nvGraphicFramePr>
          <p:cNvPr id="7" name="Table 5">
            <a:extLst>
              <a:ext uri="{FF2B5EF4-FFF2-40B4-BE49-F238E27FC236}">
                <a16:creationId xmlns:a16="http://schemas.microsoft.com/office/drawing/2014/main" id="{36FFCD08-B257-42DB-9A43-17E36BEDDA1D}"/>
              </a:ext>
            </a:extLst>
          </p:cNvPr>
          <p:cNvGraphicFramePr>
            <a:graphicFrameLocks/>
          </p:cNvGraphicFramePr>
          <p:nvPr>
            <p:extLst>
              <p:ext uri="{D42A27DB-BD31-4B8C-83A1-F6EECF244321}">
                <p14:modId xmlns:p14="http://schemas.microsoft.com/office/powerpoint/2010/main" val="749527125"/>
              </p:ext>
            </p:extLst>
          </p:nvPr>
        </p:nvGraphicFramePr>
        <p:xfrm>
          <a:off x="1859135" y="2597980"/>
          <a:ext cx="4816875" cy="2346885"/>
        </p:xfrm>
        <a:graphic>
          <a:graphicData uri="http://schemas.openxmlformats.org/drawingml/2006/table">
            <a:tbl>
              <a:tblPr firstRow="1" bandRow="1">
                <a:tableStyleId>{5C22544A-7EE6-4342-B048-85BDC9FD1C3A}</a:tableStyleId>
              </a:tblPr>
              <a:tblGrid>
                <a:gridCol w="963375">
                  <a:extLst>
                    <a:ext uri="{9D8B030D-6E8A-4147-A177-3AD203B41FA5}">
                      <a16:colId xmlns:a16="http://schemas.microsoft.com/office/drawing/2014/main" val="658835208"/>
                    </a:ext>
                  </a:extLst>
                </a:gridCol>
                <a:gridCol w="963375">
                  <a:extLst>
                    <a:ext uri="{9D8B030D-6E8A-4147-A177-3AD203B41FA5}">
                      <a16:colId xmlns:a16="http://schemas.microsoft.com/office/drawing/2014/main" val="1320520670"/>
                    </a:ext>
                  </a:extLst>
                </a:gridCol>
                <a:gridCol w="963375">
                  <a:extLst>
                    <a:ext uri="{9D8B030D-6E8A-4147-A177-3AD203B41FA5}">
                      <a16:colId xmlns:a16="http://schemas.microsoft.com/office/drawing/2014/main" val="84726451"/>
                    </a:ext>
                  </a:extLst>
                </a:gridCol>
                <a:gridCol w="963375">
                  <a:extLst>
                    <a:ext uri="{9D8B030D-6E8A-4147-A177-3AD203B41FA5}">
                      <a16:colId xmlns:a16="http://schemas.microsoft.com/office/drawing/2014/main" val="384909602"/>
                    </a:ext>
                  </a:extLst>
                </a:gridCol>
                <a:gridCol w="963375">
                  <a:extLst>
                    <a:ext uri="{9D8B030D-6E8A-4147-A177-3AD203B41FA5}">
                      <a16:colId xmlns:a16="http://schemas.microsoft.com/office/drawing/2014/main" val="449513181"/>
                    </a:ext>
                  </a:extLst>
                </a:gridCol>
              </a:tblGrid>
              <a:tr h="469377">
                <a:tc>
                  <a:txBody>
                    <a:bodyPr/>
                    <a:lstStyle/>
                    <a:p>
                      <a:pPr algn="ctr" fontAlgn="base"/>
                      <a:r>
                        <a:rPr lang="en-IN" sz="1250" b="1" dirty="0">
                          <a:effectLst/>
                        </a:rPr>
                        <a:t>ROLL_NO</a:t>
                      </a:r>
                    </a:p>
                  </a:txBody>
                  <a:tcPr marL="76200" marR="76200" marT="106680" marB="106680" anchor="ctr"/>
                </a:tc>
                <a:tc>
                  <a:txBody>
                    <a:bodyPr/>
                    <a:lstStyle/>
                    <a:p>
                      <a:pPr algn="ctr" fontAlgn="base"/>
                      <a:r>
                        <a:rPr lang="en-IN" sz="1250" b="1" dirty="0">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2159006544"/>
                  </a:ext>
                </a:extLst>
              </a:tr>
              <a:tr h="469377">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1704089302"/>
                  </a:ext>
                </a:extLst>
              </a:tr>
              <a:tr h="469377">
                <a:tc>
                  <a:txBody>
                    <a:bodyPr/>
                    <a:lstStyle/>
                    <a:p>
                      <a:pPr algn="ctr" fontAlgn="base"/>
                      <a:r>
                        <a:rPr lang="en-IN" sz="1250" b="1" dirty="0">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3628182359"/>
                  </a:ext>
                </a:extLst>
              </a:tr>
              <a:tr h="469377">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dirty="0">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a:effectLst/>
                        </a:rPr>
                        <a:t>20</a:t>
                      </a:r>
                    </a:p>
                  </a:txBody>
                  <a:tcPr marL="76200" marR="76200" marT="106680" marB="106680" anchor="ctr"/>
                </a:tc>
                <a:extLst>
                  <a:ext uri="{0D108BD9-81ED-4DB2-BD59-A6C34878D82A}">
                    <a16:rowId xmlns:a16="http://schemas.microsoft.com/office/drawing/2014/main" val="1407954671"/>
                  </a:ext>
                </a:extLst>
              </a:tr>
              <a:tr h="469377">
                <a:tc>
                  <a:txBody>
                    <a:bodyPr/>
                    <a:lstStyle/>
                    <a:p>
                      <a:pPr algn="ctr" fontAlgn="base"/>
                      <a:r>
                        <a:rPr lang="en-IN" sz="1250" b="1" dirty="0">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3151996180"/>
                  </a:ext>
                </a:extLst>
              </a:tr>
            </a:tbl>
          </a:graphicData>
        </a:graphic>
      </p:graphicFrame>
      <p:sp>
        <p:nvSpPr>
          <p:cNvPr id="8" name="TextBox 7">
            <a:extLst>
              <a:ext uri="{FF2B5EF4-FFF2-40B4-BE49-F238E27FC236}">
                <a16:creationId xmlns:a16="http://schemas.microsoft.com/office/drawing/2014/main" id="{6C55FA25-80EC-422C-A02D-8B561DDE9DDD}"/>
              </a:ext>
            </a:extLst>
          </p:cNvPr>
          <p:cNvSpPr txBox="1"/>
          <p:nvPr/>
        </p:nvSpPr>
        <p:spPr>
          <a:xfrm>
            <a:off x="4121460" y="2227565"/>
            <a:ext cx="1071979" cy="369332"/>
          </a:xfrm>
          <a:prstGeom prst="rect">
            <a:avLst/>
          </a:prstGeom>
          <a:noFill/>
        </p:spPr>
        <p:txBody>
          <a:bodyPr wrap="square">
            <a:spAutoFit/>
          </a:bodyPr>
          <a:lstStyle/>
          <a:p>
            <a:r>
              <a:rPr lang="en-IN" b="1" i="0" dirty="0">
                <a:solidFill>
                  <a:srgbClr val="273239"/>
                </a:solidFill>
                <a:effectLst/>
                <a:latin typeface="urw-din"/>
              </a:rPr>
              <a:t>STUDENT</a:t>
            </a:r>
            <a:endParaRPr lang="en-IN" dirty="0"/>
          </a:p>
        </p:txBody>
      </p:sp>
      <p:graphicFrame>
        <p:nvGraphicFramePr>
          <p:cNvPr id="9" name="Table 8">
            <a:extLst>
              <a:ext uri="{FF2B5EF4-FFF2-40B4-BE49-F238E27FC236}">
                <a16:creationId xmlns:a16="http://schemas.microsoft.com/office/drawing/2014/main" id="{23BA5BED-391B-42D1-84C3-0E9C3A057061}"/>
              </a:ext>
            </a:extLst>
          </p:cNvPr>
          <p:cNvGraphicFramePr>
            <a:graphicFrameLocks noGrp="1"/>
          </p:cNvGraphicFramePr>
          <p:nvPr>
            <p:extLst>
              <p:ext uri="{D42A27DB-BD31-4B8C-83A1-F6EECF244321}">
                <p14:modId xmlns:p14="http://schemas.microsoft.com/office/powerpoint/2010/main" val="831928283"/>
              </p:ext>
            </p:extLst>
          </p:nvPr>
        </p:nvGraphicFramePr>
        <p:xfrm>
          <a:off x="6889690" y="2552509"/>
          <a:ext cx="5228330" cy="2346885"/>
        </p:xfrm>
        <a:graphic>
          <a:graphicData uri="http://schemas.openxmlformats.org/drawingml/2006/table">
            <a:tbl>
              <a:tblPr firstRow="1" bandRow="1">
                <a:tableStyleId>{5C22544A-7EE6-4342-B048-85BDC9FD1C3A}</a:tableStyleId>
              </a:tblPr>
              <a:tblGrid>
                <a:gridCol w="1045666">
                  <a:extLst>
                    <a:ext uri="{9D8B030D-6E8A-4147-A177-3AD203B41FA5}">
                      <a16:colId xmlns:a16="http://schemas.microsoft.com/office/drawing/2014/main" val="4262371446"/>
                    </a:ext>
                  </a:extLst>
                </a:gridCol>
                <a:gridCol w="1045666">
                  <a:extLst>
                    <a:ext uri="{9D8B030D-6E8A-4147-A177-3AD203B41FA5}">
                      <a16:colId xmlns:a16="http://schemas.microsoft.com/office/drawing/2014/main" val="2964771172"/>
                    </a:ext>
                  </a:extLst>
                </a:gridCol>
                <a:gridCol w="1045666">
                  <a:extLst>
                    <a:ext uri="{9D8B030D-6E8A-4147-A177-3AD203B41FA5}">
                      <a16:colId xmlns:a16="http://schemas.microsoft.com/office/drawing/2014/main" val="2336443426"/>
                    </a:ext>
                  </a:extLst>
                </a:gridCol>
                <a:gridCol w="1045666">
                  <a:extLst>
                    <a:ext uri="{9D8B030D-6E8A-4147-A177-3AD203B41FA5}">
                      <a16:colId xmlns:a16="http://schemas.microsoft.com/office/drawing/2014/main" val="2744128259"/>
                    </a:ext>
                  </a:extLst>
                </a:gridCol>
                <a:gridCol w="1045666">
                  <a:extLst>
                    <a:ext uri="{9D8B030D-6E8A-4147-A177-3AD203B41FA5}">
                      <a16:colId xmlns:a16="http://schemas.microsoft.com/office/drawing/2014/main" val="1516603564"/>
                    </a:ext>
                  </a:extLst>
                </a:gridCol>
              </a:tblGrid>
              <a:tr h="469377">
                <a:tc>
                  <a:txBody>
                    <a:bodyPr/>
                    <a:lstStyle/>
                    <a:p>
                      <a:pPr algn="ctr" fontAlgn="base"/>
                      <a:r>
                        <a:rPr lang="en-IN" sz="1250" b="1">
                          <a:effectLst/>
                        </a:rPr>
                        <a:t>EMP_NO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1831073401"/>
                  </a:ext>
                </a:extLst>
              </a:tr>
              <a:tr h="469377">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363713498"/>
                  </a:ext>
                </a:extLst>
              </a:tr>
              <a:tr h="469377">
                <a:tc>
                  <a:txBody>
                    <a:bodyPr/>
                    <a:lstStyle/>
                    <a:p>
                      <a:pPr algn="ctr" fontAlgn="base"/>
                      <a:r>
                        <a:rPr lang="en-IN" sz="1250" b="1">
                          <a:effectLst/>
                        </a:rPr>
                        <a:t>5</a:t>
                      </a:r>
                    </a:p>
                  </a:txBody>
                  <a:tcPr marL="76200" marR="76200" marT="106680" marB="106680" anchor="ctr"/>
                </a:tc>
                <a:tc>
                  <a:txBody>
                    <a:bodyPr/>
                    <a:lstStyle/>
                    <a:p>
                      <a:pPr algn="ctr" fontAlgn="base"/>
                      <a:r>
                        <a:rPr lang="en-IN" sz="1250" b="1">
                          <a:effectLst/>
                        </a:rPr>
                        <a:t>NARESH</a:t>
                      </a:r>
                    </a:p>
                  </a:txBody>
                  <a:tcPr marL="76200" marR="76200" marT="106680" marB="106680" anchor="ctr"/>
                </a:tc>
                <a:tc>
                  <a:txBody>
                    <a:bodyPr/>
                    <a:lstStyle/>
                    <a:p>
                      <a:pPr algn="ctr" fontAlgn="base"/>
                      <a:r>
                        <a:rPr lang="en-IN" sz="1250" b="1">
                          <a:effectLst/>
                        </a:rPr>
                        <a:t>HISAR</a:t>
                      </a:r>
                    </a:p>
                  </a:txBody>
                  <a:tcPr marL="76200" marR="76200" marT="106680" marB="106680" anchor="ctr"/>
                </a:tc>
                <a:tc>
                  <a:txBody>
                    <a:bodyPr/>
                    <a:lstStyle/>
                    <a:p>
                      <a:pPr algn="ctr" fontAlgn="base"/>
                      <a:r>
                        <a:rPr lang="en-IN" sz="1250" b="1">
                          <a:effectLst/>
                        </a:rPr>
                        <a:t>9782918192</a:t>
                      </a:r>
                    </a:p>
                  </a:txBody>
                  <a:tcPr marL="76200" marR="76200" marT="106680" marB="106680" anchor="ctr"/>
                </a:tc>
                <a:tc>
                  <a:txBody>
                    <a:bodyPr/>
                    <a:lstStyle/>
                    <a:p>
                      <a:pPr algn="ctr" fontAlgn="base"/>
                      <a:r>
                        <a:rPr lang="en-IN" sz="1250" b="1">
                          <a:effectLst/>
                        </a:rPr>
                        <a:t>22</a:t>
                      </a:r>
                    </a:p>
                  </a:txBody>
                  <a:tcPr marL="76200" marR="76200" marT="106680" marB="106680" anchor="ctr"/>
                </a:tc>
                <a:extLst>
                  <a:ext uri="{0D108BD9-81ED-4DB2-BD59-A6C34878D82A}">
                    <a16:rowId xmlns:a16="http://schemas.microsoft.com/office/drawing/2014/main" val="902947204"/>
                  </a:ext>
                </a:extLst>
              </a:tr>
              <a:tr h="469377">
                <a:tc>
                  <a:txBody>
                    <a:bodyPr/>
                    <a:lstStyle/>
                    <a:p>
                      <a:pPr algn="ctr" fontAlgn="base"/>
                      <a:r>
                        <a:rPr lang="en-IN" sz="1250" b="1">
                          <a:effectLst/>
                        </a:rPr>
                        <a:t>6</a:t>
                      </a:r>
                    </a:p>
                  </a:txBody>
                  <a:tcPr marL="76200" marR="76200" marT="106680" marB="106680" anchor="ctr"/>
                </a:tc>
                <a:tc>
                  <a:txBody>
                    <a:bodyPr/>
                    <a:lstStyle/>
                    <a:p>
                      <a:pPr algn="ctr" fontAlgn="base"/>
                      <a:r>
                        <a:rPr lang="en-IN" sz="1250" b="1">
                          <a:effectLst/>
                        </a:rPr>
                        <a:t>SWETA</a:t>
                      </a:r>
                    </a:p>
                  </a:txBody>
                  <a:tcPr marL="76200" marR="76200" marT="106680" marB="106680" anchor="ctr"/>
                </a:tc>
                <a:tc>
                  <a:txBody>
                    <a:bodyPr/>
                    <a:lstStyle/>
                    <a:p>
                      <a:pPr algn="ctr" fontAlgn="base"/>
                      <a:r>
                        <a:rPr lang="en-IN" sz="1250" b="1">
                          <a:effectLst/>
                        </a:rPr>
                        <a:t>RANCHI</a:t>
                      </a:r>
                    </a:p>
                  </a:txBody>
                  <a:tcPr marL="76200" marR="76200" marT="106680" marB="106680" anchor="ctr"/>
                </a:tc>
                <a:tc>
                  <a:txBody>
                    <a:bodyPr/>
                    <a:lstStyle/>
                    <a:p>
                      <a:pPr algn="ctr" fontAlgn="base"/>
                      <a:r>
                        <a:rPr lang="en-IN" sz="1250" b="1">
                          <a:effectLst/>
                        </a:rPr>
                        <a:t>9852617621</a:t>
                      </a:r>
                    </a:p>
                  </a:txBody>
                  <a:tcPr marL="76200" marR="76200" marT="106680" marB="106680" anchor="ctr"/>
                </a:tc>
                <a:tc>
                  <a:txBody>
                    <a:bodyPr/>
                    <a:lstStyle/>
                    <a:p>
                      <a:pPr algn="ctr" fontAlgn="base"/>
                      <a:r>
                        <a:rPr lang="en-IN" sz="1250" b="1">
                          <a:effectLst/>
                        </a:rPr>
                        <a:t>21</a:t>
                      </a:r>
                    </a:p>
                  </a:txBody>
                  <a:tcPr marL="76200" marR="76200" marT="106680" marB="106680" anchor="ctr"/>
                </a:tc>
                <a:extLst>
                  <a:ext uri="{0D108BD9-81ED-4DB2-BD59-A6C34878D82A}">
                    <a16:rowId xmlns:a16="http://schemas.microsoft.com/office/drawing/2014/main" val="2889671715"/>
                  </a:ext>
                </a:extLst>
              </a:tr>
              <a:tr h="469377">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1625343975"/>
                  </a:ext>
                </a:extLst>
              </a:tr>
            </a:tbl>
          </a:graphicData>
        </a:graphic>
      </p:graphicFrame>
      <p:sp>
        <p:nvSpPr>
          <p:cNvPr id="10" name="TextBox 9">
            <a:extLst>
              <a:ext uri="{FF2B5EF4-FFF2-40B4-BE49-F238E27FC236}">
                <a16:creationId xmlns:a16="http://schemas.microsoft.com/office/drawing/2014/main" id="{4BCEE592-12CD-483E-920C-1525B6967E42}"/>
              </a:ext>
            </a:extLst>
          </p:cNvPr>
          <p:cNvSpPr txBox="1"/>
          <p:nvPr/>
        </p:nvSpPr>
        <p:spPr>
          <a:xfrm>
            <a:off x="8888767" y="2056582"/>
            <a:ext cx="1302798" cy="369332"/>
          </a:xfrm>
          <a:prstGeom prst="rect">
            <a:avLst/>
          </a:prstGeom>
          <a:noFill/>
        </p:spPr>
        <p:txBody>
          <a:bodyPr wrap="square">
            <a:spAutoFit/>
          </a:bodyPr>
          <a:lstStyle/>
          <a:p>
            <a:r>
              <a:rPr lang="en-IN" b="1" i="0" dirty="0">
                <a:solidFill>
                  <a:srgbClr val="273239"/>
                </a:solidFill>
                <a:effectLst/>
                <a:latin typeface="urw-din"/>
              </a:rPr>
              <a:t>EMPLOYEE </a:t>
            </a:r>
            <a:endParaRPr lang="en-IN" dirty="0"/>
          </a:p>
        </p:txBody>
      </p:sp>
      <p:sp>
        <p:nvSpPr>
          <p:cNvPr id="11" name="Rectangle 1">
            <a:extLst>
              <a:ext uri="{FF2B5EF4-FFF2-40B4-BE49-F238E27FC236}">
                <a16:creationId xmlns:a16="http://schemas.microsoft.com/office/drawing/2014/main" id="{10A53BD1-3F1B-44D9-B734-BDBAAC54C58B}"/>
              </a:ext>
            </a:extLst>
          </p:cNvPr>
          <p:cNvSpPr>
            <a:spLocks noChangeArrowheads="1"/>
          </p:cNvSpPr>
          <p:nvPr/>
        </p:nvSpPr>
        <p:spPr bwMode="auto">
          <a:xfrm>
            <a:off x="2760955" y="5246262"/>
            <a:ext cx="711101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73239"/>
                </a:solidFill>
                <a:effectLst/>
                <a:latin typeface="Consolas" panose="020B0609020204030204" pitchFamily="49" charset="0"/>
              </a:rPr>
              <a:t>STUDENT   </a:t>
            </a:r>
            <a:r>
              <a:rPr kumimoji="0" lang="en-US" altLang="en-US" sz="2400" b="1" i="0" u="none" strike="noStrike" cap="none" normalizeH="0" baseline="-30000" dirty="0">
                <a:ln>
                  <a:noFill/>
                </a:ln>
                <a:solidFill>
                  <a:srgbClr val="273239"/>
                </a:solidFill>
                <a:effectLst/>
                <a:latin typeface="Consolas" panose="020B0609020204030204" pitchFamily="49" charset="0"/>
              </a:rPr>
              <a:t>STUDENT.ROLL_NO&gt;EMPLOYEE.EMP_NO</a:t>
            </a:r>
            <a:r>
              <a:rPr kumimoji="0" lang="en-US" altLang="en-US" sz="2400" b="1" i="0" u="none" strike="noStrike" cap="none" normalizeH="0" baseline="0" dirty="0">
                <a:ln>
                  <a:noFill/>
                </a:ln>
                <a:solidFill>
                  <a:srgbClr val="273239"/>
                </a:solidFill>
                <a:effectLst/>
                <a:latin typeface="Consolas" panose="020B0609020204030204" pitchFamily="49" charset="0"/>
              </a:rPr>
              <a:t>EMPLOYEE</a:t>
            </a:r>
            <a:r>
              <a:rPr kumimoji="0" lang="en-US" altLang="en-US" sz="24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12" name="Picture 6">
            <a:extLst>
              <a:ext uri="{FF2B5EF4-FFF2-40B4-BE49-F238E27FC236}">
                <a16:creationId xmlns:a16="http://schemas.microsoft.com/office/drawing/2014/main" id="{01A61AEF-C1D1-44EF-8719-8B0F0F0B24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5644" y="5316636"/>
            <a:ext cx="348078" cy="232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52725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B1CE4B-8DDF-473A-B9B0-053CA3226172}"/>
              </a:ext>
            </a:extLst>
          </p:cNvPr>
          <p:cNvSpPr>
            <a:spLocks noGrp="1"/>
          </p:cNvSpPr>
          <p:nvPr>
            <p:ph idx="1"/>
          </p:nvPr>
        </p:nvSpPr>
        <p:spPr>
          <a:xfrm>
            <a:off x="1091953" y="985421"/>
            <a:ext cx="10937289" cy="5770486"/>
          </a:xfrm>
        </p:spPr>
        <p:txBody>
          <a:bodyPr/>
          <a:lstStyle/>
          <a:p>
            <a:pPr>
              <a:buFont typeface="Wingdings" panose="05000000000000000000" pitchFamily="2" charset="2"/>
              <a:buChar char="q"/>
            </a:pPr>
            <a:r>
              <a:rPr lang="en-IN" b="1" dirty="0"/>
              <a:t>Result</a:t>
            </a:r>
          </a:p>
        </p:txBody>
      </p:sp>
      <p:sp>
        <p:nvSpPr>
          <p:cNvPr id="4" name="Title 1">
            <a:extLst>
              <a:ext uri="{FF2B5EF4-FFF2-40B4-BE49-F238E27FC236}">
                <a16:creationId xmlns:a16="http://schemas.microsoft.com/office/drawing/2014/main" id="{23D0AC4F-5DBB-42AD-9686-E7ACF95C692B}"/>
              </a:ext>
            </a:extLst>
          </p:cNvPr>
          <p:cNvSpPr>
            <a:spLocks noGrp="1"/>
          </p:cNvSpPr>
          <p:nvPr>
            <p:ph type="title"/>
          </p:nvPr>
        </p:nvSpPr>
        <p:spPr>
          <a:xfrm>
            <a:off x="838200" y="18892"/>
            <a:ext cx="10515600" cy="1090818"/>
          </a:xfrm>
        </p:spPr>
        <p:txBody>
          <a:bodyPr/>
          <a:lstStyle/>
          <a:p>
            <a:pPr algn="ctr"/>
            <a:r>
              <a:rPr lang="en-IN" b="1" dirty="0">
                <a:solidFill>
                  <a:schemeClr val="accent4">
                    <a:lumMod val="50000"/>
                  </a:schemeClr>
                </a:solidFill>
              </a:rPr>
              <a:t>Left outer join</a:t>
            </a:r>
          </a:p>
        </p:txBody>
      </p:sp>
      <p:graphicFrame>
        <p:nvGraphicFramePr>
          <p:cNvPr id="5" name="Table 5">
            <a:extLst>
              <a:ext uri="{FF2B5EF4-FFF2-40B4-BE49-F238E27FC236}">
                <a16:creationId xmlns:a16="http://schemas.microsoft.com/office/drawing/2014/main" id="{FF400B3F-537E-4BF8-83EB-4CD5925A2A3F}"/>
              </a:ext>
            </a:extLst>
          </p:cNvPr>
          <p:cNvGraphicFramePr>
            <a:graphicFrameLocks noGrp="1"/>
          </p:cNvGraphicFramePr>
          <p:nvPr>
            <p:extLst>
              <p:ext uri="{D42A27DB-BD31-4B8C-83A1-F6EECF244321}">
                <p14:modId xmlns:p14="http://schemas.microsoft.com/office/powerpoint/2010/main" val="3764812731"/>
              </p:ext>
            </p:extLst>
          </p:nvPr>
        </p:nvGraphicFramePr>
        <p:xfrm>
          <a:off x="1313895" y="1998051"/>
          <a:ext cx="10182680" cy="2174455"/>
        </p:xfrm>
        <a:graphic>
          <a:graphicData uri="http://schemas.openxmlformats.org/drawingml/2006/table">
            <a:tbl>
              <a:tblPr firstRow="1" bandRow="1">
                <a:tableStyleId>{5C22544A-7EE6-4342-B048-85BDC9FD1C3A}</a:tableStyleId>
              </a:tblPr>
              <a:tblGrid>
                <a:gridCol w="1018268">
                  <a:extLst>
                    <a:ext uri="{9D8B030D-6E8A-4147-A177-3AD203B41FA5}">
                      <a16:colId xmlns:a16="http://schemas.microsoft.com/office/drawing/2014/main" val="121129466"/>
                    </a:ext>
                  </a:extLst>
                </a:gridCol>
                <a:gridCol w="1018268">
                  <a:extLst>
                    <a:ext uri="{9D8B030D-6E8A-4147-A177-3AD203B41FA5}">
                      <a16:colId xmlns:a16="http://schemas.microsoft.com/office/drawing/2014/main" val="405544034"/>
                    </a:ext>
                  </a:extLst>
                </a:gridCol>
                <a:gridCol w="1018268">
                  <a:extLst>
                    <a:ext uri="{9D8B030D-6E8A-4147-A177-3AD203B41FA5}">
                      <a16:colId xmlns:a16="http://schemas.microsoft.com/office/drawing/2014/main" val="90585168"/>
                    </a:ext>
                  </a:extLst>
                </a:gridCol>
                <a:gridCol w="1018268">
                  <a:extLst>
                    <a:ext uri="{9D8B030D-6E8A-4147-A177-3AD203B41FA5}">
                      <a16:colId xmlns:a16="http://schemas.microsoft.com/office/drawing/2014/main" val="1722542055"/>
                    </a:ext>
                  </a:extLst>
                </a:gridCol>
                <a:gridCol w="1018268">
                  <a:extLst>
                    <a:ext uri="{9D8B030D-6E8A-4147-A177-3AD203B41FA5}">
                      <a16:colId xmlns:a16="http://schemas.microsoft.com/office/drawing/2014/main" val="2453424759"/>
                    </a:ext>
                  </a:extLst>
                </a:gridCol>
                <a:gridCol w="1018268">
                  <a:extLst>
                    <a:ext uri="{9D8B030D-6E8A-4147-A177-3AD203B41FA5}">
                      <a16:colId xmlns:a16="http://schemas.microsoft.com/office/drawing/2014/main" val="3002322380"/>
                    </a:ext>
                  </a:extLst>
                </a:gridCol>
                <a:gridCol w="1018268">
                  <a:extLst>
                    <a:ext uri="{9D8B030D-6E8A-4147-A177-3AD203B41FA5}">
                      <a16:colId xmlns:a16="http://schemas.microsoft.com/office/drawing/2014/main" val="3664333154"/>
                    </a:ext>
                  </a:extLst>
                </a:gridCol>
                <a:gridCol w="1018268">
                  <a:extLst>
                    <a:ext uri="{9D8B030D-6E8A-4147-A177-3AD203B41FA5}">
                      <a16:colId xmlns:a16="http://schemas.microsoft.com/office/drawing/2014/main" val="3753090531"/>
                    </a:ext>
                  </a:extLst>
                </a:gridCol>
                <a:gridCol w="1018268">
                  <a:extLst>
                    <a:ext uri="{9D8B030D-6E8A-4147-A177-3AD203B41FA5}">
                      <a16:colId xmlns:a16="http://schemas.microsoft.com/office/drawing/2014/main" val="3476816169"/>
                    </a:ext>
                  </a:extLst>
                </a:gridCol>
                <a:gridCol w="1018268">
                  <a:extLst>
                    <a:ext uri="{9D8B030D-6E8A-4147-A177-3AD203B41FA5}">
                      <a16:colId xmlns:a16="http://schemas.microsoft.com/office/drawing/2014/main" val="1530540423"/>
                    </a:ext>
                  </a:extLst>
                </a:gridCol>
              </a:tblGrid>
              <a:tr h="434891">
                <a:tc>
                  <a:txBody>
                    <a:bodyPr/>
                    <a:lstStyle/>
                    <a:p>
                      <a:pPr algn="ctr" fontAlgn="base"/>
                      <a:r>
                        <a:rPr lang="en-IN" sz="1250" b="1">
                          <a:effectLst/>
                        </a:rPr>
                        <a:t>ROLL_NO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tc>
                  <a:txBody>
                    <a:bodyPr/>
                    <a:lstStyle/>
                    <a:p>
                      <a:pPr algn="ctr" fontAlgn="base"/>
                      <a:r>
                        <a:rPr lang="en-IN" sz="1250" b="1">
                          <a:effectLst/>
                        </a:rPr>
                        <a:t>EMP_NO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1936231267"/>
                  </a:ext>
                </a:extLst>
              </a:tr>
              <a:tr h="434891">
                <a:tc>
                  <a:txBody>
                    <a:bodyPr/>
                    <a:lstStyle/>
                    <a:p>
                      <a:pPr algn="ctr" fontAlgn="base"/>
                      <a:r>
                        <a:rPr lang="en-IN" sz="1250" b="1">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3712439398"/>
                  </a:ext>
                </a:extLst>
              </a:tr>
              <a:tr h="434891">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a:effectLst/>
                        </a:rPr>
                        <a:t>20</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854262957"/>
                  </a:ext>
                </a:extLst>
              </a:tr>
              <a:tr h="434891">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1449365779"/>
                  </a:ext>
                </a:extLst>
              </a:tr>
              <a:tr h="434891">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dirty="0">
                          <a:effectLst/>
                        </a:rPr>
                        <a:t>NULL</a:t>
                      </a:r>
                    </a:p>
                  </a:txBody>
                  <a:tcPr marL="76200" marR="76200" marT="106680" marB="106680" anchor="ctr"/>
                </a:tc>
                <a:extLst>
                  <a:ext uri="{0D108BD9-81ED-4DB2-BD59-A6C34878D82A}">
                    <a16:rowId xmlns:a16="http://schemas.microsoft.com/office/drawing/2014/main" val="261471363"/>
                  </a:ext>
                </a:extLst>
              </a:tr>
            </a:tbl>
          </a:graphicData>
        </a:graphic>
      </p:graphicFrame>
    </p:spTree>
    <p:extLst>
      <p:ext uri="{BB962C8B-B14F-4D97-AF65-F5344CB8AC3E}">
        <p14:creationId xmlns:p14="http://schemas.microsoft.com/office/powerpoint/2010/main" val="37102272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CDE5E-2CC8-43BF-B687-2BA47F6D7FE4}"/>
              </a:ext>
            </a:extLst>
          </p:cNvPr>
          <p:cNvSpPr>
            <a:spLocks noGrp="1"/>
          </p:cNvSpPr>
          <p:nvPr>
            <p:ph type="title"/>
          </p:nvPr>
        </p:nvSpPr>
        <p:spPr>
          <a:xfrm>
            <a:off x="838200" y="18894"/>
            <a:ext cx="10515600" cy="1090815"/>
          </a:xfrm>
        </p:spPr>
        <p:txBody>
          <a:bodyPr/>
          <a:lstStyle/>
          <a:p>
            <a:pPr algn="ctr"/>
            <a:r>
              <a:rPr lang="en-IN" b="1" dirty="0">
                <a:solidFill>
                  <a:schemeClr val="accent4">
                    <a:lumMod val="50000"/>
                  </a:schemeClr>
                </a:solidFill>
              </a:rPr>
              <a:t>Right Outer Join</a:t>
            </a:r>
          </a:p>
        </p:txBody>
      </p:sp>
      <p:sp>
        <p:nvSpPr>
          <p:cNvPr id="3" name="Content Placeholder 2">
            <a:extLst>
              <a:ext uri="{FF2B5EF4-FFF2-40B4-BE49-F238E27FC236}">
                <a16:creationId xmlns:a16="http://schemas.microsoft.com/office/drawing/2014/main" id="{CB97F03B-D4CD-40F9-8776-1E9C3E07A21E}"/>
              </a:ext>
            </a:extLst>
          </p:cNvPr>
          <p:cNvSpPr>
            <a:spLocks noGrp="1"/>
          </p:cNvSpPr>
          <p:nvPr>
            <p:ph idx="1"/>
          </p:nvPr>
        </p:nvSpPr>
        <p:spPr>
          <a:xfrm>
            <a:off x="1180730" y="949910"/>
            <a:ext cx="10910656" cy="5814873"/>
          </a:xfrm>
        </p:spPr>
        <p:txBody>
          <a:bodyPr/>
          <a:lstStyle/>
          <a:p>
            <a:pPr>
              <a:buFont typeface="Wingdings" panose="05000000000000000000" pitchFamily="2" charset="2"/>
              <a:buChar char="q"/>
            </a:pPr>
            <a:r>
              <a:rPr lang="en-IN" dirty="0"/>
              <a:t>Operation allows keeping all tuple in the right relation.</a:t>
            </a:r>
          </a:p>
          <a:p>
            <a:pPr>
              <a:buFont typeface="Wingdings" panose="05000000000000000000" pitchFamily="2" charset="2"/>
              <a:buChar char="q"/>
            </a:pPr>
            <a:r>
              <a:rPr lang="en-IN" b="0" i="0" dirty="0">
                <a:solidFill>
                  <a:srgbClr val="222222"/>
                </a:solidFill>
                <a:effectLst/>
                <a:latin typeface="Source Sans Pro" panose="020B0503030403020204" pitchFamily="34" charset="0"/>
              </a:rPr>
              <a:t> If there is no matching tuple is found in the left relation, then attributes of left relation in join result are filled with null values.</a:t>
            </a:r>
          </a:p>
          <a:p>
            <a:pPr>
              <a:buFont typeface="Wingdings" panose="05000000000000000000" pitchFamily="2" charset="2"/>
              <a:buChar char="q"/>
            </a:pPr>
            <a:endParaRPr lang="en-IN" dirty="0">
              <a:solidFill>
                <a:srgbClr val="222222"/>
              </a:solidFill>
              <a:latin typeface="Source Sans Pro" panose="020B0503030403020204" pitchFamily="34" charset="0"/>
            </a:endParaRPr>
          </a:p>
          <a:p>
            <a:pPr>
              <a:buFont typeface="Wingdings" panose="05000000000000000000" pitchFamily="2" charset="2"/>
              <a:buChar char="q"/>
            </a:pPr>
            <a:endParaRPr lang="en-IN" dirty="0">
              <a:solidFill>
                <a:srgbClr val="222222"/>
              </a:solidFill>
              <a:latin typeface="Source Sans Pro" panose="020B0503030403020204" pitchFamily="34" charset="0"/>
            </a:endParaRPr>
          </a:p>
          <a:p>
            <a:pPr>
              <a:buFont typeface="Wingdings" panose="05000000000000000000" pitchFamily="2" charset="2"/>
              <a:buChar char="q"/>
            </a:pPr>
            <a:endParaRPr lang="en-IN" dirty="0">
              <a:solidFill>
                <a:srgbClr val="222222"/>
              </a:solidFill>
              <a:latin typeface="Source Sans Pro" panose="020B0503030403020204" pitchFamily="34" charset="0"/>
            </a:endParaRPr>
          </a:p>
          <a:p>
            <a:pPr>
              <a:buFont typeface="Wingdings" panose="05000000000000000000" pitchFamily="2" charset="2"/>
              <a:buChar char="q"/>
            </a:pPr>
            <a:r>
              <a:rPr lang="en-IN" b="0" i="0" dirty="0">
                <a:solidFill>
                  <a:srgbClr val="273239"/>
                </a:solidFill>
                <a:effectLst/>
                <a:latin typeface="urw-din"/>
              </a:rPr>
              <a:t>If we are applying right outer join on two relations A and B, it gives all tuples of B in the result set.</a:t>
            </a:r>
          </a:p>
          <a:p>
            <a:pPr>
              <a:buFont typeface="Wingdings" panose="05000000000000000000" pitchFamily="2" charset="2"/>
              <a:buChar char="q"/>
            </a:pPr>
            <a:r>
              <a:rPr lang="en-IN" b="0" i="0" dirty="0">
                <a:solidFill>
                  <a:srgbClr val="000000"/>
                </a:solidFill>
                <a:effectLst/>
                <a:latin typeface="Arial" panose="020B0604020202020204" pitchFamily="34" charset="0"/>
              </a:rPr>
              <a:t>If there are tuples in B without any matching tuple in A, then A-attributes of resulting relation are made NULL.</a:t>
            </a:r>
          </a:p>
          <a:p>
            <a:pPr>
              <a:buFont typeface="Wingdings" panose="05000000000000000000" pitchFamily="2" charset="2"/>
              <a:buChar char="q"/>
            </a:pPr>
            <a:r>
              <a:rPr lang="en-IN" dirty="0">
                <a:solidFill>
                  <a:srgbClr val="000000"/>
                </a:solidFill>
                <a:latin typeface="Arial" panose="020B0604020202020204" pitchFamily="34" charset="0"/>
              </a:rPr>
              <a:t>Notation: A    B</a:t>
            </a:r>
            <a:endParaRPr lang="en-IN" dirty="0"/>
          </a:p>
        </p:txBody>
      </p:sp>
      <p:pic>
        <p:nvPicPr>
          <p:cNvPr id="1026" name="Picture 2">
            <a:extLst>
              <a:ext uri="{FF2B5EF4-FFF2-40B4-BE49-F238E27FC236}">
                <a16:creationId xmlns:a16="http://schemas.microsoft.com/office/drawing/2014/main" id="{24F3CF68-20E1-478D-9A5C-4C640D911D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4725" y="2533371"/>
            <a:ext cx="5162550" cy="13239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AF07DEF-D4B4-4663-B1CC-E7B7377E0358}"/>
              </a:ext>
            </a:extLst>
          </p:cNvPr>
          <p:cNvSpPr>
            <a:spLocks noChangeArrowheads="1"/>
          </p:cNvSpPr>
          <p:nvPr/>
        </p:nvSpPr>
        <p:spPr bwMode="auto">
          <a:xfrm>
            <a:off x="3217323" y="5657135"/>
            <a:ext cx="57704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73239"/>
                </a:solidFill>
                <a:effectLst/>
                <a:latin typeface="Consolas" panose="020B0609020204030204" pitchFamily="49" charset="0"/>
              </a:rPr>
              <a:t>⟖</a:t>
            </a:r>
            <a:r>
              <a:rPr kumimoji="0" lang="en-US" altLang="en-US" sz="28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53764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6C6E80-44B9-46D3-9719-5DE6128A7C64}"/>
              </a:ext>
            </a:extLst>
          </p:cNvPr>
          <p:cNvSpPr>
            <a:spLocks noGrp="1"/>
          </p:cNvSpPr>
          <p:nvPr>
            <p:ph idx="1"/>
          </p:nvPr>
        </p:nvSpPr>
        <p:spPr>
          <a:xfrm>
            <a:off x="1091952" y="967666"/>
            <a:ext cx="10963923" cy="5779363"/>
          </a:xfrm>
        </p:spPr>
        <p:txBody>
          <a:bodyPr/>
          <a:lstStyle/>
          <a:p>
            <a:pPr>
              <a:buFont typeface="Wingdings" panose="05000000000000000000" pitchFamily="2" charset="2"/>
              <a:buChar char="q"/>
            </a:pPr>
            <a:r>
              <a:rPr lang="en-IN" b="1" dirty="0"/>
              <a:t>Example</a:t>
            </a:r>
          </a:p>
        </p:txBody>
      </p:sp>
      <p:sp>
        <p:nvSpPr>
          <p:cNvPr id="4" name="Title 1">
            <a:extLst>
              <a:ext uri="{FF2B5EF4-FFF2-40B4-BE49-F238E27FC236}">
                <a16:creationId xmlns:a16="http://schemas.microsoft.com/office/drawing/2014/main" id="{03336751-35E1-450B-B0A1-8CF6B3AC7A4C}"/>
              </a:ext>
            </a:extLst>
          </p:cNvPr>
          <p:cNvSpPr>
            <a:spLocks noGrp="1"/>
          </p:cNvSpPr>
          <p:nvPr>
            <p:ph type="title"/>
          </p:nvPr>
        </p:nvSpPr>
        <p:spPr>
          <a:xfrm>
            <a:off x="838200" y="18894"/>
            <a:ext cx="10515600" cy="1090815"/>
          </a:xfrm>
        </p:spPr>
        <p:txBody>
          <a:bodyPr/>
          <a:lstStyle/>
          <a:p>
            <a:pPr algn="ctr"/>
            <a:r>
              <a:rPr lang="en-IN" b="1" dirty="0">
                <a:solidFill>
                  <a:schemeClr val="accent4">
                    <a:lumMod val="50000"/>
                  </a:schemeClr>
                </a:solidFill>
              </a:rPr>
              <a:t>Right Outer Join</a:t>
            </a:r>
          </a:p>
        </p:txBody>
      </p:sp>
      <p:sp>
        <p:nvSpPr>
          <p:cNvPr id="6" name="TextBox 5">
            <a:extLst>
              <a:ext uri="{FF2B5EF4-FFF2-40B4-BE49-F238E27FC236}">
                <a16:creationId xmlns:a16="http://schemas.microsoft.com/office/drawing/2014/main" id="{F7B138E0-BAD6-4364-948B-9C437AB488EE}"/>
              </a:ext>
            </a:extLst>
          </p:cNvPr>
          <p:cNvSpPr txBox="1"/>
          <p:nvPr/>
        </p:nvSpPr>
        <p:spPr>
          <a:xfrm>
            <a:off x="1422646" y="1458316"/>
            <a:ext cx="9772095" cy="1569660"/>
          </a:xfrm>
          <a:prstGeom prst="rect">
            <a:avLst/>
          </a:prstGeom>
          <a:noFill/>
        </p:spPr>
        <p:txBody>
          <a:bodyPr wrap="square">
            <a:spAutoFit/>
          </a:bodyPr>
          <a:lstStyle/>
          <a:p>
            <a:pPr algn="l" fontAlgn="base"/>
            <a:r>
              <a:rPr lang="en-IN" sz="2400" b="0" i="0" dirty="0">
                <a:solidFill>
                  <a:srgbClr val="273239"/>
                </a:solidFill>
                <a:effectLst/>
                <a:latin typeface="urw-din"/>
              </a:rPr>
              <a:t>Select students whose ROLL_NO is greater than EMP_NO of employees and details of other Employees as well.</a:t>
            </a:r>
          </a:p>
          <a:p>
            <a:br>
              <a:rPr lang="en-IN" sz="2400" dirty="0"/>
            </a:br>
            <a:endParaRPr lang="en-IN" sz="2400" dirty="0"/>
          </a:p>
        </p:txBody>
      </p:sp>
      <p:graphicFrame>
        <p:nvGraphicFramePr>
          <p:cNvPr id="7" name="Table 5">
            <a:extLst>
              <a:ext uri="{FF2B5EF4-FFF2-40B4-BE49-F238E27FC236}">
                <a16:creationId xmlns:a16="http://schemas.microsoft.com/office/drawing/2014/main" id="{E82196A0-353F-4F1A-A26C-F4149275A284}"/>
              </a:ext>
            </a:extLst>
          </p:cNvPr>
          <p:cNvGraphicFramePr>
            <a:graphicFrameLocks/>
          </p:cNvGraphicFramePr>
          <p:nvPr>
            <p:extLst>
              <p:ext uri="{D42A27DB-BD31-4B8C-83A1-F6EECF244321}">
                <p14:modId xmlns:p14="http://schemas.microsoft.com/office/powerpoint/2010/main" val="1399743667"/>
              </p:ext>
            </p:extLst>
          </p:nvPr>
        </p:nvGraphicFramePr>
        <p:xfrm>
          <a:off x="1592803" y="2606858"/>
          <a:ext cx="4816875" cy="2346885"/>
        </p:xfrm>
        <a:graphic>
          <a:graphicData uri="http://schemas.openxmlformats.org/drawingml/2006/table">
            <a:tbl>
              <a:tblPr firstRow="1" bandRow="1">
                <a:tableStyleId>{5C22544A-7EE6-4342-B048-85BDC9FD1C3A}</a:tableStyleId>
              </a:tblPr>
              <a:tblGrid>
                <a:gridCol w="963375">
                  <a:extLst>
                    <a:ext uri="{9D8B030D-6E8A-4147-A177-3AD203B41FA5}">
                      <a16:colId xmlns:a16="http://schemas.microsoft.com/office/drawing/2014/main" val="658835208"/>
                    </a:ext>
                  </a:extLst>
                </a:gridCol>
                <a:gridCol w="963375">
                  <a:extLst>
                    <a:ext uri="{9D8B030D-6E8A-4147-A177-3AD203B41FA5}">
                      <a16:colId xmlns:a16="http://schemas.microsoft.com/office/drawing/2014/main" val="1320520670"/>
                    </a:ext>
                  </a:extLst>
                </a:gridCol>
                <a:gridCol w="963375">
                  <a:extLst>
                    <a:ext uri="{9D8B030D-6E8A-4147-A177-3AD203B41FA5}">
                      <a16:colId xmlns:a16="http://schemas.microsoft.com/office/drawing/2014/main" val="84726451"/>
                    </a:ext>
                  </a:extLst>
                </a:gridCol>
                <a:gridCol w="963375">
                  <a:extLst>
                    <a:ext uri="{9D8B030D-6E8A-4147-A177-3AD203B41FA5}">
                      <a16:colId xmlns:a16="http://schemas.microsoft.com/office/drawing/2014/main" val="384909602"/>
                    </a:ext>
                  </a:extLst>
                </a:gridCol>
                <a:gridCol w="963375">
                  <a:extLst>
                    <a:ext uri="{9D8B030D-6E8A-4147-A177-3AD203B41FA5}">
                      <a16:colId xmlns:a16="http://schemas.microsoft.com/office/drawing/2014/main" val="449513181"/>
                    </a:ext>
                  </a:extLst>
                </a:gridCol>
              </a:tblGrid>
              <a:tr h="469377">
                <a:tc>
                  <a:txBody>
                    <a:bodyPr/>
                    <a:lstStyle/>
                    <a:p>
                      <a:pPr algn="ctr" fontAlgn="base"/>
                      <a:r>
                        <a:rPr lang="en-IN" sz="1250" b="1" dirty="0">
                          <a:effectLst/>
                        </a:rPr>
                        <a:t>ROLL_NO</a:t>
                      </a:r>
                    </a:p>
                  </a:txBody>
                  <a:tcPr marL="76200" marR="76200" marT="106680" marB="106680" anchor="ctr"/>
                </a:tc>
                <a:tc>
                  <a:txBody>
                    <a:bodyPr/>
                    <a:lstStyle/>
                    <a:p>
                      <a:pPr algn="ctr" fontAlgn="base"/>
                      <a:r>
                        <a:rPr lang="en-IN" sz="1250" b="1" dirty="0">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2159006544"/>
                  </a:ext>
                </a:extLst>
              </a:tr>
              <a:tr h="469377">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1704089302"/>
                  </a:ext>
                </a:extLst>
              </a:tr>
              <a:tr h="469377">
                <a:tc>
                  <a:txBody>
                    <a:bodyPr/>
                    <a:lstStyle/>
                    <a:p>
                      <a:pPr algn="ctr" fontAlgn="base"/>
                      <a:r>
                        <a:rPr lang="en-IN" sz="1250" b="1" dirty="0">
                          <a:effectLst/>
                        </a:rPr>
                        <a:t>2</a:t>
                      </a:r>
                    </a:p>
                  </a:txBody>
                  <a:tcPr marL="76200" marR="76200" marT="106680" marB="106680" anchor="ctr"/>
                </a:tc>
                <a:tc>
                  <a:txBody>
                    <a:bodyPr/>
                    <a:lstStyle/>
                    <a:p>
                      <a:pPr algn="ctr" fontAlgn="base"/>
                      <a:r>
                        <a:rPr lang="en-IN" sz="1250" b="1" dirty="0">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3628182359"/>
                  </a:ext>
                </a:extLst>
              </a:tr>
              <a:tr h="469377">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dirty="0">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a:effectLst/>
                        </a:rPr>
                        <a:t>20</a:t>
                      </a:r>
                    </a:p>
                  </a:txBody>
                  <a:tcPr marL="76200" marR="76200" marT="106680" marB="106680" anchor="ctr"/>
                </a:tc>
                <a:extLst>
                  <a:ext uri="{0D108BD9-81ED-4DB2-BD59-A6C34878D82A}">
                    <a16:rowId xmlns:a16="http://schemas.microsoft.com/office/drawing/2014/main" val="1407954671"/>
                  </a:ext>
                </a:extLst>
              </a:tr>
              <a:tr h="469377">
                <a:tc>
                  <a:txBody>
                    <a:bodyPr/>
                    <a:lstStyle/>
                    <a:p>
                      <a:pPr algn="ctr" fontAlgn="base"/>
                      <a:r>
                        <a:rPr lang="en-IN" sz="1250" b="1" dirty="0">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3151996180"/>
                  </a:ext>
                </a:extLst>
              </a:tr>
            </a:tbl>
          </a:graphicData>
        </a:graphic>
      </p:graphicFrame>
      <p:sp>
        <p:nvSpPr>
          <p:cNvPr id="8" name="TextBox 7">
            <a:extLst>
              <a:ext uri="{FF2B5EF4-FFF2-40B4-BE49-F238E27FC236}">
                <a16:creationId xmlns:a16="http://schemas.microsoft.com/office/drawing/2014/main" id="{194B4155-E7F4-4B6F-9F1F-0B2494F0CB01}"/>
              </a:ext>
            </a:extLst>
          </p:cNvPr>
          <p:cNvSpPr txBox="1"/>
          <p:nvPr/>
        </p:nvSpPr>
        <p:spPr>
          <a:xfrm>
            <a:off x="3855128" y="2236443"/>
            <a:ext cx="1071979" cy="369332"/>
          </a:xfrm>
          <a:prstGeom prst="rect">
            <a:avLst/>
          </a:prstGeom>
          <a:noFill/>
        </p:spPr>
        <p:txBody>
          <a:bodyPr wrap="square">
            <a:spAutoFit/>
          </a:bodyPr>
          <a:lstStyle/>
          <a:p>
            <a:r>
              <a:rPr lang="en-IN" b="1" i="0" dirty="0">
                <a:solidFill>
                  <a:srgbClr val="273239"/>
                </a:solidFill>
                <a:effectLst/>
                <a:latin typeface="urw-din"/>
              </a:rPr>
              <a:t>STUDENT</a:t>
            </a:r>
            <a:endParaRPr lang="en-IN" dirty="0"/>
          </a:p>
        </p:txBody>
      </p:sp>
      <p:graphicFrame>
        <p:nvGraphicFramePr>
          <p:cNvPr id="9" name="Table 8">
            <a:extLst>
              <a:ext uri="{FF2B5EF4-FFF2-40B4-BE49-F238E27FC236}">
                <a16:creationId xmlns:a16="http://schemas.microsoft.com/office/drawing/2014/main" id="{72FA60FB-92EE-4552-A9BD-D7F48015E403}"/>
              </a:ext>
            </a:extLst>
          </p:cNvPr>
          <p:cNvGraphicFramePr>
            <a:graphicFrameLocks noGrp="1"/>
          </p:cNvGraphicFramePr>
          <p:nvPr>
            <p:extLst>
              <p:ext uri="{D42A27DB-BD31-4B8C-83A1-F6EECF244321}">
                <p14:modId xmlns:p14="http://schemas.microsoft.com/office/powerpoint/2010/main" val="1435780504"/>
              </p:ext>
            </p:extLst>
          </p:nvPr>
        </p:nvGraphicFramePr>
        <p:xfrm>
          <a:off x="6623358" y="2561387"/>
          <a:ext cx="5228330" cy="2346885"/>
        </p:xfrm>
        <a:graphic>
          <a:graphicData uri="http://schemas.openxmlformats.org/drawingml/2006/table">
            <a:tbl>
              <a:tblPr firstRow="1" bandRow="1">
                <a:tableStyleId>{5C22544A-7EE6-4342-B048-85BDC9FD1C3A}</a:tableStyleId>
              </a:tblPr>
              <a:tblGrid>
                <a:gridCol w="1045666">
                  <a:extLst>
                    <a:ext uri="{9D8B030D-6E8A-4147-A177-3AD203B41FA5}">
                      <a16:colId xmlns:a16="http://schemas.microsoft.com/office/drawing/2014/main" val="4262371446"/>
                    </a:ext>
                  </a:extLst>
                </a:gridCol>
                <a:gridCol w="1045666">
                  <a:extLst>
                    <a:ext uri="{9D8B030D-6E8A-4147-A177-3AD203B41FA5}">
                      <a16:colId xmlns:a16="http://schemas.microsoft.com/office/drawing/2014/main" val="2964771172"/>
                    </a:ext>
                  </a:extLst>
                </a:gridCol>
                <a:gridCol w="1045666">
                  <a:extLst>
                    <a:ext uri="{9D8B030D-6E8A-4147-A177-3AD203B41FA5}">
                      <a16:colId xmlns:a16="http://schemas.microsoft.com/office/drawing/2014/main" val="2336443426"/>
                    </a:ext>
                  </a:extLst>
                </a:gridCol>
                <a:gridCol w="1045666">
                  <a:extLst>
                    <a:ext uri="{9D8B030D-6E8A-4147-A177-3AD203B41FA5}">
                      <a16:colId xmlns:a16="http://schemas.microsoft.com/office/drawing/2014/main" val="2744128259"/>
                    </a:ext>
                  </a:extLst>
                </a:gridCol>
                <a:gridCol w="1045666">
                  <a:extLst>
                    <a:ext uri="{9D8B030D-6E8A-4147-A177-3AD203B41FA5}">
                      <a16:colId xmlns:a16="http://schemas.microsoft.com/office/drawing/2014/main" val="1516603564"/>
                    </a:ext>
                  </a:extLst>
                </a:gridCol>
              </a:tblGrid>
              <a:tr h="469377">
                <a:tc>
                  <a:txBody>
                    <a:bodyPr/>
                    <a:lstStyle/>
                    <a:p>
                      <a:pPr algn="ctr" fontAlgn="base"/>
                      <a:r>
                        <a:rPr lang="en-IN" sz="1250" b="1">
                          <a:effectLst/>
                        </a:rPr>
                        <a:t>EMP_NO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1831073401"/>
                  </a:ext>
                </a:extLst>
              </a:tr>
              <a:tr h="469377">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363713498"/>
                  </a:ext>
                </a:extLst>
              </a:tr>
              <a:tr h="469377">
                <a:tc>
                  <a:txBody>
                    <a:bodyPr/>
                    <a:lstStyle/>
                    <a:p>
                      <a:pPr algn="ctr" fontAlgn="base"/>
                      <a:r>
                        <a:rPr lang="en-IN" sz="1250" b="1">
                          <a:effectLst/>
                        </a:rPr>
                        <a:t>5</a:t>
                      </a:r>
                    </a:p>
                  </a:txBody>
                  <a:tcPr marL="76200" marR="76200" marT="106680" marB="106680" anchor="ctr"/>
                </a:tc>
                <a:tc>
                  <a:txBody>
                    <a:bodyPr/>
                    <a:lstStyle/>
                    <a:p>
                      <a:pPr algn="ctr" fontAlgn="base"/>
                      <a:r>
                        <a:rPr lang="en-IN" sz="1250" b="1">
                          <a:effectLst/>
                        </a:rPr>
                        <a:t>NARESH</a:t>
                      </a:r>
                    </a:p>
                  </a:txBody>
                  <a:tcPr marL="76200" marR="76200" marT="106680" marB="106680" anchor="ctr"/>
                </a:tc>
                <a:tc>
                  <a:txBody>
                    <a:bodyPr/>
                    <a:lstStyle/>
                    <a:p>
                      <a:pPr algn="ctr" fontAlgn="base"/>
                      <a:r>
                        <a:rPr lang="en-IN" sz="1250" b="1">
                          <a:effectLst/>
                        </a:rPr>
                        <a:t>HISAR</a:t>
                      </a:r>
                    </a:p>
                  </a:txBody>
                  <a:tcPr marL="76200" marR="76200" marT="106680" marB="106680" anchor="ctr"/>
                </a:tc>
                <a:tc>
                  <a:txBody>
                    <a:bodyPr/>
                    <a:lstStyle/>
                    <a:p>
                      <a:pPr algn="ctr" fontAlgn="base"/>
                      <a:r>
                        <a:rPr lang="en-IN" sz="1250" b="1">
                          <a:effectLst/>
                        </a:rPr>
                        <a:t>9782918192</a:t>
                      </a:r>
                    </a:p>
                  </a:txBody>
                  <a:tcPr marL="76200" marR="76200" marT="106680" marB="106680" anchor="ctr"/>
                </a:tc>
                <a:tc>
                  <a:txBody>
                    <a:bodyPr/>
                    <a:lstStyle/>
                    <a:p>
                      <a:pPr algn="ctr" fontAlgn="base"/>
                      <a:r>
                        <a:rPr lang="en-IN" sz="1250" b="1">
                          <a:effectLst/>
                        </a:rPr>
                        <a:t>22</a:t>
                      </a:r>
                    </a:p>
                  </a:txBody>
                  <a:tcPr marL="76200" marR="76200" marT="106680" marB="106680" anchor="ctr"/>
                </a:tc>
                <a:extLst>
                  <a:ext uri="{0D108BD9-81ED-4DB2-BD59-A6C34878D82A}">
                    <a16:rowId xmlns:a16="http://schemas.microsoft.com/office/drawing/2014/main" val="902947204"/>
                  </a:ext>
                </a:extLst>
              </a:tr>
              <a:tr h="469377">
                <a:tc>
                  <a:txBody>
                    <a:bodyPr/>
                    <a:lstStyle/>
                    <a:p>
                      <a:pPr algn="ctr" fontAlgn="base"/>
                      <a:r>
                        <a:rPr lang="en-IN" sz="1250" b="1">
                          <a:effectLst/>
                        </a:rPr>
                        <a:t>6</a:t>
                      </a:r>
                    </a:p>
                  </a:txBody>
                  <a:tcPr marL="76200" marR="76200" marT="106680" marB="106680" anchor="ctr"/>
                </a:tc>
                <a:tc>
                  <a:txBody>
                    <a:bodyPr/>
                    <a:lstStyle/>
                    <a:p>
                      <a:pPr algn="ctr" fontAlgn="base"/>
                      <a:r>
                        <a:rPr lang="en-IN" sz="1250" b="1">
                          <a:effectLst/>
                        </a:rPr>
                        <a:t>SWETA</a:t>
                      </a:r>
                    </a:p>
                  </a:txBody>
                  <a:tcPr marL="76200" marR="76200" marT="106680" marB="106680" anchor="ctr"/>
                </a:tc>
                <a:tc>
                  <a:txBody>
                    <a:bodyPr/>
                    <a:lstStyle/>
                    <a:p>
                      <a:pPr algn="ctr" fontAlgn="base"/>
                      <a:r>
                        <a:rPr lang="en-IN" sz="1250" b="1">
                          <a:effectLst/>
                        </a:rPr>
                        <a:t>RANCHI</a:t>
                      </a:r>
                    </a:p>
                  </a:txBody>
                  <a:tcPr marL="76200" marR="76200" marT="106680" marB="106680" anchor="ctr"/>
                </a:tc>
                <a:tc>
                  <a:txBody>
                    <a:bodyPr/>
                    <a:lstStyle/>
                    <a:p>
                      <a:pPr algn="ctr" fontAlgn="base"/>
                      <a:r>
                        <a:rPr lang="en-IN" sz="1250" b="1">
                          <a:effectLst/>
                        </a:rPr>
                        <a:t>9852617621</a:t>
                      </a:r>
                    </a:p>
                  </a:txBody>
                  <a:tcPr marL="76200" marR="76200" marT="106680" marB="106680" anchor="ctr"/>
                </a:tc>
                <a:tc>
                  <a:txBody>
                    <a:bodyPr/>
                    <a:lstStyle/>
                    <a:p>
                      <a:pPr algn="ctr" fontAlgn="base"/>
                      <a:r>
                        <a:rPr lang="en-IN" sz="1250" b="1">
                          <a:effectLst/>
                        </a:rPr>
                        <a:t>21</a:t>
                      </a:r>
                    </a:p>
                  </a:txBody>
                  <a:tcPr marL="76200" marR="76200" marT="106680" marB="106680" anchor="ctr"/>
                </a:tc>
                <a:extLst>
                  <a:ext uri="{0D108BD9-81ED-4DB2-BD59-A6C34878D82A}">
                    <a16:rowId xmlns:a16="http://schemas.microsoft.com/office/drawing/2014/main" val="2889671715"/>
                  </a:ext>
                </a:extLst>
              </a:tr>
              <a:tr h="469377">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1625343975"/>
                  </a:ext>
                </a:extLst>
              </a:tr>
            </a:tbl>
          </a:graphicData>
        </a:graphic>
      </p:graphicFrame>
      <p:sp>
        <p:nvSpPr>
          <p:cNvPr id="10" name="TextBox 9">
            <a:extLst>
              <a:ext uri="{FF2B5EF4-FFF2-40B4-BE49-F238E27FC236}">
                <a16:creationId xmlns:a16="http://schemas.microsoft.com/office/drawing/2014/main" id="{6830442F-2419-4D48-876B-C4E8687B02EC}"/>
              </a:ext>
            </a:extLst>
          </p:cNvPr>
          <p:cNvSpPr txBox="1"/>
          <p:nvPr/>
        </p:nvSpPr>
        <p:spPr>
          <a:xfrm>
            <a:off x="8646599" y="2171196"/>
            <a:ext cx="1302798" cy="369332"/>
          </a:xfrm>
          <a:prstGeom prst="rect">
            <a:avLst/>
          </a:prstGeom>
          <a:noFill/>
        </p:spPr>
        <p:txBody>
          <a:bodyPr wrap="square">
            <a:spAutoFit/>
          </a:bodyPr>
          <a:lstStyle/>
          <a:p>
            <a:r>
              <a:rPr lang="en-IN" b="1" i="0" dirty="0">
                <a:solidFill>
                  <a:srgbClr val="273239"/>
                </a:solidFill>
                <a:effectLst/>
                <a:latin typeface="urw-din"/>
              </a:rPr>
              <a:t>EMPLOYEE </a:t>
            </a:r>
            <a:endParaRPr lang="en-IN" dirty="0"/>
          </a:p>
        </p:txBody>
      </p:sp>
      <p:sp>
        <p:nvSpPr>
          <p:cNvPr id="11" name="Rectangle 1">
            <a:extLst>
              <a:ext uri="{FF2B5EF4-FFF2-40B4-BE49-F238E27FC236}">
                <a16:creationId xmlns:a16="http://schemas.microsoft.com/office/drawing/2014/main" id="{28436901-B687-42F2-A274-5932E95BE216}"/>
              </a:ext>
            </a:extLst>
          </p:cNvPr>
          <p:cNvSpPr>
            <a:spLocks noChangeArrowheads="1"/>
          </p:cNvSpPr>
          <p:nvPr/>
        </p:nvSpPr>
        <p:spPr bwMode="auto">
          <a:xfrm>
            <a:off x="2894001" y="5335039"/>
            <a:ext cx="64039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73239"/>
                </a:solidFill>
                <a:effectLst/>
                <a:latin typeface="Consolas" panose="020B0609020204030204" pitchFamily="49" charset="0"/>
              </a:rPr>
              <a:t>STUDENT⟖</a:t>
            </a:r>
            <a:r>
              <a:rPr kumimoji="0" lang="en-US" altLang="en-US" sz="2400" b="1" i="0" u="none" strike="noStrike" cap="none" normalizeH="0" baseline="-30000">
                <a:ln>
                  <a:noFill/>
                </a:ln>
                <a:solidFill>
                  <a:srgbClr val="273239"/>
                </a:solidFill>
                <a:effectLst/>
                <a:latin typeface="Consolas" panose="020B0609020204030204" pitchFamily="49" charset="0"/>
              </a:rPr>
              <a:t>STUDENT.ROLL_NO&gt;EMPLOYEE.EMP_NO</a:t>
            </a:r>
            <a:r>
              <a:rPr kumimoji="0" lang="en-US" altLang="en-US" sz="2400" b="1" i="0" u="none" strike="noStrike" cap="none" normalizeH="0" baseline="0">
                <a:ln>
                  <a:noFill/>
                </a:ln>
                <a:solidFill>
                  <a:srgbClr val="273239"/>
                </a:solidFill>
                <a:effectLst/>
                <a:latin typeface="Consolas" panose="020B0609020204030204" pitchFamily="49" charset="0"/>
              </a:rPr>
              <a:t>EMPLOYEE</a:t>
            </a:r>
            <a:r>
              <a:rPr kumimoji="0" lang="en-US" altLang="en-US" sz="2400" b="0" i="0" u="none" strike="noStrike" cap="none" normalizeH="0" baseline="0">
                <a:ln>
                  <a:noFill/>
                </a:ln>
                <a:solidFill>
                  <a:schemeClr val="tx1"/>
                </a:solidFill>
                <a:effectLst/>
              </a:rPr>
              <a:t> </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05828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DF992B-724B-402E-B64B-DB13E2209B99}"/>
              </a:ext>
            </a:extLst>
          </p:cNvPr>
          <p:cNvSpPr>
            <a:spLocks noGrp="1"/>
          </p:cNvSpPr>
          <p:nvPr>
            <p:ph idx="1"/>
          </p:nvPr>
        </p:nvSpPr>
        <p:spPr>
          <a:xfrm>
            <a:off x="1171852" y="932154"/>
            <a:ext cx="10901778" cy="5788241"/>
          </a:xfrm>
        </p:spPr>
        <p:txBody>
          <a:bodyPr/>
          <a:lstStyle/>
          <a:p>
            <a:pPr>
              <a:buFont typeface="Wingdings" panose="05000000000000000000" pitchFamily="2" charset="2"/>
              <a:buChar char="q"/>
            </a:pPr>
            <a:r>
              <a:rPr lang="en-IN" b="1" dirty="0"/>
              <a:t>Result</a:t>
            </a:r>
          </a:p>
        </p:txBody>
      </p:sp>
      <p:sp>
        <p:nvSpPr>
          <p:cNvPr id="4" name="Title 1">
            <a:extLst>
              <a:ext uri="{FF2B5EF4-FFF2-40B4-BE49-F238E27FC236}">
                <a16:creationId xmlns:a16="http://schemas.microsoft.com/office/drawing/2014/main" id="{E97FAAF2-7ECE-4FC9-8541-1FC8042F7D66}"/>
              </a:ext>
            </a:extLst>
          </p:cNvPr>
          <p:cNvSpPr>
            <a:spLocks noGrp="1"/>
          </p:cNvSpPr>
          <p:nvPr>
            <p:ph type="title"/>
          </p:nvPr>
        </p:nvSpPr>
        <p:spPr>
          <a:xfrm>
            <a:off x="838200" y="18894"/>
            <a:ext cx="10515600" cy="1090815"/>
          </a:xfrm>
        </p:spPr>
        <p:txBody>
          <a:bodyPr/>
          <a:lstStyle/>
          <a:p>
            <a:pPr algn="ctr"/>
            <a:r>
              <a:rPr lang="en-IN" b="1" dirty="0">
                <a:solidFill>
                  <a:schemeClr val="accent4">
                    <a:lumMod val="50000"/>
                  </a:schemeClr>
                </a:solidFill>
              </a:rPr>
              <a:t>Right Outer Join</a:t>
            </a:r>
          </a:p>
        </p:txBody>
      </p:sp>
      <p:graphicFrame>
        <p:nvGraphicFramePr>
          <p:cNvPr id="5" name="Table 5">
            <a:extLst>
              <a:ext uri="{FF2B5EF4-FFF2-40B4-BE49-F238E27FC236}">
                <a16:creationId xmlns:a16="http://schemas.microsoft.com/office/drawing/2014/main" id="{366B8657-AFFB-4FE5-8163-A80139472513}"/>
              </a:ext>
            </a:extLst>
          </p:cNvPr>
          <p:cNvGraphicFramePr>
            <a:graphicFrameLocks noGrp="1"/>
          </p:cNvGraphicFramePr>
          <p:nvPr>
            <p:extLst>
              <p:ext uri="{D42A27DB-BD31-4B8C-83A1-F6EECF244321}">
                <p14:modId xmlns:p14="http://schemas.microsoft.com/office/powerpoint/2010/main" val="2092557706"/>
              </p:ext>
            </p:extLst>
          </p:nvPr>
        </p:nvGraphicFramePr>
        <p:xfrm>
          <a:off x="1376039" y="1713965"/>
          <a:ext cx="9862350" cy="2827020"/>
        </p:xfrm>
        <a:graphic>
          <a:graphicData uri="http://schemas.openxmlformats.org/drawingml/2006/table">
            <a:tbl>
              <a:tblPr firstRow="1" bandRow="1">
                <a:tableStyleId>{5C22544A-7EE6-4342-B048-85BDC9FD1C3A}</a:tableStyleId>
              </a:tblPr>
              <a:tblGrid>
                <a:gridCol w="986235">
                  <a:extLst>
                    <a:ext uri="{9D8B030D-6E8A-4147-A177-3AD203B41FA5}">
                      <a16:colId xmlns:a16="http://schemas.microsoft.com/office/drawing/2014/main" val="784914389"/>
                    </a:ext>
                  </a:extLst>
                </a:gridCol>
                <a:gridCol w="986235">
                  <a:extLst>
                    <a:ext uri="{9D8B030D-6E8A-4147-A177-3AD203B41FA5}">
                      <a16:colId xmlns:a16="http://schemas.microsoft.com/office/drawing/2014/main" val="784056201"/>
                    </a:ext>
                  </a:extLst>
                </a:gridCol>
                <a:gridCol w="986235">
                  <a:extLst>
                    <a:ext uri="{9D8B030D-6E8A-4147-A177-3AD203B41FA5}">
                      <a16:colId xmlns:a16="http://schemas.microsoft.com/office/drawing/2014/main" val="2150470339"/>
                    </a:ext>
                  </a:extLst>
                </a:gridCol>
                <a:gridCol w="986235">
                  <a:extLst>
                    <a:ext uri="{9D8B030D-6E8A-4147-A177-3AD203B41FA5}">
                      <a16:colId xmlns:a16="http://schemas.microsoft.com/office/drawing/2014/main" val="1015980249"/>
                    </a:ext>
                  </a:extLst>
                </a:gridCol>
                <a:gridCol w="986235">
                  <a:extLst>
                    <a:ext uri="{9D8B030D-6E8A-4147-A177-3AD203B41FA5}">
                      <a16:colId xmlns:a16="http://schemas.microsoft.com/office/drawing/2014/main" val="1682528883"/>
                    </a:ext>
                  </a:extLst>
                </a:gridCol>
                <a:gridCol w="986235">
                  <a:extLst>
                    <a:ext uri="{9D8B030D-6E8A-4147-A177-3AD203B41FA5}">
                      <a16:colId xmlns:a16="http://schemas.microsoft.com/office/drawing/2014/main" val="934225522"/>
                    </a:ext>
                  </a:extLst>
                </a:gridCol>
                <a:gridCol w="986235">
                  <a:extLst>
                    <a:ext uri="{9D8B030D-6E8A-4147-A177-3AD203B41FA5}">
                      <a16:colId xmlns:a16="http://schemas.microsoft.com/office/drawing/2014/main" val="3569994153"/>
                    </a:ext>
                  </a:extLst>
                </a:gridCol>
                <a:gridCol w="986235">
                  <a:extLst>
                    <a:ext uri="{9D8B030D-6E8A-4147-A177-3AD203B41FA5}">
                      <a16:colId xmlns:a16="http://schemas.microsoft.com/office/drawing/2014/main" val="4104387599"/>
                    </a:ext>
                  </a:extLst>
                </a:gridCol>
                <a:gridCol w="986235">
                  <a:extLst>
                    <a:ext uri="{9D8B030D-6E8A-4147-A177-3AD203B41FA5}">
                      <a16:colId xmlns:a16="http://schemas.microsoft.com/office/drawing/2014/main" val="3347544178"/>
                    </a:ext>
                  </a:extLst>
                </a:gridCol>
                <a:gridCol w="986235">
                  <a:extLst>
                    <a:ext uri="{9D8B030D-6E8A-4147-A177-3AD203B41FA5}">
                      <a16:colId xmlns:a16="http://schemas.microsoft.com/office/drawing/2014/main" val="4017856242"/>
                    </a:ext>
                  </a:extLst>
                </a:gridCol>
              </a:tblGrid>
              <a:tr h="370840">
                <a:tc>
                  <a:txBody>
                    <a:bodyPr/>
                    <a:lstStyle/>
                    <a:p>
                      <a:pPr algn="ctr" fontAlgn="base"/>
                      <a:r>
                        <a:rPr lang="en-IN" sz="1250" b="1">
                          <a:effectLst/>
                        </a:rPr>
                        <a:t>ROLL_NO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tc>
                  <a:txBody>
                    <a:bodyPr/>
                    <a:lstStyle/>
                    <a:p>
                      <a:pPr algn="ctr" fontAlgn="base"/>
                      <a:r>
                        <a:rPr lang="en-IN" sz="1250" b="1">
                          <a:effectLst/>
                        </a:rPr>
                        <a:t>EMP_NO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1638866588"/>
                  </a:ext>
                </a:extLst>
              </a:tr>
              <a:tr h="370840">
                <a:tc>
                  <a:txBody>
                    <a:bodyPr/>
                    <a:lstStyle/>
                    <a:p>
                      <a:pPr algn="ctr" fontAlgn="base"/>
                      <a:r>
                        <a:rPr lang="en-IN" sz="1250" b="1">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741626657"/>
                  </a:ext>
                </a:extLst>
              </a:tr>
              <a:tr h="370840">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a:effectLst/>
                        </a:rPr>
                        <a:t>20</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458464417"/>
                  </a:ext>
                </a:extLst>
              </a:tr>
              <a:tr h="370840">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722180417"/>
                  </a:ext>
                </a:extLst>
              </a:tr>
              <a:tr h="370840">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5</a:t>
                      </a:r>
                    </a:p>
                  </a:txBody>
                  <a:tcPr marL="76200" marR="76200" marT="106680" marB="106680" anchor="ctr"/>
                </a:tc>
                <a:tc>
                  <a:txBody>
                    <a:bodyPr/>
                    <a:lstStyle/>
                    <a:p>
                      <a:pPr algn="ctr" fontAlgn="base"/>
                      <a:r>
                        <a:rPr lang="en-IN" sz="1250" b="1">
                          <a:effectLst/>
                        </a:rPr>
                        <a:t>NARESH</a:t>
                      </a:r>
                    </a:p>
                  </a:txBody>
                  <a:tcPr marL="76200" marR="76200" marT="106680" marB="106680" anchor="ctr"/>
                </a:tc>
                <a:tc>
                  <a:txBody>
                    <a:bodyPr/>
                    <a:lstStyle/>
                    <a:p>
                      <a:pPr algn="ctr" fontAlgn="base"/>
                      <a:r>
                        <a:rPr lang="en-IN" sz="1250" b="1">
                          <a:effectLst/>
                        </a:rPr>
                        <a:t>HISAR</a:t>
                      </a:r>
                    </a:p>
                  </a:txBody>
                  <a:tcPr marL="76200" marR="76200" marT="106680" marB="106680" anchor="ctr"/>
                </a:tc>
                <a:tc>
                  <a:txBody>
                    <a:bodyPr/>
                    <a:lstStyle/>
                    <a:p>
                      <a:pPr algn="ctr" fontAlgn="base"/>
                      <a:r>
                        <a:rPr lang="en-IN" sz="1250" b="1">
                          <a:effectLst/>
                        </a:rPr>
                        <a:t>9782918192</a:t>
                      </a:r>
                    </a:p>
                  </a:txBody>
                  <a:tcPr marL="76200" marR="76200" marT="106680" marB="106680" anchor="ctr"/>
                </a:tc>
                <a:tc>
                  <a:txBody>
                    <a:bodyPr/>
                    <a:lstStyle/>
                    <a:p>
                      <a:pPr algn="ctr" fontAlgn="base"/>
                      <a:r>
                        <a:rPr lang="en-IN" sz="1250" b="1">
                          <a:effectLst/>
                        </a:rPr>
                        <a:t>22</a:t>
                      </a:r>
                    </a:p>
                  </a:txBody>
                  <a:tcPr marL="76200" marR="76200" marT="106680" marB="106680" anchor="ctr"/>
                </a:tc>
                <a:extLst>
                  <a:ext uri="{0D108BD9-81ED-4DB2-BD59-A6C34878D82A}">
                    <a16:rowId xmlns:a16="http://schemas.microsoft.com/office/drawing/2014/main" val="2486701759"/>
                  </a:ext>
                </a:extLst>
              </a:tr>
              <a:tr h="370840">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6</a:t>
                      </a:r>
                    </a:p>
                  </a:txBody>
                  <a:tcPr marL="76200" marR="76200" marT="106680" marB="106680" anchor="ctr"/>
                </a:tc>
                <a:tc>
                  <a:txBody>
                    <a:bodyPr/>
                    <a:lstStyle/>
                    <a:p>
                      <a:pPr algn="ctr" fontAlgn="base"/>
                      <a:r>
                        <a:rPr lang="en-IN" sz="1250" b="1">
                          <a:effectLst/>
                        </a:rPr>
                        <a:t>SWETA</a:t>
                      </a:r>
                    </a:p>
                  </a:txBody>
                  <a:tcPr marL="76200" marR="76200" marT="106680" marB="106680" anchor="ctr"/>
                </a:tc>
                <a:tc>
                  <a:txBody>
                    <a:bodyPr/>
                    <a:lstStyle/>
                    <a:p>
                      <a:pPr algn="ctr" fontAlgn="base"/>
                      <a:r>
                        <a:rPr lang="en-IN" sz="1250" b="1">
                          <a:effectLst/>
                        </a:rPr>
                        <a:t>RANCHI</a:t>
                      </a:r>
                    </a:p>
                  </a:txBody>
                  <a:tcPr marL="76200" marR="76200" marT="106680" marB="106680" anchor="ctr"/>
                </a:tc>
                <a:tc>
                  <a:txBody>
                    <a:bodyPr/>
                    <a:lstStyle/>
                    <a:p>
                      <a:pPr algn="ctr" fontAlgn="base"/>
                      <a:r>
                        <a:rPr lang="en-IN" sz="1250" b="1">
                          <a:effectLst/>
                        </a:rPr>
                        <a:t>9852617621</a:t>
                      </a:r>
                    </a:p>
                  </a:txBody>
                  <a:tcPr marL="76200" marR="76200" marT="106680" marB="106680" anchor="ctr"/>
                </a:tc>
                <a:tc>
                  <a:txBody>
                    <a:bodyPr/>
                    <a:lstStyle/>
                    <a:p>
                      <a:pPr algn="ctr" fontAlgn="base"/>
                      <a:r>
                        <a:rPr lang="en-IN" sz="1250" b="1">
                          <a:effectLst/>
                        </a:rPr>
                        <a:t>21</a:t>
                      </a:r>
                    </a:p>
                  </a:txBody>
                  <a:tcPr marL="76200" marR="76200" marT="106680" marB="106680" anchor="ctr"/>
                </a:tc>
                <a:extLst>
                  <a:ext uri="{0D108BD9-81ED-4DB2-BD59-A6C34878D82A}">
                    <a16:rowId xmlns:a16="http://schemas.microsoft.com/office/drawing/2014/main" val="2520073595"/>
                  </a:ext>
                </a:extLst>
              </a:tr>
              <a:tr h="370840">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3491947137"/>
                  </a:ext>
                </a:extLst>
              </a:tr>
            </a:tbl>
          </a:graphicData>
        </a:graphic>
      </p:graphicFrame>
    </p:spTree>
    <p:extLst>
      <p:ext uri="{BB962C8B-B14F-4D97-AF65-F5344CB8AC3E}">
        <p14:creationId xmlns:p14="http://schemas.microsoft.com/office/powerpoint/2010/main" val="2059584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ADAA7-B0D5-4F45-B0C0-8A3F0FA32B1E}"/>
              </a:ext>
            </a:extLst>
          </p:cNvPr>
          <p:cNvSpPr>
            <a:spLocks noGrp="1"/>
          </p:cNvSpPr>
          <p:nvPr>
            <p:ph type="title"/>
          </p:nvPr>
        </p:nvSpPr>
        <p:spPr>
          <a:xfrm>
            <a:off x="838200" y="18894"/>
            <a:ext cx="10515600" cy="913262"/>
          </a:xfrm>
        </p:spPr>
        <p:txBody>
          <a:bodyPr/>
          <a:lstStyle/>
          <a:p>
            <a:pPr algn="ctr"/>
            <a:r>
              <a:rPr lang="en-IN" b="1" dirty="0">
                <a:solidFill>
                  <a:schemeClr val="accent4">
                    <a:lumMod val="50000"/>
                  </a:schemeClr>
                </a:solidFill>
              </a:rPr>
              <a:t>Full Outer Join</a:t>
            </a:r>
          </a:p>
        </p:txBody>
      </p:sp>
      <p:sp>
        <p:nvSpPr>
          <p:cNvPr id="3" name="Content Placeholder 2">
            <a:extLst>
              <a:ext uri="{FF2B5EF4-FFF2-40B4-BE49-F238E27FC236}">
                <a16:creationId xmlns:a16="http://schemas.microsoft.com/office/drawing/2014/main" id="{2BC61865-7FBB-45E5-80C7-241AEAB1D2BC}"/>
              </a:ext>
            </a:extLst>
          </p:cNvPr>
          <p:cNvSpPr>
            <a:spLocks noGrp="1"/>
          </p:cNvSpPr>
          <p:nvPr>
            <p:ph idx="1"/>
          </p:nvPr>
        </p:nvSpPr>
        <p:spPr>
          <a:xfrm>
            <a:off x="1162975" y="781234"/>
            <a:ext cx="10910655" cy="5992427"/>
          </a:xfrm>
        </p:spPr>
        <p:txBody>
          <a:bodyPr/>
          <a:lstStyle/>
          <a:p>
            <a:pPr algn="just">
              <a:lnSpc>
                <a:spcPct val="100000"/>
              </a:lnSpc>
              <a:buFont typeface="Wingdings" panose="05000000000000000000" pitchFamily="2" charset="2"/>
              <a:buChar char="q"/>
            </a:pPr>
            <a:r>
              <a:rPr lang="en-IN" dirty="0"/>
              <a:t>All tuples from both relations are included in the result, irrespective of the matching condition.</a:t>
            </a:r>
          </a:p>
          <a:p>
            <a:pPr algn="just">
              <a:lnSpc>
                <a:spcPct val="100000"/>
              </a:lnSpc>
              <a:buFont typeface="Wingdings" panose="05000000000000000000" pitchFamily="2" charset="2"/>
              <a:buChar char="q"/>
            </a:pPr>
            <a:r>
              <a:rPr lang="en-IN" b="0" i="0" dirty="0">
                <a:solidFill>
                  <a:srgbClr val="273239"/>
                </a:solidFill>
                <a:effectLst/>
                <a:latin typeface="urw-din"/>
              </a:rPr>
              <a:t>When applying full outer join on two relations R and S, it gives all tuples of S and all tuples of R in the result set. The tuples of S which do not satisfy join condition will have values as NULL for attributes of R and vice versa.</a:t>
            </a:r>
          </a:p>
          <a:p>
            <a:pPr algn="just">
              <a:lnSpc>
                <a:spcPct val="100000"/>
              </a:lnSpc>
              <a:buFont typeface="Wingdings" panose="05000000000000000000" pitchFamily="2" charset="2"/>
              <a:buChar char="q"/>
            </a:pPr>
            <a:r>
              <a:rPr lang="en-IN" dirty="0">
                <a:solidFill>
                  <a:srgbClr val="273239"/>
                </a:solidFill>
                <a:latin typeface="urw-din"/>
              </a:rPr>
              <a:t>Notation: R      S</a:t>
            </a:r>
            <a:endParaRPr lang="en-IN" dirty="0"/>
          </a:p>
        </p:txBody>
      </p:sp>
      <p:sp>
        <p:nvSpPr>
          <p:cNvPr id="11" name="TextBox 10">
            <a:extLst>
              <a:ext uri="{FF2B5EF4-FFF2-40B4-BE49-F238E27FC236}">
                <a16:creationId xmlns:a16="http://schemas.microsoft.com/office/drawing/2014/main" id="{DACFC979-3889-45A9-ABB8-BB48E9574B21}"/>
              </a:ext>
            </a:extLst>
          </p:cNvPr>
          <p:cNvSpPr txBox="1"/>
          <p:nvPr/>
        </p:nvSpPr>
        <p:spPr>
          <a:xfrm>
            <a:off x="3177540" y="3608390"/>
            <a:ext cx="662940" cy="461665"/>
          </a:xfrm>
          <a:prstGeom prst="rect">
            <a:avLst/>
          </a:prstGeom>
          <a:noFill/>
        </p:spPr>
        <p:txBody>
          <a:bodyPr wrap="square">
            <a:spAutoFit/>
          </a:bodyPr>
          <a:lstStyle/>
          <a:p>
            <a:r>
              <a:rPr lang="en-IN" sz="2400" dirty="0"/>
              <a:t>⟗</a:t>
            </a:r>
          </a:p>
        </p:txBody>
      </p:sp>
    </p:spTree>
    <p:extLst>
      <p:ext uri="{BB962C8B-B14F-4D97-AF65-F5344CB8AC3E}">
        <p14:creationId xmlns:p14="http://schemas.microsoft.com/office/powerpoint/2010/main" val="2251253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A4DD12-AC48-43ED-A749-468200D8630E}"/>
              </a:ext>
            </a:extLst>
          </p:cNvPr>
          <p:cNvSpPr>
            <a:spLocks noGrp="1"/>
          </p:cNvSpPr>
          <p:nvPr>
            <p:ph idx="1"/>
          </p:nvPr>
        </p:nvSpPr>
        <p:spPr>
          <a:xfrm>
            <a:off x="1280160" y="832104"/>
            <a:ext cx="10799064" cy="5925312"/>
          </a:xfrm>
        </p:spPr>
        <p:txBody>
          <a:bodyPr/>
          <a:lstStyle/>
          <a:p>
            <a:pPr>
              <a:buFont typeface="Wingdings" panose="05000000000000000000" pitchFamily="2" charset="2"/>
              <a:buChar char="q"/>
            </a:pPr>
            <a:r>
              <a:rPr lang="en-IN" b="1" dirty="0"/>
              <a:t>Example</a:t>
            </a:r>
          </a:p>
          <a:p>
            <a:pPr marL="0" indent="0">
              <a:buNone/>
            </a:pPr>
            <a:endParaRPr lang="en-IN" dirty="0"/>
          </a:p>
        </p:txBody>
      </p:sp>
      <p:sp>
        <p:nvSpPr>
          <p:cNvPr id="4" name="Title 1">
            <a:extLst>
              <a:ext uri="{FF2B5EF4-FFF2-40B4-BE49-F238E27FC236}">
                <a16:creationId xmlns:a16="http://schemas.microsoft.com/office/drawing/2014/main" id="{DAAF1042-AA50-4443-95AC-390A7455EF5C}"/>
              </a:ext>
            </a:extLst>
          </p:cNvPr>
          <p:cNvSpPr>
            <a:spLocks noGrp="1"/>
          </p:cNvSpPr>
          <p:nvPr>
            <p:ph type="title"/>
          </p:nvPr>
        </p:nvSpPr>
        <p:spPr>
          <a:xfrm>
            <a:off x="838200" y="18894"/>
            <a:ext cx="10515600" cy="913262"/>
          </a:xfrm>
        </p:spPr>
        <p:txBody>
          <a:bodyPr/>
          <a:lstStyle/>
          <a:p>
            <a:pPr algn="ctr"/>
            <a:r>
              <a:rPr lang="en-IN" b="1" dirty="0">
                <a:solidFill>
                  <a:schemeClr val="accent4">
                    <a:lumMod val="50000"/>
                  </a:schemeClr>
                </a:solidFill>
              </a:rPr>
              <a:t>Full Outer Join</a:t>
            </a:r>
          </a:p>
        </p:txBody>
      </p:sp>
      <p:sp>
        <p:nvSpPr>
          <p:cNvPr id="6" name="TextBox 5">
            <a:extLst>
              <a:ext uri="{FF2B5EF4-FFF2-40B4-BE49-F238E27FC236}">
                <a16:creationId xmlns:a16="http://schemas.microsoft.com/office/drawing/2014/main" id="{F15DA8A9-F03A-43E4-A5BC-39FEA48B4C78}"/>
              </a:ext>
            </a:extLst>
          </p:cNvPr>
          <p:cNvSpPr txBox="1"/>
          <p:nvPr/>
        </p:nvSpPr>
        <p:spPr>
          <a:xfrm>
            <a:off x="1551051" y="1325987"/>
            <a:ext cx="10257282" cy="830997"/>
          </a:xfrm>
          <a:prstGeom prst="rect">
            <a:avLst/>
          </a:prstGeom>
          <a:noFill/>
        </p:spPr>
        <p:txBody>
          <a:bodyPr wrap="square">
            <a:spAutoFit/>
          </a:bodyPr>
          <a:lstStyle/>
          <a:p>
            <a:r>
              <a:rPr lang="en-IN" sz="2400" b="0" i="0" dirty="0">
                <a:solidFill>
                  <a:srgbClr val="273239"/>
                </a:solidFill>
                <a:effectLst/>
                <a:latin typeface="urw-din"/>
              </a:rPr>
              <a:t>Select students whose ROLL_NO is greater than EMP_NO of employees and details of other Employees as well and other Students</a:t>
            </a:r>
            <a:endParaRPr lang="en-IN" sz="2400" dirty="0"/>
          </a:p>
        </p:txBody>
      </p:sp>
      <p:graphicFrame>
        <p:nvGraphicFramePr>
          <p:cNvPr id="7" name="Table 5">
            <a:extLst>
              <a:ext uri="{FF2B5EF4-FFF2-40B4-BE49-F238E27FC236}">
                <a16:creationId xmlns:a16="http://schemas.microsoft.com/office/drawing/2014/main" id="{ECEFA0CC-6C88-4131-9A9E-7017CB4BC4DB}"/>
              </a:ext>
            </a:extLst>
          </p:cNvPr>
          <p:cNvGraphicFramePr>
            <a:graphicFrameLocks/>
          </p:cNvGraphicFramePr>
          <p:nvPr>
            <p:extLst>
              <p:ext uri="{D42A27DB-BD31-4B8C-83A1-F6EECF244321}">
                <p14:modId xmlns:p14="http://schemas.microsoft.com/office/powerpoint/2010/main" val="1854038893"/>
              </p:ext>
            </p:extLst>
          </p:nvPr>
        </p:nvGraphicFramePr>
        <p:xfrm>
          <a:off x="1373347" y="2606858"/>
          <a:ext cx="4816875" cy="2346885"/>
        </p:xfrm>
        <a:graphic>
          <a:graphicData uri="http://schemas.openxmlformats.org/drawingml/2006/table">
            <a:tbl>
              <a:tblPr firstRow="1" bandRow="1">
                <a:tableStyleId>{5C22544A-7EE6-4342-B048-85BDC9FD1C3A}</a:tableStyleId>
              </a:tblPr>
              <a:tblGrid>
                <a:gridCol w="963375">
                  <a:extLst>
                    <a:ext uri="{9D8B030D-6E8A-4147-A177-3AD203B41FA5}">
                      <a16:colId xmlns:a16="http://schemas.microsoft.com/office/drawing/2014/main" val="658835208"/>
                    </a:ext>
                  </a:extLst>
                </a:gridCol>
                <a:gridCol w="963375">
                  <a:extLst>
                    <a:ext uri="{9D8B030D-6E8A-4147-A177-3AD203B41FA5}">
                      <a16:colId xmlns:a16="http://schemas.microsoft.com/office/drawing/2014/main" val="1320520670"/>
                    </a:ext>
                  </a:extLst>
                </a:gridCol>
                <a:gridCol w="963375">
                  <a:extLst>
                    <a:ext uri="{9D8B030D-6E8A-4147-A177-3AD203B41FA5}">
                      <a16:colId xmlns:a16="http://schemas.microsoft.com/office/drawing/2014/main" val="84726451"/>
                    </a:ext>
                  </a:extLst>
                </a:gridCol>
                <a:gridCol w="963375">
                  <a:extLst>
                    <a:ext uri="{9D8B030D-6E8A-4147-A177-3AD203B41FA5}">
                      <a16:colId xmlns:a16="http://schemas.microsoft.com/office/drawing/2014/main" val="384909602"/>
                    </a:ext>
                  </a:extLst>
                </a:gridCol>
                <a:gridCol w="963375">
                  <a:extLst>
                    <a:ext uri="{9D8B030D-6E8A-4147-A177-3AD203B41FA5}">
                      <a16:colId xmlns:a16="http://schemas.microsoft.com/office/drawing/2014/main" val="449513181"/>
                    </a:ext>
                  </a:extLst>
                </a:gridCol>
              </a:tblGrid>
              <a:tr h="469377">
                <a:tc>
                  <a:txBody>
                    <a:bodyPr/>
                    <a:lstStyle/>
                    <a:p>
                      <a:pPr algn="ctr" fontAlgn="base"/>
                      <a:r>
                        <a:rPr lang="en-IN" sz="1250" b="1" dirty="0">
                          <a:effectLst/>
                        </a:rPr>
                        <a:t>ROLL_NO</a:t>
                      </a:r>
                    </a:p>
                  </a:txBody>
                  <a:tcPr marL="76200" marR="76200" marT="106680" marB="106680" anchor="ctr"/>
                </a:tc>
                <a:tc>
                  <a:txBody>
                    <a:bodyPr/>
                    <a:lstStyle/>
                    <a:p>
                      <a:pPr algn="ctr" fontAlgn="base"/>
                      <a:r>
                        <a:rPr lang="en-IN" sz="1250" b="1" dirty="0">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2159006544"/>
                  </a:ext>
                </a:extLst>
              </a:tr>
              <a:tr h="469377">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1704089302"/>
                  </a:ext>
                </a:extLst>
              </a:tr>
              <a:tr h="469377">
                <a:tc>
                  <a:txBody>
                    <a:bodyPr/>
                    <a:lstStyle/>
                    <a:p>
                      <a:pPr algn="ctr" fontAlgn="base"/>
                      <a:r>
                        <a:rPr lang="en-IN" sz="1250" b="1" dirty="0">
                          <a:effectLst/>
                        </a:rPr>
                        <a:t>2</a:t>
                      </a:r>
                    </a:p>
                  </a:txBody>
                  <a:tcPr marL="76200" marR="76200" marT="106680" marB="106680" anchor="ctr"/>
                </a:tc>
                <a:tc>
                  <a:txBody>
                    <a:bodyPr/>
                    <a:lstStyle/>
                    <a:p>
                      <a:pPr algn="ctr" fontAlgn="base"/>
                      <a:r>
                        <a:rPr lang="en-IN" sz="1250" b="1" dirty="0">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3628182359"/>
                  </a:ext>
                </a:extLst>
              </a:tr>
              <a:tr h="469377">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dirty="0">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a:effectLst/>
                        </a:rPr>
                        <a:t>20</a:t>
                      </a:r>
                    </a:p>
                  </a:txBody>
                  <a:tcPr marL="76200" marR="76200" marT="106680" marB="106680" anchor="ctr"/>
                </a:tc>
                <a:extLst>
                  <a:ext uri="{0D108BD9-81ED-4DB2-BD59-A6C34878D82A}">
                    <a16:rowId xmlns:a16="http://schemas.microsoft.com/office/drawing/2014/main" val="1407954671"/>
                  </a:ext>
                </a:extLst>
              </a:tr>
              <a:tr h="469377">
                <a:tc>
                  <a:txBody>
                    <a:bodyPr/>
                    <a:lstStyle/>
                    <a:p>
                      <a:pPr algn="ctr" fontAlgn="base"/>
                      <a:r>
                        <a:rPr lang="en-IN" sz="1250" b="1" dirty="0">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3151996180"/>
                  </a:ext>
                </a:extLst>
              </a:tr>
            </a:tbl>
          </a:graphicData>
        </a:graphic>
      </p:graphicFrame>
      <p:sp>
        <p:nvSpPr>
          <p:cNvPr id="8" name="TextBox 7">
            <a:extLst>
              <a:ext uri="{FF2B5EF4-FFF2-40B4-BE49-F238E27FC236}">
                <a16:creationId xmlns:a16="http://schemas.microsoft.com/office/drawing/2014/main" id="{B9FF60F5-1C63-40D5-8CF8-13045DF45AC6}"/>
              </a:ext>
            </a:extLst>
          </p:cNvPr>
          <p:cNvSpPr txBox="1"/>
          <p:nvPr/>
        </p:nvSpPr>
        <p:spPr>
          <a:xfrm>
            <a:off x="3635672" y="2236443"/>
            <a:ext cx="1071979" cy="369332"/>
          </a:xfrm>
          <a:prstGeom prst="rect">
            <a:avLst/>
          </a:prstGeom>
          <a:noFill/>
        </p:spPr>
        <p:txBody>
          <a:bodyPr wrap="square">
            <a:spAutoFit/>
          </a:bodyPr>
          <a:lstStyle/>
          <a:p>
            <a:r>
              <a:rPr lang="en-IN" b="1" i="0" dirty="0">
                <a:solidFill>
                  <a:srgbClr val="273239"/>
                </a:solidFill>
                <a:effectLst/>
                <a:latin typeface="urw-din"/>
              </a:rPr>
              <a:t>STUDENT</a:t>
            </a:r>
            <a:endParaRPr lang="en-IN" dirty="0"/>
          </a:p>
        </p:txBody>
      </p:sp>
      <p:graphicFrame>
        <p:nvGraphicFramePr>
          <p:cNvPr id="9" name="Table 8">
            <a:extLst>
              <a:ext uri="{FF2B5EF4-FFF2-40B4-BE49-F238E27FC236}">
                <a16:creationId xmlns:a16="http://schemas.microsoft.com/office/drawing/2014/main" id="{FE59CD36-2E49-4819-890D-1E0A1B2E833E}"/>
              </a:ext>
            </a:extLst>
          </p:cNvPr>
          <p:cNvGraphicFramePr>
            <a:graphicFrameLocks noGrp="1"/>
          </p:cNvGraphicFramePr>
          <p:nvPr>
            <p:extLst>
              <p:ext uri="{D42A27DB-BD31-4B8C-83A1-F6EECF244321}">
                <p14:modId xmlns:p14="http://schemas.microsoft.com/office/powerpoint/2010/main" val="1312882211"/>
              </p:ext>
            </p:extLst>
          </p:nvPr>
        </p:nvGraphicFramePr>
        <p:xfrm>
          <a:off x="6403902" y="2561387"/>
          <a:ext cx="5228330" cy="2346885"/>
        </p:xfrm>
        <a:graphic>
          <a:graphicData uri="http://schemas.openxmlformats.org/drawingml/2006/table">
            <a:tbl>
              <a:tblPr firstRow="1" bandRow="1">
                <a:tableStyleId>{5C22544A-7EE6-4342-B048-85BDC9FD1C3A}</a:tableStyleId>
              </a:tblPr>
              <a:tblGrid>
                <a:gridCol w="1045666">
                  <a:extLst>
                    <a:ext uri="{9D8B030D-6E8A-4147-A177-3AD203B41FA5}">
                      <a16:colId xmlns:a16="http://schemas.microsoft.com/office/drawing/2014/main" val="4262371446"/>
                    </a:ext>
                  </a:extLst>
                </a:gridCol>
                <a:gridCol w="1045666">
                  <a:extLst>
                    <a:ext uri="{9D8B030D-6E8A-4147-A177-3AD203B41FA5}">
                      <a16:colId xmlns:a16="http://schemas.microsoft.com/office/drawing/2014/main" val="2964771172"/>
                    </a:ext>
                  </a:extLst>
                </a:gridCol>
                <a:gridCol w="1045666">
                  <a:extLst>
                    <a:ext uri="{9D8B030D-6E8A-4147-A177-3AD203B41FA5}">
                      <a16:colId xmlns:a16="http://schemas.microsoft.com/office/drawing/2014/main" val="2336443426"/>
                    </a:ext>
                  </a:extLst>
                </a:gridCol>
                <a:gridCol w="1045666">
                  <a:extLst>
                    <a:ext uri="{9D8B030D-6E8A-4147-A177-3AD203B41FA5}">
                      <a16:colId xmlns:a16="http://schemas.microsoft.com/office/drawing/2014/main" val="2744128259"/>
                    </a:ext>
                  </a:extLst>
                </a:gridCol>
                <a:gridCol w="1045666">
                  <a:extLst>
                    <a:ext uri="{9D8B030D-6E8A-4147-A177-3AD203B41FA5}">
                      <a16:colId xmlns:a16="http://schemas.microsoft.com/office/drawing/2014/main" val="1516603564"/>
                    </a:ext>
                  </a:extLst>
                </a:gridCol>
              </a:tblGrid>
              <a:tr h="469377">
                <a:tc>
                  <a:txBody>
                    <a:bodyPr/>
                    <a:lstStyle/>
                    <a:p>
                      <a:pPr algn="ctr" fontAlgn="base"/>
                      <a:r>
                        <a:rPr lang="en-IN" sz="1250" b="1">
                          <a:effectLst/>
                        </a:rPr>
                        <a:t>EMP_NO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1831073401"/>
                  </a:ext>
                </a:extLst>
              </a:tr>
              <a:tr h="469377">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363713498"/>
                  </a:ext>
                </a:extLst>
              </a:tr>
              <a:tr h="469377">
                <a:tc>
                  <a:txBody>
                    <a:bodyPr/>
                    <a:lstStyle/>
                    <a:p>
                      <a:pPr algn="ctr" fontAlgn="base"/>
                      <a:r>
                        <a:rPr lang="en-IN" sz="1250" b="1">
                          <a:effectLst/>
                        </a:rPr>
                        <a:t>5</a:t>
                      </a:r>
                    </a:p>
                  </a:txBody>
                  <a:tcPr marL="76200" marR="76200" marT="106680" marB="106680" anchor="ctr"/>
                </a:tc>
                <a:tc>
                  <a:txBody>
                    <a:bodyPr/>
                    <a:lstStyle/>
                    <a:p>
                      <a:pPr algn="ctr" fontAlgn="base"/>
                      <a:r>
                        <a:rPr lang="en-IN" sz="1250" b="1">
                          <a:effectLst/>
                        </a:rPr>
                        <a:t>NARESH</a:t>
                      </a:r>
                    </a:p>
                  </a:txBody>
                  <a:tcPr marL="76200" marR="76200" marT="106680" marB="106680" anchor="ctr"/>
                </a:tc>
                <a:tc>
                  <a:txBody>
                    <a:bodyPr/>
                    <a:lstStyle/>
                    <a:p>
                      <a:pPr algn="ctr" fontAlgn="base"/>
                      <a:r>
                        <a:rPr lang="en-IN" sz="1250" b="1">
                          <a:effectLst/>
                        </a:rPr>
                        <a:t>HISAR</a:t>
                      </a:r>
                    </a:p>
                  </a:txBody>
                  <a:tcPr marL="76200" marR="76200" marT="106680" marB="106680" anchor="ctr"/>
                </a:tc>
                <a:tc>
                  <a:txBody>
                    <a:bodyPr/>
                    <a:lstStyle/>
                    <a:p>
                      <a:pPr algn="ctr" fontAlgn="base"/>
                      <a:r>
                        <a:rPr lang="en-IN" sz="1250" b="1">
                          <a:effectLst/>
                        </a:rPr>
                        <a:t>9782918192</a:t>
                      </a:r>
                    </a:p>
                  </a:txBody>
                  <a:tcPr marL="76200" marR="76200" marT="106680" marB="106680" anchor="ctr"/>
                </a:tc>
                <a:tc>
                  <a:txBody>
                    <a:bodyPr/>
                    <a:lstStyle/>
                    <a:p>
                      <a:pPr algn="ctr" fontAlgn="base"/>
                      <a:r>
                        <a:rPr lang="en-IN" sz="1250" b="1">
                          <a:effectLst/>
                        </a:rPr>
                        <a:t>22</a:t>
                      </a:r>
                    </a:p>
                  </a:txBody>
                  <a:tcPr marL="76200" marR="76200" marT="106680" marB="106680" anchor="ctr"/>
                </a:tc>
                <a:extLst>
                  <a:ext uri="{0D108BD9-81ED-4DB2-BD59-A6C34878D82A}">
                    <a16:rowId xmlns:a16="http://schemas.microsoft.com/office/drawing/2014/main" val="902947204"/>
                  </a:ext>
                </a:extLst>
              </a:tr>
              <a:tr h="469377">
                <a:tc>
                  <a:txBody>
                    <a:bodyPr/>
                    <a:lstStyle/>
                    <a:p>
                      <a:pPr algn="ctr" fontAlgn="base"/>
                      <a:r>
                        <a:rPr lang="en-IN" sz="1250" b="1">
                          <a:effectLst/>
                        </a:rPr>
                        <a:t>6</a:t>
                      </a:r>
                    </a:p>
                  </a:txBody>
                  <a:tcPr marL="76200" marR="76200" marT="106680" marB="106680" anchor="ctr"/>
                </a:tc>
                <a:tc>
                  <a:txBody>
                    <a:bodyPr/>
                    <a:lstStyle/>
                    <a:p>
                      <a:pPr algn="ctr" fontAlgn="base"/>
                      <a:r>
                        <a:rPr lang="en-IN" sz="1250" b="1">
                          <a:effectLst/>
                        </a:rPr>
                        <a:t>SWETA</a:t>
                      </a:r>
                    </a:p>
                  </a:txBody>
                  <a:tcPr marL="76200" marR="76200" marT="106680" marB="106680" anchor="ctr"/>
                </a:tc>
                <a:tc>
                  <a:txBody>
                    <a:bodyPr/>
                    <a:lstStyle/>
                    <a:p>
                      <a:pPr algn="ctr" fontAlgn="base"/>
                      <a:r>
                        <a:rPr lang="en-IN" sz="1250" b="1">
                          <a:effectLst/>
                        </a:rPr>
                        <a:t>RANCHI</a:t>
                      </a:r>
                    </a:p>
                  </a:txBody>
                  <a:tcPr marL="76200" marR="76200" marT="106680" marB="106680" anchor="ctr"/>
                </a:tc>
                <a:tc>
                  <a:txBody>
                    <a:bodyPr/>
                    <a:lstStyle/>
                    <a:p>
                      <a:pPr algn="ctr" fontAlgn="base"/>
                      <a:r>
                        <a:rPr lang="en-IN" sz="1250" b="1">
                          <a:effectLst/>
                        </a:rPr>
                        <a:t>9852617621</a:t>
                      </a:r>
                    </a:p>
                  </a:txBody>
                  <a:tcPr marL="76200" marR="76200" marT="106680" marB="106680" anchor="ctr"/>
                </a:tc>
                <a:tc>
                  <a:txBody>
                    <a:bodyPr/>
                    <a:lstStyle/>
                    <a:p>
                      <a:pPr algn="ctr" fontAlgn="base"/>
                      <a:r>
                        <a:rPr lang="en-IN" sz="1250" b="1">
                          <a:effectLst/>
                        </a:rPr>
                        <a:t>21</a:t>
                      </a:r>
                    </a:p>
                  </a:txBody>
                  <a:tcPr marL="76200" marR="76200" marT="106680" marB="106680" anchor="ctr"/>
                </a:tc>
                <a:extLst>
                  <a:ext uri="{0D108BD9-81ED-4DB2-BD59-A6C34878D82A}">
                    <a16:rowId xmlns:a16="http://schemas.microsoft.com/office/drawing/2014/main" val="2889671715"/>
                  </a:ext>
                </a:extLst>
              </a:tr>
              <a:tr h="469377">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1625343975"/>
                  </a:ext>
                </a:extLst>
              </a:tr>
            </a:tbl>
          </a:graphicData>
        </a:graphic>
      </p:graphicFrame>
      <p:sp>
        <p:nvSpPr>
          <p:cNvPr id="10" name="TextBox 9">
            <a:extLst>
              <a:ext uri="{FF2B5EF4-FFF2-40B4-BE49-F238E27FC236}">
                <a16:creationId xmlns:a16="http://schemas.microsoft.com/office/drawing/2014/main" id="{FAE83314-A93C-4E4B-9D17-869AB0F2EA15}"/>
              </a:ext>
            </a:extLst>
          </p:cNvPr>
          <p:cNvSpPr txBox="1"/>
          <p:nvPr/>
        </p:nvSpPr>
        <p:spPr>
          <a:xfrm>
            <a:off x="8402979" y="2184332"/>
            <a:ext cx="1302798" cy="369332"/>
          </a:xfrm>
          <a:prstGeom prst="rect">
            <a:avLst/>
          </a:prstGeom>
          <a:noFill/>
        </p:spPr>
        <p:txBody>
          <a:bodyPr wrap="square">
            <a:spAutoFit/>
          </a:bodyPr>
          <a:lstStyle/>
          <a:p>
            <a:r>
              <a:rPr lang="en-IN" b="1" i="0" dirty="0">
                <a:solidFill>
                  <a:srgbClr val="273239"/>
                </a:solidFill>
                <a:effectLst/>
                <a:latin typeface="urw-din"/>
              </a:rPr>
              <a:t>EMPLOYEE </a:t>
            </a:r>
            <a:endParaRPr lang="en-IN" dirty="0"/>
          </a:p>
        </p:txBody>
      </p:sp>
      <p:sp>
        <p:nvSpPr>
          <p:cNvPr id="11" name="Rectangle 1">
            <a:extLst>
              <a:ext uri="{FF2B5EF4-FFF2-40B4-BE49-F238E27FC236}">
                <a16:creationId xmlns:a16="http://schemas.microsoft.com/office/drawing/2014/main" id="{352F0A0A-680D-45AB-8964-CC222D975849}"/>
              </a:ext>
            </a:extLst>
          </p:cNvPr>
          <p:cNvSpPr>
            <a:spLocks noChangeArrowheads="1"/>
          </p:cNvSpPr>
          <p:nvPr/>
        </p:nvSpPr>
        <p:spPr bwMode="auto">
          <a:xfrm>
            <a:off x="3458457" y="5356609"/>
            <a:ext cx="644246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a:ln>
                  <a:noFill/>
                </a:ln>
                <a:solidFill>
                  <a:srgbClr val="273239"/>
                </a:solidFill>
                <a:effectLst/>
                <a:latin typeface="Consolas" panose="020B0609020204030204" pitchFamily="49" charset="0"/>
              </a:rPr>
              <a:t>STUDENT⟗</a:t>
            </a:r>
            <a:r>
              <a:rPr kumimoji="0" lang="en-US" altLang="en-US" sz="2400" b="1" i="0" u="none" strike="noStrike" cap="none" normalizeH="0" baseline="-30000">
                <a:ln>
                  <a:noFill/>
                </a:ln>
                <a:solidFill>
                  <a:srgbClr val="273239"/>
                </a:solidFill>
                <a:effectLst/>
                <a:latin typeface="Consolas" panose="020B0609020204030204" pitchFamily="49" charset="0"/>
              </a:rPr>
              <a:t>STUDENT.ROLL_NO&gt;EMPLOYEE.EMP_NO</a:t>
            </a:r>
            <a:r>
              <a:rPr kumimoji="0" lang="en-US" altLang="en-US" sz="2400" b="1" i="0" u="none" strike="noStrike" cap="none" normalizeH="0" baseline="0">
                <a:ln>
                  <a:noFill/>
                </a:ln>
                <a:solidFill>
                  <a:srgbClr val="273239"/>
                </a:solidFill>
                <a:effectLst/>
                <a:latin typeface="Consolas" panose="020B0609020204030204" pitchFamily="49" charset="0"/>
              </a:rPr>
              <a:t>EMPLOYEE</a:t>
            </a:r>
            <a:r>
              <a:rPr kumimoji="0" lang="en-US" altLang="en-US" sz="2400" b="0" i="0" u="none" strike="noStrike" cap="none" normalizeH="0" baseline="0">
                <a:ln>
                  <a:noFill/>
                </a:ln>
                <a:solidFill>
                  <a:schemeClr val="tx1"/>
                </a:solidFill>
                <a:effectLst/>
              </a:rPr>
              <a:t> </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4316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31DC37-D643-4D2A-A803-FDC0E992C578}"/>
              </a:ext>
            </a:extLst>
          </p:cNvPr>
          <p:cNvSpPr>
            <a:spLocks noGrp="1"/>
          </p:cNvSpPr>
          <p:nvPr>
            <p:ph idx="1"/>
          </p:nvPr>
        </p:nvSpPr>
        <p:spPr>
          <a:xfrm>
            <a:off x="1038687" y="932156"/>
            <a:ext cx="11043821" cy="5779362"/>
          </a:xfrm>
        </p:spPr>
        <p:txBody>
          <a:bodyPr/>
          <a:lstStyle/>
          <a:p>
            <a:pPr>
              <a:buFont typeface="Wingdings" panose="05000000000000000000" pitchFamily="2" charset="2"/>
              <a:buChar char="q"/>
            </a:pPr>
            <a:r>
              <a:rPr lang="en-IN" b="1" dirty="0"/>
              <a:t>Result</a:t>
            </a:r>
          </a:p>
        </p:txBody>
      </p:sp>
      <p:sp>
        <p:nvSpPr>
          <p:cNvPr id="4" name="Title 1">
            <a:extLst>
              <a:ext uri="{FF2B5EF4-FFF2-40B4-BE49-F238E27FC236}">
                <a16:creationId xmlns:a16="http://schemas.microsoft.com/office/drawing/2014/main" id="{9FD8FC8C-B215-45B4-A29F-3CF2CEEFD3E7}"/>
              </a:ext>
            </a:extLst>
          </p:cNvPr>
          <p:cNvSpPr>
            <a:spLocks noGrp="1"/>
          </p:cNvSpPr>
          <p:nvPr>
            <p:ph type="title"/>
          </p:nvPr>
        </p:nvSpPr>
        <p:spPr>
          <a:xfrm>
            <a:off x="838200" y="18894"/>
            <a:ext cx="10515600" cy="913262"/>
          </a:xfrm>
        </p:spPr>
        <p:txBody>
          <a:bodyPr/>
          <a:lstStyle/>
          <a:p>
            <a:pPr algn="ctr"/>
            <a:r>
              <a:rPr lang="en-IN" b="1" dirty="0">
                <a:solidFill>
                  <a:schemeClr val="accent4">
                    <a:lumMod val="50000"/>
                  </a:schemeClr>
                </a:solidFill>
              </a:rPr>
              <a:t>Full Outer Join</a:t>
            </a:r>
          </a:p>
        </p:txBody>
      </p:sp>
      <p:graphicFrame>
        <p:nvGraphicFramePr>
          <p:cNvPr id="5" name="Table 5">
            <a:extLst>
              <a:ext uri="{FF2B5EF4-FFF2-40B4-BE49-F238E27FC236}">
                <a16:creationId xmlns:a16="http://schemas.microsoft.com/office/drawing/2014/main" id="{902FB1A2-18EF-4B00-AFBD-7750C933203B}"/>
              </a:ext>
            </a:extLst>
          </p:cNvPr>
          <p:cNvGraphicFramePr>
            <a:graphicFrameLocks noGrp="1"/>
          </p:cNvGraphicFramePr>
          <p:nvPr>
            <p:extLst>
              <p:ext uri="{D42A27DB-BD31-4B8C-83A1-F6EECF244321}">
                <p14:modId xmlns:p14="http://schemas.microsoft.com/office/powerpoint/2010/main" val="3285581952"/>
              </p:ext>
            </p:extLst>
          </p:nvPr>
        </p:nvGraphicFramePr>
        <p:xfrm>
          <a:off x="1348419" y="1583875"/>
          <a:ext cx="9881830" cy="3230880"/>
        </p:xfrm>
        <a:graphic>
          <a:graphicData uri="http://schemas.openxmlformats.org/drawingml/2006/table">
            <a:tbl>
              <a:tblPr firstRow="1" bandRow="1">
                <a:tableStyleId>{5C22544A-7EE6-4342-B048-85BDC9FD1C3A}</a:tableStyleId>
              </a:tblPr>
              <a:tblGrid>
                <a:gridCol w="988183">
                  <a:extLst>
                    <a:ext uri="{9D8B030D-6E8A-4147-A177-3AD203B41FA5}">
                      <a16:colId xmlns:a16="http://schemas.microsoft.com/office/drawing/2014/main" val="3354292420"/>
                    </a:ext>
                  </a:extLst>
                </a:gridCol>
                <a:gridCol w="988183">
                  <a:extLst>
                    <a:ext uri="{9D8B030D-6E8A-4147-A177-3AD203B41FA5}">
                      <a16:colId xmlns:a16="http://schemas.microsoft.com/office/drawing/2014/main" val="978423231"/>
                    </a:ext>
                  </a:extLst>
                </a:gridCol>
                <a:gridCol w="988183">
                  <a:extLst>
                    <a:ext uri="{9D8B030D-6E8A-4147-A177-3AD203B41FA5}">
                      <a16:colId xmlns:a16="http://schemas.microsoft.com/office/drawing/2014/main" val="2384043273"/>
                    </a:ext>
                  </a:extLst>
                </a:gridCol>
                <a:gridCol w="988183">
                  <a:extLst>
                    <a:ext uri="{9D8B030D-6E8A-4147-A177-3AD203B41FA5}">
                      <a16:colId xmlns:a16="http://schemas.microsoft.com/office/drawing/2014/main" val="4225141138"/>
                    </a:ext>
                  </a:extLst>
                </a:gridCol>
                <a:gridCol w="988183">
                  <a:extLst>
                    <a:ext uri="{9D8B030D-6E8A-4147-A177-3AD203B41FA5}">
                      <a16:colId xmlns:a16="http://schemas.microsoft.com/office/drawing/2014/main" val="1559032469"/>
                    </a:ext>
                  </a:extLst>
                </a:gridCol>
                <a:gridCol w="988183">
                  <a:extLst>
                    <a:ext uri="{9D8B030D-6E8A-4147-A177-3AD203B41FA5}">
                      <a16:colId xmlns:a16="http://schemas.microsoft.com/office/drawing/2014/main" val="252147181"/>
                    </a:ext>
                  </a:extLst>
                </a:gridCol>
                <a:gridCol w="988183">
                  <a:extLst>
                    <a:ext uri="{9D8B030D-6E8A-4147-A177-3AD203B41FA5}">
                      <a16:colId xmlns:a16="http://schemas.microsoft.com/office/drawing/2014/main" val="451964165"/>
                    </a:ext>
                  </a:extLst>
                </a:gridCol>
                <a:gridCol w="988183">
                  <a:extLst>
                    <a:ext uri="{9D8B030D-6E8A-4147-A177-3AD203B41FA5}">
                      <a16:colId xmlns:a16="http://schemas.microsoft.com/office/drawing/2014/main" val="1157600799"/>
                    </a:ext>
                  </a:extLst>
                </a:gridCol>
                <a:gridCol w="988183">
                  <a:extLst>
                    <a:ext uri="{9D8B030D-6E8A-4147-A177-3AD203B41FA5}">
                      <a16:colId xmlns:a16="http://schemas.microsoft.com/office/drawing/2014/main" val="1869108753"/>
                    </a:ext>
                  </a:extLst>
                </a:gridCol>
                <a:gridCol w="988183">
                  <a:extLst>
                    <a:ext uri="{9D8B030D-6E8A-4147-A177-3AD203B41FA5}">
                      <a16:colId xmlns:a16="http://schemas.microsoft.com/office/drawing/2014/main" val="2340591704"/>
                    </a:ext>
                  </a:extLst>
                </a:gridCol>
              </a:tblGrid>
              <a:tr h="370840">
                <a:tc>
                  <a:txBody>
                    <a:bodyPr/>
                    <a:lstStyle/>
                    <a:p>
                      <a:pPr algn="ctr" fontAlgn="base"/>
                      <a:r>
                        <a:rPr lang="en-IN" sz="1250" b="1">
                          <a:effectLst/>
                        </a:rPr>
                        <a:t>ROLL_NO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tc>
                  <a:txBody>
                    <a:bodyPr/>
                    <a:lstStyle/>
                    <a:p>
                      <a:pPr algn="ctr" fontAlgn="base"/>
                      <a:r>
                        <a:rPr lang="en-IN" sz="1250" b="1">
                          <a:effectLst/>
                        </a:rPr>
                        <a:t>EMP_NO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662006353"/>
                  </a:ext>
                </a:extLst>
              </a:tr>
              <a:tr h="370840">
                <a:tc>
                  <a:txBody>
                    <a:bodyPr/>
                    <a:lstStyle/>
                    <a:p>
                      <a:pPr algn="ctr" fontAlgn="base"/>
                      <a:r>
                        <a:rPr lang="en-IN" sz="1250" b="1">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185812687"/>
                  </a:ext>
                </a:extLst>
              </a:tr>
              <a:tr h="370840">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a:effectLst/>
                        </a:rPr>
                        <a:t>20</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1175865299"/>
                  </a:ext>
                </a:extLst>
              </a:tr>
              <a:tr h="370840">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3517934618"/>
                  </a:ext>
                </a:extLst>
              </a:tr>
              <a:tr h="370840">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5</a:t>
                      </a:r>
                    </a:p>
                  </a:txBody>
                  <a:tcPr marL="76200" marR="76200" marT="106680" marB="106680" anchor="ctr"/>
                </a:tc>
                <a:tc>
                  <a:txBody>
                    <a:bodyPr/>
                    <a:lstStyle/>
                    <a:p>
                      <a:pPr algn="ctr" fontAlgn="base"/>
                      <a:r>
                        <a:rPr lang="en-IN" sz="1250" b="1">
                          <a:effectLst/>
                        </a:rPr>
                        <a:t>NARESH</a:t>
                      </a:r>
                    </a:p>
                  </a:txBody>
                  <a:tcPr marL="76200" marR="76200" marT="106680" marB="106680" anchor="ctr"/>
                </a:tc>
                <a:tc>
                  <a:txBody>
                    <a:bodyPr/>
                    <a:lstStyle/>
                    <a:p>
                      <a:pPr algn="ctr" fontAlgn="base"/>
                      <a:r>
                        <a:rPr lang="en-IN" sz="1250" b="1">
                          <a:effectLst/>
                        </a:rPr>
                        <a:t>HISAR</a:t>
                      </a:r>
                    </a:p>
                  </a:txBody>
                  <a:tcPr marL="76200" marR="76200" marT="106680" marB="106680" anchor="ctr"/>
                </a:tc>
                <a:tc>
                  <a:txBody>
                    <a:bodyPr/>
                    <a:lstStyle/>
                    <a:p>
                      <a:pPr algn="ctr" fontAlgn="base"/>
                      <a:r>
                        <a:rPr lang="en-IN" sz="1250" b="1">
                          <a:effectLst/>
                        </a:rPr>
                        <a:t>9782918192</a:t>
                      </a:r>
                    </a:p>
                  </a:txBody>
                  <a:tcPr marL="76200" marR="76200" marT="106680" marB="106680" anchor="ctr"/>
                </a:tc>
                <a:tc>
                  <a:txBody>
                    <a:bodyPr/>
                    <a:lstStyle/>
                    <a:p>
                      <a:pPr algn="ctr" fontAlgn="base"/>
                      <a:r>
                        <a:rPr lang="en-IN" sz="1250" b="1">
                          <a:effectLst/>
                        </a:rPr>
                        <a:t>22</a:t>
                      </a:r>
                    </a:p>
                  </a:txBody>
                  <a:tcPr marL="76200" marR="76200" marT="106680" marB="106680" anchor="ctr"/>
                </a:tc>
                <a:extLst>
                  <a:ext uri="{0D108BD9-81ED-4DB2-BD59-A6C34878D82A}">
                    <a16:rowId xmlns:a16="http://schemas.microsoft.com/office/drawing/2014/main" val="2709971476"/>
                  </a:ext>
                </a:extLst>
              </a:tr>
              <a:tr h="370840">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6</a:t>
                      </a:r>
                    </a:p>
                  </a:txBody>
                  <a:tcPr marL="76200" marR="76200" marT="106680" marB="106680" anchor="ctr"/>
                </a:tc>
                <a:tc>
                  <a:txBody>
                    <a:bodyPr/>
                    <a:lstStyle/>
                    <a:p>
                      <a:pPr algn="ctr" fontAlgn="base"/>
                      <a:r>
                        <a:rPr lang="en-IN" sz="1250" b="1">
                          <a:effectLst/>
                        </a:rPr>
                        <a:t>SWETA</a:t>
                      </a:r>
                    </a:p>
                  </a:txBody>
                  <a:tcPr marL="76200" marR="76200" marT="106680" marB="106680" anchor="ctr"/>
                </a:tc>
                <a:tc>
                  <a:txBody>
                    <a:bodyPr/>
                    <a:lstStyle/>
                    <a:p>
                      <a:pPr algn="ctr" fontAlgn="base"/>
                      <a:r>
                        <a:rPr lang="en-IN" sz="1250" b="1">
                          <a:effectLst/>
                        </a:rPr>
                        <a:t>RANCHI</a:t>
                      </a:r>
                    </a:p>
                  </a:txBody>
                  <a:tcPr marL="76200" marR="76200" marT="106680" marB="106680" anchor="ctr"/>
                </a:tc>
                <a:tc>
                  <a:txBody>
                    <a:bodyPr/>
                    <a:lstStyle/>
                    <a:p>
                      <a:pPr algn="ctr" fontAlgn="base"/>
                      <a:r>
                        <a:rPr lang="en-IN" sz="1250" b="1">
                          <a:effectLst/>
                        </a:rPr>
                        <a:t>9852617621</a:t>
                      </a:r>
                    </a:p>
                  </a:txBody>
                  <a:tcPr marL="76200" marR="76200" marT="106680" marB="106680" anchor="ctr"/>
                </a:tc>
                <a:tc>
                  <a:txBody>
                    <a:bodyPr/>
                    <a:lstStyle/>
                    <a:p>
                      <a:pPr algn="ctr" fontAlgn="base"/>
                      <a:r>
                        <a:rPr lang="en-IN" sz="1250" b="1">
                          <a:effectLst/>
                        </a:rPr>
                        <a:t>21</a:t>
                      </a:r>
                    </a:p>
                  </a:txBody>
                  <a:tcPr marL="76200" marR="76200" marT="106680" marB="106680" anchor="ctr"/>
                </a:tc>
                <a:extLst>
                  <a:ext uri="{0D108BD9-81ED-4DB2-BD59-A6C34878D82A}">
                    <a16:rowId xmlns:a16="http://schemas.microsoft.com/office/drawing/2014/main" val="908444198"/>
                  </a:ext>
                </a:extLst>
              </a:tr>
              <a:tr h="370840">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947966911"/>
                  </a:ext>
                </a:extLst>
              </a:tr>
              <a:tr h="370840">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a:effectLst/>
                        </a:rPr>
                        <a:t>NULL</a:t>
                      </a:r>
                    </a:p>
                  </a:txBody>
                  <a:tcPr marL="76200" marR="76200" marT="106680" marB="106680" anchor="ctr"/>
                </a:tc>
                <a:tc>
                  <a:txBody>
                    <a:bodyPr/>
                    <a:lstStyle/>
                    <a:p>
                      <a:pPr algn="ctr" fontAlgn="base"/>
                      <a:r>
                        <a:rPr lang="en-IN" sz="1250" b="1" dirty="0">
                          <a:effectLst/>
                        </a:rPr>
                        <a:t>NULL</a:t>
                      </a:r>
                    </a:p>
                  </a:txBody>
                  <a:tcPr marL="76200" marR="76200" marT="106680" marB="106680" anchor="ctr"/>
                </a:tc>
                <a:extLst>
                  <a:ext uri="{0D108BD9-81ED-4DB2-BD59-A6C34878D82A}">
                    <a16:rowId xmlns:a16="http://schemas.microsoft.com/office/drawing/2014/main" val="2774276405"/>
                  </a:ext>
                </a:extLst>
              </a:tr>
            </a:tbl>
          </a:graphicData>
        </a:graphic>
      </p:graphicFrame>
    </p:spTree>
    <p:extLst>
      <p:ext uri="{BB962C8B-B14F-4D97-AF65-F5344CB8AC3E}">
        <p14:creationId xmlns:p14="http://schemas.microsoft.com/office/powerpoint/2010/main" val="1906530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E3403-7FF1-42FB-B24A-E9A7E5F45968}"/>
              </a:ext>
            </a:extLst>
          </p:cNvPr>
          <p:cNvSpPr>
            <a:spLocks noGrp="1"/>
          </p:cNvSpPr>
          <p:nvPr>
            <p:ph type="title"/>
          </p:nvPr>
        </p:nvSpPr>
        <p:spPr>
          <a:xfrm>
            <a:off x="838200" y="10015"/>
            <a:ext cx="10515600" cy="957651"/>
          </a:xfrm>
        </p:spPr>
        <p:txBody>
          <a:bodyPr/>
          <a:lstStyle/>
          <a:p>
            <a:pPr algn="ctr"/>
            <a:r>
              <a:rPr lang="en-IN" b="1" dirty="0">
                <a:solidFill>
                  <a:schemeClr val="accent4">
                    <a:lumMod val="50000"/>
                  </a:schemeClr>
                </a:solidFill>
              </a:rPr>
              <a:t>5. Rename Operation </a:t>
            </a:r>
          </a:p>
        </p:txBody>
      </p:sp>
      <p:sp>
        <p:nvSpPr>
          <p:cNvPr id="3" name="Content Placeholder 2">
            <a:extLst>
              <a:ext uri="{FF2B5EF4-FFF2-40B4-BE49-F238E27FC236}">
                <a16:creationId xmlns:a16="http://schemas.microsoft.com/office/drawing/2014/main" id="{134B7C36-71FD-445E-9DC7-A78D7A0F75D3}"/>
              </a:ext>
            </a:extLst>
          </p:cNvPr>
          <p:cNvSpPr>
            <a:spLocks noGrp="1"/>
          </p:cNvSpPr>
          <p:nvPr>
            <p:ph idx="1"/>
          </p:nvPr>
        </p:nvSpPr>
        <p:spPr>
          <a:xfrm>
            <a:off x="1047564" y="834500"/>
            <a:ext cx="11008311" cy="5939161"/>
          </a:xfrm>
        </p:spPr>
        <p:txBody>
          <a:bodyPr>
            <a:normAutofit/>
          </a:bodyPr>
          <a:lstStyle/>
          <a:p>
            <a:pPr eaLnBrk="1" hangingPunct="1">
              <a:buFont typeface="Wingdings" panose="05000000000000000000" pitchFamily="2" charset="2"/>
              <a:buChar char="q"/>
            </a:pPr>
            <a:r>
              <a:rPr lang="en-US" altLang="en-US" dirty="0"/>
              <a:t>RENAME operator is denoted by </a:t>
            </a:r>
            <a:r>
              <a:rPr lang="en-US" altLang="en-US" dirty="0">
                <a:sym typeface="Symbol" panose="05050102010706020507" pitchFamily="18" charset="2"/>
              </a:rPr>
              <a:t> (</a:t>
            </a:r>
            <a:r>
              <a:rPr lang="en-US" altLang="en-US" b="1" dirty="0">
                <a:sym typeface="Symbol" panose="05050102010706020507" pitchFamily="18" charset="2"/>
              </a:rPr>
              <a:t>rho</a:t>
            </a:r>
            <a:r>
              <a:rPr lang="en-US" altLang="en-US" dirty="0">
                <a:sym typeface="Symbol" panose="05050102010706020507" pitchFamily="18" charset="2"/>
              </a:rPr>
              <a:t>)</a:t>
            </a:r>
          </a:p>
          <a:p>
            <a:pPr eaLnBrk="1" hangingPunct="1">
              <a:buFont typeface="Wingdings" panose="05000000000000000000" pitchFamily="2" charset="2"/>
              <a:buChar char="q"/>
            </a:pPr>
            <a:endParaRPr lang="en-US" altLang="en-US" dirty="0">
              <a:sym typeface="Symbol" panose="05050102010706020507" pitchFamily="18" charset="2"/>
            </a:endParaRPr>
          </a:p>
          <a:p>
            <a:pPr eaLnBrk="1" hangingPunct="1">
              <a:buFont typeface="Wingdings" panose="05000000000000000000" pitchFamily="2" charset="2"/>
              <a:buChar char="q"/>
            </a:pPr>
            <a:r>
              <a:rPr lang="en-US" altLang="en-US" dirty="0"/>
              <a:t>In some cases, we may want to </a:t>
            </a:r>
            <a:r>
              <a:rPr lang="en-US" altLang="en-US" i="1" dirty="0"/>
              <a:t>rename </a:t>
            </a:r>
            <a:r>
              <a:rPr lang="en-US" altLang="en-US" dirty="0"/>
              <a:t>the </a:t>
            </a:r>
            <a:r>
              <a:rPr lang="en-US" altLang="en-US" u="sng" dirty="0"/>
              <a:t>attributes</a:t>
            </a:r>
            <a:r>
              <a:rPr lang="en-US" altLang="en-US" dirty="0"/>
              <a:t> of a relation or the </a:t>
            </a:r>
            <a:r>
              <a:rPr lang="en-US" altLang="en-US" u="sng" dirty="0"/>
              <a:t>relation name </a:t>
            </a:r>
            <a:r>
              <a:rPr lang="en-US" altLang="en-US" dirty="0"/>
              <a:t>or both</a:t>
            </a:r>
          </a:p>
          <a:p>
            <a:pPr lvl="1" eaLnBrk="1" hangingPunct="1">
              <a:buFont typeface="Wingdings" panose="05000000000000000000" pitchFamily="2" charset="2"/>
              <a:buChar char="§"/>
            </a:pPr>
            <a:r>
              <a:rPr lang="en-US" altLang="en-US" sz="2800" dirty="0"/>
              <a:t>Useful when a query requires multiple operations</a:t>
            </a:r>
          </a:p>
          <a:p>
            <a:pPr lvl="1" eaLnBrk="1" hangingPunct="1">
              <a:buFont typeface="Wingdings" panose="05000000000000000000" pitchFamily="2" charset="2"/>
              <a:buChar char="§"/>
            </a:pPr>
            <a:endParaRPr lang="en-US" altLang="en-US" sz="2800" dirty="0"/>
          </a:p>
        </p:txBody>
      </p:sp>
    </p:spTree>
    <p:extLst>
      <p:ext uri="{BB962C8B-B14F-4D97-AF65-F5344CB8AC3E}">
        <p14:creationId xmlns:p14="http://schemas.microsoft.com/office/powerpoint/2010/main" val="2811796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E3403-7FF1-42FB-B24A-E9A7E5F45968}"/>
              </a:ext>
            </a:extLst>
          </p:cNvPr>
          <p:cNvSpPr>
            <a:spLocks noGrp="1"/>
          </p:cNvSpPr>
          <p:nvPr>
            <p:ph type="title"/>
          </p:nvPr>
        </p:nvSpPr>
        <p:spPr>
          <a:xfrm>
            <a:off x="838200" y="10015"/>
            <a:ext cx="10515600" cy="957651"/>
          </a:xfrm>
        </p:spPr>
        <p:txBody>
          <a:bodyPr/>
          <a:lstStyle/>
          <a:p>
            <a:pPr algn="ctr"/>
            <a:r>
              <a:rPr lang="en-IN" b="1" dirty="0">
                <a:solidFill>
                  <a:schemeClr val="accent4">
                    <a:lumMod val="50000"/>
                  </a:schemeClr>
                </a:solidFill>
              </a:rPr>
              <a:t>Rename Operation </a:t>
            </a:r>
          </a:p>
        </p:txBody>
      </p:sp>
      <p:sp>
        <p:nvSpPr>
          <p:cNvPr id="3" name="Content Placeholder 2">
            <a:extLst>
              <a:ext uri="{FF2B5EF4-FFF2-40B4-BE49-F238E27FC236}">
                <a16:creationId xmlns:a16="http://schemas.microsoft.com/office/drawing/2014/main" id="{134B7C36-71FD-445E-9DC7-A78D7A0F75D3}"/>
              </a:ext>
            </a:extLst>
          </p:cNvPr>
          <p:cNvSpPr>
            <a:spLocks noGrp="1"/>
          </p:cNvSpPr>
          <p:nvPr>
            <p:ph idx="1"/>
          </p:nvPr>
        </p:nvSpPr>
        <p:spPr>
          <a:xfrm>
            <a:off x="1047564" y="834500"/>
            <a:ext cx="11008311" cy="5939161"/>
          </a:xfrm>
        </p:spPr>
        <p:txBody>
          <a:bodyPr>
            <a:normAutofit/>
          </a:bodyPr>
          <a:lstStyle/>
          <a:p>
            <a:pPr>
              <a:buFont typeface="Wingdings" panose="05000000000000000000" pitchFamily="2" charset="2"/>
              <a:buChar char="q"/>
            </a:pPr>
            <a:r>
              <a:rPr lang="en-US" altLang="en-US" dirty="0"/>
              <a:t>General RENAME operation </a:t>
            </a:r>
            <a:r>
              <a:rPr lang="en-US" altLang="en-US" dirty="0">
                <a:sym typeface="Symbol" panose="05050102010706020507" pitchFamily="18" charset="2"/>
              </a:rPr>
              <a:t> </a:t>
            </a:r>
            <a:r>
              <a:rPr lang="en-US" altLang="en-US" dirty="0"/>
              <a:t>can be expressed by any of the following forms:</a:t>
            </a:r>
          </a:p>
          <a:p>
            <a:pPr lvl="1">
              <a:buFont typeface="Wingdings" panose="05000000000000000000" pitchFamily="2" charset="2"/>
              <a:buChar char="§"/>
            </a:pPr>
            <a:r>
              <a:rPr lang="en-US" altLang="en-US" dirty="0">
                <a:sym typeface="Symbol" panose="05050102010706020507" pitchFamily="18" charset="2"/>
              </a:rPr>
              <a:t></a:t>
            </a:r>
            <a:r>
              <a:rPr lang="en-US" altLang="en-US" baseline="-25000" dirty="0">
                <a:sym typeface="Symbol" panose="05050102010706020507" pitchFamily="18" charset="2"/>
              </a:rPr>
              <a:t>S</a:t>
            </a:r>
            <a:r>
              <a:rPr lang="en-US" altLang="en-US" dirty="0">
                <a:sym typeface="Symbol" panose="05050102010706020507" pitchFamily="18" charset="2"/>
              </a:rPr>
              <a:t>(R) changes:</a:t>
            </a:r>
          </a:p>
          <a:p>
            <a:pPr lvl="2"/>
            <a:r>
              <a:rPr lang="en-US" altLang="en-US" dirty="0">
                <a:sym typeface="Symbol" panose="05050102010706020507" pitchFamily="18" charset="2"/>
              </a:rPr>
              <a:t>the </a:t>
            </a:r>
            <a:r>
              <a:rPr lang="en-US" altLang="en-US" i="1" dirty="0">
                <a:sym typeface="Symbol" panose="05050102010706020507" pitchFamily="18" charset="2"/>
              </a:rPr>
              <a:t>relation name</a:t>
            </a:r>
            <a:r>
              <a:rPr lang="en-US" altLang="en-US" dirty="0">
                <a:sym typeface="Symbol" panose="05050102010706020507" pitchFamily="18" charset="2"/>
              </a:rPr>
              <a:t> only to S</a:t>
            </a:r>
            <a:endParaRPr lang="en-US" altLang="en-US" dirty="0"/>
          </a:p>
          <a:p>
            <a:pPr lvl="1">
              <a:buFont typeface="Wingdings" panose="05000000000000000000" pitchFamily="2" charset="2"/>
              <a:buChar char="§"/>
            </a:pPr>
            <a:r>
              <a:rPr lang="en-US" altLang="en-US" dirty="0">
                <a:sym typeface="Symbol" panose="05050102010706020507" pitchFamily="18" charset="2"/>
              </a:rPr>
              <a:t></a:t>
            </a:r>
            <a:r>
              <a:rPr lang="en-US" altLang="en-US" baseline="-25000" dirty="0">
                <a:sym typeface="Symbol" panose="05050102010706020507" pitchFamily="18" charset="2"/>
              </a:rPr>
              <a:t>(B1, B2, …, </a:t>
            </a:r>
            <a:r>
              <a:rPr lang="en-US" altLang="en-US" baseline="-25000" dirty="0" err="1">
                <a:sym typeface="Symbol" panose="05050102010706020507" pitchFamily="18" charset="2"/>
              </a:rPr>
              <a:t>Bn</a:t>
            </a:r>
            <a:r>
              <a:rPr lang="en-US" altLang="en-US" baseline="-25000" dirty="0">
                <a:sym typeface="Symbol" panose="05050102010706020507" pitchFamily="18" charset="2"/>
              </a:rPr>
              <a:t> )</a:t>
            </a:r>
            <a:r>
              <a:rPr lang="en-US" altLang="en-US" dirty="0">
                <a:sym typeface="Symbol" panose="05050102010706020507" pitchFamily="18" charset="2"/>
              </a:rPr>
              <a:t>(R) changes:</a:t>
            </a:r>
          </a:p>
          <a:p>
            <a:pPr lvl="2"/>
            <a:r>
              <a:rPr lang="en-US" altLang="en-US" dirty="0">
                <a:sym typeface="Symbol" panose="05050102010706020507" pitchFamily="18" charset="2"/>
              </a:rPr>
              <a:t>the </a:t>
            </a:r>
            <a:r>
              <a:rPr lang="en-US" altLang="en-US" i="1" dirty="0">
                <a:sym typeface="Symbol" panose="05050102010706020507" pitchFamily="18" charset="2"/>
              </a:rPr>
              <a:t>column (attribute) names</a:t>
            </a:r>
            <a:r>
              <a:rPr lang="en-US" altLang="en-US" dirty="0">
                <a:sym typeface="Symbol" panose="05050102010706020507" pitchFamily="18" charset="2"/>
              </a:rPr>
              <a:t> only to B1, B1, …..Bn.</a:t>
            </a:r>
          </a:p>
          <a:p>
            <a:pPr lvl="2"/>
            <a:r>
              <a:rPr lang="en-US" altLang="en-US" dirty="0">
                <a:sym typeface="Symbol" panose="05050102010706020507" pitchFamily="18" charset="2"/>
              </a:rPr>
              <a:t>In Relation R, attributes are A1,A2,…..An, So for each Ai is renamed to Bi.</a:t>
            </a:r>
          </a:p>
          <a:p>
            <a:pPr lvl="1">
              <a:buFont typeface="Wingdings" panose="05000000000000000000" pitchFamily="2" charset="2"/>
              <a:buChar char="§"/>
            </a:pPr>
            <a:r>
              <a:rPr lang="en-US" altLang="en-US" dirty="0">
                <a:sym typeface="Symbol" panose="05050102010706020507" pitchFamily="18" charset="2"/>
              </a:rPr>
              <a:t></a:t>
            </a:r>
            <a:r>
              <a:rPr lang="en-US" altLang="en-US" baseline="-25000" dirty="0">
                <a:sym typeface="Symbol" panose="05050102010706020507" pitchFamily="18" charset="2"/>
              </a:rPr>
              <a:t>S (B1, B2, …, </a:t>
            </a:r>
            <a:r>
              <a:rPr lang="en-US" altLang="en-US" baseline="-25000" dirty="0" err="1">
                <a:sym typeface="Symbol" panose="05050102010706020507" pitchFamily="18" charset="2"/>
              </a:rPr>
              <a:t>Bn</a:t>
            </a:r>
            <a:r>
              <a:rPr lang="en-US" altLang="en-US" baseline="-25000" dirty="0">
                <a:sym typeface="Symbol" panose="05050102010706020507" pitchFamily="18" charset="2"/>
              </a:rPr>
              <a:t> )</a:t>
            </a:r>
            <a:r>
              <a:rPr lang="en-US" altLang="en-US" dirty="0">
                <a:sym typeface="Symbol" panose="05050102010706020507" pitchFamily="18" charset="2"/>
              </a:rPr>
              <a:t>(R) changes both:</a:t>
            </a:r>
          </a:p>
          <a:p>
            <a:pPr lvl="2"/>
            <a:r>
              <a:rPr lang="en-US" altLang="en-US" dirty="0">
                <a:sym typeface="Symbol" panose="05050102010706020507" pitchFamily="18" charset="2"/>
              </a:rPr>
              <a:t>the relation name to S, </a:t>
            </a:r>
            <a:r>
              <a:rPr lang="en-US" altLang="en-US" i="1" dirty="0">
                <a:sym typeface="Symbol" panose="05050102010706020507" pitchFamily="18" charset="2"/>
              </a:rPr>
              <a:t>and </a:t>
            </a:r>
          </a:p>
          <a:p>
            <a:pPr lvl="2"/>
            <a:r>
              <a:rPr lang="en-US" altLang="en-US" dirty="0">
                <a:sym typeface="Symbol" panose="05050102010706020507" pitchFamily="18" charset="2"/>
              </a:rPr>
              <a:t>the column (attribute) names to B1, B1, …..</a:t>
            </a:r>
            <a:r>
              <a:rPr lang="en-US" altLang="en-US" dirty="0" err="1">
                <a:sym typeface="Symbol" panose="05050102010706020507" pitchFamily="18" charset="2"/>
              </a:rPr>
              <a:t>Bn</a:t>
            </a:r>
            <a:endParaRPr lang="en-US" altLang="en-US" dirty="0">
              <a:sym typeface="Symbol" panose="05050102010706020507" pitchFamily="18" charset="2"/>
            </a:endParaRPr>
          </a:p>
          <a:p>
            <a:pPr>
              <a:buFont typeface="Wingdings" panose="05000000000000000000" pitchFamily="2" charset="2"/>
              <a:buChar char="q"/>
              <a:defRPr/>
            </a:pPr>
            <a:endParaRPr lang="en-US" altLang="en-US" dirty="0"/>
          </a:p>
          <a:p>
            <a:pPr>
              <a:buFont typeface="Wingdings" panose="05000000000000000000" pitchFamily="2" charset="2"/>
              <a:buChar char="q"/>
              <a:defRPr/>
            </a:pPr>
            <a:r>
              <a:rPr lang="en-US" altLang="en-US" dirty="0"/>
              <a:t>If we write:</a:t>
            </a:r>
          </a:p>
          <a:p>
            <a:pPr lvl="1">
              <a:spcBef>
                <a:spcPct val="0"/>
              </a:spcBef>
              <a:buFont typeface="Wingdings" panose="05000000000000000000" pitchFamily="2" charset="2"/>
              <a:buChar char="§"/>
              <a:defRPr/>
            </a:pPr>
            <a:r>
              <a:rPr lang="en-US" altLang="en-US" sz="2900" dirty="0"/>
              <a:t>RESULT </a:t>
            </a:r>
            <a:r>
              <a:rPr lang="en-US" altLang="en-US" sz="2900" dirty="0">
                <a:sym typeface="Symbol" panose="05050102010706020507" pitchFamily="18" charset="2"/>
              </a:rPr>
              <a:t> </a:t>
            </a:r>
            <a:r>
              <a:rPr lang="en-US" altLang="en-US" sz="2900" b="1" dirty="0">
                <a:latin typeface="Symbol" panose="05050102010706020507" pitchFamily="18" charset="2"/>
              </a:rPr>
              <a:t></a:t>
            </a:r>
            <a:r>
              <a:rPr lang="en-US" altLang="en-US" sz="2900" dirty="0"/>
              <a:t> </a:t>
            </a:r>
            <a:r>
              <a:rPr lang="en-US" altLang="en-US" sz="2900" baseline="-25000" dirty="0"/>
              <a:t>FNAME, LNAME, SALARY</a:t>
            </a:r>
            <a:r>
              <a:rPr lang="en-US" altLang="en-US" sz="2900" dirty="0"/>
              <a:t> (R)</a:t>
            </a:r>
          </a:p>
          <a:p>
            <a:pPr lvl="2" eaLnBrk="1" hangingPunct="1">
              <a:spcBef>
                <a:spcPct val="0"/>
              </a:spcBef>
              <a:buClrTx/>
              <a:buSzTx/>
              <a:buFontTx/>
              <a:buChar char="•"/>
              <a:defRPr/>
            </a:pPr>
            <a:r>
              <a:rPr lang="en-US" altLang="en-US" sz="2500" dirty="0"/>
              <a:t>RESULT will have the </a:t>
            </a:r>
            <a:r>
              <a:rPr lang="en-US" altLang="en-US" sz="2500" i="1" dirty="0"/>
              <a:t>same attribute names</a:t>
            </a:r>
            <a:r>
              <a:rPr lang="en-US" altLang="en-US" sz="2500" dirty="0"/>
              <a:t> as R.</a:t>
            </a:r>
            <a:endParaRPr lang="en-IN" dirty="0"/>
          </a:p>
        </p:txBody>
      </p:sp>
    </p:spTree>
    <p:extLst>
      <p:ext uri="{BB962C8B-B14F-4D97-AF65-F5344CB8AC3E}">
        <p14:creationId xmlns:p14="http://schemas.microsoft.com/office/powerpoint/2010/main" val="2390014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FF4BE-7AE5-4D94-8942-2FD3C75D9614}"/>
              </a:ext>
            </a:extLst>
          </p:cNvPr>
          <p:cNvSpPr>
            <a:spLocks noGrp="1"/>
          </p:cNvSpPr>
          <p:nvPr>
            <p:ph type="title"/>
          </p:nvPr>
        </p:nvSpPr>
        <p:spPr>
          <a:xfrm>
            <a:off x="838200" y="18893"/>
            <a:ext cx="10515600" cy="948773"/>
          </a:xfrm>
        </p:spPr>
        <p:txBody>
          <a:bodyPr/>
          <a:lstStyle/>
          <a:p>
            <a:pPr algn="ctr"/>
            <a:r>
              <a:rPr lang="en-US" altLang="en-US" sz="4400" b="1" dirty="0">
                <a:solidFill>
                  <a:schemeClr val="accent4">
                    <a:lumMod val="50000"/>
                  </a:schemeClr>
                </a:solidFill>
              </a:rPr>
              <a:t>6. UNION</a:t>
            </a:r>
            <a:endParaRPr lang="en-IN" b="1" dirty="0">
              <a:solidFill>
                <a:schemeClr val="accent4">
                  <a:lumMod val="50000"/>
                </a:schemeClr>
              </a:solidFill>
            </a:endParaRPr>
          </a:p>
        </p:txBody>
      </p:sp>
      <p:sp>
        <p:nvSpPr>
          <p:cNvPr id="3" name="Content Placeholder 2">
            <a:extLst>
              <a:ext uri="{FF2B5EF4-FFF2-40B4-BE49-F238E27FC236}">
                <a16:creationId xmlns:a16="http://schemas.microsoft.com/office/drawing/2014/main" id="{027F9CAE-3E80-4DEB-A873-F2D0D598FD89}"/>
              </a:ext>
            </a:extLst>
          </p:cNvPr>
          <p:cNvSpPr>
            <a:spLocks noGrp="1"/>
          </p:cNvSpPr>
          <p:nvPr>
            <p:ph idx="1"/>
          </p:nvPr>
        </p:nvSpPr>
        <p:spPr>
          <a:xfrm>
            <a:off x="443145" y="756292"/>
            <a:ext cx="10910655" cy="5921405"/>
          </a:xfrm>
        </p:spPr>
        <p:txBody>
          <a:bodyPr>
            <a:normAutofit fontScale="92500" lnSpcReduction="20000"/>
          </a:bodyPr>
          <a:lstStyle/>
          <a:p>
            <a:pPr algn="just">
              <a:buFont typeface="Wingdings" panose="05000000000000000000" pitchFamily="2" charset="2"/>
              <a:buChar char="q"/>
            </a:pPr>
            <a:r>
              <a:rPr lang="en-US" altLang="en-US" u="sng" dirty="0"/>
              <a:t>Set Operators</a:t>
            </a:r>
            <a:r>
              <a:rPr lang="en-US" altLang="en-US" dirty="0"/>
              <a:t>: union, intersection, difference.</a:t>
            </a:r>
          </a:p>
          <a:p>
            <a:pPr algn="just">
              <a:buFont typeface="Wingdings" panose="05000000000000000000" pitchFamily="2" charset="2"/>
              <a:buChar char="q"/>
            </a:pPr>
            <a:r>
              <a:rPr lang="en-US" altLang="en-US" dirty="0"/>
              <a:t>Binary operation, denoted by </a:t>
            </a:r>
            <a:r>
              <a:rPr lang="en-US" altLang="en-US" b="1" dirty="0">
                <a:latin typeface="Symbol" panose="05050102010706020507" pitchFamily="18" charset="2"/>
              </a:rPr>
              <a:t></a:t>
            </a:r>
            <a:r>
              <a:rPr lang="en-US" altLang="en-US" dirty="0"/>
              <a:t> </a:t>
            </a:r>
          </a:p>
          <a:p>
            <a:pPr algn="just">
              <a:buFont typeface="Wingdings" panose="05000000000000000000" pitchFamily="2" charset="2"/>
              <a:buChar char="q"/>
            </a:pPr>
            <a:endParaRPr lang="en-US" altLang="en-US" dirty="0"/>
          </a:p>
          <a:p>
            <a:pPr algn="just">
              <a:buFont typeface="Wingdings" panose="05000000000000000000" pitchFamily="2" charset="2"/>
              <a:buChar char="q"/>
            </a:pPr>
            <a:r>
              <a:rPr lang="en-US" altLang="en-US" dirty="0"/>
              <a:t>Result of </a:t>
            </a:r>
            <a:r>
              <a:rPr lang="en-US" altLang="en-US" b="1" dirty="0"/>
              <a:t>R </a:t>
            </a:r>
            <a:r>
              <a:rPr lang="en-US" altLang="en-US" b="1" dirty="0">
                <a:latin typeface="Symbol" panose="05050102010706020507" pitchFamily="18" charset="2"/>
              </a:rPr>
              <a:t></a:t>
            </a:r>
            <a:r>
              <a:rPr lang="en-US" altLang="en-US" b="1" dirty="0"/>
              <a:t> S</a:t>
            </a:r>
            <a:r>
              <a:rPr lang="en-US" altLang="en-US" dirty="0"/>
              <a:t>, is a relation that includes all tuples that are either in R or in S or in both R and S.</a:t>
            </a:r>
          </a:p>
          <a:p>
            <a:pPr algn="just">
              <a:buFont typeface="Wingdings" panose="05000000000000000000" pitchFamily="2" charset="2"/>
              <a:buChar char="q"/>
            </a:pPr>
            <a:endParaRPr lang="en-US" altLang="en-US" dirty="0"/>
          </a:p>
          <a:p>
            <a:pPr algn="just">
              <a:buFont typeface="Wingdings" panose="05000000000000000000" pitchFamily="2" charset="2"/>
              <a:buChar char="q"/>
            </a:pPr>
            <a:r>
              <a:rPr lang="en-US" altLang="en-US" b="1" dirty="0"/>
              <a:t>Duplicate</a:t>
            </a:r>
            <a:r>
              <a:rPr lang="en-US" altLang="en-US" dirty="0"/>
              <a:t> tuples are </a:t>
            </a:r>
            <a:r>
              <a:rPr lang="en-US" altLang="en-US" b="1" dirty="0"/>
              <a:t>eliminated</a:t>
            </a:r>
            <a:r>
              <a:rPr lang="en-US" altLang="en-US" dirty="0"/>
              <a:t>.</a:t>
            </a:r>
          </a:p>
          <a:p>
            <a:pPr algn="just">
              <a:buFont typeface="Wingdings" panose="05000000000000000000" pitchFamily="2" charset="2"/>
              <a:buChar char="q"/>
            </a:pPr>
            <a:endParaRPr lang="en-US" altLang="en-US" dirty="0"/>
          </a:p>
          <a:p>
            <a:pPr algn="just">
              <a:buFont typeface="Wingdings" panose="05000000000000000000" pitchFamily="2" charset="2"/>
              <a:buChar char="q"/>
            </a:pPr>
            <a:r>
              <a:rPr lang="en-US" altLang="en-US" dirty="0"/>
              <a:t>Two operand relations R and S must be “</a:t>
            </a:r>
            <a:r>
              <a:rPr lang="en-US" altLang="en-US" b="1" dirty="0"/>
              <a:t>type compatible</a:t>
            </a:r>
            <a:r>
              <a:rPr lang="en-US" altLang="en-US" dirty="0"/>
              <a:t>” (or UNION compatible)</a:t>
            </a:r>
          </a:p>
          <a:p>
            <a:pPr lvl="1" algn="just">
              <a:buFont typeface="Wingdings" panose="05000000000000000000" pitchFamily="2" charset="2"/>
              <a:buChar char="§"/>
            </a:pPr>
            <a:r>
              <a:rPr lang="en-US" altLang="en-US" dirty="0"/>
              <a:t>R and S must have </a:t>
            </a:r>
            <a:r>
              <a:rPr lang="en-US" altLang="en-US" b="1" dirty="0"/>
              <a:t>same number of attributes</a:t>
            </a:r>
            <a:r>
              <a:rPr lang="en-US" altLang="en-US" dirty="0"/>
              <a:t>.</a:t>
            </a:r>
          </a:p>
          <a:p>
            <a:pPr lvl="1" algn="just">
              <a:buFont typeface="Wingdings" panose="05000000000000000000" pitchFamily="2" charset="2"/>
              <a:buChar char="§"/>
            </a:pPr>
            <a:r>
              <a:rPr lang="en-US" altLang="en-US" dirty="0"/>
              <a:t>Each pair of corresponding attributes must be type compatible (have same or compatible domains).</a:t>
            </a:r>
          </a:p>
          <a:p>
            <a:pPr algn="just">
              <a:buFont typeface="Wingdings" panose="05000000000000000000" pitchFamily="2" charset="2"/>
              <a:buChar char="q"/>
            </a:pPr>
            <a:endParaRPr lang="en-US" altLang="en-US" sz="3200" dirty="0"/>
          </a:p>
          <a:p>
            <a:pPr algn="just">
              <a:buFont typeface="Wingdings" panose="05000000000000000000" pitchFamily="2" charset="2"/>
              <a:buChar char="q"/>
            </a:pPr>
            <a:r>
              <a:rPr lang="en-US" altLang="en-US" sz="3200" dirty="0"/>
              <a:t>Resulting relation for R1</a:t>
            </a:r>
            <a:r>
              <a:rPr lang="en-US" altLang="en-US" sz="3200" dirty="0">
                <a:latin typeface="Symbol" panose="05050102010706020507" pitchFamily="18" charset="2"/>
              </a:rPr>
              <a:t></a:t>
            </a:r>
            <a:r>
              <a:rPr lang="en-US" altLang="en-US" sz="3200" dirty="0"/>
              <a:t>R2 has same attribute names as </a:t>
            </a:r>
            <a:r>
              <a:rPr lang="en-US" altLang="en-US" sz="3200" i="1" dirty="0"/>
              <a:t>first</a:t>
            </a:r>
            <a:r>
              <a:rPr lang="en-US" altLang="en-US" sz="3200" dirty="0"/>
              <a:t> operand relation R1 (by convention).</a:t>
            </a:r>
          </a:p>
          <a:p>
            <a:pPr algn="just">
              <a:buFont typeface="Wingdings" panose="05000000000000000000" pitchFamily="2" charset="2"/>
              <a:buChar char="q"/>
            </a:pPr>
            <a:endParaRPr lang="en-US" altLang="en-US" sz="3100" dirty="0"/>
          </a:p>
          <a:p>
            <a:pPr algn="just"/>
            <a:endParaRPr lang="en-IN" dirty="0"/>
          </a:p>
        </p:txBody>
      </p:sp>
    </p:spTree>
    <p:extLst>
      <p:ext uri="{BB962C8B-B14F-4D97-AF65-F5344CB8AC3E}">
        <p14:creationId xmlns:p14="http://schemas.microsoft.com/office/powerpoint/2010/main" val="3854682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2275E-3AFB-6C6C-3AE5-23FBE19590EC}"/>
              </a:ext>
            </a:extLst>
          </p:cNvPr>
          <p:cNvSpPr>
            <a:spLocks noGrp="1"/>
          </p:cNvSpPr>
          <p:nvPr>
            <p:ph type="title"/>
          </p:nvPr>
        </p:nvSpPr>
        <p:spPr/>
        <p:txBody>
          <a:bodyPr/>
          <a:lstStyle/>
          <a:p>
            <a:r>
              <a:rPr lang="en-US" altLang="en-US" sz="4400" b="1" dirty="0">
                <a:solidFill>
                  <a:schemeClr val="accent4">
                    <a:lumMod val="50000"/>
                  </a:schemeClr>
                </a:solidFill>
              </a:rPr>
              <a:t>6. UNION</a:t>
            </a:r>
            <a:endParaRPr lang="en-US" dirty="0"/>
          </a:p>
        </p:txBody>
      </p:sp>
      <p:sp>
        <p:nvSpPr>
          <p:cNvPr id="3" name="Content Placeholder 2">
            <a:extLst>
              <a:ext uri="{FF2B5EF4-FFF2-40B4-BE49-F238E27FC236}">
                <a16:creationId xmlns:a16="http://schemas.microsoft.com/office/drawing/2014/main" id="{0CBCD9B5-635A-BB1F-0632-87527B642871}"/>
              </a:ext>
            </a:extLst>
          </p:cNvPr>
          <p:cNvSpPr>
            <a:spLocks noGrp="1"/>
          </p:cNvSpPr>
          <p:nvPr>
            <p:ph idx="1"/>
          </p:nvPr>
        </p:nvSpPr>
        <p:spPr/>
        <p:txBody>
          <a:bodyPr/>
          <a:lstStyle/>
          <a:p>
            <a:pPr algn="just"/>
            <a:r>
              <a:rPr lang="en-US" b="0" i="0" dirty="0">
                <a:solidFill>
                  <a:srgbClr val="333333"/>
                </a:solidFill>
                <a:effectLst/>
                <a:latin typeface="Times New Roman" panose="02020603050405020304" pitchFamily="18" charset="0"/>
                <a:cs typeface="Times New Roman" panose="02020603050405020304" pitchFamily="18" charset="0"/>
              </a:rPr>
              <a:t>For example :</a:t>
            </a:r>
          </a:p>
          <a:p>
            <a:pPr lvl="1" algn="just"/>
            <a:r>
              <a:rPr lang="en-US" b="0" i="0" dirty="0">
                <a:solidFill>
                  <a:srgbClr val="333333"/>
                </a:solidFill>
                <a:effectLst/>
                <a:latin typeface="Times New Roman" panose="02020603050405020304" pitchFamily="18" charset="0"/>
                <a:cs typeface="Times New Roman" panose="02020603050405020304" pitchFamily="18" charset="0"/>
              </a:rPr>
              <a:t>R ( Sid , </a:t>
            </a:r>
            <a:r>
              <a:rPr lang="en-US" b="0" i="0" dirty="0" err="1">
                <a:solidFill>
                  <a:srgbClr val="333333"/>
                </a:solidFill>
                <a:effectLst/>
                <a:latin typeface="Times New Roman" panose="02020603050405020304" pitchFamily="18" charset="0"/>
                <a:cs typeface="Times New Roman" panose="02020603050405020304" pitchFamily="18" charset="0"/>
              </a:rPr>
              <a:t>Sname</a:t>
            </a:r>
            <a:r>
              <a:rPr lang="en-US" b="0" i="0" dirty="0">
                <a:solidFill>
                  <a:srgbClr val="333333"/>
                </a:solidFill>
                <a:effectLst/>
                <a:latin typeface="Times New Roman" panose="02020603050405020304" pitchFamily="18" charset="0"/>
                <a:cs typeface="Times New Roman" panose="02020603050405020304" pitchFamily="18" charset="0"/>
              </a:rPr>
              <a:t> ) and S ( Sid , </a:t>
            </a:r>
            <a:r>
              <a:rPr lang="en-US" b="0" i="0" dirty="0" err="1">
                <a:solidFill>
                  <a:srgbClr val="333333"/>
                </a:solidFill>
                <a:effectLst/>
                <a:latin typeface="Times New Roman" panose="02020603050405020304" pitchFamily="18" charset="0"/>
                <a:cs typeface="Times New Roman" panose="02020603050405020304" pitchFamily="18" charset="0"/>
              </a:rPr>
              <a:t>Sname</a:t>
            </a:r>
            <a:r>
              <a:rPr lang="en-US" b="0" i="0" dirty="0">
                <a:solidFill>
                  <a:srgbClr val="333333"/>
                </a:solidFill>
                <a:effectLst/>
                <a:latin typeface="Times New Roman" panose="02020603050405020304" pitchFamily="18" charset="0"/>
                <a:cs typeface="Times New Roman" panose="02020603050405020304" pitchFamily="18" charset="0"/>
              </a:rPr>
              <a:t> , Marks ) are not UNION COMPATIBLE, as R has 2 attributes while S has 3 attributes.</a:t>
            </a:r>
          </a:p>
          <a:p>
            <a:pPr lvl="1" algn="just"/>
            <a:r>
              <a:rPr lang="en-US" b="0" i="0" dirty="0">
                <a:solidFill>
                  <a:srgbClr val="333333"/>
                </a:solidFill>
                <a:effectLst/>
                <a:latin typeface="Times New Roman" panose="02020603050405020304" pitchFamily="18" charset="0"/>
                <a:cs typeface="Times New Roman" panose="02020603050405020304" pitchFamily="18" charset="0"/>
              </a:rPr>
              <a:t>R ( Sid , </a:t>
            </a:r>
            <a:r>
              <a:rPr lang="en-US" b="0" i="0" dirty="0" err="1">
                <a:solidFill>
                  <a:srgbClr val="333333"/>
                </a:solidFill>
                <a:effectLst/>
                <a:latin typeface="Times New Roman" panose="02020603050405020304" pitchFamily="18" charset="0"/>
                <a:cs typeface="Times New Roman" panose="02020603050405020304" pitchFamily="18" charset="0"/>
              </a:rPr>
              <a:t>Sname</a:t>
            </a:r>
            <a:r>
              <a:rPr lang="en-US" b="0" i="0" dirty="0">
                <a:solidFill>
                  <a:srgbClr val="333333"/>
                </a:solidFill>
                <a:effectLst/>
                <a:latin typeface="Times New Roman" panose="02020603050405020304" pitchFamily="18" charset="0"/>
                <a:cs typeface="Times New Roman" panose="02020603050405020304" pitchFamily="18" charset="0"/>
              </a:rPr>
              <a:t> ) and S ( Sid , Marks ) are not UNION COMPATIBLE, as domain of name and marks is different. Domain of names would be certain strings while domain of marks would be integer and float numbers.</a:t>
            </a:r>
          </a:p>
          <a:p>
            <a:pPr lvl="1" algn="just"/>
            <a:r>
              <a:rPr lang="en-US" b="0" i="0" dirty="0">
                <a:solidFill>
                  <a:srgbClr val="333333"/>
                </a:solidFill>
                <a:effectLst/>
                <a:latin typeface="Times New Roman" panose="02020603050405020304" pitchFamily="18" charset="0"/>
                <a:cs typeface="Times New Roman" panose="02020603050405020304" pitchFamily="18" charset="0"/>
              </a:rPr>
              <a:t>R ( Sid , </a:t>
            </a:r>
            <a:r>
              <a:rPr lang="en-US" b="0" i="0" dirty="0" err="1">
                <a:solidFill>
                  <a:srgbClr val="333333"/>
                </a:solidFill>
                <a:effectLst/>
                <a:latin typeface="Times New Roman" panose="02020603050405020304" pitchFamily="18" charset="0"/>
                <a:cs typeface="Times New Roman" panose="02020603050405020304" pitchFamily="18" charset="0"/>
              </a:rPr>
              <a:t>Sname</a:t>
            </a:r>
            <a:r>
              <a:rPr lang="en-US" b="0" i="0" dirty="0">
                <a:solidFill>
                  <a:srgbClr val="333333"/>
                </a:solidFill>
                <a:effectLst/>
                <a:latin typeface="Times New Roman" panose="02020603050405020304" pitchFamily="18" charset="0"/>
                <a:cs typeface="Times New Roman" panose="02020603050405020304" pitchFamily="18" charset="0"/>
              </a:rPr>
              <a:t> ) and S ( Sid , </a:t>
            </a:r>
            <a:r>
              <a:rPr lang="en-US" b="0" i="0" dirty="0" err="1">
                <a:solidFill>
                  <a:srgbClr val="333333"/>
                </a:solidFill>
                <a:effectLst/>
                <a:latin typeface="Times New Roman" panose="02020603050405020304" pitchFamily="18" charset="0"/>
                <a:cs typeface="Times New Roman" panose="02020603050405020304" pitchFamily="18" charset="0"/>
              </a:rPr>
              <a:t>StudentName</a:t>
            </a:r>
            <a:r>
              <a:rPr lang="en-US" b="0" i="0" dirty="0">
                <a:solidFill>
                  <a:srgbClr val="333333"/>
                </a:solidFill>
                <a:effectLst/>
                <a:latin typeface="Times New Roman" panose="02020603050405020304" pitchFamily="18" charset="0"/>
                <a:cs typeface="Times New Roman" panose="02020603050405020304" pitchFamily="18" charset="0"/>
              </a:rPr>
              <a:t> ) are UNION COMPATIBLE, as R and S both have 2 attributes and their domains are also same, only the column names are different.</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46900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256EF6-2C24-4411-B0AF-8FE04470DB24}"/>
              </a:ext>
            </a:extLst>
          </p:cNvPr>
          <p:cNvSpPr>
            <a:spLocks noGrp="1"/>
          </p:cNvSpPr>
          <p:nvPr>
            <p:ph idx="1"/>
          </p:nvPr>
        </p:nvSpPr>
        <p:spPr>
          <a:xfrm>
            <a:off x="1083076" y="798990"/>
            <a:ext cx="10981676" cy="5965794"/>
          </a:xfrm>
        </p:spPr>
        <p:txBody>
          <a:bodyPr/>
          <a:lstStyle/>
          <a:p>
            <a:pPr>
              <a:buFont typeface="Wingdings" panose="05000000000000000000" pitchFamily="2" charset="2"/>
              <a:buChar char="q"/>
            </a:pPr>
            <a:r>
              <a:rPr lang="en-IN" b="1" dirty="0"/>
              <a:t>Example</a:t>
            </a:r>
          </a:p>
          <a:p>
            <a:pPr marL="0" indent="0">
              <a:buNone/>
            </a:pPr>
            <a:endParaRPr lang="en-IN" b="1" dirty="0"/>
          </a:p>
        </p:txBody>
      </p:sp>
      <p:sp>
        <p:nvSpPr>
          <p:cNvPr id="4" name="Title 1">
            <a:extLst>
              <a:ext uri="{FF2B5EF4-FFF2-40B4-BE49-F238E27FC236}">
                <a16:creationId xmlns:a16="http://schemas.microsoft.com/office/drawing/2014/main" id="{1C87287D-75AE-48B2-9A39-29FBAC900289}"/>
              </a:ext>
            </a:extLst>
          </p:cNvPr>
          <p:cNvSpPr>
            <a:spLocks noGrp="1"/>
          </p:cNvSpPr>
          <p:nvPr>
            <p:ph type="title"/>
          </p:nvPr>
        </p:nvSpPr>
        <p:spPr>
          <a:xfrm>
            <a:off x="838200" y="18893"/>
            <a:ext cx="10515600" cy="948773"/>
          </a:xfrm>
        </p:spPr>
        <p:txBody>
          <a:bodyPr/>
          <a:lstStyle/>
          <a:p>
            <a:pPr algn="ctr"/>
            <a:r>
              <a:rPr lang="en-US" altLang="en-US" sz="4400" b="1" dirty="0">
                <a:solidFill>
                  <a:schemeClr val="accent4">
                    <a:lumMod val="50000"/>
                  </a:schemeClr>
                </a:solidFill>
              </a:rPr>
              <a:t>UNION</a:t>
            </a:r>
            <a:endParaRPr lang="en-IN" b="1" dirty="0">
              <a:solidFill>
                <a:schemeClr val="accent4">
                  <a:lumMod val="50000"/>
                </a:schemeClr>
              </a:solidFill>
            </a:endParaRPr>
          </a:p>
        </p:txBody>
      </p:sp>
      <p:graphicFrame>
        <p:nvGraphicFramePr>
          <p:cNvPr id="5" name="Table 5">
            <a:extLst>
              <a:ext uri="{FF2B5EF4-FFF2-40B4-BE49-F238E27FC236}">
                <a16:creationId xmlns:a16="http://schemas.microsoft.com/office/drawing/2014/main" id="{3E31FCD0-3558-4685-9224-0BB3CBB7E791}"/>
              </a:ext>
            </a:extLst>
          </p:cNvPr>
          <p:cNvGraphicFramePr>
            <a:graphicFrameLocks noGrp="1"/>
          </p:cNvGraphicFramePr>
          <p:nvPr>
            <p:extLst>
              <p:ext uri="{D42A27DB-BD31-4B8C-83A1-F6EECF244321}">
                <p14:modId xmlns:p14="http://schemas.microsoft.com/office/powerpoint/2010/main" val="3608986828"/>
              </p:ext>
            </p:extLst>
          </p:nvPr>
        </p:nvGraphicFramePr>
        <p:xfrm>
          <a:off x="1286276" y="1570364"/>
          <a:ext cx="4945850" cy="2019300"/>
        </p:xfrm>
        <a:graphic>
          <a:graphicData uri="http://schemas.openxmlformats.org/drawingml/2006/table">
            <a:tbl>
              <a:tblPr firstRow="1" bandRow="1">
                <a:tableStyleId>{5C22544A-7EE6-4342-B048-85BDC9FD1C3A}</a:tableStyleId>
              </a:tblPr>
              <a:tblGrid>
                <a:gridCol w="989170">
                  <a:extLst>
                    <a:ext uri="{9D8B030D-6E8A-4147-A177-3AD203B41FA5}">
                      <a16:colId xmlns:a16="http://schemas.microsoft.com/office/drawing/2014/main" val="3980679804"/>
                    </a:ext>
                  </a:extLst>
                </a:gridCol>
                <a:gridCol w="989170">
                  <a:extLst>
                    <a:ext uri="{9D8B030D-6E8A-4147-A177-3AD203B41FA5}">
                      <a16:colId xmlns:a16="http://schemas.microsoft.com/office/drawing/2014/main" val="176908422"/>
                    </a:ext>
                  </a:extLst>
                </a:gridCol>
                <a:gridCol w="989170">
                  <a:extLst>
                    <a:ext uri="{9D8B030D-6E8A-4147-A177-3AD203B41FA5}">
                      <a16:colId xmlns:a16="http://schemas.microsoft.com/office/drawing/2014/main" val="2872629066"/>
                    </a:ext>
                  </a:extLst>
                </a:gridCol>
                <a:gridCol w="989170">
                  <a:extLst>
                    <a:ext uri="{9D8B030D-6E8A-4147-A177-3AD203B41FA5}">
                      <a16:colId xmlns:a16="http://schemas.microsoft.com/office/drawing/2014/main" val="4149957170"/>
                    </a:ext>
                  </a:extLst>
                </a:gridCol>
                <a:gridCol w="989170">
                  <a:extLst>
                    <a:ext uri="{9D8B030D-6E8A-4147-A177-3AD203B41FA5}">
                      <a16:colId xmlns:a16="http://schemas.microsoft.com/office/drawing/2014/main" val="925265977"/>
                    </a:ext>
                  </a:extLst>
                </a:gridCol>
              </a:tblGrid>
              <a:tr h="298486">
                <a:tc>
                  <a:txBody>
                    <a:bodyPr/>
                    <a:lstStyle/>
                    <a:p>
                      <a:pPr algn="ctr" fontAlgn="base"/>
                      <a:r>
                        <a:rPr lang="en-IN" sz="1250" b="1">
                          <a:effectLst/>
                        </a:rPr>
                        <a:t>EMP_NO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3190622407"/>
                  </a:ext>
                </a:extLst>
              </a:tr>
              <a:tr h="298486">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28910601"/>
                  </a:ext>
                </a:extLst>
              </a:tr>
              <a:tr h="298486">
                <a:tc>
                  <a:txBody>
                    <a:bodyPr/>
                    <a:lstStyle/>
                    <a:p>
                      <a:pPr algn="ctr" fontAlgn="base"/>
                      <a:r>
                        <a:rPr lang="en-IN" sz="1250" b="1">
                          <a:effectLst/>
                        </a:rPr>
                        <a:t>5</a:t>
                      </a:r>
                    </a:p>
                  </a:txBody>
                  <a:tcPr marL="76200" marR="76200" marT="106680" marB="106680" anchor="ctr"/>
                </a:tc>
                <a:tc>
                  <a:txBody>
                    <a:bodyPr/>
                    <a:lstStyle/>
                    <a:p>
                      <a:pPr algn="ctr" fontAlgn="base"/>
                      <a:r>
                        <a:rPr lang="en-IN" sz="1250" b="1">
                          <a:effectLst/>
                        </a:rPr>
                        <a:t>NARESH</a:t>
                      </a:r>
                    </a:p>
                  </a:txBody>
                  <a:tcPr marL="76200" marR="76200" marT="106680" marB="106680" anchor="ctr"/>
                </a:tc>
                <a:tc>
                  <a:txBody>
                    <a:bodyPr/>
                    <a:lstStyle/>
                    <a:p>
                      <a:pPr algn="ctr" fontAlgn="base"/>
                      <a:r>
                        <a:rPr lang="en-IN" sz="1250" b="1" dirty="0">
                          <a:effectLst/>
                        </a:rPr>
                        <a:t>HISAR</a:t>
                      </a:r>
                    </a:p>
                  </a:txBody>
                  <a:tcPr marL="76200" marR="76200" marT="106680" marB="106680" anchor="ctr"/>
                </a:tc>
                <a:tc>
                  <a:txBody>
                    <a:bodyPr/>
                    <a:lstStyle/>
                    <a:p>
                      <a:pPr algn="ctr" fontAlgn="base"/>
                      <a:r>
                        <a:rPr lang="en-IN" sz="1250" b="1">
                          <a:effectLst/>
                        </a:rPr>
                        <a:t>9782918192</a:t>
                      </a:r>
                    </a:p>
                  </a:txBody>
                  <a:tcPr marL="76200" marR="76200" marT="106680" marB="106680" anchor="ctr"/>
                </a:tc>
                <a:tc>
                  <a:txBody>
                    <a:bodyPr/>
                    <a:lstStyle/>
                    <a:p>
                      <a:pPr algn="ctr" fontAlgn="base"/>
                      <a:r>
                        <a:rPr lang="en-IN" sz="1250" b="1">
                          <a:effectLst/>
                        </a:rPr>
                        <a:t>22</a:t>
                      </a:r>
                    </a:p>
                  </a:txBody>
                  <a:tcPr marL="76200" marR="76200" marT="106680" marB="106680" anchor="ctr"/>
                </a:tc>
                <a:extLst>
                  <a:ext uri="{0D108BD9-81ED-4DB2-BD59-A6C34878D82A}">
                    <a16:rowId xmlns:a16="http://schemas.microsoft.com/office/drawing/2014/main" val="69860189"/>
                  </a:ext>
                </a:extLst>
              </a:tr>
              <a:tr h="298486">
                <a:tc>
                  <a:txBody>
                    <a:bodyPr/>
                    <a:lstStyle/>
                    <a:p>
                      <a:pPr algn="ctr" fontAlgn="base"/>
                      <a:r>
                        <a:rPr lang="en-IN" sz="1250" b="1" dirty="0">
                          <a:effectLst/>
                        </a:rPr>
                        <a:t>6</a:t>
                      </a:r>
                    </a:p>
                  </a:txBody>
                  <a:tcPr marL="76200" marR="76200" marT="106680" marB="106680" anchor="ctr"/>
                </a:tc>
                <a:tc>
                  <a:txBody>
                    <a:bodyPr/>
                    <a:lstStyle/>
                    <a:p>
                      <a:pPr algn="ctr" fontAlgn="base"/>
                      <a:r>
                        <a:rPr lang="en-IN" sz="1250" b="1">
                          <a:effectLst/>
                        </a:rPr>
                        <a:t>SWETA</a:t>
                      </a:r>
                    </a:p>
                  </a:txBody>
                  <a:tcPr marL="76200" marR="76200" marT="106680" marB="106680" anchor="ctr"/>
                </a:tc>
                <a:tc>
                  <a:txBody>
                    <a:bodyPr/>
                    <a:lstStyle/>
                    <a:p>
                      <a:pPr algn="ctr" fontAlgn="base"/>
                      <a:r>
                        <a:rPr lang="en-IN" sz="1250" b="1">
                          <a:effectLst/>
                        </a:rPr>
                        <a:t>RANCHI</a:t>
                      </a:r>
                    </a:p>
                  </a:txBody>
                  <a:tcPr marL="76200" marR="76200" marT="106680" marB="106680" anchor="ctr"/>
                </a:tc>
                <a:tc>
                  <a:txBody>
                    <a:bodyPr/>
                    <a:lstStyle/>
                    <a:p>
                      <a:pPr algn="ctr" fontAlgn="base"/>
                      <a:r>
                        <a:rPr lang="en-IN" sz="1250" b="1">
                          <a:effectLst/>
                        </a:rPr>
                        <a:t>9852617621</a:t>
                      </a:r>
                    </a:p>
                  </a:txBody>
                  <a:tcPr marL="76200" marR="76200" marT="106680" marB="106680" anchor="ctr"/>
                </a:tc>
                <a:tc>
                  <a:txBody>
                    <a:bodyPr/>
                    <a:lstStyle/>
                    <a:p>
                      <a:pPr algn="ctr" fontAlgn="base"/>
                      <a:r>
                        <a:rPr lang="en-IN" sz="1250" b="1">
                          <a:effectLst/>
                        </a:rPr>
                        <a:t>21</a:t>
                      </a:r>
                    </a:p>
                  </a:txBody>
                  <a:tcPr marL="76200" marR="76200" marT="106680" marB="106680" anchor="ctr"/>
                </a:tc>
                <a:extLst>
                  <a:ext uri="{0D108BD9-81ED-4DB2-BD59-A6C34878D82A}">
                    <a16:rowId xmlns:a16="http://schemas.microsoft.com/office/drawing/2014/main" val="22199668"/>
                  </a:ext>
                </a:extLst>
              </a:tr>
              <a:tr h="298486">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940683778"/>
                  </a:ext>
                </a:extLst>
              </a:tr>
            </a:tbl>
          </a:graphicData>
        </a:graphic>
      </p:graphicFrame>
      <p:sp>
        <p:nvSpPr>
          <p:cNvPr id="7" name="TextBox 6">
            <a:extLst>
              <a:ext uri="{FF2B5EF4-FFF2-40B4-BE49-F238E27FC236}">
                <a16:creationId xmlns:a16="http://schemas.microsoft.com/office/drawing/2014/main" id="{9CF1BBB5-41BE-4DDB-80B1-4FFE0D3A9201}"/>
              </a:ext>
            </a:extLst>
          </p:cNvPr>
          <p:cNvSpPr txBox="1"/>
          <p:nvPr/>
        </p:nvSpPr>
        <p:spPr>
          <a:xfrm>
            <a:off x="2869707" y="1156490"/>
            <a:ext cx="1893882" cy="369332"/>
          </a:xfrm>
          <a:prstGeom prst="rect">
            <a:avLst/>
          </a:prstGeom>
          <a:noFill/>
        </p:spPr>
        <p:txBody>
          <a:bodyPr wrap="square">
            <a:spAutoFit/>
          </a:bodyPr>
          <a:lstStyle/>
          <a:p>
            <a:r>
              <a:rPr lang="en-IN" b="1" i="0" dirty="0">
                <a:solidFill>
                  <a:srgbClr val="273239"/>
                </a:solidFill>
                <a:effectLst/>
                <a:latin typeface="urw-din"/>
              </a:rPr>
              <a:t>EMPLOYEE</a:t>
            </a:r>
            <a:endParaRPr lang="en-IN" dirty="0"/>
          </a:p>
        </p:txBody>
      </p:sp>
      <p:graphicFrame>
        <p:nvGraphicFramePr>
          <p:cNvPr id="8" name="Table 8">
            <a:extLst>
              <a:ext uri="{FF2B5EF4-FFF2-40B4-BE49-F238E27FC236}">
                <a16:creationId xmlns:a16="http://schemas.microsoft.com/office/drawing/2014/main" id="{6790FECA-3416-45DE-BC36-A81F5C0F2B0B}"/>
              </a:ext>
            </a:extLst>
          </p:cNvPr>
          <p:cNvGraphicFramePr>
            <a:graphicFrameLocks noGrp="1"/>
          </p:cNvGraphicFramePr>
          <p:nvPr>
            <p:extLst>
              <p:ext uri="{D42A27DB-BD31-4B8C-83A1-F6EECF244321}">
                <p14:modId xmlns:p14="http://schemas.microsoft.com/office/powerpoint/2010/main" val="1146168204"/>
              </p:ext>
            </p:extLst>
          </p:nvPr>
        </p:nvGraphicFramePr>
        <p:xfrm>
          <a:off x="6573914" y="1570364"/>
          <a:ext cx="5194425" cy="2019300"/>
        </p:xfrm>
        <a:graphic>
          <a:graphicData uri="http://schemas.openxmlformats.org/drawingml/2006/table">
            <a:tbl>
              <a:tblPr firstRow="1" bandRow="1">
                <a:tableStyleId>{5C22544A-7EE6-4342-B048-85BDC9FD1C3A}</a:tableStyleId>
              </a:tblPr>
              <a:tblGrid>
                <a:gridCol w="1038885">
                  <a:extLst>
                    <a:ext uri="{9D8B030D-6E8A-4147-A177-3AD203B41FA5}">
                      <a16:colId xmlns:a16="http://schemas.microsoft.com/office/drawing/2014/main" val="3614153633"/>
                    </a:ext>
                  </a:extLst>
                </a:gridCol>
                <a:gridCol w="1038885">
                  <a:extLst>
                    <a:ext uri="{9D8B030D-6E8A-4147-A177-3AD203B41FA5}">
                      <a16:colId xmlns:a16="http://schemas.microsoft.com/office/drawing/2014/main" val="393091497"/>
                    </a:ext>
                  </a:extLst>
                </a:gridCol>
                <a:gridCol w="1038885">
                  <a:extLst>
                    <a:ext uri="{9D8B030D-6E8A-4147-A177-3AD203B41FA5}">
                      <a16:colId xmlns:a16="http://schemas.microsoft.com/office/drawing/2014/main" val="4094516659"/>
                    </a:ext>
                  </a:extLst>
                </a:gridCol>
                <a:gridCol w="1038885">
                  <a:extLst>
                    <a:ext uri="{9D8B030D-6E8A-4147-A177-3AD203B41FA5}">
                      <a16:colId xmlns:a16="http://schemas.microsoft.com/office/drawing/2014/main" val="2337788990"/>
                    </a:ext>
                  </a:extLst>
                </a:gridCol>
                <a:gridCol w="1038885">
                  <a:extLst>
                    <a:ext uri="{9D8B030D-6E8A-4147-A177-3AD203B41FA5}">
                      <a16:colId xmlns:a16="http://schemas.microsoft.com/office/drawing/2014/main" val="3010051805"/>
                    </a:ext>
                  </a:extLst>
                </a:gridCol>
              </a:tblGrid>
              <a:tr h="346426">
                <a:tc>
                  <a:txBody>
                    <a:bodyPr/>
                    <a:lstStyle/>
                    <a:p>
                      <a:pPr algn="ctr" fontAlgn="base"/>
                      <a:r>
                        <a:rPr lang="en-IN" sz="1250" b="1">
                          <a:effectLst/>
                        </a:rPr>
                        <a:t>ROLL_NO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1543282249"/>
                  </a:ext>
                </a:extLst>
              </a:tr>
              <a:tr h="346426">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1891081867"/>
                  </a:ext>
                </a:extLst>
              </a:tr>
              <a:tr h="346426">
                <a:tc>
                  <a:txBody>
                    <a:bodyPr/>
                    <a:lstStyle/>
                    <a:p>
                      <a:pPr algn="ctr" fontAlgn="base"/>
                      <a:r>
                        <a:rPr lang="en-IN" sz="1250" b="1">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4282567860"/>
                  </a:ext>
                </a:extLst>
              </a:tr>
              <a:tr h="346426">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a:effectLst/>
                        </a:rPr>
                        <a:t>20</a:t>
                      </a:r>
                    </a:p>
                  </a:txBody>
                  <a:tcPr marL="76200" marR="76200" marT="106680" marB="106680" anchor="ctr"/>
                </a:tc>
                <a:extLst>
                  <a:ext uri="{0D108BD9-81ED-4DB2-BD59-A6C34878D82A}">
                    <a16:rowId xmlns:a16="http://schemas.microsoft.com/office/drawing/2014/main" val="2493886791"/>
                  </a:ext>
                </a:extLst>
              </a:tr>
              <a:tr h="346426">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3026340836"/>
                  </a:ext>
                </a:extLst>
              </a:tr>
            </a:tbl>
          </a:graphicData>
        </a:graphic>
      </p:graphicFrame>
      <p:sp>
        <p:nvSpPr>
          <p:cNvPr id="10" name="TextBox 9">
            <a:extLst>
              <a:ext uri="{FF2B5EF4-FFF2-40B4-BE49-F238E27FC236}">
                <a16:creationId xmlns:a16="http://schemas.microsoft.com/office/drawing/2014/main" id="{9BEAD314-6F38-416D-97E0-F08B2D5DA32A}"/>
              </a:ext>
            </a:extLst>
          </p:cNvPr>
          <p:cNvSpPr txBox="1"/>
          <p:nvPr/>
        </p:nvSpPr>
        <p:spPr>
          <a:xfrm>
            <a:off x="8680144" y="1156490"/>
            <a:ext cx="1474050" cy="369332"/>
          </a:xfrm>
          <a:prstGeom prst="rect">
            <a:avLst/>
          </a:prstGeom>
          <a:noFill/>
        </p:spPr>
        <p:txBody>
          <a:bodyPr wrap="square">
            <a:spAutoFit/>
          </a:bodyPr>
          <a:lstStyle/>
          <a:p>
            <a:r>
              <a:rPr lang="en-IN" b="1" i="0" dirty="0">
                <a:solidFill>
                  <a:srgbClr val="273239"/>
                </a:solidFill>
                <a:effectLst/>
                <a:latin typeface="urw-din"/>
              </a:rPr>
              <a:t>STUDENT</a:t>
            </a:r>
            <a:r>
              <a:rPr lang="en-IN" b="0" i="0" dirty="0">
                <a:solidFill>
                  <a:srgbClr val="273239"/>
                </a:solidFill>
                <a:effectLst/>
                <a:latin typeface="urw-din"/>
              </a:rPr>
              <a:t> </a:t>
            </a:r>
            <a:endParaRPr lang="en-IN" dirty="0"/>
          </a:p>
        </p:txBody>
      </p:sp>
      <p:sp>
        <p:nvSpPr>
          <p:cNvPr id="12" name="TextBox 11">
            <a:extLst>
              <a:ext uri="{FF2B5EF4-FFF2-40B4-BE49-F238E27FC236}">
                <a16:creationId xmlns:a16="http://schemas.microsoft.com/office/drawing/2014/main" id="{DC6D03A1-5D60-4C8E-8670-4796C470156F}"/>
              </a:ext>
            </a:extLst>
          </p:cNvPr>
          <p:cNvSpPr txBox="1"/>
          <p:nvPr/>
        </p:nvSpPr>
        <p:spPr>
          <a:xfrm>
            <a:off x="1188622" y="3867263"/>
            <a:ext cx="5221062" cy="646331"/>
          </a:xfrm>
          <a:prstGeom prst="rect">
            <a:avLst/>
          </a:prstGeom>
          <a:noFill/>
        </p:spPr>
        <p:txBody>
          <a:bodyPr wrap="square">
            <a:spAutoFit/>
          </a:bodyPr>
          <a:lstStyle/>
          <a:p>
            <a:r>
              <a:rPr lang="en-IN" b="0" i="0" dirty="0">
                <a:solidFill>
                  <a:srgbClr val="273239"/>
                </a:solidFill>
                <a:effectLst/>
                <a:latin typeface="urw-din"/>
              </a:rPr>
              <a:t>Find person who are either student or employee or both:</a:t>
            </a:r>
            <a:endParaRPr lang="en-IN" dirty="0"/>
          </a:p>
        </p:txBody>
      </p:sp>
      <p:sp>
        <p:nvSpPr>
          <p:cNvPr id="13" name="Rectangle 1">
            <a:extLst>
              <a:ext uri="{FF2B5EF4-FFF2-40B4-BE49-F238E27FC236}">
                <a16:creationId xmlns:a16="http://schemas.microsoft.com/office/drawing/2014/main" id="{0D77337E-73FC-4718-970D-3BE0AB08CEF3}"/>
              </a:ext>
            </a:extLst>
          </p:cNvPr>
          <p:cNvSpPr>
            <a:spLocks noChangeArrowheads="1"/>
          </p:cNvSpPr>
          <p:nvPr/>
        </p:nvSpPr>
        <p:spPr bwMode="auto">
          <a:xfrm>
            <a:off x="1273446" y="4637304"/>
            <a:ext cx="273432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73239"/>
                </a:solidFill>
                <a:effectLst/>
                <a:latin typeface="Consolas" panose="020B0609020204030204" pitchFamily="49" charset="0"/>
              </a:rPr>
              <a:t>STUDENT U EMPLOYEE</a:t>
            </a:r>
            <a:r>
              <a:rPr kumimoji="0" lang="en-US" altLang="en-US" sz="2000" b="1" i="0" u="none" strike="noStrike" cap="none" normalizeH="0" baseline="0" dirty="0">
                <a:ln>
                  <a:noFill/>
                </a:ln>
                <a:solidFill>
                  <a:schemeClr val="tx1"/>
                </a:solidFill>
                <a:effectLst/>
              </a:rPr>
              <a:t> </a:t>
            </a: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graphicFrame>
        <p:nvGraphicFramePr>
          <p:cNvPr id="14" name="Table 14">
            <a:extLst>
              <a:ext uri="{FF2B5EF4-FFF2-40B4-BE49-F238E27FC236}">
                <a16:creationId xmlns:a16="http://schemas.microsoft.com/office/drawing/2014/main" id="{1A0FC8CA-FB17-4B89-8544-6538BDDB4ABC}"/>
              </a:ext>
            </a:extLst>
          </p:cNvPr>
          <p:cNvGraphicFramePr>
            <a:graphicFrameLocks noGrp="1"/>
          </p:cNvGraphicFramePr>
          <p:nvPr>
            <p:extLst>
              <p:ext uri="{D42A27DB-BD31-4B8C-83A1-F6EECF244321}">
                <p14:modId xmlns:p14="http://schemas.microsoft.com/office/powerpoint/2010/main" val="1504446413"/>
              </p:ext>
            </p:extLst>
          </p:nvPr>
        </p:nvGraphicFramePr>
        <p:xfrm>
          <a:off x="6764293" y="3902356"/>
          <a:ext cx="4945850" cy="2827020"/>
        </p:xfrm>
        <a:graphic>
          <a:graphicData uri="http://schemas.openxmlformats.org/drawingml/2006/table">
            <a:tbl>
              <a:tblPr firstRow="1" bandRow="1">
                <a:tableStyleId>{5C22544A-7EE6-4342-B048-85BDC9FD1C3A}</a:tableStyleId>
              </a:tblPr>
              <a:tblGrid>
                <a:gridCol w="989170">
                  <a:extLst>
                    <a:ext uri="{9D8B030D-6E8A-4147-A177-3AD203B41FA5}">
                      <a16:colId xmlns:a16="http://schemas.microsoft.com/office/drawing/2014/main" val="1048419136"/>
                    </a:ext>
                  </a:extLst>
                </a:gridCol>
                <a:gridCol w="989170">
                  <a:extLst>
                    <a:ext uri="{9D8B030D-6E8A-4147-A177-3AD203B41FA5}">
                      <a16:colId xmlns:a16="http://schemas.microsoft.com/office/drawing/2014/main" val="2922236223"/>
                    </a:ext>
                  </a:extLst>
                </a:gridCol>
                <a:gridCol w="989170">
                  <a:extLst>
                    <a:ext uri="{9D8B030D-6E8A-4147-A177-3AD203B41FA5}">
                      <a16:colId xmlns:a16="http://schemas.microsoft.com/office/drawing/2014/main" val="154829329"/>
                    </a:ext>
                  </a:extLst>
                </a:gridCol>
                <a:gridCol w="989170">
                  <a:extLst>
                    <a:ext uri="{9D8B030D-6E8A-4147-A177-3AD203B41FA5}">
                      <a16:colId xmlns:a16="http://schemas.microsoft.com/office/drawing/2014/main" val="2312330398"/>
                    </a:ext>
                  </a:extLst>
                </a:gridCol>
                <a:gridCol w="989170">
                  <a:extLst>
                    <a:ext uri="{9D8B030D-6E8A-4147-A177-3AD203B41FA5}">
                      <a16:colId xmlns:a16="http://schemas.microsoft.com/office/drawing/2014/main" val="3171429250"/>
                    </a:ext>
                  </a:extLst>
                </a:gridCol>
              </a:tblGrid>
              <a:tr h="299245">
                <a:tc>
                  <a:txBody>
                    <a:bodyPr/>
                    <a:lstStyle/>
                    <a:p>
                      <a:pPr algn="ctr" fontAlgn="base"/>
                      <a:r>
                        <a:rPr lang="en-IN" sz="1250" b="1">
                          <a:effectLst/>
                        </a:rPr>
                        <a:t>ROLL_NO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4143041636"/>
                  </a:ext>
                </a:extLst>
              </a:tr>
              <a:tr h="299245">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1207302660"/>
                  </a:ext>
                </a:extLst>
              </a:tr>
              <a:tr h="299245">
                <a:tc>
                  <a:txBody>
                    <a:bodyPr/>
                    <a:lstStyle/>
                    <a:p>
                      <a:pPr algn="ctr" fontAlgn="base"/>
                      <a:r>
                        <a:rPr lang="en-IN" sz="1250" b="1">
                          <a:effectLst/>
                        </a:rPr>
                        <a:t>2</a:t>
                      </a:r>
                    </a:p>
                  </a:txBody>
                  <a:tcPr marL="76200" marR="76200" marT="106680" marB="106680" anchor="ctr"/>
                </a:tc>
                <a:tc>
                  <a:txBody>
                    <a:bodyPr/>
                    <a:lstStyle/>
                    <a:p>
                      <a:pPr algn="ctr" fontAlgn="base"/>
                      <a:r>
                        <a:rPr lang="en-IN" sz="1250" b="1" dirty="0">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4043200832"/>
                  </a:ext>
                </a:extLst>
              </a:tr>
              <a:tr h="299245">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a:effectLst/>
                        </a:rPr>
                        <a:t>20</a:t>
                      </a:r>
                    </a:p>
                  </a:txBody>
                  <a:tcPr marL="76200" marR="76200" marT="106680" marB="106680" anchor="ctr"/>
                </a:tc>
                <a:extLst>
                  <a:ext uri="{0D108BD9-81ED-4DB2-BD59-A6C34878D82A}">
                    <a16:rowId xmlns:a16="http://schemas.microsoft.com/office/drawing/2014/main" val="2015062838"/>
                  </a:ext>
                </a:extLst>
              </a:tr>
              <a:tr h="299245">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128568076"/>
                  </a:ext>
                </a:extLst>
              </a:tr>
              <a:tr h="299245">
                <a:tc>
                  <a:txBody>
                    <a:bodyPr/>
                    <a:lstStyle/>
                    <a:p>
                      <a:pPr algn="ctr" fontAlgn="base"/>
                      <a:r>
                        <a:rPr lang="en-IN" sz="1250" b="1" dirty="0">
                          <a:effectLst/>
                        </a:rPr>
                        <a:t>5</a:t>
                      </a:r>
                    </a:p>
                  </a:txBody>
                  <a:tcPr marL="76200" marR="76200" marT="106680" marB="106680" anchor="ctr"/>
                </a:tc>
                <a:tc>
                  <a:txBody>
                    <a:bodyPr/>
                    <a:lstStyle/>
                    <a:p>
                      <a:pPr algn="ctr" fontAlgn="base"/>
                      <a:r>
                        <a:rPr lang="en-IN" sz="1250" b="1" dirty="0">
                          <a:effectLst/>
                        </a:rPr>
                        <a:t>NARESH</a:t>
                      </a:r>
                    </a:p>
                  </a:txBody>
                  <a:tcPr marL="76200" marR="76200" marT="106680" marB="106680" anchor="ctr"/>
                </a:tc>
                <a:tc>
                  <a:txBody>
                    <a:bodyPr/>
                    <a:lstStyle/>
                    <a:p>
                      <a:pPr algn="ctr" fontAlgn="base"/>
                      <a:r>
                        <a:rPr lang="en-IN" sz="1250" b="1" dirty="0">
                          <a:effectLst/>
                        </a:rPr>
                        <a:t>HISAR</a:t>
                      </a:r>
                    </a:p>
                  </a:txBody>
                  <a:tcPr marL="76200" marR="76200" marT="106680" marB="106680" anchor="ctr"/>
                </a:tc>
                <a:tc>
                  <a:txBody>
                    <a:bodyPr/>
                    <a:lstStyle/>
                    <a:p>
                      <a:pPr algn="ctr" fontAlgn="base"/>
                      <a:r>
                        <a:rPr lang="en-IN" sz="1250" b="1" dirty="0">
                          <a:effectLst/>
                        </a:rPr>
                        <a:t>9782918192</a:t>
                      </a:r>
                    </a:p>
                  </a:txBody>
                  <a:tcPr marL="76200" marR="76200" marT="106680" marB="106680" anchor="ctr"/>
                </a:tc>
                <a:tc>
                  <a:txBody>
                    <a:bodyPr/>
                    <a:lstStyle/>
                    <a:p>
                      <a:pPr algn="ctr" fontAlgn="base"/>
                      <a:r>
                        <a:rPr lang="en-IN" sz="1250" b="1" dirty="0">
                          <a:effectLst/>
                        </a:rPr>
                        <a:t>22</a:t>
                      </a:r>
                    </a:p>
                  </a:txBody>
                  <a:tcPr marL="76200" marR="76200" marT="106680" marB="106680" anchor="ctr"/>
                </a:tc>
                <a:extLst>
                  <a:ext uri="{0D108BD9-81ED-4DB2-BD59-A6C34878D82A}">
                    <a16:rowId xmlns:a16="http://schemas.microsoft.com/office/drawing/2014/main" val="267504617"/>
                  </a:ext>
                </a:extLst>
              </a:tr>
              <a:tr h="299245">
                <a:tc>
                  <a:txBody>
                    <a:bodyPr/>
                    <a:lstStyle/>
                    <a:p>
                      <a:pPr algn="ctr" fontAlgn="base"/>
                      <a:r>
                        <a:rPr lang="en-IN" sz="1250" b="1">
                          <a:effectLst/>
                        </a:rPr>
                        <a:t>6</a:t>
                      </a:r>
                    </a:p>
                  </a:txBody>
                  <a:tcPr marL="76200" marR="76200" marT="106680" marB="106680" anchor="ctr"/>
                </a:tc>
                <a:tc>
                  <a:txBody>
                    <a:bodyPr/>
                    <a:lstStyle/>
                    <a:p>
                      <a:pPr algn="ctr" fontAlgn="base"/>
                      <a:r>
                        <a:rPr lang="en-IN" sz="1250" b="1">
                          <a:effectLst/>
                        </a:rPr>
                        <a:t>SWETA</a:t>
                      </a:r>
                    </a:p>
                  </a:txBody>
                  <a:tcPr marL="76200" marR="76200" marT="106680" marB="106680" anchor="ctr"/>
                </a:tc>
                <a:tc>
                  <a:txBody>
                    <a:bodyPr/>
                    <a:lstStyle/>
                    <a:p>
                      <a:pPr algn="ctr" fontAlgn="base"/>
                      <a:r>
                        <a:rPr lang="en-IN" sz="1250" b="1">
                          <a:effectLst/>
                        </a:rPr>
                        <a:t>RANCHI</a:t>
                      </a:r>
                    </a:p>
                  </a:txBody>
                  <a:tcPr marL="76200" marR="76200" marT="106680" marB="106680" anchor="ctr"/>
                </a:tc>
                <a:tc>
                  <a:txBody>
                    <a:bodyPr/>
                    <a:lstStyle/>
                    <a:p>
                      <a:pPr algn="ctr" fontAlgn="base"/>
                      <a:r>
                        <a:rPr lang="en-IN" sz="1250" b="1">
                          <a:effectLst/>
                        </a:rPr>
                        <a:t>9852617621</a:t>
                      </a:r>
                    </a:p>
                  </a:txBody>
                  <a:tcPr marL="76200" marR="76200" marT="106680" marB="106680" anchor="ctr"/>
                </a:tc>
                <a:tc>
                  <a:txBody>
                    <a:bodyPr/>
                    <a:lstStyle/>
                    <a:p>
                      <a:pPr algn="ctr" fontAlgn="base"/>
                      <a:r>
                        <a:rPr lang="en-IN" sz="1250" b="1" dirty="0">
                          <a:effectLst/>
                        </a:rPr>
                        <a:t>21</a:t>
                      </a:r>
                    </a:p>
                  </a:txBody>
                  <a:tcPr marL="76200" marR="76200" marT="106680" marB="106680" anchor="ctr"/>
                </a:tc>
                <a:extLst>
                  <a:ext uri="{0D108BD9-81ED-4DB2-BD59-A6C34878D82A}">
                    <a16:rowId xmlns:a16="http://schemas.microsoft.com/office/drawing/2014/main" val="3955458340"/>
                  </a:ext>
                </a:extLst>
              </a:tr>
            </a:tbl>
          </a:graphicData>
        </a:graphic>
      </p:graphicFrame>
    </p:spTree>
    <p:extLst>
      <p:ext uri="{BB962C8B-B14F-4D97-AF65-F5344CB8AC3E}">
        <p14:creationId xmlns:p14="http://schemas.microsoft.com/office/powerpoint/2010/main" val="32976360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64E4C-286D-4074-BBB1-C09B571F9FF5}"/>
              </a:ext>
            </a:extLst>
          </p:cNvPr>
          <p:cNvSpPr>
            <a:spLocks noGrp="1"/>
          </p:cNvSpPr>
          <p:nvPr>
            <p:ph type="title"/>
          </p:nvPr>
        </p:nvSpPr>
        <p:spPr>
          <a:xfrm>
            <a:off x="838200" y="18893"/>
            <a:ext cx="10515600" cy="1010918"/>
          </a:xfrm>
        </p:spPr>
        <p:txBody>
          <a:bodyPr/>
          <a:lstStyle/>
          <a:p>
            <a:pPr algn="ctr"/>
            <a:r>
              <a:rPr lang="en-US" altLang="en-US" sz="4400" b="1" dirty="0">
                <a:solidFill>
                  <a:schemeClr val="accent4">
                    <a:lumMod val="50000"/>
                  </a:schemeClr>
                </a:solidFill>
              </a:rPr>
              <a:t>7. INTERSECTION</a:t>
            </a:r>
            <a:endParaRPr lang="en-IN" b="1" dirty="0">
              <a:solidFill>
                <a:schemeClr val="accent4">
                  <a:lumMod val="50000"/>
                </a:schemeClr>
              </a:solidFill>
            </a:endParaRPr>
          </a:p>
        </p:txBody>
      </p:sp>
      <p:sp>
        <p:nvSpPr>
          <p:cNvPr id="3" name="Content Placeholder 2">
            <a:extLst>
              <a:ext uri="{FF2B5EF4-FFF2-40B4-BE49-F238E27FC236}">
                <a16:creationId xmlns:a16="http://schemas.microsoft.com/office/drawing/2014/main" id="{0D10A404-9E0E-4E9C-99C4-1B376E72F742}"/>
              </a:ext>
            </a:extLst>
          </p:cNvPr>
          <p:cNvSpPr>
            <a:spLocks noGrp="1"/>
          </p:cNvSpPr>
          <p:nvPr>
            <p:ph idx="1"/>
          </p:nvPr>
        </p:nvSpPr>
        <p:spPr>
          <a:xfrm>
            <a:off x="1127464" y="852256"/>
            <a:ext cx="10955044" cy="5885895"/>
          </a:xfrm>
        </p:spPr>
        <p:txBody>
          <a:bodyPr/>
          <a:lstStyle/>
          <a:p>
            <a:pPr>
              <a:lnSpc>
                <a:spcPct val="100000"/>
              </a:lnSpc>
              <a:buFont typeface="Wingdings" panose="05000000000000000000" pitchFamily="2" charset="2"/>
              <a:buChar char="q"/>
            </a:pPr>
            <a:r>
              <a:rPr lang="en-US" altLang="en-US" sz="2800" dirty="0"/>
              <a:t>Set-intersection  operation </a:t>
            </a:r>
            <a:r>
              <a:rPr lang="en-US" altLang="en-US" sz="2800" dirty="0">
                <a:sym typeface="Symbol" panose="05050102010706020507" pitchFamily="18" charset="2"/>
              </a:rPr>
              <a:t> allows us to find tuples that are in </a:t>
            </a:r>
            <a:r>
              <a:rPr lang="en-US" altLang="en-US" sz="2800" b="1" dirty="0">
                <a:sym typeface="Symbol" panose="05050102010706020507" pitchFamily="18" charset="2"/>
              </a:rPr>
              <a:t>both </a:t>
            </a:r>
            <a:r>
              <a:rPr lang="en-US" altLang="en-US" sz="2800" dirty="0">
                <a:sym typeface="Symbol" panose="05050102010706020507" pitchFamily="18" charset="2"/>
              </a:rPr>
              <a:t>the input relations.</a:t>
            </a:r>
            <a:endParaRPr lang="en-US" altLang="en-US" sz="2800" dirty="0"/>
          </a:p>
          <a:p>
            <a:pPr eaLnBrk="1" hangingPunct="1">
              <a:lnSpc>
                <a:spcPct val="100000"/>
              </a:lnSpc>
              <a:buFont typeface="Wingdings" panose="05000000000000000000" pitchFamily="2" charset="2"/>
              <a:buChar char="q"/>
            </a:pPr>
            <a:r>
              <a:rPr lang="en-US" altLang="en-US" sz="3200" dirty="0"/>
              <a:t>INTERSECTION is denoted by </a:t>
            </a:r>
            <a:r>
              <a:rPr lang="en-US" altLang="en-US" sz="3200" dirty="0">
                <a:latin typeface="Symbol" panose="05050102010706020507" pitchFamily="18" charset="2"/>
              </a:rPr>
              <a:t></a:t>
            </a:r>
            <a:endParaRPr lang="en-US" altLang="en-US" sz="3200" dirty="0"/>
          </a:p>
          <a:p>
            <a:pPr eaLnBrk="1" hangingPunct="1">
              <a:lnSpc>
                <a:spcPct val="100000"/>
              </a:lnSpc>
              <a:buFont typeface="Wingdings" panose="05000000000000000000" pitchFamily="2" charset="2"/>
              <a:buChar char="q"/>
            </a:pPr>
            <a:r>
              <a:rPr lang="en-US" altLang="en-US" sz="3200" dirty="0"/>
              <a:t>Result of the operation </a:t>
            </a:r>
            <a:r>
              <a:rPr lang="en-US" altLang="en-US" sz="3200" b="1" dirty="0"/>
              <a:t>R </a:t>
            </a:r>
            <a:r>
              <a:rPr lang="en-US" altLang="en-US" sz="3200" b="1" dirty="0">
                <a:latin typeface="Symbol" panose="05050102010706020507" pitchFamily="18" charset="2"/>
              </a:rPr>
              <a:t></a:t>
            </a:r>
            <a:r>
              <a:rPr lang="en-US" altLang="en-US" sz="3200" b="1" dirty="0"/>
              <a:t> S</a:t>
            </a:r>
            <a:r>
              <a:rPr lang="en-US" altLang="en-US" sz="3200" dirty="0"/>
              <a:t>, is a relation that includes all tuples that are in both R and S.</a:t>
            </a:r>
          </a:p>
          <a:p>
            <a:pPr lvl="1" eaLnBrk="1" hangingPunct="1">
              <a:lnSpc>
                <a:spcPct val="100000"/>
              </a:lnSpc>
              <a:buFont typeface="Wingdings" panose="05000000000000000000" pitchFamily="2" charset="2"/>
              <a:buChar char="§"/>
            </a:pPr>
            <a:r>
              <a:rPr lang="en-US" altLang="en-US" sz="3000" b="1" dirty="0"/>
              <a:t>Attribute names </a:t>
            </a:r>
            <a:r>
              <a:rPr lang="en-US" altLang="en-US" sz="3000" dirty="0"/>
              <a:t>in the </a:t>
            </a:r>
            <a:r>
              <a:rPr lang="en-US" altLang="en-US" sz="3000" b="1" dirty="0"/>
              <a:t>result</a:t>
            </a:r>
            <a:r>
              <a:rPr lang="en-US" altLang="en-US" sz="3000" dirty="0"/>
              <a:t> will be same as the attribute names in </a:t>
            </a:r>
            <a:r>
              <a:rPr lang="en-US" altLang="en-US" sz="3000" b="1" dirty="0"/>
              <a:t>R.</a:t>
            </a:r>
          </a:p>
          <a:p>
            <a:pPr eaLnBrk="1" hangingPunct="1">
              <a:lnSpc>
                <a:spcPct val="100000"/>
              </a:lnSpc>
              <a:buFont typeface="Wingdings" panose="05000000000000000000" pitchFamily="2" charset="2"/>
              <a:buChar char="q"/>
            </a:pPr>
            <a:r>
              <a:rPr lang="en-US" altLang="en-US" sz="3200" dirty="0"/>
              <a:t>Two operand relations R and S must be “type compatible”.</a:t>
            </a:r>
          </a:p>
          <a:p>
            <a:pPr>
              <a:lnSpc>
                <a:spcPct val="100000"/>
              </a:lnSpc>
            </a:pPr>
            <a:endParaRPr lang="en-IN" dirty="0"/>
          </a:p>
        </p:txBody>
      </p:sp>
    </p:spTree>
    <p:extLst>
      <p:ext uri="{BB962C8B-B14F-4D97-AF65-F5344CB8AC3E}">
        <p14:creationId xmlns:p14="http://schemas.microsoft.com/office/powerpoint/2010/main" val="38260739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340C59-A99E-43CE-81C8-B86C41EFC62C}"/>
              </a:ext>
            </a:extLst>
          </p:cNvPr>
          <p:cNvSpPr>
            <a:spLocks noGrp="1"/>
          </p:cNvSpPr>
          <p:nvPr>
            <p:ph idx="1"/>
          </p:nvPr>
        </p:nvSpPr>
        <p:spPr>
          <a:xfrm>
            <a:off x="1118586" y="861134"/>
            <a:ext cx="10955044" cy="5894773"/>
          </a:xfrm>
        </p:spPr>
        <p:txBody>
          <a:bodyPr/>
          <a:lstStyle/>
          <a:p>
            <a:pPr>
              <a:buFont typeface="Wingdings" panose="05000000000000000000" pitchFamily="2" charset="2"/>
              <a:buChar char="q"/>
            </a:pPr>
            <a:r>
              <a:rPr lang="en-IN" b="1" dirty="0"/>
              <a:t>Example</a:t>
            </a:r>
          </a:p>
        </p:txBody>
      </p:sp>
      <p:sp>
        <p:nvSpPr>
          <p:cNvPr id="4" name="Title 1">
            <a:extLst>
              <a:ext uri="{FF2B5EF4-FFF2-40B4-BE49-F238E27FC236}">
                <a16:creationId xmlns:a16="http://schemas.microsoft.com/office/drawing/2014/main" id="{993EE42B-5F48-44B0-B2AD-14DB7C350809}"/>
              </a:ext>
            </a:extLst>
          </p:cNvPr>
          <p:cNvSpPr>
            <a:spLocks noGrp="1"/>
          </p:cNvSpPr>
          <p:nvPr>
            <p:ph type="title"/>
          </p:nvPr>
        </p:nvSpPr>
        <p:spPr>
          <a:xfrm>
            <a:off x="838200" y="18893"/>
            <a:ext cx="10515600" cy="1010918"/>
          </a:xfrm>
        </p:spPr>
        <p:txBody>
          <a:bodyPr/>
          <a:lstStyle/>
          <a:p>
            <a:pPr algn="ctr"/>
            <a:r>
              <a:rPr lang="en-US" altLang="en-US" sz="4400" b="1" dirty="0">
                <a:solidFill>
                  <a:schemeClr val="accent4">
                    <a:lumMod val="50000"/>
                  </a:schemeClr>
                </a:solidFill>
              </a:rPr>
              <a:t>INTERSECTION</a:t>
            </a:r>
            <a:endParaRPr lang="en-IN" b="1" dirty="0">
              <a:solidFill>
                <a:schemeClr val="accent4">
                  <a:lumMod val="50000"/>
                </a:schemeClr>
              </a:solidFill>
            </a:endParaRPr>
          </a:p>
        </p:txBody>
      </p:sp>
      <p:graphicFrame>
        <p:nvGraphicFramePr>
          <p:cNvPr id="5" name="Table 5">
            <a:extLst>
              <a:ext uri="{FF2B5EF4-FFF2-40B4-BE49-F238E27FC236}">
                <a16:creationId xmlns:a16="http://schemas.microsoft.com/office/drawing/2014/main" id="{6359E8DA-EF9F-478E-9BB8-3C6BA12D8715}"/>
              </a:ext>
            </a:extLst>
          </p:cNvPr>
          <p:cNvGraphicFramePr>
            <a:graphicFrameLocks noGrp="1"/>
          </p:cNvGraphicFramePr>
          <p:nvPr>
            <p:extLst>
              <p:ext uri="{D42A27DB-BD31-4B8C-83A1-F6EECF244321}">
                <p14:modId xmlns:p14="http://schemas.microsoft.com/office/powerpoint/2010/main" val="441749244"/>
              </p:ext>
            </p:extLst>
          </p:nvPr>
        </p:nvGraphicFramePr>
        <p:xfrm>
          <a:off x="1383929" y="1500902"/>
          <a:ext cx="3694098" cy="2887837"/>
        </p:xfrm>
        <a:graphic>
          <a:graphicData uri="http://schemas.openxmlformats.org/drawingml/2006/table">
            <a:tbl>
              <a:tblPr firstRow="1" bandRow="1">
                <a:tableStyleId>{5C22544A-7EE6-4342-B048-85BDC9FD1C3A}</a:tableStyleId>
              </a:tblPr>
              <a:tblGrid>
                <a:gridCol w="1847049">
                  <a:extLst>
                    <a:ext uri="{9D8B030D-6E8A-4147-A177-3AD203B41FA5}">
                      <a16:colId xmlns:a16="http://schemas.microsoft.com/office/drawing/2014/main" val="2197652333"/>
                    </a:ext>
                  </a:extLst>
                </a:gridCol>
                <a:gridCol w="1847049">
                  <a:extLst>
                    <a:ext uri="{9D8B030D-6E8A-4147-A177-3AD203B41FA5}">
                      <a16:colId xmlns:a16="http://schemas.microsoft.com/office/drawing/2014/main" val="3693409599"/>
                    </a:ext>
                  </a:extLst>
                </a:gridCol>
              </a:tblGrid>
              <a:tr h="540877">
                <a:tc>
                  <a:txBody>
                    <a:bodyPr/>
                    <a:lstStyle/>
                    <a:p>
                      <a:pPr algn="ctr" fontAlgn="t"/>
                      <a:r>
                        <a:rPr lang="en-IN" sz="1400" b="1">
                          <a:solidFill>
                            <a:srgbClr val="000000"/>
                          </a:solidFill>
                          <a:effectLst/>
                          <a:latin typeface="times new roman" panose="02020603050405020304" pitchFamily="18" charset="0"/>
                        </a:rPr>
                        <a:t>CUSTOMER_NAME</a:t>
                      </a:r>
                    </a:p>
                  </a:txBody>
                  <a:tcPr marT="91440" marB="91440"/>
                </a:tc>
                <a:tc>
                  <a:txBody>
                    <a:bodyPr/>
                    <a:lstStyle/>
                    <a:p>
                      <a:pPr algn="ctr" fontAlgn="t"/>
                      <a:r>
                        <a:rPr lang="en-IN" sz="1400" b="1">
                          <a:solidFill>
                            <a:srgbClr val="000000"/>
                          </a:solidFill>
                          <a:effectLst/>
                          <a:latin typeface="times new roman" panose="02020603050405020304" pitchFamily="18" charset="0"/>
                        </a:rPr>
                        <a:t>ACCOUNT_NO</a:t>
                      </a:r>
                    </a:p>
                  </a:txBody>
                  <a:tcPr marT="91440" marB="91440"/>
                </a:tc>
                <a:extLst>
                  <a:ext uri="{0D108BD9-81ED-4DB2-BD59-A6C34878D82A}">
                    <a16:rowId xmlns:a16="http://schemas.microsoft.com/office/drawing/2014/main" val="228639986"/>
                  </a:ext>
                </a:extLst>
              </a:tr>
              <a:tr h="292975">
                <a:tc>
                  <a:txBody>
                    <a:bodyPr/>
                    <a:lstStyle/>
                    <a:p>
                      <a:pPr algn="ctr" fontAlgn="t"/>
                      <a:r>
                        <a:rPr lang="en-IN" sz="1400" b="1">
                          <a:solidFill>
                            <a:srgbClr val="333333"/>
                          </a:solidFill>
                          <a:effectLst/>
                          <a:latin typeface="inter-regular"/>
                        </a:rPr>
                        <a:t>Johnson</a:t>
                      </a:r>
                    </a:p>
                  </a:txBody>
                  <a:tcPr marL="60960" marR="60960" marT="60960" marB="60960"/>
                </a:tc>
                <a:tc>
                  <a:txBody>
                    <a:bodyPr/>
                    <a:lstStyle/>
                    <a:p>
                      <a:pPr algn="ctr" fontAlgn="t"/>
                      <a:r>
                        <a:rPr lang="en-IN" sz="1400" b="1">
                          <a:solidFill>
                            <a:srgbClr val="333333"/>
                          </a:solidFill>
                          <a:effectLst/>
                          <a:latin typeface="inter-regular"/>
                        </a:rPr>
                        <a:t>A-101</a:t>
                      </a:r>
                    </a:p>
                  </a:txBody>
                  <a:tcPr marL="60960" marR="60960" marT="60960" marB="60960"/>
                </a:tc>
                <a:extLst>
                  <a:ext uri="{0D108BD9-81ED-4DB2-BD59-A6C34878D82A}">
                    <a16:rowId xmlns:a16="http://schemas.microsoft.com/office/drawing/2014/main" val="2851951281"/>
                  </a:ext>
                </a:extLst>
              </a:tr>
              <a:tr h="292975">
                <a:tc>
                  <a:txBody>
                    <a:bodyPr/>
                    <a:lstStyle/>
                    <a:p>
                      <a:pPr algn="ctr" fontAlgn="t"/>
                      <a:r>
                        <a:rPr lang="en-IN" sz="1400" b="1">
                          <a:solidFill>
                            <a:srgbClr val="333333"/>
                          </a:solidFill>
                          <a:effectLst/>
                          <a:latin typeface="inter-regular"/>
                        </a:rPr>
                        <a:t>Smith</a:t>
                      </a:r>
                    </a:p>
                  </a:txBody>
                  <a:tcPr marL="60960" marR="60960" marT="60960" marB="60960"/>
                </a:tc>
                <a:tc>
                  <a:txBody>
                    <a:bodyPr/>
                    <a:lstStyle/>
                    <a:p>
                      <a:pPr algn="ctr" fontAlgn="t"/>
                      <a:r>
                        <a:rPr lang="en-IN" sz="1400" b="1" dirty="0">
                          <a:solidFill>
                            <a:srgbClr val="333333"/>
                          </a:solidFill>
                          <a:effectLst/>
                          <a:latin typeface="inter-regular"/>
                        </a:rPr>
                        <a:t>A-121</a:t>
                      </a:r>
                    </a:p>
                  </a:txBody>
                  <a:tcPr marL="60960" marR="60960" marT="60960" marB="60960"/>
                </a:tc>
                <a:extLst>
                  <a:ext uri="{0D108BD9-81ED-4DB2-BD59-A6C34878D82A}">
                    <a16:rowId xmlns:a16="http://schemas.microsoft.com/office/drawing/2014/main" val="3913577002"/>
                  </a:ext>
                </a:extLst>
              </a:tr>
              <a:tr h="292975">
                <a:tc>
                  <a:txBody>
                    <a:bodyPr/>
                    <a:lstStyle/>
                    <a:p>
                      <a:pPr algn="ctr" fontAlgn="t"/>
                      <a:r>
                        <a:rPr lang="en-IN" sz="1400" b="1">
                          <a:solidFill>
                            <a:srgbClr val="333333"/>
                          </a:solidFill>
                          <a:effectLst/>
                          <a:latin typeface="inter-regular"/>
                        </a:rPr>
                        <a:t>Mayes</a:t>
                      </a:r>
                    </a:p>
                  </a:txBody>
                  <a:tcPr marL="60960" marR="60960" marT="60960" marB="60960"/>
                </a:tc>
                <a:tc>
                  <a:txBody>
                    <a:bodyPr/>
                    <a:lstStyle/>
                    <a:p>
                      <a:pPr algn="ctr" fontAlgn="t"/>
                      <a:r>
                        <a:rPr lang="en-IN" sz="1400" b="1">
                          <a:solidFill>
                            <a:srgbClr val="333333"/>
                          </a:solidFill>
                          <a:effectLst/>
                          <a:latin typeface="inter-regular"/>
                        </a:rPr>
                        <a:t>A-321</a:t>
                      </a:r>
                    </a:p>
                  </a:txBody>
                  <a:tcPr marL="60960" marR="60960" marT="60960" marB="60960"/>
                </a:tc>
                <a:extLst>
                  <a:ext uri="{0D108BD9-81ED-4DB2-BD59-A6C34878D82A}">
                    <a16:rowId xmlns:a16="http://schemas.microsoft.com/office/drawing/2014/main" val="3188400289"/>
                  </a:ext>
                </a:extLst>
              </a:tr>
              <a:tr h="292975">
                <a:tc>
                  <a:txBody>
                    <a:bodyPr/>
                    <a:lstStyle/>
                    <a:p>
                      <a:pPr algn="ctr" fontAlgn="t"/>
                      <a:r>
                        <a:rPr lang="en-IN" sz="1400" b="1">
                          <a:solidFill>
                            <a:srgbClr val="333333"/>
                          </a:solidFill>
                          <a:effectLst/>
                          <a:latin typeface="inter-regular"/>
                        </a:rPr>
                        <a:t>Turner</a:t>
                      </a:r>
                    </a:p>
                  </a:txBody>
                  <a:tcPr marL="60960" marR="60960" marT="60960" marB="60960"/>
                </a:tc>
                <a:tc>
                  <a:txBody>
                    <a:bodyPr/>
                    <a:lstStyle/>
                    <a:p>
                      <a:pPr algn="ctr" fontAlgn="t"/>
                      <a:r>
                        <a:rPr lang="en-IN" sz="1400" b="1" dirty="0">
                          <a:solidFill>
                            <a:srgbClr val="333333"/>
                          </a:solidFill>
                          <a:effectLst/>
                          <a:latin typeface="inter-regular"/>
                        </a:rPr>
                        <a:t>A-176</a:t>
                      </a:r>
                    </a:p>
                  </a:txBody>
                  <a:tcPr marL="60960" marR="60960" marT="60960" marB="60960"/>
                </a:tc>
                <a:extLst>
                  <a:ext uri="{0D108BD9-81ED-4DB2-BD59-A6C34878D82A}">
                    <a16:rowId xmlns:a16="http://schemas.microsoft.com/office/drawing/2014/main" val="2554159739"/>
                  </a:ext>
                </a:extLst>
              </a:tr>
              <a:tr h="292975">
                <a:tc>
                  <a:txBody>
                    <a:bodyPr/>
                    <a:lstStyle/>
                    <a:p>
                      <a:pPr algn="ctr" fontAlgn="t"/>
                      <a:r>
                        <a:rPr lang="en-IN" sz="1400" b="1">
                          <a:solidFill>
                            <a:srgbClr val="333333"/>
                          </a:solidFill>
                          <a:effectLst/>
                          <a:latin typeface="inter-regular"/>
                        </a:rPr>
                        <a:t>Johnson</a:t>
                      </a:r>
                    </a:p>
                  </a:txBody>
                  <a:tcPr marL="60960" marR="60960" marT="60960" marB="60960"/>
                </a:tc>
                <a:tc>
                  <a:txBody>
                    <a:bodyPr/>
                    <a:lstStyle/>
                    <a:p>
                      <a:pPr algn="ctr" fontAlgn="t"/>
                      <a:r>
                        <a:rPr lang="en-IN" sz="1400" b="1">
                          <a:solidFill>
                            <a:srgbClr val="333333"/>
                          </a:solidFill>
                          <a:effectLst/>
                          <a:latin typeface="inter-regular"/>
                        </a:rPr>
                        <a:t>A-273</a:t>
                      </a:r>
                    </a:p>
                  </a:txBody>
                  <a:tcPr marL="60960" marR="60960" marT="60960" marB="60960"/>
                </a:tc>
                <a:extLst>
                  <a:ext uri="{0D108BD9-81ED-4DB2-BD59-A6C34878D82A}">
                    <a16:rowId xmlns:a16="http://schemas.microsoft.com/office/drawing/2014/main" val="280742635"/>
                  </a:ext>
                </a:extLst>
              </a:tr>
              <a:tr h="292975">
                <a:tc>
                  <a:txBody>
                    <a:bodyPr/>
                    <a:lstStyle/>
                    <a:p>
                      <a:pPr algn="ctr" fontAlgn="t"/>
                      <a:r>
                        <a:rPr lang="en-IN" sz="1400" b="1">
                          <a:solidFill>
                            <a:srgbClr val="333333"/>
                          </a:solidFill>
                          <a:effectLst/>
                          <a:latin typeface="inter-regular"/>
                        </a:rPr>
                        <a:t>Jones</a:t>
                      </a:r>
                    </a:p>
                  </a:txBody>
                  <a:tcPr marL="60960" marR="60960" marT="60960" marB="60960"/>
                </a:tc>
                <a:tc>
                  <a:txBody>
                    <a:bodyPr/>
                    <a:lstStyle/>
                    <a:p>
                      <a:pPr algn="ctr" fontAlgn="t"/>
                      <a:r>
                        <a:rPr lang="en-IN" sz="1400" b="1">
                          <a:solidFill>
                            <a:srgbClr val="333333"/>
                          </a:solidFill>
                          <a:effectLst/>
                          <a:latin typeface="inter-regular"/>
                        </a:rPr>
                        <a:t>A-472</a:t>
                      </a:r>
                    </a:p>
                  </a:txBody>
                  <a:tcPr marL="60960" marR="60960" marT="60960" marB="60960"/>
                </a:tc>
                <a:extLst>
                  <a:ext uri="{0D108BD9-81ED-4DB2-BD59-A6C34878D82A}">
                    <a16:rowId xmlns:a16="http://schemas.microsoft.com/office/drawing/2014/main" val="1610836461"/>
                  </a:ext>
                </a:extLst>
              </a:tr>
              <a:tr h="292975">
                <a:tc>
                  <a:txBody>
                    <a:bodyPr/>
                    <a:lstStyle/>
                    <a:p>
                      <a:pPr algn="ctr" fontAlgn="t"/>
                      <a:r>
                        <a:rPr lang="en-IN" sz="1400" b="1">
                          <a:solidFill>
                            <a:srgbClr val="333333"/>
                          </a:solidFill>
                          <a:effectLst/>
                          <a:latin typeface="inter-regular"/>
                        </a:rPr>
                        <a:t>Lindsay</a:t>
                      </a:r>
                    </a:p>
                  </a:txBody>
                  <a:tcPr marL="60960" marR="60960" marT="60960" marB="60960"/>
                </a:tc>
                <a:tc>
                  <a:txBody>
                    <a:bodyPr/>
                    <a:lstStyle/>
                    <a:p>
                      <a:pPr algn="ctr" fontAlgn="t"/>
                      <a:r>
                        <a:rPr lang="en-IN" sz="1400" b="1" dirty="0">
                          <a:solidFill>
                            <a:srgbClr val="333333"/>
                          </a:solidFill>
                          <a:effectLst/>
                          <a:latin typeface="inter-regular"/>
                        </a:rPr>
                        <a:t>A-284</a:t>
                      </a:r>
                    </a:p>
                  </a:txBody>
                  <a:tcPr marL="60960" marR="60960" marT="60960" marB="60960"/>
                </a:tc>
                <a:extLst>
                  <a:ext uri="{0D108BD9-81ED-4DB2-BD59-A6C34878D82A}">
                    <a16:rowId xmlns:a16="http://schemas.microsoft.com/office/drawing/2014/main" val="2211501138"/>
                  </a:ext>
                </a:extLst>
              </a:tr>
            </a:tbl>
          </a:graphicData>
        </a:graphic>
      </p:graphicFrame>
      <p:sp>
        <p:nvSpPr>
          <p:cNvPr id="7" name="TextBox 6">
            <a:extLst>
              <a:ext uri="{FF2B5EF4-FFF2-40B4-BE49-F238E27FC236}">
                <a16:creationId xmlns:a16="http://schemas.microsoft.com/office/drawing/2014/main" id="{A7AE385F-863A-4820-AB24-958C8C96153C}"/>
              </a:ext>
            </a:extLst>
          </p:cNvPr>
          <p:cNvSpPr txBox="1"/>
          <p:nvPr/>
        </p:nvSpPr>
        <p:spPr>
          <a:xfrm>
            <a:off x="2575139" y="1169467"/>
            <a:ext cx="1587557" cy="369332"/>
          </a:xfrm>
          <a:prstGeom prst="rect">
            <a:avLst/>
          </a:prstGeom>
          <a:noFill/>
        </p:spPr>
        <p:txBody>
          <a:bodyPr wrap="square">
            <a:spAutoFit/>
          </a:bodyPr>
          <a:lstStyle/>
          <a:p>
            <a:r>
              <a:rPr lang="en-IN" b="1" i="0" dirty="0">
                <a:solidFill>
                  <a:srgbClr val="333333"/>
                </a:solidFill>
                <a:effectLst/>
                <a:latin typeface="inter-bold"/>
              </a:rPr>
              <a:t>DEPOSITOR</a:t>
            </a:r>
            <a:endParaRPr lang="en-IN" dirty="0"/>
          </a:p>
        </p:txBody>
      </p:sp>
      <p:graphicFrame>
        <p:nvGraphicFramePr>
          <p:cNvPr id="8" name="Table 8">
            <a:extLst>
              <a:ext uri="{FF2B5EF4-FFF2-40B4-BE49-F238E27FC236}">
                <a16:creationId xmlns:a16="http://schemas.microsoft.com/office/drawing/2014/main" id="{6AFCF370-DAD1-400A-B255-D3E82D2AC660}"/>
              </a:ext>
            </a:extLst>
          </p:cNvPr>
          <p:cNvGraphicFramePr>
            <a:graphicFrameLocks noGrp="1"/>
          </p:cNvGraphicFramePr>
          <p:nvPr>
            <p:extLst>
              <p:ext uri="{D42A27DB-BD31-4B8C-83A1-F6EECF244321}">
                <p14:modId xmlns:p14="http://schemas.microsoft.com/office/powerpoint/2010/main" val="731800611"/>
              </p:ext>
            </p:extLst>
          </p:nvPr>
        </p:nvGraphicFramePr>
        <p:xfrm>
          <a:off x="5693051" y="1484939"/>
          <a:ext cx="3694098" cy="2407920"/>
        </p:xfrm>
        <a:graphic>
          <a:graphicData uri="http://schemas.openxmlformats.org/drawingml/2006/table">
            <a:tbl>
              <a:tblPr firstRow="1" bandRow="1">
                <a:tableStyleId>{5C22544A-7EE6-4342-B048-85BDC9FD1C3A}</a:tableStyleId>
              </a:tblPr>
              <a:tblGrid>
                <a:gridCol w="1847049">
                  <a:extLst>
                    <a:ext uri="{9D8B030D-6E8A-4147-A177-3AD203B41FA5}">
                      <a16:colId xmlns:a16="http://schemas.microsoft.com/office/drawing/2014/main" val="3979642314"/>
                    </a:ext>
                  </a:extLst>
                </a:gridCol>
                <a:gridCol w="1847049">
                  <a:extLst>
                    <a:ext uri="{9D8B030D-6E8A-4147-A177-3AD203B41FA5}">
                      <a16:colId xmlns:a16="http://schemas.microsoft.com/office/drawing/2014/main" val="3216559425"/>
                    </a:ext>
                  </a:extLst>
                </a:gridCol>
              </a:tblGrid>
              <a:tr h="320645">
                <a:tc>
                  <a:txBody>
                    <a:bodyPr/>
                    <a:lstStyle/>
                    <a:p>
                      <a:pPr algn="ctr" fontAlgn="t"/>
                      <a:r>
                        <a:rPr lang="en-IN" sz="1400" b="1" dirty="0">
                          <a:solidFill>
                            <a:srgbClr val="000000"/>
                          </a:solidFill>
                          <a:effectLst/>
                          <a:latin typeface="times new roman" panose="02020603050405020304" pitchFamily="18" charset="0"/>
                        </a:rPr>
                        <a:t>CUSTOMER_NAME</a:t>
                      </a:r>
                    </a:p>
                  </a:txBody>
                  <a:tcPr marT="91440" marB="91440"/>
                </a:tc>
                <a:tc>
                  <a:txBody>
                    <a:bodyPr/>
                    <a:lstStyle/>
                    <a:p>
                      <a:pPr algn="ctr" fontAlgn="t"/>
                      <a:r>
                        <a:rPr lang="en-IN" sz="1400" b="1">
                          <a:solidFill>
                            <a:srgbClr val="000000"/>
                          </a:solidFill>
                          <a:effectLst/>
                          <a:latin typeface="times new roman" panose="02020603050405020304" pitchFamily="18" charset="0"/>
                        </a:rPr>
                        <a:t>LOAN_NO</a:t>
                      </a:r>
                    </a:p>
                  </a:txBody>
                  <a:tcPr marT="91440" marB="91440"/>
                </a:tc>
                <a:extLst>
                  <a:ext uri="{0D108BD9-81ED-4DB2-BD59-A6C34878D82A}">
                    <a16:rowId xmlns:a16="http://schemas.microsoft.com/office/drawing/2014/main" val="1990289483"/>
                  </a:ext>
                </a:extLst>
              </a:tr>
              <a:tr h="300091">
                <a:tc>
                  <a:txBody>
                    <a:bodyPr/>
                    <a:lstStyle/>
                    <a:p>
                      <a:pPr algn="ctr" fontAlgn="t"/>
                      <a:r>
                        <a:rPr lang="en-IN" sz="1400" b="1">
                          <a:solidFill>
                            <a:srgbClr val="333333"/>
                          </a:solidFill>
                          <a:effectLst/>
                          <a:latin typeface="inter-regular"/>
                        </a:rPr>
                        <a:t>Jones</a:t>
                      </a:r>
                    </a:p>
                  </a:txBody>
                  <a:tcPr marL="60960" marR="60960" marT="60960" marB="60960"/>
                </a:tc>
                <a:tc>
                  <a:txBody>
                    <a:bodyPr/>
                    <a:lstStyle/>
                    <a:p>
                      <a:pPr algn="ctr" fontAlgn="t"/>
                      <a:r>
                        <a:rPr lang="en-IN" sz="1400" b="1">
                          <a:solidFill>
                            <a:srgbClr val="333333"/>
                          </a:solidFill>
                          <a:effectLst/>
                          <a:latin typeface="inter-regular"/>
                        </a:rPr>
                        <a:t>L-17</a:t>
                      </a:r>
                    </a:p>
                  </a:txBody>
                  <a:tcPr marL="60960" marR="60960" marT="60960" marB="60960"/>
                </a:tc>
                <a:extLst>
                  <a:ext uri="{0D108BD9-81ED-4DB2-BD59-A6C34878D82A}">
                    <a16:rowId xmlns:a16="http://schemas.microsoft.com/office/drawing/2014/main" val="216306478"/>
                  </a:ext>
                </a:extLst>
              </a:tr>
              <a:tr h="300091">
                <a:tc>
                  <a:txBody>
                    <a:bodyPr/>
                    <a:lstStyle/>
                    <a:p>
                      <a:pPr algn="ctr" fontAlgn="t"/>
                      <a:r>
                        <a:rPr lang="en-IN" sz="1400" b="1">
                          <a:solidFill>
                            <a:srgbClr val="333333"/>
                          </a:solidFill>
                          <a:effectLst/>
                          <a:latin typeface="inter-regular"/>
                        </a:rPr>
                        <a:t>Smith</a:t>
                      </a:r>
                    </a:p>
                  </a:txBody>
                  <a:tcPr marL="60960" marR="60960" marT="60960" marB="60960"/>
                </a:tc>
                <a:tc>
                  <a:txBody>
                    <a:bodyPr/>
                    <a:lstStyle/>
                    <a:p>
                      <a:pPr algn="ctr" fontAlgn="t"/>
                      <a:r>
                        <a:rPr lang="en-IN" sz="1400" b="1">
                          <a:solidFill>
                            <a:srgbClr val="333333"/>
                          </a:solidFill>
                          <a:effectLst/>
                          <a:latin typeface="inter-regular"/>
                        </a:rPr>
                        <a:t>L-23</a:t>
                      </a:r>
                    </a:p>
                  </a:txBody>
                  <a:tcPr marL="60960" marR="60960" marT="60960" marB="60960"/>
                </a:tc>
                <a:extLst>
                  <a:ext uri="{0D108BD9-81ED-4DB2-BD59-A6C34878D82A}">
                    <a16:rowId xmlns:a16="http://schemas.microsoft.com/office/drawing/2014/main" val="2633469272"/>
                  </a:ext>
                </a:extLst>
              </a:tr>
              <a:tr h="300091">
                <a:tc>
                  <a:txBody>
                    <a:bodyPr/>
                    <a:lstStyle/>
                    <a:p>
                      <a:pPr algn="ctr" fontAlgn="t"/>
                      <a:r>
                        <a:rPr lang="en-IN" sz="1400" b="1">
                          <a:solidFill>
                            <a:srgbClr val="333333"/>
                          </a:solidFill>
                          <a:effectLst/>
                          <a:latin typeface="inter-regular"/>
                        </a:rPr>
                        <a:t>Hayes</a:t>
                      </a:r>
                    </a:p>
                  </a:txBody>
                  <a:tcPr marL="60960" marR="60960" marT="60960" marB="60960"/>
                </a:tc>
                <a:tc>
                  <a:txBody>
                    <a:bodyPr/>
                    <a:lstStyle/>
                    <a:p>
                      <a:pPr algn="ctr" fontAlgn="t"/>
                      <a:r>
                        <a:rPr lang="en-IN" sz="1400" b="1">
                          <a:solidFill>
                            <a:srgbClr val="333333"/>
                          </a:solidFill>
                          <a:effectLst/>
                          <a:latin typeface="inter-regular"/>
                        </a:rPr>
                        <a:t>L-15</a:t>
                      </a:r>
                    </a:p>
                  </a:txBody>
                  <a:tcPr marL="60960" marR="60960" marT="60960" marB="60960"/>
                </a:tc>
                <a:extLst>
                  <a:ext uri="{0D108BD9-81ED-4DB2-BD59-A6C34878D82A}">
                    <a16:rowId xmlns:a16="http://schemas.microsoft.com/office/drawing/2014/main" val="1257680194"/>
                  </a:ext>
                </a:extLst>
              </a:tr>
              <a:tr h="300091">
                <a:tc>
                  <a:txBody>
                    <a:bodyPr/>
                    <a:lstStyle/>
                    <a:p>
                      <a:pPr algn="ctr" fontAlgn="t"/>
                      <a:r>
                        <a:rPr lang="en-IN" sz="1400" b="1">
                          <a:solidFill>
                            <a:srgbClr val="333333"/>
                          </a:solidFill>
                          <a:effectLst/>
                          <a:latin typeface="inter-regular"/>
                        </a:rPr>
                        <a:t>Jackson</a:t>
                      </a:r>
                    </a:p>
                  </a:txBody>
                  <a:tcPr marL="60960" marR="60960" marT="60960" marB="60960"/>
                </a:tc>
                <a:tc>
                  <a:txBody>
                    <a:bodyPr/>
                    <a:lstStyle/>
                    <a:p>
                      <a:pPr algn="ctr" fontAlgn="t"/>
                      <a:r>
                        <a:rPr lang="en-IN" sz="1400" b="1">
                          <a:solidFill>
                            <a:srgbClr val="333333"/>
                          </a:solidFill>
                          <a:effectLst/>
                          <a:latin typeface="inter-regular"/>
                        </a:rPr>
                        <a:t>L-14</a:t>
                      </a:r>
                    </a:p>
                  </a:txBody>
                  <a:tcPr marL="60960" marR="60960" marT="60960" marB="60960"/>
                </a:tc>
                <a:extLst>
                  <a:ext uri="{0D108BD9-81ED-4DB2-BD59-A6C34878D82A}">
                    <a16:rowId xmlns:a16="http://schemas.microsoft.com/office/drawing/2014/main" val="3793267965"/>
                  </a:ext>
                </a:extLst>
              </a:tr>
              <a:tr h="300091">
                <a:tc>
                  <a:txBody>
                    <a:bodyPr/>
                    <a:lstStyle/>
                    <a:p>
                      <a:pPr algn="ctr" fontAlgn="t"/>
                      <a:r>
                        <a:rPr lang="en-IN" sz="1400" b="1">
                          <a:solidFill>
                            <a:srgbClr val="333333"/>
                          </a:solidFill>
                          <a:effectLst/>
                          <a:latin typeface="inter-regular"/>
                        </a:rPr>
                        <a:t>Curry</a:t>
                      </a:r>
                    </a:p>
                  </a:txBody>
                  <a:tcPr marL="60960" marR="60960" marT="60960" marB="60960"/>
                </a:tc>
                <a:tc>
                  <a:txBody>
                    <a:bodyPr/>
                    <a:lstStyle/>
                    <a:p>
                      <a:pPr algn="ctr" fontAlgn="t"/>
                      <a:r>
                        <a:rPr lang="en-IN" sz="1400" b="1">
                          <a:solidFill>
                            <a:srgbClr val="333333"/>
                          </a:solidFill>
                          <a:effectLst/>
                          <a:latin typeface="inter-regular"/>
                        </a:rPr>
                        <a:t>L-93</a:t>
                      </a:r>
                    </a:p>
                  </a:txBody>
                  <a:tcPr marL="60960" marR="60960" marT="60960" marB="60960"/>
                </a:tc>
                <a:extLst>
                  <a:ext uri="{0D108BD9-81ED-4DB2-BD59-A6C34878D82A}">
                    <a16:rowId xmlns:a16="http://schemas.microsoft.com/office/drawing/2014/main" val="3282652752"/>
                  </a:ext>
                </a:extLst>
              </a:tr>
              <a:tr h="300091">
                <a:tc>
                  <a:txBody>
                    <a:bodyPr/>
                    <a:lstStyle/>
                    <a:p>
                      <a:pPr algn="ctr" fontAlgn="t"/>
                      <a:r>
                        <a:rPr lang="en-IN" sz="1400" b="1">
                          <a:solidFill>
                            <a:srgbClr val="333333"/>
                          </a:solidFill>
                          <a:effectLst/>
                          <a:latin typeface="inter-regular"/>
                        </a:rPr>
                        <a:t>Smith</a:t>
                      </a:r>
                    </a:p>
                  </a:txBody>
                  <a:tcPr marL="60960" marR="60960" marT="60960" marB="60960"/>
                </a:tc>
                <a:tc>
                  <a:txBody>
                    <a:bodyPr/>
                    <a:lstStyle/>
                    <a:p>
                      <a:pPr algn="ctr" fontAlgn="t"/>
                      <a:r>
                        <a:rPr lang="en-IN" sz="1400" b="1" dirty="0">
                          <a:solidFill>
                            <a:srgbClr val="333333"/>
                          </a:solidFill>
                          <a:effectLst/>
                          <a:latin typeface="inter-regular"/>
                        </a:rPr>
                        <a:t>L-11</a:t>
                      </a:r>
                    </a:p>
                  </a:txBody>
                  <a:tcPr marL="60960" marR="60960" marT="60960" marB="60960"/>
                </a:tc>
                <a:extLst>
                  <a:ext uri="{0D108BD9-81ED-4DB2-BD59-A6C34878D82A}">
                    <a16:rowId xmlns:a16="http://schemas.microsoft.com/office/drawing/2014/main" val="1796586547"/>
                  </a:ext>
                </a:extLst>
              </a:tr>
            </a:tbl>
          </a:graphicData>
        </a:graphic>
      </p:graphicFrame>
      <p:sp>
        <p:nvSpPr>
          <p:cNvPr id="10" name="TextBox 9">
            <a:extLst>
              <a:ext uri="{FF2B5EF4-FFF2-40B4-BE49-F238E27FC236}">
                <a16:creationId xmlns:a16="http://schemas.microsoft.com/office/drawing/2014/main" id="{4CC26030-3E03-44A8-BE49-4EA18DB024C6}"/>
              </a:ext>
            </a:extLst>
          </p:cNvPr>
          <p:cNvSpPr txBox="1"/>
          <p:nvPr/>
        </p:nvSpPr>
        <p:spPr>
          <a:xfrm>
            <a:off x="6840370" y="1056445"/>
            <a:ext cx="1903036" cy="369332"/>
          </a:xfrm>
          <a:prstGeom prst="rect">
            <a:avLst/>
          </a:prstGeom>
          <a:noFill/>
        </p:spPr>
        <p:txBody>
          <a:bodyPr wrap="square">
            <a:spAutoFit/>
          </a:bodyPr>
          <a:lstStyle/>
          <a:p>
            <a:r>
              <a:rPr lang="en-IN" b="1" i="0" dirty="0">
                <a:solidFill>
                  <a:srgbClr val="333333"/>
                </a:solidFill>
                <a:effectLst/>
                <a:latin typeface="inter-bold"/>
              </a:rPr>
              <a:t>BORROWER</a:t>
            </a:r>
            <a:endParaRPr lang="en-IN" dirty="0"/>
          </a:p>
        </p:txBody>
      </p:sp>
      <p:sp>
        <p:nvSpPr>
          <p:cNvPr id="12" name="TextBox 11">
            <a:extLst>
              <a:ext uri="{FF2B5EF4-FFF2-40B4-BE49-F238E27FC236}">
                <a16:creationId xmlns:a16="http://schemas.microsoft.com/office/drawing/2014/main" id="{00FE10F0-1A20-4DA8-B426-C95C0BB85BAE}"/>
              </a:ext>
            </a:extLst>
          </p:cNvPr>
          <p:cNvSpPr txBox="1"/>
          <p:nvPr/>
        </p:nvSpPr>
        <p:spPr>
          <a:xfrm>
            <a:off x="674805" y="4614778"/>
            <a:ext cx="8638212" cy="1477328"/>
          </a:xfrm>
          <a:prstGeom prst="rect">
            <a:avLst/>
          </a:prstGeom>
          <a:noFill/>
        </p:spPr>
        <p:txBody>
          <a:bodyPr wrap="square">
            <a:spAutoFit/>
          </a:bodyPr>
          <a:lstStyle/>
          <a:p>
            <a:pPr algn="just"/>
            <a:r>
              <a:rPr lang="en-IN" b="0" i="0" dirty="0">
                <a:solidFill>
                  <a:srgbClr val="000000"/>
                </a:solidFill>
                <a:effectLst/>
                <a:latin typeface="inter-regular"/>
              </a:rPr>
              <a:t>Find the customers who are both depositor and borrower: </a:t>
            </a:r>
          </a:p>
          <a:p>
            <a:pPr algn="just"/>
            <a:endParaRPr lang="en-IN" dirty="0">
              <a:solidFill>
                <a:srgbClr val="000000"/>
              </a:solidFill>
              <a:latin typeface="inter-regular"/>
            </a:endParaRPr>
          </a:p>
          <a:p>
            <a:pPr algn="just"/>
            <a:r>
              <a:rPr lang="en-IN" b="0" i="0" dirty="0">
                <a:solidFill>
                  <a:srgbClr val="000000"/>
                </a:solidFill>
                <a:effectLst/>
                <a:latin typeface="inter-regular"/>
              </a:rPr>
              <a:t>∏ CUSTOMER_NAME (BORROWER) ∩ ∏ CUSTOMER_NAME (DEPOSITOR) </a:t>
            </a:r>
          </a:p>
          <a:p>
            <a:pPr algn="just"/>
            <a:endParaRPr lang="en-IN" dirty="0">
              <a:solidFill>
                <a:srgbClr val="000000"/>
              </a:solidFill>
              <a:latin typeface="inter-regular"/>
            </a:endParaRPr>
          </a:p>
          <a:p>
            <a:pPr algn="just"/>
            <a:r>
              <a:rPr lang="en-IN" b="0" i="0" dirty="0">
                <a:solidFill>
                  <a:srgbClr val="000000"/>
                </a:solidFill>
                <a:effectLst/>
                <a:latin typeface="inter-regular"/>
              </a:rPr>
              <a:t> </a:t>
            </a:r>
          </a:p>
        </p:txBody>
      </p:sp>
      <p:graphicFrame>
        <p:nvGraphicFramePr>
          <p:cNvPr id="14" name="Table 14">
            <a:extLst>
              <a:ext uri="{FF2B5EF4-FFF2-40B4-BE49-F238E27FC236}">
                <a16:creationId xmlns:a16="http://schemas.microsoft.com/office/drawing/2014/main" id="{DB916F65-0504-4016-8BFC-A6E2EDCB79D7}"/>
              </a:ext>
            </a:extLst>
          </p:cNvPr>
          <p:cNvGraphicFramePr>
            <a:graphicFrameLocks noGrp="1"/>
          </p:cNvGraphicFramePr>
          <p:nvPr>
            <p:extLst>
              <p:ext uri="{D42A27DB-BD31-4B8C-83A1-F6EECF244321}">
                <p14:modId xmlns:p14="http://schemas.microsoft.com/office/powerpoint/2010/main" val="648955277"/>
              </p:ext>
            </p:extLst>
          </p:nvPr>
        </p:nvGraphicFramePr>
        <p:xfrm>
          <a:off x="9453210" y="4347987"/>
          <a:ext cx="2424590" cy="1249680"/>
        </p:xfrm>
        <a:graphic>
          <a:graphicData uri="http://schemas.openxmlformats.org/drawingml/2006/table">
            <a:tbl>
              <a:tblPr firstRow="1" bandRow="1">
                <a:tableStyleId>{5C22544A-7EE6-4342-B048-85BDC9FD1C3A}</a:tableStyleId>
              </a:tblPr>
              <a:tblGrid>
                <a:gridCol w="2424590">
                  <a:extLst>
                    <a:ext uri="{9D8B030D-6E8A-4147-A177-3AD203B41FA5}">
                      <a16:colId xmlns:a16="http://schemas.microsoft.com/office/drawing/2014/main" val="1560848434"/>
                    </a:ext>
                  </a:extLst>
                </a:gridCol>
              </a:tblGrid>
              <a:tr h="370840">
                <a:tc>
                  <a:txBody>
                    <a:bodyPr/>
                    <a:lstStyle/>
                    <a:p>
                      <a:pPr algn="ctr" fontAlgn="t"/>
                      <a:r>
                        <a:rPr lang="en-IN" b="1" dirty="0">
                          <a:solidFill>
                            <a:srgbClr val="000000"/>
                          </a:solidFill>
                          <a:effectLst/>
                          <a:latin typeface="times new roman" panose="02020603050405020304" pitchFamily="18" charset="0"/>
                        </a:rPr>
                        <a:t>CUSTOMER_NAME</a:t>
                      </a:r>
                    </a:p>
                  </a:txBody>
                  <a:tcPr marT="91440" marB="91440"/>
                </a:tc>
                <a:extLst>
                  <a:ext uri="{0D108BD9-81ED-4DB2-BD59-A6C34878D82A}">
                    <a16:rowId xmlns:a16="http://schemas.microsoft.com/office/drawing/2014/main" val="2288504000"/>
                  </a:ext>
                </a:extLst>
              </a:tr>
              <a:tr h="370840">
                <a:tc>
                  <a:txBody>
                    <a:bodyPr/>
                    <a:lstStyle/>
                    <a:p>
                      <a:pPr algn="ctr" fontAlgn="t"/>
                      <a:r>
                        <a:rPr lang="en-IN" b="1">
                          <a:solidFill>
                            <a:srgbClr val="333333"/>
                          </a:solidFill>
                          <a:effectLst/>
                          <a:latin typeface="inter-regular"/>
                        </a:rPr>
                        <a:t>Smith</a:t>
                      </a:r>
                    </a:p>
                  </a:txBody>
                  <a:tcPr marL="60960" marR="60960" marT="60960" marB="60960"/>
                </a:tc>
                <a:extLst>
                  <a:ext uri="{0D108BD9-81ED-4DB2-BD59-A6C34878D82A}">
                    <a16:rowId xmlns:a16="http://schemas.microsoft.com/office/drawing/2014/main" val="398090259"/>
                  </a:ext>
                </a:extLst>
              </a:tr>
              <a:tr h="370840">
                <a:tc>
                  <a:txBody>
                    <a:bodyPr/>
                    <a:lstStyle/>
                    <a:p>
                      <a:pPr algn="ctr" fontAlgn="t"/>
                      <a:r>
                        <a:rPr lang="en-IN" b="1" dirty="0">
                          <a:solidFill>
                            <a:srgbClr val="333333"/>
                          </a:solidFill>
                          <a:effectLst/>
                          <a:latin typeface="inter-regular"/>
                        </a:rPr>
                        <a:t>Jones</a:t>
                      </a:r>
                    </a:p>
                  </a:txBody>
                  <a:tcPr marL="60960" marR="60960" marT="60960" marB="60960"/>
                </a:tc>
                <a:extLst>
                  <a:ext uri="{0D108BD9-81ED-4DB2-BD59-A6C34878D82A}">
                    <a16:rowId xmlns:a16="http://schemas.microsoft.com/office/drawing/2014/main" val="3357967933"/>
                  </a:ext>
                </a:extLst>
              </a:tr>
            </a:tbl>
          </a:graphicData>
        </a:graphic>
      </p:graphicFrame>
    </p:spTree>
    <p:extLst>
      <p:ext uri="{BB962C8B-B14F-4D97-AF65-F5344CB8AC3E}">
        <p14:creationId xmlns:p14="http://schemas.microsoft.com/office/powerpoint/2010/main" val="24261245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48FF8-4F42-434D-BD9C-0BF42D17938F}"/>
              </a:ext>
            </a:extLst>
          </p:cNvPr>
          <p:cNvSpPr>
            <a:spLocks noGrp="1"/>
          </p:cNvSpPr>
          <p:nvPr>
            <p:ph type="title"/>
          </p:nvPr>
        </p:nvSpPr>
        <p:spPr>
          <a:xfrm>
            <a:off x="838200" y="18892"/>
            <a:ext cx="10515600" cy="984286"/>
          </a:xfrm>
        </p:spPr>
        <p:txBody>
          <a:bodyPr/>
          <a:lstStyle/>
          <a:p>
            <a:pPr algn="ctr"/>
            <a:r>
              <a:rPr lang="en-US" altLang="en-US" sz="4400" b="1" dirty="0">
                <a:solidFill>
                  <a:schemeClr val="accent4">
                    <a:lumMod val="50000"/>
                  </a:schemeClr>
                </a:solidFill>
              </a:rPr>
              <a:t>8. SET DIFFERENCE</a:t>
            </a:r>
            <a:endParaRPr lang="en-IN" b="1" dirty="0">
              <a:solidFill>
                <a:schemeClr val="accent4">
                  <a:lumMod val="50000"/>
                </a:schemeClr>
              </a:solidFill>
            </a:endParaRPr>
          </a:p>
        </p:txBody>
      </p:sp>
      <p:sp>
        <p:nvSpPr>
          <p:cNvPr id="3" name="Content Placeholder 2">
            <a:extLst>
              <a:ext uri="{FF2B5EF4-FFF2-40B4-BE49-F238E27FC236}">
                <a16:creationId xmlns:a16="http://schemas.microsoft.com/office/drawing/2014/main" id="{AC97C5EA-F584-4564-A2A8-32169FA5469E}"/>
              </a:ext>
            </a:extLst>
          </p:cNvPr>
          <p:cNvSpPr>
            <a:spLocks noGrp="1"/>
          </p:cNvSpPr>
          <p:nvPr>
            <p:ph idx="1"/>
          </p:nvPr>
        </p:nvSpPr>
        <p:spPr>
          <a:xfrm>
            <a:off x="645111" y="1236617"/>
            <a:ext cx="10901778" cy="4840022"/>
          </a:xfrm>
        </p:spPr>
        <p:txBody>
          <a:bodyPr>
            <a:normAutofit lnSpcReduction="10000"/>
          </a:bodyPr>
          <a:lstStyle/>
          <a:p>
            <a:pPr>
              <a:buFont typeface="Wingdings" panose="05000000000000000000" pitchFamily="2" charset="2"/>
              <a:buChar char="q"/>
            </a:pPr>
            <a:r>
              <a:rPr lang="en-US" altLang="en-US" sz="2800" dirty="0"/>
              <a:t>The set-difference operation allows us to find tuples that are in one relation but are not in another.</a:t>
            </a:r>
          </a:p>
          <a:p>
            <a:pPr marL="0" indent="0">
              <a:buNone/>
            </a:pPr>
            <a:endParaRPr lang="en-US" altLang="en-US" dirty="0"/>
          </a:p>
          <a:p>
            <a:pPr eaLnBrk="1" hangingPunct="1">
              <a:buFont typeface="Wingdings" panose="05000000000000000000" pitchFamily="2" charset="2"/>
              <a:buChar char="q"/>
            </a:pPr>
            <a:r>
              <a:rPr lang="en-US" altLang="en-US" dirty="0"/>
              <a:t>SET DIFFERENCE (also called MINUS or EXCEPT) is denoted by </a:t>
            </a:r>
            <a:r>
              <a:rPr lang="en-US" altLang="en-US" b="1" dirty="0"/>
              <a:t>–</a:t>
            </a:r>
            <a:r>
              <a:rPr lang="en-US" altLang="en-US" dirty="0"/>
              <a:t> </a:t>
            </a:r>
          </a:p>
          <a:p>
            <a:pPr eaLnBrk="1" hangingPunct="1">
              <a:buFont typeface="Wingdings" panose="05000000000000000000" pitchFamily="2" charset="2"/>
              <a:buChar char="q"/>
            </a:pPr>
            <a:endParaRPr lang="en-US" altLang="en-US" dirty="0"/>
          </a:p>
          <a:p>
            <a:pPr eaLnBrk="1" hangingPunct="1">
              <a:buFont typeface="Wingdings" panose="05000000000000000000" pitchFamily="2" charset="2"/>
              <a:buChar char="q"/>
            </a:pPr>
            <a:r>
              <a:rPr lang="en-US" altLang="en-US" dirty="0"/>
              <a:t>Result of R – S, is a relation that includes all tuples that are in R but not in S.</a:t>
            </a:r>
          </a:p>
          <a:p>
            <a:pPr lvl="1" eaLnBrk="1" hangingPunct="1">
              <a:buFont typeface="Wingdings" panose="05000000000000000000" pitchFamily="2" charset="2"/>
              <a:buChar char="§"/>
            </a:pPr>
            <a:r>
              <a:rPr lang="en-US" altLang="en-US" sz="3000" dirty="0"/>
              <a:t>Attribute names in the result will be the same as the attribute names in R</a:t>
            </a:r>
          </a:p>
          <a:p>
            <a:pPr lvl="1" eaLnBrk="1" hangingPunct="1">
              <a:buFont typeface="Wingdings" panose="05000000000000000000" pitchFamily="2" charset="2"/>
              <a:buChar char="§"/>
            </a:pPr>
            <a:endParaRPr lang="en-US" altLang="en-US" sz="3000" dirty="0"/>
          </a:p>
          <a:p>
            <a:pPr eaLnBrk="1" hangingPunct="1">
              <a:buFont typeface="Wingdings" panose="05000000000000000000" pitchFamily="2" charset="2"/>
              <a:buChar char="q"/>
            </a:pPr>
            <a:r>
              <a:rPr lang="en-US" altLang="en-US" sz="3200" dirty="0"/>
              <a:t>Two operand relations R and S must be “type compatible”.</a:t>
            </a:r>
            <a:endParaRPr lang="en-US" altLang="ja-JP" dirty="0"/>
          </a:p>
          <a:p>
            <a:endParaRPr lang="en-IN" dirty="0"/>
          </a:p>
        </p:txBody>
      </p:sp>
    </p:spTree>
    <p:extLst>
      <p:ext uri="{BB962C8B-B14F-4D97-AF65-F5344CB8AC3E}">
        <p14:creationId xmlns:p14="http://schemas.microsoft.com/office/powerpoint/2010/main" val="2809479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E9CA9D-3690-421A-A495-D32CB4BE23F4}"/>
              </a:ext>
            </a:extLst>
          </p:cNvPr>
          <p:cNvSpPr>
            <a:spLocks noGrp="1"/>
          </p:cNvSpPr>
          <p:nvPr>
            <p:ph idx="1"/>
          </p:nvPr>
        </p:nvSpPr>
        <p:spPr>
          <a:xfrm>
            <a:off x="1136342" y="843379"/>
            <a:ext cx="10919534" cy="5333584"/>
          </a:xfrm>
        </p:spPr>
        <p:txBody>
          <a:bodyPr/>
          <a:lstStyle/>
          <a:p>
            <a:pPr>
              <a:buFont typeface="Wingdings" panose="05000000000000000000" pitchFamily="2" charset="2"/>
              <a:buChar char="q"/>
            </a:pPr>
            <a:r>
              <a:rPr lang="en-IN" b="1" dirty="0"/>
              <a:t>Example</a:t>
            </a:r>
          </a:p>
        </p:txBody>
      </p:sp>
      <p:sp>
        <p:nvSpPr>
          <p:cNvPr id="4" name="Title 1">
            <a:extLst>
              <a:ext uri="{FF2B5EF4-FFF2-40B4-BE49-F238E27FC236}">
                <a16:creationId xmlns:a16="http://schemas.microsoft.com/office/drawing/2014/main" id="{4F5DAFD3-5F8F-48FF-827F-7993674C8393}"/>
              </a:ext>
            </a:extLst>
          </p:cNvPr>
          <p:cNvSpPr>
            <a:spLocks noGrp="1"/>
          </p:cNvSpPr>
          <p:nvPr>
            <p:ph type="title"/>
          </p:nvPr>
        </p:nvSpPr>
        <p:spPr>
          <a:xfrm>
            <a:off x="838200" y="18892"/>
            <a:ext cx="10515600" cy="984286"/>
          </a:xfrm>
        </p:spPr>
        <p:txBody>
          <a:bodyPr/>
          <a:lstStyle/>
          <a:p>
            <a:pPr algn="ctr"/>
            <a:r>
              <a:rPr lang="en-US" altLang="en-US" sz="4400" b="1" dirty="0">
                <a:solidFill>
                  <a:schemeClr val="accent4">
                    <a:lumMod val="50000"/>
                  </a:schemeClr>
                </a:solidFill>
              </a:rPr>
              <a:t>SET DIFFERENCE</a:t>
            </a:r>
            <a:endParaRPr lang="en-IN" b="1" dirty="0">
              <a:solidFill>
                <a:schemeClr val="accent4">
                  <a:lumMod val="50000"/>
                </a:schemeClr>
              </a:solidFill>
            </a:endParaRPr>
          </a:p>
        </p:txBody>
      </p:sp>
      <p:graphicFrame>
        <p:nvGraphicFramePr>
          <p:cNvPr id="5" name="Table 5">
            <a:extLst>
              <a:ext uri="{FF2B5EF4-FFF2-40B4-BE49-F238E27FC236}">
                <a16:creationId xmlns:a16="http://schemas.microsoft.com/office/drawing/2014/main" id="{EE14A85C-8587-4B53-A8EF-8F84E1B7A3E8}"/>
              </a:ext>
            </a:extLst>
          </p:cNvPr>
          <p:cNvGraphicFramePr>
            <a:graphicFrameLocks noGrp="1"/>
          </p:cNvGraphicFramePr>
          <p:nvPr>
            <p:extLst>
              <p:ext uri="{D42A27DB-BD31-4B8C-83A1-F6EECF244321}">
                <p14:modId xmlns:p14="http://schemas.microsoft.com/office/powerpoint/2010/main" val="3356138444"/>
              </p:ext>
            </p:extLst>
          </p:nvPr>
        </p:nvGraphicFramePr>
        <p:xfrm>
          <a:off x="1286276" y="1570364"/>
          <a:ext cx="4945850" cy="2019300"/>
        </p:xfrm>
        <a:graphic>
          <a:graphicData uri="http://schemas.openxmlformats.org/drawingml/2006/table">
            <a:tbl>
              <a:tblPr firstRow="1" bandRow="1">
                <a:tableStyleId>{5C22544A-7EE6-4342-B048-85BDC9FD1C3A}</a:tableStyleId>
              </a:tblPr>
              <a:tblGrid>
                <a:gridCol w="989170">
                  <a:extLst>
                    <a:ext uri="{9D8B030D-6E8A-4147-A177-3AD203B41FA5}">
                      <a16:colId xmlns:a16="http://schemas.microsoft.com/office/drawing/2014/main" val="3980679804"/>
                    </a:ext>
                  </a:extLst>
                </a:gridCol>
                <a:gridCol w="989170">
                  <a:extLst>
                    <a:ext uri="{9D8B030D-6E8A-4147-A177-3AD203B41FA5}">
                      <a16:colId xmlns:a16="http://schemas.microsoft.com/office/drawing/2014/main" val="176908422"/>
                    </a:ext>
                  </a:extLst>
                </a:gridCol>
                <a:gridCol w="989170">
                  <a:extLst>
                    <a:ext uri="{9D8B030D-6E8A-4147-A177-3AD203B41FA5}">
                      <a16:colId xmlns:a16="http://schemas.microsoft.com/office/drawing/2014/main" val="2872629066"/>
                    </a:ext>
                  </a:extLst>
                </a:gridCol>
                <a:gridCol w="989170">
                  <a:extLst>
                    <a:ext uri="{9D8B030D-6E8A-4147-A177-3AD203B41FA5}">
                      <a16:colId xmlns:a16="http://schemas.microsoft.com/office/drawing/2014/main" val="4149957170"/>
                    </a:ext>
                  </a:extLst>
                </a:gridCol>
                <a:gridCol w="989170">
                  <a:extLst>
                    <a:ext uri="{9D8B030D-6E8A-4147-A177-3AD203B41FA5}">
                      <a16:colId xmlns:a16="http://schemas.microsoft.com/office/drawing/2014/main" val="925265977"/>
                    </a:ext>
                  </a:extLst>
                </a:gridCol>
              </a:tblGrid>
              <a:tr h="298486">
                <a:tc>
                  <a:txBody>
                    <a:bodyPr/>
                    <a:lstStyle/>
                    <a:p>
                      <a:pPr algn="ctr" fontAlgn="base"/>
                      <a:r>
                        <a:rPr lang="en-IN" sz="1250" b="1">
                          <a:effectLst/>
                        </a:rPr>
                        <a:t>EMP_NO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3190622407"/>
                  </a:ext>
                </a:extLst>
              </a:tr>
              <a:tr h="298486">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228910601"/>
                  </a:ext>
                </a:extLst>
              </a:tr>
              <a:tr h="298486">
                <a:tc>
                  <a:txBody>
                    <a:bodyPr/>
                    <a:lstStyle/>
                    <a:p>
                      <a:pPr algn="ctr" fontAlgn="base"/>
                      <a:r>
                        <a:rPr lang="en-IN" sz="1250" b="1">
                          <a:effectLst/>
                        </a:rPr>
                        <a:t>5</a:t>
                      </a:r>
                    </a:p>
                  </a:txBody>
                  <a:tcPr marL="76200" marR="76200" marT="106680" marB="106680" anchor="ctr"/>
                </a:tc>
                <a:tc>
                  <a:txBody>
                    <a:bodyPr/>
                    <a:lstStyle/>
                    <a:p>
                      <a:pPr algn="ctr" fontAlgn="base"/>
                      <a:r>
                        <a:rPr lang="en-IN" sz="1250" b="1">
                          <a:effectLst/>
                        </a:rPr>
                        <a:t>NARESH</a:t>
                      </a:r>
                    </a:p>
                  </a:txBody>
                  <a:tcPr marL="76200" marR="76200" marT="106680" marB="106680" anchor="ctr"/>
                </a:tc>
                <a:tc>
                  <a:txBody>
                    <a:bodyPr/>
                    <a:lstStyle/>
                    <a:p>
                      <a:pPr algn="ctr" fontAlgn="base"/>
                      <a:r>
                        <a:rPr lang="en-IN" sz="1250" b="1" dirty="0">
                          <a:effectLst/>
                        </a:rPr>
                        <a:t>HISAR</a:t>
                      </a:r>
                    </a:p>
                  </a:txBody>
                  <a:tcPr marL="76200" marR="76200" marT="106680" marB="106680" anchor="ctr"/>
                </a:tc>
                <a:tc>
                  <a:txBody>
                    <a:bodyPr/>
                    <a:lstStyle/>
                    <a:p>
                      <a:pPr algn="ctr" fontAlgn="base"/>
                      <a:r>
                        <a:rPr lang="en-IN" sz="1250" b="1">
                          <a:effectLst/>
                        </a:rPr>
                        <a:t>9782918192</a:t>
                      </a:r>
                    </a:p>
                  </a:txBody>
                  <a:tcPr marL="76200" marR="76200" marT="106680" marB="106680" anchor="ctr"/>
                </a:tc>
                <a:tc>
                  <a:txBody>
                    <a:bodyPr/>
                    <a:lstStyle/>
                    <a:p>
                      <a:pPr algn="ctr" fontAlgn="base"/>
                      <a:r>
                        <a:rPr lang="en-IN" sz="1250" b="1">
                          <a:effectLst/>
                        </a:rPr>
                        <a:t>22</a:t>
                      </a:r>
                    </a:p>
                  </a:txBody>
                  <a:tcPr marL="76200" marR="76200" marT="106680" marB="106680" anchor="ctr"/>
                </a:tc>
                <a:extLst>
                  <a:ext uri="{0D108BD9-81ED-4DB2-BD59-A6C34878D82A}">
                    <a16:rowId xmlns:a16="http://schemas.microsoft.com/office/drawing/2014/main" val="69860189"/>
                  </a:ext>
                </a:extLst>
              </a:tr>
              <a:tr h="298486">
                <a:tc>
                  <a:txBody>
                    <a:bodyPr/>
                    <a:lstStyle/>
                    <a:p>
                      <a:pPr algn="ctr" fontAlgn="base"/>
                      <a:r>
                        <a:rPr lang="en-IN" sz="1250" b="1" dirty="0">
                          <a:effectLst/>
                        </a:rPr>
                        <a:t>6</a:t>
                      </a:r>
                    </a:p>
                  </a:txBody>
                  <a:tcPr marL="76200" marR="76200" marT="106680" marB="106680" anchor="ctr"/>
                </a:tc>
                <a:tc>
                  <a:txBody>
                    <a:bodyPr/>
                    <a:lstStyle/>
                    <a:p>
                      <a:pPr algn="ctr" fontAlgn="base"/>
                      <a:r>
                        <a:rPr lang="en-IN" sz="1250" b="1">
                          <a:effectLst/>
                        </a:rPr>
                        <a:t>SWETA</a:t>
                      </a:r>
                    </a:p>
                  </a:txBody>
                  <a:tcPr marL="76200" marR="76200" marT="106680" marB="106680" anchor="ctr"/>
                </a:tc>
                <a:tc>
                  <a:txBody>
                    <a:bodyPr/>
                    <a:lstStyle/>
                    <a:p>
                      <a:pPr algn="ctr" fontAlgn="base"/>
                      <a:r>
                        <a:rPr lang="en-IN" sz="1250" b="1">
                          <a:effectLst/>
                        </a:rPr>
                        <a:t>RANCHI</a:t>
                      </a:r>
                    </a:p>
                  </a:txBody>
                  <a:tcPr marL="76200" marR="76200" marT="106680" marB="106680" anchor="ctr"/>
                </a:tc>
                <a:tc>
                  <a:txBody>
                    <a:bodyPr/>
                    <a:lstStyle/>
                    <a:p>
                      <a:pPr algn="ctr" fontAlgn="base"/>
                      <a:r>
                        <a:rPr lang="en-IN" sz="1250" b="1">
                          <a:effectLst/>
                        </a:rPr>
                        <a:t>9852617621</a:t>
                      </a:r>
                    </a:p>
                  </a:txBody>
                  <a:tcPr marL="76200" marR="76200" marT="106680" marB="106680" anchor="ctr"/>
                </a:tc>
                <a:tc>
                  <a:txBody>
                    <a:bodyPr/>
                    <a:lstStyle/>
                    <a:p>
                      <a:pPr algn="ctr" fontAlgn="base"/>
                      <a:r>
                        <a:rPr lang="en-IN" sz="1250" b="1">
                          <a:effectLst/>
                        </a:rPr>
                        <a:t>21</a:t>
                      </a:r>
                    </a:p>
                  </a:txBody>
                  <a:tcPr marL="76200" marR="76200" marT="106680" marB="106680" anchor="ctr"/>
                </a:tc>
                <a:extLst>
                  <a:ext uri="{0D108BD9-81ED-4DB2-BD59-A6C34878D82A}">
                    <a16:rowId xmlns:a16="http://schemas.microsoft.com/office/drawing/2014/main" val="22199668"/>
                  </a:ext>
                </a:extLst>
              </a:tr>
              <a:tr h="298486">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940683778"/>
                  </a:ext>
                </a:extLst>
              </a:tr>
            </a:tbl>
          </a:graphicData>
        </a:graphic>
      </p:graphicFrame>
      <p:sp>
        <p:nvSpPr>
          <p:cNvPr id="6" name="TextBox 5">
            <a:extLst>
              <a:ext uri="{FF2B5EF4-FFF2-40B4-BE49-F238E27FC236}">
                <a16:creationId xmlns:a16="http://schemas.microsoft.com/office/drawing/2014/main" id="{25F6DCC4-1D8F-44F0-B535-22A4AA65EFD3}"/>
              </a:ext>
            </a:extLst>
          </p:cNvPr>
          <p:cNvSpPr txBox="1"/>
          <p:nvPr/>
        </p:nvSpPr>
        <p:spPr>
          <a:xfrm>
            <a:off x="2869707" y="1156490"/>
            <a:ext cx="1737127" cy="369332"/>
          </a:xfrm>
          <a:prstGeom prst="rect">
            <a:avLst/>
          </a:prstGeom>
          <a:noFill/>
        </p:spPr>
        <p:txBody>
          <a:bodyPr wrap="square">
            <a:spAutoFit/>
          </a:bodyPr>
          <a:lstStyle/>
          <a:p>
            <a:r>
              <a:rPr lang="en-IN" b="1" i="0" dirty="0">
                <a:solidFill>
                  <a:srgbClr val="273239"/>
                </a:solidFill>
                <a:effectLst/>
                <a:latin typeface="urw-din"/>
              </a:rPr>
              <a:t>EMPLOYEE</a:t>
            </a:r>
            <a:endParaRPr lang="en-IN" dirty="0"/>
          </a:p>
        </p:txBody>
      </p:sp>
      <p:graphicFrame>
        <p:nvGraphicFramePr>
          <p:cNvPr id="7" name="Table 8">
            <a:extLst>
              <a:ext uri="{FF2B5EF4-FFF2-40B4-BE49-F238E27FC236}">
                <a16:creationId xmlns:a16="http://schemas.microsoft.com/office/drawing/2014/main" id="{5164537B-B284-44DE-A6A4-9885A1443FD8}"/>
              </a:ext>
            </a:extLst>
          </p:cNvPr>
          <p:cNvGraphicFramePr>
            <a:graphicFrameLocks noGrp="1"/>
          </p:cNvGraphicFramePr>
          <p:nvPr>
            <p:extLst>
              <p:ext uri="{D42A27DB-BD31-4B8C-83A1-F6EECF244321}">
                <p14:modId xmlns:p14="http://schemas.microsoft.com/office/powerpoint/2010/main" val="2397179185"/>
              </p:ext>
            </p:extLst>
          </p:nvPr>
        </p:nvGraphicFramePr>
        <p:xfrm>
          <a:off x="6573914" y="1570364"/>
          <a:ext cx="5194425" cy="2019300"/>
        </p:xfrm>
        <a:graphic>
          <a:graphicData uri="http://schemas.openxmlformats.org/drawingml/2006/table">
            <a:tbl>
              <a:tblPr firstRow="1" bandRow="1">
                <a:tableStyleId>{5C22544A-7EE6-4342-B048-85BDC9FD1C3A}</a:tableStyleId>
              </a:tblPr>
              <a:tblGrid>
                <a:gridCol w="1038885">
                  <a:extLst>
                    <a:ext uri="{9D8B030D-6E8A-4147-A177-3AD203B41FA5}">
                      <a16:colId xmlns:a16="http://schemas.microsoft.com/office/drawing/2014/main" val="3614153633"/>
                    </a:ext>
                  </a:extLst>
                </a:gridCol>
                <a:gridCol w="1038885">
                  <a:extLst>
                    <a:ext uri="{9D8B030D-6E8A-4147-A177-3AD203B41FA5}">
                      <a16:colId xmlns:a16="http://schemas.microsoft.com/office/drawing/2014/main" val="393091497"/>
                    </a:ext>
                  </a:extLst>
                </a:gridCol>
                <a:gridCol w="1038885">
                  <a:extLst>
                    <a:ext uri="{9D8B030D-6E8A-4147-A177-3AD203B41FA5}">
                      <a16:colId xmlns:a16="http://schemas.microsoft.com/office/drawing/2014/main" val="4094516659"/>
                    </a:ext>
                  </a:extLst>
                </a:gridCol>
                <a:gridCol w="1038885">
                  <a:extLst>
                    <a:ext uri="{9D8B030D-6E8A-4147-A177-3AD203B41FA5}">
                      <a16:colId xmlns:a16="http://schemas.microsoft.com/office/drawing/2014/main" val="2337788990"/>
                    </a:ext>
                  </a:extLst>
                </a:gridCol>
                <a:gridCol w="1038885">
                  <a:extLst>
                    <a:ext uri="{9D8B030D-6E8A-4147-A177-3AD203B41FA5}">
                      <a16:colId xmlns:a16="http://schemas.microsoft.com/office/drawing/2014/main" val="3010051805"/>
                    </a:ext>
                  </a:extLst>
                </a:gridCol>
              </a:tblGrid>
              <a:tr h="346426">
                <a:tc>
                  <a:txBody>
                    <a:bodyPr/>
                    <a:lstStyle/>
                    <a:p>
                      <a:pPr algn="ctr" fontAlgn="base"/>
                      <a:r>
                        <a:rPr lang="en-IN" sz="1250" b="1">
                          <a:effectLst/>
                        </a:rPr>
                        <a:t>ROLL_NO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1543282249"/>
                  </a:ext>
                </a:extLst>
              </a:tr>
              <a:tr h="346426">
                <a:tc>
                  <a:txBody>
                    <a:bodyPr/>
                    <a:lstStyle/>
                    <a:p>
                      <a:pPr algn="ctr" fontAlgn="base"/>
                      <a:r>
                        <a:rPr lang="en-IN" sz="1250" b="1">
                          <a:effectLst/>
                        </a:rPr>
                        <a:t>1</a:t>
                      </a:r>
                    </a:p>
                  </a:txBody>
                  <a:tcPr marL="76200" marR="76200" marT="106680" marB="106680" anchor="ctr"/>
                </a:tc>
                <a:tc>
                  <a:txBody>
                    <a:bodyPr/>
                    <a:lstStyle/>
                    <a:p>
                      <a:pPr algn="ctr" fontAlgn="base"/>
                      <a:r>
                        <a:rPr lang="en-IN" sz="1250" b="1">
                          <a:effectLst/>
                        </a:rPr>
                        <a:t>RAM</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9455123451</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1891081867"/>
                  </a:ext>
                </a:extLst>
              </a:tr>
              <a:tr h="346426">
                <a:tc>
                  <a:txBody>
                    <a:bodyPr/>
                    <a:lstStyle/>
                    <a:p>
                      <a:pPr algn="ctr" fontAlgn="base"/>
                      <a:r>
                        <a:rPr lang="en-IN" sz="1250" b="1">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4282567860"/>
                  </a:ext>
                </a:extLst>
              </a:tr>
              <a:tr h="346426">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a:effectLst/>
                        </a:rPr>
                        <a:t>20</a:t>
                      </a:r>
                    </a:p>
                  </a:txBody>
                  <a:tcPr marL="76200" marR="76200" marT="106680" marB="106680" anchor="ctr"/>
                </a:tc>
                <a:extLst>
                  <a:ext uri="{0D108BD9-81ED-4DB2-BD59-A6C34878D82A}">
                    <a16:rowId xmlns:a16="http://schemas.microsoft.com/office/drawing/2014/main" val="2493886791"/>
                  </a:ext>
                </a:extLst>
              </a:tr>
              <a:tr h="346426">
                <a:tc>
                  <a:txBody>
                    <a:bodyPr/>
                    <a:lstStyle/>
                    <a:p>
                      <a:pPr algn="ctr" fontAlgn="base"/>
                      <a:r>
                        <a:rPr lang="en-IN" sz="1250" b="1">
                          <a:effectLst/>
                        </a:rPr>
                        <a:t>4</a:t>
                      </a:r>
                    </a:p>
                  </a:txBody>
                  <a:tcPr marL="76200" marR="76200" marT="106680" marB="106680" anchor="ctr"/>
                </a:tc>
                <a:tc>
                  <a:txBody>
                    <a:bodyPr/>
                    <a:lstStyle/>
                    <a:p>
                      <a:pPr algn="ctr" fontAlgn="base"/>
                      <a:r>
                        <a:rPr lang="en-IN" sz="1250" b="1">
                          <a:effectLst/>
                        </a:rPr>
                        <a:t>SURESH</a:t>
                      </a:r>
                    </a:p>
                  </a:txBody>
                  <a:tcPr marL="76200" marR="76200" marT="106680" marB="106680" anchor="ctr"/>
                </a:tc>
                <a:tc>
                  <a:txBody>
                    <a:bodyPr/>
                    <a:lstStyle/>
                    <a:p>
                      <a:pPr algn="ctr" fontAlgn="base"/>
                      <a:r>
                        <a:rPr lang="en-IN" sz="1250" b="1">
                          <a:effectLst/>
                        </a:rPr>
                        <a:t>DELHI</a:t>
                      </a:r>
                    </a:p>
                  </a:txBody>
                  <a:tcPr marL="76200" marR="76200" marT="106680" marB="106680" anchor="ctr"/>
                </a:tc>
                <a:tc>
                  <a:txBody>
                    <a:bodyPr/>
                    <a:lstStyle/>
                    <a:p>
                      <a:pPr algn="ctr" fontAlgn="base"/>
                      <a:r>
                        <a:rPr lang="en-IN" sz="1250" b="1">
                          <a:effectLst/>
                        </a:rPr>
                        <a:t>9156768971</a:t>
                      </a:r>
                    </a:p>
                  </a:txBody>
                  <a:tcPr marL="76200" marR="76200" marT="106680" marB="106680" anchor="ctr"/>
                </a:tc>
                <a:tc>
                  <a:txBody>
                    <a:bodyPr/>
                    <a:lstStyle/>
                    <a:p>
                      <a:pPr algn="ctr" fontAlgn="base"/>
                      <a:r>
                        <a:rPr lang="en-IN" sz="1250" b="1" dirty="0">
                          <a:effectLst/>
                        </a:rPr>
                        <a:t>18</a:t>
                      </a:r>
                    </a:p>
                  </a:txBody>
                  <a:tcPr marL="76200" marR="76200" marT="106680" marB="106680" anchor="ctr"/>
                </a:tc>
                <a:extLst>
                  <a:ext uri="{0D108BD9-81ED-4DB2-BD59-A6C34878D82A}">
                    <a16:rowId xmlns:a16="http://schemas.microsoft.com/office/drawing/2014/main" val="3026340836"/>
                  </a:ext>
                </a:extLst>
              </a:tr>
            </a:tbl>
          </a:graphicData>
        </a:graphic>
      </p:graphicFrame>
      <p:sp>
        <p:nvSpPr>
          <p:cNvPr id="8" name="TextBox 7">
            <a:extLst>
              <a:ext uri="{FF2B5EF4-FFF2-40B4-BE49-F238E27FC236}">
                <a16:creationId xmlns:a16="http://schemas.microsoft.com/office/drawing/2014/main" id="{56FDBFA5-AA9F-4F9A-B11C-38A8F5FCB359}"/>
              </a:ext>
            </a:extLst>
          </p:cNvPr>
          <p:cNvSpPr txBox="1"/>
          <p:nvPr/>
        </p:nvSpPr>
        <p:spPr>
          <a:xfrm>
            <a:off x="8680144" y="1156490"/>
            <a:ext cx="1430507" cy="369332"/>
          </a:xfrm>
          <a:prstGeom prst="rect">
            <a:avLst/>
          </a:prstGeom>
          <a:noFill/>
        </p:spPr>
        <p:txBody>
          <a:bodyPr wrap="square">
            <a:spAutoFit/>
          </a:bodyPr>
          <a:lstStyle/>
          <a:p>
            <a:r>
              <a:rPr lang="en-IN" b="1" i="0" dirty="0">
                <a:solidFill>
                  <a:srgbClr val="273239"/>
                </a:solidFill>
                <a:effectLst/>
                <a:latin typeface="urw-din"/>
              </a:rPr>
              <a:t>STUDENT</a:t>
            </a:r>
            <a:r>
              <a:rPr lang="en-IN" b="0" i="0" dirty="0">
                <a:solidFill>
                  <a:srgbClr val="273239"/>
                </a:solidFill>
                <a:effectLst/>
                <a:latin typeface="urw-din"/>
              </a:rPr>
              <a:t> </a:t>
            </a:r>
            <a:endParaRPr lang="en-IN" dirty="0"/>
          </a:p>
        </p:txBody>
      </p:sp>
      <p:sp>
        <p:nvSpPr>
          <p:cNvPr id="10" name="TextBox 9">
            <a:extLst>
              <a:ext uri="{FF2B5EF4-FFF2-40B4-BE49-F238E27FC236}">
                <a16:creationId xmlns:a16="http://schemas.microsoft.com/office/drawing/2014/main" id="{E2EE961D-3AEE-4B61-8D63-4F99D55B91BF}"/>
              </a:ext>
            </a:extLst>
          </p:cNvPr>
          <p:cNvSpPr txBox="1"/>
          <p:nvPr/>
        </p:nvSpPr>
        <p:spPr>
          <a:xfrm>
            <a:off x="1286276" y="3947317"/>
            <a:ext cx="6094520" cy="461665"/>
          </a:xfrm>
          <a:prstGeom prst="rect">
            <a:avLst/>
          </a:prstGeom>
          <a:noFill/>
        </p:spPr>
        <p:txBody>
          <a:bodyPr wrap="square">
            <a:spAutoFit/>
          </a:bodyPr>
          <a:lstStyle/>
          <a:p>
            <a:r>
              <a:rPr lang="en-IN" sz="2400" b="0" i="0" dirty="0">
                <a:solidFill>
                  <a:srgbClr val="273239"/>
                </a:solidFill>
                <a:effectLst/>
                <a:latin typeface="urw-din"/>
              </a:rPr>
              <a:t>Find person who are student but not employee:</a:t>
            </a:r>
            <a:endParaRPr lang="en-IN" sz="2400" dirty="0"/>
          </a:p>
        </p:txBody>
      </p:sp>
      <p:sp>
        <p:nvSpPr>
          <p:cNvPr id="11" name="Rectangle 1">
            <a:extLst>
              <a:ext uri="{FF2B5EF4-FFF2-40B4-BE49-F238E27FC236}">
                <a16:creationId xmlns:a16="http://schemas.microsoft.com/office/drawing/2014/main" id="{F175E146-F63D-469F-893B-D4A2AB0A0B6E}"/>
              </a:ext>
            </a:extLst>
          </p:cNvPr>
          <p:cNvSpPr>
            <a:spLocks noChangeArrowheads="1"/>
          </p:cNvSpPr>
          <p:nvPr/>
        </p:nvSpPr>
        <p:spPr bwMode="auto">
          <a:xfrm>
            <a:off x="5264459" y="4458858"/>
            <a:ext cx="26633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273239"/>
                </a:solidFill>
                <a:effectLst/>
                <a:latin typeface="Consolas" panose="020B0609020204030204" pitchFamily="49" charset="0"/>
              </a:rPr>
              <a:t>STUDENT - EMPLOYEE</a:t>
            </a:r>
            <a:r>
              <a:rPr kumimoji="0" lang="en-US" altLang="en-US" sz="2000" b="0" i="0" u="none" strike="noStrike" cap="none" normalizeH="0" baseline="0">
                <a:ln>
                  <a:noFill/>
                </a:ln>
                <a:solidFill>
                  <a:schemeClr val="tx1"/>
                </a:solidFill>
                <a:effectLst/>
              </a:rPr>
              <a:t> </a:t>
            </a:r>
            <a:endParaRPr kumimoji="0" lang="en-US" altLang="en-US" sz="2000" b="0" i="0" u="none" strike="noStrike" cap="none" normalizeH="0" baseline="0">
              <a:ln>
                <a:noFill/>
              </a:ln>
              <a:solidFill>
                <a:schemeClr val="tx1"/>
              </a:solidFill>
              <a:effectLst/>
              <a:latin typeface="Arial" panose="020B0604020202020204" pitchFamily="34" charset="0"/>
            </a:endParaRPr>
          </a:p>
        </p:txBody>
      </p:sp>
      <p:graphicFrame>
        <p:nvGraphicFramePr>
          <p:cNvPr id="12" name="Table 12">
            <a:extLst>
              <a:ext uri="{FF2B5EF4-FFF2-40B4-BE49-F238E27FC236}">
                <a16:creationId xmlns:a16="http://schemas.microsoft.com/office/drawing/2014/main" id="{51B728BB-3440-41DE-8235-B216F7E26D17}"/>
              </a:ext>
            </a:extLst>
          </p:cNvPr>
          <p:cNvGraphicFramePr>
            <a:graphicFrameLocks noGrp="1"/>
          </p:cNvGraphicFramePr>
          <p:nvPr>
            <p:extLst>
              <p:ext uri="{D42A27DB-BD31-4B8C-83A1-F6EECF244321}">
                <p14:modId xmlns:p14="http://schemas.microsoft.com/office/powerpoint/2010/main" val="2286039803"/>
              </p:ext>
            </p:extLst>
          </p:nvPr>
        </p:nvGraphicFramePr>
        <p:xfrm>
          <a:off x="4333536" y="4965383"/>
          <a:ext cx="4892585" cy="1211580"/>
        </p:xfrm>
        <a:graphic>
          <a:graphicData uri="http://schemas.openxmlformats.org/drawingml/2006/table">
            <a:tbl>
              <a:tblPr firstRow="1" bandRow="1">
                <a:tableStyleId>{5C22544A-7EE6-4342-B048-85BDC9FD1C3A}</a:tableStyleId>
              </a:tblPr>
              <a:tblGrid>
                <a:gridCol w="978517">
                  <a:extLst>
                    <a:ext uri="{9D8B030D-6E8A-4147-A177-3AD203B41FA5}">
                      <a16:colId xmlns:a16="http://schemas.microsoft.com/office/drawing/2014/main" val="1200288522"/>
                    </a:ext>
                  </a:extLst>
                </a:gridCol>
                <a:gridCol w="978517">
                  <a:extLst>
                    <a:ext uri="{9D8B030D-6E8A-4147-A177-3AD203B41FA5}">
                      <a16:colId xmlns:a16="http://schemas.microsoft.com/office/drawing/2014/main" val="3012278480"/>
                    </a:ext>
                  </a:extLst>
                </a:gridCol>
                <a:gridCol w="978517">
                  <a:extLst>
                    <a:ext uri="{9D8B030D-6E8A-4147-A177-3AD203B41FA5}">
                      <a16:colId xmlns:a16="http://schemas.microsoft.com/office/drawing/2014/main" val="620931326"/>
                    </a:ext>
                  </a:extLst>
                </a:gridCol>
                <a:gridCol w="978517">
                  <a:extLst>
                    <a:ext uri="{9D8B030D-6E8A-4147-A177-3AD203B41FA5}">
                      <a16:colId xmlns:a16="http://schemas.microsoft.com/office/drawing/2014/main" val="3830158368"/>
                    </a:ext>
                  </a:extLst>
                </a:gridCol>
                <a:gridCol w="978517">
                  <a:extLst>
                    <a:ext uri="{9D8B030D-6E8A-4147-A177-3AD203B41FA5}">
                      <a16:colId xmlns:a16="http://schemas.microsoft.com/office/drawing/2014/main" val="1879062734"/>
                    </a:ext>
                  </a:extLst>
                </a:gridCol>
              </a:tblGrid>
              <a:tr h="370840">
                <a:tc>
                  <a:txBody>
                    <a:bodyPr/>
                    <a:lstStyle/>
                    <a:p>
                      <a:pPr algn="ctr" fontAlgn="base"/>
                      <a:r>
                        <a:rPr lang="en-IN" sz="1250" b="1">
                          <a:effectLst/>
                        </a:rPr>
                        <a:t>ROLL_NO</a:t>
                      </a:r>
                    </a:p>
                  </a:txBody>
                  <a:tcPr marL="76200" marR="76200" marT="106680" marB="106680" anchor="ctr"/>
                </a:tc>
                <a:tc>
                  <a:txBody>
                    <a:bodyPr/>
                    <a:lstStyle/>
                    <a:p>
                      <a:pPr algn="ctr" fontAlgn="base"/>
                      <a:r>
                        <a:rPr lang="en-IN" sz="1250" b="1">
                          <a:effectLst/>
                        </a:rPr>
                        <a:t>NAME</a:t>
                      </a:r>
                    </a:p>
                  </a:txBody>
                  <a:tcPr marL="76200" marR="76200" marT="106680" marB="106680" anchor="ctr"/>
                </a:tc>
                <a:tc>
                  <a:txBody>
                    <a:bodyPr/>
                    <a:lstStyle/>
                    <a:p>
                      <a:pPr algn="ctr" fontAlgn="base"/>
                      <a:r>
                        <a:rPr lang="en-IN" sz="1250" b="1">
                          <a:effectLst/>
                        </a:rPr>
                        <a:t>ADDRESS</a:t>
                      </a:r>
                    </a:p>
                  </a:txBody>
                  <a:tcPr marL="76200" marR="76200" marT="106680" marB="106680" anchor="ctr"/>
                </a:tc>
                <a:tc>
                  <a:txBody>
                    <a:bodyPr/>
                    <a:lstStyle/>
                    <a:p>
                      <a:pPr algn="ctr" fontAlgn="base"/>
                      <a:r>
                        <a:rPr lang="en-IN" sz="1250" b="1">
                          <a:effectLst/>
                        </a:rPr>
                        <a:t>PHONE</a:t>
                      </a:r>
                    </a:p>
                  </a:txBody>
                  <a:tcPr marL="76200" marR="76200" marT="106680" marB="106680" anchor="ctr"/>
                </a:tc>
                <a:tc>
                  <a:txBody>
                    <a:bodyPr/>
                    <a:lstStyle/>
                    <a:p>
                      <a:pPr algn="ctr" fontAlgn="base"/>
                      <a:r>
                        <a:rPr lang="en-IN" sz="1250" b="1">
                          <a:effectLst/>
                        </a:rPr>
                        <a:t>AGE</a:t>
                      </a:r>
                    </a:p>
                  </a:txBody>
                  <a:tcPr marL="76200" marR="76200" marT="106680" marB="106680" anchor="ctr"/>
                </a:tc>
                <a:extLst>
                  <a:ext uri="{0D108BD9-81ED-4DB2-BD59-A6C34878D82A}">
                    <a16:rowId xmlns:a16="http://schemas.microsoft.com/office/drawing/2014/main" val="2228541144"/>
                  </a:ext>
                </a:extLst>
              </a:tr>
              <a:tr h="370840">
                <a:tc>
                  <a:txBody>
                    <a:bodyPr/>
                    <a:lstStyle/>
                    <a:p>
                      <a:pPr algn="ctr" fontAlgn="base"/>
                      <a:r>
                        <a:rPr lang="en-IN" sz="1250" b="1">
                          <a:effectLst/>
                        </a:rPr>
                        <a:t>2</a:t>
                      </a:r>
                    </a:p>
                  </a:txBody>
                  <a:tcPr marL="76200" marR="76200" marT="106680" marB="106680" anchor="ctr"/>
                </a:tc>
                <a:tc>
                  <a:txBody>
                    <a:bodyPr/>
                    <a:lstStyle/>
                    <a:p>
                      <a:pPr algn="ctr" fontAlgn="base"/>
                      <a:r>
                        <a:rPr lang="en-IN" sz="1250" b="1">
                          <a:effectLst/>
                        </a:rPr>
                        <a:t>RAMESH</a:t>
                      </a:r>
                    </a:p>
                  </a:txBody>
                  <a:tcPr marL="76200" marR="76200" marT="106680" marB="106680" anchor="ctr"/>
                </a:tc>
                <a:tc>
                  <a:txBody>
                    <a:bodyPr/>
                    <a:lstStyle/>
                    <a:p>
                      <a:pPr algn="ctr" fontAlgn="base"/>
                      <a:r>
                        <a:rPr lang="en-IN" sz="1250" b="1">
                          <a:effectLst/>
                        </a:rPr>
                        <a:t>GURGAON</a:t>
                      </a:r>
                    </a:p>
                  </a:txBody>
                  <a:tcPr marL="76200" marR="76200" marT="106680" marB="106680" anchor="ctr"/>
                </a:tc>
                <a:tc>
                  <a:txBody>
                    <a:bodyPr/>
                    <a:lstStyle/>
                    <a:p>
                      <a:pPr algn="ctr" fontAlgn="base"/>
                      <a:r>
                        <a:rPr lang="en-IN" sz="1250" b="1">
                          <a:effectLst/>
                        </a:rPr>
                        <a:t>9652431543</a:t>
                      </a:r>
                    </a:p>
                  </a:txBody>
                  <a:tcPr marL="76200" marR="76200" marT="106680" marB="106680" anchor="ctr"/>
                </a:tc>
                <a:tc>
                  <a:txBody>
                    <a:bodyPr/>
                    <a:lstStyle/>
                    <a:p>
                      <a:pPr algn="ctr" fontAlgn="base"/>
                      <a:r>
                        <a:rPr lang="en-IN" sz="1250" b="1">
                          <a:effectLst/>
                        </a:rPr>
                        <a:t>18</a:t>
                      </a:r>
                    </a:p>
                  </a:txBody>
                  <a:tcPr marL="76200" marR="76200" marT="106680" marB="106680" anchor="ctr"/>
                </a:tc>
                <a:extLst>
                  <a:ext uri="{0D108BD9-81ED-4DB2-BD59-A6C34878D82A}">
                    <a16:rowId xmlns:a16="http://schemas.microsoft.com/office/drawing/2014/main" val="3847811926"/>
                  </a:ext>
                </a:extLst>
              </a:tr>
              <a:tr h="370840">
                <a:tc>
                  <a:txBody>
                    <a:bodyPr/>
                    <a:lstStyle/>
                    <a:p>
                      <a:pPr algn="ctr" fontAlgn="base"/>
                      <a:r>
                        <a:rPr lang="en-IN" sz="1250" b="1">
                          <a:effectLst/>
                        </a:rPr>
                        <a:t>3</a:t>
                      </a:r>
                    </a:p>
                  </a:txBody>
                  <a:tcPr marL="76200" marR="76200" marT="106680" marB="106680" anchor="ctr"/>
                </a:tc>
                <a:tc>
                  <a:txBody>
                    <a:bodyPr/>
                    <a:lstStyle/>
                    <a:p>
                      <a:pPr algn="ctr" fontAlgn="base"/>
                      <a:r>
                        <a:rPr lang="en-IN" sz="1250" b="1">
                          <a:effectLst/>
                        </a:rPr>
                        <a:t>SUJIT</a:t>
                      </a:r>
                    </a:p>
                  </a:txBody>
                  <a:tcPr marL="76200" marR="76200" marT="106680" marB="106680" anchor="ctr"/>
                </a:tc>
                <a:tc>
                  <a:txBody>
                    <a:bodyPr/>
                    <a:lstStyle/>
                    <a:p>
                      <a:pPr algn="ctr" fontAlgn="base"/>
                      <a:r>
                        <a:rPr lang="en-IN" sz="1250" b="1">
                          <a:effectLst/>
                        </a:rPr>
                        <a:t>ROHTAK</a:t>
                      </a:r>
                    </a:p>
                  </a:txBody>
                  <a:tcPr marL="76200" marR="76200" marT="106680" marB="106680" anchor="ctr"/>
                </a:tc>
                <a:tc>
                  <a:txBody>
                    <a:bodyPr/>
                    <a:lstStyle/>
                    <a:p>
                      <a:pPr algn="ctr" fontAlgn="base"/>
                      <a:r>
                        <a:rPr lang="en-IN" sz="1250" b="1">
                          <a:effectLst/>
                        </a:rPr>
                        <a:t>9156253131</a:t>
                      </a:r>
                    </a:p>
                  </a:txBody>
                  <a:tcPr marL="76200" marR="76200" marT="106680" marB="106680" anchor="ctr"/>
                </a:tc>
                <a:tc>
                  <a:txBody>
                    <a:bodyPr/>
                    <a:lstStyle/>
                    <a:p>
                      <a:pPr algn="ctr" fontAlgn="base"/>
                      <a:r>
                        <a:rPr lang="en-IN" sz="1250" b="1" dirty="0">
                          <a:effectLst/>
                        </a:rPr>
                        <a:t>20</a:t>
                      </a:r>
                    </a:p>
                  </a:txBody>
                  <a:tcPr marL="76200" marR="76200" marT="106680" marB="106680" anchor="ctr"/>
                </a:tc>
                <a:extLst>
                  <a:ext uri="{0D108BD9-81ED-4DB2-BD59-A6C34878D82A}">
                    <a16:rowId xmlns:a16="http://schemas.microsoft.com/office/drawing/2014/main" val="300765659"/>
                  </a:ext>
                </a:extLst>
              </a:tr>
            </a:tbl>
          </a:graphicData>
        </a:graphic>
      </p:graphicFrame>
    </p:spTree>
    <p:extLst>
      <p:ext uri="{BB962C8B-B14F-4D97-AF65-F5344CB8AC3E}">
        <p14:creationId xmlns:p14="http://schemas.microsoft.com/office/powerpoint/2010/main" val="18016348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64E4C-286D-4074-BBB1-C09B571F9FF5}"/>
              </a:ext>
            </a:extLst>
          </p:cNvPr>
          <p:cNvSpPr>
            <a:spLocks noGrp="1"/>
          </p:cNvSpPr>
          <p:nvPr>
            <p:ph type="title"/>
          </p:nvPr>
        </p:nvSpPr>
        <p:spPr>
          <a:xfrm>
            <a:off x="838200" y="18893"/>
            <a:ext cx="10515600" cy="1010918"/>
          </a:xfrm>
        </p:spPr>
        <p:txBody>
          <a:bodyPr/>
          <a:lstStyle/>
          <a:p>
            <a:pPr algn="ctr"/>
            <a:r>
              <a:rPr lang="en-US" b="1" dirty="0">
                <a:solidFill>
                  <a:schemeClr val="accent4">
                    <a:lumMod val="50000"/>
                  </a:schemeClr>
                </a:solidFill>
              </a:rPr>
              <a:t>9. ALL</a:t>
            </a:r>
            <a:endParaRPr lang="en-IN" b="1" dirty="0">
              <a:solidFill>
                <a:schemeClr val="accent4">
                  <a:lumMod val="50000"/>
                </a:schemeClr>
              </a:solidFill>
            </a:endParaRPr>
          </a:p>
        </p:txBody>
      </p:sp>
      <p:sp>
        <p:nvSpPr>
          <p:cNvPr id="3" name="Content Placeholder 2">
            <a:extLst>
              <a:ext uri="{FF2B5EF4-FFF2-40B4-BE49-F238E27FC236}">
                <a16:creationId xmlns:a16="http://schemas.microsoft.com/office/drawing/2014/main" id="{0D10A404-9E0E-4E9C-99C4-1B376E72F742}"/>
              </a:ext>
            </a:extLst>
          </p:cNvPr>
          <p:cNvSpPr>
            <a:spLocks noGrp="1"/>
          </p:cNvSpPr>
          <p:nvPr>
            <p:ph idx="1"/>
          </p:nvPr>
        </p:nvSpPr>
        <p:spPr>
          <a:xfrm>
            <a:off x="1127464" y="852256"/>
            <a:ext cx="10955044" cy="5885895"/>
          </a:xfrm>
        </p:spPr>
        <p:txBody>
          <a:bodyPr/>
          <a:lstStyle/>
          <a:p>
            <a:pPr>
              <a:lnSpc>
                <a:spcPct val="100000"/>
              </a:lnSpc>
            </a:pPr>
            <a:r>
              <a:rPr lang="en-IN" dirty="0"/>
              <a:t>Union/Union all</a:t>
            </a:r>
          </a:p>
          <a:p>
            <a:pPr>
              <a:lnSpc>
                <a:spcPct val="100000"/>
              </a:lnSpc>
            </a:pPr>
            <a:r>
              <a:rPr lang="en-IN" dirty="0"/>
              <a:t>Intersect/Intersect all</a:t>
            </a:r>
          </a:p>
          <a:p>
            <a:pPr>
              <a:lnSpc>
                <a:spcPct val="100000"/>
              </a:lnSpc>
            </a:pPr>
            <a:r>
              <a:rPr lang="en-IN" dirty="0"/>
              <a:t>Minus/Minus all</a:t>
            </a:r>
          </a:p>
        </p:txBody>
      </p:sp>
    </p:spTree>
    <p:extLst>
      <p:ext uri="{BB962C8B-B14F-4D97-AF65-F5344CB8AC3E}">
        <p14:creationId xmlns:p14="http://schemas.microsoft.com/office/powerpoint/2010/main" val="5588450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1E7D2-11A6-4757-C8B0-8289EEB7CDD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Division Operator</a:t>
            </a:r>
          </a:p>
        </p:txBody>
      </p:sp>
      <p:sp>
        <p:nvSpPr>
          <p:cNvPr id="3" name="Content Placeholder 2">
            <a:extLst>
              <a:ext uri="{FF2B5EF4-FFF2-40B4-BE49-F238E27FC236}">
                <a16:creationId xmlns:a16="http://schemas.microsoft.com/office/drawing/2014/main" id="{1DAE4D14-610B-94D9-C71F-4E3B29BB4ACC}"/>
              </a:ext>
            </a:extLst>
          </p:cNvPr>
          <p:cNvSpPr>
            <a:spLocks noGrp="1"/>
          </p:cNvSpPr>
          <p:nvPr>
            <p:ph idx="1"/>
          </p:nvPr>
        </p:nvSpPr>
        <p:spPr>
          <a:xfrm>
            <a:off x="838200" y="1476002"/>
            <a:ext cx="10515600" cy="4351338"/>
          </a:xfrm>
        </p:spPr>
        <p:txBody>
          <a:bodyPr>
            <a:normAutofit/>
          </a:bodyPr>
          <a:lstStyle/>
          <a:p>
            <a:pPr algn="l" fontAlgn="base"/>
            <a:r>
              <a:rPr lang="en-US" sz="2200" b="0" i="0" dirty="0">
                <a:solidFill>
                  <a:srgbClr val="273239"/>
                </a:solidFill>
                <a:effectLst/>
                <a:latin typeface="Times New Roman" panose="02020603050405020304" pitchFamily="18" charset="0"/>
                <a:cs typeface="Times New Roman" panose="02020603050405020304" pitchFamily="18" charset="0"/>
              </a:rPr>
              <a:t>The division operator is used for queries which involve the ‘all’.</a:t>
            </a:r>
          </a:p>
          <a:p>
            <a:pPr algn="l" fontAlgn="base"/>
            <a:r>
              <a:rPr lang="en-US" sz="2200" b="0" i="0" dirty="0">
                <a:solidFill>
                  <a:srgbClr val="273239"/>
                </a:solidFill>
                <a:effectLst/>
                <a:latin typeface="Times New Roman" panose="02020603050405020304" pitchFamily="18" charset="0"/>
                <a:cs typeface="Times New Roman" panose="02020603050405020304" pitchFamily="18" charset="0"/>
              </a:rPr>
              <a:t>Division operator A</a:t>
            </a:r>
            <a:r>
              <a:rPr lang="en-US" sz="2200" b="1" i="0" dirty="0">
                <a:solidFill>
                  <a:srgbClr val="273239"/>
                </a:solidFill>
                <a:effectLst/>
                <a:latin typeface="Times New Roman" panose="02020603050405020304" pitchFamily="18" charset="0"/>
                <a:cs typeface="Times New Roman" panose="02020603050405020304" pitchFamily="18" charset="0"/>
              </a:rPr>
              <a:t>÷</a:t>
            </a:r>
            <a:r>
              <a:rPr lang="en-US" sz="2200" b="0" i="0" dirty="0">
                <a:solidFill>
                  <a:srgbClr val="273239"/>
                </a:solidFill>
                <a:effectLst/>
                <a:latin typeface="Times New Roman" panose="02020603050405020304" pitchFamily="18" charset="0"/>
                <a:cs typeface="Times New Roman" panose="02020603050405020304" pitchFamily="18" charset="0"/>
              </a:rPr>
              <a:t>B can be applied if and only if:</a:t>
            </a:r>
          </a:p>
          <a:p>
            <a:pPr lvl="1" fontAlgn="base"/>
            <a:r>
              <a:rPr lang="en-US" sz="2000" b="0" i="0" dirty="0">
                <a:solidFill>
                  <a:srgbClr val="273239"/>
                </a:solidFill>
                <a:effectLst/>
                <a:latin typeface="Times New Roman" panose="02020603050405020304" pitchFamily="18" charset="0"/>
                <a:cs typeface="Times New Roman" panose="02020603050405020304" pitchFamily="18" charset="0"/>
              </a:rPr>
              <a:t>Attributes of B is proper subset of Attributes of A.</a:t>
            </a:r>
          </a:p>
          <a:p>
            <a:pPr lvl="1" fontAlgn="base"/>
            <a:r>
              <a:rPr lang="en-US" sz="2000" b="0" i="0" dirty="0">
                <a:solidFill>
                  <a:srgbClr val="273239"/>
                </a:solidFill>
                <a:effectLst/>
                <a:latin typeface="Times New Roman" panose="02020603050405020304" pitchFamily="18" charset="0"/>
                <a:cs typeface="Times New Roman" panose="02020603050405020304" pitchFamily="18" charset="0"/>
              </a:rPr>
              <a:t>The relation returned by division operator will have attributes = (All attributes of A – All Attributes of B)</a:t>
            </a:r>
          </a:p>
          <a:p>
            <a:pPr lvl="1" fontAlgn="base"/>
            <a:r>
              <a:rPr lang="en-US" sz="2000" b="0" i="0" dirty="0">
                <a:solidFill>
                  <a:srgbClr val="273239"/>
                </a:solidFill>
                <a:effectLst/>
                <a:latin typeface="Times New Roman" panose="02020603050405020304" pitchFamily="18" charset="0"/>
                <a:cs typeface="Times New Roman" panose="02020603050405020304" pitchFamily="18" charset="0"/>
              </a:rPr>
              <a:t>The relation returned by division operator will return those tuples from relation A which are associated to every B’s tuple.</a:t>
            </a:r>
          </a:p>
          <a:p>
            <a:endParaRPr lang="en-US"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1BCA598-CF70-BFD6-DCED-F08862E23ADF}"/>
              </a:ext>
            </a:extLst>
          </p:cNvPr>
          <p:cNvPicPr>
            <a:picLocks noChangeAspect="1"/>
          </p:cNvPicPr>
          <p:nvPr/>
        </p:nvPicPr>
        <p:blipFill>
          <a:blip r:embed="rId2"/>
          <a:stretch>
            <a:fillRect/>
          </a:stretch>
        </p:blipFill>
        <p:spPr>
          <a:xfrm>
            <a:off x="1721224" y="4061813"/>
            <a:ext cx="2888750" cy="2640369"/>
          </a:xfrm>
          <a:prstGeom prst="rect">
            <a:avLst/>
          </a:prstGeom>
        </p:spPr>
      </p:pic>
      <p:pic>
        <p:nvPicPr>
          <p:cNvPr id="7" name="Picture 6">
            <a:extLst>
              <a:ext uri="{FF2B5EF4-FFF2-40B4-BE49-F238E27FC236}">
                <a16:creationId xmlns:a16="http://schemas.microsoft.com/office/drawing/2014/main" id="{F8942F1A-F8FA-F230-70E7-EF6EEE6C2E19}"/>
              </a:ext>
            </a:extLst>
          </p:cNvPr>
          <p:cNvPicPr>
            <a:picLocks noChangeAspect="1"/>
          </p:cNvPicPr>
          <p:nvPr/>
        </p:nvPicPr>
        <p:blipFill>
          <a:blip r:embed="rId3"/>
          <a:stretch>
            <a:fillRect/>
          </a:stretch>
        </p:blipFill>
        <p:spPr>
          <a:xfrm>
            <a:off x="5836023" y="4518041"/>
            <a:ext cx="1972235" cy="1974834"/>
          </a:xfrm>
          <a:prstGeom prst="rect">
            <a:avLst/>
          </a:prstGeom>
        </p:spPr>
      </p:pic>
      <p:sp>
        <p:nvSpPr>
          <p:cNvPr id="10" name="TextBox 9">
            <a:extLst>
              <a:ext uri="{FF2B5EF4-FFF2-40B4-BE49-F238E27FC236}">
                <a16:creationId xmlns:a16="http://schemas.microsoft.com/office/drawing/2014/main" id="{CEEC89F7-160E-6253-1B08-70A1C36B3745}"/>
              </a:ext>
            </a:extLst>
          </p:cNvPr>
          <p:cNvSpPr txBox="1"/>
          <p:nvPr/>
        </p:nvSpPr>
        <p:spPr>
          <a:xfrm>
            <a:off x="8435788" y="5606109"/>
            <a:ext cx="3272118" cy="369332"/>
          </a:xfrm>
          <a:prstGeom prst="rect">
            <a:avLst/>
          </a:prstGeom>
          <a:noFill/>
        </p:spPr>
        <p:txBody>
          <a:bodyPr wrap="square">
            <a:spAutoFit/>
          </a:bodyPr>
          <a:lstStyle/>
          <a:p>
            <a:r>
              <a:rPr lang="en-US" dirty="0"/>
              <a:t>STUDENT_SPORTS ÷ ALL_SPORTS</a:t>
            </a:r>
          </a:p>
        </p:txBody>
      </p:sp>
    </p:spTree>
    <p:extLst>
      <p:ext uri="{BB962C8B-B14F-4D97-AF65-F5344CB8AC3E}">
        <p14:creationId xmlns:p14="http://schemas.microsoft.com/office/powerpoint/2010/main" val="39105920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D8C39-8A29-D0CD-9235-6FEC272FF35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Division Operator</a:t>
            </a:r>
          </a:p>
        </p:txBody>
      </p:sp>
      <p:sp>
        <p:nvSpPr>
          <p:cNvPr id="3" name="Content Placeholder 2">
            <a:extLst>
              <a:ext uri="{FF2B5EF4-FFF2-40B4-BE49-F238E27FC236}">
                <a16:creationId xmlns:a16="http://schemas.microsoft.com/office/drawing/2014/main" id="{3C4FCA55-EB1F-D897-17C9-7927AAFA20C3}"/>
              </a:ext>
            </a:extLst>
          </p:cNvPr>
          <p:cNvSpPr>
            <a:spLocks noGrp="1"/>
          </p:cNvSpPr>
          <p:nvPr>
            <p:ph idx="1"/>
          </p:nvPr>
        </p:nvSpPr>
        <p:spPr>
          <a:xfrm>
            <a:off x="838200" y="1690688"/>
            <a:ext cx="10515600" cy="4486275"/>
          </a:xfrm>
        </p:spPr>
        <p:txBody>
          <a:bodyPr>
            <a:normAutofit/>
          </a:bodyPr>
          <a:lstStyle/>
          <a:p>
            <a:r>
              <a:rPr lang="en-US" sz="2000" dirty="0">
                <a:latin typeface="Times New Roman" panose="02020603050405020304" pitchFamily="18" charset="0"/>
                <a:cs typeface="Times New Roman" panose="02020603050405020304" pitchFamily="18" charset="0"/>
              </a:rPr>
              <a:t>The operation is valid as attributes in ALL_SPORTS is a proper subset of attributes in STUDENT_SPORTS.</a:t>
            </a:r>
          </a:p>
          <a:p>
            <a:r>
              <a:rPr lang="en-US" sz="2000" dirty="0">
                <a:latin typeface="Times New Roman" panose="02020603050405020304" pitchFamily="18" charset="0"/>
                <a:cs typeface="Times New Roman" panose="02020603050405020304" pitchFamily="18" charset="0"/>
              </a:rPr>
              <a:t>The attributes in resulting relation will have attributes {ROLL_NO,SPORTS}-{SPORTS}=ROLL_NO</a:t>
            </a:r>
          </a:p>
          <a:p>
            <a:r>
              <a:rPr lang="en-US" sz="2000" dirty="0">
                <a:latin typeface="Times New Roman" panose="02020603050405020304" pitchFamily="18" charset="0"/>
                <a:cs typeface="Times New Roman" panose="02020603050405020304" pitchFamily="18" charset="0"/>
              </a:rPr>
              <a:t>The tuples in resulting relation will have those ROLL_NO which are associated with all B’s tuple {Badminton, Cricket}. ROLL_NO 1 and 4 are associated to Badminton only. ROLL_NO 2 is associated to all tuples of B. So the resulting relation will be:</a:t>
            </a:r>
          </a:p>
        </p:txBody>
      </p:sp>
      <p:pic>
        <p:nvPicPr>
          <p:cNvPr id="5" name="Picture 4">
            <a:extLst>
              <a:ext uri="{FF2B5EF4-FFF2-40B4-BE49-F238E27FC236}">
                <a16:creationId xmlns:a16="http://schemas.microsoft.com/office/drawing/2014/main" id="{A8C2CED3-FF35-2E7F-5941-D8FA5C89111C}"/>
              </a:ext>
            </a:extLst>
          </p:cNvPr>
          <p:cNvPicPr>
            <a:picLocks noChangeAspect="1"/>
          </p:cNvPicPr>
          <p:nvPr/>
        </p:nvPicPr>
        <p:blipFill>
          <a:blip r:embed="rId2"/>
          <a:stretch>
            <a:fillRect/>
          </a:stretch>
        </p:blipFill>
        <p:spPr>
          <a:xfrm>
            <a:off x="8689979" y="4680840"/>
            <a:ext cx="1280271" cy="1005927"/>
          </a:xfrm>
          <a:prstGeom prst="rect">
            <a:avLst/>
          </a:prstGeom>
        </p:spPr>
      </p:pic>
      <p:sp>
        <p:nvSpPr>
          <p:cNvPr id="6" name="TextBox 5">
            <a:extLst>
              <a:ext uri="{FF2B5EF4-FFF2-40B4-BE49-F238E27FC236}">
                <a16:creationId xmlns:a16="http://schemas.microsoft.com/office/drawing/2014/main" id="{9038EBFD-8E7F-AF92-4349-A375281D52A6}"/>
              </a:ext>
            </a:extLst>
          </p:cNvPr>
          <p:cNvSpPr txBox="1"/>
          <p:nvPr/>
        </p:nvSpPr>
        <p:spPr>
          <a:xfrm>
            <a:off x="8952446" y="4372822"/>
            <a:ext cx="755335" cy="338554"/>
          </a:xfrm>
          <a:prstGeom prst="rect">
            <a:avLst/>
          </a:prstGeom>
          <a:noFill/>
        </p:spPr>
        <p:txBody>
          <a:bodyPr wrap="none" rtlCol="0">
            <a:spAutoFit/>
          </a:bodyPr>
          <a:lstStyle/>
          <a:p>
            <a:r>
              <a:rPr lang="en-US" sz="1600" u="sng" dirty="0">
                <a:latin typeface="Times New Roman" panose="02020603050405020304" pitchFamily="18" charset="0"/>
                <a:cs typeface="Times New Roman" panose="02020603050405020304" pitchFamily="18" charset="0"/>
              </a:rPr>
              <a:t>Output</a:t>
            </a:r>
            <a:endParaRPr lang="en-US" u="sng"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F9573BB-52A1-370A-A62E-92B03DEC0CCF}"/>
              </a:ext>
            </a:extLst>
          </p:cNvPr>
          <p:cNvPicPr>
            <a:picLocks noChangeAspect="1"/>
          </p:cNvPicPr>
          <p:nvPr/>
        </p:nvPicPr>
        <p:blipFill>
          <a:blip r:embed="rId3"/>
          <a:stretch>
            <a:fillRect/>
          </a:stretch>
        </p:blipFill>
        <p:spPr>
          <a:xfrm>
            <a:off x="1712258" y="4291863"/>
            <a:ext cx="2449479" cy="1974834"/>
          </a:xfrm>
          <a:prstGeom prst="rect">
            <a:avLst/>
          </a:prstGeom>
        </p:spPr>
      </p:pic>
      <p:pic>
        <p:nvPicPr>
          <p:cNvPr id="8" name="Picture 7">
            <a:extLst>
              <a:ext uri="{FF2B5EF4-FFF2-40B4-BE49-F238E27FC236}">
                <a16:creationId xmlns:a16="http://schemas.microsoft.com/office/drawing/2014/main" id="{B04712DD-3F15-3BA7-16EF-D5F53F4CA09A}"/>
              </a:ext>
            </a:extLst>
          </p:cNvPr>
          <p:cNvPicPr>
            <a:picLocks noChangeAspect="1"/>
          </p:cNvPicPr>
          <p:nvPr/>
        </p:nvPicPr>
        <p:blipFill>
          <a:blip r:embed="rId4"/>
          <a:stretch>
            <a:fillRect/>
          </a:stretch>
        </p:blipFill>
        <p:spPr>
          <a:xfrm>
            <a:off x="5361950" y="4432974"/>
            <a:ext cx="1531909" cy="1501661"/>
          </a:xfrm>
          <a:prstGeom prst="rect">
            <a:avLst/>
          </a:prstGeom>
        </p:spPr>
      </p:pic>
      <p:sp>
        <p:nvSpPr>
          <p:cNvPr id="9" name="TextBox 8">
            <a:extLst>
              <a:ext uri="{FF2B5EF4-FFF2-40B4-BE49-F238E27FC236}">
                <a16:creationId xmlns:a16="http://schemas.microsoft.com/office/drawing/2014/main" id="{EC70B101-D21B-6B08-D8E2-AA0182650DB0}"/>
              </a:ext>
            </a:extLst>
          </p:cNvPr>
          <p:cNvSpPr txBox="1"/>
          <p:nvPr/>
        </p:nvSpPr>
        <p:spPr>
          <a:xfrm>
            <a:off x="3155575" y="6412932"/>
            <a:ext cx="3272118" cy="369332"/>
          </a:xfrm>
          <a:prstGeom prst="rect">
            <a:avLst/>
          </a:prstGeom>
          <a:noFill/>
        </p:spPr>
        <p:txBody>
          <a:bodyPr wrap="square">
            <a:spAutoFit/>
          </a:bodyPr>
          <a:lstStyle/>
          <a:p>
            <a:r>
              <a:rPr lang="en-US" dirty="0"/>
              <a:t>STUDENT_SPORTS ÷ ALL_SPORTS</a:t>
            </a:r>
          </a:p>
        </p:txBody>
      </p:sp>
    </p:spTree>
    <p:extLst>
      <p:ext uri="{BB962C8B-B14F-4D97-AF65-F5344CB8AC3E}">
        <p14:creationId xmlns:p14="http://schemas.microsoft.com/office/powerpoint/2010/main" val="16233759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DC5FF4-09DE-3EA0-F2EA-B09633B6C383}"/>
              </a:ext>
            </a:extLst>
          </p:cNvPr>
          <p:cNvPicPr>
            <a:picLocks noChangeAspect="1"/>
          </p:cNvPicPr>
          <p:nvPr/>
        </p:nvPicPr>
        <p:blipFill>
          <a:blip r:embed="rId2"/>
          <a:stretch>
            <a:fillRect/>
          </a:stretch>
        </p:blipFill>
        <p:spPr>
          <a:xfrm>
            <a:off x="2011379" y="1069061"/>
            <a:ext cx="6950042" cy="4701947"/>
          </a:xfrm>
          <a:prstGeom prst="rect">
            <a:avLst/>
          </a:prstGeom>
        </p:spPr>
      </p:pic>
    </p:spTree>
    <p:extLst>
      <p:ext uri="{BB962C8B-B14F-4D97-AF65-F5344CB8AC3E}">
        <p14:creationId xmlns:p14="http://schemas.microsoft.com/office/powerpoint/2010/main" val="14752502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3167</TotalTime>
  <Words>4107</Words>
  <Application>Microsoft Office PowerPoint</Application>
  <PresentationFormat>Widescreen</PresentationFormat>
  <Paragraphs>1253</Paragraphs>
  <Slides>49</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49</vt:i4>
      </vt:variant>
    </vt:vector>
  </HeadingPairs>
  <TitlesOfParts>
    <vt:vector size="65" baseType="lpstr">
      <vt:lpstr>Arial</vt:lpstr>
      <vt:lpstr>Calibri</vt:lpstr>
      <vt:lpstr>Calibri Light</vt:lpstr>
      <vt:lpstr>Consolas</vt:lpstr>
      <vt:lpstr>inter-bold</vt:lpstr>
      <vt:lpstr>inter-regular</vt:lpstr>
      <vt:lpstr>Monotype Sorts</vt:lpstr>
      <vt:lpstr>NimbusRomDOT-Reg</vt:lpstr>
      <vt:lpstr>NimbusRomDOT-RegIta</vt:lpstr>
      <vt:lpstr>Source Sans Pro</vt:lpstr>
      <vt:lpstr>Symbol</vt:lpstr>
      <vt:lpstr>Times New Roman</vt:lpstr>
      <vt:lpstr>Times New Roman</vt:lpstr>
      <vt:lpstr>urw-din</vt:lpstr>
      <vt:lpstr>Wingdings</vt:lpstr>
      <vt:lpstr>Office Theme</vt:lpstr>
      <vt:lpstr>Relational Algebra</vt:lpstr>
      <vt:lpstr>Introduction</vt:lpstr>
      <vt:lpstr>Introduction</vt:lpstr>
      <vt:lpstr>Introduction</vt:lpstr>
      <vt:lpstr>1. Select Operation</vt:lpstr>
      <vt:lpstr>Select Operation</vt:lpstr>
      <vt:lpstr>SELECT Operation Properties</vt:lpstr>
      <vt:lpstr>SELECT Operation Properties</vt:lpstr>
      <vt:lpstr>2. Project Operation</vt:lpstr>
      <vt:lpstr>2. Project Operation</vt:lpstr>
      <vt:lpstr>Project Operation</vt:lpstr>
      <vt:lpstr>PROJECT Operation Properties</vt:lpstr>
      <vt:lpstr>Composition of Relational Operations</vt:lpstr>
      <vt:lpstr>3. Cartesian-Product Operation</vt:lpstr>
      <vt:lpstr>Cartesian-Product Operation</vt:lpstr>
      <vt:lpstr>Cartesian-Product Operation</vt:lpstr>
      <vt:lpstr>4. Join Operation</vt:lpstr>
      <vt:lpstr>Types of JOIN</vt:lpstr>
      <vt:lpstr>Theta Join Operation</vt:lpstr>
      <vt:lpstr>PowerPoint Presentation</vt:lpstr>
      <vt:lpstr>Theta Join Operation</vt:lpstr>
      <vt:lpstr>Equijoin</vt:lpstr>
      <vt:lpstr>Equijoin</vt:lpstr>
      <vt:lpstr>Natural Join</vt:lpstr>
      <vt:lpstr>Natural Join</vt:lpstr>
      <vt:lpstr>Natural Join</vt:lpstr>
      <vt:lpstr>Outer Joins</vt:lpstr>
      <vt:lpstr>Left outer join</vt:lpstr>
      <vt:lpstr>Left outer join</vt:lpstr>
      <vt:lpstr>Left outer join</vt:lpstr>
      <vt:lpstr>Right Outer Join</vt:lpstr>
      <vt:lpstr>Right Outer Join</vt:lpstr>
      <vt:lpstr>Right Outer Join</vt:lpstr>
      <vt:lpstr>Full Outer Join</vt:lpstr>
      <vt:lpstr>Full Outer Join</vt:lpstr>
      <vt:lpstr>Full Outer Join</vt:lpstr>
      <vt:lpstr>5. Rename Operation </vt:lpstr>
      <vt:lpstr>Rename Operation </vt:lpstr>
      <vt:lpstr>6. UNION</vt:lpstr>
      <vt:lpstr>6. UNION</vt:lpstr>
      <vt:lpstr>UNION</vt:lpstr>
      <vt:lpstr>7. INTERSECTION</vt:lpstr>
      <vt:lpstr>INTERSECTION</vt:lpstr>
      <vt:lpstr>8. SET DIFFERENCE</vt:lpstr>
      <vt:lpstr>SET DIFFERENCE</vt:lpstr>
      <vt:lpstr>9. ALL</vt:lpstr>
      <vt:lpstr>Division Operator</vt:lpstr>
      <vt:lpstr>Division Operator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Algebra</dc:title>
  <dc:creator>PRATIK ROY</dc:creator>
  <cp:lastModifiedBy>Kanishk Patel</cp:lastModifiedBy>
  <cp:revision>55</cp:revision>
  <dcterms:created xsi:type="dcterms:W3CDTF">2021-10-12T22:09:59Z</dcterms:created>
  <dcterms:modified xsi:type="dcterms:W3CDTF">2022-10-08T17:11:07Z</dcterms:modified>
</cp:coreProperties>
</file>