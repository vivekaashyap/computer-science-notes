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1" r:id="rId34"/>
    <p:sldId id="292" r:id="rId35"/>
    <p:sldId id="293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4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96"/>
      </p:cViewPr>
      <p:guideLst>
        <p:guide orient="horz" pos="212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9B435-A632-4AAF-8AE2-ECE0100C8804}" type="datetimeFigureOut">
              <a:rPr lang="en-IN" smtClean="0"/>
              <a:t>09-10-2022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7E863-134E-4B77-9A84-ECA0E341A06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9B435-A632-4AAF-8AE2-ECE0100C8804}" type="datetimeFigureOut">
              <a:rPr lang="en-IN" smtClean="0"/>
              <a:t>09-10-2022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7E863-134E-4B77-9A84-ECA0E341A06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9B435-A632-4AAF-8AE2-ECE0100C8804}" type="datetimeFigureOut">
              <a:rPr lang="en-IN" smtClean="0"/>
              <a:t>09-10-2022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7E863-134E-4B77-9A84-ECA0E341A06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9B435-A632-4AAF-8AE2-ECE0100C8804}" type="datetimeFigureOut">
              <a:rPr lang="en-IN" smtClean="0"/>
              <a:t>09-10-2022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7E863-134E-4B77-9A84-ECA0E341A06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9B435-A632-4AAF-8AE2-ECE0100C8804}" type="datetimeFigureOut">
              <a:rPr lang="en-IN" smtClean="0"/>
              <a:t>09-10-2022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7E863-134E-4B77-9A84-ECA0E341A06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9B435-A632-4AAF-8AE2-ECE0100C8804}" type="datetimeFigureOut">
              <a:rPr lang="en-IN" smtClean="0"/>
              <a:t>09-10-2022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7E863-134E-4B77-9A84-ECA0E341A06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9B435-A632-4AAF-8AE2-ECE0100C8804}" type="datetimeFigureOut">
              <a:rPr lang="en-IN" smtClean="0"/>
              <a:t>09-10-2022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7E863-134E-4B77-9A84-ECA0E341A06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9B435-A632-4AAF-8AE2-ECE0100C8804}" type="datetimeFigureOut">
              <a:rPr lang="en-IN" smtClean="0"/>
              <a:t>09-10-2022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7E863-134E-4B77-9A84-ECA0E341A06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9B435-A632-4AAF-8AE2-ECE0100C8804}" type="datetimeFigureOut">
              <a:rPr lang="en-IN" smtClean="0"/>
              <a:t>09-10-2022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7E863-134E-4B77-9A84-ECA0E341A06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9B435-A632-4AAF-8AE2-ECE0100C8804}" type="datetimeFigureOut">
              <a:rPr lang="en-IN" smtClean="0"/>
              <a:t>09-10-2022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7E863-134E-4B77-9A84-ECA0E341A06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9B435-A632-4AAF-8AE2-ECE0100C8804}" type="datetimeFigureOut">
              <a:rPr lang="en-IN" smtClean="0"/>
              <a:t>09-10-2022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7E863-134E-4B77-9A84-ECA0E341A06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9B435-A632-4AAF-8AE2-ECE0100C8804}" type="datetimeFigureOut">
              <a:rPr lang="en-IN" smtClean="0"/>
              <a:t>09-10-2022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7E863-134E-4B77-9A84-ECA0E341A06A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3" y="26870"/>
            <a:ext cx="760888" cy="7380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12763"/>
            <a:ext cx="9144000" cy="2387600"/>
          </a:xfrm>
        </p:spPr>
        <p:txBody>
          <a:bodyPr/>
          <a:lstStyle/>
          <a:p>
            <a:r>
              <a:rPr lang="en-IN" b="1" dirty="0">
                <a:solidFill>
                  <a:schemeClr val="accent2">
                    <a:lumMod val="50000"/>
                  </a:schemeClr>
                </a:solidFill>
              </a:rPr>
              <a:t>Reduction of ER Model to Relational Model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898"/>
            <a:ext cx="10515600" cy="1241731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ER-to-Relational Mapping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9608" y="1003177"/>
            <a:ext cx="10848511" cy="5752730"/>
          </a:xfrm>
        </p:spPr>
        <p:txBody>
          <a:bodyPr/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Mapping of Regular Entity Types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Mapping of Weak Entity Types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Mapping of Binary 1:1 Relation Types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Mapping of Binary 1:N Relationship Types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Mapping of Binary M:N Relationship Types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Mapping of Multivalued attributes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Mapping of N-</a:t>
            </a:r>
            <a:r>
              <a:rPr lang="en-IN" dirty="0" err="1"/>
              <a:t>ary</a:t>
            </a:r>
            <a:r>
              <a:rPr lang="en-IN" dirty="0"/>
              <a:t> Relationship Types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Options for Mapping Specialization or Generalization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Mapping of Aggregation</a:t>
            </a:r>
          </a:p>
          <a:p>
            <a:pPr>
              <a:lnSpc>
                <a:spcPct val="100000"/>
              </a:lnSpc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892"/>
            <a:ext cx="10515600" cy="1325563"/>
          </a:xfrm>
        </p:spPr>
        <p:txBody>
          <a:bodyPr/>
          <a:lstStyle/>
          <a:p>
            <a:pPr algn="ctr"/>
            <a:r>
              <a:rPr lang="en-US" altLang="en-US" dirty="0">
                <a:solidFill>
                  <a:schemeClr val="accent4">
                    <a:lumMod val="50000"/>
                  </a:schemeClr>
                </a:solidFill>
                <a:latin typeface="Verdana" panose="020B0604030504040204" pitchFamily="34" charset="0"/>
              </a:rPr>
              <a:t>The ER conceptual schema diagram for the COMPANY database</a:t>
            </a:r>
            <a:endParaRPr lang="en-IN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986" y="1344455"/>
            <a:ext cx="6212544" cy="54114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894"/>
            <a:ext cx="10515600" cy="1073060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Mapping of Regular Entity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218" y="985420"/>
            <a:ext cx="10946167" cy="5788241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IN" dirty="0"/>
              <a:t>For each regular (strong) entity type E in the ER schema, create a relation R that includes all the simple attributes of E.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IN" dirty="0"/>
              <a:t>Include only the simple component attributes of a composite attribute.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IN" dirty="0"/>
              <a:t>Choose one of the key attributes of </a:t>
            </a:r>
            <a:r>
              <a:rPr lang="en-IN" i="1" dirty="0"/>
              <a:t>E </a:t>
            </a:r>
            <a:r>
              <a:rPr lang="en-IN" dirty="0"/>
              <a:t>as the primary key for </a:t>
            </a:r>
            <a:r>
              <a:rPr lang="en-IN" i="1" dirty="0"/>
              <a:t>R</a:t>
            </a:r>
            <a:r>
              <a:rPr lang="en-IN" dirty="0"/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IN" dirty="0"/>
              <a:t>If the chosen key of </a:t>
            </a:r>
            <a:r>
              <a:rPr lang="en-IN" i="1" dirty="0"/>
              <a:t>E </a:t>
            </a:r>
            <a:r>
              <a:rPr lang="en-IN" dirty="0"/>
              <a:t>is a composite, then the set of simple attributes that form it will together form the primary key of </a:t>
            </a:r>
            <a:r>
              <a:rPr lang="en-IN" i="1" dirty="0"/>
              <a:t>R</a:t>
            </a:r>
            <a:r>
              <a:rPr lang="en-IN" dirty="0"/>
              <a:t>.</a:t>
            </a:r>
          </a:p>
          <a:p>
            <a:pPr lvl="1" algn="just"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 algn="just">
              <a:buFont typeface="Wingdings" panose="05000000000000000000" pitchFamily="2" charset="2"/>
              <a:buChar char="q"/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18894"/>
            <a:ext cx="10515600" cy="1073060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Mapping of Regular Entity Types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872" y="932154"/>
            <a:ext cx="9814995" cy="3409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96517" y="4457421"/>
            <a:ext cx="1102384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sz="2400" b="1" dirty="0"/>
              <a:t>Example</a:t>
            </a:r>
            <a:endParaRPr lang="en-US" altLang="en-US" sz="2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2400" dirty="0"/>
              <a:t>We create the relations EMPLOYEE, DEPARTMENT, and PROJECT in the relational schema corresponding to the regular entities in the ER diagram.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altLang="en-US" sz="2400" dirty="0"/>
              <a:t>SSN, DNUMBER, and PNUMBER are the primary keys for the relations EMPLOYEE, DEPARTMENT, and PROJECT as shown.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893"/>
            <a:ext cx="10515600" cy="1010917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chemeClr val="accent4">
                    <a:lumMod val="50000"/>
                  </a:schemeClr>
                </a:solidFill>
              </a:rPr>
              <a:t>Mapping of Weak Entity Types</a:t>
            </a:r>
            <a:endParaRPr lang="en-IN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7565" y="905523"/>
            <a:ext cx="10972799" cy="5859262"/>
          </a:xfrm>
        </p:spPr>
        <p:txBody>
          <a:bodyPr/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For each weak entity type W in the ER schema with owner entity type E, create a relation R and include all simple attributes (or simple components of composite attributes) of W as attributes of R.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Include as foreign key attributes of R the primary key attribute(s) of the relation(s) that correspond to the owner entity type(s).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The primary key of R is the combination of the primary key(s) of the owner(s) and the partial key of the weak entity type W, if any.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If there is a weak entity type E</a:t>
            </a:r>
            <a:r>
              <a:rPr lang="en-IN" baseline="-25000" dirty="0"/>
              <a:t>2</a:t>
            </a:r>
            <a:r>
              <a:rPr lang="en-IN" dirty="0"/>
              <a:t> whose owner is also a weak entity type E</a:t>
            </a:r>
            <a:r>
              <a:rPr lang="en-IN" baseline="-25000" dirty="0"/>
              <a:t>1</a:t>
            </a:r>
            <a:r>
              <a:rPr lang="en-IN" dirty="0"/>
              <a:t>, then E</a:t>
            </a:r>
            <a:r>
              <a:rPr lang="en-IN" baseline="-25000" dirty="0"/>
              <a:t>1 </a:t>
            </a:r>
            <a:r>
              <a:rPr lang="en-IN" dirty="0"/>
              <a:t>should be mapped before E</a:t>
            </a:r>
            <a:r>
              <a:rPr lang="en-IN" baseline="-25000" dirty="0"/>
              <a:t>2</a:t>
            </a:r>
            <a:r>
              <a:rPr lang="en-IN" dirty="0"/>
              <a:t> to determine its primary key first.</a:t>
            </a:r>
          </a:p>
          <a:p>
            <a:pPr algn="just">
              <a:lnSpc>
                <a:spcPct val="100000"/>
              </a:lnSpc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0023" y="772356"/>
            <a:ext cx="10351363" cy="5877017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b="1" dirty="0"/>
              <a:t>Example</a:t>
            </a:r>
            <a:r>
              <a:rPr lang="en-IN" dirty="0"/>
              <a:t>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dirty="0"/>
              <a:t>Create the relation DEPENDENT correspond to the weak entity type DEPENDENT.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dirty="0"/>
              <a:t>Include the primary key SSN of the EMPLOYEE relation as a foreign key attribute of DEPENDENT (renamed to ESSN).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dirty="0"/>
              <a:t>The primary key of the DEPENDENT relation is the combination {ESSN, DEPENDENT_NAME} because DEPENDENT_NAME is the partial key of DEPENDENT. </a:t>
            </a:r>
          </a:p>
          <a:p>
            <a:pPr>
              <a:lnSpc>
                <a:spcPct val="100000"/>
              </a:lnSpc>
            </a:pPr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18893"/>
            <a:ext cx="10515600" cy="1010917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chemeClr val="accent4">
                    <a:lumMod val="50000"/>
                  </a:schemeClr>
                </a:solidFill>
              </a:rPr>
              <a:t>Mapping of Weak Entity Types</a:t>
            </a:r>
            <a:endParaRPr lang="en-IN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108" y="4377410"/>
            <a:ext cx="8386869" cy="10109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896"/>
            <a:ext cx="10515600" cy="1144079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Mapping of Binary 1:1 Relationship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750" y="994299"/>
            <a:ext cx="10804125" cy="5761608"/>
          </a:xfrm>
        </p:spPr>
        <p:txBody>
          <a:bodyPr/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For each binary 1:1 relationship type R in the ER schema, identify the relations S and T that correspond to the entity types participating in R.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altLang="en-US" sz="2800" dirty="0"/>
              <a:t>There are three possible approaches: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US" sz="2400" b="1" dirty="0">
                <a:solidFill>
                  <a:srgbClr val="7030A0"/>
                </a:solidFill>
              </a:rPr>
              <a:t>Foreign Key (2 relations) approach:</a:t>
            </a:r>
            <a:r>
              <a:rPr lang="en-US" altLang="en-US" sz="2400" dirty="0"/>
              <a:t> Choose one of the relations, say S and include a foreign key in S the primary key of T. It is better to choose an entity type with total participation in R in the role of S.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US" sz="2400" b="1" dirty="0"/>
              <a:t>Example</a:t>
            </a:r>
            <a:r>
              <a:rPr lang="en-US" altLang="en-US" sz="2400" dirty="0"/>
              <a:t> </a:t>
            </a:r>
          </a:p>
          <a:p>
            <a:pPr lvl="2" algn="just">
              <a:lnSpc>
                <a:spcPct val="100000"/>
              </a:lnSpc>
            </a:pPr>
            <a:r>
              <a:rPr lang="en-US" altLang="en-US" dirty="0"/>
              <a:t>1:1 relation MANAGES is mapped by choosing the participating entity type DEPARTMENT to serve in the role of S, because its participation in the MANAGES relationship type is total.</a:t>
            </a:r>
          </a:p>
          <a:p>
            <a:pPr lvl="2" algn="just">
              <a:lnSpc>
                <a:spcPct val="100000"/>
              </a:lnSpc>
            </a:pPr>
            <a:r>
              <a:rPr lang="en-IN" altLang="en-US" dirty="0"/>
              <a:t>Include the primary key of the EMPLOYEE relation as foreign key in the DEPARTMENT relation.</a:t>
            </a:r>
          </a:p>
          <a:p>
            <a:pPr lvl="2" algn="just">
              <a:lnSpc>
                <a:spcPct val="100000"/>
              </a:lnSpc>
            </a:pPr>
            <a:r>
              <a:rPr lang="en-IN" altLang="en-US" dirty="0"/>
              <a:t>Include simple attribute </a:t>
            </a:r>
            <a:r>
              <a:rPr lang="en-IN" altLang="en-US" dirty="0" err="1"/>
              <a:t>Start_date</a:t>
            </a:r>
            <a:r>
              <a:rPr lang="en-IN" altLang="en-US" dirty="0"/>
              <a:t> of MANAGES relationship type in DEPARTMENT relation.</a:t>
            </a:r>
            <a:endParaRPr lang="en-US" altLang="en-US" dirty="0"/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en-US" sz="2400" dirty="0"/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IN" dirty="0"/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IN" dirty="0"/>
          </a:p>
          <a:p>
            <a:pPr algn="just">
              <a:lnSpc>
                <a:spcPct val="100000"/>
              </a:lnSpc>
            </a:pP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676" y="5863701"/>
            <a:ext cx="5923765" cy="8415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8484" y="1038687"/>
            <a:ext cx="10848513" cy="571722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rgbClr val="7030A0"/>
                </a:solidFill>
              </a:rPr>
              <a:t>Merged relation (1 relation) option:</a:t>
            </a:r>
            <a:r>
              <a:rPr lang="en-IN" dirty="0"/>
              <a:t> An alternate mapping of a 1:1 relationship type is possible by merging the two entity types and the relationship into a single relation. This may be appropriate when both </a:t>
            </a:r>
            <a:r>
              <a:rPr lang="en-IN" i="1" dirty="0"/>
              <a:t>participations are total</a:t>
            </a:r>
            <a:r>
              <a:rPr lang="en-IN" dirty="0"/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rgbClr val="7030A0"/>
                </a:solidFill>
              </a:rPr>
              <a:t>Cross-reference or relationship relation (3 relations) option:</a:t>
            </a:r>
            <a:r>
              <a:rPr lang="en-IN" dirty="0"/>
              <a:t> The third alternative is to set up a third relation R for the purpose of cross-referencing the primary keys of the two relations S and T representing the entity types.</a:t>
            </a:r>
          </a:p>
          <a:p>
            <a:pPr algn="just"/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18896"/>
            <a:ext cx="10515600" cy="1144079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Mapping of Binary 1:1 Relationship Types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014"/>
            <a:ext cx="10515600" cy="1152961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Mapping of Binary 1:N Relationship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096" y="985420"/>
            <a:ext cx="10901779" cy="5797119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For each regular binary 1:N relationship type R, identify the relation S that represent the participating entity type at the N-side of the relationship type.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Include as foreign key in S the primary key of the relation T that represents the other entity type participating in R.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altLang="en-US" sz="2800" dirty="0"/>
              <a:t>Include any simple attributes of the 1:N relation type as attributes of S.</a:t>
            </a:r>
            <a:endParaRPr lang="en-IN" altLang="en-US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b="1" dirty="0"/>
              <a:t>Example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dirty="0"/>
              <a:t>1:N relationship types WORKS_FOR, CONTROLS, and SUPERVISION.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dirty="0"/>
              <a:t>For WORKS_FOR we include the primary key DNUMBER of the DEPARTMENT relation as foreign key in the EMPLOYEE relation.</a:t>
            </a:r>
          </a:p>
          <a:p>
            <a:pPr>
              <a:lnSpc>
                <a:spcPct val="100000"/>
              </a:lnSpc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893"/>
            <a:ext cx="10515600" cy="1152959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Mapping of Binary M:N Relationship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2054" y="1003176"/>
            <a:ext cx="11026066" cy="5761607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IN" dirty="0"/>
              <a:t>For each regular binary M:N relationship type R, create a new relation S to represent R. This is a </a:t>
            </a:r>
            <a:r>
              <a:rPr lang="en-IN" i="1" dirty="0"/>
              <a:t>relationship relation</a:t>
            </a:r>
            <a:r>
              <a:rPr lang="en-IN" dirty="0"/>
              <a:t>.</a:t>
            </a: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IN" dirty="0"/>
              <a:t>Include as foreign key attributes in S the primary keys of the relations that represent the participating entity types; </a:t>
            </a:r>
            <a:r>
              <a:rPr lang="en-IN" i="1" dirty="0"/>
              <a:t>their combination will form the primary key</a:t>
            </a:r>
            <a:r>
              <a:rPr lang="en-IN" dirty="0"/>
              <a:t> of S.</a:t>
            </a: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Also include any simple attributes of the M:N relationship type (or simple components of composite attributes) as attributes of S.</a:t>
            </a: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IN" b="1" dirty="0"/>
              <a:t>Example</a:t>
            </a:r>
            <a:endParaRPr lang="en-IN" dirty="0"/>
          </a:p>
          <a:p>
            <a:pPr lvl="1" algn="just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IN" dirty="0"/>
              <a:t>M:N relationship type WORKS_ON is mapped by creating a relation WORKS_ON in relational database schema.</a:t>
            </a:r>
          </a:p>
          <a:p>
            <a:pPr lvl="1" algn="just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IN" dirty="0"/>
              <a:t>The primary keys of the PROJECT and EMPLOYEE relations are included as foreign keys in WORKS_ON. </a:t>
            </a:r>
          </a:p>
          <a:p>
            <a:pPr lvl="1" algn="just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IN" dirty="0"/>
              <a:t>Attribute HOURS in WORKS_ON represents the HOURS attribute of the relation type. The primary key of the WORKS_ON relation is combination of foreign key attributes {ESSN, PNO}.</a:t>
            </a: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Char char="q"/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015"/>
            <a:ext cx="10515600" cy="1064184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Mapping of Multivalued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8687" y="976544"/>
            <a:ext cx="11034943" cy="5797118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For each multivalued attribute A, create a new relation R.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R will include an attribute corresponding to A, plus the primary key attribute K as foreign key in R of the relation that represents the entity type or relationship type that has A as a multivalued attribute.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The primary key of R is the combination of A and K.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If the multivalued attribute is composite, we include its simple components.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b="1" dirty="0"/>
              <a:t>Example</a:t>
            </a:r>
            <a:endParaRPr lang="en-IN" dirty="0"/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dirty="0"/>
              <a:t>The relation DEPT_LOCATIONS is created. 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dirty="0"/>
              <a:t>DLOCATION represents the multivalued attribute LOCATIONS of DEPARTMENT, while DNUMBER as foreign key represents primary key of DEPARTMENT relation.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dirty="0"/>
              <a:t>Primary key of R is the combination of {DNUMBER, DLOCATION}.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014"/>
            <a:ext cx="10515600" cy="1090817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Mapping of N-</a:t>
            </a:r>
            <a:r>
              <a:rPr lang="en-IN" b="1" dirty="0" err="1">
                <a:solidFill>
                  <a:schemeClr val="accent4">
                    <a:lumMod val="50000"/>
                  </a:schemeClr>
                </a:solidFill>
              </a:rPr>
              <a:t>ary</a:t>
            </a:r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 Relationship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4198" y="967666"/>
            <a:ext cx="10981678" cy="5814874"/>
          </a:xfrm>
        </p:spPr>
        <p:txBody>
          <a:bodyPr/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For each n-</a:t>
            </a:r>
            <a:r>
              <a:rPr lang="en-IN" dirty="0" err="1"/>
              <a:t>ary</a:t>
            </a:r>
            <a:r>
              <a:rPr lang="en-IN" dirty="0"/>
              <a:t> relationship type R, where n&gt;2, create a new relationship S to represent R.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dirty="0"/>
              <a:t>Include as foreign key attributes in S the primary keys of the relations that represent the participating entity types.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I</a:t>
            </a:r>
            <a:r>
              <a:rPr lang="en-US" altLang="en-US" sz="2800" dirty="0"/>
              <a:t>nclude any simple attributes of the n-</a:t>
            </a:r>
            <a:r>
              <a:rPr lang="en-US" altLang="en-US" sz="2800" dirty="0" err="1"/>
              <a:t>ary</a:t>
            </a:r>
            <a:r>
              <a:rPr lang="en-US" altLang="en-US" sz="2800" dirty="0"/>
              <a:t> relationship type (or simple components of composite attributes) as attributes of 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Example</a:t>
            </a:r>
            <a:endParaRPr lang="en-IN" b="1" dirty="0"/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dirty="0"/>
              <a:t>The relationship type SUPPLY in next slide.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dirty="0"/>
              <a:t>This can be mapped to relation SUPPLY shown in the relational schema, whose primary key is combination of three foreign keys {SNAME, PARTNO, PROJNAME}.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IN" dirty="0"/>
          </a:p>
          <a:p>
            <a:pPr algn="just">
              <a:lnSpc>
                <a:spcPct val="100000"/>
              </a:lnSpc>
            </a:pPr>
            <a:endParaRPr lang="en-IN" dirty="0"/>
          </a:p>
          <a:p>
            <a:pPr algn="just">
              <a:lnSpc>
                <a:spcPct val="100000"/>
              </a:lnSpc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18892"/>
            <a:ext cx="10515600" cy="1037552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Mapping of N-</a:t>
            </a:r>
            <a:r>
              <a:rPr lang="en-IN" b="1" dirty="0" err="1">
                <a:solidFill>
                  <a:schemeClr val="accent4">
                    <a:lumMod val="50000"/>
                  </a:schemeClr>
                </a:solidFill>
              </a:rPr>
              <a:t>ary</a:t>
            </a:r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 Relationship Types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593" y="2761973"/>
            <a:ext cx="6378867" cy="2173192"/>
          </a:xfrm>
          <a:prstGeom prst="rect">
            <a:avLst/>
          </a:prstGeom>
        </p:spPr>
      </p:pic>
      <p:pic>
        <p:nvPicPr>
          <p:cNvPr id="7" name="Picture 2" descr="fig09_04.jpg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31351" y="1669004"/>
            <a:ext cx="4660540" cy="3994950"/>
          </a:xfr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895"/>
            <a:ext cx="10515600" cy="127724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Correspondence between ER and Relational Models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283" y="1639836"/>
            <a:ext cx="10192922" cy="47254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409" y="18892"/>
            <a:ext cx="10515600" cy="1126328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Mapping of Specialization/Generalization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1012054"/>
            <a:ext cx="7474997" cy="575273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Method 1</a:t>
            </a:r>
            <a:r>
              <a:rPr lang="en-IN" dirty="0"/>
              <a:t>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Form a schema for higher-level entity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Form a schema for each lower-level entity set, include primary key of higher-level entity set and local attributes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IN" dirty="0"/>
          </a:p>
          <a:p>
            <a:pPr lvl="1">
              <a:buFont typeface="Wingdings" panose="05000000000000000000" pitchFamily="2" charset="2"/>
              <a:buChar char="§"/>
            </a:pPr>
            <a:endParaRPr lang="en-IN" dirty="0"/>
          </a:p>
          <a:p>
            <a:pPr lvl="1">
              <a:buFont typeface="Wingdings" panose="05000000000000000000" pitchFamily="2" charset="2"/>
              <a:buChar char="§"/>
            </a:pPr>
            <a:endParaRPr lang="en-IN" dirty="0"/>
          </a:p>
          <a:p>
            <a:pPr lvl="1">
              <a:buFont typeface="Wingdings" panose="05000000000000000000" pitchFamily="2" charset="2"/>
              <a:buChar char="§"/>
            </a:pPr>
            <a:endParaRPr lang="en-IN" dirty="0"/>
          </a:p>
          <a:p>
            <a:pPr lvl="1">
              <a:buFont typeface="Wingdings" panose="05000000000000000000" pitchFamily="2" charset="2"/>
              <a:buChar char="§"/>
            </a:pPr>
            <a:endParaRPr lang="en-IN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>
                <a:ea typeface="MS PGothic" panose="020B0600070205080204" pitchFamily="34" charset="-128"/>
              </a:rPr>
              <a:t>Drawback:  getting information about, an </a:t>
            </a:r>
            <a:r>
              <a:rPr lang="en-US" altLang="en-US" i="1" dirty="0">
                <a:ea typeface="MS PGothic" panose="020B0600070205080204" pitchFamily="34" charset="-128"/>
              </a:rPr>
              <a:t>employee</a:t>
            </a:r>
            <a:r>
              <a:rPr lang="en-US" altLang="en-US" dirty="0">
                <a:ea typeface="MS PGothic" panose="020B0600070205080204" pitchFamily="34" charset="-128"/>
              </a:rPr>
              <a:t> requires accessing two relations, one corresponding to low-level schema and one corresponding to high-level schema.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IN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081" y="1478465"/>
            <a:ext cx="3663624" cy="378599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013" y="3189832"/>
            <a:ext cx="3633407" cy="12681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75682" y="985420"/>
            <a:ext cx="6871315" cy="57793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Method 2</a:t>
            </a:r>
            <a:r>
              <a:rPr lang="en-IN" dirty="0"/>
              <a:t>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Form a schema for each entity set with all local and inherited attributes.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IN" dirty="0"/>
          </a:p>
          <a:p>
            <a:pPr lvl="1">
              <a:buFont typeface="Wingdings" panose="05000000000000000000" pitchFamily="2" charset="2"/>
              <a:buChar char="§"/>
            </a:pPr>
            <a:endParaRPr lang="en-IN" dirty="0"/>
          </a:p>
          <a:p>
            <a:pPr lvl="1">
              <a:buFont typeface="Wingdings" panose="05000000000000000000" pitchFamily="2" charset="2"/>
              <a:buChar char="§"/>
            </a:pPr>
            <a:endParaRPr lang="en-IN" dirty="0"/>
          </a:p>
          <a:p>
            <a:pPr lvl="1">
              <a:buFont typeface="Wingdings" panose="05000000000000000000" pitchFamily="2" charset="2"/>
              <a:buChar char="§"/>
            </a:pPr>
            <a:endParaRPr lang="en-IN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>
                <a:ea typeface="MS PGothic" panose="020B0600070205080204" pitchFamily="34" charset="-128"/>
              </a:rPr>
              <a:t>Drawback:  </a:t>
            </a:r>
            <a:r>
              <a:rPr lang="en-US" altLang="en-US" i="1" dirty="0">
                <a:ea typeface="MS PGothic" panose="020B0600070205080204" pitchFamily="34" charset="-128"/>
              </a:rPr>
              <a:t>name, street</a:t>
            </a:r>
            <a:r>
              <a:rPr lang="en-US" altLang="en-US" dirty="0">
                <a:ea typeface="MS PGothic" panose="020B0600070205080204" pitchFamily="34" charset="-128"/>
              </a:rPr>
              <a:t> and </a:t>
            </a:r>
            <a:r>
              <a:rPr lang="en-US" altLang="en-US" i="1" dirty="0">
                <a:ea typeface="MS PGothic" panose="020B0600070205080204" pitchFamily="34" charset="-128"/>
              </a:rPr>
              <a:t>city</a:t>
            </a:r>
            <a:r>
              <a:rPr lang="en-US" altLang="en-US" dirty="0">
                <a:ea typeface="MS PGothic" panose="020B0600070205080204" pitchFamily="34" charset="-128"/>
              </a:rPr>
              <a:t> may be stored redundantly for people who are both students and employees.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IN" dirty="0"/>
          </a:p>
          <a:p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166675" y="18892"/>
            <a:ext cx="10515600" cy="1126328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Mapping of Specialization/Generalization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159" y="1700406"/>
            <a:ext cx="3728623" cy="38531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009" y="2348290"/>
            <a:ext cx="4627999" cy="12649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8139" y="1145220"/>
            <a:ext cx="6223245" cy="5619563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IN" dirty="0"/>
              <a:t>To represent aggregation, create a schema containing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IN" dirty="0"/>
              <a:t>Primary key of the aggregated relationship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IN" dirty="0"/>
              <a:t>Primary key of the associated entity set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IN" dirty="0"/>
              <a:t>Any descriptive attributes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IN" dirty="0"/>
              <a:t>In our example: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IN" dirty="0"/>
              <a:t>Schema </a:t>
            </a:r>
            <a:r>
              <a:rPr lang="en-IN" dirty="0" err="1"/>
              <a:t>eval_for</a:t>
            </a:r>
            <a:r>
              <a:rPr lang="en-IN" dirty="0"/>
              <a:t> is:</a:t>
            </a:r>
          </a:p>
          <a:p>
            <a:pPr marL="0" indent="0" algn="just">
              <a:buNone/>
            </a:pPr>
            <a:r>
              <a:rPr lang="en-IN" sz="2000" dirty="0"/>
              <a:t>              </a:t>
            </a:r>
            <a:r>
              <a:rPr lang="en-IN" sz="2200" dirty="0" err="1"/>
              <a:t>eval_for</a:t>
            </a:r>
            <a:r>
              <a:rPr lang="en-IN" sz="2200" dirty="0"/>
              <a:t> (</a:t>
            </a:r>
            <a:r>
              <a:rPr lang="en-IN" sz="2200" dirty="0" err="1"/>
              <a:t>s_ID</a:t>
            </a:r>
            <a:r>
              <a:rPr lang="en-IN" sz="2200" dirty="0"/>
              <a:t>, </a:t>
            </a:r>
            <a:r>
              <a:rPr lang="en-IN" sz="2200" dirty="0" err="1"/>
              <a:t>project_id</a:t>
            </a:r>
            <a:r>
              <a:rPr lang="en-IN" sz="2200" dirty="0"/>
              <a:t>, </a:t>
            </a:r>
            <a:r>
              <a:rPr lang="en-IN" sz="2200" dirty="0" err="1"/>
              <a:t>i_ID</a:t>
            </a:r>
            <a:r>
              <a:rPr lang="en-IN" sz="2200" dirty="0"/>
              <a:t>, </a:t>
            </a:r>
            <a:r>
              <a:rPr lang="en-IN" sz="2200" dirty="0" err="1"/>
              <a:t>evaluation_id</a:t>
            </a:r>
            <a:r>
              <a:rPr lang="en-IN" sz="2200" dirty="0"/>
              <a:t>)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IN" dirty="0"/>
              <a:t>The schema </a:t>
            </a:r>
            <a:r>
              <a:rPr lang="en-IN" dirty="0" err="1"/>
              <a:t>proj_guide</a:t>
            </a:r>
            <a:r>
              <a:rPr lang="en-IN" dirty="0"/>
              <a:t> is redundant.</a:t>
            </a:r>
          </a:p>
          <a:p>
            <a:pPr algn="just"/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166675" y="18892"/>
            <a:ext cx="10515600" cy="1126328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Mapping of Aggregation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77" y="1999299"/>
            <a:ext cx="4522718" cy="36384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1296B-1697-C2E4-5B78-8ECFC73BB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8248" y="2766218"/>
            <a:ext cx="3420035" cy="1325563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8398748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894"/>
            <a:ext cx="10515600" cy="107306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Rule-01: For Strong Entity Set With Only Simple Attributes-</a:t>
            </a:r>
            <a:endParaRPr lang="en-IN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65E5C9-C3B0-E411-BF91-EF935D318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499" y="1437279"/>
            <a:ext cx="5082980" cy="48619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DA46D2-64E3-AC6E-0196-74E343F4CC53}"/>
              </a:ext>
            </a:extLst>
          </p:cNvPr>
          <p:cNvSpPr txBox="1"/>
          <p:nvPr/>
        </p:nvSpPr>
        <p:spPr>
          <a:xfrm>
            <a:off x="8866094" y="4258235"/>
            <a:ext cx="2382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T1: </a:t>
            </a:r>
            <a:r>
              <a:rPr lang="en-US" u="sng" dirty="0" err="1"/>
              <a:t>Roll_no</a:t>
            </a:r>
            <a:r>
              <a:rPr lang="en-US" dirty="0"/>
              <a:t>, Name,  Sex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8AF65-EFB8-28F0-06B6-036D20412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2318" y="44932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Rule-02: For Strong Entity Set With Composite Attributes-</a:t>
            </a:r>
            <a:br>
              <a:rPr lang="en-US" b="1" i="0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5BCEEE-012C-C52F-971C-0283FD329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994" y="1848777"/>
            <a:ext cx="7490012" cy="41164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06FE765-96DE-2B58-E66C-1075CEC6B48D}"/>
              </a:ext>
            </a:extLst>
          </p:cNvPr>
          <p:cNvSpPr txBox="1"/>
          <p:nvPr/>
        </p:nvSpPr>
        <p:spPr>
          <a:xfrm>
            <a:off x="6320118" y="6297778"/>
            <a:ext cx="5865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T1: </a:t>
            </a:r>
            <a:r>
              <a:rPr lang="en-US" u="sng" dirty="0" err="1"/>
              <a:t>Roll_No</a:t>
            </a:r>
            <a:r>
              <a:rPr lang="en-US" dirty="0"/>
              <a:t>, </a:t>
            </a:r>
            <a:r>
              <a:rPr lang="en-US" dirty="0" err="1"/>
              <a:t>First_Name</a:t>
            </a:r>
            <a:r>
              <a:rPr lang="en-US" dirty="0"/>
              <a:t>, </a:t>
            </a:r>
            <a:r>
              <a:rPr lang="en-US" dirty="0" err="1"/>
              <a:t>Last_Name</a:t>
            </a:r>
            <a:r>
              <a:rPr lang="en-US" dirty="0"/>
              <a:t>, </a:t>
            </a:r>
            <a:r>
              <a:rPr lang="en-US" dirty="0" err="1"/>
              <a:t>House_no</a:t>
            </a:r>
            <a:r>
              <a:rPr lang="en-US" dirty="0"/>
              <a:t>, Street, City</a:t>
            </a:r>
          </a:p>
        </p:txBody>
      </p:sp>
    </p:spTree>
    <p:extLst>
      <p:ext uri="{BB962C8B-B14F-4D97-AF65-F5344CB8AC3E}">
        <p14:creationId xmlns:p14="http://schemas.microsoft.com/office/powerpoint/2010/main" val="8989317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34A9D-6C28-6770-9E9B-E43B2418D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Rule-03: For Strong Entity Set With Multi Valued Attributes-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9A9403-D008-DF38-73D0-FC25856E5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46729"/>
            <a:ext cx="10515599" cy="452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5322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D1A78-8E08-C948-2DAC-219E11F3D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Rule-04: Translating Relationship Set into a Table-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89F043-2425-B620-EE24-DD1E9EE09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772" y="1785108"/>
            <a:ext cx="6607113" cy="46181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128E0F-2F69-2BAE-2250-5A00AF87559B}"/>
              </a:ext>
            </a:extLst>
          </p:cNvPr>
          <p:cNvSpPr txBox="1"/>
          <p:nvPr/>
        </p:nvSpPr>
        <p:spPr>
          <a:xfrm>
            <a:off x="5979459" y="4425461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we consider the overall ER diagram, three tables will be required in relational model-</a:t>
            </a:r>
          </a:p>
          <a:p>
            <a:endParaRPr lang="en-US" dirty="0"/>
          </a:p>
          <a:p>
            <a:r>
              <a:rPr lang="en-US" dirty="0"/>
              <a:t>One table for the entity set “Employee”</a:t>
            </a:r>
          </a:p>
          <a:p>
            <a:r>
              <a:rPr lang="en-US" dirty="0"/>
              <a:t>One table for the entity set “Department”</a:t>
            </a:r>
          </a:p>
          <a:p>
            <a:r>
              <a:rPr lang="en-US" dirty="0"/>
              <a:t>One table for the relationship set “Works in”</a:t>
            </a:r>
          </a:p>
        </p:txBody>
      </p:sp>
    </p:spTree>
    <p:extLst>
      <p:ext uri="{BB962C8B-B14F-4D97-AF65-F5344CB8AC3E}">
        <p14:creationId xmlns:p14="http://schemas.microsoft.com/office/powerpoint/2010/main" val="18203321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7CE55-FCB6-1131-7D83-E3A256E5C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Rule-05: For Binary Relationships With Cardinality Ratios-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6982B-D068-E6D5-DB72-E89052C30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US" sz="1800" b="1" i="0" u="sng" dirty="0">
                <a:solidFill>
                  <a:srgbClr val="303030"/>
                </a:solidFill>
                <a:effectLst/>
                <a:latin typeface="Arimo"/>
              </a:rPr>
              <a:t>Case-01: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Binary relationship with cardinality ratio m:n</a:t>
            </a:r>
          </a:p>
          <a:p>
            <a:pPr algn="l" fontAlgn="base"/>
            <a:r>
              <a:rPr lang="en-US" sz="1800" b="1" i="0" u="sng" dirty="0">
                <a:solidFill>
                  <a:srgbClr val="303030"/>
                </a:solidFill>
                <a:effectLst/>
                <a:latin typeface="Arimo"/>
              </a:rPr>
              <a:t>Case-02: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Binary relationship with cardinality ratio 1:n</a:t>
            </a:r>
          </a:p>
          <a:p>
            <a:pPr algn="l" fontAlgn="base"/>
            <a:r>
              <a:rPr lang="en-US" sz="1800" b="1" i="0" u="sng" dirty="0">
                <a:solidFill>
                  <a:srgbClr val="303030"/>
                </a:solidFill>
                <a:effectLst/>
                <a:latin typeface="Arimo"/>
              </a:rPr>
              <a:t>Case-03: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Binary relationship with cardinality ratio m:1</a:t>
            </a:r>
          </a:p>
          <a:p>
            <a:pPr algn="l" fontAlgn="base"/>
            <a:r>
              <a:rPr lang="en-US" sz="1800" b="1" i="0" u="sng" dirty="0">
                <a:solidFill>
                  <a:srgbClr val="303030"/>
                </a:solidFill>
                <a:effectLst/>
                <a:latin typeface="Arimo"/>
              </a:rPr>
              <a:t>Case-04: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Binary relationship with cardinality ratio 1:1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9733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8B920-E983-E7BC-7327-0AD2657A0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Case-01: For Binary Relationship With Cardinality Ratio m:n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EA06A3-AB74-F21D-CBAE-7FA8D9C58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129" y="2413820"/>
            <a:ext cx="6995766" cy="348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1011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E74EB-CFFF-3A94-C607-B22482E5B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Case-02: For Binary Relationship With Cardinality Ratio 1:n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6EAE22-CDEF-7115-5B4F-00551A330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829" y="2234291"/>
            <a:ext cx="6782388" cy="3734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5581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8826C-BA8D-A7CE-53B5-B87571F7E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Case-03: For Binary Relationship With Cardinality Ratio m:1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9D5D10-7672-CB9D-248C-69663E6DA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1101" y="2264773"/>
            <a:ext cx="6599492" cy="367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3008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D1A42-BFCA-D1D4-B9B4-3D75CFDF5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Case-04: For Binary Relationship With Cardinality Ratio 1:1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9AFF53-6DE5-50D9-F3FE-FAC4F509F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944" y="1990165"/>
            <a:ext cx="6828112" cy="439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8734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18892"/>
            <a:ext cx="10515600" cy="1037552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Mapping of N-</a:t>
            </a:r>
            <a:r>
              <a:rPr lang="en-IN" b="1" dirty="0" err="1">
                <a:solidFill>
                  <a:schemeClr val="accent4">
                    <a:lumMod val="50000"/>
                  </a:schemeClr>
                </a:solidFill>
              </a:rPr>
              <a:t>ary</a:t>
            </a:r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 Relationship Types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593" y="2761973"/>
            <a:ext cx="6378867" cy="2173192"/>
          </a:xfrm>
          <a:prstGeom prst="rect">
            <a:avLst/>
          </a:prstGeom>
        </p:spPr>
      </p:pic>
      <p:pic>
        <p:nvPicPr>
          <p:cNvPr id="7" name="Picture 2" descr="fig09_04.jpg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31351" y="1669004"/>
            <a:ext cx="4660540" cy="3994950"/>
          </a:xfr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EAB13-450E-7228-060F-FBE0A57CA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Rule-06: For Binary Relationship With Both Cardinality Constraints and Participation Constraints-</a:t>
            </a:r>
            <a:br>
              <a:rPr lang="en-US" b="1" i="0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9A486-B6E1-A9DE-7A58-1310E9EB4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Case-01: For Binary Relationship With Cardinality Constraint and Total Participation Constraint From One Side-</a:t>
            </a:r>
            <a:endParaRPr lang="en-US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211B32-BF9D-BFFE-34DB-54F822017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248" y="2815875"/>
            <a:ext cx="6820491" cy="377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4044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604FD-495E-BCC7-72A4-AD5185BB3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847" y="93197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Case-02: For Binary Relationship With Cardinality Constraint and Total Participation Constraint From Both Sides-</a:t>
            </a:r>
            <a:br>
              <a:rPr lang="en-US" b="1" i="0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</a:br>
            <a:endParaRPr lang="en-US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97FDC4A3-1051-5DC7-2B2A-8914DE8A83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3DF801CB-85EF-7EA9-6793-EF1DC3358D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B5769BCE-F032-9A55-D53C-64F6F3C866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01ED5D-10C8-98DA-6AED-70D1B8140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93" y="2868842"/>
            <a:ext cx="6683319" cy="203471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86984B4-3890-682F-1A23-BB3C0B931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8814" y="3733800"/>
            <a:ext cx="3947502" cy="88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7204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EDBC5-FC7D-9BCF-FD17-719EA00E6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Rule-07: For Binary Relationship With Weak Entity Set-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E871C9-6DA1-DCC9-CE55-8CEF496CD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0736" y="2003662"/>
            <a:ext cx="6911939" cy="401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475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409" y="18892"/>
            <a:ext cx="10515600" cy="1126328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Mapping of Specialization/Generalization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1012054"/>
            <a:ext cx="7474997" cy="575273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Method 1</a:t>
            </a:r>
            <a:r>
              <a:rPr lang="en-IN" dirty="0"/>
              <a:t>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Form a schema for higher-level entity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Form a schema for each lower-level entity set, include primary key of higher-level entity set and local attributes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IN" dirty="0"/>
          </a:p>
          <a:p>
            <a:pPr lvl="1">
              <a:buFont typeface="Wingdings" panose="05000000000000000000" pitchFamily="2" charset="2"/>
              <a:buChar char="§"/>
            </a:pPr>
            <a:endParaRPr lang="en-IN" dirty="0"/>
          </a:p>
          <a:p>
            <a:pPr lvl="1">
              <a:buFont typeface="Wingdings" panose="05000000000000000000" pitchFamily="2" charset="2"/>
              <a:buChar char="§"/>
            </a:pPr>
            <a:endParaRPr lang="en-IN" dirty="0"/>
          </a:p>
          <a:p>
            <a:pPr lvl="1">
              <a:buFont typeface="Wingdings" panose="05000000000000000000" pitchFamily="2" charset="2"/>
              <a:buChar char="§"/>
            </a:pPr>
            <a:endParaRPr lang="en-IN" dirty="0"/>
          </a:p>
          <a:p>
            <a:pPr lvl="1">
              <a:buFont typeface="Wingdings" panose="05000000000000000000" pitchFamily="2" charset="2"/>
              <a:buChar char="§"/>
            </a:pPr>
            <a:endParaRPr lang="en-IN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>
                <a:ea typeface="MS PGothic" panose="020B0600070205080204" pitchFamily="34" charset="-128"/>
              </a:rPr>
              <a:t>Drawback:  getting information about, an </a:t>
            </a:r>
            <a:r>
              <a:rPr lang="en-US" altLang="en-US" i="1" dirty="0">
                <a:ea typeface="MS PGothic" panose="020B0600070205080204" pitchFamily="34" charset="-128"/>
              </a:rPr>
              <a:t>employee</a:t>
            </a:r>
            <a:r>
              <a:rPr lang="en-US" altLang="en-US" dirty="0">
                <a:ea typeface="MS PGothic" panose="020B0600070205080204" pitchFamily="34" charset="-128"/>
              </a:rPr>
              <a:t> requires accessing two relations, one corresponding to low-level schema and one corresponding to high-level schema.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IN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34794"/>
          <a:stretch/>
        </p:blipFill>
        <p:spPr>
          <a:xfrm>
            <a:off x="937081" y="1478465"/>
            <a:ext cx="3663624" cy="4084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013" y="3189832"/>
            <a:ext cx="3633407" cy="12681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75682" y="985420"/>
            <a:ext cx="6871315" cy="57793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Method 2</a:t>
            </a:r>
            <a:r>
              <a:rPr lang="en-IN" dirty="0"/>
              <a:t>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Form a schema for each entity set with all local and inherited attributes.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IN" dirty="0"/>
          </a:p>
          <a:p>
            <a:pPr lvl="1">
              <a:buFont typeface="Wingdings" panose="05000000000000000000" pitchFamily="2" charset="2"/>
              <a:buChar char="§"/>
            </a:pPr>
            <a:endParaRPr lang="en-IN" dirty="0"/>
          </a:p>
          <a:p>
            <a:pPr lvl="1">
              <a:buFont typeface="Wingdings" panose="05000000000000000000" pitchFamily="2" charset="2"/>
              <a:buChar char="§"/>
            </a:pPr>
            <a:endParaRPr lang="en-IN" dirty="0"/>
          </a:p>
          <a:p>
            <a:pPr lvl="1">
              <a:buFont typeface="Wingdings" panose="05000000000000000000" pitchFamily="2" charset="2"/>
              <a:buChar char="§"/>
            </a:pPr>
            <a:endParaRPr lang="en-IN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>
                <a:ea typeface="MS PGothic" panose="020B0600070205080204" pitchFamily="34" charset="-128"/>
              </a:rPr>
              <a:t>Drawback:  </a:t>
            </a:r>
            <a:r>
              <a:rPr lang="en-US" altLang="en-US" i="1" dirty="0">
                <a:ea typeface="MS PGothic" panose="020B0600070205080204" pitchFamily="34" charset="-128"/>
              </a:rPr>
              <a:t>name, street</a:t>
            </a:r>
            <a:r>
              <a:rPr lang="en-US" altLang="en-US" dirty="0">
                <a:ea typeface="MS PGothic" panose="020B0600070205080204" pitchFamily="34" charset="-128"/>
              </a:rPr>
              <a:t> and </a:t>
            </a:r>
            <a:r>
              <a:rPr lang="en-US" altLang="en-US" i="1" dirty="0">
                <a:ea typeface="MS PGothic" panose="020B0600070205080204" pitchFamily="34" charset="-128"/>
              </a:rPr>
              <a:t>city</a:t>
            </a:r>
            <a:r>
              <a:rPr lang="en-US" altLang="en-US" dirty="0">
                <a:ea typeface="MS PGothic" panose="020B0600070205080204" pitchFamily="34" charset="-128"/>
              </a:rPr>
              <a:t> may be stored redundantly for people who are both students and employees.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IN" dirty="0"/>
          </a:p>
          <a:p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166675" y="18892"/>
            <a:ext cx="10515600" cy="1126328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Mapping of Specialization/Generalization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159" y="1700406"/>
            <a:ext cx="3728623" cy="38531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009" y="2348290"/>
            <a:ext cx="4627999" cy="12649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8139" y="1145220"/>
            <a:ext cx="6223245" cy="5619563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IN" dirty="0"/>
              <a:t>To represent aggregation, create a schema containing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IN" dirty="0"/>
              <a:t>Primary key of the aggregated relationship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IN" dirty="0"/>
              <a:t>Primary key of the associated entity set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IN" dirty="0"/>
              <a:t>Any descriptive attributes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IN" dirty="0"/>
              <a:t>In our example: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IN" dirty="0"/>
              <a:t>Schema </a:t>
            </a:r>
            <a:r>
              <a:rPr lang="en-IN" dirty="0" err="1"/>
              <a:t>eval_for</a:t>
            </a:r>
            <a:r>
              <a:rPr lang="en-IN" dirty="0"/>
              <a:t> is:</a:t>
            </a:r>
          </a:p>
          <a:p>
            <a:pPr marL="0" indent="0" algn="just">
              <a:buNone/>
            </a:pPr>
            <a:r>
              <a:rPr lang="en-IN" sz="2000" dirty="0"/>
              <a:t>              </a:t>
            </a:r>
            <a:r>
              <a:rPr lang="en-IN" sz="2200" dirty="0" err="1"/>
              <a:t>eval_for</a:t>
            </a:r>
            <a:r>
              <a:rPr lang="en-IN" sz="2200" dirty="0"/>
              <a:t> (</a:t>
            </a:r>
            <a:r>
              <a:rPr lang="en-IN" sz="2200" dirty="0" err="1"/>
              <a:t>s_ID</a:t>
            </a:r>
            <a:r>
              <a:rPr lang="en-IN" sz="2200" dirty="0"/>
              <a:t>, </a:t>
            </a:r>
            <a:r>
              <a:rPr lang="en-IN" sz="2200" dirty="0" err="1"/>
              <a:t>project_id</a:t>
            </a:r>
            <a:r>
              <a:rPr lang="en-IN" sz="2200" dirty="0"/>
              <a:t>, </a:t>
            </a:r>
            <a:r>
              <a:rPr lang="en-IN" sz="2200" dirty="0" err="1"/>
              <a:t>i_ID</a:t>
            </a:r>
            <a:r>
              <a:rPr lang="en-IN" sz="2200" dirty="0"/>
              <a:t>, </a:t>
            </a:r>
            <a:r>
              <a:rPr lang="en-IN" sz="2200" dirty="0" err="1"/>
              <a:t>evaluation_id</a:t>
            </a:r>
            <a:r>
              <a:rPr lang="en-IN" sz="2200" dirty="0"/>
              <a:t>)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IN" dirty="0"/>
              <a:t>The schema </a:t>
            </a:r>
            <a:r>
              <a:rPr lang="en-IN" dirty="0" err="1"/>
              <a:t>proj_guide</a:t>
            </a:r>
            <a:r>
              <a:rPr lang="en-IN" dirty="0"/>
              <a:t> is redundant.</a:t>
            </a:r>
          </a:p>
          <a:p>
            <a:pPr algn="just"/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166675" y="18892"/>
            <a:ext cx="10515600" cy="1126328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Mapping of Aggregation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77" y="1999299"/>
            <a:ext cx="4522718" cy="36384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1764</Words>
  <Application>Microsoft Office PowerPoint</Application>
  <PresentationFormat>Widescreen</PresentationFormat>
  <Paragraphs>158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Arial</vt:lpstr>
      <vt:lpstr>Arimo</vt:lpstr>
      <vt:lpstr>Calibri</vt:lpstr>
      <vt:lpstr>Calibri Light</vt:lpstr>
      <vt:lpstr>roboto condensed</vt:lpstr>
      <vt:lpstr>Times New Roman</vt:lpstr>
      <vt:lpstr>Verdana</vt:lpstr>
      <vt:lpstr>Wingdings</vt:lpstr>
      <vt:lpstr>Office Theme</vt:lpstr>
      <vt:lpstr>Reduction of ER Model to Relational Model</vt:lpstr>
      <vt:lpstr>ER-to-Relational Mapping Algorithm</vt:lpstr>
      <vt:lpstr>The ER conceptual schema diagram for the COMPANY database</vt:lpstr>
      <vt:lpstr>Mapping of Regular Entity Types</vt:lpstr>
      <vt:lpstr>Mapping of Regular Entity Types</vt:lpstr>
      <vt:lpstr>Mapping of Weak Entity Types</vt:lpstr>
      <vt:lpstr>Mapping of Weak Entity Types</vt:lpstr>
      <vt:lpstr>Mapping of Binary 1:1 Relationship Types</vt:lpstr>
      <vt:lpstr>Mapping of Binary 1:1 Relationship Types</vt:lpstr>
      <vt:lpstr>Mapping of Binary 1:N Relationship Types</vt:lpstr>
      <vt:lpstr>Mapping of Binary M:N Relationship Types</vt:lpstr>
      <vt:lpstr>Mapping of Multivalued attributes</vt:lpstr>
      <vt:lpstr>Mapping of N-ary Relationship Types</vt:lpstr>
      <vt:lpstr>Mapping of N-ary Relationship Types</vt:lpstr>
      <vt:lpstr>Correspondence between ER and Relational Models</vt:lpstr>
      <vt:lpstr>Mapping of Specialization/Generalization </vt:lpstr>
      <vt:lpstr>Mapping of Specialization/Generalization</vt:lpstr>
      <vt:lpstr>Mapping of Aggregation</vt:lpstr>
      <vt:lpstr>Examples</vt:lpstr>
      <vt:lpstr>Rule-01: For Strong Entity Set With Only Simple Attributes-</vt:lpstr>
      <vt:lpstr>Rule-02: For Strong Entity Set With Composite Attributes- </vt:lpstr>
      <vt:lpstr>Rule-03: For Strong Entity Set With Multi Valued Attributes-</vt:lpstr>
      <vt:lpstr>Rule-04: Translating Relationship Set into a Table-</vt:lpstr>
      <vt:lpstr>Rule-05: For Binary Relationships With Cardinality Ratios-</vt:lpstr>
      <vt:lpstr>Case-01: For Binary Relationship With Cardinality Ratio m:n</vt:lpstr>
      <vt:lpstr>Case-02: For Binary Relationship With Cardinality Ratio 1:n</vt:lpstr>
      <vt:lpstr>Case-03: For Binary Relationship With Cardinality Ratio m:1</vt:lpstr>
      <vt:lpstr>Case-04: For Binary Relationship With Cardinality Ratio 1:1</vt:lpstr>
      <vt:lpstr>Mapping of N-ary Relationship Types</vt:lpstr>
      <vt:lpstr>Rule-06: For Binary Relationship With Both Cardinality Constraints and Participation Constraints- </vt:lpstr>
      <vt:lpstr>Case-02: For Binary Relationship With Cardinality Constraint and Total Participation Constraint From Both Sides- </vt:lpstr>
      <vt:lpstr>Rule-07: For Binary Relationship With Weak Entity Set-</vt:lpstr>
      <vt:lpstr>Mapping of Specialization/Generalization </vt:lpstr>
      <vt:lpstr>Mapping of Specialization/Generalization</vt:lpstr>
      <vt:lpstr>Mapping of Aggregation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Reduction of ER Model to Relational Model</dc:title>
  <dc:creator>PRATIK ROY</dc:creator>
  <cp:lastModifiedBy>Kanishk Patel</cp:lastModifiedBy>
  <cp:revision>25</cp:revision>
  <dcterms:created xsi:type="dcterms:W3CDTF">2021-10-06T02:10:00Z</dcterms:created>
  <dcterms:modified xsi:type="dcterms:W3CDTF">2022-10-09T16:50:11Z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49645E07B7DA41B580BC6072B0500E9A</vt:lpwstr>
  </property>
  <property fmtid="{D5CDD505-2E9C-101B-9397-08002B2CF9AE}" pid="3" name="KSOProductBuildVer">
    <vt:lpwstr>1033-11.2.0.10463</vt:lpwstr>
  </property>
</Properties>
</file>