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6"/>
  </p:notesMasterIdLst>
  <p:handoutMasterIdLst>
    <p:handoutMasterId r:id="rId37"/>
  </p:handoutMasterIdLst>
  <p:sldIdLst>
    <p:sldId id="438" r:id="rId2"/>
    <p:sldId id="440" r:id="rId3"/>
    <p:sldId id="486" r:id="rId4"/>
    <p:sldId id="487" r:id="rId5"/>
    <p:sldId id="475" r:id="rId6"/>
    <p:sldId id="476" r:id="rId7"/>
    <p:sldId id="441" r:id="rId8"/>
    <p:sldId id="443" r:id="rId9"/>
    <p:sldId id="444" r:id="rId10"/>
    <p:sldId id="445" r:id="rId11"/>
    <p:sldId id="446" r:id="rId12"/>
    <p:sldId id="474" r:id="rId13"/>
    <p:sldId id="477" r:id="rId14"/>
    <p:sldId id="450" r:id="rId15"/>
    <p:sldId id="451" r:id="rId16"/>
    <p:sldId id="478" r:id="rId17"/>
    <p:sldId id="484" r:id="rId18"/>
    <p:sldId id="485" r:id="rId19"/>
    <p:sldId id="453" r:id="rId20"/>
    <p:sldId id="479" r:id="rId21"/>
    <p:sldId id="480" r:id="rId22"/>
    <p:sldId id="454" r:id="rId23"/>
    <p:sldId id="481" r:id="rId24"/>
    <p:sldId id="482" r:id="rId25"/>
    <p:sldId id="483" r:id="rId26"/>
    <p:sldId id="433" r:id="rId27"/>
    <p:sldId id="434" r:id="rId28"/>
    <p:sldId id="488" r:id="rId29"/>
    <p:sldId id="489" r:id="rId30"/>
    <p:sldId id="491" r:id="rId31"/>
    <p:sldId id="492" r:id="rId32"/>
    <p:sldId id="490" r:id="rId33"/>
    <p:sldId id="494" r:id="rId34"/>
    <p:sldId id="493" r:id="rId35"/>
  </p:sldIdLst>
  <p:sldSz cx="9144000" cy="6858000" type="screen4x3"/>
  <p:notesSz cx="6997700" cy="9283700"/>
  <p:custShowLst>
    <p:custShow name="Custom Show 1" id="0">
      <p:sldLst/>
    </p:custShow>
  </p:custShowLst>
  <p:defaultTex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707">
          <p15:clr>
            <a:srgbClr val="A4A3A4"/>
          </p15:clr>
        </p15:guide>
        <p15:guide id="2" pos="57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33"/>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844" autoAdjust="0"/>
    <p:restoredTop sz="94737" autoAdjust="0"/>
  </p:normalViewPr>
  <p:slideViewPr>
    <p:cSldViewPr snapToGrid="0">
      <p:cViewPr varScale="1">
        <p:scale>
          <a:sx n="81" d="100"/>
          <a:sy n="81" d="100"/>
        </p:scale>
        <p:origin x="1349" y="43"/>
      </p:cViewPr>
      <p:guideLst>
        <p:guide orient="horz" pos="707"/>
        <p:guide pos="5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615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7266" name="Rectangle 2">
            <a:extLst>
              <a:ext uri="{FF2B5EF4-FFF2-40B4-BE49-F238E27FC236}">
                <a16:creationId xmlns:a16="http://schemas.microsoft.com/office/drawing/2014/main" id="{C6EF5354-BFFB-44DF-8FA7-1A088153BD87}"/>
              </a:ext>
            </a:extLst>
          </p:cNvPr>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67267" name="Rectangle 3">
            <a:extLst>
              <a:ext uri="{FF2B5EF4-FFF2-40B4-BE49-F238E27FC236}">
                <a16:creationId xmlns:a16="http://schemas.microsoft.com/office/drawing/2014/main" id="{5BBF6CF9-ADFE-4F6E-89A0-8CB582D8FFC5}"/>
              </a:ext>
            </a:extLst>
          </p:cNvPr>
          <p:cNvSpPr>
            <a:spLocks noGrp="1" noChangeArrowheads="1"/>
          </p:cNvSpPr>
          <p:nvPr>
            <p:ph type="dt" sz="quarter" idx="1"/>
          </p:nvPr>
        </p:nvSpPr>
        <p:spPr bwMode="auto">
          <a:xfrm>
            <a:off x="3965575" y="0"/>
            <a:ext cx="3032125" cy="463550"/>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lvl1pPr algn="r" defTabSz="930275">
              <a:defRPr sz="1300">
                <a:latin typeface="Helvetica" charset="0"/>
                <a:ea typeface="+mn-ea"/>
                <a:cs typeface="+mn-cs"/>
              </a:defRPr>
            </a:lvl1pPr>
          </a:lstStyle>
          <a:p>
            <a:pPr>
              <a:defRPr/>
            </a:pPr>
            <a:endParaRPr lang="en-US"/>
          </a:p>
        </p:txBody>
      </p:sp>
      <p:sp>
        <p:nvSpPr>
          <p:cNvPr id="267268" name="Rectangle 4">
            <a:extLst>
              <a:ext uri="{FF2B5EF4-FFF2-40B4-BE49-F238E27FC236}">
                <a16:creationId xmlns:a16="http://schemas.microsoft.com/office/drawing/2014/main" id="{8C120FC7-7BCE-4696-BB5D-C087861E4B4E}"/>
              </a:ext>
            </a:extLst>
          </p:cNvPr>
          <p:cNvSpPr>
            <a:spLocks noGrp="1" noChangeArrowheads="1"/>
          </p:cNvSpPr>
          <p:nvPr>
            <p:ph type="ftr" sz="quarter" idx="2"/>
          </p:nvPr>
        </p:nvSpPr>
        <p:spPr bwMode="auto">
          <a:xfrm>
            <a:off x="0" y="8820150"/>
            <a:ext cx="3032125" cy="463550"/>
          </a:xfrm>
          <a:prstGeom prst="rect">
            <a:avLst/>
          </a:prstGeom>
          <a:noFill/>
          <a:ln w="9525">
            <a:noFill/>
            <a:miter lim="800000"/>
            <a:headEnd/>
            <a:tailEnd/>
          </a:ln>
          <a:effectLst/>
        </p:spPr>
        <p:txBody>
          <a:bodyPr vert="horz" wrap="square" lIns="93027" tIns="46514" rIns="93027" bIns="46514" numCol="1" anchor="b"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67269" name="Rectangle 5">
            <a:extLst>
              <a:ext uri="{FF2B5EF4-FFF2-40B4-BE49-F238E27FC236}">
                <a16:creationId xmlns:a16="http://schemas.microsoft.com/office/drawing/2014/main" id="{6735A123-7D3E-455E-AB82-1C3749BB052A}"/>
              </a:ext>
            </a:extLst>
          </p:cNvPr>
          <p:cNvSpPr>
            <a:spLocks noGrp="1" noChangeArrowheads="1"/>
          </p:cNvSpPr>
          <p:nvPr>
            <p:ph type="sldNum" sz="quarter" idx="3"/>
          </p:nvPr>
        </p:nvSpPr>
        <p:spPr bwMode="auto">
          <a:xfrm>
            <a:off x="3965575" y="8820150"/>
            <a:ext cx="3032125" cy="463550"/>
          </a:xfrm>
          <a:prstGeom prst="rect">
            <a:avLst/>
          </a:prstGeom>
          <a:noFill/>
          <a:ln w="9525">
            <a:noFill/>
            <a:miter lim="800000"/>
            <a:headEnd/>
            <a:tailEnd/>
          </a:ln>
          <a:effectLst/>
        </p:spPr>
        <p:txBody>
          <a:bodyPr vert="horz" wrap="square" lIns="93027" tIns="46514" rIns="93027" bIns="46514" numCol="1" anchor="b" anchorCtr="0" compatLnSpc="1">
            <a:prstTxWarp prst="textNoShape">
              <a:avLst/>
            </a:prstTxWarp>
          </a:bodyPr>
          <a:lstStyle>
            <a:lvl1pPr algn="r" defTabSz="930275">
              <a:defRPr sz="1300"/>
            </a:lvl1pPr>
          </a:lstStyle>
          <a:p>
            <a:pPr>
              <a:defRPr/>
            </a:pPr>
            <a:fld id="{A8B4C920-550B-4EA7-9CB5-2D8883A273BF}"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2E8AF117-EF14-4BF3-AB7D-D75C4F934CCD}"/>
              </a:ext>
            </a:extLst>
          </p:cNvPr>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none" lIns="93027" tIns="46514" rIns="93027" bIns="46514" numCol="1" anchor="t"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40643" name="Rectangle 3">
            <a:extLst>
              <a:ext uri="{FF2B5EF4-FFF2-40B4-BE49-F238E27FC236}">
                <a16:creationId xmlns:a16="http://schemas.microsoft.com/office/drawing/2014/main" id="{D7D2DA5C-BED3-45D1-AFD2-94AF29863ABC}"/>
              </a:ext>
            </a:extLst>
          </p:cNvPr>
          <p:cNvSpPr>
            <a:spLocks noGrp="1" noChangeArrowheads="1"/>
          </p:cNvSpPr>
          <p:nvPr>
            <p:ph type="dt" idx="1"/>
          </p:nvPr>
        </p:nvSpPr>
        <p:spPr bwMode="auto">
          <a:xfrm>
            <a:off x="3965575" y="0"/>
            <a:ext cx="3032125" cy="463550"/>
          </a:xfrm>
          <a:prstGeom prst="rect">
            <a:avLst/>
          </a:prstGeom>
          <a:noFill/>
          <a:ln w="9525">
            <a:noFill/>
            <a:miter lim="800000"/>
            <a:headEnd/>
            <a:tailEnd/>
          </a:ln>
          <a:effectLst/>
        </p:spPr>
        <p:txBody>
          <a:bodyPr vert="horz" wrap="none" lIns="93027" tIns="46514" rIns="93027" bIns="46514" numCol="1" anchor="t" anchorCtr="0" compatLnSpc="1">
            <a:prstTxWarp prst="textNoShape">
              <a:avLst/>
            </a:prstTxWarp>
          </a:bodyPr>
          <a:lstStyle>
            <a:lvl1pPr algn="r" defTabSz="930275">
              <a:defRPr sz="1300">
                <a:latin typeface="Helvetica" charset="0"/>
                <a:ea typeface="+mn-ea"/>
                <a:cs typeface="+mn-cs"/>
              </a:defRPr>
            </a:lvl1pPr>
          </a:lstStyle>
          <a:p>
            <a:pPr>
              <a:defRPr/>
            </a:pPr>
            <a:endParaRPr lang="en-US"/>
          </a:p>
        </p:txBody>
      </p:sp>
      <p:sp>
        <p:nvSpPr>
          <p:cNvPr id="3076" name="Rectangle 4">
            <a:extLst>
              <a:ext uri="{FF2B5EF4-FFF2-40B4-BE49-F238E27FC236}">
                <a16:creationId xmlns:a16="http://schemas.microsoft.com/office/drawing/2014/main" id="{A2936E5F-4C9B-4144-9261-C3F188AA67D9}"/>
              </a:ext>
            </a:extLst>
          </p:cNvPr>
          <p:cNvSpPr>
            <a:spLocks noGrp="1" noRot="1" noChangeAspect="1" noChangeArrowheads="1" noTextEdit="1"/>
          </p:cNvSpPr>
          <p:nvPr>
            <p:ph type="sldImg" idx="2"/>
          </p:nvPr>
        </p:nvSpPr>
        <p:spPr bwMode="auto">
          <a:xfrm>
            <a:off x="1177925" y="696913"/>
            <a:ext cx="4641850" cy="34813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0645" name="Rectangle 5">
            <a:extLst>
              <a:ext uri="{FF2B5EF4-FFF2-40B4-BE49-F238E27FC236}">
                <a16:creationId xmlns:a16="http://schemas.microsoft.com/office/drawing/2014/main" id="{D73F14C5-05F8-4300-9D01-F3633C854740}"/>
              </a:ext>
            </a:extLst>
          </p:cNvPr>
          <p:cNvSpPr>
            <a:spLocks noGrp="1" noChangeArrowheads="1"/>
          </p:cNvSpPr>
          <p:nvPr>
            <p:ph type="body" sz="quarter" idx="3"/>
          </p:nvPr>
        </p:nvSpPr>
        <p:spPr bwMode="auto">
          <a:xfrm>
            <a:off x="931863" y="4410075"/>
            <a:ext cx="5133975" cy="4176713"/>
          </a:xfrm>
          <a:prstGeom prst="rect">
            <a:avLst/>
          </a:prstGeom>
          <a:noFill/>
          <a:ln w="9525">
            <a:noFill/>
            <a:miter lim="800000"/>
            <a:headEnd/>
            <a:tailEnd/>
          </a:ln>
          <a:effectLst/>
        </p:spPr>
        <p:txBody>
          <a:bodyPr vert="horz" wrap="none" lIns="93027" tIns="46514" rIns="93027" bIns="4651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40646" name="Rectangle 6">
            <a:extLst>
              <a:ext uri="{FF2B5EF4-FFF2-40B4-BE49-F238E27FC236}">
                <a16:creationId xmlns:a16="http://schemas.microsoft.com/office/drawing/2014/main" id="{BCB6CAD9-A006-4455-8054-9CACB290288C}"/>
              </a:ext>
            </a:extLst>
          </p:cNvPr>
          <p:cNvSpPr>
            <a:spLocks noGrp="1" noChangeArrowheads="1"/>
          </p:cNvSpPr>
          <p:nvPr>
            <p:ph type="ftr" sz="quarter" idx="4"/>
          </p:nvPr>
        </p:nvSpPr>
        <p:spPr bwMode="auto">
          <a:xfrm>
            <a:off x="0" y="8820150"/>
            <a:ext cx="3032125" cy="463550"/>
          </a:xfrm>
          <a:prstGeom prst="rect">
            <a:avLst/>
          </a:prstGeom>
          <a:noFill/>
          <a:ln w="9525">
            <a:noFill/>
            <a:miter lim="800000"/>
            <a:headEnd/>
            <a:tailEnd/>
          </a:ln>
          <a:effectLst/>
        </p:spPr>
        <p:txBody>
          <a:bodyPr vert="horz" wrap="none" lIns="93027" tIns="46514" rIns="93027" bIns="46514" numCol="1" anchor="b"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40647" name="Rectangle 7">
            <a:extLst>
              <a:ext uri="{FF2B5EF4-FFF2-40B4-BE49-F238E27FC236}">
                <a16:creationId xmlns:a16="http://schemas.microsoft.com/office/drawing/2014/main" id="{63060AD7-0C3D-477B-BD60-55C8EBDB9451}"/>
              </a:ext>
            </a:extLst>
          </p:cNvPr>
          <p:cNvSpPr>
            <a:spLocks noGrp="1" noChangeArrowheads="1"/>
          </p:cNvSpPr>
          <p:nvPr>
            <p:ph type="sldNum" sz="quarter" idx="5"/>
          </p:nvPr>
        </p:nvSpPr>
        <p:spPr bwMode="auto">
          <a:xfrm>
            <a:off x="3965575" y="8820150"/>
            <a:ext cx="3032125" cy="463550"/>
          </a:xfrm>
          <a:prstGeom prst="rect">
            <a:avLst/>
          </a:prstGeom>
          <a:noFill/>
          <a:ln w="9525">
            <a:noFill/>
            <a:miter lim="800000"/>
            <a:headEnd/>
            <a:tailEnd/>
          </a:ln>
          <a:effectLst/>
        </p:spPr>
        <p:txBody>
          <a:bodyPr vert="horz" wrap="none" lIns="93027" tIns="46514" rIns="93027" bIns="46514" numCol="1" anchor="b" anchorCtr="0" compatLnSpc="1">
            <a:prstTxWarp prst="textNoShape">
              <a:avLst/>
            </a:prstTxWarp>
          </a:bodyPr>
          <a:lstStyle>
            <a:lvl1pPr algn="r" defTabSz="930275">
              <a:defRPr sz="1300"/>
            </a:lvl1pPr>
          </a:lstStyle>
          <a:p>
            <a:pPr>
              <a:defRPr/>
            </a:pPr>
            <a:fld id="{AE66C03C-4B0E-4149-8287-A3B340EB818D}"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6A48278F-1CF2-4C20-9F87-85520FC94509}" type="slidenum">
              <a:rPr lang="en-US" altLang="en-US" sz="1200"/>
              <a:pPr/>
              <a:t>2</a:t>
            </a:fld>
            <a:endParaRPr lang="en-US" altLang="en-US" sz="1200"/>
          </a:p>
        </p:txBody>
      </p:sp>
      <p:sp>
        <p:nvSpPr>
          <p:cNvPr id="111619" name="Rectangle 2"/>
          <p:cNvSpPr>
            <a:spLocks noGrp="1" noRot="1" noChangeAspect="1" noChangeArrowheads="1" noTextEdit="1"/>
          </p:cNvSpPr>
          <p:nvPr>
            <p:ph type="sldImg"/>
          </p:nvPr>
        </p:nvSpPr>
        <p:spPr>
          <a:xfrm>
            <a:off x="1177925" y="695325"/>
            <a:ext cx="4641850" cy="3481388"/>
          </a:xfrm>
          <a:ln/>
        </p:spPr>
      </p:sp>
      <p:sp>
        <p:nvSpPr>
          <p:cNvPr id="111620" name="Rectangle 3"/>
          <p:cNvSpPr>
            <a:spLocks noGrp="1" noChangeArrowheads="1"/>
          </p:cNvSpPr>
          <p:nvPr>
            <p:ph type="body" idx="1"/>
          </p:nvPr>
        </p:nvSpPr>
        <p:spPr>
          <a:xfrm>
            <a:off x="931414" y="4410392"/>
            <a:ext cx="5134874"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3589042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A844FD9B-FA56-471A-AC29-AFD38B132615}" type="slidenum">
              <a:rPr lang="en-US" altLang="en-US" sz="1200"/>
              <a:pPr/>
              <a:t>7</a:t>
            </a:fld>
            <a:endParaRPr lang="en-US" altLang="en-US" sz="1200"/>
          </a:p>
        </p:txBody>
      </p:sp>
      <p:sp>
        <p:nvSpPr>
          <p:cNvPr id="112643" name="Rectangle 2"/>
          <p:cNvSpPr>
            <a:spLocks noGrp="1" noRot="1" noChangeAspect="1" noChangeArrowheads="1" noTextEdit="1"/>
          </p:cNvSpPr>
          <p:nvPr>
            <p:ph type="sldImg"/>
          </p:nvPr>
        </p:nvSpPr>
        <p:spPr>
          <a:xfrm>
            <a:off x="1177925" y="695325"/>
            <a:ext cx="4641850" cy="3481388"/>
          </a:xfrm>
          <a:ln/>
        </p:spPr>
      </p:sp>
      <p:sp>
        <p:nvSpPr>
          <p:cNvPr id="112644" name="Rectangle 3"/>
          <p:cNvSpPr>
            <a:spLocks noGrp="1" noChangeArrowheads="1"/>
          </p:cNvSpPr>
          <p:nvPr>
            <p:ph type="body" idx="1"/>
          </p:nvPr>
        </p:nvSpPr>
        <p:spPr>
          <a:xfrm>
            <a:off x="931414" y="4410392"/>
            <a:ext cx="5134874"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1465890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921C07DE-DA20-4217-B91C-55FA724E7BD2}" type="slidenum">
              <a:rPr lang="en-US" altLang="en-US" sz="1200"/>
              <a:pPr/>
              <a:t>8</a:t>
            </a:fld>
            <a:endParaRPr lang="en-US" altLang="en-US" sz="1200"/>
          </a:p>
        </p:txBody>
      </p:sp>
      <p:sp>
        <p:nvSpPr>
          <p:cNvPr id="114691" name="Rectangle 2"/>
          <p:cNvSpPr>
            <a:spLocks noGrp="1" noRot="1" noChangeAspect="1" noChangeArrowheads="1" noTextEdit="1"/>
          </p:cNvSpPr>
          <p:nvPr>
            <p:ph type="sldImg"/>
          </p:nvPr>
        </p:nvSpPr>
        <p:spPr>
          <a:xfrm>
            <a:off x="1177925" y="695325"/>
            <a:ext cx="4641850" cy="3481388"/>
          </a:xfrm>
          <a:ln/>
        </p:spPr>
      </p:sp>
      <p:sp>
        <p:nvSpPr>
          <p:cNvPr id="114692" name="Rectangle 3"/>
          <p:cNvSpPr>
            <a:spLocks noGrp="1" noChangeArrowheads="1"/>
          </p:cNvSpPr>
          <p:nvPr>
            <p:ph type="body" idx="1"/>
          </p:nvPr>
        </p:nvSpPr>
        <p:spPr>
          <a:xfrm>
            <a:off x="931414" y="4410392"/>
            <a:ext cx="5134874"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012834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D17C4D0E-10BE-41E0-A0AF-FD2B0011F8A3}" type="slidenum">
              <a:rPr lang="en-US" altLang="en-US" sz="1200"/>
              <a:pPr/>
              <a:t>9</a:t>
            </a:fld>
            <a:endParaRPr lang="en-US" altLang="en-US" sz="1200"/>
          </a:p>
        </p:txBody>
      </p:sp>
      <p:sp>
        <p:nvSpPr>
          <p:cNvPr id="115715" name="Rectangle 2"/>
          <p:cNvSpPr>
            <a:spLocks noGrp="1" noRot="1" noChangeAspect="1" noChangeArrowheads="1" noTextEdit="1"/>
          </p:cNvSpPr>
          <p:nvPr>
            <p:ph type="sldImg"/>
          </p:nvPr>
        </p:nvSpPr>
        <p:spPr>
          <a:xfrm>
            <a:off x="1177925" y="695325"/>
            <a:ext cx="4641850" cy="3481388"/>
          </a:xfrm>
          <a:ln/>
        </p:spPr>
      </p:sp>
      <p:sp>
        <p:nvSpPr>
          <p:cNvPr id="115716" name="Rectangle 3"/>
          <p:cNvSpPr>
            <a:spLocks noGrp="1" noChangeArrowheads="1"/>
          </p:cNvSpPr>
          <p:nvPr>
            <p:ph type="body" idx="1"/>
          </p:nvPr>
        </p:nvSpPr>
        <p:spPr>
          <a:xfrm>
            <a:off x="931414" y="4410392"/>
            <a:ext cx="5134874"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5124943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415C7E4C-29A1-4ED6-8D81-6DB7BB775B79}" type="slidenum">
              <a:rPr lang="en-US" altLang="en-US" sz="1200"/>
              <a:pPr/>
              <a:t>10</a:t>
            </a:fld>
            <a:endParaRPr lang="en-US" altLang="en-US" sz="1200"/>
          </a:p>
        </p:txBody>
      </p:sp>
      <p:sp>
        <p:nvSpPr>
          <p:cNvPr id="116739" name="Rectangle 2"/>
          <p:cNvSpPr>
            <a:spLocks noGrp="1" noRot="1" noChangeAspect="1" noChangeArrowheads="1" noTextEdit="1"/>
          </p:cNvSpPr>
          <p:nvPr>
            <p:ph type="sldImg"/>
          </p:nvPr>
        </p:nvSpPr>
        <p:spPr>
          <a:xfrm>
            <a:off x="1177925" y="695325"/>
            <a:ext cx="4641850" cy="3481388"/>
          </a:xfrm>
          <a:ln/>
        </p:spPr>
      </p:sp>
      <p:sp>
        <p:nvSpPr>
          <p:cNvPr id="116740" name="Rectangle 3"/>
          <p:cNvSpPr>
            <a:spLocks noGrp="1" noChangeArrowheads="1"/>
          </p:cNvSpPr>
          <p:nvPr>
            <p:ph type="body" idx="1"/>
          </p:nvPr>
        </p:nvSpPr>
        <p:spPr>
          <a:xfrm>
            <a:off x="931414" y="4410392"/>
            <a:ext cx="5134874"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2815586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8AAEC5DC-5E4F-4639-8D2D-6BB23BF9650E}" type="slidenum">
              <a:rPr lang="en-US" altLang="en-US" sz="1200"/>
              <a:pPr/>
              <a:t>11</a:t>
            </a:fld>
            <a:endParaRPr lang="en-US" altLang="en-US" sz="1200"/>
          </a:p>
        </p:txBody>
      </p:sp>
      <p:sp>
        <p:nvSpPr>
          <p:cNvPr id="117763" name="Rectangle 2"/>
          <p:cNvSpPr>
            <a:spLocks noGrp="1" noRot="1" noChangeAspect="1" noChangeArrowheads="1" noTextEdit="1"/>
          </p:cNvSpPr>
          <p:nvPr>
            <p:ph type="sldImg"/>
          </p:nvPr>
        </p:nvSpPr>
        <p:spPr>
          <a:xfrm>
            <a:off x="1176338" y="693738"/>
            <a:ext cx="4643437" cy="3482975"/>
          </a:xfrm>
          <a:ln/>
        </p:spPr>
      </p:sp>
      <p:sp>
        <p:nvSpPr>
          <p:cNvPr id="117764" name="Rectangle 3"/>
          <p:cNvSpPr>
            <a:spLocks noGrp="1" noChangeArrowheads="1"/>
          </p:cNvSpPr>
          <p:nvPr>
            <p:ph type="body" idx="1"/>
          </p:nvPr>
        </p:nvSpPr>
        <p:spPr>
          <a:xfrm>
            <a:off x="931414" y="4410392"/>
            <a:ext cx="5134874" cy="417893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6459046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94B50642-8067-4638-B2FE-15C691E00756}" type="slidenum">
              <a:rPr lang="en-US" altLang="en-US" sz="1200"/>
              <a:pPr/>
              <a:t>14</a:t>
            </a:fld>
            <a:endParaRPr lang="en-US" altLang="en-US" sz="1200"/>
          </a:p>
        </p:txBody>
      </p:sp>
      <p:sp>
        <p:nvSpPr>
          <p:cNvPr id="121859" name="Rectangle 2"/>
          <p:cNvSpPr>
            <a:spLocks noGrp="1" noRot="1" noChangeAspect="1" noChangeArrowheads="1" noTextEdit="1"/>
          </p:cNvSpPr>
          <p:nvPr>
            <p:ph type="sldImg"/>
          </p:nvPr>
        </p:nvSpPr>
        <p:spPr>
          <a:xfrm>
            <a:off x="1177925" y="695325"/>
            <a:ext cx="4641850" cy="3481388"/>
          </a:xfrm>
          <a:ln/>
        </p:spPr>
      </p:sp>
      <p:sp>
        <p:nvSpPr>
          <p:cNvPr id="121860" name="Rectangle 3"/>
          <p:cNvSpPr>
            <a:spLocks noGrp="1" noChangeArrowheads="1"/>
          </p:cNvSpPr>
          <p:nvPr>
            <p:ph type="body" idx="1"/>
          </p:nvPr>
        </p:nvSpPr>
        <p:spPr>
          <a:xfrm>
            <a:off x="931414" y="4410392"/>
            <a:ext cx="5134874"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5430918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FCC9CF2-4998-4C05-A98D-CC655C386950}" type="slidenum">
              <a:rPr lang="en-US" altLang="en-US" sz="1200"/>
              <a:pPr/>
              <a:t>15</a:t>
            </a:fld>
            <a:endParaRPr lang="en-US" altLang="en-US" sz="1200"/>
          </a:p>
        </p:txBody>
      </p:sp>
      <p:sp>
        <p:nvSpPr>
          <p:cNvPr id="122883" name="Rectangle 2"/>
          <p:cNvSpPr>
            <a:spLocks noGrp="1" noRot="1" noChangeAspect="1" noChangeArrowheads="1" noTextEdit="1"/>
          </p:cNvSpPr>
          <p:nvPr>
            <p:ph type="sldImg"/>
          </p:nvPr>
        </p:nvSpPr>
        <p:spPr>
          <a:xfrm>
            <a:off x="1177925" y="695325"/>
            <a:ext cx="4641850" cy="3481388"/>
          </a:xfrm>
          <a:ln/>
        </p:spPr>
      </p:sp>
      <p:sp>
        <p:nvSpPr>
          <p:cNvPr id="122884" name="Rectangle 3"/>
          <p:cNvSpPr>
            <a:spLocks noGrp="1" noChangeArrowheads="1"/>
          </p:cNvSpPr>
          <p:nvPr>
            <p:ph type="body" idx="1"/>
          </p:nvPr>
        </p:nvSpPr>
        <p:spPr>
          <a:xfrm>
            <a:off x="931414" y="4410392"/>
            <a:ext cx="5134874"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186925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4C0684B9-9744-4E13-BCE3-67E4D5AC52B7}" type="slidenum">
              <a:rPr lang="en-US" altLang="en-US" sz="1200"/>
              <a:pPr/>
              <a:t>19</a:t>
            </a:fld>
            <a:endParaRPr lang="en-US" altLang="en-US" sz="1200"/>
          </a:p>
        </p:txBody>
      </p:sp>
      <p:sp>
        <p:nvSpPr>
          <p:cNvPr id="124931" name="Rectangle 2"/>
          <p:cNvSpPr>
            <a:spLocks noGrp="1" noRot="1" noChangeAspect="1" noChangeArrowheads="1" noTextEdit="1"/>
          </p:cNvSpPr>
          <p:nvPr>
            <p:ph type="sldImg"/>
          </p:nvPr>
        </p:nvSpPr>
        <p:spPr>
          <a:xfrm>
            <a:off x="1177925" y="695325"/>
            <a:ext cx="4641850" cy="3481388"/>
          </a:xfrm>
          <a:ln/>
        </p:spPr>
      </p:sp>
      <p:sp>
        <p:nvSpPr>
          <p:cNvPr id="124932" name="Rectangle 3"/>
          <p:cNvSpPr>
            <a:spLocks noGrp="1" noChangeArrowheads="1"/>
          </p:cNvSpPr>
          <p:nvPr>
            <p:ph type="body" idx="1"/>
          </p:nvPr>
        </p:nvSpPr>
        <p:spPr>
          <a:xfrm>
            <a:off x="931414" y="4410392"/>
            <a:ext cx="5134874"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7145073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AE66C03C-4B0E-4149-8287-A3B340EB818D}" type="slidenum">
              <a:rPr lang="en-US" altLang="en-US" smtClean="0"/>
              <a:pPr>
                <a:defRPr/>
              </a:pPr>
              <a:t>20</a:t>
            </a:fld>
            <a:endParaRPr lang="en-US" altLang="en-US"/>
          </a:p>
        </p:txBody>
      </p:sp>
    </p:spTree>
    <p:extLst>
      <p:ext uri="{BB962C8B-B14F-4D97-AF65-F5344CB8AC3E}">
        <p14:creationId xmlns:p14="http://schemas.microsoft.com/office/powerpoint/2010/main" val="26763370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A5911C6D-C523-432C-89F4-406A63F7E4F9}" type="slidenum">
              <a:rPr lang="en-US" altLang="en-US" sz="1200"/>
              <a:pPr/>
              <a:t>22</a:t>
            </a:fld>
            <a:endParaRPr lang="en-US" altLang="en-US" sz="1200"/>
          </a:p>
        </p:txBody>
      </p:sp>
      <p:sp>
        <p:nvSpPr>
          <p:cNvPr id="125955" name="Rectangle 2"/>
          <p:cNvSpPr>
            <a:spLocks noGrp="1" noRot="1" noChangeAspect="1" noChangeArrowheads="1" noTextEdit="1"/>
          </p:cNvSpPr>
          <p:nvPr>
            <p:ph type="sldImg"/>
          </p:nvPr>
        </p:nvSpPr>
        <p:spPr>
          <a:xfrm>
            <a:off x="1177925" y="695325"/>
            <a:ext cx="4641850" cy="3481388"/>
          </a:xfrm>
          <a:ln/>
        </p:spPr>
      </p:sp>
      <p:sp>
        <p:nvSpPr>
          <p:cNvPr id="125956" name="Rectangle 3"/>
          <p:cNvSpPr>
            <a:spLocks noGrp="1" noChangeArrowheads="1"/>
          </p:cNvSpPr>
          <p:nvPr>
            <p:ph type="body" idx="1"/>
          </p:nvPr>
        </p:nvSpPr>
        <p:spPr>
          <a:xfrm>
            <a:off x="931414" y="4410392"/>
            <a:ext cx="5134874"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4773382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207FB5D7-BC92-A752-A54F-7E4C1F63C8A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spcBef>
                <a:spcPct val="50000"/>
              </a:spcBef>
              <a:buClr>
                <a:srgbClr val="0033CC"/>
              </a:buClr>
              <a:buSzPct val="155000"/>
              <a:buFont typeface="Symbol" panose="05050102010706020507" pitchFamily="18" charset="2"/>
              <a:defRPr sz="1200" b="1">
                <a:solidFill>
                  <a:schemeClr val="tx1"/>
                </a:solidFill>
                <a:latin typeface="Arial" panose="020B0604020202020204" pitchFamily="34" charset="0"/>
              </a:defRPr>
            </a:lvl1pPr>
            <a:lvl2pPr marL="742950" indent="-285750" algn="ctr">
              <a:spcBef>
                <a:spcPct val="50000"/>
              </a:spcBef>
              <a:buClr>
                <a:srgbClr val="0033CC"/>
              </a:buClr>
              <a:buSzPct val="155000"/>
              <a:buFont typeface="Symbol" panose="05050102010706020507" pitchFamily="18" charset="2"/>
              <a:defRPr sz="1200" b="1">
                <a:solidFill>
                  <a:schemeClr val="tx1"/>
                </a:solidFill>
                <a:latin typeface="Arial" panose="020B0604020202020204" pitchFamily="34" charset="0"/>
              </a:defRPr>
            </a:lvl2pPr>
            <a:lvl3pPr marL="1143000" indent="-228600" algn="ctr">
              <a:spcBef>
                <a:spcPct val="50000"/>
              </a:spcBef>
              <a:buClr>
                <a:srgbClr val="0033CC"/>
              </a:buClr>
              <a:buSzPct val="155000"/>
              <a:buFont typeface="Symbol" panose="05050102010706020507" pitchFamily="18" charset="2"/>
              <a:defRPr sz="1200" b="1">
                <a:solidFill>
                  <a:schemeClr val="tx1"/>
                </a:solidFill>
                <a:latin typeface="Arial" panose="020B0604020202020204" pitchFamily="34" charset="0"/>
              </a:defRPr>
            </a:lvl3pPr>
            <a:lvl4pPr marL="1600200" indent="-228600" algn="ctr">
              <a:spcBef>
                <a:spcPct val="50000"/>
              </a:spcBef>
              <a:buClr>
                <a:srgbClr val="0033CC"/>
              </a:buClr>
              <a:buSzPct val="155000"/>
              <a:buFont typeface="Symbol" panose="05050102010706020507" pitchFamily="18" charset="2"/>
              <a:defRPr sz="1200" b="1">
                <a:solidFill>
                  <a:schemeClr val="tx1"/>
                </a:solidFill>
                <a:latin typeface="Arial" panose="020B0604020202020204" pitchFamily="34" charset="0"/>
              </a:defRPr>
            </a:lvl4pPr>
            <a:lvl5pPr marL="2057400" indent="-228600" algn="ctr">
              <a:spcBef>
                <a:spcPct val="50000"/>
              </a:spcBef>
              <a:buClr>
                <a:srgbClr val="0033CC"/>
              </a:buClr>
              <a:buSzPct val="155000"/>
              <a:buFont typeface="Symbol" panose="05050102010706020507" pitchFamily="18" charset="2"/>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0033CC"/>
              </a:buClr>
              <a:buSzPct val="155000"/>
              <a:buFont typeface="Symbol" panose="05050102010706020507" pitchFamily="18"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0033CC"/>
              </a:buClr>
              <a:buSzPct val="155000"/>
              <a:buFont typeface="Symbol" panose="05050102010706020507" pitchFamily="18"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0033CC"/>
              </a:buClr>
              <a:buSzPct val="155000"/>
              <a:buFont typeface="Symbol" panose="05050102010706020507" pitchFamily="18"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0033CC"/>
              </a:buClr>
              <a:buSzPct val="155000"/>
              <a:buFont typeface="Symbol" panose="05050102010706020507" pitchFamily="18" charset="2"/>
              <a:defRPr sz="1200" b="1">
                <a:solidFill>
                  <a:schemeClr val="tx1"/>
                </a:solidFill>
                <a:latin typeface="Arial" panose="020B0604020202020204" pitchFamily="34" charset="0"/>
              </a:defRPr>
            </a:lvl9pPr>
          </a:lstStyle>
          <a:p>
            <a:pPr algn="r">
              <a:spcBef>
                <a:spcPct val="0"/>
              </a:spcBef>
              <a:buClrTx/>
              <a:buSzTx/>
              <a:buFontTx/>
              <a:buNone/>
            </a:pPr>
            <a:fld id="{1F37667C-2519-4566-B43A-643FDF225DA8}" type="slidenum">
              <a:rPr lang="en-US" altLang="en-US" b="0"/>
              <a:pPr algn="r">
                <a:spcBef>
                  <a:spcPct val="0"/>
                </a:spcBef>
                <a:buClrTx/>
                <a:buSzTx/>
                <a:buFontTx/>
                <a:buNone/>
              </a:pPr>
              <a:t>26</a:t>
            </a:fld>
            <a:endParaRPr lang="en-US" altLang="en-US" b="0"/>
          </a:p>
        </p:txBody>
      </p:sp>
      <p:sp>
        <p:nvSpPr>
          <p:cNvPr id="20483" name="Rectangle 2">
            <a:extLst>
              <a:ext uri="{FF2B5EF4-FFF2-40B4-BE49-F238E27FC236}">
                <a16:creationId xmlns:a16="http://schemas.microsoft.com/office/drawing/2014/main" id="{95E0E461-8C59-44FB-D08D-A46A73D9F3CE}"/>
              </a:ext>
            </a:extLst>
          </p:cNvPr>
          <p:cNvSpPr>
            <a:spLocks noGrp="1" noRot="1" noChangeAspect="1" noChangeArrowheads="1" noTextEdit="1"/>
          </p:cNvSpPr>
          <p:nvPr>
            <p:ph type="sldImg"/>
          </p:nvPr>
        </p:nvSpPr>
        <p:spPr>
          <a:ln/>
        </p:spPr>
      </p:sp>
      <p:sp>
        <p:nvSpPr>
          <p:cNvPr id="20484" name="Rectangle 3">
            <a:extLst>
              <a:ext uri="{FF2B5EF4-FFF2-40B4-BE49-F238E27FC236}">
                <a16:creationId xmlns:a16="http://schemas.microsoft.com/office/drawing/2014/main" id="{A256AE44-018D-AE57-C7BE-D4265C82627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r>
              <a:rPr lang="en-US" altLang="en-US">
                <a:latin typeface="Arial" panose="020B0604020202020204" pitchFamily="34" charset="0"/>
              </a:rPr>
              <a:t>In above example Marks is fully functionally dependent on </a:t>
            </a:r>
            <a:r>
              <a:rPr lang="en-US" altLang="en-US" u="sng">
                <a:latin typeface="Arial" panose="020B0604020202020204" pitchFamily="34" charset="0"/>
              </a:rPr>
              <a:t>STUDENT# COURSE#</a:t>
            </a:r>
            <a:r>
              <a:rPr lang="en-US" altLang="en-US">
                <a:latin typeface="Arial" panose="020B0604020202020204" pitchFamily="34" charset="0"/>
              </a:rPr>
              <a:t> and </a:t>
            </a:r>
            <a:r>
              <a:rPr lang="en-US" altLang="en-US" b="1">
                <a:latin typeface="Arial" panose="020B0604020202020204" pitchFamily="34" charset="0"/>
              </a:rPr>
              <a:t>not</a:t>
            </a:r>
            <a:r>
              <a:rPr lang="en-US" altLang="en-US">
                <a:latin typeface="Arial" panose="020B0604020202020204" pitchFamily="34" charset="0"/>
              </a:rPr>
              <a:t> </a:t>
            </a:r>
            <a:r>
              <a:rPr lang="en-US" altLang="en-US" b="1">
                <a:latin typeface="Arial" panose="020B0604020202020204" pitchFamily="34" charset="0"/>
              </a:rPr>
              <a:t>on sub set of</a:t>
            </a:r>
            <a:r>
              <a:rPr lang="en-US" altLang="en-US">
                <a:latin typeface="Arial" panose="020B0604020202020204" pitchFamily="34" charset="0"/>
              </a:rPr>
              <a:t> </a:t>
            </a:r>
            <a:r>
              <a:rPr lang="en-US" altLang="en-US" u="sng">
                <a:latin typeface="Arial" panose="020B0604020202020204" pitchFamily="34" charset="0"/>
              </a:rPr>
              <a:t>STUDENT# COURSE#</a:t>
            </a:r>
            <a:r>
              <a:rPr lang="en-US" altLang="en-US">
                <a:latin typeface="Arial" panose="020B0604020202020204" pitchFamily="34" charset="0"/>
              </a:rPr>
              <a:t>. This means Marks can not be determined either by STUDENT# </a:t>
            </a:r>
            <a:r>
              <a:rPr lang="en-US" altLang="en-US" b="1">
                <a:latin typeface="Arial" panose="020B0604020202020204" pitchFamily="34" charset="0"/>
              </a:rPr>
              <a:t>OR</a:t>
            </a:r>
            <a:r>
              <a:rPr lang="en-US" altLang="en-US">
                <a:latin typeface="Arial" panose="020B0604020202020204" pitchFamily="34" charset="0"/>
              </a:rPr>
              <a:t> COURSE# alone. It can be determined only using STUDENT# </a:t>
            </a:r>
            <a:r>
              <a:rPr lang="en-US" altLang="en-US" b="1">
                <a:latin typeface="Arial" panose="020B0604020202020204" pitchFamily="34" charset="0"/>
              </a:rPr>
              <a:t>AND</a:t>
            </a:r>
            <a:r>
              <a:rPr lang="en-US" altLang="en-US">
                <a:latin typeface="Arial" panose="020B0604020202020204" pitchFamily="34" charset="0"/>
              </a:rPr>
              <a:t> COURSE# together. Hence Marks is fully functionally dependent on STUDENT# COURSE#.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FF526379-CFBE-2254-7643-CDF969E9AE4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spcBef>
                <a:spcPct val="50000"/>
              </a:spcBef>
              <a:buClr>
                <a:srgbClr val="0033CC"/>
              </a:buClr>
              <a:buSzPct val="155000"/>
              <a:buFont typeface="Symbol" panose="05050102010706020507" pitchFamily="18" charset="2"/>
              <a:defRPr sz="1200" b="1">
                <a:solidFill>
                  <a:schemeClr val="tx1"/>
                </a:solidFill>
                <a:latin typeface="Arial" panose="020B0604020202020204" pitchFamily="34" charset="0"/>
              </a:defRPr>
            </a:lvl1pPr>
            <a:lvl2pPr marL="742950" indent="-285750" algn="ctr">
              <a:spcBef>
                <a:spcPct val="50000"/>
              </a:spcBef>
              <a:buClr>
                <a:srgbClr val="0033CC"/>
              </a:buClr>
              <a:buSzPct val="155000"/>
              <a:buFont typeface="Symbol" panose="05050102010706020507" pitchFamily="18" charset="2"/>
              <a:defRPr sz="1200" b="1">
                <a:solidFill>
                  <a:schemeClr val="tx1"/>
                </a:solidFill>
                <a:latin typeface="Arial" panose="020B0604020202020204" pitchFamily="34" charset="0"/>
              </a:defRPr>
            </a:lvl2pPr>
            <a:lvl3pPr marL="1143000" indent="-228600" algn="ctr">
              <a:spcBef>
                <a:spcPct val="50000"/>
              </a:spcBef>
              <a:buClr>
                <a:srgbClr val="0033CC"/>
              </a:buClr>
              <a:buSzPct val="155000"/>
              <a:buFont typeface="Symbol" panose="05050102010706020507" pitchFamily="18" charset="2"/>
              <a:defRPr sz="1200" b="1">
                <a:solidFill>
                  <a:schemeClr val="tx1"/>
                </a:solidFill>
                <a:latin typeface="Arial" panose="020B0604020202020204" pitchFamily="34" charset="0"/>
              </a:defRPr>
            </a:lvl3pPr>
            <a:lvl4pPr marL="1600200" indent="-228600" algn="ctr">
              <a:spcBef>
                <a:spcPct val="50000"/>
              </a:spcBef>
              <a:buClr>
                <a:srgbClr val="0033CC"/>
              </a:buClr>
              <a:buSzPct val="155000"/>
              <a:buFont typeface="Symbol" panose="05050102010706020507" pitchFamily="18" charset="2"/>
              <a:defRPr sz="1200" b="1">
                <a:solidFill>
                  <a:schemeClr val="tx1"/>
                </a:solidFill>
                <a:latin typeface="Arial" panose="020B0604020202020204" pitchFamily="34" charset="0"/>
              </a:defRPr>
            </a:lvl4pPr>
            <a:lvl5pPr marL="2057400" indent="-228600" algn="ctr">
              <a:spcBef>
                <a:spcPct val="50000"/>
              </a:spcBef>
              <a:buClr>
                <a:srgbClr val="0033CC"/>
              </a:buClr>
              <a:buSzPct val="155000"/>
              <a:buFont typeface="Symbol" panose="05050102010706020507" pitchFamily="18" charset="2"/>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0033CC"/>
              </a:buClr>
              <a:buSzPct val="155000"/>
              <a:buFont typeface="Symbol" panose="05050102010706020507" pitchFamily="18"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0033CC"/>
              </a:buClr>
              <a:buSzPct val="155000"/>
              <a:buFont typeface="Symbol" panose="05050102010706020507" pitchFamily="18"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0033CC"/>
              </a:buClr>
              <a:buSzPct val="155000"/>
              <a:buFont typeface="Symbol" panose="05050102010706020507" pitchFamily="18"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0033CC"/>
              </a:buClr>
              <a:buSzPct val="155000"/>
              <a:buFont typeface="Symbol" panose="05050102010706020507" pitchFamily="18" charset="2"/>
              <a:defRPr sz="1200" b="1">
                <a:solidFill>
                  <a:schemeClr val="tx1"/>
                </a:solidFill>
                <a:latin typeface="Arial" panose="020B0604020202020204" pitchFamily="34" charset="0"/>
              </a:defRPr>
            </a:lvl9pPr>
          </a:lstStyle>
          <a:p>
            <a:pPr algn="r">
              <a:spcBef>
                <a:spcPct val="0"/>
              </a:spcBef>
              <a:buClrTx/>
              <a:buSzTx/>
              <a:buFontTx/>
              <a:buNone/>
            </a:pPr>
            <a:fld id="{5507FC41-4BC6-4A2E-A533-8D3E04192708}" type="slidenum">
              <a:rPr lang="en-US" altLang="en-US" b="0"/>
              <a:pPr algn="r">
                <a:spcBef>
                  <a:spcPct val="0"/>
                </a:spcBef>
                <a:buClrTx/>
                <a:buSzTx/>
                <a:buFontTx/>
                <a:buNone/>
              </a:pPr>
              <a:t>27</a:t>
            </a:fld>
            <a:endParaRPr lang="en-US" altLang="en-US" b="0"/>
          </a:p>
        </p:txBody>
      </p:sp>
      <p:sp>
        <p:nvSpPr>
          <p:cNvPr id="22531" name="Rectangle 2">
            <a:extLst>
              <a:ext uri="{FF2B5EF4-FFF2-40B4-BE49-F238E27FC236}">
                <a16:creationId xmlns:a16="http://schemas.microsoft.com/office/drawing/2014/main" id="{EE5EB13B-AA21-22A3-994D-266D9AB17AB1}"/>
              </a:ext>
            </a:extLst>
          </p:cNvPr>
          <p:cNvSpPr>
            <a:spLocks noGrp="1" noRot="1" noChangeAspect="1" noChangeArrowheads="1" noTextEdit="1"/>
          </p:cNvSpPr>
          <p:nvPr>
            <p:ph type="sldImg"/>
          </p:nvPr>
        </p:nvSpPr>
        <p:spPr>
          <a:ln/>
        </p:spPr>
      </p:sp>
      <p:sp>
        <p:nvSpPr>
          <p:cNvPr id="22532" name="Rectangle 3">
            <a:extLst>
              <a:ext uri="{FF2B5EF4-FFF2-40B4-BE49-F238E27FC236}">
                <a16:creationId xmlns:a16="http://schemas.microsoft.com/office/drawing/2014/main" id="{3AB84207-4C51-673C-61CD-E476A1AEF62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CourseName is not fully functionally dependent on STUDENT# COURSE# because subset of STUDENT# COURSE# i.e only COURSE# determines the CourseName and STUDENT# does not have any role in deciding CourseName. Hence CourseName is not fully functionally dependent on STUDENT# COURSE#.</a:t>
            </a:r>
          </a:p>
          <a:p>
            <a:pPr eaLnBrk="1" hangingPunct="1"/>
            <a:endParaRPr lang="en-US" altLang="en-US">
              <a:latin typeface="Arial" panose="020B0604020202020204" pitchFamily="34" charset="0"/>
            </a:endParaRPr>
          </a:p>
          <a:p>
            <a:pPr eaLnBrk="1" hangingPunct="1"/>
            <a:r>
              <a:rPr lang="en-US" altLang="en-US">
                <a:latin typeface="Arial" panose="020B0604020202020204" pitchFamily="34" charset="0"/>
              </a:rPr>
              <a:t>In the above relationship CourseName is partially dependent on composite attributes </a:t>
            </a:r>
            <a:r>
              <a:rPr lang="en-US" altLang="en-US" u="sng">
                <a:latin typeface="Arial" panose="020B0604020202020204" pitchFamily="34" charset="0"/>
              </a:rPr>
              <a:t>STUDENT# COURSE#</a:t>
            </a:r>
            <a:r>
              <a:rPr lang="en-US" altLang="en-US">
                <a:latin typeface="Arial" panose="020B0604020202020204" pitchFamily="34" charset="0"/>
              </a:rPr>
              <a:t> because COURSE# alone defines the CourseName.</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5" name="Text Box 7">
            <a:extLst>
              <a:ext uri="{FF2B5EF4-FFF2-40B4-BE49-F238E27FC236}">
                <a16:creationId xmlns:a16="http://schemas.microsoft.com/office/drawing/2014/main" id="{A25BB261-D773-4836-B381-7A051175F570}"/>
              </a:ext>
            </a:extLst>
          </p:cNvPr>
          <p:cNvSpPr txBox="1">
            <a:spLocks noChangeArrowheads="1"/>
          </p:cNvSpPr>
          <p:nvPr/>
        </p:nvSpPr>
        <p:spPr bwMode="auto">
          <a:xfrm>
            <a:off x="2714127" y="5821363"/>
            <a:ext cx="3694112" cy="793750"/>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b="1" dirty="0">
                <a:solidFill>
                  <a:srgbClr val="002060"/>
                </a:solidFill>
              </a:rPr>
              <a:t>Database System Concepts, 7</a:t>
            </a:r>
            <a:r>
              <a:rPr lang="en-US" altLang="en-US" b="1" baseline="30000" dirty="0">
                <a:solidFill>
                  <a:srgbClr val="002060"/>
                </a:solidFill>
              </a:rPr>
              <a:t>th</a:t>
            </a:r>
            <a:r>
              <a:rPr lang="en-US" altLang="en-US" b="1" dirty="0">
                <a:solidFill>
                  <a:srgbClr val="002060"/>
                </a:solidFill>
              </a:rPr>
              <a:t> Ed</a:t>
            </a:r>
            <a:r>
              <a:rPr lang="en-US" altLang="en-US" dirty="0">
                <a:solidFill>
                  <a:srgbClr val="002060"/>
                </a:solidFill>
              </a:rPr>
              <a:t>.</a:t>
            </a:r>
          </a:p>
          <a:p>
            <a:pPr algn="ctr">
              <a:spcBef>
                <a:spcPct val="50000"/>
              </a:spcBef>
              <a:defRPr/>
            </a:pPr>
            <a:r>
              <a:rPr lang="en-US" altLang="en-US" sz="1200" b="1" dirty="0">
                <a:solidFill>
                  <a:srgbClr val="002060"/>
                </a:solidFill>
              </a:rPr>
              <a:t>©Silberschatz, Korth and Sudarshan</a:t>
            </a:r>
            <a:br>
              <a:rPr lang="en-US" altLang="en-US" sz="1200" b="1" dirty="0">
                <a:solidFill>
                  <a:srgbClr val="002060"/>
                </a:solidFill>
              </a:rPr>
            </a:br>
            <a:r>
              <a:rPr lang="en-US" altLang="en-US" sz="1200" b="1" dirty="0">
                <a:solidFill>
                  <a:srgbClr val="002060"/>
                </a:solidFill>
              </a:rPr>
              <a:t>See </a:t>
            </a:r>
            <a:r>
              <a:rPr lang="en-US" altLang="en-US" sz="1200" b="1" dirty="0">
                <a:solidFill>
                  <a:srgbClr val="002060"/>
                </a:solidFill>
                <a:hlinkClick r:id="rId2"/>
              </a:rPr>
              <a:t>www.db-book.com</a:t>
            </a:r>
            <a:r>
              <a:rPr lang="en-US" altLang="en-US" sz="1200" b="1" dirty="0">
                <a:solidFill>
                  <a:srgbClr val="002060"/>
                </a:solidFill>
              </a:rPr>
              <a:t> for conditions on re-use </a:t>
            </a:r>
          </a:p>
        </p:txBody>
      </p:sp>
      <p:sp>
        <p:nvSpPr>
          <p:cNvPr id="513026"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dirty="0"/>
              <a:t>Click to edit Master title style</a:t>
            </a:r>
          </a:p>
        </p:txBody>
      </p:sp>
      <p:sp>
        <p:nvSpPr>
          <p:cNvPr id="8" name="Rectangle 5">
            <a:extLst>
              <a:ext uri="{FF2B5EF4-FFF2-40B4-BE49-F238E27FC236}">
                <a16:creationId xmlns:a16="http://schemas.microsoft.com/office/drawing/2014/main" id="{B4760F52-45E1-4E1D-A744-2F2290DE90CC}"/>
              </a:ext>
            </a:extLst>
          </p:cNvPr>
          <p:cNvSpPr>
            <a:spLocks noGrp="1" noChangeArrowheads="1"/>
          </p:cNvSpPr>
          <p:nvPr>
            <p:ph type="sldNum" sz="quarter" idx="11"/>
          </p:nvPr>
        </p:nvSpPr>
        <p:spPr>
          <a:xfrm>
            <a:off x="6596063" y="6218238"/>
            <a:ext cx="1905000" cy="457200"/>
          </a:xfrm>
        </p:spPr>
        <p:txBody>
          <a:bodyPr/>
          <a:lstStyle>
            <a:lvl1pPr>
              <a:defRPr>
                <a:solidFill>
                  <a:srgbClr val="578963"/>
                </a:solidFill>
              </a:defRPr>
            </a:lvl1pPr>
          </a:lstStyle>
          <a:p>
            <a:pPr>
              <a:defRPr/>
            </a:pPr>
            <a:fld id="{3B69BB99-A72A-4470-971F-83530C443C91}" type="slidenum">
              <a:rPr lang="en-US" altLang="en-US"/>
              <a:pPr>
                <a:defRPr/>
              </a:pPr>
              <a:t>‹#›</a:t>
            </a:fld>
            <a:endParaRPr lang="en-US" altLang="en-US"/>
          </a:p>
        </p:txBody>
      </p:sp>
      <p:pic>
        <p:nvPicPr>
          <p:cNvPr id="9" name="Picture 8" descr="Cover-6Ed"/>
          <p:cNvPicPr>
            <a:picLocks noChangeAspect="1" noChangeArrowheads="1"/>
          </p:cNvPicPr>
          <p:nvPr userDrawn="1"/>
        </p:nvPicPr>
        <p:blipFill>
          <a:blip r:embed="rId3"/>
          <a:stretch>
            <a:fillRect/>
          </a:stretch>
        </p:blipFill>
        <p:spPr bwMode="auto">
          <a:xfrm>
            <a:off x="13858" y="0"/>
            <a:ext cx="1331269"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604871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marL="342900" indent="-342900">
              <a:buSzPct val="110000"/>
              <a:buFont typeface="Wingdings" panose="05000000000000000000" pitchFamily="2" charset="2"/>
              <a:buChar char="§"/>
              <a:defRPr sz="1700"/>
            </a:lvl1pPr>
            <a:lvl2pPr marL="742950" indent="-285750">
              <a:buSzPct val="110000"/>
              <a:buFont typeface="Arial" panose="020B0604020202020204" pitchFamily="34" charset="0"/>
              <a:buChar char="•"/>
              <a:defRPr sz="1700"/>
            </a:lvl2pPr>
            <a:lvl3pPr marL="1085850" indent="-228600">
              <a:buFont typeface="Wingdings" panose="05000000000000000000" pitchFamily="2" charset="2"/>
              <a:buChar char="§"/>
              <a:defRPr sz="1700"/>
            </a:lvl3pPr>
            <a:lvl4pPr marL="1428750" indent="-228600">
              <a:buFont typeface="Arial" panose="020B0604020202020204" pitchFamily="34" charset="0"/>
              <a:buChar char="•"/>
              <a:defRPr sz="1700"/>
            </a:lvl4pPr>
            <a:lvl5pPr marL="1771650" indent="-228600">
              <a:buFont typeface="Wingdings" panose="05000000000000000000" pitchFamily="2" charset="2"/>
              <a:buChar char="§"/>
              <a:defRPr sz="17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243719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3">
            <a:extLst>
              <a:ext uri="{FF2B5EF4-FFF2-40B4-BE49-F238E27FC236}">
                <a16:creationId xmlns:a16="http://schemas.microsoft.com/office/drawing/2014/main" id="{336F2EBE-FF5F-4F9D-A3C2-A59A92D7809D}"/>
              </a:ext>
            </a:extLst>
          </p:cNvPr>
          <p:cNvSpPr>
            <a:spLocks noGrp="1" noChangeArrowheads="1"/>
          </p:cNvSpPr>
          <p:nvPr>
            <p:ph type="sldNum" sz="quarter" idx="10"/>
          </p:nvPr>
        </p:nvSpPr>
        <p:spPr>
          <a:ln/>
        </p:spPr>
        <p:txBody>
          <a:bodyPr/>
          <a:lstStyle>
            <a:lvl1pPr>
              <a:defRPr/>
            </a:lvl1pPr>
          </a:lstStyle>
          <a:p>
            <a:pPr>
              <a:defRPr/>
            </a:pPr>
            <a:fld id="{547F3CAF-32BF-49A6-93F1-59C9E4B7C957}" type="slidenum">
              <a:rPr lang="en-US" altLang="en-US"/>
              <a:pPr>
                <a:defRPr/>
              </a:pPr>
              <a:t>‹#›</a:t>
            </a:fld>
            <a:endParaRPr lang="en-US" altLang="en-US"/>
          </a:p>
        </p:txBody>
      </p:sp>
    </p:spTree>
    <p:extLst>
      <p:ext uri="{BB962C8B-B14F-4D97-AF65-F5344CB8AC3E}">
        <p14:creationId xmlns:p14="http://schemas.microsoft.com/office/powerpoint/2010/main" val="2960709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814388" y="1093788"/>
            <a:ext cx="3754437" cy="4903787"/>
          </a:xfrm>
        </p:spPr>
        <p:txBody>
          <a:bodyPr/>
          <a:lstStyle>
            <a:lvl1pPr>
              <a:defRPr sz="1700"/>
            </a:lvl1pPr>
            <a:lvl2pPr>
              <a:defRPr sz="1700"/>
            </a:lvl2pPr>
            <a:lvl3pPr>
              <a:defRPr sz="1700"/>
            </a:lvl3pPr>
            <a:lvl4pPr>
              <a:defRPr sz="1700"/>
            </a:lvl4pPr>
            <a:lvl5pPr>
              <a:defRPr sz="17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721225" y="1093788"/>
            <a:ext cx="3754438" cy="4903787"/>
          </a:xfrm>
        </p:spPr>
        <p:txBody>
          <a:bodyPr/>
          <a:lstStyle>
            <a:lvl1pPr>
              <a:defRPr sz="1700"/>
            </a:lvl1pPr>
            <a:lvl2pPr>
              <a:defRPr sz="1700"/>
            </a:lvl2pPr>
            <a:lvl3pPr>
              <a:defRPr sz="1700"/>
            </a:lvl3pPr>
            <a:lvl4pPr>
              <a:defRPr sz="1700"/>
            </a:lvl4pPr>
            <a:lvl5pPr>
              <a:defRPr sz="17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
            <a:extLst>
              <a:ext uri="{FF2B5EF4-FFF2-40B4-BE49-F238E27FC236}">
                <a16:creationId xmlns:a16="http://schemas.microsoft.com/office/drawing/2014/main" id="{A6D4A7F0-1138-4608-80AA-D0A6F5D41187}"/>
              </a:ext>
            </a:extLst>
          </p:cNvPr>
          <p:cNvSpPr>
            <a:spLocks noGrp="1" noChangeArrowheads="1"/>
          </p:cNvSpPr>
          <p:nvPr>
            <p:ph type="sldNum" sz="quarter" idx="10"/>
          </p:nvPr>
        </p:nvSpPr>
        <p:spPr>
          <a:ln/>
        </p:spPr>
        <p:txBody>
          <a:bodyPr/>
          <a:lstStyle>
            <a:lvl1pPr>
              <a:defRPr/>
            </a:lvl1pPr>
          </a:lstStyle>
          <a:p>
            <a:pPr>
              <a:defRPr/>
            </a:pPr>
            <a:fld id="{00852D5F-D37B-4E9D-98AD-511A1ABBD6A9}" type="slidenum">
              <a:rPr lang="en-US" altLang="en-US"/>
              <a:pPr>
                <a:defRPr/>
              </a:pPr>
              <a:t>‹#›</a:t>
            </a:fld>
            <a:endParaRPr lang="en-US" altLang="en-US"/>
          </a:p>
        </p:txBody>
      </p:sp>
    </p:spTree>
    <p:extLst>
      <p:ext uri="{BB962C8B-B14F-4D97-AF65-F5344CB8AC3E}">
        <p14:creationId xmlns:p14="http://schemas.microsoft.com/office/powerpoint/2010/main" val="4110802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
            <a:extLst>
              <a:ext uri="{FF2B5EF4-FFF2-40B4-BE49-F238E27FC236}">
                <a16:creationId xmlns:a16="http://schemas.microsoft.com/office/drawing/2014/main" id="{56DFCFB3-6710-4DD2-8404-7E55A930F352}"/>
              </a:ext>
            </a:extLst>
          </p:cNvPr>
          <p:cNvSpPr>
            <a:spLocks noGrp="1" noChangeArrowheads="1"/>
          </p:cNvSpPr>
          <p:nvPr>
            <p:ph type="sldNum" sz="quarter" idx="10"/>
          </p:nvPr>
        </p:nvSpPr>
        <p:spPr>
          <a:ln/>
        </p:spPr>
        <p:txBody>
          <a:bodyPr/>
          <a:lstStyle>
            <a:lvl1pPr>
              <a:defRPr/>
            </a:lvl1pPr>
          </a:lstStyle>
          <a:p>
            <a:pPr>
              <a:defRPr/>
            </a:pPr>
            <a:fld id="{C0191CCC-CC48-429B-87C9-7123B48E52D4}" type="slidenum">
              <a:rPr lang="en-US" altLang="en-US"/>
              <a:pPr>
                <a:defRPr/>
              </a:pPr>
              <a:t>‹#›</a:t>
            </a:fld>
            <a:endParaRPr lang="en-US" altLang="en-US"/>
          </a:p>
        </p:txBody>
      </p:sp>
    </p:spTree>
    <p:extLst>
      <p:ext uri="{BB962C8B-B14F-4D97-AF65-F5344CB8AC3E}">
        <p14:creationId xmlns:p14="http://schemas.microsoft.com/office/powerpoint/2010/main" val="2519042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Rectangle 3">
            <a:extLst>
              <a:ext uri="{FF2B5EF4-FFF2-40B4-BE49-F238E27FC236}">
                <a16:creationId xmlns:a16="http://schemas.microsoft.com/office/drawing/2014/main" id="{BB431453-8F56-47C4-89BA-3EDF3CD092BA}"/>
              </a:ext>
            </a:extLst>
          </p:cNvPr>
          <p:cNvSpPr>
            <a:spLocks noGrp="1" noChangeArrowheads="1"/>
          </p:cNvSpPr>
          <p:nvPr>
            <p:ph type="sldNum" sz="quarter" idx="10"/>
          </p:nvPr>
        </p:nvSpPr>
        <p:spPr>
          <a:ln/>
        </p:spPr>
        <p:txBody>
          <a:bodyPr/>
          <a:lstStyle>
            <a:lvl1pPr>
              <a:defRPr/>
            </a:lvl1pPr>
          </a:lstStyle>
          <a:p>
            <a:pPr>
              <a:defRPr/>
            </a:pPr>
            <a:fld id="{5E9D92F0-DB25-4E6B-A10D-A7937AC7A365}" type="slidenum">
              <a:rPr lang="en-US" altLang="en-US"/>
              <a:pPr>
                <a:defRPr/>
              </a:pPr>
              <a:t>‹#›</a:t>
            </a:fld>
            <a:endParaRPr lang="en-US" altLang="en-US"/>
          </a:p>
        </p:txBody>
      </p:sp>
    </p:spTree>
    <p:extLst>
      <p:ext uri="{BB962C8B-B14F-4D97-AF65-F5344CB8AC3E}">
        <p14:creationId xmlns:p14="http://schemas.microsoft.com/office/powerpoint/2010/main" val="3836005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4BE8099E-18A5-481A-9697-216087BE0676}"/>
              </a:ext>
            </a:extLst>
          </p:cNvPr>
          <p:cNvSpPr>
            <a:spLocks noGrp="1" noChangeArrowheads="1"/>
          </p:cNvSpPr>
          <p:nvPr>
            <p:ph type="sldNum" sz="quarter" idx="10"/>
          </p:nvPr>
        </p:nvSpPr>
        <p:spPr>
          <a:ln/>
        </p:spPr>
        <p:txBody>
          <a:bodyPr/>
          <a:lstStyle>
            <a:lvl1pPr>
              <a:defRPr/>
            </a:lvl1pPr>
          </a:lstStyle>
          <a:p>
            <a:pPr>
              <a:defRPr/>
            </a:pPr>
            <a:fld id="{0E555C8E-F740-4D28-8DA3-D7B8E0F6F578}" type="slidenum">
              <a:rPr lang="en-US" altLang="en-US"/>
              <a:pPr>
                <a:defRPr/>
              </a:pPr>
              <a:t>‹#›</a:t>
            </a:fld>
            <a:endParaRPr lang="en-US" altLang="en-US"/>
          </a:p>
        </p:txBody>
      </p:sp>
    </p:spTree>
    <p:extLst>
      <p:ext uri="{BB962C8B-B14F-4D97-AF65-F5344CB8AC3E}">
        <p14:creationId xmlns:p14="http://schemas.microsoft.com/office/powerpoint/2010/main" val="24321476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1700"/>
            </a:lvl1pPr>
            <a:lvl2pPr>
              <a:defRPr sz="1700"/>
            </a:lvl2pPr>
            <a:lvl3pPr>
              <a:defRPr sz="1700"/>
            </a:lvl3pPr>
            <a:lvl4pPr>
              <a:defRPr sz="1700"/>
            </a:lvl4pPr>
            <a:lvl5pPr>
              <a:defRPr sz="17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a:extLst>
              <a:ext uri="{FF2B5EF4-FFF2-40B4-BE49-F238E27FC236}">
                <a16:creationId xmlns:a16="http://schemas.microsoft.com/office/drawing/2014/main" id="{97E2C57D-1205-411A-BA90-DF60A810F6DB}"/>
              </a:ext>
            </a:extLst>
          </p:cNvPr>
          <p:cNvSpPr>
            <a:spLocks noGrp="1" noChangeArrowheads="1"/>
          </p:cNvSpPr>
          <p:nvPr>
            <p:ph type="sldNum" sz="quarter" idx="10"/>
          </p:nvPr>
        </p:nvSpPr>
        <p:spPr>
          <a:ln/>
        </p:spPr>
        <p:txBody>
          <a:bodyPr/>
          <a:lstStyle>
            <a:lvl1pPr>
              <a:defRPr/>
            </a:lvl1pPr>
          </a:lstStyle>
          <a:p>
            <a:pPr>
              <a:defRPr/>
            </a:pPr>
            <a:fld id="{2BBBE5B0-1186-4DAB-9E97-511F15F5C63C}" type="slidenum">
              <a:rPr lang="en-US" altLang="en-US"/>
              <a:pPr>
                <a:defRPr/>
              </a:pPr>
              <a:t>‹#›</a:t>
            </a:fld>
            <a:endParaRPr lang="en-US" altLang="en-US"/>
          </a:p>
        </p:txBody>
      </p:sp>
    </p:spTree>
    <p:extLst>
      <p:ext uri="{BB962C8B-B14F-4D97-AF65-F5344CB8AC3E}">
        <p14:creationId xmlns:p14="http://schemas.microsoft.com/office/powerpoint/2010/main" val="13488098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a:extLst>
              <a:ext uri="{FF2B5EF4-FFF2-40B4-BE49-F238E27FC236}">
                <a16:creationId xmlns:a16="http://schemas.microsoft.com/office/drawing/2014/main" id="{99EB6957-06EE-46F8-A450-3DB417A1F8A6}"/>
              </a:ext>
            </a:extLst>
          </p:cNvPr>
          <p:cNvSpPr>
            <a:spLocks noGrp="1" noChangeArrowheads="1"/>
          </p:cNvSpPr>
          <p:nvPr>
            <p:ph type="sldNum" sz="quarter" idx="10"/>
          </p:nvPr>
        </p:nvSpPr>
        <p:spPr>
          <a:ln/>
        </p:spPr>
        <p:txBody>
          <a:bodyPr/>
          <a:lstStyle>
            <a:lvl1pPr>
              <a:defRPr/>
            </a:lvl1pPr>
          </a:lstStyle>
          <a:p>
            <a:pPr>
              <a:defRPr/>
            </a:pPr>
            <a:fld id="{F291DB2E-7BC4-4C22-ACAE-0B8B3F0C5147}" type="slidenum">
              <a:rPr lang="en-US" altLang="en-US"/>
              <a:pPr>
                <a:defRPr/>
              </a:pPr>
              <a:t>‹#›</a:t>
            </a:fld>
            <a:endParaRPr lang="en-US" altLang="en-US"/>
          </a:p>
        </p:txBody>
      </p:sp>
    </p:spTree>
    <p:extLst>
      <p:ext uri="{BB962C8B-B14F-4D97-AF65-F5344CB8AC3E}">
        <p14:creationId xmlns:p14="http://schemas.microsoft.com/office/powerpoint/2010/main" val="248140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a:extLst>
              <a:ext uri="{FF2B5EF4-FFF2-40B4-BE49-F238E27FC236}">
                <a16:creationId xmlns:a16="http://schemas.microsoft.com/office/drawing/2014/main" id="{85C950AD-734E-45C7-8042-5795FFAD6750}"/>
              </a:ext>
            </a:extLst>
          </p:cNvPr>
          <p:cNvSpPr>
            <a:spLocks noGrp="1" noChangeArrowheads="1"/>
          </p:cNvSpPr>
          <p:nvPr>
            <p:ph type="sldNum" sz="quarter" idx="10"/>
          </p:nvPr>
        </p:nvSpPr>
        <p:spPr>
          <a:ln/>
        </p:spPr>
        <p:txBody>
          <a:bodyPr/>
          <a:lstStyle>
            <a:lvl1pPr>
              <a:defRPr/>
            </a:lvl1pPr>
          </a:lstStyle>
          <a:p>
            <a:pPr>
              <a:defRPr/>
            </a:pPr>
            <a:fld id="{D7E5E31B-1343-4510-8DCD-65E7B6544692}" type="slidenum">
              <a:rPr lang="en-US" altLang="en-US"/>
              <a:pPr>
                <a:defRPr/>
              </a:pPr>
              <a:t>‹#›</a:t>
            </a:fld>
            <a:endParaRPr lang="en-US" altLang="en-US"/>
          </a:p>
        </p:txBody>
      </p:sp>
    </p:spTree>
    <p:extLst>
      <p:ext uri="{BB962C8B-B14F-4D97-AF65-F5344CB8AC3E}">
        <p14:creationId xmlns:p14="http://schemas.microsoft.com/office/powerpoint/2010/main" val="17630467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26250" y="117475"/>
            <a:ext cx="2019300" cy="58801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8350" y="117475"/>
            <a:ext cx="5905500" cy="58801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C7A7A2CD-B5B0-4CF6-8038-339B0E99E366}"/>
              </a:ext>
            </a:extLst>
          </p:cNvPr>
          <p:cNvSpPr>
            <a:spLocks noGrp="1" noChangeArrowheads="1"/>
          </p:cNvSpPr>
          <p:nvPr>
            <p:ph type="sldNum" sz="quarter" idx="10"/>
          </p:nvPr>
        </p:nvSpPr>
        <p:spPr>
          <a:ln/>
        </p:spPr>
        <p:txBody>
          <a:bodyPr/>
          <a:lstStyle>
            <a:lvl1pPr>
              <a:defRPr/>
            </a:lvl1pPr>
          </a:lstStyle>
          <a:p>
            <a:pPr>
              <a:defRPr/>
            </a:pPr>
            <a:fld id="{833574B0-C055-4E38-82A9-667A1DF1F8D0}" type="slidenum">
              <a:rPr lang="en-US" altLang="en-US"/>
              <a:pPr>
                <a:defRPr/>
              </a:pPr>
              <a:t>‹#›</a:t>
            </a:fld>
            <a:endParaRPr lang="en-US" altLang="en-US"/>
          </a:p>
        </p:txBody>
      </p:sp>
    </p:spTree>
    <p:extLst>
      <p:ext uri="{BB962C8B-B14F-4D97-AF65-F5344CB8AC3E}">
        <p14:creationId xmlns:p14="http://schemas.microsoft.com/office/powerpoint/2010/main" val="28946499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3">
            <a:extLst>
              <a:ext uri="{FF2B5EF4-FFF2-40B4-BE49-F238E27FC236}">
                <a16:creationId xmlns:a16="http://schemas.microsoft.com/office/drawing/2014/main" id="{A9796C49-4A73-449B-A170-DFFCD45313DF}"/>
              </a:ext>
            </a:extLst>
          </p:cNvPr>
          <p:cNvSpPr>
            <a:spLocks noGrp="1" noChangeArrowheads="1"/>
          </p:cNvSpPr>
          <p:nvPr>
            <p:ph type="sldNum" sz="quarter" idx="10"/>
          </p:nvPr>
        </p:nvSpPr>
        <p:spPr>
          <a:ln/>
        </p:spPr>
        <p:txBody>
          <a:bodyPr/>
          <a:lstStyle>
            <a:lvl1pPr>
              <a:defRPr/>
            </a:lvl1pPr>
          </a:lstStyle>
          <a:p>
            <a:pPr>
              <a:defRPr/>
            </a:pPr>
            <a:fld id="{300D9E99-A0D8-4F2F-B04A-331DF655FEAB}" type="slidenum">
              <a:rPr lang="en-US" altLang="en-US"/>
              <a:pPr>
                <a:defRPr/>
              </a:pPr>
              <a:t>‹#›</a:t>
            </a:fld>
            <a:endParaRPr lang="en-US" altLang="en-US"/>
          </a:p>
        </p:txBody>
      </p:sp>
    </p:spTree>
    <p:extLst>
      <p:ext uri="{BB962C8B-B14F-4D97-AF65-F5344CB8AC3E}">
        <p14:creationId xmlns:p14="http://schemas.microsoft.com/office/powerpoint/2010/main" val="24228256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56112478-D9B7-4D0D-ADE5-62D5EFAAFBBF}"/>
              </a:ext>
            </a:extLst>
          </p:cNvPr>
          <p:cNvSpPr>
            <a:spLocks noGrp="1" noChangeArrowheads="1"/>
          </p:cNvSpPr>
          <p:nvPr>
            <p:ph type="body" idx="1"/>
          </p:nvPr>
        </p:nvSpPr>
        <p:spPr bwMode="auto">
          <a:xfrm>
            <a:off x="814388" y="1093788"/>
            <a:ext cx="7661275" cy="490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512003" name="Rectangle 3">
            <a:extLst>
              <a:ext uri="{FF2B5EF4-FFF2-40B4-BE49-F238E27FC236}">
                <a16:creationId xmlns:a16="http://schemas.microsoft.com/office/drawing/2014/main" id="{D2EB5033-CF44-472B-B77D-FAA18581E631}"/>
              </a:ext>
            </a:extLst>
          </p:cNvPr>
          <p:cNvSpPr>
            <a:spLocks noGrp="1" noChangeArrowheads="1"/>
          </p:cNvSpPr>
          <p:nvPr>
            <p:ph type="sldNum" sz="quarter" idx="4"/>
          </p:nvPr>
        </p:nvSpPr>
        <p:spPr bwMode="auto">
          <a:xfrm>
            <a:off x="6553200" y="64008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spcBef>
                <a:spcPct val="50000"/>
              </a:spcBef>
              <a:defRPr sz="1400">
                <a:solidFill>
                  <a:srgbClr val="002060"/>
                </a:solidFill>
                <a:latin typeface="Times New Roman" panose="02020603050405020304" pitchFamily="18" charset="0"/>
              </a:defRPr>
            </a:lvl1pPr>
          </a:lstStyle>
          <a:p>
            <a:pPr>
              <a:defRPr/>
            </a:pPr>
            <a:fld id="{8BECA7E0-09BC-41D3-BD93-B7E81A2ACCB7}" type="slidenum">
              <a:rPr lang="en-US" altLang="en-US" smtClean="0"/>
              <a:pPr>
                <a:defRPr/>
              </a:pPr>
              <a:t>‹#›</a:t>
            </a:fld>
            <a:endParaRPr lang="en-US" altLang="en-US" dirty="0"/>
          </a:p>
        </p:txBody>
      </p:sp>
      <p:sp>
        <p:nvSpPr>
          <p:cNvPr id="1028" name="Text Box 4">
            <a:extLst>
              <a:ext uri="{FF2B5EF4-FFF2-40B4-BE49-F238E27FC236}">
                <a16:creationId xmlns:a16="http://schemas.microsoft.com/office/drawing/2014/main" id="{D0CFC8B2-2C6C-4CA4-9AFC-14298F0DD4EC}"/>
              </a:ext>
            </a:extLst>
          </p:cNvPr>
          <p:cNvSpPr txBox="1">
            <a:spLocks noChangeArrowheads="1"/>
          </p:cNvSpPr>
          <p:nvPr/>
        </p:nvSpPr>
        <p:spPr bwMode="auto">
          <a:xfrm>
            <a:off x="6762750" y="6613525"/>
            <a:ext cx="2381250" cy="244475"/>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©Silberschatz, Korth and Sudarshan</a:t>
            </a:r>
          </a:p>
        </p:txBody>
      </p:sp>
      <p:sp>
        <p:nvSpPr>
          <p:cNvPr id="512005" name="Text Box 5">
            <a:extLst>
              <a:ext uri="{FF2B5EF4-FFF2-40B4-BE49-F238E27FC236}">
                <a16:creationId xmlns:a16="http://schemas.microsoft.com/office/drawing/2014/main" id="{ED25C836-0663-424A-84A7-5AB803422860}"/>
              </a:ext>
            </a:extLst>
          </p:cNvPr>
          <p:cNvSpPr txBox="1">
            <a:spLocks noChangeArrowheads="1"/>
          </p:cNvSpPr>
          <p:nvPr userDrawn="1"/>
        </p:nvSpPr>
        <p:spPr bwMode="auto">
          <a:xfrm>
            <a:off x="4479985" y="6613525"/>
            <a:ext cx="447558" cy="246221"/>
          </a:xfrm>
          <a:prstGeom prst="rect">
            <a:avLst/>
          </a:prstGeom>
          <a:noFill/>
          <a:ln w="9525">
            <a:noFill/>
            <a:miter lim="800000"/>
            <a:headEnd/>
            <a:tailEnd/>
          </a:ln>
          <a:effec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7.</a:t>
            </a:r>
            <a:fld id="{669DE52E-05EC-4487-BE79-3F9A6A9F8797}" type="slidenum">
              <a:rPr lang="en-US" altLang="en-US" sz="1000" b="1" smtClean="0">
                <a:solidFill>
                  <a:srgbClr val="002060"/>
                </a:solidFill>
              </a:rPr>
              <a:pPr algn="ctr">
                <a:spcBef>
                  <a:spcPct val="50000"/>
                </a:spcBef>
                <a:defRPr/>
              </a:pPr>
              <a:t>‹#›</a:t>
            </a:fld>
            <a:endParaRPr lang="en-US" altLang="en-US" sz="1000" b="1" dirty="0">
              <a:solidFill>
                <a:srgbClr val="002060"/>
              </a:solidFill>
            </a:endParaRPr>
          </a:p>
        </p:txBody>
      </p:sp>
      <p:sp>
        <p:nvSpPr>
          <p:cNvPr id="512006" name="Rectangle 6">
            <a:extLst>
              <a:ext uri="{FF2B5EF4-FFF2-40B4-BE49-F238E27FC236}">
                <a16:creationId xmlns:a16="http://schemas.microsoft.com/office/drawing/2014/main" id="{BFAC4B4C-D3C2-4A14-871E-CC7D45F0769E}"/>
              </a:ext>
            </a:extLst>
          </p:cNvPr>
          <p:cNvSpPr>
            <a:spLocks noGrp="1" noChangeArrowheads="1"/>
          </p:cNvSpPr>
          <p:nvPr>
            <p:ph type="title"/>
          </p:nvPr>
        </p:nvSpPr>
        <p:spPr bwMode="auto">
          <a:xfrm>
            <a:off x="768350" y="117475"/>
            <a:ext cx="80772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1031" name="Text Box 7">
            <a:extLst>
              <a:ext uri="{FF2B5EF4-FFF2-40B4-BE49-F238E27FC236}">
                <a16:creationId xmlns:a16="http://schemas.microsoft.com/office/drawing/2014/main" id="{5472E9A1-C06F-4393-872E-7F8100F91627}"/>
              </a:ext>
            </a:extLst>
          </p:cNvPr>
          <p:cNvSpPr txBox="1">
            <a:spLocks noChangeArrowheads="1"/>
          </p:cNvSpPr>
          <p:nvPr/>
        </p:nvSpPr>
        <p:spPr bwMode="auto">
          <a:xfrm>
            <a:off x="0" y="6613525"/>
            <a:ext cx="2571750" cy="244475"/>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charset="0"/>
                <a:ea typeface="ＭＳ Ｐゴシック" charset="0"/>
                <a:cs typeface="ＭＳ Ｐゴシック" charset="0"/>
              </a:defRPr>
            </a:lvl1pPr>
            <a:lvl2pPr marL="742950" indent="-285750">
              <a:defRPr sz="1600">
                <a:solidFill>
                  <a:schemeClr val="tx1"/>
                </a:solidFill>
                <a:latin typeface="Helvetica" charset="0"/>
                <a:ea typeface="ＭＳ Ｐゴシック" charset="0"/>
              </a:defRPr>
            </a:lvl2pPr>
            <a:lvl3pPr marL="1143000" indent="-228600">
              <a:defRPr sz="1600">
                <a:solidFill>
                  <a:schemeClr val="tx1"/>
                </a:solidFill>
                <a:latin typeface="Helvetica" charset="0"/>
                <a:ea typeface="ＭＳ Ｐゴシック" charset="0"/>
              </a:defRPr>
            </a:lvl3pPr>
            <a:lvl4pPr marL="1600200" indent="-228600">
              <a:defRPr sz="1600">
                <a:solidFill>
                  <a:schemeClr val="tx1"/>
                </a:solidFill>
                <a:latin typeface="Helvetica" charset="0"/>
                <a:ea typeface="ＭＳ Ｐゴシック" charset="0"/>
              </a:defRPr>
            </a:lvl4pPr>
            <a:lvl5pPr marL="2057400" indent="-228600">
              <a:defRPr sz="1600">
                <a:solidFill>
                  <a:schemeClr val="tx1"/>
                </a:solidFill>
                <a:latin typeface="Helvetica" charset="0"/>
                <a:ea typeface="ＭＳ Ｐゴシック" charset="0"/>
              </a:defRPr>
            </a:lvl5pPr>
            <a:lvl6pPr marL="2514600" indent="-228600" eaLnBrk="0" fontAlgn="base" hangingPunct="0">
              <a:spcBef>
                <a:spcPct val="0"/>
              </a:spcBef>
              <a:spcAft>
                <a:spcPct val="0"/>
              </a:spcAft>
              <a:defRPr sz="1600">
                <a:solidFill>
                  <a:schemeClr val="tx1"/>
                </a:solidFill>
                <a:latin typeface="Helvetica" charset="0"/>
                <a:ea typeface="ＭＳ Ｐゴシック" charset="0"/>
              </a:defRPr>
            </a:lvl6pPr>
            <a:lvl7pPr marL="2971800" indent="-228600" eaLnBrk="0" fontAlgn="base" hangingPunct="0">
              <a:spcBef>
                <a:spcPct val="0"/>
              </a:spcBef>
              <a:spcAft>
                <a:spcPct val="0"/>
              </a:spcAft>
              <a:defRPr sz="1600">
                <a:solidFill>
                  <a:schemeClr val="tx1"/>
                </a:solidFill>
                <a:latin typeface="Helvetica" charset="0"/>
                <a:ea typeface="ＭＳ Ｐゴシック" charset="0"/>
              </a:defRPr>
            </a:lvl7pPr>
            <a:lvl8pPr marL="3429000" indent="-228600" eaLnBrk="0" fontAlgn="base" hangingPunct="0">
              <a:spcBef>
                <a:spcPct val="0"/>
              </a:spcBef>
              <a:spcAft>
                <a:spcPct val="0"/>
              </a:spcAft>
              <a:defRPr sz="1600">
                <a:solidFill>
                  <a:schemeClr val="tx1"/>
                </a:solidFill>
                <a:latin typeface="Helvetica" charset="0"/>
                <a:ea typeface="ＭＳ Ｐゴシック" charset="0"/>
              </a:defRPr>
            </a:lvl8pPr>
            <a:lvl9pPr marL="3886200" indent="-228600" eaLnBrk="0" fontAlgn="base" hangingPunct="0">
              <a:spcBef>
                <a:spcPct val="0"/>
              </a:spcBef>
              <a:spcAft>
                <a:spcPct val="0"/>
              </a:spcAft>
              <a:defRPr sz="1600">
                <a:solidFill>
                  <a:schemeClr val="tx1"/>
                </a:solidFill>
                <a:latin typeface="Helvetica" charset="0"/>
                <a:ea typeface="ＭＳ Ｐゴシック" charset="0"/>
              </a:defRPr>
            </a:lvl9pPr>
          </a:lstStyle>
          <a:p>
            <a:pPr>
              <a:spcBef>
                <a:spcPct val="50000"/>
              </a:spcBef>
              <a:defRPr/>
            </a:pPr>
            <a:r>
              <a:rPr lang="en-US" sz="1000" b="1" dirty="0">
                <a:solidFill>
                  <a:srgbClr val="002060"/>
                </a:solidFill>
              </a:rPr>
              <a:t>Database System Concepts - 7</a:t>
            </a:r>
            <a:r>
              <a:rPr lang="en-US" sz="1000" b="1" baseline="30000" dirty="0">
                <a:solidFill>
                  <a:srgbClr val="002060"/>
                </a:solidFill>
              </a:rPr>
              <a:t>th</a:t>
            </a:r>
            <a:r>
              <a:rPr lang="en-US" sz="1000" b="1" dirty="0">
                <a:solidFill>
                  <a:srgbClr val="002060"/>
                </a:solidFill>
              </a:rPr>
              <a:t> Edition</a:t>
            </a:r>
          </a:p>
        </p:txBody>
      </p:sp>
      <p:sp>
        <p:nvSpPr>
          <p:cNvPr id="1032" name="Freeform 8">
            <a:extLst>
              <a:ext uri="{FF2B5EF4-FFF2-40B4-BE49-F238E27FC236}">
                <a16:creationId xmlns:a16="http://schemas.microsoft.com/office/drawing/2014/main" id="{0362D880-06BD-4D02-876C-3226AC8E6F10}"/>
              </a:ext>
            </a:extLst>
          </p:cNvPr>
          <p:cNvSpPr>
            <a:spLocks/>
          </p:cNvSpPr>
          <p:nvPr/>
        </p:nvSpPr>
        <p:spPr bwMode="auto">
          <a:xfrm>
            <a:off x="8916988" y="5445125"/>
            <a:ext cx="227012" cy="47625"/>
          </a:xfrm>
          <a:custGeom>
            <a:avLst/>
            <a:gdLst>
              <a:gd name="T0" fmla="*/ 0 w 285"/>
              <a:gd name="T1" fmla="*/ 2147483646 h 61"/>
              <a:gd name="T2" fmla="*/ 2147483646 w 285"/>
              <a:gd name="T3" fmla="*/ 2147483646 h 61"/>
              <a:gd name="T4" fmla="*/ 2147483646 w 285"/>
              <a:gd name="T5" fmla="*/ 2147483646 h 61"/>
              <a:gd name="T6" fmla="*/ 2147483646 w 285"/>
              <a:gd name="T7" fmla="*/ 2147483646 h 61"/>
              <a:gd name="T8" fmla="*/ 2147483646 w 285"/>
              <a:gd name="T9" fmla="*/ 2147483646 h 61"/>
              <a:gd name="T10" fmla="*/ 2147483646 w 285"/>
              <a:gd name="T11" fmla="*/ 2147483646 h 61"/>
              <a:gd name="T12" fmla="*/ 2147483646 w 285"/>
              <a:gd name="T13" fmla="*/ 2147483646 h 61"/>
              <a:gd name="T14" fmla="*/ 2147483646 w 285"/>
              <a:gd name="T15" fmla="*/ 2147483646 h 61"/>
              <a:gd name="T16" fmla="*/ 2147483646 w 285"/>
              <a:gd name="T17" fmla="*/ 0 h 61"/>
              <a:gd name="T18" fmla="*/ 2147483646 w 285"/>
              <a:gd name="T19" fmla="*/ 0 h 61"/>
              <a:gd name="T20" fmla="*/ 2147483646 w 285"/>
              <a:gd name="T21" fmla="*/ 0 h 61"/>
              <a:gd name="T22" fmla="*/ 2147483646 w 285"/>
              <a:gd name="T23" fmla="*/ 0 h 61"/>
              <a:gd name="T24" fmla="*/ 2147483646 w 285"/>
              <a:gd name="T25" fmla="*/ 2147483646 h 61"/>
              <a:gd name="T26" fmla="*/ 2147483646 w 285"/>
              <a:gd name="T27" fmla="*/ 2147483646 h 61"/>
              <a:gd name="T28" fmla="*/ 2147483646 w 285"/>
              <a:gd name="T29" fmla="*/ 2147483646 h 61"/>
              <a:gd name="T30" fmla="*/ 2147483646 w 285"/>
              <a:gd name="T31" fmla="*/ 2147483646 h 61"/>
              <a:gd name="T32" fmla="*/ 2147483646 w 285"/>
              <a:gd name="T33" fmla="*/ 2147483646 h 61"/>
              <a:gd name="T34" fmla="*/ 2147483646 w 285"/>
              <a:gd name="T35" fmla="*/ 2147483646 h 61"/>
              <a:gd name="T36" fmla="*/ 2147483646 w 285"/>
              <a:gd name="T37" fmla="*/ 2147483646 h 61"/>
              <a:gd name="T38" fmla="*/ 2147483646 w 285"/>
              <a:gd name="T39" fmla="*/ 2147483646 h 61"/>
              <a:gd name="T40" fmla="*/ 2147483646 w 285"/>
              <a:gd name="T41" fmla="*/ 2147483646 h 61"/>
              <a:gd name="T42" fmla="*/ 2147483646 w 285"/>
              <a:gd name="T43" fmla="*/ 2147483646 h 61"/>
              <a:gd name="T44" fmla="*/ 2147483646 w 285"/>
              <a:gd name="T45" fmla="*/ 2147483646 h 61"/>
              <a:gd name="T46" fmla="*/ 2147483646 w 285"/>
              <a:gd name="T47" fmla="*/ 2147483646 h 61"/>
              <a:gd name="T48" fmla="*/ 2147483646 w 285"/>
              <a:gd name="T49" fmla="*/ 2147483646 h 61"/>
              <a:gd name="T50" fmla="*/ 2147483646 w 285"/>
              <a:gd name="T51" fmla="*/ 2147483646 h 61"/>
              <a:gd name="T52" fmla="*/ 2147483646 w 285"/>
              <a:gd name="T53" fmla="*/ 2147483646 h 61"/>
              <a:gd name="T54" fmla="*/ 2147483646 w 285"/>
              <a:gd name="T55" fmla="*/ 2147483646 h 61"/>
              <a:gd name="T56" fmla="*/ 2147483646 w 285"/>
              <a:gd name="T57" fmla="*/ 2147483646 h 61"/>
              <a:gd name="T58" fmla="*/ 2147483646 w 285"/>
              <a:gd name="T59" fmla="*/ 2147483646 h 61"/>
              <a:gd name="T60" fmla="*/ 2147483646 w 285"/>
              <a:gd name="T61" fmla="*/ 2147483646 h 61"/>
              <a:gd name="T62" fmla="*/ 2147483646 w 285"/>
              <a:gd name="T63" fmla="*/ 2147483646 h 61"/>
              <a:gd name="T64" fmla="*/ 2147483646 w 285"/>
              <a:gd name="T65" fmla="*/ 2147483646 h 61"/>
              <a:gd name="T66" fmla="*/ 2147483646 w 285"/>
              <a:gd name="T67" fmla="*/ 2147483646 h 61"/>
              <a:gd name="T68" fmla="*/ 2147483646 w 285"/>
              <a:gd name="T69" fmla="*/ 2147483646 h 61"/>
              <a:gd name="T70" fmla="*/ 2147483646 w 285"/>
              <a:gd name="T71" fmla="*/ 2147483646 h 61"/>
              <a:gd name="T72" fmla="*/ 2147483646 w 285"/>
              <a:gd name="T73" fmla="*/ 2147483646 h 61"/>
              <a:gd name="T74" fmla="*/ 2147483646 w 285"/>
              <a:gd name="T75" fmla="*/ 2147483646 h 61"/>
              <a:gd name="T76" fmla="*/ 2147483646 w 285"/>
              <a:gd name="T77" fmla="*/ 2147483646 h 61"/>
              <a:gd name="T78" fmla="*/ 2147483646 w 285"/>
              <a:gd name="T79" fmla="*/ 2147483646 h 61"/>
              <a:gd name="T80" fmla="*/ 2147483646 w 285"/>
              <a:gd name="T81" fmla="*/ 2147483646 h 61"/>
              <a:gd name="T82" fmla="*/ 2147483646 w 285"/>
              <a:gd name="T83" fmla="*/ 2147483646 h 61"/>
              <a:gd name="T84" fmla="*/ 2147483646 w 285"/>
              <a:gd name="T85" fmla="*/ 2147483646 h 61"/>
              <a:gd name="T86" fmla="*/ 2147483646 w 285"/>
              <a:gd name="T87" fmla="*/ 2147483646 h 6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85" h="61">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pic>
        <p:nvPicPr>
          <p:cNvPr id="10" name="Picture 8" descr="Cover-6Ed"/>
          <p:cNvPicPr>
            <a:picLocks noChangeAspect="1" noChangeArrowheads="1"/>
          </p:cNvPicPr>
          <p:nvPr userDrawn="1"/>
        </p:nvPicPr>
        <p:blipFill>
          <a:blip r:embed="rId14"/>
          <a:stretch>
            <a:fillRect/>
          </a:stretch>
        </p:blipFill>
        <p:spPr bwMode="auto">
          <a:xfrm>
            <a:off x="5546" y="0"/>
            <a:ext cx="742012" cy="947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61"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 id="2147483760" r:id="rId12"/>
  </p:sldLayoutIdLst>
  <p:txStyles>
    <p:titleStyle>
      <a:lvl1pPr algn="ctr" rtl="0" eaLnBrk="0" fontAlgn="base" hangingPunct="0">
        <a:spcBef>
          <a:spcPct val="0"/>
        </a:spcBef>
        <a:spcAft>
          <a:spcPct val="0"/>
        </a:spcAft>
        <a:defRPr kumimoji="1" sz="2800" b="1">
          <a:solidFill>
            <a:srgbClr val="002060"/>
          </a:solidFill>
          <a:effectLst>
            <a:outerShdw blurRad="38100" dist="38100" dir="2700000" algn="tl">
              <a:srgbClr val="DDDDDD"/>
            </a:outerShdw>
          </a:effectLst>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9pPr>
    </p:titleStyle>
    <p:bodyStyle>
      <a:lvl1pPr marL="342900" indent="-342900" algn="l" rtl="0" eaLnBrk="0" fontAlgn="base" hangingPunct="0">
        <a:spcBef>
          <a:spcPct val="35000"/>
        </a:spcBef>
        <a:spcAft>
          <a:spcPct val="0"/>
        </a:spcAft>
        <a:buClr>
          <a:srgbClr val="002060"/>
        </a:buClr>
        <a:buSzPct val="100000"/>
        <a:buFont typeface="Monotype Sorts" pitchFamily="-65" charset="2"/>
        <a:buChar char="n"/>
        <a:defRPr kumimoji="1" sz="1700">
          <a:solidFill>
            <a:schemeClr val="tx1"/>
          </a:solidFill>
          <a:latin typeface="+mn-lt"/>
          <a:ea typeface="MS PGothic" panose="020B0600070205080204" pitchFamily="34" charset="-128"/>
          <a:cs typeface="ＭＳ Ｐゴシック" charset="0"/>
        </a:defRPr>
      </a:lvl1pPr>
      <a:lvl2pPr marL="742950" indent="-285750" algn="l" rtl="0" eaLnBrk="0" fontAlgn="base" hangingPunct="0">
        <a:spcBef>
          <a:spcPct val="35000"/>
        </a:spcBef>
        <a:spcAft>
          <a:spcPct val="0"/>
        </a:spcAft>
        <a:buClr>
          <a:schemeClr val="folHlink"/>
        </a:buClr>
        <a:buSzPct val="95000"/>
        <a:buFont typeface="Monotype Sorts" pitchFamily="-65" charset="2"/>
        <a:buChar char="l"/>
        <a:defRPr kumimoji="1" sz="17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33CC33"/>
        </a:buClr>
        <a:buSzPct val="85000"/>
        <a:buFont typeface="Webdings" panose="05030102010509060703" pitchFamily="18" charset="2"/>
        <a:buChar char="4"/>
        <a:defRPr kumimoji="1" sz="17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Font typeface="Times New Roman" panose="02020603050405020304" pitchFamily="18" charset="0"/>
        <a:buChar char="–"/>
        <a:defRPr kumimoji="1" sz="17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chemeClr val="tx2"/>
        </a:buClr>
        <a:buSzPct val="75000"/>
        <a:buChar char="»"/>
        <a:defRPr kumimoji="1" sz="17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6D0E67A-7F0B-46D5-BCFA-1287AF4962F3}"/>
              </a:ext>
            </a:extLst>
          </p:cNvPr>
          <p:cNvSpPr>
            <a:spLocks noGrp="1" noChangeArrowheads="1"/>
          </p:cNvSpPr>
          <p:nvPr>
            <p:ph type="ctrTitle"/>
          </p:nvPr>
        </p:nvSpPr>
        <p:spPr>
          <a:extLst>
            <a:ext uri="{909E8E84-426E-40dd-AFC4-6F175D3DCCD1}"/>
            <a:ext uri="{91240B29-F687-4f45-9708-019B960494DF}"/>
            <a:ext uri="{FAA26D3D-D897-4be2-8F04-BA451C77F1D7}"/>
          </a:extLst>
        </p:spPr>
        <p:txBody>
          <a:bodyPr/>
          <a:lstStyle/>
          <a:p>
            <a:pPr>
              <a:defRPr/>
            </a:pPr>
            <a:r>
              <a:rPr lang="en-US" altLang="en-US" dirty="0">
                <a:effectLst>
                  <a:outerShdw blurRad="38100" dist="38100" dir="2700000" algn="tl">
                    <a:srgbClr val="C0C0C0"/>
                  </a:outerShdw>
                </a:effectLst>
                <a:ea typeface="ＭＳ Ｐゴシック" pitchFamily="34" charset="-128"/>
              </a:rPr>
              <a:t>Chapter 7:  Normalization</a:t>
            </a:r>
          </a:p>
        </p:txBody>
      </p:sp>
    </p:spTree>
    <p:extLst>
      <p:ext uri="{BB962C8B-B14F-4D97-AF65-F5344CB8AC3E}">
        <p14:creationId xmlns:p14="http://schemas.microsoft.com/office/powerpoint/2010/main" val="33992374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1858963" y="2798064"/>
            <a:ext cx="5589587" cy="866274"/>
          </a:xfrm>
        </p:spPr>
        <p:txBody>
          <a:bodyPr/>
          <a:lstStyle/>
          <a:p>
            <a:pPr>
              <a:buFont typeface="Monotype Sorts" charset="2"/>
              <a:buNone/>
              <a:defRPr/>
            </a:pPr>
            <a:r>
              <a:rPr lang="en-US" altLang="en-US" sz="3200" b="1" dirty="0">
                <a:solidFill>
                  <a:srgbClr val="002060"/>
                </a:solidFill>
                <a:effectLst>
                  <a:outerShdw blurRad="38100" dist="38100" dir="2700000" algn="tl">
                    <a:srgbClr val="C0C0C0"/>
                  </a:outerShdw>
                </a:effectLst>
                <a:latin typeface="+mj-lt"/>
                <a:ea typeface="ＭＳ Ｐゴシック" pitchFamily="34" charset="-128"/>
                <a:cs typeface="+mj-cs"/>
              </a:rPr>
              <a:t>Overview of Normalization</a:t>
            </a:r>
          </a:p>
        </p:txBody>
      </p:sp>
    </p:spTree>
    <p:extLst>
      <p:ext uri="{BB962C8B-B14F-4D97-AF65-F5344CB8AC3E}">
        <p14:creationId xmlns:p14="http://schemas.microsoft.com/office/powerpoint/2010/main" val="1312319725"/>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FFA98-F355-7AA5-0AB3-F5611F76DC41}"/>
              </a:ext>
            </a:extLst>
          </p:cNvPr>
          <p:cNvSpPr>
            <a:spLocks noGrp="1"/>
          </p:cNvSpPr>
          <p:nvPr>
            <p:ph type="title"/>
          </p:nvPr>
        </p:nvSpPr>
        <p:spPr/>
        <p:txBody>
          <a:bodyPr/>
          <a:lstStyle/>
          <a:p>
            <a:r>
              <a:rPr lang="en-US" dirty="0"/>
              <a:t>Problems Without Normalization (Example 1)</a:t>
            </a:r>
          </a:p>
        </p:txBody>
      </p:sp>
      <p:sp>
        <p:nvSpPr>
          <p:cNvPr id="3" name="Content Placeholder 2">
            <a:extLst>
              <a:ext uri="{FF2B5EF4-FFF2-40B4-BE49-F238E27FC236}">
                <a16:creationId xmlns:a16="http://schemas.microsoft.com/office/drawing/2014/main" id="{DA073B07-719B-FDFD-A528-4587F6F45146}"/>
              </a:ext>
            </a:extLst>
          </p:cNvPr>
          <p:cNvSpPr>
            <a:spLocks noGrp="1"/>
          </p:cNvSpPr>
          <p:nvPr>
            <p:ph idx="1"/>
          </p:nvPr>
        </p:nvSpPr>
        <p:spPr>
          <a:xfrm>
            <a:off x="814388" y="1093788"/>
            <a:ext cx="7661275" cy="4903787"/>
          </a:xfrm>
        </p:spPr>
        <p:txBody>
          <a:bodyPr/>
          <a:lstStyle/>
          <a:p>
            <a:r>
              <a:rPr lang="en-US" dirty="0"/>
              <a:t>If a table is not properly normalized and have data redundancy then it will not only eat up extra memory space but will also make it difficult to handle and update the database, without facing data loss. Insertion, </a:t>
            </a:r>
            <a:r>
              <a:rPr lang="en-US" dirty="0" err="1"/>
              <a:t>Updation</a:t>
            </a:r>
            <a:r>
              <a:rPr lang="en-US" dirty="0"/>
              <a:t> and Deletion Anomalies are very frequent if database is not normalized. To understand these anomalies let us take an example of a Student table.</a:t>
            </a:r>
          </a:p>
          <a:p>
            <a:endParaRPr lang="en-US" dirty="0"/>
          </a:p>
          <a:p>
            <a:endParaRPr lang="en-US" dirty="0"/>
          </a:p>
          <a:p>
            <a:endParaRPr lang="en-US" dirty="0"/>
          </a:p>
          <a:p>
            <a:endParaRPr lang="en-US" dirty="0"/>
          </a:p>
          <a:p>
            <a:endParaRPr lang="en-US" dirty="0"/>
          </a:p>
          <a:p>
            <a:endParaRPr lang="en-US" dirty="0"/>
          </a:p>
          <a:p>
            <a:r>
              <a:rPr lang="en-US" dirty="0"/>
              <a:t>In the table above, we have data of 4 Computer Sci. students. As we can see, data for the fields branch, hod(Head of Department) and </a:t>
            </a:r>
            <a:r>
              <a:rPr lang="en-US" dirty="0" err="1"/>
              <a:t>office_tel</a:t>
            </a:r>
            <a:r>
              <a:rPr lang="en-US" dirty="0"/>
              <a:t> is repeated for the students who are in the same branch in the college, this is Data Redundancy.</a:t>
            </a:r>
          </a:p>
        </p:txBody>
      </p:sp>
      <p:pic>
        <p:nvPicPr>
          <p:cNvPr id="5" name="Picture 4">
            <a:extLst>
              <a:ext uri="{FF2B5EF4-FFF2-40B4-BE49-F238E27FC236}">
                <a16:creationId xmlns:a16="http://schemas.microsoft.com/office/drawing/2014/main" id="{51A1145F-195F-EFC4-DF11-B3C9DCC59ACF}"/>
              </a:ext>
            </a:extLst>
          </p:cNvPr>
          <p:cNvPicPr>
            <a:picLocks noChangeAspect="1"/>
          </p:cNvPicPr>
          <p:nvPr/>
        </p:nvPicPr>
        <p:blipFill>
          <a:blip r:embed="rId2"/>
          <a:stretch>
            <a:fillRect/>
          </a:stretch>
        </p:blipFill>
        <p:spPr>
          <a:xfrm>
            <a:off x="1729493" y="2661684"/>
            <a:ext cx="5685013" cy="1767993"/>
          </a:xfrm>
          <a:prstGeom prst="rect">
            <a:avLst/>
          </a:prstGeom>
        </p:spPr>
      </p:pic>
    </p:spTree>
    <p:extLst>
      <p:ext uri="{BB962C8B-B14F-4D97-AF65-F5344CB8AC3E}">
        <p14:creationId xmlns:p14="http://schemas.microsoft.com/office/powerpoint/2010/main" val="4225775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104A2-5CDE-375A-EC27-D89852C4C843}"/>
              </a:ext>
            </a:extLst>
          </p:cNvPr>
          <p:cNvSpPr>
            <a:spLocks noGrp="1"/>
          </p:cNvSpPr>
          <p:nvPr>
            <p:ph type="title"/>
          </p:nvPr>
        </p:nvSpPr>
        <p:spPr/>
        <p:txBody>
          <a:bodyPr/>
          <a:lstStyle/>
          <a:p>
            <a:r>
              <a:rPr lang="en-US" dirty="0"/>
              <a:t>Example 1</a:t>
            </a:r>
          </a:p>
        </p:txBody>
      </p:sp>
      <p:sp>
        <p:nvSpPr>
          <p:cNvPr id="3" name="Content Placeholder 2">
            <a:extLst>
              <a:ext uri="{FF2B5EF4-FFF2-40B4-BE49-F238E27FC236}">
                <a16:creationId xmlns:a16="http://schemas.microsoft.com/office/drawing/2014/main" id="{7A02D226-9B4B-2A6E-C991-66FE19FC7C93}"/>
              </a:ext>
            </a:extLst>
          </p:cNvPr>
          <p:cNvSpPr>
            <a:spLocks noGrp="1"/>
          </p:cNvSpPr>
          <p:nvPr>
            <p:ph idx="1"/>
          </p:nvPr>
        </p:nvSpPr>
        <p:spPr/>
        <p:txBody>
          <a:bodyPr/>
          <a:lstStyle/>
          <a:p>
            <a:r>
              <a:rPr lang="en-US" b="1" dirty="0"/>
              <a:t>Insertion Anomaly </a:t>
            </a:r>
            <a:r>
              <a:rPr lang="en-US" dirty="0"/>
              <a:t>Suppose for a new admission, until and unless a student opts for a branch, data of the student cannot be inserted, or else we will have to set the branch information as NULL. Also, if we have to insert data of 100 students of same branch, then the branch &amp; other information will be repeated for all those 100 students. These scenarios are nothing but Insertion anomalies.</a:t>
            </a:r>
          </a:p>
          <a:p>
            <a:r>
              <a:rPr lang="en-US" b="1" dirty="0" err="1"/>
              <a:t>Updation</a:t>
            </a:r>
            <a:r>
              <a:rPr lang="en-US" b="1" dirty="0"/>
              <a:t> Anomaly </a:t>
            </a:r>
            <a:r>
              <a:rPr lang="en-US" dirty="0"/>
              <a:t>What if Mr. X leaves the college? or is no longer the HOD of computer science department? In that case all the student records will have to be updated, and if by mistake we miss any record, it will lead to data inconsistency. This is </a:t>
            </a:r>
            <a:r>
              <a:rPr lang="en-US" dirty="0" err="1"/>
              <a:t>Updation</a:t>
            </a:r>
            <a:r>
              <a:rPr lang="en-US" dirty="0"/>
              <a:t> anomaly.</a:t>
            </a:r>
          </a:p>
          <a:p>
            <a:r>
              <a:rPr lang="en-US" b="1" dirty="0"/>
              <a:t>Deletion Anomaly </a:t>
            </a:r>
            <a:r>
              <a:rPr lang="en-US" dirty="0"/>
              <a:t>In our Student table, two different </a:t>
            </a:r>
            <a:r>
              <a:rPr lang="en-US" dirty="0" err="1"/>
              <a:t>informations</a:t>
            </a:r>
            <a:r>
              <a:rPr lang="en-US" dirty="0"/>
              <a:t> are kept together, Student information and Branch information. Hence, at the end of the academic year, if student records are deleted, we will also lose the branch information. This is Deletion anomaly.</a:t>
            </a:r>
          </a:p>
        </p:txBody>
      </p:sp>
    </p:spTree>
    <p:extLst>
      <p:ext uri="{BB962C8B-B14F-4D97-AF65-F5344CB8AC3E}">
        <p14:creationId xmlns:p14="http://schemas.microsoft.com/office/powerpoint/2010/main" val="60536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8260C-9670-DA6D-3B2E-21A6F2E970D6}"/>
              </a:ext>
            </a:extLst>
          </p:cNvPr>
          <p:cNvSpPr>
            <a:spLocks noGrp="1"/>
          </p:cNvSpPr>
          <p:nvPr>
            <p:ph type="title"/>
          </p:nvPr>
        </p:nvSpPr>
        <p:spPr/>
        <p:txBody>
          <a:bodyPr/>
          <a:lstStyle/>
          <a:p>
            <a:r>
              <a:rPr lang="en-US" dirty="0"/>
              <a:t>Example 2</a:t>
            </a:r>
          </a:p>
        </p:txBody>
      </p:sp>
      <p:sp>
        <p:nvSpPr>
          <p:cNvPr id="3" name="Content Placeholder 2">
            <a:extLst>
              <a:ext uri="{FF2B5EF4-FFF2-40B4-BE49-F238E27FC236}">
                <a16:creationId xmlns:a16="http://schemas.microsoft.com/office/drawing/2014/main" id="{7E672B25-22E1-2C54-F13B-D5FD34CC751D}"/>
              </a:ext>
            </a:extLst>
          </p:cNvPr>
          <p:cNvSpPr>
            <a:spLocks noGrp="1"/>
          </p:cNvSpPr>
          <p:nvPr>
            <p:ph idx="1"/>
          </p:nvPr>
        </p:nvSpPr>
        <p:spPr/>
        <p:txBody>
          <a:bodyPr/>
          <a:lstStyle/>
          <a:p>
            <a:pPr marL="0" indent="0">
              <a:buNone/>
            </a:pPr>
            <a:r>
              <a:rPr lang="en-US" sz="1600" b="1" i="0" u="none" strike="noStrike" baseline="0" dirty="0">
                <a:solidFill>
                  <a:srgbClr val="000000"/>
                </a:solidFill>
                <a:latin typeface="Times New Roman" panose="02020603050405020304" pitchFamily="18" charset="0"/>
              </a:rPr>
              <a:t> </a:t>
            </a:r>
            <a:r>
              <a:rPr lang="en-US" sz="1600" b="1" i="0" u="none" strike="noStrike" baseline="0" dirty="0" err="1">
                <a:solidFill>
                  <a:srgbClr val="000000"/>
                </a:solidFill>
                <a:latin typeface="Times New Roman" panose="02020603050405020304" pitchFamily="18" charset="0"/>
              </a:rPr>
              <a:t>emp_id</a:t>
            </a:r>
            <a:r>
              <a:rPr lang="en-US" sz="1600" b="1" i="0" u="none" strike="noStrike" baseline="0" dirty="0">
                <a:solidFill>
                  <a:srgbClr val="000000"/>
                </a:solidFill>
                <a:latin typeface="Times New Roman" panose="02020603050405020304" pitchFamily="18" charset="0"/>
              </a:rPr>
              <a:t> 	</a:t>
            </a:r>
            <a:r>
              <a:rPr lang="en-US" sz="1600" b="1" i="0" u="none" strike="noStrike" baseline="0" dirty="0" err="1">
                <a:solidFill>
                  <a:srgbClr val="000000"/>
                </a:solidFill>
                <a:latin typeface="Times New Roman" panose="02020603050405020304" pitchFamily="18" charset="0"/>
              </a:rPr>
              <a:t>emp_name</a:t>
            </a:r>
            <a:r>
              <a:rPr lang="en-US" sz="1600" b="1" i="0" u="none" strike="noStrike" baseline="0" dirty="0">
                <a:solidFill>
                  <a:srgbClr val="000000"/>
                </a:solidFill>
                <a:latin typeface="Times New Roman" panose="02020603050405020304" pitchFamily="18" charset="0"/>
              </a:rPr>
              <a:t> 	</a:t>
            </a:r>
            <a:r>
              <a:rPr lang="en-US" sz="1600" b="1" i="0" u="none" strike="noStrike" baseline="0" dirty="0" err="1">
                <a:solidFill>
                  <a:srgbClr val="000000"/>
                </a:solidFill>
                <a:latin typeface="Times New Roman" panose="02020603050405020304" pitchFamily="18" charset="0"/>
              </a:rPr>
              <a:t>emp_address</a:t>
            </a:r>
            <a:r>
              <a:rPr lang="en-US" sz="1600" b="1" i="0" u="none" strike="noStrike" baseline="0" dirty="0">
                <a:solidFill>
                  <a:srgbClr val="000000"/>
                </a:solidFill>
                <a:latin typeface="Times New Roman" panose="02020603050405020304" pitchFamily="18" charset="0"/>
              </a:rPr>
              <a:t> 	</a:t>
            </a:r>
            <a:r>
              <a:rPr lang="en-US" sz="1600" b="1" i="0" u="none" strike="noStrike" baseline="0" dirty="0" err="1">
                <a:solidFill>
                  <a:srgbClr val="000000"/>
                </a:solidFill>
                <a:latin typeface="Times New Roman" panose="02020603050405020304" pitchFamily="18" charset="0"/>
              </a:rPr>
              <a:t>emp_dept</a:t>
            </a:r>
            <a:r>
              <a:rPr lang="en-US" sz="1600" b="1" i="0" u="none" strike="noStrike" baseline="0" dirty="0">
                <a:solidFill>
                  <a:srgbClr val="000000"/>
                </a:solidFill>
                <a:latin typeface="Times New Roman" panose="02020603050405020304" pitchFamily="18" charset="0"/>
              </a:rPr>
              <a:t> 	</a:t>
            </a:r>
          </a:p>
          <a:p>
            <a:pPr marL="0" indent="0">
              <a:buNone/>
            </a:pPr>
            <a:r>
              <a:rPr lang="en-US" sz="1600" b="0" i="0" u="none" strike="noStrike" baseline="0" dirty="0">
                <a:solidFill>
                  <a:srgbClr val="000000"/>
                </a:solidFill>
                <a:latin typeface="Times New Roman" panose="02020603050405020304" pitchFamily="18" charset="0"/>
              </a:rPr>
              <a:t>101 	Rick 		Delhi 		D001 	</a:t>
            </a:r>
          </a:p>
          <a:p>
            <a:pPr marL="0" indent="0">
              <a:buNone/>
            </a:pPr>
            <a:r>
              <a:rPr lang="en-US" sz="1600" b="0" i="0" u="none" strike="noStrike" baseline="0" dirty="0">
                <a:solidFill>
                  <a:srgbClr val="000000"/>
                </a:solidFill>
                <a:latin typeface="Times New Roman" panose="02020603050405020304" pitchFamily="18" charset="0"/>
              </a:rPr>
              <a:t>101 	Rick 		Delhi 		D002 	</a:t>
            </a:r>
          </a:p>
          <a:p>
            <a:pPr marL="0" indent="0">
              <a:buNone/>
            </a:pPr>
            <a:r>
              <a:rPr lang="en-US" sz="1600" b="0" i="0" u="none" strike="noStrike" baseline="0" dirty="0">
                <a:solidFill>
                  <a:srgbClr val="000000"/>
                </a:solidFill>
                <a:latin typeface="Times New Roman" panose="02020603050405020304" pitchFamily="18" charset="0"/>
              </a:rPr>
              <a:t>123 	Maggie 		Agra 		D890 	</a:t>
            </a:r>
          </a:p>
          <a:p>
            <a:pPr marL="0" indent="0">
              <a:buNone/>
            </a:pPr>
            <a:r>
              <a:rPr lang="en-US" sz="1600" b="0" i="0" u="none" strike="noStrike" baseline="0" dirty="0">
                <a:solidFill>
                  <a:srgbClr val="000000"/>
                </a:solidFill>
                <a:latin typeface="Times New Roman" panose="02020603050405020304" pitchFamily="18" charset="0"/>
              </a:rPr>
              <a:t>166 	Glenn 		Chennai 		D900 	</a:t>
            </a:r>
          </a:p>
          <a:p>
            <a:pPr marL="0" indent="0">
              <a:buNone/>
            </a:pPr>
            <a:r>
              <a:rPr lang="en-US" sz="1600" b="0" i="0" u="none" strike="noStrike" baseline="0" dirty="0">
                <a:solidFill>
                  <a:srgbClr val="000000"/>
                </a:solidFill>
                <a:latin typeface="Times New Roman" panose="02020603050405020304" pitchFamily="18" charset="0"/>
              </a:rPr>
              <a:t>166 	Glenn 		Chennai 		D004 	</a:t>
            </a:r>
          </a:p>
          <a:p>
            <a:pPr marL="0" indent="0">
              <a:buNone/>
            </a:pPr>
            <a:endParaRPr lang="en-US" dirty="0"/>
          </a:p>
          <a:p>
            <a:pPr algn="just"/>
            <a:r>
              <a:rPr lang="en-US" sz="1800" b="0" i="0" u="none" strike="noStrike" baseline="0" dirty="0">
                <a:solidFill>
                  <a:srgbClr val="000000"/>
                </a:solidFill>
                <a:latin typeface="Times New Roman" panose="02020603050405020304" pitchFamily="18" charset="0"/>
              </a:rPr>
              <a:t> </a:t>
            </a:r>
            <a:r>
              <a:rPr lang="en-US" sz="1800" b="1" i="0" u="none" strike="noStrike" baseline="0" dirty="0">
                <a:solidFill>
                  <a:srgbClr val="000000"/>
                </a:solidFill>
                <a:latin typeface="Times New Roman" panose="02020603050405020304" pitchFamily="18" charset="0"/>
              </a:rPr>
              <a:t>Update anomaly</a:t>
            </a:r>
            <a:r>
              <a:rPr lang="en-US" sz="1800" b="0" i="0" u="none" strike="noStrike" baseline="0" dirty="0">
                <a:solidFill>
                  <a:srgbClr val="000000"/>
                </a:solidFill>
                <a:latin typeface="Times New Roman" panose="02020603050405020304" pitchFamily="18" charset="0"/>
              </a:rPr>
              <a:t>: In the above table we have two rows for employee Rick as he belongs to two departments of the company. If we want to update the address of Rick then we have to update the same in two rows or the data will become inconsistent. If somehow, the correct address gets updated in one department but not in other then as per the database, Rick would be having two different addresses, which is not correct and would lead to inconsistent data. </a:t>
            </a:r>
          </a:p>
        </p:txBody>
      </p:sp>
    </p:spTree>
    <p:extLst>
      <p:ext uri="{BB962C8B-B14F-4D97-AF65-F5344CB8AC3E}">
        <p14:creationId xmlns:p14="http://schemas.microsoft.com/office/powerpoint/2010/main" val="36402936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D6F5B-69EA-4B0A-403D-44EDD1CAD015}"/>
              </a:ext>
            </a:extLst>
          </p:cNvPr>
          <p:cNvSpPr>
            <a:spLocks noGrp="1"/>
          </p:cNvSpPr>
          <p:nvPr>
            <p:ph type="title"/>
          </p:nvPr>
        </p:nvSpPr>
        <p:spPr/>
        <p:txBody>
          <a:bodyPr/>
          <a:lstStyle/>
          <a:p>
            <a:r>
              <a:rPr lang="en-US" dirty="0"/>
              <a:t>Example 2</a:t>
            </a:r>
          </a:p>
        </p:txBody>
      </p:sp>
      <p:sp>
        <p:nvSpPr>
          <p:cNvPr id="3" name="Content Placeholder 2">
            <a:extLst>
              <a:ext uri="{FF2B5EF4-FFF2-40B4-BE49-F238E27FC236}">
                <a16:creationId xmlns:a16="http://schemas.microsoft.com/office/drawing/2014/main" id="{495BEA3C-1D64-8A49-E436-C316F1899DC8}"/>
              </a:ext>
            </a:extLst>
          </p:cNvPr>
          <p:cNvSpPr>
            <a:spLocks noGrp="1"/>
          </p:cNvSpPr>
          <p:nvPr>
            <p:ph idx="1"/>
          </p:nvPr>
        </p:nvSpPr>
        <p:spPr/>
        <p:txBody>
          <a:bodyPr/>
          <a:lstStyle/>
          <a:p>
            <a:pPr algn="just"/>
            <a:r>
              <a:rPr lang="en-US" sz="1800" b="1" dirty="0">
                <a:solidFill>
                  <a:srgbClr val="000000"/>
                </a:solidFill>
                <a:latin typeface="Times New Roman" panose="02020603050405020304" pitchFamily="18" charset="0"/>
              </a:rPr>
              <a:t>Insert anomaly</a:t>
            </a:r>
            <a:r>
              <a:rPr lang="en-US" sz="1800" dirty="0">
                <a:solidFill>
                  <a:srgbClr val="000000"/>
                </a:solidFill>
                <a:latin typeface="Times New Roman" panose="02020603050405020304" pitchFamily="18" charset="0"/>
              </a:rPr>
              <a:t>: Suppose a new employee joins the company, who is under training and currently not assigned to any department then we would not be able to insert the data into the table if </a:t>
            </a:r>
            <a:r>
              <a:rPr lang="en-US" sz="1800" dirty="0" err="1">
                <a:solidFill>
                  <a:srgbClr val="000000"/>
                </a:solidFill>
                <a:latin typeface="Times New Roman" panose="02020603050405020304" pitchFamily="18" charset="0"/>
              </a:rPr>
              <a:t>emp_dept</a:t>
            </a:r>
            <a:r>
              <a:rPr lang="en-US" sz="1800" dirty="0">
                <a:solidFill>
                  <a:srgbClr val="000000"/>
                </a:solidFill>
                <a:latin typeface="Times New Roman" panose="02020603050405020304" pitchFamily="18" charset="0"/>
              </a:rPr>
              <a:t> field doesn’t allow nulls. </a:t>
            </a:r>
          </a:p>
          <a:p>
            <a:pPr algn="just"/>
            <a:r>
              <a:rPr lang="en-US" sz="1800" b="1" dirty="0">
                <a:solidFill>
                  <a:srgbClr val="000000"/>
                </a:solidFill>
                <a:latin typeface="Times New Roman" panose="02020603050405020304" pitchFamily="18" charset="0"/>
              </a:rPr>
              <a:t>Delete anomaly</a:t>
            </a:r>
            <a:r>
              <a:rPr lang="en-US" sz="1800" dirty="0">
                <a:solidFill>
                  <a:srgbClr val="000000"/>
                </a:solidFill>
                <a:latin typeface="Times New Roman" panose="02020603050405020304" pitchFamily="18" charset="0"/>
              </a:rPr>
              <a:t>: Suppose, if at a point of time the company closes the department D890 then deleting the rows that are having </a:t>
            </a:r>
            <a:r>
              <a:rPr lang="en-US" sz="1800" dirty="0" err="1">
                <a:solidFill>
                  <a:srgbClr val="000000"/>
                </a:solidFill>
                <a:latin typeface="Times New Roman" panose="02020603050405020304" pitchFamily="18" charset="0"/>
              </a:rPr>
              <a:t>emp_dept</a:t>
            </a:r>
            <a:r>
              <a:rPr lang="en-US" sz="1800" dirty="0">
                <a:solidFill>
                  <a:srgbClr val="000000"/>
                </a:solidFill>
                <a:latin typeface="Times New Roman" panose="02020603050405020304" pitchFamily="18" charset="0"/>
              </a:rPr>
              <a:t> as D890 would also delete the information of employee Maggie since she is assigned only to this department. </a:t>
            </a:r>
          </a:p>
          <a:p>
            <a:pPr algn="just"/>
            <a:r>
              <a:rPr lang="en-US" sz="1800" dirty="0">
                <a:solidFill>
                  <a:srgbClr val="000000"/>
                </a:solidFill>
                <a:latin typeface="Times New Roman" panose="02020603050405020304" pitchFamily="18" charset="0"/>
              </a:rPr>
              <a:t>To overcome these anomalies we need to normalize the data. </a:t>
            </a:r>
            <a:endParaRPr lang="en-US" sz="1800" dirty="0"/>
          </a:p>
        </p:txBody>
      </p:sp>
    </p:spTree>
    <p:extLst>
      <p:ext uri="{BB962C8B-B14F-4D97-AF65-F5344CB8AC3E}">
        <p14:creationId xmlns:p14="http://schemas.microsoft.com/office/powerpoint/2010/main" val="30579922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2290" name="Rectangle 2"/>
          <p:cNvSpPr>
            <a:spLocks noGrp="1" noChangeArrowheads="1"/>
          </p:cNvSpPr>
          <p:nvPr>
            <p:ph type="title"/>
          </p:nvPr>
        </p:nvSpPr>
        <p:spPr/>
        <p:txBody>
          <a:bodyPr/>
          <a:lstStyle/>
          <a:p>
            <a:pPr>
              <a:defRPr/>
            </a:pPr>
            <a:r>
              <a:rPr lang="en-US" altLang="en-US" sz="2800" dirty="0">
                <a:effectLst>
                  <a:outerShdw blurRad="38100" dist="38100" dir="2700000" algn="tl">
                    <a:srgbClr val="C0C0C0"/>
                  </a:outerShdw>
                </a:effectLst>
                <a:ea typeface="ＭＳ Ｐゴシック" pitchFamily="34" charset="-128"/>
              </a:rPr>
              <a:t>Idea of Decomposition</a:t>
            </a:r>
          </a:p>
        </p:txBody>
      </p:sp>
      <p:sp>
        <p:nvSpPr>
          <p:cNvPr id="8195" name="Rectangle 3"/>
          <p:cNvSpPr>
            <a:spLocks noGrp="1" noChangeArrowheads="1"/>
          </p:cNvSpPr>
          <p:nvPr>
            <p:ph type="body" idx="1"/>
          </p:nvPr>
        </p:nvSpPr>
        <p:spPr>
          <a:xfrm>
            <a:off x="752020" y="1111060"/>
            <a:ext cx="7661585" cy="5020788"/>
          </a:xfrm>
        </p:spPr>
        <p:txBody>
          <a:bodyPr/>
          <a:lstStyle/>
          <a:p>
            <a:pPr marL="0" indent="0">
              <a:buNone/>
            </a:pPr>
            <a:r>
              <a:rPr lang="en-US" altLang="en-US" sz="1700" i="1" dirty="0"/>
              <a:t>				In Dept</a:t>
            </a:r>
          </a:p>
          <a:p>
            <a:endParaRPr lang="en-US" altLang="en-US" sz="1700" i="1" dirty="0"/>
          </a:p>
          <a:p>
            <a:endParaRPr lang="en-US" altLang="en-US" sz="1700" i="1" dirty="0"/>
          </a:p>
          <a:p>
            <a:endParaRPr lang="en-US" altLang="en-US" sz="1700" i="1" dirty="0"/>
          </a:p>
          <a:p>
            <a:endParaRPr lang="en-US" altLang="en-US" i="1" dirty="0"/>
          </a:p>
          <a:p>
            <a:endParaRPr lang="en-US" altLang="en-US" sz="1700" i="1" dirty="0"/>
          </a:p>
          <a:p>
            <a:endParaRPr lang="en-US" altLang="en-US" i="1" dirty="0"/>
          </a:p>
          <a:p>
            <a:endParaRPr lang="en-US" altLang="en-US" sz="1700" i="1" dirty="0"/>
          </a:p>
          <a:p>
            <a:endParaRPr lang="en-US" altLang="en-US" sz="1700" i="1" dirty="0"/>
          </a:p>
          <a:p>
            <a:endParaRPr lang="en-US" altLang="en-US" sz="1700" i="1" dirty="0"/>
          </a:p>
          <a:p>
            <a:endParaRPr lang="en-US" altLang="en-US" sz="1700" dirty="0"/>
          </a:p>
          <a:p>
            <a:r>
              <a:rPr lang="en-US" altLang="en-US" sz="1700" dirty="0"/>
              <a:t>There is repetition of information (i.e. </a:t>
            </a:r>
            <a:r>
              <a:rPr lang="en-US" altLang="en-US" sz="1700" dirty="0" err="1"/>
              <a:t>deptname</a:t>
            </a:r>
            <a:r>
              <a:rPr lang="en-US" altLang="en-US" sz="1700" dirty="0"/>
              <a:t>, building and budget)</a:t>
            </a:r>
          </a:p>
          <a:p>
            <a:endParaRPr lang="en-US" altLang="en-US" sz="2000" dirty="0"/>
          </a:p>
          <a:p>
            <a:endParaRPr lang="en-US" altLang="en-US" sz="2000" i="1" dirty="0"/>
          </a:p>
        </p:txBody>
      </p:sp>
      <p:pic>
        <p:nvPicPr>
          <p:cNvPr id="8196" name="Picture 5" descr="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85831" y="1622519"/>
            <a:ext cx="4553982" cy="2732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2424437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81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6386" name="Rectangle 2"/>
          <p:cNvSpPr>
            <a:spLocks noGrp="1" noChangeArrowheads="1"/>
          </p:cNvSpPr>
          <p:nvPr>
            <p:ph type="title"/>
          </p:nvPr>
        </p:nvSpPr>
        <p:spPr/>
        <p:txBody>
          <a:bodyPr/>
          <a:lstStyle/>
          <a:p>
            <a:pPr>
              <a:defRPr/>
            </a:pPr>
            <a:r>
              <a:rPr lang="en-US" altLang="en-US" sz="2800" dirty="0">
                <a:effectLst>
                  <a:outerShdw blurRad="38100" dist="38100" dir="2700000" algn="tl">
                    <a:srgbClr val="C0C0C0"/>
                  </a:outerShdw>
                </a:effectLst>
                <a:ea typeface="ＭＳ Ｐゴシック" pitchFamily="34" charset="-128"/>
              </a:rPr>
              <a:t>Decomposition</a:t>
            </a:r>
          </a:p>
        </p:txBody>
      </p:sp>
      <p:sp>
        <p:nvSpPr>
          <p:cNvPr id="10243" name="Rectangle 3"/>
          <p:cNvSpPr>
            <a:spLocks noGrp="1" noChangeArrowheads="1"/>
          </p:cNvSpPr>
          <p:nvPr>
            <p:ph type="body" idx="1"/>
          </p:nvPr>
        </p:nvSpPr>
        <p:spPr>
          <a:xfrm>
            <a:off x="768351" y="1093788"/>
            <a:ext cx="7594414" cy="5178425"/>
          </a:xfrm>
        </p:spPr>
        <p:txBody>
          <a:bodyPr/>
          <a:lstStyle/>
          <a:p>
            <a:r>
              <a:rPr lang="en-US" altLang="en-US" sz="1700" dirty="0"/>
              <a:t>The only way to avoid the repetition-of-information problem in the </a:t>
            </a:r>
            <a:r>
              <a:rPr lang="en-US" altLang="en-US" sz="1700" dirty="0" err="1"/>
              <a:t>i</a:t>
            </a:r>
            <a:r>
              <a:rPr lang="en-US" altLang="en-US" sz="1700" i="1" dirty="0" err="1"/>
              <a:t>n_dep</a:t>
            </a:r>
            <a:r>
              <a:rPr lang="en-US" altLang="en-US" sz="1700" dirty="0"/>
              <a:t> schema is to decompose it into two schemas – instructor and </a:t>
            </a:r>
            <a:r>
              <a:rPr lang="en-US" altLang="en-US" sz="1700" i="1" dirty="0"/>
              <a:t>department </a:t>
            </a:r>
            <a:r>
              <a:rPr lang="en-US" altLang="en-US" sz="1700" dirty="0"/>
              <a:t>schemas.</a:t>
            </a:r>
          </a:p>
          <a:p>
            <a:r>
              <a:rPr lang="en-US" altLang="en-US" sz="1700" dirty="0"/>
              <a:t>Not all decompositions are good.  Suppose we decompose</a:t>
            </a:r>
          </a:p>
          <a:p>
            <a:pPr>
              <a:buFont typeface="Monotype Sorts" pitchFamily="-84" charset="2"/>
              <a:buNone/>
            </a:pPr>
            <a:br>
              <a:rPr lang="en-US" altLang="en-US" sz="1700" dirty="0"/>
            </a:br>
            <a:r>
              <a:rPr lang="en-US" altLang="en-US" sz="1700" dirty="0"/>
              <a:t>       </a:t>
            </a:r>
            <a:r>
              <a:rPr lang="en-US" altLang="en-US" sz="1700" i="1" dirty="0"/>
              <a:t>employee(ID, name, street, city, salary)</a:t>
            </a:r>
            <a:r>
              <a:rPr lang="en-US" altLang="en-US" sz="1700" dirty="0"/>
              <a:t>  </a:t>
            </a:r>
          </a:p>
          <a:p>
            <a:pPr>
              <a:buFont typeface="Monotype Sorts" pitchFamily="-84" charset="2"/>
              <a:buNone/>
            </a:pPr>
            <a:r>
              <a:rPr lang="en-US" altLang="en-US" sz="1700" dirty="0"/>
              <a:t>       into</a:t>
            </a:r>
          </a:p>
          <a:p>
            <a:pPr>
              <a:buFont typeface="Monotype Sorts" pitchFamily="-84" charset="2"/>
              <a:buNone/>
            </a:pPr>
            <a:r>
              <a:rPr lang="en-US" altLang="en-US" sz="1700" dirty="0"/>
              <a:t>	       </a:t>
            </a:r>
            <a:r>
              <a:rPr lang="en-US" altLang="en-US" sz="1700" i="1" dirty="0"/>
              <a:t>employee1</a:t>
            </a:r>
            <a:r>
              <a:rPr lang="en-US" altLang="en-US" sz="1700" dirty="0"/>
              <a:t> (</a:t>
            </a:r>
            <a:r>
              <a:rPr lang="en-US" altLang="en-US" sz="1700" i="1" dirty="0"/>
              <a:t>ID</a:t>
            </a:r>
            <a:r>
              <a:rPr lang="en-US" altLang="en-US" sz="1700" dirty="0"/>
              <a:t>, </a:t>
            </a:r>
            <a:r>
              <a:rPr lang="en-US" altLang="en-US" sz="1700" i="1" dirty="0"/>
              <a:t>name</a:t>
            </a:r>
            <a:r>
              <a:rPr lang="en-US" altLang="en-US" sz="1700" dirty="0"/>
              <a:t>)</a:t>
            </a:r>
          </a:p>
          <a:p>
            <a:pPr>
              <a:buFont typeface="Monotype Sorts" pitchFamily="-84" charset="2"/>
              <a:buNone/>
            </a:pPr>
            <a:r>
              <a:rPr lang="en-US" altLang="en-US" sz="1700" dirty="0"/>
              <a:t>	       </a:t>
            </a:r>
            <a:r>
              <a:rPr lang="en-US" altLang="en-US" sz="1700" i="1" dirty="0"/>
              <a:t>employee2</a:t>
            </a:r>
            <a:r>
              <a:rPr lang="en-US" altLang="en-US" sz="1700" dirty="0"/>
              <a:t> (</a:t>
            </a:r>
            <a:r>
              <a:rPr lang="en-US" altLang="en-US" sz="1700" i="1" dirty="0"/>
              <a:t>name</a:t>
            </a:r>
            <a:r>
              <a:rPr lang="en-US" altLang="en-US" sz="1700" dirty="0"/>
              <a:t>, </a:t>
            </a:r>
            <a:r>
              <a:rPr lang="en-US" altLang="en-US" sz="1700" i="1" dirty="0"/>
              <a:t>street, city, salary</a:t>
            </a:r>
            <a:r>
              <a:rPr lang="en-US" altLang="en-US" sz="1700" dirty="0"/>
              <a:t>)</a:t>
            </a:r>
          </a:p>
          <a:p>
            <a:pPr>
              <a:buFont typeface="Monotype Sorts" pitchFamily="-84" charset="2"/>
              <a:buNone/>
            </a:pPr>
            <a:endParaRPr lang="en-US" altLang="en-US" sz="1700" dirty="0"/>
          </a:p>
          <a:p>
            <a:pPr>
              <a:buFont typeface="Monotype Sorts" pitchFamily="-84" charset="2"/>
              <a:buNone/>
            </a:pPr>
            <a:r>
              <a:rPr lang="en-US" altLang="en-US" sz="1700" dirty="0"/>
              <a:t>      The problem arises when we have two employees with the same name</a:t>
            </a:r>
          </a:p>
          <a:p>
            <a:r>
              <a:rPr lang="en-US" altLang="en-US" sz="1700" dirty="0"/>
              <a:t>The next slide shows how we lose information -- we cannot reconstruct the original </a:t>
            </a:r>
            <a:r>
              <a:rPr lang="en-US" altLang="en-US" sz="1700" i="1" dirty="0"/>
              <a:t>employee</a:t>
            </a:r>
            <a:r>
              <a:rPr lang="en-US" altLang="en-US" sz="1700" dirty="0"/>
              <a:t> relation -- and so, this is a </a:t>
            </a:r>
            <a:r>
              <a:rPr lang="en-US" altLang="en-US" sz="1700" b="1" dirty="0">
                <a:solidFill>
                  <a:srgbClr val="002060"/>
                </a:solidFill>
              </a:rPr>
              <a:t>lossy decomposition</a:t>
            </a:r>
            <a:r>
              <a:rPr lang="en-US" altLang="en-US" sz="1700" dirty="0"/>
              <a:t>.</a:t>
            </a:r>
          </a:p>
          <a:p>
            <a:pPr lvl="1">
              <a:buFont typeface="Monotype Sorts" pitchFamily="-84" charset="2"/>
              <a:buNone/>
            </a:pPr>
            <a:endParaRPr lang="en-US" altLang="en-US" sz="2000" i="1" dirty="0"/>
          </a:p>
          <a:p>
            <a:pPr lvl="1">
              <a:buFont typeface="Monotype Sorts" pitchFamily="-84" charset="2"/>
              <a:buNone/>
            </a:pPr>
            <a:endParaRPr lang="en-US" altLang="en-US" dirty="0"/>
          </a:p>
        </p:txBody>
      </p:sp>
    </p:spTree>
    <p:extLst>
      <p:ext uri="{BB962C8B-B14F-4D97-AF65-F5344CB8AC3E}">
        <p14:creationId xmlns:p14="http://schemas.microsoft.com/office/powerpoint/2010/main" val="21732034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8434" name="Rectangle 2"/>
          <p:cNvSpPr>
            <a:spLocks noGrp="1" noChangeArrowheads="1"/>
          </p:cNvSpPr>
          <p:nvPr>
            <p:ph type="title"/>
          </p:nvPr>
        </p:nvSpPr>
        <p:spPr/>
        <p:txBody>
          <a:bodyPr/>
          <a:lstStyle/>
          <a:p>
            <a:pPr>
              <a:defRPr/>
            </a:pPr>
            <a:r>
              <a:rPr lang="en-US" altLang="en-US" sz="2800" dirty="0">
                <a:effectLst>
                  <a:outerShdw blurRad="38100" dist="38100" dir="2700000" algn="tl">
                    <a:srgbClr val="C0C0C0"/>
                  </a:outerShdw>
                </a:effectLst>
                <a:ea typeface="ＭＳ Ｐゴシック" pitchFamily="34" charset="-128"/>
              </a:rPr>
              <a:t>A Lossy Decomposition</a:t>
            </a:r>
          </a:p>
        </p:txBody>
      </p:sp>
      <p:pic>
        <p:nvPicPr>
          <p:cNvPr id="11267" name="Picture 5" descr="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3184" y="1093475"/>
            <a:ext cx="5716016" cy="5235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956447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6386" name="Rectangle 2"/>
          <p:cNvSpPr>
            <a:spLocks noGrp="1" noChangeArrowheads="1"/>
          </p:cNvSpPr>
          <p:nvPr>
            <p:ph type="title"/>
          </p:nvPr>
        </p:nvSpPr>
        <p:spPr/>
        <p:txBody>
          <a:bodyPr/>
          <a:lstStyle/>
          <a:p>
            <a:pPr>
              <a:defRPr/>
            </a:pPr>
            <a:r>
              <a:rPr lang="en-US" altLang="en-US" sz="2800" dirty="0">
                <a:effectLst>
                  <a:outerShdw blurRad="38100" dist="38100" dir="2700000" algn="tl">
                    <a:srgbClr val="C0C0C0"/>
                  </a:outerShdw>
                </a:effectLst>
                <a:ea typeface="ＭＳ Ｐゴシック" pitchFamily="34" charset="-128"/>
              </a:rPr>
              <a:t>Lossless Decomposition</a:t>
            </a:r>
          </a:p>
        </p:txBody>
      </p:sp>
      <p:sp>
        <p:nvSpPr>
          <p:cNvPr id="12291" name="Rectangle 3"/>
          <p:cNvSpPr>
            <a:spLocks noGrp="1" noChangeArrowheads="1"/>
          </p:cNvSpPr>
          <p:nvPr>
            <p:ph type="body" idx="1"/>
          </p:nvPr>
        </p:nvSpPr>
        <p:spPr>
          <a:xfrm>
            <a:off x="768351" y="1093789"/>
            <a:ext cx="7522210" cy="4160964"/>
          </a:xfrm>
        </p:spPr>
        <p:txBody>
          <a:bodyPr/>
          <a:lstStyle/>
          <a:p>
            <a:r>
              <a:rPr lang="en-US" altLang="en-US" sz="1700" dirty="0"/>
              <a:t>Let </a:t>
            </a:r>
            <a:r>
              <a:rPr lang="en-US" altLang="en-US" sz="1700" i="1" dirty="0"/>
              <a:t>R</a:t>
            </a:r>
            <a:r>
              <a:rPr lang="en-US" altLang="en-US" sz="1700" dirty="0"/>
              <a:t> be a relation schema and let </a:t>
            </a:r>
            <a:r>
              <a:rPr lang="en-US" altLang="en-US" sz="1700" i="1" dirty="0"/>
              <a:t>R</a:t>
            </a:r>
            <a:r>
              <a:rPr lang="en-US" altLang="en-US" sz="1700" i="1" baseline="-25000" dirty="0"/>
              <a:t>1 </a:t>
            </a:r>
            <a:r>
              <a:rPr lang="en-US" altLang="en-US" sz="1700" dirty="0"/>
              <a:t>and </a:t>
            </a:r>
            <a:r>
              <a:rPr lang="en-US" altLang="en-US" sz="1700" i="1" dirty="0"/>
              <a:t>R</a:t>
            </a:r>
            <a:r>
              <a:rPr lang="en-US" altLang="en-US" sz="1700" i="1" baseline="-25000" dirty="0"/>
              <a:t>2 </a:t>
            </a:r>
            <a:r>
              <a:rPr lang="en-US" altLang="en-US" sz="1700" dirty="0"/>
              <a:t>form a decomposition of R . That is R = </a:t>
            </a:r>
            <a:r>
              <a:rPr lang="en-US" altLang="en-US" sz="1700" i="1" dirty="0"/>
              <a:t>R</a:t>
            </a:r>
            <a:r>
              <a:rPr lang="en-US" altLang="en-US" sz="1700" i="1" baseline="-25000" dirty="0"/>
              <a:t>1 </a:t>
            </a:r>
            <a:r>
              <a:rPr lang="en-US" altLang="en-US" sz="1700" dirty="0"/>
              <a:t> U </a:t>
            </a:r>
            <a:r>
              <a:rPr lang="en-US" altLang="en-US" sz="1700" i="1" dirty="0"/>
              <a:t>R</a:t>
            </a:r>
            <a:r>
              <a:rPr lang="en-US" altLang="en-US" sz="1700" i="1" baseline="-25000" dirty="0"/>
              <a:t>2</a:t>
            </a:r>
            <a:endParaRPr lang="en-US" altLang="en-US" sz="1700" dirty="0"/>
          </a:p>
          <a:p>
            <a:r>
              <a:rPr lang="en-US" altLang="en-US" sz="1700" dirty="0"/>
              <a:t>We say that the decomposition is a </a:t>
            </a:r>
            <a:r>
              <a:rPr lang="en-US" altLang="en-US" sz="1700" b="1" dirty="0">
                <a:solidFill>
                  <a:srgbClr val="002060"/>
                </a:solidFill>
              </a:rPr>
              <a:t>lossless decomposition  </a:t>
            </a:r>
            <a:r>
              <a:rPr lang="en-US" altLang="en-US" sz="1700" dirty="0"/>
              <a:t>if there is no loss of information by replacing  R with the two relation schemas</a:t>
            </a:r>
            <a:r>
              <a:rPr lang="en-US" altLang="en-US" sz="1700" i="1" dirty="0"/>
              <a:t> R</a:t>
            </a:r>
            <a:r>
              <a:rPr lang="en-US" altLang="en-US" sz="1700" i="1" baseline="-25000" dirty="0"/>
              <a:t>1 </a:t>
            </a:r>
            <a:r>
              <a:rPr lang="en-US" altLang="en-US" sz="1700" dirty="0"/>
              <a:t> U </a:t>
            </a:r>
            <a:r>
              <a:rPr lang="en-US" altLang="en-US" sz="1700" i="1" dirty="0"/>
              <a:t>R</a:t>
            </a:r>
            <a:r>
              <a:rPr lang="en-US" altLang="en-US" sz="1700" i="1" baseline="-25000" dirty="0"/>
              <a:t>2</a:t>
            </a:r>
            <a:r>
              <a:rPr lang="en-US" altLang="en-US" sz="1700" dirty="0"/>
              <a:t> </a:t>
            </a:r>
          </a:p>
          <a:p>
            <a:r>
              <a:rPr lang="en-US" altLang="en-US" sz="1700" dirty="0">
                <a:sym typeface="Symbol" panose="05050102010706020507" pitchFamily="18" charset="2"/>
              </a:rPr>
              <a:t>Formally,</a:t>
            </a:r>
          </a:p>
          <a:p>
            <a:pPr>
              <a:buFont typeface="Monotype Sorts" pitchFamily="-84" charset="2"/>
              <a:buNone/>
            </a:pPr>
            <a:r>
              <a:rPr lang="en-US" altLang="en-US" sz="1700" dirty="0">
                <a:latin typeface="Times New Roman" panose="02020603050405020304" pitchFamily="18" charset="0"/>
                <a:sym typeface="Symbol" panose="05050102010706020507" pitchFamily="18" charset="2"/>
              </a:rPr>
              <a:t>              </a:t>
            </a:r>
            <a:r>
              <a:rPr lang="en-US" altLang="en-US" sz="1700" baseline="-25000" dirty="0">
                <a:latin typeface="Times New Roman" panose="02020603050405020304" pitchFamily="18" charset="0"/>
                <a:sym typeface="Symbol" panose="05050102010706020507" pitchFamily="18" charset="2"/>
              </a:rPr>
              <a:t>R</a:t>
            </a:r>
            <a:r>
              <a:rPr lang="en-US" altLang="en-US" sz="1700" baseline="-50000" dirty="0">
                <a:latin typeface="Times New Roman" panose="02020603050405020304" pitchFamily="18" charset="0"/>
                <a:sym typeface="Symbol" panose="05050102010706020507" pitchFamily="18" charset="2"/>
              </a:rPr>
              <a:t>1</a:t>
            </a:r>
            <a:r>
              <a:rPr lang="en-US" altLang="en-US" sz="1700" dirty="0">
                <a:latin typeface="Times New Roman" panose="02020603050405020304" pitchFamily="18" charset="0"/>
                <a:sym typeface="Symbol" panose="05050102010706020507" pitchFamily="18" charset="2"/>
              </a:rPr>
              <a:t> (r)      </a:t>
            </a:r>
            <a:r>
              <a:rPr lang="en-US" altLang="en-US" sz="1700" baseline="-25000" dirty="0">
                <a:latin typeface="Times New Roman" panose="02020603050405020304" pitchFamily="18" charset="0"/>
                <a:sym typeface="Symbol" panose="05050102010706020507" pitchFamily="18" charset="2"/>
              </a:rPr>
              <a:t>R</a:t>
            </a:r>
            <a:r>
              <a:rPr lang="en-US" altLang="en-US" sz="1700" baseline="-50000" dirty="0">
                <a:latin typeface="Times New Roman" panose="02020603050405020304" pitchFamily="18" charset="0"/>
                <a:sym typeface="Symbol" panose="05050102010706020507" pitchFamily="18" charset="2"/>
              </a:rPr>
              <a:t>2</a:t>
            </a:r>
            <a:r>
              <a:rPr lang="en-US" altLang="en-US" sz="1700" dirty="0">
                <a:latin typeface="Times New Roman" panose="02020603050405020304" pitchFamily="18" charset="0"/>
                <a:sym typeface="Symbol" panose="05050102010706020507" pitchFamily="18" charset="2"/>
              </a:rPr>
              <a:t> (r) = </a:t>
            </a:r>
            <a:r>
              <a:rPr lang="en-US" altLang="en-US" sz="1700" i="1" dirty="0">
                <a:latin typeface="Times New Roman" panose="02020603050405020304" pitchFamily="18" charset="0"/>
                <a:sym typeface="Symbol" panose="05050102010706020507" pitchFamily="18" charset="2"/>
              </a:rPr>
              <a:t>r</a:t>
            </a:r>
          </a:p>
          <a:p>
            <a:r>
              <a:rPr lang="en-US" altLang="en-US" sz="1700" dirty="0">
                <a:sym typeface="Symbol" panose="05050102010706020507" pitchFamily="18" charset="2"/>
              </a:rPr>
              <a:t>And,  conversely a decomposition is lossy if</a:t>
            </a:r>
            <a:endParaRPr lang="en-US" altLang="en-US" sz="1700" i="1" dirty="0"/>
          </a:p>
          <a:p>
            <a:pPr lvl="1">
              <a:buFont typeface="Monotype Sorts" pitchFamily="-84" charset="2"/>
              <a:buNone/>
            </a:pPr>
            <a:r>
              <a:rPr lang="en-US" altLang="en-US" sz="1700" dirty="0">
                <a:latin typeface="Times New Roman" panose="02020603050405020304" pitchFamily="18" charset="0"/>
                <a:sym typeface="Symbol" panose="05050102010706020507" pitchFamily="18" charset="2"/>
              </a:rPr>
              <a:t>     r     </a:t>
            </a:r>
            <a:r>
              <a:rPr lang="en-US" altLang="en-US" sz="1700" baseline="-25000" dirty="0">
                <a:latin typeface="Times New Roman" panose="02020603050405020304" pitchFamily="18" charset="0"/>
                <a:sym typeface="Symbol" panose="05050102010706020507" pitchFamily="18" charset="2"/>
              </a:rPr>
              <a:t>R</a:t>
            </a:r>
            <a:r>
              <a:rPr lang="en-US" altLang="en-US" sz="1700" baseline="-50000" dirty="0">
                <a:latin typeface="Times New Roman" panose="02020603050405020304" pitchFamily="18" charset="0"/>
                <a:sym typeface="Symbol" panose="05050102010706020507" pitchFamily="18" charset="2"/>
              </a:rPr>
              <a:t>1</a:t>
            </a:r>
            <a:r>
              <a:rPr lang="en-US" altLang="en-US" sz="1700" dirty="0">
                <a:latin typeface="Times New Roman" panose="02020603050405020304" pitchFamily="18" charset="0"/>
                <a:sym typeface="Symbol" panose="05050102010706020507" pitchFamily="18" charset="2"/>
              </a:rPr>
              <a:t> (r)      </a:t>
            </a:r>
            <a:r>
              <a:rPr lang="en-US" altLang="en-US" sz="1700" baseline="-25000" dirty="0">
                <a:latin typeface="Times New Roman" panose="02020603050405020304" pitchFamily="18" charset="0"/>
                <a:sym typeface="Symbol" panose="05050102010706020507" pitchFamily="18" charset="2"/>
              </a:rPr>
              <a:t>R</a:t>
            </a:r>
            <a:r>
              <a:rPr lang="en-US" altLang="en-US" sz="1700" baseline="-50000" dirty="0">
                <a:latin typeface="Times New Roman" panose="02020603050405020304" pitchFamily="18" charset="0"/>
                <a:sym typeface="Symbol" panose="05050102010706020507" pitchFamily="18" charset="2"/>
              </a:rPr>
              <a:t>2</a:t>
            </a:r>
            <a:r>
              <a:rPr lang="en-US" altLang="en-US" sz="1700" dirty="0">
                <a:latin typeface="Times New Roman" panose="02020603050405020304" pitchFamily="18" charset="0"/>
                <a:sym typeface="Symbol" panose="05050102010706020507" pitchFamily="18" charset="2"/>
              </a:rPr>
              <a:t> (r) = </a:t>
            </a:r>
            <a:r>
              <a:rPr lang="en-US" altLang="en-US" sz="1700" i="1" dirty="0">
                <a:latin typeface="Times New Roman" panose="02020603050405020304" pitchFamily="18" charset="0"/>
                <a:sym typeface="Symbol" panose="05050102010706020507" pitchFamily="18" charset="2"/>
              </a:rPr>
              <a:t>r</a:t>
            </a:r>
            <a:r>
              <a:rPr lang="en-US" altLang="en-US" sz="1700" dirty="0">
                <a:latin typeface="Times New Roman" panose="02020603050405020304" pitchFamily="18" charset="0"/>
                <a:sym typeface="Symbol" panose="05050102010706020507" pitchFamily="18" charset="2"/>
              </a:rPr>
              <a:t> </a:t>
            </a:r>
            <a:endParaRPr lang="en-US" altLang="en-US" sz="1700" dirty="0"/>
          </a:p>
        </p:txBody>
      </p:sp>
      <p:sp>
        <p:nvSpPr>
          <p:cNvPr id="12292" name="Freeform 19"/>
          <p:cNvSpPr>
            <a:spLocks/>
          </p:cNvSpPr>
          <p:nvPr/>
        </p:nvSpPr>
        <p:spPr bwMode="auto">
          <a:xfrm>
            <a:off x="2289585" y="3039061"/>
            <a:ext cx="142875" cy="142875"/>
          </a:xfrm>
          <a:custGeom>
            <a:avLst/>
            <a:gdLst>
              <a:gd name="T0" fmla="*/ 0 w 182"/>
              <a:gd name="T1" fmla="*/ 0 h 182"/>
              <a:gd name="T2" fmla="*/ 0 w 182"/>
              <a:gd name="T3" fmla="*/ 2147483647 h 182"/>
              <a:gd name="T4" fmla="*/ 2147483647 w 182"/>
              <a:gd name="T5" fmla="*/ 0 h 182"/>
              <a:gd name="T6" fmla="*/ 2147483647 w 182"/>
              <a:gd name="T7" fmla="*/ 2147483647 h 182"/>
              <a:gd name="T8" fmla="*/ 0 w 182"/>
              <a:gd name="T9" fmla="*/ 0 h 182"/>
              <a:gd name="T10" fmla="*/ 0 60000 65536"/>
              <a:gd name="T11" fmla="*/ 0 60000 65536"/>
              <a:gd name="T12" fmla="*/ 0 60000 65536"/>
              <a:gd name="T13" fmla="*/ 0 60000 65536"/>
              <a:gd name="T14" fmla="*/ 0 60000 65536"/>
              <a:gd name="T15" fmla="*/ 0 w 182"/>
              <a:gd name="T16" fmla="*/ 0 h 182"/>
              <a:gd name="T17" fmla="*/ 182 w 182"/>
              <a:gd name="T18" fmla="*/ 182 h 182"/>
            </a:gdLst>
            <a:ahLst/>
            <a:cxnLst>
              <a:cxn ang="T10">
                <a:pos x="T0" y="T1"/>
              </a:cxn>
              <a:cxn ang="T11">
                <a:pos x="T2" y="T3"/>
              </a:cxn>
              <a:cxn ang="T12">
                <a:pos x="T4" y="T5"/>
              </a:cxn>
              <a:cxn ang="T13">
                <a:pos x="T6" y="T7"/>
              </a:cxn>
              <a:cxn ang="T14">
                <a:pos x="T8" y="T9"/>
              </a:cxn>
            </a:cxnLst>
            <a:rect l="T15" t="T16" r="T17" b="T18"/>
            <a:pathLst>
              <a:path w="182" h="182">
                <a:moveTo>
                  <a:pt x="0" y="0"/>
                </a:moveTo>
                <a:lnTo>
                  <a:pt x="0" y="182"/>
                </a:lnTo>
                <a:lnTo>
                  <a:pt x="182" y="0"/>
                </a:lnTo>
                <a:lnTo>
                  <a:pt x="182" y="182"/>
                </a:lnTo>
                <a:lnTo>
                  <a:pt x="0" y="0"/>
                </a:lnTo>
                <a:close/>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293" name="Freeform 19"/>
          <p:cNvSpPr>
            <a:spLocks/>
          </p:cNvSpPr>
          <p:nvPr/>
        </p:nvSpPr>
        <p:spPr bwMode="auto">
          <a:xfrm>
            <a:off x="2763951" y="3736955"/>
            <a:ext cx="142875" cy="142875"/>
          </a:xfrm>
          <a:custGeom>
            <a:avLst/>
            <a:gdLst>
              <a:gd name="T0" fmla="*/ 0 w 182"/>
              <a:gd name="T1" fmla="*/ 0 h 182"/>
              <a:gd name="T2" fmla="*/ 0 w 182"/>
              <a:gd name="T3" fmla="*/ 2147483647 h 182"/>
              <a:gd name="T4" fmla="*/ 2147483647 w 182"/>
              <a:gd name="T5" fmla="*/ 0 h 182"/>
              <a:gd name="T6" fmla="*/ 2147483647 w 182"/>
              <a:gd name="T7" fmla="*/ 2147483647 h 182"/>
              <a:gd name="T8" fmla="*/ 0 w 182"/>
              <a:gd name="T9" fmla="*/ 0 h 182"/>
              <a:gd name="T10" fmla="*/ 0 60000 65536"/>
              <a:gd name="T11" fmla="*/ 0 60000 65536"/>
              <a:gd name="T12" fmla="*/ 0 60000 65536"/>
              <a:gd name="T13" fmla="*/ 0 60000 65536"/>
              <a:gd name="T14" fmla="*/ 0 60000 65536"/>
              <a:gd name="T15" fmla="*/ 0 w 182"/>
              <a:gd name="T16" fmla="*/ 0 h 182"/>
              <a:gd name="T17" fmla="*/ 182 w 182"/>
              <a:gd name="T18" fmla="*/ 182 h 182"/>
            </a:gdLst>
            <a:ahLst/>
            <a:cxnLst>
              <a:cxn ang="T10">
                <a:pos x="T0" y="T1"/>
              </a:cxn>
              <a:cxn ang="T11">
                <a:pos x="T2" y="T3"/>
              </a:cxn>
              <a:cxn ang="T12">
                <a:pos x="T4" y="T5"/>
              </a:cxn>
              <a:cxn ang="T13">
                <a:pos x="T6" y="T7"/>
              </a:cxn>
              <a:cxn ang="T14">
                <a:pos x="T8" y="T9"/>
              </a:cxn>
            </a:cxnLst>
            <a:rect l="T15" t="T16" r="T17" b="T18"/>
            <a:pathLst>
              <a:path w="182" h="182">
                <a:moveTo>
                  <a:pt x="0" y="0"/>
                </a:moveTo>
                <a:lnTo>
                  <a:pt x="0" y="182"/>
                </a:lnTo>
                <a:lnTo>
                  <a:pt x="182" y="0"/>
                </a:lnTo>
                <a:lnTo>
                  <a:pt x="182" y="182"/>
                </a:lnTo>
                <a:lnTo>
                  <a:pt x="0" y="0"/>
                </a:lnTo>
                <a:close/>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Tree>
    <p:extLst>
      <p:ext uri="{BB962C8B-B14F-4D97-AF65-F5344CB8AC3E}">
        <p14:creationId xmlns:p14="http://schemas.microsoft.com/office/powerpoint/2010/main" val="17017801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0482" name="Rectangle 2"/>
          <p:cNvSpPr>
            <a:spLocks noGrp="1" noChangeArrowheads="1"/>
          </p:cNvSpPr>
          <p:nvPr>
            <p:ph type="title"/>
          </p:nvPr>
        </p:nvSpPr>
        <p:spPr>
          <a:xfrm>
            <a:off x="628650" y="252413"/>
            <a:ext cx="8534400" cy="457200"/>
          </a:xfrm>
        </p:spPr>
        <p:txBody>
          <a:bodyPr/>
          <a:lstStyle/>
          <a:p>
            <a:pPr>
              <a:defRPr/>
            </a:pPr>
            <a:r>
              <a:rPr lang="en-US" altLang="en-US" sz="2800" dirty="0">
                <a:effectLst>
                  <a:outerShdw blurRad="38100" dist="38100" dir="2700000" algn="tl">
                    <a:srgbClr val="C0C0C0"/>
                  </a:outerShdw>
                </a:effectLst>
                <a:ea typeface="ＭＳ Ｐゴシック" pitchFamily="34" charset="-128"/>
              </a:rPr>
              <a:t>Example of Lossless Decomposition </a:t>
            </a:r>
          </a:p>
        </p:txBody>
      </p:sp>
      <p:sp>
        <p:nvSpPr>
          <p:cNvPr id="13315" name="Rectangle 3"/>
          <p:cNvSpPr>
            <a:spLocks noGrp="1" noChangeArrowheads="1"/>
          </p:cNvSpPr>
          <p:nvPr>
            <p:ph type="body" idx="1"/>
          </p:nvPr>
        </p:nvSpPr>
        <p:spPr>
          <a:xfrm>
            <a:off x="772359" y="1095375"/>
            <a:ext cx="7541522" cy="830961"/>
          </a:xfrm>
        </p:spPr>
        <p:txBody>
          <a:bodyPr/>
          <a:lstStyle/>
          <a:p>
            <a:pPr>
              <a:tabLst>
                <a:tab pos="2336800" algn="l"/>
                <a:tab pos="3765550" algn="l"/>
              </a:tabLst>
            </a:pPr>
            <a:r>
              <a:rPr lang="en-US" altLang="en-US" sz="1700" dirty="0"/>
              <a:t>Decomposition of </a:t>
            </a:r>
            <a:r>
              <a:rPr lang="en-US" altLang="en-US" sz="1700" i="1" dirty="0"/>
              <a:t>R = (A, B, C)</a:t>
            </a:r>
            <a:br>
              <a:rPr lang="en-US" altLang="en-US" sz="1700" i="1" dirty="0"/>
            </a:br>
            <a:r>
              <a:rPr lang="en-US" altLang="en-US" sz="1700" i="1" dirty="0"/>
              <a:t>	R</a:t>
            </a:r>
            <a:r>
              <a:rPr lang="en-US" altLang="en-US" sz="1700" i="1" baseline="-25000" dirty="0"/>
              <a:t>1</a:t>
            </a:r>
            <a:r>
              <a:rPr lang="en-US" altLang="en-US" sz="1700" i="1" dirty="0"/>
              <a:t> = (A, B)	R</a:t>
            </a:r>
            <a:r>
              <a:rPr lang="en-US" altLang="en-US" sz="1700" baseline="-25000" dirty="0"/>
              <a:t>2</a:t>
            </a:r>
            <a:r>
              <a:rPr lang="en-US" altLang="en-US" sz="1700" i="1" dirty="0"/>
              <a:t> = (B, C)</a:t>
            </a:r>
            <a:endParaRPr lang="en-US" altLang="en-US" sz="1700" dirty="0"/>
          </a:p>
        </p:txBody>
      </p:sp>
      <p:pic>
        <p:nvPicPr>
          <p:cNvPr id="13316" name="Picture 30" descr="C:\Users\as668\Desktop\Judi\7_02 figur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31008" y="2015512"/>
            <a:ext cx="4100004" cy="2723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90401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4C04F-D160-755A-FB81-FBD55BCF241E}"/>
              </a:ext>
            </a:extLst>
          </p:cNvPr>
          <p:cNvSpPr>
            <a:spLocks noGrp="1"/>
          </p:cNvSpPr>
          <p:nvPr>
            <p:ph type="title"/>
          </p:nvPr>
        </p:nvSpPr>
        <p:spPr>
          <a:xfrm>
            <a:off x="768350" y="0"/>
            <a:ext cx="8077200" cy="609600"/>
          </a:xfrm>
        </p:spPr>
        <p:txBody>
          <a:bodyPr/>
          <a:lstStyle/>
          <a:p>
            <a:r>
              <a:rPr lang="en-US" dirty="0"/>
              <a:t>Normalization</a:t>
            </a:r>
          </a:p>
        </p:txBody>
      </p:sp>
      <p:sp>
        <p:nvSpPr>
          <p:cNvPr id="3" name="Content Placeholder 2">
            <a:extLst>
              <a:ext uri="{FF2B5EF4-FFF2-40B4-BE49-F238E27FC236}">
                <a16:creationId xmlns:a16="http://schemas.microsoft.com/office/drawing/2014/main" id="{D06E00B1-0FCA-3CE8-FCDF-F877B329B13C}"/>
              </a:ext>
            </a:extLst>
          </p:cNvPr>
          <p:cNvSpPr>
            <a:spLocks noGrp="1"/>
          </p:cNvSpPr>
          <p:nvPr>
            <p:ph idx="1"/>
          </p:nvPr>
        </p:nvSpPr>
        <p:spPr>
          <a:xfrm>
            <a:off x="908656" y="727075"/>
            <a:ext cx="7661275" cy="4903787"/>
          </a:xfrm>
        </p:spPr>
        <p:txBody>
          <a:bodyPr/>
          <a:lstStyle/>
          <a:p>
            <a:pPr algn="just"/>
            <a:r>
              <a:rPr lang="en-US" sz="2000" b="1" i="0" dirty="0">
                <a:solidFill>
                  <a:srgbClr val="222222"/>
                </a:solidFill>
                <a:effectLst/>
                <a:latin typeface="Times" panose="02020603050405020304" pitchFamily="18" charset="0"/>
                <a:cs typeface="Times" panose="02020603050405020304" pitchFamily="18" charset="0"/>
              </a:rPr>
              <a:t>Normalization</a:t>
            </a:r>
            <a:r>
              <a:rPr lang="en-US" sz="2000" b="0" i="0" dirty="0">
                <a:solidFill>
                  <a:srgbClr val="222222"/>
                </a:solidFill>
                <a:effectLst/>
                <a:latin typeface="Times" panose="02020603050405020304" pitchFamily="18" charset="0"/>
                <a:cs typeface="Times" panose="02020603050405020304" pitchFamily="18" charset="0"/>
              </a:rPr>
              <a:t> is a database design technique that reduces data redundancy and eliminates undesirable characteristics like </a:t>
            </a:r>
            <a:r>
              <a:rPr lang="en-US" sz="2000" b="1" i="0" dirty="0">
                <a:solidFill>
                  <a:srgbClr val="222222"/>
                </a:solidFill>
                <a:effectLst/>
                <a:latin typeface="Times" panose="02020603050405020304" pitchFamily="18" charset="0"/>
                <a:cs typeface="Times" panose="02020603050405020304" pitchFamily="18" charset="0"/>
              </a:rPr>
              <a:t>Insertion, Update and Deletion Anomalies</a:t>
            </a:r>
            <a:r>
              <a:rPr lang="en-US" sz="2000" b="0" i="0" dirty="0">
                <a:solidFill>
                  <a:srgbClr val="222222"/>
                </a:solidFill>
                <a:effectLst/>
                <a:latin typeface="Times" panose="02020603050405020304" pitchFamily="18" charset="0"/>
                <a:cs typeface="Times" panose="02020603050405020304" pitchFamily="18" charset="0"/>
              </a:rPr>
              <a:t>. Normalization rules divides larger tables into smaller tables and links them using relationships. The purpose of Normalization is to eliminate redundant (repetitive) data and ensure data is stored logically.</a:t>
            </a:r>
            <a:endParaRPr lang="en-US" sz="1800" b="0" i="0" u="none" strike="noStrike" baseline="0" dirty="0">
              <a:solidFill>
                <a:srgbClr val="000000"/>
              </a:solidFill>
              <a:latin typeface="Times" panose="02020603050405020304" pitchFamily="18" charset="0"/>
              <a:cs typeface="Times" panose="02020603050405020304" pitchFamily="18" charset="0"/>
            </a:endParaRPr>
          </a:p>
          <a:p>
            <a:pPr algn="just"/>
            <a:r>
              <a:rPr lang="en-US" sz="2000" b="0" i="0" u="none" strike="noStrike" baseline="0" dirty="0">
                <a:solidFill>
                  <a:srgbClr val="000000"/>
                </a:solidFill>
                <a:latin typeface="Times" panose="02020603050405020304" pitchFamily="18" charset="0"/>
                <a:cs typeface="Times" panose="02020603050405020304" pitchFamily="18" charset="0"/>
              </a:rPr>
              <a:t>If a database design is not perfect, it may contain anomalies, which are like a bad dream for any database administrator. Managing a database with anomalies is next to impossible. </a:t>
            </a:r>
            <a:endParaRPr lang="en-US" sz="2000" dirty="0">
              <a:solidFill>
                <a:srgbClr val="000000"/>
              </a:solidFill>
              <a:latin typeface="Times" panose="02020603050405020304" pitchFamily="18" charset="0"/>
              <a:cs typeface="Times" panose="02020603050405020304" pitchFamily="18" charset="0"/>
            </a:endParaRPr>
          </a:p>
          <a:p>
            <a:pPr algn="just"/>
            <a:r>
              <a:rPr lang="en-US" altLang="en-US" sz="2000" dirty="0">
                <a:solidFill>
                  <a:srgbClr val="000000"/>
                </a:solidFill>
                <a:latin typeface="Times" panose="02020603050405020304" pitchFamily="18" charset="0"/>
                <a:cs typeface="Times" panose="02020603050405020304" pitchFamily="18" charset="0"/>
              </a:rPr>
              <a:t>It is Defined as a step-by-step process of decomposing a complex relation into  a simple and stable data structure.</a:t>
            </a:r>
          </a:p>
          <a:p>
            <a:pPr algn="just"/>
            <a:r>
              <a:rPr lang="en-US" altLang="en-US" sz="2000" dirty="0">
                <a:solidFill>
                  <a:srgbClr val="000000"/>
                </a:solidFill>
                <a:latin typeface="Times" panose="02020603050405020304" pitchFamily="18" charset="0"/>
                <a:cs typeface="Times" panose="02020603050405020304" pitchFamily="18" charset="0"/>
              </a:rPr>
              <a:t>It is a formal process that can be followed to achieve a good database design</a:t>
            </a:r>
          </a:p>
          <a:p>
            <a:pPr algn="just"/>
            <a:r>
              <a:rPr lang="en-US" altLang="en-US" sz="2000" dirty="0">
                <a:solidFill>
                  <a:srgbClr val="000000"/>
                </a:solidFill>
                <a:latin typeface="Times" panose="02020603050405020304" pitchFamily="18" charset="0"/>
                <a:cs typeface="Times" panose="02020603050405020304" pitchFamily="18" charset="0"/>
              </a:rPr>
              <a:t>Also used to check that an existing design is of good quality </a:t>
            </a:r>
          </a:p>
          <a:p>
            <a:pPr algn="just"/>
            <a:r>
              <a:rPr lang="en-US" altLang="en-US" sz="2000" dirty="0">
                <a:solidFill>
                  <a:srgbClr val="000000"/>
                </a:solidFill>
                <a:latin typeface="Times" panose="02020603050405020304" pitchFamily="18" charset="0"/>
                <a:cs typeface="Times" panose="02020603050405020304" pitchFamily="18" charset="0"/>
              </a:rPr>
              <a:t>The different stages of normalization are known as “Normal Forms”</a:t>
            </a:r>
          </a:p>
          <a:p>
            <a:pPr algn="just"/>
            <a:r>
              <a:rPr lang="en-US" altLang="en-US" sz="2000" dirty="0">
                <a:solidFill>
                  <a:srgbClr val="000000"/>
                </a:solidFill>
                <a:latin typeface="Times" panose="02020603050405020304" pitchFamily="18" charset="0"/>
                <a:cs typeface="Times" panose="02020603050405020304" pitchFamily="18" charset="0"/>
              </a:rPr>
              <a:t> To accomplish normalization we need to understand the concept of Functional  Dependencies.</a:t>
            </a:r>
          </a:p>
          <a:p>
            <a:pPr marL="0" indent="0" algn="just">
              <a:buNone/>
            </a:pPr>
            <a:endParaRPr lang="en-US" sz="2000" b="0" i="0" u="none" strike="noStrike" baseline="0" dirty="0">
              <a:solidFill>
                <a:srgbClr val="000000"/>
              </a:solidFill>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31718349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5BAE7-A393-6BD1-8A35-6F7D82CF672F}"/>
              </a:ext>
            </a:extLst>
          </p:cNvPr>
          <p:cNvSpPr>
            <a:spLocks noGrp="1"/>
          </p:cNvSpPr>
          <p:nvPr>
            <p:ph type="title"/>
          </p:nvPr>
        </p:nvSpPr>
        <p:spPr/>
        <p:txBody>
          <a:bodyPr/>
          <a:lstStyle/>
          <a:p>
            <a:r>
              <a:rPr lang="en-US" dirty="0"/>
              <a:t>What are Anomalies</a:t>
            </a:r>
          </a:p>
        </p:txBody>
      </p:sp>
      <p:sp>
        <p:nvSpPr>
          <p:cNvPr id="3" name="Content Placeholder 2">
            <a:extLst>
              <a:ext uri="{FF2B5EF4-FFF2-40B4-BE49-F238E27FC236}">
                <a16:creationId xmlns:a16="http://schemas.microsoft.com/office/drawing/2014/main" id="{6F9AD10A-BFA5-EFA7-C279-9F883AC5A5A3}"/>
              </a:ext>
            </a:extLst>
          </p:cNvPr>
          <p:cNvSpPr>
            <a:spLocks noGrp="1"/>
          </p:cNvSpPr>
          <p:nvPr>
            <p:ph idx="1"/>
          </p:nvPr>
        </p:nvSpPr>
        <p:spPr/>
        <p:txBody>
          <a:bodyPr/>
          <a:lstStyle/>
          <a:p>
            <a:pPr algn="just"/>
            <a:r>
              <a:rPr lang="en-US" sz="2000" b="1" i="0" u="none" strike="noStrike" baseline="0" dirty="0">
                <a:solidFill>
                  <a:srgbClr val="000000"/>
                </a:solidFill>
                <a:latin typeface="24"/>
              </a:rPr>
              <a:t>Update anomalies </a:t>
            </a:r>
            <a:r>
              <a:rPr lang="en-US" sz="2000" b="0" i="0" u="none" strike="noStrike" baseline="0" dirty="0">
                <a:solidFill>
                  <a:srgbClr val="000000"/>
                </a:solidFill>
                <a:latin typeface="24"/>
              </a:rPr>
              <a:t>− If data items are scattered and are not linked to each other properly, then it could lead to strange situations. For example, when we try to update one data item having its copies scattered over several places, a few instances get updated properly while a few others are left with old values. Such instances leave the database in an inconsistent state. </a:t>
            </a:r>
          </a:p>
          <a:p>
            <a:pPr algn="just"/>
            <a:r>
              <a:rPr lang="en-US" sz="2000" b="1" i="0" u="none" strike="noStrike" baseline="0" dirty="0">
                <a:solidFill>
                  <a:srgbClr val="000000"/>
                </a:solidFill>
                <a:latin typeface="24"/>
              </a:rPr>
              <a:t>Deletion anomalies </a:t>
            </a:r>
            <a:r>
              <a:rPr lang="en-US" sz="2000" b="0" i="0" u="none" strike="noStrike" baseline="0" dirty="0">
                <a:solidFill>
                  <a:srgbClr val="000000"/>
                </a:solidFill>
                <a:latin typeface="24"/>
              </a:rPr>
              <a:t>− We tried to delete a record, but parts of it was left undeleted because of unawareness, the data is also saved somewhere else. </a:t>
            </a:r>
          </a:p>
          <a:p>
            <a:pPr algn="just"/>
            <a:r>
              <a:rPr lang="en-US" sz="2000" b="1" i="0" u="none" strike="noStrike" baseline="0" dirty="0">
                <a:solidFill>
                  <a:srgbClr val="000000"/>
                </a:solidFill>
                <a:latin typeface="24"/>
              </a:rPr>
              <a:t>Insert anomalies </a:t>
            </a:r>
            <a:r>
              <a:rPr lang="en-US" sz="2000" b="0" i="0" u="none" strike="noStrike" baseline="0" dirty="0">
                <a:solidFill>
                  <a:srgbClr val="000000"/>
                </a:solidFill>
                <a:latin typeface="24"/>
              </a:rPr>
              <a:t>− We tried to insert data in a record that does not exist at all. </a:t>
            </a:r>
          </a:p>
          <a:p>
            <a:pPr algn="just"/>
            <a:r>
              <a:rPr lang="en-US" sz="2000" b="0" i="0" u="none" strike="noStrike" baseline="0" dirty="0">
                <a:solidFill>
                  <a:srgbClr val="000000"/>
                </a:solidFill>
                <a:latin typeface="24"/>
              </a:rPr>
              <a:t>Normalization is a method to remove all these anomalies and bring the database to a consistent state. </a:t>
            </a:r>
          </a:p>
          <a:p>
            <a:pPr algn="just"/>
            <a:r>
              <a:rPr lang="en-US" sz="2000" b="1" i="0" u="none" strike="noStrike" baseline="0" dirty="0">
                <a:solidFill>
                  <a:srgbClr val="000000"/>
                </a:solidFill>
                <a:latin typeface="24"/>
              </a:rPr>
              <a:t>Data redundancy </a:t>
            </a:r>
            <a:r>
              <a:rPr lang="en-US" sz="2000" b="0" i="0" u="none" strike="noStrike" baseline="0" dirty="0">
                <a:solidFill>
                  <a:srgbClr val="000000"/>
                </a:solidFill>
                <a:latin typeface="24"/>
              </a:rPr>
              <a:t>is a condition created within a database or data storage technology in which the same piece of data is held in two separate places. </a:t>
            </a:r>
          </a:p>
          <a:p>
            <a:endParaRPr lang="en-US" sz="2000" dirty="0"/>
          </a:p>
        </p:txBody>
      </p:sp>
    </p:spTree>
    <p:extLst>
      <p:ext uri="{BB962C8B-B14F-4D97-AF65-F5344CB8AC3E}">
        <p14:creationId xmlns:p14="http://schemas.microsoft.com/office/powerpoint/2010/main" val="5159670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0722" name="Rectangle 2"/>
          <p:cNvSpPr>
            <a:spLocks noGrp="1" noChangeArrowheads="1"/>
          </p:cNvSpPr>
          <p:nvPr>
            <p:ph type="title"/>
          </p:nvPr>
        </p:nvSpPr>
        <p:spPr/>
        <p:txBody>
          <a:bodyPr/>
          <a:lstStyle/>
          <a:p>
            <a:pPr>
              <a:defRPr/>
            </a:pPr>
            <a:r>
              <a:rPr lang="en-US" altLang="en-US" sz="2800" dirty="0">
                <a:effectLst>
                  <a:outerShdw blurRad="38100" dist="38100" dir="2700000" algn="tl">
                    <a:srgbClr val="C0C0C0"/>
                  </a:outerShdw>
                </a:effectLst>
                <a:ea typeface="ＭＳ Ｐゴシック" pitchFamily="34" charset="-128"/>
              </a:rPr>
              <a:t>Functional Dependencies Definition </a:t>
            </a:r>
          </a:p>
        </p:txBody>
      </p:sp>
      <p:sp>
        <p:nvSpPr>
          <p:cNvPr id="17411" name="Rectangle 3"/>
          <p:cNvSpPr>
            <a:spLocks noGrp="1" noChangeArrowheads="1"/>
          </p:cNvSpPr>
          <p:nvPr>
            <p:ph type="body" idx="1"/>
          </p:nvPr>
        </p:nvSpPr>
        <p:spPr>
          <a:xfrm>
            <a:off x="768350" y="1065320"/>
            <a:ext cx="7839202" cy="5213560"/>
          </a:xfrm>
        </p:spPr>
        <p:txBody>
          <a:bodyPr/>
          <a:lstStyle/>
          <a:p>
            <a:pPr>
              <a:lnSpc>
                <a:spcPct val="90000"/>
              </a:lnSpc>
              <a:tabLst>
                <a:tab pos="2917825" algn="ctr"/>
              </a:tabLst>
            </a:pPr>
            <a:r>
              <a:rPr lang="en-US" altLang="en-US" sz="1700" dirty="0"/>
              <a:t>Let </a:t>
            </a:r>
            <a:r>
              <a:rPr lang="en-US" altLang="en-US" sz="1700" i="1" dirty="0"/>
              <a:t>R</a:t>
            </a:r>
            <a:r>
              <a:rPr lang="en-US" altLang="en-US" sz="1700" dirty="0"/>
              <a:t> be a relation schema</a:t>
            </a:r>
          </a:p>
          <a:p>
            <a:pPr>
              <a:lnSpc>
                <a:spcPct val="90000"/>
              </a:lnSpc>
              <a:buFont typeface="Monotype Sorts" pitchFamily="-84" charset="2"/>
              <a:buNone/>
              <a:tabLst>
                <a:tab pos="2917825" algn="ctr"/>
              </a:tabLst>
            </a:pPr>
            <a:r>
              <a:rPr lang="en-US" altLang="en-US" sz="1700" dirty="0"/>
              <a:t>		</a:t>
            </a:r>
            <a:r>
              <a:rPr lang="en-US" altLang="en-US" sz="1700" dirty="0">
                <a:sym typeface="Symbol" panose="05050102010706020507" pitchFamily="18" charset="2"/>
              </a:rPr>
              <a:t>  </a:t>
            </a:r>
            <a:r>
              <a:rPr lang="en-US" altLang="en-US" sz="1700" i="1" dirty="0">
                <a:sym typeface="Symbol" panose="05050102010706020507" pitchFamily="18" charset="2"/>
              </a:rPr>
              <a:t>R  and   </a:t>
            </a:r>
            <a:r>
              <a:rPr lang="en-US" altLang="en-US" sz="1700" dirty="0">
                <a:sym typeface="Symbol" panose="05050102010706020507" pitchFamily="18" charset="2"/>
              </a:rPr>
              <a:t> </a:t>
            </a:r>
            <a:r>
              <a:rPr lang="en-US" altLang="en-US" sz="1700" i="1" dirty="0">
                <a:sym typeface="Symbol" panose="05050102010706020507" pitchFamily="18" charset="2"/>
              </a:rPr>
              <a:t>R</a:t>
            </a:r>
          </a:p>
          <a:p>
            <a:pPr>
              <a:lnSpc>
                <a:spcPct val="90000"/>
              </a:lnSpc>
              <a:tabLst>
                <a:tab pos="2917825" algn="ctr"/>
              </a:tabLst>
            </a:pPr>
            <a:r>
              <a:rPr lang="en-US" altLang="en-US" sz="1700" dirty="0">
                <a:sym typeface="Symbol" panose="05050102010706020507" pitchFamily="18" charset="2"/>
              </a:rPr>
              <a:t>The </a:t>
            </a:r>
            <a:r>
              <a:rPr lang="en-US" altLang="en-US" sz="1700" b="1" dirty="0">
                <a:solidFill>
                  <a:srgbClr val="002060"/>
                </a:solidFill>
                <a:sym typeface="Symbol" panose="05050102010706020507" pitchFamily="18" charset="2"/>
              </a:rPr>
              <a:t>functional dependency</a:t>
            </a:r>
          </a:p>
          <a:p>
            <a:pPr>
              <a:lnSpc>
                <a:spcPct val="90000"/>
              </a:lnSpc>
              <a:buFont typeface="Monotype Sorts" pitchFamily="-84" charset="2"/>
              <a:buNone/>
              <a:tabLst>
                <a:tab pos="2917825" algn="ctr"/>
              </a:tabLst>
            </a:pPr>
            <a:r>
              <a:rPr lang="en-US" altLang="en-US" sz="1700" i="1" dirty="0">
                <a:solidFill>
                  <a:srgbClr val="002060"/>
                </a:solidFill>
                <a:sym typeface="Symbol" panose="05050102010706020507" pitchFamily="18" charset="2"/>
              </a:rPr>
              <a:t>		 </a:t>
            </a:r>
            <a:r>
              <a:rPr lang="en-US" altLang="en-US" i="1" dirty="0">
                <a:solidFill>
                  <a:srgbClr val="002060"/>
                </a:solidFill>
                <a:sym typeface="Symbol" panose="05050102010706020507" pitchFamily="18" charset="2"/>
              </a:rPr>
              <a:t> </a:t>
            </a:r>
            <a:r>
              <a:rPr lang="en-US" altLang="en-US" sz="1700" b="1" dirty="0">
                <a:solidFill>
                  <a:srgbClr val="002060"/>
                </a:solidFill>
                <a:sym typeface="Symbol" panose="05050102010706020507" pitchFamily="18" charset="2"/>
              </a:rPr>
              <a:t> (determinant) </a:t>
            </a:r>
            <a:r>
              <a:rPr lang="en-US" altLang="en-US" sz="1700" b="1" dirty="0">
                <a:solidFill>
                  <a:srgbClr val="002060"/>
                </a:solidFill>
                <a:sym typeface="Monotype Sorts" pitchFamily="-84" charset="2"/>
              </a:rPr>
              <a:t> </a:t>
            </a:r>
            <a:r>
              <a:rPr lang="en-US" altLang="en-US" sz="1700" b="1" i="1" dirty="0">
                <a:solidFill>
                  <a:srgbClr val="002060"/>
                </a:solidFill>
                <a:sym typeface="Symbol" panose="05050102010706020507" pitchFamily="18" charset="2"/>
              </a:rPr>
              <a:t> (dependent)</a:t>
            </a:r>
            <a:endParaRPr lang="en-US" altLang="en-US" sz="900" b="1" i="1" dirty="0">
              <a:solidFill>
                <a:srgbClr val="002060"/>
              </a:solidFill>
              <a:sym typeface="Symbol" panose="05050102010706020507" pitchFamily="18" charset="2"/>
            </a:endParaRPr>
          </a:p>
          <a:p>
            <a:pPr>
              <a:lnSpc>
                <a:spcPct val="90000"/>
              </a:lnSpc>
              <a:buFont typeface="Monotype Sorts" pitchFamily="-84" charset="2"/>
              <a:buNone/>
              <a:tabLst>
                <a:tab pos="2917825" algn="ctr"/>
              </a:tabLst>
            </a:pPr>
            <a:br>
              <a:rPr lang="en-US" altLang="en-US" sz="900" b="1" i="1" dirty="0">
                <a:solidFill>
                  <a:srgbClr val="000099"/>
                </a:solidFill>
                <a:sym typeface="Symbol" panose="05050102010706020507" pitchFamily="18" charset="2"/>
              </a:rPr>
            </a:br>
            <a:r>
              <a:rPr lang="en-US" altLang="en-US" sz="1700" b="1" dirty="0">
                <a:solidFill>
                  <a:srgbClr val="002060"/>
                </a:solidFill>
                <a:sym typeface="Symbol" panose="05050102010706020507" pitchFamily="18" charset="2"/>
              </a:rPr>
              <a:t>holds on</a:t>
            </a:r>
            <a:r>
              <a:rPr lang="en-US" altLang="en-US" sz="1700" dirty="0">
                <a:solidFill>
                  <a:srgbClr val="002060"/>
                </a:solidFill>
                <a:sym typeface="Symbol" panose="05050102010706020507" pitchFamily="18" charset="2"/>
              </a:rPr>
              <a:t> </a:t>
            </a:r>
            <a:r>
              <a:rPr lang="en-US" altLang="en-US" sz="1700" i="1" dirty="0">
                <a:sym typeface="Symbol" panose="05050102010706020507" pitchFamily="18" charset="2"/>
              </a:rPr>
              <a:t>R</a:t>
            </a:r>
            <a:r>
              <a:rPr lang="en-US" altLang="en-US" sz="1700" dirty="0">
                <a:sym typeface="Symbol" panose="05050102010706020507" pitchFamily="18" charset="2"/>
              </a:rPr>
              <a:t> if and only if for any legal relations </a:t>
            </a:r>
            <a:r>
              <a:rPr lang="en-US" altLang="en-US" sz="1700" i="1" dirty="0">
                <a:sym typeface="Symbol" panose="05050102010706020507" pitchFamily="18" charset="2"/>
              </a:rPr>
              <a:t>r</a:t>
            </a:r>
            <a:r>
              <a:rPr lang="en-US" altLang="en-US" sz="1700" dirty="0">
                <a:sym typeface="Symbol" panose="05050102010706020507" pitchFamily="18" charset="2"/>
              </a:rPr>
              <a:t>(R), whenever any two tuples </a:t>
            </a:r>
            <a:r>
              <a:rPr lang="en-US" altLang="en-US" sz="1700" i="1" dirty="0">
                <a:sym typeface="Symbol" panose="05050102010706020507" pitchFamily="18" charset="2"/>
              </a:rPr>
              <a:t>t</a:t>
            </a:r>
            <a:r>
              <a:rPr lang="en-US" altLang="en-US" sz="1700" baseline="-25000" dirty="0">
                <a:sym typeface="Symbol" panose="05050102010706020507" pitchFamily="18" charset="2"/>
              </a:rPr>
              <a:t>1</a:t>
            </a:r>
            <a:r>
              <a:rPr lang="en-US" altLang="en-US" sz="1700" i="1" dirty="0">
                <a:sym typeface="Symbol" panose="05050102010706020507" pitchFamily="18" charset="2"/>
              </a:rPr>
              <a:t> </a:t>
            </a:r>
            <a:r>
              <a:rPr lang="en-US" altLang="en-US" sz="1700" dirty="0">
                <a:sym typeface="Symbol" panose="05050102010706020507" pitchFamily="18" charset="2"/>
              </a:rPr>
              <a:t>and </a:t>
            </a:r>
            <a:r>
              <a:rPr lang="en-US" altLang="en-US" sz="1700" i="1" dirty="0">
                <a:sym typeface="Symbol" panose="05050102010706020507" pitchFamily="18" charset="2"/>
              </a:rPr>
              <a:t>t</a:t>
            </a:r>
            <a:r>
              <a:rPr lang="en-US" altLang="en-US" sz="1700" baseline="-25000" dirty="0">
                <a:sym typeface="Symbol" panose="05050102010706020507" pitchFamily="18" charset="2"/>
              </a:rPr>
              <a:t>2</a:t>
            </a:r>
            <a:r>
              <a:rPr lang="en-US" altLang="en-US" sz="1700" dirty="0">
                <a:sym typeface="Symbol" panose="05050102010706020507" pitchFamily="18" charset="2"/>
              </a:rPr>
              <a:t> of </a:t>
            </a:r>
            <a:r>
              <a:rPr lang="en-US" altLang="en-US" sz="1700" i="1" dirty="0">
                <a:sym typeface="Symbol" panose="05050102010706020507" pitchFamily="18" charset="2"/>
              </a:rPr>
              <a:t>r</a:t>
            </a:r>
            <a:r>
              <a:rPr lang="en-US" altLang="en-US" sz="1700" dirty="0">
                <a:sym typeface="Symbol" panose="05050102010706020507" pitchFamily="18" charset="2"/>
              </a:rPr>
              <a:t> agree on the attributes , they also agree on the attributes </a:t>
            </a:r>
            <a:r>
              <a:rPr lang="en-US" altLang="en-US" sz="1700" i="1" dirty="0">
                <a:sym typeface="Symbol" panose="05050102010706020507" pitchFamily="18" charset="2"/>
              </a:rPr>
              <a:t>. </a:t>
            </a:r>
            <a:r>
              <a:rPr lang="en-US" altLang="en-US" sz="1700" dirty="0">
                <a:sym typeface="Symbol" panose="05050102010706020507" pitchFamily="18" charset="2"/>
              </a:rPr>
              <a:t> That is, </a:t>
            </a:r>
            <a:endParaRPr lang="en-US" altLang="en-US" sz="900" dirty="0">
              <a:sym typeface="Symbol" panose="05050102010706020507" pitchFamily="18" charset="2"/>
            </a:endParaRPr>
          </a:p>
          <a:p>
            <a:pPr>
              <a:lnSpc>
                <a:spcPct val="90000"/>
              </a:lnSpc>
              <a:buFont typeface="Monotype Sorts" pitchFamily="-84" charset="2"/>
              <a:buNone/>
              <a:tabLst>
                <a:tab pos="2917825" algn="ctr"/>
              </a:tabLst>
            </a:pPr>
            <a:endParaRPr lang="en-US" altLang="en-US" sz="900" dirty="0">
              <a:sym typeface="Symbol" panose="05050102010706020507" pitchFamily="18" charset="2"/>
            </a:endParaRPr>
          </a:p>
          <a:p>
            <a:pPr>
              <a:lnSpc>
                <a:spcPct val="90000"/>
              </a:lnSpc>
              <a:buFont typeface="Monotype Sorts" pitchFamily="-84" charset="2"/>
              <a:buNone/>
              <a:tabLst>
                <a:tab pos="2917825" algn="ctr"/>
              </a:tabLst>
            </a:pPr>
            <a:r>
              <a:rPr lang="en-US" altLang="en-US" sz="1700" i="1" dirty="0">
                <a:sym typeface="Symbol" panose="05050102010706020507" pitchFamily="18" charset="2"/>
              </a:rPr>
              <a:t>		 t</a:t>
            </a:r>
            <a:r>
              <a:rPr lang="en-US" altLang="en-US" sz="1700" baseline="-25000" dirty="0">
                <a:sym typeface="Symbol" panose="05050102010706020507" pitchFamily="18" charset="2"/>
              </a:rPr>
              <a:t>1</a:t>
            </a:r>
            <a:r>
              <a:rPr lang="en-US" altLang="en-US" sz="1700" dirty="0">
                <a:sym typeface="Symbol" panose="05050102010706020507" pitchFamily="18" charset="2"/>
              </a:rPr>
              <a:t>[] = </a:t>
            </a:r>
            <a:r>
              <a:rPr lang="en-US" altLang="en-US" sz="1700" i="1" dirty="0">
                <a:sym typeface="Symbol" panose="05050102010706020507" pitchFamily="18" charset="2"/>
              </a:rPr>
              <a:t>t</a:t>
            </a:r>
            <a:r>
              <a:rPr lang="en-US" altLang="en-US" sz="1700" baseline="-25000" dirty="0">
                <a:sym typeface="Symbol" panose="05050102010706020507" pitchFamily="18" charset="2"/>
              </a:rPr>
              <a:t>2 </a:t>
            </a:r>
            <a:r>
              <a:rPr lang="en-US" altLang="en-US" sz="1700" dirty="0">
                <a:sym typeface="Symbol" panose="05050102010706020507" pitchFamily="18" charset="2"/>
              </a:rPr>
              <a:t>[]      </a:t>
            </a:r>
            <a:r>
              <a:rPr lang="en-US" altLang="en-US" sz="1700" i="1" dirty="0">
                <a:sym typeface="Symbol" panose="05050102010706020507" pitchFamily="18" charset="2"/>
              </a:rPr>
              <a:t>t</a:t>
            </a:r>
            <a:r>
              <a:rPr lang="en-US" altLang="en-US" sz="1700" baseline="-25000" dirty="0">
                <a:sym typeface="Symbol" panose="05050102010706020507" pitchFamily="18" charset="2"/>
              </a:rPr>
              <a:t>1</a:t>
            </a:r>
            <a:r>
              <a:rPr lang="en-US" altLang="en-US" sz="1700" dirty="0">
                <a:sym typeface="Symbol" panose="05050102010706020507" pitchFamily="18" charset="2"/>
              </a:rPr>
              <a:t>[</a:t>
            </a:r>
            <a:r>
              <a:rPr lang="en-US" altLang="en-US" sz="1700" i="1" dirty="0">
                <a:sym typeface="Symbol" panose="05050102010706020507" pitchFamily="18" charset="2"/>
              </a:rPr>
              <a:t> </a:t>
            </a:r>
            <a:r>
              <a:rPr lang="en-US" altLang="en-US" sz="1700" dirty="0">
                <a:sym typeface="Symbol" panose="05050102010706020507" pitchFamily="18" charset="2"/>
              </a:rPr>
              <a:t>]  = </a:t>
            </a:r>
            <a:r>
              <a:rPr lang="en-US" altLang="en-US" sz="1700" i="1" dirty="0">
                <a:sym typeface="Symbol" panose="05050102010706020507" pitchFamily="18" charset="2"/>
              </a:rPr>
              <a:t>t</a:t>
            </a:r>
            <a:r>
              <a:rPr lang="en-US" altLang="en-US" sz="1700" baseline="-25000" dirty="0">
                <a:sym typeface="Symbol" panose="05050102010706020507" pitchFamily="18" charset="2"/>
              </a:rPr>
              <a:t>2 </a:t>
            </a:r>
            <a:r>
              <a:rPr lang="en-US" altLang="en-US" sz="1700" dirty="0">
                <a:sym typeface="Symbol" panose="05050102010706020507" pitchFamily="18" charset="2"/>
              </a:rPr>
              <a:t>[</a:t>
            </a:r>
            <a:r>
              <a:rPr lang="en-US" altLang="en-US" sz="1700" i="1" dirty="0">
                <a:sym typeface="Symbol" panose="05050102010706020507" pitchFamily="18" charset="2"/>
              </a:rPr>
              <a:t> </a:t>
            </a:r>
            <a:r>
              <a:rPr lang="en-US" altLang="en-US" sz="1700" dirty="0">
                <a:sym typeface="Symbol" panose="05050102010706020507" pitchFamily="18" charset="2"/>
              </a:rPr>
              <a:t>] </a:t>
            </a:r>
            <a:endParaRPr lang="en-US" altLang="en-US" sz="900" dirty="0">
              <a:sym typeface="Symbol" panose="05050102010706020507" pitchFamily="18" charset="2"/>
            </a:endParaRPr>
          </a:p>
          <a:p>
            <a:pPr>
              <a:lnSpc>
                <a:spcPct val="90000"/>
              </a:lnSpc>
              <a:buFont typeface="Monotype Sorts" pitchFamily="-84" charset="2"/>
              <a:buNone/>
              <a:tabLst>
                <a:tab pos="2917825" algn="ctr"/>
              </a:tabLst>
            </a:pPr>
            <a:endParaRPr lang="en-US" altLang="en-US" sz="900" dirty="0">
              <a:sym typeface="Symbol" panose="05050102010706020507" pitchFamily="18" charset="2"/>
            </a:endParaRPr>
          </a:p>
          <a:p>
            <a:pPr>
              <a:lnSpc>
                <a:spcPct val="90000"/>
              </a:lnSpc>
              <a:tabLst>
                <a:tab pos="2917825" algn="ctr"/>
              </a:tabLst>
            </a:pPr>
            <a:r>
              <a:rPr lang="en-US" altLang="en-US" sz="1700" dirty="0"/>
              <a:t>Example:  Consider </a:t>
            </a:r>
            <a:r>
              <a:rPr lang="en-US" altLang="en-US" sz="1700" i="1" dirty="0"/>
              <a:t>r</a:t>
            </a:r>
            <a:r>
              <a:rPr lang="en-US" altLang="en-US" sz="1700" dirty="0"/>
              <a:t>(A</a:t>
            </a:r>
            <a:r>
              <a:rPr lang="en-US" altLang="en-US" sz="1700" i="1" dirty="0"/>
              <a:t>,B </a:t>
            </a:r>
            <a:r>
              <a:rPr lang="en-US" altLang="en-US" sz="1700" dirty="0"/>
              <a:t>) with the following instance of </a:t>
            </a:r>
            <a:r>
              <a:rPr lang="en-US" altLang="en-US" sz="1700" i="1" dirty="0"/>
              <a:t>r.</a:t>
            </a:r>
            <a:endParaRPr lang="en-US" altLang="en-US" sz="1700" dirty="0"/>
          </a:p>
          <a:p>
            <a:pPr marL="2914650" lvl="7" indent="0">
              <a:lnSpc>
                <a:spcPct val="90000"/>
              </a:lnSpc>
              <a:buNone/>
              <a:tabLst>
                <a:tab pos="2917825" algn="ctr"/>
              </a:tabLst>
            </a:pPr>
            <a:r>
              <a:rPr lang="en-US" altLang="en-US" sz="1800" b="1" dirty="0">
                <a:solidFill>
                  <a:srgbClr val="002060"/>
                </a:solidFill>
                <a:sym typeface="Symbol" panose="05050102010706020507" pitchFamily="18" charset="2"/>
              </a:rPr>
              <a:t>      </a:t>
            </a:r>
            <a:r>
              <a:rPr lang="en-US" altLang="en-US" sz="1800" i="1" dirty="0">
                <a:sym typeface="Symbol" panose="05050102010706020507" pitchFamily="18" charset="2"/>
              </a:rPr>
              <a:t></a:t>
            </a:r>
            <a:endParaRPr lang="en-US" altLang="en-US" dirty="0"/>
          </a:p>
          <a:p>
            <a:pPr>
              <a:lnSpc>
                <a:spcPct val="90000"/>
              </a:lnSpc>
              <a:tabLst>
                <a:tab pos="2917825" algn="ctr"/>
              </a:tabLst>
            </a:pPr>
            <a:endParaRPr lang="en-US" altLang="en-US" sz="1700" dirty="0"/>
          </a:p>
          <a:p>
            <a:pPr>
              <a:lnSpc>
                <a:spcPct val="90000"/>
              </a:lnSpc>
              <a:buFont typeface="Monotype Sorts" pitchFamily="-84" charset="2"/>
              <a:buNone/>
              <a:tabLst>
                <a:tab pos="2917825" algn="ctr"/>
              </a:tabLst>
            </a:pPr>
            <a:endParaRPr lang="en-US" altLang="en-US" sz="1700" dirty="0"/>
          </a:p>
          <a:p>
            <a:pPr>
              <a:lnSpc>
                <a:spcPct val="90000"/>
              </a:lnSpc>
              <a:buFont typeface="Monotype Sorts" pitchFamily="-84" charset="2"/>
              <a:buNone/>
              <a:tabLst>
                <a:tab pos="2917825" algn="ctr"/>
              </a:tabLst>
            </a:pPr>
            <a:endParaRPr lang="en-US" altLang="en-US" sz="1700" dirty="0"/>
          </a:p>
          <a:p>
            <a:pPr>
              <a:lnSpc>
                <a:spcPct val="90000"/>
              </a:lnSpc>
              <a:tabLst>
                <a:tab pos="2917825" algn="ctr"/>
              </a:tabLst>
            </a:pPr>
            <a:r>
              <a:rPr lang="en-US" altLang="en-US" sz="1700" dirty="0"/>
              <a:t>On this instance, </a:t>
            </a:r>
            <a:r>
              <a:rPr lang="en-US" altLang="en-US" sz="1700" i="1" dirty="0"/>
              <a:t>B</a:t>
            </a:r>
            <a:r>
              <a:rPr lang="en-US" altLang="en-US" sz="1700" dirty="0"/>
              <a:t> </a:t>
            </a:r>
            <a:r>
              <a:rPr lang="en-US" altLang="en-US" sz="1700" dirty="0">
                <a:sym typeface="Symbol" panose="05050102010706020507" pitchFamily="18" charset="2"/>
              </a:rPr>
              <a:t></a:t>
            </a:r>
            <a:r>
              <a:rPr lang="en-US" altLang="en-US" sz="1700" dirty="0"/>
              <a:t> </a:t>
            </a:r>
            <a:r>
              <a:rPr lang="en-US" altLang="en-US" sz="1700" i="1" dirty="0"/>
              <a:t>A</a:t>
            </a:r>
            <a:r>
              <a:rPr lang="en-US" altLang="en-US" sz="1700" dirty="0"/>
              <a:t> hold;  </a:t>
            </a:r>
            <a:r>
              <a:rPr lang="en-US" altLang="en-US" sz="1700" i="1" dirty="0"/>
              <a:t>A</a:t>
            </a:r>
            <a:r>
              <a:rPr lang="en-US" altLang="en-US" sz="1700" dirty="0"/>
              <a:t> </a:t>
            </a:r>
            <a:r>
              <a:rPr lang="en-US" altLang="en-US" sz="1700" dirty="0">
                <a:sym typeface="Symbol" panose="05050102010706020507" pitchFamily="18" charset="2"/>
              </a:rPr>
              <a:t></a:t>
            </a:r>
            <a:r>
              <a:rPr lang="en-US" altLang="en-US" sz="1700" dirty="0">
                <a:sym typeface="Monotype Sorts" pitchFamily="-84" charset="2"/>
              </a:rPr>
              <a:t> </a:t>
            </a:r>
            <a:r>
              <a:rPr lang="en-US" altLang="en-US" sz="1700" i="1" dirty="0"/>
              <a:t>B</a:t>
            </a:r>
            <a:r>
              <a:rPr lang="en-US" altLang="en-US" sz="1700" dirty="0"/>
              <a:t> does </a:t>
            </a:r>
            <a:r>
              <a:rPr lang="en-US" altLang="en-US" sz="1700" b="1" dirty="0"/>
              <a:t>NOT</a:t>
            </a:r>
            <a:r>
              <a:rPr lang="en-US" altLang="en-US" sz="1700" dirty="0"/>
              <a:t> hold, </a:t>
            </a:r>
          </a:p>
          <a:p>
            <a:pPr>
              <a:lnSpc>
                <a:spcPct val="90000"/>
              </a:lnSpc>
              <a:tabLst>
                <a:tab pos="2917825" algn="ctr"/>
              </a:tabLst>
            </a:pPr>
            <a:endParaRPr lang="en-US" altLang="en-US" i="1" dirty="0">
              <a:sym typeface="Symbol" panose="05050102010706020507" pitchFamily="18" charset="2"/>
            </a:endParaRPr>
          </a:p>
        </p:txBody>
      </p:sp>
      <p:sp>
        <p:nvSpPr>
          <p:cNvPr id="17412" name="Text Box 4"/>
          <p:cNvSpPr txBox="1">
            <a:spLocks noChangeArrowheads="1"/>
          </p:cNvSpPr>
          <p:nvPr/>
        </p:nvSpPr>
        <p:spPr bwMode="auto">
          <a:xfrm>
            <a:off x="3689414" y="4556210"/>
            <a:ext cx="998537" cy="9223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457200" indent="-457200">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buFontTx/>
              <a:buAutoNum type="arabicPlain"/>
            </a:pPr>
            <a:r>
              <a:rPr lang="en-US" altLang="en-US" sz="1800" dirty="0"/>
              <a:t>4</a:t>
            </a:r>
          </a:p>
          <a:p>
            <a:r>
              <a:rPr lang="en-US" altLang="en-US" sz="1800" dirty="0"/>
              <a:t>1     5</a:t>
            </a:r>
          </a:p>
          <a:p>
            <a:r>
              <a:rPr lang="en-US" altLang="en-US" sz="1800" dirty="0"/>
              <a:t>3     7</a:t>
            </a:r>
          </a:p>
        </p:txBody>
      </p:sp>
    </p:spTree>
    <p:extLst>
      <p:ext uri="{BB962C8B-B14F-4D97-AF65-F5344CB8AC3E}">
        <p14:creationId xmlns:p14="http://schemas.microsoft.com/office/powerpoint/2010/main" val="1415750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9394" name="Rectangle 2"/>
          <p:cNvSpPr>
            <a:spLocks noGrp="1" noChangeArrowheads="1"/>
          </p:cNvSpPr>
          <p:nvPr>
            <p:ph type="title"/>
          </p:nvPr>
        </p:nvSpPr>
        <p:spPr>
          <a:xfrm>
            <a:off x="955866" y="266700"/>
            <a:ext cx="7924800" cy="457200"/>
          </a:xfrm>
        </p:spPr>
        <p:txBody>
          <a:bodyPr/>
          <a:lstStyle/>
          <a:p>
            <a:pPr>
              <a:defRPr/>
            </a:pPr>
            <a:r>
              <a:rPr lang="en-US" altLang="en-US" sz="2800" dirty="0">
                <a:effectLst>
                  <a:outerShdw blurRad="38100" dist="38100" dir="2700000" algn="tl">
                    <a:srgbClr val="C0C0C0"/>
                  </a:outerShdw>
                </a:effectLst>
                <a:ea typeface="ＭＳ Ｐゴシック" pitchFamily="34" charset="-128"/>
              </a:rPr>
              <a:t>Functional Dependencies</a:t>
            </a:r>
          </a:p>
        </p:txBody>
      </p:sp>
      <p:sp>
        <p:nvSpPr>
          <p:cNvPr id="18435" name="Rectangle 3"/>
          <p:cNvSpPr>
            <a:spLocks noGrp="1" noChangeArrowheads="1"/>
          </p:cNvSpPr>
          <p:nvPr>
            <p:ph type="body" idx="1"/>
          </p:nvPr>
        </p:nvSpPr>
        <p:spPr>
          <a:xfrm>
            <a:off x="781234" y="1217613"/>
            <a:ext cx="7546019" cy="2720403"/>
          </a:xfrm>
        </p:spPr>
        <p:txBody>
          <a:bodyPr/>
          <a:lstStyle/>
          <a:p>
            <a:r>
              <a:rPr lang="en-US" altLang="en-US" sz="1700" dirty="0"/>
              <a:t>Example1:  				</a:t>
            </a:r>
          </a:p>
          <a:p>
            <a:pPr marL="0" indent="0">
              <a:buNone/>
            </a:pPr>
            <a:r>
              <a:rPr lang="en-US" altLang="en-US" b="1" dirty="0"/>
              <a:t>X	Y</a:t>
            </a:r>
            <a:endParaRPr lang="en-US" altLang="en-US" sz="1700" b="1" dirty="0"/>
          </a:p>
          <a:p>
            <a:pPr marL="0" indent="0">
              <a:buNone/>
            </a:pPr>
            <a:r>
              <a:rPr lang="en-US" altLang="en-US" dirty="0"/>
              <a:t>1	1</a:t>
            </a:r>
          </a:p>
          <a:p>
            <a:pPr marL="0" indent="0">
              <a:buNone/>
            </a:pPr>
            <a:r>
              <a:rPr lang="en-US" altLang="en-US" sz="1700" dirty="0"/>
              <a:t>2	1</a:t>
            </a:r>
          </a:p>
          <a:p>
            <a:pPr marL="0" indent="0">
              <a:buNone/>
            </a:pPr>
            <a:r>
              <a:rPr lang="en-US" altLang="en-US" dirty="0"/>
              <a:t>3	2</a:t>
            </a:r>
          </a:p>
          <a:p>
            <a:pPr marL="0" indent="0">
              <a:buNone/>
            </a:pPr>
            <a:r>
              <a:rPr lang="en-US" altLang="en-US" dirty="0"/>
              <a:t>4	3</a:t>
            </a:r>
          </a:p>
          <a:p>
            <a:pPr marL="0" indent="0">
              <a:buNone/>
            </a:pPr>
            <a:r>
              <a:rPr lang="en-US" altLang="en-US" dirty="0"/>
              <a:t>2	5</a:t>
            </a:r>
          </a:p>
          <a:p>
            <a:pPr marL="0" indent="0">
              <a:buNone/>
            </a:pPr>
            <a:endParaRPr lang="en-US" altLang="en-US" dirty="0"/>
          </a:p>
          <a:p>
            <a:r>
              <a:rPr lang="en-US" altLang="en-US" sz="1700" dirty="0"/>
              <a:t>Given a set </a:t>
            </a:r>
            <a:r>
              <a:rPr lang="en-US" altLang="en-US" sz="1700" i="1" dirty="0"/>
              <a:t>F</a:t>
            </a:r>
            <a:r>
              <a:rPr lang="en-US" altLang="en-US" sz="1700" dirty="0"/>
              <a:t> set of functional dependencies, there are certain other functional dependencies that are logically implied by </a:t>
            </a:r>
            <a:r>
              <a:rPr lang="en-US" altLang="en-US" sz="1700" i="1" dirty="0"/>
              <a:t>F</a:t>
            </a:r>
            <a:r>
              <a:rPr lang="en-US" altLang="en-US" sz="1700" dirty="0"/>
              <a:t>.</a:t>
            </a:r>
          </a:p>
          <a:p>
            <a:pPr lvl="1"/>
            <a:r>
              <a:rPr lang="en-US" altLang="en-US" sz="1700" dirty="0"/>
              <a:t> If  </a:t>
            </a:r>
            <a:r>
              <a:rPr lang="en-US" altLang="en-US" sz="1700" i="1" dirty="0"/>
              <a:t>A</a:t>
            </a:r>
            <a:r>
              <a:rPr lang="en-US" altLang="en-US" sz="1700" dirty="0"/>
              <a:t> </a:t>
            </a:r>
            <a:r>
              <a:rPr lang="en-US" altLang="en-US" sz="1700" dirty="0">
                <a:sym typeface="Symbol" panose="05050102010706020507" pitchFamily="18" charset="2"/>
              </a:rPr>
              <a:t></a:t>
            </a:r>
            <a:r>
              <a:rPr lang="en-US" altLang="en-US" sz="1700" dirty="0">
                <a:sym typeface="Monotype Sorts" pitchFamily="-84" charset="2"/>
              </a:rPr>
              <a:t> </a:t>
            </a:r>
            <a:r>
              <a:rPr lang="en-US" altLang="en-US" sz="1700" i="1" dirty="0">
                <a:sym typeface="Monotype Sorts" pitchFamily="-84" charset="2"/>
              </a:rPr>
              <a:t>B</a:t>
            </a:r>
            <a:r>
              <a:rPr lang="en-US" altLang="en-US" sz="1700" dirty="0">
                <a:sym typeface="Monotype Sorts" pitchFamily="-84" charset="2"/>
              </a:rPr>
              <a:t> and  </a:t>
            </a:r>
            <a:r>
              <a:rPr lang="en-US" altLang="en-US" sz="1700" i="1" dirty="0">
                <a:sym typeface="Monotype Sorts" pitchFamily="-84" charset="2"/>
              </a:rPr>
              <a:t>B</a:t>
            </a:r>
            <a:r>
              <a:rPr lang="en-US" altLang="en-US" sz="1700" dirty="0">
                <a:sym typeface="Monotype Sorts" pitchFamily="-84" charset="2"/>
              </a:rPr>
              <a:t> </a:t>
            </a:r>
            <a:r>
              <a:rPr lang="en-US" altLang="en-US" sz="1700" dirty="0">
                <a:sym typeface="Symbol" panose="05050102010706020507" pitchFamily="18" charset="2"/>
              </a:rPr>
              <a:t></a:t>
            </a:r>
            <a:r>
              <a:rPr lang="en-US" altLang="en-US" sz="1700" dirty="0">
                <a:sym typeface="Monotype Sorts" pitchFamily="-84" charset="2"/>
              </a:rPr>
              <a:t> </a:t>
            </a:r>
            <a:r>
              <a:rPr lang="en-US" altLang="en-US" sz="1700" i="1" dirty="0">
                <a:sym typeface="Monotype Sorts" pitchFamily="-84" charset="2"/>
              </a:rPr>
              <a:t>C</a:t>
            </a:r>
            <a:r>
              <a:rPr lang="en-US" altLang="en-US" sz="1700" dirty="0">
                <a:sym typeface="Monotype Sorts" pitchFamily="-84" charset="2"/>
              </a:rPr>
              <a:t>,  then we can infer that </a:t>
            </a:r>
            <a:r>
              <a:rPr lang="en-US" altLang="en-US" sz="1700" i="1" dirty="0">
                <a:sym typeface="Monotype Sorts" pitchFamily="-84" charset="2"/>
              </a:rPr>
              <a:t>A</a:t>
            </a:r>
            <a:r>
              <a:rPr lang="en-US" altLang="en-US" sz="1700" dirty="0">
                <a:sym typeface="Monotype Sorts" pitchFamily="-84" charset="2"/>
              </a:rPr>
              <a:t> </a:t>
            </a:r>
            <a:r>
              <a:rPr lang="en-US" altLang="en-US" sz="1700" dirty="0">
                <a:sym typeface="Symbol" panose="05050102010706020507" pitchFamily="18" charset="2"/>
              </a:rPr>
              <a:t></a:t>
            </a:r>
            <a:r>
              <a:rPr lang="en-US" altLang="en-US" sz="1700" dirty="0">
                <a:sym typeface="Monotype Sorts" pitchFamily="-84" charset="2"/>
              </a:rPr>
              <a:t> C</a:t>
            </a:r>
          </a:p>
          <a:p>
            <a:pPr lvl="1"/>
            <a:r>
              <a:rPr lang="en-US" altLang="en-US" sz="1700" dirty="0">
                <a:sym typeface="Monotype Sorts" pitchFamily="-84" charset="2"/>
              </a:rPr>
              <a:t>etc.</a:t>
            </a:r>
            <a:endParaRPr lang="en-US" altLang="en-US" sz="1700" dirty="0"/>
          </a:p>
          <a:p>
            <a:r>
              <a:rPr lang="en-US" altLang="en-US" sz="1700" dirty="0"/>
              <a:t>The set of </a:t>
            </a:r>
            <a:r>
              <a:rPr lang="en-US" altLang="en-US" sz="1700" b="1" dirty="0">
                <a:solidFill>
                  <a:srgbClr val="002060"/>
                </a:solidFill>
              </a:rPr>
              <a:t>all</a:t>
            </a:r>
            <a:r>
              <a:rPr lang="en-US" altLang="en-US" sz="1700" dirty="0"/>
              <a:t> functional dependencies logically implied by </a:t>
            </a:r>
            <a:r>
              <a:rPr lang="en-US" altLang="en-US" sz="1700" i="1" dirty="0"/>
              <a:t>F</a:t>
            </a:r>
            <a:r>
              <a:rPr lang="en-US" altLang="en-US" sz="1700" dirty="0"/>
              <a:t> is the </a:t>
            </a:r>
            <a:r>
              <a:rPr lang="en-US" altLang="en-US" sz="1700" b="1" dirty="0">
                <a:solidFill>
                  <a:srgbClr val="002060"/>
                </a:solidFill>
              </a:rPr>
              <a:t>closure</a:t>
            </a:r>
            <a:r>
              <a:rPr lang="en-US" altLang="en-US" sz="1700" dirty="0"/>
              <a:t> of </a:t>
            </a:r>
            <a:r>
              <a:rPr lang="en-US" altLang="en-US" sz="1700" i="1" dirty="0"/>
              <a:t>F</a:t>
            </a:r>
            <a:r>
              <a:rPr lang="en-US" altLang="en-US" sz="1700" dirty="0"/>
              <a:t>.</a:t>
            </a:r>
          </a:p>
          <a:p>
            <a:r>
              <a:rPr lang="en-US" altLang="en-US" sz="1700" dirty="0"/>
              <a:t>We denote the </a:t>
            </a:r>
            <a:r>
              <a:rPr lang="en-US" altLang="en-US" sz="1700" i="1" dirty="0"/>
              <a:t>closure </a:t>
            </a:r>
            <a:r>
              <a:rPr lang="en-US" altLang="en-US" sz="1700" dirty="0"/>
              <a:t>of </a:t>
            </a:r>
            <a:r>
              <a:rPr lang="en-US" altLang="en-US" sz="1700" i="1" dirty="0"/>
              <a:t>F</a:t>
            </a:r>
            <a:r>
              <a:rPr lang="en-US" altLang="en-US" sz="1700" dirty="0"/>
              <a:t> by </a:t>
            </a:r>
            <a:r>
              <a:rPr lang="en-US" altLang="en-US" sz="1700" b="1" i="1" dirty="0">
                <a:solidFill>
                  <a:srgbClr val="002060"/>
                </a:solidFill>
              </a:rPr>
              <a:t>F</a:t>
            </a:r>
            <a:r>
              <a:rPr lang="en-US" altLang="en-US" sz="1700" b="1" i="1" baseline="44000" dirty="0">
                <a:solidFill>
                  <a:srgbClr val="002060"/>
                </a:solidFill>
              </a:rPr>
              <a:t>+</a:t>
            </a:r>
            <a:r>
              <a:rPr lang="en-US" altLang="en-US" sz="1700" i="1" dirty="0">
                <a:solidFill>
                  <a:srgbClr val="000099"/>
                </a:solidFill>
              </a:rPr>
              <a:t>.</a:t>
            </a:r>
          </a:p>
          <a:p>
            <a:endParaRPr lang="en-US" altLang="en-US" dirty="0">
              <a:sym typeface="Greek Symbols"/>
            </a:endParaRPr>
          </a:p>
        </p:txBody>
      </p:sp>
      <p:sp>
        <p:nvSpPr>
          <p:cNvPr id="3" name="TextBox 2">
            <a:extLst>
              <a:ext uri="{FF2B5EF4-FFF2-40B4-BE49-F238E27FC236}">
                <a16:creationId xmlns:a16="http://schemas.microsoft.com/office/drawing/2014/main" id="{E1868602-8683-400A-180F-6482869E4A91}"/>
              </a:ext>
            </a:extLst>
          </p:cNvPr>
          <p:cNvSpPr txBox="1"/>
          <p:nvPr/>
        </p:nvSpPr>
        <p:spPr>
          <a:xfrm>
            <a:off x="3846136" y="1489435"/>
            <a:ext cx="1847654" cy="2062103"/>
          </a:xfrm>
          <a:prstGeom prst="rect">
            <a:avLst/>
          </a:prstGeom>
          <a:noFill/>
        </p:spPr>
        <p:txBody>
          <a:bodyPr wrap="square" rtlCol="0">
            <a:spAutoFit/>
          </a:bodyPr>
          <a:lstStyle/>
          <a:p>
            <a:pPr marL="0" indent="0">
              <a:buNone/>
            </a:pPr>
            <a:r>
              <a:rPr lang="en-US" altLang="en-US" b="1" dirty="0"/>
              <a:t>Example2:</a:t>
            </a:r>
          </a:p>
          <a:p>
            <a:pPr marL="0" indent="0">
              <a:buNone/>
            </a:pPr>
            <a:r>
              <a:rPr lang="en-US" altLang="en-US" b="1" dirty="0"/>
              <a:t>X	Y</a:t>
            </a:r>
            <a:endParaRPr lang="en-US" altLang="en-US" sz="1600" b="1" dirty="0"/>
          </a:p>
          <a:p>
            <a:pPr marL="0" indent="0">
              <a:buNone/>
            </a:pPr>
            <a:r>
              <a:rPr lang="en-US" altLang="en-US" dirty="0"/>
              <a:t>1	1</a:t>
            </a:r>
          </a:p>
          <a:p>
            <a:pPr marL="0" indent="0">
              <a:buNone/>
            </a:pPr>
            <a:r>
              <a:rPr lang="en-US" altLang="en-US" sz="1600" dirty="0"/>
              <a:t>2	1</a:t>
            </a:r>
          </a:p>
          <a:p>
            <a:pPr marL="0" indent="0">
              <a:buNone/>
            </a:pPr>
            <a:r>
              <a:rPr lang="en-US" altLang="en-US" dirty="0"/>
              <a:t>3	2</a:t>
            </a:r>
          </a:p>
          <a:p>
            <a:pPr marL="0" indent="0">
              <a:buNone/>
            </a:pPr>
            <a:r>
              <a:rPr lang="en-US" altLang="en-US" dirty="0"/>
              <a:t>4	3</a:t>
            </a:r>
          </a:p>
          <a:p>
            <a:pPr marL="0" indent="0">
              <a:buNone/>
            </a:pPr>
            <a:r>
              <a:rPr lang="en-US" altLang="en-US" dirty="0"/>
              <a:t>2	1</a:t>
            </a:r>
          </a:p>
          <a:p>
            <a:endParaRPr lang="en-US" dirty="0"/>
          </a:p>
        </p:txBody>
      </p:sp>
      <p:sp>
        <p:nvSpPr>
          <p:cNvPr id="4" name="TextBox 3">
            <a:extLst>
              <a:ext uri="{FF2B5EF4-FFF2-40B4-BE49-F238E27FC236}">
                <a16:creationId xmlns:a16="http://schemas.microsoft.com/office/drawing/2014/main" id="{5B2BF09B-8B43-BB80-5EB4-AC71C08CF255}"/>
              </a:ext>
            </a:extLst>
          </p:cNvPr>
          <p:cNvSpPr txBox="1"/>
          <p:nvPr/>
        </p:nvSpPr>
        <p:spPr>
          <a:xfrm>
            <a:off x="6203200" y="2648932"/>
            <a:ext cx="2855959" cy="584775"/>
          </a:xfrm>
          <a:prstGeom prst="rect">
            <a:avLst/>
          </a:prstGeom>
          <a:noFill/>
        </p:spPr>
        <p:txBody>
          <a:bodyPr wrap="square" rtlCol="0">
            <a:spAutoFit/>
          </a:bodyPr>
          <a:lstStyle/>
          <a:p>
            <a:r>
              <a:rPr lang="en-US" dirty="0"/>
              <a:t>Example3: </a:t>
            </a:r>
            <a:r>
              <a:rPr lang="en-US" dirty="0" err="1"/>
              <a:t>RollNo</a:t>
            </a:r>
            <a:r>
              <a:rPr lang="en-US" dirty="0"/>
              <a:t>-&gt;Name for single class Otherwise no</a:t>
            </a:r>
          </a:p>
        </p:txBody>
      </p:sp>
    </p:spTree>
    <p:extLst>
      <p:ext uri="{BB962C8B-B14F-4D97-AF65-F5344CB8AC3E}">
        <p14:creationId xmlns:p14="http://schemas.microsoft.com/office/powerpoint/2010/main" val="42514144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E8588-47CC-5E54-5E92-278E53F173EC}"/>
              </a:ext>
            </a:extLst>
          </p:cNvPr>
          <p:cNvSpPr>
            <a:spLocks noGrp="1"/>
          </p:cNvSpPr>
          <p:nvPr>
            <p:ph type="title"/>
          </p:nvPr>
        </p:nvSpPr>
        <p:spPr/>
        <p:txBody>
          <a:bodyPr/>
          <a:lstStyle/>
          <a:p>
            <a:r>
              <a:rPr lang="en-US" altLang="en-US" sz="2800" dirty="0">
                <a:effectLst>
                  <a:outerShdw blurRad="38100" dist="38100" dir="2700000" algn="tl">
                    <a:srgbClr val="C0C0C0"/>
                  </a:outerShdw>
                </a:effectLst>
                <a:ea typeface="ＭＳ Ｐゴシック" pitchFamily="34" charset="-128"/>
              </a:rPr>
              <a:t>Functional Dependencies</a:t>
            </a:r>
            <a:endParaRPr lang="en-US" dirty="0"/>
          </a:p>
        </p:txBody>
      </p:sp>
      <p:pic>
        <p:nvPicPr>
          <p:cNvPr id="5" name="Picture 4">
            <a:extLst>
              <a:ext uri="{FF2B5EF4-FFF2-40B4-BE49-F238E27FC236}">
                <a16:creationId xmlns:a16="http://schemas.microsoft.com/office/drawing/2014/main" id="{C2A13F3B-7A53-C798-E6BC-50975C6BA4D6}"/>
              </a:ext>
            </a:extLst>
          </p:cNvPr>
          <p:cNvPicPr>
            <a:picLocks noChangeAspect="1"/>
          </p:cNvPicPr>
          <p:nvPr/>
        </p:nvPicPr>
        <p:blipFill>
          <a:blip r:embed="rId2"/>
          <a:stretch>
            <a:fillRect/>
          </a:stretch>
        </p:blipFill>
        <p:spPr>
          <a:xfrm>
            <a:off x="1799063" y="1012413"/>
            <a:ext cx="6015774" cy="4833173"/>
          </a:xfrm>
          <a:prstGeom prst="rect">
            <a:avLst/>
          </a:prstGeom>
        </p:spPr>
      </p:pic>
    </p:spTree>
    <p:extLst>
      <p:ext uri="{BB962C8B-B14F-4D97-AF65-F5344CB8AC3E}">
        <p14:creationId xmlns:p14="http://schemas.microsoft.com/office/powerpoint/2010/main" val="726345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1D336EA8-B6B2-9D22-3DED-E5D75A760B93}"/>
              </a:ext>
            </a:extLst>
          </p:cNvPr>
          <p:cNvSpPr>
            <a:spLocks noGrp="1"/>
          </p:cNvSpPr>
          <p:nvPr>
            <p:ph type="sldNum" sz="quarter" idx="10"/>
          </p:nvPr>
        </p:nvSpPr>
        <p:spPr/>
        <p:txBody>
          <a:bodyPr/>
          <a:lstStyle>
            <a:lvl1pPr>
              <a:defRPr sz="1200" b="1">
                <a:solidFill>
                  <a:schemeClr val="tx1"/>
                </a:solidFill>
                <a:latin typeface="Arial" panose="020B0604020202020204" pitchFamily="34" charset="0"/>
              </a:defRPr>
            </a:lvl1pPr>
            <a:lvl2pPr marL="742950" indent="-285750">
              <a:defRPr sz="1200" b="1">
                <a:solidFill>
                  <a:schemeClr val="tx1"/>
                </a:solidFill>
                <a:latin typeface="Arial" panose="020B0604020202020204" pitchFamily="34" charset="0"/>
              </a:defRPr>
            </a:lvl2pPr>
            <a:lvl3pPr marL="1143000" indent="-228600">
              <a:defRPr sz="1200" b="1">
                <a:solidFill>
                  <a:schemeClr val="tx1"/>
                </a:solidFill>
                <a:latin typeface="Arial" panose="020B0604020202020204" pitchFamily="34" charset="0"/>
              </a:defRPr>
            </a:lvl3pPr>
            <a:lvl4pPr marL="1600200" indent="-228600">
              <a:defRPr sz="1200" b="1">
                <a:solidFill>
                  <a:schemeClr val="tx1"/>
                </a:solidFill>
                <a:latin typeface="Arial" panose="020B0604020202020204" pitchFamily="34" charset="0"/>
              </a:defRPr>
            </a:lvl4pPr>
            <a:lvl5pPr marL="2057400" indent="-22860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0033CC"/>
              </a:buClr>
              <a:buSzPct val="155000"/>
              <a:buFont typeface="Symbol" panose="05050102010706020507" pitchFamily="18"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0033CC"/>
              </a:buClr>
              <a:buSzPct val="155000"/>
              <a:buFont typeface="Symbol" panose="05050102010706020507" pitchFamily="18"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0033CC"/>
              </a:buClr>
              <a:buSzPct val="155000"/>
              <a:buFont typeface="Symbol" panose="05050102010706020507" pitchFamily="18"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0033CC"/>
              </a:buClr>
              <a:buSzPct val="155000"/>
              <a:buFont typeface="Symbol" panose="05050102010706020507" pitchFamily="18" charset="2"/>
              <a:defRPr sz="1200" b="1">
                <a:solidFill>
                  <a:schemeClr val="tx1"/>
                </a:solidFill>
                <a:latin typeface="Arial" panose="020B0604020202020204" pitchFamily="34" charset="0"/>
              </a:defRPr>
            </a:lvl9pPr>
          </a:lstStyle>
          <a:p>
            <a:fld id="{C6F43875-C55F-4889-AAEB-DB679CC24259}" type="slidenum">
              <a:rPr lang="en-US" altLang="en-US">
                <a:solidFill>
                  <a:schemeClr val="bg1"/>
                </a:solidFill>
              </a:rPr>
              <a:pPr/>
              <a:t>17</a:t>
            </a:fld>
            <a:endParaRPr lang="en-US" altLang="en-US">
              <a:solidFill>
                <a:schemeClr val="bg1"/>
              </a:solidFill>
            </a:endParaRPr>
          </a:p>
        </p:txBody>
      </p:sp>
      <p:sp>
        <p:nvSpPr>
          <p:cNvPr id="25602" name="Rectangle 2">
            <a:extLst>
              <a:ext uri="{FF2B5EF4-FFF2-40B4-BE49-F238E27FC236}">
                <a16:creationId xmlns:a16="http://schemas.microsoft.com/office/drawing/2014/main" id="{1F4B57C1-A34E-45D6-DCF6-704A80B64530}"/>
              </a:ext>
            </a:extLst>
          </p:cNvPr>
          <p:cNvSpPr>
            <a:spLocks noGrp="1" noChangeArrowheads="1"/>
          </p:cNvSpPr>
          <p:nvPr>
            <p:ph type="title" idx="4294967295"/>
          </p:nvPr>
        </p:nvSpPr>
        <p:spPr/>
        <p:txBody>
          <a:bodyPr lIns="0"/>
          <a:lstStyle/>
          <a:p>
            <a:pPr eaLnBrk="1" hangingPunct="1">
              <a:defRPr/>
            </a:pPr>
            <a:r>
              <a:rPr lang="en-US"/>
              <a:t>Functional Dependencies</a:t>
            </a:r>
            <a:r>
              <a:rPr lang="en-US" b="0"/>
              <a:t> </a:t>
            </a:r>
          </a:p>
        </p:txBody>
      </p:sp>
      <p:sp>
        <p:nvSpPr>
          <p:cNvPr id="66564" name="Rectangle 3">
            <a:extLst>
              <a:ext uri="{FF2B5EF4-FFF2-40B4-BE49-F238E27FC236}">
                <a16:creationId xmlns:a16="http://schemas.microsoft.com/office/drawing/2014/main" id="{7FE222E9-A66B-C873-4A2D-AEFB1A9F5F5B}"/>
              </a:ext>
            </a:extLst>
          </p:cNvPr>
          <p:cNvSpPr>
            <a:spLocks noGrp="1" noChangeArrowheads="1"/>
          </p:cNvSpPr>
          <p:nvPr>
            <p:ph type="body" idx="4294967295"/>
          </p:nvPr>
        </p:nvSpPr>
        <p:spPr>
          <a:xfrm>
            <a:off x="152400" y="1187450"/>
            <a:ext cx="8610600" cy="4679950"/>
          </a:xfrm>
        </p:spPr>
        <p:txBody>
          <a:bodyPr lIns="0" tIns="0"/>
          <a:lstStyle/>
          <a:p>
            <a:pPr eaLnBrk="1" hangingPunct="1">
              <a:buFont typeface="Wingdings" panose="05000000000000000000" pitchFamily="2" charset="2"/>
              <a:buNone/>
            </a:pPr>
            <a:r>
              <a:rPr lang="en-US" altLang="en-US"/>
              <a:t>Consider the following Relation </a:t>
            </a:r>
          </a:p>
          <a:p>
            <a:pPr eaLnBrk="1" hangingPunct="1">
              <a:buFont typeface="Wingdings" panose="05000000000000000000" pitchFamily="2" charset="2"/>
              <a:buNone/>
            </a:pPr>
            <a:endParaRPr lang="en-US" altLang="en-US"/>
          </a:p>
          <a:p>
            <a:pPr eaLnBrk="1" hangingPunct="1">
              <a:buFont typeface="Wingdings" panose="05000000000000000000" pitchFamily="2" charset="2"/>
              <a:buNone/>
            </a:pPr>
            <a:r>
              <a:rPr lang="en-US" altLang="en-US" b="1"/>
              <a:t>REPORT (</a:t>
            </a:r>
            <a:r>
              <a:rPr lang="en-US" altLang="en-US" b="1" u="sng"/>
              <a:t>STUDENT#,COURSE#</a:t>
            </a:r>
            <a:r>
              <a:rPr lang="en-US" altLang="en-US" b="1"/>
              <a:t>, StudentName,CourseName, Marks, Grade)</a:t>
            </a:r>
          </a:p>
          <a:p>
            <a:pPr eaLnBrk="1" hangingPunct="1">
              <a:buFont typeface="Wingdings" panose="05000000000000000000" pitchFamily="2" charset="2"/>
              <a:buNone/>
            </a:pPr>
            <a:endParaRPr lang="en-US" altLang="en-US" b="1"/>
          </a:p>
          <a:p>
            <a:pPr eaLnBrk="1" hangingPunct="1">
              <a:buFont typeface="Wingdings" panose="05000000000000000000" pitchFamily="2" charset="2"/>
              <a:buNone/>
            </a:pPr>
            <a:r>
              <a:rPr lang="en-US" altLang="en-US" b="1"/>
              <a:t>Description of the Attributes:</a:t>
            </a:r>
          </a:p>
          <a:p>
            <a:pPr eaLnBrk="1" hangingPunct="1">
              <a:buFont typeface="Wingdings" panose="05000000000000000000" pitchFamily="2" charset="2"/>
              <a:buNone/>
            </a:pPr>
            <a:endParaRPr lang="en-US" altLang="en-US" b="1"/>
          </a:p>
          <a:p>
            <a:pPr eaLnBrk="1" hangingPunct="1"/>
            <a:r>
              <a:rPr lang="en-US" altLang="en-US"/>
              <a:t>STUDENT# - Student Number</a:t>
            </a:r>
          </a:p>
          <a:p>
            <a:pPr eaLnBrk="1" hangingPunct="1"/>
            <a:r>
              <a:rPr lang="en-US" altLang="en-US"/>
              <a:t>COURSE# - Course Number</a:t>
            </a:r>
          </a:p>
          <a:p>
            <a:pPr eaLnBrk="1" hangingPunct="1"/>
            <a:r>
              <a:rPr lang="en-US" altLang="en-US"/>
              <a:t>StudentName- Student Name</a:t>
            </a:r>
          </a:p>
          <a:p>
            <a:pPr eaLnBrk="1" hangingPunct="1"/>
            <a:r>
              <a:rPr lang="en-US" altLang="en-US"/>
              <a:t>CourseName - Course Name </a:t>
            </a:r>
          </a:p>
          <a:p>
            <a:pPr eaLnBrk="1" hangingPunct="1"/>
            <a:r>
              <a:rPr lang="en-US" altLang="en-US"/>
              <a:t>Marks  - Scored in Course COURSE# by Student STUDENT#</a:t>
            </a:r>
          </a:p>
          <a:p>
            <a:pPr eaLnBrk="1" hangingPunct="1"/>
            <a:r>
              <a:rPr lang="en-US" altLang="en-US"/>
              <a:t>Grade - obtained by Student STUDENT# in Course COURSE#</a:t>
            </a:r>
          </a:p>
          <a:p>
            <a:pPr eaLnBrk="1" hangingPunct="1">
              <a:buFont typeface="Wingdings" panose="05000000000000000000" pitchFamily="2" charset="2"/>
              <a:buNone/>
            </a:pPr>
            <a:endParaRPr lang="en-US" altLang="en-US" sz="1800"/>
          </a:p>
        </p:txBody>
      </p:sp>
    </p:spTree>
    <p:extLst>
      <p:ext uri="{BB962C8B-B14F-4D97-AF65-F5344CB8AC3E}">
        <p14:creationId xmlns:p14="http://schemas.microsoft.com/office/powerpoint/2010/main" val="19677452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A1AC7AA8-EAA2-0C68-C3CC-211F9D4EC1A4}"/>
              </a:ext>
            </a:extLst>
          </p:cNvPr>
          <p:cNvSpPr>
            <a:spLocks noGrp="1"/>
          </p:cNvSpPr>
          <p:nvPr>
            <p:ph type="sldNum" sz="quarter" idx="10"/>
          </p:nvPr>
        </p:nvSpPr>
        <p:spPr/>
        <p:txBody>
          <a:bodyPr/>
          <a:lstStyle>
            <a:lvl1pPr>
              <a:defRPr sz="1200" b="1">
                <a:solidFill>
                  <a:schemeClr val="tx1"/>
                </a:solidFill>
                <a:latin typeface="Arial" panose="020B0604020202020204" pitchFamily="34" charset="0"/>
              </a:defRPr>
            </a:lvl1pPr>
            <a:lvl2pPr marL="742950" indent="-285750">
              <a:defRPr sz="1200" b="1">
                <a:solidFill>
                  <a:schemeClr val="tx1"/>
                </a:solidFill>
                <a:latin typeface="Arial" panose="020B0604020202020204" pitchFamily="34" charset="0"/>
              </a:defRPr>
            </a:lvl2pPr>
            <a:lvl3pPr marL="1143000" indent="-228600">
              <a:defRPr sz="1200" b="1">
                <a:solidFill>
                  <a:schemeClr val="tx1"/>
                </a:solidFill>
                <a:latin typeface="Arial" panose="020B0604020202020204" pitchFamily="34" charset="0"/>
              </a:defRPr>
            </a:lvl3pPr>
            <a:lvl4pPr marL="1600200" indent="-228600">
              <a:defRPr sz="1200" b="1">
                <a:solidFill>
                  <a:schemeClr val="tx1"/>
                </a:solidFill>
                <a:latin typeface="Arial" panose="020B0604020202020204" pitchFamily="34" charset="0"/>
              </a:defRPr>
            </a:lvl4pPr>
            <a:lvl5pPr marL="2057400" indent="-22860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0033CC"/>
              </a:buClr>
              <a:buSzPct val="155000"/>
              <a:buFont typeface="Symbol" panose="05050102010706020507" pitchFamily="18"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0033CC"/>
              </a:buClr>
              <a:buSzPct val="155000"/>
              <a:buFont typeface="Symbol" panose="05050102010706020507" pitchFamily="18"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0033CC"/>
              </a:buClr>
              <a:buSzPct val="155000"/>
              <a:buFont typeface="Symbol" panose="05050102010706020507" pitchFamily="18"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0033CC"/>
              </a:buClr>
              <a:buSzPct val="155000"/>
              <a:buFont typeface="Symbol" panose="05050102010706020507" pitchFamily="18" charset="2"/>
              <a:defRPr sz="1200" b="1">
                <a:solidFill>
                  <a:schemeClr val="tx1"/>
                </a:solidFill>
                <a:latin typeface="Arial" panose="020B0604020202020204" pitchFamily="34" charset="0"/>
              </a:defRPr>
            </a:lvl9pPr>
          </a:lstStyle>
          <a:p>
            <a:fld id="{C687772E-7269-4601-AB85-3471D27941B6}" type="slidenum">
              <a:rPr lang="en-US" altLang="en-US">
                <a:solidFill>
                  <a:schemeClr val="bg1"/>
                </a:solidFill>
              </a:rPr>
              <a:pPr/>
              <a:t>18</a:t>
            </a:fld>
            <a:endParaRPr lang="en-US" altLang="en-US">
              <a:solidFill>
                <a:schemeClr val="bg1"/>
              </a:solidFill>
            </a:endParaRPr>
          </a:p>
        </p:txBody>
      </p:sp>
      <p:sp>
        <p:nvSpPr>
          <p:cNvPr id="26626" name="Rectangle 2">
            <a:extLst>
              <a:ext uri="{FF2B5EF4-FFF2-40B4-BE49-F238E27FC236}">
                <a16:creationId xmlns:a16="http://schemas.microsoft.com/office/drawing/2014/main" id="{F38EBC5B-E694-2B24-00AF-7AD5D8367974}"/>
              </a:ext>
            </a:extLst>
          </p:cNvPr>
          <p:cNvSpPr>
            <a:spLocks noGrp="1" noChangeArrowheads="1"/>
          </p:cNvSpPr>
          <p:nvPr>
            <p:ph type="title" idx="4294967295"/>
          </p:nvPr>
        </p:nvSpPr>
        <p:spPr>
          <a:xfrm>
            <a:off x="484187" y="342900"/>
            <a:ext cx="8659813" cy="685800"/>
          </a:xfrm>
        </p:spPr>
        <p:txBody>
          <a:bodyPr lIns="0"/>
          <a:lstStyle/>
          <a:p>
            <a:pPr eaLnBrk="1" hangingPunct="1">
              <a:defRPr/>
            </a:pPr>
            <a:r>
              <a:rPr lang="en-US" sz="2800" dirty="0"/>
              <a:t>Functional Dependencies-  From the  previous example</a:t>
            </a:r>
          </a:p>
        </p:txBody>
      </p:sp>
      <p:sp>
        <p:nvSpPr>
          <p:cNvPr id="334851" name="Rectangle 3">
            <a:extLst>
              <a:ext uri="{FF2B5EF4-FFF2-40B4-BE49-F238E27FC236}">
                <a16:creationId xmlns:a16="http://schemas.microsoft.com/office/drawing/2014/main" id="{2C120DD5-AED2-5733-73AA-A11B62CEC1EA}"/>
              </a:ext>
            </a:extLst>
          </p:cNvPr>
          <p:cNvSpPr>
            <a:spLocks noGrp="1" noChangeArrowheads="1"/>
          </p:cNvSpPr>
          <p:nvPr>
            <p:ph type="body" idx="4294967295"/>
          </p:nvPr>
        </p:nvSpPr>
        <p:spPr>
          <a:xfrm>
            <a:off x="266700" y="1143000"/>
            <a:ext cx="8610600" cy="5257800"/>
          </a:xfrm>
        </p:spPr>
        <p:txBody>
          <a:bodyPr lIns="0" tIns="0"/>
          <a:lstStyle/>
          <a:p>
            <a:pPr eaLnBrk="1" hangingPunct="1"/>
            <a:r>
              <a:rPr lang="en-US" altLang="en-US" dirty="0"/>
              <a:t>For each value of (Student# ,Course#), Marks obtained will be exactly one value. So we observe the following Functional dependency</a:t>
            </a:r>
          </a:p>
          <a:p>
            <a:pPr eaLnBrk="1" hangingPunct="1">
              <a:buFont typeface="Wingdings" panose="05000000000000000000" pitchFamily="2" charset="2"/>
              <a:buNone/>
            </a:pPr>
            <a:r>
              <a:rPr lang="en-US" altLang="en-US" b="1" dirty="0"/>
              <a:t>		</a:t>
            </a:r>
          </a:p>
          <a:p>
            <a:pPr eaLnBrk="1" hangingPunct="1">
              <a:buFont typeface="Wingdings" panose="05000000000000000000" pitchFamily="2" charset="2"/>
              <a:buNone/>
            </a:pPr>
            <a:r>
              <a:rPr lang="en-US" altLang="en-US" b="1" dirty="0"/>
              <a:t>		STUDENT# COURSE# </a:t>
            </a:r>
            <a:r>
              <a:rPr lang="en-US" altLang="en-US" b="1" dirty="0">
                <a:sym typeface="Wingdings" panose="05000000000000000000" pitchFamily="2" charset="2"/>
              </a:rPr>
              <a:t></a:t>
            </a:r>
            <a:r>
              <a:rPr lang="en-US" altLang="en-US" b="1" dirty="0"/>
              <a:t> Marks</a:t>
            </a:r>
          </a:p>
          <a:p>
            <a:pPr eaLnBrk="1" hangingPunct="1">
              <a:buFont typeface="Wingdings" panose="05000000000000000000" pitchFamily="2" charset="2"/>
              <a:buNone/>
            </a:pPr>
            <a:endParaRPr lang="en-US" altLang="en-US" b="1" dirty="0"/>
          </a:p>
          <a:p>
            <a:pPr eaLnBrk="1" hangingPunct="1"/>
            <a:endParaRPr lang="en-US" altLang="en-US" b="1" dirty="0"/>
          </a:p>
          <a:p>
            <a:pPr eaLnBrk="1" hangingPunct="1"/>
            <a:r>
              <a:rPr lang="en-US" altLang="en-US" dirty="0"/>
              <a:t>For each value of  Course# the name of the course will  be exactly one value. So we observe the following Functional dependency</a:t>
            </a:r>
          </a:p>
          <a:p>
            <a:pPr eaLnBrk="1" hangingPunct="1">
              <a:buFont typeface="Wingdings" panose="05000000000000000000" pitchFamily="2" charset="2"/>
              <a:buNone/>
            </a:pPr>
            <a:r>
              <a:rPr lang="en-US" altLang="en-US" b="1" dirty="0"/>
              <a:t>		</a:t>
            </a:r>
          </a:p>
          <a:p>
            <a:pPr eaLnBrk="1" hangingPunct="1">
              <a:buFont typeface="Wingdings" panose="05000000000000000000" pitchFamily="2" charset="2"/>
              <a:buNone/>
            </a:pPr>
            <a:r>
              <a:rPr lang="en-US" altLang="en-US" b="1" dirty="0"/>
              <a:t>		COURSE#  </a:t>
            </a:r>
            <a:r>
              <a:rPr lang="en-US" altLang="en-US" b="1" dirty="0">
                <a:sym typeface="Wingdings" panose="05000000000000000000" pitchFamily="2" charset="2"/>
              </a:rPr>
              <a:t></a:t>
            </a:r>
            <a:r>
              <a:rPr lang="en-US" altLang="en-US" b="1" dirty="0"/>
              <a:t> </a:t>
            </a:r>
            <a:r>
              <a:rPr lang="en-US" altLang="en-US" b="1" dirty="0" err="1"/>
              <a:t>CourseName</a:t>
            </a:r>
            <a:r>
              <a:rPr lang="en-US" altLang="en-US" b="1" dirty="0"/>
              <a:t>,</a:t>
            </a:r>
          </a:p>
          <a:p>
            <a:pPr eaLnBrk="1" hangingPunct="1">
              <a:buFont typeface="Wingdings" panose="05000000000000000000" pitchFamily="2" charset="2"/>
              <a:buNone/>
            </a:pPr>
            <a:endParaRPr lang="en-US" altLang="en-US" b="1" dirty="0"/>
          </a:p>
          <a:p>
            <a:pPr eaLnBrk="1" hangingPunct="1"/>
            <a:r>
              <a:rPr lang="en-US" altLang="en-US" dirty="0"/>
              <a:t>For each value of  Marks the grade will be exactly one value. So we observe the following functional dependency</a:t>
            </a:r>
          </a:p>
          <a:p>
            <a:pPr eaLnBrk="1" hangingPunct="1">
              <a:buFont typeface="Wingdings" panose="05000000000000000000" pitchFamily="2" charset="2"/>
              <a:buNone/>
            </a:pPr>
            <a:r>
              <a:rPr lang="en-US" altLang="en-US" b="1" dirty="0"/>
              <a:t>		</a:t>
            </a:r>
          </a:p>
          <a:p>
            <a:pPr eaLnBrk="1" hangingPunct="1">
              <a:buFont typeface="Wingdings" panose="05000000000000000000" pitchFamily="2" charset="2"/>
              <a:buNone/>
            </a:pPr>
            <a:r>
              <a:rPr lang="en-US" altLang="en-US" b="1" dirty="0"/>
              <a:t>		Marks </a:t>
            </a:r>
            <a:r>
              <a:rPr lang="en-US" altLang="en-US" b="1" dirty="0">
                <a:sym typeface="Wingdings" panose="05000000000000000000" pitchFamily="2" charset="2"/>
              </a:rPr>
              <a:t></a:t>
            </a:r>
            <a:r>
              <a:rPr lang="en-US" altLang="en-US" b="1" dirty="0"/>
              <a:t> Grade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9" presetClass="entr" presetSubtype="0" fill="hold" nodeType="clickEffect">
                                  <p:stCondLst>
                                    <p:cond delay="0"/>
                                  </p:stCondLst>
                                  <p:childTnLst>
                                    <p:set>
                                      <p:cBhvr>
                                        <p:cTn id="6" dur="1" fill="hold">
                                          <p:stCondLst>
                                            <p:cond delay="0"/>
                                          </p:stCondLst>
                                        </p:cTn>
                                        <p:tgtEl>
                                          <p:spTgt spid="334851">
                                            <p:txEl>
                                              <p:pRg st="1" end="1"/>
                                            </p:txEl>
                                          </p:spTgt>
                                        </p:tgtEl>
                                        <p:attrNameLst>
                                          <p:attrName>style.visibility</p:attrName>
                                        </p:attrNameLst>
                                      </p:cBhvr>
                                      <p:to>
                                        <p:strVal val="visible"/>
                                      </p:to>
                                    </p:set>
                                    <p:anim calcmode="lin" valueType="num">
                                      <p:cBhvr>
                                        <p:cTn id="7" dur="1000" fill="hold"/>
                                        <p:tgtEl>
                                          <p:spTgt spid="334851">
                                            <p:txEl>
                                              <p:pRg st="1" end="1"/>
                                            </p:txEl>
                                          </p:spTgt>
                                        </p:tgtEl>
                                        <p:attrNameLst>
                                          <p:attrName>ppt_x</p:attrName>
                                        </p:attrNameLst>
                                      </p:cBhvr>
                                      <p:tavLst>
                                        <p:tav tm="0">
                                          <p:val>
                                            <p:strVal val="#ppt_x-.2"/>
                                          </p:val>
                                        </p:tav>
                                        <p:tav tm="100000">
                                          <p:val>
                                            <p:strVal val="#ppt_x"/>
                                          </p:val>
                                        </p:tav>
                                      </p:tavLst>
                                    </p:anim>
                                    <p:anim calcmode="lin" valueType="num">
                                      <p:cBhvr>
                                        <p:cTn id="8" dur="1000" fill="hold"/>
                                        <p:tgtEl>
                                          <p:spTgt spid="334851">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9" dur="1000"/>
                                        <p:tgtEl>
                                          <p:spTgt spid="334851">
                                            <p:txEl>
                                              <p:pRg st="1" end="1"/>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9" presetClass="entr" presetSubtype="0" fill="hold" nodeType="clickEffect">
                                  <p:stCondLst>
                                    <p:cond delay="0"/>
                                  </p:stCondLst>
                                  <p:childTnLst>
                                    <p:set>
                                      <p:cBhvr>
                                        <p:cTn id="13" dur="1" fill="hold">
                                          <p:stCondLst>
                                            <p:cond delay="0"/>
                                          </p:stCondLst>
                                        </p:cTn>
                                        <p:tgtEl>
                                          <p:spTgt spid="334851">
                                            <p:txEl>
                                              <p:pRg st="2" end="2"/>
                                            </p:txEl>
                                          </p:spTgt>
                                        </p:tgtEl>
                                        <p:attrNameLst>
                                          <p:attrName>style.visibility</p:attrName>
                                        </p:attrNameLst>
                                      </p:cBhvr>
                                      <p:to>
                                        <p:strVal val="visible"/>
                                      </p:to>
                                    </p:set>
                                    <p:anim calcmode="lin" valueType="num">
                                      <p:cBhvr>
                                        <p:cTn id="14" dur="1000" fill="hold"/>
                                        <p:tgtEl>
                                          <p:spTgt spid="334851">
                                            <p:txEl>
                                              <p:pRg st="2" end="2"/>
                                            </p:txEl>
                                          </p:spTgt>
                                        </p:tgtEl>
                                        <p:attrNameLst>
                                          <p:attrName>ppt_x</p:attrName>
                                        </p:attrNameLst>
                                      </p:cBhvr>
                                      <p:tavLst>
                                        <p:tav tm="0">
                                          <p:val>
                                            <p:strVal val="#ppt_x-.2"/>
                                          </p:val>
                                        </p:tav>
                                        <p:tav tm="100000">
                                          <p:val>
                                            <p:strVal val="#ppt_x"/>
                                          </p:val>
                                        </p:tav>
                                      </p:tavLst>
                                    </p:anim>
                                    <p:anim calcmode="lin" valueType="num">
                                      <p:cBhvr>
                                        <p:cTn id="15" dur="1000" fill="hold"/>
                                        <p:tgtEl>
                                          <p:spTgt spid="334851">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16" dur="1000"/>
                                        <p:tgtEl>
                                          <p:spTgt spid="334851">
                                            <p:txEl>
                                              <p:pRg st="2" end="2"/>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9" presetClass="entr" presetSubtype="0" fill="hold" nodeType="clickEffect">
                                  <p:stCondLst>
                                    <p:cond delay="0"/>
                                  </p:stCondLst>
                                  <p:childTnLst>
                                    <p:set>
                                      <p:cBhvr>
                                        <p:cTn id="20" dur="1" fill="hold">
                                          <p:stCondLst>
                                            <p:cond delay="0"/>
                                          </p:stCondLst>
                                        </p:cTn>
                                        <p:tgtEl>
                                          <p:spTgt spid="334851">
                                            <p:txEl>
                                              <p:pRg st="5" end="5"/>
                                            </p:txEl>
                                          </p:spTgt>
                                        </p:tgtEl>
                                        <p:attrNameLst>
                                          <p:attrName>style.visibility</p:attrName>
                                        </p:attrNameLst>
                                      </p:cBhvr>
                                      <p:to>
                                        <p:strVal val="visible"/>
                                      </p:to>
                                    </p:set>
                                    <p:anim calcmode="lin" valueType="num">
                                      <p:cBhvr>
                                        <p:cTn id="21" dur="1000" fill="hold"/>
                                        <p:tgtEl>
                                          <p:spTgt spid="334851">
                                            <p:txEl>
                                              <p:pRg st="5" end="5"/>
                                            </p:txEl>
                                          </p:spTgt>
                                        </p:tgtEl>
                                        <p:attrNameLst>
                                          <p:attrName>ppt_x</p:attrName>
                                        </p:attrNameLst>
                                      </p:cBhvr>
                                      <p:tavLst>
                                        <p:tav tm="0">
                                          <p:val>
                                            <p:strVal val="#ppt_x-.2"/>
                                          </p:val>
                                        </p:tav>
                                        <p:tav tm="100000">
                                          <p:val>
                                            <p:strVal val="#ppt_x"/>
                                          </p:val>
                                        </p:tav>
                                      </p:tavLst>
                                    </p:anim>
                                    <p:anim calcmode="lin" valueType="num">
                                      <p:cBhvr>
                                        <p:cTn id="22" dur="1000" fill="hold"/>
                                        <p:tgtEl>
                                          <p:spTgt spid="334851">
                                            <p:txEl>
                                              <p:pRg st="5" end="5"/>
                                            </p:txEl>
                                          </p:spTgt>
                                        </p:tgtEl>
                                        <p:attrNameLst>
                                          <p:attrName>ppt_y</p:attrName>
                                        </p:attrNameLst>
                                      </p:cBhvr>
                                      <p:tavLst>
                                        <p:tav tm="0">
                                          <p:val>
                                            <p:strVal val="#ppt_y"/>
                                          </p:val>
                                        </p:tav>
                                        <p:tav tm="100000">
                                          <p:val>
                                            <p:strVal val="#ppt_y"/>
                                          </p:val>
                                        </p:tav>
                                      </p:tavLst>
                                    </p:anim>
                                    <p:animEffect transition="in" filter="wipe(right)" prLst="gradientSize: 0.1">
                                      <p:cBhvr>
                                        <p:cTn id="23" dur="1000"/>
                                        <p:tgtEl>
                                          <p:spTgt spid="334851">
                                            <p:txEl>
                                              <p:pRg st="5" end="5"/>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9" presetClass="entr" presetSubtype="0" fill="hold" nodeType="clickEffect">
                                  <p:stCondLst>
                                    <p:cond delay="0"/>
                                  </p:stCondLst>
                                  <p:childTnLst>
                                    <p:set>
                                      <p:cBhvr>
                                        <p:cTn id="27" dur="1" fill="hold">
                                          <p:stCondLst>
                                            <p:cond delay="0"/>
                                          </p:stCondLst>
                                        </p:cTn>
                                        <p:tgtEl>
                                          <p:spTgt spid="334851">
                                            <p:txEl>
                                              <p:pRg st="0" end="0"/>
                                            </p:txEl>
                                          </p:spTgt>
                                        </p:tgtEl>
                                        <p:attrNameLst>
                                          <p:attrName>style.visibility</p:attrName>
                                        </p:attrNameLst>
                                      </p:cBhvr>
                                      <p:to>
                                        <p:strVal val="visible"/>
                                      </p:to>
                                    </p:set>
                                    <p:anim calcmode="lin" valueType="num">
                                      <p:cBhvr>
                                        <p:cTn id="28" dur="1000" fill="hold"/>
                                        <p:tgtEl>
                                          <p:spTgt spid="334851">
                                            <p:txEl>
                                              <p:pRg st="0" end="0"/>
                                            </p:txEl>
                                          </p:spTgt>
                                        </p:tgtEl>
                                        <p:attrNameLst>
                                          <p:attrName>ppt_x</p:attrName>
                                        </p:attrNameLst>
                                      </p:cBhvr>
                                      <p:tavLst>
                                        <p:tav tm="0">
                                          <p:val>
                                            <p:strVal val="#ppt_x-.2"/>
                                          </p:val>
                                        </p:tav>
                                        <p:tav tm="100000">
                                          <p:val>
                                            <p:strVal val="#ppt_x"/>
                                          </p:val>
                                        </p:tav>
                                      </p:tavLst>
                                    </p:anim>
                                    <p:anim calcmode="lin" valueType="num">
                                      <p:cBhvr>
                                        <p:cTn id="29" dur="1000" fill="hold"/>
                                        <p:tgtEl>
                                          <p:spTgt spid="334851">
                                            <p:txEl>
                                              <p:pRg st="0" end="0"/>
                                            </p:txEl>
                                          </p:spTgt>
                                        </p:tgtEl>
                                        <p:attrNameLst>
                                          <p:attrName>ppt_y</p:attrName>
                                        </p:attrNameLst>
                                      </p:cBhvr>
                                      <p:tavLst>
                                        <p:tav tm="0">
                                          <p:val>
                                            <p:strVal val="#ppt_y"/>
                                          </p:val>
                                        </p:tav>
                                        <p:tav tm="100000">
                                          <p:val>
                                            <p:strVal val="#ppt_y"/>
                                          </p:val>
                                        </p:tav>
                                      </p:tavLst>
                                    </p:anim>
                                    <p:animEffect transition="in" filter="wipe(right)" prLst="gradientSize: 0.1">
                                      <p:cBhvr>
                                        <p:cTn id="30" dur="1000"/>
                                        <p:tgtEl>
                                          <p:spTgt spid="334851">
                                            <p:txEl>
                                              <p:pRg st="0" end="0"/>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9" presetClass="entr" presetSubtype="0" fill="hold" nodeType="clickEffect">
                                  <p:stCondLst>
                                    <p:cond delay="0"/>
                                  </p:stCondLst>
                                  <p:childTnLst>
                                    <p:set>
                                      <p:cBhvr>
                                        <p:cTn id="34" dur="1" fill="hold">
                                          <p:stCondLst>
                                            <p:cond delay="0"/>
                                          </p:stCondLst>
                                        </p:cTn>
                                        <p:tgtEl>
                                          <p:spTgt spid="334851">
                                            <p:txEl>
                                              <p:pRg st="6" end="6"/>
                                            </p:txEl>
                                          </p:spTgt>
                                        </p:tgtEl>
                                        <p:attrNameLst>
                                          <p:attrName>style.visibility</p:attrName>
                                        </p:attrNameLst>
                                      </p:cBhvr>
                                      <p:to>
                                        <p:strVal val="visible"/>
                                      </p:to>
                                    </p:set>
                                    <p:anim calcmode="lin" valueType="num">
                                      <p:cBhvr>
                                        <p:cTn id="35" dur="1000" fill="hold"/>
                                        <p:tgtEl>
                                          <p:spTgt spid="334851">
                                            <p:txEl>
                                              <p:pRg st="6" end="6"/>
                                            </p:txEl>
                                          </p:spTgt>
                                        </p:tgtEl>
                                        <p:attrNameLst>
                                          <p:attrName>ppt_x</p:attrName>
                                        </p:attrNameLst>
                                      </p:cBhvr>
                                      <p:tavLst>
                                        <p:tav tm="0">
                                          <p:val>
                                            <p:strVal val="#ppt_x-.2"/>
                                          </p:val>
                                        </p:tav>
                                        <p:tav tm="100000">
                                          <p:val>
                                            <p:strVal val="#ppt_x"/>
                                          </p:val>
                                        </p:tav>
                                      </p:tavLst>
                                    </p:anim>
                                    <p:anim calcmode="lin" valueType="num">
                                      <p:cBhvr>
                                        <p:cTn id="36" dur="1000" fill="hold"/>
                                        <p:tgtEl>
                                          <p:spTgt spid="334851">
                                            <p:txEl>
                                              <p:pRg st="6" end="6"/>
                                            </p:txEl>
                                          </p:spTgt>
                                        </p:tgtEl>
                                        <p:attrNameLst>
                                          <p:attrName>ppt_y</p:attrName>
                                        </p:attrNameLst>
                                      </p:cBhvr>
                                      <p:tavLst>
                                        <p:tav tm="0">
                                          <p:val>
                                            <p:strVal val="#ppt_y"/>
                                          </p:val>
                                        </p:tav>
                                        <p:tav tm="100000">
                                          <p:val>
                                            <p:strVal val="#ppt_y"/>
                                          </p:val>
                                        </p:tav>
                                      </p:tavLst>
                                    </p:anim>
                                    <p:animEffect transition="in" filter="wipe(right)" prLst="gradientSize: 0.1">
                                      <p:cBhvr>
                                        <p:cTn id="37" dur="1000"/>
                                        <p:tgtEl>
                                          <p:spTgt spid="334851">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9" presetClass="entr" presetSubtype="0" fill="hold" nodeType="clickEffect">
                                  <p:stCondLst>
                                    <p:cond delay="0"/>
                                  </p:stCondLst>
                                  <p:childTnLst>
                                    <p:set>
                                      <p:cBhvr>
                                        <p:cTn id="41" dur="1" fill="hold">
                                          <p:stCondLst>
                                            <p:cond delay="0"/>
                                          </p:stCondLst>
                                        </p:cTn>
                                        <p:tgtEl>
                                          <p:spTgt spid="334851">
                                            <p:txEl>
                                              <p:pRg st="7" end="7"/>
                                            </p:txEl>
                                          </p:spTgt>
                                        </p:tgtEl>
                                        <p:attrNameLst>
                                          <p:attrName>style.visibility</p:attrName>
                                        </p:attrNameLst>
                                      </p:cBhvr>
                                      <p:to>
                                        <p:strVal val="visible"/>
                                      </p:to>
                                    </p:set>
                                    <p:anim calcmode="lin" valueType="num">
                                      <p:cBhvr>
                                        <p:cTn id="42" dur="1000" fill="hold"/>
                                        <p:tgtEl>
                                          <p:spTgt spid="334851">
                                            <p:txEl>
                                              <p:pRg st="7" end="7"/>
                                            </p:txEl>
                                          </p:spTgt>
                                        </p:tgtEl>
                                        <p:attrNameLst>
                                          <p:attrName>ppt_x</p:attrName>
                                        </p:attrNameLst>
                                      </p:cBhvr>
                                      <p:tavLst>
                                        <p:tav tm="0">
                                          <p:val>
                                            <p:strVal val="#ppt_x-.2"/>
                                          </p:val>
                                        </p:tav>
                                        <p:tav tm="100000">
                                          <p:val>
                                            <p:strVal val="#ppt_x"/>
                                          </p:val>
                                        </p:tav>
                                      </p:tavLst>
                                    </p:anim>
                                    <p:anim calcmode="lin" valueType="num">
                                      <p:cBhvr>
                                        <p:cTn id="43" dur="1000" fill="hold"/>
                                        <p:tgtEl>
                                          <p:spTgt spid="334851">
                                            <p:txEl>
                                              <p:pRg st="7" end="7"/>
                                            </p:txEl>
                                          </p:spTgt>
                                        </p:tgtEl>
                                        <p:attrNameLst>
                                          <p:attrName>ppt_y</p:attrName>
                                        </p:attrNameLst>
                                      </p:cBhvr>
                                      <p:tavLst>
                                        <p:tav tm="0">
                                          <p:val>
                                            <p:strVal val="#ppt_y"/>
                                          </p:val>
                                        </p:tav>
                                        <p:tav tm="100000">
                                          <p:val>
                                            <p:strVal val="#ppt_y"/>
                                          </p:val>
                                        </p:tav>
                                      </p:tavLst>
                                    </p:anim>
                                    <p:animEffect transition="in" filter="wipe(right)" prLst="gradientSize: 0.1">
                                      <p:cBhvr>
                                        <p:cTn id="44" dur="1000"/>
                                        <p:tgtEl>
                                          <p:spTgt spid="334851">
                                            <p:txEl>
                                              <p:pRg st="7" end="7"/>
                                            </p:txEl>
                                          </p:spTgt>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9" presetClass="entr" presetSubtype="0" fill="hold" nodeType="clickEffect">
                                  <p:stCondLst>
                                    <p:cond delay="0"/>
                                  </p:stCondLst>
                                  <p:childTnLst>
                                    <p:set>
                                      <p:cBhvr>
                                        <p:cTn id="48" dur="1" fill="hold">
                                          <p:stCondLst>
                                            <p:cond delay="0"/>
                                          </p:stCondLst>
                                        </p:cTn>
                                        <p:tgtEl>
                                          <p:spTgt spid="334851">
                                            <p:txEl>
                                              <p:pRg st="9" end="9"/>
                                            </p:txEl>
                                          </p:spTgt>
                                        </p:tgtEl>
                                        <p:attrNameLst>
                                          <p:attrName>style.visibility</p:attrName>
                                        </p:attrNameLst>
                                      </p:cBhvr>
                                      <p:to>
                                        <p:strVal val="visible"/>
                                      </p:to>
                                    </p:set>
                                    <p:anim calcmode="lin" valueType="num">
                                      <p:cBhvr>
                                        <p:cTn id="49" dur="1000" fill="hold"/>
                                        <p:tgtEl>
                                          <p:spTgt spid="334851">
                                            <p:txEl>
                                              <p:pRg st="9" end="9"/>
                                            </p:txEl>
                                          </p:spTgt>
                                        </p:tgtEl>
                                        <p:attrNameLst>
                                          <p:attrName>ppt_x</p:attrName>
                                        </p:attrNameLst>
                                      </p:cBhvr>
                                      <p:tavLst>
                                        <p:tav tm="0">
                                          <p:val>
                                            <p:strVal val="#ppt_x-.2"/>
                                          </p:val>
                                        </p:tav>
                                        <p:tav tm="100000">
                                          <p:val>
                                            <p:strVal val="#ppt_x"/>
                                          </p:val>
                                        </p:tav>
                                      </p:tavLst>
                                    </p:anim>
                                    <p:anim calcmode="lin" valueType="num">
                                      <p:cBhvr>
                                        <p:cTn id="50" dur="1000" fill="hold"/>
                                        <p:tgtEl>
                                          <p:spTgt spid="334851">
                                            <p:txEl>
                                              <p:pRg st="9" end="9"/>
                                            </p:txEl>
                                          </p:spTgt>
                                        </p:tgtEl>
                                        <p:attrNameLst>
                                          <p:attrName>ppt_y</p:attrName>
                                        </p:attrNameLst>
                                      </p:cBhvr>
                                      <p:tavLst>
                                        <p:tav tm="0">
                                          <p:val>
                                            <p:strVal val="#ppt_y"/>
                                          </p:val>
                                        </p:tav>
                                        <p:tav tm="100000">
                                          <p:val>
                                            <p:strVal val="#ppt_y"/>
                                          </p:val>
                                        </p:tav>
                                      </p:tavLst>
                                    </p:anim>
                                    <p:animEffect transition="in" filter="wipe(right)" prLst="gradientSize: 0.1">
                                      <p:cBhvr>
                                        <p:cTn id="51" dur="1000"/>
                                        <p:tgtEl>
                                          <p:spTgt spid="334851">
                                            <p:txEl>
                                              <p:pRg st="9" end="9"/>
                                            </p:txEl>
                                          </p:spTgt>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9" presetClass="entr" presetSubtype="0" fill="hold" nodeType="clickEffect">
                                  <p:stCondLst>
                                    <p:cond delay="0"/>
                                  </p:stCondLst>
                                  <p:childTnLst>
                                    <p:set>
                                      <p:cBhvr>
                                        <p:cTn id="55" dur="1" fill="hold">
                                          <p:stCondLst>
                                            <p:cond delay="0"/>
                                          </p:stCondLst>
                                        </p:cTn>
                                        <p:tgtEl>
                                          <p:spTgt spid="334851">
                                            <p:txEl>
                                              <p:pRg st="10" end="10"/>
                                            </p:txEl>
                                          </p:spTgt>
                                        </p:tgtEl>
                                        <p:attrNameLst>
                                          <p:attrName>style.visibility</p:attrName>
                                        </p:attrNameLst>
                                      </p:cBhvr>
                                      <p:to>
                                        <p:strVal val="visible"/>
                                      </p:to>
                                    </p:set>
                                    <p:anim calcmode="lin" valueType="num">
                                      <p:cBhvr>
                                        <p:cTn id="56" dur="1000" fill="hold"/>
                                        <p:tgtEl>
                                          <p:spTgt spid="334851">
                                            <p:txEl>
                                              <p:pRg st="10" end="10"/>
                                            </p:txEl>
                                          </p:spTgt>
                                        </p:tgtEl>
                                        <p:attrNameLst>
                                          <p:attrName>ppt_x</p:attrName>
                                        </p:attrNameLst>
                                      </p:cBhvr>
                                      <p:tavLst>
                                        <p:tav tm="0">
                                          <p:val>
                                            <p:strVal val="#ppt_x-.2"/>
                                          </p:val>
                                        </p:tav>
                                        <p:tav tm="100000">
                                          <p:val>
                                            <p:strVal val="#ppt_x"/>
                                          </p:val>
                                        </p:tav>
                                      </p:tavLst>
                                    </p:anim>
                                    <p:anim calcmode="lin" valueType="num">
                                      <p:cBhvr>
                                        <p:cTn id="57" dur="1000" fill="hold"/>
                                        <p:tgtEl>
                                          <p:spTgt spid="334851">
                                            <p:txEl>
                                              <p:pRg st="10" end="10"/>
                                            </p:txEl>
                                          </p:spTgt>
                                        </p:tgtEl>
                                        <p:attrNameLst>
                                          <p:attrName>ppt_y</p:attrName>
                                        </p:attrNameLst>
                                      </p:cBhvr>
                                      <p:tavLst>
                                        <p:tav tm="0">
                                          <p:val>
                                            <p:strVal val="#ppt_y"/>
                                          </p:val>
                                        </p:tav>
                                        <p:tav tm="100000">
                                          <p:val>
                                            <p:strVal val="#ppt_y"/>
                                          </p:val>
                                        </p:tav>
                                      </p:tavLst>
                                    </p:anim>
                                    <p:animEffect transition="in" filter="wipe(right)" prLst="gradientSize: 0.1">
                                      <p:cBhvr>
                                        <p:cTn id="58" dur="1000"/>
                                        <p:tgtEl>
                                          <p:spTgt spid="334851">
                                            <p:txEl>
                                              <p:pRg st="10" end="10"/>
                                            </p:txEl>
                                          </p:spTgt>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9" presetClass="entr" presetSubtype="0" fill="hold" nodeType="clickEffect">
                                  <p:stCondLst>
                                    <p:cond delay="0"/>
                                  </p:stCondLst>
                                  <p:childTnLst>
                                    <p:set>
                                      <p:cBhvr>
                                        <p:cTn id="62" dur="1" fill="hold">
                                          <p:stCondLst>
                                            <p:cond delay="0"/>
                                          </p:stCondLst>
                                        </p:cTn>
                                        <p:tgtEl>
                                          <p:spTgt spid="334851">
                                            <p:txEl>
                                              <p:pRg st="11" end="11"/>
                                            </p:txEl>
                                          </p:spTgt>
                                        </p:tgtEl>
                                        <p:attrNameLst>
                                          <p:attrName>style.visibility</p:attrName>
                                        </p:attrNameLst>
                                      </p:cBhvr>
                                      <p:to>
                                        <p:strVal val="visible"/>
                                      </p:to>
                                    </p:set>
                                    <p:anim calcmode="lin" valueType="num">
                                      <p:cBhvr>
                                        <p:cTn id="63" dur="1000" fill="hold"/>
                                        <p:tgtEl>
                                          <p:spTgt spid="334851">
                                            <p:txEl>
                                              <p:pRg st="11" end="11"/>
                                            </p:txEl>
                                          </p:spTgt>
                                        </p:tgtEl>
                                        <p:attrNameLst>
                                          <p:attrName>ppt_x</p:attrName>
                                        </p:attrNameLst>
                                      </p:cBhvr>
                                      <p:tavLst>
                                        <p:tav tm="0">
                                          <p:val>
                                            <p:strVal val="#ppt_x-.2"/>
                                          </p:val>
                                        </p:tav>
                                        <p:tav tm="100000">
                                          <p:val>
                                            <p:strVal val="#ppt_x"/>
                                          </p:val>
                                        </p:tav>
                                      </p:tavLst>
                                    </p:anim>
                                    <p:anim calcmode="lin" valueType="num">
                                      <p:cBhvr>
                                        <p:cTn id="64" dur="1000" fill="hold"/>
                                        <p:tgtEl>
                                          <p:spTgt spid="334851">
                                            <p:txEl>
                                              <p:pRg st="11" end="11"/>
                                            </p:txEl>
                                          </p:spTgt>
                                        </p:tgtEl>
                                        <p:attrNameLst>
                                          <p:attrName>ppt_y</p:attrName>
                                        </p:attrNameLst>
                                      </p:cBhvr>
                                      <p:tavLst>
                                        <p:tav tm="0">
                                          <p:val>
                                            <p:strVal val="#ppt_y"/>
                                          </p:val>
                                        </p:tav>
                                        <p:tav tm="100000">
                                          <p:val>
                                            <p:strVal val="#ppt_y"/>
                                          </p:val>
                                        </p:tav>
                                      </p:tavLst>
                                    </p:anim>
                                    <p:animEffect transition="in" filter="wipe(right)" prLst="gradientSize: 0.1">
                                      <p:cBhvr>
                                        <p:cTn id="65" dur="1000"/>
                                        <p:tgtEl>
                                          <p:spTgt spid="334851">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4818" name="Rectangle 2"/>
          <p:cNvSpPr>
            <a:spLocks noGrp="1" noChangeArrowheads="1"/>
          </p:cNvSpPr>
          <p:nvPr>
            <p:ph type="title"/>
          </p:nvPr>
        </p:nvSpPr>
        <p:spPr/>
        <p:txBody>
          <a:bodyPr/>
          <a:lstStyle/>
          <a:p>
            <a:pPr>
              <a:defRPr/>
            </a:pPr>
            <a:r>
              <a:rPr lang="en-US" altLang="en-US" sz="2800" dirty="0">
                <a:effectLst>
                  <a:outerShdw blurRad="38100" dist="38100" dir="2700000" algn="tl">
                    <a:srgbClr val="C0C0C0"/>
                  </a:outerShdw>
                </a:effectLst>
                <a:ea typeface="ＭＳ Ｐゴシック" pitchFamily="34" charset="-128"/>
              </a:rPr>
              <a:t>Use of Functional Dependencies</a:t>
            </a:r>
          </a:p>
        </p:txBody>
      </p:sp>
      <p:sp>
        <p:nvSpPr>
          <p:cNvPr id="20483" name="Rectangle 3"/>
          <p:cNvSpPr>
            <a:spLocks noGrp="1" noChangeArrowheads="1"/>
          </p:cNvSpPr>
          <p:nvPr>
            <p:ph type="body" idx="1"/>
          </p:nvPr>
        </p:nvSpPr>
        <p:spPr>
          <a:xfrm>
            <a:off x="768351" y="1117403"/>
            <a:ext cx="7567782" cy="4210501"/>
          </a:xfrm>
        </p:spPr>
        <p:txBody>
          <a:bodyPr/>
          <a:lstStyle/>
          <a:p>
            <a:r>
              <a:rPr lang="en-US" altLang="en-US" sz="1700" dirty="0"/>
              <a:t>Functional Dependency avoids data redundancy. Therefore same data do not repeat at multiple locations in that database</a:t>
            </a:r>
          </a:p>
          <a:p>
            <a:endParaRPr lang="en-US" altLang="en-US" sz="1700" dirty="0"/>
          </a:p>
          <a:p>
            <a:r>
              <a:rPr lang="en-US" altLang="en-US" sz="1700" dirty="0"/>
              <a:t>It helps you to maintain the quality of data in the database</a:t>
            </a:r>
          </a:p>
          <a:p>
            <a:endParaRPr lang="en-US" altLang="en-US" sz="1700" dirty="0"/>
          </a:p>
          <a:p>
            <a:r>
              <a:rPr lang="en-US" altLang="en-US" sz="1700" dirty="0"/>
              <a:t>It helps you to defined meanings and constraints of databases</a:t>
            </a:r>
          </a:p>
          <a:p>
            <a:endParaRPr lang="en-US" altLang="en-US" sz="1700" dirty="0"/>
          </a:p>
          <a:p>
            <a:r>
              <a:rPr lang="en-US" altLang="en-US" sz="1700" dirty="0"/>
              <a:t>It helps you to identify bad designs</a:t>
            </a:r>
          </a:p>
          <a:p>
            <a:endParaRPr lang="en-US" altLang="en-US" sz="1700" dirty="0"/>
          </a:p>
          <a:p>
            <a:r>
              <a:rPr lang="en-US" altLang="en-US" sz="1700" dirty="0"/>
              <a:t>It helps you to find the facts regarding the database design</a:t>
            </a:r>
            <a:endParaRPr lang="en-US" altLang="en-US" sz="1700" i="1" dirty="0">
              <a:sym typeface="Monotype Sorts" pitchFamily="-84" charset="2"/>
            </a:endParaRPr>
          </a:p>
        </p:txBody>
      </p:sp>
    </p:spTree>
    <p:extLst>
      <p:ext uri="{BB962C8B-B14F-4D97-AF65-F5344CB8AC3E}">
        <p14:creationId xmlns:p14="http://schemas.microsoft.com/office/powerpoint/2010/main" val="8823957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80896-26F3-4A2C-DD5E-642ED2A1B965}"/>
              </a:ext>
            </a:extLst>
          </p:cNvPr>
          <p:cNvSpPr>
            <a:spLocks noGrp="1"/>
          </p:cNvSpPr>
          <p:nvPr>
            <p:ph type="title"/>
          </p:nvPr>
        </p:nvSpPr>
        <p:spPr>
          <a:xfrm>
            <a:off x="928604" y="484188"/>
            <a:ext cx="8526479" cy="609600"/>
          </a:xfrm>
        </p:spPr>
        <p:txBody>
          <a:bodyPr/>
          <a:lstStyle/>
          <a:p>
            <a:r>
              <a:rPr lang="en-US" b="1" i="0" dirty="0">
                <a:solidFill>
                  <a:srgbClr val="273239"/>
                </a:solidFill>
                <a:effectLst/>
                <a:latin typeface="urw-din"/>
              </a:rPr>
              <a:t>Armstrong’s axioms/properties of functional dependencies:</a:t>
            </a:r>
            <a:endParaRPr lang="en-US" dirty="0"/>
          </a:p>
        </p:txBody>
      </p:sp>
      <p:sp>
        <p:nvSpPr>
          <p:cNvPr id="3" name="Content Placeholder 2">
            <a:extLst>
              <a:ext uri="{FF2B5EF4-FFF2-40B4-BE49-F238E27FC236}">
                <a16:creationId xmlns:a16="http://schemas.microsoft.com/office/drawing/2014/main" id="{642FD975-5CA6-DE17-9A00-0050250FAA52}"/>
              </a:ext>
            </a:extLst>
          </p:cNvPr>
          <p:cNvSpPr>
            <a:spLocks noGrp="1"/>
          </p:cNvSpPr>
          <p:nvPr>
            <p:ph idx="1"/>
          </p:nvPr>
        </p:nvSpPr>
        <p:spPr>
          <a:xfrm>
            <a:off x="852095" y="1244617"/>
            <a:ext cx="7661275" cy="4903787"/>
          </a:xfrm>
        </p:spPr>
        <p:txBody>
          <a:bodyPr/>
          <a:lstStyle/>
          <a:p>
            <a:pPr algn="l" fontAlgn="base">
              <a:buFont typeface="+mj-lt"/>
              <a:buAutoNum type="arabicPeriod"/>
            </a:pPr>
            <a:r>
              <a:rPr lang="en-US" b="1" i="0" dirty="0">
                <a:solidFill>
                  <a:srgbClr val="273239"/>
                </a:solidFill>
                <a:effectLst/>
                <a:latin typeface="urw-din"/>
              </a:rPr>
              <a:t>Reflexivity: </a:t>
            </a:r>
            <a:r>
              <a:rPr lang="en-US" b="0" i="0" dirty="0">
                <a:solidFill>
                  <a:srgbClr val="273239"/>
                </a:solidFill>
                <a:effectLst/>
                <a:latin typeface="urw-din"/>
              </a:rPr>
              <a:t>If Y is a subset of X, then X→Y holds by reflexivity rule</a:t>
            </a:r>
            <a:br>
              <a:rPr lang="en-US" b="0" i="0" dirty="0">
                <a:solidFill>
                  <a:srgbClr val="273239"/>
                </a:solidFill>
                <a:effectLst/>
                <a:latin typeface="urw-din"/>
              </a:rPr>
            </a:br>
            <a:r>
              <a:rPr lang="en-US" b="0" i="0" dirty="0">
                <a:solidFill>
                  <a:srgbClr val="273239"/>
                </a:solidFill>
                <a:effectLst/>
                <a:latin typeface="urw-din"/>
              </a:rPr>
              <a:t>i.e., X → </a:t>
            </a:r>
            <a:r>
              <a:rPr lang="en-US" dirty="0">
                <a:solidFill>
                  <a:srgbClr val="273239"/>
                </a:solidFill>
                <a:latin typeface="urw-din"/>
              </a:rPr>
              <a:t>X </a:t>
            </a:r>
            <a:r>
              <a:rPr lang="en-US" b="0" i="0" dirty="0">
                <a:solidFill>
                  <a:srgbClr val="273239"/>
                </a:solidFill>
                <a:effectLst/>
                <a:latin typeface="urw-din"/>
              </a:rPr>
              <a:t>name is valid.</a:t>
            </a:r>
          </a:p>
          <a:p>
            <a:pPr algn="l" fontAlgn="base">
              <a:buFont typeface="+mj-lt"/>
              <a:buAutoNum type="arabicPeriod"/>
            </a:pPr>
            <a:r>
              <a:rPr lang="en-US" b="1" i="0" dirty="0">
                <a:solidFill>
                  <a:srgbClr val="273239"/>
                </a:solidFill>
                <a:effectLst/>
                <a:latin typeface="urw-din"/>
              </a:rPr>
              <a:t>Augmentation:</a:t>
            </a:r>
            <a:r>
              <a:rPr lang="en-US" b="0" i="0" dirty="0">
                <a:solidFill>
                  <a:srgbClr val="273239"/>
                </a:solidFill>
                <a:effectLst/>
                <a:latin typeface="urw-din"/>
              </a:rPr>
              <a:t> If X → Y is a valid dependency, then XZ → YZ is also valid by the augmentation rule.</a:t>
            </a:r>
            <a:br>
              <a:rPr lang="en-US" b="0" i="0" dirty="0">
                <a:solidFill>
                  <a:srgbClr val="273239"/>
                </a:solidFill>
                <a:effectLst/>
                <a:latin typeface="urw-din"/>
              </a:rPr>
            </a:br>
            <a:r>
              <a:rPr lang="en-US" b="0" i="0" dirty="0">
                <a:solidFill>
                  <a:srgbClr val="273239"/>
                </a:solidFill>
                <a:effectLst/>
                <a:latin typeface="urw-din"/>
              </a:rPr>
              <a:t>i.e., If {</a:t>
            </a:r>
            <a:r>
              <a:rPr lang="en-US" b="0" i="0" dirty="0" err="1">
                <a:solidFill>
                  <a:srgbClr val="273239"/>
                </a:solidFill>
                <a:effectLst/>
                <a:latin typeface="urw-din"/>
              </a:rPr>
              <a:t>roll_no</a:t>
            </a:r>
            <a:r>
              <a:rPr lang="en-US" b="0" i="0" dirty="0">
                <a:solidFill>
                  <a:srgbClr val="273239"/>
                </a:solidFill>
                <a:effectLst/>
                <a:latin typeface="urw-din"/>
              </a:rPr>
              <a:t>} → </a:t>
            </a:r>
            <a:r>
              <a:rPr lang="en-US" dirty="0">
                <a:solidFill>
                  <a:srgbClr val="273239"/>
                </a:solidFill>
                <a:latin typeface="urw-din"/>
              </a:rPr>
              <a:t>name</a:t>
            </a:r>
            <a:r>
              <a:rPr lang="en-US" b="0" i="0" dirty="0">
                <a:solidFill>
                  <a:srgbClr val="273239"/>
                </a:solidFill>
                <a:effectLst/>
                <a:latin typeface="urw-din"/>
              </a:rPr>
              <a:t> is valid, hence {</a:t>
            </a:r>
            <a:r>
              <a:rPr lang="en-US" b="0" i="0" dirty="0" err="1">
                <a:solidFill>
                  <a:srgbClr val="273239"/>
                </a:solidFill>
                <a:effectLst/>
                <a:latin typeface="urw-din"/>
              </a:rPr>
              <a:t>roll_no</a:t>
            </a:r>
            <a:r>
              <a:rPr lang="en-US" b="0" i="0" dirty="0">
                <a:solidFill>
                  <a:srgbClr val="273239"/>
                </a:solidFill>
                <a:effectLst/>
                <a:latin typeface="urw-din"/>
              </a:rPr>
              <a:t>, marks} → {name, marks} is also valid.</a:t>
            </a:r>
          </a:p>
          <a:p>
            <a:pPr algn="l" fontAlgn="base">
              <a:buFont typeface="+mj-lt"/>
              <a:buAutoNum type="arabicPeriod"/>
            </a:pPr>
            <a:r>
              <a:rPr lang="en-US" b="1" i="0" dirty="0">
                <a:solidFill>
                  <a:srgbClr val="273239"/>
                </a:solidFill>
                <a:effectLst/>
                <a:latin typeface="urw-din"/>
              </a:rPr>
              <a:t>Transitivity</a:t>
            </a:r>
            <a:r>
              <a:rPr lang="en-US" b="0" i="0" dirty="0">
                <a:solidFill>
                  <a:srgbClr val="273239"/>
                </a:solidFill>
                <a:effectLst/>
                <a:latin typeface="urw-din"/>
              </a:rPr>
              <a:t>: If X → Y and Y → Z are both valid dependencies, then X→Z is also valid by the Transitivity rule.</a:t>
            </a:r>
            <a:br>
              <a:rPr lang="en-US" b="0" i="0" dirty="0">
                <a:solidFill>
                  <a:srgbClr val="273239"/>
                </a:solidFill>
                <a:effectLst/>
                <a:latin typeface="urw-din"/>
              </a:rPr>
            </a:br>
            <a:r>
              <a:rPr lang="en-US" b="0" i="0" dirty="0">
                <a:solidFill>
                  <a:srgbClr val="273239"/>
                </a:solidFill>
                <a:effectLst/>
                <a:latin typeface="urw-din"/>
              </a:rPr>
              <a:t>i.e., </a:t>
            </a:r>
            <a:r>
              <a:rPr lang="en-US" b="0" i="0" dirty="0" err="1">
                <a:solidFill>
                  <a:srgbClr val="273239"/>
                </a:solidFill>
                <a:effectLst/>
                <a:latin typeface="urw-din"/>
              </a:rPr>
              <a:t>roll_no</a:t>
            </a:r>
            <a:r>
              <a:rPr lang="en-US" b="0" i="0" dirty="0">
                <a:solidFill>
                  <a:srgbClr val="273239"/>
                </a:solidFill>
                <a:effectLst/>
                <a:latin typeface="urw-din"/>
              </a:rPr>
              <a:t> → </a:t>
            </a:r>
            <a:r>
              <a:rPr lang="en-US" b="0" i="0" dirty="0" err="1">
                <a:solidFill>
                  <a:srgbClr val="273239"/>
                </a:solidFill>
                <a:effectLst/>
                <a:latin typeface="urw-din"/>
              </a:rPr>
              <a:t>dept_name</a:t>
            </a:r>
            <a:r>
              <a:rPr lang="en-US" b="0" i="0" dirty="0">
                <a:solidFill>
                  <a:srgbClr val="273239"/>
                </a:solidFill>
                <a:effectLst/>
                <a:latin typeface="urw-din"/>
              </a:rPr>
              <a:t> &amp; </a:t>
            </a:r>
            <a:r>
              <a:rPr lang="en-US" b="0" i="0" dirty="0" err="1">
                <a:solidFill>
                  <a:srgbClr val="273239"/>
                </a:solidFill>
                <a:effectLst/>
                <a:latin typeface="urw-din"/>
              </a:rPr>
              <a:t>dept_name</a:t>
            </a:r>
            <a:r>
              <a:rPr lang="en-US" b="0" i="0" dirty="0">
                <a:solidFill>
                  <a:srgbClr val="273239"/>
                </a:solidFill>
                <a:effectLst/>
                <a:latin typeface="urw-din"/>
              </a:rPr>
              <a:t> → </a:t>
            </a:r>
            <a:r>
              <a:rPr lang="en-US" b="0" i="0" dirty="0" err="1">
                <a:solidFill>
                  <a:srgbClr val="273239"/>
                </a:solidFill>
                <a:effectLst/>
                <a:latin typeface="urw-din"/>
              </a:rPr>
              <a:t>dept_building</a:t>
            </a:r>
            <a:r>
              <a:rPr lang="en-US" b="0" i="0" dirty="0">
                <a:solidFill>
                  <a:srgbClr val="273239"/>
                </a:solidFill>
                <a:effectLst/>
                <a:latin typeface="urw-din"/>
              </a:rPr>
              <a:t>, then </a:t>
            </a:r>
            <a:r>
              <a:rPr lang="en-US" b="0" i="0" dirty="0" err="1">
                <a:solidFill>
                  <a:srgbClr val="273239"/>
                </a:solidFill>
                <a:effectLst/>
                <a:latin typeface="urw-din"/>
              </a:rPr>
              <a:t>roll_no</a:t>
            </a:r>
            <a:r>
              <a:rPr lang="en-US" b="0" i="0" dirty="0">
                <a:solidFill>
                  <a:srgbClr val="273239"/>
                </a:solidFill>
                <a:effectLst/>
                <a:latin typeface="urw-din"/>
              </a:rPr>
              <a:t> → </a:t>
            </a:r>
            <a:r>
              <a:rPr lang="en-US" b="0" i="0" dirty="0" err="1">
                <a:solidFill>
                  <a:srgbClr val="273239"/>
                </a:solidFill>
                <a:effectLst/>
                <a:latin typeface="urw-din"/>
              </a:rPr>
              <a:t>dept_building</a:t>
            </a:r>
            <a:r>
              <a:rPr lang="en-US" b="0" i="0" dirty="0">
                <a:solidFill>
                  <a:srgbClr val="273239"/>
                </a:solidFill>
                <a:effectLst/>
                <a:latin typeface="urw-din"/>
              </a:rPr>
              <a:t> is also valid.</a:t>
            </a:r>
          </a:p>
          <a:p>
            <a:pPr>
              <a:buFont typeface="+mj-lt"/>
              <a:buAutoNum type="arabicPeriod"/>
            </a:pPr>
            <a:r>
              <a:rPr lang="en-US" b="1" dirty="0">
                <a:solidFill>
                  <a:srgbClr val="273239"/>
                </a:solidFill>
                <a:latin typeface="urw-din"/>
              </a:rPr>
              <a:t>Union:</a:t>
            </a:r>
            <a:r>
              <a:rPr lang="en-US" dirty="0">
                <a:solidFill>
                  <a:srgbClr val="273239"/>
                </a:solidFill>
                <a:latin typeface="urw-din"/>
              </a:rPr>
              <a:t> If </a:t>
            </a:r>
            <a:r>
              <a:rPr lang="en-US" b="0" i="0" dirty="0">
                <a:solidFill>
                  <a:srgbClr val="273239"/>
                </a:solidFill>
                <a:effectLst/>
                <a:latin typeface="urw-din"/>
              </a:rPr>
              <a:t>X → Y and X → Z are both valid dependencies, then X→YZ is also valid by the Union rule. i.e. IF </a:t>
            </a:r>
            <a:r>
              <a:rPr lang="en-US" b="0" i="0" dirty="0" err="1">
                <a:solidFill>
                  <a:srgbClr val="273239"/>
                </a:solidFill>
                <a:effectLst/>
                <a:latin typeface="urw-din"/>
              </a:rPr>
              <a:t>rollno</a:t>
            </a:r>
            <a:r>
              <a:rPr lang="en-US" b="0" i="0" dirty="0">
                <a:solidFill>
                  <a:srgbClr val="273239"/>
                </a:solidFill>
                <a:effectLst/>
                <a:latin typeface="urw-din"/>
              </a:rPr>
              <a:t> →name, </a:t>
            </a:r>
            <a:r>
              <a:rPr lang="en-US" b="0" i="0" dirty="0" err="1">
                <a:solidFill>
                  <a:srgbClr val="273239"/>
                </a:solidFill>
                <a:effectLst/>
                <a:latin typeface="urw-din"/>
              </a:rPr>
              <a:t>rollno</a:t>
            </a:r>
            <a:r>
              <a:rPr lang="en-US" b="0" i="0" dirty="0">
                <a:solidFill>
                  <a:srgbClr val="273239"/>
                </a:solidFill>
                <a:effectLst/>
                <a:latin typeface="urw-din"/>
              </a:rPr>
              <a:t> →marks, then  </a:t>
            </a:r>
            <a:r>
              <a:rPr lang="en-US" b="0" i="0" dirty="0" err="1">
                <a:solidFill>
                  <a:srgbClr val="273239"/>
                </a:solidFill>
                <a:effectLst/>
                <a:latin typeface="urw-din"/>
              </a:rPr>
              <a:t>rollno</a:t>
            </a:r>
            <a:r>
              <a:rPr lang="en-US" b="0" i="0" dirty="0">
                <a:solidFill>
                  <a:srgbClr val="273239"/>
                </a:solidFill>
                <a:effectLst/>
                <a:latin typeface="urw-din"/>
              </a:rPr>
              <a:t> → name, marks</a:t>
            </a:r>
          </a:p>
          <a:p>
            <a:pPr>
              <a:buFont typeface="+mj-lt"/>
              <a:buAutoNum type="arabicPeriod"/>
            </a:pPr>
            <a:r>
              <a:rPr lang="en-US" b="1" dirty="0">
                <a:solidFill>
                  <a:srgbClr val="273239"/>
                </a:solidFill>
                <a:latin typeface="urw-din"/>
              </a:rPr>
              <a:t>Decomposition/Splitting: </a:t>
            </a:r>
            <a:r>
              <a:rPr lang="en-US" dirty="0">
                <a:solidFill>
                  <a:srgbClr val="273239"/>
                </a:solidFill>
                <a:latin typeface="urw-din"/>
              </a:rPr>
              <a:t>If X</a:t>
            </a:r>
            <a:r>
              <a:rPr lang="en-US" b="0" i="0" dirty="0">
                <a:solidFill>
                  <a:srgbClr val="273239"/>
                </a:solidFill>
                <a:effectLst/>
                <a:latin typeface="urw-din"/>
              </a:rPr>
              <a:t> →</a:t>
            </a:r>
            <a:r>
              <a:rPr lang="en-US" i="0" dirty="0">
                <a:solidFill>
                  <a:srgbClr val="273239"/>
                </a:solidFill>
                <a:effectLst/>
                <a:latin typeface="urw-din"/>
              </a:rPr>
              <a:t>YZ </a:t>
            </a:r>
            <a:r>
              <a:rPr lang="en-US" b="0" i="0" dirty="0">
                <a:solidFill>
                  <a:srgbClr val="273239"/>
                </a:solidFill>
                <a:effectLst/>
                <a:latin typeface="urw-din"/>
              </a:rPr>
              <a:t>is valid dependency, then X→Y &amp; X → Y &amp; X → Z </a:t>
            </a:r>
            <a:r>
              <a:rPr lang="en-US" dirty="0">
                <a:solidFill>
                  <a:srgbClr val="273239"/>
                </a:solidFill>
                <a:latin typeface="urw-din"/>
              </a:rPr>
              <a:t>are</a:t>
            </a:r>
            <a:r>
              <a:rPr lang="en-US" b="0" i="0" dirty="0">
                <a:solidFill>
                  <a:srgbClr val="273239"/>
                </a:solidFill>
                <a:effectLst/>
                <a:latin typeface="urw-din"/>
              </a:rPr>
              <a:t> also valid by the Union rule.</a:t>
            </a:r>
          </a:p>
          <a:p>
            <a:pPr>
              <a:buFont typeface="+mj-lt"/>
              <a:buAutoNum type="arabicPeriod"/>
            </a:pPr>
            <a:r>
              <a:rPr lang="en-US" b="1" dirty="0" err="1">
                <a:solidFill>
                  <a:srgbClr val="273239"/>
                </a:solidFill>
                <a:latin typeface="urw-din"/>
              </a:rPr>
              <a:t>Psuedo</a:t>
            </a:r>
            <a:r>
              <a:rPr lang="en-US" b="1" dirty="0">
                <a:solidFill>
                  <a:srgbClr val="273239"/>
                </a:solidFill>
                <a:latin typeface="urw-din"/>
              </a:rPr>
              <a:t> Transitivity:</a:t>
            </a:r>
            <a:r>
              <a:rPr lang="en-US" dirty="0">
                <a:solidFill>
                  <a:srgbClr val="273239"/>
                </a:solidFill>
                <a:latin typeface="urw-din"/>
              </a:rPr>
              <a:t> If X</a:t>
            </a:r>
            <a:r>
              <a:rPr lang="en-US" b="0" i="0" dirty="0">
                <a:solidFill>
                  <a:srgbClr val="273239"/>
                </a:solidFill>
                <a:effectLst/>
                <a:latin typeface="urw-din"/>
              </a:rPr>
              <a:t> →Y &amp; YZ →A, then XZ →A</a:t>
            </a:r>
            <a:r>
              <a:rPr lang="en-US" b="0" dirty="0">
                <a:solidFill>
                  <a:srgbClr val="273239"/>
                </a:solidFill>
                <a:latin typeface="urw-din"/>
              </a:rPr>
              <a:t> </a:t>
            </a:r>
            <a:endParaRPr lang="en-US" dirty="0">
              <a:solidFill>
                <a:srgbClr val="273239"/>
              </a:solidFill>
              <a:latin typeface="urw-din"/>
            </a:endParaRPr>
          </a:p>
          <a:p>
            <a:pPr marL="0" indent="0">
              <a:buNone/>
            </a:pPr>
            <a:r>
              <a:rPr lang="en-US" b="0" dirty="0">
                <a:solidFill>
                  <a:srgbClr val="273239"/>
                </a:solidFill>
                <a:latin typeface="urw-din"/>
              </a:rPr>
              <a:t>       i.e., </a:t>
            </a:r>
            <a:r>
              <a:rPr lang="en-US" b="0" dirty="0" err="1">
                <a:solidFill>
                  <a:srgbClr val="273239"/>
                </a:solidFill>
                <a:latin typeface="urw-din"/>
              </a:rPr>
              <a:t>rollno</a:t>
            </a:r>
            <a:r>
              <a:rPr lang="en-US" b="0" i="0" dirty="0">
                <a:solidFill>
                  <a:srgbClr val="273239"/>
                </a:solidFill>
                <a:effectLst/>
                <a:latin typeface="urw-din"/>
              </a:rPr>
              <a:t> →name  &amp; name, marks →grade</a:t>
            </a:r>
            <a:r>
              <a:rPr lang="en-US" b="0" dirty="0">
                <a:solidFill>
                  <a:srgbClr val="273239"/>
                </a:solidFill>
                <a:latin typeface="urw-din"/>
              </a:rPr>
              <a:t> then ?</a:t>
            </a:r>
          </a:p>
        </p:txBody>
      </p:sp>
    </p:spTree>
    <p:extLst>
      <p:ext uri="{BB962C8B-B14F-4D97-AF65-F5344CB8AC3E}">
        <p14:creationId xmlns:p14="http://schemas.microsoft.com/office/powerpoint/2010/main" val="19605371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389B6-A370-577E-CB5A-76605E7AD0B0}"/>
              </a:ext>
            </a:extLst>
          </p:cNvPr>
          <p:cNvSpPr>
            <a:spLocks noGrp="1"/>
          </p:cNvSpPr>
          <p:nvPr>
            <p:ph type="title"/>
          </p:nvPr>
        </p:nvSpPr>
        <p:spPr/>
        <p:txBody>
          <a:bodyPr/>
          <a:lstStyle/>
          <a:p>
            <a:r>
              <a:rPr lang="en-US" b="1" i="0" u="sng" dirty="0">
                <a:solidFill>
                  <a:srgbClr val="273239"/>
                </a:solidFill>
                <a:effectLst/>
                <a:latin typeface="urw-din"/>
              </a:rPr>
              <a:t>Types of Functional dependencies in DBMS:</a:t>
            </a:r>
            <a:endParaRPr lang="en-US" dirty="0"/>
          </a:p>
        </p:txBody>
      </p:sp>
      <p:sp>
        <p:nvSpPr>
          <p:cNvPr id="3" name="Content Placeholder 2">
            <a:extLst>
              <a:ext uri="{FF2B5EF4-FFF2-40B4-BE49-F238E27FC236}">
                <a16:creationId xmlns:a16="http://schemas.microsoft.com/office/drawing/2014/main" id="{636A96BF-785B-61E8-3454-B7D1C98EF03D}"/>
              </a:ext>
            </a:extLst>
          </p:cNvPr>
          <p:cNvSpPr>
            <a:spLocks noGrp="1"/>
          </p:cNvSpPr>
          <p:nvPr>
            <p:ph idx="1"/>
          </p:nvPr>
        </p:nvSpPr>
        <p:spPr/>
        <p:txBody>
          <a:bodyPr/>
          <a:lstStyle/>
          <a:p>
            <a:pPr algn="l" fontAlgn="base">
              <a:buFont typeface="+mj-lt"/>
              <a:buAutoNum type="arabicPeriod"/>
            </a:pPr>
            <a:r>
              <a:rPr lang="en-US" sz="2400" b="0" i="0" dirty="0">
                <a:solidFill>
                  <a:srgbClr val="273239"/>
                </a:solidFill>
                <a:effectLst/>
                <a:latin typeface="urw-din"/>
              </a:rPr>
              <a:t>Trivial functional dependency</a:t>
            </a:r>
          </a:p>
          <a:p>
            <a:pPr algn="l" fontAlgn="base">
              <a:buFont typeface="+mj-lt"/>
              <a:buAutoNum type="arabicPeriod"/>
            </a:pPr>
            <a:endParaRPr lang="en-US" sz="2400" b="0" i="0" dirty="0">
              <a:solidFill>
                <a:srgbClr val="273239"/>
              </a:solidFill>
              <a:effectLst/>
              <a:latin typeface="urw-din"/>
            </a:endParaRPr>
          </a:p>
          <a:p>
            <a:pPr algn="l" fontAlgn="base">
              <a:buFont typeface="+mj-lt"/>
              <a:buAutoNum type="arabicPeriod"/>
            </a:pPr>
            <a:r>
              <a:rPr lang="en-US" sz="2400" b="0" i="0" dirty="0">
                <a:solidFill>
                  <a:srgbClr val="273239"/>
                </a:solidFill>
                <a:effectLst/>
                <a:latin typeface="urw-din"/>
              </a:rPr>
              <a:t>Non-Trivial functional dependency</a:t>
            </a:r>
          </a:p>
          <a:p>
            <a:pPr algn="l" fontAlgn="base">
              <a:buFont typeface="+mj-lt"/>
              <a:buAutoNum type="arabicPeriod"/>
            </a:pPr>
            <a:endParaRPr lang="en-US" sz="2400" b="0" i="0" dirty="0">
              <a:solidFill>
                <a:srgbClr val="273239"/>
              </a:solidFill>
              <a:effectLst/>
              <a:latin typeface="urw-din"/>
            </a:endParaRPr>
          </a:p>
          <a:p>
            <a:pPr algn="l" fontAlgn="base">
              <a:buFont typeface="+mj-lt"/>
              <a:buAutoNum type="arabicPeriod"/>
            </a:pPr>
            <a:r>
              <a:rPr lang="en-US" sz="2400" b="0" i="0" dirty="0">
                <a:solidFill>
                  <a:srgbClr val="273239"/>
                </a:solidFill>
                <a:effectLst/>
                <a:latin typeface="urw-din"/>
              </a:rPr>
              <a:t>Multivalued functional dependency</a:t>
            </a:r>
          </a:p>
          <a:p>
            <a:pPr algn="l" fontAlgn="base">
              <a:buFont typeface="+mj-lt"/>
              <a:buAutoNum type="arabicPeriod"/>
            </a:pPr>
            <a:endParaRPr lang="en-US" sz="2400" b="0" i="0" dirty="0">
              <a:solidFill>
                <a:srgbClr val="273239"/>
              </a:solidFill>
              <a:effectLst/>
              <a:latin typeface="urw-din"/>
            </a:endParaRPr>
          </a:p>
          <a:p>
            <a:pPr algn="l" fontAlgn="base">
              <a:buFont typeface="+mj-lt"/>
              <a:buAutoNum type="arabicPeriod"/>
            </a:pPr>
            <a:r>
              <a:rPr lang="en-US" sz="2400" b="0" i="0" dirty="0">
                <a:solidFill>
                  <a:srgbClr val="273239"/>
                </a:solidFill>
                <a:effectLst/>
                <a:latin typeface="urw-din"/>
              </a:rPr>
              <a:t>Transitive functional dependency</a:t>
            </a:r>
          </a:p>
          <a:p>
            <a:endParaRPr lang="en-US" sz="2400" dirty="0"/>
          </a:p>
        </p:txBody>
      </p:sp>
    </p:spTree>
    <p:extLst>
      <p:ext uri="{BB962C8B-B14F-4D97-AF65-F5344CB8AC3E}">
        <p14:creationId xmlns:p14="http://schemas.microsoft.com/office/powerpoint/2010/main" val="13274074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6866" name="Rectangle 2"/>
          <p:cNvSpPr>
            <a:spLocks noGrp="1" noChangeArrowheads="1"/>
          </p:cNvSpPr>
          <p:nvPr>
            <p:ph type="title"/>
          </p:nvPr>
        </p:nvSpPr>
        <p:spPr/>
        <p:txBody>
          <a:bodyPr/>
          <a:lstStyle/>
          <a:p>
            <a:pPr>
              <a:defRPr/>
            </a:pPr>
            <a:r>
              <a:rPr lang="en-US" altLang="en-US" sz="2800" dirty="0">
                <a:effectLst>
                  <a:outerShdw blurRad="38100" dist="38100" dir="2700000" algn="tl">
                    <a:srgbClr val="C0C0C0"/>
                  </a:outerShdw>
                </a:effectLst>
                <a:ea typeface="ＭＳ Ｐゴシック" pitchFamily="34" charset="-128"/>
              </a:rPr>
              <a:t>Trivial Functional Dependencies</a:t>
            </a:r>
          </a:p>
        </p:txBody>
      </p:sp>
      <p:sp>
        <p:nvSpPr>
          <p:cNvPr id="21507" name="Rectangle 3"/>
          <p:cNvSpPr>
            <a:spLocks noGrp="1" noChangeArrowheads="1"/>
          </p:cNvSpPr>
          <p:nvPr>
            <p:ph type="body" idx="1"/>
          </p:nvPr>
        </p:nvSpPr>
        <p:spPr>
          <a:xfrm>
            <a:off x="768350" y="1175247"/>
            <a:ext cx="7452372" cy="2374069"/>
          </a:xfrm>
        </p:spPr>
        <p:txBody>
          <a:bodyPr/>
          <a:lstStyle/>
          <a:p>
            <a:r>
              <a:rPr lang="en-US" altLang="en-US" sz="1700" i="1" dirty="0">
                <a:sym typeface="Monotype Sorts" pitchFamily="-84" charset="2"/>
              </a:rPr>
              <a:t>A </a:t>
            </a:r>
            <a:r>
              <a:rPr lang="en-US" altLang="en-US" sz="1700" dirty="0">
                <a:sym typeface="Monotype Sorts" pitchFamily="-84" charset="2"/>
              </a:rPr>
              <a:t>functional dependency is </a:t>
            </a:r>
            <a:r>
              <a:rPr lang="en-US" altLang="en-US" sz="1700" b="1" dirty="0">
                <a:solidFill>
                  <a:srgbClr val="002060"/>
                </a:solidFill>
                <a:sym typeface="Monotype Sorts" pitchFamily="-84" charset="2"/>
              </a:rPr>
              <a:t>trivial</a:t>
            </a:r>
            <a:r>
              <a:rPr lang="en-US" altLang="en-US" sz="1700" dirty="0">
                <a:sym typeface="Monotype Sorts" pitchFamily="-84" charset="2"/>
              </a:rPr>
              <a:t> if it is satisfied by all instances of a relation</a:t>
            </a:r>
          </a:p>
          <a:p>
            <a:r>
              <a:rPr lang="en-US" altLang="en-US" sz="1700" dirty="0">
                <a:sym typeface="Monotype Sorts" pitchFamily="-84" charset="2"/>
              </a:rPr>
              <a:t>In Trivial Functional Dependency, a dependent is always a subset of the determinant.</a:t>
            </a:r>
          </a:p>
          <a:p>
            <a:r>
              <a:rPr lang="en-US" altLang="en-US" sz="1700" dirty="0">
                <a:sym typeface="Monotype Sorts" pitchFamily="-84" charset="2"/>
              </a:rPr>
              <a:t>i.e. If X → Y and Y is the subset of X (i.e. </a:t>
            </a:r>
            <a:r>
              <a:rPr lang="en-US" altLang="en-US" sz="1600" dirty="0">
                <a:sym typeface="Symbol" panose="05050102010706020507" pitchFamily="18" charset="2"/>
              </a:rPr>
              <a:t> </a:t>
            </a:r>
            <a:r>
              <a:rPr lang="en-US" altLang="en-US" sz="1600" dirty="0">
                <a:sym typeface="Monotype Sorts" pitchFamily="-84" charset="2"/>
              </a:rPr>
              <a:t> </a:t>
            </a:r>
            <a:r>
              <a:rPr lang="en-US" altLang="en-US" sz="1600" i="1" dirty="0">
                <a:sym typeface="Symbol" panose="05050102010706020507" pitchFamily="18" charset="2"/>
              </a:rPr>
              <a:t> </a:t>
            </a:r>
            <a:r>
              <a:rPr lang="en-US" altLang="en-US" sz="1600" dirty="0">
                <a:sym typeface="Symbol" panose="05050102010706020507" pitchFamily="18" charset="2"/>
              </a:rPr>
              <a:t>is trivial if</a:t>
            </a:r>
            <a:r>
              <a:rPr lang="en-US" altLang="en-US" sz="1600" i="1" dirty="0">
                <a:sym typeface="Symbol" panose="05050102010706020507" pitchFamily="18" charset="2"/>
              </a:rPr>
              <a:t> </a:t>
            </a:r>
            <a:r>
              <a:rPr lang="en-US" altLang="en-US" sz="1600" dirty="0">
                <a:sym typeface="Symbol" panose="05050102010706020507" pitchFamily="18" charset="2"/>
              </a:rPr>
              <a:t>   )</a:t>
            </a:r>
            <a:r>
              <a:rPr lang="en-US" altLang="en-US" sz="1700" dirty="0">
                <a:sym typeface="Monotype Sorts" pitchFamily="-84" charset="2"/>
              </a:rPr>
              <a:t>, then it is called trivial functional dependency</a:t>
            </a:r>
          </a:p>
          <a:p>
            <a:r>
              <a:rPr lang="en-US" altLang="en-US" sz="1800" dirty="0">
                <a:sym typeface="Monotype Sorts" pitchFamily="-84" charset="2"/>
              </a:rPr>
              <a:t>Example</a:t>
            </a:r>
            <a:r>
              <a:rPr lang="en-US" altLang="en-US" sz="1800" i="1" dirty="0">
                <a:sym typeface="Monotype Sorts" pitchFamily="-84" charset="2"/>
              </a:rPr>
              <a:t>:</a:t>
            </a:r>
          </a:p>
          <a:p>
            <a:pPr lvl="1"/>
            <a:r>
              <a:rPr lang="en-US" altLang="en-US" sz="1700" i="1" dirty="0">
                <a:sym typeface="Monotype Sorts" pitchFamily="-84" charset="2"/>
              </a:rPr>
              <a:t> ID, name</a:t>
            </a:r>
            <a:r>
              <a:rPr lang="en-US" altLang="en-US" sz="1700" i="1" dirty="0"/>
              <a:t> </a:t>
            </a:r>
            <a:r>
              <a:rPr lang="en-US" altLang="en-US" sz="1700" dirty="0">
                <a:sym typeface="Symbol" panose="05050102010706020507" pitchFamily="18" charset="2"/>
              </a:rPr>
              <a:t></a:t>
            </a:r>
            <a:r>
              <a:rPr lang="en-US" altLang="en-US" sz="1700" dirty="0">
                <a:sym typeface="Monotype Sorts" pitchFamily="-84" charset="2"/>
              </a:rPr>
              <a:t> </a:t>
            </a:r>
            <a:r>
              <a:rPr lang="en-US" altLang="en-US" sz="1700" i="1" dirty="0">
                <a:sym typeface="Monotype Sorts" pitchFamily="-84" charset="2"/>
              </a:rPr>
              <a:t>ID</a:t>
            </a:r>
          </a:p>
          <a:p>
            <a:pPr lvl="1"/>
            <a:r>
              <a:rPr lang="en-US" altLang="en-US" sz="1700" i="1" dirty="0">
                <a:sym typeface="Monotype Sorts" pitchFamily="-84" charset="2"/>
              </a:rPr>
              <a:t> name </a:t>
            </a:r>
            <a:r>
              <a:rPr lang="en-US" altLang="en-US" sz="1700" dirty="0">
                <a:sym typeface="Symbol" panose="05050102010706020507" pitchFamily="18" charset="2"/>
              </a:rPr>
              <a:t></a:t>
            </a:r>
            <a:r>
              <a:rPr lang="en-US" altLang="en-US" sz="1700" dirty="0">
                <a:sym typeface="Monotype Sorts" pitchFamily="-84" charset="2"/>
              </a:rPr>
              <a:t> </a:t>
            </a:r>
            <a:r>
              <a:rPr lang="en-US" altLang="en-US" sz="1700" i="1" dirty="0">
                <a:sym typeface="Monotype Sorts" pitchFamily="-84" charset="2"/>
              </a:rPr>
              <a:t>name</a:t>
            </a:r>
            <a:br>
              <a:rPr lang="en-US" altLang="en-US" i="1" dirty="0">
                <a:sym typeface="Symbol" panose="05050102010706020507" pitchFamily="18" charset="2"/>
              </a:rPr>
            </a:br>
            <a:r>
              <a:rPr lang="en-US" altLang="en-US" i="1" dirty="0">
                <a:sym typeface="Symbol" panose="05050102010706020507" pitchFamily="18" charset="2"/>
              </a:rPr>
              <a:t> </a:t>
            </a:r>
          </a:p>
          <a:p>
            <a:endParaRPr lang="en-US" altLang="en-US" dirty="0"/>
          </a:p>
        </p:txBody>
      </p:sp>
      <p:pic>
        <p:nvPicPr>
          <p:cNvPr id="3" name="Picture 2">
            <a:extLst>
              <a:ext uri="{FF2B5EF4-FFF2-40B4-BE49-F238E27FC236}">
                <a16:creationId xmlns:a16="http://schemas.microsoft.com/office/drawing/2014/main" id="{0EFE552D-D22A-28D1-F500-8DC3B04642CE}"/>
              </a:ext>
            </a:extLst>
          </p:cNvPr>
          <p:cNvPicPr>
            <a:picLocks noChangeAspect="1"/>
          </p:cNvPicPr>
          <p:nvPr/>
        </p:nvPicPr>
        <p:blipFill>
          <a:blip r:embed="rId3"/>
          <a:stretch>
            <a:fillRect/>
          </a:stretch>
        </p:blipFill>
        <p:spPr>
          <a:xfrm>
            <a:off x="1157460" y="4152666"/>
            <a:ext cx="2568163" cy="2374069"/>
          </a:xfrm>
          <a:prstGeom prst="rect">
            <a:avLst/>
          </a:prstGeom>
        </p:spPr>
      </p:pic>
      <p:sp>
        <p:nvSpPr>
          <p:cNvPr id="4" name="TextBox 3">
            <a:extLst>
              <a:ext uri="{FF2B5EF4-FFF2-40B4-BE49-F238E27FC236}">
                <a16:creationId xmlns:a16="http://schemas.microsoft.com/office/drawing/2014/main" id="{9EF2D447-E478-B1C4-734B-2E2836194EAB}"/>
              </a:ext>
            </a:extLst>
          </p:cNvPr>
          <p:cNvSpPr txBox="1"/>
          <p:nvPr/>
        </p:nvSpPr>
        <p:spPr>
          <a:xfrm>
            <a:off x="4138367" y="4430563"/>
            <a:ext cx="4176075" cy="1569660"/>
          </a:xfrm>
          <a:prstGeom prst="rect">
            <a:avLst/>
          </a:prstGeom>
          <a:noFill/>
        </p:spPr>
        <p:txBody>
          <a:bodyPr wrap="square" rtlCol="0">
            <a:spAutoFit/>
          </a:bodyPr>
          <a:lstStyle/>
          <a:p>
            <a:r>
              <a:rPr lang="en-US" b="0" i="0" dirty="0">
                <a:solidFill>
                  <a:srgbClr val="273239"/>
                </a:solidFill>
                <a:effectLst/>
                <a:latin typeface="urw-din"/>
              </a:rPr>
              <a:t>Here, </a:t>
            </a:r>
            <a:r>
              <a:rPr lang="en-US" b="1" i="0" dirty="0">
                <a:solidFill>
                  <a:srgbClr val="273239"/>
                </a:solidFill>
                <a:effectLst/>
                <a:latin typeface="urw-din"/>
              </a:rPr>
              <a:t>{</a:t>
            </a:r>
            <a:r>
              <a:rPr lang="en-US" b="1" i="0" dirty="0" err="1">
                <a:solidFill>
                  <a:srgbClr val="273239"/>
                </a:solidFill>
                <a:effectLst/>
                <a:latin typeface="urw-din"/>
              </a:rPr>
              <a:t>roll_no</a:t>
            </a:r>
            <a:r>
              <a:rPr lang="en-US" b="1" i="0" dirty="0">
                <a:solidFill>
                  <a:srgbClr val="273239"/>
                </a:solidFill>
                <a:effectLst/>
                <a:latin typeface="urw-din"/>
              </a:rPr>
              <a:t>, name} → name</a:t>
            </a:r>
            <a:r>
              <a:rPr lang="en-US" b="0" i="0" dirty="0">
                <a:solidFill>
                  <a:srgbClr val="273239"/>
                </a:solidFill>
                <a:effectLst/>
                <a:latin typeface="urw-din"/>
              </a:rPr>
              <a:t> is a trivial functional dependency, since the dependent </a:t>
            </a:r>
            <a:r>
              <a:rPr lang="en-US" b="1" i="0" dirty="0">
                <a:solidFill>
                  <a:srgbClr val="273239"/>
                </a:solidFill>
                <a:effectLst/>
                <a:latin typeface="urw-din"/>
              </a:rPr>
              <a:t>name</a:t>
            </a:r>
            <a:r>
              <a:rPr lang="en-US" b="0" i="0" dirty="0">
                <a:solidFill>
                  <a:srgbClr val="273239"/>
                </a:solidFill>
                <a:effectLst/>
                <a:latin typeface="urw-din"/>
              </a:rPr>
              <a:t> is a subset of determinant set </a:t>
            </a:r>
            <a:r>
              <a:rPr lang="en-US" b="1" i="0" dirty="0">
                <a:solidFill>
                  <a:srgbClr val="273239"/>
                </a:solidFill>
                <a:effectLst/>
                <a:latin typeface="urw-din"/>
              </a:rPr>
              <a:t>{</a:t>
            </a:r>
            <a:r>
              <a:rPr lang="en-US" b="1" i="0" dirty="0" err="1">
                <a:solidFill>
                  <a:srgbClr val="273239"/>
                </a:solidFill>
                <a:effectLst/>
                <a:latin typeface="urw-din"/>
              </a:rPr>
              <a:t>roll_no</a:t>
            </a:r>
            <a:r>
              <a:rPr lang="en-US" b="1" i="0" dirty="0">
                <a:solidFill>
                  <a:srgbClr val="273239"/>
                </a:solidFill>
                <a:effectLst/>
                <a:latin typeface="urw-din"/>
              </a:rPr>
              <a:t>, name}</a:t>
            </a:r>
            <a:br>
              <a:rPr lang="en-US" dirty="0"/>
            </a:br>
            <a:r>
              <a:rPr lang="en-US" b="0" i="0" dirty="0">
                <a:solidFill>
                  <a:srgbClr val="273239"/>
                </a:solidFill>
                <a:effectLst/>
                <a:latin typeface="urw-din"/>
              </a:rPr>
              <a:t>Similarly, </a:t>
            </a:r>
            <a:r>
              <a:rPr lang="en-US" b="1" i="0" dirty="0" err="1">
                <a:solidFill>
                  <a:srgbClr val="273239"/>
                </a:solidFill>
                <a:effectLst/>
                <a:latin typeface="urw-din"/>
              </a:rPr>
              <a:t>roll_no</a:t>
            </a:r>
            <a:r>
              <a:rPr lang="en-US" b="1" i="0" dirty="0">
                <a:solidFill>
                  <a:srgbClr val="273239"/>
                </a:solidFill>
                <a:effectLst/>
                <a:latin typeface="urw-din"/>
              </a:rPr>
              <a:t> → </a:t>
            </a:r>
            <a:r>
              <a:rPr lang="en-US" b="1" i="0" dirty="0" err="1">
                <a:solidFill>
                  <a:srgbClr val="273239"/>
                </a:solidFill>
                <a:effectLst/>
                <a:latin typeface="urw-din"/>
              </a:rPr>
              <a:t>roll_no</a:t>
            </a:r>
            <a:r>
              <a:rPr lang="en-US" b="1" i="0" dirty="0">
                <a:solidFill>
                  <a:srgbClr val="273239"/>
                </a:solidFill>
                <a:effectLst/>
                <a:latin typeface="urw-din"/>
              </a:rPr>
              <a:t> </a:t>
            </a:r>
            <a:r>
              <a:rPr lang="en-US" b="0" i="0" dirty="0">
                <a:solidFill>
                  <a:srgbClr val="273239"/>
                </a:solidFill>
                <a:effectLst/>
                <a:latin typeface="urw-din"/>
              </a:rPr>
              <a:t>is also an example of trivial functional dependency. </a:t>
            </a:r>
            <a:endParaRPr lang="en-US" dirty="0"/>
          </a:p>
        </p:txBody>
      </p:sp>
    </p:spTree>
    <p:extLst>
      <p:ext uri="{BB962C8B-B14F-4D97-AF65-F5344CB8AC3E}">
        <p14:creationId xmlns:p14="http://schemas.microsoft.com/office/powerpoint/2010/main" val="9518062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E33CAB-6B7D-B04E-3E82-5FE97209402D}"/>
              </a:ext>
            </a:extLst>
          </p:cNvPr>
          <p:cNvSpPr>
            <a:spLocks noGrp="1"/>
          </p:cNvSpPr>
          <p:nvPr>
            <p:ph type="title"/>
          </p:nvPr>
        </p:nvSpPr>
        <p:spPr/>
        <p:txBody>
          <a:bodyPr/>
          <a:lstStyle/>
          <a:p>
            <a:r>
              <a:rPr lang="en-US" dirty="0"/>
              <a:t>Non Trivial Functional Dependency</a:t>
            </a:r>
          </a:p>
        </p:txBody>
      </p:sp>
      <p:sp>
        <p:nvSpPr>
          <p:cNvPr id="3" name="Content Placeholder 2">
            <a:extLst>
              <a:ext uri="{FF2B5EF4-FFF2-40B4-BE49-F238E27FC236}">
                <a16:creationId xmlns:a16="http://schemas.microsoft.com/office/drawing/2014/main" id="{14B4DF1A-E2F3-D885-C9A1-DD7871EB561F}"/>
              </a:ext>
            </a:extLst>
          </p:cNvPr>
          <p:cNvSpPr>
            <a:spLocks noGrp="1"/>
          </p:cNvSpPr>
          <p:nvPr>
            <p:ph idx="1"/>
          </p:nvPr>
        </p:nvSpPr>
        <p:spPr/>
        <p:txBody>
          <a:bodyPr/>
          <a:lstStyle/>
          <a:p>
            <a:r>
              <a:rPr lang="en-US" dirty="0"/>
              <a:t>In Non-trivial functional dependency, the dependent is strictly not a subset of the determinant.</a:t>
            </a:r>
          </a:p>
          <a:p>
            <a:r>
              <a:rPr lang="en-US" dirty="0"/>
              <a:t>i.e. If X → Y and Y is not a subset of X, then it is called Non-trivial functional dependency.</a:t>
            </a:r>
          </a:p>
        </p:txBody>
      </p:sp>
      <p:pic>
        <p:nvPicPr>
          <p:cNvPr id="5" name="Picture 4">
            <a:extLst>
              <a:ext uri="{FF2B5EF4-FFF2-40B4-BE49-F238E27FC236}">
                <a16:creationId xmlns:a16="http://schemas.microsoft.com/office/drawing/2014/main" id="{0B400919-8690-E746-20A7-D13BBAC11642}"/>
              </a:ext>
            </a:extLst>
          </p:cNvPr>
          <p:cNvPicPr>
            <a:picLocks noChangeAspect="1"/>
          </p:cNvPicPr>
          <p:nvPr/>
        </p:nvPicPr>
        <p:blipFill>
          <a:blip r:embed="rId2"/>
          <a:stretch>
            <a:fillRect/>
          </a:stretch>
        </p:blipFill>
        <p:spPr>
          <a:xfrm>
            <a:off x="1167481" y="2955623"/>
            <a:ext cx="2453853" cy="2568163"/>
          </a:xfrm>
          <a:prstGeom prst="rect">
            <a:avLst/>
          </a:prstGeom>
        </p:spPr>
      </p:pic>
      <p:sp>
        <p:nvSpPr>
          <p:cNvPr id="7" name="TextBox 6">
            <a:extLst>
              <a:ext uri="{FF2B5EF4-FFF2-40B4-BE49-F238E27FC236}">
                <a16:creationId xmlns:a16="http://schemas.microsoft.com/office/drawing/2014/main" id="{1AAD1BA1-FD70-FA68-4CE7-9C79A0FD14C5}"/>
              </a:ext>
            </a:extLst>
          </p:cNvPr>
          <p:cNvSpPr txBox="1"/>
          <p:nvPr/>
        </p:nvSpPr>
        <p:spPr>
          <a:xfrm>
            <a:off x="3903663" y="3329970"/>
            <a:ext cx="4572000" cy="1569660"/>
          </a:xfrm>
          <a:prstGeom prst="rect">
            <a:avLst/>
          </a:prstGeom>
          <a:noFill/>
        </p:spPr>
        <p:txBody>
          <a:bodyPr wrap="square">
            <a:spAutoFit/>
          </a:bodyPr>
          <a:lstStyle/>
          <a:p>
            <a:r>
              <a:rPr lang="en-US" dirty="0"/>
              <a:t>Here, </a:t>
            </a:r>
            <a:r>
              <a:rPr lang="en-US" dirty="0" err="1"/>
              <a:t>roll_no</a:t>
            </a:r>
            <a:r>
              <a:rPr lang="en-US" dirty="0"/>
              <a:t> → name is a non-trivial functional dependency, since the dependent name is not a subset of determinant </a:t>
            </a:r>
            <a:r>
              <a:rPr lang="en-US" dirty="0" err="1"/>
              <a:t>roll_no</a:t>
            </a:r>
            <a:endParaRPr lang="en-US" dirty="0"/>
          </a:p>
          <a:p>
            <a:r>
              <a:rPr lang="en-US" dirty="0"/>
              <a:t>Similarly, {</a:t>
            </a:r>
            <a:r>
              <a:rPr lang="en-US" dirty="0" err="1"/>
              <a:t>roll_no</a:t>
            </a:r>
            <a:r>
              <a:rPr lang="en-US" dirty="0"/>
              <a:t>, name} → age is also a non-trivial functional dependency, since age is not a subset of {</a:t>
            </a:r>
            <a:r>
              <a:rPr lang="en-US" dirty="0" err="1"/>
              <a:t>roll_no</a:t>
            </a:r>
            <a:r>
              <a:rPr lang="en-US" dirty="0"/>
              <a:t>, name} </a:t>
            </a:r>
          </a:p>
        </p:txBody>
      </p:sp>
    </p:spTree>
    <p:extLst>
      <p:ext uri="{BB962C8B-B14F-4D97-AF65-F5344CB8AC3E}">
        <p14:creationId xmlns:p14="http://schemas.microsoft.com/office/powerpoint/2010/main" val="17046830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18F0B-5047-DD0D-8767-2DBA0BFD7FFB}"/>
              </a:ext>
            </a:extLst>
          </p:cNvPr>
          <p:cNvSpPr>
            <a:spLocks noGrp="1"/>
          </p:cNvSpPr>
          <p:nvPr>
            <p:ph type="title"/>
          </p:nvPr>
        </p:nvSpPr>
        <p:spPr/>
        <p:txBody>
          <a:bodyPr/>
          <a:lstStyle/>
          <a:p>
            <a:r>
              <a:rPr lang="en-US" b="1" i="0" u="sng" dirty="0">
                <a:solidFill>
                  <a:srgbClr val="273239"/>
                </a:solidFill>
                <a:effectLst/>
                <a:latin typeface="urw-din"/>
              </a:rPr>
              <a:t>Multivalued Functional Dependency</a:t>
            </a:r>
            <a:endParaRPr lang="en-US" dirty="0"/>
          </a:p>
        </p:txBody>
      </p:sp>
      <p:sp>
        <p:nvSpPr>
          <p:cNvPr id="3" name="Content Placeholder 2">
            <a:extLst>
              <a:ext uri="{FF2B5EF4-FFF2-40B4-BE49-F238E27FC236}">
                <a16:creationId xmlns:a16="http://schemas.microsoft.com/office/drawing/2014/main" id="{A932263F-C522-2557-E9CE-D3A6B0E3E78B}"/>
              </a:ext>
            </a:extLst>
          </p:cNvPr>
          <p:cNvSpPr>
            <a:spLocks noGrp="1"/>
          </p:cNvSpPr>
          <p:nvPr>
            <p:ph idx="1"/>
          </p:nvPr>
        </p:nvSpPr>
        <p:spPr/>
        <p:txBody>
          <a:bodyPr/>
          <a:lstStyle/>
          <a:p>
            <a:r>
              <a:rPr lang="en-US" b="0" i="0">
                <a:solidFill>
                  <a:srgbClr val="273239"/>
                </a:solidFill>
                <a:effectLst/>
                <a:latin typeface="urw-din"/>
              </a:rPr>
              <a:t>In </a:t>
            </a:r>
            <a:r>
              <a:rPr lang="en-US" b="1" i="0">
                <a:solidFill>
                  <a:srgbClr val="273239"/>
                </a:solidFill>
                <a:effectLst/>
                <a:latin typeface="urw-din"/>
              </a:rPr>
              <a:t>Multivalued functional dependency</a:t>
            </a:r>
            <a:r>
              <a:rPr lang="en-US" b="0" i="0">
                <a:solidFill>
                  <a:srgbClr val="273239"/>
                </a:solidFill>
                <a:effectLst/>
                <a:latin typeface="urw-din"/>
              </a:rPr>
              <a:t>, entities of the dependent set are </a:t>
            </a:r>
            <a:r>
              <a:rPr lang="en-US" b="1" i="0">
                <a:solidFill>
                  <a:srgbClr val="273239"/>
                </a:solidFill>
                <a:effectLst/>
                <a:latin typeface="urw-din"/>
              </a:rPr>
              <a:t>not dependent</a:t>
            </a:r>
            <a:r>
              <a:rPr lang="en-US" b="0" i="0">
                <a:solidFill>
                  <a:srgbClr val="273239"/>
                </a:solidFill>
                <a:effectLst/>
                <a:latin typeface="urw-din"/>
              </a:rPr>
              <a:t> </a:t>
            </a:r>
            <a:r>
              <a:rPr lang="en-US" b="1" i="0">
                <a:solidFill>
                  <a:srgbClr val="273239"/>
                </a:solidFill>
                <a:effectLst/>
                <a:latin typeface="urw-din"/>
              </a:rPr>
              <a:t>on each other.</a:t>
            </a:r>
            <a:br>
              <a:rPr lang="en-US"/>
            </a:br>
            <a:r>
              <a:rPr lang="en-US" b="0" i="0">
                <a:solidFill>
                  <a:srgbClr val="273239"/>
                </a:solidFill>
                <a:effectLst/>
                <a:latin typeface="urw-din"/>
              </a:rPr>
              <a:t>i.e. If </a:t>
            </a:r>
            <a:r>
              <a:rPr lang="en-US" b="1" i="0">
                <a:solidFill>
                  <a:srgbClr val="273239"/>
                </a:solidFill>
                <a:effectLst/>
                <a:latin typeface="urw-din"/>
              </a:rPr>
              <a:t>a → {b, c}</a:t>
            </a:r>
            <a:r>
              <a:rPr lang="en-US" b="0" i="0">
                <a:solidFill>
                  <a:srgbClr val="273239"/>
                </a:solidFill>
                <a:effectLst/>
                <a:latin typeface="urw-din"/>
              </a:rPr>
              <a:t> and there exists </a:t>
            </a:r>
            <a:r>
              <a:rPr lang="en-US" b="1" i="0">
                <a:solidFill>
                  <a:srgbClr val="273239"/>
                </a:solidFill>
                <a:effectLst/>
                <a:latin typeface="urw-din"/>
              </a:rPr>
              <a:t>no functional dependency</a:t>
            </a:r>
            <a:r>
              <a:rPr lang="en-US" b="0" i="0">
                <a:solidFill>
                  <a:srgbClr val="273239"/>
                </a:solidFill>
                <a:effectLst/>
                <a:latin typeface="urw-din"/>
              </a:rPr>
              <a:t> between </a:t>
            </a:r>
            <a:r>
              <a:rPr lang="en-US" b="1" i="0">
                <a:solidFill>
                  <a:srgbClr val="273239"/>
                </a:solidFill>
                <a:effectLst/>
                <a:latin typeface="urw-din"/>
              </a:rPr>
              <a:t>b and c</a:t>
            </a:r>
            <a:r>
              <a:rPr lang="en-US" b="0" i="0">
                <a:solidFill>
                  <a:srgbClr val="273239"/>
                </a:solidFill>
                <a:effectLst/>
                <a:latin typeface="urw-din"/>
              </a:rPr>
              <a:t>, then it is called a </a:t>
            </a:r>
            <a:r>
              <a:rPr lang="en-US" b="1" i="0">
                <a:solidFill>
                  <a:srgbClr val="273239"/>
                </a:solidFill>
                <a:effectLst/>
                <a:latin typeface="urw-din"/>
              </a:rPr>
              <a:t>multivalued functional dependency.</a:t>
            </a:r>
            <a:endParaRPr lang="en-US" dirty="0"/>
          </a:p>
        </p:txBody>
      </p:sp>
      <p:pic>
        <p:nvPicPr>
          <p:cNvPr id="5" name="Picture 4">
            <a:extLst>
              <a:ext uri="{FF2B5EF4-FFF2-40B4-BE49-F238E27FC236}">
                <a16:creationId xmlns:a16="http://schemas.microsoft.com/office/drawing/2014/main" id="{2621B3B8-DEE3-51F9-4A0C-8F5A0D117464}"/>
              </a:ext>
            </a:extLst>
          </p:cNvPr>
          <p:cNvPicPr>
            <a:picLocks noChangeAspect="1"/>
          </p:cNvPicPr>
          <p:nvPr/>
        </p:nvPicPr>
        <p:blipFill>
          <a:blip r:embed="rId2"/>
          <a:stretch>
            <a:fillRect/>
          </a:stretch>
        </p:blipFill>
        <p:spPr>
          <a:xfrm>
            <a:off x="1183736" y="2319674"/>
            <a:ext cx="2591025" cy="3444538"/>
          </a:xfrm>
          <a:prstGeom prst="rect">
            <a:avLst/>
          </a:prstGeom>
        </p:spPr>
      </p:pic>
      <p:sp>
        <p:nvSpPr>
          <p:cNvPr id="7" name="TextBox 6">
            <a:extLst>
              <a:ext uri="{FF2B5EF4-FFF2-40B4-BE49-F238E27FC236}">
                <a16:creationId xmlns:a16="http://schemas.microsoft.com/office/drawing/2014/main" id="{5895293B-F77F-B1F4-0E7A-696AF7D26A8B}"/>
              </a:ext>
            </a:extLst>
          </p:cNvPr>
          <p:cNvSpPr txBox="1"/>
          <p:nvPr/>
        </p:nvSpPr>
        <p:spPr>
          <a:xfrm>
            <a:off x="4144109" y="3292825"/>
            <a:ext cx="4572000" cy="1323439"/>
          </a:xfrm>
          <a:prstGeom prst="rect">
            <a:avLst/>
          </a:prstGeom>
          <a:noFill/>
        </p:spPr>
        <p:txBody>
          <a:bodyPr wrap="square">
            <a:spAutoFit/>
          </a:bodyPr>
          <a:lstStyle/>
          <a:p>
            <a:r>
              <a:rPr lang="en-US" dirty="0"/>
              <a:t>Here, </a:t>
            </a:r>
            <a:r>
              <a:rPr lang="en-US" dirty="0" err="1"/>
              <a:t>roll_no</a:t>
            </a:r>
            <a:r>
              <a:rPr lang="en-US" dirty="0"/>
              <a:t> → {name, age} is a multivalued functional dependency, since the dependents name &amp; age are not dependent on each other(i.e. name → age or age → name doesn’t exist !)</a:t>
            </a:r>
          </a:p>
        </p:txBody>
      </p:sp>
    </p:spTree>
    <p:extLst>
      <p:ext uri="{BB962C8B-B14F-4D97-AF65-F5344CB8AC3E}">
        <p14:creationId xmlns:p14="http://schemas.microsoft.com/office/powerpoint/2010/main" val="1789596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DA8F3-277F-0E6E-17E4-B0A018E7BD22}"/>
              </a:ext>
            </a:extLst>
          </p:cNvPr>
          <p:cNvSpPr>
            <a:spLocks noGrp="1"/>
          </p:cNvSpPr>
          <p:nvPr>
            <p:ph type="title"/>
          </p:nvPr>
        </p:nvSpPr>
        <p:spPr/>
        <p:txBody>
          <a:bodyPr/>
          <a:lstStyle/>
          <a:p>
            <a:r>
              <a:rPr lang="en-US" b="1" i="0" u="sng" dirty="0">
                <a:solidFill>
                  <a:srgbClr val="273239"/>
                </a:solidFill>
                <a:effectLst/>
                <a:latin typeface="urw-din"/>
              </a:rPr>
              <a:t>Transitive Functional Dependency</a:t>
            </a:r>
            <a:endParaRPr lang="en-US" dirty="0"/>
          </a:p>
        </p:txBody>
      </p:sp>
      <p:sp>
        <p:nvSpPr>
          <p:cNvPr id="3" name="Content Placeholder 2">
            <a:extLst>
              <a:ext uri="{FF2B5EF4-FFF2-40B4-BE49-F238E27FC236}">
                <a16:creationId xmlns:a16="http://schemas.microsoft.com/office/drawing/2014/main" id="{1A217CFE-3F8A-C40B-C307-7CD459394530}"/>
              </a:ext>
            </a:extLst>
          </p:cNvPr>
          <p:cNvSpPr>
            <a:spLocks noGrp="1"/>
          </p:cNvSpPr>
          <p:nvPr>
            <p:ph idx="1"/>
          </p:nvPr>
        </p:nvSpPr>
        <p:spPr/>
        <p:txBody>
          <a:bodyPr/>
          <a:lstStyle/>
          <a:p>
            <a:r>
              <a:rPr lang="en-US" b="0" i="0" dirty="0">
                <a:solidFill>
                  <a:srgbClr val="273239"/>
                </a:solidFill>
                <a:effectLst/>
                <a:latin typeface="urw-din"/>
              </a:rPr>
              <a:t>In transitive functional dependency, dependent is indirectly dependent on determinant.</a:t>
            </a:r>
            <a:br>
              <a:rPr lang="en-US" dirty="0"/>
            </a:br>
            <a:r>
              <a:rPr lang="en-US" b="0" i="0" dirty="0">
                <a:solidFill>
                  <a:srgbClr val="273239"/>
                </a:solidFill>
                <a:effectLst/>
                <a:latin typeface="urw-din"/>
              </a:rPr>
              <a:t>i.e. If </a:t>
            </a:r>
            <a:r>
              <a:rPr lang="en-US" b="1" i="0" dirty="0">
                <a:solidFill>
                  <a:srgbClr val="273239"/>
                </a:solidFill>
                <a:effectLst/>
                <a:latin typeface="urw-din"/>
              </a:rPr>
              <a:t>a → b</a:t>
            </a:r>
            <a:r>
              <a:rPr lang="en-US" b="0" i="0" dirty="0">
                <a:solidFill>
                  <a:srgbClr val="273239"/>
                </a:solidFill>
                <a:effectLst/>
                <a:latin typeface="urw-din"/>
              </a:rPr>
              <a:t> &amp; </a:t>
            </a:r>
            <a:r>
              <a:rPr lang="en-US" b="1" i="0" dirty="0">
                <a:solidFill>
                  <a:srgbClr val="273239"/>
                </a:solidFill>
                <a:effectLst/>
                <a:latin typeface="urw-din"/>
              </a:rPr>
              <a:t>b → c</a:t>
            </a:r>
            <a:r>
              <a:rPr lang="en-US" b="0" i="0" dirty="0">
                <a:solidFill>
                  <a:srgbClr val="273239"/>
                </a:solidFill>
                <a:effectLst/>
                <a:latin typeface="urw-din"/>
              </a:rPr>
              <a:t>, then according to axiom of transitivity, </a:t>
            </a:r>
            <a:r>
              <a:rPr lang="en-US" b="1" i="0" dirty="0">
                <a:solidFill>
                  <a:srgbClr val="273239"/>
                </a:solidFill>
                <a:effectLst/>
                <a:latin typeface="urw-din"/>
              </a:rPr>
              <a:t>a → c</a:t>
            </a:r>
            <a:r>
              <a:rPr lang="en-US" b="0" i="0" dirty="0">
                <a:solidFill>
                  <a:srgbClr val="273239"/>
                </a:solidFill>
                <a:effectLst/>
                <a:latin typeface="urw-din"/>
              </a:rPr>
              <a:t>. This is a </a:t>
            </a:r>
            <a:r>
              <a:rPr lang="en-US" b="1" i="0" dirty="0">
                <a:solidFill>
                  <a:srgbClr val="273239"/>
                </a:solidFill>
                <a:effectLst/>
                <a:latin typeface="urw-din"/>
              </a:rPr>
              <a:t>transitive functional dependency  </a:t>
            </a:r>
            <a:endParaRPr lang="en-US" dirty="0"/>
          </a:p>
        </p:txBody>
      </p:sp>
      <p:pic>
        <p:nvPicPr>
          <p:cNvPr id="5" name="Picture 4">
            <a:extLst>
              <a:ext uri="{FF2B5EF4-FFF2-40B4-BE49-F238E27FC236}">
                <a16:creationId xmlns:a16="http://schemas.microsoft.com/office/drawing/2014/main" id="{FF466ABB-EF66-C12C-B437-351B59C9E26D}"/>
              </a:ext>
            </a:extLst>
          </p:cNvPr>
          <p:cNvPicPr>
            <a:picLocks noChangeAspect="1"/>
          </p:cNvPicPr>
          <p:nvPr/>
        </p:nvPicPr>
        <p:blipFill>
          <a:blip r:embed="rId2"/>
          <a:stretch>
            <a:fillRect/>
          </a:stretch>
        </p:blipFill>
        <p:spPr>
          <a:xfrm>
            <a:off x="373016" y="2568374"/>
            <a:ext cx="4198984" cy="3406435"/>
          </a:xfrm>
          <a:prstGeom prst="rect">
            <a:avLst/>
          </a:prstGeom>
        </p:spPr>
      </p:pic>
      <p:sp>
        <p:nvSpPr>
          <p:cNvPr id="7" name="TextBox 6">
            <a:extLst>
              <a:ext uri="{FF2B5EF4-FFF2-40B4-BE49-F238E27FC236}">
                <a16:creationId xmlns:a16="http://schemas.microsoft.com/office/drawing/2014/main" id="{87734D60-6F9C-4D74-29D1-A1452BB2937E}"/>
              </a:ext>
            </a:extLst>
          </p:cNvPr>
          <p:cNvSpPr txBox="1"/>
          <p:nvPr/>
        </p:nvSpPr>
        <p:spPr>
          <a:xfrm>
            <a:off x="4727542" y="3486762"/>
            <a:ext cx="4572000" cy="1569660"/>
          </a:xfrm>
          <a:prstGeom prst="rect">
            <a:avLst/>
          </a:prstGeom>
          <a:noFill/>
        </p:spPr>
        <p:txBody>
          <a:bodyPr wrap="square">
            <a:spAutoFit/>
          </a:bodyPr>
          <a:lstStyle/>
          <a:p>
            <a:r>
              <a:rPr lang="en-US" b="0" i="0" dirty="0">
                <a:solidFill>
                  <a:srgbClr val="273239"/>
                </a:solidFill>
                <a:effectLst/>
                <a:latin typeface="urw-din"/>
              </a:rPr>
              <a:t>Here, </a:t>
            </a:r>
            <a:r>
              <a:rPr lang="en-US" b="1" i="0" dirty="0" err="1">
                <a:solidFill>
                  <a:srgbClr val="273239"/>
                </a:solidFill>
                <a:effectLst/>
                <a:latin typeface="urw-din"/>
              </a:rPr>
              <a:t>enrol_no</a:t>
            </a:r>
            <a:r>
              <a:rPr lang="en-US" b="1" i="0" dirty="0">
                <a:solidFill>
                  <a:srgbClr val="273239"/>
                </a:solidFill>
                <a:effectLst/>
                <a:latin typeface="urw-din"/>
              </a:rPr>
              <a:t> → dept</a:t>
            </a:r>
            <a:r>
              <a:rPr lang="en-US" b="0" i="0" dirty="0">
                <a:solidFill>
                  <a:srgbClr val="273239"/>
                </a:solidFill>
                <a:effectLst/>
                <a:latin typeface="urw-din"/>
              </a:rPr>
              <a:t> and </a:t>
            </a:r>
            <a:r>
              <a:rPr lang="en-US" b="1" i="0" dirty="0">
                <a:solidFill>
                  <a:srgbClr val="273239"/>
                </a:solidFill>
                <a:effectLst/>
                <a:latin typeface="urw-din"/>
              </a:rPr>
              <a:t>dept → </a:t>
            </a:r>
            <a:r>
              <a:rPr lang="en-US" b="1" i="0" dirty="0" err="1">
                <a:solidFill>
                  <a:srgbClr val="273239"/>
                </a:solidFill>
                <a:effectLst/>
                <a:latin typeface="urw-din"/>
              </a:rPr>
              <a:t>building_no</a:t>
            </a:r>
            <a:r>
              <a:rPr lang="en-US" b="0" i="0" dirty="0">
                <a:solidFill>
                  <a:srgbClr val="273239"/>
                </a:solidFill>
                <a:effectLst/>
                <a:latin typeface="urw-din"/>
              </a:rPr>
              <a:t>, </a:t>
            </a:r>
            <a:br>
              <a:rPr lang="en-US" dirty="0"/>
            </a:br>
            <a:r>
              <a:rPr lang="en-US" b="0" i="0" dirty="0">
                <a:solidFill>
                  <a:srgbClr val="273239"/>
                </a:solidFill>
                <a:effectLst/>
                <a:latin typeface="urw-din"/>
              </a:rPr>
              <a:t>Hence, according to the axiom of transitivity, </a:t>
            </a:r>
            <a:r>
              <a:rPr lang="en-US" b="1" i="0" dirty="0" err="1">
                <a:solidFill>
                  <a:srgbClr val="273239"/>
                </a:solidFill>
                <a:effectLst/>
                <a:latin typeface="urw-din"/>
              </a:rPr>
              <a:t>enrol_no</a:t>
            </a:r>
            <a:r>
              <a:rPr lang="en-US" b="1" i="0" dirty="0">
                <a:solidFill>
                  <a:srgbClr val="273239"/>
                </a:solidFill>
                <a:effectLst/>
                <a:latin typeface="urw-din"/>
              </a:rPr>
              <a:t> → </a:t>
            </a:r>
            <a:r>
              <a:rPr lang="en-US" b="1" i="0" dirty="0" err="1">
                <a:solidFill>
                  <a:srgbClr val="273239"/>
                </a:solidFill>
                <a:effectLst/>
                <a:latin typeface="urw-din"/>
              </a:rPr>
              <a:t>building_no</a:t>
            </a:r>
            <a:r>
              <a:rPr lang="en-US" b="0" i="0" dirty="0">
                <a:solidFill>
                  <a:srgbClr val="273239"/>
                </a:solidFill>
                <a:effectLst/>
                <a:latin typeface="urw-din"/>
              </a:rPr>
              <a:t> is a valid functional dependency. This is an indirect functional dependency, hence called Transitive functional dependency.</a:t>
            </a:r>
            <a:endParaRPr lang="en-US" dirty="0"/>
          </a:p>
        </p:txBody>
      </p:sp>
    </p:spTree>
    <p:extLst>
      <p:ext uri="{BB962C8B-B14F-4D97-AF65-F5344CB8AC3E}">
        <p14:creationId xmlns:p14="http://schemas.microsoft.com/office/powerpoint/2010/main" val="36642483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1">
            <a:extLst>
              <a:ext uri="{FF2B5EF4-FFF2-40B4-BE49-F238E27FC236}">
                <a16:creationId xmlns:a16="http://schemas.microsoft.com/office/drawing/2014/main" id="{61F66940-7495-CB52-9FA7-7B4BD1F4992A}"/>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66"/>
              </a:buClr>
              <a:buFont typeface="Wingdings" panose="05000000000000000000" pitchFamily="2" charset="2"/>
              <a:buChar char="Ø"/>
              <a:defRPr sz="2000">
                <a:solidFill>
                  <a:schemeClr val="tx1"/>
                </a:solidFill>
                <a:latin typeface="Arial" panose="020B0604020202020204" pitchFamily="34" charset="0"/>
              </a:defRPr>
            </a:lvl1pPr>
            <a:lvl2pPr marL="742950" indent="-285750">
              <a:spcBef>
                <a:spcPct val="20000"/>
              </a:spcBef>
              <a:buClr>
                <a:srgbClr val="003366"/>
              </a:buClr>
              <a:buFont typeface="Wingdings" panose="05000000000000000000" pitchFamily="2" charset="2"/>
              <a:buChar char="§"/>
              <a:defRPr sz="2000">
                <a:solidFill>
                  <a:schemeClr val="tx1"/>
                </a:solidFill>
                <a:latin typeface="Arial" panose="020B0604020202020204" pitchFamily="34" charset="0"/>
              </a:defRPr>
            </a:lvl2pPr>
            <a:lvl3pPr marL="1143000" indent="-228600">
              <a:spcBef>
                <a:spcPct val="20000"/>
              </a:spcBef>
              <a:buClr>
                <a:srgbClr val="003366"/>
              </a:buClr>
              <a:buFont typeface="Arial" panose="020B0604020202020204" pitchFamily="34" charset="0"/>
              <a:buChar char="–"/>
              <a:defRPr sz="2000">
                <a:solidFill>
                  <a:schemeClr val="tx1"/>
                </a:solidFill>
                <a:latin typeface="Arial" panose="020B0604020202020204" pitchFamily="34" charset="0"/>
              </a:defRPr>
            </a:lvl3pPr>
            <a:lvl4pPr marL="1600200" indent="-228600">
              <a:spcBef>
                <a:spcPct val="20000"/>
              </a:spcBef>
              <a:buClr>
                <a:srgbClr val="003366"/>
              </a:buClr>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Clr>
                <a:srgbClr val="003366"/>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66"/>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66"/>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66"/>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66"/>
              </a:buClr>
              <a:buChar char="•"/>
              <a:defRPr sz="2000">
                <a:solidFill>
                  <a:schemeClr val="tx1"/>
                </a:solidFill>
                <a:latin typeface="Arial" panose="020B0604020202020204" pitchFamily="34" charset="0"/>
              </a:defRPr>
            </a:lvl9pPr>
          </a:lstStyle>
          <a:p>
            <a:pPr>
              <a:spcBef>
                <a:spcPct val="0"/>
              </a:spcBef>
              <a:buClrTx/>
              <a:buFontTx/>
              <a:buNone/>
            </a:pPr>
            <a:fld id="{720B9BD9-BF5A-4027-95D8-AA09F400CB8F}" type="slidenum">
              <a:rPr lang="en-US" altLang="en-US" sz="1200">
                <a:solidFill>
                  <a:schemeClr val="bg1"/>
                </a:solidFill>
              </a:rPr>
              <a:pPr>
                <a:spcBef>
                  <a:spcPct val="0"/>
                </a:spcBef>
                <a:buClrTx/>
                <a:buFontTx/>
                <a:buNone/>
              </a:pPr>
              <a:t>26</a:t>
            </a:fld>
            <a:endParaRPr lang="en-US" altLang="en-US" sz="1200">
              <a:solidFill>
                <a:schemeClr val="bg1"/>
              </a:solidFill>
            </a:endParaRPr>
          </a:p>
        </p:txBody>
      </p:sp>
      <p:sp>
        <p:nvSpPr>
          <p:cNvPr id="19459" name="Rectangle 2">
            <a:extLst>
              <a:ext uri="{FF2B5EF4-FFF2-40B4-BE49-F238E27FC236}">
                <a16:creationId xmlns:a16="http://schemas.microsoft.com/office/drawing/2014/main" id="{4D7DF2F8-F9CD-EA5B-9B00-EA45A1FC3946}"/>
              </a:ext>
            </a:extLst>
          </p:cNvPr>
          <p:cNvSpPr>
            <a:spLocks noGrp="1" noChangeArrowheads="1"/>
          </p:cNvSpPr>
          <p:nvPr>
            <p:ph type="title" idx="4294967295"/>
          </p:nvPr>
        </p:nvSpPr>
        <p:spPr>
          <a:xfrm>
            <a:off x="314325" y="173038"/>
            <a:ext cx="8574088" cy="579437"/>
          </a:xfrm>
        </p:spPr>
        <p:txBody>
          <a:bodyPr lIns="92075" tIns="46038" rIns="92075" bIns="46038" anchor="b">
            <a:spAutoFit/>
          </a:bodyPr>
          <a:lstStyle/>
          <a:p>
            <a:pPr eaLnBrk="1" hangingPunct="1"/>
            <a:r>
              <a:rPr lang="en-US" altLang="en-US"/>
              <a:t>Full dependencies</a:t>
            </a:r>
          </a:p>
        </p:txBody>
      </p:sp>
      <p:sp>
        <p:nvSpPr>
          <p:cNvPr id="19460" name="Rectangle 3">
            <a:extLst>
              <a:ext uri="{FF2B5EF4-FFF2-40B4-BE49-F238E27FC236}">
                <a16:creationId xmlns:a16="http://schemas.microsoft.com/office/drawing/2014/main" id="{323A1F78-1CB0-C381-F156-5C8FFDED793C}"/>
              </a:ext>
            </a:extLst>
          </p:cNvPr>
          <p:cNvSpPr>
            <a:spLocks noChangeArrowheads="1"/>
          </p:cNvSpPr>
          <p:nvPr/>
        </p:nvSpPr>
        <p:spPr bwMode="auto">
          <a:xfrm>
            <a:off x="228600" y="1143000"/>
            <a:ext cx="8610600" cy="100647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rgbClr val="003366"/>
              </a:buClr>
              <a:buFont typeface="Wingdings" panose="05000000000000000000" pitchFamily="2" charset="2"/>
              <a:buChar char="Ø"/>
              <a:defRPr sz="2000">
                <a:solidFill>
                  <a:schemeClr val="tx1"/>
                </a:solidFill>
                <a:latin typeface="Arial" panose="020B0604020202020204" pitchFamily="34" charset="0"/>
              </a:defRPr>
            </a:lvl1pPr>
            <a:lvl2pPr marL="742950" indent="-285750">
              <a:spcBef>
                <a:spcPct val="20000"/>
              </a:spcBef>
              <a:buClr>
                <a:srgbClr val="003366"/>
              </a:buClr>
              <a:buFont typeface="Wingdings" panose="05000000000000000000" pitchFamily="2" charset="2"/>
              <a:buChar char="§"/>
              <a:defRPr sz="2000">
                <a:solidFill>
                  <a:schemeClr val="tx1"/>
                </a:solidFill>
                <a:latin typeface="Arial" panose="020B0604020202020204" pitchFamily="34" charset="0"/>
              </a:defRPr>
            </a:lvl2pPr>
            <a:lvl3pPr marL="1143000" indent="-228600">
              <a:spcBef>
                <a:spcPct val="20000"/>
              </a:spcBef>
              <a:buClr>
                <a:srgbClr val="003366"/>
              </a:buClr>
              <a:buFont typeface="Arial" panose="020B0604020202020204" pitchFamily="34" charset="0"/>
              <a:buChar char="–"/>
              <a:defRPr sz="2000">
                <a:solidFill>
                  <a:schemeClr val="tx1"/>
                </a:solidFill>
                <a:latin typeface="Arial" panose="020B0604020202020204" pitchFamily="34" charset="0"/>
              </a:defRPr>
            </a:lvl3pPr>
            <a:lvl4pPr marL="1600200" indent="-228600">
              <a:spcBef>
                <a:spcPct val="20000"/>
              </a:spcBef>
              <a:buClr>
                <a:srgbClr val="003366"/>
              </a:buClr>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Clr>
                <a:srgbClr val="003366"/>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66"/>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66"/>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66"/>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66"/>
              </a:buClr>
              <a:buChar char="•"/>
              <a:defRPr sz="2000">
                <a:solidFill>
                  <a:schemeClr val="tx1"/>
                </a:solidFill>
                <a:latin typeface="Arial" panose="020B0604020202020204" pitchFamily="34" charset="0"/>
              </a:defRPr>
            </a:lvl9pPr>
          </a:lstStyle>
          <a:p>
            <a:pPr algn="just">
              <a:spcBef>
                <a:spcPct val="0"/>
              </a:spcBef>
              <a:buClrTx/>
              <a:buFontTx/>
              <a:buNone/>
            </a:pPr>
            <a:r>
              <a:rPr lang="en-US" altLang="en-US" i="1"/>
              <a:t>X and Y are attributes. </a:t>
            </a:r>
          </a:p>
          <a:p>
            <a:pPr algn="just">
              <a:spcBef>
                <a:spcPct val="0"/>
              </a:spcBef>
              <a:buClrTx/>
              <a:buFontTx/>
              <a:buNone/>
            </a:pPr>
            <a:r>
              <a:rPr lang="en-US" altLang="en-US" i="1"/>
              <a:t>X Functionally determines Y</a:t>
            </a:r>
          </a:p>
          <a:p>
            <a:pPr algn="just">
              <a:spcBef>
                <a:spcPct val="0"/>
              </a:spcBef>
              <a:buClrTx/>
              <a:buFontTx/>
              <a:buNone/>
            </a:pPr>
            <a:r>
              <a:rPr lang="en-US" altLang="en-US" i="1"/>
              <a:t>Note: Subset of X should not functionally determine Y</a:t>
            </a:r>
          </a:p>
        </p:txBody>
      </p:sp>
      <p:sp>
        <p:nvSpPr>
          <p:cNvPr id="19461" name="Rectangle 4">
            <a:extLst>
              <a:ext uri="{FF2B5EF4-FFF2-40B4-BE49-F238E27FC236}">
                <a16:creationId xmlns:a16="http://schemas.microsoft.com/office/drawing/2014/main" id="{73227787-D04F-1563-593A-3C0918941D08}"/>
              </a:ext>
            </a:extLst>
          </p:cNvPr>
          <p:cNvSpPr>
            <a:spLocks noChangeArrowheads="1"/>
          </p:cNvSpPr>
          <p:nvPr/>
        </p:nvSpPr>
        <p:spPr bwMode="auto">
          <a:xfrm>
            <a:off x="228600" y="4191000"/>
            <a:ext cx="85074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rgbClr val="003366"/>
              </a:buClr>
              <a:buFont typeface="Wingdings" panose="05000000000000000000" pitchFamily="2" charset="2"/>
              <a:buChar char="Ø"/>
              <a:defRPr sz="2000">
                <a:solidFill>
                  <a:schemeClr val="tx1"/>
                </a:solidFill>
                <a:latin typeface="Arial" panose="020B0604020202020204" pitchFamily="34" charset="0"/>
              </a:defRPr>
            </a:lvl1pPr>
            <a:lvl2pPr marL="742950" indent="-285750">
              <a:spcBef>
                <a:spcPct val="20000"/>
              </a:spcBef>
              <a:buClr>
                <a:srgbClr val="003366"/>
              </a:buClr>
              <a:buFont typeface="Wingdings" panose="05000000000000000000" pitchFamily="2" charset="2"/>
              <a:buChar char="§"/>
              <a:defRPr sz="2000">
                <a:solidFill>
                  <a:schemeClr val="tx1"/>
                </a:solidFill>
                <a:latin typeface="Arial" panose="020B0604020202020204" pitchFamily="34" charset="0"/>
              </a:defRPr>
            </a:lvl2pPr>
            <a:lvl3pPr marL="1143000" indent="-228600">
              <a:spcBef>
                <a:spcPct val="20000"/>
              </a:spcBef>
              <a:buClr>
                <a:srgbClr val="003366"/>
              </a:buClr>
              <a:buFont typeface="Arial" panose="020B0604020202020204" pitchFamily="34" charset="0"/>
              <a:buChar char="–"/>
              <a:defRPr sz="2000">
                <a:solidFill>
                  <a:schemeClr val="tx1"/>
                </a:solidFill>
                <a:latin typeface="Arial" panose="020B0604020202020204" pitchFamily="34" charset="0"/>
              </a:defRPr>
            </a:lvl3pPr>
            <a:lvl4pPr marL="1600200" indent="-228600">
              <a:spcBef>
                <a:spcPct val="20000"/>
              </a:spcBef>
              <a:buClr>
                <a:srgbClr val="003366"/>
              </a:buClr>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Clr>
                <a:srgbClr val="003366"/>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66"/>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66"/>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66"/>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66"/>
              </a:buClr>
              <a:buChar char="•"/>
              <a:defRPr sz="2000">
                <a:solidFill>
                  <a:schemeClr val="tx1"/>
                </a:solidFill>
                <a:latin typeface="Arial" panose="020B0604020202020204" pitchFamily="34" charset="0"/>
              </a:defRPr>
            </a:lvl9pPr>
          </a:lstStyle>
          <a:p>
            <a:pPr>
              <a:spcBef>
                <a:spcPct val="0"/>
              </a:spcBef>
              <a:buClrTx/>
              <a:buFontTx/>
              <a:buNone/>
            </a:pPr>
            <a:endParaRPr lang="en-US" altLang="en-US" sz="2400" b="0"/>
          </a:p>
        </p:txBody>
      </p:sp>
      <p:pic>
        <p:nvPicPr>
          <p:cNvPr id="19462" name="Picture 5">
            <a:extLst>
              <a:ext uri="{FF2B5EF4-FFF2-40B4-BE49-F238E27FC236}">
                <a16:creationId xmlns:a16="http://schemas.microsoft.com/office/drawing/2014/main" id="{CC690263-0C9F-5287-2B17-6DA97877E96A}"/>
              </a:ext>
            </a:extLst>
          </p:cNvPr>
          <p:cNvPicPr>
            <a:picLocks noGrp="1" noChangeAspect="1" noChangeArrowheads="1"/>
          </p:cNvPicPr>
          <p:nvPr>
            <p:ph idx="4294967295"/>
          </p:nvPr>
        </p:nvPicPr>
        <p:blipFill>
          <a:blip r:embed="rId3">
            <a:lum bright="-18000"/>
            <a:extLst>
              <a:ext uri="{28A0092B-C50C-407E-A947-70E740481C1C}">
                <a14:useLocalDpi xmlns:a14="http://schemas.microsoft.com/office/drawing/2010/main" val="0"/>
              </a:ext>
            </a:extLst>
          </a:blip>
          <a:srcRect/>
          <a:stretch>
            <a:fillRect/>
          </a:stretch>
        </p:blipFill>
        <p:spPr>
          <a:xfrm>
            <a:off x="1254125" y="2633663"/>
            <a:ext cx="6465888" cy="2905125"/>
          </a:xfr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1">
            <a:extLst>
              <a:ext uri="{FF2B5EF4-FFF2-40B4-BE49-F238E27FC236}">
                <a16:creationId xmlns:a16="http://schemas.microsoft.com/office/drawing/2014/main" id="{CE7F96BC-6FAC-0537-EE37-3C1B3F541799}"/>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66"/>
              </a:buClr>
              <a:buFont typeface="Wingdings" panose="05000000000000000000" pitchFamily="2" charset="2"/>
              <a:buChar char="Ø"/>
              <a:defRPr sz="2000">
                <a:solidFill>
                  <a:schemeClr val="tx1"/>
                </a:solidFill>
                <a:latin typeface="Arial" panose="020B0604020202020204" pitchFamily="34" charset="0"/>
              </a:defRPr>
            </a:lvl1pPr>
            <a:lvl2pPr marL="742950" indent="-285750">
              <a:spcBef>
                <a:spcPct val="20000"/>
              </a:spcBef>
              <a:buClr>
                <a:srgbClr val="003366"/>
              </a:buClr>
              <a:buFont typeface="Wingdings" panose="05000000000000000000" pitchFamily="2" charset="2"/>
              <a:buChar char="§"/>
              <a:defRPr sz="2000">
                <a:solidFill>
                  <a:schemeClr val="tx1"/>
                </a:solidFill>
                <a:latin typeface="Arial" panose="020B0604020202020204" pitchFamily="34" charset="0"/>
              </a:defRPr>
            </a:lvl2pPr>
            <a:lvl3pPr marL="1143000" indent="-228600">
              <a:spcBef>
                <a:spcPct val="20000"/>
              </a:spcBef>
              <a:buClr>
                <a:srgbClr val="003366"/>
              </a:buClr>
              <a:buFont typeface="Arial" panose="020B0604020202020204" pitchFamily="34" charset="0"/>
              <a:buChar char="–"/>
              <a:defRPr sz="2000">
                <a:solidFill>
                  <a:schemeClr val="tx1"/>
                </a:solidFill>
                <a:latin typeface="Arial" panose="020B0604020202020204" pitchFamily="34" charset="0"/>
              </a:defRPr>
            </a:lvl3pPr>
            <a:lvl4pPr marL="1600200" indent="-228600">
              <a:spcBef>
                <a:spcPct val="20000"/>
              </a:spcBef>
              <a:buClr>
                <a:srgbClr val="003366"/>
              </a:buClr>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Clr>
                <a:srgbClr val="003366"/>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66"/>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66"/>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66"/>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66"/>
              </a:buClr>
              <a:buChar char="•"/>
              <a:defRPr sz="2000">
                <a:solidFill>
                  <a:schemeClr val="tx1"/>
                </a:solidFill>
                <a:latin typeface="Arial" panose="020B0604020202020204" pitchFamily="34" charset="0"/>
              </a:defRPr>
            </a:lvl9pPr>
          </a:lstStyle>
          <a:p>
            <a:pPr>
              <a:spcBef>
                <a:spcPct val="0"/>
              </a:spcBef>
              <a:buClrTx/>
              <a:buFontTx/>
              <a:buNone/>
            </a:pPr>
            <a:fld id="{C3395428-EA91-4929-BD34-BBEA01472C5F}" type="slidenum">
              <a:rPr lang="en-US" altLang="en-US" sz="1200">
                <a:solidFill>
                  <a:schemeClr val="bg1"/>
                </a:solidFill>
              </a:rPr>
              <a:pPr>
                <a:spcBef>
                  <a:spcPct val="0"/>
                </a:spcBef>
                <a:buClrTx/>
                <a:buFontTx/>
                <a:buNone/>
              </a:pPr>
              <a:t>27</a:t>
            </a:fld>
            <a:endParaRPr lang="en-US" altLang="en-US" sz="1200">
              <a:solidFill>
                <a:schemeClr val="bg1"/>
              </a:solidFill>
            </a:endParaRPr>
          </a:p>
        </p:txBody>
      </p:sp>
      <p:sp>
        <p:nvSpPr>
          <p:cNvPr id="21507" name="Rectangle 2">
            <a:extLst>
              <a:ext uri="{FF2B5EF4-FFF2-40B4-BE49-F238E27FC236}">
                <a16:creationId xmlns:a16="http://schemas.microsoft.com/office/drawing/2014/main" id="{B71C51F3-EDC6-7FAC-AC4E-95E305D8CF7B}"/>
              </a:ext>
            </a:extLst>
          </p:cNvPr>
          <p:cNvSpPr>
            <a:spLocks noGrp="1" noChangeArrowheads="1"/>
          </p:cNvSpPr>
          <p:nvPr>
            <p:ph type="title" idx="4294967295"/>
          </p:nvPr>
        </p:nvSpPr>
        <p:spPr>
          <a:xfrm>
            <a:off x="314325" y="173038"/>
            <a:ext cx="8574088" cy="579437"/>
          </a:xfrm>
        </p:spPr>
        <p:txBody>
          <a:bodyPr lIns="92075" tIns="46038" rIns="92075" bIns="46038" anchor="b">
            <a:spAutoFit/>
          </a:bodyPr>
          <a:lstStyle/>
          <a:p>
            <a:pPr eaLnBrk="1" hangingPunct="1"/>
            <a:r>
              <a:rPr lang="en-US" altLang="en-US"/>
              <a:t>Partial dependencies</a:t>
            </a:r>
          </a:p>
        </p:txBody>
      </p:sp>
      <p:sp>
        <p:nvSpPr>
          <p:cNvPr id="21508" name="Rectangle 3">
            <a:extLst>
              <a:ext uri="{FF2B5EF4-FFF2-40B4-BE49-F238E27FC236}">
                <a16:creationId xmlns:a16="http://schemas.microsoft.com/office/drawing/2014/main" id="{AF8BFF2D-16EB-F4D3-B825-46EEE093B505}"/>
              </a:ext>
            </a:extLst>
          </p:cNvPr>
          <p:cNvSpPr>
            <a:spLocks noChangeArrowheads="1"/>
          </p:cNvSpPr>
          <p:nvPr/>
        </p:nvSpPr>
        <p:spPr bwMode="auto">
          <a:xfrm>
            <a:off x="304800" y="4114800"/>
            <a:ext cx="8507413" cy="224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rgbClr val="003366"/>
              </a:buClr>
              <a:buFont typeface="Wingdings" panose="05000000000000000000" pitchFamily="2" charset="2"/>
              <a:buChar char="Ø"/>
              <a:defRPr sz="2000">
                <a:solidFill>
                  <a:schemeClr val="tx1"/>
                </a:solidFill>
                <a:latin typeface="Arial" panose="020B0604020202020204" pitchFamily="34" charset="0"/>
              </a:defRPr>
            </a:lvl1pPr>
            <a:lvl2pPr marL="742950" indent="-285750">
              <a:spcBef>
                <a:spcPct val="20000"/>
              </a:spcBef>
              <a:buClr>
                <a:srgbClr val="003366"/>
              </a:buClr>
              <a:buFont typeface="Wingdings" panose="05000000000000000000" pitchFamily="2" charset="2"/>
              <a:buChar char="§"/>
              <a:defRPr sz="2000">
                <a:solidFill>
                  <a:schemeClr val="tx1"/>
                </a:solidFill>
                <a:latin typeface="Arial" panose="020B0604020202020204" pitchFamily="34" charset="0"/>
              </a:defRPr>
            </a:lvl2pPr>
            <a:lvl3pPr marL="1143000" indent="-228600">
              <a:spcBef>
                <a:spcPct val="20000"/>
              </a:spcBef>
              <a:buClr>
                <a:srgbClr val="003366"/>
              </a:buClr>
              <a:buFont typeface="Arial" panose="020B0604020202020204" pitchFamily="34" charset="0"/>
              <a:buChar char="–"/>
              <a:defRPr sz="2000">
                <a:solidFill>
                  <a:schemeClr val="tx1"/>
                </a:solidFill>
                <a:latin typeface="Arial" panose="020B0604020202020204" pitchFamily="34" charset="0"/>
              </a:defRPr>
            </a:lvl3pPr>
            <a:lvl4pPr marL="1600200" indent="-228600">
              <a:spcBef>
                <a:spcPct val="20000"/>
              </a:spcBef>
              <a:buClr>
                <a:srgbClr val="003366"/>
              </a:buClr>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Clr>
                <a:srgbClr val="003366"/>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66"/>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66"/>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66"/>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66"/>
              </a:buClr>
              <a:buChar char="•"/>
              <a:defRPr sz="2000">
                <a:solidFill>
                  <a:schemeClr val="tx1"/>
                </a:solidFill>
                <a:latin typeface="Arial" panose="020B0604020202020204" pitchFamily="34" charset="0"/>
              </a:defRPr>
            </a:lvl9pPr>
          </a:lstStyle>
          <a:p>
            <a:pPr>
              <a:spcBef>
                <a:spcPct val="0"/>
              </a:spcBef>
              <a:buClrTx/>
              <a:buFontTx/>
              <a:buNone/>
            </a:pPr>
            <a:r>
              <a:rPr lang="en-US" altLang="en-US" b="0"/>
              <a:t>We  have both the functional dependency valid in our example</a:t>
            </a:r>
          </a:p>
          <a:p>
            <a:pPr>
              <a:spcBef>
                <a:spcPct val="0"/>
              </a:spcBef>
              <a:buClrTx/>
              <a:buFontTx/>
              <a:buNone/>
            </a:pPr>
            <a:endParaRPr lang="en-US" altLang="en-US" b="0"/>
          </a:p>
          <a:p>
            <a:pPr>
              <a:spcBef>
                <a:spcPct val="0"/>
              </a:spcBef>
              <a:buClrTx/>
              <a:buFontTx/>
              <a:buNone/>
            </a:pPr>
            <a:r>
              <a:rPr lang="en-US" altLang="en-US" b="0"/>
              <a:t>	Student# Course#           CourseName</a:t>
            </a:r>
          </a:p>
          <a:p>
            <a:pPr>
              <a:spcBef>
                <a:spcPct val="0"/>
              </a:spcBef>
              <a:buClrTx/>
              <a:buFontTx/>
              <a:buNone/>
            </a:pPr>
            <a:r>
              <a:rPr lang="en-US" altLang="en-US" b="0"/>
              <a:t>	Course#          CourseName</a:t>
            </a:r>
          </a:p>
          <a:p>
            <a:pPr>
              <a:spcBef>
                <a:spcPct val="0"/>
              </a:spcBef>
              <a:buClrTx/>
              <a:buFontTx/>
              <a:buNone/>
            </a:pPr>
            <a:endParaRPr lang="en-US" altLang="en-US" b="0"/>
          </a:p>
          <a:p>
            <a:pPr>
              <a:spcBef>
                <a:spcPct val="0"/>
              </a:spcBef>
              <a:buClrTx/>
              <a:buFontTx/>
              <a:buNone/>
            </a:pPr>
            <a:r>
              <a:rPr lang="en-US" altLang="en-US" b="0"/>
              <a:t>So we can say that CourseName is partially dependent on </a:t>
            </a:r>
            <a:r>
              <a:rPr lang="en-US" altLang="en-US" b="0" u="sng"/>
              <a:t>Student# Course#</a:t>
            </a:r>
            <a:endParaRPr lang="en-US" altLang="en-US" b="0"/>
          </a:p>
        </p:txBody>
      </p:sp>
      <p:sp>
        <p:nvSpPr>
          <p:cNvPr id="21509" name="Line 4">
            <a:extLst>
              <a:ext uri="{FF2B5EF4-FFF2-40B4-BE49-F238E27FC236}">
                <a16:creationId xmlns:a16="http://schemas.microsoft.com/office/drawing/2014/main" id="{DCDBFF59-24CA-C993-4DD1-28A7229F021A}"/>
              </a:ext>
            </a:extLst>
          </p:cNvPr>
          <p:cNvSpPr>
            <a:spLocks noChangeShapeType="1"/>
          </p:cNvSpPr>
          <p:nvPr/>
        </p:nvSpPr>
        <p:spPr bwMode="auto">
          <a:xfrm>
            <a:off x="3960813" y="3698875"/>
            <a:ext cx="134302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50800">
                <a:solidFill>
                  <a:srgbClr val="000000"/>
                </a:solidFill>
                <a:round/>
                <a:headEnd type="none" w="sm" len="sm"/>
                <a:tailEnd type="stealth" w="med" len="lg"/>
              </a14:hiddenLine>
            </a:ext>
          </a:extLst>
        </p:spPr>
        <p:txBody>
          <a:bodyPr wrap="none" anchor="ctr"/>
          <a:lstStyle/>
          <a:p>
            <a:endParaRPr lang="en-US"/>
          </a:p>
        </p:txBody>
      </p:sp>
      <p:sp>
        <p:nvSpPr>
          <p:cNvPr id="21510" name="Line 5">
            <a:extLst>
              <a:ext uri="{FF2B5EF4-FFF2-40B4-BE49-F238E27FC236}">
                <a16:creationId xmlns:a16="http://schemas.microsoft.com/office/drawing/2014/main" id="{8E091BA5-8495-C335-9BE6-E490C3F97EAF}"/>
              </a:ext>
            </a:extLst>
          </p:cNvPr>
          <p:cNvSpPr>
            <a:spLocks noChangeShapeType="1"/>
          </p:cNvSpPr>
          <p:nvPr/>
        </p:nvSpPr>
        <p:spPr bwMode="auto">
          <a:xfrm>
            <a:off x="3970338" y="4537075"/>
            <a:ext cx="134302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50800">
                <a:solidFill>
                  <a:srgbClr val="000000"/>
                </a:solidFill>
                <a:round/>
                <a:headEnd type="none" w="sm" len="sm"/>
                <a:tailEnd type="stealth" w="med" len="lg"/>
              </a14:hiddenLine>
            </a:ext>
          </a:extLst>
        </p:spPr>
        <p:txBody>
          <a:bodyPr wrap="none" anchor="ctr"/>
          <a:lstStyle/>
          <a:p>
            <a:endParaRPr lang="en-US"/>
          </a:p>
        </p:txBody>
      </p:sp>
      <p:sp>
        <p:nvSpPr>
          <p:cNvPr id="21511" name="Line 6">
            <a:extLst>
              <a:ext uri="{FF2B5EF4-FFF2-40B4-BE49-F238E27FC236}">
                <a16:creationId xmlns:a16="http://schemas.microsoft.com/office/drawing/2014/main" id="{20162A18-E8C4-95FE-F0E3-FDD4C3B92CB7}"/>
              </a:ext>
            </a:extLst>
          </p:cNvPr>
          <p:cNvSpPr>
            <a:spLocks noChangeShapeType="1"/>
          </p:cNvSpPr>
          <p:nvPr/>
        </p:nvSpPr>
        <p:spPr bwMode="auto">
          <a:xfrm>
            <a:off x="3965575" y="5418138"/>
            <a:ext cx="134302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50800">
                <a:solidFill>
                  <a:srgbClr val="000000"/>
                </a:solidFill>
                <a:round/>
                <a:headEnd type="none" w="sm" len="sm"/>
                <a:tailEnd type="stealth" w="med" len="lg"/>
              </a14:hiddenLine>
            </a:ext>
          </a:extLst>
        </p:spPr>
        <p:txBody>
          <a:bodyPr wrap="none" anchor="ctr"/>
          <a:lstStyle/>
          <a:p>
            <a:endParaRPr lang="en-US"/>
          </a:p>
        </p:txBody>
      </p:sp>
      <p:sp>
        <p:nvSpPr>
          <p:cNvPr id="21512" name="Rectangle 7">
            <a:extLst>
              <a:ext uri="{FF2B5EF4-FFF2-40B4-BE49-F238E27FC236}">
                <a16:creationId xmlns:a16="http://schemas.microsoft.com/office/drawing/2014/main" id="{71A9488E-983F-F18A-D873-102BCE0EF6A2}"/>
              </a:ext>
            </a:extLst>
          </p:cNvPr>
          <p:cNvSpPr>
            <a:spLocks noChangeArrowheads="1"/>
          </p:cNvSpPr>
          <p:nvPr/>
        </p:nvSpPr>
        <p:spPr bwMode="auto">
          <a:xfrm>
            <a:off x="228600" y="990600"/>
            <a:ext cx="8458200" cy="91598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rgbClr val="003366"/>
              </a:buClr>
              <a:buFont typeface="Wingdings" panose="05000000000000000000" pitchFamily="2" charset="2"/>
              <a:buChar char="Ø"/>
              <a:defRPr sz="2000">
                <a:solidFill>
                  <a:schemeClr val="tx1"/>
                </a:solidFill>
                <a:latin typeface="Arial" panose="020B0604020202020204" pitchFamily="34" charset="0"/>
              </a:defRPr>
            </a:lvl1pPr>
            <a:lvl2pPr marL="742950" indent="-285750">
              <a:spcBef>
                <a:spcPct val="20000"/>
              </a:spcBef>
              <a:buClr>
                <a:srgbClr val="003366"/>
              </a:buClr>
              <a:buFont typeface="Wingdings" panose="05000000000000000000" pitchFamily="2" charset="2"/>
              <a:buChar char="§"/>
              <a:defRPr sz="2000">
                <a:solidFill>
                  <a:schemeClr val="tx1"/>
                </a:solidFill>
                <a:latin typeface="Arial" panose="020B0604020202020204" pitchFamily="34" charset="0"/>
              </a:defRPr>
            </a:lvl2pPr>
            <a:lvl3pPr marL="1143000" indent="-228600">
              <a:spcBef>
                <a:spcPct val="20000"/>
              </a:spcBef>
              <a:buClr>
                <a:srgbClr val="003366"/>
              </a:buClr>
              <a:buFont typeface="Arial" panose="020B0604020202020204" pitchFamily="34" charset="0"/>
              <a:buChar char="–"/>
              <a:defRPr sz="2000">
                <a:solidFill>
                  <a:schemeClr val="tx1"/>
                </a:solidFill>
                <a:latin typeface="Arial" panose="020B0604020202020204" pitchFamily="34" charset="0"/>
              </a:defRPr>
            </a:lvl3pPr>
            <a:lvl4pPr marL="1600200" indent="-228600">
              <a:spcBef>
                <a:spcPct val="20000"/>
              </a:spcBef>
              <a:buClr>
                <a:srgbClr val="003366"/>
              </a:buClr>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Clr>
                <a:srgbClr val="003366"/>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66"/>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66"/>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66"/>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66"/>
              </a:buClr>
              <a:buChar char="•"/>
              <a:defRPr sz="2000">
                <a:solidFill>
                  <a:schemeClr val="tx1"/>
                </a:solidFill>
                <a:latin typeface="Arial" panose="020B0604020202020204" pitchFamily="34" charset="0"/>
              </a:defRPr>
            </a:lvl9pPr>
          </a:lstStyle>
          <a:p>
            <a:pPr algn="just">
              <a:spcBef>
                <a:spcPct val="0"/>
              </a:spcBef>
              <a:buClrTx/>
              <a:buFontTx/>
              <a:buNone/>
            </a:pPr>
            <a:r>
              <a:rPr lang="en-US" altLang="en-US" sz="1800" i="1"/>
              <a:t>X and Y are attributes. </a:t>
            </a:r>
          </a:p>
          <a:p>
            <a:pPr algn="just">
              <a:spcBef>
                <a:spcPct val="0"/>
              </a:spcBef>
              <a:buClrTx/>
              <a:buFontTx/>
              <a:buNone/>
            </a:pPr>
            <a:r>
              <a:rPr lang="en-US" altLang="en-US" sz="1800" i="1"/>
              <a:t>Attribute Y is partially dependent on the attribute X only if it is dependent on a sub-set of attribute X.</a:t>
            </a:r>
          </a:p>
        </p:txBody>
      </p:sp>
      <p:pic>
        <p:nvPicPr>
          <p:cNvPr id="21513" name="Picture 10">
            <a:extLst>
              <a:ext uri="{FF2B5EF4-FFF2-40B4-BE49-F238E27FC236}">
                <a16:creationId xmlns:a16="http://schemas.microsoft.com/office/drawing/2014/main" id="{D8E84D6F-C4A2-29D7-FFAC-2BC4A71661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1981200"/>
            <a:ext cx="5076825" cy="221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cxnSp>
        <p:nvCxnSpPr>
          <p:cNvPr id="21514" name="Straight Arrow Connector 11">
            <a:extLst>
              <a:ext uri="{FF2B5EF4-FFF2-40B4-BE49-F238E27FC236}">
                <a16:creationId xmlns:a16="http://schemas.microsoft.com/office/drawing/2014/main" id="{E7E82B56-16BA-1C0C-95F4-24F78B799EDD}"/>
              </a:ext>
            </a:extLst>
          </p:cNvPr>
          <p:cNvCxnSpPr>
            <a:cxnSpLocks noChangeShapeType="1"/>
          </p:cNvCxnSpPr>
          <p:nvPr/>
        </p:nvCxnSpPr>
        <p:spPr bwMode="auto">
          <a:xfrm>
            <a:off x="3505200" y="4953000"/>
            <a:ext cx="533400" cy="1588"/>
          </a:xfrm>
          <a:prstGeom prst="straightConnector1">
            <a:avLst/>
          </a:prstGeom>
          <a:noFill/>
          <a:ln w="12700"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1515" name="Straight Arrow Connector 12">
            <a:extLst>
              <a:ext uri="{FF2B5EF4-FFF2-40B4-BE49-F238E27FC236}">
                <a16:creationId xmlns:a16="http://schemas.microsoft.com/office/drawing/2014/main" id="{E3F7BF31-2211-C01A-0F12-341F3139C2F6}"/>
              </a:ext>
            </a:extLst>
          </p:cNvPr>
          <p:cNvCxnSpPr>
            <a:cxnSpLocks noChangeShapeType="1"/>
          </p:cNvCxnSpPr>
          <p:nvPr/>
        </p:nvCxnSpPr>
        <p:spPr bwMode="auto">
          <a:xfrm>
            <a:off x="2362200" y="5257800"/>
            <a:ext cx="533400" cy="1588"/>
          </a:xfrm>
          <a:prstGeom prst="straightConnector1">
            <a:avLst/>
          </a:prstGeom>
          <a:noFill/>
          <a:ln w="12700" algn="ctr">
            <a:solidFill>
              <a:schemeClr val="tx1"/>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F8BD7-C4B8-13EE-BC70-F4D7EEBAAC5A}"/>
              </a:ext>
            </a:extLst>
          </p:cNvPr>
          <p:cNvSpPr>
            <a:spLocks noGrp="1"/>
          </p:cNvSpPr>
          <p:nvPr>
            <p:ph type="title"/>
          </p:nvPr>
        </p:nvSpPr>
        <p:spPr/>
        <p:txBody>
          <a:bodyPr/>
          <a:lstStyle/>
          <a:p>
            <a:r>
              <a:rPr lang="en-US" dirty="0"/>
              <a:t>Attribute Closure</a:t>
            </a:r>
          </a:p>
        </p:txBody>
      </p:sp>
      <p:sp>
        <p:nvSpPr>
          <p:cNvPr id="3" name="Content Placeholder 2">
            <a:extLst>
              <a:ext uri="{FF2B5EF4-FFF2-40B4-BE49-F238E27FC236}">
                <a16:creationId xmlns:a16="http://schemas.microsoft.com/office/drawing/2014/main" id="{BEA789BA-2BC6-3048-960A-D001166E3AC7}"/>
              </a:ext>
            </a:extLst>
          </p:cNvPr>
          <p:cNvSpPr>
            <a:spLocks noGrp="1"/>
          </p:cNvSpPr>
          <p:nvPr>
            <p:ph idx="1"/>
          </p:nvPr>
        </p:nvSpPr>
        <p:spPr/>
        <p:txBody>
          <a:bodyPr/>
          <a:lstStyle/>
          <a:p>
            <a:r>
              <a:rPr lang="en-US" dirty="0"/>
              <a:t>Closure of an attribute x is the set of all attributes that are functional dependencies on X with respect to F. It is denoted by X+ which means what X can determine.</a:t>
            </a:r>
          </a:p>
          <a:p>
            <a:pPr algn="just"/>
            <a:r>
              <a:rPr lang="en-US" b="1" dirty="0"/>
              <a:t>Q. </a:t>
            </a:r>
            <a:r>
              <a:rPr lang="en-US" b="0" i="0" dirty="0">
                <a:solidFill>
                  <a:srgbClr val="000000"/>
                </a:solidFill>
                <a:effectLst/>
                <a:latin typeface="Nunito" pitchFamily="2" charset="0"/>
              </a:rPr>
              <a:t>Consider a relation R(A,B,C,D,E,F) where F: E-&gt;A, E-&gt;D, A-&gt;C, A-&gt;D, AE-&gt;F, AG-&gt;K. Find the closure of E or E</a:t>
            </a:r>
            <a:r>
              <a:rPr lang="en-US" b="0" i="0" baseline="30000" dirty="0">
                <a:solidFill>
                  <a:srgbClr val="000000"/>
                </a:solidFill>
                <a:effectLst/>
                <a:latin typeface="Nunito" pitchFamily="2" charset="0"/>
              </a:rPr>
              <a:t>+</a:t>
            </a:r>
          </a:p>
          <a:p>
            <a:pPr marL="457200" lvl="1" indent="0" algn="just">
              <a:buNone/>
            </a:pPr>
            <a:endParaRPr lang="en-US" b="0" i="0" dirty="0">
              <a:solidFill>
                <a:srgbClr val="000000"/>
              </a:solidFill>
              <a:effectLst/>
              <a:latin typeface="Nunito" pitchFamily="2" charset="0"/>
            </a:endParaRPr>
          </a:p>
          <a:p>
            <a:endParaRPr lang="en-US" dirty="0"/>
          </a:p>
          <a:p>
            <a:endParaRPr lang="en-US" dirty="0"/>
          </a:p>
          <a:p>
            <a:endParaRPr lang="en-US" dirty="0"/>
          </a:p>
          <a:p>
            <a:endParaRPr lang="en-US" dirty="0"/>
          </a:p>
          <a:p>
            <a:endParaRPr lang="en-US" dirty="0"/>
          </a:p>
          <a:p>
            <a:endParaRPr lang="en-US" dirty="0"/>
          </a:p>
          <a:p>
            <a:pPr algn="just"/>
            <a:r>
              <a:rPr lang="en-US" b="0" i="0" dirty="0">
                <a:solidFill>
                  <a:srgbClr val="000000"/>
                </a:solidFill>
                <a:effectLst/>
                <a:latin typeface="Nunito" pitchFamily="2" charset="0"/>
              </a:rPr>
              <a:t>Let the relation R(A,B,C,D,E,F) where F: B-&gt;C, BC-&gt;AD, D-&gt;E, CF-&gt;B. Find the closure of B.</a:t>
            </a:r>
          </a:p>
          <a:p>
            <a:pPr lvl="1" algn="just"/>
            <a:r>
              <a:rPr lang="pt-BR" b="0" i="0" dirty="0">
                <a:solidFill>
                  <a:srgbClr val="000000"/>
                </a:solidFill>
                <a:effectLst/>
                <a:latin typeface="Nunito" pitchFamily="2" charset="0"/>
              </a:rPr>
              <a:t>B</a:t>
            </a:r>
            <a:r>
              <a:rPr lang="pt-BR" b="0" i="0" baseline="30000" dirty="0">
                <a:solidFill>
                  <a:srgbClr val="000000"/>
                </a:solidFill>
                <a:effectLst/>
                <a:latin typeface="Nunito" pitchFamily="2" charset="0"/>
              </a:rPr>
              <a:t>+</a:t>
            </a:r>
            <a:r>
              <a:rPr lang="pt-BR" b="0" i="0" dirty="0">
                <a:solidFill>
                  <a:srgbClr val="000000"/>
                </a:solidFill>
                <a:effectLst/>
                <a:latin typeface="Nunito" pitchFamily="2" charset="0"/>
              </a:rPr>
              <a:t> = {B,C,A,D,E}</a:t>
            </a:r>
            <a:endParaRPr lang="en-US" b="0" i="0" dirty="0">
              <a:solidFill>
                <a:srgbClr val="000000"/>
              </a:solidFill>
              <a:effectLst/>
              <a:latin typeface="Nunito" pitchFamily="2" charset="0"/>
            </a:endParaRPr>
          </a:p>
          <a:p>
            <a:endParaRPr lang="en-US" dirty="0"/>
          </a:p>
        </p:txBody>
      </p:sp>
      <p:pic>
        <p:nvPicPr>
          <p:cNvPr id="6" name="Picture 5">
            <a:extLst>
              <a:ext uri="{FF2B5EF4-FFF2-40B4-BE49-F238E27FC236}">
                <a16:creationId xmlns:a16="http://schemas.microsoft.com/office/drawing/2014/main" id="{DBDA9396-80F8-AF1E-9809-DB7439EC64F5}"/>
              </a:ext>
            </a:extLst>
          </p:cNvPr>
          <p:cNvPicPr>
            <a:picLocks noChangeAspect="1"/>
          </p:cNvPicPr>
          <p:nvPr/>
        </p:nvPicPr>
        <p:blipFill>
          <a:blip r:embed="rId2"/>
          <a:stretch>
            <a:fillRect/>
          </a:stretch>
        </p:blipFill>
        <p:spPr>
          <a:xfrm>
            <a:off x="1946856" y="2764640"/>
            <a:ext cx="4854361" cy="1950889"/>
          </a:xfrm>
          <a:prstGeom prst="rect">
            <a:avLst/>
          </a:prstGeom>
        </p:spPr>
      </p:pic>
    </p:spTree>
    <p:extLst>
      <p:ext uri="{BB962C8B-B14F-4D97-AF65-F5344CB8AC3E}">
        <p14:creationId xmlns:p14="http://schemas.microsoft.com/office/powerpoint/2010/main" val="2295441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29360-6C6F-609D-F292-A72D0691EC68}"/>
              </a:ext>
            </a:extLst>
          </p:cNvPr>
          <p:cNvSpPr>
            <a:spLocks noGrp="1"/>
          </p:cNvSpPr>
          <p:nvPr>
            <p:ph type="title"/>
          </p:nvPr>
        </p:nvSpPr>
        <p:spPr/>
        <p:txBody>
          <a:bodyPr/>
          <a:lstStyle/>
          <a:p>
            <a:r>
              <a:rPr lang="en-US" dirty="0"/>
              <a:t>Attribute Closure</a:t>
            </a:r>
          </a:p>
        </p:txBody>
      </p:sp>
      <p:sp>
        <p:nvSpPr>
          <p:cNvPr id="3" name="Content Placeholder 2">
            <a:extLst>
              <a:ext uri="{FF2B5EF4-FFF2-40B4-BE49-F238E27FC236}">
                <a16:creationId xmlns:a16="http://schemas.microsoft.com/office/drawing/2014/main" id="{A1EDC6EC-F780-5103-64BA-A7EEB1C85544}"/>
              </a:ext>
            </a:extLst>
          </p:cNvPr>
          <p:cNvSpPr>
            <a:spLocks noGrp="1"/>
          </p:cNvSpPr>
          <p:nvPr>
            <p:ph idx="1"/>
          </p:nvPr>
        </p:nvSpPr>
        <p:spPr>
          <a:xfrm>
            <a:off x="768350" y="1433153"/>
            <a:ext cx="7661275" cy="3534773"/>
          </a:xfrm>
        </p:spPr>
        <p:txBody>
          <a:bodyPr/>
          <a:lstStyle/>
          <a:p>
            <a:pPr algn="just"/>
            <a:r>
              <a:rPr lang="en-US" dirty="0"/>
              <a:t>Q. </a:t>
            </a:r>
            <a:r>
              <a:rPr lang="en-US" b="0" i="0" dirty="0">
                <a:solidFill>
                  <a:srgbClr val="000000"/>
                </a:solidFill>
                <a:effectLst/>
                <a:latin typeface="Nunito" pitchFamily="2" charset="0"/>
              </a:rPr>
              <a:t>R(A,B,C,D,E) AND F: A-&gt;B,B-&gt;C, C-&gt;D, A-&gt;E. Find the closure of F</a:t>
            </a:r>
          </a:p>
          <a:p>
            <a:pPr lvl="1" algn="just"/>
            <a:r>
              <a:rPr lang="pt-BR" b="0" i="0" dirty="0">
                <a:solidFill>
                  <a:srgbClr val="000000"/>
                </a:solidFill>
                <a:effectLst/>
                <a:latin typeface="Nunito" pitchFamily="2" charset="0"/>
              </a:rPr>
              <a:t>A</a:t>
            </a:r>
            <a:r>
              <a:rPr lang="pt-BR" b="0" i="0" baseline="30000" dirty="0">
                <a:solidFill>
                  <a:srgbClr val="000000"/>
                </a:solidFill>
                <a:effectLst/>
                <a:latin typeface="Nunito" pitchFamily="2" charset="0"/>
              </a:rPr>
              <a:t>+</a:t>
            </a:r>
            <a:r>
              <a:rPr lang="pt-BR" b="0" i="0" dirty="0">
                <a:solidFill>
                  <a:srgbClr val="000000"/>
                </a:solidFill>
                <a:effectLst/>
                <a:latin typeface="Nunito" pitchFamily="2" charset="0"/>
              </a:rPr>
              <a:t>= {A,B,C,D,E}</a:t>
            </a:r>
          </a:p>
          <a:p>
            <a:pPr lvl="1" algn="just"/>
            <a:r>
              <a:rPr lang="pt-BR" b="0" i="0" dirty="0">
                <a:solidFill>
                  <a:srgbClr val="000000"/>
                </a:solidFill>
                <a:effectLst/>
                <a:latin typeface="Nunito" pitchFamily="2" charset="0"/>
              </a:rPr>
              <a:t>B</a:t>
            </a:r>
            <a:r>
              <a:rPr lang="pt-BR" b="0" i="0" baseline="30000" dirty="0">
                <a:solidFill>
                  <a:srgbClr val="000000"/>
                </a:solidFill>
                <a:effectLst/>
                <a:latin typeface="Nunito" pitchFamily="2" charset="0"/>
              </a:rPr>
              <a:t>+</a:t>
            </a:r>
            <a:r>
              <a:rPr lang="pt-BR" b="0" i="0" dirty="0">
                <a:solidFill>
                  <a:srgbClr val="000000"/>
                </a:solidFill>
                <a:effectLst/>
                <a:latin typeface="Nunito" pitchFamily="2" charset="0"/>
              </a:rPr>
              <a:t>= {B,C,D}</a:t>
            </a:r>
          </a:p>
          <a:p>
            <a:pPr lvl="1" algn="just"/>
            <a:r>
              <a:rPr lang="pt-BR" b="0" i="0" dirty="0">
                <a:solidFill>
                  <a:srgbClr val="000000"/>
                </a:solidFill>
                <a:effectLst/>
                <a:latin typeface="Nunito" pitchFamily="2" charset="0"/>
              </a:rPr>
              <a:t>C</a:t>
            </a:r>
            <a:r>
              <a:rPr lang="pt-BR" b="0" i="0" baseline="30000" dirty="0">
                <a:solidFill>
                  <a:srgbClr val="000000"/>
                </a:solidFill>
                <a:effectLst/>
                <a:latin typeface="Nunito" pitchFamily="2" charset="0"/>
              </a:rPr>
              <a:t>+</a:t>
            </a:r>
            <a:r>
              <a:rPr lang="pt-BR" b="0" i="0" dirty="0">
                <a:solidFill>
                  <a:srgbClr val="000000"/>
                </a:solidFill>
                <a:effectLst/>
                <a:latin typeface="Nunito" pitchFamily="2" charset="0"/>
              </a:rPr>
              <a:t>= {C,D}</a:t>
            </a:r>
          </a:p>
          <a:p>
            <a:pPr lvl="1" algn="just"/>
            <a:r>
              <a:rPr lang="pt-BR" b="0" i="0" dirty="0">
                <a:solidFill>
                  <a:srgbClr val="000000"/>
                </a:solidFill>
                <a:effectLst/>
                <a:latin typeface="Nunito" pitchFamily="2" charset="0"/>
              </a:rPr>
              <a:t>F</a:t>
            </a:r>
            <a:r>
              <a:rPr lang="pt-BR" b="0" i="0" baseline="30000" dirty="0">
                <a:solidFill>
                  <a:srgbClr val="000000"/>
                </a:solidFill>
                <a:effectLst/>
                <a:latin typeface="Nunito" pitchFamily="2" charset="0"/>
              </a:rPr>
              <a:t>+</a:t>
            </a:r>
            <a:r>
              <a:rPr lang="pt-BR" b="0" i="0" dirty="0">
                <a:solidFill>
                  <a:srgbClr val="000000"/>
                </a:solidFill>
                <a:effectLst/>
                <a:latin typeface="Nunito" pitchFamily="2" charset="0"/>
              </a:rPr>
              <a:t>= {A-&gt;A, A-&gt;B, A-&gt;C, A-&gt;D, A-&gt;E, B-&gt;B, B-&gt;C, B-&gt;D, C-&gt;C, C-&gt;D}</a:t>
            </a:r>
          </a:p>
          <a:p>
            <a:pPr marL="457200" lvl="1" indent="0">
              <a:buNone/>
            </a:pPr>
            <a:br>
              <a:rPr lang="en-US" dirty="0"/>
            </a:br>
            <a:endParaRPr lang="en-US" dirty="0"/>
          </a:p>
        </p:txBody>
      </p:sp>
    </p:spTree>
    <p:extLst>
      <p:ext uri="{BB962C8B-B14F-4D97-AF65-F5344CB8AC3E}">
        <p14:creationId xmlns:p14="http://schemas.microsoft.com/office/powerpoint/2010/main" val="14070705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1671B-4F2E-84CD-5111-4343BEA453CF}"/>
              </a:ext>
            </a:extLst>
          </p:cNvPr>
          <p:cNvSpPr>
            <a:spLocks noGrp="1"/>
          </p:cNvSpPr>
          <p:nvPr>
            <p:ph type="title"/>
          </p:nvPr>
        </p:nvSpPr>
        <p:spPr/>
        <p:txBody>
          <a:bodyPr/>
          <a:lstStyle/>
          <a:p>
            <a:r>
              <a:rPr lang="en-US" dirty="0"/>
              <a:t>Attribute Closure</a:t>
            </a:r>
          </a:p>
        </p:txBody>
      </p:sp>
      <p:sp>
        <p:nvSpPr>
          <p:cNvPr id="3" name="Content Placeholder 2">
            <a:extLst>
              <a:ext uri="{FF2B5EF4-FFF2-40B4-BE49-F238E27FC236}">
                <a16:creationId xmlns:a16="http://schemas.microsoft.com/office/drawing/2014/main" id="{33C63396-81A0-D6C2-0B61-3208E8CF5CC6}"/>
              </a:ext>
            </a:extLst>
          </p:cNvPr>
          <p:cNvSpPr>
            <a:spLocks noGrp="1"/>
          </p:cNvSpPr>
          <p:nvPr>
            <p:ph idx="1"/>
          </p:nvPr>
        </p:nvSpPr>
        <p:spPr/>
        <p:txBody>
          <a:bodyPr/>
          <a:lstStyle/>
          <a:p>
            <a:pPr algn="l" fontAlgn="base"/>
            <a:r>
              <a:rPr lang="en-US" dirty="0"/>
              <a:t>Q. </a:t>
            </a:r>
            <a:r>
              <a:rPr lang="en-US" b="0" i="0" dirty="0">
                <a:solidFill>
                  <a:srgbClr val="303030"/>
                </a:solidFill>
                <a:effectLst/>
                <a:latin typeface="Arimo"/>
              </a:rPr>
              <a:t>Consider a relation R ( A , B , C , D , E , F , G ) with the functional dependencies-</a:t>
            </a:r>
          </a:p>
          <a:p>
            <a:pPr algn="ctr" fontAlgn="base"/>
            <a:r>
              <a:rPr lang="en-US" b="0" i="0" dirty="0">
                <a:solidFill>
                  <a:srgbClr val="303030"/>
                </a:solidFill>
                <a:effectLst/>
                <a:latin typeface="Arimo"/>
              </a:rPr>
              <a:t>A → BC</a:t>
            </a:r>
          </a:p>
          <a:p>
            <a:pPr algn="ctr" fontAlgn="base"/>
            <a:r>
              <a:rPr lang="en-US" b="0" i="0" dirty="0">
                <a:solidFill>
                  <a:srgbClr val="303030"/>
                </a:solidFill>
                <a:effectLst/>
                <a:latin typeface="Arimo"/>
              </a:rPr>
              <a:t>BC → DE</a:t>
            </a:r>
          </a:p>
          <a:p>
            <a:pPr algn="ctr" fontAlgn="base"/>
            <a:r>
              <a:rPr lang="en-US" b="0" i="0" dirty="0">
                <a:solidFill>
                  <a:srgbClr val="303030"/>
                </a:solidFill>
                <a:effectLst/>
                <a:latin typeface="Arimo"/>
              </a:rPr>
              <a:t>D → F</a:t>
            </a:r>
          </a:p>
          <a:p>
            <a:pPr algn="ctr" fontAlgn="base"/>
            <a:r>
              <a:rPr lang="en-US" b="0" i="0" dirty="0">
                <a:solidFill>
                  <a:srgbClr val="303030"/>
                </a:solidFill>
                <a:effectLst/>
                <a:latin typeface="Arimo"/>
              </a:rPr>
              <a:t>CF → G</a:t>
            </a:r>
          </a:p>
          <a:p>
            <a:pPr marL="0" indent="0" algn="ctr" fontAlgn="base">
              <a:buNone/>
            </a:pPr>
            <a:r>
              <a:rPr lang="en-US" b="0" i="0" dirty="0">
                <a:solidFill>
                  <a:srgbClr val="303030"/>
                </a:solidFill>
                <a:effectLst/>
                <a:latin typeface="Arimo"/>
              </a:rPr>
              <a:t> Now, let us find the closure of some attributes and attribute sets-</a:t>
            </a:r>
          </a:p>
          <a:p>
            <a:pPr marL="0" indent="0">
              <a:buNone/>
            </a:pPr>
            <a:r>
              <a:rPr lang="en-US" b="1" dirty="0"/>
              <a:t>Solution: </a:t>
            </a:r>
          </a:p>
          <a:p>
            <a:pPr marL="0" indent="0" algn="l" fontAlgn="base">
              <a:buNone/>
            </a:pPr>
            <a:r>
              <a:rPr lang="en-US" b="0" i="0" dirty="0">
                <a:solidFill>
                  <a:srgbClr val="303030"/>
                </a:solidFill>
                <a:effectLst/>
                <a:latin typeface="Arimo"/>
              </a:rPr>
              <a:t>A</a:t>
            </a:r>
            <a:r>
              <a:rPr lang="en-US" b="0" i="0" baseline="30000" dirty="0">
                <a:solidFill>
                  <a:srgbClr val="303030"/>
                </a:solidFill>
                <a:effectLst/>
                <a:latin typeface="Arimo"/>
              </a:rPr>
              <a:t>+</a:t>
            </a:r>
            <a:r>
              <a:rPr lang="en-US" b="0" i="0" dirty="0">
                <a:solidFill>
                  <a:srgbClr val="303030"/>
                </a:solidFill>
                <a:effectLst/>
                <a:latin typeface="Arimo"/>
              </a:rPr>
              <a:t> = { A }</a:t>
            </a:r>
          </a:p>
          <a:p>
            <a:pPr marL="0" indent="0" algn="l" fontAlgn="base">
              <a:buNone/>
            </a:pPr>
            <a:r>
              <a:rPr lang="en-US" b="0" i="0" dirty="0">
                <a:solidFill>
                  <a:srgbClr val="303030"/>
                </a:solidFill>
                <a:effectLst/>
                <a:latin typeface="Arimo"/>
              </a:rPr>
              <a:t>= { A , B , C } ( Using A → BC )</a:t>
            </a:r>
          </a:p>
          <a:p>
            <a:pPr marL="0" indent="0" algn="l" fontAlgn="base">
              <a:buNone/>
            </a:pPr>
            <a:r>
              <a:rPr lang="en-US" b="0" i="0" dirty="0">
                <a:solidFill>
                  <a:srgbClr val="303030"/>
                </a:solidFill>
                <a:effectLst/>
                <a:latin typeface="Arimo"/>
              </a:rPr>
              <a:t>= { A , B , C , D , E } ( Using BC → DE )</a:t>
            </a:r>
          </a:p>
          <a:p>
            <a:pPr marL="0" indent="0" algn="l" fontAlgn="base">
              <a:buNone/>
            </a:pPr>
            <a:r>
              <a:rPr lang="en-US" b="0" i="0" dirty="0">
                <a:solidFill>
                  <a:srgbClr val="303030"/>
                </a:solidFill>
                <a:effectLst/>
                <a:latin typeface="Arimo"/>
              </a:rPr>
              <a:t>= { A , B , C , D , E , F } ( Using D → F )</a:t>
            </a:r>
          </a:p>
          <a:p>
            <a:pPr marL="0" indent="0" algn="l" fontAlgn="base">
              <a:buNone/>
            </a:pPr>
            <a:r>
              <a:rPr lang="en-US" b="0" i="0" dirty="0">
                <a:solidFill>
                  <a:srgbClr val="303030"/>
                </a:solidFill>
                <a:effectLst/>
                <a:latin typeface="Arimo"/>
              </a:rPr>
              <a:t>= { A , B , C , D , E , F , G } ( Using CF → G )</a:t>
            </a:r>
          </a:p>
          <a:p>
            <a:pPr marL="0" indent="0" algn="l" fontAlgn="base">
              <a:buNone/>
            </a:pPr>
            <a:r>
              <a:rPr lang="en-US" b="0" i="0" dirty="0">
                <a:solidFill>
                  <a:srgbClr val="303030"/>
                </a:solidFill>
                <a:effectLst/>
                <a:latin typeface="Arimo"/>
              </a:rPr>
              <a:t>Thus, </a:t>
            </a:r>
          </a:p>
          <a:p>
            <a:pPr marL="0" indent="0" algn="ctr" fontAlgn="base">
              <a:buNone/>
            </a:pPr>
            <a:r>
              <a:rPr lang="en-US" b="1" i="0" dirty="0">
                <a:solidFill>
                  <a:srgbClr val="303030"/>
                </a:solidFill>
                <a:effectLst/>
                <a:latin typeface="Arimo"/>
              </a:rPr>
              <a:t>A</a:t>
            </a:r>
            <a:r>
              <a:rPr lang="en-US" b="1" i="0" baseline="30000" dirty="0">
                <a:solidFill>
                  <a:srgbClr val="303030"/>
                </a:solidFill>
                <a:effectLst/>
                <a:latin typeface="Arimo"/>
              </a:rPr>
              <a:t>+</a:t>
            </a:r>
            <a:r>
              <a:rPr lang="en-US" b="1" i="0" dirty="0">
                <a:solidFill>
                  <a:srgbClr val="303030"/>
                </a:solidFill>
                <a:effectLst/>
                <a:latin typeface="Arimo"/>
              </a:rPr>
              <a:t> = { A , B , C , D , E , F , G }</a:t>
            </a:r>
          </a:p>
          <a:p>
            <a:pPr marL="0" indent="0" algn="ctr" fontAlgn="base">
              <a:buNone/>
            </a:pPr>
            <a:r>
              <a:rPr lang="en-US" b="1" i="0" dirty="0">
                <a:solidFill>
                  <a:srgbClr val="303030"/>
                </a:solidFill>
                <a:effectLst/>
                <a:latin typeface="Arimo"/>
              </a:rPr>
              <a:t>D</a:t>
            </a:r>
            <a:r>
              <a:rPr lang="en-US" b="1" i="0" baseline="30000" dirty="0">
                <a:solidFill>
                  <a:srgbClr val="303030"/>
                </a:solidFill>
                <a:effectLst/>
                <a:latin typeface="Arimo"/>
              </a:rPr>
              <a:t>+</a:t>
            </a:r>
            <a:r>
              <a:rPr lang="en-US" b="1" i="0" dirty="0">
                <a:solidFill>
                  <a:srgbClr val="303030"/>
                </a:solidFill>
                <a:effectLst/>
                <a:latin typeface="Arimo"/>
              </a:rPr>
              <a:t> = { D , F },    { B , C }</a:t>
            </a:r>
            <a:r>
              <a:rPr lang="en-US" b="1" i="0" baseline="30000" dirty="0">
                <a:solidFill>
                  <a:srgbClr val="303030"/>
                </a:solidFill>
                <a:effectLst/>
                <a:latin typeface="Arimo"/>
              </a:rPr>
              <a:t>+</a:t>
            </a:r>
            <a:r>
              <a:rPr lang="en-US" b="1" i="0" dirty="0">
                <a:solidFill>
                  <a:srgbClr val="303030"/>
                </a:solidFill>
                <a:effectLst/>
                <a:latin typeface="Arimo"/>
              </a:rPr>
              <a:t> = { B , C , D , E , F , G }</a:t>
            </a:r>
            <a:endParaRPr lang="en-US" b="0" i="0" dirty="0">
              <a:solidFill>
                <a:srgbClr val="303030"/>
              </a:solidFill>
              <a:effectLst/>
              <a:latin typeface="Arimo"/>
            </a:endParaRPr>
          </a:p>
          <a:p>
            <a:pPr marL="0" indent="0">
              <a:buNone/>
            </a:pPr>
            <a:endParaRPr lang="en-US" b="1" dirty="0"/>
          </a:p>
        </p:txBody>
      </p:sp>
    </p:spTree>
    <p:extLst>
      <p:ext uri="{BB962C8B-B14F-4D97-AF65-F5344CB8AC3E}">
        <p14:creationId xmlns:p14="http://schemas.microsoft.com/office/powerpoint/2010/main" val="10726084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589-4EAA-49E3-07CE-074AE5781DC6}"/>
              </a:ext>
            </a:extLst>
          </p:cNvPr>
          <p:cNvSpPr>
            <a:spLocks noGrp="1"/>
          </p:cNvSpPr>
          <p:nvPr>
            <p:ph type="title"/>
          </p:nvPr>
        </p:nvSpPr>
        <p:spPr/>
        <p:txBody>
          <a:bodyPr/>
          <a:lstStyle/>
          <a:p>
            <a:r>
              <a:rPr lang="en-US" dirty="0"/>
              <a:t>Candidate Keys and Super Keys</a:t>
            </a:r>
          </a:p>
        </p:txBody>
      </p:sp>
      <p:sp>
        <p:nvSpPr>
          <p:cNvPr id="3" name="Content Placeholder 2">
            <a:extLst>
              <a:ext uri="{FF2B5EF4-FFF2-40B4-BE49-F238E27FC236}">
                <a16:creationId xmlns:a16="http://schemas.microsoft.com/office/drawing/2014/main" id="{5C4BABE0-8DE2-FA9F-6A6D-5E0E66337584}"/>
              </a:ext>
            </a:extLst>
          </p:cNvPr>
          <p:cNvSpPr>
            <a:spLocks noGrp="1"/>
          </p:cNvSpPr>
          <p:nvPr>
            <p:ph idx="1"/>
          </p:nvPr>
        </p:nvSpPr>
        <p:spPr>
          <a:xfrm>
            <a:off x="518474" y="1093788"/>
            <a:ext cx="8191893" cy="4903787"/>
          </a:xfrm>
        </p:spPr>
        <p:txBody>
          <a:bodyPr/>
          <a:lstStyle/>
          <a:p>
            <a:r>
              <a:rPr lang="en-US" b="1" dirty="0"/>
              <a:t>Candidate Key: </a:t>
            </a:r>
            <a:r>
              <a:rPr lang="en-US" dirty="0"/>
              <a:t>is a minimal set of attributes of a relation which can be used to identify a tuple uniquely.</a:t>
            </a:r>
          </a:p>
          <a:p>
            <a:r>
              <a:rPr lang="en-US" b="1" dirty="0"/>
              <a:t>Super Key: </a:t>
            </a:r>
            <a:r>
              <a:rPr lang="en-US" dirty="0"/>
              <a:t>is a set of attributes of a relation which can be used to identify a tuple uniquely. </a:t>
            </a:r>
          </a:p>
          <a:p>
            <a:r>
              <a:rPr lang="en-US" dirty="0"/>
              <a:t>A candidate key is always a super key but not vice versa.</a:t>
            </a:r>
          </a:p>
          <a:p>
            <a:r>
              <a:rPr lang="en-US" dirty="0"/>
              <a:t>The set of attributes whose attribute closure is set of all attributes of relation is called super key of relation and if this is minimal is called candidate key.</a:t>
            </a:r>
          </a:p>
          <a:p>
            <a:endParaRPr lang="en-US" dirty="0"/>
          </a:p>
        </p:txBody>
      </p:sp>
      <p:pic>
        <p:nvPicPr>
          <p:cNvPr id="8" name="Picture 7">
            <a:extLst>
              <a:ext uri="{FF2B5EF4-FFF2-40B4-BE49-F238E27FC236}">
                <a16:creationId xmlns:a16="http://schemas.microsoft.com/office/drawing/2014/main" id="{7D8A0554-CD7F-880B-22B0-079500BFE745}"/>
              </a:ext>
            </a:extLst>
          </p:cNvPr>
          <p:cNvPicPr>
            <a:picLocks noChangeAspect="1"/>
          </p:cNvPicPr>
          <p:nvPr/>
        </p:nvPicPr>
        <p:blipFill>
          <a:blip r:embed="rId2"/>
          <a:stretch>
            <a:fillRect/>
          </a:stretch>
        </p:blipFill>
        <p:spPr>
          <a:xfrm>
            <a:off x="1100543" y="3417521"/>
            <a:ext cx="6264183" cy="1386960"/>
          </a:xfrm>
          <a:prstGeom prst="rect">
            <a:avLst/>
          </a:prstGeom>
        </p:spPr>
      </p:pic>
      <p:pic>
        <p:nvPicPr>
          <p:cNvPr id="10" name="Picture 9">
            <a:extLst>
              <a:ext uri="{FF2B5EF4-FFF2-40B4-BE49-F238E27FC236}">
                <a16:creationId xmlns:a16="http://schemas.microsoft.com/office/drawing/2014/main" id="{764E3EEC-4259-B90C-4E0F-A10AE02610FA}"/>
              </a:ext>
            </a:extLst>
          </p:cNvPr>
          <p:cNvPicPr>
            <a:picLocks noChangeAspect="1"/>
          </p:cNvPicPr>
          <p:nvPr/>
        </p:nvPicPr>
        <p:blipFill>
          <a:blip r:embed="rId3"/>
          <a:stretch>
            <a:fillRect/>
          </a:stretch>
        </p:blipFill>
        <p:spPr>
          <a:xfrm>
            <a:off x="5912990" y="4344813"/>
            <a:ext cx="2903472" cy="2019475"/>
          </a:xfrm>
          <a:prstGeom prst="rect">
            <a:avLst/>
          </a:prstGeom>
        </p:spPr>
      </p:pic>
      <p:sp>
        <p:nvSpPr>
          <p:cNvPr id="12" name="TextBox 11">
            <a:extLst>
              <a:ext uri="{FF2B5EF4-FFF2-40B4-BE49-F238E27FC236}">
                <a16:creationId xmlns:a16="http://schemas.microsoft.com/office/drawing/2014/main" id="{B21DCEC2-209F-743F-DA14-B25E5DF1C11C}"/>
              </a:ext>
            </a:extLst>
          </p:cNvPr>
          <p:cNvSpPr txBox="1"/>
          <p:nvPr/>
        </p:nvSpPr>
        <p:spPr>
          <a:xfrm>
            <a:off x="1220767" y="5443261"/>
            <a:ext cx="4572000" cy="830997"/>
          </a:xfrm>
          <a:prstGeom prst="rect">
            <a:avLst/>
          </a:prstGeom>
          <a:noFill/>
        </p:spPr>
        <p:txBody>
          <a:bodyPr wrap="square">
            <a:spAutoFit/>
          </a:bodyPr>
          <a:lstStyle/>
          <a:p>
            <a:r>
              <a:rPr lang="en-US" dirty="0"/>
              <a:t>Therefore </a:t>
            </a:r>
            <a:r>
              <a:rPr lang="en-US" dirty="0" err="1"/>
              <a:t>wx</a:t>
            </a:r>
            <a:r>
              <a:rPr lang="en-US" dirty="0"/>
              <a:t>, </a:t>
            </a:r>
            <a:r>
              <a:rPr lang="en-US" dirty="0" err="1"/>
              <a:t>wz</a:t>
            </a:r>
            <a:r>
              <a:rPr lang="en-US" dirty="0"/>
              <a:t>, </a:t>
            </a:r>
            <a:r>
              <a:rPr lang="en-US" dirty="0" err="1"/>
              <a:t>xy</a:t>
            </a:r>
            <a:r>
              <a:rPr lang="en-US" dirty="0"/>
              <a:t>, </a:t>
            </a:r>
            <a:r>
              <a:rPr lang="en-US" dirty="0" err="1"/>
              <a:t>yz</a:t>
            </a:r>
            <a:r>
              <a:rPr lang="en-US" dirty="0"/>
              <a:t> are the candidate keys in this relation because the closure of these have all the attributes of relation.</a:t>
            </a:r>
          </a:p>
        </p:txBody>
      </p:sp>
    </p:spTree>
    <p:extLst>
      <p:ext uri="{BB962C8B-B14F-4D97-AF65-F5344CB8AC3E}">
        <p14:creationId xmlns:p14="http://schemas.microsoft.com/office/powerpoint/2010/main" val="21187045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2ABF8-AB6C-3769-EA1E-251E254E7EC1}"/>
              </a:ext>
            </a:extLst>
          </p:cNvPr>
          <p:cNvSpPr>
            <a:spLocks noGrp="1"/>
          </p:cNvSpPr>
          <p:nvPr>
            <p:ph type="title"/>
          </p:nvPr>
        </p:nvSpPr>
        <p:spPr/>
        <p:txBody>
          <a:bodyPr/>
          <a:lstStyle/>
          <a:p>
            <a:r>
              <a:rPr lang="en-US" dirty="0"/>
              <a:t>Candidate Keys and Super Keys</a:t>
            </a:r>
          </a:p>
        </p:txBody>
      </p:sp>
      <p:sp>
        <p:nvSpPr>
          <p:cNvPr id="3" name="Content Placeholder 2">
            <a:extLst>
              <a:ext uri="{FF2B5EF4-FFF2-40B4-BE49-F238E27FC236}">
                <a16:creationId xmlns:a16="http://schemas.microsoft.com/office/drawing/2014/main" id="{038FA8C0-3AC2-22AC-1A49-51628EE28755}"/>
              </a:ext>
            </a:extLst>
          </p:cNvPr>
          <p:cNvSpPr>
            <a:spLocks noGrp="1"/>
          </p:cNvSpPr>
          <p:nvPr>
            <p:ph idx="1"/>
          </p:nvPr>
        </p:nvSpPr>
        <p:spPr/>
        <p:txBody>
          <a:bodyPr/>
          <a:lstStyle/>
          <a:p>
            <a:pPr algn="just"/>
            <a:r>
              <a:rPr lang="en-US" b="0" i="0" dirty="0">
                <a:solidFill>
                  <a:srgbClr val="000000"/>
                </a:solidFill>
                <a:effectLst/>
                <a:latin typeface="Nunito" pitchFamily="2" charset="0"/>
              </a:rPr>
              <a:t>Q. R(A,B,C,D,E,F) WHERE F:A-&gt;BC, B-&gt;D, C-&gt;DE, BC-&gt;F. Then, find the candidate keys of R.</a:t>
            </a:r>
          </a:p>
          <a:p>
            <a:pPr algn="l"/>
            <a:r>
              <a:rPr lang="en-US" b="0" i="0" dirty="0">
                <a:solidFill>
                  <a:srgbClr val="000000"/>
                </a:solidFill>
                <a:effectLst/>
                <a:latin typeface="Heebo" pitchFamily="2" charset="-79"/>
                <a:cs typeface="Heebo" pitchFamily="2" charset="-79"/>
              </a:rPr>
              <a:t>Solution: </a:t>
            </a:r>
          </a:p>
          <a:p>
            <a:pPr lvl="1" algn="just"/>
            <a:r>
              <a:rPr lang="en-US" b="0" i="0" dirty="0">
                <a:solidFill>
                  <a:srgbClr val="000000"/>
                </a:solidFill>
                <a:effectLst/>
                <a:latin typeface="Nunito" pitchFamily="2" charset="0"/>
              </a:rPr>
              <a:t>A</a:t>
            </a:r>
            <a:r>
              <a:rPr lang="en-US" b="0" i="0" baseline="30000" dirty="0">
                <a:solidFill>
                  <a:srgbClr val="000000"/>
                </a:solidFill>
                <a:effectLst/>
                <a:latin typeface="Nunito" pitchFamily="2" charset="0"/>
              </a:rPr>
              <a:t>+</a:t>
            </a:r>
            <a:r>
              <a:rPr lang="en-US" b="0" i="0" dirty="0">
                <a:solidFill>
                  <a:srgbClr val="000000"/>
                </a:solidFill>
                <a:effectLst/>
                <a:latin typeface="Nunito" pitchFamily="2" charset="0"/>
              </a:rPr>
              <a:t>= {A,B,C,D,E,F}={R}=&gt;A is a candidate key</a:t>
            </a:r>
          </a:p>
          <a:p>
            <a:pPr lvl="1" algn="just"/>
            <a:r>
              <a:rPr lang="en-US" b="0" i="0" dirty="0">
                <a:solidFill>
                  <a:srgbClr val="000000"/>
                </a:solidFill>
                <a:effectLst/>
                <a:latin typeface="Nunito" pitchFamily="2" charset="0"/>
              </a:rPr>
              <a:t>B</a:t>
            </a:r>
            <a:r>
              <a:rPr lang="en-US" b="0" i="0" baseline="30000" dirty="0">
                <a:solidFill>
                  <a:srgbClr val="000000"/>
                </a:solidFill>
                <a:effectLst/>
                <a:latin typeface="Nunito" pitchFamily="2" charset="0"/>
              </a:rPr>
              <a:t>+</a:t>
            </a:r>
            <a:r>
              <a:rPr lang="en-US" b="0" i="0" dirty="0">
                <a:solidFill>
                  <a:srgbClr val="000000"/>
                </a:solidFill>
                <a:effectLst/>
                <a:latin typeface="Nunito" pitchFamily="2" charset="0"/>
              </a:rPr>
              <a:t>= {B,D} =&gt; B is not a candidate key</a:t>
            </a:r>
          </a:p>
          <a:p>
            <a:pPr lvl="1" algn="just"/>
            <a:r>
              <a:rPr lang="en-US" b="0" i="0" dirty="0">
                <a:solidFill>
                  <a:srgbClr val="000000"/>
                </a:solidFill>
                <a:effectLst/>
                <a:latin typeface="Nunito" pitchFamily="2" charset="0"/>
              </a:rPr>
              <a:t>C</a:t>
            </a:r>
            <a:r>
              <a:rPr lang="en-US" b="0" i="0" baseline="30000" dirty="0">
                <a:solidFill>
                  <a:srgbClr val="000000"/>
                </a:solidFill>
                <a:effectLst/>
                <a:latin typeface="Nunito" pitchFamily="2" charset="0"/>
              </a:rPr>
              <a:t>+</a:t>
            </a:r>
            <a:r>
              <a:rPr lang="en-US" b="0" i="0" dirty="0">
                <a:solidFill>
                  <a:srgbClr val="000000"/>
                </a:solidFill>
                <a:effectLst/>
                <a:latin typeface="Nunito" pitchFamily="2" charset="0"/>
              </a:rPr>
              <a:t>= {C,D,E} =&gt; C is not a candidate key</a:t>
            </a:r>
          </a:p>
          <a:p>
            <a:pPr lvl="1" algn="just"/>
            <a:r>
              <a:rPr lang="en-US" b="0" i="0" dirty="0">
                <a:solidFill>
                  <a:srgbClr val="000000"/>
                </a:solidFill>
                <a:effectLst/>
                <a:latin typeface="Nunito" pitchFamily="2" charset="0"/>
              </a:rPr>
              <a:t>BC</a:t>
            </a:r>
            <a:r>
              <a:rPr lang="en-US" b="0" i="0" baseline="30000" dirty="0">
                <a:solidFill>
                  <a:srgbClr val="000000"/>
                </a:solidFill>
                <a:effectLst/>
                <a:latin typeface="Nunito" pitchFamily="2" charset="0"/>
              </a:rPr>
              <a:t>+</a:t>
            </a:r>
            <a:r>
              <a:rPr lang="en-US" b="0" i="0" dirty="0">
                <a:solidFill>
                  <a:srgbClr val="000000"/>
                </a:solidFill>
                <a:effectLst/>
                <a:latin typeface="Nunito" pitchFamily="2" charset="0"/>
              </a:rPr>
              <a:t>= {B,C,D,E,F} =&gt; BC is not a candidate key</a:t>
            </a:r>
          </a:p>
          <a:p>
            <a:pPr lvl="1" algn="just"/>
            <a:r>
              <a:rPr lang="en-US" b="0" i="0" dirty="0">
                <a:solidFill>
                  <a:srgbClr val="000000"/>
                </a:solidFill>
                <a:effectLst/>
                <a:latin typeface="Nunito" pitchFamily="2" charset="0"/>
              </a:rPr>
              <a:t>Closure of F (F+): F+ is the set of all FDs that can be inferred/ derived from F. Using Armstrong Axioms repeatedly on F, we can compute all the FDs.</a:t>
            </a:r>
          </a:p>
          <a:p>
            <a:pPr marL="457200" lvl="1" indent="0" algn="just">
              <a:buNone/>
            </a:pPr>
            <a:endParaRPr lang="en-US" b="0" i="0" dirty="0">
              <a:solidFill>
                <a:srgbClr val="000000"/>
              </a:solidFill>
              <a:effectLst/>
              <a:latin typeface="Nunito" pitchFamily="2" charset="0"/>
            </a:endParaRPr>
          </a:p>
          <a:p>
            <a:endParaRPr lang="en-US" dirty="0"/>
          </a:p>
        </p:txBody>
      </p:sp>
    </p:spTree>
    <p:extLst>
      <p:ext uri="{BB962C8B-B14F-4D97-AF65-F5344CB8AC3E}">
        <p14:creationId xmlns:p14="http://schemas.microsoft.com/office/powerpoint/2010/main" val="35197190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15324-4ABF-EA47-8F6F-8446D6506DCF}"/>
              </a:ext>
            </a:extLst>
          </p:cNvPr>
          <p:cNvSpPr>
            <a:spLocks noGrp="1"/>
          </p:cNvSpPr>
          <p:nvPr>
            <p:ph type="title"/>
          </p:nvPr>
        </p:nvSpPr>
        <p:spPr/>
        <p:txBody>
          <a:bodyPr/>
          <a:lstStyle/>
          <a:p>
            <a:endParaRPr lang="en-US"/>
          </a:p>
        </p:txBody>
      </p:sp>
      <p:pic>
        <p:nvPicPr>
          <p:cNvPr id="5" name="Picture 4">
            <a:extLst>
              <a:ext uri="{FF2B5EF4-FFF2-40B4-BE49-F238E27FC236}">
                <a16:creationId xmlns:a16="http://schemas.microsoft.com/office/drawing/2014/main" id="{DE4B477C-BE99-02A6-240D-D7FEA72084DA}"/>
              </a:ext>
            </a:extLst>
          </p:cNvPr>
          <p:cNvPicPr>
            <a:picLocks noChangeAspect="1"/>
          </p:cNvPicPr>
          <p:nvPr/>
        </p:nvPicPr>
        <p:blipFill>
          <a:blip r:embed="rId2"/>
          <a:stretch>
            <a:fillRect/>
          </a:stretch>
        </p:blipFill>
        <p:spPr>
          <a:xfrm>
            <a:off x="855249" y="1043487"/>
            <a:ext cx="6302286" cy="3311697"/>
          </a:xfrm>
          <a:prstGeom prst="rect">
            <a:avLst/>
          </a:prstGeom>
        </p:spPr>
      </p:pic>
      <p:pic>
        <p:nvPicPr>
          <p:cNvPr id="7" name="Picture 6">
            <a:extLst>
              <a:ext uri="{FF2B5EF4-FFF2-40B4-BE49-F238E27FC236}">
                <a16:creationId xmlns:a16="http://schemas.microsoft.com/office/drawing/2014/main" id="{3A96EADF-43F3-CE28-188C-C3892A0CA008}"/>
              </a:ext>
            </a:extLst>
          </p:cNvPr>
          <p:cNvPicPr>
            <a:picLocks noChangeAspect="1"/>
          </p:cNvPicPr>
          <p:nvPr/>
        </p:nvPicPr>
        <p:blipFill>
          <a:blip r:embed="rId3"/>
          <a:stretch>
            <a:fillRect/>
          </a:stretch>
        </p:blipFill>
        <p:spPr>
          <a:xfrm>
            <a:off x="1006276" y="4512868"/>
            <a:ext cx="6264183" cy="2095682"/>
          </a:xfrm>
          <a:prstGeom prst="rect">
            <a:avLst/>
          </a:prstGeom>
        </p:spPr>
      </p:pic>
    </p:spTree>
    <p:extLst>
      <p:ext uri="{BB962C8B-B14F-4D97-AF65-F5344CB8AC3E}">
        <p14:creationId xmlns:p14="http://schemas.microsoft.com/office/powerpoint/2010/main" val="37916125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C4973-712C-E6CB-DA28-FFD944F4EA9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4B0ADEB-32C6-215D-71F6-6D03425059E8}"/>
              </a:ext>
            </a:extLst>
          </p:cNvPr>
          <p:cNvSpPr>
            <a:spLocks noGrp="1"/>
          </p:cNvSpPr>
          <p:nvPr>
            <p:ph idx="1"/>
          </p:nvPr>
        </p:nvSpPr>
        <p:spPr/>
        <p:txBody>
          <a:bodyPr/>
          <a:lstStyle/>
          <a:p>
            <a:r>
              <a:rPr lang="it-IT" b="1" i="0" dirty="0">
                <a:solidFill>
                  <a:srgbClr val="273239"/>
                </a:solidFill>
                <a:effectLst/>
                <a:latin typeface="urw-din"/>
              </a:rPr>
              <a:t>Q. FD = {E-ID-&gt;E-NAME, E-ID-&gt;E-CITY, E-ID-&gt;E-STATE, E-CITY-&gt;E-STATE}</a:t>
            </a:r>
            <a:r>
              <a:rPr lang="it-IT" b="0" i="0" dirty="0">
                <a:solidFill>
                  <a:srgbClr val="273239"/>
                </a:solidFill>
                <a:effectLst/>
                <a:latin typeface="urw-din"/>
              </a:rPr>
              <a:t> </a:t>
            </a:r>
          </a:p>
          <a:p>
            <a:pPr lvl="1"/>
            <a:r>
              <a:rPr lang="en-US" dirty="0"/>
              <a:t>(E-ID)+ = {E-ID, E-NAME,E-CITY,E-STATE}</a:t>
            </a:r>
          </a:p>
          <a:p>
            <a:pPr lvl="1"/>
            <a:r>
              <a:rPr lang="en-US" dirty="0"/>
              <a:t>(E-ID,E-NAME)+ = {E-ID, E-NAME,E-CITY,E-STATE}</a:t>
            </a:r>
          </a:p>
          <a:p>
            <a:pPr lvl="1"/>
            <a:r>
              <a:rPr lang="en-US" dirty="0"/>
              <a:t>(E-ID,E-CITY)+ = {E-ID, E-NAME,E-CITY,E-STATE}</a:t>
            </a:r>
          </a:p>
          <a:p>
            <a:pPr lvl="1"/>
            <a:r>
              <a:rPr lang="en-US" dirty="0"/>
              <a:t>(E-ID,E-STATE)+ = {E-ID, E-NAME,E-CITY,E-STATE}</a:t>
            </a:r>
          </a:p>
          <a:p>
            <a:pPr lvl="1"/>
            <a:r>
              <a:rPr lang="en-US" dirty="0"/>
              <a:t>(E-ID,E-CITY,E-STATE)+ = {E-ID, E-NAME,E-CITY,E-STATE}</a:t>
            </a:r>
          </a:p>
          <a:p>
            <a:pPr lvl="1"/>
            <a:r>
              <a:rPr lang="en-US" dirty="0"/>
              <a:t>(E-NAME)+ = {E-NAME}</a:t>
            </a:r>
          </a:p>
          <a:p>
            <a:pPr lvl="1"/>
            <a:r>
              <a:rPr lang="en-US" dirty="0"/>
              <a:t>(E-CITY)+ = {E-CITY,E-STATE}</a:t>
            </a:r>
          </a:p>
          <a:p>
            <a:r>
              <a:rPr lang="en-US" b="0" i="0" dirty="0">
                <a:solidFill>
                  <a:srgbClr val="273239"/>
                </a:solidFill>
                <a:effectLst/>
                <a:latin typeface="urw-din"/>
              </a:rPr>
              <a:t>As (E-ID)</a:t>
            </a:r>
            <a:r>
              <a:rPr lang="en-US" b="0" i="0" baseline="30000" dirty="0">
                <a:solidFill>
                  <a:srgbClr val="273239"/>
                </a:solidFill>
                <a:effectLst/>
                <a:latin typeface="urw-din"/>
              </a:rPr>
              <a:t>+</a:t>
            </a:r>
            <a:r>
              <a:rPr lang="en-US" b="0" i="0" dirty="0">
                <a:solidFill>
                  <a:srgbClr val="273239"/>
                </a:solidFill>
                <a:effectLst/>
                <a:latin typeface="urw-din"/>
              </a:rPr>
              <a:t>, (E-ID, E-NAME)</a:t>
            </a:r>
            <a:r>
              <a:rPr lang="en-US" b="0" i="0" baseline="30000" dirty="0">
                <a:solidFill>
                  <a:srgbClr val="273239"/>
                </a:solidFill>
                <a:effectLst/>
                <a:latin typeface="urw-din"/>
              </a:rPr>
              <a:t>+</a:t>
            </a:r>
            <a:r>
              <a:rPr lang="en-US" b="0" i="0" dirty="0">
                <a:solidFill>
                  <a:srgbClr val="273239"/>
                </a:solidFill>
                <a:effectLst/>
                <a:latin typeface="urw-din"/>
              </a:rPr>
              <a:t>, (E-ID, E-CITY)</a:t>
            </a:r>
            <a:r>
              <a:rPr lang="en-US" b="0" i="0" baseline="30000" dirty="0">
                <a:solidFill>
                  <a:srgbClr val="273239"/>
                </a:solidFill>
                <a:effectLst/>
                <a:latin typeface="urw-din"/>
              </a:rPr>
              <a:t>+</a:t>
            </a:r>
            <a:r>
              <a:rPr lang="en-US" b="0" i="0" dirty="0">
                <a:solidFill>
                  <a:srgbClr val="273239"/>
                </a:solidFill>
                <a:effectLst/>
                <a:latin typeface="urw-din"/>
              </a:rPr>
              <a:t>, (E-ID, E-STATE)</a:t>
            </a:r>
            <a:r>
              <a:rPr lang="en-US" b="0" i="0" baseline="30000" dirty="0">
                <a:solidFill>
                  <a:srgbClr val="273239"/>
                </a:solidFill>
                <a:effectLst/>
                <a:latin typeface="urw-din"/>
              </a:rPr>
              <a:t>+</a:t>
            </a:r>
            <a:r>
              <a:rPr lang="en-US" b="0" i="0" dirty="0">
                <a:solidFill>
                  <a:srgbClr val="273239"/>
                </a:solidFill>
                <a:effectLst/>
                <a:latin typeface="urw-din"/>
              </a:rPr>
              <a:t>, (E-ID, E-CITY, E-STATE)</a:t>
            </a:r>
            <a:r>
              <a:rPr lang="en-US" b="0" i="0" baseline="30000" dirty="0">
                <a:solidFill>
                  <a:srgbClr val="273239"/>
                </a:solidFill>
                <a:effectLst/>
                <a:latin typeface="urw-din"/>
              </a:rPr>
              <a:t>+</a:t>
            </a:r>
            <a:r>
              <a:rPr lang="en-US" b="0" i="0" dirty="0">
                <a:solidFill>
                  <a:srgbClr val="273239"/>
                </a:solidFill>
                <a:effectLst/>
                <a:latin typeface="urw-din"/>
              </a:rPr>
              <a:t> give set of all attributes of relation EMPLOYEE. So all of these are super keys of relation. </a:t>
            </a:r>
          </a:p>
          <a:p>
            <a:r>
              <a:rPr lang="en-US" b="0" i="0" dirty="0">
                <a:solidFill>
                  <a:srgbClr val="273239"/>
                </a:solidFill>
                <a:effectLst/>
                <a:latin typeface="urw-din"/>
              </a:rPr>
              <a:t>The </a:t>
            </a:r>
            <a:r>
              <a:rPr lang="en-US" b="1" i="0" dirty="0">
                <a:solidFill>
                  <a:srgbClr val="273239"/>
                </a:solidFill>
                <a:effectLst/>
                <a:latin typeface="urw-din"/>
              </a:rPr>
              <a:t>minimal set of attributes</a:t>
            </a:r>
            <a:r>
              <a:rPr lang="en-US" b="0" i="0" dirty="0">
                <a:solidFill>
                  <a:srgbClr val="273239"/>
                </a:solidFill>
                <a:effectLst/>
                <a:latin typeface="urw-din"/>
              </a:rPr>
              <a:t> whose attribute closure is set of all attributes of relation is called candidate key of relation. As shown above, (E-ID)</a:t>
            </a:r>
            <a:r>
              <a:rPr lang="en-US" b="0" i="0" baseline="30000" dirty="0">
                <a:solidFill>
                  <a:srgbClr val="273239"/>
                </a:solidFill>
                <a:effectLst/>
                <a:latin typeface="urw-din"/>
              </a:rPr>
              <a:t>+</a:t>
            </a:r>
            <a:r>
              <a:rPr lang="en-US" b="0" i="0" dirty="0">
                <a:solidFill>
                  <a:srgbClr val="273239"/>
                </a:solidFill>
                <a:effectLst/>
                <a:latin typeface="urw-din"/>
              </a:rPr>
              <a:t> is set of all attributes of relation and it is minimal. So E-ID will be candidate key. On the other hand (E-ID, E-NAME)</a:t>
            </a:r>
            <a:r>
              <a:rPr lang="en-US" b="0" i="0" baseline="30000" dirty="0">
                <a:solidFill>
                  <a:srgbClr val="273239"/>
                </a:solidFill>
                <a:effectLst/>
                <a:latin typeface="urw-din"/>
              </a:rPr>
              <a:t>+</a:t>
            </a:r>
            <a:r>
              <a:rPr lang="en-US" b="0" i="0" dirty="0">
                <a:solidFill>
                  <a:srgbClr val="273239"/>
                </a:solidFill>
                <a:effectLst/>
                <a:latin typeface="urw-din"/>
              </a:rPr>
              <a:t> also is set of all attributes but it is not minimal because its subset (E-ID)</a:t>
            </a:r>
            <a:r>
              <a:rPr lang="en-US" b="0" i="0" baseline="30000" dirty="0">
                <a:solidFill>
                  <a:srgbClr val="273239"/>
                </a:solidFill>
                <a:effectLst/>
                <a:latin typeface="urw-din"/>
              </a:rPr>
              <a:t>+</a:t>
            </a:r>
            <a:r>
              <a:rPr lang="en-US" b="0" i="0" dirty="0">
                <a:solidFill>
                  <a:srgbClr val="273239"/>
                </a:solidFill>
                <a:effectLst/>
                <a:latin typeface="urw-din"/>
              </a:rPr>
              <a:t> is equal to set of all attributes. So (E-ID, E-NAME) is not a candidate key.</a:t>
            </a:r>
            <a:endParaRPr lang="en-US" dirty="0"/>
          </a:p>
        </p:txBody>
      </p:sp>
    </p:spTree>
    <p:extLst>
      <p:ext uri="{BB962C8B-B14F-4D97-AF65-F5344CB8AC3E}">
        <p14:creationId xmlns:p14="http://schemas.microsoft.com/office/powerpoint/2010/main" val="2439103312"/>
      </p:ext>
    </p:extLst>
  </p:cSld>
  <p:clrMapOvr>
    <a:masterClrMapping/>
  </p:clrMapOvr>
</p:sld>
</file>

<file path=ppt/theme/theme1.xml><?xml version="1.0" encoding="utf-8"?>
<a:theme xmlns:a="http://schemas.openxmlformats.org/drawingml/2006/main" name="2_db-5-grey">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2_db-5-grey">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lnDef>
  </a:objectDefaults>
  <a:extraClrSchemeLst>
    <a:extraClrScheme>
      <a:clrScheme name="2_db-5-grey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DB6</Template>
  <TotalTime>96310</TotalTime>
  <Words>3592</Words>
  <Application>Microsoft Office PowerPoint</Application>
  <PresentationFormat>On-screen Show (4:3)</PresentationFormat>
  <Paragraphs>280</Paragraphs>
  <Slides>34</Slides>
  <Notes>13</Notes>
  <HiddenSlides>1</HiddenSlides>
  <MMClips>0</MMClips>
  <ScaleCrop>false</ScaleCrop>
  <HeadingPairs>
    <vt:vector size="8" baseType="variant">
      <vt:variant>
        <vt:lpstr>Fonts Used</vt:lpstr>
      </vt:variant>
      <vt:variant>
        <vt:i4>12</vt:i4>
      </vt:variant>
      <vt:variant>
        <vt:lpstr>Theme</vt:lpstr>
      </vt:variant>
      <vt:variant>
        <vt:i4>1</vt:i4>
      </vt:variant>
      <vt:variant>
        <vt:lpstr>Slide Titles</vt:lpstr>
      </vt:variant>
      <vt:variant>
        <vt:i4>34</vt:i4>
      </vt:variant>
      <vt:variant>
        <vt:lpstr>Custom Shows</vt:lpstr>
      </vt:variant>
      <vt:variant>
        <vt:i4>1</vt:i4>
      </vt:variant>
    </vt:vector>
  </HeadingPairs>
  <TitlesOfParts>
    <vt:vector size="48" baseType="lpstr">
      <vt:lpstr>24</vt:lpstr>
      <vt:lpstr>Arial</vt:lpstr>
      <vt:lpstr>Arimo</vt:lpstr>
      <vt:lpstr>Heebo</vt:lpstr>
      <vt:lpstr>Helvetica</vt:lpstr>
      <vt:lpstr>Monotype Sorts</vt:lpstr>
      <vt:lpstr>Nunito</vt:lpstr>
      <vt:lpstr>Times</vt:lpstr>
      <vt:lpstr>Times New Roman</vt:lpstr>
      <vt:lpstr>urw-din</vt:lpstr>
      <vt:lpstr>Webdings</vt:lpstr>
      <vt:lpstr>Wingdings</vt:lpstr>
      <vt:lpstr>2_db-5-grey</vt:lpstr>
      <vt:lpstr>Chapter 7:  Normalization</vt:lpstr>
      <vt:lpstr>PowerPoint Presentation</vt:lpstr>
      <vt:lpstr>Problems Without Normalization (Example 1)</vt:lpstr>
      <vt:lpstr>Example 1</vt:lpstr>
      <vt:lpstr>Example 2</vt:lpstr>
      <vt:lpstr>Example 2</vt:lpstr>
      <vt:lpstr>Idea of Decomposition</vt:lpstr>
      <vt:lpstr>Decomposition</vt:lpstr>
      <vt:lpstr>A Lossy Decomposition</vt:lpstr>
      <vt:lpstr>Lossless Decomposition</vt:lpstr>
      <vt:lpstr>Example of Lossless Decomposition </vt:lpstr>
      <vt:lpstr>Normalization</vt:lpstr>
      <vt:lpstr>What are Anomalies</vt:lpstr>
      <vt:lpstr>Functional Dependencies Definition </vt:lpstr>
      <vt:lpstr>Functional Dependencies</vt:lpstr>
      <vt:lpstr>Functional Dependencies</vt:lpstr>
      <vt:lpstr>Functional Dependencies </vt:lpstr>
      <vt:lpstr>Functional Dependencies-  From the  previous example</vt:lpstr>
      <vt:lpstr>Use of Functional Dependencies</vt:lpstr>
      <vt:lpstr>Armstrong’s axioms/properties of functional dependencies:</vt:lpstr>
      <vt:lpstr>Types of Functional dependencies in DBMS:</vt:lpstr>
      <vt:lpstr>Trivial Functional Dependencies</vt:lpstr>
      <vt:lpstr>Non Trivial Functional Dependency</vt:lpstr>
      <vt:lpstr>Multivalued Functional Dependency</vt:lpstr>
      <vt:lpstr>Transitive Functional Dependency</vt:lpstr>
      <vt:lpstr>Full dependencies</vt:lpstr>
      <vt:lpstr>Partial dependencies</vt:lpstr>
      <vt:lpstr>Attribute Closure</vt:lpstr>
      <vt:lpstr>Attribute Closure</vt:lpstr>
      <vt:lpstr>Attribute Closure</vt:lpstr>
      <vt:lpstr>Candidate Keys and Super Keys</vt:lpstr>
      <vt:lpstr>Candidate Keys and Super Keys</vt:lpstr>
      <vt:lpstr>PowerPoint Presentation</vt:lpstr>
      <vt:lpstr>PowerPoint Presentation</vt:lpstr>
      <vt:lpstr>Custom Show 1</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7:  Relational Database Design</dc:title>
  <dc:creator>Marilyn Turnamian</dc:creator>
  <cp:lastModifiedBy>Mohd. Aquib Ansari</cp:lastModifiedBy>
  <cp:revision>490</cp:revision>
  <cp:lastPrinted>1999-06-28T19:27:31Z</cp:lastPrinted>
  <dcterms:created xsi:type="dcterms:W3CDTF">2009-12-21T15:40:22Z</dcterms:created>
  <dcterms:modified xsi:type="dcterms:W3CDTF">2022-10-13T11:51:07Z</dcterms:modified>
</cp:coreProperties>
</file>