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42"/>
  </p:notesMasterIdLst>
  <p:handoutMasterIdLst>
    <p:handoutMasterId r:id="rId43"/>
  </p:handoutMasterIdLst>
  <p:sldIdLst>
    <p:sldId id="403" r:id="rId2"/>
    <p:sldId id="448" r:id="rId3"/>
    <p:sldId id="488" r:id="rId4"/>
    <p:sldId id="413" r:id="rId5"/>
    <p:sldId id="449" r:id="rId6"/>
    <p:sldId id="445" r:id="rId7"/>
    <p:sldId id="450" r:id="rId8"/>
    <p:sldId id="451" r:id="rId9"/>
    <p:sldId id="452" r:id="rId10"/>
    <p:sldId id="454" r:id="rId11"/>
    <p:sldId id="455" r:id="rId12"/>
    <p:sldId id="456" r:id="rId13"/>
    <p:sldId id="457" r:id="rId14"/>
    <p:sldId id="458" r:id="rId15"/>
    <p:sldId id="459" r:id="rId16"/>
    <p:sldId id="460" r:id="rId17"/>
    <p:sldId id="461" r:id="rId18"/>
    <p:sldId id="447" r:id="rId19"/>
    <p:sldId id="462" r:id="rId20"/>
    <p:sldId id="407" r:id="rId21"/>
    <p:sldId id="483" r:id="rId22"/>
    <p:sldId id="484" r:id="rId23"/>
    <p:sldId id="485" r:id="rId24"/>
    <p:sldId id="487" r:id="rId25"/>
    <p:sldId id="489" r:id="rId26"/>
    <p:sldId id="468" r:id="rId27"/>
    <p:sldId id="469" r:id="rId28"/>
    <p:sldId id="470" r:id="rId29"/>
    <p:sldId id="408" r:id="rId30"/>
    <p:sldId id="471" r:id="rId31"/>
    <p:sldId id="472" r:id="rId32"/>
    <p:sldId id="473" r:id="rId33"/>
    <p:sldId id="475" r:id="rId34"/>
    <p:sldId id="476" r:id="rId35"/>
    <p:sldId id="477" r:id="rId36"/>
    <p:sldId id="478" r:id="rId37"/>
    <p:sldId id="479" r:id="rId38"/>
    <p:sldId id="480" r:id="rId39"/>
    <p:sldId id="409" r:id="rId40"/>
    <p:sldId id="411" r:id="rId41"/>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0000"/>
    <a:srgbClr val="677228"/>
    <a:srgbClr val="6E792B"/>
    <a:srgbClr val="76822E"/>
    <a:srgbClr val="4F571F"/>
    <a:srgbClr val="6F6A07"/>
    <a:srgbClr val="827C08"/>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84664" autoAdjust="0"/>
  </p:normalViewPr>
  <p:slideViewPr>
    <p:cSldViewPr snapToObjects="1">
      <p:cViewPr varScale="1">
        <p:scale>
          <a:sx n="72" d="100"/>
          <a:sy n="72" d="100"/>
        </p:scale>
        <p:origin x="2227" y="53"/>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2706"/>
    </p:cViewPr>
  </p:sorterViewPr>
  <p:notesViewPr>
    <p:cSldViewPr snapToObjects="1">
      <p:cViewPr>
        <p:scale>
          <a:sx n="100" d="100"/>
          <a:sy n="100" d="100"/>
        </p:scale>
        <p:origin x="-780" y="21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0419"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latin typeface="Tahoma" pitchFamily="34" charset="0"/>
                <a:ea typeface="+mn-ea"/>
                <a:cs typeface="+mn-cs"/>
              </a:defRPr>
            </a:lvl1pPr>
          </a:lstStyle>
          <a:p>
            <a:pPr>
              <a:defRPr/>
            </a:pPr>
            <a:endParaRPr lang="en-CA" dirty="0"/>
          </a:p>
        </p:txBody>
      </p:sp>
      <p:sp>
        <p:nvSpPr>
          <p:cNvPr id="60420"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0421"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1271EECE-31E1-4A23-8A4F-3405257CBF2E}" type="slidenum">
              <a:rPr lang="en-CA" altLang="en-US"/>
              <a:pPr>
                <a:defRPr/>
              </a:pPr>
              <a:t>‹#›</a:t>
            </a:fld>
            <a:endParaRPr lang="en-CA" altLang="en-US" dirty="0"/>
          </a:p>
        </p:txBody>
      </p:sp>
    </p:spTree>
    <p:extLst>
      <p:ext uri="{BB962C8B-B14F-4D97-AF65-F5344CB8AC3E}">
        <p14:creationId xmlns:p14="http://schemas.microsoft.com/office/powerpoint/2010/main" val="1152518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14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dirty="0">
                <a:latin typeface="Tahoma" pitchFamily="34" charset="0"/>
                <a:ea typeface="+mn-ea"/>
                <a:cs typeface="+mn-cs"/>
              </a:defRPr>
            </a:lvl1pPr>
          </a:lstStyle>
          <a:p>
            <a:pPr>
              <a:defRPr/>
            </a:pPr>
            <a:endParaRPr lang="en-CA" dirty="0"/>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614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dirty="0">
                <a:latin typeface="Tahoma" pitchFamily="34" charset="0"/>
                <a:ea typeface="+mn-ea"/>
                <a:cs typeface="+mn-cs"/>
              </a:defRPr>
            </a:lvl1pPr>
          </a:lstStyle>
          <a:p>
            <a:pPr>
              <a:defRPr/>
            </a:pPr>
            <a:endParaRPr lang="en-CA" dirty="0"/>
          </a:p>
        </p:txBody>
      </p:sp>
      <p:sp>
        <p:nvSpPr>
          <p:cNvPr id="614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pPr>
              <a:defRPr/>
            </a:pPr>
            <a:fld id="{436D5273-BB71-4B6D-8615-6E06E0D77921}" type="slidenum">
              <a:rPr lang="en-CA" altLang="en-US"/>
              <a:pPr>
                <a:defRPr/>
              </a:pPr>
              <a:t>‹#›</a:t>
            </a:fld>
            <a:endParaRPr lang="en-CA" altLang="en-US" dirty="0"/>
          </a:p>
        </p:txBody>
      </p:sp>
    </p:spTree>
    <p:extLst>
      <p:ext uri="{BB962C8B-B14F-4D97-AF65-F5344CB8AC3E}">
        <p14:creationId xmlns:p14="http://schemas.microsoft.com/office/powerpoint/2010/main" val="305240325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S PGothic" panose="020B0600070205080204" pitchFamily="34" charset="-128"/>
        <a:cs typeface="MS PGothic" charset="0"/>
      </a:defRPr>
    </a:lvl1pPr>
    <a:lvl2pPr marL="457200" algn="l" rtl="0" eaLnBrk="0" fontAlgn="base" hangingPunct="0">
      <a:spcBef>
        <a:spcPct val="30000"/>
      </a:spcBef>
      <a:spcAft>
        <a:spcPct val="0"/>
      </a:spcAft>
      <a:defRPr sz="1600" kern="1200">
        <a:solidFill>
          <a:schemeClr val="tx1"/>
        </a:solidFill>
        <a:latin typeface="Arial" charset="0"/>
        <a:ea typeface="MS PGothic" panose="020B0600070205080204"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eeksforgeeks.org/sql-transaction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73239"/>
                </a:solidFill>
                <a:effectLst/>
                <a:latin typeface="urw-din"/>
              </a:rPr>
              <a:t>A </a:t>
            </a:r>
            <a:r>
              <a:rPr lang="en-US" b="0" i="0" kern="1200" dirty="0">
                <a:solidFill>
                  <a:srgbClr val="273239"/>
                </a:solidFill>
                <a:effectLst/>
                <a:latin typeface="urw-din"/>
                <a:ea typeface="MS PGothic" panose="020B0600070205080204" pitchFamily="34" charset="-128"/>
                <a:hlinkClick r:id="rId3">
                  <a:extLst>
                    <a:ext uri="{A12FA001-AC4F-418D-AE19-62706E023703}">
                      <ahyp:hlinkClr xmlns:ahyp="http://schemas.microsoft.com/office/drawing/2018/hyperlinkcolor" val="tx"/>
                    </a:ext>
                  </a:extLst>
                </a:hlinkClick>
              </a:rPr>
              <a:t>transaction</a:t>
            </a:r>
            <a:r>
              <a:rPr lang="en-US" b="0" i="0" kern="1200" dirty="0">
                <a:solidFill>
                  <a:srgbClr val="273239"/>
                </a:solidFill>
                <a:effectLst/>
                <a:latin typeface="urw-din"/>
                <a:ea typeface="MS PGothic" panose="020B0600070205080204" pitchFamily="34" charset="-128"/>
              </a:rPr>
              <a:t> is a single logical unit of work that accesses and possibly modifies the contents of a database. Transactions access data using read and write operations. In order to maintain </a:t>
            </a:r>
            <a:r>
              <a:rPr lang="en-US" b="0" i="0" dirty="0">
                <a:solidFill>
                  <a:srgbClr val="273239"/>
                </a:solidFill>
                <a:effectLst/>
                <a:latin typeface="urw-din"/>
              </a:rPr>
              <a:t>consistency in a database, before and after the transaction, certain properties are followed. These are called </a:t>
            </a:r>
            <a:r>
              <a:rPr lang="en-US" b="1" i="0" dirty="0">
                <a:solidFill>
                  <a:srgbClr val="273239"/>
                </a:solidFill>
                <a:effectLst/>
                <a:latin typeface="urw-din"/>
              </a:rPr>
              <a:t>ACID</a:t>
            </a:r>
            <a:r>
              <a:rPr lang="en-US" b="0" i="0" dirty="0">
                <a:solidFill>
                  <a:srgbClr val="273239"/>
                </a:solidFill>
                <a:effectLst/>
                <a:latin typeface="urw-din"/>
              </a:rPr>
              <a:t> properties. </a:t>
            </a:r>
            <a:endParaRPr lang="en-US" b="0" i="0" dirty="0">
              <a:solidFill>
                <a:srgbClr val="000000"/>
              </a:solidFill>
              <a:effectLst/>
              <a:latin typeface="Nunito" pitchFamily="2" charset="0"/>
            </a:endParaRPr>
          </a:p>
          <a:p>
            <a:endParaRPr lang="en-US" b="0" i="0" dirty="0">
              <a:solidFill>
                <a:srgbClr val="000000"/>
              </a:solidFill>
              <a:effectLst/>
              <a:latin typeface="Nunito" pitchFamily="2" charset="0"/>
            </a:endParaRPr>
          </a:p>
          <a:p>
            <a:r>
              <a:rPr lang="en-US" b="0" i="0" dirty="0">
                <a:solidFill>
                  <a:srgbClr val="000000"/>
                </a:solidFill>
                <a:effectLst/>
                <a:latin typeface="Nunito" pitchFamily="2" charset="0"/>
              </a:rPr>
              <a:t>A transaction can be defined as a group of tasks. A single task is the minimum processing unit which cannot be divided further. A transaction is a very small unit of a program and it may contain several </a:t>
            </a:r>
            <a:r>
              <a:rPr lang="en-US" b="0" i="0" dirty="0" err="1">
                <a:solidFill>
                  <a:srgbClr val="000000"/>
                </a:solidFill>
                <a:effectLst/>
                <a:latin typeface="Nunito" pitchFamily="2" charset="0"/>
              </a:rPr>
              <a:t>lowlevel</a:t>
            </a:r>
            <a:r>
              <a:rPr lang="en-US" b="0" i="0" dirty="0">
                <a:solidFill>
                  <a:srgbClr val="000000"/>
                </a:solidFill>
                <a:effectLst/>
                <a:latin typeface="Nunito" pitchFamily="2" charset="0"/>
              </a:rPr>
              <a:t> tasks. A transaction in a database system must maintain </a:t>
            </a:r>
            <a:r>
              <a:rPr lang="en-US" b="1" i="0" dirty="0">
                <a:solidFill>
                  <a:srgbClr val="000000"/>
                </a:solidFill>
                <a:effectLst/>
                <a:latin typeface="Nunito" pitchFamily="2" charset="0"/>
              </a:rPr>
              <a:t>A</a:t>
            </a:r>
            <a:r>
              <a:rPr lang="en-US" b="0" i="0" dirty="0">
                <a:solidFill>
                  <a:srgbClr val="000000"/>
                </a:solidFill>
                <a:effectLst/>
                <a:latin typeface="Nunito" pitchFamily="2" charset="0"/>
              </a:rPr>
              <a:t>tomicity, </a:t>
            </a:r>
            <a:r>
              <a:rPr lang="en-US" b="1" i="0" dirty="0">
                <a:solidFill>
                  <a:srgbClr val="000000"/>
                </a:solidFill>
                <a:effectLst/>
                <a:latin typeface="Nunito" pitchFamily="2" charset="0"/>
              </a:rPr>
              <a:t>C</a:t>
            </a:r>
            <a:r>
              <a:rPr lang="en-US" b="0" i="0" dirty="0">
                <a:solidFill>
                  <a:srgbClr val="000000"/>
                </a:solidFill>
                <a:effectLst/>
                <a:latin typeface="Nunito" pitchFamily="2" charset="0"/>
              </a:rPr>
              <a:t>onsistency, </a:t>
            </a:r>
            <a:r>
              <a:rPr lang="en-US" b="1" i="0" dirty="0">
                <a:solidFill>
                  <a:srgbClr val="000000"/>
                </a:solidFill>
                <a:effectLst/>
                <a:latin typeface="Nunito" pitchFamily="2" charset="0"/>
              </a:rPr>
              <a:t>I</a:t>
            </a:r>
            <a:r>
              <a:rPr lang="en-US" b="0" i="0" dirty="0">
                <a:solidFill>
                  <a:srgbClr val="000000"/>
                </a:solidFill>
                <a:effectLst/>
                <a:latin typeface="Nunito" pitchFamily="2" charset="0"/>
              </a:rPr>
              <a:t>solation, and </a:t>
            </a:r>
            <a:r>
              <a:rPr lang="en-US" b="1" i="0" dirty="0">
                <a:solidFill>
                  <a:srgbClr val="000000"/>
                </a:solidFill>
                <a:effectLst/>
                <a:latin typeface="Nunito" pitchFamily="2" charset="0"/>
              </a:rPr>
              <a:t>D</a:t>
            </a:r>
            <a:r>
              <a:rPr lang="en-US" b="0" i="0" dirty="0">
                <a:solidFill>
                  <a:srgbClr val="000000"/>
                </a:solidFill>
                <a:effectLst/>
                <a:latin typeface="Nunito" pitchFamily="2" charset="0"/>
              </a:rPr>
              <a:t>urability − commonly known as ACID properties − in order to ensure accuracy, completeness, and data integrity.</a:t>
            </a:r>
          </a:p>
          <a:p>
            <a:endParaRPr lang="en-US" b="0" i="0" dirty="0">
              <a:solidFill>
                <a:srgbClr val="000000"/>
              </a:solidFill>
              <a:effectLst/>
              <a:latin typeface="Nunito" pitchFamily="2" charset="0"/>
            </a:endParaRPr>
          </a:p>
          <a:p>
            <a:pPr algn="l" fontAlgn="base"/>
            <a:r>
              <a:rPr lang="en-US" b="1" i="0" dirty="0">
                <a:solidFill>
                  <a:srgbClr val="273239"/>
                </a:solidFill>
                <a:effectLst/>
                <a:latin typeface="urw-din"/>
              </a:rPr>
              <a:t>Atomicity:</a:t>
            </a:r>
          </a:p>
          <a:p>
            <a:pPr algn="l" fontAlgn="base"/>
            <a:r>
              <a:rPr lang="en-US" b="0" i="0" dirty="0">
                <a:solidFill>
                  <a:srgbClr val="273239"/>
                </a:solidFill>
                <a:effectLst/>
                <a:latin typeface="urw-din"/>
              </a:rPr>
              <a:t>By this, we mean that either the entire transaction takes place at once or doesn’t happen at all. There is no midway i.e. transactions do not occur partially. Each transaction is considered as one unit and either runs to completion or is not executed at all. It involves the following two operations. </a:t>
            </a:r>
            <a:br>
              <a:rPr lang="en-US" b="0" i="0" dirty="0">
                <a:solidFill>
                  <a:srgbClr val="273239"/>
                </a:solidFill>
                <a:effectLst/>
                <a:latin typeface="urw-din"/>
              </a:rPr>
            </a:br>
            <a:r>
              <a:rPr lang="en-US" b="0" i="0" dirty="0">
                <a:solidFill>
                  <a:srgbClr val="273239"/>
                </a:solidFill>
                <a:effectLst/>
                <a:latin typeface="urw-din"/>
              </a:rPr>
              <a:t>—</a:t>
            </a:r>
            <a:r>
              <a:rPr lang="en-US" b="1" i="0" dirty="0">
                <a:solidFill>
                  <a:srgbClr val="273239"/>
                </a:solidFill>
                <a:effectLst/>
                <a:latin typeface="urw-din"/>
              </a:rPr>
              <a:t>Abort</a:t>
            </a:r>
            <a:r>
              <a:rPr lang="en-US" b="0" i="0" dirty="0">
                <a:solidFill>
                  <a:srgbClr val="273239"/>
                </a:solidFill>
                <a:effectLst/>
                <a:latin typeface="urw-din"/>
              </a:rPr>
              <a:t>: If a transaction aborts, changes made to the database are not visible. </a:t>
            </a:r>
            <a:br>
              <a:rPr lang="en-US" b="0" i="0" dirty="0">
                <a:solidFill>
                  <a:srgbClr val="273239"/>
                </a:solidFill>
                <a:effectLst/>
                <a:latin typeface="urw-din"/>
              </a:rPr>
            </a:br>
            <a:r>
              <a:rPr lang="en-US" b="0" i="0" dirty="0">
                <a:solidFill>
                  <a:srgbClr val="273239"/>
                </a:solidFill>
                <a:effectLst/>
                <a:latin typeface="urw-din"/>
              </a:rPr>
              <a:t>—</a:t>
            </a:r>
            <a:r>
              <a:rPr lang="en-US" b="1" i="0" dirty="0">
                <a:solidFill>
                  <a:srgbClr val="273239"/>
                </a:solidFill>
                <a:effectLst/>
                <a:latin typeface="urw-din"/>
              </a:rPr>
              <a:t>Commit</a:t>
            </a:r>
            <a:r>
              <a:rPr lang="en-US" b="0" i="0" dirty="0">
                <a:solidFill>
                  <a:srgbClr val="273239"/>
                </a:solidFill>
                <a:effectLst/>
                <a:latin typeface="urw-din"/>
              </a:rPr>
              <a:t>: If a transaction commits, changes made are visible. </a:t>
            </a:r>
            <a:br>
              <a:rPr lang="en-US" b="0" i="0" dirty="0">
                <a:solidFill>
                  <a:srgbClr val="273239"/>
                </a:solidFill>
                <a:effectLst/>
                <a:latin typeface="urw-din"/>
              </a:rPr>
            </a:br>
            <a:r>
              <a:rPr lang="en-US" b="0" i="0" dirty="0">
                <a:solidFill>
                  <a:srgbClr val="273239"/>
                </a:solidFill>
                <a:effectLst/>
                <a:latin typeface="urw-din"/>
              </a:rPr>
              <a:t>Atomicity is also known as the ‘All or nothing rule’. </a:t>
            </a:r>
          </a:p>
          <a:p>
            <a:pPr algn="l" fontAlgn="base"/>
            <a:r>
              <a:rPr lang="en-US" b="1" i="0" dirty="0">
                <a:solidFill>
                  <a:srgbClr val="273239"/>
                </a:solidFill>
                <a:effectLst/>
                <a:latin typeface="urw-din"/>
              </a:rPr>
              <a:t>Consistency:</a:t>
            </a:r>
          </a:p>
          <a:p>
            <a:pPr algn="l" fontAlgn="base"/>
            <a:r>
              <a:rPr lang="en-US" b="0" i="0" dirty="0">
                <a:solidFill>
                  <a:srgbClr val="273239"/>
                </a:solidFill>
                <a:effectLst/>
                <a:latin typeface="urw-din"/>
              </a:rPr>
              <a:t>This means that integrity constraints must be maintained so that the database is consistent before and after the transaction. It refers to the correctness of a database. Referring to the example above, </a:t>
            </a:r>
          </a:p>
          <a:p>
            <a:endParaRPr lang="en-US" b="0" i="0" dirty="0">
              <a:solidFill>
                <a:srgbClr val="000000"/>
              </a:solidFill>
              <a:effectLst/>
              <a:latin typeface="Nunito" pitchFamily="2" charset="0"/>
            </a:endParaRPr>
          </a:p>
          <a:p>
            <a:pPr algn="l" fontAlgn="base"/>
            <a:r>
              <a:rPr lang="en-US" b="1" i="0" dirty="0">
                <a:solidFill>
                  <a:srgbClr val="273239"/>
                </a:solidFill>
                <a:effectLst/>
                <a:latin typeface="urw-din"/>
              </a:rPr>
              <a:t>Isolation:</a:t>
            </a:r>
          </a:p>
          <a:p>
            <a:pPr algn="l" fontAlgn="base"/>
            <a:r>
              <a:rPr lang="en-US" b="0" i="0" dirty="0">
                <a:solidFill>
                  <a:srgbClr val="273239"/>
                </a:solidFill>
                <a:effectLst/>
                <a:latin typeface="urw-din"/>
              </a:rPr>
              <a:t>This property ensures that multiple transactions can occur concurrently without leading to the inconsistency of the database state. Transactions occur independently without interference. Changes occurring in a particular transaction will not be visible to any other transaction until that particular change in that transaction is written to memory or has been committed. This property ensures that the execution of transactions concurrently will result in a state that is equivalent to a state achieved these were executed serially in some order. </a:t>
            </a:r>
          </a:p>
          <a:p>
            <a:pPr algn="l" fontAlgn="base"/>
            <a:r>
              <a:rPr lang="en-US" b="1" i="0" dirty="0">
                <a:solidFill>
                  <a:srgbClr val="273239"/>
                </a:solidFill>
                <a:effectLst/>
                <a:latin typeface="urw-din"/>
              </a:rPr>
              <a:t>Durability: </a:t>
            </a:r>
          </a:p>
          <a:p>
            <a:pPr algn="l" fontAlgn="base"/>
            <a:r>
              <a:rPr lang="en-US" b="0" i="0" dirty="0">
                <a:solidFill>
                  <a:srgbClr val="273239"/>
                </a:solidFill>
                <a:effectLst/>
                <a:latin typeface="urw-din"/>
              </a:rPr>
              <a:t>This property ensures that once the transaction has completed execution, the updates and modifications to the database are stored in and written to disk and they persist even if a system failure occurs. These updates now become permanent and are stored in non-volatile memory. The effects of the transaction, thus, are never lost. </a:t>
            </a:r>
          </a:p>
          <a:p>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2</a:t>
            </a:fld>
            <a:endParaRPr lang="en-CA" altLang="en-US" dirty="0"/>
          </a:p>
        </p:txBody>
      </p:sp>
    </p:spTree>
    <p:extLst>
      <p:ext uri="{BB962C8B-B14F-4D97-AF65-F5344CB8AC3E}">
        <p14:creationId xmlns:p14="http://schemas.microsoft.com/office/powerpoint/2010/main" val="690704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Regular"/>
              </a:rPr>
              <a:t>There have been attempts to define the </a:t>
            </a:r>
            <a:r>
              <a:rPr lang="en-US" sz="1800" b="1" i="0" u="none" strike="noStrike" baseline="0" dirty="0">
                <a:latin typeface="Minion-Bold"/>
              </a:rPr>
              <a:t>level of isolation </a:t>
            </a:r>
            <a:r>
              <a:rPr lang="en-US" sz="1800" b="0" i="0" u="none" strike="noStrike" baseline="0" dirty="0">
                <a:latin typeface="Minion-Regular"/>
              </a:rPr>
              <a:t>of a transaction. A transaction is said to have level 0 (zero) isolation if it does not overwrite the dirty reads of higher-level transactions. Level 1 (one) isolation has no lost updates, and level 2 isolation has no lost updates and no dirty reads. Finally, level 3 isolation (also called </a:t>
            </a:r>
            <a:r>
              <a:rPr lang="en-US" sz="1800" b="0" i="1" u="none" strike="noStrike" baseline="0" dirty="0">
                <a:latin typeface="Minion-Italic"/>
              </a:rPr>
              <a:t>true isolation</a:t>
            </a:r>
            <a:r>
              <a:rPr lang="en-US" sz="1800" b="0" i="0" u="none" strike="noStrike" baseline="0" dirty="0">
                <a:latin typeface="Minion-Regular"/>
              </a:rPr>
              <a:t>) has, in addition to level 2 properties, repeatable reads.9</a:t>
            </a:r>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a:t>
            </a:fld>
            <a:endParaRPr lang="en-CA" altLang="en-US" dirty="0"/>
          </a:p>
        </p:txBody>
      </p:sp>
    </p:spTree>
    <p:extLst>
      <p:ext uri="{BB962C8B-B14F-4D97-AF65-F5344CB8AC3E}">
        <p14:creationId xmlns:p14="http://schemas.microsoft.com/office/powerpoint/2010/main" val="244684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multiprogramming operating systems execute some commands from one process, then suspend that process and execute some commands from the next process, and so on. A process is resumed at the point where it was suspended whenever it gets its turn to use the CPU again. Hence, concurrent execution of processes is actually interleaved, as illustrated in Figure 20.1, A and B, executing concurrently in an interleaved fashion. Interleaving keeps the CPU busy when a process requires an input or output (I/O) operation, such as reading a block from disk. The CPU is switched to execute another process rather than remaining idle during I/O time. Interleaving also prevents a long process from delaying other processes.</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6</a:t>
            </a:fld>
            <a:endParaRPr lang="en-CA" altLang="en-US" dirty="0"/>
          </a:p>
        </p:txBody>
      </p:sp>
    </p:spTree>
    <p:extLst>
      <p:ext uri="{BB962C8B-B14F-4D97-AF65-F5344CB8AC3E}">
        <p14:creationId xmlns:p14="http://schemas.microsoft.com/office/powerpoint/2010/main" val="4100480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an executing program that forms a logical unit of database processing. A transaction includes one or more database access operations—these can include insertion, deletion, modification, or retrieval operations. The database operations that form a transaction can either be embedded within an application program or they can be specified interactively via a high-level query language such as SQL. One way of specifying the transaction boundaries is by specifying explicit begin transaction and end transaction statements in an application program; in this case, all database access operations between the two are considered as forming one transaction. A single application program may contain more than one transaction if it contains several transaction boundaries. If the database operations in a transaction do not update the database but only retrieve data, the transaction is called a read-only transaction; otherwise it is known as a read-write transaction.</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7</a:t>
            </a:fld>
            <a:endParaRPr lang="en-CA" altLang="en-US" dirty="0"/>
          </a:p>
        </p:txBody>
      </p:sp>
    </p:spTree>
    <p:extLst>
      <p:ext uri="{BB962C8B-B14F-4D97-AF65-F5344CB8AC3E}">
        <p14:creationId xmlns:p14="http://schemas.microsoft.com/office/powerpoint/2010/main" val="19407667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model that is used to present transaction processing concepts is quite simple when compared to the data models that we discussed earlier in the book, such as the relational model or the object model. A database is basically represented as a collection of named data items. The size of a data item is called its granularity. A data item can be a database record, but it can also be a larger unit such as a whole disk block, or even a smaller unit such as an individual field (attribute) value of some record in the database. The transaction processing concepts we discuss are independent of the data item granularity (size) and apply to data items in general. Each data item has a unique name, but this name is not typically used by the programmer; rather, it is just a means to uniquely identify each data item. For example, if the data item granularity is one disk block, then the disk block address can be used as the data item name. Using this simplified database model, the basic database access operations that a transaction can include are as follows: ■ </a:t>
            </a:r>
            <a:r>
              <a:rPr lang="en-US" dirty="0" err="1"/>
              <a:t>read_item</a:t>
            </a:r>
            <a:r>
              <a:rPr lang="en-US" dirty="0"/>
              <a:t>(X). Reads a database item named X into a program variable. To simplify our notation, we assume that the program variable is also named X. ■ </a:t>
            </a:r>
            <a:r>
              <a:rPr lang="en-US" dirty="0" err="1"/>
              <a:t>write_item</a:t>
            </a:r>
            <a:r>
              <a:rPr lang="en-US" dirty="0"/>
              <a:t>(X). Writes the value of program variable X into the database item named X.</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8</a:t>
            </a:fld>
            <a:endParaRPr lang="en-CA" altLang="en-US" dirty="0"/>
          </a:p>
        </p:txBody>
      </p:sp>
    </p:spTree>
    <p:extLst>
      <p:ext uri="{BB962C8B-B14F-4D97-AF65-F5344CB8AC3E}">
        <p14:creationId xmlns:p14="http://schemas.microsoft.com/office/powerpoint/2010/main" val="2296961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problems can occur when concurrent transactions execute in an uncontrolled manner. We illustrate some of these problems by referring to a much simplified airline reservations database in which a record is stored for each airline flight. Each record includes the number of reserved seats on that flight as a named (uniquely identifiable) data item, among other information. Figure 21.2(a) shows a transaction T1 that transfers N reservations from one flight whose number of reserved seats is stored in the database item named X to another flight whose number of reserved seats is stored in the database item named Y. Figure 21.2(b) shows a simpler transaction T2 that just reserves M seats on the first flight (X) referenced in transaction T1. 2 To simplify our example, we do not show additional portions of the transactions, such as checking whether a flight has enough seats available before reserving additional seats.</a:t>
            </a:r>
          </a:p>
          <a:p>
            <a:r>
              <a:rPr lang="en-US" dirty="0"/>
              <a:t>When a database access program is written, it has the flight number, flight date, and the number of seats to be booked as parameters; hence, the same program can be used to execute many different transactions, each with a different flight number, date, and number of seats to be booked. For concurrency control purposes, a transaction is a particular execution of a program on a specific date, flight, and number of seats. In Figure 21.2(a) and (b), the transactions T1 and T2 are specific executions of the programs that refer to the specific flights whose numbers of seats are stored in data items X and Y in the database. Next we discuss the types of problems we may encounter with these two simple transactions if they run concurrently.</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10</a:t>
            </a:fld>
            <a:endParaRPr lang="en-CA" altLang="en-US" dirty="0"/>
          </a:p>
        </p:txBody>
      </p:sp>
    </p:spTree>
    <p:extLst>
      <p:ext uri="{BB962C8B-B14F-4D97-AF65-F5344CB8AC3E}">
        <p14:creationId xmlns:p14="http://schemas.microsoft.com/office/powerpoint/2010/main" val="2015006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that transactions T1 and T2 are submitted at approximately the same time, and suppose that their operations are interleaved as shown in Figure 21.3(a); then the final value of item X is incorrect because T2 reads the value of X before T1 changes it in the database, and hence the updated value resulting from T1 is lost. For example, if X = 80 at the start (originally there were 80 reservations on the flight), N = 5 (T1 transfers 5 seat reservations from the flight corresponding to X to the flight corresponding to Y), and M = 4 (T2 reserves 4 seats on X), the final result should be X = 79. However, in the interleaving of operations shown in Figure 21.3(a), it is X = 84 because the update in T1 that removed the five seats from X was lost.</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12</a:t>
            </a:fld>
            <a:endParaRPr lang="en-CA" altLang="en-US" dirty="0"/>
          </a:p>
        </p:txBody>
      </p:sp>
    </p:spTree>
    <p:extLst>
      <p:ext uri="{BB962C8B-B14F-4D97-AF65-F5344CB8AC3E}">
        <p14:creationId xmlns:p14="http://schemas.microsoft.com/office/powerpoint/2010/main" val="1200141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problem occurs when one transaction updates a database item and then the transaction fails for some reason (see Section 21.1.4). Meanwhile, the updated item is accessed (read) by another transaction before it is changed back to its original value. Figure 21.3(b) shows an example where T1 updates item X and then fails before completion, so the system must change X back to its original value. Before it can do so, however, transaction T2 reads the temporary value of X, which will not be recorded permanently in the database because of the failure of T1. The value of item X that is read by T2 is called dirty data because it has been created by a transaction that has not completed and committed yet; hence, this problem is also known as the dirty read problem.</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13</a:t>
            </a:fld>
            <a:endParaRPr lang="en-CA" altLang="en-US" dirty="0"/>
          </a:p>
        </p:txBody>
      </p:sp>
    </p:spTree>
    <p:extLst>
      <p:ext uri="{BB962C8B-B14F-4D97-AF65-F5344CB8AC3E}">
        <p14:creationId xmlns:p14="http://schemas.microsoft.com/office/powerpoint/2010/main" val="25587144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one transaction is calculating an aggregate summary function on a number of database items while other transactions are updating some of these items, the aggregate function may calculate some values before they are updated and others after they are updated. For example, suppose that a transaction T3 is calculating the total number of reservations on all the flights; meanwhile, transaction T1 is executing. If the interleaving of operations shown in Figure 21.3(c) occurs, the result of T3 will be off by an amount N because T3 reads the value of X after N seats have been subtracted from it but reads the value of Y before those N seats have been added to it.</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14</a:t>
            </a:fld>
            <a:endParaRPr lang="en-CA" altLang="en-US" dirty="0"/>
          </a:p>
        </p:txBody>
      </p:sp>
    </p:spTree>
    <p:extLst>
      <p:ext uri="{BB962C8B-B14F-4D97-AF65-F5344CB8AC3E}">
        <p14:creationId xmlns:p14="http://schemas.microsoft.com/office/powerpoint/2010/main" val="4121153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problem that may occur is called unrepeatable read, where a transaction T reads the same item twice and the item is changed by another transaction T between the two reads. Hence, T receives different values for its two reads of the same item. This may occur, for example, if during an airline reservation transaction, a customer inquires about seat availability on several flights. When the customer decides on a particular flight, the transaction then reads the number of seats on that flight a second time before completing the reservation, and it may end up reading a different value for the item.</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15</a:t>
            </a:fld>
            <a:endParaRPr lang="en-CA" altLang="en-US" dirty="0"/>
          </a:p>
        </p:txBody>
      </p:sp>
    </p:spTree>
    <p:extLst>
      <p:ext uri="{BB962C8B-B14F-4D97-AF65-F5344CB8AC3E}">
        <p14:creationId xmlns:p14="http://schemas.microsoft.com/office/powerpoint/2010/main" val="2305958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Regular"/>
              </a:rPr>
              <a:t>Whenever a transaction is submitted to a DBMS for execution, the system is responsible for making sure that either all the operations in the transaction are completed successfully and their effect is recorded permanently in the database, or that the transaction does not have any effect on the database or any other transactions. In the first case, the transaction is said to be </a:t>
            </a:r>
            <a:r>
              <a:rPr lang="en-US" sz="1800" b="1" i="0" u="none" strike="noStrike" baseline="0" dirty="0">
                <a:latin typeface="Minion-Bold"/>
              </a:rPr>
              <a:t>committed</a:t>
            </a:r>
            <a:r>
              <a:rPr lang="en-US" sz="1800" b="0" i="0" u="none" strike="noStrike" baseline="0" dirty="0">
                <a:latin typeface="Minion-Regular"/>
              </a:rPr>
              <a:t>, whereas in the second case, the transaction is </a:t>
            </a:r>
            <a:r>
              <a:rPr lang="en-US" sz="1800" b="1" i="0" u="none" strike="noStrike" baseline="0" dirty="0">
                <a:latin typeface="Minion-Bold"/>
              </a:rPr>
              <a:t>aborted</a:t>
            </a:r>
            <a:r>
              <a:rPr lang="en-US" sz="1800" b="0" i="0" u="none" strike="noStrike" baseline="0" dirty="0">
                <a:latin typeface="Minion-Regular"/>
              </a:rPr>
              <a:t>. The DBMS must not permit some operations of a transaction </a:t>
            </a:r>
            <a:r>
              <a:rPr lang="en-US" sz="1800" b="0" i="1" u="none" strike="noStrike" baseline="0" dirty="0">
                <a:latin typeface="Minion-Italic"/>
              </a:rPr>
              <a:t>T </a:t>
            </a:r>
            <a:r>
              <a:rPr lang="en-US" sz="1800" b="0" i="0" u="none" strike="noStrike" baseline="0" dirty="0">
                <a:latin typeface="Minion-Regular"/>
              </a:rPr>
              <a:t>to be applied to the database while other operations of </a:t>
            </a:r>
            <a:r>
              <a:rPr lang="en-US" sz="1800" b="0" i="1" u="none" strike="noStrike" baseline="0" dirty="0">
                <a:latin typeface="Minion-Italic"/>
              </a:rPr>
              <a:t>T </a:t>
            </a:r>
            <a:r>
              <a:rPr lang="en-US" sz="1800" b="0" i="0" u="none" strike="noStrike" baseline="0" dirty="0">
                <a:latin typeface="Minion-Regular"/>
              </a:rPr>
              <a:t>are not, because </a:t>
            </a:r>
            <a:r>
              <a:rPr lang="en-US" sz="1800" b="0" i="1" u="none" strike="noStrike" baseline="0" dirty="0">
                <a:latin typeface="Minion-Italic"/>
              </a:rPr>
              <a:t>the whole transaction </a:t>
            </a:r>
            <a:r>
              <a:rPr lang="en-US" sz="1800" b="0" i="0" u="none" strike="noStrike" baseline="0" dirty="0">
                <a:latin typeface="Minion-Regular"/>
              </a:rPr>
              <a:t>is a logical unit of database processing. If a transaction </a:t>
            </a:r>
            <a:r>
              <a:rPr lang="en-US" sz="1800" b="1" i="0" u="none" strike="noStrike" baseline="0" dirty="0">
                <a:latin typeface="Minion-Bold"/>
              </a:rPr>
              <a:t>fails</a:t>
            </a:r>
          </a:p>
          <a:p>
            <a:pPr algn="l"/>
            <a:r>
              <a:rPr lang="en-US" sz="1800" b="0" i="0" u="none" strike="noStrike" baseline="0" dirty="0">
                <a:latin typeface="Minion-Regular"/>
              </a:rPr>
              <a:t>after executing some of its operations but before executing all of them, the operations already executed must be undone and have no lasting effect.</a:t>
            </a:r>
          </a:p>
          <a:p>
            <a:pPr algn="l"/>
            <a:r>
              <a:rPr lang="en-US" sz="1800" b="1" i="0" u="none" strike="noStrike" baseline="0" dirty="0">
                <a:solidFill>
                  <a:srgbClr val="000000"/>
                </a:solidFill>
                <a:latin typeface="Minion-Bold"/>
              </a:rPr>
              <a:t>A computer failure (system crash). </a:t>
            </a:r>
            <a:r>
              <a:rPr lang="en-US" sz="1800" b="0" i="0" u="none" strike="noStrike" baseline="0" dirty="0">
                <a:solidFill>
                  <a:srgbClr val="000000"/>
                </a:solidFill>
                <a:latin typeface="Minion-Regular"/>
              </a:rPr>
              <a:t>A hardware, software, or network error occurs in the computer system during transaction execution. Hardware crashes are usually media failures—for example, main memory failure. </a:t>
            </a:r>
          </a:p>
          <a:p>
            <a:pPr algn="l"/>
            <a:r>
              <a:rPr lang="en-US" sz="1800" b="1" i="0" u="none" strike="noStrike" baseline="0" dirty="0">
                <a:solidFill>
                  <a:srgbClr val="808080"/>
                </a:solidFill>
                <a:latin typeface="AkzidenzGroteskBE-Bold"/>
              </a:rPr>
              <a:t>2. </a:t>
            </a:r>
            <a:r>
              <a:rPr lang="en-US" sz="1800" b="1" i="0" u="none" strike="noStrike" baseline="0" dirty="0">
                <a:solidFill>
                  <a:srgbClr val="000000"/>
                </a:solidFill>
                <a:latin typeface="Minion-Bold"/>
              </a:rPr>
              <a:t>A transaction or system error. </a:t>
            </a:r>
            <a:r>
              <a:rPr lang="en-US" sz="1800" b="0" i="0" u="none" strike="noStrike" baseline="0" dirty="0">
                <a:solidFill>
                  <a:srgbClr val="000000"/>
                </a:solidFill>
                <a:latin typeface="Minion-Regular"/>
              </a:rPr>
              <a:t>Some operation in the transaction may cause it to fail, such as integer overflow or division by zero. Transaction failure may also occur because of erroneous parameter values or because of a logical programming error.3 Additionally, the user may interrupt the transaction during its execution.</a:t>
            </a:r>
          </a:p>
          <a:p>
            <a:pPr algn="l"/>
            <a:r>
              <a:rPr lang="en-US" sz="1800" b="1" i="0" u="none" strike="noStrike" baseline="0" dirty="0">
                <a:solidFill>
                  <a:srgbClr val="808080"/>
                </a:solidFill>
                <a:latin typeface="AkzidenzGroteskBE-Bold"/>
              </a:rPr>
              <a:t>3. </a:t>
            </a:r>
            <a:r>
              <a:rPr lang="en-US" sz="1800" b="1" i="0" u="none" strike="noStrike" baseline="0" dirty="0">
                <a:solidFill>
                  <a:srgbClr val="000000"/>
                </a:solidFill>
                <a:latin typeface="Minion-Bold"/>
              </a:rPr>
              <a:t>Local errors or exception conditions detected by the transaction. </a:t>
            </a:r>
            <a:r>
              <a:rPr lang="en-US" sz="1800" b="0" i="0" u="none" strike="noStrike" baseline="0" dirty="0">
                <a:solidFill>
                  <a:srgbClr val="000000"/>
                </a:solidFill>
                <a:latin typeface="Minion-Regular"/>
              </a:rPr>
              <a:t>During transaction execution, certain conditions may occur that necessitate cancellation of the transaction. For example, data for the transaction may not be found. An exception condition,4 such as insufficient account balance in a banking database, may cause a transaction, such as a fund withdrawal, to be</a:t>
            </a:r>
          </a:p>
          <a:p>
            <a:pPr algn="l"/>
            <a:r>
              <a:rPr lang="en-US" sz="1800" b="0" i="0" u="none" strike="noStrike" baseline="0" dirty="0">
                <a:solidFill>
                  <a:srgbClr val="000000"/>
                </a:solidFill>
                <a:latin typeface="Minion-Regular"/>
              </a:rPr>
              <a:t>canceled. This exception could be programmed in the transaction itself, and in such a case would not be considered as a transaction failure.</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16</a:t>
            </a:fld>
            <a:endParaRPr lang="en-CA" altLang="en-US" dirty="0"/>
          </a:p>
        </p:txBody>
      </p:sp>
    </p:spTree>
    <p:extLst>
      <p:ext uri="{BB962C8B-B14F-4D97-AF65-F5344CB8AC3E}">
        <p14:creationId xmlns:p14="http://schemas.microsoft.com/office/powerpoint/2010/main" val="3704090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1" i="0" u="none" strike="noStrike" baseline="0" dirty="0">
                <a:latin typeface="Minion-Bold"/>
              </a:rPr>
              <a:t>Concurrency control enforcement. </a:t>
            </a:r>
            <a:r>
              <a:rPr lang="en-US" sz="1800" b="0" i="0" u="none" strike="noStrike" baseline="0" dirty="0">
                <a:latin typeface="Minion-Regular"/>
              </a:rPr>
              <a:t>The concurrency control method (see Chapter 22) may decide to abort a transaction because it violates serializability (see Section 21.5), or it may abort one or more transactions to resolve a state of deadlock among several transactions (see Section 22.1.3).</a:t>
            </a:r>
          </a:p>
          <a:p>
            <a:pPr algn="l"/>
            <a:r>
              <a:rPr lang="en-US" sz="1800" b="0" i="0" u="none" strike="noStrike" baseline="0" dirty="0">
                <a:latin typeface="Minion-Regular"/>
              </a:rPr>
              <a:t>Transactions aborted because of serializability violations or deadlocks are typically restarted automatically at a later time.</a:t>
            </a:r>
            <a:endParaRPr lang="en-US" dirty="0"/>
          </a:p>
          <a:p>
            <a:pPr algn="l"/>
            <a:r>
              <a:rPr lang="en-US" sz="1800" b="1" i="0" u="none" strike="noStrike" baseline="0" dirty="0">
                <a:latin typeface="Minion-Bold"/>
              </a:rPr>
              <a:t>Physical problems and catastrophes. </a:t>
            </a:r>
            <a:r>
              <a:rPr lang="en-US" sz="1800" b="0" i="0" u="none" strike="noStrike" baseline="0" dirty="0">
                <a:latin typeface="Minion-Regular"/>
              </a:rPr>
              <a:t>This refers to an endless list of problems that includes power or air-conditioning failure, fire, theft, sabotage, overwriting disks or tapes by mistake, and mounting of a wrong tape by the operator.</a:t>
            </a:r>
          </a:p>
          <a:p>
            <a:pPr algn="l"/>
            <a:r>
              <a:rPr lang="en-US" sz="1800" b="0" i="0" u="none" strike="noStrike" baseline="0" dirty="0">
                <a:latin typeface="Minion-Regular"/>
              </a:rPr>
              <a:t>Failures of types 1, 2, 3, and 4 are more common than those of types 5 or 6. Whenever a failure of type 1 through 4 occurs, the system must keep sufficient information to quickly recover from the failure. Disk failure or other catastrophic failures of type 5 or 6 do not happen frequently; if they do occur, recovery is a major task.</a:t>
            </a:r>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17</a:t>
            </a:fld>
            <a:endParaRPr lang="en-CA" altLang="en-US" dirty="0"/>
          </a:p>
        </p:txBody>
      </p:sp>
    </p:spTree>
    <p:extLst>
      <p:ext uri="{BB962C8B-B14F-4D97-AF65-F5344CB8AC3E}">
        <p14:creationId xmlns:p14="http://schemas.microsoft.com/office/powerpoint/2010/main" val="3513720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schedule (or history) S of n transactions T1, T2, ..., Tn is an ordering of the operations of the transactions. Operations from different transactions can be interleaved in the schedule S. However, for each transaction </a:t>
            </a:r>
            <a:r>
              <a:rPr lang="en-US" dirty="0" err="1"/>
              <a:t>Ti</a:t>
            </a:r>
            <a:r>
              <a:rPr lang="en-US" dirty="0"/>
              <a:t> that participates in the schedule S, the operations of </a:t>
            </a:r>
            <a:r>
              <a:rPr lang="en-US" dirty="0" err="1"/>
              <a:t>Ti</a:t>
            </a:r>
            <a:r>
              <a:rPr lang="en-US" dirty="0"/>
              <a:t> in S must appear in the same order in which they occur in </a:t>
            </a:r>
            <a:r>
              <a:rPr lang="en-US" dirty="0" err="1"/>
              <a:t>Ti</a:t>
            </a:r>
            <a:r>
              <a:rPr lang="en-US" dirty="0"/>
              <a:t>. </a:t>
            </a:r>
            <a:r>
              <a:rPr lang="en-US" b="1" dirty="0"/>
              <a:t>The order of operations in S is considered to be a total ordering, meaning that for any two operations in the schedule, one must occur before the other. It is possible theoretically to deal with schedules whose operations form partial orders (as we discuss later), but we will assume for now total ordering of the operations in a schedule.</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20</a:t>
            </a:fld>
            <a:endParaRPr lang="en-CA" altLang="en-US" dirty="0"/>
          </a:p>
        </p:txBody>
      </p:sp>
    </p:spTree>
    <p:extLst>
      <p:ext uri="{BB962C8B-B14F-4D97-AF65-F5344CB8AC3E}">
        <p14:creationId xmlns:p14="http://schemas.microsoft.com/office/powerpoint/2010/main" val="1760551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In other words, if some transaction </a:t>
            </a:r>
            <a:r>
              <a:rPr lang="en-US" sz="1800" dirty="0" err="1"/>
              <a:t>Tj</a:t>
            </a:r>
            <a:r>
              <a:rPr lang="en-US" sz="1800" dirty="0"/>
              <a:t> is reading value updated or written by some other transaction </a:t>
            </a:r>
            <a:r>
              <a:rPr lang="en-US" sz="1800" dirty="0" err="1"/>
              <a:t>Ti</a:t>
            </a:r>
            <a:r>
              <a:rPr lang="en-US" sz="1800" dirty="0"/>
              <a:t>, then the commit of </a:t>
            </a:r>
            <a:r>
              <a:rPr lang="en-US" sz="1800" dirty="0" err="1"/>
              <a:t>Tj</a:t>
            </a:r>
            <a:r>
              <a:rPr lang="en-US" sz="1800" dirty="0"/>
              <a:t> must occur after the commit of </a:t>
            </a:r>
            <a:r>
              <a:rPr lang="en-US" sz="1800" dirty="0" err="1"/>
              <a:t>Ti</a:t>
            </a:r>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22</a:t>
            </a:fld>
            <a:endParaRPr lang="en-CA" altLang="en-US" dirty="0"/>
          </a:p>
        </p:txBody>
      </p:sp>
    </p:spTree>
    <p:extLst>
      <p:ext uri="{BB962C8B-B14F-4D97-AF65-F5344CB8AC3E}">
        <p14:creationId xmlns:p14="http://schemas.microsoft.com/office/powerpoint/2010/main" val="36345968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24</a:t>
            </a:fld>
            <a:endParaRPr lang="en-CA" altLang="en-US" dirty="0"/>
          </a:p>
        </p:txBody>
      </p:sp>
    </p:spTree>
    <p:extLst>
      <p:ext uri="{BB962C8B-B14F-4D97-AF65-F5344CB8AC3E}">
        <p14:creationId xmlns:p14="http://schemas.microsoft.com/office/powerpoint/2010/main" val="337287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31</a:t>
            </a:fld>
            <a:endParaRPr lang="en-CA" altLang="en-US" dirty="0"/>
          </a:p>
        </p:txBody>
      </p:sp>
    </p:spTree>
    <p:extLst>
      <p:ext uri="{BB962C8B-B14F-4D97-AF65-F5344CB8AC3E}">
        <p14:creationId xmlns:p14="http://schemas.microsoft.com/office/powerpoint/2010/main" val="223361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Regular"/>
              </a:rPr>
              <a:t>Notice that there are </a:t>
            </a:r>
            <a:r>
              <a:rPr lang="en-US" sz="1800" b="0" i="1" u="none" strike="noStrike" baseline="0" dirty="0">
                <a:latin typeface="Minion-Italic"/>
              </a:rPr>
              <a:t>n</a:t>
            </a:r>
            <a:r>
              <a:rPr lang="en-US" sz="1800" b="0" i="0" u="none" strike="noStrike" baseline="0" dirty="0">
                <a:latin typeface="Minion-Regular"/>
              </a:rPr>
              <a:t>! possible serial schedules of </a:t>
            </a:r>
            <a:r>
              <a:rPr lang="en-US" sz="1800" b="0" i="1" u="none" strike="noStrike" baseline="0" dirty="0">
                <a:latin typeface="Minion-Italic"/>
              </a:rPr>
              <a:t>n </a:t>
            </a:r>
            <a:r>
              <a:rPr lang="en-US" sz="1800" b="0" i="0" u="none" strike="noStrike" baseline="0" dirty="0">
                <a:latin typeface="Minion-Regular"/>
              </a:rPr>
              <a:t>transactions and many more possible </a:t>
            </a:r>
            <a:r>
              <a:rPr lang="en-US" sz="1800" b="0" i="0" u="none" strike="noStrike" baseline="0" dirty="0" err="1">
                <a:latin typeface="Minion-Regular"/>
              </a:rPr>
              <a:t>nonserial</a:t>
            </a:r>
            <a:r>
              <a:rPr lang="en-US" sz="1800" b="0" i="0" u="none" strike="noStrike" baseline="0" dirty="0">
                <a:latin typeface="Minion-Regular"/>
              </a:rPr>
              <a:t> schedules.</a:t>
            </a:r>
          </a:p>
          <a:p>
            <a:pPr algn="l"/>
            <a:r>
              <a:rPr lang="en-US" sz="1800" b="0" i="0" u="none" strike="noStrike" baseline="0" dirty="0">
                <a:latin typeface="Minion-Regular"/>
              </a:rPr>
              <a:t>There are several ways to define schedule equivalence. The simplest but least satisfactory</a:t>
            </a:r>
          </a:p>
          <a:p>
            <a:pPr algn="l"/>
            <a:r>
              <a:rPr lang="en-US" sz="1800" b="0" i="0" u="none" strike="noStrike" baseline="0" dirty="0">
                <a:latin typeface="Minion-Regular"/>
              </a:rPr>
              <a:t>definition involves comparing the effects of the schedules on the database.</a:t>
            </a:r>
          </a:p>
          <a:p>
            <a:pPr algn="l"/>
            <a:r>
              <a:rPr lang="en-US" sz="1800" b="0" i="0" u="none" strike="noStrike" baseline="0" dirty="0">
                <a:latin typeface="Minion-Regular"/>
              </a:rPr>
              <a:t>Two schedules are called </a:t>
            </a:r>
            <a:r>
              <a:rPr lang="en-US" sz="1800" b="1" i="0" u="none" strike="noStrike" baseline="0" dirty="0">
                <a:latin typeface="Minion-Bold"/>
              </a:rPr>
              <a:t>result equivalent </a:t>
            </a:r>
            <a:r>
              <a:rPr lang="en-US" sz="1800" b="0" i="0" u="none" strike="noStrike" baseline="0" dirty="0">
                <a:latin typeface="Minion-Regular"/>
              </a:rPr>
              <a:t>if they produce the same final state of the database. However, two different schedules may accidentally produce the same final state. For example, in Figure 21.6, schedules </a:t>
            </a:r>
            <a:r>
              <a:rPr lang="en-US" sz="1800" b="0" i="1" u="none" strike="noStrike" baseline="0" dirty="0">
                <a:latin typeface="Minion-Italic"/>
              </a:rPr>
              <a:t>S</a:t>
            </a:r>
            <a:r>
              <a:rPr lang="en-US" sz="1800" b="0" i="0" u="none" strike="noStrike" baseline="0" dirty="0">
                <a:latin typeface="Minion-Regular"/>
              </a:rPr>
              <a:t>1 and </a:t>
            </a:r>
            <a:r>
              <a:rPr lang="en-US" sz="1800" b="0" i="1" u="none" strike="noStrike" baseline="0" dirty="0">
                <a:latin typeface="Minion-Italic"/>
              </a:rPr>
              <a:t>S</a:t>
            </a:r>
            <a:r>
              <a:rPr lang="en-US" sz="1800" b="0" i="0" u="none" strike="noStrike" baseline="0" dirty="0">
                <a:latin typeface="Minion-Regular"/>
              </a:rPr>
              <a:t>2 will produce the same final database state if they execute on a database with an initial value of </a:t>
            </a:r>
            <a:r>
              <a:rPr lang="en-US" sz="1800" b="0" i="1" u="none" strike="noStrike" baseline="0" dirty="0">
                <a:latin typeface="Minion-Italic"/>
              </a:rPr>
              <a:t>X </a:t>
            </a:r>
            <a:r>
              <a:rPr lang="en-US" sz="1800" b="0" i="0" u="none" strike="noStrike" baseline="0" dirty="0">
                <a:latin typeface="Minion-Regular"/>
              </a:rPr>
              <a:t>= 100; however, for other initial values of </a:t>
            </a:r>
            <a:r>
              <a:rPr lang="en-US" sz="1800" b="0" i="1" u="none" strike="noStrike" baseline="0" dirty="0">
                <a:latin typeface="Minion-Italic"/>
              </a:rPr>
              <a:t>X</a:t>
            </a:r>
            <a:r>
              <a:rPr lang="en-US" sz="1800" b="0" i="0" u="none" strike="noStrike" baseline="0" dirty="0">
                <a:latin typeface="Minion-Regular"/>
              </a:rPr>
              <a:t>, the schedules are </a:t>
            </a:r>
            <a:r>
              <a:rPr lang="en-US" sz="1800" b="0" i="1" u="none" strike="noStrike" baseline="0" dirty="0">
                <a:latin typeface="Minion-Italic"/>
              </a:rPr>
              <a:t>not </a:t>
            </a:r>
            <a:r>
              <a:rPr lang="en-US" sz="1800" b="0" i="0" u="none" strike="noStrike" baseline="0" dirty="0">
                <a:latin typeface="Minion-Regular"/>
              </a:rPr>
              <a:t>result equivalent. Additionally,</a:t>
            </a:r>
          </a:p>
          <a:p>
            <a:pPr algn="l"/>
            <a:r>
              <a:rPr lang="en-US" sz="1800" b="0" i="0" u="none" strike="noStrike" baseline="0" dirty="0">
                <a:latin typeface="Minion-Regular"/>
              </a:rPr>
              <a:t>these schedules execute different transactions, so they definitely should not be considered equivalent. Hence, result equivalence alone cannot be used to define equivalence of schedules.</a:t>
            </a:r>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32</a:t>
            </a:fld>
            <a:endParaRPr lang="en-CA" altLang="en-US" dirty="0"/>
          </a:p>
        </p:txBody>
      </p:sp>
    </p:spTree>
    <p:extLst>
      <p:ext uri="{BB962C8B-B14F-4D97-AF65-F5344CB8AC3E}">
        <p14:creationId xmlns:p14="http://schemas.microsoft.com/office/powerpoint/2010/main" val="31070942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Regular"/>
              </a:rPr>
              <a:t>The definition of </a:t>
            </a:r>
            <a:r>
              <a:rPr lang="en-US" sz="1800" b="0" i="1" u="none" strike="noStrike" baseline="0" dirty="0">
                <a:latin typeface="Minion-Italic"/>
              </a:rPr>
              <a:t>conflict equivalence </a:t>
            </a:r>
            <a:r>
              <a:rPr lang="en-US" sz="1800" b="0" i="0" u="none" strike="noStrike" baseline="0" dirty="0">
                <a:latin typeface="Minion-Regular"/>
              </a:rPr>
              <a:t>of schedules is as follows: Two schedules are said to be </a:t>
            </a:r>
            <a:r>
              <a:rPr lang="en-US" sz="1800" b="1" i="0" u="none" strike="noStrike" baseline="0" dirty="0">
                <a:latin typeface="Minion-Bold"/>
              </a:rPr>
              <a:t>conflict equivalent </a:t>
            </a:r>
            <a:r>
              <a:rPr lang="en-US" sz="1800" b="0" i="0" u="none" strike="noStrike" baseline="0" dirty="0">
                <a:latin typeface="Minion-Regular"/>
              </a:rPr>
              <a:t>if the order of any two </a:t>
            </a:r>
            <a:r>
              <a:rPr lang="en-US" sz="1800" b="0" i="1" u="none" strike="noStrike" baseline="0" dirty="0">
                <a:latin typeface="Minion-Italic"/>
              </a:rPr>
              <a:t>conflicting operations </a:t>
            </a:r>
            <a:r>
              <a:rPr lang="en-US" sz="1800" b="0" i="0" u="none" strike="noStrike" baseline="0" dirty="0">
                <a:latin typeface="Minion-Regular"/>
              </a:rPr>
              <a:t>is the same in both schedules. Recall from Section 21.4.1 that two operations in a schedule are said to </a:t>
            </a:r>
            <a:r>
              <a:rPr lang="en-US" sz="1800" b="0" i="1" u="none" strike="noStrike" baseline="0" dirty="0">
                <a:latin typeface="Minion-Italic"/>
              </a:rPr>
              <a:t>conflict </a:t>
            </a:r>
            <a:r>
              <a:rPr lang="en-US" sz="1800" b="0" i="0" u="none" strike="noStrike" baseline="0" dirty="0">
                <a:latin typeface="Minion-Regular"/>
              </a:rPr>
              <a:t>if they belong to different transactions, access the same database item, and either both are </a:t>
            </a:r>
            <a:r>
              <a:rPr lang="en-US" sz="1800" b="0" i="0" u="none" strike="noStrike" baseline="0" dirty="0" err="1">
                <a:latin typeface="AkzidenzGroteskBE-Regular"/>
              </a:rPr>
              <a:t>write_item</a:t>
            </a:r>
            <a:r>
              <a:rPr lang="en-US" sz="1800" b="0" i="0" u="none" strike="noStrike" baseline="0" dirty="0">
                <a:latin typeface="AkzidenzGroteskBE-Regular"/>
              </a:rPr>
              <a:t> </a:t>
            </a:r>
            <a:r>
              <a:rPr lang="en-US" sz="1800" b="0" i="0" u="none" strike="noStrike" baseline="0" dirty="0">
                <a:latin typeface="Minion-Regular"/>
              </a:rPr>
              <a:t>operations or one is a </a:t>
            </a:r>
            <a:r>
              <a:rPr lang="en-US" sz="1800" b="0" i="0" u="none" strike="noStrike" baseline="0" dirty="0" err="1">
                <a:latin typeface="AkzidenzGroteskBE-Regular"/>
              </a:rPr>
              <a:t>write_item</a:t>
            </a:r>
            <a:r>
              <a:rPr lang="en-US" sz="1800" b="0" i="0" u="none" strike="noStrike" baseline="0" dirty="0">
                <a:latin typeface="AkzidenzGroteskBE-Regular"/>
              </a:rPr>
              <a:t> </a:t>
            </a:r>
            <a:r>
              <a:rPr lang="en-US" sz="1800" b="0" i="0" u="none" strike="noStrike" baseline="0" dirty="0">
                <a:latin typeface="Minion-Regular"/>
              </a:rPr>
              <a:t>and the other a</a:t>
            </a:r>
          </a:p>
          <a:p>
            <a:pPr algn="l"/>
            <a:r>
              <a:rPr lang="en-US" sz="1800" b="0" i="0" u="none" strike="noStrike" baseline="0" dirty="0" err="1">
                <a:latin typeface="AkzidenzGroteskBE-Regular"/>
              </a:rPr>
              <a:t>read_item</a:t>
            </a:r>
            <a:r>
              <a:rPr lang="en-US" sz="1800" b="0" i="0" u="none" strike="noStrike" baseline="0" dirty="0">
                <a:latin typeface="Minion-Regular"/>
              </a:rPr>
              <a:t>. If two conflicting operations are applied in </a:t>
            </a:r>
            <a:r>
              <a:rPr lang="en-US" sz="1800" b="0" i="1" u="none" strike="noStrike" baseline="0" dirty="0">
                <a:latin typeface="Minion-Italic"/>
              </a:rPr>
              <a:t>different orders </a:t>
            </a:r>
            <a:r>
              <a:rPr lang="en-US" sz="1800" b="0" i="0" u="none" strike="noStrike" baseline="0" dirty="0">
                <a:latin typeface="Minion-Regular"/>
              </a:rPr>
              <a:t>in two schedules, the effect can be different on the database or on the transactions in the schedule, and hence the schedules are not conflict equivalent.</a:t>
            </a:r>
          </a:p>
          <a:p>
            <a:pPr algn="l"/>
            <a:endParaRPr lang="en-US" sz="1800" b="0" i="0" u="none" strike="noStrike" baseline="0" dirty="0">
              <a:latin typeface="Minion-Regular"/>
            </a:endParaRPr>
          </a:p>
          <a:p>
            <a:pPr algn="l"/>
            <a:r>
              <a:rPr lang="en-US" sz="1800" b="0" i="0" u="none" strike="noStrike" baseline="0" dirty="0">
                <a:latin typeface="Minion-Regular"/>
              </a:rPr>
              <a:t>Using the notion of conflict equivalence, we define a schedule </a:t>
            </a:r>
            <a:r>
              <a:rPr lang="en-US" sz="1800" b="0" i="1" u="none" strike="noStrike" baseline="0" dirty="0">
                <a:latin typeface="Minion-Italic"/>
              </a:rPr>
              <a:t>S </a:t>
            </a:r>
            <a:r>
              <a:rPr lang="en-US" sz="1800" b="0" i="0" u="none" strike="noStrike" baseline="0" dirty="0">
                <a:latin typeface="Minion-Regular"/>
              </a:rPr>
              <a:t>to be </a:t>
            </a:r>
            <a:r>
              <a:rPr lang="en-US" sz="1800" b="1" i="0" u="none" strike="noStrike" baseline="0" dirty="0">
                <a:latin typeface="Minion-Bold"/>
              </a:rPr>
              <a:t>conflict serializable</a:t>
            </a:r>
            <a:r>
              <a:rPr lang="en-US" sz="1800" b="0" i="0" u="none" strike="noStrike" baseline="0" dirty="0">
                <a:latin typeface="Minion-Regular"/>
              </a:rPr>
              <a:t>12</a:t>
            </a:r>
          </a:p>
          <a:p>
            <a:pPr algn="l"/>
            <a:r>
              <a:rPr lang="en-US" sz="1800" b="0" i="0" u="none" strike="noStrike" baseline="0" dirty="0">
                <a:latin typeface="Minion-Regular"/>
              </a:rPr>
              <a:t>if it is (conflict) equivalent to some serial schedule </a:t>
            </a:r>
            <a:r>
              <a:rPr lang="en-US" sz="1800" b="0" i="1" u="none" strike="noStrike" baseline="0" dirty="0">
                <a:latin typeface="Minion-Italic"/>
              </a:rPr>
              <a:t>S</a:t>
            </a:r>
            <a:r>
              <a:rPr lang="en-US" sz="1800" b="0" i="0" u="none" strike="noStrike" baseline="0" dirty="0">
                <a:latin typeface="Minion-Regular"/>
              </a:rPr>
              <a:t>. In such a case, we</a:t>
            </a:r>
          </a:p>
          <a:p>
            <a:pPr algn="l"/>
            <a:r>
              <a:rPr lang="en-US" sz="1800" b="0" i="0" u="none" strike="noStrike" baseline="0" dirty="0">
                <a:latin typeface="Minion-Regular"/>
              </a:rPr>
              <a:t>can reorder the </a:t>
            </a:r>
            <a:r>
              <a:rPr lang="en-US" sz="1800" b="0" i="1" u="none" strike="noStrike" baseline="0" dirty="0">
                <a:latin typeface="Minion-Italic"/>
              </a:rPr>
              <a:t>nonconflicting </a:t>
            </a:r>
            <a:r>
              <a:rPr lang="en-US" sz="1800" b="0" i="0" u="none" strike="noStrike" baseline="0" dirty="0">
                <a:latin typeface="Minion-Regular"/>
              </a:rPr>
              <a:t>operations in </a:t>
            </a:r>
            <a:r>
              <a:rPr lang="en-US" sz="1800" b="0" i="1" u="none" strike="noStrike" baseline="0" dirty="0">
                <a:latin typeface="Minion-Italic"/>
              </a:rPr>
              <a:t>S </a:t>
            </a:r>
            <a:r>
              <a:rPr lang="en-US" sz="1800" b="0" i="0" u="none" strike="noStrike" baseline="0" dirty="0">
                <a:latin typeface="Minion-Regular"/>
              </a:rPr>
              <a:t>until we form the equivalent serial</a:t>
            </a:r>
          </a:p>
          <a:p>
            <a:pPr algn="l"/>
            <a:r>
              <a:rPr lang="en-US" sz="1800" b="0" i="0" u="none" strike="noStrike" baseline="0" dirty="0">
                <a:latin typeface="Minion-Regular"/>
              </a:rPr>
              <a:t>schedule </a:t>
            </a:r>
            <a:r>
              <a:rPr lang="en-US" sz="1800" b="0" i="1" u="none" strike="noStrike" baseline="0" dirty="0">
                <a:latin typeface="Minion-Italic"/>
              </a:rPr>
              <a:t>S</a:t>
            </a:r>
            <a:r>
              <a:rPr lang="en-US" sz="1800" b="0" i="0" u="none" strike="noStrike" baseline="0" dirty="0">
                <a:latin typeface="Minion-Regular"/>
              </a:rPr>
              <a:t>. According to this definition, schedule D in Figure 21.5(c) is equivalent</a:t>
            </a:r>
          </a:p>
          <a:p>
            <a:pPr algn="l"/>
            <a:r>
              <a:rPr lang="en-US" sz="1800" b="0" i="0" u="none" strike="noStrike" baseline="0" dirty="0">
                <a:latin typeface="Minion-Regular"/>
              </a:rPr>
              <a:t>to the serial schedule A in Figure 21.5(a). In both schedules, the </a:t>
            </a:r>
            <a:r>
              <a:rPr lang="en-US" sz="1800" b="0" i="0" u="none" strike="noStrike" baseline="0" dirty="0" err="1">
                <a:latin typeface="AkzidenzGroteskBE-Regular"/>
              </a:rPr>
              <a:t>read_item</a:t>
            </a:r>
            <a:r>
              <a:rPr lang="en-US" sz="1800" b="0" i="0" u="none" strike="noStrike" baseline="0" dirty="0">
                <a:latin typeface="Minion-Regular"/>
              </a:rPr>
              <a:t>(</a:t>
            </a:r>
            <a:r>
              <a:rPr lang="en-US" sz="1800" b="0" i="1" u="none" strike="noStrike" baseline="0" dirty="0">
                <a:latin typeface="Minion-Italic"/>
              </a:rPr>
              <a:t>X</a:t>
            </a:r>
            <a:r>
              <a:rPr lang="en-US" sz="1800" b="0" i="0" u="none" strike="noStrike" baseline="0" dirty="0">
                <a:latin typeface="Minion-Regular"/>
              </a:rPr>
              <a:t>) of </a:t>
            </a:r>
            <a:r>
              <a:rPr lang="en-US" sz="1800" b="0" i="1" u="none" strike="noStrike" baseline="0" dirty="0">
                <a:latin typeface="Minion-Italic"/>
              </a:rPr>
              <a:t>T</a:t>
            </a:r>
            <a:r>
              <a:rPr lang="en-US" sz="1800" b="0" i="0" u="none" strike="noStrike" baseline="0" dirty="0">
                <a:latin typeface="Minion-Regular"/>
              </a:rPr>
              <a:t>2</a:t>
            </a:r>
          </a:p>
          <a:p>
            <a:pPr algn="l"/>
            <a:r>
              <a:rPr lang="en-US" sz="1800" b="0" i="0" u="none" strike="noStrike" baseline="0" dirty="0">
                <a:latin typeface="Minion-Regular"/>
              </a:rPr>
              <a:t>reads the value of </a:t>
            </a:r>
            <a:r>
              <a:rPr lang="en-US" sz="1800" b="0" i="1" u="none" strike="noStrike" baseline="0" dirty="0">
                <a:latin typeface="Minion-Italic"/>
              </a:rPr>
              <a:t>X </a:t>
            </a:r>
            <a:r>
              <a:rPr lang="en-US" sz="1800" b="0" i="0" u="none" strike="noStrike" baseline="0" dirty="0">
                <a:latin typeface="Minion-Regular"/>
              </a:rPr>
              <a:t>written by </a:t>
            </a:r>
            <a:r>
              <a:rPr lang="en-US" sz="1800" b="0" i="1" u="none" strike="noStrike" baseline="0" dirty="0">
                <a:latin typeface="Minion-Italic"/>
              </a:rPr>
              <a:t>T</a:t>
            </a:r>
            <a:r>
              <a:rPr lang="en-US" sz="1800" b="0" i="0" u="none" strike="noStrike" baseline="0" dirty="0">
                <a:latin typeface="Minion-Regular"/>
              </a:rPr>
              <a:t>1, while the other </a:t>
            </a:r>
            <a:r>
              <a:rPr lang="en-US" sz="1800" b="0" i="0" u="none" strike="noStrike" baseline="0" dirty="0" err="1">
                <a:latin typeface="AkzidenzGroteskBE-Regular"/>
              </a:rPr>
              <a:t>read_item</a:t>
            </a:r>
            <a:r>
              <a:rPr lang="en-US" sz="1800" b="0" i="0" u="none" strike="noStrike" baseline="0" dirty="0">
                <a:latin typeface="AkzidenzGroteskBE-Regular"/>
              </a:rPr>
              <a:t> </a:t>
            </a:r>
            <a:r>
              <a:rPr lang="en-US" sz="1800" b="0" i="0" u="none" strike="noStrike" baseline="0" dirty="0">
                <a:latin typeface="Minion-Regular"/>
              </a:rPr>
              <a:t>operations read the</a:t>
            </a:r>
          </a:p>
          <a:p>
            <a:pPr algn="l"/>
            <a:r>
              <a:rPr lang="en-US" sz="1800" b="0" i="0" u="none" strike="noStrike" baseline="0" dirty="0">
                <a:latin typeface="Minion-Regular"/>
              </a:rPr>
              <a:t>database values from the initial database </a:t>
            </a:r>
            <a:r>
              <a:rPr lang="en-US" sz="1800" b="0" i="0" u="none" strike="noStrike" baseline="0" dirty="0" err="1">
                <a:latin typeface="Minion-Regular"/>
              </a:rPr>
              <a:t>state.Additionally</a:t>
            </a:r>
            <a:r>
              <a:rPr lang="en-US" sz="1800" b="0" i="0" u="none" strike="noStrike" baseline="0" dirty="0">
                <a:latin typeface="Minion-Regular"/>
              </a:rPr>
              <a:t>, </a:t>
            </a:r>
            <a:r>
              <a:rPr lang="en-US" sz="1800" b="0" i="1" u="none" strike="noStrike" baseline="0" dirty="0">
                <a:latin typeface="Minion-Italic"/>
              </a:rPr>
              <a:t>T</a:t>
            </a:r>
            <a:r>
              <a:rPr lang="en-US" sz="1800" b="0" i="0" u="none" strike="noStrike" baseline="0" dirty="0">
                <a:latin typeface="Minion-Regular"/>
              </a:rPr>
              <a:t>1 is the last transaction</a:t>
            </a:r>
          </a:p>
          <a:p>
            <a:pPr algn="l"/>
            <a:r>
              <a:rPr lang="en-US" sz="1800" b="0" i="0" u="none" strike="noStrike" baseline="0" dirty="0">
                <a:latin typeface="Minion-Regular"/>
              </a:rPr>
              <a:t>to write </a:t>
            </a:r>
            <a:r>
              <a:rPr lang="en-US" sz="1800" b="0" i="1" u="none" strike="noStrike" baseline="0" dirty="0">
                <a:latin typeface="Minion-Italic"/>
              </a:rPr>
              <a:t>Y</a:t>
            </a:r>
            <a:r>
              <a:rPr lang="en-US" sz="1800" b="0" i="0" u="none" strike="noStrike" baseline="0" dirty="0">
                <a:latin typeface="Minion-Regular"/>
              </a:rPr>
              <a:t>, and </a:t>
            </a:r>
            <a:r>
              <a:rPr lang="en-US" sz="1800" b="0" i="1" u="none" strike="noStrike" baseline="0" dirty="0">
                <a:latin typeface="Minion-Italic"/>
              </a:rPr>
              <a:t>T</a:t>
            </a:r>
            <a:r>
              <a:rPr lang="en-US" sz="1800" b="0" i="0" u="none" strike="noStrike" baseline="0" dirty="0">
                <a:latin typeface="Minion-Regular"/>
              </a:rPr>
              <a:t>2 is the last transaction to write </a:t>
            </a:r>
            <a:r>
              <a:rPr lang="en-US" sz="1800" b="0" i="1" u="none" strike="noStrike" baseline="0" dirty="0">
                <a:latin typeface="Minion-Italic"/>
              </a:rPr>
              <a:t>X </a:t>
            </a:r>
            <a:r>
              <a:rPr lang="en-US" sz="1800" b="0" i="0" u="none" strike="noStrike" baseline="0" dirty="0">
                <a:latin typeface="Minion-Regular"/>
              </a:rPr>
              <a:t>in both schedules. Because A is a</a:t>
            </a:r>
          </a:p>
          <a:p>
            <a:pPr algn="l"/>
            <a:r>
              <a:rPr lang="en-US" sz="1800" b="0" i="0" u="none" strike="noStrike" baseline="0" dirty="0">
                <a:latin typeface="Minion-Regular"/>
              </a:rPr>
              <a:t>serial schedule and schedule D is equivalent to A, D is a serializable schedule.</a:t>
            </a:r>
          </a:p>
          <a:p>
            <a:pPr algn="l"/>
            <a:endParaRPr lang="en-US" sz="1800" b="0" i="0" u="none" strike="noStrike" baseline="0" dirty="0">
              <a:latin typeface="Minion-Regular"/>
            </a:endParaRPr>
          </a:p>
          <a:p>
            <a:pPr algn="l"/>
            <a:r>
              <a:rPr lang="en-US" sz="1800" b="0" i="0" u="none" strike="noStrike" baseline="0" dirty="0">
                <a:latin typeface="Minion-Regular"/>
              </a:rPr>
              <a:t>Schedule C in Figure 21.5(c) is not equivalent to either of the two possible serial</a:t>
            </a:r>
          </a:p>
          <a:p>
            <a:pPr algn="l"/>
            <a:r>
              <a:rPr lang="en-US" sz="1800" b="0" i="0" u="none" strike="noStrike" baseline="0" dirty="0">
                <a:latin typeface="Minion-Regular"/>
              </a:rPr>
              <a:t>schedules A and B, and hence is </a:t>
            </a:r>
            <a:r>
              <a:rPr lang="en-US" sz="1800" b="0" i="1" u="none" strike="noStrike" baseline="0" dirty="0">
                <a:latin typeface="Minion-Italic"/>
              </a:rPr>
              <a:t>not serializable</a:t>
            </a:r>
            <a:r>
              <a:rPr lang="en-US" sz="1800" b="0" i="0" u="none" strike="noStrike" baseline="0" dirty="0">
                <a:latin typeface="Minion-Regular"/>
              </a:rPr>
              <a:t>. Trying to reorder the operations of</a:t>
            </a:r>
          </a:p>
          <a:p>
            <a:pPr algn="l"/>
            <a:r>
              <a:rPr lang="en-US" sz="1800" b="0" i="0" u="none" strike="noStrike" baseline="0" dirty="0">
                <a:latin typeface="Minion-Regular"/>
              </a:rPr>
              <a:t>schedule C to find an equivalent serial schedule fails because </a:t>
            </a:r>
            <a:r>
              <a:rPr lang="en-US" sz="1800" b="0" i="1" u="none" strike="noStrike" baseline="0" dirty="0">
                <a:latin typeface="Minion-Italic"/>
              </a:rPr>
              <a:t>r</a:t>
            </a:r>
            <a:r>
              <a:rPr lang="en-US" sz="1800" b="0" i="0" u="none" strike="noStrike" baseline="0" dirty="0">
                <a:latin typeface="Minion-Regular"/>
              </a:rPr>
              <a:t>2(</a:t>
            </a:r>
            <a:r>
              <a:rPr lang="en-US" sz="1800" b="0" i="1" u="none" strike="noStrike" baseline="0" dirty="0">
                <a:latin typeface="Minion-Italic"/>
              </a:rPr>
              <a:t>X</a:t>
            </a:r>
            <a:r>
              <a:rPr lang="en-US" sz="1800" b="0" i="0" u="none" strike="noStrike" baseline="0" dirty="0">
                <a:latin typeface="Minion-Regular"/>
              </a:rPr>
              <a:t>) and </a:t>
            </a:r>
            <a:r>
              <a:rPr lang="en-US" sz="1800" b="0" i="1" u="none" strike="noStrike" baseline="0" dirty="0">
                <a:latin typeface="Minion-Italic"/>
              </a:rPr>
              <a:t>w</a:t>
            </a:r>
            <a:r>
              <a:rPr lang="en-US" sz="1800" b="0" i="0" u="none" strike="noStrike" baseline="0" dirty="0">
                <a:latin typeface="Minion-Regular"/>
              </a:rPr>
              <a:t>1(</a:t>
            </a:r>
            <a:r>
              <a:rPr lang="en-US" sz="1800" b="0" i="1" u="none" strike="noStrike" baseline="0" dirty="0">
                <a:latin typeface="Minion-Italic"/>
              </a:rPr>
              <a:t>X</a:t>
            </a:r>
            <a:r>
              <a:rPr lang="en-US" sz="1800" b="0" i="0" u="none" strike="noStrike" baseline="0" dirty="0">
                <a:latin typeface="Minion-Regular"/>
              </a:rPr>
              <a:t>) conflict,</a:t>
            </a:r>
          </a:p>
          <a:p>
            <a:pPr algn="l"/>
            <a:r>
              <a:rPr lang="en-US" sz="1800" b="0" i="0" u="none" strike="noStrike" baseline="0" dirty="0">
                <a:latin typeface="Minion-Regular"/>
              </a:rPr>
              <a:t>which means that we cannot move </a:t>
            </a:r>
            <a:r>
              <a:rPr lang="en-US" sz="1800" b="0" i="1" u="none" strike="noStrike" baseline="0" dirty="0">
                <a:latin typeface="Minion-Italic"/>
              </a:rPr>
              <a:t>r</a:t>
            </a:r>
            <a:r>
              <a:rPr lang="en-US" sz="1800" b="0" i="0" u="none" strike="noStrike" baseline="0" dirty="0">
                <a:latin typeface="Minion-Regular"/>
              </a:rPr>
              <a:t>2(</a:t>
            </a:r>
            <a:r>
              <a:rPr lang="en-US" sz="1800" b="0" i="1" u="none" strike="noStrike" baseline="0" dirty="0">
                <a:latin typeface="Minion-Italic"/>
              </a:rPr>
              <a:t>X</a:t>
            </a:r>
            <a:r>
              <a:rPr lang="en-US" sz="1800" b="0" i="0" u="none" strike="noStrike" baseline="0" dirty="0">
                <a:latin typeface="Minion-Regular"/>
              </a:rPr>
              <a:t>) down to get the equivalent serial</a:t>
            </a:r>
          </a:p>
          <a:p>
            <a:pPr algn="l"/>
            <a:r>
              <a:rPr lang="en-US" sz="1800" b="0" i="0" u="none" strike="noStrike" baseline="0" dirty="0">
                <a:latin typeface="Minion-Regular"/>
              </a:rPr>
              <a:t>schedule </a:t>
            </a:r>
            <a:r>
              <a:rPr lang="en-US" sz="1800" b="0" i="1" u="none" strike="noStrike" baseline="0" dirty="0">
                <a:latin typeface="Minion-Italic"/>
              </a:rPr>
              <a:t>T</a:t>
            </a:r>
            <a:r>
              <a:rPr lang="en-US" sz="1800" b="0" i="0" u="none" strike="noStrike" baseline="0" dirty="0">
                <a:latin typeface="Minion-Regular"/>
              </a:rPr>
              <a:t>1, </a:t>
            </a:r>
            <a:r>
              <a:rPr lang="en-US" sz="1800" b="0" i="1" u="none" strike="noStrike" baseline="0" dirty="0">
                <a:latin typeface="Minion-Italic"/>
              </a:rPr>
              <a:t>T</a:t>
            </a:r>
            <a:r>
              <a:rPr lang="en-US" sz="1800" b="0" i="0" u="none" strike="noStrike" baseline="0" dirty="0">
                <a:latin typeface="Minion-Regular"/>
              </a:rPr>
              <a:t>2. Similarly, because </a:t>
            </a:r>
            <a:r>
              <a:rPr lang="en-US" sz="1800" b="0" i="1" u="none" strike="noStrike" baseline="0" dirty="0">
                <a:latin typeface="Minion-Italic"/>
              </a:rPr>
              <a:t>w</a:t>
            </a:r>
            <a:r>
              <a:rPr lang="en-US" sz="1800" b="0" i="0" u="none" strike="noStrike" baseline="0" dirty="0">
                <a:latin typeface="Minion-Regular"/>
              </a:rPr>
              <a:t>1(</a:t>
            </a:r>
            <a:r>
              <a:rPr lang="en-US" sz="1800" b="0" i="1" u="none" strike="noStrike" baseline="0" dirty="0">
                <a:latin typeface="Minion-Italic"/>
              </a:rPr>
              <a:t>X</a:t>
            </a:r>
            <a:r>
              <a:rPr lang="en-US" sz="1800" b="0" i="0" u="none" strike="noStrike" baseline="0" dirty="0">
                <a:latin typeface="Minion-Regular"/>
              </a:rPr>
              <a:t>) and </a:t>
            </a:r>
            <a:r>
              <a:rPr lang="en-US" sz="1800" b="0" i="1" u="none" strike="noStrike" baseline="0" dirty="0">
                <a:latin typeface="Minion-Italic"/>
              </a:rPr>
              <a:t>w</a:t>
            </a:r>
            <a:r>
              <a:rPr lang="en-US" sz="1800" b="0" i="0" u="none" strike="noStrike" baseline="0" dirty="0">
                <a:latin typeface="Minion-Regular"/>
              </a:rPr>
              <a:t>2(</a:t>
            </a:r>
            <a:r>
              <a:rPr lang="en-US" sz="1800" b="0" i="1" u="none" strike="noStrike" baseline="0" dirty="0">
                <a:latin typeface="Minion-Italic"/>
              </a:rPr>
              <a:t>X</a:t>
            </a:r>
            <a:r>
              <a:rPr lang="en-US" sz="1800" b="0" i="0" u="none" strike="noStrike" baseline="0" dirty="0">
                <a:latin typeface="Minion-Regular"/>
              </a:rPr>
              <a:t>) conflict, we cannot move </a:t>
            </a:r>
            <a:r>
              <a:rPr lang="en-US" sz="1800" b="0" i="1" u="none" strike="noStrike" baseline="0" dirty="0">
                <a:latin typeface="Minion-Italic"/>
              </a:rPr>
              <a:t>w</a:t>
            </a:r>
            <a:r>
              <a:rPr lang="en-US" sz="1800" b="0" i="0" u="none" strike="noStrike" baseline="0" dirty="0">
                <a:latin typeface="Minion-Regular"/>
              </a:rPr>
              <a:t>1(</a:t>
            </a:r>
            <a:r>
              <a:rPr lang="en-US" sz="1800" b="0" i="1" u="none" strike="noStrike" baseline="0" dirty="0">
                <a:latin typeface="Minion-Italic"/>
              </a:rPr>
              <a:t>X</a:t>
            </a:r>
            <a:r>
              <a:rPr lang="en-US" sz="1800" b="0" i="0" u="none" strike="noStrike" baseline="0" dirty="0">
                <a:latin typeface="Minion-Regular"/>
              </a:rPr>
              <a:t>)</a:t>
            </a:r>
          </a:p>
          <a:p>
            <a:pPr algn="l"/>
            <a:r>
              <a:rPr lang="en-US" sz="1800" b="0" i="0" u="none" strike="noStrike" baseline="0" dirty="0">
                <a:latin typeface="Minion-Regular"/>
              </a:rPr>
              <a:t>down to get the equivalent serial schedule </a:t>
            </a:r>
            <a:r>
              <a:rPr lang="en-US" sz="1800" b="0" i="1" u="none" strike="noStrike" baseline="0" dirty="0">
                <a:latin typeface="Minion-Italic"/>
              </a:rPr>
              <a:t>T</a:t>
            </a:r>
            <a:r>
              <a:rPr lang="en-US" sz="1800" b="0" i="0" u="none" strike="noStrike" baseline="0" dirty="0">
                <a:latin typeface="Minion-Regular"/>
              </a:rPr>
              <a:t>2, </a:t>
            </a:r>
            <a:r>
              <a:rPr lang="en-US" sz="1800" b="0" i="1" u="none" strike="noStrike" baseline="0" dirty="0">
                <a:latin typeface="Minion-Italic"/>
              </a:rPr>
              <a:t>T</a:t>
            </a:r>
            <a:r>
              <a:rPr lang="en-US" sz="1800" b="0" i="0" u="none" strike="noStrike" baseline="0" dirty="0">
                <a:latin typeface="Minion-Regular"/>
              </a:rPr>
              <a:t>1.</a:t>
            </a:r>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33</a:t>
            </a:fld>
            <a:endParaRPr lang="en-CA" altLang="en-US" dirty="0"/>
          </a:p>
        </p:txBody>
      </p:sp>
    </p:spTree>
    <p:extLst>
      <p:ext uri="{BB962C8B-B14F-4D97-AF65-F5344CB8AC3E}">
        <p14:creationId xmlns:p14="http://schemas.microsoft.com/office/powerpoint/2010/main" val="41398313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35</a:t>
            </a:fld>
            <a:endParaRPr lang="en-CA" altLang="en-US" dirty="0"/>
          </a:p>
        </p:txBody>
      </p:sp>
    </p:spTree>
    <p:extLst>
      <p:ext uri="{BB962C8B-B14F-4D97-AF65-F5344CB8AC3E}">
        <p14:creationId xmlns:p14="http://schemas.microsoft.com/office/powerpoint/2010/main" val="20608065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Minion-Regular"/>
              </a:rPr>
              <a:t>The idea behind view equivalence is that, as long as each read operation of a transaction reads the result of the same write operation in both schedules, the write operations of each transaction must produce the same results. The read operations are hence said to </a:t>
            </a:r>
            <a:r>
              <a:rPr lang="en-US" sz="1800" b="0" i="1" u="none" strike="noStrike" baseline="0" dirty="0">
                <a:latin typeface="Minion-Italic"/>
              </a:rPr>
              <a:t>see the same view </a:t>
            </a:r>
            <a:r>
              <a:rPr lang="en-US" sz="1800" b="0" i="0" u="none" strike="noStrike" baseline="0" dirty="0">
                <a:latin typeface="Minion-Regular"/>
              </a:rPr>
              <a:t>in both schedules. Condition 3 ensures that the final write operation on each data item is the same in both schedules, so the database</a:t>
            </a:r>
          </a:p>
          <a:p>
            <a:pPr algn="l"/>
            <a:r>
              <a:rPr lang="en-US" sz="1800" b="0" i="0" u="none" strike="noStrike" baseline="0" dirty="0">
                <a:latin typeface="Minion-Regular"/>
              </a:rPr>
              <a:t>state should be the same at the end of both schedules. A schedule </a:t>
            </a:r>
            <a:r>
              <a:rPr lang="en-US" sz="1800" b="0" i="1" u="none" strike="noStrike" baseline="0" dirty="0">
                <a:latin typeface="Minion-Italic"/>
              </a:rPr>
              <a:t>S </a:t>
            </a:r>
            <a:r>
              <a:rPr lang="en-US" sz="1800" b="0" i="0" u="none" strike="noStrike" baseline="0" dirty="0">
                <a:latin typeface="Minion-Regular"/>
              </a:rPr>
              <a:t>is said to be </a:t>
            </a:r>
            <a:r>
              <a:rPr lang="en-US" sz="1800" b="1" i="0" u="none" strike="noStrike" baseline="0" dirty="0">
                <a:latin typeface="Minion-Bold"/>
              </a:rPr>
              <a:t>view serializable </a:t>
            </a:r>
            <a:r>
              <a:rPr lang="en-US" sz="1800" b="0" i="0" u="none" strike="noStrike" baseline="0" dirty="0">
                <a:latin typeface="Minion-Regular"/>
              </a:rPr>
              <a:t>if it is view equivalent to a serial schedule.</a:t>
            </a:r>
            <a:endParaRPr lang="en-US" dirty="0"/>
          </a:p>
        </p:txBody>
      </p:sp>
      <p:sp>
        <p:nvSpPr>
          <p:cNvPr id="4" name="Slide Number Placeholder 3"/>
          <p:cNvSpPr>
            <a:spLocks noGrp="1"/>
          </p:cNvSpPr>
          <p:nvPr>
            <p:ph type="sldNum" sz="quarter" idx="5"/>
          </p:nvPr>
        </p:nvSpPr>
        <p:spPr/>
        <p:txBody>
          <a:bodyPr/>
          <a:lstStyle/>
          <a:p>
            <a:pPr>
              <a:defRPr/>
            </a:pPr>
            <a:fld id="{436D5273-BB71-4B6D-8615-6E06E0D77921}" type="slidenum">
              <a:rPr lang="en-CA" altLang="en-US" smtClean="0"/>
              <a:pPr>
                <a:defRPr/>
              </a:pPr>
              <a:t>37</a:t>
            </a:fld>
            <a:endParaRPr lang="en-CA" altLang="en-US" dirty="0"/>
          </a:p>
        </p:txBody>
      </p:sp>
    </p:spTree>
    <p:extLst>
      <p:ext uri="{BB962C8B-B14F-4D97-AF65-F5344CB8AC3E}">
        <p14:creationId xmlns:p14="http://schemas.microsoft.com/office/powerpoint/2010/main" val="35982130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Rectangle 44"/>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sp>
        <p:nvSpPr>
          <p:cNvPr id="5" name="Rectangle 47"/>
          <p:cNvSpPr>
            <a:spLocks noChangeArrowheads="1"/>
          </p:cNvSpPr>
          <p:nvPr userDrawn="1"/>
        </p:nvSpPr>
        <p:spPr bwMode="auto">
          <a:xfrm rot="16200000">
            <a:off x="3500437" y="-985837"/>
            <a:ext cx="2143125" cy="9144000"/>
          </a:xfrm>
          <a:prstGeom prst="rect">
            <a:avLst/>
          </a:prstGeom>
          <a:solidFill>
            <a:srgbClr val="677228">
              <a:alpha val="43921"/>
            </a:srgbClr>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sp>
        <p:nvSpPr>
          <p:cNvPr id="6" name="Rectangle 48"/>
          <p:cNvSpPr>
            <a:spLocks noChangeArrowheads="1"/>
          </p:cNvSpPr>
          <p:nvPr userDrawn="1"/>
        </p:nvSpPr>
        <p:spPr bwMode="auto">
          <a:xfrm>
            <a:off x="7315200" y="2438400"/>
            <a:ext cx="1828800" cy="2290763"/>
          </a:xfrm>
          <a:prstGeom prst="rect">
            <a:avLst/>
          </a:prstGeom>
          <a:solidFill>
            <a:schemeClr val="bg1"/>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defRPr/>
            </a:pPr>
            <a:endParaRPr lang="en-US" altLang="en-US" dirty="0">
              <a:ea typeface="+mn-ea"/>
            </a:endParaRPr>
          </a:p>
        </p:txBody>
      </p:sp>
      <p:pic>
        <p:nvPicPr>
          <p:cNvPr id="7" name="Picture 35" descr="awtri_4c UPDATE_colo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5949950"/>
            <a:ext cx="68421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6" descr="elmasri_thumb"/>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19975" y="2514600"/>
            <a:ext cx="17240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6" name="Rectangle 30" descr="Pink tissue paper"/>
          <p:cNvSpPr>
            <a:spLocks noGrp="1" noChangeArrowheads="1"/>
          </p:cNvSpPr>
          <p:nvPr>
            <p:ph type="ctrTitle" sz="quarter"/>
          </p:nvPr>
        </p:nvSpPr>
        <p:spPr>
          <a:xfrm>
            <a:off x="228600" y="152400"/>
            <a:ext cx="7086600" cy="2286000"/>
          </a:xfrm>
        </p:spPr>
        <p:txBody>
          <a:bodyPr wrap="none" anchor="ctr"/>
          <a:lstStyle>
            <a:lvl1pPr>
              <a:defRPr sz="6600">
                <a:solidFill>
                  <a:srgbClr val="990033"/>
                </a:solidFill>
              </a:defRPr>
            </a:lvl1pPr>
          </a:lstStyle>
          <a:p>
            <a:r>
              <a:rPr lang="en-US"/>
              <a:t>Click to edit Master title style</a:t>
            </a:r>
          </a:p>
        </p:txBody>
      </p:sp>
      <p:sp>
        <p:nvSpPr>
          <p:cNvPr id="4134" name="Rectangle 38" descr="Pink tissue paper"/>
          <p:cNvSpPr>
            <a:spLocks noGrp="1" noChangeArrowheads="1"/>
          </p:cNvSpPr>
          <p:nvPr>
            <p:ph type="subTitle" sz="quarter" idx="1"/>
          </p:nvPr>
        </p:nvSpPr>
        <p:spPr>
          <a:xfrm>
            <a:off x="304800" y="2590800"/>
            <a:ext cx="6629400" cy="1905000"/>
          </a:xfrm>
        </p:spPr>
        <p:txBody>
          <a:bodyPr/>
          <a:lstStyle>
            <a:lvl1pPr marL="0" indent="0">
              <a:buFont typeface="Wingdings" pitchFamily="2" charset="2"/>
              <a:buNone/>
              <a:defRPr sz="3200"/>
            </a:lvl1pPr>
          </a:lstStyle>
          <a:p>
            <a:r>
              <a:rPr lang="en-US"/>
              <a:t>Click to edit Master subtitle style</a:t>
            </a:r>
          </a:p>
        </p:txBody>
      </p:sp>
      <p:sp>
        <p:nvSpPr>
          <p:cNvPr id="9" name="Rectangle 29"/>
          <p:cNvSpPr>
            <a:spLocks noGrp="1" noChangeArrowheads="1"/>
          </p:cNvSpPr>
          <p:nvPr>
            <p:ph type="ftr" sz="quarter" idx="10"/>
          </p:nvPr>
        </p:nvSpPr>
        <p:spPr bwMode="auto">
          <a:xfrm>
            <a:off x="838200" y="6397625"/>
            <a:ext cx="44958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900" dirty="0"/>
            </a:lvl1pPr>
          </a:lstStyle>
          <a:p>
            <a:pPr>
              <a:defRPr/>
            </a:pPr>
            <a:r>
              <a:rPr lang="en-US" altLang="en-US" dirty="0"/>
              <a:t>Copyright © 2007 Ramez Elmasri and Shamkant B. Navathe</a:t>
            </a:r>
          </a:p>
        </p:txBody>
      </p:sp>
    </p:spTree>
    <p:extLst>
      <p:ext uri="{BB962C8B-B14F-4D97-AF65-F5344CB8AC3E}">
        <p14:creationId xmlns:p14="http://schemas.microsoft.com/office/powerpoint/2010/main" val="1170111654"/>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p:txBody>
          <a:bodyPr/>
          <a:lstStyle>
            <a:lvl1pPr>
              <a:defRPr dirty="0"/>
            </a:lvl1pPr>
          </a:lstStyle>
          <a:p>
            <a:pPr>
              <a:defRPr/>
            </a:pPr>
            <a:r>
              <a:rPr lang="en-US" altLang="en-US" dirty="0"/>
              <a:t>Slide 16- </a:t>
            </a:r>
            <a:fld id="{2D4306B9-CFD7-4637-81D1-AA1B82412423}" type="slidenum">
              <a:rPr lang="en-US" altLang="en-US" smtClean="0"/>
              <a:pPr>
                <a:defRPr/>
              </a:pPr>
              <a:t>‹#›</a:t>
            </a:fld>
            <a:endParaRPr lang="en-CA" altLang="en-US" dirty="0"/>
          </a:p>
        </p:txBody>
      </p:sp>
    </p:spTree>
    <p:extLst>
      <p:ext uri="{BB962C8B-B14F-4D97-AF65-F5344CB8AC3E}">
        <p14:creationId xmlns:p14="http://schemas.microsoft.com/office/powerpoint/2010/main" val="3720604887"/>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3"/>
          <p:cNvSpPr>
            <a:spLocks noGrp="1" noChangeArrowheads="1"/>
          </p:cNvSpPr>
          <p:nvPr>
            <p:ph type="sldNum" sz="quarter" idx="10"/>
          </p:nvPr>
        </p:nvSpPr>
        <p:spPr/>
        <p:txBody>
          <a:bodyPr/>
          <a:lstStyle>
            <a:lvl1pPr>
              <a:defRPr dirty="0"/>
            </a:lvl1pPr>
          </a:lstStyle>
          <a:p>
            <a:pPr>
              <a:defRPr/>
            </a:pPr>
            <a:r>
              <a:rPr lang="en-US" altLang="en-US" dirty="0"/>
              <a:t>Slide 8- </a:t>
            </a:r>
            <a:fld id="{7A02EE0B-CF5B-49DD-B29C-C82657CC615B}" type="slidenum">
              <a:rPr lang="en-US" altLang="en-US"/>
              <a:pPr>
                <a:defRPr/>
              </a:pPr>
              <a:t>‹#›</a:t>
            </a:fld>
            <a:endParaRPr lang="en-CA" altLang="en-US" dirty="0"/>
          </a:p>
        </p:txBody>
      </p:sp>
    </p:spTree>
    <p:extLst>
      <p:ext uri="{BB962C8B-B14F-4D97-AF65-F5344CB8AC3E}">
        <p14:creationId xmlns:p14="http://schemas.microsoft.com/office/powerpoint/2010/main" val="105856396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 8- </a:t>
            </a:r>
            <a:fld id="{157626D3-FBE7-4AF6-B557-9371DF211786}" type="slidenum">
              <a:rPr lang="en-US" altLang="en-US"/>
              <a:pPr>
                <a:defRPr/>
              </a:pPr>
              <a:t>‹#›</a:t>
            </a:fld>
            <a:endParaRPr lang="en-CA" altLang="en-US" dirty="0"/>
          </a:p>
        </p:txBody>
      </p:sp>
    </p:spTree>
    <p:extLst>
      <p:ext uri="{BB962C8B-B14F-4D97-AF65-F5344CB8AC3E}">
        <p14:creationId xmlns:p14="http://schemas.microsoft.com/office/powerpoint/2010/main" val="236949727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3"/>
          <p:cNvSpPr>
            <a:spLocks noGrp="1" noChangeArrowheads="1"/>
          </p:cNvSpPr>
          <p:nvPr>
            <p:ph type="sldNum" sz="quarter" idx="10"/>
          </p:nvPr>
        </p:nvSpPr>
        <p:spPr/>
        <p:txBody>
          <a:bodyPr/>
          <a:lstStyle>
            <a:lvl1pPr>
              <a:defRPr dirty="0"/>
            </a:lvl1pPr>
          </a:lstStyle>
          <a:p>
            <a:pPr>
              <a:defRPr/>
            </a:pPr>
            <a:r>
              <a:rPr lang="en-US" altLang="en-US" dirty="0"/>
              <a:t>Slide 8</a:t>
            </a:r>
            <a:fld id="{9A18E815-F6A2-4923-9D65-2D0CBE43B595}" type="slidenum">
              <a:rPr lang="en-US" altLang="en-US"/>
              <a:pPr>
                <a:defRPr/>
              </a:pPr>
              <a:t>‹#›</a:t>
            </a:fld>
            <a:endParaRPr lang="en-CA" altLang="en-US" dirty="0"/>
          </a:p>
        </p:txBody>
      </p:sp>
    </p:spTree>
    <p:extLst>
      <p:ext uri="{BB962C8B-B14F-4D97-AF65-F5344CB8AC3E}">
        <p14:creationId xmlns:p14="http://schemas.microsoft.com/office/powerpoint/2010/main" val="2624315995"/>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3"/>
          <p:cNvSpPr>
            <a:spLocks noGrp="1" noChangeArrowheads="1"/>
          </p:cNvSpPr>
          <p:nvPr>
            <p:ph type="sldNum" sz="quarter" idx="10"/>
          </p:nvPr>
        </p:nvSpPr>
        <p:spPr/>
        <p:txBody>
          <a:bodyPr/>
          <a:lstStyle>
            <a:lvl1pPr>
              <a:defRPr dirty="0"/>
            </a:lvl1pPr>
          </a:lstStyle>
          <a:p>
            <a:pPr>
              <a:defRPr/>
            </a:pPr>
            <a:r>
              <a:rPr lang="en-US" altLang="en-US" dirty="0"/>
              <a:t>Slide 16-</a:t>
            </a:r>
            <a:fld id="{AEE05831-3758-41FE-86C8-A42338BA7B7B}" type="slidenum">
              <a:rPr lang="en-US" altLang="en-US" smtClean="0"/>
              <a:pPr>
                <a:defRPr/>
              </a:pPr>
              <a:t>‹#›</a:t>
            </a:fld>
            <a:endParaRPr lang="en-CA" altLang="en-US" dirty="0"/>
          </a:p>
        </p:txBody>
      </p:sp>
    </p:spTree>
    <p:extLst>
      <p:ext uri="{BB962C8B-B14F-4D97-AF65-F5344CB8AC3E}">
        <p14:creationId xmlns:p14="http://schemas.microsoft.com/office/powerpoint/2010/main" val="315082753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3"/>
          <p:cNvSpPr>
            <a:spLocks noGrp="1" noChangeArrowheads="1"/>
          </p:cNvSpPr>
          <p:nvPr>
            <p:ph type="sldNum" sz="quarter" idx="10"/>
          </p:nvPr>
        </p:nvSpPr>
        <p:spPr/>
        <p:txBody>
          <a:bodyPr/>
          <a:lstStyle>
            <a:lvl1pPr>
              <a:defRPr dirty="0"/>
            </a:lvl1pPr>
          </a:lstStyle>
          <a:p>
            <a:pPr>
              <a:defRPr/>
            </a:pPr>
            <a:r>
              <a:rPr lang="en-US" altLang="en-US" dirty="0"/>
              <a:t>Slide 8- </a:t>
            </a:r>
            <a:fld id="{CBCCE3FE-FCB0-427A-BC32-764E10629896}" type="slidenum">
              <a:rPr lang="en-US" altLang="en-US"/>
              <a:pPr>
                <a:defRPr/>
              </a:pPr>
              <a:t>‹#›</a:t>
            </a:fld>
            <a:endParaRPr lang="en-CA" altLang="en-US" dirty="0"/>
          </a:p>
        </p:txBody>
      </p:sp>
    </p:spTree>
    <p:extLst>
      <p:ext uri="{BB962C8B-B14F-4D97-AF65-F5344CB8AC3E}">
        <p14:creationId xmlns:p14="http://schemas.microsoft.com/office/powerpoint/2010/main" val="365023237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Slide8 </a:t>
            </a:r>
            <a:fld id="{048ADF35-6482-4E07-8BC7-E3CFDF0B9A27}" type="slidenum">
              <a:rPr lang="en-US" altLang="en-US"/>
              <a:pPr>
                <a:defRPr/>
              </a:pPr>
              <a:t>‹#›</a:t>
            </a:fld>
            <a:endParaRPr lang="en-CA" altLang="en-US" dirty="0"/>
          </a:p>
        </p:txBody>
      </p:sp>
    </p:spTree>
    <p:extLst>
      <p:ext uri="{BB962C8B-B14F-4D97-AF65-F5344CB8AC3E}">
        <p14:creationId xmlns:p14="http://schemas.microsoft.com/office/powerpoint/2010/main" val="1296369731"/>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3"/>
          <p:cNvSpPr>
            <a:spLocks noGrp="1" noChangeArrowheads="1"/>
          </p:cNvSpPr>
          <p:nvPr>
            <p:ph type="sldNum" sz="quarter" idx="10"/>
          </p:nvPr>
        </p:nvSpPr>
        <p:spPr/>
        <p:txBody>
          <a:bodyPr/>
          <a:lstStyle>
            <a:lvl1pPr>
              <a:defRPr dirty="0"/>
            </a:lvl1pPr>
          </a:lstStyle>
          <a:p>
            <a:pPr>
              <a:defRPr/>
            </a:pPr>
            <a:r>
              <a:rPr lang="en-US" altLang="en-US" dirty="0"/>
              <a:t>Slide 8</a:t>
            </a:r>
            <a:fld id="{E27E5C42-AAD2-460B-B565-B1930C1CFA80}" type="slidenum">
              <a:rPr lang="en-US" altLang="en-US"/>
              <a:pPr>
                <a:defRPr/>
              </a:pPr>
              <a:t>‹#›</a:t>
            </a:fld>
            <a:endParaRPr lang="en-CA" altLang="en-US" dirty="0"/>
          </a:p>
        </p:txBody>
      </p:sp>
    </p:spTree>
    <p:extLst>
      <p:ext uri="{BB962C8B-B14F-4D97-AF65-F5344CB8AC3E}">
        <p14:creationId xmlns:p14="http://schemas.microsoft.com/office/powerpoint/2010/main" val="156567681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US" altLang="en-US" dirty="0"/>
              <a:t>Slide 1- </a:t>
            </a:r>
            <a:fld id="{5A675477-443D-4187-9AD1-B464B649E3F6}" type="slidenum">
              <a:rPr lang="en-US" altLang="en-US"/>
              <a:pPr>
                <a:defRPr/>
              </a:pPr>
              <a:t>‹#›</a:t>
            </a:fld>
            <a:endParaRPr lang="en-CA" altLang="en-US" dirty="0"/>
          </a:p>
        </p:txBody>
      </p:sp>
    </p:spTree>
    <p:extLst>
      <p:ext uri="{BB962C8B-B14F-4D97-AF65-F5344CB8AC3E}">
        <p14:creationId xmlns:p14="http://schemas.microsoft.com/office/powerpoint/2010/main" val="114455930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p:cNvSpPr>
            <a:spLocks noGrp="1" noChangeArrowheads="1"/>
          </p:cNvSpPr>
          <p:nvPr>
            <p:ph type="sldNum" sz="quarter" idx="10"/>
          </p:nvPr>
        </p:nvSpPr>
        <p:spPr>
          <a:ln/>
        </p:spPr>
        <p:txBody>
          <a:bodyPr/>
          <a:lstStyle>
            <a:lvl1pPr>
              <a:defRPr/>
            </a:lvl1pPr>
          </a:lstStyle>
          <a:p>
            <a:pPr>
              <a:defRPr/>
            </a:pPr>
            <a:r>
              <a:rPr lang="en-US" altLang="en-US" dirty="0"/>
              <a:t>Slide 1- </a:t>
            </a:r>
            <a:fld id="{240EB54D-7454-4BE2-BB5F-3722C850C19C}" type="slidenum">
              <a:rPr lang="en-US" altLang="en-US"/>
              <a:pPr>
                <a:defRPr/>
              </a:pPr>
              <a:t>‹#›</a:t>
            </a:fld>
            <a:endParaRPr lang="en-CA" altLang="en-US" dirty="0"/>
          </a:p>
        </p:txBody>
      </p:sp>
    </p:spTree>
    <p:extLst>
      <p:ext uri="{BB962C8B-B14F-4D97-AF65-F5344CB8AC3E}">
        <p14:creationId xmlns:p14="http://schemas.microsoft.com/office/powerpoint/2010/main" val="126799445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45"/>
          <p:cNvGrpSpPr>
            <a:grpSpLocks/>
          </p:cNvGrpSpPr>
          <p:nvPr userDrawn="1"/>
        </p:nvGrpSpPr>
        <p:grpSpPr bwMode="auto">
          <a:xfrm>
            <a:off x="8936038" y="1449388"/>
            <a:ext cx="207962" cy="5408612"/>
            <a:chOff x="5606" y="889"/>
            <a:chExt cx="154" cy="3431"/>
          </a:xfrm>
        </p:grpSpPr>
        <p:sp>
          <p:nvSpPr>
            <p:cNvPr id="1032" name="Rectangle 38"/>
            <p:cNvSpPr>
              <a:spLocks noChangeArrowheads="1"/>
            </p:cNvSpPr>
            <p:nvPr userDrawn="1"/>
          </p:nvSpPr>
          <p:spPr bwMode="gray">
            <a:xfrm flipH="1">
              <a:off x="5685" y="889"/>
              <a:ext cx="75" cy="3431"/>
            </a:xfrm>
            <a:prstGeom prst="rect">
              <a:avLst/>
            </a:prstGeom>
            <a:solidFill>
              <a:srgbClr val="677228"/>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grpSp>
          <p:nvGrpSpPr>
            <p:cNvPr id="1033" name="Group 44"/>
            <p:cNvGrpSpPr>
              <a:grpSpLocks/>
            </p:cNvGrpSpPr>
            <p:nvPr userDrawn="1"/>
          </p:nvGrpSpPr>
          <p:grpSpPr bwMode="auto">
            <a:xfrm>
              <a:off x="5606" y="889"/>
              <a:ext cx="106" cy="3431"/>
              <a:chOff x="5606" y="889"/>
              <a:chExt cx="106" cy="3431"/>
            </a:xfrm>
          </p:grpSpPr>
          <p:sp>
            <p:nvSpPr>
              <p:cNvPr id="1034" name="Rectangle 43"/>
              <p:cNvSpPr>
                <a:spLocks noChangeArrowheads="1"/>
              </p:cNvSpPr>
              <p:nvPr userDrawn="1"/>
            </p:nvSpPr>
            <p:spPr bwMode="gray">
              <a:xfrm rot="10800000" flipH="1">
                <a:off x="5606" y="889"/>
                <a:ext cx="58" cy="3431"/>
              </a:xfrm>
              <a:prstGeom prst="rect">
                <a:avLst/>
              </a:prstGeom>
              <a:solidFill>
                <a:schemeClr val="tx2"/>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sp>
            <p:nvSpPr>
              <p:cNvPr id="1035" name="Rectangle 32"/>
              <p:cNvSpPr>
                <a:spLocks noChangeArrowheads="1"/>
              </p:cNvSpPr>
              <p:nvPr userDrawn="1"/>
            </p:nvSpPr>
            <p:spPr bwMode="gray">
              <a:xfrm rot="10800000" flipH="1">
                <a:off x="5654" y="889"/>
                <a:ext cx="58" cy="3431"/>
              </a:xfrm>
              <a:prstGeom prst="rect">
                <a:avLst/>
              </a:prstGeom>
              <a:solidFill>
                <a:srgbClr val="990033"/>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grpSp>
      </p:grpSp>
      <p:sp>
        <p:nvSpPr>
          <p:cNvPr id="1027" name="Rectangle 37"/>
          <p:cNvSpPr>
            <a:spLocks noChangeArrowheads="1"/>
          </p:cNvSpPr>
          <p:nvPr userDrawn="1"/>
        </p:nvSpPr>
        <p:spPr bwMode="gray">
          <a:xfrm rot="-5400000">
            <a:off x="3845719" y="-3845719"/>
            <a:ext cx="1449388" cy="9140825"/>
          </a:xfrm>
          <a:prstGeom prst="rect">
            <a:avLst/>
          </a:prstGeom>
          <a:solidFill>
            <a:srgbClr val="677228">
              <a:alpha val="36078"/>
            </a:srgbClr>
          </a:solidFill>
          <a:ln>
            <a:noFill/>
          </a:ln>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defRPr/>
            </a:pPr>
            <a:endParaRPr kumimoji="1" lang="en-US" altLang="en-US" sz="3200" dirty="0">
              <a:latin typeface="Tahoma" panose="020B0604030504040204" pitchFamily="34" charset="0"/>
              <a:ea typeface="+mn-ea"/>
            </a:endParaRPr>
          </a:p>
        </p:txBody>
      </p:sp>
      <p:sp>
        <p:nvSpPr>
          <p:cNvPr id="1028" name="Rectangle 9"/>
          <p:cNvSpPr>
            <a:spLocks noGrp="1" noChangeArrowheads="1"/>
          </p:cNvSpPr>
          <p:nvPr>
            <p:ph type="title"/>
          </p:nvPr>
        </p:nvSpPr>
        <p:spPr bwMode="auto">
          <a:xfrm>
            <a:off x="228600" y="303213"/>
            <a:ext cx="7796213" cy="99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85" name="Rectangle 13"/>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dirty="0">
                <a:solidFill>
                  <a:srgbClr val="990033"/>
                </a:solidFill>
              </a:defRPr>
            </a:lvl1pPr>
          </a:lstStyle>
          <a:p>
            <a:pPr>
              <a:defRPr/>
            </a:pPr>
            <a:r>
              <a:rPr lang="en-US" altLang="en-US" dirty="0"/>
              <a:t>Slide 1- </a:t>
            </a:r>
            <a:fld id="{9329CBBA-874A-4F55-ABEE-07EF29FD710E}" type="slidenum">
              <a:rPr lang="en-US" altLang="en-US"/>
              <a:pPr>
                <a:defRPr/>
              </a:pPr>
              <a:t>‹#›</a:t>
            </a:fld>
            <a:endParaRPr lang="en-CA" altLang="en-US" dirty="0"/>
          </a:p>
        </p:txBody>
      </p:sp>
      <p:sp>
        <p:nvSpPr>
          <p:cNvPr id="1030" name="Rectangle 21"/>
          <p:cNvSpPr>
            <a:spLocks noGrp="1" noChangeArrowheads="1"/>
          </p:cNvSpPr>
          <p:nvPr>
            <p:ph type="body" idx="1"/>
          </p:nvPr>
        </p:nvSpPr>
        <p:spPr bwMode="auto">
          <a:xfrm>
            <a:off x="239713" y="1600200"/>
            <a:ext cx="8294687"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1" name="Rectangle 30"/>
          <p:cNvSpPr>
            <a:spLocks noChangeArrowheads="1"/>
          </p:cNvSpPr>
          <p:nvPr/>
        </p:nvSpPr>
        <p:spPr bwMode="auto">
          <a:xfrm>
            <a:off x="838200" y="6397625"/>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Arial" pitchFamily="34" charset="0"/>
                <a:ea typeface="MS PGothic" pitchFamily="34" charset="-128"/>
              </a:defRPr>
            </a:lvl1pPr>
            <a:lvl2pPr marL="742950" indent="-285750">
              <a:defRPr sz="2400">
                <a:solidFill>
                  <a:schemeClr val="tx1"/>
                </a:solidFill>
                <a:latin typeface="Arial" pitchFamily="34" charset="0"/>
                <a:ea typeface="MS PGothic" pitchFamily="34" charset="-128"/>
              </a:defRPr>
            </a:lvl2pPr>
            <a:lvl3pPr marL="1143000" indent="-228600">
              <a:defRPr sz="2400">
                <a:solidFill>
                  <a:schemeClr val="tx1"/>
                </a:solidFill>
                <a:latin typeface="Arial" pitchFamily="34" charset="0"/>
                <a:ea typeface="MS PGothic" pitchFamily="34" charset="-128"/>
              </a:defRPr>
            </a:lvl3pPr>
            <a:lvl4pPr marL="1600200" indent="-228600">
              <a:defRPr sz="2400">
                <a:solidFill>
                  <a:schemeClr val="tx1"/>
                </a:solidFill>
                <a:latin typeface="Arial" pitchFamily="34" charset="0"/>
                <a:ea typeface="MS PGothic" pitchFamily="34" charset="-128"/>
              </a:defRPr>
            </a:lvl4pPr>
            <a:lvl5pPr marL="2057400" indent="-228600">
              <a:defRPr sz="2400">
                <a:solidFill>
                  <a:schemeClr val="tx1"/>
                </a:solidFill>
                <a:latin typeface="Arial" pitchFamily="34" charset="0"/>
                <a:ea typeface="MS PGothic"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MS PGothic"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MS PGothic"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MS PGothic"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MS PGothic" pitchFamily="34" charset="-128"/>
              </a:defRPr>
            </a:lvl9pPr>
          </a:lstStyle>
          <a:p>
            <a:pPr eaLnBrk="1" hangingPunct="1">
              <a:defRPr/>
            </a:pPr>
            <a:r>
              <a:rPr lang="en-US" altLang="en-US" sz="900" dirty="0"/>
              <a:t>Copyright © 2016 Ramez Elmasri and Shamkant B. Navathe</a:t>
            </a:r>
          </a:p>
        </p:txBody>
      </p:sp>
    </p:spTree>
  </p:cSld>
  <p:clrMap bg1="lt1" tx1="dk1" bg2="lt2" tx2="dk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24" r:id="rId5"/>
    <p:sldLayoutId id="2147484025" r:id="rId6"/>
    <p:sldLayoutId id="2147484026" r:id="rId7"/>
    <p:sldLayoutId id="2147484027" r:id="rId8"/>
    <p:sldLayoutId id="2147484028" r:id="rId9"/>
    <p:sldLayoutId id="2147484018" r:id="rId10"/>
    <p:sldLayoutId id="2147484019" r:id="rId11"/>
  </p:sldLayoutIdLst>
  <p:transition spd="med"/>
  <p:hf hdr="0" ftr="0" dt="0"/>
  <p:txStyles>
    <p:titleStyle>
      <a:lvl1pPr algn="l" rtl="0" eaLnBrk="0" fontAlgn="base" hangingPunct="0">
        <a:spcBef>
          <a:spcPct val="0"/>
        </a:spcBef>
        <a:spcAft>
          <a:spcPct val="0"/>
        </a:spcAft>
        <a:defRPr sz="3600">
          <a:solidFill>
            <a:srgbClr val="800000"/>
          </a:solidFill>
          <a:latin typeface="+mj-lt"/>
          <a:ea typeface="MS PGothic" panose="020B0600070205080204" pitchFamily="34" charset="-128"/>
          <a:cs typeface="MS PGothic" charset="0"/>
        </a:defRPr>
      </a:lvl1pPr>
      <a:lvl2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2pPr>
      <a:lvl3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3pPr>
      <a:lvl4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4pPr>
      <a:lvl5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a:solidFill>
            <a:schemeClr val="tx2"/>
          </a:solidFill>
          <a:latin typeface="+mn-lt"/>
          <a:ea typeface="MS PGothic" panose="020B0600070205080204" pitchFamily="34" charset="-128"/>
          <a:cs typeface="MS PGothic" charset="0"/>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a:solidFill>
            <a:srgbClr val="800000"/>
          </a:solidFill>
          <a:latin typeface="+mn-lt"/>
          <a:ea typeface="MS PGothic" panose="020B0600070205080204" pitchFamily="34" charset="-128"/>
          <a:cs typeface="MS PGothic" charset="0"/>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a:solidFill>
            <a:schemeClr val="tx2"/>
          </a:solidFill>
          <a:latin typeface="+mn-lt"/>
          <a:ea typeface="MS PGothic" panose="020B0600070205080204" pitchFamily="34" charset="-128"/>
          <a:cs typeface="MS PGothic" charset="0"/>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a:solidFill>
            <a:srgbClr val="800000"/>
          </a:solidFill>
          <a:latin typeface="+mn-lt"/>
          <a:ea typeface="MS PGothic" panose="020B0600070205080204" pitchFamily="34" charset="-128"/>
          <a:cs typeface="MS PGothic" charset="0"/>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mn-lt"/>
          <a:ea typeface="MS PGothic" panose="020B0600070205080204" pitchFamily="34" charset="-128"/>
          <a:cs typeface="MS PGothic" charset="0"/>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ubtitle 2"/>
          <p:cNvSpPr>
            <a:spLocks noGrp="1"/>
          </p:cNvSpPr>
          <p:nvPr>
            <p:ph idx="1"/>
          </p:nvPr>
        </p:nvSpPr>
        <p:spPr/>
        <p:txBody>
          <a:bodyPr/>
          <a:lstStyle/>
          <a:p>
            <a:pPr marL="0" indent="0" algn="ctr">
              <a:buFont typeface="Wingdings" panose="05000000000000000000" pitchFamily="2" charset="2"/>
              <a:buNone/>
            </a:pPr>
            <a:r>
              <a:rPr lang="en-US" altLang="en-US" sz="3200" b="1" dirty="0"/>
              <a:t>Module II</a:t>
            </a:r>
          </a:p>
          <a:p>
            <a:pPr marL="0" indent="0" algn="ctr">
              <a:buFont typeface="Wingdings" panose="05000000000000000000" pitchFamily="2" charset="2"/>
              <a:buNone/>
            </a:pPr>
            <a:endParaRPr lang="en-US" altLang="en-US" b="1" dirty="0"/>
          </a:p>
          <a:p>
            <a:pPr marL="0" indent="0" algn="ctr">
              <a:buNone/>
            </a:pPr>
            <a:r>
              <a:rPr lang="en-IN" sz="3600" dirty="0"/>
              <a:t>Transaction System, Testing of</a:t>
            </a:r>
          </a:p>
          <a:p>
            <a:pPr marL="0" indent="0" algn="ctr">
              <a:buNone/>
            </a:pPr>
            <a:r>
              <a:rPr lang="en-US" sz="3600" dirty="0" err="1"/>
              <a:t>Serializability</a:t>
            </a:r>
            <a:r>
              <a:rPr lang="en-US" sz="3600" dirty="0"/>
              <a:t>, </a:t>
            </a:r>
            <a:r>
              <a:rPr lang="en-US" sz="3600" dirty="0" err="1"/>
              <a:t>Serializability</a:t>
            </a:r>
            <a:r>
              <a:rPr lang="en-US" sz="3600" dirty="0"/>
              <a:t> of Schedules, Conflict &amp; View </a:t>
            </a:r>
            <a:r>
              <a:rPr lang="en-US" sz="3600" dirty="0" err="1"/>
              <a:t>Serializable</a:t>
            </a:r>
            <a:endParaRPr lang="en-US" sz="3600" dirty="0"/>
          </a:p>
          <a:p>
            <a:pPr marL="0" indent="0" algn="ctr">
              <a:buNone/>
            </a:pPr>
            <a:r>
              <a:rPr lang="en-US" sz="3600" dirty="0"/>
              <a:t>Schedule, Recoverability, Recovery from Transaction Failures, Log Based</a:t>
            </a:r>
          </a:p>
          <a:p>
            <a:pPr marL="0" indent="0" algn="ctr">
              <a:buNone/>
            </a:pPr>
            <a:r>
              <a:rPr lang="en-IN" sz="3600" dirty="0"/>
              <a:t>Recovery, Deadlock Handling.</a:t>
            </a:r>
            <a:endParaRPr lang="en-US" altLang="en-US" sz="3600" b="1"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Desirable Properties of Transactions </a:t>
            </a:r>
          </a:p>
        </p:txBody>
      </p:sp>
      <p:sp>
        <p:nvSpPr>
          <p:cNvPr id="3" name="Content Placeholder 2"/>
          <p:cNvSpPr>
            <a:spLocks noGrp="1"/>
          </p:cNvSpPr>
          <p:nvPr>
            <p:ph idx="1"/>
          </p:nvPr>
        </p:nvSpPr>
        <p:spPr/>
        <p:txBody>
          <a:bodyPr/>
          <a:lstStyle/>
          <a:p>
            <a:r>
              <a:rPr lang="en-US" dirty="0"/>
              <a:t>Transaction</a:t>
            </a:r>
          </a:p>
          <a:p>
            <a:pPr lvl="1"/>
            <a:r>
              <a:rPr lang="en-US" dirty="0"/>
              <a:t>Describes local unit of database processing</a:t>
            </a:r>
          </a:p>
          <a:p>
            <a:pPr marL="457200" lvl="1" indent="0">
              <a:buNone/>
            </a:pPr>
            <a:endParaRPr lang="en-US" dirty="0"/>
          </a:p>
          <a:p>
            <a:pPr marL="457200" lvl="1" indent="0">
              <a:buNone/>
            </a:pPr>
            <a:endParaRPr lang="en-US" dirty="0"/>
          </a:p>
          <a:p>
            <a:pPr marL="457200" lvl="1" indent="0">
              <a:buNone/>
            </a:pPr>
            <a:endParaRPr lang="en-US" dirty="0"/>
          </a:p>
          <a:p>
            <a:pPr marL="457200" lvl="1" indent="0">
              <a:buNone/>
            </a:pPr>
            <a:endParaRPr lang="en-US" dirty="0"/>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2</a:t>
            </a:fld>
            <a:endParaRPr lang="en-CA" altLang="en-US" dirty="0"/>
          </a:p>
        </p:txBody>
      </p:sp>
      <p:sp>
        <p:nvSpPr>
          <p:cNvPr id="6" name="TextBox 5">
            <a:extLst>
              <a:ext uri="{FF2B5EF4-FFF2-40B4-BE49-F238E27FC236}">
                <a16:creationId xmlns:a16="http://schemas.microsoft.com/office/drawing/2014/main" id="{71CE2E0A-ABBC-8898-3B60-01B25ED84053}"/>
              </a:ext>
            </a:extLst>
          </p:cNvPr>
          <p:cNvSpPr txBox="1"/>
          <p:nvPr/>
        </p:nvSpPr>
        <p:spPr>
          <a:xfrm>
            <a:off x="723900" y="2685871"/>
            <a:ext cx="7924800" cy="1200329"/>
          </a:xfrm>
          <a:prstGeom prst="rect">
            <a:avLst/>
          </a:prstGeom>
          <a:noFill/>
        </p:spPr>
        <p:txBody>
          <a:bodyPr wrap="square">
            <a:spAutoFit/>
          </a:bodyPr>
          <a:lstStyle/>
          <a:p>
            <a:r>
              <a:rPr lang="en-US" dirty="0"/>
              <a:t>In order to maintain consistency in a database, before and after the transaction, certain properties are followed. These are called ACID properties. </a:t>
            </a:r>
          </a:p>
        </p:txBody>
      </p:sp>
      <p:pic>
        <p:nvPicPr>
          <p:cNvPr id="7" name="Picture 6">
            <a:extLst>
              <a:ext uri="{FF2B5EF4-FFF2-40B4-BE49-F238E27FC236}">
                <a16:creationId xmlns:a16="http://schemas.microsoft.com/office/drawing/2014/main" id="{5F82855C-C84F-90D6-F72E-2ACDA6FC5F2B}"/>
              </a:ext>
            </a:extLst>
          </p:cNvPr>
          <p:cNvPicPr>
            <a:picLocks noChangeAspect="1"/>
          </p:cNvPicPr>
          <p:nvPr/>
        </p:nvPicPr>
        <p:blipFill>
          <a:blip r:embed="rId3"/>
          <a:stretch>
            <a:fillRect/>
          </a:stretch>
        </p:blipFill>
        <p:spPr>
          <a:xfrm>
            <a:off x="381000" y="3943529"/>
            <a:ext cx="5410200" cy="2762071"/>
          </a:xfrm>
          <a:prstGeom prst="rect">
            <a:avLst/>
          </a:prstGeom>
        </p:spPr>
      </p:pic>
      <p:sp>
        <p:nvSpPr>
          <p:cNvPr id="9" name="TextBox 8">
            <a:extLst>
              <a:ext uri="{FF2B5EF4-FFF2-40B4-BE49-F238E27FC236}">
                <a16:creationId xmlns:a16="http://schemas.microsoft.com/office/drawing/2014/main" id="{ED71BEC8-26D7-9200-4849-9AC7D187FB2A}"/>
              </a:ext>
            </a:extLst>
          </p:cNvPr>
          <p:cNvSpPr txBox="1"/>
          <p:nvPr/>
        </p:nvSpPr>
        <p:spPr>
          <a:xfrm>
            <a:off x="5845174" y="3767078"/>
            <a:ext cx="2917826" cy="2862322"/>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Property Responsibility for maintaining properties</a:t>
            </a:r>
          </a:p>
          <a:p>
            <a:r>
              <a:rPr lang="en-US" sz="1800" b="1" dirty="0">
                <a:latin typeface="Times New Roman" panose="02020603050405020304" pitchFamily="18" charset="0"/>
                <a:cs typeface="Times New Roman" panose="02020603050405020304" pitchFamily="18" charset="0"/>
              </a:rPr>
              <a:t>Atomicity: </a:t>
            </a:r>
            <a:r>
              <a:rPr lang="en-US" sz="1800" dirty="0">
                <a:latin typeface="Times New Roman" panose="02020603050405020304" pitchFamily="18" charset="0"/>
                <a:cs typeface="Times New Roman" panose="02020603050405020304" pitchFamily="18" charset="0"/>
              </a:rPr>
              <a:t>Transaction Manager</a:t>
            </a:r>
          </a:p>
          <a:p>
            <a:r>
              <a:rPr lang="en-US" sz="1800" b="1" dirty="0">
                <a:latin typeface="Times New Roman" panose="02020603050405020304" pitchFamily="18" charset="0"/>
                <a:cs typeface="Times New Roman" panose="02020603050405020304" pitchFamily="18" charset="0"/>
              </a:rPr>
              <a:t>Consistency: </a:t>
            </a:r>
            <a:r>
              <a:rPr lang="en-US" sz="1800" dirty="0">
                <a:latin typeface="Times New Roman" panose="02020603050405020304" pitchFamily="18" charset="0"/>
                <a:cs typeface="Times New Roman" panose="02020603050405020304" pitchFamily="18" charset="0"/>
              </a:rPr>
              <a:t>Application programmer</a:t>
            </a:r>
          </a:p>
          <a:p>
            <a:r>
              <a:rPr lang="en-US" sz="1800" b="1" dirty="0">
                <a:latin typeface="Times New Roman" panose="02020603050405020304" pitchFamily="18" charset="0"/>
                <a:cs typeface="Times New Roman" panose="02020603050405020304" pitchFamily="18" charset="0"/>
              </a:rPr>
              <a:t>Isolation: </a:t>
            </a:r>
            <a:r>
              <a:rPr lang="en-US" sz="1800" dirty="0">
                <a:latin typeface="Times New Roman" panose="02020603050405020304" pitchFamily="18" charset="0"/>
                <a:cs typeface="Times New Roman" panose="02020603050405020304" pitchFamily="18" charset="0"/>
              </a:rPr>
              <a:t>Concurrency Control Manager</a:t>
            </a:r>
          </a:p>
          <a:p>
            <a:r>
              <a:rPr lang="en-US" sz="1800" b="1" dirty="0">
                <a:latin typeface="Times New Roman" panose="02020603050405020304" pitchFamily="18" charset="0"/>
                <a:cs typeface="Times New Roman" panose="02020603050405020304" pitchFamily="18" charset="0"/>
              </a:rPr>
              <a:t>Durability: </a:t>
            </a:r>
            <a:r>
              <a:rPr lang="en-US" sz="1800" dirty="0">
                <a:latin typeface="Times New Roman" panose="02020603050405020304" pitchFamily="18" charset="0"/>
                <a:cs typeface="Times New Roman" panose="02020603050405020304" pitchFamily="18" charset="0"/>
              </a:rPr>
              <a:t>Recovery Manager</a:t>
            </a:r>
          </a:p>
        </p:txBody>
      </p:sp>
    </p:spTree>
    <p:extLst>
      <p:ext uri="{BB962C8B-B14F-4D97-AF65-F5344CB8AC3E}">
        <p14:creationId xmlns:p14="http://schemas.microsoft.com/office/powerpoint/2010/main" val="47709518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altLang="en-US" dirty="0"/>
              <a:t>Desirable Properties of Transactions (cont’d.)</a:t>
            </a:r>
          </a:p>
        </p:txBody>
      </p:sp>
      <p:sp>
        <p:nvSpPr>
          <p:cNvPr id="28675" name="Content Placeholder 2"/>
          <p:cNvSpPr>
            <a:spLocks noGrp="1"/>
          </p:cNvSpPr>
          <p:nvPr>
            <p:ph idx="1"/>
          </p:nvPr>
        </p:nvSpPr>
        <p:spPr/>
        <p:txBody>
          <a:bodyPr/>
          <a:lstStyle/>
          <a:p>
            <a:r>
              <a:rPr lang="en-US" altLang="en-US" dirty="0"/>
              <a:t>Levels of isolation</a:t>
            </a:r>
          </a:p>
          <a:p>
            <a:pPr lvl="1"/>
            <a:r>
              <a:rPr lang="en-US" altLang="en-US" dirty="0"/>
              <a:t>Level 0 isolation does not overwrite the dirty reads of higher-level transactions</a:t>
            </a:r>
          </a:p>
          <a:p>
            <a:pPr lvl="1"/>
            <a:r>
              <a:rPr lang="en-US" altLang="en-US" dirty="0"/>
              <a:t>Level 1 isolation has no lost updates</a:t>
            </a:r>
          </a:p>
          <a:p>
            <a:pPr lvl="1"/>
            <a:r>
              <a:rPr lang="en-US" altLang="en-US" dirty="0"/>
              <a:t>Level 2 isolation has no lost updates and no dirty reads</a:t>
            </a:r>
          </a:p>
          <a:p>
            <a:pPr lvl="1"/>
            <a:r>
              <a:rPr lang="en-US" altLang="en-US" dirty="0"/>
              <a:t>Level 3 (true) isolation has repeatable reads</a:t>
            </a:r>
          </a:p>
        </p:txBody>
      </p:sp>
      <p:sp>
        <p:nvSpPr>
          <p:cNvPr id="2867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9044A6E0-C3C0-4F53-921F-927A83F0E4B6}" type="slidenum">
              <a:rPr lang="en-US" altLang="en-US" sz="1400" smtClean="0">
                <a:solidFill>
                  <a:srgbClr val="990033"/>
                </a:solidFill>
              </a:rPr>
              <a:pPr>
                <a:spcBef>
                  <a:spcPct val="0"/>
                </a:spcBef>
                <a:buClrTx/>
                <a:buSzTx/>
                <a:buFontTx/>
                <a:buNone/>
              </a:pPr>
              <a:t>3</a:t>
            </a:fld>
            <a:endParaRPr lang="en-CA" altLang="en-US" sz="1400" dirty="0">
              <a:solidFill>
                <a:srgbClr val="990033"/>
              </a:solidFill>
            </a:endParaRPr>
          </a:p>
        </p:txBody>
      </p:sp>
    </p:spTree>
    <p:extLst>
      <p:ext uri="{BB962C8B-B14F-4D97-AF65-F5344CB8AC3E}">
        <p14:creationId xmlns:p14="http://schemas.microsoft.com/office/powerpoint/2010/main" val="115393870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20.1 Introduction to Transaction Processing</a:t>
            </a:r>
          </a:p>
        </p:txBody>
      </p:sp>
      <p:sp>
        <p:nvSpPr>
          <p:cNvPr id="16387" name="Content Placeholder 2"/>
          <p:cNvSpPr>
            <a:spLocks noGrp="1"/>
          </p:cNvSpPr>
          <p:nvPr>
            <p:ph idx="1"/>
          </p:nvPr>
        </p:nvSpPr>
        <p:spPr/>
        <p:txBody>
          <a:bodyPr/>
          <a:lstStyle/>
          <a:p>
            <a:r>
              <a:rPr lang="en-US" altLang="en-US" dirty="0"/>
              <a:t>Single-user DBMS</a:t>
            </a:r>
          </a:p>
          <a:p>
            <a:pPr lvl="1"/>
            <a:r>
              <a:rPr lang="en-US" altLang="en-US" dirty="0"/>
              <a:t>At most one user at a time can use the system</a:t>
            </a:r>
          </a:p>
          <a:p>
            <a:pPr lvl="1"/>
            <a:r>
              <a:rPr lang="en-US" altLang="en-US" dirty="0"/>
              <a:t>Example: home computer</a:t>
            </a:r>
          </a:p>
          <a:p>
            <a:r>
              <a:rPr lang="en-US" altLang="en-US" dirty="0"/>
              <a:t>Multiuser DBMS</a:t>
            </a:r>
          </a:p>
          <a:p>
            <a:pPr lvl="1"/>
            <a:r>
              <a:rPr lang="en-US" altLang="en-US" dirty="0"/>
              <a:t>Many users can access the system (database) concurrently</a:t>
            </a:r>
          </a:p>
          <a:p>
            <a:pPr lvl="1"/>
            <a:r>
              <a:rPr lang="en-US" altLang="en-US" dirty="0"/>
              <a:t>Example: airline reservations system</a:t>
            </a:r>
          </a:p>
          <a:p>
            <a:pPr lvl="1"/>
            <a:endParaRPr lang="en-US" altLang="en-US" dirty="0"/>
          </a:p>
        </p:txBody>
      </p:sp>
      <p:sp>
        <p:nvSpPr>
          <p:cNvPr id="1638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0B0EFBA8-7B15-49AB-B8C6-B2D1A2772BF4}" type="slidenum">
              <a:rPr lang="en-US" altLang="en-US" sz="1400" smtClean="0">
                <a:solidFill>
                  <a:srgbClr val="990033"/>
                </a:solidFill>
              </a:rPr>
              <a:pPr>
                <a:spcBef>
                  <a:spcPct val="0"/>
                </a:spcBef>
                <a:buClrTx/>
                <a:buSzTx/>
                <a:buFontTx/>
                <a:buNone/>
              </a:pPr>
              <a:t>4</a:t>
            </a:fld>
            <a:endParaRPr lang="en-CA" altLang="en-US" sz="1400" dirty="0">
              <a:solidFill>
                <a:srgbClr val="990033"/>
              </a:solidFill>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Introduction to Transaction Processing (cont’d.)</a:t>
            </a:r>
          </a:p>
        </p:txBody>
      </p:sp>
      <p:sp>
        <p:nvSpPr>
          <p:cNvPr id="16387" name="Content Placeholder 2"/>
          <p:cNvSpPr>
            <a:spLocks noGrp="1"/>
          </p:cNvSpPr>
          <p:nvPr>
            <p:ph idx="1"/>
          </p:nvPr>
        </p:nvSpPr>
        <p:spPr/>
        <p:txBody>
          <a:bodyPr/>
          <a:lstStyle/>
          <a:p>
            <a:r>
              <a:rPr lang="en-US" altLang="en-US" dirty="0"/>
              <a:t>Multiprogramming</a:t>
            </a:r>
          </a:p>
          <a:p>
            <a:pPr lvl="1"/>
            <a:r>
              <a:rPr lang="en-US" altLang="en-US" dirty="0"/>
              <a:t>Allows operating system to execute multiple processes concurrently</a:t>
            </a:r>
          </a:p>
          <a:p>
            <a:pPr lvl="1"/>
            <a:r>
              <a:rPr lang="en-US" altLang="en-US" dirty="0"/>
              <a:t>Multiple users can access databases—and use computer systems—simultaneously because of the concept of multiprogramming, which allows the operating system of the computer to execute multiple programs—or processes—at the same time.</a:t>
            </a:r>
          </a:p>
          <a:p>
            <a:pPr lvl="1"/>
            <a:r>
              <a:rPr lang="en-US" altLang="en-US" dirty="0"/>
              <a:t>Executes commands from one process, then suspends that process and executes commands from another process, etc.</a:t>
            </a:r>
          </a:p>
          <a:p>
            <a:endParaRPr lang="en-US" altLang="en-US" dirty="0"/>
          </a:p>
          <a:p>
            <a:pPr lvl="1"/>
            <a:endParaRPr lang="en-US" altLang="en-US" dirty="0"/>
          </a:p>
        </p:txBody>
      </p:sp>
      <p:sp>
        <p:nvSpPr>
          <p:cNvPr id="1638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0B0EFBA8-7B15-49AB-B8C6-B2D1A2772BF4}" type="slidenum">
              <a:rPr lang="en-US" altLang="en-US" sz="1400" smtClean="0">
                <a:solidFill>
                  <a:srgbClr val="990033"/>
                </a:solidFill>
              </a:rPr>
              <a:pPr>
                <a:spcBef>
                  <a:spcPct val="0"/>
                </a:spcBef>
                <a:buClrTx/>
                <a:buSzTx/>
                <a:buFontTx/>
                <a:buNone/>
              </a:pPr>
              <a:t>5</a:t>
            </a:fld>
            <a:endParaRPr lang="en-CA" altLang="en-US" sz="1400" dirty="0">
              <a:solidFill>
                <a:srgbClr val="990033"/>
              </a:solidFill>
            </a:endParaRPr>
          </a:p>
        </p:txBody>
      </p:sp>
    </p:spTree>
    <p:extLst>
      <p:ext uri="{BB962C8B-B14F-4D97-AF65-F5344CB8AC3E}">
        <p14:creationId xmlns:p14="http://schemas.microsoft.com/office/powerpoint/2010/main" val="32572357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dirty="0"/>
              <a:t>Introduction to Transaction Processing (cont’d.)</a:t>
            </a:r>
          </a:p>
        </p:txBody>
      </p:sp>
      <p:sp>
        <p:nvSpPr>
          <p:cNvPr id="2" name="Content Placeholder 1"/>
          <p:cNvSpPr>
            <a:spLocks noGrp="1"/>
          </p:cNvSpPr>
          <p:nvPr>
            <p:ph idx="1"/>
          </p:nvPr>
        </p:nvSpPr>
        <p:spPr/>
        <p:txBody>
          <a:bodyPr/>
          <a:lstStyle/>
          <a:p>
            <a:r>
              <a:rPr lang="en-US" dirty="0"/>
              <a:t>Interleaved processing</a:t>
            </a:r>
          </a:p>
          <a:p>
            <a:r>
              <a:rPr lang="en-US" dirty="0"/>
              <a:t>Parallel processing</a:t>
            </a:r>
          </a:p>
          <a:p>
            <a:pPr lvl="1"/>
            <a:r>
              <a:rPr lang="en-US" dirty="0"/>
              <a:t>Processes C and D in figure below</a:t>
            </a:r>
          </a:p>
        </p:txBody>
      </p:sp>
      <p:sp>
        <p:nvSpPr>
          <p:cNvPr id="18435" name="Slide Number Placeholder 2"/>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a:t>
            </a:r>
            <a:fld id="{83D49494-73BA-4130-81FE-3F2F4FDED94D}" type="slidenum">
              <a:rPr lang="en-US" altLang="en-US" sz="1400" smtClean="0">
                <a:solidFill>
                  <a:srgbClr val="990033"/>
                </a:solidFill>
              </a:rPr>
              <a:pPr>
                <a:spcBef>
                  <a:spcPct val="0"/>
                </a:spcBef>
                <a:buClrTx/>
                <a:buSzTx/>
                <a:buFontTx/>
                <a:buNone/>
              </a:pPr>
              <a:t>6</a:t>
            </a:fld>
            <a:endParaRPr lang="en-CA" altLang="en-US" sz="1400" dirty="0">
              <a:solidFill>
                <a:srgbClr val="990033"/>
              </a:solidFill>
            </a:endParaRPr>
          </a:p>
        </p:txBody>
      </p:sp>
      <p:pic>
        <p:nvPicPr>
          <p:cNvPr id="6" name="Picture 5"/>
          <p:cNvPicPr>
            <a:picLocks noChangeAspect="1"/>
          </p:cNvPicPr>
          <p:nvPr/>
        </p:nvPicPr>
        <p:blipFill>
          <a:blip r:embed="rId3"/>
          <a:stretch>
            <a:fillRect/>
          </a:stretch>
        </p:blipFill>
        <p:spPr>
          <a:xfrm>
            <a:off x="1254320" y="3276600"/>
            <a:ext cx="6703361" cy="2615625"/>
          </a:xfrm>
          <a:prstGeom prst="rect">
            <a:avLst/>
          </a:prstGeom>
        </p:spPr>
      </p:pic>
      <p:sp>
        <p:nvSpPr>
          <p:cNvPr id="7" name="TextBox 4"/>
          <p:cNvSpPr txBox="1">
            <a:spLocks noChangeArrowheads="1"/>
          </p:cNvSpPr>
          <p:nvPr/>
        </p:nvSpPr>
        <p:spPr bwMode="auto">
          <a:xfrm>
            <a:off x="2295395" y="5892225"/>
            <a:ext cx="52985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20.1 </a:t>
            </a:r>
            <a:r>
              <a:rPr lang="en-US" sz="1600" dirty="0">
                <a:solidFill>
                  <a:schemeClr val="tx1"/>
                </a:solidFill>
              </a:rPr>
              <a:t>Interleaved processing versus parallel processing of concurrent transactions</a:t>
            </a:r>
            <a:endParaRPr lang="en-US" altLang="en-US" sz="1600" dirty="0">
              <a:solidFill>
                <a:schemeClr val="tx1"/>
              </a:solidFill>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Transactions</a:t>
            </a:r>
          </a:p>
        </p:txBody>
      </p:sp>
      <p:sp>
        <p:nvSpPr>
          <p:cNvPr id="3" name="Content Placeholder 2"/>
          <p:cNvSpPr>
            <a:spLocks noGrp="1"/>
          </p:cNvSpPr>
          <p:nvPr>
            <p:ph idx="1"/>
          </p:nvPr>
        </p:nvSpPr>
        <p:spPr/>
        <p:txBody>
          <a:bodyPr/>
          <a:lstStyle/>
          <a:p>
            <a:r>
              <a:rPr lang="en-US" dirty="0"/>
              <a:t>Transaction: an executing program</a:t>
            </a:r>
          </a:p>
          <a:p>
            <a:pPr lvl="1"/>
            <a:r>
              <a:rPr lang="en-US" dirty="0"/>
              <a:t>Forms logical unit of database processing</a:t>
            </a:r>
          </a:p>
          <a:p>
            <a:r>
              <a:rPr lang="en-US" dirty="0"/>
              <a:t>Begin and end transaction statements</a:t>
            </a:r>
          </a:p>
          <a:p>
            <a:pPr lvl="1"/>
            <a:r>
              <a:rPr lang="en-US" dirty="0"/>
              <a:t>Specify transaction boundaries</a:t>
            </a:r>
          </a:p>
          <a:p>
            <a:r>
              <a:rPr lang="en-US" dirty="0"/>
              <a:t>Read-only transaction</a:t>
            </a:r>
          </a:p>
          <a:p>
            <a:r>
              <a:rPr lang="en-US" dirty="0"/>
              <a:t>Read-write transaction</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7</a:t>
            </a:fld>
            <a:endParaRPr lang="en-CA" altLang="en-US" dirty="0"/>
          </a:p>
        </p:txBody>
      </p:sp>
    </p:spTree>
    <p:extLst>
      <p:ext uri="{BB962C8B-B14F-4D97-AF65-F5344CB8AC3E}">
        <p14:creationId xmlns:p14="http://schemas.microsoft.com/office/powerpoint/2010/main" val="293870964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Items</a:t>
            </a:r>
          </a:p>
        </p:txBody>
      </p:sp>
      <p:sp>
        <p:nvSpPr>
          <p:cNvPr id="3" name="Content Placeholder 2"/>
          <p:cNvSpPr>
            <a:spLocks noGrp="1"/>
          </p:cNvSpPr>
          <p:nvPr>
            <p:ph idx="1"/>
          </p:nvPr>
        </p:nvSpPr>
        <p:spPr/>
        <p:txBody>
          <a:bodyPr/>
          <a:lstStyle/>
          <a:p>
            <a:r>
              <a:rPr lang="en-US" dirty="0"/>
              <a:t>Database represented as collection of named data items</a:t>
            </a:r>
          </a:p>
          <a:p>
            <a:r>
              <a:rPr lang="en-US" dirty="0"/>
              <a:t>Size of a data item called its granularity</a:t>
            </a:r>
          </a:p>
          <a:p>
            <a:r>
              <a:rPr lang="en-US" dirty="0"/>
              <a:t>Data item</a:t>
            </a:r>
          </a:p>
          <a:p>
            <a:pPr lvl="1"/>
            <a:r>
              <a:rPr lang="en-US" dirty="0"/>
              <a:t>Record</a:t>
            </a:r>
          </a:p>
          <a:p>
            <a:pPr lvl="1"/>
            <a:r>
              <a:rPr lang="en-US" dirty="0"/>
              <a:t>Disk block</a:t>
            </a:r>
          </a:p>
          <a:p>
            <a:pPr lvl="1"/>
            <a:r>
              <a:rPr lang="en-US" dirty="0"/>
              <a:t>Attribute value of a record</a:t>
            </a:r>
          </a:p>
          <a:p>
            <a:r>
              <a:rPr lang="en-US" dirty="0"/>
              <a:t>Transaction processing concepts independent of item granularity</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8</a:t>
            </a:fld>
            <a:endParaRPr lang="en-CA" altLang="en-US" dirty="0"/>
          </a:p>
        </p:txBody>
      </p:sp>
    </p:spTree>
    <p:extLst>
      <p:ext uri="{BB962C8B-B14F-4D97-AF65-F5344CB8AC3E}">
        <p14:creationId xmlns:p14="http://schemas.microsoft.com/office/powerpoint/2010/main" val="161308998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and Write Operations</a:t>
            </a:r>
          </a:p>
        </p:txBody>
      </p:sp>
      <p:sp>
        <p:nvSpPr>
          <p:cNvPr id="3" name="Content Placeholder 2"/>
          <p:cNvSpPr>
            <a:spLocks noGrp="1"/>
          </p:cNvSpPr>
          <p:nvPr>
            <p:ph idx="1"/>
          </p:nvPr>
        </p:nvSpPr>
        <p:spPr/>
        <p:txBody>
          <a:bodyPr/>
          <a:lstStyle/>
          <a:p>
            <a:r>
              <a:rPr lang="en-US" dirty="0"/>
              <a:t>read_item(X)</a:t>
            </a:r>
          </a:p>
          <a:p>
            <a:pPr lvl="1"/>
            <a:r>
              <a:rPr lang="en-US" dirty="0"/>
              <a:t>Reads a database item named X into a program variable.</a:t>
            </a:r>
          </a:p>
          <a:p>
            <a:pPr lvl="2"/>
            <a:r>
              <a:rPr lang="en-US" sz="1600" dirty="0"/>
              <a:t>Find the address of the disk block that contains item X.</a:t>
            </a:r>
          </a:p>
          <a:p>
            <a:pPr lvl="2"/>
            <a:r>
              <a:rPr lang="en-US" sz="1600" dirty="0"/>
              <a:t>Copy that disk block into a buffer in main memory.</a:t>
            </a:r>
            <a:endParaRPr lang="en-US" sz="1800" dirty="0"/>
          </a:p>
          <a:p>
            <a:pPr lvl="2"/>
            <a:r>
              <a:rPr lang="en-US" sz="1600" dirty="0"/>
              <a:t>Copy item X from the buffer to the program variable named X.</a:t>
            </a:r>
          </a:p>
          <a:p>
            <a:r>
              <a:rPr lang="en-US" dirty="0" err="1"/>
              <a:t>write_item</a:t>
            </a:r>
            <a:r>
              <a:rPr lang="en-US" dirty="0"/>
              <a:t>(X)</a:t>
            </a:r>
          </a:p>
          <a:p>
            <a:pPr lvl="1"/>
            <a:r>
              <a:rPr lang="en-US" dirty="0"/>
              <a:t>Writes the value of program variable X into the database item</a:t>
            </a:r>
          </a:p>
          <a:p>
            <a:pPr lvl="2"/>
            <a:r>
              <a:rPr lang="en-US" sz="1400" dirty="0"/>
              <a:t>Find the address of the disk block that contains item X.</a:t>
            </a:r>
          </a:p>
          <a:p>
            <a:pPr lvl="2"/>
            <a:r>
              <a:rPr lang="en-US" sz="1400" dirty="0"/>
              <a:t>Copy that disk block into a buffer in main memory.</a:t>
            </a:r>
          </a:p>
          <a:p>
            <a:pPr lvl="2"/>
            <a:r>
              <a:rPr lang="en-US" sz="1400" dirty="0"/>
              <a:t>Copy item X from the program variable named X into its correct location in the buffer.</a:t>
            </a:r>
          </a:p>
          <a:p>
            <a:pPr lvl="2"/>
            <a:r>
              <a:rPr lang="en-US" sz="1400" dirty="0"/>
              <a:t>Store the updated block from the buffer back to disk.</a:t>
            </a:r>
          </a:p>
          <a:p>
            <a:endParaRPr lang="en-US" dirty="0"/>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9</a:t>
            </a:fld>
            <a:endParaRPr lang="en-CA" altLang="en-US" dirty="0"/>
          </a:p>
        </p:txBody>
      </p:sp>
    </p:spTree>
    <p:extLst>
      <p:ext uri="{BB962C8B-B14F-4D97-AF65-F5344CB8AC3E}">
        <p14:creationId xmlns:p14="http://schemas.microsoft.com/office/powerpoint/2010/main" val="181923388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Read and Write Operations (cont’d.)</a:t>
            </a:r>
          </a:p>
        </p:txBody>
      </p:sp>
      <p:sp>
        <p:nvSpPr>
          <p:cNvPr id="3" name="Content Placeholder 2"/>
          <p:cNvSpPr>
            <a:spLocks noGrp="1"/>
          </p:cNvSpPr>
          <p:nvPr>
            <p:ph idx="1"/>
          </p:nvPr>
        </p:nvSpPr>
        <p:spPr/>
        <p:txBody>
          <a:bodyPr/>
          <a:lstStyle/>
          <a:p>
            <a:r>
              <a:rPr lang="en-US" dirty="0"/>
              <a:t>Read set of a transaction</a:t>
            </a:r>
          </a:p>
          <a:p>
            <a:pPr lvl="1"/>
            <a:r>
              <a:rPr lang="en-US" dirty="0"/>
              <a:t>Set of all items read</a:t>
            </a:r>
          </a:p>
          <a:p>
            <a:r>
              <a:rPr lang="en-US" dirty="0"/>
              <a:t>Write set of a transaction</a:t>
            </a:r>
          </a:p>
          <a:p>
            <a:pPr lvl="1"/>
            <a:r>
              <a:rPr lang="en-US" dirty="0"/>
              <a:t>Set of all items written</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10</a:t>
            </a:fld>
            <a:endParaRPr lang="en-CA" altLang="en-US" dirty="0"/>
          </a:p>
        </p:txBody>
      </p:sp>
      <p:pic>
        <p:nvPicPr>
          <p:cNvPr id="5" name="Picture 4"/>
          <p:cNvPicPr>
            <a:picLocks noChangeAspect="1"/>
          </p:cNvPicPr>
          <p:nvPr/>
        </p:nvPicPr>
        <p:blipFill>
          <a:blip r:embed="rId3"/>
          <a:stretch>
            <a:fillRect/>
          </a:stretch>
        </p:blipFill>
        <p:spPr>
          <a:xfrm>
            <a:off x="1261725" y="3716923"/>
            <a:ext cx="5729961" cy="2286000"/>
          </a:xfrm>
          <a:prstGeom prst="rect">
            <a:avLst/>
          </a:prstGeom>
        </p:spPr>
      </p:pic>
      <p:sp>
        <p:nvSpPr>
          <p:cNvPr id="6" name="TextBox 4"/>
          <p:cNvSpPr txBox="1">
            <a:spLocks noChangeArrowheads="1"/>
          </p:cNvSpPr>
          <p:nvPr/>
        </p:nvSpPr>
        <p:spPr bwMode="auto">
          <a:xfrm>
            <a:off x="831849" y="6002923"/>
            <a:ext cx="71104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21.2 </a:t>
            </a:r>
            <a:r>
              <a:rPr lang="en-US" sz="1600" dirty="0">
                <a:solidFill>
                  <a:schemeClr val="tx1"/>
                </a:solidFill>
              </a:rPr>
              <a:t>Two sample transactions (a) Transaction </a:t>
            </a:r>
            <a:r>
              <a:rPr lang="en-US" sz="1600" i="1" dirty="0">
                <a:solidFill>
                  <a:schemeClr val="tx1"/>
                </a:solidFill>
              </a:rPr>
              <a:t>T</a:t>
            </a:r>
            <a:r>
              <a:rPr lang="en-US" sz="1600" dirty="0">
                <a:solidFill>
                  <a:schemeClr val="tx1"/>
                </a:solidFill>
              </a:rPr>
              <a:t>1 (b) Transaction </a:t>
            </a:r>
            <a:r>
              <a:rPr lang="en-US" sz="1600" i="1" dirty="0">
                <a:solidFill>
                  <a:schemeClr val="tx1"/>
                </a:solidFill>
              </a:rPr>
              <a:t>T</a:t>
            </a:r>
            <a:r>
              <a:rPr lang="en-US" sz="1600" dirty="0">
                <a:solidFill>
                  <a:schemeClr val="tx1"/>
                </a:solidFill>
              </a:rPr>
              <a:t>2</a:t>
            </a:r>
            <a:endParaRPr lang="en-US" altLang="en-US" sz="1600" dirty="0">
              <a:solidFill>
                <a:schemeClr val="tx1"/>
              </a:solidFill>
            </a:endParaRPr>
          </a:p>
        </p:txBody>
      </p:sp>
    </p:spTree>
    <p:extLst>
      <p:ext uri="{BB962C8B-B14F-4D97-AF65-F5344CB8AC3E}">
        <p14:creationId xmlns:p14="http://schemas.microsoft.com/office/powerpoint/2010/main" val="39067368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Control</a:t>
            </a:r>
          </a:p>
        </p:txBody>
      </p:sp>
      <p:sp>
        <p:nvSpPr>
          <p:cNvPr id="3" name="Content Placeholder 2"/>
          <p:cNvSpPr>
            <a:spLocks noGrp="1"/>
          </p:cNvSpPr>
          <p:nvPr>
            <p:ph idx="1"/>
          </p:nvPr>
        </p:nvSpPr>
        <p:spPr/>
        <p:txBody>
          <a:bodyPr/>
          <a:lstStyle/>
          <a:p>
            <a:r>
              <a:rPr lang="en-US" dirty="0"/>
              <a:t>Transactions submitted by various users may execute concurrently</a:t>
            </a:r>
          </a:p>
          <a:p>
            <a:pPr lvl="1"/>
            <a:r>
              <a:rPr lang="en-US" dirty="0"/>
              <a:t>Access and update the same database items</a:t>
            </a:r>
          </a:p>
          <a:p>
            <a:pPr lvl="1"/>
            <a:r>
              <a:rPr lang="en-US" dirty="0"/>
              <a:t>Some form of concurrency control is needed</a:t>
            </a:r>
          </a:p>
          <a:p>
            <a:r>
              <a:rPr lang="en-US" dirty="0"/>
              <a:t>The lost update problem</a:t>
            </a:r>
          </a:p>
          <a:p>
            <a:pPr lvl="1"/>
            <a:r>
              <a:rPr lang="en-US" dirty="0"/>
              <a:t>Occurs when two transactions that access the same database items have operations interleaved</a:t>
            </a:r>
          </a:p>
          <a:p>
            <a:pPr lvl="1"/>
            <a:r>
              <a:rPr lang="en-US" dirty="0"/>
              <a:t>Results in incorrect value of some database items</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11</a:t>
            </a:fld>
            <a:endParaRPr lang="en-CA" altLang="en-US" dirty="0"/>
          </a:p>
        </p:txBody>
      </p:sp>
    </p:spTree>
    <p:extLst>
      <p:ext uri="{BB962C8B-B14F-4D97-AF65-F5344CB8AC3E}">
        <p14:creationId xmlns:p14="http://schemas.microsoft.com/office/powerpoint/2010/main" val="86280864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Lost Update Problem</a:t>
            </a:r>
          </a:p>
        </p:txBody>
      </p:sp>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12</a:t>
            </a:fld>
            <a:endParaRPr lang="en-CA" altLang="en-US" dirty="0"/>
          </a:p>
        </p:txBody>
      </p:sp>
      <p:pic>
        <p:nvPicPr>
          <p:cNvPr id="4" name="Picture 3"/>
          <p:cNvPicPr>
            <a:picLocks noChangeAspect="1"/>
          </p:cNvPicPr>
          <p:nvPr/>
        </p:nvPicPr>
        <p:blipFill>
          <a:blip r:embed="rId3"/>
          <a:stretch>
            <a:fillRect/>
          </a:stretch>
        </p:blipFill>
        <p:spPr>
          <a:xfrm>
            <a:off x="990600" y="2286000"/>
            <a:ext cx="7391400" cy="2560042"/>
          </a:xfrm>
          <a:prstGeom prst="rect">
            <a:avLst/>
          </a:prstGeom>
        </p:spPr>
      </p:pic>
      <p:sp>
        <p:nvSpPr>
          <p:cNvPr id="5" name="TextBox 4"/>
          <p:cNvSpPr txBox="1">
            <a:spLocks noChangeArrowheads="1"/>
          </p:cNvSpPr>
          <p:nvPr/>
        </p:nvSpPr>
        <p:spPr bwMode="auto">
          <a:xfrm>
            <a:off x="1676922" y="5561556"/>
            <a:ext cx="579015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20.3 </a:t>
            </a:r>
            <a:r>
              <a:rPr lang="en-US" sz="1600" dirty="0">
                <a:solidFill>
                  <a:schemeClr val="tx1"/>
                </a:solidFill>
              </a:rPr>
              <a:t>Some problems that occur when concurrent execution is uncontrolled (a) The lost update problem</a:t>
            </a:r>
            <a:endParaRPr lang="en-US" altLang="en-US" sz="1600" dirty="0">
              <a:solidFill>
                <a:schemeClr val="tx1"/>
              </a:solidFill>
            </a:endParaRPr>
          </a:p>
        </p:txBody>
      </p:sp>
    </p:spTree>
    <p:extLst>
      <p:ext uri="{BB962C8B-B14F-4D97-AF65-F5344CB8AC3E}">
        <p14:creationId xmlns:p14="http://schemas.microsoft.com/office/powerpoint/2010/main" val="424995029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Temporary Update (or Dirty Read) Problem</a:t>
            </a:r>
          </a:p>
        </p:txBody>
      </p:sp>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13</a:t>
            </a:fld>
            <a:endParaRPr lang="en-CA" altLang="en-US" dirty="0"/>
          </a:p>
        </p:txBody>
      </p:sp>
      <p:sp>
        <p:nvSpPr>
          <p:cNvPr id="5" name="TextBox 4"/>
          <p:cNvSpPr txBox="1">
            <a:spLocks noChangeArrowheads="1"/>
          </p:cNvSpPr>
          <p:nvPr/>
        </p:nvSpPr>
        <p:spPr bwMode="auto">
          <a:xfrm>
            <a:off x="1016793" y="5702587"/>
            <a:ext cx="71104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20.3 (cont’d.) </a:t>
            </a:r>
            <a:r>
              <a:rPr lang="en-US" sz="1600" dirty="0">
                <a:solidFill>
                  <a:schemeClr val="tx1"/>
                </a:solidFill>
              </a:rPr>
              <a:t>Some problems that occur when concurrent execution is uncontrolled (b) The temporary update problem</a:t>
            </a:r>
            <a:endParaRPr lang="en-US" altLang="en-US" sz="1600" dirty="0">
              <a:solidFill>
                <a:schemeClr val="tx1"/>
              </a:solidFill>
            </a:endParaRPr>
          </a:p>
        </p:txBody>
      </p:sp>
      <p:pic>
        <p:nvPicPr>
          <p:cNvPr id="6" name="Picture 5"/>
          <p:cNvPicPr>
            <a:picLocks noChangeAspect="1"/>
          </p:cNvPicPr>
          <p:nvPr/>
        </p:nvPicPr>
        <p:blipFill>
          <a:blip r:embed="rId3"/>
          <a:stretch>
            <a:fillRect/>
          </a:stretch>
        </p:blipFill>
        <p:spPr>
          <a:xfrm>
            <a:off x="543339" y="2286000"/>
            <a:ext cx="7686261" cy="2762250"/>
          </a:xfrm>
          <a:prstGeom prst="rect">
            <a:avLst/>
          </a:prstGeom>
        </p:spPr>
      </p:pic>
    </p:spTree>
    <p:extLst>
      <p:ext uri="{BB962C8B-B14F-4D97-AF65-F5344CB8AC3E}">
        <p14:creationId xmlns:p14="http://schemas.microsoft.com/office/powerpoint/2010/main" val="4586661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Incorrect Summary Problem</a:t>
            </a:r>
          </a:p>
        </p:txBody>
      </p:sp>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14</a:t>
            </a:fld>
            <a:endParaRPr lang="en-CA" altLang="en-US" dirty="0"/>
          </a:p>
        </p:txBody>
      </p:sp>
      <p:sp>
        <p:nvSpPr>
          <p:cNvPr id="5" name="TextBox 4"/>
          <p:cNvSpPr txBox="1">
            <a:spLocks noChangeArrowheads="1"/>
          </p:cNvSpPr>
          <p:nvPr/>
        </p:nvSpPr>
        <p:spPr bwMode="auto">
          <a:xfrm>
            <a:off x="915444" y="5814981"/>
            <a:ext cx="71104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20.3 (cont’d.) </a:t>
            </a:r>
            <a:r>
              <a:rPr lang="en-US" sz="1600" dirty="0">
                <a:solidFill>
                  <a:schemeClr val="tx1"/>
                </a:solidFill>
              </a:rPr>
              <a:t>Some problems that occur when concurrent execution is uncontrolled (c) The incorrect summary problem</a:t>
            </a:r>
            <a:endParaRPr lang="en-US" altLang="en-US" sz="1600" dirty="0">
              <a:solidFill>
                <a:schemeClr val="tx1"/>
              </a:solidFill>
            </a:endParaRPr>
          </a:p>
        </p:txBody>
      </p:sp>
      <p:pic>
        <p:nvPicPr>
          <p:cNvPr id="4" name="Picture 3"/>
          <p:cNvPicPr>
            <a:picLocks noChangeAspect="1"/>
          </p:cNvPicPr>
          <p:nvPr/>
        </p:nvPicPr>
        <p:blipFill>
          <a:blip r:embed="rId3"/>
          <a:stretch>
            <a:fillRect/>
          </a:stretch>
        </p:blipFill>
        <p:spPr>
          <a:xfrm>
            <a:off x="990600" y="1741004"/>
            <a:ext cx="7648575" cy="3657600"/>
          </a:xfrm>
          <a:prstGeom prst="rect">
            <a:avLst/>
          </a:prstGeom>
        </p:spPr>
      </p:pic>
    </p:spTree>
    <p:extLst>
      <p:ext uri="{BB962C8B-B14F-4D97-AF65-F5344CB8AC3E}">
        <p14:creationId xmlns:p14="http://schemas.microsoft.com/office/powerpoint/2010/main" val="258320898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Unrepeatable Read 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Transaction T reads the same item twice</a:t>
                </a:r>
              </a:p>
              <a:p>
                <a:r>
                  <a:rPr lang="en-US" dirty="0"/>
                  <a:t>Value is changed by another transaction T</a:t>
                </a:r>
                <a14:m>
                  <m:oMath xmlns:m="http://schemas.openxmlformats.org/officeDocument/2006/math">
                    <m:r>
                      <a:rPr lang="en-US" b="0" i="1" dirty="0" smtClean="0">
                        <a:latin typeface="Cambria Math" panose="02040503050406030204" pitchFamily="18" charset="0"/>
                      </a:rPr>
                      <m:t>′</m:t>
                    </m:r>
                  </m:oMath>
                </a14:m>
                <a:r>
                  <a:rPr lang="en-US" dirty="0"/>
                  <a:t> between the two reads</a:t>
                </a:r>
              </a:p>
              <a:p>
                <a:r>
                  <a:rPr lang="en-US" dirty="0"/>
                  <a:t>T receives different values for the two reads of the same item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294" t="-1467"/>
                </a:stretch>
              </a:blipFill>
            </p:spPr>
            <p:txBody>
              <a:bodyPr/>
              <a:lstStyle/>
              <a:p>
                <a:r>
                  <a:rPr lang="en-US">
                    <a:noFill/>
                  </a:rPr>
                  <a:t> </a:t>
                </a:r>
              </a:p>
            </p:txBody>
          </p:sp>
        </mc:Fallback>
      </mc:AlternateContent>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15</a:t>
            </a:fld>
            <a:endParaRPr lang="en-CA" altLang="en-US" dirty="0"/>
          </a:p>
        </p:txBody>
      </p:sp>
    </p:spTree>
    <p:extLst>
      <p:ext uri="{BB962C8B-B14F-4D97-AF65-F5344CB8AC3E}">
        <p14:creationId xmlns:p14="http://schemas.microsoft.com/office/powerpoint/2010/main" val="197300487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Recovery is Needed</a:t>
            </a:r>
          </a:p>
        </p:txBody>
      </p:sp>
      <p:sp>
        <p:nvSpPr>
          <p:cNvPr id="3" name="Content Placeholder 2"/>
          <p:cNvSpPr>
            <a:spLocks noGrp="1"/>
          </p:cNvSpPr>
          <p:nvPr>
            <p:ph idx="1"/>
          </p:nvPr>
        </p:nvSpPr>
        <p:spPr>
          <a:xfrm>
            <a:off x="239713" y="1447800"/>
            <a:ext cx="8294687" cy="4572000"/>
          </a:xfrm>
        </p:spPr>
        <p:txBody>
          <a:bodyPr/>
          <a:lstStyle/>
          <a:p>
            <a:r>
              <a:rPr lang="en-US" dirty="0"/>
              <a:t>Committed transaction</a:t>
            </a:r>
          </a:p>
          <a:p>
            <a:pPr lvl="1"/>
            <a:r>
              <a:rPr lang="en-US" dirty="0"/>
              <a:t>Effect recorded permanently in the database</a:t>
            </a:r>
          </a:p>
          <a:p>
            <a:r>
              <a:rPr lang="en-US" dirty="0"/>
              <a:t>Aborted transaction</a:t>
            </a:r>
          </a:p>
          <a:p>
            <a:pPr lvl="1"/>
            <a:r>
              <a:rPr lang="en-US" dirty="0"/>
              <a:t>Does not affect the database</a:t>
            </a:r>
          </a:p>
          <a:p>
            <a:r>
              <a:rPr lang="en-US" dirty="0"/>
              <a:t>Types of transaction failures</a:t>
            </a:r>
          </a:p>
          <a:p>
            <a:pPr lvl="1"/>
            <a:r>
              <a:rPr lang="en-US" dirty="0"/>
              <a:t>Computer failure (system crash)</a:t>
            </a:r>
          </a:p>
          <a:p>
            <a:pPr lvl="1"/>
            <a:r>
              <a:rPr lang="en-US" dirty="0"/>
              <a:t>Transaction or system error</a:t>
            </a:r>
          </a:p>
          <a:p>
            <a:pPr lvl="1"/>
            <a:r>
              <a:rPr lang="en-US" dirty="0"/>
              <a:t>Local errors or exception conditions detected by the transaction</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16</a:t>
            </a:fld>
            <a:endParaRPr lang="en-CA" altLang="en-US" dirty="0"/>
          </a:p>
        </p:txBody>
      </p:sp>
    </p:spTree>
    <p:extLst>
      <p:ext uri="{BB962C8B-B14F-4D97-AF65-F5344CB8AC3E}">
        <p14:creationId xmlns:p14="http://schemas.microsoft.com/office/powerpoint/2010/main" val="34114070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Recovery is Needed (cont’d.)</a:t>
            </a:r>
          </a:p>
        </p:txBody>
      </p:sp>
      <p:sp>
        <p:nvSpPr>
          <p:cNvPr id="3" name="Content Placeholder 2"/>
          <p:cNvSpPr>
            <a:spLocks noGrp="1"/>
          </p:cNvSpPr>
          <p:nvPr>
            <p:ph idx="1"/>
          </p:nvPr>
        </p:nvSpPr>
        <p:spPr/>
        <p:txBody>
          <a:bodyPr/>
          <a:lstStyle/>
          <a:p>
            <a:r>
              <a:rPr lang="en-US" dirty="0"/>
              <a:t>Types of transaction failures (cont’d.)</a:t>
            </a:r>
          </a:p>
          <a:p>
            <a:pPr lvl="1"/>
            <a:r>
              <a:rPr lang="en-US" dirty="0"/>
              <a:t>Concurrency control enforcement</a:t>
            </a:r>
          </a:p>
          <a:p>
            <a:pPr lvl="1"/>
            <a:r>
              <a:rPr lang="en-US" dirty="0"/>
              <a:t>Disk failure</a:t>
            </a:r>
          </a:p>
          <a:p>
            <a:pPr lvl="1"/>
            <a:r>
              <a:rPr lang="en-US" dirty="0"/>
              <a:t>Physical problems or catastrophes</a:t>
            </a:r>
          </a:p>
          <a:p>
            <a:r>
              <a:rPr lang="en-US" dirty="0"/>
              <a:t>System must keep sufficient information to recover quickly from the failure</a:t>
            </a:r>
          </a:p>
          <a:p>
            <a:pPr lvl="1"/>
            <a:r>
              <a:rPr lang="en-US" dirty="0"/>
              <a:t>Disk failure or other catastrophes have long recovery times</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17</a:t>
            </a:fld>
            <a:endParaRPr lang="en-CA" altLang="en-US" dirty="0"/>
          </a:p>
        </p:txBody>
      </p:sp>
    </p:spTree>
    <p:extLst>
      <p:ext uri="{BB962C8B-B14F-4D97-AF65-F5344CB8AC3E}">
        <p14:creationId xmlns:p14="http://schemas.microsoft.com/office/powerpoint/2010/main" val="324432462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228600" y="303213"/>
            <a:ext cx="7620000" cy="1068387"/>
          </a:xfrm>
        </p:spPr>
        <p:txBody>
          <a:bodyPr/>
          <a:lstStyle/>
          <a:p>
            <a:r>
              <a:rPr lang="en-US" altLang="en-US" dirty="0"/>
              <a:t>20.2 Transaction and System Concepts</a:t>
            </a:r>
          </a:p>
        </p:txBody>
      </p:sp>
      <p:sp>
        <p:nvSpPr>
          <p:cNvPr id="20483" name="Content Placeholder 2"/>
          <p:cNvSpPr>
            <a:spLocks noGrp="1"/>
          </p:cNvSpPr>
          <p:nvPr>
            <p:ph idx="1"/>
          </p:nvPr>
        </p:nvSpPr>
        <p:spPr/>
        <p:txBody>
          <a:bodyPr/>
          <a:lstStyle/>
          <a:p>
            <a:r>
              <a:rPr lang="en-US" altLang="en-US" dirty="0"/>
              <a:t>System must keep track of when each transaction starts, terminates, commits, and/or aborts</a:t>
            </a:r>
          </a:p>
          <a:p>
            <a:pPr lvl="1"/>
            <a:r>
              <a:rPr lang="en-US" altLang="en-US" dirty="0"/>
              <a:t>BEGIN_TRANSACTION</a:t>
            </a:r>
          </a:p>
          <a:p>
            <a:pPr lvl="1"/>
            <a:r>
              <a:rPr lang="en-US" altLang="en-US" dirty="0"/>
              <a:t>READ or WRITE</a:t>
            </a:r>
          </a:p>
          <a:p>
            <a:pPr lvl="1"/>
            <a:r>
              <a:rPr lang="en-US" altLang="en-US" dirty="0"/>
              <a:t>END_TRANSACTION</a:t>
            </a:r>
          </a:p>
          <a:p>
            <a:pPr lvl="1"/>
            <a:r>
              <a:rPr lang="en-US" altLang="en-US" dirty="0"/>
              <a:t>COMMIT_TRANSACTION</a:t>
            </a:r>
          </a:p>
          <a:p>
            <a:pPr lvl="1"/>
            <a:r>
              <a:rPr lang="en-US" altLang="en-US" dirty="0"/>
              <a:t>ROLLBACK (or ABORT)</a:t>
            </a:r>
          </a:p>
        </p:txBody>
      </p:sp>
      <p:sp>
        <p:nvSpPr>
          <p:cNvPr id="2048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35E218F8-23A6-4693-86CE-2457F25C6E9F}" type="slidenum">
              <a:rPr lang="en-US" altLang="en-US" sz="1400" smtClean="0">
                <a:solidFill>
                  <a:srgbClr val="990033"/>
                </a:solidFill>
              </a:rPr>
              <a:pPr>
                <a:spcBef>
                  <a:spcPct val="0"/>
                </a:spcBef>
                <a:buClrTx/>
                <a:buSzTx/>
                <a:buFontTx/>
                <a:buNone/>
              </a:pPr>
              <a:t>18</a:t>
            </a:fld>
            <a:endParaRPr lang="en-CA" altLang="en-US" sz="1400" dirty="0">
              <a:solidFill>
                <a:srgbClr val="990033"/>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Transaction and System Concepts (cont’d.)</a:t>
            </a:r>
            <a:endParaRPr lang="en-US" dirty="0"/>
          </a:p>
        </p:txBody>
      </p:sp>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19</a:t>
            </a:fld>
            <a:endParaRPr lang="en-CA" altLang="en-US" dirty="0"/>
          </a:p>
        </p:txBody>
      </p:sp>
      <p:pic>
        <p:nvPicPr>
          <p:cNvPr id="4" name="Picture 3"/>
          <p:cNvPicPr>
            <a:picLocks noChangeAspect="1"/>
          </p:cNvPicPr>
          <p:nvPr/>
        </p:nvPicPr>
        <p:blipFill>
          <a:blip r:embed="rId2"/>
          <a:stretch>
            <a:fillRect/>
          </a:stretch>
        </p:blipFill>
        <p:spPr>
          <a:xfrm>
            <a:off x="433387" y="2209800"/>
            <a:ext cx="8277225" cy="2590800"/>
          </a:xfrm>
          <a:prstGeom prst="rect">
            <a:avLst/>
          </a:prstGeom>
        </p:spPr>
      </p:pic>
      <p:sp>
        <p:nvSpPr>
          <p:cNvPr id="5" name="TextBox 4"/>
          <p:cNvSpPr txBox="1">
            <a:spLocks noChangeArrowheads="1"/>
          </p:cNvSpPr>
          <p:nvPr/>
        </p:nvSpPr>
        <p:spPr bwMode="auto">
          <a:xfrm>
            <a:off x="2209800" y="5561556"/>
            <a:ext cx="44952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20.4 </a:t>
            </a:r>
            <a:r>
              <a:rPr lang="en-US" sz="1600" dirty="0">
                <a:solidFill>
                  <a:schemeClr val="tx1"/>
                </a:solidFill>
              </a:rPr>
              <a:t>State transition diagram illustrating the states for transaction execution</a:t>
            </a:r>
            <a:endParaRPr lang="en-US" altLang="en-US" sz="1600" dirty="0">
              <a:solidFill>
                <a:schemeClr val="tx1"/>
              </a:solidFill>
            </a:endParaRPr>
          </a:p>
        </p:txBody>
      </p:sp>
    </p:spTree>
    <p:extLst>
      <p:ext uri="{BB962C8B-B14F-4D97-AF65-F5344CB8AC3E}">
        <p14:creationId xmlns:p14="http://schemas.microsoft.com/office/powerpoint/2010/main" val="116903618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20.4 Characterizing Schedules Based on Recoverability</a:t>
            </a:r>
          </a:p>
        </p:txBody>
      </p:sp>
      <p:sp>
        <p:nvSpPr>
          <p:cNvPr id="31747" name="Content Placeholder 2"/>
          <p:cNvSpPr>
            <a:spLocks noGrp="1"/>
          </p:cNvSpPr>
          <p:nvPr>
            <p:ph idx="1"/>
          </p:nvPr>
        </p:nvSpPr>
        <p:spPr/>
        <p:txBody>
          <a:bodyPr/>
          <a:lstStyle/>
          <a:p>
            <a:r>
              <a:rPr lang="en-US" altLang="en-US" dirty="0">
                <a:solidFill>
                  <a:srgbClr val="800000"/>
                </a:solidFill>
              </a:rPr>
              <a:t>Schedule or history</a:t>
            </a:r>
          </a:p>
          <a:p>
            <a:pPr lvl="1"/>
            <a:r>
              <a:rPr lang="en-US" altLang="en-US" sz="2000" dirty="0">
                <a:solidFill>
                  <a:srgbClr val="0070C0"/>
                </a:solidFill>
              </a:rPr>
              <a:t>A schedule (or history) S of n transactions T1, T2, ..., Tn is an ordering of the operations of the transactions. </a:t>
            </a:r>
          </a:p>
          <a:p>
            <a:pPr lvl="1"/>
            <a:r>
              <a:rPr lang="en-US" altLang="en-US" sz="2000" dirty="0">
                <a:solidFill>
                  <a:srgbClr val="0070C0"/>
                </a:solidFill>
              </a:rPr>
              <a:t>Operations from different transactions can be interleaved in the schedule</a:t>
            </a:r>
          </a:p>
          <a:p>
            <a:pPr lvl="1"/>
            <a:r>
              <a:rPr lang="en-US" altLang="en-US" sz="2000" dirty="0" err="1"/>
              <a:t>Eg</a:t>
            </a:r>
            <a:r>
              <a:rPr lang="en-US" altLang="en-US" sz="2000" dirty="0"/>
              <a:t>:</a:t>
            </a:r>
          </a:p>
          <a:p>
            <a:pPr lvl="2"/>
            <a:r>
              <a:rPr lang="en-US" altLang="en-US" sz="1800" dirty="0"/>
              <a:t>T1: O1 O2</a:t>
            </a:r>
          </a:p>
          <a:p>
            <a:pPr lvl="2"/>
            <a:r>
              <a:rPr lang="en-US" altLang="en-US" sz="1800" dirty="0"/>
              <a:t>T2: P1 P2</a:t>
            </a:r>
          </a:p>
          <a:p>
            <a:pPr lvl="2"/>
            <a:r>
              <a:rPr lang="en-US" altLang="en-US" sz="1800" dirty="0">
                <a:solidFill>
                  <a:srgbClr val="FF0000"/>
                </a:solidFill>
              </a:rPr>
              <a:t>S1</a:t>
            </a:r>
            <a:r>
              <a:rPr lang="en-US" altLang="en-US" sz="1800" dirty="0"/>
              <a:t>: O1 O2 P1 P2, </a:t>
            </a:r>
            <a:r>
              <a:rPr lang="en-US" altLang="en-US" sz="1800" dirty="0">
                <a:solidFill>
                  <a:srgbClr val="FF0000"/>
                </a:solidFill>
              </a:rPr>
              <a:t>S2</a:t>
            </a:r>
            <a:r>
              <a:rPr lang="en-US" altLang="en-US" sz="1800" dirty="0"/>
              <a:t>: P1 P2 O1 O2, </a:t>
            </a:r>
            <a:r>
              <a:rPr lang="en-US" altLang="en-US" sz="1800" dirty="0">
                <a:solidFill>
                  <a:srgbClr val="FF0000"/>
                </a:solidFill>
              </a:rPr>
              <a:t>S3</a:t>
            </a:r>
            <a:r>
              <a:rPr lang="en-US" altLang="en-US" sz="1800" dirty="0"/>
              <a:t>:O1 P1 O2 P2, </a:t>
            </a:r>
            <a:r>
              <a:rPr lang="en-US" altLang="en-US" sz="1800" dirty="0">
                <a:solidFill>
                  <a:srgbClr val="FF0000"/>
                </a:solidFill>
              </a:rPr>
              <a:t>S4</a:t>
            </a:r>
            <a:r>
              <a:rPr lang="en-US" altLang="en-US" sz="1800" dirty="0"/>
              <a:t>: O1 P1 P2 O2, </a:t>
            </a:r>
            <a:r>
              <a:rPr lang="en-US" altLang="en-US" sz="1800" dirty="0">
                <a:solidFill>
                  <a:srgbClr val="FF0000"/>
                </a:solidFill>
              </a:rPr>
              <a:t>S5</a:t>
            </a:r>
            <a:r>
              <a:rPr lang="en-US" altLang="en-US" sz="1800" dirty="0"/>
              <a:t>: P1 O1 O2 P2, </a:t>
            </a:r>
            <a:r>
              <a:rPr lang="en-US" altLang="en-US" sz="1800" dirty="0">
                <a:solidFill>
                  <a:srgbClr val="FF0000"/>
                </a:solidFill>
              </a:rPr>
              <a:t>S6</a:t>
            </a:r>
            <a:r>
              <a:rPr lang="en-US" altLang="en-US" sz="1800" dirty="0"/>
              <a:t>:P1 O1 P2 O2</a:t>
            </a:r>
          </a:p>
          <a:p>
            <a:r>
              <a:rPr lang="en-US" altLang="en-US" sz="2400" dirty="0">
                <a:latin typeface="Times New Roman" panose="02020603050405020304" pitchFamily="18" charset="0"/>
                <a:cs typeface="Times New Roman" panose="02020603050405020304" pitchFamily="18" charset="0"/>
              </a:rPr>
              <a:t>A schedule (or history) S of n transactions T1, T2, ..., Tn is an ordering of the operations of the transactions, which means</a:t>
            </a:r>
          </a:p>
          <a:p>
            <a:pPr lvl="1"/>
            <a:r>
              <a:rPr lang="en-US" altLang="en-US" sz="2400" dirty="0">
                <a:latin typeface="Times New Roman" panose="02020603050405020304" pitchFamily="18" charset="0"/>
                <a:cs typeface="Times New Roman" panose="02020603050405020304" pitchFamily="18" charset="0"/>
              </a:rPr>
              <a:t>For any two operations in the schedule, one must occur before the other</a:t>
            </a:r>
          </a:p>
        </p:txBody>
      </p:sp>
      <p:sp>
        <p:nvSpPr>
          <p:cNvPr id="3174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9CD5586-1E28-453B-A0CB-D4C059CD84A2}" type="slidenum">
              <a:rPr lang="en-US" altLang="en-US" sz="1400" smtClean="0">
                <a:solidFill>
                  <a:srgbClr val="990033"/>
                </a:solidFill>
              </a:rPr>
              <a:pPr>
                <a:spcBef>
                  <a:spcPct val="0"/>
                </a:spcBef>
                <a:buClrTx/>
                <a:buSzTx/>
                <a:buFontTx/>
                <a:buNone/>
              </a:pPr>
              <a:t>20</a:t>
            </a:fld>
            <a:endParaRPr lang="en-CA" altLang="en-US" sz="1400" dirty="0">
              <a:solidFill>
                <a:srgbClr val="990033"/>
              </a:solidFill>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Schedules</a:t>
            </a:r>
            <a:endParaRPr lang="en-IN" dirty="0"/>
          </a:p>
        </p:txBody>
      </p:sp>
      <p:sp>
        <p:nvSpPr>
          <p:cNvPr id="3" name="Content Placeholder 2"/>
          <p:cNvSpPr>
            <a:spLocks noGrp="1"/>
          </p:cNvSpPr>
          <p:nvPr>
            <p:ph idx="1"/>
          </p:nvPr>
        </p:nvSpPr>
        <p:spPr>
          <a:xfrm>
            <a:off x="315913" y="1600200"/>
            <a:ext cx="8294687" cy="4572000"/>
          </a:xfrm>
        </p:spPr>
        <p:txBody>
          <a:bodyPr/>
          <a:lstStyle/>
          <a:p>
            <a:pPr marL="514350" indent="-514350">
              <a:buAutoNum type="arabicPeriod"/>
            </a:pPr>
            <a:r>
              <a:rPr lang="en-US" dirty="0">
                <a:solidFill>
                  <a:srgbClr val="800000"/>
                </a:solidFill>
              </a:rPr>
              <a:t>Serial Schedule</a:t>
            </a:r>
          </a:p>
          <a:p>
            <a:pPr marL="914400" lvl="1" indent="-514350" algn="just">
              <a:buAutoNum type="arabicPeriod"/>
            </a:pPr>
            <a:r>
              <a:rPr lang="en-US" sz="2400" dirty="0">
                <a:solidFill>
                  <a:srgbClr val="0070C0"/>
                </a:solidFill>
              </a:rPr>
              <a:t>If we don’t have any interleaving then that type of schedule is called serial schedule</a:t>
            </a:r>
          </a:p>
          <a:p>
            <a:pPr marL="914400" lvl="1" indent="-514350" algn="just">
              <a:buAutoNum type="arabicPeriod"/>
            </a:pPr>
            <a:r>
              <a:rPr lang="en-US" sz="2400" dirty="0">
                <a:solidFill>
                  <a:srgbClr val="0070C0"/>
                </a:solidFill>
              </a:rPr>
              <a:t>When transactions are executing serially that always ensure the consistency</a:t>
            </a:r>
          </a:p>
          <a:p>
            <a:pPr marL="914400" lvl="1" indent="-514350" algn="just">
              <a:buAutoNum type="arabicPeriod"/>
            </a:pPr>
            <a:r>
              <a:rPr lang="en-US" sz="2400" dirty="0">
                <a:solidFill>
                  <a:srgbClr val="0070C0"/>
                </a:solidFill>
              </a:rPr>
              <a:t>If there are n-transactions in a schedule the possible number of serial schedule in n!.</a:t>
            </a:r>
          </a:p>
          <a:p>
            <a:pPr marL="914400" lvl="1" indent="-514350" algn="just">
              <a:buAutoNum type="arabicPeriod"/>
            </a:pPr>
            <a:r>
              <a:rPr lang="en-US" sz="2400" dirty="0" err="1">
                <a:solidFill>
                  <a:srgbClr val="0070C0"/>
                </a:solidFill>
              </a:rPr>
              <a:t>Eg</a:t>
            </a:r>
            <a:r>
              <a:rPr lang="en-US" sz="2400" dirty="0">
                <a:solidFill>
                  <a:srgbClr val="0070C0"/>
                </a:solidFill>
              </a:rPr>
              <a:t>: </a:t>
            </a:r>
          </a:p>
          <a:p>
            <a:pPr marL="1314450" lvl="2" indent="-514350">
              <a:buAutoNum type="arabicPeriod"/>
            </a:pPr>
            <a:r>
              <a:rPr lang="en-US" sz="2000" dirty="0"/>
              <a:t>S1: R1(A)W1(A) R2(A)W2(A) [T1 -&gt; T2]</a:t>
            </a:r>
          </a:p>
          <a:p>
            <a:pPr marL="1314450" lvl="2" indent="-514350">
              <a:buAutoNum type="arabicPeriod"/>
            </a:pPr>
            <a:r>
              <a:rPr lang="en-US" sz="2000" dirty="0"/>
              <a:t>S2: R2(A)W2(A)R1(A)W1(A) [T2 -&gt; T1] </a:t>
            </a:r>
          </a:p>
          <a:p>
            <a:pPr marL="1314450" lvl="2" indent="-514350">
              <a:buAutoNum type="arabicPeriod"/>
            </a:pPr>
            <a:r>
              <a:rPr lang="en-US" sz="2000" dirty="0"/>
              <a:t>S3: R1(A)R2(A)W1(A)W2(A)</a:t>
            </a:r>
            <a:endParaRPr lang="en-IN" sz="2000" dirty="0"/>
          </a:p>
        </p:txBody>
      </p:sp>
      <p:sp>
        <p:nvSpPr>
          <p:cNvPr id="4" name="Slide Number Placeholder 3"/>
          <p:cNvSpPr>
            <a:spLocks noGrp="1"/>
          </p:cNvSpPr>
          <p:nvPr>
            <p:ph type="sldNum" sz="quarter" idx="10"/>
          </p:nvPr>
        </p:nvSpPr>
        <p:spPr/>
        <p:txBody>
          <a:bodyPr/>
          <a:lstStyle/>
          <a:p>
            <a:pPr>
              <a:defRPr/>
            </a:pPr>
            <a:r>
              <a:rPr lang="en-US" altLang="en-US"/>
              <a:t>Slide 16- </a:t>
            </a:r>
            <a:fld id="{2D4306B9-CFD7-4637-81D1-AA1B82412423}" type="slidenum">
              <a:rPr lang="en-US" altLang="en-US" smtClean="0"/>
              <a:pPr>
                <a:defRPr/>
              </a:pPr>
              <a:t>21</a:t>
            </a:fld>
            <a:endParaRPr lang="en-CA" altLang="en-US" dirty="0"/>
          </a:p>
        </p:txBody>
      </p:sp>
      <p:sp>
        <p:nvSpPr>
          <p:cNvPr id="5" name="Oval Callout 4"/>
          <p:cNvSpPr/>
          <p:nvPr/>
        </p:nvSpPr>
        <p:spPr bwMode="auto">
          <a:xfrm>
            <a:off x="7178643" y="4343400"/>
            <a:ext cx="1629624" cy="838200"/>
          </a:xfrm>
          <a:prstGeom prst="wedgeEllipseCallout">
            <a:avLst>
              <a:gd name="adj1" fmla="val -106292"/>
              <a:gd name="adj2" fmla="val 64660"/>
            </a:avLst>
          </a:prstGeom>
          <a:blipFill dpi="0" rotWithShape="0">
            <a:blip r:embed="rId3"/>
            <a:srcRect/>
            <a:tile tx="0" ty="0" sx="100000" sy="100000" flip="none" algn="tl"/>
          </a:bli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Serial </a:t>
            </a:r>
          </a:p>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Schedules</a:t>
            </a:r>
            <a:endParaRPr kumimoji="0" lang="en-IN" sz="1800" b="0" i="0" u="none" strike="noStrike" cap="none" normalizeH="0" baseline="0" dirty="0">
              <a:ln>
                <a:noFill/>
              </a:ln>
              <a:solidFill>
                <a:schemeClr val="tx1"/>
              </a:solidFill>
              <a:effectLst/>
              <a:latin typeface="Arial" charset="0"/>
            </a:endParaRPr>
          </a:p>
        </p:txBody>
      </p:sp>
      <p:sp>
        <p:nvSpPr>
          <p:cNvPr id="10" name="Oval Callout 9"/>
          <p:cNvSpPr/>
          <p:nvPr/>
        </p:nvSpPr>
        <p:spPr bwMode="auto">
          <a:xfrm>
            <a:off x="5943600" y="5562600"/>
            <a:ext cx="1629624" cy="838200"/>
          </a:xfrm>
          <a:prstGeom prst="wedgeEllipseCallout">
            <a:avLst>
              <a:gd name="adj1" fmla="val -111292"/>
              <a:gd name="adj2" fmla="val -4467"/>
            </a:avLst>
          </a:prstGeom>
          <a:blipFill dpi="0" rotWithShape="0">
            <a:blip r:embed="rId3"/>
            <a:srcRect/>
            <a:tile tx="0" ty="0" sx="100000" sy="100000" flip="none" algn="tl"/>
          </a:blip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Not Serial </a:t>
            </a:r>
          </a:p>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Schedule</a:t>
            </a:r>
            <a:endParaRPr kumimoji="0" lang="en-IN" sz="1800" b="0" i="0" u="none" strike="noStrike" cap="none" normalizeH="0" baseline="0" dirty="0">
              <a:ln>
                <a:noFill/>
              </a:ln>
              <a:solidFill>
                <a:schemeClr val="tx1"/>
              </a:solidFill>
              <a:effectLst/>
              <a:latin typeface="Arial" charset="0"/>
            </a:endParaRPr>
          </a:p>
        </p:txBody>
      </p:sp>
      <p:pic>
        <p:nvPicPr>
          <p:cNvPr id="12" name="Picture 11" descr="\documentclass{article}&#10;\usepackage{amsmath}&#10;\pagestyle{empty}&#10;\begin{document}&#10;&#10;&#10;\}&#10;&#10;\end{document}" title="IguanaTex Bitmap Display"/>
          <p:cNvPicPr>
            <a:picLocks noChangeAspect="1"/>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072454" y="5029200"/>
            <a:ext cx="273774" cy="609600"/>
          </a:xfrm>
          <a:prstGeom prst="rect">
            <a:avLst/>
          </a:prstGeom>
        </p:spPr>
      </p:pic>
    </p:spTree>
    <p:extLst>
      <p:ext uri="{BB962C8B-B14F-4D97-AF65-F5344CB8AC3E}">
        <p14:creationId xmlns:p14="http://schemas.microsoft.com/office/powerpoint/2010/main" val="2197453430"/>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Schedules</a:t>
            </a:r>
            <a:endParaRPr lang="en-IN" dirty="0"/>
          </a:p>
        </p:txBody>
      </p:sp>
      <p:sp>
        <p:nvSpPr>
          <p:cNvPr id="3" name="Content Placeholder 2"/>
          <p:cNvSpPr>
            <a:spLocks noGrp="1"/>
          </p:cNvSpPr>
          <p:nvPr>
            <p:ph idx="1"/>
          </p:nvPr>
        </p:nvSpPr>
        <p:spPr>
          <a:xfrm>
            <a:off x="239713" y="1600200"/>
            <a:ext cx="6481287" cy="4572000"/>
          </a:xfrm>
        </p:spPr>
        <p:txBody>
          <a:bodyPr/>
          <a:lstStyle/>
          <a:p>
            <a:pPr marL="0" indent="0">
              <a:buNone/>
            </a:pPr>
            <a:r>
              <a:rPr lang="en-US" dirty="0"/>
              <a:t>2. </a:t>
            </a:r>
            <a:r>
              <a:rPr lang="en-US" dirty="0">
                <a:solidFill>
                  <a:srgbClr val="800000"/>
                </a:solidFill>
              </a:rPr>
              <a:t>Complete Schedule:</a:t>
            </a:r>
          </a:p>
          <a:p>
            <a:pPr>
              <a:buFont typeface="Arial" pitchFamily="34" charset="0"/>
              <a:buChar char="•"/>
            </a:pPr>
            <a:r>
              <a:rPr lang="en-US" sz="2400" dirty="0"/>
              <a:t>A schedule is said to be complete if the last operation is either abort or commit.</a:t>
            </a:r>
          </a:p>
          <a:p>
            <a:pPr>
              <a:buFont typeface="Arial" pitchFamily="34" charset="0"/>
              <a:buChar char="•"/>
            </a:pPr>
            <a:r>
              <a:rPr lang="en-US" sz="2400" dirty="0" err="1"/>
              <a:t>Eg</a:t>
            </a:r>
            <a:r>
              <a:rPr lang="en-US" sz="2400" dirty="0"/>
              <a:t>: R1(A) R2(A)W1(A)Commit W2(A)abort</a:t>
            </a:r>
          </a:p>
          <a:p>
            <a:pPr marL="0" indent="0">
              <a:buNone/>
            </a:pPr>
            <a:r>
              <a:rPr lang="en-US" sz="2400" dirty="0"/>
              <a:t>3. </a:t>
            </a:r>
            <a:r>
              <a:rPr lang="en-US" dirty="0">
                <a:solidFill>
                  <a:srgbClr val="800000"/>
                </a:solidFill>
              </a:rPr>
              <a:t>Recoverable Schedule</a:t>
            </a:r>
          </a:p>
          <a:p>
            <a:pPr>
              <a:buFont typeface="Arial" pitchFamily="34" charset="0"/>
              <a:buChar char="•"/>
            </a:pPr>
            <a:r>
              <a:rPr lang="en-US" sz="2400" dirty="0"/>
              <a:t>Schedules in which transactions commit only after all transactions whose changes they read commit are called recoverable schedules.</a:t>
            </a:r>
          </a:p>
          <a:p>
            <a:pPr>
              <a:buFont typeface="Arial" pitchFamily="34" charset="0"/>
              <a:buChar char="•"/>
            </a:pPr>
            <a:r>
              <a:rPr lang="en-US" sz="2400" dirty="0"/>
              <a:t>i.e. This is a recoverable schedule since T1 commits before T2, that makes the value read by T2 correct.</a:t>
            </a:r>
          </a:p>
          <a:p>
            <a:pPr>
              <a:buFont typeface="Arial" pitchFamily="34" charset="0"/>
              <a:buChar char="•"/>
            </a:pPr>
            <a:endParaRPr lang="en-IN" sz="2400" dirty="0"/>
          </a:p>
        </p:txBody>
      </p:sp>
      <p:sp>
        <p:nvSpPr>
          <p:cNvPr id="4" name="Slide Number Placeholder 3"/>
          <p:cNvSpPr>
            <a:spLocks noGrp="1"/>
          </p:cNvSpPr>
          <p:nvPr>
            <p:ph type="sldNum" sz="quarter" idx="10"/>
          </p:nvPr>
        </p:nvSpPr>
        <p:spPr/>
        <p:txBody>
          <a:bodyPr/>
          <a:lstStyle/>
          <a:p>
            <a:pPr>
              <a:defRPr/>
            </a:pPr>
            <a:r>
              <a:rPr lang="en-US" altLang="en-US"/>
              <a:t>Slide 16- </a:t>
            </a:r>
            <a:fld id="{2D4306B9-CFD7-4637-81D1-AA1B82412423}" type="slidenum">
              <a:rPr lang="en-US" altLang="en-US" smtClean="0"/>
              <a:pPr>
                <a:defRPr/>
              </a:pPr>
              <a:t>22</a:t>
            </a:fld>
            <a:endParaRPr lang="en-CA" altLang="en-US" dirty="0"/>
          </a:p>
        </p:txBody>
      </p:sp>
      <p:pic>
        <p:nvPicPr>
          <p:cNvPr id="6" name="Picture 5">
            <a:extLst>
              <a:ext uri="{FF2B5EF4-FFF2-40B4-BE49-F238E27FC236}">
                <a16:creationId xmlns:a16="http://schemas.microsoft.com/office/drawing/2014/main" id="{B4E5CB79-7FAC-37DC-FBF5-BDC22C8B4CC9}"/>
              </a:ext>
            </a:extLst>
          </p:cNvPr>
          <p:cNvPicPr>
            <a:picLocks noChangeAspect="1"/>
          </p:cNvPicPr>
          <p:nvPr/>
        </p:nvPicPr>
        <p:blipFill>
          <a:blip r:embed="rId3"/>
          <a:stretch>
            <a:fillRect/>
          </a:stretch>
        </p:blipFill>
        <p:spPr>
          <a:xfrm>
            <a:off x="6858000" y="2117969"/>
            <a:ext cx="1844200" cy="4511431"/>
          </a:xfrm>
          <a:prstGeom prst="rect">
            <a:avLst/>
          </a:prstGeom>
        </p:spPr>
      </p:pic>
      <p:sp>
        <p:nvSpPr>
          <p:cNvPr id="7" name="TextBox 6">
            <a:extLst>
              <a:ext uri="{FF2B5EF4-FFF2-40B4-BE49-F238E27FC236}">
                <a16:creationId xmlns:a16="http://schemas.microsoft.com/office/drawing/2014/main" id="{A4372D7D-630D-B7C8-F7DC-A0164E659DA1}"/>
              </a:ext>
            </a:extLst>
          </p:cNvPr>
          <p:cNvSpPr txBox="1"/>
          <p:nvPr/>
        </p:nvSpPr>
        <p:spPr>
          <a:xfrm>
            <a:off x="6657837" y="1720092"/>
            <a:ext cx="2244525" cy="338554"/>
          </a:xfrm>
          <a:prstGeom prst="rect">
            <a:avLst/>
          </a:prstGeom>
          <a:noFill/>
        </p:spPr>
        <p:txBody>
          <a:bodyPr wrap="none" rtlCol="0">
            <a:spAutoFit/>
          </a:bodyPr>
          <a:lstStyle/>
          <a:p>
            <a:r>
              <a:rPr lang="en-US" sz="1600" dirty="0"/>
              <a:t>Recoverable Schedule</a:t>
            </a:r>
          </a:p>
        </p:txBody>
      </p:sp>
      <p:pic>
        <p:nvPicPr>
          <p:cNvPr id="9" name="Picture 8">
            <a:extLst>
              <a:ext uri="{FF2B5EF4-FFF2-40B4-BE49-F238E27FC236}">
                <a16:creationId xmlns:a16="http://schemas.microsoft.com/office/drawing/2014/main" id="{26E4255C-0176-630B-9910-0C63B8199613}"/>
              </a:ext>
            </a:extLst>
          </p:cNvPr>
          <p:cNvPicPr>
            <a:picLocks noChangeAspect="1"/>
          </p:cNvPicPr>
          <p:nvPr/>
        </p:nvPicPr>
        <p:blipFill>
          <a:blip r:embed="rId4"/>
          <a:stretch>
            <a:fillRect/>
          </a:stretch>
        </p:blipFill>
        <p:spPr>
          <a:xfrm>
            <a:off x="9296400" y="4114800"/>
            <a:ext cx="4701947" cy="2613887"/>
          </a:xfrm>
          <a:prstGeom prst="rect">
            <a:avLst/>
          </a:prstGeom>
        </p:spPr>
      </p:pic>
      <p:sp>
        <p:nvSpPr>
          <p:cNvPr id="10" name="TextBox 9">
            <a:extLst>
              <a:ext uri="{FF2B5EF4-FFF2-40B4-BE49-F238E27FC236}">
                <a16:creationId xmlns:a16="http://schemas.microsoft.com/office/drawing/2014/main" id="{801D2FC2-1A46-314D-6E1C-508DA074422E}"/>
              </a:ext>
            </a:extLst>
          </p:cNvPr>
          <p:cNvSpPr txBox="1"/>
          <p:nvPr/>
        </p:nvSpPr>
        <p:spPr>
          <a:xfrm>
            <a:off x="9601200" y="3662680"/>
            <a:ext cx="3937296" cy="461665"/>
          </a:xfrm>
          <a:prstGeom prst="rect">
            <a:avLst/>
          </a:prstGeom>
          <a:noFill/>
        </p:spPr>
        <p:txBody>
          <a:bodyPr wrap="none" rtlCol="0">
            <a:spAutoFit/>
          </a:bodyPr>
          <a:lstStyle/>
          <a:p>
            <a:r>
              <a:rPr lang="en-US" dirty="0"/>
              <a:t>Non Recoverable Schedule</a:t>
            </a:r>
          </a:p>
        </p:txBody>
      </p:sp>
    </p:spTree>
    <p:extLst>
      <p:ext uri="{BB962C8B-B14F-4D97-AF65-F5344CB8AC3E}">
        <p14:creationId xmlns:p14="http://schemas.microsoft.com/office/powerpoint/2010/main" val="317805321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Schedules</a:t>
            </a:r>
            <a:endParaRPr lang="en-IN" dirty="0"/>
          </a:p>
        </p:txBody>
      </p:sp>
      <p:sp>
        <p:nvSpPr>
          <p:cNvPr id="3" name="Content Placeholder 2"/>
          <p:cNvSpPr>
            <a:spLocks noGrp="1"/>
          </p:cNvSpPr>
          <p:nvPr>
            <p:ph idx="1"/>
          </p:nvPr>
        </p:nvSpPr>
        <p:spPr/>
        <p:txBody>
          <a:bodyPr/>
          <a:lstStyle/>
          <a:p>
            <a:pPr marL="0" indent="0">
              <a:buNone/>
            </a:pPr>
            <a:r>
              <a:rPr lang="en-US" dirty="0">
                <a:solidFill>
                  <a:srgbClr val="800000"/>
                </a:solidFill>
              </a:rPr>
              <a:t>4. Cascading Aborts:</a:t>
            </a:r>
          </a:p>
          <a:p>
            <a:pPr lvl="1">
              <a:buFont typeface="Arial" pitchFamily="34" charset="0"/>
              <a:buChar char="•"/>
            </a:pPr>
            <a:r>
              <a:rPr lang="en-US" sz="2200" dirty="0">
                <a:solidFill>
                  <a:srgbClr val="0070C0"/>
                </a:solidFill>
              </a:rPr>
              <a:t>If one transaction failure causes multiple transaction to rollback, it is called cascading rollback or cascading abort.</a:t>
            </a:r>
          </a:p>
          <a:p>
            <a:pPr lvl="1">
              <a:buFont typeface="Arial" pitchFamily="34" charset="0"/>
              <a:buChar char="•"/>
            </a:pPr>
            <a:r>
              <a:rPr lang="en-US" sz="2200" dirty="0" err="1">
                <a:solidFill>
                  <a:srgbClr val="0070C0"/>
                </a:solidFill>
              </a:rPr>
              <a:t>Eg</a:t>
            </a:r>
            <a:r>
              <a:rPr lang="en-US" sz="2200" dirty="0">
                <a:solidFill>
                  <a:srgbClr val="0070C0"/>
                </a:solidFill>
              </a:rPr>
              <a:t>:</a:t>
            </a:r>
            <a:r>
              <a:rPr lang="en-US" sz="2200" dirty="0"/>
              <a:t> </a:t>
            </a:r>
            <a:endParaRPr lang="en-US" sz="2200" dirty="0">
              <a:solidFill>
                <a:srgbClr val="800000"/>
              </a:solidFill>
            </a:endParaRPr>
          </a:p>
          <a:p>
            <a:pPr marL="0" indent="0">
              <a:buNone/>
            </a:pPr>
            <a:r>
              <a:rPr lang="en-US" dirty="0">
                <a:solidFill>
                  <a:srgbClr val="800000"/>
                </a:solidFill>
              </a:rPr>
              <a:t>5. </a:t>
            </a:r>
            <a:r>
              <a:rPr lang="en-US" dirty="0" err="1">
                <a:solidFill>
                  <a:srgbClr val="800000"/>
                </a:solidFill>
              </a:rPr>
              <a:t>Cascadless</a:t>
            </a:r>
            <a:r>
              <a:rPr lang="en-US" dirty="0">
                <a:solidFill>
                  <a:srgbClr val="800000"/>
                </a:solidFill>
              </a:rPr>
              <a:t> Schedule:</a:t>
            </a:r>
          </a:p>
          <a:p>
            <a:pPr marL="742950" lvl="2" indent="-342900">
              <a:buSzPct val="60000"/>
              <a:buFont typeface="Arial" pitchFamily="34" charset="0"/>
              <a:buChar char="•"/>
            </a:pPr>
            <a:r>
              <a:rPr lang="en-US" sz="2000" dirty="0">
                <a:solidFill>
                  <a:srgbClr val="0070C0"/>
                </a:solidFill>
              </a:rPr>
              <a:t>A schedule is said to be </a:t>
            </a:r>
            <a:r>
              <a:rPr lang="en-US" sz="2000" dirty="0" err="1">
                <a:solidFill>
                  <a:srgbClr val="0070C0"/>
                </a:solidFill>
              </a:rPr>
              <a:t>cascadeless</a:t>
            </a:r>
            <a:r>
              <a:rPr lang="en-US" sz="2000" dirty="0">
                <a:solidFill>
                  <a:srgbClr val="0070C0"/>
                </a:solidFill>
              </a:rPr>
              <a:t>, or to avoid cascading rollback, if every transaction in the schedule reads only items that were written by committed transactions. In this case, all items read will not be discarded, so no cascading rollback will occur.</a:t>
            </a:r>
            <a:endParaRPr lang="en-US" dirty="0">
              <a:solidFill>
                <a:srgbClr val="800000"/>
              </a:solidFill>
            </a:endParaRPr>
          </a:p>
          <a:p>
            <a:pPr marL="0" indent="0">
              <a:buNone/>
            </a:pPr>
            <a:r>
              <a:rPr lang="en-US" dirty="0">
                <a:solidFill>
                  <a:srgbClr val="800000"/>
                </a:solidFill>
              </a:rPr>
              <a:t>6. Strict Schedule</a:t>
            </a:r>
          </a:p>
          <a:p>
            <a:pPr lvl="1">
              <a:buFont typeface="Arial" pitchFamily="34" charset="0"/>
              <a:buChar char="•"/>
            </a:pPr>
            <a:r>
              <a:rPr lang="en-US" sz="2200" dirty="0">
                <a:solidFill>
                  <a:srgbClr val="0070C0"/>
                </a:solidFill>
              </a:rPr>
              <a:t>A schedule is strict if a value written by a transaction can not be read or over written by other transactions until the transaction is either commits or aborts.</a:t>
            </a:r>
          </a:p>
        </p:txBody>
      </p:sp>
      <p:sp>
        <p:nvSpPr>
          <p:cNvPr id="4" name="Slide Number Placeholder 3"/>
          <p:cNvSpPr>
            <a:spLocks noGrp="1"/>
          </p:cNvSpPr>
          <p:nvPr>
            <p:ph type="sldNum" sz="quarter" idx="10"/>
          </p:nvPr>
        </p:nvSpPr>
        <p:spPr/>
        <p:txBody>
          <a:bodyPr/>
          <a:lstStyle/>
          <a:p>
            <a:pPr>
              <a:defRPr/>
            </a:pPr>
            <a:r>
              <a:rPr lang="en-US" altLang="en-US"/>
              <a:t>Slide 16- </a:t>
            </a:r>
            <a:fld id="{2D4306B9-CFD7-4637-81D1-AA1B82412423}" type="slidenum">
              <a:rPr lang="en-US" altLang="en-US" smtClean="0"/>
              <a:pPr>
                <a:defRPr/>
              </a:pPr>
              <a:t>23</a:t>
            </a:fld>
            <a:endParaRPr lang="en-CA" altLang="en-US" dirty="0"/>
          </a:p>
        </p:txBody>
      </p:sp>
      <p:pic>
        <p:nvPicPr>
          <p:cNvPr id="5" name="Picture 4">
            <a:extLst>
              <a:ext uri="{FF2B5EF4-FFF2-40B4-BE49-F238E27FC236}">
                <a16:creationId xmlns:a16="http://schemas.microsoft.com/office/drawing/2014/main" id="{B1494E96-4156-945C-9267-90419F70942F}"/>
              </a:ext>
            </a:extLst>
          </p:cNvPr>
          <p:cNvPicPr>
            <a:picLocks noChangeAspect="1"/>
          </p:cNvPicPr>
          <p:nvPr/>
        </p:nvPicPr>
        <p:blipFill>
          <a:blip r:embed="rId2"/>
          <a:stretch>
            <a:fillRect/>
          </a:stretch>
        </p:blipFill>
        <p:spPr>
          <a:xfrm>
            <a:off x="-4530725" y="2895600"/>
            <a:ext cx="4733925" cy="2695575"/>
          </a:xfrm>
          <a:prstGeom prst="rect">
            <a:avLst/>
          </a:prstGeom>
        </p:spPr>
      </p:pic>
      <p:sp>
        <p:nvSpPr>
          <p:cNvPr id="7" name="TextBox 6">
            <a:extLst>
              <a:ext uri="{FF2B5EF4-FFF2-40B4-BE49-F238E27FC236}">
                <a16:creationId xmlns:a16="http://schemas.microsoft.com/office/drawing/2014/main" id="{6C592A77-4397-AC4C-D4B4-7FE5ECB25921}"/>
              </a:ext>
            </a:extLst>
          </p:cNvPr>
          <p:cNvSpPr txBox="1"/>
          <p:nvPr/>
        </p:nvSpPr>
        <p:spPr>
          <a:xfrm>
            <a:off x="-4572000" y="2433935"/>
            <a:ext cx="6837680" cy="461665"/>
          </a:xfrm>
          <a:prstGeom prst="rect">
            <a:avLst/>
          </a:prstGeom>
          <a:noFill/>
        </p:spPr>
        <p:txBody>
          <a:bodyPr wrap="square">
            <a:spAutoFit/>
          </a:bodyPr>
          <a:lstStyle/>
          <a:p>
            <a:r>
              <a:rPr lang="en-US" dirty="0"/>
              <a:t>Recoverable with Cascading Rollback:</a:t>
            </a:r>
          </a:p>
        </p:txBody>
      </p:sp>
    </p:spTree>
    <p:extLst>
      <p:ext uri="{BB962C8B-B14F-4D97-AF65-F5344CB8AC3E}">
        <p14:creationId xmlns:p14="http://schemas.microsoft.com/office/powerpoint/2010/main" val="386132712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err="1"/>
              <a:t>Serializability</a:t>
            </a:r>
            <a:endParaRPr lang="en-IN" dirty="0"/>
          </a:p>
        </p:txBody>
      </p:sp>
      <p:sp>
        <p:nvSpPr>
          <p:cNvPr id="3" name="Content Placeholder 2"/>
          <p:cNvSpPr>
            <a:spLocks noGrp="1"/>
          </p:cNvSpPr>
          <p:nvPr>
            <p:ph idx="1"/>
          </p:nvPr>
        </p:nvSpPr>
        <p:spPr/>
        <p:txBody>
          <a:bodyPr/>
          <a:lstStyle/>
          <a:p>
            <a:r>
              <a:rPr lang="en-US" dirty="0" err="1"/>
              <a:t>Serializable</a:t>
            </a:r>
            <a:r>
              <a:rPr lang="en-US" dirty="0"/>
              <a:t> Schedule</a:t>
            </a:r>
          </a:p>
          <a:p>
            <a:pPr lvl="1" algn="just"/>
            <a:r>
              <a:rPr lang="en-US" sz="2000" dirty="0"/>
              <a:t>The types of schedules that are always considered to be correct when concurrent transactions are executing. Such schedules are known as serializable schedules..</a:t>
            </a:r>
          </a:p>
          <a:p>
            <a:pPr lvl="1" algn="just"/>
            <a:r>
              <a:rPr lang="en-US" sz="2000" dirty="0"/>
              <a:t>The concept of serializability of schedules is used to identify which schedules are correct when transaction executions have interleaving of their operations in the schedules.</a:t>
            </a:r>
          </a:p>
          <a:p>
            <a:pPr lvl="1" algn="just"/>
            <a:r>
              <a:rPr lang="en-US" sz="2000" dirty="0"/>
              <a:t>A schedule S of n </a:t>
            </a:r>
            <a:r>
              <a:rPr lang="en-US" sz="2000"/>
              <a:t>transactions is serializable </a:t>
            </a:r>
            <a:r>
              <a:rPr lang="en-US" sz="2000" dirty="0"/>
              <a:t>if it is equivalent to some serial schedule of the same n transactions.</a:t>
            </a:r>
          </a:p>
          <a:p>
            <a:pPr lvl="1" algn="just"/>
            <a:endParaRPr lang="en-US" sz="2000" dirty="0"/>
          </a:p>
          <a:p>
            <a:pPr lvl="1"/>
            <a:r>
              <a:rPr lang="en-US" sz="2000" dirty="0"/>
              <a:t>Types</a:t>
            </a:r>
          </a:p>
          <a:p>
            <a:pPr marL="1257300" lvl="2" indent="-342900">
              <a:buFont typeface="+mj-lt"/>
              <a:buAutoNum type="arabicPeriod"/>
            </a:pPr>
            <a:r>
              <a:rPr lang="en-US" sz="1800" dirty="0"/>
              <a:t>Result equivalent</a:t>
            </a:r>
          </a:p>
          <a:p>
            <a:pPr marL="1257300" lvl="2" indent="-342900">
              <a:buFont typeface="+mj-lt"/>
              <a:buAutoNum type="arabicPeriod"/>
            </a:pPr>
            <a:r>
              <a:rPr lang="en-US" sz="1800" dirty="0"/>
              <a:t>Conflict equivalent or conflict </a:t>
            </a:r>
            <a:r>
              <a:rPr lang="en-US" sz="1800" dirty="0" err="1"/>
              <a:t>serializable</a:t>
            </a:r>
            <a:endParaRPr lang="en-US" sz="1800" dirty="0"/>
          </a:p>
          <a:p>
            <a:pPr marL="1257300" lvl="2" indent="-342900">
              <a:buFont typeface="+mj-lt"/>
              <a:buAutoNum type="arabicPeriod"/>
            </a:pPr>
            <a:r>
              <a:rPr lang="en-US" sz="1800" dirty="0"/>
              <a:t>View equivalent or view </a:t>
            </a:r>
            <a:r>
              <a:rPr lang="en-US" sz="1800" dirty="0" err="1"/>
              <a:t>serializable</a:t>
            </a:r>
            <a:endParaRPr lang="en-US" sz="1800" dirty="0"/>
          </a:p>
        </p:txBody>
      </p:sp>
      <p:sp>
        <p:nvSpPr>
          <p:cNvPr id="4" name="Slide Number Placeholder 3"/>
          <p:cNvSpPr>
            <a:spLocks noGrp="1"/>
          </p:cNvSpPr>
          <p:nvPr>
            <p:ph type="sldNum" sz="quarter" idx="10"/>
          </p:nvPr>
        </p:nvSpPr>
        <p:spPr/>
        <p:txBody>
          <a:bodyPr/>
          <a:lstStyle/>
          <a:p>
            <a:pPr>
              <a:defRPr/>
            </a:pPr>
            <a:r>
              <a:rPr lang="en-US" altLang="en-US"/>
              <a:t>Slide 16- </a:t>
            </a:r>
            <a:fld id="{2D4306B9-CFD7-4637-81D1-AA1B82412423}" type="slidenum">
              <a:rPr lang="en-US" altLang="en-US" smtClean="0"/>
              <a:pPr>
                <a:defRPr/>
              </a:pPr>
              <a:t>24</a:t>
            </a:fld>
            <a:endParaRPr lang="en-CA" altLang="en-US" dirty="0"/>
          </a:p>
        </p:txBody>
      </p:sp>
    </p:spTree>
    <p:extLst>
      <p:ext uri="{BB962C8B-B14F-4D97-AF65-F5344CB8AC3E}">
        <p14:creationId xmlns:p14="http://schemas.microsoft.com/office/powerpoint/2010/main" val="189837804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CE06-7366-63F9-BFA9-AF12FC8C9361}"/>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4A411586-91CE-5DEE-15F3-C18CB98F2BD7}"/>
              </a:ext>
            </a:extLst>
          </p:cNvPr>
          <p:cNvSpPr>
            <a:spLocks noGrp="1"/>
          </p:cNvSpPr>
          <p:nvPr>
            <p:ph type="sldNum" sz="quarter" idx="10"/>
          </p:nvPr>
        </p:nvSpPr>
        <p:spPr/>
        <p:txBody>
          <a:bodyPr/>
          <a:lstStyle/>
          <a:p>
            <a:pPr>
              <a:defRPr/>
            </a:pPr>
            <a:r>
              <a:rPr lang="en-US" altLang="en-US"/>
              <a:t>Slide 16- </a:t>
            </a:r>
            <a:fld id="{2D4306B9-CFD7-4637-81D1-AA1B82412423}" type="slidenum">
              <a:rPr lang="en-US" altLang="en-US" smtClean="0"/>
              <a:pPr>
                <a:defRPr/>
              </a:pPr>
              <a:t>25</a:t>
            </a:fld>
            <a:endParaRPr lang="en-CA" altLang="en-US" dirty="0"/>
          </a:p>
        </p:txBody>
      </p:sp>
      <p:pic>
        <p:nvPicPr>
          <p:cNvPr id="6" name="Picture 5">
            <a:extLst>
              <a:ext uri="{FF2B5EF4-FFF2-40B4-BE49-F238E27FC236}">
                <a16:creationId xmlns:a16="http://schemas.microsoft.com/office/drawing/2014/main" id="{92EB7759-20C0-751A-C776-9D6EA087C11B}"/>
              </a:ext>
            </a:extLst>
          </p:cNvPr>
          <p:cNvPicPr>
            <a:picLocks noChangeAspect="1"/>
          </p:cNvPicPr>
          <p:nvPr/>
        </p:nvPicPr>
        <p:blipFill>
          <a:blip r:embed="rId2"/>
          <a:stretch>
            <a:fillRect/>
          </a:stretch>
        </p:blipFill>
        <p:spPr>
          <a:xfrm>
            <a:off x="1143000" y="1371600"/>
            <a:ext cx="6553200" cy="5223945"/>
          </a:xfrm>
          <a:prstGeom prst="rect">
            <a:avLst/>
          </a:prstGeom>
        </p:spPr>
      </p:pic>
    </p:spTree>
    <p:extLst>
      <p:ext uri="{BB962C8B-B14F-4D97-AF65-F5344CB8AC3E}">
        <p14:creationId xmlns:p14="http://schemas.microsoft.com/office/powerpoint/2010/main" val="369736634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Characterizing Schedules Based on Recoverability (cont’d.)</a:t>
            </a:r>
          </a:p>
        </p:txBody>
      </p:sp>
      <p:sp>
        <p:nvSpPr>
          <p:cNvPr id="31747" name="Content Placeholder 2"/>
          <p:cNvSpPr>
            <a:spLocks noGrp="1"/>
          </p:cNvSpPr>
          <p:nvPr>
            <p:ph idx="1"/>
          </p:nvPr>
        </p:nvSpPr>
        <p:spPr/>
        <p:txBody>
          <a:bodyPr/>
          <a:lstStyle/>
          <a:p>
            <a:r>
              <a:rPr lang="en-US" altLang="en-US" dirty="0"/>
              <a:t>Two conflicting operations in a schedule</a:t>
            </a:r>
          </a:p>
          <a:p>
            <a:pPr lvl="1"/>
            <a:r>
              <a:rPr lang="en-US" altLang="en-US" dirty="0"/>
              <a:t>Operations belong to different transactions</a:t>
            </a:r>
          </a:p>
          <a:p>
            <a:pPr lvl="1"/>
            <a:r>
              <a:rPr lang="en-US" altLang="en-US" dirty="0"/>
              <a:t>Operations access the same item X</a:t>
            </a:r>
          </a:p>
          <a:p>
            <a:pPr lvl="1"/>
            <a:r>
              <a:rPr lang="en-US" altLang="en-US" dirty="0"/>
              <a:t>At least one of the operations is a write_item(X)</a:t>
            </a:r>
          </a:p>
          <a:p>
            <a:r>
              <a:rPr lang="en-US" altLang="en-US" dirty="0"/>
              <a:t>Two operations conflict if changing their order results in a different outcome</a:t>
            </a:r>
          </a:p>
          <a:p>
            <a:r>
              <a:rPr lang="en-US" altLang="en-US" dirty="0"/>
              <a:t>Read-write conflict</a:t>
            </a:r>
          </a:p>
          <a:p>
            <a:r>
              <a:rPr lang="en-US" altLang="en-US" dirty="0"/>
              <a:t>Write-write conflict</a:t>
            </a:r>
          </a:p>
        </p:txBody>
      </p:sp>
      <p:sp>
        <p:nvSpPr>
          <p:cNvPr id="3174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9CD5586-1E28-453B-A0CB-D4C059CD84A2}" type="slidenum">
              <a:rPr lang="en-US" altLang="en-US" sz="1400" smtClean="0">
                <a:solidFill>
                  <a:srgbClr val="990033"/>
                </a:solidFill>
              </a:rPr>
              <a:pPr>
                <a:spcBef>
                  <a:spcPct val="0"/>
                </a:spcBef>
                <a:buClrTx/>
                <a:buSzTx/>
                <a:buFontTx/>
                <a:buNone/>
              </a:pPr>
              <a:t>26</a:t>
            </a:fld>
            <a:endParaRPr lang="en-CA" altLang="en-US" sz="1400" dirty="0">
              <a:solidFill>
                <a:srgbClr val="990033"/>
              </a:solidFill>
            </a:endParaRPr>
          </a:p>
        </p:txBody>
      </p:sp>
    </p:spTree>
    <p:extLst>
      <p:ext uri="{BB962C8B-B14F-4D97-AF65-F5344CB8AC3E}">
        <p14:creationId xmlns:p14="http://schemas.microsoft.com/office/powerpoint/2010/main" val="174341414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Characterizing Schedules Based on Recoverability (cont’d.)</a:t>
            </a:r>
          </a:p>
        </p:txBody>
      </p:sp>
      <p:sp>
        <p:nvSpPr>
          <p:cNvPr id="31747" name="Content Placeholder 2"/>
          <p:cNvSpPr>
            <a:spLocks noGrp="1"/>
          </p:cNvSpPr>
          <p:nvPr>
            <p:ph idx="1"/>
          </p:nvPr>
        </p:nvSpPr>
        <p:spPr/>
        <p:txBody>
          <a:bodyPr/>
          <a:lstStyle/>
          <a:p>
            <a:r>
              <a:rPr lang="en-US" altLang="en-US" dirty="0"/>
              <a:t>Recoverable schedules</a:t>
            </a:r>
          </a:p>
          <a:p>
            <a:pPr lvl="1"/>
            <a:r>
              <a:rPr lang="en-US" altLang="en-US" dirty="0"/>
              <a:t>Recovery is possible</a:t>
            </a:r>
          </a:p>
          <a:p>
            <a:r>
              <a:rPr lang="en-US" altLang="en-US" dirty="0"/>
              <a:t>Nonrecoverable schedules should not be permitted by the DBMS</a:t>
            </a:r>
          </a:p>
          <a:p>
            <a:r>
              <a:rPr lang="en-US" altLang="en-US" dirty="0"/>
              <a:t>No committed transaction ever needs to be rolled back</a:t>
            </a:r>
          </a:p>
          <a:p>
            <a:r>
              <a:rPr lang="en-US" altLang="en-US" dirty="0"/>
              <a:t>Cascading rollback may occur in some recoverable schedules</a:t>
            </a:r>
          </a:p>
          <a:p>
            <a:pPr lvl="1"/>
            <a:r>
              <a:rPr lang="en-US" altLang="en-US" dirty="0"/>
              <a:t>Uncommitted transaction may need to be rolled back</a:t>
            </a:r>
          </a:p>
        </p:txBody>
      </p:sp>
      <p:sp>
        <p:nvSpPr>
          <p:cNvPr id="3174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9CD5586-1E28-453B-A0CB-D4C059CD84A2}" type="slidenum">
              <a:rPr lang="en-US" altLang="en-US" sz="1400" smtClean="0">
                <a:solidFill>
                  <a:srgbClr val="990033"/>
                </a:solidFill>
              </a:rPr>
              <a:pPr>
                <a:spcBef>
                  <a:spcPct val="0"/>
                </a:spcBef>
                <a:buClrTx/>
                <a:buSzTx/>
                <a:buFontTx/>
                <a:buNone/>
              </a:pPr>
              <a:t>27</a:t>
            </a:fld>
            <a:endParaRPr lang="en-CA" altLang="en-US" sz="1400" dirty="0">
              <a:solidFill>
                <a:srgbClr val="990033"/>
              </a:solidFill>
            </a:endParaRPr>
          </a:p>
        </p:txBody>
      </p:sp>
    </p:spTree>
    <p:extLst>
      <p:ext uri="{BB962C8B-B14F-4D97-AF65-F5344CB8AC3E}">
        <p14:creationId xmlns:p14="http://schemas.microsoft.com/office/powerpoint/2010/main" val="2004793971"/>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en-US" dirty="0"/>
              <a:t>Characterizing Schedules Based on Recoverability (cont’d.)</a:t>
            </a:r>
          </a:p>
        </p:txBody>
      </p:sp>
      <p:sp>
        <p:nvSpPr>
          <p:cNvPr id="31747" name="Content Placeholder 2"/>
          <p:cNvSpPr>
            <a:spLocks noGrp="1"/>
          </p:cNvSpPr>
          <p:nvPr>
            <p:ph idx="1"/>
          </p:nvPr>
        </p:nvSpPr>
        <p:spPr/>
        <p:txBody>
          <a:bodyPr/>
          <a:lstStyle/>
          <a:p>
            <a:r>
              <a:rPr lang="en-US" altLang="en-US" dirty="0"/>
              <a:t>Cascadeless schedule</a:t>
            </a:r>
          </a:p>
          <a:p>
            <a:pPr lvl="1"/>
            <a:r>
              <a:rPr lang="en-US" altLang="en-US" dirty="0"/>
              <a:t>Avoids cascading rollback</a:t>
            </a:r>
          </a:p>
          <a:p>
            <a:r>
              <a:rPr lang="en-US" altLang="en-US" dirty="0"/>
              <a:t>Strict schedule</a:t>
            </a:r>
          </a:p>
          <a:p>
            <a:pPr lvl="1"/>
            <a:r>
              <a:rPr lang="en-US" altLang="en-US" dirty="0"/>
              <a:t>Transactions can neither read nor write an item X until the last transaction that wrote X has committed or aborted</a:t>
            </a:r>
          </a:p>
          <a:p>
            <a:pPr lvl="1"/>
            <a:r>
              <a:rPr lang="en-US" altLang="en-US" dirty="0"/>
              <a:t>Simpler recovery process</a:t>
            </a:r>
          </a:p>
          <a:p>
            <a:pPr lvl="2"/>
            <a:r>
              <a:rPr lang="en-US" altLang="en-US"/>
              <a:t>Restoration</a:t>
            </a:r>
            <a:endParaRPr lang="en-US" altLang="en-US" dirty="0"/>
          </a:p>
        </p:txBody>
      </p:sp>
      <p:sp>
        <p:nvSpPr>
          <p:cNvPr id="3174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9CD5586-1E28-453B-A0CB-D4C059CD84A2}" type="slidenum">
              <a:rPr lang="en-US" altLang="en-US" sz="1400" smtClean="0">
                <a:solidFill>
                  <a:srgbClr val="990033"/>
                </a:solidFill>
              </a:rPr>
              <a:pPr>
                <a:spcBef>
                  <a:spcPct val="0"/>
                </a:spcBef>
                <a:buClrTx/>
                <a:buSzTx/>
                <a:buFontTx/>
                <a:buNone/>
              </a:pPr>
              <a:t>28</a:t>
            </a:fld>
            <a:endParaRPr lang="en-CA" altLang="en-US" sz="1400" dirty="0">
              <a:solidFill>
                <a:srgbClr val="990033"/>
              </a:solidFill>
            </a:endParaRPr>
          </a:p>
        </p:txBody>
      </p:sp>
    </p:spTree>
    <p:extLst>
      <p:ext uri="{BB962C8B-B14F-4D97-AF65-F5344CB8AC3E}">
        <p14:creationId xmlns:p14="http://schemas.microsoft.com/office/powerpoint/2010/main" val="960237845"/>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a:t>20.5 Characterizing Schedules Based on Serializability</a:t>
            </a:r>
          </a:p>
        </p:txBody>
      </p:sp>
      <p:sp>
        <p:nvSpPr>
          <p:cNvPr id="36867" name="Content Placeholder 2"/>
          <p:cNvSpPr>
            <a:spLocks noGrp="1"/>
          </p:cNvSpPr>
          <p:nvPr>
            <p:ph idx="1"/>
          </p:nvPr>
        </p:nvSpPr>
        <p:spPr/>
        <p:txBody>
          <a:bodyPr/>
          <a:lstStyle/>
          <a:p>
            <a:r>
              <a:rPr lang="en-US" altLang="en-US" dirty="0"/>
              <a:t>Serializable schedules</a:t>
            </a:r>
          </a:p>
          <a:p>
            <a:pPr lvl="1"/>
            <a:r>
              <a:rPr lang="en-US" altLang="en-US" dirty="0"/>
              <a:t>Always considered to be correct when concurrent transactions are executing</a:t>
            </a:r>
          </a:p>
          <a:p>
            <a:pPr lvl="1"/>
            <a:r>
              <a:rPr lang="en-US" altLang="en-US" dirty="0"/>
              <a:t>Places simultaneous transactions in series</a:t>
            </a:r>
          </a:p>
          <a:p>
            <a:pPr lvl="2"/>
            <a:r>
              <a:rPr lang="en-US" altLang="en-US" dirty="0"/>
              <a:t>Transaction T</a:t>
            </a:r>
            <a:r>
              <a:rPr lang="en-US" altLang="en-US" baseline="-25000" dirty="0"/>
              <a:t>1</a:t>
            </a:r>
            <a:r>
              <a:rPr lang="en-US" altLang="en-US" dirty="0"/>
              <a:t> before T</a:t>
            </a:r>
            <a:r>
              <a:rPr lang="en-US" altLang="en-US" baseline="-25000" dirty="0"/>
              <a:t>2</a:t>
            </a:r>
            <a:r>
              <a:rPr lang="en-US" altLang="en-US" dirty="0"/>
              <a:t>, or vice versa</a:t>
            </a:r>
          </a:p>
        </p:txBody>
      </p:sp>
      <p:sp>
        <p:nvSpPr>
          <p:cNvPr id="368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67D9DAC-9BD9-446C-AC93-DFE50E2B3A9D}" type="slidenum">
              <a:rPr lang="en-US" altLang="en-US" sz="1400" smtClean="0">
                <a:solidFill>
                  <a:srgbClr val="990033"/>
                </a:solidFill>
              </a:rPr>
              <a:pPr>
                <a:spcBef>
                  <a:spcPct val="0"/>
                </a:spcBef>
                <a:buClrTx/>
                <a:buSzTx/>
                <a:buFontTx/>
                <a:buNone/>
              </a:pPr>
              <a:t>29</a:t>
            </a:fld>
            <a:endParaRPr lang="en-CA" altLang="en-US" sz="1400" dirty="0">
              <a:solidFill>
                <a:srgbClr val="990033"/>
              </a:solidFill>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30</a:t>
            </a:fld>
            <a:endParaRPr lang="en-CA" altLang="en-US" dirty="0"/>
          </a:p>
        </p:txBody>
      </p:sp>
      <p:pic>
        <p:nvPicPr>
          <p:cNvPr id="4" name="Picture 3"/>
          <p:cNvPicPr>
            <a:picLocks noChangeAspect="1"/>
          </p:cNvPicPr>
          <p:nvPr/>
        </p:nvPicPr>
        <p:blipFill>
          <a:blip r:embed="rId2"/>
          <a:stretch>
            <a:fillRect/>
          </a:stretch>
        </p:blipFill>
        <p:spPr>
          <a:xfrm>
            <a:off x="1142478" y="109106"/>
            <a:ext cx="6705600" cy="5581650"/>
          </a:xfrm>
          <a:prstGeom prst="rect">
            <a:avLst/>
          </a:prstGeom>
        </p:spPr>
      </p:pic>
      <p:sp>
        <p:nvSpPr>
          <p:cNvPr id="5" name="TextBox 4"/>
          <p:cNvSpPr txBox="1">
            <a:spLocks noChangeArrowheads="1"/>
          </p:cNvSpPr>
          <p:nvPr/>
        </p:nvSpPr>
        <p:spPr bwMode="auto">
          <a:xfrm>
            <a:off x="914400" y="5798403"/>
            <a:ext cx="7772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20.5 </a:t>
            </a:r>
            <a:r>
              <a:rPr lang="en-US" sz="1600" dirty="0">
                <a:solidFill>
                  <a:schemeClr val="tx1"/>
                </a:solidFill>
              </a:rPr>
              <a:t>Examples of serial and nonserial schedules involving transactions </a:t>
            </a:r>
            <a:r>
              <a:rPr lang="en-US" sz="1600" i="1" dirty="0">
                <a:solidFill>
                  <a:schemeClr val="tx1"/>
                </a:solidFill>
              </a:rPr>
              <a:t>T</a:t>
            </a:r>
            <a:r>
              <a:rPr lang="en-US" sz="1600" dirty="0">
                <a:solidFill>
                  <a:schemeClr val="tx1"/>
                </a:solidFill>
              </a:rPr>
              <a:t>1 and </a:t>
            </a:r>
            <a:r>
              <a:rPr lang="en-US" sz="1600" i="1" dirty="0">
                <a:solidFill>
                  <a:schemeClr val="tx1"/>
                </a:solidFill>
              </a:rPr>
              <a:t>T</a:t>
            </a:r>
            <a:r>
              <a:rPr lang="en-US" sz="1600" dirty="0">
                <a:solidFill>
                  <a:schemeClr val="tx1"/>
                </a:solidFill>
              </a:rPr>
              <a:t>2 (a) Serial schedule A: </a:t>
            </a:r>
            <a:r>
              <a:rPr lang="en-US" sz="1600" i="1" dirty="0">
                <a:solidFill>
                  <a:schemeClr val="tx1"/>
                </a:solidFill>
              </a:rPr>
              <a:t>T</a:t>
            </a:r>
            <a:r>
              <a:rPr lang="en-US" sz="1600" dirty="0">
                <a:solidFill>
                  <a:schemeClr val="tx1"/>
                </a:solidFill>
              </a:rPr>
              <a:t>1 followed by </a:t>
            </a:r>
            <a:r>
              <a:rPr lang="en-US" sz="1600" i="1" dirty="0">
                <a:solidFill>
                  <a:schemeClr val="tx1"/>
                </a:solidFill>
              </a:rPr>
              <a:t>T</a:t>
            </a:r>
            <a:r>
              <a:rPr lang="en-US" sz="1600" dirty="0">
                <a:solidFill>
                  <a:schemeClr val="tx1"/>
                </a:solidFill>
              </a:rPr>
              <a:t>2 (b) Serial schedule B: </a:t>
            </a:r>
            <a:r>
              <a:rPr lang="en-US" sz="1600" i="1" dirty="0">
                <a:solidFill>
                  <a:schemeClr val="tx1"/>
                </a:solidFill>
              </a:rPr>
              <a:t>T</a:t>
            </a:r>
            <a:r>
              <a:rPr lang="en-US" sz="1600" dirty="0">
                <a:solidFill>
                  <a:schemeClr val="tx1"/>
                </a:solidFill>
              </a:rPr>
              <a:t>2 followed by </a:t>
            </a:r>
            <a:r>
              <a:rPr lang="en-US" sz="1600" i="1" dirty="0">
                <a:solidFill>
                  <a:schemeClr val="tx1"/>
                </a:solidFill>
              </a:rPr>
              <a:t>T</a:t>
            </a:r>
            <a:r>
              <a:rPr lang="en-US" sz="1600" dirty="0">
                <a:solidFill>
                  <a:schemeClr val="tx1"/>
                </a:solidFill>
              </a:rPr>
              <a:t>1 (c) Two nonserial schedules C and D with interleaving of operations</a:t>
            </a:r>
            <a:endParaRPr lang="en-US" altLang="en-US" sz="1600" dirty="0">
              <a:solidFill>
                <a:schemeClr val="tx1"/>
              </a:solidFill>
            </a:endParaRPr>
          </a:p>
        </p:txBody>
      </p:sp>
    </p:spTree>
    <p:extLst>
      <p:ext uri="{BB962C8B-B14F-4D97-AF65-F5344CB8AC3E}">
        <p14:creationId xmlns:p14="http://schemas.microsoft.com/office/powerpoint/2010/main" val="180888207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a:t>Characterizing Schedules Based on Serializability (cont’d.)</a:t>
            </a:r>
          </a:p>
        </p:txBody>
      </p:sp>
      <p:sp>
        <p:nvSpPr>
          <p:cNvPr id="36867" name="Content Placeholder 2"/>
          <p:cNvSpPr>
            <a:spLocks noGrp="1"/>
          </p:cNvSpPr>
          <p:nvPr>
            <p:ph idx="1"/>
          </p:nvPr>
        </p:nvSpPr>
        <p:spPr/>
        <p:txBody>
          <a:bodyPr/>
          <a:lstStyle/>
          <a:p>
            <a:r>
              <a:rPr lang="en-US" altLang="en-US" dirty="0"/>
              <a:t>Problem with serial schedules</a:t>
            </a:r>
          </a:p>
          <a:p>
            <a:pPr lvl="1"/>
            <a:r>
              <a:rPr lang="en-US" altLang="en-US" dirty="0"/>
              <a:t>Limit concurrency by prohibiting interleaving of operations</a:t>
            </a:r>
          </a:p>
          <a:p>
            <a:pPr lvl="1"/>
            <a:r>
              <a:rPr lang="en-US" altLang="en-US" dirty="0"/>
              <a:t>Unacceptable in practice</a:t>
            </a:r>
          </a:p>
          <a:p>
            <a:pPr lvl="1"/>
            <a:r>
              <a:rPr lang="en-US" altLang="en-US" dirty="0"/>
              <a:t>Solution: determine which schedules are equivalent to a serial schedule and allow those to occur</a:t>
            </a:r>
          </a:p>
          <a:p>
            <a:r>
              <a:rPr lang="en-US" altLang="en-US" dirty="0"/>
              <a:t>Serializable schedule of </a:t>
            </a:r>
            <a:r>
              <a:rPr lang="en-US" altLang="en-US" i="1" dirty="0"/>
              <a:t>n</a:t>
            </a:r>
            <a:r>
              <a:rPr lang="en-US" altLang="en-US" dirty="0"/>
              <a:t> transactions</a:t>
            </a:r>
          </a:p>
          <a:p>
            <a:pPr lvl="1"/>
            <a:r>
              <a:rPr lang="en-US" altLang="en-US" dirty="0"/>
              <a:t>Equivalent to some serial schedule of same </a:t>
            </a:r>
            <a:r>
              <a:rPr lang="en-US" altLang="en-US" i="1" dirty="0"/>
              <a:t>n</a:t>
            </a:r>
            <a:r>
              <a:rPr lang="en-US" altLang="en-US" dirty="0"/>
              <a:t> transactions</a:t>
            </a:r>
          </a:p>
        </p:txBody>
      </p:sp>
      <p:sp>
        <p:nvSpPr>
          <p:cNvPr id="368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67D9DAC-9BD9-446C-AC93-DFE50E2B3A9D}" type="slidenum">
              <a:rPr lang="en-US" altLang="en-US" sz="1400" smtClean="0">
                <a:solidFill>
                  <a:srgbClr val="990033"/>
                </a:solidFill>
              </a:rPr>
              <a:pPr>
                <a:spcBef>
                  <a:spcPct val="0"/>
                </a:spcBef>
                <a:buClrTx/>
                <a:buSzTx/>
                <a:buFontTx/>
                <a:buNone/>
              </a:pPr>
              <a:t>31</a:t>
            </a:fld>
            <a:endParaRPr lang="en-CA" altLang="en-US" sz="1400" dirty="0">
              <a:solidFill>
                <a:srgbClr val="990033"/>
              </a:solidFill>
            </a:endParaRPr>
          </a:p>
        </p:txBody>
      </p:sp>
    </p:spTree>
    <p:extLst>
      <p:ext uri="{BB962C8B-B14F-4D97-AF65-F5344CB8AC3E}">
        <p14:creationId xmlns:p14="http://schemas.microsoft.com/office/powerpoint/2010/main" val="100096898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dirty="0"/>
              <a:t>Characterizing Schedules Based on Serializability (cont’d.)</a:t>
            </a:r>
          </a:p>
        </p:txBody>
      </p:sp>
      <p:sp>
        <p:nvSpPr>
          <p:cNvPr id="36867" name="Content Placeholder 2"/>
          <p:cNvSpPr>
            <a:spLocks noGrp="1"/>
          </p:cNvSpPr>
          <p:nvPr>
            <p:ph idx="1"/>
          </p:nvPr>
        </p:nvSpPr>
        <p:spPr/>
        <p:txBody>
          <a:bodyPr/>
          <a:lstStyle/>
          <a:p>
            <a:r>
              <a:rPr lang="en-US" altLang="en-US" dirty="0"/>
              <a:t>Result equivalent schedules</a:t>
            </a:r>
          </a:p>
          <a:p>
            <a:pPr lvl="1"/>
            <a:r>
              <a:rPr lang="en-US" altLang="en-US" dirty="0"/>
              <a:t>Produce the same final state of the database</a:t>
            </a:r>
          </a:p>
          <a:p>
            <a:pPr lvl="2" algn="just"/>
            <a:r>
              <a:rPr lang="en-US" altLang="en-US" sz="2000" dirty="0"/>
              <a:t>For example, schedules S1 and S2 will produce the same final database state if they execute on a database with an initial value of X = 100; however, for other initial values of X, the schedules are not result equivalent. </a:t>
            </a:r>
          </a:p>
          <a:p>
            <a:pPr lvl="2" algn="just"/>
            <a:r>
              <a:rPr lang="en-US" altLang="en-US" sz="2000" dirty="0"/>
              <a:t>Cannot be used alone to define equivalence of schedules</a:t>
            </a:r>
          </a:p>
        </p:txBody>
      </p:sp>
      <p:sp>
        <p:nvSpPr>
          <p:cNvPr id="368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F67D9DAC-9BD9-446C-AC93-DFE50E2B3A9D}" type="slidenum">
              <a:rPr lang="en-US" altLang="en-US" sz="1400" smtClean="0">
                <a:solidFill>
                  <a:srgbClr val="990033"/>
                </a:solidFill>
              </a:rPr>
              <a:pPr>
                <a:spcBef>
                  <a:spcPct val="0"/>
                </a:spcBef>
                <a:buClrTx/>
                <a:buSzTx/>
                <a:buFontTx/>
                <a:buNone/>
              </a:pPr>
              <a:t>32</a:t>
            </a:fld>
            <a:endParaRPr lang="en-CA" altLang="en-US" sz="1400" dirty="0">
              <a:solidFill>
                <a:srgbClr val="990033"/>
              </a:solidFill>
            </a:endParaRPr>
          </a:p>
        </p:txBody>
      </p:sp>
      <p:pic>
        <p:nvPicPr>
          <p:cNvPr id="5" name="Picture 4"/>
          <p:cNvPicPr>
            <a:picLocks noChangeAspect="1"/>
          </p:cNvPicPr>
          <p:nvPr/>
        </p:nvPicPr>
        <p:blipFill>
          <a:blip r:embed="rId3"/>
          <a:stretch>
            <a:fillRect/>
          </a:stretch>
        </p:blipFill>
        <p:spPr>
          <a:xfrm>
            <a:off x="2286000" y="4258407"/>
            <a:ext cx="3874685" cy="1504950"/>
          </a:xfrm>
          <a:prstGeom prst="rect">
            <a:avLst/>
          </a:prstGeom>
        </p:spPr>
      </p:pic>
      <p:sp>
        <p:nvSpPr>
          <p:cNvPr id="6" name="TextBox 5"/>
          <p:cNvSpPr txBox="1">
            <a:spLocks noChangeArrowheads="1"/>
          </p:cNvSpPr>
          <p:nvPr/>
        </p:nvSpPr>
        <p:spPr bwMode="auto">
          <a:xfrm>
            <a:off x="1257300" y="5675391"/>
            <a:ext cx="6629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20.6 </a:t>
            </a:r>
            <a:r>
              <a:rPr lang="en-US" sz="1600" dirty="0">
                <a:solidFill>
                  <a:schemeClr val="tx1"/>
                </a:solidFill>
              </a:rPr>
              <a:t>Two schedules that are result equivalent for the initial value of </a:t>
            </a:r>
            <a:r>
              <a:rPr lang="en-US" sz="1600" i="1" dirty="0">
                <a:solidFill>
                  <a:schemeClr val="tx1"/>
                </a:solidFill>
              </a:rPr>
              <a:t>X </a:t>
            </a:r>
            <a:r>
              <a:rPr lang="en-US" sz="1600" dirty="0">
                <a:solidFill>
                  <a:schemeClr val="tx1"/>
                </a:solidFill>
              </a:rPr>
              <a:t>= 100 but are not result equivalent in general</a:t>
            </a:r>
            <a:endParaRPr lang="en-US" altLang="en-US" sz="1600" dirty="0">
              <a:solidFill>
                <a:schemeClr val="tx1"/>
              </a:solidFill>
            </a:endParaRPr>
          </a:p>
        </p:txBody>
      </p:sp>
    </p:spTree>
    <p:extLst>
      <p:ext uri="{BB962C8B-B14F-4D97-AF65-F5344CB8AC3E}">
        <p14:creationId xmlns:p14="http://schemas.microsoft.com/office/powerpoint/2010/main" val="391399981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Characterizing Schedules Based on Serializability (cont’d.)</a:t>
            </a:r>
            <a:endParaRPr lang="en-US" dirty="0"/>
          </a:p>
        </p:txBody>
      </p:sp>
      <p:sp>
        <p:nvSpPr>
          <p:cNvPr id="3" name="Content Placeholder 2"/>
          <p:cNvSpPr>
            <a:spLocks noGrp="1"/>
          </p:cNvSpPr>
          <p:nvPr>
            <p:ph idx="1"/>
          </p:nvPr>
        </p:nvSpPr>
        <p:spPr/>
        <p:txBody>
          <a:bodyPr/>
          <a:lstStyle/>
          <a:p>
            <a:pPr algn="just"/>
            <a:r>
              <a:rPr lang="en-US" altLang="en-US" sz="2400" dirty="0"/>
              <a:t>For two schedules to be equivalent, the operations applied to each data item affected by the schedules should be applied to that item in both schedules in the same order.</a:t>
            </a:r>
          </a:p>
          <a:p>
            <a:pPr algn="l"/>
            <a:r>
              <a:rPr lang="en-US" sz="2400" b="0" i="0" u="none" strike="noStrike" baseline="0" dirty="0">
                <a:latin typeface="Minion-Regular"/>
              </a:rPr>
              <a:t>Two definitions of equivalence of schedules are generally used: </a:t>
            </a:r>
            <a:r>
              <a:rPr lang="en-US" sz="2400" b="0" i="1" u="none" strike="noStrike" baseline="0" dirty="0">
                <a:latin typeface="Minion-Italic"/>
              </a:rPr>
              <a:t>conflict equivalence </a:t>
            </a:r>
            <a:r>
              <a:rPr lang="en-US" sz="2400" b="0" i="0" u="none" strike="noStrike" baseline="0" dirty="0">
                <a:latin typeface="Minion-Regular"/>
              </a:rPr>
              <a:t>and </a:t>
            </a:r>
            <a:r>
              <a:rPr lang="en-US" sz="2400" b="0" i="1" u="none" strike="noStrike" baseline="0" dirty="0">
                <a:latin typeface="Minion-Italic"/>
              </a:rPr>
              <a:t>view equivalence</a:t>
            </a:r>
            <a:r>
              <a:rPr lang="en-US" sz="2400" b="0" i="0" u="none" strike="noStrike" baseline="0" dirty="0">
                <a:latin typeface="Minion-Regular"/>
              </a:rPr>
              <a:t>.</a:t>
            </a:r>
            <a:endParaRPr lang="en-US" altLang="en-US" sz="3200" dirty="0"/>
          </a:p>
          <a:p>
            <a:r>
              <a:rPr lang="en-US" altLang="en-US" dirty="0"/>
              <a:t>Conflict equivalence</a:t>
            </a:r>
          </a:p>
          <a:p>
            <a:pPr lvl="1"/>
            <a:r>
              <a:rPr lang="en-US" altLang="en-US" dirty="0"/>
              <a:t>Relative order of any two conflicting operations is the same in both schedules</a:t>
            </a:r>
          </a:p>
          <a:p>
            <a:r>
              <a:rPr lang="en-US" altLang="en-US" dirty="0"/>
              <a:t>Conflict Serializable</a:t>
            </a:r>
          </a:p>
          <a:p>
            <a:pPr lvl="1"/>
            <a:r>
              <a:rPr lang="en-US" altLang="en-US" dirty="0"/>
              <a:t>Schedule S is conflict serializable if it is conflict equivalent to some serial schedule S’.</a:t>
            </a:r>
          </a:p>
          <a:p>
            <a:pPr marL="0" indent="0">
              <a:buNone/>
            </a:pPr>
            <a:endParaRPr lang="en-US" dirty="0"/>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33</a:t>
            </a:fld>
            <a:endParaRPr lang="en-CA" altLang="en-US" dirty="0"/>
          </a:p>
        </p:txBody>
      </p:sp>
    </p:spTree>
    <p:extLst>
      <p:ext uri="{BB962C8B-B14F-4D97-AF65-F5344CB8AC3E}">
        <p14:creationId xmlns:p14="http://schemas.microsoft.com/office/powerpoint/2010/main" val="948867875"/>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Characterizing Schedules Based on Serializability (cont’d.)</a:t>
            </a:r>
            <a:endParaRPr lang="en-US" dirty="0"/>
          </a:p>
        </p:txBody>
      </p:sp>
      <p:sp>
        <p:nvSpPr>
          <p:cNvPr id="3" name="Content Placeholder 2"/>
          <p:cNvSpPr>
            <a:spLocks noGrp="1"/>
          </p:cNvSpPr>
          <p:nvPr>
            <p:ph idx="1"/>
          </p:nvPr>
        </p:nvSpPr>
        <p:spPr/>
        <p:txBody>
          <a:bodyPr/>
          <a:lstStyle/>
          <a:p>
            <a:r>
              <a:rPr lang="en-US" altLang="en-US" dirty="0"/>
              <a:t>Testing for serializability of a schedule</a:t>
            </a:r>
          </a:p>
          <a:p>
            <a:endParaRPr lang="en-US" dirty="0"/>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34</a:t>
            </a:fld>
            <a:endParaRPr lang="en-CA" altLang="en-US" dirty="0"/>
          </a:p>
        </p:txBody>
      </p:sp>
      <p:pic>
        <p:nvPicPr>
          <p:cNvPr id="5" name="Picture 4"/>
          <p:cNvPicPr>
            <a:picLocks noChangeAspect="1"/>
          </p:cNvPicPr>
          <p:nvPr/>
        </p:nvPicPr>
        <p:blipFill>
          <a:blip r:embed="rId2"/>
          <a:stretch>
            <a:fillRect/>
          </a:stretch>
        </p:blipFill>
        <p:spPr>
          <a:xfrm>
            <a:off x="609600" y="2438400"/>
            <a:ext cx="7823226" cy="3233734"/>
          </a:xfrm>
          <a:prstGeom prst="rect">
            <a:avLst/>
          </a:prstGeom>
        </p:spPr>
      </p:pic>
      <p:sp>
        <p:nvSpPr>
          <p:cNvPr id="7" name="TextBox 6"/>
          <p:cNvSpPr txBox="1">
            <a:spLocks noChangeArrowheads="1"/>
          </p:cNvSpPr>
          <p:nvPr/>
        </p:nvSpPr>
        <p:spPr bwMode="auto">
          <a:xfrm>
            <a:off x="1434305" y="5976934"/>
            <a:ext cx="59055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Algorithm 20.1 </a:t>
            </a:r>
            <a:r>
              <a:rPr lang="en-US" sz="1600" dirty="0">
                <a:solidFill>
                  <a:schemeClr val="tx1"/>
                </a:solidFill>
              </a:rPr>
              <a:t>Testing conflict serializability of a schedule S</a:t>
            </a:r>
            <a:endParaRPr lang="en-US" altLang="en-US" sz="1600" dirty="0">
              <a:solidFill>
                <a:schemeClr val="tx1"/>
              </a:solidFill>
            </a:endParaRPr>
          </a:p>
        </p:txBody>
      </p:sp>
    </p:spTree>
    <p:extLst>
      <p:ext uri="{BB962C8B-B14F-4D97-AF65-F5344CB8AC3E}">
        <p14:creationId xmlns:p14="http://schemas.microsoft.com/office/powerpoint/2010/main" val="814149555"/>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Characterizing Schedules Based on Serializability (cont’d.)</a:t>
            </a:r>
            <a:endParaRPr lang="en-US" dirty="0"/>
          </a:p>
        </p:txBody>
      </p:sp>
      <p:sp>
        <p:nvSpPr>
          <p:cNvPr id="3" name="Slide Number Placeholder 2"/>
          <p:cNvSpPr>
            <a:spLocks noGrp="1"/>
          </p:cNvSpPr>
          <p:nvPr>
            <p:ph type="sldNum" sz="quarter" idx="10"/>
          </p:nvPr>
        </p:nvSpPr>
        <p:spPr/>
        <p:txBody>
          <a:bodyPr/>
          <a:lstStyle/>
          <a:p>
            <a:pPr>
              <a:defRPr/>
            </a:pPr>
            <a:r>
              <a:rPr lang="en-US" altLang="en-US" dirty="0"/>
              <a:t>Slide 20-</a:t>
            </a:r>
            <a:fld id="{AEE05831-3758-41FE-86C8-A42338BA7B7B}" type="slidenum">
              <a:rPr lang="en-US" altLang="en-US" smtClean="0"/>
              <a:pPr>
                <a:defRPr/>
              </a:pPr>
              <a:t>35</a:t>
            </a:fld>
            <a:endParaRPr lang="en-CA" altLang="en-US" dirty="0"/>
          </a:p>
        </p:txBody>
      </p:sp>
      <p:sp>
        <p:nvSpPr>
          <p:cNvPr id="4" name="TextBox 3"/>
          <p:cNvSpPr txBox="1">
            <a:spLocks noChangeArrowheads="1"/>
          </p:cNvSpPr>
          <p:nvPr/>
        </p:nvSpPr>
        <p:spPr bwMode="auto">
          <a:xfrm>
            <a:off x="457200" y="5515741"/>
            <a:ext cx="82296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buNone/>
            </a:pPr>
            <a:r>
              <a:rPr lang="en-US" altLang="en-US" sz="1600" dirty="0">
                <a:solidFill>
                  <a:schemeClr val="tx1"/>
                </a:solidFill>
              </a:rPr>
              <a:t>Figure 20.7 </a:t>
            </a:r>
            <a:r>
              <a:rPr lang="en-US" sz="1600" dirty="0">
                <a:solidFill>
                  <a:schemeClr val="tx1"/>
                </a:solidFill>
              </a:rPr>
              <a:t>Constructing the precedence graphs for schedules A to D from Figure 21.5 to test for conflict serializability (a) Precedence graph for serial schedule A (b) Precedence graph for serial schedule B (c) Precedence graph for schedule C (not serializable) (d) Precedence graph for schedule D (serializable, equivalent to schedule A)</a:t>
            </a:r>
            <a:endParaRPr lang="en-US" altLang="en-US" sz="1600" dirty="0">
              <a:solidFill>
                <a:schemeClr val="tx1"/>
              </a:solidFill>
            </a:endParaRPr>
          </a:p>
        </p:txBody>
      </p:sp>
      <p:pic>
        <p:nvPicPr>
          <p:cNvPr id="5" name="Picture 4"/>
          <p:cNvPicPr>
            <a:picLocks noChangeAspect="1"/>
          </p:cNvPicPr>
          <p:nvPr/>
        </p:nvPicPr>
        <p:blipFill>
          <a:blip r:embed="rId3"/>
          <a:stretch>
            <a:fillRect/>
          </a:stretch>
        </p:blipFill>
        <p:spPr>
          <a:xfrm>
            <a:off x="4876800" y="1639959"/>
            <a:ext cx="3675615" cy="3610741"/>
          </a:xfrm>
          <a:prstGeom prst="rect">
            <a:avLst/>
          </a:prstGeom>
        </p:spPr>
      </p:pic>
      <p:pic>
        <p:nvPicPr>
          <p:cNvPr id="7" name="Picture 6">
            <a:extLst>
              <a:ext uri="{FF2B5EF4-FFF2-40B4-BE49-F238E27FC236}">
                <a16:creationId xmlns:a16="http://schemas.microsoft.com/office/drawing/2014/main" id="{52AAACBD-8B5D-0BA1-777F-36BF2230D7B4}"/>
              </a:ext>
            </a:extLst>
          </p:cNvPr>
          <p:cNvPicPr>
            <a:picLocks noChangeAspect="1"/>
          </p:cNvPicPr>
          <p:nvPr/>
        </p:nvPicPr>
        <p:blipFill>
          <a:blip r:embed="rId4"/>
          <a:stretch>
            <a:fillRect/>
          </a:stretch>
        </p:blipFill>
        <p:spPr>
          <a:xfrm>
            <a:off x="221512" y="1676286"/>
            <a:ext cx="3829296" cy="3825278"/>
          </a:xfrm>
          <a:prstGeom prst="rect">
            <a:avLst/>
          </a:prstGeom>
        </p:spPr>
      </p:pic>
    </p:spTree>
    <p:extLst>
      <p:ext uri="{BB962C8B-B14F-4D97-AF65-F5344CB8AC3E}">
        <p14:creationId xmlns:p14="http://schemas.microsoft.com/office/powerpoint/2010/main" val="1059404374"/>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Serializability is Used for Concurrency Control</a:t>
            </a:r>
          </a:p>
        </p:txBody>
      </p:sp>
      <p:sp>
        <p:nvSpPr>
          <p:cNvPr id="3" name="Content Placeholder 2"/>
          <p:cNvSpPr>
            <a:spLocks noGrp="1"/>
          </p:cNvSpPr>
          <p:nvPr>
            <p:ph idx="1"/>
          </p:nvPr>
        </p:nvSpPr>
        <p:spPr/>
        <p:txBody>
          <a:bodyPr/>
          <a:lstStyle/>
          <a:p>
            <a:r>
              <a:rPr lang="en-US" dirty="0"/>
              <a:t>Being serializable is different from being serial</a:t>
            </a:r>
          </a:p>
          <a:p>
            <a:r>
              <a:rPr lang="en-US" dirty="0"/>
              <a:t>Serializable schedule gives benefit of concurrent execution</a:t>
            </a:r>
          </a:p>
          <a:p>
            <a:pPr lvl="1"/>
            <a:r>
              <a:rPr lang="en-US" dirty="0"/>
              <a:t>Without giving up any correctness</a:t>
            </a:r>
          </a:p>
          <a:p>
            <a:r>
              <a:rPr lang="en-US" dirty="0"/>
              <a:t>Difficult to test for serializability in practice</a:t>
            </a:r>
          </a:p>
          <a:p>
            <a:pPr lvl="1"/>
            <a:r>
              <a:rPr lang="en-US" dirty="0"/>
              <a:t>Factors such as system load, time of transaction submission, and process priority affect ordering of operations</a:t>
            </a:r>
          </a:p>
          <a:p>
            <a:r>
              <a:rPr lang="en-US" dirty="0"/>
              <a:t>DBMS enforces protocols</a:t>
            </a:r>
          </a:p>
          <a:p>
            <a:pPr lvl="1"/>
            <a:r>
              <a:rPr lang="en-US" dirty="0"/>
              <a:t>Set of rules to ensure serializability</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36</a:t>
            </a:fld>
            <a:endParaRPr lang="en-CA" altLang="en-US" dirty="0"/>
          </a:p>
        </p:txBody>
      </p:sp>
    </p:spTree>
    <p:extLst>
      <p:ext uri="{BB962C8B-B14F-4D97-AF65-F5344CB8AC3E}">
        <p14:creationId xmlns:p14="http://schemas.microsoft.com/office/powerpoint/2010/main" val="377757150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Equivalence and View Serializability</a:t>
            </a:r>
          </a:p>
        </p:txBody>
      </p:sp>
      <p:sp>
        <p:nvSpPr>
          <p:cNvPr id="3" name="Content Placeholder 2"/>
          <p:cNvSpPr>
            <a:spLocks noGrp="1"/>
          </p:cNvSpPr>
          <p:nvPr>
            <p:ph idx="1"/>
          </p:nvPr>
        </p:nvSpPr>
        <p:spPr/>
        <p:txBody>
          <a:bodyPr/>
          <a:lstStyle/>
          <a:p>
            <a:pPr algn="just"/>
            <a:r>
              <a:rPr lang="en-US" dirty="0"/>
              <a:t>View equivalence of two schedules</a:t>
            </a:r>
          </a:p>
          <a:p>
            <a:pPr lvl="1" algn="just"/>
            <a:r>
              <a:rPr lang="en-US" dirty="0"/>
              <a:t>If Ti reads initial value of ‘A’ in S, then Ti should also read initial value of data item A in S’.</a:t>
            </a:r>
          </a:p>
          <a:p>
            <a:pPr lvl="1" algn="just"/>
            <a:r>
              <a:rPr lang="en-US" dirty="0"/>
              <a:t>If </a:t>
            </a:r>
            <a:r>
              <a:rPr lang="en-US" dirty="0" err="1"/>
              <a:t>Tj</a:t>
            </a:r>
            <a:r>
              <a:rPr lang="en-US" dirty="0"/>
              <a:t> produces final write operation of ‘A’ in S then </a:t>
            </a:r>
            <a:r>
              <a:rPr lang="en-US" dirty="0" err="1"/>
              <a:t>Tj</a:t>
            </a:r>
            <a:r>
              <a:rPr lang="en-US" dirty="0"/>
              <a:t> should also perform the final write operation of A in S’.</a:t>
            </a:r>
          </a:p>
          <a:p>
            <a:pPr lvl="1" algn="just"/>
            <a:r>
              <a:rPr lang="en-US" dirty="0"/>
              <a:t>If </a:t>
            </a:r>
            <a:r>
              <a:rPr lang="en-US" dirty="0" err="1"/>
              <a:t>Tj</a:t>
            </a:r>
            <a:r>
              <a:rPr lang="en-US" dirty="0"/>
              <a:t> reads a value produced by Ti in S then </a:t>
            </a:r>
            <a:r>
              <a:rPr lang="en-US" dirty="0" err="1"/>
              <a:t>Tj</a:t>
            </a:r>
            <a:r>
              <a:rPr lang="en-US" dirty="0"/>
              <a:t> must also read the value produced by Ti in S’.</a:t>
            </a:r>
          </a:p>
          <a:p>
            <a:pPr algn="just"/>
            <a:r>
              <a:rPr lang="en-US" dirty="0"/>
              <a:t>View serializable schedule </a:t>
            </a:r>
          </a:p>
          <a:p>
            <a:pPr lvl="1" algn="just"/>
            <a:r>
              <a:rPr lang="en-US" dirty="0"/>
              <a:t>A schedule S is said to be view serializable if it is view equivalent to a serial schedule.</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37</a:t>
            </a:fld>
            <a:endParaRPr lang="en-CA" altLang="en-US" dirty="0"/>
          </a:p>
        </p:txBody>
      </p:sp>
    </p:spTree>
    <p:extLst>
      <p:ext uri="{BB962C8B-B14F-4D97-AF65-F5344CB8AC3E}">
        <p14:creationId xmlns:p14="http://schemas.microsoft.com/office/powerpoint/2010/main" val="3902427818"/>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 Equivalence and View Serializability (cont’d.)</a:t>
            </a:r>
          </a:p>
        </p:txBody>
      </p:sp>
      <p:sp>
        <p:nvSpPr>
          <p:cNvPr id="3" name="Content Placeholder 2"/>
          <p:cNvSpPr>
            <a:spLocks noGrp="1"/>
          </p:cNvSpPr>
          <p:nvPr>
            <p:ph idx="1"/>
          </p:nvPr>
        </p:nvSpPr>
        <p:spPr/>
        <p:txBody>
          <a:bodyPr/>
          <a:lstStyle/>
          <a:p>
            <a:r>
              <a:rPr lang="en-US" dirty="0"/>
              <a:t>Conflict serializability similar to view serializability if constrained write assumption (no blind writes) applies</a:t>
            </a:r>
          </a:p>
          <a:p>
            <a:r>
              <a:rPr lang="en-US" dirty="0"/>
              <a:t>Unconstrained write assumption</a:t>
            </a:r>
          </a:p>
          <a:p>
            <a:pPr lvl="1"/>
            <a:r>
              <a:rPr lang="en-US" dirty="0"/>
              <a:t>Value written by an operation can be independent of its old value</a:t>
            </a:r>
          </a:p>
          <a:p>
            <a:r>
              <a:rPr lang="en-US" dirty="0"/>
              <a:t>Debit-credit transactions</a:t>
            </a:r>
          </a:p>
          <a:p>
            <a:pPr lvl="1"/>
            <a:r>
              <a:rPr lang="en-US" dirty="0"/>
              <a:t>Less-stringent conditions than conflict serializability or view serializability</a:t>
            </a:r>
          </a:p>
        </p:txBody>
      </p:sp>
      <p:sp>
        <p:nvSpPr>
          <p:cNvPr id="4" name="Slide Number Placeholder 3"/>
          <p:cNvSpPr>
            <a:spLocks noGrp="1"/>
          </p:cNvSpPr>
          <p:nvPr>
            <p:ph type="sldNum" sz="quarter" idx="10"/>
          </p:nvPr>
        </p:nvSpPr>
        <p:spPr/>
        <p:txBody>
          <a:bodyPr/>
          <a:lstStyle/>
          <a:p>
            <a:pPr>
              <a:defRPr/>
            </a:pPr>
            <a:r>
              <a:rPr lang="en-US" altLang="en-US" dirty="0"/>
              <a:t>Slide 20- </a:t>
            </a:r>
            <a:fld id="{2D4306B9-CFD7-4637-81D1-AA1B82412423}" type="slidenum">
              <a:rPr lang="en-US" altLang="en-US" smtClean="0"/>
              <a:pPr>
                <a:defRPr/>
              </a:pPr>
              <a:t>38</a:t>
            </a:fld>
            <a:endParaRPr lang="en-CA" altLang="en-US" dirty="0"/>
          </a:p>
        </p:txBody>
      </p:sp>
    </p:spTree>
    <p:extLst>
      <p:ext uri="{BB962C8B-B14F-4D97-AF65-F5344CB8AC3E}">
        <p14:creationId xmlns:p14="http://schemas.microsoft.com/office/powerpoint/2010/main" val="1088232180"/>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dirty="0"/>
              <a:t>20.6 Transaction Support in SQL</a:t>
            </a:r>
          </a:p>
        </p:txBody>
      </p:sp>
      <p:sp>
        <p:nvSpPr>
          <p:cNvPr id="38915" name="Content Placeholder 2"/>
          <p:cNvSpPr>
            <a:spLocks noGrp="1"/>
          </p:cNvSpPr>
          <p:nvPr>
            <p:ph idx="1"/>
          </p:nvPr>
        </p:nvSpPr>
        <p:spPr/>
        <p:txBody>
          <a:bodyPr/>
          <a:lstStyle/>
          <a:p>
            <a:r>
              <a:rPr lang="en-US" altLang="en-US" dirty="0"/>
              <a:t>No explicit Begin_Transaction statement</a:t>
            </a:r>
          </a:p>
          <a:p>
            <a:r>
              <a:rPr lang="en-US" altLang="en-US" dirty="0"/>
              <a:t>Every transaction must have an explicit end statement</a:t>
            </a:r>
          </a:p>
          <a:p>
            <a:pPr lvl="1"/>
            <a:r>
              <a:rPr lang="en-US" altLang="en-US" dirty="0"/>
              <a:t>COMMIT</a:t>
            </a:r>
          </a:p>
          <a:p>
            <a:pPr lvl="1"/>
            <a:r>
              <a:rPr lang="en-US" altLang="en-US" dirty="0"/>
              <a:t>ROLLBACK</a:t>
            </a:r>
          </a:p>
          <a:p>
            <a:r>
              <a:rPr lang="en-US" altLang="en-US" dirty="0"/>
              <a:t>Access mode is READ ONLY or READ WRITE</a:t>
            </a:r>
          </a:p>
          <a:p>
            <a:r>
              <a:rPr lang="en-US" altLang="en-US" dirty="0"/>
              <a:t>Diagnostic area size option</a:t>
            </a:r>
          </a:p>
          <a:p>
            <a:pPr lvl="1"/>
            <a:r>
              <a:rPr lang="en-US" altLang="en-US" dirty="0"/>
              <a:t>Integer value indicating number of conditions held simultaneously in the diagnostic area</a:t>
            </a:r>
          </a:p>
        </p:txBody>
      </p:sp>
      <p:sp>
        <p:nvSpPr>
          <p:cNvPr id="3891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852D8B88-38B0-4796-B84B-53B099FD8987}" type="slidenum">
              <a:rPr lang="en-US" altLang="en-US" sz="1400" smtClean="0">
                <a:solidFill>
                  <a:srgbClr val="990033"/>
                </a:solidFill>
              </a:rPr>
              <a:pPr>
                <a:spcBef>
                  <a:spcPct val="0"/>
                </a:spcBef>
                <a:buClrTx/>
                <a:buSzTx/>
                <a:buFontTx/>
                <a:buNone/>
              </a:pPr>
              <a:t>39</a:t>
            </a:fld>
            <a:endParaRPr lang="en-CA" altLang="en-US" sz="1400" dirty="0">
              <a:solidFill>
                <a:srgbClr val="990033"/>
              </a:solidFill>
            </a:endParaRP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altLang="en-US" dirty="0"/>
              <a:t>20.7 Summary</a:t>
            </a:r>
          </a:p>
        </p:txBody>
      </p:sp>
      <p:sp>
        <p:nvSpPr>
          <p:cNvPr id="39939" name="Content Placeholder 2"/>
          <p:cNvSpPr>
            <a:spLocks noGrp="1"/>
          </p:cNvSpPr>
          <p:nvPr>
            <p:ph idx="1"/>
          </p:nvPr>
        </p:nvSpPr>
        <p:spPr/>
        <p:txBody>
          <a:bodyPr/>
          <a:lstStyle/>
          <a:p>
            <a:r>
              <a:rPr lang="en-US" altLang="en-US" dirty="0"/>
              <a:t>Single and multiuser database transactions</a:t>
            </a:r>
          </a:p>
          <a:p>
            <a:r>
              <a:rPr lang="en-US" altLang="en-US" dirty="0"/>
              <a:t>Uncontrolled execution of concurrent transactions</a:t>
            </a:r>
          </a:p>
          <a:p>
            <a:r>
              <a:rPr lang="en-US" altLang="en-US" dirty="0"/>
              <a:t>System log</a:t>
            </a:r>
          </a:p>
          <a:p>
            <a:r>
              <a:rPr lang="en-US" altLang="en-US" dirty="0"/>
              <a:t>Failure recovery</a:t>
            </a:r>
          </a:p>
          <a:p>
            <a:r>
              <a:rPr lang="en-US" altLang="en-US" dirty="0"/>
              <a:t>Committed transaction</a:t>
            </a:r>
          </a:p>
          <a:p>
            <a:r>
              <a:rPr lang="en-US" altLang="en-US" dirty="0"/>
              <a:t>Schedule (history) defines execution sequence</a:t>
            </a:r>
          </a:p>
          <a:p>
            <a:pPr lvl="1"/>
            <a:r>
              <a:rPr lang="en-US" altLang="en-US" dirty="0"/>
              <a:t>Schedule recoverability</a:t>
            </a:r>
          </a:p>
          <a:p>
            <a:pPr lvl="1"/>
            <a:r>
              <a:rPr lang="en-US" altLang="en-US" dirty="0"/>
              <a:t>Schedule equivalence</a:t>
            </a:r>
          </a:p>
          <a:p>
            <a:r>
              <a:rPr lang="en-US" altLang="en-US" dirty="0"/>
              <a:t>Serializability of schedules</a:t>
            </a:r>
          </a:p>
        </p:txBody>
      </p:sp>
      <p:sp>
        <p:nvSpPr>
          <p:cNvPr id="3994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20- </a:t>
            </a:r>
            <a:fld id="{DBA893D4-F00A-43FD-B85E-1F724A9E031A}" type="slidenum">
              <a:rPr lang="en-US" altLang="en-US" sz="1400" smtClean="0">
                <a:solidFill>
                  <a:srgbClr val="990033"/>
                </a:solidFill>
              </a:rPr>
              <a:pPr>
                <a:spcBef>
                  <a:spcPct val="0"/>
                </a:spcBef>
                <a:buClrTx/>
                <a:buSzTx/>
                <a:buFontTx/>
                <a:buNone/>
              </a:pPr>
              <a:t>40</a:t>
            </a:fld>
            <a:endParaRPr lang="en-CA" altLang="en-US" sz="1400" dirty="0">
              <a:solidFill>
                <a:srgbClr val="990033"/>
              </a:solidFill>
            </a:endParaRPr>
          </a:p>
        </p:txBody>
      </p:sp>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44.99441"/>
  <p:tag name="LATEXADDIN" val="\documentclass{article}&#10;\usepackage{amsmath}&#10;\pagestyle{empty}&#10;\begin{document}&#10;&#10;&#10;\}&#10;&#10;\end{document}"/>
  <p:tag name="IGUANATEXSIZE" val="20"/>
  <p:tag name="IGUANATEXCURSOR" val="84"/>
  <p:tag name="TRANSPARENCY" val="True"/>
  <p:tag name="FILENAME" val=""/>
  <p:tag name="LATEXENGINEID" val="0"/>
  <p:tag name="TEMPFOLDER" val="c:\temp\"/>
  <p:tag name="LATEXFORMHEIGHT" val="312"/>
  <p:tag name="LATEXFORMWIDTH" val="384"/>
  <p:tag name="LATEXFORMWRAP" val="True"/>
  <p:tag name="BITMAPVECTOR" val="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4242</TotalTime>
  <Words>5632</Words>
  <Application>Microsoft Office PowerPoint</Application>
  <PresentationFormat>Letter Paper (8.5x11 in)</PresentationFormat>
  <Paragraphs>378</Paragraphs>
  <Slides>40</Slides>
  <Notes>20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40</vt:i4>
      </vt:variant>
    </vt:vector>
  </HeadingPairs>
  <TitlesOfParts>
    <vt:vector size="53" baseType="lpstr">
      <vt:lpstr>AkzidenzGroteskBE-Bold</vt:lpstr>
      <vt:lpstr>AkzidenzGroteskBE-Regular</vt:lpstr>
      <vt:lpstr>Arial</vt:lpstr>
      <vt:lpstr>Cambria Math</vt:lpstr>
      <vt:lpstr>Minion-Bold</vt:lpstr>
      <vt:lpstr>Minion-Italic</vt:lpstr>
      <vt:lpstr>Minion-Regular</vt:lpstr>
      <vt:lpstr>Nunito</vt:lpstr>
      <vt:lpstr>Tahoma</vt:lpstr>
      <vt:lpstr>Times New Roman</vt:lpstr>
      <vt:lpstr>urw-din</vt:lpstr>
      <vt:lpstr>Wingdings</vt:lpstr>
      <vt:lpstr>Blends</vt:lpstr>
      <vt:lpstr>PowerPoint Presentation</vt:lpstr>
      <vt:lpstr>Introduction, Desirable Properties of Transactions </vt:lpstr>
      <vt:lpstr>Desirable Properties of Transactions (cont’d.)</vt:lpstr>
      <vt:lpstr>20.1 Introduction to Transaction Processing</vt:lpstr>
      <vt:lpstr>Introduction to Transaction Processing (cont’d.)</vt:lpstr>
      <vt:lpstr>Introduction to Transaction Processing (cont’d.)</vt:lpstr>
      <vt:lpstr>Transactions</vt:lpstr>
      <vt:lpstr>Database Items</vt:lpstr>
      <vt:lpstr>Read and Write Operations</vt:lpstr>
      <vt:lpstr>Read and Write Operations (cont’d.)</vt:lpstr>
      <vt:lpstr>Concurrency Control</vt:lpstr>
      <vt:lpstr>The Lost Update Problem</vt:lpstr>
      <vt:lpstr>The Temporary Update (or Dirty Read) Problem</vt:lpstr>
      <vt:lpstr>The Incorrect Summary Problem</vt:lpstr>
      <vt:lpstr>The Unrepeatable Read Problem</vt:lpstr>
      <vt:lpstr>Why Recovery is Needed</vt:lpstr>
      <vt:lpstr>Why Recovery is Needed (cont’d.)</vt:lpstr>
      <vt:lpstr>20.2 Transaction and System Concepts</vt:lpstr>
      <vt:lpstr>Transaction and System Concepts (cont’d.)</vt:lpstr>
      <vt:lpstr>20.4 Characterizing Schedules Based on Recoverability</vt:lpstr>
      <vt:lpstr>Types of Schedules</vt:lpstr>
      <vt:lpstr>Types of Schedules</vt:lpstr>
      <vt:lpstr>Types of Schedules</vt:lpstr>
      <vt:lpstr>Serializability</vt:lpstr>
      <vt:lpstr>PowerPoint Presentation</vt:lpstr>
      <vt:lpstr>Characterizing Schedules Based on Recoverability (cont’d.)</vt:lpstr>
      <vt:lpstr>Characterizing Schedules Based on Recoverability (cont’d.)</vt:lpstr>
      <vt:lpstr>Characterizing Schedules Based on Recoverability (cont’d.)</vt:lpstr>
      <vt:lpstr>20.5 Characterizing Schedules Based on Serializability</vt:lpstr>
      <vt:lpstr>PowerPoint Presentation</vt:lpstr>
      <vt:lpstr>Characterizing Schedules Based on Serializability (cont’d.)</vt:lpstr>
      <vt:lpstr>Characterizing Schedules Based on Serializability (cont’d.)</vt:lpstr>
      <vt:lpstr>Characterizing Schedules Based on Serializability (cont’d.)</vt:lpstr>
      <vt:lpstr>Characterizing Schedules Based on Serializability (cont’d.)</vt:lpstr>
      <vt:lpstr>Characterizing Schedules Based on Serializability (cont’d.)</vt:lpstr>
      <vt:lpstr>How Serializability is Used for Concurrency Control</vt:lpstr>
      <vt:lpstr>View Equivalence and View Serializability</vt:lpstr>
      <vt:lpstr>View Equivalence and View Serializability (cont’d.)</vt:lpstr>
      <vt:lpstr>20.6 Transaction Support in SQL</vt:lpstr>
      <vt:lpstr>20.7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subject/>
  <dc:creator>user</dc:creator>
  <cp:keywords/>
  <dc:description/>
  <cp:lastModifiedBy>Mohd. Aquib Ansari</cp:lastModifiedBy>
  <cp:revision>273</cp:revision>
  <cp:lastPrinted>2001-11-04T00:51:13Z</cp:lastPrinted>
  <dcterms:created xsi:type="dcterms:W3CDTF">2005-02-25T19:46:41Z</dcterms:created>
  <dcterms:modified xsi:type="dcterms:W3CDTF">2022-11-17T10:59:21Z</dcterms:modified>
  <cp:category/>
</cp:coreProperties>
</file>