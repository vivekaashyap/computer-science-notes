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6"/>
  </p:notesMasterIdLst>
  <p:handoutMasterIdLst>
    <p:handoutMasterId r:id="rId17"/>
  </p:handoutMasterIdLst>
  <p:sldIdLst>
    <p:sldId id="403" r:id="rId2"/>
    <p:sldId id="413" r:id="rId3"/>
    <p:sldId id="472" r:id="rId4"/>
    <p:sldId id="473" r:id="rId5"/>
    <p:sldId id="474" r:id="rId6"/>
    <p:sldId id="477" r:id="rId7"/>
    <p:sldId id="478" r:id="rId8"/>
    <p:sldId id="475" r:id="rId9"/>
    <p:sldId id="479" r:id="rId10"/>
    <p:sldId id="476" r:id="rId11"/>
    <p:sldId id="480" r:id="rId12"/>
    <p:sldId id="481" r:id="rId13"/>
    <p:sldId id="447" r:id="rId14"/>
    <p:sldId id="482" r:id="rId15"/>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677228"/>
    <a:srgbClr val="6E792B"/>
    <a:srgbClr val="76822E"/>
    <a:srgbClr val="4F571F"/>
    <a:srgbClr val="6F6A07"/>
    <a:srgbClr val="827C08"/>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28" autoAdjust="0"/>
  </p:normalViewPr>
  <p:slideViewPr>
    <p:cSldViewPr snapToObjects="1">
      <p:cViewPr varScale="1">
        <p:scale>
          <a:sx n="51" d="100"/>
          <a:sy n="51" d="100"/>
        </p:scale>
        <p:origin x="1062" y="336"/>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706"/>
    </p:cViewPr>
  </p:sorterViewPr>
  <p:notesViewPr>
    <p:cSldViewPr snapToObjects="1">
      <p:cViewPr>
        <p:scale>
          <a:sx n="100" d="100"/>
          <a:sy n="100" d="100"/>
        </p:scale>
        <p:origin x="-780" y="21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04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dirty="0">
                <a:latin typeface="Tahoma" pitchFamily="34" charset="0"/>
                <a:ea typeface="+mn-ea"/>
                <a:cs typeface="+mn-cs"/>
              </a:defRPr>
            </a:lvl1pPr>
          </a:lstStyle>
          <a:p>
            <a:pPr>
              <a:defRPr/>
            </a:pPr>
            <a:endParaRPr lang="en-CA" dirty="0"/>
          </a:p>
        </p:txBody>
      </p:sp>
      <p:sp>
        <p:nvSpPr>
          <p:cNvPr id="604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04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28C610FF-B444-4873-A7BC-CBF39C51B8DF}" type="slidenum">
              <a:rPr lang="en-CA" altLang="en-US"/>
              <a:pPr>
                <a:defRPr/>
              </a:pPr>
              <a:t>‹#›</a:t>
            </a:fld>
            <a:endParaRPr lang="en-CA" altLang="en-US" dirty="0"/>
          </a:p>
        </p:txBody>
      </p:sp>
    </p:spTree>
    <p:extLst>
      <p:ext uri="{BB962C8B-B14F-4D97-AF65-F5344CB8AC3E}">
        <p14:creationId xmlns:p14="http://schemas.microsoft.com/office/powerpoint/2010/main" val="882366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14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dirty="0">
                <a:latin typeface="Tahoma" pitchFamily="34" charset="0"/>
                <a:ea typeface="+mn-ea"/>
                <a:cs typeface="+mn-cs"/>
              </a:defRPr>
            </a:lvl1pPr>
          </a:lstStyle>
          <a:p>
            <a:pPr>
              <a:defRPr/>
            </a:pPr>
            <a:endParaRPr lang="en-CA" dirty="0"/>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614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14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5ECE2DB9-1944-4989-A17C-14D088240F2E}" type="slidenum">
              <a:rPr lang="en-CA" altLang="en-US"/>
              <a:pPr>
                <a:defRPr/>
              </a:pPr>
              <a:t>‹#›</a:t>
            </a:fld>
            <a:endParaRPr lang="en-CA" altLang="en-US" dirty="0"/>
          </a:p>
        </p:txBody>
      </p:sp>
    </p:spTree>
    <p:extLst>
      <p:ext uri="{BB962C8B-B14F-4D97-AF65-F5344CB8AC3E}">
        <p14:creationId xmlns:p14="http://schemas.microsoft.com/office/powerpoint/2010/main" val="2336655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charset="0"/>
        <a:ea typeface="MS PGothic" panose="020B0600070205080204" pitchFamily="34" charset="-128"/>
        <a:cs typeface="MS PGothic" charset="0"/>
      </a:defRPr>
    </a:lvl1pPr>
    <a:lvl2pPr marL="457200" algn="l" rtl="0" eaLnBrk="0" fontAlgn="base" hangingPunct="0">
      <a:spcBef>
        <a:spcPct val="30000"/>
      </a:spcBef>
      <a:spcAft>
        <a:spcPct val="0"/>
      </a:spcAft>
      <a:defRPr sz="1600" kern="1200">
        <a:solidFill>
          <a:schemeClr val="tx1"/>
        </a:solidFill>
        <a:latin typeface="Arial" charset="0"/>
        <a:ea typeface="MS PGothic" panose="020B0600070205080204"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Indexing is a way to optimize the performance of a database by minimizing the number of disk accesses required when a query is processed. It is a data structure technique which is used to quickly locate and access the data in a database. </a:t>
            </a:r>
          </a:p>
          <a:p>
            <a:endParaRPr lang="en-US" dirty="0"/>
          </a:p>
          <a:p>
            <a:pPr algn="l" fontAlgn="base">
              <a:buFont typeface="Arial" panose="020B0604020202020204" pitchFamily="34" charset="0"/>
              <a:buChar char="•"/>
            </a:pPr>
            <a:r>
              <a:rPr lang="en-US" b="0" i="0" dirty="0">
                <a:solidFill>
                  <a:srgbClr val="273239"/>
                </a:solidFill>
                <a:effectLst/>
                <a:latin typeface="urw-din"/>
              </a:rPr>
              <a:t>The first column is the </a:t>
            </a:r>
            <a:r>
              <a:rPr lang="en-US" b="1" i="0" dirty="0">
                <a:solidFill>
                  <a:srgbClr val="273239"/>
                </a:solidFill>
                <a:effectLst/>
                <a:latin typeface="urw-din"/>
              </a:rPr>
              <a:t>Search key</a:t>
            </a:r>
            <a:r>
              <a:rPr lang="en-US" b="0" i="0" dirty="0">
                <a:solidFill>
                  <a:srgbClr val="273239"/>
                </a:solidFill>
                <a:effectLst/>
                <a:latin typeface="urw-din"/>
              </a:rPr>
              <a:t> that contains a copy of the primary key or candidate key of the table. These values are stored in sorted order so that the corresponding data can be accessed quickly. </a:t>
            </a:r>
            <a:br>
              <a:rPr lang="en-US" b="0" i="0" dirty="0">
                <a:solidFill>
                  <a:srgbClr val="273239"/>
                </a:solidFill>
                <a:effectLst/>
                <a:latin typeface="urw-din"/>
              </a:rPr>
            </a:br>
            <a:r>
              <a:rPr lang="en-US" b="0" i="1" dirty="0">
                <a:solidFill>
                  <a:srgbClr val="273239"/>
                </a:solidFill>
                <a:effectLst/>
                <a:latin typeface="urw-din"/>
              </a:rPr>
              <a:t>Note: The data may or may not be stored in sorted order.</a:t>
            </a: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The second column is the </a:t>
            </a:r>
            <a:r>
              <a:rPr lang="en-US" b="1" i="0" dirty="0">
                <a:solidFill>
                  <a:srgbClr val="273239"/>
                </a:solidFill>
                <a:effectLst/>
                <a:latin typeface="urw-din"/>
              </a:rPr>
              <a:t>Data Reference</a:t>
            </a:r>
            <a:r>
              <a:rPr lang="en-US" b="0" i="0" dirty="0">
                <a:solidFill>
                  <a:srgbClr val="273239"/>
                </a:solidFill>
                <a:effectLst/>
                <a:latin typeface="urw-din"/>
              </a:rPr>
              <a:t> or </a:t>
            </a:r>
            <a:r>
              <a:rPr lang="en-US" b="1" i="0" dirty="0">
                <a:solidFill>
                  <a:srgbClr val="273239"/>
                </a:solidFill>
                <a:effectLst/>
                <a:latin typeface="urw-din"/>
              </a:rPr>
              <a:t>Pointer</a:t>
            </a:r>
            <a:r>
              <a:rPr lang="en-US" b="0" i="0" dirty="0">
                <a:solidFill>
                  <a:srgbClr val="273239"/>
                </a:solidFill>
                <a:effectLst/>
                <a:latin typeface="urw-din"/>
              </a:rPr>
              <a:t> which contains a set of pointers holding the address of the disk block where that particular key value can be found.</a:t>
            </a:r>
          </a:p>
          <a:p>
            <a:endParaRPr lang="en-US" dirty="0"/>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2</a:t>
            </a:fld>
            <a:endParaRPr lang="en-CA" altLang="en-US" dirty="0"/>
          </a:p>
        </p:txBody>
      </p:sp>
    </p:spTree>
    <p:extLst>
      <p:ext uri="{BB962C8B-B14F-4D97-AF65-F5344CB8AC3E}">
        <p14:creationId xmlns:p14="http://schemas.microsoft.com/office/powerpoint/2010/main" val="316311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73239"/>
                </a:solidFill>
                <a:effectLst/>
                <a:latin typeface="urw-din"/>
              </a:rPr>
              <a:t>Ordered Index File:</a:t>
            </a:r>
            <a:r>
              <a:rPr lang="en-US" b="0" i="0" dirty="0">
                <a:solidFill>
                  <a:srgbClr val="273239"/>
                </a:solidFill>
                <a:effectLst/>
                <a:latin typeface="urw-din"/>
              </a:rPr>
              <a:t> In this, the indices are based on a sorted ordering of the values. These are generally fast and a more traditional type of storing mechanism. </a:t>
            </a:r>
          </a:p>
          <a:p>
            <a:r>
              <a:rPr lang="en-US" b="1" i="0" dirty="0">
                <a:solidFill>
                  <a:srgbClr val="273239"/>
                </a:solidFill>
                <a:effectLst/>
                <a:latin typeface="urw-din"/>
              </a:rPr>
              <a:t>Primary Index: </a:t>
            </a:r>
          </a:p>
          <a:p>
            <a:pPr algn="just">
              <a:buFont typeface="Arial" panose="020B0604020202020204" pitchFamily="34" charset="0"/>
              <a:buChar char="•"/>
            </a:pPr>
            <a:r>
              <a:rPr lang="en-US" b="0" i="0" dirty="0">
                <a:solidFill>
                  <a:srgbClr val="000000"/>
                </a:solidFill>
                <a:effectLst/>
                <a:latin typeface="inter-regular"/>
              </a:rPr>
              <a:t>If the index is created on the basis of the primary key of the table, then it is known as primary indexing. These primary keys are unique to each record and contain 1:1 relation between the records.</a:t>
            </a:r>
          </a:p>
          <a:p>
            <a:pPr algn="just">
              <a:buFont typeface="Arial" panose="020B0604020202020204" pitchFamily="34" charset="0"/>
              <a:buChar char="•"/>
            </a:pPr>
            <a:r>
              <a:rPr lang="en-US" b="0" i="0" dirty="0">
                <a:solidFill>
                  <a:srgbClr val="000000"/>
                </a:solidFill>
                <a:effectLst/>
                <a:latin typeface="inter-regular"/>
              </a:rPr>
              <a:t>As primary keys are stored in sorted order, the performance of the searching operation is quite efficient.</a:t>
            </a:r>
          </a:p>
          <a:p>
            <a:endParaRPr lang="en-US" dirty="0"/>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3</a:t>
            </a:fld>
            <a:endParaRPr lang="en-CA" altLang="en-US" dirty="0"/>
          </a:p>
        </p:txBody>
      </p:sp>
    </p:spTree>
    <p:extLst>
      <p:ext uri="{BB962C8B-B14F-4D97-AF65-F5344CB8AC3E}">
        <p14:creationId xmlns:p14="http://schemas.microsoft.com/office/powerpoint/2010/main" val="3976233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Clustering index is defined on an ordered data file. The data file is ordered on a non-key field. In some cases, the index is created on non-primary key columns which may not be unique for each record. In such cases, in order to identify the records faster, we will group two or more columns together to get the unique values and create index out of them. This method is known as the clustering index. Basically, records with similar characteristics are grouped together and indexes are created for these groups. </a:t>
            </a:r>
          </a:p>
          <a:p>
            <a:r>
              <a:rPr lang="en-US" b="0" i="0" dirty="0">
                <a:solidFill>
                  <a:srgbClr val="273239"/>
                </a:solidFill>
                <a:effectLst/>
                <a:latin typeface="urw-din"/>
              </a:rPr>
              <a:t>For example, students studying in each semester are grouped together. i.e. 1</a:t>
            </a:r>
            <a:r>
              <a:rPr lang="en-US" b="0" i="0" baseline="30000" dirty="0">
                <a:solidFill>
                  <a:srgbClr val="273239"/>
                </a:solidFill>
                <a:effectLst/>
                <a:latin typeface="urw-din"/>
              </a:rPr>
              <a:t>st</a:t>
            </a:r>
            <a:r>
              <a:rPr lang="en-US" b="0" i="0" dirty="0">
                <a:solidFill>
                  <a:srgbClr val="273239"/>
                </a:solidFill>
                <a:effectLst/>
                <a:latin typeface="urw-din"/>
              </a:rPr>
              <a:t> Semester students, 2</a:t>
            </a:r>
            <a:r>
              <a:rPr lang="en-US" b="0" i="0" baseline="30000" dirty="0">
                <a:solidFill>
                  <a:srgbClr val="273239"/>
                </a:solidFill>
                <a:effectLst/>
                <a:latin typeface="urw-din"/>
              </a:rPr>
              <a:t>nd</a:t>
            </a:r>
            <a:r>
              <a:rPr lang="en-US" b="0" i="0" dirty="0">
                <a:solidFill>
                  <a:srgbClr val="273239"/>
                </a:solidFill>
                <a:effectLst/>
                <a:latin typeface="urw-din"/>
              </a:rPr>
              <a:t> semester students, 3</a:t>
            </a:r>
            <a:r>
              <a:rPr lang="en-US" b="0" i="0" baseline="30000" dirty="0">
                <a:solidFill>
                  <a:srgbClr val="273239"/>
                </a:solidFill>
                <a:effectLst/>
                <a:latin typeface="urw-din"/>
              </a:rPr>
              <a:t>rd</a:t>
            </a:r>
            <a:r>
              <a:rPr lang="en-US" b="0" i="0" dirty="0">
                <a:solidFill>
                  <a:srgbClr val="273239"/>
                </a:solidFill>
                <a:effectLst/>
                <a:latin typeface="urw-din"/>
              </a:rPr>
              <a:t> semester students etc. are grouped. </a:t>
            </a:r>
          </a:p>
          <a:p>
            <a:endParaRPr lang="en-US" b="0" i="0" dirty="0">
              <a:solidFill>
                <a:srgbClr val="273239"/>
              </a:solidFill>
              <a:effectLst/>
              <a:latin typeface="urw-din"/>
            </a:endParaRPr>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4</a:t>
            </a:fld>
            <a:endParaRPr lang="en-CA" altLang="en-US" dirty="0"/>
          </a:p>
        </p:txBody>
      </p:sp>
    </p:spTree>
    <p:extLst>
      <p:ext uri="{BB962C8B-B14F-4D97-AF65-F5344CB8AC3E}">
        <p14:creationId xmlns:p14="http://schemas.microsoft.com/office/powerpoint/2010/main" val="514478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Arial" panose="020B0604020202020204" pitchFamily="34" charset="0"/>
              <a:buChar char="•"/>
            </a:pPr>
            <a:r>
              <a:rPr lang="en-US" b="0" i="0" dirty="0">
                <a:solidFill>
                  <a:srgbClr val="000000"/>
                </a:solidFill>
                <a:effectLst/>
                <a:latin typeface="inter-regular"/>
              </a:rPr>
              <a:t>If the index is created on the basis of the primary key of the table, then it is known as primary indexing. These primary keys are unique to each record and contain 1:1 relation between the records.</a:t>
            </a:r>
          </a:p>
          <a:p>
            <a:pPr algn="just">
              <a:buFont typeface="Arial" panose="020B0604020202020204" pitchFamily="34" charset="0"/>
              <a:buChar char="•"/>
            </a:pPr>
            <a:r>
              <a:rPr lang="en-US" b="0" i="0" dirty="0">
                <a:solidFill>
                  <a:srgbClr val="000000"/>
                </a:solidFill>
                <a:effectLst/>
                <a:latin typeface="inter-regular"/>
              </a:rPr>
              <a:t>As primary keys are stored in sorted order, the performance of the searching operation is quite efficient.</a:t>
            </a:r>
          </a:p>
          <a:p>
            <a:pPr algn="just">
              <a:buFont typeface="Arial" panose="020B0604020202020204" pitchFamily="34" charset="0"/>
              <a:buChar char="•"/>
            </a:pPr>
            <a:r>
              <a:rPr lang="en-US" b="0" i="0" dirty="0">
                <a:solidFill>
                  <a:srgbClr val="000000"/>
                </a:solidFill>
                <a:effectLst/>
                <a:latin typeface="inter-regular"/>
              </a:rPr>
              <a:t>The primary index can be classified into two types: Dense index and Sparse index.</a:t>
            </a:r>
          </a:p>
          <a:p>
            <a:endParaRPr lang="en-US" dirty="0"/>
          </a:p>
          <a:p>
            <a:r>
              <a:rPr lang="en-US" b="0" i="0" dirty="0">
                <a:solidFill>
                  <a:srgbClr val="273239"/>
                </a:solidFill>
                <a:effectLst/>
                <a:latin typeface="urw-din"/>
              </a:rPr>
              <a:t>Primary Index is an ordered file whose records are of fixed length with two fields. The first field of the index replicates the primary key of the data file in an ordered manner, and the second field of the ordered file contains a pointer that points to the data-block where a record containing the key is available.</a:t>
            </a:r>
            <a:endParaRPr lang="en-US" dirty="0"/>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5</a:t>
            </a:fld>
            <a:endParaRPr lang="en-CA" altLang="en-US" dirty="0"/>
          </a:p>
        </p:txBody>
      </p:sp>
    </p:spTree>
    <p:extLst>
      <p:ext uri="{BB962C8B-B14F-4D97-AF65-F5344CB8AC3E}">
        <p14:creationId xmlns:p14="http://schemas.microsoft.com/office/powerpoint/2010/main" val="14850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When more than two records are stored in the same file these types of storing known as cluster indexing. By using the cluster indexing we can reduce the cost of searching reason being multiple records related to the same thing are stored at one place and it also gives the frequent joining of more than two tables (records). </a:t>
            </a:r>
            <a:br>
              <a:rPr lang="en-US" dirty="0"/>
            </a:br>
            <a:r>
              <a:rPr lang="en-US" b="0" i="0" dirty="0">
                <a:solidFill>
                  <a:srgbClr val="273239"/>
                </a:solidFill>
                <a:effectLst/>
                <a:latin typeface="urw-din"/>
              </a:rPr>
              <a:t>Clustering index is defined on an ordered data file. The data file is ordered on a non-key field. In some cases, the index is created on non-primary key columns which may not be unique for each record. In such cases, in order to identify the records faster, we will group two or more columns together to get the unique values and create index out of them. This method is known as the clustering index. Basically, records with similar characteristics are grouped together and indexes are created for these groups. </a:t>
            </a:r>
            <a:endParaRPr lang="en-US" dirty="0"/>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8</a:t>
            </a:fld>
            <a:endParaRPr lang="en-CA" altLang="en-US" dirty="0"/>
          </a:p>
        </p:txBody>
      </p:sp>
    </p:spTree>
    <p:extLst>
      <p:ext uri="{BB962C8B-B14F-4D97-AF65-F5344CB8AC3E}">
        <p14:creationId xmlns:p14="http://schemas.microsoft.com/office/powerpoint/2010/main" val="3796214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Arial" panose="020B0604020202020204" pitchFamily="34" charset="0"/>
              <a:buChar char="•"/>
            </a:pPr>
            <a:r>
              <a:rPr lang="en-US" b="0" i="0" dirty="0">
                <a:solidFill>
                  <a:srgbClr val="000000"/>
                </a:solidFill>
                <a:effectLst/>
                <a:latin typeface="inter-regular"/>
              </a:rPr>
              <a:t>A clustered index can be defined as an ordered data file. Sometimes the index is created on non-primary key columns which may not be unique for each record.</a:t>
            </a:r>
          </a:p>
          <a:p>
            <a:pPr algn="just">
              <a:buFont typeface="Arial" panose="020B0604020202020204" pitchFamily="34" charset="0"/>
              <a:buChar char="•"/>
            </a:pPr>
            <a:r>
              <a:rPr lang="en-US" b="0" i="0" dirty="0">
                <a:solidFill>
                  <a:srgbClr val="000000"/>
                </a:solidFill>
                <a:effectLst/>
                <a:latin typeface="inter-regular"/>
              </a:rPr>
              <a:t>In this case, to identify the record faster, we will group two or more columns to get the unique value and create index out of them. This method is called a clustering index.</a:t>
            </a:r>
          </a:p>
          <a:p>
            <a:pPr algn="just">
              <a:buFont typeface="Arial" panose="020B0604020202020204" pitchFamily="34" charset="0"/>
              <a:buChar char="•"/>
            </a:pPr>
            <a:r>
              <a:rPr lang="en-US" b="0" i="0" dirty="0">
                <a:solidFill>
                  <a:srgbClr val="000000"/>
                </a:solidFill>
                <a:effectLst/>
                <a:latin typeface="inter-regular"/>
              </a:rPr>
              <a:t>The records which have similar characteristics are grouped, and indexes are created for these group.</a:t>
            </a:r>
          </a:p>
          <a:p>
            <a:pPr algn="just"/>
            <a:endParaRPr lang="en-US" dirty="0">
              <a:effectLst/>
            </a:endParaRPr>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9</a:t>
            </a:fld>
            <a:endParaRPr lang="en-CA" altLang="en-US" dirty="0"/>
          </a:p>
        </p:txBody>
      </p:sp>
    </p:spTree>
    <p:extLst>
      <p:ext uri="{BB962C8B-B14F-4D97-AF65-F5344CB8AC3E}">
        <p14:creationId xmlns:p14="http://schemas.microsoft.com/office/powerpoint/2010/main" val="1973144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273239"/>
                </a:solidFill>
                <a:effectLst/>
                <a:latin typeface="urw-din"/>
              </a:rPr>
              <a:t>A non clustered index just tells us where the data lies, i.e. it gives us a list of virtual pointers or references to the location where the data is actually stored. Data is not physically stored in the order of the index. Instead, data is present in leaf nodes. For </a:t>
            </a:r>
            <a:r>
              <a:rPr lang="en-US" b="0" i="0" dirty="0" err="1">
                <a:solidFill>
                  <a:srgbClr val="273239"/>
                </a:solidFill>
                <a:effectLst/>
                <a:latin typeface="urw-din"/>
              </a:rPr>
              <a:t>eg.</a:t>
            </a:r>
            <a:r>
              <a:rPr lang="en-US" b="0" i="0" dirty="0">
                <a:solidFill>
                  <a:srgbClr val="273239"/>
                </a:solidFill>
                <a:effectLst/>
                <a:latin typeface="urw-din"/>
              </a:rPr>
              <a:t> the contents page of a book. Each entry gives us the page number or location of the information stored. The actual data here(information on each page of the book) is not organized but we have an ordered reference(contents page) to where the data points actually lie. We can have only dense ordering in the non-clustered index as sparse ordering is not possible because data is not physically organized accordingly. </a:t>
            </a:r>
            <a:br>
              <a:rPr lang="en-US" dirty="0"/>
            </a:br>
            <a:r>
              <a:rPr lang="en-US" b="0" i="0" dirty="0">
                <a:solidFill>
                  <a:srgbClr val="273239"/>
                </a:solidFill>
                <a:effectLst/>
                <a:latin typeface="urw-din"/>
              </a:rPr>
              <a:t>It requires more time as compared to the clustered index because some amount of extra work is done in order to extract the data by further following the pointer. In the case of a clustered index, data is directly present in front of the index. </a:t>
            </a:r>
            <a:endParaRPr lang="en-US" dirty="0"/>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10</a:t>
            </a:fld>
            <a:endParaRPr lang="en-CA" altLang="en-US" dirty="0"/>
          </a:p>
        </p:txBody>
      </p:sp>
    </p:spTree>
    <p:extLst>
      <p:ext uri="{BB962C8B-B14F-4D97-AF65-F5344CB8AC3E}">
        <p14:creationId xmlns:p14="http://schemas.microsoft.com/office/powerpoint/2010/main" val="2394788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11</a:t>
            </a:fld>
            <a:endParaRPr lang="en-CA" altLang="en-US" dirty="0"/>
          </a:p>
        </p:txBody>
      </p:sp>
    </p:spTree>
    <p:extLst>
      <p:ext uri="{BB962C8B-B14F-4D97-AF65-F5344CB8AC3E}">
        <p14:creationId xmlns:p14="http://schemas.microsoft.com/office/powerpoint/2010/main" val="3842611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333333"/>
                </a:solidFill>
                <a:effectLst/>
                <a:latin typeface="inter-regular"/>
              </a:rPr>
              <a:t>In the sparse indexing, as the size of the table grows, the size of mapping also grows. These mappings are usually kept in the primary memory so that address fetch should be faster. Then the secondary memory searches the actual data based on the address got from mapping. If the mapping size grows then fetching the address itself becomes slower. In this case, the sparse index will not be efficient. To overcome this problem, secondary indexing is introduced.</a:t>
            </a:r>
          </a:p>
          <a:p>
            <a:pPr algn="just"/>
            <a:r>
              <a:rPr lang="en-US" b="0" i="0" dirty="0">
                <a:solidFill>
                  <a:srgbClr val="333333"/>
                </a:solidFill>
                <a:effectLst/>
                <a:latin typeface="inter-regular"/>
              </a:rPr>
              <a:t>In secondary indexing, to reduce the size of mapping, another level of indexing is introduced. In this method, the huge range for the columns is selected initially so that the mapping size of the first level becomes small. Then each range is further divided into smaller ranges. The mapping of the first level is stored in the primary memory, so that address fetch is faster. The mapping of the second level and actual data are stored in the secondary memory (hard disk).</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5ECE2DB9-1944-4989-A17C-14D088240F2E}" type="slidenum">
              <a:rPr lang="en-CA" altLang="en-US" smtClean="0"/>
              <a:pPr>
                <a:defRPr/>
              </a:pPr>
              <a:t>13</a:t>
            </a:fld>
            <a:endParaRPr lang="en-CA" altLang="en-US" dirty="0"/>
          </a:p>
        </p:txBody>
      </p:sp>
    </p:spTree>
    <p:extLst>
      <p:ext uri="{BB962C8B-B14F-4D97-AF65-F5344CB8AC3E}">
        <p14:creationId xmlns:p14="http://schemas.microsoft.com/office/powerpoint/2010/main" val="34184748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44"/>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dirty="0">
              <a:ea typeface="+mn-ea"/>
            </a:endParaRPr>
          </a:p>
        </p:txBody>
      </p:sp>
      <p:sp>
        <p:nvSpPr>
          <p:cNvPr id="5" name="Rectangle 47"/>
          <p:cNvSpPr>
            <a:spLocks noChangeArrowheads="1"/>
          </p:cNvSpPr>
          <p:nvPr userDrawn="1"/>
        </p:nvSpPr>
        <p:spPr bwMode="auto">
          <a:xfrm rot="16200000">
            <a:off x="3500437" y="-985837"/>
            <a:ext cx="2143125" cy="9144000"/>
          </a:xfrm>
          <a:prstGeom prst="rect">
            <a:avLst/>
          </a:prstGeom>
          <a:solidFill>
            <a:srgbClr val="677228">
              <a:alpha val="43921"/>
            </a:srgbClr>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dirty="0">
              <a:ea typeface="+mn-ea"/>
            </a:endParaRPr>
          </a:p>
        </p:txBody>
      </p:sp>
      <p:sp>
        <p:nvSpPr>
          <p:cNvPr id="6" name="Rectangle 48"/>
          <p:cNvSpPr>
            <a:spLocks noChangeArrowheads="1"/>
          </p:cNvSpPr>
          <p:nvPr userDrawn="1"/>
        </p:nvSpPr>
        <p:spPr bwMode="auto">
          <a:xfrm>
            <a:off x="7315200" y="2438400"/>
            <a:ext cx="1828800" cy="2290763"/>
          </a:xfrm>
          <a:prstGeom prst="rect">
            <a:avLst/>
          </a:prstGeom>
          <a:solidFill>
            <a:schemeClr val="bg1"/>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dirty="0">
              <a:ea typeface="+mn-ea"/>
            </a:endParaRPr>
          </a:p>
        </p:txBody>
      </p:sp>
      <p:pic>
        <p:nvPicPr>
          <p:cNvPr id="7" name="Picture 35" descr="awtri_4c UPDATE_colo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descr="elmasri_thumb"/>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p:cNvSpPr>
            <a:spLocks noGrp="1" noChangeArrowheads="1"/>
          </p:cNvSpPr>
          <p:nvPr>
            <p:ph type="ctrTitle" sz="quarter"/>
          </p:nvPr>
        </p:nvSpPr>
        <p:spPr>
          <a:xfrm>
            <a:off x="228600" y="152400"/>
            <a:ext cx="7086600" cy="2286000"/>
          </a:xfrm>
        </p:spPr>
        <p:txBody>
          <a:bodyPr wrap="none" anchor="ctr"/>
          <a:lstStyle>
            <a:lvl1pPr>
              <a:defRPr sz="6600">
                <a:solidFill>
                  <a:srgbClr val="990033"/>
                </a:solidFill>
              </a:defRPr>
            </a:lvl1pPr>
          </a:lstStyle>
          <a:p>
            <a:r>
              <a:rPr lang="en-US"/>
              <a:t>Click to edit Master title style</a:t>
            </a:r>
          </a:p>
        </p:txBody>
      </p:sp>
      <p:sp>
        <p:nvSpPr>
          <p:cNvPr id="4134" name="Rectangle 38" descr="Pink tissue paper"/>
          <p:cNvSpPr>
            <a:spLocks noGrp="1" noChangeArrowheads="1"/>
          </p:cNvSpPr>
          <p:nvPr>
            <p:ph type="subTitle" sz="quarter" idx="1"/>
          </p:nvPr>
        </p:nvSpPr>
        <p:spPr>
          <a:xfrm>
            <a:off x="304800" y="2590800"/>
            <a:ext cx="6629400" cy="1905000"/>
          </a:xfrm>
        </p:spPr>
        <p:txBody>
          <a:bodyPr/>
          <a:lstStyle>
            <a:lvl1pPr marL="0" indent="0">
              <a:buFont typeface="Wingdings" pitchFamily="2" charset="2"/>
              <a:buNone/>
              <a:defRPr sz="3200"/>
            </a:lvl1pPr>
          </a:lstStyle>
          <a:p>
            <a:r>
              <a:rPr lang="en-US"/>
              <a:t>Click to edit Master subtitle style</a:t>
            </a:r>
          </a:p>
        </p:txBody>
      </p:sp>
      <p:sp>
        <p:nvSpPr>
          <p:cNvPr id="9" name="Rectangle 29"/>
          <p:cNvSpPr>
            <a:spLocks noGrp="1" noChangeArrowheads="1"/>
          </p:cNvSpPr>
          <p:nvPr>
            <p:ph type="ftr" sz="quarter" idx="10"/>
          </p:nvPr>
        </p:nvSpPr>
        <p:spPr bwMode="auto">
          <a:xfrm>
            <a:off x="838200" y="6397625"/>
            <a:ext cx="44958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900" dirty="0"/>
            </a:lvl1pPr>
          </a:lstStyle>
          <a:p>
            <a:pPr>
              <a:defRPr/>
            </a:pPr>
            <a:r>
              <a:rPr lang="en-US" altLang="en-US" dirty="0"/>
              <a:t>Copyright © 2007 Ramez Elmasri and Shamkant B. Navathe</a:t>
            </a:r>
          </a:p>
        </p:txBody>
      </p:sp>
    </p:spTree>
    <p:extLst>
      <p:ext uri="{BB962C8B-B14F-4D97-AF65-F5344CB8AC3E}">
        <p14:creationId xmlns:p14="http://schemas.microsoft.com/office/powerpoint/2010/main" val="1531084059"/>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p:txBody>
          <a:bodyPr/>
          <a:lstStyle>
            <a:lvl1pPr>
              <a:defRPr dirty="0"/>
            </a:lvl1pPr>
          </a:lstStyle>
          <a:p>
            <a:pPr>
              <a:defRPr/>
            </a:pPr>
            <a:r>
              <a:rPr lang="en-US" altLang="en-US" dirty="0"/>
              <a:t>Slide 16- </a:t>
            </a:r>
            <a:fld id="{DEF46F2C-EC9A-47B6-A96C-A3F8684AA4EE}" type="slidenum">
              <a:rPr lang="en-US" altLang="en-US" smtClean="0"/>
              <a:pPr>
                <a:defRPr/>
              </a:pPr>
              <a:t>‹#›</a:t>
            </a:fld>
            <a:endParaRPr lang="en-CA" altLang="en-US" dirty="0"/>
          </a:p>
        </p:txBody>
      </p:sp>
    </p:spTree>
    <p:extLst>
      <p:ext uri="{BB962C8B-B14F-4D97-AF65-F5344CB8AC3E}">
        <p14:creationId xmlns:p14="http://schemas.microsoft.com/office/powerpoint/2010/main" val="64329565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p:cNvSpPr>
            <a:spLocks noGrp="1" noChangeArrowheads="1"/>
          </p:cNvSpPr>
          <p:nvPr>
            <p:ph type="sldNum" sz="quarter" idx="10"/>
          </p:nvPr>
        </p:nvSpPr>
        <p:spPr/>
        <p:txBody>
          <a:bodyPr/>
          <a:lstStyle>
            <a:lvl1pPr>
              <a:defRPr dirty="0"/>
            </a:lvl1pPr>
          </a:lstStyle>
          <a:p>
            <a:pPr>
              <a:defRPr/>
            </a:pPr>
            <a:r>
              <a:rPr lang="en-US" altLang="en-US" dirty="0"/>
              <a:t>Slide 8- </a:t>
            </a:r>
            <a:fld id="{1EBFD489-3F1D-47AE-A1A7-387F0B075456}" type="slidenum">
              <a:rPr lang="en-US" altLang="en-US"/>
              <a:pPr>
                <a:defRPr/>
              </a:pPr>
              <a:t>‹#›</a:t>
            </a:fld>
            <a:endParaRPr lang="en-CA" altLang="en-US" dirty="0"/>
          </a:p>
        </p:txBody>
      </p:sp>
    </p:spTree>
    <p:extLst>
      <p:ext uri="{BB962C8B-B14F-4D97-AF65-F5344CB8AC3E}">
        <p14:creationId xmlns:p14="http://schemas.microsoft.com/office/powerpoint/2010/main" val="1043942917"/>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9713"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62463" y="1600200"/>
            <a:ext cx="40719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p:cNvSpPr>
            <a:spLocks noGrp="1" noChangeArrowheads="1"/>
          </p:cNvSpPr>
          <p:nvPr>
            <p:ph type="sldNum" sz="quarter" idx="10"/>
          </p:nvPr>
        </p:nvSpPr>
        <p:spPr/>
        <p:txBody>
          <a:bodyPr/>
          <a:lstStyle>
            <a:lvl1pPr>
              <a:defRPr dirty="0"/>
            </a:lvl1pPr>
          </a:lstStyle>
          <a:p>
            <a:pPr>
              <a:defRPr/>
            </a:pPr>
            <a:r>
              <a:rPr lang="en-US" altLang="en-US" dirty="0"/>
              <a:t>Slide 8- </a:t>
            </a:r>
            <a:fld id="{6B3C160E-FB6D-46CD-ACFE-CDD6D8C93882}" type="slidenum">
              <a:rPr lang="en-US" altLang="en-US"/>
              <a:pPr>
                <a:defRPr/>
              </a:pPr>
              <a:t>‹#›</a:t>
            </a:fld>
            <a:endParaRPr lang="en-CA" altLang="en-US" dirty="0"/>
          </a:p>
        </p:txBody>
      </p:sp>
    </p:spTree>
    <p:extLst>
      <p:ext uri="{BB962C8B-B14F-4D97-AF65-F5344CB8AC3E}">
        <p14:creationId xmlns:p14="http://schemas.microsoft.com/office/powerpoint/2010/main" val="4179113439"/>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p:cNvSpPr>
            <a:spLocks noGrp="1" noChangeArrowheads="1"/>
          </p:cNvSpPr>
          <p:nvPr>
            <p:ph type="sldNum" sz="quarter" idx="10"/>
          </p:nvPr>
        </p:nvSpPr>
        <p:spPr/>
        <p:txBody>
          <a:bodyPr/>
          <a:lstStyle>
            <a:lvl1pPr>
              <a:defRPr dirty="0"/>
            </a:lvl1pPr>
          </a:lstStyle>
          <a:p>
            <a:pPr>
              <a:defRPr/>
            </a:pPr>
            <a:r>
              <a:rPr lang="en-US" altLang="en-US" dirty="0"/>
              <a:t>Slide 8</a:t>
            </a:r>
            <a:fld id="{1DF4838D-7C30-4DE6-940D-00B403B22BD7}" type="slidenum">
              <a:rPr lang="en-US" altLang="en-US"/>
              <a:pPr>
                <a:defRPr/>
              </a:pPr>
              <a:t>‹#›</a:t>
            </a:fld>
            <a:endParaRPr lang="en-CA" altLang="en-US" dirty="0"/>
          </a:p>
        </p:txBody>
      </p:sp>
    </p:spTree>
    <p:extLst>
      <p:ext uri="{BB962C8B-B14F-4D97-AF65-F5344CB8AC3E}">
        <p14:creationId xmlns:p14="http://schemas.microsoft.com/office/powerpoint/2010/main" val="60406640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
          <p:cNvSpPr>
            <a:spLocks noGrp="1" noChangeArrowheads="1"/>
          </p:cNvSpPr>
          <p:nvPr>
            <p:ph type="sldNum" sz="quarter" idx="10"/>
          </p:nvPr>
        </p:nvSpPr>
        <p:spPr/>
        <p:txBody>
          <a:bodyPr/>
          <a:lstStyle>
            <a:lvl1pPr>
              <a:defRPr dirty="0"/>
            </a:lvl1pPr>
          </a:lstStyle>
          <a:p>
            <a:pPr>
              <a:defRPr/>
            </a:pPr>
            <a:r>
              <a:rPr lang="en-US" altLang="en-US" dirty="0"/>
              <a:t>Slide 17-</a:t>
            </a:r>
            <a:fld id="{7A12D029-E693-4170-97A1-AE7D7FCAFB0F}" type="slidenum">
              <a:rPr lang="en-US" altLang="en-US" smtClean="0"/>
              <a:pPr>
                <a:defRPr/>
              </a:pPr>
              <a:t>‹#›</a:t>
            </a:fld>
            <a:endParaRPr lang="en-CA" altLang="en-US" dirty="0"/>
          </a:p>
        </p:txBody>
      </p:sp>
    </p:spTree>
    <p:extLst>
      <p:ext uri="{BB962C8B-B14F-4D97-AF65-F5344CB8AC3E}">
        <p14:creationId xmlns:p14="http://schemas.microsoft.com/office/powerpoint/2010/main" val="165960513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p:txBody>
          <a:bodyPr/>
          <a:lstStyle>
            <a:lvl1pPr>
              <a:defRPr dirty="0"/>
            </a:lvl1pPr>
          </a:lstStyle>
          <a:p>
            <a:pPr>
              <a:defRPr/>
            </a:pPr>
            <a:r>
              <a:rPr lang="en-US" altLang="en-US" dirty="0"/>
              <a:t>Slide 8- </a:t>
            </a:r>
            <a:fld id="{DC7EC910-BF54-4F4E-B69C-D8E8F58B09C6}" type="slidenum">
              <a:rPr lang="en-US" altLang="en-US"/>
              <a:pPr>
                <a:defRPr/>
              </a:pPr>
              <a:t>‹#›</a:t>
            </a:fld>
            <a:endParaRPr lang="en-CA" altLang="en-US" dirty="0"/>
          </a:p>
        </p:txBody>
      </p:sp>
    </p:spTree>
    <p:extLst>
      <p:ext uri="{BB962C8B-B14F-4D97-AF65-F5344CB8AC3E}">
        <p14:creationId xmlns:p14="http://schemas.microsoft.com/office/powerpoint/2010/main" val="64131771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p:txBody>
          <a:bodyPr/>
          <a:lstStyle>
            <a:lvl1pPr>
              <a:defRPr dirty="0"/>
            </a:lvl1pPr>
          </a:lstStyle>
          <a:p>
            <a:pPr>
              <a:defRPr/>
            </a:pPr>
            <a:r>
              <a:rPr lang="en-US" altLang="en-US" dirty="0"/>
              <a:t>Slide8 </a:t>
            </a:r>
            <a:fld id="{7FF3489A-B31A-4D3D-947B-F4B75E92A36F}" type="slidenum">
              <a:rPr lang="en-US" altLang="en-US"/>
              <a:pPr>
                <a:defRPr/>
              </a:pPr>
              <a:t>‹#›</a:t>
            </a:fld>
            <a:endParaRPr lang="en-CA" altLang="en-US" dirty="0"/>
          </a:p>
        </p:txBody>
      </p:sp>
    </p:spTree>
    <p:extLst>
      <p:ext uri="{BB962C8B-B14F-4D97-AF65-F5344CB8AC3E}">
        <p14:creationId xmlns:p14="http://schemas.microsoft.com/office/powerpoint/2010/main" val="31346618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p:txBody>
          <a:bodyPr/>
          <a:lstStyle>
            <a:lvl1pPr>
              <a:defRPr dirty="0"/>
            </a:lvl1pPr>
          </a:lstStyle>
          <a:p>
            <a:pPr>
              <a:defRPr/>
            </a:pPr>
            <a:r>
              <a:rPr lang="en-US" altLang="en-US" dirty="0"/>
              <a:t>Slide 8</a:t>
            </a:r>
            <a:fld id="{EA3538E5-DB74-4B71-8480-75E345BDDBA1}" type="slidenum">
              <a:rPr lang="en-US" altLang="en-US"/>
              <a:pPr>
                <a:defRPr/>
              </a:pPr>
              <a:t>‹#›</a:t>
            </a:fld>
            <a:endParaRPr lang="en-CA" altLang="en-US" dirty="0"/>
          </a:p>
        </p:txBody>
      </p:sp>
    </p:spTree>
    <p:extLst>
      <p:ext uri="{BB962C8B-B14F-4D97-AF65-F5344CB8AC3E}">
        <p14:creationId xmlns:p14="http://schemas.microsoft.com/office/powerpoint/2010/main" val="55018132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US" altLang="en-US" dirty="0"/>
              <a:t>Slide 1- </a:t>
            </a:r>
            <a:fld id="{9F944102-6CB8-4FC4-A4B3-3C1B6D8C9850}" type="slidenum">
              <a:rPr lang="en-US" altLang="en-US"/>
              <a:pPr>
                <a:defRPr/>
              </a:pPr>
              <a:t>‹#›</a:t>
            </a:fld>
            <a:endParaRPr lang="en-CA" altLang="en-US" dirty="0"/>
          </a:p>
        </p:txBody>
      </p:sp>
    </p:spTree>
    <p:extLst>
      <p:ext uri="{BB962C8B-B14F-4D97-AF65-F5344CB8AC3E}">
        <p14:creationId xmlns:p14="http://schemas.microsoft.com/office/powerpoint/2010/main" val="134642480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3213"/>
            <a:ext cx="607695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US" altLang="en-US" dirty="0"/>
              <a:t>Slide 1- </a:t>
            </a:r>
            <a:fld id="{9B31E992-4A5D-40D8-9EC7-24E98921A382}" type="slidenum">
              <a:rPr lang="en-US" altLang="en-US"/>
              <a:pPr>
                <a:defRPr/>
              </a:pPr>
              <a:t>‹#›</a:t>
            </a:fld>
            <a:endParaRPr lang="en-CA" altLang="en-US" dirty="0"/>
          </a:p>
        </p:txBody>
      </p:sp>
    </p:spTree>
    <p:extLst>
      <p:ext uri="{BB962C8B-B14F-4D97-AF65-F5344CB8AC3E}">
        <p14:creationId xmlns:p14="http://schemas.microsoft.com/office/powerpoint/2010/main" val="1606420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p:cNvGrpSpPr>
            <a:grpSpLocks/>
          </p:cNvGrpSpPr>
          <p:nvPr userDrawn="1"/>
        </p:nvGrpSpPr>
        <p:grpSpPr bwMode="auto">
          <a:xfrm>
            <a:off x="8936038" y="1449388"/>
            <a:ext cx="207962" cy="5408612"/>
            <a:chOff x="5606" y="889"/>
            <a:chExt cx="154" cy="3431"/>
          </a:xfrm>
        </p:grpSpPr>
        <p:sp>
          <p:nvSpPr>
            <p:cNvPr id="1032" name="Rectangle 38"/>
            <p:cNvSpPr>
              <a:spLocks noChangeArrowheads="1"/>
            </p:cNvSpPr>
            <p:nvPr userDrawn="1"/>
          </p:nvSpPr>
          <p:spPr bwMode="gray">
            <a:xfrm flipH="1">
              <a:off x="5685" y="889"/>
              <a:ext cx="75" cy="3431"/>
            </a:xfrm>
            <a:prstGeom prst="rect">
              <a:avLst/>
            </a:prstGeom>
            <a:solidFill>
              <a:srgbClr val="677228"/>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grpSp>
          <p:nvGrpSpPr>
            <p:cNvPr id="1033" name="Group 44"/>
            <p:cNvGrpSpPr>
              <a:grpSpLocks/>
            </p:cNvGrpSpPr>
            <p:nvPr userDrawn="1"/>
          </p:nvGrpSpPr>
          <p:grpSpPr bwMode="auto">
            <a:xfrm>
              <a:off x="5606" y="889"/>
              <a:ext cx="106" cy="3431"/>
              <a:chOff x="5606" y="889"/>
              <a:chExt cx="106" cy="3431"/>
            </a:xfrm>
          </p:grpSpPr>
          <p:sp>
            <p:nvSpPr>
              <p:cNvPr id="1034" name="Rectangle 43"/>
              <p:cNvSpPr>
                <a:spLocks noChangeArrowheads="1"/>
              </p:cNvSpPr>
              <p:nvPr userDrawn="1"/>
            </p:nvSpPr>
            <p:spPr bwMode="gray">
              <a:xfrm rot="10800000" flipH="1">
                <a:off x="5606" y="889"/>
                <a:ext cx="58" cy="3431"/>
              </a:xfrm>
              <a:prstGeom prst="rect">
                <a:avLst/>
              </a:prstGeom>
              <a:solidFill>
                <a:schemeClr val="tx2"/>
              </a:solidFill>
              <a:ln>
                <a:noFill/>
              </a:ln>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sp>
            <p:nvSpPr>
              <p:cNvPr id="1035" name="Rectangle 32"/>
              <p:cNvSpPr>
                <a:spLocks noChangeArrowheads="1"/>
              </p:cNvSpPr>
              <p:nvPr userDrawn="1"/>
            </p:nvSpPr>
            <p:spPr bwMode="gray">
              <a:xfrm rot="10800000" flipH="1">
                <a:off x="5654" y="889"/>
                <a:ext cx="58" cy="3431"/>
              </a:xfrm>
              <a:prstGeom prst="rect">
                <a:avLst/>
              </a:prstGeom>
              <a:solidFill>
                <a:srgbClr val="990033"/>
              </a:solidFill>
              <a:ln>
                <a:noFill/>
              </a:ln>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grpSp>
      </p:grpSp>
      <p:sp>
        <p:nvSpPr>
          <p:cNvPr id="1027" name="Rectangle 37"/>
          <p:cNvSpPr>
            <a:spLocks noChangeArrowheads="1"/>
          </p:cNvSpPr>
          <p:nvPr userDrawn="1"/>
        </p:nvSpPr>
        <p:spPr bwMode="gray">
          <a:xfrm rot="-5400000">
            <a:off x="3845719" y="-3845719"/>
            <a:ext cx="1449388" cy="9140825"/>
          </a:xfrm>
          <a:prstGeom prst="rect">
            <a:avLst/>
          </a:prstGeom>
          <a:solidFill>
            <a:srgbClr val="677228">
              <a:alpha val="36078"/>
            </a:srgbClr>
          </a:solidFill>
          <a:ln>
            <a:noFill/>
          </a:ln>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sp>
        <p:nvSpPr>
          <p:cNvPr id="1028" name="Rectangle 9"/>
          <p:cNvSpPr>
            <a:spLocks noGrp="1" noChangeArrowheads="1"/>
          </p:cNvSpPr>
          <p:nvPr>
            <p:ph type="title"/>
          </p:nvPr>
        </p:nvSpPr>
        <p:spPr bwMode="auto">
          <a:xfrm>
            <a:off x="228600" y="303213"/>
            <a:ext cx="7796213"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85" name="Rectangle 13"/>
          <p:cNvSpPr>
            <a:spLocks noGrp="1" noChangeArrowheads="1"/>
          </p:cNvSpPr>
          <p:nvPr>
            <p:ph type="sldNum" sz="quarter" idx="4"/>
          </p:nvPr>
        </p:nvSpPr>
        <p:spPr bwMode="auto">
          <a:xfrm>
            <a:off x="69342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dirty="0">
                <a:solidFill>
                  <a:srgbClr val="990033"/>
                </a:solidFill>
              </a:defRPr>
            </a:lvl1pPr>
          </a:lstStyle>
          <a:p>
            <a:pPr>
              <a:defRPr/>
            </a:pPr>
            <a:r>
              <a:rPr lang="en-US" altLang="en-US" dirty="0"/>
              <a:t>Slide 1- </a:t>
            </a:r>
            <a:fld id="{6F4806D2-27AF-4866-9174-87CB14BE5277}" type="slidenum">
              <a:rPr lang="en-US" altLang="en-US"/>
              <a:pPr>
                <a:defRPr/>
              </a:pPr>
              <a:t>‹#›</a:t>
            </a:fld>
            <a:endParaRPr lang="en-CA" altLang="en-US" dirty="0"/>
          </a:p>
        </p:txBody>
      </p:sp>
      <p:sp>
        <p:nvSpPr>
          <p:cNvPr id="1030" name="Rectangle 21"/>
          <p:cNvSpPr>
            <a:spLocks noGrp="1" noChangeArrowheads="1"/>
          </p:cNvSpPr>
          <p:nvPr>
            <p:ph type="body" idx="1"/>
          </p:nvPr>
        </p:nvSpPr>
        <p:spPr bwMode="auto">
          <a:xfrm>
            <a:off x="239713" y="1600200"/>
            <a:ext cx="829468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Rectangle 30"/>
          <p:cNvSpPr>
            <a:spLocks noChangeArrowheads="1"/>
          </p:cNvSpPr>
          <p:nvPr/>
        </p:nvSpPr>
        <p:spPr bwMode="auto">
          <a:xfrm>
            <a:off x="838200" y="6397625"/>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defRPr/>
            </a:pPr>
            <a:r>
              <a:rPr lang="en-US" altLang="en-US" sz="900" dirty="0"/>
              <a:t>Copyright © 2016 Ramez Elmasri and Shamkant B. Navathe</a:t>
            </a:r>
          </a:p>
        </p:txBody>
      </p:sp>
    </p:spTree>
  </p:cSld>
  <p:clrMap bg1="lt1" tx1="dk1" bg2="lt2" tx2="dk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6" r:id="rId7"/>
    <p:sldLayoutId id="2147484087" r:id="rId8"/>
    <p:sldLayoutId id="2147484088" r:id="rId9"/>
    <p:sldLayoutId id="2147484078" r:id="rId10"/>
    <p:sldLayoutId id="2147484079" r:id="rId11"/>
  </p:sldLayoutIdLst>
  <p:transition spd="med"/>
  <p:hf hdr="0" ftr="0" dt="0"/>
  <p:txStyles>
    <p:titleStyle>
      <a:lvl1pPr algn="l" rtl="0" eaLnBrk="0" fontAlgn="base" hangingPunct="0">
        <a:spcBef>
          <a:spcPct val="0"/>
        </a:spcBef>
        <a:spcAft>
          <a:spcPct val="0"/>
        </a:spcAft>
        <a:defRPr sz="3600">
          <a:solidFill>
            <a:srgbClr val="800000"/>
          </a:solidFill>
          <a:latin typeface="+mj-lt"/>
          <a:ea typeface="MS PGothic" panose="020B0600070205080204" pitchFamily="34" charset="-128"/>
          <a:cs typeface="MS PGothic" charset="0"/>
        </a:defRPr>
      </a:lvl1pPr>
      <a:lvl2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2pPr>
      <a:lvl3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3pPr>
      <a:lvl4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4pPr>
      <a:lvl5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5pPr>
      <a:lvl6pPr marL="457200" algn="l" rtl="0" fontAlgn="base">
        <a:spcBef>
          <a:spcPct val="0"/>
        </a:spcBef>
        <a:spcAft>
          <a:spcPct val="0"/>
        </a:spcAft>
        <a:defRPr sz="3600">
          <a:solidFill>
            <a:srgbClr val="800000"/>
          </a:solidFill>
          <a:latin typeface="Arial" charset="0"/>
        </a:defRPr>
      </a:lvl6pPr>
      <a:lvl7pPr marL="914400" algn="l" rtl="0" fontAlgn="base">
        <a:spcBef>
          <a:spcPct val="0"/>
        </a:spcBef>
        <a:spcAft>
          <a:spcPct val="0"/>
        </a:spcAft>
        <a:defRPr sz="3600">
          <a:solidFill>
            <a:srgbClr val="800000"/>
          </a:solidFill>
          <a:latin typeface="Arial" charset="0"/>
        </a:defRPr>
      </a:lvl7pPr>
      <a:lvl8pPr marL="1371600" algn="l" rtl="0" fontAlgn="base">
        <a:spcBef>
          <a:spcPct val="0"/>
        </a:spcBef>
        <a:spcAft>
          <a:spcPct val="0"/>
        </a:spcAft>
        <a:defRPr sz="3600">
          <a:solidFill>
            <a:srgbClr val="800000"/>
          </a:solidFill>
          <a:latin typeface="Arial" charset="0"/>
        </a:defRPr>
      </a:lvl8pPr>
      <a:lvl9pPr marL="1828800" algn="l" rtl="0" fontAlgn="base">
        <a:spcBef>
          <a:spcPct val="0"/>
        </a:spcBef>
        <a:spcAft>
          <a:spcPct val="0"/>
        </a:spcAft>
        <a:defRPr sz="3600">
          <a:solidFill>
            <a:srgbClr val="800000"/>
          </a:solidFill>
          <a:latin typeface="Arial"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a:solidFill>
            <a:schemeClr val="tx2"/>
          </a:solidFill>
          <a:latin typeface="+mn-lt"/>
          <a:ea typeface="MS PGothic" panose="020B0600070205080204" pitchFamily="34" charset="-128"/>
          <a:cs typeface="MS PGothic" charset="0"/>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a:solidFill>
            <a:srgbClr val="800000"/>
          </a:solidFill>
          <a:latin typeface="+mn-lt"/>
          <a:ea typeface="MS PGothic" panose="020B0600070205080204" pitchFamily="34" charset="-128"/>
          <a:cs typeface="MS PGothic" charset="0"/>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a:solidFill>
            <a:schemeClr val="tx2"/>
          </a:solidFill>
          <a:latin typeface="+mn-lt"/>
          <a:ea typeface="MS PGothic" panose="020B0600070205080204" pitchFamily="34" charset="-128"/>
          <a:cs typeface="MS PGothic" charset="0"/>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a:solidFill>
            <a:srgbClr val="800000"/>
          </a:solidFill>
          <a:latin typeface="+mn-lt"/>
          <a:ea typeface="MS PGothic" panose="020B0600070205080204" pitchFamily="34" charset="-128"/>
          <a:cs typeface="MS PGothic" charset="0"/>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mn-lt"/>
          <a:ea typeface="MS PGothic" panose="020B0600070205080204" pitchFamily="34" charset="-128"/>
          <a:cs typeface="MS PGothic" charset="0"/>
        </a:defRPr>
      </a:lvl5pPr>
      <a:lvl6pPr marL="25146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ubtitle 2"/>
          <p:cNvSpPr>
            <a:spLocks noGrp="1"/>
          </p:cNvSpPr>
          <p:nvPr>
            <p:ph idx="1"/>
          </p:nvPr>
        </p:nvSpPr>
        <p:spPr/>
        <p:txBody>
          <a:bodyPr/>
          <a:lstStyle/>
          <a:p>
            <a:pPr marL="0" indent="0" algn="ctr">
              <a:buFont typeface="Wingdings" panose="05000000000000000000" pitchFamily="2" charset="2"/>
              <a:buNone/>
            </a:pPr>
            <a:endParaRPr lang="en-US" altLang="en-US" b="1" dirty="0"/>
          </a:p>
          <a:p>
            <a:pPr marL="0" indent="0" algn="ctr">
              <a:buFont typeface="Wingdings" panose="05000000000000000000" pitchFamily="2" charset="2"/>
              <a:buNone/>
            </a:pPr>
            <a:endParaRPr lang="en-US" altLang="en-US" b="1" dirty="0"/>
          </a:p>
          <a:p>
            <a:pPr marL="0" indent="0" algn="ctr">
              <a:buFont typeface="Wingdings" panose="05000000000000000000" pitchFamily="2" charset="2"/>
              <a:buNone/>
            </a:pPr>
            <a:r>
              <a:rPr lang="en-US" altLang="en-US" sz="3200" b="1" dirty="0"/>
              <a:t>MODULE II</a:t>
            </a:r>
          </a:p>
          <a:p>
            <a:pPr marL="0" indent="0" algn="ctr">
              <a:buFont typeface="Wingdings" panose="05000000000000000000" pitchFamily="2" charset="2"/>
              <a:buNone/>
            </a:pPr>
            <a:r>
              <a:rPr lang="en-US" altLang="en-US" sz="3200" b="1" dirty="0"/>
              <a:t>File Organization:</a:t>
            </a:r>
          </a:p>
          <a:p>
            <a:pPr marL="0" indent="0" algn="ctr">
              <a:buFont typeface="Wingdings" panose="05000000000000000000" pitchFamily="2" charset="2"/>
              <a:buNone/>
            </a:pPr>
            <a:endParaRPr lang="en-US" altLang="en-US" b="1" dirty="0"/>
          </a:p>
          <a:p>
            <a:pPr marL="0" indent="0" algn="ctr">
              <a:buFont typeface="Wingdings" panose="05000000000000000000" pitchFamily="2" charset="2"/>
              <a:buNone/>
            </a:pPr>
            <a:r>
              <a:rPr lang="en-US" altLang="en-US" sz="3600" b="1" dirty="0"/>
              <a:t>Indexing Structures for Files and Physical Database Design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Introduction</a:t>
            </a:r>
          </a:p>
        </p:txBody>
      </p:sp>
      <p:sp>
        <p:nvSpPr>
          <p:cNvPr id="16387" name="Content Placeholder 2"/>
          <p:cNvSpPr>
            <a:spLocks noGrp="1"/>
          </p:cNvSpPr>
          <p:nvPr>
            <p:ph idx="1"/>
          </p:nvPr>
        </p:nvSpPr>
        <p:spPr/>
        <p:txBody>
          <a:bodyPr/>
          <a:lstStyle/>
          <a:p>
            <a:r>
              <a:rPr lang="en-US" altLang="en-US" dirty="0"/>
              <a:t>Indexes</a:t>
            </a:r>
            <a:r>
              <a:rPr lang="en-US" altLang="en-US" b="1" dirty="0"/>
              <a:t> </a:t>
            </a:r>
            <a:r>
              <a:rPr lang="en-US" altLang="en-US" dirty="0"/>
              <a:t>used to speed up record retrieval in response to certain search conditions</a:t>
            </a:r>
          </a:p>
          <a:p>
            <a:r>
              <a:rPr lang="en-US" altLang="en-US" dirty="0"/>
              <a:t>Index structures provide secondary access paths</a:t>
            </a:r>
          </a:p>
          <a:p>
            <a:r>
              <a:rPr lang="en-US" altLang="en-US" dirty="0"/>
              <a:t>Any field can be used to create an index</a:t>
            </a:r>
          </a:p>
          <a:p>
            <a:pPr lvl="1"/>
            <a:r>
              <a:rPr lang="en-US" altLang="en-US" dirty="0"/>
              <a:t>Multiple indexes can be constructed</a:t>
            </a:r>
          </a:p>
          <a:p>
            <a:r>
              <a:rPr lang="en-US" altLang="en-US" dirty="0"/>
              <a:t>Most indexes based on ordered files</a:t>
            </a:r>
          </a:p>
          <a:p>
            <a:pPr lvl="1"/>
            <a:r>
              <a:rPr lang="en-US" altLang="en-US" dirty="0"/>
              <a:t>Tree data structures organize the index</a:t>
            </a:r>
          </a:p>
        </p:txBody>
      </p:sp>
      <p:sp>
        <p:nvSpPr>
          <p:cNvPr id="1638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BD956ABD-7BDB-49F0-AA79-4CEC189866A1}" type="slidenum">
              <a:rPr lang="en-US" altLang="en-US" sz="1400" smtClean="0">
                <a:solidFill>
                  <a:srgbClr val="990033"/>
                </a:solidFill>
              </a:rPr>
              <a:pPr>
                <a:spcBef>
                  <a:spcPct val="0"/>
                </a:spcBef>
                <a:buClrTx/>
                <a:buSzTx/>
                <a:buFontTx/>
                <a:buNone/>
              </a:pPr>
              <a:t>2</a:t>
            </a:fld>
            <a:endParaRPr lang="en-CA" altLang="en-US" sz="1400" dirty="0">
              <a:solidFill>
                <a:srgbClr val="990033"/>
              </a:solidFill>
            </a:endParaRPr>
          </a:p>
        </p:txBody>
      </p:sp>
      <p:pic>
        <p:nvPicPr>
          <p:cNvPr id="1026" name="Picture 2" descr="Lightbox">
            <a:extLst>
              <a:ext uri="{FF2B5EF4-FFF2-40B4-BE49-F238E27FC236}">
                <a16:creationId xmlns:a16="http://schemas.microsoft.com/office/drawing/2014/main" id="{D2A1B87F-1C40-2D1B-9B46-781CD5044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7056" y="5105400"/>
            <a:ext cx="3124200" cy="152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dirty="0"/>
              <a:t>17.1 Types of Single-Level Ordered Indexes</a:t>
            </a:r>
          </a:p>
        </p:txBody>
      </p:sp>
      <p:sp>
        <p:nvSpPr>
          <p:cNvPr id="17411" name="Content Placeholder 2"/>
          <p:cNvSpPr>
            <a:spLocks noGrp="1"/>
          </p:cNvSpPr>
          <p:nvPr>
            <p:ph idx="1"/>
          </p:nvPr>
        </p:nvSpPr>
        <p:spPr/>
        <p:txBody>
          <a:bodyPr/>
          <a:lstStyle/>
          <a:p>
            <a:r>
              <a:rPr lang="en-US" altLang="en-US" dirty="0"/>
              <a:t>Ordered index similar to index in a textbook</a:t>
            </a:r>
          </a:p>
          <a:p>
            <a:r>
              <a:rPr lang="en-US" altLang="en-US" dirty="0"/>
              <a:t>Indexing field (attribute)</a:t>
            </a:r>
          </a:p>
          <a:p>
            <a:pPr lvl="1"/>
            <a:r>
              <a:rPr lang="en-US" altLang="en-US" dirty="0"/>
              <a:t>Index stores each value of the index field with list of pointers to all disk blocks that contain records with that field value</a:t>
            </a:r>
          </a:p>
          <a:p>
            <a:r>
              <a:rPr lang="en-US" altLang="en-US" dirty="0"/>
              <a:t>Values in index are ordered</a:t>
            </a:r>
          </a:p>
          <a:p>
            <a:r>
              <a:rPr lang="en-US" altLang="en-US" dirty="0"/>
              <a:t>Primary index</a:t>
            </a:r>
          </a:p>
          <a:p>
            <a:pPr lvl="1"/>
            <a:r>
              <a:rPr lang="en-US" altLang="en-US" dirty="0"/>
              <a:t>Specified on the ordering key field of ordered file of records</a:t>
            </a:r>
          </a:p>
        </p:txBody>
      </p:sp>
      <p:sp>
        <p:nvSpPr>
          <p:cNvPr id="1741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60E899D4-EAAF-4272-9042-56A286A359A7}" type="slidenum">
              <a:rPr lang="en-US" altLang="en-US" sz="1400" smtClean="0">
                <a:solidFill>
                  <a:srgbClr val="990033"/>
                </a:solidFill>
              </a:rPr>
              <a:pPr>
                <a:spcBef>
                  <a:spcPct val="0"/>
                </a:spcBef>
                <a:buClrTx/>
                <a:buSzTx/>
                <a:buFontTx/>
                <a:buNone/>
              </a:pPr>
              <a:t>3</a:t>
            </a:fld>
            <a:endParaRPr lang="en-CA" altLang="en-US" sz="1400" dirty="0">
              <a:solidFill>
                <a:srgbClr val="990033"/>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dirty="0"/>
              <a:t>Types of Single-Level Ordered Indexes (cont’d.)</a:t>
            </a:r>
          </a:p>
        </p:txBody>
      </p:sp>
      <p:sp>
        <p:nvSpPr>
          <p:cNvPr id="18435" name="Content Placeholder 2"/>
          <p:cNvSpPr>
            <a:spLocks noGrp="1"/>
          </p:cNvSpPr>
          <p:nvPr>
            <p:ph idx="1"/>
          </p:nvPr>
        </p:nvSpPr>
        <p:spPr/>
        <p:txBody>
          <a:bodyPr/>
          <a:lstStyle/>
          <a:p>
            <a:r>
              <a:rPr lang="en-US" altLang="en-US" dirty="0"/>
              <a:t>Clustering index</a:t>
            </a:r>
          </a:p>
          <a:p>
            <a:pPr lvl="1"/>
            <a:r>
              <a:rPr lang="en-US" altLang="en-US" dirty="0"/>
              <a:t>Used if numerous records can have the same value for the ordering field</a:t>
            </a:r>
          </a:p>
          <a:p>
            <a:r>
              <a:rPr lang="en-US" altLang="en-US" dirty="0"/>
              <a:t>Secondary index</a:t>
            </a:r>
          </a:p>
          <a:p>
            <a:pPr lvl="1"/>
            <a:r>
              <a:rPr lang="en-US" altLang="en-US" dirty="0"/>
              <a:t>Can be specified on any nonordering field</a:t>
            </a:r>
          </a:p>
          <a:p>
            <a:pPr lvl="1"/>
            <a:r>
              <a:rPr lang="en-US" altLang="en-US" dirty="0"/>
              <a:t>Data file can have several secondary indexes</a:t>
            </a:r>
          </a:p>
        </p:txBody>
      </p:sp>
      <p:sp>
        <p:nvSpPr>
          <p:cNvPr id="1843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D2917EA8-6F6A-4AC3-92B2-0EC81985F63F}" type="slidenum">
              <a:rPr lang="en-US" altLang="en-US" sz="1400" smtClean="0">
                <a:solidFill>
                  <a:srgbClr val="990033"/>
                </a:solidFill>
              </a:rPr>
              <a:pPr>
                <a:spcBef>
                  <a:spcPct val="0"/>
                </a:spcBef>
                <a:buClrTx/>
                <a:buSzTx/>
                <a:buFontTx/>
                <a:buNone/>
              </a:pPr>
              <a:t>4</a:t>
            </a:fld>
            <a:endParaRPr lang="en-CA" altLang="en-US" sz="1400" dirty="0">
              <a:solidFill>
                <a:srgbClr val="990033"/>
              </a:solidFill>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dirty="0"/>
              <a:t>Primary Indexes</a:t>
            </a:r>
          </a:p>
        </p:txBody>
      </p:sp>
      <p:sp>
        <p:nvSpPr>
          <p:cNvPr id="19459" name="Content Placeholder 2"/>
          <p:cNvSpPr>
            <a:spLocks noGrp="1"/>
          </p:cNvSpPr>
          <p:nvPr>
            <p:ph idx="1"/>
          </p:nvPr>
        </p:nvSpPr>
        <p:spPr>
          <a:xfrm>
            <a:off x="239713" y="1600200"/>
            <a:ext cx="8370887" cy="3581400"/>
          </a:xfrm>
        </p:spPr>
        <p:txBody>
          <a:bodyPr/>
          <a:lstStyle/>
          <a:p>
            <a:r>
              <a:rPr lang="en-US" altLang="en-US" sz="2000" dirty="0"/>
              <a:t>Ordered file with two fields</a:t>
            </a:r>
          </a:p>
          <a:p>
            <a:pPr lvl="1"/>
            <a:r>
              <a:rPr lang="en-US" altLang="en-US" sz="2000" dirty="0"/>
              <a:t>Primary key, </a:t>
            </a:r>
            <a:r>
              <a:rPr lang="en-US" altLang="en-US" sz="2000" i="1" dirty="0"/>
              <a:t>K(i)</a:t>
            </a:r>
          </a:p>
          <a:p>
            <a:pPr lvl="1"/>
            <a:r>
              <a:rPr lang="en-US" altLang="en-US" sz="2000" dirty="0"/>
              <a:t>Pointer to a disk block, </a:t>
            </a:r>
            <a:r>
              <a:rPr lang="en-US" altLang="en-US" sz="2000" i="1" dirty="0"/>
              <a:t>P(i)</a:t>
            </a:r>
          </a:p>
          <a:p>
            <a:r>
              <a:rPr lang="en-US" altLang="en-US" sz="2000" dirty="0"/>
              <a:t>One index entry in the index file for each block in the data file</a:t>
            </a:r>
          </a:p>
          <a:p>
            <a:r>
              <a:rPr lang="en-US" altLang="en-US" sz="2000" dirty="0"/>
              <a:t>Indexes may be dense or sparse</a:t>
            </a:r>
          </a:p>
          <a:p>
            <a:pPr lvl="1"/>
            <a:r>
              <a:rPr lang="en-US" altLang="en-US" sz="2000" dirty="0"/>
              <a:t>Dense index has an index entry for every search key value</a:t>
            </a:r>
            <a:r>
              <a:rPr lang="en-US" altLang="en-US" sz="2000" i="1" dirty="0"/>
              <a:t> </a:t>
            </a:r>
            <a:r>
              <a:rPr lang="en-US" altLang="en-US" sz="2000" dirty="0"/>
              <a:t>in the data file</a:t>
            </a:r>
          </a:p>
          <a:p>
            <a:pPr lvl="1"/>
            <a:r>
              <a:rPr lang="en-US" altLang="en-US" sz="2000" dirty="0"/>
              <a:t>Sparse index has entries for only some search values</a:t>
            </a:r>
          </a:p>
        </p:txBody>
      </p:sp>
      <p:sp>
        <p:nvSpPr>
          <p:cNvPr id="1946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FE76D59F-FAAA-424E-B7DE-FC6896454B33}" type="slidenum">
              <a:rPr lang="en-US" altLang="en-US" sz="1400" smtClean="0">
                <a:solidFill>
                  <a:srgbClr val="990033"/>
                </a:solidFill>
              </a:rPr>
              <a:pPr>
                <a:spcBef>
                  <a:spcPct val="0"/>
                </a:spcBef>
                <a:buClrTx/>
                <a:buSzTx/>
                <a:buFontTx/>
                <a:buNone/>
              </a:pPr>
              <a:t>5</a:t>
            </a:fld>
            <a:endParaRPr lang="en-CA" altLang="en-US" sz="1400" dirty="0">
              <a:solidFill>
                <a:srgbClr val="990033"/>
              </a:solidFill>
            </a:endParaRPr>
          </a:p>
        </p:txBody>
      </p:sp>
      <p:pic>
        <p:nvPicPr>
          <p:cNvPr id="2050" name="Picture 2" descr="DBMS Indexing in DBMS">
            <a:extLst>
              <a:ext uri="{FF2B5EF4-FFF2-40B4-BE49-F238E27FC236}">
                <a16:creationId xmlns:a16="http://schemas.microsoft.com/office/drawing/2014/main" id="{187C4409-9677-0589-6305-CC339578B3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273" y="4648200"/>
            <a:ext cx="4144327" cy="14763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BMS Indexing in DBMS">
            <a:extLst>
              <a:ext uri="{FF2B5EF4-FFF2-40B4-BE49-F238E27FC236}">
                <a16:creationId xmlns:a16="http://schemas.microsoft.com/office/drawing/2014/main" id="{0B665EDC-AFA8-761B-67FB-74FE456A50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2" y="4691062"/>
            <a:ext cx="4038598" cy="13906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5839424-5667-1334-40A2-9CC5AF4A2041}"/>
              </a:ext>
            </a:extLst>
          </p:cNvPr>
          <p:cNvSpPr/>
          <p:nvPr/>
        </p:nvSpPr>
        <p:spPr bwMode="auto">
          <a:xfrm>
            <a:off x="792481" y="6248400"/>
            <a:ext cx="1645919" cy="306387"/>
          </a:xfrm>
          <a:prstGeom prst="rect">
            <a:avLst/>
          </a:prstGeom>
          <a:blipFill dpi="0" rotWithShape="0">
            <a:blip r:embed="rId5"/>
            <a:srcRect/>
            <a:tile tx="0" ty="0" sx="100000" sy="100000" flip="none" algn="tl"/>
          </a:bli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Dense Index</a:t>
            </a:r>
          </a:p>
        </p:txBody>
      </p:sp>
      <p:sp>
        <p:nvSpPr>
          <p:cNvPr id="4" name="Rectangle 3">
            <a:extLst>
              <a:ext uri="{FF2B5EF4-FFF2-40B4-BE49-F238E27FC236}">
                <a16:creationId xmlns:a16="http://schemas.microsoft.com/office/drawing/2014/main" id="{03A025EA-4596-6E2E-2DC9-0A5153563A04}"/>
              </a:ext>
            </a:extLst>
          </p:cNvPr>
          <p:cNvSpPr/>
          <p:nvPr/>
        </p:nvSpPr>
        <p:spPr bwMode="auto">
          <a:xfrm>
            <a:off x="6261101" y="6247606"/>
            <a:ext cx="1645919" cy="306387"/>
          </a:xfrm>
          <a:prstGeom prst="rect">
            <a:avLst/>
          </a:prstGeom>
          <a:blipFill dpi="0" rotWithShape="0">
            <a:blip r:embed="rId5"/>
            <a:srcRect/>
            <a:tile tx="0" ty="0" sx="100000" sy="100000" flip="none" algn="tl"/>
          </a:bli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Sparse Index</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Primary Indexes (cont’d.)</a:t>
            </a:r>
          </a:p>
        </p:txBody>
      </p:sp>
      <p:sp>
        <p:nvSpPr>
          <p:cNvPr id="20483"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a:t>
            </a:r>
            <a:fld id="{A31F6804-D167-4578-8975-1BE15FF16700}" type="slidenum">
              <a:rPr lang="en-US" altLang="en-US" sz="1400" smtClean="0">
                <a:solidFill>
                  <a:srgbClr val="990033"/>
                </a:solidFill>
              </a:rPr>
              <a:pPr>
                <a:spcBef>
                  <a:spcPct val="0"/>
                </a:spcBef>
                <a:buClrTx/>
                <a:buSzTx/>
                <a:buFontTx/>
                <a:buNone/>
              </a:pPr>
              <a:t>6</a:t>
            </a:fld>
            <a:endParaRPr lang="en-CA" altLang="en-US" sz="1400" dirty="0">
              <a:solidFill>
                <a:srgbClr val="990033"/>
              </a:solidFill>
            </a:endParaRPr>
          </a:p>
        </p:txBody>
      </p:sp>
      <p:pic>
        <p:nvPicPr>
          <p:cNvPr id="2048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93925" y="1571625"/>
            <a:ext cx="4435475"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Box 4"/>
          <p:cNvSpPr txBox="1">
            <a:spLocks noChangeArrowheads="1"/>
          </p:cNvSpPr>
          <p:nvPr/>
        </p:nvSpPr>
        <p:spPr bwMode="auto">
          <a:xfrm>
            <a:off x="762000" y="6194425"/>
            <a:ext cx="7620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600" dirty="0">
                <a:solidFill>
                  <a:schemeClr val="tx1"/>
                </a:solidFill>
              </a:rPr>
              <a:t>Figure 17.1 Primary index on the ordering key field of the file shown in Figure 16.7</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dirty="0"/>
              <a:t>Primary Indexes (cont’d.)</a:t>
            </a:r>
          </a:p>
        </p:txBody>
      </p:sp>
      <p:sp>
        <p:nvSpPr>
          <p:cNvPr id="21507" name="Content Placeholder 2"/>
          <p:cNvSpPr>
            <a:spLocks noGrp="1"/>
          </p:cNvSpPr>
          <p:nvPr>
            <p:ph idx="1"/>
          </p:nvPr>
        </p:nvSpPr>
        <p:spPr/>
        <p:txBody>
          <a:bodyPr/>
          <a:lstStyle/>
          <a:p>
            <a:r>
              <a:rPr lang="en-US" altLang="en-US" dirty="0"/>
              <a:t>Major problem: insertion and deletion of records</a:t>
            </a:r>
          </a:p>
          <a:p>
            <a:pPr lvl="1"/>
            <a:r>
              <a:rPr lang="en-US" altLang="en-US" dirty="0"/>
              <a:t>Move records around and change index values</a:t>
            </a:r>
          </a:p>
          <a:p>
            <a:pPr lvl="1"/>
            <a:r>
              <a:rPr lang="en-US" altLang="en-US" dirty="0"/>
              <a:t>Solutions</a:t>
            </a:r>
          </a:p>
          <a:p>
            <a:pPr lvl="2"/>
            <a:r>
              <a:rPr lang="en-US" altLang="en-US" dirty="0"/>
              <a:t>Use unordered overflow file</a:t>
            </a:r>
          </a:p>
          <a:p>
            <a:pPr lvl="2"/>
            <a:r>
              <a:rPr lang="en-US" altLang="en-US" dirty="0"/>
              <a:t>Use linked list of overflow records</a:t>
            </a:r>
          </a:p>
        </p:txBody>
      </p:sp>
      <p:sp>
        <p:nvSpPr>
          <p:cNvPr id="2150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9248E02F-69DB-4A84-A7E4-A58B26097C9B}" type="slidenum">
              <a:rPr lang="en-US" altLang="en-US" sz="1400" smtClean="0">
                <a:solidFill>
                  <a:srgbClr val="990033"/>
                </a:solidFill>
              </a:rPr>
              <a:pPr>
                <a:spcBef>
                  <a:spcPct val="0"/>
                </a:spcBef>
                <a:buClrTx/>
                <a:buSzTx/>
                <a:buFontTx/>
                <a:buNone/>
              </a:pPr>
              <a:t>7</a:t>
            </a:fld>
            <a:endParaRPr lang="en-CA" altLang="en-US" sz="1400" dirty="0">
              <a:solidFill>
                <a:srgbClr val="990033"/>
              </a:solidFill>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dirty="0"/>
              <a:t>Clustering Indexes</a:t>
            </a:r>
          </a:p>
        </p:txBody>
      </p:sp>
      <p:sp>
        <p:nvSpPr>
          <p:cNvPr id="22531" name="Content Placeholder 2"/>
          <p:cNvSpPr>
            <a:spLocks noGrp="1"/>
          </p:cNvSpPr>
          <p:nvPr>
            <p:ph idx="1"/>
          </p:nvPr>
        </p:nvSpPr>
        <p:spPr/>
        <p:txBody>
          <a:bodyPr/>
          <a:lstStyle/>
          <a:p>
            <a:r>
              <a:rPr lang="en-US" altLang="en-US" dirty="0"/>
              <a:t>Clustering field</a:t>
            </a:r>
          </a:p>
          <a:p>
            <a:pPr lvl="1"/>
            <a:r>
              <a:rPr lang="en-US" altLang="en-US" dirty="0"/>
              <a:t>File records are physically ordered on a nonkey field without a distinct value for each record</a:t>
            </a:r>
          </a:p>
          <a:p>
            <a:r>
              <a:rPr lang="en-US" altLang="en-US" dirty="0"/>
              <a:t>Ordered file with two fields</a:t>
            </a:r>
          </a:p>
          <a:p>
            <a:pPr lvl="1"/>
            <a:r>
              <a:rPr lang="en-US" altLang="en-US" dirty="0"/>
              <a:t>Same type as clustering field</a:t>
            </a:r>
          </a:p>
          <a:p>
            <a:pPr lvl="1"/>
            <a:r>
              <a:rPr lang="en-US" altLang="en-US" dirty="0"/>
              <a:t>Disk block pointer</a:t>
            </a:r>
          </a:p>
        </p:txBody>
      </p:sp>
      <p:sp>
        <p:nvSpPr>
          <p:cNvPr id="2253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E1F91DEF-D2D0-4363-A1CE-55B33BCCB6E8}" type="slidenum">
              <a:rPr lang="en-US" altLang="en-US" sz="1400" smtClean="0">
                <a:solidFill>
                  <a:srgbClr val="990033"/>
                </a:solidFill>
              </a:rPr>
              <a:pPr>
                <a:spcBef>
                  <a:spcPct val="0"/>
                </a:spcBef>
                <a:buClrTx/>
                <a:buSzTx/>
                <a:buFontTx/>
                <a:buNone/>
              </a:pPr>
              <a:t>8</a:t>
            </a:fld>
            <a:endParaRPr lang="en-CA" altLang="en-US" sz="1400" dirty="0">
              <a:solidFill>
                <a:srgbClr val="990033"/>
              </a:solidFill>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dirty="0"/>
              <a:t>Clustering Indexes (cont’d.)</a:t>
            </a:r>
          </a:p>
        </p:txBody>
      </p:sp>
      <p:sp>
        <p:nvSpPr>
          <p:cNvPr id="2355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a:t>
            </a:r>
            <a:fld id="{C4C97459-9CA0-47DC-9A62-84F7542A0ECD}" type="slidenum">
              <a:rPr lang="en-US" altLang="en-US" sz="1400" smtClean="0">
                <a:solidFill>
                  <a:srgbClr val="990033"/>
                </a:solidFill>
              </a:rPr>
              <a:pPr>
                <a:spcBef>
                  <a:spcPct val="0"/>
                </a:spcBef>
                <a:buClrTx/>
                <a:buSzTx/>
                <a:buFontTx/>
                <a:buNone/>
              </a:pPr>
              <a:t>9</a:t>
            </a:fld>
            <a:endParaRPr lang="en-CA" altLang="en-US" sz="1400" dirty="0">
              <a:solidFill>
                <a:srgbClr val="990033"/>
              </a:solidFill>
            </a:endParaRPr>
          </a:p>
        </p:txBody>
      </p:sp>
      <p:sp>
        <p:nvSpPr>
          <p:cNvPr id="23556" name="TextBox 4"/>
          <p:cNvSpPr txBox="1">
            <a:spLocks noChangeArrowheads="1"/>
          </p:cNvSpPr>
          <p:nvPr/>
        </p:nvSpPr>
        <p:spPr bwMode="auto">
          <a:xfrm>
            <a:off x="1752600" y="6045200"/>
            <a:ext cx="5638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600" dirty="0">
                <a:solidFill>
                  <a:schemeClr val="tx1"/>
                </a:solidFill>
              </a:rPr>
              <a:t>Figure 17.2 A clustering index on the Dept_number ordering nonkey field of an EMPLOYEE file</a:t>
            </a:r>
          </a:p>
        </p:txBody>
      </p:sp>
      <p:pic>
        <p:nvPicPr>
          <p:cNvPr id="3074" name="Picture 2" descr="DBMS Indexing in DBMS">
            <a:extLst>
              <a:ext uri="{FF2B5EF4-FFF2-40B4-BE49-F238E27FC236}">
                <a16:creationId xmlns:a16="http://schemas.microsoft.com/office/drawing/2014/main" id="{4ABE9233-0472-3B4D-FEED-AC306E980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658533"/>
            <a:ext cx="4019550" cy="338666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4FA833C-BE85-4421-4BA5-0BB5F7B1A2D5}"/>
              </a:ext>
            </a:extLst>
          </p:cNvPr>
          <p:cNvSpPr txBox="1"/>
          <p:nvPr/>
        </p:nvSpPr>
        <p:spPr>
          <a:xfrm>
            <a:off x="0" y="1474611"/>
            <a:ext cx="8839200" cy="1200329"/>
          </a:xfrm>
          <a:prstGeom prst="rect">
            <a:avLst/>
          </a:prstGeom>
          <a:noFill/>
        </p:spPr>
        <p:txBody>
          <a:bodyPr wrap="square">
            <a:spAutoFit/>
          </a:bodyPr>
          <a:lstStyle/>
          <a:p>
            <a:pPr algn="just"/>
            <a:r>
              <a:rPr lang="en-US" sz="1800" b="0" i="0" dirty="0">
                <a:solidFill>
                  <a:srgbClr val="333333"/>
                </a:solidFill>
                <a:effectLst/>
                <a:latin typeface="inter-regular"/>
              </a:rPr>
              <a:t>Suppose a company contains several employees in each department. Suppose we use a clustering index, </a:t>
            </a:r>
            <a:r>
              <a:rPr lang="en-US" sz="1800" b="0" i="0" dirty="0">
                <a:solidFill>
                  <a:srgbClr val="333333"/>
                </a:solidFill>
                <a:effectLst/>
                <a:latin typeface="Times New Roman" panose="02020603050405020304" pitchFamily="18" charset="0"/>
                <a:cs typeface="Times New Roman" panose="02020603050405020304" pitchFamily="18" charset="0"/>
              </a:rPr>
              <a:t>where</a:t>
            </a:r>
            <a:r>
              <a:rPr lang="en-US" sz="1800" b="0" i="0" dirty="0">
                <a:solidFill>
                  <a:srgbClr val="333333"/>
                </a:solidFill>
                <a:effectLst/>
                <a:latin typeface="inter-regular"/>
              </a:rPr>
              <a:t> all employees which belong to the same </a:t>
            </a:r>
            <a:r>
              <a:rPr lang="en-US" sz="1800" b="0" i="0" dirty="0" err="1">
                <a:solidFill>
                  <a:srgbClr val="333333"/>
                </a:solidFill>
                <a:effectLst/>
                <a:latin typeface="inter-regular"/>
              </a:rPr>
              <a:t>Dept_ID</a:t>
            </a:r>
            <a:r>
              <a:rPr lang="en-US" sz="1800" b="0" i="0" dirty="0">
                <a:solidFill>
                  <a:srgbClr val="333333"/>
                </a:solidFill>
                <a:effectLst/>
                <a:latin typeface="inter-regular"/>
              </a:rPr>
              <a:t> are considered within a single cluster, and index pointers point to the cluster as a whole. Here </a:t>
            </a:r>
            <a:r>
              <a:rPr lang="en-US" sz="1800" b="0" i="0" dirty="0" err="1">
                <a:solidFill>
                  <a:srgbClr val="333333"/>
                </a:solidFill>
                <a:effectLst/>
                <a:latin typeface="inter-regular"/>
              </a:rPr>
              <a:t>Dept_Id</a:t>
            </a:r>
            <a:r>
              <a:rPr lang="en-US" sz="1800" b="0" i="0" dirty="0">
                <a:solidFill>
                  <a:srgbClr val="333333"/>
                </a:solidFill>
                <a:effectLst/>
                <a:latin typeface="inter-regular"/>
              </a:rPr>
              <a:t> is a non-unique key.</a:t>
            </a:r>
            <a:endParaRPr lang="en-US" sz="1800" dirty="0">
              <a:effectLst/>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dirty="0"/>
              <a:t>Secondary Indexes</a:t>
            </a:r>
          </a:p>
        </p:txBody>
      </p:sp>
      <p:sp>
        <p:nvSpPr>
          <p:cNvPr id="24579" name="Content Placeholder 2"/>
          <p:cNvSpPr>
            <a:spLocks noGrp="1"/>
          </p:cNvSpPr>
          <p:nvPr>
            <p:ph idx="1"/>
          </p:nvPr>
        </p:nvSpPr>
        <p:spPr/>
        <p:txBody>
          <a:bodyPr/>
          <a:lstStyle/>
          <a:p>
            <a:r>
              <a:rPr lang="en-US" altLang="en-US" dirty="0"/>
              <a:t>Provide secondary means of accessing a data file</a:t>
            </a:r>
          </a:p>
          <a:p>
            <a:pPr lvl="1"/>
            <a:r>
              <a:rPr lang="en-US" altLang="en-US" dirty="0"/>
              <a:t>Some primary access exists</a:t>
            </a:r>
          </a:p>
          <a:p>
            <a:r>
              <a:rPr lang="en-US" altLang="en-US" dirty="0"/>
              <a:t>Ordered file with two fields</a:t>
            </a:r>
          </a:p>
          <a:p>
            <a:pPr lvl="1"/>
            <a:r>
              <a:rPr lang="en-US" altLang="en-US" dirty="0"/>
              <a:t>Indexing field, </a:t>
            </a:r>
            <a:r>
              <a:rPr lang="en-US" altLang="en-US" i="1" dirty="0"/>
              <a:t>K(i)</a:t>
            </a:r>
          </a:p>
          <a:p>
            <a:pPr lvl="1"/>
            <a:r>
              <a:rPr lang="en-US" altLang="en-US" dirty="0"/>
              <a:t>Block pointer or record pointer, </a:t>
            </a:r>
            <a:r>
              <a:rPr lang="en-US" altLang="en-US" i="1" dirty="0"/>
              <a:t>P(i)</a:t>
            </a:r>
          </a:p>
          <a:p>
            <a:r>
              <a:rPr lang="en-US" altLang="en-US" dirty="0"/>
              <a:t>Usually need more storage space and longer search time than primary index</a:t>
            </a:r>
          </a:p>
          <a:p>
            <a:pPr lvl="1"/>
            <a:r>
              <a:rPr lang="en-US" altLang="en-US" dirty="0"/>
              <a:t>Improved search time for arbitrary record</a:t>
            </a:r>
          </a:p>
        </p:txBody>
      </p:sp>
      <p:sp>
        <p:nvSpPr>
          <p:cNvPr id="2458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223C8827-583C-4BB6-9834-335D958A135E}" type="slidenum">
              <a:rPr lang="en-US" altLang="en-US" sz="1400" smtClean="0">
                <a:solidFill>
                  <a:srgbClr val="990033"/>
                </a:solidFill>
              </a:rPr>
              <a:pPr>
                <a:spcBef>
                  <a:spcPct val="0"/>
                </a:spcBef>
                <a:buClrTx/>
                <a:buSzTx/>
                <a:buFontTx/>
                <a:buNone/>
              </a:pPr>
              <a:t>10</a:t>
            </a:fld>
            <a:endParaRPr lang="en-CA" altLang="en-US" sz="1400" dirty="0">
              <a:solidFill>
                <a:srgbClr val="990033"/>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Secondary Indexes (cont’d.)</a:t>
            </a:r>
          </a:p>
        </p:txBody>
      </p:sp>
      <p:sp>
        <p:nvSpPr>
          <p:cNvPr id="25603"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a:t>
            </a:r>
            <a:fld id="{2DE63511-3B44-4058-B85D-BC2C2501B8F8}" type="slidenum">
              <a:rPr lang="en-US" altLang="en-US" sz="1400" smtClean="0">
                <a:solidFill>
                  <a:srgbClr val="990033"/>
                </a:solidFill>
              </a:rPr>
              <a:pPr>
                <a:spcBef>
                  <a:spcPct val="0"/>
                </a:spcBef>
                <a:buClrTx/>
                <a:buSzTx/>
                <a:buFontTx/>
                <a:buNone/>
              </a:pPr>
              <a:t>11</a:t>
            </a:fld>
            <a:endParaRPr lang="en-CA" altLang="en-US" sz="1400" dirty="0">
              <a:solidFill>
                <a:srgbClr val="990033"/>
              </a:solidFill>
            </a:endParaRPr>
          </a:p>
        </p:txBody>
      </p:sp>
      <p:sp>
        <p:nvSpPr>
          <p:cNvPr id="25604" name="TextBox 4"/>
          <p:cNvSpPr txBox="1">
            <a:spLocks noChangeArrowheads="1"/>
          </p:cNvSpPr>
          <p:nvPr/>
        </p:nvSpPr>
        <p:spPr bwMode="auto">
          <a:xfrm>
            <a:off x="228600" y="3448050"/>
            <a:ext cx="22860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600" dirty="0">
                <a:solidFill>
                  <a:schemeClr val="tx1"/>
                </a:solidFill>
              </a:rPr>
              <a:t>Figure 17.4 Dense secondary index (with block pointers) on a nonordering key field of a file.</a:t>
            </a:r>
          </a:p>
        </p:txBody>
      </p:sp>
      <p:pic>
        <p:nvPicPr>
          <p:cNvPr id="2560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219200"/>
            <a:ext cx="4589463"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dirty="0"/>
              <a:t>Types of Single-Level Ordered Indexes (cont’d.)</a:t>
            </a:r>
          </a:p>
        </p:txBody>
      </p:sp>
      <p:sp>
        <p:nvSpPr>
          <p:cNvPr id="26627"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a:t>
            </a:r>
            <a:fld id="{4F6232CD-6503-4C5C-89E4-33BE621AF323}" type="slidenum">
              <a:rPr lang="en-US" altLang="en-US" sz="1400" smtClean="0">
                <a:solidFill>
                  <a:srgbClr val="990033"/>
                </a:solidFill>
              </a:rPr>
              <a:pPr>
                <a:spcBef>
                  <a:spcPct val="0"/>
                </a:spcBef>
                <a:buClrTx/>
                <a:buSzTx/>
                <a:buFontTx/>
                <a:buNone/>
              </a:pPr>
              <a:t>12</a:t>
            </a:fld>
            <a:endParaRPr lang="en-CA" altLang="en-US" sz="1400" dirty="0">
              <a:solidFill>
                <a:srgbClr val="990033"/>
              </a:solidFill>
            </a:endParaRPr>
          </a:p>
        </p:txBody>
      </p:sp>
      <p:pic>
        <p:nvPicPr>
          <p:cNvPr id="2662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0688" y="1577975"/>
            <a:ext cx="81343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Box 4"/>
          <p:cNvSpPr txBox="1">
            <a:spLocks noChangeArrowheads="1"/>
          </p:cNvSpPr>
          <p:nvPr/>
        </p:nvSpPr>
        <p:spPr bwMode="auto">
          <a:xfrm>
            <a:off x="1066800" y="2878138"/>
            <a:ext cx="8229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600" dirty="0">
                <a:solidFill>
                  <a:schemeClr val="tx1"/>
                </a:solidFill>
              </a:rPr>
              <a:t>Table 17.1 Types of indexes based on the properties of the indexing field</a:t>
            </a:r>
          </a:p>
        </p:txBody>
      </p:sp>
      <p:sp>
        <p:nvSpPr>
          <p:cNvPr id="26630" name="TextBox 5"/>
          <p:cNvSpPr txBox="1">
            <a:spLocks noChangeArrowheads="1"/>
          </p:cNvSpPr>
          <p:nvPr/>
        </p:nvSpPr>
        <p:spPr bwMode="auto">
          <a:xfrm>
            <a:off x="2525713" y="6200775"/>
            <a:ext cx="40846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600" dirty="0">
                <a:solidFill>
                  <a:schemeClr val="tx1"/>
                </a:solidFill>
              </a:rPr>
              <a:t>Table 17.2 Properties of index types</a:t>
            </a:r>
          </a:p>
        </p:txBody>
      </p:sp>
      <p:pic>
        <p:nvPicPr>
          <p:cNvPr id="26631"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9113" y="3448050"/>
            <a:ext cx="809625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228600" y="303213"/>
            <a:ext cx="7620000" cy="1068387"/>
          </a:xfrm>
        </p:spPr>
        <p:txBody>
          <a:bodyPr/>
          <a:lstStyle/>
          <a:p>
            <a:r>
              <a:rPr lang="en-US" altLang="en-US" dirty="0"/>
              <a:t>17.2 Multilevel Indexes</a:t>
            </a:r>
          </a:p>
        </p:txBody>
      </p:sp>
      <p:sp>
        <p:nvSpPr>
          <p:cNvPr id="27651" name="Content Placeholder 2"/>
          <p:cNvSpPr>
            <a:spLocks noGrp="1"/>
          </p:cNvSpPr>
          <p:nvPr>
            <p:ph idx="1"/>
          </p:nvPr>
        </p:nvSpPr>
        <p:spPr/>
        <p:txBody>
          <a:bodyPr/>
          <a:lstStyle/>
          <a:p>
            <a:r>
              <a:rPr lang="en-US" altLang="en-US" dirty="0"/>
              <a:t>Designed to greatly reduce remaining search space as search is conducted</a:t>
            </a:r>
          </a:p>
          <a:p>
            <a:r>
              <a:rPr lang="en-US" altLang="en-US" dirty="0"/>
              <a:t>Index file</a:t>
            </a:r>
          </a:p>
          <a:p>
            <a:pPr lvl="1"/>
            <a:r>
              <a:rPr lang="en-US" altLang="en-US" dirty="0"/>
              <a:t>Considered first (or base level) of a multilevel index</a:t>
            </a:r>
          </a:p>
          <a:p>
            <a:r>
              <a:rPr lang="en-US" altLang="en-US" dirty="0"/>
              <a:t>Second level</a:t>
            </a:r>
          </a:p>
          <a:p>
            <a:pPr lvl="1"/>
            <a:r>
              <a:rPr lang="en-US" altLang="en-US" dirty="0"/>
              <a:t>Primary index to the first level</a:t>
            </a:r>
          </a:p>
          <a:p>
            <a:r>
              <a:rPr lang="en-US" altLang="en-US" dirty="0"/>
              <a:t>Third level</a:t>
            </a:r>
          </a:p>
          <a:p>
            <a:pPr lvl="1"/>
            <a:r>
              <a:rPr lang="en-US" altLang="en-US" dirty="0"/>
              <a:t>Primary index to the second level</a:t>
            </a:r>
          </a:p>
        </p:txBody>
      </p:sp>
      <p:sp>
        <p:nvSpPr>
          <p:cNvPr id="2765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 </a:t>
            </a:r>
            <a:fld id="{D9176D7A-C33A-455C-9934-F8EB7686B793}" type="slidenum">
              <a:rPr lang="en-US" altLang="en-US" sz="1400" smtClean="0">
                <a:solidFill>
                  <a:srgbClr val="990033"/>
                </a:solidFill>
              </a:rPr>
              <a:pPr>
                <a:spcBef>
                  <a:spcPct val="0"/>
                </a:spcBef>
                <a:buClrTx/>
                <a:buSzTx/>
                <a:buFontTx/>
                <a:buNone/>
              </a:pPr>
              <a:t>13</a:t>
            </a:fld>
            <a:endParaRPr lang="en-CA" altLang="en-US" sz="1400" dirty="0">
              <a:solidFill>
                <a:srgbClr val="990033"/>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17-</a:t>
            </a:r>
            <a:fld id="{466214A6-F298-40B4-8F33-2072A6BCAEC8}" type="slidenum">
              <a:rPr lang="en-US" altLang="en-US" sz="1400" smtClean="0">
                <a:solidFill>
                  <a:srgbClr val="990033"/>
                </a:solidFill>
              </a:rPr>
              <a:pPr>
                <a:spcBef>
                  <a:spcPct val="0"/>
                </a:spcBef>
                <a:buClrTx/>
                <a:buSzTx/>
                <a:buFontTx/>
                <a:buNone/>
              </a:pPr>
              <a:t>14</a:t>
            </a:fld>
            <a:endParaRPr lang="en-CA" altLang="en-US" sz="1400" dirty="0">
              <a:solidFill>
                <a:srgbClr val="990033"/>
              </a:solidFill>
            </a:endParaRPr>
          </a:p>
        </p:txBody>
      </p:sp>
      <p:pic>
        <p:nvPicPr>
          <p:cNvPr id="28675"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2044" y="71437"/>
            <a:ext cx="5362575"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4"/>
          <p:cNvSpPr txBox="1">
            <a:spLocks noChangeArrowheads="1"/>
          </p:cNvSpPr>
          <p:nvPr/>
        </p:nvSpPr>
        <p:spPr bwMode="auto">
          <a:xfrm>
            <a:off x="168275" y="3228974"/>
            <a:ext cx="143192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600" dirty="0">
                <a:solidFill>
                  <a:schemeClr val="tx1"/>
                </a:solidFill>
              </a:rPr>
              <a:t>Figure 17.6 A two-level primary index resembling ISAM (indexed sequential access method) organization</a:t>
            </a:r>
          </a:p>
        </p:txBody>
      </p:sp>
      <p:pic>
        <p:nvPicPr>
          <p:cNvPr id="2" name="Picture 1">
            <a:extLst>
              <a:ext uri="{FF2B5EF4-FFF2-40B4-BE49-F238E27FC236}">
                <a16:creationId xmlns:a16="http://schemas.microsoft.com/office/drawing/2014/main" id="{E3757860-941E-C373-BAC0-F1753B8EC45B}"/>
              </a:ext>
            </a:extLst>
          </p:cNvPr>
          <p:cNvPicPr>
            <a:picLocks noChangeAspect="1"/>
          </p:cNvPicPr>
          <p:nvPr/>
        </p:nvPicPr>
        <p:blipFill>
          <a:blip r:embed="rId3"/>
          <a:stretch>
            <a:fillRect/>
          </a:stretch>
        </p:blipFill>
        <p:spPr>
          <a:xfrm>
            <a:off x="6084400" y="3962400"/>
            <a:ext cx="3076533" cy="2238375"/>
          </a:xfrm>
          <a:prstGeom prst="rect">
            <a:avLst/>
          </a:prstGeom>
        </p:spPr>
      </p:pic>
      <p:sp>
        <p:nvSpPr>
          <p:cNvPr id="3" name="Rectangle 2">
            <a:extLst>
              <a:ext uri="{FF2B5EF4-FFF2-40B4-BE49-F238E27FC236}">
                <a16:creationId xmlns:a16="http://schemas.microsoft.com/office/drawing/2014/main" id="{BAB2362A-66E6-26AA-C7AB-6553FF6FC8EF}"/>
              </a:ext>
            </a:extLst>
          </p:cNvPr>
          <p:cNvSpPr/>
          <p:nvPr/>
        </p:nvSpPr>
        <p:spPr bwMode="auto">
          <a:xfrm>
            <a:off x="7193281" y="3611881"/>
            <a:ext cx="45719" cy="45719"/>
          </a:xfrm>
          <a:prstGeom prst="rect">
            <a:avLst/>
          </a:prstGeom>
          <a:blipFill dpi="0" rotWithShape="0">
            <a:blip r:embed="rId4"/>
            <a:srcRect/>
            <a:tile tx="0" ty="0" sx="100000" sy="100000" flip="none" algn="tl"/>
          </a:bli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Example 2</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2974</TotalTime>
  <Words>1703</Words>
  <Application>Microsoft Office PowerPoint</Application>
  <PresentationFormat>Letter Paper (8.5x11 in)</PresentationFormat>
  <Paragraphs>120</Paragraphs>
  <Slides>14</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inter-regular</vt:lpstr>
      <vt:lpstr>Tahoma</vt:lpstr>
      <vt:lpstr>Times New Roman</vt:lpstr>
      <vt:lpstr>urw-din</vt:lpstr>
      <vt:lpstr>Wingdings</vt:lpstr>
      <vt:lpstr>Blends</vt:lpstr>
      <vt:lpstr>PowerPoint Presentation</vt:lpstr>
      <vt:lpstr>Introduction</vt:lpstr>
      <vt:lpstr>17.1 Types of Single-Level Ordered Indexes</vt:lpstr>
      <vt:lpstr>Types of Single-Level Ordered Indexes (cont’d.)</vt:lpstr>
      <vt:lpstr>Primary Indexes</vt:lpstr>
      <vt:lpstr>Primary Indexes (cont’d.)</vt:lpstr>
      <vt:lpstr>Primary Indexes (cont’d.)</vt:lpstr>
      <vt:lpstr>Clustering Indexes</vt:lpstr>
      <vt:lpstr>Clustering Indexes (cont’d.)</vt:lpstr>
      <vt:lpstr>Secondary Indexes</vt:lpstr>
      <vt:lpstr>Secondary Indexes (cont’d.)</vt:lpstr>
      <vt:lpstr>Types of Single-Level Ordered Indexes (cont’d.)</vt:lpstr>
      <vt:lpstr>17.2 Multilevel Indexes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subject/>
  <dc:creator>u</dc:creator>
  <cp:keywords/>
  <dc:description/>
  <cp:lastModifiedBy>Mohd. Aquib Ansari</cp:lastModifiedBy>
  <cp:revision>258</cp:revision>
  <cp:lastPrinted>2001-11-04T00:51:13Z</cp:lastPrinted>
  <dcterms:created xsi:type="dcterms:W3CDTF">2005-02-25T19:46:41Z</dcterms:created>
  <dcterms:modified xsi:type="dcterms:W3CDTF">2022-11-09T11:04:27Z</dcterms:modified>
  <cp:category/>
</cp:coreProperties>
</file>