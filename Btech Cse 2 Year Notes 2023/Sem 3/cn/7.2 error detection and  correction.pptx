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38"/>
  </p:notesMasterIdLst>
  <p:handoutMasterIdLst>
    <p:handoutMasterId r:id="rId39"/>
  </p:handoutMasterIdLst>
  <p:sldIdLst>
    <p:sldId id="256" r:id="rId2"/>
    <p:sldId id="266" r:id="rId3"/>
    <p:sldId id="257" r:id="rId4"/>
    <p:sldId id="258" r:id="rId5"/>
    <p:sldId id="267" r:id="rId6"/>
    <p:sldId id="260" r:id="rId7"/>
    <p:sldId id="259" r:id="rId8"/>
    <p:sldId id="268" r:id="rId9"/>
    <p:sldId id="269" r:id="rId10"/>
    <p:sldId id="270" r:id="rId11"/>
    <p:sldId id="261" r:id="rId12"/>
    <p:sldId id="262" r:id="rId13"/>
    <p:sldId id="263" r:id="rId14"/>
    <p:sldId id="271" r:id="rId15"/>
    <p:sldId id="264" r:id="rId16"/>
    <p:sldId id="272" r:id="rId17"/>
    <p:sldId id="265" r:id="rId18"/>
    <p:sldId id="273" r:id="rId19"/>
    <p:sldId id="287" r:id="rId20"/>
    <p:sldId id="274" r:id="rId21"/>
    <p:sldId id="275" r:id="rId22"/>
    <p:sldId id="276" r:id="rId23"/>
    <p:sldId id="277" r:id="rId24"/>
    <p:sldId id="278" r:id="rId25"/>
    <p:sldId id="288" r:id="rId26"/>
    <p:sldId id="289" r:id="rId27"/>
    <p:sldId id="290" r:id="rId28"/>
    <p:sldId id="291" r:id="rId29"/>
    <p:sldId id="292" r:id="rId30"/>
    <p:sldId id="280" r:id="rId31"/>
    <p:sldId id="761" r:id="rId32"/>
    <p:sldId id="842" r:id="rId33"/>
    <p:sldId id="843" r:id="rId34"/>
    <p:sldId id="844" r:id="rId35"/>
    <p:sldId id="845" r:id="rId36"/>
    <p:sldId id="803" r:id="rId37"/>
  </p:sldIdLst>
  <p:sldSz cx="9432925" cy="7200900"/>
  <p:notesSz cx="6858000" cy="9144000"/>
  <p:kinsoku lang="ja-JP" invalStChars="" invalEndChars=""/>
  <p:defaultTextStyle>
    <a:defPPr>
      <a:defRPr lang="en-US"/>
    </a:defPPr>
    <a:lvl1pPr algn="l" rtl="0" eaLnBrk="0" fontAlgn="base" hangingPunct="0">
      <a:spcBef>
        <a:spcPct val="0"/>
      </a:spcBef>
      <a:spcAft>
        <a:spcPct val="0"/>
      </a:spcAft>
      <a:defRPr sz="2500" kern="1200">
        <a:solidFill>
          <a:schemeClr val="tx1"/>
        </a:solidFill>
        <a:latin typeface="Times New Roman" pitchFamily="18" charset="0"/>
        <a:ea typeface="+mn-ea"/>
        <a:cs typeface="+mn-cs"/>
      </a:defRPr>
    </a:lvl1pPr>
    <a:lvl2pPr marL="474663" indent="-17463" algn="l" rtl="0" eaLnBrk="0" fontAlgn="base" hangingPunct="0">
      <a:spcBef>
        <a:spcPct val="0"/>
      </a:spcBef>
      <a:spcAft>
        <a:spcPct val="0"/>
      </a:spcAft>
      <a:defRPr sz="2500" kern="1200">
        <a:solidFill>
          <a:schemeClr val="tx1"/>
        </a:solidFill>
        <a:latin typeface="Times New Roman" pitchFamily="18" charset="0"/>
        <a:ea typeface="+mn-ea"/>
        <a:cs typeface="+mn-cs"/>
      </a:defRPr>
    </a:lvl2pPr>
    <a:lvl3pPr marL="949325" indent="-34925" algn="l" rtl="0" eaLnBrk="0" fontAlgn="base" hangingPunct="0">
      <a:spcBef>
        <a:spcPct val="0"/>
      </a:spcBef>
      <a:spcAft>
        <a:spcPct val="0"/>
      </a:spcAft>
      <a:defRPr sz="2500" kern="1200">
        <a:solidFill>
          <a:schemeClr val="tx1"/>
        </a:solidFill>
        <a:latin typeface="Times New Roman" pitchFamily="18" charset="0"/>
        <a:ea typeface="+mn-ea"/>
        <a:cs typeface="+mn-cs"/>
      </a:defRPr>
    </a:lvl3pPr>
    <a:lvl4pPr marL="1425575" indent="-53975" algn="l" rtl="0" eaLnBrk="0" fontAlgn="base" hangingPunct="0">
      <a:spcBef>
        <a:spcPct val="0"/>
      </a:spcBef>
      <a:spcAft>
        <a:spcPct val="0"/>
      </a:spcAft>
      <a:defRPr sz="2500" kern="1200">
        <a:solidFill>
          <a:schemeClr val="tx1"/>
        </a:solidFill>
        <a:latin typeface="Times New Roman" pitchFamily="18" charset="0"/>
        <a:ea typeface="+mn-ea"/>
        <a:cs typeface="+mn-cs"/>
      </a:defRPr>
    </a:lvl4pPr>
    <a:lvl5pPr marL="1900238" indent="-71438" algn="l" rtl="0" eaLnBrk="0" fontAlgn="base" hangingPunct="0">
      <a:spcBef>
        <a:spcPct val="0"/>
      </a:spcBef>
      <a:spcAft>
        <a:spcPct val="0"/>
      </a:spcAft>
      <a:defRPr sz="2500" kern="1200">
        <a:solidFill>
          <a:schemeClr val="tx1"/>
        </a:solidFill>
        <a:latin typeface="Times New Roman" pitchFamily="18" charset="0"/>
        <a:ea typeface="+mn-ea"/>
        <a:cs typeface="+mn-cs"/>
      </a:defRPr>
    </a:lvl5pPr>
    <a:lvl6pPr marL="2286000" algn="l" defTabSz="914400" rtl="0" eaLnBrk="1" latinLnBrk="0" hangingPunct="1">
      <a:defRPr sz="2500" kern="1200">
        <a:solidFill>
          <a:schemeClr val="tx1"/>
        </a:solidFill>
        <a:latin typeface="Times New Roman" pitchFamily="18" charset="0"/>
        <a:ea typeface="+mn-ea"/>
        <a:cs typeface="+mn-cs"/>
      </a:defRPr>
    </a:lvl6pPr>
    <a:lvl7pPr marL="2743200" algn="l" defTabSz="914400" rtl="0" eaLnBrk="1" latinLnBrk="0" hangingPunct="1">
      <a:defRPr sz="2500" kern="1200">
        <a:solidFill>
          <a:schemeClr val="tx1"/>
        </a:solidFill>
        <a:latin typeface="Times New Roman" pitchFamily="18" charset="0"/>
        <a:ea typeface="+mn-ea"/>
        <a:cs typeface="+mn-cs"/>
      </a:defRPr>
    </a:lvl7pPr>
    <a:lvl8pPr marL="3200400" algn="l" defTabSz="914400" rtl="0" eaLnBrk="1" latinLnBrk="0" hangingPunct="1">
      <a:defRPr sz="2500" kern="1200">
        <a:solidFill>
          <a:schemeClr val="tx1"/>
        </a:solidFill>
        <a:latin typeface="Times New Roman" pitchFamily="18" charset="0"/>
        <a:ea typeface="+mn-ea"/>
        <a:cs typeface="+mn-cs"/>
      </a:defRPr>
    </a:lvl8pPr>
    <a:lvl9pPr marL="3657600" algn="l" defTabSz="914400" rtl="0" eaLnBrk="1" latinLnBrk="0" hangingPunct="1">
      <a:defRPr sz="25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68">
          <p15:clr>
            <a:srgbClr val="A4A3A4"/>
          </p15:clr>
        </p15:guide>
        <p15:guide id="2" pos="297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9900CC"/>
    <a:srgbClr val="D60093"/>
    <a:srgbClr val="063DE8"/>
    <a:srgbClr val="A3F25F"/>
    <a:srgbClr val="114FFB"/>
    <a:srgbClr val="FAFD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76" y="72"/>
      </p:cViewPr>
      <p:guideLst>
        <p:guide orient="horz" pos="2268"/>
        <p:guide pos="2971"/>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8915" name="Rectangle 3"/>
          <p:cNvSpPr>
            <a:spLocks noGrp="1" noRot="1" noChangeAspect="1" noChangeArrowheads="1" noTextEdit="1"/>
          </p:cNvSpPr>
          <p:nvPr>
            <p:ph type="sldImg" idx="2"/>
          </p:nvPr>
        </p:nvSpPr>
        <p:spPr bwMode="auto">
          <a:xfrm>
            <a:off x="1190625" y="692150"/>
            <a:ext cx="4476750" cy="3416300"/>
          </a:xfrm>
          <a:prstGeom prst="rect">
            <a:avLst/>
          </a:prstGeom>
          <a:noFill/>
          <a:ln w="12700">
            <a:solidFill>
              <a:schemeClr val="tx1"/>
            </a:solidFill>
            <a:miter lim="800000"/>
            <a:headEnd/>
            <a:tailEnd/>
          </a:ln>
          <a:effec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4663"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9325"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5575"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900238"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376068" algn="l" defTabSz="950427" rtl="0" eaLnBrk="1" latinLnBrk="0" hangingPunct="1">
      <a:defRPr sz="1200" kern="1200">
        <a:solidFill>
          <a:schemeClr val="tx1"/>
        </a:solidFill>
        <a:latin typeface="+mn-lt"/>
        <a:ea typeface="+mn-ea"/>
        <a:cs typeface="+mn-cs"/>
      </a:defRPr>
    </a:lvl6pPr>
    <a:lvl7pPr marL="2851282" algn="l" defTabSz="950427" rtl="0" eaLnBrk="1" latinLnBrk="0" hangingPunct="1">
      <a:defRPr sz="1200" kern="1200">
        <a:solidFill>
          <a:schemeClr val="tx1"/>
        </a:solidFill>
        <a:latin typeface="+mn-lt"/>
        <a:ea typeface="+mn-ea"/>
        <a:cs typeface="+mn-cs"/>
      </a:defRPr>
    </a:lvl7pPr>
    <a:lvl8pPr marL="3326496" algn="l" defTabSz="950427" rtl="0" eaLnBrk="1" latinLnBrk="0" hangingPunct="1">
      <a:defRPr sz="1200" kern="1200">
        <a:solidFill>
          <a:schemeClr val="tx1"/>
        </a:solidFill>
        <a:latin typeface="+mn-lt"/>
        <a:ea typeface="+mn-ea"/>
        <a:cs typeface="+mn-cs"/>
      </a:defRPr>
    </a:lvl8pPr>
    <a:lvl9pPr marL="3801709" algn="l" defTabSz="95042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p:spPr>
        <p:txBody>
          <a:bodyPr/>
          <a:lstStyle/>
          <a:p>
            <a:r>
              <a:rPr lang="en-US"/>
              <a:t>Make sense of message. </a:t>
            </a:r>
          </a:p>
          <a:p>
            <a:r>
              <a:rPr lang="en-US"/>
              <a:t>Make sense of message. </a:t>
            </a:r>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6F602F06-9140-43BC-963D-6ECC23FFDB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26DB904-C4CD-4E06-B342-12EA368CE350}" type="slidenum">
              <a:rPr lang="en-US" altLang="en-US" sz="1200" b="0">
                <a:latin typeface="Times New Roman" panose="02020603050405020304" pitchFamily="18" charset="0"/>
              </a:rPr>
              <a:pPr/>
              <a:t>31</a:t>
            </a:fld>
            <a:endParaRPr lang="en-US" altLang="en-US" sz="1200" b="0">
              <a:latin typeface="Times New Roman" panose="02020603050405020304" pitchFamily="18" charset="0"/>
            </a:endParaRPr>
          </a:p>
        </p:txBody>
      </p:sp>
      <p:sp>
        <p:nvSpPr>
          <p:cNvPr id="106499" name="Rectangle 2">
            <a:extLst>
              <a:ext uri="{FF2B5EF4-FFF2-40B4-BE49-F238E27FC236}">
                <a16:creationId xmlns:a16="http://schemas.microsoft.com/office/drawing/2014/main" id="{A34A57C5-E4AF-4D0E-A24D-C16FD3960818}"/>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65ED79ED-D662-4331-9FCF-E4B13608D8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8BF5C800-71EE-4A9F-BC41-73480D22C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0321058-6A6C-4253-A7AD-D468183FF5D8}" type="slidenum">
              <a:rPr lang="en-US" altLang="en-US" sz="1200" b="0">
                <a:latin typeface="Times New Roman" panose="02020603050405020304" pitchFamily="18" charset="0"/>
              </a:rPr>
              <a:pPr/>
              <a:t>36</a:t>
            </a:fld>
            <a:endParaRPr lang="en-US" altLang="en-US" sz="1200" b="0">
              <a:latin typeface="Times New Roman" panose="02020603050405020304" pitchFamily="18" charset="0"/>
            </a:endParaRPr>
          </a:p>
        </p:txBody>
      </p:sp>
      <p:sp>
        <p:nvSpPr>
          <p:cNvPr id="107523" name="Rectangle 2">
            <a:extLst>
              <a:ext uri="{FF2B5EF4-FFF2-40B4-BE49-F238E27FC236}">
                <a16:creationId xmlns:a16="http://schemas.microsoft.com/office/drawing/2014/main" id="{C9C162DF-BC83-4949-B33E-F55B0B0360FE}"/>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4372C030-E8FA-4C85-BECA-565F76020A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78854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07470" y="2236947"/>
            <a:ext cx="8017986" cy="1543526"/>
          </a:xfrm>
        </p:spPr>
        <p:txBody>
          <a:bodyPr/>
          <a:lstStyle/>
          <a:p>
            <a:r>
              <a:rPr lang="en-US"/>
              <a:t>Click to edit Master title style</a:t>
            </a:r>
          </a:p>
        </p:txBody>
      </p:sp>
      <p:sp>
        <p:nvSpPr>
          <p:cNvPr id="3" name="Subtitle 2"/>
          <p:cNvSpPr>
            <a:spLocks noGrp="1"/>
          </p:cNvSpPr>
          <p:nvPr>
            <p:ph type="subTitle" idx="1"/>
          </p:nvPr>
        </p:nvSpPr>
        <p:spPr>
          <a:xfrm>
            <a:off x="1414939" y="4080510"/>
            <a:ext cx="6603048" cy="1840230"/>
          </a:xfrm>
        </p:spPr>
        <p:txBody>
          <a:bodyPr/>
          <a:lstStyle>
            <a:lvl1pPr marL="0" indent="0" algn="ctr">
              <a:buNone/>
              <a:defRPr/>
            </a:lvl1pPr>
            <a:lvl2pPr marL="475214" indent="0" algn="ctr">
              <a:buNone/>
              <a:defRPr/>
            </a:lvl2pPr>
            <a:lvl3pPr marL="950427" indent="0" algn="ctr">
              <a:buNone/>
              <a:defRPr/>
            </a:lvl3pPr>
            <a:lvl4pPr marL="1425641" indent="0" algn="ctr">
              <a:buNone/>
              <a:defRPr/>
            </a:lvl4pPr>
            <a:lvl5pPr marL="1900855" indent="0" algn="ctr">
              <a:buNone/>
              <a:defRPr/>
            </a:lvl5pPr>
            <a:lvl6pPr marL="2376068" indent="0" algn="ctr">
              <a:buNone/>
              <a:defRPr/>
            </a:lvl6pPr>
            <a:lvl7pPr marL="2851282" indent="0" algn="ctr">
              <a:buNone/>
              <a:defRPr/>
            </a:lvl7pPr>
            <a:lvl8pPr marL="3326496" indent="0" algn="ctr">
              <a:buNone/>
              <a:defRPr/>
            </a:lvl8pPr>
            <a:lvl9pPr marL="3801709"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5136" y="4627245"/>
            <a:ext cx="8017986" cy="1430179"/>
          </a:xfrm>
        </p:spPr>
        <p:txBody>
          <a:bodyPr anchor="t"/>
          <a:lstStyle>
            <a:lvl1pPr algn="l">
              <a:defRPr sz="4200" b="1" cap="all"/>
            </a:lvl1pPr>
          </a:lstStyle>
          <a:p>
            <a:r>
              <a:rPr lang="en-US"/>
              <a:t>Click to edit Master title style</a:t>
            </a:r>
          </a:p>
        </p:txBody>
      </p:sp>
      <p:sp>
        <p:nvSpPr>
          <p:cNvPr id="3" name="Text Placeholder 2"/>
          <p:cNvSpPr>
            <a:spLocks noGrp="1"/>
          </p:cNvSpPr>
          <p:nvPr>
            <p:ph type="body" idx="1"/>
          </p:nvPr>
        </p:nvSpPr>
        <p:spPr>
          <a:xfrm>
            <a:off x="745136" y="3052049"/>
            <a:ext cx="8017986" cy="1575196"/>
          </a:xfrm>
        </p:spPr>
        <p:txBody>
          <a:bodyPr anchor="b"/>
          <a:lstStyle>
            <a:lvl1pPr marL="0" indent="0">
              <a:buNone/>
              <a:defRPr sz="2100"/>
            </a:lvl1pPr>
            <a:lvl2pPr marL="475214" indent="0">
              <a:buNone/>
              <a:defRPr sz="1900"/>
            </a:lvl2pPr>
            <a:lvl3pPr marL="950427" indent="0">
              <a:buNone/>
              <a:defRPr sz="1700"/>
            </a:lvl3pPr>
            <a:lvl4pPr marL="1425641" indent="0">
              <a:buNone/>
              <a:defRPr sz="1500"/>
            </a:lvl4pPr>
            <a:lvl5pPr marL="1900855" indent="0">
              <a:buNone/>
              <a:defRPr sz="1500"/>
            </a:lvl5pPr>
            <a:lvl6pPr marL="2376068" indent="0">
              <a:buNone/>
              <a:defRPr sz="1500"/>
            </a:lvl6pPr>
            <a:lvl7pPr marL="2851282" indent="0">
              <a:buNone/>
              <a:defRPr sz="1500"/>
            </a:lvl7pPr>
            <a:lvl8pPr marL="3326496" indent="0">
              <a:buNone/>
              <a:defRPr sz="1500"/>
            </a:lvl8pPr>
            <a:lvl9pPr marL="3801709" indent="0">
              <a:buNone/>
              <a:defRPr sz="15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470" y="2080260"/>
            <a:ext cx="3930385" cy="4320540"/>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95070" y="2080260"/>
            <a:ext cx="3930385" cy="4320540"/>
          </a:xfrm>
        </p:spPr>
        <p:txBody>
          <a:bodyPr/>
          <a:lstStyle>
            <a:lvl1pPr>
              <a:defRPr sz="2900"/>
            </a:lvl1pPr>
            <a:lvl2pPr>
              <a:defRPr sz="25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1646" y="288370"/>
            <a:ext cx="8489633" cy="12001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71646" y="1611869"/>
            <a:ext cx="4167847" cy="671750"/>
          </a:xfrm>
        </p:spPr>
        <p:txBody>
          <a:bodyPr anchor="b"/>
          <a:lstStyle>
            <a:lvl1pPr marL="0" indent="0">
              <a:buNone/>
              <a:defRPr sz="2500" b="1"/>
            </a:lvl1pPr>
            <a:lvl2pPr marL="475214" indent="0">
              <a:buNone/>
              <a:defRPr sz="2100" b="1"/>
            </a:lvl2pPr>
            <a:lvl3pPr marL="950427" indent="0">
              <a:buNone/>
              <a:defRPr sz="1900" b="1"/>
            </a:lvl3pPr>
            <a:lvl4pPr marL="1425641" indent="0">
              <a:buNone/>
              <a:defRPr sz="1700" b="1"/>
            </a:lvl4pPr>
            <a:lvl5pPr marL="1900855" indent="0">
              <a:buNone/>
              <a:defRPr sz="1700" b="1"/>
            </a:lvl5pPr>
            <a:lvl6pPr marL="2376068" indent="0">
              <a:buNone/>
              <a:defRPr sz="1700" b="1"/>
            </a:lvl6pPr>
            <a:lvl7pPr marL="2851282" indent="0">
              <a:buNone/>
              <a:defRPr sz="1700" b="1"/>
            </a:lvl7pPr>
            <a:lvl8pPr marL="3326496" indent="0">
              <a:buNone/>
              <a:defRPr sz="1700" b="1"/>
            </a:lvl8pPr>
            <a:lvl9pPr marL="3801709" indent="0">
              <a:buNone/>
              <a:defRPr sz="1700" b="1"/>
            </a:lvl9pPr>
          </a:lstStyle>
          <a:p>
            <a:pPr lvl="0"/>
            <a:r>
              <a:rPr lang="en-US"/>
              <a:t>Click to edit Master text styles</a:t>
            </a:r>
          </a:p>
        </p:txBody>
      </p:sp>
      <p:sp>
        <p:nvSpPr>
          <p:cNvPr id="4" name="Content Placeholder 3"/>
          <p:cNvSpPr>
            <a:spLocks noGrp="1"/>
          </p:cNvSpPr>
          <p:nvPr>
            <p:ph sz="half" idx="2"/>
          </p:nvPr>
        </p:nvSpPr>
        <p:spPr>
          <a:xfrm>
            <a:off x="471646" y="2283619"/>
            <a:ext cx="4167847" cy="4148852"/>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91795" y="1611869"/>
            <a:ext cx="4169484" cy="671750"/>
          </a:xfrm>
        </p:spPr>
        <p:txBody>
          <a:bodyPr anchor="b"/>
          <a:lstStyle>
            <a:lvl1pPr marL="0" indent="0">
              <a:buNone/>
              <a:defRPr sz="2500" b="1"/>
            </a:lvl1pPr>
            <a:lvl2pPr marL="475214" indent="0">
              <a:buNone/>
              <a:defRPr sz="2100" b="1"/>
            </a:lvl2pPr>
            <a:lvl3pPr marL="950427" indent="0">
              <a:buNone/>
              <a:defRPr sz="1900" b="1"/>
            </a:lvl3pPr>
            <a:lvl4pPr marL="1425641" indent="0">
              <a:buNone/>
              <a:defRPr sz="1700" b="1"/>
            </a:lvl4pPr>
            <a:lvl5pPr marL="1900855" indent="0">
              <a:buNone/>
              <a:defRPr sz="1700" b="1"/>
            </a:lvl5pPr>
            <a:lvl6pPr marL="2376068" indent="0">
              <a:buNone/>
              <a:defRPr sz="1700" b="1"/>
            </a:lvl6pPr>
            <a:lvl7pPr marL="2851282" indent="0">
              <a:buNone/>
              <a:defRPr sz="1700" b="1"/>
            </a:lvl7pPr>
            <a:lvl8pPr marL="3326496" indent="0">
              <a:buNone/>
              <a:defRPr sz="1700" b="1"/>
            </a:lvl8pPr>
            <a:lvl9pPr marL="3801709" indent="0">
              <a:buNone/>
              <a:defRPr sz="1700" b="1"/>
            </a:lvl9pPr>
          </a:lstStyle>
          <a:p>
            <a:pPr lvl="0"/>
            <a:r>
              <a:rPr lang="en-US"/>
              <a:t>Click to edit Master text styles</a:t>
            </a:r>
          </a:p>
        </p:txBody>
      </p:sp>
      <p:sp>
        <p:nvSpPr>
          <p:cNvPr id="6" name="Content Placeholder 5"/>
          <p:cNvSpPr>
            <a:spLocks noGrp="1"/>
          </p:cNvSpPr>
          <p:nvPr>
            <p:ph sz="quarter" idx="4"/>
          </p:nvPr>
        </p:nvSpPr>
        <p:spPr>
          <a:xfrm>
            <a:off x="4791795" y="2283619"/>
            <a:ext cx="4169484" cy="4148852"/>
          </a:xfrm>
        </p:spPr>
        <p:txBody>
          <a:bodyPr/>
          <a:lstStyle>
            <a:lvl1pPr>
              <a:defRPr sz="25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1647" y="286702"/>
            <a:ext cx="3103367" cy="122015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3688012" y="286703"/>
            <a:ext cx="5273267" cy="6145769"/>
          </a:xfrm>
        </p:spPr>
        <p:txBody>
          <a:bodyPr/>
          <a:lstStyle>
            <a:lvl1pPr>
              <a:defRPr sz="3300"/>
            </a:lvl1pPr>
            <a:lvl2pPr>
              <a:defRPr sz="2900"/>
            </a:lvl2pPr>
            <a:lvl3pPr>
              <a:defRPr sz="25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1647" y="1506856"/>
            <a:ext cx="3103367" cy="4925616"/>
          </a:xfrm>
        </p:spPr>
        <p:txBody>
          <a:bodyPr/>
          <a:lstStyle>
            <a:lvl1pPr marL="0" indent="0">
              <a:buNone/>
              <a:defRPr sz="1500"/>
            </a:lvl1pPr>
            <a:lvl2pPr marL="475214" indent="0">
              <a:buNone/>
              <a:defRPr sz="1200"/>
            </a:lvl2pPr>
            <a:lvl3pPr marL="950427" indent="0">
              <a:buNone/>
              <a:defRPr sz="1000"/>
            </a:lvl3pPr>
            <a:lvl4pPr marL="1425641" indent="0">
              <a:buNone/>
              <a:defRPr sz="900"/>
            </a:lvl4pPr>
            <a:lvl5pPr marL="1900855" indent="0">
              <a:buNone/>
              <a:defRPr sz="900"/>
            </a:lvl5pPr>
            <a:lvl6pPr marL="2376068" indent="0">
              <a:buNone/>
              <a:defRPr sz="900"/>
            </a:lvl6pPr>
            <a:lvl7pPr marL="2851282" indent="0">
              <a:buNone/>
              <a:defRPr sz="900"/>
            </a:lvl7pPr>
            <a:lvl8pPr marL="3326496" indent="0">
              <a:buNone/>
              <a:defRPr sz="900"/>
            </a:lvl8pPr>
            <a:lvl9pPr marL="3801709"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48919" y="5040630"/>
            <a:ext cx="5659755" cy="5950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1848919" y="643414"/>
            <a:ext cx="5659755" cy="4320540"/>
          </a:xfrm>
        </p:spPr>
        <p:txBody>
          <a:bodyPr/>
          <a:lstStyle>
            <a:lvl1pPr marL="0" indent="0">
              <a:buNone/>
              <a:defRPr sz="3300"/>
            </a:lvl1pPr>
            <a:lvl2pPr marL="475214" indent="0">
              <a:buNone/>
              <a:defRPr sz="2900"/>
            </a:lvl2pPr>
            <a:lvl3pPr marL="950427" indent="0">
              <a:buNone/>
              <a:defRPr sz="2500"/>
            </a:lvl3pPr>
            <a:lvl4pPr marL="1425641" indent="0">
              <a:buNone/>
              <a:defRPr sz="2100"/>
            </a:lvl4pPr>
            <a:lvl5pPr marL="1900855" indent="0">
              <a:buNone/>
              <a:defRPr sz="2100"/>
            </a:lvl5pPr>
            <a:lvl6pPr marL="2376068" indent="0">
              <a:buNone/>
              <a:defRPr sz="2100"/>
            </a:lvl6pPr>
            <a:lvl7pPr marL="2851282" indent="0">
              <a:buNone/>
              <a:defRPr sz="2100"/>
            </a:lvl7pPr>
            <a:lvl8pPr marL="3326496" indent="0">
              <a:buNone/>
              <a:defRPr sz="2100"/>
            </a:lvl8pPr>
            <a:lvl9pPr marL="3801709" indent="0">
              <a:buNone/>
              <a:defRPr sz="2100"/>
            </a:lvl9pPr>
          </a:lstStyle>
          <a:p>
            <a:pPr lvl="0"/>
            <a:endParaRPr lang="en-US" noProof="0"/>
          </a:p>
        </p:txBody>
      </p:sp>
      <p:sp>
        <p:nvSpPr>
          <p:cNvPr id="4" name="Text Placeholder 3"/>
          <p:cNvSpPr>
            <a:spLocks noGrp="1"/>
          </p:cNvSpPr>
          <p:nvPr>
            <p:ph type="body" sz="half" idx="2"/>
          </p:nvPr>
        </p:nvSpPr>
        <p:spPr>
          <a:xfrm>
            <a:off x="1848919" y="5635705"/>
            <a:ext cx="5659755" cy="845105"/>
          </a:xfrm>
        </p:spPr>
        <p:txBody>
          <a:bodyPr/>
          <a:lstStyle>
            <a:lvl1pPr marL="0" indent="0">
              <a:buNone/>
              <a:defRPr sz="1500"/>
            </a:lvl1pPr>
            <a:lvl2pPr marL="475214" indent="0">
              <a:buNone/>
              <a:defRPr sz="1200"/>
            </a:lvl2pPr>
            <a:lvl3pPr marL="950427" indent="0">
              <a:buNone/>
              <a:defRPr sz="1000"/>
            </a:lvl3pPr>
            <a:lvl4pPr marL="1425641" indent="0">
              <a:buNone/>
              <a:defRPr sz="900"/>
            </a:lvl4pPr>
            <a:lvl5pPr marL="1900855" indent="0">
              <a:buNone/>
              <a:defRPr sz="900"/>
            </a:lvl5pPr>
            <a:lvl6pPr marL="2376068" indent="0">
              <a:buNone/>
              <a:defRPr sz="900"/>
            </a:lvl6pPr>
            <a:lvl7pPr marL="2851282" indent="0">
              <a:buNone/>
              <a:defRPr sz="900"/>
            </a:lvl7pPr>
            <a:lvl8pPr marL="3326496" indent="0">
              <a:buNone/>
              <a:defRPr sz="900"/>
            </a:lvl8pPr>
            <a:lvl9pPr marL="3801709"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0959" y="640080"/>
            <a:ext cx="2004497" cy="57607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470" y="640080"/>
            <a:ext cx="5856274" cy="5760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07470" y="640080"/>
            <a:ext cx="8017986" cy="1200150"/>
          </a:xfrm>
        </p:spPr>
        <p:txBody>
          <a:bodyPr/>
          <a:lstStyle/>
          <a:p>
            <a:r>
              <a:rPr lang="en-US"/>
              <a:t>Click to edit Master title style</a:t>
            </a:r>
          </a:p>
        </p:txBody>
      </p:sp>
      <p:sp>
        <p:nvSpPr>
          <p:cNvPr id="3" name="Text Placeholder 2"/>
          <p:cNvSpPr>
            <a:spLocks noGrp="1"/>
          </p:cNvSpPr>
          <p:nvPr>
            <p:ph type="body" sz="half" idx="1"/>
          </p:nvPr>
        </p:nvSpPr>
        <p:spPr>
          <a:xfrm>
            <a:off x="707470" y="2080260"/>
            <a:ext cx="8017986" cy="20802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07470" y="4320540"/>
            <a:ext cx="8017986" cy="20802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08025" y="639763"/>
            <a:ext cx="8016875" cy="1200150"/>
          </a:xfrm>
          <a:prstGeom prst="rect">
            <a:avLst/>
          </a:prstGeom>
          <a:noFill/>
          <a:ln w="12700">
            <a:noFill/>
            <a:miter lim="800000"/>
            <a:headEnd/>
            <a:tailEnd/>
          </a:ln>
          <a:effectLst/>
        </p:spPr>
        <p:txBody>
          <a:bodyPr vert="horz" wrap="square" lIns="94053" tIns="46201" rIns="94053" bIns="46201"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08025" y="2079625"/>
            <a:ext cx="8016875" cy="4321175"/>
          </a:xfrm>
          <a:prstGeom prst="rect">
            <a:avLst/>
          </a:prstGeom>
          <a:noFill/>
          <a:ln w="12700">
            <a:noFill/>
            <a:miter lim="800000"/>
            <a:headEnd/>
            <a:tailEnd/>
          </a:ln>
          <a:effectLst/>
        </p:spPr>
        <p:txBody>
          <a:bodyPr vert="horz" wrap="square" lIns="94053" tIns="46201" rIns="94053" bIns="4620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600">
          <a:solidFill>
            <a:schemeClr val="tx2"/>
          </a:solidFill>
          <a:latin typeface="+mj-lt"/>
          <a:ea typeface="+mj-ea"/>
          <a:cs typeface="+mj-cs"/>
        </a:defRPr>
      </a:lvl1pPr>
      <a:lvl2pPr algn="ctr" rtl="0" eaLnBrk="0" fontAlgn="base" hangingPunct="0">
        <a:spcBef>
          <a:spcPct val="0"/>
        </a:spcBef>
        <a:spcAft>
          <a:spcPct val="0"/>
        </a:spcAft>
        <a:defRPr sz="4600">
          <a:solidFill>
            <a:schemeClr val="tx2"/>
          </a:solidFill>
          <a:latin typeface="Times New Roman" pitchFamily="18" charset="0"/>
        </a:defRPr>
      </a:lvl2pPr>
      <a:lvl3pPr algn="ctr" rtl="0" eaLnBrk="0" fontAlgn="base" hangingPunct="0">
        <a:spcBef>
          <a:spcPct val="0"/>
        </a:spcBef>
        <a:spcAft>
          <a:spcPct val="0"/>
        </a:spcAft>
        <a:defRPr sz="4600">
          <a:solidFill>
            <a:schemeClr val="tx2"/>
          </a:solidFill>
          <a:latin typeface="Times New Roman" pitchFamily="18" charset="0"/>
        </a:defRPr>
      </a:lvl3pPr>
      <a:lvl4pPr algn="ctr" rtl="0" eaLnBrk="0" fontAlgn="base" hangingPunct="0">
        <a:spcBef>
          <a:spcPct val="0"/>
        </a:spcBef>
        <a:spcAft>
          <a:spcPct val="0"/>
        </a:spcAft>
        <a:defRPr sz="4600">
          <a:solidFill>
            <a:schemeClr val="tx2"/>
          </a:solidFill>
          <a:latin typeface="Times New Roman" pitchFamily="18" charset="0"/>
        </a:defRPr>
      </a:lvl4pPr>
      <a:lvl5pPr algn="ctr" rtl="0" eaLnBrk="0" fontAlgn="base" hangingPunct="0">
        <a:spcBef>
          <a:spcPct val="0"/>
        </a:spcBef>
        <a:spcAft>
          <a:spcPct val="0"/>
        </a:spcAft>
        <a:defRPr sz="4600">
          <a:solidFill>
            <a:schemeClr val="tx2"/>
          </a:solidFill>
          <a:latin typeface="Times New Roman" pitchFamily="18" charset="0"/>
        </a:defRPr>
      </a:lvl5pPr>
      <a:lvl6pPr marL="475214" algn="ctr" rtl="0" eaLnBrk="0" fontAlgn="base" hangingPunct="0">
        <a:spcBef>
          <a:spcPct val="0"/>
        </a:spcBef>
        <a:spcAft>
          <a:spcPct val="0"/>
        </a:spcAft>
        <a:defRPr sz="4600">
          <a:solidFill>
            <a:schemeClr val="tx2"/>
          </a:solidFill>
          <a:latin typeface="Times New Roman" pitchFamily="18" charset="0"/>
        </a:defRPr>
      </a:lvl6pPr>
      <a:lvl7pPr marL="950427" algn="ctr" rtl="0" eaLnBrk="0" fontAlgn="base" hangingPunct="0">
        <a:spcBef>
          <a:spcPct val="0"/>
        </a:spcBef>
        <a:spcAft>
          <a:spcPct val="0"/>
        </a:spcAft>
        <a:defRPr sz="4600">
          <a:solidFill>
            <a:schemeClr val="tx2"/>
          </a:solidFill>
          <a:latin typeface="Times New Roman" pitchFamily="18" charset="0"/>
        </a:defRPr>
      </a:lvl7pPr>
      <a:lvl8pPr marL="1425641" algn="ctr" rtl="0" eaLnBrk="0" fontAlgn="base" hangingPunct="0">
        <a:spcBef>
          <a:spcPct val="0"/>
        </a:spcBef>
        <a:spcAft>
          <a:spcPct val="0"/>
        </a:spcAft>
        <a:defRPr sz="4600">
          <a:solidFill>
            <a:schemeClr val="tx2"/>
          </a:solidFill>
          <a:latin typeface="Times New Roman" pitchFamily="18" charset="0"/>
        </a:defRPr>
      </a:lvl8pPr>
      <a:lvl9pPr marL="1900855" algn="ctr" rtl="0" eaLnBrk="0" fontAlgn="base" hangingPunct="0">
        <a:spcBef>
          <a:spcPct val="0"/>
        </a:spcBef>
        <a:spcAft>
          <a:spcPct val="0"/>
        </a:spcAft>
        <a:defRPr sz="4600">
          <a:solidFill>
            <a:schemeClr val="tx2"/>
          </a:solidFill>
          <a:latin typeface="Times New Roman" pitchFamily="18" charset="0"/>
        </a:defRPr>
      </a:lvl9pPr>
    </p:titleStyle>
    <p:bodyStyle>
      <a:lvl1pPr marL="355600" indent="-355600" algn="l" rtl="0" eaLnBrk="0" fontAlgn="base" hangingPunct="0">
        <a:spcBef>
          <a:spcPct val="20000"/>
        </a:spcBef>
        <a:spcAft>
          <a:spcPct val="0"/>
        </a:spcAft>
        <a:buSzPct val="100000"/>
        <a:buChar char="•"/>
        <a:defRPr sz="3300">
          <a:solidFill>
            <a:schemeClr val="tx1"/>
          </a:solidFill>
          <a:latin typeface="+mn-lt"/>
          <a:ea typeface="+mn-ea"/>
          <a:cs typeface="+mn-cs"/>
        </a:defRPr>
      </a:lvl1pPr>
      <a:lvl2pPr marL="771525" indent="-296863" algn="l" rtl="0" eaLnBrk="0" fontAlgn="base" hangingPunct="0">
        <a:spcBef>
          <a:spcPct val="20000"/>
        </a:spcBef>
        <a:spcAft>
          <a:spcPct val="0"/>
        </a:spcAft>
        <a:buSzPct val="100000"/>
        <a:buChar char="–"/>
        <a:defRPr sz="2900">
          <a:solidFill>
            <a:schemeClr val="tx1"/>
          </a:solidFill>
          <a:latin typeface="+mn-lt"/>
        </a:defRPr>
      </a:lvl2pPr>
      <a:lvl3pPr marL="1187450" indent="-236538" algn="l" rtl="0" eaLnBrk="0" fontAlgn="base" hangingPunct="0">
        <a:spcBef>
          <a:spcPct val="20000"/>
        </a:spcBef>
        <a:spcAft>
          <a:spcPct val="0"/>
        </a:spcAft>
        <a:buSzPct val="100000"/>
        <a:buChar char="•"/>
        <a:defRPr sz="2500">
          <a:solidFill>
            <a:schemeClr val="tx1"/>
          </a:solidFill>
          <a:latin typeface="+mn-lt"/>
        </a:defRPr>
      </a:lvl3pPr>
      <a:lvl4pPr marL="1662113" indent="-236538" algn="l" rtl="0" eaLnBrk="0" fontAlgn="base" hangingPunct="0">
        <a:spcBef>
          <a:spcPct val="20000"/>
        </a:spcBef>
        <a:spcAft>
          <a:spcPct val="0"/>
        </a:spcAft>
        <a:buSzPct val="100000"/>
        <a:buChar char="–"/>
        <a:defRPr sz="2100">
          <a:solidFill>
            <a:schemeClr val="tx1"/>
          </a:solidFill>
          <a:latin typeface="+mn-lt"/>
        </a:defRPr>
      </a:lvl4pPr>
      <a:lvl5pPr marL="2138363" indent="-236538" algn="l" rtl="0" eaLnBrk="0" fontAlgn="base" hangingPunct="0">
        <a:spcBef>
          <a:spcPct val="20000"/>
        </a:spcBef>
        <a:spcAft>
          <a:spcPct val="0"/>
        </a:spcAft>
        <a:buSzPct val="100000"/>
        <a:buChar char="•"/>
        <a:defRPr sz="2100">
          <a:solidFill>
            <a:schemeClr val="tx1"/>
          </a:solidFill>
          <a:latin typeface="+mn-lt"/>
        </a:defRPr>
      </a:lvl5pPr>
      <a:lvl6pPr marL="2613675" indent="-237607" algn="l" rtl="0" eaLnBrk="0" fontAlgn="base" hangingPunct="0">
        <a:spcBef>
          <a:spcPct val="20000"/>
        </a:spcBef>
        <a:spcAft>
          <a:spcPct val="0"/>
        </a:spcAft>
        <a:buSzPct val="100000"/>
        <a:buChar char="•"/>
        <a:defRPr sz="2100">
          <a:solidFill>
            <a:schemeClr val="tx1"/>
          </a:solidFill>
          <a:latin typeface="+mn-lt"/>
        </a:defRPr>
      </a:lvl6pPr>
      <a:lvl7pPr marL="3088889" indent="-237607" algn="l" rtl="0" eaLnBrk="0" fontAlgn="base" hangingPunct="0">
        <a:spcBef>
          <a:spcPct val="20000"/>
        </a:spcBef>
        <a:spcAft>
          <a:spcPct val="0"/>
        </a:spcAft>
        <a:buSzPct val="100000"/>
        <a:buChar char="•"/>
        <a:defRPr sz="2100">
          <a:solidFill>
            <a:schemeClr val="tx1"/>
          </a:solidFill>
          <a:latin typeface="+mn-lt"/>
        </a:defRPr>
      </a:lvl7pPr>
      <a:lvl8pPr marL="3564103" indent="-237607" algn="l" rtl="0" eaLnBrk="0" fontAlgn="base" hangingPunct="0">
        <a:spcBef>
          <a:spcPct val="20000"/>
        </a:spcBef>
        <a:spcAft>
          <a:spcPct val="0"/>
        </a:spcAft>
        <a:buSzPct val="100000"/>
        <a:buChar char="•"/>
        <a:defRPr sz="2100">
          <a:solidFill>
            <a:schemeClr val="tx1"/>
          </a:solidFill>
          <a:latin typeface="+mn-lt"/>
        </a:defRPr>
      </a:lvl8pPr>
      <a:lvl9pPr marL="4039316" indent="-237607" algn="l" rtl="0" eaLnBrk="0" fontAlgn="base" hangingPunct="0">
        <a:spcBef>
          <a:spcPct val="20000"/>
        </a:spcBef>
        <a:spcAft>
          <a:spcPct val="0"/>
        </a:spcAft>
        <a:buSzPct val="100000"/>
        <a:buChar char="•"/>
        <a:defRPr sz="2100">
          <a:solidFill>
            <a:schemeClr val="tx1"/>
          </a:solidFill>
          <a:latin typeface="+mn-lt"/>
        </a:defRPr>
      </a:lvl9pPr>
    </p:bodyStyle>
    <p:otherStyle>
      <a:defPPr>
        <a:defRPr lang="en-US"/>
      </a:defPPr>
      <a:lvl1pPr marL="0" algn="l" defTabSz="950427" rtl="0" eaLnBrk="1" latinLnBrk="0" hangingPunct="1">
        <a:defRPr sz="1900" kern="1200">
          <a:solidFill>
            <a:schemeClr val="tx1"/>
          </a:solidFill>
          <a:latin typeface="+mn-lt"/>
          <a:ea typeface="+mn-ea"/>
          <a:cs typeface="+mn-cs"/>
        </a:defRPr>
      </a:lvl1pPr>
      <a:lvl2pPr marL="475214" algn="l" defTabSz="950427" rtl="0" eaLnBrk="1" latinLnBrk="0" hangingPunct="1">
        <a:defRPr sz="1900" kern="1200">
          <a:solidFill>
            <a:schemeClr val="tx1"/>
          </a:solidFill>
          <a:latin typeface="+mn-lt"/>
          <a:ea typeface="+mn-ea"/>
          <a:cs typeface="+mn-cs"/>
        </a:defRPr>
      </a:lvl2pPr>
      <a:lvl3pPr marL="950427" algn="l" defTabSz="950427" rtl="0" eaLnBrk="1" latinLnBrk="0" hangingPunct="1">
        <a:defRPr sz="1900" kern="1200">
          <a:solidFill>
            <a:schemeClr val="tx1"/>
          </a:solidFill>
          <a:latin typeface="+mn-lt"/>
          <a:ea typeface="+mn-ea"/>
          <a:cs typeface="+mn-cs"/>
        </a:defRPr>
      </a:lvl3pPr>
      <a:lvl4pPr marL="1425641" algn="l" defTabSz="950427" rtl="0" eaLnBrk="1" latinLnBrk="0" hangingPunct="1">
        <a:defRPr sz="1900" kern="1200">
          <a:solidFill>
            <a:schemeClr val="tx1"/>
          </a:solidFill>
          <a:latin typeface="+mn-lt"/>
          <a:ea typeface="+mn-ea"/>
          <a:cs typeface="+mn-cs"/>
        </a:defRPr>
      </a:lvl4pPr>
      <a:lvl5pPr marL="1900855" algn="l" defTabSz="950427" rtl="0" eaLnBrk="1" latinLnBrk="0" hangingPunct="1">
        <a:defRPr sz="1900" kern="1200">
          <a:solidFill>
            <a:schemeClr val="tx1"/>
          </a:solidFill>
          <a:latin typeface="+mn-lt"/>
          <a:ea typeface="+mn-ea"/>
          <a:cs typeface="+mn-cs"/>
        </a:defRPr>
      </a:lvl5pPr>
      <a:lvl6pPr marL="2376068" algn="l" defTabSz="950427" rtl="0" eaLnBrk="1" latinLnBrk="0" hangingPunct="1">
        <a:defRPr sz="1900" kern="1200">
          <a:solidFill>
            <a:schemeClr val="tx1"/>
          </a:solidFill>
          <a:latin typeface="+mn-lt"/>
          <a:ea typeface="+mn-ea"/>
          <a:cs typeface="+mn-cs"/>
        </a:defRPr>
      </a:lvl6pPr>
      <a:lvl7pPr marL="2851282" algn="l" defTabSz="950427" rtl="0" eaLnBrk="1" latinLnBrk="0" hangingPunct="1">
        <a:defRPr sz="1900" kern="1200">
          <a:solidFill>
            <a:schemeClr val="tx1"/>
          </a:solidFill>
          <a:latin typeface="+mn-lt"/>
          <a:ea typeface="+mn-ea"/>
          <a:cs typeface="+mn-cs"/>
        </a:defRPr>
      </a:lvl7pPr>
      <a:lvl8pPr marL="3326496" algn="l" defTabSz="950427" rtl="0" eaLnBrk="1" latinLnBrk="0" hangingPunct="1">
        <a:defRPr sz="1900" kern="1200">
          <a:solidFill>
            <a:schemeClr val="tx1"/>
          </a:solidFill>
          <a:latin typeface="+mn-lt"/>
          <a:ea typeface="+mn-ea"/>
          <a:cs typeface="+mn-cs"/>
        </a:defRPr>
      </a:lvl8pPr>
      <a:lvl9pPr marL="3801709" algn="l" defTabSz="950427"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708025" y="720725"/>
            <a:ext cx="8016875" cy="2559050"/>
          </a:xfrm>
          <a:noFill/>
        </p:spPr>
        <p:txBody>
          <a:bodyPr/>
          <a:lstStyle/>
          <a:p>
            <a:r>
              <a:rPr lang="en-US" sz="5600" dirty="0">
                <a:solidFill>
                  <a:schemeClr val="hlink"/>
                </a:solidFill>
              </a:rPr>
              <a:t>Error Detection</a:t>
            </a:r>
            <a:br>
              <a:rPr lang="en-US" sz="5600" dirty="0">
                <a:solidFill>
                  <a:schemeClr val="hlink"/>
                </a:solidFill>
              </a:rPr>
            </a:br>
            <a:r>
              <a:rPr lang="en-US" sz="5600" dirty="0">
                <a:solidFill>
                  <a:schemeClr val="hlink"/>
                </a:solidFill>
              </a:rPr>
              <a:t>and Correction</a:t>
            </a:r>
          </a:p>
        </p:txBody>
      </p:sp>
      <p:sp>
        <p:nvSpPr>
          <p:cNvPr id="4099" name="Rectangle 3"/>
          <p:cNvSpPr>
            <a:spLocks noGrp="1" noChangeArrowheads="1"/>
          </p:cNvSpPr>
          <p:nvPr>
            <p:ph type="body" sz="half" idx="1"/>
          </p:nvPr>
        </p:nvSpPr>
        <p:spPr>
          <a:xfrm>
            <a:off x="471488" y="4079875"/>
            <a:ext cx="8018462" cy="1920875"/>
          </a:xfrm>
          <a:noFill/>
        </p:spPr>
        <p:txBody>
          <a:bodyPr/>
          <a:lstStyle/>
          <a:p>
            <a:r>
              <a:rPr lang="en-US" b="1">
                <a:solidFill>
                  <a:schemeClr val="accent2"/>
                </a:solidFill>
              </a:rPr>
              <a:t>Types of Errors</a:t>
            </a:r>
          </a:p>
          <a:p>
            <a:r>
              <a:rPr lang="en-US" b="1">
                <a:solidFill>
                  <a:schemeClr val="accent2"/>
                </a:solidFill>
              </a:rPr>
              <a:t>Detection</a:t>
            </a:r>
          </a:p>
          <a:p>
            <a:r>
              <a:rPr lang="en-US" b="1">
                <a:solidFill>
                  <a:schemeClr val="accent2"/>
                </a:solidFill>
              </a:rPr>
              <a:t>Correction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strips(downLeft)">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strips(downLeft)">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strips(downLeft)">
                                      <p:cBhvr>
                                        <p:cTn id="17" dur="500"/>
                                        <p:tgtEl>
                                          <p:spTgt spid="40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33375" y="500063"/>
            <a:ext cx="8691563" cy="5832475"/>
          </a:xfrm>
        </p:spPr>
        <p:txBody>
          <a:bodyPr/>
          <a:lstStyle/>
          <a:p>
            <a:pPr marL="356410" indent="-356410" algn="ctr">
              <a:buClr>
                <a:srgbClr val="114FFB"/>
              </a:buClr>
              <a:buFont typeface="Wingdings" pitchFamily="2" charset="2"/>
              <a:buNone/>
              <a:defRPr/>
            </a:pPr>
            <a:r>
              <a:rPr lang="en-US" sz="3700" b="1">
                <a:solidFill>
                  <a:srgbClr val="CC0066"/>
                </a:solidFill>
                <a:effectLst>
                  <a:outerShdw blurRad="38100" dist="38100" dir="2700000" algn="tl">
                    <a:srgbClr val="C0C0C0"/>
                  </a:outerShdw>
                </a:effectLst>
              </a:rPr>
              <a:t>Basic concepts</a:t>
            </a:r>
          </a:p>
          <a:p>
            <a:pPr marL="356410" indent="-356410">
              <a:buClr>
                <a:srgbClr val="CC0066"/>
              </a:buClr>
              <a:buFont typeface="Wingdings" pitchFamily="2" charset="2"/>
              <a:buChar char="«"/>
              <a:defRPr/>
            </a:pPr>
            <a:r>
              <a:rPr lang="en-US"/>
              <a:t> Networks must be able to transfer data from one device to another with complete accuracy.</a:t>
            </a:r>
          </a:p>
          <a:p>
            <a:pPr marL="356410" indent="-356410">
              <a:buClr>
                <a:srgbClr val="CC0066"/>
              </a:buClr>
              <a:buFont typeface="Wingdings" pitchFamily="2" charset="2"/>
              <a:buChar char="«"/>
              <a:defRPr/>
            </a:pPr>
            <a:r>
              <a:rPr lang="en-US"/>
              <a:t> Data can be corrupted during transmission.</a:t>
            </a:r>
          </a:p>
          <a:p>
            <a:pPr marL="356410" indent="-356410">
              <a:buClr>
                <a:srgbClr val="CC0066"/>
              </a:buClr>
              <a:buFont typeface="Wingdings" pitchFamily="2" charset="2"/>
              <a:buChar char="«"/>
              <a:defRPr/>
            </a:pPr>
            <a:r>
              <a:rPr lang="en-US"/>
              <a:t> For reliable communication, errors must be detected and corrected.</a:t>
            </a:r>
          </a:p>
          <a:p>
            <a:pPr marL="356410" indent="-356410">
              <a:buClr>
                <a:srgbClr val="CC0066"/>
              </a:buClr>
              <a:buFont typeface="Wingdings" pitchFamily="2" charset="2"/>
              <a:buChar char="«"/>
              <a:defRPr/>
            </a:pPr>
            <a:r>
              <a:rPr lang="en-US"/>
              <a:t> </a:t>
            </a:r>
            <a:r>
              <a:rPr lang="en-US" sz="3700" b="1">
                <a:latin typeface="Georgia" pitchFamily="18" charset="0"/>
              </a:rPr>
              <a:t>Error detection and correction</a:t>
            </a:r>
            <a:r>
              <a:rPr lang="en-US">
                <a:latin typeface="Georgia" pitchFamily="18" charset="0"/>
              </a:rPr>
              <a:t> are implemented either at the </a:t>
            </a:r>
            <a:r>
              <a:rPr lang="en-US" b="1">
                <a:latin typeface="Georgia" pitchFamily="18" charset="0"/>
              </a:rPr>
              <a:t>data link layer</a:t>
            </a:r>
            <a:r>
              <a:rPr lang="en-US">
                <a:latin typeface="Georgia" pitchFamily="18" charset="0"/>
              </a:rPr>
              <a:t> or the </a:t>
            </a:r>
            <a:r>
              <a:rPr lang="en-US" b="1">
                <a:latin typeface="Georgia" pitchFamily="18" charset="0"/>
              </a:rPr>
              <a:t>transport layer</a:t>
            </a:r>
            <a:r>
              <a:rPr lang="en-US">
                <a:latin typeface="Georgia" pitchFamily="18" charset="0"/>
              </a:rPr>
              <a:t> of the OSI model.</a:t>
            </a:r>
          </a:p>
          <a:p>
            <a:pPr marL="356410" indent="-356410">
              <a:defRPr/>
            </a:pPr>
            <a:endParaRPr lang="en-US">
              <a:latin typeface="Georg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rrowheads="1"/>
          </p:cNvPicPr>
          <p:nvPr/>
        </p:nvPicPr>
        <p:blipFill>
          <a:blip r:embed="rId2"/>
          <a:srcRect/>
          <a:stretch>
            <a:fillRect/>
          </a:stretch>
        </p:blipFill>
        <p:spPr bwMode="auto">
          <a:xfrm>
            <a:off x="358775" y="2390775"/>
            <a:ext cx="8702675" cy="2543175"/>
          </a:xfrm>
          <a:prstGeom prst="rect">
            <a:avLst/>
          </a:prstGeom>
          <a:noFill/>
          <a:ln w="12700">
            <a:noFill/>
            <a:miter lim="800000"/>
            <a:headEnd/>
            <a:tailEnd/>
          </a:ln>
          <a:effectLst/>
        </p:spPr>
      </p:pic>
      <p:sp>
        <p:nvSpPr>
          <p:cNvPr id="4099" name="Text Box 6"/>
          <p:cNvSpPr txBox="1">
            <a:spLocks noChangeArrowheads="1"/>
          </p:cNvSpPr>
          <p:nvPr/>
        </p:nvSpPr>
        <p:spPr bwMode="auto">
          <a:xfrm>
            <a:off x="1724025" y="673100"/>
            <a:ext cx="6334125" cy="673100"/>
          </a:xfrm>
          <a:prstGeom prst="rect">
            <a:avLst/>
          </a:prstGeom>
          <a:noFill/>
          <a:ln w="12700">
            <a:noFill/>
            <a:miter lim="800000"/>
            <a:headEnd/>
            <a:tailEnd/>
          </a:ln>
          <a:effectLst/>
        </p:spPr>
        <p:txBody>
          <a:bodyPr lIns="95043" tIns="47521" rIns="95043" bIns="47521">
            <a:spAutoFit/>
          </a:bodyPr>
          <a:lstStyle/>
          <a:p>
            <a:pPr algn="ctr"/>
            <a:r>
              <a:rPr lang="en-US" sz="3700" b="1">
                <a:solidFill>
                  <a:srgbClr val="CC0066"/>
                </a:solidFill>
              </a:rPr>
              <a:t>Types of Errors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rrowheads="1"/>
          </p:cNvPicPr>
          <p:nvPr/>
        </p:nvPicPr>
        <p:blipFill>
          <a:blip r:embed="rId2"/>
          <a:srcRect/>
          <a:stretch>
            <a:fillRect/>
          </a:stretch>
        </p:blipFill>
        <p:spPr bwMode="auto">
          <a:xfrm>
            <a:off x="284163" y="2647950"/>
            <a:ext cx="8848725" cy="1995488"/>
          </a:xfrm>
          <a:prstGeom prst="rect">
            <a:avLst/>
          </a:prstGeom>
          <a:noFill/>
          <a:ln w="12700">
            <a:noFill/>
            <a:miter lim="800000"/>
            <a:headEnd/>
            <a:tailEnd/>
          </a:ln>
          <a:effectLst/>
        </p:spPr>
      </p:pic>
      <p:sp>
        <p:nvSpPr>
          <p:cNvPr id="5123" name="Rectangle 3"/>
          <p:cNvSpPr>
            <a:spLocks noChangeArrowheads="1"/>
          </p:cNvSpPr>
          <p:nvPr/>
        </p:nvSpPr>
        <p:spPr bwMode="auto">
          <a:xfrm>
            <a:off x="2887663" y="523875"/>
            <a:ext cx="2981325" cy="617538"/>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Single-bit error</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708025" y="425450"/>
            <a:ext cx="8016875" cy="5670550"/>
          </a:xfrm>
        </p:spPr>
        <p:txBody>
          <a:bodyPr/>
          <a:lstStyle/>
          <a:p>
            <a:pPr marL="356410" indent="-356410">
              <a:lnSpc>
                <a:spcPct val="90000"/>
              </a:lnSpc>
              <a:buFontTx/>
              <a:buNone/>
              <a:defRPr/>
            </a:pPr>
            <a:r>
              <a:rPr lang="en-US"/>
              <a:t>   </a:t>
            </a:r>
            <a:r>
              <a:rPr lang="en-US" b="1"/>
              <a:t>Single bit errors</a:t>
            </a:r>
            <a:r>
              <a:rPr lang="en-US"/>
              <a:t> are the </a:t>
            </a:r>
            <a:r>
              <a:rPr lang="en-US" b="1"/>
              <a:t>least likely</a:t>
            </a:r>
            <a:r>
              <a:rPr lang="en-US"/>
              <a:t> type of errors in serial data transmission because the noise must have a very short duration which is very rare. However this kind of errors can happen in parallel transmission.</a:t>
            </a:r>
          </a:p>
          <a:p>
            <a:pPr marL="356410" indent="-356410">
              <a:lnSpc>
                <a:spcPct val="90000"/>
              </a:lnSpc>
              <a:buFontTx/>
              <a:buNone/>
              <a:defRPr/>
            </a:pPr>
            <a:r>
              <a:rPr lang="en-US" b="1" i="1">
                <a:solidFill>
                  <a:srgbClr val="CC0066"/>
                </a:solidFill>
                <a:effectLst>
                  <a:outerShdw blurRad="38100" dist="38100" dir="2700000" algn="tl">
                    <a:srgbClr val="C0C0C0"/>
                  </a:outerShdw>
                </a:effectLst>
              </a:rPr>
              <a:t>Example:</a:t>
            </a:r>
          </a:p>
          <a:p>
            <a:pPr marL="356410" indent="-356410">
              <a:lnSpc>
                <a:spcPct val="90000"/>
              </a:lnSpc>
              <a:buClr>
                <a:srgbClr val="CC0066"/>
              </a:buClr>
              <a:buFont typeface="Wingdings" pitchFamily="2" charset="2"/>
              <a:buChar char="«"/>
              <a:defRPr/>
            </a:pPr>
            <a:r>
              <a:rPr lang="en-US"/>
              <a:t>If data is sent at 1Mbps then each bit lasts only 1/1,000,000 sec. or 1 </a:t>
            </a:r>
            <a:r>
              <a:rPr lang="el-GR">
                <a:cs typeface="Times New Roman" pitchFamily="18" charset="0"/>
              </a:rPr>
              <a:t>μ</a:t>
            </a:r>
            <a:r>
              <a:rPr lang="en-US">
                <a:cs typeface="Times New Roman" pitchFamily="18" charset="0"/>
              </a:rPr>
              <a:t>s.</a:t>
            </a:r>
          </a:p>
          <a:p>
            <a:pPr marL="356410" indent="-356410">
              <a:lnSpc>
                <a:spcPct val="90000"/>
              </a:lnSpc>
              <a:buClr>
                <a:srgbClr val="CC0066"/>
              </a:buClr>
              <a:buFont typeface="Wingdings" pitchFamily="2" charset="2"/>
              <a:buChar char="«"/>
              <a:defRPr/>
            </a:pPr>
            <a:r>
              <a:rPr lang="en-US">
                <a:cs typeface="Times New Roman" pitchFamily="18" charset="0"/>
              </a:rPr>
              <a:t>For a single-bit error to occur, the noise must have a duration of only 1 </a:t>
            </a:r>
            <a:r>
              <a:rPr lang="el-GR">
                <a:cs typeface="Times New Roman" pitchFamily="18" charset="0"/>
              </a:rPr>
              <a:t>μ</a:t>
            </a:r>
            <a:r>
              <a:rPr lang="en-US">
                <a:cs typeface="Times New Roman" pitchFamily="18" charset="0"/>
              </a:rPr>
              <a:t>s, which is very rare.</a:t>
            </a:r>
            <a:endParaRPr lang="el-GR">
              <a:cs typeface="Times New Roman" pitchFamily="18" charset="0"/>
            </a:endParaRPr>
          </a:p>
          <a:p>
            <a:pPr marL="356410" indent="-356410">
              <a:lnSpc>
                <a:spcPct val="90000"/>
              </a:lnSpc>
              <a:buFontTx/>
              <a:buNone/>
              <a:defRPr/>
            </a:pPr>
            <a:endParaRPr lang="en-US"/>
          </a:p>
          <a:p>
            <a:pPr marL="356410" indent="-356410">
              <a:lnSpc>
                <a:spcPct val="90000"/>
              </a:lnSpc>
              <a:defRPr/>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rrowheads="1"/>
          </p:cNvPicPr>
          <p:nvPr/>
        </p:nvPicPr>
        <p:blipFill>
          <a:blip r:embed="rId2"/>
          <a:srcRect/>
          <a:stretch>
            <a:fillRect/>
          </a:stretch>
        </p:blipFill>
        <p:spPr bwMode="auto">
          <a:xfrm>
            <a:off x="785813" y="2054225"/>
            <a:ext cx="7874000" cy="3225800"/>
          </a:xfrm>
          <a:prstGeom prst="rect">
            <a:avLst/>
          </a:prstGeom>
          <a:noFill/>
          <a:ln w="12700">
            <a:noFill/>
            <a:miter lim="800000"/>
            <a:headEnd/>
            <a:tailEnd/>
          </a:ln>
          <a:effectLst/>
        </p:spPr>
      </p:pic>
      <p:sp>
        <p:nvSpPr>
          <p:cNvPr id="7171" name="Rectangle 3"/>
          <p:cNvSpPr>
            <a:spLocks noChangeArrowheads="1"/>
          </p:cNvSpPr>
          <p:nvPr/>
        </p:nvSpPr>
        <p:spPr bwMode="auto">
          <a:xfrm>
            <a:off x="3516313" y="363538"/>
            <a:ext cx="2263775" cy="617537"/>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Burst error</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rrowheads="1"/>
          </p:cNvPicPr>
          <p:nvPr/>
        </p:nvPicPr>
        <p:blipFill>
          <a:blip r:embed="rId2"/>
          <a:srcRect/>
          <a:stretch>
            <a:fillRect/>
          </a:stretch>
        </p:blipFill>
        <p:spPr bwMode="auto">
          <a:xfrm>
            <a:off x="215900" y="2557463"/>
            <a:ext cx="8985250" cy="2205037"/>
          </a:xfrm>
          <a:prstGeom prst="rect">
            <a:avLst/>
          </a:prstGeom>
          <a:noFill/>
          <a:ln w="12700">
            <a:noFill/>
            <a:miter lim="800000"/>
            <a:headEnd/>
            <a:tailEnd/>
          </a:ln>
          <a:effec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708025" y="425450"/>
            <a:ext cx="8016875" cy="5975350"/>
          </a:xfrm>
        </p:spPr>
        <p:txBody>
          <a:bodyPr/>
          <a:lstStyle/>
          <a:p>
            <a:pPr marL="356410" indent="-356410">
              <a:buFontTx/>
              <a:buNone/>
              <a:defRPr/>
            </a:pPr>
            <a:r>
              <a:rPr lang="en-US"/>
              <a:t>	The term </a:t>
            </a:r>
            <a:r>
              <a:rPr lang="en-US" b="1">
                <a:solidFill>
                  <a:srgbClr val="CC0066"/>
                </a:solidFill>
                <a:effectLst>
                  <a:outerShdw blurRad="38100" dist="38100" dir="2700000" algn="tl">
                    <a:srgbClr val="C0C0C0"/>
                  </a:outerShdw>
                </a:effectLst>
              </a:rPr>
              <a:t>burst error</a:t>
            </a:r>
            <a:r>
              <a:rPr lang="en-US"/>
              <a:t> means that two or more bits in the data unit have changed from 1 to 0 or from 0 to 1.</a:t>
            </a:r>
          </a:p>
          <a:p>
            <a:pPr marL="356410" indent="-356410">
              <a:buFontTx/>
              <a:buNone/>
              <a:defRPr/>
            </a:pPr>
            <a:endParaRPr lang="en-US"/>
          </a:p>
          <a:p>
            <a:pPr marL="356410" indent="-356410">
              <a:buFontTx/>
              <a:buNone/>
              <a:defRPr/>
            </a:pPr>
            <a:r>
              <a:rPr lang="en-US"/>
              <a:t>	</a:t>
            </a:r>
            <a:r>
              <a:rPr lang="en-US" b="1"/>
              <a:t>Burst errors</a:t>
            </a:r>
            <a:r>
              <a:rPr lang="en-US"/>
              <a:t> </a:t>
            </a:r>
            <a:r>
              <a:rPr lang="en-US" b="1"/>
              <a:t>does not</a:t>
            </a:r>
            <a:r>
              <a:rPr lang="en-US"/>
              <a:t> </a:t>
            </a:r>
            <a:r>
              <a:rPr lang="en-US" sz="2900"/>
              <a:t>necessarily</a:t>
            </a:r>
            <a:r>
              <a:rPr lang="en-US"/>
              <a:t> </a:t>
            </a:r>
            <a:r>
              <a:rPr lang="en-US" b="1"/>
              <a:t>mean that the errors occur in consecutive bits</a:t>
            </a:r>
            <a:r>
              <a:rPr lang="en-US"/>
              <a:t>, the length of the burst is measured from the first corrupted bit to the last corrupted bit. Some bits in between may not have been corrupted.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333375" y="500063"/>
            <a:ext cx="8840788" cy="5900737"/>
          </a:xfrm>
        </p:spPr>
        <p:txBody>
          <a:bodyPr/>
          <a:lstStyle/>
          <a:p>
            <a:pPr marL="356410" indent="-356410">
              <a:buClr>
                <a:srgbClr val="CC0066"/>
              </a:buClr>
              <a:buFont typeface="Wingdings" pitchFamily="2" charset="2"/>
              <a:buChar char="«"/>
              <a:defRPr/>
            </a:pPr>
            <a:r>
              <a:rPr lang="en-US" b="1"/>
              <a:t>Burst error is most likely to happen in serial transmission</a:t>
            </a:r>
            <a:r>
              <a:rPr lang="en-US"/>
              <a:t> since the duration of noise is normally longer than the duration of a bit.</a:t>
            </a:r>
          </a:p>
          <a:p>
            <a:pPr marL="356410" indent="-356410">
              <a:buClr>
                <a:srgbClr val="CC0066"/>
              </a:buClr>
              <a:buFont typeface="Wingdings" pitchFamily="2" charset="2"/>
              <a:buChar char="«"/>
              <a:defRPr/>
            </a:pPr>
            <a:r>
              <a:rPr lang="en-US"/>
              <a:t>The number of bits affected depends on the data rate and duration of noise.</a:t>
            </a:r>
          </a:p>
          <a:p>
            <a:pPr marL="356410" indent="-356410">
              <a:buFontTx/>
              <a:buNone/>
              <a:defRPr/>
            </a:pPr>
            <a:r>
              <a:rPr lang="en-US" b="1" i="1">
                <a:solidFill>
                  <a:srgbClr val="CC0066"/>
                </a:solidFill>
                <a:effectLst>
                  <a:outerShdw blurRad="38100" dist="38100" dir="2700000" algn="tl">
                    <a:srgbClr val="C0C0C0"/>
                  </a:outerShdw>
                </a:effectLst>
              </a:rPr>
              <a:t>Example:</a:t>
            </a:r>
          </a:p>
          <a:p>
            <a:pPr marL="356410" indent="-356410">
              <a:buClr>
                <a:srgbClr val="CC0066"/>
              </a:buClr>
              <a:buFont typeface="Wingdings 3" pitchFamily="18" charset="2"/>
              <a:buChar char="â"/>
              <a:defRPr/>
            </a:pPr>
            <a:r>
              <a:rPr lang="en-US" sz="2900"/>
              <a:t>If data is sent at rate = 1Kbps then a noise of 1/100 sec can affect 10 bits.(1/100*1000)</a:t>
            </a:r>
          </a:p>
          <a:p>
            <a:pPr marL="356410" indent="-356410">
              <a:buClr>
                <a:srgbClr val="CC0066"/>
              </a:buClr>
              <a:buFont typeface="Wingdings 3" pitchFamily="18" charset="2"/>
              <a:buChar char="â"/>
              <a:defRPr/>
            </a:pPr>
            <a:endParaRPr lang="en-US" sz="2900"/>
          </a:p>
          <a:p>
            <a:pPr marL="356410" indent="-356410">
              <a:buClr>
                <a:srgbClr val="CC0066"/>
              </a:buClr>
              <a:buFont typeface="Wingdings 3" pitchFamily="18" charset="2"/>
              <a:buChar char="â"/>
              <a:defRPr/>
            </a:pPr>
            <a:r>
              <a:rPr lang="en-US" sz="2900"/>
              <a:t>If same data is sent at rate = 1Mbps then a noise of 1/100 sec can affect 10,000 bits.(1/100*10</a:t>
            </a:r>
            <a:r>
              <a:rPr lang="en-US" sz="2900" baseline="30000"/>
              <a:t>6</a:t>
            </a:r>
            <a:r>
              <a:rPr lang="en-US" sz="2900"/>
              <a:t>)</a:t>
            </a:r>
          </a:p>
          <a:p>
            <a:pPr marL="356410" indent="-356410">
              <a:defRPr/>
            </a:pPr>
            <a:endParaRPr lang="en-US" sz="2900"/>
          </a:p>
          <a:p>
            <a:pPr marL="356410" indent="-356410">
              <a:defRPr/>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defRPr/>
            </a:pPr>
            <a:r>
              <a:rPr lang="en-US" b="1" i="1">
                <a:solidFill>
                  <a:srgbClr val="CC0066"/>
                </a:solidFill>
                <a:effectLst>
                  <a:outerShdw blurRad="38100" dist="38100" dir="2700000" algn="tl">
                    <a:srgbClr val="C0C0C0"/>
                  </a:outerShdw>
                </a:effectLst>
              </a:rPr>
              <a:t>Error detection</a:t>
            </a:r>
          </a:p>
        </p:txBody>
      </p:sp>
      <p:sp>
        <p:nvSpPr>
          <p:cNvPr id="11267" name="Rectangle 3"/>
          <p:cNvSpPr>
            <a:spLocks noGrp="1" noChangeArrowheads="1"/>
          </p:cNvSpPr>
          <p:nvPr>
            <p:ph type="body" idx="1"/>
          </p:nvPr>
        </p:nvSpPr>
        <p:spPr>
          <a:xfrm>
            <a:off x="185738" y="2079625"/>
            <a:ext cx="8988425" cy="4321175"/>
          </a:xfrm>
        </p:spPr>
        <p:txBody>
          <a:bodyPr/>
          <a:lstStyle/>
          <a:p>
            <a:pPr>
              <a:buFontTx/>
              <a:buNone/>
            </a:pPr>
            <a:r>
              <a:rPr lang="en-US"/>
              <a:t>	Error detection means to decide whether the received data is correct or not without having a copy of the original message.</a:t>
            </a:r>
          </a:p>
          <a:p>
            <a:endParaRPr lang="en-US"/>
          </a:p>
          <a:p>
            <a:pPr>
              <a:buFontTx/>
              <a:buNone/>
            </a:pPr>
            <a:r>
              <a:rPr lang="en-US"/>
              <a:t>	Error detection </a:t>
            </a:r>
            <a:r>
              <a:rPr lang="en-US" b="1"/>
              <a:t>uses the concept of redundancy</a:t>
            </a:r>
            <a:r>
              <a:rPr lang="en-US"/>
              <a:t>, </a:t>
            </a:r>
            <a:r>
              <a:rPr lang="en-US" b="1"/>
              <a:t>which means</a:t>
            </a:r>
            <a:r>
              <a:rPr lang="en-US"/>
              <a:t> adding extra bits for detecting errors at the destination.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rrowheads="1"/>
          </p:cNvPicPr>
          <p:nvPr/>
        </p:nvPicPr>
        <p:blipFill>
          <a:blip r:embed="rId2"/>
          <a:srcRect/>
          <a:stretch>
            <a:fillRect/>
          </a:stretch>
        </p:blipFill>
        <p:spPr bwMode="auto">
          <a:xfrm>
            <a:off x="636588" y="1219200"/>
            <a:ext cx="7985125" cy="5024438"/>
          </a:xfrm>
          <a:prstGeom prst="rect">
            <a:avLst/>
          </a:prstGeom>
          <a:noFill/>
          <a:ln w="12700">
            <a:noFill/>
            <a:miter lim="800000"/>
            <a:headEnd/>
            <a:tailEnd/>
          </a:ln>
          <a:effectLst/>
        </p:spPr>
      </p:pic>
      <p:sp>
        <p:nvSpPr>
          <p:cNvPr id="12291" name="Rectangle 3"/>
          <p:cNvSpPr>
            <a:spLocks noChangeArrowheads="1"/>
          </p:cNvSpPr>
          <p:nvPr/>
        </p:nvSpPr>
        <p:spPr bwMode="auto">
          <a:xfrm>
            <a:off x="3436938" y="203200"/>
            <a:ext cx="2459037" cy="619125"/>
          </a:xfrm>
          <a:prstGeom prst="rect">
            <a:avLst/>
          </a:prstGeom>
          <a:noFill/>
          <a:ln w="12700">
            <a:noFill/>
            <a:miter lim="800000"/>
            <a:headEnd/>
            <a:tailEnd/>
          </a:ln>
          <a:effectLst/>
        </p:spPr>
        <p:txBody>
          <a:bodyPr wrap="none" lIns="94053" tIns="46201" rIns="94053" bIns="46201">
            <a:spAutoFit/>
          </a:bodyPr>
          <a:lstStyle/>
          <a:p>
            <a:r>
              <a:rPr lang="en-US" sz="3300" b="1">
                <a:solidFill>
                  <a:srgbClr val="063DE8"/>
                </a:solidFill>
              </a:rPr>
              <a:t>Redundancy</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242" name="Picture 2"/>
          <p:cNvPicPr>
            <a:picLocks noChangeArrowheads="1"/>
          </p:cNvPicPr>
          <p:nvPr/>
        </p:nvPicPr>
        <p:blipFill>
          <a:blip r:embed="rId2"/>
          <a:srcRect/>
          <a:stretch>
            <a:fillRect/>
          </a:stretch>
        </p:blipFill>
        <p:spPr bwMode="auto">
          <a:xfrm>
            <a:off x="385763" y="2846388"/>
            <a:ext cx="8629650" cy="1582737"/>
          </a:xfrm>
          <a:prstGeom prst="rect">
            <a:avLst/>
          </a:prstGeom>
          <a:noFill/>
          <a:ln w="12700">
            <a:noFill/>
            <a:miter lim="800000"/>
            <a:headEnd/>
            <a:tailEnd/>
          </a:ln>
          <a:effectLst/>
        </p:spPr>
      </p:pic>
      <p:sp>
        <p:nvSpPr>
          <p:cNvPr id="10246" name="Text Box 6"/>
          <p:cNvSpPr txBox="1">
            <a:spLocks noChangeArrowheads="1"/>
          </p:cNvSpPr>
          <p:nvPr/>
        </p:nvSpPr>
        <p:spPr bwMode="auto">
          <a:xfrm>
            <a:off x="852488" y="803275"/>
            <a:ext cx="7713662" cy="112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43" tIns="47521" rIns="95043" bIns="47521">
            <a:spAutoFit/>
          </a:bodyPr>
          <a:lstStyle/>
          <a:p>
            <a:pPr algn="ctr">
              <a:defRPr/>
            </a:pPr>
            <a:r>
              <a:rPr lang="en-US" sz="3300" b="1">
                <a:solidFill>
                  <a:srgbClr val="CC0066"/>
                </a:solidFill>
                <a:effectLst>
                  <a:outerShdw blurRad="38100" dist="38100" dir="2700000" algn="tl">
                    <a:srgbClr val="C0C0C0"/>
                  </a:outerShdw>
                </a:effectLst>
              </a:rPr>
              <a:t>Four types of redundancy checks are used</a:t>
            </a:r>
          </a:p>
          <a:p>
            <a:pPr algn="ctr">
              <a:defRPr/>
            </a:pPr>
            <a:r>
              <a:rPr lang="en-US" sz="3300" b="1">
                <a:solidFill>
                  <a:srgbClr val="CC0066"/>
                </a:solidFill>
                <a:effectLst>
                  <a:outerShdw blurRad="38100" dist="38100" dir="2700000" algn="tl">
                    <a:srgbClr val="C0C0C0"/>
                  </a:outerShdw>
                </a:effectLst>
              </a:rPr>
              <a:t> in data communications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246"/>
                                        </p:tgtEl>
                                        <p:attrNameLst>
                                          <p:attrName>style.visibility</p:attrName>
                                        </p:attrNameLst>
                                      </p:cBhvr>
                                      <p:to>
                                        <p:strVal val="visible"/>
                                      </p:to>
                                    </p:set>
                                    <p:anim calcmode="discrete" valueType="clr">
                                      <p:cBhvr override="childStyle">
                                        <p:cTn id="7" dur="80"/>
                                        <p:tgtEl>
                                          <p:spTgt spid="1024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246"/>
                                        </p:tgtEl>
                                        <p:attrNameLst>
                                          <p:attrName>fillcolor</p:attrName>
                                        </p:attrNameLst>
                                      </p:cBhvr>
                                      <p:tavLst>
                                        <p:tav tm="0">
                                          <p:val>
                                            <p:clrVal>
                                              <a:schemeClr val="accent2"/>
                                            </p:clrVal>
                                          </p:val>
                                        </p:tav>
                                        <p:tav tm="50000">
                                          <p:val>
                                            <p:clrVal>
                                              <a:schemeClr val="hlink"/>
                                            </p:clrVal>
                                          </p:val>
                                        </p:tav>
                                      </p:tavLst>
                                    </p:anim>
                                    <p:set>
                                      <p:cBhvr>
                                        <p:cTn id="9" dur="80"/>
                                        <p:tgtEl>
                                          <p:spTgt spid="10246"/>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rrowheads="1"/>
          </p:cNvPicPr>
          <p:nvPr/>
        </p:nvPicPr>
        <p:blipFill>
          <a:blip r:embed="rId2"/>
          <a:srcRect/>
          <a:stretch>
            <a:fillRect/>
          </a:stretch>
        </p:blipFill>
        <p:spPr bwMode="auto">
          <a:xfrm>
            <a:off x="311150" y="1465263"/>
            <a:ext cx="8642350" cy="5178425"/>
          </a:xfrm>
          <a:prstGeom prst="rect">
            <a:avLst/>
          </a:prstGeom>
          <a:noFill/>
          <a:ln w="12700">
            <a:noFill/>
            <a:miter lim="800000"/>
            <a:headEnd/>
            <a:tailEnd/>
          </a:ln>
          <a:effectLst/>
        </p:spPr>
      </p:pic>
      <p:sp>
        <p:nvSpPr>
          <p:cNvPr id="14339" name="Rectangle 3"/>
          <p:cNvSpPr>
            <a:spLocks noChangeArrowheads="1"/>
          </p:cNvSpPr>
          <p:nvPr/>
        </p:nvSpPr>
        <p:spPr bwMode="auto">
          <a:xfrm>
            <a:off x="2339975" y="0"/>
            <a:ext cx="5240338" cy="1117600"/>
          </a:xfrm>
          <a:prstGeom prst="rect">
            <a:avLst/>
          </a:prstGeom>
          <a:noFill/>
          <a:ln w="12700">
            <a:noFill/>
            <a:miter lim="800000"/>
            <a:headEnd/>
            <a:tailEnd/>
          </a:ln>
          <a:effectLst/>
        </p:spPr>
        <p:txBody>
          <a:bodyPr wrap="none" lIns="94053" tIns="46201" rIns="94053" bIns="46201">
            <a:spAutoFit/>
          </a:bodyPr>
          <a:lstStyle/>
          <a:p>
            <a:pPr algn="ctr"/>
            <a:r>
              <a:rPr lang="en-US" sz="3300" b="1">
                <a:solidFill>
                  <a:srgbClr val="00279F"/>
                </a:solidFill>
              </a:rPr>
              <a:t>Vertical Redundancy Check</a:t>
            </a:r>
          </a:p>
          <a:p>
            <a:pPr algn="ctr"/>
            <a:r>
              <a:rPr lang="en-US" sz="3300" b="1">
                <a:solidFill>
                  <a:srgbClr val="00279F"/>
                </a:solidFill>
              </a:rPr>
              <a:t>VRC</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defRPr/>
            </a:pPr>
            <a:r>
              <a:rPr lang="en-US" b="1">
                <a:solidFill>
                  <a:srgbClr val="CC0066"/>
                </a:solidFill>
                <a:effectLst>
                  <a:outerShdw blurRad="38100" dist="38100" dir="2700000" algn="tl">
                    <a:srgbClr val="C0C0C0"/>
                  </a:outerShdw>
                </a:effectLst>
              </a:rPr>
              <a:t>Performance</a:t>
            </a:r>
          </a:p>
        </p:txBody>
      </p:sp>
      <p:sp>
        <p:nvSpPr>
          <p:cNvPr id="15363" name="Rectangle 3"/>
          <p:cNvSpPr>
            <a:spLocks noGrp="1" noChangeArrowheads="1"/>
          </p:cNvSpPr>
          <p:nvPr>
            <p:ph type="body" idx="1"/>
          </p:nvPr>
        </p:nvSpPr>
        <p:spPr/>
        <p:txBody>
          <a:bodyPr/>
          <a:lstStyle/>
          <a:p>
            <a:endParaRPr lang="en-US"/>
          </a:p>
          <a:p>
            <a:pPr>
              <a:buClr>
                <a:srgbClr val="CC0066"/>
              </a:buClr>
              <a:buFont typeface="Wingdings 3" pitchFamily="18" charset="2"/>
              <a:buChar char="â"/>
            </a:pPr>
            <a:r>
              <a:rPr lang="en-US"/>
              <a:t>It can detect single bit error</a:t>
            </a:r>
          </a:p>
          <a:p>
            <a:pPr>
              <a:buClr>
                <a:srgbClr val="CC0066"/>
              </a:buClr>
              <a:buFont typeface="Wingdings 3" pitchFamily="18" charset="2"/>
              <a:buChar char="â"/>
            </a:pPr>
            <a:r>
              <a:rPr lang="en-US"/>
              <a:t>It can detect burst errors only if the total number of errors is odd.</a:t>
            </a:r>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712913" y="425450"/>
            <a:ext cx="6188075" cy="1108075"/>
          </a:xfrm>
          <a:prstGeom prst="rect">
            <a:avLst/>
          </a:prstGeom>
          <a:noFill/>
          <a:ln w="12700">
            <a:noFill/>
            <a:miter lim="800000"/>
            <a:headEnd/>
            <a:tailEnd/>
          </a:ln>
          <a:effectLst/>
        </p:spPr>
        <p:txBody>
          <a:bodyPr wrap="none" lIns="94053" tIns="46201" rIns="94053" bIns="46201">
            <a:spAutoFit/>
          </a:bodyPr>
          <a:lstStyle/>
          <a:p>
            <a:pPr algn="ctr"/>
            <a:r>
              <a:rPr lang="en-US" sz="3300" b="1">
                <a:solidFill>
                  <a:srgbClr val="00279F"/>
                </a:solidFill>
              </a:rPr>
              <a:t>Longitudinal Redundancy Check</a:t>
            </a:r>
          </a:p>
          <a:p>
            <a:pPr algn="ctr"/>
            <a:r>
              <a:rPr lang="en-US" sz="3300" b="1">
                <a:solidFill>
                  <a:srgbClr val="00279F"/>
                </a:solidFill>
              </a:rPr>
              <a:t>LRC</a:t>
            </a:r>
          </a:p>
        </p:txBody>
      </p:sp>
      <p:pic>
        <p:nvPicPr>
          <p:cNvPr id="16387" name="Picture 3"/>
          <p:cNvPicPr>
            <a:picLocks noChangeArrowheads="1"/>
          </p:cNvPicPr>
          <p:nvPr/>
        </p:nvPicPr>
        <p:blipFill>
          <a:blip r:embed="rId2"/>
          <a:srcRect/>
          <a:stretch>
            <a:fillRect/>
          </a:stretch>
        </p:blipFill>
        <p:spPr bwMode="auto">
          <a:xfrm>
            <a:off x="196850" y="3167063"/>
            <a:ext cx="8753475" cy="1720850"/>
          </a:xfrm>
          <a:prstGeom prst="rect">
            <a:avLst/>
          </a:prstGeom>
          <a:noFill/>
          <a:ln w="12700">
            <a:noFill/>
            <a:miter lim="800000"/>
            <a:headEnd/>
            <a:tailEnd/>
          </a:ln>
          <a:effec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930275" y="866775"/>
            <a:ext cx="80184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053" tIns="46201" rIns="94053" bIns="46201" anchor="ctr"/>
          <a:lstStyle/>
          <a:p>
            <a:pPr algn="ctr">
              <a:defRPr/>
            </a:pPr>
            <a:r>
              <a:rPr lang="en-US" sz="4600" b="1">
                <a:solidFill>
                  <a:srgbClr val="CC0066"/>
                </a:solidFill>
                <a:effectLst>
                  <a:outerShdw blurRad="38100" dist="38100" dir="2700000" algn="tl">
                    <a:srgbClr val="C0C0C0"/>
                  </a:outerShdw>
                </a:effectLst>
              </a:rPr>
              <a:t>Performance</a:t>
            </a:r>
          </a:p>
        </p:txBody>
      </p:sp>
      <p:sp>
        <p:nvSpPr>
          <p:cNvPr id="17411" name="Rectangle 5"/>
          <p:cNvSpPr>
            <a:spLocks noChangeArrowheads="1"/>
          </p:cNvSpPr>
          <p:nvPr/>
        </p:nvSpPr>
        <p:spPr bwMode="auto">
          <a:xfrm>
            <a:off x="930275" y="2306638"/>
            <a:ext cx="8018463" cy="4321175"/>
          </a:xfrm>
          <a:prstGeom prst="rect">
            <a:avLst/>
          </a:prstGeom>
          <a:noFill/>
          <a:ln w="12700">
            <a:noFill/>
            <a:miter lim="800000"/>
            <a:headEnd/>
            <a:tailEnd/>
          </a:ln>
          <a:effectLst/>
        </p:spPr>
        <p:txBody>
          <a:bodyPr lIns="94053" tIns="46201" rIns="94053" bIns="46201"/>
          <a:lstStyle/>
          <a:p>
            <a:pPr marL="355600" indent="-355600">
              <a:spcBef>
                <a:spcPct val="20000"/>
              </a:spcBef>
              <a:buSzPct val="100000"/>
              <a:buFontTx/>
              <a:buChar char="•"/>
            </a:pPr>
            <a:endParaRPr lang="en-US" sz="3300"/>
          </a:p>
          <a:p>
            <a:pPr marL="355600" indent="-355600">
              <a:spcBef>
                <a:spcPct val="20000"/>
              </a:spcBef>
              <a:buClr>
                <a:srgbClr val="CC0066"/>
              </a:buClr>
              <a:buSzPct val="100000"/>
              <a:buFont typeface="Wingdings 3" pitchFamily="18" charset="2"/>
              <a:buChar char="â"/>
            </a:pPr>
            <a:r>
              <a:rPr lang="en-US" sz="3300"/>
              <a:t>LCR increases the likelihood of detecting burst errors.</a:t>
            </a:r>
          </a:p>
          <a:p>
            <a:pPr marL="355600" indent="-355600">
              <a:spcBef>
                <a:spcPct val="20000"/>
              </a:spcBef>
              <a:buClr>
                <a:srgbClr val="CC0066"/>
              </a:buClr>
              <a:buSzPct val="100000"/>
              <a:buFont typeface="Wingdings 3" pitchFamily="18" charset="2"/>
              <a:buChar char="â"/>
            </a:pPr>
            <a:r>
              <a:rPr lang="en-US" sz="3300"/>
              <a:t>If two bits in one data units are damaged and two bits in exactly the same positions in another data unit are also damaged, the LRC checker will not detect an error.</a:t>
            </a:r>
          </a:p>
          <a:p>
            <a:pPr marL="355600" indent="-355600">
              <a:spcBef>
                <a:spcPct val="20000"/>
              </a:spcBef>
              <a:buSzPct val="100000"/>
              <a:buFontTx/>
              <a:buChar char="•"/>
            </a:pPr>
            <a:endParaRPr lang="en-US" sz="33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rrowheads="1"/>
          </p:cNvPicPr>
          <p:nvPr/>
        </p:nvPicPr>
        <p:blipFill>
          <a:blip r:embed="rId2"/>
          <a:srcRect/>
          <a:stretch>
            <a:fillRect/>
          </a:stretch>
        </p:blipFill>
        <p:spPr bwMode="auto">
          <a:xfrm>
            <a:off x="449263" y="1408113"/>
            <a:ext cx="8231187" cy="5156200"/>
          </a:xfrm>
          <a:prstGeom prst="rect">
            <a:avLst/>
          </a:prstGeom>
          <a:noFill/>
          <a:ln w="12700">
            <a:noFill/>
            <a:miter lim="800000"/>
            <a:headEnd/>
            <a:tailEnd/>
          </a:ln>
          <a:effectLst/>
        </p:spPr>
      </p:pic>
      <p:sp>
        <p:nvSpPr>
          <p:cNvPr id="18435" name="Rectangle 3"/>
          <p:cNvSpPr>
            <a:spLocks noChangeArrowheads="1"/>
          </p:cNvSpPr>
          <p:nvPr/>
        </p:nvSpPr>
        <p:spPr bwMode="auto">
          <a:xfrm>
            <a:off x="3359150" y="284163"/>
            <a:ext cx="2878138" cy="617537"/>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VRC and LRC</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rrowheads="1"/>
          </p:cNvPicPr>
          <p:nvPr/>
        </p:nvPicPr>
        <p:blipFill>
          <a:blip r:embed="rId2"/>
          <a:srcRect/>
          <a:stretch>
            <a:fillRect/>
          </a:stretch>
        </p:blipFill>
        <p:spPr bwMode="auto">
          <a:xfrm>
            <a:off x="344488" y="2613025"/>
            <a:ext cx="8716962" cy="3357563"/>
          </a:xfrm>
          <a:prstGeom prst="rect">
            <a:avLst/>
          </a:prstGeom>
          <a:noFill/>
          <a:ln w="12700">
            <a:noFill/>
            <a:miter lim="800000"/>
            <a:headEnd/>
            <a:tailEnd/>
          </a:ln>
          <a:effectLst/>
        </p:spPr>
      </p:pic>
      <p:sp>
        <p:nvSpPr>
          <p:cNvPr id="19459" name="Rectangle 3"/>
          <p:cNvSpPr>
            <a:spLocks noChangeArrowheads="1"/>
          </p:cNvSpPr>
          <p:nvPr/>
        </p:nvSpPr>
        <p:spPr bwMode="auto">
          <a:xfrm>
            <a:off x="2316163" y="350838"/>
            <a:ext cx="4962525" cy="1108075"/>
          </a:xfrm>
          <a:prstGeom prst="rect">
            <a:avLst/>
          </a:prstGeom>
          <a:noFill/>
          <a:ln w="12700">
            <a:noFill/>
            <a:miter lim="800000"/>
            <a:headEnd/>
            <a:tailEnd/>
          </a:ln>
          <a:effectLst/>
        </p:spPr>
        <p:txBody>
          <a:bodyPr wrap="none" lIns="94053" tIns="46201" rIns="94053" bIns="46201">
            <a:spAutoFit/>
          </a:bodyPr>
          <a:lstStyle/>
          <a:p>
            <a:pPr algn="ctr"/>
            <a:r>
              <a:rPr lang="en-US" sz="3300" b="1">
                <a:solidFill>
                  <a:srgbClr val="00279F"/>
                </a:solidFill>
              </a:rPr>
              <a:t>Cyclic Redundancy Check</a:t>
            </a:r>
          </a:p>
          <a:p>
            <a:pPr algn="ctr"/>
            <a:r>
              <a:rPr lang="en-US" sz="3300" b="1">
                <a:solidFill>
                  <a:srgbClr val="00279F"/>
                </a:solidFill>
              </a:rPr>
              <a:t>CRC</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708025" y="639763"/>
            <a:ext cx="8016875" cy="919162"/>
          </a:xfrm>
        </p:spPr>
        <p:txBody>
          <a:bodyPr/>
          <a:lstStyle/>
          <a:p>
            <a:pPr>
              <a:defRPr/>
            </a:pPr>
            <a:r>
              <a:rPr lang="en-US" b="1" i="1">
                <a:solidFill>
                  <a:srgbClr val="CC0066"/>
                </a:solidFill>
                <a:effectLst>
                  <a:outerShdw blurRad="38100" dist="38100" dir="2700000" algn="tl">
                    <a:srgbClr val="C0C0C0"/>
                  </a:outerShdw>
                </a:effectLst>
              </a:rPr>
              <a:t>Cyclic Redundancy Check</a:t>
            </a:r>
          </a:p>
        </p:txBody>
      </p:sp>
      <p:sp>
        <p:nvSpPr>
          <p:cNvPr id="20483" name="Rectangle 3"/>
          <p:cNvSpPr>
            <a:spLocks noGrp="1" noChangeArrowheads="1"/>
          </p:cNvSpPr>
          <p:nvPr>
            <p:ph type="body" idx="1"/>
          </p:nvPr>
        </p:nvSpPr>
        <p:spPr>
          <a:xfrm>
            <a:off x="708025" y="1635125"/>
            <a:ext cx="8016875" cy="5140325"/>
          </a:xfrm>
        </p:spPr>
        <p:txBody>
          <a:bodyPr/>
          <a:lstStyle/>
          <a:p>
            <a:pPr>
              <a:lnSpc>
                <a:spcPct val="90000"/>
              </a:lnSpc>
            </a:pPr>
            <a:r>
              <a:rPr lang="en-US"/>
              <a:t>Given a k-bit frame or message, the transmitter generates an n-bit sequence, known as a </a:t>
            </a:r>
            <a:r>
              <a:rPr lang="en-US" sz="2900" i="1">
                <a:solidFill>
                  <a:srgbClr val="063DE8"/>
                </a:solidFill>
                <a:latin typeface="Comic Sans MS" pitchFamily="66" charset="0"/>
              </a:rPr>
              <a:t>frame check sequence</a:t>
            </a:r>
            <a:r>
              <a:rPr lang="en-US" sz="2900" i="1">
                <a:latin typeface="Comic Sans MS" pitchFamily="66" charset="0"/>
              </a:rPr>
              <a:t> </a:t>
            </a:r>
            <a:r>
              <a:rPr lang="en-US" sz="2900" i="1">
                <a:solidFill>
                  <a:srgbClr val="063DE8"/>
                </a:solidFill>
                <a:latin typeface="Comic Sans MS" pitchFamily="66" charset="0"/>
              </a:rPr>
              <a:t>(FCS)</a:t>
            </a:r>
            <a:r>
              <a:rPr lang="en-US" sz="2900" i="1">
                <a:latin typeface="Comic Sans MS" pitchFamily="66" charset="0"/>
              </a:rPr>
              <a:t>, </a:t>
            </a:r>
            <a:r>
              <a:rPr lang="en-US"/>
              <a:t>so that the resulting frame, consisting of (k+n) bits, is exactly divisible by some predetermined number.</a:t>
            </a:r>
          </a:p>
          <a:p>
            <a:pPr>
              <a:lnSpc>
                <a:spcPct val="90000"/>
              </a:lnSpc>
            </a:pPr>
            <a:r>
              <a:rPr lang="en-US"/>
              <a:t>The receiver then divides the incoming frame by the same number and, if there is no remainder, assumes that there was no error.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rrowheads="1"/>
          </p:cNvPicPr>
          <p:nvPr/>
        </p:nvPicPr>
        <p:blipFill>
          <a:blip r:embed="rId2"/>
          <a:srcRect/>
          <a:stretch>
            <a:fillRect/>
          </a:stretch>
        </p:blipFill>
        <p:spPr bwMode="auto">
          <a:xfrm>
            <a:off x="3449638" y="550863"/>
            <a:ext cx="3633787" cy="5884862"/>
          </a:xfrm>
          <a:prstGeom prst="rect">
            <a:avLst/>
          </a:prstGeom>
          <a:noFill/>
          <a:ln w="12700">
            <a:noFill/>
            <a:miter lim="800000"/>
            <a:headEnd/>
            <a:tailEnd/>
          </a:ln>
          <a:effectLst/>
        </p:spPr>
      </p:pic>
      <p:sp>
        <p:nvSpPr>
          <p:cNvPr id="21507" name="Rectangle 3"/>
          <p:cNvSpPr>
            <a:spLocks noChangeArrowheads="1"/>
          </p:cNvSpPr>
          <p:nvPr/>
        </p:nvSpPr>
        <p:spPr bwMode="auto">
          <a:xfrm>
            <a:off x="1314450" y="3484563"/>
            <a:ext cx="3006725" cy="617537"/>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Binary Division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rrowheads="1"/>
          </p:cNvPicPr>
          <p:nvPr/>
        </p:nvPicPr>
        <p:blipFill>
          <a:blip r:embed="rId2"/>
          <a:srcRect/>
          <a:stretch>
            <a:fillRect/>
          </a:stretch>
        </p:blipFill>
        <p:spPr bwMode="auto">
          <a:xfrm>
            <a:off x="719138" y="3289300"/>
            <a:ext cx="7681912" cy="1689100"/>
          </a:xfrm>
          <a:prstGeom prst="rect">
            <a:avLst/>
          </a:prstGeom>
          <a:noFill/>
          <a:ln w="12700">
            <a:noFill/>
            <a:miter lim="800000"/>
            <a:headEnd/>
            <a:tailEnd/>
          </a:ln>
          <a:effectLst/>
        </p:spPr>
      </p:pic>
      <p:sp>
        <p:nvSpPr>
          <p:cNvPr id="22531" name="Rectangle 3"/>
          <p:cNvSpPr>
            <a:spLocks noChangeArrowheads="1"/>
          </p:cNvSpPr>
          <p:nvPr/>
        </p:nvSpPr>
        <p:spPr bwMode="auto">
          <a:xfrm>
            <a:off x="3279775" y="684213"/>
            <a:ext cx="2224088" cy="617537"/>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Polynomial</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rrowheads="1"/>
          </p:cNvPicPr>
          <p:nvPr/>
        </p:nvPicPr>
        <p:blipFill>
          <a:blip r:embed="rId2"/>
          <a:srcRect/>
          <a:stretch>
            <a:fillRect/>
          </a:stretch>
        </p:blipFill>
        <p:spPr bwMode="auto">
          <a:xfrm>
            <a:off x="2619375" y="1244600"/>
            <a:ext cx="4208463" cy="4830763"/>
          </a:xfrm>
          <a:prstGeom prst="rect">
            <a:avLst/>
          </a:prstGeom>
          <a:noFill/>
          <a:ln w="12700">
            <a:noFill/>
            <a:miter lim="800000"/>
            <a:headEnd/>
            <a:tailEnd/>
          </a:ln>
          <a:effectLst/>
        </p:spPr>
      </p:pic>
      <p:sp>
        <p:nvSpPr>
          <p:cNvPr id="23555" name="Rectangle 6"/>
          <p:cNvSpPr>
            <a:spLocks noChangeArrowheads="1"/>
          </p:cNvSpPr>
          <p:nvPr/>
        </p:nvSpPr>
        <p:spPr bwMode="auto">
          <a:xfrm>
            <a:off x="2573338" y="123825"/>
            <a:ext cx="4413250" cy="617538"/>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Polynomial and Divisor</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rrowheads="1"/>
          </p:cNvPicPr>
          <p:nvPr/>
        </p:nvPicPr>
        <p:blipFill>
          <a:blip r:embed="rId2"/>
          <a:srcRect/>
          <a:stretch>
            <a:fillRect/>
          </a:stretch>
        </p:blipFill>
        <p:spPr bwMode="auto">
          <a:xfrm>
            <a:off x="709613" y="3025775"/>
            <a:ext cx="8167687" cy="2546350"/>
          </a:xfrm>
          <a:prstGeom prst="rect">
            <a:avLst/>
          </a:prstGeom>
          <a:noFill/>
          <a:ln w="12700">
            <a:noFill/>
            <a:miter lim="800000"/>
            <a:headEnd/>
            <a:tailEnd/>
          </a:ln>
          <a:effectLst/>
        </p:spPr>
      </p:pic>
      <p:sp>
        <p:nvSpPr>
          <p:cNvPr id="24579" name="Rectangle 3"/>
          <p:cNvSpPr>
            <a:spLocks noChangeArrowheads="1"/>
          </p:cNvSpPr>
          <p:nvPr/>
        </p:nvSpPr>
        <p:spPr bwMode="auto">
          <a:xfrm>
            <a:off x="2651125" y="442913"/>
            <a:ext cx="4168775" cy="619125"/>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Standard Polynomials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rrowheads="1"/>
          </p:cNvPicPr>
          <p:nvPr/>
        </p:nvPicPr>
        <p:blipFill>
          <a:blip r:embed="rId2"/>
          <a:srcRect/>
          <a:stretch>
            <a:fillRect/>
          </a:stretch>
        </p:blipFill>
        <p:spPr bwMode="auto">
          <a:xfrm>
            <a:off x="242888" y="936625"/>
            <a:ext cx="8789987" cy="5565775"/>
          </a:xfrm>
          <a:prstGeom prst="rect">
            <a:avLst/>
          </a:prstGeom>
          <a:noFill/>
          <a:ln w="12700">
            <a:noFill/>
            <a:miter lim="800000"/>
            <a:headEnd/>
            <a:tailEnd/>
          </a:ln>
          <a:effectLst/>
        </p:spPr>
      </p:pic>
      <p:sp>
        <p:nvSpPr>
          <p:cNvPr id="25603" name="Rectangle 3"/>
          <p:cNvSpPr>
            <a:spLocks noChangeArrowheads="1"/>
          </p:cNvSpPr>
          <p:nvPr/>
        </p:nvSpPr>
        <p:spPr bwMode="auto">
          <a:xfrm>
            <a:off x="3751263" y="123825"/>
            <a:ext cx="2087562" cy="617538"/>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Checksum</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en-US" b="1" i="1">
                <a:solidFill>
                  <a:srgbClr val="CC0066"/>
                </a:solidFill>
                <a:effectLst>
                  <a:outerShdw blurRad="38100" dist="38100" dir="2700000" algn="tl">
                    <a:srgbClr val="C0C0C0"/>
                  </a:outerShdw>
                </a:effectLst>
                <a:latin typeface="Comic Sans MS" pitchFamily="66" charset="0"/>
              </a:rPr>
              <a:t>At the sender</a:t>
            </a:r>
          </a:p>
        </p:txBody>
      </p:sp>
      <p:sp>
        <p:nvSpPr>
          <p:cNvPr id="26627" name="Rectangle 3"/>
          <p:cNvSpPr>
            <a:spLocks noGrp="1" noChangeArrowheads="1"/>
          </p:cNvSpPr>
          <p:nvPr>
            <p:ph type="body" idx="1"/>
          </p:nvPr>
        </p:nvSpPr>
        <p:spPr/>
        <p:txBody>
          <a:bodyPr/>
          <a:lstStyle/>
          <a:p>
            <a:pPr>
              <a:buClr>
                <a:srgbClr val="CC0066"/>
              </a:buClr>
              <a:buFont typeface="Wingdings" pitchFamily="2" charset="2"/>
              <a:buChar char="Ü"/>
            </a:pPr>
            <a:r>
              <a:rPr lang="en-US"/>
              <a:t>The unit is divided into </a:t>
            </a:r>
            <a:r>
              <a:rPr lang="en-US" i="1"/>
              <a:t>k</a:t>
            </a:r>
            <a:r>
              <a:rPr lang="en-US"/>
              <a:t> sections, each of </a:t>
            </a:r>
            <a:r>
              <a:rPr lang="en-US" i="1"/>
              <a:t>n</a:t>
            </a:r>
            <a:r>
              <a:rPr lang="en-US"/>
              <a:t> bits.</a:t>
            </a:r>
          </a:p>
          <a:p>
            <a:pPr>
              <a:buClr>
                <a:srgbClr val="CC0066"/>
              </a:buClr>
              <a:buFont typeface="Wingdings" pitchFamily="2" charset="2"/>
              <a:buChar char="Ü"/>
            </a:pPr>
            <a:r>
              <a:rPr lang="en-US"/>
              <a:t>All sections are added together using one’s complement to get the sum.</a:t>
            </a:r>
          </a:p>
          <a:p>
            <a:pPr>
              <a:buClr>
                <a:srgbClr val="CC0066"/>
              </a:buClr>
              <a:buFont typeface="Wingdings" pitchFamily="2" charset="2"/>
              <a:buChar char="Ü"/>
            </a:pPr>
            <a:r>
              <a:rPr lang="en-US"/>
              <a:t>The sum is complemented and becomes the checksum.</a:t>
            </a:r>
          </a:p>
          <a:p>
            <a:pPr>
              <a:buClr>
                <a:srgbClr val="CC0066"/>
              </a:buClr>
              <a:buFont typeface="Wingdings" pitchFamily="2" charset="2"/>
              <a:buChar char="Ü"/>
            </a:pPr>
            <a:r>
              <a:rPr lang="en-US"/>
              <a:t>The checksum is sent with the data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defRPr/>
            </a:pPr>
            <a:r>
              <a:rPr lang="en-US" b="1" i="1">
                <a:solidFill>
                  <a:srgbClr val="CC0066"/>
                </a:solidFill>
                <a:effectLst>
                  <a:outerShdw blurRad="38100" dist="38100" dir="2700000" algn="tl">
                    <a:srgbClr val="C0C0C0"/>
                  </a:outerShdw>
                </a:effectLst>
                <a:latin typeface="Comic Sans MS" pitchFamily="66" charset="0"/>
              </a:rPr>
              <a:t>At the receiver</a:t>
            </a:r>
          </a:p>
        </p:txBody>
      </p:sp>
      <p:sp>
        <p:nvSpPr>
          <p:cNvPr id="27651" name="Rectangle 3"/>
          <p:cNvSpPr>
            <a:spLocks noGrp="1" noChangeArrowheads="1"/>
          </p:cNvSpPr>
          <p:nvPr>
            <p:ph type="body" idx="1"/>
          </p:nvPr>
        </p:nvSpPr>
        <p:spPr/>
        <p:txBody>
          <a:bodyPr/>
          <a:lstStyle/>
          <a:p>
            <a:pPr>
              <a:buClr>
                <a:srgbClr val="CC0066"/>
              </a:buClr>
              <a:buFont typeface="Wingdings" pitchFamily="2" charset="2"/>
              <a:buChar char="Ü"/>
            </a:pPr>
            <a:r>
              <a:rPr lang="en-US"/>
              <a:t>The unit is divided into </a:t>
            </a:r>
            <a:r>
              <a:rPr lang="en-US" i="1"/>
              <a:t>k</a:t>
            </a:r>
            <a:r>
              <a:rPr lang="en-US"/>
              <a:t> sections, each of </a:t>
            </a:r>
            <a:r>
              <a:rPr lang="en-US" i="1"/>
              <a:t>n</a:t>
            </a:r>
            <a:r>
              <a:rPr lang="en-US"/>
              <a:t> bits.</a:t>
            </a:r>
          </a:p>
          <a:p>
            <a:pPr>
              <a:buClr>
                <a:srgbClr val="CC0066"/>
              </a:buClr>
              <a:buFont typeface="Wingdings" pitchFamily="2" charset="2"/>
              <a:buChar char="Ü"/>
            </a:pPr>
            <a:r>
              <a:rPr lang="en-US"/>
              <a:t>All sections are added together using one’s complement to get the sum.</a:t>
            </a:r>
          </a:p>
          <a:p>
            <a:pPr>
              <a:buClr>
                <a:srgbClr val="CC0066"/>
              </a:buClr>
              <a:buFont typeface="Wingdings" pitchFamily="2" charset="2"/>
              <a:buChar char="Ü"/>
            </a:pPr>
            <a:r>
              <a:rPr lang="en-US"/>
              <a:t>The sum is complemented.</a:t>
            </a:r>
          </a:p>
          <a:p>
            <a:pPr>
              <a:buClr>
                <a:srgbClr val="CC0066"/>
              </a:buClr>
              <a:buFont typeface="Wingdings" pitchFamily="2" charset="2"/>
              <a:buChar char="Ü"/>
            </a:pPr>
            <a:r>
              <a:rPr lang="en-US"/>
              <a:t>If the result is zero, the data are accepted: otherwise, they are rejected.</a:t>
            </a:r>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08025" y="273050"/>
            <a:ext cx="8016875" cy="1285875"/>
          </a:xfrm>
        </p:spPr>
        <p:txBody>
          <a:bodyPr/>
          <a:lstStyle/>
          <a:p>
            <a:pPr>
              <a:defRPr/>
            </a:pPr>
            <a:r>
              <a:rPr lang="en-US" b="1" i="1">
                <a:solidFill>
                  <a:srgbClr val="CC0066"/>
                </a:solidFill>
                <a:effectLst>
                  <a:outerShdw blurRad="38100" dist="38100" dir="2700000" algn="tl">
                    <a:srgbClr val="C0C0C0"/>
                  </a:outerShdw>
                </a:effectLst>
                <a:latin typeface="Book Antiqua" pitchFamily="18" charset="0"/>
              </a:rPr>
              <a:t>Performance</a:t>
            </a:r>
          </a:p>
        </p:txBody>
      </p:sp>
      <p:sp>
        <p:nvSpPr>
          <p:cNvPr id="28675" name="Rectangle 3"/>
          <p:cNvSpPr>
            <a:spLocks noGrp="1" noChangeArrowheads="1"/>
          </p:cNvSpPr>
          <p:nvPr>
            <p:ph type="body" idx="1"/>
          </p:nvPr>
        </p:nvSpPr>
        <p:spPr>
          <a:xfrm>
            <a:off x="407988" y="1484313"/>
            <a:ext cx="8691562" cy="4916487"/>
          </a:xfrm>
        </p:spPr>
        <p:txBody>
          <a:bodyPr/>
          <a:lstStyle/>
          <a:p>
            <a:pPr>
              <a:buClr>
                <a:srgbClr val="CC0066"/>
              </a:buClr>
              <a:buFont typeface="Wingdings 3" pitchFamily="18" charset="2"/>
              <a:buChar char="â"/>
            </a:pPr>
            <a:r>
              <a:rPr lang="en-US"/>
              <a:t>The checksum detects all errors involving an odd number of bits.</a:t>
            </a:r>
          </a:p>
          <a:p>
            <a:pPr>
              <a:buClr>
                <a:srgbClr val="CC0066"/>
              </a:buClr>
              <a:buFont typeface="Wingdings 3" pitchFamily="18" charset="2"/>
              <a:buChar char="â"/>
            </a:pPr>
            <a:r>
              <a:rPr lang="en-US"/>
              <a:t>It detects most errors involving an even number of bits.</a:t>
            </a:r>
          </a:p>
          <a:p>
            <a:pPr>
              <a:buClr>
                <a:srgbClr val="CC0066"/>
              </a:buClr>
              <a:buFont typeface="Wingdings 3" pitchFamily="18" charset="2"/>
              <a:buChar char="â"/>
            </a:pPr>
            <a:r>
              <a:rPr lang="en-US"/>
              <a:t>If one or more bits of a segment are damaged and the corresponding bit or bits of opposite value in a second segment are also damaged, the sums of those columns will not change and the receiver will not detect a problem.</a:t>
            </a:r>
          </a:p>
          <a:p>
            <a:pPr>
              <a:buFontTx/>
              <a:buNone/>
            </a:pP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defRPr/>
            </a:pPr>
            <a:r>
              <a:rPr lang="en-US" b="1" i="1">
                <a:solidFill>
                  <a:srgbClr val="CC0066"/>
                </a:solidFill>
                <a:effectLst>
                  <a:outerShdw blurRad="38100" dist="38100" dir="2700000" algn="tl">
                    <a:srgbClr val="C0C0C0"/>
                  </a:outerShdw>
                </a:effectLst>
                <a:latin typeface="Comic Sans MS" pitchFamily="66" charset="0"/>
              </a:rPr>
              <a:t>Error Correction</a:t>
            </a:r>
          </a:p>
        </p:txBody>
      </p:sp>
      <p:sp>
        <p:nvSpPr>
          <p:cNvPr id="29699" name="Rectangle 3"/>
          <p:cNvSpPr>
            <a:spLocks noGrp="1" noChangeArrowheads="1"/>
          </p:cNvSpPr>
          <p:nvPr>
            <p:ph type="body" idx="1"/>
          </p:nvPr>
        </p:nvSpPr>
        <p:spPr/>
        <p:txBody>
          <a:bodyPr/>
          <a:lstStyle/>
          <a:p>
            <a:pPr marL="633413" indent="-633413">
              <a:buFontTx/>
              <a:buNone/>
            </a:pPr>
            <a:r>
              <a:rPr lang="en-US"/>
              <a:t>It can be handled in two ways:</a:t>
            </a:r>
          </a:p>
          <a:p>
            <a:pPr marL="633413" indent="-633413">
              <a:buClr>
                <a:srgbClr val="CC0066"/>
              </a:buClr>
              <a:buFont typeface="Wingdings" pitchFamily="2" charset="2"/>
              <a:buAutoNum type="arabicParenR"/>
            </a:pPr>
            <a:r>
              <a:rPr lang="en-US"/>
              <a:t>receiver can have the sender retransmit the entire data unit.</a:t>
            </a:r>
          </a:p>
          <a:p>
            <a:pPr marL="633413" indent="-633413">
              <a:buClr>
                <a:srgbClr val="CC0066"/>
              </a:buClr>
              <a:buFont typeface="Wingdings" pitchFamily="2" charset="2"/>
              <a:buAutoNum type="arabicParenR"/>
            </a:pPr>
            <a:r>
              <a:rPr lang="en-US"/>
              <a:t>The receiver can use an error-correcting code, which automatically corrects certain errors.</a:t>
            </a:r>
          </a:p>
          <a:p>
            <a:pPr marL="633413" indent="-633413"/>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708025" y="639763"/>
            <a:ext cx="8016875" cy="919162"/>
          </a:xfrm>
        </p:spPr>
        <p:txBody>
          <a:bodyPr/>
          <a:lstStyle/>
          <a:p>
            <a:pPr>
              <a:defRPr/>
            </a:pPr>
            <a:r>
              <a:rPr lang="en-US" b="1" i="1">
                <a:solidFill>
                  <a:srgbClr val="CC0066"/>
                </a:solidFill>
                <a:effectLst>
                  <a:outerShdw blurRad="38100" dist="38100" dir="2700000" algn="tl">
                    <a:srgbClr val="C0C0C0"/>
                  </a:outerShdw>
                </a:effectLst>
                <a:latin typeface="Comic Sans MS" pitchFamily="66" charset="0"/>
              </a:rPr>
              <a:t>Single-bit error correction</a:t>
            </a:r>
          </a:p>
        </p:txBody>
      </p:sp>
      <p:sp>
        <p:nvSpPr>
          <p:cNvPr id="49155" name="Rectangle 3"/>
          <p:cNvSpPr>
            <a:spLocks noGrp="1" noChangeArrowheads="1"/>
          </p:cNvSpPr>
          <p:nvPr>
            <p:ph type="body" idx="1"/>
          </p:nvPr>
        </p:nvSpPr>
        <p:spPr>
          <a:xfrm>
            <a:off x="708025" y="1558925"/>
            <a:ext cx="8016875" cy="5216525"/>
          </a:xfrm>
        </p:spPr>
        <p:txBody>
          <a:bodyPr/>
          <a:lstStyle/>
          <a:p>
            <a:pPr marL="356410" indent="-356410">
              <a:buFontTx/>
              <a:buNone/>
              <a:defRPr/>
            </a:pPr>
            <a:r>
              <a:rPr lang="en-US" sz="2900"/>
              <a:t>	To correct an error, the receiver reverses the value of the altered bit. To do so, it must know which bit is in error.</a:t>
            </a:r>
          </a:p>
          <a:p>
            <a:pPr marL="356410" indent="-356410">
              <a:buFontTx/>
              <a:buNone/>
              <a:defRPr/>
            </a:pPr>
            <a:r>
              <a:rPr lang="en-US" sz="2900"/>
              <a:t>Number of redundancy bits needed</a:t>
            </a:r>
          </a:p>
          <a:p>
            <a:pPr marL="356410" indent="-356410">
              <a:defRPr/>
            </a:pPr>
            <a:r>
              <a:rPr lang="en-US" sz="2900"/>
              <a:t>Let data bits = </a:t>
            </a:r>
            <a:r>
              <a:rPr lang="en-US" sz="2900" i="1"/>
              <a:t>m</a:t>
            </a:r>
          </a:p>
          <a:p>
            <a:pPr marL="356410" indent="-356410">
              <a:defRPr/>
            </a:pPr>
            <a:r>
              <a:rPr lang="en-US" sz="2900"/>
              <a:t>Redundancy bits =</a:t>
            </a:r>
            <a:r>
              <a:rPr lang="en-US" sz="2900" i="1"/>
              <a:t> r</a:t>
            </a:r>
          </a:p>
          <a:p>
            <a:pPr marL="356410" indent="-356410">
              <a:buFontTx/>
              <a:buNone/>
              <a:defRPr/>
            </a:pPr>
            <a:r>
              <a:rPr lang="en-US" sz="2900">
                <a:sym typeface="Symbol" pitchFamily="18" charset="2"/>
              </a:rPr>
              <a:t></a:t>
            </a:r>
            <a:r>
              <a:rPr lang="en-US" sz="2900"/>
              <a:t>Total message sent =</a:t>
            </a:r>
            <a:r>
              <a:rPr lang="en-US" sz="2900" i="1"/>
              <a:t> m+r</a:t>
            </a:r>
          </a:p>
          <a:p>
            <a:pPr marL="356410" indent="-356410">
              <a:buFontTx/>
              <a:buNone/>
              <a:defRPr/>
            </a:pPr>
            <a:r>
              <a:rPr lang="en-US" sz="2900"/>
              <a:t>The value of r must satisfy the following relation:</a:t>
            </a:r>
          </a:p>
          <a:p>
            <a:pPr marL="356410" indent="-356410" algn="ctr">
              <a:buFontTx/>
              <a:buNone/>
              <a:defRPr/>
            </a:pPr>
            <a:r>
              <a:rPr lang="en-US" b="1">
                <a:solidFill>
                  <a:srgbClr val="063DE8"/>
                </a:solidFill>
                <a:effectLst>
                  <a:outerShdw blurRad="38100" dist="38100" dir="2700000" algn="tl">
                    <a:srgbClr val="C0C0C0"/>
                  </a:outerShdw>
                </a:effectLst>
              </a:rPr>
              <a:t>2</a:t>
            </a:r>
            <a:r>
              <a:rPr lang="en-US" b="1" baseline="30000">
                <a:solidFill>
                  <a:srgbClr val="063DE8"/>
                </a:solidFill>
                <a:effectLst>
                  <a:outerShdw blurRad="38100" dist="38100" dir="2700000" algn="tl">
                    <a:srgbClr val="C0C0C0"/>
                  </a:outerShdw>
                </a:effectLst>
              </a:rPr>
              <a:t>r</a:t>
            </a:r>
            <a:r>
              <a:rPr lang="en-US" b="1">
                <a:solidFill>
                  <a:srgbClr val="063DE8"/>
                </a:solidFill>
                <a:effectLst>
                  <a:outerShdw blurRad="38100" dist="38100" dir="2700000" algn="tl">
                    <a:srgbClr val="C0C0C0"/>
                  </a:outerShdw>
                </a:effectLst>
              </a:rPr>
              <a:t> </a:t>
            </a:r>
            <a:r>
              <a:rPr lang="en-US" b="1">
                <a:solidFill>
                  <a:srgbClr val="063DE8"/>
                </a:solidFill>
                <a:effectLst>
                  <a:outerShdw blurRad="38100" dist="38100" dir="2700000" algn="tl">
                    <a:srgbClr val="C0C0C0"/>
                  </a:outerShdw>
                </a:effectLst>
                <a:ea typeface="SimSun" pitchFamily="2" charset="-122"/>
              </a:rPr>
              <a:t>≥ m+r+1</a:t>
            </a:r>
          </a:p>
          <a:p>
            <a:pPr marL="356410" indent="-356410">
              <a:defRPr/>
            </a:pPr>
            <a:endParaRPr lang="en-US" b="1">
              <a:solidFill>
                <a:srgbClr val="063DE8"/>
              </a:solidFill>
              <a:effectLst>
                <a:outerShdw blurRad="38100" dist="38100" dir="2700000" algn="tl">
                  <a:srgbClr val="C0C0C0"/>
                </a:outerShdw>
              </a:effectLs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rrowheads="1"/>
          </p:cNvPicPr>
          <p:nvPr/>
        </p:nvPicPr>
        <p:blipFill>
          <a:blip r:embed="rId2"/>
          <a:srcRect/>
          <a:stretch>
            <a:fillRect/>
          </a:stretch>
        </p:blipFill>
        <p:spPr bwMode="auto">
          <a:xfrm>
            <a:off x="415925" y="2436813"/>
            <a:ext cx="8586788" cy="3178175"/>
          </a:xfrm>
          <a:prstGeom prst="rect">
            <a:avLst/>
          </a:prstGeom>
          <a:noFill/>
          <a:ln w="12700">
            <a:noFill/>
            <a:miter lim="800000"/>
            <a:headEnd/>
            <a:tailEnd/>
          </a:ln>
          <a:effectLst/>
        </p:spPr>
      </p:pic>
      <p:sp>
        <p:nvSpPr>
          <p:cNvPr id="31747" name="Rectangle 3"/>
          <p:cNvSpPr>
            <a:spLocks noChangeArrowheads="1"/>
          </p:cNvSpPr>
          <p:nvPr/>
        </p:nvSpPr>
        <p:spPr bwMode="auto">
          <a:xfrm>
            <a:off x="2808288" y="203200"/>
            <a:ext cx="3311525" cy="619125"/>
          </a:xfrm>
          <a:prstGeom prst="rect">
            <a:avLst/>
          </a:prstGeom>
          <a:noFill/>
          <a:ln w="12700">
            <a:noFill/>
            <a:miter lim="800000"/>
            <a:headEnd/>
            <a:tailEnd/>
          </a:ln>
          <a:effectLst/>
        </p:spPr>
        <p:txBody>
          <a:bodyPr wrap="none" lIns="94053" tIns="46201" rIns="94053" bIns="46201">
            <a:spAutoFit/>
          </a:bodyPr>
          <a:lstStyle/>
          <a:p>
            <a:r>
              <a:rPr lang="en-US" sz="3300" b="1">
                <a:solidFill>
                  <a:srgbClr val="00279F"/>
                </a:solidFill>
              </a:rPr>
              <a:t>Error Correction</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a:extLst>
              <a:ext uri="{FF2B5EF4-FFF2-40B4-BE49-F238E27FC236}">
                <a16:creationId xmlns:a16="http://schemas.microsoft.com/office/drawing/2014/main" id="{7469AFBE-3140-4BC0-9C3B-E1515A9C0102}"/>
              </a:ext>
            </a:extLst>
          </p:cNvPr>
          <p:cNvSpPr>
            <a:spLocks noGrp="1"/>
          </p:cNvSpPr>
          <p:nvPr>
            <p:ph type="sldNum" sz="quarter" idx="10"/>
          </p:nvPr>
        </p:nvSpPr>
        <p:spPr bwMode="auto">
          <a:xfrm>
            <a:off x="-76200" y="64008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10.</a:t>
            </a:r>
            <a:fld id="{2F13798A-762F-4C50-B3C3-7712CA04C249}" type="slidenum">
              <a:rPr lang="en-US" altLang="en-US" smtClean="0"/>
              <a:pPr/>
              <a:t>31</a:t>
            </a:fld>
            <a:endParaRPr lang="en-US" altLang="en-US" sz="2063">
              <a:solidFill>
                <a:schemeClr val="bg2"/>
              </a:solidFill>
            </a:endParaRPr>
          </a:p>
        </p:txBody>
      </p:sp>
      <p:sp>
        <p:nvSpPr>
          <p:cNvPr id="40963" name="Line 2">
            <a:extLst>
              <a:ext uri="{FF2B5EF4-FFF2-40B4-BE49-F238E27FC236}">
                <a16:creationId xmlns:a16="http://schemas.microsoft.com/office/drawing/2014/main" id="{95774F90-9291-415B-9BED-64E40E1EAEAE}"/>
              </a:ext>
            </a:extLst>
          </p:cNvPr>
          <p:cNvSpPr>
            <a:spLocks noChangeShapeType="1"/>
          </p:cNvSpPr>
          <p:nvPr/>
        </p:nvSpPr>
        <p:spPr bwMode="auto">
          <a:xfrm>
            <a:off x="157215" y="220319"/>
            <a:ext cx="9039886"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sz="2579"/>
          </a:p>
        </p:txBody>
      </p:sp>
      <p:sp>
        <p:nvSpPr>
          <p:cNvPr id="40964" name="Line 3">
            <a:extLst>
              <a:ext uri="{FF2B5EF4-FFF2-40B4-BE49-F238E27FC236}">
                <a16:creationId xmlns:a16="http://schemas.microsoft.com/office/drawing/2014/main" id="{0DADD66C-482A-41FD-9855-48553556F570}"/>
              </a:ext>
            </a:extLst>
          </p:cNvPr>
          <p:cNvSpPr>
            <a:spLocks noChangeShapeType="1"/>
          </p:cNvSpPr>
          <p:nvPr/>
        </p:nvSpPr>
        <p:spPr bwMode="auto">
          <a:xfrm>
            <a:off x="157215" y="1085003"/>
            <a:ext cx="9039886"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sz="2579"/>
          </a:p>
        </p:txBody>
      </p:sp>
      <p:sp>
        <p:nvSpPr>
          <p:cNvPr id="40965" name="Text Box 4">
            <a:extLst>
              <a:ext uri="{FF2B5EF4-FFF2-40B4-BE49-F238E27FC236}">
                <a16:creationId xmlns:a16="http://schemas.microsoft.com/office/drawing/2014/main" id="{EEAFE851-B7F3-41D4-9D4D-7FB552306675}"/>
              </a:ext>
            </a:extLst>
          </p:cNvPr>
          <p:cNvSpPr txBox="1">
            <a:spLocks noChangeArrowheads="1"/>
          </p:cNvSpPr>
          <p:nvPr/>
        </p:nvSpPr>
        <p:spPr bwMode="auto">
          <a:xfrm>
            <a:off x="314430" y="456142"/>
            <a:ext cx="9134187" cy="488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76">
                <a:solidFill>
                  <a:schemeClr val="folHlink"/>
                </a:solidFill>
                <a:latin typeface="Times New Roman" panose="02020603050405020304" pitchFamily="18" charset="0"/>
              </a:rPr>
              <a:t>Figure 10.12  </a:t>
            </a:r>
            <a:r>
              <a:rPr lang="en-US" altLang="en-US" sz="2063" i="1">
                <a:latin typeface="Times New Roman" panose="02020603050405020304" pitchFamily="18" charset="0"/>
              </a:rPr>
              <a:t>The structure of the encoder and decoder for a Hamming code</a:t>
            </a:r>
          </a:p>
        </p:txBody>
      </p:sp>
      <p:sp>
        <p:nvSpPr>
          <p:cNvPr id="40966" name="Line 5">
            <a:extLst>
              <a:ext uri="{FF2B5EF4-FFF2-40B4-BE49-F238E27FC236}">
                <a16:creationId xmlns:a16="http://schemas.microsoft.com/office/drawing/2014/main" id="{CCEB5C3E-77A1-4697-89F9-A0378BAF2358}"/>
              </a:ext>
            </a:extLst>
          </p:cNvPr>
          <p:cNvSpPr>
            <a:spLocks noChangeShapeType="1"/>
          </p:cNvSpPr>
          <p:nvPr/>
        </p:nvSpPr>
        <p:spPr bwMode="auto">
          <a:xfrm>
            <a:off x="157215" y="6508935"/>
            <a:ext cx="9039886"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sz="2579"/>
          </a:p>
        </p:txBody>
      </p:sp>
      <p:pic>
        <p:nvPicPr>
          <p:cNvPr id="40967" name="Picture 6">
            <a:extLst>
              <a:ext uri="{FF2B5EF4-FFF2-40B4-BE49-F238E27FC236}">
                <a16:creationId xmlns:a16="http://schemas.microsoft.com/office/drawing/2014/main" id="{6E676956-93E3-47B8-A381-FC2578B05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939" y="1410899"/>
            <a:ext cx="8930163" cy="4693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A1BF2A38-A5BA-4BE2-8A68-FB76A104EE2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329" tIns="47165" rIns="94329" bIns="47165" numCol="1" anchor="t" anchorCtr="0" compatLnSpc="1">
            <a:prstTxWarp prst="textNoShape">
              <a:avLst/>
            </a:prstTxWarp>
          </a:bodyPr>
          <a:lstStyle/>
          <a:p>
            <a:r>
              <a:rPr lang="en-US" altLang="en-US"/>
              <a:t>Hamming Code</a:t>
            </a:r>
          </a:p>
        </p:txBody>
      </p:sp>
      <p:sp>
        <p:nvSpPr>
          <p:cNvPr id="41987" name="Content Placeholder 2">
            <a:extLst>
              <a:ext uri="{FF2B5EF4-FFF2-40B4-BE49-F238E27FC236}">
                <a16:creationId xmlns:a16="http://schemas.microsoft.com/office/drawing/2014/main" id="{D1B13AFD-1D50-4783-981F-87145899FA5A}"/>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329" tIns="47165" rIns="94329" bIns="47165" numCol="1" anchor="t" anchorCtr="0" compatLnSpc="1">
            <a:prstTxWarp prst="textNoShape">
              <a:avLst/>
            </a:prstTxWarp>
          </a:bodyPr>
          <a:lstStyle/>
          <a:p>
            <a:r>
              <a:rPr lang="en-US" altLang="en-US" sz="2476"/>
              <a:t>Parity checks are created as follow (using modulo-2)</a:t>
            </a:r>
          </a:p>
          <a:p>
            <a:pPr lvl="1"/>
            <a:r>
              <a:rPr lang="en-US" altLang="en-US" sz="2476" i="1"/>
              <a:t>r0 = a2 + a1 + a0 </a:t>
            </a:r>
          </a:p>
          <a:p>
            <a:pPr lvl="1"/>
            <a:r>
              <a:rPr lang="en-US" altLang="en-US" sz="2476" i="1"/>
              <a:t>r1 = a3 + a2 + a1</a:t>
            </a:r>
          </a:p>
          <a:p>
            <a:pPr lvl="1"/>
            <a:r>
              <a:rPr lang="en-US" altLang="en-US" sz="2476" i="1"/>
              <a:t>r2 = a1 + a0 + a3</a:t>
            </a:r>
          </a:p>
        </p:txBody>
      </p:sp>
      <p:sp>
        <p:nvSpPr>
          <p:cNvPr id="41988" name="Slide Number Placeholder 3">
            <a:extLst>
              <a:ext uri="{FF2B5EF4-FFF2-40B4-BE49-F238E27FC236}">
                <a16:creationId xmlns:a16="http://schemas.microsoft.com/office/drawing/2014/main" id="{2B255412-0FC1-43D8-A46D-8AEBA75B2813}"/>
              </a:ext>
            </a:extLst>
          </p:cNvPr>
          <p:cNvSpPr>
            <a:spLocks noGrp="1"/>
          </p:cNvSpPr>
          <p:nvPr>
            <p:ph type="sldNum" sz="quarter" idx="10"/>
          </p:nvPr>
        </p:nvSpPr>
        <p:spPr bwMode="auto">
          <a:xfrm>
            <a:off x="-76200" y="64008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10.</a:t>
            </a:r>
            <a:fld id="{96CFBA52-74ED-493E-8F07-F7F8B5D79ABB}" type="slidenum">
              <a:rPr lang="en-US" altLang="en-US" smtClean="0"/>
              <a:pPr/>
              <a:t>32</a:t>
            </a:fld>
            <a:endParaRPr lang="en-US" altLang="en-US" sz="2063">
              <a:solidFill>
                <a:schemeClr val="bg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1981D3F-0D29-4466-B624-173AAF07023C}"/>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329" tIns="47165" rIns="94329" bIns="47165" numCol="1" anchor="t" anchorCtr="0" compatLnSpc="1">
            <a:prstTxWarp prst="textNoShape">
              <a:avLst/>
            </a:prstTxWarp>
          </a:bodyPr>
          <a:lstStyle/>
          <a:p>
            <a:r>
              <a:rPr lang="en-US" altLang="en-US"/>
              <a:t>Hamming Code</a:t>
            </a:r>
          </a:p>
        </p:txBody>
      </p:sp>
      <p:sp>
        <p:nvSpPr>
          <p:cNvPr id="43011" name="Content Placeholder 2">
            <a:extLst>
              <a:ext uri="{FF2B5EF4-FFF2-40B4-BE49-F238E27FC236}">
                <a16:creationId xmlns:a16="http://schemas.microsoft.com/office/drawing/2014/main" id="{B061BD61-7D8C-493F-B170-1ABBE1767225}"/>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329" tIns="47165" rIns="94329" bIns="47165" numCol="1" anchor="t" anchorCtr="0" compatLnSpc="1">
            <a:prstTxWarp prst="textNoShape">
              <a:avLst/>
            </a:prstTxWarp>
          </a:bodyPr>
          <a:lstStyle/>
          <a:p>
            <a:r>
              <a:rPr lang="en-US" altLang="en-US" sz="2476"/>
              <a:t>The checker in the decoder creates a 3-bit syndrome (s2s1s0).</a:t>
            </a:r>
          </a:p>
          <a:p>
            <a:r>
              <a:rPr lang="en-US" altLang="en-US" sz="2476"/>
              <a:t>In which each bit is the parity check for 4 out of the 7 bits in the received codeword:</a:t>
            </a:r>
          </a:p>
          <a:p>
            <a:r>
              <a:rPr lang="en-US" altLang="en-US" sz="2476" i="1"/>
              <a:t>s0 = b2 + b1 + b0 + q0</a:t>
            </a:r>
          </a:p>
          <a:p>
            <a:r>
              <a:rPr lang="en-US" altLang="en-US" sz="2476" i="1"/>
              <a:t>s1 = b3 + b2 + b1 + q1</a:t>
            </a:r>
          </a:p>
          <a:p>
            <a:r>
              <a:rPr lang="en-US" altLang="en-US" sz="2476" i="1"/>
              <a:t>s2 = b1 + b0 + b3 + q2</a:t>
            </a:r>
          </a:p>
          <a:p>
            <a:r>
              <a:rPr lang="en-US" altLang="en-US" sz="2476"/>
              <a:t>The equations used by the checker are the same as those used by the generator with the parity-check bits added to the right-hand side of the equation.</a:t>
            </a:r>
          </a:p>
          <a:p>
            <a:endParaRPr lang="en-US" altLang="en-US" sz="2476"/>
          </a:p>
        </p:txBody>
      </p:sp>
      <p:sp>
        <p:nvSpPr>
          <p:cNvPr id="43012" name="Slide Number Placeholder 3">
            <a:extLst>
              <a:ext uri="{FF2B5EF4-FFF2-40B4-BE49-F238E27FC236}">
                <a16:creationId xmlns:a16="http://schemas.microsoft.com/office/drawing/2014/main" id="{F0BDFB4E-55CD-4E50-98C8-4417D5355806}"/>
              </a:ext>
            </a:extLst>
          </p:cNvPr>
          <p:cNvSpPr>
            <a:spLocks noGrp="1"/>
          </p:cNvSpPr>
          <p:nvPr>
            <p:ph type="sldNum" sz="quarter" idx="10"/>
          </p:nvPr>
        </p:nvSpPr>
        <p:spPr bwMode="auto">
          <a:xfrm>
            <a:off x="-76200" y="64008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10.</a:t>
            </a:r>
            <a:fld id="{96CFBA52-74ED-493E-8F07-F7F8B5D79ABB}" type="slidenum">
              <a:rPr lang="en-US" altLang="en-US" smtClean="0"/>
              <a:pPr/>
              <a:t>33</a:t>
            </a:fld>
            <a:endParaRPr lang="en-US" altLang="en-US" sz="2063">
              <a:solidFill>
                <a:schemeClr val="bg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025" y="216074"/>
            <a:ext cx="8016875" cy="1200150"/>
          </a:xfrm>
        </p:spPr>
        <p:txBody>
          <a:bodyPr>
            <a:normAutofit fontScale="90000"/>
          </a:bodyPr>
          <a:lstStyle/>
          <a:p>
            <a:r>
              <a:rPr lang="en-US" dirty="0"/>
              <a:t>Example of Hamming Code for message length 4</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819132911"/>
                  </p:ext>
                </p:extLst>
              </p:nvPr>
            </p:nvGraphicFramePr>
            <p:xfrm>
              <a:off x="943292" y="1512218"/>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3039">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691748">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4</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2</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1</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2</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1</m:t>
                                    </m:r>
                                  </m:sub>
                                </m:sSub>
                              </m:oMath>
                            </m:oMathPara>
                          </a14:m>
                          <a:endParaRPr lang="en-US" sz="2000" dirty="0"/>
                        </a:p>
                      </a:txBody>
                      <a:tcPr marL="94329" marR="94329" marT="47165" marB="47165"/>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819132911"/>
                  </p:ext>
                </p:extLst>
              </p:nvPr>
            </p:nvGraphicFramePr>
            <p:xfrm>
              <a:off x="943292" y="1512218"/>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9130">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703930">
                    <a:tc>
                      <a:txBody>
                        <a:bodyPr/>
                        <a:lstStyle/>
                        <a:p>
                          <a:endParaRPr lang="en-US"/>
                        </a:p>
                      </a:txBody>
                      <a:tcPr marL="94329" marR="94329" marT="47165" marB="47165">
                        <a:blipFill>
                          <a:blip r:embed="rId2"/>
                          <a:stretch>
                            <a:fillRect l="-775" t="-61207" r="-864341" b="-14655"/>
                          </a:stretch>
                        </a:blipFill>
                      </a:tcPr>
                    </a:tc>
                    <a:tc>
                      <a:txBody>
                        <a:bodyPr/>
                        <a:lstStyle/>
                        <a:p>
                          <a:endParaRPr lang="en-US"/>
                        </a:p>
                      </a:txBody>
                      <a:tcPr marL="94329" marR="94329" marT="47165" marB="47165">
                        <a:blipFill>
                          <a:blip r:embed="rId2"/>
                          <a:stretch>
                            <a:fillRect l="-100775" t="-61207" r="-764341" b="-14655"/>
                          </a:stretch>
                        </a:blipFill>
                      </a:tcPr>
                    </a:tc>
                    <a:tc>
                      <a:txBody>
                        <a:bodyPr/>
                        <a:lstStyle/>
                        <a:p>
                          <a:endParaRPr lang="en-US"/>
                        </a:p>
                      </a:txBody>
                      <a:tcPr marL="94329" marR="94329" marT="47165" marB="47165">
                        <a:blipFill>
                          <a:blip r:embed="rId2"/>
                          <a:stretch>
                            <a:fillRect l="-200775" t="-61207" r="-664341" b="-14655"/>
                          </a:stretch>
                        </a:blipFill>
                      </a:tcPr>
                    </a:tc>
                    <a:tc>
                      <a:txBody>
                        <a:bodyPr/>
                        <a:lstStyle/>
                        <a:p>
                          <a:endParaRPr lang="en-US"/>
                        </a:p>
                      </a:txBody>
                      <a:tcPr marL="94329" marR="94329" marT="47165" marB="47165">
                        <a:blipFill>
                          <a:blip r:embed="rId2"/>
                          <a:stretch>
                            <a:fillRect l="-300775" t="-61207" r="-564341" b="-14655"/>
                          </a:stretch>
                        </a:blipFill>
                      </a:tcPr>
                    </a:tc>
                    <a:tc>
                      <a:txBody>
                        <a:bodyPr/>
                        <a:lstStyle/>
                        <a:p>
                          <a:endParaRPr lang="en-US"/>
                        </a:p>
                      </a:txBody>
                      <a:tcPr marL="94329" marR="94329" marT="47165" marB="47165">
                        <a:blipFill>
                          <a:blip r:embed="rId2"/>
                          <a:stretch>
                            <a:fillRect l="-400775" t="-61207" r="-464341" b="-14655"/>
                          </a:stretch>
                        </a:blipFill>
                      </a:tcPr>
                    </a:tc>
                    <a:tc>
                      <a:txBody>
                        <a:bodyPr/>
                        <a:lstStyle/>
                        <a:p>
                          <a:endParaRPr lang="en-US"/>
                        </a:p>
                      </a:txBody>
                      <a:tcPr marL="94329" marR="94329" marT="47165" marB="47165">
                        <a:blipFill>
                          <a:blip r:embed="rId2"/>
                          <a:stretch>
                            <a:fillRect l="-500775" t="-61207" r="-364341" b="-14655"/>
                          </a:stretch>
                        </a:blipFill>
                      </a:tcPr>
                    </a:tc>
                    <a:tc>
                      <a:txBody>
                        <a:bodyPr/>
                        <a:lstStyle/>
                        <a:p>
                          <a:endParaRPr lang="en-US"/>
                        </a:p>
                      </a:txBody>
                      <a:tcPr marL="94329" marR="94329" marT="47165" marB="47165">
                        <a:blipFill>
                          <a:blip r:embed="rId2"/>
                          <a:stretch>
                            <a:fillRect l="-600775" t="-61207" r="-264341" b="-14655"/>
                          </a:stretch>
                        </a:blipFill>
                      </a:tcPr>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357102357"/>
                  </p:ext>
                </p:extLst>
              </p:nvPr>
            </p:nvGraphicFramePr>
            <p:xfrm>
              <a:off x="943292" y="2641406"/>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3039">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691748">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2</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1</m:t>
                                    </m:r>
                                  </m:sub>
                                </m:sSub>
                              </m:oMath>
                            </m:oMathPara>
                          </a14:m>
                          <a:endParaRPr lang="en-US" sz="2000" dirty="0"/>
                        </a:p>
                      </a:txBody>
                      <a:tcPr marL="94329" marR="94329" marT="47165" marB="47165"/>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357102357"/>
                  </p:ext>
                </p:extLst>
              </p:nvPr>
            </p:nvGraphicFramePr>
            <p:xfrm>
              <a:off x="943292" y="2641406"/>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9130">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703930">
                    <a:tc>
                      <a:txBody>
                        <a:bodyPr/>
                        <a:lstStyle/>
                        <a:p>
                          <a:endParaRPr lang="en-US"/>
                        </a:p>
                      </a:txBody>
                      <a:tcPr marL="94329" marR="94329" marT="47165" marB="47165">
                        <a:blipFill>
                          <a:blip r:embed="rId3"/>
                          <a:stretch>
                            <a:fillRect l="-775" t="-61207" r="-864341" b="-14655"/>
                          </a:stretch>
                        </a:blipFill>
                      </a:tcPr>
                    </a:tc>
                    <a:tc>
                      <a:txBody>
                        <a:bodyPr/>
                        <a:lstStyle/>
                        <a:p>
                          <a:endParaRPr lang="en-US"/>
                        </a:p>
                      </a:txBody>
                      <a:tcPr marL="94329" marR="94329" marT="47165" marB="47165">
                        <a:blipFill>
                          <a:blip r:embed="rId3"/>
                          <a:stretch>
                            <a:fillRect l="-100775" t="-61207" r="-764341" b="-14655"/>
                          </a:stretch>
                        </a:blipFill>
                      </a:tcPr>
                    </a:tc>
                    <a:tc>
                      <a:txBody>
                        <a:bodyPr/>
                        <a:lstStyle/>
                        <a:p>
                          <a:endParaRPr lang="en-US"/>
                        </a:p>
                      </a:txBody>
                      <a:tcPr marL="94329" marR="94329" marT="47165" marB="47165">
                        <a:blipFill>
                          <a:blip r:embed="rId3"/>
                          <a:stretch>
                            <a:fillRect l="-200775" t="-61207" r="-664341" b="-14655"/>
                          </a:stretch>
                        </a:blipFill>
                      </a:tcPr>
                    </a:tc>
                    <a:tc>
                      <a:txBody>
                        <a:bodyPr/>
                        <a:lstStyle/>
                        <a:p>
                          <a:endParaRPr lang="en-US"/>
                        </a:p>
                      </a:txBody>
                      <a:tcPr marL="94329" marR="94329" marT="47165" marB="47165">
                        <a:blipFill>
                          <a:blip r:embed="rId3"/>
                          <a:stretch>
                            <a:fillRect l="-300775" t="-61207" r="-564341" b="-14655"/>
                          </a:stretch>
                        </a:blipFill>
                      </a:tcPr>
                    </a:tc>
                    <a:tc>
                      <a:txBody>
                        <a:bodyPr/>
                        <a:lstStyle/>
                        <a:p>
                          <a:endParaRPr lang="en-US"/>
                        </a:p>
                      </a:txBody>
                      <a:tcPr marL="94329" marR="94329" marT="47165" marB="47165">
                        <a:blipFill>
                          <a:blip r:embed="rId3"/>
                          <a:stretch>
                            <a:fillRect l="-400775" t="-61207" r="-464341" b="-14655"/>
                          </a:stretch>
                        </a:blipFill>
                      </a:tcPr>
                    </a:tc>
                    <a:tc>
                      <a:txBody>
                        <a:bodyPr/>
                        <a:lstStyle/>
                        <a:p>
                          <a:endParaRPr lang="en-US"/>
                        </a:p>
                      </a:txBody>
                      <a:tcPr marL="94329" marR="94329" marT="47165" marB="47165">
                        <a:blipFill>
                          <a:blip r:embed="rId3"/>
                          <a:stretch>
                            <a:fillRect l="-500775" t="-61207" r="-364341" b="-14655"/>
                          </a:stretch>
                        </a:blipFill>
                      </a:tcPr>
                    </a:tc>
                    <a:tc>
                      <a:txBody>
                        <a:bodyPr/>
                        <a:lstStyle/>
                        <a:p>
                          <a:endParaRPr lang="en-US"/>
                        </a:p>
                      </a:txBody>
                      <a:tcPr marL="94329" marR="94329" marT="47165" marB="47165">
                        <a:blipFill>
                          <a:blip r:embed="rId3"/>
                          <a:stretch>
                            <a:fillRect l="-600775" t="-61207" r="-264341" b="-14655"/>
                          </a:stretch>
                        </a:blipFill>
                      </a:tcPr>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435503194"/>
                  </p:ext>
                </p:extLst>
              </p:nvPr>
            </p:nvGraphicFramePr>
            <p:xfrm>
              <a:off x="943292" y="3744466"/>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3039">
                    <a:tc>
                      <a:txBody>
                        <a:bodyPr/>
                        <a:lstStyle/>
                        <a:p>
                          <a:pPr algn="ctr"/>
                          <a:r>
                            <a:rPr lang="en-US" sz="2000" dirty="0"/>
                            <a:t>7</a:t>
                          </a:r>
                        </a:p>
                      </a:txBody>
                      <a:tcPr marL="94329" marR="94329" marT="47165" marB="47165"/>
                    </a:tc>
                    <a:tc>
                      <a:txBody>
                        <a:bodyPr/>
                        <a:lstStyle/>
                        <a:p>
                          <a:pPr algn="ctr"/>
                          <a:r>
                            <a:rPr lang="en-US" sz="2000"/>
                            <a:t>6</a:t>
                          </a:r>
                          <a:endParaRPr lang="en-US" sz="2000" dirty="0"/>
                        </a:p>
                      </a:txBody>
                      <a:tcPr marL="94329" marR="94329" marT="47165" marB="47165"/>
                    </a:tc>
                    <a:tc>
                      <a:txBody>
                        <a:bodyPr/>
                        <a:lstStyle/>
                        <a:p>
                          <a:pPr algn="ctr"/>
                          <a:r>
                            <a:rPr lang="en-US" sz="2000"/>
                            <a:t>5</a:t>
                          </a:r>
                          <a:endParaRPr lang="en-US" sz="2000" dirty="0"/>
                        </a:p>
                      </a:txBody>
                      <a:tcPr marL="94329" marR="94329" marT="47165" marB="47165"/>
                    </a:tc>
                    <a:tc>
                      <a:txBody>
                        <a:bodyPr/>
                        <a:lstStyle/>
                        <a:p>
                          <a:pPr algn="ctr"/>
                          <a:r>
                            <a:rPr lang="en-US" sz="2000"/>
                            <a:t>4</a:t>
                          </a:r>
                          <a:endParaRPr lang="en-US" sz="2000" dirty="0"/>
                        </a:p>
                      </a:txBody>
                      <a:tcPr marL="94329" marR="94329" marT="47165" marB="47165"/>
                    </a:tc>
                    <a:tc>
                      <a:txBody>
                        <a:bodyPr/>
                        <a:lstStyle/>
                        <a:p>
                          <a:pPr algn="ctr"/>
                          <a:r>
                            <a:rPr lang="en-US" sz="2000"/>
                            <a:t>3</a:t>
                          </a:r>
                          <a:endParaRPr lang="en-US" sz="2000" dirty="0"/>
                        </a:p>
                      </a:txBody>
                      <a:tcPr marL="94329" marR="94329" marT="47165" marB="47165"/>
                    </a:tc>
                    <a:tc>
                      <a:txBody>
                        <a:bodyPr/>
                        <a:lstStyle/>
                        <a:p>
                          <a:pPr algn="ctr"/>
                          <a:r>
                            <a:rPr lang="en-US" sz="2000"/>
                            <a:t>2</a:t>
                          </a:r>
                          <a:endParaRPr lang="en-US" sz="2000" dirty="0"/>
                        </a:p>
                      </a:txBody>
                      <a:tcPr marL="94329" marR="94329" marT="47165" marB="47165"/>
                    </a:tc>
                    <a:tc>
                      <a:txBody>
                        <a:bodyPr/>
                        <a:lstStyle/>
                        <a:p>
                          <a:pPr algn="ctr"/>
                          <a:r>
                            <a:rPr lang="en-US" sz="2000"/>
                            <a:t>1</a:t>
                          </a:r>
                          <a:endParaRPr lang="en-US" sz="2000" dirty="0"/>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691748">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2</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435503194"/>
                  </p:ext>
                </p:extLst>
              </p:nvPr>
            </p:nvGraphicFramePr>
            <p:xfrm>
              <a:off x="943292" y="3744466"/>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9130">
                    <a:tc>
                      <a:txBody>
                        <a:bodyPr/>
                        <a:lstStyle/>
                        <a:p>
                          <a:pPr algn="ctr"/>
                          <a:r>
                            <a:rPr lang="en-US" sz="2000" dirty="0"/>
                            <a:t>7</a:t>
                          </a:r>
                        </a:p>
                      </a:txBody>
                      <a:tcPr marL="94329" marR="94329" marT="47165" marB="47165"/>
                    </a:tc>
                    <a:tc>
                      <a:txBody>
                        <a:bodyPr/>
                        <a:lstStyle/>
                        <a:p>
                          <a:pPr algn="ctr"/>
                          <a:r>
                            <a:rPr lang="en-US" sz="2000"/>
                            <a:t>6</a:t>
                          </a:r>
                          <a:endParaRPr lang="en-US" sz="2000" dirty="0"/>
                        </a:p>
                      </a:txBody>
                      <a:tcPr marL="94329" marR="94329" marT="47165" marB="47165"/>
                    </a:tc>
                    <a:tc>
                      <a:txBody>
                        <a:bodyPr/>
                        <a:lstStyle/>
                        <a:p>
                          <a:pPr algn="ctr"/>
                          <a:r>
                            <a:rPr lang="en-US" sz="2000"/>
                            <a:t>5</a:t>
                          </a:r>
                          <a:endParaRPr lang="en-US" sz="2000" dirty="0"/>
                        </a:p>
                      </a:txBody>
                      <a:tcPr marL="94329" marR="94329" marT="47165" marB="47165"/>
                    </a:tc>
                    <a:tc>
                      <a:txBody>
                        <a:bodyPr/>
                        <a:lstStyle/>
                        <a:p>
                          <a:pPr algn="ctr"/>
                          <a:r>
                            <a:rPr lang="en-US" sz="2000"/>
                            <a:t>4</a:t>
                          </a:r>
                          <a:endParaRPr lang="en-US" sz="2000" dirty="0"/>
                        </a:p>
                      </a:txBody>
                      <a:tcPr marL="94329" marR="94329" marT="47165" marB="47165"/>
                    </a:tc>
                    <a:tc>
                      <a:txBody>
                        <a:bodyPr/>
                        <a:lstStyle/>
                        <a:p>
                          <a:pPr algn="ctr"/>
                          <a:r>
                            <a:rPr lang="en-US" sz="2000"/>
                            <a:t>3</a:t>
                          </a:r>
                          <a:endParaRPr lang="en-US" sz="2000" dirty="0"/>
                        </a:p>
                      </a:txBody>
                      <a:tcPr marL="94329" marR="94329" marT="47165" marB="47165"/>
                    </a:tc>
                    <a:tc>
                      <a:txBody>
                        <a:bodyPr/>
                        <a:lstStyle/>
                        <a:p>
                          <a:pPr algn="ctr"/>
                          <a:r>
                            <a:rPr lang="en-US" sz="2000"/>
                            <a:t>2</a:t>
                          </a:r>
                          <a:endParaRPr lang="en-US" sz="2000" dirty="0"/>
                        </a:p>
                      </a:txBody>
                      <a:tcPr marL="94329" marR="94329" marT="47165" marB="47165"/>
                    </a:tc>
                    <a:tc>
                      <a:txBody>
                        <a:bodyPr/>
                        <a:lstStyle/>
                        <a:p>
                          <a:pPr algn="ctr"/>
                          <a:r>
                            <a:rPr lang="en-US" sz="2000"/>
                            <a:t>1</a:t>
                          </a:r>
                          <a:endParaRPr lang="en-US" sz="2000" dirty="0"/>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703930">
                    <a:tc>
                      <a:txBody>
                        <a:bodyPr/>
                        <a:lstStyle/>
                        <a:p>
                          <a:endParaRPr lang="en-US"/>
                        </a:p>
                      </a:txBody>
                      <a:tcPr marL="94329" marR="94329" marT="47165" marB="47165">
                        <a:blipFill>
                          <a:blip r:embed="rId4"/>
                          <a:stretch>
                            <a:fillRect l="-775" t="-61207" r="-864341" b="-14655"/>
                          </a:stretch>
                        </a:blipFill>
                      </a:tcPr>
                    </a:tc>
                    <a:tc>
                      <a:txBody>
                        <a:bodyPr/>
                        <a:lstStyle/>
                        <a:p>
                          <a:endParaRPr lang="en-US"/>
                        </a:p>
                      </a:txBody>
                      <a:tcPr marL="94329" marR="94329" marT="47165" marB="47165">
                        <a:blipFill>
                          <a:blip r:embed="rId4"/>
                          <a:stretch>
                            <a:fillRect l="-100775" t="-61207" r="-764341" b="-14655"/>
                          </a:stretch>
                        </a:blipFill>
                      </a:tcPr>
                    </a:tc>
                    <a:tc>
                      <a:txBody>
                        <a:bodyPr/>
                        <a:lstStyle/>
                        <a:p>
                          <a:endParaRPr lang="en-US"/>
                        </a:p>
                      </a:txBody>
                      <a:tcPr marL="94329" marR="94329" marT="47165" marB="47165">
                        <a:blipFill>
                          <a:blip r:embed="rId4"/>
                          <a:stretch>
                            <a:fillRect l="-200775" t="-61207" r="-664341" b="-14655"/>
                          </a:stretch>
                        </a:blipFill>
                      </a:tcPr>
                    </a:tc>
                    <a:tc>
                      <a:txBody>
                        <a:bodyPr/>
                        <a:lstStyle/>
                        <a:p>
                          <a:endParaRPr lang="en-US"/>
                        </a:p>
                      </a:txBody>
                      <a:tcPr marL="94329" marR="94329" marT="47165" marB="47165">
                        <a:blipFill>
                          <a:blip r:embed="rId4"/>
                          <a:stretch>
                            <a:fillRect l="-300775" t="-61207" r="-564341" b="-14655"/>
                          </a:stretch>
                        </a:blipFill>
                      </a:tcPr>
                    </a:tc>
                    <a:tc>
                      <a:txBody>
                        <a:bodyPr/>
                        <a:lstStyle/>
                        <a:p>
                          <a:endParaRPr lang="en-US"/>
                        </a:p>
                      </a:txBody>
                      <a:tcPr marL="94329" marR="94329" marT="47165" marB="47165">
                        <a:blipFill>
                          <a:blip r:embed="rId4"/>
                          <a:stretch>
                            <a:fillRect l="-400775" t="-61207" r="-464341" b="-14655"/>
                          </a:stretch>
                        </a:blipFill>
                      </a:tcPr>
                    </a:tc>
                    <a:tc>
                      <a:txBody>
                        <a:bodyPr/>
                        <a:lstStyle/>
                        <a:p>
                          <a:endParaRPr lang="en-US"/>
                        </a:p>
                      </a:txBody>
                      <a:tcPr marL="94329" marR="94329" marT="47165" marB="47165">
                        <a:blipFill>
                          <a:blip r:embed="rId4"/>
                          <a:stretch>
                            <a:fillRect l="-500775" t="-61207" r="-364341" b="-14655"/>
                          </a:stretch>
                        </a:blipFill>
                      </a:tcPr>
                    </a:tc>
                    <a:tc>
                      <a:txBody>
                        <a:bodyPr/>
                        <a:lstStyle/>
                        <a:p>
                          <a:endParaRPr lang="en-US"/>
                        </a:p>
                      </a:txBody>
                      <a:tcPr marL="94329" marR="94329" marT="47165" marB="47165">
                        <a:blipFill>
                          <a:blip r:embed="rId4"/>
                          <a:stretch>
                            <a:fillRect l="-600775" t="-61207" r="-264341" b="-14655"/>
                          </a:stretch>
                        </a:blipFill>
                      </a:tcPr>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988849083"/>
                  </p:ext>
                </p:extLst>
              </p:nvPr>
            </p:nvGraphicFramePr>
            <p:xfrm>
              <a:off x="943292" y="4854244"/>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3039">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691748">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988849083"/>
                  </p:ext>
                </p:extLst>
              </p:nvPr>
            </p:nvGraphicFramePr>
            <p:xfrm>
              <a:off x="943292" y="4854244"/>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9130">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703930">
                    <a:tc>
                      <a:txBody>
                        <a:bodyPr/>
                        <a:lstStyle/>
                        <a:p>
                          <a:endParaRPr lang="en-US"/>
                        </a:p>
                      </a:txBody>
                      <a:tcPr marL="94329" marR="94329" marT="47165" marB="47165">
                        <a:blipFill>
                          <a:blip r:embed="rId5"/>
                          <a:stretch>
                            <a:fillRect l="-775" t="-61207" r="-864341" b="-14655"/>
                          </a:stretch>
                        </a:blipFill>
                      </a:tcPr>
                    </a:tc>
                    <a:tc>
                      <a:txBody>
                        <a:bodyPr/>
                        <a:lstStyle/>
                        <a:p>
                          <a:endParaRPr lang="en-US"/>
                        </a:p>
                      </a:txBody>
                      <a:tcPr marL="94329" marR="94329" marT="47165" marB="47165">
                        <a:blipFill>
                          <a:blip r:embed="rId5"/>
                          <a:stretch>
                            <a:fillRect l="-100775" t="-61207" r="-764341" b="-14655"/>
                          </a:stretch>
                        </a:blipFill>
                      </a:tcPr>
                    </a:tc>
                    <a:tc>
                      <a:txBody>
                        <a:bodyPr/>
                        <a:lstStyle/>
                        <a:p>
                          <a:endParaRPr lang="en-US"/>
                        </a:p>
                      </a:txBody>
                      <a:tcPr marL="94329" marR="94329" marT="47165" marB="47165">
                        <a:blipFill>
                          <a:blip r:embed="rId5"/>
                          <a:stretch>
                            <a:fillRect l="-200775" t="-61207" r="-664341" b="-14655"/>
                          </a:stretch>
                        </a:blipFill>
                      </a:tcPr>
                    </a:tc>
                    <a:tc>
                      <a:txBody>
                        <a:bodyPr/>
                        <a:lstStyle/>
                        <a:p>
                          <a:endParaRPr lang="en-US"/>
                        </a:p>
                      </a:txBody>
                      <a:tcPr marL="94329" marR="94329" marT="47165" marB="47165">
                        <a:blipFill>
                          <a:blip r:embed="rId5"/>
                          <a:stretch>
                            <a:fillRect l="-300775" t="-61207" r="-564341" b="-14655"/>
                          </a:stretch>
                        </a:blipFill>
                      </a:tcPr>
                    </a:tc>
                    <a:tc>
                      <a:txBody>
                        <a:bodyPr/>
                        <a:lstStyle/>
                        <a:p>
                          <a:endParaRPr lang="en-US"/>
                        </a:p>
                      </a:txBody>
                      <a:tcPr marL="94329" marR="94329" marT="47165" marB="47165">
                        <a:blipFill>
                          <a:blip r:embed="rId5"/>
                          <a:stretch>
                            <a:fillRect l="-400775" t="-61207" r="-464341" b="-14655"/>
                          </a:stretch>
                        </a:blipFill>
                      </a:tcPr>
                    </a:tc>
                    <a:tc>
                      <a:txBody>
                        <a:bodyPr/>
                        <a:lstStyle/>
                        <a:p>
                          <a:endParaRPr lang="en-US"/>
                        </a:p>
                      </a:txBody>
                      <a:tcPr marL="94329" marR="94329" marT="47165" marB="47165">
                        <a:blipFill>
                          <a:blip r:embed="rId5"/>
                          <a:stretch>
                            <a:fillRect l="-500775" t="-61207" r="-364341" b="-14655"/>
                          </a:stretch>
                        </a:blipFill>
                      </a:tcPr>
                    </a:tc>
                    <a:tc>
                      <a:txBody>
                        <a:bodyPr/>
                        <a:lstStyle/>
                        <a:p>
                          <a:endParaRPr lang="en-US"/>
                        </a:p>
                      </a:txBody>
                      <a:tcPr marL="94329" marR="94329" marT="47165" marB="47165">
                        <a:blipFill>
                          <a:blip r:embed="rId5"/>
                          <a:stretch>
                            <a:fillRect l="-600775" t="-61207" r="-264341" b="-14655"/>
                          </a:stretch>
                        </a:blipFill>
                      </a:tcPr>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433957290"/>
                  </p:ext>
                </p:extLst>
              </p:nvPr>
            </p:nvGraphicFramePr>
            <p:xfrm>
              <a:off x="943292" y="5958681"/>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3039">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691748">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1</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a:rPr>
                                  <m:t>0</m:t>
                                </m:r>
                              </m:oMath>
                            </m:oMathPara>
                          </a14:m>
                          <a:endParaRPr lang="en-US" sz="2000" dirty="0"/>
                        </a:p>
                      </a:txBody>
                      <a:tcPr marL="94329" marR="94329" marT="47165" marB="47165"/>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433957290"/>
                  </p:ext>
                </p:extLst>
              </p:nvPr>
            </p:nvGraphicFramePr>
            <p:xfrm>
              <a:off x="943292" y="5958681"/>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9130">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703930">
                    <a:tc>
                      <a:txBody>
                        <a:bodyPr/>
                        <a:lstStyle/>
                        <a:p>
                          <a:endParaRPr lang="en-US"/>
                        </a:p>
                      </a:txBody>
                      <a:tcPr marL="94329" marR="94329" marT="47165" marB="47165">
                        <a:blipFill>
                          <a:blip r:embed="rId6"/>
                          <a:stretch>
                            <a:fillRect l="-775" t="-61207" r="-864341" b="-14655"/>
                          </a:stretch>
                        </a:blipFill>
                      </a:tcPr>
                    </a:tc>
                    <a:tc>
                      <a:txBody>
                        <a:bodyPr/>
                        <a:lstStyle/>
                        <a:p>
                          <a:endParaRPr lang="en-US"/>
                        </a:p>
                      </a:txBody>
                      <a:tcPr marL="94329" marR="94329" marT="47165" marB="47165">
                        <a:blipFill>
                          <a:blip r:embed="rId6"/>
                          <a:stretch>
                            <a:fillRect l="-100775" t="-61207" r="-764341" b="-14655"/>
                          </a:stretch>
                        </a:blipFill>
                      </a:tcPr>
                    </a:tc>
                    <a:tc>
                      <a:txBody>
                        <a:bodyPr/>
                        <a:lstStyle/>
                        <a:p>
                          <a:endParaRPr lang="en-US"/>
                        </a:p>
                      </a:txBody>
                      <a:tcPr marL="94329" marR="94329" marT="47165" marB="47165">
                        <a:blipFill>
                          <a:blip r:embed="rId6"/>
                          <a:stretch>
                            <a:fillRect l="-200775" t="-61207" r="-664341" b="-14655"/>
                          </a:stretch>
                        </a:blipFill>
                      </a:tcPr>
                    </a:tc>
                    <a:tc>
                      <a:txBody>
                        <a:bodyPr/>
                        <a:lstStyle/>
                        <a:p>
                          <a:endParaRPr lang="en-US"/>
                        </a:p>
                      </a:txBody>
                      <a:tcPr marL="94329" marR="94329" marT="47165" marB="47165">
                        <a:blipFill>
                          <a:blip r:embed="rId6"/>
                          <a:stretch>
                            <a:fillRect l="-300775" t="-61207" r="-564341" b="-14655"/>
                          </a:stretch>
                        </a:blipFill>
                      </a:tcPr>
                    </a:tc>
                    <a:tc>
                      <a:txBody>
                        <a:bodyPr/>
                        <a:lstStyle/>
                        <a:p>
                          <a:endParaRPr lang="en-US"/>
                        </a:p>
                      </a:txBody>
                      <a:tcPr marL="94329" marR="94329" marT="47165" marB="47165">
                        <a:blipFill>
                          <a:blip r:embed="rId6"/>
                          <a:stretch>
                            <a:fillRect l="-400775" t="-61207" r="-464341" b="-14655"/>
                          </a:stretch>
                        </a:blipFill>
                      </a:tcPr>
                    </a:tc>
                    <a:tc>
                      <a:txBody>
                        <a:bodyPr/>
                        <a:lstStyle/>
                        <a:p>
                          <a:endParaRPr lang="en-US"/>
                        </a:p>
                      </a:txBody>
                      <a:tcPr marL="94329" marR="94329" marT="47165" marB="47165">
                        <a:blipFill>
                          <a:blip r:embed="rId6"/>
                          <a:stretch>
                            <a:fillRect l="-500775" t="-61207" r="-364341" b="-14655"/>
                          </a:stretch>
                        </a:blipFill>
                      </a:tcPr>
                    </a:tc>
                    <a:tc>
                      <a:txBody>
                        <a:bodyPr/>
                        <a:lstStyle/>
                        <a:p>
                          <a:endParaRPr lang="en-US"/>
                        </a:p>
                      </a:txBody>
                      <a:tcPr marL="94329" marR="94329" marT="47165" marB="47165">
                        <a:blipFill>
                          <a:blip r:embed="rId6"/>
                          <a:stretch>
                            <a:fillRect l="-600775" t="-61207" r="-264341" b="-14655"/>
                          </a:stretch>
                        </a:blipFill>
                      </a:tcPr>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49034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Which bit is flipped?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1481" y="1728242"/>
                <a:ext cx="8016875" cy="5625678"/>
              </a:xfrm>
            </p:spPr>
            <p:txBody>
              <a:bodyPr>
                <a:normAutofit fontScale="77500" lnSpcReduction="20000"/>
              </a:bodyPr>
              <a:lstStyle/>
              <a:p>
                <a:pPr marL="0" indent="0">
                  <a:buNone/>
                </a:pPr>
                <a:r>
                  <a:rPr lang="en-US" dirty="0"/>
                  <a:t>For message of length 4 bits:</a:t>
                </a:r>
              </a:p>
              <a:p>
                <a:pPr marL="0" indent="0">
                  <a:buNone/>
                </a:pPr>
                <a:endParaRPr lang="en-US" dirty="0"/>
              </a:p>
              <a:p>
                <a:pPr marL="0" indent="0">
                  <a:buNone/>
                </a:pPr>
                <a:endParaRPr lang="en-US" dirty="0"/>
              </a:p>
              <a:p>
                <a:pPr marL="0" indent="0">
                  <a:buNone/>
                </a:pPr>
                <a:endParaRPr lang="en-US" dirty="0"/>
              </a:p>
              <a:p>
                <a:r>
                  <a:rPr lang="en-US" b="0" dirty="0"/>
                  <a:t>Where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r>
                      <a:rPr lang="en-US" b="0" i="1" smtClean="0">
                        <a:latin typeface="Cambria Math"/>
                      </a:rPr>
                      <m:t>=</m:t>
                    </m:r>
                    <m:r>
                      <a:rPr lang="en-US" b="0" i="1" smtClean="0">
                        <a:latin typeface="Cambria Math"/>
                      </a:rPr>
                      <m:t>𝑃𝑎𝑟𝑖𝑡𝑦</m:t>
                    </m:r>
                    <m:r>
                      <a:rPr lang="en-US" b="0" i="1"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𝑝𝑜𝑠𝑖𝑡𝑖𝑜𝑛𝑠</m:t>
                    </m:r>
                    <m:r>
                      <a:rPr lang="en-US" b="0" i="1" smtClean="0">
                        <a:latin typeface="Cambria Math"/>
                      </a:rPr>
                      <m:t> 3,5,7 (</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4</m:t>
                        </m:r>
                      </m:sub>
                    </m:sSub>
                    <m:r>
                      <a:rPr lang="en-US" b="0" i="1" smtClean="0">
                        <a:latin typeface="Cambria Math"/>
                      </a:rPr>
                      <m:t>=0)</m:t>
                    </m:r>
                  </m:oMath>
                </a14:m>
                <a:r>
                  <a:rPr lang="en-US" b="0" i="1" dirty="0">
                    <a:latin typeface="Cambria Math"/>
                  </a:rPr>
                  <a:t>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2</m:t>
                        </m:r>
                      </m:sub>
                    </m:sSub>
                    <m:r>
                      <a:rPr lang="en-US" b="0" i="1" smtClean="0">
                        <a:latin typeface="Cambria Math"/>
                      </a:rPr>
                      <m:t>=</m:t>
                    </m:r>
                    <m:r>
                      <a:rPr lang="en-US" b="0" i="1" smtClean="0">
                        <a:latin typeface="Cambria Math"/>
                      </a:rPr>
                      <m:t>𝑃𝑎𝑟𝑖𝑡𝑦</m:t>
                    </m:r>
                    <m:r>
                      <a:rPr lang="en-US" b="0" i="1"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𝑝𝑜𝑠𝑖𝑡𝑖𝑜𝑛𝑠</m:t>
                    </m:r>
                    <m:r>
                      <a:rPr lang="en-US" b="0" i="1" smtClean="0">
                        <a:latin typeface="Cambria Math"/>
                      </a:rPr>
                      <m:t> 3,6,7 (</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3</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4</m:t>
                        </m:r>
                      </m:sub>
                    </m:sSub>
                    <m:r>
                      <a:rPr lang="en-US" b="0" i="1" smtClean="0">
                        <a:latin typeface="Cambria Math"/>
                      </a:rPr>
                      <m:t>=0)</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3</m:t>
                        </m:r>
                      </m:sub>
                    </m:sSub>
                    <m:r>
                      <a:rPr lang="en-US" b="0" i="1" smtClean="0">
                        <a:latin typeface="Cambria Math"/>
                      </a:rPr>
                      <m:t>=</m:t>
                    </m:r>
                    <m:r>
                      <a:rPr lang="en-US" b="0" i="1" smtClean="0">
                        <a:latin typeface="Cambria Math"/>
                      </a:rPr>
                      <m:t>𝑃𝑎𝑟𝑖𝑡𝑦</m:t>
                    </m:r>
                    <m:r>
                      <a:rPr lang="en-US" b="0" i="1" smtClean="0">
                        <a:latin typeface="Cambria Math"/>
                      </a:rPr>
                      <m:t> </m:t>
                    </m:r>
                    <m:r>
                      <a:rPr lang="en-US" b="0" i="1" smtClean="0">
                        <a:latin typeface="Cambria Math"/>
                      </a:rPr>
                      <m:t>𝑜𝑓</m:t>
                    </m:r>
                    <m:r>
                      <a:rPr lang="en-US" b="0" i="1" smtClean="0">
                        <a:latin typeface="Cambria Math"/>
                      </a:rPr>
                      <m:t> </m:t>
                    </m:r>
                    <m:r>
                      <a:rPr lang="en-US" b="0" i="1" smtClean="0">
                        <a:latin typeface="Cambria Math"/>
                      </a:rPr>
                      <m:t>𝑝𝑜𝑠𝑖𝑡𝑖𝑜𝑛𝑠</m:t>
                    </m:r>
                    <m:r>
                      <a:rPr lang="en-US" b="0" i="1" smtClean="0">
                        <a:latin typeface="Cambria Math"/>
                      </a:rPr>
                      <m:t> 5,6,7 (</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3</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3</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4</m:t>
                        </m:r>
                      </m:sub>
                    </m:sSub>
                    <m:r>
                      <a:rPr lang="en-US" b="0" i="1" smtClean="0">
                        <a:latin typeface="Cambria Math"/>
                      </a:rPr>
                      <m:t>=0)</m:t>
                    </m:r>
                  </m:oMath>
                </a14:m>
                <a:endParaRPr lang="en-US" b="0" dirty="0"/>
              </a:p>
              <a:p>
                <a:r>
                  <a:rPr lang="en-US" dirty="0"/>
                  <a:t>Parity-check matrix for the above code:</a:t>
                </a:r>
              </a:p>
              <a:p>
                <a:pPr marL="0" indent="0">
                  <a:buNone/>
                </a:pPr>
                <a14:m>
                  <m:oMathPara xmlns:m="http://schemas.openxmlformats.org/officeDocument/2006/math">
                    <m:oMathParaPr>
                      <m:jc m:val="centerGroup"/>
                    </m:oMathParaPr>
                    <m:oMath xmlns:m="http://schemas.openxmlformats.org/officeDocument/2006/math">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a:rPr>
                              <m:t>1</m:t>
                            </m:r>
                          </m:e>
                          <m:e>
                            <m:r>
                              <a:rPr lang="en-US" b="0" i="1" smtClean="0">
                                <a:latin typeface="Cambria Math"/>
                              </a:rPr>
                              <m:t>0</m:t>
                            </m:r>
                          </m:e>
                          <m:e>
                            <m:r>
                              <a:rPr lang="en-US" b="0" i="1" smtClean="0">
                                <a:latin typeface="Cambria Math"/>
                              </a:rPr>
                              <m:t>1</m:t>
                            </m:r>
                          </m:e>
                        </m:mr>
                        <m:mr>
                          <m:e>
                            <m:r>
                              <a:rPr lang="en-US" b="0" i="1" smtClean="0">
                                <a:latin typeface="Cambria Math"/>
                              </a:rPr>
                              <m:t>1</m:t>
                            </m:r>
                          </m:e>
                          <m:e>
                            <m:r>
                              <a:rPr lang="en-US" b="0" i="1" smtClean="0">
                                <a:latin typeface="Cambria Math"/>
                              </a:rPr>
                              <m:t>1</m:t>
                            </m:r>
                          </m:e>
                          <m:e>
                            <m:r>
                              <a:rPr lang="en-US" b="0" i="1" smtClean="0">
                                <a:latin typeface="Cambria Math"/>
                              </a:rPr>
                              <m:t>0</m:t>
                            </m:r>
                          </m:e>
                        </m:mr>
                        <m:mr>
                          <m:e>
                            <m:r>
                              <a:rPr lang="en-US" b="0" i="1" smtClean="0">
                                <a:latin typeface="Cambria Math"/>
                              </a:rPr>
                              <m:t>1</m:t>
                            </m:r>
                          </m:e>
                          <m:e>
                            <m:r>
                              <a:rPr lang="en-US" b="0" i="1" smtClean="0">
                                <a:latin typeface="Cambria Math"/>
                              </a:rPr>
                              <m:t>1</m:t>
                            </m:r>
                          </m:e>
                          <m:e>
                            <m:r>
                              <a:rPr lang="en-US" b="0" i="1" smtClean="0">
                                <a:latin typeface="Cambria Math"/>
                              </a:rPr>
                              <m:t>1</m:t>
                            </m:r>
                          </m:e>
                        </m:mr>
                      </m:m>
                      <m:r>
                        <a:rPr lang="en-US" b="0" i="1" smtClean="0">
                          <a:latin typeface="Cambria Math"/>
                        </a:rPr>
                        <m:t>    </m:t>
                      </m:r>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a:rPr>
                              <m:t>0</m:t>
                            </m:r>
                          </m:e>
                          <m:e>
                            <m:r>
                              <a:rPr lang="en-US" b="0" i="1" smtClean="0">
                                <a:latin typeface="Cambria Math"/>
                              </a:rPr>
                              <m:t>1</m:t>
                            </m:r>
                          </m:e>
                          <m:e>
                            <m:r>
                              <a:rPr lang="en-US" b="0" i="1" smtClean="0">
                                <a:latin typeface="Cambria Math"/>
                              </a:rPr>
                              <m:t>0</m:t>
                            </m:r>
                          </m:e>
                        </m:mr>
                        <m:mr>
                          <m:e>
                            <m:r>
                              <a:rPr lang="en-US" b="0" i="1" smtClean="0">
                                <a:latin typeface="Cambria Math"/>
                              </a:rPr>
                              <m:t>0</m:t>
                            </m:r>
                          </m:e>
                          <m:e>
                            <m:r>
                              <a:rPr lang="en-US" b="0" i="1" smtClean="0">
                                <a:latin typeface="Cambria Math"/>
                              </a:rPr>
                              <m:t>1</m:t>
                            </m:r>
                          </m:e>
                          <m:e>
                            <m:r>
                              <a:rPr lang="en-US" b="0" i="1" smtClean="0">
                                <a:latin typeface="Cambria Math"/>
                              </a:rPr>
                              <m:t>1</m:t>
                            </m:r>
                          </m:e>
                        </m:mr>
                        <m:mr>
                          <m:e>
                            <m:r>
                              <a:rPr lang="en-US" b="0" i="1" smtClean="0">
                                <a:latin typeface="Cambria Math"/>
                              </a:rPr>
                              <m:t>1</m:t>
                            </m:r>
                          </m:e>
                          <m:e>
                            <m:r>
                              <a:rPr lang="en-US" b="0" i="1" smtClean="0">
                                <a:latin typeface="Cambria Math"/>
                              </a:rPr>
                              <m:t>0</m:t>
                            </m:r>
                          </m:e>
                          <m:e>
                            <m:r>
                              <a:rPr lang="en-US" b="0" i="1" smtClean="0">
                                <a:latin typeface="Cambria Math"/>
                              </a:rPr>
                              <m:t>0</m:t>
                            </m:r>
                          </m:e>
                        </m:mr>
                      </m:m>
                      <m:r>
                        <a:rPr lang="en-US" b="0" i="1" smtClean="0">
                          <a:latin typeface="Cambria Math"/>
                        </a:rPr>
                        <m:t>   </m:t>
                      </m:r>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a:rPr>
                              <m:t>1</m:t>
                            </m:r>
                          </m:e>
                        </m:mr>
                        <m:mr>
                          <m:e>
                            <m:r>
                              <a:rPr lang="en-US" b="0" i="1" smtClean="0">
                                <a:latin typeface="Cambria Math"/>
                              </a:rPr>
                              <m:t>0</m:t>
                            </m:r>
                          </m:e>
                        </m:mr>
                        <m:mr>
                          <m:e>
                            <m:r>
                              <a:rPr lang="en-US" b="0" i="1" smtClean="0">
                                <a:latin typeface="Cambria Math"/>
                              </a:rPr>
                              <m:t>0</m:t>
                            </m:r>
                          </m:e>
                        </m:mr>
                      </m:m>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1481" y="1728242"/>
                <a:ext cx="8016875" cy="5625678"/>
              </a:xfrm>
              <a:blipFill>
                <a:blip r:embed="rId2"/>
                <a:stretch>
                  <a:fillRect l="-1369" t="-24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943292" y="2185511"/>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3039">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691748">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4</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2</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3</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1</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2</m:t>
                                    </m:r>
                                  </m:sub>
                                </m:sSub>
                              </m:oMath>
                            </m:oMathPara>
                          </a14:m>
                          <a:endParaRPr lang="en-US" sz="2000" dirty="0"/>
                        </a:p>
                      </a:txBody>
                      <a:tcPr marL="94329" marR="94329" marT="47165" marB="47165"/>
                    </a:tc>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1</m:t>
                                    </m:r>
                                  </m:sub>
                                </m:sSub>
                              </m:oMath>
                            </m:oMathPara>
                          </a14:m>
                          <a:endParaRPr lang="en-US" sz="2000" dirty="0"/>
                        </a:p>
                      </a:txBody>
                      <a:tcPr marL="94329" marR="94329" marT="47165" marB="47165"/>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nvGraphicFramePr>
            <p:xfrm>
              <a:off x="943292" y="2185511"/>
              <a:ext cx="7560293" cy="1103060"/>
            </p:xfrm>
            <a:graphic>
              <a:graphicData uri="http://schemas.openxmlformats.org/drawingml/2006/table">
                <a:tbl>
                  <a:tblPr firstRow="1" bandRow="1">
                    <a:tableStyleId>{5940675A-B579-460E-94D1-54222C63F5DA}</a:tableStyleId>
                  </a:tblPr>
                  <a:tblGrid>
                    <a:gridCol w="786077">
                      <a:extLst>
                        <a:ext uri="{9D8B030D-6E8A-4147-A177-3AD203B41FA5}">
                          <a16:colId xmlns:a16="http://schemas.microsoft.com/office/drawing/2014/main" val="20000"/>
                        </a:ext>
                      </a:extLst>
                    </a:gridCol>
                    <a:gridCol w="786077">
                      <a:extLst>
                        <a:ext uri="{9D8B030D-6E8A-4147-A177-3AD203B41FA5}">
                          <a16:colId xmlns:a16="http://schemas.microsoft.com/office/drawing/2014/main" val="20001"/>
                        </a:ext>
                      </a:extLst>
                    </a:gridCol>
                    <a:gridCol w="786077">
                      <a:extLst>
                        <a:ext uri="{9D8B030D-6E8A-4147-A177-3AD203B41FA5}">
                          <a16:colId xmlns:a16="http://schemas.microsoft.com/office/drawing/2014/main" val="20002"/>
                        </a:ext>
                      </a:extLst>
                    </a:gridCol>
                    <a:gridCol w="786077">
                      <a:extLst>
                        <a:ext uri="{9D8B030D-6E8A-4147-A177-3AD203B41FA5}">
                          <a16:colId xmlns:a16="http://schemas.microsoft.com/office/drawing/2014/main" val="20003"/>
                        </a:ext>
                      </a:extLst>
                    </a:gridCol>
                    <a:gridCol w="786077">
                      <a:extLst>
                        <a:ext uri="{9D8B030D-6E8A-4147-A177-3AD203B41FA5}">
                          <a16:colId xmlns:a16="http://schemas.microsoft.com/office/drawing/2014/main" val="20004"/>
                        </a:ext>
                      </a:extLst>
                    </a:gridCol>
                    <a:gridCol w="786077">
                      <a:extLst>
                        <a:ext uri="{9D8B030D-6E8A-4147-A177-3AD203B41FA5}">
                          <a16:colId xmlns:a16="http://schemas.microsoft.com/office/drawing/2014/main" val="20005"/>
                        </a:ext>
                      </a:extLst>
                    </a:gridCol>
                    <a:gridCol w="786077">
                      <a:extLst>
                        <a:ext uri="{9D8B030D-6E8A-4147-A177-3AD203B41FA5}">
                          <a16:colId xmlns:a16="http://schemas.microsoft.com/office/drawing/2014/main" val="20006"/>
                        </a:ext>
                      </a:extLst>
                    </a:gridCol>
                    <a:gridCol w="2057754">
                      <a:extLst>
                        <a:ext uri="{9D8B030D-6E8A-4147-A177-3AD203B41FA5}">
                          <a16:colId xmlns:a16="http://schemas.microsoft.com/office/drawing/2014/main" val="20007"/>
                        </a:ext>
                      </a:extLst>
                    </a:gridCol>
                  </a:tblGrid>
                  <a:tr h="399130">
                    <a:tc>
                      <a:txBody>
                        <a:bodyPr/>
                        <a:lstStyle/>
                        <a:p>
                          <a:pPr algn="ctr"/>
                          <a:r>
                            <a:rPr lang="en-US" sz="2000" dirty="0"/>
                            <a:t>7</a:t>
                          </a:r>
                        </a:p>
                      </a:txBody>
                      <a:tcPr marL="94329" marR="94329" marT="47165" marB="47165"/>
                    </a:tc>
                    <a:tc>
                      <a:txBody>
                        <a:bodyPr/>
                        <a:lstStyle/>
                        <a:p>
                          <a:pPr algn="ctr"/>
                          <a:r>
                            <a:rPr lang="en-US" sz="2000" dirty="0"/>
                            <a:t>6</a:t>
                          </a:r>
                        </a:p>
                      </a:txBody>
                      <a:tcPr marL="94329" marR="94329" marT="47165" marB="47165"/>
                    </a:tc>
                    <a:tc>
                      <a:txBody>
                        <a:bodyPr/>
                        <a:lstStyle/>
                        <a:p>
                          <a:pPr algn="ctr"/>
                          <a:r>
                            <a:rPr lang="en-US" sz="2000" dirty="0"/>
                            <a:t>5</a:t>
                          </a:r>
                        </a:p>
                      </a:txBody>
                      <a:tcPr marL="94329" marR="94329" marT="47165" marB="47165"/>
                    </a:tc>
                    <a:tc>
                      <a:txBody>
                        <a:bodyPr/>
                        <a:lstStyle/>
                        <a:p>
                          <a:pPr algn="ctr"/>
                          <a:r>
                            <a:rPr lang="en-US" sz="2000" dirty="0"/>
                            <a:t>4</a:t>
                          </a:r>
                        </a:p>
                      </a:txBody>
                      <a:tcPr marL="94329" marR="94329" marT="47165" marB="47165"/>
                    </a:tc>
                    <a:tc>
                      <a:txBody>
                        <a:bodyPr/>
                        <a:lstStyle/>
                        <a:p>
                          <a:pPr algn="ctr"/>
                          <a:r>
                            <a:rPr lang="en-US" sz="2000" dirty="0"/>
                            <a:t>3</a:t>
                          </a:r>
                        </a:p>
                      </a:txBody>
                      <a:tcPr marL="94329" marR="94329" marT="47165" marB="47165"/>
                    </a:tc>
                    <a:tc>
                      <a:txBody>
                        <a:bodyPr/>
                        <a:lstStyle/>
                        <a:p>
                          <a:pPr algn="ctr"/>
                          <a:r>
                            <a:rPr lang="en-US" sz="2000" dirty="0"/>
                            <a:t>2</a:t>
                          </a:r>
                        </a:p>
                      </a:txBody>
                      <a:tcPr marL="94329" marR="94329" marT="47165" marB="47165"/>
                    </a:tc>
                    <a:tc>
                      <a:txBody>
                        <a:bodyPr/>
                        <a:lstStyle/>
                        <a:p>
                          <a:pPr algn="ctr"/>
                          <a:r>
                            <a:rPr lang="en-US" sz="2000" dirty="0"/>
                            <a:t>1</a:t>
                          </a:r>
                        </a:p>
                      </a:txBody>
                      <a:tcPr marL="94329" marR="94329" marT="47165" marB="47165"/>
                    </a:tc>
                    <a:tc>
                      <a:txBody>
                        <a:bodyPr/>
                        <a:lstStyle/>
                        <a:p>
                          <a:pPr algn="ctr"/>
                          <a:r>
                            <a:rPr lang="en-US" sz="2000" dirty="0"/>
                            <a:t>Position</a:t>
                          </a:r>
                        </a:p>
                      </a:txBody>
                      <a:tcPr marL="94329" marR="94329" marT="47165" marB="47165"/>
                    </a:tc>
                    <a:extLst>
                      <a:ext uri="{0D108BD9-81ED-4DB2-BD59-A6C34878D82A}">
                        <a16:rowId xmlns:a16="http://schemas.microsoft.com/office/drawing/2014/main" val="10000"/>
                      </a:ext>
                    </a:extLst>
                  </a:tr>
                  <a:tr h="703930">
                    <a:tc>
                      <a:txBody>
                        <a:bodyPr/>
                        <a:lstStyle/>
                        <a:p>
                          <a:endParaRPr lang="en-US"/>
                        </a:p>
                      </a:txBody>
                      <a:tcPr marL="94329" marR="94329" marT="47165" marB="47165">
                        <a:blipFill>
                          <a:blip r:embed="rId3"/>
                          <a:stretch>
                            <a:fillRect l="-775" t="-61207" r="-864341" b="-14655"/>
                          </a:stretch>
                        </a:blipFill>
                      </a:tcPr>
                    </a:tc>
                    <a:tc>
                      <a:txBody>
                        <a:bodyPr/>
                        <a:lstStyle/>
                        <a:p>
                          <a:endParaRPr lang="en-US"/>
                        </a:p>
                      </a:txBody>
                      <a:tcPr marL="94329" marR="94329" marT="47165" marB="47165">
                        <a:blipFill>
                          <a:blip r:embed="rId3"/>
                          <a:stretch>
                            <a:fillRect l="-100775" t="-61207" r="-764341" b="-14655"/>
                          </a:stretch>
                        </a:blipFill>
                      </a:tcPr>
                    </a:tc>
                    <a:tc>
                      <a:txBody>
                        <a:bodyPr/>
                        <a:lstStyle/>
                        <a:p>
                          <a:endParaRPr lang="en-US"/>
                        </a:p>
                      </a:txBody>
                      <a:tcPr marL="94329" marR="94329" marT="47165" marB="47165">
                        <a:blipFill>
                          <a:blip r:embed="rId3"/>
                          <a:stretch>
                            <a:fillRect l="-200775" t="-61207" r="-664341" b="-14655"/>
                          </a:stretch>
                        </a:blipFill>
                      </a:tcPr>
                    </a:tc>
                    <a:tc>
                      <a:txBody>
                        <a:bodyPr/>
                        <a:lstStyle/>
                        <a:p>
                          <a:endParaRPr lang="en-US"/>
                        </a:p>
                      </a:txBody>
                      <a:tcPr marL="94329" marR="94329" marT="47165" marB="47165">
                        <a:blipFill>
                          <a:blip r:embed="rId3"/>
                          <a:stretch>
                            <a:fillRect l="-300775" t="-61207" r="-564341" b="-14655"/>
                          </a:stretch>
                        </a:blipFill>
                      </a:tcPr>
                    </a:tc>
                    <a:tc>
                      <a:txBody>
                        <a:bodyPr/>
                        <a:lstStyle/>
                        <a:p>
                          <a:endParaRPr lang="en-US"/>
                        </a:p>
                      </a:txBody>
                      <a:tcPr marL="94329" marR="94329" marT="47165" marB="47165">
                        <a:blipFill>
                          <a:blip r:embed="rId3"/>
                          <a:stretch>
                            <a:fillRect l="-400775" t="-61207" r="-464341" b="-14655"/>
                          </a:stretch>
                        </a:blipFill>
                      </a:tcPr>
                    </a:tc>
                    <a:tc>
                      <a:txBody>
                        <a:bodyPr/>
                        <a:lstStyle/>
                        <a:p>
                          <a:endParaRPr lang="en-US"/>
                        </a:p>
                      </a:txBody>
                      <a:tcPr marL="94329" marR="94329" marT="47165" marB="47165">
                        <a:blipFill>
                          <a:blip r:embed="rId3"/>
                          <a:stretch>
                            <a:fillRect l="-500775" t="-61207" r="-364341" b="-14655"/>
                          </a:stretch>
                        </a:blipFill>
                      </a:tcPr>
                    </a:tc>
                    <a:tc>
                      <a:txBody>
                        <a:bodyPr/>
                        <a:lstStyle/>
                        <a:p>
                          <a:endParaRPr lang="en-US"/>
                        </a:p>
                      </a:txBody>
                      <a:tcPr marL="94329" marR="94329" marT="47165" marB="47165">
                        <a:blipFill>
                          <a:blip r:embed="rId3"/>
                          <a:stretch>
                            <a:fillRect l="-600775" t="-61207" r="-264341" b="-14655"/>
                          </a:stretch>
                        </a:blipFill>
                      </a:tcPr>
                    </a:tc>
                    <a:tc>
                      <a:txBody>
                        <a:bodyPr/>
                        <a:lstStyle/>
                        <a:p>
                          <a:pPr algn="ctr"/>
                          <a:r>
                            <a:rPr lang="en-US" sz="2000" dirty="0"/>
                            <a:t>Code group format</a:t>
                          </a:r>
                        </a:p>
                      </a:txBody>
                      <a:tcPr marL="94329" marR="94329" marT="47165" marB="47165"/>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585742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1">
            <a:extLst>
              <a:ext uri="{FF2B5EF4-FFF2-40B4-BE49-F238E27FC236}">
                <a16:creationId xmlns:a16="http://schemas.microsoft.com/office/drawing/2014/main" id="{6C4DA5D5-5E9B-4DEC-978C-205C55D05F40}"/>
              </a:ext>
            </a:extLst>
          </p:cNvPr>
          <p:cNvSpPr>
            <a:spLocks noGrp="1"/>
          </p:cNvSpPr>
          <p:nvPr>
            <p:ph type="sldNum" sz="quarter" idx="10"/>
          </p:nvPr>
        </p:nvSpPr>
        <p:spPr bwMode="auto">
          <a:xfrm>
            <a:off x="-76200" y="6400800"/>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10.</a:t>
            </a:r>
            <a:fld id="{2F13798A-762F-4C50-B3C3-7712CA04C249}" type="slidenum">
              <a:rPr lang="en-US" altLang="en-US" smtClean="0"/>
              <a:pPr/>
              <a:t>36</a:t>
            </a:fld>
            <a:endParaRPr lang="en-US" altLang="en-US" sz="2063">
              <a:solidFill>
                <a:schemeClr val="bg2"/>
              </a:solidFill>
            </a:endParaRPr>
          </a:p>
        </p:txBody>
      </p:sp>
      <p:sp>
        <p:nvSpPr>
          <p:cNvPr id="44035" name="Text Box 2">
            <a:extLst>
              <a:ext uri="{FF2B5EF4-FFF2-40B4-BE49-F238E27FC236}">
                <a16:creationId xmlns:a16="http://schemas.microsoft.com/office/drawing/2014/main" id="{A7F91587-5773-423B-B2D9-22693557E044}"/>
              </a:ext>
            </a:extLst>
          </p:cNvPr>
          <p:cNvSpPr txBox="1">
            <a:spLocks noChangeArrowheads="1"/>
          </p:cNvSpPr>
          <p:nvPr/>
        </p:nvSpPr>
        <p:spPr bwMode="auto">
          <a:xfrm>
            <a:off x="235823" y="2264120"/>
            <a:ext cx="7904463" cy="488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76">
                <a:solidFill>
                  <a:schemeClr val="folHlink"/>
                </a:solidFill>
                <a:latin typeface="Times New Roman" panose="02020603050405020304" pitchFamily="18" charset="0"/>
              </a:rPr>
              <a:t>Table 10.5  </a:t>
            </a:r>
            <a:r>
              <a:rPr lang="en-US" altLang="en-US" sz="2063" i="1">
                <a:latin typeface="Times New Roman" panose="02020603050405020304" pitchFamily="18" charset="0"/>
              </a:rPr>
              <a:t>Logical decision made by the correction logic analyzer</a:t>
            </a:r>
          </a:p>
        </p:txBody>
      </p:sp>
      <p:pic>
        <p:nvPicPr>
          <p:cNvPr id="44036" name="Picture 4">
            <a:extLst>
              <a:ext uri="{FF2B5EF4-FFF2-40B4-BE49-F238E27FC236}">
                <a16:creationId xmlns:a16="http://schemas.microsoft.com/office/drawing/2014/main" id="{F9176BE7-27E5-485C-A5BF-FB4A24ACF7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83" y="2834025"/>
            <a:ext cx="9193827" cy="100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C102AE8-54C0-49EC-9A0A-257C2517CE55}"/>
              </a:ext>
            </a:extLst>
          </p:cNvPr>
          <p:cNvSpPr txBox="1">
            <a:spLocks noChangeArrowheads="1"/>
          </p:cNvSpPr>
          <p:nvPr/>
        </p:nvSpPr>
        <p:spPr bwMode="auto">
          <a:xfrm>
            <a:off x="1179116" y="3914881"/>
            <a:ext cx="7868414" cy="166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301" i="1">
                <a:solidFill>
                  <a:srgbClr val="3366FF"/>
                </a:solidFill>
                <a:latin typeface="Times New Roman" panose="02020603050405020304" pitchFamily="18" charset="0"/>
              </a:rPr>
              <a:t>Hamming code C(7, 4) can :</a:t>
            </a:r>
          </a:p>
          <a:p>
            <a:pPr>
              <a:buFont typeface="Arial" panose="020B0604020202020204" pitchFamily="34" charset="0"/>
              <a:buChar char="•"/>
            </a:pPr>
            <a:r>
              <a:rPr lang="en-US" altLang="en-US" sz="3301" i="1">
                <a:solidFill>
                  <a:srgbClr val="3366FF"/>
                </a:solidFill>
                <a:latin typeface="Times New Roman" panose="02020603050405020304" pitchFamily="18" charset="0"/>
              </a:rPr>
              <a:t>    detect up to 2-bit error             (d</a:t>
            </a:r>
            <a:r>
              <a:rPr lang="en-US" altLang="en-US" sz="3301" i="1" baseline="-25000">
                <a:solidFill>
                  <a:srgbClr val="3366FF"/>
                </a:solidFill>
                <a:latin typeface="Times New Roman" panose="02020603050405020304" pitchFamily="18" charset="0"/>
              </a:rPr>
              <a:t>min</a:t>
            </a:r>
            <a:r>
              <a:rPr lang="en-US" altLang="en-US" sz="3301" i="1">
                <a:solidFill>
                  <a:srgbClr val="3366FF"/>
                </a:solidFill>
                <a:latin typeface="Times New Roman" panose="02020603050405020304" pitchFamily="18" charset="0"/>
              </a:rPr>
              <a:t> -1)</a:t>
            </a:r>
          </a:p>
          <a:p>
            <a:pPr>
              <a:buFont typeface="Arial" panose="020B0604020202020204" pitchFamily="34" charset="0"/>
              <a:buChar char="•"/>
            </a:pPr>
            <a:r>
              <a:rPr lang="en-US" altLang="en-US" sz="3301" i="1">
                <a:solidFill>
                  <a:srgbClr val="3366FF"/>
                </a:solidFill>
                <a:latin typeface="Times New Roman" panose="02020603050405020304" pitchFamily="18" charset="0"/>
              </a:rPr>
              <a:t>    can correct up to 1 bit error    (d</a:t>
            </a:r>
            <a:r>
              <a:rPr lang="en-US" altLang="en-US" sz="3301" i="1" baseline="-25000">
                <a:solidFill>
                  <a:srgbClr val="3366FF"/>
                </a:solidFill>
                <a:latin typeface="Times New Roman" panose="02020603050405020304" pitchFamily="18" charset="0"/>
              </a:rPr>
              <a:t>min</a:t>
            </a:r>
            <a:r>
              <a:rPr lang="en-US" altLang="en-US" sz="3301" i="1">
                <a:solidFill>
                  <a:srgbClr val="3366FF"/>
                </a:solidFill>
                <a:latin typeface="Times New Roman" panose="02020603050405020304" pitchFamily="18" charset="0"/>
              </a:rPr>
              <a:t>-1)/2</a:t>
            </a:r>
            <a:endParaRPr lang="en-US" altLang="en-US" sz="3301">
              <a:solidFill>
                <a:srgbClr val="3366FF"/>
              </a:solidFill>
            </a:endParaRPr>
          </a:p>
        </p:txBody>
      </p:sp>
    </p:spTree>
    <p:extLst>
      <p:ext uri="{BB962C8B-B14F-4D97-AF65-F5344CB8AC3E}">
        <p14:creationId xmlns:p14="http://schemas.microsoft.com/office/powerpoint/2010/main" val="2459649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HD:Programs (Applications):Microsoft Office:Microsoft PowerPoint 4:</Template>
  <TotalTime>2481783891</TotalTime>
  <Pages>10</Pages>
  <Words>1197</Words>
  <Application>Microsoft Office PowerPoint</Application>
  <PresentationFormat>Custom</PresentationFormat>
  <Paragraphs>215</Paragraphs>
  <Slides>36</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Book Antiqua</vt:lpstr>
      <vt:lpstr>Cambria Math</vt:lpstr>
      <vt:lpstr>Comic Sans MS</vt:lpstr>
      <vt:lpstr>Georgia</vt:lpstr>
      <vt:lpstr>Times New Roman</vt:lpstr>
      <vt:lpstr>Wingdings</vt:lpstr>
      <vt:lpstr>Wingdings 3</vt:lpstr>
      <vt:lpstr>Default Design</vt:lpstr>
      <vt:lpstr>Error Detection and Correction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 detection</vt:lpstr>
      <vt:lpstr>PowerPoint Presentation</vt:lpstr>
      <vt:lpstr>PowerPoint Presentation</vt:lpstr>
      <vt:lpstr>PowerPoint Presentation</vt:lpstr>
      <vt:lpstr>Performance</vt:lpstr>
      <vt:lpstr>PowerPoint Presentation</vt:lpstr>
      <vt:lpstr>PowerPoint Presentation</vt:lpstr>
      <vt:lpstr>PowerPoint Presentation</vt:lpstr>
      <vt:lpstr>PowerPoint Presentation</vt:lpstr>
      <vt:lpstr>Cyclic Redundancy Check</vt:lpstr>
      <vt:lpstr>PowerPoint Presentation</vt:lpstr>
      <vt:lpstr>PowerPoint Presentation</vt:lpstr>
      <vt:lpstr>PowerPoint Presentation</vt:lpstr>
      <vt:lpstr>PowerPoint Presentation</vt:lpstr>
      <vt:lpstr>PowerPoint Presentation</vt:lpstr>
      <vt:lpstr>At the sender</vt:lpstr>
      <vt:lpstr>At the receiver</vt:lpstr>
      <vt:lpstr>Performance</vt:lpstr>
      <vt:lpstr>Error Correction</vt:lpstr>
      <vt:lpstr>Single-bit error correction</vt:lpstr>
      <vt:lpstr>PowerPoint Presentation</vt:lpstr>
      <vt:lpstr>PowerPoint Presentation</vt:lpstr>
      <vt:lpstr>Hamming Code</vt:lpstr>
      <vt:lpstr>Hamming Code</vt:lpstr>
      <vt:lpstr>Example of Hamming Code for message length 4</vt:lpstr>
      <vt:lpstr>Which bit is flipped?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Error Detection and Correction</dc:title>
  <dc:creator>Behrouz Forouzan</dc:creator>
  <cp:lastModifiedBy>shabir ali</cp:lastModifiedBy>
  <cp:revision>46</cp:revision>
  <cp:lastPrinted>2011-09-14T05:23:33Z</cp:lastPrinted>
  <dcterms:created xsi:type="dcterms:W3CDTF">1998-04-08T08:02:40Z</dcterms:created>
  <dcterms:modified xsi:type="dcterms:W3CDTF">2020-09-28T03:30:39Z</dcterms:modified>
</cp:coreProperties>
</file>