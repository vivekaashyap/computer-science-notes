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55"/>
  </p:notesMasterIdLst>
  <p:sldIdLst>
    <p:sldId id="257" r:id="rId2"/>
    <p:sldId id="265" r:id="rId3"/>
    <p:sldId id="360" r:id="rId4"/>
    <p:sldId id="362" r:id="rId5"/>
    <p:sldId id="364" r:id="rId6"/>
    <p:sldId id="365" r:id="rId7"/>
    <p:sldId id="366" r:id="rId8"/>
    <p:sldId id="367" r:id="rId9"/>
    <p:sldId id="369" r:id="rId10"/>
    <p:sldId id="430" r:id="rId11"/>
    <p:sldId id="431" r:id="rId12"/>
    <p:sldId id="432" r:id="rId13"/>
    <p:sldId id="372" r:id="rId14"/>
    <p:sldId id="373" r:id="rId15"/>
    <p:sldId id="375" r:id="rId16"/>
    <p:sldId id="376" r:id="rId17"/>
    <p:sldId id="377" r:id="rId18"/>
    <p:sldId id="433" r:id="rId19"/>
    <p:sldId id="438" r:id="rId20"/>
    <p:sldId id="434" r:id="rId21"/>
    <p:sldId id="435" r:id="rId22"/>
    <p:sldId id="436" r:id="rId23"/>
    <p:sldId id="383" r:id="rId24"/>
    <p:sldId id="388" r:id="rId25"/>
    <p:sldId id="390" r:id="rId26"/>
    <p:sldId id="391" r:id="rId27"/>
    <p:sldId id="437" r:id="rId28"/>
    <p:sldId id="392" r:id="rId29"/>
    <p:sldId id="439" r:id="rId30"/>
    <p:sldId id="440" r:id="rId31"/>
    <p:sldId id="441" r:id="rId32"/>
    <p:sldId id="398" r:id="rId33"/>
    <p:sldId id="399" r:id="rId34"/>
    <p:sldId id="442" r:id="rId35"/>
    <p:sldId id="443" r:id="rId36"/>
    <p:sldId id="444" r:id="rId37"/>
    <p:sldId id="445" r:id="rId38"/>
    <p:sldId id="402" r:id="rId39"/>
    <p:sldId id="446" r:id="rId40"/>
    <p:sldId id="447" r:id="rId41"/>
    <p:sldId id="404" r:id="rId42"/>
    <p:sldId id="406" r:id="rId43"/>
    <p:sldId id="407" r:id="rId44"/>
    <p:sldId id="408" r:id="rId45"/>
    <p:sldId id="409" r:id="rId46"/>
    <p:sldId id="410" r:id="rId47"/>
    <p:sldId id="411" r:id="rId48"/>
    <p:sldId id="412" r:id="rId49"/>
    <p:sldId id="415" r:id="rId50"/>
    <p:sldId id="416" r:id="rId51"/>
    <p:sldId id="417" r:id="rId52"/>
    <p:sldId id="418" r:id="rId53"/>
    <p:sldId id="419" r:id="rId54"/>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64" d="100"/>
          <a:sy n="64" d="100"/>
        </p:scale>
        <p:origin x="1566" y="78"/>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notesMaster" Target="notesMasters/notesMaster1.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theme" Target="theme/theme1.xml"/><Relationship Id="rId5" Type="http://schemas.openxmlformats.org/officeDocument/2006/relationships/slide" Target="slides/slide4.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presProps" Target="presProp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23596BA-3F51-4F94-B820-35E7804455FC}" type="datetimeFigureOut">
              <a:rPr lang="en-US" smtClean="0"/>
              <a:pPr/>
              <a:t>10/5/2022</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6E3709A-59F8-4A23-BCCF-278830F81F04}" type="slidenum">
              <a:rPr lang="en-US" smtClean="0"/>
              <a:pPr/>
              <a:t>‹#›</a:t>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5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99050CC-A16C-4A25-94D7-5647D546CAF9}" type="slidenum">
              <a:rPr lang="en-US"/>
              <a:pPr/>
              <a:t>7</a:t>
            </a:fld>
            <a:endParaRPr lang="en-US"/>
          </a:p>
        </p:txBody>
      </p:sp>
      <p:sp>
        <p:nvSpPr>
          <p:cNvPr id="908290" name="Rectangle 2"/>
          <p:cNvSpPr>
            <a:spLocks noGrp="1" noRot="1" noChangeAspect="1" noChangeArrowheads="1" noTextEdit="1"/>
          </p:cNvSpPr>
          <p:nvPr>
            <p:ph type="sldImg"/>
          </p:nvPr>
        </p:nvSpPr>
        <p:spPr>
          <a:ln/>
        </p:spPr>
      </p:sp>
      <p:sp>
        <p:nvSpPr>
          <p:cNvPr id="9082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6850F6D-DE8A-4A31-A1EC-44526409E56C}" type="slidenum">
              <a:rPr lang="en-US"/>
              <a:pPr/>
              <a:t>8</a:t>
            </a:fld>
            <a:endParaRPr lang="en-US"/>
          </a:p>
        </p:txBody>
      </p:sp>
      <p:sp>
        <p:nvSpPr>
          <p:cNvPr id="909314" name="Rectangle 2"/>
          <p:cNvSpPr>
            <a:spLocks noGrp="1" noRot="1" noChangeAspect="1" noChangeArrowheads="1" noTextEdit="1"/>
          </p:cNvSpPr>
          <p:nvPr>
            <p:ph type="sldImg"/>
          </p:nvPr>
        </p:nvSpPr>
        <p:spPr>
          <a:ln/>
        </p:spPr>
      </p:sp>
      <p:sp>
        <p:nvSpPr>
          <p:cNvPr id="90931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9E7666C-AF07-46FA-8E71-9608FF6343AA}" type="slidenum">
              <a:rPr lang="en-US"/>
              <a:pPr/>
              <a:t>13</a:t>
            </a:fld>
            <a:endParaRPr lang="en-US"/>
          </a:p>
        </p:txBody>
      </p:sp>
      <p:sp>
        <p:nvSpPr>
          <p:cNvPr id="912386" name="Rectangle 2"/>
          <p:cNvSpPr>
            <a:spLocks noGrp="1" noRot="1" noChangeAspect="1" noChangeArrowheads="1" noTextEdit="1"/>
          </p:cNvSpPr>
          <p:nvPr>
            <p:ph type="sldImg"/>
          </p:nvPr>
        </p:nvSpPr>
        <p:spPr>
          <a:ln/>
        </p:spPr>
      </p:sp>
      <p:sp>
        <p:nvSpPr>
          <p:cNvPr id="9123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7920309-7996-4378-94D0-74C4D661763F}" type="slidenum">
              <a:rPr lang="en-US"/>
              <a:pPr/>
              <a:t>14</a:t>
            </a:fld>
            <a:endParaRPr lang="en-US"/>
          </a:p>
        </p:txBody>
      </p:sp>
      <p:sp>
        <p:nvSpPr>
          <p:cNvPr id="917506" name="Rectangle 2"/>
          <p:cNvSpPr>
            <a:spLocks noGrp="1" noRot="1" noChangeAspect="1" noChangeArrowheads="1" noTextEdit="1"/>
          </p:cNvSpPr>
          <p:nvPr>
            <p:ph type="sldImg"/>
          </p:nvPr>
        </p:nvSpPr>
        <p:spPr>
          <a:ln/>
        </p:spPr>
      </p:sp>
      <p:sp>
        <p:nvSpPr>
          <p:cNvPr id="91750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8EB806-E3A0-413F-BBFC-B46A0EDCE811}" type="slidenum">
              <a:rPr lang="en-US"/>
              <a:pPr/>
              <a:t>19</a:t>
            </a:fld>
            <a:endParaRPr lang="en-US"/>
          </a:p>
        </p:txBody>
      </p:sp>
      <p:sp>
        <p:nvSpPr>
          <p:cNvPr id="927746" name="Rectangle 2"/>
          <p:cNvSpPr>
            <a:spLocks noGrp="1" noRot="1" noChangeAspect="1" noChangeArrowheads="1" noTextEdit="1"/>
          </p:cNvSpPr>
          <p:nvPr>
            <p:ph type="sldImg"/>
          </p:nvPr>
        </p:nvSpPr>
        <p:spPr>
          <a:ln/>
        </p:spPr>
      </p:sp>
      <p:sp>
        <p:nvSpPr>
          <p:cNvPr id="927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2791C13-336C-4406-A3FF-93F7DE4D153C}" type="slidenum">
              <a:rPr lang="en-US"/>
              <a:pPr/>
              <a:t>21</a:t>
            </a:fld>
            <a:endParaRPr lang="en-US"/>
          </a:p>
        </p:txBody>
      </p:sp>
      <p:sp>
        <p:nvSpPr>
          <p:cNvPr id="921602" name="Rectangle 2"/>
          <p:cNvSpPr>
            <a:spLocks noGrp="1" noRot="1" noChangeAspect="1" noChangeArrowheads="1" noTextEdit="1"/>
          </p:cNvSpPr>
          <p:nvPr>
            <p:ph type="sldImg"/>
          </p:nvPr>
        </p:nvSpPr>
        <p:spPr>
          <a:ln/>
        </p:spPr>
      </p:sp>
      <p:sp>
        <p:nvSpPr>
          <p:cNvPr id="92160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F3078D62-02A0-4B5E-B8C7-1C0B0C2756A2}" type="slidenum">
              <a:rPr lang="en-US"/>
              <a:pPr/>
              <a:t>22</a:t>
            </a:fld>
            <a:endParaRPr lang="en-US"/>
          </a:p>
        </p:txBody>
      </p:sp>
      <p:sp>
        <p:nvSpPr>
          <p:cNvPr id="922626" name="Rectangle 2"/>
          <p:cNvSpPr>
            <a:spLocks noGrp="1" noRot="1" noChangeAspect="1" noChangeArrowheads="1" noTextEdit="1"/>
          </p:cNvSpPr>
          <p:nvPr>
            <p:ph type="sldImg"/>
          </p:nvPr>
        </p:nvSpPr>
        <p:spPr>
          <a:ln/>
        </p:spPr>
      </p:sp>
      <p:sp>
        <p:nvSpPr>
          <p:cNvPr id="92262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59A618EC-8722-4807-9BA0-087182F3A2B7}" type="slidenum">
              <a:rPr lang="en-US"/>
              <a:pPr/>
              <a:t>23</a:t>
            </a:fld>
            <a:endParaRPr lang="en-US"/>
          </a:p>
        </p:txBody>
      </p:sp>
      <p:sp>
        <p:nvSpPr>
          <p:cNvPr id="920578" name="Rectangle 2"/>
          <p:cNvSpPr>
            <a:spLocks noGrp="1" noRot="1" noChangeAspect="1" noChangeArrowheads="1" noTextEdit="1"/>
          </p:cNvSpPr>
          <p:nvPr>
            <p:ph type="sldImg"/>
          </p:nvPr>
        </p:nvSpPr>
        <p:spPr>
          <a:ln/>
        </p:spPr>
      </p:sp>
      <p:sp>
        <p:nvSpPr>
          <p:cNvPr id="92057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33BF121C-3DAC-43CE-BDA4-FEBB854AD372}" type="slidenum">
              <a:rPr lang="en-US"/>
              <a:pPr/>
              <a:t>24</a:t>
            </a:fld>
            <a:endParaRPr lang="en-US"/>
          </a:p>
        </p:txBody>
      </p:sp>
      <p:sp>
        <p:nvSpPr>
          <p:cNvPr id="925698" name="Rectangle 2"/>
          <p:cNvSpPr>
            <a:spLocks noGrp="1" noRot="1" noChangeAspect="1" noChangeArrowheads="1" noTextEdit="1"/>
          </p:cNvSpPr>
          <p:nvPr>
            <p:ph type="sldImg"/>
          </p:nvPr>
        </p:nvSpPr>
        <p:spPr>
          <a:ln/>
        </p:spPr>
      </p:sp>
      <p:sp>
        <p:nvSpPr>
          <p:cNvPr id="92569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B8EB806-E3A0-413F-BBFC-B46A0EDCE811}" type="slidenum">
              <a:rPr lang="en-US"/>
              <a:pPr/>
              <a:t>27</a:t>
            </a:fld>
            <a:endParaRPr lang="en-US"/>
          </a:p>
        </p:txBody>
      </p:sp>
      <p:sp>
        <p:nvSpPr>
          <p:cNvPr id="927746" name="Rectangle 2"/>
          <p:cNvSpPr>
            <a:spLocks noGrp="1" noRot="1" noChangeAspect="1" noChangeArrowheads="1" noTextEdit="1"/>
          </p:cNvSpPr>
          <p:nvPr>
            <p:ph type="sldImg"/>
          </p:nvPr>
        </p:nvSpPr>
        <p:spPr>
          <a:ln/>
        </p:spPr>
      </p:sp>
      <p:sp>
        <p:nvSpPr>
          <p:cNvPr id="92774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7761A37F-D25F-4B93-BD05-BECC01C455EE}" type="slidenum">
              <a:rPr lang="en-US"/>
              <a:pPr/>
              <a:t>32</a:t>
            </a:fld>
            <a:endParaRPr lang="en-US"/>
          </a:p>
        </p:txBody>
      </p:sp>
      <p:sp>
        <p:nvSpPr>
          <p:cNvPr id="930818" name="Rectangle 2"/>
          <p:cNvSpPr>
            <a:spLocks noGrp="1" noRot="1" noChangeAspect="1" noChangeArrowheads="1" noTextEdit="1"/>
          </p:cNvSpPr>
          <p:nvPr>
            <p:ph type="sldImg"/>
          </p:nvPr>
        </p:nvSpPr>
        <p:spPr>
          <a:ln/>
        </p:spPr>
      </p:sp>
      <p:sp>
        <p:nvSpPr>
          <p:cNvPr id="93081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EBDB210-7E0B-423A-B246-7816834A7204}" type="slidenum">
              <a:rPr lang="en-US"/>
              <a:pPr/>
              <a:t>33</a:t>
            </a:fld>
            <a:endParaRPr lang="en-US"/>
          </a:p>
        </p:txBody>
      </p:sp>
      <p:sp>
        <p:nvSpPr>
          <p:cNvPr id="931842" name="Rectangle 2"/>
          <p:cNvSpPr>
            <a:spLocks noGrp="1" noRot="1" noChangeAspect="1" noChangeArrowheads="1" noTextEdit="1"/>
          </p:cNvSpPr>
          <p:nvPr>
            <p:ph type="sldImg"/>
          </p:nvPr>
        </p:nvSpPr>
        <p:spPr>
          <a:ln/>
        </p:spPr>
      </p:sp>
      <p:sp>
        <p:nvSpPr>
          <p:cNvPr id="931843"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554ED9A-2A35-4422-8A8C-8ECD7FAB7138}" type="slidenum">
              <a:rPr lang="en-US"/>
              <a:pPr/>
              <a:t>38</a:t>
            </a:fld>
            <a:endParaRPr lang="en-US"/>
          </a:p>
        </p:txBody>
      </p:sp>
      <p:sp>
        <p:nvSpPr>
          <p:cNvPr id="932866" name="Rectangle 2"/>
          <p:cNvSpPr>
            <a:spLocks noGrp="1" noRot="1" noChangeAspect="1" noChangeArrowheads="1" noTextEdit="1"/>
          </p:cNvSpPr>
          <p:nvPr>
            <p:ph type="sldImg"/>
          </p:nvPr>
        </p:nvSpPr>
        <p:spPr>
          <a:ln/>
        </p:spPr>
      </p:sp>
      <p:sp>
        <p:nvSpPr>
          <p:cNvPr id="93286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6398D3C-971C-4779-8822-8D617EB2A410}" type="slidenum">
              <a:rPr lang="en-US"/>
              <a:pPr/>
              <a:t>41</a:t>
            </a:fld>
            <a:endParaRPr lang="en-US"/>
          </a:p>
        </p:txBody>
      </p:sp>
      <p:sp>
        <p:nvSpPr>
          <p:cNvPr id="933890" name="Rectangle 2"/>
          <p:cNvSpPr>
            <a:spLocks noGrp="1" noRot="1" noChangeAspect="1" noChangeArrowheads="1" noTextEdit="1"/>
          </p:cNvSpPr>
          <p:nvPr>
            <p:ph type="sldImg"/>
          </p:nvPr>
        </p:nvSpPr>
        <p:spPr>
          <a:ln/>
        </p:spPr>
      </p:sp>
      <p:sp>
        <p:nvSpPr>
          <p:cNvPr id="93389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8E1C6FE-16AE-4355-AA86-04A44C1ED023}" type="slidenum">
              <a:rPr lang="en-US"/>
              <a:pPr/>
              <a:t>42</a:t>
            </a:fld>
            <a:endParaRPr lang="en-US"/>
          </a:p>
        </p:txBody>
      </p:sp>
      <p:sp>
        <p:nvSpPr>
          <p:cNvPr id="935938" name="Rectangle 2"/>
          <p:cNvSpPr>
            <a:spLocks noGrp="1" noRot="1" noChangeAspect="1" noChangeArrowheads="1" noTextEdit="1"/>
          </p:cNvSpPr>
          <p:nvPr>
            <p:ph type="sldImg"/>
          </p:nvPr>
        </p:nvSpPr>
        <p:spPr>
          <a:ln/>
        </p:spPr>
      </p:sp>
      <p:sp>
        <p:nvSpPr>
          <p:cNvPr id="93593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1808BD68-10C0-4C65-891F-53C2198514C4}" type="slidenum">
              <a:rPr lang="en-US"/>
              <a:pPr/>
              <a:t>49</a:t>
            </a:fld>
            <a:endParaRPr lang="en-US"/>
          </a:p>
        </p:txBody>
      </p:sp>
      <p:sp>
        <p:nvSpPr>
          <p:cNvPr id="937986" name="Rectangle 2"/>
          <p:cNvSpPr>
            <a:spLocks noGrp="1" noRot="1" noChangeAspect="1" noChangeArrowheads="1" noTextEdit="1"/>
          </p:cNvSpPr>
          <p:nvPr>
            <p:ph type="sldImg"/>
          </p:nvPr>
        </p:nvSpPr>
        <p:spPr>
          <a:ln/>
        </p:spPr>
      </p:sp>
      <p:sp>
        <p:nvSpPr>
          <p:cNvPr id="937987"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E2A41359-2F92-43AC-BD4E-C51722E5367A}" type="slidenum">
              <a:rPr lang="en-US"/>
              <a:pPr/>
              <a:t>50</a:t>
            </a:fld>
            <a:endParaRPr lang="en-US"/>
          </a:p>
        </p:txBody>
      </p:sp>
      <p:sp>
        <p:nvSpPr>
          <p:cNvPr id="939010" name="Rectangle 2"/>
          <p:cNvSpPr>
            <a:spLocks noGrp="1" noRot="1" noChangeAspect="1" noChangeArrowheads="1" noTextEdit="1"/>
          </p:cNvSpPr>
          <p:nvPr>
            <p:ph type="sldImg"/>
          </p:nvPr>
        </p:nvSpPr>
        <p:spPr>
          <a:ln/>
        </p:spPr>
      </p:sp>
      <p:sp>
        <p:nvSpPr>
          <p:cNvPr id="939011"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F5D5B3D-8A2A-4C32-B8AB-7501E6137EE7}" type="slidenum">
              <a:rPr lang="en-US"/>
              <a:pPr/>
              <a:t>51</a:t>
            </a:fld>
            <a:endParaRPr lang="en-US"/>
          </a:p>
        </p:txBody>
      </p:sp>
      <p:sp>
        <p:nvSpPr>
          <p:cNvPr id="940034" name="Rectangle 2"/>
          <p:cNvSpPr>
            <a:spLocks noGrp="1" noRot="1" noChangeAspect="1" noChangeArrowheads="1" noTextEdit="1"/>
          </p:cNvSpPr>
          <p:nvPr>
            <p:ph type="sldImg"/>
          </p:nvPr>
        </p:nvSpPr>
        <p:spPr>
          <a:ln/>
        </p:spPr>
      </p:sp>
      <p:sp>
        <p:nvSpPr>
          <p:cNvPr id="940035" name="Rectangle 3"/>
          <p:cNvSpPr>
            <a:spLocks noGrp="1" noChangeArrowheads="1"/>
          </p:cNvSpPr>
          <p:nvPr>
            <p:ph type="body" idx="1"/>
          </p:nvPr>
        </p:nvSpPr>
        <p:spPr/>
        <p:txBody>
          <a:bodyPr/>
          <a:lstStyle/>
          <a:p>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013F9086-4564-441A-9B50-895AA25D08F7}" type="slidenum">
              <a:rPr lang="en-US"/>
              <a:pPr/>
              <a:t>52</a:t>
            </a:fld>
            <a:endParaRPr lang="en-US"/>
          </a:p>
        </p:txBody>
      </p:sp>
      <p:sp>
        <p:nvSpPr>
          <p:cNvPr id="941058" name="Rectangle 2"/>
          <p:cNvSpPr>
            <a:spLocks noGrp="1" noRot="1" noChangeAspect="1" noChangeArrowheads="1" noTextEdit="1"/>
          </p:cNvSpPr>
          <p:nvPr>
            <p:ph type="sldImg"/>
          </p:nvPr>
        </p:nvSpPr>
        <p:spPr>
          <a:ln/>
        </p:spPr>
      </p:sp>
      <p:sp>
        <p:nvSpPr>
          <p:cNvPr id="941059" name="Rectangle 3"/>
          <p:cNvSpPr>
            <a:spLocks noGrp="1" noChangeArrowheads="1"/>
          </p:cNvSpPr>
          <p:nvPr>
            <p:ph type="body" idx="1"/>
          </p:nvPr>
        </p:nvSpPr>
        <p:spPr/>
        <p:txBody>
          <a:bodyPr/>
          <a:lstStyle/>
          <a:p>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7"/>
          <p:cNvSpPr>
            <a:spLocks noGrp="1" noChangeArrowheads="1"/>
          </p:cNvSpPr>
          <p:nvPr>
            <p:ph type="sldNum" sz="quarter" idx="5"/>
          </p:nvPr>
        </p:nvSpPr>
        <p:spPr>
          <a:ln/>
        </p:spPr>
        <p:txBody>
          <a:bodyPr/>
          <a:lstStyle/>
          <a:p>
            <a:fld id="{24E0D1B0-1B79-4DC0-A468-FD4F3602461F}" type="slidenum">
              <a:rPr lang="en-US"/>
              <a:pPr/>
              <a:t>53</a:t>
            </a:fld>
            <a:endParaRPr lang="en-US"/>
          </a:p>
        </p:txBody>
      </p:sp>
      <p:sp>
        <p:nvSpPr>
          <p:cNvPr id="942082" name="Rectangle 2"/>
          <p:cNvSpPr>
            <a:spLocks noGrp="1" noRot="1" noChangeAspect="1" noChangeArrowheads="1" noTextEdit="1"/>
          </p:cNvSpPr>
          <p:nvPr>
            <p:ph type="sldImg"/>
          </p:nvPr>
        </p:nvSpPr>
        <p:spPr>
          <a:ln/>
        </p:spPr>
      </p:sp>
      <p:sp>
        <p:nvSpPr>
          <p:cNvPr id="942083" name="Rectangle 3"/>
          <p:cNvSpPr>
            <a:spLocks noGrp="1" noChangeArrowheads="1"/>
          </p:cNvSpPr>
          <p:nvPr>
            <p:ph type="body" idx="1"/>
          </p:nvPr>
        </p:nvSpPr>
        <p:spPr/>
        <p:txBody>
          <a:bodyPr/>
          <a:lstStyle/>
          <a:p>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AD4C01E2-8D39-4AFB-8F6F-F93A2B014B15}" type="datetimeFigureOut">
              <a:rPr lang="en-US" smtClean="0"/>
              <a:pPr/>
              <a:t>10/5/2022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10/5/2022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AD4C01E2-8D39-4AFB-8F6F-F93A2B014B15}" type="datetimeFigureOut">
              <a:rPr lang="en-US" smtClean="0"/>
              <a:pPr/>
              <a:t>10/5/2022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AD4C01E2-8D39-4AFB-8F6F-F93A2B014B15}" type="datetimeFigureOut">
              <a:rPr lang="en-US" smtClean="0"/>
              <a:pPr/>
              <a:t>10/5/2022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AD4C01E2-8D39-4AFB-8F6F-F93A2B014B15}" type="datetimeFigureOut">
              <a:rPr lang="en-US" smtClean="0"/>
              <a:pPr/>
              <a:t>10/5/2022</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AD4C01E2-8D39-4AFB-8F6F-F93A2B014B15}" type="datetimeFigureOut">
              <a:rPr lang="en-US" smtClean="0"/>
              <a:pPr/>
              <a:t>10/5/2022</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AD4C01E2-8D39-4AFB-8F6F-F93A2B014B15}" type="datetimeFigureOut">
              <a:rPr lang="en-US" smtClean="0"/>
              <a:pPr/>
              <a:t>10/5/2022</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C01E2-8D39-4AFB-8F6F-F93A2B014B15}" type="datetimeFigureOut">
              <a:rPr lang="en-US" smtClean="0"/>
              <a:pPr/>
              <a:t>10/5/2022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AD4C01E2-8D39-4AFB-8F6F-F93A2B014B15}" type="datetimeFigureOut">
              <a:rPr lang="en-US" smtClean="0"/>
              <a:pPr/>
              <a:t>10/5/2022</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10/5/2022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AD4C01E2-8D39-4AFB-8F6F-F93A2B014B15}" type="datetimeFigureOut">
              <a:rPr lang="en-US" smtClean="0"/>
              <a:pPr/>
              <a:t>10/5/2022</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0C7712E-CF77-4A4D-A906-4C104513DB71}" type="slidenum">
              <a:rPr lang="en-US" smtClean="0"/>
              <a:pPr/>
              <a:t>‹#›</a:t>
            </a:fld>
            <a:endParaRPr lang="en-US"/>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cSld name="Content">
    <p:spTree>
      <p:nvGrpSpPr>
        <p:cNvPr id="1" name=""/>
        <p:cNvGrpSpPr/>
        <p:nvPr/>
      </p:nvGrpSpPr>
      <p:grpSpPr>
        <a:xfrm>
          <a:off x="0" y="0"/>
          <a:ext cx="0" cy="0"/>
          <a:chOff x="0" y="0"/>
          <a:chExt cx="0" cy="0"/>
        </a:xfrm>
      </p:grpSpPr>
      <p:sp>
        <p:nvSpPr>
          <p:cNvPr id="2" name="Content Placeholder 1"/>
          <p:cNvSpPr>
            <a:spLocks noGrp="1"/>
          </p:cNvSpPr>
          <p:nvPr>
            <p:ph/>
          </p:nvPr>
        </p:nvSpPr>
        <p:spPr>
          <a:xfrm>
            <a:off x="457200" y="274638"/>
            <a:ext cx="8229600" cy="5851525"/>
          </a:xfrm>
          <a:prstGeom prst="rect">
            <a:avLst/>
          </a:prstGeo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3" name="Slide Number Placeholder 2"/>
          <p:cNvSpPr>
            <a:spLocks noGrp="1"/>
          </p:cNvSpPr>
          <p:nvPr>
            <p:ph type="sldNum" sz="quarter" idx="10"/>
          </p:nvPr>
        </p:nvSpPr>
        <p:spPr>
          <a:xfrm>
            <a:off x="0" y="6400800"/>
            <a:ext cx="1905000" cy="457200"/>
          </a:xfrm>
        </p:spPr>
        <p:txBody>
          <a:bodyPr/>
          <a:lstStyle>
            <a:lvl1pPr>
              <a:defRPr/>
            </a:lvl1pPr>
          </a:lstStyle>
          <a:p>
            <a:r>
              <a:rPr lang="en-US"/>
              <a:t>8.</a:t>
            </a:r>
            <a:fld id="{9691A3EE-467F-4CEF-8639-4852DE7C7F71}" type="slidenum">
              <a:rPr lang="en-US"/>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AD4C01E2-8D39-4AFB-8F6F-F93A2B014B15}" type="datetimeFigureOut">
              <a:rPr lang="en-US" smtClean="0"/>
              <a:pPr/>
              <a:t>10/5/2022</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0C7712E-CF77-4A4D-A906-4C104513DB71}"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7.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6.xml"/></Relationships>
</file>

<file path=ppt/slides/_rels/slide2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9.xml"/><Relationship Id="rId1" Type="http://schemas.openxmlformats.org/officeDocument/2006/relationships/slideLayout" Target="../slideLayouts/slideLayout7.xml"/><Relationship Id="rId4" Type="http://schemas.openxmlformats.org/officeDocument/2006/relationships/image" Target="../media/image13.png"/></Relationships>
</file>

<file path=ppt/slides/_rels/slide25.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Layout" Target="../slideLayouts/slideLayout7.xml"/><Relationship Id="rId4" Type="http://schemas.openxmlformats.org/officeDocument/2006/relationships/image" Target="../media/image17.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Layout" Target="../slideLayouts/slideLayout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0.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6.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38.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5.xml"/><Relationship Id="rId1" Type="http://schemas.openxmlformats.org/officeDocument/2006/relationships/slideLayout" Target="../slideLayouts/slideLayout7.xml"/><Relationship Id="rId4" Type="http://schemas.openxmlformats.org/officeDocument/2006/relationships/image" Target="../media/image25.png"/></Relationships>
</file>

<file path=ppt/slides/_rels/slide43.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image" Target="../media/image26.png"/><Relationship Id="rId1" Type="http://schemas.openxmlformats.org/officeDocument/2006/relationships/slideLayout" Target="../slideLayouts/slideLayout7.xml"/><Relationship Id="rId4" Type="http://schemas.openxmlformats.org/officeDocument/2006/relationships/image" Target="../media/image28.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_rels/slide46.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6.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5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ctrTitle"/>
          </p:nvPr>
        </p:nvSpPr>
        <p:spPr>
          <a:xfrm>
            <a:off x="685800" y="3200400"/>
            <a:ext cx="7772400" cy="1676400"/>
          </a:xfrm>
        </p:spPr>
        <p:txBody>
          <a:bodyPr>
            <a:normAutofit/>
          </a:bodyPr>
          <a:lstStyle/>
          <a:p>
            <a:pPr algn="ctr"/>
            <a:r>
              <a:rPr lang="en-US" b="1" u="none" dirty="0"/>
              <a:t>COMPUTER NETWORKS</a:t>
            </a:r>
            <a:br>
              <a:rPr lang="en-US" b="1" u="none" dirty="0"/>
            </a:br>
            <a:r>
              <a:rPr lang="en-US" b="1" u="none" dirty="0"/>
              <a:t>(</a:t>
            </a:r>
            <a:r>
              <a:rPr lang="en-US" b="1" dirty="0"/>
              <a:t>BCSC 0008)</a:t>
            </a:r>
            <a:endParaRPr lang="en-US" b="1" u="none" dirty="0"/>
          </a:p>
        </p:txBody>
      </p:sp>
      <p:sp>
        <p:nvSpPr>
          <p:cNvPr id="5" name="Slide Number Placeholder 4"/>
          <p:cNvSpPr>
            <a:spLocks noGrp="1"/>
          </p:cNvSpPr>
          <p:nvPr>
            <p:ph type="sldNum" sz="quarter" idx="12"/>
          </p:nvPr>
        </p:nvSpPr>
        <p:spPr/>
        <p:txBody>
          <a:bodyPr/>
          <a:lstStyle/>
          <a:p>
            <a:r>
              <a:rPr lang="en-US" altLang="zh-TW" dirty="0"/>
              <a:t>1-</a:t>
            </a:r>
            <a:fld id="{99D27633-06CE-45E1-87B8-65ED130BB8BF}" type="slidenum">
              <a:rPr lang="en-US" altLang="zh-TW" smtClean="0"/>
              <a:pPr/>
              <a:t>1</a:t>
            </a:fld>
            <a:endParaRPr lang="en-US" altLang="zh-TW" dirty="0"/>
          </a:p>
        </p:txBody>
      </p:sp>
      <p:sp>
        <p:nvSpPr>
          <p:cNvPr id="7" name="Footer Placeholder 5"/>
          <p:cNvSpPr>
            <a:spLocks noGrp="1"/>
          </p:cNvSpPr>
          <p:nvPr>
            <p:ph type="ftr" sz="quarter" idx="11"/>
          </p:nvPr>
        </p:nvSpPr>
        <p:spPr>
          <a:xfrm>
            <a:off x="1066800" y="6356350"/>
            <a:ext cx="6781800" cy="365125"/>
          </a:xfrm>
        </p:spPr>
        <p:txBody>
          <a:bodyPr/>
          <a:lstStyle/>
          <a:p>
            <a:r>
              <a:rPr lang="en-US" b="1" dirty="0">
                <a:solidFill>
                  <a:schemeClr val="tx1"/>
                </a:solidFill>
                <a:latin typeface="Times New Roman"/>
                <a:ea typeface="Calibri"/>
                <a:cs typeface="Times New Roman"/>
              </a:rPr>
              <a:t>Lecture Presented by: Prof. Diwakar Bharadwaj, Mr. Saurabh Anand, Mr. Akhilesh Kumar Singh </a:t>
            </a:r>
            <a:endParaRPr lang="en-US" altLang="zh-TW" dirty="0">
              <a:solidFill>
                <a:schemeClr val="tx1"/>
              </a:solidFill>
              <a:latin typeface="Times New Roman" pitchFamily="18" charset="0"/>
            </a:endParaRPr>
          </a:p>
        </p:txBody>
      </p:sp>
      <p:pic>
        <p:nvPicPr>
          <p:cNvPr id="8" name="Picture 2"/>
          <p:cNvPicPr>
            <a:picLocks noChangeAspect="1" noChangeArrowheads="1"/>
          </p:cNvPicPr>
          <p:nvPr/>
        </p:nvPicPr>
        <p:blipFill>
          <a:blip r:embed="rId2" cstate="print"/>
          <a:srcRect/>
          <a:stretch>
            <a:fillRect/>
          </a:stretch>
        </p:blipFill>
        <p:spPr bwMode="auto">
          <a:xfrm>
            <a:off x="3581400" y="990600"/>
            <a:ext cx="2065942" cy="2152827"/>
          </a:xfrm>
          <a:prstGeom prst="rect">
            <a:avLst/>
          </a:prstGeom>
          <a:noFill/>
          <a:ln w="9525">
            <a:noFill/>
            <a:miter lim="800000"/>
            <a:headEnd/>
            <a:tailEnd/>
          </a:ln>
        </p:spPr>
      </p:pic>
      <p:sp>
        <p:nvSpPr>
          <p:cNvPr id="10" name="Footer Placeholder 5"/>
          <p:cNvSpPr txBox="1">
            <a:spLocks/>
          </p:cNvSpPr>
          <p:nvPr/>
        </p:nvSpPr>
        <p:spPr>
          <a:xfrm>
            <a:off x="1219200" y="4816475"/>
            <a:ext cx="6781800" cy="365125"/>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dirty="0">
                <a:ln>
                  <a:noFill/>
                </a:ln>
                <a:solidFill>
                  <a:schemeClr val="tx1"/>
                </a:solidFill>
                <a:effectLst/>
                <a:uLnTx/>
                <a:uFillTx/>
                <a:latin typeface="Times New Roman"/>
                <a:ea typeface="Calibri"/>
                <a:cs typeface="Times New Roman"/>
              </a:rPr>
              <a:t>Copyright</a:t>
            </a:r>
            <a:r>
              <a:rPr kumimoji="0" lang="en-US" sz="1200" b="1" i="0" u="none" strike="noStrike" kern="1200" cap="none" spc="0" normalizeH="0" noProof="0" dirty="0">
                <a:ln>
                  <a:noFill/>
                </a:ln>
                <a:solidFill>
                  <a:schemeClr val="tx1"/>
                </a:solidFill>
                <a:effectLst/>
                <a:uLnTx/>
                <a:uFillTx/>
                <a:latin typeface="Times New Roman"/>
                <a:ea typeface="Calibri"/>
                <a:cs typeface="Times New Roman"/>
              </a:rPr>
              <a:t> content, </a:t>
            </a:r>
            <a:r>
              <a:rPr lang="en-US" sz="1200" b="1" dirty="0">
                <a:latin typeface="Times New Roman"/>
                <a:ea typeface="Calibri"/>
                <a:cs typeface="Times New Roman"/>
              </a:rPr>
              <a:t>use only with the written permission of presenter mentioned</a:t>
            </a:r>
            <a:endParaRPr kumimoji="0" lang="en-US" altLang="zh-TW" sz="1200" b="0" i="0" u="none" strike="noStrike" kern="1200" cap="none" spc="0" normalizeH="0" baseline="0" noProof="0" dirty="0">
              <a:ln>
                <a:noFill/>
              </a:ln>
              <a:solidFill>
                <a:schemeClr val="tx1"/>
              </a:solidFill>
              <a:effectLst/>
              <a:uLnTx/>
              <a:uFillTx/>
              <a:latin typeface="Times New Roman" pitchFamily="18" charset="0"/>
              <a:ea typeface="+mn-ea"/>
              <a:cs typeface="+mn-cs"/>
            </a:endParaRPr>
          </a:p>
        </p:txBody>
      </p:sp>
      <p:sp>
        <p:nvSpPr>
          <p:cNvPr id="11" name="Footer Placeholder 5"/>
          <p:cNvSpPr txBox="1">
            <a:spLocks/>
          </p:cNvSpPr>
          <p:nvPr/>
        </p:nvSpPr>
        <p:spPr>
          <a:xfrm>
            <a:off x="2362200" y="5257800"/>
            <a:ext cx="4648200" cy="1066800"/>
          </a:xfrm>
          <a:prstGeom prst="rect">
            <a:avLst/>
          </a:prstGeom>
        </p:spPr>
        <p:txBody>
          <a:bodyPr vert="horz" lIns="91440" tIns="45720" rIns="91440" bIns="45720"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altLang="zh-TW" b="1" dirty="0">
                <a:solidFill>
                  <a:srgbClr val="FF0000"/>
                </a:solidFill>
                <a:latin typeface="Times New Roman"/>
                <a:cs typeface="Times New Roman"/>
              </a:rPr>
              <a:t>SWITCHING TECHNIQUES</a:t>
            </a:r>
            <a:endParaRPr kumimoji="0" lang="en-US" altLang="zh-TW" b="0" i="0" u="none" strike="noStrike" kern="1200" cap="none" spc="0" normalizeH="0" baseline="0" noProof="0" dirty="0">
              <a:ln>
                <a:noFill/>
              </a:ln>
              <a:solidFill>
                <a:srgbClr val="FF0000"/>
              </a:solidFill>
              <a:effectLst/>
              <a:uLnTx/>
              <a:uFillTx/>
              <a:latin typeface="Times New Roman" pitchFamily="18" charset="0"/>
              <a:ea typeface="+mn-ea"/>
              <a:cs typeface="+mn-cs"/>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pPr algn="l"/>
            <a:br>
              <a:rPr lang="en-US" dirty="0"/>
            </a:br>
            <a:r>
              <a:rPr lang="en-US" b="1" dirty="0"/>
              <a:t>Text and Reference Books</a:t>
            </a:r>
            <a:br>
              <a:rPr lang="en-US" dirty="0"/>
            </a:br>
            <a:endParaRPr lang="en-US" dirty="0"/>
          </a:p>
        </p:txBody>
      </p:sp>
      <p:sp>
        <p:nvSpPr>
          <p:cNvPr id="3" name="Content Placeholder 2"/>
          <p:cNvSpPr>
            <a:spLocks noGrp="1"/>
          </p:cNvSpPr>
          <p:nvPr>
            <p:ph idx="1"/>
          </p:nvPr>
        </p:nvSpPr>
        <p:spPr/>
        <p:txBody>
          <a:bodyPr>
            <a:normAutofit lnSpcReduction="10000"/>
          </a:bodyPr>
          <a:lstStyle/>
          <a:p>
            <a:pPr algn="just">
              <a:buNone/>
            </a:pPr>
            <a:r>
              <a:rPr lang="en-US" sz="2400" dirty="0">
                <a:solidFill>
                  <a:srgbClr val="FF0000"/>
                </a:solidFill>
              </a:rPr>
              <a:t>Text Books:</a:t>
            </a:r>
          </a:p>
          <a:p>
            <a:pPr marL="457200" indent="-457200" algn="just">
              <a:buFont typeface="+mj-lt"/>
              <a:buAutoNum type="arabicPeriod"/>
            </a:pPr>
            <a:r>
              <a:rPr lang="en-US" sz="2800" dirty="0"/>
              <a:t>Fourouzan B. A. (2004), “Data Communication and Networking”, 4th Edition, McGraw-Hill.</a:t>
            </a:r>
          </a:p>
          <a:p>
            <a:pPr algn="just"/>
            <a:endParaRPr lang="en-US" sz="2400" dirty="0"/>
          </a:p>
          <a:p>
            <a:pPr algn="just">
              <a:buNone/>
            </a:pPr>
            <a:r>
              <a:rPr lang="en-US" sz="2400" dirty="0">
                <a:solidFill>
                  <a:srgbClr val="FF0000"/>
                </a:solidFill>
              </a:rPr>
              <a:t>References:</a:t>
            </a:r>
          </a:p>
          <a:p>
            <a:pPr marL="457200" indent="-457200" algn="just">
              <a:buFont typeface="+mj-lt"/>
              <a:buAutoNum type="arabicPeriod"/>
            </a:pPr>
            <a:r>
              <a:rPr lang="en-US" sz="2800" dirty="0"/>
              <a:t>Kurose, J. F. and Ross K. W. (2005), “Computer Networking: A Top-Down Approach Featuring the Internet”, 3rd Edition, Addison-Wesley.</a:t>
            </a:r>
          </a:p>
          <a:p>
            <a:pPr marL="457200" indent="-457200" algn="just">
              <a:buFont typeface="+mj-lt"/>
              <a:buAutoNum type="arabicPeriod"/>
            </a:pPr>
            <a:r>
              <a:rPr lang="en-US" sz="2800" dirty="0"/>
              <a:t>A. S. Tanenbaum (2006), “Computer Networks”, 2nd Edition, Prentice Hall India.</a:t>
            </a:r>
          </a:p>
        </p:txBody>
      </p:sp>
      <p:sp>
        <p:nvSpPr>
          <p:cNvPr id="5" name="Footer Placeholder 5"/>
          <p:cNvSpPr>
            <a:spLocks noGrp="1"/>
          </p:cNvSpPr>
          <p:nvPr>
            <p:ph type="ftr" sz="quarter" idx="11"/>
          </p:nvPr>
        </p:nvSpPr>
        <p:spPr>
          <a:xfrm>
            <a:off x="1066800" y="6356350"/>
            <a:ext cx="6781800" cy="365125"/>
          </a:xfrm>
        </p:spPr>
        <p:txBody>
          <a:bodyPr/>
          <a:lstStyle/>
          <a:p>
            <a:r>
              <a:rPr lang="en-US" b="1" dirty="0">
                <a:solidFill>
                  <a:schemeClr val="tx1"/>
                </a:solidFill>
                <a:latin typeface="Times New Roman"/>
                <a:ea typeface="Calibri"/>
                <a:cs typeface="Times New Roman"/>
              </a:rPr>
              <a:t>Lecture Presented by: Prof. Diwakar Bharadwaj, Mr. Saurabh Anand, Mr. Akhilesh Kumar Singh </a:t>
            </a:r>
            <a:endParaRPr lang="en-US" altLang="zh-TW" dirty="0">
              <a:solidFill>
                <a:schemeClr val="tx1"/>
              </a:solidFill>
              <a:latin typeface="Times New Roman" pitchFamily="18"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838200"/>
            <a:ext cx="8229600" cy="5287963"/>
          </a:xfrm>
        </p:spPr>
        <p:txBody>
          <a:bodyPr>
            <a:normAutofit/>
          </a:bodyPr>
          <a:lstStyle/>
          <a:p>
            <a:pPr>
              <a:buNone/>
            </a:pPr>
            <a:r>
              <a:rPr lang="en-US" dirty="0">
                <a:solidFill>
                  <a:srgbClr val="FF0000"/>
                </a:solidFill>
              </a:rPr>
              <a:t>Previous discussed topics</a:t>
            </a:r>
            <a:r>
              <a:rPr lang="en-US" dirty="0"/>
              <a:t>:</a:t>
            </a:r>
          </a:p>
          <a:p>
            <a:pPr marL="857250" lvl="1" indent="-457200">
              <a:buFont typeface="+mj-lt"/>
              <a:buAutoNum type="arabicPeriod"/>
            </a:pPr>
            <a:r>
              <a:rPr lang="en-US" sz="2600" b="1" u="sng" dirty="0"/>
              <a:t>OSI Model</a:t>
            </a:r>
          </a:p>
          <a:p>
            <a:pPr marL="857250" lvl="1" indent="-457200">
              <a:buFont typeface="+mj-lt"/>
              <a:buAutoNum type="arabicPeriod"/>
            </a:pPr>
            <a:r>
              <a:rPr lang="en-US" sz="2600" b="1" u="sng" dirty="0"/>
              <a:t>TCP/IP Model</a:t>
            </a:r>
          </a:p>
          <a:p>
            <a:pPr marL="857250" lvl="1" indent="-457200">
              <a:buFont typeface="+mj-lt"/>
              <a:buAutoNum type="arabicPeriod"/>
            </a:pPr>
            <a:r>
              <a:rPr lang="en-US" sz="2600" b="1" u="sng" dirty="0"/>
              <a:t>Addressing</a:t>
            </a:r>
          </a:p>
          <a:p>
            <a:pPr marL="857250" lvl="1" indent="-457200">
              <a:buFont typeface="+mj-lt"/>
              <a:buAutoNum type="arabicPeriod"/>
            </a:pPr>
            <a:r>
              <a:rPr lang="en-US" sz="2600" b="1" u="sng" dirty="0"/>
              <a:t>Data &amp; Signals</a:t>
            </a:r>
          </a:p>
          <a:p>
            <a:pPr marL="857250" lvl="1" indent="-457200">
              <a:buFont typeface="+mj-lt"/>
              <a:buAutoNum type="arabicPeriod"/>
            </a:pPr>
            <a:r>
              <a:rPr lang="en-US" sz="2600" b="1" u="sng" dirty="0"/>
              <a:t>Transmission Media &amp; Line Encoding</a:t>
            </a:r>
          </a:p>
          <a:p>
            <a:pPr marL="857250" lvl="1" indent="-457200">
              <a:buFont typeface="+mj-lt"/>
              <a:buAutoNum type="arabicPeriod"/>
            </a:pPr>
            <a:endParaRPr lang="en-US" sz="2600" b="1" u="sng" dirty="0"/>
          </a:p>
          <a:p>
            <a:pPr>
              <a:buNone/>
            </a:pPr>
            <a:r>
              <a:rPr lang="en-US" dirty="0">
                <a:solidFill>
                  <a:srgbClr val="FF0000"/>
                </a:solidFill>
              </a:rPr>
              <a:t>Now we will discuss</a:t>
            </a:r>
            <a:r>
              <a:rPr lang="en-US" dirty="0"/>
              <a:t>:</a:t>
            </a:r>
          </a:p>
          <a:p>
            <a:pPr marL="857250" lvl="1" indent="-457200">
              <a:buFont typeface="+mj-lt"/>
              <a:buAutoNum type="arabicPeriod"/>
            </a:pPr>
            <a:r>
              <a:rPr lang="en-US" sz="2600" b="1" u="sng" dirty="0"/>
              <a:t>Concept of Switch</a:t>
            </a:r>
          </a:p>
          <a:p>
            <a:pPr marL="857250" lvl="1" indent="-457200">
              <a:buFont typeface="+mj-lt"/>
              <a:buAutoNum type="arabicPeriod"/>
            </a:pPr>
            <a:r>
              <a:rPr lang="en-US" sz="2600" b="1" u="sng" dirty="0"/>
              <a:t>Circuit, Packet and Message Switching Techniques</a:t>
            </a:r>
          </a:p>
          <a:p>
            <a:endParaRPr 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Content Placeholder 1"/>
          <p:cNvSpPr>
            <a:spLocks noGrp="1"/>
          </p:cNvSpPr>
          <p:nvPr>
            <p:ph/>
          </p:nvPr>
        </p:nvSpPr>
        <p:spPr>
          <a:xfrm>
            <a:off x="533400" y="1447801"/>
            <a:ext cx="8229600" cy="3048000"/>
          </a:xfrm>
        </p:spPr>
        <p:txBody>
          <a:bodyPr>
            <a:normAutofit/>
          </a:bodyPr>
          <a:lstStyle/>
          <a:p>
            <a:pPr algn="just">
              <a:spcBef>
                <a:spcPts val="0"/>
              </a:spcBef>
            </a:pPr>
            <a:r>
              <a:rPr lang="en-US" dirty="0"/>
              <a:t>How 2 devices communicate when there are many devices?</a:t>
            </a:r>
          </a:p>
          <a:p>
            <a:pPr algn="just">
              <a:spcBef>
                <a:spcPts val="0"/>
              </a:spcBef>
            </a:pPr>
            <a:r>
              <a:rPr lang="en-US" sz="2400" b="1" dirty="0"/>
              <a:t>One alternative</a:t>
            </a:r>
            <a:r>
              <a:rPr lang="en-US" sz="2400" dirty="0"/>
              <a:t> is to establish </a:t>
            </a:r>
            <a:r>
              <a:rPr lang="en-US" sz="2400" dirty="0">
                <a:solidFill>
                  <a:srgbClr val="FF0000"/>
                </a:solidFill>
              </a:rPr>
              <a:t>Point to Point connection between each pair of devices </a:t>
            </a:r>
            <a:r>
              <a:rPr lang="en-US" sz="2400" dirty="0"/>
              <a:t>using mesh topology (which is highly complex)</a:t>
            </a:r>
          </a:p>
          <a:p>
            <a:pPr algn="just">
              <a:spcBef>
                <a:spcPts val="0"/>
              </a:spcBef>
            </a:pPr>
            <a:r>
              <a:rPr lang="en-US" sz="2400" b="1" dirty="0"/>
              <a:t>The other alternative </a:t>
            </a:r>
            <a:r>
              <a:rPr lang="en-US" sz="2400" dirty="0"/>
              <a:t>is to use </a:t>
            </a:r>
            <a:r>
              <a:rPr lang="en-US" sz="2400" dirty="0">
                <a:solidFill>
                  <a:srgbClr val="FF0000"/>
                </a:solidFill>
              </a:rPr>
              <a:t>switching techniques</a:t>
            </a:r>
            <a:r>
              <a:rPr lang="en-US" sz="2400" dirty="0"/>
              <a:t> leading to switched connection network.</a:t>
            </a:r>
            <a:endParaRPr lang="en-US" dirty="0"/>
          </a:p>
        </p:txBody>
      </p:sp>
      <p:sp>
        <p:nvSpPr>
          <p:cNvPr id="4" name="Rectangle 2"/>
          <p:cNvSpPr txBox="1">
            <a:spLocks noChangeArrowheads="1"/>
          </p:cNvSpPr>
          <p:nvPr/>
        </p:nvSpPr>
        <p:spPr>
          <a:xfrm>
            <a:off x="457200" y="609600"/>
            <a:ext cx="8229600" cy="6858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3200" b="1" i="0" u="sng" strike="noStrike" kern="1200" cap="none" spc="0" normalizeH="0" baseline="0" noProof="0" dirty="0">
                <a:ln>
                  <a:noFill/>
                </a:ln>
                <a:solidFill>
                  <a:srgbClr val="FF0000"/>
                </a:solidFill>
                <a:effectLst/>
                <a:uLnTx/>
                <a:uFillTx/>
                <a:latin typeface="+mn-lt"/>
                <a:ea typeface="+mn-ea"/>
                <a:cs typeface="+mn-cs"/>
              </a:rPr>
              <a:t>Switching Technique – Beyond</a:t>
            </a:r>
            <a:r>
              <a:rPr kumimoji="0" lang="en-US" sz="3200" b="1" i="0" u="sng" strike="noStrike" kern="1200" cap="none" spc="0" normalizeH="0" noProof="0" dirty="0">
                <a:ln>
                  <a:noFill/>
                </a:ln>
                <a:solidFill>
                  <a:srgbClr val="FF0000"/>
                </a:solidFill>
                <a:effectLst/>
                <a:uLnTx/>
                <a:uFillTx/>
                <a:latin typeface="+mn-lt"/>
                <a:ea typeface="+mn-ea"/>
                <a:cs typeface="+mn-cs"/>
              </a:rPr>
              <a:t> Simple Topology</a:t>
            </a:r>
            <a:endParaRPr kumimoji="0" lang="en-US" sz="3200" b="1" i="0" u="sng" strike="noStrike" kern="1200" cap="none" spc="0" normalizeH="0" baseline="0" noProof="0" dirty="0">
              <a:ln>
                <a:noFill/>
              </a:ln>
              <a:solidFill>
                <a:srgbClr val="FF0000"/>
              </a:solidFill>
              <a:effectLst/>
              <a:uLnTx/>
              <a:uFillTx/>
              <a:latin typeface="+mn-lt"/>
              <a:ea typeface="+mn-ea"/>
              <a:cs typeface="+mn-cs"/>
            </a:endParaRPr>
          </a:p>
        </p:txBody>
      </p:sp>
      <p:pic>
        <p:nvPicPr>
          <p:cNvPr id="5" name="Picture 6"/>
          <p:cNvPicPr>
            <a:picLocks noChangeAspect="1" noChangeArrowheads="1"/>
          </p:cNvPicPr>
          <p:nvPr/>
        </p:nvPicPr>
        <p:blipFill>
          <a:blip r:embed="rId2"/>
          <a:srcRect/>
          <a:stretch>
            <a:fillRect/>
          </a:stretch>
        </p:blipFill>
        <p:spPr bwMode="auto">
          <a:xfrm>
            <a:off x="3962400" y="4267200"/>
            <a:ext cx="5029200" cy="2070100"/>
          </a:xfrm>
          <a:prstGeom prst="rect">
            <a:avLst/>
          </a:prstGeom>
          <a:noFill/>
          <a:ln w="9525">
            <a:noFill/>
            <a:miter lim="800000"/>
            <a:headEnd/>
            <a:tailEnd/>
          </a:ln>
          <a:effectLst/>
        </p:spPr>
      </p:pic>
      <p:sp>
        <p:nvSpPr>
          <p:cNvPr id="6" name="Rectangle 5"/>
          <p:cNvSpPr/>
          <p:nvPr/>
        </p:nvSpPr>
        <p:spPr>
          <a:xfrm>
            <a:off x="7086600" y="6412468"/>
            <a:ext cx="1763624" cy="338554"/>
          </a:xfrm>
          <a:prstGeom prst="rect">
            <a:avLst/>
          </a:prstGeom>
        </p:spPr>
        <p:txBody>
          <a:bodyPr wrap="none">
            <a:spAutoFit/>
          </a:bodyPr>
          <a:lstStyle/>
          <a:p>
            <a:r>
              <a:rPr lang="en-US" sz="1600" b="1" dirty="0">
                <a:latin typeface="Times New Roman" pitchFamily="18" charset="0"/>
              </a:rPr>
              <a:t>Switched network</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ChangeArrowheads="1"/>
          </p:cNvSpPr>
          <p:nvPr/>
        </p:nvSpPr>
        <p:spPr bwMode="auto">
          <a:xfrm>
            <a:off x="609600" y="1371600"/>
            <a:ext cx="8001000" cy="4893647"/>
          </a:xfrm>
          <a:prstGeom prst="rect">
            <a:avLst/>
          </a:prstGeom>
          <a:noFill/>
          <a:ln w="9525">
            <a:noFill/>
            <a:miter lim="800000"/>
            <a:headEnd/>
            <a:tailEnd/>
          </a:ln>
          <a:effectLst/>
        </p:spPr>
        <p:txBody>
          <a:bodyPr wrap="square">
            <a:spAutoFit/>
          </a:bodyPr>
          <a:lstStyle/>
          <a:p>
            <a:pPr marL="457200" indent="-457200" algn="just"/>
            <a:r>
              <a:rPr lang="en-US" sz="2400" b="1" u="sng" dirty="0">
                <a:latin typeface="Calibri" pitchFamily="34" charset="0"/>
                <a:cs typeface="Calibri" pitchFamily="34" charset="0"/>
              </a:rPr>
              <a:t>Important Points:</a:t>
            </a:r>
          </a:p>
          <a:p>
            <a:pPr marL="457200" indent="-457200" algn="just"/>
            <a:endParaRPr lang="en-US" sz="2400" b="1" u="sng" dirty="0">
              <a:latin typeface="Calibri" pitchFamily="34" charset="0"/>
              <a:cs typeface="Calibri" pitchFamily="34" charset="0"/>
            </a:endParaRPr>
          </a:p>
          <a:p>
            <a:pPr marL="457200" indent="-457200" algn="just">
              <a:buFont typeface="+mj-lt"/>
              <a:buAutoNum type="arabicPeriod"/>
            </a:pPr>
            <a:r>
              <a:rPr lang="en-US" sz="2400" b="0" dirty="0">
                <a:latin typeface="Calibri" pitchFamily="34" charset="0"/>
                <a:cs typeface="Calibri" pitchFamily="34" charset="0"/>
              </a:rPr>
              <a:t>The end devices that wish to communicate are called </a:t>
            </a:r>
            <a:r>
              <a:rPr lang="en-US" sz="2400" b="1" dirty="0">
                <a:latin typeface="Calibri" pitchFamily="34" charset="0"/>
                <a:cs typeface="Calibri" pitchFamily="34" charset="0"/>
              </a:rPr>
              <a:t>stations</a:t>
            </a:r>
            <a:r>
              <a:rPr lang="en-US" sz="2400" b="0" dirty="0">
                <a:latin typeface="Calibri" pitchFamily="34" charset="0"/>
                <a:cs typeface="Calibri" pitchFamily="34" charset="0"/>
              </a:rPr>
              <a:t>.</a:t>
            </a:r>
          </a:p>
          <a:p>
            <a:pPr marL="457200" indent="-457200" algn="just">
              <a:buFont typeface="+mj-lt"/>
              <a:buAutoNum type="arabicPeriod"/>
            </a:pPr>
            <a:r>
              <a:rPr lang="en-US" sz="2400" b="0" dirty="0">
                <a:latin typeface="Calibri" pitchFamily="34" charset="0"/>
                <a:cs typeface="Calibri" pitchFamily="34" charset="0"/>
              </a:rPr>
              <a:t>The switching devices are called as </a:t>
            </a:r>
            <a:r>
              <a:rPr lang="en-US" sz="2400" b="1" dirty="0">
                <a:latin typeface="Calibri" pitchFamily="34" charset="0"/>
                <a:cs typeface="Calibri" pitchFamily="34" charset="0"/>
              </a:rPr>
              <a:t>nodes</a:t>
            </a:r>
            <a:r>
              <a:rPr lang="en-US" sz="2400" b="0" dirty="0">
                <a:latin typeface="Calibri" pitchFamily="34" charset="0"/>
                <a:cs typeface="Calibri" pitchFamily="34" charset="0"/>
              </a:rPr>
              <a:t>.</a:t>
            </a:r>
          </a:p>
          <a:p>
            <a:pPr marL="457200" indent="-457200" algn="just">
              <a:buFont typeface="+mj-lt"/>
              <a:buAutoNum type="arabicPeriod"/>
            </a:pPr>
            <a:r>
              <a:rPr lang="en-US" sz="2400" b="0" dirty="0">
                <a:latin typeface="Calibri" pitchFamily="34" charset="0"/>
                <a:cs typeface="Calibri" pitchFamily="34" charset="0"/>
              </a:rPr>
              <a:t>Some node connects to other nodes and other nodes are attached to stations.</a:t>
            </a:r>
          </a:p>
          <a:p>
            <a:pPr marL="457200" indent="-457200" algn="just">
              <a:buFont typeface="+mj-lt"/>
              <a:buAutoNum type="arabicPeriod"/>
            </a:pPr>
            <a:r>
              <a:rPr lang="en-US" sz="2400" b="0" dirty="0">
                <a:latin typeface="Calibri" pitchFamily="34" charset="0"/>
                <a:cs typeface="Calibri" pitchFamily="34" charset="0"/>
              </a:rPr>
              <a:t>Network topology is </a:t>
            </a:r>
            <a:r>
              <a:rPr lang="en-US" sz="2400" b="1" dirty="0">
                <a:latin typeface="Calibri" pitchFamily="34" charset="0"/>
                <a:cs typeface="Calibri" pitchFamily="34" charset="0"/>
              </a:rPr>
              <a:t>not regular</a:t>
            </a:r>
            <a:r>
              <a:rPr lang="en-US" sz="2400" b="0" dirty="0">
                <a:latin typeface="Calibri" pitchFamily="34" charset="0"/>
                <a:cs typeface="Calibri" pitchFamily="34" charset="0"/>
              </a:rPr>
              <a:t>.</a:t>
            </a:r>
          </a:p>
          <a:p>
            <a:pPr marL="457200" indent="-457200" algn="just">
              <a:buFont typeface="+mj-lt"/>
              <a:buAutoNum type="arabicPeriod"/>
            </a:pPr>
            <a:r>
              <a:rPr lang="en-US" sz="2400" b="0" dirty="0">
                <a:latin typeface="Calibri" pitchFamily="34" charset="0"/>
                <a:cs typeface="Calibri" pitchFamily="34" charset="0"/>
              </a:rPr>
              <a:t>There exist </a:t>
            </a:r>
            <a:r>
              <a:rPr lang="en-US" sz="2400" b="1" dirty="0">
                <a:latin typeface="Calibri" pitchFamily="34" charset="0"/>
                <a:cs typeface="Calibri" pitchFamily="34" charset="0"/>
              </a:rPr>
              <a:t>multiple paths</a:t>
            </a:r>
            <a:r>
              <a:rPr lang="en-US" sz="2400" b="0" dirty="0">
                <a:latin typeface="Calibri" pitchFamily="34" charset="0"/>
                <a:cs typeface="Calibri" pitchFamily="34" charset="0"/>
              </a:rPr>
              <a:t> between source to destination pair for better network reliability.</a:t>
            </a:r>
          </a:p>
          <a:p>
            <a:pPr marL="457200" indent="-457200" algn="just">
              <a:buFont typeface="+mj-lt"/>
              <a:buAutoNum type="arabicPeriod"/>
            </a:pPr>
            <a:r>
              <a:rPr lang="en-US" sz="2400" b="0" dirty="0">
                <a:latin typeface="Calibri" pitchFamily="34" charset="0"/>
                <a:cs typeface="Calibri" pitchFamily="34" charset="0"/>
              </a:rPr>
              <a:t>Switching nodes have </a:t>
            </a:r>
            <a:r>
              <a:rPr lang="en-US" sz="2400" b="1" dirty="0">
                <a:latin typeface="Calibri" pitchFamily="34" charset="0"/>
                <a:cs typeface="Calibri" pitchFamily="34" charset="0"/>
              </a:rPr>
              <a:t>no concerned with content of data </a:t>
            </a:r>
            <a:r>
              <a:rPr lang="en-US" sz="2400" b="0" dirty="0">
                <a:latin typeface="Calibri" pitchFamily="34" charset="0"/>
                <a:cs typeface="Calibri" pitchFamily="34" charset="0"/>
              </a:rPr>
              <a:t>and hence </a:t>
            </a:r>
            <a:r>
              <a:rPr lang="en-US" sz="2400" b="1" dirty="0">
                <a:latin typeface="Calibri" pitchFamily="34" charset="0"/>
                <a:cs typeface="Calibri" pitchFamily="34" charset="0"/>
              </a:rPr>
              <a:t>provides routing facility </a:t>
            </a:r>
            <a:r>
              <a:rPr lang="en-US" sz="2400" b="0" dirty="0">
                <a:latin typeface="Calibri" pitchFamily="34" charset="0"/>
                <a:cs typeface="Calibri" pitchFamily="34" charset="0"/>
              </a:rPr>
              <a:t>that will move data from node to node until they reach destination.</a:t>
            </a:r>
            <a:endParaRPr lang="en-US" sz="2400" b="0" dirty="0"/>
          </a:p>
        </p:txBody>
      </p:sp>
      <p:sp>
        <p:nvSpPr>
          <p:cNvPr id="4" name="Rectangle 2"/>
          <p:cNvSpPr txBox="1">
            <a:spLocks noChangeArrowheads="1"/>
          </p:cNvSpPr>
          <p:nvPr/>
        </p:nvSpPr>
        <p:spPr>
          <a:xfrm>
            <a:off x="457200" y="609600"/>
            <a:ext cx="8229600" cy="6858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3200" b="1" i="0" u="sng" strike="noStrike" kern="1200" cap="none" spc="0" normalizeH="0" baseline="0" noProof="0" dirty="0">
                <a:ln>
                  <a:noFill/>
                </a:ln>
                <a:solidFill>
                  <a:srgbClr val="FF0000"/>
                </a:solidFill>
                <a:effectLst/>
                <a:uLnTx/>
                <a:uFillTx/>
                <a:latin typeface="+mn-lt"/>
                <a:ea typeface="+mn-ea"/>
                <a:cs typeface="+mn-cs"/>
              </a:rPr>
              <a:t>Switching Technique – Beyond</a:t>
            </a:r>
            <a:r>
              <a:rPr kumimoji="0" lang="en-US" sz="3200" b="1" i="0" u="sng" strike="noStrike" kern="1200" cap="none" spc="0" normalizeH="0" noProof="0" dirty="0">
                <a:ln>
                  <a:noFill/>
                </a:ln>
                <a:solidFill>
                  <a:srgbClr val="FF0000"/>
                </a:solidFill>
                <a:effectLst/>
                <a:uLnTx/>
                <a:uFillTx/>
                <a:latin typeface="+mn-lt"/>
                <a:ea typeface="+mn-ea"/>
                <a:cs typeface="+mn-cs"/>
              </a:rPr>
              <a:t> Simple Topology</a:t>
            </a:r>
            <a:endParaRPr kumimoji="0" lang="en-US" sz="3200" b="1" i="0" u="sng" strike="noStrike" kern="1200" cap="none" spc="0" normalizeH="0" baseline="0" noProof="0" dirty="0">
              <a:ln>
                <a:noFill/>
              </a:ln>
              <a:solidFill>
                <a:srgbClr val="FF0000"/>
              </a:solidFill>
              <a:effectLst/>
              <a:uLnTx/>
              <a:uFillTx/>
              <a:latin typeface="+mn-lt"/>
              <a:ea typeface="+mn-ea"/>
              <a:cs typeface="+mn-cs"/>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 name="Rectangle 3"/>
          <p:cNvSpPr>
            <a:spLocks noChangeArrowheads="1"/>
          </p:cNvSpPr>
          <p:nvPr/>
        </p:nvSpPr>
        <p:spPr bwMode="auto">
          <a:xfrm>
            <a:off x="609600" y="1905000"/>
            <a:ext cx="8001000" cy="3539430"/>
          </a:xfrm>
          <a:prstGeom prst="rect">
            <a:avLst/>
          </a:prstGeom>
          <a:noFill/>
          <a:ln w="9525">
            <a:noFill/>
            <a:miter lim="800000"/>
            <a:headEnd/>
            <a:tailEnd/>
          </a:ln>
          <a:effectLst/>
        </p:spPr>
        <p:txBody>
          <a:bodyPr>
            <a:spAutoFit/>
          </a:bodyPr>
          <a:lstStyle/>
          <a:p>
            <a:pPr algn="just"/>
            <a:r>
              <a:rPr lang="en-US" sz="3200" b="0" dirty="0"/>
              <a:t>There are three typical switching techniques available for digital traffic. </a:t>
            </a:r>
          </a:p>
          <a:p>
            <a:pPr algn="just"/>
            <a:endParaRPr lang="en-US" sz="3200" b="0" dirty="0"/>
          </a:p>
          <a:p>
            <a:pPr lvl="1" algn="just" eaLnBrk="0" hangingPunct="0">
              <a:buFontTx/>
              <a:buChar char="•"/>
            </a:pPr>
            <a:r>
              <a:rPr lang="en-US" sz="3200" b="0" dirty="0"/>
              <a:t> </a:t>
            </a:r>
            <a:r>
              <a:rPr lang="en-US" sz="3200" b="1" dirty="0"/>
              <a:t>   Circuit Switching (on physical layer)</a:t>
            </a:r>
          </a:p>
          <a:p>
            <a:pPr lvl="1" algn="just" eaLnBrk="0" hangingPunct="0">
              <a:buFontTx/>
              <a:buChar char="•"/>
            </a:pPr>
            <a:r>
              <a:rPr lang="en-US" sz="3200" b="1" dirty="0"/>
              <a:t>    Message Switching (on network layer)</a:t>
            </a:r>
          </a:p>
          <a:p>
            <a:pPr lvl="1" algn="just" eaLnBrk="0" hangingPunct="0">
              <a:buFontTx/>
              <a:buChar char="•"/>
            </a:pPr>
            <a:r>
              <a:rPr lang="en-US" sz="3200" b="1" dirty="0"/>
              <a:t>    Packet Switching </a:t>
            </a:r>
          </a:p>
          <a:p>
            <a:pPr algn="just" eaLnBrk="0" hangingPunct="0"/>
            <a:endParaRPr lang="en-US" sz="3200" b="0" dirty="0"/>
          </a:p>
        </p:txBody>
      </p:sp>
      <p:sp>
        <p:nvSpPr>
          <p:cNvPr id="6" name="Rectangle 2"/>
          <p:cNvSpPr txBox="1">
            <a:spLocks noChangeArrowheads="1"/>
          </p:cNvSpPr>
          <p:nvPr/>
        </p:nvSpPr>
        <p:spPr>
          <a:xfrm>
            <a:off x="457200" y="609600"/>
            <a:ext cx="8229600" cy="685800"/>
          </a:xfrm>
          <a:prstGeom prst="rect">
            <a:avLst/>
          </a:prstGeom>
        </p:spPr>
        <p:txBody>
          <a:bodyPr vert="horz" lIns="91440" tIns="45720" rIns="91440" bIns="45720" rtlCol="0">
            <a:noAutofit/>
          </a:bodyPr>
          <a:lstStyle/>
          <a:p>
            <a:pPr marL="342900" marR="0" lvl="0" indent="-342900" algn="l" defTabSz="914400" rtl="0" eaLnBrk="1" fontAlgn="auto" latinLnBrk="0" hangingPunct="1">
              <a:lnSpc>
                <a:spcPct val="100000"/>
              </a:lnSpc>
              <a:spcBef>
                <a:spcPct val="20000"/>
              </a:spcBef>
              <a:spcAft>
                <a:spcPts val="0"/>
              </a:spcAft>
              <a:buClrTx/>
              <a:buSzTx/>
              <a:tabLst/>
              <a:defRPr/>
            </a:pPr>
            <a:r>
              <a:rPr kumimoji="0" lang="en-US" sz="3200" b="1" i="0" u="sng" strike="noStrike" kern="1200" cap="none" spc="0" normalizeH="0" baseline="0" noProof="0" dirty="0">
                <a:ln>
                  <a:noFill/>
                </a:ln>
                <a:solidFill>
                  <a:srgbClr val="FF0000"/>
                </a:solidFill>
                <a:effectLst/>
                <a:uLnTx/>
                <a:uFillTx/>
                <a:latin typeface="+mn-lt"/>
                <a:ea typeface="+mn-ea"/>
                <a:cs typeface="+mn-cs"/>
              </a:rPr>
              <a:t>Switching Technique – Beyond</a:t>
            </a:r>
            <a:r>
              <a:rPr kumimoji="0" lang="en-US" sz="3200" b="1" i="0" u="sng" strike="noStrike" kern="1200" cap="none" spc="0" normalizeH="0" noProof="0" dirty="0">
                <a:ln>
                  <a:noFill/>
                </a:ln>
                <a:solidFill>
                  <a:srgbClr val="FF0000"/>
                </a:solidFill>
                <a:effectLst/>
                <a:uLnTx/>
                <a:uFillTx/>
                <a:latin typeface="+mn-lt"/>
                <a:ea typeface="+mn-ea"/>
                <a:cs typeface="+mn-cs"/>
              </a:rPr>
              <a:t> Simple Topology</a:t>
            </a:r>
            <a:endParaRPr kumimoji="0" lang="en-US" sz="3200" b="1" i="0" u="sng" strike="noStrike" kern="1200" cap="none" spc="0" normalizeH="0" baseline="0" noProof="0" dirty="0">
              <a:ln>
                <a:noFill/>
              </a:ln>
              <a:solidFill>
                <a:srgbClr val="FF0000"/>
              </a:solidFill>
              <a:effectLst/>
              <a:uLnTx/>
              <a:uFillTx/>
              <a:latin typeface="+mn-lt"/>
              <a:ea typeface="+mn-ea"/>
              <a:cs typeface="+mn-cs"/>
            </a:endParaRPr>
          </a:p>
        </p:txBody>
      </p:sp>
      <p:sp>
        <p:nvSpPr>
          <p:cNvPr id="2" name="TextBox 1">
            <a:extLst>
              <a:ext uri="{FF2B5EF4-FFF2-40B4-BE49-F238E27FC236}">
                <a16:creationId xmlns:a16="http://schemas.microsoft.com/office/drawing/2014/main" id="{811AD1EF-D1AD-5AB0-DA94-EB6B4B118338}"/>
              </a:ext>
            </a:extLst>
          </p:cNvPr>
          <p:cNvSpPr txBox="1"/>
          <p:nvPr/>
        </p:nvSpPr>
        <p:spPr>
          <a:xfrm>
            <a:off x="3505200" y="5029200"/>
            <a:ext cx="3733800" cy="1569660"/>
          </a:xfrm>
          <a:prstGeom prst="rect">
            <a:avLst/>
          </a:prstGeom>
          <a:noFill/>
        </p:spPr>
        <p:txBody>
          <a:bodyPr wrap="square" rtlCol="0">
            <a:spAutoFit/>
          </a:bodyPr>
          <a:lstStyle/>
          <a:p>
            <a:r>
              <a:rPr lang="en-US" sz="3200" b="1" dirty="0">
                <a:highlight>
                  <a:srgbClr val="00FFFF"/>
                </a:highlight>
              </a:rPr>
              <a:t>Message Switching is not in syllabus in midterm 2022</a:t>
            </a:r>
            <a:endParaRPr lang="en-IN" sz="3200" b="1" dirty="0">
              <a:highlight>
                <a:srgbClr val="00FFFF"/>
              </a:highlight>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1186"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61187"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61188" name="Text Box 4"/>
          <p:cNvSpPr txBox="1">
            <a:spLocks noChangeArrowheads="1"/>
          </p:cNvSpPr>
          <p:nvPr/>
        </p:nvSpPr>
        <p:spPr bwMode="auto">
          <a:xfrm>
            <a:off x="304800" y="381000"/>
            <a:ext cx="4407553" cy="461665"/>
          </a:xfrm>
          <a:prstGeom prst="rect">
            <a:avLst/>
          </a:prstGeom>
          <a:noFill/>
          <a:ln w="9525">
            <a:noFill/>
            <a:miter lim="800000"/>
            <a:headEnd/>
            <a:tailEnd/>
          </a:ln>
          <a:effectLst/>
        </p:spPr>
        <p:txBody>
          <a:bodyPr wrap="none">
            <a:spAutoFit/>
          </a:bodyPr>
          <a:lstStyle/>
          <a:p>
            <a:r>
              <a:rPr lang="en-US" sz="2400" b="1" dirty="0">
                <a:latin typeface="Times New Roman" pitchFamily="18" charset="0"/>
              </a:rPr>
              <a:t>Taxonomy of switched networks</a:t>
            </a:r>
          </a:p>
        </p:txBody>
      </p:sp>
      <p:sp>
        <p:nvSpPr>
          <p:cNvPr id="861189" name="Line 5"/>
          <p:cNvSpPr>
            <a:spLocks noChangeShapeType="1"/>
          </p:cNvSpPr>
          <p:nvPr/>
        </p:nvSpPr>
        <p:spPr bwMode="auto">
          <a:xfrm>
            <a:off x="152400" y="6324600"/>
            <a:ext cx="8763000" cy="0"/>
          </a:xfrm>
          <a:prstGeom prst="line">
            <a:avLst/>
          </a:prstGeom>
          <a:noFill/>
          <a:ln w="76200">
            <a:solidFill>
              <a:schemeClr val="hlink"/>
            </a:solidFill>
            <a:round/>
            <a:headEnd/>
            <a:tailEnd/>
          </a:ln>
          <a:effectLst/>
        </p:spPr>
        <p:txBody>
          <a:bodyPr/>
          <a:lstStyle/>
          <a:p>
            <a:endParaRPr lang="en-US"/>
          </a:p>
        </p:txBody>
      </p:sp>
      <p:pic>
        <p:nvPicPr>
          <p:cNvPr id="861190" name="Picture 6"/>
          <p:cNvPicPr>
            <a:picLocks noChangeAspect="1" noChangeArrowheads="1"/>
          </p:cNvPicPr>
          <p:nvPr/>
        </p:nvPicPr>
        <p:blipFill>
          <a:blip r:embed="rId3"/>
          <a:srcRect/>
          <a:stretch>
            <a:fillRect/>
          </a:stretch>
        </p:blipFill>
        <p:spPr bwMode="auto">
          <a:xfrm>
            <a:off x="434975" y="1765300"/>
            <a:ext cx="8328025" cy="3416300"/>
          </a:xfrm>
          <a:prstGeom prst="rect">
            <a:avLst/>
          </a:prstGeom>
          <a:noFill/>
          <a:ln w="9525">
            <a:noFill/>
            <a:miter lim="800000"/>
            <a:headEnd/>
            <a:tailEnd/>
          </a:ln>
          <a:effectLst/>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565250"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a:effectLst>
                <a:outerShdw blurRad="38100" dist="38100" dir="2700000" algn="tl">
                  <a:srgbClr val="FFFFFF"/>
                </a:outerShdw>
              </a:effectLst>
              <a:latin typeface="Times New Roman" pitchFamily="18" charset="0"/>
            </a:endParaRPr>
          </a:p>
        </p:txBody>
      </p:sp>
      <p:sp>
        <p:nvSpPr>
          <p:cNvPr id="565251" name="Text Box 3"/>
          <p:cNvSpPr txBox="1">
            <a:spLocks noChangeArrowheads="1"/>
          </p:cNvSpPr>
          <p:nvPr/>
        </p:nvSpPr>
        <p:spPr bwMode="auto">
          <a:xfrm>
            <a:off x="228600" y="406400"/>
            <a:ext cx="5523628" cy="584775"/>
          </a:xfrm>
          <a:prstGeom prst="rect">
            <a:avLst/>
          </a:prstGeom>
          <a:noFill/>
          <a:ln w="9525">
            <a:noFill/>
            <a:miter lim="800000"/>
            <a:headEnd/>
            <a:tailEnd/>
          </a:ln>
          <a:effectLst/>
        </p:spPr>
        <p:txBody>
          <a:bodyPr wrap="none">
            <a:spAutoFit/>
          </a:bodyPr>
          <a:lstStyle/>
          <a:p>
            <a:r>
              <a:rPr lang="en-US" sz="3200" b="1" u="sng" dirty="0">
                <a:solidFill>
                  <a:srgbClr val="FF0000"/>
                </a:solidFill>
              </a:rPr>
              <a:t>CIRCUIT-SWITCHED NETWORKS</a:t>
            </a:r>
          </a:p>
        </p:txBody>
      </p:sp>
      <p:sp>
        <p:nvSpPr>
          <p:cNvPr id="565252"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a:latin typeface="Times New Roman" pitchFamily="18" charset="0"/>
            </a:endParaRPr>
          </a:p>
        </p:txBody>
      </p:sp>
      <p:sp>
        <p:nvSpPr>
          <p:cNvPr id="565253" name="Rectangle 5"/>
          <p:cNvSpPr>
            <a:spLocks noChangeArrowheads="1"/>
          </p:cNvSpPr>
          <p:nvPr/>
        </p:nvSpPr>
        <p:spPr bwMode="auto">
          <a:xfrm>
            <a:off x="304800" y="1536700"/>
            <a:ext cx="8229600" cy="2677656"/>
          </a:xfrm>
          <a:prstGeom prst="rect">
            <a:avLst/>
          </a:prstGeom>
          <a:noFill/>
          <a:ln w="9525">
            <a:noFill/>
            <a:miter lim="800000"/>
            <a:headEnd/>
            <a:tailEnd/>
          </a:ln>
          <a:effectLst/>
        </p:spPr>
        <p:txBody>
          <a:bodyPr anchor="ctr">
            <a:spAutoFit/>
          </a:bodyPr>
          <a:lstStyle/>
          <a:p>
            <a:pPr algn="just" eaLnBrk="1" hangingPunct="1"/>
            <a:r>
              <a:rPr lang="en-US" sz="2800" dirty="0">
                <a:latin typeface="+mj-lt"/>
                <a:ea typeface="Segoe UI Emoji" pitchFamily="34" charset="0"/>
              </a:rPr>
              <a:t>A circuit-switched network consists of a set of switches connected by physical links. A connection between two stations is a dedicated path made of one or more links. However, each connection uses only one dedicated channel on each link. Each link is normally divided into n channels by using FDM or TDM.</a:t>
            </a:r>
          </a:p>
        </p:txBody>
      </p:sp>
      <p:sp>
        <p:nvSpPr>
          <p:cNvPr id="9" name="Rectangle 3"/>
          <p:cNvSpPr txBox="1">
            <a:spLocks noChangeArrowheads="1"/>
          </p:cNvSpPr>
          <p:nvPr/>
        </p:nvSpPr>
        <p:spPr>
          <a:xfrm>
            <a:off x="1371600" y="4495800"/>
            <a:ext cx="7469188" cy="1905000"/>
          </a:xfrm>
          <a:prstGeom prst="rect">
            <a:avLst/>
          </a:prstGeom>
        </p:spPr>
        <p:txBody>
          <a:bodyPr/>
          <a:lstStyle/>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400" b="1" i="0" u="none" strike="noStrike" kern="1200" cap="none" spc="0" normalizeH="0" baseline="0" noProof="0" dirty="0">
                <a:ln>
                  <a:noFill/>
                </a:ln>
                <a:solidFill>
                  <a:srgbClr val="002060"/>
                </a:solidFill>
                <a:effectLst/>
                <a:uLnTx/>
                <a:uFillTx/>
                <a:latin typeface="+mj-lt"/>
                <a:ea typeface="+mn-ea"/>
                <a:cs typeface="Times New Roman" charset="0"/>
              </a:rPr>
              <a:t>Circuit switching was de</a:t>
            </a:r>
            <a:r>
              <a:rPr kumimoji="0" lang="en-GB" sz="2400" b="1" i="0" u="none" strike="noStrike" kern="1200" cap="none" spc="0" normalizeH="0" baseline="0" noProof="0" dirty="0">
                <a:ln>
                  <a:noFill/>
                </a:ln>
                <a:solidFill>
                  <a:srgbClr val="002060"/>
                </a:solidFill>
                <a:effectLst/>
                <a:uLnTx/>
                <a:uFillTx/>
                <a:latin typeface="+mj-lt"/>
                <a:ea typeface="+mn-ea"/>
                <a:cs typeface="+mn-cs"/>
              </a:rPr>
              <a:t>signed in 1878 in order to send</a:t>
            </a:r>
            <a:r>
              <a:rPr kumimoji="0" lang="en-GB" sz="2400" b="1" i="0" u="none" strike="noStrike" kern="1200" cap="none" spc="0" normalizeH="0" noProof="0" dirty="0">
                <a:ln>
                  <a:noFill/>
                </a:ln>
                <a:solidFill>
                  <a:srgbClr val="002060"/>
                </a:solidFill>
                <a:effectLst/>
                <a:uLnTx/>
                <a:uFillTx/>
                <a:latin typeface="+mj-lt"/>
                <a:ea typeface="+mn-ea"/>
                <a:cs typeface="+mn-cs"/>
              </a:rPr>
              <a:t> </a:t>
            </a:r>
            <a:r>
              <a:rPr kumimoji="0" lang="en-GB" sz="2400" b="1" i="0" u="none" strike="noStrike" kern="1200" cap="none" spc="0" normalizeH="0" baseline="0" noProof="0" dirty="0">
                <a:ln>
                  <a:noFill/>
                </a:ln>
                <a:solidFill>
                  <a:srgbClr val="002060"/>
                </a:solidFill>
                <a:effectLst/>
                <a:uLnTx/>
                <a:uFillTx/>
                <a:latin typeface="+mj-lt"/>
                <a:ea typeface="+mn-ea"/>
                <a:cs typeface="+mn-cs"/>
              </a:rPr>
              <a:t>telephone calls down a dedicated channel.  </a:t>
            </a:r>
          </a:p>
          <a:p>
            <a:pPr marL="342900" marR="0" lvl="0" indent="-342900" algn="just" defTabSz="914400" rtl="0" eaLnBrk="1" fontAlgn="auto" latinLnBrk="0" hangingPunct="1">
              <a:lnSpc>
                <a:spcPct val="100000"/>
              </a:lnSpc>
              <a:spcBef>
                <a:spcPct val="20000"/>
              </a:spcBef>
              <a:spcAft>
                <a:spcPts val="0"/>
              </a:spcAft>
              <a:buClrTx/>
              <a:buSzTx/>
              <a:buFont typeface="Arial" pitchFamily="34" charset="0"/>
              <a:buChar char="•"/>
              <a:tabLst/>
              <a:defRPr/>
            </a:pPr>
            <a:r>
              <a:rPr kumimoji="0" lang="en-GB" sz="2400" b="1" i="0" u="none" strike="noStrike" kern="1200" cap="none" spc="0" normalizeH="0" baseline="0" noProof="0" dirty="0">
                <a:ln>
                  <a:noFill/>
                </a:ln>
                <a:solidFill>
                  <a:srgbClr val="002060"/>
                </a:solidFill>
                <a:effectLst/>
                <a:uLnTx/>
                <a:uFillTx/>
                <a:latin typeface="+mj-lt"/>
                <a:ea typeface="+mn-ea"/>
                <a:cs typeface="+mn-cs"/>
              </a:rPr>
              <a:t>This channel remains open and in use throughout the whole call and cannot be used by any other data or phone calls.</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62000" y="381000"/>
            <a:ext cx="7772400" cy="685800"/>
          </a:xfrm>
        </p:spPr>
        <p:txBody>
          <a:bodyPr>
            <a:normAutofit fontScale="90000"/>
          </a:bodyPr>
          <a:lstStyle/>
          <a:p>
            <a:pPr algn="l"/>
            <a:r>
              <a:rPr lang="en-US" b="1" u="sng" dirty="0">
                <a:solidFill>
                  <a:srgbClr val="FF0000"/>
                </a:solidFill>
              </a:rPr>
              <a:t>Circuit Switching</a:t>
            </a:r>
          </a:p>
        </p:txBody>
      </p:sp>
      <p:sp>
        <p:nvSpPr>
          <p:cNvPr id="18435" name="Rectangle 3"/>
          <p:cNvSpPr>
            <a:spLocks noGrp="1" noChangeArrowheads="1"/>
          </p:cNvSpPr>
          <p:nvPr>
            <p:ph type="body" idx="1"/>
          </p:nvPr>
        </p:nvSpPr>
        <p:spPr>
          <a:xfrm>
            <a:off x="685800" y="1447800"/>
            <a:ext cx="7772400" cy="5181600"/>
          </a:xfrm>
        </p:spPr>
        <p:txBody>
          <a:bodyPr>
            <a:noAutofit/>
          </a:bodyPr>
          <a:lstStyle/>
          <a:p>
            <a:pPr algn="just"/>
            <a:r>
              <a:rPr lang="en-US" sz="2500" b="1" dirty="0"/>
              <a:t>Circuit switching</a:t>
            </a:r>
            <a:r>
              <a:rPr lang="en-US" sz="2500" dirty="0"/>
              <a:t> is a technique that directly connects the sender and the receiver in an unbroken path.</a:t>
            </a:r>
          </a:p>
          <a:p>
            <a:pPr algn="just"/>
            <a:r>
              <a:rPr lang="en-US" sz="2500" dirty="0"/>
              <a:t>Telephone switching equipment, for example, establishes a path that connects the caller's telephone to the receiver's telephone by making a physical connection.</a:t>
            </a:r>
          </a:p>
          <a:p>
            <a:pPr algn="just"/>
            <a:r>
              <a:rPr lang="en-US" sz="2500" dirty="0"/>
              <a:t>With this type of switching technique, </a:t>
            </a:r>
            <a:r>
              <a:rPr lang="en-US" sz="2500" b="1" u="sng" dirty="0"/>
              <a:t>once a connection is established, a dedicated path exists between both ends until the connection is terminated</a:t>
            </a:r>
            <a:r>
              <a:rPr lang="en-US" sz="2500" dirty="0"/>
              <a:t>.</a:t>
            </a:r>
          </a:p>
          <a:p>
            <a:pPr algn="just"/>
            <a:r>
              <a:rPr lang="en-US" sz="2500" b="1" dirty="0"/>
              <a:t>Routing decisions must be made when the circuit is first established</a:t>
            </a:r>
            <a:r>
              <a:rPr lang="en-US" sz="2500" dirty="0"/>
              <a:t>, but there are no decisions made after that time. </a:t>
            </a:r>
          </a:p>
          <a:p>
            <a:pPr algn="just"/>
            <a:endParaRPr lang="en-US" sz="2500" dirty="0"/>
          </a:p>
          <a:p>
            <a:pPr algn="just"/>
            <a:endParaRPr lang="en-US" sz="25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62000" y="381000"/>
            <a:ext cx="7772400" cy="685800"/>
          </a:xfrm>
        </p:spPr>
        <p:txBody>
          <a:bodyPr>
            <a:normAutofit fontScale="90000"/>
          </a:bodyPr>
          <a:lstStyle/>
          <a:p>
            <a:pPr algn="l"/>
            <a:r>
              <a:rPr lang="en-US" b="1" u="sng" dirty="0">
                <a:solidFill>
                  <a:srgbClr val="FF0000"/>
                </a:solidFill>
              </a:rPr>
              <a:t>Circuit Switching</a:t>
            </a:r>
          </a:p>
        </p:txBody>
      </p:sp>
      <p:sp>
        <p:nvSpPr>
          <p:cNvPr id="18435" name="Rectangle 3"/>
          <p:cNvSpPr>
            <a:spLocks noGrp="1" noChangeArrowheads="1"/>
          </p:cNvSpPr>
          <p:nvPr>
            <p:ph type="body" idx="1"/>
          </p:nvPr>
        </p:nvSpPr>
        <p:spPr>
          <a:xfrm>
            <a:off x="685800" y="1447800"/>
            <a:ext cx="7772400" cy="4343400"/>
          </a:xfrm>
        </p:spPr>
        <p:txBody>
          <a:bodyPr>
            <a:noAutofit/>
          </a:bodyPr>
          <a:lstStyle/>
          <a:p>
            <a:pPr algn="just"/>
            <a:r>
              <a:rPr lang="en-US" sz="2500" b="1" dirty="0"/>
              <a:t>Circuit switching</a:t>
            </a:r>
            <a:r>
              <a:rPr lang="en-US" sz="2500" i="1" dirty="0"/>
              <a:t> </a:t>
            </a:r>
            <a:r>
              <a:rPr lang="en-US" sz="2500" dirty="0"/>
              <a:t>in a network operates almost the same way as  the telephone system works.</a:t>
            </a:r>
          </a:p>
          <a:p>
            <a:pPr algn="just"/>
            <a:r>
              <a:rPr lang="en-US" sz="2500" b="1" u="sng" dirty="0"/>
              <a:t>A complete end-to-end path must exist before communication can take place</a:t>
            </a:r>
            <a:r>
              <a:rPr lang="en-US" sz="2500" dirty="0"/>
              <a:t>.</a:t>
            </a:r>
          </a:p>
          <a:p>
            <a:pPr algn="just"/>
            <a:r>
              <a:rPr lang="en-US" sz="2500" dirty="0"/>
              <a:t>The computer initiating the data transfer must ask for a connection to the destination.</a:t>
            </a:r>
          </a:p>
          <a:p>
            <a:pPr algn="just"/>
            <a:r>
              <a:rPr lang="en-US" sz="2500" dirty="0"/>
              <a:t>Once the connection has been initiated and completed to the destination device, the destination device must acknowledge that it is ready and willing to carry on a transfer.</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62000" y="381000"/>
            <a:ext cx="7772400" cy="685800"/>
          </a:xfrm>
        </p:spPr>
        <p:txBody>
          <a:bodyPr>
            <a:normAutofit fontScale="90000"/>
          </a:bodyPr>
          <a:lstStyle/>
          <a:p>
            <a:pPr algn="l"/>
            <a:r>
              <a:rPr lang="en-US" b="1" u="sng" dirty="0">
                <a:solidFill>
                  <a:srgbClr val="FF0000"/>
                </a:solidFill>
              </a:rPr>
              <a:t>Circuit Switching</a:t>
            </a:r>
          </a:p>
        </p:txBody>
      </p:sp>
      <p:sp>
        <p:nvSpPr>
          <p:cNvPr id="18435" name="Rectangle 3"/>
          <p:cNvSpPr>
            <a:spLocks noGrp="1" noChangeArrowheads="1"/>
          </p:cNvSpPr>
          <p:nvPr>
            <p:ph type="body" idx="1"/>
          </p:nvPr>
        </p:nvSpPr>
        <p:spPr>
          <a:xfrm>
            <a:off x="685800" y="1447800"/>
            <a:ext cx="7772400" cy="4724400"/>
          </a:xfrm>
        </p:spPr>
        <p:txBody>
          <a:bodyPr>
            <a:noAutofit/>
          </a:bodyPr>
          <a:lstStyle/>
          <a:p>
            <a:pPr algn="just"/>
            <a:r>
              <a:rPr lang="en-GB" sz="2300" dirty="0"/>
              <a:t>There are three phases in circuit switching:</a:t>
            </a:r>
          </a:p>
          <a:p>
            <a:pPr lvl="1" algn="just"/>
            <a:r>
              <a:rPr lang="en-GB" sz="2300" b="1" dirty="0"/>
              <a:t>Establish ( Connection Establishment)</a:t>
            </a:r>
          </a:p>
          <a:p>
            <a:pPr lvl="1" algn="just"/>
            <a:r>
              <a:rPr lang="en-GB" sz="2300" b="1" dirty="0"/>
              <a:t>Transfer (Data Transfer)</a:t>
            </a:r>
          </a:p>
          <a:p>
            <a:pPr lvl="1" algn="just"/>
            <a:r>
              <a:rPr lang="en-GB" sz="2300" b="1" dirty="0"/>
              <a:t>Disconnect ( Connection Release or Tear Down)</a:t>
            </a:r>
          </a:p>
          <a:p>
            <a:pPr marL="342900" lvl="1" indent="-342900" algn="just">
              <a:buFont typeface="Arial" pitchFamily="34" charset="0"/>
              <a:buChar char="•"/>
            </a:pPr>
            <a:r>
              <a:rPr lang="en-GB" sz="2300" dirty="0"/>
              <a:t>The </a:t>
            </a:r>
            <a:r>
              <a:rPr lang="en-GB" sz="2300" u="sng" dirty="0"/>
              <a:t>message arrives in the same order </a:t>
            </a:r>
            <a:r>
              <a:rPr lang="en-GB" sz="2300" dirty="0"/>
              <a:t>that it was originally sent.</a:t>
            </a:r>
          </a:p>
          <a:p>
            <a:pPr algn="just"/>
            <a:r>
              <a:rPr lang="en-GB" sz="2300" dirty="0"/>
              <a:t>In modern circuit-switched networks, electronic signals pass through several switches before a connection is established. </a:t>
            </a:r>
          </a:p>
          <a:p>
            <a:pPr algn="just"/>
            <a:r>
              <a:rPr lang="en-GB" sz="2300" dirty="0"/>
              <a:t>During a call no other network traffic can use those switches. </a:t>
            </a:r>
          </a:p>
          <a:p>
            <a:pPr algn="just"/>
            <a:r>
              <a:rPr lang="en-GB" sz="2300" dirty="0"/>
              <a:t>The </a:t>
            </a:r>
            <a:r>
              <a:rPr lang="en-GB" sz="2300" u="sng" dirty="0"/>
              <a:t>resources remain dedicated to the circuit during the entire data transfer </a:t>
            </a:r>
            <a:r>
              <a:rPr lang="en-GB" sz="2300" dirty="0"/>
              <a:t>and the entire </a:t>
            </a:r>
            <a:r>
              <a:rPr lang="en-GB" sz="2300" u="sng" dirty="0"/>
              <a:t>message follows the same path.</a:t>
            </a:r>
          </a:p>
          <a:p>
            <a:pPr lvl="1" algn="just">
              <a:buNone/>
            </a:pPr>
            <a:endParaRPr lang="en-GB" sz="2300" b="1"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Grp="1" noChangeArrowheads="1"/>
          </p:cNvSpPr>
          <p:nvPr>
            <p:ph type="title"/>
          </p:nvPr>
        </p:nvSpPr>
        <p:spPr>
          <a:xfrm>
            <a:off x="762000" y="381000"/>
            <a:ext cx="7772400" cy="685800"/>
          </a:xfrm>
        </p:spPr>
        <p:txBody>
          <a:bodyPr>
            <a:normAutofit fontScale="90000"/>
          </a:bodyPr>
          <a:lstStyle/>
          <a:p>
            <a:pPr algn="l"/>
            <a:r>
              <a:rPr lang="en-US" b="1" u="sng" dirty="0">
                <a:solidFill>
                  <a:srgbClr val="FF0000"/>
                </a:solidFill>
              </a:rPr>
              <a:t>Circuit Switching</a:t>
            </a:r>
          </a:p>
        </p:txBody>
      </p:sp>
      <p:sp>
        <p:nvSpPr>
          <p:cNvPr id="18435" name="Rectangle 3"/>
          <p:cNvSpPr>
            <a:spLocks noGrp="1" noChangeArrowheads="1"/>
          </p:cNvSpPr>
          <p:nvPr>
            <p:ph type="body" idx="1"/>
          </p:nvPr>
        </p:nvSpPr>
        <p:spPr>
          <a:xfrm>
            <a:off x="685800" y="1447800"/>
            <a:ext cx="7772400" cy="4724400"/>
          </a:xfrm>
        </p:spPr>
        <p:txBody>
          <a:bodyPr>
            <a:noAutofit/>
          </a:bodyPr>
          <a:lstStyle/>
          <a:p>
            <a:pPr algn="just">
              <a:buNone/>
            </a:pPr>
            <a:r>
              <a:rPr lang="en-US" sz="2200" b="1" i="1" dirty="0"/>
              <a:t>Advantages:</a:t>
            </a:r>
            <a:r>
              <a:rPr lang="en-US" sz="2200" dirty="0"/>
              <a:t> </a:t>
            </a:r>
          </a:p>
          <a:p>
            <a:pPr algn="just"/>
            <a:r>
              <a:rPr lang="en-US" sz="2200" dirty="0"/>
              <a:t>The communication channel (once established) is dedicated. </a:t>
            </a:r>
          </a:p>
          <a:p>
            <a:pPr algn="just"/>
            <a:endParaRPr lang="en-US" sz="2200" dirty="0"/>
          </a:p>
          <a:p>
            <a:pPr algn="just" eaLnBrk="0" hangingPunct="0">
              <a:buNone/>
            </a:pPr>
            <a:r>
              <a:rPr lang="en-US" sz="2200" b="1" i="1" dirty="0"/>
              <a:t>Disadvantages: </a:t>
            </a:r>
          </a:p>
          <a:p>
            <a:pPr marL="457200" indent="-457200" algn="just" eaLnBrk="0" hangingPunct="0">
              <a:buFont typeface="+mj-lt"/>
              <a:buAutoNum type="arabicPeriod"/>
            </a:pPr>
            <a:r>
              <a:rPr lang="en-US" sz="2200" dirty="0"/>
              <a:t>Possible long wait to establish a connection, (10 seconds, more on long- distance or international calls.) during which no data can be transmitted.</a:t>
            </a:r>
            <a:endParaRPr lang="en-US" sz="2200" b="1" i="1" dirty="0"/>
          </a:p>
          <a:p>
            <a:pPr marL="457200" indent="-457200" algn="just" eaLnBrk="0" hangingPunct="0">
              <a:buFont typeface="+mj-lt"/>
              <a:buAutoNum type="arabicPeriod"/>
            </a:pPr>
            <a:r>
              <a:rPr lang="en-US" sz="2200" dirty="0"/>
              <a:t>More expensive than any other switching techniques, because a dedicated path is required for each connection.</a:t>
            </a:r>
          </a:p>
          <a:p>
            <a:pPr marL="457200" indent="-457200" eaLnBrk="0" hangingPunct="0">
              <a:buFont typeface="+mj-lt"/>
              <a:buAutoNum type="arabicPeriod"/>
            </a:pPr>
            <a:r>
              <a:rPr lang="en-US" sz="2200" dirty="0"/>
              <a:t>Inefficient use of the communication channel, because the channel is not used when the connected systems are not using it. </a:t>
            </a:r>
            <a:br>
              <a:rPr lang="en-US" sz="2200" dirty="0"/>
            </a:br>
            <a:endParaRPr lang="en-US" sz="22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87810"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87811"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87812"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87813"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87814"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87815"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87816"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87817" name="Line 9"/>
          <p:cNvSpPr>
            <a:spLocks noChangeShapeType="1"/>
          </p:cNvSpPr>
          <p:nvPr/>
        </p:nvSpPr>
        <p:spPr bwMode="auto">
          <a:xfrm>
            <a:off x="457200" y="2209800"/>
            <a:ext cx="8153400" cy="0"/>
          </a:xfrm>
          <a:prstGeom prst="line">
            <a:avLst/>
          </a:prstGeom>
          <a:noFill/>
          <a:ln w="76200">
            <a:solidFill>
              <a:srgbClr val="009900"/>
            </a:solidFill>
            <a:round/>
            <a:headEnd/>
            <a:tailEnd/>
          </a:ln>
          <a:effectLst/>
        </p:spPr>
        <p:txBody>
          <a:bodyPr/>
          <a:lstStyle/>
          <a:p>
            <a:endParaRPr lang="en-US"/>
          </a:p>
        </p:txBody>
      </p:sp>
      <p:sp>
        <p:nvSpPr>
          <p:cNvPr id="887818" name="Line 10"/>
          <p:cNvSpPr>
            <a:spLocks noChangeShapeType="1"/>
          </p:cNvSpPr>
          <p:nvPr/>
        </p:nvSpPr>
        <p:spPr bwMode="auto">
          <a:xfrm>
            <a:off x="533400" y="6019800"/>
            <a:ext cx="8153400" cy="0"/>
          </a:xfrm>
          <a:prstGeom prst="line">
            <a:avLst/>
          </a:prstGeom>
          <a:noFill/>
          <a:ln w="76200">
            <a:solidFill>
              <a:srgbClr val="009900"/>
            </a:solidFill>
            <a:round/>
            <a:headEnd/>
            <a:tailEnd/>
          </a:ln>
          <a:effectLst/>
        </p:spPr>
        <p:txBody>
          <a:bodyPr/>
          <a:lstStyle/>
          <a:p>
            <a:endParaRPr lang="en-US"/>
          </a:p>
        </p:txBody>
      </p:sp>
      <p:sp>
        <p:nvSpPr>
          <p:cNvPr id="887819" name="Rectangle 11"/>
          <p:cNvSpPr>
            <a:spLocks noChangeArrowheads="1"/>
          </p:cNvSpPr>
          <p:nvPr/>
        </p:nvSpPr>
        <p:spPr bwMode="auto">
          <a:xfrm>
            <a:off x="495300" y="2301875"/>
            <a:ext cx="8077200" cy="1200329"/>
          </a:xfrm>
          <a:prstGeom prst="rect">
            <a:avLst/>
          </a:prstGeom>
          <a:solidFill>
            <a:srgbClr val="99FF33"/>
          </a:solidFill>
          <a:ln w="76200" algn="ctr">
            <a:noFill/>
            <a:miter lim="800000"/>
            <a:headEnd/>
            <a:tailEnd/>
          </a:ln>
          <a:effectLst/>
        </p:spPr>
        <p:txBody>
          <a:bodyPr wrap="square">
            <a:spAutoFit/>
          </a:bodyPr>
          <a:lstStyle/>
          <a:p>
            <a:pPr algn="just"/>
            <a:r>
              <a:rPr lang="en-US" sz="2400" b="1" dirty="0"/>
              <a:t>In circuit switching, the resources need to be  reserved during the setup phase; the resources remain dedicated for the entire duration of data transfer until the  teardown phase.</a:t>
            </a:r>
          </a:p>
        </p:txBody>
      </p:sp>
      <p:grpSp>
        <p:nvGrpSpPr>
          <p:cNvPr id="2" name="Group 12"/>
          <p:cNvGrpSpPr>
            <a:grpSpLocks/>
          </p:cNvGrpSpPr>
          <p:nvPr/>
        </p:nvGrpSpPr>
        <p:grpSpPr bwMode="auto">
          <a:xfrm>
            <a:off x="457200" y="1524000"/>
            <a:ext cx="1143000" cy="566738"/>
            <a:chOff x="1200" y="1248"/>
            <a:chExt cx="720" cy="357"/>
          </a:xfrm>
        </p:grpSpPr>
        <p:pic>
          <p:nvPicPr>
            <p:cNvPr id="887821" name="Picture 13"/>
            <p:cNvPicPr>
              <a:picLocks noChangeAspect="1" noChangeArrowheads="1"/>
            </p:cNvPicPr>
            <p:nvPr/>
          </p:nvPicPr>
          <p:blipFill>
            <a:blip r:embed="rId3"/>
            <a:srcRect/>
            <a:stretch>
              <a:fillRect/>
            </a:stretch>
          </p:blipFill>
          <p:spPr bwMode="auto">
            <a:xfrm>
              <a:off x="1200" y="1248"/>
              <a:ext cx="720" cy="357"/>
            </a:xfrm>
            <a:prstGeom prst="rect">
              <a:avLst/>
            </a:prstGeom>
            <a:noFill/>
            <a:ln w="9525">
              <a:noFill/>
              <a:miter lim="800000"/>
              <a:headEnd/>
              <a:tailEnd/>
            </a:ln>
            <a:effectLst/>
          </p:spPr>
        </p:pic>
        <p:sp>
          <p:nvSpPr>
            <p:cNvPr id="887822"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a:solidFill>
                    <a:schemeClr val="hlink"/>
                  </a:solidFill>
                  <a:latin typeface="Times New Roman" pitchFamily="18" charset="0"/>
                </a:rPr>
                <a:t>Note</a:t>
              </a:r>
            </a:p>
          </p:txBody>
        </p:sp>
      </p:grpSp>
      <p:sp>
        <p:nvSpPr>
          <p:cNvPr id="16" name="Rectangle 11"/>
          <p:cNvSpPr>
            <a:spLocks noChangeArrowheads="1"/>
          </p:cNvSpPr>
          <p:nvPr/>
        </p:nvSpPr>
        <p:spPr bwMode="auto">
          <a:xfrm>
            <a:off x="533400" y="3733800"/>
            <a:ext cx="8077200" cy="1200329"/>
          </a:xfrm>
          <a:prstGeom prst="rect">
            <a:avLst/>
          </a:prstGeom>
          <a:solidFill>
            <a:srgbClr val="99FF33"/>
          </a:solidFill>
          <a:ln w="76200" algn="ctr">
            <a:noFill/>
            <a:miter lim="800000"/>
            <a:headEnd/>
            <a:tailEnd/>
          </a:ln>
          <a:effectLst/>
        </p:spPr>
        <p:txBody>
          <a:bodyPr>
            <a:spAutoFit/>
          </a:bodyPr>
          <a:lstStyle/>
          <a:p>
            <a:pPr algn="just"/>
            <a:r>
              <a:rPr lang="en-US" sz="2400" b="1" dirty="0"/>
              <a:t>A circuit-switched network is made of a set of switches connected by physical links, in which  each link is divided into </a:t>
            </a:r>
            <a:r>
              <a:rPr lang="en-US" sz="2400" b="1" i="1" dirty="0"/>
              <a:t>n</a:t>
            </a:r>
            <a:r>
              <a:rPr lang="en-US" sz="2400" b="1" dirty="0"/>
              <a:t> channels.</a:t>
            </a:r>
          </a:p>
        </p:txBody>
      </p:sp>
      <p:sp>
        <p:nvSpPr>
          <p:cNvPr id="17" name="Rectangle 11"/>
          <p:cNvSpPr>
            <a:spLocks noChangeArrowheads="1"/>
          </p:cNvSpPr>
          <p:nvPr/>
        </p:nvSpPr>
        <p:spPr bwMode="auto">
          <a:xfrm>
            <a:off x="533400" y="5029200"/>
            <a:ext cx="8077200" cy="830997"/>
          </a:xfrm>
          <a:prstGeom prst="rect">
            <a:avLst/>
          </a:prstGeom>
          <a:solidFill>
            <a:srgbClr val="99FF33"/>
          </a:solidFill>
          <a:ln w="76200" algn="ctr">
            <a:noFill/>
            <a:miter lim="800000"/>
            <a:headEnd/>
            <a:tailEnd/>
          </a:ln>
          <a:effectLst/>
        </p:spPr>
        <p:txBody>
          <a:bodyPr wrap="square">
            <a:spAutoFit/>
          </a:bodyPr>
          <a:lstStyle/>
          <a:p>
            <a:r>
              <a:rPr lang="en-US" sz="2400" b="1" dirty="0"/>
              <a:t>Switching at the physical layer in the traditional telephone network uses the circuit-switching approach.</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528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6528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65284" name="Text Box 4"/>
          <p:cNvSpPr txBox="1">
            <a:spLocks noChangeArrowheads="1"/>
          </p:cNvSpPr>
          <p:nvPr/>
        </p:nvSpPr>
        <p:spPr bwMode="auto">
          <a:xfrm>
            <a:off x="304800" y="381000"/>
            <a:ext cx="4845429" cy="461665"/>
          </a:xfrm>
          <a:prstGeom prst="rect">
            <a:avLst/>
          </a:prstGeom>
          <a:noFill/>
          <a:ln w="9525">
            <a:noFill/>
            <a:miter lim="800000"/>
            <a:headEnd/>
            <a:tailEnd/>
          </a:ln>
          <a:effectLst/>
        </p:spPr>
        <p:txBody>
          <a:bodyPr wrap="none">
            <a:spAutoFit/>
          </a:bodyPr>
          <a:lstStyle/>
          <a:p>
            <a:r>
              <a:rPr lang="en-US" sz="2400" b="1" dirty="0">
                <a:latin typeface="Times New Roman" pitchFamily="18" charset="0"/>
              </a:rPr>
              <a:t>Delay in a circuit-switched network</a:t>
            </a:r>
          </a:p>
        </p:txBody>
      </p:sp>
      <p:sp>
        <p:nvSpPr>
          <p:cNvPr id="865285" name="Line 5"/>
          <p:cNvSpPr>
            <a:spLocks noChangeShapeType="1"/>
          </p:cNvSpPr>
          <p:nvPr/>
        </p:nvSpPr>
        <p:spPr bwMode="auto">
          <a:xfrm>
            <a:off x="152400" y="6324600"/>
            <a:ext cx="8763000" cy="0"/>
          </a:xfrm>
          <a:prstGeom prst="line">
            <a:avLst/>
          </a:prstGeom>
          <a:noFill/>
          <a:ln w="76200">
            <a:solidFill>
              <a:schemeClr val="hlink"/>
            </a:solidFill>
            <a:round/>
            <a:headEnd/>
            <a:tailEnd/>
          </a:ln>
          <a:effectLst/>
        </p:spPr>
        <p:txBody>
          <a:bodyPr/>
          <a:lstStyle/>
          <a:p>
            <a:endParaRPr lang="en-US"/>
          </a:p>
        </p:txBody>
      </p:sp>
      <p:pic>
        <p:nvPicPr>
          <p:cNvPr id="865286" name="Picture 6"/>
          <p:cNvPicPr>
            <a:picLocks noChangeAspect="1" noChangeArrowheads="1"/>
          </p:cNvPicPr>
          <p:nvPr/>
        </p:nvPicPr>
        <p:blipFill>
          <a:blip r:embed="rId3"/>
          <a:srcRect/>
          <a:stretch>
            <a:fillRect/>
          </a:stretch>
        </p:blipFill>
        <p:spPr bwMode="auto">
          <a:xfrm>
            <a:off x="228600" y="1219200"/>
            <a:ext cx="8729662" cy="3962400"/>
          </a:xfrm>
          <a:prstGeom prst="rect">
            <a:avLst/>
          </a:prstGeom>
          <a:noFill/>
          <a:ln w="9525">
            <a:noFill/>
            <a:miter lim="800000"/>
            <a:headEnd/>
            <a:tailEnd/>
          </a:ln>
          <a:effectLst/>
        </p:spPr>
      </p:pic>
      <p:sp>
        <p:nvSpPr>
          <p:cNvPr id="8" name="Text Box 4"/>
          <p:cNvSpPr txBox="1">
            <a:spLocks noChangeArrowheads="1"/>
          </p:cNvSpPr>
          <p:nvPr/>
        </p:nvSpPr>
        <p:spPr bwMode="auto">
          <a:xfrm>
            <a:off x="228600" y="5181600"/>
            <a:ext cx="9005479" cy="1015663"/>
          </a:xfrm>
          <a:prstGeom prst="rect">
            <a:avLst/>
          </a:prstGeom>
          <a:noFill/>
          <a:ln w="9525">
            <a:noFill/>
            <a:miter lim="800000"/>
            <a:headEnd/>
            <a:tailEnd/>
          </a:ln>
          <a:effectLst/>
        </p:spPr>
        <p:txBody>
          <a:bodyPr wrap="square">
            <a:spAutoFit/>
          </a:bodyPr>
          <a:lstStyle/>
          <a:p>
            <a:r>
              <a:rPr lang="en-US" sz="2000" b="1" dirty="0">
                <a:latin typeface="Times New Roman" pitchFamily="18" charset="0"/>
              </a:rPr>
              <a:t>Total Delay in a circuit-switched network will be </a:t>
            </a:r>
            <a:r>
              <a:rPr lang="en-US" sz="2000" b="1" dirty="0">
                <a:solidFill>
                  <a:srgbClr val="FF0000"/>
                </a:solidFill>
                <a:latin typeface="Times New Roman" pitchFamily="18" charset="0"/>
              </a:rPr>
              <a:t>delay for setup and tear down +</a:t>
            </a:r>
          </a:p>
          <a:p>
            <a:r>
              <a:rPr lang="en-US" sz="2000" b="1" dirty="0">
                <a:solidFill>
                  <a:srgbClr val="FF0000"/>
                </a:solidFill>
                <a:latin typeface="Times New Roman" pitchFamily="18" charset="0"/>
              </a:rPr>
              <a:t>Propagation delay + Transmission delay i.e.</a:t>
            </a:r>
          </a:p>
          <a:p>
            <a:r>
              <a:rPr lang="en-US" sz="2000" b="1" dirty="0">
                <a:solidFill>
                  <a:srgbClr val="002060"/>
                </a:solidFill>
                <a:latin typeface="Times New Roman" pitchFamily="18" charset="0"/>
              </a:rPr>
              <a:t>Total Delay= Propagation time + Transmission time + Setup + Tear down</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srcRect/>
          <a:stretch>
            <a:fillRect/>
          </a:stretch>
        </p:blipFill>
        <p:spPr bwMode="auto">
          <a:xfrm>
            <a:off x="838200" y="1371600"/>
            <a:ext cx="7772400" cy="4267200"/>
          </a:xfrm>
          <a:prstGeom prst="rect">
            <a:avLst/>
          </a:prstGeom>
          <a:noFill/>
          <a:ln w="9525">
            <a:noFill/>
            <a:miter lim="800000"/>
            <a:headEnd/>
            <a:tailEnd/>
          </a:ln>
          <a:effectLst/>
        </p:spPr>
      </p:pic>
      <p:sp>
        <p:nvSpPr>
          <p:cNvPr id="4" name="Rectangle 2"/>
          <p:cNvSpPr txBox="1">
            <a:spLocks noChangeArrowheads="1"/>
          </p:cNvSpPr>
          <p:nvPr/>
        </p:nvSpPr>
        <p:spPr>
          <a:xfrm>
            <a:off x="762000" y="304800"/>
            <a:ext cx="7772400" cy="6858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600" b="1" i="0" u="sng" strike="noStrike" kern="0" cap="none" spc="0" normalizeH="0" baseline="0" noProof="0" dirty="0">
                <a:ln>
                  <a:noFill/>
                </a:ln>
                <a:solidFill>
                  <a:srgbClr val="FF0000"/>
                </a:solidFill>
                <a:effectLst/>
                <a:uLnTx/>
                <a:uFillTx/>
                <a:latin typeface="+mj-lt"/>
                <a:ea typeface="+mj-ea"/>
                <a:cs typeface="+mj-cs"/>
              </a:rPr>
              <a:t>Circuit switching-Question</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srcRect/>
          <a:stretch>
            <a:fillRect/>
          </a:stretch>
        </p:blipFill>
        <p:spPr bwMode="auto">
          <a:xfrm>
            <a:off x="685800" y="1447800"/>
            <a:ext cx="7905750" cy="4519613"/>
          </a:xfrm>
          <a:prstGeom prst="rect">
            <a:avLst/>
          </a:prstGeom>
          <a:noFill/>
          <a:ln w="9525">
            <a:noFill/>
            <a:miter lim="800000"/>
            <a:headEnd/>
            <a:tailEnd/>
          </a:ln>
          <a:effectLst/>
        </p:spPr>
      </p:pic>
      <p:sp>
        <p:nvSpPr>
          <p:cNvPr id="5" name="Rectangle 2"/>
          <p:cNvSpPr txBox="1">
            <a:spLocks noChangeArrowheads="1"/>
          </p:cNvSpPr>
          <p:nvPr/>
        </p:nvSpPr>
        <p:spPr>
          <a:xfrm>
            <a:off x="762000" y="304800"/>
            <a:ext cx="7772400" cy="6858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3600" b="1" i="0" u="sng" strike="noStrike" kern="0" cap="none" spc="0" normalizeH="0" baseline="0" noProof="0" dirty="0">
                <a:ln>
                  <a:noFill/>
                </a:ln>
                <a:solidFill>
                  <a:srgbClr val="FF0000"/>
                </a:solidFill>
                <a:effectLst/>
                <a:uLnTx/>
                <a:uFillTx/>
                <a:latin typeface="+mj-lt"/>
                <a:ea typeface="+mj-ea"/>
                <a:cs typeface="+mj-cs"/>
              </a:rPr>
              <a:t>Circuit switching-Question Solution</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6781800" cy="533400"/>
          </a:xfrm>
        </p:spPr>
        <p:txBody>
          <a:bodyPr>
            <a:normAutofit fontScale="90000"/>
          </a:bodyPr>
          <a:lstStyle/>
          <a:p>
            <a:pPr algn="l"/>
            <a:r>
              <a:rPr lang="en-US" b="1" u="sng" dirty="0">
                <a:solidFill>
                  <a:srgbClr val="FF0000"/>
                </a:solidFill>
              </a:rPr>
              <a:t>Packet Switching</a:t>
            </a:r>
          </a:p>
        </p:txBody>
      </p:sp>
      <p:sp>
        <p:nvSpPr>
          <p:cNvPr id="9219" name="Rectangle 3"/>
          <p:cNvSpPr>
            <a:spLocks noChangeArrowheads="1"/>
          </p:cNvSpPr>
          <p:nvPr/>
        </p:nvSpPr>
        <p:spPr bwMode="auto">
          <a:xfrm>
            <a:off x="228600" y="1219200"/>
            <a:ext cx="8686800" cy="2562240"/>
          </a:xfrm>
          <a:prstGeom prst="rect">
            <a:avLst/>
          </a:prstGeom>
          <a:noFill/>
          <a:ln w="9525">
            <a:noFill/>
            <a:miter lim="800000"/>
            <a:headEnd/>
            <a:tailEnd/>
          </a:ln>
          <a:effectLst/>
        </p:spPr>
        <p:txBody>
          <a:bodyPr>
            <a:spAutoFit/>
          </a:bodyPr>
          <a:lstStyle/>
          <a:p>
            <a:pPr algn="just">
              <a:spcBef>
                <a:spcPts val="300"/>
              </a:spcBef>
            </a:pPr>
            <a:r>
              <a:rPr lang="en-GB" sz="2200" dirty="0"/>
              <a:t>In packet-based networks, </a:t>
            </a:r>
            <a:r>
              <a:rPr lang="en-GB" sz="2200" b="1" dirty="0"/>
              <a:t>the message gets broken into small data packets</a:t>
            </a:r>
            <a:r>
              <a:rPr lang="en-GB" sz="2200" dirty="0"/>
              <a:t>. These packets are sent out from the computer and they travel around the network seeking out the most efficient route to reach to destination. </a:t>
            </a:r>
            <a:r>
              <a:rPr lang="en-GB" sz="2200" b="1" dirty="0"/>
              <a:t>This does not necessarily mean that they seek out the shortest route. </a:t>
            </a:r>
            <a:r>
              <a:rPr lang="en-GB" sz="2200" b="1" u="sng" dirty="0"/>
              <a:t>Each packet may go a different route from the others</a:t>
            </a:r>
            <a:r>
              <a:rPr lang="en-GB" sz="2200" dirty="0"/>
              <a:t>.</a:t>
            </a:r>
            <a:r>
              <a:rPr lang="en-US" sz="2200" dirty="0"/>
              <a:t>  </a:t>
            </a:r>
          </a:p>
          <a:p>
            <a:pPr algn="just">
              <a:spcBef>
                <a:spcPts val="300"/>
              </a:spcBef>
            </a:pPr>
            <a:r>
              <a:rPr lang="en-US" sz="2400" dirty="0">
                <a:solidFill>
                  <a:srgbClr val="FF0000"/>
                </a:solidFill>
              </a:rPr>
              <a:t>There are two methods of packet switching: </a:t>
            </a:r>
            <a:r>
              <a:rPr lang="en-US" sz="2400" b="1" u="sng" dirty="0">
                <a:solidFill>
                  <a:srgbClr val="FF0000"/>
                </a:solidFill>
              </a:rPr>
              <a:t>Datagram and virtual circuit packet switching</a:t>
            </a:r>
          </a:p>
        </p:txBody>
      </p:sp>
      <p:pic>
        <p:nvPicPr>
          <p:cNvPr id="9221" name="Picture 5" descr="C:\Swithing Tecchniques_files\packet_s.gif"/>
          <p:cNvPicPr>
            <a:picLocks noChangeAspect="1" noChangeArrowheads="1"/>
          </p:cNvPicPr>
          <p:nvPr/>
        </p:nvPicPr>
        <p:blipFill>
          <a:blip r:embed="rId2"/>
          <a:srcRect/>
          <a:stretch>
            <a:fillRect/>
          </a:stretch>
        </p:blipFill>
        <p:spPr bwMode="auto">
          <a:xfrm>
            <a:off x="2057400" y="3733800"/>
            <a:ext cx="6423025" cy="2849563"/>
          </a:xfrm>
          <a:prstGeom prst="rect">
            <a:avLst/>
          </a:prstGeom>
          <a:noFill/>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533400" y="304800"/>
            <a:ext cx="6781800" cy="533400"/>
          </a:xfrm>
        </p:spPr>
        <p:txBody>
          <a:bodyPr>
            <a:normAutofit fontScale="90000"/>
          </a:bodyPr>
          <a:lstStyle/>
          <a:p>
            <a:pPr algn="l"/>
            <a:r>
              <a:rPr lang="en-US" b="1" u="sng" dirty="0">
                <a:solidFill>
                  <a:srgbClr val="FF0000"/>
                </a:solidFill>
              </a:rPr>
              <a:t>Packet Switching</a:t>
            </a:r>
          </a:p>
        </p:txBody>
      </p:sp>
      <p:sp>
        <p:nvSpPr>
          <p:cNvPr id="9219" name="Rectangle 3"/>
          <p:cNvSpPr>
            <a:spLocks noChangeArrowheads="1"/>
          </p:cNvSpPr>
          <p:nvPr/>
        </p:nvSpPr>
        <p:spPr bwMode="auto">
          <a:xfrm>
            <a:off x="228600" y="1219200"/>
            <a:ext cx="8686800" cy="4154984"/>
          </a:xfrm>
          <a:prstGeom prst="rect">
            <a:avLst/>
          </a:prstGeom>
          <a:noFill/>
          <a:ln w="9525">
            <a:noFill/>
            <a:miter lim="800000"/>
            <a:headEnd/>
            <a:tailEnd/>
          </a:ln>
          <a:effectLst/>
        </p:spPr>
        <p:txBody>
          <a:bodyPr>
            <a:spAutoFit/>
          </a:bodyPr>
          <a:lstStyle/>
          <a:p>
            <a:pPr marL="117475" indent="-117475" algn="just">
              <a:buFont typeface="Arial" pitchFamily="34" charset="0"/>
              <a:buChar char="•"/>
            </a:pPr>
            <a:r>
              <a:rPr lang="en-US" sz="2400" dirty="0">
                <a:latin typeface="Calibri" pitchFamily="34" charset="0"/>
                <a:cs typeface="Calibri" pitchFamily="34" charset="0"/>
              </a:rPr>
              <a:t>In both packet switching methods, a message is broken into small parts, called packets. </a:t>
            </a:r>
          </a:p>
          <a:p>
            <a:pPr marL="117475" indent="-117475" algn="just">
              <a:buFont typeface="Arial" pitchFamily="34" charset="0"/>
              <a:buChar char="•"/>
            </a:pPr>
            <a:r>
              <a:rPr lang="en-US" sz="2400" dirty="0">
                <a:latin typeface="Calibri" pitchFamily="34" charset="0"/>
                <a:cs typeface="Calibri" pitchFamily="34" charset="0"/>
              </a:rPr>
              <a:t>Each packet is tagged with appropriate source and destination     addresses. </a:t>
            </a:r>
          </a:p>
          <a:p>
            <a:pPr marL="117475" indent="-117475" algn="just">
              <a:buFont typeface="Arial" pitchFamily="34" charset="0"/>
              <a:buChar char="•"/>
            </a:pPr>
            <a:r>
              <a:rPr lang="en-US" sz="2400" dirty="0">
                <a:latin typeface="Calibri" pitchFamily="34" charset="0"/>
                <a:cs typeface="Calibri" pitchFamily="34" charset="0"/>
              </a:rPr>
              <a:t>Since packets have a strictly defined maximum length, they can be stored in main memory instead of disk, therefore access delay and cost are minimized.</a:t>
            </a:r>
          </a:p>
          <a:p>
            <a:pPr marL="117475" indent="-117475" algn="just">
              <a:buFont typeface="Arial" pitchFamily="34" charset="0"/>
              <a:buChar char="•"/>
            </a:pPr>
            <a:r>
              <a:rPr lang="en-US" sz="2400" dirty="0">
                <a:latin typeface="Calibri" pitchFamily="34" charset="0"/>
                <a:cs typeface="Calibri" pitchFamily="34" charset="0"/>
              </a:rPr>
              <a:t>Also the transmission speeds, between nodes, are optimized.</a:t>
            </a:r>
          </a:p>
          <a:p>
            <a:pPr marL="117475" indent="-117475" algn="just">
              <a:buFont typeface="Arial" pitchFamily="34" charset="0"/>
              <a:buChar char="•"/>
            </a:pPr>
            <a:r>
              <a:rPr lang="en-US" sz="2400" dirty="0">
                <a:latin typeface="Calibri" pitchFamily="34" charset="0"/>
                <a:cs typeface="Calibri" pitchFamily="34" charset="0"/>
              </a:rPr>
              <a:t>With current technology, packets are generally accepted onto the network on a first-come, first-served basis. If the network becomes overloaded, packets are delayed or discarded (``dropped''). </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8114"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a:effectLst>
                <a:outerShdw blurRad="38100" dist="38100" dir="2700000" algn="tl">
                  <a:srgbClr val="FFFFFF"/>
                </a:outerShdw>
              </a:effectLst>
              <a:latin typeface="Times New Roman" pitchFamily="18" charset="0"/>
            </a:endParaRPr>
          </a:p>
        </p:txBody>
      </p:sp>
      <p:sp>
        <p:nvSpPr>
          <p:cNvPr id="858116"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a:latin typeface="Times New Roman" pitchFamily="18" charset="0"/>
            </a:endParaRPr>
          </a:p>
        </p:txBody>
      </p:sp>
      <p:sp>
        <p:nvSpPr>
          <p:cNvPr id="858117" name="Rectangle 5"/>
          <p:cNvSpPr>
            <a:spLocks noChangeArrowheads="1"/>
          </p:cNvSpPr>
          <p:nvPr/>
        </p:nvSpPr>
        <p:spPr bwMode="auto">
          <a:xfrm>
            <a:off x="304800" y="2514600"/>
            <a:ext cx="8229600" cy="1938992"/>
          </a:xfrm>
          <a:prstGeom prst="rect">
            <a:avLst/>
          </a:prstGeom>
          <a:noFill/>
          <a:ln w="9525">
            <a:noFill/>
            <a:miter lim="800000"/>
            <a:headEnd/>
            <a:tailEnd/>
          </a:ln>
          <a:effectLst/>
        </p:spPr>
        <p:txBody>
          <a:bodyPr anchor="ctr">
            <a:spAutoFit/>
          </a:bodyPr>
          <a:lstStyle/>
          <a:p>
            <a:pPr algn="just"/>
            <a:r>
              <a:rPr lang="en-US" sz="2400" dirty="0">
                <a:latin typeface="Times New Roman" pitchFamily="18" charset="0"/>
              </a:rPr>
              <a:t>In data communications, we need to send messages from one end system to another. If the message is going to pass through a packet-switched network, it needs to be divided into packets of fixed or variable size. The size of the packet is determined by the network and the governing protocol.</a:t>
            </a:r>
          </a:p>
        </p:txBody>
      </p:sp>
      <p:sp>
        <p:nvSpPr>
          <p:cNvPr id="9" name="Text Box 3"/>
          <p:cNvSpPr txBox="1">
            <a:spLocks noChangeArrowheads="1"/>
          </p:cNvSpPr>
          <p:nvPr/>
        </p:nvSpPr>
        <p:spPr bwMode="auto">
          <a:xfrm>
            <a:off x="228600" y="152400"/>
            <a:ext cx="5774979" cy="1077218"/>
          </a:xfrm>
          <a:prstGeom prst="rect">
            <a:avLst/>
          </a:prstGeom>
          <a:noFill/>
          <a:ln w="9525">
            <a:noFill/>
            <a:miter lim="800000"/>
            <a:headEnd/>
            <a:tailEnd/>
          </a:ln>
          <a:effectLst/>
        </p:spPr>
        <p:txBody>
          <a:bodyPr wrap="none">
            <a:spAutoFit/>
          </a:bodyPr>
          <a:lstStyle/>
          <a:p>
            <a:r>
              <a:rPr lang="en-US" sz="3200" b="1" u="sng" dirty="0">
                <a:solidFill>
                  <a:srgbClr val="FF0000"/>
                </a:solidFill>
              </a:rPr>
              <a:t>DTAGRAM NETWORKS</a:t>
            </a:r>
          </a:p>
          <a:p>
            <a:r>
              <a:rPr lang="en-US" sz="3200" b="1" u="sng" dirty="0">
                <a:solidFill>
                  <a:srgbClr val="FF0000"/>
                </a:solidFill>
              </a:rPr>
              <a:t>An Approach of Packet Switching</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Rectangle 2"/>
          <p:cNvSpPr>
            <a:spLocks noGrp="1" noChangeArrowheads="1"/>
          </p:cNvSpPr>
          <p:nvPr>
            <p:ph type="title"/>
          </p:nvPr>
        </p:nvSpPr>
        <p:spPr>
          <a:xfrm>
            <a:off x="304800" y="76200"/>
            <a:ext cx="8229600" cy="762000"/>
          </a:xfrm>
        </p:spPr>
        <p:txBody>
          <a:bodyPr/>
          <a:lstStyle/>
          <a:p>
            <a:pPr algn="l"/>
            <a:r>
              <a:rPr lang="en-US" sz="2800" b="1" u="sng" dirty="0">
                <a:solidFill>
                  <a:srgbClr val="FF0000"/>
                </a:solidFill>
              </a:rPr>
              <a:t>Packet Switching Datagram Approach –Connectionless </a:t>
            </a:r>
          </a:p>
        </p:txBody>
      </p:sp>
      <p:pic>
        <p:nvPicPr>
          <p:cNvPr id="5122" name="Picture 2"/>
          <p:cNvPicPr>
            <a:picLocks noChangeAspect="1" noChangeArrowheads="1"/>
          </p:cNvPicPr>
          <p:nvPr/>
        </p:nvPicPr>
        <p:blipFill>
          <a:blip r:embed="rId2"/>
          <a:srcRect/>
          <a:stretch>
            <a:fillRect/>
          </a:stretch>
        </p:blipFill>
        <p:spPr bwMode="auto">
          <a:xfrm>
            <a:off x="304800" y="990600"/>
            <a:ext cx="8382000" cy="5648325"/>
          </a:xfrm>
          <a:prstGeom prst="rect">
            <a:avLst/>
          </a:prstGeom>
          <a:noFill/>
          <a:ln w="9525">
            <a:noFill/>
            <a:miter lim="800000"/>
            <a:headEnd/>
            <a:tailEnd/>
          </a:ln>
          <a:effectLst/>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6306"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66307"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66308" name="Text Box 4"/>
          <p:cNvSpPr txBox="1">
            <a:spLocks noChangeArrowheads="1"/>
          </p:cNvSpPr>
          <p:nvPr/>
        </p:nvSpPr>
        <p:spPr bwMode="auto">
          <a:xfrm>
            <a:off x="304800" y="381000"/>
            <a:ext cx="6621428" cy="461665"/>
          </a:xfrm>
          <a:prstGeom prst="rect">
            <a:avLst/>
          </a:prstGeom>
          <a:noFill/>
          <a:ln w="9525">
            <a:noFill/>
            <a:miter lim="800000"/>
            <a:headEnd/>
            <a:tailEnd/>
          </a:ln>
          <a:effectLst/>
        </p:spPr>
        <p:txBody>
          <a:bodyPr wrap="none">
            <a:spAutoFit/>
          </a:bodyPr>
          <a:lstStyle/>
          <a:p>
            <a:r>
              <a:rPr lang="en-US" sz="2400" b="1" u="sng" dirty="0">
                <a:latin typeface="Times New Roman" pitchFamily="18" charset="0"/>
              </a:rPr>
              <a:t>A datagram network with four switches (routers)</a:t>
            </a:r>
          </a:p>
        </p:txBody>
      </p:sp>
      <p:sp>
        <p:nvSpPr>
          <p:cNvPr id="866309" name="Line 5"/>
          <p:cNvSpPr>
            <a:spLocks noChangeShapeType="1"/>
          </p:cNvSpPr>
          <p:nvPr/>
        </p:nvSpPr>
        <p:spPr bwMode="auto">
          <a:xfrm>
            <a:off x="152400" y="6324600"/>
            <a:ext cx="8763000" cy="0"/>
          </a:xfrm>
          <a:prstGeom prst="line">
            <a:avLst/>
          </a:prstGeom>
          <a:noFill/>
          <a:ln w="76200">
            <a:solidFill>
              <a:schemeClr val="hlink"/>
            </a:solidFill>
            <a:round/>
            <a:headEnd/>
            <a:tailEnd/>
          </a:ln>
          <a:effectLst/>
        </p:spPr>
        <p:txBody>
          <a:bodyPr/>
          <a:lstStyle/>
          <a:p>
            <a:endParaRPr lang="en-US"/>
          </a:p>
        </p:txBody>
      </p:sp>
      <p:pic>
        <p:nvPicPr>
          <p:cNvPr id="866310" name="Picture 6"/>
          <p:cNvPicPr>
            <a:picLocks noChangeAspect="1" noChangeArrowheads="1"/>
          </p:cNvPicPr>
          <p:nvPr/>
        </p:nvPicPr>
        <p:blipFill>
          <a:blip r:embed="rId3"/>
          <a:srcRect/>
          <a:stretch>
            <a:fillRect/>
          </a:stretch>
        </p:blipFill>
        <p:spPr bwMode="auto">
          <a:xfrm>
            <a:off x="288925" y="2020888"/>
            <a:ext cx="8474075" cy="3008312"/>
          </a:xfrm>
          <a:prstGeom prst="rect">
            <a:avLst/>
          </a:prstGeom>
          <a:noFill/>
          <a:ln w="9525">
            <a:noFill/>
            <a:miter lim="800000"/>
            <a:headEnd/>
            <a:tailEnd/>
          </a:ln>
          <a:effectLst/>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7330"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67331"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67332" name="Text Box 4"/>
          <p:cNvSpPr txBox="1">
            <a:spLocks noChangeArrowheads="1"/>
          </p:cNvSpPr>
          <p:nvPr/>
        </p:nvSpPr>
        <p:spPr bwMode="auto">
          <a:xfrm>
            <a:off x="304800" y="381000"/>
            <a:ext cx="5067413" cy="461665"/>
          </a:xfrm>
          <a:prstGeom prst="rect">
            <a:avLst/>
          </a:prstGeom>
          <a:noFill/>
          <a:ln w="9525">
            <a:noFill/>
            <a:miter lim="800000"/>
            <a:headEnd/>
            <a:tailEnd/>
          </a:ln>
          <a:effectLst/>
        </p:spPr>
        <p:txBody>
          <a:bodyPr wrap="none">
            <a:spAutoFit/>
          </a:bodyPr>
          <a:lstStyle/>
          <a:p>
            <a:r>
              <a:rPr lang="en-US" sz="2400" b="1" u="sng" dirty="0">
                <a:latin typeface="Times New Roman" pitchFamily="18" charset="0"/>
              </a:rPr>
              <a:t>Routing table in a datagram network</a:t>
            </a:r>
          </a:p>
        </p:txBody>
      </p:sp>
      <p:sp>
        <p:nvSpPr>
          <p:cNvPr id="867333" name="Line 5"/>
          <p:cNvSpPr>
            <a:spLocks noChangeShapeType="1"/>
          </p:cNvSpPr>
          <p:nvPr/>
        </p:nvSpPr>
        <p:spPr bwMode="auto">
          <a:xfrm>
            <a:off x="152400" y="6324600"/>
            <a:ext cx="8763000" cy="0"/>
          </a:xfrm>
          <a:prstGeom prst="line">
            <a:avLst/>
          </a:prstGeom>
          <a:noFill/>
          <a:ln w="76200">
            <a:solidFill>
              <a:schemeClr val="hlink"/>
            </a:solidFill>
            <a:round/>
            <a:headEnd/>
            <a:tailEnd/>
          </a:ln>
          <a:effectLst/>
        </p:spPr>
        <p:txBody>
          <a:bodyPr/>
          <a:lstStyle/>
          <a:p>
            <a:endParaRPr lang="en-US"/>
          </a:p>
        </p:txBody>
      </p:sp>
      <p:pic>
        <p:nvPicPr>
          <p:cNvPr id="867334" name="Picture 6"/>
          <p:cNvPicPr>
            <a:picLocks noChangeAspect="1" noChangeArrowheads="1"/>
          </p:cNvPicPr>
          <p:nvPr/>
        </p:nvPicPr>
        <p:blipFill>
          <a:blip r:embed="rId3"/>
          <a:srcRect/>
          <a:stretch>
            <a:fillRect/>
          </a:stretch>
        </p:blipFill>
        <p:spPr bwMode="auto">
          <a:xfrm>
            <a:off x="3057525" y="1497013"/>
            <a:ext cx="2733675" cy="4446587"/>
          </a:xfrm>
          <a:prstGeom prst="rect">
            <a:avLst/>
          </a:prstGeom>
          <a:noFill/>
          <a:ln w="9525">
            <a:noFill/>
            <a:miter lim="800000"/>
            <a:headEnd/>
            <a:tailEnd/>
          </a:ln>
          <a:effectLst/>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882"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0883"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0884"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0885"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0886"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0887"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0888"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0889" name="Line 9"/>
          <p:cNvSpPr>
            <a:spLocks noChangeShapeType="1"/>
          </p:cNvSpPr>
          <p:nvPr/>
        </p:nvSpPr>
        <p:spPr bwMode="auto">
          <a:xfrm>
            <a:off x="457200" y="1752600"/>
            <a:ext cx="8153400" cy="0"/>
          </a:xfrm>
          <a:prstGeom prst="line">
            <a:avLst/>
          </a:prstGeom>
          <a:noFill/>
          <a:ln w="76200">
            <a:solidFill>
              <a:srgbClr val="009900"/>
            </a:solidFill>
            <a:round/>
            <a:headEnd/>
            <a:tailEnd/>
          </a:ln>
          <a:effectLst/>
        </p:spPr>
        <p:txBody>
          <a:bodyPr/>
          <a:lstStyle/>
          <a:p>
            <a:endParaRPr lang="en-US"/>
          </a:p>
        </p:txBody>
      </p:sp>
      <p:sp>
        <p:nvSpPr>
          <p:cNvPr id="890890" name="Line 10"/>
          <p:cNvSpPr>
            <a:spLocks noChangeShapeType="1"/>
          </p:cNvSpPr>
          <p:nvPr/>
        </p:nvSpPr>
        <p:spPr bwMode="auto">
          <a:xfrm>
            <a:off x="457200" y="6096000"/>
            <a:ext cx="8153400" cy="0"/>
          </a:xfrm>
          <a:prstGeom prst="line">
            <a:avLst/>
          </a:prstGeom>
          <a:noFill/>
          <a:ln w="76200">
            <a:solidFill>
              <a:srgbClr val="009900"/>
            </a:solidFill>
            <a:round/>
            <a:headEnd/>
            <a:tailEnd/>
          </a:ln>
          <a:effectLst/>
        </p:spPr>
        <p:txBody>
          <a:bodyPr/>
          <a:lstStyle/>
          <a:p>
            <a:endParaRPr lang="en-US"/>
          </a:p>
        </p:txBody>
      </p:sp>
      <p:sp>
        <p:nvSpPr>
          <p:cNvPr id="890891" name="Rectangle 11"/>
          <p:cNvSpPr>
            <a:spLocks noChangeArrowheads="1"/>
          </p:cNvSpPr>
          <p:nvPr/>
        </p:nvSpPr>
        <p:spPr bwMode="auto">
          <a:xfrm>
            <a:off x="457200" y="1905000"/>
            <a:ext cx="8077200" cy="830997"/>
          </a:xfrm>
          <a:prstGeom prst="rect">
            <a:avLst/>
          </a:prstGeom>
          <a:solidFill>
            <a:srgbClr val="99FF33"/>
          </a:solidFill>
          <a:ln w="76200" algn="ctr">
            <a:noFill/>
            <a:miter lim="800000"/>
            <a:headEnd/>
            <a:tailEnd/>
          </a:ln>
          <a:effectLst/>
        </p:spPr>
        <p:txBody>
          <a:bodyPr wrap="square">
            <a:spAutoFit/>
          </a:bodyPr>
          <a:lstStyle/>
          <a:p>
            <a:pPr algn="just"/>
            <a:r>
              <a:rPr lang="en-US" sz="2400" b="1" dirty="0"/>
              <a:t>In </a:t>
            </a:r>
            <a:r>
              <a:rPr lang="en-US" sz="2400" b="1"/>
              <a:t>a Datagram packet-switched </a:t>
            </a:r>
            <a:r>
              <a:rPr lang="en-US" sz="2400" b="1" dirty="0"/>
              <a:t>network, there is no resource reservation; resources are allocated on demand.</a:t>
            </a:r>
          </a:p>
        </p:txBody>
      </p:sp>
      <p:grpSp>
        <p:nvGrpSpPr>
          <p:cNvPr id="2" name="Group 12"/>
          <p:cNvGrpSpPr>
            <a:grpSpLocks/>
          </p:cNvGrpSpPr>
          <p:nvPr/>
        </p:nvGrpSpPr>
        <p:grpSpPr bwMode="auto">
          <a:xfrm>
            <a:off x="457200" y="1066800"/>
            <a:ext cx="1143000" cy="566738"/>
            <a:chOff x="1200" y="1248"/>
            <a:chExt cx="720" cy="357"/>
          </a:xfrm>
        </p:grpSpPr>
        <p:pic>
          <p:nvPicPr>
            <p:cNvPr id="890893" name="Picture 13"/>
            <p:cNvPicPr>
              <a:picLocks noChangeAspect="1" noChangeArrowheads="1"/>
            </p:cNvPicPr>
            <p:nvPr/>
          </p:nvPicPr>
          <p:blipFill>
            <a:blip r:embed="rId3"/>
            <a:srcRect/>
            <a:stretch>
              <a:fillRect/>
            </a:stretch>
          </p:blipFill>
          <p:spPr bwMode="auto">
            <a:xfrm>
              <a:off x="1200" y="1248"/>
              <a:ext cx="720" cy="357"/>
            </a:xfrm>
            <a:prstGeom prst="rect">
              <a:avLst/>
            </a:prstGeom>
            <a:noFill/>
            <a:ln w="9525">
              <a:noFill/>
              <a:miter lim="800000"/>
              <a:headEnd/>
              <a:tailEnd/>
            </a:ln>
            <a:effectLst/>
          </p:spPr>
        </p:pic>
        <p:sp>
          <p:nvSpPr>
            <p:cNvPr id="890894" name="Text Box 14"/>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dirty="0">
                  <a:solidFill>
                    <a:schemeClr val="hlink"/>
                  </a:solidFill>
                  <a:latin typeface="Times New Roman" pitchFamily="18" charset="0"/>
                </a:rPr>
                <a:t>Note</a:t>
              </a:r>
            </a:p>
          </p:txBody>
        </p:sp>
      </p:grpSp>
      <p:sp>
        <p:nvSpPr>
          <p:cNvPr id="16" name="Rectangle 11"/>
          <p:cNvSpPr>
            <a:spLocks noChangeArrowheads="1"/>
          </p:cNvSpPr>
          <p:nvPr/>
        </p:nvSpPr>
        <p:spPr bwMode="auto">
          <a:xfrm>
            <a:off x="457200" y="2895600"/>
            <a:ext cx="8077200" cy="830997"/>
          </a:xfrm>
          <a:prstGeom prst="rect">
            <a:avLst/>
          </a:prstGeom>
          <a:solidFill>
            <a:srgbClr val="99FF33"/>
          </a:solidFill>
          <a:ln w="76200" algn="ctr">
            <a:noFill/>
            <a:miter lim="800000"/>
            <a:headEnd/>
            <a:tailEnd/>
          </a:ln>
          <a:effectLst/>
        </p:spPr>
        <p:txBody>
          <a:bodyPr>
            <a:spAutoFit/>
          </a:bodyPr>
          <a:lstStyle/>
          <a:p>
            <a:pPr algn="just"/>
            <a:r>
              <a:rPr lang="en-US" sz="2400" b="1" dirty="0"/>
              <a:t>A switch in a datagram network uses a routing table that is based on the destination address.</a:t>
            </a:r>
          </a:p>
        </p:txBody>
      </p:sp>
      <p:sp>
        <p:nvSpPr>
          <p:cNvPr id="17" name="Rectangle 11"/>
          <p:cNvSpPr>
            <a:spLocks noChangeArrowheads="1"/>
          </p:cNvSpPr>
          <p:nvPr/>
        </p:nvSpPr>
        <p:spPr bwMode="auto">
          <a:xfrm>
            <a:off x="457200" y="3905071"/>
            <a:ext cx="8077200" cy="1200329"/>
          </a:xfrm>
          <a:prstGeom prst="rect">
            <a:avLst/>
          </a:prstGeom>
          <a:solidFill>
            <a:srgbClr val="99FF33"/>
          </a:solidFill>
          <a:ln w="76200" algn="ctr">
            <a:noFill/>
            <a:miter lim="800000"/>
            <a:headEnd/>
            <a:tailEnd/>
          </a:ln>
          <a:effectLst/>
        </p:spPr>
        <p:txBody>
          <a:bodyPr>
            <a:spAutoFit/>
          </a:bodyPr>
          <a:lstStyle/>
          <a:p>
            <a:pPr algn="just"/>
            <a:r>
              <a:rPr lang="en-US" sz="2400" b="1" dirty="0"/>
              <a:t>The destination address in the header of a packet in a datagram network remains the same during the entire journey of the packet.</a:t>
            </a:r>
          </a:p>
        </p:txBody>
      </p:sp>
      <p:sp>
        <p:nvSpPr>
          <p:cNvPr id="18" name="Rectangle 11"/>
          <p:cNvSpPr>
            <a:spLocks noChangeArrowheads="1"/>
          </p:cNvSpPr>
          <p:nvPr/>
        </p:nvSpPr>
        <p:spPr bwMode="auto">
          <a:xfrm>
            <a:off x="457200" y="5181600"/>
            <a:ext cx="8077200" cy="830997"/>
          </a:xfrm>
          <a:prstGeom prst="rect">
            <a:avLst/>
          </a:prstGeom>
          <a:solidFill>
            <a:srgbClr val="99FF33"/>
          </a:solidFill>
          <a:ln w="76200" algn="ctr">
            <a:noFill/>
            <a:miter lim="800000"/>
            <a:headEnd/>
            <a:tailEnd/>
          </a:ln>
          <a:effectLst/>
        </p:spPr>
        <p:txBody>
          <a:bodyPr>
            <a:spAutoFit/>
          </a:bodyPr>
          <a:lstStyle/>
          <a:p>
            <a:pPr algn="just"/>
            <a:r>
              <a:rPr lang="en-US" sz="2400" b="1" dirty="0"/>
              <a:t>Switching in the Internet is done by using the datagram approach to packet switching at the network layer.</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68354"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68355"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68356" name="Text Box 4"/>
          <p:cNvSpPr txBox="1">
            <a:spLocks noChangeArrowheads="1"/>
          </p:cNvSpPr>
          <p:nvPr/>
        </p:nvSpPr>
        <p:spPr bwMode="auto">
          <a:xfrm>
            <a:off x="304800" y="381000"/>
            <a:ext cx="4031873" cy="461665"/>
          </a:xfrm>
          <a:prstGeom prst="rect">
            <a:avLst/>
          </a:prstGeom>
          <a:noFill/>
          <a:ln w="9525">
            <a:noFill/>
            <a:miter lim="800000"/>
            <a:headEnd/>
            <a:tailEnd/>
          </a:ln>
          <a:effectLst/>
        </p:spPr>
        <p:txBody>
          <a:bodyPr wrap="none">
            <a:spAutoFit/>
          </a:bodyPr>
          <a:lstStyle/>
          <a:p>
            <a:r>
              <a:rPr lang="en-US" sz="2400" b="1" u="sng" dirty="0">
                <a:latin typeface="Times New Roman" pitchFamily="18" charset="0"/>
              </a:rPr>
              <a:t>Delay in a datagram network</a:t>
            </a:r>
          </a:p>
        </p:txBody>
      </p:sp>
      <p:sp>
        <p:nvSpPr>
          <p:cNvPr id="868357" name="Line 5"/>
          <p:cNvSpPr>
            <a:spLocks noChangeShapeType="1"/>
          </p:cNvSpPr>
          <p:nvPr/>
        </p:nvSpPr>
        <p:spPr bwMode="auto">
          <a:xfrm>
            <a:off x="152400" y="6324600"/>
            <a:ext cx="8763000" cy="0"/>
          </a:xfrm>
          <a:prstGeom prst="line">
            <a:avLst/>
          </a:prstGeom>
          <a:noFill/>
          <a:ln w="76200">
            <a:solidFill>
              <a:schemeClr val="hlink"/>
            </a:solidFill>
            <a:round/>
            <a:headEnd/>
            <a:tailEnd/>
          </a:ln>
          <a:effectLst/>
        </p:spPr>
        <p:txBody>
          <a:bodyPr/>
          <a:lstStyle/>
          <a:p>
            <a:endParaRPr lang="en-US"/>
          </a:p>
        </p:txBody>
      </p:sp>
      <p:pic>
        <p:nvPicPr>
          <p:cNvPr id="868358" name="Picture 6"/>
          <p:cNvPicPr>
            <a:picLocks noChangeAspect="1" noChangeArrowheads="1"/>
          </p:cNvPicPr>
          <p:nvPr/>
        </p:nvPicPr>
        <p:blipFill>
          <a:blip r:embed="rId3"/>
          <a:srcRect/>
          <a:stretch>
            <a:fillRect/>
          </a:stretch>
        </p:blipFill>
        <p:spPr bwMode="auto">
          <a:xfrm>
            <a:off x="457200" y="1219200"/>
            <a:ext cx="8172450" cy="3367087"/>
          </a:xfrm>
          <a:prstGeom prst="rect">
            <a:avLst/>
          </a:prstGeom>
          <a:noFill/>
          <a:ln w="9525">
            <a:noFill/>
            <a:miter lim="800000"/>
            <a:headEnd/>
            <a:tailEnd/>
          </a:ln>
          <a:effectLst/>
        </p:spPr>
      </p:pic>
      <p:pic>
        <p:nvPicPr>
          <p:cNvPr id="7170" name="Picture 2"/>
          <p:cNvPicPr>
            <a:picLocks noChangeAspect="1" noChangeArrowheads="1"/>
          </p:cNvPicPr>
          <p:nvPr/>
        </p:nvPicPr>
        <p:blipFill>
          <a:blip r:embed="rId4"/>
          <a:srcRect/>
          <a:stretch>
            <a:fillRect/>
          </a:stretch>
        </p:blipFill>
        <p:spPr bwMode="auto">
          <a:xfrm>
            <a:off x="1066800" y="4648200"/>
            <a:ext cx="7467600" cy="1466850"/>
          </a:xfrm>
          <a:prstGeom prst="rect">
            <a:avLst/>
          </a:prstGeom>
          <a:noFill/>
          <a:ln w="9525">
            <a:noFill/>
            <a:miter lim="800000"/>
            <a:headEnd/>
            <a:tailEnd/>
          </a:ln>
          <a:effectLst/>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p:cNvSpPr>
            <a:spLocks noGrp="1"/>
          </p:cNvSpPr>
          <p:nvPr>
            <p:ph type="sldNum" sz="quarter" idx="10"/>
          </p:nvPr>
        </p:nvSpPr>
        <p:spPr/>
        <p:txBody>
          <a:bodyPr/>
          <a:lstStyle/>
          <a:p>
            <a:r>
              <a:rPr lang="en-US"/>
              <a:t>8.</a:t>
            </a:r>
            <a:fld id="{510C7BCF-36F6-49A8-BA5A-2913360A64B1}" type="slidenum">
              <a:rPr lang="en-US" smtClean="0"/>
              <a:pPr/>
              <a:t>25</a:t>
            </a:fld>
            <a:endParaRPr lang="en-US"/>
          </a:p>
        </p:txBody>
      </p:sp>
      <p:sp>
        <p:nvSpPr>
          <p:cNvPr id="1025" name="Rectangle 1"/>
          <p:cNvSpPr>
            <a:spLocks noChangeArrowheads="1"/>
          </p:cNvSpPr>
          <p:nvPr/>
        </p:nvSpPr>
        <p:spPr bwMode="auto">
          <a:xfrm>
            <a:off x="0" y="0"/>
            <a:ext cx="9144000" cy="3970318"/>
          </a:xfrm>
          <a:prstGeom prst="rect">
            <a:avLst/>
          </a:prstGeom>
          <a:noFill/>
          <a:ln w="9525">
            <a:noFill/>
            <a:miter lim="800000"/>
            <a:headEnd/>
            <a:tailEnd/>
          </a:ln>
          <a:effectLst/>
        </p:spPr>
        <p:txBody>
          <a:bodyPr vert="horz" wrap="square" lIns="91440" tIns="45720" rIns="91440" bIns="45720" numCol="1" anchor="ctr" anchorCtr="0" compatLnSpc="1">
            <a:prstTxWarp prst="textNoShape">
              <a:avLst/>
            </a:prstTxWarp>
            <a:spAutoFit/>
          </a:bodyPr>
          <a:lstStyle/>
          <a:p>
            <a:pPr marL="0" marR="0" lvl="0" indent="0" algn="just" defTabSz="914400" rtl="0" eaLnBrk="1" fontAlgn="base" latinLnBrk="0" hangingPunct="1">
              <a:lnSpc>
                <a:spcPct val="100000"/>
              </a:lnSpc>
              <a:spcBef>
                <a:spcPct val="0"/>
              </a:spcBef>
              <a:spcAft>
                <a:spcPct val="0"/>
              </a:spcAft>
              <a:buClrTx/>
              <a:buSzTx/>
              <a:buFontTx/>
              <a:buNone/>
              <a:tabLst/>
            </a:pPr>
            <a:endParaRPr kumimoji="0" 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endParaRPr lang="en-US" sz="1800" b="0" dirty="0">
              <a:latin typeface="Arial" pitchFamily="34" charset="0"/>
              <a:ea typeface="Times New Roman" pitchFamily="18" charset="0"/>
              <a:cs typeface="Arial" pitchFamily="34" charset="0"/>
            </a:endParaRPr>
          </a:p>
          <a:p>
            <a:pPr marL="0" marR="0" lvl="0" indent="0" algn="just" defTabSz="914400" rtl="0" eaLnBrk="1" fontAlgn="base" latinLnBrk="0" hangingPunct="1">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Five equal-size datagram belonging to the same message leave for the destination one after another. However, they travel through different paths as shown in Table </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Datagram	 Path Length 		Visited Switches</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1 		3200Km			 1,3,5</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2 		11,700 Km		 1,2,5</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3 		12,200 Km 		1,2,3,5</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4		 10,200 Km 		1,4,5</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5 		10,700 Km 		1,4,3,5</a:t>
            </a:r>
            <a:endParaRPr kumimoji="0" lang="en-US" sz="1050" b="0" i="0" u="none" strike="noStrike" cap="none" normalizeH="0" baseline="0" dirty="0">
              <a:ln>
                <a:noFill/>
              </a:ln>
              <a:solidFill>
                <a:schemeClr val="tx1"/>
              </a:solidFill>
              <a:effectLst/>
              <a:latin typeface="Arial" pitchFamily="34" charset="0"/>
              <a:cs typeface="Arial" pitchFamily="34" charset="0"/>
            </a:endParaRP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We assume that the delay for each switch (including waiting and processing) is 3,10, 20, 7, and 20 ms respectively. Assuming that the propagation speed is 2 x 10</a:t>
            </a:r>
            <a:r>
              <a:rPr kumimoji="0" lang="en-US" sz="1800" b="0" i="0" u="none" strike="noStrike" cap="none" normalizeH="0" baseline="30000" dirty="0">
                <a:ln>
                  <a:noFill/>
                </a:ln>
                <a:solidFill>
                  <a:schemeClr val="tx1"/>
                </a:solidFill>
                <a:effectLst/>
                <a:latin typeface="Arial" pitchFamily="34" charset="0"/>
                <a:ea typeface="Times New Roman" pitchFamily="18" charset="0"/>
                <a:cs typeface="Arial" pitchFamily="34" charset="0"/>
              </a:rPr>
              <a:t>8</a:t>
            </a:r>
            <a:r>
              <a:rPr kumimoji="0" 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 m,	</a:t>
            </a:r>
          </a:p>
          <a:p>
            <a:pPr marL="0" marR="0" lvl="0" indent="0" algn="just" defTabSz="914400" rtl="0" eaLnBrk="0" fontAlgn="base" latinLnBrk="0" hangingPunct="0">
              <a:lnSpc>
                <a:spcPct val="100000"/>
              </a:lnSpc>
              <a:spcBef>
                <a:spcPct val="0"/>
              </a:spcBef>
              <a:spcAft>
                <a:spcPct val="0"/>
              </a:spcAft>
              <a:buClrTx/>
              <a:buSzTx/>
              <a:buFontTx/>
              <a:buNone/>
              <a:tabLst/>
            </a:pPr>
            <a:r>
              <a:rPr kumimoji="0" lang="en-US" sz="1800" b="0" i="0" u="none" strike="noStrike" cap="none" normalizeH="0" baseline="0" dirty="0">
                <a:ln>
                  <a:noFill/>
                </a:ln>
                <a:solidFill>
                  <a:schemeClr val="tx1"/>
                </a:solidFill>
                <a:effectLst/>
                <a:latin typeface="Arial" pitchFamily="34" charset="0"/>
                <a:ea typeface="Times New Roman" pitchFamily="18" charset="0"/>
                <a:cs typeface="Arial" pitchFamily="34" charset="0"/>
              </a:rPr>
              <a:t>find the order the datagram arrive at the destination and the delay for each. Ignore any other delays in transmission.</a:t>
            </a:r>
            <a:endParaRPr kumimoji="0" lang="en-US" sz="2800" b="0" i="0" u="none" strike="noStrike" cap="none" normalizeH="0" baseline="0" dirty="0">
              <a:ln>
                <a:noFill/>
              </a:ln>
              <a:solidFill>
                <a:schemeClr val="tx1"/>
              </a:solidFill>
              <a:effectLst/>
              <a:latin typeface="Arial" pitchFamily="34" charset="0"/>
              <a:cs typeface="Arial" pitchFamily="34" charset="0"/>
            </a:endParaRPr>
          </a:p>
        </p:txBody>
      </p:sp>
      <p:pic>
        <p:nvPicPr>
          <p:cNvPr id="1026" name="Picture 2"/>
          <p:cNvPicPr>
            <a:picLocks noChangeAspect="1" noChangeArrowheads="1"/>
          </p:cNvPicPr>
          <p:nvPr/>
        </p:nvPicPr>
        <p:blipFill>
          <a:blip r:embed="rId2"/>
          <a:srcRect/>
          <a:stretch>
            <a:fillRect/>
          </a:stretch>
        </p:blipFill>
        <p:spPr bwMode="auto">
          <a:xfrm>
            <a:off x="457200" y="3886200"/>
            <a:ext cx="7800975" cy="2800350"/>
          </a:xfrm>
          <a:prstGeom prst="rect">
            <a:avLst/>
          </a:prstGeom>
          <a:noFill/>
          <a:ln w="9525">
            <a:noFill/>
            <a:miter lim="800000"/>
            <a:headEnd/>
            <a:tailEnd/>
          </a:ln>
          <a:effectLst/>
        </p:spPr>
      </p:pic>
      <p:sp>
        <p:nvSpPr>
          <p:cNvPr id="5" name="Rectangle 2"/>
          <p:cNvSpPr txBox="1">
            <a:spLocks noChangeArrowheads="1"/>
          </p:cNvSpPr>
          <p:nvPr/>
        </p:nvSpPr>
        <p:spPr>
          <a:xfrm>
            <a:off x="152400" y="76200"/>
            <a:ext cx="5257800" cy="5334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sng" strike="noStrike" kern="0" cap="none" spc="0" normalizeH="0" baseline="0" noProof="0" dirty="0">
                <a:ln>
                  <a:noFill/>
                </a:ln>
                <a:solidFill>
                  <a:srgbClr val="FF0000"/>
                </a:solidFill>
                <a:effectLst/>
                <a:uLnTx/>
                <a:uFillTx/>
                <a:latin typeface="+mj-lt"/>
                <a:ea typeface="+mj-ea"/>
                <a:cs typeface="+mj-cs"/>
              </a:rPr>
              <a:t>Datagram switching-Question Solution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6"/>
                                        </p:tgtEl>
                                        <p:attrNameLst>
                                          <p:attrName>style.visibility</p:attrName>
                                        </p:attrNameLst>
                                      </p:cBhvr>
                                      <p:to>
                                        <p:strVal val="visible"/>
                                      </p:to>
                                    </p:set>
                                    <p:animEffect transition="in" filter="blinds(horizontal)">
                                      <p:cBhvr>
                                        <p:cTn id="7" dur="500"/>
                                        <p:tgtEl>
                                          <p:spTgt spid="10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9" name="Picture 3"/>
          <p:cNvPicPr>
            <a:picLocks noChangeAspect="1" noChangeArrowheads="1"/>
          </p:cNvPicPr>
          <p:nvPr/>
        </p:nvPicPr>
        <p:blipFill>
          <a:blip r:embed="rId2"/>
          <a:srcRect/>
          <a:stretch>
            <a:fillRect/>
          </a:stretch>
        </p:blipFill>
        <p:spPr bwMode="auto">
          <a:xfrm>
            <a:off x="838200" y="685800"/>
            <a:ext cx="6781800" cy="1524000"/>
          </a:xfrm>
          <a:prstGeom prst="rect">
            <a:avLst/>
          </a:prstGeom>
          <a:noFill/>
          <a:ln w="9525">
            <a:noFill/>
            <a:miter lim="800000"/>
            <a:headEnd/>
            <a:tailEnd/>
          </a:ln>
          <a:effectLst/>
        </p:spPr>
      </p:pic>
      <p:pic>
        <p:nvPicPr>
          <p:cNvPr id="9220" name="Picture 4"/>
          <p:cNvPicPr>
            <a:picLocks noChangeAspect="1" noChangeArrowheads="1"/>
          </p:cNvPicPr>
          <p:nvPr/>
        </p:nvPicPr>
        <p:blipFill>
          <a:blip r:embed="rId3"/>
          <a:srcRect/>
          <a:stretch>
            <a:fillRect/>
          </a:stretch>
        </p:blipFill>
        <p:spPr bwMode="auto">
          <a:xfrm>
            <a:off x="1600200" y="2209800"/>
            <a:ext cx="4933950" cy="2171700"/>
          </a:xfrm>
          <a:prstGeom prst="rect">
            <a:avLst/>
          </a:prstGeom>
          <a:noFill/>
          <a:ln w="9525">
            <a:noFill/>
            <a:miter lim="800000"/>
            <a:headEnd/>
            <a:tailEnd/>
          </a:ln>
          <a:effectLst/>
        </p:spPr>
      </p:pic>
      <p:pic>
        <p:nvPicPr>
          <p:cNvPr id="9221" name="Picture 5"/>
          <p:cNvPicPr>
            <a:picLocks noChangeAspect="1" noChangeArrowheads="1"/>
          </p:cNvPicPr>
          <p:nvPr/>
        </p:nvPicPr>
        <p:blipFill>
          <a:blip r:embed="rId4"/>
          <a:srcRect/>
          <a:stretch>
            <a:fillRect/>
          </a:stretch>
        </p:blipFill>
        <p:spPr bwMode="auto">
          <a:xfrm>
            <a:off x="3429000" y="5029200"/>
            <a:ext cx="1400175" cy="1143000"/>
          </a:xfrm>
          <a:prstGeom prst="rect">
            <a:avLst/>
          </a:prstGeom>
          <a:noFill/>
          <a:ln w="9525">
            <a:noFill/>
            <a:miter lim="800000"/>
            <a:headEnd/>
            <a:tailEnd/>
          </a:ln>
          <a:effectLst/>
        </p:spPr>
      </p:pic>
      <p:sp>
        <p:nvSpPr>
          <p:cNvPr id="6" name="Rectangle 2"/>
          <p:cNvSpPr txBox="1">
            <a:spLocks noChangeArrowheads="1"/>
          </p:cNvSpPr>
          <p:nvPr/>
        </p:nvSpPr>
        <p:spPr>
          <a:xfrm>
            <a:off x="152400" y="76200"/>
            <a:ext cx="5257800" cy="5334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sng" strike="noStrike" kern="0" cap="none" spc="0" normalizeH="0" baseline="0" noProof="0" dirty="0">
                <a:ln>
                  <a:noFill/>
                </a:ln>
                <a:solidFill>
                  <a:srgbClr val="FF0000"/>
                </a:solidFill>
                <a:effectLst/>
                <a:uLnTx/>
                <a:uFillTx/>
                <a:latin typeface="+mj-lt"/>
                <a:ea typeface="+mj-ea"/>
                <a:cs typeface="+mj-cs"/>
              </a:rPr>
              <a:t>Datagram switching-Question Solution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9221"/>
                                        </p:tgtEl>
                                        <p:attrNameLst>
                                          <p:attrName>style.visibility</p:attrName>
                                        </p:attrNameLst>
                                      </p:cBhvr>
                                      <p:to>
                                        <p:strVal val="visible"/>
                                      </p:to>
                                    </p:set>
                                    <p:animEffect transition="in" filter="blinds(horizontal)">
                                      <p:cBhvr>
                                        <p:cTn id="7" dur="500"/>
                                        <p:tgtEl>
                                          <p:spTgt spid="92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8114"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a:effectLst>
                <a:outerShdw blurRad="38100" dist="38100" dir="2700000" algn="tl">
                  <a:srgbClr val="FFFFFF"/>
                </a:outerShdw>
              </a:effectLst>
              <a:latin typeface="Times New Roman" pitchFamily="18" charset="0"/>
            </a:endParaRPr>
          </a:p>
        </p:txBody>
      </p:sp>
      <p:sp>
        <p:nvSpPr>
          <p:cNvPr id="858116"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a:latin typeface="Times New Roman" pitchFamily="18" charset="0"/>
            </a:endParaRPr>
          </a:p>
        </p:txBody>
      </p:sp>
      <p:sp>
        <p:nvSpPr>
          <p:cNvPr id="858117" name="Rectangle 5"/>
          <p:cNvSpPr>
            <a:spLocks noChangeArrowheads="1"/>
          </p:cNvSpPr>
          <p:nvPr/>
        </p:nvSpPr>
        <p:spPr bwMode="auto">
          <a:xfrm>
            <a:off x="304800" y="1905000"/>
            <a:ext cx="8229600" cy="1200329"/>
          </a:xfrm>
          <a:prstGeom prst="rect">
            <a:avLst/>
          </a:prstGeom>
          <a:noFill/>
          <a:ln w="9525">
            <a:noFill/>
            <a:miter lim="800000"/>
            <a:headEnd/>
            <a:tailEnd/>
          </a:ln>
          <a:effectLst/>
        </p:spPr>
        <p:txBody>
          <a:bodyPr anchor="ctr">
            <a:spAutoFit/>
          </a:bodyPr>
          <a:lstStyle/>
          <a:p>
            <a:pPr algn="just" eaLnBrk="1" hangingPunct="1"/>
            <a:r>
              <a:rPr lang="en-US" sz="2400" b="1" dirty="0">
                <a:latin typeface="+mj-lt"/>
              </a:rPr>
              <a:t>A virtual-circuit network is a cross between a circuit-switched network and a datagram network. It has some characteristics of both.</a:t>
            </a:r>
          </a:p>
        </p:txBody>
      </p:sp>
      <p:sp>
        <p:nvSpPr>
          <p:cNvPr id="9" name="Text Box 3"/>
          <p:cNvSpPr txBox="1">
            <a:spLocks noChangeArrowheads="1"/>
          </p:cNvSpPr>
          <p:nvPr/>
        </p:nvSpPr>
        <p:spPr bwMode="auto">
          <a:xfrm>
            <a:off x="228600" y="152400"/>
            <a:ext cx="7076296" cy="1077218"/>
          </a:xfrm>
          <a:prstGeom prst="rect">
            <a:avLst/>
          </a:prstGeom>
          <a:noFill/>
          <a:ln w="9525">
            <a:noFill/>
            <a:miter lim="800000"/>
            <a:headEnd/>
            <a:tailEnd/>
          </a:ln>
          <a:effectLst/>
        </p:spPr>
        <p:txBody>
          <a:bodyPr wrap="none">
            <a:spAutoFit/>
          </a:bodyPr>
          <a:lstStyle/>
          <a:p>
            <a:r>
              <a:rPr lang="en-US" sz="3200" b="1" u="sng" dirty="0">
                <a:solidFill>
                  <a:srgbClr val="FF0000"/>
                </a:solidFill>
              </a:rPr>
              <a:t>VIRTUAL CIRCUIT-SWITCHED NETWORKS</a:t>
            </a:r>
          </a:p>
          <a:p>
            <a:r>
              <a:rPr lang="en-US" sz="3200" b="1" u="sng" dirty="0">
                <a:solidFill>
                  <a:srgbClr val="FF0000"/>
                </a:solidFill>
              </a:rPr>
              <a:t>An Approach of Packet Switching</a:t>
            </a:r>
          </a:p>
        </p:txBody>
      </p:sp>
      <p:sp>
        <p:nvSpPr>
          <p:cNvPr id="10" name="Rectangle 9"/>
          <p:cNvSpPr/>
          <p:nvPr/>
        </p:nvSpPr>
        <p:spPr>
          <a:xfrm>
            <a:off x="381000" y="3276600"/>
            <a:ext cx="8153400" cy="2246769"/>
          </a:xfrm>
          <a:prstGeom prst="rect">
            <a:avLst/>
          </a:prstGeom>
        </p:spPr>
        <p:txBody>
          <a:bodyPr wrap="square">
            <a:spAutoFit/>
          </a:bodyPr>
          <a:lstStyle/>
          <a:p>
            <a:pPr algn="just">
              <a:buFontTx/>
              <a:buNone/>
            </a:pPr>
            <a:r>
              <a:rPr lang="en-US" sz="2400" dirty="0">
                <a:solidFill>
                  <a:srgbClr val="FF0000"/>
                </a:solidFill>
              </a:rPr>
              <a:t>Virtual-Circuit network offer guarantees that : </a:t>
            </a:r>
          </a:p>
          <a:p>
            <a:pPr lvl="1" algn="just">
              <a:buFont typeface="Arial" pitchFamily="34" charset="0"/>
              <a:buChar char="•"/>
            </a:pPr>
            <a:r>
              <a:rPr lang="en-US" sz="2400" b="1" dirty="0"/>
              <a:t>the packets sent arrive in the order sent </a:t>
            </a:r>
          </a:p>
          <a:p>
            <a:pPr lvl="1" algn="just">
              <a:buFont typeface="Arial" pitchFamily="34" charset="0"/>
              <a:buChar char="•"/>
            </a:pPr>
            <a:r>
              <a:rPr lang="en-US" sz="2400" b="1" dirty="0"/>
              <a:t>with no duplicates or omissions </a:t>
            </a:r>
          </a:p>
          <a:p>
            <a:pPr lvl="1" algn="just">
              <a:buFont typeface="Arial" pitchFamily="34" charset="0"/>
              <a:buChar char="•"/>
            </a:pPr>
            <a:r>
              <a:rPr lang="en-US" sz="2400" b="1" dirty="0"/>
              <a:t>with no errors (with high probability) </a:t>
            </a:r>
          </a:p>
          <a:p>
            <a:pPr algn="just"/>
            <a:r>
              <a:rPr lang="en-US" sz="2400" dirty="0"/>
              <a:t>regardless of how they are implemented internally</a:t>
            </a:r>
            <a:r>
              <a:rPr lang="en-US" sz="2000" dirty="0"/>
              <a:t>. </a:t>
            </a:r>
          </a:p>
          <a:p>
            <a:pPr algn="just"/>
            <a:endParaRPr lang="en-US" sz="20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srcRect/>
          <a:stretch>
            <a:fillRect/>
          </a:stretch>
        </p:blipFill>
        <p:spPr bwMode="auto">
          <a:xfrm>
            <a:off x="609600" y="1066800"/>
            <a:ext cx="8001000" cy="5638800"/>
          </a:xfrm>
          <a:prstGeom prst="rect">
            <a:avLst/>
          </a:prstGeom>
          <a:noFill/>
          <a:ln w="9525">
            <a:noFill/>
            <a:miter lim="800000"/>
            <a:headEnd/>
            <a:tailEnd/>
          </a:ln>
          <a:effectLst/>
        </p:spPr>
      </p:pic>
      <p:sp>
        <p:nvSpPr>
          <p:cNvPr id="5" name="Rectangle 2"/>
          <p:cNvSpPr txBox="1">
            <a:spLocks noChangeArrowheads="1"/>
          </p:cNvSpPr>
          <p:nvPr/>
        </p:nvSpPr>
        <p:spPr>
          <a:xfrm>
            <a:off x="304800" y="76200"/>
            <a:ext cx="8229600" cy="9906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Packet Switching Virtual Circuit Approach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Connection Oriented </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04800" y="76200"/>
            <a:ext cx="8229600" cy="9906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Packet Switching Virtual Circuit Approach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Connection Oriented </a:t>
            </a:r>
          </a:p>
        </p:txBody>
      </p:sp>
      <p:sp>
        <p:nvSpPr>
          <p:cNvPr id="4" name="Rectangle 3"/>
          <p:cNvSpPr/>
          <p:nvPr/>
        </p:nvSpPr>
        <p:spPr>
          <a:xfrm>
            <a:off x="381000" y="1295400"/>
            <a:ext cx="8382000" cy="5047536"/>
          </a:xfrm>
          <a:prstGeom prst="rect">
            <a:avLst/>
          </a:prstGeom>
        </p:spPr>
        <p:txBody>
          <a:bodyPr wrap="square">
            <a:spAutoFit/>
          </a:bodyPr>
          <a:lstStyle/>
          <a:p>
            <a:pPr algn="just"/>
            <a:r>
              <a:rPr lang="en-US" sz="2300" dirty="0"/>
              <a:t>A virtual-circuit network is a </a:t>
            </a:r>
            <a:r>
              <a:rPr lang="en-US" sz="2300" b="1" dirty="0"/>
              <a:t>cross between a circuit-switched network and a datagram network</a:t>
            </a:r>
            <a:r>
              <a:rPr lang="en-US" sz="2300" dirty="0"/>
              <a:t>. It has some characteristics of both.</a:t>
            </a:r>
          </a:p>
          <a:p>
            <a:pPr marL="457200" indent="-457200" algn="just">
              <a:buFont typeface="+mj-lt"/>
              <a:buAutoNum type="arabicPeriod"/>
            </a:pPr>
            <a:r>
              <a:rPr lang="en-US" sz="2300" dirty="0"/>
              <a:t>As in a circuit-switched network, </a:t>
            </a:r>
            <a:r>
              <a:rPr lang="en-US" sz="2300" b="1" dirty="0"/>
              <a:t>there are setup and teardown phases in addition to the data transfer phase</a:t>
            </a:r>
            <a:r>
              <a:rPr lang="en-US" sz="2300" dirty="0"/>
              <a:t>.</a:t>
            </a:r>
          </a:p>
          <a:p>
            <a:pPr marL="457200" indent="-457200" algn="just">
              <a:buFont typeface="+mj-lt"/>
              <a:buAutoNum type="arabicPeriod"/>
            </a:pPr>
            <a:r>
              <a:rPr lang="en-US" sz="2300" u="sng" dirty="0"/>
              <a:t>Resources can be allocated during the setup phase</a:t>
            </a:r>
            <a:r>
              <a:rPr lang="en-US" sz="2300" dirty="0"/>
              <a:t>, as in a circuit-switched network, </a:t>
            </a:r>
            <a:r>
              <a:rPr lang="en-US" sz="2300" u="sng" dirty="0"/>
              <a:t>or on demand</a:t>
            </a:r>
            <a:r>
              <a:rPr lang="en-US" sz="2300" dirty="0"/>
              <a:t>, as in a datagram network.</a:t>
            </a:r>
          </a:p>
          <a:p>
            <a:pPr marL="457200" indent="-457200" algn="just">
              <a:buFont typeface="+mj-lt"/>
              <a:buAutoNum type="arabicPeriod"/>
            </a:pPr>
            <a:r>
              <a:rPr lang="en-US" sz="2300" dirty="0"/>
              <a:t>As in a datagram network, </a:t>
            </a:r>
            <a:r>
              <a:rPr lang="en-US" sz="2300" b="1" dirty="0"/>
              <a:t>data are packetized and each packet carries an address in the header</a:t>
            </a:r>
            <a:r>
              <a:rPr lang="en-US" sz="2300" dirty="0"/>
              <a:t>. However, the address in the header has local jurisdiction (it defines what should be the next switch and the channel on which the packet is being carried), not end-to-end jurisdiction. </a:t>
            </a:r>
          </a:p>
          <a:p>
            <a:pPr algn="just"/>
            <a:endParaRPr lang="en-US" sz="23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04800" y="76200"/>
            <a:ext cx="8229600" cy="9906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Packet Switching Virtual Circuit Approach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Connection Oriented </a:t>
            </a:r>
          </a:p>
        </p:txBody>
      </p:sp>
      <p:sp>
        <p:nvSpPr>
          <p:cNvPr id="4" name="Rectangle 3"/>
          <p:cNvSpPr/>
          <p:nvPr/>
        </p:nvSpPr>
        <p:spPr>
          <a:xfrm>
            <a:off x="381000" y="1295400"/>
            <a:ext cx="8382000" cy="2308324"/>
          </a:xfrm>
          <a:prstGeom prst="rect">
            <a:avLst/>
          </a:prstGeom>
        </p:spPr>
        <p:txBody>
          <a:bodyPr wrap="square">
            <a:spAutoFit/>
          </a:bodyPr>
          <a:lstStyle/>
          <a:p>
            <a:pPr marL="457200" indent="-457200" algn="just">
              <a:buFont typeface="+mj-lt"/>
              <a:buAutoNum type="arabicPeriod" startAt="4"/>
            </a:pPr>
            <a:r>
              <a:rPr lang="en-US" sz="2400" dirty="0"/>
              <a:t>As in a circuit-switched network, </a:t>
            </a:r>
            <a:r>
              <a:rPr lang="en-US" sz="2400" b="1" dirty="0"/>
              <a:t>all packets follow the same path</a:t>
            </a:r>
            <a:r>
              <a:rPr lang="en-US" sz="2400" dirty="0"/>
              <a:t> established during the connection.</a:t>
            </a:r>
          </a:p>
          <a:p>
            <a:pPr marL="457200" indent="-457200" algn="just">
              <a:buFont typeface="+mj-lt"/>
              <a:buAutoNum type="arabicPeriod" startAt="4"/>
            </a:pPr>
            <a:r>
              <a:rPr lang="en-US" sz="2400" dirty="0"/>
              <a:t>A virtual-circuit network is normally implemented in the data link layer, while a circuit-switched network is implemented in the physical layer and a datagram network in the network layer. But this may change in the future.</a:t>
            </a:r>
            <a:endParaRPr lang="en-US" sz="2300" dirty="0"/>
          </a:p>
        </p:txBody>
      </p:sp>
      <p:pic>
        <p:nvPicPr>
          <p:cNvPr id="6" name="Picture 6"/>
          <p:cNvPicPr>
            <a:picLocks noChangeAspect="1" noChangeArrowheads="1"/>
          </p:cNvPicPr>
          <p:nvPr/>
        </p:nvPicPr>
        <p:blipFill>
          <a:blip r:embed="rId2"/>
          <a:srcRect/>
          <a:stretch>
            <a:fillRect/>
          </a:stretch>
        </p:blipFill>
        <p:spPr bwMode="auto">
          <a:xfrm>
            <a:off x="2971800" y="3657600"/>
            <a:ext cx="5748337" cy="2661574"/>
          </a:xfrm>
          <a:prstGeom prst="rect">
            <a:avLst/>
          </a:prstGeom>
          <a:noFill/>
          <a:ln w="9525">
            <a:noFill/>
            <a:miter lim="800000"/>
            <a:headEnd/>
            <a:tailEnd/>
          </a:ln>
          <a:effectLst/>
        </p:spPr>
      </p:pic>
      <p:sp>
        <p:nvSpPr>
          <p:cNvPr id="7" name="Rectangle 6"/>
          <p:cNvSpPr/>
          <p:nvPr/>
        </p:nvSpPr>
        <p:spPr>
          <a:xfrm>
            <a:off x="6400800" y="6336268"/>
            <a:ext cx="2486643" cy="369332"/>
          </a:xfrm>
          <a:prstGeom prst="rect">
            <a:avLst/>
          </a:prstGeom>
        </p:spPr>
        <p:txBody>
          <a:bodyPr wrap="none">
            <a:spAutoFit/>
          </a:bodyPr>
          <a:lstStyle/>
          <a:p>
            <a:r>
              <a:rPr lang="en-US" b="1" dirty="0">
                <a:latin typeface="Times New Roman" pitchFamily="18" charset="0"/>
              </a:rPr>
              <a:t>Virtual-circuit network</a:t>
            </a:r>
            <a:endParaRPr lang="en-US"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04800" y="76200"/>
            <a:ext cx="8229600" cy="9906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Packet Switching Virtual Circuit Approach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How it is implemented</a:t>
            </a:r>
            <a:r>
              <a:rPr kumimoji="0" lang="en-US" sz="3200" b="1" i="0" strike="noStrike" kern="1200" cap="none" spc="0" normalizeH="0" noProof="0" dirty="0">
                <a:ln>
                  <a:noFill/>
                </a:ln>
                <a:solidFill>
                  <a:srgbClr val="FF0000"/>
                </a:solidFill>
                <a:effectLst/>
                <a:uLnTx/>
                <a:uFillTx/>
                <a:latin typeface="+mj-lt"/>
                <a:ea typeface="+mj-ea"/>
                <a:cs typeface="+mj-cs"/>
              </a:rPr>
              <a:t> ?</a:t>
            </a:r>
            <a:endParaRPr kumimoji="0" lang="en-US" sz="3200" b="1" i="0" u="sng" strike="noStrike" kern="1200" cap="none" spc="0" normalizeH="0" baseline="0" noProof="0" dirty="0">
              <a:ln>
                <a:noFill/>
              </a:ln>
              <a:solidFill>
                <a:srgbClr val="FF0000"/>
              </a:solidFill>
              <a:effectLst/>
              <a:uLnTx/>
              <a:uFillTx/>
              <a:latin typeface="+mj-lt"/>
              <a:ea typeface="+mj-ea"/>
              <a:cs typeface="+mj-cs"/>
            </a:endParaRPr>
          </a:p>
        </p:txBody>
      </p:sp>
      <p:sp>
        <p:nvSpPr>
          <p:cNvPr id="4" name="Rectangle 3"/>
          <p:cNvSpPr/>
          <p:nvPr/>
        </p:nvSpPr>
        <p:spPr>
          <a:xfrm>
            <a:off x="381000" y="1295400"/>
            <a:ext cx="8382000" cy="5262979"/>
          </a:xfrm>
          <a:prstGeom prst="rect">
            <a:avLst/>
          </a:prstGeom>
        </p:spPr>
        <p:txBody>
          <a:bodyPr wrap="square">
            <a:spAutoFit/>
          </a:bodyPr>
          <a:lstStyle/>
          <a:p>
            <a:pPr algn="just"/>
            <a:r>
              <a:rPr lang="en-US" sz="2800" b="1" dirty="0"/>
              <a:t>Addressing: </a:t>
            </a:r>
            <a:r>
              <a:rPr lang="en-US" sz="2800" dirty="0"/>
              <a:t>In a virtual-circuit network, two types of addressing are involved: </a:t>
            </a:r>
            <a:r>
              <a:rPr lang="en-US" sz="2800" dirty="0">
                <a:solidFill>
                  <a:srgbClr val="FF0000"/>
                </a:solidFill>
              </a:rPr>
              <a:t>global and local </a:t>
            </a:r>
            <a:r>
              <a:rPr lang="en-US" sz="2800" dirty="0"/>
              <a:t>(virtual-circuit identifier).</a:t>
            </a:r>
          </a:p>
          <a:p>
            <a:pPr algn="just"/>
            <a:endParaRPr lang="en-US" sz="2800" dirty="0"/>
          </a:p>
          <a:p>
            <a:pPr algn="just"/>
            <a:r>
              <a:rPr lang="en-US" sz="2800" b="1" dirty="0"/>
              <a:t>Global Addressing</a:t>
            </a:r>
            <a:r>
              <a:rPr lang="en-US" sz="2800" dirty="0"/>
              <a:t>: A </a:t>
            </a:r>
            <a:r>
              <a:rPr lang="en-US" sz="2800" dirty="0">
                <a:solidFill>
                  <a:srgbClr val="FF0000"/>
                </a:solidFill>
              </a:rPr>
              <a:t>source or a destination IP address </a:t>
            </a:r>
            <a:r>
              <a:rPr lang="en-US" sz="2800" dirty="0"/>
              <a:t>is considered to be global address.</a:t>
            </a:r>
          </a:p>
          <a:p>
            <a:pPr algn="just"/>
            <a:r>
              <a:rPr lang="en-US" sz="2800" b="1" dirty="0"/>
              <a:t>Virtual-Circuit Identifier: </a:t>
            </a:r>
            <a:r>
              <a:rPr lang="en-US" sz="2800" u="sng" dirty="0"/>
              <a:t>The identifier that is actually used for data transfer is called the virtual-circuit identifier (VCI)</a:t>
            </a:r>
            <a:r>
              <a:rPr lang="en-US" sz="2800" dirty="0"/>
              <a:t>. </a:t>
            </a:r>
            <a:r>
              <a:rPr lang="en-US" sz="2800" dirty="0">
                <a:solidFill>
                  <a:srgbClr val="FF0000"/>
                </a:solidFill>
              </a:rPr>
              <a:t>A VCI, unlike a global address, is a small number that has only switch scope</a:t>
            </a:r>
            <a:r>
              <a:rPr lang="en-US" sz="2800" dirty="0"/>
              <a:t>. It is used by a frame between two switches. When a frame arrives at a switch, it has a VCI; when it leaves, it has a different VCI. </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1426"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1427"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1428" name="Text Box 4"/>
          <p:cNvSpPr txBox="1">
            <a:spLocks noChangeArrowheads="1"/>
          </p:cNvSpPr>
          <p:nvPr/>
        </p:nvSpPr>
        <p:spPr bwMode="auto">
          <a:xfrm>
            <a:off x="304800" y="381000"/>
            <a:ext cx="6145465" cy="461665"/>
          </a:xfrm>
          <a:prstGeom prst="rect">
            <a:avLst/>
          </a:prstGeom>
          <a:noFill/>
          <a:ln w="9525">
            <a:noFill/>
            <a:miter lim="800000"/>
            <a:headEnd/>
            <a:tailEnd/>
          </a:ln>
          <a:effectLst/>
        </p:spPr>
        <p:txBody>
          <a:bodyPr wrap="none">
            <a:spAutoFit/>
          </a:bodyPr>
          <a:lstStyle/>
          <a:p>
            <a:r>
              <a:rPr lang="en-US" sz="2400" b="1" u="sng" dirty="0">
                <a:latin typeface="Times New Roman" pitchFamily="18" charset="0"/>
              </a:rPr>
              <a:t>Switch and tables in a virtual-circuit network</a:t>
            </a:r>
          </a:p>
        </p:txBody>
      </p:sp>
      <p:sp>
        <p:nvSpPr>
          <p:cNvPr id="871429" name="Line 5"/>
          <p:cNvSpPr>
            <a:spLocks noChangeShapeType="1"/>
          </p:cNvSpPr>
          <p:nvPr/>
        </p:nvSpPr>
        <p:spPr bwMode="auto">
          <a:xfrm>
            <a:off x="152400" y="6324600"/>
            <a:ext cx="8763000" cy="0"/>
          </a:xfrm>
          <a:prstGeom prst="line">
            <a:avLst/>
          </a:prstGeom>
          <a:noFill/>
          <a:ln w="76200">
            <a:solidFill>
              <a:schemeClr val="hlink"/>
            </a:solidFill>
            <a:round/>
            <a:headEnd/>
            <a:tailEnd/>
          </a:ln>
          <a:effectLst/>
        </p:spPr>
        <p:txBody>
          <a:bodyPr/>
          <a:lstStyle/>
          <a:p>
            <a:endParaRPr lang="en-US"/>
          </a:p>
        </p:txBody>
      </p:sp>
      <p:pic>
        <p:nvPicPr>
          <p:cNvPr id="871430" name="Picture 6"/>
          <p:cNvPicPr>
            <a:picLocks noChangeAspect="1" noChangeArrowheads="1"/>
          </p:cNvPicPr>
          <p:nvPr/>
        </p:nvPicPr>
        <p:blipFill>
          <a:blip r:embed="rId3"/>
          <a:srcRect/>
          <a:stretch>
            <a:fillRect/>
          </a:stretch>
        </p:blipFill>
        <p:spPr bwMode="auto">
          <a:xfrm>
            <a:off x="609600" y="1196975"/>
            <a:ext cx="7404100" cy="5051425"/>
          </a:xfrm>
          <a:prstGeom prst="rect">
            <a:avLst/>
          </a:prstGeom>
          <a:noFill/>
          <a:ln w="9525">
            <a:noFill/>
            <a:miter lim="800000"/>
            <a:headEnd/>
            <a:tailEnd/>
          </a:ln>
          <a:effec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2450"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2451"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2452" name="Text Box 4"/>
          <p:cNvSpPr txBox="1">
            <a:spLocks noChangeArrowheads="1"/>
          </p:cNvSpPr>
          <p:nvPr/>
        </p:nvSpPr>
        <p:spPr bwMode="auto">
          <a:xfrm>
            <a:off x="304800" y="381000"/>
            <a:ext cx="8441029" cy="461665"/>
          </a:xfrm>
          <a:prstGeom prst="rect">
            <a:avLst/>
          </a:prstGeom>
          <a:noFill/>
          <a:ln w="9525">
            <a:noFill/>
            <a:miter lim="800000"/>
            <a:headEnd/>
            <a:tailEnd/>
          </a:ln>
          <a:effectLst/>
        </p:spPr>
        <p:txBody>
          <a:bodyPr wrap="none">
            <a:spAutoFit/>
          </a:bodyPr>
          <a:lstStyle/>
          <a:p>
            <a:r>
              <a:rPr lang="en-US" sz="2400" b="1" u="sng" dirty="0">
                <a:latin typeface="Times New Roman" pitchFamily="18" charset="0"/>
              </a:rPr>
              <a:t>Source-to-destination data transfer in a virtual-circuit network</a:t>
            </a:r>
          </a:p>
        </p:txBody>
      </p:sp>
      <p:sp>
        <p:nvSpPr>
          <p:cNvPr id="872453" name="Line 5"/>
          <p:cNvSpPr>
            <a:spLocks noChangeShapeType="1"/>
          </p:cNvSpPr>
          <p:nvPr/>
        </p:nvSpPr>
        <p:spPr bwMode="auto">
          <a:xfrm>
            <a:off x="152400" y="6400800"/>
            <a:ext cx="8763000" cy="0"/>
          </a:xfrm>
          <a:prstGeom prst="line">
            <a:avLst/>
          </a:prstGeom>
          <a:noFill/>
          <a:ln w="76200">
            <a:solidFill>
              <a:schemeClr val="hlink"/>
            </a:solidFill>
            <a:round/>
            <a:headEnd/>
            <a:tailEnd/>
          </a:ln>
          <a:effectLst/>
        </p:spPr>
        <p:txBody>
          <a:bodyPr/>
          <a:lstStyle/>
          <a:p>
            <a:endParaRPr lang="en-US"/>
          </a:p>
        </p:txBody>
      </p:sp>
      <p:pic>
        <p:nvPicPr>
          <p:cNvPr id="872457" name="Picture 9"/>
          <p:cNvPicPr>
            <a:picLocks noChangeAspect="1" noChangeArrowheads="1"/>
          </p:cNvPicPr>
          <p:nvPr/>
        </p:nvPicPr>
        <p:blipFill>
          <a:blip r:embed="rId3"/>
          <a:srcRect/>
          <a:stretch>
            <a:fillRect/>
          </a:stretch>
        </p:blipFill>
        <p:spPr bwMode="auto">
          <a:xfrm>
            <a:off x="868363" y="1211263"/>
            <a:ext cx="7513637" cy="4046537"/>
          </a:xfrm>
          <a:prstGeom prst="rect">
            <a:avLst/>
          </a:prstGeom>
          <a:noFill/>
          <a:ln w="9525">
            <a:noFill/>
            <a:miter lim="800000"/>
            <a:headEnd/>
            <a:tailEnd/>
          </a:ln>
          <a:effectLst/>
        </p:spPr>
      </p:pic>
      <p:sp>
        <p:nvSpPr>
          <p:cNvPr id="8" name="Rectangle 7"/>
          <p:cNvSpPr/>
          <p:nvPr/>
        </p:nvSpPr>
        <p:spPr>
          <a:xfrm>
            <a:off x="228600" y="5355104"/>
            <a:ext cx="8686800" cy="969496"/>
          </a:xfrm>
          <a:prstGeom prst="rect">
            <a:avLst/>
          </a:prstGeom>
        </p:spPr>
        <p:txBody>
          <a:bodyPr wrap="square">
            <a:spAutoFit/>
          </a:bodyPr>
          <a:lstStyle/>
          <a:p>
            <a:pPr algn="just"/>
            <a:r>
              <a:rPr lang="en-US" sz="1900" b="1" dirty="0"/>
              <a:t>The following figure shows a frame arriving at port 1 with a VCI of 14. When the frame arrives, the switch looks in its table to find port 1 and a VCI of 14. When it is found, the switch knows to change the VCI </a:t>
            </a:r>
            <a:r>
              <a:rPr lang="en-US" sz="1900" b="1"/>
              <a:t>to 66 </a:t>
            </a:r>
            <a:r>
              <a:rPr lang="en-US" sz="1900" b="1" dirty="0"/>
              <a:t>and send out the frame from port 3.</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04800" y="76200"/>
            <a:ext cx="8229600" cy="9906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Packet Switching Virtual Circuit Approach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How Virtual Circuit is Established</a:t>
            </a:r>
            <a:r>
              <a:rPr lang="en-US" sz="3200" b="1" dirty="0">
                <a:solidFill>
                  <a:srgbClr val="FF0000"/>
                </a:solidFill>
                <a:latin typeface="+mj-lt"/>
                <a:ea typeface="+mj-ea"/>
                <a:cs typeface="+mj-cs"/>
              </a:rPr>
              <a:t> ?</a:t>
            </a:r>
            <a:endParaRPr kumimoji="0" lang="en-US" sz="3200" b="1" i="0" u="sng" strike="noStrike" kern="1200" cap="none" spc="0" normalizeH="0" baseline="0" noProof="0" dirty="0">
              <a:ln>
                <a:noFill/>
              </a:ln>
              <a:solidFill>
                <a:srgbClr val="FF0000"/>
              </a:solidFill>
              <a:effectLst/>
              <a:uLnTx/>
              <a:uFillTx/>
              <a:latin typeface="+mj-lt"/>
              <a:ea typeface="+mj-ea"/>
              <a:cs typeface="+mj-cs"/>
            </a:endParaRPr>
          </a:p>
        </p:txBody>
      </p:sp>
      <p:sp>
        <p:nvSpPr>
          <p:cNvPr id="4" name="Rectangle 3"/>
          <p:cNvSpPr/>
          <p:nvPr/>
        </p:nvSpPr>
        <p:spPr>
          <a:xfrm>
            <a:off x="381000" y="1295400"/>
            <a:ext cx="8382000" cy="4572000"/>
          </a:xfrm>
          <a:prstGeom prst="rect">
            <a:avLst/>
          </a:prstGeom>
        </p:spPr>
        <p:txBody>
          <a:bodyPr wrap="square">
            <a:spAutoFit/>
          </a:bodyPr>
          <a:lstStyle/>
          <a:p>
            <a:pPr algn="just"/>
            <a:r>
              <a:rPr lang="en-US" sz="2800" b="1" dirty="0"/>
              <a:t>Three Phases:</a:t>
            </a:r>
          </a:p>
          <a:p>
            <a:pPr algn="just"/>
            <a:r>
              <a:rPr lang="en-US" sz="2800" dirty="0"/>
              <a:t>As in a circuit-switched network, a source and destination need to go through three phases in a virtual-circuit network: </a:t>
            </a:r>
            <a:r>
              <a:rPr lang="en-US" sz="2800" dirty="0">
                <a:solidFill>
                  <a:srgbClr val="FF0000"/>
                </a:solidFill>
              </a:rPr>
              <a:t>setup, data transfer, and teardown</a:t>
            </a:r>
            <a:r>
              <a:rPr lang="en-US" sz="2800" dirty="0"/>
              <a:t>.</a:t>
            </a:r>
          </a:p>
          <a:p>
            <a:pPr algn="just"/>
            <a:r>
              <a:rPr lang="en-US" sz="2800" b="1" u="sng" dirty="0"/>
              <a:t>Setup phase</a:t>
            </a:r>
            <a:r>
              <a:rPr lang="en-US" sz="2800" dirty="0"/>
              <a:t>, the source and destination use their global addresses to help switches make table entries for the connection.</a:t>
            </a:r>
          </a:p>
          <a:p>
            <a:pPr algn="just"/>
            <a:r>
              <a:rPr lang="en-US" sz="2800" dirty="0"/>
              <a:t>In the </a:t>
            </a:r>
            <a:r>
              <a:rPr lang="en-US" sz="2800" b="1" u="sng" dirty="0"/>
              <a:t>teardown phase</a:t>
            </a:r>
            <a:r>
              <a:rPr lang="en-US" sz="2800" dirty="0"/>
              <a:t>, the source and destination inform the switches to delete the corresponding entry.</a:t>
            </a:r>
          </a:p>
          <a:p>
            <a:pPr algn="just"/>
            <a:r>
              <a:rPr lang="en-US" sz="2800" b="1" u="sng" dirty="0"/>
              <a:t>Data transfer</a:t>
            </a:r>
            <a:r>
              <a:rPr lang="en-US" sz="2800" dirty="0"/>
              <a:t> occurs between these two phases.</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04800" y="76200"/>
            <a:ext cx="8229600" cy="9906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Packet Switching Virtual Circuit Approach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How Virtual Circuit is Established</a:t>
            </a:r>
            <a:r>
              <a:rPr lang="en-US" sz="3200" b="1" dirty="0">
                <a:solidFill>
                  <a:srgbClr val="FF0000"/>
                </a:solidFill>
                <a:latin typeface="+mj-lt"/>
                <a:ea typeface="+mj-ea"/>
                <a:cs typeface="+mj-cs"/>
              </a:rPr>
              <a:t> ?</a:t>
            </a:r>
            <a:endParaRPr kumimoji="0" lang="en-US" sz="3200" b="1" i="0" u="sng" strike="noStrike" kern="1200" cap="none" spc="0" normalizeH="0" baseline="0" noProof="0" dirty="0">
              <a:ln>
                <a:noFill/>
              </a:ln>
              <a:solidFill>
                <a:srgbClr val="FF0000"/>
              </a:solidFill>
              <a:effectLst/>
              <a:uLnTx/>
              <a:uFillTx/>
              <a:latin typeface="+mj-lt"/>
              <a:ea typeface="+mj-ea"/>
              <a:cs typeface="+mj-cs"/>
            </a:endParaRPr>
          </a:p>
        </p:txBody>
      </p:sp>
      <p:sp>
        <p:nvSpPr>
          <p:cNvPr id="4" name="Rectangle 3"/>
          <p:cNvSpPr/>
          <p:nvPr/>
        </p:nvSpPr>
        <p:spPr>
          <a:xfrm>
            <a:off x="381000" y="1295400"/>
            <a:ext cx="8382000" cy="4832092"/>
          </a:xfrm>
          <a:prstGeom prst="rect">
            <a:avLst/>
          </a:prstGeom>
        </p:spPr>
        <p:txBody>
          <a:bodyPr wrap="square">
            <a:spAutoFit/>
          </a:bodyPr>
          <a:lstStyle/>
          <a:p>
            <a:pPr algn="just"/>
            <a:r>
              <a:rPr lang="en-US" sz="2800" b="1" dirty="0"/>
              <a:t>Setup Phase: </a:t>
            </a:r>
          </a:p>
          <a:p>
            <a:pPr algn="just"/>
            <a:r>
              <a:rPr lang="en-US" sz="2800" dirty="0"/>
              <a:t>In the setup phase, a switch creates an entry for a virtual circuit. For example, suppose source A needs to create a virtual circuit to B. </a:t>
            </a:r>
            <a:r>
              <a:rPr lang="en-US" sz="2800" dirty="0">
                <a:solidFill>
                  <a:srgbClr val="FF0000"/>
                </a:solidFill>
              </a:rPr>
              <a:t>Two steps are required: the setup request and the acknowledgment</a:t>
            </a:r>
            <a:r>
              <a:rPr lang="en-US" sz="2800" dirty="0"/>
              <a:t>.</a:t>
            </a:r>
          </a:p>
          <a:p>
            <a:pPr algn="just"/>
            <a:endParaRPr lang="en-US" sz="2800" b="1" dirty="0"/>
          </a:p>
          <a:p>
            <a:pPr algn="just"/>
            <a:r>
              <a:rPr lang="en-US" sz="2800" b="1" u="sng" dirty="0"/>
              <a:t>Setup Request</a:t>
            </a:r>
            <a:r>
              <a:rPr lang="en-US" sz="2800" b="1" dirty="0"/>
              <a:t>:</a:t>
            </a:r>
            <a:r>
              <a:rPr lang="en-US" sz="2800" dirty="0"/>
              <a:t>  A setup request frame is sent from the source to the destination. </a:t>
            </a:r>
          </a:p>
          <a:p>
            <a:pPr algn="just"/>
            <a:r>
              <a:rPr lang="en-US" sz="2800" b="1" u="sng" dirty="0"/>
              <a:t>Acknowledgment</a:t>
            </a:r>
            <a:r>
              <a:rPr lang="en-US" sz="2800" b="1" dirty="0"/>
              <a:t>:</a:t>
            </a:r>
            <a:r>
              <a:rPr lang="en-US" sz="2800" dirty="0"/>
              <a:t> A special frame, called the acknowledgment frame, completes the entries in the switching tables. </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04800" y="76200"/>
            <a:ext cx="8229600" cy="9906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Packet Switching Virtual Circuit Approach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How Virtual Circuit is Established</a:t>
            </a:r>
            <a:r>
              <a:rPr lang="en-US" sz="3200" b="1" dirty="0">
                <a:solidFill>
                  <a:srgbClr val="FF0000"/>
                </a:solidFill>
                <a:latin typeface="+mj-lt"/>
                <a:ea typeface="+mj-ea"/>
                <a:cs typeface="+mj-cs"/>
              </a:rPr>
              <a:t> ?</a:t>
            </a:r>
            <a:endParaRPr kumimoji="0" lang="en-US" sz="3200" b="1" i="0" u="sng" strike="noStrike" kern="1200" cap="none" spc="0" normalizeH="0" baseline="0" noProof="0" dirty="0">
              <a:ln>
                <a:noFill/>
              </a:ln>
              <a:solidFill>
                <a:srgbClr val="FF0000"/>
              </a:solidFill>
              <a:effectLst/>
              <a:uLnTx/>
              <a:uFillTx/>
              <a:latin typeface="+mj-lt"/>
              <a:ea typeface="+mj-ea"/>
              <a:cs typeface="+mj-cs"/>
            </a:endParaRPr>
          </a:p>
        </p:txBody>
      </p:sp>
      <p:sp>
        <p:nvSpPr>
          <p:cNvPr id="6" name="Rectangle 5"/>
          <p:cNvSpPr/>
          <p:nvPr/>
        </p:nvSpPr>
        <p:spPr>
          <a:xfrm>
            <a:off x="457200" y="1219200"/>
            <a:ext cx="8382000" cy="4893647"/>
          </a:xfrm>
          <a:prstGeom prst="rect">
            <a:avLst/>
          </a:prstGeom>
        </p:spPr>
        <p:txBody>
          <a:bodyPr wrap="square">
            <a:spAutoFit/>
          </a:bodyPr>
          <a:lstStyle/>
          <a:p>
            <a:pPr marL="342900" indent="-342900" algn="just"/>
            <a:r>
              <a:rPr lang="en-US" sz="2400" b="1" u="sng" dirty="0">
                <a:solidFill>
                  <a:srgbClr val="FF0000"/>
                </a:solidFill>
              </a:rPr>
              <a:t>Consider the example diagram of slide 33</a:t>
            </a:r>
          </a:p>
          <a:p>
            <a:pPr marL="342900" indent="-342900" algn="just">
              <a:buFont typeface="+mj-lt"/>
              <a:buAutoNum type="alphaUcPeriod"/>
            </a:pPr>
            <a:r>
              <a:rPr lang="en-US" sz="2400" dirty="0"/>
              <a:t>Source A sends a setup frame to switch 1.</a:t>
            </a:r>
          </a:p>
          <a:p>
            <a:pPr marL="342900" indent="-342900" algn="just">
              <a:buFont typeface="+mj-lt"/>
              <a:buAutoNum type="alphaUcPeriod"/>
            </a:pPr>
            <a:r>
              <a:rPr lang="en-US" sz="2400" dirty="0"/>
              <a:t>Switch 1 receives the setup request frame. It knows that a frame going from A to B goes out through port 3. The switch, in the setup phase, acts as a packet switch and it has a routing table which is different from the switching table. For the moment, assume that it knows the output port. The switch creates an entry in its table for this virtual circuit, but it is only able to fill three of the four columns. The switch assigns the incoming port (1) and chooses an available incoming VCI (14) and the outgoing port (3). It does not yet know the outgoing VCI, which will be found during the acknowledgment step. The switch then forwards the frame through port 3 to switch 2.</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04800" y="76200"/>
            <a:ext cx="8229600" cy="9906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Packet Switching Virtual Circuit Approach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How Virtual Circuit is Established</a:t>
            </a:r>
            <a:r>
              <a:rPr lang="en-US" sz="3200" b="1" dirty="0">
                <a:solidFill>
                  <a:srgbClr val="FF0000"/>
                </a:solidFill>
                <a:latin typeface="+mj-lt"/>
                <a:ea typeface="+mj-ea"/>
                <a:cs typeface="+mj-cs"/>
              </a:rPr>
              <a:t> ?</a:t>
            </a:r>
            <a:endParaRPr kumimoji="0" lang="en-US" sz="3200" b="1" i="0" u="sng" strike="noStrike" kern="1200" cap="none" spc="0" normalizeH="0" baseline="0" noProof="0" dirty="0">
              <a:ln>
                <a:noFill/>
              </a:ln>
              <a:solidFill>
                <a:srgbClr val="FF0000"/>
              </a:solidFill>
              <a:effectLst/>
              <a:uLnTx/>
              <a:uFillTx/>
              <a:latin typeface="+mj-lt"/>
              <a:ea typeface="+mj-ea"/>
              <a:cs typeface="+mj-cs"/>
            </a:endParaRPr>
          </a:p>
        </p:txBody>
      </p:sp>
      <p:sp>
        <p:nvSpPr>
          <p:cNvPr id="6" name="Rectangle 5"/>
          <p:cNvSpPr/>
          <p:nvPr/>
        </p:nvSpPr>
        <p:spPr>
          <a:xfrm>
            <a:off x="457200" y="1219200"/>
            <a:ext cx="8382000" cy="5632311"/>
          </a:xfrm>
          <a:prstGeom prst="rect">
            <a:avLst/>
          </a:prstGeom>
        </p:spPr>
        <p:txBody>
          <a:bodyPr wrap="square">
            <a:spAutoFit/>
          </a:bodyPr>
          <a:lstStyle/>
          <a:p>
            <a:pPr marL="342900" indent="-342900" algn="just"/>
            <a:r>
              <a:rPr lang="en-US" sz="2400" b="1" u="sng" dirty="0">
                <a:solidFill>
                  <a:srgbClr val="FF0000"/>
                </a:solidFill>
              </a:rPr>
              <a:t>Consider the example diagram of slide 33</a:t>
            </a:r>
          </a:p>
          <a:p>
            <a:pPr marL="457200" indent="-457200" algn="just">
              <a:buFont typeface="+mj-lt"/>
              <a:buAutoNum type="alphaUcPeriod" startAt="3"/>
            </a:pPr>
            <a:r>
              <a:rPr lang="en-US" sz="2400" dirty="0"/>
              <a:t>Switch 2 receives the setup request frame. The same events happen here as at switch 1 and three columns of the table are completed: in this case, incoming port (l), incoming VCI (66), and outgoing port (2).</a:t>
            </a:r>
          </a:p>
          <a:p>
            <a:pPr marL="457200" indent="-457200" algn="just">
              <a:buFont typeface="+mj-lt"/>
              <a:buAutoNum type="alphaUcPeriod" startAt="3"/>
            </a:pPr>
            <a:r>
              <a:rPr lang="en-US" sz="2400" dirty="0"/>
              <a:t>Switch 3 receives the setup request frame. Again, three columns are completed: incoming port (2), incoming VCI (22), and outgoing port (3).</a:t>
            </a:r>
          </a:p>
          <a:p>
            <a:pPr marL="457200" indent="-457200" algn="just">
              <a:buFont typeface="+mj-lt"/>
              <a:buAutoNum type="alphaUcPeriod" startAt="3"/>
            </a:pPr>
            <a:r>
              <a:rPr lang="en-US" sz="2400" dirty="0"/>
              <a:t>Destination B receives the setup frame, and if it is ready to receive frames from A, it assigns a VCI to the incoming frames that come from A, in this case 77. This VCI lets the destination know that the frames come from A, and no other sources.</a:t>
            </a:r>
          </a:p>
          <a:p>
            <a:pPr marL="457200" indent="-457200" algn="just">
              <a:buFont typeface="+mj-lt"/>
              <a:buAutoNum type="alphaUcPeriod" startAt="3"/>
            </a:pPr>
            <a:endParaRPr lang="en-US" sz="2400" dirty="0"/>
          </a:p>
          <a:p>
            <a:pPr marL="457200" indent="-457200" algn="just"/>
            <a:r>
              <a:rPr lang="en-US" sz="2400" b="1" u="sng" dirty="0">
                <a:solidFill>
                  <a:srgbClr val="FF0000"/>
                </a:solidFill>
              </a:rPr>
              <a:t>See the example diagram in next slide for setup phase</a:t>
            </a:r>
          </a:p>
          <a:p>
            <a:pPr marL="457200" indent="-457200" algn="just"/>
            <a:endParaRPr lang="en-US" sz="24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3474"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3475"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3476" name="Text Box 4"/>
          <p:cNvSpPr txBox="1">
            <a:spLocks noChangeArrowheads="1"/>
          </p:cNvSpPr>
          <p:nvPr/>
        </p:nvSpPr>
        <p:spPr bwMode="auto">
          <a:xfrm>
            <a:off x="304800" y="381000"/>
            <a:ext cx="5634941" cy="461665"/>
          </a:xfrm>
          <a:prstGeom prst="rect">
            <a:avLst/>
          </a:prstGeom>
          <a:noFill/>
          <a:ln w="9525">
            <a:noFill/>
            <a:miter lim="800000"/>
            <a:headEnd/>
            <a:tailEnd/>
          </a:ln>
          <a:effectLst/>
        </p:spPr>
        <p:txBody>
          <a:bodyPr wrap="none">
            <a:spAutoFit/>
          </a:bodyPr>
          <a:lstStyle/>
          <a:p>
            <a:r>
              <a:rPr lang="en-US" sz="2400" b="1" u="sng" dirty="0">
                <a:latin typeface="Times New Roman" pitchFamily="18" charset="0"/>
              </a:rPr>
              <a:t>Setup request in a virtual-circuit network</a:t>
            </a:r>
          </a:p>
        </p:txBody>
      </p:sp>
      <p:sp>
        <p:nvSpPr>
          <p:cNvPr id="873477" name="Line 5"/>
          <p:cNvSpPr>
            <a:spLocks noChangeShapeType="1"/>
          </p:cNvSpPr>
          <p:nvPr/>
        </p:nvSpPr>
        <p:spPr bwMode="auto">
          <a:xfrm>
            <a:off x="152400" y="6400800"/>
            <a:ext cx="8763000" cy="0"/>
          </a:xfrm>
          <a:prstGeom prst="line">
            <a:avLst/>
          </a:prstGeom>
          <a:noFill/>
          <a:ln w="76200">
            <a:solidFill>
              <a:schemeClr val="hlink"/>
            </a:solidFill>
            <a:round/>
            <a:headEnd/>
            <a:tailEnd/>
          </a:ln>
          <a:effectLst/>
        </p:spPr>
        <p:txBody>
          <a:bodyPr/>
          <a:lstStyle/>
          <a:p>
            <a:endParaRPr lang="en-US"/>
          </a:p>
        </p:txBody>
      </p:sp>
      <p:pic>
        <p:nvPicPr>
          <p:cNvPr id="873478" name="Picture 6"/>
          <p:cNvPicPr>
            <a:picLocks noChangeAspect="1" noChangeArrowheads="1"/>
          </p:cNvPicPr>
          <p:nvPr/>
        </p:nvPicPr>
        <p:blipFill>
          <a:blip r:embed="rId3"/>
          <a:srcRect/>
          <a:stretch>
            <a:fillRect/>
          </a:stretch>
        </p:blipFill>
        <p:spPr bwMode="auto">
          <a:xfrm>
            <a:off x="609600" y="1647825"/>
            <a:ext cx="7696200" cy="3914775"/>
          </a:xfrm>
          <a:prstGeom prst="rect">
            <a:avLst/>
          </a:prstGeom>
          <a:noFill/>
          <a:ln w="9525">
            <a:noFill/>
            <a:miter lim="800000"/>
            <a:headEnd/>
            <a:tailEnd/>
          </a:ln>
          <a:effectLst/>
        </p:spPr>
      </p:pic>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04800" y="76200"/>
            <a:ext cx="8229600" cy="9906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Packet Switching Virtual Circuit Approach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How Virtual Circuit is Established</a:t>
            </a:r>
            <a:r>
              <a:rPr lang="en-US" sz="3200" b="1" dirty="0">
                <a:solidFill>
                  <a:srgbClr val="FF0000"/>
                </a:solidFill>
                <a:latin typeface="+mj-lt"/>
                <a:ea typeface="+mj-ea"/>
                <a:cs typeface="+mj-cs"/>
              </a:rPr>
              <a:t> ?</a:t>
            </a:r>
            <a:endParaRPr kumimoji="0" lang="en-US" sz="3200" b="1" i="0" u="sng" strike="noStrike" kern="1200" cap="none" spc="0" normalizeH="0" baseline="0" noProof="0" dirty="0">
              <a:ln>
                <a:noFill/>
              </a:ln>
              <a:solidFill>
                <a:srgbClr val="FF0000"/>
              </a:solidFill>
              <a:effectLst/>
              <a:uLnTx/>
              <a:uFillTx/>
              <a:latin typeface="+mj-lt"/>
              <a:ea typeface="+mj-ea"/>
              <a:cs typeface="+mj-cs"/>
            </a:endParaRPr>
          </a:p>
        </p:txBody>
      </p:sp>
      <p:sp>
        <p:nvSpPr>
          <p:cNvPr id="6" name="Rectangle 5"/>
          <p:cNvSpPr/>
          <p:nvPr/>
        </p:nvSpPr>
        <p:spPr>
          <a:xfrm>
            <a:off x="457200" y="1219200"/>
            <a:ext cx="8382000" cy="5262979"/>
          </a:xfrm>
          <a:prstGeom prst="rect">
            <a:avLst/>
          </a:prstGeom>
        </p:spPr>
        <p:txBody>
          <a:bodyPr wrap="square">
            <a:spAutoFit/>
          </a:bodyPr>
          <a:lstStyle/>
          <a:p>
            <a:pPr marL="457200" indent="-457200" algn="just"/>
            <a:r>
              <a:rPr lang="en-US" sz="2400" b="1" u="sng" dirty="0">
                <a:solidFill>
                  <a:srgbClr val="FF0000"/>
                </a:solidFill>
              </a:rPr>
              <a:t>Consider the example diagram of slide 38</a:t>
            </a:r>
          </a:p>
          <a:p>
            <a:pPr marL="457200" indent="-457200" algn="just"/>
            <a:endParaRPr lang="en-US" sz="2400" dirty="0"/>
          </a:p>
          <a:p>
            <a:pPr marL="457200" indent="-457200" algn="just">
              <a:buFont typeface="+mj-lt"/>
              <a:buAutoNum type="alphaUcPeriod"/>
            </a:pPr>
            <a:r>
              <a:rPr lang="en-US" sz="2400" dirty="0"/>
              <a:t>The destination sends an acknowledgment to switch 3. The acknowledgment carries the global source and destination addresses so the switch knows which entry in the table is to be completed. The frame also carries VCI 77, chosen by the destination as the incoming VCI for frames from A. Switch 3 uses this VCI to complete the outgoing VCI column for this entry. Note that 77 is the incoming VCI for destination B, but the outgoing VCI for switch</a:t>
            </a:r>
          </a:p>
          <a:p>
            <a:pPr marL="457200" indent="-457200" algn="just">
              <a:buFont typeface="+mj-lt"/>
              <a:buAutoNum type="alphaUcPeriod"/>
            </a:pPr>
            <a:r>
              <a:rPr lang="en-US" sz="2400" dirty="0"/>
              <a:t>Switch 3 sends an acknowledgment to switch 2 that contains its incoming VCI in the table, chosen in the previous step. Switch 2 uses this as the outgoing VCI in the table.</a:t>
            </a:r>
          </a:p>
          <a:p>
            <a:pPr marL="457200" indent="-457200" algn="just">
              <a:buFont typeface="+mj-lt"/>
              <a:buAutoNum type="alphaUcPeriod"/>
            </a:pPr>
            <a:endParaRPr lang="en-US" sz="24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Rectangle 2"/>
          <p:cNvSpPr txBox="1">
            <a:spLocks noChangeArrowheads="1"/>
          </p:cNvSpPr>
          <p:nvPr/>
        </p:nvSpPr>
        <p:spPr>
          <a:xfrm>
            <a:off x="304800" y="76200"/>
            <a:ext cx="8229600" cy="9906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Packet Switching Virtual Circuit Approach </a:t>
            </a:r>
          </a:p>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3200" b="1" i="0" u="sng" strike="noStrike" kern="1200" cap="none" spc="0" normalizeH="0" baseline="0" noProof="0" dirty="0">
                <a:ln>
                  <a:noFill/>
                </a:ln>
                <a:solidFill>
                  <a:srgbClr val="FF0000"/>
                </a:solidFill>
                <a:effectLst/>
                <a:uLnTx/>
                <a:uFillTx/>
                <a:latin typeface="+mj-lt"/>
                <a:ea typeface="+mj-ea"/>
                <a:cs typeface="+mj-cs"/>
              </a:rPr>
              <a:t>How Virtual Circuit is Established</a:t>
            </a:r>
            <a:r>
              <a:rPr lang="en-US" sz="3200" b="1" dirty="0">
                <a:solidFill>
                  <a:srgbClr val="FF0000"/>
                </a:solidFill>
                <a:latin typeface="+mj-lt"/>
                <a:ea typeface="+mj-ea"/>
                <a:cs typeface="+mj-cs"/>
              </a:rPr>
              <a:t> ?</a:t>
            </a:r>
            <a:endParaRPr kumimoji="0" lang="en-US" sz="3200" b="1" i="0" u="sng" strike="noStrike" kern="1200" cap="none" spc="0" normalizeH="0" baseline="0" noProof="0" dirty="0">
              <a:ln>
                <a:noFill/>
              </a:ln>
              <a:solidFill>
                <a:srgbClr val="FF0000"/>
              </a:solidFill>
              <a:effectLst/>
              <a:uLnTx/>
              <a:uFillTx/>
              <a:latin typeface="+mj-lt"/>
              <a:ea typeface="+mj-ea"/>
              <a:cs typeface="+mj-cs"/>
            </a:endParaRPr>
          </a:p>
        </p:txBody>
      </p:sp>
      <p:sp>
        <p:nvSpPr>
          <p:cNvPr id="6" name="Rectangle 5"/>
          <p:cNvSpPr/>
          <p:nvPr/>
        </p:nvSpPr>
        <p:spPr>
          <a:xfrm>
            <a:off x="457200" y="1219200"/>
            <a:ext cx="8382000" cy="5262979"/>
          </a:xfrm>
          <a:prstGeom prst="rect">
            <a:avLst/>
          </a:prstGeom>
        </p:spPr>
        <p:txBody>
          <a:bodyPr wrap="square">
            <a:spAutoFit/>
          </a:bodyPr>
          <a:lstStyle/>
          <a:p>
            <a:pPr marL="457200" indent="-457200" algn="just"/>
            <a:r>
              <a:rPr lang="en-US" sz="2400" b="1" u="sng" dirty="0">
                <a:solidFill>
                  <a:srgbClr val="FF0000"/>
                </a:solidFill>
              </a:rPr>
              <a:t>Consider the example diagram of slide 38</a:t>
            </a:r>
          </a:p>
          <a:p>
            <a:pPr marL="457200" indent="-457200" algn="just"/>
            <a:endParaRPr lang="en-US" sz="2400" dirty="0"/>
          </a:p>
          <a:p>
            <a:pPr marL="457200" indent="-457200" algn="just">
              <a:buFont typeface="+mj-lt"/>
              <a:buAutoNum type="alphaUcPeriod" startAt="3"/>
            </a:pPr>
            <a:r>
              <a:rPr lang="en-US" sz="2400" dirty="0"/>
              <a:t>Switch 2 sends an acknowledgment to switch 1 that contains its incoming VCI in the table, chosen in the previous step. Switch 1 uses this as the outgoing VCI in the table.</a:t>
            </a:r>
          </a:p>
          <a:p>
            <a:pPr marL="457200" indent="-457200" algn="just">
              <a:buFont typeface="+mj-lt"/>
              <a:buAutoNum type="alphaUcPeriod" startAt="3"/>
            </a:pPr>
            <a:r>
              <a:rPr lang="en-US" sz="2400" dirty="0"/>
              <a:t>Finally switch 1 sends an acknowledgment to source A that contains its incoming VCI in the table, chosen in the previous step.</a:t>
            </a:r>
          </a:p>
          <a:p>
            <a:pPr marL="457200" indent="-457200" algn="just">
              <a:buFont typeface="+mj-lt"/>
              <a:buAutoNum type="alphaUcPeriod" startAt="3"/>
            </a:pPr>
            <a:r>
              <a:rPr lang="en-US" sz="2400" dirty="0"/>
              <a:t>The source uses this as the outgoing VCI for the data frames to be sent to destination B.</a:t>
            </a:r>
          </a:p>
          <a:p>
            <a:pPr marL="457200" indent="-457200" algn="just">
              <a:buFont typeface="+mj-lt"/>
              <a:buAutoNum type="alphaUcPeriod" startAt="3"/>
            </a:pPr>
            <a:endParaRPr lang="en-US" sz="2400" dirty="0"/>
          </a:p>
          <a:p>
            <a:pPr marL="457200" indent="-457200" algn="r"/>
            <a:r>
              <a:rPr lang="en-US" sz="2400" b="1" u="sng" dirty="0">
                <a:solidFill>
                  <a:srgbClr val="FF0000"/>
                </a:solidFill>
              </a:rPr>
              <a:t>See the example diagram in next slide for setup-</a:t>
            </a:r>
          </a:p>
          <a:p>
            <a:pPr marL="457200" indent="-457200" algn="r"/>
            <a:r>
              <a:rPr lang="en-US" sz="2400" b="1" u="sng" dirty="0">
                <a:solidFill>
                  <a:srgbClr val="FF0000"/>
                </a:solidFill>
              </a:rPr>
              <a:t>acknowledgment phase</a:t>
            </a:r>
          </a:p>
          <a:p>
            <a:pPr marL="457200" indent="-457200" algn="just"/>
            <a:endParaRPr lang="en-US" sz="24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4498"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4499"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4500" name="Text Box 4"/>
          <p:cNvSpPr txBox="1">
            <a:spLocks noChangeArrowheads="1"/>
          </p:cNvSpPr>
          <p:nvPr/>
        </p:nvSpPr>
        <p:spPr bwMode="auto">
          <a:xfrm>
            <a:off x="304800" y="381000"/>
            <a:ext cx="6889258" cy="461665"/>
          </a:xfrm>
          <a:prstGeom prst="rect">
            <a:avLst/>
          </a:prstGeom>
          <a:noFill/>
          <a:ln w="9525">
            <a:noFill/>
            <a:miter lim="800000"/>
            <a:headEnd/>
            <a:tailEnd/>
          </a:ln>
          <a:effectLst/>
        </p:spPr>
        <p:txBody>
          <a:bodyPr wrap="none">
            <a:spAutoFit/>
          </a:bodyPr>
          <a:lstStyle/>
          <a:p>
            <a:r>
              <a:rPr lang="en-US" sz="2400" b="1" u="sng" dirty="0">
                <a:latin typeface="Times New Roman" pitchFamily="18" charset="0"/>
              </a:rPr>
              <a:t>Setup acknowledgment in a virtual-circuit network</a:t>
            </a:r>
          </a:p>
        </p:txBody>
      </p:sp>
      <p:sp>
        <p:nvSpPr>
          <p:cNvPr id="874501" name="Line 5"/>
          <p:cNvSpPr>
            <a:spLocks noChangeShapeType="1"/>
          </p:cNvSpPr>
          <p:nvPr/>
        </p:nvSpPr>
        <p:spPr bwMode="auto">
          <a:xfrm>
            <a:off x="152400" y="6400800"/>
            <a:ext cx="8763000" cy="0"/>
          </a:xfrm>
          <a:prstGeom prst="line">
            <a:avLst/>
          </a:prstGeom>
          <a:noFill/>
          <a:ln w="76200">
            <a:solidFill>
              <a:schemeClr val="hlink"/>
            </a:solidFill>
            <a:round/>
            <a:headEnd/>
            <a:tailEnd/>
          </a:ln>
          <a:effectLst/>
        </p:spPr>
        <p:txBody>
          <a:bodyPr/>
          <a:lstStyle/>
          <a:p>
            <a:endParaRPr lang="en-US"/>
          </a:p>
        </p:txBody>
      </p:sp>
      <p:pic>
        <p:nvPicPr>
          <p:cNvPr id="874502" name="Picture 6"/>
          <p:cNvPicPr>
            <a:picLocks noChangeAspect="1" noChangeArrowheads="1"/>
          </p:cNvPicPr>
          <p:nvPr/>
        </p:nvPicPr>
        <p:blipFill>
          <a:blip r:embed="rId3"/>
          <a:srcRect/>
          <a:stretch>
            <a:fillRect/>
          </a:stretch>
        </p:blipFill>
        <p:spPr bwMode="auto">
          <a:xfrm>
            <a:off x="576263" y="1776413"/>
            <a:ext cx="8034337" cy="3938587"/>
          </a:xfrm>
          <a:prstGeom prst="rect">
            <a:avLst/>
          </a:prstGeom>
          <a:noFill/>
          <a:ln w="9525">
            <a:noFill/>
            <a:miter lim="800000"/>
            <a:headEnd/>
            <a:tailEnd/>
          </a:ln>
          <a:effectLst/>
        </p:spPr>
      </p:pic>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5522"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5523"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5524" name="Text Box 4"/>
          <p:cNvSpPr txBox="1">
            <a:spLocks noChangeArrowheads="1"/>
          </p:cNvSpPr>
          <p:nvPr/>
        </p:nvSpPr>
        <p:spPr bwMode="auto">
          <a:xfrm>
            <a:off x="304800" y="381000"/>
            <a:ext cx="4587346" cy="461665"/>
          </a:xfrm>
          <a:prstGeom prst="rect">
            <a:avLst/>
          </a:prstGeom>
          <a:noFill/>
          <a:ln w="9525">
            <a:noFill/>
            <a:miter lim="800000"/>
            <a:headEnd/>
            <a:tailEnd/>
          </a:ln>
          <a:effectLst/>
        </p:spPr>
        <p:txBody>
          <a:bodyPr wrap="none">
            <a:spAutoFit/>
          </a:bodyPr>
          <a:lstStyle/>
          <a:p>
            <a:r>
              <a:rPr lang="en-US" sz="2400" b="1" u="sng" dirty="0">
                <a:latin typeface="Times New Roman" pitchFamily="18" charset="0"/>
              </a:rPr>
              <a:t>Delay in a virtual-circuit network</a:t>
            </a:r>
          </a:p>
        </p:txBody>
      </p:sp>
      <p:sp>
        <p:nvSpPr>
          <p:cNvPr id="875525" name="Line 5"/>
          <p:cNvSpPr>
            <a:spLocks noChangeShapeType="1"/>
          </p:cNvSpPr>
          <p:nvPr/>
        </p:nvSpPr>
        <p:spPr bwMode="auto">
          <a:xfrm>
            <a:off x="152400" y="6400800"/>
            <a:ext cx="8763000" cy="0"/>
          </a:xfrm>
          <a:prstGeom prst="line">
            <a:avLst/>
          </a:prstGeom>
          <a:noFill/>
          <a:ln w="76200">
            <a:solidFill>
              <a:schemeClr val="hlink"/>
            </a:solidFill>
            <a:round/>
            <a:headEnd/>
            <a:tailEnd/>
          </a:ln>
          <a:effectLst/>
        </p:spPr>
        <p:txBody>
          <a:bodyPr/>
          <a:lstStyle/>
          <a:p>
            <a:endParaRPr lang="en-US"/>
          </a:p>
        </p:txBody>
      </p:sp>
      <p:pic>
        <p:nvPicPr>
          <p:cNvPr id="875526" name="Picture 6"/>
          <p:cNvPicPr>
            <a:picLocks noChangeAspect="1" noChangeArrowheads="1"/>
          </p:cNvPicPr>
          <p:nvPr/>
        </p:nvPicPr>
        <p:blipFill>
          <a:blip r:embed="rId3"/>
          <a:srcRect/>
          <a:stretch>
            <a:fillRect/>
          </a:stretch>
        </p:blipFill>
        <p:spPr bwMode="auto">
          <a:xfrm>
            <a:off x="185738" y="1473200"/>
            <a:ext cx="8729662" cy="4318000"/>
          </a:xfrm>
          <a:prstGeom prst="rect">
            <a:avLst/>
          </a:prstGeom>
          <a:noFill/>
          <a:ln w="9525">
            <a:noFill/>
            <a:miter lim="800000"/>
            <a:headEnd/>
            <a:tailEnd/>
          </a:ln>
          <a:effectLst/>
        </p:spPr>
      </p:pic>
      <p:pic>
        <p:nvPicPr>
          <p:cNvPr id="8194" name="Picture 2"/>
          <p:cNvPicPr>
            <a:picLocks noChangeAspect="1" noChangeArrowheads="1"/>
          </p:cNvPicPr>
          <p:nvPr/>
        </p:nvPicPr>
        <p:blipFill>
          <a:blip r:embed="rId4"/>
          <a:srcRect/>
          <a:stretch>
            <a:fillRect/>
          </a:stretch>
        </p:blipFill>
        <p:spPr bwMode="auto">
          <a:xfrm>
            <a:off x="3429000" y="5791200"/>
            <a:ext cx="4648200" cy="838200"/>
          </a:xfrm>
          <a:prstGeom prst="rect">
            <a:avLst/>
          </a:prstGeom>
          <a:noFill/>
          <a:ln w="9525">
            <a:noFill/>
            <a:miter lim="800000"/>
            <a:headEnd/>
            <a:tailEnd/>
          </a:ln>
          <a:effectLst/>
        </p:spPr>
      </p:pic>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p:cNvPicPr>
            <a:picLocks noChangeAspect="1" noChangeArrowheads="1"/>
          </p:cNvPicPr>
          <p:nvPr/>
        </p:nvPicPr>
        <p:blipFill>
          <a:blip r:embed="rId2"/>
          <a:srcRect/>
          <a:stretch>
            <a:fillRect/>
          </a:stretch>
        </p:blipFill>
        <p:spPr bwMode="auto">
          <a:xfrm>
            <a:off x="990600" y="685800"/>
            <a:ext cx="6581775" cy="3829050"/>
          </a:xfrm>
          <a:prstGeom prst="rect">
            <a:avLst/>
          </a:prstGeom>
          <a:noFill/>
          <a:ln w="9525">
            <a:noFill/>
            <a:miter lim="800000"/>
            <a:headEnd/>
            <a:tailEnd/>
          </a:ln>
          <a:effectLst/>
        </p:spPr>
      </p:pic>
      <p:pic>
        <p:nvPicPr>
          <p:cNvPr id="10243" name="Picture 3"/>
          <p:cNvPicPr>
            <a:picLocks noChangeAspect="1" noChangeArrowheads="1"/>
          </p:cNvPicPr>
          <p:nvPr/>
        </p:nvPicPr>
        <p:blipFill>
          <a:blip r:embed="rId3"/>
          <a:srcRect/>
          <a:stretch>
            <a:fillRect/>
          </a:stretch>
        </p:blipFill>
        <p:spPr bwMode="auto">
          <a:xfrm>
            <a:off x="1371600" y="4724400"/>
            <a:ext cx="3981450" cy="381000"/>
          </a:xfrm>
          <a:prstGeom prst="rect">
            <a:avLst/>
          </a:prstGeom>
          <a:noFill/>
          <a:ln w="9525">
            <a:noFill/>
            <a:miter lim="800000"/>
            <a:headEnd/>
            <a:tailEnd/>
          </a:ln>
          <a:effectLst/>
        </p:spPr>
      </p:pic>
      <p:pic>
        <p:nvPicPr>
          <p:cNvPr id="10244" name="Picture 4"/>
          <p:cNvPicPr>
            <a:picLocks noChangeAspect="1" noChangeArrowheads="1"/>
          </p:cNvPicPr>
          <p:nvPr/>
        </p:nvPicPr>
        <p:blipFill>
          <a:blip r:embed="rId4"/>
          <a:srcRect/>
          <a:stretch>
            <a:fillRect/>
          </a:stretch>
        </p:blipFill>
        <p:spPr bwMode="auto">
          <a:xfrm>
            <a:off x="4191000" y="5257800"/>
            <a:ext cx="1828800" cy="1247775"/>
          </a:xfrm>
          <a:prstGeom prst="rect">
            <a:avLst/>
          </a:prstGeom>
          <a:noFill/>
          <a:ln w="9525">
            <a:noFill/>
            <a:miter lim="800000"/>
            <a:headEnd/>
            <a:tailEnd/>
          </a:ln>
          <a:effectLst/>
        </p:spPr>
      </p:pic>
      <p:sp>
        <p:nvSpPr>
          <p:cNvPr id="6" name="Rectangle 2"/>
          <p:cNvSpPr txBox="1">
            <a:spLocks noChangeArrowheads="1"/>
          </p:cNvSpPr>
          <p:nvPr/>
        </p:nvSpPr>
        <p:spPr>
          <a:xfrm>
            <a:off x="152400" y="76200"/>
            <a:ext cx="6096000" cy="533400"/>
          </a:xfrm>
          <a:prstGeom prst="rect">
            <a:avLst/>
          </a:prstGeom>
        </p:spPr>
        <p:txBody>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sz="2400" b="1" i="0" u="sng" strike="noStrike" kern="0" cap="none" spc="0" normalizeH="0" baseline="0" noProof="0" dirty="0">
                <a:ln>
                  <a:noFill/>
                </a:ln>
                <a:solidFill>
                  <a:srgbClr val="FF0000"/>
                </a:solidFill>
                <a:effectLst/>
                <a:uLnTx/>
                <a:uFillTx/>
                <a:latin typeface="+mj-lt"/>
                <a:ea typeface="+mj-ea"/>
                <a:cs typeface="+mj-cs"/>
              </a:rPr>
              <a:t>Virtual Circuit switching-Question Solution</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10244"/>
                                        </p:tgtEl>
                                        <p:attrNameLst>
                                          <p:attrName>style.visibility</p:attrName>
                                        </p:attrNameLst>
                                      </p:cBhvr>
                                      <p:to>
                                        <p:strVal val="visible"/>
                                      </p:to>
                                    </p:set>
                                    <p:animEffect transition="in" filter="blinds(horizontal)">
                                      <p:cBhvr>
                                        <p:cTn id="7" dur="500"/>
                                        <p:tgtEl>
                                          <p:spTgt spid="1024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Rectangle 2"/>
          <p:cNvSpPr>
            <a:spLocks noGrp="1" noChangeArrowheads="1"/>
          </p:cNvSpPr>
          <p:nvPr>
            <p:ph type="title"/>
          </p:nvPr>
        </p:nvSpPr>
        <p:spPr>
          <a:xfrm>
            <a:off x="685800" y="457200"/>
            <a:ext cx="7772400" cy="533400"/>
          </a:xfrm>
        </p:spPr>
        <p:txBody>
          <a:bodyPr>
            <a:normAutofit fontScale="90000"/>
          </a:bodyPr>
          <a:lstStyle/>
          <a:p>
            <a:pPr algn="l"/>
            <a:r>
              <a:rPr lang="en-US" b="1" u="sng" dirty="0">
                <a:solidFill>
                  <a:srgbClr val="FF0000"/>
                </a:solidFill>
              </a:rPr>
              <a:t>Advantages of packet switching</a:t>
            </a:r>
          </a:p>
        </p:txBody>
      </p:sp>
      <p:sp>
        <p:nvSpPr>
          <p:cNvPr id="14339" name="Rectangle 3"/>
          <p:cNvSpPr>
            <a:spLocks noChangeArrowheads="1"/>
          </p:cNvSpPr>
          <p:nvPr/>
        </p:nvSpPr>
        <p:spPr bwMode="auto">
          <a:xfrm>
            <a:off x="762000" y="1447801"/>
            <a:ext cx="7848600" cy="3816429"/>
          </a:xfrm>
          <a:prstGeom prst="rect">
            <a:avLst/>
          </a:prstGeom>
          <a:noFill/>
          <a:ln w="9525">
            <a:noFill/>
            <a:miter lim="800000"/>
            <a:headEnd/>
            <a:tailEnd/>
          </a:ln>
          <a:effectLst/>
        </p:spPr>
        <p:txBody>
          <a:bodyPr wrap="square">
            <a:spAutoFit/>
          </a:bodyPr>
          <a:lstStyle/>
          <a:p>
            <a:pPr marL="457200" indent="-457200" algn="just">
              <a:buFont typeface="+mj-lt"/>
              <a:buAutoNum type="arabicPeriod"/>
            </a:pPr>
            <a:r>
              <a:rPr lang="en-US" sz="2200" b="0" dirty="0">
                <a:latin typeface="Calibri" pitchFamily="34" charset="0"/>
                <a:cs typeface="Calibri" pitchFamily="34" charset="0"/>
              </a:rPr>
              <a:t>Packet switching is cost effective, because switching devices do not need massive amount of secondary storage. </a:t>
            </a:r>
          </a:p>
          <a:p>
            <a:pPr marL="457200" indent="-457200" algn="just">
              <a:buFont typeface="+mj-lt"/>
              <a:buAutoNum type="arabicPeriod"/>
            </a:pPr>
            <a:r>
              <a:rPr lang="en-US" sz="2200" b="0" dirty="0">
                <a:latin typeface="Calibri" pitchFamily="34" charset="0"/>
                <a:cs typeface="Calibri" pitchFamily="34" charset="0"/>
              </a:rPr>
              <a:t>Packet switching offers improved delay characteristics, because there are no long messages in the queue (maximum packet size is fixed). </a:t>
            </a:r>
          </a:p>
          <a:p>
            <a:pPr marL="457200" indent="-457200" algn="just">
              <a:buFont typeface="+mj-lt"/>
              <a:buAutoNum type="arabicPeriod"/>
            </a:pPr>
            <a:r>
              <a:rPr lang="en-US" sz="2200" b="0" dirty="0">
                <a:latin typeface="Calibri" pitchFamily="34" charset="0"/>
                <a:cs typeface="Calibri" pitchFamily="34" charset="0"/>
              </a:rPr>
              <a:t>Packet can be rerouted if there is any problem, such as, busy or  disabled links. </a:t>
            </a:r>
          </a:p>
          <a:p>
            <a:pPr marL="457200" indent="-457200" algn="just">
              <a:buFont typeface="+mj-lt"/>
              <a:buAutoNum type="arabicPeriod"/>
            </a:pPr>
            <a:r>
              <a:rPr lang="en-US" sz="2200" b="0" dirty="0">
                <a:latin typeface="Calibri" pitchFamily="34" charset="0"/>
                <a:cs typeface="Calibri" pitchFamily="34" charset="0"/>
              </a:rPr>
              <a:t>The advantage of packet switching is that many network users can share the same channel at the same time. Packet switching can maximize link efficiency by  making optimal use of link bandwidth. </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3" name="Rectangle 3"/>
          <p:cNvSpPr>
            <a:spLocks noChangeArrowheads="1"/>
          </p:cNvSpPr>
          <p:nvPr/>
        </p:nvSpPr>
        <p:spPr bwMode="auto">
          <a:xfrm>
            <a:off x="609600" y="1524000"/>
            <a:ext cx="8229600" cy="2462213"/>
          </a:xfrm>
          <a:prstGeom prst="rect">
            <a:avLst/>
          </a:prstGeom>
          <a:noFill/>
          <a:ln w="9525">
            <a:noFill/>
            <a:miter lim="800000"/>
            <a:headEnd/>
            <a:tailEnd/>
          </a:ln>
          <a:effectLst/>
        </p:spPr>
        <p:txBody>
          <a:bodyPr>
            <a:spAutoFit/>
          </a:bodyPr>
          <a:lstStyle/>
          <a:p>
            <a:pPr lvl="1" indent="-457200" algn="just" eaLnBrk="0" hangingPunct="0">
              <a:buFont typeface="+mj-lt"/>
              <a:buAutoNum type="arabicPeriod"/>
            </a:pPr>
            <a:r>
              <a:rPr lang="en-US" sz="2200" b="0" dirty="0">
                <a:latin typeface="Calibri" pitchFamily="34" charset="0"/>
                <a:cs typeface="Calibri" pitchFamily="34" charset="0"/>
              </a:rPr>
              <a:t>Protocols for packet switching are typically more complex. </a:t>
            </a:r>
          </a:p>
          <a:p>
            <a:pPr lvl="1" indent="-457200" algn="just" eaLnBrk="0" hangingPunct="0">
              <a:buFont typeface="+mj-lt"/>
              <a:buAutoNum type="arabicPeriod"/>
            </a:pPr>
            <a:r>
              <a:rPr lang="en-US" sz="2200" b="0" dirty="0">
                <a:latin typeface="Calibri" pitchFamily="34" charset="0"/>
                <a:cs typeface="Calibri" pitchFamily="34" charset="0"/>
              </a:rPr>
              <a:t>It can add some initial costs in implementation. </a:t>
            </a:r>
          </a:p>
          <a:p>
            <a:pPr lvl="1" indent="-457200" algn="just" eaLnBrk="0" hangingPunct="0">
              <a:buFont typeface="+mj-lt"/>
              <a:buAutoNum type="arabicPeriod"/>
            </a:pPr>
            <a:r>
              <a:rPr lang="en-US" sz="2200" b="0" dirty="0">
                <a:latin typeface="Calibri" pitchFamily="34" charset="0"/>
                <a:cs typeface="Calibri" pitchFamily="34" charset="0"/>
              </a:rPr>
              <a:t>If packet is lost, sender needs to retransmit the data.</a:t>
            </a:r>
          </a:p>
          <a:p>
            <a:pPr lvl="1" indent="-457200" algn="just" eaLnBrk="0" hangingPunct="0">
              <a:buFont typeface="+mj-lt"/>
              <a:buAutoNum type="arabicPeriod"/>
            </a:pPr>
            <a:r>
              <a:rPr lang="en-US" sz="2200" dirty="0">
                <a:latin typeface="Calibri" pitchFamily="34" charset="0"/>
                <a:cs typeface="Calibri" pitchFamily="34" charset="0"/>
              </a:rPr>
              <a:t>A</a:t>
            </a:r>
            <a:r>
              <a:rPr lang="en-US" sz="2200" b="0" dirty="0">
                <a:latin typeface="Calibri" pitchFamily="34" charset="0"/>
                <a:cs typeface="Calibri" pitchFamily="34" charset="0"/>
              </a:rPr>
              <a:t>nother disadvantage is that packet-switched systems still can’t deliver the same quality as dedicated circuits in applications requiring very little delay - like voice conversations or moving images. </a:t>
            </a:r>
          </a:p>
        </p:txBody>
      </p:sp>
      <p:sp>
        <p:nvSpPr>
          <p:cNvPr id="5" name="Rectangle 2"/>
          <p:cNvSpPr>
            <a:spLocks noGrp="1" noChangeArrowheads="1"/>
          </p:cNvSpPr>
          <p:nvPr>
            <p:ph type="title"/>
          </p:nvPr>
        </p:nvSpPr>
        <p:spPr>
          <a:xfrm>
            <a:off x="685800" y="457200"/>
            <a:ext cx="7772400" cy="533400"/>
          </a:xfrm>
        </p:spPr>
        <p:txBody>
          <a:bodyPr>
            <a:normAutofit fontScale="90000"/>
          </a:bodyPr>
          <a:lstStyle/>
          <a:p>
            <a:pPr algn="l"/>
            <a:r>
              <a:rPr lang="en-US" b="1" u="sng" dirty="0">
                <a:solidFill>
                  <a:srgbClr val="FF0000"/>
                </a:solidFill>
              </a:rPr>
              <a:t>Disadvantages of packet switching</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6386" name="Picture 2"/>
          <p:cNvPicPr>
            <a:picLocks noChangeAspect="1" noChangeArrowheads="1"/>
          </p:cNvPicPr>
          <p:nvPr/>
        </p:nvPicPr>
        <p:blipFill>
          <a:blip r:embed="rId2"/>
          <a:srcRect/>
          <a:stretch>
            <a:fillRect/>
          </a:stretch>
        </p:blipFill>
        <p:spPr bwMode="auto">
          <a:xfrm>
            <a:off x="762000" y="1905000"/>
            <a:ext cx="7772400" cy="4495800"/>
          </a:xfrm>
          <a:prstGeom prst="rect">
            <a:avLst/>
          </a:prstGeom>
          <a:noFill/>
          <a:ln w="9525">
            <a:noFill/>
            <a:miter lim="800000"/>
            <a:headEnd/>
            <a:tailEnd/>
          </a:ln>
          <a:effectLst/>
        </p:spPr>
      </p:pic>
      <p:sp>
        <p:nvSpPr>
          <p:cNvPr id="4" name="Rectangle 2"/>
          <p:cNvSpPr>
            <a:spLocks noGrp="1" noChangeArrowheads="1"/>
          </p:cNvSpPr>
          <p:nvPr>
            <p:ph type="title"/>
          </p:nvPr>
        </p:nvSpPr>
        <p:spPr>
          <a:xfrm>
            <a:off x="685800" y="457200"/>
            <a:ext cx="7772400" cy="533400"/>
          </a:xfrm>
        </p:spPr>
        <p:txBody>
          <a:bodyPr>
            <a:normAutofit fontScale="90000"/>
          </a:bodyPr>
          <a:lstStyle/>
          <a:p>
            <a:pPr algn="l"/>
            <a:r>
              <a:rPr lang="en-US" b="1" u="sng" dirty="0">
                <a:solidFill>
                  <a:srgbClr val="FF0000"/>
                </a:solidFill>
              </a:rPr>
              <a:t>Comparative Analysis</a:t>
            </a:r>
          </a:p>
        </p:txBody>
      </p:sp>
      <p:sp>
        <p:nvSpPr>
          <p:cNvPr id="5" name="Rectangle 2"/>
          <p:cNvSpPr txBox="1">
            <a:spLocks noChangeArrowheads="1"/>
          </p:cNvSpPr>
          <p:nvPr/>
        </p:nvSpPr>
        <p:spPr>
          <a:xfrm>
            <a:off x="762000" y="1066800"/>
            <a:ext cx="7772400" cy="533400"/>
          </a:xfrm>
          <a:prstGeom prst="rect">
            <a:avLst/>
          </a:prstGeom>
        </p:spPr>
        <p:txBody>
          <a:bodyPr vert="horz" lIns="91440" tIns="45720" rIns="91440" bIns="45720" rtlCol="0" anchor="ctr">
            <a:normAutofit fontScale="75000" lnSpcReduction="20000"/>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400" i="0" kern="1200" cap="none" spc="0" normalizeH="0" baseline="0" noProof="0" dirty="0">
                <a:ln>
                  <a:noFill/>
                </a:ln>
                <a:solidFill>
                  <a:srgbClr val="FF0000"/>
                </a:solidFill>
                <a:uLnTx/>
                <a:uFillTx/>
                <a:latin typeface="+mj-lt"/>
                <a:ea typeface="+mj-ea"/>
                <a:cs typeface="+mj-cs"/>
              </a:rPr>
              <a:t>Circuit, Datagram &amp; Virtual Circuit Switching</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3" name="Rectangle 3"/>
          <p:cNvSpPr>
            <a:spLocks noGrp="1" noChangeArrowheads="1"/>
          </p:cNvSpPr>
          <p:nvPr>
            <p:ph type="body" idx="1"/>
          </p:nvPr>
        </p:nvSpPr>
        <p:spPr>
          <a:xfrm>
            <a:off x="457200" y="1066800"/>
            <a:ext cx="8077200" cy="4800600"/>
          </a:xfrm>
        </p:spPr>
        <p:txBody>
          <a:bodyPr>
            <a:normAutofit/>
          </a:bodyPr>
          <a:lstStyle/>
          <a:p>
            <a:pPr algn="just">
              <a:spcBef>
                <a:spcPts val="0"/>
              </a:spcBef>
            </a:pPr>
            <a:r>
              <a:rPr lang="en-US" sz="2200" dirty="0"/>
              <a:t>With message switching there is </a:t>
            </a:r>
            <a:r>
              <a:rPr lang="en-US" sz="2200" b="1" dirty="0"/>
              <a:t>no need to establish a dedicated path</a:t>
            </a:r>
            <a:r>
              <a:rPr lang="en-US" sz="2200" dirty="0"/>
              <a:t> between two stations.</a:t>
            </a:r>
          </a:p>
          <a:p>
            <a:pPr algn="just">
              <a:spcBef>
                <a:spcPts val="0"/>
              </a:spcBef>
            </a:pPr>
            <a:r>
              <a:rPr lang="en-US" sz="2200" dirty="0"/>
              <a:t>When a station sends a message, the destination address is appended to the message.</a:t>
            </a:r>
          </a:p>
          <a:p>
            <a:pPr algn="just">
              <a:spcBef>
                <a:spcPts val="0"/>
              </a:spcBef>
            </a:pPr>
            <a:r>
              <a:rPr lang="en-US" sz="2200" dirty="0"/>
              <a:t>The message is then transmitted through the network, in its </a:t>
            </a:r>
            <a:r>
              <a:rPr lang="en-US" sz="2200" b="1" dirty="0"/>
              <a:t>entirety, from node to node</a:t>
            </a:r>
            <a:r>
              <a:rPr lang="en-US" sz="2200" dirty="0"/>
              <a:t>.</a:t>
            </a:r>
          </a:p>
          <a:p>
            <a:pPr algn="just">
              <a:spcBef>
                <a:spcPts val="0"/>
              </a:spcBef>
            </a:pPr>
            <a:r>
              <a:rPr lang="en-US" sz="2200" dirty="0"/>
              <a:t>Each node receives the entire message, </a:t>
            </a:r>
            <a:r>
              <a:rPr lang="en-US" sz="2200" b="1" dirty="0"/>
              <a:t>stores it in its entirety on disk</a:t>
            </a:r>
            <a:r>
              <a:rPr lang="en-US" sz="2200" dirty="0"/>
              <a:t>, and then transmits the message to the next node.</a:t>
            </a:r>
          </a:p>
          <a:p>
            <a:pPr algn="just">
              <a:spcBef>
                <a:spcPts val="0"/>
              </a:spcBef>
            </a:pPr>
            <a:r>
              <a:rPr lang="en-US" sz="2200" dirty="0"/>
              <a:t>This type of network is called </a:t>
            </a:r>
            <a:r>
              <a:rPr lang="en-US" sz="2200" b="1" dirty="0"/>
              <a:t>a store-and-forward network</a:t>
            </a:r>
            <a:r>
              <a:rPr lang="en-US" sz="2200" dirty="0"/>
              <a:t>.</a:t>
            </a:r>
          </a:p>
          <a:p>
            <a:pPr algn="just">
              <a:spcBef>
                <a:spcPts val="0"/>
              </a:spcBef>
            </a:pPr>
            <a:r>
              <a:rPr lang="en-US" sz="2000" b="1" dirty="0">
                <a:solidFill>
                  <a:srgbClr val="FF0000"/>
                </a:solidFill>
              </a:rPr>
              <a:t>A message-switching node is typically a general-purpose computer. The device needs sufficient secondary-storage capacity to store the incoming messages, which could be long. A time delay is introduced using this type of scheme due to store- and-forward time, plus the time required to find the next node in the transmission path. </a:t>
            </a:r>
          </a:p>
          <a:p>
            <a:pPr algn="just">
              <a:spcBef>
                <a:spcPts val="0"/>
              </a:spcBef>
            </a:pPr>
            <a:endParaRPr lang="en-US" sz="2200" dirty="0"/>
          </a:p>
        </p:txBody>
      </p:sp>
      <p:sp>
        <p:nvSpPr>
          <p:cNvPr id="5" name="Rectangle 2"/>
          <p:cNvSpPr txBox="1">
            <a:spLocks noChangeArrowheads="1"/>
          </p:cNvSpPr>
          <p:nvPr/>
        </p:nvSpPr>
        <p:spPr>
          <a:xfrm>
            <a:off x="533400" y="304800"/>
            <a:ext cx="6781800" cy="5334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1" i="0" u="sng" strike="noStrike" kern="1200" cap="none" spc="0" normalizeH="0" baseline="0" noProof="0" dirty="0">
                <a:ln>
                  <a:noFill/>
                </a:ln>
                <a:solidFill>
                  <a:srgbClr val="FF0000"/>
                </a:solidFill>
                <a:effectLst/>
                <a:uLnTx/>
                <a:uFillTx/>
                <a:latin typeface="+mj-lt"/>
                <a:ea typeface="+mj-ea"/>
                <a:cs typeface="+mj-cs"/>
              </a:rPr>
              <a:t>Message Switching</a:t>
            </a:r>
          </a:p>
        </p:txBody>
      </p:sp>
      <p:sp>
        <p:nvSpPr>
          <p:cNvPr id="2" name="TextBox 1">
            <a:extLst>
              <a:ext uri="{FF2B5EF4-FFF2-40B4-BE49-F238E27FC236}">
                <a16:creationId xmlns:a16="http://schemas.microsoft.com/office/drawing/2014/main" id="{B77BFEB6-8D0E-1477-1346-53CDE386D97A}"/>
              </a:ext>
            </a:extLst>
          </p:cNvPr>
          <p:cNvSpPr txBox="1"/>
          <p:nvPr/>
        </p:nvSpPr>
        <p:spPr>
          <a:xfrm>
            <a:off x="4648200" y="49967"/>
            <a:ext cx="2819400" cy="1754326"/>
          </a:xfrm>
          <a:prstGeom prst="rect">
            <a:avLst/>
          </a:prstGeom>
          <a:noFill/>
        </p:spPr>
        <p:txBody>
          <a:bodyPr wrap="square" rtlCol="0">
            <a:spAutoFit/>
          </a:bodyPr>
          <a:lstStyle/>
          <a:p>
            <a:r>
              <a:rPr lang="en-US" sz="3600" b="1" dirty="0">
                <a:solidFill>
                  <a:schemeClr val="accent6">
                    <a:lumMod val="50000"/>
                  </a:schemeClr>
                </a:solidFill>
                <a:highlight>
                  <a:srgbClr val="00FFFF"/>
                </a:highlight>
              </a:rPr>
              <a:t>It is not in our syllabus now 2022 </a:t>
            </a:r>
            <a:endParaRPr lang="en-IN" sz="3600" b="1" dirty="0">
              <a:solidFill>
                <a:schemeClr val="accent6">
                  <a:lumMod val="50000"/>
                </a:schemeClr>
              </a:solidFill>
              <a:highlight>
                <a:srgbClr val="00FFFF"/>
              </a:highlight>
            </a:endParaRP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8" name="Picture 4" descr="Message Switching"/>
          <p:cNvPicPr>
            <a:picLocks noChangeAspect="1" noChangeArrowheads="1"/>
          </p:cNvPicPr>
          <p:nvPr/>
        </p:nvPicPr>
        <p:blipFill>
          <a:blip r:embed="rId2"/>
          <a:srcRect/>
          <a:stretch>
            <a:fillRect/>
          </a:stretch>
        </p:blipFill>
        <p:spPr bwMode="auto">
          <a:xfrm>
            <a:off x="1295400" y="1219200"/>
            <a:ext cx="6743700" cy="2892425"/>
          </a:xfrm>
          <a:prstGeom prst="rect">
            <a:avLst/>
          </a:prstGeom>
          <a:noFill/>
        </p:spPr>
      </p:pic>
      <p:sp>
        <p:nvSpPr>
          <p:cNvPr id="6" name="Rectangle 2"/>
          <p:cNvSpPr txBox="1">
            <a:spLocks noChangeArrowheads="1"/>
          </p:cNvSpPr>
          <p:nvPr/>
        </p:nvSpPr>
        <p:spPr>
          <a:xfrm>
            <a:off x="533400" y="304800"/>
            <a:ext cx="6781800" cy="533400"/>
          </a:xfrm>
          <a:prstGeom prst="rect">
            <a:avLst/>
          </a:prstGeom>
        </p:spPr>
        <p:txBody>
          <a:bodyPr vert="horz" lIns="91440" tIns="45720" rIns="91440" bIns="45720" rtlCol="0" anchor="ctr">
            <a:noAutofit/>
          </a:bodyPr>
          <a:lstStyle/>
          <a:p>
            <a:pPr marL="0" marR="0" lvl="0" indent="0" algn="l" defTabSz="914400" rtl="0" eaLnBrk="1" fontAlgn="auto" latinLnBrk="0" hangingPunct="1">
              <a:lnSpc>
                <a:spcPct val="100000"/>
              </a:lnSpc>
              <a:spcBef>
                <a:spcPct val="0"/>
              </a:spcBef>
              <a:spcAft>
                <a:spcPts val="0"/>
              </a:spcAft>
              <a:buClrTx/>
              <a:buSzTx/>
              <a:buFontTx/>
              <a:buNone/>
              <a:tabLst/>
              <a:defRPr/>
            </a:pPr>
            <a:r>
              <a:rPr kumimoji="0" lang="en-US" sz="4000" b="1" i="0" u="sng" strike="noStrike" kern="1200" cap="none" spc="0" normalizeH="0" baseline="0" noProof="0" dirty="0">
                <a:ln>
                  <a:noFill/>
                </a:ln>
                <a:solidFill>
                  <a:srgbClr val="FF0000"/>
                </a:solidFill>
                <a:effectLst/>
                <a:uLnTx/>
                <a:uFillTx/>
                <a:latin typeface="+mj-lt"/>
                <a:ea typeface="+mj-ea"/>
                <a:cs typeface="+mj-cs"/>
              </a:rPr>
              <a:t>Message Switching</a:t>
            </a:r>
          </a:p>
        </p:txBody>
      </p:sp>
    </p:spTree>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859138" name="Rectangle 2"/>
          <p:cNvSpPr>
            <a:spLocks noChangeArrowheads="1"/>
          </p:cNvSpPr>
          <p:nvPr/>
        </p:nvSpPr>
        <p:spPr bwMode="auto">
          <a:xfrm>
            <a:off x="0" y="0"/>
            <a:ext cx="9144000" cy="1371600"/>
          </a:xfrm>
          <a:prstGeom prst="rect">
            <a:avLst/>
          </a:prstGeom>
          <a:solidFill>
            <a:srgbClr val="33CCFF"/>
          </a:solidFill>
          <a:ln w="9525">
            <a:solidFill>
              <a:schemeClr val="tx1"/>
            </a:solidFill>
            <a:miter lim="800000"/>
            <a:headEnd/>
            <a:tailEnd/>
          </a:ln>
          <a:effectLst/>
        </p:spPr>
        <p:txBody>
          <a:bodyPr wrap="none" anchor="ctr"/>
          <a:lstStyle/>
          <a:p>
            <a:pPr algn="ctr"/>
            <a:endParaRPr lang="en-US">
              <a:effectLst>
                <a:outerShdw blurRad="38100" dist="38100" dir="2700000" algn="tl">
                  <a:srgbClr val="FFFFFF"/>
                </a:outerShdw>
              </a:effectLst>
              <a:latin typeface="Times New Roman" pitchFamily="18" charset="0"/>
            </a:endParaRPr>
          </a:p>
        </p:txBody>
      </p:sp>
      <p:sp>
        <p:nvSpPr>
          <p:cNvPr id="859140" name="Text Box 4"/>
          <p:cNvSpPr txBox="1">
            <a:spLocks noChangeArrowheads="1"/>
          </p:cNvSpPr>
          <p:nvPr/>
        </p:nvSpPr>
        <p:spPr bwMode="auto">
          <a:xfrm>
            <a:off x="8229600" y="6400800"/>
            <a:ext cx="184150" cy="366713"/>
          </a:xfrm>
          <a:prstGeom prst="rect">
            <a:avLst/>
          </a:prstGeom>
          <a:noFill/>
          <a:ln w="9525">
            <a:noFill/>
            <a:miter lim="800000"/>
            <a:headEnd/>
            <a:tailEnd/>
          </a:ln>
          <a:effectLst/>
        </p:spPr>
        <p:txBody>
          <a:bodyPr wrap="none">
            <a:spAutoFit/>
          </a:bodyPr>
          <a:lstStyle/>
          <a:p>
            <a:endParaRPr lang="en-US" sz="1800">
              <a:latin typeface="Times New Roman" pitchFamily="18" charset="0"/>
            </a:endParaRPr>
          </a:p>
        </p:txBody>
      </p:sp>
      <p:sp>
        <p:nvSpPr>
          <p:cNvPr id="859141" name="Rectangle 5"/>
          <p:cNvSpPr>
            <a:spLocks noChangeArrowheads="1"/>
          </p:cNvSpPr>
          <p:nvPr/>
        </p:nvSpPr>
        <p:spPr bwMode="auto">
          <a:xfrm>
            <a:off x="228600" y="1828800"/>
            <a:ext cx="8229600" cy="3785652"/>
          </a:xfrm>
          <a:prstGeom prst="rect">
            <a:avLst/>
          </a:prstGeom>
          <a:noFill/>
          <a:ln w="9525">
            <a:noFill/>
            <a:miter lim="800000"/>
            <a:headEnd/>
            <a:tailEnd/>
          </a:ln>
          <a:effectLst/>
        </p:spPr>
        <p:txBody>
          <a:bodyPr anchor="ctr">
            <a:spAutoFit/>
          </a:bodyPr>
          <a:lstStyle/>
          <a:p>
            <a:pPr algn="just" eaLnBrk="1" hangingPunct="1"/>
            <a:r>
              <a:rPr lang="en-US" sz="2400" dirty="0">
                <a:latin typeface="+mj-lt"/>
              </a:rPr>
              <a:t>We use switches in circuit-switched and packet-switched networks. </a:t>
            </a:r>
          </a:p>
          <a:p>
            <a:pPr algn="just"/>
            <a:r>
              <a:rPr lang="en-US" sz="2400" dirty="0"/>
              <a:t>A </a:t>
            </a:r>
            <a:r>
              <a:rPr lang="en-US" sz="2400" b="1" dirty="0"/>
              <a:t>switch</a:t>
            </a:r>
            <a:r>
              <a:rPr lang="en-US" sz="2400" dirty="0"/>
              <a:t> is a </a:t>
            </a:r>
            <a:r>
              <a:rPr lang="en-US" sz="2400" b="1" dirty="0"/>
              <a:t>device</a:t>
            </a:r>
            <a:r>
              <a:rPr lang="en-US" sz="2400" dirty="0"/>
              <a:t> in a computer network that connects other </a:t>
            </a:r>
            <a:r>
              <a:rPr lang="en-US" sz="2400" b="1" dirty="0"/>
              <a:t>devices</a:t>
            </a:r>
            <a:r>
              <a:rPr lang="en-US" sz="2400" dirty="0"/>
              <a:t> together. Multiple data cables are plugged into a </a:t>
            </a:r>
            <a:r>
              <a:rPr lang="en-US" sz="2400" b="1" dirty="0"/>
              <a:t>switch</a:t>
            </a:r>
            <a:r>
              <a:rPr lang="en-US" sz="2400" dirty="0"/>
              <a:t> to enable communication between different networked </a:t>
            </a:r>
            <a:r>
              <a:rPr lang="en-US" sz="2400" b="1" dirty="0"/>
              <a:t>devices.</a:t>
            </a:r>
          </a:p>
          <a:p>
            <a:pPr algn="just"/>
            <a:r>
              <a:rPr lang="en-US" sz="2400" dirty="0"/>
              <a:t>A </a:t>
            </a:r>
            <a:r>
              <a:rPr lang="en-US" sz="2400" b="1" dirty="0"/>
              <a:t>switch</a:t>
            </a:r>
            <a:r>
              <a:rPr lang="en-US" sz="2400" dirty="0"/>
              <a:t> is a device that is used at the Access or OSI Layer 2; a </a:t>
            </a:r>
            <a:r>
              <a:rPr lang="en-US" sz="2400" b="1" dirty="0"/>
              <a:t>switch</a:t>
            </a:r>
            <a:r>
              <a:rPr lang="en-US" sz="2400" dirty="0"/>
              <a:t> can be used to connect multiple hosts (PCs) to the network. Unlike a hub, a </a:t>
            </a:r>
            <a:r>
              <a:rPr lang="en-US" sz="2400" b="1" dirty="0"/>
              <a:t>switch</a:t>
            </a:r>
            <a:r>
              <a:rPr lang="en-US" sz="2400" dirty="0"/>
              <a:t> forwards a message to a specific host.</a:t>
            </a:r>
            <a:endParaRPr lang="en-US" sz="2400" dirty="0">
              <a:latin typeface="+mj-lt"/>
            </a:endParaRPr>
          </a:p>
        </p:txBody>
      </p:sp>
      <p:sp>
        <p:nvSpPr>
          <p:cNvPr id="9" name="Text Box 3"/>
          <p:cNvSpPr txBox="1">
            <a:spLocks noChangeArrowheads="1"/>
          </p:cNvSpPr>
          <p:nvPr/>
        </p:nvSpPr>
        <p:spPr bwMode="auto">
          <a:xfrm>
            <a:off x="228600" y="152400"/>
            <a:ext cx="3726341" cy="1077218"/>
          </a:xfrm>
          <a:prstGeom prst="rect">
            <a:avLst/>
          </a:prstGeom>
          <a:noFill/>
          <a:ln w="9525">
            <a:noFill/>
            <a:miter lim="800000"/>
            <a:headEnd/>
            <a:tailEnd/>
          </a:ln>
          <a:effectLst/>
        </p:spPr>
        <p:txBody>
          <a:bodyPr wrap="none">
            <a:spAutoFit/>
          </a:bodyPr>
          <a:lstStyle/>
          <a:p>
            <a:r>
              <a:rPr lang="en-US" sz="3200" b="1" u="sng" dirty="0">
                <a:solidFill>
                  <a:srgbClr val="FF0000"/>
                </a:solidFill>
              </a:rPr>
              <a:t>SWITCH</a:t>
            </a:r>
          </a:p>
          <a:p>
            <a:r>
              <a:rPr lang="en-US" sz="3200" b="1" u="sng" dirty="0">
                <a:solidFill>
                  <a:srgbClr val="FF0000"/>
                </a:solidFill>
              </a:rPr>
              <a:t>Structure of a Switch</a:t>
            </a:r>
          </a:p>
        </p:txBody>
      </p:sp>
    </p:spTree>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6546"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6547"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6548" name="Text Box 4"/>
          <p:cNvSpPr txBox="1">
            <a:spLocks noChangeArrowheads="1"/>
          </p:cNvSpPr>
          <p:nvPr/>
        </p:nvSpPr>
        <p:spPr bwMode="auto">
          <a:xfrm>
            <a:off x="304800" y="381000"/>
            <a:ext cx="6896568" cy="461665"/>
          </a:xfrm>
          <a:prstGeom prst="rect">
            <a:avLst/>
          </a:prstGeom>
          <a:noFill/>
          <a:ln w="9525">
            <a:noFill/>
            <a:miter lim="800000"/>
            <a:headEnd/>
            <a:tailEnd/>
          </a:ln>
          <a:effectLst/>
        </p:spPr>
        <p:txBody>
          <a:bodyPr wrap="none">
            <a:spAutoFit/>
          </a:bodyPr>
          <a:lstStyle/>
          <a:p>
            <a:r>
              <a:rPr lang="en-US" sz="2400" b="1" u="sng" dirty="0">
                <a:latin typeface="Times New Roman" pitchFamily="18" charset="0"/>
              </a:rPr>
              <a:t>Crossbar switch with three inputs and four outputs</a:t>
            </a:r>
          </a:p>
        </p:txBody>
      </p:sp>
      <p:sp>
        <p:nvSpPr>
          <p:cNvPr id="876549" name="Line 5"/>
          <p:cNvSpPr>
            <a:spLocks noChangeShapeType="1"/>
          </p:cNvSpPr>
          <p:nvPr/>
        </p:nvSpPr>
        <p:spPr bwMode="auto">
          <a:xfrm>
            <a:off x="152400" y="6400800"/>
            <a:ext cx="8763000" cy="0"/>
          </a:xfrm>
          <a:prstGeom prst="line">
            <a:avLst/>
          </a:prstGeom>
          <a:noFill/>
          <a:ln w="76200">
            <a:solidFill>
              <a:schemeClr val="hlink"/>
            </a:solidFill>
            <a:round/>
            <a:headEnd/>
            <a:tailEnd/>
          </a:ln>
          <a:effectLst/>
        </p:spPr>
        <p:txBody>
          <a:bodyPr/>
          <a:lstStyle/>
          <a:p>
            <a:endParaRPr lang="en-US"/>
          </a:p>
        </p:txBody>
      </p:sp>
      <p:pic>
        <p:nvPicPr>
          <p:cNvPr id="876550" name="Picture 6"/>
          <p:cNvPicPr>
            <a:picLocks noChangeAspect="1" noChangeArrowheads="1"/>
          </p:cNvPicPr>
          <p:nvPr/>
        </p:nvPicPr>
        <p:blipFill>
          <a:blip r:embed="rId3"/>
          <a:srcRect/>
          <a:stretch>
            <a:fillRect/>
          </a:stretch>
        </p:blipFill>
        <p:spPr bwMode="auto">
          <a:xfrm>
            <a:off x="1041400" y="1471613"/>
            <a:ext cx="7797800" cy="4471987"/>
          </a:xfrm>
          <a:prstGeom prst="rect">
            <a:avLst/>
          </a:prstGeom>
          <a:noFill/>
          <a:ln w="9525">
            <a:noFill/>
            <a:miter lim="800000"/>
            <a:headEnd/>
            <a:tailEnd/>
          </a:ln>
          <a:effectLst/>
        </p:spPr>
      </p:pic>
    </p:spTree>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7570" name="Line 2"/>
          <p:cNvSpPr>
            <a:spLocks noChangeShapeType="1"/>
          </p:cNvSpPr>
          <p:nvPr/>
        </p:nvSpPr>
        <p:spPr bwMode="auto">
          <a:xfrm>
            <a:off x="152400" y="152400"/>
            <a:ext cx="8763000" cy="0"/>
          </a:xfrm>
          <a:prstGeom prst="line">
            <a:avLst/>
          </a:prstGeom>
          <a:noFill/>
          <a:ln w="76200">
            <a:solidFill>
              <a:schemeClr val="hlink"/>
            </a:solidFill>
            <a:round/>
            <a:headEnd/>
            <a:tailEnd/>
          </a:ln>
          <a:effectLst/>
        </p:spPr>
        <p:txBody>
          <a:bodyPr/>
          <a:lstStyle/>
          <a:p>
            <a:endParaRPr lang="en-US"/>
          </a:p>
        </p:txBody>
      </p:sp>
      <p:sp>
        <p:nvSpPr>
          <p:cNvPr id="877571" name="Line 3"/>
          <p:cNvSpPr>
            <a:spLocks noChangeShapeType="1"/>
          </p:cNvSpPr>
          <p:nvPr/>
        </p:nvSpPr>
        <p:spPr bwMode="auto">
          <a:xfrm>
            <a:off x="152400" y="990600"/>
            <a:ext cx="8763000" cy="0"/>
          </a:xfrm>
          <a:prstGeom prst="line">
            <a:avLst/>
          </a:prstGeom>
          <a:noFill/>
          <a:ln w="19050">
            <a:solidFill>
              <a:schemeClr val="hlink"/>
            </a:solidFill>
            <a:round/>
            <a:headEnd/>
            <a:tailEnd/>
          </a:ln>
          <a:effectLst/>
        </p:spPr>
        <p:txBody>
          <a:bodyPr/>
          <a:lstStyle/>
          <a:p>
            <a:endParaRPr lang="en-US"/>
          </a:p>
        </p:txBody>
      </p:sp>
      <p:sp>
        <p:nvSpPr>
          <p:cNvPr id="877572" name="Text Box 4"/>
          <p:cNvSpPr txBox="1">
            <a:spLocks noChangeArrowheads="1"/>
          </p:cNvSpPr>
          <p:nvPr/>
        </p:nvSpPr>
        <p:spPr bwMode="auto">
          <a:xfrm>
            <a:off x="304800" y="381000"/>
            <a:ext cx="2501006" cy="461665"/>
          </a:xfrm>
          <a:prstGeom prst="rect">
            <a:avLst/>
          </a:prstGeom>
          <a:noFill/>
          <a:ln w="9525">
            <a:noFill/>
            <a:miter lim="800000"/>
            <a:headEnd/>
            <a:tailEnd/>
          </a:ln>
          <a:effectLst/>
        </p:spPr>
        <p:txBody>
          <a:bodyPr wrap="none">
            <a:spAutoFit/>
          </a:bodyPr>
          <a:lstStyle/>
          <a:p>
            <a:r>
              <a:rPr lang="en-US" sz="2400" b="1" u="sng" dirty="0">
                <a:latin typeface="Times New Roman" pitchFamily="18" charset="0"/>
              </a:rPr>
              <a:t>Multistage switch</a:t>
            </a:r>
          </a:p>
        </p:txBody>
      </p:sp>
      <p:sp>
        <p:nvSpPr>
          <p:cNvPr id="877573" name="Line 5"/>
          <p:cNvSpPr>
            <a:spLocks noChangeShapeType="1"/>
          </p:cNvSpPr>
          <p:nvPr/>
        </p:nvSpPr>
        <p:spPr bwMode="auto">
          <a:xfrm>
            <a:off x="152400" y="6324600"/>
            <a:ext cx="8763000" cy="0"/>
          </a:xfrm>
          <a:prstGeom prst="line">
            <a:avLst/>
          </a:prstGeom>
          <a:noFill/>
          <a:ln w="76200">
            <a:solidFill>
              <a:schemeClr val="hlink"/>
            </a:solidFill>
            <a:round/>
            <a:headEnd/>
            <a:tailEnd/>
          </a:ln>
          <a:effectLst/>
        </p:spPr>
        <p:txBody>
          <a:bodyPr/>
          <a:lstStyle/>
          <a:p>
            <a:endParaRPr lang="en-US"/>
          </a:p>
        </p:txBody>
      </p:sp>
      <p:pic>
        <p:nvPicPr>
          <p:cNvPr id="877574" name="Picture 6"/>
          <p:cNvPicPr>
            <a:picLocks noChangeAspect="1" noChangeArrowheads="1"/>
          </p:cNvPicPr>
          <p:nvPr/>
        </p:nvPicPr>
        <p:blipFill>
          <a:blip r:embed="rId3"/>
          <a:srcRect/>
          <a:stretch>
            <a:fillRect/>
          </a:stretch>
        </p:blipFill>
        <p:spPr bwMode="auto">
          <a:xfrm>
            <a:off x="238125" y="2019300"/>
            <a:ext cx="8601075" cy="3390900"/>
          </a:xfrm>
          <a:prstGeom prst="rect">
            <a:avLst/>
          </a:prstGeom>
          <a:noFill/>
          <a:ln w="9525">
            <a:noFill/>
            <a:miter lim="800000"/>
            <a:headEnd/>
            <a:tailEnd/>
          </a:ln>
          <a:effectLst/>
        </p:spPr>
      </p:pic>
    </p:spTree>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7026"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7027"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7028"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7029"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7030"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7031"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7032"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897033" name="Line 9"/>
          <p:cNvSpPr>
            <a:spLocks noChangeShapeType="1"/>
          </p:cNvSpPr>
          <p:nvPr/>
        </p:nvSpPr>
        <p:spPr bwMode="auto">
          <a:xfrm>
            <a:off x="457200" y="2362200"/>
            <a:ext cx="8153400" cy="0"/>
          </a:xfrm>
          <a:prstGeom prst="line">
            <a:avLst/>
          </a:prstGeom>
          <a:noFill/>
          <a:ln w="76200">
            <a:solidFill>
              <a:srgbClr val="009900"/>
            </a:solidFill>
            <a:round/>
            <a:headEnd/>
            <a:tailEnd/>
          </a:ln>
          <a:effectLst/>
        </p:spPr>
        <p:txBody>
          <a:bodyPr/>
          <a:lstStyle/>
          <a:p>
            <a:endParaRPr lang="en-US"/>
          </a:p>
        </p:txBody>
      </p:sp>
      <p:sp>
        <p:nvSpPr>
          <p:cNvPr id="897034" name="Line 10"/>
          <p:cNvSpPr>
            <a:spLocks noChangeShapeType="1"/>
          </p:cNvSpPr>
          <p:nvPr/>
        </p:nvSpPr>
        <p:spPr bwMode="auto">
          <a:xfrm>
            <a:off x="457200" y="3886200"/>
            <a:ext cx="8153400" cy="0"/>
          </a:xfrm>
          <a:prstGeom prst="line">
            <a:avLst/>
          </a:prstGeom>
          <a:noFill/>
          <a:ln w="76200">
            <a:solidFill>
              <a:srgbClr val="009900"/>
            </a:solidFill>
            <a:round/>
            <a:headEnd/>
            <a:tailEnd/>
          </a:ln>
          <a:effectLst/>
        </p:spPr>
        <p:txBody>
          <a:bodyPr/>
          <a:lstStyle/>
          <a:p>
            <a:endParaRPr lang="en-US"/>
          </a:p>
        </p:txBody>
      </p:sp>
      <p:sp>
        <p:nvSpPr>
          <p:cNvPr id="897035" name="Rectangle 11"/>
          <p:cNvSpPr>
            <a:spLocks noChangeArrowheads="1"/>
          </p:cNvSpPr>
          <p:nvPr/>
        </p:nvSpPr>
        <p:spPr bwMode="auto">
          <a:xfrm>
            <a:off x="457200" y="2438400"/>
            <a:ext cx="8077200" cy="1200329"/>
          </a:xfrm>
          <a:prstGeom prst="rect">
            <a:avLst/>
          </a:prstGeom>
          <a:solidFill>
            <a:srgbClr val="99FF33"/>
          </a:solidFill>
          <a:ln w="76200" algn="ctr">
            <a:noFill/>
            <a:miter lim="800000"/>
            <a:headEnd/>
            <a:tailEnd/>
          </a:ln>
          <a:effectLst/>
        </p:spPr>
        <p:txBody>
          <a:bodyPr>
            <a:spAutoFit/>
          </a:bodyPr>
          <a:lstStyle/>
          <a:p>
            <a:pPr algn="just"/>
            <a:r>
              <a:rPr lang="en-US" sz="2400" b="1" dirty="0">
                <a:latin typeface="Times New Roman" pitchFamily="18" charset="0"/>
              </a:rPr>
              <a:t>In a three-stage switch, the total number of cross points is </a:t>
            </a:r>
            <a:r>
              <a:rPr lang="en-US" sz="2400" b="1" dirty="0">
                <a:solidFill>
                  <a:schemeClr val="hlink"/>
                </a:solidFill>
                <a:latin typeface="Times New Roman" pitchFamily="18" charset="0"/>
              </a:rPr>
              <a:t>2kN + k(N/n)</a:t>
            </a:r>
            <a:r>
              <a:rPr lang="en-US" sz="2400" b="1" baseline="30000" dirty="0">
                <a:solidFill>
                  <a:schemeClr val="hlink"/>
                </a:solidFill>
                <a:latin typeface="Times New Roman" pitchFamily="18" charset="0"/>
              </a:rPr>
              <a:t>2 </a:t>
            </a:r>
            <a:r>
              <a:rPr lang="en-US" sz="2400" b="1" dirty="0">
                <a:latin typeface="Times New Roman" pitchFamily="18" charset="0"/>
              </a:rPr>
              <a:t>which is much smaller than the number of cross points in a single-stage switch (N</a:t>
            </a:r>
            <a:r>
              <a:rPr lang="en-US" sz="2400" b="1" baseline="30000" dirty="0">
                <a:latin typeface="Times New Roman" pitchFamily="18" charset="0"/>
              </a:rPr>
              <a:t>2</a:t>
            </a:r>
            <a:r>
              <a:rPr lang="en-US" sz="2400" b="1" dirty="0">
                <a:latin typeface="Times New Roman" pitchFamily="18" charset="0"/>
              </a:rPr>
              <a:t>).</a:t>
            </a:r>
          </a:p>
        </p:txBody>
      </p:sp>
      <p:grpSp>
        <p:nvGrpSpPr>
          <p:cNvPr id="2" name="Group 13"/>
          <p:cNvGrpSpPr>
            <a:grpSpLocks/>
          </p:cNvGrpSpPr>
          <p:nvPr/>
        </p:nvGrpSpPr>
        <p:grpSpPr bwMode="auto">
          <a:xfrm>
            <a:off x="457200" y="1752600"/>
            <a:ext cx="1143000" cy="566738"/>
            <a:chOff x="1200" y="1248"/>
            <a:chExt cx="720" cy="357"/>
          </a:xfrm>
        </p:grpSpPr>
        <p:pic>
          <p:nvPicPr>
            <p:cNvPr id="897038" name="Picture 14"/>
            <p:cNvPicPr>
              <a:picLocks noChangeAspect="1" noChangeArrowheads="1"/>
            </p:cNvPicPr>
            <p:nvPr/>
          </p:nvPicPr>
          <p:blipFill>
            <a:blip r:embed="rId3"/>
            <a:srcRect/>
            <a:stretch>
              <a:fillRect/>
            </a:stretch>
          </p:blipFill>
          <p:spPr bwMode="auto">
            <a:xfrm>
              <a:off x="1200" y="1248"/>
              <a:ext cx="720" cy="357"/>
            </a:xfrm>
            <a:prstGeom prst="rect">
              <a:avLst/>
            </a:prstGeom>
            <a:noFill/>
            <a:ln w="9525">
              <a:noFill/>
              <a:miter lim="800000"/>
              <a:headEnd/>
              <a:tailEnd/>
            </a:ln>
            <a:effectLst/>
          </p:spPr>
        </p:pic>
        <p:sp>
          <p:nvSpPr>
            <p:cNvPr id="897039" name="Text Box 15"/>
            <p:cNvSpPr txBox="1">
              <a:spLocks noChangeArrowheads="1"/>
            </p:cNvSpPr>
            <p:nvPr/>
          </p:nvSpPr>
          <p:spPr bwMode="auto">
            <a:xfrm>
              <a:off x="1284" y="1248"/>
              <a:ext cx="551" cy="327"/>
            </a:xfrm>
            <a:prstGeom prst="rect">
              <a:avLst/>
            </a:prstGeom>
            <a:noFill/>
            <a:ln w="9525">
              <a:noFill/>
              <a:miter lim="800000"/>
              <a:headEnd/>
              <a:tailEnd/>
            </a:ln>
            <a:effectLst/>
          </p:spPr>
          <p:txBody>
            <a:bodyPr wrap="none">
              <a:spAutoFit/>
            </a:bodyPr>
            <a:lstStyle/>
            <a:p>
              <a:r>
                <a:rPr lang="en-US" sz="2800" i="1">
                  <a:solidFill>
                    <a:schemeClr val="hlink"/>
                  </a:solidFill>
                  <a:latin typeface="Times New Roman" pitchFamily="18" charset="0"/>
                </a:rPr>
                <a:t>Note</a:t>
              </a:r>
            </a:p>
          </p:txBody>
        </p:sp>
      </p:grpSp>
    </p:spTree>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0098" name="Rectangle 2"/>
          <p:cNvSpPr>
            <a:spLocks noChangeArrowheads="1"/>
          </p:cNvSpPr>
          <p:nvPr/>
        </p:nvSpPr>
        <p:spPr bwMode="ltGray">
          <a:xfrm>
            <a:off x="366713" y="107950"/>
            <a:ext cx="438150" cy="474663"/>
          </a:xfrm>
          <a:prstGeom prst="rect">
            <a:avLst/>
          </a:prstGeom>
          <a:solidFill>
            <a:schemeClr val="accent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00099" name="Rectangle 3"/>
          <p:cNvSpPr>
            <a:spLocks noChangeArrowheads="1"/>
          </p:cNvSpPr>
          <p:nvPr/>
        </p:nvSpPr>
        <p:spPr bwMode="ltGray">
          <a:xfrm>
            <a:off x="749300" y="107950"/>
            <a:ext cx="328613" cy="474663"/>
          </a:xfrm>
          <a:prstGeom prst="rect">
            <a:avLst/>
          </a:prstGeom>
          <a:gradFill rotWithShape="0">
            <a:gsLst>
              <a:gs pos="0">
                <a:schemeClr val="accent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00100" name="Rectangle 4"/>
          <p:cNvSpPr>
            <a:spLocks noChangeArrowheads="1"/>
          </p:cNvSpPr>
          <p:nvPr/>
        </p:nvSpPr>
        <p:spPr bwMode="ltGray">
          <a:xfrm>
            <a:off x="490538" y="530225"/>
            <a:ext cx="422275" cy="474663"/>
          </a:xfrm>
          <a:prstGeom prst="rect">
            <a:avLst/>
          </a:prstGeom>
          <a:solidFill>
            <a:schemeClr val="folHlink"/>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00101" name="Rectangle 5"/>
          <p:cNvSpPr>
            <a:spLocks noChangeArrowheads="1"/>
          </p:cNvSpPr>
          <p:nvPr/>
        </p:nvSpPr>
        <p:spPr bwMode="ltGray">
          <a:xfrm>
            <a:off x="860425" y="530225"/>
            <a:ext cx="368300" cy="474663"/>
          </a:xfrm>
          <a:prstGeom prst="rect">
            <a:avLst/>
          </a:prstGeom>
          <a:gradFill rotWithShape="0">
            <a:gsLst>
              <a:gs pos="0">
                <a:schemeClr val="folHlink"/>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00102" name="Rectangle 6"/>
          <p:cNvSpPr>
            <a:spLocks noChangeArrowheads="1"/>
          </p:cNvSpPr>
          <p:nvPr/>
        </p:nvSpPr>
        <p:spPr bwMode="ltGray">
          <a:xfrm>
            <a:off x="76200" y="457200"/>
            <a:ext cx="560388" cy="422275"/>
          </a:xfrm>
          <a:prstGeom prst="rect">
            <a:avLst/>
          </a:prstGeom>
          <a:gradFill rotWithShape="0">
            <a:gsLst>
              <a:gs pos="0">
                <a:schemeClr val="bg1"/>
              </a:gs>
              <a:gs pos="100000">
                <a:schemeClr val="hlink"/>
              </a:gs>
            </a:gsLst>
            <a:lin ang="1890000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00103" name="Rectangle 7"/>
          <p:cNvSpPr>
            <a:spLocks noChangeArrowheads="1"/>
          </p:cNvSpPr>
          <p:nvPr/>
        </p:nvSpPr>
        <p:spPr bwMode="gray">
          <a:xfrm>
            <a:off x="711200" y="0"/>
            <a:ext cx="31750" cy="1052513"/>
          </a:xfrm>
          <a:prstGeom prst="rect">
            <a:avLst/>
          </a:prstGeom>
          <a:solidFill>
            <a:schemeClr val="bg2"/>
          </a:soli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00104" name="Rectangle 8"/>
          <p:cNvSpPr>
            <a:spLocks noChangeArrowheads="1"/>
          </p:cNvSpPr>
          <p:nvPr/>
        </p:nvSpPr>
        <p:spPr bwMode="gray">
          <a:xfrm>
            <a:off x="442913" y="533400"/>
            <a:ext cx="8226425" cy="31750"/>
          </a:xfrm>
          <a:prstGeom prst="rect">
            <a:avLst/>
          </a:prstGeom>
          <a:gradFill rotWithShape="0">
            <a:gsLst>
              <a:gs pos="0">
                <a:schemeClr val="bg2"/>
              </a:gs>
              <a:gs pos="100000">
                <a:schemeClr val="bg1"/>
              </a:gs>
            </a:gsLst>
            <a:lin ang="0" scaled="1"/>
          </a:gradFill>
          <a:ln w="9525">
            <a:noFill/>
            <a:miter lim="800000"/>
            <a:headEnd/>
            <a:tailEnd/>
          </a:ln>
          <a:effectLst/>
        </p:spPr>
        <p:txBody>
          <a:bodyPr wrap="none" anchor="ctr"/>
          <a:lstStyle/>
          <a:p>
            <a:pPr algn="ctr" eaLnBrk="1" hangingPunct="1"/>
            <a:endParaRPr kumimoji="1" lang="en-US" sz="2400" b="0">
              <a:latin typeface="Tahoma" pitchFamily="34" charset="0"/>
            </a:endParaRPr>
          </a:p>
        </p:txBody>
      </p:sp>
      <p:sp>
        <p:nvSpPr>
          <p:cNvPr id="900105" name="Rectangle 9"/>
          <p:cNvSpPr>
            <a:spLocks noChangeArrowheads="1"/>
          </p:cNvSpPr>
          <p:nvPr/>
        </p:nvSpPr>
        <p:spPr bwMode="auto">
          <a:xfrm>
            <a:off x="228600" y="1295400"/>
            <a:ext cx="8686800" cy="946150"/>
          </a:xfrm>
          <a:prstGeom prst="rect">
            <a:avLst/>
          </a:prstGeom>
          <a:noFill/>
          <a:ln w="9525">
            <a:noFill/>
            <a:miter lim="800000"/>
            <a:headEnd/>
            <a:tailEnd/>
          </a:ln>
          <a:effectLst/>
        </p:spPr>
        <p:txBody>
          <a:bodyPr>
            <a:spAutoFit/>
          </a:bodyPr>
          <a:lstStyle/>
          <a:p>
            <a:pPr algn="just"/>
            <a:r>
              <a:rPr lang="en-US" sz="2800" dirty="0">
                <a:latin typeface="Times New Roman" pitchFamily="18" charset="0"/>
              </a:rPr>
              <a:t>Design a three-stage, 200 × 200 switch (N = 200) with </a:t>
            </a:r>
            <a:br>
              <a:rPr lang="en-US" sz="2800" dirty="0">
                <a:latin typeface="Times New Roman" pitchFamily="18" charset="0"/>
              </a:rPr>
            </a:br>
            <a:r>
              <a:rPr lang="en-US" sz="2800" dirty="0">
                <a:latin typeface="Times New Roman" pitchFamily="18" charset="0"/>
              </a:rPr>
              <a:t>k = 4 and n = 20.</a:t>
            </a:r>
          </a:p>
        </p:txBody>
      </p:sp>
      <p:sp>
        <p:nvSpPr>
          <p:cNvPr id="900106" name="Rectangle 10"/>
          <p:cNvSpPr>
            <a:spLocks noChangeArrowheads="1"/>
          </p:cNvSpPr>
          <p:nvPr/>
        </p:nvSpPr>
        <p:spPr bwMode="auto">
          <a:xfrm>
            <a:off x="228600" y="2513013"/>
            <a:ext cx="8686800" cy="3508375"/>
          </a:xfrm>
          <a:prstGeom prst="rect">
            <a:avLst/>
          </a:prstGeom>
          <a:noFill/>
          <a:ln w="9525">
            <a:noFill/>
            <a:miter lim="800000"/>
            <a:headEnd/>
            <a:tailEnd/>
          </a:ln>
          <a:effectLst/>
        </p:spPr>
        <p:txBody>
          <a:bodyPr>
            <a:spAutoFit/>
          </a:bodyPr>
          <a:lstStyle/>
          <a:p>
            <a:pPr algn="just"/>
            <a:r>
              <a:rPr lang="en-US" sz="2800" dirty="0">
                <a:solidFill>
                  <a:schemeClr val="hlink"/>
                </a:solidFill>
                <a:latin typeface="Times New Roman" pitchFamily="18" charset="0"/>
              </a:rPr>
              <a:t>Solution</a:t>
            </a:r>
          </a:p>
          <a:p>
            <a:pPr algn="just"/>
            <a:r>
              <a:rPr lang="en-US" sz="2800" dirty="0">
                <a:latin typeface="Times" pitchFamily="18" charset="0"/>
              </a:rPr>
              <a:t>In the first stage we have N/n or 10 crossbars, each of size 20 × 4. In the second stage, we have 4 crossbars, each of size 10 × 10. In the third stage, we have 10 crossbars, each of size 4 × 20. The total number </a:t>
            </a:r>
            <a:r>
              <a:rPr lang="en-US" sz="2800">
                <a:latin typeface="Times" pitchFamily="18" charset="0"/>
              </a:rPr>
              <a:t>of cross points </a:t>
            </a:r>
            <a:r>
              <a:rPr lang="en-US" sz="2800" dirty="0">
                <a:latin typeface="Times" pitchFamily="18" charset="0"/>
              </a:rPr>
              <a:t>is 2kN + k(N/n)</a:t>
            </a:r>
            <a:r>
              <a:rPr lang="en-US" sz="2800" baseline="30000" dirty="0">
                <a:latin typeface="Times" pitchFamily="18" charset="0"/>
              </a:rPr>
              <a:t>2</a:t>
            </a:r>
            <a:r>
              <a:rPr lang="en-US" sz="2800" dirty="0">
                <a:latin typeface="Times" pitchFamily="18" charset="0"/>
              </a:rPr>
              <a:t>, or </a:t>
            </a:r>
            <a:r>
              <a:rPr lang="en-US" sz="2800" dirty="0">
                <a:solidFill>
                  <a:schemeClr val="hlink"/>
                </a:solidFill>
                <a:latin typeface="Times" pitchFamily="18" charset="0"/>
              </a:rPr>
              <a:t>2000</a:t>
            </a:r>
            <a:r>
              <a:rPr lang="en-US" sz="2800" dirty="0">
                <a:latin typeface="Times" pitchFamily="18" charset="0"/>
              </a:rPr>
              <a:t> cross points. This is 5 percent of the number of cross   points in a single-stage switch (200 × 200 = 40,000).</a:t>
            </a:r>
          </a:p>
        </p:txBody>
      </p:sp>
      <p:sp>
        <p:nvSpPr>
          <p:cNvPr id="900107" name="Text Box 11"/>
          <p:cNvSpPr txBox="1">
            <a:spLocks noChangeArrowheads="1"/>
          </p:cNvSpPr>
          <p:nvPr/>
        </p:nvSpPr>
        <p:spPr bwMode="auto">
          <a:xfrm>
            <a:off x="1144588" y="0"/>
            <a:ext cx="1346844" cy="461665"/>
          </a:xfrm>
          <a:prstGeom prst="rect">
            <a:avLst/>
          </a:prstGeom>
          <a:noFill/>
          <a:ln w="9525">
            <a:noFill/>
            <a:miter lim="800000"/>
            <a:headEnd/>
            <a:tailEnd/>
          </a:ln>
          <a:effectLst/>
        </p:spPr>
        <p:txBody>
          <a:bodyPr wrap="none">
            <a:spAutoFit/>
          </a:bodyPr>
          <a:lstStyle/>
          <a:p>
            <a:r>
              <a:rPr lang="en-US" sz="2400" b="1" dirty="0">
                <a:solidFill>
                  <a:schemeClr val="hlink"/>
                </a:solidFill>
                <a:latin typeface="Times New Roman" pitchFamily="18" charset="0"/>
              </a:rPr>
              <a:t>Example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705</TotalTime>
  <Words>3262</Words>
  <Application>Microsoft Office PowerPoint</Application>
  <PresentationFormat>On-screen Show (4:3)</PresentationFormat>
  <Paragraphs>252</Paragraphs>
  <Slides>53</Slides>
  <Notes>20</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53</vt:i4>
      </vt:variant>
    </vt:vector>
  </HeadingPairs>
  <TitlesOfParts>
    <vt:vector size="59" baseType="lpstr">
      <vt:lpstr>Arial</vt:lpstr>
      <vt:lpstr>Calibri</vt:lpstr>
      <vt:lpstr>Tahoma</vt:lpstr>
      <vt:lpstr>Times</vt:lpstr>
      <vt:lpstr>Times New Roman</vt:lpstr>
      <vt:lpstr>Office Theme</vt:lpstr>
      <vt:lpstr>COMPUTER NETWORKS (BCSC 0008)</vt:lpstr>
      <vt:lpstr> Text and Reference Books </vt:lpstr>
      <vt:lpstr>PowerPoint Presentation</vt:lpstr>
      <vt:lpstr>PowerPoint Presentation</vt:lpstr>
      <vt:lpstr>PowerPoint Presentation</vt:lpstr>
      <vt:lpstr>PowerPoint Presentation</vt:lpstr>
      <vt:lpstr>PowerPoint Presentation</vt:lpstr>
      <vt:lpstr>PowerPoint Presentation</vt:lpstr>
      <vt:lpstr>Circuit Switching</vt:lpstr>
      <vt:lpstr>Circuit Switching</vt:lpstr>
      <vt:lpstr>Circuit Switching</vt:lpstr>
      <vt:lpstr>Circuit Switching</vt:lpstr>
      <vt:lpstr>PowerPoint Presentation</vt:lpstr>
      <vt:lpstr>PowerPoint Presentation</vt:lpstr>
      <vt:lpstr>PowerPoint Presentation</vt:lpstr>
      <vt:lpstr>PowerPoint Presentation</vt:lpstr>
      <vt:lpstr>Packet Switching</vt:lpstr>
      <vt:lpstr>Packet Switching</vt:lpstr>
      <vt:lpstr>PowerPoint Presentation</vt:lpstr>
      <vt:lpstr>Packet Switching Datagram Approach –Connectionless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Advantages of packet switching</vt:lpstr>
      <vt:lpstr>Disadvantages of packet switching</vt:lpstr>
      <vt:lpstr>Comparative Analysis</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COMPUTER NETWORKS (BCSC 0008)</dc:title>
  <dc:creator>Windows User</dc:creator>
  <cp:lastModifiedBy>Kanishk Patel</cp:lastModifiedBy>
  <cp:revision>65</cp:revision>
  <dcterms:created xsi:type="dcterms:W3CDTF">2020-06-29T04:13:42Z</dcterms:created>
  <dcterms:modified xsi:type="dcterms:W3CDTF">2022-10-05T09:34:22Z</dcterms:modified>
</cp:coreProperties>
</file>