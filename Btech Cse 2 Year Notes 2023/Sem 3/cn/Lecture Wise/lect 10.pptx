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65" r:id="rId3"/>
    <p:sldId id="266" r:id="rId4"/>
    <p:sldId id="267" r:id="rId5"/>
    <p:sldId id="269" r:id="rId6"/>
    <p:sldId id="305" r:id="rId7"/>
    <p:sldId id="268" r:id="rId8"/>
    <p:sldId id="310" r:id="rId9"/>
    <p:sldId id="308" r:id="rId10"/>
    <p:sldId id="306" r:id="rId11"/>
    <p:sldId id="311" r:id="rId12"/>
    <p:sldId id="532" r:id="rId13"/>
    <p:sldId id="581" r:id="rId14"/>
    <p:sldId id="582" r:id="rId15"/>
    <p:sldId id="303" r:id="rId16"/>
    <p:sldId id="599" r:id="rId17"/>
    <p:sldId id="583" r:id="rId18"/>
    <p:sldId id="584" r:id="rId19"/>
    <p:sldId id="598" r:id="rId20"/>
    <p:sldId id="593" r:id="rId21"/>
    <p:sldId id="59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EAFD10-35F9-46FC-AA1C-DC3D754965D0}" type="datetimeFigureOut">
              <a:rPr lang="en-US" smtClean="0"/>
              <a:t>11/23/2020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21B635-DF0C-4867-819B-7BCA50709D8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C01E2-8D39-4AFB-8F6F-F93A2B014B15}" type="datetimeFigureOut">
              <a:rPr lang="en-US" smtClean="0"/>
              <a:pPr/>
              <a:t>11/23/2020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sp>
        <p:nvSpPr>
          <p:cNvPr id="7"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Dr. Shabir Ali, Mr. Akhilesh Kumar Singh </a:t>
            </a:r>
            <a:endParaRPr lang="en-US" altLang="zh-TW" dirty="0">
              <a:solidFill>
                <a:schemeClr val="tx1"/>
              </a:solidFill>
              <a:latin typeface="Times New Roman" pitchFamily="18" charset="0"/>
            </a:endParaRPr>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3352800" y="5410200"/>
            <a:ext cx="24384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1"/>
                </a:solidFill>
                <a:effectLst/>
                <a:uLnTx/>
                <a:uFillTx/>
                <a:latin typeface="Times New Roman"/>
                <a:ea typeface="Calibri"/>
                <a:cs typeface="Times New Roman"/>
              </a:rPr>
              <a:t>Lecture 21</a:t>
            </a:r>
            <a:endParaRPr kumimoji="0" lang="en-US" altLang="zh-TW"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
        <p:nvSpPr>
          <p:cNvPr id="5"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Mr. Saurabh Anand, Mr. Akhilesh Kumar Singh </a:t>
            </a:r>
            <a:endParaRPr lang="en-US" altLang="zh-TW" dirty="0">
              <a:solidFill>
                <a:schemeClr val="tx1"/>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p:cNvSpPr>
            <a:spLocks noGrp="1"/>
          </p:cNvSpPr>
          <p:nvPr>
            <p:ph type="ftr" sz="quarter" idx="10"/>
          </p:nvPr>
        </p:nvSpPr>
        <p:spPr/>
        <p:txBody>
          <a:bodyPr/>
          <a:lstStyle/>
          <a:p>
            <a:r>
              <a:rPr lang="en-US" dirty="0"/>
              <a:t> </a:t>
            </a:r>
          </a:p>
        </p:txBody>
      </p:sp>
      <p:sp>
        <p:nvSpPr>
          <p:cNvPr id="11" name="Slide Number Placeholder 2"/>
          <p:cNvSpPr>
            <a:spLocks noGrp="1"/>
          </p:cNvSpPr>
          <p:nvPr>
            <p:ph type="sldNum" sz="quarter" idx="11"/>
          </p:nvPr>
        </p:nvSpPr>
        <p:spPr/>
        <p:txBody>
          <a:bodyPr/>
          <a:lstStyle/>
          <a:p>
            <a:fld id="{0F8BDDBC-F188-46A9-B755-1D6DA2135927}" type="slidenum">
              <a:rPr lang="en-US"/>
              <a:pPr/>
              <a:t>3</a:t>
            </a:fld>
            <a:endParaRPr lang="en-US"/>
          </a:p>
        </p:txBody>
      </p:sp>
      <p:grpSp>
        <p:nvGrpSpPr>
          <p:cNvPr id="477186" name="Group 2"/>
          <p:cNvGrpSpPr>
            <a:grpSpLocks/>
          </p:cNvGrpSpPr>
          <p:nvPr/>
        </p:nvGrpSpPr>
        <p:grpSpPr bwMode="auto">
          <a:xfrm>
            <a:off x="0" y="0"/>
            <a:ext cx="8686800" cy="6400800"/>
            <a:chOff x="0" y="96"/>
            <a:chExt cx="5472" cy="3840"/>
          </a:xfrm>
        </p:grpSpPr>
        <p:sp>
          <p:nvSpPr>
            <p:cNvPr id="477187"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eaLnBrk="1" hangingPunct="1"/>
              <a:endParaRPr lang="en-US" sz="2400">
                <a:latin typeface="Times New Roman" pitchFamily="18" charset="0"/>
              </a:endParaRPr>
            </a:p>
          </p:txBody>
        </p:sp>
        <p:sp>
          <p:nvSpPr>
            <p:cNvPr id="477188"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169" y="0"/>
                </a:cxn>
                <a:cxn ang="0">
                  <a:pos x="6670" y="500"/>
                </a:cxn>
                <a:cxn ang="0">
                  <a:pos x="6170" y="1000"/>
                </a:cxn>
                <a:cxn ang="0">
                  <a:pos x="0" y="1000"/>
                </a:cxn>
              </a:cxnLst>
              <a:rect l="T0" t="T1" r="T2" b="T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w="9525">
              <a:noFill/>
              <a:miter lim="800000"/>
              <a:headEnd/>
              <a:tailEnd/>
            </a:ln>
          </p:spPr>
          <p:txBody>
            <a:bodyPr/>
            <a:lstStyle/>
            <a:p>
              <a:pPr eaLnBrk="1" hangingPunct="1"/>
              <a:endParaRPr lang="en-US" sz="2400">
                <a:latin typeface="Times New Roman" pitchFamily="18" charset="0"/>
              </a:endParaRPr>
            </a:p>
          </p:txBody>
        </p:sp>
        <p:sp>
          <p:nvSpPr>
            <p:cNvPr id="477189"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n-US"/>
            </a:p>
          </p:txBody>
        </p:sp>
      </p:grpSp>
      <p:sp>
        <p:nvSpPr>
          <p:cNvPr id="477190" name="Text Box 6"/>
          <p:cNvSpPr txBox="1">
            <a:spLocks noChangeArrowheads="1"/>
          </p:cNvSpPr>
          <p:nvPr/>
        </p:nvSpPr>
        <p:spPr bwMode="auto">
          <a:xfrm>
            <a:off x="228600" y="354013"/>
            <a:ext cx="2698750" cy="641350"/>
          </a:xfrm>
          <a:prstGeom prst="rect">
            <a:avLst/>
          </a:prstGeom>
          <a:noFill/>
          <a:ln w="9525">
            <a:noFill/>
            <a:miter lim="800000"/>
            <a:headEnd/>
            <a:tailEnd/>
          </a:ln>
          <a:effectLst/>
        </p:spPr>
        <p:txBody>
          <a:bodyPr wrap="none">
            <a:spAutoFit/>
          </a:bodyPr>
          <a:lstStyle/>
          <a:p>
            <a:r>
              <a:rPr lang="en-US" sz="3600">
                <a:solidFill>
                  <a:schemeClr val="bg1"/>
                </a:solidFill>
                <a:latin typeface="Arial" pitchFamily="34" charset="0"/>
              </a:rPr>
              <a:t>14.5   OSPF</a:t>
            </a:r>
          </a:p>
        </p:txBody>
      </p:sp>
      <p:sp>
        <p:nvSpPr>
          <p:cNvPr id="477191" name="Rectangle 7"/>
          <p:cNvSpPr>
            <a:spLocks noChangeArrowheads="1"/>
          </p:cNvSpPr>
          <p:nvPr/>
        </p:nvSpPr>
        <p:spPr bwMode="auto">
          <a:xfrm>
            <a:off x="533400" y="1371600"/>
            <a:ext cx="7848600" cy="1006475"/>
          </a:xfrm>
          <a:prstGeom prst="rect">
            <a:avLst/>
          </a:prstGeom>
          <a:noFill/>
          <a:ln w="9525">
            <a:noFill/>
            <a:miter lim="800000"/>
            <a:headEnd/>
            <a:tailEnd/>
          </a:ln>
          <a:effectLst/>
        </p:spPr>
        <p:txBody>
          <a:bodyPr>
            <a:spAutoFit/>
          </a:bodyPr>
          <a:lstStyle/>
          <a:p>
            <a:pPr algn="just"/>
            <a:r>
              <a:rPr lang="en-US" sz="2000" i="1">
                <a:effectLst>
                  <a:outerShdw blurRad="38100" dist="38100" dir="2700000" algn="tl">
                    <a:srgbClr val="C0C0C0"/>
                  </a:outerShdw>
                </a:effectLst>
                <a:latin typeface="Times New Roman" pitchFamily="18" charset="0"/>
              </a:rPr>
              <a:t>The Open Shortest Path First (OSPF) protocol is an intradomain routing protocol based on link state routing. Its domain is also an autonomous system. </a:t>
            </a:r>
          </a:p>
        </p:txBody>
      </p:sp>
      <p:sp>
        <p:nvSpPr>
          <p:cNvPr id="477192" name="Rectangle 8"/>
          <p:cNvSpPr>
            <a:spLocks noChangeArrowheads="1"/>
          </p:cNvSpPr>
          <p:nvPr/>
        </p:nvSpPr>
        <p:spPr bwMode="auto">
          <a:xfrm>
            <a:off x="685800" y="3032125"/>
            <a:ext cx="7848600" cy="396875"/>
          </a:xfrm>
          <a:prstGeom prst="rect">
            <a:avLst/>
          </a:prstGeom>
          <a:noFill/>
          <a:ln w="9525">
            <a:noFill/>
            <a:miter lim="800000"/>
            <a:headEnd/>
            <a:tailEnd/>
          </a:ln>
          <a:effectLst/>
        </p:spPr>
        <p:txBody>
          <a:bodyPr>
            <a:spAutoFit/>
          </a:bodyPr>
          <a:lstStyle/>
          <a:p>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7193" name="Rectangle 9"/>
          <p:cNvSpPr>
            <a:spLocks noChangeArrowheads="1"/>
          </p:cNvSpPr>
          <p:nvPr/>
        </p:nvSpPr>
        <p:spPr bwMode="auto">
          <a:xfrm>
            <a:off x="685800" y="3429000"/>
            <a:ext cx="7315200" cy="2530475"/>
          </a:xfrm>
          <a:prstGeom prst="rect">
            <a:avLst/>
          </a:prstGeom>
          <a:noFill/>
          <a:ln w="76200">
            <a:noFill/>
            <a:miter lim="800000"/>
            <a:headEnd/>
            <a:tailEnd/>
          </a:ln>
          <a:effectLst/>
        </p:spPr>
        <p:txBody>
          <a:bodyPr>
            <a:spAutoFit/>
          </a:bodyPr>
          <a:lstStyle/>
          <a:p>
            <a:r>
              <a:rPr lang="en-US" sz="2000" i="1">
                <a:effectLst>
                  <a:outerShdw blurRad="38100" dist="38100" dir="2700000" algn="tl">
                    <a:srgbClr val="C0C0C0"/>
                  </a:outerShdw>
                </a:effectLst>
                <a:latin typeface="Times New Roman" pitchFamily="18" charset="0"/>
              </a:rPr>
              <a:t>Areas </a:t>
            </a:r>
          </a:p>
          <a:p>
            <a:r>
              <a:rPr lang="en-US" sz="2000" i="1">
                <a:effectLst>
                  <a:outerShdw blurRad="38100" dist="38100" dir="2700000" algn="tl">
                    <a:srgbClr val="C0C0C0"/>
                  </a:outerShdw>
                </a:effectLst>
                <a:latin typeface="Times New Roman" pitchFamily="18" charset="0"/>
              </a:rPr>
              <a:t>Metric </a:t>
            </a:r>
          </a:p>
          <a:p>
            <a:r>
              <a:rPr lang="en-US" sz="2000" i="1">
                <a:effectLst>
                  <a:outerShdw blurRad="38100" dist="38100" dir="2700000" algn="tl">
                    <a:srgbClr val="C0C0C0"/>
                  </a:outerShdw>
                </a:effectLst>
                <a:latin typeface="Times New Roman" pitchFamily="18" charset="0"/>
              </a:rPr>
              <a:t>Types of Links </a:t>
            </a:r>
          </a:p>
          <a:p>
            <a:r>
              <a:rPr lang="en-US" sz="2000" i="1">
                <a:effectLst>
                  <a:outerShdw blurRad="38100" dist="38100" dir="2700000" algn="tl">
                    <a:srgbClr val="C0C0C0"/>
                  </a:outerShdw>
                </a:effectLst>
                <a:latin typeface="Times New Roman" pitchFamily="18" charset="0"/>
              </a:rPr>
              <a:t>Graphical Representation </a:t>
            </a:r>
          </a:p>
          <a:p>
            <a:r>
              <a:rPr lang="en-US" sz="2000" i="1">
                <a:effectLst>
                  <a:outerShdw blurRad="38100" dist="38100" dir="2700000" algn="tl">
                    <a:srgbClr val="C0C0C0"/>
                  </a:outerShdw>
                </a:effectLst>
                <a:latin typeface="Times New Roman" pitchFamily="18" charset="0"/>
              </a:rPr>
              <a:t>OSPF Packets </a:t>
            </a:r>
          </a:p>
          <a:p>
            <a:r>
              <a:rPr lang="en-US" sz="2000" i="1">
                <a:effectLst>
                  <a:outerShdw blurRad="38100" dist="38100" dir="2700000" algn="tl">
                    <a:srgbClr val="C0C0C0"/>
                  </a:outerShdw>
                </a:effectLst>
                <a:latin typeface="Times New Roman" pitchFamily="18" charset="0"/>
              </a:rPr>
              <a:t>Link State Update Packet </a:t>
            </a:r>
          </a:p>
          <a:p>
            <a:r>
              <a:rPr lang="en-US" sz="2000" i="1">
                <a:effectLst>
                  <a:outerShdw blurRad="38100" dist="38100" dir="2700000" algn="tl">
                    <a:srgbClr val="C0C0C0"/>
                  </a:outerShdw>
                </a:effectLst>
                <a:latin typeface="Times New Roman" pitchFamily="18" charset="0"/>
              </a:rPr>
              <a:t>Other Packets </a:t>
            </a:r>
          </a:p>
          <a:p>
            <a:r>
              <a:rPr lang="en-US" sz="2000" i="1">
                <a:effectLst>
                  <a:outerShdw blurRad="38100" dist="38100" dir="2700000" algn="tl">
                    <a:srgbClr val="C0C0C0"/>
                  </a:outerShdw>
                </a:effectLst>
                <a:latin typeface="Times New Roman" pitchFamily="18" charset="0"/>
              </a:rPr>
              <a:t>Encapsulation </a:t>
            </a:r>
          </a:p>
        </p:txBody>
      </p:sp>
    </p:spTree>
    <p:extLst>
      <p:ext uri="{BB962C8B-B14F-4D97-AF65-F5344CB8AC3E}">
        <p14:creationId xmlns:p14="http://schemas.microsoft.com/office/powerpoint/2010/main" val="103350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7603450E-5481-4A8B-94C8-6133AD006B84}" type="slidenum">
              <a:rPr lang="en-US"/>
              <a:pPr/>
              <a:t>4</a:t>
            </a:fld>
            <a:endParaRPr lang="en-US"/>
          </a:p>
        </p:txBody>
      </p:sp>
      <p:sp>
        <p:nvSpPr>
          <p:cNvPr id="498690"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14.19</a:t>
            </a:r>
            <a:r>
              <a:rPr lang="en-US" altLang="en-US">
                <a:solidFill>
                  <a:schemeClr val="accent2"/>
                </a:solidFill>
                <a:latin typeface="Times New Roman" pitchFamily="18" charset="0"/>
              </a:rPr>
              <a:t>    </a:t>
            </a:r>
            <a:r>
              <a:rPr lang="en-US" altLang="en-US" i="1">
                <a:latin typeface="Times New Roman" pitchFamily="18" charset="0"/>
              </a:rPr>
              <a:t>Areas in an autonomous system</a:t>
            </a:r>
          </a:p>
        </p:txBody>
      </p:sp>
      <p:sp>
        <p:nvSpPr>
          <p:cNvPr id="49869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9869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9869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9869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9869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9869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9869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98699" name="Picture 11"/>
          <p:cNvPicPr>
            <a:picLocks noChangeAspect="1" noChangeArrowheads="1"/>
          </p:cNvPicPr>
          <p:nvPr/>
        </p:nvPicPr>
        <p:blipFill>
          <a:blip r:embed="rId2"/>
          <a:srcRect/>
          <a:stretch>
            <a:fillRect/>
          </a:stretch>
        </p:blipFill>
        <p:spPr bwMode="auto">
          <a:xfrm>
            <a:off x="228600" y="3124200"/>
            <a:ext cx="8742363" cy="3143250"/>
          </a:xfrm>
          <a:prstGeom prst="rect">
            <a:avLst/>
          </a:prstGeom>
          <a:noFill/>
          <a:ln w="9525">
            <a:noFill/>
            <a:miter lim="800000"/>
            <a:headEnd/>
            <a:tailEnd/>
          </a:ln>
          <a:effectLst/>
        </p:spPr>
      </p:pic>
      <p:sp>
        <p:nvSpPr>
          <p:cNvPr id="498700" name="Text Box 12"/>
          <p:cNvSpPr txBox="1">
            <a:spLocks noChangeArrowheads="1"/>
          </p:cNvSpPr>
          <p:nvPr/>
        </p:nvSpPr>
        <p:spPr bwMode="auto">
          <a:xfrm>
            <a:off x="1355725" y="717550"/>
            <a:ext cx="5913029" cy="2308324"/>
          </a:xfrm>
          <a:prstGeom prst="rect">
            <a:avLst/>
          </a:prstGeom>
          <a:noFill/>
          <a:ln w="9525">
            <a:noFill/>
            <a:miter lim="800000"/>
            <a:headEnd/>
            <a:tailEnd/>
          </a:ln>
          <a:effectLst/>
        </p:spPr>
        <p:txBody>
          <a:bodyPr wrap="none">
            <a:spAutoFit/>
          </a:bodyPr>
          <a:lstStyle/>
          <a:p>
            <a:r>
              <a:rPr lang="en-US" dirty="0"/>
              <a:t>OSPF divides an autonomous system into areas.  All networks</a:t>
            </a:r>
          </a:p>
          <a:p>
            <a:r>
              <a:rPr lang="en-US" dirty="0"/>
              <a:t>inside an area must be connected.</a:t>
            </a:r>
          </a:p>
          <a:p>
            <a:endParaRPr lang="en-US" dirty="0"/>
          </a:p>
          <a:p>
            <a:r>
              <a:rPr lang="en-US" dirty="0"/>
              <a:t>area border router; backbones; backbone routers;</a:t>
            </a:r>
          </a:p>
          <a:p>
            <a:r>
              <a:rPr lang="en-US" dirty="0"/>
              <a:t>boundary routers</a:t>
            </a:r>
          </a:p>
          <a:p>
            <a:endParaRPr lang="en-US" dirty="0"/>
          </a:p>
          <a:p>
            <a:r>
              <a:rPr lang="en-US" dirty="0"/>
              <a:t>The cost associated with a route is called the metric.  Metric</a:t>
            </a:r>
          </a:p>
          <a:p>
            <a:r>
              <a:rPr lang="en-US" dirty="0"/>
              <a:t>could be min delay, max thruput, etc.</a:t>
            </a:r>
          </a:p>
        </p:txBody>
      </p:sp>
    </p:spTree>
    <p:extLst>
      <p:ext uri="{BB962C8B-B14F-4D97-AF65-F5344CB8AC3E}">
        <p14:creationId xmlns:p14="http://schemas.microsoft.com/office/powerpoint/2010/main" val="310024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0DFE6067-DF50-4F1A-A8F6-D7393C8070F9}" type="slidenum">
              <a:rPr lang="en-US"/>
              <a:pPr/>
              <a:t>5</a:t>
            </a:fld>
            <a:endParaRPr lang="en-US"/>
          </a:p>
        </p:txBody>
      </p:sp>
      <p:sp>
        <p:nvSpPr>
          <p:cNvPr id="501762" name="Text Box 2"/>
          <p:cNvSpPr txBox="1">
            <a:spLocks noChangeArrowheads="1"/>
          </p:cNvSpPr>
          <p:nvPr/>
        </p:nvSpPr>
        <p:spPr bwMode="auto">
          <a:xfrm>
            <a:off x="1550963" y="41930"/>
            <a:ext cx="5715000" cy="523220"/>
          </a:xfrm>
          <a:prstGeom prst="rect">
            <a:avLst/>
          </a:prstGeom>
          <a:noFill/>
          <a:ln w="9525">
            <a:noFill/>
            <a:miter lim="800000"/>
            <a:headEnd/>
            <a:tailEnd/>
          </a:ln>
          <a:effectLst/>
        </p:spPr>
        <p:txBody>
          <a:bodyPr>
            <a:spAutoFit/>
          </a:bodyPr>
          <a:lstStyle/>
          <a:p>
            <a:r>
              <a:rPr lang="en-US" altLang="en-US" sz="2800" i="1" dirty="0">
                <a:solidFill>
                  <a:srgbClr val="0000FF"/>
                </a:solidFill>
                <a:latin typeface="Times New Roman" pitchFamily="18" charset="0"/>
              </a:rPr>
              <a:t>LSPs (Link State Packets)</a:t>
            </a:r>
            <a:endParaRPr lang="en-US" altLang="en-US" sz="2800" i="1" dirty="0">
              <a:latin typeface="Times New Roman" pitchFamily="18" charset="0"/>
            </a:endParaRPr>
          </a:p>
        </p:txBody>
      </p:sp>
      <p:sp>
        <p:nvSpPr>
          <p:cNvPr id="50176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017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0176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017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017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0176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017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 name="Picture 3">
            <a:extLst>
              <a:ext uri="{FF2B5EF4-FFF2-40B4-BE49-F238E27FC236}">
                <a16:creationId xmlns:a16="http://schemas.microsoft.com/office/drawing/2014/main" id="{AA593AB3-EE51-4B03-9F5C-21B8BF2D5133}"/>
              </a:ext>
            </a:extLst>
          </p:cNvPr>
          <p:cNvPicPr>
            <a:picLocks noChangeAspect="1"/>
          </p:cNvPicPr>
          <p:nvPr/>
        </p:nvPicPr>
        <p:blipFill rotWithShape="1">
          <a:blip r:embed="rId2"/>
          <a:srcRect l="30000" t="20016" r="10000" b="12945"/>
          <a:stretch/>
        </p:blipFill>
        <p:spPr>
          <a:xfrm>
            <a:off x="585788" y="1473713"/>
            <a:ext cx="7739062" cy="4535487"/>
          </a:xfrm>
          <a:prstGeom prst="rect">
            <a:avLst/>
          </a:prstGeom>
        </p:spPr>
      </p:pic>
    </p:spTree>
    <p:extLst>
      <p:ext uri="{BB962C8B-B14F-4D97-AF65-F5344CB8AC3E}">
        <p14:creationId xmlns:p14="http://schemas.microsoft.com/office/powerpoint/2010/main" val="826811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4DB4-9F0D-4CE9-9DA3-5B69455B3BF9}"/>
              </a:ext>
            </a:extLst>
          </p:cNvPr>
          <p:cNvSpPr>
            <a:spLocks noGrp="1"/>
          </p:cNvSpPr>
          <p:nvPr>
            <p:ph type="title"/>
          </p:nvPr>
        </p:nvSpPr>
        <p:spPr/>
        <p:txBody>
          <a:bodyPr/>
          <a:lstStyle/>
          <a:p>
            <a:r>
              <a:rPr lang="en-US" dirty="0"/>
              <a:t>LSPs</a:t>
            </a:r>
            <a:endParaRPr lang="en-IN" dirty="0"/>
          </a:p>
        </p:txBody>
      </p:sp>
      <p:sp>
        <p:nvSpPr>
          <p:cNvPr id="3" name="Content Placeholder 2">
            <a:extLst>
              <a:ext uri="{FF2B5EF4-FFF2-40B4-BE49-F238E27FC236}">
                <a16:creationId xmlns:a16="http://schemas.microsoft.com/office/drawing/2014/main" id="{B485D493-EEC6-4052-8C06-9523882BE59D}"/>
              </a:ext>
            </a:extLst>
          </p:cNvPr>
          <p:cNvSpPr>
            <a:spLocks noGrp="1"/>
          </p:cNvSpPr>
          <p:nvPr>
            <p:ph idx="1"/>
          </p:nvPr>
        </p:nvSpPr>
        <p:spPr>
          <a:xfrm>
            <a:off x="457200" y="1600200"/>
            <a:ext cx="8534400" cy="4525963"/>
          </a:xfrm>
        </p:spPr>
        <p:txBody>
          <a:bodyPr>
            <a:normAutofit/>
          </a:bodyPr>
          <a:lstStyle/>
          <a:p>
            <a:pPr marL="0" indent="0" algn="just">
              <a:buNone/>
            </a:pPr>
            <a:r>
              <a:rPr lang="en-US" dirty="0"/>
              <a:t>1. Router Link:  </a:t>
            </a:r>
            <a:r>
              <a:rPr lang="en-US" sz="2400" dirty="0"/>
              <a:t>A router link advertises the existence of a router as a node. In addition to giving the address of the announcing router, this type of advertisement can define one or more types of links that connect the advertising router to other entities.</a:t>
            </a:r>
          </a:p>
        </p:txBody>
      </p:sp>
    </p:spTree>
    <p:extLst>
      <p:ext uri="{BB962C8B-B14F-4D97-AF65-F5344CB8AC3E}">
        <p14:creationId xmlns:p14="http://schemas.microsoft.com/office/powerpoint/2010/main" val="205973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1"/>
          <p:cNvSpPr>
            <a:spLocks noGrp="1"/>
          </p:cNvSpPr>
          <p:nvPr>
            <p:ph type="ftr" sz="quarter" idx="10"/>
          </p:nvPr>
        </p:nvSpPr>
        <p:spPr/>
        <p:txBody>
          <a:bodyPr/>
          <a:lstStyle/>
          <a:p>
            <a:r>
              <a:rPr lang="en-US" dirty="0"/>
              <a:t> </a:t>
            </a:r>
          </a:p>
        </p:txBody>
      </p:sp>
      <p:sp>
        <p:nvSpPr>
          <p:cNvPr id="14" name="Slide Number Placeholder 2"/>
          <p:cNvSpPr>
            <a:spLocks noGrp="1"/>
          </p:cNvSpPr>
          <p:nvPr>
            <p:ph type="sldNum" sz="quarter" idx="11"/>
          </p:nvPr>
        </p:nvSpPr>
        <p:spPr/>
        <p:txBody>
          <a:bodyPr/>
          <a:lstStyle/>
          <a:p>
            <a:fld id="{A33817EC-98A9-420D-BF84-3DB59DCE2EEF}" type="slidenum">
              <a:rPr lang="en-US"/>
              <a:pPr/>
              <a:t>7</a:t>
            </a:fld>
            <a:endParaRPr lang="en-US"/>
          </a:p>
        </p:txBody>
      </p:sp>
      <p:sp>
        <p:nvSpPr>
          <p:cNvPr id="500738"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14.21</a:t>
            </a:r>
            <a:r>
              <a:rPr lang="en-US" altLang="en-US">
                <a:solidFill>
                  <a:schemeClr val="accent2"/>
                </a:solidFill>
                <a:latin typeface="Times New Roman" pitchFamily="18" charset="0"/>
              </a:rPr>
              <a:t>    </a:t>
            </a:r>
            <a:r>
              <a:rPr lang="en-US" altLang="en-US" i="1">
                <a:latin typeface="Times New Roman" pitchFamily="18" charset="0"/>
              </a:rPr>
              <a:t>Point-to-point link</a:t>
            </a:r>
          </a:p>
        </p:txBody>
      </p:sp>
      <p:sp>
        <p:nvSpPr>
          <p:cNvPr id="50073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0074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0074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0074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0074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0074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0074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00746" name="Picture 10"/>
          <p:cNvPicPr>
            <a:picLocks noChangeAspect="1" noChangeArrowheads="1"/>
          </p:cNvPicPr>
          <p:nvPr/>
        </p:nvPicPr>
        <p:blipFill>
          <a:blip r:embed="rId2"/>
          <a:srcRect/>
          <a:stretch>
            <a:fillRect/>
          </a:stretch>
        </p:blipFill>
        <p:spPr bwMode="auto">
          <a:xfrm>
            <a:off x="838200" y="4343400"/>
            <a:ext cx="7437438" cy="1144588"/>
          </a:xfrm>
          <a:prstGeom prst="rect">
            <a:avLst/>
          </a:prstGeom>
          <a:noFill/>
          <a:ln w="9525">
            <a:noFill/>
            <a:miter lim="800000"/>
            <a:headEnd/>
            <a:tailEnd/>
          </a:ln>
          <a:effectLst/>
        </p:spPr>
      </p:pic>
      <p:pic>
        <p:nvPicPr>
          <p:cNvPr id="500747" name="Picture 11"/>
          <p:cNvPicPr>
            <a:picLocks noChangeAspect="1" noChangeArrowheads="1"/>
          </p:cNvPicPr>
          <p:nvPr/>
        </p:nvPicPr>
        <p:blipFill>
          <a:blip r:embed="rId3"/>
          <a:srcRect/>
          <a:stretch>
            <a:fillRect/>
          </a:stretch>
        </p:blipFill>
        <p:spPr bwMode="auto">
          <a:xfrm>
            <a:off x="914400" y="1371600"/>
            <a:ext cx="6672263" cy="1479550"/>
          </a:xfrm>
          <a:prstGeom prst="rect">
            <a:avLst/>
          </a:prstGeom>
          <a:noFill/>
          <a:ln w="9525">
            <a:noFill/>
            <a:miter lim="800000"/>
            <a:headEnd/>
            <a:tailEnd/>
          </a:ln>
          <a:effectLst/>
        </p:spPr>
      </p:pic>
      <p:sp>
        <p:nvSpPr>
          <p:cNvPr id="500748" name="Text Box 12"/>
          <p:cNvSpPr txBox="1">
            <a:spLocks noChangeArrowheads="1"/>
          </p:cNvSpPr>
          <p:nvPr/>
        </p:nvSpPr>
        <p:spPr bwMode="auto">
          <a:xfrm>
            <a:off x="1660525" y="5594350"/>
            <a:ext cx="5445125" cy="366713"/>
          </a:xfrm>
          <a:prstGeom prst="rect">
            <a:avLst/>
          </a:prstGeom>
          <a:noFill/>
          <a:ln w="9525">
            <a:noFill/>
            <a:miter lim="800000"/>
            <a:headEnd/>
            <a:tailEnd/>
          </a:ln>
          <a:effectLst/>
        </p:spPr>
        <p:txBody>
          <a:bodyPr wrap="none">
            <a:spAutoFit/>
          </a:bodyPr>
          <a:lstStyle/>
          <a:p>
            <a:r>
              <a:rPr lang="en-US"/>
              <a:t>No hosts in between; T-1 connection common</a:t>
            </a:r>
          </a:p>
        </p:txBody>
      </p:sp>
    </p:spTree>
    <p:extLst>
      <p:ext uri="{BB962C8B-B14F-4D97-AF65-F5344CB8AC3E}">
        <p14:creationId xmlns:p14="http://schemas.microsoft.com/office/powerpoint/2010/main" val="1667380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B84B-C2D4-4020-BFAB-F02A9704A0FD}"/>
              </a:ext>
            </a:extLst>
          </p:cNvPr>
          <p:cNvSpPr>
            <a:spLocks noGrp="1"/>
          </p:cNvSpPr>
          <p:nvPr>
            <p:ph type="title"/>
          </p:nvPr>
        </p:nvSpPr>
        <p:spPr/>
        <p:txBody>
          <a:bodyPr/>
          <a:lstStyle/>
          <a:p>
            <a:r>
              <a:rPr lang="en-US" dirty="0"/>
              <a:t>Types of link</a:t>
            </a:r>
            <a:endParaRPr lang="en-IN" dirty="0"/>
          </a:p>
        </p:txBody>
      </p:sp>
      <p:sp>
        <p:nvSpPr>
          <p:cNvPr id="3" name="Content Placeholder 2">
            <a:extLst>
              <a:ext uri="{FF2B5EF4-FFF2-40B4-BE49-F238E27FC236}">
                <a16:creationId xmlns:a16="http://schemas.microsoft.com/office/drawing/2014/main" id="{CE4CEC2B-0773-4BC5-B44A-9C3AB5762761}"/>
              </a:ext>
            </a:extLst>
          </p:cNvPr>
          <p:cNvSpPr>
            <a:spLocks noGrp="1"/>
          </p:cNvSpPr>
          <p:nvPr>
            <p:ph idx="1"/>
          </p:nvPr>
        </p:nvSpPr>
        <p:spPr>
          <a:xfrm>
            <a:off x="457200" y="1646237"/>
            <a:ext cx="8382000" cy="4525963"/>
          </a:xfrm>
        </p:spPr>
        <p:txBody>
          <a:bodyPr>
            <a:normAutofit fontScale="85000" lnSpcReduction="20000"/>
          </a:bodyPr>
          <a:lstStyle/>
          <a:p>
            <a:pPr algn="just"/>
            <a:r>
              <a:rPr lang="en-US" dirty="0"/>
              <a:t>A </a:t>
            </a:r>
            <a:r>
              <a:rPr lang="en-US" b="1" dirty="0"/>
              <a:t>transient link </a:t>
            </a:r>
            <a:r>
              <a:rPr lang="en-US" dirty="0"/>
              <a:t>announces a link to a transient network, a network that is connected to the rest of the networks by one or more routers. This type of advertisement should define the address of the transient network and the cost of the link. </a:t>
            </a:r>
          </a:p>
          <a:p>
            <a:pPr algn="just"/>
            <a:r>
              <a:rPr lang="en-US" dirty="0"/>
              <a:t>A </a:t>
            </a:r>
            <a:r>
              <a:rPr lang="en-US" b="1" dirty="0"/>
              <a:t>stub link </a:t>
            </a:r>
            <a:r>
              <a:rPr lang="en-US" dirty="0"/>
              <a:t>advertises a link to a stub network, a network that is not a through network. Again, the advertisement should define the address of the network and the cost. </a:t>
            </a:r>
          </a:p>
          <a:p>
            <a:pPr algn="just"/>
            <a:r>
              <a:rPr lang="en-US" dirty="0"/>
              <a:t>A </a:t>
            </a:r>
            <a:r>
              <a:rPr lang="en-US" b="1" dirty="0"/>
              <a:t>point-to-point link </a:t>
            </a:r>
            <a:r>
              <a:rPr lang="en-US" dirty="0"/>
              <a:t>should define the address of the router at the end of the point-to-point line and the cost to get there.</a:t>
            </a:r>
          </a:p>
          <a:p>
            <a:pPr algn="just"/>
            <a:endParaRPr lang="en-IN" dirty="0"/>
          </a:p>
        </p:txBody>
      </p:sp>
    </p:spTree>
    <p:extLst>
      <p:ext uri="{BB962C8B-B14F-4D97-AF65-F5344CB8AC3E}">
        <p14:creationId xmlns:p14="http://schemas.microsoft.com/office/powerpoint/2010/main" val="2927131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2B3FDD-C94F-4A58-B51E-C5C1E511D7F1}"/>
              </a:ext>
            </a:extLst>
          </p:cNvPr>
          <p:cNvSpPr>
            <a:spLocks noGrp="1"/>
          </p:cNvSpPr>
          <p:nvPr>
            <p:ph idx="1"/>
          </p:nvPr>
        </p:nvSpPr>
        <p:spPr>
          <a:xfrm>
            <a:off x="304800" y="914400"/>
            <a:ext cx="8229600" cy="4525963"/>
          </a:xfrm>
        </p:spPr>
        <p:txBody>
          <a:bodyPr>
            <a:normAutofit fontScale="92500" lnSpcReduction="10000"/>
          </a:bodyPr>
          <a:lstStyle/>
          <a:p>
            <a:pPr marL="0" indent="0" algn="just">
              <a:buNone/>
            </a:pPr>
            <a:r>
              <a:rPr lang="en-US" sz="3200" b="1" dirty="0"/>
              <a:t>2. Network Link:  </a:t>
            </a:r>
            <a:r>
              <a:rPr lang="en-US" sz="3200" dirty="0"/>
              <a:t>A network link advertises the network as a node. However, since a network cannot do announcements itself (it is a passive entity), one of the routers is assigned as the designated router and does the advertising. </a:t>
            </a:r>
          </a:p>
          <a:p>
            <a:pPr marL="0" indent="0" algn="just">
              <a:buNone/>
            </a:pPr>
            <a:r>
              <a:rPr lang="en-US" sz="3200" b="1" dirty="0"/>
              <a:t>3. Summary link to network: </a:t>
            </a:r>
            <a:r>
              <a:rPr lang="en-US" sz="3200" dirty="0"/>
              <a:t>This is done by an area border router; it advertises the summary of links collected by the backbone to an area or the summary of links collected by the area to the backbone.</a:t>
            </a:r>
            <a:endParaRPr lang="en-IN" sz="3200" dirty="0"/>
          </a:p>
          <a:p>
            <a:endParaRPr lang="en-IN" dirty="0"/>
          </a:p>
        </p:txBody>
      </p:sp>
    </p:spTree>
    <p:extLst>
      <p:ext uri="{BB962C8B-B14F-4D97-AF65-F5344CB8AC3E}">
        <p14:creationId xmlns:p14="http://schemas.microsoft.com/office/powerpoint/2010/main" val="319639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1CC37-A5DC-45A2-AC8A-EE16726BC356}"/>
              </a:ext>
            </a:extLst>
          </p:cNvPr>
          <p:cNvSpPr>
            <a:spLocks noGrp="1"/>
          </p:cNvSpPr>
          <p:nvPr>
            <p:ph type="title"/>
          </p:nvPr>
        </p:nvSpPr>
        <p:spPr/>
        <p:txBody>
          <a:bodyPr/>
          <a:lstStyle/>
          <a:p>
            <a:r>
              <a:rPr lang="en-US" dirty="0"/>
              <a:t>LSPs</a:t>
            </a:r>
            <a:endParaRPr lang="en-IN" dirty="0"/>
          </a:p>
        </p:txBody>
      </p:sp>
      <p:sp>
        <p:nvSpPr>
          <p:cNvPr id="3" name="Content Placeholder 2">
            <a:extLst>
              <a:ext uri="{FF2B5EF4-FFF2-40B4-BE49-F238E27FC236}">
                <a16:creationId xmlns:a16="http://schemas.microsoft.com/office/drawing/2014/main" id="{EF45545B-7BAB-4F9B-AF81-326C04FC6C0C}"/>
              </a:ext>
            </a:extLst>
          </p:cNvPr>
          <p:cNvSpPr>
            <a:spLocks noGrp="1"/>
          </p:cNvSpPr>
          <p:nvPr>
            <p:ph idx="1"/>
          </p:nvPr>
        </p:nvSpPr>
        <p:spPr/>
        <p:txBody>
          <a:bodyPr>
            <a:normAutofit fontScale="92500" lnSpcReduction="10000"/>
          </a:bodyPr>
          <a:lstStyle/>
          <a:p>
            <a:pPr marL="0" indent="0" algn="just">
              <a:buNone/>
            </a:pPr>
            <a:r>
              <a:rPr lang="en-US" b="1" dirty="0"/>
              <a:t>4. Summary link to AS: </a:t>
            </a:r>
            <a:r>
              <a:rPr lang="en-US" dirty="0"/>
              <a:t>This is done by an AS router that advertises the summary links from other ASs to the backbone area of the current AS, information which later can be disseminated to the areas so that they will know about the networks in other ASs.</a:t>
            </a:r>
          </a:p>
          <a:p>
            <a:pPr marL="0" indent="0" algn="just">
              <a:buNone/>
            </a:pPr>
            <a:r>
              <a:rPr lang="en-US" b="1" dirty="0"/>
              <a:t>5. External link. </a:t>
            </a:r>
            <a:r>
              <a:rPr lang="en-US" dirty="0"/>
              <a:t>This is also done by an AS router to announce the existence of a single network outside the AS to the backbone area to be disseminated into the areas.</a:t>
            </a:r>
          </a:p>
          <a:p>
            <a:pPr algn="just"/>
            <a:endParaRPr lang="en-IN" dirty="0"/>
          </a:p>
        </p:txBody>
      </p:sp>
    </p:spTree>
    <p:extLst>
      <p:ext uri="{BB962C8B-B14F-4D97-AF65-F5344CB8AC3E}">
        <p14:creationId xmlns:p14="http://schemas.microsoft.com/office/powerpoint/2010/main" val="377318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3EF9-D5DC-4B44-975A-D08CEA5AA0CF}"/>
              </a:ext>
            </a:extLst>
          </p:cNvPr>
          <p:cNvSpPr>
            <a:spLocks noGrp="1"/>
          </p:cNvSpPr>
          <p:nvPr>
            <p:ph type="title"/>
          </p:nvPr>
        </p:nvSpPr>
        <p:spPr/>
        <p:txBody>
          <a:bodyPr/>
          <a:lstStyle/>
          <a:p>
            <a:r>
              <a:rPr lang="en-US" dirty="0"/>
              <a:t>OSPF message format</a:t>
            </a:r>
            <a:endParaRPr lang="en-IN" dirty="0"/>
          </a:p>
        </p:txBody>
      </p:sp>
      <p:pic>
        <p:nvPicPr>
          <p:cNvPr id="7" name="Picture 6">
            <a:extLst>
              <a:ext uri="{FF2B5EF4-FFF2-40B4-BE49-F238E27FC236}">
                <a16:creationId xmlns:a16="http://schemas.microsoft.com/office/drawing/2014/main" id="{8B7E1134-9D5D-47AA-83A0-AC49B8F88736}"/>
              </a:ext>
            </a:extLst>
          </p:cNvPr>
          <p:cNvPicPr>
            <a:picLocks noChangeAspect="1"/>
          </p:cNvPicPr>
          <p:nvPr/>
        </p:nvPicPr>
        <p:blipFill rotWithShape="1">
          <a:blip r:embed="rId2"/>
          <a:srcRect l="31667" t="63340" r="8333" b="8499"/>
          <a:stretch/>
        </p:blipFill>
        <p:spPr>
          <a:xfrm>
            <a:off x="685800" y="1905001"/>
            <a:ext cx="8001000" cy="3657600"/>
          </a:xfrm>
          <a:prstGeom prst="rect">
            <a:avLst/>
          </a:prstGeom>
        </p:spPr>
      </p:pic>
    </p:spTree>
    <p:extLst>
      <p:ext uri="{BB962C8B-B14F-4D97-AF65-F5344CB8AC3E}">
        <p14:creationId xmlns:p14="http://schemas.microsoft.com/office/powerpoint/2010/main" val="57902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81E024CD-F3DC-4E38-881D-188A6E92EB5A}"/>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13415A43-6610-4E4B-B9AE-03640C6F031C}"/>
              </a:ext>
            </a:extLst>
          </p:cNvPr>
          <p:cNvSpPr>
            <a:spLocks noGrp="1"/>
          </p:cNvSpPr>
          <p:nvPr>
            <p:ph type="sldNum" sz="quarter" idx="11"/>
          </p:nvPr>
        </p:nvSpPr>
        <p:spPr/>
        <p:txBody>
          <a:bodyPr/>
          <a:lstStyle/>
          <a:p>
            <a:fld id="{B312B7F0-C91B-4444-8148-1DE4CB01153F}" type="slidenum">
              <a:rPr lang="en-US" altLang="en-US"/>
              <a:pPr/>
              <a:t>12</a:t>
            </a:fld>
            <a:endParaRPr lang="en-US" altLang="en-US"/>
          </a:p>
        </p:txBody>
      </p:sp>
      <p:grpSp>
        <p:nvGrpSpPr>
          <p:cNvPr id="478210" name="Group 2">
            <a:extLst>
              <a:ext uri="{FF2B5EF4-FFF2-40B4-BE49-F238E27FC236}">
                <a16:creationId xmlns:a16="http://schemas.microsoft.com/office/drawing/2014/main" id="{99B936B8-88F8-4614-ACD6-5222E7D3D830}"/>
              </a:ext>
            </a:extLst>
          </p:cNvPr>
          <p:cNvGrpSpPr>
            <a:grpSpLocks/>
          </p:cNvGrpSpPr>
          <p:nvPr/>
        </p:nvGrpSpPr>
        <p:grpSpPr bwMode="auto">
          <a:xfrm>
            <a:off x="0" y="0"/>
            <a:ext cx="8686800" cy="6400800"/>
            <a:chOff x="0" y="96"/>
            <a:chExt cx="5472" cy="3840"/>
          </a:xfrm>
        </p:grpSpPr>
        <p:sp>
          <p:nvSpPr>
            <p:cNvPr id="478211" name="AutoShape 3">
              <a:extLst>
                <a:ext uri="{FF2B5EF4-FFF2-40B4-BE49-F238E27FC236}">
                  <a16:creationId xmlns:a16="http://schemas.microsoft.com/office/drawing/2014/main" id="{5972BA2D-5BA9-460E-BA54-F96E354E4AB9}"/>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8212" name="AutoShape 4">
              <a:extLst>
                <a:ext uri="{FF2B5EF4-FFF2-40B4-BE49-F238E27FC236}">
                  <a16:creationId xmlns:a16="http://schemas.microsoft.com/office/drawing/2014/main" id="{E10EE974-74F2-4DFC-BBF5-FFC6B31D8513}"/>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8213" name="Line 5">
              <a:extLst>
                <a:ext uri="{FF2B5EF4-FFF2-40B4-BE49-F238E27FC236}">
                  <a16:creationId xmlns:a16="http://schemas.microsoft.com/office/drawing/2014/main" id="{9D8F15D9-30F6-4090-A1AB-0E971DC0BC77}"/>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8214" name="Text Box 6">
            <a:extLst>
              <a:ext uri="{FF2B5EF4-FFF2-40B4-BE49-F238E27FC236}">
                <a16:creationId xmlns:a16="http://schemas.microsoft.com/office/drawing/2014/main" id="{005E86E0-3601-4ACE-8CB3-B60035C7925A}"/>
              </a:ext>
            </a:extLst>
          </p:cNvPr>
          <p:cNvSpPr txBox="1">
            <a:spLocks noChangeArrowheads="1"/>
          </p:cNvSpPr>
          <p:nvPr/>
        </p:nvSpPr>
        <p:spPr bwMode="auto">
          <a:xfrm>
            <a:off x="228600" y="354013"/>
            <a:ext cx="6965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14.6   PATH VECTOR ROUTING</a:t>
            </a:r>
          </a:p>
        </p:txBody>
      </p:sp>
      <p:sp>
        <p:nvSpPr>
          <p:cNvPr id="478215" name="Rectangle 7">
            <a:extLst>
              <a:ext uri="{FF2B5EF4-FFF2-40B4-BE49-F238E27FC236}">
                <a16:creationId xmlns:a16="http://schemas.microsoft.com/office/drawing/2014/main" id="{6FC59D7D-D5D2-422B-9644-C48B6B2F7DDD}"/>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dirty="0">
                <a:effectLst>
                  <a:outerShdw blurRad="38100" dist="38100" dir="2700000" algn="tl">
                    <a:srgbClr val="C0C0C0"/>
                  </a:outerShdw>
                </a:effectLst>
                <a:latin typeface="Times New Roman" panose="02020603050405020304" pitchFamily="18" charset="0"/>
              </a:rPr>
              <a:t>Path vector routing is similar to distance vector routing. There is at least one node, called the speaker node, in each AS that creates a routing table and advertises it to other speaker nodes in the neighboring ASs.. </a:t>
            </a:r>
          </a:p>
        </p:txBody>
      </p:sp>
      <p:sp>
        <p:nvSpPr>
          <p:cNvPr id="478216" name="Rectangle 8">
            <a:extLst>
              <a:ext uri="{FF2B5EF4-FFF2-40B4-BE49-F238E27FC236}">
                <a16:creationId xmlns:a16="http://schemas.microsoft.com/office/drawing/2014/main" id="{2FF6D11B-2A4D-46C4-B868-0F3DC2A4B80F}"/>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8217" name="Rectangle 9">
            <a:extLst>
              <a:ext uri="{FF2B5EF4-FFF2-40B4-BE49-F238E27FC236}">
                <a16:creationId xmlns:a16="http://schemas.microsoft.com/office/drawing/2014/main" id="{BF1B96B7-A589-43D2-BAC8-B6D73605605E}"/>
              </a:ext>
            </a:extLst>
          </p:cNvPr>
          <p:cNvSpPr>
            <a:spLocks noChangeArrowheads="1"/>
          </p:cNvSpPr>
          <p:nvPr/>
        </p:nvSpPr>
        <p:spPr bwMode="auto">
          <a:xfrm>
            <a:off x="685800" y="4403725"/>
            <a:ext cx="7315200" cy="1006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Initialization </a:t>
            </a:r>
          </a:p>
          <a:p>
            <a:r>
              <a:rPr lang="en-US" altLang="en-US" sz="2000" i="1">
                <a:effectLst>
                  <a:outerShdw blurRad="38100" dist="38100" dir="2700000" algn="tl">
                    <a:srgbClr val="C0C0C0"/>
                  </a:outerShdw>
                </a:effectLst>
                <a:latin typeface="Times New Roman" panose="02020603050405020304" pitchFamily="18" charset="0"/>
              </a:rPr>
              <a:t>Sharing </a:t>
            </a:r>
          </a:p>
          <a:p>
            <a:r>
              <a:rPr lang="en-US" altLang="en-US" sz="2000" i="1">
                <a:effectLst>
                  <a:outerShdw blurRad="38100" dist="38100" dir="2700000" algn="tl">
                    <a:srgbClr val="C0C0C0"/>
                  </a:outerShdw>
                </a:effectLst>
                <a:latin typeface="Times New Roman" panose="02020603050405020304" pitchFamily="18" charset="0"/>
              </a:rPr>
              <a:t>Updating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D624588A-7A9A-465B-BD0B-045097F2A4E0}"/>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6D45A4F5-F499-486B-94F0-B0F75ECEB4DA}"/>
              </a:ext>
            </a:extLst>
          </p:cNvPr>
          <p:cNvSpPr>
            <a:spLocks noGrp="1"/>
          </p:cNvSpPr>
          <p:nvPr>
            <p:ph type="sldNum" sz="quarter" idx="11"/>
          </p:nvPr>
        </p:nvSpPr>
        <p:spPr/>
        <p:txBody>
          <a:bodyPr/>
          <a:lstStyle/>
          <a:p>
            <a:fld id="{BE84C91A-0CC6-4B37-AE44-86D11A8F4298}" type="slidenum">
              <a:rPr lang="en-US" altLang="en-US"/>
              <a:pPr/>
              <a:t>13</a:t>
            </a:fld>
            <a:endParaRPr lang="en-US" altLang="en-US"/>
          </a:p>
        </p:txBody>
      </p:sp>
      <p:sp>
        <p:nvSpPr>
          <p:cNvPr id="528386" name="Text Box 2">
            <a:extLst>
              <a:ext uri="{FF2B5EF4-FFF2-40B4-BE49-F238E27FC236}">
                <a16:creationId xmlns:a16="http://schemas.microsoft.com/office/drawing/2014/main" id="{95BB688E-C58E-4697-B9FD-26F86C85356C}"/>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14.48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Initial routing tables in path vector routing</a:t>
            </a:r>
          </a:p>
        </p:txBody>
      </p:sp>
      <p:sp>
        <p:nvSpPr>
          <p:cNvPr id="528387" name="Rectangle 3">
            <a:extLst>
              <a:ext uri="{FF2B5EF4-FFF2-40B4-BE49-F238E27FC236}">
                <a16:creationId xmlns:a16="http://schemas.microsoft.com/office/drawing/2014/main" id="{7CC1E582-B054-44EA-B0DE-6EE66BB9EC9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88" name="Rectangle 4">
            <a:extLst>
              <a:ext uri="{FF2B5EF4-FFF2-40B4-BE49-F238E27FC236}">
                <a16:creationId xmlns:a16="http://schemas.microsoft.com/office/drawing/2014/main" id="{068BF93C-A5FF-4AAD-B1FD-FE274F513F8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89" name="Rectangle 5">
            <a:extLst>
              <a:ext uri="{FF2B5EF4-FFF2-40B4-BE49-F238E27FC236}">
                <a16:creationId xmlns:a16="http://schemas.microsoft.com/office/drawing/2014/main" id="{9320364F-188F-48AD-802B-82876F28385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90" name="Rectangle 6">
            <a:extLst>
              <a:ext uri="{FF2B5EF4-FFF2-40B4-BE49-F238E27FC236}">
                <a16:creationId xmlns:a16="http://schemas.microsoft.com/office/drawing/2014/main" id="{28034DEF-8E83-44D8-93AA-5F4FC5013A2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91" name="Rectangle 7">
            <a:extLst>
              <a:ext uri="{FF2B5EF4-FFF2-40B4-BE49-F238E27FC236}">
                <a16:creationId xmlns:a16="http://schemas.microsoft.com/office/drawing/2014/main" id="{76B32505-E9EF-4622-AA8A-7837EF8EF58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92" name="Rectangle 8">
            <a:extLst>
              <a:ext uri="{FF2B5EF4-FFF2-40B4-BE49-F238E27FC236}">
                <a16:creationId xmlns:a16="http://schemas.microsoft.com/office/drawing/2014/main" id="{382F03A0-DD38-4EE2-BE4A-F96203FA54D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8393" name="Rectangle 9">
            <a:extLst>
              <a:ext uri="{FF2B5EF4-FFF2-40B4-BE49-F238E27FC236}">
                <a16:creationId xmlns:a16="http://schemas.microsoft.com/office/drawing/2014/main" id="{31F33D48-5C38-48E9-824F-CD49075D9A1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28394" name="Picture 10">
            <a:extLst>
              <a:ext uri="{FF2B5EF4-FFF2-40B4-BE49-F238E27FC236}">
                <a16:creationId xmlns:a16="http://schemas.microsoft.com/office/drawing/2014/main" id="{BF8F08BC-7966-4DB6-B6B9-26AB17ABC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036638"/>
            <a:ext cx="8218487" cy="528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40488AD-E1FE-4683-B50D-261DF3E8A651}"/>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B0F6C4E8-6D60-464F-9AF6-D47BF93C008E}"/>
              </a:ext>
            </a:extLst>
          </p:cNvPr>
          <p:cNvSpPr>
            <a:spLocks noGrp="1"/>
          </p:cNvSpPr>
          <p:nvPr>
            <p:ph type="sldNum" sz="quarter" idx="11"/>
          </p:nvPr>
        </p:nvSpPr>
        <p:spPr/>
        <p:txBody>
          <a:bodyPr/>
          <a:lstStyle/>
          <a:p>
            <a:fld id="{23567E90-0FE7-4744-A7C4-AABC5E4F285E}" type="slidenum">
              <a:rPr lang="en-US" altLang="en-US"/>
              <a:pPr/>
              <a:t>14</a:t>
            </a:fld>
            <a:endParaRPr lang="en-US" altLang="en-US"/>
          </a:p>
        </p:txBody>
      </p:sp>
      <p:sp>
        <p:nvSpPr>
          <p:cNvPr id="529410" name="Text Box 2">
            <a:extLst>
              <a:ext uri="{FF2B5EF4-FFF2-40B4-BE49-F238E27FC236}">
                <a16:creationId xmlns:a16="http://schemas.microsoft.com/office/drawing/2014/main" id="{4F0E7DAD-0681-426D-9F10-F300DB5DCFFC}"/>
              </a:ext>
            </a:extLst>
          </p:cNvPr>
          <p:cNvSpPr txBox="1">
            <a:spLocks noChangeArrowheads="1"/>
          </p:cNvSpPr>
          <p:nvPr/>
        </p:nvSpPr>
        <p:spPr bwMode="auto">
          <a:xfrm>
            <a:off x="990600" y="90488"/>
            <a:ext cx="71628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14.49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Stabilized tables for four autonomous systems</a:t>
            </a:r>
          </a:p>
        </p:txBody>
      </p:sp>
      <p:sp>
        <p:nvSpPr>
          <p:cNvPr id="529411" name="Rectangle 3">
            <a:extLst>
              <a:ext uri="{FF2B5EF4-FFF2-40B4-BE49-F238E27FC236}">
                <a16:creationId xmlns:a16="http://schemas.microsoft.com/office/drawing/2014/main" id="{A041CD51-43D7-4C2A-AE78-001882EBFDA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2" name="Rectangle 4">
            <a:extLst>
              <a:ext uri="{FF2B5EF4-FFF2-40B4-BE49-F238E27FC236}">
                <a16:creationId xmlns:a16="http://schemas.microsoft.com/office/drawing/2014/main" id="{0A13CC53-4DEE-4024-BD8F-B2915B31685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3" name="Rectangle 5">
            <a:extLst>
              <a:ext uri="{FF2B5EF4-FFF2-40B4-BE49-F238E27FC236}">
                <a16:creationId xmlns:a16="http://schemas.microsoft.com/office/drawing/2014/main" id="{CFB879E3-BFB0-4091-863D-B2C76D81507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4" name="Rectangle 6">
            <a:extLst>
              <a:ext uri="{FF2B5EF4-FFF2-40B4-BE49-F238E27FC236}">
                <a16:creationId xmlns:a16="http://schemas.microsoft.com/office/drawing/2014/main" id="{19C7C8A6-9969-4F83-87FF-D0BA89C7441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5" name="Rectangle 7">
            <a:extLst>
              <a:ext uri="{FF2B5EF4-FFF2-40B4-BE49-F238E27FC236}">
                <a16:creationId xmlns:a16="http://schemas.microsoft.com/office/drawing/2014/main" id="{E6C31B10-5820-4F0B-855E-9EF4200C886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6" name="Rectangle 8">
            <a:extLst>
              <a:ext uri="{FF2B5EF4-FFF2-40B4-BE49-F238E27FC236}">
                <a16:creationId xmlns:a16="http://schemas.microsoft.com/office/drawing/2014/main" id="{908B26DB-1617-4E19-A5AA-A24333531C8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29417" name="Rectangle 9">
            <a:extLst>
              <a:ext uri="{FF2B5EF4-FFF2-40B4-BE49-F238E27FC236}">
                <a16:creationId xmlns:a16="http://schemas.microsoft.com/office/drawing/2014/main" id="{9BAB28CD-8A16-469B-AE6F-D1373206588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29418" name="Picture 10">
            <a:extLst>
              <a:ext uri="{FF2B5EF4-FFF2-40B4-BE49-F238E27FC236}">
                <a16:creationId xmlns:a16="http://schemas.microsoft.com/office/drawing/2014/main" id="{E805FE8F-D9B5-489A-A8C1-0A92AE4C55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638" y="2297113"/>
            <a:ext cx="7980362"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1"/>
          <p:cNvSpPr>
            <a:spLocks noGrp="1"/>
          </p:cNvSpPr>
          <p:nvPr>
            <p:ph type="ftr" sz="quarter" idx="10"/>
          </p:nvPr>
        </p:nvSpPr>
        <p:spPr/>
        <p:txBody>
          <a:bodyPr/>
          <a:lstStyle/>
          <a:p>
            <a:r>
              <a:rPr lang="en-US" dirty="0"/>
              <a:t> </a:t>
            </a:r>
          </a:p>
        </p:txBody>
      </p:sp>
      <p:sp>
        <p:nvSpPr>
          <p:cNvPr id="9" name="Slide Number Placeholder 2"/>
          <p:cNvSpPr>
            <a:spLocks noGrp="1"/>
          </p:cNvSpPr>
          <p:nvPr>
            <p:ph type="sldNum" sz="quarter" idx="11"/>
          </p:nvPr>
        </p:nvSpPr>
        <p:spPr/>
        <p:txBody>
          <a:bodyPr/>
          <a:lstStyle/>
          <a:p>
            <a:fld id="{EB2B1C26-07EC-4DB4-81C8-2519FC5F3A16}" type="slidenum">
              <a:rPr lang="en-US"/>
              <a:pPr/>
              <a:t>15</a:t>
            </a:fld>
            <a:endParaRPr lang="en-US"/>
          </a:p>
        </p:txBody>
      </p:sp>
      <p:grpSp>
        <p:nvGrpSpPr>
          <p:cNvPr id="479234" name="Group 2"/>
          <p:cNvGrpSpPr>
            <a:grpSpLocks/>
          </p:cNvGrpSpPr>
          <p:nvPr/>
        </p:nvGrpSpPr>
        <p:grpSpPr bwMode="auto">
          <a:xfrm>
            <a:off x="0" y="0"/>
            <a:ext cx="8686800" cy="6400800"/>
            <a:chOff x="0" y="96"/>
            <a:chExt cx="5472" cy="3840"/>
          </a:xfrm>
        </p:grpSpPr>
        <p:sp>
          <p:nvSpPr>
            <p:cNvPr id="479235"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eaLnBrk="1" hangingPunct="1"/>
              <a:endParaRPr lang="en-US" sz="2400">
                <a:latin typeface="Times New Roman" pitchFamily="18" charset="0"/>
              </a:endParaRPr>
            </a:p>
          </p:txBody>
        </p:sp>
        <p:sp>
          <p:nvSpPr>
            <p:cNvPr id="479236"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169" y="0"/>
                </a:cxn>
                <a:cxn ang="0">
                  <a:pos x="6670" y="500"/>
                </a:cxn>
                <a:cxn ang="0">
                  <a:pos x="6170" y="1000"/>
                </a:cxn>
                <a:cxn ang="0">
                  <a:pos x="0" y="1000"/>
                </a:cxn>
              </a:cxnLst>
              <a:rect l="T0" t="T1" r="T2" b="T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w="9525">
              <a:noFill/>
              <a:miter lim="800000"/>
              <a:headEnd/>
              <a:tailEnd/>
            </a:ln>
          </p:spPr>
          <p:txBody>
            <a:bodyPr/>
            <a:lstStyle/>
            <a:p>
              <a:pPr eaLnBrk="1" hangingPunct="1"/>
              <a:endParaRPr lang="en-US" sz="2400">
                <a:latin typeface="Times New Roman" pitchFamily="18" charset="0"/>
              </a:endParaRPr>
            </a:p>
          </p:txBody>
        </p:sp>
        <p:sp>
          <p:nvSpPr>
            <p:cNvPr id="479237"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n-US"/>
            </a:p>
          </p:txBody>
        </p:sp>
      </p:grpSp>
      <p:sp>
        <p:nvSpPr>
          <p:cNvPr id="479238" name="Text Box 6"/>
          <p:cNvSpPr txBox="1">
            <a:spLocks noChangeArrowheads="1"/>
          </p:cNvSpPr>
          <p:nvPr/>
        </p:nvSpPr>
        <p:spPr bwMode="auto">
          <a:xfrm>
            <a:off x="228600" y="354013"/>
            <a:ext cx="2444750" cy="641350"/>
          </a:xfrm>
          <a:prstGeom prst="rect">
            <a:avLst/>
          </a:prstGeom>
          <a:noFill/>
          <a:ln w="9525">
            <a:noFill/>
            <a:miter lim="800000"/>
            <a:headEnd/>
            <a:tailEnd/>
          </a:ln>
          <a:effectLst/>
        </p:spPr>
        <p:txBody>
          <a:bodyPr wrap="none">
            <a:spAutoFit/>
          </a:bodyPr>
          <a:lstStyle/>
          <a:p>
            <a:r>
              <a:rPr lang="en-US" sz="3600">
                <a:solidFill>
                  <a:schemeClr val="bg1"/>
                </a:solidFill>
                <a:latin typeface="Arial" pitchFamily="34" charset="0"/>
              </a:rPr>
              <a:t>14.7   BGP</a:t>
            </a:r>
          </a:p>
        </p:txBody>
      </p:sp>
      <p:sp>
        <p:nvSpPr>
          <p:cNvPr id="479239" name="Rectangle 7"/>
          <p:cNvSpPr>
            <a:spLocks noChangeArrowheads="1"/>
          </p:cNvSpPr>
          <p:nvPr/>
        </p:nvSpPr>
        <p:spPr bwMode="auto">
          <a:xfrm>
            <a:off x="533400" y="1371600"/>
            <a:ext cx="7848600" cy="4054475"/>
          </a:xfrm>
          <a:prstGeom prst="rect">
            <a:avLst/>
          </a:prstGeom>
          <a:noFill/>
          <a:ln w="9525">
            <a:noFill/>
            <a:miter lim="800000"/>
            <a:headEnd/>
            <a:tailEnd/>
          </a:ln>
          <a:effectLst/>
        </p:spPr>
        <p:txBody>
          <a:bodyPr>
            <a:spAutoFit/>
          </a:bodyPr>
          <a:lstStyle/>
          <a:p>
            <a:pPr algn="just"/>
            <a:r>
              <a:rPr lang="en-US" sz="2000" i="1">
                <a:effectLst>
                  <a:outerShdw blurRad="38100" dist="38100" dir="2700000" algn="tl">
                    <a:srgbClr val="C0C0C0"/>
                  </a:outerShdw>
                </a:effectLst>
                <a:latin typeface="Times New Roman" pitchFamily="18" charset="0"/>
              </a:rPr>
              <a:t>Border Gateway Protocol (BGP) is an interdomain routing protocol using path vector routing. It first appeared in 1989 and has gone through four versions.</a:t>
            </a:r>
          </a:p>
          <a:p>
            <a:pPr algn="just"/>
            <a:endParaRPr lang="en-US" sz="2000" i="1">
              <a:effectLst>
                <a:outerShdw blurRad="38100" dist="38100" dir="2700000" algn="tl">
                  <a:srgbClr val="C0C0C0"/>
                </a:outerShdw>
              </a:effectLst>
              <a:latin typeface="Times New Roman" pitchFamily="18" charset="0"/>
            </a:endParaRPr>
          </a:p>
          <a:p>
            <a:pPr algn="just"/>
            <a:r>
              <a:rPr lang="en-US" sz="2000" i="1">
                <a:effectLst>
                  <a:outerShdw blurRad="38100" dist="38100" dir="2700000" algn="tl">
                    <a:srgbClr val="C0C0C0"/>
                  </a:outerShdw>
                </a:effectLst>
                <a:latin typeface="Times New Roman" pitchFamily="18" charset="0"/>
              </a:rPr>
              <a:t>BGP interconnects three different types of AS:</a:t>
            </a:r>
          </a:p>
          <a:p>
            <a:pPr algn="just"/>
            <a:endParaRPr lang="en-US" sz="2000" i="1">
              <a:effectLst>
                <a:outerShdw blurRad="38100" dist="38100" dir="2700000" algn="tl">
                  <a:srgbClr val="C0C0C0"/>
                </a:outerShdw>
              </a:effectLst>
              <a:latin typeface="Times New Roman" pitchFamily="18" charset="0"/>
            </a:endParaRPr>
          </a:p>
          <a:p>
            <a:pPr algn="just"/>
            <a:r>
              <a:rPr lang="en-US" sz="2000" i="1">
                <a:effectLst>
                  <a:outerShdw blurRad="38100" dist="38100" dir="2700000" algn="tl">
                    <a:srgbClr val="C0C0C0"/>
                  </a:outerShdw>
                </a:effectLst>
                <a:latin typeface="Times New Roman" pitchFamily="18" charset="0"/>
              </a:rPr>
              <a:t>1. Stub AS, e.g. a corporate network</a:t>
            </a:r>
          </a:p>
          <a:p>
            <a:pPr algn="just"/>
            <a:endParaRPr lang="en-US" sz="2000" i="1">
              <a:effectLst>
                <a:outerShdw blurRad="38100" dist="38100" dir="2700000" algn="tl">
                  <a:srgbClr val="C0C0C0"/>
                </a:outerShdw>
              </a:effectLst>
              <a:latin typeface="Times New Roman" pitchFamily="18" charset="0"/>
            </a:endParaRPr>
          </a:p>
          <a:p>
            <a:pPr algn="just"/>
            <a:r>
              <a:rPr lang="en-US" sz="2000" i="1">
                <a:effectLst>
                  <a:outerShdw blurRad="38100" dist="38100" dir="2700000" algn="tl">
                    <a:srgbClr val="C0C0C0"/>
                  </a:outerShdw>
                </a:effectLst>
                <a:latin typeface="Times New Roman" pitchFamily="18" charset="0"/>
              </a:rPr>
              <a:t>2. Multihomed AS, e.g. a large corporate network with connections to</a:t>
            </a:r>
          </a:p>
          <a:p>
            <a:pPr algn="just"/>
            <a:r>
              <a:rPr lang="en-US" sz="2000" i="1">
                <a:effectLst>
                  <a:outerShdw blurRad="38100" dist="38100" dir="2700000" algn="tl">
                    <a:srgbClr val="C0C0C0"/>
                  </a:outerShdw>
                </a:effectLst>
                <a:latin typeface="Times New Roman" pitchFamily="18" charset="0"/>
              </a:rPr>
              <a:t>multiple ASs, but does not allow traffic to pass thru (transient)</a:t>
            </a:r>
          </a:p>
          <a:p>
            <a:pPr algn="just"/>
            <a:endParaRPr lang="en-US" sz="2000" i="1">
              <a:effectLst>
                <a:outerShdw blurRad="38100" dist="38100" dir="2700000" algn="tl">
                  <a:srgbClr val="C0C0C0"/>
                </a:outerShdw>
              </a:effectLst>
              <a:latin typeface="Times New Roman" pitchFamily="18" charset="0"/>
            </a:endParaRPr>
          </a:p>
          <a:p>
            <a:pPr algn="just"/>
            <a:r>
              <a:rPr lang="en-US" sz="2000" i="1">
                <a:effectLst>
                  <a:outerShdw blurRad="38100" dist="38100" dir="2700000" algn="tl">
                    <a:srgbClr val="C0C0C0"/>
                  </a:outerShdw>
                </a:effectLst>
                <a:latin typeface="Times New Roman" pitchFamily="18" charset="0"/>
              </a:rPr>
              <a:t>3. Transit AS - one that allows transient traffic, such as an Internet backbone</a:t>
            </a:r>
          </a:p>
        </p:txBody>
      </p:sp>
    </p:spTree>
    <p:extLst>
      <p:ext uri="{BB962C8B-B14F-4D97-AF65-F5344CB8AC3E}">
        <p14:creationId xmlns:p14="http://schemas.microsoft.com/office/powerpoint/2010/main" val="690745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169F0FD5-A6E1-464E-A648-3831BEEDA926}"/>
              </a:ext>
            </a:extLst>
          </p:cNvPr>
          <p:cNvPicPr>
            <a:picLocks noChangeAspect="1"/>
          </p:cNvPicPr>
          <p:nvPr/>
        </p:nvPicPr>
        <p:blipFill rotWithShape="1">
          <a:blip r:embed="rId2"/>
          <a:srcRect l="29175" t="31990" r="6458" b="15818"/>
          <a:stretch/>
        </p:blipFill>
        <p:spPr>
          <a:xfrm>
            <a:off x="685800" y="846138"/>
            <a:ext cx="7772400" cy="4525963"/>
          </a:xfrm>
          <a:prstGeom prst="rect">
            <a:avLst/>
          </a:prstGeom>
        </p:spPr>
      </p:pic>
    </p:spTree>
    <p:extLst>
      <p:ext uri="{BB962C8B-B14F-4D97-AF65-F5344CB8AC3E}">
        <p14:creationId xmlns:p14="http://schemas.microsoft.com/office/powerpoint/2010/main" val="3561385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8B93CB5-34FE-476D-A9CD-EA20A7986023}"/>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BD460F25-6980-41A4-B6E3-E65E3555019A}"/>
              </a:ext>
            </a:extLst>
          </p:cNvPr>
          <p:cNvSpPr>
            <a:spLocks noGrp="1"/>
          </p:cNvSpPr>
          <p:nvPr>
            <p:ph type="sldNum" sz="quarter" idx="11"/>
          </p:nvPr>
        </p:nvSpPr>
        <p:spPr/>
        <p:txBody>
          <a:bodyPr/>
          <a:lstStyle/>
          <a:p>
            <a:fld id="{A9327DBE-6842-4400-8050-DE919767998A}" type="slidenum">
              <a:rPr lang="en-US" altLang="en-US"/>
              <a:pPr/>
              <a:t>17</a:t>
            </a:fld>
            <a:endParaRPr lang="en-US" altLang="en-US"/>
          </a:p>
        </p:txBody>
      </p:sp>
      <p:sp>
        <p:nvSpPr>
          <p:cNvPr id="530434" name="Text Box 2">
            <a:extLst>
              <a:ext uri="{FF2B5EF4-FFF2-40B4-BE49-F238E27FC236}">
                <a16:creationId xmlns:a16="http://schemas.microsoft.com/office/drawing/2014/main" id="{A9391DFD-CC76-464B-8640-E679394757F3}"/>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solidFill>
                  <a:srgbClr val="0000FF"/>
                </a:solidFill>
                <a:latin typeface="Times New Roman" panose="02020603050405020304" pitchFamily="18" charset="0"/>
              </a:rPr>
              <a:t>Figure 14.50</a:t>
            </a:r>
            <a:r>
              <a:rPr lang="en-US" altLang="en-US" dirty="0">
                <a:solidFill>
                  <a:schemeClr val="accent2"/>
                </a:solidFill>
                <a:latin typeface="Times New Roman" panose="02020603050405020304" pitchFamily="18" charset="0"/>
              </a:rPr>
              <a:t>    </a:t>
            </a:r>
            <a:r>
              <a:rPr lang="en-US" altLang="en-US" i="1" dirty="0">
                <a:latin typeface="Times New Roman" panose="02020603050405020304" pitchFamily="18" charset="0"/>
              </a:rPr>
              <a:t>Internal and external BGP sessions</a:t>
            </a:r>
          </a:p>
        </p:txBody>
      </p:sp>
      <p:sp>
        <p:nvSpPr>
          <p:cNvPr id="530435" name="Rectangle 3">
            <a:extLst>
              <a:ext uri="{FF2B5EF4-FFF2-40B4-BE49-F238E27FC236}">
                <a16:creationId xmlns:a16="http://schemas.microsoft.com/office/drawing/2014/main" id="{BF03BBD0-93AF-405D-B7FE-A860A6C1764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36" name="Rectangle 4">
            <a:extLst>
              <a:ext uri="{FF2B5EF4-FFF2-40B4-BE49-F238E27FC236}">
                <a16:creationId xmlns:a16="http://schemas.microsoft.com/office/drawing/2014/main" id="{BB6D6651-51D8-44C6-A5FE-85186A710AD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37" name="Rectangle 5">
            <a:extLst>
              <a:ext uri="{FF2B5EF4-FFF2-40B4-BE49-F238E27FC236}">
                <a16:creationId xmlns:a16="http://schemas.microsoft.com/office/drawing/2014/main" id="{23EE2392-4DC6-4F2A-B1C9-C99CF775DE6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38" name="Rectangle 6">
            <a:extLst>
              <a:ext uri="{FF2B5EF4-FFF2-40B4-BE49-F238E27FC236}">
                <a16:creationId xmlns:a16="http://schemas.microsoft.com/office/drawing/2014/main" id="{8E18530C-63C5-4E02-A712-6E646C4BBF8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39" name="Rectangle 7">
            <a:extLst>
              <a:ext uri="{FF2B5EF4-FFF2-40B4-BE49-F238E27FC236}">
                <a16:creationId xmlns:a16="http://schemas.microsoft.com/office/drawing/2014/main" id="{80D4614A-3288-4416-951C-1C93ED39CA8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40" name="Rectangle 8">
            <a:extLst>
              <a:ext uri="{FF2B5EF4-FFF2-40B4-BE49-F238E27FC236}">
                <a16:creationId xmlns:a16="http://schemas.microsoft.com/office/drawing/2014/main" id="{04EDBBC0-61D9-4859-BA53-7A5BFEB2846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0441" name="Rectangle 9">
            <a:extLst>
              <a:ext uri="{FF2B5EF4-FFF2-40B4-BE49-F238E27FC236}">
                <a16:creationId xmlns:a16="http://schemas.microsoft.com/office/drawing/2014/main" id="{68442B16-D98D-4F0B-ADAB-BC2A63896A5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30442" name="Picture 10">
            <a:extLst>
              <a:ext uri="{FF2B5EF4-FFF2-40B4-BE49-F238E27FC236}">
                <a16:creationId xmlns:a16="http://schemas.microsoft.com/office/drawing/2014/main" id="{03177EC9-62E8-4E21-8D7E-A856F533D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1854200"/>
            <a:ext cx="8291513" cy="314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7A80720-B539-4A92-982E-425C63B26F89}"/>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54992500-0EBB-4B63-A67E-A9FCF1B49BE1}"/>
              </a:ext>
            </a:extLst>
          </p:cNvPr>
          <p:cNvSpPr>
            <a:spLocks noGrp="1"/>
          </p:cNvSpPr>
          <p:nvPr>
            <p:ph type="sldNum" sz="quarter" idx="11"/>
          </p:nvPr>
        </p:nvSpPr>
        <p:spPr/>
        <p:txBody>
          <a:bodyPr/>
          <a:lstStyle/>
          <a:p>
            <a:fld id="{9AB3AC88-6DC9-4F7E-AB16-72289E168FCA}" type="slidenum">
              <a:rPr lang="en-US" altLang="en-US"/>
              <a:pPr/>
              <a:t>18</a:t>
            </a:fld>
            <a:endParaRPr lang="en-US" altLang="en-US"/>
          </a:p>
        </p:txBody>
      </p:sp>
      <p:sp>
        <p:nvSpPr>
          <p:cNvPr id="531458" name="Text Box 2">
            <a:extLst>
              <a:ext uri="{FF2B5EF4-FFF2-40B4-BE49-F238E27FC236}">
                <a16:creationId xmlns:a16="http://schemas.microsoft.com/office/drawing/2014/main" id="{3A1E0CED-786C-4893-AC9A-32FF1D7C521E}"/>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14.51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Types of BGP messages</a:t>
            </a:r>
          </a:p>
        </p:txBody>
      </p:sp>
      <p:sp>
        <p:nvSpPr>
          <p:cNvPr id="531459" name="Rectangle 3">
            <a:extLst>
              <a:ext uri="{FF2B5EF4-FFF2-40B4-BE49-F238E27FC236}">
                <a16:creationId xmlns:a16="http://schemas.microsoft.com/office/drawing/2014/main" id="{834E6BE3-3AA7-4151-B9BE-06460B81656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0" name="Rectangle 4">
            <a:extLst>
              <a:ext uri="{FF2B5EF4-FFF2-40B4-BE49-F238E27FC236}">
                <a16:creationId xmlns:a16="http://schemas.microsoft.com/office/drawing/2014/main" id="{45D73251-9712-41B9-8A26-B54CA25EB36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1" name="Rectangle 5">
            <a:extLst>
              <a:ext uri="{FF2B5EF4-FFF2-40B4-BE49-F238E27FC236}">
                <a16:creationId xmlns:a16="http://schemas.microsoft.com/office/drawing/2014/main" id="{B23B6838-3C34-42A4-9B9D-0EC7522398E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2" name="Rectangle 6">
            <a:extLst>
              <a:ext uri="{FF2B5EF4-FFF2-40B4-BE49-F238E27FC236}">
                <a16:creationId xmlns:a16="http://schemas.microsoft.com/office/drawing/2014/main" id="{0E8AC8B1-46EE-4787-8641-234F80A6456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3" name="Rectangle 7">
            <a:extLst>
              <a:ext uri="{FF2B5EF4-FFF2-40B4-BE49-F238E27FC236}">
                <a16:creationId xmlns:a16="http://schemas.microsoft.com/office/drawing/2014/main" id="{D228867F-3FC8-4EEA-82FA-6A2EBBC40D3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4" name="Rectangle 8">
            <a:extLst>
              <a:ext uri="{FF2B5EF4-FFF2-40B4-BE49-F238E27FC236}">
                <a16:creationId xmlns:a16="http://schemas.microsoft.com/office/drawing/2014/main" id="{3A6529B3-D7B0-472C-A930-A5373E3F822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1465" name="Rectangle 9">
            <a:extLst>
              <a:ext uri="{FF2B5EF4-FFF2-40B4-BE49-F238E27FC236}">
                <a16:creationId xmlns:a16="http://schemas.microsoft.com/office/drawing/2014/main" id="{E7FF05F5-DBF0-4379-AA33-58D10272972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31466" name="Picture 10">
            <a:extLst>
              <a:ext uri="{FF2B5EF4-FFF2-40B4-BE49-F238E27FC236}">
                <a16:creationId xmlns:a16="http://schemas.microsoft.com/office/drawing/2014/main" id="{418B0755-9223-4E83-AA2D-8D4E24D3E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8" y="2212975"/>
            <a:ext cx="8809037" cy="243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18E95-CC9F-4AB0-BAF3-8CBAFDA76C82}"/>
              </a:ext>
            </a:extLst>
          </p:cNvPr>
          <p:cNvSpPr>
            <a:spLocks noGrp="1"/>
          </p:cNvSpPr>
          <p:nvPr>
            <p:ph type="title"/>
          </p:nvPr>
        </p:nvSpPr>
        <p:spPr/>
        <p:txBody>
          <a:bodyPr/>
          <a:lstStyle/>
          <a:p>
            <a:r>
              <a:rPr lang="en-US" dirty="0"/>
              <a:t>BGP Messages</a:t>
            </a:r>
            <a:endParaRPr lang="en-IN" dirty="0"/>
          </a:p>
        </p:txBody>
      </p:sp>
      <p:sp>
        <p:nvSpPr>
          <p:cNvPr id="3" name="Content Placeholder 2">
            <a:extLst>
              <a:ext uri="{FF2B5EF4-FFF2-40B4-BE49-F238E27FC236}">
                <a16:creationId xmlns:a16="http://schemas.microsoft.com/office/drawing/2014/main" id="{B7C6573D-F4BF-431E-B037-234A109DB641}"/>
              </a:ext>
            </a:extLst>
          </p:cNvPr>
          <p:cNvSpPr>
            <a:spLocks noGrp="1"/>
          </p:cNvSpPr>
          <p:nvPr>
            <p:ph idx="1"/>
          </p:nvPr>
        </p:nvSpPr>
        <p:spPr>
          <a:xfrm>
            <a:off x="457200" y="1600200"/>
            <a:ext cx="8229600" cy="4724400"/>
          </a:xfrm>
        </p:spPr>
        <p:txBody>
          <a:bodyPr>
            <a:normAutofit fontScale="70000" lnSpcReduction="20000"/>
          </a:bodyPr>
          <a:lstStyle/>
          <a:p>
            <a:pPr marL="0" indent="0" algn="just">
              <a:buNone/>
            </a:pPr>
            <a:r>
              <a:rPr lang="en-US" dirty="0"/>
              <a:t> </a:t>
            </a:r>
            <a:r>
              <a:rPr lang="en-US" b="1" dirty="0"/>
              <a:t>Open Message. </a:t>
            </a:r>
            <a:r>
              <a:rPr lang="en-US" dirty="0"/>
              <a:t>To create a neighborhood relationship, a router running BGP opens a TCP connection with a neighbor and sends an open message.</a:t>
            </a:r>
          </a:p>
          <a:p>
            <a:pPr marL="0" indent="0" algn="just">
              <a:buNone/>
            </a:pPr>
            <a:r>
              <a:rPr lang="en-US" b="1" dirty="0"/>
              <a:t>Update Message. </a:t>
            </a:r>
            <a:r>
              <a:rPr lang="en-US" dirty="0"/>
              <a:t>The update message is the heart of the BGP protocol. It is used by a router to withdraw destinations that have been advertised previously, to announce a route to a new destination, or both. Note that BGP can withdraw several destinations that were advertised before, but it can only advertise one new destination (or multiple destinations with the same path attributes) in a single update message.</a:t>
            </a:r>
          </a:p>
          <a:p>
            <a:pPr marL="0" indent="0" algn="just">
              <a:buNone/>
            </a:pPr>
            <a:r>
              <a:rPr lang="en-US" dirty="0"/>
              <a:t>K</a:t>
            </a:r>
            <a:r>
              <a:rPr lang="en-US" b="1" dirty="0"/>
              <a:t>eepalive Message. </a:t>
            </a:r>
            <a:r>
              <a:rPr lang="en-US" dirty="0"/>
              <a:t>The BGP peers that are running exchange keepalive messages regularly (before their hold time expires) to tell each other that they are alive.</a:t>
            </a:r>
          </a:p>
          <a:p>
            <a:pPr marL="0" indent="0" algn="just">
              <a:buNone/>
            </a:pPr>
            <a:r>
              <a:rPr lang="en-US" b="1" dirty="0"/>
              <a:t>Notification. </a:t>
            </a:r>
            <a:r>
              <a:rPr lang="en-US" dirty="0"/>
              <a:t>A notification message is sent by a router whenever an error condition is detected or a router wants to close the session.</a:t>
            </a:r>
          </a:p>
          <a:p>
            <a:pPr marL="0" indent="0" algn="just">
              <a:buNone/>
            </a:pPr>
            <a:endParaRPr lang="en-IN" dirty="0"/>
          </a:p>
        </p:txBody>
      </p:sp>
    </p:spTree>
    <p:extLst>
      <p:ext uri="{BB962C8B-B14F-4D97-AF65-F5344CB8AC3E}">
        <p14:creationId xmlns:p14="http://schemas.microsoft.com/office/powerpoint/2010/main" val="772050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931E9328-56BD-4635-AF7C-7F32F5090C69}"/>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56DA6AA1-16A9-4B1D-AA20-8D0A9297AD81}"/>
              </a:ext>
            </a:extLst>
          </p:cNvPr>
          <p:cNvSpPr>
            <a:spLocks noGrp="1"/>
          </p:cNvSpPr>
          <p:nvPr>
            <p:ph type="sldNum" sz="quarter" idx="11"/>
          </p:nvPr>
        </p:nvSpPr>
        <p:spPr/>
        <p:txBody>
          <a:bodyPr/>
          <a:lstStyle/>
          <a:p>
            <a:fld id="{A583502A-D627-4BF8-A913-DB78FD302F93}" type="slidenum">
              <a:rPr lang="en-US" altLang="en-US"/>
              <a:pPr/>
              <a:t>20</a:t>
            </a:fld>
            <a:endParaRPr lang="en-US" altLang="en-US"/>
          </a:p>
        </p:txBody>
      </p:sp>
      <p:sp>
        <p:nvSpPr>
          <p:cNvPr id="540674" name="Rectangle 2">
            <a:extLst>
              <a:ext uri="{FF2B5EF4-FFF2-40B4-BE49-F238E27FC236}">
                <a16:creationId xmlns:a16="http://schemas.microsoft.com/office/drawing/2014/main" id="{0B3EEFA4-3F60-42CC-BD20-4E8B631D9825}"/>
              </a:ext>
            </a:extLst>
          </p:cNvPr>
          <p:cNvSpPr>
            <a:spLocks noChangeArrowheads="1"/>
          </p:cNvSpPr>
          <p:nvPr/>
        </p:nvSpPr>
        <p:spPr bwMode="auto">
          <a:xfrm>
            <a:off x="838200" y="3019425"/>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latin typeface="Times New Roman" panose="02020603050405020304" pitchFamily="18" charset="0"/>
              </a:rPr>
              <a:t>BGP supports classless addressing and CIDR.</a:t>
            </a:r>
          </a:p>
        </p:txBody>
      </p:sp>
      <p:sp>
        <p:nvSpPr>
          <p:cNvPr id="540675" name="PubRRectCallout">
            <a:extLst>
              <a:ext uri="{FF2B5EF4-FFF2-40B4-BE49-F238E27FC236}">
                <a16:creationId xmlns:a16="http://schemas.microsoft.com/office/drawing/2014/main" id="{9EF1CE3B-108E-4F58-A06B-C5146B577F7C}"/>
              </a:ext>
            </a:extLst>
          </p:cNvPr>
          <p:cNvSpPr>
            <a:spLocks noEditPoints="1" noChangeArrowheads="1"/>
          </p:cNvSpPr>
          <p:nvPr/>
        </p:nvSpPr>
        <p:spPr bwMode="auto">
          <a:xfrm>
            <a:off x="838200" y="1814513"/>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40676" name="Picture 4">
            <a:extLst>
              <a:ext uri="{FF2B5EF4-FFF2-40B4-BE49-F238E27FC236}">
                <a16:creationId xmlns:a16="http://schemas.microsoft.com/office/drawing/2014/main" id="{CA8E1B48-CB59-43FC-9F42-D4A91569D9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814513"/>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0677" name="Text Box 5">
            <a:extLst>
              <a:ext uri="{FF2B5EF4-FFF2-40B4-BE49-F238E27FC236}">
                <a16:creationId xmlns:a16="http://schemas.microsoft.com/office/drawing/2014/main" id="{385E79B9-D539-419D-8A8E-805B332B9563}"/>
              </a:ext>
            </a:extLst>
          </p:cNvPr>
          <p:cNvSpPr txBox="1">
            <a:spLocks noChangeArrowheads="1"/>
          </p:cNvSpPr>
          <p:nvPr/>
        </p:nvSpPr>
        <p:spPr bwMode="auto">
          <a:xfrm>
            <a:off x="2133600" y="1966913"/>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3A37AABD-5D32-4292-8B53-7BB200B67140}"/>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EE5FDE53-C82B-41F7-A48F-C6738E67B28E}"/>
              </a:ext>
            </a:extLst>
          </p:cNvPr>
          <p:cNvSpPr>
            <a:spLocks noGrp="1"/>
          </p:cNvSpPr>
          <p:nvPr>
            <p:ph type="sldNum" sz="quarter" idx="11"/>
          </p:nvPr>
        </p:nvSpPr>
        <p:spPr/>
        <p:txBody>
          <a:bodyPr/>
          <a:lstStyle/>
          <a:p>
            <a:fld id="{2640B757-BD0E-4346-88E8-A14BBFAFAB5A}" type="slidenum">
              <a:rPr lang="en-US" altLang="en-US"/>
              <a:pPr/>
              <a:t>21</a:t>
            </a:fld>
            <a:endParaRPr lang="en-US" altLang="en-US"/>
          </a:p>
        </p:txBody>
      </p:sp>
      <p:sp>
        <p:nvSpPr>
          <p:cNvPr id="541698" name="Rectangle 2">
            <a:extLst>
              <a:ext uri="{FF2B5EF4-FFF2-40B4-BE49-F238E27FC236}">
                <a16:creationId xmlns:a16="http://schemas.microsoft.com/office/drawing/2014/main" id="{7337240A-B291-4D36-88AD-00EE44BC5776}"/>
              </a:ext>
            </a:extLst>
          </p:cNvPr>
          <p:cNvSpPr>
            <a:spLocks noChangeArrowheads="1"/>
          </p:cNvSpPr>
          <p:nvPr/>
        </p:nvSpPr>
        <p:spPr bwMode="auto">
          <a:xfrm>
            <a:off x="838200" y="2638425"/>
            <a:ext cx="7543800" cy="2590453"/>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dirty="0">
                <a:latin typeface="Times New Roman" panose="02020603050405020304" pitchFamily="18" charset="0"/>
              </a:rPr>
              <a:t>BGP uses the services of TCP </a:t>
            </a:r>
            <a:br>
              <a:rPr lang="en-US" altLang="en-US" sz="3600" i="1" dirty="0">
                <a:latin typeface="Times New Roman" panose="02020603050405020304" pitchFamily="18" charset="0"/>
              </a:rPr>
            </a:br>
            <a:r>
              <a:rPr lang="en-US" altLang="en-US" sz="3600" i="1" dirty="0">
                <a:latin typeface="Times New Roman" panose="02020603050405020304" pitchFamily="18" charset="0"/>
              </a:rPr>
              <a:t>on port 179.</a:t>
            </a:r>
          </a:p>
          <a:p>
            <a:pPr algn="ctr" eaLnBrk="1" hangingPunct="1">
              <a:spcBef>
                <a:spcPts val="1200"/>
              </a:spcBef>
              <a:spcAft>
                <a:spcPts val="1000"/>
              </a:spcAft>
            </a:pPr>
            <a:r>
              <a:rPr lang="en-US" altLang="en-US" sz="3600" i="1" dirty="0">
                <a:latin typeface="Times New Roman" panose="02020603050405020304" pitchFamily="18" charset="0"/>
              </a:rPr>
              <a:t>RIP uses the services of UDP on port 520.</a:t>
            </a:r>
          </a:p>
        </p:txBody>
      </p:sp>
      <p:sp>
        <p:nvSpPr>
          <p:cNvPr id="541699" name="PubRRectCallout">
            <a:extLst>
              <a:ext uri="{FF2B5EF4-FFF2-40B4-BE49-F238E27FC236}">
                <a16:creationId xmlns:a16="http://schemas.microsoft.com/office/drawing/2014/main" id="{F1B0C8B4-86CA-46BC-906A-6A334521AEA8}"/>
              </a:ext>
            </a:extLst>
          </p:cNvPr>
          <p:cNvSpPr>
            <a:spLocks noEditPoints="1" noChangeArrowheads="1"/>
          </p:cNvSpPr>
          <p:nvPr/>
        </p:nvSpPr>
        <p:spPr bwMode="auto">
          <a:xfrm>
            <a:off x="838200" y="1433513"/>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41700" name="Picture 4">
            <a:extLst>
              <a:ext uri="{FF2B5EF4-FFF2-40B4-BE49-F238E27FC236}">
                <a16:creationId xmlns:a16="http://schemas.microsoft.com/office/drawing/2014/main" id="{9AFB0C52-BC81-4816-87F8-4E2DFF1B70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433513"/>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1701" name="Text Box 5">
            <a:extLst>
              <a:ext uri="{FF2B5EF4-FFF2-40B4-BE49-F238E27FC236}">
                <a16:creationId xmlns:a16="http://schemas.microsoft.com/office/drawing/2014/main" id="{238EBB3C-14BA-4568-AC85-D35FFB7D705A}"/>
              </a:ext>
            </a:extLst>
          </p:cNvPr>
          <p:cNvSpPr txBox="1">
            <a:spLocks noChangeArrowheads="1"/>
          </p:cNvSpPr>
          <p:nvPr/>
        </p:nvSpPr>
        <p:spPr bwMode="auto">
          <a:xfrm>
            <a:off x="2133600" y="1585913"/>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1035</Words>
  <Application>Microsoft Office PowerPoint</Application>
  <PresentationFormat>On-screen Show (4:3)</PresentationFormat>
  <Paragraphs>103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COMPUTER NETWORKS (BCSC 0008)</vt:lpstr>
      <vt:lpstr> Text and Reference Books </vt:lpstr>
      <vt:lpstr>PowerPoint Presentation</vt:lpstr>
      <vt:lpstr>PowerPoint Presentation</vt:lpstr>
      <vt:lpstr>PowerPoint Presentation</vt:lpstr>
      <vt:lpstr>LSPs</vt:lpstr>
      <vt:lpstr>PowerPoint Presentation</vt:lpstr>
      <vt:lpstr>Types of link</vt:lpstr>
      <vt:lpstr>PowerPoint Presentation</vt:lpstr>
      <vt:lpstr>LSPs</vt:lpstr>
      <vt:lpstr>OSPF message format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BGP Messages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shabir ali</cp:lastModifiedBy>
  <cp:revision>21</cp:revision>
  <dcterms:created xsi:type="dcterms:W3CDTF">2020-06-29T04:13:42Z</dcterms:created>
  <dcterms:modified xsi:type="dcterms:W3CDTF">2020-11-23T11:25:30Z</dcterms:modified>
</cp:coreProperties>
</file>