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65" r:id="rId3"/>
    <p:sldId id="748" r:id="rId4"/>
    <p:sldId id="681" r:id="rId5"/>
    <p:sldId id="682" r:id="rId6"/>
    <p:sldId id="858" r:id="rId7"/>
    <p:sldId id="888" r:id="rId8"/>
    <p:sldId id="918" r:id="rId9"/>
    <p:sldId id="919" r:id="rId10"/>
    <p:sldId id="920" r:id="rId11"/>
    <p:sldId id="859" r:id="rId12"/>
    <p:sldId id="860" r:id="rId13"/>
    <p:sldId id="861" r:id="rId14"/>
    <p:sldId id="894" r:id="rId15"/>
    <p:sldId id="862" r:id="rId16"/>
    <p:sldId id="760" r:id="rId17"/>
    <p:sldId id="797" r:id="rId18"/>
    <p:sldId id="799" r:id="rId19"/>
    <p:sldId id="758" r:id="rId20"/>
    <p:sldId id="922" r:id="rId21"/>
    <p:sldId id="693" r:id="rId22"/>
    <p:sldId id="762" r:id="rId23"/>
    <p:sldId id="924" r:id="rId24"/>
    <p:sldId id="694" r:id="rId25"/>
    <p:sldId id="763" r:id="rId26"/>
    <p:sldId id="925" r:id="rId27"/>
    <p:sldId id="923" r:id="rId28"/>
    <p:sldId id="695" r:id="rId29"/>
    <p:sldId id="69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F17E44-BDC1-4515-8C0B-1374D0AA3111}" type="datetimeFigureOut">
              <a:rPr lang="en-IN" smtClean="0"/>
              <a:t>03-12-2020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B1A913-2FBC-41BF-A4D5-4124FDD15EA2}" type="slidenum">
              <a:rPr lang="en-IN" smtClean="0"/>
              <a:t>‹#›</a:t>
            </a:fld>
            <a:endParaRPr lang="en-IN"/>
          </a:p>
        </p:txBody>
      </p:sp>
    </p:spTree>
    <p:extLst>
      <p:ext uri="{BB962C8B-B14F-4D97-AF65-F5344CB8AC3E}">
        <p14:creationId xmlns:p14="http://schemas.microsoft.com/office/powerpoint/2010/main" val="195377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F0BF5D62-80CD-48DB-BF14-85F4711EB34E}"/>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25873F8-2257-48AF-B2C6-A9C463DB4C4D}" type="slidenum">
              <a:rPr lang="en-US" altLang="zh-TW" b="0">
                <a:latin typeface="Times New Roman" panose="02020603050405020304" pitchFamily="18" charset="0"/>
              </a:rPr>
              <a:pPr/>
              <a:t>3</a:t>
            </a:fld>
            <a:endParaRPr lang="en-US" altLang="zh-TW" b="0">
              <a:latin typeface="Times New Roman" panose="02020603050405020304" pitchFamily="18" charset="0"/>
            </a:endParaRPr>
          </a:p>
        </p:txBody>
      </p:sp>
      <p:sp>
        <p:nvSpPr>
          <p:cNvPr id="105475" name="Rectangle 2">
            <a:extLst>
              <a:ext uri="{FF2B5EF4-FFF2-40B4-BE49-F238E27FC236}">
                <a16:creationId xmlns:a16="http://schemas.microsoft.com/office/drawing/2014/main" id="{12479F99-E9E9-4760-96A1-5CCEAF4B813B}"/>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93D1EE09-F942-4201-BF95-56E22A1274B3}"/>
              </a:ext>
            </a:extLst>
          </p:cNvPr>
          <p:cNvSpPr>
            <a:spLocks noGrp="1" noChangeArrowheads="1"/>
          </p:cNvSpPr>
          <p:nvPr>
            <p:ph type="body" idx="1"/>
          </p:nvPr>
        </p:nvSpPr>
        <p:spPr>
          <a:noFill/>
        </p:spPr>
        <p:txBody>
          <a:bodyPr/>
          <a:lstStyle/>
          <a:p>
            <a:pPr eaLnBrk="1" hangingPunct="1"/>
            <a:endParaRPr lang="zh-TW" altLang="zh-TW"/>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08E3269A-7A1B-492C-B22E-3CCC52FF1B56}"/>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89FF96B-CB2D-4811-96EA-0095537C4A96}" type="slidenum">
              <a:rPr lang="en-US" altLang="zh-TW" b="0">
                <a:latin typeface="Times New Roman" panose="02020603050405020304" pitchFamily="18" charset="0"/>
              </a:rPr>
              <a:pPr/>
              <a:t>4</a:t>
            </a:fld>
            <a:endParaRPr lang="en-US" altLang="zh-TW" b="0">
              <a:latin typeface="Times New Roman" panose="02020603050405020304" pitchFamily="18" charset="0"/>
            </a:endParaRPr>
          </a:p>
        </p:txBody>
      </p:sp>
      <p:sp>
        <p:nvSpPr>
          <p:cNvPr id="109571" name="Rectangle 2">
            <a:extLst>
              <a:ext uri="{FF2B5EF4-FFF2-40B4-BE49-F238E27FC236}">
                <a16:creationId xmlns:a16="http://schemas.microsoft.com/office/drawing/2014/main" id="{80C7A369-8E0A-4D26-8C85-E927A3BB3B25}"/>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EE667A6A-CB97-4EA1-9CE3-BB7F4C57AB18}"/>
              </a:ext>
            </a:extLst>
          </p:cNvPr>
          <p:cNvSpPr>
            <a:spLocks noGrp="1" noChangeArrowheads="1"/>
          </p:cNvSpPr>
          <p:nvPr>
            <p:ph type="body" idx="1"/>
          </p:nvPr>
        </p:nvSpPr>
        <p:spPr>
          <a:noFill/>
        </p:spPr>
        <p:txBody>
          <a:bodyPr/>
          <a:lstStyle/>
          <a:p>
            <a:pPr eaLnBrk="1" hangingPunct="1"/>
            <a:endParaRPr lang="zh-TW" altLang="zh-TW"/>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33138C60-BEF5-434C-B980-78A7707A4585}"/>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D563A61-5A5D-4AC0-8F12-58CF246354F5}" type="slidenum">
              <a:rPr lang="en-US" altLang="zh-TW" b="0">
                <a:latin typeface="Times New Roman" panose="02020603050405020304" pitchFamily="18" charset="0"/>
              </a:rPr>
              <a:pPr/>
              <a:t>5</a:t>
            </a:fld>
            <a:endParaRPr lang="en-US" altLang="zh-TW" b="0">
              <a:latin typeface="Times New Roman" panose="02020603050405020304" pitchFamily="18" charset="0"/>
            </a:endParaRPr>
          </a:p>
        </p:txBody>
      </p:sp>
      <p:sp>
        <p:nvSpPr>
          <p:cNvPr id="111619" name="Rectangle 2">
            <a:extLst>
              <a:ext uri="{FF2B5EF4-FFF2-40B4-BE49-F238E27FC236}">
                <a16:creationId xmlns:a16="http://schemas.microsoft.com/office/drawing/2014/main" id="{154A39B3-124B-44DA-A266-C2C2EC13404D}"/>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846627F7-9526-4EE5-8D92-36A707DA369B}"/>
              </a:ext>
            </a:extLst>
          </p:cNvPr>
          <p:cNvSpPr>
            <a:spLocks noGrp="1" noChangeArrowheads="1"/>
          </p:cNvSpPr>
          <p:nvPr>
            <p:ph type="body" idx="1"/>
          </p:nvPr>
        </p:nvSpPr>
        <p:spPr>
          <a:noFill/>
        </p:spPr>
        <p:txBody>
          <a:bodyPr/>
          <a:lstStyle/>
          <a:p>
            <a:pPr eaLnBrk="1" hangingPunct="1"/>
            <a:endParaRPr lang="zh-TW" altLang="zh-TW"/>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7702E213-D91E-44BD-8B76-DC3022B0E94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F4AC068-48FB-4BA6-9DED-A41450096260}" type="slidenum">
              <a:rPr lang="en-US" altLang="en-US" sz="1200" b="0" baseline="0">
                <a:latin typeface="Times New Roman" panose="02020603050405020304" pitchFamily="18" charset="0"/>
              </a:rPr>
              <a:pPr/>
              <a:t>6</a:t>
            </a:fld>
            <a:endParaRPr lang="en-US" altLang="en-US" sz="1200" b="0" baseline="0">
              <a:latin typeface="Times New Roman" panose="02020603050405020304" pitchFamily="18" charset="0"/>
            </a:endParaRPr>
          </a:p>
        </p:txBody>
      </p:sp>
      <p:sp>
        <p:nvSpPr>
          <p:cNvPr id="91139" name="Rectangle 2">
            <a:extLst>
              <a:ext uri="{FF2B5EF4-FFF2-40B4-BE49-F238E27FC236}">
                <a16:creationId xmlns:a16="http://schemas.microsoft.com/office/drawing/2014/main" id="{1BB89236-8FD3-4155-BEA2-3A04309C0194}"/>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8B2A53A7-8426-46EF-B534-8F7D98E5EB1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DA67E6D7-1FCC-4F81-B59E-E396C017767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E52EB61F-2D0E-4FE3-A16E-F022277E764E}" type="slidenum">
              <a:rPr lang="en-US" altLang="en-US" sz="1200" b="0" baseline="0">
                <a:latin typeface="Times New Roman" panose="02020603050405020304" pitchFamily="18" charset="0"/>
              </a:rPr>
              <a:pPr/>
              <a:t>7</a:t>
            </a:fld>
            <a:endParaRPr lang="en-US" altLang="en-US" sz="1200" b="0" baseline="0">
              <a:latin typeface="Times New Roman" panose="02020603050405020304" pitchFamily="18" charset="0"/>
            </a:endParaRPr>
          </a:p>
        </p:txBody>
      </p:sp>
      <p:sp>
        <p:nvSpPr>
          <p:cNvPr id="93187" name="Rectangle 2">
            <a:extLst>
              <a:ext uri="{FF2B5EF4-FFF2-40B4-BE49-F238E27FC236}">
                <a16:creationId xmlns:a16="http://schemas.microsoft.com/office/drawing/2014/main" id="{2583DAA1-7F84-4E77-A0F2-E1B8158C7A27}"/>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E1674E64-B439-4B22-8F2E-A5BC050B705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39200AC7-6E5A-4AB3-9C94-17657A5C755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4AB765C7-B804-4A6E-900D-89CB58051200}" type="slidenum">
              <a:rPr lang="en-US" altLang="en-US" sz="1200" b="0" baseline="0">
                <a:latin typeface="Times New Roman" panose="02020603050405020304" pitchFamily="18" charset="0"/>
              </a:rPr>
              <a:pPr/>
              <a:t>8</a:t>
            </a:fld>
            <a:endParaRPr lang="en-US" altLang="en-US" sz="1200" b="0" baseline="0">
              <a:latin typeface="Times New Roman" panose="02020603050405020304" pitchFamily="18" charset="0"/>
            </a:endParaRPr>
          </a:p>
        </p:txBody>
      </p:sp>
      <p:sp>
        <p:nvSpPr>
          <p:cNvPr id="95235" name="Rectangle 2">
            <a:extLst>
              <a:ext uri="{FF2B5EF4-FFF2-40B4-BE49-F238E27FC236}">
                <a16:creationId xmlns:a16="http://schemas.microsoft.com/office/drawing/2014/main" id="{3333481D-C417-4873-AE67-3A42DCD35661}"/>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9BFF8162-1EB7-446A-8399-4D4DA7A5F16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3CA1372A-C6E8-4997-BEC4-FA08B08F181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F5620F2D-0F6A-4439-B65D-61612EABBDC5}" type="slidenum">
              <a:rPr lang="en-US" altLang="en-US" sz="1200" b="0" baseline="0">
                <a:latin typeface="Times New Roman" panose="02020603050405020304" pitchFamily="18" charset="0"/>
              </a:rPr>
              <a:pPr/>
              <a:t>9</a:t>
            </a:fld>
            <a:endParaRPr lang="en-US" altLang="en-US" sz="1200" b="0" baseline="0">
              <a:latin typeface="Times New Roman" panose="02020603050405020304" pitchFamily="18" charset="0"/>
            </a:endParaRPr>
          </a:p>
        </p:txBody>
      </p:sp>
      <p:sp>
        <p:nvSpPr>
          <p:cNvPr id="97283" name="Rectangle 2">
            <a:extLst>
              <a:ext uri="{FF2B5EF4-FFF2-40B4-BE49-F238E27FC236}">
                <a16:creationId xmlns:a16="http://schemas.microsoft.com/office/drawing/2014/main" id="{447E68C4-CEE3-47C9-8CC8-5D5A58909C9B}"/>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B422ABD9-A0DF-457D-8DAF-EFC54DA7F59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B0675195-7DB2-46A8-8DB5-3FD11A27C26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0DC2393-77B5-4151-B8A2-7533E32368EC}" type="slidenum">
              <a:rPr lang="en-US" altLang="en-US" sz="1200" b="0" baseline="0">
                <a:latin typeface="Times New Roman" panose="02020603050405020304" pitchFamily="18" charset="0"/>
              </a:rPr>
              <a:pPr/>
              <a:t>10</a:t>
            </a:fld>
            <a:endParaRPr lang="en-US" altLang="en-US" sz="1200" b="0" baseline="0">
              <a:latin typeface="Times New Roman" panose="02020603050405020304" pitchFamily="18" charset="0"/>
            </a:endParaRPr>
          </a:p>
        </p:txBody>
      </p:sp>
      <p:sp>
        <p:nvSpPr>
          <p:cNvPr id="99331" name="Rectangle 2">
            <a:extLst>
              <a:ext uri="{FF2B5EF4-FFF2-40B4-BE49-F238E27FC236}">
                <a16:creationId xmlns:a16="http://schemas.microsoft.com/office/drawing/2014/main" id="{CD44BD29-9747-4B6D-BF2E-6109AC83F4B5}"/>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0DA10663-9002-46CC-BBC4-E319273DDC1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4C891A70-4C0C-41E6-8100-3A1628E0555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339A6F91-728E-4EEF-B284-3BB6AFC4C57F}" type="slidenum">
              <a:rPr lang="en-US" altLang="en-US" sz="1200" b="0" baseline="0">
                <a:latin typeface="Times New Roman" panose="02020603050405020304" pitchFamily="18" charset="0"/>
              </a:rPr>
              <a:pPr/>
              <a:t>11</a:t>
            </a:fld>
            <a:endParaRPr lang="en-US" altLang="en-US" sz="1200" b="0" baseline="0">
              <a:latin typeface="Times New Roman" panose="02020603050405020304" pitchFamily="18" charset="0"/>
            </a:endParaRPr>
          </a:p>
        </p:txBody>
      </p:sp>
      <p:sp>
        <p:nvSpPr>
          <p:cNvPr id="101379" name="Rectangle 2">
            <a:extLst>
              <a:ext uri="{FF2B5EF4-FFF2-40B4-BE49-F238E27FC236}">
                <a16:creationId xmlns:a16="http://schemas.microsoft.com/office/drawing/2014/main" id="{FBDB0E66-0C47-40E4-B81F-2BB9ABD7FEF7}"/>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E658A065-6410-4D71-991A-BB7A3FCB1B1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46A86863-AF0C-48BD-AD38-600F3C91020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D0F4DA2-AB4C-4C94-87C4-056A279C24F9}" type="slidenum">
              <a:rPr lang="en-US" altLang="en-US" sz="1200" b="0" baseline="0">
                <a:latin typeface="Times New Roman" panose="02020603050405020304" pitchFamily="18" charset="0"/>
              </a:rPr>
              <a:pPr/>
              <a:t>12</a:t>
            </a:fld>
            <a:endParaRPr lang="en-US" altLang="en-US" sz="1200" b="0" baseline="0">
              <a:latin typeface="Times New Roman" panose="02020603050405020304" pitchFamily="18" charset="0"/>
            </a:endParaRPr>
          </a:p>
        </p:txBody>
      </p:sp>
      <p:sp>
        <p:nvSpPr>
          <p:cNvPr id="113667" name="Rectangle 2">
            <a:extLst>
              <a:ext uri="{FF2B5EF4-FFF2-40B4-BE49-F238E27FC236}">
                <a16:creationId xmlns:a16="http://schemas.microsoft.com/office/drawing/2014/main" id="{F1F71373-4DB2-422C-B4F8-6A8D89DCF5E1}"/>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9AC93012-3977-4E43-A48C-0A94CEFFB39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BAE3A804-8027-41C9-87BE-0D8E0647C7D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AC6138C2-6215-433B-BA80-4037C9F4D159}" type="slidenum">
              <a:rPr lang="en-US" altLang="en-US" sz="1200" b="0" baseline="0">
                <a:latin typeface="Times New Roman" panose="02020603050405020304" pitchFamily="18" charset="0"/>
              </a:rPr>
              <a:pPr/>
              <a:t>13</a:t>
            </a:fld>
            <a:endParaRPr lang="en-US" altLang="en-US" sz="1200" b="0" baseline="0">
              <a:latin typeface="Times New Roman" panose="02020603050405020304" pitchFamily="18" charset="0"/>
            </a:endParaRPr>
          </a:p>
        </p:txBody>
      </p:sp>
      <p:sp>
        <p:nvSpPr>
          <p:cNvPr id="115715" name="Rectangle 2">
            <a:extLst>
              <a:ext uri="{FF2B5EF4-FFF2-40B4-BE49-F238E27FC236}">
                <a16:creationId xmlns:a16="http://schemas.microsoft.com/office/drawing/2014/main" id="{912A86C9-496B-46E9-9AAF-54F6677BFF4F}"/>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D06918B9-DD58-46A7-B185-7CAF4CDBDB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C46BF73A-A4F1-427C-86D5-EDB15A7FDF7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50D2988-F7BC-4568-AB20-B8C812516FC3}" type="slidenum">
              <a:rPr lang="en-US" altLang="en-US" sz="1200" b="0" baseline="0">
                <a:latin typeface="Times New Roman" panose="02020603050405020304" pitchFamily="18" charset="0"/>
              </a:rPr>
              <a:pPr/>
              <a:t>14</a:t>
            </a:fld>
            <a:endParaRPr lang="en-US" altLang="en-US" sz="1200" b="0" baseline="0">
              <a:latin typeface="Times New Roman" panose="02020603050405020304" pitchFamily="18" charset="0"/>
            </a:endParaRPr>
          </a:p>
        </p:txBody>
      </p:sp>
      <p:sp>
        <p:nvSpPr>
          <p:cNvPr id="117763" name="Rectangle 2">
            <a:extLst>
              <a:ext uri="{FF2B5EF4-FFF2-40B4-BE49-F238E27FC236}">
                <a16:creationId xmlns:a16="http://schemas.microsoft.com/office/drawing/2014/main" id="{FB9D6867-2F01-4ECC-A494-58F20E6EEC35}"/>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62A4B3EC-4BB9-458C-9716-6F38693F00D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2095D1EF-CC9D-4665-8695-BFFB52D9DB4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C6D3FA71-F1E0-4574-B87D-64AFAAD198F5}" type="slidenum">
              <a:rPr lang="en-US" altLang="en-US" sz="1200" b="0" baseline="0">
                <a:latin typeface="Times New Roman" panose="02020603050405020304" pitchFamily="18" charset="0"/>
              </a:rPr>
              <a:pPr/>
              <a:t>15</a:t>
            </a:fld>
            <a:endParaRPr lang="en-US" altLang="en-US" sz="1200" b="0" baseline="0">
              <a:latin typeface="Times New Roman" panose="02020603050405020304" pitchFamily="18" charset="0"/>
            </a:endParaRPr>
          </a:p>
        </p:txBody>
      </p:sp>
      <p:sp>
        <p:nvSpPr>
          <p:cNvPr id="119811" name="Rectangle 2">
            <a:extLst>
              <a:ext uri="{FF2B5EF4-FFF2-40B4-BE49-F238E27FC236}">
                <a16:creationId xmlns:a16="http://schemas.microsoft.com/office/drawing/2014/main" id="{0F0900C5-53EE-4A00-B9DC-7C364CDEAB82}"/>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DF34E69A-AE3E-4B5D-8E49-5F5A9F369A7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a:extLst>
              <a:ext uri="{FF2B5EF4-FFF2-40B4-BE49-F238E27FC236}">
                <a16:creationId xmlns:a16="http://schemas.microsoft.com/office/drawing/2014/main" id="{97664249-0974-4C2D-866B-D70E8037A86D}"/>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36D9D02-24DB-4C5E-9844-4D707F61D6C1}" type="slidenum">
              <a:rPr lang="en-US" altLang="zh-TW" b="0">
                <a:latin typeface="Times New Roman" panose="02020603050405020304" pitchFamily="18" charset="0"/>
              </a:rPr>
              <a:pPr/>
              <a:t>16</a:t>
            </a:fld>
            <a:endParaRPr lang="en-US" altLang="zh-TW" b="0">
              <a:latin typeface="Times New Roman" panose="02020603050405020304" pitchFamily="18" charset="0"/>
            </a:endParaRPr>
          </a:p>
        </p:txBody>
      </p:sp>
      <p:sp>
        <p:nvSpPr>
          <p:cNvPr id="160771" name="Rectangle 2">
            <a:extLst>
              <a:ext uri="{FF2B5EF4-FFF2-40B4-BE49-F238E27FC236}">
                <a16:creationId xmlns:a16="http://schemas.microsoft.com/office/drawing/2014/main" id="{6E886F06-D2F8-4940-8A03-4143A450A124}"/>
              </a:ext>
            </a:extLst>
          </p:cNvPr>
          <p:cNvSpPr>
            <a:spLocks noGrp="1" noRot="1" noChangeAspect="1" noChangeArrowheads="1" noTextEdit="1"/>
          </p:cNvSpPr>
          <p:nvPr>
            <p:ph type="sldImg"/>
          </p:nvPr>
        </p:nvSpPr>
        <p:spPr>
          <a:ln/>
        </p:spPr>
      </p:sp>
      <p:sp>
        <p:nvSpPr>
          <p:cNvPr id="160772" name="Rectangle 3">
            <a:extLst>
              <a:ext uri="{FF2B5EF4-FFF2-40B4-BE49-F238E27FC236}">
                <a16:creationId xmlns:a16="http://schemas.microsoft.com/office/drawing/2014/main" id="{6C59A76B-BE4C-4E72-9007-8E867ED912B6}"/>
              </a:ext>
            </a:extLst>
          </p:cNvPr>
          <p:cNvSpPr>
            <a:spLocks noGrp="1" noChangeArrowheads="1"/>
          </p:cNvSpPr>
          <p:nvPr>
            <p:ph type="body" idx="1"/>
          </p:nvPr>
        </p:nvSpPr>
        <p:spPr>
          <a:noFill/>
        </p:spPr>
        <p:txBody>
          <a:bodyPr/>
          <a:lstStyle/>
          <a:p>
            <a:pPr eaLnBrk="1" hangingPunct="1"/>
            <a:endParaRPr lang="zh-TW" altLang="zh-TW"/>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B3D7352C-B343-403E-B7AB-8D41329B2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95FF31A-38E0-49C1-ADBC-20E0FC90EE60}" type="slidenum">
              <a:rPr lang="en-US" altLang="en-US" sz="1200" b="0">
                <a:latin typeface="Times New Roman" panose="02020603050405020304" pitchFamily="18" charset="0"/>
              </a:rPr>
              <a:pPr/>
              <a:t>19</a:t>
            </a:fld>
            <a:endParaRPr lang="en-US" altLang="en-US" sz="1200" b="0">
              <a:latin typeface="Times New Roman" panose="02020603050405020304" pitchFamily="18" charset="0"/>
            </a:endParaRPr>
          </a:p>
        </p:txBody>
      </p:sp>
      <p:sp>
        <p:nvSpPr>
          <p:cNvPr id="58371" name="Rectangle 2">
            <a:extLst>
              <a:ext uri="{FF2B5EF4-FFF2-40B4-BE49-F238E27FC236}">
                <a16:creationId xmlns:a16="http://schemas.microsoft.com/office/drawing/2014/main" id="{1F58F3F1-F437-45F3-8ADA-683DD5F87E0A}"/>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452A3B54-D63E-4C8E-BFE8-99882BABE4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a:extLst>
              <a:ext uri="{FF2B5EF4-FFF2-40B4-BE49-F238E27FC236}">
                <a16:creationId xmlns:a16="http://schemas.microsoft.com/office/drawing/2014/main" id="{F6F39DF7-9D71-413A-A7A8-6DD0C60619E0}"/>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D8FA22D-6BD5-49D1-A299-2B506AA03F9E}" type="slidenum">
              <a:rPr lang="en-US" altLang="zh-TW" b="0">
                <a:latin typeface="Times New Roman" panose="02020603050405020304" pitchFamily="18" charset="0"/>
              </a:rPr>
              <a:pPr/>
              <a:t>21</a:t>
            </a:fld>
            <a:endParaRPr lang="en-US" altLang="zh-TW" b="0">
              <a:latin typeface="Times New Roman" panose="02020603050405020304" pitchFamily="18" charset="0"/>
            </a:endParaRPr>
          </a:p>
        </p:txBody>
      </p:sp>
      <p:sp>
        <p:nvSpPr>
          <p:cNvPr id="164867" name="Rectangle 2">
            <a:extLst>
              <a:ext uri="{FF2B5EF4-FFF2-40B4-BE49-F238E27FC236}">
                <a16:creationId xmlns:a16="http://schemas.microsoft.com/office/drawing/2014/main" id="{86231D65-5C68-491E-9EED-C50699055514}"/>
              </a:ext>
            </a:extLst>
          </p:cNvPr>
          <p:cNvSpPr>
            <a:spLocks noGrp="1" noRot="1" noChangeAspect="1" noChangeArrowheads="1" noTextEdit="1"/>
          </p:cNvSpPr>
          <p:nvPr>
            <p:ph type="sldImg"/>
          </p:nvPr>
        </p:nvSpPr>
        <p:spPr>
          <a:ln/>
        </p:spPr>
      </p:sp>
      <p:sp>
        <p:nvSpPr>
          <p:cNvPr id="164868" name="Rectangle 3">
            <a:extLst>
              <a:ext uri="{FF2B5EF4-FFF2-40B4-BE49-F238E27FC236}">
                <a16:creationId xmlns:a16="http://schemas.microsoft.com/office/drawing/2014/main" id="{9EA20B44-9C38-4DE0-ACB5-EB11EE090AA7}"/>
              </a:ext>
            </a:extLst>
          </p:cNvPr>
          <p:cNvSpPr>
            <a:spLocks noGrp="1" noChangeArrowheads="1"/>
          </p:cNvSpPr>
          <p:nvPr>
            <p:ph type="body" idx="1"/>
          </p:nvPr>
        </p:nvSpPr>
        <p:spPr>
          <a:noFill/>
        </p:spPr>
        <p:txBody>
          <a:bodyPr/>
          <a:lstStyle/>
          <a:p>
            <a:pPr eaLnBrk="1" hangingPunct="1"/>
            <a:endParaRPr lang="zh-TW" altLang="zh-TW"/>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a:extLst>
              <a:ext uri="{FF2B5EF4-FFF2-40B4-BE49-F238E27FC236}">
                <a16:creationId xmlns:a16="http://schemas.microsoft.com/office/drawing/2014/main" id="{89BDA879-2FE3-4500-BEEF-1055465564FA}"/>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5DF4DD7-63FF-4207-A4E0-F7C7795459B8}" type="slidenum">
              <a:rPr lang="en-US" altLang="zh-TW" b="0">
                <a:latin typeface="Times New Roman" panose="02020603050405020304" pitchFamily="18" charset="0"/>
              </a:rPr>
              <a:pPr/>
              <a:t>22</a:t>
            </a:fld>
            <a:endParaRPr lang="en-US" altLang="zh-TW" b="0">
              <a:latin typeface="Times New Roman" panose="02020603050405020304" pitchFamily="18" charset="0"/>
            </a:endParaRPr>
          </a:p>
        </p:txBody>
      </p:sp>
      <p:sp>
        <p:nvSpPr>
          <p:cNvPr id="166915" name="Rectangle 2">
            <a:extLst>
              <a:ext uri="{FF2B5EF4-FFF2-40B4-BE49-F238E27FC236}">
                <a16:creationId xmlns:a16="http://schemas.microsoft.com/office/drawing/2014/main" id="{DBA0671C-CFAE-412E-A423-600DC99729DF}"/>
              </a:ext>
            </a:extLst>
          </p:cNvPr>
          <p:cNvSpPr>
            <a:spLocks noGrp="1" noRot="1" noChangeAspect="1" noChangeArrowheads="1" noTextEdit="1"/>
          </p:cNvSpPr>
          <p:nvPr>
            <p:ph type="sldImg"/>
          </p:nvPr>
        </p:nvSpPr>
        <p:spPr>
          <a:ln/>
        </p:spPr>
      </p:sp>
      <p:sp>
        <p:nvSpPr>
          <p:cNvPr id="166916" name="Rectangle 3">
            <a:extLst>
              <a:ext uri="{FF2B5EF4-FFF2-40B4-BE49-F238E27FC236}">
                <a16:creationId xmlns:a16="http://schemas.microsoft.com/office/drawing/2014/main" id="{9FE6AFBD-F97D-44EA-85ED-2A51AFBC1052}"/>
              </a:ext>
            </a:extLst>
          </p:cNvPr>
          <p:cNvSpPr>
            <a:spLocks noGrp="1" noChangeArrowheads="1"/>
          </p:cNvSpPr>
          <p:nvPr>
            <p:ph type="body" idx="1"/>
          </p:nvPr>
        </p:nvSpPr>
        <p:spPr>
          <a:noFill/>
        </p:spPr>
        <p:txBody>
          <a:bodyPr/>
          <a:lstStyle/>
          <a:p>
            <a:pPr eaLnBrk="1" hangingPunct="1"/>
            <a:endParaRPr lang="zh-TW" altLang="zh-TW"/>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a:extLst>
              <a:ext uri="{FF2B5EF4-FFF2-40B4-BE49-F238E27FC236}">
                <a16:creationId xmlns:a16="http://schemas.microsoft.com/office/drawing/2014/main" id="{B6317377-34DE-4653-9FC4-46C36148704F}"/>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07341E61-5496-4369-9F88-3A3EAB852FE7}" type="slidenum">
              <a:rPr lang="en-US" altLang="zh-TW" b="0">
                <a:latin typeface="Times New Roman" panose="02020603050405020304" pitchFamily="18" charset="0"/>
              </a:rPr>
              <a:pPr/>
              <a:t>24</a:t>
            </a:fld>
            <a:endParaRPr lang="en-US" altLang="zh-TW" b="0">
              <a:latin typeface="Times New Roman" panose="02020603050405020304" pitchFamily="18" charset="0"/>
            </a:endParaRPr>
          </a:p>
        </p:txBody>
      </p:sp>
      <p:sp>
        <p:nvSpPr>
          <p:cNvPr id="168963" name="Rectangle 2">
            <a:extLst>
              <a:ext uri="{FF2B5EF4-FFF2-40B4-BE49-F238E27FC236}">
                <a16:creationId xmlns:a16="http://schemas.microsoft.com/office/drawing/2014/main" id="{BF94E048-0DA3-4830-AA72-17B63BE6643B}"/>
              </a:ext>
            </a:extLst>
          </p:cNvPr>
          <p:cNvSpPr>
            <a:spLocks noGrp="1" noRot="1" noChangeAspect="1" noChangeArrowheads="1" noTextEdit="1"/>
          </p:cNvSpPr>
          <p:nvPr>
            <p:ph type="sldImg"/>
          </p:nvPr>
        </p:nvSpPr>
        <p:spPr>
          <a:ln/>
        </p:spPr>
      </p:sp>
      <p:sp>
        <p:nvSpPr>
          <p:cNvPr id="168964" name="Rectangle 3">
            <a:extLst>
              <a:ext uri="{FF2B5EF4-FFF2-40B4-BE49-F238E27FC236}">
                <a16:creationId xmlns:a16="http://schemas.microsoft.com/office/drawing/2014/main" id="{CC4CA7E3-F450-4014-A39D-ABFFCFB6269D}"/>
              </a:ext>
            </a:extLst>
          </p:cNvPr>
          <p:cNvSpPr>
            <a:spLocks noGrp="1" noChangeArrowheads="1"/>
          </p:cNvSpPr>
          <p:nvPr>
            <p:ph type="body" idx="1"/>
          </p:nvPr>
        </p:nvSpPr>
        <p:spPr>
          <a:noFill/>
        </p:spPr>
        <p:txBody>
          <a:bodyPr/>
          <a:lstStyle/>
          <a:p>
            <a:pPr eaLnBrk="1" hangingPunct="1"/>
            <a:endParaRPr lang="zh-TW" altLang="zh-TW"/>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a:extLst>
              <a:ext uri="{FF2B5EF4-FFF2-40B4-BE49-F238E27FC236}">
                <a16:creationId xmlns:a16="http://schemas.microsoft.com/office/drawing/2014/main" id="{21893466-6D23-4704-9839-64388F066DDA}"/>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5CDD541-C6E2-48CE-B3BF-E2CFF84516D8}" type="slidenum">
              <a:rPr lang="en-US" altLang="zh-TW" b="0">
                <a:latin typeface="Times New Roman" panose="02020603050405020304" pitchFamily="18" charset="0"/>
              </a:rPr>
              <a:pPr/>
              <a:t>25</a:t>
            </a:fld>
            <a:endParaRPr lang="en-US" altLang="zh-TW" b="0">
              <a:latin typeface="Times New Roman" panose="02020603050405020304" pitchFamily="18" charset="0"/>
            </a:endParaRPr>
          </a:p>
        </p:txBody>
      </p:sp>
      <p:sp>
        <p:nvSpPr>
          <p:cNvPr id="171011" name="Rectangle 2">
            <a:extLst>
              <a:ext uri="{FF2B5EF4-FFF2-40B4-BE49-F238E27FC236}">
                <a16:creationId xmlns:a16="http://schemas.microsoft.com/office/drawing/2014/main" id="{B611BED0-DACF-4E38-9C7A-86298A670E4C}"/>
              </a:ext>
            </a:extLst>
          </p:cNvPr>
          <p:cNvSpPr>
            <a:spLocks noGrp="1" noRot="1" noChangeAspect="1" noChangeArrowheads="1" noTextEdit="1"/>
          </p:cNvSpPr>
          <p:nvPr>
            <p:ph type="sldImg"/>
          </p:nvPr>
        </p:nvSpPr>
        <p:spPr>
          <a:ln/>
        </p:spPr>
      </p:sp>
      <p:sp>
        <p:nvSpPr>
          <p:cNvPr id="171012" name="Rectangle 3">
            <a:extLst>
              <a:ext uri="{FF2B5EF4-FFF2-40B4-BE49-F238E27FC236}">
                <a16:creationId xmlns:a16="http://schemas.microsoft.com/office/drawing/2014/main" id="{60B25DC0-E01A-45A8-91AD-2ABCB9D9785B}"/>
              </a:ext>
            </a:extLst>
          </p:cNvPr>
          <p:cNvSpPr>
            <a:spLocks noGrp="1" noChangeArrowheads="1"/>
          </p:cNvSpPr>
          <p:nvPr>
            <p:ph type="body" idx="1"/>
          </p:nvPr>
        </p:nvSpPr>
        <p:spPr>
          <a:noFill/>
        </p:spPr>
        <p:txBody>
          <a:bodyPr/>
          <a:lstStyle/>
          <a:p>
            <a:pPr eaLnBrk="1" hangingPunct="1"/>
            <a:endParaRPr lang="zh-TW" altLang="zh-TW"/>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a:extLst>
              <a:ext uri="{FF2B5EF4-FFF2-40B4-BE49-F238E27FC236}">
                <a16:creationId xmlns:a16="http://schemas.microsoft.com/office/drawing/2014/main" id="{56B655D4-834C-4CAE-A2B9-562779D5866A}"/>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6962E7B-ACF8-4FE5-8951-004F66A349C7}" type="slidenum">
              <a:rPr lang="en-US" altLang="zh-TW" b="0">
                <a:latin typeface="Times New Roman" panose="02020603050405020304" pitchFamily="18" charset="0"/>
              </a:rPr>
              <a:pPr/>
              <a:t>28</a:t>
            </a:fld>
            <a:endParaRPr lang="en-US" altLang="zh-TW" b="0">
              <a:latin typeface="Times New Roman" panose="02020603050405020304" pitchFamily="18" charset="0"/>
            </a:endParaRPr>
          </a:p>
        </p:txBody>
      </p:sp>
      <p:sp>
        <p:nvSpPr>
          <p:cNvPr id="173059" name="Rectangle 2">
            <a:extLst>
              <a:ext uri="{FF2B5EF4-FFF2-40B4-BE49-F238E27FC236}">
                <a16:creationId xmlns:a16="http://schemas.microsoft.com/office/drawing/2014/main" id="{D9F062C6-9614-42A6-A72E-5B4DF6FE2706}"/>
              </a:ext>
            </a:extLst>
          </p:cNvPr>
          <p:cNvSpPr>
            <a:spLocks noGrp="1" noRot="1" noChangeAspect="1" noChangeArrowheads="1" noTextEdit="1"/>
          </p:cNvSpPr>
          <p:nvPr>
            <p:ph type="sldImg"/>
          </p:nvPr>
        </p:nvSpPr>
        <p:spPr>
          <a:ln/>
        </p:spPr>
      </p:sp>
      <p:sp>
        <p:nvSpPr>
          <p:cNvPr id="173060" name="Rectangle 3">
            <a:extLst>
              <a:ext uri="{FF2B5EF4-FFF2-40B4-BE49-F238E27FC236}">
                <a16:creationId xmlns:a16="http://schemas.microsoft.com/office/drawing/2014/main" id="{A3429754-3F25-4A48-BCDA-5B8AF4A197B6}"/>
              </a:ext>
            </a:extLst>
          </p:cNvPr>
          <p:cNvSpPr>
            <a:spLocks noGrp="1" noChangeArrowheads="1"/>
          </p:cNvSpPr>
          <p:nvPr>
            <p:ph type="body" idx="1"/>
          </p:nvPr>
        </p:nvSpPr>
        <p:spPr>
          <a:noFill/>
        </p:spPr>
        <p:txBody>
          <a:bodyPr/>
          <a:lstStyle/>
          <a:p>
            <a:pPr eaLnBrk="1" hangingPunct="1"/>
            <a:endParaRPr lang="zh-TW" altLang="zh-TW"/>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a:extLst>
              <a:ext uri="{FF2B5EF4-FFF2-40B4-BE49-F238E27FC236}">
                <a16:creationId xmlns:a16="http://schemas.microsoft.com/office/drawing/2014/main" id="{9FD188CF-44BA-49C1-91DF-4418394BA103}"/>
              </a:ext>
            </a:extLst>
          </p:cNvPr>
          <p:cNvSpPr>
            <a:spLocks noGrp="1" noChangeArrowheads="1"/>
          </p:cNvSpPr>
          <p:nvPr>
            <p:ph type="sldNum" sz="quarter" idx="5"/>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5B63060-FA7F-4DEF-BF63-10DA6BC2151F}" type="slidenum">
              <a:rPr lang="en-US" altLang="zh-TW" b="0">
                <a:latin typeface="Times New Roman" panose="02020603050405020304" pitchFamily="18" charset="0"/>
              </a:rPr>
              <a:pPr/>
              <a:t>29</a:t>
            </a:fld>
            <a:endParaRPr lang="en-US" altLang="zh-TW" b="0">
              <a:latin typeface="Times New Roman" panose="02020603050405020304" pitchFamily="18" charset="0"/>
            </a:endParaRPr>
          </a:p>
        </p:txBody>
      </p:sp>
      <p:sp>
        <p:nvSpPr>
          <p:cNvPr id="175107" name="Rectangle 2">
            <a:extLst>
              <a:ext uri="{FF2B5EF4-FFF2-40B4-BE49-F238E27FC236}">
                <a16:creationId xmlns:a16="http://schemas.microsoft.com/office/drawing/2014/main" id="{D4D20184-A884-44A6-A31A-13B5A852B843}"/>
              </a:ext>
            </a:extLst>
          </p:cNvPr>
          <p:cNvSpPr>
            <a:spLocks noGrp="1" noRot="1" noChangeAspect="1" noChangeArrowheads="1" noTextEdit="1"/>
          </p:cNvSpPr>
          <p:nvPr>
            <p:ph type="sldImg"/>
          </p:nvPr>
        </p:nvSpPr>
        <p:spPr>
          <a:ln/>
        </p:spPr>
      </p:sp>
      <p:sp>
        <p:nvSpPr>
          <p:cNvPr id="175108" name="Rectangle 3">
            <a:extLst>
              <a:ext uri="{FF2B5EF4-FFF2-40B4-BE49-F238E27FC236}">
                <a16:creationId xmlns:a16="http://schemas.microsoft.com/office/drawing/2014/main" id="{EBE35E23-4B18-47F7-BC5F-CDA8C5CDFD8E}"/>
              </a:ext>
            </a:extLst>
          </p:cNvPr>
          <p:cNvSpPr>
            <a:spLocks noGrp="1" noChangeArrowheads="1"/>
          </p:cNvSpPr>
          <p:nvPr>
            <p:ph type="body" idx="1"/>
          </p:nvPr>
        </p:nvSpPr>
        <p:spPr>
          <a:noFill/>
        </p:spPr>
        <p:txBody>
          <a:bodyPr/>
          <a:lstStyle/>
          <a:p>
            <a:pPr eaLnBrk="1" hangingPunct="1"/>
            <a:endParaRPr lang="zh-TW" altLang="zh-TW"/>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3E747-07F9-434B-BC45-818EC60EE4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7CC20E-4AFE-4F76-A16E-1D45EB7433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4AA861-0758-4F5D-866A-14BA2719DF33}"/>
              </a:ext>
            </a:extLst>
          </p:cNvPr>
          <p:cNvSpPr>
            <a:spLocks noGrp="1"/>
          </p:cNvSpPr>
          <p:nvPr>
            <p:ph type="dt" sz="half" idx="10"/>
          </p:nvPr>
        </p:nvSpPr>
        <p:spPr/>
        <p:txBody>
          <a:bodyPr/>
          <a:lstStyle/>
          <a:p>
            <a:fld id="{B1EED777-179B-47B4-89B5-43884463E78F}" type="datetimeFigureOut">
              <a:rPr lang="en-IN" smtClean="0"/>
              <a:t>03-12-2020</a:t>
            </a:fld>
            <a:endParaRPr lang="en-IN"/>
          </a:p>
        </p:txBody>
      </p:sp>
      <p:sp>
        <p:nvSpPr>
          <p:cNvPr id="5" name="Footer Placeholder 4">
            <a:extLst>
              <a:ext uri="{FF2B5EF4-FFF2-40B4-BE49-F238E27FC236}">
                <a16:creationId xmlns:a16="http://schemas.microsoft.com/office/drawing/2014/main" id="{D94D3585-83B2-4612-8E27-ECD37E8A32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5B5FEF-FB14-484A-BDC1-026A66422456}"/>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750161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7174-0A19-42B5-9D88-A732A7326D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5AC968-AA46-4EA5-A494-D63484C060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B8846A-67C1-44B3-93C1-02628BB0ADC9}"/>
              </a:ext>
            </a:extLst>
          </p:cNvPr>
          <p:cNvSpPr>
            <a:spLocks noGrp="1"/>
          </p:cNvSpPr>
          <p:nvPr>
            <p:ph type="dt" sz="half" idx="10"/>
          </p:nvPr>
        </p:nvSpPr>
        <p:spPr/>
        <p:txBody>
          <a:bodyPr/>
          <a:lstStyle/>
          <a:p>
            <a:fld id="{B1EED777-179B-47B4-89B5-43884463E78F}" type="datetimeFigureOut">
              <a:rPr lang="en-IN" smtClean="0"/>
              <a:t>03-12-2020</a:t>
            </a:fld>
            <a:endParaRPr lang="en-IN"/>
          </a:p>
        </p:txBody>
      </p:sp>
      <p:sp>
        <p:nvSpPr>
          <p:cNvPr id="5" name="Footer Placeholder 4">
            <a:extLst>
              <a:ext uri="{FF2B5EF4-FFF2-40B4-BE49-F238E27FC236}">
                <a16:creationId xmlns:a16="http://schemas.microsoft.com/office/drawing/2014/main" id="{EF081555-83BB-4319-AA6A-5B0BA77966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D9B10A-BDB5-4503-A870-2E72BA454EAA}"/>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686394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D0510-92E4-4684-B966-082359C01E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A64505A-3878-4CAA-8AB9-346FF4BABA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93CE91-6C9F-4B97-BFB8-C72FF7802697}"/>
              </a:ext>
            </a:extLst>
          </p:cNvPr>
          <p:cNvSpPr>
            <a:spLocks noGrp="1"/>
          </p:cNvSpPr>
          <p:nvPr>
            <p:ph type="dt" sz="half" idx="10"/>
          </p:nvPr>
        </p:nvSpPr>
        <p:spPr/>
        <p:txBody>
          <a:bodyPr/>
          <a:lstStyle/>
          <a:p>
            <a:fld id="{B1EED777-179B-47B4-89B5-43884463E78F}" type="datetimeFigureOut">
              <a:rPr lang="en-IN" smtClean="0"/>
              <a:t>03-12-2020</a:t>
            </a:fld>
            <a:endParaRPr lang="en-IN"/>
          </a:p>
        </p:txBody>
      </p:sp>
      <p:sp>
        <p:nvSpPr>
          <p:cNvPr id="5" name="Footer Placeholder 4">
            <a:extLst>
              <a:ext uri="{FF2B5EF4-FFF2-40B4-BE49-F238E27FC236}">
                <a16:creationId xmlns:a16="http://schemas.microsoft.com/office/drawing/2014/main" id="{273C72D4-1EBB-4424-BF8D-8FE0691533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169827-F418-48F0-A237-687DD633E309}"/>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054700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2D46F-E48B-4CD6-B716-0C6D549D3A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2D24DD-52A7-482F-89FD-BF32F00295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95D6D4-956F-4947-9760-D2BF789873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2674D1-3E8E-4F09-82A1-B0FCC53CBE11}"/>
              </a:ext>
            </a:extLst>
          </p:cNvPr>
          <p:cNvSpPr>
            <a:spLocks noGrp="1"/>
          </p:cNvSpPr>
          <p:nvPr>
            <p:ph type="dt" sz="half" idx="10"/>
          </p:nvPr>
        </p:nvSpPr>
        <p:spPr/>
        <p:txBody>
          <a:bodyPr/>
          <a:lstStyle/>
          <a:p>
            <a:fld id="{B1EED777-179B-47B4-89B5-43884463E78F}" type="datetimeFigureOut">
              <a:rPr lang="en-IN" smtClean="0"/>
              <a:t>03-12-2020</a:t>
            </a:fld>
            <a:endParaRPr lang="en-IN"/>
          </a:p>
        </p:txBody>
      </p:sp>
      <p:sp>
        <p:nvSpPr>
          <p:cNvPr id="6" name="Footer Placeholder 5">
            <a:extLst>
              <a:ext uri="{FF2B5EF4-FFF2-40B4-BE49-F238E27FC236}">
                <a16:creationId xmlns:a16="http://schemas.microsoft.com/office/drawing/2014/main" id="{1E804584-4AA6-49D5-B41F-6C58D11AD4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00545E-A78A-42EC-A7F9-369AD4E1FED4}"/>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230975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26F41-A6ED-48C1-8C3B-D9D17DEB69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065EA6-CEAC-4408-8A9B-194DBBE20D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7C513E-C762-4DC4-BB42-39271E53DE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C646DD3-B6EA-409A-88F7-7554635BEF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DE4109-5BA9-44C5-9A4C-28CDF64A09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A4C9DA1-61F1-4EE5-B441-09F999AA9AC9}"/>
              </a:ext>
            </a:extLst>
          </p:cNvPr>
          <p:cNvSpPr>
            <a:spLocks noGrp="1"/>
          </p:cNvSpPr>
          <p:nvPr>
            <p:ph type="dt" sz="half" idx="10"/>
          </p:nvPr>
        </p:nvSpPr>
        <p:spPr/>
        <p:txBody>
          <a:bodyPr/>
          <a:lstStyle/>
          <a:p>
            <a:fld id="{B1EED777-179B-47B4-89B5-43884463E78F}" type="datetimeFigureOut">
              <a:rPr lang="en-IN" smtClean="0"/>
              <a:t>03-12-2020</a:t>
            </a:fld>
            <a:endParaRPr lang="en-IN"/>
          </a:p>
        </p:txBody>
      </p:sp>
      <p:sp>
        <p:nvSpPr>
          <p:cNvPr id="8" name="Footer Placeholder 7">
            <a:extLst>
              <a:ext uri="{FF2B5EF4-FFF2-40B4-BE49-F238E27FC236}">
                <a16:creationId xmlns:a16="http://schemas.microsoft.com/office/drawing/2014/main" id="{A70B4FE1-A658-4030-8168-15EF6B6750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93F5F94-2BDE-48C8-A5AE-E431D11AEE25}"/>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737494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5AB9-CDB3-4E3F-B606-5E0C87D47B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56FA115-7111-4B60-A5B9-43F059E6D46E}"/>
              </a:ext>
            </a:extLst>
          </p:cNvPr>
          <p:cNvSpPr>
            <a:spLocks noGrp="1"/>
          </p:cNvSpPr>
          <p:nvPr>
            <p:ph type="dt" sz="half" idx="10"/>
          </p:nvPr>
        </p:nvSpPr>
        <p:spPr/>
        <p:txBody>
          <a:bodyPr/>
          <a:lstStyle/>
          <a:p>
            <a:fld id="{B1EED777-179B-47B4-89B5-43884463E78F}" type="datetimeFigureOut">
              <a:rPr lang="en-IN" smtClean="0"/>
              <a:t>03-12-2020</a:t>
            </a:fld>
            <a:endParaRPr lang="en-IN"/>
          </a:p>
        </p:txBody>
      </p:sp>
      <p:sp>
        <p:nvSpPr>
          <p:cNvPr id="4" name="Footer Placeholder 3">
            <a:extLst>
              <a:ext uri="{FF2B5EF4-FFF2-40B4-BE49-F238E27FC236}">
                <a16:creationId xmlns:a16="http://schemas.microsoft.com/office/drawing/2014/main" id="{1DDB6188-B948-4C97-AA7B-EAF74095BF4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EFD2D0-F1E5-432A-B47D-98DFE20B468F}"/>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969029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7785E6-276A-4CF7-9866-6A9EA0BA150D}"/>
              </a:ext>
            </a:extLst>
          </p:cNvPr>
          <p:cNvSpPr>
            <a:spLocks noGrp="1"/>
          </p:cNvSpPr>
          <p:nvPr>
            <p:ph type="dt" sz="half" idx="10"/>
          </p:nvPr>
        </p:nvSpPr>
        <p:spPr/>
        <p:txBody>
          <a:bodyPr/>
          <a:lstStyle/>
          <a:p>
            <a:fld id="{B1EED777-179B-47B4-89B5-43884463E78F}" type="datetimeFigureOut">
              <a:rPr lang="en-IN" smtClean="0"/>
              <a:t>03-12-2020</a:t>
            </a:fld>
            <a:endParaRPr lang="en-IN"/>
          </a:p>
        </p:txBody>
      </p:sp>
      <p:sp>
        <p:nvSpPr>
          <p:cNvPr id="3" name="Footer Placeholder 2">
            <a:extLst>
              <a:ext uri="{FF2B5EF4-FFF2-40B4-BE49-F238E27FC236}">
                <a16:creationId xmlns:a16="http://schemas.microsoft.com/office/drawing/2014/main" id="{396BA2D4-9EBF-4D39-B5B9-93874E1ABE5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9DAD714-AB3D-4FEA-815C-DDB13917470D}"/>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2825435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ECC30-3347-4CBC-BCA7-BDACB15F73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BF06A4D-F201-491D-B4AF-1B07E34D8A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F0B59F5-5EEE-4979-B373-0CAA1D8FE9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EB0DC7-DE7C-4308-B69C-F7798EB45126}"/>
              </a:ext>
            </a:extLst>
          </p:cNvPr>
          <p:cNvSpPr>
            <a:spLocks noGrp="1"/>
          </p:cNvSpPr>
          <p:nvPr>
            <p:ph type="dt" sz="half" idx="10"/>
          </p:nvPr>
        </p:nvSpPr>
        <p:spPr/>
        <p:txBody>
          <a:bodyPr/>
          <a:lstStyle/>
          <a:p>
            <a:fld id="{B1EED777-179B-47B4-89B5-43884463E78F}" type="datetimeFigureOut">
              <a:rPr lang="en-IN" smtClean="0"/>
              <a:t>03-12-2020</a:t>
            </a:fld>
            <a:endParaRPr lang="en-IN"/>
          </a:p>
        </p:txBody>
      </p:sp>
      <p:sp>
        <p:nvSpPr>
          <p:cNvPr id="6" name="Footer Placeholder 5">
            <a:extLst>
              <a:ext uri="{FF2B5EF4-FFF2-40B4-BE49-F238E27FC236}">
                <a16:creationId xmlns:a16="http://schemas.microsoft.com/office/drawing/2014/main" id="{436F3BB3-33D9-4922-8941-44E11F23CA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B7D629-E868-4ACA-AD7C-DE90C59D3273}"/>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257739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2CD59-FF70-44BA-8F2F-F296004313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E621FF-9E5C-42FC-B0CF-6321A69808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1C0EE9-406B-4100-916D-2E4F565D9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AC6D38-9904-4CF7-B107-A490964E05D8}"/>
              </a:ext>
            </a:extLst>
          </p:cNvPr>
          <p:cNvSpPr>
            <a:spLocks noGrp="1"/>
          </p:cNvSpPr>
          <p:nvPr>
            <p:ph type="dt" sz="half" idx="10"/>
          </p:nvPr>
        </p:nvSpPr>
        <p:spPr/>
        <p:txBody>
          <a:bodyPr/>
          <a:lstStyle/>
          <a:p>
            <a:fld id="{B1EED777-179B-47B4-89B5-43884463E78F}" type="datetimeFigureOut">
              <a:rPr lang="en-IN" smtClean="0"/>
              <a:t>03-12-2020</a:t>
            </a:fld>
            <a:endParaRPr lang="en-IN"/>
          </a:p>
        </p:txBody>
      </p:sp>
      <p:sp>
        <p:nvSpPr>
          <p:cNvPr id="6" name="Footer Placeholder 5">
            <a:extLst>
              <a:ext uri="{FF2B5EF4-FFF2-40B4-BE49-F238E27FC236}">
                <a16:creationId xmlns:a16="http://schemas.microsoft.com/office/drawing/2014/main" id="{AD29B5E7-AAF1-4659-AAFC-EFE9CD4B0B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9FBE07-50F3-4F8F-B531-B210D7B170BB}"/>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2893472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F2F24-07D3-406A-BC00-7884A0ADF9C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84D9FD-2295-4D91-B44A-FED97B4452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75DEB3-BD97-410F-81B6-64FA8F4524A2}"/>
              </a:ext>
            </a:extLst>
          </p:cNvPr>
          <p:cNvSpPr>
            <a:spLocks noGrp="1"/>
          </p:cNvSpPr>
          <p:nvPr>
            <p:ph type="dt" sz="half" idx="10"/>
          </p:nvPr>
        </p:nvSpPr>
        <p:spPr/>
        <p:txBody>
          <a:bodyPr/>
          <a:lstStyle/>
          <a:p>
            <a:fld id="{B1EED777-179B-47B4-89B5-43884463E78F}" type="datetimeFigureOut">
              <a:rPr lang="en-IN" smtClean="0"/>
              <a:t>03-12-2020</a:t>
            </a:fld>
            <a:endParaRPr lang="en-IN"/>
          </a:p>
        </p:txBody>
      </p:sp>
      <p:sp>
        <p:nvSpPr>
          <p:cNvPr id="5" name="Footer Placeholder 4">
            <a:extLst>
              <a:ext uri="{FF2B5EF4-FFF2-40B4-BE49-F238E27FC236}">
                <a16:creationId xmlns:a16="http://schemas.microsoft.com/office/drawing/2014/main" id="{FCC95C8D-9402-411F-B7C8-1BB681B03F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54FA15-82A8-45FC-B953-CC2C21F2577E}"/>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2350466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A41AC9-1D93-4DBD-B112-89592EFA8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9E7E1A-05FA-40CE-8AFD-8E287887B9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1241AE-3983-40E2-870B-29BC6A39B524}"/>
              </a:ext>
            </a:extLst>
          </p:cNvPr>
          <p:cNvSpPr>
            <a:spLocks noGrp="1"/>
          </p:cNvSpPr>
          <p:nvPr>
            <p:ph type="dt" sz="half" idx="10"/>
          </p:nvPr>
        </p:nvSpPr>
        <p:spPr/>
        <p:txBody>
          <a:bodyPr/>
          <a:lstStyle/>
          <a:p>
            <a:fld id="{B1EED777-179B-47B4-89B5-43884463E78F}" type="datetimeFigureOut">
              <a:rPr lang="en-IN" smtClean="0"/>
              <a:t>03-12-2020</a:t>
            </a:fld>
            <a:endParaRPr lang="en-IN"/>
          </a:p>
        </p:txBody>
      </p:sp>
      <p:sp>
        <p:nvSpPr>
          <p:cNvPr id="5" name="Footer Placeholder 4">
            <a:extLst>
              <a:ext uri="{FF2B5EF4-FFF2-40B4-BE49-F238E27FC236}">
                <a16:creationId xmlns:a16="http://schemas.microsoft.com/office/drawing/2014/main" id="{C0230C94-6A50-4631-B01D-38D19ADB0B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D151BC-0FAE-44A0-964E-24B4E5B3A7CD}"/>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635910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F689EB-1464-40A4-BE2D-C78967CC24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A3148C-53BE-4744-8307-6C45106DF2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0762B0-F067-4089-AF7F-3949D403F9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EED777-179B-47B4-89B5-43884463E78F}" type="datetimeFigureOut">
              <a:rPr lang="en-IN" smtClean="0"/>
              <a:t>03-12-2020</a:t>
            </a:fld>
            <a:endParaRPr lang="en-IN"/>
          </a:p>
        </p:txBody>
      </p:sp>
      <p:sp>
        <p:nvSpPr>
          <p:cNvPr id="5" name="Footer Placeholder 4">
            <a:extLst>
              <a:ext uri="{FF2B5EF4-FFF2-40B4-BE49-F238E27FC236}">
                <a16:creationId xmlns:a16="http://schemas.microsoft.com/office/drawing/2014/main" id="{6AEE6463-78CB-42C5-B39E-B3A30763D4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599277-D454-4C1A-9C3C-BB62D91DBE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7E21EE-17CC-4834-ADD1-32797000299F}" type="slidenum">
              <a:rPr lang="en-IN" smtClean="0"/>
              <a:t>‹#›</a:t>
            </a:fld>
            <a:endParaRPr lang="en-IN"/>
          </a:p>
        </p:txBody>
      </p:sp>
    </p:spTree>
    <p:extLst>
      <p:ext uri="{BB962C8B-B14F-4D97-AF65-F5344CB8AC3E}">
        <p14:creationId xmlns:p14="http://schemas.microsoft.com/office/powerpoint/2010/main" val="4193543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image" Target="../media/image22.emf"/><Relationship Id="rId3" Type="http://schemas.openxmlformats.org/officeDocument/2006/relationships/image" Target="../media/image12.png"/><Relationship Id="rId7" Type="http://schemas.openxmlformats.org/officeDocument/2006/relationships/image" Target="../media/image16.emf"/><Relationship Id="rId12" Type="http://schemas.openxmlformats.org/officeDocument/2006/relationships/image" Target="../media/image21.emf"/><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5.emf"/><Relationship Id="rId11" Type="http://schemas.openxmlformats.org/officeDocument/2006/relationships/image" Target="../media/image20.emf"/><Relationship Id="rId5" Type="http://schemas.openxmlformats.org/officeDocument/2006/relationships/image" Target="../media/image14.emf"/><Relationship Id="rId10" Type="http://schemas.openxmlformats.org/officeDocument/2006/relationships/image" Target="../media/image19.emf"/><Relationship Id="rId4" Type="http://schemas.openxmlformats.org/officeDocument/2006/relationships/image" Target="../media/image13.emf"/><Relationship Id="rId9" Type="http://schemas.openxmlformats.org/officeDocument/2006/relationships/image" Target="../media/image18.emf"/></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3200400"/>
            <a:ext cx="7772400" cy="1676400"/>
          </a:xfrm>
        </p:spPr>
        <p:txBody>
          <a:bodyPr>
            <a:normAutofit fontScale="90000"/>
          </a:bodyPr>
          <a:lstStyle/>
          <a:p>
            <a:pPr algn="ctr"/>
            <a:r>
              <a:rPr lang="en-US" b="1" u="none" dirty="0"/>
              <a:t>COMPUTER NETWORKS</a:t>
            </a:r>
            <a:br>
              <a:rPr lang="en-US" b="1" u="none" dirty="0"/>
            </a:br>
            <a:r>
              <a:rPr lang="en-US" b="1" u="none" dirty="0"/>
              <a:t>(</a:t>
            </a:r>
            <a:r>
              <a:rPr lang="en-US" b="1" dirty="0"/>
              <a:t>BCSC 0008)</a:t>
            </a:r>
            <a:endParaRPr lang="en-US" b="1" u="none" dirty="0"/>
          </a:p>
        </p:txBody>
      </p:sp>
      <p:pic>
        <p:nvPicPr>
          <p:cNvPr id="8" name="Picture 2"/>
          <p:cNvPicPr>
            <a:picLocks noChangeAspect="1" noChangeArrowheads="1"/>
          </p:cNvPicPr>
          <p:nvPr/>
        </p:nvPicPr>
        <p:blipFill>
          <a:blip r:embed="rId2" cstate="print"/>
          <a:srcRect/>
          <a:stretch>
            <a:fillRect/>
          </a:stretch>
        </p:blipFill>
        <p:spPr bwMode="auto">
          <a:xfrm>
            <a:off x="5105400" y="990601"/>
            <a:ext cx="2065942" cy="2152827"/>
          </a:xfrm>
          <a:prstGeom prst="rect">
            <a:avLst/>
          </a:prstGeom>
          <a:noFill/>
          <a:ln w="9525">
            <a:noFill/>
            <a:miter lim="800000"/>
            <a:headEnd/>
            <a:tailEnd/>
          </a:ln>
        </p:spPr>
      </p:pic>
      <p:sp>
        <p:nvSpPr>
          <p:cNvPr id="10" name="Footer Placeholder 5"/>
          <p:cNvSpPr txBox="1">
            <a:spLocks/>
          </p:cNvSpPr>
          <p:nvPr/>
        </p:nvSpPr>
        <p:spPr>
          <a:xfrm>
            <a:off x="2743200" y="4816476"/>
            <a:ext cx="6781800" cy="365125"/>
          </a:xfrm>
          <a:prstGeom prst="rect">
            <a:avLst/>
          </a:prstGeom>
        </p:spPr>
        <p:txBody>
          <a:bodyPr vert="horz" lIns="91440" tIns="45720" rIns="91440" bIns="45720" rtlCol="0" anchor="ctr"/>
          <a:lstStyle/>
          <a:p>
            <a:pPr algn="ctr">
              <a:defRPr/>
            </a:pPr>
            <a:r>
              <a:rPr lang="en-US" sz="1200" b="1" dirty="0">
                <a:latin typeface="Times New Roman"/>
                <a:ea typeface="Calibri"/>
                <a:cs typeface="Times New Roman"/>
              </a:rPr>
              <a:t>Copyright content, use only with the written permission of presenter mentioned</a:t>
            </a:r>
            <a:endParaRPr lang="en-US" altLang="zh-TW" sz="1200" dirty="0">
              <a:latin typeface="Times New Roman" pitchFamily="18" charset="0"/>
            </a:endParaRPr>
          </a:p>
        </p:txBody>
      </p:sp>
      <p:sp>
        <p:nvSpPr>
          <p:cNvPr id="11" name="Footer Placeholder 5"/>
          <p:cNvSpPr txBox="1">
            <a:spLocks/>
          </p:cNvSpPr>
          <p:nvPr/>
        </p:nvSpPr>
        <p:spPr>
          <a:xfrm>
            <a:off x="4876800" y="5410201"/>
            <a:ext cx="2438400" cy="365125"/>
          </a:xfrm>
          <a:prstGeom prst="rect">
            <a:avLst/>
          </a:prstGeom>
        </p:spPr>
        <p:txBody>
          <a:bodyPr vert="horz" lIns="91440" tIns="45720" rIns="91440" bIns="45720" rtlCol="0" anchor="ctr"/>
          <a:lstStyle/>
          <a:p>
            <a:pPr algn="ctr">
              <a:defRPr/>
            </a:pPr>
            <a:r>
              <a:rPr lang="en-US" b="1" dirty="0">
                <a:latin typeface="Times New Roman"/>
                <a:ea typeface="Calibri"/>
                <a:cs typeface="Times New Roman"/>
              </a:rPr>
              <a:t>Lecture 21</a:t>
            </a:r>
            <a:endParaRPr lang="en-US" altLang="zh-TW"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dirty="0"/>
            </a:br>
            <a:r>
              <a:rPr lang="en-US" b="1" dirty="0"/>
              <a:t>Text and Reference Books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buNone/>
            </a:pPr>
            <a:r>
              <a:rPr lang="en-US" sz="2400" dirty="0">
                <a:solidFill>
                  <a:srgbClr val="FF0000"/>
                </a:solidFill>
              </a:rPr>
              <a:t>Text Books:</a:t>
            </a:r>
          </a:p>
          <a:p>
            <a:pPr marL="457200" indent="-457200" algn="just">
              <a:buFont typeface="+mj-lt"/>
              <a:buAutoNum type="arabicPeriod"/>
            </a:pPr>
            <a:r>
              <a:rPr lang="en-US" dirty="0"/>
              <a:t>Fourouzan B. A. (2004), “Data Communication and Networking”, 4th Edition, McGraw-Hill.</a:t>
            </a:r>
          </a:p>
          <a:p>
            <a:pPr algn="just"/>
            <a:endParaRPr lang="en-US" sz="2400" dirty="0"/>
          </a:p>
          <a:p>
            <a:pPr algn="just">
              <a:buNone/>
            </a:pPr>
            <a:r>
              <a:rPr lang="en-US" sz="2400" dirty="0">
                <a:solidFill>
                  <a:srgbClr val="FF0000"/>
                </a:solidFill>
              </a:rPr>
              <a:t>References:</a:t>
            </a:r>
          </a:p>
          <a:p>
            <a:pPr marL="457200" indent="-457200" algn="just">
              <a:buFont typeface="+mj-lt"/>
              <a:buAutoNum type="arabicPeriod"/>
            </a:pPr>
            <a:r>
              <a:rPr lang="en-US" dirty="0"/>
              <a:t>Kurose, J. F. and Ross K. W. (2005), “Computer Networking: A Top-Down Approach Featuring the Internet”, 3rd Edition, Addison-Wesley.</a:t>
            </a:r>
          </a:p>
          <a:p>
            <a:pPr marL="457200" indent="-457200" algn="just">
              <a:buFont typeface="+mj-lt"/>
              <a:buAutoNum type="arabicPeriod"/>
            </a:pPr>
            <a:r>
              <a:rPr lang="en-US" dirty="0"/>
              <a:t>A. S. Tanenbaum (2006), “Computer Networks”, 2nd Edition, Prentice Hall India.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頁尾版面配置區 1">
            <a:extLst>
              <a:ext uri="{FF2B5EF4-FFF2-40B4-BE49-F238E27FC236}">
                <a16:creationId xmlns:a16="http://schemas.microsoft.com/office/drawing/2014/main" id="{0D1728E0-79AA-4652-B650-9261331C1462}"/>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a:t>TCP/IP Protocol Suite</a:t>
            </a:r>
          </a:p>
        </p:txBody>
      </p:sp>
      <p:sp>
        <p:nvSpPr>
          <p:cNvPr id="104451" name="投影片編號版面配置區 2">
            <a:extLst>
              <a:ext uri="{FF2B5EF4-FFF2-40B4-BE49-F238E27FC236}">
                <a16:creationId xmlns:a16="http://schemas.microsoft.com/office/drawing/2014/main" id="{530C39ED-A05D-4D78-B274-FE01ED379B3B}"/>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BC18E35-474A-45C3-AD40-46FD16C208C0}" type="slidenum">
              <a:rPr lang="en-US" altLang="zh-TW" b="0"/>
              <a:pPr/>
              <a:t>3</a:t>
            </a:fld>
            <a:endParaRPr lang="en-US" altLang="zh-TW" b="0"/>
          </a:p>
        </p:txBody>
      </p:sp>
      <p:sp>
        <p:nvSpPr>
          <p:cNvPr id="104454" name="Text Box 4">
            <a:extLst>
              <a:ext uri="{FF2B5EF4-FFF2-40B4-BE49-F238E27FC236}">
                <a16:creationId xmlns:a16="http://schemas.microsoft.com/office/drawing/2014/main" id="{F13E0B64-F838-47D4-B6B4-19C82562F687}"/>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zh-TW" altLang="zh-TW">
              <a:latin typeface="Times New Roman" panose="02020603050405020304" pitchFamily="18" charset="0"/>
              <a:ea typeface="新細明體" panose="02020500000000000000" pitchFamily="18" charset="-120"/>
            </a:endParaRPr>
          </a:p>
        </p:txBody>
      </p:sp>
      <p:sp>
        <p:nvSpPr>
          <p:cNvPr id="104455" name="Rectangle 5">
            <a:extLst>
              <a:ext uri="{FF2B5EF4-FFF2-40B4-BE49-F238E27FC236}">
                <a16:creationId xmlns:a16="http://schemas.microsoft.com/office/drawing/2014/main" id="{75EBC9D0-5159-4E9E-89E5-330B3D0FE006}"/>
              </a:ext>
            </a:extLst>
          </p:cNvPr>
          <p:cNvSpPr>
            <a:spLocks noChangeArrowheads="1"/>
          </p:cNvSpPr>
          <p:nvPr/>
        </p:nvSpPr>
        <p:spPr bwMode="auto">
          <a:xfrm>
            <a:off x="838200" y="1733827"/>
            <a:ext cx="962977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r>
              <a:rPr lang="en-US" altLang="zh-TW" sz="2400" dirty="0">
                <a:latin typeface="+mj-lt"/>
                <a:ea typeface="Arial Unicode MS" pitchFamily="34" charset="-120"/>
              </a:rPr>
              <a:t>Before discussing data transfer in TCP and the issues such as flow, error, and congestion control, we describe the windows used in TCP. </a:t>
            </a:r>
          </a:p>
          <a:p>
            <a:pPr marL="457200" indent="-457200" algn="just">
              <a:buFont typeface="Arial" panose="020B0604020202020204" pitchFamily="34" charset="0"/>
              <a:buChar char="•"/>
            </a:pPr>
            <a:r>
              <a:rPr lang="en-US" altLang="zh-TW" sz="2400" dirty="0">
                <a:latin typeface="+mj-lt"/>
                <a:ea typeface="Arial Unicode MS" pitchFamily="34" charset="-120"/>
              </a:rPr>
              <a:t>TCP uses two windows (send window and receive window) for each direction of data transfer, which means four windows for a bidirectional communication.</a:t>
            </a:r>
          </a:p>
          <a:p>
            <a:pPr marL="457200" indent="-457200" algn="just">
              <a:buFont typeface="Arial" panose="020B0604020202020204" pitchFamily="34" charset="0"/>
              <a:buChar char="•"/>
            </a:pPr>
            <a:r>
              <a:rPr lang="en-US" altLang="zh-TW" sz="2400" dirty="0">
                <a:latin typeface="+mj-lt"/>
                <a:ea typeface="Arial Unicode MS" pitchFamily="34" charset="-120"/>
              </a:rPr>
              <a:t> To make the discussion simple, we make an assumption that communication is only unidirectional; </a:t>
            </a:r>
          </a:p>
          <a:p>
            <a:pPr marL="457200" indent="-457200" algn="just">
              <a:buFont typeface="Arial" panose="020B0604020202020204" pitchFamily="34" charset="0"/>
              <a:buChar char="•"/>
            </a:pPr>
            <a:r>
              <a:rPr lang="en-US" altLang="zh-TW" sz="2400" dirty="0">
                <a:latin typeface="+mj-lt"/>
                <a:ea typeface="Arial Unicode MS" pitchFamily="34" charset="-120"/>
              </a:rPr>
              <a:t>The bidirectional communication can be inferred using two unidirectional communications with piggybacking.</a:t>
            </a:r>
          </a:p>
        </p:txBody>
      </p:sp>
      <p:sp>
        <p:nvSpPr>
          <p:cNvPr id="2" name="TextBox 1">
            <a:extLst>
              <a:ext uri="{FF2B5EF4-FFF2-40B4-BE49-F238E27FC236}">
                <a16:creationId xmlns:a16="http://schemas.microsoft.com/office/drawing/2014/main" id="{1288D495-B022-438F-9BA3-E708BB82BC31}"/>
              </a:ext>
            </a:extLst>
          </p:cNvPr>
          <p:cNvSpPr txBox="1"/>
          <p:nvPr/>
        </p:nvSpPr>
        <p:spPr>
          <a:xfrm>
            <a:off x="866355" y="761394"/>
            <a:ext cx="4717510" cy="584775"/>
          </a:xfrm>
          <a:prstGeom prst="rect">
            <a:avLst/>
          </a:prstGeom>
          <a:noFill/>
        </p:spPr>
        <p:txBody>
          <a:bodyPr wrap="none" rtlCol="0">
            <a:spAutoFit/>
          </a:bodyPr>
          <a:lstStyle/>
          <a:p>
            <a:r>
              <a:rPr lang="en-US" sz="3200" b="1" dirty="0"/>
              <a:t>TCP Window Management</a:t>
            </a:r>
            <a:endParaRPr lang="en-IN" sz="32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頁尾版面配置區 1">
            <a:extLst>
              <a:ext uri="{FF2B5EF4-FFF2-40B4-BE49-F238E27FC236}">
                <a16:creationId xmlns:a16="http://schemas.microsoft.com/office/drawing/2014/main" id="{67FD03DC-F249-43FC-A470-5F19DEAEEC46}"/>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a:t>TCP/IP Protocol Suite</a:t>
            </a:r>
          </a:p>
        </p:txBody>
      </p:sp>
      <p:sp>
        <p:nvSpPr>
          <p:cNvPr id="108547" name="投影片編號版面配置區 2">
            <a:extLst>
              <a:ext uri="{FF2B5EF4-FFF2-40B4-BE49-F238E27FC236}">
                <a16:creationId xmlns:a16="http://schemas.microsoft.com/office/drawing/2014/main" id="{63AE8538-1739-413C-BDC0-973E9266ABAD}"/>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A462151-51F5-49D7-9CED-85581559F53E}" type="slidenum">
              <a:rPr lang="en-US" altLang="zh-TW" b="0"/>
              <a:pPr/>
              <a:t>4</a:t>
            </a:fld>
            <a:endParaRPr lang="en-US" altLang="zh-TW" b="0"/>
          </a:p>
        </p:txBody>
      </p:sp>
      <p:sp>
        <p:nvSpPr>
          <p:cNvPr id="108548" name="Text Box 2">
            <a:extLst>
              <a:ext uri="{FF2B5EF4-FFF2-40B4-BE49-F238E27FC236}">
                <a16:creationId xmlns:a16="http://schemas.microsoft.com/office/drawing/2014/main" id="{9A220D6D-0199-4367-92AC-7969D035F874}"/>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15.22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Send window in TCP</a:t>
            </a:r>
          </a:p>
        </p:txBody>
      </p:sp>
      <p:sp>
        <p:nvSpPr>
          <p:cNvPr id="108549" name="Rectangle 3">
            <a:extLst>
              <a:ext uri="{FF2B5EF4-FFF2-40B4-BE49-F238E27FC236}">
                <a16:creationId xmlns:a16="http://schemas.microsoft.com/office/drawing/2014/main" id="{6EC18D9A-2A11-48F1-AD6F-6A83281F76C9}"/>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08550" name="Rectangle 4">
            <a:extLst>
              <a:ext uri="{FF2B5EF4-FFF2-40B4-BE49-F238E27FC236}">
                <a16:creationId xmlns:a16="http://schemas.microsoft.com/office/drawing/2014/main" id="{B7C14161-E19D-4768-A408-439F02748B0E}"/>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08551" name="Rectangle 5">
            <a:extLst>
              <a:ext uri="{FF2B5EF4-FFF2-40B4-BE49-F238E27FC236}">
                <a16:creationId xmlns:a16="http://schemas.microsoft.com/office/drawing/2014/main" id="{CC082D8A-7F4A-4809-87A2-59AE7F8FA5CC}"/>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08552" name="Rectangle 6">
            <a:extLst>
              <a:ext uri="{FF2B5EF4-FFF2-40B4-BE49-F238E27FC236}">
                <a16:creationId xmlns:a16="http://schemas.microsoft.com/office/drawing/2014/main" id="{A59A173B-AF95-41EF-890C-0F9B47D277E0}"/>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08553" name="Rectangle 7">
            <a:extLst>
              <a:ext uri="{FF2B5EF4-FFF2-40B4-BE49-F238E27FC236}">
                <a16:creationId xmlns:a16="http://schemas.microsoft.com/office/drawing/2014/main" id="{BEA9921F-BF5E-4CD1-A220-E6E691B7D840}"/>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08554" name="Rectangle 8">
            <a:extLst>
              <a:ext uri="{FF2B5EF4-FFF2-40B4-BE49-F238E27FC236}">
                <a16:creationId xmlns:a16="http://schemas.microsoft.com/office/drawing/2014/main" id="{4B4C6202-446C-4B9E-B8A2-91335791A5E2}"/>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08555" name="Rectangle 9">
            <a:extLst>
              <a:ext uri="{FF2B5EF4-FFF2-40B4-BE49-F238E27FC236}">
                <a16:creationId xmlns:a16="http://schemas.microsoft.com/office/drawing/2014/main" id="{24C38AA3-6A59-477E-BD16-C426B593556E}"/>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pic>
        <p:nvPicPr>
          <p:cNvPr id="771083" name="Picture 11">
            <a:extLst>
              <a:ext uri="{FF2B5EF4-FFF2-40B4-BE49-F238E27FC236}">
                <a16:creationId xmlns:a16="http://schemas.microsoft.com/office/drawing/2014/main" id="{4AEF0F7F-3ED3-462A-8221-10CF014904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239" y="1123950"/>
            <a:ext cx="8613775" cy="2713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71084" name="Picture 12">
            <a:extLst>
              <a:ext uri="{FF2B5EF4-FFF2-40B4-BE49-F238E27FC236}">
                <a16:creationId xmlns:a16="http://schemas.microsoft.com/office/drawing/2014/main" id="{DF60E5A8-0021-41F7-949F-8F1E7B8795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101" y="4151313"/>
            <a:ext cx="8316913" cy="185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771083"/>
                                        </p:tgtEl>
                                        <p:attrNameLst>
                                          <p:attrName>style.visibility</p:attrName>
                                        </p:attrNameLst>
                                      </p:cBhvr>
                                      <p:to>
                                        <p:strVal val="visible"/>
                                      </p:to>
                                    </p:set>
                                    <p:anim calcmode="lin" valueType="num">
                                      <p:cBhvr>
                                        <p:cTn id="7" dur="500" fill="hold"/>
                                        <p:tgtEl>
                                          <p:spTgt spid="771083"/>
                                        </p:tgtEl>
                                        <p:attrNameLst>
                                          <p:attrName>ppt_w</p:attrName>
                                        </p:attrNameLst>
                                      </p:cBhvr>
                                      <p:tavLst>
                                        <p:tav tm="0">
                                          <p:val>
                                            <p:fltVal val="0"/>
                                          </p:val>
                                        </p:tav>
                                        <p:tav tm="100000">
                                          <p:val>
                                            <p:strVal val="#ppt_w"/>
                                          </p:val>
                                        </p:tav>
                                      </p:tavLst>
                                    </p:anim>
                                    <p:anim calcmode="lin" valueType="num">
                                      <p:cBhvr>
                                        <p:cTn id="8" dur="500" fill="hold"/>
                                        <p:tgtEl>
                                          <p:spTgt spid="771083"/>
                                        </p:tgtEl>
                                        <p:attrNameLst>
                                          <p:attrName>ppt_h</p:attrName>
                                        </p:attrNameLst>
                                      </p:cBhvr>
                                      <p:tavLst>
                                        <p:tav tm="0">
                                          <p:val>
                                            <p:fltVal val="0"/>
                                          </p:val>
                                        </p:tav>
                                        <p:tav tm="100000">
                                          <p:val>
                                            <p:strVal val="#ppt_h"/>
                                          </p:val>
                                        </p:tav>
                                      </p:tavLst>
                                    </p:anim>
                                    <p:animEffect transition="in" filter="fade">
                                      <p:cBhvr>
                                        <p:cTn id="9" dur="500"/>
                                        <p:tgtEl>
                                          <p:spTgt spid="77108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771084"/>
                                        </p:tgtEl>
                                        <p:attrNameLst>
                                          <p:attrName>style.visibility</p:attrName>
                                        </p:attrNameLst>
                                      </p:cBhvr>
                                      <p:to>
                                        <p:strVal val="visible"/>
                                      </p:to>
                                    </p:set>
                                    <p:anim calcmode="lin" valueType="num">
                                      <p:cBhvr>
                                        <p:cTn id="14" dur="500" fill="hold"/>
                                        <p:tgtEl>
                                          <p:spTgt spid="771084"/>
                                        </p:tgtEl>
                                        <p:attrNameLst>
                                          <p:attrName>ppt_w</p:attrName>
                                        </p:attrNameLst>
                                      </p:cBhvr>
                                      <p:tavLst>
                                        <p:tav tm="0">
                                          <p:val>
                                            <p:fltVal val="0"/>
                                          </p:val>
                                        </p:tav>
                                        <p:tav tm="100000">
                                          <p:val>
                                            <p:strVal val="#ppt_w"/>
                                          </p:val>
                                        </p:tav>
                                      </p:tavLst>
                                    </p:anim>
                                    <p:anim calcmode="lin" valueType="num">
                                      <p:cBhvr>
                                        <p:cTn id="15" dur="500" fill="hold"/>
                                        <p:tgtEl>
                                          <p:spTgt spid="771084"/>
                                        </p:tgtEl>
                                        <p:attrNameLst>
                                          <p:attrName>ppt_h</p:attrName>
                                        </p:attrNameLst>
                                      </p:cBhvr>
                                      <p:tavLst>
                                        <p:tav tm="0">
                                          <p:val>
                                            <p:fltVal val="0"/>
                                          </p:val>
                                        </p:tav>
                                        <p:tav tm="100000">
                                          <p:val>
                                            <p:strVal val="#ppt_h"/>
                                          </p:val>
                                        </p:tav>
                                      </p:tavLst>
                                    </p:anim>
                                    <p:animEffect transition="in" filter="fade">
                                      <p:cBhvr>
                                        <p:cTn id="16" dur="500"/>
                                        <p:tgtEl>
                                          <p:spTgt spid="771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頁尾版面配置區 1">
            <a:extLst>
              <a:ext uri="{FF2B5EF4-FFF2-40B4-BE49-F238E27FC236}">
                <a16:creationId xmlns:a16="http://schemas.microsoft.com/office/drawing/2014/main" id="{9DBBF5AB-EC9D-44B3-B178-9DA70B99DA99}"/>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a:t>TCP/IP Protocol Suite</a:t>
            </a:r>
          </a:p>
        </p:txBody>
      </p:sp>
      <p:sp>
        <p:nvSpPr>
          <p:cNvPr id="110595" name="投影片編號版面配置區 2">
            <a:extLst>
              <a:ext uri="{FF2B5EF4-FFF2-40B4-BE49-F238E27FC236}">
                <a16:creationId xmlns:a16="http://schemas.microsoft.com/office/drawing/2014/main" id="{40F26D95-3FB4-4AC6-922A-5E30CDA9747D}"/>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8C7B147-F318-4844-B5D0-A7599DE08B16}" type="slidenum">
              <a:rPr lang="en-US" altLang="zh-TW" b="0"/>
              <a:pPr/>
              <a:t>5</a:t>
            </a:fld>
            <a:endParaRPr lang="en-US" altLang="zh-TW" b="0"/>
          </a:p>
        </p:txBody>
      </p:sp>
      <p:sp>
        <p:nvSpPr>
          <p:cNvPr id="110596" name="Text Box 2">
            <a:extLst>
              <a:ext uri="{FF2B5EF4-FFF2-40B4-BE49-F238E27FC236}">
                <a16:creationId xmlns:a16="http://schemas.microsoft.com/office/drawing/2014/main" id="{E5589CD2-28BF-40B6-B218-123437D5A115}"/>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15.23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Receive window in TCP</a:t>
            </a:r>
          </a:p>
        </p:txBody>
      </p:sp>
      <p:sp>
        <p:nvSpPr>
          <p:cNvPr id="110597" name="Rectangle 3">
            <a:extLst>
              <a:ext uri="{FF2B5EF4-FFF2-40B4-BE49-F238E27FC236}">
                <a16:creationId xmlns:a16="http://schemas.microsoft.com/office/drawing/2014/main" id="{107553AF-3B6E-4E20-B0FE-FAB6BE9B5E97}"/>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10598" name="Rectangle 4">
            <a:extLst>
              <a:ext uri="{FF2B5EF4-FFF2-40B4-BE49-F238E27FC236}">
                <a16:creationId xmlns:a16="http://schemas.microsoft.com/office/drawing/2014/main" id="{58624172-2BA6-43B3-8A46-4509BD4EB27D}"/>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10599" name="Rectangle 5">
            <a:extLst>
              <a:ext uri="{FF2B5EF4-FFF2-40B4-BE49-F238E27FC236}">
                <a16:creationId xmlns:a16="http://schemas.microsoft.com/office/drawing/2014/main" id="{FB9E9994-F9F6-4BD7-B79C-2755BABA9EE1}"/>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10600" name="Rectangle 6">
            <a:extLst>
              <a:ext uri="{FF2B5EF4-FFF2-40B4-BE49-F238E27FC236}">
                <a16:creationId xmlns:a16="http://schemas.microsoft.com/office/drawing/2014/main" id="{1544D163-9041-4DCF-A9C3-8673E9AEC46E}"/>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10601" name="Rectangle 7">
            <a:extLst>
              <a:ext uri="{FF2B5EF4-FFF2-40B4-BE49-F238E27FC236}">
                <a16:creationId xmlns:a16="http://schemas.microsoft.com/office/drawing/2014/main" id="{974D9F37-0228-4176-A5AB-C5360630E7B4}"/>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10602" name="Rectangle 8">
            <a:extLst>
              <a:ext uri="{FF2B5EF4-FFF2-40B4-BE49-F238E27FC236}">
                <a16:creationId xmlns:a16="http://schemas.microsoft.com/office/drawing/2014/main" id="{EC262ABD-4E5C-44F4-AC1B-D9E879BA4BC1}"/>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10603" name="Rectangle 9">
            <a:extLst>
              <a:ext uri="{FF2B5EF4-FFF2-40B4-BE49-F238E27FC236}">
                <a16:creationId xmlns:a16="http://schemas.microsoft.com/office/drawing/2014/main" id="{CFFF63BB-8486-443A-97AB-F00325FA2762}"/>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pic>
        <p:nvPicPr>
          <p:cNvPr id="110604" name="Picture 10">
            <a:extLst>
              <a:ext uri="{FF2B5EF4-FFF2-40B4-BE49-F238E27FC236}">
                <a16:creationId xmlns:a16="http://schemas.microsoft.com/office/drawing/2014/main" id="{4D2A7B61-9768-4CDE-9DE6-77128BE570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2214" y="990600"/>
            <a:ext cx="7824787" cy="525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1">
            <a:extLst>
              <a:ext uri="{FF2B5EF4-FFF2-40B4-BE49-F238E27FC236}">
                <a16:creationId xmlns:a16="http://schemas.microsoft.com/office/drawing/2014/main" id="{34EC79F6-D993-4737-ACD6-79571AA0B6B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D7646C3E-A17D-4DE8-8128-C17C463FC8C3}" type="slidenum">
              <a:rPr lang="en-US" altLang="en-US" sz="2000" baseline="0">
                <a:solidFill>
                  <a:schemeClr val="bg2"/>
                </a:solidFill>
              </a:rPr>
              <a:pPr/>
              <a:t>6</a:t>
            </a:fld>
            <a:endParaRPr lang="en-US" altLang="en-US" sz="2000" baseline="0">
              <a:solidFill>
                <a:schemeClr val="bg2"/>
              </a:solidFill>
            </a:endParaRPr>
          </a:p>
        </p:txBody>
      </p:sp>
      <p:sp>
        <p:nvSpPr>
          <p:cNvPr id="90115" name="Line 2">
            <a:extLst>
              <a:ext uri="{FF2B5EF4-FFF2-40B4-BE49-F238E27FC236}">
                <a16:creationId xmlns:a16="http://schemas.microsoft.com/office/drawing/2014/main" id="{F1A90B0E-9C79-4BC6-8991-C5FB772BEEB7}"/>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0116" name="Line 3">
            <a:extLst>
              <a:ext uri="{FF2B5EF4-FFF2-40B4-BE49-F238E27FC236}">
                <a16:creationId xmlns:a16="http://schemas.microsoft.com/office/drawing/2014/main" id="{68327DE4-8928-422B-88E3-16D75D599742}"/>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0117" name="Text Box 4">
            <a:extLst>
              <a:ext uri="{FF2B5EF4-FFF2-40B4-BE49-F238E27FC236}">
                <a16:creationId xmlns:a16="http://schemas.microsoft.com/office/drawing/2014/main" id="{16CA03ED-C0CA-4F83-AD0E-E4F5EEEA86E2}"/>
              </a:ext>
            </a:extLst>
          </p:cNvPr>
          <p:cNvSpPr txBox="1">
            <a:spLocks noChangeArrowheads="1"/>
          </p:cNvSpPr>
          <p:nvPr/>
        </p:nvSpPr>
        <p:spPr bwMode="auto">
          <a:xfrm>
            <a:off x="1828800" y="381000"/>
            <a:ext cx="3575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Figure 23.22  </a:t>
            </a:r>
            <a:r>
              <a:rPr lang="en-US" altLang="en-US" sz="2000" i="1" baseline="0">
                <a:latin typeface="Times New Roman" panose="02020603050405020304" pitchFamily="18" charset="0"/>
              </a:rPr>
              <a:t>Sliding window</a:t>
            </a:r>
          </a:p>
        </p:txBody>
      </p:sp>
      <p:sp>
        <p:nvSpPr>
          <p:cNvPr id="90118" name="Line 5">
            <a:extLst>
              <a:ext uri="{FF2B5EF4-FFF2-40B4-BE49-F238E27FC236}">
                <a16:creationId xmlns:a16="http://schemas.microsoft.com/office/drawing/2014/main" id="{3D20E17F-5F9D-4D5E-A988-C89CA9511DBB}"/>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90119" name="Picture 6">
            <a:extLst>
              <a:ext uri="{FF2B5EF4-FFF2-40B4-BE49-F238E27FC236}">
                <a16:creationId xmlns:a16="http://schemas.microsoft.com/office/drawing/2014/main" id="{E776208A-5A1A-4418-AFC6-28297D898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238" y="2057401"/>
            <a:ext cx="7065962" cy="259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1">
            <a:extLst>
              <a:ext uri="{FF2B5EF4-FFF2-40B4-BE49-F238E27FC236}">
                <a16:creationId xmlns:a16="http://schemas.microsoft.com/office/drawing/2014/main" id="{859BE776-0141-4A21-8AD8-C4EE9DD389C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FFAEE0B6-1E8C-4D38-9259-5D63EAC15A30}" type="slidenum">
              <a:rPr lang="en-US" altLang="en-US" sz="2000" baseline="0">
                <a:solidFill>
                  <a:schemeClr val="bg2"/>
                </a:solidFill>
              </a:rPr>
              <a:pPr/>
              <a:t>7</a:t>
            </a:fld>
            <a:endParaRPr lang="en-US" altLang="en-US" sz="2000" baseline="0">
              <a:solidFill>
                <a:schemeClr val="bg2"/>
              </a:solidFill>
            </a:endParaRPr>
          </a:p>
        </p:txBody>
      </p:sp>
      <p:sp>
        <p:nvSpPr>
          <p:cNvPr id="92163" name="Rectangle 2">
            <a:extLst>
              <a:ext uri="{FF2B5EF4-FFF2-40B4-BE49-F238E27FC236}">
                <a16:creationId xmlns:a16="http://schemas.microsoft.com/office/drawing/2014/main" id="{C0590477-69CC-447E-A950-A3731EE2BCB8}"/>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4" name="Rectangle 3">
            <a:extLst>
              <a:ext uri="{FF2B5EF4-FFF2-40B4-BE49-F238E27FC236}">
                <a16:creationId xmlns:a16="http://schemas.microsoft.com/office/drawing/2014/main" id="{0646AB25-5C55-479D-876F-471F3DA76D28}"/>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5" name="Rectangle 4">
            <a:extLst>
              <a:ext uri="{FF2B5EF4-FFF2-40B4-BE49-F238E27FC236}">
                <a16:creationId xmlns:a16="http://schemas.microsoft.com/office/drawing/2014/main" id="{72FC60E6-2F17-46F5-B6E2-764956607F7B}"/>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6" name="Rectangle 5">
            <a:extLst>
              <a:ext uri="{FF2B5EF4-FFF2-40B4-BE49-F238E27FC236}">
                <a16:creationId xmlns:a16="http://schemas.microsoft.com/office/drawing/2014/main" id="{893CCD45-A968-4E20-A662-A74790422ADA}"/>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7" name="Rectangle 6">
            <a:extLst>
              <a:ext uri="{FF2B5EF4-FFF2-40B4-BE49-F238E27FC236}">
                <a16:creationId xmlns:a16="http://schemas.microsoft.com/office/drawing/2014/main" id="{BD8247A0-770E-4B75-8753-F4EF1B9BBAB9}"/>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8" name="Rectangle 7">
            <a:extLst>
              <a:ext uri="{FF2B5EF4-FFF2-40B4-BE49-F238E27FC236}">
                <a16:creationId xmlns:a16="http://schemas.microsoft.com/office/drawing/2014/main" id="{C37FF554-92FA-400F-B5EF-744C3A862FCB}"/>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9" name="Rectangle 8">
            <a:extLst>
              <a:ext uri="{FF2B5EF4-FFF2-40B4-BE49-F238E27FC236}">
                <a16:creationId xmlns:a16="http://schemas.microsoft.com/office/drawing/2014/main" id="{C09317A6-B6DE-4DD7-8C41-BC01E772A0B7}"/>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70" name="Line 9">
            <a:extLst>
              <a:ext uri="{FF2B5EF4-FFF2-40B4-BE49-F238E27FC236}">
                <a16:creationId xmlns:a16="http://schemas.microsoft.com/office/drawing/2014/main" id="{3AC9F282-8E87-4377-A522-29721DAEF302}"/>
              </a:ext>
            </a:extLst>
          </p:cNvPr>
          <p:cNvSpPr>
            <a:spLocks noChangeShapeType="1"/>
          </p:cNvSpPr>
          <p:nvPr/>
        </p:nvSpPr>
        <p:spPr bwMode="auto">
          <a:xfrm>
            <a:off x="1981200" y="2133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2171" name="Line 10">
            <a:extLst>
              <a:ext uri="{FF2B5EF4-FFF2-40B4-BE49-F238E27FC236}">
                <a16:creationId xmlns:a16="http://schemas.microsoft.com/office/drawing/2014/main" id="{7BD73EE5-5A3A-44BC-952D-65C066F44A9B}"/>
              </a:ext>
            </a:extLst>
          </p:cNvPr>
          <p:cNvSpPr>
            <a:spLocks noChangeShapeType="1"/>
          </p:cNvSpPr>
          <p:nvPr/>
        </p:nvSpPr>
        <p:spPr bwMode="auto">
          <a:xfrm>
            <a:off x="1982788" y="5334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2172" name="Rectangle 11">
            <a:extLst>
              <a:ext uri="{FF2B5EF4-FFF2-40B4-BE49-F238E27FC236}">
                <a16:creationId xmlns:a16="http://schemas.microsoft.com/office/drawing/2014/main" id="{A1053E34-021D-431B-87A5-3BFAE583C995}"/>
              </a:ext>
            </a:extLst>
          </p:cNvPr>
          <p:cNvSpPr>
            <a:spLocks noChangeArrowheads="1"/>
          </p:cNvSpPr>
          <p:nvPr/>
        </p:nvSpPr>
        <p:spPr bwMode="auto">
          <a:xfrm>
            <a:off x="2019300" y="2225675"/>
            <a:ext cx="8077200" cy="30469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A sliding window is used to make transmission more efficient as well as</a:t>
            </a:r>
          </a:p>
          <a:p>
            <a:pPr algn="ctr"/>
            <a:r>
              <a:rPr lang="en-US" altLang="en-US" baseline="0"/>
              <a:t>to control the flow of data so that the destination does not become</a:t>
            </a:r>
          </a:p>
          <a:p>
            <a:pPr algn="ctr"/>
            <a:r>
              <a:rPr lang="en-US" altLang="en-US" baseline="0"/>
              <a:t>overwhelmed with data. </a:t>
            </a:r>
            <a:br>
              <a:rPr lang="en-US" altLang="en-US" baseline="0"/>
            </a:br>
            <a:r>
              <a:rPr lang="en-US" altLang="en-US" baseline="0"/>
              <a:t>TCP sliding windows are byte-oriented.</a:t>
            </a:r>
          </a:p>
        </p:txBody>
      </p:sp>
      <p:grpSp>
        <p:nvGrpSpPr>
          <p:cNvPr id="92173" name="Group 12">
            <a:extLst>
              <a:ext uri="{FF2B5EF4-FFF2-40B4-BE49-F238E27FC236}">
                <a16:creationId xmlns:a16="http://schemas.microsoft.com/office/drawing/2014/main" id="{C8763C12-38D5-4A6A-8D34-EFA9BBD2B922}"/>
              </a:ext>
            </a:extLst>
          </p:cNvPr>
          <p:cNvGrpSpPr>
            <a:grpSpLocks/>
          </p:cNvGrpSpPr>
          <p:nvPr/>
        </p:nvGrpSpPr>
        <p:grpSpPr bwMode="auto">
          <a:xfrm>
            <a:off x="1981200" y="1447800"/>
            <a:ext cx="1143000" cy="566738"/>
            <a:chOff x="1200" y="1248"/>
            <a:chExt cx="720" cy="357"/>
          </a:xfrm>
        </p:grpSpPr>
        <p:pic>
          <p:nvPicPr>
            <p:cNvPr id="92174" name="Picture 13">
              <a:extLst>
                <a:ext uri="{FF2B5EF4-FFF2-40B4-BE49-F238E27FC236}">
                  <a16:creationId xmlns:a16="http://schemas.microsoft.com/office/drawing/2014/main" id="{89DB9BBA-1190-4582-98F4-666C8629A5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175" name="Text Box 14">
              <a:extLst>
                <a:ext uri="{FF2B5EF4-FFF2-40B4-BE49-F238E27FC236}">
                  <a16:creationId xmlns:a16="http://schemas.microsoft.com/office/drawing/2014/main" id="{007D7BE1-0F9E-48D7-BBDE-72B9F9A5849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1">
            <a:extLst>
              <a:ext uri="{FF2B5EF4-FFF2-40B4-BE49-F238E27FC236}">
                <a16:creationId xmlns:a16="http://schemas.microsoft.com/office/drawing/2014/main" id="{F9EC55F6-3DC7-4AAB-A14D-E353299E1CA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BABC2D81-272F-4E4F-A16C-4DC16A96A16E}" type="slidenum">
              <a:rPr lang="en-US" altLang="en-US" sz="2000" baseline="0">
                <a:solidFill>
                  <a:schemeClr val="bg2"/>
                </a:solidFill>
              </a:rPr>
              <a:pPr/>
              <a:t>8</a:t>
            </a:fld>
            <a:endParaRPr lang="en-US" altLang="en-US" sz="2000" baseline="0">
              <a:solidFill>
                <a:schemeClr val="bg2"/>
              </a:solidFill>
            </a:endParaRPr>
          </a:p>
        </p:txBody>
      </p:sp>
      <p:sp>
        <p:nvSpPr>
          <p:cNvPr id="94211" name="Rectangle 2">
            <a:extLst>
              <a:ext uri="{FF2B5EF4-FFF2-40B4-BE49-F238E27FC236}">
                <a16:creationId xmlns:a16="http://schemas.microsoft.com/office/drawing/2014/main" id="{9AAF919D-E36D-46B3-86E9-85DD1002C921}"/>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2" name="Rectangle 3">
            <a:extLst>
              <a:ext uri="{FF2B5EF4-FFF2-40B4-BE49-F238E27FC236}">
                <a16:creationId xmlns:a16="http://schemas.microsoft.com/office/drawing/2014/main" id="{7213A1F2-AD2A-4B8C-95E5-1B04E318E20E}"/>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3" name="Rectangle 4">
            <a:extLst>
              <a:ext uri="{FF2B5EF4-FFF2-40B4-BE49-F238E27FC236}">
                <a16:creationId xmlns:a16="http://schemas.microsoft.com/office/drawing/2014/main" id="{7627CE92-B780-48FB-B5CE-6F30DB7DFBD5}"/>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4" name="Rectangle 5">
            <a:extLst>
              <a:ext uri="{FF2B5EF4-FFF2-40B4-BE49-F238E27FC236}">
                <a16:creationId xmlns:a16="http://schemas.microsoft.com/office/drawing/2014/main" id="{EC5B0E77-E1DD-4CEC-A021-561DD36304C8}"/>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5" name="Rectangle 6">
            <a:extLst>
              <a:ext uri="{FF2B5EF4-FFF2-40B4-BE49-F238E27FC236}">
                <a16:creationId xmlns:a16="http://schemas.microsoft.com/office/drawing/2014/main" id="{C0A138E6-C5A9-423E-B762-5A80A7C834C9}"/>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6" name="Rectangle 7">
            <a:extLst>
              <a:ext uri="{FF2B5EF4-FFF2-40B4-BE49-F238E27FC236}">
                <a16:creationId xmlns:a16="http://schemas.microsoft.com/office/drawing/2014/main" id="{B6CEFE3C-6861-406A-A2C2-2F0E08A2A7CC}"/>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7" name="Rectangle 8">
            <a:extLst>
              <a:ext uri="{FF2B5EF4-FFF2-40B4-BE49-F238E27FC236}">
                <a16:creationId xmlns:a16="http://schemas.microsoft.com/office/drawing/2014/main" id="{D0670BFD-2B9D-41C0-AF0A-B01FEA17B1D9}"/>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8" name="Rectangle 9">
            <a:extLst>
              <a:ext uri="{FF2B5EF4-FFF2-40B4-BE49-F238E27FC236}">
                <a16:creationId xmlns:a16="http://schemas.microsoft.com/office/drawing/2014/main" id="{7C595381-D919-41E1-8C2A-8B2AE938FA5D}"/>
              </a:ext>
            </a:extLst>
          </p:cNvPr>
          <p:cNvSpPr>
            <a:spLocks noChangeArrowheads="1"/>
          </p:cNvSpPr>
          <p:nvPr/>
        </p:nvSpPr>
        <p:spPr bwMode="auto">
          <a:xfrm>
            <a:off x="1752600" y="11430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latin typeface="Times New Roman" panose="02020603050405020304" pitchFamily="18" charset="0"/>
              </a:rPr>
              <a:t>What is the value of the receiver window (rwnd) for host A if the receiver, host B, has a buffer size of 5000 bytes and 1000 bytes of received and unprocessed data?</a:t>
            </a:r>
          </a:p>
        </p:txBody>
      </p:sp>
      <p:sp>
        <p:nvSpPr>
          <p:cNvPr id="94219" name="Text Box 10">
            <a:extLst>
              <a:ext uri="{FF2B5EF4-FFF2-40B4-BE49-F238E27FC236}">
                <a16:creationId xmlns:a16="http://schemas.microsoft.com/office/drawing/2014/main" id="{689A1700-B5CC-40D8-91D9-CB5BE31DD3BD}"/>
              </a:ext>
            </a:extLst>
          </p:cNvPr>
          <p:cNvSpPr txBox="1">
            <a:spLocks noChangeArrowheads="1"/>
          </p:cNvSpPr>
          <p:nvPr/>
        </p:nvSpPr>
        <p:spPr bwMode="auto">
          <a:xfrm>
            <a:off x="2667001"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i="1" baseline="0">
                <a:solidFill>
                  <a:schemeClr val="hlink"/>
                </a:solidFill>
                <a:latin typeface="Times New Roman" panose="02020603050405020304" pitchFamily="18" charset="0"/>
              </a:rPr>
              <a:t>Example 23.4</a:t>
            </a:r>
          </a:p>
        </p:txBody>
      </p:sp>
      <p:sp>
        <p:nvSpPr>
          <p:cNvPr id="94220" name="Rectangle 11">
            <a:extLst>
              <a:ext uri="{FF2B5EF4-FFF2-40B4-BE49-F238E27FC236}">
                <a16:creationId xmlns:a16="http://schemas.microsoft.com/office/drawing/2014/main" id="{8608D2CE-0682-432F-8643-C8F8080836A1}"/>
              </a:ext>
            </a:extLst>
          </p:cNvPr>
          <p:cNvSpPr>
            <a:spLocks noChangeArrowheads="1"/>
          </p:cNvSpPr>
          <p:nvPr/>
        </p:nvSpPr>
        <p:spPr bwMode="auto">
          <a:xfrm>
            <a:off x="1676400" y="2743201"/>
            <a:ext cx="8686800" cy="2227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solidFill>
                  <a:schemeClr val="hlink"/>
                </a:solidFill>
                <a:latin typeface="Times New Roman" panose="02020603050405020304" pitchFamily="18" charset="0"/>
              </a:rPr>
              <a:t>Solution</a:t>
            </a:r>
          </a:p>
          <a:p>
            <a:pPr algn="just"/>
            <a:r>
              <a:rPr lang="en-US" altLang="en-US" sz="2800" i="1" baseline="0">
                <a:latin typeface="Times New Roman" panose="02020603050405020304" pitchFamily="18" charset="0"/>
              </a:rPr>
              <a:t>The value of rwnd = 5000 − 1000 = 4000. Host B can receive only 4000 bytes of data before overflowing its buffer. Host B advertises this value in its next segment to 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Number Placeholder 1">
            <a:extLst>
              <a:ext uri="{FF2B5EF4-FFF2-40B4-BE49-F238E27FC236}">
                <a16:creationId xmlns:a16="http://schemas.microsoft.com/office/drawing/2014/main" id="{C96A1F5C-755E-4120-8A48-75A834CA58F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E2074D79-2BAC-4CE4-A887-74803C7E75D6}" type="slidenum">
              <a:rPr lang="en-US" altLang="en-US" sz="2000" baseline="0">
                <a:solidFill>
                  <a:schemeClr val="bg2"/>
                </a:solidFill>
              </a:rPr>
              <a:pPr/>
              <a:t>9</a:t>
            </a:fld>
            <a:endParaRPr lang="en-US" altLang="en-US" sz="2000" baseline="0">
              <a:solidFill>
                <a:schemeClr val="bg2"/>
              </a:solidFill>
            </a:endParaRPr>
          </a:p>
        </p:txBody>
      </p:sp>
      <p:sp>
        <p:nvSpPr>
          <p:cNvPr id="96259" name="Rectangle 2">
            <a:extLst>
              <a:ext uri="{FF2B5EF4-FFF2-40B4-BE49-F238E27FC236}">
                <a16:creationId xmlns:a16="http://schemas.microsoft.com/office/drawing/2014/main" id="{0B7A0CD0-8B36-4755-9EF7-E233D3D7140D}"/>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0" name="Rectangle 3">
            <a:extLst>
              <a:ext uri="{FF2B5EF4-FFF2-40B4-BE49-F238E27FC236}">
                <a16:creationId xmlns:a16="http://schemas.microsoft.com/office/drawing/2014/main" id="{66BA94CE-1AEA-4F69-826C-CF6BD92DDEEF}"/>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1" name="Rectangle 4">
            <a:extLst>
              <a:ext uri="{FF2B5EF4-FFF2-40B4-BE49-F238E27FC236}">
                <a16:creationId xmlns:a16="http://schemas.microsoft.com/office/drawing/2014/main" id="{8F301012-CA71-498F-BC34-445810B7F8A8}"/>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2" name="Rectangle 5">
            <a:extLst>
              <a:ext uri="{FF2B5EF4-FFF2-40B4-BE49-F238E27FC236}">
                <a16:creationId xmlns:a16="http://schemas.microsoft.com/office/drawing/2014/main" id="{92C3B5C4-640B-4F5B-8F7F-17CD6B8E0693}"/>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3" name="Rectangle 6">
            <a:extLst>
              <a:ext uri="{FF2B5EF4-FFF2-40B4-BE49-F238E27FC236}">
                <a16:creationId xmlns:a16="http://schemas.microsoft.com/office/drawing/2014/main" id="{91BCF474-AA31-41EC-8A27-D907E4606078}"/>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4" name="Rectangle 7">
            <a:extLst>
              <a:ext uri="{FF2B5EF4-FFF2-40B4-BE49-F238E27FC236}">
                <a16:creationId xmlns:a16="http://schemas.microsoft.com/office/drawing/2014/main" id="{2CB4F748-9B91-4E32-9803-F47FD56FC032}"/>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5" name="Rectangle 8">
            <a:extLst>
              <a:ext uri="{FF2B5EF4-FFF2-40B4-BE49-F238E27FC236}">
                <a16:creationId xmlns:a16="http://schemas.microsoft.com/office/drawing/2014/main" id="{6B4CA3A0-457F-4444-B95B-17727A408672}"/>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6" name="Rectangle 9">
            <a:extLst>
              <a:ext uri="{FF2B5EF4-FFF2-40B4-BE49-F238E27FC236}">
                <a16:creationId xmlns:a16="http://schemas.microsoft.com/office/drawing/2014/main" id="{3D5B7132-9746-41E3-A4AB-F9D033281EA3}"/>
              </a:ext>
            </a:extLst>
          </p:cNvPr>
          <p:cNvSpPr>
            <a:spLocks noChangeArrowheads="1"/>
          </p:cNvSpPr>
          <p:nvPr/>
        </p:nvSpPr>
        <p:spPr bwMode="auto">
          <a:xfrm>
            <a:off x="1752600" y="114300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latin typeface="Times New Roman" panose="02020603050405020304" pitchFamily="18" charset="0"/>
              </a:rPr>
              <a:t>What is the size of the window for host A if the value of rwnd is 3000 bytes and the value of cwnd is 3500 bytes?</a:t>
            </a:r>
          </a:p>
        </p:txBody>
      </p:sp>
      <p:sp>
        <p:nvSpPr>
          <p:cNvPr id="96267" name="Text Box 10">
            <a:extLst>
              <a:ext uri="{FF2B5EF4-FFF2-40B4-BE49-F238E27FC236}">
                <a16:creationId xmlns:a16="http://schemas.microsoft.com/office/drawing/2014/main" id="{1363FCB2-C917-4F19-97D7-5DB9B5CE1E47}"/>
              </a:ext>
            </a:extLst>
          </p:cNvPr>
          <p:cNvSpPr txBox="1">
            <a:spLocks noChangeArrowheads="1"/>
          </p:cNvSpPr>
          <p:nvPr/>
        </p:nvSpPr>
        <p:spPr bwMode="auto">
          <a:xfrm>
            <a:off x="2667001"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i="1" baseline="0">
                <a:solidFill>
                  <a:schemeClr val="hlink"/>
                </a:solidFill>
                <a:latin typeface="Times New Roman" panose="02020603050405020304" pitchFamily="18" charset="0"/>
              </a:rPr>
              <a:t>Example 23.5</a:t>
            </a:r>
          </a:p>
        </p:txBody>
      </p:sp>
      <p:sp>
        <p:nvSpPr>
          <p:cNvPr id="96268" name="Rectangle 11">
            <a:extLst>
              <a:ext uri="{FF2B5EF4-FFF2-40B4-BE49-F238E27FC236}">
                <a16:creationId xmlns:a16="http://schemas.microsoft.com/office/drawing/2014/main" id="{F59E96AF-8F70-4A44-8768-C33D341F653D}"/>
              </a:ext>
            </a:extLst>
          </p:cNvPr>
          <p:cNvSpPr>
            <a:spLocks noChangeArrowheads="1"/>
          </p:cNvSpPr>
          <p:nvPr/>
        </p:nvSpPr>
        <p:spPr bwMode="auto">
          <a:xfrm>
            <a:off x="1676400" y="30480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solidFill>
                  <a:schemeClr val="hlink"/>
                </a:solidFill>
                <a:latin typeface="Times New Roman" panose="02020603050405020304" pitchFamily="18" charset="0"/>
              </a:rPr>
              <a:t>Solution</a:t>
            </a:r>
          </a:p>
          <a:p>
            <a:pPr algn="just"/>
            <a:r>
              <a:rPr lang="en-US" altLang="en-US" sz="2800" i="1" baseline="0">
                <a:latin typeface="Times New Roman" panose="02020603050405020304" pitchFamily="18" charset="0"/>
              </a:rPr>
              <a:t>The size of the window is the smaller of rwnd and cwnd, which is 3000 bytes.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Number Placeholder 1">
            <a:extLst>
              <a:ext uri="{FF2B5EF4-FFF2-40B4-BE49-F238E27FC236}">
                <a16:creationId xmlns:a16="http://schemas.microsoft.com/office/drawing/2014/main" id="{7BEAF141-0AD5-4219-AF92-787100485188}"/>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6C3B7F48-B253-4823-83F5-A56FCBCD3D07}" type="slidenum">
              <a:rPr lang="en-US" altLang="en-US" sz="2000" baseline="0">
                <a:solidFill>
                  <a:schemeClr val="bg2"/>
                </a:solidFill>
              </a:rPr>
              <a:pPr/>
              <a:t>10</a:t>
            </a:fld>
            <a:endParaRPr lang="en-US" altLang="en-US" sz="2000" baseline="0">
              <a:solidFill>
                <a:schemeClr val="bg2"/>
              </a:solidFill>
            </a:endParaRPr>
          </a:p>
        </p:txBody>
      </p:sp>
      <p:sp>
        <p:nvSpPr>
          <p:cNvPr id="98307" name="Rectangle 2">
            <a:extLst>
              <a:ext uri="{FF2B5EF4-FFF2-40B4-BE49-F238E27FC236}">
                <a16:creationId xmlns:a16="http://schemas.microsoft.com/office/drawing/2014/main" id="{0E657A83-2B15-4BBF-AF44-A6FD46E0B888}"/>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8308" name="Rectangle 3">
            <a:extLst>
              <a:ext uri="{FF2B5EF4-FFF2-40B4-BE49-F238E27FC236}">
                <a16:creationId xmlns:a16="http://schemas.microsoft.com/office/drawing/2014/main" id="{814B8E7F-58AF-4E82-9841-2EA7A4260EC1}"/>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8309" name="Rectangle 4">
            <a:extLst>
              <a:ext uri="{FF2B5EF4-FFF2-40B4-BE49-F238E27FC236}">
                <a16:creationId xmlns:a16="http://schemas.microsoft.com/office/drawing/2014/main" id="{B5F72825-AF3F-40C2-BF7A-C2112954EB35}"/>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8310" name="Rectangle 5">
            <a:extLst>
              <a:ext uri="{FF2B5EF4-FFF2-40B4-BE49-F238E27FC236}">
                <a16:creationId xmlns:a16="http://schemas.microsoft.com/office/drawing/2014/main" id="{1C47099D-5C3F-49FC-A6F4-DEFEB4E555DF}"/>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8311" name="Rectangle 6">
            <a:extLst>
              <a:ext uri="{FF2B5EF4-FFF2-40B4-BE49-F238E27FC236}">
                <a16:creationId xmlns:a16="http://schemas.microsoft.com/office/drawing/2014/main" id="{1D009F0D-A8AE-46D0-9139-AC8F3D56B3A7}"/>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8312" name="Rectangle 7">
            <a:extLst>
              <a:ext uri="{FF2B5EF4-FFF2-40B4-BE49-F238E27FC236}">
                <a16:creationId xmlns:a16="http://schemas.microsoft.com/office/drawing/2014/main" id="{0808CFE6-BAE2-4C05-8866-CE9935B4E357}"/>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8313" name="Rectangle 8">
            <a:extLst>
              <a:ext uri="{FF2B5EF4-FFF2-40B4-BE49-F238E27FC236}">
                <a16:creationId xmlns:a16="http://schemas.microsoft.com/office/drawing/2014/main" id="{9A6F105C-5575-436E-8E91-A7A78A2D3C88}"/>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8314" name="Rectangle 9">
            <a:extLst>
              <a:ext uri="{FF2B5EF4-FFF2-40B4-BE49-F238E27FC236}">
                <a16:creationId xmlns:a16="http://schemas.microsoft.com/office/drawing/2014/main" id="{D1217BA7-C3F9-4955-ACDD-2F66D4DBF5BC}"/>
              </a:ext>
            </a:extLst>
          </p:cNvPr>
          <p:cNvSpPr>
            <a:spLocks noChangeArrowheads="1"/>
          </p:cNvSpPr>
          <p:nvPr/>
        </p:nvSpPr>
        <p:spPr bwMode="auto">
          <a:xfrm>
            <a:off x="1752600" y="1143000"/>
            <a:ext cx="8686800" cy="43624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latin typeface="Times New Roman" panose="02020603050405020304" pitchFamily="18" charset="0"/>
              </a:rPr>
              <a:t>Figure 23.23 shows an unrealistic example of a sliding window. The sender has sent bytes up to 202. We assume that cwnd is 20 (in reality this value is thousands of bytes). The receiver has sent an acknowledgment number of 200 with an rwnd of 9 bytes (in reality this value is thousands of bytes). The size of the sender window is the minimum of rwnd and cwnd, or 9 bytes. Bytes 200 to 202 are sent, but not acknowledged. Bytes 203 to 208 can be sent without worrying about acknowledgment. Bytes 209 and above cannot be sent.</a:t>
            </a:r>
          </a:p>
        </p:txBody>
      </p:sp>
      <p:sp>
        <p:nvSpPr>
          <p:cNvPr id="98315" name="Text Box 10">
            <a:extLst>
              <a:ext uri="{FF2B5EF4-FFF2-40B4-BE49-F238E27FC236}">
                <a16:creationId xmlns:a16="http://schemas.microsoft.com/office/drawing/2014/main" id="{BB6D7481-34CD-4382-AD6B-845801B2FF59}"/>
              </a:ext>
            </a:extLst>
          </p:cNvPr>
          <p:cNvSpPr txBox="1">
            <a:spLocks noChangeArrowheads="1"/>
          </p:cNvSpPr>
          <p:nvPr/>
        </p:nvSpPr>
        <p:spPr bwMode="auto">
          <a:xfrm>
            <a:off x="2667001"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i="1" baseline="0">
                <a:solidFill>
                  <a:schemeClr val="hlink"/>
                </a:solidFill>
                <a:latin typeface="Times New Roman" panose="02020603050405020304" pitchFamily="18" charset="0"/>
              </a:rPr>
              <a:t>Example 23.6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Number Placeholder 1">
            <a:extLst>
              <a:ext uri="{FF2B5EF4-FFF2-40B4-BE49-F238E27FC236}">
                <a16:creationId xmlns:a16="http://schemas.microsoft.com/office/drawing/2014/main" id="{4E845D02-FABE-4B08-B867-58DD0E68F24E}"/>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506A7A2D-87C6-4BFC-B9C5-04E4CD6C7C92}" type="slidenum">
              <a:rPr lang="en-US" altLang="en-US" sz="2000" baseline="0">
                <a:solidFill>
                  <a:schemeClr val="bg2"/>
                </a:solidFill>
              </a:rPr>
              <a:pPr/>
              <a:t>11</a:t>
            </a:fld>
            <a:endParaRPr lang="en-US" altLang="en-US" sz="2000" baseline="0">
              <a:solidFill>
                <a:schemeClr val="bg2"/>
              </a:solidFill>
            </a:endParaRPr>
          </a:p>
        </p:txBody>
      </p:sp>
      <p:sp>
        <p:nvSpPr>
          <p:cNvPr id="100355" name="Line 2">
            <a:extLst>
              <a:ext uri="{FF2B5EF4-FFF2-40B4-BE49-F238E27FC236}">
                <a16:creationId xmlns:a16="http://schemas.microsoft.com/office/drawing/2014/main" id="{0A988D92-A6B9-46CF-A1C3-554043B5F668}"/>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0356" name="Line 3">
            <a:extLst>
              <a:ext uri="{FF2B5EF4-FFF2-40B4-BE49-F238E27FC236}">
                <a16:creationId xmlns:a16="http://schemas.microsoft.com/office/drawing/2014/main" id="{E4BE657E-EE66-4AA3-815E-C4CFD5F0A972}"/>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0357" name="Text Box 4">
            <a:extLst>
              <a:ext uri="{FF2B5EF4-FFF2-40B4-BE49-F238E27FC236}">
                <a16:creationId xmlns:a16="http://schemas.microsoft.com/office/drawing/2014/main" id="{4F637551-B176-4A91-AA59-28E3CDE9614D}"/>
              </a:ext>
            </a:extLst>
          </p:cNvPr>
          <p:cNvSpPr txBox="1">
            <a:spLocks noChangeArrowheads="1"/>
          </p:cNvSpPr>
          <p:nvPr/>
        </p:nvSpPr>
        <p:spPr bwMode="auto">
          <a:xfrm>
            <a:off x="1828800" y="381000"/>
            <a:ext cx="3398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Figure 23.23  </a:t>
            </a:r>
            <a:r>
              <a:rPr lang="en-US" altLang="en-US" sz="2000" i="1" baseline="0">
                <a:latin typeface="Times New Roman" panose="02020603050405020304" pitchFamily="18" charset="0"/>
              </a:rPr>
              <a:t>Example 23.6</a:t>
            </a:r>
          </a:p>
        </p:txBody>
      </p:sp>
      <p:sp>
        <p:nvSpPr>
          <p:cNvPr id="100358" name="Line 5">
            <a:extLst>
              <a:ext uri="{FF2B5EF4-FFF2-40B4-BE49-F238E27FC236}">
                <a16:creationId xmlns:a16="http://schemas.microsoft.com/office/drawing/2014/main" id="{E2A7D70B-968C-4FC4-80F2-B11C88387752}"/>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100359" name="Picture 6">
            <a:extLst>
              <a:ext uri="{FF2B5EF4-FFF2-40B4-BE49-F238E27FC236}">
                <a16:creationId xmlns:a16="http://schemas.microsoft.com/office/drawing/2014/main" id="{EC4F9020-5A0D-4C3C-AAA1-4E887DE688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64" y="1981201"/>
            <a:ext cx="7386637" cy="283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Number Placeholder 1">
            <a:extLst>
              <a:ext uri="{FF2B5EF4-FFF2-40B4-BE49-F238E27FC236}">
                <a16:creationId xmlns:a16="http://schemas.microsoft.com/office/drawing/2014/main" id="{9F8669E5-4DF4-41AE-B56F-6E462559780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3B7BA8A8-5C20-4E24-9A53-0A8C95B91043}" type="slidenum">
              <a:rPr lang="en-US" altLang="en-US" sz="2000" baseline="0">
                <a:solidFill>
                  <a:schemeClr val="bg2"/>
                </a:solidFill>
              </a:rPr>
              <a:pPr/>
              <a:t>12</a:t>
            </a:fld>
            <a:endParaRPr lang="en-US" altLang="en-US" sz="2000" baseline="0">
              <a:solidFill>
                <a:schemeClr val="bg2"/>
              </a:solidFill>
            </a:endParaRPr>
          </a:p>
        </p:txBody>
      </p:sp>
      <p:sp>
        <p:nvSpPr>
          <p:cNvPr id="112643" name="Line 2">
            <a:extLst>
              <a:ext uri="{FF2B5EF4-FFF2-40B4-BE49-F238E27FC236}">
                <a16:creationId xmlns:a16="http://schemas.microsoft.com/office/drawing/2014/main" id="{07F6CF15-C47F-42F7-961E-801381A64668}"/>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644" name="Line 3">
            <a:extLst>
              <a:ext uri="{FF2B5EF4-FFF2-40B4-BE49-F238E27FC236}">
                <a16:creationId xmlns:a16="http://schemas.microsoft.com/office/drawing/2014/main" id="{7A36C286-409B-4A9D-BD61-7AC29C8BD506}"/>
              </a:ext>
            </a:extLst>
          </p:cNvPr>
          <p:cNvSpPr>
            <a:spLocks noChangeShapeType="1"/>
          </p:cNvSpPr>
          <p:nvPr/>
        </p:nvSpPr>
        <p:spPr bwMode="auto">
          <a:xfrm>
            <a:off x="1676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645" name="Text Box 4">
            <a:extLst>
              <a:ext uri="{FF2B5EF4-FFF2-40B4-BE49-F238E27FC236}">
                <a16:creationId xmlns:a16="http://schemas.microsoft.com/office/drawing/2014/main" id="{3D55F199-ADF8-47F7-ABA6-BF918FD108ED}"/>
              </a:ext>
            </a:extLst>
          </p:cNvPr>
          <p:cNvSpPr txBox="1">
            <a:spLocks noChangeArrowheads="1"/>
          </p:cNvSpPr>
          <p:nvPr/>
        </p:nvSpPr>
        <p:spPr bwMode="auto">
          <a:xfrm>
            <a:off x="1828801" y="228600"/>
            <a:ext cx="3827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Figure 23.24  </a:t>
            </a:r>
            <a:r>
              <a:rPr lang="en-US" altLang="en-US" sz="2000" i="1" baseline="0">
                <a:latin typeface="Times New Roman" panose="02020603050405020304" pitchFamily="18" charset="0"/>
              </a:rPr>
              <a:t>Normal operation</a:t>
            </a:r>
          </a:p>
        </p:txBody>
      </p:sp>
      <p:sp>
        <p:nvSpPr>
          <p:cNvPr id="112646" name="Line 5">
            <a:extLst>
              <a:ext uri="{FF2B5EF4-FFF2-40B4-BE49-F238E27FC236}">
                <a16:creationId xmlns:a16="http://schemas.microsoft.com/office/drawing/2014/main" id="{D2AE4F62-F350-4E39-8F38-FEE73C4104B3}"/>
              </a:ext>
            </a:extLst>
          </p:cNvPr>
          <p:cNvSpPr>
            <a:spLocks noChangeShapeType="1"/>
          </p:cNvSpPr>
          <p:nvPr/>
        </p:nvSpPr>
        <p:spPr bwMode="auto">
          <a:xfrm>
            <a:off x="1676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112647" name="Picture 6">
            <a:extLst>
              <a:ext uri="{FF2B5EF4-FFF2-40B4-BE49-F238E27FC236}">
                <a16:creationId xmlns:a16="http://schemas.microsoft.com/office/drawing/2014/main" id="{DF663C17-B963-47D5-999A-ED4E748961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1288" y="1116014"/>
            <a:ext cx="6005512" cy="505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Number Placeholder 1">
            <a:extLst>
              <a:ext uri="{FF2B5EF4-FFF2-40B4-BE49-F238E27FC236}">
                <a16:creationId xmlns:a16="http://schemas.microsoft.com/office/drawing/2014/main" id="{918C2B4F-F991-42C8-ADF7-08D91C78F0B3}"/>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B8D58D21-E514-4737-926D-123AF3EE8128}" type="slidenum">
              <a:rPr lang="en-US" altLang="en-US" sz="2000" baseline="0">
                <a:solidFill>
                  <a:schemeClr val="bg2"/>
                </a:solidFill>
              </a:rPr>
              <a:pPr/>
              <a:t>13</a:t>
            </a:fld>
            <a:endParaRPr lang="en-US" altLang="en-US" sz="2000" baseline="0">
              <a:solidFill>
                <a:schemeClr val="bg2"/>
              </a:solidFill>
            </a:endParaRPr>
          </a:p>
        </p:txBody>
      </p:sp>
      <p:sp>
        <p:nvSpPr>
          <p:cNvPr id="114691" name="Line 2">
            <a:extLst>
              <a:ext uri="{FF2B5EF4-FFF2-40B4-BE49-F238E27FC236}">
                <a16:creationId xmlns:a16="http://schemas.microsoft.com/office/drawing/2014/main" id="{92CD008B-24D6-4EDC-BB92-2E29DA38CA27}"/>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4692" name="Line 3">
            <a:extLst>
              <a:ext uri="{FF2B5EF4-FFF2-40B4-BE49-F238E27FC236}">
                <a16:creationId xmlns:a16="http://schemas.microsoft.com/office/drawing/2014/main" id="{C25290F5-95A4-4BF8-86B5-58B8E7CE4485}"/>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4693" name="Text Box 4">
            <a:extLst>
              <a:ext uri="{FF2B5EF4-FFF2-40B4-BE49-F238E27FC236}">
                <a16:creationId xmlns:a16="http://schemas.microsoft.com/office/drawing/2014/main" id="{04173B77-871A-437A-B17E-2ECF84FAF6E1}"/>
              </a:ext>
            </a:extLst>
          </p:cNvPr>
          <p:cNvSpPr txBox="1">
            <a:spLocks noChangeArrowheads="1"/>
          </p:cNvSpPr>
          <p:nvPr/>
        </p:nvSpPr>
        <p:spPr bwMode="auto">
          <a:xfrm>
            <a:off x="1828800" y="381000"/>
            <a:ext cx="333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Figure 23.25  </a:t>
            </a:r>
            <a:r>
              <a:rPr lang="en-US" altLang="en-US" sz="2000" i="1" baseline="0">
                <a:latin typeface="Times New Roman" panose="02020603050405020304" pitchFamily="18" charset="0"/>
              </a:rPr>
              <a:t>Lost segment</a:t>
            </a:r>
          </a:p>
        </p:txBody>
      </p:sp>
      <p:sp>
        <p:nvSpPr>
          <p:cNvPr id="114694" name="Line 5">
            <a:extLst>
              <a:ext uri="{FF2B5EF4-FFF2-40B4-BE49-F238E27FC236}">
                <a16:creationId xmlns:a16="http://schemas.microsoft.com/office/drawing/2014/main" id="{D71B7AB6-3F16-4A31-856B-3EB2DD35B61D}"/>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114695" name="Picture 7">
            <a:extLst>
              <a:ext uri="{FF2B5EF4-FFF2-40B4-BE49-F238E27FC236}">
                <a16:creationId xmlns:a16="http://schemas.microsoft.com/office/drawing/2014/main" id="{EF7EE98B-6191-462B-9D48-2D2FFCF66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676" y="1143001"/>
            <a:ext cx="7477125" cy="501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Number Placeholder 1">
            <a:extLst>
              <a:ext uri="{FF2B5EF4-FFF2-40B4-BE49-F238E27FC236}">
                <a16:creationId xmlns:a16="http://schemas.microsoft.com/office/drawing/2014/main" id="{7EB8FE16-5FBE-4EFC-87D5-73EA25CB6BB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CF515228-AC28-4A87-81CB-956A12905F1D}" type="slidenum">
              <a:rPr lang="en-US" altLang="en-US" sz="2000" baseline="0">
                <a:solidFill>
                  <a:schemeClr val="bg2"/>
                </a:solidFill>
              </a:rPr>
              <a:pPr/>
              <a:t>14</a:t>
            </a:fld>
            <a:endParaRPr lang="en-US" altLang="en-US" sz="2000" baseline="0">
              <a:solidFill>
                <a:schemeClr val="bg2"/>
              </a:solidFill>
            </a:endParaRPr>
          </a:p>
        </p:txBody>
      </p:sp>
      <p:sp>
        <p:nvSpPr>
          <p:cNvPr id="116739" name="Rectangle 2">
            <a:extLst>
              <a:ext uri="{FF2B5EF4-FFF2-40B4-BE49-F238E27FC236}">
                <a16:creationId xmlns:a16="http://schemas.microsoft.com/office/drawing/2014/main" id="{071049ED-4E87-4546-B92C-68D4D3FCE6AD}"/>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6740" name="Rectangle 3">
            <a:extLst>
              <a:ext uri="{FF2B5EF4-FFF2-40B4-BE49-F238E27FC236}">
                <a16:creationId xmlns:a16="http://schemas.microsoft.com/office/drawing/2014/main" id="{2B2F2341-25D3-45D6-9FE9-C182A25D05B2}"/>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6741" name="Rectangle 4">
            <a:extLst>
              <a:ext uri="{FF2B5EF4-FFF2-40B4-BE49-F238E27FC236}">
                <a16:creationId xmlns:a16="http://schemas.microsoft.com/office/drawing/2014/main" id="{AC231A17-107E-4E86-89C5-D1B7073AC036}"/>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6742" name="Rectangle 5">
            <a:extLst>
              <a:ext uri="{FF2B5EF4-FFF2-40B4-BE49-F238E27FC236}">
                <a16:creationId xmlns:a16="http://schemas.microsoft.com/office/drawing/2014/main" id="{A50A2DE3-301D-42D2-93D8-D629C3DB2F4C}"/>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6743" name="Rectangle 6">
            <a:extLst>
              <a:ext uri="{FF2B5EF4-FFF2-40B4-BE49-F238E27FC236}">
                <a16:creationId xmlns:a16="http://schemas.microsoft.com/office/drawing/2014/main" id="{F8ED117E-EB5A-44C0-8D59-4FE85FF7B0FC}"/>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6744" name="Rectangle 7">
            <a:extLst>
              <a:ext uri="{FF2B5EF4-FFF2-40B4-BE49-F238E27FC236}">
                <a16:creationId xmlns:a16="http://schemas.microsoft.com/office/drawing/2014/main" id="{BBAB6000-03D3-4D4F-8566-F9107D29BE42}"/>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6745" name="Rectangle 8">
            <a:extLst>
              <a:ext uri="{FF2B5EF4-FFF2-40B4-BE49-F238E27FC236}">
                <a16:creationId xmlns:a16="http://schemas.microsoft.com/office/drawing/2014/main" id="{757AA44C-D415-4432-A318-141FFF1D81F6}"/>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6746" name="Line 9">
            <a:extLst>
              <a:ext uri="{FF2B5EF4-FFF2-40B4-BE49-F238E27FC236}">
                <a16:creationId xmlns:a16="http://schemas.microsoft.com/office/drawing/2014/main" id="{5C64495A-BB8C-4C20-9122-780E97FE45DE}"/>
              </a:ext>
            </a:extLst>
          </p:cNvPr>
          <p:cNvSpPr>
            <a:spLocks noChangeShapeType="1"/>
          </p:cNvSpPr>
          <p:nvPr/>
        </p:nvSpPr>
        <p:spPr bwMode="auto">
          <a:xfrm>
            <a:off x="1981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6747" name="Line 10">
            <a:extLst>
              <a:ext uri="{FF2B5EF4-FFF2-40B4-BE49-F238E27FC236}">
                <a16:creationId xmlns:a16="http://schemas.microsoft.com/office/drawing/2014/main" id="{5B487058-CCB7-4873-B1CB-53BCC76F0CBF}"/>
              </a:ext>
            </a:extLst>
          </p:cNvPr>
          <p:cNvSpPr>
            <a:spLocks noChangeShapeType="1"/>
          </p:cNvSpPr>
          <p:nvPr/>
        </p:nvSpPr>
        <p:spPr bwMode="auto">
          <a:xfrm>
            <a:off x="1982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6748" name="Rectangle 11">
            <a:extLst>
              <a:ext uri="{FF2B5EF4-FFF2-40B4-BE49-F238E27FC236}">
                <a16:creationId xmlns:a16="http://schemas.microsoft.com/office/drawing/2014/main" id="{49142C4C-5051-4CDF-8FDA-7BBC01E17D4E}"/>
              </a:ext>
            </a:extLst>
          </p:cNvPr>
          <p:cNvSpPr>
            <a:spLocks noChangeArrowheads="1"/>
          </p:cNvSpPr>
          <p:nvPr/>
        </p:nvSpPr>
        <p:spPr bwMode="auto">
          <a:xfrm>
            <a:off x="2019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receiver TCP delivers only ordered data to the process.</a:t>
            </a:r>
          </a:p>
        </p:txBody>
      </p:sp>
      <p:grpSp>
        <p:nvGrpSpPr>
          <p:cNvPr id="116749" name="Group 12">
            <a:extLst>
              <a:ext uri="{FF2B5EF4-FFF2-40B4-BE49-F238E27FC236}">
                <a16:creationId xmlns:a16="http://schemas.microsoft.com/office/drawing/2014/main" id="{A226DF67-43A4-4D80-916B-281557FDF8BD}"/>
              </a:ext>
            </a:extLst>
          </p:cNvPr>
          <p:cNvGrpSpPr>
            <a:grpSpLocks/>
          </p:cNvGrpSpPr>
          <p:nvPr/>
        </p:nvGrpSpPr>
        <p:grpSpPr bwMode="auto">
          <a:xfrm>
            <a:off x="1981200" y="1981200"/>
            <a:ext cx="1143000" cy="566738"/>
            <a:chOff x="1200" y="1248"/>
            <a:chExt cx="720" cy="357"/>
          </a:xfrm>
        </p:grpSpPr>
        <p:pic>
          <p:nvPicPr>
            <p:cNvPr id="116750" name="Picture 13">
              <a:extLst>
                <a:ext uri="{FF2B5EF4-FFF2-40B4-BE49-F238E27FC236}">
                  <a16:creationId xmlns:a16="http://schemas.microsoft.com/office/drawing/2014/main" id="{F01F55D1-00D2-4B86-95BB-B1157A9A81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751" name="Text Box 14">
              <a:extLst>
                <a:ext uri="{FF2B5EF4-FFF2-40B4-BE49-F238E27FC236}">
                  <a16:creationId xmlns:a16="http://schemas.microsoft.com/office/drawing/2014/main" id="{2803DB99-55F2-42DC-A4C3-CFDF9B46890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Number Placeholder 1">
            <a:extLst>
              <a:ext uri="{FF2B5EF4-FFF2-40B4-BE49-F238E27FC236}">
                <a16:creationId xmlns:a16="http://schemas.microsoft.com/office/drawing/2014/main" id="{18B07CBA-0292-4E12-A872-DE7FB076608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A8AB5F5D-D75C-4FB1-8106-3AA31F87529E}" type="slidenum">
              <a:rPr lang="en-US" altLang="en-US" sz="2000" baseline="0">
                <a:solidFill>
                  <a:schemeClr val="bg2"/>
                </a:solidFill>
              </a:rPr>
              <a:pPr/>
              <a:t>15</a:t>
            </a:fld>
            <a:endParaRPr lang="en-US" altLang="en-US" sz="2000" baseline="0">
              <a:solidFill>
                <a:schemeClr val="bg2"/>
              </a:solidFill>
            </a:endParaRPr>
          </a:p>
        </p:txBody>
      </p:sp>
      <p:sp>
        <p:nvSpPr>
          <p:cNvPr id="118787" name="Line 2">
            <a:extLst>
              <a:ext uri="{FF2B5EF4-FFF2-40B4-BE49-F238E27FC236}">
                <a16:creationId xmlns:a16="http://schemas.microsoft.com/office/drawing/2014/main" id="{0497EE39-E4DF-4A66-BF1C-B89437C20A87}"/>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8788" name="Line 3">
            <a:extLst>
              <a:ext uri="{FF2B5EF4-FFF2-40B4-BE49-F238E27FC236}">
                <a16:creationId xmlns:a16="http://schemas.microsoft.com/office/drawing/2014/main" id="{77FDADFA-2395-4D47-A32F-C36563371E03}"/>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8789" name="Text Box 4">
            <a:extLst>
              <a:ext uri="{FF2B5EF4-FFF2-40B4-BE49-F238E27FC236}">
                <a16:creationId xmlns:a16="http://schemas.microsoft.com/office/drawing/2014/main" id="{C8814790-DA17-466B-BC2D-606DE11D4C3D}"/>
              </a:ext>
            </a:extLst>
          </p:cNvPr>
          <p:cNvSpPr txBox="1">
            <a:spLocks noChangeArrowheads="1"/>
          </p:cNvSpPr>
          <p:nvPr/>
        </p:nvSpPr>
        <p:spPr bwMode="auto">
          <a:xfrm>
            <a:off x="1828801" y="381000"/>
            <a:ext cx="4037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Figure 23.26  </a:t>
            </a:r>
            <a:r>
              <a:rPr lang="en-US" altLang="en-US" sz="2000" i="1" baseline="0">
                <a:latin typeface="Times New Roman" panose="02020603050405020304" pitchFamily="18" charset="0"/>
              </a:rPr>
              <a:t>Fast retransmission</a:t>
            </a:r>
          </a:p>
        </p:txBody>
      </p:sp>
      <p:sp>
        <p:nvSpPr>
          <p:cNvPr id="118790" name="Line 5">
            <a:extLst>
              <a:ext uri="{FF2B5EF4-FFF2-40B4-BE49-F238E27FC236}">
                <a16:creationId xmlns:a16="http://schemas.microsoft.com/office/drawing/2014/main" id="{8BAFA3AE-2560-4033-A716-DD9B4B6BA3DC}"/>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118791" name="Picture 6">
            <a:extLst>
              <a:ext uri="{FF2B5EF4-FFF2-40B4-BE49-F238E27FC236}">
                <a16:creationId xmlns:a16="http://schemas.microsoft.com/office/drawing/2014/main" id="{FAAD0431-3C60-4887-A1CB-13E0A99DB2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200" y="1238250"/>
            <a:ext cx="5969000" cy="485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頁尾版面配置區 1">
            <a:extLst>
              <a:ext uri="{FF2B5EF4-FFF2-40B4-BE49-F238E27FC236}">
                <a16:creationId xmlns:a16="http://schemas.microsoft.com/office/drawing/2014/main" id="{99CBD465-D224-4753-9C06-DC410D4546CE}"/>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a:t>TCP/IP Protocol Suite</a:t>
            </a:r>
          </a:p>
        </p:txBody>
      </p:sp>
      <p:sp>
        <p:nvSpPr>
          <p:cNvPr id="159747" name="投影片編號版面配置區 2">
            <a:extLst>
              <a:ext uri="{FF2B5EF4-FFF2-40B4-BE49-F238E27FC236}">
                <a16:creationId xmlns:a16="http://schemas.microsoft.com/office/drawing/2014/main" id="{340F2659-6C8C-4858-A715-E917A51C906D}"/>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FA3080E-DC06-4479-ACEA-566BBB448A6E}" type="slidenum">
              <a:rPr lang="en-US" altLang="zh-TW" b="0"/>
              <a:pPr/>
              <a:t>16</a:t>
            </a:fld>
            <a:endParaRPr lang="en-US" altLang="zh-TW" b="0"/>
          </a:p>
        </p:txBody>
      </p:sp>
      <p:sp>
        <p:nvSpPr>
          <p:cNvPr id="941058" name="Rectangle 2">
            <a:extLst>
              <a:ext uri="{FF2B5EF4-FFF2-40B4-BE49-F238E27FC236}">
                <a16:creationId xmlns:a16="http://schemas.microsoft.com/office/drawing/2014/main" id="{F6C18925-4DCA-4F02-8D02-D9F0DFF5FBAD}"/>
              </a:ext>
            </a:extLst>
          </p:cNvPr>
          <p:cNvSpPr>
            <a:spLocks noChangeArrowheads="1"/>
          </p:cNvSpPr>
          <p:nvPr/>
        </p:nvSpPr>
        <p:spPr bwMode="auto">
          <a:xfrm>
            <a:off x="152400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defRPr/>
            </a:pPr>
            <a:endParaRPr lang="zh-TW" altLang="zh-TW" sz="3200">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159749" name="Text Box 3">
            <a:extLst>
              <a:ext uri="{FF2B5EF4-FFF2-40B4-BE49-F238E27FC236}">
                <a16:creationId xmlns:a16="http://schemas.microsoft.com/office/drawing/2014/main" id="{4D6ECD53-72E0-4AE9-8E07-42ADFF49E3F4}"/>
              </a:ext>
            </a:extLst>
          </p:cNvPr>
          <p:cNvSpPr txBox="1">
            <a:spLocks noChangeArrowheads="1"/>
          </p:cNvSpPr>
          <p:nvPr/>
        </p:nvSpPr>
        <p:spPr bwMode="auto">
          <a:xfrm>
            <a:off x="1752601" y="355601"/>
            <a:ext cx="6784975" cy="650875"/>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sz="3600">
                <a:solidFill>
                  <a:schemeClr val="bg1"/>
                </a:solidFill>
                <a:latin typeface="Times" panose="02020603050405020304" pitchFamily="18" charset="0"/>
                <a:ea typeface="新細明體" panose="02020500000000000000" pitchFamily="18" charset="-120"/>
              </a:rPr>
              <a:t>15-9  CONGESTION CONTROL</a:t>
            </a:r>
          </a:p>
        </p:txBody>
      </p:sp>
      <p:sp>
        <p:nvSpPr>
          <p:cNvPr id="159750" name="Text Box 4">
            <a:extLst>
              <a:ext uri="{FF2B5EF4-FFF2-40B4-BE49-F238E27FC236}">
                <a16:creationId xmlns:a16="http://schemas.microsoft.com/office/drawing/2014/main" id="{B1383878-3910-4107-B534-E963CDF6E0FE}"/>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zh-TW" altLang="zh-TW">
              <a:latin typeface="Times New Roman" panose="02020603050405020304" pitchFamily="18" charset="0"/>
              <a:ea typeface="新細明體" panose="02020500000000000000" pitchFamily="18" charset="-120"/>
            </a:endParaRPr>
          </a:p>
        </p:txBody>
      </p:sp>
      <p:sp>
        <p:nvSpPr>
          <p:cNvPr id="159751" name="Rectangle 5">
            <a:extLst>
              <a:ext uri="{FF2B5EF4-FFF2-40B4-BE49-F238E27FC236}">
                <a16:creationId xmlns:a16="http://schemas.microsoft.com/office/drawing/2014/main" id="{66BA25C7-F402-42DC-A6F0-582EB0C4C1DC}"/>
              </a:ext>
            </a:extLst>
          </p:cNvPr>
          <p:cNvSpPr>
            <a:spLocks noChangeArrowheads="1"/>
          </p:cNvSpPr>
          <p:nvPr/>
        </p:nvSpPr>
        <p:spPr bwMode="auto">
          <a:xfrm>
            <a:off x="1676400" y="1524000"/>
            <a:ext cx="88392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sz="2800" dirty="0">
                <a:latin typeface="Arial Unicode MS" pitchFamily="34" charset="-120"/>
                <a:ea typeface="Arial Unicode MS" pitchFamily="34" charset="-120"/>
              </a:rPr>
              <a:t>Congestion control in TCP is based on both open loop and closed-loop mechanisms. TCP uses a congestion window and a congestion policy that avoid congestion and detect and alleviate congestion after it has occurred.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B79F-B596-4BB3-B690-FE77C7D0F1C5}"/>
              </a:ext>
            </a:extLst>
          </p:cNvPr>
          <p:cNvSpPr>
            <a:spLocks noGrp="1"/>
          </p:cNvSpPr>
          <p:nvPr>
            <p:ph type="title"/>
          </p:nvPr>
        </p:nvSpPr>
        <p:spPr>
          <a:xfrm>
            <a:off x="1981200" y="457201"/>
            <a:ext cx="8229600" cy="550863"/>
          </a:xfrm>
        </p:spPr>
        <p:txBody>
          <a:bodyPr>
            <a:normAutofit fontScale="90000"/>
          </a:bodyPr>
          <a:lstStyle/>
          <a:p>
            <a:pPr>
              <a:defRPr/>
            </a:pPr>
            <a:r>
              <a:rPr lang="en-US" dirty="0"/>
              <a:t>Congestion Control Introduction:</a:t>
            </a:r>
          </a:p>
        </p:txBody>
      </p:sp>
      <p:sp>
        <p:nvSpPr>
          <p:cNvPr id="3" name="Content Placeholder 2">
            <a:extLst>
              <a:ext uri="{FF2B5EF4-FFF2-40B4-BE49-F238E27FC236}">
                <a16:creationId xmlns:a16="http://schemas.microsoft.com/office/drawing/2014/main" id="{CCD327A9-1875-4AFC-8CF7-8FB7E7D0D978}"/>
              </a:ext>
            </a:extLst>
          </p:cNvPr>
          <p:cNvSpPr>
            <a:spLocks noGrp="1"/>
          </p:cNvSpPr>
          <p:nvPr>
            <p:ph idx="1"/>
          </p:nvPr>
        </p:nvSpPr>
        <p:spPr>
          <a:xfrm>
            <a:off x="1981200" y="1338263"/>
            <a:ext cx="8229600" cy="5294312"/>
          </a:xfrm>
        </p:spPr>
        <p:txBody>
          <a:bodyPr>
            <a:normAutofit fontScale="85000" lnSpcReduction="20000"/>
          </a:bodyPr>
          <a:lstStyle/>
          <a:p>
            <a:pPr>
              <a:defRPr/>
            </a:pPr>
            <a:r>
              <a:rPr lang="en-US" dirty="0"/>
              <a:t>When too many packets are present in (a part of) the subnet, performance degrades. This situation is called </a:t>
            </a:r>
            <a:r>
              <a:rPr lang="en-US" b="1" u="sng" dirty="0">
                <a:solidFill>
                  <a:srgbClr val="7030A0"/>
                </a:solidFill>
              </a:rPr>
              <a:t>congestion</a:t>
            </a:r>
            <a:r>
              <a:rPr lang="en-US" dirty="0"/>
              <a:t>.</a:t>
            </a:r>
          </a:p>
          <a:p>
            <a:pPr>
              <a:defRPr/>
            </a:pPr>
            <a:r>
              <a:rPr lang="en-US" dirty="0"/>
              <a:t>As traffic increases too far, the routers are no longer able to cope and they begin losing packets.</a:t>
            </a:r>
          </a:p>
          <a:p>
            <a:pPr>
              <a:defRPr/>
            </a:pPr>
            <a:r>
              <a:rPr lang="en-US" dirty="0"/>
              <a:t>At very high traffic, performance collapses completely and almost no packets are delivered.</a:t>
            </a:r>
          </a:p>
          <a:p>
            <a:pPr>
              <a:defRPr/>
            </a:pPr>
            <a:r>
              <a:rPr lang="en-US" u="sng" dirty="0"/>
              <a:t>Reasons of Congestion</a:t>
            </a:r>
            <a:r>
              <a:rPr lang="en-US" dirty="0"/>
              <a:t>:</a:t>
            </a:r>
          </a:p>
          <a:p>
            <a:pPr lvl="1">
              <a:defRPr/>
            </a:pPr>
            <a:r>
              <a:rPr lang="en-US" dirty="0"/>
              <a:t>Slow Processors.</a:t>
            </a:r>
          </a:p>
          <a:p>
            <a:pPr lvl="1">
              <a:defRPr/>
            </a:pPr>
            <a:r>
              <a:rPr lang="en-US" dirty="0"/>
              <a:t>High stream of packets sent from one of the sender.</a:t>
            </a:r>
          </a:p>
          <a:p>
            <a:pPr lvl="1">
              <a:defRPr/>
            </a:pPr>
            <a:r>
              <a:rPr lang="en-US" dirty="0"/>
              <a:t>Insufficient memory.</a:t>
            </a:r>
          </a:p>
          <a:p>
            <a:pPr lvl="1">
              <a:defRPr/>
            </a:pPr>
            <a:r>
              <a:rPr lang="en-US" dirty="0"/>
              <a:t>High memory of Routers also add to congestion as becomes un manageable and un accessible. (Nagle, 1987).</a:t>
            </a:r>
          </a:p>
          <a:p>
            <a:pPr lvl="1">
              <a:defRPr/>
            </a:pPr>
            <a:r>
              <a:rPr lang="en-US" dirty="0"/>
              <a:t>Low bandwidth lines.</a:t>
            </a:r>
          </a:p>
          <a:p>
            <a:pPr>
              <a:defRPr/>
            </a:pPr>
            <a:r>
              <a:rPr lang="en-US" dirty="0"/>
              <a:t>Then what is </a:t>
            </a:r>
            <a:r>
              <a:rPr lang="en-US" b="1" u="sng" dirty="0"/>
              <a:t>congestion control</a:t>
            </a:r>
            <a:r>
              <a:rPr lang="en-US" dirty="0"/>
              <a:t>? Congestion control has to do with making sure the </a:t>
            </a:r>
            <a:r>
              <a:rPr lang="en-US" u="sng" dirty="0"/>
              <a:t>subnet is able to carry the offered traffic</a:t>
            </a:r>
            <a:r>
              <a:rPr lang="en-US" dirty="0"/>
              <a:t>.</a:t>
            </a:r>
          </a:p>
          <a:p>
            <a:pPr>
              <a:defRPr/>
            </a:pPr>
            <a:r>
              <a:rPr lang="en-US" u="sng" dirty="0"/>
              <a:t>Congestion control and flow control</a:t>
            </a:r>
            <a:r>
              <a:rPr lang="en-US" dirty="0"/>
              <a:t> are often confused but both helps </a:t>
            </a:r>
            <a:r>
              <a:rPr lang="en-US" u="sng" dirty="0"/>
              <a:t>reduce congestion</a:t>
            </a:r>
            <a:r>
              <a:rPr lang="en-US"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0C22E-E10C-4AF1-81D2-CFFA25981100}"/>
              </a:ext>
            </a:extLst>
          </p:cNvPr>
          <p:cNvSpPr>
            <a:spLocks noGrp="1"/>
          </p:cNvSpPr>
          <p:nvPr>
            <p:ph idx="1"/>
          </p:nvPr>
        </p:nvSpPr>
        <p:spPr>
          <a:xfrm>
            <a:off x="1743076" y="504826"/>
            <a:ext cx="8577263" cy="6169025"/>
          </a:xfrm>
        </p:spPr>
        <p:txBody>
          <a:bodyPr>
            <a:normAutofit fontScale="92500" lnSpcReduction="10000"/>
          </a:bodyPr>
          <a:lstStyle/>
          <a:p>
            <a:pPr>
              <a:defRPr/>
            </a:pPr>
            <a:r>
              <a:rPr lang="en-US" sz="1800" dirty="0"/>
              <a:t>Knowledge of congestion will cause the hosts to </a:t>
            </a:r>
            <a:r>
              <a:rPr lang="en-US" sz="1800" u="sng" dirty="0"/>
              <a:t>take appropriate action to reduce the congestion</a:t>
            </a:r>
            <a:r>
              <a:rPr lang="en-US" sz="1800" dirty="0"/>
              <a:t>. </a:t>
            </a:r>
          </a:p>
          <a:p>
            <a:pPr>
              <a:defRPr/>
            </a:pPr>
            <a:r>
              <a:rPr lang="en-US" sz="1800" dirty="0"/>
              <a:t>For a scheme to work correctly, the </a:t>
            </a:r>
            <a:r>
              <a:rPr lang="en-US" sz="1800" u="sng" dirty="0"/>
              <a:t>time scale</a:t>
            </a:r>
            <a:r>
              <a:rPr lang="en-US" sz="1800" dirty="0"/>
              <a:t> must be adjusted carefully. </a:t>
            </a:r>
          </a:p>
          <a:p>
            <a:pPr>
              <a:defRPr/>
            </a:pPr>
            <a:r>
              <a:rPr lang="en-US" sz="1800" dirty="0"/>
              <a:t>If every time two packets arrive in a row, a router  yells </a:t>
            </a:r>
            <a:r>
              <a:rPr lang="en-US" sz="1800" u="sng" dirty="0"/>
              <a:t>STOP</a:t>
            </a:r>
            <a:r>
              <a:rPr lang="en-US" sz="1800" dirty="0"/>
              <a:t> and every time a router is idle for 20 µsec, it yells </a:t>
            </a:r>
            <a:r>
              <a:rPr lang="en-US" sz="1800" u="sng" dirty="0"/>
              <a:t>GO</a:t>
            </a:r>
            <a:r>
              <a:rPr lang="en-US" sz="1800" dirty="0"/>
              <a:t>, the system will oscillate wildly and never converge.</a:t>
            </a:r>
          </a:p>
          <a:p>
            <a:pPr>
              <a:defRPr/>
            </a:pPr>
            <a:r>
              <a:rPr lang="en-US" sz="1800" u="sng" dirty="0"/>
              <a:t>Dividing all algorithms </a:t>
            </a:r>
            <a:r>
              <a:rPr lang="en-US" sz="1800" dirty="0"/>
              <a:t>into </a:t>
            </a:r>
          </a:p>
          <a:p>
            <a:pPr lvl="1">
              <a:defRPr/>
            </a:pPr>
            <a:r>
              <a:rPr lang="en-US" sz="1800" dirty="0"/>
              <a:t>open loop or </a:t>
            </a:r>
          </a:p>
          <a:p>
            <a:pPr lvl="1">
              <a:defRPr/>
            </a:pPr>
            <a:r>
              <a:rPr lang="en-US" sz="1800" dirty="0"/>
              <a:t>closed loop </a:t>
            </a:r>
          </a:p>
          <a:p>
            <a:pPr>
              <a:defRPr/>
            </a:pPr>
            <a:r>
              <a:rPr lang="en-US" sz="1800" dirty="0"/>
              <a:t>They further divide the </a:t>
            </a:r>
            <a:r>
              <a:rPr lang="en-US" sz="1800" u="sng" dirty="0"/>
              <a:t>open loop algorithms </a:t>
            </a:r>
            <a:r>
              <a:rPr lang="en-US" sz="1800" dirty="0"/>
              <a:t>into ones that act at the </a:t>
            </a:r>
            <a:r>
              <a:rPr lang="en-US" sz="1800" u="sng" dirty="0"/>
              <a:t>source</a:t>
            </a:r>
            <a:r>
              <a:rPr lang="en-US" sz="1800" dirty="0"/>
              <a:t> versus ones that act at the </a:t>
            </a:r>
            <a:r>
              <a:rPr lang="en-US" sz="1800" u="sng" dirty="0"/>
              <a:t>destination</a:t>
            </a:r>
            <a:r>
              <a:rPr lang="en-US" sz="1800" dirty="0"/>
              <a:t>. </a:t>
            </a:r>
          </a:p>
          <a:p>
            <a:pPr>
              <a:defRPr/>
            </a:pPr>
            <a:r>
              <a:rPr lang="en-US" sz="1800" dirty="0"/>
              <a:t>The </a:t>
            </a:r>
            <a:r>
              <a:rPr lang="en-US" sz="1800" u="sng" dirty="0"/>
              <a:t>closed loop algorithms </a:t>
            </a:r>
            <a:r>
              <a:rPr lang="en-US" sz="1800" dirty="0"/>
              <a:t>are also divided into two subcategories: </a:t>
            </a:r>
          </a:p>
          <a:p>
            <a:pPr lvl="1">
              <a:defRPr/>
            </a:pPr>
            <a:r>
              <a:rPr lang="en-US" sz="1800" dirty="0"/>
              <a:t>explicit feedback implicit feedback. </a:t>
            </a:r>
          </a:p>
          <a:p>
            <a:pPr lvl="1">
              <a:defRPr/>
            </a:pPr>
            <a:r>
              <a:rPr lang="en-US" sz="1800" dirty="0"/>
              <a:t>In </a:t>
            </a:r>
            <a:r>
              <a:rPr lang="en-US" sz="1800" u="sng" dirty="0"/>
              <a:t>explicit feedback </a:t>
            </a:r>
            <a:r>
              <a:rPr lang="en-US" sz="1800" dirty="0"/>
              <a:t>algorithms, </a:t>
            </a:r>
            <a:r>
              <a:rPr lang="en-US" sz="1800" u="sng" dirty="0"/>
              <a:t>packets are sent bac</a:t>
            </a:r>
            <a:r>
              <a:rPr lang="en-US" sz="1800" dirty="0"/>
              <a:t>k from the point of congestion </a:t>
            </a:r>
            <a:r>
              <a:rPr lang="en-US" sz="1800" u="sng" dirty="0"/>
              <a:t>to warn the source</a:t>
            </a:r>
            <a:r>
              <a:rPr lang="en-US" sz="1800" dirty="0"/>
              <a:t>. </a:t>
            </a:r>
          </a:p>
          <a:p>
            <a:pPr lvl="1">
              <a:defRPr/>
            </a:pPr>
            <a:r>
              <a:rPr lang="en-US" sz="1800" dirty="0"/>
              <a:t>In </a:t>
            </a:r>
            <a:r>
              <a:rPr lang="en-US" sz="1800" u="sng" dirty="0"/>
              <a:t>implicit algorithms</a:t>
            </a:r>
            <a:r>
              <a:rPr lang="en-US" sz="1800" dirty="0"/>
              <a:t>, the source deduces the existence of congestion by making </a:t>
            </a:r>
            <a:r>
              <a:rPr lang="en-US" sz="1800" u="sng" dirty="0"/>
              <a:t>local observations</a:t>
            </a:r>
            <a:r>
              <a:rPr lang="en-US" sz="1800" dirty="0"/>
              <a:t>, such as the </a:t>
            </a:r>
            <a:r>
              <a:rPr lang="en-US" sz="1800" u="sng" dirty="0"/>
              <a:t>time needed for acknowledgements to come back.</a:t>
            </a:r>
          </a:p>
          <a:p>
            <a:pPr>
              <a:defRPr/>
            </a:pPr>
            <a:r>
              <a:rPr lang="en-US" sz="1800" dirty="0"/>
              <a:t>The presence of congestion means that the </a:t>
            </a:r>
            <a:r>
              <a:rPr lang="en-US" sz="1800" u="sng" dirty="0"/>
              <a:t>load is (temporarily) greater than the resources can handle.</a:t>
            </a:r>
          </a:p>
          <a:p>
            <a:pPr>
              <a:defRPr/>
            </a:pPr>
            <a:r>
              <a:rPr lang="en-US" sz="1800" u="sng" dirty="0"/>
              <a:t>Solution? </a:t>
            </a:r>
            <a:r>
              <a:rPr lang="en-US" sz="1800" dirty="0"/>
              <a:t> </a:t>
            </a:r>
          </a:p>
          <a:p>
            <a:pPr lvl="1">
              <a:defRPr/>
            </a:pPr>
            <a:r>
              <a:rPr lang="en-US" sz="1800" dirty="0"/>
              <a:t>increase the resources or </a:t>
            </a:r>
          </a:p>
          <a:p>
            <a:pPr lvl="1">
              <a:defRPr/>
            </a:pPr>
            <a:r>
              <a:rPr lang="en-US" sz="1800" dirty="0"/>
              <a:t>decrease the load.</a:t>
            </a:r>
          </a:p>
          <a:p>
            <a:pPr>
              <a:defRPr/>
            </a:pPr>
            <a:r>
              <a:rPr lang="en-CA" sz="1800" dirty="0"/>
              <a:t>That is </a:t>
            </a:r>
            <a:r>
              <a:rPr lang="en-CA" sz="1800" u="sng" dirty="0"/>
              <a:t>not always possible</a:t>
            </a:r>
            <a:r>
              <a:rPr lang="en-CA" sz="1800" dirty="0"/>
              <a:t>. So we have to apply some </a:t>
            </a:r>
            <a:r>
              <a:rPr lang="en-CA" sz="1800" u="sng" dirty="0"/>
              <a:t>congestion prevention policy.</a:t>
            </a:r>
            <a:endParaRPr lang="en-US" sz="1800" u="sng"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a:extLst>
              <a:ext uri="{FF2B5EF4-FFF2-40B4-BE49-F238E27FC236}">
                <a16:creationId xmlns:a16="http://schemas.microsoft.com/office/drawing/2014/main" id="{67FD9DC6-6E3A-427C-8466-C0777D31B72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24.</a:t>
            </a:r>
            <a:fld id="{5F3D9249-A000-449E-B4EB-D8D5EA35CAC3}" type="slidenum">
              <a:rPr lang="en-US" altLang="en-US" sz="2000">
                <a:solidFill>
                  <a:schemeClr val="bg2"/>
                </a:solidFill>
              </a:rPr>
              <a:pPr/>
              <a:t>19</a:t>
            </a:fld>
            <a:endParaRPr lang="en-US" altLang="en-US" sz="2000">
              <a:solidFill>
                <a:schemeClr val="bg2"/>
              </a:solidFill>
            </a:endParaRPr>
          </a:p>
        </p:txBody>
      </p:sp>
      <p:sp>
        <p:nvSpPr>
          <p:cNvPr id="14339" name="Line 2">
            <a:extLst>
              <a:ext uri="{FF2B5EF4-FFF2-40B4-BE49-F238E27FC236}">
                <a16:creationId xmlns:a16="http://schemas.microsoft.com/office/drawing/2014/main" id="{6AD9D2C6-70FB-4191-90C8-A111677DCF03}"/>
              </a:ext>
            </a:extLst>
          </p:cNvPr>
          <p:cNvSpPr>
            <a:spLocks noChangeShapeType="1"/>
          </p:cNvSpPr>
          <p:nvPr/>
        </p:nvSpPr>
        <p:spPr bwMode="auto">
          <a:xfrm>
            <a:off x="1676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0" name="Line 3">
            <a:extLst>
              <a:ext uri="{FF2B5EF4-FFF2-40B4-BE49-F238E27FC236}">
                <a16:creationId xmlns:a16="http://schemas.microsoft.com/office/drawing/2014/main" id="{D3CA1C89-A652-4470-A71C-B2E0BCEBBFB1}"/>
              </a:ext>
            </a:extLst>
          </p:cNvPr>
          <p:cNvSpPr>
            <a:spLocks noChangeShapeType="1"/>
          </p:cNvSpPr>
          <p:nvPr/>
        </p:nvSpPr>
        <p:spPr bwMode="auto">
          <a:xfrm>
            <a:off x="1676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1" name="Text Box 4">
            <a:extLst>
              <a:ext uri="{FF2B5EF4-FFF2-40B4-BE49-F238E27FC236}">
                <a16:creationId xmlns:a16="http://schemas.microsoft.com/office/drawing/2014/main" id="{CE49CD95-9611-42B2-A609-22924E933E95}"/>
              </a:ext>
            </a:extLst>
          </p:cNvPr>
          <p:cNvSpPr txBox="1">
            <a:spLocks noChangeArrowheads="1"/>
          </p:cNvSpPr>
          <p:nvPr/>
        </p:nvSpPr>
        <p:spPr bwMode="auto">
          <a:xfrm>
            <a:off x="1828800" y="762000"/>
            <a:ext cx="4921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24.5  </a:t>
            </a:r>
            <a:r>
              <a:rPr lang="en-US" altLang="en-US" sz="2000" i="1">
                <a:latin typeface="Times New Roman" panose="02020603050405020304" pitchFamily="18" charset="0"/>
              </a:rPr>
              <a:t>Congestion control categories</a:t>
            </a:r>
          </a:p>
        </p:txBody>
      </p:sp>
      <p:sp>
        <p:nvSpPr>
          <p:cNvPr id="14342" name="Line 5">
            <a:extLst>
              <a:ext uri="{FF2B5EF4-FFF2-40B4-BE49-F238E27FC236}">
                <a16:creationId xmlns:a16="http://schemas.microsoft.com/office/drawing/2014/main" id="{DF19E012-64F5-45E3-BD51-0AD84860784E}"/>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4343" name="Picture 6">
            <a:extLst>
              <a:ext uri="{FF2B5EF4-FFF2-40B4-BE49-F238E27FC236}">
                <a16:creationId xmlns:a16="http://schemas.microsoft.com/office/drawing/2014/main" id="{3BCE8315-71FD-4E1C-9B41-AAB81F712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1" y="1905001"/>
            <a:ext cx="6773863"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7488E-7DDD-4C4C-B55A-64667E1A8176}"/>
              </a:ext>
            </a:extLst>
          </p:cNvPr>
          <p:cNvSpPr>
            <a:spLocks noGrp="1"/>
          </p:cNvSpPr>
          <p:nvPr>
            <p:ph type="title"/>
          </p:nvPr>
        </p:nvSpPr>
        <p:spPr/>
        <p:txBody>
          <a:bodyPr/>
          <a:lstStyle/>
          <a:p>
            <a:r>
              <a:rPr lang="en-US" dirty="0"/>
              <a:t>Congestion Control in TCP</a:t>
            </a:r>
            <a:endParaRPr lang="en-IN" dirty="0"/>
          </a:p>
        </p:txBody>
      </p:sp>
      <p:sp>
        <p:nvSpPr>
          <p:cNvPr id="3" name="Content Placeholder 2">
            <a:extLst>
              <a:ext uri="{FF2B5EF4-FFF2-40B4-BE49-F238E27FC236}">
                <a16:creationId xmlns:a16="http://schemas.microsoft.com/office/drawing/2014/main" id="{9AECB5AB-4DAB-4A87-A9A5-7C06FE102B06}"/>
              </a:ext>
            </a:extLst>
          </p:cNvPr>
          <p:cNvSpPr>
            <a:spLocks noGrp="1"/>
          </p:cNvSpPr>
          <p:nvPr>
            <p:ph idx="1"/>
          </p:nvPr>
        </p:nvSpPr>
        <p:spPr/>
        <p:txBody>
          <a:bodyPr/>
          <a:lstStyle/>
          <a:p>
            <a:r>
              <a:rPr lang="en-US" dirty="0"/>
              <a:t>Slow Start</a:t>
            </a:r>
          </a:p>
          <a:p>
            <a:r>
              <a:rPr lang="en-US" dirty="0"/>
              <a:t>Additive Increase (Congestion Avoidance)</a:t>
            </a:r>
          </a:p>
          <a:p>
            <a:r>
              <a:rPr lang="en-US" dirty="0"/>
              <a:t>Multiplicative decrease</a:t>
            </a:r>
          </a:p>
          <a:p>
            <a:pPr marL="0" indent="0">
              <a:buNone/>
            </a:pPr>
            <a:endParaRPr lang="en-US" dirty="0"/>
          </a:p>
          <a:p>
            <a:endParaRPr lang="en-US" dirty="0"/>
          </a:p>
          <a:p>
            <a:endParaRPr lang="en-IN" dirty="0"/>
          </a:p>
        </p:txBody>
      </p:sp>
    </p:spTree>
    <p:extLst>
      <p:ext uri="{BB962C8B-B14F-4D97-AF65-F5344CB8AC3E}">
        <p14:creationId xmlns:p14="http://schemas.microsoft.com/office/powerpoint/2010/main" val="4004303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頁尾版面配置區 1">
            <a:extLst>
              <a:ext uri="{FF2B5EF4-FFF2-40B4-BE49-F238E27FC236}">
                <a16:creationId xmlns:a16="http://schemas.microsoft.com/office/drawing/2014/main" id="{DFBEC1AB-6208-44F6-97B1-374B5C67E05F}"/>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a:t>TCP/IP Protocol Suite</a:t>
            </a:r>
          </a:p>
        </p:txBody>
      </p:sp>
      <p:sp>
        <p:nvSpPr>
          <p:cNvPr id="163843" name="投影片編號版面配置區 2">
            <a:extLst>
              <a:ext uri="{FF2B5EF4-FFF2-40B4-BE49-F238E27FC236}">
                <a16:creationId xmlns:a16="http://schemas.microsoft.com/office/drawing/2014/main" id="{F0501EBC-1F68-4A8D-9B17-D95193FE53EF}"/>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D4A0BDB-04EF-4850-A627-ADE0BAF07F45}" type="slidenum">
              <a:rPr lang="en-US" altLang="zh-TW" b="0"/>
              <a:pPr/>
              <a:t>21</a:t>
            </a:fld>
            <a:endParaRPr lang="en-US" altLang="zh-TW" b="0"/>
          </a:p>
        </p:txBody>
      </p:sp>
      <p:sp>
        <p:nvSpPr>
          <p:cNvPr id="163844" name="Text Box 2">
            <a:extLst>
              <a:ext uri="{FF2B5EF4-FFF2-40B4-BE49-F238E27FC236}">
                <a16:creationId xmlns:a16="http://schemas.microsoft.com/office/drawing/2014/main" id="{15BCD6AD-44C3-4E17-92FC-F069A77161CA}"/>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dirty="0">
                <a:latin typeface="Times New Roman" panose="02020603050405020304" pitchFamily="18" charset="0"/>
              </a:rPr>
              <a:t>Slow start, exponential increase</a:t>
            </a:r>
          </a:p>
        </p:txBody>
      </p:sp>
      <p:sp>
        <p:nvSpPr>
          <p:cNvPr id="163845" name="Rectangle 3">
            <a:extLst>
              <a:ext uri="{FF2B5EF4-FFF2-40B4-BE49-F238E27FC236}">
                <a16:creationId xmlns:a16="http://schemas.microsoft.com/office/drawing/2014/main" id="{DC8F2AC8-C395-47CD-9028-D8EA5CA1C339}"/>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3846" name="Rectangle 4">
            <a:extLst>
              <a:ext uri="{FF2B5EF4-FFF2-40B4-BE49-F238E27FC236}">
                <a16:creationId xmlns:a16="http://schemas.microsoft.com/office/drawing/2014/main" id="{1B7BA4CA-A784-4C61-8E16-9220D503A471}"/>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3847" name="Rectangle 5">
            <a:extLst>
              <a:ext uri="{FF2B5EF4-FFF2-40B4-BE49-F238E27FC236}">
                <a16:creationId xmlns:a16="http://schemas.microsoft.com/office/drawing/2014/main" id="{7DE5B944-1DCF-45F2-8410-865CFC279D6C}"/>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3848" name="Rectangle 6">
            <a:extLst>
              <a:ext uri="{FF2B5EF4-FFF2-40B4-BE49-F238E27FC236}">
                <a16:creationId xmlns:a16="http://schemas.microsoft.com/office/drawing/2014/main" id="{2853EA0D-860F-4C58-92D9-F86529F1C2C0}"/>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3849" name="Rectangle 7">
            <a:extLst>
              <a:ext uri="{FF2B5EF4-FFF2-40B4-BE49-F238E27FC236}">
                <a16:creationId xmlns:a16="http://schemas.microsoft.com/office/drawing/2014/main" id="{BC366796-B66F-4C3B-905E-6BDD89C9437E}"/>
              </a:ext>
            </a:extLst>
          </p:cNvPr>
          <p:cNvSpPr>
            <a:spLocks noChangeArrowheads="1"/>
          </p:cNvSpPr>
          <p:nvPr/>
        </p:nvSpPr>
        <p:spPr bwMode="ltGray">
          <a:xfrm>
            <a:off x="1524000" y="479426"/>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3850" name="Rectangle 8">
            <a:extLst>
              <a:ext uri="{FF2B5EF4-FFF2-40B4-BE49-F238E27FC236}">
                <a16:creationId xmlns:a16="http://schemas.microsoft.com/office/drawing/2014/main" id="{A9817966-67EA-44B2-B6E6-7BE38298C08C}"/>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pic>
        <p:nvPicPr>
          <p:cNvPr id="795659" name="Picture 11">
            <a:extLst>
              <a:ext uri="{FF2B5EF4-FFF2-40B4-BE49-F238E27FC236}">
                <a16:creationId xmlns:a16="http://schemas.microsoft.com/office/drawing/2014/main" id="{36479853-0269-49E0-9193-C0915E5C4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5864" y="1014414"/>
            <a:ext cx="3317875" cy="470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852" name="Rectangle 9">
            <a:extLst>
              <a:ext uri="{FF2B5EF4-FFF2-40B4-BE49-F238E27FC236}">
                <a16:creationId xmlns:a16="http://schemas.microsoft.com/office/drawing/2014/main" id="{0902E840-74C8-49C8-AA95-9CD611922B18}"/>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pic>
        <p:nvPicPr>
          <p:cNvPr id="795660" name="Picture 12">
            <a:extLst>
              <a:ext uri="{FF2B5EF4-FFF2-40B4-BE49-F238E27FC236}">
                <a16:creationId xmlns:a16="http://schemas.microsoft.com/office/drawing/2014/main" id="{73CCE3C2-E059-4DF9-95B0-7849544CFC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1614" y="2041526"/>
            <a:ext cx="2770187"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5661" name="Picture 13">
            <a:extLst>
              <a:ext uri="{FF2B5EF4-FFF2-40B4-BE49-F238E27FC236}">
                <a16:creationId xmlns:a16="http://schemas.microsoft.com/office/drawing/2014/main" id="{50826E2A-F76C-42A7-9371-B44F08CD4C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6851" y="2625726"/>
            <a:ext cx="2760663"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5663" name="Picture 15">
            <a:extLst>
              <a:ext uri="{FF2B5EF4-FFF2-40B4-BE49-F238E27FC236}">
                <a16:creationId xmlns:a16="http://schemas.microsoft.com/office/drawing/2014/main" id="{4EC79ECA-3F69-4D5F-87F0-4B3D2D411B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8600" y="1831975"/>
            <a:ext cx="941388"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5664" name="Picture 16">
            <a:extLst>
              <a:ext uri="{FF2B5EF4-FFF2-40B4-BE49-F238E27FC236}">
                <a16:creationId xmlns:a16="http://schemas.microsoft.com/office/drawing/2014/main" id="{5D73FD2D-D2A5-4760-841B-4B3487F786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6051" y="2046288"/>
            <a:ext cx="1216025"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5665" name="Picture 17">
            <a:extLst>
              <a:ext uri="{FF2B5EF4-FFF2-40B4-BE49-F238E27FC236}">
                <a16:creationId xmlns:a16="http://schemas.microsoft.com/office/drawing/2014/main" id="{846C5A95-AFFC-4BF1-9508-5CB62D79B9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6375" y="3006725"/>
            <a:ext cx="2787650" cy="67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5666" name="Picture 18">
            <a:extLst>
              <a:ext uri="{FF2B5EF4-FFF2-40B4-BE49-F238E27FC236}">
                <a16:creationId xmlns:a16="http://schemas.microsoft.com/office/drawing/2014/main" id="{B585BC1A-8672-4F0C-9490-A47E9B1BC2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67325" y="3552825"/>
            <a:ext cx="2751138"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5667" name="Picture 19">
            <a:extLst>
              <a:ext uri="{FF2B5EF4-FFF2-40B4-BE49-F238E27FC236}">
                <a16:creationId xmlns:a16="http://schemas.microsoft.com/office/drawing/2014/main" id="{7FA151C3-1229-4B51-9758-E038BB2A58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3613" y="3132138"/>
            <a:ext cx="1682750" cy="1135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5668" name="Picture 20">
            <a:extLst>
              <a:ext uri="{FF2B5EF4-FFF2-40B4-BE49-F238E27FC236}">
                <a16:creationId xmlns:a16="http://schemas.microsoft.com/office/drawing/2014/main" id="{57113B91-E064-42E5-9D7C-5D5D261C5B5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67326" y="4097338"/>
            <a:ext cx="2797175"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5670" name="Picture 22">
            <a:extLst>
              <a:ext uri="{FF2B5EF4-FFF2-40B4-BE49-F238E27FC236}">
                <a16:creationId xmlns:a16="http://schemas.microsoft.com/office/drawing/2014/main" id="{489D9AC9-8C73-4FE7-9F7C-3EA18F9D9C1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60976" y="4645026"/>
            <a:ext cx="2760663"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5671" name="Picture 23">
            <a:extLst>
              <a:ext uri="{FF2B5EF4-FFF2-40B4-BE49-F238E27FC236}">
                <a16:creationId xmlns:a16="http://schemas.microsoft.com/office/drawing/2014/main" id="{5AF44F6A-2B2C-4323-A00C-EA2B05418D1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08251" y="4365626"/>
            <a:ext cx="2697163"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56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9566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795660"/>
                                        </p:tgtEl>
                                        <p:attrNameLst>
                                          <p:attrName>style.visibility</p:attrName>
                                        </p:attrNameLst>
                                      </p:cBhvr>
                                      <p:to>
                                        <p:strVal val="visible"/>
                                      </p:to>
                                    </p:set>
                                    <p:animEffect transition="in" filter="wipe(left)">
                                      <p:cBhvr>
                                        <p:cTn id="15" dur="1000"/>
                                        <p:tgtEl>
                                          <p:spTgt spid="79566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2" fill="hold" nodeType="clickEffect">
                                  <p:stCondLst>
                                    <p:cond delay="0"/>
                                  </p:stCondLst>
                                  <p:childTnLst>
                                    <p:set>
                                      <p:cBhvr>
                                        <p:cTn id="19" dur="1" fill="hold">
                                          <p:stCondLst>
                                            <p:cond delay="0"/>
                                          </p:stCondLst>
                                        </p:cTn>
                                        <p:tgtEl>
                                          <p:spTgt spid="795661"/>
                                        </p:tgtEl>
                                        <p:attrNameLst>
                                          <p:attrName>style.visibility</p:attrName>
                                        </p:attrNameLst>
                                      </p:cBhvr>
                                      <p:to>
                                        <p:strVal val="visible"/>
                                      </p:to>
                                    </p:set>
                                    <p:animEffect transition="in" filter="wipe(right)">
                                      <p:cBhvr>
                                        <p:cTn id="20" dur="1000"/>
                                        <p:tgtEl>
                                          <p:spTgt spid="79566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79566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795665"/>
                                        </p:tgtEl>
                                        <p:attrNameLst>
                                          <p:attrName>style.visibility</p:attrName>
                                        </p:attrNameLst>
                                      </p:cBhvr>
                                      <p:to>
                                        <p:strVal val="visible"/>
                                      </p:to>
                                    </p:set>
                                    <p:animEffect transition="in" filter="wipe(left)">
                                      <p:cBhvr>
                                        <p:cTn id="29" dur="1000"/>
                                        <p:tgtEl>
                                          <p:spTgt spid="79566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2" fill="hold" nodeType="clickEffect">
                                  <p:stCondLst>
                                    <p:cond delay="0"/>
                                  </p:stCondLst>
                                  <p:childTnLst>
                                    <p:set>
                                      <p:cBhvr>
                                        <p:cTn id="33" dur="1" fill="hold">
                                          <p:stCondLst>
                                            <p:cond delay="0"/>
                                          </p:stCondLst>
                                        </p:cTn>
                                        <p:tgtEl>
                                          <p:spTgt spid="795666"/>
                                        </p:tgtEl>
                                        <p:attrNameLst>
                                          <p:attrName>style.visibility</p:attrName>
                                        </p:attrNameLst>
                                      </p:cBhvr>
                                      <p:to>
                                        <p:strVal val="visible"/>
                                      </p:to>
                                    </p:set>
                                    <p:animEffect transition="in" filter="wipe(right)">
                                      <p:cBhvr>
                                        <p:cTn id="34" dur="1000"/>
                                        <p:tgtEl>
                                          <p:spTgt spid="79566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9566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795668"/>
                                        </p:tgtEl>
                                        <p:attrNameLst>
                                          <p:attrName>style.visibility</p:attrName>
                                        </p:attrNameLst>
                                      </p:cBhvr>
                                      <p:to>
                                        <p:strVal val="visible"/>
                                      </p:to>
                                    </p:set>
                                    <p:animEffect transition="in" filter="wipe(left)">
                                      <p:cBhvr>
                                        <p:cTn id="43" dur="1000"/>
                                        <p:tgtEl>
                                          <p:spTgt spid="79566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2" fill="hold" nodeType="clickEffect">
                                  <p:stCondLst>
                                    <p:cond delay="0"/>
                                  </p:stCondLst>
                                  <p:childTnLst>
                                    <p:set>
                                      <p:cBhvr>
                                        <p:cTn id="47" dur="1" fill="hold">
                                          <p:stCondLst>
                                            <p:cond delay="0"/>
                                          </p:stCondLst>
                                        </p:cTn>
                                        <p:tgtEl>
                                          <p:spTgt spid="795670"/>
                                        </p:tgtEl>
                                        <p:attrNameLst>
                                          <p:attrName>style.visibility</p:attrName>
                                        </p:attrNameLst>
                                      </p:cBhvr>
                                      <p:to>
                                        <p:strVal val="visible"/>
                                      </p:to>
                                    </p:set>
                                    <p:animEffect transition="in" filter="wipe(right)">
                                      <p:cBhvr>
                                        <p:cTn id="48" dur="1000"/>
                                        <p:tgtEl>
                                          <p:spTgt spid="79567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7956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頁尾版面配置區 1">
            <a:extLst>
              <a:ext uri="{FF2B5EF4-FFF2-40B4-BE49-F238E27FC236}">
                <a16:creationId xmlns:a16="http://schemas.microsoft.com/office/drawing/2014/main" id="{C6A36457-307E-4F29-A69F-17E401092C99}"/>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a:t>TCP/IP Protocol Suite</a:t>
            </a:r>
          </a:p>
        </p:txBody>
      </p:sp>
      <p:sp>
        <p:nvSpPr>
          <p:cNvPr id="165891" name="投影片編號版面配置區 2">
            <a:extLst>
              <a:ext uri="{FF2B5EF4-FFF2-40B4-BE49-F238E27FC236}">
                <a16:creationId xmlns:a16="http://schemas.microsoft.com/office/drawing/2014/main" id="{1B4FCB9D-BF8C-45C2-962C-4D337B840DEE}"/>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A9FD079-D77A-4310-B5E2-47FEF0B57D7F}" type="slidenum">
              <a:rPr lang="en-US" altLang="zh-TW" b="0"/>
              <a:pPr/>
              <a:t>22</a:t>
            </a:fld>
            <a:endParaRPr lang="en-US" altLang="zh-TW" b="0"/>
          </a:p>
        </p:txBody>
      </p:sp>
      <p:sp>
        <p:nvSpPr>
          <p:cNvPr id="165892" name="Rectangle 2">
            <a:extLst>
              <a:ext uri="{FF2B5EF4-FFF2-40B4-BE49-F238E27FC236}">
                <a16:creationId xmlns:a16="http://schemas.microsoft.com/office/drawing/2014/main" id="{5DE66FAD-8760-4BD4-AA25-A6679F5F6EB7}"/>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5893" name="Rectangle 3">
            <a:extLst>
              <a:ext uri="{FF2B5EF4-FFF2-40B4-BE49-F238E27FC236}">
                <a16:creationId xmlns:a16="http://schemas.microsoft.com/office/drawing/2014/main" id="{36361DF9-1874-40D0-BC44-4A3F77A19228}"/>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5894" name="Rectangle 4">
            <a:extLst>
              <a:ext uri="{FF2B5EF4-FFF2-40B4-BE49-F238E27FC236}">
                <a16:creationId xmlns:a16="http://schemas.microsoft.com/office/drawing/2014/main" id="{B7F76EB6-93CE-44CD-AA83-1D627D93A57D}"/>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5895" name="Rectangle 5">
            <a:extLst>
              <a:ext uri="{FF2B5EF4-FFF2-40B4-BE49-F238E27FC236}">
                <a16:creationId xmlns:a16="http://schemas.microsoft.com/office/drawing/2014/main" id="{69F25DF4-8A29-43E9-9009-0C1220F2C7CC}"/>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5896" name="Rectangle 6">
            <a:extLst>
              <a:ext uri="{FF2B5EF4-FFF2-40B4-BE49-F238E27FC236}">
                <a16:creationId xmlns:a16="http://schemas.microsoft.com/office/drawing/2014/main" id="{6F9CB97A-DDB9-4E4F-9C78-44516999A884}"/>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5897" name="Rectangle 7">
            <a:extLst>
              <a:ext uri="{FF2B5EF4-FFF2-40B4-BE49-F238E27FC236}">
                <a16:creationId xmlns:a16="http://schemas.microsoft.com/office/drawing/2014/main" id="{F2B66519-DB38-4E2B-9135-133CCFCE3382}"/>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5898" name="Rectangle 8">
            <a:extLst>
              <a:ext uri="{FF2B5EF4-FFF2-40B4-BE49-F238E27FC236}">
                <a16:creationId xmlns:a16="http://schemas.microsoft.com/office/drawing/2014/main" id="{8F9A31C9-4FF1-4949-9350-1E8DAC5C243E}"/>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945161" name="Line 9">
            <a:extLst>
              <a:ext uri="{FF2B5EF4-FFF2-40B4-BE49-F238E27FC236}">
                <a16:creationId xmlns:a16="http://schemas.microsoft.com/office/drawing/2014/main" id="{654E81F5-A5FC-4FAA-98BE-5EEA25FD1FAF}"/>
              </a:ext>
            </a:extLst>
          </p:cNvPr>
          <p:cNvSpPr>
            <a:spLocks noChangeShapeType="1"/>
          </p:cNvSpPr>
          <p:nvPr/>
        </p:nvSpPr>
        <p:spPr bwMode="auto">
          <a:xfrm>
            <a:off x="2133600" y="2624138"/>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45162" name="Line 10">
            <a:extLst>
              <a:ext uri="{FF2B5EF4-FFF2-40B4-BE49-F238E27FC236}">
                <a16:creationId xmlns:a16="http://schemas.microsoft.com/office/drawing/2014/main" id="{74DE8E14-5374-4477-BC8A-83B05AA13A20}"/>
              </a:ext>
            </a:extLst>
          </p:cNvPr>
          <p:cNvSpPr>
            <a:spLocks noChangeShapeType="1"/>
          </p:cNvSpPr>
          <p:nvPr/>
        </p:nvSpPr>
        <p:spPr bwMode="auto">
          <a:xfrm>
            <a:off x="2133600" y="48768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45163" name="Rectangle 11">
            <a:extLst>
              <a:ext uri="{FF2B5EF4-FFF2-40B4-BE49-F238E27FC236}">
                <a16:creationId xmlns:a16="http://schemas.microsoft.com/office/drawing/2014/main" id="{1CA65C31-0228-413D-BF2B-4DC46EC53F43}"/>
              </a:ext>
            </a:extLst>
          </p:cNvPr>
          <p:cNvSpPr>
            <a:spLocks noChangeArrowheads="1"/>
          </p:cNvSpPr>
          <p:nvPr/>
        </p:nvSpPr>
        <p:spPr bwMode="auto">
          <a:xfrm>
            <a:off x="2171700" y="2716213"/>
            <a:ext cx="8077200" cy="2062103"/>
          </a:xfrm>
          <a:prstGeom prst="rect">
            <a:avLst/>
          </a:prstGeom>
          <a:solidFill>
            <a:srgbClr val="3333CC"/>
          </a:solidFill>
          <a:ln>
            <a:noFill/>
          </a:ln>
          <a:effectLst/>
          <a:extLst>
            <a:ext uri="{91240B29-F687-4F45-9708-019B960494DF}">
              <a14:hiddenLine xmlns:a14="http://schemas.microsoft.com/office/drawing/2010/main" w="76200"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zh-TW" sz="3200" i="1" dirty="0">
                <a:solidFill>
                  <a:schemeClr val="bg1"/>
                </a:solidFill>
                <a:latin typeface="Arial" panose="020B0604020202020204" pitchFamily="34" charset="0"/>
                <a:ea typeface="新細明體" panose="02020500000000000000" pitchFamily="18" charset="-120"/>
              </a:rPr>
              <a:t>In the slow start algorithm, the size of the congestion window increases exponentially until it reaches a threshold (</a:t>
            </a:r>
            <a:r>
              <a:rPr lang="en-US" altLang="zh-TW" sz="3200" i="1" dirty="0" err="1">
                <a:solidFill>
                  <a:schemeClr val="bg1"/>
                </a:solidFill>
                <a:latin typeface="Arial" panose="020B0604020202020204" pitchFamily="34" charset="0"/>
                <a:ea typeface="新細明體" panose="02020500000000000000" pitchFamily="18" charset="-120"/>
              </a:rPr>
              <a:t>ssthresh</a:t>
            </a:r>
            <a:r>
              <a:rPr lang="en-US" altLang="zh-TW" sz="3200" i="1" dirty="0">
                <a:solidFill>
                  <a:schemeClr val="bg1"/>
                </a:solidFill>
                <a:latin typeface="Arial" panose="020B0604020202020204" pitchFamily="34" charset="0"/>
                <a:ea typeface="新細明體" panose="02020500000000000000" pitchFamily="18" charset="-120"/>
              </a:rPr>
              <a:t>).</a:t>
            </a:r>
          </a:p>
        </p:txBody>
      </p:sp>
      <p:grpSp>
        <p:nvGrpSpPr>
          <p:cNvPr id="945164" name="Group 12">
            <a:extLst>
              <a:ext uri="{FF2B5EF4-FFF2-40B4-BE49-F238E27FC236}">
                <a16:creationId xmlns:a16="http://schemas.microsoft.com/office/drawing/2014/main" id="{DFA54252-B2CE-4FF9-A6EE-F1A74DF3546D}"/>
              </a:ext>
            </a:extLst>
          </p:cNvPr>
          <p:cNvGrpSpPr>
            <a:grpSpLocks/>
          </p:cNvGrpSpPr>
          <p:nvPr/>
        </p:nvGrpSpPr>
        <p:grpSpPr bwMode="auto">
          <a:xfrm>
            <a:off x="2133600" y="1981200"/>
            <a:ext cx="1143000" cy="566738"/>
            <a:chOff x="1200" y="1248"/>
            <a:chExt cx="720" cy="357"/>
          </a:xfrm>
        </p:grpSpPr>
        <p:pic>
          <p:nvPicPr>
            <p:cNvPr id="165903" name="Picture 13">
              <a:extLst>
                <a:ext uri="{FF2B5EF4-FFF2-40B4-BE49-F238E27FC236}">
                  <a16:creationId xmlns:a16="http://schemas.microsoft.com/office/drawing/2014/main" id="{CF44ACE8-C787-438A-98BA-DEA93A25F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5904" name="Text Box 14">
              <a:extLst>
                <a:ext uri="{FF2B5EF4-FFF2-40B4-BE49-F238E27FC236}">
                  <a16:creationId xmlns:a16="http://schemas.microsoft.com/office/drawing/2014/main" id="{522ED222-DE4D-4493-A771-4C3B886DD8B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45164"/>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2000" fill="hold" nodeType="afterEffect">
                                  <p:stCondLst>
                                    <p:cond delay="0"/>
                                  </p:stCondLst>
                                  <p:childTnLst>
                                    <p:anim calcmode="discrete" valueType="str">
                                      <p:cBhvr>
                                        <p:cTn id="9" dur="500" fill="hold"/>
                                        <p:tgtEl>
                                          <p:spTgt spid="945164"/>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1000"/>
                            </p:stCondLst>
                            <p:childTnLst>
                              <p:par>
                                <p:cTn id="11" presetID="5" presetClass="entr" presetSubtype="10" fill="hold" nodeType="afterEffect">
                                  <p:stCondLst>
                                    <p:cond delay="0"/>
                                  </p:stCondLst>
                                  <p:childTnLst>
                                    <p:set>
                                      <p:cBhvr>
                                        <p:cTn id="12" dur="1" fill="hold">
                                          <p:stCondLst>
                                            <p:cond delay="0"/>
                                          </p:stCondLst>
                                        </p:cTn>
                                        <p:tgtEl>
                                          <p:spTgt spid="945161"/>
                                        </p:tgtEl>
                                        <p:attrNameLst>
                                          <p:attrName>style.visibility</p:attrName>
                                        </p:attrNameLst>
                                      </p:cBhvr>
                                      <p:to>
                                        <p:strVal val="visible"/>
                                      </p:to>
                                    </p:set>
                                    <p:animEffect transition="in" filter="checkerboard(across)">
                                      <p:cBhvr>
                                        <p:cTn id="13" dur="500"/>
                                        <p:tgtEl>
                                          <p:spTgt spid="945161"/>
                                        </p:tgtEl>
                                      </p:cBhvr>
                                    </p:animEffect>
                                  </p:childTnLst>
                                </p:cTn>
                              </p:par>
                            </p:childTnLst>
                          </p:cTn>
                        </p:par>
                        <p:par>
                          <p:cTn id="14" fill="hold" nodeType="afterGroup">
                            <p:stCondLst>
                              <p:cond delay="1500"/>
                            </p:stCondLst>
                            <p:childTnLst>
                              <p:par>
                                <p:cTn id="15" presetID="5" presetClass="entr" presetSubtype="10" fill="hold" nodeType="afterEffect">
                                  <p:stCondLst>
                                    <p:cond delay="0"/>
                                  </p:stCondLst>
                                  <p:childTnLst>
                                    <p:set>
                                      <p:cBhvr>
                                        <p:cTn id="16" dur="1" fill="hold">
                                          <p:stCondLst>
                                            <p:cond delay="0"/>
                                          </p:stCondLst>
                                        </p:cTn>
                                        <p:tgtEl>
                                          <p:spTgt spid="945162"/>
                                        </p:tgtEl>
                                        <p:attrNameLst>
                                          <p:attrName>style.visibility</p:attrName>
                                        </p:attrNameLst>
                                      </p:cBhvr>
                                      <p:to>
                                        <p:strVal val="visible"/>
                                      </p:to>
                                    </p:set>
                                    <p:animEffect transition="in" filter="checkerboard(across)">
                                      <p:cBhvr>
                                        <p:cTn id="17" dur="500"/>
                                        <p:tgtEl>
                                          <p:spTgt spid="945162"/>
                                        </p:tgtEl>
                                      </p:cBhvr>
                                    </p:animEffect>
                                  </p:childTnLst>
                                </p:cTn>
                              </p:par>
                            </p:childTnLst>
                          </p:cTn>
                        </p:par>
                        <p:par>
                          <p:cTn id="18" fill="hold" nodeType="afterGroup">
                            <p:stCondLst>
                              <p:cond delay="2000"/>
                            </p:stCondLst>
                            <p:childTnLst>
                              <p:par>
                                <p:cTn id="19" presetID="5" presetClass="entr" presetSubtype="10" fill="hold" grpId="0" nodeType="afterEffect">
                                  <p:stCondLst>
                                    <p:cond delay="0"/>
                                  </p:stCondLst>
                                  <p:childTnLst>
                                    <p:set>
                                      <p:cBhvr>
                                        <p:cTn id="20" dur="1" fill="hold">
                                          <p:stCondLst>
                                            <p:cond delay="0"/>
                                          </p:stCondLst>
                                        </p:cTn>
                                        <p:tgtEl>
                                          <p:spTgt spid="945163"/>
                                        </p:tgtEl>
                                        <p:attrNameLst>
                                          <p:attrName>style.visibility</p:attrName>
                                        </p:attrNameLst>
                                      </p:cBhvr>
                                      <p:to>
                                        <p:strVal val="visible"/>
                                      </p:to>
                                    </p:set>
                                    <p:animEffect transition="in" filter="checkerboard(across)">
                                      <p:cBhvr>
                                        <p:cTn id="21" dur="500"/>
                                        <p:tgtEl>
                                          <p:spTgt spid="945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516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D3B15-E174-4D38-8FED-8E001404DC72}"/>
              </a:ext>
            </a:extLst>
          </p:cNvPr>
          <p:cNvSpPr>
            <a:spLocks noGrp="1"/>
          </p:cNvSpPr>
          <p:nvPr>
            <p:ph type="title"/>
          </p:nvPr>
        </p:nvSpPr>
        <p:spPr/>
        <p:txBody>
          <a:bodyPr/>
          <a:lstStyle/>
          <a:p>
            <a:r>
              <a:rPr lang="en-US" dirty="0"/>
              <a:t>What will happen reaches to threshold</a:t>
            </a:r>
            <a:endParaRPr lang="en-IN" dirty="0"/>
          </a:p>
        </p:txBody>
      </p:sp>
      <p:sp>
        <p:nvSpPr>
          <p:cNvPr id="3" name="Content Placeholder 2">
            <a:extLst>
              <a:ext uri="{FF2B5EF4-FFF2-40B4-BE49-F238E27FC236}">
                <a16:creationId xmlns:a16="http://schemas.microsoft.com/office/drawing/2014/main" id="{BA9B2536-3D75-4D41-BB76-821E555C0D46}"/>
              </a:ext>
            </a:extLst>
          </p:cNvPr>
          <p:cNvSpPr>
            <a:spLocks noGrp="1"/>
          </p:cNvSpPr>
          <p:nvPr>
            <p:ph idx="1"/>
          </p:nvPr>
        </p:nvSpPr>
        <p:spPr/>
        <p:txBody>
          <a:bodyPr/>
          <a:lstStyle/>
          <a:p>
            <a:r>
              <a:rPr lang="en-US" dirty="0" err="1"/>
              <a:t>ssthresh</a:t>
            </a:r>
            <a:r>
              <a:rPr lang="en-US" dirty="0"/>
              <a:t>=window/2</a:t>
            </a:r>
          </a:p>
          <a:p>
            <a:r>
              <a:rPr lang="en-US" dirty="0" err="1"/>
              <a:t>Cwnd</a:t>
            </a:r>
            <a:r>
              <a:rPr lang="en-US" dirty="0"/>
              <a:t>=</a:t>
            </a:r>
            <a:r>
              <a:rPr lang="en-US" dirty="0" err="1"/>
              <a:t>ssthresh</a:t>
            </a:r>
            <a:endParaRPr lang="en-IN" dirty="0"/>
          </a:p>
        </p:txBody>
      </p:sp>
    </p:spTree>
    <p:extLst>
      <p:ext uri="{BB962C8B-B14F-4D97-AF65-F5344CB8AC3E}">
        <p14:creationId xmlns:p14="http://schemas.microsoft.com/office/powerpoint/2010/main" val="1348838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頁尾版面配置區 1">
            <a:extLst>
              <a:ext uri="{FF2B5EF4-FFF2-40B4-BE49-F238E27FC236}">
                <a16:creationId xmlns:a16="http://schemas.microsoft.com/office/drawing/2014/main" id="{FA54AE8D-99DA-4079-97E6-B84C3AB293B7}"/>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a:t>TCP/IP Protocol Suite</a:t>
            </a:r>
          </a:p>
        </p:txBody>
      </p:sp>
      <p:sp>
        <p:nvSpPr>
          <p:cNvPr id="167939" name="投影片編號版面配置區 2">
            <a:extLst>
              <a:ext uri="{FF2B5EF4-FFF2-40B4-BE49-F238E27FC236}">
                <a16:creationId xmlns:a16="http://schemas.microsoft.com/office/drawing/2014/main" id="{2A264886-ACDC-44D1-B608-7E34D50B2245}"/>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6EA2ABE-2268-4C34-B539-FDE531D10579}" type="slidenum">
              <a:rPr lang="en-US" altLang="zh-TW" b="0"/>
              <a:pPr/>
              <a:t>24</a:t>
            </a:fld>
            <a:endParaRPr lang="en-US" altLang="zh-TW" b="0"/>
          </a:p>
        </p:txBody>
      </p:sp>
      <p:sp>
        <p:nvSpPr>
          <p:cNvPr id="167940" name="Text Box 2">
            <a:extLst>
              <a:ext uri="{FF2B5EF4-FFF2-40B4-BE49-F238E27FC236}">
                <a16:creationId xmlns:a16="http://schemas.microsoft.com/office/drawing/2014/main" id="{B6E6CCB0-C169-4159-8768-A86A9A0EC1CF}"/>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dirty="0">
                <a:solidFill>
                  <a:srgbClr val="0000FF"/>
                </a:solidFill>
                <a:latin typeface="Times New Roman" panose="02020603050405020304" pitchFamily="18" charset="0"/>
              </a:rPr>
              <a:t>Figure </a:t>
            </a:r>
            <a:r>
              <a:rPr lang="en-US" altLang="en-US" i="1" dirty="0">
                <a:latin typeface="Times New Roman" panose="02020603050405020304" pitchFamily="18" charset="0"/>
              </a:rPr>
              <a:t>Congestion avoidance, additive increase</a:t>
            </a:r>
          </a:p>
        </p:txBody>
      </p:sp>
      <p:sp>
        <p:nvSpPr>
          <p:cNvPr id="167941" name="Rectangle 3">
            <a:extLst>
              <a:ext uri="{FF2B5EF4-FFF2-40B4-BE49-F238E27FC236}">
                <a16:creationId xmlns:a16="http://schemas.microsoft.com/office/drawing/2014/main" id="{87757ECB-4B9D-4C2A-B342-F91F69B04B40}"/>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7942" name="Rectangle 4">
            <a:extLst>
              <a:ext uri="{FF2B5EF4-FFF2-40B4-BE49-F238E27FC236}">
                <a16:creationId xmlns:a16="http://schemas.microsoft.com/office/drawing/2014/main" id="{EC26B4B7-D545-4B0E-AB09-E1296B178B22}"/>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7943" name="Rectangle 5">
            <a:extLst>
              <a:ext uri="{FF2B5EF4-FFF2-40B4-BE49-F238E27FC236}">
                <a16:creationId xmlns:a16="http://schemas.microsoft.com/office/drawing/2014/main" id="{F16BAC32-3655-4475-8A09-680824A9D77F}"/>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7944" name="Rectangle 6">
            <a:extLst>
              <a:ext uri="{FF2B5EF4-FFF2-40B4-BE49-F238E27FC236}">
                <a16:creationId xmlns:a16="http://schemas.microsoft.com/office/drawing/2014/main" id="{A3714C5D-6603-4D5E-86B3-F19BF63764B4}"/>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7945" name="Rectangle 7">
            <a:extLst>
              <a:ext uri="{FF2B5EF4-FFF2-40B4-BE49-F238E27FC236}">
                <a16:creationId xmlns:a16="http://schemas.microsoft.com/office/drawing/2014/main" id="{CFC2096B-00E6-4745-9981-0D7C83E3BD56}"/>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7946" name="Rectangle 8">
            <a:extLst>
              <a:ext uri="{FF2B5EF4-FFF2-40B4-BE49-F238E27FC236}">
                <a16:creationId xmlns:a16="http://schemas.microsoft.com/office/drawing/2014/main" id="{6CCD7C37-B9A5-4416-BC96-6E0F6E181B00}"/>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7947" name="Rectangle 9">
            <a:extLst>
              <a:ext uri="{FF2B5EF4-FFF2-40B4-BE49-F238E27FC236}">
                <a16:creationId xmlns:a16="http://schemas.microsoft.com/office/drawing/2014/main" id="{1C9E1A35-56BF-4758-9122-9D44D3CAD3FC}"/>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pic>
        <p:nvPicPr>
          <p:cNvPr id="797706" name="Picture 10">
            <a:extLst>
              <a:ext uri="{FF2B5EF4-FFF2-40B4-BE49-F238E27FC236}">
                <a16:creationId xmlns:a16="http://schemas.microsoft.com/office/drawing/2014/main" id="{87B31735-8039-4659-A811-08D20BFD8A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1" y="990600"/>
            <a:ext cx="7331075" cy="525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97706"/>
                                        </p:tgtEl>
                                        <p:attrNameLst>
                                          <p:attrName>style.visibility</p:attrName>
                                        </p:attrNameLst>
                                      </p:cBhvr>
                                      <p:to>
                                        <p:strVal val="visible"/>
                                      </p:to>
                                    </p:set>
                                    <p:animEffect transition="in" filter="wipe(up)">
                                      <p:cBhvr>
                                        <p:cTn id="7" dur="3000"/>
                                        <p:tgtEl>
                                          <p:spTgt spid="797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頁尾版面配置區 1">
            <a:extLst>
              <a:ext uri="{FF2B5EF4-FFF2-40B4-BE49-F238E27FC236}">
                <a16:creationId xmlns:a16="http://schemas.microsoft.com/office/drawing/2014/main" id="{7108A5D1-FB69-4339-B8F3-2ADC5DFD8E46}"/>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a:t>TCP/IP Protocol Suite</a:t>
            </a:r>
          </a:p>
        </p:txBody>
      </p:sp>
      <p:sp>
        <p:nvSpPr>
          <p:cNvPr id="169987" name="投影片編號版面配置區 2">
            <a:extLst>
              <a:ext uri="{FF2B5EF4-FFF2-40B4-BE49-F238E27FC236}">
                <a16:creationId xmlns:a16="http://schemas.microsoft.com/office/drawing/2014/main" id="{771D9395-DE72-4FDE-B64B-023EC7AA68E4}"/>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31C8A76-42F9-46F1-90FC-BC6DC449AC50}" type="slidenum">
              <a:rPr lang="en-US" altLang="zh-TW" b="0"/>
              <a:pPr/>
              <a:t>25</a:t>
            </a:fld>
            <a:endParaRPr lang="en-US" altLang="zh-TW" b="0"/>
          </a:p>
        </p:txBody>
      </p:sp>
      <p:sp>
        <p:nvSpPr>
          <p:cNvPr id="169988" name="Rectangle 2">
            <a:extLst>
              <a:ext uri="{FF2B5EF4-FFF2-40B4-BE49-F238E27FC236}">
                <a16:creationId xmlns:a16="http://schemas.microsoft.com/office/drawing/2014/main" id="{2FF8C02C-C291-445D-B58F-990356DB4A04}"/>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9989" name="Rectangle 3">
            <a:extLst>
              <a:ext uri="{FF2B5EF4-FFF2-40B4-BE49-F238E27FC236}">
                <a16:creationId xmlns:a16="http://schemas.microsoft.com/office/drawing/2014/main" id="{1642728E-D530-4266-81B1-A1EE15B6FBB4}"/>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9990" name="Rectangle 4">
            <a:extLst>
              <a:ext uri="{FF2B5EF4-FFF2-40B4-BE49-F238E27FC236}">
                <a16:creationId xmlns:a16="http://schemas.microsoft.com/office/drawing/2014/main" id="{D13A537A-C74C-49C8-BA25-F8C3475A174B}"/>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9991" name="Rectangle 5">
            <a:extLst>
              <a:ext uri="{FF2B5EF4-FFF2-40B4-BE49-F238E27FC236}">
                <a16:creationId xmlns:a16="http://schemas.microsoft.com/office/drawing/2014/main" id="{720D7DAA-6A3E-4A72-962E-0B35465E2975}"/>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9992" name="Rectangle 6">
            <a:extLst>
              <a:ext uri="{FF2B5EF4-FFF2-40B4-BE49-F238E27FC236}">
                <a16:creationId xmlns:a16="http://schemas.microsoft.com/office/drawing/2014/main" id="{A9C06DC5-0CC0-4BA4-A2F4-DEDC692134AE}"/>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9993" name="Rectangle 7">
            <a:extLst>
              <a:ext uri="{FF2B5EF4-FFF2-40B4-BE49-F238E27FC236}">
                <a16:creationId xmlns:a16="http://schemas.microsoft.com/office/drawing/2014/main" id="{C6A8C032-ABF4-4066-8034-8516CE8894AB}"/>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69994" name="Rectangle 8">
            <a:extLst>
              <a:ext uri="{FF2B5EF4-FFF2-40B4-BE49-F238E27FC236}">
                <a16:creationId xmlns:a16="http://schemas.microsoft.com/office/drawing/2014/main" id="{851E0DFA-4F45-41C3-BC22-94EBFE30C410}"/>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947209" name="Line 9">
            <a:extLst>
              <a:ext uri="{FF2B5EF4-FFF2-40B4-BE49-F238E27FC236}">
                <a16:creationId xmlns:a16="http://schemas.microsoft.com/office/drawing/2014/main" id="{DA29E72B-E665-4EB8-9EE8-7FD77ACC2368}"/>
              </a:ext>
            </a:extLst>
          </p:cNvPr>
          <p:cNvSpPr>
            <a:spLocks noChangeShapeType="1"/>
          </p:cNvSpPr>
          <p:nvPr/>
        </p:nvSpPr>
        <p:spPr bwMode="auto">
          <a:xfrm>
            <a:off x="2133600" y="2624138"/>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47210" name="Line 10">
            <a:extLst>
              <a:ext uri="{FF2B5EF4-FFF2-40B4-BE49-F238E27FC236}">
                <a16:creationId xmlns:a16="http://schemas.microsoft.com/office/drawing/2014/main" id="{2A11AFEB-95E9-4315-ABBE-05F17452DA8C}"/>
              </a:ext>
            </a:extLst>
          </p:cNvPr>
          <p:cNvSpPr>
            <a:spLocks noChangeShapeType="1"/>
          </p:cNvSpPr>
          <p:nvPr/>
        </p:nvSpPr>
        <p:spPr bwMode="auto">
          <a:xfrm>
            <a:off x="2133600" y="4876800"/>
            <a:ext cx="8153400" cy="0"/>
          </a:xfrm>
          <a:prstGeom prst="line">
            <a:avLst/>
          </a:prstGeom>
          <a:noFill/>
          <a:ln w="762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47211" name="Rectangle 11">
            <a:extLst>
              <a:ext uri="{FF2B5EF4-FFF2-40B4-BE49-F238E27FC236}">
                <a16:creationId xmlns:a16="http://schemas.microsoft.com/office/drawing/2014/main" id="{8252181A-3E35-471D-A078-1FFF52CBE78D}"/>
              </a:ext>
            </a:extLst>
          </p:cNvPr>
          <p:cNvSpPr>
            <a:spLocks noChangeArrowheads="1"/>
          </p:cNvSpPr>
          <p:nvPr/>
        </p:nvSpPr>
        <p:spPr bwMode="auto">
          <a:xfrm>
            <a:off x="2171700" y="2716214"/>
            <a:ext cx="8077200" cy="2062103"/>
          </a:xfrm>
          <a:prstGeom prst="rect">
            <a:avLst/>
          </a:prstGeom>
          <a:solidFill>
            <a:srgbClr val="3333CC"/>
          </a:solidFill>
          <a:ln>
            <a:noFill/>
          </a:ln>
          <a:effectLst/>
          <a:extLst>
            <a:ext uri="{91240B29-F687-4F45-9708-019B960494DF}">
              <a14:hiddenLine xmlns:a14="http://schemas.microsoft.com/office/drawing/2010/main" w="76200"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r>
              <a:rPr lang="en-US" altLang="zh-TW" sz="3200" i="1">
                <a:solidFill>
                  <a:schemeClr val="bg1"/>
                </a:solidFill>
                <a:latin typeface="Arial" panose="020B0604020202020204" pitchFamily="34" charset="0"/>
                <a:ea typeface="新細明體" panose="02020500000000000000" pitchFamily="18" charset="-120"/>
              </a:rPr>
              <a:t>In the congestion avoidance algorithm the size of the congestion window</a:t>
            </a:r>
          </a:p>
          <a:p>
            <a:pPr algn="ctr"/>
            <a:r>
              <a:rPr lang="en-US" altLang="zh-TW" sz="3200" i="1">
                <a:solidFill>
                  <a:schemeClr val="bg1"/>
                </a:solidFill>
                <a:latin typeface="Arial" panose="020B0604020202020204" pitchFamily="34" charset="0"/>
                <a:ea typeface="新細明體" panose="02020500000000000000" pitchFamily="18" charset="-120"/>
              </a:rPr>
              <a:t>increases additively until </a:t>
            </a:r>
          </a:p>
          <a:p>
            <a:pPr algn="ctr"/>
            <a:r>
              <a:rPr lang="en-US" altLang="zh-TW" sz="3200" i="1">
                <a:solidFill>
                  <a:schemeClr val="bg1"/>
                </a:solidFill>
                <a:latin typeface="Arial" panose="020B0604020202020204" pitchFamily="34" charset="0"/>
                <a:ea typeface="新細明體" panose="02020500000000000000" pitchFamily="18" charset="-120"/>
              </a:rPr>
              <a:t>congestion is detected.</a:t>
            </a:r>
          </a:p>
        </p:txBody>
      </p:sp>
      <p:grpSp>
        <p:nvGrpSpPr>
          <p:cNvPr id="947212" name="Group 12">
            <a:extLst>
              <a:ext uri="{FF2B5EF4-FFF2-40B4-BE49-F238E27FC236}">
                <a16:creationId xmlns:a16="http://schemas.microsoft.com/office/drawing/2014/main" id="{9650B14C-1F06-4193-9A2C-EDBC9AF31536}"/>
              </a:ext>
            </a:extLst>
          </p:cNvPr>
          <p:cNvGrpSpPr>
            <a:grpSpLocks/>
          </p:cNvGrpSpPr>
          <p:nvPr/>
        </p:nvGrpSpPr>
        <p:grpSpPr bwMode="auto">
          <a:xfrm>
            <a:off x="2133600" y="1981200"/>
            <a:ext cx="1143000" cy="566738"/>
            <a:chOff x="1200" y="1248"/>
            <a:chExt cx="720" cy="357"/>
          </a:xfrm>
        </p:grpSpPr>
        <p:pic>
          <p:nvPicPr>
            <p:cNvPr id="169999" name="Picture 13">
              <a:extLst>
                <a:ext uri="{FF2B5EF4-FFF2-40B4-BE49-F238E27FC236}">
                  <a16:creationId xmlns:a16="http://schemas.microsoft.com/office/drawing/2014/main" id="{E769F7F9-0EC6-4E46-AB1B-843258D831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0000" name="Text Box 14">
              <a:extLst>
                <a:ext uri="{FF2B5EF4-FFF2-40B4-BE49-F238E27FC236}">
                  <a16:creationId xmlns:a16="http://schemas.microsoft.com/office/drawing/2014/main" id="{2605F028-7DC1-4CA4-AC91-CAC571375E4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4721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2000" fill="hold" nodeType="afterEffect">
                                  <p:stCondLst>
                                    <p:cond delay="0"/>
                                  </p:stCondLst>
                                  <p:childTnLst>
                                    <p:anim calcmode="discrete" valueType="str">
                                      <p:cBhvr>
                                        <p:cTn id="9" dur="500" fill="hold"/>
                                        <p:tgtEl>
                                          <p:spTgt spid="947212"/>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1000"/>
                            </p:stCondLst>
                            <p:childTnLst>
                              <p:par>
                                <p:cTn id="11" presetID="5" presetClass="entr" presetSubtype="10" fill="hold" nodeType="afterEffect">
                                  <p:stCondLst>
                                    <p:cond delay="0"/>
                                  </p:stCondLst>
                                  <p:childTnLst>
                                    <p:set>
                                      <p:cBhvr>
                                        <p:cTn id="12" dur="1" fill="hold">
                                          <p:stCondLst>
                                            <p:cond delay="0"/>
                                          </p:stCondLst>
                                        </p:cTn>
                                        <p:tgtEl>
                                          <p:spTgt spid="947209"/>
                                        </p:tgtEl>
                                        <p:attrNameLst>
                                          <p:attrName>style.visibility</p:attrName>
                                        </p:attrNameLst>
                                      </p:cBhvr>
                                      <p:to>
                                        <p:strVal val="visible"/>
                                      </p:to>
                                    </p:set>
                                    <p:animEffect transition="in" filter="checkerboard(across)">
                                      <p:cBhvr>
                                        <p:cTn id="13" dur="500"/>
                                        <p:tgtEl>
                                          <p:spTgt spid="947209"/>
                                        </p:tgtEl>
                                      </p:cBhvr>
                                    </p:animEffect>
                                  </p:childTnLst>
                                </p:cTn>
                              </p:par>
                            </p:childTnLst>
                          </p:cTn>
                        </p:par>
                        <p:par>
                          <p:cTn id="14" fill="hold" nodeType="afterGroup">
                            <p:stCondLst>
                              <p:cond delay="1500"/>
                            </p:stCondLst>
                            <p:childTnLst>
                              <p:par>
                                <p:cTn id="15" presetID="5" presetClass="entr" presetSubtype="10" fill="hold" nodeType="afterEffect">
                                  <p:stCondLst>
                                    <p:cond delay="0"/>
                                  </p:stCondLst>
                                  <p:childTnLst>
                                    <p:set>
                                      <p:cBhvr>
                                        <p:cTn id="16" dur="1" fill="hold">
                                          <p:stCondLst>
                                            <p:cond delay="0"/>
                                          </p:stCondLst>
                                        </p:cTn>
                                        <p:tgtEl>
                                          <p:spTgt spid="947210"/>
                                        </p:tgtEl>
                                        <p:attrNameLst>
                                          <p:attrName>style.visibility</p:attrName>
                                        </p:attrNameLst>
                                      </p:cBhvr>
                                      <p:to>
                                        <p:strVal val="visible"/>
                                      </p:to>
                                    </p:set>
                                    <p:animEffect transition="in" filter="checkerboard(across)">
                                      <p:cBhvr>
                                        <p:cTn id="17" dur="500"/>
                                        <p:tgtEl>
                                          <p:spTgt spid="947210"/>
                                        </p:tgtEl>
                                      </p:cBhvr>
                                    </p:animEffect>
                                  </p:childTnLst>
                                </p:cTn>
                              </p:par>
                            </p:childTnLst>
                          </p:cTn>
                        </p:par>
                        <p:par>
                          <p:cTn id="18" fill="hold" nodeType="afterGroup">
                            <p:stCondLst>
                              <p:cond delay="2000"/>
                            </p:stCondLst>
                            <p:childTnLst>
                              <p:par>
                                <p:cTn id="19" presetID="5" presetClass="entr" presetSubtype="10" fill="hold" grpId="0" nodeType="afterEffect">
                                  <p:stCondLst>
                                    <p:cond delay="0"/>
                                  </p:stCondLst>
                                  <p:childTnLst>
                                    <p:set>
                                      <p:cBhvr>
                                        <p:cTn id="20" dur="1" fill="hold">
                                          <p:stCondLst>
                                            <p:cond delay="0"/>
                                          </p:stCondLst>
                                        </p:cTn>
                                        <p:tgtEl>
                                          <p:spTgt spid="947211"/>
                                        </p:tgtEl>
                                        <p:attrNameLst>
                                          <p:attrName>style.visibility</p:attrName>
                                        </p:attrNameLst>
                                      </p:cBhvr>
                                      <p:to>
                                        <p:strVal val="visible"/>
                                      </p:to>
                                    </p:set>
                                    <p:animEffect transition="in" filter="checkerboard(across)">
                                      <p:cBhvr>
                                        <p:cTn id="21" dur="500"/>
                                        <p:tgtEl>
                                          <p:spTgt spid="947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72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6884C-EC35-4D32-8DB6-7C07F2981DC9}"/>
              </a:ext>
            </a:extLst>
          </p:cNvPr>
          <p:cNvSpPr>
            <a:spLocks noGrp="1"/>
          </p:cNvSpPr>
          <p:nvPr>
            <p:ph type="title"/>
          </p:nvPr>
        </p:nvSpPr>
        <p:spPr/>
        <p:txBody>
          <a:bodyPr/>
          <a:lstStyle/>
          <a:p>
            <a:r>
              <a:rPr lang="en-US" dirty="0"/>
              <a:t>What will happen reaches to threshold</a:t>
            </a:r>
            <a:endParaRPr lang="en-IN" dirty="0"/>
          </a:p>
        </p:txBody>
      </p:sp>
      <p:sp>
        <p:nvSpPr>
          <p:cNvPr id="3" name="Content Placeholder 2">
            <a:extLst>
              <a:ext uri="{FF2B5EF4-FFF2-40B4-BE49-F238E27FC236}">
                <a16:creationId xmlns:a16="http://schemas.microsoft.com/office/drawing/2014/main" id="{C6D985D9-D778-4C1B-813E-310E046BCFCF}"/>
              </a:ext>
            </a:extLst>
          </p:cNvPr>
          <p:cNvSpPr>
            <a:spLocks noGrp="1"/>
          </p:cNvSpPr>
          <p:nvPr>
            <p:ph idx="1"/>
          </p:nvPr>
        </p:nvSpPr>
        <p:spPr/>
        <p:txBody>
          <a:bodyPr/>
          <a:lstStyle/>
          <a:p>
            <a:r>
              <a:rPr lang="en-US" dirty="0"/>
              <a:t>Congestion is detected by timeout</a:t>
            </a:r>
          </a:p>
          <a:p>
            <a:r>
              <a:rPr lang="en-US" dirty="0" err="1"/>
              <a:t>ssthresh</a:t>
            </a:r>
            <a:r>
              <a:rPr lang="en-US" dirty="0"/>
              <a:t>=window/2</a:t>
            </a:r>
          </a:p>
          <a:p>
            <a:r>
              <a:rPr lang="en-US" dirty="0" err="1"/>
              <a:t>cwnd</a:t>
            </a:r>
            <a:r>
              <a:rPr lang="en-US" dirty="0"/>
              <a:t>=1</a:t>
            </a:r>
            <a:endParaRPr lang="en-IN" dirty="0"/>
          </a:p>
        </p:txBody>
      </p:sp>
    </p:spTree>
    <p:extLst>
      <p:ext uri="{BB962C8B-B14F-4D97-AF65-F5344CB8AC3E}">
        <p14:creationId xmlns:p14="http://schemas.microsoft.com/office/powerpoint/2010/main" val="2427241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E44B4-F15F-468A-AD20-BEE6EDE304AD}"/>
              </a:ext>
            </a:extLst>
          </p:cNvPr>
          <p:cNvSpPr>
            <a:spLocks noGrp="1"/>
          </p:cNvSpPr>
          <p:nvPr>
            <p:ph type="title"/>
          </p:nvPr>
        </p:nvSpPr>
        <p:spPr/>
        <p:txBody>
          <a:bodyPr/>
          <a:lstStyle/>
          <a:p>
            <a:r>
              <a:rPr lang="en-US" dirty="0"/>
              <a:t>Multiplicative Decrease</a:t>
            </a:r>
            <a:endParaRPr lang="en-IN" dirty="0"/>
          </a:p>
        </p:txBody>
      </p:sp>
      <p:sp>
        <p:nvSpPr>
          <p:cNvPr id="3" name="Content Placeholder 2">
            <a:extLst>
              <a:ext uri="{FF2B5EF4-FFF2-40B4-BE49-F238E27FC236}">
                <a16:creationId xmlns:a16="http://schemas.microsoft.com/office/drawing/2014/main" id="{0F56DBC9-04CE-4E0F-ACD1-BAF2B12D5828}"/>
              </a:ext>
            </a:extLst>
          </p:cNvPr>
          <p:cNvSpPr>
            <a:spLocks noGrp="1"/>
          </p:cNvSpPr>
          <p:nvPr>
            <p:ph idx="1"/>
          </p:nvPr>
        </p:nvSpPr>
        <p:spPr/>
        <p:txBody>
          <a:bodyPr/>
          <a:lstStyle/>
          <a:p>
            <a:r>
              <a:rPr lang="en-US" dirty="0"/>
              <a:t>Congestion is detected by 3 dup Acks</a:t>
            </a:r>
          </a:p>
          <a:p>
            <a:r>
              <a:rPr lang="en-US" dirty="0" err="1"/>
              <a:t>ssthresh</a:t>
            </a:r>
            <a:r>
              <a:rPr lang="en-US" dirty="0"/>
              <a:t>=window/2</a:t>
            </a:r>
          </a:p>
          <a:p>
            <a:r>
              <a:rPr lang="en-US" dirty="0" err="1"/>
              <a:t>cwnd</a:t>
            </a:r>
            <a:r>
              <a:rPr lang="en-US" dirty="0"/>
              <a:t>=</a:t>
            </a:r>
            <a:r>
              <a:rPr lang="en-US" dirty="0" err="1"/>
              <a:t>ssthresh</a:t>
            </a:r>
            <a:endParaRPr lang="en-IN" dirty="0"/>
          </a:p>
        </p:txBody>
      </p:sp>
    </p:spTree>
    <p:extLst>
      <p:ext uri="{BB962C8B-B14F-4D97-AF65-F5344CB8AC3E}">
        <p14:creationId xmlns:p14="http://schemas.microsoft.com/office/powerpoint/2010/main" val="3800503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頁尾版面配置區 1">
            <a:extLst>
              <a:ext uri="{FF2B5EF4-FFF2-40B4-BE49-F238E27FC236}">
                <a16:creationId xmlns:a16="http://schemas.microsoft.com/office/drawing/2014/main" id="{654AC93C-5771-4CD6-8A0D-4400B431C0BE}"/>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a:t>TCP/IP Protocol Suite</a:t>
            </a:r>
          </a:p>
        </p:txBody>
      </p:sp>
      <p:sp>
        <p:nvSpPr>
          <p:cNvPr id="172035" name="投影片編號版面配置區 2">
            <a:extLst>
              <a:ext uri="{FF2B5EF4-FFF2-40B4-BE49-F238E27FC236}">
                <a16:creationId xmlns:a16="http://schemas.microsoft.com/office/drawing/2014/main" id="{E2CB6336-C44F-48E0-8C01-79C4F8B01925}"/>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56681E86-212B-4DE7-8296-2D968FFFFAB9}" type="slidenum">
              <a:rPr lang="en-US" altLang="zh-TW" b="0"/>
              <a:pPr/>
              <a:t>28</a:t>
            </a:fld>
            <a:endParaRPr lang="en-US" altLang="zh-TW" b="0"/>
          </a:p>
        </p:txBody>
      </p:sp>
      <p:sp>
        <p:nvSpPr>
          <p:cNvPr id="172036" name="Text Box 2">
            <a:extLst>
              <a:ext uri="{FF2B5EF4-FFF2-40B4-BE49-F238E27FC236}">
                <a16:creationId xmlns:a16="http://schemas.microsoft.com/office/drawing/2014/main" id="{F4257257-3F7F-4F6E-A3B3-1BF315FB47E7}"/>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i="1" dirty="0">
                <a:latin typeface="Times New Roman" panose="02020603050405020304" pitchFamily="18" charset="0"/>
              </a:rPr>
              <a:t>TCP Congestion policy summary</a:t>
            </a:r>
          </a:p>
        </p:txBody>
      </p:sp>
      <p:sp>
        <p:nvSpPr>
          <p:cNvPr id="172037" name="Rectangle 3">
            <a:extLst>
              <a:ext uri="{FF2B5EF4-FFF2-40B4-BE49-F238E27FC236}">
                <a16:creationId xmlns:a16="http://schemas.microsoft.com/office/drawing/2014/main" id="{AAD3C07E-9105-4F23-9CAD-74E187EA20E6}"/>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2038" name="Rectangle 4">
            <a:extLst>
              <a:ext uri="{FF2B5EF4-FFF2-40B4-BE49-F238E27FC236}">
                <a16:creationId xmlns:a16="http://schemas.microsoft.com/office/drawing/2014/main" id="{88F32646-482F-4AB0-868D-D193D03CEBB0}"/>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2039" name="Rectangle 5">
            <a:extLst>
              <a:ext uri="{FF2B5EF4-FFF2-40B4-BE49-F238E27FC236}">
                <a16:creationId xmlns:a16="http://schemas.microsoft.com/office/drawing/2014/main" id="{899EFBE4-0443-40CB-9179-A114138C3551}"/>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2040" name="Rectangle 6">
            <a:extLst>
              <a:ext uri="{FF2B5EF4-FFF2-40B4-BE49-F238E27FC236}">
                <a16:creationId xmlns:a16="http://schemas.microsoft.com/office/drawing/2014/main" id="{8E44FCAC-91BD-403E-92DD-A7A731AAE64B}"/>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2041" name="Rectangle 7">
            <a:extLst>
              <a:ext uri="{FF2B5EF4-FFF2-40B4-BE49-F238E27FC236}">
                <a16:creationId xmlns:a16="http://schemas.microsoft.com/office/drawing/2014/main" id="{7D0E1C01-BC3B-42CB-BB1D-11C7C62E7883}"/>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2042" name="Rectangle 8">
            <a:extLst>
              <a:ext uri="{FF2B5EF4-FFF2-40B4-BE49-F238E27FC236}">
                <a16:creationId xmlns:a16="http://schemas.microsoft.com/office/drawing/2014/main" id="{151A8971-B501-4409-BC98-3574EE43BF95}"/>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2043" name="Rectangle 9">
            <a:extLst>
              <a:ext uri="{FF2B5EF4-FFF2-40B4-BE49-F238E27FC236}">
                <a16:creationId xmlns:a16="http://schemas.microsoft.com/office/drawing/2014/main" id="{73E5BAE4-98E7-4CCD-91A0-EC9E90444199}"/>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pic>
        <p:nvPicPr>
          <p:cNvPr id="172044" name="Picture 10">
            <a:extLst>
              <a:ext uri="{FF2B5EF4-FFF2-40B4-BE49-F238E27FC236}">
                <a16:creationId xmlns:a16="http://schemas.microsoft.com/office/drawing/2014/main" id="{F71B5BCC-E566-41EA-88CE-BF6A66EA67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1588" y="1539876"/>
            <a:ext cx="7212012" cy="432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頁尾版面配置區 1">
            <a:extLst>
              <a:ext uri="{FF2B5EF4-FFF2-40B4-BE49-F238E27FC236}">
                <a16:creationId xmlns:a16="http://schemas.microsoft.com/office/drawing/2014/main" id="{912B9E43-5729-4643-BBF0-86C8A7DA7637}"/>
              </a:ext>
            </a:extLst>
          </p:cNvPr>
          <p:cNvSpPr>
            <a:spLocks noGrp="1"/>
          </p:cNvSpPr>
          <p:nvPr>
            <p:ph type="ftr" sz="quarter" idx="10"/>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zh-TW"/>
              <a:t>TCP/IP Protocol Suite</a:t>
            </a:r>
          </a:p>
        </p:txBody>
      </p:sp>
      <p:sp>
        <p:nvSpPr>
          <p:cNvPr id="174083" name="投影片編號版面配置區 2">
            <a:extLst>
              <a:ext uri="{FF2B5EF4-FFF2-40B4-BE49-F238E27FC236}">
                <a16:creationId xmlns:a16="http://schemas.microsoft.com/office/drawing/2014/main" id="{C152B059-7515-4AFF-9C7F-A1E8A1168259}"/>
              </a:ext>
            </a:extLst>
          </p:cNvPr>
          <p:cNvSpPr>
            <a:spLocks noGrp="1"/>
          </p:cNvSpPr>
          <p:nvPr>
            <p:ph type="sldNum" sz="quarter" idx="11"/>
          </p:nvPr>
        </p:nvSpPr>
        <p:spPr>
          <a:noFill/>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77B655D-C6A7-4056-8B32-33AF47912393}" type="slidenum">
              <a:rPr lang="en-US" altLang="zh-TW" b="0"/>
              <a:pPr/>
              <a:t>29</a:t>
            </a:fld>
            <a:endParaRPr lang="en-US" altLang="zh-TW" b="0"/>
          </a:p>
        </p:txBody>
      </p:sp>
      <p:sp>
        <p:nvSpPr>
          <p:cNvPr id="174084" name="Text Box 2">
            <a:extLst>
              <a:ext uri="{FF2B5EF4-FFF2-40B4-BE49-F238E27FC236}">
                <a16:creationId xmlns:a16="http://schemas.microsoft.com/office/drawing/2014/main" id="{CBA14C2E-A8E9-44B7-8C60-2694180BA259}"/>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15.37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Congestion example</a:t>
            </a:r>
          </a:p>
        </p:txBody>
      </p:sp>
      <p:sp>
        <p:nvSpPr>
          <p:cNvPr id="174085" name="Rectangle 3">
            <a:extLst>
              <a:ext uri="{FF2B5EF4-FFF2-40B4-BE49-F238E27FC236}">
                <a16:creationId xmlns:a16="http://schemas.microsoft.com/office/drawing/2014/main" id="{44A7CA23-5808-4043-8DCC-B47891DC527C}"/>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4086" name="Rectangle 4">
            <a:extLst>
              <a:ext uri="{FF2B5EF4-FFF2-40B4-BE49-F238E27FC236}">
                <a16:creationId xmlns:a16="http://schemas.microsoft.com/office/drawing/2014/main" id="{63903874-7A18-4930-870B-FAC62A73BA60}"/>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4087" name="Rectangle 5">
            <a:extLst>
              <a:ext uri="{FF2B5EF4-FFF2-40B4-BE49-F238E27FC236}">
                <a16:creationId xmlns:a16="http://schemas.microsoft.com/office/drawing/2014/main" id="{921B899D-947F-46C4-AB14-52B2C63B5D2E}"/>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4088" name="Rectangle 6">
            <a:extLst>
              <a:ext uri="{FF2B5EF4-FFF2-40B4-BE49-F238E27FC236}">
                <a16:creationId xmlns:a16="http://schemas.microsoft.com/office/drawing/2014/main" id="{404DCA4A-C2BD-4AB7-8A3D-9748A1A9FE97}"/>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4089" name="Rectangle 7">
            <a:extLst>
              <a:ext uri="{FF2B5EF4-FFF2-40B4-BE49-F238E27FC236}">
                <a16:creationId xmlns:a16="http://schemas.microsoft.com/office/drawing/2014/main" id="{715E906D-617F-41A4-AB05-7399D302A4E6}"/>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4090" name="Rectangle 8">
            <a:extLst>
              <a:ext uri="{FF2B5EF4-FFF2-40B4-BE49-F238E27FC236}">
                <a16:creationId xmlns:a16="http://schemas.microsoft.com/office/drawing/2014/main" id="{FF0316B1-6576-4433-B191-760832776A3E}"/>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sp>
        <p:nvSpPr>
          <p:cNvPr id="174091" name="Rectangle 9">
            <a:extLst>
              <a:ext uri="{FF2B5EF4-FFF2-40B4-BE49-F238E27FC236}">
                <a16:creationId xmlns:a16="http://schemas.microsoft.com/office/drawing/2014/main" id="{1D994293-0F76-4AD5-985B-D6E288B4E86F}"/>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zh-TW" altLang="zh-TW" sz="2400" b="0">
              <a:ea typeface="新細明體" panose="02020500000000000000" pitchFamily="18" charset="-120"/>
            </a:endParaRPr>
          </a:p>
        </p:txBody>
      </p:sp>
      <p:pic>
        <p:nvPicPr>
          <p:cNvPr id="174092" name="Picture 10">
            <a:extLst>
              <a:ext uri="{FF2B5EF4-FFF2-40B4-BE49-F238E27FC236}">
                <a16:creationId xmlns:a16="http://schemas.microsoft.com/office/drawing/2014/main" id="{A57FAAC8-EE26-4ABC-AC09-B06A8CEAB1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2664" y="1528764"/>
            <a:ext cx="7805737" cy="357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1122</Words>
  <Application>Microsoft Office PowerPoint</Application>
  <PresentationFormat>Widescreen</PresentationFormat>
  <Paragraphs>147</Paragraphs>
  <Slides>29</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Arial Unicode MS</vt:lpstr>
      <vt:lpstr>Calibri</vt:lpstr>
      <vt:lpstr>Calibri Light</vt:lpstr>
      <vt:lpstr>Tahoma</vt:lpstr>
      <vt:lpstr>Times</vt:lpstr>
      <vt:lpstr>Times New Roman</vt:lpstr>
      <vt:lpstr>Office Theme</vt:lpstr>
      <vt:lpstr>COMPUTER NETWORKS (BCSC 0008)</vt:lpstr>
      <vt:lpstr> Text and Reference Books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Congestion Control Introduction:</vt:lpstr>
      <vt:lpstr>PowerPoint Presentation</vt:lpstr>
      <vt:lpstr>PowerPoint Presentation</vt:lpstr>
      <vt:lpstr>Congestion Control in TCP</vt:lpstr>
      <vt:lpstr>PowerPoint Presentation</vt:lpstr>
      <vt:lpstr>PowerPoint Presentation</vt:lpstr>
      <vt:lpstr>What will happen reaches to threshold</vt:lpstr>
      <vt:lpstr>PowerPoint Presentation</vt:lpstr>
      <vt:lpstr>PowerPoint Presentation</vt:lpstr>
      <vt:lpstr>What will happen reaches to threshold</vt:lpstr>
      <vt:lpstr>Multiplicative Decrease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(BCSC 0008)</dc:title>
  <dc:creator>shabir ali</dc:creator>
  <cp:lastModifiedBy>shabir ali</cp:lastModifiedBy>
  <cp:revision>25</cp:revision>
  <dcterms:created xsi:type="dcterms:W3CDTF">2020-11-26T06:05:43Z</dcterms:created>
  <dcterms:modified xsi:type="dcterms:W3CDTF">2020-12-03T10:22:45Z</dcterms:modified>
</cp:coreProperties>
</file>