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7" r:id="rId2"/>
    <p:sldId id="265" r:id="rId3"/>
    <p:sldId id="275" r:id="rId4"/>
    <p:sldId id="276" r:id="rId5"/>
    <p:sldId id="277" r:id="rId6"/>
    <p:sldId id="278" r:id="rId7"/>
    <p:sldId id="279" r:id="rId8"/>
    <p:sldId id="286" r:id="rId9"/>
    <p:sldId id="287" r:id="rId10"/>
    <p:sldId id="280" r:id="rId11"/>
    <p:sldId id="281" r:id="rId12"/>
    <p:sldId id="282" r:id="rId13"/>
    <p:sldId id="283" r:id="rId14"/>
    <p:sldId id="284" r:id="rId15"/>
    <p:sldId id="881" r:id="rId16"/>
    <p:sldId id="885" r:id="rId17"/>
    <p:sldId id="886" r:id="rId18"/>
    <p:sldId id="865" r:id="rId19"/>
    <p:sldId id="266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EAFD10-35F9-46FC-AA1C-DC3D754965D0}" type="datetimeFigureOut">
              <a:rPr lang="en-US" smtClean="0"/>
              <a:t>10/28/2020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21B635-DF0C-4867-819B-7BCA50709D8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003093D-906D-4A92-AA13-ADF851D8D4F4}" type="slidenum">
              <a:rPr lang="en-US"/>
              <a:pPr/>
              <a:t>4</a:t>
            </a:fld>
            <a:endParaRPr lang="en-US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CB1477A-8254-4664-98C1-16C7D3FF2025}" type="slidenum">
              <a:rPr lang="en-US"/>
              <a:pPr/>
              <a:t>10</a:t>
            </a:fld>
            <a:endParaRPr lang="en-US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6D42224-2F99-4D57-9D05-1D2F6F3D17EC}" type="slidenum">
              <a:rPr lang="en-US"/>
              <a:pPr/>
              <a:t>11</a:t>
            </a:fld>
            <a:endParaRPr lang="en-US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B03BCA7-0730-4205-94E5-8DF60B497AB0}" type="slidenum">
              <a:rPr lang="en-US"/>
              <a:pPr/>
              <a:t>12</a:t>
            </a:fld>
            <a:endParaRPr lang="en-US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B5F17DF-5362-49A1-B049-5BE2B8772B99}" type="slidenum">
              <a:rPr lang="en-US"/>
              <a:pPr/>
              <a:t>13</a:t>
            </a:fld>
            <a:endParaRPr lang="en-US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166EE26-2C08-434D-9BB1-707244C1B1F4}" type="slidenum">
              <a:rPr lang="en-US"/>
              <a:pPr/>
              <a:t>14</a:t>
            </a:fld>
            <a:endParaRPr lang="en-US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>
            <a:extLst>
              <a:ext uri="{FF2B5EF4-FFF2-40B4-BE49-F238E27FC236}">
                <a16:creationId xmlns:a16="http://schemas.microsoft.com/office/drawing/2014/main" id="{785DFAA5-9E23-4BF6-849F-7659652D24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91E1970-1DA7-4D54-909A-232C662A0265}" type="slidenum">
              <a:rPr lang="en-US" altLang="en-US" sz="1200" b="0" baseline="0">
                <a:latin typeface="Times New Roman" panose="02020603050405020304" pitchFamily="18" charset="0"/>
              </a:rPr>
              <a:pPr/>
              <a:t>15</a:t>
            </a:fld>
            <a:endParaRPr lang="en-US" altLang="en-US" sz="1200" b="0" baseline="0">
              <a:latin typeface="Times New Roman" panose="02020603050405020304" pitchFamily="18" charset="0"/>
            </a:endParaRPr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CAF29608-A1A0-4B88-A016-A3661E89E0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C177C31E-26B7-4D15-8AFE-D1BCFC5CAE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8FC193F2-51E4-4778-8CE2-4CD6ACCA66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C82606E-48B1-4CF6-8587-4F2EE47BEE75}" type="slidenum">
              <a:rPr lang="en-US" altLang="en-US" sz="1200" b="0" baseline="0">
                <a:latin typeface="Times New Roman" panose="02020603050405020304" pitchFamily="18" charset="0"/>
              </a:rPr>
              <a:pPr/>
              <a:t>16</a:t>
            </a:fld>
            <a:endParaRPr lang="en-US" altLang="en-US" sz="1200" b="0" baseline="0">
              <a:latin typeface="Times New Roman" panose="02020603050405020304" pitchFamily="18" charset="0"/>
            </a:endParaRPr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03541D79-9495-41A9-B3EE-E7CE2C1661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CA0DCAF2-2DD3-49A9-B5BF-BE7DB7C8E9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>
            <a:extLst>
              <a:ext uri="{FF2B5EF4-FFF2-40B4-BE49-F238E27FC236}">
                <a16:creationId xmlns:a16="http://schemas.microsoft.com/office/drawing/2014/main" id="{647EE717-333D-496B-AB8F-2DFF8BF2A6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9A269D0-ABEA-4295-86C3-F2F022F27094}" type="slidenum">
              <a:rPr lang="en-US" altLang="en-US" sz="1200" b="0" baseline="0">
                <a:latin typeface="Times New Roman" panose="02020603050405020304" pitchFamily="18" charset="0"/>
              </a:rPr>
              <a:pPr/>
              <a:t>17</a:t>
            </a:fld>
            <a:endParaRPr lang="en-US" altLang="en-US" sz="1200" b="0" baseline="0">
              <a:latin typeface="Times New Roman" panose="02020603050405020304" pitchFamily="18" charset="0"/>
            </a:endParaRPr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F36F1978-F8E8-41F3-A244-451F1C3590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38F4EAC5-F89B-420B-9C27-881D2ADAAF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A6AAD63F-F445-47DF-9EA8-0037D1C9BCE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879F674-100C-4E1F-95CF-7309CCE740D0}" type="slidenum">
              <a:rPr lang="en-US" altLang="en-US" sz="1200" b="0" baseline="0">
                <a:latin typeface="Times New Roman" panose="02020603050405020304" pitchFamily="18" charset="0"/>
              </a:rPr>
              <a:pPr/>
              <a:t>18</a:t>
            </a:fld>
            <a:endParaRPr lang="en-US" altLang="en-US" sz="1200" b="0" baseline="0">
              <a:latin typeface="Times New Roman" panose="02020603050405020304" pitchFamily="18" charset="0"/>
            </a:endParaRPr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1EF3944D-B1E1-4F33-B9A6-10F4C97E01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4998CA72-D494-4792-84DB-F4F37BAEAC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01E2-8D39-4AFB-8F6F-F93A2B014B15}" type="datetimeFigureOut">
              <a:rPr lang="en-US" smtClean="0"/>
              <a:pPr/>
              <a:t>10/28/2020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712E-CF77-4A4D-A906-4C104513DB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01E2-8D39-4AFB-8F6F-F93A2B014B15}" type="datetimeFigureOut">
              <a:rPr lang="en-US" smtClean="0"/>
              <a:pPr/>
              <a:t>10/28/2020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712E-CF77-4A4D-A906-4C104513DB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01E2-8D39-4AFB-8F6F-F93A2B014B15}" type="datetimeFigureOut">
              <a:rPr lang="en-US" smtClean="0"/>
              <a:pPr/>
              <a:t>10/28/2020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712E-CF77-4A4D-A906-4C104513DB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01E2-8D39-4AFB-8F6F-F93A2B014B15}" type="datetimeFigureOut">
              <a:rPr lang="en-US" smtClean="0"/>
              <a:pPr/>
              <a:t>10/28/2020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712E-CF77-4A4D-A906-4C104513DB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01E2-8D39-4AFB-8F6F-F93A2B014B15}" type="datetimeFigureOut">
              <a:rPr lang="en-US" smtClean="0"/>
              <a:pPr/>
              <a:t>10/28/2020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712E-CF77-4A4D-A906-4C104513DB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01E2-8D39-4AFB-8F6F-F93A2B014B15}" type="datetimeFigureOut">
              <a:rPr lang="en-US" smtClean="0"/>
              <a:pPr/>
              <a:t>10/28/2020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712E-CF77-4A4D-A906-4C104513DB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01E2-8D39-4AFB-8F6F-F93A2B014B15}" type="datetimeFigureOut">
              <a:rPr lang="en-US" smtClean="0"/>
              <a:pPr/>
              <a:t>10/28/2020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712E-CF77-4A4D-A906-4C104513DB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01E2-8D39-4AFB-8F6F-F93A2B014B15}" type="datetimeFigureOut">
              <a:rPr lang="en-US" smtClean="0"/>
              <a:pPr/>
              <a:t>10/28/2020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712E-CF77-4A4D-A906-4C104513DB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01E2-8D39-4AFB-8F6F-F93A2B014B15}" type="datetimeFigureOut">
              <a:rPr lang="en-US" smtClean="0"/>
              <a:pPr/>
              <a:t>10/28/2020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712E-CF77-4A4D-A906-4C104513DB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01E2-8D39-4AFB-8F6F-F93A2B014B15}" type="datetimeFigureOut">
              <a:rPr lang="en-US" smtClean="0"/>
              <a:pPr/>
              <a:t>10/28/2020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712E-CF77-4A4D-A906-4C104513DB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01E2-8D39-4AFB-8F6F-F93A2B014B15}" type="datetimeFigureOut">
              <a:rPr lang="en-US" smtClean="0"/>
              <a:pPr/>
              <a:t>10/28/2020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712E-CF77-4A4D-A906-4C104513DB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4C01E2-8D39-4AFB-8F6F-F93A2B014B15}" type="datetimeFigureOut">
              <a:rPr lang="en-US" smtClean="0"/>
              <a:pPr/>
              <a:t>10/28/2020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C7712E-CF77-4A4D-A906-4C104513DB7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200400"/>
            <a:ext cx="7772400" cy="1676400"/>
          </a:xfrm>
        </p:spPr>
        <p:txBody>
          <a:bodyPr>
            <a:normAutofit/>
          </a:bodyPr>
          <a:lstStyle/>
          <a:p>
            <a:pPr algn="ctr"/>
            <a:r>
              <a:rPr lang="en-US" b="1" u="none" dirty="0"/>
              <a:t>COMPUTER NETWORKS</a:t>
            </a:r>
            <a:br>
              <a:rPr lang="en-US" b="1" u="none" dirty="0"/>
            </a:br>
            <a:r>
              <a:rPr lang="en-US" b="1" u="none" dirty="0"/>
              <a:t>(</a:t>
            </a:r>
            <a:r>
              <a:rPr lang="en-US" b="1" dirty="0"/>
              <a:t>BCSC 0008)</a:t>
            </a:r>
            <a:endParaRPr lang="en-US" b="1" u="non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1-</a:t>
            </a:r>
            <a:fld id="{99D27633-06CE-45E1-87B8-65ED130BB8BF}" type="slidenum">
              <a:rPr lang="en-US" altLang="zh-TW" smtClean="0"/>
              <a:pPr/>
              <a:t>1</a:t>
            </a:fld>
            <a:endParaRPr lang="en-US" altLang="zh-TW" dirty="0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66800" y="6356350"/>
            <a:ext cx="678180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Lecture Presented by: Prof. Diwakar Bharadwaj, Dr. Shabir Ali, Mr. Akhilesh Kumar Singh </a:t>
            </a:r>
            <a:endParaRPr lang="en-US" altLang="zh-TW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81400" y="990600"/>
            <a:ext cx="2065942" cy="21528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Footer Placeholder 5"/>
          <p:cNvSpPr txBox="1">
            <a:spLocks/>
          </p:cNvSpPr>
          <p:nvPr/>
        </p:nvSpPr>
        <p:spPr>
          <a:xfrm>
            <a:off x="1219200" y="4816475"/>
            <a:ext cx="678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/>
                <a:ea typeface="Calibri"/>
                <a:cs typeface="Times New Roman"/>
              </a:rPr>
              <a:t>Copyright</a:t>
            </a:r>
            <a:r>
              <a:rPr kumimoji="0" lang="en-US" sz="12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/>
                <a:ea typeface="Calibri"/>
                <a:cs typeface="Times New Roman"/>
              </a:rPr>
              <a:t> content, </a:t>
            </a:r>
            <a:r>
              <a:rPr lang="en-US" sz="1200" b="1" dirty="0">
                <a:latin typeface="Times New Roman"/>
                <a:ea typeface="Calibri"/>
                <a:cs typeface="Times New Roman"/>
              </a:rPr>
              <a:t>use only with the written permission of presenter mentioned</a:t>
            </a:r>
            <a:endParaRPr kumimoji="0" lang="en-US" altLang="zh-TW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1" name="Footer Placeholder 5"/>
          <p:cNvSpPr txBox="1">
            <a:spLocks/>
          </p:cNvSpPr>
          <p:nvPr/>
        </p:nvSpPr>
        <p:spPr>
          <a:xfrm>
            <a:off x="3352800" y="5410200"/>
            <a:ext cx="2438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/>
                <a:ea typeface="Calibri"/>
                <a:cs typeface="Times New Roman"/>
              </a:rPr>
              <a:t>Lecture 21</a:t>
            </a:r>
            <a:endParaRPr kumimoji="0" lang="en-US" altLang="zh-TW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br>
              <a:rPr lang="en-US" dirty="0"/>
            </a:br>
            <a:r>
              <a:rPr lang="en-US" b="1" dirty="0"/>
              <a:t>Text and Reference Books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buNone/>
            </a:pPr>
            <a:r>
              <a:rPr lang="en-US" sz="2400" dirty="0">
                <a:solidFill>
                  <a:srgbClr val="FF0000"/>
                </a:solidFill>
              </a:rPr>
              <a:t>Text Books: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800" dirty="0"/>
              <a:t>Fourouzan B. A. (2004), “Data Communication and Networking”, 4th Edition, McGraw-Hill.</a:t>
            </a:r>
          </a:p>
          <a:p>
            <a:pPr algn="just"/>
            <a:endParaRPr lang="en-US" sz="2400" dirty="0"/>
          </a:p>
          <a:p>
            <a:pPr algn="just">
              <a:buNone/>
            </a:pPr>
            <a:r>
              <a:rPr lang="en-US" sz="2400" dirty="0">
                <a:solidFill>
                  <a:srgbClr val="FF0000"/>
                </a:solidFill>
              </a:rPr>
              <a:t>References: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800" dirty="0"/>
              <a:t>Kurose, J. F. and Ross K. W. (2005), “Computer Networking: A Top-Down Approach Featuring the Internet”, 3rd Edition, Addison-Wesley.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800" dirty="0"/>
              <a:t>A. S. Tanenbaum (2006), “Computer Networks”, 2nd Edition, Prentice Hall India.</a:t>
            </a:r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66800" y="6356350"/>
            <a:ext cx="678180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Lecture Presented by: Prof. Diwakar Bharadwaj, Mr. Saurabh Anand, Mr. Akhilesh Kumar Singh </a:t>
            </a:r>
            <a:endParaRPr lang="en-US" altLang="zh-TW" dirty="0">
              <a:solidFill>
                <a:schemeClr val="tx1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sz="2800" dirty="0"/>
              <a:t>The IPv4 addresses are unique and universal.</a:t>
            </a:r>
          </a:p>
          <a:p>
            <a:r>
              <a:rPr lang="en-US" sz="2800" dirty="0"/>
              <a:t>An IPv4 address is 32 bits long.</a:t>
            </a:r>
          </a:p>
          <a:p>
            <a:r>
              <a:rPr lang="en-US" sz="2800" dirty="0"/>
              <a:t>The address space of IPv4 is 2</a:t>
            </a:r>
            <a:r>
              <a:rPr lang="en-US" sz="2800" baseline="30000" dirty="0"/>
              <a:t>32</a:t>
            </a:r>
            <a:r>
              <a:rPr lang="en-US" sz="2800" dirty="0"/>
              <a:t> (4,294,967,296)</a:t>
            </a:r>
          </a:p>
          <a:p>
            <a:r>
              <a:rPr lang="en-US" sz="2800" dirty="0"/>
              <a:t>32 bit address is divided into 4 octet ( also known as byte)</a:t>
            </a:r>
          </a:p>
          <a:p>
            <a:r>
              <a:rPr lang="en-US" sz="2800" dirty="0"/>
              <a:t>To connect on internet each device requires a unique IP address</a:t>
            </a:r>
          </a:p>
          <a:p>
            <a:endParaRPr lang="en-US" sz="28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143000" y="274638"/>
            <a:ext cx="7791450" cy="1143000"/>
          </a:xfrm>
        </p:spPr>
        <p:txBody>
          <a:bodyPr/>
          <a:lstStyle/>
          <a:p>
            <a:pPr>
              <a:defRPr/>
            </a:pPr>
            <a:r>
              <a:rPr lang="en-US" b="1" u="sng" dirty="0"/>
              <a:t>Classes and Blocks</a:t>
            </a:r>
          </a:p>
        </p:txBody>
      </p:sp>
      <p:sp>
        <p:nvSpPr>
          <p:cNvPr id="16386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19.</a:t>
            </a:r>
            <a:fld id="{418770DC-BC19-49ED-8830-492D63FC381F}" type="slidenum">
              <a:rPr lang="en-US"/>
              <a:pPr/>
              <a:t>4</a:t>
            </a:fld>
            <a:endParaRPr lang="en-US"/>
          </a:p>
        </p:txBody>
      </p:sp>
      <p:sp>
        <p:nvSpPr>
          <p:cNvPr id="22532" name="Text Placeholder 10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sz="2800"/>
              <a:t>The classful addressing wastes a large part of the address space.</a:t>
            </a:r>
          </a:p>
          <a:p>
            <a:pPr lvl="1"/>
            <a:r>
              <a:rPr lang="en-US" sz="2400"/>
              <a:t>Class A:</a:t>
            </a:r>
          </a:p>
          <a:p>
            <a:pPr lvl="1"/>
            <a:r>
              <a:rPr lang="en-US" sz="2400"/>
              <a:t>Class B:</a:t>
            </a:r>
          </a:p>
          <a:p>
            <a:pPr lvl="1"/>
            <a:r>
              <a:rPr lang="en-US" sz="2400"/>
              <a:t>Class C: </a:t>
            </a:r>
          </a:p>
          <a:p>
            <a:pPr lvl="1"/>
            <a:r>
              <a:rPr lang="en-US" sz="2400"/>
              <a:t>Class D: </a:t>
            </a:r>
          </a:p>
        </p:txBody>
      </p:sp>
      <p:pic>
        <p:nvPicPr>
          <p:cNvPr id="22533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6800" y="4267200"/>
            <a:ext cx="7874000" cy="2309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u="sng" dirty="0"/>
              <a:t>Structure of IPv4 Address</a:t>
            </a:r>
          </a:p>
        </p:txBody>
      </p:sp>
      <p:sp>
        <p:nvSpPr>
          <p:cNvPr id="23555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Consists of Net ID and Host ID. 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Mask</a:t>
            </a:r>
          </a:p>
          <a:p>
            <a:pPr lvl="1"/>
            <a:r>
              <a:rPr lang="en-US"/>
              <a:t>32-bit number of contiguous 1’s followed by contiguous 0’s.  </a:t>
            </a:r>
          </a:p>
          <a:p>
            <a:pPr lvl="1"/>
            <a:r>
              <a:rPr lang="en-US"/>
              <a:t>To help to find the net ID and the host ID.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19.</a:t>
            </a:r>
            <a:fld id="{3FB08E67-5FA4-41D0-A579-CFEE1BBFF580}" type="slidenum">
              <a:rPr lang="en-US"/>
              <a:pPr/>
              <a:t>5</a:t>
            </a:fld>
            <a:endParaRPr lang="en-US"/>
          </a:p>
        </p:txBody>
      </p:sp>
      <p:pic>
        <p:nvPicPr>
          <p:cNvPr id="23557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76400" y="2209800"/>
            <a:ext cx="6858000" cy="1339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u="sng" dirty="0"/>
              <a:t>Use of IPv4 Address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Subnetting</a:t>
            </a:r>
          </a:p>
          <a:p>
            <a:pPr lvl="1"/>
            <a:r>
              <a:rPr lang="en-US"/>
              <a:t>Divide a large address block into smaller sub-groups.</a:t>
            </a:r>
          </a:p>
          <a:p>
            <a:pPr lvl="1"/>
            <a:r>
              <a:rPr lang="en-US"/>
              <a:t>Use of flexible net mask.  </a:t>
            </a:r>
          </a:p>
          <a:p>
            <a:r>
              <a:rPr lang="en-US"/>
              <a:t>Supernetting</a:t>
            </a:r>
          </a:p>
          <a:p>
            <a:pPr lvl="1"/>
            <a:r>
              <a:rPr lang="en-US"/>
              <a:t>Exhausted class A and B address space</a:t>
            </a:r>
          </a:p>
          <a:p>
            <a:pPr lvl="1"/>
            <a:r>
              <a:rPr lang="en-US"/>
              <a:t>Huge demand for class B address space</a:t>
            </a:r>
          </a:p>
          <a:p>
            <a:pPr lvl="1"/>
            <a:r>
              <a:rPr lang="en-US"/>
              <a:t>To combine several contiguous address spaces into a larger single address space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19.</a:t>
            </a:r>
            <a:fld id="{584607A7-B6A0-482D-9D4C-A29D59017CD4}" type="slidenum">
              <a:rPr lang="en-US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b="1" u="sng" dirty="0"/>
              <a:t>Classless Addressing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50292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sz="2800" dirty="0"/>
              <a:t>To overcome the depletion of address space.</a:t>
            </a:r>
          </a:p>
          <a:p>
            <a:pPr>
              <a:defRPr/>
            </a:pPr>
            <a:r>
              <a:rPr lang="en-US" sz="2800" dirty="0"/>
              <a:t>Restriction</a:t>
            </a:r>
          </a:p>
          <a:p>
            <a:pPr lvl="1">
              <a:defRPr/>
            </a:pPr>
            <a:r>
              <a:rPr lang="en-US" dirty="0"/>
              <a:t>The addresses in a block must be contiguous.</a:t>
            </a:r>
          </a:p>
          <a:p>
            <a:pPr lvl="1">
              <a:defRPr/>
            </a:pPr>
            <a:r>
              <a:rPr lang="en-US" dirty="0"/>
              <a:t>The number of addresses in a block must be a power of 2.</a:t>
            </a:r>
          </a:p>
          <a:p>
            <a:pPr lvl="1">
              <a:defRPr/>
            </a:pPr>
            <a:r>
              <a:rPr lang="en-US" dirty="0"/>
              <a:t>The first address must be evenly divisible by the number of address.</a:t>
            </a:r>
          </a:p>
          <a:p>
            <a:pPr>
              <a:defRPr/>
            </a:pPr>
            <a:r>
              <a:rPr lang="en-US" sz="2800" dirty="0"/>
              <a:t>Mask</a:t>
            </a:r>
          </a:p>
          <a:p>
            <a:pPr lvl="1">
              <a:defRPr/>
            </a:pPr>
            <a:r>
              <a:rPr lang="en-US" dirty="0"/>
              <a:t>Consists of </a:t>
            </a:r>
            <a:r>
              <a:rPr lang="en-US" i="1" dirty="0"/>
              <a:t>n</a:t>
            </a:r>
            <a:r>
              <a:rPr lang="en-US" dirty="0"/>
              <a:t> consecutive 1’s followed by zeros.</a:t>
            </a:r>
          </a:p>
          <a:p>
            <a:pPr lvl="1">
              <a:defRPr/>
            </a:pPr>
            <a:r>
              <a:rPr lang="en-US" i="1" dirty="0"/>
              <a:t>n</a:t>
            </a:r>
            <a:r>
              <a:rPr lang="en-US" dirty="0"/>
              <a:t> can be any number b/w 0 and 32.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19.</a:t>
            </a:r>
            <a:fld id="{1988891B-5536-4679-A831-AE56EBCE6014}" type="slidenum">
              <a:rPr lang="en-US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b="1" u="sng" dirty="0"/>
              <a:t>Classless Addressing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638800"/>
          </a:xfrm>
        </p:spPr>
        <p:txBody>
          <a:bodyPr>
            <a:noAutofit/>
          </a:bodyPr>
          <a:lstStyle/>
          <a:p>
            <a:pPr algn="just">
              <a:defRPr/>
            </a:pPr>
            <a:r>
              <a:rPr lang="en-US" sz="2800" dirty="0"/>
              <a:t>Tips:</a:t>
            </a:r>
          </a:p>
          <a:p>
            <a:pPr lvl="1" algn="just">
              <a:defRPr/>
            </a:pPr>
            <a:r>
              <a:rPr lang="en-US" dirty="0"/>
              <a:t>In IPv4 addressing, a block of addresses can be defined as </a:t>
            </a:r>
            <a:r>
              <a:rPr lang="en-US" dirty="0" err="1"/>
              <a:t>x.y.z.t</a:t>
            </a:r>
            <a:r>
              <a:rPr lang="en-US" dirty="0"/>
              <a:t> /n, in which </a:t>
            </a:r>
            <a:r>
              <a:rPr lang="en-US" dirty="0" err="1"/>
              <a:t>x.y.z.t</a:t>
            </a:r>
            <a:r>
              <a:rPr lang="en-US" dirty="0"/>
              <a:t> defines one of the addresses and the /n defines the mask.</a:t>
            </a:r>
          </a:p>
          <a:p>
            <a:pPr lvl="1" algn="just">
              <a:defRPr/>
            </a:pPr>
            <a:r>
              <a:rPr lang="en-US" dirty="0"/>
              <a:t>The first address in the block can be found by setting the rightmost 32 − n bits to 0s.</a:t>
            </a:r>
          </a:p>
          <a:p>
            <a:pPr lvl="1" algn="just">
              <a:defRPr/>
            </a:pPr>
            <a:r>
              <a:rPr lang="en-US" dirty="0"/>
              <a:t>The last address in the block can be found by setting the rightmost 32 − n bits to 1s.</a:t>
            </a:r>
          </a:p>
          <a:p>
            <a:pPr lvl="1" algn="just">
              <a:defRPr/>
            </a:pPr>
            <a:r>
              <a:rPr lang="en-US" dirty="0"/>
              <a:t>The number of addresses in the block can be found by using the formula </a:t>
            </a:r>
            <a:br>
              <a:rPr lang="en-US" dirty="0"/>
            </a:br>
            <a:r>
              <a:rPr lang="en-US" dirty="0"/>
              <a:t>2</a:t>
            </a:r>
            <a:r>
              <a:rPr lang="en-US" baseline="30000" dirty="0"/>
              <a:t>32−n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19.</a:t>
            </a:r>
            <a:fld id="{1988891B-5536-4679-A831-AE56EBCE6014}" type="slidenum">
              <a:rPr lang="en-US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/>
          <p:cNvSpPr>
            <a:spLocks noChangeArrowheads="1"/>
          </p:cNvSpPr>
          <p:nvPr/>
        </p:nvSpPr>
        <p:spPr bwMode="auto">
          <a:xfrm>
            <a:off x="457200" y="341293"/>
            <a:ext cx="8077200" cy="954107"/>
          </a:xfrm>
          <a:prstGeom prst="rect">
            <a:avLst/>
          </a:prstGeom>
          <a:solidFill>
            <a:srgbClr val="99FF33"/>
          </a:solidFill>
          <a:ln w="762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800" b="1" baseline="0" dirty="0"/>
              <a:t>Classful addressing, which is almost obsolete, is replaced with classless addressing.</a:t>
            </a:r>
          </a:p>
        </p:txBody>
      </p:sp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457200" y="1371600"/>
            <a:ext cx="8077200" cy="2246769"/>
          </a:xfrm>
          <a:prstGeom prst="rect">
            <a:avLst/>
          </a:prstGeom>
          <a:solidFill>
            <a:srgbClr val="99FF33"/>
          </a:solidFill>
          <a:ln w="762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800" b="1" baseline="0" dirty="0"/>
              <a:t>In IPv4 addressing, a block of </a:t>
            </a:r>
            <a:br>
              <a:rPr lang="en-US" sz="2800" b="1" baseline="0" dirty="0"/>
            </a:br>
            <a:r>
              <a:rPr lang="en-US" sz="2800" b="1" baseline="0" dirty="0"/>
              <a:t>addresses can be defined as</a:t>
            </a:r>
          </a:p>
          <a:p>
            <a:pPr algn="ctr"/>
            <a:r>
              <a:rPr lang="en-US" sz="2800" b="1" baseline="0" dirty="0" err="1"/>
              <a:t>x.y.z.t</a:t>
            </a:r>
            <a:r>
              <a:rPr lang="en-US" sz="2800" b="1" baseline="0" dirty="0"/>
              <a:t> /</a:t>
            </a:r>
            <a:r>
              <a:rPr lang="en-US" sz="2800" b="1" i="1" baseline="0" dirty="0"/>
              <a:t>n</a:t>
            </a:r>
          </a:p>
          <a:p>
            <a:pPr algn="ctr"/>
            <a:r>
              <a:rPr lang="en-US" sz="2800" b="1" baseline="0" dirty="0"/>
              <a:t>in which </a:t>
            </a:r>
            <a:r>
              <a:rPr lang="en-US" sz="2800" b="1" baseline="0" dirty="0" err="1"/>
              <a:t>x.y.z.t</a:t>
            </a:r>
            <a:r>
              <a:rPr lang="en-US" sz="2800" b="1" baseline="0" dirty="0"/>
              <a:t> defines one of the addresses and the /</a:t>
            </a:r>
            <a:r>
              <a:rPr lang="en-US" sz="2800" b="1" i="1" baseline="0" dirty="0"/>
              <a:t>n</a:t>
            </a:r>
            <a:r>
              <a:rPr lang="en-US" sz="2800" b="1" baseline="0" dirty="0"/>
              <a:t> defines the mask.</a:t>
            </a:r>
          </a:p>
        </p:txBody>
      </p:sp>
      <p:sp>
        <p:nvSpPr>
          <p:cNvPr id="5" name="Rectangle 11"/>
          <p:cNvSpPr>
            <a:spLocks noChangeArrowheads="1"/>
          </p:cNvSpPr>
          <p:nvPr/>
        </p:nvSpPr>
        <p:spPr bwMode="auto">
          <a:xfrm>
            <a:off x="457200" y="3657600"/>
            <a:ext cx="8077200" cy="830997"/>
          </a:xfrm>
          <a:prstGeom prst="rect">
            <a:avLst/>
          </a:prstGeom>
          <a:solidFill>
            <a:srgbClr val="99FF33"/>
          </a:solidFill>
          <a:ln w="762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 b="1" baseline="0" dirty="0"/>
              <a:t>The first address in the block can be found by setting the rightmost  32 − </a:t>
            </a:r>
            <a:r>
              <a:rPr lang="en-US" sz="2400" b="1" i="1" baseline="0" dirty="0"/>
              <a:t>n</a:t>
            </a:r>
            <a:r>
              <a:rPr lang="en-US" sz="2400" b="1" baseline="0" dirty="0"/>
              <a:t> bits to 0s.</a:t>
            </a:r>
          </a:p>
        </p:txBody>
      </p:sp>
      <p:sp>
        <p:nvSpPr>
          <p:cNvPr id="6" name="Rectangle 11"/>
          <p:cNvSpPr>
            <a:spLocks noChangeArrowheads="1"/>
          </p:cNvSpPr>
          <p:nvPr/>
        </p:nvSpPr>
        <p:spPr bwMode="auto">
          <a:xfrm>
            <a:off x="457200" y="4572000"/>
            <a:ext cx="8077200" cy="830997"/>
          </a:xfrm>
          <a:prstGeom prst="rect">
            <a:avLst/>
          </a:prstGeom>
          <a:solidFill>
            <a:srgbClr val="99FF33"/>
          </a:solidFill>
          <a:ln w="762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 b="1" baseline="0" dirty="0"/>
              <a:t>The last address in the block can be found by setting the rightmost  32 − n bits to 1s.</a:t>
            </a:r>
          </a:p>
        </p:txBody>
      </p:sp>
      <p:sp>
        <p:nvSpPr>
          <p:cNvPr id="7" name="Rectangle 11"/>
          <p:cNvSpPr>
            <a:spLocks noChangeArrowheads="1"/>
          </p:cNvSpPr>
          <p:nvPr/>
        </p:nvSpPr>
        <p:spPr bwMode="auto">
          <a:xfrm>
            <a:off x="457200" y="5486400"/>
            <a:ext cx="8077200" cy="830997"/>
          </a:xfrm>
          <a:prstGeom prst="rect">
            <a:avLst/>
          </a:prstGeom>
          <a:solidFill>
            <a:srgbClr val="99FF33"/>
          </a:solidFill>
          <a:ln w="762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 b="1" baseline="0" dirty="0"/>
              <a:t>The number of addresses in the block can be found by using the formula  2</a:t>
            </a:r>
            <a:r>
              <a:rPr lang="en-US" sz="2400" b="1" baseline="30000" dirty="0"/>
              <a:t>32−n</a:t>
            </a:r>
            <a:r>
              <a:rPr lang="en-US" sz="2400" b="1" baseline="0"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19.</a:t>
            </a:r>
            <a:fld id="{A32FF17D-FFAF-4470-872C-ECF56D2F77C3}" type="slidenum">
              <a:rPr lang="en-US"/>
              <a:pPr/>
              <a:t>10</a:t>
            </a:fld>
            <a:endParaRPr lang="en-US"/>
          </a:p>
        </p:txBody>
      </p:sp>
      <p:sp>
        <p:nvSpPr>
          <p:cNvPr id="26627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6628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6629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6630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6631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6632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6633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6634" name="Rectangle 9"/>
          <p:cNvSpPr>
            <a:spLocks noChangeArrowheads="1"/>
          </p:cNvSpPr>
          <p:nvPr/>
        </p:nvSpPr>
        <p:spPr bwMode="auto">
          <a:xfrm>
            <a:off x="914400" y="1447800"/>
            <a:ext cx="7696200" cy="483209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US" sz="2800" b="1" baseline="0" dirty="0">
                <a:latin typeface="Times New Roman" pitchFamily="18" charset="0"/>
              </a:rPr>
              <a:t>Figure 1 on next slide shows a block of addresses, in both binary and dotted-decimal notation, granted to a small business that needs 16 addresses.</a:t>
            </a:r>
          </a:p>
          <a:p>
            <a:pPr algn="just"/>
            <a:endParaRPr lang="en-US" sz="2800" baseline="0" dirty="0">
              <a:latin typeface="Times New Roman" pitchFamily="18" charset="0"/>
            </a:endParaRPr>
          </a:p>
          <a:p>
            <a:pPr algn="just"/>
            <a:r>
              <a:rPr lang="en-US" sz="2800" baseline="0" dirty="0">
                <a:latin typeface="Times New Roman" pitchFamily="18" charset="0"/>
              </a:rPr>
              <a:t>We can see that the restrictions are applied to this block. The addresses are contiguous. The number of addresses is a power of 2 (16 = 2</a:t>
            </a:r>
            <a:r>
              <a:rPr lang="en-US" sz="2800" baseline="30000" dirty="0">
                <a:latin typeface="Times New Roman" pitchFamily="18" charset="0"/>
              </a:rPr>
              <a:t>4</a:t>
            </a:r>
            <a:r>
              <a:rPr lang="en-US" sz="2800" baseline="0" dirty="0">
                <a:latin typeface="Times New Roman" pitchFamily="18" charset="0"/>
              </a:rPr>
              <a:t>), and the first address is divisible by 16. The first address, when converted to a decimal number, is 3,440,387,360, which when divided by 16 results in 215,024,210. </a:t>
            </a:r>
          </a:p>
        </p:txBody>
      </p:sp>
      <p:sp>
        <p:nvSpPr>
          <p:cNvPr id="26635" name="Text Box 10"/>
          <p:cNvSpPr txBox="1">
            <a:spLocks noChangeArrowheads="1"/>
          </p:cNvSpPr>
          <p:nvPr/>
        </p:nvSpPr>
        <p:spPr bwMode="auto">
          <a:xfrm>
            <a:off x="1143000" y="0"/>
            <a:ext cx="116570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 baseline="0" dirty="0">
                <a:solidFill>
                  <a:schemeClr val="hlink"/>
                </a:solidFill>
                <a:latin typeface="Times New Roman" pitchFamily="18" charset="0"/>
              </a:rPr>
              <a:t>Example 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19.</a:t>
            </a:r>
            <a:fld id="{1D6B4C91-0DC5-48B2-AD41-690E35CB6E39}" type="slidenum">
              <a:rPr lang="en-US"/>
              <a:pPr/>
              <a:t>11</a:t>
            </a:fld>
            <a:endParaRPr lang="en-US"/>
          </a:p>
        </p:txBody>
      </p:sp>
      <p:sp>
        <p:nvSpPr>
          <p:cNvPr id="27651" name="Line 2"/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652" name="Line 3"/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653" name="Text Box 4"/>
          <p:cNvSpPr txBox="1">
            <a:spLocks noChangeArrowheads="1"/>
          </p:cNvSpPr>
          <p:nvPr/>
        </p:nvSpPr>
        <p:spPr bwMode="auto">
          <a:xfrm>
            <a:off x="304800" y="381000"/>
            <a:ext cx="708924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aseline="0" dirty="0">
                <a:solidFill>
                  <a:schemeClr val="folHlink"/>
                </a:solidFill>
                <a:latin typeface="Times New Roman" pitchFamily="18" charset="0"/>
              </a:rPr>
              <a:t>Figure 1  </a:t>
            </a:r>
            <a:r>
              <a:rPr lang="en-US" sz="2000" i="1" baseline="0" dirty="0">
                <a:latin typeface="Times New Roman" pitchFamily="18" charset="0"/>
              </a:rPr>
              <a:t>A block of 16 addresses granted to a small organization</a:t>
            </a:r>
          </a:p>
        </p:txBody>
      </p:sp>
      <p:sp>
        <p:nvSpPr>
          <p:cNvPr id="27654" name="Line 5"/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27655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9200" y="2362200"/>
            <a:ext cx="7315200" cy="207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19.</a:t>
            </a:r>
            <a:fld id="{39C41F46-7FD8-462D-8711-EC7FC6535FB9}" type="slidenum">
              <a:rPr lang="en-US"/>
              <a:pPr/>
              <a:t>12</a:t>
            </a:fld>
            <a:endParaRPr lang="en-US"/>
          </a:p>
        </p:txBody>
      </p:sp>
      <p:sp>
        <p:nvSpPr>
          <p:cNvPr id="28675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8676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8677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8678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8679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8680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8681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8682" name="Rectangle 9"/>
          <p:cNvSpPr>
            <a:spLocks noChangeArrowheads="1"/>
          </p:cNvSpPr>
          <p:nvPr/>
        </p:nvSpPr>
        <p:spPr bwMode="auto">
          <a:xfrm>
            <a:off x="1143000" y="990600"/>
            <a:ext cx="7772400" cy="56943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US" sz="2800" b="1" baseline="0" dirty="0">
                <a:latin typeface="Times New Roman" pitchFamily="18" charset="0"/>
              </a:rPr>
              <a:t>A block of addresses is granted to a small organization. We know that one of the addresses is 205.16.37.39/28. What is the first address in the block?</a:t>
            </a:r>
          </a:p>
          <a:p>
            <a:pPr algn="just"/>
            <a:endParaRPr lang="en-US" sz="2800" baseline="0" dirty="0">
              <a:latin typeface="Times New Roman" pitchFamily="18" charset="0"/>
            </a:endParaRPr>
          </a:p>
          <a:p>
            <a:pPr algn="just"/>
            <a:r>
              <a:rPr lang="en-US" sz="2800" baseline="0" dirty="0">
                <a:solidFill>
                  <a:schemeClr val="hlink"/>
                </a:solidFill>
                <a:latin typeface="Times New Roman" pitchFamily="18" charset="0"/>
              </a:rPr>
              <a:t>Solution</a:t>
            </a:r>
          </a:p>
          <a:p>
            <a:pPr algn="just"/>
            <a:r>
              <a:rPr lang="en-US" sz="2800" baseline="0" dirty="0">
                <a:latin typeface="Times New Roman" pitchFamily="18" charset="0"/>
              </a:rPr>
              <a:t>The binary representation of the given address is</a:t>
            </a:r>
          </a:p>
          <a:p>
            <a:pPr algn="ctr"/>
            <a:r>
              <a:rPr lang="en-US" sz="2800" baseline="0" dirty="0">
                <a:solidFill>
                  <a:schemeClr val="folHlink"/>
                </a:solidFill>
                <a:latin typeface="Times New Roman" pitchFamily="18" charset="0"/>
              </a:rPr>
              <a:t>11001101   00010000   00100101   00100111</a:t>
            </a:r>
          </a:p>
          <a:p>
            <a:r>
              <a:rPr lang="en-US" sz="2800" baseline="0" dirty="0">
                <a:latin typeface="Times New Roman" pitchFamily="18" charset="0"/>
              </a:rPr>
              <a:t>If we set 32−28 rightmost bits to 0, we get </a:t>
            </a:r>
          </a:p>
          <a:p>
            <a:pPr algn="ctr"/>
            <a:r>
              <a:rPr lang="en-US" sz="2800" baseline="0" dirty="0">
                <a:solidFill>
                  <a:schemeClr val="folHlink"/>
                </a:solidFill>
                <a:latin typeface="Times New Roman" pitchFamily="18" charset="0"/>
              </a:rPr>
              <a:t>11001101    00010000    00100101   0010000</a:t>
            </a:r>
            <a:r>
              <a:rPr lang="en-US" sz="2800" baseline="0" dirty="0">
                <a:latin typeface="Times New Roman" pitchFamily="18" charset="0"/>
              </a:rPr>
              <a:t> </a:t>
            </a:r>
          </a:p>
          <a:p>
            <a:pPr algn="ctr"/>
            <a:r>
              <a:rPr lang="en-US" sz="2800" baseline="0" dirty="0">
                <a:latin typeface="Times New Roman" pitchFamily="18" charset="0"/>
              </a:rPr>
              <a:t>or </a:t>
            </a:r>
            <a:br>
              <a:rPr lang="en-US" sz="2800" baseline="0" dirty="0">
                <a:latin typeface="Times New Roman" pitchFamily="18" charset="0"/>
              </a:rPr>
            </a:br>
            <a:r>
              <a:rPr lang="en-US" sz="2800" baseline="0" dirty="0">
                <a:solidFill>
                  <a:schemeClr val="folHlink"/>
                </a:solidFill>
                <a:latin typeface="Times New Roman" pitchFamily="18" charset="0"/>
              </a:rPr>
              <a:t>205.16.37.32</a:t>
            </a:r>
            <a:r>
              <a:rPr lang="en-US" sz="2800" baseline="0" dirty="0">
                <a:latin typeface="Times New Roman" pitchFamily="18" charset="0"/>
              </a:rPr>
              <a:t>. </a:t>
            </a:r>
          </a:p>
          <a:p>
            <a:r>
              <a:rPr lang="en-US" sz="2800" baseline="0" dirty="0">
                <a:latin typeface="Times New Roman" pitchFamily="18" charset="0"/>
              </a:rPr>
              <a:t>This is actually the block shown in Figure 1 above.</a:t>
            </a:r>
          </a:p>
        </p:txBody>
      </p:sp>
      <p:sp>
        <p:nvSpPr>
          <p:cNvPr id="28683" name="Text Box 10"/>
          <p:cNvSpPr txBox="1">
            <a:spLocks noChangeArrowheads="1"/>
          </p:cNvSpPr>
          <p:nvPr/>
        </p:nvSpPr>
        <p:spPr bwMode="auto">
          <a:xfrm>
            <a:off x="1143000" y="0"/>
            <a:ext cx="116570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 baseline="0" dirty="0">
                <a:solidFill>
                  <a:schemeClr val="hlink"/>
                </a:solidFill>
                <a:latin typeface="Times New Roman" pitchFamily="18" charset="0"/>
              </a:rPr>
              <a:t>Example </a:t>
            </a:r>
            <a:r>
              <a:rPr lang="en-US" i="1" dirty="0">
                <a:solidFill>
                  <a:schemeClr val="hlink"/>
                </a:solidFill>
                <a:latin typeface="Times New Roman" pitchFamily="18" charset="0"/>
              </a:rPr>
              <a:t>2</a:t>
            </a:r>
            <a:endParaRPr lang="en-US" i="1" baseline="0" dirty="0">
              <a:solidFill>
                <a:schemeClr val="hlink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19.</a:t>
            </a:r>
            <a:fld id="{D3BE6EC8-8EFF-437A-8DAD-E3C55EF220DB}" type="slidenum">
              <a:rPr lang="en-US"/>
              <a:pPr/>
              <a:t>13</a:t>
            </a:fld>
            <a:endParaRPr lang="en-US"/>
          </a:p>
        </p:txBody>
      </p:sp>
      <p:sp>
        <p:nvSpPr>
          <p:cNvPr id="29699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9700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9701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9702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9703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9704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9705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9706" name="Rectangle 9"/>
          <p:cNvSpPr>
            <a:spLocks noChangeArrowheads="1"/>
          </p:cNvSpPr>
          <p:nvPr/>
        </p:nvSpPr>
        <p:spPr bwMode="auto">
          <a:xfrm>
            <a:off x="762000" y="1295400"/>
            <a:ext cx="7696200" cy="483209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US" sz="2800" b="1" baseline="0" dirty="0">
                <a:latin typeface="Times New Roman" pitchFamily="18" charset="0"/>
              </a:rPr>
              <a:t>Find the last address for the block in Example </a:t>
            </a:r>
            <a:r>
              <a:rPr lang="en-US" sz="2800" b="1" dirty="0">
                <a:latin typeface="Times New Roman" pitchFamily="18" charset="0"/>
              </a:rPr>
              <a:t>2 on previous slide</a:t>
            </a:r>
            <a:endParaRPr lang="en-US" sz="2800" b="1" baseline="0" dirty="0">
              <a:latin typeface="Times New Roman" pitchFamily="18" charset="0"/>
            </a:endParaRPr>
          </a:p>
          <a:p>
            <a:pPr algn="just"/>
            <a:endParaRPr lang="en-US" sz="2800" baseline="0" dirty="0">
              <a:latin typeface="Times New Roman" pitchFamily="18" charset="0"/>
            </a:endParaRPr>
          </a:p>
          <a:p>
            <a:r>
              <a:rPr lang="en-US" sz="2800" baseline="0" dirty="0">
                <a:solidFill>
                  <a:schemeClr val="hlink"/>
                </a:solidFill>
                <a:latin typeface="Times New Roman" pitchFamily="18" charset="0"/>
              </a:rPr>
              <a:t>Solution</a:t>
            </a:r>
          </a:p>
          <a:p>
            <a:r>
              <a:rPr lang="en-US" sz="2800" baseline="0" dirty="0">
                <a:latin typeface="Times New Roman" pitchFamily="18" charset="0"/>
              </a:rPr>
              <a:t>The binary representation of the given address is</a:t>
            </a:r>
          </a:p>
          <a:p>
            <a:pPr algn="ctr"/>
            <a:r>
              <a:rPr lang="en-US" sz="2800" baseline="0" dirty="0">
                <a:solidFill>
                  <a:schemeClr val="folHlink"/>
                </a:solidFill>
                <a:latin typeface="Times New Roman" pitchFamily="18" charset="0"/>
              </a:rPr>
              <a:t>11001101    00010000    00100101    00100111</a:t>
            </a:r>
          </a:p>
          <a:p>
            <a:r>
              <a:rPr lang="en-US" sz="2800" baseline="0" dirty="0">
                <a:latin typeface="Times New Roman" pitchFamily="18" charset="0"/>
              </a:rPr>
              <a:t>If we set 32 − 28 rightmost bits to 1, we get </a:t>
            </a:r>
          </a:p>
          <a:p>
            <a:pPr algn="ctr"/>
            <a:r>
              <a:rPr lang="en-US" sz="2800" baseline="0" dirty="0">
                <a:solidFill>
                  <a:schemeClr val="folHlink"/>
                </a:solidFill>
                <a:latin typeface="Times New Roman" pitchFamily="18" charset="0"/>
              </a:rPr>
              <a:t>11001101 00010000 00100101 00101111</a:t>
            </a:r>
            <a:r>
              <a:rPr lang="en-US" sz="2800" baseline="0" dirty="0">
                <a:latin typeface="Times New Roman" pitchFamily="18" charset="0"/>
              </a:rPr>
              <a:t> </a:t>
            </a:r>
          </a:p>
          <a:p>
            <a:pPr algn="ctr"/>
            <a:r>
              <a:rPr lang="en-US" sz="2800" baseline="0" dirty="0">
                <a:latin typeface="Times New Roman" pitchFamily="18" charset="0"/>
              </a:rPr>
              <a:t>or </a:t>
            </a:r>
          </a:p>
          <a:p>
            <a:pPr algn="ctr"/>
            <a:r>
              <a:rPr lang="en-US" sz="2800" baseline="0" dirty="0">
                <a:solidFill>
                  <a:schemeClr val="folHlink"/>
                </a:solidFill>
                <a:latin typeface="Times New Roman" pitchFamily="18" charset="0"/>
              </a:rPr>
              <a:t>205.16.37.47</a:t>
            </a:r>
          </a:p>
          <a:p>
            <a:r>
              <a:rPr lang="en-US" sz="2800" baseline="0" dirty="0">
                <a:latin typeface="Times New Roman" pitchFamily="18" charset="0"/>
              </a:rPr>
              <a:t>This is actually the block shown in Figure 1 above.</a:t>
            </a:r>
          </a:p>
        </p:txBody>
      </p:sp>
      <p:sp>
        <p:nvSpPr>
          <p:cNvPr id="29707" name="Text Box 10"/>
          <p:cNvSpPr txBox="1">
            <a:spLocks noChangeArrowheads="1"/>
          </p:cNvSpPr>
          <p:nvPr/>
        </p:nvSpPr>
        <p:spPr bwMode="auto">
          <a:xfrm>
            <a:off x="1143000" y="0"/>
            <a:ext cx="116570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 baseline="0" dirty="0">
                <a:solidFill>
                  <a:schemeClr val="hlink"/>
                </a:solidFill>
                <a:latin typeface="Times New Roman" pitchFamily="18" charset="0"/>
              </a:rPr>
              <a:t>Example </a:t>
            </a:r>
            <a:r>
              <a:rPr lang="en-US" i="1" dirty="0">
                <a:solidFill>
                  <a:schemeClr val="hlink"/>
                </a:solidFill>
                <a:latin typeface="Times New Roman" pitchFamily="18" charset="0"/>
              </a:rPr>
              <a:t>3</a:t>
            </a:r>
            <a:endParaRPr lang="en-US" i="1" baseline="0" dirty="0">
              <a:solidFill>
                <a:schemeClr val="hlink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19.</a:t>
            </a:r>
            <a:fld id="{6E0730E5-8538-4FCC-A405-3C501F4AA0ED}" type="slidenum">
              <a:rPr lang="en-US"/>
              <a:pPr/>
              <a:t>14</a:t>
            </a:fld>
            <a:endParaRPr lang="en-US"/>
          </a:p>
        </p:txBody>
      </p:sp>
      <p:sp>
        <p:nvSpPr>
          <p:cNvPr id="30723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30724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30725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30726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30727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30728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30729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30730" name="Rectangle 9"/>
          <p:cNvSpPr>
            <a:spLocks noChangeArrowheads="1"/>
          </p:cNvSpPr>
          <p:nvPr/>
        </p:nvSpPr>
        <p:spPr bwMode="auto">
          <a:xfrm>
            <a:off x="1219200" y="1143000"/>
            <a:ext cx="7696200" cy="51911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US" sz="2800" i="1" baseline="0">
                <a:latin typeface="Times New Roman" pitchFamily="18" charset="0"/>
              </a:rPr>
              <a:t>Find the number of addresses in Example 19.6.</a:t>
            </a:r>
          </a:p>
        </p:txBody>
      </p:sp>
      <p:sp>
        <p:nvSpPr>
          <p:cNvPr id="30731" name="Text Box 10"/>
          <p:cNvSpPr txBox="1">
            <a:spLocks noChangeArrowheads="1"/>
          </p:cNvSpPr>
          <p:nvPr/>
        </p:nvSpPr>
        <p:spPr bwMode="auto">
          <a:xfrm>
            <a:off x="1143000" y="0"/>
            <a:ext cx="248761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 baseline="0">
                <a:solidFill>
                  <a:schemeClr val="hlink"/>
                </a:solidFill>
                <a:latin typeface="Times New Roman" pitchFamily="18" charset="0"/>
              </a:rPr>
              <a:t>Example 19.8</a:t>
            </a:r>
          </a:p>
        </p:txBody>
      </p:sp>
      <p:sp>
        <p:nvSpPr>
          <p:cNvPr id="30732" name="Rectangle 11"/>
          <p:cNvSpPr>
            <a:spLocks noChangeArrowheads="1"/>
          </p:cNvSpPr>
          <p:nvPr/>
        </p:nvSpPr>
        <p:spPr bwMode="auto">
          <a:xfrm>
            <a:off x="1219200" y="2057400"/>
            <a:ext cx="7696200" cy="13731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US" sz="2800" i="1" baseline="0">
                <a:solidFill>
                  <a:schemeClr val="hlink"/>
                </a:solidFill>
                <a:latin typeface="Times New Roman" pitchFamily="18" charset="0"/>
              </a:rPr>
              <a:t>Solution</a:t>
            </a:r>
          </a:p>
          <a:p>
            <a:pPr algn="just"/>
            <a:r>
              <a:rPr lang="en-US" sz="2800" i="1" baseline="0">
                <a:latin typeface="Times New Roman" pitchFamily="18" charset="0"/>
              </a:rPr>
              <a:t>The value of n is 28, which means that number</a:t>
            </a:r>
            <a:br>
              <a:rPr lang="en-US" sz="2800" i="1" baseline="0">
                <a:latin typeface="Times New Roman" pitchFamily="18" charset="0"/>
              </a:rPr>
            </a:br>
            <a:r>
              <a:rPr lang="en-US" sz="2800" i="1" baseline="0">
                <a:latin typeface="Times New Roman" pitchFamily="18" charset="0"/>
              </a:rPr>
              <a:t>of addresses is 2 </a:t>
            </a:r>
            <a:r>
              <a:rPr lang="en-US" sz="2800" i="1" baseline="30000">
                <a:latin typeface="Times New Roman" pitchFamily="18" charset="0"/>
              </a:rPr>
              <a:t>32−28</a:t>
            </a:r>
            <a:r>
              <a:rPr lang="en-US" sz="2800" i="1" baseline="0">
                <a:latin typeface="Times New Roman" pitchFamily="18" charset="0"/>
              </a:rPr>
              <a:t> or 16.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1">
            <a:extLst>
              <a:ext uri="{FF2B5EF4-FFF2-40B4-BE49-F238E27FC236}">
                <a16:creationId xmlns:a16="http://schemas.microsoft.com/office/drawing/2014/main" id="{1021F5F1-3C80-400A-86AE-015B803F17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aseline="0">
                <a:solidFill>
                  <a:schemeClr val="bg2"/>
                </a:solidFill>
              </a:rPr>
              <a:t>19.</a:t>
            </a:r>
            <a:fld id="{3514850C-D2CF-4293-9042-A69A2883201F}" type="slidenum">
              <a:rPr lang="en-US" altLang="en-US" sz="2000" baseline="0">
                <a:solidFill>
                  <a:schemeClr val="bg2"/>
                </a:solidFill>
              </a:rPr>
              <a:pPr/>
              <a:t>15</a:t>
            </a:fld>
            <a:endParaRPr lang="en-US" altLang="en-US" sz="2000" baseline="0">
              <a:solidFill>
                <a:schemeClr val="bg2"/>
              </a:solidFill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660DBC98-3128-45CA-AE76-5CF73CB248F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EF5E17CF-DE5F-4B0F-956C-4EB4A6821E3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34821" name="Rectangle 4">
            <a:extLst>
              <a:ext uri="{FF2B5EF4-FFF2-40B4-BE49-F238E27FC236}">
                <a16:creationId xmlns:a16="http://schemas.microsoft.com/office/drawing/2014/main" id="{EFD93033-BCEE-4FB2-A647-44FEF760E90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34822" name="Rectangle 5">
            <a:extLst>
              <a:ext uri="{FF2B5EF4-FFF2-40B4-BE49-F238E27FC236}">
                <a16:creationId xmlns:a16="http://schemas.microsoft.com/office/drawing/2014/main" id="{70BE4F0F-6B1C-4B52-983E-38C48B113D7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34823" name="Rectangle 6">
            <a:extLst>
              <a:ext uri="{FF2B5EF4-FFF2-40B4-BE49-F238E27FC236}">
                <a16:creationId xmlns:a16="http://schemas.microsoft.com/office/drawing/2014/main" id="{BBE5E438-D83C-4822-8334-C26EDC789DD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34824" name="Rectangle 7">
            <a:extLst>
              <a:ext uri="{FF2B5EF4-FFF2-40B4-BE49-F238E27FC236}">
                <a16:creationId xmlns:a16="http://schemas.microsoft.com/office/drawing/2014/main" id="{2DB7F38A-32EB-4929-AB74-7770AA467984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34825" name="Rectangle 8">
            <a:extLst>
              <a:ext uri="{FF2B5EF4-FFF2-40B4-BE49-F238E27FC236}">
                <a16:creationId xmlns:a16="http://schemas.microsoft.com/office/drawing/2014/main" id="{3B2D998F-071B-4BB2-917C-1244997789E3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34826" name="Rectangle 9">
            <a:extLst>
              <a:ext uri="{FF2B5EF4-FFF2-40B4-BE49-F238E27FC236}">
                <a16:creationId xmlns:a16="http://schemas.microsoft.com/office/drawing/2014/main" id="{7B62745B-3C33-4833-BC60-98E47C232C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914400"/>
            <a:ext cx="8686800" cy="56435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US" altLang="en-US" sz="2800" i="1" baseline="0">
                <a:latin typeface="Times New Roman" panose="02020603050405020304" pitchFamily="18" charset="0"/>
              </a:rPr>
              <a:t>Another way to find the first address, the last address, and the number of addresses is to represent the mask as a 32-bit binary (or 8-digit hexadecimal) number. This is particularly useful when we are writing a program to find these pieces of information. In Example 19.5 the /28 can be represented as </a:t>
            </a:r>
          </a:p>
          <a:p>
            <a:pPr algn="ctr"/>
            <a:r>
              <a:rPr lang="en-US" altLang="en-US" sz="2800" i="1" baseline="0">
                <a:solidFill>
                  <a:schemeClr val="folHlink"/>
                </a:solidFill>
                <a:latin typeface="Times New Roman" panose="02020603050405020304" pitchFamily="18" charset="0"/>
              </a:rPr>
              <a:t>11111111  11111111  11111111  11110000</a:t>
            </a:r>
            <a:r>
              <a:rPr lang="en-US" altLang="en-US" sz="2800" i="1" baseline="0">
                <a:latin typeface="Times New Roman" panose="02020603050405020304" pitchFamily="18" charset="0"/>
              </a:rPr>
              <a:t> </a:t>
            </a:r>
          </a:p>
          <a:p>
            <a:pPr algn="just"/>
            <a:r>
              <a:rPr lang="en-US" altLang="en-US" sz="2800" i="1" baseline="0">
                <a:latin typeface="Times New Roman" panose="02020603050405020304" pitchFamily="18" charset="0"/>
              </a:rPr>
              <a:t>(twenty-eight 1s and four 0s). </a:t>
            </a:r>
          </a:p>
          <a:p>
            <a:pPr algn="just"/>
            <a:endParaRPr lang="en-US" altLang="en-US" sz="2800" i="1" baseline="0">
              <a:latin typeface="Times New Roman" panose="02020603050405020304" pitchFamily="18" charset="0"/>
            </a:endParaRPr>
          </a:p>
          <a:p>
            <a:pPr algn="just"/>
            <a:r>
              <a:rPr lang="en-US" altLang="en-US" sz="2800" i="1" baseline="0">
                <a:latin typeface="Times New Roman" panose="02020603050405020304" pitchFamily="18" charset="0"/>
              </a:rPr>
              <a:t>Find</a:t>
            </a:r>
          </a:p>
          <a:p>
            <a:pPr algn="just"/>
            <a:r>
              <a:rPr lang="en-US" altLang="en-US" sz="2800" i="1" baseline="0">
                <a:solidFill>
                  <a:schemeClr val="hlink"/>
                </a:solidFill>
                <a:latin typeface="Times New Roman" panose="02020603050405020304" pitchFamily="18" charset="0"/>
              </a:rPr>
              <a:t>a.</a:t>
            </a:r>
            <a:r>
              <a:rPr lang="en-US" altLang="en-US" sz="2800" i="1" baseline="0">
                <a:latin typeface="Times New Roman" panose="02020603050405020304" pitchFamily="18" charset="0"/>
              </a:rPr>
              <a:t> The first address</a:t>
            </a:r>
          </a:p>
          <a:p>
            <a:pPr algn="just"/>
            <a:r>
              <a:rPr lang="en-US" altLang="en-US" sz="2800" i="1" baseline="0">
                <a:solidFill>
                  <a:schemeClr val="hlink"/>
                </a:solidFill>
                <a:latin typeface="Times New Roman" panose="02020603050405020304" pitchFamily="18" charset="0"/>
              </a:rPr>
              <a:t>b.</a:t>
            </a:r>
            <a:r>
              <a:rPr lang="en-US" altLang="en-US" sz="2800" i="1" baseline="0">
                <a:latin typeface="Times New Roman" panose="02020603050405020304" pitchFamily="18" charset="0"/>
              </a:rPr>
              <a:t> The last address</a:t>
            </a:r>
          </a:p>
          <a:p>
            <a:pPr algn="just"/>
            <a:r>
              <a:rPr lang="en-US" altLang="en-US" sz="2800" i="1" baseline="0">
                <a:solidFill>
                  <a:schemeClr val="hlink"/>
                </a:solidFill>
                <a:latin typeface="Times New Roman" panose="02020603050405020304" pitchFamily="18" charset="0"/>
              </a:rPr>
              <a:t>c.</a:t>
            </a:r>
            <a:r>
              <a:rPr lang="en-US" altLang="en-US" sz="2800" i="1" baseline="0">
                <a:latin typeface="Times New Roman" panose="02020603050405020304" pitchFamily="18" charset="0"/>
              </a:rPr>
              <a:t> The number of addresses.</a:t>
            </a:r>
          </a:p>
        </p:txBody>
      </p:sp>
      <p:sp>
        <p:nvSpPr>
          <p:cNvPr id="34827" name="Text Box 10">
            <a:extLst>
              <a:ext uri="{FF2B5EF4-FFF2-40B4-BE49-F238E27FC236}">
                <a16:creationId xmlns:a16="http://schemas.microsoft.com/office/drawing/2014/main" id="{1C141D10-93A2-4FDD-8A10-675A1C6AD4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24876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i="1" baseline="0">
                <a:solidFill>
                  <a:schemeClr val="hlink"/>
                </a:solidFill>
                <a:latin typeface="Times New Roman" panose="02020603050405020304" pitchFamily="18" charset="0"/>
              </a:rPr>
              <a:t>Example 19.9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1">
            <a:extLst>
              <a:ext uri="{FF2B5EF4-FFF2-40B4-BE49-F238E27FC236}">
                <a16:creationId xmlns:a16="http://schemas.microsoft.com/office/drawing/2014/main" id="{45E02FCB-1701-40B6-9F5C-D8A2B2299B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aseline="0">
                <a:solidFill>
                  <a:schemeClr val="bg2"/>
                </a:solidFill>
              </a:rPr>
              <a:t>19.</a:t>
            </a:r>
            <a:fld id="{F425E573-004F-4A2C-9F13-5A7CCF3645AA}" type="slidenum">
              <a:rPr lang="en-US" altLang="en-US" sz="2000" baseline="0">
                <a:solidFill>
                  <a:schemeClr val="bg2"/>
                </a:solidFill>
              </a:rPr>
              <a:pPr/>
              <a:t>16</a:t>
            </a:fld>
            <a:endParaRPr lang="en-US" altLang="en-US" sz="2000" baseline="0">
              <a:solidFill>
                <a:schemeClr val="bg2"/>
              </a:solidFill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2577B4B6-3BB3-4CBC-914D-4AB3D142006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A8D8C0C9-753A-4A6B-96A9-B87061CFA1F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35845" name="Rectangle 4">
            <a:extLst>
              <a:ext uri="{FF2B5EF4-FFF2-40B4-BE49-F238E27FC236}">
                <a16:creationId xmlns:a16="http://schemas.microsoft.com/office/drawing/2014/main" id="{4C0BEFD7-4717-444E-B49D-33A3A65F32C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35846" name="Rectangle 5">
            <a:extLst>
              <a:ext uri="{FF2B5EF4-FFF2-40B4-BE49-F238E27FC236}">
                <a16:creationId xmlns:a16="http://schemas.microsoft.com/office/drawing/2014/main" id="{9F5AA885-3A08-4715-B27A-E25F5426A8A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35847" name="Rectangle 6">
            <a:extLst>
              <a:ext uri="{FF2B5EF4-FFF2-40B4-BE49-F238E27FC236}">
                <a16:creationId xmlns:a16="http://schemas.microsoft.com/office/drawing/2014/main" id="{55D4EE4F-421B-4D98-8860-5405090F3A5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35848" name="Rectangle 7">
            <a:extLst>
              <a:ext uri="{FF2B5EF4-FFF2-40B4-BE49-F238E27FC236}">
                <a16:creationId xmlns:a16="http://schemas.microsoft.com/office/drawing/2014/main" id="{A0FB6B9F-7899-4014-A8FA-9387FF773C89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35849" name="Rectangle 8">
            <a:extLst>
              <a:ext uri="{FF2B5EF4-FFF2-40B4-BE49-F238E27FC236}">
                <a16:creationId xmlns:a16="http://schemas.microsoft.com/office/drawing/2014/main" id="{090A4788-0854-4460-B6B0-598D2D25F3A8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35850" name="Rectangle 9">
            <a:extLst>
              <a:ext uri="{FF2B5EF4-FFF2-40B4-BE49-F238E27FC236}">
                <a16:creationId xmlns:a16="http://schemas.microsoft.com/office/drawing/2014/main" id="{371FC584-DDAE-4EDA-A3C8-25D5A685EE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295400"/>
            <a:ext cx="8686800" cy="22272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US" altLang="en-US" sz="2800" i="1" baseline="0">
                <a:solidFill>
                  <a:schemeClr val="hlink"/>
                </a:solidFill>
                <a:latin typeface="Times New Roman" panose="02020603050405020304" pitchFamily="18" charset="0"/>
              </a:rPr>
              <a:t>Solution</a:t>
            </a:r>
          </a:p>
          <a:p>
            <a:pPr algn="just"/>
            <a:r>
              <a:rPr lang="en-US" altLang="en-US" sz="2800" i="1" baseline="0">
                <a:solidFill>
                  <a:schemeClr val="hlink"/>
                </a:solidFill>
                <a:latin typeface="Times New Roman" panose="02020603050405020304" pitchFamily="18" charset="0"/>
              </a:rPr>
              <a:t>a.</a:t>
            </a:r>
            <a:r>
              <a:rPr lang="en-US" altLang="en-US" sz="2800" i="1" baseline="0">
                <a:latin typeface="Times New Roman" panose="02020603050405020304" pitchFamily="18" charset="0"/>
              </a:rPr>
              <a:t> The first address can be found by ANDing the given</a:t>
            </a:r>
            <a:br>
              <a:rPr lang="en-US" altLang="en-US" sz="2800" i="1" baseline="0">
                <a:latin typeface="Times New Roman" panose="02020603050405020304" pitchFamily="18" charset="0"/>
              </a:rPr>
            </a:br>
            <a:r>
              <a:rPr lang="en-US" altLang="en-US" sz="2800" i="1" baseline="0">
                <a:latin typeface="Times New Roman" panose="02020603050405020304" pitchFamily="18" charset="0"/>
              </a:rPr>
              <a:t>     addresses with the mask. ANDing here is done bit by</a:t>
            </a:r>
            <a:br>
              <a:rPr lang="en-US" altLang="en-US" sz="2800" i="1" baseline="0">
                <a:latin typeface="Times New Roman" panose="02020603050405020304" pitchFamily="18" charset="0"/>
              </a:rPr>
            </a:br>
            <a:r>
              <a:rPr lang="en-US" altLang="en-US" sz="2800" i="1" baseline="0">
                <a:latin typeface="Times New Roman" panose="02020603050405020304" pitchFamily="18" charset="0"/>
              </a:rPr>
              <a:t>     bit. The result of ANDing 2 bits is 1 if both bits are 1s;</a:t>
            </a:r>
            <a:br>
              <a:rPr lang="en-US" altLang="en-US" sz="2800" i="1" baseline="0">
                <a:latin typeface="Times New Roman" panose="02020603050405020304" pitchFamily="18" charset="0"/>
              </a:rPr>
            </a:br>
            <a:r>
              <a:rPr lang="en-US" altLang="en-US" sz="2800" i="1" baseline="0">
                <a:latin typeface="Times New Roman" panose="02020603050405020304" pitchFamily="18" charset="0"/>
              </a:rPr>
              <a:t>     the result is 0 otherwise.</a:t>
            </a:r>
          </a:p>
        </p:txBody>
      </p:sp>
      <p:sp>
        <p:nvSpPr>
          <p:cNvPr id="35851" name="Text Box 10">
            <a:extLst>
              <a:ext uri="{FF2B5EF4-FFF2-40B4-BE49-F238E27FC236}">
                <a16:creationId xmlns:a16="http://schemas.microsoft.com/office/drawing/2014/main" id="{D3A0B311-F5F8-4030-B5FB-72A35F2E42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45291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i="1" baseline="0">
                <a:solidFill>
                  <a:schemeClr val="hlink"/>
                </a:solidFill>
                <a:latin typeface="Times New Roman" panose="02020603050405020304" pitchFamily="18" charset="0"/>
              </a:rPr>
              <a:t>Example 19.9 (continued)</a:t>
            </a:r>
          </a:p>
        </p:txBody>
      </p:sp>
      <p:pic>
        <p:nvPicPr>
          <p:cNvPr id="35852" name="Picture 12">
            <a:extLst>
              <a:ext uri="{FF2B5EF4-FFF2-40B4-BE49-F238E27FC236}">
                <a16:creationId xmlns:a16="http://schemas.microsoft.com/office/drawing/2014/main" id="{8DB5F0F1-98AF-4500-A0E0-4715B6E296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663" y="3857625"/>
            <a:ext cx="8034337" cy="1323975"/>
          </a:xfrm>
          <a:prstGeom prst="rect">
            <a:avLst/>
          </a:prstGeom>
          <a:noFill/>
          <a:ln w="57150" cmpd="thickThin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1">
            <a:extLst>
              <a:ext uri="{FF2B5EF4-FFF2-40B4-BE49-F238E27FC236}">
                <a16:creationId xmlns:a16="http://schemas.microsoft.com/office/drawing/2014/main" id="{4470277B-4AD9-402D-ADAF-F906B16F77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aseline="0">
                <a:solidFill>
                  <a:schemeClr val="bg2"/>
                </a:solidFill>
              </a:rPr>
              <a:t>19.</a:t>
            </a:r>
            <a:fld id="{7FC00A18-FEFF-4683-B123-C637CBED12CB}" type="slidenum">
              <a:rPr lang="en-US" altLang="en-US" sz="2000" baseline="0">
                <a:solidFill>
                  <a:schemeClr val="bg2"/>
                </a:solidFill>
              </a:rPr>
              <a:pPr/>
              <a:t>17</a:t>
            </a:fld>
            <a:endParaRPr lang="en-US" altLang="en-US" sz="2000" baseline="0">
              <a:solidFill>
                <a:schemeClr val="bg2"/>
              </a:solidFill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1D4B8830-E54E-4C68-9F96-953334E8B63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493AC1A3-3BAA-4503-A0C5-284228F1D5B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36869" name="Rectangle 4">
            <a:extLst>
              <a:ext uri="{FF2B5EF4-FFF2-40B4-BE49-F238E27FC236}">
                <a16:creationId xmlns:a16="http://schemas.microsoft.com/office/drawing/2014/main" id="{4C89B9ED-4EBE-4140-A091-5FC1F4060CE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36870" name="Rectangle 5">
            <a:extLst>
              <a:ext uri="{FF2B5EF4-FFF2-40B4-BE49-F238E27FC236}">
                <a16:creationId xmlns:a16="http://schemas.microsoft.com/office/drawing/2014/main" id="{67135CEB-2FDC-4736-87F7-4784CCBD25A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36871" name="Rectangle 6">
            <a:extLst>
              <a:ext uri="{FF2B5EF4-FFF2-40B4-BE49-F238E27FC236}">
                <a16:creationId xmlns:a16="http://schemas.microsoft.com/office/drawing/2014/main" id="{65F6A5CC-FA62-4017-8D56-FF8E9C274FA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36872" name="Rectangle 7">
            <a:extLst>
              <a:ext uri="{FF2B5EF4-FFF2-40B4-BE49-F238E27FC236}">
                <a16:creationId xmlns:a16="http://schemas.microsoft.com/office/drawing/2014/main" id="{08AE9504-C18F-485E-B546-CE8C9C193C5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36873" name="Rectangle 8">
            <a:extLst>
              <a:ext uri="{FF2B5EF4-FFF2-40B4-BE49-F238E27FC236}">
                <a16:creationId xmlns:a16="http://schemas.microsoft.com/office/drawing/2014/main" id="{94AB1CE9-AE7E-49D3-A6BB-771D89C2BD28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36874" name="Rectangle 9">
            <a:extLst>
              <a:ext uri="{FF2B5EF4-FFF2-40B4-BE49-F238E27FC236}">
                <a16:creationId xmlns:a16="http://schemas.microsoft.com/office/drawing/2014/main" id="{277D919E-89B7-4CE6-A79C-5CF8042A0B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43000"/>
            <a:ext cx="8686800" cy="26543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US" altLang="en-US" sz="2800" i="1" baseline="0">
                <a:solidFill>
                  <a:schemeClr val="hlink"/>
                </a:solidFill>
                <a:latin typeface="Times New Roman" panose="02020603050405020304" pitchFamily="18" charset="0"/>
              </a:rPr>
              <a:t>b.</a:t>
            </a:r>
            <a:r>
              <a:rPr lang="en-US" altLang="en-US" sz="2800" i="1" baseline="0">
                <a:latin typeface="Times New Roman" panose="02020603050405020304" pitchFamily="18" charset="0"/>
              </a:rPr>
              <a:t> The last address can be found by ORing the given</a:t>
            </a:r>
            <a:br>
              <a:rPr lang="en-US" altLang="en-US" sz="2800" i="1" baseline="0">
                <a:latin typeface="Times New Roman" panose="02020603050405020304" pitchFamily="18" charset="0"/>
              </a:rPr>
            </a:br>
            <a:r>
              <a:rPr lang="en-US" altLang="en-US" sz="2800" i="1" baseline="0">
                <a:latin typeface="Times New Roman" panose="02020603050405020304" pitchFamily="18" charset="0"/>
              </a:rPr>
              <a:t>     addresses with the complement of the mask. ORing</a:t>
            </a:r>
            <a:br>
              <a:rPr lang="en-US" altLang="en-US" sz="2800" i="1" baseline="0">
                <a:latin typeface="Times New Roman" panose="02020603050405020304" pitchFamily="18" charset="0"/>
              </a:rPr>
            </a:br>
            <a:r>
              <a:rPr lang="en-US" altLang="en-US" sz="2800" i="1" baseline="0">
                <a:latin typeface="Times New Roman" panose="02020603050405020304" pitchFamily="18" charset="0"/>
              </a:rPr>
              <a:t>     here is done bit by bit. The result of ORing 2 bits is 0 if</a:t>
            </a:r>
            <a:br>
              <a:rPr lang="en-US" altLang="en-US" sz="2800" i="1" baseline="0">
                <a:latin typeface="Times New Roman" panose="02020603050405020304" pitchFamily="18" charset="0"/>
              </a:rPr>
            </a:br>
            <a:r>
              <a:rPr lang="en-US" altLang="en-US" sz="2800" i="1" baseline="0">
                <a:latin typeface="Times New Roman" panose="02020603050405020304" pitchFamily="18" charset="0"/>
              </a:rPr>
              <a:t>     both bits are 0s; the result is 1 otherwise. The</a:t>
            </a:r>
            <a:br>
              <a:rPr lang="en-US" altLang="en-US" sz="2800" i="1" baseline="0">
                <a:latin typeface="Times New Roman" panose="02020603050405020304" pitchFamily="18" charset="0"/>
              </a:rPr>
            </a:br>
            <a:r>
              <a:rPr lang="en-US" altLang="en-US" sz="2800" i="1" baseline="0">
                <a:latin typeface="Times New Roman" panose="02020603050405020304" pitchFamily="18" charset="0"/>
              </a:rPr>
              <a:t>     complement of a number is found by changing each 1</a:t>
            </a:r>
            <a:br>
              <a:rPr lang="en-US" altLang="en-US" sz="2800" i="1" baseline="0">
                <a:latin typeface="Times New Roman" panose="02020603050405020304" pitchFamily="18" charset="0"/>
              </a:rPr>
            </a:br>
            <a:r>
              <a:rPr lang="en-US" altLang="en-US" sz="2800" i="1" baseline="0">
                <a:latin typeface="Times New Roman" panose="02020603050405020304" pitchFamily="18" charset="0"/>
              </a:rPr>
              <a:t>     to 0 and each 0 to 1.</a:t>
            </a:r>
          </a:p>
        </p:txBody>
      </p:sp>
      <p:sp>
        <p:nvSpPr>
          <p:cNvPr id="36875" name="Text Box 10">
            <a:extLst>
              <a:ext uri="{FF2B5EF4-FFF2-40B4-BE49-F238E27FC236}">
                <a16:creationId xmlns:a16="http://schemas.microsoft.com/office/drawing/2014/main" id="{883A24F5-EE8B-4B3C-9A7F-BF3BC92357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45291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i="1" baseline="0">
                <a:solidFill>
                  <a:schemeClr val="hlink"/>
                </a:solidFill>
                <a:latin typeface="Times New Roman" panose="02020603050405020304" pitchFamily="18" charset="0"/>
              </a:rPr>
              <a:t>Example 19.9 (continued)</a:t>
            </a:r>
          </a:p>
        </p:txBody>
      </p:sp>
      <p:pic>
        <p:nvPicPr>
          <p:cNvPr id="36876" name="Picture 12">
            <a:extLst>
              <a:ext uri="{FF2B5EF4-FFF2-40B4-BE49-F238E27FC236}">
                <a16:creationId xmlns:a16="http://schemas.microsoft.com/office/drawing/2014/main" id="{97F9D95B-97A8-45E8-8B41-49C06D5CC3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4086225"/>
            <a:ext cx="8702675" cy="1323975"/>
          </a:xfrm>
          <a:prstGeom prst="rect">
            <a:avLst/>
          </a:prstGeom>
          <a:noFill/>
          <a:ln w="57150" cmpd="thickThin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1">
            <a:extLst>
              <a:ext uri="{FF2B5EF4-FFF2-40B4-BE49-F238E27FC236}">
                <a16:creationId xmlns:a16="http://schemas.microsoft.com/office/drawing/2014/main" id="{105C37B0-2DAF-4C94-B71B-5D5FC9168D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aseline="0">
                <a:solidFill>
                  <a:schemeClr val="bg2"/>
                </a:solidFill>
              </a:rPr>
              <a:t>19.</a:t>
            </a:r>
            <a:fld id="{7A7DF149-DE3C-4CA0-A45A-08DE109C6827}" type="slidenum">
              <a:rPr lang="en-US" altLang="en-US" sz="2000" baseline="0">
                <a:solidFill>
                  <a:schemeClr val="bg2"/>
                </a:solidFill>
              </a:rPr>
              <a:pPr/>
              <a:t>18</a:t>
            </a:fld>
            <a:endParaRPr lang="en-US" altLang="en-US" sz="2000" baseline="0">
              <a:solidFill>
                <a:schemeClr val="bg2"/>
              </a:solidFill>
            </a:endParaRP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C2C15BC3-9780-4C36-9E6F-E9F9579F9A5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AC19AC10-EF7C-4E61-918B-7ADDA7203EC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37893" name="Rectangle 4">
            <a:extLst>
              <a:ext uri="{FF2B5EF4-FFF2-40B4-BE49-F238E27FC236}">
                <a16:creationId xmlns:a16="http://schemas.microsoft.com/office/drawing/2014/main" id="{110D9722-D2DF-4B25-9808-68FCA07CAB0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37894" name="Rectangle 5">
            <a:extLst>
              <a:ext uri="{FF2B5EF4-FFF2-40B4-BE49-F238E27FC236}">
                <a16:creationId xmlns:a16="http://schemas.microsoft.com/office/drawing/2014/main" id="{62F8E47C-B607-43D2-80CE-8B72C46ED4A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37895" name="Rectangle 6">
            <a:extLst>
              <a:ext uri="{FF2B5EF4-FFF2-40B4-BE49-F238E27FC236}">
                <a16:creationId xmlns:a16="http://schemas.microsoft.com/office/drawing/2014/main" id="{27F73735-87E5-4B47-B2BA-00BED686A5F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37896" name="Rectangle 7">
            <a:extLst>
              <a:ext uri="{FF2B5EF4-FFF2-40B4-BE49-F238E27FC236}">
                <a16:creationId xmlns:a16="http://schemas.microsoft.com/office/drawing/2014/main" id="{BEECC34F-834B-4E6A-8400-5632E153E0E1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37897" name="Rectangle 8">
            <a:extLst>
              <a:ext uri="{FF2B5EF4-FFF2-40B4-BE49-F238E27FC236}">
                <a16:creationId xmlns:a16="http://schemas.microsoft.com/office/drawing/2014/main" id="{05312A6E-CD80-452E-A622-8CE203AE6FDE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37898" name="Line 9">
            <a:extLst>
              <a:ext uri="{FF2B5EF4-FFF2-40B4-BE49-F238E27FC236}">
                <a16:creationId xmlns:a16="http://schemas.microsoft.com/office/drawing/2014/main" id="{EACD0DEB-0D85-4B72-97AB-DEC236B6405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7899" name="Line 10">
            <a:extLst>
              <a:ext uri="{FF2B5EF4-FFF2-40B4-BE49-F238E27FC236}">
                <a16:creationId xmlns:a16="http://schemas.microsoft.com/office/drawing/2014/main" id="{6251E02E-3ED7-4D38-A144-A2B531B7187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5410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7900" name="Rectangle 11">
            <a:extLst>
              <a:ext uri="{FF2B5EF4-FFF2-40B4-BE49-F238E27FC236}">
                <a16:creationId xmlns:a16="http://schemas.microsoft.com/office/drawing/2014/main" id="{37BBE42E-D7E1-4D39-9A2A-44C2F5B9E1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2528888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aseline="0"/>
              <a:t>The first address in a block is </a:t>
            </a:r>
            <a:br>
              <a:rPr lang="en-US" altLang="en-US" baseline="0"/>
            </a:br>
            <a:r>
              <a:rPr lang="en-US" altLang="en-US" baseline="0"/>
              <a:t>normally not assigned to any device; </a:t>
            </a:r>
            <a:br>
              <a:rPr lang="en-US" altLang="en-US" baseline="0"/>
            </a:br>
            <a:r>
              <a:rPr lang="en-US" altLang="en-US" baseline="0"/>
              <a:t>it is used as the network address that represents the organization </a:t>
            </a:r>
            <a:br>
              <a:rPr lang="en-US" altLang="en-US" baseline="0"/>
            </a:br>
            <a:r>
              <a:rPr lang="en-US" altLang="en-US" baseline="0"/>
              <a:t>to the rest of the world.</a:t>
            </a:r>
          </a:p>
        </p:txBody>
      </p:sp>
      <p:grpSp>
        <p:nvGrpSpPr>
          <p:cNvPr id="37901" name="Group 12">
            <a:extLst>
              <a:ext uri="{FF2B5EF4-FFF2-40B4-BE49-F238E27FC236}">
                <a16:creationId xmlns:a16="http://schemas.microsoft.com/office/drawing/2014/main" id="{AC2CFD5A-1493-4D67-A0FB-C8DC7D7EB507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1143000" cy="566738"/>
            <a:chOff x="1200" y="1248"/>
            <a:chExt cx="720" cy="357"/>
          </a:xfrm>
        </p:grpSpPr>
        <p:pic>
          <p:nvPicPr>
            <p:cNvPr id="37902" name="Picture 13">
              <a:extLst>
                <a:ext uri="{FF2B5EF4-FFF2-40B4-BE49-F238E27FC236}">
                  <a16:creationId xmlns:a16="http://schemas.microsoft.com/office/drawing/2014/main" id="{94860693-C03F-46E6-9B62-E03336585A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903" name="Text Box 14">
              <a:extLst>
                <a:ext uri="{FF2B5EF4-FFF2-40B4-BE49-F238E27FC236}">
                  <a16:creationId xmlns:a16="http://schemas.microsoft.com/office/drawing/2014/main" id="{6B36DA42-291D-493B-BA9B-C233DFE160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i="1" baseline="0">
                  <a:solidFill>
                    <a:schemeClr val="hlink"/>
                  </a:solidFill>
                  <a:latin typeface="Times New Roman" panose="02020603050405020304" pitchFamily="18" charset="0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7239000" cy="2590799"/>
          </a:xfrm>
        </p:spPr>
        <p:txBody>
          <a:bodyPr>
            <a:noAutofit/>
          </a:bodyPr>
          <a:lstStyle/>
          <a:p>
            <a:r>
              <a:rPr lang="en-US" sz="3200" b="1" dirty="0"/>
              <a:t>Thank You</a:t>
            </a:r>
          </a:p>
          <a:p>
            <a:r>
              <a:rPr lang="en-US" sz="3200" b="1" dirty="0"/>
              <a:t>Discussion &amp; Doubt session will be in lecture.</a:t>
            </a:r>
          </a:p>
          <a:p>
            <a:pPr>
              <a:buNone/>
            </a:pPr>
            <a:endParaRPr lang="en-US" sz="32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8600" y="4419600"/>
            <a:ext cx="4724400" cy="1676400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Important terms to keep in mind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600" b="1" u="sng" dirty="0"/>
              <a:t>IP Address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600" b="1" u="sng" dirty="0"/>
              <a:t>IPv4 Binary and DDN notation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600" b="1" u="sng" dirty="0"/>
              <a:t>Classful Addressing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1183</Words>
  <Application>Microsoft Office PowerPoint</Application>
  <PresentationFormat>On-screen Show (4:3)</PresentationFormat>
  <Paragraphs>140</Paragraphs>
  <Slides>19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Tahoma</vt:lpstr>
      <vt:lpstr>Times New Roman</vt:lpstr>
      <vt:lpstr>Office Theme</vt:lpstr>
      <vt:lpstr>COMPUTER NETWORKS (BCSC 0008)</vt:lpstr>
      <vt:lpstr> Text and Reference Books </vt:lpstr>
      <vt:lpstr>Basics</vt:lpstr>
      <vt:lpstr>Classes and Blocks</vt:lpstr>
      <vt:lpstr>Structure of IPv4 Address</vt:lpstr>
      <vt:lpstr>Use of IPv4 Address</vt:lpstr>
      <vt:lpstr>Classless Addressing</vt:lpstr>
      <vt:lpstr>Classless Addressing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NETWORKS (BCSC 0008)</dc:title>
  <dc:creator>Windows User</dc:creator>
  <cp:lastModifiedBy>shabir ali</cp:lastModifiedBy>
  <cp:revision>7</cp:revision>
  <dcterms:created xsi:type="dcterms:W3CDTF">2020-06-29T04:13:42Z</dcterms:created>
  <dcterms:modified xsi:type="dcterms:W3CDTF">2020-10-28T06:58:18Z</dcterms:modified>
</cp:coreProperties>
</file>