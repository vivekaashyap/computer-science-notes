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5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C01E2-8D39-4AFB-8F6F-F93A2B014B15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200400"/>
            <a:ext cx="7772400" cy="1676400"/>
          </a:xfrm>
        </p:spPr>
        <p:txBody>
          <a:bodyPr>
            <a:normAutofit/>
          </a:bodyPr>
          <a:lstStyle/>
          <a:p>
            <a:pPr algn="ctr"/>
            <a:r>
              <a:rPr lang="en-US" b="1" u="none" dirty="0"/>
              <a:t>COMPUTER NETWORKS</a:t>
            </a:r>
            <a:br>
              <a:rPr lang="en-US" b="1" u="none" dirty="0"/>
            </a:br>
            <a:r>
              <a:rPr lang="en-US" b="1" u="none" dirty="0"/>
              <a:t>(</a:t>
            </a:r>
            <a:r>
              <a:rPr lang="en-US" b="1" dirty="0"/>
              <a:t>BCSC 0008)</a:t>
            </a:r>
            <a:endParaRPr lang="en-US" b="1" u="non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1-</a:t>
            </a:r>
            <a:fld id="{99D27633-06CE-45E1-87B8-65ED130BB8BF}" type="slidenum">
              <a:rPr lang="en-US" altLang="zh-TW" smtClean="0"/>
              <a:pPr/>
              <a:t>1</a:t>
            </a:fld>
            <a:endParaRPr lang="en-US" altLang="zh-TW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66800" y="6356350"/>
            <a:ext cx="6781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Lecture Presented by: Prof. Diwakar Bharadwaj, Dr. Shabir Ali, Mr. Akhilesh Kumar Singh </a:t>
            </a:r>
            <a:endParaRPr lang="en-US" altLang="zh-TW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990600"/>
            <a:ext cx="2065942" cy="2152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Footer Placeholder 5"/>
          <p:cNvSpPr txBox="1">
            <a:spLocks/>
          </p:cNvSpPr>
          <p:nvPr/>
        </p:nvSpPr>
        <p:spPr>
          <a:xfrm>
            <a:off x="1219200" y="4816475"/>
            <a:ext cx="678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Copyright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 content, </a:t>
            </a:r>
            <a:r>
              <a:rPr lang="en-US" sz="1200" b="1" dirty="0">
                <a:latin typeface="Times New Roman"/>
                <a:ea typeface="Calibri"/>
                <a:cs typeface="Times New Roman"/>
              </a:rPr>
              <a:t>use only with the written permission of presenter mentioned</a:t>
            </a:r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 txBox="1">
            <a:spLocks/>
          </p:cNvSpPr>
          <p:nvPr/>
        </p:nvSpPr>
        <p:spPr>
          <a:xfrm>
            <a:off x="3352800" y="5410200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Lecture 21</a:t>
            </a:r>
            <a:endParaRPr kumimoji="0" lang="en-US" altLang="zh-TW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b="1" dirty="0"/>
              <a:t>Text and Reference Books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Text Books: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/>
              <a:t>Fourouzan B. A. (2004), “Data Communication and Networking”, 4th Edition, McGraw-Hill.</a:t>
            </a:r>
          </a:p>
          <a:p>
            <a:pPr algn="just"/>
            <a:endParaRPr lang="en-US" sz="2400" dirty="0"/>
          </a:p>
          <a:p>
            <a:pPr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References: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/>
              <a:t>Kurose, J. F. and Ross K. W. (2005), “Computer Networking: A Top-Down Approach Featuring the Internet”, 3rd Edition, Addison-Wesley.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/>
              <a:t>A. S. Tanenbaum (2006), “Computer Networks”, 2nd Edition, Prentice Hall India.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66800" y="6356350"/>
            <a:ext cx="6781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Lecture Presented by: Prof. Diwakar Bharadwaj, Mr. Saurabh Anand, Mr. Akhilesh Kumar Singh </a:t>
            </a:r>
            <a:endParaRPr lang="en-US" altLang="zh-TW" dirty="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152400"/>
            <a:ext cx="8204200" cy="847708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0000"/>
                </a:solidFill>
              </a:rPr>
              <a:t>Transmission using Network Layer</a:t>
            </a:r>
          </a:p>
        </p:txBody>
      </p:sp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676400"/>
            <a:ext cx="7643866" cy="4467244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05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tr-TR" sz="4000" b="1" u="sng" dirty="0">
                <a:solidFill>
                  <a:srgbClr val="FF0000"/>
                </a:solidFill>
              </a:rPr>
              <a:t>Network Layer</a:t>
            </a:r>
          </a:p>
        </p:txBody>
      </p:sp>
      <p:sp>
        <p:nvSpPr>
          <p:cNvPr id="4099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4114800" cy="4686300"/>
          </a:xfrm>
        </p:spPr>
        <p:txBody>
          <a:bodyPr>
            <a:normAutofit/>
          </a:bodyPr>
          <a:lstStyle/>
          <a:p>
            <a:r>
              <a:rPr lang="en-US" altLang="tr-TR" dirty="0"/>
              <a:t>Services:</a:t>
            </a:r>
          </a:p>
          <a:p>
            <a:endParaRPr lang="en-US" altLang="tr-TR" dirty="0"/>
          </a:p>
          <a:p>
            <a:pPr lvl="1"/>
            <a:r>
              <a:rPr lang="en-US" altLang="tr-TR" dirty="0"/>
              <a:t>Routing and Forwarding</a:t>
            </a:r>
          </a:p>
          <a:p>
            <a:pPr lvl="1"/>
            <a:r>
              <a:rPr lang="en-US" altLang="tr-TR" dirty="0"/>
              <a:t>Host to Host Delivery (Using IP Addressing)</a:t>
            </a:r>
          </a:p>
          <a:p>
            <a:pPr lvl="1"/>
            <a:endParaRPr lang="en-US" altLang="tr-TR" sz="20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572000" y="1357298"/>
            <a:ext cx="4365625" cy="5100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Tx/>
              <a:buChar char="•"/>
              <a:tabLst/>
              <a:defRPr/>
            </a:pP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transport segment from sending to receiving host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Tx/>
              <a:buChar char="•"/>
              <a:tabLst/>
              <a:defRPr/>
            </a:pP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on sending side encapsulates segments into datagrams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Tx/>
              <a:buChar char="•"/>
              <a:tabLst/>
              <a:defRPr/>
            </a:pP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on receiving side, delivers segments to transport layer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Tx/>
              <a:buChar char="•"/>
              <a:tabLst/>
              <a:defRPr/>
            </a:pP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network layer protocols in </a:t>
            </a:r>
            <a:r>
              <a:rPr kumimoji="1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every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host, router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Tx/>
              <a:buChar char="•"/>
              <a:tabLst/>
              <a:defRPr/>
            </a:pP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router examines header fields in all IP datagrams passing through it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Tx/>
              <a:buChar char="•"/>
              <a:tabLst/>
              <a:defRPr/>
            </a:pPr>
            <a:endParaRPr kumimoji="1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4-</a:t>
            </a:r>
            <a:fld id="{350D257E-5C68-4715-B479-6819C0D0BABD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148" name="Picture 6" descr="underline_base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1825" y="1035050"/>
            <a:ext cx="7769225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357166"/>
            <a:ext cx="8204200" cy="633394"/>
          </a:xfrm>
        </p:spPr>
        <p:txBody>
          <a:bodyPr>
            <a:noAutofit/>
          </a:bodyPr>
          <a:lstStyle/>
          <a:p>
            <a:r>
              <a:rPr lang="en-US" sz="3600" b="1" u="sng" dirty="0">
                <a:solidFill>
                  <a:srgbClr val="FF0000"/>
                </a:solidFill>
              </a:rPr>
              <a:t>Two key network-layer functions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9413" y="1625600"/>
            <a:ext cx="4192587" cy="4648200"/>
          </a:xfrm>
        </p:spPr>
        <p:txBody>
          <a:bodyPr>
            <a:normAutofit lnSpcReduction="10000"/>
          </a:bodyPr>
          <a:lstStyle/>
          <a:p>
            <a:r>
              <a:rPr lang="en-US" i="1">
                <a:solidFill>
                  <a:srgbClr val="000099"/>
                </a:solidFill>
              </a:rPr>
              <a:t>forwarding:</a:t>
            </a:r>
            <a:r>
              <a:rPr lang="en-US"/>
              <a:t> move packets from router’s input to appropriate router output</a:t>
            </a:r>
          </a:p>
          <a:p>
            <a:pPr>
              <a:spcBef>
                <a:spcPct val="70000"/>
              </a:spcBef>
            </a:pPr>
            <a:r>
              <a:rPr lang="en-US" i="1">
                <a:solidFill>
                  <a:srgbClr val="000099"/>
                </a:solidFill>
              </a:rPr>
              <a:t>routing:</a:t>
            </a:r>
            <a:r>
              <a:rPr lang="en-US"/>
              <a:t> determine route taken by packets from source to dest. </a:t>
            </a:r>
          </a:p>
          <a:p>
            <a:pPr lvl="1">
              <a:spcBef>
                <a:spcPct val="70000"/>
              </a:spcBef>
            </a:pPr>
            <a:r>
              <a:rPr lang="en-US" i="1"/>
              <a:t>routing algorithms</a:t>
            </a:r>
            <a:endParaRPr lang="en-US"/>
          </a:p>
          <a:p>
            <a:pPr>
              <a:buFont typeface="Wingdings" pitchFamily="2" charset="2"/>
              <a:buNone/>
            </a:pPr>
            <a:endParaRPr lang="en-US"/>
          </a:p>
        </p:txBody>
      </p:sp>
      <p:sp>
        <p:nvSpPr>
          <p:cNvPr id="6151" name="Rectangle 4"/>
          <p:cNvSpPr>
            <a:spLocks noChangeArrowheads="1"/>
          </p:cNvSpPr>
          <p:nvPr/>
        </p:nvSpPr>
        <p:spPr bwMode="auto">
          <a:xfrm>
            <a:off x="4784725" y="1577975"/>
            <a:ext cx="4192588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70000"/>
              </a:spcBef>
              <a:buClr>
                <a:srgbClr val="000099"/>
              </a:buClr>
              <a:buSzPct val="65000"/>
              <a:buFont typeface="Wingdings" pitchFamily="2" charset="2"/>
              <a:buNone/>
            </a:pPr>
            <a:r>
              <a:rPr lang="en-US" sz="3200" i="1">
                <a:solidFill>
                  <a:srgbClr val="CC0000"/>
                </a:solidFill>
                <a:latin typeface="Gill Sans MT" pitchFamily="34" charset="0"/>
              </a:rPr>
              <a:t>analogy:</a:t>
            </a:r>
          </a:p>
          <a:p>
            <a:pPr marL="342900" indent="-342900">
              <a:lnSpc>
                <a:spcPct val="85000"/>
              </a:lnSpc>
              <a:spcBef>
                <a:spcPct val="7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</a:pPr>
            <a:r>
              <a:rPr lang="en-US" sz="2800" i="1">
                <a:solidFill>
                  <a:srgbClr val="000099"/>
                </a:solidFill>
                <a:latin typeface="Gill Sans MT" pitchFamily="34" charset="0"/>
              </a:rPr>
              <a:t>routing:</a:t>
            </a:r>
            <a:r>
              <a:rPr lang="en-US" sz="2800">
                <a:latin typeface="Gill Sans MT" pitchFamily="34" charset="0"/>
              </a:rPr>
              <a:t> process of planning trip from source to dest</a:t>
            </a:r>
          </a:p>
          <a:p>
            <a:pPr marL="342900" indent="-342900">
              <a:lnSpc>
                <a:spcPct val="85000"/>
              </a:lnSpc>
              <a:spcBef>
                <a:spcPct val="7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</a:pPr>
            <a:r>
              <a:rPr lang="en-US" sz="2800" i="1">
                <a:solidFill>
                  <a:srgbClr val="000099"/>
                </a:solidFill>
                <a:latin typeface="Gill Sans MT" pitchFamily="34" charset="0"/>
              </a:rPr>
              <a:t>forwarding</a:t>
            </a:r>
            <a:r>
              <a:rPr lang="en-US" sz="2800" i="1">
                <a:solidFill>
                  <a:schemeClr val="accent2"/>
                </a:solidFill>
                <a:latin typeface="Gill Sans MT" pitchFamily="34" charset="0"/>
              </a:rPr>
              <a:t>:</a:t>
            </a:r>
            <a:r>
              <a:rPr lang="en-US" sz="2800">
                <a:latin typeface="Gill Sans MT" pitchFamily="34" charset="0"/>
              </a:rPr>
              <a:t> process of getting through single interchange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</a:pPr>
            <a:endParaRPr lang="en-US" sz="2800">
              <a:latin typeface="Gill Sans MT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Text Box 167"/>
          <p:cNvSpPr txBox="1">
            <a:spLocks noChangeArrowheads="1"/>
          </p:cNvSpPr>
          <p:nvPr/>
        </p:nvSpPr>
        <p:spPr bwMode="auto">
          <a:xfrm>
            <a:off x="501650" y="195263"/>
            <a:ext cx="79121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000099"/>
                </a:solidFill>
                <a:latin typeface="Gill Sans MT" pitchFamily="34" charset="0"/>
              </a:rPr>
              <a:t>Interplay between routing and forwarding</a:t>
            </a:r>
          </a:p>
        </p:txBody>
      </p:sp>
      <p:pic>
        <p:nvPicPr>
          <p:cNvPr id="849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357298"/>
            <a:ext cx="7333725" cy="5286412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b="1" u="sng" dirty="0">
                <a:solidFill>
                  <a:srgbClr val="FF0000"/>
                </a:solidFill>
              </a:rPr>
              <a:t>Some basics of IP</a:t>
            </a:r>
          </a:p>
        </p:txBody>
      </p:sp>
      <p:sp>
        <p:nvSpPr>
          <p:cNvPr id="4099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just"/>
            <a:r>
              <a:rPr lang="en-AU" altLang="tr-TR" sz="2800" dirty="0"/>
              <a:t>The term internet is short for “internetworking”</a:t>
            </a:r>
          </a:p>
          <a:p>
            <a:pPr lvl="1" algn="just"/>
            <a:r>
              <a:rPr lang="en-AU" altLang="tr-TR" sz="2400" dirty="0"/>
              <a:t>interconnection of networks with different network access mechanisms, addressing, different routing techniques, etc.</a:t>
            </a:r>
          </a:p>
          <a:p>
            <a:pPr algn="just"/>
            <a:r>
              <a:rPr lang="en-AU" altLang="tr-TR" sz="2800" dirty="0"/>
              <a:t>An internet</a:t>
            </a:r>
          </a:p>
          <a:p>
            <a:pPr lvl="1" algn="just"/>
            <a:r>
              <a:rPr lang="en-AU" altLang="tr-TR" sz="2400" dirty="0"/>
              <a:t>Collection of communications networks interconnected by </a:t>
            </a:r>
            <a:r>
              <a:rPr lang="tr-TR" altLang="tr-TR" sz="2400" dirty="0"/>
              <a:t>layer 3  switches </a:t>
            </a:r>
            <a:r>
              <a:rPr lang="en-AU" altLang="tr-TR" sz="2400" dirty="0"/>
              <a:t>and/or routers</a:t>
            </a:r>
          </a:p>
          <a:p>
            <a:pPr algn="just"/>
            <a:r>
              <a:rPr lang="en-AU" altLang="tr-TR" sz="2800" dirty="0"/>
              <a:t>The Internet - note </a:t>
            </a:r>
            <a:r>
              <a:rPr lang="tr-TR" altLang="tr-TR" sz="2800" dirty="0"/>
              <a:t>the </a:t>
            </a:r>
            <a:r>
              <a:rPr lang="en-AU" altLang="tr-TR" sz="2800" dirty="0"/>
              <a:t>uppercase I</a:t>
            </a:r>
          </a:p>
          <a:p>
            <a:pPr lvl="1" algn="just"/>
            <a:r>
              <a:rPr lang="en-AU" altLang="tr-TR" sz="2400" dirty="0"/>
              <a:t>The global collection of individual machines and networks</a:t>
            </a:r>
          </a:p>
          <a:p>
            <a:pPr algn="just"/>
            <a:r>
              <a:rPr lang="en-US" altLang="tr-TR" sz="2800" dirty="0"/>
              <a:t>IP (Internet Protocol) </a:t>
            </a:r>
          </a:p>
          <a:p>
            <a:pPr lvl="1" algn="just"/>
            <a:r>
              <a:rPr lang="en-US" altLang="tr-TR" sz="2400" dirty="0"/>
              <a:t>most widely used internetworking protocol</a:t>
            </a:r>
          </a:p>
          <a:p>
            <a:pPr lvl="1" algn="just"/>
            <a:r>
              <a:rPr lang="en-US" altLang="tr-TR" sz="2400" dirty="0"/>
              <a:t>foundation of all internet-based applications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05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tr-TR" sz="4000" b="1" u="sng" dirty="0">
                <a:solidFill>
                  <a:srgbClr val="FF0000"/>
                </a:solidFill>
              </a:rPr>
              <a:t>Protocols of TCP/IP Protocol Suite</a:t>
            </a:r>
          </a:p>
        </p:txBody>
      </p:sp>
      <p:pic>
        <p:nvPicPr>
          <p:cNvPr id="5123" name="Picture 2051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52400" y="1524000"/>
            <a:ext cx="8686800" cy="4976813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b="1" u="sng" dirty="0">
                <a:solidFill>
                  <a:srgbClr val="FF0000"/>
                </a:solidFill>
              </a:rPr>
              <a:t>Internet Protocol (IP)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 dirty="0"/>
              <a:t>IP provides </a:t>
            </a:r>
            <a:r>
              <a:rPr lang="en-US" altLang="tr-TR" u="sng" dirty="0">
                <a:solidFill>
                  <a:srgbClr val="FF0000"/>
                </a:solidFill>
              </a:rPr>
              <a:t>connectionless</a:t>
            </a:r>
            <a:r>
              <a:rPr lang="en-US" altLang="tr-TR" dirty="0"/>
              <a:t> (datagram) service</a:t>
            </a:r>
          </a:p>
          <a:p>
            <a:r>
              <a:rPr lang="en-AU" altLang="tr-TR" dirty="0"/>
              <a:t>Each packet treated separately</a:t>
            </a:r>
          </a:p>
          <a:p>
            <a:r>
              <a:rPr lang="en-AU" altLang="tr-TR" dirty="0"/>
              <a:t>Network layer protocol common to all routers</a:t>
            </a:r>
          </a:p>
          <a:p>
            <a:pPr lvl="1"/>
            <a:r>
              <a:rPr lang="en-AU" altLang="tr-TR" dirty="0"/>
              <a:t>which is the Internet Protocol (IP)</a:t>
            </a:r>
          </a:p>
          <a:p>
            <a:pPr>
              <a:buFontTx/>
              <a:buNone/>
            </a:pPr>
            <a:endParaRPr lang="en-US" altLang="tr-TR" dirty="0"/>
          </a:p>
          <a:p>
            <a:pPr>
              <a:buFontTx/>
              <a:buNone/>
            </a:pPr>
            <a:r>
              <a:rPr lang="en-US" altLang="tr-TR" dirty="0"/>
              <a:t>Connectionless Service??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tr-TR" b="1" u="sng" dirty="0">
                <a:solidFill>
                  <a:srgbClr val="FF0000"/>
                </a:solidFill>
              </a:rPr>
              <a:t>Connectionless Internetworking (General)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AU" altLang="tr-TR"/>
              <a:t>Advantages</a:t>
            </a:r>
          </a:p>
          <a:p>
            <a:pPr lvl="1">
              <a:lnSpc>
                <a:spcPct val="90000"/>
              </a:lnSpc>
            </a:pPr>
            <a:r>
              <a:rPr lang="en-AU" altLang="tr-TR"/>
              <a:t>Flexible and robust</a:t>
            </a:r>
          </a:p>
          <a:p>
            <a:pPr lvl="2">
              <a:lnSpc>
                <a:spcPct val="90000"/>
              </a:lnSpc>
            </a:pPr>
            <a:r>
              <a:rPr lang="en-AU" altLang="tr-TR"/>
              <a:t>e.g. in case of congestion or node failure, packets find their way easier than connection-oriented services</a:t>
            </a:r>
          </a:p>
          <a:p>
            <a:pPr lvl="1">
              <a:lnSpc>
                <a:spcPct val="90000"/>
              </a:lnSpc>
            </a:pPr>
            <a:r>
              <a:rPr lang="en-AU" altLang="tr-TR"/>
              <a:t>No unnecessary overhead for connection setup</a:t>
            </a:r>
          </a:p>
          <a:p>
            <a:pPr lvl="1">
              <a:lnSpc>
                <a:spcPct val="90000"/>
              </a:lnSpc>
            </a:pPr>
            <a:r>
              <a:rPr lang="en-AU" altLang="tr-TR"/>
              <a:t>Can work with different network types </a:t>
            </a:r>
          </a:p>
          <a:p>
            <a:pPr lvl="2">
              <a:lnSpc>
                <a:spcPct val="90000"/>
              </a:lnSpc>
            </a:pPr>
            <a:r>
              <a:rPr lang="en-AU" altLang="tr-TR"/>
              <a:t>does not demand too much services from the actual network</a:t>
            </a:r>
          </a:p>
          <a:p>
            <a:pPr>
              <a:lnSpc>
                <a:spcPct val="90000"/>
              </a:lnSpc>
            </a:pPr>
            <a:r>
              <a:rPr lang="tr-TR" altLang="tr-TR"/>
              <a:t>Disadvantage: </a:t>
            </a:r>
            <a:r>
              <a:rPr lang="en-AU" altLang="tr-TR"/>
              <a:t>Unreliable</a:t>
            </a:r>
          </a:p>
          <a:p>
            <a:pPr lvl="1">
              <a:lnSpc>
                <a:spcPct val="90000"/>
              </a:lnSpc>
            </a:pPr>
            <a:r>
              <a:rPr lang="en-AU" altLang="tr-TR"/>
              <a:t>Not guaranteed delivery</a:t>
            </a:r>
          </a:p>
          <a:p>
            <a:pPr lvl="1">
              <a:lnSpc>
                <a:spcPct val="90000"/>
              </a:lnSpc>
            </a:pPr>
            <a:r>
              <a:rPr lang="en-AU" altLang="tr-TR"/>
              <a:t>Not guaranteed order of delivery</a:t>
            </a:r>
          </a:p>
          <a:p>
            <a:pPr lvl="2">
              <a:lnSpc>
                <a:spcPct val="90000"/>
              </a:lnSpc>
            </a:pPr>
            <a:r>
              <a:rPr lang="en-AU" altLang="tr-TR"/>
              <a:t>Packets can take different routes</a:t>
            </a:r>
          </a:p>
          <a:p>
            <a:pPr lvl="1">
              <a:lnSpc>
                <a:spcPct val="90000"/>
              </a:lnSpc>
            </a:pPr>
            <a:r>
              <a:rPr lang="en-AU" altLang="tr-TR"/>
              <a:t>Reliability is responsibility of next layer up (e.g. TCP)</a:t>
            </a:r>
            <a:endParaRPr lang="en-US" altLang="tr-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GB" altLang="tr-TR" b="1" u="sng" dirty="0">
                <a:solidFill>
                  <a:srgbClr val="FF0000"/>
                </a:solidFill>
              </a:rPr>
              <a:t>Example Internet Protocol Operation</a:t>
            </a:r>
          </a:p>
        </p:txBody>
      </p:sp>
      <p:pic>
        <p:nvPicPr>
          <p:cNvPr id="8195" name="Picture 1027" descr="IP Operation"/>
          <p:cNvPicPr>
            <a:picLocks noChangeAspect="1" noChangeArrowheads="1"/>
          </p:cNvPicPr>
          <p:nvPr/>
        </p:nvPicPr>
        <p:blipFill>
          <a:blip r:embed="rId2"/>
          <a:srcRect b="4979"/>
          <a:stretch>
            <a:fillRect/>
          </a:stretch>
        </p:blipFill>
        <p:spPr bwMode="auto">
          <a:xfrm>
            <a:off x="1752600" y="1066800"/>
            <a:ext cx="44577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b="1" u="sng" dirty="0">
                <a:solidFill>
                  <a:srgbClr val="FF0000"/>
                </a:solidFill>
              </a:rPr>
              <a:t>Internet Protocol (IP)</a:t>
            </a:r>
            <a:r>
              <a:rPr lang="en-GB" altLang="tr-TR" b="1" u="sng" dirty="0">
                <a:solidFill>
                  <a:srgbClr val="FF0000"/>
                </a:solidFill>
              </a:rPr>
              <a:t> Version 4</a:t>
            </a:r>
            <a:endParaRPr lang="en-US" altLang="tr-TR" b="1" u="sng" dirty="0">
              <a:solidFill>
                <a:srgbClr val="FF0000"/>
              </a:solidFill>
            </a:endParaRPr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438274"/>
            <a:ext cx="7786742" cy="4991122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04200" cy="704832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Header + Data using IPv4</a:t>
            </a:r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438274"/>
            <a:ext cx="7929618" cy="4991121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152400"/>
            <a:ext cx="8204200" cy="704832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Header + Data using IPv4</a:t>
            </a:r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438274"/>
            <a:ext cx="7929618" cy="4991121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sp>
        <p:nvSpPr>
          <p:cNvPr id="4" name="Rectangle 11"/>
          <p:cNvSpPr>
            <a:spLocks noChangeArrowheads="1"/>
          </p:cNvSpPr>
          <p:nvPr/>
        </p:nvSpPr>
        <p:spPr bwMode="auto">
          <a:xfrm>
            <a:off x="428596" y="3429000"/>
            <a:ext cx="8077200" cy="523220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800" b="1" baseline="0" dirty="0"/>
              <a:t>An IPv4 address is 32 bits long.</a:t>
            </a:r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423890" y="3929066"/>
            <a:ext cx="8077200" cy="1077218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3200" b="1" baseline="0" dirty="0"/>
              <a:t>The IPv4 addresses are unique </a:t>
            </a:r>
            <a:br>
              <a:rPr lang="en-US" sz="3200" b="1" baseline="0" dirty="0"/>
            </a:br>
            <a:r>
              <a:rPr lang="en-US" sz="3200" b="1" baseline="0" dirty="0"/>
              <a:t>and universal.</a:t>
            </a:r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428596" y="5000636"/>
            <a:ext cx="8077200" cy="954107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800" b="1" baseline="0" dirty="0"/>
              <a:t>The address space of IPv4 is </a:t>
            </a:r>
            <a:br>
              <a:rPr lang="en-US" sz="2800" b="1" baseline="0" dirty="0"/>
            </a:br>
            <a:r>
              <a:rPr lang="en-US" sz="2800" b="1" baseline="0" dirty="0"/>
              <a:t>2</a:t>
            </a:r>
            <a:r>
              <a:rPr lang="en-US" sz="2800" b="1" baseline="30000" dirty="0"/>
              <a:t>32</a:t>
            </a:r>
            <a:r>
              <a:rPr lang="en-US" sz="2800" b="1" baseline="0" dirty="0"/>
              <a:t>  or  4,294,967,296.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7239000" cy="2590799"/>
          </a:xfrm>
        </p:spPr>
        <p:txBody>
          <a:bodyPr>
            <a:noAutofit/>
          </a:bodyPr>
          <a:lstStyle/>
          <a:p>
            <a:r>
              <a:rPr lang="en-US" sz="3200" b="1" dirty="0"/>
              <a:t>Thank You</a:t>
            </a:r>
          </a:p>
          <a:p>
            <a:r>
              <a:rPr lang="en-US" sz="3200" b="1" dirty="0"/>
              <a:t>Discussion &amp; Doubt session will be in lecture.</a:t>
            </a:r>
          </a:p>
          <a:p>
            <a:pPr>
              <a:buNone/>
            </a:pPr>
            <a:endParaRPr lang="en-US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8600" y="4419600"/>
            <a:ext cx="4724400" cy="16764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Important terms to keep in mind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IP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IPv4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Forwarding and Routing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525</Words>
  <Application>Microsoft Office PowerPoint</Application>
  <PresentationFormat>On-screen Show (4:3)</PresentationFormat>
  <Paragraphs>76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Gill Sans MT</vt:lpstr>
      <vt:lpstr>Times New Roman</vt:lpstr>
      <vt:lpstr>Wingdings</vt:lpstr>
      <vt:lpstr>Office Theme</vt:lpstr>
      <vt:lpstr>COMPUTER NETWORKS (BCSC 0008)</vt:lpstr>
      <vt:lpstr> Text and Reference Books </vt:lpstr>
      <vt:lpstr>Transmission using Network Layer</vt:lpstr>
      <vt:lpstr>Network Layer</vt:lpstr>
      <vt:lpstr>Two key network-layer functions</vt:lpstr>
      <vt:lpstr>PowerPoint Presentation</vt:lpstr>
      <vt:lpstr>Some basics of IP</vt:lpstr>
      <vt:lpstr>Protocols of TCP/IP Protocol Suite</vt:lpstr>
      <vt:lpstr>Internet Protocol (IP)</vt:lpstr>
      <vt:lpstr>Connectionless Internetworking (General)</vt:lpstr>
      <vt:lpstr>Example Internet Protocol Operation</vt:lpstr>
      <vt:lpstr>Internet Protocol (IP) Version 4</vt:lpstr>
      <vt:lpstr>Header + Data using IPv4</vt:lpstr>
      <vt:lpstr>Header + Data using IPv4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(BCSC 0008)</dc:title>
  <dc:creator>Windows User</dc:creator>
  <cp:lastModifiedBy>shabir ali</cp:lastModifiedBy>
  <cp:revision>4</cp:revision>
  <dcterms:created xsi:type="dcterms:W3CDTF">2020-06-29T04:13:42Z</dcterms:created>
  <dcterms:modified xsi:type="dcterms:W3CDTF">2020-10-22T07:30:06Z</dcterms:modified>
</cp:coreProperties>
</file>