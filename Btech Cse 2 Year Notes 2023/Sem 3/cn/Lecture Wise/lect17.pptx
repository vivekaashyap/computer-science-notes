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9"/>
  </p:notesMasterIdLst>
  <p:sldIdLst>
    <p:sldId id="257" r:id="rId3"/>
    <p:sldId id="265" r:id="rId4"/>
    <p:sldId id="843" r:id="rId5"/>
    <p:sldId id="518" r:id="rId6"/>
    <p:sldId id="579" r:id="rId7"/>
    <p:sldId id="557" r:id="rId8"/>
    <p:sldId id="530" r:id="rId9"/>
    <p:sldId id="531" r:id="rId10"/>
    <p:sldId id="532" r:id="rId11"/>
    <p:sldId id="533" r:id="rId12"/>
    <p:sldId id="534" r:id="rId13"/>
    <p:sldId id="549" r:id="rId14"/>
    <p:sldId id="550" r:id="rId15"/>
    <p:sldId id="551" r:id="rId16"/>
    <p:sldId id="552" r:id="rId17"/>
    <p:sldId id="553" r:id="rId18"/>
    <p:sldId id="567" r:id="rId19"/>
    <p:sldId id="554" r:id="rId20"/>
    <p:sldId id="555" r:id="rId21"/>
    <p:sldId id="568" r:id="rId22"/>
    <p:sldId id="569" r:id="rId23"/>
    <p:sldId id="570" r:id="rId24"/>
    <p:sldId id="578" r:id="rId25"/>
    <p:sldId id="535" r:id="rId26"/>
    <p:sldId id="563" r:id="rId27"/>
    <p:sldId id="571" r:id="rId28"/>
    <p:sldId id="572" r:id="rId29"/>
    <p:sldId id="536" r:id="rId30"/>
    <p:sldId id="564" r:id="rId31"/>
    <p:sldId id="573" r:id="rId32"/>
    <p:sldId id="565" r:id="rId33"/>
    <p:sldId id="574" r:id="rId34"/>
    <p:sldId id="575" r:id="rId35"/>
    <p:sldId id="537" r:id="rId36"/>
    <p:sldId id="566" r:id="rId37"/>
    <p:sldId id="57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F17E44-BDC1-4515-8C0B-1374D0AA3111}" type="datetimeFigureOut">
              <a:rPr lang="en-IN" smtClean="0"/>
              <a:t>03-12-2020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B1A913-2FBC-41BF-A4D5-4124FDD15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778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F298FAD-439E-46D5-8362-DC685B71CC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68EAE8-04DB-4374-B79B-ED818FB167BD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095682" name="Rectangle 2">
            <a:extLst>
              <a:ext uri="{FF2B5EF4-FFF2-40B4-BE49-F238E27FC236}">
                <a16:creationId xmlns:a16="http://schemas.microsoft.com/office/drawing/2014/main" id="{EFB6621A-B053-4435-8CDE-29DFA05DEA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683" name="Rectangle 3">
            <a:extLst>
              <a:ext uri="{FF2B5EF4-FFF2-40B4-BE49-F238E27FC236}">
                <a16:creationId xmlns:a16="http://schemas.microsoft.com/office/drawing/2014/main" id="{820D7CE0-20A6-4C21-A8C9-99B822B894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3E747-07F9-434B-BC45-818EC60EE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7CC20E-4AFE-4F76-A16E-1D45EB7433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AA861-0758-4F5D-866A-14BA2719D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FA713-B104-42B2-AED2-205882DEAA76}" type="datetime1">
              <a:rPr lang="en-IN" smtClean="0"/>
              <a:t>03-12-2020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D3585-83B2-4612-8E27-ECD37E8A3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TCP/IP Protocol Suite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B5FEF-FB14-484A-BDC1-026A66422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161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E7174-0A19-42B5-9D88-A732A7326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AC968-AA46-4EA5-A494-D63484C06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8846A-67C1-44B3-93C1-02628BB0A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A4EFF-8EDB-4C03-8A75-D2BA3355D1CF}" type="datetime1">
              <a:rPr lang="en-IN" smtClean="0"/>
              <a:t>03-12-2020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81555-83BB-4319-AA6A-5B0BA7796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TCP/IP Protocol Suite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9B10A-BDB5-4503-A870-2E72BA454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394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D0510-92E4-4684-B966-082359C0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4505A-3878-4CAA-8AB9-346FF4BAB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3CE91-6C9F-4B97-BFB8-C72FF7802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A135-2EBD-47BF-A95B-532904B3A7E7}" type="datetime1">
              <a:rPr lang="en-IN" smtClean="0"/>
              <a:t>03-12-2020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C72D4-1EBB-4424-BF8D-8FE069153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TCP/IP Protocol Suite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69827-F418-48F0-A237-687DD633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700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2D46F-E48B-4CD6-B716-0C6D549D3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D24DD-52A7-482F-89FD-BF32F00295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95D6D4-956F-4947-9760-D2BF78987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674D1-3E8E-4F09-82A1-B0FCC53CB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F9EC-BACE-492E-A33D-64734801036A}" type="datetime1">
              <a:rPr lang="en-IN" smtClean="0"/>
              <a:t>03-12-2020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04584-4AA6-49D5-B41F-6C58D11AD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TCP/IP Protocol Suite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0545E-A78A-42EC-A7F9-369AD4E1F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97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26F41-A6ED-48C1-8C3B-D9D17DEB6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65EA6-CEAC-4408-8A9B-194DBBE20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C513E-C762-4DC4-BB42-39271E53D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646DD3-B6EA-409A-88F7-7554635BEF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DE4109-5BA9-44C5-9A4C-28CDF64A09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4C9DA1-61F1-4EE5-B441-09F999AA9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EFE9C-DF1B-4509-ACD9-10B5A93E0C69}" type="datetime1">
              <a:rPr lang="en-IN" smtClean="0"/>
              <a:t>03-12-2020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B4FE1-A658-4030-8168-15EF6B675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TCP/IP Protocol Suite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3F5F94-2BDE-48C8-A5AE-E431D11AE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494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B5AB9-CDB3-4E3F-B606-5E0C87D47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6FA115-7111-4B60-A5B9-43F059E6D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6C7C4-C2A6-4D8C-BF87-53525703919E}" type="datetime1">
              <a:rPr lang="en-IN" smtClean="0"/>
              <a:t>03-12-2020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DB6188-B948-4C97-AA7B-EAF74095B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TCP/IP Protocol Suite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FD2D0-F1E5-432A-B47D-98DFE20B4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029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785E6-276A-4CF7-9866-6A9EA0BA1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F0417-89E9-4577-8B17-909013E1FF38}" type="datetime1">
              <a:rPr lang="en-IN" smtClean="0"/>
              <a:t>03-12-2020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BA2D4-9EBF-4D39-B5B9-93874E1AB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TCP/IP Protocol Suite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AD714-AB3D-4FEA-815C-DDB139174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435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ECC30-3347-4CBC-BCA7-BDACB15F7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06A4D-F201-491D-B4AF-1B07E34D8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0B59F5-5EEE-4979-B373-0CAA1D8FE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B0DC7-DE7C-4308-B69C-F7798EB45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C1566-D0BD-447A-8A42-69C93D04865E}" type="datetime1">
              <a:rPr lang="en-IN" smtClean="0"/>
              <a:t>03-12-2020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F3BB3-33D9-4922-8941-44E11F23C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TCP/IP Protocol Suite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7D629-E868-4ACA-AD7C-DE90C59D3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739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2CD59-FF70-44BA-8F2F-F29600431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E621FF-9E5C-42FC-B0CF-6321A69808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1C0EE9-406B-4100-916D-2E4F565D92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AC6D38-9904-4CF7-B107-A490964E0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C9BE4-38C7-4CEE-A982-0BEDF4910C56}" type="datetime1">
              <a:rPr lang="en-IN" smtClean="0"/>
              <a:t>03-12-2020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29B5E7-AAF1-4659-AAFC-EFE9CD4B0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TCP/IP Protocol Suite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FBE07-50F3-4F8F-B531-B210D7B17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472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F2F24-07D3-406A-BC00-7884A0AD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84D9FD-2295-4D91-B44A-FED97B4452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5DEB3-BD97-410F-81B6-64FA8F452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11565-5BA4-49AF-9694-A247BAC53A3A}" type="datetime1">
              <a:rPr lang="en-IN" smtClean="0"/>
              <a:t>03-12-2020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95C8D-9402-411F-B7C8-1BB681B03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TCP/IP Protocol Suite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4FA15-82A8-45FC-B953-CC2C21F25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466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A41AC9-1D93-4DBD-B112-89592EFA8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9E7E1A-05FA-40CE-8AFD-8E287887B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241AE-3983-40E2-870B-29BC6A39B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2F510-7F15-49A3-AF03-AE6B4313FC30}" type="datetime1">
              <a:rPr lang="en-IN" smtClean="0"/>
              <a:t>03-12-2020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30C94-6A50-4631-B01D-38D19ADB0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TCP/IP Protocol Suite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151BC-0FAE-44A0-964E-24B4E5B3A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910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8B0C0225-8EC7-4E78-A7E8-C7EA0AA77379}" type="datetime1">
              <a:rPr lang="en-IN" smtClean="0"/>
              <a:t>03-12-2020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/>
              <a:t>TCP/IP Protocol Suite</a:t>
            </a:r>
          </a:p>
        </p:txBody>
      </p:sp>
    </p:spTree>
    <p:extLst>
      <p:ext uri="{BB962C8B-B14F-4D97-AF65-F5344CB8AC3E}">
        <p14:creationId xmlns:p14="http://schemas.microsoft.com/office/powerpoint/2010/main" val="1074606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E65AD46B-5C57-49CB-AB09-81D57C413DF1}" type="datetime1">
              <a:rPr lang="en-IN" smtClean="0"/>
              <a:t>03-12-2020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/>
              <a:t>TCP/IP Protocol Suite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8000" y="6356351"/>
            <a:ext cx="914400" cy="365125"/>
          </a:xfrm>
          <a:prstGeom prst="rect">
            <a:avLst/>
          </a:prstGeom>
        </p:spPr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968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0E948593-534E-42CE-9944-576AE4AAD1E9}" type="datetime1">
              <a:rPr lang="en-IN" smtClean="0"/>
              <a:t>03-12-2020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/>
              <a:t>TCP/IP Protocol Suite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5285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27174494-28B6-4182-8E9A-2A3338FE7680}" type="datetime1">
              <a:rPr lang="en-IN" smtClean="0"/>
              <a:t>03-12-2020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/>
              <a:t>TCP/IP Protocol Suite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2025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7689A613-5CC1-4F11-B85E-2E6C55D8BEA1}" type="datetime1">
              <a:rPr lang="en-IN" smtClean="0"/>
              <a:t>03-12-2020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/>
              <a:t>TCP/IP Protocol Suite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3647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BF746964-7066-48C3-86CC-35D4B5E9D58C}" type="datetime1">
              <a:rPr lang="en-IN" smtClean="0"/>
              <a:t>03-12-2020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/>
              <a:t>TCP/IP Protocol Suite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7253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A32D94B9-B355-4ADD-869D-2E1AF8B4EB2D}" type="datetime1">
              <a:rPr lang="en-IN" smtClean="0"/>
              <a:t>03-12-2020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/>
              <a:t>TCP/IP Protocol Suite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1782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D61A4F00-668F-4B38-B2B8-B4767A0BB8AD}" type="datetime1">
              <a:rPr lang="en-IN" smtClean="0"/>
              <a:t>03-12-2020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/>
              <a:t>TCP/IP Protocol Suite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5224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4A40B818-2D4B-4D85-BAD1-568B9406E7C4}" type="datetime1">
              <a:rPr lang="en-IN" smtClean="0"/>
              <a:t>03-12-2020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/>
              <a:t>TCP/IP Protocol Suite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3442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21461EA1-08E3-472B-8F1D-D7824A3C2DD8}" type="datetime1">
              <a:rPr lang="en-IN" smtClean="0"/>
              <a:t>03-12-2020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/>
              <a:t>TCP/IP Protocol Suite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7106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4116FD0F-4DCA-456F-85EA-26448C551619}" type="datetime1">
              <a:rPr lang="en-IN" smtClean="0"/>
              <a:t>03-12-2020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/>
              <a:t>TCP/IP Protocol Suite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511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F689EB-1464-40A4-BE2D-C78967CC2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3148C-53BE-4744-8307-6C45106DF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762B0-F067-4089-AF7F-3949D403F9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B6762E-04CE-4229-A03A-166FB66B7AD3}" type="datetime1">
              <a:rPr lang="en-IN" smtClean="0"/>
              <a:t>03-12-2020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E6463-78CB-42C5-B39E-B3A30763D4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TCP/IP Protocol Suite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99277-D454-4C1A-9C3C-BB62D91DB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543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152400"/>
            <a:ext cx="109728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71601"/>
            <a:ext cx="10972800" cy="475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IN"/>
              <a:t>TCP/IP Protocol Suite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711200" y="1295400"/>
            <a:ext cx="10871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57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3515099"/>
            <a:ext cx="7772400" cy="16764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none" dirty="0"/>
              <a:t>COMPUTER NETWORKS</a:t>
            </a:r>
            <a:br>
              <a:rPr lang="en-US" b="1" u="none" dirty="0"/>
            </a:br>
            <a:r>
              <a:rPr lang="en-US" b="1" u="none" dirty="0"/>
              <a:t>(</a:t>
            </a:r>
            <a:r>
              <a:rPr lang="en-US" b="1" dirty="0"/>
              <a:t>BCSC 0008)</a:t>
            </a:r>
            <a:br>
              <a:rPr lang="en-US" b="1" dirty="0"/>
            </a:br>
            <a:r>
              <a:rPr lang="en-US" b="1" dirty="0"/>
              <a:t>FTP</a:t>
            </a:r>
            <a:endParaRPr lang="en-US" b="1" u="none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63029" y="367749"/>
            <a:ext cx="2065942" cy="2152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Footer Placeholder 5"/>
          <p:cNvSpPr txBox="1">
            <a:spLocks/>
          </p:cNvSpPr>
          <p:nvPr/>
        </p:nvSpPr>
        <p:spPr>
          <a:xfrm>
            <a:off x="2705100" y="5191499"/>
            <a:ext cx="678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>
              <a:defRPr/>
            </a:pPr>
            <a:r>
              <a:rPr lang="en-US" sz="1200" b="1" dirty="0">
                <a:latin typeface="Times New Roman"/>
                <a:ea typeface="Calibri"/>
                <a:cs typeface="Times New Roman"/>
              </a:rPr>
              <a:t>Copyright content, use only with the written permission of presenter mentioned</a:t>
            </a:r>
            <a:endParaRPr lang="en-US" altLang="zh-TW" sz="1200" dirty="0">
              <a:latin typeface="Times New Roman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4EDF21-E5DB-4738-AF64-E5642F42B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r>
              <a:rPr lang="en-US" b="1" dirty="0"/>
              <a:t>Text and Reference Books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sz="2400" dirty="0">
                <a:solidFill>
                  <a:srgbClr val="FF0000"/>
                </a:solidFill>
              </a:rPr>
              <a:t>Text Books: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Fourouzan B. A. (2004), “Data Communication and Networking”, 4th Edition, McGraw-Hill.</a:t>
            </a:r>
          </a:p>
          <a:p>
            <a:pPr algn="just"/>
            <a:endParaRPr lang="en-US" sz="2400" dirty="0"/>
          </a:p>
          <a:p>
            <a:pPr algn="just">
              <a:buNone/>
            </a:pPr>
            <a:r>
              <a:rPr lang="en-US" sz="2400" dirty="0">
                <a:solidFill>
                  <a:srgbClr val="FF0000"/>
                </a:solidFill>
              </a:rPr>
              <a:t>References: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Kurose, J. F. and Ross K. W. (2005), “Computer Networking: A Top-Down Approach Featuring the Internet”, 3rd Edition, Addison-Wesley.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A. S. Tanenbaum (2006), “Computer Networks”, 2nd Edition, Prentice Hall India.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D16C2-F0B2-4D3F-9362-D2EB45D40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AFE80AEF-E481-4A67-8896-66D11BEB82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23.</a:t>
            </a:r>
            <a:fld id="{CDD33735-B7EF-414E-BBAA-3FBA87B8D04A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094658" name="Line 2">
            <a:extLst>
              <a:ext uri="{FF2B5EF4-FFF2-40B4-BE49-F238E27FC236}">
                <a16:creationId xmlns:a16="http://schemas.microsoft.com/office/drawing/2014/main" id="{711EF5DF-FC4B-433C-9F72-30839ED4B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94659" name="Line 3">
            <a:extLst>
              <a:ext uri="{FF2B5EF4-FFF2-40B4-BE49-F238E27FC236}">
                <a16:creationId xmlns:a16="http://schemas.microsoft.com/office/drawing/2014/main" id="{60E4B8E1-B160-4F32-B8D6-83A0E6C249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94660" name="Text Box 4">
            <a:extLst>
              <a:ext uri="{FF2B5EF4-FFF2-40B4-BE49-F238E27FC236}">
                <a16:creationId xmlns:a16="http://schemas.microsoft.com/office/drawing/2014/main" id="{F4FAD91D-A0ED-43FB-9F77-92875728F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81000"/>
            <a:ext cx="39008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Transport Layer: Introduction</a:t>
            </a:r>
            <a:endParaRPr lang="en-US" altLang="en-US" sz="2000" i="1" dirty="0">
              <a:latin typeface="Times New Roman" panose="02020603050405020304" pitchFamily="18" charset="0"/>
            </a:endParaRPr>
          </a:p>
        </p:txBody>
      </p:sp>
      <p:sp>
        <p:nvSpPr>
          <p:cNvPr id="1094661" name="Line 5">
            <a:extLst>
              <a:ext uri="{FF2B5EF4-FFF2-40B4-BE49-F238E27FC236}">
                <a16:creationId xmlns:a16="http://schemas.microsoft.com/office/drawing/2014/main" id="{573EDAAA-0196-4647-B9C9-AD25C146A6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94662" name="Picture 6">
            <a:extLst>
              <a:ext uri="{FF2B5EF4-FFF2-40B4-BE49-F238E27FC236}">
                <a16:creationId xmlns:a16="http://schemas.microsoft.com/office/drawing/2014/main" id="{E1319A13-6265-4A8E-AA86-EAEB3628C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0" y="1066800"/>
            <a:ext cx="7138988" cy="501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F83A6F8A-40FD-460C-BECA-0610DC991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71442-6579-45D1-9F83-9864C9BABE59}" type="slidenum">
              <a:rPr lang="en-US" altLang="en-US"/>
              <a:pPr/>
              <a:t>4</a:t>
            </a:fld>
            <a:endParaRPr lang="en-US" altLang="en-US"/>
          </a:p>
        </p:txBody>
      </p:sp>
      <p:grpSp>
        <p:nvGrpSpPr>
          <p:cNvPr id="450562" name="Group 2">
            <a:extLst>
              <a:ext uri="{FF2B5EF4-FFF2-40B4-BE49-F238E27FC236}">
                <a16:creationId xmlns:a16="http://schemas.microsoft.com/office/drawing/2014/main" id="{B3B3CF92-091C-4048-A3E2-A8E78584E330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0"/>
            <a:ext cx="8686800" cy="6400800"/>
            <a:chOff x="0" y="96"/>
            <a:chExt cx="5472" cy="3840"/>
          </a:xfrm>
        </p:grpSpPr>
        <p:sp>
          <p:nvSpPr>
            <p:cNvPr id="450563" name="AutoShape 3">
              <a:extLst>
                <a:ext uri="{FF2B5EF4-FFF2-40B4-BE49-F238E27FC236}">
                  <a16:creationId xmlns:a16="http://schemas.microsoft.com/office/drawing/2014/main" id="{6109DB86-BEBA-44F6-85B4-677336ABE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336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50564" name="AutoShape 4">
              <a:extLst>
                <a:ext uri="{FF2B5EF4-FFF2-40B4-BE49-F238E27FC236}">
                  <a16:creationId xmlns:a16="http://schemas.microsoft.com/office/drawing/2014/main" id="{C6352ADE-7A0B-4F47-87CB-A36B7AF6A535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0" y="96"/>
              <a:ext cx="5376" cy="768"/>
            </a:xfrm>
            <a:custGeom>
              <a:avLst/>
              <a:gdLst>
                <a:gd name="G0" fmla="+- 1000 0 0"/>
                <a:gd name="G1" fmla="+- 1000 0 0"/>
                <a:gd name="G2" fmla="+- G0 0 G1"/>
                <a:gd name="G3" fmla="*/ G1 1 2"/>
                <a:gd name="G4" fmla="+- G0 0 G3"/>
                <a:gd name="T0" fmla="*/ 0 w 1000"/>
                <a:gd name="T1" fmla="*/ 0 h 1000"/>
                <a:gd name="T2" fmla="*/ 6170 w 1000"/>
                <a:gd name="T3" fmla="*/ 0 h 1000"/>
                <a:gd name="T4" fmla="*/ 6670 w 1000"/>
                <a:gd name="T5" fmla="*/ 500 h 1000"/>
                <a:gd name="T6" fmla="*/ 6170 w 1000"/>
                <a:gd name="T7" fmla="*/ 999 h 1000"/>
                <a:gd name="T8" fmla="*/ 0 w 1000"/>
                <a:gd name="T9" fmla="*/ 1000 h 1000"/>
                <a:gd name="T10" fmla="*/ 0 w 1000"/>
                <a:gd name="T11" fmla="*/ 0 h 1000"/>
                <a:gd name="T12" fmla="*/ G4 w 1000"/>
                <a:gd name="T13" fmla="*/ G1 h 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T10" t="T11" r="T12" b="T13"/>
              <a:pathLst>
                <a:path w="7000" h="1000">
                  <a:moveTo>
                    <a:pt x="0" y="0"/>
                  </a:moveTo>
                  <a:lnTo>
                    <a:pt x="6170" y="0"/>
                  </a:lnTo>
                  <a:cubicBezTo>
                    <a:pt x="6446" y="0"/>
                    <a:pt x="6670" y="223"/>
                    <a:pt x="6670" y="500"/>
                  </a:cubicBezTo>
                  <a:cubicBezTo>
                    <a:pt x="6670" y="776"/>
                    <a:pt x="6446" y="999"/>
                    <a:pt x="6170" y="999"/>
                  </a:cubicBezTo>
                  <a:lnTo>
                    <a:pt x="0" y="100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50565" name="Line 5">
              <a:extLst>
                <a:ext uri="{FF2B5EF4-FFF2-40B4-BE49-F238E27FC236}">
                  <a16:creationId xmlns:a16="http://schemas.microsoft.com/office/drawing/2014/main" id="{6CDDA3E6-2FE5-48E9-A375-B70EA70409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768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50566" name="Text Box 6">
            <a:extLst>
              <a:ext uri="{FF2B5EF4-FFF2-40B4-BE49-F238E27FC236}">
                <a16:creationId xmlns:a16="http://schemas.microsoft.com/office/drawing/2014/main" id="{D975839D-658F-4DEA-96D0-897154431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"/>
            <a:ext cx="7258878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3600" dirty="0">
                <a:solidFill>
                  <a:schemeClr val="bg1"/>
                </a:solidFill>
                <a:latin typeface="Arial" panose="020B0604020202020204" pitchFamily="34" charset="0"/>
              </a:rPr>
              <a:t>  FILE TRANSFER        PROTOCOL (FTP)</a:t>
            </a:r>
          </a:p>
        </p:txBody>
      </p:sp>
      <p:sp>
        <p:nvSpPr>
          <p:cNvPr id="450568" name="Rectangle 8">
            <a:extLst>
              <a:ext uri="{FF2B5EF4-FFF2-40B4-BE49-F238E27FC236}">
                <a16:creationId xmlns:a16="http://schemas.microsoft.com/office/drawing/2014/main" id="{57F2DDEA-628D-4C09-A6B1-6CF9A8914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039986"/>
            <a:ext cx="7848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File Transfer Protocol (FTP) is the standard mechanism provided by TCP/IP for copying a file from one host to another. </a:t>
            </a:r>
          </a:p>
        </p:txBody>
      </p:sp>
      <p:sp>
        <p:nvSpPr>
          <p:cNvPr id="450569" name="Rectangle 9">
            <a:extLst>
              <a:ext uri="{FF2B5EF4-FFF2-40B4-BE49-F238E27FC236}">
                <a16:creationId xmlns:a16="http://schemas.microsoft.com/office/drawing/2014/main" id="{FD2B9F5E-D418-4840-B40A-4DA8F0B2E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870326"/>
            <a:ext cx="784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The topics discussed in this section include:</a:t>
            </a:r>
          </a:p>
        </p:txBody>
      </p:sp>
      <p:sp>
        <p:nvSpPr>
          <p:cNvPr id="450570" name="Rectangle 10">
            <a:extLst>
              <a:ext uri="{FF2B5EF4-FFF2-40B4-BE49-F238E27FC236}">
                <a16:creationId xmlns:a16="http://schemas.microsoft.com/office/drawing/2014/main" id="{2BF5304E-9902-4B66-86DD-38B1ED968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403726"/>
            <a:ext cx="73152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Connections </a:t>
            </a:r>
          </a:p>
          <a:p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Communication </a:t>
            </a:r>
          </a:p>
          <a:p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Command Processing </a:t>
            </a:r>
          </a:p>
          <a:p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File Transfer </a:t>
            </a:r>
          </a:p>
          <a:p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Anonymous FTP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8621C-D0DF-4B45-97DC-F21DB8C24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FTP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D2930-9A2F-46BE-A0E4-641429157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5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BB7119-6842-48F3-9DE5-D41312C57B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196" t="32910" r="3804" b="29225"/>
          <a:stretch/>
        </p:blipFill>
        <p:spPr>
          <a:xfrm>
            <a:off x="834887" y="2424632"/>
            <a:ext cx="10031896" cy="359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063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D1C5704-1BBF-4B45-98C4-D23CA20C0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EA06D-114E-4395-A81B-936D0A6D7406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503810" name="Rectangle 2">
            <a:extLst>
              <a:ext uri="{FF2B5EF4-FFF2-40B4-BE49-F238E27FC236}">
                <a16:creationId xmlns:a16="http://schemas.microsoft.com/office/drawing/2014/main" id="{36F762F5-1CEA-44DB-9F6E-7595D67AC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195514"/>
            <a:ext cx="7543800" cy="3144451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ts val="1200"/>
              </a:spcBef>
              <a:spcAft>
                <a:spcPts val="1000"/>
              </a:spcAft>
            </a:pPr>
            <a:r>
              <a:rPr lang="en-US" altLang="en-US" sz="3600" i="1">
                <a:latin typeface="Times New Roman" panose="02020603050405020304" pitchFamily="18" charset="0"/>
              </a:rPr>
              <a:t>FTP uses the services of TCP. It needs two TCP connections.</a:t>
            </a:r>
          </a:p>
          <a:p>
            <a:pPr algn="ctr">
              <a:spcBef>
                <a:spcPts val="1200"/>
              </a:spcBef>
              <a:spcAft>
                <a:spcPts val="1000"/>
              </a:spcAft>
            </a:pPr>
            <a:r>
              <a:rPr lang="en-US" altLang="en-US" sz="3600" i="1">
                <a:latin typeface="Times New Roman" panose="02020603050405020304" pitchFamily="18" charset="0"/>
              </a:rPr>
              <a:t>The well-known port 21 is used for the control connection and the well-known port 20 for the data connection.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584DBC6F-F824-4FB1-A297-FADB226EB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00D2F-F0ED-4DC0-8F30-B718456639AD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476162" name="Text Box 2">
            <a:extLst>
              <a:ext uri="{FF2B5EF4-FFF2-40B4-BE49-F238E27FC236}">
                <a16:creationId xmlns:a16="http://schemas.microsoft.com/office/drawing/2014/main" id="{0AA0F655-94B6-4BDC-A814-BF399CD5B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3395" y="601663"/>
            <a:ext cx="5715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 b="1" i="1" dirty="0">
                <a:latin typeface="Times New Roman" panose="02020603050405020304" pitchFamily="18" charset="0"/>
              </a:rPr>
              <a:t>Opening the control connection</a:t>
            </a:r>
          </a:p>
        </p:txBody>
      </p:sp>
      <p:sp>
        <p:nvSpPr>
          <p:cNvPr id="476163" name="Rectangle 3">
            <a:extLst>
              <a:ext uri="{FF2B5EF4-FFF2-40B4-BE49-F238E27FC236}">
                <a16:creationId xmlns:a16="http://schemas.microsoft.com/office/drawing/2014/main" id="{329D4220-0EB9-430F-96B7-F269D5310A1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76164" name="Rectangle 4">
            <a:extLst>
              <a:ext uri="{FF2B5EF4-FFF2-40B4-BE49-F238E27FC236}">
                <a16:creationId xmlns:a16="http://schemas.microsoft.com/office/drawing/2014/main" id="{E0529F1C-B20E-47F1-A834-A7F052DEFAD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76165" name="Rectangle 5">
            <a:extLst>
              <a:ext uri="{FF2B5EF4-FFF2-40B4-BE49-F238E27FC236}">
                <a16:creationId xmlns:a16="http://schemas.microsoft.com/office/drawing/2014/main" id="{D33D367E-E331-4941-93B7-7F3A5DD94E3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76166" name="Rectangle 6">
            <a:extLst>
              <a:ext uri="{FF2B5EF4-FFF2-40B4-BE49-F238E27FC236}">
                <a16:creationId xmlns:a16="http://schemas.microsoft.com/office/drawing/2014/main" id="{2510121C-6EC2-4EE5-BE5F-D2D27B59C03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76167" name="Rectangle 7">
            <a:extLst>
              <a:ext uri="{FF2B5EF4-FFF2-40B4-BE49-F238E27FC236}">
                <a16:creationId xmlns:a16="http://schemas.microsoft.com/office/drawing/2014/main" id="{DE73AD29-39CF-462C-9F17-33434A8DB72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76168" name="Rectangle 8">
            <a:extLst>
              <a:ext uri="{FF2B5EF4-FFF2-40B4-BE49-F238E27FC236}">
                <a16:creationId xmlns:a16="http://schemas.microsoft.com/office/drawing/2014/main" id="{62067FD7-C69B-484A-BC4D-9B31E7DA6805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76169" name="Rectangle 9">
            <a:extLst>
              <a:ext uri="{FF2B5EF4-FFF2-40B4-BE49-F238E27FC236}">
                <a16:creationId xmlns:a16="http://schemas.microsoft.com/office/drawing/2014/main" id="{C417468A-0F7D-4E73-BD1D-420C5811018C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pic>
        <p:nvPicPr>
          <p:cNvPr id="476170" name="Picture 10">
            <a:extLst>
              <a:ext uri="{FF2B5EF4-FFF2-40B4-BE49-F238E27FC236}">
                <a16:creationId xmlns:a16="http://schemas.microsoft.com/office/drawing/2014/main" id="{7E3D9126-0ED2-4860-815A-B7AA9C4CD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403351"/>
            <a:ext cx="6846887" cy="531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51EB570D-0187-41B5-AC7C-EBE7743D4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10256-6488-48CC-B32B-BFB0CB0FB043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477186" name="Text Box 2">
            <a:extLst>
              <a:ext uri="{FF2B5EF4-FFF2-40B4-BE49-F238E27FC236}">
                <a16:creationId xmlns:a16="http://schemas.microsoft.com/office/drawing/2014/main" id="{4A665948-F20C-4FF4-9872-E03081F21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0200" y="547067"/>
            <a:ext cx="5715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 b="1" i="1" dirty="0">
                <a:latin typeface="Times New Roman" panose="02020603050405020304" pitchFamily="18" charset="0"/>
              </a:rPr>
              <a:t>Creating the data connection</a:t>
            </a:r>
          </a:p>
        </p:txBody>
      </p:sp>
      <p:sp>
        <p:nvSpPr>
          <p:cNvPr id="477187" name="Rectangle 3">
            <a:extLst>
              <a:ext uri="{FF2B5EF4-FFF2-40B4-BE49-F238E27FC236}">
                <a16:creationId xmlns:a16="http://schemas.microsoft.com/office/drawing/2014/main" id="{D7D16173-4513-4EC7-8953-66F5F5A0252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77188" name="Rectangle 4">
            <a:extLst>
              <a:ext uri="{FF2B5EF4-FFF2-40B4-BE49-F238E27FC236}">
                <a16:creationId xmlns:a16="http://schemas.microsoft.com/office/drawing/2014/main" id="{48804647-A6A1-41A4-AF58-1CC50356C70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77189" name="Rectangle 5">
            <a:extLst>
              <a:ext uri="{FF2B5EF4-FFF2-40B4-BE49-F238E27FC236}">
                <a16:creationId xmlns:a16="http://schemas.microsoft.com/office/drawing/2014/main" id="{4F39ECB9-021D-4111-BFD3-75D1C478773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77190" name="Rectangle 6">
            <a:extLst>
              <a:ext uri="{FF2B5EF4-FFF2-40B4-BE49-F238E27FC236}">
                <a16:creationId xmlns:a16="http://schemas.microsoft.com/office/drawing/2014/main" id="{DE1F30F9-F4C7-4D61-BC5B-F363B9478DE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77191" name="Rectangle 7">
            <a:extLst>
              <a:ext uri="{FF2B5EF4-FFF2-40B4-BE49-F238E27FC236}">
                <a16:creationId xmlns:a16="http://schemas.microsoft.com/office/drawing/2014/main" id="{0ED463FB-9823-4903-9479-58A8C306579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77192" name="Rectangle 8">
            <a:extLst>
              <a:ext uri="{FF2B5EF4-FFF2-40B4-BE49-F238E27FC236}">
                <a16:creationId xmlns:a16="http://schemas.microsoft.com/office/drawing/2014/main" id="{F7B2F009-77EC-4813-B48B-8262E46B4133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77193" name="Rectangle 9">
            <a:extLst>
              <a:ext uri="{FF2B5EF4-FFF2-40B4-BE49-F238E27FC236}">
                <a16:creationId xmlns:a16="http://schemas.microsoft.com/office/drawing/2014/main" id="{809A759E-437F-4328-B87E-CC4DDD2A29FC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pic>
        <p:nvPicPr>
          <p:cNvPr id="477194" name="Picture 10">
            <a:extLst>
              <a:ext uri="{FF2B5EF4-FFF2-40B4-BE49-F238E27FC236}">
                <a16:creationId xmlns:a16="http://schemas.microsoft.com/office/drawing/2014/main" id="{14B26641-C3BC-4627-B354-0A31B4D77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923" y="1189038"/>
            <a:ext cx="4891087" cy="553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52E65779-8854-406F-9CF7-71F538C58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0C602-5CB8-4B5A-88D4-9A73762B65E7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478210" name="Text Box 2">
            <a:extLst>
              <a:ext uri="{FF2B5EF4-FFF2-40B4-BE49-F238E27FC236}">
                <a16:creationId xmlns:a16="http://schemas.microsoft.com/office/drawing/2014/main" id="{B6D19AA1-50EE-401C-B7F1-2A4CC2076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0200" y="638177"/>
            <a:ext cx="5715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 b="1" i="1" dirty="0">
                <a:latin typeface="Times New Roman" panose="02020603050405020304" pitchFamily="18" charset="0"/>
              </a:rPr>
              <a:t>Using the control connection</a:t>
            </a:r>
          </a:p>
        </p:txBody>
      </p:sp>
      <p:sp>
        <p:nvSpPr>
          <p:cNvPr id="478211" name="Rectangle 3">
            <a:extLst>
              <a:ext uri="{FF2B5EF4-FFF2-40B4-BE49-F238E27FC236}">
                <a16:creationId xmlns:a16="http://schemas.microsoft.com/office/drawing/2014/main" id="{E43BD292-0EFC-4EB6-B3D5-7AFFC543FD7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78212" name="Rectangle 4">
            <a:extLst>
              <a:ext uri="{FF2B5EF4-FFF2-40B4-BE49-F238E27FC236}">
                <a16:creationId xmlns:a16="http://schemas.microsoft.com/office/drawing/2014/main" id="{280E4D0B-8CC4-4451-B31F-B73DC5CAFB7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78213" name="Rectangle 5">
            <a:extLst>
              <a:ext uri="{FF2B5EF4-FFF2-40B4-BE49-F238E27FC236}">
                <a16:creationId xmlns:a16="http://schemas.microsoft.com/office/drawing/2014/main" id="{46815784-941B-49DE-BF5F-D115527D7EB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78214" name="Rectangle 6">
            <a:extLst>
              <a:ext uri="{FF2B5EF4-FFF2-40B4-BE49-F238E27FC236}">
                <a16:creationId xmlns:a16="http://schemas.microsoft.com/office/drawing/2014/main" id="{6BF83809-9561-441A-BF50-23C07578AA5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78215" name="Rectangle 7">
            <a:extLst>
              <a:ext uri="{FF2B5EF4-FFF2-40B4-BE49-F238E27FC236}">
                <a16:creationId xmlns:a16="http://schemas.microsoft.com/office/drawing/2014/main" id="{3D467AE6-A488-4996-ADB3-6BE04F55F6F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78216" name="Rectangle 8">
            <a:extLst>
              <a:ext uri="{FF2B5EF4-FFF2-40B4-BE49-F238E27FC236}">
                <a16:creationId xmlns:a16="http://schemas.microsoft.com/office/drawing/2014/main" id="{70FEAE22-7D1C-46EB-A3F0-E8A9560C99B4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78217" name="Rectangle 9">
            <a:extLst>
              <a:ext uri="{FF2B5EF4-FFF2-40B4-BE49-F238E27FC236}">
                <a16:creationId xmlns:a16="http://schemas.microsoft.com/office/drawing/2014/main" id="{1ACD1487-1DB8-4265-AB52-BA929E6DEAA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pic>
        <p:nvPicPr>
          <p:cNvPr id="478218" name="Picture 10">
            <a:extLst>
              <a:ext uri="{FF2B5EF4-FFF2-40B4-BE49-F238E27FC236}">
                <a16:creationId xmlns:a16="http://schemas.microsoft.com/office/drawing/2014/main" id="{37F0C2EF-8765-4203-8E0E-95F3B10FB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338" y="2344738"/>
            <a:ext cx="7129462" cy="2151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260878C1-ABDF-41AE-BBE1-D65D43A7F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8AEB-80CB-4942-B537-D520F295224C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479234" name="Text Box 2">
            <a:extLst>
              <a:ext uri="{FF2B5EF4-FFF2-40B4-BE49-F238E27FC236}">
                <a16:creationId xmlns:a16="http://schemas.microsoft.com/office/drawing/2014/main" id="{64C92BE8-6CFC-48C6-84C4-C89ADDF9D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2725" y="611673"/>
            <a:ext cx="5715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 b="1" i="1" dirty="0">
                <a:latin typeface="Times New Roman" panose="02020603050405020304" pitchFamily="18" charset="0"/>
              </a:rPr>
              <a:t>Using the data connection</a:t>
            </a:r>
          </a:p>
        </p:txBody>
      </p:sp>
      <p:sp>
        <p:nvSpPr>
          <p:cNvPr id="479235" name="Rectangle 3">
            <a:extLst>
              <a:ext uri="{FF2B5EF4-FFF2-40B4-BE49-F238E27FC236}">
                <a16:creationId xmlns:a16="http://schemas.microsoft.com/office/drawing/2014/main" id="{5E7AC033-0D93-4061-89BF-0C1D9CAC4C0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79236" name="Rectangle 4">
            <a:extLst>
              <a:ext uri="{FF2B5EF4-FFF2-40B4-BE49-F238E27FC236}">
                <a16:creationId xmlns:a16="http://schemas.microsoft.com/office/drawing/2014/main" id="{CB5F4889-D8A8-46B8-9849-E0C787AF2CA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79237" name="Rectangle 5">
            <a:extLst>
              <a:ext uri="{FF2B5EF4-FFF2-40B4-BE49-F238E27FC236}">
                <a16:creationId xmlns:a16="http://schemas.microsoft.com/office/drawing/2014/main" id="{379C712E-C00A-492C-A3B2-71CD59F5F77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79238" name="Rectangle 6">
            <a:extLst>
              <a:ext uri="{FF2B5EF4-FFF2-40B4-BE49-F238E27FC236}">
                <a16:creationId xmlns:a16="http://schemas.microsoft.com/office/drawing/2014/main" id="{CDAF75F8-0E41-4368-AB38-989D25DD31C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79239" name="Rectangle 7">
            <a:extLst>
              <a:ext uri="{FF2B5EF4-FFF2-40B4-BE49-F238E27FC236}">
                <a16:creationId xmlns:a16="http://schemas.microsoft.com/office/drawing/2014/main" id="{7ECFED10-3E8E-4154-AA77-8E32138EAC8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79240" name="Rectangle 8">
            <a:extLst>
              <a:ext uri="{FF2B5EF4-FFF2-40B4-BE49-F238E27FC236}">
                <a16:creationId xmlns:a16="http://schemas.microsoft.com/office/drawing/2014/main" id="{8C975F5C-D4A2-45EA-B60C-3CAF33C5B348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79241" name="Rectangle 9">
            <a:extLst>
              <a:ext uri="{FF2B5EF4-FFF2-40B4-BE49-F238E27FC236}">
                <a16:creationId xmlns:a16="http://schemas.microsoft.com/office/drawing/2014/main" id="{9C361D2F-3B38-4D46-B469-016C42C1320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pic>
        <p:nvPicPr>
          <p:cNvPr id="479242" name="Picture 10">
            <a:extLst>
              <a:ext uri="{FF2B5EF4-FFF2-40B4-BE49-F238E27FC236}">
                <a16:creationId xmlns:a16="http://schemas.microsoft.com/office/drawing/2014/main" id="{E511E8CC-9A49-45AE-B5C8-40F83E246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514" y="2595564"/>
            <a:ext cx="8675687" cy="181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C6195314-C119-4145-8769-64E64BC4E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A1719-13CC-4FA0-A5EB-6C9454669D9F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480258" name="Text Box 2">
            <a:extLst>
              <a:ext uri="{FF2B5EF4-FFF2-40B4-BE49-F238E27FC236}">
                <a16:creationId xmlns:a16="http://schemas.microsoft.com/office/drawing/2014/main" id="{6DD7CAF6-FB9D-4B43-82CC-43B6B0494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3849" y="615329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b="1" i="1" dirty="0">
                <a:latin typeface="Times New Roman" panose="02020603050405020304" pitchFamily="18" charset="0"/>
              </a:rPr>
              <a:t>Command processing</a:t>
            </a:r>
          </a:p>
        </p:txBody>
      </p:sp>
      <p:sp>
        <p:nvSpPr>
          <p:cNvPr id="480259" name="Rectangle 3">
            <a:extLst>
              <a:ext uri="{FF2B5EF4-FFF2-40B4-BE49-F238E27FC236}">
                <a16:creationId xmlns:a16="http://schemas.microsoft.com/office/drawing/2014/main" id="{DF5A48F9-6105-4390-A796-EF3649205FE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80260" name="Rectangle 4">
            <a:extLst>
              <a:ext uri="{FF2B5EF4-FFF2-40B4-BE49-F238E27FC236}">
                <a16:creationId xmlns:a16="http://schemas.microsoft.com/office/drawing/2014/main" id="{E93FC9B8-2665-40B4-9129-6F101367838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80261" name="Rectangle 5">
            <a:extLst>
              <a:ext uri="{FF2B5EF4-FFF2-40B4-BE49-F238E27FC236}">
                <a16:creationId xmlns:a16="http://schemas.microsoft.com/office/drawing/2014/main" id="{96DFE9A4-D672-4F02-8D29-3728DE4D4E9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80262" name="Rectangle 6">
            <a:extLst>
              <a:ext uri="{FF2B5EF4-FFF2-40B4-BE49-F238E27FC236}">
                <a16:creationId xmlns:a16="http://schemas.microsoft.com/office/drawing/2014/main" id="{A830DDA7-CA7D-48EE-94B6-7B34F2E967B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80263" name="Rectangle 7">
            <a:extLst>
              <a:ext uri="{FF2B5EF4-FFF2-40B4-BE49-F238E27FC236}">
                <a16:creationId xmlns:a16="http://schemas.microsoft.com/office/drawing/2014/main" id="{F093A93A-3E49-4D68-B221-E521C09AFE5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80264" name="Rectangle 8">
            <a:extLst>
              <a:ext uri="{FF2B5EF4-FFF2-40B4-BE49-F238E27FC236}">
                <a16:creationId xmlns:a16="http://schemas.microsoft.com/office/drawing/2014/main" id="{58BAF5B3-8B8E-49A4-B5B8-16FDB6BEC106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80265" name="Rectangle 9">
            <a:extLst>
              <a:ext uri="{FF2B5EF4-FFF2-40B4-BE49-F238E27FC236}">
                <a16:creationId xmlns:a16="http://schemas.microsoft.com/office/drawing/2014/main" id="{C42D0FC5-3193-464F-A11A-DEC94C09030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pic>
        <p:nvPicPr>
          <p:cNvPr id="480266" name="Picture 10">
            <a:extLst>
              <a:ext uri="{FF2B5EF4-FFF2-40B4-BE49-F238E27FC236}">
                <a16:creationId xmlns:a16="http://schemas.microsoft.com/office/drawing/2014/main" id="{65DAC48A-AF68-426D-BDDB-DFD00007F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788" y="2855914"/>
            <a:ext cx="7542212" cy="125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D7C2AD0-5C1A-48BC-8B59-C95B3BC1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D2E28-1F00-4091-8020-A6EE9A786005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495619" name="Text Box 3">
            <a:extLst>
              <a:ext uri="{FF2B5EF4-FFF2-40B4-BE49-F238E27FC236}">
                <a16:creationId xmlns:a16="http://schemas.microsoft.com/office/drawing/2014/main" id="{3EDDE1F2-0344-4E1E-9F1B-355CBA0E2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295400"/>
            <a:ext cx="25643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400" i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Access commands</a:t>
            </a:r>
          </a:p>
        </p:txBody>
      </p:sp>
      <p:pic>
        <p:nvPicPr>
          <p:cNvPr id="495657" name="Picture 41">
            <a:extLst>
              <a:ext uri="{FF2B5EF4-FFF2-40B4-BE49-F238E27FC236}">
                <a16:creationId xmlns:a16="http://schemas.microsoft.com/office/drawing/2014/main" id="{113B5FA4-96AE-42A9-B8F4-BBA954682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13" y="1730375"/>
            <a:ext cx="8031162" cy="339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F800BA8-7C71-483C-90A7-B27B2CAE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B6C2A-3F20-4252-9C7F-B4F7C2B1370F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496643" name="Text Box 3">
            <a:extLst>
              <a:ext uri="{FF2B5EF4-FFF2-40B4-BE49-F238E27FC236}">
                <a16:creationId xmlns:a16="http://schemas.microsoft.com/office/drawing/2014/main" id="{80ED143D-DC5E-4FFD-AD24-A3A079ACF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7068" y="742122"/>
            <a:ext cx="37224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File management commands</a:t>
            </a:r>
          </a:p>
        </p:txBody>
      </p:sp>
      <p:pic>
        <p:nvPicPr>
          <p:cNvPr id="496681" name="Picture 41">
            <a:extLst>
              <a:ext uri="{FF2B5EF4-FFF2-40B4-BE49-F238E27FC236}">
                <a16:creationId xmlns:a16="http://schemas.microsoft.com/office/drawing/2014/main" id="{AFEBE08A-3AEF-486E-B937-3E734057E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068" y="1320800"/>
            <a:ext cx="8297863" cy="553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F159F941-FD27-4E6B-A104-D2759ABEB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19C1-C22A-4CC9-BCAE-868218837D05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497667" name="Text Box 3">
            <a:extLst>
              <a:ext uri="{FF2B5EF4-FFF2-40B4-BE49-F238E27FC236}">
                <a16:creationId xmlns:a16="http://schemas.microsoft.com/office/drawing/2014/main" id="{CAC8D262-C8A6-4F6D-8946-47080620A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1295400"/>
            <a:ext cx="35702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Data formatting commands</a:t>
            </a:r>
          </a:p>
        </p:txBody>
      </p:sp>
      <p:pic>
        <p:nvPicPr>
          <p:cNvPr id="497705" name="Picture 41">
            <a:extLst>
              <a:ext uri="{FF2B5EF4-FFF2-40B4-BE49-F238E27FC236}">
                <a16:creationId xmlns:a16="http://schemas.microsoft.com/office/drawing/2014/main" id="{B1BCF2C1-AF84-4650-881B-39FEAE5B0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4" y="1776413"/>
            <a:ext cx="8093075" cy="3306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4B2E8228-23C8-4D9A-B5DD-BEEEFBF9D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AA74F-0E1A-4150-87E2-74418CAAC2A7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498691" name="Text Box 3">
            <a:extLst>
              <a:ext uri="{FF2B5EF4-FFF2-40B4-BE49-F238E27FC236}">
                <a16:creationId xmlns:a16="http://schemas.microsoft.com/office/drawing/2014/main" id="{2418B77D-5E07-47E9-A858-AC15BCB06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1" y="2133600"/>
            <a:ext cx="32095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Port defining commands</a:t>
            </a:r>
          </a:p>
        </p:txBody>
      </p:sp>
      <p:pic>
        <p:nvPicPr>
          <p:cNvPr id="498729" name="Picture 41">
            <a:extLst>
              <a:ext uri="{FF2B5EF4-FFF2-40B4-BE49-F238E27FC236}">
                <a16:creationId xmlns:a16="http://schemas.microsoft.com/office/drawing/2014/main" id="{1F2C2E7E-471C-401F-8564-F848AC36E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9239" y="2636839"/>
            <a:ext cx="6613525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09179AF-41FA-4CB3-90C4-30F2B5115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A261D-215F-46E0-A031-F35694A5CDD3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499715" name="Text Box 3">
            <a:extLst>
              <a:ext uri="{FF2B5EF4-FFF2-40B4-BE49-F238E27FC236}">
                <a16:creationId xmlns:a16="http://schemas.microsoft.com/office/drawing/2014/main" id="{175A33E7-800D-4F8D-99A8-0D69AA2E6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219200"/>
            <a:ext cx="31245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File transfer commands</a:t>
            </a:r>
          </a:p>
        </p:txBody>
      </p:sp>
      <p:pic>
        <p:nvPicPr>
          <p:cNvPr id="499753" name="Picture 41">
            <a:extLst>
              <a:ext uri="{FF2B5EF4-FFF2-40B4-BE49-F238E27FC236}">
                <a16:creationId xmlns:a16="http://schemas.microsoft.com/office/drawing/2014/main" id="{1126203A-8181-41E9-870A-0B1F0C318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975" y="1736726"/>
            <a:ext cx="8275638" cy="405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9E5197CA-6AE0-4CBA-8EEF-02F3820FA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80196-E26D-452A-8F25-D1AADAB095F6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516098" name="Text Box 2">
            <a:extLst>
              <a:ext uri="{FF2B5EF4-FFF2-40B4-BE49-F238E27FC236}">
                <a16:creationId xmlns:a16="http://schemas.microsoft.com/office/drawing/2014/main" id="{9E951AC1-E981-43DB-ABA9-CB34B30C6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1" y="1219200"/>
            <a:ext cx="46185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File transfer commands (continued)</a:t>
            </a:r>
          </a:p>
        </p:txBody>
      </p:sp>
      <p:pic>
        <p:nvPicPr>
          <p:cNvPr id="516101" name="Picture 5">
            <a:extLst>
              <a:ext uri="{FF2B5EF4-FFF2-40B4-BE49-F238E27FC236}">
                <a16:creationId xmlns:a16="http://schemas.microsoft.com/office/drawing/2014/main" id="{91DD9CB2-DE0F-4FC7-8245-1A5BCA36D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939" y="1692276"/>
            <a:ext cx="8366125" cy="2651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2584AE6-3B22-4C6F-84F3-4392837A0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161F-77DB-40EB-8930-091BC71AC785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500739" name="Text Box 3">
            <a:extLst>
              <a:ext uri="{FF2B5EF4-FFF2-40B4-BE49-F238E27FC236}">
                <a16:creationId xmlns:a16="http://schemas.microsoft.com/office/drawing/2014/main" id="{B7DC5654-06F2-4CCC-8691-6AA81EDA2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0504" y="566530"/>
            <a:ext cx="33554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Miscellaneous commands</a:t>
            </a:r>
          </a:p>
        </p:txBody>
      </p:sp>
      <p:pic>
        <p:nvPicPr>
          <p:cNvPr id="500777" name="Picture 41">
            <a:extLst>
              <a:ext uri="{FF2B5EF4-FFF2-40B4-BE49-F238E27FC236}">
                <a16:creationId xmlns:a16="http://schemas.microsoft.com/office/drawing/2014/main" id="{800AB631-7764-4F97-8119-CD40054EA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75" y="1524001"/>
            <a:ext cx="8732838" cy="2392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EB808AB8-8CF2-4647-8591-AFA661CE2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67103-D6BB-46F2-B57F-4D701332601E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501763" name="Text Box 3">
            <a:extLst>
              <a:ext uri="{FF2B5EF4-FFF2-40B4-BE49-F238E27FC236}">
                <a16:creationId xmlns:a16="http://schemas.microsoft.com/office/drawing/2014/main" id="{FF4222B9-99BB-4886-B18C-5C592DA8B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758" y="709116"/>
            <a:ext cx="14670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Responses</a:t>
            </a:r>
          </a:p>
        </p:txBody>
      </p:sp>
      <p:pic>
        <p:nvPicPr>
          <p:cNvPr id="501802" name="Picture 42">
            <a:extLst>
              <a:ext uri="{FF2B5EF4-FFF2-40B4-BE49-F238E27FC236}">
                <a16:creationId xmlns:a16="http://schemas.microsoft.com/office/drawing/2014/main" id="{03A3B0E3-CFC0-4453-9700-F7C094CAD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826" y="2484782"/>
            <a:ext cx="7394575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01803" name="Picture 43">
            <a:extLst>
              <a:ext uri="{FF2B5EF4-FFF2-40B4-BE49-F238E27FC236}">
                <a16:creationId xmlns:a16="http://schemas.microsoft.com/office/drawing/2014/main" id="{C9B40C20-CE06-4278-AD35-4454C8C3F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886420"/>
            <a:ext cx="7431088" cy="157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55678FD9-1906-4713-80A3-6BFA041E4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3B0FB-A0B6-49CF-B310-06B2DCC380B3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517122" name="Text Box 2">
            <a:extLst>
              <a:ext uri="{FF2B5EF4-FFF2-40B4-BE49-F238E27FC236}">
                <a16:creationId xmlns:a16="http://schemas.microsoft.com/office/drawing/2014/main" id="{12FF0A87-82A5-4820-89BC-23B978D00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0"/>
            <a:ext cx="29610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Responses (continued)</a:t>
            </a:r>
          </a:p>
        </p:txBody>
      </p:sp>
      <p:pic>
        <p:nvPicPr>
          <p:cNvPr id="517123" name="Picture 3">
            <a:extLst>
              <a:ext uri="{FF2B5EF4-FFF2-40B4-BE49-F238E27FC236}">
                <a16:creationId xmlns:a16="http://schemas.microsoft.com/office/drawing/2014/main" id="{16AD5199-1A7E-4840-9B14-0BC11A357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276" y="989013"/>
            <a:ext cx="7394575" cy="40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7126" name="Picture 6">
            <a:extLst>
              <a:ext uri="{FF2B5EF4-FFF2-40B4-BE49-F238E27FC236}">
                <a16:creationId xmlns:a16="http://schemas.microsoft.com/office/drawing/2014/main" id="{CE07860D-7244-40A7-AF9E-D95787B97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276" y="1390650"/>
            <a:ext cx="7423150" cy="546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77D1B49F-971D-47AC-A8D8-081A34513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DCC3F-4632-4BC7-B1A7-670FE120CADA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518146" name="Text Box 2">
            <a:extLst>
              <a:ext uri="{FF2B5EF4-FFF2-40B4-BE49-F238E27FC236}">
                <a16:creationId xmlns:a16="http://schemas.microsoft.com/office/drawing/2014/main" id="{060E1657-D39A-4374-963D-F3D59F550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340" y="544514"/>
            <a:ext cx="29610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Responses (continued)</a:t>
            </a:r>
          </a:p>
        </p:txBody>
      </p:sp>
      <p:pic>
        <p:nvPicPr>
          <p:cNvPr id="518147" name="Picture 3">
            <a:extLst>
              <a:ext uri="{FF2B5EF4-FFF2-40B4-BE49-F238E27FC236}">
                <a16:creationId xmlns:a16="http://schemas.microsoft.com/office/drawing/2014/main" id="{B11CE69B-CD21-49C2-A583-DE0EF642F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826" y="2243139"/>
            <a:ext cx="7394575" cy="40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8149" name="Picture 5">
            <a:extLst>
              <a:ext uri="{FF2B5EF4-FFF2-40B4-BE49-F238E27FC236}">
                <a16:creationId xmlns:a16="http://schemas.microsoft.com/office/drawing/2014/main" id="{271BF48B-4987-4B0E-8885-4C3B541ED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667001"/>
            <a:ext cx="7486650" cy="156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C81F9673-639E-4940-A844-EF87D54C4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72A9B-9A58-43F1-A95C-4F139296A1A4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519170" name="Text Box 2">
            <a:extLst>
              <a:ext uri="{FF2B5EF4-FFF2-40B4-BE49-F238E27FC236}">
                <a16:creationId xmlns:a16="http://schemas.microsoft.com/office/drawing/2014/main" id="{1DBEA85B-57D9-469B-B391-DE327530D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1638300"/>
            <a:ext cx="4492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400" i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Table 19.7  </a:t>
            </a:r>
            <a:r>
              <a:rPr lang="en-US" altLang="en-US" sz="24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Responses (continued)</a:t>
            </a:r>
          </a:p>
        </p:txBody>
      </p:sp>
      <p:pic>
        <p:nvPicPr>
          <p:cNvPr id="519171" name="Picture 3">
            <a:extLst>
              <a:ext uri="{FF2B5EF4-FFF2-40B4-BE49-F238E27FC236}">
                <a16:creationId xmlns:a16="http://schemas.microsoft.com/office/drawing/2014/main" id="{8936D58B-A5D3-45AD-BFAC-4AC8164BB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1" y="1638300"/>
            <a:ext cx="7394575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9173" name="Picture 5">
            <a:extLst>
              <a:ext uri="{FF2B5EF4-FFF2-40B4-BE49-F238E27FC236}">
                <a16:creationId xmlns:a16="http://schemas.microsoft.com/office/drawing/2014/main" id="{C5695FF5-9BDD-4D59-940F-2FE25E125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027238"/>
            <a:ext cx="7404100" cy="315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9174" name="Text Box 6">
            <a:extLst>
              <a:ext uri="{FF2B5EF4-FFF2-40B4-BE49-F238E27FC236}">
                <a16:creationId xmlns:a16="http://schemas.microsoft.com/office/drawing/2014/main" id="{32ABC138-6B01-4C2F-A5B5-7F562A804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2635" y="751334"/>
            <a:ext cx="29610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Responses (continued)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A1FC64E6-B7F2-4C37-ADB6-EC60373EB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2B3D2-0CB2-4E0E-A5AD-7DBAC3A165FE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527362" name="Text Box 2">
            <a:extLst>
              <a:ext uri="{FF2B5EF4-FFF2-40B4-BE49-F238E27FC236}">
                <a16:creationId xmlns:a16="http://schemas.microsoft.com/office/drawing/2014/main" id="{14A2942F-FB08-4D0A-AE24-4D67ED175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1638300"/>
            <a:ext cx="4492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400" i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Table 19.7  </a:t>
            </a:r>
            <a:r>
              <a:rPr lang="en-US" altLang="en-US" sz="24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Responses (continued)</a:t>
            </a:r>
          </a:p>
        </p:txBody>
      </p:sp>
      <p:pic>
        <p:nvPicPr>
          <p:cNvPr id="527363" name="Picture 3">
            <a:extLst>
              <a:ext uri="{FF2B5EF4-FFF2-40B4-BE49-F238E27FC236}">
                <a16:creationId xmlns:a16="http://schemas.microsoft.com/office/drawing/2014/main" id="{70BC99B2-B00C-483C-BEE3-2F773E712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626" y="1638300"/>
            <a:ext cx="7394575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27365" name="Text Box 5">
            <a:extLst>
              <a:ext uri="{FF2B5EF4-FFF2-40B4-BE49-F238E27FC236}">
                <a16:creationId xmlns:a16="http://schemas.microsoft.com/office/drawing/2014/main" id="{481EFB72-993A-450A-A048-0BE666918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092" y="701031"/>
            <a:ext cx="29610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4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Responses (continued)</a:t>
            </a:r>
          </a:p>
        </p:txBody>
      </p:sp>
      <p:pic>
        <p:nvPicPr>
          <p:cNvPr id="527366" name="Picture 6">
            <a:extLst>
              <a:ext uri="{FF2B5EF4-FFF2-40B4-BE49-F238E27FC236}">
                <a16:creationId xmlns:a16="http://schemas.microsoft.com/office/drawing/2014/main" id="{5E82DD04-7A24-4B6D-9BEF-7716568B1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981201"/>
            <a:ext cx="7391400" cy="3325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29C027CA-AFB4-4D28-9ADC-7CCDE5474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2B086-F0E2-43F5-9306-FB7292DB59EF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481282" name="Text Box 2">
            <a:extLst>
              <a:ext uri="{FF2B5EF4-FFF2-40B4-BE49-F238E27FC236}">
                <a16:creationId xmlns:a16="http://schemas.microsoft.com/office/drawing/2014/main" id="{9E93BC1D-B903-495E-980A-2CA47413F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0200" y="638177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i="1" dirty="0">
                <a:latin typeface="Times New Roman" panose="02020603050405020304" pitchFamily="18" charset="0"/>
              </a:rPr>
              <a:t>File transfer</a:t>
            </a:r>
          </a:p>
        </p:txBody>
      </p:sp>
      <p:sp>
        <p:nvSpPr>
          <p:cNvPr id="481283" name="Rectangle 3">
            <a:extLst>
              <a:ext uri="{FF2B5EF4-FFF2-40B4-BE49-F238E27FC236}">
                <a16:creationId xmlns:a16="http://schemas.microsoft.com/office/drawing/2014/main" id="{BAC033B7-343B-4856-8FFD-F1220744861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81284" name="Rectangle 4">
            <a:extLst>
              <a:ext uri="{FF2B5EF4-FFF2-40B4-BE49-F238E27FC236}">
                <a16:creationId xmlns:a16="http://schemas.microsoft.com/office/drawing/2014/main" id="{783AB00B-CBCF-403B-ADE4-0950DFB0665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81285" name="Rectangle 5">
            <a:extLst>
              <a:ext uri="{FF2B5EF4-FFF2-40B4-BE49-F238E27FC236}">
                <a16:creationId xmlns:a16="http://schemas.microsoft.com/office/drawing/2014/main" id="{7603290E-16A9-4E18-8064-DE80F1DCDF5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81286" name="Rectangle 6">
            <a:extLst>
              <a:ext uri="{FF2B5EF4-FFF2-40B4-BE49-F238E27FC236}">
                <a16:creationId xmlns:a16="http://schemas.microsoft.com/office/drawing/2014/main" id="{BB140CDC-2F92-4269-A884-BE9DE239CDB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81287" name="Rectangle 7">
            <a:extLst>
              <a:ext uri="{FF2B5EF4-FFF2-40B4-BE49-F238E27FC236}">
                <a16:creationId xmlns:a16="http://schemas.microsoft.com/office/drawing/2014/main" id="{592BC65A-2BF7-4101-BAF2-B7E943174D0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81288" name="Rectangle 8">
            <a:extLst>
              <a:ext uri="{FF2B5EF4-FFF2-40B4-BE49-F238E27FC236}">
                <a16:creationId xmlns:a16="http://schemas.microsoft.com/office/drawing/2014/main" id="{616344BC-B673-4BC7-A692-9A7E000D87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81289" name="Rectangle 9">
            <a:extLst>
              <a:ext uri="{FF2B5EF4-FFF2-40B4-BE49-F238E27FC236}">
                <a16:creationId xmlns:a16="http://schemas.microsoft.com/office/drawing/2014/main" id="{F4103AE5-977D-4A0E-AB7E-0407493B1DFC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pic>
        <p:nvPicPr>
          <p:cNvPr id="481290" name="Picture 10">
            <a:extLst>
              <a:ext uri="{FF2B5EF4-FFF2-40B4-BE49-F238E27FC236}">
                <a16:creationId xmlns:a16="http://schemas.microsoft.com/office/drawing/2014/main" id="{43049F9E-738E-4C13-A577-69782C9E9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250" y="2960688"/>
            <a:ext cx="7550150" cy="176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8BA1696B-AEE3-4390-B455-E97F42F61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3E3CE-7EF8-4A41-859A-408809EF2E6D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512002" name="Rectangle 2">
            <a:extLst>
              <a:ext uri="{FF2B5EF4-FFF2-40B4-BE49-F238E27FC236}">
                <a16:creationId xmlns:a16="http://schemas.microsoft.com/office/drawing/2014/main" id="{79FEC3A6-3A57-472C-AFD2-F41C9B4BE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295400"/>
            <a:ext cx="81534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i="1" dirty="0">
                <a:latin typeface="Times New Roman" panose="02020603050405020304" pitchFamily="18" charset="0"/>
              </a:rPr>
              <a:t>Next Figure shows an example of using FTP for retrieving a list of items in a directory.</a:t>
            </a:r>
          </a:p>
          <a:p>
            <a:pPr>
              <a:spcBef>
                <a:spcPct val="50000"/>
              </a:spcBef>
            </a:pPr>
            <a:r>
              <a:rPr lang="en-US" altLang="en-US" sz="2400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1.</a:t>
            </a:r>
            <a:r>
              <a:rPr lang="en-US" altLang="en-US" sz="2400" i="1" dirty="0">
                <a:latin typeface="Times New Roman" panose="02020603050405020304" pitchFamily="18" charset="0"/>
              </a:rPr>
              <a:t> After the control connection to port 21 is created, the FTP</a:t>
            </a:r>
            <a:br>
              <a:rPr lang="en-US" altLang="en-US" sz="2400" i="1" dirty="0">
                <a:latin typeface="Times New Roman" panose="02020603050405020304" pitchFamily="18" charset="0"/>
              </a:rPr>
            </a:br>
            <a:r>
              <a:rPr lang="en-US" altLang="en-US" sz="2400" i="1" dirty="0">
                <a:latin typeface="Times New Roman" panose="02020603050405020304" pitchFamily="18" charset="0"/>
              </a:rPr>
              <a:t>    server sends the 220 (service ready) response on the control</a:t>
            </a:r>
            <a:br>
              <a:rPr lang="en-US" altLang="en-US" sz="2400" i="1" dirty="0">
                <a:latin typeface="Times New Roman" panose="02020603050405020304" pitchFamily="18" charset="0"/>
              </a:rPr>
            </a:br>
            <a:r>
              <a:rPr lang="en-US" altLang="en-US" sz="2400" i="1" dirty="0">
                <a:latin typeface="Times New Roman" panose="02020603050405020304" pitchFamily="18" charset="0"/>
              </a:rPr>
              <a:t>    connection.</a:t>
            </a:r>
            <a:br>
              <a:rPr lang="en-US" altLang="en-US" sz="2400" i="1" dirty="0">
                <a:latin typeface="Times New Roman" panose="02020603050405020304" pitchFamily="18" charset="0"/>
              </a:rPr>
            </a:br>
            <a:r>
              <a:rPr lang="en-US" altLang="en-US" sz="2400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400" i="1" dirty="0">
                <a:latin typeface="Times New Roman" panose="02020603050405020304" pitchFamily="18" charset="0"/>
              </a:rPr>
              <a:t>. The client sends the USER command.</a:t>
            </a:r>
            <a:br>
              <a:rPr lang="en-US" altLang="en-US" sz="2400" i="1" dirty="0">
                <a:latin typeface="Times New Roman" panose="02020603050405020304" pitchFamily="18" charset="0"/>
              </a:rPr>
            </a:br>
            <a:r>
              <a:rPr lang="en-US" altLang="en-US" sz="2400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3.</a:t>
            </a:r>
            <a:r>
              <a:rPr lang="en-US" altLang="en-US" sz="2400" i="1" dirty="0">
                <a:latin typeface="Times New Roman" panose="02020603050405020304" pitchFamily="18" charset="0"/>
              </a:rPr>
              <a:t> The server responds with 331 (user name is OK, password is</a:t>
            </a:r>
            <a:br>
              <a:rPr lang="en-US" altLang="en-US" sz="2400" i="1" dirty="0">
                <a:latin typeface="Times New Roman" panose="02020603050405020304" pitchFamily="18" charset="0"/>
              </a:rPr>
            </a:br>
            <a:r>
              <a:rPr lang="en-US" altLang="en-US" sz="2400" i="1" dirty="0">
                <a:latin typeface="Times New Roman" panose="02020603050405020304" pitchFamily="18" charset="0"/>
              </a:rPr>
              <a:t>    required).</a:t>
            </a:r>
            <a:br>
              <a:rPr lang="en-US" altLang="en-US" sz="2400" i="1" dirty="0">
                <a:latin typeface="Times New Roman" panose="02020603050405020304" pitchFamily="18" charset="0"/>
              </a:rPr>
            </a:br>
            <a:r>
              <a:rPr lang="en-US" altLang="en-US" sz="2400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4</a:t>
            </a:r>
            <a:r>
              <a:rPr lang="en-US" altLang="en-US" sz="2400" i="1" dirty="0">
                <a:latin typeface="Times New Roman" panose="02020603050405020304" pitchFamily="18" charset="0"/>
              </a:rPr>
              <a:t>. The client sends the PASS command.</a:t>
            </a:r>
          </a:p>
          <a:p>
            <a:pPr>
              <a:spcBef>
                <a:spcPct val="50000"/>
              </a:spcBef>
            </a:pPr>
            <a:r>
              <a:rPr lang="en-US" altLang="en-US" sz="2400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5.</a:t>
            </a:r>
            <a:r>
              <a:rPr lang="en-US" altLang="en-US" sz="2400" i="1" dirty="0">
                <a:latin typeface="Times New Roman" panose="02020603050405020304" pitchFamily="18" charset="0"/>
              </a:rPr>
              <a:t> The server responds with 230 (user login is OK)</a:t>
            </a:r>
          </a:p>
        </p:txBody>
      </p:sp>
      <p:sp>
        <p:nvSpPr>
          <p:cNvPr id="512003" name="Text Box 3">
            <a:extLst>
              <a:ext uri="{FF2B5EF4-FFF2-40B4-BE49-F238E27FC236}">
                <a16:creationId xmlns:a16="http://schemas.microsoft.com/office/drawing/2014/main" id="{CA071A0F-F4E4-4A9A-8BD1-F3A536CDD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81001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 i="1">
                <a:solidFill>
                  <a:schemeClr val="folHlink"/>
                </a:solidFill>
                <a:latin typeface="Algerian" panose="04020705040A02060702" pitchFamily="82" charset="0"/>
              </a:rPr>
              <a:t>Example</a:t>
            </a:r>
            <a:r>
              <a:rPr lang="en-US" altLang="en-US" sz="2800" i="1">
                <a:solidFill>
                  <a:schemeClr val="folHlink"/>
                </a:solidFill>
                <a:latin typeface="Algerian" panose="04020705040A02060702" pitchFamily="82" charset="0"/>
              </a:rPr>
              <a:t> 1</a:t>
            </a:r>
          </a:p>
        </p:txBody>
      </p:sp>
      <p:sp>
        <p:nvSpPr>
          <p:cNvPr id="512005" name="Rectangle 5">
            <a:extLst>
              <a:ext uri="{FF2B5EF4-FFF2-40B4-BE49-F238E27FC236}">
                <a16:creationId xmlns:a16="http://schemas.microsoft.com/office/drawing/2014/main" id="{F2C45D66-924C-4A05-9F5F-1936EB33A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52400"/>
            <a:ext cx="609600" cy="1066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674579FB-A894-45A5-8FA6-CF7D33E3B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9EE63-DF0B-49A9-A008-2804F6D9CC82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520194" name="Rectangle 2">
            <a:extLst>
              <a:ext uri="{FF2B5EF4-FFF2-40B4-BE49-F238E27FC236}">
                <a16:creationId xmlns:a16="http://schemas.microsoft.com/office/drawing/2014/main" id="{C0E54B6F-9FB6-4A47-9FA3-E281E7A14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241426"/>
            <a:ext cx="81534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6.</a:t>
            </a:r>
            <a:r>
              <a:rPr lang="en-US" altLang="en-US" sz="2400" i="1">
                <a:latin typeface="Times New Roman" panose="02020603050405020304" pitchFamily="18" charset="0"/>
              </a:rPr>
              <a:t> The client issues a passive open on an ephemeral port for the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 data connection and sends the PORT command (over the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 control connection) to give this port number to the server.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7.</a:t>
            </a:r>
            <a:r>
              <a:rPr lang="en-US" altLang="en-US" sz="2400" i="1">
                <a:latin typeface="Times New Roman" panose="02020603050405020304" pitchFamily="18" charset="0"/>
              </a:rPr>
              <a:t> The server does not open the connection at this time, but it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 prepares itself for issuing an active open on the data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connection between port 20 (server side) and the ephemeral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port received from the client. It sends response 150 (data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connection will open shortly).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8.</a:t>
            </a:r>
            <a:r>
              <a:rPr lang="en-US" altLang="en-US" sz="2400" i="1">
                <a:latin typeface="Times New Roman" panose="02020603050405020304" pitchFamily="18" charset="0"/>
              </a:rPr>
              <a:t> The client sends the LIST message.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9.</a:t>
            </a:r>
            <a:r>
              <a:rPr lang="en-US" altLang="en-US" sz="2400" i="1">
                <a:latin typeface="Times New Roman" panose="02020603050405020304" pitchFamily="18" charset="0"/>
              </a:rPr>
              <a:t> Now the server responds with 125 and opens the data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 connection.</a:t>
            </a:r>
          </a:p>
        </p:txBody>
      </p:sp>
      <p:sp>
        <p:nvSpPr>
          <p:cNvPr id="520195" name="Text Box 3">
            <a:extLst>
              <a:ext uri="{FF2B5EF4-FFF2-40B4-BE49-F238E27FC236}">
                <a16:creationId xmlns:a16="http://schemas.microsoft.com/office/drawing/2014/main" id="{867A7906-7B2A-46BA-9638-6E4ACFD66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81001"/>
            <a:ext cx="495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 i="1">
                <a:solidFill>
                  <a:schemeClr val="folHlink"/>
                </a:solidFill>
                <a:latin typeface="Algerian" panose="04020705040A02060702" pitchFamily="82" charset="0"/>
              </a:rPr>
              <a:t>Example</a:t>
            </a:r>
            <a:r>
              <a:rPr lang="en-US" altLang="en-US" sz="2800" i="1">
                <a:solidFill>
                  <a:schemeClr val="folHlink"/>
                </a:solidFill>
                <a:latin typeface="Algerian" panose="04020705040A02060702" pitchFamily="82" charset="0"/>
              </a:rPr>
              <a:t> 1 </a:t>
            </a:r>
            <a:r>
              <a:rPr lang="en-US" altLang="en-US" sz="1400" i="1">
                <a:solidFill>
                  <a:schemeClr val="folHlink"/>
                </a:solidFill>
                <a:latin typeface="Algerian" panose="04020705040A02060702" pitchFamily="82" charset="0"/>
              </a:rPr>
              <a:t>(cONTINUED)</a:t>
            </a:r>
          </a:p>
        </p:txBody>
      </p:sp>
      <p:sp>
        <p:nvSpPr>
          <p:cNvPr id="520197" name="Rectangle 5">
            <a:extLst>
              <a:ext uri="{FF2B5EF4-FFF2-40B4-BE49-F238E27FC236}">
                <a16:creationId xmlns:a16="http://schemas.microsoft.com/office/drawing/2014/main" id="{F3510EDC-1C5E-47A4-A558-2D9EE4B47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52400"/>
            <a:ext cx="609600" cy="1066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C2EB7ECA-D8F8-4600-BB83-BB18E8044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E4A4C-320D-4F49-917F-1EBA728B6112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521218" name="Rectangle 2">
            <a:extLst>
              <a:ext uri="{FF2B5EF4-FFF2-40B4-BE49-F238E27FC236}">
                <a16:creationId xmlns:a16="http://schemas.microsoft.com/office/drawing/2014/main" id="{781127C4-62BE-413E-A870-3648A61A4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181101"/>
            <a:ext cx="81534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10.</a:t>
            </a:r>
            <a:r>
              <a:rPr lang="en-US" altLang="en-US" sz="2400" i="1">
                <a:latin typeface="Times New Roman" panose="02020603050405020304" pitchFamily="18" charset="0"/>
              </a:rPr>
              <a:t> The server then sends the list of the files or directories (as a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   file) on the data connection. When the whole list (file) is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   sent, the server responds with 226 (closing data connection)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   over the control connection.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11.</a:t>
            </a:r>
            <a:r>
              <a:rPr lang="en-US" altLang="en-US" sz="2400" i="1">
                <a:latin typeface="Times New Roman" panose="02020603050405020304" pitchFamily="18" charset="0"/>
              </a:rPr>
              <a:t> The client now has two choices. It can use the QUIT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    command to request the closing of the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    control connection or it can send another command to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    start another activity (and eventually open another data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    connection). In our example, the client sends a QUIT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    command.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12.</a:t>
            </a:r>
            <a:r>
              <a:rPr lang="en-US" altLang="en-US" sz="2400" i="1">
                <a:latin typeface="Times New Roman" panose="02020603050405020304" pitchFamily="18" charset="0"/>
              </a:rPr>
              <a:t> After receiving the QUIT command, the server responds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    with 221 (service closing) and then closes the control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    connection.</a:t>
            </a:r>
          </a:p>
        </p:txBody>
      </p:sp>
      <p:sp>
        <p:nvSpPr>
          <p:cNvPr id="521219" name="Text Box 3">
            <a:extLst>
              <a:ext uri="{FF2B5EF4-FFF2-40B4-BE49-F238E27FC236}">
                <a16:creationId xmlns:a16="http://schemas.microsoft.com/office/drawing/2014/main" id="{4A4826C2-2D4E-47B1-8F94-CB2DF03DF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81001"/>
            <a:ext cx="518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 i="1">
                <a:solidFill>
                  <a:schemeClr val="folHlink"/>
                </a:solidFill>
                <a:latin typeface="Algerian" panose="04020705040A02060702" pitchFamily="82" charset="0"/>
              </a:rPr>
              <a:t>Example</a:t>
            </a:r>
            <a:r>
              <a:rPr lang="en-US" altLang="en-US" sz="2800" i="1">
                <a:solidFill>
                  <a:schemeClr val="folHlink"/>
                </a:solidFill>
                <a:latin typeface="Algerian" panose="04020705040A02060702" pitchFamily="82" charset="0"/>
              </a:rPr>
              <a:t> 1 </a:t>
            </a:r>
            <a:r>
              <a:rPr lang="en-US" altLang="en-US" sz="1400" i="1">
                <a:solidFill>
                  <a:schemeClr val="folHlink"/>
                </a:solidFill>
                <a:latin typeface="Algerian" panose="04020705040A02060702" pitchFamily="82" charset="0"/>
              </a:rPr>
              <a:t>(cONTINUED)</a:t>
            </a:r>
          </a:p>
        </p:txBody>
      </p:sp>
      <p:sp>
        <p:nvSpPr>
          <p:cNvPr id="521221" name="Rectangle 5">
            <a:extLst>
              <a:ext uri="{FF2B5EF4-FFF2-40B4-BE49-F238E27FC236}">
                <a16:creationId xmlns:a16="http://schemas.microsoft.com/office/drawing/2014/main" id="{9E8CF333-FC72-4261-B9F0-0A9ABB678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52400"/>
            <a:ext cx="609600" cy="1066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0588C12B-FB8C-4EDD-83D0-7355E58B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B668A-F94A-4F3E-AEF3-BB04AA01390D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482306" name="Text Box 2">
            <a:extLst>
              <a:ext uri="{FF2B5EF4-FFF2-40B4-BE49-F238E27FC236}">
                <a16:creationId xmlns:a16="http://schemas.microsoft.com/office/drawing/2014/main" id="{7E505FA8-A8A2-491B-9B52-444AC8F81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  <a:latin typeface="Times New Roman" panose="02020603050405020304" pitchFamily="18" charset="0"/>
              </a:rPr>
              <a:t>Figure 19.8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i="1">
                <a:latin typeface="Times New Roman" panose="02020603050405020304" pitchFamily="18" charset="0"/>
              </a:rPr>
              <a:t>Example 1</a:t>
            </a:r>
          </a:p>
        </p:txBody>
      </p:sp>
      <p:sp>
        <p:nvSpPr>
          <p:cNvPr id="482307" name="Rectangle 3">
            <a:extLst>
              <a:ext uri="{FF2B5EF4-FFF2-40B4-BE49-F238E27FC236}">
                <a16:creationId xmlns:a16="http://schemas.microsoft.com/office/drawing/2014/main" id="{FCE3CD3B-70B3-4611-BEC2-D0C5CA99D96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82308" name="Rectangle 4">
            <a:extLst>
              <a:ext uri="{FF2B5EF4-FFF2-40B4-BE49-F238E27FC236}">
                <a16:creationId xmlns:a16="http://schemas.microsoft.com/office/drawing/2014/main" id="{2B12E9F2-5CA4-4D1C-8865-0527EE8F199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82309" name="Rectangle 5">
            <a:extLst>
              <a:ext uri="{FF2B5EF4-FFF2-40B4-BE49-F238E27FC236}">
                <a16:creationId xmlns:a16="http://schemas.microsoft.com/office/drawing/2014/main" id="{E7C9F5AE-E444-4B7B-B9BC-99CEF9B0541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82310" name="Rectangle 6">
            <a:extLst>
              <a:ext uri="{FF2B5EF4-FFF2-40B4-BE49-F238E27FC236}">
                <a16:creationId xmlns:a16="http://schemas.microsoft.com/office/drawing/2014/main" id="{67F3B81A-147B-499B-8D6B-0FBB91B3849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82311" name="Rectangle 7">
            <a:extLst>
              <a:ext uri="{FF2B5EF4-FFF2-40B4-BE49-F238E27FC236}">
                <a16:creationId xmlns:a16="http://schemas.microsoft.com/office/drawing/2014/main" id="{82ED1B19-AFFF-40ED-8ED0-FC5EF3017FD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82312" name="Rectangle 8">
            <a:extLst>
              <a:ext uri="{FF2B5EF4-FFF2-40B4-BE49-F238E27FC236}">
                <a16:creationId xmlns:a16="http://schemas.microsoft.com/office/drawing/2014/main" id="{AE72E61A-0332-42B3-81F5-B11CBDA13C11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82313" name="Rectangle 9">
            <a:extLst>
              <a:ext uri="{FF2B5EF4-FFF2-40B4-BE49-F238E27FC236}">
                <a16:creationId xmlns:a16="http://schemas.microsoft.com/office/drawing/2014/main" id="{B432D0AC-D364-44A5-B6F3-EFC19C25167D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pic>
        <p:nvPicPr>
          <p:cNvPr id="482314" name="Picture 10">
            <a:extLst>
              <a:ext uri="{FF2B5EF4-FFF2-40B4-BE49-F238E27FC236}">
                <a16:creationId xmlns:a16="http://schemas.microsoft.com/office/drawing/2014/main" id="{7E0D5536-6991-4620-A787-E646DCF8C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0838" y="1150938"/>
            <a:ext cx="6481762" cy="5021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C1E8D0AC-BC85-4280-ABF7-C6F6A348B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B15F3-1D00-4954-B8BF-503B1ECAA521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513026" name="Rectangle 2">
            <a:extLst>
              <a:ext uri="{FF2B5EF4-FFF2-40B4-BE49-F238E27FC236}">
                <a16:creationId xmlns:a16="http://schemas.microsoft.com/office/drawing/2014/main" id="{AEE4A5BC-B557-4EB4-81B5-DA6C150B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295400"/>
            <a:ext cx="81534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en-US" sz="2400" i="1">
                <a:latin typeface="Times New Roman" panose="02020603050405020304" pitchFamily="18" charset="0"/>
              </a:rPr>
              <a:t>The following shows an actual FTP session that parallels Example 1. The colored lines show the responses from the server control connection; the black lines show the commands sent by the client. The lines in white with black background shows data transfer.</a:t>
            </a:r>
          </a:p>
        </p:txBody>
      </p:sp>
      <p:sp>
        <p:nvSpPr>
          <p:cNvPr id="513027" name="Text Box 3">
            <a:extLst>
              <a:ext uri="{FF2B5EF4-FFF2-40B4-BE49-F238E27FC236}">
                <a16:creationId xmlns:a16="http://schemas.microsoft.com/office/drawing/2014/main" id="{97AD8C2E-2BF9-48C4-8E67-6C17941B31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81001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 i="1">
                <a:solidFill>
                  <a:schemeClr val="folHlink"/>
                </a:solidFill>
                <a:latin typeface="Algerian" panose="04020705040A02060702" pitchFamily="82" charset="0"/>
              </a:rPr>
              <a:t>Example</a:t>
            </a:r>
            <a:r>
              <a:rPr lang="en-US" altLang="en-US" sz="2800" i="1">
                <a:solidFill>
                  <a:schemeClr val="folHlink"/>
                </a:solidFill>
                <a:latin typeface="Algerian" panose="04020705040A02060702" pitchFamily="82" charset="0"/>
              </a:rPr>
              <a:t> 2</a:t>
            </a:r>
          </a:p>
        </p:txBody>
      </p:sp>
      <p:sp>
        <p:nvSpPr>
          <p:cNvPr id="513029" name="Rectangle 5">
            <a:extLst>
              <a:ext uri="{FF2B5EF4-FFF2-40B4-BE49-F238E27FC236}">
                <a16:creationId xmlns:a16="http://schemas.microsoft.com/office/drawing/2014/main" id="{FF2EF2B9-B175-4352-BCE0-72E6C0983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52400"/>
            <a:ext cx="609600" cy="1066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3030" name="Rectangle 6">
            <a:extLst>
              <a:ext uri="{FF2B5EF4-FFF2-40B4-BE49-F238E27FC236}">
                <a16:creationId xmlns:a16="http://schemas.microsoft.com/office/drawing/2014/main" id="{3FBCD0F9-CE93-48DA-BC21-625787909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429000"/>
            <a:ext cx="8153400" cy="198120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$ ftp voyager.deanza.fhda.edu</a:t>
            </a:r>
            <a:br>
              <a:rPr lang="en-US" altLang="en-US" sz="2000" i="1" dirty="0">
                <a:latin typeface="Times New Roman" panose="02020603050405020304" pitchFamily="18" charset="0"/>
              </a:rPr>
            </a:br>
            <a:r>
              <a:rPr lang="en-US" altLang="en-US" sz="2000" i="1" dirty="0">
                <a:latin typeface="Times New Roman" panose="02020603050405020304" pitchFamily="18" charset="0"/>
              </a:rPr>
              <a:t>Connected to voyager.deanza.fhda.edu.</a:t>
            </a:r>
            <a:br>
              <a:rPr lang="en-US" altLang="en-US" sz="2000" i="1" dirty="0">
                <a:latin typeface="Times New Roman" panose="02020603050405020304" pitchFamily="18" charset="0"/>
              </a:rPr>
            </a:br>
            <a:r>
              <a:rPr lang="en-US" altLang="en-US" sz="2000" i="1" dirty="0">
                <a:solidFill>
                  <a:srgbClr val="3366FF"/>
                </a:solidFill>
                <a:latin typeface="Times New Roman" panose="02020603050405020304" pitchFamily="18" charset="0"/>
              </a:rPr>
              <a:t>220 (</a:t>
            </a:r>
            <a:r>
              <a:rPr lang="en-US" altLang="en-US" sz="2000" i="1" dirty="0" err="1">
                <a:solidFill>
                  <a:srgbClr val="3366FF"/>
                </a:solidFill>
                <a:latin typeface="Times New Roman" panose="02020603050405020304" pitchFamily="18" charset="0"/>
              </a:rPr>
              <a:t>vsFTPd</a:t>
            </a:r>
            <a:r>
              <a:rPr lang="en-US" altLang="en-US" sz="2000" i="1" dirty="0">
                <a:solidFill>
                  <a:srgbClr val="3366FF"/>
                </a:solidFill>
                <a:latin typeface="Times New Roman" panose="02020603050405020304" pitchFamily="18" charset="0"/>
              </a:rPr>
              <a:t> 1.2.1)</a:t>
            </a:r>
            <a:br>
              <a:rPr lang="en-US" altLang="en-US" sz="2000" i="1" dirty="0">
                <a:solidFill>
                  <a:srgbClr val="3366FF"/>
                </a:solidFill>
                <a:latin typeface="Times New Roman" panose="02020603050405020304" pitchFamily="18" charset="0"/>
              </a:rPr>
            </a:br>
            <a:r>
              <a:rPr lang="en-US" altLang="en-US" sz="2000" i="1" dirty="0">
                <a:solidFill>
                  <a:srgbClr val="3366FF"/>
                </a:solidFill>
                <a:latin typeface="Times New Roman" panose="02020603050405020304" pitchFamily="18" charset="0"/>
              </a:rPr>
              <a:t>530 Please login with USER and PASS.</a:t>
            </a:r>
            <a:br>
              <a:rPr lang="en-US" altLang="en-US" sz="2000" i="1" dirty="0">
                <a:solidFill>
                  <a:srgbClr val="3366FF"/>
                </a:solidFill>
                <a:latin typeface="Times New Roman" panose="02020603050405020304" pitchFamily="18" charset="0"/>
              </a:rPr>
            </a:br>
            <a:r>
              <a:rPr lang="en-US" altLang="en-US" sz="2000" i="1" dirty="0">
                <a:latin typeface="Times New Roman" panose="02020603050405020304" pitchFamily="18" charset="0"/>
              </a:rPr>
              <a:t>Name (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voyager.deanza.fhda.edu:forouzan</a:t>
            </a:r>
            <a:r>
              <a:rPr lang="en-US" altLang="en-US" sz="2000" i="1" dirty="0">
                <a:latin typeface="Times New Roman" panose="02020603050405020304" pitchFamily="18" charset="0"/>
              </a:rPr>
              <a:t>):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forouzan</a:t>
            </a:r>
            <a:br>
              <a:rPr lang="en-US" altLang="en-US" sz="2000" i="1" dirty="0">
                <a:latin typeface="Times New Roman" panose="02020603050405020304" pitchFamily="18" charset="0"/>
              </a:rPr>
            </a:br>
            <a:r>
              <a:rPr lang="en-US" altLang="en-US" sz="2000" i="1" dirty="0">
                <a:solidFill>
                  <a:srgbClr val="3366FF"/>
                </a:solidFill>
                <a:latin typeface="Times New Roman" panose="02020603050405020304" pitchFamily="18" charset="0"/>
              </a:rPr>
              <a:t>331 Please specify the password.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D2B403E9-FEA4-43C5-A04C-9FD458B96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ACC25-4B78-40FC-8AA1-FB27172129C4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522243" name="Text Box 3">
            <a:extLst>
              <a:ext uri="{FF2B5EF4-FFF2-40B4-BE49-F238E27FC236}">
                <a16:creationId xmlns:a16="http://schemas.microsoft.com/office/drawing/2014/main" id="{A2718CC6-CCCD-4E2E-AC1E-2CD07F0E3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81001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 i="1">
                <a:solidFill>
                  <a:schemeClr val="folHlink"/>
                </a:solidFill>
                <a:latin typeface="Algerian" panose="04020705040A02060702" pitchFamily="82" charset="0"/>
              </a:rPr>
              <a:t>Example</a:t>
            </a:r>
            <a:r>
              <a:rPr lang="en-US" altLang="en-US" sz="2800" i="1">
                <a:solidFill>
                  <a:schemeClr val="folHlink"/>
                </a:solidFill>
                <a:latin typeface="Algerian" panose="04020705040A02060702" pitchFamily="82" charset="0"/>
              </a:rPr>
              <a:t> 2</a:t>
            </a:r>
          </a:p>
        </p:txBody>
      </p:sp>
      <p:sp>
        <p:nvSpPr>
          <p:cNvPr id="522245" name="Rectangle 5">
            <a:extLst>
              <a:ext uri="{FF2B5EF4-FFF2-40B4-BE49-F238E27FC236}">
                <a16:creationId xmlns:a16="http://schemas.microsoft.com/office/drawing/2014/main" id="{1CD13837-3BE9-43FF-96BA-5C9DBE34E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52400"/>
            <a:ext cx="609600" cy="1066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22246" name="Rectangle 6">
            <a:extLst>
              <a:ext uri="{FF2B5EF4-FFF2-40B4-BE49-F238E27FC236}">
                <a16:creationId xmlns:a16="http://schemas.microsoft.com/office/drawing/2014/main" id="{2E0427D8-3444-49DF-BACD-2FABFD6DC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371601"/>
            <a:ext cx="8153400" cy="222567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i="1">
                <a:latin typeface="Times New Roman" panose="02020603050405020304" pitchFamily="18" charset="0"/>
              </a:rPr>
              <a:t>Password:</a:t>
            </a:r>
            <a:br>
              <a:rPr lang="en-US" altLang="en-US" sz="2000" i="1">
                <a:latin typeface="Times New Roman" panose="02020603050405020304" pitchFamily="18" charset="0"/>
              </a:rPr>
            </a:br>
            <a:r>
              <a:rPr lang="en-US" altLang="en-US" sz="2000" i="1">
                <a:solidFill>
                  <a:srgbClr val="3366FF"/>
                </a:solidFill>
                <a:latin typeface="Times New Roman" panose="02020603050405020304" pitchFamily="18" charset="0"/>
              </a:rPr>
              <a:t>230 Login successful.</a:t>
            </a:r>
            <a:br>
              <a:rPr lang="en-US" altLang="en-US" sz="2000" i="1">
                <a:solidFill>
                  <a:srgbClr val="3366FF"/>
                </a:solidFill>
                <a:latin typeface="Times New Roman" panose="02020603050405020304" pitchFamily="18" charset="0"/>
              </a:rPr>
            </a:br>
            <a:r>
              <a:rPr lang="en-US" altLang="en-US" sz="2000" i="1">
                <a:latin typeface="Times New Roman" panose="02020603050405020304" pitchFamily="18" charset="0"/>
              </a:rPr>
              <a:t>Remote system type is UNIX.</a:t>
            </a:r>
            <a:br>
              <a:rPr lang="en-US" altLang="en-US" sz="2000" i="1">
                <a:latin typeface="Times New Roman" panose="02020603050405020304" pitchFamily="18" charset="0"/>
              </a:rPr>
            </a:br>
            <a:r>
              <a:rPr lang="en-US" altLang="en-US" sz="2000" i="1">
                <a:latin typeface="Times New Roman" panose="02020603050405020304" pitchFamily="18" charset="0"/>
              </a:rPr>
              <a:t>Using binary mode to transfer files.</a:t>
            </a:r>
            <a:br>
              <a:rPr lang="en-US" altLang="en-US" sz="2000" i="1">
                <a:solidFill>
                  <a:schemeClr val="hlink"/>
                </a:solidFill>
                <a:latin typeface="Times New Roman" panose="02020603050405020304" pitchFamily="18" charset="0"/>
              </a:rPr>
            </a:br>
            <a:r>
              <a:rPr lang="en-US" altLang="en-US" sz="2000" i="1">
                <a:latin typeface="Times New Roman" panose="02020603050405020304" pitchFamily="18" charset="0"/>
              </a:rPr>
              <a:t>ftp&gt; ls reports</a:t>
            </a:r>
            <a:br>
              <a:rPr lang="en-US" altLang="en-US" sz="2000" i="1">
                <a:solidFill>
                  <a:schemeClr val="hlink"/>
                </a:solidFill>
                <a:latin typeface="Times New Roman" panose="02020603050405020304" pitchFamily="18" charset="0"/>
              </a:rPr>
            </a:br>
            <a:r>
              <a:rPr lang="en-US" altLang="en-US" sz="2000" i="1">
                <a:solidFill>
                  <a:srgbClr val="3366FF"/>
                </a:solidFill>
                <a:latin typeface="Times New Roman" panose="02020603050405020304" pitchFamily="18" charset="0"/>
              </a:rPr>
              <a:t>227 Entering Passive Mode (153,18,17,11,238,169)</a:t>
            </a:r>
            <a:br>
              <a:rPr lang="en-US" altLang="en-US" sz="2000" i="1">
                <a:solidFill>
                  <a:srgbClr val="3366FF"/>
                </a:solidFill>
                <a:latin typeface="Times New Roman" panose="02020603050405020304" pitchFamily="18" charset="0"/>
              </a:rPr>
            </a:br>
            <a:r>
              <a:rPr lang="en-US" altLang="en-US" sz="2000" i="1">
                <a:solidFill>
                  <a:srgbClr val="3366FF"/>
                </a:solidFill>
                <a:latin typeface="Times New Roman" panose="02020603050405020304" pitchFamily="18" charset="0"/>
              </a:rPr>
              <a:t>150 Here comes the directory listing</a:t>
            </a:r>
            <a:r>
              <a:rPr lang="en-US" altLang="en-US" sz="2000" i="1">
                <a:solidFill>
                  <a:schemeClr val="hlink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522247" name="Rectangle 7">
            <a:extLst>
              <a:ext uri="{FF2B5EF4-FFF2-40B4-BE49-F238E27FC236}">
                <a16:creationId xmlns:a16="http://schemas.microsoft.com/office/drawing/2014/main" id="{9D8FA98F-0336-48C7-9719-46AA243A9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733801"/>
            <a:ext cx="8153400" cy="10064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i="1">
                <a:solidFill>
                  <a:schemeClr val="bg1"/>
                </a:solidFill>
                <a:latin typeface="Times New Roman" panose="02020603050405020304" pitchFamily="18" charset="0"/>
              </a:rPr>
              <a:t>drwxr-xr-x 2 3027 411 4096 Sep 24 2002 business</a:t>
            </a:r>
            <a:br>
              <a:rPr lang="en-US" altLang="en-US" sz="2000" i="1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lang="en-US" altLang="en-US" sz="2000" i="1">
                <a:solidFill>
                  <a:schemeClr val="bg1"/>
                </a:solidFill>
                <a:latin typeface="Times New Roman" panose="02020603050405020304" pitchFamily="18" charset="0"/>
              </a:rPr>
              <a:t>drwxr-xr-x 2 3027 411 4096 Sep 24 2002 personal</a:t>
            </a:r>
            <a:br>
              <a:rPr lang="en-US" altLang="en-US" sz="2000" i="1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lang="en-US" altLang="en-US" sz="2000" i="1">
                <a:solidFill>
                  <a:schemeClr val="bg1"/>
                </a:solidFill>
                <a:latin typeface="Times New Roman" panose="02020603050405020304" pitchFamily="18" charset="0"/>
              </a:rPr>
              <a:t>drwxr-xr-x 2 3027 411 4096 Sep 24 2002 school</a:t>
            </a:r>
          </a:p>
        </p:txBody>
      </p:sp>
      <p:sp>
        <p:nvSpPr>
          <p:cNvPr id="522248" name="Rectangle 8">
            <a:extLst>
              <a:ext uri="{FF2B5EF4-FFF2-40B4-BE49-F238E27FC236}">
                <a16:creationId xmlns:a16="http://schemas.microsoft.com/office/drawing/2014/main" id="{882EFF84-C233-46CC-A6AA-69A5BC2D1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4860926"/>
            <a:ext cx="8153400" cy="100647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i="1">
                <a:solidFill>
                  <a:srgbClr val="3366FF"/>
                </a:solidFill>
                <a:latin typeface="Times New Roman" panose="02020603050405020304" pitchFamily="18" charset="0"/>
              </a:rPr>
              <a:t>226 Directory send OK.</a:t>
            </a:r>
            <a:br>
              <a:rPr lang="en-US" altLang="en-US" sz="2000" i="1">
                <a:solidFill>
                  <a:srgbClr val="3366FF"/>
                </a:solidFill>
                <a:latin typeface="Times New Roman" panose="02020603050405020304" pitchFamily="18" charset="0"/>
              </a:rPr>
            </a:br>
            <a:r>
              <a:rPr lang="en-US" altLang="en-US" sz="2000" i="1">
                <a:latin typeface="Times New Roman" panose="02020603050405020304" pitchFamily="18" charset="0"/>
              </a:rPr>
              <a:t>ftp&gt; quit</a:t>
            </a:r>
            <a:br>
              <a:rPr lang="en-US" altLang="en-US" sz="2000" i="1">
                <a:latin typeface="Times New Roman" panose="02020603050405020304" pitchFamily="18" charset="0"/>
              </a:rPr>
            </a:br>
            <a:r>
              <a:rPr lang="en-US" altLang="en-US" sz="2000" i="1">
                <a:solidFill>
                  <a:srgbClr val="3366FF"/>
                </a:solidFill>
                <a:latin typeface="Times New Roman" panose="02020603050405020304" pitchFamily="18" charset="0"/>
              </a:rPr>
              <a:t>221 Goodbye.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0A25D727-3C96-4B60-B1A3-9DFDB21D3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C427A-2BFD-4E08-B610-CA534C00C588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514050" name="Rectangle 2">
            <a:extLst>
              <a:ext uri="{FF2B5EF4-FFF2-40B4-BE49-F238E27FC236}">
                <a16:creationId xmlns:a16="http://schemas.microsoft.com/office/drawing/2014/main" id="{8B10BCFA-2018-4777-B93D-13230FEB7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143001"/>
            <a:ext cx="88392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i="1" dirty="0">
                <a:latin typeface="Times New Roman" panose="02020603050405020304" pitchFamily="18" charset="0"/>
              </a:rPr>
              <a:t>Next Figure shows an example of how an image (binary) file is stored.</a:t>
            </a:r>
            <a:br>
              <a:rPr lang="en-US" altLang="en-US" sz="2400" i="1" dirty="0">
                <a:latin typeface="Times New Roman" panose="02020603050405020304" pitchFamily="18" charset="0"/>
              </a:rPr>
            </a:br>
            <a:r>
              <a:rPr lang="en-US" altLang="en-US" sz="2400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1.</a:t>
            </a:r>
            <a:r>
              <a:rPr lang="en-US" altLang="en-US" sz="2400" i="1" dirty="0">
                <a:latin typeface="Times New Roman" panose="02020603050405020304" pitchFamily="18" charset="0"/>
              </a:rPr>
              <a:t> After the control connection to port 21 is created, the FTP</a:t>
            </a:r>
            <a:br>
              <a:rPr lang="en-US" altLang="en-US" sz="2400" i="1" dirty="0">
                <a:latin typeface="Times New Roman" panose="02020603050405020304" pitchFamily="18" charset="0"/>
              </a:rPr>
            </a:br>
            <a:r>
              <a:rPr lang="en-US" altLang="en-US" sz="2400" i="1" dirty="0">
                <a:latin typeface="Times New Roman" panose="02020603050405020304" pitchFamily="18" charset="0"/>
              </a:rPr>
              <a:t>    server sends the 220 (service</a:t>
            </a:r>
            <a:br>
              <a:rPr lang="en-US" altLang="en-US" sz="2400" i="1" dirty="0">
                <a:latin typeface="Times New Roman" panose="02020603050405020304" pitchFamily="18" charset="0"/>
              </a:rPr>
            </a:br>
            <a:r>
              <a:rPr lang="en-US" altLang="en-US" sz="2400" i="1" dirty="0">
                <a:latin typeface="Times New Roman" panose="02020603050405020304" pitchFamily="18" charset="0"/>
              </a:rPr>
              <a:t>    ready) response on the control connection.</a:t>
            </a:r>
            <a:br>
              <a:rPr lang="en-US" altLang="en-US" sz="2400" i="1" dirty="0">
                <a:latin typeface="Times New Roman" panose="02020603050405020304" pitchFamily="18" charset="0"/>
              </a:rPr>
            </a:br>
            <a:r>
              <a:rPr lang="en-US" altLang="en-US" sz="2400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2.</a:t>
            </a:r>
            <a:r>
              <a:rPr lang="en-US" altLang="en-US" sz="2400" i="1" dirty="0">
                <a:latin typeface="Times New Roman" panose="02020603050405020304" pitchFamily="18" charset="0"/>
              </a:rPr>
              <a:t> The client sends the USER command.</a:t>
            </a:r>
            <a:br>
              <a:rPr lang="en-US" altLang="en-US" sz="2400" i="1" dirty="0">
                <a:latin typeface="Times New Roman" panose="02020603050405020304" pitchFamily="18" charset="0"/>
              </a:rPr>
            </a:br>
            <a:r>
              <a:rPr lang="en-US" altLang="en-US" sz="2400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3.</a:t>
            </a:r>
            <a:r>
              <a:rPr lang="en-US" altLang="en-US" sz="2400" i="1" dirty="0">
                <a:latin typeface="Times New Roman" panose="02020603050405020304" pitchFamily="18" charset="0"/>
              </a:rPr>
              <a:t> The server responds with 331 (user name is OK, a password</a:t>
            </a:r>
            <a:br>
              <a:rPr lang="en-US" altLang="en-US" sz="2400" i="1" dirty="0">
                <a:latin typeface="Times New Roman" panose="02020603050405020304" pitchFamily="18" charset="0"/>
              </a:rPr>
            </a:br>
            <a:r>
              <a:rPr lang="en-US" altLang="en-US" sz="2400" i="1" dirty="0">
                <a:latin typeface="Times New Roman" panose="02020603050405020304" pitchFamily="18" charset="0"/>
              </a:rPr>
              <a:t>    is required).</a:t>
            </a:r>
            <a:br>
              <a:rPr lang="en-US" altLang="en-US" sz="2400" i="1" dirty="0">
                <a:latin typeface="Times New Roman" panose="02020603050405020304" pitchFamily="18" charset="0"/>
              </a:rPr>
            </a:br>
            <a:r>
              <a:rPr lang="en-US" altLang="en-US" sz="2400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4.</a:t>
            </a:r>
            <a:r>
              <a:rPr lang="en-US" altLang="en-US" sz="2400" i="1" dirty="0">
                <a:latin typeface="Times New Roman" panose="02020603050405020304" pitchFamily="18" charset="0"/>
              </a:rPr>
              <a:t> The client sends the PASS command.</a:t>
            </a:r>
            <a:br>
              <a:rPr lang="en-US" altLang="en-US" sz="2400" i="1" dirty="0">
                <a:latin typeface="Times New Roman" panose="02020603050405020304" pitchFamily="18" charset="0"/>
              </a:rPr>
            </a:br>
            <a:r>
              <a:rPr lang="en-US" altLang="en-US" sz="2400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5.</a:t>
            </a:r>
            <a:r>
              <a:rPr lang="en-US" altLang="en-US" sz="2400" i="1" dirty="0">
                <a:latin typeface="Times New Roman" panose="02020603050405020304" pitchFamily="18" charset="0"/>
              </a:rPr>
              <a:t> The server responds with 230 (user login is OK).</a:t>
            </a:r>
            <a:br>
              <a:rPr lang="en-US" altLang="en-US" sz="2400" i="1" dirty="0">
                <a:latin typeface="Times New Roman" panose="02020603050405020304" pitchFamily="18" charset="0"/>
              </a:rPr>
            </a:br>
            <a:r>
              <a:rPr lang="en-US" altLang="en-US" sz="2400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6.</a:t>
            </a:r>
            <a:r>
              <a:rPr lang="en-US" altLang="en-US" sz="2400" i="1" dirty="0">
                <a:latin typeface="Times New Roman" panose="02020603050405020304" pitchFamily="18" charset="0"/>
              </a:rPr>
              <a:t>  The client issues a passive open on an ephemeral port for</a:t>
            </a:r>
            <a:br>
              <a:rPr lang="en-US" altLang="en-US" sz="2400" i="1" dirty="0">
                <a:latin typeface="Times New Roman" panose="02020603050405020304" pitchFamily="18" charset="0"/>
              </a:rPr>
            </a:br>
            <a:r>
              <a:rPr lang="en-US" altLang="en-US" sz="2400" i="1" dirty="0">
                <a:latin typeface="Times New Roman" panose="02020603050405020304" pitchFamily="18" charset="0"/>
              </a:rPr>
              <a:t>     the data connection and sends the PORT command (over</a:t>
            </a:r>
            <a:br>
              <a:rPr lang="en-US" altLang="en-US" sz="2400" i="1" dirty="0">
                <a:latin typeface="Times New Roman" panose="02020603050405020304" pitchFamily="18" charset="0"/>
              </a:rPr>
            </a:br>
            <a:r>
              <a:rPr lang="en-US" altLang="en-US" sz="2400" i="1" dirty="0">
                <a:latin typeface="Times New Roman" panose="02020603050405020304" pitchFamily="18" charset="0"/>
              </a:rPr>
              <a:t>     the control connection) to give this port number to the server.</a:t>
            </a:r>
          </a:p>
        </p:txBody>
      </p:sp>
      <p:sp>
        <p:nvSpPr>
          <p:cNvPr id="514051" name="Text Box 3">
            <a:extLst>
              <a:ext uri="{FF2B5EF4-FFF2-40B4-BE49-F238E27FC236}">
                <a16:creationId xmlns:a16="http://schemas.microsoft.com/office/drawing/2014/main" id="{611EECAA-BF77-4E26-801E-3EE865CE9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228601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 i="1">
                <a:solidFill>
                  <a:schemeClr val="folHlink"/>
                </a:solidFill>
                <a:latin typeface="Algerian" panose="04020705040A02060702" pitchFamily="82" charset="0"/>
              </a:rPr>
              <a:t>Example</a:t>
            </a:r>
            <a:r>
              <a:rPr lang="en-US" altLang="en-US" sz="2800" i="1">
                <a:solidFill>
                  <a:schemeClr val="folHlink"/>
                </a:solidFill>
                <a:latin typeface="Algerian" panose="04020705040A02060702" pitchFamily="82" charset="0"/>
              </a:rPr>
              <a:t> 3</a:t>
            </a:r>
          </a:p>
        </p:txBody>
      </p:sp>
      <p:sp>
        <p:nvSpPr>
          <p:cNvPr id="514053" name="Rectangle 5">
            <a:extLst>
              <a:ext uri="{FF2B5EF4-FFF2-40B4-BE49-F238E27FC236}">
                <a16:creationId xmlns:a16="http://schemas.microsoft.com/office/drawing/2014/main" id="{B6405D84-6B3B-4DA5-A66D-62DFBBADB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0"/>
            <a:ext cx="609600" cy="1066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E63DF287-9B6D-41E0-80B7-0F210055F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9F808-C70A-4A4E-9D5A-76DDD09B1AFE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523266" name="Rectangle 2">
            <a:extLst>
              <a:ext uri="{FF2B5EF4-FFF2-40B4-BE49-F238E27FC236}">
                <a16:creationId xmlns:a16="http://schemas.microsoft.com/office/drawing/2014/main" id="{390C750F-A903-4BE5-9DD9-DBADBFA5F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219201"/>
            <a:ext cx="84582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7.</a:t>
            </a:r>
            <a:r>
              <a:rPr lang="en-US" altLang="en-US" sz="2400" i="1">
                <a:latin typeface="Times New Roman" panose="02020603050405020304" pitchFamily="18" charset="0"/>
              </a:rPr>
              <a:t>  The server does not open the connection at this time, but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   prepares itself for issuing an active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   open on the data connection between port 20 (server side)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   and the ephemeral port received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   from the client. It sends the response 150 (data connection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   will open shortly).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8.</a:t>
            </a:r>
            <a:r>
              <a:rPr lang="en-US" altLang="en-US" sz="2400" i="1">
                <a:latin typeface="Times New Roman" panose="02020603050405020304" pitchFamily="18" charset="0"/>
              </a:rPr>
              <a:t>   The client sends the TYPE command.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9.</a:t>
            </a:r>
            <a:r>
              <a:rPr lang="en-US" altLang="en-US" sz="2400" i="1">
                <a:latin typeface="Times New Roman" panose="02020603050405020304" pitchFamily="18" charset="0"/>
              </a:rPr>
              <a:t>   The server responds with the response 200 (command OK).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10. </a:t>
            </a:r>
            <a:r>
              <a:rPr lang="en-US" altLang="en-US" sz="2400" i="1">
                <a:latin typeface="Times New Roman" panose="02020603050405020304" pitchFamily="18" charset="0"/>
              </a:rPr>
              <a:t>The client sends the STRU command.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11. </a:t>
            </a:r>
            <a:r>
              <a:rPr lang="en-US" altLang="en-US" sz="2400" i="1">
                <a:latin typeface="Times New Roman" panose="02020603050405020304" pitchFamily="18" charset="0"/>
              </a:rPr>
              <a:t>The server responds with 200 (command OK). 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12</a:t>
            </a:r>
            <a:r>
              <a:rPr lang="en-US" altLang="en-US" sz="2400" i="1">
                <a:latin typeface="Times New Roman" panose="02020603050405020304" pitchFamily="18" charset="0"/>
              </a:rPr>
              <a:t>. The client sends the STOR command.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13.</a:t>
            </a:r>
            <a:r>
              <a:rPr lang="en-US" altLang="en-US" sz="2400" i="1">
                <a:latin typeface="Times New Roman" panose="02020603050405020304" pitchFamily="18" charset="0"/>
              </a:rPr>
              <a:t> The server opens the data connection and sends the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    response 250.</a:t>
            </a:r>
          </a:p>
        </p:txBody>
      </p:sp>
      <p:sp>
        <p:nvSpPr>
          <p:cNvPr id="523267" name="Text Box 3">
            <a:extLst>
              <a:ext uri="{FF2B5EF4-FFF2-40B4-BE49-F238E27FC236}">
                <a16:creationId xmlns:a16="http://schemas.microsoft.com/office/drawing/2014/main" id="{85C27A56-BCAF-45C5-AC78-B58788D60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81001"/>
            <a:ext cx="426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 i="1">
                <a:solidFill>
                  <a:schemeClr val="folHlink"/>
                </a:solidFill>
                <a:latin typeface="Algerian" panose="04020705040A02060702" pitchFamily="82" charset="0"/>
              </a:rPr>
              <a:t>Example</a:t>
            </a:r>
            <a:r>
              <a:rPr lang="en-US" altLang="en-US" sz="2800" i="1">
                <a:solidFill>
                  <a:schemeClr val="folHlink"/>
                </a:solidFill>
                <a:latin typeface="Algerian" panose="04020705040A02060702" pitchFamily="82" charset="0"/>
              </a:rPr>
              <a:t> 3 </a:t>
            </a:r>
            <a:r>
              <a:rPr lang="en-US" altLang="en-US" sz="1400" i="1">
                <a:solidFill>
                  <a:schemeClr val="folHlink"/>
                </a:solidFill>
                <a:latin typeface="Algerian" panose="04020705040A02060702" pitchFamily="82" charset="0"/>
              </a:rPr>
              <a:t>(cONTINUED)</a:t>
            </a:r>
          </a:p>
        </p:txBody>
      </p:sp>
      <p:sp>
        <p:nvSpPr>
          <p:cNvPr id="523269" name="Rectangle 5">
            <a:extLst>
              <a:ext uri="{FF2B5EF4-FFF2-40B4-BE49-F238E27FC236}">
                <a16:creationId xmlns:a16="http://schemas.microsoft.com/office/drawing/2014/main" id="{36F1E3B2-28A8-46A6-BF69-E76051D75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52400"/>
            <a:ext cx="609600" cy="1066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70AD40B7-B6AB-48E8-8EF0-E6BAC2454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6AAC-58A3-4937-B3A5-74FAE7966CDB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524290" name="Rectangle 2">
            <a:extLst>
              <a:ext uri="{FF2B5EF4-FFF2-40B4-BE49-F238E27FC236}">
                <a16:creationId xmlns:a16="http://schemas.microsoft.com/office/drawing/2014/main" id="{31ADC6E7-AB2C-43EB-9C00-0D585D5D4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606550"/>
            <a:ext cx="81534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14.</a:t>
            </a:r>
            <a:r>
              <a:rPr lang="en-US" altLang="en-US" sz="2400" i="1">
                <a:latin typeface="Times New Roman" panose="02020603050405020304" pitchFamily="18" charset="0"/>
              </a:rPr>
              <a:t> The client sends the file on the data connection. After the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   entire file is sent, the data connection is closed. Closing the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   data connection means end-of-file.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15.</a:t>
            </a:r>
            <a:r>
              <a:rPr lang="en-US" altLang="en-US" sz="2400" i="1">
                <a:latin typeface="Times New Roman" panose="02020603050405020304" pitchFamily="18" charset="0"/>
              </a:rPr>
              <a:t> The server sends the response 226 on the control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   connection.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16.</a:t>
            </a:r>
            <a:r>
              <a:rPr lang="en-US" altLang="en-US" sz="2400" i="1">
                <a:latin typeface="Times New Roman" panose="02020603050405020304" pitchFamily="18" charset="0"/>
              </a:rPr>
              <a:t> The client sends the QUIT command or uses other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   commands to open another data connection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   for transferring another file. In our example, the QUIT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   command is sent.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17.</a:t>
            </a:r>
            <a:r>
              <a:rPr lang="en-US" altLang="en-US" sz="2400" i="1">
                <a:latin typeface="Times New Roman" panose="02020603050405020304" pitchFamily="18" charset="0"/>
              </a:rPr>
              <a:t> The server responds with 221 (service closing) and it closes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      the control connection.</a:t>
            </a:r>
          </a:p>
        </p:txBody>
      </p:sp>
      <p:sp>
        <p:nvSpPr>
          <p:cNvPr id="524291" name="Text Box 3">
            <a:extLst>
              <a:ext uri="{FF2B5EF4-FFF2-40B4-BE49-F238E27FC236}">
                <a16:creationId xmlns:a16="http://schemas.microsoft.com/office/drawing/2014/main" id="{560F6C38-0881-49DA-AA61-2B27AF0FA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81001"/>
            <a:ext cx="548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 i="1">
                <a:solidFill>
                  <a:schemeClr val="folHlink"/>
                </a:solidFill>
                <a:latin typeface="Algerian" panose="04020705040A02060702" pitchFamily="82" charset="0"/>
              </a:rPr>
              <a:t>Example</a:t>
            </a:r>
            <a:r>
              <a:rPr lang="en-US" altLang="en-US" sz="2800" i="1">
                <a:solidFill>
                  <a:schemeClr val="folHlink"/>
                </a:solidFill>
                <a:latin typeface="Algerian" panose="04020705040A02060702" pitchFamily="82" charset="0"/>
              </a:rPr>
              <a:t> 3 </a:t>
            </a:r>
            <a:r>
              <a:rPr lang="en-US" altLang="en-US" sz="1400" i="1">
                <a:solidFill>
                  <a:schemeClr val="folHlink"/>
                </a:solidFill>
                <a:latin typeface="Algerian" panose="04020705040A02060702" pitchFamily="82" charset="0"/>
              </a:rPr>
              <a:t>(cONTINUED)</a:t>
            </a:r>
          </a:p>
        </p:txBody>
      </p:sp>
      <p:sp>
        <p:nvSpPr>
          <p:cNvPr id="524293" name="Rectangle 5">
            <a:extLst>
              <a:ext uri="{FF2B5EF4-FFF2-40B4-BE49-F238E27FC236}">
                <a16:creationId xmlns:a16="http://schemas.microsoft.com/office/drawing/2014/main" id="{2761DA30-B2F3-4901-ABD7-FFF683E4D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52400"/>
            <a:ext cx="609600" cy="1066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E2D730B2-AF57-49A9-A5A6-541A37B35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A83DF-E472-4CC0-B77A-B768AD148D42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483330" name="Text Box 2">
            <a:extLst>
              <a:ext uri="{FF2B5EF4-FFF2-40B4-BE49-F238E27FC236}">
                <a16:creationId xmlns:a16="http://schemas.microsoft.com/office/drawing/2014/main" id="{18D3C222-676E-44E9-83C2-335344B1B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  <a:latin typeface="Times New Roman" panose="02020603050405020304" pitchFamily="18" charset="0"/>
              </a:rPr>
              <a:t>Figure 19.9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i="1">
                <a:latin typeface="Times New Roman" panose="02020603050405020304" pitchFamily="18" charset="0"/>
              </a:rPr>
              <a:t>Example 3</a:t>
            </a:r>
          </a:p>
        </p:txBody>
      </p:sp>
      <p:sp>
        <p:nvSpPr>
          <p:cNvPr id="483331" name="Rectangle 3">
            <a:extLst>
              <a:ext uri="{FF2B5EF4-FFF2-40B4-BE49-F238E27FC236}">
                <a16:creationId xmlns:a16="http://schemas.microsoft.com/office/drawing/2014/main" id="{0A7AF508-228B-4E60-BBDE-257CFBF2B4D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83332" name="Rectangle 4">
            <a:extLst>
              <a:ext uri="{FF2B5EF4-FFF2-40B4-BE49-F238E27FC236}">
                <a16:creationId xmlns:a16="http://schemas.microsoft.com/office/drawing/2014/main" id="{D64E3008-A6CE-49BD-8CFC-80EA4B8A0E3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83333" name="Rectangle 5">
            <a:extLst>
              <a:ext uri="{FF2B5EF4-FFF2-40B4-BE49-F238E27FC236}">
                <a16:creationId xmlns:a16="http://schemas.microsoft.com/office/drawing/2014/main" id="{A6B20E6F-9257-44AE-B380-3FFD269F521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83334" name="Rectangle 6">
            <a:extLst>
              <a:ext uri="{FF2B5EF4-FFF2-40B4-BE49-F238E27FC236}">
                <a16:creationId xmlns:a16="http://schemas.microsoft.com/office/drawing/2014/main" id="{05913C90-FDE3-4770-8635-10E0BB054F2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83335" name="Rectangle 7">
            <a:extLst>
              <a:ext uri="{FF2B5EF4-FFF2-40B4-BE49-F238E27FC236}">
                <a16:creationId xmlns:a16="http://schemas.microsoft.com/office/drawing/2014/main" id="{F9E64B44-9DAC-4ED2-A078-A005C754EFA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83336" name="Rectangle 8">
            <a:extLst>
              <a:ext uri="{FF2B5EF4-FFF2-40B4-BE49-F238E27FC236}">
                <a16:creationId xmlns:a16="http://schemas.microsoft.com/office/drawing/2014/main" id="{991C4692-A50B-4A1D-9E2D-F4D1F9A133EA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sp>
        <p:nvSpPr>
          <p:cNvPr id="483337" name="Rectangle 9">
            <a:extLst>
              <a:ext uri="{FF2B5EF4-FFF2-40B4-BE49-F238E27FC236}">
                <a16:creationId xmlns:a16="http://schemas.microsoft.com/office/drawing/2014/main" id="{0B78494D-5F03-4301-9761-E0C10B1672A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/>
          </a:p>
        </p:txBody>
      </p:sp>
      <p:pic>
        <p:nvPicPr>
          <p:cNvPr id="483338" name="Picture 10">
            <a:extLst>
              <a:ext uri="{FF2B5EF4-FFF2-40B4-BE49-F238E27FC236}">
                <a16:creationId xmlns:a16="http://schemas.microsoft.com/office/drawing/2014/main" id="{1B68C70A-5082-4D53-B7B8-226B191E5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014" y="811214"/>
            <a:ext cx="5868987" cy="5513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5D31A199-4C2B-4F2E-86C2-700D740EC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66D32-C44D-4119-B0ED-8D9AC583B1C1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515074" name="Rectangle 2">
            <a:extLst>
              <a:ext uri="{FF2B5EF4-FFF2-40B4-BE49-F238E27FC236}">
                <a16:creationId xmlns:a16="http://schemas.microsoft.com/office/drawing/2014/main" id="{B0BADFD0-CDC7-4FB4-A4DE-5C505B14F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295401"/>
            <a:ext cx="8153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en-US" sz="2400" i="1">
                <a:latin typeface="Times New Roman" panose="02020603050405020304" pitchFamily="18" charset="0"/>
              </a:rPr>
              <a:t>We show an example of anonymous FTP. We assume that</a:t>
            </a:r>
            <a:br>
              <a:rPr lang="en-US" altLang="en-US" sz="2400" i="1">
                <a:latin typeface="Times New Roman" panose="02020603050405020304" pitchFamily="18" charset="0"/>
              </a:rPr>
            </a:br>
            <a:r>
              <a:rPr lang="en-US" altLang="en-US" sz="2400" i="1">
                <a:latin typeface="Times New Roman" panose="02020603050405020304" pitchFamily="18" charset="0"/>
              </a:rPr>
              <a:t>some public data are available at internic.net.</a:t>
            </a:r>
          </a:p>
        </p:txBody>
      </p:sp>
      <p:sp>
        <p:nvSpPr>
          <p:cNvPr id="515075" name="Text Box 3">
            <a:extLst>
              <a:ext uri="{FF2B5EF4-FFF2-40B4-BE49-F238E27FC236}">
                <a16:creationId xmlns:a16="http://schemas.microsoft.com/office/drawing/2014/main" id="{8E473113-80C8-46D5-82D4-929689DFA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81001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 i="1">
                <a:solidFill>
                  <a:schemeClr val="folHlink"/>
                </a:solidFill>
                <a:latin typeface="Algerian" panose="04020705040A02060702" pitchFamily="82" charset="0"/>
              </a:rPr>
              <a:t>Example</a:t>
            </a:r>
            <a:r>
              <a:rPr lang="en-US" altLang="en-US" sz="2800" i="1">
                <a:solidFill>
                  <a:schemeClr val="folHlink"/>
                </a:solidFill>
                <a:latin typeface="Algerian" panose="04020705040A02060702" pitchFamily="82" charset="0"/>
              </a:rPr>
              <a:t> 4</a:t>
            </a:r>
          </a:p>
        </p:txBody>
      </p:sp>
      <p:sp>
        <p:nvSpPr>
          <p:cNvPr id="515077" name="Rectangle 5">
            <a:extLst>
              <a:ext uri="{FF2B5EF4-FFF2-40B4-BE49-F238E27FC236}">
                <a16:creationId xmlns:a16="http://schemas.microsoft.com/office/drawing/2014/main" id="{0DEDF633-1BC9-41BD-A64F-3B665A733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52400"/>
            <a:ext cx="609600" cy="1066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5078" name="Rectangle 6">
            <a:extLst>
              <a:ext uri="{FF2B5EF4-FFF2-40B4-BE49-F238E27FC236}">
                <a16:creationId xmlns:a16="http://schemas.microsoft.com/office/drawing/2014/main" id="{5500BA13-11AF-4DDC-8A64-32FD8FB4C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574925"/>
            <a:ext cx="8153400" cy="259080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i="1">
                <a:solidFill>
                  <a:schemeClr val="hlink"/>
                </a:solidFill>
                <a:latin typeface="Times New Roman" panose="02020603050405020304" pitchFamily="18" charset="0"/>
              </a:rPr>
              <a:t>$ ftp internic.net</a:t>
            </a:r>
            <a:br>
              <a:rPr lang="en-US" altLang="en-US" sz="2000" i="1">
                <a:latin typeface="Times New Roman" panose="02020603050405020304" pitchFamily="18" charset="0"/>
              </a:rPr>
            </a:br>
            <a:r>
              <a:rPr lang="en-US" altLang="en-US" sz="2000" i="1">
                <a:latin typeface="Times New Roman" panose="02020603050405020304" pitchFamily="18" charset="0"/>
              </a:rPr>
              <a:t>Connected to internic.net</a:t>
            </a:r>
            <a:br>
              <a:rPr lang="en-US" altLang="en-US" sz="2000" i="1">
                <a:latin typeface="Times New Roman" panose="02020603050405020304" pitchFamily="18" charset="0"/>
              </a:rPr>
            </a:br>
            <a:r>
              <a:rPr lang="en-US" altLang="en-US" sz="2000" i="1">
                <a:solidFill>
                  <a:schemeClr val="folHlink"/>
                </a:solidFill>
                <a:latin typeface="Times New Roman" panose="02020603050405020304" pitchFamily="18" charset="0"/>
              </a:rPr>
              <a:t>220 Server ready</a:t>
            </a:r>
            <a:br>
              <a:rPr lang="en-US" altLang="en-US" sz="2000" i="1">
                <a:solidFill>
                  <a:schemeClr val="hlink"/>
                </a:solidFill>
                <a:latin typeface="Times New Roman" panose="02020603050405020304" pitchFamily="18" charset="0"/>
              </a:rPr>
            </a:br>
            <a:r>
              <a:rPr lang="en-US" altLang="en-US" sz="2000" i="1">
                <a:latin typeface="Times New Roman" panose="02020603050405020304" pitchFamily="18" charset="0"/>
              </a:rPr>
              <a:t>Name: anonymous</a:t>
            </a:r>
            <a:br>
              <a:rPr lang="en-US" altLang="en-US" sz="2000" i="1">
                <a:latin typeface="Times New Roman" panose="02020603050405020304" pitchFamily="18" charset="0"/>
              </a:rPr>
            </a:br>
            <a:r>
              <a:rPr lang="en-US" altLang="en-US" sz="2000" i="1">
                <a:solidFill>
                  <a:schemeClr val="folHlink"/>
                </a:solidFill>
                <a:latin typeface="Times New Roman" panose="02020603050405020304" pitchFamily="18" charset="0"/>
              </a:rPr>
              <a:t>331 Guest login OK, send “guest” as password</a:t>
            </a:r>
            <a:br>
              <a:rPr lang="en-US" altLang="en-US" sz="2000" i="1">
                <a:solidFill>
                  <a:schemeClr val="hlink"/>
                </a:solidFill>
                <a:latin typeface="Times New Roman" panose="02020603050405020304" pitchFamily="18" charset="0"/>
              </a:rPr>
            </a:br>
            <a:r>
              <a:rPr lang="en-US" altLang="en-US" sz="2000" i="1">
                <a:latin typeface="Times New Roman" panose="02020603050405020304" pitchFamily="18" charset="0"/>
              </a:rPr>
              <a:t>Password: guest</a:t>
            </a:r>
            <a:br>
              <a:rPr lang="en-US" altLang="en-US" sz="2000" i="1">
                <a:latin typeface="Times New Roman" panose="02020603050405020304" pitchFamily="18" charset="0"/>
              </a:rPr>
            </a:br>
            <a:r>
              <a:rPr lang="en-US" altLang="en-US" sz="2000" i="1">
                <a:latin typeface="Times New Roman" panose="02020603050405020304" pitchFamily="18" charset="0"/>
              </a:rPr>
              <a:t>ftp &gt; pwd</a:t>
            </a:r>
            <a:br>
              <a:rPr lang="en-US" altLang="en-US" sz="2000" i="1">
                <a:latin typeface="Times New Roman" panose="02020603050405020304" pitchFamily="18" charset="0"/>
              </a:rPr>
            </a:br>
            <a:r>
              <a:rPr lang="en-US" altLang="en-US" sz="2000" i="1">
                <a:solidFill>
                  <a:schemeClr val="folHlink"/>
                </a:solidFill>
                <a:latin typeface="Times New Roman" panose="02020603050405020304" pitchFamily="18" charset="0"/>
              </a:rPr>
              <a:t>257 ’/’ is current directory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BBCCC75C-761F-46EF-95E2-A0B788DAE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47E7E-B385-4FB8-8B8E-2CB6FF404FAD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525314" name="Rectangle 2">
            <a:extLst>
              <a:ext uri="{FF2B5EF4-FFF2-40B4-BE49-F238E27FC236}">
                <a16:creationId xmlns:a16="http://schemas.microsoft.com/office/drawing/2014/main" id="{1F1C42FC-9C57-4B9D-A5DD-31C05C005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508126"/>
            <a:ext cx="8153400" cy="13112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i="1">
                <a:solidFill>
                  <a:schemeClr val="bg1"/>
                </a:solidFill>
                <a:latin typeface="Times New Roman" panose="02020603050405020304" pitchFamily="18" charset="0"/>
              </a:rPr>
              <a:t>bin</a:t>
            </a:r>
            <a:br>
              <a:rPr lang="en-US" altLang="en-US" sz="2000" i="1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lang="en-US" altLang="en-US" sz="2000" i="1">
                <a:solidFill>
                  <a:schemeClr val="bg1"/>
                </a:solidFill>
                <a:latin typeface="Times New Roman" panose="02020603050405020304" pitchFamily="18" charset="0"/>
              </a:rPr>
              <a:t>. . .</a:t>
            </a:r>
            <a:br>
              <a:rPr lang="en-US" altLang="en-US" sz="2000" i="1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lang="en-US" altLang="en-US" sz="2000" i="1">
                <a:solidFill>
                  <a:schemeClr val="bg1"/>
                </a:solidFill>
                <a:latin typeface="Times New Roman" panose="02020603050405020304" pitchFamily="18" charset="0"/>
              </a:rPr>
              <a:t>. . .</a:t>
            </a:r>
            <a:br>
              <a:rPr lang="en-US" altLang="en-US" sz="2000" i="1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lang="en-US" altLang="en-US" sz="2000" i="1">
                <a:solidFill>
                  <a:schemeClr val="bg1"/>
                </a:solidFill>
                <a:latin typeface="Times New Roman" panose="02020603050405020304" pitchFamily="18" charset="0"/>
              </a:rPr>
              <a:t>. . .</a:t>
            </a:r>
          </a:p>
        </p:txBody>
      </p:sp>
      <p:sp>
        <p:nvSpPr>
          <p:cNvPr id="525315" name="Text Box 3">
            <a:extLst>
              <a:ext uri="{FF2B5EF4-FFF2-40B4-BE49-F238E27FC236}">
                <a16:creationId xmlns:a16="http://schemas.microsoft.com/office/drawing/2014/main" id="{C306455A-7853-4C98-B400-85D5D1A51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81001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 i="1">
                <a:solidFill>
                  <a:schemeClr val="folHlink"/>
                </a:solidFill>
                <a:latin typeface="Algerian" panose="04020705040A02060702" pitchFamily="82" charset="0"/>
              </a:rPr>
              <a:t>Example</a:t>
            </a:r>
            <a:r>
              <a:rPr lang="en-US" altLang="en-US" sz="2800" i="1">
                <a:solidFill>
                  <a:schemeClr val="folHlink"/>
                </a:solidFill>
                <a:latin typeface="Algerian" panose="04020705040A02060702" pitchFamily="82" charset="0"/>
              </a:rPr>
              <a:t> 4</a:t>
            </a:r>
          </a:p>
        </p:txBody>
      </p:sp>
      <p:sp>
        <p:nvSpPr>
          <p:cNvPr id="525317" name="Rectangle 5">
            <a:extLst>
              <a:ext uri="{FF2B5EF4-FFF2-40B4-BE49-F238E27FC236}">
                <a16:creationId xmlns:a16="http://schemas.microsoft.com/office/drawing/2014/main" id="{F2DFFCFE-57C5-4D77-8725-3552CAEF4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52400"/>
            <a:ext cx="609600" cy="1066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25318" name="Rectangle 6">
            <a:extLst>
              <a:ext uri="{FF2B5EF4-FFF2-40B4-BE49-F238E27FC236}">
                <a16:creationId xmlns:a16="http://schemas.microsoft.com/office/drawing/2014/main" id="{95A7BCE2-DE50-4993-816B-3ADFB2B6A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79726"/>
            <a:ext cx="8153400" cy="1006475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i="1">
                <a:latin typeface="Times New Roman" panose="02020603050405020304" pitchFamily="18" charset="0"/>
              </a:rPr>
              <a:t>ftp &gt; close</a:t>
            </a:r>
            <a:br>
              <a:rPr lang="en-US" altLang="en-US" sz="2000" i="1">
                <a:solidFill>
                  <a:schemeClr val="hlink"/>
                </a:solidFill>
                <a:latin typeface="Times New Roman" panose="02020603050405020304" pitchFamily="18" charset="0"/>
              </a:rPr>
            </a:br>
            <a:r>
              <a:rPr lang="en-US" altLang="en-US" sz="2000" i="1">
                <a:solidFill>
                  <a:schemeClr val="folHlink"/>
                </a:solidFill>
                <a:latin typeface="Times New Roman" panose="02020603050405020304" pitchFamily="18" charset="0"/>
              </a:rPr>
              <a:t>221 Goodbye</a:t>
            </a:r>
            <a:br>
              <a:rPr lang="en-US" altLang="en-US" sz="2000" i="1">
                <a:solidFill>
                  <a:schemeClr val="folHlink"/>
                </a:solidFill>
                <a:latin typeface="Times New Roman" panose="02020603050405020304" pitchFamily="18" charset="0"/>
              </a:rPr>
            </a:br>
            <a:r>
              <a:rPr lang="en-US" altLang="en-US" sz="2000" i="1">
                <a:solidFill>
                  <a:schemeClr val="folHlink"/>
                </a:solidFill>
                <a:latin typeface="Times New Roman" panose="02020603050405020304" pitchFamily="18" charset="0"/>
              </a:rPr>
              <a:t>ftp &gt; quit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06DB7A4C-9B9A-445D-B8BE-D29BED4E6C6A}" vid="{D2E2032D-C497-4D69-B42A-90DCB059FA0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1385</Words>
  <Application>Microsoft Office PowerPoint</Application>
  <PresentationFormat>Widescreen</PresentationFormat>
  <Paragraphs>107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Algerian</vt:lpstr>
      <vt:lpstr>Arial</vt:lpstr>
      <vt:lpstr>Calibri</vt:lpstr>
      <vt:lpstr>Calibri Light</vt:lpstr>
      <vt:lpstr>Times New Roman</vt:lpstr>
      <vt:lpstr>Office Theme</vt:lpstr>
      <vt:lpstr>Theme1</vt:lpstr>
      <vt:lpstr>COMPUTER NETWORKS (BCSC 0008) FTP</vt:lpstr>
      <vt:lpstr> Text and Reference Books </vt:lpstr>
      <vt:lpstr>PowerPoint Presentation</vt:lpstr>
      <vt:lpstr>PowerPoint Presentation</vt:lpstr>
      <vt:lpstr>FTP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 (BCSC 0008)</dc:title>
  <dc:creator>shabir ali</dc:creator>
  <cp:lastModifiedBy>shabir ali</cp:lastModifiedBy>
  <cp:revision>35</cp:revision>
  <dcterms:created xsi:type="dcterms:W3CDTF">2020-11-26T06:05:43Z</dcterms:created>
  <dcterms:modified xsi:type="dcterms:W3CDTF">2020-12-03T07:30:38Z</dcterms:modified>
</cp:coreProperties>
</file>