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65" r:id="rId3"/>
    <p:sldId id="275" r:id="rId4"/>
    <p:sldId id="276" r:id="rId5"/>
    <p:sldId id="279" r:id="rId6"/>
    <p:sldId id="277" r:id="rId7"/>
    <p:sldId id="278" r:id="rId8"/>
    <p:sldId id="280" r:id="rId9"/>
    <p:sldId id="288" r:id="rId10"/>
    <p:sldId id="289" r:id="rId11"/>
    <p:sldId id="287" r:id="rId12"/>
    <p:sldId id="281" r:id="rId13"/>
    <p:sldId id="283" r:id="rId14"/>
    <p:sldId id="284" r:id="rId15"/>
    <p:sldId id="285" r:id="rId16"/>
    <p:sldId id="286" r:id="rId17"/>
    <p:sldId id="282" r:id="rId18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fld id="{8AC00406-B460-4DA9-8C5E-7A860C60CECE}" type="datetimeFigureOut">
              <a:rPr lang="en-IN" smtClean="0"/>
              <a:t>29-10-2020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04657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76200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fld id="{8AC00406-B460-4DA9-8C5E-7A860C60CECE}" type="datetimeFigureOut">
              <a:rPr lang="en-IN" smtClean="0"/>
              <a:t>29-10-2020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68000" y="6356351"/>
            <a:ext cx="914400" cy="365125"/>
          </a:xfrm>
          <a:prstGeom prst="rect">
            <a:avLst/>
          </a:prstGeom>
        </p:spPr>
        <p:txBody>
          <a:bodyPr/>
          <a:lstStyle>
            <a:lvl1pPr algn="r"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fld id="{9C33A5CF-DAF8-4B66-818F-095A8C131B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79939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fld id="{8AC00406-B460-4DA9-8C5E-7A860C60CECE}" type="datetimeFigureOut">
              <a:rPr lang="en-IN" smtClean="0"/>
              <a:t>29-10-2020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fld id="{9C33A5CF-DAF8-4B66-818F-095A8C131B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56166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fld id="{8AC00406-B460-4DA9-8C5E-7A860C60CECE}" type="datetimeFigureOut">
              <a:rPr lang="en-IN" smtClean="0"/>
              <a:t>29-10-2020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fld id="{9C33A5CF-DAF8-4B66-818F-095A8C131B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12914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fld id="{8AC00406-B460-4DA9-8C5E-7A860C60CECE}" type="datetimeFigureOut">
              <a:rPr lang="en-IN" smtClean="0"/>
              <a:t>29-10-2020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fld id="{9C33A5CF-DAF8-4B66-818F-095A8C131B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4682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fld id="{8AC00406-B460-4DA9-8C5E-7A860C60CECE}" type="datetimeFigureOut">
              <a:rPr lang="en-IN" smtClean="0"/>
              <a:t>29-10-2020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fld id="{9C33A5CF-DAF8-4B66-818F-095A8C131B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40065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fld id="{8AC00406-B460-4DA9-8C5E-7A860C60CECE}" type="datetimeFigureOut">
              <a:rPr lang="en-IN" smtClean="0"/>
              <a:t>29-10-2020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fld id="{9C33A5CF-DAF8-4B66-818F-095A8C131B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77337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fld id="{8AC00406-B460-4DA9-8C5E-7A860C60CECE}" type="datetimeFigureOut">
              <a:rPr lang="en-IN" smtClean="0"/>
              <a:t>29-10-2020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fld id="{9C33A5CF-DAF8-4B66-818F-095A8C131B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77820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fld id="{8AC00406-B460-4DA9-8C5E-7A860C60CECE}" type="datetimeFigureOut">
              <a:rPr lang="en-IN" smtClean="0"/>
              <a:t>29-10-2020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fld id="{9C33A5CF-DAF8-4B66-818F-095A8C131B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44444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fld id="{8AC00406-B460-4DA9-8C5E-7A860C60CECE}" type="datetimeFigureOut">
              <a:rPr lang="en-IN" smtClean="0"/>
              <a:t>29-10-2020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fld id="{9C33A5CF-DAF8-4B66-818F-095A8C131B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04762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fld id="{8AC00406-B460-4DA9-8C5E-7A860C60CECE}" type="datetimeFigureOut">
              <a:rPr lang="en-IN" smtClean="0"/>
              <a:t>29-10-2020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fld id="{9C33A5CF-DAF8-4B66-818F-095A8C131B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83077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3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152400"/>
            <a:ext cx="10972800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371601"/>
            <a:ext cx="10972800" cy="4754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endParaRPr lang="en-IN"/>
          </a:p>
        </p:txBody>
      </p:sp>
      <p:cxnSp>
        <p:nvCxnSpPr>
          <p:cNvPr id="11" name="Straight Connector 10"/>
          <p:cNvCxnSpPr/>
          <p:nvPr/>
        </p:nvCxnSpPr>
        <p:spPr>
          <a:xfrm>
            <a:off x="711200" y="1295400"/>
            <a:ext cx="108712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72437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alibri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alibri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alibri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alibri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alibri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alibri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alibri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alibri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2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w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w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w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78613" y="1510530"/>
            <a:ext cx="7772400" cy="1676400"/>
          </a:xfrm>
        </p:spPr>
        <p:txBody>
          <a:bodyPr>
            <a:normAutofit/>
          </a:bodyPr>
          <a:lstStyle/>
          <a:p>
            <a:pPr algn="ctr"/>
            <a:r>
              <a:rPr lang="en-US" b="1" u="none" dirty="0"/>
              <a:t>COMPUTER NETWORKS</a:t>
            </a:r>
            <a:br>
              <a:rPr lang="en-US" b="1" u="none" dirty="0"/>
            </a:br>
            <a:r>
              <a:rPr lang="en-US" b="1" u="none" dirty="0"/>
              <a:t>(</a:t>
            </a:r>
            <a:r>
              <a:rPr lang="en-US" b="1" dirty="0"/>
              <a:t>BCSC 0008)</a:t>
            </a:r>
            <a:endParaRPr lang="en-US" b="1" u="none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0C7712E-CF77-4A4D-A906-4C104513DB71}" type="slidenum">
              <a:rPr lang="en-US" smtClean="0"/>
              <a:pPr/>
              <a:t>1</a:t>
            </a:fld>
            <a:endParaRPr lang="en-US" altLang="zh-TW" dirty="0"/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590800" y="6356351"/>
            <a:ext cx="6781800" cy="365125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Lecture Presented by: Prof. Diwakar Bharadwaj, Dr. Shabir Ali, Mr. Akhilesh Kumar Singh </a:t>
            </a:r>
            <a:endParaRPr lang="en-US" altLang="zh-TW" dirty="0">
              <a:solidFill>
                <a:schemeClr val="tx1"/>
              </a:solidFill>
              <a:latin typeface="Times New Roman" pitchFamily="18" charset="0"/>
            </a:endParaRP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98604" y="153701"/>
            <a:ext cx="1431723" cy="11123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Footer Placeholder 5"/>
          <p:cNvSpPr txBox="1">
            <a:spLocks/>
          </p:cNvSpPr>
          <p:nvPr/>
        </p:nvSpPr>
        <p:spPr>
          <a:xfrm>
            <a:off x="2873913" y="4406514"/>
            <a:ext cx="6781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b="1" dirty="0">
                <a:latin typeface="Times New Roman"/>
                <a:ea typeface="Calibri"/>
                <a:cs typeface="Times New Roman"/>
              </a:rPr>
              <a:t>Copyright content, use only with the written permission of presenter mentioned</a:t>
            </a:r>
            <a:endParaRPr lang="en-US" altLang="zh-TW" sz="1200" dirty="0">
              <a:latin typeface="Times New Roman" pitchFamily="18" charset="0"/>
            </a:endParaRPr>
          </a:p>
        </p:txBody>
      </p:sp>
      <p:sp>
        <p:nvSpPr>
          <p:cNvPr id="11" name="Footer Placeholder 5"/>
          <p:cNvSpPr txBox="1">
            <a:spLocks/>
          </p:cNvSpPr>
          <p:nvPr/>
        </p:nvSpPr>
        <p:spPr>
          <a:xfrm>
            <a:off x="4876800" y="5410201"/>
            <a:ext cx="2438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b="1" dirty="0">
                <a:latin typeface="Times New Roman"/>
                <a:ea typeface="Calibri"/>
                <a:cs typeface="Times New Roman"/>
              </a:rPr>
              <a:t>Lecture</a:t>
            </a:r>
            <a:endParaRPr lang="en-US" altLang="zh-TW" dirty="0">
              <a:latin typeface="Times New Roman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br>
              <a:rPr lang="en-US" dirty="0"/>
            </a:br>
            <a:r>
              <a:rPr lang="en-US" b="1" dirty="0"/>
              <a:t>Text and Reference Books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None/>
            </a:pPr>
            <a:r>
              <a:rPr lang="en-US" sz="2400" dirty="0">
                <a:solidFill>
                  <a:srgbClr val="FF0000"/>
                </a:solidFill>
              </a:rPr>
              <a:t>Text Books: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800" dirty="0"/>
              <a:t>Fourouzan B. A. (2004), “Data Communication and Networking”, 4th Edition, McGraw-Hill.</a:t>
            </a:r>
          </a:p>
          <a:p>
            <a:pPr algn="just"/>
            <a:endParaRPr lang="en-US" sz="2400" dirty="0"/>
          </a:p>
          <a:p>
            <a:pPr algn="just">
              <a:buNone/>
            </a:pPr>
            <a:r>
              <a:rPr lang="en-US" sz="2400" dirty="0">
                <a:solidFill>
                  <a:srgbClr val="FF0000"/>
                </a:solidFill>
              </a:rPr>
              <a:t>References: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800" dirty="0"/>
              <a:t>Kurose, J. F. and Ross K. W. (2005), “Computer Networking: A Top-Down Approach Featuring the Internet”, 3rd Edition, Addison-Wesley.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800" dirty="0"/>
              <a:t>A. S. Tanenbaum (2006), “Computer Networks”, 2nd Edition, Prentice Hall India.</a:t>
            </a:r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590800" y="6356351"/>
            <a:ext cx="6781800" cy="365125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Lecture Presented by: Prof. Diwakar Bharadwaj, Mr. Saurabh Anand, Mr. Akhilesh Kumar Singh </a:t>
            </a:r>
            <a:endParaRPr lang="en-US" altLang="zh-TW" dirty="0">
              <a:solidFill>
                <a:schemeClr val="tx1"/>
              </a:solidFill>
              <a:latin typeface="Times New Roman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Basics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The IPv4 addresses are unique and universal.</a:t>
            </a:r>
          </a:p>
          <a:p>
            <a:r>
              <a:rPr lang="en-US" dirty="0"/>
              <a:t>An IPv4 address is 32 bits long.</a:t>
            </a:r>
          </a:p>
          <a:p>
            <a:r>
              <a:rPr lang="en-US" dirty="0"/>
              <a:t>The address space of IPv4 is 2</a:t>
            </a:r>
            <a:r>
              <a:rPr lang="en-US" baseline="30000" dirty="0"/>
              <a:t>32</a:t>
            </a:r>
            <a:r>
              <a:rPr lang="en-US" dirty="0"/>
              <a:t> (4,294,967,296)</a:t>
            </a:r>
          </a:p>
          <a:p>
            <a:r>
              <a:rPr lang="en-US" dirty="0"/>
              <a:t>32 bit address is divided into 4 octet ( also known as byte)</a:t>
            </a:r>
          </a:p>
          <a:p>
            <a:r>
              <a:rPr lang="en-US" dirty="0"/>
              <a:t>To connect on internet each device requires a unique IP address</a:t>
            </a:r>
          </a:p>
          <a:p>
            <a:endParaRPr lang="en-US" sz="2800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B98623-B558-47DB-9533-8FB4F50C1C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Classful Addressing</a:t>
            </a:r>
            <a:endParaRPr lang="en-IN" dirty="0"/>
          </a:p>
        </p:txBody>
      </p:sp>
      <p:pic>
        <p:nvPicPr>
          <p:cNvPr id="8" name="Content Placeholder 4">
            <a:extLst>
              <a:ext uri="{FF2B5EF4-FFF2-40B4-BE49-F238E27FC236}">
                <a16:creationId xmlns:a16="http://schemas.microsoft.com/office/drawing/2014/main" id="{14C4198B-E0F9-40B5-A940-8EFDBFD5149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3310" t="45882" r="29927" b="16806"/>
          <a:stretch/>
        </p:blipFill>
        <p:spPr bwMode="auto">
          <a:xfrm>
            <a:off x="609600" y="1477108"/>
            <a:ext cx="5106573" cy="46704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" name="Content Placeholder 9">
            <a:extLst>
              <a:ext uri="{FF2B5EF4-FFF2-40B4-BE49-F238E27FC236}">
                <a16:creationId xmlns:a16="http://schemas.microsoft.com/office/drawing/2014/main" id="{35E064D6-EB2C-4060-95E3-9F3D699E41A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8153" t="20268" r="17451" b="34463"/>
          <a:stretch/>
        </p:blipFill>
        <p:spPr bwMode="auto">
          <a:xfrm>
            <a:off x="5880294" y="1477108"/>
            <a:ext cx="5584875" cy="44875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0223087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C09C05-9528-48D8-9F60-950FAF8E1A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Fixed subnet mask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DBB7308-818D-46D5-B402-90E5B9E2F0F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777585" y="2285703"/>
            <a:ext cx="10327341" cy="20260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570198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29910F-E157-4026-96AF-44C9453F86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Classless Interdomain Routing (CIDR)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142942-5A67-43A3-8A94-413552D69C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6D37347-58A9-4F52-B781-EB14895DBFC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2231" t="61339" r="8500" b="16291"/>
          <a:stretch/>
        </p:blipFill>
        <p:spPr>
          <a:xfrm>
            <a:off x="609600" y="1561514"/>
            <a:ext cx="9664505" cy="153337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59AC18A-E3A6-4111-A7AC-3FF304BD4824}"/>
              </a:ext>
            </a:extLst>
          </p:cNvPr>
          <p:cNvSpPr txBox="1"/>
          <p:nvPr/>
        </p:nvSpPr>
        <p:spPr>
          <a:xfrm>
            <a:off x="609599" y="3094892"/>
            <a:ext cx="10489809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just">
              <a:defRPr/>
            </a:pPr>
            <a:endParaRPr lang="en-US" sz="3200" dirty="0">
              <a:solidFill>
                <a:schemeClr val="tx2"/>
              </a:solidFill>
              <a:latin typeface="+mn-lt"/>
            </a:endParaRPr>
          </a:p>
          <a:p>
            <a:pPr lvl="1" algn="just">
              <a:defRPr/>
            </a:pPr>
            <a:r>
              <a:rPr lang="en-US" sz="3200" dirty="0">
                <a:solidFill>
                  <a:schemeClr val="tx2"/>
                </a:solidFill>
                <a:latin typeface="+mn-lt"/>
              </a:rPr>
              <a:t>In classless addressing, a block of addresses can be defined as x.y.z.t /n, in which x.y.z.t defines one of the addresses and the /n defines the mask.</a:t>
            </a:r>
          </a:p>
        </p:txBody>
      </p:sp>
    </p:spTree>
    <p:extLst>
      <p:ext uri="{BB962C8B-B14F-4D97-AF65-F5344CB8AC3E}">
        <p14:creationId xmlns:p14="http://schemas.microsoft.com/office/powerpoint/2010/main" val="36537421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7FD1FB-B551-4389-83D9-0E0D16CCCE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Variable length subnet mask (VLSM)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44F01E-5094-40B4-B0F3-1DD0CF8365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Example one IP:192.168.23.45/28</a:t>
            </a:r>
          </a:p>
          <a:p>
            <a:r>
              <a:rPr lang="en-US" dirty="0"/>
              <a:t>Network mask?</a:t>
            </a:r>
          </a:p>
          <a:p>
            <a:r>
              <a:rPr lang="en-US" dirty="0"/>
              <a:t>Set network bits all 1’s</a:t>
            </a:r>
          </a:p>
          <a:p>
            <a:endParaRPr lang="en-US" dirty="0"/>
          </a:p>
          <a:p>
            <a:r>
              <a:rPr lang="en-US" dirty="0"/>
              <a:t>11111111. 11111111. 11111111.11110000</a:t>
            </a:r>
          </a:p>
          <a:p>
            <a:r>
              <a:rPr lang="en-US" dirty="0"/>
              <a:t>255.255.255.240</a:t>
            </a:r>
          </a:p>
          <a:p>
            <a:r>
              <a:rPr lang="en-IN" dirty="0"/>
              <a:t>First Address: IP address AND with MASK</a:t>
            </a:r>
          </a:p>
          <a:p>
            <a:r>
              <a:rPr lang="en-IN" dirty="0"/>
              <a:t>Last Address : IP address AND with Negation(MASK)</a:t>
            </a:r>
          </a:p>
        </p:txBody>
      </p:sp>
      <p:pic>
        <p:nvPicPr>
          <p:cNvPr id="5" name="Picture 6">
            <a:extLst>
              <a:ext uri="{FF2B5EF4-FFF2-40B4-BE49-F238E27FC236}">
                <a16:creationId xmlns:a16="http://schemas.microsoft.com/office/drawing/2014/main" id="{ECCB087F-4AF9-43D3-8A79-588AB4BAD5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32320" y="1371601"/>
            <a:ext cx="4450080" cy="1711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126354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261A91-2E92-4E62-B235-E2A8D5F930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Subnetting</a:t>
            </a:r>
            <a:endParaRPr lang="en-IN" dirty="0"/>
          </a:p>
        </p:txBody>
      </p:sp>
      <p:pic>
        <p:nvPicPr>
          <p:cNvPr id="5" name="Picture 6">
            <a:extLst>
              <a:ext uri="{FF2B5EF4-FFF2-40B4-BE49-F238E27FC236}">
                <a16:creationId xmlns:a16="http://schemas.microsoft.com/office/drawing/2014/main" id="{106CF81E-CA87-46E8-BC89-F2333B19D4B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361" y="1334380"/>
            <a:ext cx="10972800" cy="22063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6EC35CB-489F-491E-9712-8E1075E35E8C}"/>
              </a:ext>
            </a:extLst>
          </p:cNvPr>
          <p:cNvSpPr txBox="1"/>
          <p:nvPr/>
        </p:nvSpPr>
        <p:spPr>
          <a:xfrm>
            <a:off x="403272" y="3655905"/>
            <a:ext cx="11286978" cy="37394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2"/>
                </a:solidFill>
                <a:latin typeface="+mn-lt"/>
              </a:rPr>
              <a:t>Divide a large address block into smaller sub-groups.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2"/>
                </a:solidFill>
                <a:latin typeface="+mn-lt"/>
              </a:rPr>
              <a:t>ISP provides 192.168.32.0/26, organization wants to create various sub-network.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altLang="en-US" sz="2800" dirty="0">
                <a:solidFill>
                  <a:schemeClr val="tx2"/>
                </a:solidFill>
                <a:latin typeface="+mn-lt"/>
              </a:rPr>
              <a:t>To calculate VLSM subnets and the respective hosts allocate the </a:t>
            </a:r>
            <a:r>
              <a:rPr lang="en-US" altLang="en-US" sz="2800" dirty="0">
                <a:solidFill>
                  <a:srgbClr val="FF0000"/>
                </a:solidFill>
                <a:latin typeface="+mn-lt"/>
              </a:rPr>
              <a:t>largest requirements first </a:t>
            </a:r>
            <a:r>
              <a:rPr lang="en-US" altLang="en-US" sz="2800" dirty="0">
                <a:solidFill>
                  <a:schemeClr val="tx2"/>
                </a:solidFill>
                <a:latin typeface="+mn-lt"/>
              </a:rPr>
              <a:t>from the address range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altLang="en-US" sz="2800" dirty="0">
                <a:solidFill>
                  <a:schemeClr val="tx2"/>
                </a:solidFill>
                <a:latin typeface="+mn-lt"/>
              </a:rPr>
              <a:t>Requirements levels should</a:t>
            </a:r>
            <a:r>
              <a:rPr lang="en-US" altLang="en-US" sz="2800" dirty="0">
                <a:latin typeface="Arial" panose="020B0604020202020204" pitchFamily="34" charset="0"/>
                <a:cs typeface="Noto Sans CJK SC Regular" charset="0"/>
              </a:rPr>
              <a:t> </a:t>
            </a:r>
            <a:r>
              <a:rPr lang="en-US" altLang="en-US" sz="2800" dirty="0">
                <a:solidFill>
                  <a:schemeClr val="tx2"/>
                </a:solidFill>
                <a:latin typeface="+mn-lt"/>
              </a:rPr>
              <a:t>be listed from </a:t>
            </a:r>
            <a:r>
              <a:rPr lang="en-US" altLang="en-US" sz="2800" dirty="0">
                <a:solidFill>
                  <a:srgbClr val="FF0000"/>
                </a:solidFill>
                <a:latin typeface="+mn-lt"/>
              </a:rPr>
              <a:t>the largest to the smallest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3200" dirty="0">
              <a:solidFill>
                <a:schemeClr val="tx2"/>
              </a:solidFill>
              <a:latin typeface="+mn-lt"/>
            </a:endParaRPr>
          </a:p>
          <a:p>
            <a:endParaRPr lang="en-IN" sz="3200" dirty="0">
              <a:solidFill>
                <a:schemeClr val="tx2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2839140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A6066-C5B7-4CD7-9DF2-484AB693F0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5897B5-1248-4BAC-8706-138DAF0E2C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371601"/>
            <a:ext cx="10841502" cy="5169876"/>
          </a:xfrm>
        </p:spPr>
        <p:txBody>
          <a:bodyPr/>
          <a:lstStyle/>
          <a:p>
            <a:r>
              <a:rPr lang="en-US" dirty="0"/>
              <a:t>Suppose ISP provides 172.12.14.0/26 to an organization. They have three offices and requires 32, 16 and 16 address in each office. How many address can be created? What is </a:t>
            </a:r>
            <a:r>
              <a:rPr lang="en-US" dirty="0">
                <a:solidFill>
                  <a:srgbClr val="FF0000"/>
                </a:solidFill>
              </a:rPr>
              <a:t>network mask</a:t>
            </a:r>
            <a:r>
              <a:rPr lang="en-US" dirty="0"/>
              <a:t>? What is </a:t>
            </a:r>
            <a:r>
              <a:rPr lang="en-US" dirty="0">
                <a:solidFill>
                  <a:srgbClr val="FF0000"/>
                </a:solidFill>
              </a:rPr>
              <a:t>subnet mask</a:t>
            </a:r>
            <a:r>
              <a:rPr lang="en-US" dirty="0"/>
              <a:t>, first and last address of each office? Design it.</a:t>
            </a:r>
          </a:p>
          <a:p>
            <a:r>
              <a:rPr lang="en-US" dirty="0"/>
              <a:t>Remaining bits=6 so, no of address=2^6=64</a:t>
            </a:r>
          </a:p>
          <a:p>
            <a:r>
              <a:rPr lang="en-US" dirty="0"/>
              <a:t>26 bits are fixed for defining network. Network mask=/26=255.255.255.192</a:t>
            </a:r>
          </a:p>
          <a:p>
            <a:r>
              <a:rPr lang="en-US" dirty="0"/>
              <a:t>To create subnet-&gt;Borrow bits from host portion.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210588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94FE7-0543-45C0-A72C-42752AF97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Address allocation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165922-FB60-48AC-BED5-1B993CBD2C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371601"/>
            <a:ext cx="11582400" cy="4754563"/>
          </a:xfrm>
        </p:spPr>
        <p:txBody>
          <a:bodyPr/>
          <a:lstStyle/>
          <a:p>
            <a:r>
              <a:rPr lang="en-US" dirty="0"/>
              <a:t>Office-1 (subnet-1) mask, first and last address? </a:t>
            </a:r>
          </a:p>
          <a:p>
            <a:pPr lvl="1"/>
            <a:r>
              <a:rPr lang="en-US" dirty="0"/>
              <a:t> Subnet mask= 255.255.255.224</a:t>
            </a:r>
          </a:p>
          <a:p>
            <a:pPr lvl="1"/>
            <a:r>
              <a:rPr lang="en-US" dirty="0"/>
              <a:t>First </a:t>
            </a:r>
            <a:r>
              <a:rPr lang="en-US" dirty="0" err="1"/>
              <a:t>addr</a:t>
            </a:r>
            <a:r>
              <a:rPr lang="en-US" dirty="0"/>
              <a:t>=172.12.14.0/27</a:t>
            </a:r>
          </a:p>
          <a:p>
            <a:pPr lvl="1"/>
            <a:r>
              <a:rPr lang="en-US" dirty="0"/>
              <a:t>Last </a:t>
            </a:r>
            <a:r>
              <a:rPr lang="en-US" dirty="0" err="1"/>
              <a:t>addr</a:t>
            </a:r>
            <a:r>
              <a:rPr lang="en-US" dirty="0"/>
              <a:t>=172.12.14.31/27</a:t>
            </a:r>
          </a:p>
          <a:p>
            <a:r>
              <a:rPr lang="en-US" dirty="0"/>
              <a:t>Office-2 (subnet-2) mask, first and last address?</a:t>
            </a:r>
          </a:p>
          <a:p>
            <a:pPr lvl="1"/>
            <a:r>
              <a:rPr lang="en-US" dirty="0"/>
              <a:t> Subnet mask= 255.255.255.240</a:t>
            </a:r>
          </a:p>
          <a:p>
            <a:pPr lvl="1"/>
            <a:r>
              <a:rPr lang="en-US" dirty="0"/>
              <a:t>First </a:t>
            </a:r>
            <a:r>
              <a:rPr lang="en-US" dirty="0" err="1"/>
              <a:t>addr</a:t>
            </a:r>
            <a:r>
              <a:rPr lang="en-US" dirty="0"/>
              <a:t>=172.12.14.32/28</a:t>
            </a:r>
          </a:p>
          <a:p>
            <a:pPr lvl="1"/>
            <a:r>
              <a:rPr lang="en-US" dirty="0"/>
              <a:t>Last </a:t>
            </a:r>
            <a:r>
              <a:rPr lang="en-US" dirty="0" err="1"/>
              <a:t>addr</a:t>
            </a:r>
            <a:r>
              <a:rPr lang="en-US" dirty="0"/>
              <a:t>=172.12.14.47/28</a:t>
            </a:r>
          </a:p>
          <a:p>
            <a:r>
              <a:rPr lang="en-US" dirty="0"/>
              <a:t>Office-3 (subnet-3) mask, first and last address? </a:t>
            </a:r>
          </a:p>
          <a:p>
            <a:pPr lvl="1"/>
            <a:r>
              <a:rPr lang="en-US" dirty="0"/>
              <a:t> Subnet mask= 255.255.255.240, First </a:t>
            </a:r>
            <a:r>
              <a:rPr lang="en-US" dirty="0" err="1"/>
              <a:t>addr</a:t>
            </a:r>
            <a:r>
              <a:rPr lang="en-US" dirty="0"/>
              <a:t>=172.12.14.48/28 - 172.12.14.63/28</a:t>
            </a: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447664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FFB3CC-7264-42BC-9CBF-020650BC90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3AE387-6CAE-4DBA-9417-FEF6CE2309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6">
            <a:extLst>
              <a:ext uri="{FF2B5EF4-FFF2-40B4-BE49-F238E27FC236}">
                <a16:creationId xmlns:a16="http://schemas.microsoft.com/office/drawing/2014/main" id="{03B965B8-661E-41E1-BB9F-D5CE16E6A6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7791" y="1371601"/>
            <a:ext cx="9945858" cy="49223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314670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3E457B-400D-4F8C-9DB4-67F2C58732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9F5298-E74B-44F1-A55B-127FED38F5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371601"/>
            <a:ext cx="10972800" cy="5141741"/>
          </a:xfrm>
        </p:spPr>
        <p:txBody>
          <a:bodyPr/>
          <a:lstStyle/>
          <a:p>
            <a:pPr algn="just"/>
            <a:r>
              <a:rPr lang="en-US" altLang="en-US" sz="2800" i="1" baseline="0" dirty="0">
                <a:latin typeface="Times New Roman" panose="02020603050405020304" pitchFamily="18" charset="0"/>
              </a:rPr>
              <a:t>An ISP is granted a block of addresses starting with 190.100.0.0/16 (65,536 addresses). The ISP needs to distribute these addresses to three groups of customers as follows:</a:t>
            </a:r>
          </a:p>
          <a:p>
            <a:pPr marL="0" indent="0" algn="just">
              <a:buNone/>
            </a:pPr>
            <a:r>
              <a:rPr lang="en-US" altLang="en-US" sz="2800" i="1" baseline="0" dirty="0">
                <a:solidFill>
                  <a:schemeClr val="hlink"/>
                </a:solidFill>
                <a:latin typeface="Times New Roman" panose="02020603050405020304" pitchFamily="18" charset="0"/>
              </a:rPr>
              <a:t>a.</a:t>
            </a:r>
            <a:r>
              <a:rPr lang="en-US" altLang="en-US" sz="2800" i="1" baseline="0" dirty="0">
                <a:latin typeface="Times New Roman" panose="02020603050405020304" pitchFamily="18" charset="0"/>
              </a:rPr>
              <a:t> The first group has 64 customers; each needs 256</a:t>
            </a:r>
            <a:br>
              <a:rPr lang="en-US" altLang="en-US" sz="2800" i="1" baseline="0" dirty="0">
                <a:latin typeface="Times New Roman" panose="02020603050405020304" pitchFamily="18" charset="0"/>
              </a:rPr>
            </a:br>
            <a:r>
              <a:rPr lang="en-US" altLang="en-US" sz="2800" i="1" baseline="0" dirty="0">
                <a:latin typeface="Times New Roman" panose="02020603050405020304" pitchFamily="18" charset="0"/>
              </a:rPr>
              <a:t>     addresses.</a:t>
            </a:r>
          </a:p>
          <a:p>
            <a:pPr marL="0" indent="0" algn="just">
              <a:buNone/>
            </a:pPr>
            <a:r>
              <a:rPr lang="en-US" altLang="en-US" sz="2800" i="1" baseline="0" dirty="0">
                <a:solidFill>
                  <a:schemeClr val="hlink"/>
                </a:solidFill>
                <a:latin typeface="Times New Roman" panose="02020603050405020304" pitchFamily="18" charset="0"/>
              </a:rPr>
              <a:t>b.</a:t>
            </a:r>
            <a:r>
              <a:rPr lang="en-US" altLang="en-US" sz="2800" i="1" baseline="0" dirty="0">
                <a:latin typeface="Times New Roman" panose="02020603050405020304" pitchFamily="18" charset="0"/>
              </a:rPr>
              <a:t> The second group has 128 customers; each needs 128</a:t>
            </a:r>
            <a:br>
              <a:rPr lang="en-US" altLang="en-US" sz="2800" i="1" baseline="0" dirty="0">
                <a:latin typeface="Times New Roman" panose="02020603050405020304" pitchFamily="18" charset="0"/>
              </a:rPr>
            </a:br>
            <a:r>
              <a:rPr lang="en-US" altLang="en-US" sz="2800" i="1" baseline="0" dirty="0">
                <a:latin typeface="Times New Roman" panose="02020603050405020304" pitchFamily="18" charset="0"/>
              </a:rPr>
              <a:t>     addresses.</a:t>
            </a:r>
          </a:p>
          <a:p>
            <a:pPr marL="0" indent="0" algn="just">
              <a:buNone/>
            </a:pPr>
            <a:r>
              <a:rPr lang="en-US" altLang="en-US" sz="2800" i="1" baseline="0" dirty="0">
                <a:solidFill>
                  <a:schemeClr val="hlink"/>
                </a:solidFill>
                <a:latin typeface="Times New Roman" panose="02020603050405020304" pitchFamily="18" charset="0"/>
              </a:rPr>
              <a:t>c.</a:t>
            </a:r>
            <a:r>
              <a:rPr lang="en-US" altLang="en-US" sz="2800" i="1" baseline="0" dirty="0">
                <a:latin typeface="Times New Roman" panose="02020603050405020304" pitchFamily="18" charset="0"/>
              </a:rPr>
              <a:t> The third group has 128 customers; each needs 64</a:t>
            </a:r>
            <a:br>
              <a:rPr lang="en-US" altLang="en-US" sz="2800" i="1" baseline="0" dirty="0">
                <a:latin typeface="Times New Roman" panose="02020603050405020304" pitchFamily="18" charset="0"/>
              </a:rPr>
            </a:br>
            <a:r>
              <a:rPr lang="en-US" altLang="en-US" sz="2800" i="1" baseline="0" dirty="0">
                <a:latin typeface="Times New Roman" panose="02020603050405020304" pitchFamily="18" charset="0"/>
              </a:rPr>
              <a:t>     addresses.</a:t>
            </a:r>
          </a:p>
          <a:p>
            <a:pPr algn="just"/>
            <a:r>
              <a:rPr lang="en-US" altLang="en-US" sz="2800" i="1" baseline="0" dirty="0">
                <a:latin typeface="Times New Roman" panose="02020603050405020304" pitchFamily="18" charset="0"/>
              </a:rPr>
              <a:t>Design the subblocks and find out how many addresses are still available after these allocations.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993586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D655EC-210D-4E3F-A33C-7F87C719DF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40AF29-8A5C-416F-AB57-71BC6A82B0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altLang="en-US" sz="3200" i="1" baseline="0" dirty="0">
                <a:solidFill>
                  <a:schemeClr val="hlink"/>
                </a:solidFill>
                <a:latin typeface="Times New Roman" panose="02020603050405020304" pitchFamily="18" charset="0"/>
              </a:rPr>
              <a:t>Group 1</a:t>
            </a:r>
          </a:p>
          <a:p>
            <a:pPr marL="0" indent="0" algn="just">
              <a:buNone/>
            </a:pPr>
            <a:r>
              <a:rPr lang="en-US" altLang="en-US" sz="3200" i="1" baseline="0" dirty="0">
                <a:latin typeface="Times New Roman" panose="02020603050405020304" pitchFamily="18" charset="0"/>
              </a:rPr>
              <a:t>For this group, each customer needs 256 addresses. This means that 8 (log2 256) bits are needed to define each host. The prefix length is then 32 − 8 = 24. The addresses are</a:t>
            </a:r>
          </a:p>
          <a:p>
            <a:endParaRPr lang="en-IN" dirty="0"/>
          </a:p>
        </p:txBody>
      </p:sp>
      <p:pic>
        <p:nvPicPr>
          <p:cNvPr id="5" name="Picture 13">
            <a:extLst>
              <a:ext uri="{FF2B5EF4-FFF2-40B4-BE49-F238E27FC236}">
                <a16:creationId xmlns:a16="http://schemas.microsoft.com/office/drawing/2014/main" id="{6A4CE812-482A-4EA0-8BD2-24CBDDB4E9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49" y="3910819"/>
            <a:ext cx="9598806" cy="2529328"/>
          </a:xfrm>
          <a:prstGeom prst="rect">
            <a:avLst/>
          </a:prstGeom>
          <a:noFill/>
          <a:ln w="57150" cmpd="thickThin">
            <a:solidFill>
              <a:schemeClr val="fol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128994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B246A8-BA71-4EC0-8F18-BF9C6DC203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E872E1-13FB-40BC-A6B8-2FD8FC4E89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altLang="en-US" sz="3200" i="1" baseline="0" dirty="0">
                <a:solidFill>
                  <a:schemeClr val="hlink"/>
                </a:solidFill>
                <a:latin typeface="Times New Roman" panose="02020603050405020304" pitchFamily="18" charset="0"/>
              </a:rPr>
              <a:t>Group 2</a:t>
            </a:r>
          </a:p>
          <a:p>
            <a:pPr marL="0" indent="0" algn="just">
              <a:buNone/>
            </a:pPr>
            <a:r>
              <a:rPr lang="en-US" altLang="en-US" sz="3200" i="1" baseline="0" dirty="0">
                <a:latin typeface="Times New Roman" panose="02020603050405020304" pitchFamily="18" charset="0"/>
              </a:rPr>
              <a:t>For this group, each customer needs 128 addresses. This means that 7 (log2 128) bits are needed to define each host. The prefix length is then 32 − 7 = 25. The addresses are</a:t>
            </a:r>
          </a:p>
          <a:p>
            <a:endParaRPr lang="en-IN" dirty="0"/>
          </a:p>
        </p:txBody>
      </p:sp>
      <p:pic>
        <p:nvPicPr>
          <p:cNvPr id="5" name="Picture 13">
            <a:extLst>
              <a:ext uri="{FF2B5EF4-FFF2-40B4-BE49-F238E27FC236}">
                <a16:creationId xmlns:a16="http://schemas.microsoft.com/office/drawing/2014/main" id="{5934E5E7-491B-4269-9494-5D62857FEA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9675" y="3730625"/>
            <a:ext cx="9538042" cy="2754581"/>
          </a:xfrm>
          <a:prstGeom prst="rect">
            <a:avLst/>
          </a:prstGeom>
          <a:noFill/>
          <a:ln w="57150" cmpd="thickThin">
            <a:solidFill>
              <a:schemeClr val="fol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064652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04709-3873-4014-AE18-9C0913BFC7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1C2A42-DEA5-4BC7-AC11-D7A7912AE3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altLang="en-US" sz="3200" i="1" baseline="0" dirty="0">
                <a:solidFill>
                  <a:schemeClr val="hlink"/>
                </a:solidFill>
                <a:latin typeface="Times New Roman" panose="02020603050405020304" pitchFamily="18" charset="0"/>
              </a:rPr>
              <a:t>Group 3</a:t>
            </a:r>
          </a:p>
          <a:p>
            <a:pPr algn="just"/>
            <a:r>
              <a:rPr lang="en-US" altLang="en-US" sz="3200" i="1" baseline="0" dirty="0">
                <a:latin typeface="Times New Roman" panose="02020603050405020304" pitchFamily="18" charset="0"/>
              </a:rPr>
              <a:t>For this group, each customer needs 64 addresses. This means that 6 (log</a:t>
            </a:r>
            <a:r>
              <a:rPr lang="en-US" altLang="en-US" sz="3200" i="1" baseline="-16000" dirty="0">
                <a:latin typeface="Times New Roman" panose="02020603050405020304" pitchFamily="18" charset="0"/>
              </a:rPr>
              <a:t>2</a:t>
            </a:r>
            <a:r>
              <a:rPr lang="en-US" altLang="en-US" sz="3200" i="1" baseline="0" dirty="0">
                <a:latin typeface="Times New Roman" panose="02020603050405020304" pitchFamily="18" charset="0"/>
              </a:rPr>
              <a:t>64) bits are needed to each host. The prefix length is then 32 − 6 = 26. The addresses are</a:t>
            </a:r>
          </a:p>
          <a:p>
            <a:endParaRPr lang="en-IN" dirty="0"/>
          </a:p>
        </p:txBody>
      </p:sp>
      <p:pic>
        <p:nvPicPr>
          <p:cNvPr id="5" name="Picture 12">
            <a:extLst>
              <a:ext uri="{FF2B5EF4-FFF2-40B4-BE49-F238E27FC236}">
                <a16:creationId xmlns:a16="http://schemas.microsoft.com/office/drawing/2014/main" id="{2034ABC1-776A-4741-B866-3FBB61DFA2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1633" y="3757613"/>
            <a:ext cx="9521678" cy="2520952"/>
          </a:xfrm>
          <a:prstGeom prst="rect">
            <a:avLst/>
          </a:prstGeom>
          <a:noFill/>
          <a:ln w="57150" cmpd="thickThin">
            <a:solidFill>
              <a:schemeClr val="fol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079373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E2C14B-A808-437A-BC62-1F9BF4870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Answer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C3F48F-86C4-4B25-B45C-8AAF4FFAC5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altLang="en-US" sz="3200" i="1" baseline="0" dirty="0">
                <a:latin typeface="Times New Roman" panose="02020603050405020304" pitchFamily="18" charset="0"/>
              </a:rPr>
              <a:t>Number of granted addresses to the ISP: 65,536</a:t>
            </a:r>
          </a:p>
          <a:p>
            <a:pPr algn="just"/>
            <a:r>
              <a:rPr lang="en-US" altLang="en-US" sz="3200" i="1" baseline="0" dirty="0">
                <a:latin typeface="Times New Roman" panose="02020603050405020304" pitchFamily="18" charset="0"/>
              </a:rPr>
              <a:t>Number of allocated addresses by the ISP: 40,960</a:t>
            </a:r>
          </a:p>
          <a:p>
            <a:pPr algn="just"/>
            <a:r>
              <a:rPr lang="en-US" altLang="en-US" sz="3200" i="1" baseline="0" dirty="0">
                <a:latin typeface="Times New Roman" panose="02020603050405020304" pitchFamily="18" charset="0"/>
              </a:rPr>
              <a:t>Number of available addresses: 24,576</a:t>
            </a:r>
          </a:p>
        </p:txBody>
      </p:sp>
    </p:spTree>
    <p:extLst>
      <p:ext uri="{BB962C8B-B14F-4D97-AF65-F5344CB8AC3E}">
        <p14:creationId xmlns:p14="http://schemas.microsoft.com/office/powerpoint/2010/main" val="4508538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14B179-E8A0-4C45-8C68-7C09BE97E3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IP Assignments</a:t>
            </a:r>
            <a:endParaRPr lang="en-IN" dirty="0"/>
          </a:p>
        </p:txBody>
      </p:sp>
      <p:pic>
        <p:nvPicPr>
          <p:cNvPr id="5" name="Picture 7">
            <a:extLst>
              <a:ext uri="{FF2B5EF4-FFF2-40B4-BE49-F238E27FC236}">
                <a16:creationId xmlns:a16="http://schemas.microsoft.com/office/drawing/2014/main" id="{7AAADA8A-AD49-46BE-8B03-813C28040A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412888"/>
            <a:ext cx="9645748" cy="5368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70133233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06DB7A4C-9B9A-445D-B8BE-D29BED4E6C6A}" vid="{D2E2032D-C497-4D69-B42A-90DCB059FA0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252</TotalTime>
  <Words>746</Words>
  <Application>Microsoft Office PowerPoint</Application>
  <PresentationFormat>Widescreen</PresentationFormat>
  <Paragraphs>73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Times New Roman</vt:lpstr>
      <vt:lpstr>Theme1</vt:lpstr>
      <vt:lpstr>COMPUTER NETWORKS (BCSC 0008)</vt:lpstr>
      <vt:lpstr> Text and Reference Books </vt:lpstr>
      <vt:lpstr>Basics</vt:lpstr>
      <vt:lpstr>Classful Addressing</vt:lpstr>
      <vt:lpstr>Fixed subnet mask</vt:lpstr>
      <vt:lpstr>Classless Interdomain Routing (CIDR)</vt:lpstr>
      <vt:lpstr>Variable length subnet mask (VLSM)</vt:lpstr>
      <vt:lpstr>Subnetting</vt:lpstr>
      <vt:lpstr>Example</vt:lpstr>
      <vt:lpstr>Address allocation</vt:lpstr>
      <vt:lpstr>Design</vt:lpstr>
      <vt:lpstr>Example</vt:lpstr>
      <vt:lpstr>PowerPoint Presentation</vt:lpstr>
      <vt:lpstr>PowerPoint Presentation</vt:lpstr>
      <vt:lpstr>PowerPoint Presentation</vt:lpstr>
      <vt:lpstr>Answer</vt:lpstr>
      <vt:lpstr>IP Assignments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COMPUTER NETWORKS (BCSC 0008)</dc:title>
  <dc:creator>shabir ali</dc:creator>
  <cp:lastModifiedBy>shabir ali</cp:lastModifiedBy>
  <cp:revision>14</cp:revision>
  <dcterms:created xsi:type="dcterms:W3CDTF">2020-10-29T05:10:26Z</dcterms:created>
  <dcterms:modified xsi:type="dcterms:W3CDTF">2020-10-29T10:29:12Z</dcterms:modified>
</cp:coreProperties>
</file>