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65" r:id="rId3"/>
    <p:sldId id="843" r:id="rId4"/>
    <p:sldId id="844" r:id="rId5"/>
    <p:sldId id="845" r:id="rId6"/>
    <p:sldId id="848" r:id="rId7"/>
    <p:sldId id="846" r:id="rId8"/>
    <p:sldId id="839" r:id="rId9"/>
    <p:sldId id="840" r:id="rId10"/>
    <p:sldId id="841" r:id="rId11"/>
    <p:sldId id="879" r:id="rId12"/>
    <p:sldId id="877" r:id="rId13"/>
    <p:sldId id="60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17E44-BDC1-4515-8C0B-1374D0AA3111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1A913-2FBC-41BF-A4D5-4124FDD15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778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F298FAD-439E-46D5-8362-DC685B71C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68EAE8-04DB-4374-B79B-ED818FB167BD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95682" name="Rectangle 2">
            <a:extLst>
              <a:ext uri="{FF2B5EF4-FFF2-40B4-BE49-F238E27FC236}">
                <a16:creationId xmlns:a16="http://schemas.microsoft.com/office/drawing/2014/main" id="{EFB6621A-B053-4435-8CDE-29DFA05DEA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683" name="Rectangle 3">
            <a:extLst>
              <a:ext uri="{FF2B5EF4-FFF2-40B4-BE49-F238E27FC236}">
                <a16:creationId xmlns:a16="http://schemas.microsoft.com/office/drawing/2014/main" id="{820D7CE0-20A6-4C21-A8C9-99B822B894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A27EA10-341B-48B9-8098-D38DDD19E1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6DF214-5276-4299-80CB-5BBA5FE8E0A4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087490" name="Rectangle 2">
            <a:extLst>
              <a:ext uri="{FF2B5EF4-FFF2-40B4-BE49-F238E27FC236}">
                <a16:creationId xmlns:a16="http://schemas.microsoft.com/office/drawing/2014/main" id="{87A44FA1-BCD7-4541-B9DF-CB1A63817D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7491" name="Rectangle 3">
            <a:extLst>
              <a:ext uri="{FF2B5EF4-FFF2-40B4-BE49-F238E27FC236}">
                <a16:creationId xmlns:a16="http://schemas.microsoft.com/office/drawing/2014/main" id="{B75F606D-915B-4B14-9114-580749F2F1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AB6026A-0679-42F1-BE9D-E8764519D7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8F5D63-7717-4358-8566-0C734B953EDB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089538" name="Rectangle 2">
            <a:extLst>
              <a:ext uri="{FF2B5EF4-FFF2-40B4-BE49-F238E27FC236}">
                <a16:creationId xmlns:a16="http://schemas.microsoft.com/office/drawing/2014/main" id="{59E0ABCF-8E72-4959-8EED-CFC1D153CF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9539" name="Rectangle 3">
            <a:extLst>
              <a:ext uri="{FF2B5EF4-FFF2-40B4-BE49-F238E27FC236}">
                <a16:creationId xmlns:a16="http://schemas.microsoft.com/office/drawing/2014/main" id="{8C124BB4-4AC4-4B58-9E57-107D6D8BD6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C7C25BC-EEAA-495C-BD10-D73A83DA34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1CC0D4-EE7F-476E-B1B9-AC7784BFDF66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091586" name="Rectangle 2">
            <a:extLst>
              <a:ext uri="{FF2B5EF4-FFF2-40B4-BE49-F238E27FC236}">
                <a16:creationId xmlns:a16="http://schemas.microsoft.com/office/drawing/2014/main" id="{FA733FB5-1614-46BA-9B2B-C96CECAC4D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1587" name="Rectangle 3">
            <a:extLst>
              <a:ext uri="{FF2B5EF4-FFF2-40B4-BE49-F238E27FC236}">
                <a16:creationId xmlns:a16="http://schemas.microsoft.com/office/drawing/2014/main" id="{7BF3B45D-4895-491B-AEF8-1A1D8574C0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0200268-E7B9-4F9C-817C-3CC5098B7E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CB81C6-42DE-45F7-AAD2-DE5EA25E8BC8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165314" name="Rectangle 2">
            <a:extLst>
              <a:ext uri="{FF2B5EF4-FFF2-40B4-BE49-F238E27FC236}">
                <a16:creationId xmlns:a16="http://schemas.microsoft.com/office/drawing/2014/main" id="{97DBF8A0-2288-4F3A-864E-6E22A54BA7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5315" name="Rectangle 3">
            <a:extLst>
              <a:ext uri="{FF2B5EF4-FFF2-40B4-BE49-F238E27FC236}">
                <a16:creationId xmlns:a16="http://schemas.microsoft.com/office/drawing/2014/main" id="{2159AE99-4FF6-41ED-9FED-99B5B08B3D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5945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E747-07F9-434B-BC45-818EC60EE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CC20E-4AFE-4F76-A16E-1D45EB7433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AA861-0758-4F5D-866A-14BA2719D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D3585-83B2-4612-8E27-ECD37E8A3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B5FEF-FB14-484A-BDC1-026A6642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161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E7174-0A19-42B5-9D88-A732A7326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AC968-AA46-4EA5-A494-D63484C06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8846A-67C1-44B3-93C1-02628BB0A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81555-83BB-4319-AA6A-5B0BA7796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9B10A-BDB5-4503-A870-2E72BA45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394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D0510-92E4-4684-B966-082359C0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4505A-3878-4CAA-8AB9-346FF4BAB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3CE91-6C9F-4B97-BFB8-C72FF780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C72D4-1EBB-4424-BF8D-8FE06915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69827-F418-48F0-A237-687DD633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700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2D46F-E48B-4CD6-B716-0C6D549D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D24DD-52A7-482F-89FD-BF32F00295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5D6D4-956F-4947-9760-D2BF78987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674D1-3E8E-4F09-82A1-B0FCC53C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04584-4AA6-49D5-B41F-6C58D11A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0545E-A78A-42EC-A7F9-369AD4E1F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97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6F41-A6ED-48C1-8C3B-D9D17DEB6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65EA6-CEAC-4408-8A9B-194DBBE20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C513E-C762-4DC4-BB42-39271E53D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46DD3-B6EA-409A-88F7-7554635BE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E4109-5BA9-44C5-9A4C-28CDF64A09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4C9DA1-61F1-4EE5-B441-09F999AA9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B4FE1-A658-4030-8168-15EF6B675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3F5F94-2BDE-48C8-A5AE-E431D11A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49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B5AB9-CDB3-4E3F-B606-5E0C87D4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6FA115-7111-4B60-A5B9-43F059E6D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B6188-B948-4C97-AA7B-EAF74095B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FD2D0-F1E5-432A-B47D-98DFE20B4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029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785E6-276A-4CF7-9866-6A9EA0BA1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BA2D4-9EBF-4D39-B5B9-93874E1AB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AD714-AB3D-4FEA-815C-DDB139174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435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ECC30-3347-4CBC-BCA7-BDACB15F7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06A4D-F201-491D-B4AF-1B07E34D8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B59F5-5EEE-4979-B373-0CAA1D8FE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EB0DC7-DE7C-4308-B69C-F7798EB4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F3BB3-33D9-4922-8941-44E11F23C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7D629-E868-4ACA-AD7C-DE90C59D3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73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2CD59-FF70-44BA-8F2F-F29600431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E621FF-9E5C-42FC-B0CF-6321A6980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C0EE9-406B-4100-916D-2E4F565D9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C6D38-9904-4CF7-B107-A490964E0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9B5E7-AAF1-4659-AAFC-EFE9CD4B0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FBE07-50F3-4F8F-B531-B210D7B17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472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2F24-07D3-406A-BC00-7884A0AD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84D9FD-2295-4D91-B44A-FED97B445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5DEB3-BD97-410F-81B6-64FA8F452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95C8D-9402-411F-B7C8-1BB681B03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4FA15-82A8-45FC-B953-CC2C21F25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466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A41AC9-1D93-4DBD-B112-89592EFA8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E7E1A-05FA-40CE-8AFD-8E287887B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241AE-3983-40E2-870B-29BC6A39B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30C94-6A50-4631-B01D-38D19ADB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151BC-0FAE-44A0-964E-24B4E5B3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910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F689EB-1464-40A4-BE2D-C78967CC2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3148C-53BE-4744-8307-6C45106DF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762B0-F067-4089-AF7F-3949D403F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ED777-179B-47B4-89B5-43884463E78F}" type="datetimeFigureOut">
              <a:rPr lang="en-IN" smtClean="0"/>
              <a:t>27-11-2020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E6463-78CB-42C5-B39E-B3A30763D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99277-D454-4C1A-9C3C-BB62D91DB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E21EE-17CC-4834-ADD1-327970002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543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3200400"/>
            <a:ext cx="7772400" cy="16764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none" dirty="0"/>
              <a:t>COMPUTER NETWORKS</a:t>
            </a:r>
            <a:br>
              <a:rPr lang="en-US" b="1" u="none" dirty="0"/>
            </a:br>
            <a:r>
              <a:rPr lang="en-US" b="1" u="none" dirty="0"/>
              <a:t>(</a:t>
            </a:r>
            <a:r>
              <a:rPr lang="en-US" b="1" dirty="0"/>
              <a:t>BCSC 0008)</a:t>
            </a:r>
            <a:endParaRPr lang="en-US" b="1" u="none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990601"/>
            <a:ext cx="2065942" cy="2152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Footer Placeholder 5"/>
          <p:cNvSpPr txBox="1">
            <a:spLocks/>
          </p:cNvSpPr>
          <p:nvPr/>
        </p:nvSpPr>
        <p:spPr>
          <a:xfrm>
            <a:off x="2743200" y="4816476"/>
            <a:ext cx="678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defRPr/>
            </a:pPr>
            <a:r>
              <a:rPr lang="en-US" sz="1200" b="1" dirty="0">
                <a:latin typeface="Times New Roman"/>
                <a:ea typeface="Calibri"/>
                <a:cs typeface="Times New Roman"/>
              </a:rPr>
              <a:t>Copyright content, use only with the written permission of presenter mentioned</a:t>
            </a:r>
            <a:endParaRPr lang="en-US" altLang="zh-TW" sz="1200" dirty="0">
              <a:latin typeface="Times New Roman" pitchFamily="18" charset="0"/>
            </a:endParaRPr>
          </a:p>
        </p:txBody>
      </p:sp>
      <p:sp>
        <p:nvSpPr>
          <p:cNvPr id="11" name="Footer Placeholder 5"/>
          <p:cNvSpPr txBox="1">
            <a:spLocks/>
          </p:cNvSpPr>
          <p:nvPr/>
        </p:nvSpPr>
        <p:spPr>
          <a:xfrm>
            <a:off x="4876800" y="5410201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ctr">
              <a:defRPr/>
            </a:pPr>
            <a:r>
              <a:rPr lang="en-US" b="1" dirty="0">
                <a:latin typeface="Times New Roman"/>
                <a:ea typeface="Calibri"/>
                <a:cs typeface="Times New Roman"/>
              </a:rPr>
              <a:t>Lecture 21</a:t>
            </a:r>
            <a:endParaRPr lang="en-US" altLang="zh-TW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b="1" dirty="0"/>
              <a:t>Text and Reference Books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Text Books: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Fourouzan B. A. (2004), “Data Communication and Networking”, 4th Edition, McGraw-Hill.</a:t>
            </a:r>
          </a:p>
          <a:p>
            <a:pPr algn="just"/>
            <a:endParaRPr lang="en-US" sz="2400" dirty="0"/>
          </a:p>
          <a:p>
            <a:pPr algn="just">
              <a:buNone/>
            </a:pPr>
            <a:r>
              <a:rPr lang="en-US" sz="2400" dirty="0">
                <a:solidFill>
                  <a:srgbClr val="FF0000"/>
                </a:solidFill>
              </a:rPr>
              <a:t>References: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Kurose, J. F. and Ross K. W. (2005), “Computer Networking: A Top-Down Approach Featuring the Internet”, 3rd Edition, Addison-Wesley.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A. S. Tanenbaum (2006), “Computer Networks”, 2nd Edition, Prentice Hall India.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AFE80AEF-E481-4A67-8896-66D11BEB82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CDD33735-B7EF-414E-BBAA-3FBA87B8D04A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94658" name="Line 2">
            <a:extLst>
              <a:ext uri="{FF2B5EF4-FFF2-40B4-BE49-F238E27FC236}">
                <a16:creationId xmlns:a16="http://schemas.microsoft.com/office/drawing/2014/main" id="{711EF5DF-FC4B-433C-9F72-30839ED4B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94659" name="Line 3">
            <a:extLst>
              <a:ext uri="{FF2B5EF4-FFF2-40B4-BE49-F238E27FC236}">
                <a16:creationId xmlns:a16="http://schemas.microsoft.com/office/drawing/2014/main" id="{60E4B8E1-B160-4F32-B8D6-83A0E6C249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94660" name="Text Box 4">
            <a:extLst>
              <a:ext uri="{FF2B5EF4-FFF2-40B4-BE49-F238E27FC236}">
                <a16:creationId xmlns:a16="http://schemas.microsoft.com/office/drawing/2014/main" id="{F4FAD91D-A0ED-43FB-9F77-92875728F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81000"/>
            <a:ext cx="39008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Transport Layer: Introduction</a:t>
            </a:r>
            <a:endParaRPr lang="en-US" altLang="en-US" sz="2000" i="1" dirty="0">
              <a:latin typeface="Times New Roman" panose="02020603050405020304" pitchFamily="18" charset="0"/>
            </a:endParaRPr>
          </a:p>
        </p:txBody>
      </p:sp>
      <p:sp>
        <p:nvSpPr>
          <p:cNvPr id="1094661" name="Line 5">
            <a:extLst>
              <a:ext uri="{FF2B5EF4-FFF2-40B4-BE49-F238E27FC236}">
                <a16:creationId xmlns:a16="http://schemas.microsoft.com/office/drawing/2014/main" id="{573EDAAA-0196-4647-B9C9-AD25C146A6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94662" name="Picture 6">
            <a:extLst>
              <a:ext uri="{FF2B5EF4-FFF2-40B4-BE49-F238E27FC236}">
                <a16:creationId xmlns:a16="http://schemas.microsoft.com/office/drawing/2014/main" id="{E1319A13-6265-4A8E-AA86-EAEB3628C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0" y="1066800"/>
            <a:ext cx="7138988" cy="501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786AB-2296-4494-A6EE-CBC5FCF11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need transport layer?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4CFFA-F374-4D10-84C4-DF85337D4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70" y="1690688"/>
            <a:ext cx="9578009" cy="4351338"/>
          </a:xfrm>
        </p:spPr>
        <p:txBody>
          <a:bodyPr/>
          <a:lstStyle/>
          <a:p>
            <a:pPr algn="just"/>
            <a:r>
              <a:rPr lang="en-US" i="1" dirty="0">
                <a:latin typeface="Times New Roman" panose="02020603050405020304" pitchFamily="18" charset="0"/>
              </a:rPr>
              <a:t>Network layer is responsible for end to end (Host to Host) communication (IP address).</a:t>
            </a:r>
          </a:p>
          <a:p>
            <a:pPr algn="just"/>
            <a:r>
              <a:rPr lang="en-US" i="1" dirty="0">
                <a:latin typeface="Times New Roman" panose="02020603050405020304" pitchFamily="18" charset="0"/>
              </a:rPr>
              <a:t>There are several network application running in OS.</a:t>
            </a:r>
          </a:p>
          <a:p>
            <a:pPr algn="just"/>
            <a:r>
              <a:rPr lang="en-US" i="1" dirty="0">
                <a:latin typeface="Times New Roman" panose="02020603050405020304" pitchFamily="18" charset="0"/>
              </a:rPr>
              <a:t>How did NIC knows which packet belongs to which process/application?</a:t>
            </a:r>
          </a:p>
        </p:txBody>
      </p:sp>
    </p:spTree>
    <p:extLst>
      <p:ext uri="{BB962C8B-B14F-4D97-AF65-F5344CB8AC3E}">
        <p14:creationId xmlns:p14="http://schemas.microsoft.com/office/powerpoint/2010/main" val="1347933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3E60-15DC-4220-A6F2-7590AEE9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 deliveries: Internet Stack</a:t>
            </a:r>
            <a:endParaRPr lang="en-IN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B599AA01-78D6-4070-B04D-6E7D891C1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094" y="2171010"/>
            <a:ext cx="8043862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9903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0E8EA-D399-4BD0-B3FC-64EBF2921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Continued..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EA8C3F-DCCB-4176-9CA6-A463C59DC8FC}"/>
              </a:ext>
            </a:extLst>
          </p:cNvPr>
          <p:cNvSpPr txBox="1"/>
          <p:nvPr/>
        </p:nvSpPr>
        <p:spPr>
          <a:xfrm>
            <a:off x="988943" y="1388922"/>
            <a:ext cx="1021411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/>
              <a:t>The transport layer is responsible for process-to-process delivery—the delivery of a packet, part of a message, from one process to another.</a:t>
            </a: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It provides</a:t>
            </a:r>
            <a:r>
              <a:rPr lang="en-US" sz="2800" i="1" dirty="0">
                <a:solidFill>
                  <a:srgbClr val="FF0000"/>
                </a:solidFill>
              </a:rPr>
              <a:t> logical communication</a:t>
            </a:r>
            <a:r>
              <a:rPr lang="en-US" sz="2800" dirty="0"/>
              <a:t> between app processes running on different hosts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transport protocols run in end systems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send side: breaks app messages into </a:t>
            </a:r>
            <a:r>
              <a:rPr lang="en-US" sz="2800" dirty="0">
                <a:solidFill>
                  <a:srgbClr val="FF0000"/>
                </a:solidFill>
              </a:rPr>
              <a:t>segments</a:t>
            </a:r>
            <a:r>
              <a:rPr lang="en-US" sz="2800" dirty="0"/>
              <a:t>, passes to  network layer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 err="1"/>
              <a:t>rcv</a:t>
            </a:r>
            <a:r>
              <a:rPr lang="en-US" sz="2800" dirty="0"/>
              <a:t> side: reassembles segments into messages, passes to app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more than one transport protocol available to apps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/>
              <a:t>Internet: TCP and UDP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69247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E3CE6-E904-493E-81C0-389BFF15B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delivers messages to specific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1D9B-5DE8-4568-877F-9FB88CA67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Port address (16 bit) </a:t>
            </a:r>
          </a:p>
          <a:p>
            <a:r>
              <a:rPr lang="en-US" dirty="0"/>
              <a:t>Ranges from 0 to 65,535</a:t>
            </a:r>
          </a:p>
          <a:p>
            <a:endParaRPr lang="en-IN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A7F5C2C9-324A-4489-8EEF-BF2AB1D73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252" y="3011488"/>
            <a:ext cx="8364538" cy="3300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2885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09D69AA-EFB4-4776-8E8C-A0241BBDE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20A136DF-360A-4FC2-AA22-FD691DD76702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086466" name="Line 2">
            <a:extLst>
              <a:ext uri="{FF2B5EF4-FFF2-40B4-BE49-F238E27FC236}">
                <a16:creationId xmlns:a16="http://schemas.microsoft.com/office/drawing/2014/main" id="{720A1F40-EDD8-4BA6-A368-2DD75026A1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86467" name="Line 3">
            <a:extLst>
              <a:ext uri="{FF2B5EF4-FFF2-40B4-BE49-F238E27FC236}">
                <a16:creationId xmlns:a16="http://schemas.microsoft.com/office/drawing/2014/main" id="{3EADE77D-B968-4B14-AC30-1990197C42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86468" name="Text Box 4">
            <a:extLst>
              <a:ext uri="{FF2B5EF4-FFF2-40B4-BE49-F238E27FC236}">
                <a16:creationId xmlns:a16="http://schemas.microsoft.com/office/drawing/2014/main" id="{F7F4F5FA-5216-4F29-A5E1-9507E7560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81000"/>
            <a:ext cx="36426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i="1" dirty="0">
                <a:latin typeface="Times New Roman" panose="02020603050405020304" pitchFamily="18" charset="0"/>
              </a:rPr>
              <a:t>IP addresses versus port numbers</a:t>
            </a:r>
          </a:p>
        </p:txBody>
      </p:sp>
      <p:sp>
        <p:nvSpPr>
          <p:cNvPr id="1086469" name="Line 5">
            <a:extLst>
              <a:ext uri="{FF2B5EF4-FFF2-40B4-BE49-F238E27FC236}">
                <a16:creationId xmlns:a16="http://schemas.microsoft.com/office/drawing/2014/main" id="{3CBF685B-7C3D-4BB5-A469-768E55DAE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86470" name="Picture 6">
            <a:extLst>
              <a:ext uri="{FF2B5EF4-FFF2-40B4-BE49-F238E27FC236}">
                <a16:creationId xmlns:a16="http://schemas.microsoft.com/office/drawing/2014/main" id="{710904DA-8259-4CAB-9C78-3D06062CB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288" y="1341438"/>
            <a:ext cx="5878512" cy="475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AA65A5D-AEE8-47B3-BDCE-D90D2AA4E5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F74350E4-7A46-4A24-950A-6CBC5E9E7EE6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088514" name="Line 2">
            <a:extLst>
              <a:ext uri="{FF2B5EF4-FFF2-40B4-BE49-F238E27FC236}">
                <a16:creationId xmlns:a16="http://schemas.microsoft.com/office/drawing/2014/main" id="{04F352C1-E16C-47B4-A513-10BC53B4B2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88515" name="Line 3">
            <a:extLst>
              <a:ext uri="{FF2B5EF4-FFF2-40B4-BE49-F238E27FC236}">
                <a16:creationId xmlns:a16="http://schemas.microsoft.com/office/drawing/2014/main" id="{61B35530-19C6-402B-AF75-DAAAB51BF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88516" name="Text Box 4">
            <a:extLst>
              <a:ext uri="{FF2B5EF4-FFF2-40B4-BE49-F238E27FC236}">
                <a16:creationId xmlns:a16="http://schemas.microsoft.com/office/drawing/2014/main" id="{8548BE26-2218-489E-A5DC-EE59EE6CD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381000"/>
            <a:ext cx="151214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i="1" dirty="0">
                <a:latin typeface="Times New Roman" panose="02020603050405020304" pitchFamily="18" charset="0"/>
              </a:rPr>
              <a:t>IANA ranges</a:t>
            </a:r>
          </a:p>
        </p:txBody>
      </p:sp>
      <p:sp>
        <p:nvSpPr>
          <p:cNvPr id="1088517" name="Line 5">
            <a:extLst>
              <a:ext uri="{FF2B5EF4-FFF2-40B4-BE49-F238E27FC236}">
                <a16:creationId xmlns:a16="http://schemas.microsoft.com/office/drawing/2014/main" id="{8DED4CF4-F270-48D7-B3F3-52CACD9328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88518" name="Picture 6">
            <a:extLst>
              <a:ext uri="{FF2B5EF4-FFF2-40B4-BE49-F238E27FC236}">
                <a16:creationId xmlns:a16="http://schemas.microsoft.com/office/drawing/2014/main" id="{4C5CCD61-DA56-4C3B-A74F-006F66F90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214" y="2457450"/>
            <a:ext cx="6910387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C4EE686-8862-4AE5-9B13-7FBBBEFCF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A187380A-0A9A-405C-9291-0CD709ED32C1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090562" name="Line 2">
            <a:extLst>
              <a:ext uri="{FF2B5EF4-FFF2-40B4-BE49-F238E27FC236}">
                <a16:creationId xmlns:a16="http://schemas.microsoft.com/office/drawing/2014/main" id="{CCA73A88-36EC-415F-B9DB-D2D4D30CF6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90563" name="Line 3">
            <a:extLst>
              <a:ext uri="{FF2B5EF4-FFF2-40B4-BE49-F238E27FC236}">
                <a16:creationId xmlns:a16="http://schemas.microsoft.com/office/drawing/2014/main" id="{E8D62598-3207-4DD2-A1AB-593313AE71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90564" name="Text Box 4">
            <a:extLst>
              <a:ext uri="{FF2B5EF4-FFF2-40B4-BE49-F238E27FC236}">
                <a16:creationId xmlns:a16="http://schemas.microsoft.com/office/drawing/2014/main" id="{0671ECD5-04FC-49C3-A9D9-D9CB46188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381000"/>
            <a:ext cx="64523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i="1" dirty="0">
                <a:latin typeface="Times New Roman" panose="02020603050405020304" pitchFamily="18" charset="0"/>
              </a:rPr>
              <a:t>Socket address (IP address + Port Address)</a:t>
            </a:r>
          </a:p>
        </p:txBody>
      </p:sp>
      <p:sp>
        <p:nvSpPr>
          <p:cNvPr id="1090565" name="Line 5">
            <a:extLst>
              <a:ext uri="{FF2B5EF4-FFF2-40B4-BE49-F238E27FC236}">
                <a16:creationId xmlns:a16="http://schemas.microsoft.com/office/drawing/2014/main" id="{1AFB8D41-ECE7-45D1-AB45-043605C36E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572782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90566" name="Picture 6">
            <a:extLst>
              <a:ext uri="{FF2B5EF4-FFF2-40B4-BE49-F238E27FC236}">
                <a16:creationId xmlns:a16="http://schemas.microsoft.com/office/drawing/2014/main" id="{0F2D1952-5C14-4282-87A5-70758BD0E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444125"/>
            <a:ext cx="6946900" cy="1417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15910C-5B2A-45D6-AC5B-9EC4D6364395}"/>
              </a:ext>
            </a:extLst>
          </p:cNvPr>
          <p:cNvSpPr txBox="1"/>
          <p:nvPr/>
        </p:nvSpPr>
        <p:spPr>
          <a:xfrm>
            <a:off x="838200" y="3518993"/>
            <a:ext cx="1009484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the use of socket?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socket mechanism provides a means of inter-process communication (IPC).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 is basically an API for enabling communication between two end points.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one endpoint of a </a:t>
            </a:r>
            <a:r>
              <a:rPr lang="en-US" sz="24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 way</a:t>
            </a: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communication link between two programs running on the network.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40A98-3473-4134-90E7-F9081461D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API</a:t>
            </a:r>
            <a:endParaRPr lang="en-IN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5EEBA81-A9C0-409D-BCC5-91ED03D16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009" y="1891610"/>
            <a:ext cx="2001838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dirty="0"/>
              <a:t>application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F1074C0-101D-4568-A511-C55BAF2DE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009" y="2367860"/>
            <a:ext cx="2001838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/>
              <a:t>transport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5F502F3-1B85-40A5-95C8-AD7CFAD7E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009" y="2844110"/>
            <a:ext cx="2001838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/>
              <a:t>network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84A5E4BF-38E5-42E7-A260-8CC3458A9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009" y="3320360"/>
            <a:ext cx="2001838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/>
              <a:t>link</a:t>
            </a: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6525DA7A-F71B-42E4-8046-8A1D7D0DB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009" y="3796610"/>
            <a:ext cx="2001838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/>
              <a:t>physical</a:t>
            </a: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79F5269F-5AD0-4197-9FEA-A4B2602E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1673" y="2236098"/>
            <a:ext cx="598487" cy="1952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19">
            <a:extLst>
              <a:ext uri="{FF2B5EF4-FFF2-40B4-BE49-F238E27FC236}">
                <a16:creationId xmlns:a16="http://schemas.microsoft.com/office/drawing/2014/main" id="{0687D873-264C-4553-8D77-DF6DCAA6B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1673" y="1931298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/>
              <a:t>P1</a:t>
            </a:r>
          </a:p>
        </p:txBody>
      </p:sp>
      <p:sp>
        <p:nvSpPr>
          <p:cNvPr id="11" name="Rectangle 30">
            <a:extLst>
              <a:ext uri="{FF2B5EF4-FFF2-40B4-BE49-F238E27FC236}">
                <a16:creationId xmlns:a16="http://schemas.microsoft.com/office/drawing/2014/main" id="{2556E348-6E37-4A43-BE81-98373AFBC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9922" y="1891610"/>
            <a:ext cx="2735262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application</a:t>
            </a:r>
          </a:p>
        </p:txBody>
      </p:sp>
      <p:sp>
        <p:nvSpPr>
          <p:cNvPr id="12" name="Rectangle 31">
            <a:extLst>
              <a:ext uri="{FF2B5EF4-FFF2-40B4-BE49-F238E27FC236}">
                <a16:creationId xmlns:a16="http://schemas.microsoft.com/office/drawing/2014/main" id="{10D4225E-6E48-40BA-BEF7-3C3C2B211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9922" y="2367860"/>
            <a:ext cx="2735262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transport</a:t>
            </a:r>
          </a:p>
        </p:txBody>
      </p:sp>
      <p:sp>
        <p:nvSpPr>
          <p:cNvPr id="13" name="Rectangle 32">
            <a:extLst>
              <a:ext uri="{FF2B5EF4-FFF2-40B4-BE49-F238E27FC236}">
                <a16:creationId xmlns:a16="http://schemas.microsoft.com/office/drawing/2014/main" id="{321033A0-C402-4221-AF9F-2D3E4EED8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9922" y="2844110"/>
            <a:ext cx="2735262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network</a:t>
            </a:r>
          </a:p>
        </p:txBody>
      </p:sp>
      <p:sp>
        <p:nvSpPr>
          <p:cNvPr id="14" name="Rectangle 33">
            <a:extLst>
              <a:ext uri="{FF2B5EF4-FFF2-40B4-BE49-F238E27FC236}">
                <a16:creationId xmlns:a16="http://schemas.microsoft.com/office/drawing/2014/main" id="{E449FE52-4D6B-4A8D-A7DD-A4C32EBBC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9922" y="3320360"/>
            <a:ext cx="2735262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link</a:t>
            </a:r>
          </a:p>
        </p:txBody>
      </p:sp>
      <p:sp>
        <p:nvSpPr>
          <p:cNvPr id="15" name="Rectangle 34">
            <a:extLst>
              <a:ext uri="{FF2B5EF4-FFF2-40B4-BE49-F238E27FC236}">
                <a16:creationId xmlns:a16="http://schemas.microsoft.com/office/drawing/2014/main" id="{258BC1D3-59BC-4CB6-BD1F-A4EF4FA96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9922" y="3796610"/>
            <a:ext cx="2735262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physical</a:t>
            </a:r>
          </a:p>
        </p:txBody>
      </p:sp>
      <p:sp>
        <p:nvSpPr>
          <p:cNvPr id="16" name="Rectangle 36">
            <a:extLst>
              <a:ext uri="{FF2B5EF4-FFF2-40B4-BE49-F238E27FC236}">
                <a16:creationId xmlns:a16="http://schemas.microsoft.com/office/drawing/2014/main" id="{5B3E5078-A22E-4EEF-856C-C47BC950C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7159" y="2242448"/>
            <a:ext cx="598488" cy="1952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Oval 37">
            <a:extLst>
              <a:ext uri="{FF2B5EF4-FFF2-40B4-BE49-F238E27FC236}">
                <a16:creationId xmlns:a16="http://schemas.microsoft.com/office/drawing/2014/main" id="{8CBDFA26-EF03-458F-8A39-90A791F01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7159" y="1937648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/>
              <a:t>P2</a:t>
            </a:r>
          </a:p>
        </p:txBody>
      </p:sp>
      <p:sp>
        <p:nvSpPr>
          <p:cNvPr id="18" name="Rectangle 39">
            <a:extLst>
              <a:ext uri="{FF2B5EF4-FFF2-40B4-BE49-F238E27FC236}">
                <a16:creationId xmlns:a16="http://schemas.microsoft.com/office/drawing/2014/main" id="{14E0414A-49DC-4651-A976-D0A511386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898" y="2266261"/>
            <a:ext cx="598487" cy="1952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Oval 40">
            <a:extLst>
              <a:ext uri="{FF2B5EF4-FFF2-40B4-BE49-F238E27FC236}">
                <a16:creationId xmlns:a16="http://schemas.microsoft.com/office/drawing/2014/main" id="{350BF915-B242-4E73-827D-2720706B8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898" y="1961460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/>
              <a:t>P3</a:t>
            </a:r>
          </a:p>
        </p:txBody>
      </p:sp>
      <p:sp>
        <p:nvSpPr>
          <p:cNvPr id="20" name="Rectangle 45">
            <a:extLst>
              <a:ext uri="{FF2B5EF4-FFF2-40B4-BE49-F238E27FC236}">
                <a16:creationId xmlns:a16="http://schemas.microsoft.com/office/drawing/2014/main" id="{5DBF4101-E5C6-4708-85B2-6F1639743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3584" y="2272611"/>
            <a:ext cx="598488" cy="1952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Oval 46">
            <a:extLst>
              <a:ext uri="{FF2B5EF4-FFF2-40B4-BE49-F238E27FC236}">
                <a16:creationId xmlns:a16="http://schemas.microsoft.com/office/drawing/2014/main" id="{06FA1061-0779-478E-AC27-1F54EA228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3584" y="196781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dirty="0"/>
              <a:t>P1</a:t>
            </a:r>
          </a:p>
        </p:txBody>
      </p:sp>
      <p:sp>
        <p:nvSpPr>
          <p:cNvPr id="22" name="Text Box 47">
            <a:extLst>
              <a:ext uri="{FF2B5EF4-FFF2-40B4-BE49-F238E27FC236}">
                <a16:creationId xmlns:a16="http://schemas.microsoft.com/office/drawing/2014/main" id="{13B058CB-0A30-40BE-A019-2404AC665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1248" y="4350649"/>
            <a:ext cx="8969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000">
                <a:solidFill>
                  <a:srgbClr val="000099"/>
                </a:solidFill>
              </a:rPr>
              <a:t>host 1</a:t>
            </a:r>
            <a:endParaRPr lang="en-US">
              <a:solidFill>
                <a:srgbClr val="000099"/>
              </a:solidFill>
            </a:endParaRPr>
          </a:p>
        </p:txBody>
      </p:sp>
      <p:sp>
        <p:nvSpPr>
          <p:cNvPr id="23" name="Text Box 48">
            <a:extLst>
              <a:ext uri="{FF2B5EF4-FFF2-40B4-BE49-F238E27FC236}">
                <a16:creationId xmlns:a16="http://schemas.microsoft.com/office/drawing/2014/main" id="{30497595-7F4D-4C26-B154-856E25878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7972" y="4337949"/>
            <a:ext cx="938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000">
                <a:solidFill>
                  <a:srgbClr val="000099"/>
                </a:solidFill>
              </a:rPr>
              <a:t>host 2</a:t>
            </a:r>
            <a:endParaRPr lang="en-US">
              <a:solidFill>
                <a:srgbClr val="000099"/>
              </a:solidFill>
            </a:endParaRPr>
          </a:p>
        </p:txBody>
      </p:sp>
      <p:grpSp>
        <p:nvGrpSpPr>
          <p:cNvPr id="24" name="Group 87">
            <a:extLst>
              <a:ext uri="{FF2B5EF4-FFF2-40B4-BE49-F238E27FC236}">
                <a16:creationId xmlns:a16="http://schemas.microsoft.com/office/drawing/2014/main" id="{4A110F2A-D9C2-4DF1-BC66-37C47B7CA0CF}"/>
              </a:ext>
            </a:extLst>
          </p:cNvPr>
          <p:cNvGrpSpPr>
            <a:grpSpLocks/>
          </p:cNvGrpSpPr>
          <p:nvPr/>
        </p:nvGrpSpPr>
        <p:grpSpPr bwMode="auto">
          <a:xfrm>
            <a:off x="3580435" y="2366273"/>
            <a:ext cx="2263775" cy="1676400"/>
            <a:chOff x="1421" y="2509"/>
            <a:chExt cx="1426" cy="1056"/>
          </a:xfrm>
        </p:grpSpPr>
        <p:sp>
          <p:nvSpPr>
            <p:cNvPr id="25" name="Line 57">
              <a:extLst>
                <a:ext uri="{FF2B5EF4-FFF2-40B4-BE49-F238E27FC236}">
                  <a16:creationId xmlns:a16="http://schemas.microsoft.com/office/drawing/2014/main" id="{B4A3EF37-1366-464C-AD59-90991051C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2509"/>
              <a:ext cx="0" cy="10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" name="Freeform 58">
              <a:extLst>
                <a:ext uri="{FF2B5EF4-FFF2-40B4-BE49-F238E27FC236}">
                  <a16:creationId xmlns:a16="http://schemas.microsoft.com/office/drawing/2014/main" id="{8AB7CE0A-B059-4053-B10A-21DA4BD93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" y="2563"/>
              <a:ext cx="286" cy="989"/>
            </a:xfrm>
            <a:custGeom>
              <a:avLst/>
              <a:gdLst>
                <a:gd name="T0" fmla="*/ 286 w 286"/>
                <a:gd name="T1" fmla="*/ 989 h 989"/>
                <a:gd name="T2" fmla="*/ 284 w 286"/>
                <a:gd name="T3" fmla="*/ 117 h 989"/>
                <a:gd name="T4" fmla="*/ 0 w 286"/>
                <a:gd name="T5" fmla="*/ 0 h 989"/>
                <a:gd name="T6" fmla="*/ 0 60000 65536"/>
                <a:gd name="T7" fmla="*/ 0 60000 65536"/>
                <a:gd name="T8" fmla="*/ 0 60000 65536"/>
                <a:gd name="T9" fmla="*/ 0 w 286"/>
                <a:gd name="T10" fmla="*/ 0 h 989"/>
                <a:gd name="T11" fmla="*/ 286 w 286"/>
                <a:gd name="T12" fmla="*/ 989 h 9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6" h="989">
                  <a:moveTo>
                    <a:pt x="286" y="989"/>
                  </a:moveTo>
                  <a:lnTo>
                    <a:pt x="284" y="11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Freeform 59">
              <a:extLst>
                <a:ext uri="{FF2B5EF4-FFF2-40B4-BE49-F238E27FC236}">
                  <a16:creationId xmlns:a16="http://schemas.microsoft.com/office/drawing/2014/main" id="{A1512E54-B84E-487F-929A-91D681378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1" y="3556"/>
              <a:ext cx="1426" cy="9"/>
            </a:xfrm>
            <a:custGeom>
              <a:avLst/>
              <a:gdLst>
                <a:gd name="T0" fmla="*/ 0 w 1426"/>
                <a:gd name="T1" fmla="*/ 9 h 9"/>
                <a:gd name="T2" fmla="*/ 1426 w 1426"/>
                <a:gd name="T3" fmla="*/ 0 h 9"/>
                <a:gd name="T4" fmla="*/ 0 60000 65536"/>
                <a:gd name="T5" fmla="*/ 0 60000 65536"/>
                <a:gd name="T6" fmla="*/ 0 w 1426"/>
                <a:gd name="T7" fmla="*/ 0 h 9"/>
                <a:gd name="T8" fmla="*/ 1426 w 1426"/>
                <a:gd name="T9" fmla="*/ 9 h 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26" h="9">
                  <a:moveTo>
                    <a:pt x="0" y="9"/>
                  </a:moveTo>
                  <a:lnTo>
                    <a:pt x="1426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28" name="Rectangle 64">
            <a:extLst>
              <a:ext uri="{FF2B5EF4-FFF2-40B4-BE49-F238E27FC236}">
                <a16:creationId xmlns:a16="http://schemas.microsoft.com/office/drawing/2014/main" id="{7CB76796-99A3-4C5D-BC10-821ED2E1B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897" y="5584930"/>
            <a:ext cx="598488" cy="1952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Oval 65">
            <a:extLst>
              <a:ext uri="{FF2B5EF4-FFF2-40B4-BE49-F238E27FC236}">
                <a16:creationId xmlns:a16="http://schemas.microsoft.com/office/drawing/2014/main" id="{11BB1ACB-276B-4FF7-A6EC-613F2032B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0497" y="5508729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Text Box 67">
            <a:extLst>
              <a:ext uri="{FF2B5EF4-FFF2-40B4-BE49-F238E27FC236}">
                <a16:creationId xmlns:a16="http://schemas.microsoft.com/office/drawing/2014/main" id="{DAC030C2-3BCC-44C6-9722-514DC8A83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6297" y="5508729"/>
            <a:ext cx="1073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/>
              <a:t>= process</a:t>
            </a:r>
          </a:p>
        </p:txBody>
      </p:sp>
      <p:sp>
        <p:nvSpPr>
          <p:cNvPr id="31" name="Text Box 68">
            <a:extLst>
              <a:ext uri="{FF2B5EF4-FFF2-40B4-BE49-F238E27FC236}">
                <a16:creationId xmlns:a16="http://schemas.microsoft.com/office/drawing/2014/main" id="{2E3D1515-D77B-4C36-8489-DB432E375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2697" y="5508729"/>
            <a:ext cx="973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/>
              <a:t>= socket</a:t>
            </a:r>
          </a:p>
        </p:txBody>
      </p:sp>
      <p:sp>
        <p:nvSpPr>
          <p:cNvPr id="32" name="Rectangle 24">
            <a:extLst>
              <a:ext uri="{FF2B5EF4-FFF2-40B4-BE49-F238E27FC236}">
                <a16:creationId xmlns:a16="http://schemas.microsoft.com/office/drawing/2014/main" id="{2362F7BC-699D-4E59-B2E6-7EBAB343A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3034" y="1803677"/>
            <a:ext cx="2001837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application</a:t>
            </a: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F69DFC30-D585-4A6E-B669-BE15386E8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3034" y="2272610"/>
            <a:ext cx="2001837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transport</a:t>
            </a:r>
          </a:p>
        </p:txBody>
      </p:sp>
      <p:sp>
        <p:nvSpPr>
          <p:cNvPr id="34" name="Rectangle 26">
            <a:extLst>
              <a:ext uri="{FF2B5EF4-FFF2-40B4-BE49-F238E27FC236}">
                <a16:creationId xmlns:a16="http://schemas.microsoft.com/office/drawing/2014/main" id="{5364D9B2-F056-489C-9558-4BEDC3710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3034" y="2748860"/>
            <a:ext cx="2001837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network</a:t>
            </a:r>
          </a:p>
        </p:txBody>
      </p:sp>
      <p:sp>
        <p:nvSpPr>
          <p:cNvPr id="35" name="Rectangle 27">
            <a:extLst>
              <a:ext uri="{FF2B5EF4-FFF2-40B4-BE49-F238E27FC236}">
                <a16:creationId xmlns:a16="http://schemas.microsoft.com/office/drawing/2014/main" id="{FD98F47E-064F-4610-A75B-D4686C57C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3034" y="3225110"/>
            <a:ext cx="2001837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link</a:t>
            </a:r>
          </a:p>
        </p:txBody>
      </p:sp>
      <p:sp>
        <p:nvSpPr>
          <p:cNvPr id="36" name="Rectangle 28">
            <a:extLst>
              <a:ext uri="{FF2B5EF4-FFF2-40B4-BE49-F238E27FC236}">
                <a16:creationId xmlns:a16="http://schemas.microsoft.com/office/drawing/2014/main" id="{76D4A24A-B99C-47AA-B8AD-D1E0E0A00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3034" y="3701360"/>
            <a:ext cx="2001837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physical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95A3D3-6F45-4DB5-BED8-D71F0EC8A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870" y="2226573"/>
            <a:ext cx="598488" cy="1952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264E65C-C2E0-4E03-8D90-3F02C598B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870" y="1921773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/>
              <a:t>P2</a:t>
            </a:r>
          </a:p>
        </p:txBody>
      </p:sp>
      <p:sp>
        <p:nvSpPr>
          <p:cNvPr id="39" name="Rectangle 42">
            <a:extLst>
              <a:ext uri="{FF2B5EF4-FFF2-40B4-BE49-F238E27FC236}">
                <a16:creationId xmlns:a16="http://schemas.microsoft.com/office/drawing/2014/main" id="{BDC2726A-F40D-4958-95B7-0663C88DC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6220" y="2164661"/>
            <a:ext cx="598488" cy="1952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Oval 43">
            <a:extLst>
              <a:ext uri="{FF2B5EF4-FFF2-40B4-BE49-F238E27FC236}">
                <a16:creationId xmlns:a16="http://schemas.microsoft.com/office/drawing/2014/main" id="{B7F3B381-9C49-4E4D-B915-FEFA8D6AE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6220" y="185986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/>
              <a:t>P4</a:t>
            </a:r>
          </a:p>
        </p:txBody>
      </p:sp>
      <p:grpSp>
        <p:nvGrpSpPr>
          <p:cNvPr id="41" name="Group 88">
            <a:extLst>
              <a:ext uri="{FF2B5EF4-FFF2-40B4-BE49-F238E27FC236}">
                <a16:creationId xmlns:a16="http://schemas.microsoft.com/office/drawing/2014/main" id="{C3982730-C8CC-43E4-9195-635A24C0D0C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06121" y="2329760"/>
            <a:ext cx="2263775" cy="1676400"/>
            <a:chOff x="1421" y="2509"/>
            <a:chExt cx="1426" cy="1056"/>
          </a:xfrm>
        </p:grpSpPr>
        <p:sp>
          <p:nvSpPr>
            <p:cNvPr id="42" name="Line 89">
              <a:extLst>
                <a:ext uri="{FF2B5EF4-FFF2-40B4-BE49-F238E27FC236}">
                  <a16:creationId xmlns:a16="http://schemas.microsoft.com/office/drawing/2014/main" id="{041595C3-32B3-499B-9B1E-3C4C25F136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2509"/>
              <a:ext cx="0" cy="10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F212CB9A-D13C-4892-9C3D-126A023FE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" y="2563"/>
              <a:ext cx="286" cy="989"/>
            </a:xfrm>
            <a:custGeom>
              <a:avLst/>
              <a:gdLst>
                <a:gd name="T0" fmla="*/ 286 w 286"/>
                <a:gd name="T1" fmla="*/ 989 h 989"/>
                <a:gd name="T2" fmla="*/ 284 w 286"/>
                <a:gd name="T3" fmla="*/ 117 h 989"/>
                <a:gd name="T4" fmla="*/ 0 w 286"/>
                <a:gd name="T5" fmla="*/ 0 h 989"/>
                <a:gd name="T6" fmla="*/ 0 60000 65536"/>
                <a:gd name="T7" fmla="*/ 0 60000 65536"/>
                <a:gd name="T8" fmla="*/ 0 60000 65536"/>
                <a:gd name="T9" fmla="*/ 0 w 286"/>
                <a:gd name="T10" fmla="*/ 0 h 989"/>
                <a:gd name="T11" fmla="*/ 286 w 286"/>
                <a:gd name="T12" fmla="*/ 989 h 9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6" h="989">
                  <a:moveTo>
                    <a:pt x="286" y="989"/>
                  </a:moveTo>
                  <a:lnTo>
                    <a:pt x="284" y="11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C7B96D49-7BB0-4D93-8FBF-D400AA52A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1" y="3556"/>
              <a:ext cx="1426" cy="9"/>
            </a:xfrm>
            <a:custGeom>
              <a:avLst/>
              <a:gdLst>
                <a:gd name="T0" fmla="*/ 0 w 1426"/>
                <a:gd name="T1" fmla="*/ 9 h 9"/>
                <a:gd name="T2" fmla="*/ 1426 w 1426"/>
                <a:gd name="T3" fmla="*/ 0 h 9"/>
                <a:gd name="T4" fmla="*/ 0 60000 65536"/>
                <a:gd name="T5" fmla="*/ 0 60000 65536"/>
                <a:gd name="T6" fmla="*/ 0 w 1426"/>
                <a:gd name="T7" fmla="*/ 0 h 9"/>
                <a:gd name="T8" fmla="*/ 1426 w 1426"/>
                <a:gd name="T9" fmla="*/ 9 h 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26" h="9">
                  <a:moveTo>
                    <a:pt x="0" y="9"/>
                  </a:moveTo>
                  <a:lnTo>
                    <a:pt x="1426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5" name="Text Box 49">
            <a:extLst>
              <a:ext uri="{FF2B5EF4-FFF2-40B4-BE49-F238E27FC236}">
                <a16:creationId xmlns:a16="http://schemas.microsoft.com/office/drawing/2014/main" id="{55252488-5D40-42BE-A1EE-33616435F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4708" y="4350649"/>
            <a:ext cx="938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000" dirty="0">
                <a:solidFill>
                  <a:srgbClr val="000099"/>
                </a:solidFill>
              </a:rPr>
              <a:t>host 3</a:t>
            </a:r>
          </a:p>
        </p:txBody>
      </p:sp>
    </p:spTree>
    <p:extLst>
      <p:ext uri="{BB962C8B-B14F-4D97-AF65-F5344CB8AC3E}">
        <p14:creationId xmlns:p14="http://schemas.microsoft.com/office/powerpoint/2010/main" val="3994868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A617C05C-C5DB-47D1-A293-8C81E5E4C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23.</a:t>
            </a:r>
            <a:fld id="{750E26AB-898D-4C14-8FCF-E90BB37A0690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164290" name="Line 2">
            <a:extLst>
              <a:ext uri="{FF2B5EF4-FFF2-40B4-BE49-F238E27FC236}">
                <a16:creationId xmlns:a16="http://schemas.microsoft.com/office/drawing/2014/main" id="{582B2207-378D-4B2A-809C-AAF223513C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64291" name="Line 3">
            <a:extLst>
              <a:ext uri="{FF2B5EF4-FFF2-40B4-BE49-F238E27FC236}">
                <a16:creationId xmlns:a16="http://schemas.microsoft.com/office/drawing/2014/main" id="{55480B8A-C75D-42FA-A6C7-9C8EE9CD53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64292" name="Text Box 4">
            <a:extLst>
              <a:ext uri="{FF2B5EF4-FFF2-40B4-BE49-F238E27FC236}">
                <a16:creationId xmlns:a16="http://schemas.microsoft.com/office/drawing/2014/main" id="{EC289539-EA18-4252-A179-FF8525681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381000"/>
            <a:ext cx="486543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i="1" dirty="0">
                <a:latin typeface="Times New Roman" panose="02020603050405020304" pitchFamily="18" charset="0"/>
              </a:rPr>
              <a:t>Multiplexing and demultiplexing</a:t>
            </a:r>
          </a:p>
        </p:txBody>
      </p:sp>
      <p:sp>
        <p:nvSpPr>
          <p:cNvPr id="1164293" name="Line 5">
            <a:extLst>
              <a:ext uri="{FF2B5EF4-FFF2-40B4-BE49-F238E27FC236}">
                <a16:creationId xmlns:a16="http://schemas.microsoft.com/office/drawing/2014/main" id="{49E01736-6678-42DC-8A8A-97A81A5AAF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64294" name="Picture 6">
            <a:extLst>
              <a:ext uri="{FF2B5EF4-FFF2-40B4-BE49-F238E27FC236}">
                <a16:creationId xmlns:a16="http://schemas.microsoft.com/office/drawing/2014/main" id="{0FD981B0-C11F-4797-8602-F3F401BF1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526" y="1600201"/>
            <a:ext cx="6746875" cy="372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0955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1143000"/>
          </a:xfrm>
        </p:spPr>
        <p:txBody>
          <a:bodyPr/>
          <a:lstStyle/>
          <a:p>
            <a:r>
              <a:rPr lang="en-US"/>
              <a:t>Multiplexing/demultiplexing</a:t>
            </a:r>
          </a:p>
        </p:txBody>
      </p:sp>
      <p:sp>
        <p:nvSpPr>
          <p:cNvPr id="32773" name="Rectangle 11"/>
          <p:cNvSpPr>
            <a:spLocks noChangeArrowheads="1"/>
          </p:cNvSpPr>
          <p:nvPr/>
        </p:nvSpPr>
        <p:spPr bwMode="auto">
          <a:xfrm>
            <a:off x="2209800" y="3508375"/>
            <a:ext cx="2001838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 dirty="0"/>
              <a:t>application</a:t>
            </a:r>
          </a:p>
        </p:txBody>
      </p:sp>
      <p:sp>
        <p:nvSpPr>
          <p:cNvPr id="32774" name="Rectangle 12"/>
          <p:cNvSpPr>
            <a:spLocks noChangeArrowheads="1"/>
          </p:cNvSpPr>
          <p:nvPr/>
        </p:nvSpPr>
        <p:spPr bwMode="auto">
          <a:xfrm>
            <a:off x="2209800" y="3984625"/>
            <a:ext cx="2001838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/>
              <a:t>transport</a:t>
            </a:r>
          </a:p>
        </p:txBody>
      </p:sp>
      <p:sp>
        <p:nvSpPr>
          <p:cNvPr id="32775" name="Rectangle 13"/>
          <p:cNvSpPr>
            <a:spLocks noChangeArrowheads="1"/>
          </p:cNvSpPr>
          <p:nvPr/>
        </p:nvSpPr>
        <p:spPr bwMode="auto">
          <a:xfrm>
            <a:off x="2209800" y="4460875"/>
            <a:ext cx="2001838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/>
              <a:t>network</a:t>
            </a:r>
          </a:p>
        </p:txBody>
      </p:sp>
      <p:sp>
        <p:nvSpPr>
          <p:cNvPr id="32776" name="Rectangle 14"/>
          <p:cNvSpPr>
            <a:spLocks noChangeArrowheads="1"/>
          </p:cNvSpPr>
          <p:nvPr/>
        </p:nvSpPr>
        <p:spPr bwMode="auto">
          <a:xfrm>
            <a:off x="2209800" y="4937125"/>
            <a:ext cx="2001838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/>
              <a:t>link</a:t>
            </a:r>
          </a:p>
        </p:txBody>
      </p:sp>
      <p:sp>
        <p:nvSpPr>
          <p:cNvPr id="32777" name="Rectangle 15"/>
          <p:cNvSpPr>
            <a:spLocks noChangeArrowheads="1"/>
          </p:cNvSpPr>
          <p:nvPr/>
        </p:nvSpPr>
        <p:spPr bwMode="auto">
          <a:xfrm>
            <a:off x="2209800" y="5413375"/>
            <a:ext cx="2001838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en-US"/>
              <a:t>physical</a:t>
            </a:r>
          </a:p>
        </p:txBody>
      </p:sp>
      <p:sp>
        <p:nvSpPr>
          <p:cNvPr id="32778" name="Rectangle 18"/>
          <p:cNvSpPr>
            <a:spLocks noChangeArrowheads="1"/>
          </p:cNvSpPr>
          <p:nvPr/>
        </p:nvSpPr>
        <p:spPr bwMode="auto">
          <a:xfrm>
            <a:off x="4843464" y="3852863"/>
            <a:ext cx="598487" cy="1952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9" name="Oval 19"/>
          <p:cNvSpPr>
            <a:spLocks noChangeArrowheads="1"/>
          </p:cNvSpPr>
          <p:nvPr/>
        </p:nvSpPr>
        <p:spPr bwMode="auto">
          <a:xfrm>
            <a:off x="4843464" y="3548063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/>
              <a:t>P1</a:t>
            </a:r>
          </a:p>
        </p:txBody>
      </p:sp>
      <p:sp>
        <p:nvSpPr>
          <p:cNvPr id="32780" name="Rectangle 24"/>
          <p:cNvSpPr>
            <a:spLocks noChangeArrowheads="1"/>
          </p:cNvSpPr>
          <p:nvPr/>
        </p:nvSpPr>
        <p:spPr bwMode="auto">
          <a:xfrm>
            <a:off x="8139114" y="3429000"/>
            <a:ext cx="2001837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application</a:t>
            </a:r>
          </a:p>
        </p:txBody>
      </p:sp>
      <p:sp>
        <p:nvSpPr>
          <p:cNvPr id="32781" name="Rectangle 25"/>
          <p:cNvSpPr>
            <a:spLocks noChangeArrowheads="1"/>
          </p:cNvSpPr>
          <p:nvPr/>
        </p:nvSpPr>
        <p:spPr bwMode="auto">
          <a:xfrm>
            <a:off x="8139114" y="3905250"/>
            <a:ext cx="2001837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transport</a:t>
            </a:r>
          </a:p>
        </p:txBody>
      </p:sp>
      <p:sp>
        <p:nvSpPr>
          <p:cNvPr id="32782" name="Rectangle 26"/>
          <p:cNvSpPr>
            <a:spLocks noChangeArrowheads="1"/>
          </p:cNvSpPr>
          <p:nvPr/>
        </p:nvSpPr>
        <p:spPr bwMode="auto">
          <a:xfrm>
            <a:off x="8139114" y="4381500"/>
            <a:ext cx="2001837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network</a:t>
            </a:r>
          </a:p>
        </p:txBody>
      </p:sp>
      <p:sp>
        <p:nvSpPr>
          <p:cNvPr id="32783" name="Rectangle 27"/>
          <p:cNvSpPr>
            <a:spLocks noChangeArrowheads="1"/>
          </p:cNvSpPr>
          <p:nvPr/>
        </p:nvSpPr>
        <p:spPr bwMode="auto">
          <a:xfrm>
            <a:off x="8139114" y="4857750"/>
            <a:ext cx="2001837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link</a:t>
            </a:r>
          </a:p>
        </p:txBody>
      </p:sp>
      <p:sp>
        <p:nvSpPr>
          <p:cNvPr id="32784" name="Rectangle 28"/>
          <p:cNvSpPr>
            <a:spLocks noChangeArrowheads="1"/>
          </p:cNvSpPr>
          <p:nvPr/>
        </p:nvSpPr>
        <p:spPr bwMode="auto">
          <a:xfrm>
            <a:off x="8139114" y="5334000"/>
            <a:ext cx="2001837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/>
            <a:r>
              <a:rPr lang="en-US"/>
              <a:t>physical</a:t>
            </a:r>
          </a:p>
        </p:txBody>
      </p:sp>
      <p:sp>
        <p:nvSpPr>
          <p:cNvPr id="32785" name="Rectangle 30"/>
          <p:cNvSpPr>
            <a:spLocks noChangeArrowheads="1"/>
          </p:cNvSpPr>
          <p:nvPr/>
        </p:nvSpPr>
        <p:spPr bwMode="auto">
          <a:xfrm>
            <a:off x="4811713" y="3508375"/>
            <a:ext cx="2735262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application</a:t>
            </a:r>
          </a:p>
        </p:txBody>
      </p:sp>
      <p:sp>
        <p:nvSpPr>
          <p:cNvPr id="32786" name="Rectangle 31"/>
          <p:cNvSpPr>
            <a:spLocks noChangeArrowheads="1"/>
          </p:cNvSpPr>
          <p:nvPr/>
        </p:nvSpPr>
        <p:spPr bwMode="auto">
          <a:xfrm>
            <a:off x="4811713" y="3984625"/>
            <a:ext cx="2735262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transport</a:t>
            </a:r>
          </a:p>
        </p:txBody>
      </p:sp>
      <p:sp>
        <p:nvSpPr>
          <p:cNvPr id="32787" name="Rectangle 32"/>
          <p:cNvSpPr>
            <a:spLocks noChangeArrowheads="1"/>
          </p:cNvSpPr>
          <p:nvPr/>
        </p:nvSpPr>
        <p:spPr bwMode="auto">
          <a:xfrm>
            <a:off x="4811713" y="4460875"/>
            <a:ext cx="2735262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network</a:t>
            </a:r>
          </a:p>
        </p:txBody>
      </p:sp>
      <p:sp>
        <p:nvSpPr>
          <p:cNvPr id="32788" name="Rectangle 33"/>
          <p:cNvSpPr>
            <a:spLocks noChangeArrowheads="1"/>
          </p:cNvSpPr>
          <p:nvPr/>
        </p:nvSpPr>
        <p:spPr bwMode="auto">
          <a:xfrm>
            <a:off x="4811713" y="4937125"/>
            <a:ext cx="2735262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link</a:t>
            </a:r>
          </a:p>
        </p:txBody>
      </p:sp>
      <p:sp>
        <p:nvSpPr>
          <p:cNvPr id="32789" name="Rectangle 34"/>
          <p:cNvSpPr>
            <a:spLocks noChangeArrowheads="1"/>
          </p:cNvSpPr>
          <p:nvPr/>
        </p:nvSpPr>
        <p:spPr bwMode="auto">
          <a:xfrm>
            <a:off x="4811713" y="5413375"/>
            <a:ext cx="2735262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/>
              <a:t>physical</a:t>
            </a:r>
          </a:p>
        </p:txBody>
      </p:sp>
      <p:sp>
        <p:nvSpPr>
          <p:cNvPr id="32790" name="Rectangle 36"/>
          <p:cNvSpPr>
            <a:spLocks noChangeArrowheads="1"/>
          </p:cNvSpPr>
          <p:nvPr/>
        </p:nvSpPr>
        <p:spPr bwMode="auto">
          <a:xfrm>
            <a:off x="6838950" y="3859213"/>
            <a:ext cx="598488" cy="1952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91" name="Oval 37"/>
          <p:cNvSpPr>
            <a:spLocks noChangeArrowheads="1"/>
          </p:cNvSpPr>
          <p:nvPr/>
        </p:nvSpPr>
        <p:spPr bwMode="auto">
          <a:xfrm>
            <a:off x="6838950" y="3554413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/>
              <a:t>P2</a:t>
            </a:r>
          </a:p>
        </p:txBody>
      </p:sp>
      <p:sp>
        <p:nvSpPr>
          <p:cNvPr id="32792" name="Rectangle 39"/>
          <p:cNvSpPr>
            <a:spLocks noChangeArrowheads="1"/>
          </p:cNvSpPr>
          <p:nvPr/>
        </p:nvSpPr>
        <p:spPr bwMode="auto">
          <a:xfrm>
            <a:off x="3468689" y="3883026"/>
            <a:ext cx="598487" cy="1952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93" name="Oval 40"/>
          <p:cNvSpPr>
            <a:spLocks noChangeArrowheads="1"/>
          </p:cNvSpPr>
          <p:nvPr/>
        </p:nvSpPr>
        <p:spPr bwMode="auto">
          <a:xfrm>
            <a:off x="3468689" y="3578225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/>
              <a:t>P3</a:t>
            </a:r>
          </a:p>
        </p:txBody>
      </p:sp>
      <p:sp>
        <p:nvSpPr>
          <p:cNvPr id="32794" name="Rectangle 42"/>
          <p:cNvSpPr>
            <a:spLocks noChangeArrowheads="1"/>
          </p:cNvSpPr>
          <p:nvPr/>
        </p:nvSpPr>
        <p:spPr bwMode="auto">
          <a:xfrm>
            <a:off x="8242300" y="3797301"/>
            <a:ext cx="598488" cy="1952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95" name="Oval 43"/>
          <p:cNvSpPr>
            <a:spLocks noChangeArrowheads="1"/>
          </p:cNvSpPr>
          <p:nvPr/>
        </p:nvSpPr>
        <p:spPr bwMode="auto">
          <a:xfrm>
            <a:off x="8242300" y="349250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/>
              <a:t>P4</a:t>
            </a:r>
          </a:p>
        </p:txBody>
      </p:sp>
      <p:sp>
        <p:nvSpPr>
          <p:cNvPr id="32796" name="Rectangle 45"/>
          <p:cNvSpPr>
            <a:spLocks noChangeArrowheads="1"/>
          </p:cNvSpPr>
          <p:nvPr/>
        </p:nvSpPr>
        <p:spPr bwMode="auto">
          <a:xfrm>
            <a:off x="4905375" y="3889376"/>
            <a:ext cx="598488" cy="1952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97" name="Oval 46"/>
          <p:cNvSpPr>
            <a:spLocks noChangeArrowheads="1"/>
          </p:cNvSpPr>
          <p:nvPr/>
        </p:nvSpPr>
        <p:spPr bwMode="auto">
          <a:xfrm>
            <a:off x="4905375" y="3584575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dirty="0"/>
              <a:t>P1</a:t>
            </a:r>
          </a:p>
        </p:txBody>
      </p:sp>
      <p:sp>
        <p:nvSpPr>
          <p:cNvPr id="32798" name="Text Box 47"/>
          <p:cNvSpPr txBox="1">
            <a:spLocks noChangeArrowheads="1"/>
          </p:cNvSpPr>
          <p:nvPr/>
        </p:nvSpPr>
        <p:spPr bwMode="auto">
          <a:xfrm>
            <a:off x="2713039" y="5967414"/>
            <a:ext cx="8969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000">
                <a:solidFill>
                  <a:srgbClr val="000099"/>
                </a:solidFill>
              </a:rPr>
              <a:t>host 1</a:t>
            </a:r>
            <a:endParaRPr lang="en-US">
              <a:solidFill>
                <a:srgbClr val="000099"/>
              </a:solidFill>
            </a:endParaRPr>
          </a:p>
        </p:txBody>
      </p:sp>
      <p:sp>
        <p:nvSpPr>
          <p:cNvPr id="32799" name="Text Box 48"/>
          <p:cNvSpPr txBox="1">
            <a:spLocks noChangeArrowheads="1"/>
          </p:cNvSpPr>
          <p:nvPr/>
        </p:nvSpPr>
        <p:spPr bwMode="auto">
          <a:xfrm>
            <a:off x="5719763" y="5954714"/>
            <a:ext cx="938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000">
                <a:solidFill>
                  <a:srgbClr val="000099"/>
                </a:solidFill>
              </a:rPr>
              <a:t>host 2</a:t>
            </a:r>
            <a:endParaRPr lang="en-US">
              <a:solidFill>
                <a:srgbClr val="000099"/>
              </a:solidFill>
            </a:endParaRPr>
          </a:p>
        </p:txBody>
      </p:sp>
      <p:sp>
        <p:nvSpPr>
          <p:cNvPr id="32800" name="Text Box 49"/>
          <p:cNvSpPr txBox="1">
            <a:spLocks noChangeArrowheads="1"/>
          </p:cNvSpPr>
          <p:nvPr/>
        </p:nvSpPr>
        <p:spPr bwMode="auto">
          <a:xfrm>
            <a:off x="8748713" y="5832476"/>
            <a:ext cx="938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 sz="2000" dirty="0">
                <a:solidFill>
                  <a:srgbClr val="000099"/>
                </a:solidFill>
              </a:rPr>
              <a:t>host 3</a:t>
            </a:r>
          </a:p>
        </p:txBody>
      </p:sp>
      <p:grpSp>
        <p:nvGrpSpPr>
          <p:cNvPr id="32801" name="Group 87"/>
          <p:cNvGrpSpPr>
            <a:grpSpLocks/>
          </p:cNvGrpSpPr>
          <p:nvPr/>
        </p:nvGrpSpPr>
        <p:grpSpPr bwMode="auto">
          <a:xfrm>
            <a:off x="3832226" y="3983038"/>
            <a:ext cx="2263775" cy="1676400"/>
            <a:chOff x="1421" y="2509"/>
            <a:chExt cx="1426" cy="1056"/>
          </a:xfrm>
        </p:grpSpPr>
        <p:sp>
          <p:nvSpPr>
            <p:cNvPr id="32821" name="Line 57"/>
            <p:cNvSpPr>
              <a:spLocks noChangeShapeType="1"/>
            </p:cNvSpPr>
            <p:nvPr/>
          </p:nvSpPr>
          <p:spPr bwMode="auto">
            <a:xfrm>
              <a:off x="1421" y="2509"/>
              <a:ext cx="0" cy="10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822" name="Freeform 58"/>
            <p:cNvSpPr>
              <a:spLocks/>
            </p:cNvSpPr>
            <p:nvPr/>
          </p:nvSpPr>
          <p:spPr bwMode="auto">
            <a:xfrm>
              <a:off x="2546" y="2563"/>
              <a:ext cx="286" cy="989"/>
            </a:xfrm>
            <a:custGeom>
              <a:avLst/>
              <a:gdLst>
                <a:gd name="T0" fmla="*/ 286 w 286"/>
                <a:gd name="T1" fmla="*/ 989 h 989"/>
                <a:gd name="T2" fmla="*/ 284 w 286"/>
                <a:gd name="T3" fmla="*/ 117 h 989"/>
                <a:gd name="T4" fmla="*/ 0 w 286"/>
                <a:gd name="T5" fmla="*/ 0 h 989"/>
                <a:gd name="T6" fmla="*/ 0 60000 65536"/>
                <a:gd name="T7" fmla="*/ 0 60000 65536"/>
                <a:gd name="T8" fmla="*/ 0 60000 65536"/>
                <a:gd name="T9" fmla="*/ 0 w 286"/>
                <a:gd name="T10" fmla="*/ 0 h 989"/>
                <a:gd name="T11" fmla="*/ 286 w 286"/>
                <a:gd name="T12" fmla="*/ 989 h 9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6" h="989">
                  <a:moveTo>
                    <a:pt x="286" y="989"/>
                  </a:moveTo>
                  <a:lnTo>
                    <a:pt x="284" y="11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823" name="Freeform 59"/>
            <p:cNvSpPr>
              <a:spLocks/>
            </p:cNvSpPr>
            <p:nvPr/>
          </p:nvSpPr>
          <p:spPr bwMode="auto">
            <a:xfrm>
              <a:off x="1421" y="3556"/>
              <a:ext cx="1426" cy="9"/>
            </a:xfrm>
            <a:custGeom>
              <a:avLst/>
              <a:gdLst>
                <a:gd name="T0" fmla="*/ 0 w 1426"/>
                <a:gd name="T1" fmla="*/ 9 h 9"/>
                <a:gd name="T2" fmla="*/ 1426 w 1426"/>
                <a:gd name="T3" fmla="*/ 0 h 9"/>
                <a:gd name="T4" fmla="*/ 0 60000 65536"/>
                <a:gd name="T5" fmla="*/ 0 60000 65536"/>
                <a:gd name="T6" fmla="*/ 0 w 1426"/>
                <a:gd name="T7" fmla="*/ 0 h 9"/>
                <a:gd name="T8" fmla="*/ 1426 w 1426"/>
                <a:gd name="T9" fmla="*/ 9 h 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26" h="9">
                  <a:moveTo>
                    <a:pt x="0" y="9"/>
                  </a:moveTo>
                  <a:lnTo>
                    <a:pt x="1426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32802" name="Rectangle 64"/>
          <p:cNvSpPr>
            <a:spLocks noChangeArrowheads="1"/>
          </p:cNvSpPr>
          <p:nvPr/>
        </p:nvSpPr>
        <p:spPr bwMode="auto">
          <a:xfrm>
            <a:off x="1981200" y="2895601"/>
            <a:ext cx="598488" cy="1952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803" name="Oval 65"/>
          <p:cNvSpPr>
            <a:spLocks noChangeArrowheads="1"/>
          </p:cNvSpPr>
          <p:nvPr/>
        </p:nvSpPr>
        <p:spPr bwMode="auto">
          <a:xfrm>
            <a:off x="4114800" y="281940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804" name="Text Box 67"/>
          <p:cNvSpPr txBox="1">
            <a:spLocks noChangeArrowheads="1"/>
          </p:cNvSpPr>
          <p:nvPr/>
        </p:nvSpPr>
        <p:spPr bwMode="auto">
          <a:xfrm>
            <a:off x="4800600" y="2819400"/>
            <a:ext cx="1073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/>
              <a:t>= process</a:t>
            </a:r>
          </a:p>
        </p:txBody>
      </p:sp>
      <p:sp>
        <p:nvSpPr>
          <p:cNvPr id="32805" name="Text Box 68"/>
          <p:cNvSpPr txBox="1">
            <a:spLocks noChangeArrowheads="1"/>
          </p:cNvSpPr>
          <p:nvPr/>
        </p:nvSpPr>
        <p:spPr bwMode="auto">
          <a:xfrm>
            <a:off x="2667000" y="2819400"/>
            <a:ext cx="973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en-US"/>
              <a:t>= socket</a:t>
            </a:r>
          </a:p>
        </p:txBody>
      </p:sp>
      <p:sp>
        <p:nvSpPr>
          <p:cNvPr id="32806" name="Text Box 72"/>
          <p:cNvSpPr txBox="1">
            <a:spLocks noChangeArrowheads="1"/>
          </p:cNvSpPr>
          <p:nvPr/>
        </p:nvSpPr>
        <p:spPr bwMode="auto">
          <a:xfrm>
            <a:off x="1968501" y="1589088"/>
            <a:ext cx="1847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l"/>
            <a:endParaRPr lang="en-US"/>
          </a:p>
        </p:txBody>
      </p:sp>
      <p:sp>
        <p:nvSpPr>
          <p:cNvPr id="32807" name="Text Box 75"/>
          <p:cNvSpPr txBox="1">
            <a:spLocks noChangeArrowheads="1"/>
          </p:cNvSpPr>
          <p:nvPr/>
        </p:nvSpPr>
        <p:spPr bwMode="auto">
          <a:xfrm>
            <a:off x="1992314" y="1366839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l"/>
            <a:endParaRPr lang="en-US" sz="2400">
              <a:latin typeface="Times New Roman" pitchFamily="18" charset="0"/>
            </a:endParaRPr>
          </a:p>
        </p:txBody>
      </p:sp>
      <p:sp>
        <p:nvSpPr>
          <p:cNvPr id="32808" name="Rectangle 76"/>
          <p:cNvSpPr>
            <a:spLocks noChangeArrowheads="1"/>
          </p:cNvSpPr>
          <p:nvPr/>
        </p:nvSpPr>
        <p:spPr bwMode="auto">
          <a:xfrm>
            <a:off x="1968501" y="1676400"/>
            <a:ext cx="3808413" cy="10668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l"/>
            <a:r>
              <a:rPr lang="en-US" sz="2000"/>
              <a:t>delivering received segments</a:t>
            </a:r>
          </a:p>
          <a:p>
            <a:pPr algn="l"/>
            <a:r>
              <a:rPr lang="en-US" sz="2000"/>
              <a:t>to correct socket</a:t>
            </a:r>
          </a:p>
        </p:txBody>
      </p:sp>
      <p:grpSp>
        <p:nvGrpSpPr>
          <p:cNvPr id="32809" name="Group 77"/>
          <p:cNvGrpSpPr>
            <a:grpSpLocks/>
          </p:cNvGrpSpPr>
          <p:nvPr/>
        </p:nvGrpSpPr>
        <p:grpSpPr bwMode="auto">
          <a:xfrm>
            <a:off x="2057401" y="1447801"/>
            <a:ext cx="3382963" cy="396875"/>
            <a:chOff x="1080" y="3713"/>
            <a:chExt cx="1712" cy="250"/>
          </a:xfrm>
        </p:grpSpPr>
        <p:sp>
          <p:nvSpPr>
            <p:cNvPr id="32819" name="Rectangle 78"/>
            <p:cNvSpPr>
              <a:spLocks noChangeArrowheads="1"/>
            </p:cNvSpPr>
            <p:nvPr/>
          </p:nvSpPr>
          <p:spPr bwMode="auto">
            <a:xfrm>
              <a:off x="1422" y="3732"/>
              <a:ext cx="1002" cy="2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20" name="Text Box 79"/>
            <p:cNvSpPr txBox="1">
              <a:spLocks noChangeArrowheads="1"/>
            </p:cNvSpPr>
            <p:nvPr/>
          </p:nvSpPr>
          <p:spPr bwMode="auto">
            <a:xfrm>
              <a:off x="1080" y="3713"/>
              <a:ext cx="1712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 sz="2000" u="sng">
                  <a:solidFill>
                    <a:srgbClr val="FF0000"/>
                  </a:solidFill>
                </a:rPr>
                <a:t>Demultiplexing at rcv host:</a:t>
              </a:r>
            </a:p>
          </p:txBody>
        </p:sp>
      </p:grpSp>
      <p:sp>
        <p:nvSpPr>
          <p:cNvPr id="32810" name="Text Box 82"/>
          <p:cNvSpPr txBox="1">
            <a:spLocks noChangeArrowheads="1"/>
          </p:cNvSpPr>
          <p:nvPr/>
        </p:nvSpPr>
        <p:spPr bwMode="auto">
          <a:xfrm>
            <a:off x="6654801" y="1812926"/>
            <a:ext cx="3719513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l"/>
            <a:r>
              <a:rPr lang="en-US" sz="2000"/>
              <a:t>gathering data from multiple</a:t>
            </a:r>
          </a:p>
          <a:p>
            <a:pPr algn="l"/>
            <a:r>
              <a:rPr lang="en-US" sz="2000"/>
              <a:t>sockets, enveloping data with </a:t>
            </a:r>
          </a:p>
          <a:p>
            <a:pPr algn="l"/>
            <a:r>
              <a:rPr lang="en-US" sz="2000"/>
              <a:t>header (later used for </a:t>
            </a:r>
          </a:p>
          <a:p>
            <a:pPr algn="l"/>
            <a:r>
              <a:rPr lang="en-US" sz="2000"/>
              <a:t>demultiplexing)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32811" name="Rectangle 83"/>
          <p:cNvSpPr>
            <a:spLocks noChangeArrowheads="1"/>
          </p:cNvSpPr>
          <p:nvPr/>
        </p:nvSpPr>
        <p:spPr bwMode="auto">
          <a:xfrm>
            <a:off x="6629401" y="1704976"/>
            <a:ext cx="3609975" cy="141922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2812" name="Group 84"/>
          <p:cNvGrpSpPr>
            <a:grpSpLocks/>
          </p:cNvGrpSpPr>
          <p:nvPr/>
        </p:nvGrpSpPr>
        <p:grpSpPr bwMode="auto">
          <a:xfrm>
            <a:off x="6781800" y="1460501"/>
            <a:ext cx="3257550" cy="396875"/>
            <a:chOff x="913" y="3713"/>
            <a:chExt cx="2052" cy="250"/>
          </a:xfrm>
        </p:grpSpPr>
        <p:sp>
          <p:nvSpPr>
            <p:cNvPr id="32817" name="Rectangle 85"/>
            <p:cNvSpPr>
              <a:spLocks noChangeArrowheads="1"/>
            </p:cNvSpPr>
            <p:nvPr/>
          </p:nvSpPr>
          <p:spPr bwMode="auto">
            <a:xfrm>
              <a:off x="1422" y="3732"/>
              <a:ext cx="1002" cy="2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18" name="Text Box 86"/>
            <p:cNvSpPr txBox="1">
              <a:spLocks noChangeArrowheads="1"/>
            </p:cNvSpPr>
            <p:nvPr/>
          </p:nvSpPr>
          <p:spPr bwMode="auto">
            <a:xfrm>
              <a:off x="913" y="3713"/>
              <a:ext cx="2052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en-US" sz="2000" u="sng" dirty="0">
                  <a:solidFill>
                    <a:srgbClr val="FF0000"/>
                  </a:solidFill>
                </a:rPr>
                <a:t>Multiplexing at send host: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813" name="Group 88"/>
          <p:cNvGrpSpPr>
            <a:grpSpLocks/>
          </p:cNvGrpSpPr>
          <p:nvPr/>
        </p:nvGrpSpPr>
        <p:grpSpPr bwMode="auto">
          <a:xfrm flipH="1">
            <a:off x="6172201" y="3962400"/>
            <a:ext cx="2263775" cy="1676400"/>
            <a:chOff x="1421" y="2509"/>
            <a:chExt cx="1426" cy="1056"/>
          </a:xfrm>
        </p:grpSpPr>
        <p:sp>
          <p:nvSpPr>
            <p:cNvPr id="32814" name="Line 89"/>
            <p:cNvSpPr>
              <a:spLocks noChangeShapeType="1"/>
            </p:cNvSpPr>
            <p:nvPr/>
          </p:nvSpPr>
          <p:spPr bwMode="auto">
            <a:xfrm>
              <a:off x="1421" y="2509"/>
              <a:ext cx="0" cy="10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815" name="Freeform 90"/>
            <p:cNvSpPr>
              <a:spLocks/>
            </p:cNvSpPr>
            <p:nvPr/>
          </p:nvSpPr>
          <p:spPr bwMode="auto">
            <a:xfrm>
              <a:off x="2546" y="2563"/>
              <a:ext cx="286" cy="989"/>
            </a:xfrm>
            <a:custGeom>
              <a:avLst/>
              <a:gdLst>
                <a:gd name="T0" fmla="*/ 286 w 286"/>
                <a:gd name="T1" fmla="*/ 989 h 989"/>
                <a:gd name="T2" fmla="*/ 284 w 286"/>
                <a:gd name="T3" fmla="*/ 117 h 989"/>
                <a:gd name="T4" fmla="*/ 0 w 286"/>
                <a:gd name="T5" fmla="*/ 0 h 989"/>
                <a:gd name="T6" fmla="*/ 0 60000 65536"/>
                <a:gd name="T7" fmla="*/ 0 60000 65536"/>
                <a:gd name="T8" fmla="*/ 0 60000 65536"/>
                <a:gd name="T9" fmla="*/ 0 w 286"/>
                <a:gd name="T10" fmla="*/ 0 h 989"/>
                <a:gd name="T11" fmla="*/ 286 w 286"/>
                <a:gd name="T12" fmla="*/ 989 h 9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6" h="989">
                  <a:moveTo>
                    <a:pt x="286" y="989"/>
                  </a:moveTo>
                  <a:lnTo>
                    <a:pt x="284" y="11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816" name="Freeform 91"/>
            <p:cNvSpPr>
              <a:spLocks/>
            </p:cNvSpPr>
            <p:nvPr/>
          </p:nvSpPr>
          <p:spPr bwMode="auto">
            <a:xfrm>
              <a:off x="1421" y="3556"/>
              <a:ext cx="1426" cy="9"/>
            </a:xfrm>
            <a:custGeom>
              <a:avLst/>
              <a:gdLst>
                <a:gd name="T0" fmla="*/ 0 w 1426"/>
                <a:gd name="T1" fmla="*/ 9 h 9"/>
                <a:gd name="T2" fmla="*/ 1426 w 1426"/>
                <a:gd name="T3" fmla="*/ 0 h 9"/>
                <a:gd name="T4" fmla="*/ 0 60000 65536"/>
                <a:gd name="T5" fmla="*/ 0 60000 65536"/>
                <a:gd name="T6" fmla="*/ 0 w 1426"/>
                <a:gd name="T7" fmla="*/ 0 h 9"/>
                <a:gd name="T8" fmla="*/ 1426 w 1426"/>
                <a:gd name="T9" fmla="*/ 9 h 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26" h="9">
                  <a:moveTo>
                    <a:pt x="0" y="9"/>
                  </a:moveTo>
                  <a:lnTo>
                    <a:pt x="1426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5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25000" y="6356351"/>
            <a:ext cx="685800" cy="365125"/>
          </a:xfrm>
        </p:spPr>
        <p:txBody>
          <a:bodyPr/>
          <a:lstStyle/>
          <a:p>
            <a:pPr>
              <a:defRPr/>
            </a:pPr>
            <a:fld id="{C54A3ABE-7EE8-428A-9823-130E8679AB4E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64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439</Words>
  <Application>Microsoft Office PowerPoint</Application>
  <PresentationFormat>Widescreen</PresentationFormat>
  <Paragraphs>107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Comic Sans MS</vt:lpstr>
      <vt:lpstr>Times New Roman</vt:lpstr>
      <vt:lpstr>Office Theme</vt:lpstr>
      <vt:lpstr>COMPUTER NETWORKS (BCSC 0008)</vt:lpstr>
      <vt:lpstr> Text and Reference Books </vt:lpstr>
      <vt:lpstr>PowerPoint Presentation</vt:lpstr>
      <vt:lpstr>Why we need transport layer?</vt:lpstr>
      <vt:lpstr>Types of data deliveries: Internet Stack</vt:lpstr>
      <vt:lpstr>Continued..</vt:lpstr>
      <vt:lpstr>How It delivers messages to specific process</vt:lpstr>
      <vt:lpstr>PowerPoint Presentation</vt:lpstr>
      <vt:lpstr>PowerPoint Presentation</vt:lpstr>
      <vt:lpstr>PowerPoint Presentation</vt:lpstr>
      <vt:lpstr>Socket API</vt:lpstr>
      <vt:lpstr>PowerPoint Presentation</vt:lpstr>
      <vt:lpstr>Multiplexing/demultiplexing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(BCSC 0008)</dc:title>
  <dc:creator>shabir ali</dc:creator>
  <cp:lastModifiedBy>shabir ali</cp:lastModifiedBy>
  <cp:revision>15</cp:revision>
  <dcterms:created xsi:type="dcterms:W3CDTF">2020-11-26T06:05:43Z</dcterms:created>
  <dcterms:modified xsi:type="dcterms:W3CDTF">2020-11-27T05:13:44Z</dcterms:modified>
</cp:coreProperties>
</file>