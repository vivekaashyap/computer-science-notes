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0"/>
  </p:notesMasterIdLst>
  <p:sldIdLst>
    <p:sldId id="257" r:id="rId2"/>
    <p:sldId id="265" r:id="rId3"/>
    <p:sldId id="564" r:id="rId4"/>
    <p:sldId id="747" r:id="rId5"/>
    <p:sldId id="565" r:id="rId6"/>
    <p:sldId id="566" r:id="rId7"/>
    <p:sldId id="567" r:id="rId8"/>
    <p:sldId id="568" r:id="rId9"/>
    <p:sldId id="569" r:id="rId10"/>
    <p:sldId id="570" r:id="rId11"/>
    <p:sldId id="571" r:id="rId12"/>
    <p:sldId id="572" r:id="rId13"/>
    <p:sldId id="573" r:id="rId14"/>
    <p:sldId id="574" r:id="rId15"/>
    <p:sldId id="575" r:id="rId16"/>
    <p:sldId id="576" r:id="rId17"/>
    <p:sldId id="578" r:id="rId18"/>
    <p:sldId id="577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CC00"/>
    <a:srgbClr val="996633"/>
    <a:srgbClr val="6666FF"/>
    <a:srgbClr val="3366FF"/>
    <a:srgbClr val="CCFF99"/>
    <a:srgbClr val="6AF4A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1" autoAdjust="0"/>
    <p:restoredTop sz="93920" autoAdjust="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CE9A4605-1E76-4AE9-9A7D-29B2EC6284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75930CA7-8AA0-4D4A-8A39-FDC5441150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60804" name="Rectangle 4">
            <a:extLst>
              <a:ext uri="{FF2B5EF4-FFF2-40B4-BE49-F238E27FC236}">
                <a16:creationId xmlns:a16="http://schemas.microsoft.com/office/drawing/2014/main" id="{F94E3ACA-3AD0-4C72-8F8A-4652A2B5E2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05" name="Rectangle 5">
            <a:extLst>
              <a:ext uri="{FF2B5EF4-FFF2-40B4-BE49-F238E27FC236}">
                <a16:creationId xmlns:a16="http://schemas.microsoft.com/office/drawing/2014/main" id="{11A0A2F7-A6F5-43AE-968A-A14E56B50D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0806" name="Rectangle 6">
            <a:extLst>
              <a:ext uri="{FF2B5EF4-FFF2-40B4-BE49-F238E27FC236}">
                <a16:creationId xmlns:a16="http://schemas.microsoft.com/office/drawing/2014/main" id="{7FA6782D-F240-4548-A087-766542C62D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 altLang="en-US"/>
          </a:p>
        </p:txBody>
      </p:sp>
      <p:sp>
        <p:nvSpPr>
          <p:cNvPr id="460807" name="Rectangle 7">
            <a:extLst>
              <a:ext uri="{FF2B5EF4-FFF2-40B4-BE49-F238E27FC236}">
                <a16:creationId xmlns:a16="http://schemas.microsoft.com/office/drawing/2014/main" id="{C3A7ACE8-FD9E-43BC-925A-67DCA3EE6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A7CA3AA8-2FFA-439E-BADC-2CDC43E2DDB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2DB2FA3-9178-4756-BA05-C8F9C70F24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05DE14-5D99-4215-B77E-C3D60235621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B086B1D7-27AB-4957-8217-2355E8A2EA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61513C7A-C893-45B0-90D5-806BA991C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79F257B3-D638-45F2-BC5B-BB75781C9D7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C7F58D6D-67B7-4F05-8616-7B36F3E4B3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5AFD24EC-DB5E-400F-83B7-795C900B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CC424B67-0876-407D-9DFB-3A8671C4C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D8E618C9-B5A4-452F-867A-64E82294E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04E11F19-FA0F-460A-AAA5-ED0EBB163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E7172318-6D6C-4B2B-B0C6-15DA01897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D8A210A0-7C0F-44AA-B81C-6AA0E96C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122E951D-1104-4397-9D2B-93D6340D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FD094539-0B2F-4516-8912-B11B938614E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CFB9E942-E62F-4351-AFCC-01CB24C3D8B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25717EF7-DD47-4FDD-A03D-4EA78DC5B4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19BF8B24-497C-4986-95FB-8B95A9220E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3E7B31A3-E735-4DFE-B9C1-7176D34EC5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84596C9D-0806-4EF8-BDAF-EA512AC675B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DF589B-DE5F-4A3D-AF04-BD661DC593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8133366D-FE9F-4AD5-8561-D935C559399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/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51A085C8-E04A-4809-824F-B01D44DF40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7113-BBFB-4CAC-A533-0694868B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166E8-64A4-494B-B4FC-C60D1DE2E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158F3-E0DE-48A8-8A0A-E4A2CB9773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07A55-53D5-4020-A6CC-56606DB51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E8D6B4-FD74-4F7F-AF1A-9766FE41D4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443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959C-D360-4DA3-8970-2D35B60E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36A24-0532-4AB2-BD50-0F5F58FB9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16760-EFFF-438E-84E9-F50F36E5DA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A1C06-8072-43C7-8C80-420B6E95E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E6EFF0-230D-4FAE-BE9B-C78FA3FC45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48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7791-9024-4499-A70A-68DC253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B1F4-485B-4C14-88BA-7A910C839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F1C93-545C-4F92-8F2C-862E98993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BC265-67EA-44EA-9428-E8B2587AA9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424D-03A4-4D57-9637-BB37815ED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41C901-2F90-432A-BC17-B5B1114CB3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56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BB84-9399-41E7-9AAB-AAD187682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2925E-8DB1-4E31-B155-17181212D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87FD-3BD2-4353-853E-F4208C04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BA0DD-53BC-436C-8E04-798BA6AC8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469B8-38CF-458A-A9CA-4C32FC7BA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73F8F3-B387-4A7C-889B-960BDE95F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D3AE06-BC86-4F66-8330-16DA3E8206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83372C-F40D-4502-A5EC-1776AFA159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8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0763-4966-41AB-8026-63E0683D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7EE50-372D-42A5-9B62-D1D0CE866B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F334D-7486-4D0E-BE57-3C1EE3D9C1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D85C40-3D12-46FD-9075-E2124266EC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60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BFCD94-64A5-4E6D-869F-8983385544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14057-FCF6-435B-8489-74C586B7A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9DE602-5634-4535-9FE6-101C533D81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92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AC34-A597-4888-BE52-8A4DFDBE5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66FC4-FE47-44DB-8E73-1D676F47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740C7-CA5E-42B6-8B74-7EA4B5708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2A046-31F3-44C5-85FE-ACBD64E726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21FD8-7564-494A-8094-0012331728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ED4ED8-5827-4DD1-8A0D-559360E4B1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38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6343-563C-413E-8365-6B2B2359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36D72-744A-44BF-A5C9-12DC8C8A4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50BF9-FF0F-41ED-B6B8-FF15980E5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429B-F1C4-47E4-80BB-A3BEB71DD6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2BEE-5BD1-4465-B4B2-350F3EBA34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1FD47A-D2BA-4999-9378-3FD4C1E824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58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F8B-7D71-453C-AB7B-5C5C08AE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E325B-215F-4A5C-8B3A-12D978FD2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AE8E6-8755-49FE-84B0-8CAC9E1E50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FF979-8C7E-471F-A701-25B768C6F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D3617B-6575-4AFB-A37A-4B92ACF3A1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20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69A65-BCBD-4AD0-B0E0-0BBA3A6D9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37FE-3B8C-4B30-B710-72E77A01F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55A34-A7C3-4BD3-8779-3B934C6A2B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3C48A-1D91-422C-9F80-D5E03ADEF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7D0BEA-0D0A-42D3-A189-37952F8AEB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94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>
            <a:extLst>
              <a:ext uri="{FF2B5EF4-FFF2-40B4-BE49-F238E27FC236}">
                <a16:creationId xmlns:a16="http://schemas.microsoft.com/office/drawing/2014/main" id="{C6AACB0A-139F-48EF-A553-4254BEEE82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r>
              <a:rPr lang="en-US" altLang="en-US"/>
              <a:t>TCP/IP Protocol Suite</a:t>
            </a:r>
          </a:p>
        </p:txBody>
      </p:sp>
      <p:sp>
        <p:nvSpPr>
          <p:cNvPr id="209933" name="Rectangle 13">
            <a:extLst>
              <a:ext uri="{FF2B5EF4-FFF2-40B4-BE49-F238E27FC236}">
                <a16:creationId xmlns:a16="http://schemas.microsoft.com/office/drawing/2014/main" id="{5597B034-650C-4067-B22F-F61F39DEC8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fld id="{55FD6EE5-CF9E-45A6-84A6-4EA6E7DA238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BED7DCC-9A27-423D-AE79-6F2F70285B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DA3A9E90-0A77-4B20-9391-B09917030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109D72-D7AD-48F1-A6E9-79758F55B4DC}" type="slidenum">
              <a:rPr lang="en-US" altLang="en-US"/>
              <a:pPr/>
              <a:t>3</a:t>
            </a:fld>
            <a:endParaRPr lang="en-US" altLang="en-US"/>
          </a:p>
        </p:txBody>
      </p:sp>
      <p:grpSp>
        <p:nvGrpSpPr>
          <p:cNvPr id="521218" name="Group 2">
            <a:extLst>
              <a:ext uri="{FF2B5EF4-FFF2-40B4-BE49-F238E27FC236}">
                <a16:creationId xmlns:a16="http://schemas.microsoft.com/office/drawing/2014/main" id="{D85A9A4C-ED4B-4150-9613-A00AFB35091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6400800"/>
            <a:chOff x="0" y="96"/>
            <a:chExt cx="5472" cy="3840"/>
          </a:xfrm>
        </p:grpSpPr>
        <p:sp>
          <p:nvSpPr>
            <p:cNvPr id="521219" name="AutoShape 3">
              <a:extLst>
                <a:ext uri="{FF2B5EF4-FFF2-40B4-BE49-F238E27FC236}">
                  <a16:creationId xmlns:a16="http://schemas.microsoft.com/office/drawing/2014/main" id="{A3993A08-A00E-4DC1-B114-C5F028AF5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2400"/>
            </a:p>
          </p:txBody>
        </p:sp>
        <p:sp>
          <p:nvSpPr>
            <p:cNvPr id="521220" name="AutoShape 4">
              <a:extLst>
                <a:ext uri="{FF2B5EF4-FFF2-40B4-BE49-F238E27FC236}">
                  <a16:creationId xmlns:a16="http://schemas.microsoft.com/office/drawing/2014/main" id="{76EA8D48-54C4-4C14-A170-E4F312452BA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170 w 1000"/>
                <a:gd name="T3" fmla="*/ 0 h 1000"/>
                <a:gd name="T4" fmla="*/ 6670 w 1000"/>
                <a:gd name="T5" fmla="*/ 500 h 1000"/>
                <a:gd name="T6" fmla="*/ 6170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170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 sz="2400"/>
            </a:p>
          </p:txBody>
        </p:sp>
        <p:sp>
          <p:nvSpPr>
            <p:cNvPr id="521221" name="Line 5">
              <a:extLst>
                <a:ext uri="{FF2B5EF4-FFF2-40B4-BE49-F238E27FC236}">
                  <a16:creationId xmlns:a16="http://schemas.microsoft.com/office/drawing/2014/main" id="{814A34EE-9E03-4F61-B98A-255C3306A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21222" name="Text Box 6">
            <a:extLst>
              <a:ext uri="{FF2B5EF4-FFF2-40B4-BE49-F238E27FC236}">
                <a16:creationId xmlns:a16="http://schemas.microsoft.com/office/drawing/2014/main" id="{3970C14B-CD8C-44F2-8327-97000B957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6167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000">
                <a:solidFill>
                  <a:schemeClr val="bg1"/>
                </a:solidFill>
                <a:latin typeface="Arial" panose="020B0604020202020204" pitchFamily="34" charset="0"/>
              </a:rPr>
              <a:t>3.4   Connecting Devices</a:t>
            </a:r>
          </a:p>
        </p:txBody>
      </p:sp>
      <p:sp>
        <p:nvSpPr>
          <p:cNvPr id="521223" name="Rectangle 7">
            <a:extLst>
              <a:ext uri="{FF2B5EF4-FFF2-40B4-BE49-F238E27FC236}">
                <a16:creationId xmlns:a16="http://schemas.microsoft.com/office/drawing/2014/main" id="{EA8BF3D8-3F43-4F15-80D4-44C96C147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71600"/>
            <a:ext cx="78486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LANs or WANs do not normally operate in isolation. They are connected to one another or to the Internet. To connect LANs or WANs, we use </a:t>
            </a:r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connecting devices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. Connecting devices can operate in different layers of the Internet model. We discuss three kinds of connecting devices: </a:t>
            </a:r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repeaters (or hubs),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bridges (or two-layer switches),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 and </a:t>
            </a:r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routers (or three-layer switches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). Repeaters and hubs operate in the first layer of the Internet model. Bridges and two-layer switches operate in the first two layers. Routers and three-layer switches operate in the first three layers</a:t>
            </a:r>
          </a:p>
        </p:txBody>
      </p:sp>
      <p:sp>
        <p:nvSpPr>
          <p:cNvPr id="521224" name="Rectangle 8">
            <a:extLst>
              <a:ext uri="{FF2B5EF4-FFF2-40B4-BE49-F238E27FC236}">
                <a16:creationId xmlns:a16="http://schemas.microsoft.com/office/drawing/2014/main" id="{B449BFA6-1FFD-4160-BD73-D55BC9451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175125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topics discussed in this section include:</a:t>
            </a:r>
          </a:p>
        </p:txBody>
      </p:sp>
      <p:sp>
        <p:nvSpPr>
          <p:cNvPr id="521225" name="Rectangle 9">
            <a:extLst>
              <a:ext uri="{FF2B5EF4-FFF2-40B4-BE49-F238E27FC236}">
                <a16:creationId xmlns:a16="http://schemas.microsoft.com/office/drawing/2014/main" id="{236CDF27-0C67-4545-B615-CAE868A7F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724400"/>
            <a:ext cx="7315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Repeaters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Hubs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Bridges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Router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7BF78-C068-49E6-AE26-602BC1F16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15.</a:t>
            </a:r>
            <a:fld id="{77D273AC-4842-4892-BCD9-7918AC4D403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59138" name="Line 2">
            <a:extLst>
              <a:ext uri="{FF2B5EF4-FFF2-40B4-BE49-F238E27FC236}">
                <a16:creationId xmlns:a16="http://schemas.microsoft.com/office/drawing/2014/main" id="{3FAE9173-FD27-4AC8-BFE8-2F8BD892B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9139" name="Line 3">
            <a:extLst>
              <a:ext uri="{FF2B5EF4-FFF2-40B4-BE49-F238E27FC236}">
                <a16:creationId xmlns:a16="http://schemas.microsoft.com/office/drawing/2014/main" id="{BFB0335B-A0DD-4D35-A41A-7878BF20D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59140" name="Text Box 4">
            <a:extLst>
              <a:ext uri="{FF2B5EF4-FFF2-40B4-BE49-F238E27FC236}">
                <a16:creationId xmlns:a16="http://schemas.microsoft.com/office/drawing/2014/main" id="{7273A42D-63E4-40F5-A643-DFA727E4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9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15.1  </a:t>
            </a:r>
            <a:r>
              <a:rPr lang="en-US" altLang="en-US" sz="2000" i="1">
                <a:latin typeface="Times New Roman" panose="02020603050405020304" pitchFamily="18" charset="0"/>
              </a:rPr>
              <a:t>Five categories of connecting devices</a:t>
            </a:r>
          </a:p>
        </p:txBody>
      </p:sp>
      <p:sp>
        <p:nvSpPr>
          <p:cNvPr id="859141" name="Line 5">
            <a:extLst>
              <a:ext uri="{FF2B5EF4-FFF2-40B4-BE49-F238E27FC236}">
                <a16:creationId xmlns:a16="http://schemas.microsoft.com/office/drawing/2014/main" id="{725C93A4-F01A-45F3-9ACA-E0FD4A50A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859142" name="Picture 6">
            <a:extLst>
              <a:ext uri="{FF2B5EF4-FFF2-40B4-BE49-F238E27FC236}">
                <a16:creationId xmlns:a16="http://schemas.microsoft.com/office/drawing/2014/main" id="{273D1064-5CCB-4883-9F78-C7ACB3F9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2457450"/>
            <a:ext cx="846455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EF50DDC-1629-498A-B27E-DC23CCB808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88C0648-11CE-453F-B087-1DEF43602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986B24-496C-4E4C-966E-1B73D97A1F5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522242" name="Text Box 2">
            <a:extLst>
              <a:ext uri="{FF2B5EF4-FFF2-40B4-BE49-F238E27FC236}">
                <a16:creationId xmlns:a16="http://schemas.microsoft.com/office/drawing/2014/main" id="{6BA20FF3-6838-4EB7-B4B7-8D0E5142D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3.28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Connecting devices</a:t>
            </a:r>
          </a:p>
        </p:txBody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C93670CA-12E5-4564-A220-A9B605525B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4" name="Rectangle 4">
            <a:extLst>
              <a:ext uri="{FF2B5EF4-FFF2-40B4-BE49-F238E27FC236}">
                <a16:creationId xmlns:a16="http://schemas.microsoft.com/office/drawing/2014/main" id="{1DAFDECA-33B8-41E1-AD20-9016C712073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5" name="Rectangle 5">
            <a:extLst>
              <a:ext uri="{FF2B5EF4-FFF2-40B4-BE49-F238E27FC236}">
                <a16:creationId xmlns:a16="http://schemas.microsoft.com/office/drawing/2014/main" id="{FB237A32-5223-444C-9FED-76F7BD0EBD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6" name="Rectangle 6">
            <a:extLst>
              <a:ext uri="{FF2B5EF4-FFF2-40B4-BE49-F238E27FC236}">
                <a16:creationId xmlns:a16="http://schemas.microsoft.com/office/drawing/2014/main" id="{7EFD6EAB-8CC4-46D8-848D-2FF379A55B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7" name="Rectangle 7">
            <a:extLst>
              <a:ext uri="{FF2B5EF4-FFF2-40B4-BE49-F238E27FC236}">
                <a16:creationId xmlns:a16="http://schemas.microsoft.com/office/drawing/2014/main" id="{BC12335F-ED20-496B-84F2-96882017C4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8" name="Rectangle 8">
            <a:extLst>
              <a:ext uri="{FF2B5EF4-FFF2-40B4-BE49-F238E27FC236}">
                <a16:creationId xmlns:a16="http://schemas.microsoft.com/office/drawing/2014/main" id="{19050C5C-6840-4560-A197-832524D77A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2249" name="Rectangle 9">
            <a:extLst>
              <a:ext uri="{FF2B5EF4-FFF2-40B4-BE49-F238E27FC236}">
                <a16:creationId xmlns:a16="http://schemas.microsoft.com/office/drawing/2014/main" id="{5677FB42-80E5-4DAF-9165-78EA9B79A6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22250" name="Picture 10">
            <a:extLst>
              <a:ext uri="{FF2B5EF4-FFF2-40B4-BE49-F238E27FC236}">
                <a16:creationId xmlns:a16="http://schemas.microsoft.com/office/drawing/2014/main" id="{0FEE4050-A7C2-4EE0-B931-A0E3AAB4A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2589213"/>
            <a:ext cx="8520112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92A2E67-DA30-4F08-B4C5-9FC0656C8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BF61AD2E-2E17-4ADC-96BC-8666C86171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4FFDAE-C0DF-4015-961B-193B8934335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23266" name="Text Box 2">
            <a:extLst>
              <a:ext uri="{FF2B5EF4-FFF2-40B4-BE49-F238E27FC236}">
                <a16:creationId xmlns:a16="http://schemas.microsoft.com/office/drawing/2014/main" id="{1E7D5D4D-BAA4-4356-921D-3A1C2B0E9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3.29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Repeater</a:t>
            </a:r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120C53E0-4A2A-4CCC-B92C-544D1FECF7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68" name="Rectangle 4">
            <a:extLst>
              <a:ext uri="{FF2B5EF4-FFF2-40B4-BE49-F238E27FC236}">
                <a16:creationId xmlns:a16="http://schemas.microsoft.com/office/drawing/2014/main" id="{89C263C2-7AA6-4A8E-AE82-7F5B7B1052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69" name="Rectangle 5">
            <a:extLst>
              <a:ext uri="{FF2B5EF4-FFF2-40B4-BE49-F238E27FC236}">
                <a16:creationId xmlns:a16="http://schemas.microsoft.com/office/drawing/2014/main" id="{EFD2AB97-4A21-4681-8532-D2E09D0135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70" name="Rectangle 6">
            <a:extLst>
              <a:ext uri="{FF2B5EF4-FFF2-40B4-BE49-F238E27FC236}">
                <a16:creationId xmlns:a16="http://schemas.microsoft.com/office/drawing/2014/main" id="{7A14D498-C805-4B22-B6FD-DF32BD76A7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71" name="Rectangle 7">
            <a:extLst>
              <a:ext uri="{FF2B5EF4-FFF2-40B4-BE49-F238E27FC236}">
                <a16:creationId xmlns:a16="http://schemas.microsoft.com/office/drawing/2014/main" id="{D13951BC-587F-4EE3-82B3-DFF101F713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72" name="Rectangle 8">
            <a:extLst>
              <a:ext uri="{FF2B5EF4-FFF2-40B4-BE49-F238E27FC236}">
                <a16:creationId xmlns:a16="http://schemas.microsoft.com/office/drawing/2014/main" id="{D42772B2-FD6C-4F5D-8AF1-841956E2B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3273" name="Rectangle 9">
            <a:extLst>
              <a:ext uri="{FF2B5EF4-FFF2-40B4-BE49-F238E27FC236}">
                <a16:creationId xmlns:a16="http://schemas.microsoft.com/office/drawing/2014/main" id="{507CAE11-94CD-4E47-8200-6355808AC5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23274" name="Picture 10">
            <a:extLst>
              <a:ext uri="{FF2B5EF4-FFF2-40B4-BE49-F238E27FC236}">
                <a16:creationId xmlns:a16="http://schemas.microsoft.com/office/drawing/2014/main" id="{E901D523-5E37-42E7-8567-F3CAC113E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1755775"/>
            <a:ext cx="8355012" cy="325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chemeClr val="folHlink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A45586C1-7CE6-4939-949D-A08061FAD6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394BD6F-1AD5-4720-A64F-F5CE2172B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63E7E2-2C43-47EE-8C15-69D1ADA4D8F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9A00DEFB-0D49-4126-8CD5-24E67B81D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92413"/>
            <a:ext cx="7543800" cy="63658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  <a:t>A repeater connects segments of a LAN.</a:t>
            </a:r>
          </a:p>
        </p:txBody>
      </p:sp>
      <p:sp>
        <p:nvSpPr>
          <p:cNvPr id="524291" name="PubRRectCallout">
            <a:extLst>
              <a:ext uri="{FF2B5EF4-FFF2-40B4-BE49-F238E27FC236}">
                <a16:creationId xmlns:a16="http://schemas.microsoft.com/office/drawing/2014/main" id="{2A0584E4-C8E2-46E3-A9AB-6708D7BDCA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587500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24292" name="Picture 4">
            <a:extLst>
              <a:ext uri="{FF2B5EF4-FFF2-40B4-BE49-F238E27FC236}">
                <a16:creationId xmlns:a16="http://schemas.microsoft.com/office/drawing/2014/main" id="{1AB1E1B9-CA86-4306-95B6-0A49E3868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875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4293" name="Text Box 5">
            <a:extLst>
              <a:ext uri="{FF2B5EF4-FFF2-40B4-BE49-F238E27FC236}">
                <a16:creationId xmlns:a16="http://schemas.microsoft.com/office/drawing/2014/main" id="{FEBC4A53-7872-4301-B3E9-7E19D097D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7399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66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84CD5DBA-E837-4767-88BC-331A5454C3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4C93A1F-370C-43F3-8985-A00E0B56C1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D5A70C-3BF3-46DD-8E8A-295D84D4C14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25314" name="Rectangle 2">
            <a:extLst>
              <a:ext uri="{FF2B5EF4-FFF2-40B4-BE49-F238E27FC236}">
                <a16:creationId xmlns:a16="http://schemas.microsoft.com/office/drawing/2014/main" id="{24ABF14D-F1D3-4C09-BC2B-09EA804B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86050"/>
            <a:ext cx="7543800" cy="112395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  <a:t>A repeater forwards every bit; </a:t>
            </a:r>
            <a:b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  <a:t>it has no filtering capability.</a:t>
            </a:r>
          </a:p>
        </p:txBody>
      </p:sp>
      <p:sp>
        <p:nvSpPr>
          <p:cNvPr id="525315" name="PubRRectCallout">
            <a:extLst>
              <a:ext uri="{FF2B5EF4-FFF2-40B4-BE49-F238E27FC236}">
                <a16:creationId xmlns:a16="http://schemas.microsoft.com/office/drawing/2014/main" id="{EE476F57-23EE-425F-A449-2ADD86971A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481138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25316" name="Picture 4">
            <a:extLst>
              <a:ext uri="{FF2B5EF4-FFF2-40B4-BE49-F238E27FC236}">
                <a16:creationId xmlns:a16="http://schemas.microsoft.com/office/drawing/2014/main" id="{7A5F685A-14DB-43F4-AB2F-CFC1C26F2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81138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5317" name="Text Box 5">
            <a:extLst>
              <a:ext uri="{FF2B5EF4-FFF2-40B4-BE49-F238E27FC236}">
                <a16:creationId xmlns:a16="http://schemas.microsoft.com/office/drawing/2014/main" id="{A4F9A795-6423-4DB8-AB7C-79AD49ECC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33538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56A81DD-AF69-4403-BF7E-D6DE599DF2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8ACF78F-92A1-46FE-8578-02A4FEDC12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CB9EF1-60A0-47E4-BD15-C1C456244DDC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26338" name="Rectangle 2">
            <a:extLst>
              <a:ext uri="{FF2B5EF4-FFF2-40B4-BE49-F238E27FC236}">
                <a16:creationId xmlns:a16="http://schemas.microsoft.com/office/drawing/2014/main" id="{34745034-65E4-4542-8E39-314DFAE1C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44813"/>
            <a:ext cx="8077200" cy="63658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/>
              <a:t>A repeater is a regenerator, not an amplifier.</a:t>
            </a:r>
            <a:endParaRPr lang="en-US" altLang="en-US" sz="3600" i="1"/>
          </a:p>
        </p:txBody>
      </p:sp>
      <p:sp>
        <p:nvSpPr>
          <p:cNvPr id="526339" name="PubRRectCallout">
            <a:extLst>
              <a:ext uri="{FF2B5EF4-FFF2-40B4-BE49-F238E27FC236}">
                <a16:creationId xmlns:a16="http://schemas.microsoft.com/office/drawing/2014/main" id="{CF79C4EA-DFB5-45BC-A3B6-516C0319E52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739900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26340" name="Picture 4">
            <a:extLst>
              <a:ext uri="{FF2B5EF4-FFF2-40B4-BE49-F238E27FC236}">
                <a16:creationId xmlns:a16="http://schemas.microsoft.com/office/drawing/2014/main" id="{AC5ED6CE-8633-4B5E-994C-6D4587F5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399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6341" name="Text Box 5">
            <a:extLst>
              <a:ext uri="{FF2B5EF4-FFF2-40B4-BE49-F238E27FC236}">
                <a16:creationId xmlns:a16="http://schemas.microsoft.com/office/drawing/2014/main" id="{990C6E9D-EB40-4013-A536-9391CB0E4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923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5990AF5-3B74-4970-A850-A474B9A082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A149559-30BF-4DE7-96EE-E42F6B1B3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2981E0-7D1A-4B88-84BC-E487F533320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27362" name="Text Box 2">
            <a:extLst>
              <a:ext uri="{FF2B5EF4-FFF2-40B4-BE49-F238E27FC236}">
                <a16:creationId xmlns:a16="http://schemas.microsoft.com/office/drawing/2014/main" id="{FE3356B6-D65A-48F7-8645-D665839CE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3.30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Function of a repeater</a:t>
            </a:r>
          </a:p>
        </p:txBody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35DF51A8-937C-4836-86C3-2C98BD0D79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4" name="Rectangle 4">
            <a:extLst>
              <a:ext uri="{FF2B5EF4-FFF2-40B4-BE49-F238E27FC236}">
                <a16:creationId xmlns:a16="http://schemas.microsoft.com/office/drawing/2014/main" id="{1938EE80-8992-4B81-A720-CBA20C9CD0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5" name="Rectangle 5">
            <a:extLst>
              <a:ext uri="{FF2B5EF4-FFF2-40B4-BE49-F238E27FC236}">
                <a16:creationId xmlns:a16="http://schemas.microsoft.com/office/drawing/2014/main" id="{96FB810C-70D0-47F8-A739-98B4C0775B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6" name="Rectangle 6">
            <a:extLst>
              <a:ext uri="{FF2B5EF4-FFF2-40B4-BE49-F238E27FC236}">
                <a16:creationId xmlns:a16="http://schemas.microsoft.com/office/drawing/2014/main" id="{8B5CCE89-A255-4E1A-BAE6-E193AA80FC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7" name="Rectangle 7">
            <a:extLst>
              <a:ext uri="{FF2B5EF4-FFF2-40B4-BE49-F238E27FC236}">
                <a16:creationId xmlns:a16="http://schemas.microsoft.com/office/drawing/2014/main" id="{C06047F9-9EB2-404F-BD7D-136B86078D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8" name="Rectangle 8">
            <a:extLst>
              <a:ext uri="{FF2B5EF4-FFF2-40B4-BE49-F238E27FC236}">
                <a16:creationId xmlns:a16="http://schemas.microsoft.com/office/drawing/2014/main" id="{E7AB40B6-95EA-44BE-A031-9C39CD6DA7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7369" name="Rectangle 9">
            <a:extLst>
              <a:ext uri="{FF2B5EF4-FFF2-40B4-BE49-F238E27FC236}">
                <a16:creationId xmlns:a16="http://schemas.microsoft.com/office/drawing/2014/main" id="{6C4A5D89-0952-4F70-9254-F0E3560BB0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27370" name="Picture 10">
            <a:extLst>
              <a:ext uri="{FF2B5EF4-FFF2-40B4-BE49-F238E27FC236}">
                <a16:creationId xmlns:a16="http://schemas.microsoft.com/office/drawing/2014/main" id="{49D1884B-2536-4C9E-B35A-833646228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2265363"/>
            <a:ext cx="7880350" cy="306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1829B456-E381-410B-93E4-CEB33E0797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B8203FA-3076-4A95-9FF2-0B74BFBB67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2DBFED-9AA9-4DA7-8828-3F1224B25614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28386" name="Rectangle 2">
            <a:extLst>
              <a:ext uri="{FF2B5EF4-FFF2-40B4-BE49-F238E27FC236}">
                <a16:creationId xmlns:a16="http://schemas.microsoft.com/office/drawing/2014/main" id="{4A5DE61C-B6D5-4F16-9E23-0B4FB4341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38450"/>
            <a:ext cx="7543800" cy="112395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/>
              <a:t>A bridge has a table used in filtering decisions.</a:t>
            </a:r>
          </a:p>
        </p:txBody>
      </p:sp>
      <p:sp>
        <p:nvSpPr>
          <p:cNvPr id="528387" name="PubRRectCallout">
            <a:extLst>
              <a:ext uri="{FF2B5EF4-FFF2-40B4-BE49-F238E27FC236}">
                <a16:creationId xmlns:a16="http://schemas.microsoft.com/office/drawing/2014/main" id="{692D889E-DCE3-46FB-AEC7-D6BB0CA54E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633538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28388" name="Picture 4">
            <a:extLst>
              <a:ext uri="{FF2B5EF4-FFF2-40B4-BE49-F238E27FC236}">
                <a16:creationId xmlns:a16="http://schemas.microsoft.com/office/drawing/2014/main" id="{57232318-AADD-4C5C-A8BE-4862BD458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33538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8389" name="Text Box 5">
            <a:extLst>
              <a:ext uri="{FF2B5EF4-FFF2-40B4-BE49-F238E27FC236}">
                <a16:creationId xmlns:a16="http://schemas.microsoft.com/office/drawing/2014/main" id="{1915A769-E534-4213-A794-F58F177BC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785938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9345E4F2-8C60-45F1-BB3D-C835DAB818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FD4694D-1764-4B96-B4F3-AE2803380D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372733-60B2-4150-96E2-7BD83437B99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29410" name="Text Box 2">
            <a:extLst>
              <a:ext uri="{FF2B5EF4-FFF2-40B4-BE49-F238E27FC236}">
                <a16:creationId xmlns:a16="http://schemas.microsoft.com/office/drawing/2014/main" id="{C95EF30A-3128-4386-9473-05B17042F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3.31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Bridge</a:t>
            </a:r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732706D0-0FCB-4D22-8DE4-CD42F742C8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2" name="Rectangle 4">
            <a:extLst>
              <a:ext uri="{FF2B5EF4-FFF2-40B4-BE49-F238E27FC236}">
                <a16:creationId xmlns:a16="http://schemas.microsoft.com/office/drawing/2014/main" id="{446B9599-4B12-4840-8943-2013E1929F9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3" name="Rectangle 5">
            <a:extLst>
              <a:ext uri="{FF2B5EF4-FFF2-40B4-BE49-F238E27FC236}">
                <a16:creationId xmlns:a16="http://schemas.microsoft.com/office/drawing/2014/main" id="{B72ED72F-DD79-4375-BB46-471D4F6A68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4" name="Rectangle 6">
            <a:extLst>
              <a:ext uri="{FF2B5EF4-FFF2-40B4-BE49-F238E27FC236}">
                <a16:creationId xmlns:a16="http://schemas.microsoft.com/office/drawing/2014/main" id="{26934F5D-58D5-4203-A9FF-53DFB78211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5" name="Rectangle 7">
            <a:extLst>
              <a:ext uri="{FF2B5EF4-FFF2-40B4-BE49-F238E27FC236}">
                <a16:creationId xmlns:a16="http://schemas.microsoft.com/office/drawing/2014/main" id="{496665EA-8D3F-4733-A2EC-ED043B627E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6" name="Rectangle 8">
            <a:extLst>
              <a:ext uri="{FF2B5EF4-FFF2-40B4-BE49-F238E27FC236}">
                <a16:creationId xmlns:a16="http://schemas.microsoft.com/office/drawing/2014/main" id="{015C831C-B13F-4215-834C-51555EF5F9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29417" name="Rectangle 9">
            <a:extLst>
              <a:ext uri="{FF2B5EF4-FFF2-40B4-BE49-F238E27FC236}">
                <a16:creationId xmlns:a16="http://schemas.microsoft.com/office/drawing/2014/main" id="{AA86A6F2-6662-4AD6-B558-957AC9E377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29418" name="Picture 10">
            <a:extLst>
              <a:ext uri="{FF2B5EF4-FFF2-40B4-BE49-F238E27FC236}">
                <a16:creationId xmlns:a16="http://schemas.microsoft.com/office/drawing/2014/main" id="{6A603221-516D-4ABF-9F6A-14587F2D5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8172450" cy="507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43E3664E-CEF8-406B-9D9D-55C66A43C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B867430-4BF9-4B38-8942-9F9D34E25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2F0322-71DA-434E-AB74-69E6B10DA52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7F033EBD-50BF-4957-8952-CD28A351A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14650"/>
            <a:ext cx="7543800" cy="112395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/>
              <a:t>A bridge does not change the physical (MAC) addresses in a frame.</a:t>
            </a:r>
          </a:p>
        </p:txBody>
      </p:sp>
      <p:sp>
        <p:nvSpPr>
          <p:cNvPr id="530435" name="PubRRectCallout">
            <a:extLst>
              <a:ext uri="{FF2B5EF4-FFF2-40B4-BE49-F238E27FC236}">
                <a16:creationId xmlns:a16="http://schemas.microsoft.com/office/drawing/2014/main" id="{ECF08F38-8DE8-4E4D-ADD0-455F316962B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709738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0436" name="Picture 4">
            <a:extLst>
              <a:ext uri="{FF2B5EF4-FFF2-40B4-BE49-F238E27FC236}">
                <a16:creationId xmlns:a16="http://schemas.microsoft.com/office/drawing/2014/main" id="{C1942C66-8CE4-4F17-892D-582C0550F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9738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0437" name="Text Box 5">
            <a:extLst>
              <a:ext uri="{FF2B5EF4-FFF2-40B4-BE49-F238E27FC236}">
                <a16:creationId xmlns:a16="http://schemas.microsoft.com/office/drawing/2014/main" id="{88F7C9D9-38E9-4062-8A1E-A201CEB20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62138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22990D8-6319-4324-89F2-FB7342B3E3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D092BDE-E1A2-444D-87A3-8C122FC91B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8F883E-8181-4A87-8C7B-BD919DD7D085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31458" name="Text Box 2">
            <a:extLst>
              <a:ext uri="{FF2B5EF4-FFF2-40B4-BE49-F238E27FC236}">
                <a16:creationId xmlns:a16="http://schemas.microsoft.com/office/drawing/2014/main" id="{E419F20A-03B3-4C44-AE00-D190BB1A2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3.32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Learning bridge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9A506000-E8EF-4F4F-A3C6-62880EF20C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0" name="Rectangle 4">
            <a:extLst>
              <a:ext uri="{FF2B5EF4-FFF2-40B4-BE49-F238E27FC236}">
                <a16:creationId xmlns:a16="http://schemas.microsoft.com/office/drawing/2014/main" id="{CBEC4652-8718-4E55-9A5F-6307C641EB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22E8C160-DACF-433E-A4F6-2789039BD3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2" name="Rectangle 6">
            <a:extLst>
              <a:ext uri="{FF2B5EF4-FFF2-40B4-BE49-F238E27FC236}">
                <a16:creationId xmlns:a16="http://schemas.microsoft.com/office/drawing/2014/main" id="{7DA8BCBE-E7BB-4E04-A118-661CEB52E6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3" name="Rectangle 7">
            <a:extLst>
              <a:ext uri="{FF2B5EF4-FFF2-40B4-BE49-F238E27FC236}">
                <a16:creationId xmlns:a16="http://schemas.microsoft.com/office/drawing/2014/main" id="{A80B7F9F-B7CC-427B-A8BA-BE8DD0508D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4" name="Rectangle 8">
            <a:extLst>
              <a:ext uri="{FF2B5EF4-FFF2-40B4-BE49-F238E27FC236}">
                <a16:creationId xmlns:a16="http://schemas.microsoft.com/office/drawing/2014/main" id="{B83253E9-7836-4337-B0A3-B06FA23589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1465" name="Rectangle 9">
            <a:extLst>
              <a:ext uri="{FF2B5EF4-FFF2-40B4-BE49-F238E27FC236}">
                <a16:creationId xmlns:a16="http://schemas.microsoft.com/office/drawing/2014/main" id="{D80FE8CD-172C-46C7-AA25-EA34568E25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31466" name="Picture 10">
            <a:extLst>
              <a:ext uri="{FF2B5EF4-FFF2-40B4-BE49-F238E27FC236}">
                <a16:creationId xmlns:a16="http://schemas.microsoft.com/office/drawing/2014/main" id="{6F9BF9DE-1BBF-49F2-8940-CCBF4176F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524000"/>
            <a:ext cx="6764337" cy="433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9ED22312-C7A7-4BE0-B4FF-599AD27D8A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1CB13C4-46E1-4F27-9A48-7258FAD1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AF166D-6842-479D-B3A6-B515237EDCD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32482" name="Rectangle 2">
            <a:extLst>
              <a:ext uri="{FF2B5EF4-FFF2-40B4-BE49-F238E27FC236}">
                <a16:creationId xmlns:a16="http://schemas.microsoft.com/office/drawing/2014/main" id="{7069854D-2C26-4761-858D-CE32C4F03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46375"/>
            <a:ext cx="7543800" cy="167322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/>
              <a:t>A router is a three-layer </a:t>
            </a:r>
            <a:br>
              <a:rPr lang="en-US" altLang="en-US" sz="3200" i="1"/>
            </a:br>
            <a:r>
              <a:rPr lang="en-US" altLang="en-US" sz="3200" i="1"/>
              <a:t>(physical, data link, and network) </a:t>
            </a:r>
            <a:br>
              <a:rPr lang="en-US" altLang="en-US" sz="3200" i="1"/>
            </a:br>
            <a:r>
              <a:rPr lang="en-US" altLang="en-US" sz="3200" i="1"/>
              <a:t>device</a:t>
            </a:r>
            <a:r>
              <a:rPr lang="en-US" altLang="en-US" sz="3600" i="1"/>
              <a:t>.</a:t>
            </a:r>
          </a:p>
        </p:txBody>
      </p:sp>
      <p:sp>
        <p:nvSpPr>
          <p:cNvPr id="532483" name="PubRRectCallout">
            <a:extLst>
              <a:ext uri="{FF2B5EF4-FFF2-40B4-BE49-F238E27FC236}">
                <a16:creationId xmlns:a16="http://schemas.microsoft.com/office/drawing/2014/main" id="{D29533BB-097F-4CD0-AAFD-F6F664C0C41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541463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2484" name="Picture 4">
            <a:extLst>
              <a:ext uri="{FF2B5EF4-FFF2-40B4-BE49-F238E27FC236}">
                <a16:creationId xmlns:a16="http://schemas.microsoft.com/office/drawing/2014/main" id="{85E8A955-F0C4-4680-A63A-51EC08983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41463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485" name="Text Box 5">
            <a:extLst>
              <a:ext uri="{FF2B5EF4-FFF2-40B4-BE49-F238E27FC236}">
                <a16:creationId xmlns:a16="http://schemas.microsoft.com/office/drawing/2014/main" id="{40B20039-DCB5-4493-BC7E-74A1A723D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93863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6A8CB6C3-7219-4E33-9C19-62F934C6DA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276E50B-FA32-4C36-938B-479820364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1D6675-0FA8-4B66-8442-0FA55FEA8BF1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4D446AFC-CD06-459C-B199-A2D3F79A6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95513"/>
            <a:ext cx="7543800" cy="23780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  <a:t>A repeater or a bridge connects segments of a LAN.</a:t>
            </a:r>
          </a:p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>
                <a:effectLst>
                  <a:outerShdw blurRad="38100" dist="38100" dir="2700000" algn="tl">
                    <a:srgbClr val="C0C0C0"/>
                  </a:outerShdw>
                </a:effectLst>
              </a:rPr>
              <a:t>A router connects independent LANs or WANs to create an internetwork (internet).</a:t>
            </a:r>
            <a:endParaRPr lang="en-US" altLang="en-US" sz="3600" i="1"/>
          </a:p>
        </p:txBody>
      </p:sp>
      <p:sp>
        <p:nvSpPr>
          <p:cNvPr id="533507" name="PubRRectCallout">
            <a:extLst>
              <a:ext uri="{FF2B5EF4-FFF2-40B4-BE49-F238E27FC236}">
                <a16:creationId xmlns:a16="http://schemas.microsoft.com/office/drawing/2014/main" id="{4C70BBD7-02D8-4823-B9E8-192119EBB5C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3508" name="Picture 4">
            <a:extLst>
              <a:ext uri="{FF2B5EF4-FFF2-40B4-BE49-F238E27FC236}">
                <a16:creationId xmlns:a16="http://schemas.microsoft.com/office/drawing/2014/main" id="{69D3B070-24FA-4A10-86BB-5DD455B4F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3509" name="Text Box 5">
            <a:extLst>
              <a:ext uri="{FF2B5EF4-FFF2-40B4-BE49-F238E27FC236}">
                <a16:creationId xmlns:a16="http://schemas.microsoft.com/office/drawing/2014/main" id="{06FE15F8-BCFC-4AF5-8276-22947B40C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C263716E-4FEE-488C-9DA2-4FB7FA2F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371CCD2C-52CA-438E-880F-E115D48E93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379F62-BC1E-4431-B4D4-EDE7D1E45F8A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35554" name="Text Box 2">
            <a:extLst>
              <a:ext uri="{FF2B5EF4-FFF2-40B4-BE49-F238E27FC236}">
                <a16:creationId xmlns:a16="http://schemas.microsoft.com/office/drawing/2014/main" id="{BB3C335E-C928-4701-8CF4-3EF668C76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3.33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Routing example</a:t>
            </a:r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9343CE89-1C2C-46F8-9681-35B06A44C1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0F37727E-41E8-4A6F-9A54-B7A387A857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57" name="Rectangle 5">
            <a:extLst>
              <a:ext uri="{FF2B5EF4-FFF2-40B4-BE49-F238E27FC236}">
                <a16:creationId xmlns:a16="http://schemas.microsoft.com/office/drawing/2014/main" id="{FA2C16B2-F592-4F45-BA0C-FF171B1633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58" name="Rectangle 6">
            <a:extLst>
              <a:ext uri="{FF2B5EF4-FFF2-40B4-BE49-F238E27FC236}">
                <a16:creationId xmlns:a16="http://schemas.microsoft.com/office/drawing/2014/main" id="{47F48F0E-7812-4D3E-BE80-B855B32546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59" name="Rectangle 7">
            <a:extLst>
              <a:ext uri="{FF2B5EF4-FFF2-40B4-BE49-F238E27FC236}">
                <a16:creationId xmlns:a16="http://schemas.microsoft.com/office/drawing/2014/main" id="{2EEDDFC5-6EDC-4E9E-B63A-DC11F2A95F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60" name="Rectangle 8">
            <a:extLst>
              <a:ext uri="{FF2B5EF4-FFF2-40B4-BE49-F238E27FC236}">
                <a16:creationId xmlns:a16="http://schemas.microsoft.com/office/drawing/2014/main" id="{09A7B554-1895-4D32-BA3D-8F0E7E0DA2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535561" name="Rectangle 9">
            <a:extLst>
              <a:ext uri="{FF2B5EF4-FFF2-40B4-BE49-F238E27FC236}">
                <a16:creationId xmlns:a16="http://schemas.microsoft.com/office/drawing/2014/main" id="{C1B188B4-6CC5-48D3-971C-2434FC4DD0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 b="0">
              <a:latin typeface="Tahoma" panose="020B0604030504040204" pitchFamily="34" charset="0"/>
            </a:endParaRPr>
          </a:p>
        </p:txBody>
      </p:sp>
      <p:pic>
        <p:nvPicPr>
          <p:cNvPr id="535562" name="Picture 10">
            <a:extLst>
              <a:ext uri="{FF2B5EF4-FFF2-40B4-BE49-F238E27FC236}">
                <a16:creationId xmlns:a16="http://schemas.microsoft.com/office/drawing/2014/main" id="{BEC72336-8E53-489B-BC1F-750A8B4B4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63675"/>
            <a:ext cx="8739188" cy="423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FFFF"/>
            </a:gs>
            <a:gs pos="100000">
              <a:srgbClr val="3366F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3546DF8B-9418-452F-A3F4-357595C354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TCP/IP Protocol Suite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7A7C4C0-FF03-455E-BC99-354FFFB9D3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1C1CA0-66CE-4A84-BBC8-A4A8C257F2A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F8B0126E-3DA6-4142-8C39-F8F689793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14650"/>
            <a:ext cx="7543800" cy="112395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200" i="1"/>
              <a:t>A router changes the physical addresses</a:t>
            </a:r>
            <a:br>
              <a:rPr lang="en-US" altLang="en-US" sz="3200" i="1"/>
            </a:br>
            <a:r>
              <a:rPr lang="en-US" altLang="en-US" sz="3200" i="1"/>
              <a:t>in a packet.</a:t>
            </a:r>
            <a:endParaRPr lang="en-US" altLang="en-US" sz="3600" i="1"/>
          </a:p>
        </p:txBody>
      </p:sp>
      <p:sp>
        <p:nvSpPr>
          <p:cNvPr id="534531" name="PubRRectCallout">
            <a:extLst>
              <a:ext uri="{FF2B5EF4-FFF2-40B4-BE49-F238E27FC236}">
                <a16:creationId xmlns:a16="http://schemas.microsoft.com/office/drawing/2014/main" id="{58483E8E-129C-4F6A-9C4F-40A4562C2BF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8200" y="1709738"/>
            <a:ext cx="2743200" cy="1143000"/>
          </a:xfrm>
          <a:custGeom>
            <a:avLst/>
            <a:gdLst>
              <a:gd name="G0" fmla="+- 0 0 0"/>
              <a:gd name="G1" fmla="+- 8607 0 0"/>
              <a:gd name="T0" fmla="*/ 10800 w 21600"/>
              <a:gd name="T1" fmla="*/ 0 h 21600"/>
              <a:gd name="T2" fmla="*/ 0 w 21600"/>
              <a:gd name="T3" fmla="*/ 8638 h 21600"/>
              <a:gd name="T4" fmla="*/ 8607 w 21600"/>
              <a:gd name="T5" fmla="*/ 21600 h 21600"/>
              <a:gd name="T6" fmla="*/ 10800 w 21600"/>
              <a:gd name="T7" fmla="*/ 17277 h 21600"/>
              <a:gd name="T8" fmla="*/ 21600 w 21600"/>
              <a:gd name="T9" fmla="*/ 8638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4532" name="Picture 4">
            <a:extLst>
              <a:ext uri="{FF2B5EF4-FFF2-40B4-BE49-F238E27FC236}">
                <a16:creationId xmlns:a16="http://schemas.microsoft.com/office/drawing/2014/main" id="{416049CD-41E4-4C9E-B40E-F16DCEE4D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9738"/>
            <a:ext cx="7826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4533" name="Text Box 5">
            <a:extLst>
              <a:ext uri="{FF2B5EF4-FFF2-40B4-BE49-F238E27FC236}">
                <a16:creationId xmlns:a16="http://schemas.microsoft.com/office/drawing/2014/main" id="{92C74993-33CD-4D72-A027-B236A1CFD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62138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600" b="0">
                <a:effectLst>
                  <a:outerShdw blurRad="38100" dist="38100" dir="2700000" algn="tl">
                    <a:srgbClr val="FFFFFF"/>
                  </a:outerShdw>
                </a:effectLst>
              </a:rPr>
              <a:t>Note: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</TotalTime>
  <Words>469</Words>
  <Application>Microsoft Office PowerPoint</Application>
  <PresentationFormat>On-screen Show (4:3)</PresentationFormat>
  <Paragraphs>73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McGrawHill-Italic</vt:lpstr>
      <vt:lpstr>Tahoma</vt:lpstr>
      <vt:lpstr>Times New Roman</vt:lpstr>
      <vt:lpstr>Wingdings</vt:lpstr>
      <vt:lpstr>Blends</vt:lpstr>
      <vt:lpstr>COMPUTER NETWORKS (BCSC 0008)</vt:lpstr>
      <vt:lpstr> Text and Reference Books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shabir ali</cp:lastModifiedBy>
  <cp:revision>111</cp:revision>
  <dcterms:created xsi:type="dcterms:W3CDTF">2000-01-15T04:50:39Z</dcterms:created>
  <dcterms:modified xsi:type="dcterms:W3CDTF">2020-11-24T06:56:26Z</dcterms:modified>
</cp:coreProperties>
</file>