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5" r:id="rId3"/>
    <p:sldId id="27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77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FD10-35F9-46FC-AA1C-DC3D754965D0}" type="datetimeFigureOut">
              <a:rPr lang="en-US" smtClean="0"/>
              <a:t>10/20/2020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1B635-DF0C-4867-819B-7BCA50709D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A75679C-4F71-4A63-8EEA-7F983B4AA587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A75679C-4F71-4A63-8EEA-7F983B4AA587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65BE0C2-B206-4CE3-92F6-AC19B72434E1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65BE0C2-B206-4CE3-92F6-AC19B72434E1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4C7DE1-B146-4F20-A5FF-CA3E9123FCEC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4C7DE1-B146-4F20-A5FF-CA3E9123FCEC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4C7B59-A9C4-40C0-9BF4-40293D2F33F2}" type="slidenum">
              <a:rPr lang="en-US"/>
              <a:pPr/>
              <a:t>13</a:t>
            </a:fld>
            <a:endParaRPr lang="en-US"/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C01E2-8D39-4AFB-8F6F-F93A2B014B15}" type="datetimeFigureOut">
              <a:rPr lang="en-US" smtClean="0"/>
              <a:pPr/>
              <a:t>10/20/2020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7712E-CF77-4A4D-A906-4C104513DB7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00400"/>
            <a:ext cx="7772400" cy="1676400"/>
          </a:xfrm>
        </p:spPr>
        <p:txBody>
          <a:bodyPr>
            <a:normAutofit/>
          </a:bodyPr>
          <a:lstStyle/>
          <a:p>
            <a:pPr algn="ctr"/>
            <a:r>
              <a:rPr lang="en-US" b="1" u="none" dirty="0" smtClean="0"/>
              <a:t>COMPUTER NETWORKS</a:t>
            </a:r>
            <a:br>
              <a:rPr lang="en-US" b="1" u="none" dirty="0" smtClean="0"/>
            </a:br>
            <a:r>
              <a:rPr lang="en-US" b="1" u="none" dirty="0" smtClean="0"/>
              <a:t>(</a:t>
            </a:r>
            <a:r>
              <a:rPr lang="en-US" b="1" dirty="0" smtClean="0"/>
              <a:t>BCSC 0008)</a:t>
            </a:r>
            <a:endParaRPr lang="en-US" b="1" u="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 smtClean="0"/>
              <a:t>1-</a:t>
            </a:r>
            <a:fld id="{99D27633-06CE-45E1-87B8-65ED130BB8BF}" type="slidenum">
              <a:rPr lang="en-US" altLang="zh-TW" smtClean="0"/>
              <a:pPr/>
              <a:t>1</a:t>
            </a:fld>
            <a:endParaRPr lang="en-US" altLang="zh-TW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</a:t>
            </a: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Dr. Shabir Ali, </a:t>
            </a:r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990600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1219200" y="4816475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Copyright</a:t>
            </a:r>
            <a:r>
              <a:rPr kumimoji="0" lang="en-US" sz="12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 content, </a:t>
            </a:r>
            <a:r>
              <a:rPr lang="en-US" sz="1200" b="1" dirty="0" smtClean="0">
                <a:latin typeface="Times New Roman"/>
                <a:ea typeface="Calibri"/>
                <a:cs typeface="Times New Roman"/>
              </a:rPr>
              <a:t>use only with the written permission of presenter mentioned</a:t>
            </a:r>
            <a:endParaRPr kumimoji="0" lang="en-US" altLang="zh-TW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3352800" y="5410200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Lecture </a:t>
            </a: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Calibri"/>
                <a:cs typeface="Times New Roman"/>
              </a:rPr>
              <a:t>21</a:t>
            </a:r>
            <a:endParaRPr kumimoji="0" lang="en-US" altLang="zh-TW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Text and Reference Books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Fourouzan B. A. (2004), “Data Communication and Networking”, 4th Edition, McGraw-Hill.</a:t>
            </a:r>
          </a:p>
          <a:p>
            <a:pPr algn="just"/>
            <a:endParaRPr lang="en-US" sz="2400" dirty="0" smtClean="0"/>
          </a:p>
          <a:p>
            <a:pPr algn="just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dirty="0" smtClean="0"/>
              <a:t>A. S. Tanenbaum (2006), “Computer Networks”, 2nd Edition, Prentice Hall India.</a:t>
            </a:r>
            <a:endParaRPr lang="en-US" sz="2800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66800" y="6356350"/>
            <a:ext cx="6781800" cy="365125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Lecture Presented by: Prof. Diwakar Bharadwaj, Mr. Saurabh Anand, Mr. Akhilesh Kumar Singh </a:t>
            </a:r>
            <a:endParaRPr lang="en-US" altLang="zh-TW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2800" dirty="0" smtClean="0"/>
              <a:t>The </a:t>
            </a:r>
            <a:r>
              <a:rPr lang="en-US" sz="2800" dirty="0" smtClean="0"/>
              <a:t>IPv4 addresses are unique and universal.</a:t>
            </a:r>
          </a:p>
          <a:p>
            <a:r>
              <a:rPr lang="en-US" sz="2800" dirty="0" smtClean="0"/>
              <a:t>An IPv4 address is 32 bits long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The </a:t>
            </a:r>
            <a:r>
              <a:rPr lang="en-US" sz="2800" dirty="0" smtClean="0"/>
              <a:t>address space of IPv4 is 2</a:t>
            </a:r>
            <a:r>
              <a:rPr lang="en-US" sz="2800" baseline="30000" dirty="0" smtClean="0"/>
              <a:t>32</a:t>
            </a:r>
            <a:r>
              <a:rPr lang="en-US" sz="2800" dirty="0" smtClean="0"/>
              <a:t> (4,294,967,296</a:t>
            </a:r>
            <a:r>
              <a:rPr lang="en-US" sz="2800" dirty="0" smtClean="0"/>
              <a:t>)</a:t>
            </a:r>
          </a:p>
          <a:p>
            <a:r>
              <a:rPr lang="en-US" sz="2800" dirty="0" smtClean="0"/>
              <a:t>32 bit address is divided into 4 octet ( also known as byte)</a:t>
            </a:r>
          </a:p>
          <a:p>
            <a:r>
              <a:rPr lang="en-US" sz="2800" dirty="0" smtClean="0"/>
              <a:t>To connect on internet each device requires a unique IP address</a:t>
            </a:r>
          </a:p>
          <a:p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214C95E-DBB8-41EB-8881-9198A9CD1B05}" type="slidenum">
              <a:rPr lang="en-US"/>
              <a:pPr/>
              <a:t>4</a:t>
            </a:fld>
            <a:endParaRPr lang="en-US"/>
          </a:p>
        </p:txBody>
      </p:sp>
      <p:pic>
        <p:nvPicPr>
          <p:cNvPr id="717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057400"/>
            <a:ext cx="7708900" cy="1420813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24000" y="3733800"/>
            <a:ext cx="5943600" cy="2362200"/>
            <a:chOff x="1200" y="1776"/>
            <a:chExt cx="3264" cy="1008"/>
          </a:xfrm>
        </p:grpSpPr>
        <p:pic>
          <p:nvPicPr>
            <p:cNvPr id="7175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00" y="1776"/>
              <a:ext cx="3264" cy="984"/>
            </a:xfrm>
            <a:prstGeom prst="rect">
              <a:avLst/>
            </a:prstGeom>
            <a:noFill/>
            <a:ln w="9525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7176" name="Rectangle 5"/>
            <p:cNvSpPr>
              <a:spLocks noChangeArrowheads="1"/>
            </p:cNvSpPr>
            <p:nvPr/>
          </p:nvSpPr>
          <p:spPr bwMode="auto">
            <a:xfrm>
              <a:off x="4368" y="2640"/>
              <a:ext cx="96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73025" tIns="36512" rIns="73025" bIns="36512" anchor="ctr"/>
            <a:lstStyle/>
            <a:p>
              <a:pPr eaLnBrk="1" hangingPunct="1"/>
              <a:endParaRPr lang="en-US"/>
            </a:p>
          </p:txBody>
        </p:sp>
      </p:grpSp>
      <p:sp>
        <p:nvSpPr>
          <p:cNvPr id="7173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219200"/>
            <a:ext cx="8458200" cy="609600"/>
          </a:xfrm>
        </p:spPr>
        <p:txBody>
          <a:bodyPr/>
          <a:lstStyle/>
          <a:p>
            <a:pPr algn="ctr" eaLnBrk="1" hangingPunct="1"/>
            <a:r>
              <a:rPr lang="en-US" sz="2800" dirty="0" smtClean="0"/>
              <a:t>IP Address as a 32-Bit Binary </a:t>
            </a:r>
            <a:r>
              <a:rPr lang="en-US" sz="2800" dirty="0" smtClean="0"/>
              <a:t>Number ( Four Octet )</a:t>
            </a:r>
            <a:endParaRPr lang="en-US" sz="2800" dirty="0" smtClean="0"/>
          </a:p>
        </p:txBody>
      </p:sp>
      <p:sp>
        <p:nvSpPr>
          <p:cNvPr id="7174" name="Rectangle 7"/>
          <p:cNvSpPr>
            <a:spLocks noChangeArrowheads="1"/>
          </p:cNvSpPr>
          <p:nvPr/>
        </p:nvSpPr>
        <p:spPr bwMode="auto">
          <a:xfrm>
            <a:off x="381000" y="1524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3600" b="1" dirty="0" smtClean="0">
                <a:latin typeface="Arial" charset="0"/>
              </a:rPr>
              <a:t>IPv4 Addressing</a:t>
            </a:r>
            <a:endParaRPr lang="en-US" sz="3600" b="1" dirty="0">
              <a:latin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847708"/>
          </a:xfrm>
        </p:spPr>
        <p:txBody>
          <a:bodyPr/>
          <a:lstStyle/>
          <a:p>
            <a:r>
              <a:rPr lang="en-US" dirty="0" smtClean="0"/>
              <a:t>Binary to DDN conversion</a:t>
            </a:r>
            <a:endParaRPr lang="en-US" dirty="0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495550"/>
            <a:ext cx="7500989" cy="243364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161956" y="1928802"/>
            <a:ext cx="88392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Change the following IPv4 addresses from binary notation to dotted-decimal notation.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10000001  00001011  00001011  11101111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11000001  10000011  00011011  11111111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11100111  11011011  10001011  01101111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11111001  10011011  11111011  00001111</a:t>
            </a:r>
          </a:p>
          <a:p>
            <a:pPr algn="just"/>
            <a: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/>
            </a:r>
            <a:b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</a:br>
            <a:endParaRPr lang="en-US" altLang="zh-TW" sz="2400" dirty="0">
              <a:latin typeface="Arial Unicode MS" pitchFamily="34" charset="-128"/>
              <a:ea typeface="新細明體" pitchFamily="18" charset="-12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0486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57765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1229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Example</a:t>
              </a:r>
              <a:r>
                <a:rPr lang="en-US" altLang="zh-TW" sz="3200" dirty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lang="en-US" altLang="zh-TW" sz="3200" dirty="0" smtClean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1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76200" y="1357298"/>
            <a:ext cx="88392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Change the following IPv4 addresses from binary notation to dotted-decimal notation.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10000001  00001011  00001011  11101111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11000001  10000011  00011011  11111111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11100111  11011011  10001011  01101111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11111001  10011011  11111011  00001111</a:t>
            </a:r>
          </a:p>
          <a:p>
            <a:pPr algn="just"/>
            <a: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/>
            </a:r>
            <a:b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</a:br>
            <a: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Solution</a:t>
            </a:r>
          </a:p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We replace each group of 8 bits with its equivalent decimal number (see Appendix B) and add dots for separation: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129.11.11.239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193.131.27.255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231.219.139.111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249.155.251.15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0486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57765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2169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Example</a:t>
              </a:r>
              <a:r>
                <a:rPr lang="en-US" altLang="zh-TW" sz="3200" dirty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lang="en-US" altLang="zh-TW" sz="3200" dirty="0" smtClean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1 Solution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161956" y="1714488"/>
            <a:ext cx="88392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Change the following IPv4 addresses from dotted-decimal notation to binary notation.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111.56.45.78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221.34.7.82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i="1" dirty="0">
                <a:latin typeface="Arial Unicode MS" pitchFamily="34" charset="-128"/>
                <a:ea typeface="新細明體" pitchFamily="18" charset="-120"/>
              </a:rPr>
              <a:t> 241.8.56.12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i="1" dirty="0">
                <a:latin typeface="Arial Unicode MS" pitchFamily="34" charset="-128"/>
                <a:ea typeface="新細明體" pitchFamily="18" charset="-120"/>
              </a:rPr>
              <a:t> 75.45.34.78</a:t>
            </a:r>
          </a:p>
          <a:p>
            <a:pPr algn="just"/>
            <a:endParaRPr lang="en-US" altLang="zh-TW" sz="2400" i="1" dirty="0">
              <a:latin typeface="Arial Unicode MS" pitchFamily="34" charset="-128"/>
              <a:ea typeface="新細明體" pitchFamily="18" charset="-12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2534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59813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1229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Example</a:t>
              </a:r>
              <a:r>
                <a:rPr lang="en-US" altLang="zh-TW" sz="3200" dirty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lang="en-US" altLang="zh-TW" sz="3200" dirty="0" smtClean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2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161956" y="1500174"/>
            <a:ext cx="883920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Change the following IPv4 addresses from dotted-decimal notation to binary notation.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111.56.45.78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221.34.7.82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i="1" dirty="0">
                <a:latin typeface="Arial Unicode MS" pitchFamily="34" charset="-128"/>
                <a:ea typeface="新細明體" pitchFamily="18" charset="-120"/>
              </a:rPr>
              <a:t> 241.8.56.12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i="1" dirty="0">
                <a:latin typeface="Arial Unicode MS" pitchFamily="34" charset="-128"/>
                <a:ea typeface="新細明體" pitchFamily="18" charset="-120"/>
              </a:rPr>
              <a:t> 75.45.34.78</a:t>
            </a:r>
          </a:p>
          <a:p>
            <a:pPr algn="just"/>
            <a:endParaRPr lang="en-US" altLang="zh-TW" sz="2400" i="1" dirty="0">
              <a:latin typeface="Arial Unicode MS" pitchFamily="34" charset="-128"/>
              <a:ea typeface="新細明體" pitchFamily="18" charset="-120"/>
            </a:endParaRPr>
          </a:p>
          <a:p>
            <a:pPr algn="just"/>
            <a: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Solution</a:t>
            </a:r>
          </a:p>
          <a:p>
            <a:pPr algn="just"/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We replace each decimal number with its binary equivalent: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01101111  00111000  00101101  01001110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11011101  00100010  00000111  01010010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11110001  00001000  00111000  00001100</a:t>
            </a:r>
          </a:p>
          <a:p>
            <a:pPr algn="just"/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01001011  00101101  00100010  01001110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2534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59813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2169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Example</a:t>
              </a:r>
              <a:r>
                <a:rPr lang="en-US" altLang="zh-TW" sz="3200" dirty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lang="en-US" altLang="zh-TW" sz="3200" dirty="0" smtClean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2 Solution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76200" y="1606566"/>
            <a:ext cx="8839200" cy="410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tabLst>
                <a:tab pos="342900" algn="l"/>
              </a:tabLst>
            </a:pP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Find the error, if any, in the following IPv4 addresses: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111.56.045.78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221.34.7.8.20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75.45.301.14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11100010.23.14.67</a:t>
            </a:r>
          </a:p>
          <a:p>
            <a:pPr algn="just">
              <a:tabLst>
                <a:tab pos="342900" algn="l"/>
              </a:tabLst>
            </a:pPr>
            <a:endParaRPr lang="en-US" altLang="zh-TW" sz="2400" dirty="0">
              <a:latin typeface="Arial Unicode MS" pitchFamily="34" charset="-128"/>
              <a:ea typeface="新細明體" pitchFamily="18" charset="-120"/>
            </a:endParaRPr>
          </a:p>
          <a:p>
            <a:pPr algn="just">
              <a:tabLst>
                <a:tab pos="342900" algn="l"/>
              </a:tabLst>
            </a:pPr>
            <a:r>
              <a:rPr lang="en-US" altLang="zh-TW" sz="2400" i="1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Solution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a.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There should be no leading zeroes (045).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b.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We may not have more than 4 bytes in an IPv4 address.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c.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 Each byte should be less than or equal to 255.</a:t>
            </a:r>
          </a:p>
          <a:p>
            <a:pPr algn="just">
              <a:tabLst>
                <a:tab pos="342900" algn="l"/>
              </a:tabLst>
            </a:pPr>
            <a:r>
              <a:rPr lang="en-US" altLang="zh-TW" sz="2400" dirty="0">
                <a:solidFill>
                  <a:schemeClr val="hlink"/>
                </a:solidFill>
                <a:latin typeface="Arial Unicode MS" pitchFamily="34" charset="-128"/>
                <a:ea typeface="新細明體" pitchFamily="18" charset="-120"/>
              </a:rPr>
              <a:t>d.	</a:t>
            </a:r>
            <a:r>
              <a:rPr lang="en-US" altLang="zh-TW" sz="2400" dirty="0">
                <a:latin typeface="Arial Unicode MS" pitchFamily="34" charset="-128"/>
                <a:ea typeface="新細明體" pitchFamily="18" charset="-120"/>
              </a:rPr>
              <a:t>A mixture of binary notation and dotted-decimal notation.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4582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61861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1229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Example</a:t>
              </a:r>
              <a:r>
                <a:rPr lang="en-US" altLang="zh-TW" sz="3200" dirty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 </a:t>
              </a:r>
              <a:r>
                <a:rPr lang="en-US" altLang="zh-TW" sz="3200" dirty="0" smtClean="0">
                  <a:solidFill>
                    <a:schemeClr val="bg1"/>
                  </a:solidFill>
                  <a:latin typeface="Times New Roman" pitchFamily="18" charset="0"/>
                  <a:ea typeface="新細明體" pitchFamily="18" charset="-120"/>
                </a:rPr>
                <a:t>3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76200" y="1606566"/>
            <a:ext cx="8839200" cy="22159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tabLst>
                <a:tab pos="342900" algn="l"/>
              </a:tabLst>
            </a:pPr>
            <a:r>
              <a:rPr lang="en-US" altLang="zh-TW" sz="2400" dirty="0" smtClean="0">
                <a:latin typeface="Arial Unicode MS" pitchFamily="34" charset="-128"/>
                <a:ea typeface="新細明體" pitchFamily="18" charset="-120"/>
              </a:rPr>
              <a:t>IPv4 addresses can be classified on 2 ways:</a:t>
            </a:r>
          </a:p>
          <a:p>
            <a:pPr algn="just">
              <a:tabLst>
                <a:tab pos="342900" algn="l"/>
              </a:tabLst>
            </a:pPr>
            <a:endParaRPr lang="en-US" altLang="zh-TW" dirty="0">
              <a:latin typeface="Arial Unicode MS" pitchFamily="34" charset="-128"/>
              <a:ea typeface="新細明體" pitchFamily="18" charset="-120"/>
            </a:endParaRPr>
          </a:p>
          <a:p>
            <a:pPr algn="just">
              <a:buFont typeface="Arial" pitchFamily="34" charset="0"/>
              <a:buChar char="•"/>
              <a:tabLst>
                <a:tab pos="342900" algn="l"/>
              </a:tabLst>
            </a:pPr>
            <a:r>
              <a:rPr lang="en-US" altLang="zh-TW" sz="2400" dirty="0" smtClean="0">
                <a:latin typeface="Arial Unicode MS" pitchFamily="34" charset="-128"/>
                <a:ea typeface="新細明體" pitchFamily="18" charset="-120"/>
              </a:rPr>
              <a:t>	Classful Addressing</a:t>
            </a:r>
          </a:p>
          <a:p>
            <a:pPr algn="just">
              <a:buFont typeface="Arial" pitchFamily="34" charset="0"/>
              <a:buChar char="•"/>
              <a:tabLst>
                <a:tab pos="342900" algn="l"/>
              </a:tabLst>
            </a:pPr>
            <a:r>
              <a:rPr lang="en-US" altLang="zh-TW" dirty="0">
                <a:latin typeface="Arial Unicode MS" pitchFamily="34" charset="-128"/>
                <a:ea typeface="新細明體" pitchFamily="18" charset="-120"/>
              </a:rPr>
              <a:t>	</a:t>
            </a:r>
            <a:r>
              <a:rPr lang="en-US" altLang="zh-TW" sz="2400" dirty="0" smtClean="0">
                <a:latin typeface="Arial Unicode MS" pitchFamily="34" charset="-128"/>
                <a:ea typeface="新細明體" pitchFamily="18" charset="-120"/>
              </a:rPr>
              <a:t>Classless Addressing</a:t>
            </a:r>
            <a:endParaRPr lang="en-US" altLang="zh-TW" dirty="0" smtClean="0">
              <a:latin typeface="Arial Unicode MS" pitchFamily="34" charset="-128"/>
              <a:ea typeface="新細明體" pitchFamily="18" charset="-120"/>
            </a:endParaRPr>
          </a:p>
          <a:p>
            <a:pPr algn="just">
              <a:tabLst>
                <a:tab pos="342900" algn="l"/>
              </a:tabLst>
            </a:pPr>
            <a:endParaRPr lang="en-US" altLang="zh-TW" sz="2400" dirty="0" smtClean="0">
              <a:latin typeface="Arial Unicode MS" pitchFamily="34" charset="-128"/>
              <a:ea typeface="新細明體" pitchFamily="18" charset="-120"/>
            </a:endParaRPr>
          </a:p>
          <a:p>
            <a:pPr algn="just">
              <a:tabLst>
                <a:tab pos="342900" algn="l"/>
              </a:tabLst>
            </a:pPr>
            <a:endParaRPr lang="en-US" altLang="zh-TW" sz="2400" dirty="0">
              <a:latin typeface="Arial Unicode MS" pitchFamily="34" charset="-128"/>
              <a:ea typeface="新細明體" pitchFamily="18" charset="-12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0"/>
            <a:ext cx="9144000" cy="609600"/>
            <a:chOff x="0" y="2448"/>
            <a:chExt cx="5760" cy="384"/>
          </a:xfrm>
        </p:grpSpPr>
        <p:sp>
          <p:nvSpPr>
            <p:cNvPr id="24582" name="Rectangle 4"/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761861" name="Text Box 5"/>
            <p:cNvSpPr txBox="1">
              <a:spLocks noChangeArrowheads="1"/>
            </p:cNvSpPr>
            <p:nvPr/>
          </p:nvSpPr>
          <p:spPr bwMode="auto">
            <a:xfrm>
              <a:off x="0" y="2448"/>
              <a:ext cx="3320" cy="368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32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新細明體" pitchFamily="18" charset="-120"/>
                </a:rPr>
                <a:t>IPv4 Addressing Classification</a:t>
              </a:r>
              <a:endParaRPr lang="en-US" altLang="zh-TW" sz="3200" i="1" dirty="0">
                <a:solidFill>
                  <a:schemeClr val="bg1"/>
                </a:solidFill>
                <a:latin typeface="Times New Roman" pitchFamily="18" charset="0"/>
                <a:ea typeface="新細明體" pitchFamily="18" charset="-120"/>
              </a:endParaRPr>
            </a:p>
          </p:txBody>
        </p:sp>
      </p:grp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495300" y="4875233"/>
            <a:ext cx="8291542" cy="1200329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aseline="0" dirty="0"/>
              <a:t>In classful addressing, the address space is divided into five classes:</a:t>
            </a:r>
          </a:p>
          <a:p>
            <a:pPr algn="ctr"/>
            <a:r>
              <a:rPr lang="en-US" baseline="0" dirty="0"/>
              <a:t>A, B, C, D, and E.</a:t>
            </a:r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2000240"/>
            <a:ext cx="5286412" cy="257176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Classful</a:t>
            </a:r>
            <a:r>
              <a:rPr lang="en-US" dirty="0" smtClean="0"/>
              <a:t> Addressing</a:t>
            </a:r>
            <a:endParaRPr lang="en-US" dirty="0"/>
          </a:p>
        </p:txBody>
      </p:sp>
      <p:sp>
        <p:nvSpPr>
          <p:cNvPr id="2048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 classful addressing, the address space is divided into five classes: A, B, C, D, and E.</a:t>
            </a:r>
          </a:p>
          <a:p>
            <a:endParaRPr 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71D93BCE-1F93-4A5F-B175-DCBEE4DBCFF4}" type="slidenum">
              <a:rPr lang="en-US"/>
              <a:pPr/>
              <a:t>12</a:t>
            </a:fld>
            <a:endParaRPr lang="en-US"/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505200"/>
            <a:ext cx="7159625" cy="248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19.</a:t>
            </a:r>
            <a:fld id="{71A531F7-44D2-4D3C-A628-000ABF461D9A}" type="slidenum">
              <a:rPr lang="en-US"/>
              <a:pPr/>
              <a:t>13</a:t>
            </a:fld>
            <a:endParaRPr lang="en-US"/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1143000" y="1143000"/>
            <a:ext cx="7772400" cy="2227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latin typeface="Times New Roman" pitchFamily="18" charset="0"/>
              </a:rPr>
              <a:t>Find the class of each address.</a:t>
            </a:r>
          </a:p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>
                <a:latin typeface="Times New Roman" pitchFamily="18" charset="0"/>
              </a:rPr>
              <a:t>   </a:t>
            </a:r>
            <a:r>
              <a:rPr lang="en-US" sz="2800" u="sng" baseline="0">
                <a:solidFill>
                  <a:srgbClr val="009900"/>
                </a:solidFill>
                <a:latin typeface="Times New Roman" pitchFamily="18" charset="0"/>
              </a:rPr>
              <a:t>0</a:t>
            </a:r>
            <a:r>
              <a:rPr lang="en-US" sz="2800" b="0" baseline="0">
                <a:latin typeface="Times New Roman" pitchFamily="18" charset="0"/>
              </a:rPr>
              <a:t>0000001 00001011 00001011 11101111</a:t>
            </a:r>
          </a:p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>
                <a:latin typeface="Times New Roman" pitchFamily="18" charset="0"/>
              </a:rPr>
              <a:t>   </a:t>
            </a:r>
            <a:r>
              <a:rPr lang="en-US" sz="2800" u="sng" baseline="0">
                <a:solidFill>
                  <a:srgbClr val="009900"/>
                </a:solidFill>
                <a:latin typeface="Times New Roman" pitchFamily="18" charset="0"/>
              </a:rPr>
              <a:t>110</a:t>
            </a:r>
            <a:r>
              <a:rPr lang="en-US" sz="2800" b="0" baseline="0">
                <a:latin typeface="Times New Roman" pitchFamily="18" charset="0"/>
              </a:rPr>
              <a:t>00001 10000011 00011011 11111111</a:t>
            </a:r>
          </a:p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>
                <a:latin typeface="Times New Roman" pitchFamily="18" charset="0"/>
              </a:rPr>
              <a:t>   </a:t>
            </a:r>
            <a:r>
              <a:rPr lang="en-US" sz="2800" u="sng" baseline="0">
                <a:solidFill>
                  <a:srgbClr val="009900"/>
                </a:solidFill>
                <a:latin typeface="Times New Roman" pitchFamily="18" charset="0"/>
              </a:rPr>
              <a:t>14</a:t>
            </a:r>
            <a:r>
              <a:rPr lang="en-US" sz="2800" b="0" baseline="0">
                <a:latin typeface="Times New Roman" pitchFamily="18" charset="0"/>
              </a:rPr>
              <a:t>.23.120.8</a:t>
            </a:r>
          </a:p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d.</a:t>
            </a:r>
            <a:r>
              <a:rPr lang="en-US" sz="2800" i="1" baseline="0">
                <a:latin typeface="Times New Roman" pitchFamily="18" charset="0"/>
              </a:rPr>
              <a:t>   </a:t>
            </a:r>
            <a:r>
              <a:rPr lang="en-US" sz="2800" u="sng" baseline="0">
                <a:solidFill>
                  <a:srgbClr val="009900"/>
                </a:solidFill>
                <a:latin typeface="Times New Roman" pitchFamily="18" charset="0"/>
              </a:rPr>
              <a:t>252</a:t>
            </a:r>
            <a:r>
              <a:rPr lang="en-US" sz="2800" b="0" baseline="0">
                <a:latin typeface="Times New Roman" pitchFamily="18" charset="0"/>
              </a:rPr>
              <a:t>.5.15.111</a:t>
            </a:r>
          </a:p>
        </p:txBody>
      </p:sp>
      <p:sp>
        <p:nvSpPr>
          <p:cNvPr id="2151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>
                <a:solidFill>
                  <a:schemeClr val="hlink"/>
                </a:solidFill>
                <a:latin typeface="Times New Roman" pitchFamily="18" charset="0"/>
              </a:rPr>
              <a:t>Example 19.4</a:t>
            </a:r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1143000" y="3657600"/>
            <a:ext cx="7696200" cy="31083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1" baseline="0">
                <a:latin typeface="Times New Roman" pitchFamily="18" charset="0"/>
              </a:rPr>
              <a:t>Solution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>
                <a:latin typeface="Times New Roman" pitchFamily="18" charset="0"/>
              </a:rPr>
              <a:t> The first bit is 0. This is a class A address.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>
                <a:latin typeface="Times New Roman" pitchFamily="18" charset="0"/>
              </a:rPr>
              <a:t> The first 2 bits are 1; the third bit is 0. This is a class C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     address.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>
                <a:latin typeface="Times New Roman" pitchFamily="18" charset="0"/>
              </a:rPr>
              <a:t> The first byte is 14; the class is A.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d.</a:t>
            </a:r>
            <a:r>
              <a:rPr lang="en-US" sz="2800" i="1" baseline="0">
                <a:latin typeface="Times New Roman" pitchFamily="18" charset="0"/>
              </a:rPr>
              <a:t> The first byte is 252; the class is 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7239000" cy="2590799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Thank You</a:t>
            </a:r>
          </a:p>
          <a:p>
            <a:r>
              <a:rPr lang="en-US" sz="3200" b="1" dirty="0" smtClean="0"/>
              <a:t>Discussion &amp; Doubt session will be in lecture.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8600" y="4419600"/>
            <a:ext cx="4724400" cy="16764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Important terms to keep in mind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 smtClean="0"/>
              <a:t>IP Address</a:t>
            </a:r>
            <a:endParaRPr lang="en-US" sz="2600" b="1" u="sng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 smtClean="0"/>
              <a:t>IPv4 Binary and DDN notation</a:t>
            </a:r>
            <a:endParaRPr lang="en-US" sz="2600" b="1" u="sng" dirty="0" smtClean="0"/>
          </a:p>
          <a:p>
            <a:pPr marL="857250" lvl="1" indent="-457200">
              <a:buFont typeface="+mj-lt"/>
              <a:buAutoNum type="arabicPeriod"/>
            </a:pPr>
            <a:r>
              <a:rPr lang="en-US" sz="2600" b="1" u="sng" dirty="0" smtClean="0"/>
              <a:t>Classful Addressing</a:t>
            </a:r>
            <a:endParaRPr lang="en-US" sz="2600" b="1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593</Words>
  <Application>Microsoft Office PowerPoint</Application>
  <PresentationFormat>On-screen Show (4:3)</PresentationFormat>
  <Paragraphs>109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COMPUTER NETWORKS (BCSC 0008)</vt:lpstr>
      <vt:lpstr> Text and Reference Books </vt:lpstr>
      <vt:lpstr>Basics</vt:lpstr>
      <vt:lpstr>IP Address as a 32-Bit Binary Number ( Four Octet )</vt:lpstr>
      <vt:lpstr>Binary to DDN conversion</vt:lpstr>
      <vt:lpstr>Slide 6</vt:lpstr>
      <vt:lpstr>Slide 7</vt:lpstr>
      <vt:lpstr>Slide 8</vt:lpstr>
      <vt:lpstr>Slide 9</vt:lpstr>
      <vt:lpstr>Slide 10</vt:lpstr>
      <vt:lpstr>Slide 11</vt:lpstr>
      <vt:lpstr>Classful Addressing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Windows User</dc:creator>
  <cp:lastModifiedBy>Windows User</cp:lastModifiedBy>
  <cp:revision>5</cp:revision>
  <dcterms:created xsi:type="dcterms:W3CDTF">2020-06-29T04:13:42Z</dcterms:created>
  <dcterms:modified xsi:type="dcterms:W3CDTF">2020-10-20T17:45:53Z</dcterms:modified>
</cp:coreProperties>
</file>