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AFD10-35F9-46FC-AA1C-DC3D754965D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1B635-DF0C-4867-819B-7BCA50709D8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040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b="1" u="none" dirty="0" smtClean="0"/>
              <a:t>COMPUTER NETWORKS</a:t>
            </a:r>
            <a:br>
              <a:rPr lang="en-US" b="1" u="none" dirty="0" smtClean="0"/>
            </a:br>
            <a:r>
              <a:rPr lang="en-US" b="1" u="none" dirty="0" smtClean="0"/>
              <a:t>(</a:t>
            </a:r>
            <a:r>
              <a:rPr lang="en-US" b="1" dirty="0" smtClean="0"/>
              <a:t>BCSC 0008)</a:t>
            </a:r>
            <a:endParaRPr lang="en-US" b="1" u="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 smtClean="0"/>
              <a:t>1-</a:t>
            </a:r>
            <a:fld id="{99D27633-06CE-45E1-87B8-65ED130BB8BF}" type="slidenum">
              <a:rPr lang="en-US" altLang="zh-TW" smtClean="0"/>
              <a:pPr/>
              <a:t>1</a:t>
            </a:fld>
            <a:endParaRPr lang="en-US" altLang="zh-TW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6781800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Dr. Shabir Ali,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990600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1219200" y="4816475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Copyright</a:t>
            </a:r>
            <a:r>
              <a:rPr kumimoji="0" lang="en-US" sz="12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 content, </a:t>
            </a:r>
            <a:r>
              <a:rPr lang="en-US" sz="1200" b="1" dirty="0" smtClean="0">
                <a:latin typeface="Times New Roman"/>
                <a:ea typeface="Calibri"/>
                <a:cs typeface="Times New Roman"/>
              </a:rPr>
              <a:t>use only with the written permission of presenter mentioned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3352800" y="5410200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Lecture 21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Text and Reference Books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 smtClean="0"/>
              <a:t>Fourouzan B. A. (2004), “Data Communication and Networking”, 4th Edition, McGraw-Hill.</a:t>
            </a:r>
          </a:p>
          <a:p>
            <a:pPr algn="just"/>
            <a:endParaRPr lang="en-US" sz="2400" dirty="0" smtClean="0"/>
          </a:p>
          <a:p>
            <a:pPr algn="just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 smtClean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 smtClean="0"/>
              <a:t>A. S. Tanenbaum (2006), “Computer Networks”, 2nd Edition, Prentice Hall India.</a:t>
            </a:r>
            <a:endParaRPr lang="en-US" sz="2800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6781800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Mr. Saurabh Anand,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6F183E2-37EE-474B-83AC-03427B78BF9A}" type="slidenum">
              <a:rPr lang="en-US"/>
              <a:pPr/>
              <a:t>3</a:t>
            </a:fld>
            <a:endParaRPr lang="en-US"/>
          </a:p>
        </p:txBody>
      </p:sp>
      <p:sp>
        <p:nvSpPr>
          <p:cNvPr id="56013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800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itchFamily="18" charset="0"/>
              </a:rPr>
              <a:t>Figure 14.6</a:t>
            </a:r>
            <a:r>
              <a:rPr lang="en-US" altLang="en-US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>
                <a:latin typeface="Times New Roman" pitchFamily="18" charset="0"/>
              </a:rPr>
              <a:t>Two-node instability – what can happen with distance vector routing</a:t>
            </a:r>
          </a:p>
        </p:txBody>
      </p:sp>
      <p:sp>
        <p:nvSpPr>
          <p:cNvPr id="5601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01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01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01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01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01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01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560139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762000"/>
            <a:ext cx="5959475" cy="544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60140" name="Text Box 12"/>
          <p:cNvSpPr txBox="1">
            <a:spLocks noChangeArrowheads="1"/>
          </p:cNvSpPr>
          <p:nvPr/>
        </p:nvSpPr>
        <p:spPr bwMode="auto">
          <a:xfrm>
            <a:off x="6232525" y="717550"/>
            <a:ext cx="2838450" cy="585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Both A and B know</a:t>
            </a:r>
          </a:p>
          <a:p>
            <a:r>
              <a:rPr lang="en-US"/>
              <a:t>where X is.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Link between A and X</a:t>
            </a:r>
          </a:p>
          <a:p>
            <a:r>
              <a:rPr lang="en-US"/>
              <a:t>fails.  A updates its</a:t>
            </a:r>
          </a:p>
          <a:p>
            <a:r>
              <a:rPr lang="en-US"/>
              <a:t>table immediately.</a:t>
            </a:r>
          </a:p>
          <a:p>
            <a:endParaRPr lang="en-US"/>
          </a:p>
          <a:p>
            <a:r>
              <a:rPr lang="en-US"/>
              <a:t>But before A can tell B,</a:t>
            </a:r>
          </a:p>
          <a:p>
            <a:r>
              <a:rPr lang="en-US"/>
              <a:t>B sends its info to A!</a:t>
            </a:r>
          </a:p>
          <a:p>
            <a:endParaRPr lang="en-US"/>
          </a:p>
          <a:p>
            <a:r>
              <a:rPr lang="en-US"/>
              <a:t>A, using B’s info, up-</a:t>
            </a:r>
          </a:p>
          <a:p>
            <a:r>
              <a:rPr lang="en-US"/>
              <a:t>dates its table (error!).</a:t>
            </a:r>
          </a:p>
          <a:p>
            <a:r>
              <a:rPr lang="en-US"/>
              <a:t>Then A send its table</a:t>
            </a:r>
          </a:p>
          <a:p>
            <a:r>
              <a:rPr lang="en-US"/>
              <a:t>to B and B updates its</a:t>
            </a:r>
          </a:p>
          <a:p>
            <a:r>
              <a:rPr lang="en-US"/>
              <a:t>table (more error).</a:t>
            </a:r>
          </a:p>
          <a:p>
            <a:endParaRPr lang="en-US"/>
          </a:p>
          <a:p>
            <a:r>
              <a:rPr lang="en-US"/>
              <a:t>Both routers keep up-</a:t>
            </a:r>
          </a:p>
          <a:p>
            <a:r>
              <a:rPr lang="en-US"/>
              <a:t>dating tables, event-</a:t>
            </a:r>
          </a:p>
          <a:p>
            <a:r>
              <a:rPr lang="en-US"/>
              <a:t>ually hitting infinity. In</a:t>
            </a:r>
          </a:p>
          <a:p>
            <a:r>
              <a:rPr lang="en-US"/>
              <a:t>the meantime, chaos!</a:t>
            </a:r>
          </a:p>
        </p:txBody>
      </p:sp>
    </p:spTree>
    <p:extLst>
      <p:ext uri="{BB962C8B-B14F-4D97-AF65-F5344CB8AC3E}">
        <p14:creationId xmlns:p14="http://schemas.microsoft.com/office/powerpoint/2010/main" val="239267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435028-1395-486A-922C-B55AA2470C6A}" type="slidenum">
              <a:rPr lang="en-US"/>
              <a:pPr/>
              <a:t>4</a:t>
            </a:fld>
            <a:endParaRPr lang="en-US"/>
          </a:p>
        </p:txBody>
      </p:sp>
      <p:sp>
        <p:nvSpPr>
          <p:cNvPr id="561154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800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itchFamily="18" charset="0"/>
              </a:rPr>
              <a:t>Figure 14.6</a:t>
            </a:r>
            <a:r>
              <a:rPr lang="en-US" altLang="en-US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>
                <a:latin typeface="Times New Roman" pitchFamily="18" charset="0"/>
              </a:rPr>
              <a:t>Two-node instability – what can happen with distance vector routing</a:t>
            </a:r>
          </a:p>
        </p:txBody>
      </p:sp>
      <p:sp>
        <p:nvSpPr>
          <p:cNvPr id="56115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115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115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115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115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116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116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61163" name="Text Box 11"/>
          <p:cNvSpPr txBox="1">
            <a:spLocks noChangeArrowheads="1"/>
          </p:cNvSpPr>
          <p:nvPr/>
        </p:nvSpPr>
        <p:spPr bwMode="auto">
          <a:xfrm>
            <a:off x="1447800" y="762000"/>
            <a:ext cx="7127875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/>
              <a:t>Possible Solutions to two-node instability:</a:t>
            </a:r>
          </a:p>
          <a:p>
            <a:pPr marL="457200" indent="-457200"/>
            <a:endParaRPr lang="en-US"/>
          </a:p>
          <a:p>
            <a:pPr marL="457200" indent="-457200"/>
            <a:r>
              <a:rPr lang="en-US"/>
              <a:t>1. Define infinity to be a much smaller value, such as 100.</a:t>
            </a:r>
          </a:p>
          <a:p>
            <a:pPr marL="457200" indent="-457200"/>
            <a:r>
              <a:rPr lang="en-US"/>
              <a:t>Then it doesn’t take too long to become stable.  But now</a:t>
            </a:r>
          </a:p>
          <a:p>
            <a:pPr marL="457200" indent="-457200"/>
            <a:r>
              <a:rPr lang="en-US"/>
              <a:t>you can’t use distance vector routing in large networks.</a:t>
            </a:r>
          </a:p>
          <a:p>
            <a:pPr marL="457200" indent="-457200"/>
            <a:endParaRPr lang="en-US"/>
          </a:p>
          <a:p>
            <a:pPr marL="457200" indent="-457200"/>
            <a:r>
              <a:rPr lang="en-US"/>
              <a:t>2. Split Horizon – instead of flooding entire table to each</a:t>
            </a:r>
          </a:p>
          <a:p>
            <a:pPr marL="457200" indent="-457200"/>
            <a:r>
              <a:rPr lang="en-US"/>
              <a:t>node, only part of its table is sent.  More precisely, if node</a:t>
            </a:r>
          </a:p>
          <a:p>
            <a:pPr marL="457200" indent="-457200"/>
            <a:r>
              <a:rPr lang="en-US"/>
              <a:t>B thinks that the optimum router to reach X is via A, then</a:t>
            </a:r>
          </a:p>
          <a:p>
            <a:pPr marL="457200" indent="-457200"/>
            <a:r>
              <a:rPr lang="en-US"/>
              <a:t>B does not need to advertise this piece of info to A – the</a:t>
            </a:r>
          </a:p>
          <a:p>
            <a:pPr marL="457200" indent="-457200"/>
            <a:r>
              <a:rPr lang="en-US"/>
              <a:t>info has already come from A.</a:t>
            </a:r>
          </a:p>
          <a:p>
            <a:pPr marL="457200" indent="-457200"/>
            <a:endParaRPr lang="en-US"/>
          </a:p>
          <a:p>
            <a:pPr marL="457200" indent="-457200"/>
            <a:r>
              <a:rPr lang="en-US"/>
              <a:t>3. Split Horizon and Poison Reverse – Normally, the distance</a:t>
            </a:r>
          </a:p>
          <a:p>
            <a:pPr marL="457200" indent="-457200"/>
            <a:r>
              <a:rPr lang="en-US"/>
              <a:t>vector protocol uses a timer.  If there is no news about a</a:t>
            </a:r>
          </a:p>
          <a:p>
            <a:pPr marL="457200" indent="-457200"/>
            <a:r>
              <a:rPr lang="en-US"/>
              <a:t>route, the node deletes the route from its table.  So when A</a:t>
            </a:r>
          </a:p>
          <a:p>
            <a:pPr marL="457200" indent="-457200"/>
            <a:r>
              <a:rPr lang="en-US"/>
              <a:t>never hears from B about the route to X, it deletes it.</a:t>
            </a:r>
          </a:p>
          <a:p>
            <a:pPr marL="457200" indent="-457200"/>
            <a:r>
              <a:rPr lang="en-US"/>
              <a:t>Instead, Node B still advertises the value for X, but if the</a:t>
            </a:r>
          </a:p>
          <a:p>
            <a:pPr marL="457200" indent="-457200"/>
            <a:r>
              <a:rPr lang="en-US"/>
              <a:t>source of info is A, it replaces the distance with infinity, </a:t>
            </a:r>
          </a:p>
          <a:p>
            <a:pPr marL="457200" indent="-457200"/>
            <a:r>
              <a:rPr lang="en-US"/>
              <a:t>saying “Do not use this value; what I know about this route</a:t>
            </a:r>
          </a:p>
          <a:p>
            <a:pPr marL="457200" indent="-457200"/>
            <a:r>
              <a:rPr lang="en-US"/>
              <a:t>comes from you.”</a:t>
            </a:r>
          </a:p>
        </p:txBody>
      </p:sp>
    </p:spTree>
    <p:extLst>
      <p:ext uri="{BB962C8B-B14F-4D97-AF65-F5344CB8AC3E}">
        <p14:creationId xmlns:p14="http://schemas.microsoft.com/office/powerpoint/2010/main" val="205428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A7F6D6-08B1-4827-952B-A0EC6BFB23D6}" type="slidenum">
              <a:rPr lang="en-US"/>
              <a:pPr/>
              <a:t>5</a:t>
            </a:fld>
            <a:endParaRPr lang="en-US"/>
          </a:p>
        </p:txBody>
      </p:sp>
      <p:sp>
        <p:nvSpPr>
          <p:cNvPr id="486402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itchFamily="18" charset="0"/>
              </a:rPr>
              <a:t>Figure 14.7</a:t>
            </a:r>
            <a:r>
              <a:rPr lang="en-US" altLang="en-US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>
                <a:latin typeface="Times New Roman" pitchFamily="18" charset="0"/>
              </a:rPr>
              <a:t>Three-node instability – no solutions here!</a:t>
            </a:r>
          </a:p>
        </p:txBody>
      </p:sp>
      <p:sp>
        <p:nvSpPr>
          <p:cNvPr id="48640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86415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3250" y="749300"/>
            <a:ext cx="4772025" cy="565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6477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9F67D2-148D-4612-AB5C-33459237684F}" type="slidenum">
              <a:rPr lang="en-US"/>
              <a:pPr/>
              <a:t>6</a:t>
            </a:fld>
            <a:endParaRPr lang="en-US"/>
          </a:p>
        </p:txBody>
      </p:sp>
      <p:grpSp>
        <p:nvGrpSpPr>
          <p:cNvPr id="475138" name="Group 2"/>
          <p:cNvGrpSpPr>
            <a:grpSpLocks/>
          </p:cNvGrpSpPr>
          <p:nvPr/>
        </p:nvGrpSpPr>
        <p:grpSpPr bwMode="auto">
          <a:xfrm>
            <a:off x="0" y="0"/>
            <a:ext cx="8686800" cy="6400800"/>
            <a:chOff x="0" y="96"/>
            <a:chExt cx="5472" cy="3840"/>
          </a:xfrm>
        </p:grpSpPr>
        <p:sp>
          <p:nvSpPr>
            <p:cNvPr id="475139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5140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G4 w 1000"/>
                <a:gd name="T3" fmla="*/ G1 h 1000"/>
              </a:gdLst>
              <a:ahLst/>
              <a:cxnLst>
                <a:cxn ang="0">
                  <a:pos x="0" y="0"/>
                </a:cxn>
                <a:cxn ang="0">
                  <a:pos x="6169" y="0"/>
                </a:cxn>
                <a:cxn ang="0">
                  <a:pos x="6670" y="500"/>
                </a:cxn>
                <a:cxn ang="0">
                  <a:pos x="6170" y="1000"/>
                </a:cxn>
                <a:cxn ang="0">
                  <a:pos x="0" y="1000"/>
                </a:cxn>
              </a:cxnLst>
              <a:rect l="T0" t="T1" r="T2" b="T3"/>
              <a:pathLst>
                <a:path w="7000" h="1000">
                  <a:moveTo>
                    <a:pt x="0" y="0"/>
                  </a:moveTo>
                  <a:lnTo>
                    <a:pt x="6169" y="0"/>
                  </a:lnTo>
                  <a:cubicBezTo>
                    <a:pt x="6446" y="0"/>
                    <a:pt x="6670" y="223"/>
                    <a:pt x="6670" y="500"/>
                  </a:cubicBezTo>
                  <a:cubicBezTo>
                    <a:pt x="6670" y="776"/>
                    <a:pt x="6446" y="999"/>
                    <a:pt x="6170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5141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5142" name="Text Box 6"/>
          <p:cNvSpPr txBox="1">
            <a:spLocks noChangeArrowheads="1"/>
          </p:cNvSpPr>
          <p:nvPr/>
        </p:nvSpPr>
        <p:spPr bwMode="auto">
          <a:xfrm>
            <a:off x="228600" y="354013"/>
            <a:ext cx="2216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Arial" pitchFamily="34" charset="0"/>
              </a:rPr>
              <a:t>14.3   RIP</a:t>
            </a:r>
          </a:p>
        </p:txBody>
      </p:sp>
      <p:sp>
        <p:nvSpPr>
          <p:cNvPr id="475143" name="Rectangle 7"/>
          <p:cNvSpPr>
            <a:spLocks noChangeArrowheads="1"/>
          </p:cNvSpPr>
          <p:nvPr/>
        </p:nvSpPr>
        <p:spPr bwMode="auto">
          <a:xfrm>
            <a:off x="533400" y="1371600"/>
            <a:ext cx="78486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The Routing Information Protocol (RIP) is an intradomain routing protocol used inside an autonomous system. It is a very simple protocol based on distance vector routing. </a:t>
            </a:r>
          </a:p>
        </p:txBody>
      </p:sp>
      <p:sp>
        <p:nvSpPr>
          <p:cNvPr id="475144" name="Rectangle 8"/>
          <p:cNvSpPr>
            <a:spLocks noChangeArrowheads="1"/>
          </p:cNvSpPr>
          <p:nvPr/>
        </p:nvSpPr>
        <p:spPr bwMode="auto">
          <a:xfrm>
            <a:off x="685800" y="3870325"/>
            <a:ext cx="784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The topics discussed in this section include:</a:t>
            </a:r>
          </a:p>
        </p:txBody>
      </p:sp>
      <p:sp>
        <p:nvSpPr>
          <p:cNvPr id="475145" name="Rectangle 9"/>
          <p:cNvSpPr>
            <a:spLocks noChangeArrowheads="1"/>
          </p:cNvSpPr>
          <p:nvPr/>
        </p:nvSpPr>
        <p:spPr bwMode="auto">
          <a:xfrm>
            <a:off x="685800" y="4403725"/>
            <a:ext cx="7315200" cy="161607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RIP Message Format 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Requests and Responses 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Timers in RIP 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RIP Version 2 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Encapsulation </a:t>
            </a:r>
          </a:p>
        </p:txBody>
      </p:sp>
    </p:spTree>
    <p:extLst>
      <p:ext uri="{BB962C8B-B14F-4D97-AF65-F5344CB8AC3E}">
        <p14:creationId xmlns:p14="http://schemas.microsoft.com/office/powerpoint/2010/main" val="410239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E4028E-0A55-4FAE-95E6-053183CC830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67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830" y="533400"/>
            <a:ext cx="8425969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5577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511</Words>
  <Application>Microsoft Office PowerPoint</Application>
  <PresentationFormat>On-screen Show (4:3)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新細明體</vt:lpstr>
      <vt:lpstr>Times New Roman</vt:lpstr>
      <vt:lpstr>Office Theme</vt:lpstr>
      <vt:lpstr>COMPUTER NETWORKS (BCSC 0008)</vt:lpstr>
      <vt:lpstr> Text and Reference Books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Windows User</dc:creator>
  <cp:lastModifiedBy>Windows User</cp:lastModifiedBy>
  <cp:revision>10</cp:revision>
  <dcterms:created xsi:type="dcterms:W3CDTF">2020-06-29T04:13:42Z</dcterms:created>
  <dcterms:modified xsi:type="dcterms:W3CDTF">2020-11-03T04:29:47Z</dcterms:modified>
</cp:coreProperties>
</file>