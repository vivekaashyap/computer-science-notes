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7" r:id="rId2"/>
    <p:sldId id="265" r:id="rId3"/>
    <p:sldId id="518" r:id="rId4"/>
    <p:sldId id="558" r:id="rId5"/>
    <p:sldId id="540" r:id="rId6"/>
    <p:sldId id="541" r:id="rId7"/>
    <p:sldId id="528" r:id="rId8"/>
    <p:sldId id="542" r:id="rId9"/>
    <p:sldId id="529" r:id="rId10"/>
    <p:sldId id="543" r:id="rId11"/>
    <p:sldId id="544" r:id="rId12"/>
    <p:sldId id="559" r:id="rId13"/>
    <p:sldId id="530" r:id="rId14"/>
    <p:sldId id="545" r:id="rId15"/>
    <p:sldId id="531" r:id="rId16"/>
    <p:sldId id="560" r:id="rId17"/>
    <p:sldId id="532" r:id="rId18"/>
    <p:sldId id="561" r:id="rId19"/>
    <p:sldId id="547" r:id="rId20"/>
    <p:sldId id="548" r:id="rId21"/>
    <p:sldId id="549" r:id="rId22"/>
    <p:sldId id="550" r:id="rId23"/>
    <p:sldId id="567" r:id="rId24"/>
    <p:sldId id="55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F17E44-BDC1-4515-8C0B-1374D0AA3111}" type="datetimeFigureOut">
              <a:rPr lang="en-IN" smtClean="0"/>
              <a:t>03-12-2020</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B1A913-2FBC-41BF-A4D5-4124FDD15EA2}" type="slidenum">
              <a:rPr lang="en-IN" smtClean="0"/>
              <a:t>‹#›</a:t>
            </a:fld>
            <a:endParaRPr lang="en-IN"/>
          </a:p>
        </p:txBody>
      </p:sp>
    </p:spTree>
    <p:extLst>
      <p:ext uri="{BB962C8B-B14F-4D97-AF65-F5344CB8AC3E}">
        <p14:creationId xmlns:p14="http://schemas.microsoft.com/office/powerpoint/2010/main" val="1953778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3E747-07F9-434B-BC45-818EC60EE4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87CC20E-4AFE-4F76-A16E-1D45EB7433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34AA861-0758-4F5D-866A-14BA2719DF33}"/>
              </a:ext>
            </a:extLst>
          </p:cNvPr>
          <p:cNvSpPr>
            <a:spLocks noGrp="1"/>
          </p:cNvSpPr>
          <p:nvPr>
            <p:ph type="dt" sz="half" idx="10"/>
          </p:nvPr>
        </p:nvSpPr>
        <p:spPr/>
        <p:txBody>
          <a:bodyPr/>
          <a:lstStyle/>
          <a:p>
            <a:fld id="{BC6BCD3E-ADC0-4DB8-BACA-BA2F8DF46159}" type="datetime1">
              <a:rPr lang="en-IN" smtClean="0"/>
              <a:t>03-12-2020</a:t>
            </a:fld>
            <a:endParaRPr lang="en-IN"/>
          </a:p>
        </p:txBody>
      </p:sp>
      <p:sp>
        <p:nvSpPr>
          <p:cNvPr id="5" name="Footer Placeholder 4">
            <a:extLst>
              <a:ext uri="{FF2B5EF4-FFF2-40B4-BE49-F238E27FC236}">
                <a16:creationId xmlns:a16="http://schemas.microsoft.com/office/drawing/2014/main" id="{D94D3585-83B2-4612-8E27-ECD37E8A325D}"/>
              </a:ext>
            </a:extLst>
          </p:cNvPr>
          <p:cNvSpPr>
            <a:spLocks noGrp="1"/>
          </p:cNvSpPr>
          <p:nvPr>
            <p:ph type="ftr" sz="quarter" idx="11"/>
          </p:nvPr>
        </p:nvSpPr>
        <p:spPr/>
        <p:txBody>
          <a:bodyPr/>
          <a:lstStyle/>
          <a:p>
            <a:r>
              <a:rPr lang="en-IN"/>
              <a:t>TCP/IP Protocol Suite</a:t>
            </a:r>
          </a:p>
        </p:txBody>
      </p:sp>
      <p:sp>
        <p:nvSpPr>
          <p:cNvPr id="6" name="Slide Number Placeholder 5">
            <a:extLst>
              <a:ext uri="{FF2B5EF4-FFF2-40B4-BE49-F238E27FC236}">
                <a16:creationId xmlns:a16="http://schemas.microsoft.com/office/drawing/2014/main" id="{8A5B5FEF-FB14-484A-BDC1-026A66422456}"/>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1750161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7174-0A19-42B5-9D88-A732A7326D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65AC968-AA46-4EA5-A494-D63484C060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B8846A-67C1-44B3-93C1-02628BB0ADC9}"/>
              </a:ext>
            </a:extLst>
          </p:cNvPr>
          <p:cNvSpPr>
            <a:spLocks noGrp="1"/>
          </p:cNvSpPr>
          <p:nvPr>
            <p:ph type="dt" sz="half" idx="10"/>
          </p:nvPr>
        </p:nvSpPr>
        <p:spPr/>
        <p:txBody>
          <a:bodyPr/>
          <a:lstStyle/>
          <a:p>
            <a:fld id="{0D61934E-3DD9-485A-9E42-446D5B69414C}" type="datetime1">
              <a:rPr lang="en-IN" smtClean="0"/>
              <a:t>03-12-2020</a:t>
            </a:fld>
            <a:endParaRPr lang="en-IN"/>
          </a:p>
        </p:txBody>
      </p:sp>
      <p:sp>
        <p:nvSpPr>
          <p:cNvPr id="5" name="Footer Placeholder 4">
            <a:extLst>
              <a:ext uri="{FF2B5EF4-FFF2-40B4-BE49-F238E27FC236}">
                <a16:creationId xmlns:a16="http://schemas.microsoft.com/office/drawing/2014/main" id="{EF081555-83BB-4319-AA6A-5B0BA7796696}"/>
              </a:ext>
            </a:extLst>
          </p:cNvPr>
          <p:cNvSpPr>
            <a:spLocks noGrp="1"/>
          </p:cNvSpPr>
          <p:nvPr>
            <p:ph type="ftr" sz="quarter" idx="11"/>
          </p:nvPr>
        </p:nvSpPr>
        <p:spPr/>
        <p:txBody>
          <a:bodyPr/>
          <a:lstStyle/>
          <a:p>
            <a:r>
              <a:rPr lang="en-IN"/>
              <a:t>TCP/IP Protocol Suite</a:t>
            </a:r>
          </a:p>
        </p:txBody>
      </p:sp>
      <p:sp>
        <p:nvSpPr>
          <p:cNvPr id="6" name="Slide Number Placeholder 5">
            <a:extLst>
              <a:ext uri="{FF2B5EF4-FFF2-40B4-BE49-F238E27FC236}">
                <a16:creationId xmlns:a16="http://schemas.microsoft.com/office/drawing/2014/main" id="{D7D9B10A-BDB5-4503-A870-2E72BA454EAA}"/>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1686394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D0510-92E4-4684-B966-082359C01E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A64505A-3878-4CAA-8AB9-346FF4BABA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93CE91-6C9F-4B97-BFB8-C72FF7802697}"/>
              </a:ext>
            </a:extLst>
          </p:cNvPr>
          <p:cNvSpPr>
            <a:spLocks noGrp="1"/>
          </p:cNvSpPr>
          <p:nvPr>
            <p:ph type="dt" sz="half" idx="10"/>
          </p:nvPr>
        </p:nvSpPr>
        <p:spPr/>
        <p:txBody>
          <a:bodyPr/>
          <a:lstStyle/>
          <a:p>
            <a:fld id="{5F88315E-41E8-4A5F-BC21-C4132BEFBF12}" type="datetime1">
              <a:rPr lang="en-IN" smtClean="0"/>
              <a:t>03-12-2020</a:t>
            </a:fld>
            <a:endParaRPr lang="en-IN"/>
          </a:p>
        </p:txBody>
      </p:sp>
      <p:sp>
        <p:nvSpPr>
          <p:cNvPr id="5" name="Footer Placeholder 4">
            <a:extLst>
              <a:ext uri="{FF2B5EF4-FFF2-40B4-BE49-F238E27FC236}">
                <a16:creationId xmlns:a16="http://schemas.microsoft.com/office/drawing/2014/main" id="{273C72D4-1EBB-4424-BF8D-8FE0691533AE}"/>
              </a:ext>
            </a:extLst>
          </p:cNvPr>
          <p:cNvSpPr>
            <a:spLocks noGrp="1"/>
          </p:cNvSpPr>
          <p:nvPr>
            <p:ph type="ftr" sz="quarter" idx="11"/>
          </p:nvPr>
        </p:nvSpPr>
        <p:spPr/>
        <p:txBody>
          <a:bodyPr/>
          <a:lstStyle/>
          <a:p>
            <a:r>
              <a:rPr lang="en-IN"/>
              <a:t>TCP/IP Protocol Suite</a:t>
            </a:r>
          </a:p>
        </p:txBody>
      </p:sp>
      <p:sp>
        <p:nvSpPr>
          <p:cNvPr id="6" name="Slide Number Placeholder 5">
            <a:extLst>
              <a:ext uri="{FF2B5EF4-FFF2-40B4-BE49-F238E27FC236}">
                <a16:creationId xmlns:a16="http://schemas.microsoft.com/office/drawing/2014/main" id="{74169827-F418-48F0-A237-687DD633E309}"/>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3054700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2D46F-E48B-4CD6-B716-0C6D549D3A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A2D24DD-52A7-482F-89FD-BF32F002956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895D6D4-956F-4947-9760-D2BF789873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42674D1-3E8E-4F09-82A1-B0FCC53CBE11}"/>
              </a:ext>
            </a:extLst>
          </p:cNvPr>
          <p:cNvSpPr>
            <a:spLocks noGrp="1"/>
          </p:cNvSpPr>
          <p:nvPr>
            <p:ph type="dt" sz="half" idx="10"/>
          </p:nvPr>
        </p:nvSpPr>
        <p:spPr/>
        <p:txBody>
          <a:bodyPr/>
          <a:lstStyle/>
          <a:p>
            <a:fld id="{C1C3D62F-9CD3-4B45-B9CE-43FB74DCC38E}" type="datetime1">
              <a:rPr lang="en-IN" smtClean="0"/>
              <a:t>03-12-2020</a:t>
            </a:fld>
            <a:endParaRPr lang="en-IN"/>
          </a:p>
        </p:txBody>
      </p:sp>
      <p:sp>
        <p:nvSpPr>
          <p:cNvPr id="6" name="Footer Placeholder 5">
            <a:extLst>
              <a:ext uri="{FF2B5EF4-FFF2-40B4-BE49-F238E27FC236}">
                <a16:creationId xmlns:a16="http://schemas.microsoft.com/office/drawing/2014/main" id="{1E804584-4AA6-49D5-B41F-6C58D11AD451}"/>
              </a:ext>
            </a:extLst>
          </p:cNvPr>
          <p:cNvSpPr>
            <a:spLocks noGrp="1"/>
          </p:cNvSpPr>
          <p:nvPr>
            <p:ph type="ftr" sz="quarter" idx="11"/>
          </p:nvPr>
        </p:nvSpPr>
        <p:spPr/>
        <p:txBody>
          <a:bodyPr/>
          <a:lstStyle/>
          <a:p>
            <a:r>
              <a:rPr lang="en-IN"/>
              <a:t>TCP/IP Protocol Suite</a:t>
            </a:r>
          </a:p>
        </p:txBody>
      </p:sp>
      <p:sp>
        <p:nvSpPr>
          <p:cNvPr id="7" name="Slide Number Placeholder 6">
            <a:extLst>
              <a:ext uri="{FF2B5EF4-FFF2-40B4-BE49-F238E27FC236}">
                <a16:creationId xmlns:a16="http://schemas.microsoft.com/office/drawing/2014/main" id="{4E00545E-A78A-42EC-A7F9-369AD4E1FED4}"/>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3230975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26F41-A6ED-48C1-8C3B-D9D17DEB691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3065EA6-CEAC-4408-8A9B-194DBBE20D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7C513E-C762-4DC4-BB42-39271E53DE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C646DD3-B6EA-409A-88F7-7554635BEF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DE4109-5BA9-44C5-9A4C-28CDF64A09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A4C9DA1-61F1-4EE5-B441-09F999AA9AC9}"/>
              </a:ext>
            </a:extLst>
          </p:cNvPr>
          <p:cNvSpPr>
            <a:spLocks noGrp="1"/>
          </p:cNvSpPr>
          <p:nvPr>
            <p:ph type="dt" sz="half" idx="10"/>
          </p:nvPr>
        </p:nvSpPr>
        <p:spPr/>
        <p:txBody>
          <a:bodyPr/>
          <a:lstStyle/>
          <a:p>
            <a:fld id="{885A5EBB-0CE6-40F0-BBFB-A89FB75966F0}" type="datetime1">
              <a:rPr lang="en-IN" smtClean="0"/>
              <a:t>03-12-2020</a:t>
            </a:fld>
            <a:endParaRPr lang="en-IN"/>
          </a:p>
        </p:txBody>
      </p:sp>
      <p:sp>
        <p:nvSpPr>
          <p:cNvPr id="8" name="Footer Placeholder 7">
            <a:extLst>
              <a:ext uri="{FF2B5EF4-FFF2-40B4-BE49-F238E27FC236}">
                <a16:creationId xmlns:a16="http://schemas.microsoft.com/office/drawing/2014/main" id="{A70B4FE1-A658-4030-8168-15EF6B675052}"/>
              </a:ext>
            </a:extLst>
          </p:cNvPr>
          <p:cNvSpPr>
            <a:spLocks noGrp="1"/>
          </p:cNvSpPr>
          <p:nvPr>
            <p:ph type="ftr" sz="quarter" idx="11"/>
          </p:nvPr>
        </p:nvSpPr>
        <p:spPr/>
        <p:txBody>
          <a:bodyPr/>
          <a:lstStyle/>
          <a:p>
            <a:r>
              <a:rPr lang="en-IN"/>
              <a:t>TCP/IP Protocol Suite</a:t>
            </a:r>
          </a:p>
        </p:txBody>
      </p:sp>
      <p:sp>
        <p:nvSpPr>
          <p:cNvPr id="9" name="Slide Number Placeholder 8">
            <a:extLst>
              <a:ext uri="{FF2B5EF4-FFF2-40B4-BE49-F238E27FC236}">
                <a16:creationId xmlns:a16="http://schemas.microsoft.com/office/drawing/2014/main" id="{293F5F94-2BDE-48C8-A5AE-E431D11AEE25}"/>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3737494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B5AB9-CDB3-4E3F-B606-5E0C87D47BF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56FA115-7111-4B60-A5B9-43F059E6D46E}"/>
              </a:ext>
            </a:extLst>
          </p:cNvPr>
          <p:cNvSpPr>
            <a:spLocks noGrp="1"/>
          </p:cNvSpPr>
          <p:nvPr>
            <p:ph type="dt" sz="half" idx="10"/>
          </p:nvPr>
        </p:nvSpPr>
        <p:spPr/>
        <p:txBody>
          <a:bodyPr/>
          <a:lstStyle/>
          <a:p>
            <a:fld id="{448432E0-A016-4011-BF63-A2F90138B10C}" type="datetime1">
              <a:rPr lang="en-IN" smtClean="0"/>
              <a:t>03-12-2020</a:t>
            </a:fld>
            <a:endParaRPr lang="en-IN"/>
          </a:p>
        </p:txBody>
      </p:sp>
      <p:sp>
        <p:nvSpPr>
          <p:cNvPr id="4" name="Footer Placeholder 3">
            <a:extLst>
              <a:ext uri="{FF2B5EF4-FFF2-40B4-BE49-F238E27FC236}">
                <a16:creationId xmlns:a16="http://schemas.microsoft.com/office/drawing/2014/main" id="{1DDB6188-B948-4C97-AA7B-EAF74095BF4C}"/>
              </a:ext>
            </a:extLst>
          </p:cNvPr>
          <p:cNvSpPr>
            <a:spLocks noGrp="1"/>
          </p:cNvSpPr>
          <p:nvPr>
            <p:ph type="ftr" sz="quarter" idx="11"/>
          </p:nvPr>
        </p:nvSpPr>
        <p:spPr/>
        <p:txBody>
          <a:bodyPr/>
          <a:lstStyle/>
          <a:p>
            <a:r>
              <a:rPr lang="en-IN"/>
              <a:t>TCP/IP Protocol Suite</a:t>
            </a:r>
          </a:p>
        </p:txBody>
      </p:sp>
      <p:sp>
        <p:nvSpPr>
          <p:cNvPr id="5" name="Slide Number Placeholder 4">
            <a:extLst>
              <a:ext uri="{FF2B5EF4-FFF2-40B4-BE49-F238E27FC236}">
                <a16:creationId xmlns:a16="http://schemas.microsoft.com/office/drawing/2014/main" id="{0AEFD2D0-F1E5-432A-B47D-98DFE20B468F}"/>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1969029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7785E6-276A-4CF7-9866-6A9EA0BA150D}"/>
              </a:ext>
            </a:extLst>
          </p:cNvPr>
          <p:cNvSpPr>
            <a:spLocks noGrp="1"/>
          </p:cNvSpPr>
          <p:nvPr>
            <p:ph type="dt" sz="half" idx="10"/>
          </p:nvPr>
        </p:nvSpPr>
        <p:spPr/>
        <p:txBody>
          <a:bodyPr/>
          <a:lstStyle/>
          <a:p>
            <a:fld id="{EB867967-5737-4D81-9EF9-E668EF180FDD}" type="datetime1">
              <a:rPr lang="en-IN" smtClean="0"/>
              <a:t>03-12-2020</a:t>
            </a:fld>
            <a:endParaRPr lang="en-IN"/>
          </a:p>
        </p:txBody>
      </p:sp>
      <p:sp>
        <p:nvSpPr>
          <p:cNvPr id="3" name="Footer Placeholder 2">
            <a:extLst>
              <a:ext uri="{FF2B5EF4-FFF2-40B4-BE49-F238E27FC236}">
                <a16:creationId xmlns:a16="http://schemas.microsoft.com/office/drawing/2014/main" id="{396BA2D4-9EBF-4D39-B5B9-93874E1ABE5B}"/>
              </a:ext>
            </a:extLst>
          </p:cNvPr>
          <p:cNvSpPr>
            <a:spLocks noGrp="1"/>
          </p:cNvSpPr>
          <p:nvPr>
            <p:ph type="ftr" sz="quarter" idx="11"/>
          </p:nvPr>
        </p:nvSpPr>
        <p:spPr/>
        <p:txBody>
          <a:bodyPr/>
          <a:lstStyle/>
          <a:p>
            <a:r>
              <a:rPr lang="en-IN"/>
              <a:t>TCP/IP Protocol Suite</a:t>
            </a:r>
          </a:p>
        </p:txBody>
      </p:sp>
      <p:sp>
        <p:nvSpPr>
          <p:cNvPr id="4" name="Slide Number Placeholder 3">
            <a:extLst>
              <a:ext uri="{FF2B5EF4-FFF2-40B4-BE49-F238E27FC236}">
                <a16:creationId xmlns:a16="http://schemas.microsoft.com/office/drawing/2014/main" id="{99DAD714-AB3D-4FEA-815C-DDB13917470D}"/>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2825435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ECC30-3347-4CBC-BCA7-BDACB15F73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BF06A4D-F201-491D-B4AF-1B07E34D8A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F0B59F5-5EEE-4979-B373-0CAA1D8FE9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EB0DC7-DE7C-4308-B69C-F7798EB45126}"/>
              </a:ext>
            </a:extLst>
          </p:cNvPr>
          <p:cNvSpPr>
            <a:spLocks noGrp="1"/>
          </p:cNvSpPr>
          <p:nvPr>
            <p:ph type="dt" sz="half" idx="10"/>
          </p:nvPr>
        </p:nvSpPr>
        <p:spPr/>
        <p:txBody>
          <a:bodyPr/>
          <a:lstStyle/>
          <a:p>
            <a:fld id="{3F8BED31-4EFC-4675-AB88-4481D549D1EB}" type="datetime1">
              <a:rPr lang="en-IN" smtClean="0"/>
              <a:t>03-12-2020</a:t>
            </a:fld>
            <a:endParaRPr lang="en-IN"/>
          </a:p>
        </p:txBody>
      </p:sp>
      <p:sp>
        <p:nvSpPr>
          <p:cNvPr id="6" name="Footer Placeholder 5">
            <a:extLst>
              <a:ext uri="{FF2B5EF4-FFF2-40B4-BE49-F238E27FC236}">
                <a16:creationId xmlns:a16="http://schemas.microsoft.com/office/drawing/2014/main" id="{436F3BB3-33D9-4922-8941-44E11F23CA08}"/>
              </a:ext>
            </a:extLst>
          </p:cNvPr>
          <p:cNvSpPr>
            <a:spLocks noGrp="1"/>
          </p:cNvSpPr>
          <p:nvPr>
            <p:ph type="ftr" sz="quarter" idx="11"/>
          </p:nvPr>
        </p:nvSpPr>
        <p:spPr/>
        <p:txBody>
          <a:bodyPr/>
          <a:lstStyle/>
          <a:p>
            <a:r>
              <a:rPr lang="en-IN"/>
              <a:t>TCP/IP Protocol Suite</a:t>
            </a:r>
          </a:p>
        </p:txBody>
      </p:sp>
      <p:sp>
        <p:nvSpPr>
          <p:cNvPr id="7" name="Slide Number Placeholder 6">
            <a:extLst>
              <a:ext uri="{FF2B5EF4-FFF2-40B4-BE49-F238E27FC236}">
                <a16:creationId xmlns:a16="http://schemas.microsoft.com/office/drawing/2014/main" id="{15B7D629-E868-4ACA-AD7C-DE90C59D3273}"/>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32577399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2CD59-FF70-44BA-8F2F-F296004313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EE621FF-9E5C-42FC-B0CF-6321A69808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61C0EE9-406B-4100-916D-2E4F565D92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AC6D38-9904-4CF7-B107-A490964E05D8}"/>
              </a:ext>
            </a:extLst>
          </p:cNvPr>
          <p:cNvSpPr>
            <a:spLocks noGrp="1"/>
          </p:cNvSpPr>
          <p:nvPr>
            <p:ph type="dt" sz="half" idx="10"/>
          </p:nvPr>
        </p:nvSpPr>
        <p:spPr/>
        <p:txBody>
          <a:bodyPr/>
          <a:lstStyle/>
          <a:p>
            <a:fld id="{F14F236B-75D6-4919-87F7-7C9645D1B855}" type="datetime1">
              <a:rPr lang="en-IN" smtClean="0"/>
              <a:t>03-12-2020</a:t>
            </a:fld>
            <a:endParaRPr lang="en-IN"/>
          </a:p>
        </p:txBody>
      </p:sp>
      <p:sp>
        <p:nvSpPr>
          <p:cNvPr id="6" name="Footer Placeholder 5">
            <a:extLst>
              <a:ext uri="{FF2B5EF4-FFF2-40B4-BE49-F238E27FC236}">
                <a16:creationId xmlns:a16="http://schemas.microsoft.com/office/drawing/2014/main" id="{AD29B5E7-AAF1-4659-AAFC-EFE9CD4B0B70}"/>
              </a:ext>
            </a:extLst>
          </p:cNvPr>
          <p:cNvSpPr>
            <a:spLocks noGrp="1"/>
          </p:cNvSpPr>
          <p:nvPr>
            <p:ph type="ftr" sz="quarter" idx="11"/>
          </p:nvPr>
        </p:nvSpPr>
        <p:spPr/>
        <p:txBody>
          <a:bodyPr/>
          <a:lstStyle/>
          <a:p>
            <a:r>
              <a:rPr lang="en-IN"/>
              <a:t>TCP/IP Protocol Suite</a:t>
            </a:r>
          </a:p>
        </p:txBody>
      </p:sp>
      <p:sp>
        <p:nvSpPr>
          <p:cNvPr id="7" name="Slide Number Placeholder 6">
            <a:extLst>
              <a:ext uri="{FF2B5EF4-FFF2-40B4-BE49-F238E27FC236}">
                <a16:creationId xmlns:a16="http://schemas.microsoft.com/office/drawing/2014/main" id="{1E9FBE07-50F3-4F8F-B531-B210D7B170BB}"/>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2893472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F2F24-07D3-406A-BC00-7884A0ADF9C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484D9FD-2295-4D91-B44A-FED97B4452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75DEB3-BD97-410F-81B6-64FA8F4524A2}"/>
              </a:ext>
            </a:extLst>
          </p:cNvPr>
          <p:cNvSpPr>
            <a:spLocks noGrp="1"/>
          </p:cNvSpPr>
          <p:nvPr>
            <p:ph type="dt" sz="half" idx="10"/>
          </p:nvPr>
        </p:nvSpPr>
        <p:spPr/>
        <p:txBody>
          <a:bodyPr/>
          <a:lstStyle/>
          <a:p>
            <a:fld id="{D7C6C3F4-185F-4F73-91BC-FC74BEC5161E}" type="datetime1">
              <a:rPr lang="en-IN" smtClean="0"/>
              <a:t>03-12-2020</a:t>
            </a:fld>
            <a:endParaRPr lang="en-IN"/>
          </a:p>
        </p:txBody>
      </p:sp>
      <p:sp>
        <p:nvSpPr>
          <p:cNvPr id="5" name="Footer Placeholder 4">
            <a:extLst>
              <a:ext uri="{FF2B5EF4-FFF2-40B4-BE49-F238E27FC236}">
                <a16:creationId xmlns:a16="http://schemas.microsoft.com/office/drawing/2014/main" id="{FCC95C8D-9402-411F-B7C8-1BB681B03FFA}"/>
              </a:ext>
            </a:extLst>
          </p:cNvPr>
          <p:cNvSpPr>
            <a:spLocks noGrp="1"/>
          </p:cNvSpPr>
          <p:nvPr>
            <p:ph type="ftr" sz="quarter" idx="11"/>
          </p:nvPr>
        </p:nvSpPr>
        <p:spPr/>
        <p:txBody>
          <a:bodyPr/>
          <a:lstStyle/>
          <a:p>
            <a:r>
              <a:rPr lang="en-IN"/>
              <a:t>TCP/IP Protocol Suite</a:t>
            </a:r>
          </a:p>
        </p:txBody>
      </p:sp>
      <p:sp>
        <p:nvSpPr>
          <p:cNvPr id="6" name="Slide Number Placeholder 5">
            <a:extLst>
              <a:ext uri="{FF2B5EF4-FFF2-40B4-BE49-F238E27FC236}">
                <a16:creationId xmlns:a16="http://schemas.microsoft.com/office/drawing/2014/main" id="{DD54FA15-82A8-45FC-B953-CC2C21F2577E}"/>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2350466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A41AC9-1D93-4DBD-B112-89592EFA82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59E7E1A-05FA-40CE-8AFD-8E287887B9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1241AE-3983-40E2-870B-29BC6A39B524}"/>
              </a:ext>
            </a:extLst>
          </p:cNvPr>
          <p:cNvSpPr>
            <a:spLocks noGrp="1"/>
          </p:cNvSpPr>
          <p:nvPr>
            <p:ph type="dt" sz="half" idx="10"/>
          </p:nvPr>
        </p:nvSpPr>
        <p:spPr/>
        <p:txBody>
          <a:bodyPr/>
          <a:lstStyle/>
          <a:p>
            <a:fld id="{A95B6E2A-E290-4A26-B1D8-B7094F9EBBE8}" type="datetime1">
              <a:rPr lang="en-IN" smtClean="0"/>
              <a:t>03-12-2020</a:t>
            </a:fld>
            <a:endParaRPr lang="en-IN"/>
          </a:p>
        </p:txBody>
      </p:sp>
      <p:sp>
        <p:nvSpPr>
          <p:cNvPr id="5" name="Footer Placeholder 4">
            <a:extLst>
              <a:ext uri="{FF2B5EF4-FFF2-40B4-BE49-F238E27FC236}">
                <a16:creationId xmlns:a16="http://schemas.microsoft.com/office/drawing/2014/main" id="{C0230C94-6A50-4631-B01D-38D19ADB0BBF}"/>
              </a:ext>
            </a:extLst>
          </p:cNvPr>
          <p:cNvSpPr>
            <a:spLocks noGrp="1"/>
          </p:cNvSpPr>
          <p:nvPr>
            <p:ph type="ftr" sz="quarter" idx="11"/>
          </p:nvPr>
        </p:nvSpPr>
        <p:spPr/>
        <p:txBody>
          <a:bodyPr/>
          <a:lstStyle/>
          <a:p>
            <a:r>
              <a:rPr lang="en-IN"/>
              <a:t>TCP/IP Protocol Suite</a:t>
            </a:r>
          </a:p>
        </p:txBody>
      </p:sp>
      <p:sp>
        <p:nvSpPr>
          <p:cNvPr id="6" name="Slide Number Placeholder 5">
            <a:extLst>
              <a:ext uri="{FF2B5EF4-FFF2-40B4-BE49-F238E27FC236}">
                <a16:creationId xmlns:a16="http://schemas.microsoft.com/office/drawing/2014/main" id="{4BD151BC-0FAE-44A0-964E-24B4E5B3A7CD}"/>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1635910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F689EB-1464-40A4-BE2D-C78967CC24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0A3148C-53BE-4744-8307-6C45106DF2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0762B0-F067-4089-AF7F-3949D403F9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E7A543-CE6F-4B97-9CBB-4AFC2D1ADD16}" type="datetime1">
              <a:rPr lang="en-IN" smtClean="0"/>
              <a:t>03-12-2020</a:t>
            </a:fld>
            <a:endParaRPr lang="en-IN"/>
          </a:p>
        </p:txBody>
      </p:sp>
      <p:sp>
        <p:nvSpPr>
          <p:cNvPr id="5" name="Footer Placeholder 4">
            <a:extLst>
              <a:ext uri="{FF2B5EF4-FFF2-40B4-BE49-F238E27FC236}">
                <a16:creationId xmlns:a16="http://schemas.microsoft.com/office/drawing/2014/main" id="{6AEE6463-78CB-42C5-B39E-B3A30763D4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TCP/IP Protocol Suite</a:t>
            </a:r>
          </a:p>
        </p:txBody>
      </p:sp>
      <p:sp>
        <p:nvSpPr>
          <p:cNvPr id="6" name="Slide Number Placeholder 5">
            <a:extLst>
              <a:ext uri="{FF2B5EF4-FFF2-40B4-BE49-F238E27FC236}">
                <a16:creationId xmlns:a16="http://schemas.microsoft.com/office/drawing/2014/main" id="{DC599277-D454-4C1A-9C3C-BB62D91DBE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7E21EE-17CC-4834-ADD1-32797000299F}" type="slidenum">
              <a:rPr lang="en-IN" smtClean="0"/>
              <a:t>‹#›</a:t>
            </a:fld>
            <a:endParaRPr lang="en-IN"/>
          </a:p>
        </p:txBody>
      </p:sp>
    </p:spTree>
    <p:extLst>
      <p:ext uri="{BB962C8B-B14F-4D97-AF65-F5344CB8AC3E}">
        <p14:creationId xmlns:p14="http://schemas.microsoft.com/office/powerpoint/2010/main" val="41935432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3515099"/>
            <a:ext cx="7772400" cy="1676400"/>
          </a:xfrm>
        </p:spPr>
        <p:txBody>
          <a:bodyPr>
            <a:normAutofit fontScale="90000"/>
          </a:bodyPr>
          <a:lstStyle/>
          <a:p>
            <a:pPr algn="ctr"/>
            <a:r>
              <a:rPr lang="en-US" b="1" u="none" dirty="0"/>
              <a:t>COMPUTER NETWORKS</a:t>
            </a:r>
            <a:br>
              <a:rPr lang="en-US" b="1" u="none" dirty="0"/>
            </a:br>
            <a:r>
              <a:rPr lang="en-US" b="1" u="none" dirty="0"/>
              <a:t>(</a:t>
            </a:r>
            <a:r>
              <a:rPr lang="en-US" b="1" dirty="0"/>
              <a:t>BCSC 0008)</a:t>
            </a:r>
            <a:br>
              <a:rPr lang="en-US" b="1" dirty="0"/>
            </a:br>
            <a:r>
              <a:rPr lang="en-US" b="1" dirty="0"/>
              <a:t>TELNET</a:t>
            </a:r>
            <a:endParaRPr lang="en-US" b="1" u="none" dirty="0"/>
          </a:p>
        </p:txBody>
      </p:sp>
      <p:pic>
        <p:nvPicPr>
          <p:cNvPr id="8" name="Picture 2"/>
          <p:cNvPicPr>
            <a:picLocks noChangeAspect="1" noChangeArrowheads="1"/>
          </p:cNvPicPr>
          <p:nvPr/>
        </p:nvPicPr>
        <p:blipFill>
          <a:blip r:embed="rId2" cstate="print"/>
          <a:srcRect/>
          <a:stretch>
            <a:fillRect/>
          </a:stretch>
        </p:blipFill>
        <p:spPr bwMode="auto">
          <a:xfrm>
            <a:off x="5063029" y="367749"/>
            <a:ext cx="2065942" cy="2152827"/>
          </a:xfrm>
          <a:prstGeom prst="rect">
            <a:avLst/>
          </a:prstGeom>
          <a:noFill/>
          <a:ln w="9525">
            <a:noFill/>
            <a:miter lim="800000"/>
            <a:headEnd/>
            <a:tailEnd/>
          </a:ln>
        </p:spPr>
      </p:pic>
      <p:sp>
        <p:nvSpPr>
          <p:cNvPr id="10" name="Footer Placeholder 5"/>
          <p:cNvSpPr txBox="1">
            <a:spLocks/>
          </p:cNvSpPr>
          <p:nvPr/>
        </p:nvSpPr>
        <p:spPr>
          <a:xfrm>
            <a:off x="2705100" y="5191499"/>
            <a:ext cx="6781800" cy="365125"/>
          </a:xfrm>
          <a:prstGeom prst="rect">
            <a:avLst/>
          </a:prstGeom>
        </p:spPr>
        <p:txBody>
          <a:bodyPr vert="horz" lIns="91440" tIns="45720" rIns="91440" bIns="45720" rtlCol="0" anchor="ctr"/>
          <a:lstStyle/>
          <a:p>
            <a:pPr algn="ctr">
              <a:defRPr/>
            </a:pPr>
            <a:r>
              <a:rPr lang="en-US" sz="1200" b="1" dirty="0">
                <a:latin typeface="Times New Roman"/>
                <a:ea typeface="Calibri"/>
                <a:cs typeface="Times New Roman"/>
              </a:rPr>
              <a:t>Copyright content, use only with the written permission of presenter mentioned</a:t>
            </a:r>
            <a:endParaRPr lang="en-US" altLang="zh-TW" sz="1200" dirty="0">
              <a:latin typeface="Times New Roman" pitchFamily="18" charset="0"/>
            </a:endParaRPr>
          </a:p>
        </p:txBody>
      </p:sp>
      <p:sp>
        <p:nvSpPr>
          <p:cNvPr id="3" name="Slide Number Placeholder 2">
            <a:extLst>
              <a:ext uri="{FF2B5EF4-FFF2-40B4-BE49-F238E27FC236}">
                <a16:creationId xmlns:a16="http://schemas.microsoft.com/office/drawing/2014/main" id="{92501E75-1954-4421-9AE7-4025598A50D5}"/>
              </a:ext>
            </a:extLst>
          </p:cNvPr>
          <p:cNvSpPr>
            <a:spLocks noGrp="1"/>
          </p:cNvSpPr>
          <p:nvPr>
            <p:ph type="sldNum" sz="quarter" idx="12"/>
          </p:nvPr>
        </p:nvSpPr>
        <p:spPr/>
        <p:txBody>
          <a:bodyPr/>
          <a:lstStyle/>
          <a:p>
            <a:fld id="{567E21EE-17CC-4834-ADD1-32797000299F}" type="slidenum">
              <a:rPr lang="en-IN" smtClean="0"/>
              <a:t>1</a:t>
            </a:fld>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r>
              <a:rPr lang="en-US" dirty="0"/>
            </a:br>
            <a:r>
              <a:rPr lang="en-US" b="1" dirty="0"/>
              <a:t>Text and Reference Books</a:t>
            </a:r>
            <a:br>
              <a:rPr lang="en-US" dirty="0"/>
            </a:br>
            <a:endParaRPr lang="en-US" dirty="0"/>
          </a:p>
        </p:txBody>
      </p:sp>
      <p:sp>
        <p:nvSpPr>
          <p:cNvPr id="3" name="Content Placeholder 2"/>
          <p:cNvSpPr>
            <a:spLocks noGrp="1"/>
          </p:cNvSpPr>
          <p:nvPr>
            <p:ph idx="1"/>
          </p:nvPr>
        </p:nvSpPr>
        <p:spPr/>
        <p:txBody>
          <a:bodyPr>
            <a:normAutofit lnSpcReduction="10000"/>
          </a:bodyPr>
          <a:lstStyle/>
          <a:p>
            <a:pPr algn="just">
              <a:buNone/>
            </a:pPr>
            <a:r>
              <a:rPr lang="en-US" sz="2400" dirty="0">
                <a:solidFill>
                  <a:srgbClr val="FF0000"/>
                </a:solidFill>
              </a:rPr>
              <a:t>Text Books:</a:t>
            </a:r>
          </a:p>
          <a:p>
            <a:pPr marL="457200" indent="-457200" algn="just">
              <a:buFont typeface="+mj-lt"/>
              <a:buAutoNum type="arabicPeriod"/>
            </a:pPr>
            <a:r>
              <a:rPr lang="en-US" dirty="0"/>
              <a:t>Fourouzan B. A. (2004), “Data Communication and Networking”, 4th Edition, McGraw-Hill.</a:t>
            </a:r>
          </a:p>
          <a:p>
            <a:pPr algn="just"/>
            <a:endParaRPr lang="en-US" sz="2400" dirty="0"/>
          </a:p>
          <a:p>
            <a:pPr algn="just">
              <a:buNone/>
            </a:pPr>
            <a:r>
              <a:rPr lang="en-US" sz="2400" dirty="0">
                <a:solidFill>
                  <a:srgbClr val="FF0000"/>
                </a:solidFill>
              </a:rPr>
              <a:t>References:</a:t>
            </a:r>
          </a:p>
          <a:p>
            <a:pPr marL="457200" indent="-457200" algn="just">
              <a:buFont typeface="+mj-lt"/>
              <a:buAutoNum type="arabicPeriod"/>
            </a:pPr>
            <a:r>
              <a:rPr lang="en-US" dirty="0"/>
              <a:t>Kurose, J. F. and Ross K. W. (2005), “Computer Networking: A Top-Down Approach Featuring the Internet”, 3rd Edition, Addison-Wesley.</a:t>
            </a:r>
          </a:p>
          <a:p>
            <a:pPr marL="457200" indent="-457200" algn="just">
              <a:buFont typeface="+mj-lt"/>
              <a:buAutoNum type="arabicPeriod"/>
            </a:pPr>
            <a:r>
              <a:rPr lang="en-US" dirty="0"/>
              <a:t>A. S. Tanenbaum (2006), “Computer Networks”, 2nd Edition, Prentice Hall India.</a:t>
            </a:r>
          </a:p>
        </p:txBody>
      </p:sp>
      <p:sp>
        <p:nvSpPr>
          <p:cNvPr id="4" name="Slide Number Placeholder 3">
            <a:extLst>
              <a:ext uri="{FF2B5EF4-FFF2-40B4-BE49-F238E27FC236}">
                <a16:creationId xmlns:a16="http://schemas.microsoft.com/office/drawing/2014/main" id="{507BF4E5-2483-4E7C-A929-C9C278D8022B}"/>
              </a:ext>
            </a:extLst>
          </p:cNvPr>
          <p:cNvSpPr>
            <a:spLocks noGrp="1"/>
          </p:cNvSpPr>
          <p:nvPr>
            <p:ph type="sldNum" sz="quarter" idx="12"/>
          </p:nvPr>
        </p:nvSpPr>
        <p:spPr/>
        <p:txBody>
          <a:bodyPr/>
          <a:lstStyle/>
          <a:p>
            <a:fld id="{567E21EE-17CC-4834-ADD1-32797000299F}" type="slidenum">
              <a:rPr lang="en-IN" smtClean="0"/>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E88448CC-A440-4756-8058-0930BDCA77EC}"/>
              </a:ext>
            </a:extLst>
          </p:cNvPr>
          <p:cNvSpPr>
            <a:spLocks noGrp="1"/>
          </p:cNvSpPr>
          <p:nvPr>
            <p:ph type="sldNum" sz="quarter" idx="11"/>
          </p:nvPr>
        </p:nvSpPr>
        <p:spPr/>
        <p:txBody>
          <a:bodyPr/>
          <a:lstStyle/>
          <a:p>
            <a:fld id="{2436A721-086A-4B84-8B44-A5422786119F}" type="slidenum">
              <a:rPr lang="en-US" altLang="en-US"/>
              <a:pPr/>
              <a:t>3</a:t>
            </a:fld>
            <a:endParaRPr lang="en-US" altLang="en-US"/>
          </a:p>
        </p:txBody>
      </p:sp>
      <p:grpSp>
        <p:nvGrpSpPr>
          <p:cNvPr id="450562" name="Group 2">
            <a:extLst>
              <a:ext uri="{FF2B5EF4-FFF2-40B4-BE49-F238E27FC236}">
                <a16:creationId xmlns:a16="http://schemas.microsoft.com/office/drawing/2014/main" id="{FFAFDEEA-26D1-411C-8649-0A7490242993}"/>
              </a:ext>
            </a:extLst>
          </p:cNvPr>
          <p:cNvGrpSpPr>
            <a:grpSpLocks/>
          </p:cNvGrpSpPr>
          <p:nvPr/>
        </p:nvGrpSpPr>
        <p:grpSpPr bwMode="auto">
          <a:xfrm>
            <a:off x="1524000" y="0"/>
            <a:ext cx="8686800" cy="6400800"/>
            <a:chOff x="0" y="96"/>
            <a:chExt cx="5472" cy="3840"/>
          </a:xfrm>
        </p:grpSpPr>
        <p:sp>
          <p:nvSpPr>
            <p:cNvPr id="450563" name="AutoShape 3">
              <a:extLst>
                <a:ext uri="{FF2B5EF4-FFF2-40B4-BE49-F238E27FC236}">
                  <a16:creationId xmlns:a16="http://schemas.microsoft.com/office/drawing/2014/main" id="{0283F694-5941-4075-B421-3CEB928C8C13}"/>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latin typeface="Times New Roman" panose="02020603050405020304" pitchFamily="18" charset="0"/>
              </a:endParaRPr>
            </a:p>
          </p:txBody>
        </p:sp>
        <p:sp>
          <p:nvSpPr>
            <p:cNvPr id="450564" name="AutoShape 4">
              <a:extLst>
                <a:ext uri="{FF2B5EF4-FFF2-40B4-BE49-F238E27FC236}">
                  <a16:creationId xmlns:a16="http://schemas.microsoft.com/office/drawing/2014/main" id="{21591EC7-0E60-488B-93A8-963918E6B3FE}"/>
                </a:ext>
              </a:extLst>
            </p:cNvPr>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6170 w 1000"/>
                <a:gd name="T3" fmla="*/ 0 h 1000"/>
                <a:gd name="T4" fmla="*/ 6670 w 1000"/>
                <a:gd name="T5" fmla="*/ 500 h 1000"/>
                <a:gd name="T6" fmla="*/ 6170 w 1000"/>
                <a:gd name="T7" fmla="*/ 999 h 1000"/>
                <a:gd name="T8" fmla="*/ 0 w 1000"/>
                <a:gd name="T9" fmla="*/ 1000 h 1000"/>
                <a:gd name="T10" fmla="*/ 0 w 1000"/>
                <a:gd name="T11" fmla="*/ 0 h 1000"/>
                <a:gd name="T12" fmla="*/ G4 w 1000"/>
                <a:gd name="T13" fmla="*/ G1 h 1000"/>
              </a:gdLst>
              <a:ahLst/>
              <a:cxnLst>
                <a:cxn ang="0">
                  <a:pos x="T0" y="T1"/>
                </a:cxn>
                <a:cxn ang="0">
                  <a:pos x="T2" y="T3"/>
                </a:cxn>
                <a:cxn ang="0">
                  <a:pos x="T4" y="T5"/>
                </a:cxn>
                <a:cxn ang="0">
                  <a:pos x="T6" y="T7"/>
                </a:cxn>
                <a:cxn ang="0">
                  <a:pos x="T8" y="T9"/>
                </a:cxn>
              </a:cxnLst>
              <a:rect l="T10" t="T11" r="T12" b="T13"/>
              <a:pathLst>
                <a:path w="7000" h="1000">
                  <a:moveTo>
                    <a:pt x="0" y="0"/>
                  </a:moveTo>
                  <a:lnTo>
                    <a:pt x="6170" y="0"/>
                  </a:lnTo>
                  <a:cubicBezTo>
                    <a:pt x="6446" y="0"/>
                    <a:pt x="6670" y="223"/>
                    <a:pt x="6670" y="500"/>
                  </a:cubicBezTo>
                  <a:cubicBezTo>
                    <a:pt x="6670" y="776"/>
                    <a:pt x="6446" y="999"/>
                    <a:pt x="6170" y="999"/>
                  </a:cubicBezTo>
                  <a:lnTo>
                    <a:pt x="0" y="100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450565" name="Line 5">
              <a:extLst>
                <a:ext uri="{FF2B5EF4-FFF2-40B4-BE49-F238E27FC236}">
                  <a16:creationId xmlns:a16="http://schemas.microsoft.com/office/drawing/2014/main" id="{88AAA0B3-8C83-4D89-966F-B22FA484744C}"/>
                </a:ext>
              </a:extLst>
            </p:cNvPr>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450566" name="Text Box 6">
            <a:extLst>
              <a:ext uri="{FF2B5EF4-FFF2-40B4-BE49-F238E27FC236}">
                <a16:creationId xmlns:a16="http://schemas.microsoft.com/office/drawing/2014/main" id="{2CF8A3F4-C747-4329-A972-B97A8F9683B8}"/>
              </a:ext>
            </a:extLst>
          </p:cNvPr>
          <p:cNvSpPr txBox="1">
            <a:spLocks noChangeArrowheads="1"/>
          </p:cNvSpPr>
          <p:nvPr/>
        </p:nvSpPr>
        <p:spPr bwMode="auto">
          <a:xfrm>
            <a:off x="1752600" y="354013"/>
            <a:ext cx="195438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dirty="0">
                <a:solidFill>
                  <a:schemeClr val="bg1"/>
                </a:solidFill>
                <a:latin typeface="Arial" panose="020B0604020202020204" pitchFamily="34" charset="0"/>
              </a:rPr>
              <a:t>TELNET</a:t>
            </a:r>
          </a:p>
        </p:txBody>
      </p:sp>
      <p:sp>
        <p:nvSpPr>
          <p:cNvPr id="450568" name="Rectangle 8">
            <a:extLst>
              <a:ext uri="{FF2B5EF4-FFF2-40B4-BE49-F238E27FC236}">
                <a16:creationId xmlns:a16="http://schemas.microsoft.com/office/drawing/2014/main" id="{271EEB9F-4ADB-4043-A191-9E549E8AD376}"/>
              </a:ext>
            </a:extLst>
          </p:cNvPr>
          <p:cNvSpPr>
            <a:spLocks noChangeArrowheads="1"/>
          </p:cNvSpPr>
          <p:nvPr/>
        </p:nvSpPr>
        <p:spPr bwMode="auto">
          <a:xfrm>
            <a:off x="2057400" y="1371601"/>
            <a:ext cx="78486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000" i="1">
                <a:effectLst>
                  <a:outerShdw blurRad="38100" dist="38100" dir="2700000" algn="tl">
                    <a:srgbClr val="C0C0C0"/>
                  </a:outerShdw>
                </a:effectLst>
                <a:latin typeface="Times New Roman" panose="02020603050405020304" pitchFamily="18" charset="0"/>
              </a:rPr>
              <a:t>TELNET enables the establishment of a connection to a remote system in such a way that the local terminal appears to be a terminal at the remote system.</a:t>
            </a:r>
          </a:p>
        </p:txBody>
      </p:sp>
      <p:sp>
        <p:nvSpPr>
          <p:cNvPr id="450569" name="Rectangle 9">
            <a:extLst>
              <a:ext uri="{FF2B5EF4-FFF2-40B4-BE49-F238E27FC236}">
                <a16:creationId xmlns:a16="http://schemas.microsoft.com/office/drawing/2014/main" id="{C70A10E9-A817-4F87-A1DB-E0DA872E5308}"/>
              </a:ext>
            </a:extLst>
          </p:cNvPr>
          <p:cNvSpPr>
            <a:spLocks noChangeArrowheads="1"/>
          </p:cNvSpPr>
          <p:nvPr/>
        </p:nvSpPr>
        <p:spPr bwMode="auto">
          <a:xfrm>
            <a:off x="2209800" y="3870326"/>
            <a:ext cx="7848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solidFill>
                  <a:schemeClr val="hlink"/>
                </a:solidFill>
                <a:effectLst>
                  <a:outerShdw blurRad="38100" dist="38100" dir="2700000" algn="tl">
                    <a:srgbClr val="C0C0C0"/>
                  </a:outerShdw>
                </a:effectLst>
                <a:latin typeface="Times New Roman" panose="02020603050405020304" pitchFamily="18" charset="0"/>
              </a:rPr>
              <a:t>The topics discussed in this section include:</a:t>
            </a:r>
          </a:p>
        </p:txBody>
      </p:sp>
      <p:sp>
        <p:nvSpPr>
          <p:cNvPr id="450570" name="Rectangle 10">
            <a:extLst>
              <a:ext uri="{FF2B5EF4-FFF2-40B4-BE49-F238E27FC236}">
                <a16:creationId xmlns:a16="http://schemas.microsoft.com/office/drawing/2014/main" id="{2B04DA99-C356-4B27-BED8-0144A918EDC4}"/>
              </a:ext>
            </a:extLst>
          </p:cNvPr>
          <p:cNvSpPr>
            <a:spLocks noChangeArrowheads="1"/>
          </p:cNvSpPr>
          <p:nvPr/>
        </p:nvSpPr>
        <p:spPr bwMode="auto">
          <a:xfrm>
            <a:off x="2209800" y="4403726"/>
            <a:ext cx="7315200" cy="7016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762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effectLst>
                  <a:outerShdw blurRad="38100" dist="38100" dir="2700000" algn="tl">
                    <a:srgbClr val="C0C0C0"/>
                  </a:outerShdw>
                </a:effectLst>
                <a:latin typeface="Times New Roman" panose="02020603050405020304" pitchFamily="18" charset="0"/>
              </a:rPr>
              <a:t>Time-Sharing Environment </a:t>
            </a:r>
          </a:p>
          <a:p>
            <a:r>
              <a:rPr lang="en-US" altLang="en-US" sz="2000" i="1">
                <a:effectLst>
                  <a:outerShdw blurRad="38100" dist="38100" dir="2700000" algn="tl">
                    <a:srgbClr val="C0C0C0"/>
                  </a:outerShdw>
                </a:effectLst>
                <a:latin typeface="Times New Roman" panose="02020603050405020304" pitchFamily="18" charset="0"/>
              </a:rPr>
              <a:t>Login </a:t>
            </a:r>
          </a:p>
        </p:txBody>
      </p:sp>
    </p:spTree>
    <p:extLst>
      <p:ext uri="{BB962C8B-B14F-4D97-AF65-F5344CB8AC3E}">
        <p14:creationId xmlns:p14="http://schemas.microsoft.com/office/powerpoint/2010/main" val="4191778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6092F60-EA61-4E90-97E3-02497BB4FCC3}"/>
              </a:ext>
            </a:extLst>
          </p:cNvPr>
          <p:cNvSpPr>
            <a:spLocks noGrp="1"/>
          </p:cNvSpPr>
          <p:nvPr>
            <p:ph type="sldNum" sz="quarter" idx="11"/>
          </p:nvPr>
        </p:nvSpPr>
        <p:spPr/>
        <p:txBody>
          <a:bodyPr/>
          <a:lstStyle/>
          <a:p>
            <a:fld id="{04319CF7-15B8-4B39-8B4A-0BD73EAF3FC4}" type="slidenum">
              <a:rPr lang="en-US" altLang="en-US"/>
              <a:pPr/>
              <a:t>4</a:t>
            </a:fld>
            <a:endParaRPr lang="en-US" altLang="en-US"/>
          </a:p>
        </p:txBody>
      </p:sp>
      <p:sp>
        <p:nvSpPr>
          <p:cNvPr id="504834" name="Rectangle 2">
            <a:extLst>
              <a:ext uri="{FF2B5EF4-FFF2-40B4-BE49-F238E27FC236}">
                <a16:creationId xmlns:a16="http://schemas.microsoft.com/office/drawing/2014/main" id="{B30215E2-3D69-4F1A-B7FB-664E7C0C92A8}"/>
              </a:ext>
            </a:extLst>
          </p:cNvPr>
          <p:cNvSpPr>
            <a:spLocks noChangeArrowheads="1"/>
          </p:cNvSpPr>
          <p:nvPr/>
        </p:nvSpPr>
        <p:spPr bwMode="auto">
          <a:xfrm>
            <a:off x="2362200" y="2790826"/>
            <a:ext cx="7543800" cy="1247775"/>
          </a:xfrm>
          <a:prstGeom prst="rect">
            <a:avLst/>
          </a:prstGeom>
          <a:solidFill>
            <a:schemeClr val="bg1"/>
          </a:solidFill>
          <a:ln w="5715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ts val="1200"/>
              </a:spcBef>
              <a:spcAft>
                <a:spcPts val="1000"/>
              </a:spcAft>
            </a:pPr>
            <a:r>
              <a:rPr lang="en-US" altLang="en-US" sz="3600" i="1">
                <a:latin typeface="Times New Roman" panose="02020603050405020304" pitchFamily="18" charset="0"/>
              </a:rPr>
              <a:t>TELNET is a general-purpose </a:t>
            </a:r>
            <a:br>
              <a:rPr lang="en-US" altLang="en-US" sz="3600" i="1">
                <a:latin typeface="Times New Roman" panose="02020603050405020304" pitchFamily="18" charset="0"/>
              </a:rPr>
            </a:br>
            <a:r>
              <a:rPr lang="en-US" altLang="en-US" sz="3600" i="1">
                <a:latin typeface="Times New Roman" panose="02020603050405020304" pitchFamily="18" charset="0"/>
              </a:rPr>
              <a:t>client-server application program.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a:extLst>
              <a:ext uri="{FF2B5EF4-FFF2-40B4-BE49-F238E27FC236}">
                <a16:creationId xmlns:a16="http://schemas.microsoft.com/office/drawing/2014/main" id="{5596BEF0-6A9C-48B2-86FA-F4B294EC902A}"/>
              </a:ext>
            </a:extLst>
          </p:cNvPr>
          <p:cNvSpPr>
            <a:spLocks noGrp="1"/>
          </p:cNvSpPr>
          <p:nvPr>
            <p:ph type="sldNum" sz="quarter" idx="11"/>
          </p:nvPr>
        </p:nvSpPr>
        <p:spPr/>
        <p:txBody>
          <a:bodyPr/>
          <a:lstStyle/>
          <a:p>
            <a:fld id="{0D2B098A-57F0-4E47-8A41-2A9F3694E6EE}" type="slidenum">
              <a:rPr lang="en-US" altLang="en-US"/>
              <a:pPr/>
              <a:t>5</a:t>
            </a:fld>
            <a:endParaRPr lang="en-US" altLang="en-US"/>
          </a:p>
        </p:txBody>
      </p:sp>
      <p:sp>
        <p:nvSpPr>
          <p:cNvPr id="486402" name="Text Box 2">
            <a:extLst>
              <a:ext uri="{FF2B5EF4-FFF2-40B4-BE49-F238E27FC236}">
                <a16:creationId xmlns:a16="http://schemas.microsoft.com/office/drawing/2014/main" id="{675D589E-7896-4D38-859D-2A58CA6BB86A}"/>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18.1</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Local login</a:t>
            </a:r>
          </a:p>
        </p:txBody>
      </p:sp>
      <p:sp>
        <p:nvSpPr>
          <p:cNvPr id="486403" name="Rectangle 3">
            <a:extLst>
              <a:ext uri="{FF2B5EF4-FFF2-40B4-BE49-F238E27FC236}">
                <a16:creationId xmlns:a16="http://schemas.microsoft.com/office/drawing/2014/main" id="{474F4A21-27FA-4957-8D2C-C22909F89888}"/>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6404" name="Rectangle 4">
            <a:extLst>
              <a:ext uri="{FF2B5EF4-FFF2-40B4-BE49-F238E27FC236}">
                <a16:creationId xmlns:a16="http://schemas.microsoft.com/office/drawing/2014/main" id="{22376937-67AD-4C67-B43B-41F91DE0D776}"/>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6405" name="Rectangle 5">
            <a:extLst>
              <a:ext uri="{FF2B5EF4-FFF2-40B4-BE49-F238E27FC236}">
                <a16:creationId xmlns:a16="http://schemas.microsoft.com/office/drawing/2014/main" id="{AA2B7F4E-68F5-40B7-8F97-28596F407A7A}"/>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6406" name="Rectangle 6">
            <a:extLst>
              <a:ext uri="{FF2B5EF4-FFF2-40B4-BE49-F238E27FC236}">
                <a16:creationId xmlns:a16="http://schemas.microsoft.com/office/drawing/2014/main" id="{1537B0E2-5B58-44B3-AE0A-A8E277750C05}"/>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6407" name="Rectangle 7">
            <a:extLst>
              <a:ext uri="{FF2B5EF4-FFF2-40B4-BE49-F238E27FC236}">
                <a16:creationId xmlns:a16="http://schemas.microsoft.com/office/drawing/2014/main" id="{31FDFB28-A165-45AD-8D20-99D978895085}"/>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6408" name="Rectangle 8">
            <a:extLst>
              <a:ext uri="{FF2B5EF4-FFF2-40B4-BE49-F238E27FC236}">
                <a16:creationId xmlns:a16="http://schemas.microsoft.com/office/drawing/2014/main" id="{297B0485-D820-4D97-91E8-9D842EF8C2EB}"/>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6409" name="Rectangle 9">
            <a:extLst>
              <a:ext uri="{FF2B5EF4-FFF2-40B4-BE49-F238E27FC236}">
                <a16:creationId xmlns:a16="http://schemas.microsoft.com/office/drawing/2014/main" id="{3435EF7D-9424-4653-84BB-32840B05FB51}"/>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86410" name="Picture 10">
            <a:extLst>
              <a:ext uri="{FF2B5EF4-FFF2-40B4-BE49-F238E27FC236}">
                <a16:creationId xmlns:a16="http://schemas.microsoft.com/office/drawing/2014/main" id="{7CFF7F21-EDA6-4EF5-8C69-29586F5F50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6139" y="1036639"/>
            <a:ext cx="5419725" cy="478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a:extLst>
              <a:ext uri="{FF2B5EF4-FFF2-40B4-BE49-F238E27FC236}">
                <a16:creationId xmlns:a16="http://schemas.microsoft.com/office/drawing/2014/main" id="{FDE41195-A0C3-4B0E-A9F9-99A79864B1C6}"/>
              </a:ext>
            </a:extLst>
          </p:cNvPr>
          <p:cNvSpPr>
            <a:spLocks noGrp="1"/>
          </p:cNvSpPr>
          <p:nvPr>
            <p:ph type="sldNum" sz="quarter" idx="11"/>
          </p:nvPr>
        </p:nvSpPr>
        <p:spPr/>
        <p:txBody>
          <a:bodyPr/>
          <a:lstStyle/>
          <a:p>
            <a:fld id="{E3EBDBCA-D987-48B3-BE65-F258EE7AFAA8}" type="slidenum">
              <a:rPr lang="en-US" altLang="en-US"/>
              <a:pPr/>
              <a:t>6</a:t>
            </a:fld>
            <a:endParaRPr lang="en-US" altLang="en-US"/>
          </a:p>
        </p:txBody>
      </p:sp>
      <p:sp>
        <p:nvSpPr>
          <p:cNvPr id="487426" name="Text Box 2">
            <a:extLst>
              <a:ext uri="{FF2B5EF4-FFF2-40B4-BE49-F238E27FC236}">
                <a16:creationId xmlns:a16="http://schemas.microsoft.com/office/drawing/2014/main" id="{2C245FFE-880A-4EBE-BC2C-4E8D0EA2B517}"/>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18.2</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Remote login</a:t>
            </a:r>
          </a:p>
        </p:txBody>
      </p:sp>
      <p:sp>
        <p:nvSpPr>
          <p:cNvPr id="487427" name="Rectangle 3">
            <a:extLst>
              <a:ext uri="{FF2B5EF4-FFF2-40B4-BE49-F238E27FC236}">
                <a16:creationId xmlns:a16="http://schemas.microsoft.com/office/drawing/2014/main" id="{E53CA90D-FE5F-4F6E-A794-15E751836A9C}"/>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7428" name="Rectangle 4">
            <a:extLst>
              <a:ext uri="{FF2B5EF4-FFF2-40B4-BE49-F238E27FC236}">
                <a16:creationId xmlns:a16="http://schemas.microsoft.com/office/drawing/2014/main" id="{F3BAF9AA-4E71-4B0C-AAA0-8F3987B599AE}"/>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7429" name="Rectangle 5">
            <a:extLst>
              <a:ext uri="{FF2B5EF4-FFF2-40B4-BE49-F238E27FC236}">
                <a16:creationId xmlns:a16="http://schemas.microsoft.com/office/drawing/2014/main" id="{FEAB895D-A7E7-43DC-A93B-59490F6E6767}"/>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7430" name="Rectangle 6">
            <a:extLst>
              <a:ext uri="{FF2B5EF4-FFF2-40B4-BE49-F238E27FC236}">
                <a16:creationId xmlns:a16="http://schemas.microsoft.com/office/drawing/2014/main" id="{A6C9DD36-0C0D-461A-9E96-C27CB07F1AE5}"/>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7431" name="Rectangle 7">
            <a:extLst>
              <a:ext uri="{FF2B5EF4-FFF2-40B4-BE49-F238E27FC236}">
                <a16:creationId xmlns:a16="http://schemas.microsoft.com/office/drawing/2014/main" id="{F0588EB6-E4A1-4B04-A063-23C4D3EB38E0}"/>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7432" name="Rectangle 8">
            <a:extLst>
              <a:ext uri="{FF2B5EF4-FFF2-40B4-BE49-F238E27FC236}">
                <a16:creationId xmlns:a16="http://schemas.microsoft.com/office/drawing/2014/main" id="{1337D7CB-25C3-4EB5-A118-E0CB6AC5A1E9}"/>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7433" name="Rectangle 9">
            <a:extLst>
              <a:ext uri="{FF2B5EF4-FFF2-40B4-BE49-F238E27FC236}">
                <a16:creationId xmlns:a16="http://schemas.microsoft.com/office/drawing/2014/main" id="{85EED5A7-2806-40A9-BA8C-5E6AE12CE4BD}"/>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87434" name="Picture 10">
            <a:extLst>
              <a:ext uri="{FF2B5EF4-FFF2-40B4-BE49-F238E27FC236}">
                <a16:creationId xmlns:a16="http://schemas.microsoft.com/office/drawing/2014/main" id="{EFFFE95B-B440-4E75-8CB3-76FA9EF29E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4800" y="1882776"/>
            <a:ext cx="8940800" cy="367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6A10DCCC-2781-4017-88CA-262BB7231F04}"/>
              </a:ext>
            </a:extLst>
          </p:cNvPr>
          <p:cNvSpPr>
            <a:spLocks noGrp="1"/>
          </p:cNvSpPr>
          <p:nvPr>
            <p:ph type="sldNum" sz="quarter" idx="11"/>
          </p:nvPr>
        </p:nvSpPr>
        <p:spPr/>
        <p:txBody>
          <a:bodyPr/>
          <a:lstStyle/>
          <a:p>
            <a:fld id="{FD31039B-6B6A-4F6E-8ABC-D51C3C87CCC1}" type="slidenum">
              <a:rPr lang="en-US" altLang="en-US"/>
              <a:pPr/>
              <a:t>7</a:t>
            </a:fld>
            <a:endParaRPr lang="en-US" altLang="en-US"/>
          </a:p>
        </p:txBody>
      </p:sp>
      <p:grpSp>
        <p:nvGrpSpPr>
          <p:cNvPr id="474114" name="Group 2">
            <a:extLst>
              <a:ext uri="{FF2B5EF4-FFF2-40B4-BE49-F238E27FC236}">
                <a16:creationId xmlns:a16="http://schemas.microsoft.com/office/drawing/2014/main" id="{C1DDE883-AF71-4A95-8D64-431EE365B458}"/>
              </a:ext>
            </a:extLst>
          </p:cNvPr>
          <p:cNvGrpSpPr>
            <a:grpSpLocks/>
          </p:cNvGrpSpPr>
          <p:nvPr/>
        </p:nvGrpSpPr>
        <p:grpSpPr bwMode="auto">
          <a:xfrm>
            <a:off x="1524000" y="0"/>
            <a:ext cx="8686800" cy="6400800"/>
            <a:chOff x="0" y="96"/>
            <a:chExt cx="5472" cy="3840"/>
          </a:xfrm>
        </p:grpSpPr>
        <p:sp>
          <p:nvSpPr>
            <p:cNvPr id="474115" name="AutoShape 3">
              <a:extLst>
                <a:ext uri="{FF2B5EF4-FFF2-40B4-BE49-F238E27FC236}">
                  <a16:creationId xmlns:a16="http://schemas.microsoft.com/office/drawing/2014/main" id="{2F92BE51-6948-443E-AB6F-4EDEF955345D}"/>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latin typeface="Times New Roman" panose="02020603050405020304" pitchFamily="18" charset="0"/>
              </a:endParaRPr>
            </a:p>
          </p:txBody>
        </p:sp>
        <p:sp>
          <p:nvSpPr>
            <p:cNvPr id="474116" name="AutoShape 4">
              <a:extLst>
                <a:ext uri="{FF2B5EF4-FFF2-40B4-BE49-F238E27FC236}">
                  <a16:creationId xmlns:a16="http://schemas.microsoft.com/office/drawing/2014/main" id="{A0C92696-4FF7-4F00-905A-0FA9EA4829D7}"/>
                </a:ext>
              </a:extLst>
            </p:cNvPr>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6170 w 1000"/>
                <a:gd name="T3" fmla="*/ 0 h 1000"/>
                <a:gd name="T4" fmla="*/ 6670 w 1000"/>
                <a:gd name="T5" fmla="*/ 500 h 1000"/>
                <a:gd name="T6" fmla="*/ 6170 w 1000"/>
                <a:gd name="T7" fmla="*/ 999 h 1000"/>
                <a:gd name="T8" fmla="*/ 0 w 1000"/>
                <a:gd name="T9" fmla="*/ 1000 h 1000"/>
                <a:gd name="T10" fmla="*/ 0 w 1000"/>
                <a:gd name="T11" fmla="*/ 0 h 1000"/>
                <a:gd name="T12" fmla="*/ G4 w 1000"/>
                <a:gd name="T13" fmla="*/ G1 h 1000"/>
              </a:gdLst>
              <a:ahLst/>
              <a:cxnLst>
                <a:cxn ang="0">
                  <a:pos x="T0" y="T1"/>
                </a:cxn>
                <a:cxn ang="0">
                  <a:pos x="T2" y="T3"/>
                </a:cxn>
                <a:cxn ang="0">
                  <a:pos x="T4" y="T5"/>
                </a:cxn>
                <a:cxn ang="0">
                  <a:pos x="T6" y="T7"/>
                </a:cxn>
                <a:cxn ang="0">
                  <a:pos x="T8" y="T9"/>
                </a:cxn>
              </a:cxnLst>
              <a:rect l="T10" t="T11" r="T12" b="T13"/>
              <a:pathLst>
                <a:path w="7000" h="1000">
                  <a:moveTo>
                    <a:pt x="0" y="0"/>
                  </a:moveTo>
                  <a:lnTo>
                    <a:pt x="6170" y="0"/>
                  </a:lnTo>
                  <a:cubicBezTo>
                    <a:pt x="6446" y="0"/>
                    <a:pt x="6670" y="223"/>
                    <a:pt x="6670" y="500"/>
                  </a:cubicBezTo>
                  <a:cubicBezTo>
                    <a:pt x="6670" y="776"/>
                    <a:pt x="6446" y="999"/>
                    <a:pt x="6170" y="999"/>
                  </a:cubicBezTo>
                  <a:lnTo>
                    <a:pt x="0" y="100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474117" name="Line 5">
              <a:extLst>
                <a:ext uri="{FF2B5EF4-FFF2-40B4-BE49-F238E27FC236}">
                  <a16:creationId xmlns:a16="http://schemas.microsoft.com/office/drawing/2014/main" id="{9B0A34E9-8E54-461A-A232-CEA0E875D299}"/>
                </a:ext>
              </a:extLst>
            </p:cNvPr>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474118" name="Text Box 6">
            <a:extLst>
              <a:ext uri="{FF2B5EF4-FFF2-40B4-BE49-F238E27FC236}">
                <a16:creationId xmlns:a16="http://schemas.microsoft.com/office/drawing/2014/main" id="{7781CFAF-B320-4243-B223-D5576BCB8C08}"/>
              </a:ext>
            </a:extLst>
          </p:cNvPr>
          <p:cNvSpPr txBox="1">
            <a:spLocks noChangeArrowheads="1"/>
          </p:cNvSpPr>
          <p:nvPr/>
        </p:nvSpPr>
        <p:spPr bwMode="auto">
          <a:xfrm>
            <a:off x="1752600" y="-76200"/>
            <a:ext cx="487845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dirty="0">
                <a:solidFill>
                  <a:schemeClr val="bg1"/>
                </a:solidFill>
                <a:latin typeface="Arial" panose="020B0604020202020204" pitchFamily="34" charset="0"/>
              </a:rPr>
              <a:t>NETWORK VIRTUAL </a:t>
            </a:r>
            <a:br>
              <a:rPr lang="en-US" altLang="en-US" sz="3600" dirty="0">
                <a:solidFill>
                  <a:schemeClr val="bg1"/>
                </a:solidFill>
                <a:latin typeface="Arial" panose="020B0604020202020204" pitchFamily="34" charset="0"/>
              </a:rPr>
            </a:br>
            <a:r>
              <a:rPr lang="en-US" altLang="en-US" sz="3600" dirty="0">
                <a:solidFill>
                  <a:schemeClr val="bg1"/>
                </a:solidFill>
                <a:latin typeface="Arial" panose="020B0604020202020204" pitchFamily="34" charset="0"/>
              </a:rPr>
              <a:t>TERMINAL (NVT)</a:t>
            </a:r>
          </a:p>
        </p:txBody>
      </p:sp>
      <p:sp>
        <p:nvSpPr>
          <p:cNvPr id="474119" name="Rectangle 7">
            <a:extLst>
              <a:ext uri="{FF2B5EF4-FFF2-40B4-BE49-F238E27FC236}">
                <a16:creationId xmlns:a16="http://schemas.microsoft.com/office/drawing/2014/main" id="{C1725887-1A14-4FF0-964E-8436C00BAFF9}"/>
              </a:ext>
            </a:extLst>
          </p:cNvPr>
          <p:cNvSpPr>
            <a:spLocks noChangeArrowheads="1"/>
          </p:cNvSpPr>
          <p:nvPr/>
        </p:nvSpPr>
        <p:spPr bwMode="auto">
          <a:xfrm>
            <a:off x="1981200" y="1840231"/>
            <a:ext cx="78486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400" i="1" dirty="0">
                <a:effectLst>
                  <a:outerShdw blurRad="38100" dist="38100" dir="2700000" algn="tl">
                    <a:srgbClr val="C0C0C0"/>
                  </a:outerShdw>
                </a:effectLst>
                <a:latin typeface="Times New Roman" panose="02020603050405020304" pitchFamily="18" charset="0"/>
              </a:rPr>
              <a:t>Via a universal interface called the Network Virtual Terminal (NVT) character set, the TELNET client translates characters (data or commands) that come from the local terminal into NVT form and delivers them to the network. The TELNET server translates data and commands from NVT form into the form acceptable by the remote computer.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a:extLst>
              <a:ext uri="{FF2B5EF4-FFF2-40B4-BE49-F238E27FC236}">
                <a16:creationId xmlns:a16="http://schemas.microsoft.com/office/drawing/2014/main" id="{3C715AF6-1499-426E-843F-0D39F46D4D60}"/>
              </a:ext>
            </a:extLst>
          </p:cNvPr>
          <p:cNvSpPr>
            <a:spLocks noGrp="1"/>
          </p:cNvSpPr>
          <p:nvPr>
            <p:ph type="sldNum" sz="quarter" idx="11"/>
          </p:nvPr>
        </p:nvSpPr>
        <p:spPr/>
        <p:txBody>
          <a:bodyPr/>
          <a:lstStyle/>
          <a:p>
            <a:fld id="{69D8C1A8-4555-4043-A07A-8B7ACA8C1D9E}" type="slidenum">
              <a:rPr lang="en-US" altLang="en-US"/>
              <a:pPr/>
              <a:t>8</a:t>
            </a:fld>
            <a:endParaRPr lang="en-US" altLang="en-US"/>
          </a:p>
        </p:txBody>
      </p:sp>
      <p:sp>
        <p:nvSpPr>
          <p:cNvPr id="488450" name="Text Box 2">
            <a:extLst>
              <a:ext uri="{FF2B5EF4-FFF2-40B4-BE49-F238E27FC236}">
                <a16:creationId xmlns:a16="http://schemas.microsoft.com/office/drawing/2014/main" id="{69C280D3-5DBD-48CC-9436-2E6EBD57B712}"/>
              </a:ext>
            </a:extLst>
          </p:cNvPr>
          <p:cNvSpPr txBox="1">
            <a:spLocks noChangeArrowheads="1"/>
          </p:cNvSpPr>
          <p:nvPr/>
        </p:nvSpPr>
        <p:spPr bwMode="auto">
          <a:xfrm>
            <a:off x="2752725" y="590965"/>
            <a:ext cx="5715000" cy="461665"/>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b="1" i="1" dirty="0">
                <a:latin typeface="Times New Roman" panose="02020603050405020304" pitchFamily="18" charset="0"/>
              </a:rPr>
              <a:t>Concept of NVT</a:t>
            </a:r>
          </a:p>
        </p:txBody>
      </p:sp>
      <p:sp>
        <p:nvSpPr>
          <p:cNvPr id="488451" name="Rectangle 3">
            <a:extLst>
              <a:ext uri="{FF2B5EF4-FFF2-40B4-BE49-F238E27FC236}">
                <a16:creationId xmlns:a16="http://schemas.microsoft.com/office/drawing/2014/main" id="{112656E2-AABC-430A-AC5E-89472520E0E3}"/>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8452" name="Rectangle 4">
            <a:extLst>
              <a:ext uri="{FF2B5EF4-FFF2-40B4-BE49-F238E27FC236}">
                <a16:creationId xmlns:a16="http://schemas.microsoft.com/office/drawing/2014/main" id="{93B91CD3-9B1D-4114-B6C4-DBA14BE84232}"/>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8453" name="Rectangle 5">
            <a:extLst>
              <a:ext uri="{FF2B5EF4-FFF2-40B4-BE49-F238E27FC236}">
                <a16:creationId xmlns:a16="http://schemas.microsoft.com/office/drawing/2014/main" id="{533FB35A-C951-4520-A76B-5F260A5944B1}"/>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8454" name="Rectangle 6">
            <a:extLst>
              <a:ext uri="{FF2B5EF4-FFF2-40B4-BE49-F238E27FC236}">
                <a16:creationId xmlns:a16="http://schemas.microsoft.com/office/drawing/2014/main" id="{830FAB92-D503-4551-9660-FD05408778A2}"/>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8455" name="Rectangle 7">
            <a:extLst>
              <a:ext uri="{FF2B5EF4-FFF2-40B4-BE49-F238E27FC236}">
                <a16:creationId xmlns:a16="http://schemas.microsoft.com/office/drawing/2014/main" id="{9EDCF60E-C576-4F7A-ADBE-DEC1B2EC4A82}"/>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8456" name="Rectangle 8">
            <a:extLst>
              <a:ext uri="{FF2B5EF4-FFF2-40B4-BE49-F238E27FC236}">
                <a16:creationId xmlns:a16="http://schemas.microsoft.com/office/drawing/2014/main" id="{97601B96-549F-42A8-ACA1-E0841E77D089}"/>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8457" name="Rectangle 9">
            <a:extLst>
              <a:ext uri="{FF2B5EF4-FFF2-40B4-BE49-F238E27FC236}">
                <a16:creationId xmlns:a16="http://schemas.microsoft.com/office/drawing/2014/main" id="{41700066-13AF-49DB-BA8A-C51CEFD1900C}"/>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88458" name="Picture 10">
            <a:extLst>
              <a:ext uri="{FF2B5EF4-FFF2-40B4-BE49-F238E27FC236}">
                <a16:creationId xmlns:a16="http://schemas.microsoft.com/office/drawing/2014/main" id="{F96D5656-43EE-4C5A-954D-285FE50BC2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9276" y="2205038"/>
            <a:ext cx="8391525" cy="2519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52AE1A15-58C4-4501-8876-3585BA238AA3}"/>
              </a:ext>
            </a:extLst>
          </p:cNvPr>
          <p:cNvSpPr>
            <a:spLocks noGrp="1"/>
          </p:cNvSpPr>
          <p:nvPr>
            <p:ph type="sldNum" sz="quarter" idx="11"/>
          </p:nvPr>
        </p:nvSpPr>
        <p:spPr/>
        <p:txBody>
          <a:bodyPr/>
          <a:lstStyle/>
          <a:p>
            <a:fld id="{2C31A6B9-7E6D-4159-B94B-1A4B75DBEAB7}" type="slidenum">
              <a:rPr lang="en-US" altLang="en-US"/>
              <a:pPr/>
              <a:t>9</a:t>
            </a:fld>
            <a:endParaRPr lang="en-US" altLang="en-US"/>
          </a:p>
        </p:txBody>
      </p:sp>
      <p:grpSp>
        <p:nvGrpSpPr>
          <p:cNvPr id="475138" name="Group 2">
            <a:extLst>
              <a:ext uri="{FF2B5EF4-FFF2-40B4-BE49-F238E27FC236}">
                <a16:creationId xmlns:a16="http://schemas.microsoft.com/office/drawing/2014/main" id="{B4BBFCAF-CB41-4606-A728-9095D7CC5001}"/>
              </a:ext>
            </a:extLst>
          </p:cNvPr>
          <p:cNvGrpSpPr>
            <a:grpSpLocks/>
          </p:cNvGrpSpPr>
          <p:nvPr/>
        </p:nvGrpSpPr>
        <p:grpSpPr bwMode="auto">
          <a:xfrm>
            <a:off x="1524000" y="0"/>
            <a:ext cx="8686800" cy="6400800"/>
            <a:chOff x="0" y="96"/>
            <a:chExt cx="5472" cy="3840"/>
          </a:xfrm>
        </p:grpSpPr>
        <p:sp>
          <p:nvSpPr>
            <p:cNvPr id="475139" name="AutoShape 3">
              <a:extLst>
                <a:ext uri="{FF2B5EF4-FFF2-40B4-BE49-F238E27FC236}">
                  <a16:creationId xmlns:a16="http://schemas.microsoft.com/office/drawing/2014/main" id="{A254A23D-A75E-4029-80A4-44B29DDADBF1}"/>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latin typeface="Times New Roman" panose="02020603050405020304" pitchFamily="18" charset="0"/>
              </a:endParaRPr>
            </a:p>
          </p:txBody>
        </p:sp>
        <p:sp>
          <p:nvSpPr>
            <p:cNvPr id="475140" name="AutoShape 4">
              <a:extLst>
                <a:ext uri="{FF2B5EF4-FFF2-40B4-BE49-F238E27FC236}">
                  <a16:creationId xmlns:a16="http://schemas.microsoft.com/office/drawing/2014/main" id="{2A4F6575-71DD-4B0A-B409-1F314FC89FA3}"/>
                </a:ext>
              </a:extLst>
            </p:cNvPr>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6170 w 1000"/>
                <a:gd name="T3" fmla="*/ 0 h 1000"/>
                <a:gd name="T4" fmla="*/ 6670 w 1000"/>
                <a:gd name="T5" fmla="*/ 500 h 1000"/>
                <a:gd name="T6" fmla="*/ 6170 w 1000"/>
                <a:gd name="T7" fmla="*/ 999 h 1000"/>
                <a:gd name="T8" fmla="*/ 0 w 1000"/>
                <a:gd name="T9" fmla="*/ 1000 h 1000"/>
                <a:gd name="T10" fmla="*/ 0 w 1000"/>
                <a:gd name="T11" fmla="*/ 0 h 1000"/>
                <a:gd name="T12" fmla="*/ G4 w 1000"/>
                <a:gd name="T13" fmla="*/ G1 h 1000"/>
              </a:gdLst>
              <a:ahLst/>
              <a:cxnLst>
                <a:cxn ang="0">
                  <a:pos x="T0" y="T1"/>
                </a:cxn>
                <a:cxn ang="0">
                  <a:pos x="T2" y="T3"/>
                </a:cxn>
                <a:cxn ang="0">
                  <a:pos x="T4" y="T5"/>
                </a:cxn>
                <a:cxn ang="0">
                  <a:pos x="T6" y="T7"/>
                </a:cxn>
                <a:cxn ang="0">
                  <a:pos x="T8" y="T9"/>
                </a:cxn>
              </a:cxnLst>
              <a:rect l="T10" t="T11" r="T12" b="T13"/>
              <a:pathLst>
                <a:path w="7000" h="1000">
                  <a:moveTo>
                    <a:pt x="0" y="0"/>
                  </a:moveTo>
                  <a:lnTo>
                    <a:pt x="6170" y="0"/>
                  </a:lnTo>
                  <a:cubicBezTo>
                    <a:pt x="6446" y="0"/>
                    <a:pt x="6670" y="223"/>
                    <a:pt x="6670" y="500"/>
                  </a:cubicBezTo>
                  <a:cubicBezTo>
                    <a:pt x="6670" y="776"/>
                    <a:pt x="6446" y="999"/>
                    <a:pt x="6170" y="999"/>
                  </a:cubicBezTo>
                  <a:lnTo>
                    <a:pt x="0" y="100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475141" name="Line 5">
              <a:extLst>
                <a:ext uri="{FF2B5EF4-FFF2-40B4-BE49-F238E27FC236}">
                  <a16:creationId xmlns:a16="http://schemas.microsoft.com/office/drawing/2014/main" id="{C7079B35-4C0F-4F5E-AF2D-1602387E0B3C}"/>
                </a:ext>
              </a:extLst>
            </p:cNvPr>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475142" name="Text Box 6">
            <a:extLst>
              <a:ext uri="{FF2B5EF4-FFF2-40B4-BE49-F238E27FC236}">
                <a16:creationId xmlns:a16="http://schemas.microsoft.com/office/drawing/2014/main" id="{77D1CDE0-B966-4E23-9510-A22C393A8DC5}"/>
              </a:ext>
            </a:extLst>
          </p:cNvPr>
          <p:cNvSpPr txBox="1">
            <a:spLocks noChangeArrowheads="1"/>
          </p:cNvSpPr>
          <p:nvPr/>
        </p:nvSpPr>
        <p:spPr bwMode="auto">
          <a:xfrm>
            <a:off x="1752600" y="354013"/>
            <a:ext cx="512640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dirty="0">
                <a:solidFill>
                  <a:schemeClr val="bg1"/>
                </a:solidFill>
                <a:latin typeface="Arial" panose="020B0604020202020204" pitchFamily="34" charset="0"/>
              </a:rPr>
              <a:t>NVT CHARACTER SET</a:t>
            </a:r>
          </a:p>
        </p:txBody>
      </p:sp>
      <p:sp>
        <p:nvSpPr>
          <p:cNvPr id="475143" name="Rectangle 7">
            <a:extLst>
              <a:ext uri="{FF2B5EF4-FFF2-40B4-BE49-F238E27FC236}">
                <a16:creationId xmlns:a16="http://schemas.microsoft.com/office/drawing/2014/main" id="{006AD307-C66F-43F0-9F43-123D2A8D5482}"/>
              </a:ext>
            </a:extLst>
          </p:cNvPr>
          <p:cNvSpPr>
            <a:spLocks noChangeArrowheads="1"/>
          </p:cNvSpPr>
          <p:nvPr/>
        </p:nvSpPr>
        <p:spPr bwMode="auto">
          <a:xfrm>
            <a:off x="2133600" y="1859899"/>
            <a:ext cx="78486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400" i="1" dirty="0">
                <a:effectLst>
                  <a:outerShdw blurRad="38100" dist="38100" dir="2700000" algn="tl">
                    <a:srgbClr val="C0C0C0"/>
                  </a:outerShdw>
                </a:effectLst>
                <a:latin typeface="Times New Roman" panose="02020603050405020304" pitchFamily="18" charset="0"/>
              </a:rPr>
              <a:t>NVT uses two sets of characters, one for data and one for control. Both are 8-bit bytes. </a:t>
            </a:r>
          </a:p>
        </p:txBody>
      </p:sp>
      <p:sp>
        <p:nvSpPr>
          <p:cNvPr id="475144" name="Rectangle 8">
            <a:extLst>
              <a:ext uri="{FF2B5EF4-FFF2-40B4-BE49-F238E27FC236}">
                <a16:creationId xmlns:a16="http://schemas.microsoft.com/office/drawing/2014/main" id="{54DEABE5-E546-4BCD-B7E3-8A96452ABF91}"/>
              </a:ext>
            </a:extLst>
          </p:cNvPr>
          <p:cNvSpPr>
            <a:spLocks noChangeArrowheads="1"/>
          </p:cNvSpPr>
          <p:nvPr/>
        </p:nvSpPr>
        <p:spPr bwMode="auto">
          <a:xfrm>
            <a:off x="2209800" y="3870326"/>
            <a:ext cx="7848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solidFill>
                  <a:schemeClr val="hlink"/>
                </a:solidFill>
                <a:effectLst>
                  <a:outerShdw blurRad="38100" dist="38100" dir="2700000" algn="tl">
                    <a:srgbClr val="C0C0C0"/>
                  </a:outerShdw>
                </a:effectLst>
                <a:latin typeface="Times New Roman" panose="02020603050405020304" pitchFamily="18" charset="0"/>
              </a:rPr>
              <a:t>The topics discussed in this section include:</a:t>
            </a:r>
          </a:p>
        </p:txBody>
      </p:sp>
      <p:sp>
        <p:nvSpPr>
          <p:cNvPr id="475145" name="Rectangle 9">
            <a:extLst>
              <a:ext uri="{FF2B5EF4-FFF2-40B4-BE49-F238E27FC236}">
                <a16:creationId xmlns:a16="http://schemas.microsoft.com/office/drawing/2014/main" id="{7E250D5C-FB3F-470F-A981-4AABFA312749}"/>
              </a:ext>
            </a:extLst>
          </p:cNvPr>
          <p:cNvSpPr>
            <a:spLocks noChangeArrowheads="1"/>
          </p:cNvSpPr>
          <p:nvPr/>
        </p:nvSpPr>
        <p:spPr bwMode="auto">
          <a:xfrm>
            <a:off x="2209800" y="4403726"/>
            <a:ext cx="7315200" cy="7016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762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effectLst>
                  <a:outerShdw blurRad="38100" dist="38100" dir="2700000" algn="tl">
                    <a:srgbClr val="C0C0C0"/>
                  </a:outerShdw>
                </a:effectLst>
                <a:latin typeface="Times New Roman" panose="02020603050405020304" pitchFamily="18" charset="0"/>
              </a:rPr>
              <a:t>Data Characters </a:t>
            </a:r>
          </a:p>
          <a:p>
            <a:r>
              <a:rPr lang="en-US" altLang="en-US" sz="2000" i="1">
                <a:effectLst>
                  <a:outerShdw blurRad="38100" dist="38100" dir="2700000" algn="tl">
                    <a:srgbClr val="C0C0C0"/>
                  </a:outerShdw>
                </a:effectLst>
                <a:latin typeface="Times New Roman" panose="02020603050405020304" pitchFamily="18" charset="0"/>
              </a:rPr>
              <a:t>Control Characters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a:extLst>
              <a:ext uri="{FF2B5EF4-FFF2-40B4-BE49-F238E27FC236}">
                <a16:creationId xmlns:a16="http://schemas.microsoft.com/office/drawing/2014/main" id="{A6A46AC1-9D11-4FB0-BC03-E8B649152050}"/>
              </a:ext>
            </a:extLst>
          </p:cNvPr>
          <p:cNvSpPr>
            <a:spLocks noGrp="1"/>
          </p:cNvSpPr>
          <p:nvPr>
            <p:ph type="sldNum" sz="quarter" idx="11"/>
          </p:nvPr>
        </p:nvSpPr>
        <p:spPr/>
        <p:txBody>
          <a:bodyPr/>
          <a:lstStyle/>
          <a:p>
            <a:fld id="{64EFF26D-01B9-4739-BBA6-D13EAD794A27}" type="slidenum">
              <a:rPr lang="en-US" altLang="en-US"/>
              <a:pPr/>
              <a:t>10</a:t>
            </a:fld>
            <a:endParaRPr lang="en-US" altLang="en-US"/>
          </a:p>
        </p:txBody>
      </p:sp>
      <p:sp>
        <p:nvSpPr>
          <p:cNvPr id="489474" name="Text Box 2">
            <a:extLst>
              <a:ext uri="{FF2B5EF4-FFF2-40B4-BE49-F238E27FC236}">
                <a16:creationId xmlns:a16="http://schemas.microsoft.com/office/drawing/2014/main" id="{C087BEC4-3FA8-418A-B558-B66FF5340720}"/>
              </a:ext>
            </a:extLst>
          </p:cNvPr>
          <p:cNvSpPr txBox="1">
            <a:spLocks noChangeArrowheads="1"/>
          </p:cNvSpPr>
          <p:nvPr/>
        </p:nvSpPr>
        <p:spPr bwMode="auto">
          <a:xfrm>
            <a:off x="3023395" y="754305"/>
            <a:ext cx="5715000" cy="461665"/>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b="1" i="1" dirty="0">
                <a:latin typeface="Times New Roman" panose="02020603050405020304" pitchFamily="18" charset="0"/>
              </a:rPr>
              <a:t>Format of data characters</a:t>
            </a:r>
          </a:p>
        </p:txBody>
      </p:sp>
      <p:sp>
        <p:nvSpPr>
          <p:cNvPr id="489475" name="Rectangle 3">
            <a:extLst>
              <a:ext uri="{FF2B5EF4-FFF2-40B4-BE49-F238E27FC236}">
                <a16:creationId xmlns:a16="http://schemas.microsoft.com/office/drawing/2014/main" id="{6837ADA9-6160-48FF-A02B-B8504DEABFC7}"/>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9476" name="Rectangle 4">
            <a:extLst>
              <a:ext uri="{FF2B5EF4-FFF2-40B4-BE49-F238E27FC236}">
                <a16:creationId xmlns:a16="http://schemas.microsoft.com/office/drawing/2014/main" id="{77AA66BC-EDB8-4921-955B-A200FEBC2AA5}"/>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9477" name="Rectangle 5">
            <a:extLst>
              <a:ext uri="{FF2B5EF4-FFF2-40B4-BE49-F238E27FC236}">
                <a16:creationId xmlns:a16="http://schemas.microsoft.com/office/drawing/2014/main" id="{E99CF336-82E9-47B7-AB37-F6DE2A161E1A}"/>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9478" name="Rectangle 6">
            <a:extLst>
              <a:ext uri="{FF2B5EF4-FFF2-40B4-BE49-F238E27FC236}">
                <a16:creationId xmlns:a16="http://schemas.microsoft.com/office/drawing/2014/main" id="{B8B6F37E-9D6D-4791-97E8-3C3EE71C529C}"/>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9479" name="Rectangle 7">
            <a:extLst>
              <a:ext uri="{FF2B5EF4-FFF2-40B4-BE49-F238E27FC236}">
                <a16:creationId xmlns:a16="http://schemas.microsoft.com/office/drawing/2014/main" id="{98ABC023-4087-4F0F-A908-F61AC968C51A}"/>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9480" name="Rectangle 8">
            <a:extLst>
              <a:ext uri="{FF2B5EF4-FFF2-40B4-BE49-F238E27FC236}">
                <a16:creationId xmlns:a16="http://schemas.microsoft.com/office/drawing/2014/main" id="{BF19568E-875B-421C-AACA-5174B93CBA9D}"/>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9481" name="Rectangle 9">
            <a:extLst>
              <a:ext uri="{FF2B5EF4-FFF2-40B4-BE49-F238E27FC236}">
                <a16:creationId xmlns:a16="http://schemas.microsoft.com/office/drawing/2014/main" id="{DFDF056D-D541-45D1-8976-CBA60636C01D}"/>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89482" name="Picture 10">
            <a:extLst>
              <a:ext uri="{FF2B5EF4-FFF2-40B4-BE49-F238E27FC236}">
                <a16:creationId xmlns:a16="http://schemas.microsoft.com/office/drawing/2014/main" id="{8D5DEE90-2384-4CDE-BEE6-E5EF609159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3525" y="2786064"/>
            <a:ext cx="6584950" cy="128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a:extLst>
              <a:ext uri="{FF2B5EF4-FFF2-40B4-BE49-F238E27FC236}">
                <a16:creationId xmlns:a16="http://schemas.microsoft.com/office/drawing/2014/main" id="{93818A19-ED6A-4D30-B80C-4F3768E55BB7}"/>
              </a:ext>
            </a:extLst>
          </p:cNvPr>
          <p:cNvSpPr>
            <a:spLocks noGrp="1"/>
          </p:cNvSpPr>
          <p:nvPr>
            <p:ph type="sldNum" sz="quarter" idx="11"/>
          </p:nvPr>
        </p:nvSpPr>
        <p:spPr/>
        <p:txBody>
          <a:bodyPr/>
          <a:lstStyle/>
          <a:p>
            <a:fld id="{29D0DC88-9E65-466B-9C32-FFD45D92BAF8}" type="slidenum">
              <a:rPr lang="en-US" altLang="en-US"/>
              <a:pPr/>
              <a:t>11</a:t>
            </a:fld>
            <a:endParaRPr lang="en-US" altLang="en-US"/>
          </a:p>
        </p:txBody>
      </p:sp>
      <p:sp>
        <p:nvSpPr>
          <p:cNvPr id="490498" name="Text Box 2">
            <a:extLst>
              <a:ext uri="{FF2B5EF4-FFF2-40B4-BE49-F238E27FC236}">
                <a16:creationId xmlns:a16="http://schemas.microsoft.com/office/drawing/2014/main" id="{FCA31E8E-941B-40D3-8CD5-A963CBC09E2C}"/>
              </a:ext>
            </a:extLst>
          </p:cNvPr>
          <p:cNvSpPr txBox="1">
            <a:spLocks noChangeArrowheads="1"/>
          </p:cNvSpPr>
          <p:nvPr/>
        </p:nvSpPr>
        <p:spPr bwMode="auto">
          <a:xfrm>
            <a:off x="3023395" y="696120"/>
            <a:ext cx="5715000" cy="461665"/>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b="1" i="1" dirty="0">
                <a:latin typeface="Times New Roman" panose="02020603050405020304" pitchFamily="18" charset="0"/>
              </a:rPr>
              <a:t>Format of control characters</a:t>
            </a:r>
          </a:p>
        </p:txBody>
      </p:sp>
      <p:sp>
        <p:nvSpPr>
          <p:cNvPr id="490499" name="Rectangle 3">
            <a:extLst>
              <a:ext uri="{FF2B5EF4-FFF2-40B4-BE49-F238E27FC236}">
                <a16:creationId xmlns:a16="http://schemas.microsoft.com/office/drawing/2014/main" id="{62131C36-23A4-4376-9F9B-AC4953F88956}"/>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0500" name="Rectangle 4">
            <a:extLst>
              <a:ext uri="{FF2B5EF4-FFF2-40B4-BE49-F238E27FC236}">
                <a16:creationId xmlns:a16="http://schemas.microsoft.com/office/drawing/2014/main" id="{6140EDC8-7CE1-4479-AB06-7B5600006D85}"/>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0501" name="Rectangle 5">
            <a:extLst>
              <a:ext uri="{FF2B5EF4-FFF2-40B4-BE49-F238E27FC236}">
                <a16:creationId xmlns:a16="http://schemas.microsoft.com/office/drawing/2014/main" id="{A2D19AC9-D130-49FE-B4E7-D16720EDBFA6}"/>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0502" name="Rectangle 6">
            <a:extLst>
              <a:ext uri="{FF2B5EF4-FFF2-40B4-BE49-F238E27FC236}">
                <a16:creationId xmlns:a16="http://schemas.microsoft.com/office/drawing/2014/main" id="{4AF4F420-882C-41F1-A4D9-53E4A6660CCC}"/>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0503" name="Rectangle 7">
            <a:extLst>
              <a:ext uri="{FF2B5EF4-FFF2-40B4-BE49-F238E27FC236}">
                <a16:creationId xmlns:a16="http://schemas.microsoft.com/office/drawing/2014/main" id="{FB3CC5B2-92C5-4628-9F39-B3B407B17B43}"/>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0504" name="Rectangle 8">
            <a:extLst>
              <a:ext uri="{FF2B5EF4-FFF2-40B4-BE49-F238E27FC236}">
                <a16:creationId xmlns:a16="http://schemas.microsoft.com/office/drawing/2014/main" id="{44FF1B7A-A954-47E9-A631-575C82DA96C8}"/>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0505" name="Rectangle 9">
            <a:extLst>
              <a:ext uri="{FF2B5EF4-FFF2-40B4-BE49-F238E27FC236}">
                <a16:creationId xmlns:a16="http://schemas.microsoft.com/office/drawing/2014/main" id="{00682B84-0C30-4C40-82BF-5F65893BE5A6}"/>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90506" name="Picture 10">
            <a:extLst>
              <a:ext uri="{FF2B5EF4-FFF2-40B4-BE49-F238E27FC236}">
                <a16:creationId xmlns:a16="http://schemas.microsoft.com/office/drawing/2014/main" id="{7D0A8E2F-6CB9-4E96-BE6A-7F384241D7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3525" y="2786064"/>
            <a:ext cx="6584950" cy="128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7CBD7D3-FFBD-44FF-A360-9E0F730686C9}"/>
              </a:ext>
            </a:extLst>
          </p:cNvPr>
          <p:cNvSpPr>
            <a:spLocks noGrp="1"/>
          </p:cNvSpPr>
          <p:nvPr>
            <p:ph type="sldNum" sz="quarter" idx="11"/>
          </p:nvPr>
        </p:nvSpPr>
        <p:spPr/>
        <p:txBody>
          <a:bodyPr/>
          <a:lstStyle/>
          <a:p>
            <a:fld id="{DB46A9DC-2EA0-4BAB-AAA3-D3C385411607}" type="slidenum">
              <a:rPr lang="en-US" altLang="en-US"/>
              <a:pPr/>
              <a:t>12</a:t>
            </a:fld>
            <a:endParaRPr lang="en-US" altLang="en-US"/>
          </a:p>
        </p:txBody>
      </p:sp>
      <p:sp>
        <p:nvSpPr>
          <p:cNvPr id="506883" name="Text Box 3">
            <a:extLst>
              <a:ext uri="{FF2B5EF4-FFF2-40B4-BE49-F238E27FC236}">
                <a16:creationId xmlns:a16="http://schemas.microsoft.com/office/drawing/2014/main" id="{233868D7-8489-434F-93DC-971F7E651E6B}"/>
              </a:ext>
            </a:extLst>
          </p:cNvPr>
          <p:cNvSpPr txBox="1">
            <a:spLocks noChangeArrowheads="1"/>
          </p:cNvSpPr>
          <p:nvPr/>
        </p:nvSpPr>
        <p:spPr bwMode="auto">
          <a:xfrm>
            <a:off x="2571750" y="152400"/>
            <a:ext cx="383374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i="1" dirty="0">
                <a:effectLst>
                  <a:outerShdw blurRad="38100" dist="38100" dir="2700000" algn="tl">
                    <a:srgbClr val="C0C0C0"/>
                  </a:outerShdw>
                </a:effectLst>
                <a:latin typeface="Times New Roman" panose="02020603050405020304" pitchFamily="18" charset="0"/>
              </a:rPr>
              <a:t>Some NVT control characters</a:t>
            </a:r>
          </a:p>
        </p:txBody>
      </p:sp>
      <p:pic>
        <p:nvPicPr>
          <p:cNvPr id="506921" name="Picture 41">
            <a:extLst>
              <a:ext uri="{FF2B5EF4-FFF2-40B4-BE49-F238E27FC236}">
                <a16:creationId xmlns:a16="http://schemas.microsoft.com/office/drawing/2014/main" id="{D25EE8BE-78D3-48B4-A519-DE5D3460E8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7938" y="654051"/>
            <a:ext cx="6138862" cy="5681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AD544A1-269E-452E-A74A-A2531417BB59}"/>
              </a:ext>
            </a:extLst>
          </p:cNvPr>
          <p:cNvSpPr>
            <a:spLocks noGrp="1"/>
          </p:cNvSpPr>
          <p:nvPr>
            <p:ph type="sldNum" sz="quarter" idx="11"/>
          </p:nvPr>
        </p:nvSpPr>
        <p:spPr/>
        <p:txBody>
          <a:bodyPr/>
          <a:lstStyle/>
          <a:p>
            <a:fld id="{B619A8B2-15C8-4451-8F42-0C71551FBC66}" type="slidenum">
              <a:rPr lang="en-US" altLang="en-US"/>
              <a:pPr/>
              <a:t>13</a:t>
            </a:fld>
            <a:endParaRPr lang="en-US" altLang="en-US"/>
          </a:p>
        </p:txBody>
      </p:sp>
      <p:grpSp>
        <p:nvGrpSpPr>
          <p:cNvPr id="476162" name="Group 2">
            <a:extLst>
              <a:ext uri="{FF2B5EF4-FFF2-40B4-BE49-F238E27FC236}">
                <a16:creationId xmlns:a16="http://schemas.microsoft.com/office/drawing/2014/main" id="{9B5D4701-ECEB-4921-9253-48C8950F3678}"/>
              </a:ext>
            </a:extLst>
          </p:cNvPr>
          <p:cNvGrpSpPr>
            <a:grpSpLocks/>
          </p:cNvGrpSpPr>
          <p:nvPr/>
        </p:nvGrpSpPr>
        <p:grpSpPr bwMode="auto">
          <a:xfrm>
            <a:off x="1524000" y="0"/>
            <a:ext cx="8686800" cy="6400800"/>
            <a:chOff x="0" y="96"/>
            <a:chExt cx="5472" cy="3840"/>
          </a:xfrm>
        </p:grpSpPr>
        <p:sp>
          <p:nvSpPr>
            <p:cNvPr id="476163" name="AutoShape 3">
              <a:extLst>
                <a:ext uri="{FF2B5EF4-FFF2-40B4-BE49-F238E27FC236}">
                  <a16:creationId xmlns:a16="http://schemas.microsoft.com/office/drawing/2014/main" id="{BBE29906-D7EE-4CF4-B85A-CC30E0BFDBE8}"/>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latin typeface="Times New Roman" panose="02020603050405020304" pitchFamily="18" charset="0"/>
              </a:endParaRPr>
            </a:p>
          </p:txBody>
        </p:sp>
        <p:sp>
          <p:nvSpPr>
            <p:cNvPr id="476164" name="AutoShape 4">
              <a:extLst>
                <a:ext uri="{FF2B5EF4-FFF2-40B4-BE49-F238E27FC236}">
                  <a16:creationId xmlns:a16="http://schemas.microsoft.com/office/drawing/2014/main" id="{9400ACF2-3D39-456F-BD95-33719F01DC97}"/>
                </a:ext>
              </a:extLst>
            </p:cNvPr>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6170 w 1000"/>
                <a:gd name="T3" fmla="*/ 0 h 1000"/>
                <a:gd name="T4" fmla="*/ 6670 w 1000"/>
                <a:gd name="T5" fmla="*/ 500 h 1000"/>
                <a:gd name="T6" fmla="*/ 6170 w 1000"/>
                <a:gd name="T7" fmla="*/ 999 h 1000"/>
                <a:gd name="T8" fmla="*/ 0 w 1000"/>
                <a:gd name="T9" fmla="*/ 1000 h 1000"/>
                <a:gd name="T10" fmla="*/ 0 w 1000"/>
                <a:gd name="T11" fmla="*/ 0 h 1000"/>
                <a:gd name="T12" fmla="*/ G4 w 1000"/>
                <a:gd name="T13" fmla="*/ G1 h 1000"/>
              </a:gdLst>
              <a:ahLst/>
              <a:cxnLst>
                <a:cxn ang="0">
                  <a:pos x="T0" y="T1"/>
                </a:cxn>
                <a:cxn ang="0">
                  <a:pos x="T2" y="T3"/>
                </a:cxn>
                <a:cxn ang="0">
                  <a:pos x="T4" y="T5"/>
                </a:cxn>
                <a:cxn ang="0">
                  <a:pos x="T6" y="T7"/>
                </a:cxn>
                <a:cxn ang="0">
                  <a:pos x="T8" y="T9"/>
                </a:cxn>
              </a:cxnLst>
              <a:rect l="T10" t="T11" r="T12" b="T13"/>
              <a:pathLst>
                <a:path w="7000" h="1000">
                  <a:moveTo>
                    <a:pt x="0" y="0"/>
                  </a:moveTo>
                  <a:lnTo>
                    <a:pt x="6170" y="0"/>
                  </a:lnTo>
                  <a:cubicBezTo>
                    <a:pt x="6446" y="0"/>
                    <a:pt x="6670" y="223"/>
                    <a:pt x="6670" y="500"/>
                  </a:cubicBezTo>
                  <a:cubicBezTo>
                    <a:pt x="6670" y="776"/>
                    <a:pt x="6446" y="999"/>
                    <a:pt x="6170" y="999"/>
                  </a:cubicBezTo>
                  <a:lnTo>
                    <a:pt x="0" y="100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476165" name="Line 5">
              <a:extLst>
                <a:ext uri="{FF2B5EF4-FFF2-40B4-BE49-F238E27FC236}">
                  <a16:creationId xmlns:a16="http://schemas.microsoft.com/office/drawing/2014/main" id="{52B8FB18-AE54-4974-A292-35C1D6CE7EC5}"/>
                </a:ext>
              </a:extLst>
            </p:cNvPr>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476166" name="Text Box 6">
            <a:extLst>
              <a:ext uri="{FF2B5EF4-FFF2-40B4-BE49-F238E27FC236}">
                <a16:creationId xmlns:a16="http://schemas.microsoft.com/office/drawing/2014/main" id="{8A88E76B-DB5F-4D88-8EAE-EA8166BA870B}"/>
              </a:ext>
            </a:extLst>
          </p:cNvPr>
          <p:cNvSpPr txBox="1">
            <a:spLocks noChangeArrowheads="1"/>
          </p:cNvSpPr>
          <p:nvPr/>
        </p:nvSpPr>
        <p:spPr bwMode="auto">
          <a:xfrm>
            <a:off x="1752600" y="354013"/>
            <a:ext cx="298030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dirty="0">
                <a:solidFill>
                  <a:schemeClr val="bg1"/>
                </a:solidFill>
                <a:latin typeface="Arial" panose="020B0604020202020204" pitchFamily="34" charset="0"/>
              </a:rPr>
              <a:t>EMBEDDING</a:t>
            </a:r>
          </a:p>
        </p:txBody>
      </p:sp>
      <p:sp>
        <p:nvSpPr>
          <p:cNvPr id="476167" name="Rectangle 7">
            <a:extLst>
              <a:ext uri="{FF2B5EF4-FFF2-40B4-BE49-F238E27FC236}">
                <a16:creationId xmlns:a16="http://schemas.microsoft.com/office/drawing/2014/main" id="{74E23EE6-679E-4DAC-A6DB-0D3CBD429949}"/>
              </a:ext>
            </a:extLst>
          </p:cNvPr>
          <p:cNvSpPr>
            <a:spLocks noChangeArrowheads="1"/>
          </p:cNvSpPr>
          <p:nvPr/>
        </p:nvSpPr>
        <p:spPr bwMode="auto">
          <a:xfrm>
            <a:off x="1981200" y="1897062"/>
            <a:ext cx="78486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400" i="1">
                <a:effectLst>
                  <a:outerShdw blurRad="38100" dist="38100" dir="2700000" algn="tl">
                    <a:srgbClr val="C0C0C0"/>
                  </a:outerShdw>
                </a:effectLst>
                <a:latin typeface="Times New Roman" panose="02020603050405020304" pitchFamily="18" charset="0"/>
              </a:rPr>
              <a:t>The same connection is used by TELNET for sending both data and control characters. TELNET accomplishes this by embedding the control characters in the data stream.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a:extLst>
              <a:ext uri="{FF2B5EF4-FFF2-40B4-BE49-F238E27FC236}">
                <a16:creationId xmlns:a16="http://schemas.microsoft.com/office/drawing/2014/main" id="{BE2582DB-C037-4032-87E8-4FEC5DFB4881}"/>
              </a:ext>
            </a:extLst>
          </p:cNvPr>
          <p:cNvSpPr>
            <a:spLocks noGrp="1"/>
          </p:cNvSpPr>
          <p:nvPr>
            <p:ph type="sldNum" sz="quarter" idx="11"/>
          </p:nvPr>
        </p:nvSpPr>
        <p:spPr/>
        <p:txBody>
          <a:bodyPr/>
          <a:lstStyle/>
          <a:p>
            <a:fld id="{F66A5AA5-3420-4468-9C27-8FF11997A150}" type="slidenum">
              <a:rPr lang="en-US" altLang="en-US"/>
              <a:pPr/>
              <a:t>14</a:t>
            </a:fld>
            <a:endParaRPr lang="en-US" altLang="en-US"/>
          </a:p>
        </p:txBody>
      </p:sp>
      <p:sp>
        <p:nvSpPr>
          <p:cNvPr id="491522" name="Text Box 2">
            <a:extLst>
              <a:ext uri="{FF2B5EF4-FFF2-40B4-BE49-F238E27FC236}">
                <a16:creationId xmlns:a16="http://schemas.microsoft.com/office/drawing/2014/main" id="{3EFEAF23-5828-4622-910B-DAB867A6FCDC}"/>
              </a:ext>
            </a:extLst>
          </p:cNvPr>
          <p:cNvSpPr txBox="1">
            <a:spLocks noChangeArrowheads="1"/>
          </p:cNvSpPr>
          <p:nvPr/>
        </p:nvSpPr>
        <p:spPr bwMode="auto">
          <a:xfrm>
            <a:off x="2870200" y="712789"/>
            <a:ext cx="5715000" cy="461665"/>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b="1" i="1" dirty="0">
                <a:latin typeface="Times New Roman" panose="02020603050405020304" pitchFamily="18" charset="0"/>
              </a:rPr>
              <a:t>An example of embedding</a:t>
            </a:r>
          </a:p>
        </p:txBody>
      </p:sp>
      <p:sp>
        <p:nvSpPr>
          <p:cNvPr id="491523" name="Rectangle 3">
            <a:extLst>
              <a:ext uri="{FF2B5EF4-FFF2-40B4-BE49-F238E27FC236}">
                <a16:creationId xmlns:a16="http://schemas.microsoft.com/office/drawing/2014/main" id="{0C687BB2-22B6-4350-9E93-2F3015EFFAFF}"/>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1524" name="Rectangle 4">
            <a:extLst>
              <a:ext uri="{FF2B5EF4-FFF2-40B4-BE49-F238E27FC236}">
                <a16:creationId xmlns:a16="http://schemas.microsoft.com/office/drawing/2014/main" id="{5F16FA42-BA16-46D2-A716-0937FF6E3072}"/>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1525" name="Rectangle 5">
            <a:extLst>
              <a:ext uri="{FF2B5EF4-FFF2-40B4-BE49-F238E27FC236}">
                <a16:creationId xmlns:a16="http://schemas.microsoft.com/office/drawing/2014/main" id="{F7B12AE4-F92A-42B4-B373-6184E6D69DE6}"/>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1526" name="Rectangle 6">
            <a:extLst>
              <a:ext uri="{FF2B5EF4-FFF2-40B4-BE49-F238E27FC236}">
                <a16:creationId xmlns:a16="http://schemas.microsoft.com/office/drawing/2014/main" id="{52715AF5-EDE4-49BB-A7DF-23FDFAF6F558}"/>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1527" name="Rectangle 7">
            <a:extLst>
              <a:ext uri="{FF2B5EF4-FFF2-40B4-BE49-F238E27FC236}">
                <a16:creationId xmlns:a16="http://schemas.microsoft.com/office/drawing/2014/main" id="{3127C50D-78BB-4B8C-89BC-ED96F9A70613}"/>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1528" name="Rectangle 8">
            <a:extLst>
              <a:ext uri="{FF2B5EF4-FFF2-40B4-BE49-F238E27FC236}">
                <a16:creationId xmlns:a16="http://schemas.microsoft.com/office/drawing/2014/main" id="{0EBA6F0B-EBDC-48C6-AD70-68C2330EA680}"/>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1529" name="Rectangle 9">
            <a:extLst>
              <a:ext uri="{FF2B5EF4-FFF2-40B4-BE49-F238E27FC236}">
                <a16:creationId xmlns:a16="http://schemas.microsoft.com/office/drawing/2014/main" id="{0A542004-F9FF-4F39-B07E-1D487273E0A9}"/>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91530" name="Picture 10">
            <a:extLst>
              <a:ext uri="{FF2B5EF4-FFF2-40B4-BE49-F238E27FC236}">
                <a16:creationId xmlns:a16="http://schemas.microsoft.com/office/drawing/2014/main" id="{515F7047-47C0-4721-A888-1AFA7BEDCB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1664" y="2257425"/>
            <a:ext cx="8034337" cy="2109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9DAE56DD-7B2D-4F2A-90EA-93D59B48D76F}"/>
              </a:ext>
            </a:extLst>
          </p:cNvPr>
          <p:cNvSpPr>
            <a:spLocks noGrp="1"/>
          </p:cNvSpPr>
          <p:nvPr>
            <p:ph type="sldNum" sz="quarter" idx="11"/>
          </p:nvPr>
        </p:nvSpPr>
        <p:spPr/>
        <p:txBody>
          <a:bodyPr/>
          <a:lstStyle/>
          <a:p>
            <a:fld id="{DF35CBD2-5EB9-4CE3-92F7-FC166CDB7403}" type="slidenum">
              <a:rPr lang="en-US" altLang="en-US"/>
              <a:pPr/>
              <a:t>15</a:t>
            </a:fld>
            <a:endParaRPr lang="en-US" altLang="en-US"/>
          </a:p>
        </p:txBody>
      </p:sp>
      <p:grpSp>
        <p:nvGrpSpPr>
          <p:cNvPr id="477186" name="Group 2">
            <a:extLst>
              <a:ext uri="{FF2B5EF4-FFF2-40B4-BE49-F238E27FC236}">
                <a16:creationId xmlns:a16="http://schemas.microsoft.com/office/drawing/2014/main" id="{E29C4C80-3B1D-4975-A991-D5959E7BFB29}"/>
              </a:ext>
            </a:extLst>
          </p:cNvPr>
          <p:cNvGrpSpPr>
            <a:grpSpLocks/>
          </p:cNvGrpSpPr>
          <p:nvPr/>
        </p:nvGrpSpPr>
        <p:grpSpPr bwMode="auto">
          <a:xfrm>
            <a:off x="1524000" y="0"/>
            <a:ext cx="8686800" cy="6400800"/>
            <a:chOff x="0" y="96"/>
            <a:chExt cx="5472" cy="3840"/>
          </a:xfrm>
        </p:grpSpPr>
        <p:sp>
          <p:nvSpPr>
            <p:cNvPr id="477187" name="AutoShape 3">
              <a:extLst>
                <a:ext uri="{FF2B5EF4-FFF2-40B4-BE49-F238E27FC236}">
                  <a16:creationId xmlns:a16="http://schemas.microsoft.com/office/drawing/2014/main" id="{2D38962F-E307-49A3-8DD8-576C9DCAF76E}"/>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latin typeface="Times New Roman" panose="02020603050405020304" pitchFamily="18" charset="0"/>
              </a:endParaRPr>
            </a:p>
          </p:txBody>
        </p:sp>
        <p:sp>
          <p:nvSpPr>
            <p:cNvPr id="477188" name="AutoShape 4">
              <a:extLst>
                <a:ext uri="{FF2B5EF4-FFF2-40B4-BE49-F238E27FC236}">
                  <a16:creationId xmlns:a16="http://schemas.microsoft.com/office/drawing/2014/main" id="{66AC5890-3C6D-4D4A-940A-10DCC9D679F6}"/>
                </a:ext>
              </a:extLst>
            </p:cNvPr>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6170 w 1000"/>
                <a:gd name="T3" fmla="*/ 0 h 1000"/>
                <a:gd name="T4" fmla="*/ 6670 w 1000"/>
                <a:gd name="T5" fmla="*/ 500 h 1000"/>
                <a:gd name="T6" fmla="*/ 6170 w 1000"/>
                <a:gd name="T7" fmla="*/ 999 h 1000"/>
                <a:gd name="T8" fmla="*/ 0 w 1000"/>
                <a:gd name="T9" fmla="*/ 1000 h 1000"/>
                <a:gd name="T10" fmla="*/ 0 w 1000"/>
                <a:gd name="T11" fmla="*/ 0 h 1000"/>
                <a:gd name="T12" fmla="*/ G4 w 1000"/>
                <a:gd name="T13" fmla="*/ G1 h 1000"/>
              </a:gdLst>
              <a:ahLst/>
              <a:cxnLst>
                <a:cxn ang="0">
                  <a:pos x="T0" y="T1"/>
                </a:cxn>
                <a:cxn ang="0">
                  <a:pos x="T2" y="T3"/>
                </a:cxn>
                <a:cxn ang="0">
                  <a:pos x="T4" y="T5"/>
                </a:cxn>
                <a:cxn ang="0">
                  <a:pos x="T6" y="T7"/>
                </a:cxn>
                <a:cxn ang="0">
                  <a:pos x="T8" y="T9"/>
                </a:cxn>
              </a:cxnLst>
              <a:rect l="T10" t="T11" r="T12" b="T13"/>
              <a:pathLst>
                <a:path w="7000" h="1000">
                  <a:moveTo>
                    <a:pt x="0" y="0"/>
                  </a:moveTo>
                  <a:lnTo>
                    <a:pt x="6170" y="0"/>
                  </a:lnTo>
                  <a:cubicBezTo>
                    <a:pt x="6446" y="0"/>
                    <a:pt x="6670" y="223"/>
                    <a:pt x="6670" y="500"/>
                  </a:cubicBezTo>
                  <a:cubicBezTo>
                    <a:pt x="6670" y="776"/>
                    <a:pt x="6446" y="999"/>
                    <a:pt x="6170" y="999"/>
                  </a:cubicBezTo>
                  <a:lnTo>
                    <a:pt x="0" y="100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477189" name="Line 5">
              <a:extLst>
                <a:ext uri="{FF2B5EF4-FFF2-40B4-BE49-F238E27FC236}">
                  <a16:creationId xmlns:a16="http://schemas.microsoft.com/office/drawing/2014/main" id="{38C0D1D0-CC5D-4D87-A8D9-C1F71724D1FD}"/>
                </a:ext>
              </a:extLst>
            </p:cNvPr>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477190" name="Text Box 6">
            <a:extLst>
              <a:ext uri="{FF2B5EF4-FFF2-40B4-BE49-F238E27FC236}">
                <a16:creationId xmlns:a16="http://schemas.microsoft.com/office/drawing/2014/main" id="{3C82761F-E8CF-4E50-A7A4-20851EA27737}"/>
              </a:ext>
            </a:extLst>
          </p:cNvPr>
          <p:cNvSpPr txBox="1">
            <a:spLocks noChangeArrowheads="1"/>
          </p:cNvSpPr>
          <p:nvPr/>
        </p:nvSpPr>
        <p:spPr bwMode="auto">
          <a:xfrm>
            <a:off x="1752600" y="354013"/>
            <a:ext cx="226215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dirty="0">
                <a:solidFill>
                  <a:schemeClr val="bg1"/>
                </a:solidFill>
                <a:latin typeface="Arial" panose="020B0604020202020204" pitchFamily="34" charset="0"/>
              </a:rPr>
              <a:t>OPTIONS</a:t>
            </a:r>
          </a:p>
        </p:txBody>
      </p:sp>
      <p:sp>
        <p:nvSpPr>
          <p:cNvPr id="477191" name="Rectangle 7">
            <a:extLst>
              <a:ext uri="{FF2B5EF4-FFF2-40B4-BE49-F238E27FC236}">
                <a16:creationId xmlns:a16="http://schemas.microsoft.com/office/drawing/2014/main" id="{D547B617-096C-4105-82CA-1CEE9FA2439B}"/>
              </a:ext>
            </a:extLst>
          </p:cNvPr>
          <p:cNvSpPr>
            <a:spLocks noChangeArrowheads="1"/>
          </p:cNvSpPr>
          <p:nvPr/>
        </p:nvSpPr>
        <p:spPr bwMode="auto">
          <a:xfrm>
            <a:off x="2057400" y="1371601"/>
            <a:ext cx="78486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400" i="1" dirty="0">
                <a:effectLst>
                  <a:outerShdw blurRad="38100" dist="38100" dir="2700000" algn="tl">
                    <a:srgbClr val="C0C0C0"/>
                  </a:outerShdw>
                </a:effectLst>
                <a:latin typeface="Times New Roman" panose="02020603050405020304" pitchFamily="18" charset="0"/>
              </a:rPr>
              <a:t>TELNET lets the client and server negotiate options before or during the use of the service. Options are extra features available to a user with a more sophisticated terminal.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72A84E1-57AF-4D2D-9A96-12123ED52506}"/>
              </a:ext>
            </a:extLst>
          </p:cNvPr>
          <p:cNvSpPr>
            <a:spLocks noGrp="1"/>
          </p:cNvSpPr>
          <p:nvPr>
            <p:ph type="sldNum" sz="quarter" idx="11"/>
          </p:nvPr>
        </p:nvSpPr>
        <p:spPr/>
        <p:txBody>
          <a:bodyPr/>
          <a:lstStyle/>
          <a:p>
            <a:fld id="{9E6FB75F-C367-45D9-9022-CD355D0E74E5}" type="slidenum">
              <a:rPr lang="en-US" altLang="en-US"/>
              <a:pPr/>
              <a:t>16</a:t>
            </a:fld>
            <a:endParaRPr lang="en-US" altLang="en-US"/>
          </a:p>
        </p:txBody>
      </p:sp>
      <p:sp>
        <p:nvSpPr>
          <p:cNvPr id="507907" name="Text Box 3">
            <a:extLst>
              <a:ext uri="{FF2B5EF4-FFF2-40B4-BE49-F238E27FC236}">
                <a16:creationId xmlns:a16="http://schemas.microsoft.com/office/drawing/2014/main" id="{D7BDC0D8-FE05-4BE5-B411-1204BB366127}"/>
              </a:ext>
            </a:extLst>
          </p:cNvPr>
          <p:cNvSpPr txBox="1">
            <a:spLocks noChangeArrowheads="1"/>
          </p:cNvSpPr>
          <p:nvPr/>
        </p:nvSpPr>
        <p:spPr bwMode="auto">
          <a:xfrm>
            <a:off x="2209801" y="990600"/>
            <a:ext cx="11592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i="1" dirty="0">
                <a:effectLst>
                  <a:outerShdw blurRad="38100" dist="38100" dir="2700000" algn="tl">
                    <a:srgbClr val="C0C0C0"/>
                  </a:outerShdw>
                </a:effectLst>
                <a:latin typeface="Times New Roman" panose="02020603050405020304" pitchFamily="18" charset="0"/>
              </a:rPr>
              <a:t>Options</a:t>
            </a:r>
          </a:p>
        </p:txBody>
      </p:sp>
      <p:pic>
        <p:nvPicPr>
          <p:cNvPr id="507945" name="Picture 41">
            <a:extLst>
              <a:ext uri="{FF2B5EF4-FFF2-40B4-BE49-F238E27FC236}">
                <a16:creationId xmlns:a16="http://schemas.microsoft.com/office/drawing/2014/main" id="{381E4298-C113-4833-8CAB-7194F1EBCE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3264" y="1371600"/>
            <a:ext cx="8389937" cy="3963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C117003D-5322-4444-BCAD-7CF034D847C5}"/>
              </a:ext>
            </a:extLst>
          </p:cNvPr>
          <p:cNvSpPr>
            <a:spLocks noGrp="1"/>
          </p:cNvSpPr>
          <p:nvPr>
            <p:ph type="sldNum" sz="quarter" idx="11"/>
          </p:nvPr>
        </p:nvSpPr>
        <p:spPr/>
        <p:txBody>
          <a:bodyPr/>
          <a:lstStyle/>
          <a:p>
            <a:fld id="{A5A90D43-2899-4D11-8DDF-76AFF9405B5A}" type="slidenum">
              <a:rPr lang="en-US" altLang="en-US"/>
              <a:pPr/>
              <a:t>17</a:t>
            </a:fld>
            <a:endParaRPr lang="en-US" altLang="en-US"/>
          </a:p>
        </p:txBody>
      </p:sp>
      <p:grpSp>
        <p:nvGrpSpPr>
          <p:cNvPr id="478210" name="Group 2">
            <a:extLst>
              <a:ext uri="{FF2B5EF4-FFF2-40B4-BE49-F238E27FC236}">
                <a16:creationId xmlns:a16="http://schemas.microsoft.com/office/drawing/2014/main" id="{DD011F65-F963-4647-ACEC-5CF4F4F490B9}"/>
              </a:ext>
            </a:extLst>
          </p:cNvPr>
          <p:cNvGrpSpPr>
            <a:grpSpLocks/>
          </p:cNvGrpSpPr>
          <p:nvPr/>
        </p:nvGrpSpPr>
        <p:grpSpPr bwMode="auto">
          <a:xfrm>
            <a:off x="1524000" y="0"/>
            <a:ext cx="8686800" cy="6400800"/>
            <a:chOff x="0" y="96"/>
            <a:chExt cx="5472" cy="3840"/>
          </a:xfrm>
        </p:grpSpPr>
        <p:sp>
          <p:nvSpPr>
            <p:cNvPr id="478211" name="AutoShape 3">
              <a:extLst>
                <a:ext uri="{FF2B5EF4-FFF2-40B4-BE49-F238E27FC236}">
                  <a16:creationId xmlns:a16="http://schemas.microsoft.com/office/drawing/2014/main" id="{0E6D1DD6-310E-418C-B8BE-A4023D5D740E}"/>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latin typeface="Times New Roman" panose="02020603050405020304" pitchFamily="18" charset="0"/>
              </a:endParaRPr>
            </a:p>
          </p:txBody>
        </p:sp>
        <p:sp>
          <p:nvSpPr>
            <p:cNvPr id="478212" name="AutoShape 4">
              <a:extLst>
                <a:ext uri="{FF2B5EF4-FFF2-40B4-BE49-F238E27FC236}">
                  <a16:creationId xmlns:a16="http://schemas.microsoft.com/office/drawing/2014/main" id="{91CC2B70-27C4-4F90-AA7D-3F6C25C1D71E}"/>
                </a:ext>
              </a:extLst>
            </p:cNvPr>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6170 w 1000"/>
                <a:gd name="T3" fmla="*/ 0 h 1000"/>
                <a:gd name="T4" fmla="*/ 6670 w 1000"/>
                <a:gd name="T5" fmla="*/ 500 h 1000"/>
                <a:gd name="T6" fmla="*/ 6170 w 1000"/>
                <a:gd name="T7" fmla="*/ 999 h 1000"/>
                <a:gd name="T8" fmla="*/ 0 w 1000"/>
                <a:gd name="T9" fmla="*/ 1000 h 1000"/>
                <a:gd name="T10" fmla="*/ 0 w 1000"/>
                <a:gd name="T11" fmla="*/ 0 h 1000"/>
                <a:gd name="T12" fmla="*/ G4 w 1000"/>
                <a:gd name="T13" fmla="*/ G1 h 1000"/>
              </a:gdLst>
              <a:ahLst/>
              <a:cxnLst>
                <a:cxn ang="0">
                  <a:pos x="T0" y="T1"/>
                </a:cxn>
                <a:cxn ang="0">
                  <a:pos x="T2" y="T3"/>
                </a:cxn>
                <a:cxn ang="0">
                  <a:pos x="T4" y="T5"/>
                </a:cxn>
                <a:cxn ang="0">
                  <a:pos x="T6" y="T7"/>
                </a:cxn>
                <a:cxn ang="0">
                  <a:pos x="T8" y="T9"/>
                </a:cxn>
              </a:cxnLst>
              <a:rect l="T10" t="T11" r="T12" b="T13"/>
              <a:pathLst>
                <a:path w="7000" h="1000">
                  <a:moveTo>
                    <a:pt x="0" y="0"/>
                  </a:moveTo>
                  <a:lnTo>
                    <a:pt x="6170" y="0"/>
                  </a:lnTo>
                  <a:cubicBezTo>
                    <a:pt x="6446" y="0"/>
                    <a:pt x="6670" y="223"/>
                    <a:pt x="6670" y="500"/>
                  </a:cubicBezTo>
                  <a:cubicBezTo>
                    <a:pt x="6670" y="776"/>
                    <a:pt x="6446" y="999"/>
                    <a:pt x="6170" y="999"/>
                  </a:cubicBezTo>
                  <a:lnTo>
                    <a:pt x="0" y="100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478213" name="Line 5">
              <a:extLst>
                <a:ext uri="{FF2B5EF4-FFF2-40B4-BE49-F238E27FC236}">
                  <a16:creationId xmlns:a16="http://schemas.microsoft.com/office/drawing/2014/main" id="{318FA271-72BA-4C30-AD1F-901BEF08CEAB}"/>
                </a:ext>
              </a:extLst>
            </p:cNvPr>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478214" name="Text Box 6">
            <a:extLst>
              <a:ext uri="{FF2B5EF4-FFF2-40B4-BE49-F238E27FC236}">
                <a16:creationId xmlns:a16="http://schemas.microsoft.com/office/drawing/2014/main" id="{FC1EF795-1109-4766-AD59-379895D1F949}"/>
              </a:ext>
            </a:extLst>
          </p:cNvPr>
          <p:cNvSpPr txBox="1">
            <a:spLocks noChangeArrowheads="1"/>
          </p:cNvSpPr>
          <p:nvPr/>
        </p:nvSpPr>
        <p:spPr bwMode="auto">
          <a:xfrm>
            <a:off x="1752600" y="354013"/>
            <a:ext cx="522873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dirty="0">
                <a:solidFill>
                  <a:schemeClr val="bg1"/>
                </a:solidFill>
                <a:latin typeface="Arial" panose="020B0604020202020204" pitchFamily="34" charset="0"/>
              </a:rPr>
              <a:t>OPTION NEGOTIATION</a:t>
            </a:r>
          </a:p>
        </p:txBody>
      </p:sp>
      <p:sp>
        <p:nvSpPr>
          <p:cNvPr id="478215" name="Rectangle 7">
            <a:extLst>
              <a:ext uri="{FF2B5EF4-FFF2-40B4-BE49-F238E27FC236}">
                <a16:creationId xmlns:a16="http://schemas.microsoft.com/office/drawing/2014/main" id="{E0E6B189-07F9-4BCA-97A4-ADB6F8230126}"/>
              </a:ext>
            </a:extLst>
          </p:cNvPr>
          <p:cNvSpPr>
            <a:spLocks noChangeArrowheads="1"/>
          </p:cNvSpPr>
          <p:nvPr/>
        </p:nvSpPr>
        <p:spPr bwMode="auto">
          <a:xfrm>
            <a:off x="2057400" y="1371601"/>
            <a:ext cx="7848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000" i="1">
                <a:effectLst>
                  <a:outerShdw blurRad="38100" dist="38100" dir="2700000" algn="tl">
                    <a:srgbClr val="C0C0C0"/>
                  </a:outerShdw>
                </a:effectLst>
                <a:latin typeface="Times New Roman" panose="02020603050405020304" pitchFamily="18" charset="0"/>
              </a:rPr>
              <a:t>To use any of the options first requires option negotiation between the client and the server. Four control characters are used for this purpose.</a:t>
            </a:r>
          </a:p>
        </p:txBody>
      </p:sp>
      <p:sp>
        <p:nvSpPr>
          <p:cNvPr id="478216" name="Rectangle 8">
            <a:extLst>
              <a:ext uri="{FF2B5EF4-FFF2-40B4-BE49-F238E27FC236}">
                <a16:creationId xmlns:a16="http://schemas.microsoft.com/office/drawing/2014/main" id="{E670DF14-DE00-4308-A45C-E8AB6BAA72F7}"/>
              </a:ext>
            </a:extLst>
          </p:cNvPr>
          <p:cNvSpPr>
            <a:spLocks noChangeArrowheads="1"/>
          </p:cNvSpPr>
          <p:nvPr/>
        </p:nvSpPr>
        <p:spPr bwMode="auto">
          <a:xfrm>
            <a:off x="2209800" y="3870326"/>
            <a:ext cx="7848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solidFill>
                  <a:schemeClr val="hlink"/>
                </a:solidFill>
                <a:effectLst>
                  <a:outerShdw blurRad="38100" dist="38100" dir="2700000" algn="tl">
                    <a:srgbClr val="C0C0C0"/>
                  </a:outerShdw>
                </a:effectLst>
                <a:latin typeface="Times New Roman" panose="02020603050405020304" pitchFamily="18" charset="0"/>
              </a:rPr>
              <a:t>The topics discussed in this section include:</a:t>
            </a:r>
          </a:p>
        </p:txBody>
      </p:sp>
      <p:sp>
        <p:nvSpPr>
          <p:cNvPr id="478217" name="Rectangle 9">
            <a:extLst>
              <a:ext uri="{FF2B5EF4-FFF2-40B4-BE49-F238E27FC236}">
                <a16:creationId xmlns:a16="http://schemas.microsoft.com/office/drawing/2014/main" id="{BFAC2410-09F6-43DF-BD24-490A81D001A6}"/>
              </a:ext>
            </a:extLst>
          </p:cNvPr>
          <p:cNvSpPr>
            <a:spLocks noChangeArrowheads="1"/>
          </p:cNvSpPr>
          <p:nvPr/>
        </p:nvSpPr>
        <p:spPr bwMode="auto">
          <a:xfrm>
            <a:off x="2209800" y="4403726"/>
            <a:ext cx="7315200" cy="10064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762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effectLst>
                  <a:outerShdw blurRad="38100" dist="38100" dir="2700000" algn="tl">
                    <a:srgbClr val="C0C0C0"/>
                  </a:outerShdw>
                </a:effectLst>
                <a:latin typeface="Times New Roman" panose="02020603050405020304" pitchFamily="18" charset="0"/>
              </a:rPr>
              <a:t>Enabling an Option </a:t>
            </a:r>
          </a:p>
          <a:p>
            <a:r>
              <a:rPr lang="en-US" altLang="en-US" sz="2000" i="1">
                <a:effectLst>
                  <a:outerShdw blurRad="38100" dist="38100" dir="2700000" algn="tl">
                    <a:srgbClr val="C0C0C0"/>
                  </a:outerShdw>
                </a:effectLst>
                <a:latin typeface="Times New Roman" panose="02020603050405020304" pitchFamily="18" charset="0"/>
              </a:rPr>
              <a:t>Disabling an Option </a:t>
            </a:r>
          </a:p>
          <a:p>
            <a:r>
              <a:rPr lang="en-US" altLang="en-US" sz="2000" i="1">
                <a:effectLst>
                  <a:outerShdw blurRad="38100" dist="38100" dir="2700000" algn="tl">
                    <a:srgbClr val="C0C0C0"/>
                  </a:outerShdw>
                </a:effectLst>
                <a:latin typeface="Times New Roman" panose="02020603050405020304" pitchFamily="18" charset="0"/>
              </a:rPr>
              <a:t>Symmetry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1BEC7B6-B604-4A0F-A9C8-C76E71F14CC8}"/>
              </a:ext>
            </a:extLst>
          </p:cNvPr>
          <p:cNvSpPr>
            <a:spLocks noGrp="1"/>
          </p:cNvSpPr>
          <p:nvPr>
            <p:ph type="sldNum" sz="quarter" idx="11"/>
          </p:nvPr>
        </p:nvSpPr>
        <p:spPr/>
        <p:txBody>
          <a:bodyPr/>
          <a:lstStyle/>
          <a:p>
            <a:fld id="{A3554DA7-B442-4C2D-A9D4-27AF26C86BFA}" type="slidenum">
              <a:rPr lang="en-US" altLang="en-US"/>
              <a:pPr/>
              <a:t>18</a:t>
            </a:fld>
            <a:endParaRPr lang="en-US" altLang="en-US"/>
          </a:p>
        </p:txBody>
      </p:sp>
      <p:sp>
        <p:nvSpPr>
          <p:cNvPr id="508931" name="Text Box 3">
            <a:extLst>
              <a:ext uri="{FF2B5EF4-FFF2-40B4-BE49-F238E27FC236}">
                <a16:creationId xmlns:a16="http://schemas.microsoft.com/office/drawing/2014/main" id="{E2C24CC2-B679-43BF-A86F-A0C2E07AF645}"/>
              </a:ext>
            </a:extLst>
          </p:cNvPr>
          <p:cNvSpPr txBox="1">
            <a:spLocks noChangeArrowheads="1"/>
          </p:cNvSpPr>
          <p:nvPr/>
        </p:nvSpPr>
        <p:spPr bwMode="auto">
          <a:xfrm>
            <a:off x="2209800" y="990600"/>
            <a:ext cx="520931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i="1" dirty="0">
                <a:effectLst>
                  <a:outerShdw blurRad="38100" dist="38100" dir="2700000" algn="tl">
                    <a:srgbClr val="C0C0C0"/>
                  </a:outerShdw>
                </a:effectLst>
                <a:latin typeface="Times New Roman" panose="02020603050405020304" pitchFamily="18" charset="0"/>
              </a:rPr>
              <a:t>NVT character set for option negotiation</a:t>
            </a:r>
          </a:p>
        </p:txBody>
      </p:sp>
      <p:pic>
        <p:nvPicPr>
          <p:cNvPr id="508969" name="Picture 41">
            <a:extLst>
              <a:ext uri="{FF2B5EF4-FFF2-40B4-BE49-F238E27FC236}">
                <a16:creationId xmlns:a16="http://schemas.microsoft.com/office/drawing/2014/main" id="{01200129-1F44-4E1F-9AA6-2BDC960DE3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6900" y="1447800"/>
            <a:ext cx="8420100" cy="457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a:extLst>
              <a:ext uri="{FF2B5EF4-FFF2-40B4-BE49-F238E27FC236}">
                <a16:creationId xmlns:a16="http://schemas.microsoft.com/office/drawing/2014/main" id="{C241BE25-94DB-4972-8A75-4927635200FA}"/>
              </a:ext>
            </a:extLst>
          </p:cNvPr>
          <p:cNvSpPr>
            <a:spLocks noGrp="1"/>
          </p:cNvSpPr>
          <p:nvPr>
            <p:ph type="sldNum" sz="quarter" idx="11"/>
          </p:nvPr>
        </p:nvSpPr>
        <p:spPr/>
        <p:txBody>
          <a:bodyPr/>
          <a:lstStyle/>
          <a:p>
            <a:fld id="{CEAA9CDF-A0F0-46FA-A67E-EFA7AE322D89}" type="slidenum">
              <a:rPr lang="en-US" altLang="en-US"/>
              <a:pPr/>
              <a:t>19</a:t>
            </a:fld>
            <a:endParaRPr lang="en-US" altLang="en-US"/>
          </a:p>
        </p:txBody>
      </p:sp>
      <p:sp>
        <p:nvSpPr>
          <p:cNvPr id="493570" name="Text Box 2">
            <a:extLst>
              <a:ext uri="{FF2B5EF4-FFF2-40B4-BE49-F238E27FC236}">
                <a16:creationId xmlns:a16="http://schemas.microsoft.com/office/drawing/2014/main" id="{FE73E8BC-35F6-4606-A751-987C935C8947}"/>
              </a:ext>
            </a:extLst>
          </p:cNvPr>
          <p:cNvSpPr txBox="1">
            <a:spLocks noChangeArrowheads="1"/>
          </p:cNvSpPr>
          <p:nvPr/>
        </p:nvSpPr>
        <p:spPr bwMode="auto">
          <a:xfrm>
            <a:off x="2752725" y="685802"/>
            <a:ext cx="5715000" cy="461665"/>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b="1" i="1" dirty="0">
                <a:latin typeface="Times New Roman" panose="02020603050405020304" pitchFamily="18" charset="0"/>
              </a:rPr>
              <a:t>Offer to enable an option</a:t>
            </a:r>
          </a:p>
        </p:txBody>
      </p:sp>
      <p:sp>
        <p:nvSpPr>
          <p:cNvPr id="493571" name="Rectangle 3">
            <a:extLst>
              <a:ext uri="{FF2B5EF4-FFF2-40B4-BE49-F238E27FC236}">
                <a16:creationId xmlns:a16="http://schemas.microsoft.com/office/drawing/2014/main" id="{94433EC7-A737-4951-BF2E-AE8DC7F1BA3F}"/>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3572" name="Rectangle 4">
            <a:extLst>
              <a:ext uri="{FF2B5EF4-FFF2-40B4-BE49-F238E27FC236}">
                <a16:creationId xmlns:a16="http://schemas.microsoft.com/office/drawing/2014/main" id="{8122530C-D87C-4EF4-8EE0-3150C7971E47}"/>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3573" name="Rectangle 5">
            <a:extLst>
              <a:ext uri="{FF2B5EF4-FFF2-40B4-BE49-F238E27FC236}">
                <a16:creationId xmlns:a16="http://schemas.microsoft.com/office/drawing/2014/main" id="{402D860D-623F-4AC0-B667-7E99B71E0DF4}"/>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3574" name="Rectangle 6">
            <a:extLst>
              <a:ext uri="{FF2B5EF4-FFF2-40B4-BE49-F238E27FC236}">
                <a16:creationId xmlns:a16="http://schemas.microsoft.com/office/drawing/2014/main" id="{217C80C9-3E75-41F0-AF42-47E4BF715798}"/>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3575" name="Rectangle 7">
            <a:extLst>
              <a:ext uri="{FF2B5EF4-FFF2-40B4-BE49-F238E27FC236}">
                <a16:creationId xmlns:a16="http://schemas.microsoft.com/office/drawing/2014/main" id="{01078B11-9006-48D4-80BC-81F6029C5612}"/>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3576" name="Rectangle 8">
            <a:extLst>
              <a:ext uri="{FF2B5EF4-FFF2-40B4-BE49-F238E27FC236}">
                <a16:creationId xmlns:a16="http://schemas.microsoft.com/office/drawing/2014/main" id="{58B9F799-7B51-40A3-902A-FDBFB5E6055D}"/>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3577" name="Rectangle 9">
            <a:extLst>
              <a:ext uri="{FF2B5EF4-FFF2-40B4-BE49-F238E27FC236}">
                <a16:creationId xmlns:a16="http://schemas.microsoft.com/office/drawing/2014/main" id="{426E87F5-88A3-4B77-9E2E-19766DED61CB}"/>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93578" name="Picture 10">
            <a:extLst>
              <a:ext uri="{FF2B5EF4-FFF2-40B4-BE49-F238E27FC236}">
                <a16:creationId xmlns:a16="http://schemas.microsoft.com/office/drawing/2014/main" id="{E21B2EA9-236A-4B1C-AA49-A1AF429B01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1838" y="2212975"/>
            <a:ext cx="7751762" cy="194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a:extLst>
              <a:ext uri="{FF2B5EF4-FFF2-40B4-BE49-F238E27FC236}">
                <a16:creationId xmlns:a16="http://schemas.microsoft.com/office/drawing/2014/main" id="{049C782C-5B0B-4CC5-8491-14106AF828F7}"/>
              </a:ext>
            </a:extLst>
          </p:cNvPr>
          <p:cNvSpPr>
            <a:spLocks noGrp="1"/>
          </p:cNvSpPr>
          <p:nvPr>
            <p:ph type="sldNum" sz="quarter" idx="11"/>
          </p:nvPr>
        </p:nvSpPr>
        <p:spPr/>
        <p:txBody>
          <a:bodyPr/>
          <a:lstStyle/>
          <a:p>
            <a:fld id="{4E6634BA-F254-40AA-8387-A5FB8BF23400}" type="slidenum">
              <a:rPr lang="en-US" altLang="en-US"/>
              <a:pPr/>
              <a:t>20</a:t>
            </a:fld>
            <a:endParaRPr lang="en-US" altLang="en-US"/>
          </a:p>
        </p:txBody>
      </p:sp>
      <p:sp>
        <p:nvSpPr>
          <p:cNvPr id="494594" name="Text Box 2">
            <a:extLst>
              <a:ext uri="{FF2B5EF4-FFF2-40B4-BE49-F238E27FC236}">
                <a16:creationId xmlns:a16="http://schemas.microsoft.com/office/drawing/2014/main" id="{1B24ACDA-958C-4F25-90BC-C1C8B9065011}"/>
              </a:ext>
            </a:extLst>
          </p:cNvPr>
          <p:cNvSpPr txBox="1">
            <a:spLocks noChangeArrowheads="1"/>
          </p:cNvSpPr>
          <p:nvPr/>
        </p:nvSpPr>
        <p:spPr bwMode="auto">
          <a:xfrm>
            <a:off x="2657475" y="594347"/>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i="1" dirty="0">
                <a:latin typeface="Times New Roman" panose="02020603050405020304" pitchFamily="18" charset="0"/>
              </a:rPr>
              <a:t>Request to enable an option</a:t>
            </a:r>
          </a:p>
        </p:txBody>
      </p:sp>
      <p:sp>
        <p:nvSpPr>
          <p:cNvPr id="494595" name="Rectangle 3">
            <a:extLst>
              <a:ext uri="{FF2B5EF4-FFF2-40B4-BE49-F238E27FC236}">
                <a16:creationId xmlns:a16="http://schemas.microsoft.com/office/drawing/2014/main" id="{F43AED07-5D53-423F-993F-A26C1D4A4571}"/>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4596" name="Rectangle 4">
            <a:extLst>
              <a:ext uri="{FF2B5EF4-FFF2-40B4-BE49-F238E27FC236}">
                <a16:creationId xmlns:a16="http://schemas.microsoft.com/office/drawing/2014/main" id="{26910C63-EEED-484E-83F9-189A59B3F634}"/>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4597" name="Rectangle 5">
            <a:extLst>
              <a:ext uri="{FF2B5EF4-FFF2-40B4-BE49-F238E27FC236}">
                <a16:creationId xmlns:a16="http://schemas.microsoft.com/office/drawing/2014/main" id="{61407233-BA97-49E0-93BD-E33274E6BCBF}"/>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4598" name="Rectangle 6">
            <a:extLst>
              <a:ext uri="{FF2B5EF4-FFF2-40B4-BE49-F238E27FC236}">
                <a16:creationId xmlns:a16="http://schemas.microsoft.com/office/drawing/2014/main" id="{3E350063-6960-4F42-876F-B68C8D6ACB18}"/>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4599" name="Rectangle 7">
            <a:extLst>
              <a:ext uri="{FF2B5EF4-FFF2-40B4-BE49-F238E27FC236}">
                <a16:creationId xmlns:a16="http://schemas.microsoft.com/office/drawing/2014/main" id="{86D9C018-4A23-43B8-B61D-AC4BB0FDEB4D}"/>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4600" name="Rectangle 8">
            <a:extLst>
              <a:ext uri="{FF2B5EF4-FFF2-40B4-BE49-F238E27FC236}">
                <a16:creationId xmlns:a16="http://schemas.microsoft.com/office/drawing/2014/main" id="{7CFD5ABD-320A-4079-A675-D66F5BFF2025}"/>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4601" name="Rectangle 9">
            <a:extLst>
              <a:ext uri="{FF2B5EF4-FFF2-40B4-BE49-F238E27FC236}">
                <a16:creationId xmlns:a16="http://schemas.microsoft.com/office/drawing/2014/main" id="{84D2A7BB-B71D-41CF-988D-4ABBEFB20A66}"/>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94602" name="Picture 10">
            <a:extLst>
              <a:ext uri="{FF2B5EF4-FFF2-40B4-BE49-F238E27FC236}">
                <a16:creationId xmlns:a16="http://schemas.microsoft.com/office/drawing/2014/main" id="{DB4B48D5-D3FE-4B85-8CDB-11B9C4845D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6814" y="2794000"/>
            <a:ext cx="6783387" cy="170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a:extLst>
              <a:ext uri="{FF2B5EF4-FFF2-40B4-BE49-F238E27FC236}">
                <a16:creationId xmlns:a16="http://schemas.microsoft.com/office/drawing/2014/main" id="{DCE1A606-82EE-4657-8F96-41BEBA4BB6EB}"/>
              </a:ext>
            </a:extLst>
          </p:cNvPr>
          <p:cNvSpPr>
            <a:spLocks noGrp="1"/>
          </p:cNvSpPr>
          <p:nvPr>
            <p:ph type="sldNum" sz="quarter" idx="11"/>
          </p:nvPr>
        </p:nvSpPr>
        <p:spPr/>
        <p:txBody>
          <a:bodyPr/>
          <a:lstStyle/>
          <a:p>
            <a:fld id="{0F750C09-B6C1-4225-8D3D-120F054D82B0}" type="slidenum">
              <a:rPr lang="en-US" altLang="en-US"/>
              <a:pPr/>
              <a:t>21</a:t>
            </a:fld>
            <a:endParaRPr lang="en-US" altLang="en-US"/>
          </a:p>
        </p:txBody>
      </p:sp>
      <p:sp>
        <p:nvSpPr>
          <p:cNvPr id="495618" name="Text Box 2">
            <a:extLst>
              <a:ext uri="{FF2B5EF4-FFF2-40B4-BE49-F238E27FC236}">
                <a16:creationId xmlns:a16="http://schemas.microsoft.com/office/drawing/2014/main" id="{C7711BB5-AF97-458D-A8A5-752F36A2D960}"/>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18.9</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Offer to disable an option</a:t>
            </a:r>
          </a:p>
        </p:txBody>
      </p:sp>
      <p:sp>
        <p:nvSpPr>
          <p:cNvPr id="495619" name="Rectangle 3">
            <a:extLst>
              <a:ext uri="{FF2B5EF4-FFF2-40B4-BE49-F238E27FC236}">
                <a16:creationId xmlns:a16="http://schemas.microsoft.com/office/drawing/2014/main" id="{A6EC0BDF-6A9F-473D-B1B9-F35CF8F84192}"/>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5620" name="Rectangle 4">
            <a:extLst>
              <a:ext uri="{FF2B5EF4-FFF2-40B4-BE49-F238E27FC236}">
                <a16:creationId xmlns:a16="http://schemas.microsoft.com/office/drawing/2014/main" id="{1AEA9180-A32B-43C5-B500-A264D39CD030}"/>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5621" name="Rectangle 5">
            <a:extLst>
              <a:ext uri="{FF2B5EF4-FFF2-40B4-BE49-F238E27FC236}">
                <a16:creationId xmlns:a16="http://schemas.microsoft.com/office/drawing/2014/main" id="{1541FE32-1635-4B12-8725-4FCA2859FBBB}"/>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5622" name="Rectangle 6">
            <a:extLst>
              <a:ext uri="{FF2B5EF4-FFF2-40B4-BE49-F238E27FC236}">
                <a16:creationId xmlns:a16="http://schemas.microsoft.com/office/drawing/2014/main" id="{1E80003C-7060-4E81-8842-623309DC4F43}"/>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5623" name="Rectangle 7">
            <a:extLst>
              <a:ext uri="{FF2B5EF4-FFF2-40B4-BE49-F238E27FC236}">
                <a16:creationId xmlns:a16="http://schemas.microsoft.com/office/drawing/2014/main" id="{FE7536FB-4F5B-4F4F-90CD-61E24607B1BA}"/>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5624" name="Rectangle 8">
            <a:extLst>
              <a:ext uri="{FF2B5EF4-FFF2-40B4-BE49-F238E27FC236}">
                <a16:creationId xmlns:a16="http://schemas.microsoft.com/office/drawing/2014/main" id="{B60E01D9-6D51-400C-BC70-029D36D26BFC}"/>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5625" name="Rectangle 9">
            <a:extLst>
              <a:ext uri="{FF2B5EF4-FFF2-40B4-BE49-F238E27FC236}">
                <a16:creationId xmlns:a16="http://schemas.microsoft.com/office/drawing/2014/main" id="{9BB11888-DAAA-4DE1-BBF7-30CCB23FB94B}"/>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95626" name="Picture 10">
            <a:extLst>
              <a:ext uri="{FF2B5EF4-FFF2-40B4-BE49-F238E27FC236}">
                <a16:creationId xmlns:a16="http://schemas.microsoft.com/office/drawing/2014/main" id="{B0DF0F84-D178-4CF9-9235-1533D70A36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3014" y="2565400"/>
            <a:ext cx="6783387" cy="170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a:extLst>
              <a:ext uri="{FF2B5EF4-FFF2-40B4-BE49-F238E27FC236}">
                <a16:creationId xmlns:a16="http://schemas.microsoft.com/office/drawing/2014/main" id="{961D2631-FA1F-4997-AB9C-0A08D1E5F123}"/>
              </a:ext>
            </a:extLst>
          </p:cNvPr>
          <p:cNvSpPr>
            <a:spLocks noGrp="1"/>
          </p:cNvSpPr>
          <p:nvPr>
            <p:ph type="sldNum" sz="quarter" idx="11"/>
          </p:nvPr>
        </p:nvSpPr>
        <p:spPr/>
        <p:txBody>
          <a:bodyPr/>
          <a:lstStyle/>
          <a:p>
            <a:fld id="{6A14F76C-CA84-4C90-872C-87BC3EECEE39}" type="slidenum">
              <a:rPr lang="en-US" altLang="en-US"/>
              <a:pPr/>
              <a:t>22</a:t>
            </a:fld>
            <a:endParaRPr lang="en-US" altLang="en-US"/>
          </a:p>
        </p:txBody>
      </p:sp>
      <p:sp>
        <p:nvSpPr>
          <p:cNvPr id="496642" name="Text Box 2">
            <a:extLst>
              <a:ext uri="{FF2B5EF4-FFF2-40B4-BE49-F238E27FC236}">
                <a16:creationId xmlns:a16="http://schemas.microsoft.com/office/drawing/2014/main" id="{52FA69DB-A236-44BA-BF0D-5D684470E506}"/>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18.10</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Request to disable an option</a:t>
            </a:r>
          </a:p>
        </p:txBody>
      </p:sp>
      <p:sp>
        <p:nvSpPr>
          <p:cNvPr id="496643" name="Rectangle 3">
            <a:extLst>
              <a:ext uri="{FF2B5EF4-FFF2-40B4-BE49-F238E27FC236}">
                <a16:creationId xmlns:a16="http://schemas.microsoft.com/office/drawing/2014/main" id="{E2A980DF-14A0-490D-BF09-6711C48EB35C}"/>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6644" name="Rectangle 4">
            <a:extLst>
              <a:ext uri="{FF2B5EF4-FFF2-40B4-BE49-F238E27FC236}">
                <a16:creationId xmlns:a16="http://schemas.microsoft.com/office/drawing/2014/main" id="{3EFA369C-A554-4B70-82D2-4666A39E0D08}"/>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6645" name="Rectangle 5">
            <a:extLst>
              <a:ext uri="{FF2B5EF4-FFF2-40B4-BE49-F238E27FC236}">
                <a16:creationId xmlns:a16="http://schemas.microsoft.com/office/drawing/2014/main" id="{16F7CDBD-D13F-4323-8C52-4EBBD6FBF531}"/>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6646" name="Rectangle 6">
            <a:extLst>
              <a:ext uri="{FF2B5EF4-FFF2-40B4-BE49-F238E27FC236}">
                <a16:creationId xmlns:a16="http://schemas.microsoft.com/office/drawing/2014/main" id="{F17B1D04-C490-420D-B1EB-161E06DAA5F0}"/>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6647" name="Rectangle 7">
            <a:extLst>
              <a:ext uri="{FF2B5EF4-FFF2-40B4-BE49-F238E27FC236}">
                <a16:creationId xmlns:a16="http://schemas.microsoft.com/office/drawing/2014/main" id="{C974A752-BFC6-42B8-828B-CFC33C542904}"/>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6648" name="Rectangle 8">
            <a:extLst>
              <a:ext uri="{FF2B5EF4-FFF2-40B4-BE49-F238E27FC236}">
                <a16:creationId xmlns:a16="http://schemas.microsoft.com/office/drawing/2014/main" id="{179C354E-93D8-4D51-A11B-B764B6275777}"/>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6649" name="Rectangle 9">
            <a:extLst>
              <a:ext uri="{FF2B5EF4-FFF2-40B4-BE49-F238E27FC236}">
                <a16:creationId xmlns:a16="http://schemas.microsoft.com/office/drawing/2014/main" id="{753EE2E7-C8CC-4DD1-A6B1-018A875DA14B}"/>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96650" name="Picture 10">
            <a:extLst>
              <a:ext uri="{FF2B5EF4-FFF2-40B4-BE49-F238E27FC236}">
                <a16:creationId xmlns:a16="http://schemas.microsoft.com/office/drawing/2014/main" id="{567C2544-FFD4-4D3A-9D20-856DADE78C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3014" y="2794000"/>
            <a:ext cx="6783387" cy="170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3377A23-F652-4E6A-B59A-81E19EDEB005}"/>
              </a:ext>
            </a:extLst>
          </p:cNvPr>
          <p:cNvSpPr>
            <a:spLocks noGrp="1"/>
          </p:cNvSpPr>
          <p:nvPr>
            <p:ph type="sldNum" sz="quarter" idx="11"/>
          </p:nvPr>
        </p:nvSpPr>
        <p:spPr/>
        <p:txBody>
          <a:bodyPr/>
          <a:lstStyle/>
          <a:p>
            <a:fld id="{D41C2B79-8EB0-4AD5-8895-9768D4CF1B80}" type="slidenum">
              <a:rPr lang="en-US" altLang="en-US"/>
              <a:pPr/>
              <a:t>23</a:t>
            </a:fld>
            <a:endParaRPr lang="en-US" altLang="en-US"/>
          </a:p>
        </p:txBody>
      </p:sp>
      <p:sp>
        <p:nvSpPr>
          <p:cNvPr id="515074" name="Rectangle 2">
            <a:extLst>
              <a:ext uri="{FF2B5EF4-FFF2-40B4-BE49-F238E27FC236}">
                <a16:creationId xmlns:a16="http://schemas.microsoft.com/office/drawing/2014/main" id="{5D25A519-9CCA-4567-AC53-BC8E1004BF3D}"/>
              </a:ext>
            </a:extLst>
          </p:cNvPr>
          <p:cNvSpPr>
            <a:spLocks noChangeArrowheads="1"/>
          </p:cNvSpPr>
          <p:nvPr/>
        </p:nvSpPr>
        <p:spPr bwMode="auto">
          <a:xfrm>
            <a:off x="1828800" y="1295401"/>
            <a:ext cx="81534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2400" i="1">
                <a:latin typeface="Times New Roman" panose="02020603050405020304" pitchFamily="18" charset="0"/>
              </a:rPr>
              <a:t>Figure 18.11 shows an example of option negotiation. In this example, the client wants the server to echo each character sent to the server. In other words, when a character is typed at the user keyboard terminal, it goes to the server and is sent back to the screen of the user before being processed. The echo option is enabled by the server because it is the server that sends the characters back to the user terminal. Therefore, the client should request from the server the enabling of the option using DO. The request consists of three characters: IAC, DO, and ECHO. The server accepts the request and enables the option. It informs the client by sending the three character approval: IAC, WILL, and ECHO.</a:t>
            </a:r>
          </a:p>
        </p:txBody>
      </p:sp>
      <p:sp>
        <p:nvSpPr>
          <p:cNvPr id="515075" name="Text Box 3">
            <a:extLst>
              <a:ext uri="{FF2B5EF4-FFF2-40B4-BE49-F238E27FC236}">
                <a16:creationId xmlns:a16="http://schemas.microsoft.com/office/drawing/2014/main" id="{66CB7D45-C350-47E3-92A1-5AF2F37805A8}"/>
              </a:ext>
            </a:extLst>
          </p:cNvPr>
          <p:cNvSpPr txBox="1">
            <a:spLocks noChangeArrowheads="1"/>
          </p:cNvSpPr>
          <p:nvPr/>
        </p:nvSpPr>
        <p:spPr bwMode="auto">
          <a:xfrm>
            <a:off x="2667000" y="381001"/>
            <a:ext cx="2209800" cy="519113"/>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1</a:t>
            </a:r>
          </a:p>
        </p:txBody>
      </p:sp>
      <p:sp>
        <p:nvSpPr>
          <p:cNvPr id="515076" name="Text Box 4">
            <a:extLst>
              <a:ext uri="{FF2B5EF4-FFF2-40B4-BE49-F238E27FC236}">
                <a16:creationId xmlns:a16="http://schemas.microsoft.com/office/drawing/2014/main" id="{73DE742D-8003-41AC-BB26-2144B413AB37}"/>
              </a:ext>
            </a:extLst>
          </p:cNvPr>
          <p:cNvSpPr txBox="1">
            <a:spLocks noChangeArrowheads="1"/>
          </p:cNvSpPr>
          <p:nvPr/>
        </p:nvSpPr>
        <p:spPr bwMode="auto">
          <a:xfrm>
            <a:off x="4572000" y="5881688"/>
            <a:ext cx="2316660" cy="523220"/>
          </a:xfrm>
          <a:prstGeom prst="rect">
            <a:avLst/>
          </a:prstGeom>
          <a:noFill/>
          <a:ln w="762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a:solidFill>
                  <a:schemeClr val="hlink"/>
                </a:solidFill>
                <a:latin typeface="Times New Roman" panose="02020603050405020304" pitchFamily="18" charset="0"/>
              </a:rPr>
              <a:t>See Next Slide</a:t>
            </a:r>
          </a:p>
        </p:txBody>
      </p:sp>
      <p:sp>
        <p:nvSpPr>
          <p:cNvPr id="515077" name="Rectangle 5">
            <a:extLst>
              <a:ext uri="{FF2B5EF4-FFF2-40B4-BE49-F238E27FC236}">
                <a16:creationId xmlns:a16="http://schemas.microsoft.com/office/drawing/2014/main" id="{19DE1C0F-EE12-4070-B655-54EA1B69035E}"/>
              </a:ext>
            </a:extLst>
          </p:cNvPr>
          <p:cNvSpPr>
            <a:spLocks noChangeArrowheads="1"/>
          </p:cNvSpPr>
          <p:nvPr/>
        </p:nvSpPr>
        <p:spPr bwMode="auto">
          <a:xfrm>
            <a:off x="1981200" y="152400"/>
            <a:ext cx="609600" cy="10668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a:extLst>
              <a:ext uri="{FF2B5EF4-FFF2-40B4-BE49-F238E27FC236}">
                <a16:creationId xmlns:a16="http://schemas.microsoft.com/office/drawing/2014/main" id="{BFDFC681-4546-403E-859E-827DB32A8214}"/>
              </a:ext>
            </a:extLst>
          </p:cNvPr>
          <p:cNvSpPr>
            <a:spLocks noGrp="1"/>
          </p:cNvSpPr>
          <p:nvPr>
            <p:ph type="sldNum" sz="quarter" idx="11"/>
          </p:nvPr>
        </p:nvSpPr>
        <p:spPr/>
        <p:txBody>
          <a:bodyPr/>
          <a:lstStyle/>
          <a:p>
            <a:fld id="{58DCB149-E632-40EF-A8A5-5D3945E93A44}" type="slidenum">
              <a:rPr lang="en-US" altLang="en-US"/>
              <a:pPr/>
              <a:t>24</a:t>
            </a:fld>
            <a:endParaRPr lang="en-US" altLang="en-US"/>
          </a:p>
        </p:txBody>
      </p:sp>
      <p:sp>
        <p:nvSpPr>
          <p:cNvPr id="497666" name="Text Box 2">
            <a:extLst>
              <a:ext uri="{FF2B5EF4-FFF2-40B4-BE49-F238E27FC236}">
                <a16:creationId xmlns:a16="http://schemas.microsoft.com/office/drawing/2014/main" id="{050B6455-8566-4B44-B916-C06901037E62}"/>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18.11</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Example 1: Echo option</a:t>
            </a:r>
          </a:p>
        </p:txBody>
      </p:sp>
      <p:sp>
        <p:nvSpPr>
          <p:cNvPr id="497667" name="Rectangle 3">
            <a:extLst>
              <a:ext uri="{FF2B5EF4-FFF2-40B4-BE49-F238E27FC236}">
                <a16:creationId xmlns:a16="http://schemas.microsoft.com/office/drawing/2014/main" id="{13EB6857-F0BD-4545-B687-3AF2DB5916B3}"/>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7668" name="Rectangle 4">
            <a:extLst>
              <a:ext uri="{FF2B5EF4-FFF2-40B4-BE49-F238E27FC236}">
                <a16:creationId xmlns:a16="http://schemas.microsoft.com/office/drawing/2014/main" id="{2B3B0242-BD19-4AAB-A451-E3C07D21893A}"/>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7669" name="Rectangle 5">
            <a:extLst>
              <a:ext uri="{FF2B5EF4-FFF2-40B4-BE49-F238E27FC236}">
                <a16:creationId xmlns:a16="http://schemas.microsoft.com/office/drawing/2014/main" id="{51DA0B80-32F0-4DC1-92D2-F446DB9C11D9}"/>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7670" name="Rectangle 6">
            <a:extLst>
              <a:ext uri="{FF2B5EF4-FFF2-40B4-BE49-F238E27FC236}">
                <a16:creationId xmlns:a16="http://schemas.microsoft.com/office/drawing/2014/main" id="{E50FB490-120B-4B36-87D6-7BDFF6052EBB}"/>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7671" name="Rectangle 7">
            <a:extLst>
              <a:ext uri="{FF2B5EF4-FFF2-40B4-BE49-F238E27FC236}">
                <a16:creationId xmlns:a16="http://schemas.microsoft.com/office/drawing/2014/main" id="{A53A2276-AF21-4037-8EC5-E79B92D44840}"/>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7672" name="Rectangle 8">
            <a:extLst>
              <a:ext uri="{FF2B5EF4-FFF2-40B4-BE49-F238E27FC236}">
                <a16:creationId xmlns:a16="http://schemas.microsoft.com/office/drawing/2014/main" id="{1C59D471-8293-47EC-BF81-2D87FD2A943F}"/>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7673" name="Rectangle 9">
            <a:extLst>
              <a:ext uri="{FF2B5EF4-FFF2-40B4-BE49-F238E27FC236}">
                <a16:creationId xmlns:a16="http://schemas.microsoft.com/office/drawing/2014/main" id="{8478D41E-27FA-4364-AB24-44AF699B1C7E}"/>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97675" name="Picture 11">
            <a:extLst>
              <a:ext uri="{FF2B5EF4-FFF2-40B4-BE49-F238E27FC236}">
                <a16:creationId xmlns:a16="http://schemas.microsoft.com/office/drawing/2014/main" id="{3EFD0760-854D-41B9-82B1-6C66CE4F87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7950" y="1619251"/>
            <a:ext cx="6896100" cy="3617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TotalTime>
  <Words>594</Words>
  <Application>Microsoft Office PowerPoint</Application>
  <PresentationFormat>Widescreen</PresentationFormat>
  <Paragraphs>73</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Algerian</vt:lpstr>
      <vt:lpstr>Arial</vt:lpstr>
      <vt:lpstr>Calibri</vt:lpstr>
      <vt:lpstr>Calibri Light</vt:lpstr>
      <vt:lpstr>Times New Roman</vt:lpstr>
      <vt:lpstr>Office Theme</vt:lpstr>
      <vt:lpstr>COMPUTER NETWORKS (BCSC 0008) TELNET</vt:lpstr>
      <vt:lpstr> Text and Reference Books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NETWORKS (BCSC 0008)</dc:title>
  <dc:creator>shabir ali</dc:creator>
  <cp:lastModifiedBy>shabir ali</cp:lastModifiedBy>
  <cp:revision>31</cp:revision>
  <dcterms:created xsi:type="dcterms:W3CDTF">2020-11-26T06:05:43Z</dcterms:created>
  <dcterms:modified xsi:type="dcterms:W3CDTF">2020-12-03T07:05:27Z</dcterms:modified>
</cp:coreProperties>
</file>