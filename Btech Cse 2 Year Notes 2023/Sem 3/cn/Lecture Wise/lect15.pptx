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7" r:id="rId2"/>
    <p:sldId id="265" r:id="rId3"/>
    <p:sldId id="843" r:id="rId4"/>
    <p:sldId id="835" r:id="rId5"/>
    <p:sldId id="849" r:id="rId6"/>
    <p:sldId id="850" r:id="rId7"/>
    <p:sldId id="851" r:id="rId8"/>
    <p:sldId id="730" r:id="rId9"/>
    <p:sldId id="731" r:id="rId10"/>
    <p:sldId id="732" r:id="rId11"/>
    <p:sldId id="733" r:id="rId12"/>
    <p:sldId id="734" r:id="rId13"/>
    <p:sldId id="852" r:id="rId14"/>
    <p:sldId id="853" r:id="rId15"/>
    <p:sldId id="912" r:id="rId16"/>
    <p:sldId id="737" r:id="rId17"/>
    <p:sldId id="668" r:id="rId18"/>
    <p:sldId id="669" r:id="rId19"/>
    <p:sldId id="85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F17E44-BDC1-4515-8C0B-1374D0AA3111}" type="datetimeFigureOut">
              <a:rPr lang="en-IN" smtClean="0"/>
              <a:t>01-12-2020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B1A913-2FBC-41BF-A4D5-4124FDD15E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3778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DF298FAD-439E-46D5-8362-DC685B71CC0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468EAE8-04DB-4374-B79B-ED818FB167BD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1095682" name="Rectangle 2">
            <a:extLst>
              <a:ext uri="{FF2B5EF4-FFF2-40B4-BE49-F238E27FC236}">
                <a16:creationId xmlns:a16="http://schemas.microsoft.com/office/drawing/2014/main" id="{EFB6621A-B053-4435-8CDE-29DFA05DEA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683" name="Rectangle 3">
            <a:extLst>
              <a:ext uri="{FF2B5EF4-FFF2-40B4-BE49-F238E27FC236}">
                <a16:creationId xmlns:a16="http://schemas.microsoft.com/office/drawing/2014/main" id="{820D7CE0-20A6-4C21-A8C9-99B822B894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CCDCE2BD-26A0-487D-8176-970FE30A13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447B6D4-17D0-4296-8474-A560DA43CCAB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1079298" name="Rectangle 2">
            <a:extLst>
              <a:ext uri="{FF2B5EF4-FFF2-40B4-BE49-F238E27FC236}">
                <a16:creationId xmlns:a16="http://schemas.microsoft.com/office/drawing/2014/main" id="{3826B17D-081F-4708-821B-D625091790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9299" name="Rectangle 3">
            <a:extLst>
              <a:ext uri="{FF2B5EF4-FFF2-40B4-BE49-F238E27FC236}">
                <a16:creationId xmlns:a16="http://schemas.microsoft.com/office/drawing/2014/main" id="{C13C64FB-0104-4E01-9260-388F5192A6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7B95910-F7C3-47D5-9B82-486802CBD3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FF56F8F-972A-45A5-B21A-3C7A1C8FA7A4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1107970" name="Rectangle 2">
            <a:extLst>
              <a:ext uri="{FF2B5EF4-FFF2-40B4-BE49-F238E27FC236}">
                <a16:creationId xmlns:a16="http://schemas.microsoft.com/office/drawing/2014/main" id="{66EEA38B-4303-45DC-8D4A-2559EBB8FB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7971" name="Rectangle 3">
            <a:extLst>
              <a:ext uri="{FF2B5EF4-FFF2-40B4-BE49-F238E27FC236}">
                <a16:creationId xmlns:a16="http://schemas.microsoft.com/office/drawing/2014/main" id="{64E4E384-D5A5-4B1A-B379-114DF0080C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368091D0-DCF9-41F6-B254-DA967E0F682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1D15F4-FC0D-4EE1-AFCB-7326B6EA5565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1110018" name="Rectangle 2">
            <a:extLst>
              <a:ext uri="{FF2B5EF4-FFF2-40B4-BE49-F238E27FC236}">
                <a16:creationId xmlns:a16="http://schemas.microsoft.com/office/drawing/2014/main" id="{FDC561D0-F858-472B-BCFA-1EA012D06F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0019" name="Rectangle 3">
            <a:extLst>
              <a:ext uri="{FF2B5EF4-FFF2-40B4-BE49-F238E27FC236}">
                <a16:creationId xmlns:a16="http://schemas.microsoft.com/office/drawing/2014/main" id="{F3E8793A-19E4-4FC2-B648-27DD747CA0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3BC47CE8-DF73-4CD8-BF65-F9775F0718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9C9765-6860-4F5A-92DA-2D52489F203A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1112066" name="Rectangle 2">
            <a:extLst>
              <a:ext uri="{FF2B5EF4-FFF2-40B4-BE49-F238E27FC236}">
                <a16:creationId xmlns:a16="http://schemas.microsoft.com/office/drawing/2014/main" id="{83B31481-19D7-4D5E-ADCB-7BA9425083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2067" name="Rectangle 3">
            <a:extLst>
              <a:ext uri="{FF2B5EF4-FFF2-40B4-BE49-F238E27FC236}">
                <a16:creationId xmlns:a16="http://schemas.microsoft.com/office/drawing/2014/main" id="{948D33BD-88C6-4697-9C48-09B0F1ECDE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9CB0C9AB-5308-4399-9BFE-F0C4BDC62B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77069C84-2A2F-44B6-B399-68B9987AA87D}" type="slidenum">
              <a:rPr lang="en-US" altLang="zh-TW" b="0">
                <a:latin typeface="Times New Roman" panose="02020603050405020304" pitchFamily="18" charset="0"/>
              </a:rPr>
              <a:pPr/>
              <a:t>8</a:t>
            </a:fld>
            <a:endParaRPr lang="en-US" altLang="zh-TW" b="0">
              <a:latin typeface="Times New Roman" panose="02020603050405020304" pitchFamily="18" charset="0"/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9FE58866-ECF8-46D1-B9B4-E16CF67F67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1E6D5A30-48A3-453B-8BAE-440E2734E7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770C0BDF-CFA6-42BF-BBD2-E2A3B1C86EC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5B48A939-622D-4342-9AF9-F60B51CB7FAF}" type="slidenum">
              <a:rPr lang="en-US" altLang="zh-TW" b="0">
                <a:latin typeface="Times New Roman" panose="02020603050405020304" pitchFamily="18" charset="0"/>
              </a:rPr>
              <a:pPr/>
              <a:t>9</a:t>
            </a:fld>
            <a:endParaRPr lang="en-US" altLang="zh-TW" b="0">
              <a:latin typeface="Times New Roman" panose="02020603050405020304" pitchFamily="18" charset="0"/>
            </a:endParaRP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669E78E8-E6C1-404A-B9E3-BD1708BE1A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004FC1C7-0962-49F2-A429-D1421E82D5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041B0F6D-6B48-43B0-B218-E137B079BD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767A1278-5E5F-4B1D-B1FD-8FAF4ED56C0D}" type="slidenum">
              <a:rPr lang="en-US" altLang="zh-TW" b="0">
                <a:latin typeface="Times New Roman" panose="02020603050405020304" pitchFamily="18" charset="0"/>
              </a:rPr>
              <a:pPr/>
              <a:t>10</a:t>
            </a:fld>
            <a:endParaRPr lang="en-US" altLang="zh-TW" b="0">
              <a:latin typeface="Times New Roman" panose="02020603050405020304" pitchFamily="18" charset="0"/>
            </a:endParaRPr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7DC953A2-2B02-447E-A32D-BFA66CD4AA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7F927AF7-3FF0-4CA5-B82B-A21C4AFCBA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AC627268-4E64-4701-9447-866E3BADDF6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022ED688-880E-4EE3-BD90-8558CD84FCCE}" type="slidenum">
              <a:rPr lang="en-US" altLang="zh-TW" b="0">
                <a:latin typeface="Times New Roman" panose="02020603050405020304" pitchFamily="18" charset="0"/>
              </a:rPr>
              <a:pPr/>
              <a:t>11</a:t>
            </a:fld>
            <a:endParaRPr lang="en-US" altLang="zh-TW" b="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8DB79ADC-E83A-4E20-8D43-6B22F661AE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94F3B54B-60FE-4E41-866D-CE6381DB10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6E3EB337-623F-450A-BFB7-F26141B549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80AAFDCD-8615-4F48-B619-18C821843469}" type="slidenum">
              <a:rPr lang="en-US" altLang="zh-TW" b="0">
                <a:latin typeface="Times New Roman" panose="02020603050405020304" pitchFamily="18" charset="0"/>
              </a:rPr>
              <a:pPr/>
              <a:t>12</a:t>
            </a:fld>
            <a:endParaRPr lang="en-US" altLang="zh-TW" b="0">
              <a:latin typeface="Times New Roman" panose="02020603050405020304" pitchFamily="18" charset="0"/>
            </a:endParaRPr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1662B278-D9E4-49E2-999F-480157563D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C668970C-46A8-4F61-B5BA-2D91B2CE9A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397B2B26-2306-4D42-84F5-5AB15A8D9B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085A6AF-239E-4C09-A1EF-39E2C770A421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1114114" name="Rectangle 2">
            <a:extLst>
              <a:ext uri="{FF2B5EF4-FFF2-40B4-BE49-F238E27FC236}">
                <a16:creationId xmlns:a16="http://schemas.microsoft.com/office/drawing/2014/main" id="{F82FF0A5-AB15-47AB-AB6B-A26E4D7A0B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4115" name="Rectangle 3">
            <a:extLst>
              <a:ext uri="{FF2B5EF4-FFF2-40B4-BE49-F238E27FC236}">
                <a16:creationId xmlns:a16="http://schemas.microsoft.com/office/drawing/2014/main" id="{38A69857-3C6A-49D5-9847-DD5A20BD2F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09430D5-3FAD-42B2-B2CA-E7426714CF1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AF1F812-96FC-4672-B662-E4DD1E78C2BC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1116162" name="Rectangle 2">
            <a:extLst>
              <a:ext uri="{FF2B5EF4-FFF2-40B4-BE49-F238E27FC236}">
                <a16:creationId xmlns:a16="http://schemas.microsoft.com/office/drawing/2014/main" id="{9B5761BB-46D3-4DB7-BB4B-7AB46BFA31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163" name="Rectangle 3">
            <a:extLst>
              <a:ext uri="{FF2B5EF4-FFF2-40B4-BE49-F238E27FC236}">
                <a16:creationId xmlns:a16="http://schemas.microsoft.com/office/drawing/2014/main" id="{B34E801D-2EC9-451F-807F-283FB6F38A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9850002-8A32-49EE-A028-21AC647BF00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BB0CD97-326A-4C63-90B9-D6F167AA296B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1236994" name="Rectangle 2">
            <a:extLst>
              <a:ext uri="{FF2B5EF4-FFF2-40B4-BE49-F238E27FC236}">
                <a16:creationId xmlns:a16="http://schemas.microsoft.com/office/drawing/2014/main" id="{7BE36F47-017C-4C61-932A-091269AB89C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6995" name="Rectangle 3">
            <a:extLst>
              <a:ext uri="{FF2B5EF4-FFF2-40B4-BE49-F238E27FC236}">
                <a16:creationId xmlns:a16="http://schemas.microsoft.com/office/drawing/2014/main" id="{AD875909-9D52-49E7-A918-A8A4F8A142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5A69EDA0-E395-4153-9CF7-8620A3E288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7B9F853-A10E-466B-9526-C649A5878E8A}" type="slidenum">
              <a:rPr lang="en-US" altLang="zh-TW" b="0">
                <a:latin typeface="Times New Roman" panose="02020603050405020304" pitchFamily="18" charset="0"/>
              </a:rPr>
              <a:pPr/>
              <a:t>16</a:t>
            </a:fld>
            <a:endParaRPr lang="en-US" altLang="zh-TW" b="0">
              <a:latin typeface="Times New Roman" panose="02020603050405020304" pitchFamily="18" charset="0"/>
            </a:endParaRPr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BA149E7F-C4C6-49B0-8454-89AA818CDF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75ECB090-9C2E-46F2-897C-4624ADA3D8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>
            <a:extLst>
              <a:ext uri="{FF2B5EF4-FFF2-40B4-BE49-F238E27FC236}">
                <a16:creationId xmlns:a16="http://schemas.microsoft.com/office/drawing/2014/main" id="{A01C49BD-DE7F-4F0B-AE63-7FED28D702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B63FC66A-E093-4526-8C7B-DB142403BFF9}" type="slidenum">
              <a:rPr lang="en-US" altLang="zh-TW" b="0">
                <a:latin typeface="Times New Roman" panose="02020603050405020304" pitchFamily="18" charset="0"/>
              </a:rPr>
              <a:pPr/>
              <a:t>17</a:t>
            </a:fld>
            <a:endParaRPr lang="en-US" altLang="zh-TW" b="0">
              <a:latin typeface="Times New Roman" panose="02020603050405020304" pitchFamily="18" charset="0"/>
            </a:endParaRPr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1F3A3CC3-CE69-4A30-9C5C-BD765FCFF4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C10E31FB-07EB-4BF8-9A16-12AA090A6C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>
            <a:extLst>
              <a:ext uri="{FF2B5EF4-FFF2-40B4-BE49-F238E27FC236}">
                <a16:creationId xmlns:a16="http://schemas.microsoft.com/office/drawing/2014/main" id="{6D88AAFC-9262-4391-88FE-EC3938DB8A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5E158634-B2D8-4E2D-A53B-44DBB41E6DB4}" type="slidenum">
              <a:rPr lang="en-US" altLang="zh-TW" b="0">
                <a:latin typeface="Times New Roman" panose="02020603050405020304" pitchFamily="18" charset="0"/>
              </a:rPr>
              <a:pPr/>
              <a:t>18</a:t>
            </a:fld>
            <a:endParaRPr lang="en-US" altLang="zh-TW" b="0">
              <a:latin typeface="Times New Roman" panose="02020603050405020304" pitchFamily="18" charset="0"/>
            </a:endParaRPr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981C1B0A-3055-41E6-ADB3-ECFC03C3A0C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2CBBEC5F-72EF-4DC9-9227-4EDFEB342D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728E6F72-EA24-4953-8D57-E43A24604F9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696FA06-0FA6-4C1C-BAEF-39FFCA4EE1AB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1122306" name="Rectangle 2">
            <a:extLst>
              <a:ext uri="{FF2B5EF4-FFF2-40B4-BE49-F238E27FC236}">
                <a16:creationId xmlns:a16="http://schemas.microsoft.com/office/drawing/2014/main" id="{487DCB18-8B95-4966-9A7E-D73C0A5686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2307" name="Rectangle 3">
            <a:extLst>
              <a:ext uri="{FF2B5EF4-FFF2-40B4-BE49-F238E27FC236}">
                <a16:creationId xmlns:a16="http://schemas.microsoft.com/office/drawing/2014/main" id="{1230BF24-850B-4562-9E3B-D8B29DDAC9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3E747-07F9-434B-BC45-818EC60EE4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7CC20E-4AFE-4F76-A16E-1D45EB7433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AA861-0758-4F5D-866A-14BA2719D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D777-179B-47B4-89B5-43884463E78F}" type="datetimeFigureOut">
              <a:rPr lang="en-IN" smtClean="0"/>
              <a:t>01-12-2020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D3585-83B2-4612-8E27-ECD37E8A3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B5FEF-FB14-484A-BDC1-026A66422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E21EE-17CC-4834-ADD1-327970002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0161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E7174-0A19-42B5-9D88-A732A7326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AC968-AA46-4EA5-A494-D63484C060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B8846A-67C1-44B3-93C1-02628BB0A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D777-179B-47B4-89B5-43884463E78F}" type="datetimeFigureOut">
              <a:rPr lang="en-IN" smtClean="0"/>
              <a:t>01-12-2020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81555-83BB-4319-AA6A-5B0BA7796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9B10A-BDB5-4503-A870-2E72BA454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E21EE-17CC-4834-ADD1-327970002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6394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D0510-92E4-4684-B966-082359C01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64505A-3878-4CAA-8AB9-346FF4BABA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93CE91-6C9F-4B97-BFB8-C72FF7802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D777-179B-47B4-89B5-43884463E78F}" type="datetimeFigureOut">
              <a:rPr lang="en-IN" smtClean="0"/>
              <a:t>01-12-2020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3C72D4-1EBB-4424-BF8D-8FE069153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169827-F418-48F0-A237-687DD633E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E21EE-17CC-4834-ADD1-327970002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4700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2D46F-E48B-4CD6-B716-0C6D549D3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D24DD-52A7-482F-89FD-BF32F00295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95D6D4-956F-4947-9760-D2BF78987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2674D1-3E8E-4F09-82A1-B0FCC53CB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D777-179B-47B4-89B5-43884463E78F}" type="datetimeFigureOut">
              <a:rPr lang="en-IN" smtClean="0"/>
              <a:t>01-12-2020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804584-4AA6-49D5-B41F-6C58D11AD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00545E-A78A-42EC-A7F9-369AD4E1F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E21EE-17CC-4834-ADD1-327970002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0975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26F41-A6ED-48C1-8C3B-D9D17DEB6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065EA6-CEAC-4408-8A9B-194DBBE20D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7C513E-C762-4DC4-BB42-39271E53DE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646DD3-B6EA-409A-88F7-7554635BEF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DE4109-5BA9-44C5-9A4C-28CDF64A09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4C9DA1-61F1-4EE5-B441-09F999AA9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D777-179B-47B4-89B5-43884463E78F}" type="datetimeFigureOut">
              <a:rPr lang="en-IN" smtClean="0"/>
              <a:t>01-12-2020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0B4FE1-A658-4030-8168-15EF6B675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3F5F94-2BDE-48C8-A5AE-E431D11AE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E21EE-17CC-4834-ADD1-327970002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7494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B5AB9-CDB3-4E3F-B606-5E0C87D47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6FA115-7111-4B60-A5B9-43F059E6D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D777-179B-47B4-89B5-43884463E78F}" type="datetimeFigureOut">
              <a:rPr lang="en-IN" smtClean="0"/>
              <a:t>01-12-2020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DB6188-B948-4C97-AA7B-EAF74095B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EFD2D0-F1E5-432A-B47D-98DFE20B4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E21EE-17CC-4834-ADD1-327970002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9029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7785E6-276A-4CF7-9866-6A9EA0BA1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D777-179B-47B4-89B5-43884463E78F}" type="datetimeFigureOut">
              <a:rPr lang="en-IN" smtClean="0"/>
              <a:t>01-12-2020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6BA2D4-9EBF-4D39-B5B9-93874E1AB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DAD714-AB3D-4FEA-815C-DDB139174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E21EE-17CC-4834-ADD1-327970002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5435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ECC30-3347-4CBC-BCA7-BDACB15F7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06A4D-F201-491D-B4AF-1B07E34D8A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0B59F5-5EEE-4979-B373-0CAA1D8FE9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EB0DC7-DE7C-4308-B69C-F7798EB45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D777-179B-47B4-89B5-43884463E78F}" type="datetimeFigureOut">
              <a:rPr lang="en-IN" smtClean="0"/>
              <a:t>01-12-2020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6F3BB3-33D9-4922-8941-44E11F23C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B7D629-E868-4ACA-AD7C-DE90C59D3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E21EE-17CC-4834-ADD1-327970002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7739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2CD59-FF70-44BA-8F2F-F29600431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E621FF-9E5C-42FC-B0CF-6321A69808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1C0EE9-406B-4100-916D-2E4F565D92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AC6D38-9904-4CF7-B107-A490964E0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D777-179B-47B4-89B5-43884463E78F}" type="datetimeFigureOut">
              <a:rPr lang="en-IN" smtClean="0"/>
              <a:t>01-12-2020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29B5E7-AAF1-4659-AAFC-EFE9CD4B0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9FBE07-50F3-4F8F-B531-B210D7B17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E21EE-17CC-4834-ADD1-327970002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3472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F2F24-07D3-406A-BC00-7884A0ADF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84D9FD-2295-4D91-B44A-FED97B4452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5DEB3-BD97-410F-81B6-64FA8F452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D777-179B-47B4-89B5-43884463E78F}" type="datetimeFigureOut">
              <a:rPr lang="en-IN" smtClean="0"/>
              <a:t>01-12-2020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95C8D-9402-411F-B7C8-1BB681B03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54FA15-82A8-45FC-B953-CC2C21F25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E21EE-17CC-4834-ADD1-327970002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0466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A41AC9-1D93-4DBD-B112-89592EFA82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9E7E1A-05FA-40CE-8AFD-8E287887B9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1241AE-3983-40E2-870B-29BC6A39B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D777-179B-47B4-89B5-43884463E78F}" type="datetimeFigureOut">
              <a:rPr lang="en-IN" smtClean="0"/>
              <a:t>01-12-2020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230C94-6A50-4631-B01D-38D19ADB0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D151BC-0FAE-44A0-964E-24B4E5B3A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E21EE-17CC-4834-ADD1-327970002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5910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F689EB-1464-40A4-BE2D-C78967CC2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A3148C-53BE-4744-8307-6C45106DF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0762B0-F067-4089-AF7F-3949D403F9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EED777-179B-47B4-89B5-43884463E78F}" type="datetimeFigureOut">
              <a:rPr lang="en-IN" smtClean="0"/>
              <a:t>01-12-2020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EE6463-78CB-42C5-B39E-B3A30763D4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99277-D454-4C1A-9C3C-BB62D91DBE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7E21EE-17CC-4834-ADD1-327970002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3543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3" Type="http://schemas.openxmlformats.org/officeDocument/2006/relationships/image" Target="../media/image11.png"/><Relationship Id="rId7" Type="http://schemas.openxmlformats.org/officeDocument/2006/relationships/image" Target="../media/image15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emf"/><Relationship Id="rId5" Type="http://schemas.openxmlformats.org/officeDocument/2006/relationships/image" Target="../media/image13.png"/><Relationship Id="rId10" Type="http://schemas.openxmlformats.org/officeDocument/2006/relationships/image" Target="../media/image18.emf"/><Relationship Id="rId4" Type="http://schemas.openxmlformats.org/officeDocument/2006/relationships/image" Target="../media/image12.emf"/><Relationship Id="rId9" Type="http://schemas.openxmlformats.org/officeDocument/2006/relationships/image" Target="../media/image17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emf"/><Relationship Id="rId4" Type="http://schemas.openxmlformats.org/officeDocument/2006/relationships/image" Target="../media/image20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3200400"/>
            <a:ext cx="7772400" cy="16764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u="none" dirty="0"/>
              <a:t>COMPUTER NETWORKS</a:t>
            </a:r>
            <a:br>
              <a:rPr lang="en-US" b="1" u="none" dirty="0"/>
            </a:br>
            <a:r>
              <a:rPr lang="en-US" b="1" u="none" dirty="0"/>
              <a:t>(</a:t>
            </a:r>
            <a:r>
              <a:rPr lang="en-US" b="1" dirty="0"/>
              <a:t>BCSC 0008)</a:t>
            </a:r>
            <a:endParaRPr lang="en-US" b="1" u="none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05400" y="990601"/>
            <a:ext cx="2065942" cy="21528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Footer Placeholder 5"/>
          <p:cNvSpPr txBox="1">
            <a:spLocks/>
          </p:cNvSpPr>
          <p:nvPr/>
        </p:nvSpPr>
        <p:spPr>
          <a:xfrm>
            <a:off x="2743200" y="4816476"/>
            <a:ext cx="678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>
              <a:defRPr/>
            </a:pPr>
            <a:r>
              <a:rPr lang="en-US" sz="1200" b="1" dirty="0">
                <a:latin typeface="Times New Roman"/>
                <a:ea typeface="Calibri"/>
                <a:cs typeface="Times New Roman"/>
              </a:rPr>
              <a:t>Copyright content, use only with the written permission of presenter mentioned</a:t>
            </a:r>
            <a:endParaRPr lang="en-US" altLang="zh-TW" sz="1200" dirty="0">
              <a:latin typeface="Times New Roman" pitchFamily="18" charset="0"/>
            </a:endParaRPr>
          </a:p>
        </p:txBody>
      </p:sp>
      <p:sp>
        <p:nvSpPr>
          <p:cNvPr id="11" name="Footer Placeholder 5"/>
          <p:cNvSpPr txBox="1">
            <a:spLocks/>
          </p:cNvSpPr>
          <p:nvPr/>
        </p:nvSpPr>
        <p:spPr>
          <a:xfrm>
            <a:off x="4876800" y="5410201"/>
            <a:ext cx="2438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>
              <a:defRPr/>
            </a:pPr>
            <a:r>
              <a:rPr lang="en-US" b="1" dirty="0">
                <a:latin typeface="Times New Roman"/>
                <a:ea typeface="Calibri"/>
                <a:cs typeface="Times New Roman"/>
              </a:rPr>
              <a:t>Lecture 21</a:t>
            </a:r>
            <a:endParaRPr lang="en-US" altLang="zh-TW" dirty="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br>
              <a:rPr lang="en-US" dirty="0"/>
            </a:br>
            <a:r>
              <a:rPr lang="en-US" b="1" dirty="0"/>
              <a:t>Text and Reference Books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buNone/>
            </a:pPr>
            <a:r>
              <a:rPr lang="en-US" sz="2400" dirty="0">
                <a:solidFill>
                  <a:srgbClr val="FF0000"/>
                </a:solidFill>
              </a:rPr>
              <a:t>Text Books: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/>
              <a:t>Fourouzan B. A. (2004), “Data Communication and Networking”, 4th Edition, McGraw-Hill.</a:t>
            </a:r>
          </a:p>
          <a:p>
            <a:pPr algn="just"/>
            <a:endParaRPr lang="en-US" sz="2400" dirty="0"/>
          </a:p>
          <a:p>
            <a:pPr algn="just">
              <a:buNone/>
            </a:pPr>
            <a:r>
              <a:rPr lang="en-US" sz="2400" dirty="0">
                <a:solidFill>
                  <a:srgbClr val="FF0000"/>
                </a:solidFill>
              </a:rPr>
              <a:t>References: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/>
              <a:t>Kurose, J. F. and Ross K. W. (2005), “Computer Networking: A Top-Down Approach Featuring the Internet”, 3rd Edition, Addison-Wesley.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/>
              <a:t>A. S. Tanenbaum (2006), “Computer Networks”, 2nd Edition, Prentice Hall India.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AFE80AEF-E481-4A67-8896-66D11BEB82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23.</a:t>
            </a:r>
            <a:fld id="{CDD33735-B7EF-414E-BBAA-3FBA87B8D04A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1094658" name="Line 2">
            <a:extLst>
              <a:ext uri="{FF2B5EF4-FFF2-40B4-BE49-F238E27FC236}">
                <a16:creationId xmlns:a16="http://schemas.microsoft.com/office/drawing/2014/main" id="{711EF5DF-FC4B-433C-9F72-30839ED4B44F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094659" name="Line 3">
            <a:extLst>
              <a:ext uri="{FF2B5EF4-FFF2-40B4-BE49-F238E27FC236}">
                <a16:creationId xmlns:a16="http://schemas.microsoft.com/office/drawing/2014/main" id="{60E4B8E1-B160-4F32-B8D6-83A0E6C24904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094660" name="Text Box 4">
            <a:extLst>
              <a:ext uri="{FF2B5EF4-FFF2-40B4-BE49-F238E27FC236}">
                <a16:creationId xmlns:a16="http://schemas.microsoft.com/office/drawing/2014/main" id="{F4FAD91D-A0ED-43FB-9F77-92875728F9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381000"/>
            <a:ext cx="390087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Transport Layer: Introduction</a:t>
            </a:r>
            <a:endParaRPr lang="en-US" altLang="en-US" sz="2000" i="1" dirty="0">
              <a:latin typeface="Times New Roman" panose="02020603050405020304" pitchFamily="18" charset="0"/>
            </a:endParaRPr>
          </a:p>
        </p:txBody>
      </p:sp>
      <p:sp>
        <p:nvSpPr>
          <p:cNvPr id="1094661" name="Line 5">
            <a:extLst>
              <a:ext uri="{FF2B5EF4-FFF2-40B4-BE49-F238E27FC236}">
                <a16:creationId xmlns:a16="http://schemas.microsoft.com/office/drawing/2014/main" id="{573EDAAA-0196-4647-B9C9-AD25C146A6B7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094662" name="Picture 6">
            <a:extLst>
              <a:ext uri="{FF2B5EF4-FFF2-40B4-BE49-F238E27FC236}">
                <a16:creationId xmlns:a16="http://schemas.microsoft.com/office/drawing/2014/main" id="{E1319A13-6265-4A8E-AA86-EAEB3628C9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4250" y="1066800"/>
            <a:ext cx="7138988" cy="501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D40991C6-D1DF-4827-9311-756A248860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23.</a:t>
            </a:r>
            <a:fld id="{D3D656D2-6357-4E27-9FF4-92D027BDA830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1078275" name="Text Box 3">
            <a:extLst>
              <a:ext uri="{FF2B5EF4-FFF2-40B4-BE49-F238E27FC236}">
                <a16:creationId xmlns:a16="http://schemas.microsoft.com/office/drawing/2014/main" id="{371124A9-B72A-431A-AA27-9A635F7C29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406400"/>
            <a:ext cx="103105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36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anose="02020603050405020304" pitchFamily="18" charset="0"/>
              </a:rPr>
              <a:t>TCP</a:t>
            </a:r>
          </a:p>
        </p:txBody>
      </p:sp>
      <p:sp>
        <p:nvSpPr>
          <p:cNvPr id="1078276" name="Text Box 4">
            <a:extLst>
              <a:ext uri="{FF2B5EF4-FFF2-40B4-BE49-F238E27FC236}">
                <a16:creationId xmlns:a16="http://schemas.microsoft.com/office/drawing/2014/main" id="{E1F3214B-2605-4269-A341-8366485571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53600" y="6400801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78277" name="Rectangle 5">
            <a:extLst>
              <a:ext uri="{FF2B5EF4-FFF2-40B4-BE49-F238E27FC236}">
                <a16:creationId xmlns:a16="http://schemas.microsoft.com/office/drawing/2014/main" id="{844C7E0B-39F7-46CD-9B54-9FD57F4C10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1524001"/>
            <a:ext cx="8229600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/>
            <a:r>
              <a:rPr lang="en-US" altLang="en-US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TCP is a connection-oriented protocol; it creates a virtual connection between two TCPs to send data. In addition, TCP uses flow and error control mechanisms at the transport level.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E7A2C626-0271-46A1-811C-88479402C4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23.</a:t>
            </a:r>
            <a:fld id="{A2217D78-771A-4616-994B-45403785C74C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1106946" name="Line 2">
            <a:extLst>
              <a:ext uri="{FF2B5EF4-FFF2-40B4-BE49-F238E27FC236}">
                <a16:creationId xmlns:a16="http://schemas.microsoft.com/office/drawing/2014/main" id="{F9D22B6A-11E0-4888-B208-BECB026413C8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106947" name="Line 3">
            <a:extLst>
              <a:ext uri="{FF2B5EF4-FFF2-40B4-BE49-F238E27FC236}">
                <a16:creationId xmlns:a16="http://schemas.microsoft.com/office/drawing/2014/main" id="{4B47F7A8-DA5E-4F0F-BB5E-0354C778AFBE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106948" name="Text Box 4">
            <a:extLst>
              <a:ext uri="{FF2B5EF4-FFF2-40B4-BE49-F238E27FC236}">
                <a16:creationId xmlns:a16="http://schemas.microsoft.com/office/drawing/2014/main" id="{9B2B47A9-C2CB-4217-B5D1-FEBC350125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1" y="381000"/>
            <a:ext cx="178940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i="1" dirty="0">
                <a:latin typeface="Times New Roman" panose="02020603050405020304" pitchFamily="18" charset="0"/>
              </a:rPr>
              <a:t>Stream delivery</a:t>
            </a:r>
          </a:p>
        </p:txBody>
      </p:sp>
      <p:sp>
        <p:nvSpPr>
          <p:cNvPr id="1106949" name="Line 5">
            <a:extLst>
              <a:ext uri="{FF2B5EF4-FFF2-40B4-BE49-F238E27FC236}">
                <a16:creationId xmlns:a16="http://schemas.microsoft.com/office/drawing/2014/main" id="{3628CBB2-F675-4C8B-9E85-0D9F7D19D428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106950" name="Picture 6">
            <a:extLst>
              <a:ext uri="{FF2B5EF4-FFF2-40B4-BE49-F238E27FC236}">
                <a16:creationId xmlns:a16="http://schemas.microsoft.com/office/drawing/2014/main" id="{D8A2FE82-3B2E-4DCC-9936-EBF3EC1415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828800"/>
            <a:ext cx="7843838" cy="2916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730D13FC-04C9-43B5-9BDE-E879B515EA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23.</a:t>
            </a:r>
            <a:fld id="{3DB610BE-64B4-4384-84D7-E3D400460328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1108994" name="Line 2">
            <a:extLst>
              <a:ext uri="{FF2B5EF4-FFF2-40B4-BE49-F238E27FC236}">
                <a16:creationId xmlns:a16="http://schemas.microsoft.com/office/drawing/2014/main" id="{A5C013AA-5CFA-4DC6-82EE-32A6AD068315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108995" name="Line 3">
            <a:extLst>
              <a:ext uri="{FF2B5EF4-FFF2-40B4-BE49-F238E27FC236}">
                <a16:creationId xmlns:a16="http://schemas.microsoft.com/office/drawing/2014/main" id="{2741B1DD-48B8-41A4-84A1-ACE9C510A550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108996" name="Text Box 4">
            <a:extLst>
              <a:ext uri="{FF2B5EF4-FFF2-40B4-BE49-F238E27FC236}">
                <a16:creationId xmlns:a16="http://schemas.microsoft.com/office/drawing/2014/main" id="{CA554332-1F4C-4733-8672-2710B6CD3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1" y="381000"/>
            <a:ext cx="412016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>
                <a:solidFill>
                  <a:schemeClr val="folHlink"/>
                </a:solidFill>
                <a:latin typeface="Times New Roman" panose="02020603050405020304" pitchFamily="18" charset="0"/>
              </a:rPr>
              <a:t>Figure </a:t>
            </a:r>
            <a:r>
              <a:rPr lang="en-US" altLang="en-US" sz="2000" i="1" dirty="0">
                <a:latin typeface="Times New Roman" panose="02020603050405020304" pitchFamily="18" charset="0"/>
              </a:rPr>
              <a:t>Sending and receiving buffers</a:t>
            </a:r>
          </a:p>
        </p:txBody>
      </p:sp>
      <p:sp>
        <p:nvSpPr>
          <p:cNvPr id="1108997" name="Line 5">
            <a:extLst>
              <a:ext uri="{FF2B5EF4-FFF2-40B4-BE49-F238E27FC236}">
                <a16:creationId xmlns:a16="http://schemas.microsoft.com/office/drawing/2014/main" id="{F2613590-850B-4A81-93A7-2AE987087071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108998" name="Picture 6">
            <a:extLst>
              <a:ext uri="{FF2B5EF4-FFF2-40B4-BE49-F238E27FC236}">
                <a16:creationId xmlns:a16="http://schemas.microsoft.com/office/drawing/2014/main" id="{3E5168C0-78B2-414E-8088-5513793FF0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0114" y="1127126"/>
            <a:ext cx="7888287" cy="458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395F3FE0-F5C2-4876-ABBF-22F6779C0B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23.</a:t>
            </a:r>
            <a:fld id="{6CFB10B1-5D46-4371-AA83-8EED09FEEE93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1111042" name="Line 2">
            <a:extLst>
              <a:ext uri="{FF2B5EF4-FFF2-40B4-BE49-F238E27FC236}">
                <a16:creationId xmlns:a16="http://schemas.microsoft.com/office/drawing/2014/main" id="{1F8DAC13-875F-470D-BAF8-F17CDEEBB5D7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111043" name="Line 3">
            <a:extLst>
              <a:ext uri="{FF2B5EF4-FFF2-40B4-BE49-F238E27FC236}">
                <a16:creationId xmlns:a16="http://schemas.microsoft.com/office/drawing/2014/main" id="{1AEDC63E-1BA2-47F5-8A06-2FA1547634AF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111044" name="Text Box 4">
            <a:extLst>
              <a:ext uri="{FF2B5EF4-FFF2-40B4-BE49-F238E27FC236}">
                <a16:creationId xmlns:a16="http://schemas.microsoft.com/office/drawing/2014/main" id="{112F66D9-FC7A-4DCC-B134-EF30CBCA5F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381000"/>
            <a:ext cx="165481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i="1" dirty="0">
                <a:latin typeface="Times New Roman" panose="02020603050405020304" pitchFamily="18" charset="0"/>
              </a:rPr>
              <a:t>TCP segments</a:t>
            </a:r>
          </a:p>
        </p:txBody>
      </p:sp>
      <p:sp>
        <p:nvSpPr>
          <p:cNvPr id="1111045" name="Line 5">
            <a:extLst>
              <a:ext uri="{FF2B5EF4-FFF2-40B4-BE49-F238E27FC236}">
                <a16:creationId xmlns:a16="http://schemas.microsoft.com/office/drawing/2014/main" id="{E08F463D-3C22-45A9-B327-43E03AA4E476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111046" name="Picture 6">
            <a:extLst>
              <a:ext uri="{FF2B5EF4-FFF2-40B4-BE49-F238E27FC236}">
                <a16:creationId xmlns:a16="http://schemas.microsoft.com/office/drawing/2014/main" id="{079D82EE-28F6-42DE-A003-AA0956A9C1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8964" y="1279526"/>
            <a:ext cx="8428037" cy="458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頁尾版面配置區 1">
            <a:extLst>
              <a:ext uri="{FF2B5EF4-FFF2-40B4-BE49-F238E27FC236}">
                <a16:creationId xmlns:a16="http://schemas.microsoft.com/office/drawing/2014/main" id="{3C2B9A34-ECFA-42C1-9986-6CD4CB4DB8E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zh-TW"/>
              <a:t>TCP/IP Protocol Suite</a:t>
            </a:r>
          </a:p>
        </p:txBody>
      </p:sp>
      <p:sp>
        <p:nvSpPr>
          <p:cNvPr id="32771" name="投影片編號版面配置區 2">
            <a:extLst>
              <a:ext uri="{FF2B5EF4-FFF2-40B4-BE49-F238E27FC236}">
                <a16:creationId xmlns:a16="http://schemas.microsoft.com/office/drawing/2014/main" id="{4BAAD1E8-F2E2-4CA1-89C3-0DA7964986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4FD1D6BC-1696-440A-935A-6233EC019CBD}" type="slidenum">
              <a:rPr lang="en-US" altLang="zh-TW" b="0"/>
              <a:pPr/>
              <a:t>8</a:t>
            </a:fld>
            <a:endParaRPr lang="en-US" altLang="zh-TW" b="0"/>
          </a:p>
        </p:txBody>
      </p:sp>
      <p:sp>
        <p:nvSpPr>
          <p:cNvPr id="32772" name="Rectangle 2">
            <a:extLst>
              <a:ext uri="{FF2B5EF4-FFF2-40B4-BE49-F238E27FC236}">
                <a16:creationId xmlns:a16="http://schemas.microsoft.com/office/drawing/2014/main" id="{5F99C7BC-AB86-4B65-944D-1C1BB4635FE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890713" y="107951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zh-TW" altLang="zh-TW" sz="2400" b="0">
              <a:ea typeface="新細明體" panose="02020500000000000000" pitchFamily="18" charset="-120"/>
            </a:endParaRPr>
          </a:p>
        </p:txBody>
      </p:sp>
      <p:sp>
        <p:nvSpPr>
          <p:cNvPr id="32773" name="Rectangle 3">
            <a:extLst>
              <a:ext uri="{FF2B5EF4-FFF2-40B4-BE49-F238E27FC236}">
                <a16:creationId xmlns:a16="http://schemas.microsoft.com/office/drawing/2014/main" id="{EBD2C01B-1DA0-48CF-9BF9-5957A7E21A4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273301" y="107951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zh-TW" altLang="zh-TW" sz="2400" b="0">
              <a:ea typeface="新細明體" panose="02020500000000000000" pitchFamily="18" charset="-120"/>
            </a:endParaRPr>
          </a:p>
        </p:txBody>
      </p:sp>
      <p:sp>
        <p:nvSpPr>
          <p:cNvPr id="32774" name="Rectangle 4">
            <a:extLst>
              <a:ext uri="{FF2B5EF4-FFF2-40B4-BE49-F238E27FC236}">
                <a16:creationId xmlns:a16="http://schemas.microsoft.com/office/drawing/2014/main" id="{7E22C24A-5F5C-4B0E-B966-211B37491AF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014539" y="530226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zh-TW" altLang="zh-TW" sz="2400" b="0">
              <a:ea typeface="新細明體" panose="02020500000000000000" pitchFamily="18" charset="-120"/>
            </a:endParaRPr>
          </a:p>
        </p:txBody>
      </p:sp>
      <p:sp>
        <p:nvSpPr>
          <p:cNvPr id="32775" name="Rectangle 5">
            <a:extLst>
              <a:ext uri="{FF2B5EF4-FFF2-40B4-BE49-F238E27FC236}">
                <a16:creationId xmlns:a16="http://schemas.microsoft.com/office/drawing/2014/main" id="{043123EB-8899-4F8C-8EA6-C9EDA6677EC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384425" y="530226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zh-TW" altLang="zh-TW" sz="2400" b="0">
              <a:ea typeface="新細明體" panose="02020500000000000000" pitchFamily="18" charset="-120"/>
            </a:endParaRPr>
          </a:p>
        </p:txBody>
      </p:sp>
      <p:sp>
        <p:nvSpPr>
          <p:cNvPr id="32776" name="Rectangle 6">
            <a:extLst>
              <a:ext uri="{FF2B5EF4-FFF2-40B4-BE49-F238E27FC236}">
                <a16:creationId xmlns:a16="http://schemas.microsoft.com/office/drawing/2014/main" id="{BD36A310-6179-41E9-A675-0D1EE40A30F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600200" y="457201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zh-TW" altLang="zh-TW" sz="2400" b="0">
              <a:ea typeface="新細明體" panose="02020500000000000000" pitchFamily="18" charset="-120"/>
            </a:endParaRPr>
          </a:p>
        </p:txBody>
      </p:sp>
      <p:sp>
        <p:nvSpPr>
          <p:cNvPr id="32777" name="Rectangle 7">
            <a:extLst>
              <a:ext uri="{FF2B5EF4-FFF2-40B4-BE49-F238E27FC236}">
                <a16:creationId xmlns:a16="http://schemas.microsoft.com/office/drawing/2014/main" id="{89E568CB-B408-4185-9E43-390984296187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35200" y="1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zh-TW" altLang="zh-TW" sz="2400" b="0">
              <a:ea typeface="新細明體" panose="02020500000000000000" pitchFamily="18" charset="-120"/>
            </a:endParaRPr>
          </a:p>
        </p:txBody>
      </p:sp>
      <p:sp>
        <p:nvSpPr>
          <p:cNvPr id="32778" name="Rectangle 8">
            <a:extLst>
              <a:ext uri="{FF2B5EF4-FFF2-40B4-BE49-F238E27FC236}">
                <a16:creationId xmlns:a16="http://schemas.microsoft.com/office/drawing/2014/main" id="{C0A701B2-00F1-449C-851F-0101F328796A}"/>
              </a:ext>
            </a:extLst>
          </p:cNvPr>
          <p:cNvSpPr>
            <a:spLocks noChangeArrowheads="1"/>
          </p:cNvSpPr>
          <p:nvPr/>
        </p:nvSpPr>
        <p:spPr bwMode="gray">
          <a:xfrm>
            <a:off x="1966914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zh-TW" altLang="zh-TW" sz="2400" b="0">
              <a:ea typeface="新細明體" panose="02020500000000000000" pitchFamily="18" charset="-120"/>
            </a:endParaRPr>
          </a:p>
        </p:txBody>
      </p:sp>
      <p:sp>
        <p:nvSpPr>
          <p:cNvPr id="873481" name="Line 9">
            <a:extLst>
              <a:ext uri="{FF2B5EF4-FFF2-40B4-BE49-F238E27FC236}">
                <a16:creationId xmlns:a16="http://schemas.microsoft.com/office/drawing/2014/main" id="{951544C5-C6D6-47B6-87B1-A6543C76A9F0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624138"/>
            <a:ext cx="8153400" cy="0"/>
          </a:xfrm>
          <a:prstGeom prst="line">
            <a:avLst/>
          </a:prstGeom>
          <a:noFill/>
          <a:ln w="7620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73482" name="Line 10">
            <a:extLst>
              <a:ext uri="{FF2B5EF4-FFF2-40B4-BE49-F238E27FC236}">
                <a16:creationId xmlns:a16="http://schemas.microsoft.com/office/drawing/2014/main" id="{80CC5C50-FC86-493C-B1A5-C501377AA5B9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334000"/>
            <a:ext cx="8153400" cy="0"/>
          </a:xfrm>
          <a:prstGeom prst="line">
            <a:avLst/>
          </a:prstGeom>
          <a:noFill/>
          <a:ln w="7620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73483" name="Rectangle 11">
            <a:extLst>
              <a:ext uri="{FF2B5EF4-FFF2-40B4-BE49-F238E27FC236}">
                <a16:creationId xmlns:a16="http://schemas.microsoft.com/office/drawing/2014/main" id="{FBD2C575-62F5-435B-92C3-FC2DC5A552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1700" y="2716214"/>
            <a:ext cx="8077200" cy="2554545"/>
          </a:xfrm>
          <a:prstGeom prst="rect">
            <a:avLst/>
          </a:prstGeom>
          <a:solidFill>
            <a:srgbClr val="3333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zh-TW" sz="3200" i="1" dirty="0">
                <a:solidFill>
                  <a:schemeClr val="bg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The bytes of data being transferred in each connection are numbered by TCP.</a:t>
            </a:r>
          </a:p>
          <a:p>
            <a:pPr algn="ctr"/>
            <a:endParaRPr lang="en-US" altLang="zh-TW" sz="3200" i="1" dirty="0">
              <a:solidFill>
                <a:schemeClr val="bg1"/>
              </a:solidFill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 algn="ctr"/>
            <a:r>
              <a:rPr lang="en-US" altLang="zh-TW" sz="3200" i="1" dirty="0">
                <a:solidFill>
                  <a:schemeClr val="bg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The numbering starts with an  arbitrarily generated number. Uses 32 bits.</a:t>
            </a:r>
          </a:p>
        </p:txBody>
      </p:sp>
      <p:grpSp>
        <p:nvGrpSpPr>
          <p:cNvPr id="873484" name="Group 12">
            <a:extLst>
              <a:ext uri="{FF2B5EF4-FFF2-40B4-BE49-F238E27FC236}">
                <a16:creationId xmlns:a16="http://schemas.microsoft.com/office/drawing/2014/main" id="{ED3B8B64-55D8-4DF2-AB17-D41C8B90BD5A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1981200"/>
            <a:ext cx="1143000" cy="566738"/>
            <a:chOff x="1200" y="1248"/>
            <a:chExt cx="720" cy="357"/>
          </a:xfrm>
        </p:grpSpPr>
        <p:pic>
          <p:nvPicPr>
            <p:cNvPr id="32783" name="Picture 13">
              <a:extLst>
                <a:ext uri="{FF2B5EF4-FFF2-40B4-BE49-F238E27FC236}">
                  <a16:creationId xmlns:a16="http://schemas.microsoft.com/office/drawing/2014/main" id="{3A3140F5-615B-4334-9DBA-BFB71C2C969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2784" name="Text Box 14">
              <a:extLst>
                <a:ext uri="{FF2B5EF4-FFF2-40B4-BE49-F238E27FC236}">
                  <a16:creationId xmlns:a16="http://schemas.microsoft.com/office/drawing/2014/main" id="{D944AC57-FDC2-4350-8013-1728479DD9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zh-TW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Note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2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500" fill="hold"/>
                                        <p:tgtEl>
                                          <p:spTgt spid="873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873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873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873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348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頁尾版面配置區 1">
            <a:extLst>
              <a:ext uri="{FF2B5EF4-FFF2-40B4-BE49-F238E27FC236}">
                <a16:creationId xmlns:a16="http://schemas.microsoft.com/office/drawing/2014/main" id="{09C960B1-18AB-42EC-B5E7-5ED5CEB272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zh-TW"/>
              <a:t>TCP/IP Protocol Suite</a:t>
            </a:r>
          </a:p>
        </p:txBody>
      </p:sp>
      <p:sp>
        <p:nvSpPr>
          <p:cNvPr id="34819" name="投影片編號版面配置區 2">
            <a:extLst>
              <a:ext uri="{FF2B5EF4-FFF2-40B4-BE49-F238E27FC236}">
                <a16:creationId xmlns:a16="http://schemas.microsoft.com/office/drawing/2014/main" id="{6F65B3D1-32D8-4ED5-8CA8-4201FCD0E0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F9EE44DC-D3C1-4914-A853-F97B566404F8}" type="slidenum">
              <a:rPr lang="en-US" altLang="zh-TW" b="0"/>
              <a:pPr/>
              <a:t>9</a:t>
            </a:fld>
            <a:endParaRPr lang="en-US" altLang="zh-TW" b="0"/>
          </a:p>
        </p:txBody>
      </p:sp>
      <p:sp>
        <p:nvSpPr>
          <p:cNvPr id="34820" name="Text Box 2">
            <a:extLst>
              <a:ext uri="{FF2B5EF4-FFF2-40B4-BE49-F238E27FC236}">
                <a16:creationId xmlns:a16="http://schemas.microsoft.com/office/drawing/2014/main" id="{A3DB4B1B-A2EF-41CB-921E-6DC2157D26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696913"/>
            <a:ext cx="887730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just"/>
            <a:r>
              <a:rPr lang="en-US" altLang="zh-TW" sz="2400">
                <a:latin typeface="Arial Unicode MS" pitchFamily="34" charset="-120"/>
                <a:ea typeface="Arial Unicode MS" pitchFamily="34" charset="-120"/>
              </a:rPr>
              <a:t>Suppose a TCP connection is transferring a file of 5,000 bytes. The first byte is numbered 10,001. What are the sequence numbers for each segment if data are sent in five segments, each carrying 1,000 bytes?</a:t>
            </a:r>
          </a:p>
          <a:p>
            <a:pPr algn="just"/>
            <a:endParaRPr lang="en-US" altLang="zh-TW" sz="2400">
              <a:latin typeface="Arial Unicode MS" pitchFamily="34" charset="-120"/>
              <a:ea typeface="Arial Unicode MS" pitchFamily="34" charset="-120"/>
            </a:endParaRPr>
          </a:p>
          <a:p>
            <a:pPr algn="just"/>
            <a:r>
              <a:rPr lang="en-US" altLang="zh-TW" sz="2400" i="1">
                <a:solidFill>
                  <a:schemeClr val="hlink"/>
                </a:solidFill>
                <a:latin typeface="Arial Unicode MS" pitchFamily="34" charset="-120"/>
                <a:ea typeface="Arial Unicode MS" pitchFamily="34" charset="-120"/>
              </a:rPr>
              <a:t>Solution</a:t>
            </a:r>
          </a:p>
          <a:p>
            <a:pPr algn="just"/>
            <a:r>
              <a:rPr lang="en-US" altLang="zh-TW" sz="2400">
                <a:latin typeface="Arial Unicode MS" pitchFamily="34" charset="-120"/>
                <a:ea typeface="Arial Unicode MS" pitchFamily="34" charset="-120"/>
              </a:rPr>
              <a:t>The following shows the sequence number for each segment:</a:t>
            </a:r>
          </a:p>
        </p:txBody>
      </p:sp>
      <p:grpSp>
        <p:nvGrpSpPr>
          <p:cNvPr id="34821" name="Group 3">
            <a:extLst>
              <a:ext uri="{FF2B5EF4-FFF2-40B4-BE49-F238E27FC236}">
                <a16:creationId xmlns:a16="http://schemas.microsoft.com/office/drawing/2014/main" id="{44BD8287-E931-4833-BB6A-3EB88027BB4D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0"/>
            <a:ext cx="9144000" cy="609600"/>
            <a:chOff x="0" y="2448"/>
            <a:chExt cx="5760" cy="384"/>
          </a:xfrm>
        </p:grpSpPr>
        <p:sp>
          <p:nvSpPr>
            <p:cNvPr id="34823" name="Rectangle 4">
              <a:extLst>
                <a:ext uri="{FF2B5EF4-FFF2-40B4-BE49-F238E27FC236}">
                  <a16:creationId xmlns:a16="http://schemas.microsoft.com/office/drawing/2014/main" id="{FF7D3790-FA72-46F8-99FF-C52021EAC5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448"/>
              <a:ext cx="5760" cy="384"/>
            </a:xfrm>
            <a:prstGeom prst="rect">
              <a:avLst/>
            </a:prstGeom>
            <a:solidFill>
              <a:srgbClr val="2CB843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endParaRPr lang="zh-TW" altLang="en-US">
                <a:ea typeface="新細明體" panose="02020500000000000000" pitchFamily="18" charset="-120"/>
              </a:endParaRPr>
            </a:p>
          </p:txBody>
        </p:sp>
        <p:sp>
          <p:nvSpPr>
            <p:cNvPr id="875525" name="Text Box 5">
              <a:extLst>
                <a:ext uri="{FF2B5EF4-FFF2-40B4-BE49-F238E27FC236}">
                  <a16:creationId xmlns:a16="http://schemas.microsoft.com/office/drawing/2014/main" id="{F72463FC-F457-440C-8162-C820A619E3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2448"/>
              <a:ext cx="1595" cy="365"/>
            </a:xfrm>
            <a:prstGeom prst="rect">
              <a:avLst/>
            </a:prstGeom>
            <a:solidFill>
              <a:srgbClr val="2CB84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TW" sz="3200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新細明體" panose="02020500000000000000" pitchFamily="18" charset="-120"/>
                </a:rPr>
                <a:t>Example</a:t>
              </a:r>
              <a:r>
                <a:rPr lang="en-US" altLang="zh-TW" sz="3200">
                  <a:solidFill>
                    <a:schemeClr val="bg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 15.1</a:t>
              </a:r>
              <a:endParaRPr lang="en-US" altLang="zh-TW" sz="3200" i="1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endParaRPr>
            </a:p>
          </p:txBody>
        </p:sp>
      </p:grpSp>
      <p:pic>
        <p:nvPicPr>
          <p:cNvPr id="34822" name="Picture 8">
            <a:extLst>
              <a:ext uri="{FF2B5EF4-FFF2-40B4-BE49-F238E27FC236}">
                <a16:creationId xmlns:a16="http://schemas.microsoft.com/office/drawing/2014/main" id="{B5F950C8-D090-46B7-ADFA-53C7D946DF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3551" y="3895725"/>
            <a:ext cx="8709025" cy="177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頁尾版面配置區 1">
            <a:extLst>
              <a:ext uri="{FF2B5EF4-FFF2-40B4-BE49-F238E27FC236}">
                <a16:creationId xmlns:a16="http://schemas.microsoft.com/office/drawing/2014/main" id="{30657C09-19FB-4449-ACCE-3567AA069E7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zh-TW"/>
              <a:t>TCP/IP Protocol Suite</a:t>
            </a:r>
          </a:p>
        </p:txBody>
      </p:sp>
      <p:sp>
        <p:nvSpPr>
          <p:cNvPr id="36867" name="投影片編號版面配置區 2">
            <a:extLst>
              <a:ext uri="{FF2B5EF4-FFF2-40B4-BE49-F238E27FC236}">
                <a16:creationId xmlns:a16="http://schemas.microsoft.com/office/drawing/2014/main" id="{25291726-F8FD-4494-9368-F3AB17DAEC8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4ACD312B-CCEB-4BA1-941E-0003244111C5}" type="slidenum">
              <a:rPr lang="en-US" altLang="zh-TW" b="0"/>
              <a:pPr/>
              <a:t>10</a:t>
            </a:fld>
            <a:endParaRPr lang="en-US" altLang="zh-TW" b="0"/>
          </a:p>
        </p:txBody>
      </p:sp>
      <p:sp>
        <p:nvSpPr>
          <p:cNvPr id="36868" name="Rectangle 2">
            <a:extLst>
              <a:ext uri="{FF2B5EF4-FFF2-40B4-BE49-F238E27FC236}">
                <a16:creationId xmlns:a16="http://schemas.microsoft.com/office/drawing/2014/main" id="{ECFA64FC-61BA-4E09-86F1-A1C504CBA24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890713" y="107951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zh-TW" altLang="zh-TW" sz="2400" b="0">
              <a:ea typeface="新細明體" panose="02020500000000000000" pitchFamily="18" charset="-120"/>
            </a:endParaRPr>
          </a:p>
        </p:txBody>
      </p:sp>
      <p:sp>
        <p:nvSpPr>
          <p:cNvPr id="36869" name="Rectangle 3">
            <a:extLst>
              <a:ext uri="{FF2B5EF4-FFF2-40B4-BE49-F238E27FC236}">
                <a16:creationId xmlns:a16="http://schemas.microsoft.com/office/drawing/2014/main" id="{DF3B2241-3FDD-4A79-BF73-72ABCBFC0B4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273301" y="107951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zh-TW" altLang="zh-TW" sz="2400" b="0">
              <a:ea typeface="新細明體" panose="02020500000000000000" pitchFamily="18" charset="-120"/>
            </a:endParaRPr>
          </a:p>
        </p:txBody>
      </p:sp>
      <p:sp>
        <p:nvSpPr>
          <p:cNvPr id="36870" name="Rectangle 4">
            <a:extLst>
              <a:ext uri="{FF2B5EF4-FFF2-40B4-BE49-F238E27FC236}">
                <a16:creationId xmlns:a16="http://schemas.microsoft.com/office/drawing/2014/main" id="{E7BC86F6-1F44-4FB5-98A8-8116E6BAE88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014539" y="530226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zh-TW" altLang="zh-TW" sz="2400" b="0">
              <a:ea typeface="新細明體" panose="02020500000000000000" pitchFamily="18" charset="-120"/>
            </a:endParaRPr>
          </a:p>
        </p:txBody>
      </p:sp>
      <p:sp>
        <p:nvSpPr>
          <p:cNvPr id="36871" name="Rectangle 5">
            <a:extLst>
              <a:ext uri="{FF2B5EF4-FFF2-40B4-BE49-F238E27FC236}">
                <a16:creationId xmlns:a16="http://schemas.microsoft.com/office/drawing/2014/main" id="{D6E9CF75-04A2-444F-BFDD-EC3919267FB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384425" y="530226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zh-TW" altLang="zh-TW" sz="2400" b="0">
              <a:ea typeface="新細明體" panose="02020500000000000000" pitchFamily="18" charset="-120"/>
            </a:endParaRPr>
          </a:p>
        </p:txBody>
      </p:sp>
      <p:sp>
        <p:nvSpPr>
          <p:cNvPr id="36872" name="Rectangle 6">
            <a:extLst>
              <a:ext uri="{FF2B5EF4-FFF2-40B4-BE49-F238E27FC236}">
                <a16:creationId xmlns:a16="http://schemas.microsoft.com/office/drawing/2014/main" id="{AD015BAE-1E70-414F-A5F1-ABB0196EA57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600200" y="457201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zh-TW" altLang="zh-TW" sz="2400" b="0">
              <a:ea typeface="新細明體" panose="02020500000000000000" pitchFamily="18" charset="-120"/>
            </a:endParaRPr>
          </a:p>
        </p:txBody>
      </p:sp>
      <p:sp>
        <p:nvSpPr>
          <p:cNvPr id="36873" name="Rectangle 7">
            <a:extLst>
              <a:ext uri="{FF2B5EF4-FFF2-40B4-BE49-F238E27FC236}">
                <a16:creationId xmlns:a16="http://schemas.microsoft.com/office/drawing/2014/main" id="{B479F34F-B1E4-47A5-9150-B29416E6A47E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35200" y="1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zh-TW" altLang="zh-TW" sz="2400" b="0">
              <a:ea typeface="新細明體" panose="02020500000000000000" pitchFamily="18" charset="-120"/>
            </a:endParaRPr>
          </a:p>
        </p:txBody>
      </p:sp>
      <p:sp>
        <p:nvSpPr>
          <p:cNvPr id="36874" name="Rectangle 8">
            <a:extLst>
              <a:ext uri="{FF2B5EF4-FFF2-40B4-BE49-F238E27FC236}">
                <a16:creationId xmlns:a16="http://schemas.microsoft.com/office/drawing/2014/main" id="{1619CB98-E735-4B16-AE2C-419181473B91}"/>
              </a:ext>
            </a:extLst>
          </p:cNvPr>
          <p:cNvSpPr>
            <a:spLocks noChangeArrowheads="1"/>
          </p:cNvSpPr>
          <p:nvPr/>
        </p:nvSpPr>
        <p:spPr bwMode="gray">
          <a:xfrm>
            <a:off x="1966914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zh-TW" altLang="zh-TW" sz="2400" b="0">
              <a:ea typeface="新細明體" panose="02020500000000000000" pitchFamily="18" charset="-120"/>
            </a:endParaRPr>
          </a:p>
        </p:txBody>
      </p:sp>
      <p:sp>
        <p:nvSpPr>
          <p:cNvPr id="877577" name="Line 9">
            <a:extLst>
              <a:ext uri="{FF2B5EF4-FFF2-40B4-BE49-F238E27FC236}">
                <a16:creationId xmlns:a16="http://schemas.microsoft.com/office/drawing/2014/main" id="{1F9A199D-AF2D-418A-B089-E73BC16A935B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624138"/>
            <a:ext cx="8153400" cy="0"/>
          </a:xfrm>
          <a:prstGeom prst="line">
            <a:avLst/>
          </a:prstGeom>
          <a:noFill/>
          <a:ln w="7620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77578" name="Line 10">
            <a:extLst>
              <a:ext uri="{FF2B5EF4-FFF2-40B4-BE49-F238E27FC236}">
                <a16:creationId xmlns:a16="http://schemas.microsoft.com/office/drawing/2014/main" id="{F70B6963-8B4B-47CD-BE2B-650AF008E161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4876800"/>
            <a:ext cx="8153400" cy="0"/>
          </a:xfrm>
          <a:prstGeom prst="line">
            <a:avLst/>
          </a:prstGeom>
          <a:noFill/>
          <a:ln w="7620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77579" name="Rectangle 11">
            <a:extLst>
              <a:ext uri="{FF2B5EF4-FFF2-40B4-BE49-F238E27FC236}">
                <a16:creationId xmlns:a16="http://schemas.microsoft.com/office/drawing/2014/main" id="{DEBF6408-1625-4C73-A4DC-C581EC1825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1700" y="2716214"/>
            <a:ext cx="8077200" cy="2062103"/>
          </a:xfrm>
          <a:prstGeom prst="rect">
            <a:avLst/>
          </a:prstGeom>
          <a:solidFill>
            <a:srgbClr val="3333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zh-TW" sz="3200" i="1">
                <a:solidFill>
                  <a:schemeClr val="bg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The value in the sequence number </a:t>
            </a:r>
            <a:br>
              <a:rPr lang="en-US" altLang="zh-TW" sz="3200" i="1">
                <a:solidFill>
                  <a:schemeClr val="bg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</a:br>
            <a:r>
              <a:rPr lang="en-US" altLang="zh-TW" sz="3200" i="1">
                <a:solidFill>
                  <a:schemeClr val="bg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field of a segment defines the number assigned to the first data byte </a:t>
            </a:r>
            <a:br>
              <a:rPr lang="en-US" altLang="zh-TW" sz="3200" i="1">
                <a:solidFill>
                  <a:schemeClr val="bg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</a:br>
            <a:r>
              <a:rPr lang="en-US" altLang="zh-TW" sz="3200" i="1">
                <a:solidFill>
                  <a:schemeClr val="bg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contained in that segment.</a:t>
            </a:r>
          </a:p>
        </p:txBody>
      </p:sp>
      <p:grpSp>
        <p:nvGrpSpPr>
          <p:cNvPr id="877580" name="Group 12">
            <a:extLst>
              <a:ext uri="{FF2B5EF4-FFF2-40B4-BE49-F238E27FC236}">
                <a16:creationId xmlns:a16="http://schemas.microsoft.com/office/drawing/2014/main" id="{35A9D7F3-913C-459C-ACA2-03C62EA8A7C1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1981200"/>
            <a:ext cx="1143000" cy="566738"/>
            <a:chOff x="1200" y="1248"/>
            <a:chExt cx="720" cy="357"/>
          </a:xfrm>
        </p:grpSpPr>
        <p:pic>
          <p:nvPicPr>
            <p:cNvPr id="36879" name="Picture 13">
              <a:extLst>
                <a:ext uri="{FF2B5EF4-FFF2-40B4-BE49-F238E27FC236}">
                  <a16:creationId xmlns:a16="http://schemas.microsoft.com/office/drawing/2014/main" id="{1B011A0C-DEC7-4049-B6B9-737832AB0E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6880" name="Text Box 14">
              <a:extLst>
                <a:ext uri="{FF2B5EF4-FFF2-40B4-BE49-F238E27FC236}">
                  <a16:creationId xmlns:a16="http://schemas.microsoft.com/office/drawing/2014/main" id="{B8B04A9E-A970-4938-8BA6-76D4B4ABCD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zh-TW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Note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2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500" fill="hold"/>
                                        <p:tgtEl>
                                          <p:spTgt spid="877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877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877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877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757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頁尾版面配置區 1">
            <a:extLst>
              <a:ext uri="{FF2B5EF4-FFF2-40B4-BE49-F238E27FC236}">
                <a16:creationId xmlns:a16="http://schemas.microsoft.com/office/drawing/2014/main" id="{BB8AA4D7-BD90-4A79-9BDE-0EF9E158DBD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zh-TW"/>
              <a:t>TCP/IP Protocol Suite</a:t>
            </a:r>
          </a:p>
        </p:txBody>
      </p:sp>
      <p:sp>
        <p:nvSpPr>
          <p:cNvPr id="38915" name="投影片編號版面配置區 2">
            <a:extLst>
              <a:ext uri="{FF2B5EF4-FFF2-40B4-BE49-F238E27FC236}">
                <a16:creationId xmlns:a16="http://schemas.microsoft.com/office/drawing/2014/main" id="{C43EA484-167D-4CD4-B67F-1C58EE0434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44C7032E-42DE-4DF9-92F6-F734ECD67EB0}" type="slidenum">
              <a:rPr lang="en-US" altLang="zh-TW" b="0"/>
              <a:pPr/>
              <a:t>11</a:t>
            </a:fld>
            <a:endParaRPr lang="en-US" altLang="zh-TW" b="0"/>
          </a:p>
        </p:txBody>
      </p:sp>
      <p:sp>
        <p:nvSpPr>
          <p:cNvPr id="38916" name="Rectangle 2">
            <a:extLst>
              <a:ext uri="{FF2B5EF4-FFF2-40B4-BE49-F238E27FC236}">
                <a16:creationId xmlns:a16="http://schemas.microsoft.com/office/drawing/2014/main" id="{ADEA1B2C-9C60-49B8-B3B3-9982FAD3B8B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890713" y="107951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zh-TW" altLang="zh-TW" sz="2400" b="0">
              <a:ea typeface="新細明體" panose="02020500000000000000" pitchFamily="18" charset="-120"/>
            </a:endParaRPr>
          </a:p>
        </p:txBody>
      </p:sp>
      <p:sp>
        <p:nvSpPr>
          <p:cNvPr id="38917" name="Rectangle 3">
            <a:extLst>
              <a:ext uri="{FF2B5EF4-FFF2-40B4-BE49-F238E27FC236}">
                <a16:creationId xmlns:a16="http://schemas.microsoft.com/office/drawing/2014/main" id="{8D14B0D2-7DA2-46DB-A7E2-EE7E50BF7A3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273301" y="107951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zh-TW" altLang="zh-TW" sz="2400" b="0">
              <a:ea typeface="新細明體" panose="02020500000000000000" pitchFamily="18" charset="-120"/>
            </a:endParaRPr>
          </a:p>
        </p:txBody>
      </p:sp>
      <p:sp>
        <p:nvSpPr>
          <p:cNvPr id="38918" name="Rectangle 4">
            <a:extLst>
              <a:ext uri="{FF2B5EF4-FFF2-40B4-BE49-F238E27FC236}">
                <a16:creationId xmlns:a16="http://schemas.microsoft.com/office/drawing/2014/main" id="{C06FB00B-3BA1-4CD8-B7A9-ED9D2605C9A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014539" y="530226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zh-TW" altLang="zh-TW" sz="2400" b="0">
              <a:ea typeface="新細明體" panose="02020500000000000000" pitchFamily="18" charset="-120"/>
            </a:endParaRPr>
          </a:p>
        </p:txBody>
      </p:sp>
      <p:sp>
        <p:nvSpPr>
          <p:cNvPr id="38919" name="Rectangle 5">
            <a:extLst>
              <a:ext uri="{FF2B5EF4-FFF2-40B4-BE49-F238E27FC236}">
                <a16:creationId xmlns:a16="http://schemas.microsoft.com/office/drawing/2014/main" id="{42038EF9-6362-4922-A7AF-9BB15B1128E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384425" y="530226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zh-TW" altLang="zh-TW" sz="2400" b="0">
              <a:ea typeface="新細明體" panose="02020500000000000000" pitchFamily="18" charset="-120"/>
            </a:endParaRPr>
          </a:p>
        </p:txBody>
      </p:sp>
      <p:sp>
        <p:nvSpPr>
          <p:cNvPr id="38920" name="Rectangle 6">
            <a:extLst>
              <a:ext uri="{FF2B5EF4-FFF2-40B4-BE49-F238E27FC236}">
                <a16:creationId xmlns:a16="http://schemas.microsoft.com/office/drawing/2014/main" id="{6BCF5BEC-61BD-402A-BD51-8513AE17C71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600200" y="457201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zh-TW" altLang="zh-TW" sz="2400" b="0">
              <a:ea typeface="新細明體" panose="02020500000000000000" pitchFamily="18" charset="-120"/>
            </a:endParaRPr>
          </a:p>
        </p:txBody>
      </p:sp>
      <p:sp>
        <p:nvSpPr>
          <p:cNvPr id="38921" name="Rectangle 7">
            <a:extLst>
              <a:ext uri="{FF2B5EF4-FFF2-40B4-BE49-F238E27FC236}">
                <a16:creationId xmlns:a16="http://schemas.microsoft.com/office/drawing/2014/main" id="{44840C5A-5F3D-4FF3-AFAC-AFEDFFEE29DE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35200" y="1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zh-TW" altLang="zh-TW" sz="2400" b="0">
              <a:ea typeface="新細明體" panose="02020500000000000000" pitchFamily="18" charset="-120"/>
            </a:endParaRPr>
          </a:p>
        </p:txBody>
      </p:sp>
      <p:sp>
        <p:nvSpPr>
          <p:cNvPr id="38922" name="Rectangle 8">
            <a:extLst>
              <a:ext uri="{FF2B5EF4-FFF2-40B4-BE49-F238E27FC236}">
                <a16:creationId xmlns:a16="http://schemas.microsoft.com/office/drawing/2014/main" id="{EA51A36E-D52B-4131-94BA-267D1D979AC6}"/>
              </a:ext>
            </a:extLst>
          </p:cNvPr>
          <p:cNvSpPr>
            <a:spLocks noChangeArrowheads="1"/>
          </p:cNvSpPr>
          <p:nvPr/>
        </p:nvSpPr>
        <p:spPr bwMode="gray">
          <a:xfrm>
            <a:off x="1966914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zh-TW" altLang="zh-TW" sz="2400" b="0">
              <a:ea typeface="新細明體" panose="02020500000000000000" pitchFamily="18" charset="-120"/>
            </a:endParaRPr>
          </a:p>
        </p:txBody>
      </p:sp>
      <p:sp>
        <p:nvSpPr>
          <p:cNvPr id="879625" name="Line 9">
            <a:extLst>
              <a:ext uri="{FF2B5EF4-FFF2-40B4-BE49-F238E27FC236}">
                <a16:creationId xmlns:a16="http://schemas.microsoft.com/office/drawing/2014/main" id="{E0A70657-BB75-40AA-AAF3-82F09624BA02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624138"/>
            <a:ext cx="8153400" cy="0"/>
          </a:xfrm>
          <a:prstGeom prst="line">
            <a:avLst/>
          </a:prstGeom>
          <a:noFill/>
          <a:ln w="7620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79626" name="Line 10">
            <a:extLst>
              <a:ext uri="{FF2B5EF4-FFF2-40B4-BE49-F238E27FC236}">
                <a16:creationId xmlns:a16="http://schemas.microsoft.com/office/drawing/2014/main" id="{A2BAA66E-60D9-4901-8A93-BED8ED665A95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5867400"/>
            <a:ext cx="8153400" cy="0"/>
          </a:xfrm>
          <a:prstGeom prst="line">
            <a:avLst/>
          </a:prstGeom>
          <a:noFill/>
          <a:ln w="7620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79627" name="Rectangle 11">
            <a:extLst>
              <a:ext uri="{FF2B5EF4-FFF2-40B4-BE49-F238E27FC236}">
                <a16:creationId xmlns:a16="http://schemas.microsoft.com/office/drawing/2014/main" id="{ABDB5C48-F8AD-4096-8D7E-ABF640AE30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1700" y="2716213"/>
            <a:ext cx="8077200" cy="3046988"/>
          </a:xfrm>
          <a:prstGeom prst="rect">
            <a:avLst/>
          </a:prstGeom>
          <a:solidFill>
            <a:srgbClr val="3333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r>
              <a:rPr lang="en-US" altLang="zh-TW" sz="3200" i="1">
                <a:solidFill>
                  <a:schemeClr val="bg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The value of the acknowledgment field in a segment defines the number of the next byte a party expects to receive. </a:t>
            </a:r>
          </a:p>
          <a:p>
            <a:pPr algn="ctr"/>
            <a:endParaRPr lang="en-US" altLang="zh-TW" sz="3200" i="1">
              <a:solidFill>
                <a:schemeClr val="bg1"/>
              </a:solidFill>
              <a:latin typeface="Arial" panose="020B0604020202020204" pitchFamily="34" charset="0"/>
              <a:ea typeface="新細明體" panose="02020500000000000000" pitchFamily="18" charset="-120"/>
            </a:endParaRPr>
          </a:p>
          <a:p>
            <a:pPr algn="ctr"/>
            <a:r>
              <a:rPr lang="en-US" altLang="zh-TW" sz="3200" i="1">
                <a:solidFill>
                  <a:schemeClr val="bg1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The acknowledgment number is cumulative.</a:t>
            </a:r>
          </a:p>
        </p:txBody>
      </p:sp>
      <p:grpSp>
        <p:nvGrpSpPr>
          <p:cNvPr id="879628" name="Group 12">
            <a:extLst>
              <a:ext uri="{FF2B5EF4-FFF2-40B4-BE49-F238E27FC236}">
                <a16:creationId xmlns:a16="http://schemas.microsoft.com/office/drawing/2014/main" id="{F9C71FD5-3474-44EE-800E-F25262DB2CFA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1981200"/>
            <a:ext cx="1143000" cy="566738"/>
            <a:chOff x="1200" y="1248"/>
            <a:chExt cx="720" cy="357"/>
          </a:xfrm>
        </p:grpSpPr>
        <p:pic>
          <p:nvPicPr>
            <p:cNvPr id="38927" name="Picture 13">
              <a:extLst>
                <a:ext uri="{FF2B5EF4-FFF2-40B4-BE49-F238E27FC236}">
                  <a16:creationId xmlns:a16="http://schemas.microsoft.com/office/drawing/2014/main" id="{DD44520E-28C3-4166-8025-8831DEBC34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8928" name="Text Box 14">
              <a:extLst>
                <a:ext uri="{FF2B5EF4-FFF2-40B4-BE49-F238E27FC236}">
                  <a16:creationId xmlns:a16="http://schemas.microsoft.com/office/drawing/2014/main" id="{ED9DB05A-6765-400F-9651-A143EC704B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zh-TW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rPr>
                <a:t>Note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2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500" fill="hold"/>
                                        <p:tgtEl>
                                          <p:spTgt spid="879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879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879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879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962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頁尾版面配置區 1">
            <a:extLst>
              <a:ext uri="{FF2B5EF4-FFF2-40B4-BE49-F238E27FC236}">
                <a16:creationId xmlns:a16="http://schemas.microsoft.com/office/drawing/2014/main" id="{C31C2E62-6D29-4CDC-96FC-AA36584F72F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zh-TW"/>
              <a:t>TCP/IP Protocol Suite</a:t>
            </a:r>
          </a:p>
        </p:txBody>
      </p:sp>
      <p:sp>
        <p:nvSpPr>
          <p:cNvPr id="40963" name="投影片編號版面配置區 2">
            <a:extLst>
              <a:ext uri="{FF2B5EF4-FFF2-40B4-BE49-F238E27FC236}">
                <a16:creationId xmlns:a16="http://schemas.microsoft.com/office/drawing/2014/main" id="{E103C477-55A4-43D8-BFA4-875CF9BADA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F2F52AA9-6231-4C2A-A240-B5D35ACEAB61}" type="slidenum">
              <a:rPr lang="en-US" altLang="zh-TW" b="0"/>
              <a:pPr/>
              <a:t>12</a:t>
            </a:fld>
            <a:endParaRPr lang="en-US" altLang="zh-TW" b="0"/>
          </a:p>
        </p:txBody>
      </p:sp>
      <p:sp>
        <p:nvSpPr>
          <p:cNvPr id="881666" name="Rectangle 2">
            <a:extLst>
              <a:ext uri="{FF2B5EF4-FFF2-40B4-BE49-F238E27FC236}">
                <a16:creationId xmlns:a16="http://schemas.microsoft.com/office/drawing/2014/main" id="{6D0B3FF2-8A54-442F-8A19-E935A407D2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0"/>
            <a:ext cx="9144000" cy="1371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defRPr/>
            </a:pPr>
            <a:endParaRPr lang="zh-TW" altLang="zh-TW" sz="3200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40965" name="Text Box 3">
            <a:extLst>
              <a:ext uri="{FF2B5EF4-FFF2-40B4-BE49-F238E27FC236}">
                <a16:creationId xmlns:a16="http://schemas.microsoft.com/office/drawing/2014/main" id="{CCD0907B-4D5D-4E59-9B2A-6B9B7A394A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1" y="355601"/>
            <a:ext cx="3546475" cy="650875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zh-TW" sz="3600">
                <a:solidFill>
                  <a:schemeClr val="bg1"/>
                </a:solidFill>
                <a:latin typeface="Times" panose="02020603050405020304" pitchFamily="18" charset="0"/>
                <a:ea typeface="新細明體" panose="02020500000000000000" pitchFamily="18" charset="-120"/>
              </a:rPr>
              <a:t>15-3  SEGMENT</a:t>
            </a:r>
          </a:p>
        </p:txBody>
      </p:sp>
      <p:sp>
        <p:nvSpPr>
          <p:cNvPr id="40966" name="Text Box 4">
            <a:extLst>
              <a:ext uri="{FF2B5EF4-FFF2-40B4-BE49-F238E27FC236}">
                <a16:creationId xmlns:a16="http://schemas.microsoft.com/office/drawing/2014/main" id="{3D596F6A-6F10-474A-B357-7EFF97117E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53600" y="6400801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zh-TW" altLang="zh-TW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40967" name="Rectangle 5">
            <a:extLst>
              <a:ext uri="{FF2B5EF4-FFF2-40B4-BE49-F238E27FC236}">
                <a16:creationId xmlns:a16="http://schemas.microsoft.com/office/drawing/2014/main" id="{567F26EA-7422-494B-B931-E0FC36A120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1524000"/>
            <a:ext cx="85344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just"/>
            <a:r>
              <a:rPr lang="en-US" altLang="zh-TW" sz="2800">
                <a:latin typeface="Arial Unicode MS" pitchFamily="34" charset="-120"/>
                <a:ea typeface="Arial Unicode MS" pitchFamily="34" charset="-120"/>
              </a:rPr>
              <a:t>Before discussing TCP in more detail, let us discuss the TCP packets themselves. A packet in TCP is called a segment.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50460357-34F7-48CB-BCA8-5BFDC3B25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23.</a:t>
            </a:r>
            <a:fld id="{629DB4A0-D562-4B56-8DB4-676330545F64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1113090" name="Line 2">
            <a:extLst>
              <a:ext uri="{FF2B5EF4-FFF2-40B4-BE49-F238E27FC236}">
                <a16:creationId xmlns:a16="http://schemas.microsoft.com/office/drawing/2014/main" id="{9FBCFDC8-189C-422D-917D-D16AE32A26E6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113091" name="Line 3">
            <a:extLst>
              <a:ext uri="{FF2B5EF4-FFF2-40B4-BE49-F238E27FC236}">
                <a16:creationId xmlns:a16="http://schemas.microsoft.com/office/drawing/2014/main" id="{F11348A6-B562-4E87-B005-25C5D1734361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113092" name="Text Box 4">
            <a:extLst>
              <a:ext uri="{FF2B5EF4-FFF2-40B4-BE49-F238E27FC236}">
                <a16:creationId xmlns:a16="http://schemas.microsoft.com/office/drawing/2014/main" id="{DA466493-8D20-49A7-BBE2-B7C8BBD8B6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1" y="381000"/>
            <a:ext cx="230242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i="1" dirty="0">
                <a:latin typeface="Times New Roman" panose="02020603050405020304" pitchFamily="18" charset="0"/>
              </a:rPr>
              <a:t>TCP segment format</a:t>
            </a:r>
          </a:p>
        </p:txBody>
      </p:sp>
      <p:sp>
        <p:nvSpPr>
          <p:cNvPr id="1113093" name="Line 5">
            <a:extLst>
              <a:ext uri="{FF2B5EF4-FFF2-40B4-BE49-F238E27FC236}">
                <a16:creationId xmlns:a16="http://schemas.microsoft.com/office/drawing/2014/main" id="{3B94ADDE-3350-461C-AA17-344F3A9B85FE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113094" name="Picture 6">
            <a:extLst>
              <a:ext uri="{FF2B5EF4-FFF2-40B4-BE49-F238E27FC236}">
                <a16:creationId xmlns:a16="http://schemas.microsoft.com/office/drawing/2014/main" id="{F9A089EE-2450-4EA1-BFD5-8A61E0D9B5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143001"/>
            <a:ext cx="8775700" cy="4956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586FEFD4-8741-4AF4-BC0D-DBA372DBB7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23.</a:t>
            </a:r>
            <a:fld id="{ABDCBE6D-5E73-497B-8747-140A38F9BEEE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1115138" name="Line 2">
            <a:extLst>
              <a:ext uri="{FF2B5EF4-FFF2-40B4-BE49-F238E27FC236}">
                <a16:creationId xmlns:a16="http://schemas.microsoft.com/office/drawing/2014/main" id="{CF88307A-04D3-4706-B46B-657DF32958CE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115139" name="Line 3">
            <a:extLst>
              <a:ext uri="{FF2B5EF4-FFF2-40B4-BE49-F238E27FC236}">
                <a16:creationId xmlns:a16="http://schemas.microsoft.com/office/drawing/2014/main" id="{D5F8F29F-4C96-4685-8939-BDF3ED9CF129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115140" name="Text Box 4">
            <a:extLst>
              <a:ext uri="{FF2B5EF4-FFF2-40B4-BE49-F238E27FC236}">
                <a16:creationId xmlns:a16="http://schemas.microsoft.com/office/drawing/2014/main" id="{7C13EC5D-C572-432F-84F1-302588263D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381000"/>
            <a:ext cx="148963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i="1" dirty="0">
                <a:latin typeface="Times New Roman" panose="02020603050405020304" pitchFamily="18" charset="0"/>
              </a:rPr>
              <a:t>Control field</a:t>
            </a:r>
          </a:p>
        </p:txBody>
      </p:sp>
      <p:sp>
        <p:nvSpPr>
          <p:cNvPr id="1115141" name="Line 5">
            <a:extLst>
              <a:ext uri="{FF2B5EF4-FFF2-40B4-BE49-F238E27FC236}">
                <a16:creationId xmlns:a16="http://schemas.microsoft.com/office/drawing/2014/main" id="{5E2E362C-5EB7-4E17-B1A8-956ED81C1D20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115142" name="Picture 6">
            <a:extLst>
              <a:ext uri="{FF2B5EF4-FFF2-40B4-BE49-F238E27FC236}">
                <a16:creationId xmlns:a16="http://schemas.microsoft.com/office/drawing/2014/main" id="{A067B36D-A001-45DF-A642-6393B5C017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3400" y="2471738"/>
            <a:ext cx="8483600" cy="1795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35C1E820-C9F8-433E-B3FE-7E85DF6DFE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23.</a:t>
            </a:r>
            <a:fld id="{23FFBAE8-97DB-4DDE-949C-E2C97B81F049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1235970" name="Text Box 2">
            <a:extLst>
              <a:ext uri="{FF2B5EF4-FFF2-40B4-BE49-F238E27FC236}">
                <a16:creationId xmlns:a16="http://schemas.microsoft.com/office/drawing/2014/main" id="{AC63CEEC-9DF8-4CE9-88AD-896857B886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1" y="914400"/>
            <a:ext cx="416825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i="1" dirty="0">
                <a:latin typeface="Times New Roman" panose="02020603050405020304" pitchFamily="18" charset="0"/>
              </a:rPr>
              <a:t>Description of flags in the control field</a:t>
            </a:r>
          </a:p>
        </p:txBody>
      </p:sp>
      <p:pic>
        <p:nvPicPr>
          <p:cNvPr id="1235972" name="Picture 4">
            <a:extLst>
              <a:ext uri="{FF2B5EF4-FFF2-40B4-BE49-F238E27FC236}">
                <a16:creationId xmlns:a16="http://schemas.microsoft.com/office/drawing/2014/main" id="{4AE72AE3-50B4-4C34-AFC5-781C2E9A62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331914"/>
            <a:ext cx="7010400" cy="3392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頁尾版面配置區 1">
            <a:extLst>
              <a:ext uri="{FF2B5EF4-FFF2-40B4-BE49-F238E27FC236}">
                <a16:creationId xmlns:a16="http://schemas.microsoft.com/office/drawing/2014/main" id="{BBCD02BA-824B-418B-8A0C-A268C055F74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zh-TW"/>
              <a:t>TCP/IP Protocol Suite</a:t>
            </a:r>
          </a:p>
        </p:txBody>
      </p:sp>
      <p:sp>
        <p:nvSpPr>
          <p:cNvPr id="55299" name="投影片編號版面配置區 2">
            <a:extLst>
              <a:ext uri="{FF2B5EF4-FFF2-40B4-BE49-F238E27FC236}">
                <a16:creationId xmlns:a16="http://schemas.microsoft.com/office/drawing/2014/main" id="{0313EF20-4A06-4D85-99E9-53EE9D60BA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D7D1EC0F-3959-401D-936C-11D5D97B439A}" type="slidenum">
              <a:rPr lang="en-US" altLang="zh-TW" b="0"/>
              <a:pPr/>
              <a:t>16</a:t>
            </a:fld>
            <a:endParaRPr lang="en-US" altLang="zh-TW" b="0"/>
          </a:p>
        </p:txBody>
      </p:sp>
      <p:sp>
        <p:nvSpPr>
          <p:cNvPr id="887810" name="Rectangle 2">
            <a:extLst>
              <a:ext uri="{FF2B5EF4-FFF2-40B4-BE49-F238E27FC236}">
                <a16:creationId xmlns:a16="http://schemas.microsoft.com/office/drawing/2014/main" id="{30ED8CCC-6638-4480-BE5F-D44385EAD4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0"/>
            <a:ext cx="9144000" cy="1371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defRPr/>
            </a:pPr>
            <a:endParaRPr lang="zh-TW" altLang="zh-TW" sz="3200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55301" name="Text Box 3">
            <a:extLst>
              <a:ext uri="{FF2B5EF4-FFF2-40B4-BE49-F238E27FC236}">
                <a16:creationId xmlns:a16="http://schemas.microsoft.com/office/drawing/2014/main" id="{E509601F-73EF-4AD4-8434-0AA6512E25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1" y="355601"/>
            <a:ext cx="5883275" cy="650875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zh-TW" sz="3600">
                <a:solidFill>
                  <a:schemeClr val="bg1"/>
                </a:solidFill>
                <a:latin typeface="Times" panose="02020603050405020304" pitchFamily="18" charset="0"/>
                <a:ea typeface="新細明體" panose="02020500000000000000" pitchFamily="18" charset="-120"/>
              </a:rPr>
              <a:t>15-4  A TCP CONNECTION</a:t>
            </a:r>
          </a:p>
        </p:txBody>
      </p:sp>
      <p:sp>
        <p:nvSpPr>
          <p:cNvPr id="55302" name="Text Box 4">
            <a:extLst>
              <a:ext uri="{FF2B5EF4-FFF2-40B4-BE49-F238E27FC236}">
                <a16:creationId xmlns:a16="http://schemas.microsoft.com/office/drawing/2014/main" id="{EDC14B9B-28C9-496C-9188-DB54C711C6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53600" y="6400801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zh-TW" altLang="zh-TW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  <p:sp>
        <p:nvSpPr>
          <p:cNvPr id="55303" name="Rectangle 5">
            <a:extLst>
              <a:ext uri="{FF2B5EF4-FFF2-40B4-BE49-F238E27FC236}">
                <a16:creationId xmlns:a16="http://schemas.microsoft.com/office/drawing/2014/main" id="{CB000C7A-BEA7-4C2E-8FF6-1C4F4B9E85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500" y="1343026"/>
            <a:ext cx="8686800" cy="521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just"/>
            <a:r>
              <a:rPr lang="en-US" altLang="zh-TW" sz="2800">
                <a:latin typeface="Arial Unicode MS" pitchFamily="34" charset="-120"/>
                <a:ea typeface="Arial Unicode MS" pitchFamily="34" charset="-120"/>
              </a:rPr>
              <a:t>TCP is connection-oriented. It establishes a virtual path between the source and destination. All of the segments belonging to a message are then sent over this virtual path. You may wonder how TCP, which uses the services of IP, a connectionless protocol, can be connection-oriented. The point is that a TCP connection is virtual, not physical. TCP operates at a higher level. TCP uses the services of IP to deliver individual segments to the receiver, but it controls the connection itself. If a segment is lost or corrupted, it is retransmitted.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頁尾版面配置區 1">
            <a:extLst>
              <a:ext uri="{FF2B5EF4-FFF2-40B4-BE49-F238E27FC236}">
                <a16:creationId xmlns:a16="http://schemas.microsoft.com/office/drawing/2014/main" id="{DC15E82D-903D-4A69-9DBE-B803BD7978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zh-TW"/>
              <a:t>TCP/IP Protocol Suite</a:t>
            </a:r>
          </a:p>
        </p:txBody>
      </p:sp>
      <p:sp>
        <p:nvSpPr>
          <p:cNvPr id="59395" name="投影片編號版面配置區 2">
            <a:extLst>
              <a:ext uri="{FF2B5EF4-FFF2-40B4-BE49-F238E27FC236}">
                <a16:creationId xmlns:a16="http://schemas.microsoft.com/office/drawing/2014/main" id="{6F033762-27E3-4EAA-81D8-CFBED6C87F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FC8ABCF3-FE12-44E4-92EF-09DE8DA48560}" type="slidenum">
              <a:rPr lang="en-US" altLang="zh-TW" b="0"/>
              <a:pPr/>
              <a:t>17</a:t>
            </a:fld>
            <a:endParaRPr lang="en-US" altLang="zh-TW" b="0"/>
          </a:p>
        </p:txBody>
      </p:sp>
      <p:sp>
        <p:nvSpPr>
          <p:cNvPr id="59396" name="Text Box 2">
            <a:extLst>
              <a:ext uri="{FF2B5EF4-FFF2-40B4-BE49-F238E27FC236}">
                <a16:creationId xmlns:a16="http://schemas.microsoft.com/office/drawing/2014/main" id="{E672C433-2D71-4302-A212-A621604575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90488"/>
            <a:ext cx="77724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>
                <a:solidFill>
                  <a:srgbClr val="0000FF"/>
                </a:solidFill>
                <a:latin typeface="Times New Roman" panose="02020603050405020304" pitchFamily="18" charset="0"/>
              </a:rPr>
              <a:t>Figure 15.9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en-US" i="1">
                <a:latin typeface="Times New Roman" panose="02020603050405020304" pitchFamily="18" charset="0"/>
              </a:rPr>
              <a:t>Connection establishment using three-way handshake</a:t>
            </a:r>
          </a:p>
        </p:txBody>
      </p:sp>
      <p:sp>
        <p:nvSpPr>
          <p:cNvPr id="59397" name="Rectangle 3">
            <a:extLst>
              <a:ext uri="{FF2B5EF4-FFF2-40B4-BE49-F238E27FC236}">
                <a16:creationId xmlns:a16="http://schemas.microsoft.com/office/drawing/2014/main" id="{274D13CE-96C8-4FF8-BC8E-54C593D788B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890713" y="107951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zh-TW" altLang="en-US" sz="2400" b="0">
              <a:ea typeface="新細明體" panose="02020500000000000000" pitchFamily="18" charset="-120"/>
            </a:endParaRPr>
          </a:p>
        </p:txBody>
      </p:sp>
      <p:sp>
        <p:nvSpPr>
          <p:cNvPr id="59398" name="Rectangle 4">
            <a:extLst>
              <a:ext uri="{FF2B5EF4-FFF2-40B4-BE49-F238E27FC236}">
                <a16:creationId xmlns:a16="http://schemas.microsoft.com/office/drawing/2014/main" id="{45C1D709-B35E-4E6D-ACC4-9875C967AFD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273301" y="107951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zh-TW" altLang="en-US" sz="2400" b="0">
              <a:ea typeface="新細明體" panose="02020500000000000000" pitchFamily="18" charset="-120"/>
            </a:endParaRPr>
          </a:p>
        </p:txBody>
      </p:sp>
      <p:sp>
        <p:nvSpPr>
          <p:cNvPr id="59399" name="Rectangle 5">
            <a:extLst>
              <a:ext uri="{FF2B5EF4-FFF2-40B4-BE49-F238E27FC236}">
                <a16:creationId xmlns:a16="http://schemas.microsoft.com/office/drawing/2014/main" id="{BF129669-5408-49AC-A978-C0625845508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014539" y="530226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zh-TW" altLang="en-US" sz="2400" b="0">
              <a:ea typeface="新細明體" panose="02020500000000000000" pitchFamily="18" charset="-120"/>
            </a:endParaRPr>
          </a:p>
        </p:txBody>
      </p:sp>
      <p:sp>
        <p:nvSpPr>
          <p:cNvPr id="59400" name="Rectangle 6">
            <a:extLst>
              <a:ext uri="{FF2B5EF4-FFF2-40B4-BE49-F238E27FC236}">
                <a16:creationId xmlns:a16="http://schemas.microsoft.com/office/drawing/2014/main" id="{68489C03-1DEF-45D1-ABC5-42A704B6920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384425" y="530226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zh-TW" altLang="en-US" sz="2400" b="0">
              <a:ea typeface="新細明體" panose="02020500000000000000" pitchFamily="18" charset="-120"/>
            </a:endParaRPr>
          </a:p>
        </p:txBody>
      </p:sp>
      <p:sp>
        <p:nvSpPr>
          <p:cNvPr id="59401" name="Rectangle 7">
            <a:extLst>
              <a:ext uri="{FF2B5EF4-FFF2-40B4-BE49-F238E27FC236}">
                <a16:creationId xmlns:a16="http://schemas.microsoft.com/office/drawing/2014/main" id="{E3AE71CA-45D9-47CC-9890-134FE50F23C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600200" y="457201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zh-TW" altLang="en-US" sz="2400" b="0">
              <a:ea typeface="新細明體" panose="02020500000000000000" pitchFamily="18" charset="-120"/>
            </a:endParaRPr>
          </a:p>
        </p:txBody>
      </p:sp>
      <p:sp>
        <p:nvSpPr>
          <p:cNvPr id="59402" name="Rectangle 8">
            <a:extLst>
              <a:ext uri="{FF2B5EF4-FFF2-40B4-BE49-F238E27FC236}">
                <a16:creationId xmlns:a16="http://schemas.microsoft.com/office/drawing/2014/main" id="{252FE2C1-D0AB-42EB-A4E3-26838E5BE3C8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35200" y="1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zh-TW" altLang="en-US" sz="2400" b="0">
              <a:ea typeface="新細明體" panose="02020500000000000000" pitchFamily="18" charset="-120"/>
            </a:endParaRPr>
          </a:p>
        </p:txBody>
      </p:sp>
      <p:pic>
        <p:nvPicPr>
          <p:cNvPr id="744460" name="Picture 12">
            <a:extLst>
              <a:ext uri="{FF2B5EF4-FFF2-40B4-BE49-F238E27FC236}">
                <a16:creationId xmlns:a16="http://schemas.microsoft.com/office/drawing/2014/main" id="{8B2DD601-AC5D-45D8-8719-BF84404202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0" y="1292225"/>
            <a:ext cx="8262938" cy="459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9404" name="Rectangle 9">
            <a:extLst>
              <a:ext uri="{FF2B5EF4-FFF2-40B4-BE49-F238E27FC236}">
                <a16:creationId xmlns:a16="http://schemas.microsoft.com/office/drawing/2014/main" id="{15200241-E343-489B-84D0-36BE3815656E}"/>
              </a:ext>
            </a:extLst>
          </p:cNvPr>
          <p:cNvSpPr>
            <a:spLocks noChangeArrowheads="1"/>
          </p:cNvSpPr>
          <p:nvPr/>
        </p:nvSpPr>
        <p:spPr bwMode="gray">
          <a:xfrm>
            <a:off x="1966914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zh-TW" altLang="en-US" sz="2400" b="0">
              <a:ea typeface="新細明體" panose="02020500000000000000" pitchFamily="18" charset="-120"/>
            </a:endParaRPr>
          </a:p>
        </p:txBody>
      </p:sp>
      <p:pic>
        <p:nvPicPr>
          <p:cNvPr id="744462" name="Picture 14">
            <a:extLst>
              <a:ext uri="{FF2B5EF4-FFF2-40B4-BE49-F238E27FC236}">
                <a16:creationId xmlns:a16="http://schemas.microsoft.com/office/drawing/2014/main" id="{A5B6AA16-7844-4C06-8B05-F3AEFBF9AF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6514" y="4240213"/>
            <a:ext cx="960437" cy="474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44463" name="Picture 15">
            <a:extLst>
              <a:ext uri="{FF2B5EF4-FFF2-40B4-BE49-F238E27FC236}">
                <a16:creationId xmlns:a16="http://schemas.microsoft.com/office/drawing/2014/main" id="{9DA73654-3DE3-4918-B8EB-9D7790770D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9001" y="5108576"/>
            <a:ext cx="968375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44464" name="Picture 16">
            <a:extLst>
              <a:ext uri="{FF2B5EF4-FFF2-40B4-BE49-F238E27FC236}">
                <a16:creationId xmlns:a16="http://schemas.microsoft.com/office/drawing/2014/main" id="{C0FB98E9-26B8-42EB-84C6-D363D3892F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4875" y="2809875"/>
            <a:ext cx="941388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44465" name="Picture 17">
            <a:extLst>
              <a:ext uri="{FF2B5EF4-FFF2-40B4-BE49-F238E27FC236}">
                <a16:creationId xmlns:a16="http://schemas.microsoft.com/office/drawing/2014/main" id="{220ED0F0-F03E-497A-99ED-7B29431174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1275" y="2906714"/>
            <a:ext cx="941388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44467" name="Picture 19">
            <a:extLst>
              <a:ext uri="{FF2B5EF4-FFF2-40B4-BE49-F238E27FC236}">
                <a16:creationId xmlns:a16="http://schemas.microsoft.com/office/drawing/2014/main" id="{9001BB45-8A6C-42EF-828C-67B161F184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0926" y="2992439"/>
            <a:ext cx="4881563" cy="1081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44469" name="Picture 21">
            <a:extLst>
              <a:ext uri="{FF2B5EF4-FFF2-40B4-BE49-F238E27FC236}">
                <a16:creationId xmlns:a16="http://schemas.microsoft.com/office/drawing/2014/main" id="{442FC04A-C783-4920-977C-C507D275A9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0126" y="3848100"/>
            <a:ext cx="4918075" cy="1087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44470" name="Picture 22">
            <a:extLst>
              <a:ext uri="{FF2B5EF4-FFF2-40B4-BE49-F238E27FC236}">
                <a16:creationId xmlns:a16="http://schemas.microsoft.com/office/drawing/2014/main" id="{DFAF3C54-62FA-474D-88A8-E7C521BAB2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301" y="4730750"/>
            <a:ext cx="4918075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9412" name="Oval 23">
            <a:extLst>
              <a:ext uri="{FF2B5EF4-FFF2-40B4-BE49-F238E27FC236}">
                <a16:creationId xmlns:a16="http://schemas.microsoft.com/office/drawing/2014/main" id="{EDB12347-604F-4D32-A6EA-D4733944EEF6}"/>
              </a:ext>
            </a:extLst>
          </p:cNvPr>
          <p:cNvSpPr>
            <a:spLocks noChangeArrowheads="1"/>
          </p:cNvSpPr>
          <p:nvPr/>
        </p:nvSpPr>
        <p:spPr bwMode="auto">
          <a:xfrm rot="186182">
            <a:off x="4505325" y="4719638"/>
            <a:ext cx="1219200" cy="381000"/>
          </a:xfrm>
          <a:prstGeom prst="ellipse">
            <a:avLst/>
          </a:prstGeom>
          <a:noFill/>
          <a:ln w="285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/>
            <a:endParaRPr lang="zh-TW" altLang="en-US">
              <a:solidFill>
                <a:schemeClr val="folHlink"/>
              </a:solidFill>
              <a:ea typeface="新細明體" panose="02020500000000000000" pitchFamily="18" charset="-120"/>
            </a:endParaRPr>
          </a:p>
        </p:txBody>
      </p:sp>
      <p:sp>
        <p:nvSpPr>
          <p:cNvPr id="59413" name="Line 24">
            <a:extLst>
              <a:ext uri="{FF2B5EF4-FFF2-40B4-BE49-F238E27FC236}">
                <a16:creationId xmlns:a16="http://schemas.microsoft.com/office/drawing/2014/main" id="{ABF5B913-6925-4AC8-9AA6-9139524C4D0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572125" y="4948238"/>
            <a:ext cx="381000" cy="91440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9414" name="Text Box 25">
            <a:extLst>
              <a:ext uri="{FF2B5EF4-FFF2-40B4-BE49-F238E27FC236}">
                <a16:creationId xmlns:a16="http://schemas.microsoft.com/office/drawing/2014/main" id="{CF3017DF-B6B5-46C9-918D-7ADDCE9C32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1125" y="5805488"/>
            <a:ext cx="2139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zh-TW" i="1">
                <a:solidFill>
                  <a:schemeClr val="folHlink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Means “no data” !</a:t>
            </a:r>
          </a:p>
        </p:txBody>
      </p:sp>
      <p:sp>
        <p:nvSpPr>
          <p:cNvPr id="59415" name="Text Box 26">
            <a:extLst>
              <a:ext uri="{FF2B5EF4-FFF2-40B4-BE49-F238E27FC236}">
                <a16:creationId xmlns:a16="http://schemas.microsoft.com/office/drawing/2014/main" id="{DB9B55D9-0DD4-4926-8911-22C7AF2C56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5250" y="6105526"/>
            <a:ext cx="31369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zh-TW">
                <a:solidFill>
                  <a:schemeClr val="hlink"/>
                </a:solidFill>
                <a:ea typeface="新細明體" panose="02020500000000000000" pitchFamily="18" charset="-120"/>
              </a:rPr>
              <a:t>seq: 8001 if piggybacking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2000"/>
                                        <p:tgtEl>
                                          <p:spTgt spid="744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744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744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2000"/>
                                        <p:tgtEl>
                                          <p:spTgt spid="744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2000"/>
                                        <p:tgtEl>
                                          <p:spTgt spid="744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744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744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頁尾版面配置區 1">
            <a:extLst>
              <a:ext uri="{FF2B5EF4-FFF2-40B4-BE49-F238E27FC236}">
                <a16:creationId xmlns:a16="http://schemas.microsoft.com/office/drawing/2014/main" id="{E6273084-C0C0-402E-8B0E-AA9CE685F62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zh-TW"/>
              <a:t>TCP/IP Protocol Suite</a:t>
            </a:r>
          </a:p>
        </p:txBody>
      </p:sp>
      <p:sp>
        <p:nvSpPr>
          <p:cNvPr id="67587" name="投影片編號版面配置區 2">
            <a:extLst>
              <a:ext uri="{FF2B5EF4-FFF2-40B4-BE49-F238E27FC236}">
                <a16:creationId xmlns:a16="http://schemas.microsoft.com/office/drawing/2014/main" id="{B6D826DE-5D76-41F6-B293-D519F90A2C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6A2FE448-42B2-4E95-8C25-FDC4D00D3434}" type="slidenum">
              <a:rPr lang="en-US" altLang="zh-TW" b="0"/>
              <a:pPr/>
              <a:t>18</a:t>
            </a:fld>
            <a:endParaRPr lang="en-US" altLang="zh-TW" b="0"/>
          </a:p>
        </p:txBody>
      </p:sp>
      <p:sp>
        <p:nvSpPr>
          <p:cNvPr id="67588" name="Text Box 2">
            <a:extLst>
              <a:ext uri="{FF2B5EF4-FFF2-40B4-BE49-F238E27FC236}">
                <a16:creationId xmlns:a16="http://schemas.microsoft.com/office/drawing/2014/main" id="{F221A490-D0F5-4BE3-8C63-BED9DB44BA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90488"/>
            <a:ext cx="5715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>
                <a:solidFill>
                  <a:srgbClr val="0000FF"/>
                </a:solidFill>
                <a:latin typeface="Times New Roman" panose="02020603050405020304" pitchFamily="18" charset="0"/>
              </a:rPr>
              <a:t>Figure 15.10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en-US" i="1">
                <a:latin typeface="Times New Roman" panose="02020603050405020304" pitchFamily="18" charset="0"/>
              </a:rPr>
              <a:t>Data Transfer</a:t>
            </a:r>
          </a:p>
        </p:txBody>
      </p:sp>
      <p:sp>
        <p:nvSpPr>
          <p:cNvPr id="67589" name="Rectangle 3">
            <a:extLst>
              <a:ext uri="{FF2B5EF4-FFF2-40B4-BE49-F238E27FC236}">
                <a16:creationId xmlns:a16="http://schemas.microsoft.com/office/drawing/2014/main" id="{03546F9B-DFCE-4611-A981-4E2B2EA562C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890713" y="107951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zh-TW" altLang="zh-TW" sz="2400" b="0">
              <a:ea typeface="新細明體" panose="02020500000000000000" pitchFamily="18" charset="-120"/>
            </a:endParaRPr>
          </a:p>
        </p:txBody>
      </p:sp>
      <p:sp>
        <p:nvSpPr>
          <p:cNvPr id="67590" name="Rectangle 4">
            <a:extLst>
              <a:ext uri="{FF2B5EF4-FFF2-40B4-BE49-F238E27FC236}">
                <a16:creationId xmlns:a16="http://schemas.microsoft.com/office/drawing/2014/main" id="{881B0BE1-4FD6-4039-BF43-67DE48AFAFC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273301" y="107951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zh-TW" altLang="zh-TW" sz="2400" b="0">
              <a:ea typeface="新細明體" panose="02020500000000000000" pitchFamily="18" charset="-120"/>
            </a:endParaRPr>
          </a:p>
        </p:txBody>
      </p:sp>
      <p:sp>
        <p:nvSpPr>
          <p:cNvPr id="67591" name="Rectangle 5">
            <a:extLst>
              <a:ext uri="{FF2B5EF4-FFF2-40B4-BE49-F238E27FC236}">
                <a16:creationId xmlns:a16="http://schemas.microsoft.com/office/drawing/2014/main" id="{2C253E3C-093F-4A8C-9605-3F2D5481BB0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014539" y="530226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zh-TW" altLang="zh-TW" sz="2400" b="0">
              <a:ea typeface="新細明體" panose="02020500000000000000" pitchFamily="18" charset="-120"/>
            </a:endParaRPr>
          </a:p>
        </p:txBody>
      </p:sp>
      <p:sp>
        <p:nvSpPr>
          <p:cNvPr id="67592" name="Rectangle 6">
            <a:extLst>
              <a:ext uri="{FF2B5EF4-FFF2-40B4-BE49-F238E27FC236}">
                <a16:creationId xmlns:a16="http://schemas.microsoft.com/office/drawing/2014/main" id="{BEA51B6F-E1E5-4200-8DD5-299B4341F4B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384425" y="530226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zh-TW" altLang="zh-TW" sz="2400" b="0">
              <a:ea typeface="新細明體" panose="02020500000000000000" pitchFamily="18" charset="-120"/>
            </a:endParaRPr>
          </a:p>
        </p:txBody>
      </p:sp>
      <p:sp>
        <p:nvSpPr>
          <p:cNvPr id="67593" name="Rectangle 7">
            <a:extLst>
              <a:ext uri="{FF2B5EF4-FFF2-40B4-BE49-F238E27FC236}">
                <a16:creationId xmlns:a16="http://schemas.microsoft.com/office/drawing/2014/main" id="{BF009FEE-2885-4259-A872-729E75EB97F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600200" y="457201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zh-TW" altLang="zh-TW" sz="2400" b="0">
              <a:ea typeface="新細明體" panose="02020500000000000000" pitchFamily="18" charset="-120"/>
            </a:endParaRPr>
          </a:p>
        </p:txBody>
      </p:sp>
      <p:sp>
        <p:nvSpPr>
          <p:cNvPr id="67594" name="Rectangle 8">
            <a:extLst>
              <a:ext uri="{FF2B5EF4-FFF2-40B4-BE49-F238E27FC236}">
                <a16:creationId xmlns:a16="http://schemas.microsoft.com/office/drawing/2014/main" id="{2787D63D-7D24-4684-BD17-11CA0C3D9B51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35200" y="1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zh-TW" altLang="zh-TW" sz="2400" b="0">
              <a:ea typeface="新細明體" panose="02020500000000000000" pitchFamily="18" charset="-120"/>
            </a:endParaRPr>
          </a:p>
        </p:txBody>
      </p:sp>
      <p:sp>
        <p:nvSpPr>
          <p:cNvPr id="67595" name="Rectangle 9">
            <a:extLst>
              <a:ext uri="{FF2B5EF4-FFF2-40B4-BE49-F238E27FC236}">
                <a16:creationId xmlns:a16="http://schemas.microsoft.com/office/drawing/2014/main" id="{07554A8F-EADE-4C39-99EB-A4610BB04893}"/>
              </a:ext>
            </a:extLst>
          </p:cNvPr>
          <p:cNvSpPr>
            <a:spLocks noChangeArrowheads="1"/>
          </p:cNvSpPr>
          <p:nvPr/>
        </p:nvSpPr>
        <p:spPr bwMode="gray">
          <a:xfrm>
            <a:off x="1966914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endParaRPr kumimoji="1" lang="zh-TW" altLang="zh-TW" sz="2400" b="0">
              <a:ea typeface="新細明體" panose="02020500000000000000" pitchFamily="18" charset="-120"/>
            </a:endParaRPr>
          </a:p>
        </p:txBody>
      </p:sp>
      <p:pic>
        <p:nvPicPr>
          <p:cNvPr id="746507" name="Picture 11">
            <a:extLst>
              <a:ext uri="{FF2B5EF4-FFF2-40B4-BE49-F238E27FC236}">
                <a16:creationId xmlns:a16="http://schemas.microsoft.com/office/drawing/2014/main" id="{CB44C285-B70D-4635-B962-CFE6904DEE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4063" y="850900"/>
            <a:ext cx="5465762" cy="5380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46508" name="Picture 12">
            <a:extLst>
              <a:ext uri="{FF2B5EF4-FFF2-40B4-BE49-F238E27FC236}">
                <a16:creationId xmlns:a16="http://schemas.microsoft.com/office/drawing/2014/main" id="{7C771AA5-E38A-4A4E-8C26-7952255E4F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9038" y="2309814"/>
            <a:ext cx="4652962" cy="3271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46509" name="Picture 13">
            <a:extLst>
              <a:ext uri="{FF2B5EF4-FFF2-40B4-BE49-F238E27FC236}">
                <a16:creationId xmlns:a16="http://schemas.microsoft.com/office/drawing/2014/main" id="{C03BC9D9-565E-43DF-B06B-234C5A6446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6114" y="5680076"/>
            <a:ext cx="3235325" cy="328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46510" name="Picture 14">
            <a:extLst>
              <a:ext uri="{FF2B5EF4-FFF2-40B4-BE49-F238E27FC236}">
                <a16:creationId xmlns:a16="http://schemas.microsoft.com/office/drawing/2014/main" id="{BB6475B3-8BB5-4E4F-9955-2FBA59D7E8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4526" y="1935164"/>
            <a:ext cx="3217863" cy="312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7600" name="文字方塊 1">
            <a:extLst>
              <a:ext uri="{FF2B5EF4-FFF2-40B4-BE49-F238E27FC236}">
                <a16:creationId xmlns:a16="http://schemas.microsoft.com/office/drawing/2014/main" id="{67C540AF-D01C-4A52-8639-7374DE4F02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9264" y="4402138"/>
            <a:ext cx="1698625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zh-TW">
                <a:solidFill>
                  <a:srgbClr val="0000FF"/>
                </a:solidFill>
                <a:ea typeface="新細明體" panose="02020500000000000000" pitchFamily="18" charset="-120"/>
              </a:rPr>
              <a:t>Pushing data</a:t>
            </a:r>
          </a:p>
          <a:p>
            <a:pPr>
              <a:spcBef>
                <a:spcPts val="600"/>
              </a:spcBef>
            </a:pPr>
            <a:r>
              <a:rPr lang="en-US" altLang="zh-TW">
                <a:solidFill>
                  <a:srgbClr val="0000FF"/>
                </a:solidFill>
                <a:ea typeface="新細明體" panose="02020500000000000000" pitchFamily="18" charset="-120"/>
              </a:rPr>
              <a:t>Urgent data</a:t>
            </a:r>
            <a:endParaRPr lang="zh-TW" altLang="en-US">
              <a:solidFill>
                <a:srgbClr val="0000FF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465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465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46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2000"/>
                                        <p:tgtEl>
                                          <p:spTgt spid="746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465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465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46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4EE72423-F600-4112-99D6-294FBAFAB7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23.</a:t>
            </a:r>
            <a:fld id="{8DF4EB6E-71BA-4323-87C2-03C458E5591A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1121282" name="Line 2">
            <a:extLst>
              <a:ext uri="{FF2B5EF4-FFF2-40B4-BE49-F238E27FC236}">
                <a16:creationId xmlns:a16="http://schemas.microsoft.com/office/drawing/2014/main" id="{3305C71C-B987-4E51-98D4-B21F958EFD95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121283" name="Line 3">
            <a:extLst>
              <a:ext uri="{FF2B5EF4-FFF2-40B4-BE49-F238E27FC236}">
                <a16:creationId xmlns:a16="http://schemas.microsoft.com/office/drawing/2014/main" id="{3CE54D87-EE83-4FE5-9CE3-94396892E68F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121284" name="Text Box 4">
            <a:extLst>
              <a:ext uri="{FF2B5EF4-FFF2-40B4-BE49-F238E27FC236}">
                <a16:creationId xmlns:a16="http://schemas.microsoft.com/office/drawing/2014/main" id="{C0830096-E556-4083-948D-DEC31BF84D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381000"/>
            <a:ext cx="569591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i="1" dirty="0">
                <a:latin typeface="Times New Roman" panose="02020603050405020304" pitchFamily="18" charset="0"/>
              </a:rPr>
              <a:t>Connection termination using three-way handshaking</a:t>
            </a:r>
          </a:p>
        </p:txBody>
      </p:sp>
      <p:sp>
        <p:nvSpPr>
          <p:cNvPr id="1121285" name="Line 5">
            <a:extLst>
              <a:ext uri="{FF2B5EF4-FFF2-40B4-BE49-F238E27FC236}">
                <a16:creationId xmlns:a16="http://schemas.microsoft.com/office/drawing/2014/main" id="{42ED1117-C463-4743-8379-40C8E5094A40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121286" name="Picture 6">
            <a:extLst>
              <a:ext uri="{FF2B5EF4-FFF2-40B4-BE49-F238E27FC236}">
                <a16:creationId xmlns:a16="http://schemas.microsoft.com/office/drawing/2014/main" id="{5DE25FA0-6BF7-42A4-8955-8292230EA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2050" y="1157288"/>
            <a:ext cx="6864350" cy="4862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537</Words>
  <Application>Microsoft Office PowerPoint</Application>
  <PresentationFormat>Widescreen</PresentationFormat>
  <Paragraphs>87</Paragraphs>
  <Slides>19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Arial Unicode MS</vt:lpstr>
      <vt:lpstr>Calibri</vt:lpstr>
      <vt:lpstr>Calibri Light</vt:lpstr>
      <vt:lpstr>Tahoma</vt:lpstr>
      <vt:lpstr>Times</vt:lpstr>
      <vt:lpstr>Times New Roman</vt:lpstr>
      <vt:lpstr>Office Theme</vt:lpstr>
      <vt:lpstr>COMPUTER NETWORKS (BCSC 0008)</vt:lpstr>
      <vt:lpstr> Text and Reference Books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NETWORKS (BCSC 0008)</dc:title>
  <dc:creator>shabir ali</dc:creator>
  <cp:lastModifiedBy>shabir ali</cp:lastModifiedBy>
  <cp:revision>21</cp:revision>
  <dcterms:created xsi:type="dcterms:W3CDTF">2020-11-26T06:05:43Z</dcterms:created>
  <dcterms:modified xsi:type="dcterms:W3CDTF">2020-12-01T08:16:30Z</dcterms:modified>
</cp:coreProperties>
</file>