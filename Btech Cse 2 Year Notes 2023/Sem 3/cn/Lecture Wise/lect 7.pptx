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7" r:id="rId2"/>
    <p:sldId id="265" r:id="rId3"/>
    <p:sldId id="266" r:id="rId4"/>
    <p:sldId id="278" r:id="rId5"/>
    <p:sldId id="267" r:id="rId6"/>
    <p:sldId id="268" r:id="rId7"/>
    <p:sldId id="269" r:id="rId8"/>
    <p:sldId id="270" r:id="rId9"/>
    <p:sldId id="271" r:id="rId10"/>
    <p:sldId id="272" r:id="rId11"/>
    <p:sldId id="273" r:id="rId12"/>
    <p:sldId id="274" r:id="rId13"/>
    <p:sldId id="275" r:id="rId14"/>
    <p:sldId id="276" r:id="rId15"/>
    <p:sldId id="277" r:id="rId16"/>
    <p:sldId id="280" r:id="rId17"/>
    <p:sldId id="281" r:id="rId18"/>
    <p:sldId id="282" r:id="rId19"/>
    <p:sldId id="283" r:id="rId2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5EAFD10-35F9-46FC-AA1C-DC3D754965D0}" type="datetimeFigureOut">
              <a:rPr lang="en-US" smtClean="0"/>
              <a:t>11/9/2020</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21B635-DF0C-4867-819B-7BCA50709D83}"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C01E2-8D39-4AFB-8F6F-F93A2B014B15}" type="datetimeFigureOut">
              <a:rPr lang="en-US" smtClean="0"/>
              <a:pPr/>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C01E2-8D39-4AFB-8F6F-F93A2B014B15}" type="datetimeFigureOut">
              <a:rPr lang="en-US" smtClean="0"/>
              <a:pPr/>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C01E2-8D39-4AFB-8F6F-F93A2B014B15}" type="datetimeFigureOut">
              <a:rPr lang="en-US" smtClean="0"/>
              <a:pPr/>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C01E2-8D39-4AFB-8F6F-F93A2B014B15}" type="datetimeFigureOut">
              <a:rPr lang="en-US" smtClean="0"/>
              <a:pPr/>
              <a:t>11/9/2020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C01E2-8D39-4AFB-8F6F-F93A2B014B15}" type="datetimeFigureOut">
              <a:rPr lang="en-US" smtClean="0"/>
              <a:pPr/>
              <a:t>11/9/2020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C01E2-8D39-4AFB-8F6F-F93A2B014B15}" type="datetimeFigureOut">
              <a:rPr lang="en-US" smtClean="0"/>
              <a:pPr/>
              <a:t>11/9/2020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11/9/2020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11/9/2020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C01E2-8D39-4AFB-8F6F-F93A2B014B15}" type="datetimeFigureOut">
              <a:rPr lang="en-US" smtClean="0"/>
              <a:pPr/>
              <a:t>11/9/2020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sp>
        <p:nvSpPr>
          <p:cNvPr id="7"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Dr. Shabir Ali, Mr. Akhilesh Kumar Singh </a:t>
            </a:r>
            <a:endParaRPr lang="en-US" altLang="zh-TW" dirty="0">
              <a:solidFill>
                <a:schemeClr val="tx1"/>
              </a:solidFill>
              <a:latin typeface="Times New Roman" pitchFamily="18" charset="0"/>
            </a:endParaRPr>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3352800" y="5410200"/>
            <a:ext cx="24384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1"/>
                </a:solidFill>
                <a:effectLst/>
                <a:uLnTx/>
                <a:uFillTx/>
                <a:latin typeface="Times New Roman"/>
                <a:ea typeface="Calibri"/>
                <a:cs typeface="Times New Roman"/>
              </a:rPr>
              <a:t>Lecture 21</a:t>
            </a:r>
            <a:endParaRPr kumimoji="0" lang="en-US" altLang="zh-TW"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
        <p:nvSpPr>
          <p:cNvPr id="5"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Mr. Saurabh Anand, Mr. Akhilesh Kumar Singh </a:t>
            </a:r>
            <a:endParaRPr lang="en-US" altLang="zh-TW" dirty="0">
              <a:solidFill>
                <a:schemeClr val="tx1"/>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Footer Placeholder 1"/>
          <p:cNvSpPr>
            <a:spLocks noGrp="1"/>
          </p:cNvSpPr>
          <p:nvPr>
            <p:ph type="ftr" sz="quarter" idx="10"/>
          </p:nvPr>
        </p:nvSpPr>
        <p:spPr/>
        <p:txBody>
          <a:bodyPr/>
          <a:lstStyle/>
          <a:p>
            <a:r>
              <a:rPr lang="en-US" dirty="0"/>
              <a:t> </a:t>
            </a:r>
          </a:p>
        </p:txBody>
      </p:sp>
      <p:sp>
        <p:nvSpPr>
          <p:cNvPr id="11" name="Slide Number Placeholder 2"/>
          <p:cNvSpPr>
            <a:spLocks noGrp="1"/>
          </p:cNvSpPr>
          <p:nvPr>
            <p:ph type="sldNum" sz="quarter" idx="11"/>
          </p:nvPr>
        </p:nvSpPr>
        <p:spPr/>
        <p:txBody>
          <a:bodyPr/>
          <a:lstStyle/>
          <a:p>
            <a:fld id="{D732C4E8-C9E1-46D2-856C-FEFDE20504A8}" type="slidenum">
              <a:rPr lang="en-US"/>
              <a:pPr/>
              <a:t>3</a:t>
            </a:fld>
            <a:endParaRPr lang="en-US"/>
          </a:p>
        </p:txBody>
      </p:sp>
      <p:sp>
        <p:nvSpPr>
          <p:cNvPr id="559106" name="Line 2"/>
          <p:cNvSpPr>
            <a:spLocks noChangeShapeType="1"/>
          </p:cNvSpPr>
          <p:nvPr/>
        </p:nvSpPr>
        <p:spPr bwMode="auto">
          <a:xfrm>
            <a:off x="228600" y="2743200"/>
            <a:ext cx="8610600" cy="0"/>
          </a:xfrm>
          <a:prstGeom prst="line">
            <a:avLst/>
          </a:prstGeom>
          <a:noFill/>
          <a:ln w="76200">
            <a:solidFill>
              <a:schemeClr val="tx2"/>
            </a:solidFill>
            <a:round/>
            <a:headEnd/>
            <a:tailEnd/>
          </a:ln>
          <a:effectLst/>
        </p:spPr>
        <p:txBody>
          <a:bodyPr/>
          <a:lstStyle/>
          <a:p>
            <a:endParaRPr lang="en-US"/>
          </a:p>
        </p:txBody>
      </p:sp>
      <p:sp>
        <p:nvSpPr>
          <p:cNvPr id="559108" name="Rectangle 4"/>
          <p:cNvSpPr>
            <a:spLocks noChangeArrowheads="1"/>
          </p:cNvSpPr>
          <p:nvPr/>
        </p:nvSpPr>
        <p:spPr bwMode="auto">
          <a:xfrm>
            <a:off x="228600" y="3352800"/>
            <a:ext cx="8534400" cy="457200"/>
          </a:xfrm>
          <a:prstGeom prst="rect">
            <a:avLst/>
          </a:prstGeom>
          <a:noFill/>
          <a:ln w="9525">
            <a:noFill/>
            <a:miter lim="800000"/>
            <a:headEnd/>
            <a:tailEnd/>
          </a:ln>
          <a:effectLst/>
        </p:spPr>
        <p:txBody>
          <a:bodyPr>
            <a:spAutoFit/>
          </a:bodyPr>
          <a:lstStyle/>
          <a:p>
            <a:pPr marL="457200" indent="-457200"/>
            <a:r>
              <a:rPr lang="en-US" sz="2400" i="1">
                <a:solidFill>
                  <a:schemeClr val="hlink"/>
                </a:solidFill>
                <a:latin typeface="Times New Roman" pitchFamily="18" charset="0"/>
              </a:rPr>
              <a:t>Upon completion you will be able to:</a:t>
            </a:r>
            <a:endParaRPr lang="en-US" sz="2400">
              <a:solidFill>
                <a:schemeClr val="hlink"/>
              </a:solidFill>
              <a:latin typeface="Times New Roman" pitchFamily="18" charset="0"/>
            </a:endParaRPr>
          </a:p>
        </p:txBody>
      </p:sp>
      <p:sp>
        <p:nvSpPr>
          <p:cNvPr id="559109" name="Text Box 5"/>
          <p:cNvSpPr txBox="1">
            <a:spLocks noChangeArrowheads="1"/>
          </p:cNvSpPr>
          <p:nvPr/>
        </p:nvSpPr>
        <p:spPr bwMode="auto">
          <a:xfrm>
            <a:off x="1093788" y="914400"/>
            <a:ext cx="7027862" cy="1555750"/>
          </a:xfrm>
          <a:prstGeom prst="rect">
            <a:avLst/>
          </a:prstGeom>
          <a:noFill/>
          <a:ln w="9525">
            <a:noFill/>
            <a:miter lim="800000"/>
            <a:headEnd/>
            <a:tailEnd/>
          </a:ln>
          <a:effectLst/>
        </p:spPr>
        <p:txBody>
          <a:bodyPr wrap="none">
            <a:spAutoFit/>
          </a:bodyPr>
          <a:lstStyle/>
          <a:p>
            <a:pPr algn="ctr"/>
            <a:r>
              <a:rPr lang="en-US" sz="4800" i="1">
                <a:effectLst>
                  <a:outerShdw blurRad="38100" dist="38100" dir="2700000" algn="tl">
                    <a:srgbClr val="C0C0C0"/>
                  </a:outerShdw>
                </a:effectLst>
                <a:latin typeface="Times New Roman" pitchFamily="18" charset="0"/>
              </a:rPr>
              <a:t>Unicast Routing Protocols:</a:t>
            </a:r>
            <a:br>
              <a:rPr lang="en-US" sz="4800" i="1">
                <a:effectLst>
                  <a:outerShdw blurRad="38100" dist="38100" dir="2700000" algn="tl">
                    <a:srgbClr val="C0C0C0"/>
                  </a:outerShdw>
                </a:effectLst>
                <a:latin typeface="Times New Roman" pitchFamily="18" charset="0"/>
              </a:rPr>
            </a:br>
            <a:r>
              <a:rPr lang="en-US" sz="4800" i="1">
                <a:effectLst>
                  <a:outerShdw blurRad="38100" dist="38100" dir="2700000" algn="tl">
                    <a:srgbClr val="C0C0C0"/>
                  </a:outerShdw>
                </a:effectLst>
                <a:latin typeface="Times New Roman" pitchFamily="18" charset="0"/>
              </a:rPr>
              <a:t>RIP, OSPF, and BGP</a:t>
            </a:r>
          </a:p>
        </p:txBody>
      </p:sp>
      <p:sp>
        <p:nvSpPr>
          <p:cNvPr id="559110" name="Text Box 6"/>
          <p:cNvSpPr txBox="1">
            <a:spLocks noChangeArrowheads="1"/>
          </p:cNvSpPr>
          <p:nvPr/>
        </p:nvSpPr>
        <p:spPr bwMode="auto">
          <a:xfrm>
            <a:off x="8039100" y="6400800"/>
            <a:ext cx="184150" cy="366713"/>
          </a:xfrm>
          <a:prstGeom prst="rect">
            <a:avLst/>
          </a:prstGeom>
          <a:noFill/>
          <a:ln w="9525">
            <a:noFill/>
            <a:miter lim="800000"/>
            <a:headEnd/>
            <a:tailEnd/>
          </a:ln>
          <a:effectLst/>
        </p:spPr>
        <p:txBody>
          <a:bodyPr wrap="none">
            <a:spAutoFit/>
          </a:bodyPr>
          <a:lstStyle/>
          <a:p>
            <a:endParaRPr lang="en-US">
              <a:latin typeface="Times New Roman" pitchFamily="18" charset="0"/>
            </a:endParaRPr>
          </a:p>
        </p:txBody>
      </p:sp>
      <p:sp>
        <p:nvSpPr>
          <p:cNvPr id="559112" name="Rectangle 8"/>
          <p:cNvSpPr>
            <a:spLocks noChangeArrowheads="1"/>
          </p:cNvSpPr>
          <p:nvPr/>
        </p:nvSpPr>
        <p:spPr bwMode="auto">
          <a:xfrm>
            <a:off x="228600" y="4025900"/>
            <a:ext cx="8534400" cy="1552575"/>
          </a:xfrm>
          <a:prstGeom prst="rect">
            <a:avLst/>
          </a:prstGeom>
          <a:noFill/>
          <a:ln w="9525">
            <a:noFill/>
            <a:miter lim="800000"/>
            <a:headEnd/>
            <a:tailEnd/>
          </a:ln>
          <a:effectLst/>
        </p:spPr>
        <p:txBody>
          <a:bodyPr>
            <a:spAutoFit/>
          </a:bodyPr>
          <a:lstStyle/>
          <a:p>
            <a:pPr>
              <a:buFontTx/>
              <a:buChar char="•"/>
            </a:pPr>
            <a:r>
              <a:rPr lang="en-US" sz="2400" i="1">
                <a:latin typeface="Times New Roman" pitchFamily="18" charset="0"/>
              </a:rPr>
              <a:t> Distinguish between intradomain and interdomain routing</a:t>
            </a:r>
          </a:p>
          <a:p>
            <a:pPr>
              <a:buFontTx/>
              <a:buChar char="•"/>
            </a:pPr>
            <a:r>
              <a:rPr lang="en-US" sz="2400" i="1">
                <a:latin typeface="Times New Roman" pitchFamily="18" charset="0"/>
              </a:rPr>
              <a:t> Understand distance vector routing and RIP</a:t>
            </a:r>
          </a:p>
          <a:p>
            <a:pPr>
              <a:buFontTx/>
              <a:buChar char="•"/>
            </a:pPr>
            <a:r>
              <a:rPr lang="en-US" sz="2400" i="1">
                <a:latin typeface="Times New Roman" pitchFamily="18" charset="0"/>
              </a:rPr>
              <a:t> Understand link state routing and OSPF</a:t>
            </a:r>
          </a:p>
          <a:p>
            <a:pPr>
              <a:buFontTx/>
              <a:buChar char="•"/>
            </a:pPr>
            <a:r>
              <a:rPr lang="en-US" sz="2400" i="1">
                <a:latin typeface="Times New Roman" pitchFamily="18" charset="0"/>
              </a:rPr>
              <a:t> Understand path vector routing and BGP</a:t>
            </a:r>
          </a:p>
        </p:txBody>
      </p:sp>
      <p:sp>
        <p:nvSpPr>
          <p:cNvPr id="559113" name="Rectangle 9"/>
          <p:cNvSpPr>
            <a:spLocks noChangeArrowheads="1"/>
          </p:cNvSpPr>
          <p:nvPr/>
        </p:nvSpPr>
        <p:spPr bwMode="auto">
          <a:xfrm>
            <a:off x="228600" y="2741613"/>
            <a:ext cx="7696200" cy="1068387"/>
          </a:xfrm>
          <a:prstGeom prst="rect">
            <a:avLst/>
          </a:prstGeom>
          <a:noFill/>
          <a:ln w="9525">
            <a:noFill/>
            <a:miter lim="800000"/>
            <a:headEnd/>
            <a:tailEnd/>
          </a:ln>
          <a:effectLst/>
        </p:spPr>
        <p:txBody>
          <a:bodyPr>
            <a:spAutoFit/>
          </a:bodyPr>
          <a:lstStyle/>
          <a:p>
            <a:r>
              <a:rPr lang="en-US" sz="3600">
                <a:solidFill>
                  <a:schemeClr val="hlink"/>
                </a:solidFill>
                <a:latin typeface="Times New Roman" pitchFamily="18" charset="0"/>
              </a:rPr>
              <a:t>Objectives </a:t>
            </a:r>
            <a:br>
              <a:rPr lang="en-US" sz="2800">
                <a:solidFill>
                  <a:schemeClr val="hlink"/>
                </a:solidFill>
                <a:latin typeface="Times New Roman" pitchFamily="18" charset="0"/>
              </a:rPr>
            </a:br>
            <a:endParaRPr lang="en-US" sz="2800">
              <a:latin typeface="Times New Roman" pitchFamily="18" charset="0"/>
            </a:endParaRPr>
          </a:p>
        </p:txBody>
      </p:sp>
    </p:spTree>
    <p:extLst>
      <p:ext uri="{BB962C8B-B14F-4D97-AF65-F5344CB8AC3E}">
        <p14:creationId xmlns:p14="http://schemas.microsoft.com/office/powerpoint/2010/main" val="1448074144"/>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74A98A1-6C50-4287-B661-18D486A6A103}"/>
              </a:ext>
            </a:extLst>
          </p:cNvPr>
          <p:cNvPicPr>
            <a:picLocks noChangeAspect="1"/>
          </p:cNvPicPr>
          <p:nvPr/>
        </p:nvPicPr>
        <p:blipFill rotWithShape="1">
          <a:blip r:embed="rId2"/>
          <a:srcRect l="31667" t="20356" r="5833" b="12945"/>
          <a:stretch/>
        </p:blipFill>
        <p:spPr>
          <a:xfrm>
            <a:off x="838200" y="723900"/>
            <a:ext cx="7772400" cy="5410200"/>
          </a:xfrm>
          <a:prstGeom prst="rect">
            <a:avLst/>
          </a:prstGeom>
        </p:spPr>
      </p:pic>
    </p:spTree>
    <p:extLst>
      <p:ext uri="{BB962C8B-B14F-4D97-AF65-F5344CB8AC3E}">
        <p14:creationId xmlns:p14="http://schemas.microsoft.com/office/powerpoint/2010/main" val="27248975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30151647-E39B-446D-B435-486593D0119D}" type="slidenum">
              <a:rPr lang="en-US"/>
              <a:pPr/>
              <a:t>5</a:t>
            </a:fld>
            <a:endParaRPr lang="en-US"/>
          </a:p>
        </p:txBody>
      </p:sp>
      <p:sp>
        <p:nvSpPr>
          <p:cNvPr id="480258"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14.1</a:t>
            </a:r>
            <a:r>
              <a:rPr lang="en-US" altLang="en-US">
                <a:solidFill>
                  <a:schemeClr val="accent2"/>
                </a:solidFill>
                <a:latin typeface="Times New Roman" pitchFamily="18" charset="0"/>
              </a:rPr>
              <a:t>    </a:t>
            </a:r>
            <a:r>
              <a:rPr lang="en-US" altLang="en-US" i="1">
                <a:latin typeface="Times New Roman" pitchFamily="18" charset="0"/>
              </a:rPr>
              <a:t>Autonomous systems</a:t>
            </a:r>
          </a:p>
        </p:txBody>
      </p:sp>
      <p:sp>
        <p:nvSpPr>
          <p:cNvPr id="480259"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0260"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0261"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0262"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0263"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0264"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0265"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0266" name="Picture 10"/>
          <p:cNvPicPr>
            <a:picLocks noChangeAspect="1" noChangeArrowheads="1"/>
          </p:cNvPicPr>
          <p:nvPr/>
        </p:nvPicPr>
        <p:blipFill>
          <a:blip r:embed="rId2"/>
          <a:srcRect/>
          <a:stretch>
            <a:fillRect/>
          </a:stretch>
        </p:blipFill>
        <p:spPr bwMode="auto">
          <a:xfrm>
            <a:off x="762000" y="1981200"/>
            <a:ext cx="7486650" cy="4411663"/>
          </a:xfrm>
          <a:prstGeom prst="rect">
            <a:avLst/>
          </a:prstGeom>
          <a:noFill/>
          <a:ln w="9525">
            <a:noFill/>
            <a:miter lim="800000"/>
            <a:headEnd/>
            <a:tailEnd/>
          </a:ln>
          <a:effectLst/>
        </p:spPr>
      </p:pic>
      <p:sp>
        <p:nvSpPr>
          <p:cNvPr id="480267" name="Text Box 11"/>
          <p:cNvSpPr txBox="1">
            <a:spLocks noChangeArrowheads="1"/>
          </p:cNvSpPr>
          <p:nvPr/>
        </p:nvSpPr>
        <p:spPr bwMode="auto">
          <a:xfrm>
            <a:off x="1143000" y="685800"/>
            <a:ext cx="7348538" cy="1190625"/>
          </a:xfrm>
          <a:prstGeom prst="rect">
            <a:avLst/>
          </a:prstGeom>
          <a:noFill/>
          <a:ln w="9525">
            <a:noFill/>
            <a:miter lim="800000"/>
            <a:headEnd/>
            <a:tailEnd/>
          </a:ln>
          <a:effectLst/>
        </p:spPr>
        <p:txBody>
          <a:bodyPr wrap="none">
            <a:spAutoFit/>
          </a:bodyPr>
          <a:lstStyle/>
          <a:p>
            <a:r>
              <a:rPr lang="en-US"/>
              <a:t>An </a:t>
            </a:r>
            <a:r>
              <a:rPr lang="en-US" i="1"/>
              <a:t>autonomous system</a:t>
            </a:r>
            <a:r>
              <a:rPr lang="en-US"/>
              <a:t> is a set of networks and routers under</a:t>
            </a:r>
          </a:p>
          <a:p>
            <a:r>
              <a:rPr lang="en-US"/>
              <a:t>the control of a single administrative authority.</a:t>
            </a:r>
          </a:p>
          <a:p>
            <a:r>
              <a:rPr lang="en-US"/>
              <a:t>Routing within an autonomous system is </a:t>
            </a:r>
            <a:r>
              <a:rPr lang="en-US" i="1"/>
              <a:t>intra</a:t>
            </a:r>
            <a:r>
              <a:rPr lang="en-US"/>
              <a:t>domain routing.</a:t>
            </a:r>
          </a:p>
          <a:p>
            <a:r>
              <a:rPr lang="en-US"/>
              <a:t>Routing between autonomous systems is </a:t>
            </a:r>
            <a:r>
              <a:rPr lang="en-US" i="1"/>
              <a:t>inter</a:t>
            </a:r>
            <a:r>
              <a:rPr lang="en-US"/>
              <a:t>domain routing.</a:t>
            </a:r>
          </a:p>
        </p:txBody>
      </p:sp>
    </p:spTree>
    <p:extLst>
      <p:ext uri="{BB962C8B-B14F-4D97-AF65-F5344CB8AC3E}">
        <p14:creationId xmlns:p14="http://schemas.microsoft.com/office/powerpoint/2010/main" val="3951059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dirty="0"/>
              <a:t> </a:t>
            </a:r>
          </a:p>
        </p:txBody>
      </p:sp>
      <p:sp>
        <p:nvSpPr>
          <p:cNvPr id="12" name="Slide Number Placeholder 2"/>
          <p:cNvSpPr>
            <a:spLocks noGrp="1"/>
          </p:cNvSpPr>
          <p:nvPr>
            <p:ph type="sldNum" sz="quarter" idx="11"/>
          </p:nvPr>
        </p:nvSpPr>
        <p:spPr/>
        <p:txBody>
          <a:bodyPr/>
          <a:lstStyle/>
          <a:p>
            <a:fld id="{ECB207BE-AD47-44E2-86B3-C2732AE852A1}" type="slidenum">
              <a:rPr lang="en-US"/>
              <a:pPr/>
              <a:t>6</a:t>
            </a:fld>
            <a:endParaRPr lang="en-US"/>
          </a:p>
        </p:txBody>
      </p:sp>
      <p:sp>
        <p:nvSpPr>
          <p:cNvPr id="481282"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14.2</a:t>
            </a:r>
            <a:r>
              <a:rPr lang="en-US" altLang="en-US">
                <a:solidFill>
                  <a:schemeClr val="accent2"/>
                </a:solidFill>
                <a:latin typeface="Times New Roman" pitchFamily="18" charset="0"/>
              </a:rPr>
              <a:t>    </a:t>
            </a:r>
            <a:r>
              <a:rPr lang="en-US" altLang="en-US" i="1">
                <a:latin typeface="Times New Roman" pitchFamily="18" charset="0"/>
              </a:rPr>
              <a:t>Popular routing protocols</a:t>
            </a:r>
          </a:p>
        </p:txBody>
      </p:sp>
      <p:sp>
        <p:nvSpPr>
          <p:cNvPr id="48128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128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128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128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128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128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128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1290" name="Picture 10"/>
          <p:cNvPicPr>
            <a:picLocks noChangeAspect="1" noChangeArrowheads="1"/>
          </p:cNvPicPr>
          <p:nvPr/>
        </p:nvPicPr>
        <p:blipFill>
          <a:blip r:embed="rId2"/>
          <a:srcRect/>
          <a:stretch>
            <a:fillRect/>
          </a:stretch>
        </p:blipFill>
        <p:spPr bwMode="auto">
          <a:xfrm>
            <a:off x="523875" y="1706563"/>
            <a:ext cx="8094663" cy="3444875"/>
          </a:xfrm>
          <a:prstGeom prst="rect">
            <a:avLst/>
          </a:prstGeom>
          <a:noFill/>
          <a:ln w="9525">
            <a:noFill/>
            <a:miter lim="800000"/>
            <a:headEnd/>
            <a:tailEnd/>
          </a:ln>
          <a:effectLst/>
        </p:spPr>
      </p:pic>
    </p:spTree>
    <p:extLst>
      <p:ext uri="{BB962C8B-B14F-4D97-AF65-F5344CB8AC3E}">
        <p14:creationId xmlns:p14="http://schemas.microsoft.com/office/powerpoint/2010/main" val="22530714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p:cNvSpPr>
            <a:spLocks noGrp="1"/>
          </p:cNvSpPr>
          <p:nvPr>
            <p:ph type="ftr" sz="quarter" idx="10"/>
          </p:nvPr>
        </p:nvSpPr>
        <p:spPr/>
        <p:txBody>
          <a:bodyPr/>
          <a:lstStyle/>
          <a:p>
            <a:r>
              <a:rPr lang="en-US" dirty="0"/>
              <a:t> </a:t>
            </a:r>
          </a:p>
        </p:txBody>
      </p:sp>
      <p:sp>
        <p:nvSpPr>
          <p:cNvPr id="11" name="Slide Number Placeholder 2"/>
          <p:cNvSpPr>
            <a:spLocks noGrp="1"/>
          </p:cNvSpPr>
          <p:nvPr>
            <p:ph type="sldNum" sz="quarter" idx="11"/>
          </p:nvPr>
        </p:nvSpPr>
        <p:spPr/>
        <p:txBody>
          <a:bodyPr/>
          <a:lstStyle/>
          <a:p>
            <a:fld id="{79883630-8900-46D0-9B14-696658FD371C}" type="slidenum">
              <a:rPr lang="en-US"/>
              <a:pPr/>
              <a:t>7</a:t>
            </a:fld>
            <a:endParaRPr lang="en-US"/>
          </a:p>
        </p:txBody>
      </p:sp>
      <p:grpSp>
        <p:nvGrpSpPr>
          <p:cNvPr id="474114" name="Group 2"/>
          <p:cNvGrpSpPr>
            <a:grpSpLocks/>
          </p:cNvGrpSpPr>
          <p:nvPr/>
        </p:nvGrpSpPr>
        <p:grpSpPr bwMode="auto">
          <a:xfrm>
            <a:off x="0" y="0"/>
            <a:ext cx="8686800" cy="6400800"/>
            <a:chOff x="0" y="96"/>
            <a:chExt cx="5472" cy="3840"/>
          </a:xfrm>
        </p:grpSpPr>
        <p:sp>
          <p:nvSpPr>
            <p:cNvPr id="474115"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eaLnBrk="1" hangingPunct="1"/>
              <a:endParaRPr lang="en-US" sz="2400">
                <a:latin typeface="Times New Roman" pitchFamily="18" charset="0"/>
              </a:endParaRPr>
            </a:p>
          </p:txBody>
        </p:sp>
        <p:sp>
          <p:nvSpPr>
            <p:cNvPr id="474116"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169" y="0"/>
                </a:cxn>
                <a:cxn ang="0">
                  <a:pos x="6670" y="500"/>
                </a:cxn>
                <a:cxn ang="0">
                  <a:pos x="6170" y="1000"/>
                </a:cxn>
                <a:cxn ang="0">
                  <a:pos x="0" y="1000"/>
                </a:cxn>
              </a:cxnLst>
              <a:rect l="T0" t="T1" r="T2" b="T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w="9525">
              <a:noFill/>
              <a:miter lim="800000"/>
              <a:headEnd/>
              <a:tailEnd/>
            </a:ln>
          </p:spPr>
          <p:txBody>
            <a:bodyPr/>
            <a:lstStyle/>
            <a:p>
              <a:pPr eaLnBrk="1" hangingPunct="1"/>
              <a:endParaRPr lang="en-US" sz="2400">
                <a:latin typeface="Times New Roman" pitchFamily="18" charset="0"/>
              </a:endParaRPr>
            </a:p>
          </p:txBody>
        </p:sp>
        <p:sp>
          <p:nvSpPr>
            <p:cNvPr id="474117"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n-US"/>
            </a:p>
          </p:txBody>
        </p:sp>
      </p:grpSp>
      <p:sp>
        <p:nvSpPr>
          <p:cNvPr id="474118" name="Text Box 6"/>
          <p:cNvSpPr txBox="1">
            <a:spLocks noChangeArrowheads="1"/>
          </p:cNvSpPr>
          <p:nvPr/>
        </p:nvSpPr>
        <p:spPr bwMode="auto">
          <a:xfrm>
            <a:off x="228600" y="354013"/>
            <a:ext cx="8058150" cy="641350"/>
          </a:xfrm>
          <a:prstGeom prst="rect">
            <a:avLst/>
          </a:prstGeom>
          <a:noFill/>
          <a:ln w="9525">
            <a:noFill/>
            <a:miter lim="800000"/>
            <a:headEnd/>
            <a:tailEnd/>
          </a:ln>
          <a:effectLst/>
        </p:spPr>
        <p:txBody>
          <a:bodyPr wrap="none">
            <a:spAutoFit/>
          </a:bodyPr>
          <a:lstStyle/>
          <a:p>
            <a:r>
              <a:rPr lang="en-US" sz="3600">
                <a:solidFill>
                  <a:schemeClr val="bg1"/>
                </a:solidFill>
                <a:latin typeface="Arial" pitchFamily="34" charset="0"/>
              </a:rPr>
              <a:t>14.2   DISTANCE VECTOR ROUTING</a:t>
            </a:r>
          </a:p>
        </p:txBody>
      </p:sp>
      <p:sp>
        <p:nvSpPr>
          <p:cNvPr id="474119" name="Rectangle 7"/>
          <p:cNvSpPr>
            <a:spLocks noChangeArrowheads="1"/>
          </p:cNvSpPr>
          <p:nvPr/>
        </p:nvSpPr>
        <p:spPr bwMode="auto">
          <a:xfrm>
            <a:off x="533400" y="1371600"/>
            <a:ext cx="7848600" cy="1006475"/>
          </a:xfrm>
          <a:prstGeom prst="rect">
            <a:avLst/>
          </a:prstGeom>
          <a:noFill/>
          <a:ln w="9525">
            <a:noFill/>
            <a:miter lim="800000"/>
            <a:headEnd/>
            <a:tailEnd/>
          </a:ln>
          <a:effectLst/>
        </p:spPr>
        <p:txBody>
          <a:bodyPr>
            <a:spAutoFit/>
          </a:bodyPr>
          <a:lstStyle/>
          <a:p>
            <a:pPr algn="just"/>
            <a:r>
              <a:rPr lang="en-US" sz="2000" i="1">
                <a:effectLst>
                  <a:outerShdw blurRad="38100" dist="38100" dir="2700000" algn="tl">
                    <a:srgbClr val="C0C0C0"/>
                  </a:outerShdw>
                </a:effectLst>
                <a:latin typeface="Times New Roman" pitchFamily="18" charset="0"/>
              </a:rPr>
              <a:t>In distance vector routing, the least cost route between any two nodes is the route with minimum distance. In this protocol each node maintains a vector (table) of minimum distances to every node</a:t>
            </a:r>
          </a:p>
        </p:txBody>
      </p:sp>
      <p:sp>
        <p:nvSpPr>
          <p:cNvPr id="474120" name="Rectangle 8"/>
          <p:cNvSpPr>
            <a:spLocks noChangeArrowheads="1"/>
          </p:cNvSpPr>
          <p:nvPr/>
        </p:nvSpPr>
        <p:spPr bwMode="auto">
          <a:xfrm>
            <a:off x="685800" y="3184525"/>
            <a:ext cx="7848600" cy="396875"/>
          </a:xfrm>
          <a:prstGeom prst="rect">
            <a:avLst/>
          </a:prstGeom>
          <a:noFill/>
          <a:ln w="9525">
            <a:noFill/>
            <a:miter lim="800000"/>
            <a:headEnd/>
            <a:tailEnd/>
          </a:ln>
          <a:effectLst/>
        </p:spPr>
        <p:txBody>
          <a:bodyPr>
            <a:spAutoFit/>
          </a:bodyPr>
          <a:lstStyle/>
          <a:p>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4121" name="Rectangle 9"/>
          <p:cNvSpPr>
            <a:spLocks noChangeArrowheads="1"/>
          </p:cNvSpPr>
          <p:nvPr/>
        </p:nvSpPr>
        <p:spPr bwMode="auto">
          <a:xfrm>
            <a:off x="685800" y="3810000"/>
            <a:ext cx="7315200" cy="1920875"/>
          </a:xfrm>
          <a:prstGeom prst="rect">
            <a:avLst/>
          </a:prstGeom>
          <a:noFill/>
          <a:ln w="76200">
            <a:noFill/>
            <a:miter lim="800000"/>
            <a:headEnd/>
            <a:tailEnd/>
          </a:ln>
          <a:effectLst/>
        </p:spPr>
        <p:txBody>
          <a:bodyPr>
            <a:spAutoFit/>
          </a:bodyPr>
          <a:lstStyle/>
          <a:p>
            <a:r>
              <a:rPr lang="en-US" sz="2000" i="1">
                <a:effectLst>
                  <a:outerShdw blurRad="38100" dist="38100" dir="2700000" algn="tl">
                    <a:srgbClr val="C0C0C0"/>
                  </a:outerShdw>
                </a:effectLst>
                <a:latin typeface="Times New Roman" pitchFamily="18" charset="0"/>
              </a:rPr>
              <a:t>Initialization </a:t>
            </a:r>
          </a:p>
          <a:p>
            <a:r>
              <a:rPr lang="en-US" sz="2000" i="1">
                <a:effectLst>
                  <a:outerShdw blurRad="38100" dist="38100" dir="2700000" algn="tl">
                    <a:srgbClr val="C0C0C0"/>
                  </a:outerShdw>
                </a:effectLst>
                <a:latin typeface="Times New Roman" pitchFamily="18" charset="0"/>
              </a:rPr>
              <a:t>Sharing </a:t>
            </a:r>
          </a:p>
          <a:p>
            <a:r>
              <a:rPr lang="en-US" sz="2000" i="1">
                <a:effectLst>
                  <a:outerShdw blurRad="38100" dist="38100" dir="2700000" algn="tl">
                    <a:srgbClr val="C0C0C0"/>
                  </a:outerShdw>
                </a:effectLst>
                <a:latin typeface="Times New Roman" pitchFamily="18" charset="0"/>
              </a:rPr>
              <a:t>Updating </a:t>
            </a:r>
          </a:p>
          <a:p>
            <a:r>
              <a:rPr lang="en-US" sz="2000" i="1">
                <a:effectLst>
                  <a:outerShdw blurRad="38100" dist="38100" dir="2700000" algn="tl">
                    <a:srgbClr val="C0C0C0"/>
                  </a:outerShdw>
                </a:effectLst>
                <a:latin typeface="Times New Roman" pitchFamily="18" charset="0"/>
              </a:rPr>
              <a:t>When to Share </a:t>
            </a:r>
          </a:p>
          <a:p>
            <a:r>
              <a:rPr lang="en-US" sz="2000" i="1">
                <a:effectLst>
                  <a:outerShdw blurRad="38100" dist="38100" dir="2700000" algn="tl">
                    <a:srgbClr val="C0C0C0"/>
                  </a:outerShdw>
                </a:effectLst>
                <a:latin typeface="Times New Roman" pitchFamily="18" charset="0"/>
              </a:rPr>
              <a:t>Two-Node Loop Instability </a:t>
            </a:r>
          </a:p>
          <a:p>
            <a:r>
              <a:rPr lang="en-US" sz="2000" i="1">
                <a:effectLst>
                  <a:outerShdw blurRad="38100" dist="38100" dir="2700000" algn="tl">
                    <a:srgbClr val="C0C0C0"/>
                  </a:outerShdw>
                </a:effectLst>
                <a:latin typeface="Times New Roman" pitchFamily="18" charset="0"/>
              </a:rPr>
              <a:t>Three-Node Instability </a:t>
            </a:r>
          </a:p>
        </p:txBody>
      </p:sp>
    </p:spTree>
    <p:extLst>
      <p:ext uri="{BB962C8B-B14F-4D97-AF65-F5344CB8AC3E}">
        <p14:creationId xmlns:p14="http://schemas.microsoft.com/office/powerpoint/2010/main" val="21940355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dirty="0"/>
              <a:t> </a:t>
            </a:r>
          </a:p>
        </p:txBody>
      </p:sp>
      <p:sp>
        <p:nvSpPr>
          <p:cNvPr id="12" name="Slide Number Placeholder 2"/>
          <p:cNvSpPr>
            <a:spLocks noGrp="1"/>
          </p:cNvSpPr>
          <p:nvPr>
            <p:ph type="sldNum" sz="quarter" idx="11"/>
          </p:nvPr>
        </p:nvSpPr>
        <p:spPr/>
        <p:txBody>
          <a:bodyPr/>
          <a:lstStyle/>
          <a:p>
            <a:fld id="{1886F466-AC1F-4554-869F-4388121329C3}" type="slidenum">
              <a:rPr lang="en-US"/>
              <a:pPr/>
              <a:t>8</a:t>
            </a:fld>
            <a:endParaRPr lang="en-US"/>
          </a:p>
        </p:txBody>
      </p:sp>
      <p:sp>
        <p:nvSpPr>
          <p:cNvPr id="482306"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14.3</a:t>
            </a:r>
            <a:r>
              <a:rPr lang="en-US" altLang="en-US">
                <a:solidFill>
                  <a:schemeClr val="accent2"/>
                </a:solidFill>
                <a:latin typeface="Times New Roman" pitchFamily="18" charset="0"/>
              </a:rPr>
              <a:t>    </a:t>
            </a:r>
            <a:r>
              <a:rPr lang="en-US" altLang="en-US" i="1">
                <a:latin typeface="Times New Roman" pitchFamily="18" charset="0"/>
              </a:rPr>
              <a:t>Distance vector routing tables</a:t>
            </a:r>
          </a:p>
        </p:txBody>
      </p:sp>
      <p:sp>
        <p:nvSpPr>
          <p:cNvPr id="482307"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2308"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2309"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2310"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2311"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2312"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2313"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2314" name="Picture 10"/>
          <p:cNvPicPr>
            <a:picLocks noChangeAspect="1" noChangeArrowheads="1"/>
          </p:cNvPicPr>
          <p:nvPr/>
        </p:nvPicPr>
        <p:blipFill>
          <a:blip r:embed="rId2"/>
          <a:srcRect/>
          <a:stretch>
            <a:fillRect/>
          </a:stretch>
        </p:blipFill>
        <p:spPr bwMode="auto">
          <a:xfrm>
            <a:off x="544513" y="1546225"/>
            <a:ext cx="7989887" cy="4168775"/>
          </a:xfrm>
          <a:prstGeom prst="rect">
            <a:avLst/>
          </a:prstGeom>
          <a:noFill/>
          <a:ln w="9525">
            <a:noFill/>
            <a:miter lim="800000"/>
            <a:headEnd/>
            <a:tailEnd/>
          </a:ln>
          <a:effectLst/>
        </p:spPr>
      </p:pic>
    </p:spTree>
    <p:extLst>
      <p:ext uri="{BB962C8B-B14F-4D97-AF65-F5344CB8AC3E}">
        <p14:creationId xmlns:p14="http://schemas.microsoft.com/office/powerpoint/2010/main" val="12720392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E7448388-E95A-441C-AA73-74C448361D6B}" type="slidenum">
              <a:rPr lang="en-US"/>
              <a:pPr/>
              <a:t>9</a:t>
            </a:fld>
            <a:endParaRPr lang="en-US"/>
          </a:p>
        </p:txBody>
      </p:sp>
      <p:sp>
        <p:nvSpPr>
          <p:cNvPr id="483330" name="Text Box 2"/>
          <p:cNvSpPr txBox="1">
            <a:spLocks noChangeArrowheads="1"/>
          </p:cNvSpPr>
          <p:nvPr/>
        </p:nvSpPr>
        <p:spPr bwMode="auto">
          <a:xfrm>
            <a:off x="990600" y="90488"/>
            <a:ext cx="6858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14.4</a:t>
            </a:r>
            <a:r>
              <a:rPr lang="en-US" altLang="en-US">
                <a:solidFill>
                  <a:schemeClr val="accent2"/>
                </a:solidFill>
                <a:latin typeface="Times New Roman" pitchFamily="18" charset="0"/>
              </a:rPr>
              <a:t>    </a:t>
            </a:r>
            <a:r>
              <a:rPr lang="en-US" altLang="en-US" i="1">
                <a:latin typeface="Times New Roman" pitchFamily="18" charset="0"/>
              </a:rPr>
              <a:t>Initialization of tables in distance vector routing</a:t>
            </a:r>
          </a:p>
        </p:txBody>
      </p:sp>
      <p:sp>
        <p:nvSpPr>
          <p:cNvPr id="48333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33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333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33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33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333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33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3338" name="Picture 10"/>
          <p:cNvPicPr>
            <a:picLocks noChangeAspect="1" noChangeArrowheads="1"/>
          </p:cNvPicPr>
          <p:nvPr/>
        </p:nvPicPr>
        <p:blipFill>
          <a:blip r:embed="rId2"/>
          <a:srcRect/>
          <a:stretch>
            <a:fillRect/>
          </a:stretch>
        </p:blipFill>
        <p:spPr bwMode="auto">
          <a:xfrm>
            <a:off x="533400" y="1066800"/>
            <a:ext cx="7989888" cy="4168775"/>
          </a:xfrm>
          <a:prstGeom prst="rect">
            <a:avLst/>
          </a:prstGeom>
          <a:noFill/>
          <a:ln w="9525">
            <a:noFill/>
            <a:miter lim="800000"/>
            <a:headEnd/>
            <a:tailEnd/>
          </a:ln>
          <a:effectLst/>
        </p:spPr>
      </p:pic>
      <p:sp>
        <p:nvSpPr>
          <p:cNvPr id="483339" name="Text Box 11"/>
          <p:cNvSpPr txBox="1">
            <a:spLocks noChangeArrowheads="1"/>
          </p:cNvSpPr>
          <p:nvPr/>
        </p:nvSpPr>
        <p:spPr bwMode="auto">
          <a:xfrm>
            <a:off x="533400" y="5338583"/>
            <a:ext cx="8389508" cy="1200329"/>
          </a:xfrm>
          <a:prstGeom prst="rect">
            <a:avLst/>
          </a:prstGeom>
          <a:noFill/>
          <a:ln w="9525">
            <a:noFill/>
            <a:miter lim="800000"/>
            <a:headEnd/>
            <a:tailEnd/>
          </a:ln>
          <a:effectLst/>
        </p:spPr>
        <p:txBody>
          <a:bodyPr wrap="square">
            <a:spAutoFit/>
          </a:bodyPr>
          <a:lstStyle/>
          <a:p>
            <a:r>
              <a:rPr lang="en-US" sz="2400" dirty="0"/>
              <a:t>In distance vector routing, each node shares its table with its immediate neighbor periodically (</a:t>
            </a:r>
            <a:r>
              <a:rPr lang="en-US" sz="2400" dirty="0" err="1"/>
              <a:t>eg</a:t>
            </a:r>
            <a:r>
              <a:rPr lang="en-US" sz="2400" dirty="0"/>
              <a:t> every 30s) and when </a:t>
            </a:r>
          </a:p>
          <a:p>
            <a:r>
              <a:rPr lang="en-US" sz="2400" dirty="0"/>
              <a:t>there is a change.</a:t>
            </a:r>
          </a:p>
        </p:txBody>
      </p:sp>
    </p:spTree>
    <p:extLst>
      <p:ext uri="{BB962C8B-B14F-4D97-AF65-F5344CB8AC3E}">
        <p14:creationId xmlns:p14="http://schemas.microsoft.com/office/powerpoint/2010/main" val="35554989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0EB49CD6-5BAD-4D42-93A7-57D152B6DD4A}" type="slidenum">
              <a:rPr lang="en-US"/>
              <a:pPr/>
              <a:t>10</a:t>
            </a:fld>
            <a:endParaRPr lang="en-US"/>
          </a:p>
        </p:txBody>
      </p:sp>
      <p:sp>
        <p:nvSpPr>
          <p:cNvPr id="484354" name="Text Box 2"/>
          <p:cNvSpPr txBox="1">
            <a:spLocks noChangeArrowheads="1"/>
          </p:cNvSpPr>
          <p:nvPr/>
        </p:nvSpPr>
        <p:spPr bwMode="auto">
          <a:xfrm>
            <a:off x="990600" y="90488"/>
            <a:ext cx="5715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14.5</a:t>
            </a:r>
            <a:r>
              <a:rPr lang="en-US" altLang="en-US">
                <a:solidFill>
                  <a:schemeClr val="accent2"/>
                </a:solidFill>
                <a:latin typeface="Times New Roman" pitchFamily="18" charset="0"/>
              </a:rPr>
              <a:t>    </a:t>
            </a:r>
            <a:r>
              <a:rPr lang="en-US" altLang="en-US" i="1">
                <a:latin typeface="Times New Roman" pitchFamily="18" charset="0"/>
              </a:rPr>
              <a:t>Updating in distance vector routing</a:t>
            </a:r>
          </a:p>
        </p:txBody>
      </p:sp>
      <p:sp>
        <p:nvSpPr>
          <p:cNvPr id="48435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435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435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435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435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436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436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4362" name="Picture 10"/>
          <p:cNvPicPr>
            <a:picLocks noChangeAspect="1" noChangeArrowheads="1"/>
          </p:cNvPicPr>
          <p:nvPr/>
        </p:nvPicPr>
        <p:blipFill>
          <a:blip r:embed="rId2"/>
          <a:srcRect/>
          <a:stretch>
            <a:fillRect/>
          </a:stretch>
        </p:blipFill>
        <p:spPr bwMode="auto">
          <a:xfrm>
            <a:off x="788451" y="3200400"/>
            <a:ext cx="6815138" cy="3558906"/>
          </a:xfrm>
          <a:prstGeom prst="rect">
            <a:avLst/>
          </a:prstGeom>
          <a:noFill/>
          <a:ln w="9525">
            <a:noFill/>
            <a:miter lim="800000"/>
            <a:headEnd/>
            <a:tailEnd/>
          </a:ln>
          <a:effectLst/>
        </p:spPr>
      </p:pic>
      <p:sp>
        <p:nvSpPr>
          <p:cNvPr id="484364" name="Text Box 12"/>
          <p:cNvSpPr txBox="1">
            <a:spLocks noChangeArrowheads="1"/>
          </p:cNvSpPr>
          <p:nvPr/>
        </p:nvSpPr>
        <p:spPr bwMode="auto">
          <a:xfrm>
            <a:off x="278930" y="939701"/>
            <a:ext cx="8484069" cy="2308324"/>
          </a:xfrm>
          <a:prstGeom prst="rect">
            <a:avLst/>
          </a:prstGeom>
          <a:noFill/>
          <a:ln w="9525">
            <a:noFill/>
            <a:miter lim="800000"/>
            <a:headEnd/>
            <a:tailEnd/>
          </a:ln>
          <a:effectLst/>
        </p:spPr>
        <p:txBody>
          <a:bodyPr wrap="square">
            <a:spAutoFit/>
          </a:bodyPr>
          <a:lstStyle/>
          <a:p>
            <a:r>
              <a:rPr lang="en-US" sz="2400" dirty="0"/>
              <a:t>Step 1: Add cost (2) to table received from neighbor (C).</a:t>
            </a:r>
          </a:p>
          <a:p>
            <a:r>
              <a:rPr lang="en-US" sz="2400" dirty="0"/>
              <a:t>Step 2: Compare Modified Table with Old Table (row by row).</a:t>
            </a:r>
          </a:p>
          <a:p>
            <a:r>
              <a:rPr lang="en-US" sz="2400" dirty="0"/>
              <a:t>If Next node entry is different, select the row with the smaller</a:t>
            </a:r>
          </a:p>
          <a:p>
            <a:r>
              <a:rPr lang="en-US" sz="2400" dirty="0"/>
              <a:t>cost.  If tie, keep the old one.</a:t>
            </a:r>
          </a:p>
          <a:p>
            <a:r>
              <a:rPr lang="en-US" sz="2400" dirty="0"/>
              <a:t>If Next node entry the same, select the new row value (regard-</a:t>
            </a:r>
          </a:p>
          <a:p>
            <a:r>
              <a:rPr lang="en-US" sz="2400" dirty="0"/>
              <a:t>less of whether new value is smaller or not).</a:t>
            </a:r>
          </a:p>
        </p:txBody>
      </p:sp>
    </p:spTree>
    <p:extLst>
      <p:ext uri="{BB962C8B-B14F-4D97-AF65-F5344CB8AC3E}">
        <p14:creationId xmlns:p14="http://schemas.microsoft.com/office/powerpoint/2010/main" val="36695671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ooter Placeholder 1"/>
          <p:cNvSpPr>
            <a:spLocks noGrp="1"/>
          </p:cNvSpPr>
          <p:nvPr>
            <p:ph type="ftr" sz="quarter" idx="10"/>
          </p:nvPr>
        </p:nvSpPr>
        <p:spPr/>
        <p:txBody>
          <a:bodyPr/>
          <a:lstStyle/>
          <a:p>
            <a:r>
              <a:rPr lang="en-US" dirty="0"/>
              <a:t> </a:t>
            </a:r>
          </a:p>
        </p:txBody>
      </p:sp>
      <p:sp>
        <p:nvSpPr>
          <p:cNvPr id="13" name="Slide Number Placeholder 2"/>
          <p:cNvSpPr>
            <a:spLocks noGrp="1"/>
          </p:cNvSpPr>
          <p:nvPr>
            <p:ph type="sldNum" sz="quarter" idx="11"/>
          </p:nvPr>
        </p:nvSpPr>
        <p:spPr/>
        <p:txBody>
          <a:bodyPr/>
          <a:lstStyle/>
          <a:p>
            <a:fld id="{16F183E2-37EE-474B-83AC-03427B78BF9A}" type="slidenum">
              <a:rPr lang="en-US"/>
              <a:pPr/>
              <a:t>11</a:t>
            </a:fld>
            <a:endParaRPr lang="en-US"/>
          </a:p>
        </p:txBody>
      </p:sp>
      <p:sp>
        <p:nvSpPr>
          <p:cNvPr id="560130" name="Text Box 2"/>
          <p:cNvSpPr txBox="1">
            <a:spLocks noChangeArrowheads="1"/>
          </p:cNvSpPr>
          <p:nvPr/>
        </p:nvSpPr>
        <p:spPr bwMode="auto">
          <a:xfrm>
            <a:off x="990600" y="90488"/>
            <a:ext cx="8001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14.6</a:t>
            </a:r>
            <a:r>
              <a:rPr lang="en-US" altLang="en-US">
                <a:solidFill>
                  <a:schemeClr val="accent2"/>
                </a:solidFill>
                <a:latin typeface="Times New Roman" pitchFamily="18" charset="0"/>
              </a:rPr>
              <a:t>    </a:t>
            </a:r>
            <a:r>
              <a:rPr lang="en-US" altLang="en-US" i="1">
                <a:latin typeface="Times New Roman" pitchFamily="18" charset="0"/>
              </a:rPr>
              <a:t>Two-node instability – what can happen with distance vector routing</a:t>
            </a:r>
          </a:p>
        </p:txBody>
      </p:sp>
      <p:sp>
        <p:nvSpPr>
          <p:cNvPr id="560131"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60132"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0133"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60134"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0135"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60136"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60137"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560139" name="Picture 11"/>
          <p:cNvPicPr>
            <a:picLocks noChangeAspect="1" noChangeArrowheads="1"/>
          </p:cNvPicPr>
          <p:nvPr/>
        </p:nvPicPr>
        <p:blipFill>
          <a:blip r:embed="rId2"/>
          <a:srcRect/>
          <a:stretch>
            <a:fillRect/>
          </a:stretch>
        </p:blipFill>
        <p:spPr bwMode="auto">
          <a:xfrm>
            <a:off x="152401" y="762000"/>
            <a:ext cx="5487988" cy="5441950"/>
          </a:xfrm>
          <a:prstGeom prst="rect">
            <a:avLst/>
          </a:prstGeom>
          <a:noFill/>
          <a:ln w="9525">
            <a:noFill/>
            <a:miter lim="800000"/>
            <a:headEnd/>
            <a:tailEnd/>
          </a:ln>
          <a:effectLst/>
        </p:spPr>
      </p:pic>
      <p:sp>
        <p:nvSpPr>
          <p:cNvPr id="560140" name="Text Box 12"/>
          <p:cNvSpPr txBox="1">
            <a:spLocks noChangeArrowheads="1"/>
          </p:cNvSpPr>
          <p:nvPr/>
        </p:nvSpPr>
        <p:spPr bwMode="auto">
          <a:xfrm>
            <a:off x="5798195" y="533717"/>
            <a:ext cx="2787494" cy="5940088"/>
          </a:xfrm>
          <a:prstGeom prst="rect">
            <a:avLst/>
          </a:prstGeom>
          <a:noFill/>
          <a:ln w="9525">
            <a:noFill/>
            <a:miter lim="800000"/>
            <a:headEnd/>
            <a:tailEnd/>
          </a:ln>
          <a:effectLst/>
        </p:spPr>
        <p:txBody>
          <a:bodyPr wrap="none">
            <a:spAutoFit/>
          </a:bodyPr>
          <a:lstStyle/>
          <a:p>
            <a:r>
              <a:rPr lang="en-US" sz="2000" dirty="0"/>
              <a:t>Both A and B know</a:t>
            </a:r>
          </a:p>
          <a:p>
            <a:r>
              <a:rPr lang="en-US" sz="2000" dirty="0"/>
              <a:t>where X is.</a:t>
            </a:r>
          </a:p>
          <a:p>
            <a:pPr marL="342900" indent="-342900">
              <a:buFont typeface="Arial" panose="020B0604020202020204" pitchFamily="34" charset="0"/>
              <a:buChar char="•"/>
            </a:pPr>
            <a:endParaRPr lang="en-US" sz="2000" dirty="0"/>
          </a:p>
          <a:p>
            <a:r>
              <a:rPr lang="en-US" sz="2000" dirty="0"/>
              <a:t>Link between A and X</a:t>
            </a:r>
          </a:p>
          <a:p>
            <a:r>
              <a:rPr lang="en-US" sz="2000" dirty="0"/>
              <a:t>fails.  A updates its</a:t>
            </a:r>
          </a:p>
          <a:p>
            <a:r>
              <a:rPr lang="en-US" sz="2000" dirty="0"/>
              <a:t>table immediately.</a:t>
            </a:r>
          </a:p>
          <a:p>
            <a:r>
              <a:rPr lang="en-US" sz="2000" dirty="0"/>
              <a:t>But before A can tell B,</a:t>
            </a:r>
          </a:p>
          <a:p>
            <a:r>
              <a:rPr lang="en-US" sz="2000" dirty="0"/>
              <a:t>B sends its info to A!</a:t>
            </a:r>
          </a:p>
          <a:p>
            <a:endParaRPr lang="en-US" sz="2000" dirty="0"/>
          </a:p>
          <a:p>
            <a:r>
              <a:rPr lang="en-US" sz="2000" dirty="0"/>
              <a:t>A, using B’s info, up-</a:t>
            </a:r>
          </a:p>
          <a:p>
            <a:r>
              <a:rPr lang="en-US" sz="2000" dirty="0"/>
              <a:t>dates its table (error!).</a:t>
            </a:r>
          </a:p>
          <a:p>
            <a:endParaRPr lang="en-US" sz="2000" dirty="0"/>
          </a:p>
          <a:p>
            <a:r>
              <a:rPr lang="en-US" sz="2000" dirty="0"/>
              <a:t>Then A send its table</a:t>
            </a:r>
          </a:p>
          <a:p>
            <a:r>
              <a:rPr lang="en-US" sz="2000" dirty="0"/>
              <a:t>to B and B updates its</a:t>
            </a:r>
          </a:p>
          <a:p>
            <a:r>
              <a:rPr lang="en-US" sz="2000" dirty="0"/>
              <a:t>table (more error).</a:t>
            </a:r>
          </a:p>
          <a:p>
            <a:r>
              <a:rPr lang="en-US" sz="2000" dirty="0"/>
              <a:t>Both routers keep up-</a:t>
            </a:r>
          </a:p>
          <a:p>
            <a:r>
              <a:rPr lang="en-US" sz="2000" dirty="0"/>
              <a:t>dating tables, eventually </a:t>
            </a:r>
          </a:p>
          <a:p>
            <a:r>
              <a:rPr lang="en-US" sz="2000" dirty="0"/>
              <a:t>hitting infinity. In</a:t>
            </a:r>
          </a:p>
          <a:p>
            <a:r>
              <a:rPr lang="en-US" sz="2000" dirty="0"/>
              <a:t>the meantime, chaos!</a:t>
            </a:r>
          </a:p>
        </p:txBody>
      </p:sp>
    </p:spTree>
    <p:extLst>
      <p:ext uri="{BB962C8B-B14F-4D97-AF65-F5344CB8AC3E}">
        <p14:creationId xmlns:p14="http://schemas.microsoft.com/office/powerpoint/2010/main" val="23926718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dirty="0"/>
              <a:t> </a:t>
            </a:r>
          </a:p>
        </p:txBody>
      </p:sp>
      <p:sp>
        <p:nvSpPr>
          <p:cNvPr id="12" name="Slide Number Placeholder 2"/>
          <p:cNvSpPr>
            <a:spLocks noGrp="1"/>
          </p:cNvSpPr>
          <p:nvPr>
            <p:ph type="sldNum" sz="quarter" idx="11"/>
          </p:nvPr>
        </p:nvSpPr>
        <p:spPr/>
        <p:txBody>
          <a:bodyPr/>
          <a:lstStyle/>
          <a:p>
            <a:fld id="{0A435028-1395-486A-922C-B55AA2470C6A}" type="slidenum">
              <a:rPr lang="en-US"/>
              <a:pPr/>
              <a:t>12</a:t>
            </a:fld>
            <a:endParaRPr lang="en-US"/>
          </a:p>
        </p:txBody>
      </p:sp>
      <p:sp>
        <p:nvSpPr>
          <p:cNvPr id="561154" name="Text Box 2"/>
          <p:cNvSpPr txBox="1">
            <a:spLocks noChangeArrowheads="1"/>
          </p:cNvSpPr>
          <p:nvPr/>
        </p:nvSpPr>
        <p:spPr bwMode="auto">
          <a:xfrm>
            <a:off x="990600" y="90488"/>
            <a:ext cx="8001000" cy="366712"/>
          </a:xfrm>
          <a:prstGeom prst="rect">
            <a:avLst/>
          </a:prstGeom>
          <a:noFill/>
          <a:ln w="9525">
            <a:noFill/>
            <a:miter lim="800000"/>
            <a:headEnd/>
            <a:tailEnd/>
          </a:ln>
          <a:effectLst/>
        </p:spPr>
        <p:txBody>
          <a:bodyPr>
            <a:spAutoFit/>
          </a:bodyPr>
          <a:lstStyle/>
          <a:p>
            <a:r>
              <a:rPr lang="en-US" altLang="en-US">
                <a:solidFill>
                  <a:srgbClr val="0000FF"/>
                </a:solidFill>
                <a:latin typeface="Times New Roman" pitchFamily="18" charset="0"/>
              </a:rPr>
              <a:t>Figure 14.6</a:t>
            </a:r>
            <a:r>
              <a:rPr lang="en-US" altLang="en-US">
                <a:solidFill>
                  <a:schemeClr val="accent2"/>
                </a:solidFill>
                <a:latin typeface="Times New Roman" pitchFamily="18" charset="0"/>
              </a:rPr>
              <a:t>    </a:t>
            </a:r>
            <a:r>
              <a:rPr lang="en-US" altLang="en-US" i="1">
                <a:latin typeface="Times New Roman" pitchFamily="18" charset="0"/>
              </a:rPr>
              <a:t>Two-node instability – what can happen with distance vector routing</a:t>
            </a:r>
          </a:p>
        </p:txBody>
      </p:sp>
      <p:sp>
        <p:nvSpPr>
          <p:cNvPr id="561155"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561156"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1157"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561158"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1159"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561160"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561161"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561163" name="Text Box 11"/>
          <p:cNvSpPr txBox="1">
            <a:spLocks noChangeArrowheads="1"/>
          </p:cNvSpPr>
          <p:nvPr/>
        </p:nvSpPr>
        <p:spPr bwMode="auto">
          <a:xfrm>
            <a:off x="273052" y="1147772"/>
            <a:ext cx="8718548" cy="5324535"/>
          </a:xfrm>
          <a:prstGeom prst="rect">
            <a:avLst/>
          </a:prstGeom>
          <a:noFill/>
          <a:ln w="9525">
            <a:noFill/>
            <a:miter lim="800000"/>
            <a:headEnd/>
            <a:tailEnd/>
          </a:ln>
          <a:effectLst/>
        </p:spPr>
        <p:txBody>
          <a:bodyPr wrap="square">
            <a:spAutoFit/>
          </a:bodyPr>
          <a:lstStyle/>
          <a:p>
            <a:pPr marL="457200" indent="-457200"/>
            <a:r>
              <a:rPr lang="en-US" sz="2000" b="1" dirty="0"/>
              <a:t>Possible Solutions to two-node instability:</a:t>
            </a:r>
          </a:p>
          <a:p>
            <a:pPr marL="457200" indent="-457200"/>
            <a:endParaRPr lang="en-US" sz="2000" dirty="0"/>
          </a:p>
          <a:p>
            <a:pPr marL="457200" indent="-457200"/>
            <a:r>
              <a:rPr lang="en-US" sz="2000" dirty="0"/>
              <a:t>1. Define infinity to be a much smaller value, such as 100. Then it doesn’t take too long to become stable.  But now you can’t use distance vector routing in large networks.</a:t>
            </a:r>
          </a:p>
          <a:p>
            <a:pPr marL="457200" indent="-457200"/>
            <a:endParaRPr lang="en-US" sz="2000" dirty="0"/>
          </a:p>
          <a:p>
            <a:pPr marL="457200" indent="-457200"/>
            <a:r>
              <a:rPr lang="en-US" sz="2000" dirty="0"/>
              <a:t>2. </a:t>
            </a:r>
            <a:r>
              <a:rPr lang="en-US" sz="2000" b="1" dirty="0"/>
              <a:t>Split Horizon </a:t>
            </a:r>
            <a:r>
              <a:rPr lang="en-US" sz="2000" dirty="0"/>
              <a:t>– instead of flooding entire table to each node, only part of its table is sent.  More precisely, if node B thinks that the optimum router to reach X is via A, then B does not need to advertise this piece of info to A – the info has already come from A.</a:t>
            </a:r>
          </a:p>
          <a:p>
            <a:pPr marL="457200" indent="-457200"/>
            <a:endParaRPr lang="en-US" sz="2000" dirty="0"/>
          </a:p>
          <a:p>
            <a:pPr marL="457200" indent="-457200"/>
            <a:r>
              <a:rPr lang="en-US" sz="2000" dirty="0"/>
              <a:t>3. </a:t>
            </a:r>
            <a:r>
              <a:rPr lang="en-US" sz="2000" b="1" dirty="0"/>
              <a:t>Split Horizon and Poison Reverse </a:t>
            </a:r>
            <a:r>
              <a:rPr lang="en-US" sz="2000" dirty="0"/>
              <a:t>– Normally, the distance vector protocol uses a timer.  If there is no news about a route, the node deletes the route from its table.  So when A never hears from B about the route to X, it deletes it. Instead, Node B still advertises the value for X, but if the source of info is A, it replaces the distance with infinity, saying “Do not use this value; what I know about this route comes from you.”</a:t>
            </a:r>
          </a:p>
        </p:txBody>
      </p:sp>
    </p:spTree>
    <p:extLst>
      <p:ext uri="{BB962C8B-B14F-4D97-AF65-F5344CB8AC3E}">
        <p14:creationId xmlns:p14="http://schemas.microsoft.com/office/powerpoint/2010/main" val="20542848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1"/>
          <p:cNvSpPr>
            <a:spLocks noGrp="1"/>
          </p:cNvSpPr>
          <p:nvPr>
            <p:ph type="ftr" sz="quarter" idx="10"/>
          </p:nvPr>
        </p:nvSpPr>
        <p:spPr/>
        <p:txBody>
          <a:bodyPr/>
          <a:lstStyle/>
          <a:p>
            <a:r>
              <a:rPr lang="en-US" dirty="0"/>
              <a:t> </a:t>
            </a:r>
          </a:p>
        </p:txBody>
      </p:sp>
      <p:sp>
        <p:nvSpPr>
          <p:cNvPr id="12" name="Slide Number Placeholder 2"/>
          <p:cNvSpPr>
            <a:spLocks noGrp="1"/>
          </p:cNvSpPr>
          <p:nvPr>
            <p:ph type="sldNum" sz="quarter" idx="11"/>
          </p:nvPr>
        </p:nvSpPr>
        <p:spPr/>
        <p:txBody>
          <a:bodyPr/>
          <a:lstStyle/>
          <a:p>
            <a:fld id="{BCA7F6D6-08B1-4827-952B-A0EC6BFB23D6}" type="slidenum">
              <a:rPr lang="en-US"/>
              <a:pPr/>
              <a:t>13</a:t>
            </a:fld>
            <a:endParaRPr lang="en-US"/>
          </a:p>
        </p:txBody>
      </p:sp>
      <p:sp>
        <p:nvSpPr>
          <p:cNvPr id="486402" name="Text Box 2"/>
          <p:cNvSpPr txBox="1">
            <a:spLocks noChangeArrowheads="1"/>
          </p:cNvSpPr>
          <p:nvPr/>
        </p:nvSpPr>
        <p:spPr bwMode="auto">
          <a:xfrm>
            <a:off x="1240888" y="767556"/>
            <a:ext cx="6553200" cy="400110"/>
          </a:xfrm>
          <a:prstGeom prst="rect">
            <a:avLst/>
          </a:prstGeom>
          <a:noFill/>
          <a:ln w="9525">
            <a:noFill/>
            <a:miter lim="800000"/>
            <a:headEnd/>
            <a:tailEnd/>
          </a:ln>
          <a:effectLst/>
        </p:spPr>
        <p:txBody>
          <a:bodyPr wrap="square">
            <a:spAutoFit/>
          </a:bodyPr>
          <a:lstStyle/>
          <a:p>
            <a:r>
              <a:rPr lang="en-US" altLang="en-US" sz="2000" b="1" i="1" dirty="0">
                <a:latin typeface="Times New Roman" pitchFamily="18" charset="0"/>
              </a:rPr>
              <a:t>Three-node instability – no solutions here!</a:t>
            </a:r>
          </a:p>
        </p:txBody>
      </p:sp>
      <p:sp>
        <p:nvSpPr>
          <p:cNvPr id="486403" name="Rectangle 3"/>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p>
        </p:txBody>
      </p:sp>
      <p:sp>
        <p:nvSpPr>
          <p:cNvPr id="486404" name="Rectangle 4"/>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6405" name="Rectangle 5"/>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p>
        </p:txBody>
      </p:sp>
      <p:sp>
        <p:nvSpPr>
          <p:cNvPr id="486406" name="Rectangle 6"/>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sp>
        <p:nvSpPr>
          <p:cNvPr id="486407" name="Rectangle 7"/>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p>
        </p:txBody>
      </p:sp>
      <p:sp>
        <p:nvSpPr>
          <p:cNvPr id="486408" name="Rectangle 8"/>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p>
        </p:txBody>
      </p:sp>
      <p:sp>
        <p:nvSpPr>
          <p:cNvPr id="486409" name="Rectangle 9"/>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p>
        </p:txBody>
      </p:sp>
      <p:pic>
        <p:nvPicPr>
          <p:cNvPr id="486415" name="Picture 15"/>
          <p:cNvPicPr>
            <a:picLocks noChangeAspect="1" noChangeArrowheads="1"/>
          </p:cNvPicPr>
          <p:nvPr/>
        </p:nvPicPr>
        <p:blipFill>
          <a:blip r:embed="rId2"/>
          <a:srcRect/>
          <a:stretch>
            <a:fillRect/>
          </a:stretch>
        </p:blipFill>
        <p:spPr bwMode="auto">
          <a:xfrm>
            <a:off x="490538" y="1401762"/>
            <a:ext cx="6154737" cy="4999037"/>
          </a:xfrm>
          <a:prstGeom prst="rect">
            <a:avLst/>
          </a:prstGeom>
          <a:noFill/>
          <a:ln w="9525">
            <a:noFill/>
            <a:miter lim="800000"/>
            <a:headEnd/>
            <a:tailEnd/>
          </a:ln>
          <a:effectLst/>
        </p:spPr>
      </p:pic>
    </p:spTree>
    <p:extLst>
      <p:ext uri="{BB962C8B-B14F-4D97-AF65-F5344CB8AC3E}">
        <p14:creationId xmlns:p14="http://schemas.microsoft.com/office/powerpoint/2010/main" val="396477997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0" name="Footer Placeholder 1"/>
          <p:cNvSpPr>
            <a:spLocks noGrp="1"/>
          </p:cNvSpPr>
          <p:nvPr>
            <p:ph type="ftr" sz="quarter" idx="10"/>
          </p:nvPr>
        </p:nvSpPr>
        <p:spPr/>
        <p:txBody>
          <a:bodyPr/>
          <a:lstStyle/>
          <a:p>
            <a:r>
              <a:rPr lang="en-US" dirty="0"/>
              <a:t> </a:t>
            </a:r>
          </a:p>
        </p:txBody>
      </p:sp>
      <p:sp>
        <p:nvSpPr>
          <p:cNvPr id="11" name="Slide Number Placeholder 2"/>
          <p:cNvSpPr>
            <a:spLocks noGrp="1"/>
          </p:cNvSpPr>
          <p:nvPr>
            <p:ph type="sldNum" sz="quarter" idx="11"/>
          </p:nvPr>
        </p:nvSpPr>
        <p:spPr/>
        <p:txBody>
          <a:bodyPr/>
          <a:lstStyle/>
          <a:p>
            <a:fld id="{689F67D2-148D-4612-AB5C-33459237684F}" type="slidenum">
              <a:rPr lang="en-US"/>
              <a:pPr/>
              <a:t>14</a:t>
            </a:fld>
            <a:endParaRPr lang="en-US"/>
          </a:p>
        </p:txBody>
      </p:sp>
      <p:grpSp>
        <p:nvGrpSpPr>
          <p:cNvPr id="475138" name="Group 2"/>
          <p:cNvGrpSpPr>
            <a:grpSpLocks/>
          </p:cNvGrpSpPr>
          <p:nvPr/>
        </p:nvGrpSpPr>
        <p:grpSpPr bwMode="auto">
          <a:xfrm>
            <a:off x="0" y="0"/>
            <a:ext cx="8686800" cy="6400800"/>
            <a:chOff x="0" y="96"/>
            <a:chExt cx="5472" cy="3840"/>
          </a:xfrm>
        </p:grpSpPr>
        <p:sp>
          <p:nvSpPr>
            <p:cNvPr id="475139" name="AutoShape 3"/>
            <p:cNvSpPr>
              <a:spLocks noChangeArrowheads="1"/>
            </p:cNvSpPr>
            <p:nvPr/>
          </p:nvSpPr>
          <p:spPr bwMode="auto">
            <a:xfrm>
              <a:off x="240" y="336"/>
              <a:ext cx="5232" cy="3600"/>
            </a:xfrm>
            <a:prstGeom prst="roundRect">
              <a:avLst>
                <a:gd name="adj" fmla="val 13727"/>
              </a:avLst>
            </a:prstGeom>
            <a:noFill/>
            <a:ln w="50800">
              <a:solidFill>
                <a:schemeClr val="bg2"/>
              </a:solidFill>
              <a:round/>
              <a:headEnd/>
              <a:tailEnd/>
            </a:ln>
            <a:effectLst/>
          </p:spPr>
          <p:txBody>
            <a:bodyPr wrap="none" anchor="ctr"/>
            <a:lstStyle/>
            <a:p>
              <a:pPr algn="ctr" eaLnBrk="1" hangingPunct="1"/>
              <a:endParaRPr lang="en-US" sz="2400">
                <a:latin typeface="Times New Roman" pitchFamily="18" charset="0"/>
              </a:endParaRPr>
            </a:p>
          </p:txBody>
        </p:sp>
        <p:sp>
          <p:nvSpPr>
            <p:cNvPr id="475140" name="AutoShape 4"/>
            <p:cNvSpPr>
              <a:spLocks noChangeArrowheads="1"/>
            </p:cNvSpPr>
            <p:nvPr/>
          </p:nvSpPr>
          <p:spPr bwMode="blackWhite">
            <a:xfrm>
              <a:off x="0" y="96"/>
              <a:ext cx="5376" cy="768"/>
            </a:xfrm>
            <a:custGeom>
              <a:avLst/>
              <a:gdLst>
                <a:gd name="G0" fmla="+- 1000 0 0"/>
                <a:gd name="G1" fmla="+- 1000 0 0"/>
                <a:gd name="G2" fmla="+- G0 0 G1"/>
                <a:gd name="G3" fmla="*/ G1 1 2"/>
                <a:gd name="G4" fmla="+- G0 0 G3"/>
                <a:gd name="T0" fmla="*/ 0 w 1000"/>
                <a:gd name="T1" fmla="*/ 0 h 1000"/>
                <a:gd name="T2" fmla="*/ G4 w 1000"/>
                <a:gd name="T3" fmla="*/ G1 h 1000"/>
              </a:gdLst>
              <a:ahLst/>
              <a:cxnLst>
                <a:cxn ang="0">
                  <a:pos x="0" y="0"/>
                </a:cxn>
                <a:cxn ang="0">
                  <a:pos x="6169" y="0"/>
                </a:cxn>
                <a:cxn ang="0">
                  <a:pos x="6670" y="500"/>
                </a:cxn>
                <a:cxn ang="0">
                  <a:pos x="6170" y="1000"/>
                </a:cxn>
                <a:cxn ang="0">
                  <a:pos x="0" y="1000"/>
                </a:cxn>
              </a:cxnLst>
              <a:rect l="T0" t="T1" r="T2" b="T3"/>
              <a:pathLst>
                <a:path w="7000" h="1000">
                  <a:moveTo>
                    <a:pt x="0" y="0"/>
                  </a:moveTo>
                  <a:lnTo>
                    <a:pt x="6169" y="0"/>
                  </a:lnTo>
                  <a:cubicBezTo>
                    <a:pt x="6446" y="0"/>
                    <a:pt x="6670" y="223"/>
                    <a:pt x="6670" y="500"/>
                  </a:cubicBezTo>
                  <a:cubicBezTo>
                    <a:pt x="6670" y="776"/>
                    <a:pt x="6446" y="999"/>
                    <a:pt x="6170" y="1000"/>
                  </a:cubicBezTo>
                  <a:lnTo>
                    <a:pt x="0" y="1000"/>
                  </a:lnTo>
                  <a:close/>
                </a:path>
              </a:pathLst>
            </a:custGeom>
            <a:solidFill>
              <a:schemeClr val="folHlink"/>
            </a:solidFill>
            <a:ln w="9525">
              <a:noFill/>
              <a:miter lim="800000"/>
              <a:headEnd/>
              <a:tailEnd/>
            </a:ln>
          </p:spPr>
          <p:txBody>
            <a:bodyPr/>
            <a:lstStyle/>
            <a:p>
              <a:pPr eaLnBrk="1" hangingPunct="1"/>
              <a:endParaRPr lang="en-US" sz="2400">
                <a:latin typeface="Times New Roman" pitchFamily="18" charset="0"/>
              </a:endParaRPr>
            </a:p>
          </p:txBody>
        </p:sp>
        <p:sp>
          <p:nvSpPr>
            <p:cNvPr id="475141" name="Line 5"/>
            <p:cNvSpPr>
              <a:spLocks noChangeShapeType="1"/>
            </p:cNvSpPr>
            <p:nvPr/>
          </p:nvSpPr>
          <p:spPr bwMode="auto">
            <a:xfrm>
              <a:off x="0" y="768"/>
              <a:ext cx="5088" cy="0"/>
            </a:xfrm>
            <a:prstGeom prst="line">
              <a:avLst/>
            </a:prstGeom>
            <a:noFill/>
            <a:ln w="38100">
              <a:solidFill>
                <a:schemeClr val="bg1"/>
              </a:solidFill>
              <a:round/>
              <a:headEnd/>
              <a:tailEnd/>
            </a:ln>
            <a:effectLst/>
          </p:spPr>
          <p:txBody>
            <a:bodyPr/>
            <a:lstStyle/>
            <a:p>
              <a:endParaRPr lang="en-US"/>
            </a:p>
          </p:txBody>
        </p:sp>
      </p:grpSp>
      <p:sp>
        <p:nvSpPr>
          <p:cNvPr id="475142" name="Text Box 6"/>
          <p:cNvSpPr txBox="1">
            <a:spLocks noChangeArrowheads="1"/>
          </p:cNvSpPr>
          <p:nvPr/>
        </p:nvSpPr>
        <p:spPr bwMode="auto">
          <a:xfrm>
            <a:off x="228600" y="354013"/>
            <a:ext cx="2216150" cy="641350"/>
          </a:xfrm>
          <a:prstGeom prst="rect">
            <a:avLst/>
          </a:prstGeom>
          <a:noFill/>
          <a:ln w="9525">
            <a:noFill/>
            <a:miter lim="800000"/>
            <a:headEnd/>
            <a:tailEnd/>
          </a:ln>
          <a:effectLst/>
        </p:spPr>
        <p:txBody>
          <a:bodyPr wrap="none">
            <a:spAutoFit/>
          </a:bodyPr>
          <a:lstStyle/>
          <a:p>
            <a:r>
              <a:rPr lang="en-US" sz="3600">
                <a:solidFill>
                  <a:schemeClr val="bg1"/>
                </a:solidFill>
                <a:latin typeface="Arial" pitchFamily="34" charset="0"/>
              </a:rPr>
              <a:t>14.3   RIP</a:t>
            </a:r>
          </a:p>
        </p:txBody>
      </p:sp>
      <p:sp>
        <p:nvSpPr>
          <p:cNvPr id="475143" name="Rectangle 7"/>
          <p:cNvSpPr>
            <a:spLocks noChangeArrowheads="1"/>
          </p:cNvSpPr>
          <p:nvPr/>
        </p:nvSpPr>
        <p:spPr bwMode="auto">
          <a:xfrm>
            <a:off x="533400" y="1371600"/>
            <a:ext cx="7848600" cy="1006475"/>
          </a:xfrm>
          <a:prstGeom prst="rect">
            <a:avLst/>
          </a:prstGeom>
          <a:noFill/>
          <a:ln w="9525">
            <a:noFill/>
            <a:miter lim="800000"/>
            <a:headEnd/>
            <a:tailEnd/>
          </a:ln>
          <a:effectLst/>
        </p:spPr>
        <p:txBody>
          <a:bodyPr>
            <a:spAutoFit/>
          </a:bodyPr>
          <a:lstStyle/>
          <a:p>
            <a:pPr algn="just"/>
            <a:r>
              <a:rPr lang="en-US" sz="2000" i="1">
                <a:effectLst>
                  <a:outerShdw blurRad="38100" dist="38100" dir="2700000" algn="tl">
                    <a:srgbClr val="C0C0C0"/>
                  </a:outerShdw>
                </a:effectLst>
                <a:latin typeface="Times New Roman" pitchFamily="18" charset="0"/>
              </a:rPr>
              <a:t>The Routing Information Protocol (RIP) is an intradomain routing protocol used inside an autonomous system. It is a very simple protocol based on distance vector routing. </a:t>
            </a:r>
          </a:p>
        </p:txBody>
      </p:sp>
      <p:sp>
        <p:nvSpPr>
          <p:cNvPr id="475144" name="Rectangle 8"/>
          <p:cNvSpPr>
            <a:spLocks noChangeArrowheads="1"/>
          </p:cNvSpPr>
          <p:nvPr/>
        </p:nvSpPr>
        <p:spPr bwMode="auto">
          <a:xfrm>
            <a:off x="685800" y="3870325"/>
            <a:ext cx="7848600" cy="396875"/>
          </a:xfrm>
          <a:prstGeom prst="rect">
            <a:avLst/>
          </a:prstGeom>
          <a:noFill/>
          <a:ln w="9525">
            <a:noFill/>
            <a:miter lim="800000"/>
            <a:headEnd/>
            <a:tailEnd/>
          </a:ln>
          <a:effectLst/>
        </p:spPr>
        <p:txBody>
          <a:bodyPr>
            <a:spAutoFit/>
          </a:bodyPr>
          <a:lstStyle/>
          <a:p>
            <a:r>
              <a:rPr lang="en-US" sz="2000" i="1">
                <a:solidFill>
                  <a:schemeClr val="hlink"/>
                </a:solidFill>
                <a:effectLst>
                  <a:outerShdw blurRad="38100" dist="38100" dir="2700000" algn="tl">
                    <a:srgbClr val="C0C0C0"/>
                  </a:outerShdw>
                </a:effectLst>
                <a:latin typeface="Times New Roman" pitchFamily="18" charset="0"/>
              </a:rPr>
              <a:t>The topics discussed in this section include:</a:t>
            </a:r>
          </a:p>
        </p:txBody>
      </p:sp>
      <p:sp>
        <p:nvSpPr>
          <p:cNvPr id="475145" name="Rectangle 9"/>
          <p:cNvSpPr>
            <a:spLocks noChangeArrowheads="1"/>
          </p:cNvSpPr>
          <p:nvPr/>
        </p:nvSpPr>
        <p:spPr bwMode="auto">
          <a:xfrm>
            <a:off x="685800" y="4403725"/>
            <a:ext cx="7315200" cy="1616075"/>
          </a:xfrm>
          <a:prstGeom prst="rect">
            <a:avLst/>
          </a:prstGeom>
          <a:noFill/>
          <a:ln w="76200">
            <a:noFill/>
            <a:miter lim="800000"/>
            <a:headEnd/>
            <a:tailEnd/>
          </a:ln>
          <a:effectLst/>
        </p:spPr>
        <p:txBody>
          <a:bodyPr>
            <a:spAutoFit/>
          </a:bodyPr>
          <a:lstStyle/>
          <a:p>
            <a:r>
              <a:rPr lang="en-US" sz="2000" i="1">
                <a:effectLst>
                  <a:outerShdw blurRad="38100" dist="38100" dir="2700000" algn="tl">
                    <a:srgbClr val="C0C0C0"/>
                  </a:outerShdw>
                </a:effectLst>
                <a:latin typeface="Times New Roman" pitchFamily="18" charset="0"/>
              </a:rPr>
              <a:t>RIP Message Format </a:t>
            </a:r>
          </a:p>
          <a:p>
            <a:r>
              <a:rPr lang="en-US" sz="2000" i="1">
                <a:effectLst>
                  <a:outerShdw blurRad="38100" dist="38100" dir="2700000" algn="tl">
                    <a:srgbClr val="C0C0C0"/>
                  </a:outerShdw>
                </a:effectLst>
                <a:latin typeface="Times New Roman" pitchFamily="18" charset="0"/>
              </a:rPr>
              <a:t>Requests and Responses </a:t>
            </a:r>
          </a:p>
          <a:p>
            <a:r>
              <a:rPr lang="en-US" sz="2000" i="1">
                <a:effectLst>
                  <a:outerShdw blurRad="38100" dist="38100" dir="2700000" algn="tl">
                    <a:srgbClr val="C0C0C0"/>
                  </a:outerShdw>
                </a:effectLst>
                <a:latin typeface="Times New Roman" pitchFamily="18" charset="0"/>
              </a:rPr>
              <a:t>Timers in RIP </a:t>
            </a:r>
          </a:p>
          <a:p>
            <a:r>
              <a:rPr lang="en-US" sz="2000" i="1">
                <a:effectLst>
                  <a:outerShdw blurRad="38100" dist="38100" dir="2700000" algn="tl">
                    <a:srgbClr val="C0C0C0"/>
                  </a:outerShdw>
                </a:effectLst>
                <a:latin typeface="Times New Roman" pitchFamily="18" charset="0"/>
              </a:rPr>
              <a:t>RIP Version 2 </a:t>
            </a:r>
          </a:p>
          <a:p>
            <a:r>
              <a:rPr lang="en-US" sz="2000" i="1">
                <a:effectLst>
                  <a:outerShdw blurRad="38100" dist="38100" dir="2700000" algn="tl">
                    <a:srgbClr val="C0C0C0"/>
                  </a:outerShdw>
                </a:effectLst>
                <a:latin typeface="Times New Roman" pitchFamily="18" charset="0"/>
              </a:rPr>
              <a:t>Encapsulation </a:t>
            </a:r>
          </a:p>
        </p:txBody>
      </p:sp>
    </p:spTree>
    <p:extLst>
      <p:ext uri="{BB962C8B-B14F-4D97-AF65-F5344CB8AC3E}">
        <p14:creationId xmlns:p14="http://schemas.microsoft.com/office/powerpoint/2010/main" val="41023949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0"/>
          </p:nvPr>
        </p:nvSpPr>
        <p:spPr/>
        <p:txBody>
          <a:bodyPr/>
          <a:lstStyle/>
          <a:p>
            <a:r>
              <a:rPr lang="en-US" dirty="0"/>
              <a:t> </a:t>
            </a:r>
          </a:p>
        </p:txBody>
      </p:sp>
      <p:sp>
        <p:nvSpPr>
          <p:cNvPr id="3" name="Slide Number Placeholder 2"/>
          <p:cNvSpPr>
            <a:spLocks noGrp="1"/>
          </p:cNvSpPr>
          <p:nvPr>
            <p:ph type="sldNum" sz="quarter" idx="11"/>
          </p:nvPr>
        </p:nvSpPr>
        <p:spPr/>
        <p:txBody>
          <a:bodyPr/>
          <a:lstStyle/>
          <a:p>
            <a:fld id="{05E4028E-0A55-4FAE-95E6-053183CC8302}" type="slidenum">
              <a:rPr lang="en-US" smtClean="0"/>
              <a:pPr/>
              <a:t>15</a:t>
            </a:fld>
            <a:endParaRPr lang="en-US"/>
          </a:p>
        </p:txBody>
      </p:sp>
      <p:pic>
        <p:nvPicPr>
          <p:cNvPr id="567298" name="Picture 2"/>
          <p:cNvPicPr>
            <a:picLocks noChangeAspect="1" noChangeArrowheads="1"/>
          </p:cNvPicPr>
          <p:nvPr/>
        </p:nvPicPr>
        <p:blipFill>
          <a:blip r:embed="rId2"/>
          <a:srcRect/>
          <a:stretch>
            <a:fillRect/>
          </a:stretch>
        </p:blipFill>
        <p:spPr bwMode="auto">
          <a:xfrm>
            <a:off x="260830" y="533400"/>
            <a:ext cx="8425969" cy="5410200"/>
          </a:xfrm>
          <a:prstGeom prst="rect">
            <a:avLst/>
          </a:prstGeom>
          <a:noFill/>
          <a:ln w="9525">
            <a:noFill/>
            <a:miter lim="800000"/>
            <a:headEnd/>
            <a:tailEnd/>
          </a:ln>
          <a:effectLst/>
        </p:spPr>
      </p:pic>
    </p:spTree>
    <p:extLst>
      <p:ext uri="{BB962C8B-B14F-4D97-AF65-F5344CB8AC3E}">
        <p14:creationId xmlns:p14="http://schemas.microsoft.com/office/powerpoint/2010/main" val="3155774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6F5DCC-B342-4531-ABC7-5E4ED7900729}"/>
              </a:ext>
            </a:extLst>
          </p:cNvPr>
          <p:cNvSpPr>
            <a:spLocks noGrp="1"/>
          </p:cNvSpPr>
          <p:nvPr>
            <p:ph idx="1"/>
          </p:nvPr>
        </p:nvSpPr>
        <p:spPr>
          <a:xfrm>
            <a:off x="457200" y="381000"/>
            <a:ext cx="8229600" cy="5745163"/>
          </a:xfrm>
        </p:spPr>
        <p:txBody>
          <a:bodyPr>
            <a:noAutofit/>
          </a:bodyPr>
          <a:lstStyle/>
          <a:p>
            <a:r>
              <a:rPr lang="en-US" sz="2400" dirty="0"/>
              <a:t>RIP implements the same algorithm as the distance-vector routing algorithm we discussed in the previous section. However, some changes need to be made to the algorithm to enable a router to update its forwarding table:</a:t>
            </a:r>
          </a:p>
          <a:p>
            <a:pPr marL="0" indent="0">
              <a:buNone/>
            </a:pPr>
            <a:r>
              <a:rPr lang="en-US" sz="2400" dirty="0"/>
              <a:t>❑  Instead of sending only distance vectors, a router needs to send the whole contents of its forwarding table in a response message.</a:t>
            </a:r>
          </a:p>
          <a:p>
            <a:pPr marL="0" indent="0">
              <a:buNone/>
            </a:pPr>
            <a:r>
              <a:rPr lang="en-US" sz="2400" dirty="0"/>
              <a:t>❑ The receiver adds one hop to each cost and changes the next router field to the address of the sending router. We call each route in the modified forwarding table the received route and each route in the old forwarding table the old route.</a:t>
            </a:r>
          </a:p>
          <a:p>
            <a:r>
              <a:rPr lang="en-US" sz="2400" dirty="0"/>
              <a:t>The received router selects the old routes as the new ones except in the following</a:t>
            </a:r>
          </a:p>
          <a:p>
            <a:endParaRPr lang="en-IN" sz="2400" dirty="0"/>
          </a:p>
        </p:txBody>
      </p:sp>
    </p:spTree>
    <p:extLst>
      <p:ext uri="{BB962C8B-B14F-4D97-AF65-F5344CB8AC3E}">
        <p14:creationId xmlns:p14="http://schemas.microsoft.com/office/powerpoint/2010/main" val="11429592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C2ACE34-4F0E-412F-B1A0-8CE1DE159343}"/>
              </a:ext>
            </a:extLst>
          </p:cNvPr>
          <p:cNvSpPr>
            <a:spLocks noGrp="1"/>
          </p:cNvSpPr>
          <p:nvPr>
            <p:ph idx="1"/>
          </p:nvPr>
        </p:nvSpPr>
        <p:spPr>
          <a:xfrm>
            <a:off x="304800" y="274638"/>
            <a:ext cx="8229600" cy="4525963"/>
          </a:xfrm>
        </p:spPr>
        <p:txBody>
          <a:bodyPr>
            <a:noAutofit/>
          </a:bodyPr>
          <a:lstStyle/>
          <a:p>
            <a:r>
              <a:rPr lang="en-US" sz="2800" dirty="0"/>
              <a:t>three cases:</a:t>
            </a:r>
          </a:p>
          <a:p>
            <a:r>
              <a:rPr lang="en-US" sz="2800" dirty="0"/>
              <a:t>1. If the received route does not exist in the old forwarding table, it should be added to the route.</a:t>
            </a:r>
          </a:p>
          <a:p>
            <a:r>
              <a:rPr lang="en-US" sz="2800" dirty="0"/>
              <a:t>2. If the cost of the received route is lower than the cost of the old one, the received route should be selected as the new one.</a:t>
            </a:r>
          </a:p>
          <a:p>
            <a:r>
              <a:rPr lang="en-US" sz="2800" dirty="0"/>
              <a:t>3. If the cost of the received route is higher than the cost of the old one, but the value of the next router is the same in both routes, the received route should be selected as the new one. </a:t>
            </a:r>
            <a:endParaRPr lang="en-IN" sz="2800" dirty="0"/>
          </a:p>
        </p:txBody>
      </p:sp>
    </p:spTree>
    <p:extLst>
      <p:ext uri="{BB962C8B-B14F-4D97-AF65-F5344CB8AC3E}">
        <p14:creationId xmlns:p14="http://schemas.microsoft.com/office/powerpoint/2010/main" val="2839613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2AA93-B9FE-42DD-8F84-7EFC5D72F3AC}"/>
              </a:ext>
            </a:extLst>
          </p:cNvPr>
          <p:cNvSpPr>
            <a:spLocks noGrp="1"/>
          </p:cNvSpPr>
          <p:nvPr>
            <p:ph idx="1"/>
          </p:nvPr>
        </p:nvSpPr>
        <p:spPr>
          <a:xfrm>
            <a:off x="457200" y="609600"/>
            <a:ext cx="8229600" cy="5516563"/>
          </a:xfrm>
        </p:spPr>
        <p:txBody>
          <a:bodyPr>
            <a:normAutofit fontScale="92500" lnSpcReduction="20000"/>
          </a:bodyPr>
          <a:lstStyle/>
          <a:p>
            <a:r>
              <a:rPr lang="en-US" sz="3200" dirty="0"/>
              <a:t>This is the case where the route was actually advertised by the same router in the past, but now the situation has been changed. For example, suppose a neighbor has previously advertised a route to a destination with cost 3, but now there is no path between this neighbor and that destination. </a:t>
            </a:r>
          </a:p>
          <a:p>
            <a:r>
              <a:rPr lang="en-US" sz="3200" dirty="0"/>
              <a:t>The neighbor advertises this destination with cost value infinity (16 in RIP). The receiving router must not ignore this value even though its old route has a lower cost to the same destination.</a:t>
            </a:r>
          </a:p>
          <a:p>
            <a:r>
              <a:rPr lang="en-US" sz="3200" dirty="0"/>
              <a:t>The new forwarding table needs to be sorted according to the destination route</a:t>
            </a:r>
          </a:p>
          <a:p>
            <a:r>
              <a:rPr lang="en-US" sz="3200" dirty="0"/>
              <a:t>(mostly using the longest prefix first).</a:t>
            </a:r>
          </a:p>
          <a:p>
            <a:endParaRPr lang="en-IN" dirty="0"/>
          </a:p>
        </p:txBody>
      </p:sp>
    </p:spTree>
    <p:extLst>
      <p:ext uri="{BB962C8B-B14F-4D97-AF65-F5344CB8AC3E}">
        <p14:creationId xmlns:p14="http://schemas.microsoft.com/office/powerpoint/2010/main" val="19560140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D3877D-C3DD-4ABA-A947-A97785CB722B}"/>
              </a:ext>
            </a:extLst>
          </p:cNvPr>
          <p:cNvSpPr>
            <a:spLocks noGrp="1"/>
          </p:cNvSpPr>
          <p:nvPr>
            <p:ph idx="1"/>
          </p:nvPr>
        </p:nvSpPr>
        <p:spPr>
          <a:xfrm>
            <a:off x="457200" y="304800"/>
            <a:ext cx="8686800" cy="6324600"/>
          </a:xfrm>
        </p:spPr>
        <p:txBody>
          <a:bodyPr>
            <a:normAutofit fontScale="32500" lnSpcReduction="20000"/>
          </a:bodyPr>
          <a:lstStyle/>
          <a:p>
            <a:pPr marL="0" indent="0">
              <a:buNone/>
            </a:pPr>
            <a:r>
              <a:rPr lang="en-US" sz="7400" b="1" dirty="0"/>
              <a:t>Timers in RIP</a:t>
            </a:r>
          </a:p>
          <a:p>
            <a:r>
              <a:rPr lang="en-US" sz="6000" dirty="0"/>
              <a:t>RIP uses three timers to support its operation. The periodic timer controls the advertising of regular update messages. Each router has one periodic timer that is randomly to a number between 25 and 35 seconds (to prevent all routers sending their messages at the same time and creating excess traffic). The timer counts down; when zero reached, the update message is sent, and the timer is randomly set once again.</a:t>
            </a:r>
          </a:p>
          <a:p>
            <a:r>
              <a:rPr lang="en-US" sz="6000" dirty="0"/>
              <a:t>The expiration timer governs the validity of a route. When a router receives update information for a route, the expiration timer is set to 180 seconds for that particular route. Every time a new update for the route is received, the timer is reset. If there is a problem on internet and no update is received within the allotted 180 seconds, the route is considered expired and the hop count of the route is set to 16, which means the destination unreachable. Every route has its own expiration timer.</a:t>
            </a:r>
          </a:p>
          <a:p>
            <a:r>
              <a:rPr lang="en-US" sz="6000" dirty="0"/>
              <a:t> The garbage collection timer used to purge a route from the forwarding table. When the information about a route becomes invalid, the router does not immediately purge that route from its table. Instead, it continues to advertise the route with a metric value of 16. At the same time, a garbage collection timer is set to 120 seconds for that route. When the count reaches zero, the route is purged from the table. This timer allows neighbors to become aware of the invalidity of a route prior to purging.</a:t>
            </a:r>
          </a:p>
          <a:p>
            <a:endParaRPr lang="en-IN" sz="4200" dirty="0"/>
          </a:p>
        </p:txBody>
      </p:sp>
    </p:spTree>
    <p:extLst>
      <p:ext uri="{BB962C8B-B14F-4D97-AF65-F5344CB8AC3E}">
        <p14:creationId xmlns:p14="http://schemas.microsoft.com/office/powerpoint/2010/main" val="1185138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194</TotalTime>
  <Words>1431</Words>
  <Application>Microsoft Office PowerPoint</Application>
  <PresentationFormat>On-screen Show (4:3)</PresentationFormat>
  <Paragraphs>123</Paragraphs>
  <Slides>19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19</vt:i4>
      </vt:variant>
    </vt:vector>
  </HeadingPairs>
  <TitlesOfParts>
    <vt:vector size="23" baseType="lpstr">
      <vt:lpstr>Arial</vt:lpstr>
      <vt:lpstr>Calibri</vt:lpstr>
      <vt:lpstr>Times New Roman</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shabir ali</cp:lastModifiedBy>
  <cp:revision>13</cp:revision>
  <dcterms:created xsi:type="dcterms:W3CDTF">2020-06-29T04:13:42Z</dcterms:created>
  <dcterms:modified xsi:type="dcterms:W3CDTF">2020-11-09T07:34:19Z</dcterms:modified>
</cp:coreProperties>
</file>