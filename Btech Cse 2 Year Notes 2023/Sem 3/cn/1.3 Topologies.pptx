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70" r:id="rId13"/>
    <p:sldId id="271" r:id="rId14"/>
    <p:sldId id="273" r:id="rId15"/>
    <p:sldId id="274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CDD28F-6B61-4D2A-B0F0-80DFFD5A7EAA}" type="datetimeFigureOut">
              <a:rPr lang="en-IN" smtClean="0"/>
              <a:t>08-09-2022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DA0DF9-07C7-4C74-982B-DC1E921957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57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D6966-035F-45EC-8FD4-DB35697972EC}" type="datetime1">
              <a:rPr lang="en-US" smtClean="0"/>
              <a:t>9/8/2022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63BD-94D7-48AF-A1CD-1F2179B0D9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E020-6C37-4327-BE2B-89C04E7CF8CE}" type="datetime1">
              <a:rPr lang="en-US" smtClean="0"/>
              <a:t>9/8/2022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63BD-94D7-48AF-A1CD-1F2179B0D9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2511A-8860-492B-94DE-076FE42C56B5}" type="datetime1">
              <a:rPr lang="en-US" smtClean="0"/>
              <a:t>9/8/2022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63BD-94D7-48AF-A1CD-1F2179B0D9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18274-CAE8-410F-8F6A-FEF2BD349248}" type="datetime1">
              <a:rPr lang="en-US" smtClean="0"/>
              <a:t>9/8/2022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63BD-94D7-48AF-A1CD-1F2179B0D9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AAC8-C3AF-4470-972C-B176BD86DD55}" type="datetime1">
              <a:rPr lang="en-US" smtClean="0"/>
              <a:t>9/8/2022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63BD-94D7-48AF-A1CD-1F2179B0D9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F266-E3EB-476A-B1F4-3B9B0191B737}" type="datetime1">
              <a:rPr lang="en-US" smtClean="0"/>
              <a:t>9/8/2022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63BD-94D7-48AF-A1CD-1F2179B0D9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5DCF0-5500-49CF-BFD0-E0BF05E8A0D0}" type="datetime1">
              <a:rPr lang="en-US" smtClean="0"/>
              <a:t>9/8/2022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63BD-94D7-48AF-A1CD-1F2179B0D9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6310C-9AB2-47F9-9C1D-58CE1B2F93E1}" type="datetime1">
              <a:rPr lang="en-US" smtClean="0"/>
              <a:t>9/8/2022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63BD-94D7-48AF-A1CD-1F2179B0D9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12086-528A-44B0-BEF0-3BEBF42D67E6}" type="datetime1">
              <a:rPr lang="en-US" smtClean="0"/>
              <a:t>9/8/2022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63BD-94D7-48AF-A1CD-1F2179B0D9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9F3C2-8476-4B67-A37B-D440D378B223}" type="datetime1">
              <a:rPr lang="en-US" smtClean="0"/>
              <a:t>9/8/2022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63BD-94D7-48AF-A1CD-1F2179B0D9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C3C60-67F2-414A-A189-FB0C87E0D6EE}" type="datetime1">
              <a:rPr lang="en-US" smtClean="0"/>
              <a:t>9/8/2022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Presented by: Shabir Ali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63BD-94D7-48AF-A1CD-1F2179B0D9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A011A-EB99-4EF9-AB5D-9A05C86812CB}" type="datetime1">
              <a:rPr lang="en-US" smtClean="0"/>
              <a:t>9/8/2022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Lecture Presented by: Shabir Ali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C63BD-94D7-48AF-A1CD-1F2179B0D9F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200400"/>
            <a:ext cx="7772400" cy="1676400"/>
          </a:xfrm>
        </p:spPr>
        <p:txBody>
          <a:bodyPr>
            <a:normAutofit/>
          </a:bodyPr>
          <a:lstStyle/>
          <a:p>
            <a:pPr algn="ctr"/>
            <a:r>
              <a:rPr lang="en-US" b="1" u="none" dirty="0"/>
              <a:t>COMPUTER NETWORKS</a:t>
            </a:r>
            <a:br>
              <a:rPr lang="en-US" b="1" u="none" dirty="0"/>
            </a:br>
            <a:r>
              <a:rPr lang="en-US" b="1" u="none" dirty="0"/>
              <a:t>(</a:t>
            </a:r>
            <a:r>
              <a:rPr lang="en-US" b="1" dirty="0"/>
              <a:t>BCSC 0008)</a:t>
            </a:r>
            <a:endParaRPr lang="en-US" b="1" u="non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1-</a:t>
            </a:r>
            <a:fld id="{99D27633-06CE-45E1-87B8-65ED130BB8BF}" type="slidenum">
              <a:rPr lang="en-US" altLang="zh-TW" smtClean="0"/>
              <a:pPr/>
              <a:t>1</a:t>
            </a:fld>
            <a:endParaRPr lang="en-US" altLang="zh-TW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990600"/>
            <a:ext cx="2065942" cy="2152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ooter Placeholder 5"/>
          <p:cNvSpPr txBox="1">
            <a:spLocks/>
          </p:cNvSpPr>
          <p:nvPr/>
        </p:nvSpPr>
        <p:spPr>
          <a:xfrm>
            <a:off x="1219200" y="4816475"/>
            <a:ext cx="678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Copyright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 content, </a:t>
            </a:r>
            <a:r>
              <a:rPr lang="en-US" sz="1200" b="1" dirty="0">
                <a:latin typeface="Times New Roman"/>
                <a:ea typeface="Calibri"/>
                <a:cs typeface="Times New Roman"/>
              </a:rPr>
              <a:t>use only with the written permission of presenter mentioned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Footer Placeholder 5"/>
          <p:cNvSpPr txBox="1">
            <a:spLocks/>
          </p:cNvSpPr>
          <p:nvPr/>
        </p:nvSpPr>
        <p:spPr>
          <a:xfrm>
            <a:off x="3352800" y="5410200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Lecture 4</a:t>
            </a:r>
            <a:endParaRPr kumimoji="0" lang="en-US" altLang="zh-TW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b="1" dirty="0"/>
              <a:t>Text and Reference Books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Text Books: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/>
              <a:t>Fourouzan B. A. (2004), “Data Communication and Networking”, 4th Edition, McGraw-Hill.</a:t>
            </a:r>
          </a:p>
          <a:p>
            <a:pPr algn="just"/>
            <a:endParaRPr lang="en-US" sz="2400" dirty="0"/>
          </a:p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References: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/>
              <a:t>Kurose, J. F. and Ross K. W. (2005), “Computer Networking: A Top-Down Approach Featuring the Internet”, 3rd Edition, Addison-Wesley.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/>
              <a:t>A. S. Tanenbaum (2006), “Computer Networks”, 2nd Edition, Prentice Hall India.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372C9-EFDD-444C-9758-CB7239D96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63BD-94D7-48AF-A1CD-1F2179B0D9F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Previous discussed topics</a:t>
            </a:r>
            <a:r>
              <a:rPr lang="en-US" dirty="0"/>
              <a:t>: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Communication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Network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Point to Point Connection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Multipoint Connection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Now we will discuss</a:t>
            </a:r>
            <a:r>
              <a:rPr lang="en-US" dirty="0"/>
              <a:t>: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Categories of Network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Simplex, Half Duplex, Full Duplex Network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Topology : Bus, Star, Ring, Mesh, Hybrid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6D156-9462-4E50-9DEE-A2EAA551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63BD-94D7-48AF-A1CD-1F2179B0D9F2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u="none" dirty="0"/>
              <a:t>So, </a:t>
            </a:r>
            <a:r>
              <a:rPr lang="en-US" sz="3600" dirty="0"/>
              <a:t>How many Kinds of Network</a:t>
            </a:r>
            <a:r>
              <a:rPr lang="en-US" sz="3600" u="none" dirty="0"/>
              <a:t>??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385" y="1600200"/>
            <a:ext cx="4172414" cy="4648200"/>
          </a:xfrm>
        </p:spPr>
        <p:txBody>
          <a:bodyPr/>
          <a:lstStyle/>
          <a:p>
            <a:r>
              <a:rPr lang="en-US" sz="2000" dirty="0"/>
              <a:t>Based on </a:t>
            </a:r>
            <a:r>
              <a:rPr lang="en-US" sz="2000" dirty="0">
                <a:solidFill>
                  <a:srgbClr val="FF0000"/>
                </a:solidFill>
              </a:rPr>
              <a:t>Transmission Media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endParaRPr lang="en-US" sz="2000" dirty="0"/>
          </a:p>
          <a:p>
            <a:r>
              <a:rPr lang="en-US" sz="2000" dirty="0"/>
              <a:t>Based on </a:t>
            </a:r>
            <a:r>
              <a:rPr lang="en-US" sz="2000" dirty="0">
                <a:solidFill>
                  <a:srgbClr val="FF0000"/>
                </a:solidFill>
              </a:rPr>
              <a:t>Network Size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/>
              <a:t>Based on </a:t>
            </a:r>
            <a:r>
              <a:rPr lang="en-US" sz="2000" dirty="0">
                <a:solidFill>
                  <a:srgbClr val="FF0000"/>
                </a:solidFill>
              </a:rPr>
              <a:t>Management Method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/>
              <a:t>Based on </a:t>
            </a:r>
            <a:r>
              <a:rPr lang="en-US" sz="2000" dirty="0">
                <a:solidFill>
                  <a:srgbClr val="FF0000"/>
                </a:solidFill>
              </a:rPr>
              <a:t>topology (Connectivity)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/>
              <a:t>Based on </a:t>
            </a:r>
            <a:r>
              <a:rPr lang="en-US" sz="2000" dirty="0">
                <a:solidFill>
                  <a:srgbClr val="FF0000"/>
                </a:solidFill>
              </a:rPr>
              <a:t>Data Flow Direction</a:t>
            </a:r>
          </a:p>
          <a:p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799" y="1600200"/>
            <a:ext cx="4435476" cy="4648200"/>
          </a:xfrm>
        </p:spPr>
        <p:txBody>
          <a:bodyPr/>
          <a:lstStyle/>
          <a:p>
            <a:r>
              <a:rPr lang="en-US" sz="2000" dirty="0"/>
              <a:t>Wired (UTP, Coaxial, fiber optic) or Wireless (Air, Water)</a:t>
            </a:r>
          </a:p>
          <a:p>
            <a:endParaRPr lang="en-US" sz="2000" dirty="0"/>
          </a:p>
          <a:p>
            <a:r>
              <a:rPr lang="en-US" sz="2000" dirty="0"/>
              <a:t>LAN, MAN and WAN</a:t>
            </a:r>
          </a:p>
          <a:p>
            <a:endParaRPr lang="en-US" sz="2000" dirty="0"/>
          </a:p>
          <a:p>
            <a:r>
              <a:rPr lang="en-US" sz="2000" dirty="0"/>
              <a:t>Peer to Peer and Client Server</a:t>
            </a:r>
          </a:p>
          <a:p>
            <a:endParaRPr lang="en-US" sz="2000" dirty="0"/>
          </a:p>
          <a:p>
            <a:r>
              <a:rPr lang="en-US" sz="2000" dirty="0"/>
              <a:t>Bus, Star, Ring, Mesh, Hybrid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Simplex, Half Duplex, Full Duplex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1-</a:t>
            </a:r>
            <a:fld id="{8B090F91-3694-40B1-A8BA-0D20C3D65787}" type="slidenum">
              <a:rPr lang="en-US" altLang="zh-TW" smtClean="0"/>
              <a:pPr/>
              <a:t>4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942278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Based on </a:t>
            </a:r>
            <a:r>
              <a:rPr lang="en-US" sz="2800" dirty="0">
                <a:solidFill>
                  <a:srgbClr val="FF0000"/>
                </a:solidFill>
              </a:rPr>
              <a:t>Data Flow Direction</a:t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8780" y="1476375"/>
            <a:ext cx="4181708" cy="4772025"/>
          </a:xfrm>
        </p:spPr>
        <p:txBody>
          <a:bodyPr>
            <a:normAutofit lnSpcReduction="10000"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Simplex ( Always Unidirectional)</a:t>
            </a:r>
          </a:p>
          <a:p>
            <a:pPr algn="just"/>
            <a:r>
              <a:rPr lang="en-US" sz="1800" b="1" dirty="0"/>
              <a:t>One device permanent sender and other permanent receiver. </a:t>
            </a:r>
            <a:r>
              <a:rPr lang="en-US" sz="1800" dirty="0"/>
              <a:t>For example </a:t>
            </a:r>
            <a:r>
              <a:rPr lang="en-US" sz="1800" i="1" u="sng" dirty="0">
                <a:solidFill>
                  <a:srgbClr val="002060"/>
                </a:solidFill>
              </a:rPr>
              <a:t>Computer-Printer</a:t>
            </a:r>
            <a:r>
              <a:rPr lang="en-US" sz="1800" dirty="0">
                <a:solidFill>
                  <a:srgbClr val="002060"/>
                </a:solidFill>
              </a:rPr>
              <a:t>, </a:t>
            </a:r>
            <a:r>
              <a:rPr lang="en-US" sz="1800" i="1" u="sng" dirty="0">
                <a:solidFill>
                  <a:srgbClr val="002060"/>
                </a:solidFill>
              </a:rPr>
              <a:t>Computer-Speaker</a:t>
            </a:r>
          </a:p>
          <a:p>
            <a:r>
              <a:rPr lang="en-US" sz="2000" b="1" u="sng" dirty="0">
                <a:solidFill>
                  <a:srgbClr val="FF0000"/>
                </a:solidFill>
              </a:rPr>
              <a:t>Half Duplex ( Bidirectional but any particular time unidirectional)</a:t>
            </a:r>
          </a:p>
          <a:p>
            <a:pPr algn="just"/>
            <a:r>
              <a:rPr lang="en-US" sz="1800" b="1" dirty="0"/>
              <a:t>The role of devices may vary with respect to time [Both cannot be in same role at any time]. </a:t>
            </a:r>
            <a:r>
              <a:rPr lang="en-US" sz="1800" dirty="0"/>
              <a:t>For example </a:t>
            </a:r>
            <a:r>
              <a:rPr lang="en-US" sz="1800" i="1" u="sng" dirty="0">
                <a:solidFill>
                  <a:srgbClr val="002060"/>
                </a:solidFill>
              </a:rPr>
              <a:t>Walkie-Talkie</a:t>
            </a:r>
          </a:p>
          <a:p>
            <a:pPr algn="just"/>
            <a:r>
              <a:rPr lang="en-US" sz="2000" b="1" u="sng" dirty="0">
                <a:solidFill>
                  <a:srgbClr val="FF0000"/>
                </a:solidFill>
              </a:rPr>
              <a:t>Full Duplex or Duplex                        ( Bidirectional Always)</a:t>
            </a:r>
          </a:p>
          <a:p>
            <a:pPr algn="just"/>
            <a:r>
              <a:rPr lang="en-US" sz="2000" b="1" u="sng" dirty="0"/>
              <a:t>Both devices may or may not </a:t>
            </a:r>
            <a:r>
              <a:rPr lang="en-US" sz="1800" b="1" dirty="0"/>
              <a:t>be in the same role at any time. </a:t>
            </a:r>
            <a:r>
              <a:rPr lang="en-US" sz="1800" dirty="0"/>
              <a:t>For example </a:t>
            </a:r>
            <a:r>
              <a:rPr lang="en-US" sz="1800" i="1" u="sng" dirty="0">
                <a:solidFill>
                  <a:srgbClr val="002060"/>
                </a:solidFill>
              </a:rPr>
              <a:t>Telephone or Cellular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1-</a:t>
            </a:r>
            <a:fld id="{8B090F91-3694-40B1-A8BA-0D20C3D65787}" type="slidenum">
              <a:rPr lang="en-US" altLang="zh-TW" smtClean="0"/>
              <a:pPr/>
              <a:t>5</a:t>
            </a:fld>
            <a:endParaRPr lang="en-US" altLang="zh-TW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7576" y="1476375"/>
            <a:ext cx="4191000" cy="492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Based on </a:t>
            </a:r>
            <a:r>
              <a:rPr lang="en-US" sz="2800" dirty="0">
                <a:solidFill>
                  <a:srgbClr val="FF0000"/>
                </a:solidFill>
              </a:rPr>
              <a:t>Topology (Connectivity)</a:t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en-US" sz="2100" dirty="0"/>
              <a:t>A </a:t>
            </a:r>
            <a:r>
              <a:rPr lang="en-US" sz="2100" i="1" dirty="0"/>
              <a:t>topology </a:t>
            </a:r>
            <a:r>
              <a:rPr lang="en-US" sz="2100" dirty="0"/>
              <a:t>is a way of “laying out” the network. Topologies can be either physical or logical. </a:t>
            </a:r>
          </a:p>
          <a:p>
            <a:pPr>
              <a:lnSpc>
                <a:spcPct val="125000"/>
              </a:lnSpc>
            </a:pPr>
            <a:r>
              <a:rPr lang="en-US" sz="2100" i="1" dirty="0">
                <a:solidFill>
                  <a:srgbClr val="FF0000"/>
                </a:solidFill>
              </a:rPr>
              <a:t>Physical topologies </a:t>
            </a:r>
            <a:r>
              <a:rPr lang="en-US" sz="2100" dirty="0"/>
              <a:t>describe how the cables are run </a:t>
            </a:r>
            <a:r>
              <a:rPr lang="en-US" sz="2100" dirty="0">
                <a:solidFill>
                  <a:srgbClr val="0070C0"/>
                </a:solidFill>
              </a:rPr>
              <a:t>(Appearance)</a:t>
            </a:r>
          </a:p>
          <a:p>
            <a:pPr>
              <a:lnSpc>
                <a:spcPct val="125000"/>
              </a:lnSpc>
            </a:pPr>
            <a:r>
              <a:rPr lang="en-US" sz="2100" i="1" dirty="0">
                <a:solidFill>
                  <a:srgbClr val="FF0000"/>
                </a:solidFill>
              </a:rPr>
              <a:t>Logical topologies </a:t>
            </a:r>
            <a:r>
              <a:rPr lang="en-US" sz="2100" dirty="0"/>
              <a:t>describe how the network messages travel </a:t>
            </a:r>
            <a:r>
              <a:rPr lang="en-US" sz="2100" dirty="0">
                <a:solidFill>
                  <a:srgbClr val="0070C0"/>
                </a:solidFill>
              </a:rPr>
              <a:t>(Behavior)</a:t>
            </a:r>
          </a:p>
          <a:p>
            <a:endParaRPr lang="en-US" sz="2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i="1" dirty="0">
                <a:solidFill>
                  <a:srgbClr val="FF0000"/>
                </a:solidFill>
              </a:rPr>
              <a:t>Physical topologies </a:t>
            </a:r>
          </a:p>
          <a:p>
            <a:pPr lvl="1"/>
            <a:r>
              <a:rPr lang="en-US" sz="2000" dirty="0"/>
              <a:t>Bus</a:t>
            </a:r>
          </a:p>
          <a:p>
            <a:pPr lvl="1"/>
            <a:r>
              <a:rPr lang="en-US" sz="2000" dirty="0"/>
              <a:t>Star</a:t>
            </a:r>
          </a:p>
          <a:p>
            <a:pPr lvl="1"/>
            <a:r>
              <a:rPr lang="en-US" sz="2000" dirty="0"/>
              <a:t>Ring</a:t>
            </a:r>
          </a:p>
          <a:p>
            <a:pPr lvl="1"/>
            <a:r>
              <a:rPr lang="en-US" sz="2000" dirty="0"/>
              <a:t>Mesh </a:t>
            </a:r>
          </a:p>
          <a:p>
            <a:pPr lvl="1"/>
            <a:r>
              <a:rPr lang="en-US" sz="2000" dirty="0"/>
              <a:t>Hybrid</a:t>
            </a:r>
          </a:p>
          <a:p>
            <a:r>
              <a:rPr lang="en-US" sz="2400" i="1" dirty="0">
                <a:solidFill>
                  <a:srgbClr val="FF0000"/>
                </a:solidFill>
              </a:rPr>
              <a:t>Logical topologies </a:t>
            </a:r>
          </a:p>
          <a:p>
            <a:pPr lvl="1"/>
            <a:r>
              <a:rPr lang="en-US" sz="2000" dirty="0"/>
              <a:t>Bus- Ring</a:t>
            </a:r>
          </a:p>
          <a:p>
            <a:pPr lvl="1"/>
            <a:r>
              <a:rPr lang="en-US" sz="2000" dirty="0"/>
              <a:t>Star-Ring</a:t>
            </a:r>
          </a:p>
          <a:p>
            <a:pPr lvl="1"/>
            <a:r>
              <a:rPr lang="en-US" sz="2000" dirty="0"/>
              <a:t>Mesh-Ring</a:t>
            </a:r>
          </a:p>
          <a:p>
            <a:pPr>
              <a:buNone/>
            </a:pP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8B090F91-3694-40B1-A8BA-0D20C3D65787}" type="slidenum">
              <a:rPr lang="en-US" altLang="zh-TW" smtClean="0"/>
              <a:pPr/>
              <a:t>6</a:t>
            </a:fld>
            <a:endParaRPr lang="en-US" altLang="zh-TW"/>
          </a:p>
        </p:txBody>
      </p:sp>
      <p:sp>
        <p:nvSpPr>
          <p:cNvPr id="7" name="Rounded Rectangle 6"/>
          <p:cNvSpPr/>
          <p:nvPr/>
        </p:nvSpPr>
        <p:spPr bwMode="auto">
          <a:xfrm>
            <a:off x="685800" y="1524000"/>
            <a:ext cx="7092176" cy="396425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endParaRPr lang="en-US" sz="24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Bus (can be both logical and physical)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Star (physical only)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Ring (can be both logical and physical)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Mesh (can be both logical and physical)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853068"/>
          </a:xfrm>
        </p:spPr>
        <p:txBody>
          <a:bodyPr/>
          <a:lstStyle/>
          <a:p>
            <a:r>
              <a:rPr lang="en-US" dirty="0"/>
              <a:t>BUS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4176" y="1081668"/>
            <a:ext cx="4109224" cy="5166732"/>
          </a:xfrm>
        </p:spPr>
        <p:txBody>
          <a:bodyPr/>
          <a:lstStyle/>
          <a:p>
            <a:pPr algn="just"/>
            <a:r>
              <a:rPr lang="en-US" sz="1900" dirty="0"/>
              <a:t>A bus is the simplest physical topology. It consists of a </a:t>
            </a:r>
            <a:r>
              <a:rPr lang="en-US" sz="1900" dirty="0">
                <a:solidFill>
                  <a:srgbClr val="FF0000"/>
                </a:solidFill>
              </a:rPr>
              <a:t>single cable</a:t>
            </a:r>
            <a:r>
              <a:rPr lang="en-US" sz="1900" dirty="0"/>
              <a:t> that runs to every device.</a:t>
            </a:r>
          </a:p>
          <a:p>
            <a:pPr algn="just"/>
            <a:r>
              <a:rPr lang="en-US" sz="1900" dirty="0"/>
              <a:t>This topology uses the </a:t>
            </a:r>
            <a:r>
              <a:rPr lang="en-US" sz="1900" dirty="0">
                <a:solidFill>
                  <a:srgbClr val="FF0000"/>
                </a:solidFill>
              </a:rPr>
              <a:t>least amount of cabling</a:t>
            </a:r>
            <a:r>
              <a:rPr lang="en-US" sz="1900" dirty="0"/>
              <a:t>, but also covers the </a:t>
            </a:r>
            <a:r>
              <a:rPr lang="en-US" sz="1900" dirty="0">
                <a:solidFill>
                  <a:srgbClr val="FF0000"/>
                </a:solidFill>
              </a:rPr>
              <a:t>shortest amount of distance</a:t>
            </a:r>
            <a:r>
              <a:rPr lang="en-US" sz="1900" dirty="0"/>
              <a:t>. </a:t>
            </a:r>
          </a:p>
          <a:p>
            <a:pPr algn="just"/>
            <a:r>
              <a:rPr lang="en-US" sz="2000" dirty="0"/>
              <a:t>In a bus topology, signals are </a:t>
            </a:r>
            <a:r>
              <a:rPr lang="en-US" sz="2000" dirty="0">
                <a:solidFill>
                  <a:srgbClr val="FF0000"/>
                </a:solidFill>
              </a:rPr>
              <a:t>broadcast</a:t>
            </a:r>
            <a:r>
              <a:rPr lang="en-US" sz="2000" dirty="0"/>
              <a:t> to all stations</a:t>
            </a:r>
          </a:p>
          <a:p>
            <a:pPr algn="just"/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8B090F91-3694-40B1-A8BA-0D20C3D65787}" type="slidenum">
              <a:rPr lang="en-US" altLang="zh-TW" smtClean="0"/>
              <a:pPr/>
              <a:t>7</a:t>
            </a:fld>
            <a:endParaRPr lang="en-US" altLang="zh-TW"/>
          </a:p>
        </p:txBody>
      </p:sp>
      <p:pic>
        <p:nvPicPr>
          <p:cNvPr id="7" name="Content Placeholder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495799" y="1371600"/>
            <a:ext cx="4235605" cy="2224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5170" name="Picture 2" descr="http://www.novell.com/info/primer/art/prim10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5799" y="3824868"/>
            <a:ext cx="4235605" cy="2575931"/>
          </a:xfrm>
          <a:prstGeom prst="rect">
            <a:avLst/>
          </a:prstGeom>
          <a:noFill/>
        </p:spPr>
      </p:pic>
      <p:sp>
        <p:nvSpPr>
          <p:cNvPr id="8" name="Cloud Callout 7"/>
          <p:cNvSpPr/>
          <p:nvPr/>
        </p:nvSpPr>
        <p:spPr bwMode="auto">
          <a:xfrm>
            <a:off x="533400" y="1237785"/>
            <a:ext cx="3291468" cy="2090853"/>
          </a:xfrm>
          <a:prstGeom prst="cloudCallo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/>
              <a:t>When Signal is passed to all the station , it is termed as broadcast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533400" y="4248615"/>
            <a:ext cx="3492190" cy="173959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Then according</a:t>
            </a: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 to broadcast, the packet must be received and accessed by all ??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aseline="0" dirty="0">
              <a:solidFill>
                <a:schemeClr val="tx1"/>
              </a:solidFill>
              <a:latin typeface="Comic Sans MS" pitchFamily="66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itchFamily="66" charset="0"/>
              </a:rPr>
              <a:t>No, Why ??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omic Sans MS" pitchFamily="66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5040351" y="3481968"/>
            <a:ext cx="2955073" cy="3429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Multipoint Connection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853068"/>
          </a:xfrm>
        </p:spPr>
        <p:txBody>
          <a:bodyPr/>
          <a:lstStyle/>
          <a:p>
            <a:r>
              <a:rPr lang="en-US" dirty="0"/>
              <a:t>BUS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4176" y="1081668"/>
            <a:ext cx="4109224" cy="5166732"/>
          </a:xfrm>
        </p:spPr>
        <p:txBody>
          <a:bodyPr/>
          <a:lstStyle/>
          <a:p>
            <a:pPr algn="just"/>
            <a:r>
              <a:rPr lang="en-US" sz="1900" dirty="0"/>
              <a:t>Each computer </a:t>
            </a:r>
            <a:r>
              <a:rPr lang="en-US" sz="1900" dirty="0">
                <a:solidFill>
                  <a:srgbClr val="FF0000"/>
                </a:solidFill>
              </a:rPr>
              <a:t>checks</a:t>
            </a:r>
            <a:r>
              <a:rPr lang="en-US" sz="1900" dirty="0"/>
              <a:t> the address on the signal (data frame) as it passes along the bus. </a:t>
            </a:r>
          </a:p>
          <a:p>
            <a:pPr algn="just"/>
            <a:r>
              <a:rPr lang="en-US" sz="1900" dirty="0"/>
              <a:t>If the signal’s address </a:t>
            </a:r>
            <a:r>
              <a:rPr lang="en-US" sz="1900" dirty="0">
                <a:solidFill>
                  <a:srgbClr val="FF0000"/>
                </a:solidFill>
              </a:rPr>
              <a:t>matches</a:t>
            </a:r>
            <a:r>
              <a:rPr lang="en-US" sz="1900" dirty="0"/>
              <a:t> that of the computer, the computer accepts the signal. </a:t>
            </a:r>
          </a:p>
          <a:p>
            <a:pPr algn="just"/>
            <a:r>
              <a:rPr lang="en-US" sz="1900" dirty="0"/>
              <a:t>If the address </a:t>
            </a:r>
            <a:r>
              <a:rPr lang="en-US" sz="1900" dirty="0">
                <a:solidFill>
                  <a:srgbClr val="FF0000"/>
                </a:solidFill>
              </a:rPr>
              <a:t>doesn’t match</a:t>
            </a:r>
            <a:r>
              <a:rPr lang="en-US" sz="1900" dirty="0"/>
              <a:t>, the computer takes no action and the signal travels on down the bus.</a:t>
            </a:r>
          </a:p>
          <a:p>
            <a:pPr algn="just"/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8B090F91-3694-40B1-A8BA-0D20C3D65787}" type="slidenum">
              <a:rPr lang="en-US" altLang="zh-TW" smtClean="0"/>
              <a:pPr/>
              <a:t>8</a:t>
            </a:fld>
            <a:endParaRPr lang="en-US" altLang="zh-TW"/>
          </a:p>
        </p:txBody>
      </p:sp>
      <p:pic>
        <p:nvPicPr>
          <p:cNvPr id="7" name="Content Placeholder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495799" y="1371600"/>
            <a:ext cx="4235605" cy="2224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5170" name="Picture 2" descr="http://www.novell.com/info/primer/art/prim10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5799" y="3824868"/>
            <a:ext cx="4235605" cy="2575931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 bwMode="auto">
          <a:xfrm>
            <a:off x="5040351" y="3481968"/>
            <a:ext cx="2955073" cy="3429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Multipoint Connection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7990" y="1600200"/>
            <a:ext cx="4127810" cy="4648200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Advantages</a:t>
            </a:r>
          </a:p>
          <a:p>
            <a:r>
              <a:rPr lang="en-US" sz="2000" dirty="0"/>
              <a:t>Cheapest topology</a:t>
            </a:r>
          </a:p>
          <a:p>
            <a:r>
              <a:rPr lang="en-US" sz="2000" dirty="0"/>
              <a:t>Only 1 cable is associated with all devices.</a:t>
            </a:r>
          </a:p>
          <a:p>
            <a:r>
              <a:rPr lang="en-US" sz="2000" dirty="0"/>
              <a:t>Less complex network</a:t>
            </a:r>
          </a:p>
          <a:p>
            <a:pPr marL="342900" lvl="1" indent="-342900">
              <a:buSzPct val="85000"/>
              <a:buFont typeface="Wingdings" pitchFamily="2" charset="2"/>
              <a:buChar char="q"/>
            </a:pPr>
            <a:r>
              <a:rPr lang="en-US" sz="2000" dirty="0">
                <a:ea typeface="+mn-ea"/>
                <a:cs typeface="+mn-cs"/>
              </a:rPr>
              <a:t>Failure of one station does not affect others 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799" y="1600200"/>
            <a:ext cx="4057185" cy="4648200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Disadvantages</a:t>
            </a:r>
          </a:p>
          <a:p>
            <a:r>
              <a:rPr lang="en-US" sz="2000" dirty="0"/>
              <a:t>If main cable breaks, the whole system shuts.</a:t>
            </a:r>
          </a:p>
          <a:p>
            <a:pPr marL="342900" lvl="1" indent="-342900">
              <a:buSzPct val="85000"/>
              <a:buFont typeface="Wingdings" pitchFamily="2" charset="2"/>
              <a:buChar char="q"/>
            </a:pPr>
            <a:r>
              <a:rPr lang="en-US" sz="2000" dirty="0">
                <a:ea typeface="+mn-ea"/>
                <a:cs typeface="+mn-cs"/>
              </a:rPr>
              <a:t>Limited cable length and number of stations </a:t>
            </a:r>
          </a:p>
          <a:p>
            <a:r>
              <a:rPr lang="en-US" sz="2000" dirty="0"/>
              <a:t>Only one device can transmit (send) data (signal) at any time.</a:t>
            </a:r>
          </a:p>
          <a:p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8B090F91-3694-40B1-A8BA-0D20C3D65787}" type="slidenum">
              <a:rPr lang="en-US" altLang="zh-TW" smtClean="0"/>
              <a:pPr/>
              <a:t>9</a:t>
            </a:fld>
            <a:endParaRPr lang="en-US" altLang="zh-TW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853068"/>
          </a:xfrm>
        </p:spPr>
        <p:txBody>
          <a:bodyPr/>
          <a:lstStyle/>
          <a:p>
            <a:r>
              <a:rPr lang="en-US" dirty="0"/>
              <a:t>BUS Topology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7990" y="1293541"/>
            <a:ext cx="4127810" cy="5107259"/>
          </a:xfrm>
        </p:spPr>
        <p:txBody>
          <a:bodyPr/>
          <a:lstStyle/>
          <a:p>
            <a:pPr algn="just"/>
            <a:r>
              <a:rPr lang="en-US" sz="2000" dirty="0"/>
              <a:t>Each computer </a:t>
            </a:r>
            <a:r>
              <a:rPr lang="en-US" sz="2000" dirty="0">
                <a:solidFill>
                  <a:srgbClr val="FF0000"/>
                </a:solidFill>
              </a:rPr>
              <a:t>connects to two other computers</a:t>
            </a:r>
            <a:r>
              <a:rPr lang="en-US" sz="2000" dirty="0"/>
              <a:t>, joining them in a </a:t>
            </a:r>
            <a:r>
              <a:rPr lang="en-US" sz="2000" dirty="0">
                <a:solidFill>
                  <a:srgbClr val="FF0000"/>
                </a:solidFill>
              </a:rPr>
              <a:t>circle</a:t>
            </a:r>
            <a:r>
              <a:rPr lang="en-US" sz="2000" dirty="0"/>
              <a:t> creating a unidirectional path where </a:t>
            </a:r>
            <a:r>
              <a:rPr lang="en-US" sz="2000" dirty="0">
                <a:solidFill>
                  <a:srgbClr val="FF0000"/>
                </a:solidFill>
              </a:rPr>
              <a:t>messages move device to device</a:t>
            </a:r>
            <a:r>
              <a:rPr lang="en-US" sz="2000" dirty="0"/>
              <a:t>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Each entity participating in the ring reads a message, then regenerates it (serves as a </a:t>
            </a:r>
            <a:r>
              <a:rPr lang="en-US" sz="2000" dirty="0">
                <a:solidFill>
                  <a:srgbClr val="FF0000"/>
                </a:solidFill>
              </a:rPr>
              <a:t>repeater</a:t>
            </a:r>
            <a:r>
              <a:rPr lang="en-US" sz="2000" dirty="0"/>
              <a:t>) and hands it to its neighbor on a different network cable.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“n” cables required for “n” devices</a:t>
            </a:r>
          </a:p>
          <a:p>
            <a:pPr algn="just"/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8B090F91-3694-40B1-A8BA-0D20C3D65787}" type="slidenum">
              <a:rPr lang="en-US" altLang="zh-TW" smtClean="0"/>
              <a:pPr/>
              <a:t>10</a:t>
            </a:fld>
            <a:endParaRPr lang="en-US" altLang="zh-TW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853068"/>
          </a:xfrm>
        </p:spPr>
        <p:txBody>
          <a:bodyPr/>
          <a:lstStyle/>
          <a:p>
            <a:r>
              <a:rPr lang="en-US" dirty="0"/>
              <a:t>RING Topology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5040351" y="4950676"/>
            <a:ext cx="2955073" cy="3429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Point to Point Connection</a:t>
            </a:r>
          </a:p>
        </p:txBody>
      </p:sp>
      <p:pic>
        <p:nvPicPr>
          <p:cNvPr id="138242" name="Picture 2" descr="http://www.techiwarehouse.com/userfiles/RingTopology%5b1%5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36868" y="1346055"/>
            <a:ext cx="3568932" cy="360462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7990" y="1600200"/>
            <a:ext cx="4127810" cy="4648200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Advantages</a:t>
            </a:r>
          </a:p>
          <a:p>
            <a:pPr algn="just">
              <a:lnSpc>
                <a:spcPct val="125000"/>
              </a:lnSpc>
            </a:pPr>
            <a:r>
              <a:rPr lang="en-US" sz="2000" dirty="0"/>
              <a:t>Data is quickly transferred without a ‘bottle neck’. (very fast, all data traffic is in the same direction) </a:t>
            </a:r>
          </a:p>
          <a:p>
            <a:pPr algn="just">
              <a:lnSpc>
                <a:spcPct val="125000"/>
              </a:lnSpc>
            </a:pPr>
            <a:r>
              <a:rPr lang="en-US" sz="2000" dirty="0"/>
              <a:t>The transmission of data is relatively simple as packets travel in one direction only</a:t>
            </a:r>
          </a:p>
          <a:p>
            <a:pPr algn="just">
              <a:lnSpc>
                <a:spcPct val="125000"/>
              </a:lnSpc>
            </a:pPr>
            <a:r>
              <a:rPr lang="en-US" sz="2000" dirty="0"/>
              <a:t>Adding additional nodes has very little impact on bandwidth</a:t>
            </a:r>
          </a:p>
          <a:p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799" y="1600200"/>
            <a:ext cx="4057185" cy="4648200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Disadvantages</a:t>
            </a:r>
          </a:p>
          <a:p>
            <a:pPr algn="just"/>
            <a:r>
              <a:rPr lang="en-US" sz="2000" dirty="0"/>
              <a:t>Data packets must pass through every computer between the sender and recipient therefore this makes it slower. </a:t>
            </a:r>
          </a:p>
          <a:p>
            <a:pPr algn="just"/>
            <a:r>
              <a:rPr lang="en-US" sz="2000" dirty="0"/>
              <a:t>If any of the nodes fail then the ring is broken and data cannot be transmitted successfully.</a:t>
            </a:r>
          </a:p>
          <a:p>
            <a:pPr algn="just"/>
            <a:r>
              <a:rPr lang="en-US" sz="2000" dirty="0"/>
              <a:t>In order for all computers to communicate with each other, all computers must be turned 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8B090F91-3694-40B1-A8BA-0D20C3D65787}" type="slidenum">
              <a:rPr lang="en-US" altLang="zh-TW" smtClean="0"/>
              <a:pPr/>
              <a:t>11</a:t>
            </a:fld>
            <a:endParaRPr lang="en-US" altLang="zh-TW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853068"/>
          </a:xfrm>
        </p:spPr>
        <p:txBody>
          <a:bodyPr/>
          <a:lstStyle/>
          <a:p>
            <a:r>
              <a:rPr lang="en-US" dirty="0"/>
              <a:t>RING Topology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7990" y="1600200"/>
            <a:ext cx="4127810" cy="4800600"/>
          </a:xfrm>
        </p:spPr>
        <p:txBody>
          <a:bodyPr/>
          <a:lstStyle/>
          <a:p>
            <a:pPr algn="just"/>
            <a:r>
              <a:rPr lang="en-US" sz="2000" dirty="0"/>
              <a:t>All of the stations in a </a:t>
            </a:r>
            <a:r>
              <a:rPr lang="en-US" sz="2000" b="1" i="1" dirty="0">
                <a:solidFill>
                  <a:srgbClr val="FF0000"/>
                </a:solidFill>
              </a:rPr>
              <a:t>star topology</a:t>
            </a:r>
            <a:r>
              <a:rPr lang="en-US" sz="2000" dirty="0"/>
              <a:t> are connected to a </a:t>
            </a:r>
            <a:r>
              <a:rPr lang="en-US" sz="2000" dirty="0">
                <a:solidFill>
                  <a:srgbClr val="FF0000"/>
                </a:solidFill>
              </a:rPr>
              <a:t>central unit</a:t>
            </a:r>
            <a:r>
              <a:rPr lang="en-US" sz="2000" dirty="0"/>
              <a:t> called a </a:t>
            </a:r>
            <a:r>
              <a:rPr lang="en-US" sz="2000" b="1" i="1" dirty="0">
                <a:solidFill>
                  <a:srgbClr val="FF0000"/>
                </a:solidFill>
              </a:rPr>
              <a:t>hub.</a:t>
            </a:r>
          </a:p>
          <a:p>
            <a:pPr algn="just"/>
            <a:r>
              <a:rPr lang="en-US" sz="2000" dirty="0"/>
              <a:t>If a cable is cut, it only affects the </a:t>
            </a:r>
            <a:r>
              <a:rPr lang="en-US" sz="2000" dirty="0">
                <a:solidFill>
                  <a:srgbClr val="FF0000"/>
                </a:solidFill>
              </a:rPr>
              <a:t>computer that was attached to it</a:t>
            </a:r>
            <a:r>
              <a:rPr lang="en-US" sz="2000" dirty="0"/>
              <a:t>. This eliminates the </a:t>
            </a:r>
            <a:r>
              <a:rPr lang="en-US" sz="2000" u="sng" dirty="0">
                <a:solidFill>
                  <a:srgbClr val="FF0000"/>
                </a:solidFill>
              </a:rPr>
              <a:t>single point of failure</a:t>
            </a:r>
            <a:r>
              <a:rPr lang="en-US" sz="2000" dirty="0"/>
              <a:t> problem associated with the bus topology. (Unless, of course, the </a:t>
            </a:r>
            <a:r>
              <a:rPr lang="en-US" sz="2000" dirty="0">
                <a:solidFill>
                  <a:srgbClr val="FF0000"/>
                </a:solidFill>
              </a:rPr>
              <a:t>hub itself</a:t>
            </a:r>
            <a:r>
              <a:rPr lang="en-US" sz="2000" dirty="0"/>
              <a:t> goes down.)</a:t>
            </a:r>
          </a:p>
          <a:p>
            <a:pPr algn="just"/>
            <a:r>
              <a:rPr lang="en-US" sz="2000" dirty="0"/>
              <a:t>Star topologies are </a:t>
            </a:r>
            <a:r>
              <a:rPr lang="en-US" sz="2000" dirty="0">
                <a:solidFill>
                  <a:srgbClr val="FF0000"/>
                </a:solidFill>
              </a:rPr>
              <a:t>easy to install</a:t>
            </a:r>
            <a:r>
              <a:rPr lang="en-US" sz="2000" dirty="0"/>
              <a:t>. A cable is run from </a:t>
            </a:r>
            <a:r>
              <a:rPr lang="en-US" sz="2000" u="sng" dirty="0">
                <a:solidFill>
                  <a:srgbClr val="FF0000"/>
                </a:solidFill>
              </a:rPr>
              <a:t>each workstation to the hub</a:t>
            </a:r>
            <a:r>
              <a:rPr lang="en-US" sz="2000" dirty="0"/>
              <a:t>.</a:t>
            </a:r>
            <a:endParaRPr lang="en-US" sz="2000" b="1" i="1" dirty="0">
              <a:solidFill>
                <a:srgbClr val="FF0000"/>
              </a:solidFill>
            </a:endParaRPr>
          </a:p>
          <a:p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8B090F91-3694-40B1-A8BA-0D20C3D65787}" type="slidenum">
              <a:rPr lang="en-US" altLang="zh-TW" smtClean="0"/>
              <a:pPr/>
              <a:t>12</a:t>
            </a:fld>
            <a:endParaRPr lang="en-US" altLang="zh-TW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853068"/>
          </a:xfrm>
        </p:spPr>
        <p:txBody>
          <a:bodyPr/>
          <a:lstStyle/>
          <a:p>
            <a:r>
              <a:rPr lang="en-US" dirty="0"/>
              <a:t>STAR Topology</a:t>
            </a: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1600200"/>
            <a:ext cx="3657600" cy="2413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5" descr="net018.gif (1696 bytes)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4318535"/>
            <a:ext cx="365760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 bwMode="auto">
          <a:xfrm>
            <a:off x="5040351" y="4013734"/>
            <a:ext cx="2955073" cy="3429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Point to Point Connection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n-US" sz="2000" dirty="0"/>
              <a:t>Star topologies are normally implemented using </a:t>
            </a:r>
            <a:r>
              <a:rPr lang="en-US" sz="2000" dirty="0">
                <a:solidFill>
                  <a:srgbClr val="FF0000"/>
                </a:solidFill>
              </a:rPr>
              <a:t>twisted pair</a:t>
            </a:r>
            <a:r>
              <a:rPr lang="en-US" sz="2000" dirty="0"/>
              <a:t> cable, specifically unshielded twisted pair (UTP).</a:t>
            </a:r>
          </a:p>
          <a:p>
            <a:pPr algn="just"/>
            <a:r>
              <a:rPr lang="en-US" sz="2000" dirty="0"/>
              <a:t>Star topologies are </a:t>
            </a:r>
            <a:r>
              <a:rPr lang="en-US" sz="2000" dirty="0">
                <a:solidFill>
                  <a:srgbClr val="FF0000"/>
                </a:solidFill>
              </a:rPr>
              <a:t>more expensive</a:t>
            </a:r>
            <a:r>
              <a:rPr lang="en-US" sz="2000" dirty="0"/>
              <a:t> to install than bus networks, because there are several </a:t>
            </a:r>
            <a:r>
              <a:rPr lang="en-US" sz="2000" dirty="0">
                <a:solidFill>
                  <a:srgbClr val="FF0000"/>
                </a:solidFill>
              </a:rPr>
              <a:t>more cables</a:t>
            </a:r>
            <a:r>
              <a:rPr lang="en-US" sz="2000" dirty="0"/>
              <a:t> that need to be installed, plus the cost of the hubs that are needed.</a:t>
            </a:r>
          </a:p>
          <a:p>
            <a:pPr algn="just"/>
            <a:r>
              <a:rPr lang="en-US" sz="2000" u="sng" dirty="0">
                <a:solidFill>
                  <a:srgbClr val="0070C0"/>
                </a:solidFill>
              </a:rPr>
              <a:t>‘n’ cables are required for ‘n+1’ devices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799" y="1600200"/>
            <a:ext cx="4435475" cy="4648200"/>
          </a:xfrm>
        </p:spPr>
        <p:txBody>
          <a:bodyPr/>
          <a:lstStyle/>
          <a:p>
            <a:pPr eaLnBrk="1" hangingPunct="1"/>
            <a:r>
              <a:rPr lang="en-US" sz="2000" dirty="0">
                <a:solidFill>
                  <a:srgbClr val="0070C0"/>
                </a:solidFill>
              </a:rPr>
              <a:t>Advantages of star topology: </a:t>
            </a:r>
          </a:p>
          <a:p>
            <a:pPr lvl="1" eaLnBrk="1" hangingPunct="1"/>
            <a:r>
              <a:rPr lang="en-US" sz="2000" dirty="0">
                <a:ea typeface="+mn-ea"/>
                <a:cs typeface="+mn-cs"/>
              </a:rPr>
              <a:t>Easy to add new stations </a:t>
            </a:r>
          </a:p>
          <a:p>
            <a:pPr lvl="1" eaLnBrk="1" hangingPunct="1"/>
            <a:r>
              <a:rPr lang="en-US" sz="2000" dirty="0">
                <a:ea typeface="+mn-ea"/>
                <a:cs typeface="+mn-cs"/>
              </a:rPr>
              <a:t>Easy to monitor and troubleshoot </a:t>
            </a:r>
          </a:p>
          <a:p>
            <a:pPr lvl="1" eaLnBrk="1" hangingPunct="1"/>
            <a:r>
              <a:rPr lang="en-US" sz="2000" dirty="0">
                <a:ea typeface="+mn-ea"/>
                <a:cs typeface="+mn-cs"/>
              </a:rPr>
              <a:t>Failure of one station does not affect the whole system</a:t>
            </a:r>
          </a:p>
          <a:p>
            <a:pPr lvl="1" eaLnBrk="1" hangingPunct="1"/>
            <a:endParaRPr lang="en-US" sz="2000" dirty="0">
              <a:ea typeface="+mn-ea"/>
              <a:cs typeface="+mn-cs"/>
            </a:endParaRPr>
          </a:p>
          <a:p>
            <a:pPr marL="341313" lvl="1" eaLnBrk="1" hangingPunct="1">
              <a:buFont typeface="Wingdings" pitchFamily="2" charset="2"/>
              <a:buChar char="q"/>
            </a:pPr>
            <a:r>
              <a:rPr lang="en-US" sz="2000" dirty="0">
                <a:solidFill>
                  <a:srgbClr val="0070C0"/>
                </a:solidFill>
                <a:ea typeface="+mn-ea"/>
                <a:cs typeface="+mn-cs"/>
              </a:rPr>
              <a:t>Disadvantages of star topology: </a:t>
            </a:r>
          </a:p>
          <a:p>
            <a:pPr lvl="1" eaLnBrk="1" hangingPunct="1"/>
            <a:r>
              <a:rPr lang="en-US" sz="2000" dirty="0">
                <a:ea typeface="+mn-ea"/>
                <a:cs typeface="+mn-cs"/>
              </a:rPr>
              <a:t>Failure of hub cripples attached stations </a:t>
            </a:r>
          </a:p>
          <a:p>
            <a:pPr lvl="1" eaLnBrk="1" hangingPunct="1"/>
            <a:r>
              <a:rPr lang="en-US" sz="2000" dirty="0">
                <a:ea typeface="+mn-ea"/>
                <a:cs typeface="+mn-cs"/>
              </a:rPr>
              <a:t>More cable required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8B090F91-3694-40B1-A8BA-0D20C3D65787}" type="slidenum">
              <a:rPr lang="en-US" altLang="zh-TW" smtClean="0"/>
              <a:pPr/>
              <a:t>13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n-US" sz="2000" dirty="0">
                <a:solidFill>
                  <a:srgbClr val="FF0000"/>
                </a:solidFill>
              </a:rPr>
              <a:t>Simplest logical topology </a:t>
            </a:r>
            <a:r>
              <a:rPr lang="en-US" sz="2000" dirty="0"/>
              <a:t>in terms of data flow, but it is the </a:t>
            </a:r>
            <a:r>
              <a:rPr lang="en-US" sz="2000" dirty="0">
                <a:solidFill>
                  <a:srgbClr val="FF0000"/>
                </a:solidFill>
              </a:rPr>
              <a:t>most complex in terms of physical design</a:t>
            </a:r>
            <a:r>
              <a:rPr lang="en-US" sz="2000" dirty="0"/>
              <a:t>. </a:t>
            </a:r>
          </a:p>
          <a:p>
            <a:pPr algn="just"/>
            <a:r>
              <a:rPr lang="en-US" sz="2000" dirty="0"/>
              <a:t>In this physical topology, </a:t>
            </a:r>
            <a:r>
              <a:rPr lang="en-US" sz="2000" dirty="0">
                <a:solidFill>
                  <a:srgbClr val="FF0000"/>
                </a:solidFill>
              </a:rPr>
              <a:t>each device is connected to every other device </a:t>
            </a:r>
          </a:p>
          <a:p>
            <a:pPr algn="just"/>
            <a:r>
              <a:rPr lang="en-US" sz="2000" dirty="0"/>
              <a:t>Very rare topology</a:t>
            </a:r>
          </a:p>
          <a:p>
            <a:pPr algn="just"/>
            <a:r>
              <a:rPr lang="en-US" sz="2000" dirty="0"/>
              <a:t>For ‘n’ devices n(n-1)/2 cables required</a:t>
            </a:r>
          </a:p>
          <a:p>
            <a:pPr algn="just"/>
            <a:r>
              <a:rPr lang="en-US" sz="2000" dirty="0"/>
              <a:t>The only advantage is </a:t>
            </a:r>
            <a:r>
              <a:rPr lang="en-US" sz="2000" dirty="0">
                <a:solidFill>
                  <a:srgbClr val="FF0000"/>
                </a:solidFill>
              </a:rPr>
              <a:t>high fault tolerance.</a:t>
            </a:r>
          </a:p>
          <a:p>
            <a:pPr algn="just"/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8B090F91-3694-40B1-A8BA-0D20C3D65787}" type="slidenum">
              <a:rPr lang="en-US" altLang="zh-TW" smtClean="0"/>
              <a:pPr/>
              <a:t>14</a:t>
            </a:fld>
            <a:endParaRPr lang="en-US" altLang="zh-TW"/>
          </a:p>
        </p:txBody>
      </p:sp>
      <p:pic>
        <p:nvPicPr>
          <p:cNvPr id="4104" name="Picture 8" descr="Network Topology: 6 Network Topologies Explained [Including Diagrams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73626" y="1676400"/>
            <a:ext cx="3691340" cy="3886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7239000" cy="2590799"/>
          </a:xfrm>
        </p:spPr>
        <p:txBody>
          <a:bodyPr>
            <a:noAutofit/>
          </a:bodyPr>
          <a:lstStyle/>
          <a:p>
            <a:r>
              <a:rPr lang="en-US" sz="3200" b="1" dirty="0"/>
              <a:t>Thank You</a:t>
            </a:r>
          </a:p>
          <a:p>
            <a:r>
              <a:rPr lang="en-US" sz="3200" b="1" dirty="0"/>
              <a:t>Discussion &amp; Doubt session will be in lecture.</a:t>
            </a:r>
          </a:p>
          <a:p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8600" y="4419600"/>
            <a:ext cx="4724400" cy="16764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Important terms to keep in mind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Categories of Network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Simplex, Half Duplex and Duplex network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/>
              <a:t>Bus, Ring, Star, Mesh topology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3EF32-15DA-4EE5-9F6D-EE65C2725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C63BD-94D7-48AF-A1CD-1F2179B0D9F2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1073</Words>
  <Application>Microsoft Office PowerPoint</Application>
  <PresentationFormat>On-screen Show (4:3)</PresentationFormat>
  <Paragraphs>150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Comic Sans MS</vt:lpstr>
      <vt:lpstr>Times New Roman</vt:lpstr>
      <vt:lpstr>Wingdings</vt:lpstr>
      <vt:lpstr>Office Theme</vt:lpstr>
      <vt:lpstr>COMPUTER NETWORKS (BCSC 0008)</vt:lpstr>
      <vt:lpstr> Text and Reference Books </vt:lpstr>
      <vt:lpstr>PowerPoint Presentation</vt:lpstr>
      <vt:lpstr>So, How many Kinds of Network??</vt:lpstr>
      <vt:lpstr>Based on Data Flow Direction </vt:lpstr>
      <vt:lpstr>Based on Topology (Connectivity) </vt:lpstr>
      <vt:lpstr>BUS Topology</vt:lpstr>
      <vt:lpstr>BUS Topology</vt:lpstr>
      <vt:lpstr>BUS Topology</vt:lpstr>
      <vt:lpstr>RING Topology</vt:lpstr>
      <vt:lpstr>RING Topology</vt:lpstr>
      <vt:lpstr>STAR Topology</vt:lpstr>
      <vt:lpstr>STAR Topology</vt:lpstr>
      <vt:lpstr>MESH Topology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(BCSC 0008)</dc:title>
  <dc:creator>Windows User</dc:creator>
  <cp:lastModifiedBy>Mili Dhar</cp:lastModifiedBy>
  <cp:revision>16</cp:revision>
  <dcterms:created xsi:type="dcterms:W3CDTF">2020-06-29T04:30:20Z</dcterms:created>
  <dcterms:modified xsi:type="dcterms:W3CDTF">2022-09-08T07:20:00Z</dcterms:modified>
</cp:coreProperties>
</file>