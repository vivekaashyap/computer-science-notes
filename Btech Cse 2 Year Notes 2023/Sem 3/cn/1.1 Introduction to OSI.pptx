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76" r:id="rId14"/>
    <p:sldId id="269" r:id="rId15"/>
    <p:sldId id="277" r:id="rId16"/>
    <p:sldId id="270" r:id="rId17"/>
    <p:sldId id="271" r:id="rId18"/>
    <p:sldId id="272" r:id="rId19"/>
    <p:sldId id="273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B12C8-452A-4163-A8A4-5BF0956B1B79}" type="datetimeFigureOut">
              <a:rPr lang="en-US" smtClean="0"/>
              <a:pPr/>
              <a:t>9/6/2022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D551-F0DA-4E48-906A-5A9B957520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77C99E-7C4D-4694-9839-C2E44028980C}" type="slidenum">
              <a:rPr lang="en-US">
                <a:cs typeface="Arial" charset="0"/>
              </a:rPr>
              <a:pPr/>
              <a:t>3</a:t>
            </a:fld>
            <a:endParaRPr lang="en-US">
              <a:cs typeface="Arial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8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83FD77-F14C-4038-B09A-CBF2EBD177B8}" type="slidenum">
              <a:rPr lang="en-US">
                <a:cs typeface="Arial" charset="0"/>
              </a:rPr>
              <a:pPr/>
              <a:t>6</a:t>
            </a:fld>
            <a:endParaRPr lang="en-US">
              <a:cs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44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1817B7-9EB0-447F-846A-8D79396D162E}" type="slidenum">
              <a:rPr lang="en-US">
                <a:cs typeface="Arial" charset="0"/>
              </a:rPr>
              <a:pPr/>
              <a:t>10</a:t>
            </a:fld>
            <a:endParaRPr lang="en-US">
              <a:cs typeface="Arial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53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867B44-B107-4CC5-9500-B275207D911E}" type="slidenum">
              <a:rPr lang="en-US">
                <a:cs typeface="Arial" charset="0"/>
              </a:rPr>
              <a:pPr/>
              <a:t>11</a:t>
            </a:fld>
            <a:endParaRPr lang="en-US">
              <a:cs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02732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AAF8FF-5DC2-4AD6-96F0-9128A8061F6B}" type="slidenum">
              <a:rPr lang="en-US">
                <a:cs typeface="Arial" charset="0"/>
              </a:rPr>
              <a:pPr/>
              <a:t>12</a:t>
            </a:fld>
            <a:endParaRPr lang="en-US">
              <a:cs typeface="Arial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71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109D89-9D9D-4273-8ED1-164B13689E01}" type="slidenum">
              <a:rPr lang="en-US"/>
              <a:pPr/>
              <a:t>13</a:t>
            </a:fld>
            <a:endParaRPr lang="en-US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57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6CA965-AD0B-4DD0-89DF-92DEA37761A0}" type="slidenum">
              <a:rPr lang="en-US">
                <a:cs typeface="Arial" charset="0"/>
              </a:rPr>
              <a:pPr/>
              <a:t>14</a:t>
            </a:fld>
            <a:endParaRPr lang="en-US">
              <a:cs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51919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D3C529-D2C5-41D6-889F-0C1AADD083FA}" type="slidenum">
              <a:rPr lang="en-US"/>
              <a:pPr/>
              <a:t>15</a:t>
            </a:fld>
            <a:endParaRPr lang="en-US"/>
          </a:p>
        </p:txBody>
      </p:sp>
      <p:sp>
        <p:nvSpPr>
          <p:cNvPr id="70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51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4A0DFF-AF88-47D7-8F4A-ACA33B299D4B}" type="slidenum">
              <a:rPr lang="en-US">
                <a:cs typeface="Arial" charset="0"/>
              </a:rPr>
              <a:pPr/>
              <a:t>16</a:t>
            </a:fld>
            <a:endParaRPr lang="en-US"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53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3165DD-6FBF-491B-AF3B-0A235FE1AFFA}" type="slidenum">
              <a:rPr lang="en-US">
                <a:cs typeface="Arial" charset="0"/>
              </a:rPr>
              <a:pPr/>
              <a:t>17</a:t>
            </a:fld>
            <a:endParaRPr lang="en-US">
              <a:cs typeface="Arial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3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801AB9-3E0E-439D-8E96-64397E4B53E8}" type="slidenum">
              <a:rPr lang="en-US">
                <a:cs typeface="Arial" charset="0"/>
              </a:rPr>
              <a:pPr/>
              <a:t>18</a:t>
            </a:fld>
            <a:endParaRPr lang="en-US">
              <a:cs typeface="Arial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70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409DE4-CE5B-4BB5-8644-8545E2E25BE8}" type="slidenum">
              <a:rPr lang="en-US" smtClean="0">
                <a:latin typeface="Times New Roman" charset="0"/>
              </a:rPr>
              <a:pPr/>
              <a:t>19</a:t>
            </a:fld>
            <a:endParaRPr lang="en-US">
              <a:latin typeface="Times New Roman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17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15B6D-62E9-4235-AAB1-F799B16EBA71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1E0B-0F7C-4053-8AA3-1F527744A2B8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19F55-25A1-4708-9C60-46D3E0562874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F527-B2B3-4833-9081-3A36883CA0A5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42D08-BE46-427F-A87C-33A8415863C6}" type="datetime1">
              <a:rPr lang="en-US" smtClean="0"/>
              <a:t>9/6/2022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A0ED-1632-455A-973A-F99B57F89413}" type="datetime1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0ECA2-0C0A-44BD-B04E-CBF30F3A0878}" type="datetime1">
              <a:rPr lang="en-US" smtClean="0"/>
              <a:t>9/6/2022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868D4-89FE-407D-89AF-EDE1C0443940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DE3C-C179-4A71-9EC3-6FF50D110140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930A0-2215-492D-B5DA-1B71568BB6F4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9A5C-7DA0-4F4D-BAC5-730109A91B52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0"/>
            <a:ext cx="5638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239838"/>
            <a:ext cx="4343400" cy="4086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239838"/>
            <a:ext cx="4343400" cy="4086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3E7BA7-F2B6-4BB2-99E3-78E490CCB37B}" type="slidenum">
              <a:rPr lang="en-US"/>
              <a:pPr>
                <a:defRPr/>
              </a:pPr>
              <a:t>‹#›</a:t>
            </a:fld>
            <a:endParaRPr lang="en-US" sz="1400">
              <a:latin typeface="Times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B53F3-977D-417A-9ACF-F4F9CB995437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2CA80-6CC6-41B6-AF29-F9143CD723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components in N/W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6134" y="1600200"/>
            <a:ext cx="4523873" cy="46482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</a:rPr>
              <a:t>Previously discussed components are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Sender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Receiver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Message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Medium</a:t>
            </a:r>
          </a:p>
          <a:p>
            <a:pPr lvl="1"/>
            <a:r>
              <a:rPr lang="en-US" sz="1600">
                <a:solidFill>
                  <a:srgbClr val="FF0000"/>
                </a:solidFill>
              </a:rPr>
              <a:t>Protocol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2</a:t>
            </a:fld>
            <a:endParaRPr lang="en-US" altLang="zh-TW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7985" y="2481423"/>
            <a:ext cx="5714414" cy="147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4080B-E9C3-4A9B-816B-AF625B93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9F9F013-574F-45C9-BA2F-8B7FE16861D8}" type="slidenum">
              <a:rPr lang="en-US"/>
              <a:pPr/>
              <a:t>3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58397" name="Rectangle 29"/>
          <p:cNvSpPr>
            <a:spLocks noChangeArrowheads="1"/>
          </p:cNvSpPr>
          <p:nvPr/>
        </p:nvSpPr>
        <p:spPr bwMode="auto">
          <a:xfrm>
            <a:off x="4375150" y="3295650"/>
            <a:ext cx="1497013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Network Models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4343400" cy="50927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Network models use </a:t>
            </a:r>
            <a:r>
              <a:rPr lang="en-US" sz="2000" b="1" dirty="0"/>
              <a:t>layers</a:t>
            </a:r>
            <a:r>
              <a:rPr lang="en-US" sz="2000" dirty="0"/>
              <a:t> to describe networks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Each layer describes the </a:t>
            </a:r>
            <a:r>
              <a:rPr lang="en-US" sz="2000" b="1" dirty="0"/>
              <a:t>services</a:t>
            </a:r>
            <a:r>
              <a:rPr lang="en-US" sz="2000" dirty="0"/>
              <a:t> provided to the layer above it and those required from the layer below it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It also describes the format of exchanges between </a:t>
            </a:r>
            <a:r>
              <a:rPr lang="en-US" sz="2000" b="1" dirty="0"/>
              <a:t>peer</a:t>
            </a:r>
            <a:r>
              <a:rPr lang="en-US" sz="2000" dirty="0"/>
              <a:t> layers on different network hosts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Because the layers “</a:t>
            </a:r>
            <a:r>
              <a:rPr lang="en-US" sz="2000" b="1" dirty="0"/>
              <a:t>stack</a:t>
            </a:r>
            <a:r>
              <a:rPr lang="en-US" sz="2000" dirty="0"/>
              <a:t>” on top of one another, we often refer to network protocol “stacks” when we talk about the implementation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4375150" y="5073650"/>
            <a:ext cx="1497013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4375150" y="1550988"/>
            <a:ext cx="1497013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Rectangle 14"/>
          <p:cNvSpPr>
            <a:spLocks noChangeArrowheads="1"/>
          </p:cNvSpPr>
          <p:nvPr/>
        </p:nvSpPr>
        <p:spPr bwMode="auto">
          <a:xfrm>
            <a:off x="7105650" y="5073650"/>
            <a:ext cx="1497013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Rectangle 15"/>
          <p:cNvSpPr>
            <a:spLocks noChangeArrowheads="1"/>
          </p:cNvSpPr>
          <p:nvPr/>
        </p:nvSpPr>
        <p:spPr bwMode="auto">
          <a:xfrm>
            <a:off x="7105650" y="3294063"/>
            <a:ext cx="1497013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Rectangle 16"/>
          <p:cNvSpPr>
            <a:spLocks noChangeArrowheads="1"/>
          </p:cNvSpPr>
          <p:nvPr/>
        </p:nvSpPr>
        <p:spPr bwMode="auto">
          <a:xfrm>
            <a:off x="7105650" y="1550988"/>
            <a:ext cx="1497013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5" name="AutoShape 17"/>
          <p:cNvSpPr>
            <a:spLocks noChangeArrowheads="1"/>
          </p:cNvSpPr>
          <p:nvPr/>
        </p:nvSpPr>
        <p:spPr bwMode="auto">
          <a:xfrm>
            <a:off x="4735513" y="2546350"/>
            <a:ext cx="777875" cy="528638"/>
          </a:xfrm>
          <a:prstGeom prst="upArrow">
            <a:avLst>
              <a:gd name="adj1" fmla="val 52657"/>
              <a:gd name="adj2" fmla="val 54569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386" name="AutoShape 18"/>
          <p:cNvSpPr>
            <a:spLocks noChangeArrowheads="1"/>
          </p:cNvSpPr>
          <p:nvPr/>
        </p:nvSpPr>
        <p:spPr bwMode="auto">
          <a:xfrm>
            <a:off x="4735513" y="4479925"/>
            <a:ext cx="777875" cy="528638"/>
          </a:xfrm>
          <a:prstGeom prst="upArrow">
            <a:avLst>
              <a:gd name="adj1" fmla="val 52657"/>
              <a:gd name="adj2" fmla="val 545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8445" name="Text Box 19"/>
          <p:cNvSpPr txBox="1">
            <a:spLocks noChangeArrowheads="1"/>
          </p:cNvSpPr>
          <p:nvPr/>
        </p:nvSpPr>
        <p:spPr bwMode="auto">
          <a:xfrm>
            <a:off x="4329113" y="3365500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</a:t>
            </a:r>
          </a:p>
        </p:txBody>
      </p:sp>
      <p:sp>
        <p:nvSpPr>
          <p:cNvPr id="18446" name="Text Box 20"/>
          <p:cNvSpPr txBox="1">
            <a:spLocks noChangeArrowheads="1"/>
          </p:cNvSpPr>
          <p:nvPr/>
        </p:nvSpPr>
        <p:spPr bwMode="auto">
          <a:xfrm>
            <a:off x="4330700" y="1622425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N+1</a:t>
            </a:r>
          </a:p>
        </p:txBody>
      </p:sp>
      <p:sp>
        <p:nvSpPr>
          <p:cNvPr id="18447" name="Text Box 21"/>
          <p:cNvSpPr txBox="1">
            <a:spLocks noChangeArrowheads="1"/>
          </p:cNvSpPr>
          <p:nvPr/>
        </p:nvSpPr>
        <p:spPr bwMode="auto">
          <a:xfrm>
            <a:off x="4330700" y="5146675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N-1</a:t>
            </a:r>
          </a:p>
        </p:txBody>
      </p:sp>
      <p:sp>
        <p:nvSpPr>
          <p:cNvPr id="18448" name="Text Box 22"/>
          <p:cNvSpPr txBox="1">
            <a:spLocks noChangeArrowheads="1"/>
          </p:cNvSpPr>
          <p:nvPr/>
        </p:nvSpPr>
        <p:spPr bwMode="auto">
          <a:xfrm>
            <a:off x="7061200" y="1624013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N+1</a:t>
            </a:r>
          </a:p>
        </p:txBody>
      </p:sp>
      <p:sp>
        <p:nvSpPr>
          <p:cNvPr id="18449" name="Text Box 23"/>
          <p:cNvSpPr txBox="1">
            <a:spLocks noChangeArrowheads="1"/>
          </p:cNvSpPr>
          <p:nvPr/>
        </p:nvSpPr>
        <p:spPr bwMode="auto">
          <a:xfrm>
            <a:off x="7061200" y="3365500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</a:t>
            </a:r>
          </a:p>
        </p:txBody>
      </p:sp>
      <p:sp>
        <p:nvSpPr>
          <p:cNvPr id="18450" name="Text Box 24"/>
          <p:cNvSpPr txBox="1">
            <a:spLocks noChangeArrowheads="1"/>
          </p:cNvSpPr>
          <p:nvPr/>
        </p:nvSpPr>
        <p:spPr bwMode="auto">
          <a:xfrm>
            <a:off x="7059613" y="5146675"/>
            <a:ext cx="1587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Layer N-1</a:t>
            </a:r>
          </a:p>
        </p:txBody>
      </p:sp>
      <p:sp>
        <p:nvSpPr>
          <p:cNvPr id="58393" name="AutoShape 25"/>
          <p:cNvSpPr>
            <a:spLocks noChangeArrowheads="1"/>
          </p:cNvSpPr>
          <p:nvPr/>
        </p:nvSpPr>
        <p:spPr bwMode="auto">
          <a:xfrm>
            <a:off x="6083300" y="3359150"/>
            <a:ext cx="695325" cy="355600"/>
          </a:xfrm>
          <a:prstGeom prst="leftRightArrow">
            <a:avLst>
              <a:gd name="adj1" fmla="val 50000"/>
              <a:gd name="adj2" fmla="val 391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Text Box 26"/>
          <p:cNvSpPr txBox="1">
            <a:spLocks noChangeArrowheads="1"/>
          </p:cNvSpPr>
          <p:nvPr/>
        </p:nvSpPr>
        <p:spPr bwMode="auto">
          <a:xfrm>
            <a:off x="5462588" y="2332038"/>
            <a:ext cx="1211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Provides</a:t>
            </a:r>
          </a:p>
        </p:txBody>
      </p:sp>
      <p:sp>
        <p:nvSpPr>
          <p:cNvPr id="58395" name="Text Box 27"/>
          <p:cNvSpPr txBox="1">
            <a:spLocks noChangeArrowheads="1"/>
          </p:cNvSpPr>
          <p:nvPr/>
        </p:nvSpPr>
        <p:spPr bwMode="auto">
          <a:xfrm>
            <a:off x="5462588" y="4445000"/>
            <a:ext cx="10080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Requires</a:t>
            </a:r>
          </a:p>
        </p:txBody>
      </p:sp>
      <p:sp>
        <p:nvSpPr>
          <p:cNvPr id="58396" name="Text Box 28"/>
          <p:cNvSpPr txBox="1">
            <a:spLocks noChangeArrowheads="1"/>
          </p:cNvSpPr>
          <p:nvPr/>
        </p:nvSpPr>
        <p:spPr bwMode="auto">
          <a:xfrm>
            <a:off x="6022975" y="2960688"/>
            <a:ext cx="14747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Exchanges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341194" y="5023842"/>
            <a:ext cx="3780430" cy="17113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2000" b="1" kern="0" dirty="0">
                <a:solidFill>
                  <a:schemeClr val="tx1"/>
                </a:solidFill>
              </a:rPr>
              <a:t>Building complex systems is hard!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b="1" kern="0" dirty="0">
                <a:solidFill>
                  <a:schemeClr val="tx1"/>
                </a:solidFill>
              </a:rPr>
              <a:t>Approach: “Divide and conquer”.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b="1" kern="0" dirty="0">
                <a:solidFill>
                  <a:schemeClr val="tx1"/>
                </a:solidFill>
              </a:rPr>
              <a:t>Split job into smaller jobs, or layers.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4329113" y="5827594"/>
            <a:ext cx="4273550" cy="90757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1" kern="0" dirty="0">
                <a:solidFill>
                  <a:schemeClr val="tx1"/>
                </a:solidFill>
              </a:rPr>
              <a:t>Each step dependent on the previous step but does not need to be aware of how the previous step was done.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58397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58397"/>
                                        </p:tgtEl>
                                      </p:cBhvr>
                                      <p:by x="12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64" presetClass="pat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-0.05162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583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64" presetClass="pat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3.33333E-6 -0.0551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repeatCount="3000" autoRev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7.40741E-7 L 0.03264 -7.40741E-7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58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7" grpId="0" animBg="1"/>
      <p:bldP spid="58397" grpId="1" animBg="1"/>
      <p:bldP spid="58385" grpId="0" animBg="1"/>
      <p:bldP spid="58385" grpId="1" animBg="1"/>
      <p:bldP spid="58386" grpId="0" animBg="1"/>
      <p:bldP spid="58386" grpId="1" animBg="1"/>
      <p:bldP spid="58393" grpId="0" animBg="1"/>
      <p:bldP spid="58393" grpId="1" animBg="1"/>
      <p:bldP spid="58394" grpId="0"/>
      <p:bldP spid="58395" grpId="0"/>
      <p:bldP spid="58396" grpId="0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3E7BA7-F2B6-4BB2-99E3-78E490CCB37B}" type="slidenum">
              <a:rPr lang="en-US" smtClean="0"/>
              <a:pPr>
                <a:defRPr/>
              </a:pPr>
              <a:t>4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381000"/>
            <a:ext cx="9144000" cy="744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 anchor="ctr"/>
          <a:lstStyle/>
          <a:p>
            <a:pPr algn="ctr"/>
            <a:r>
              <a:rPr lang="en-US" altLang="en-US" sz="4000" b="1" i="1" dirty="0">
                <a:solidFill>
                  <a:srgbClr val="002060"/>
                </a:solidFill>
                <a:latin typeface="Helvetica" charset="0"/>
              </a:rPr>
              <a:t>Analogy: Air Travel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800100" y="1304925"/>
            <a:ext cx="7772400" cy="542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00000"/>
              <a:buFontTx/>
              <a:buChar char="•"/>
            </a:pPr>
            <a:r>
              <a:rPr lang="en-US" altLang="en-US" sz="2800" i="1" dirty="0">
                <a:latin typeface="Helvetica" charset="0"/>
              </a:rPr>
              <a:t>The problem: air travel.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00000"/>
              <a:buFontTx/>
              <a:buChar char="•"/>
            </a:pPr>
            <a:r>
              <a:rPr lang="en-US" altLang="en-US" sz="2800" i="1" dirty="0">
                <a:latin typeface="Helvetica" charset="0"/>
              </a:rPr>
              <a:t>Decomposed into series of steps: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298575" y="2535238"/>
            <a:ext cx="2246313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>
                <a:latin typeface="Comic Sans MS" pitchFamily="66" charset="0"/>
              </a:rPr>
              <a:t>Arrival at airport</a:t>
            </a:r>
          </a:p>
          <a:p>
            <a:endParaRPr lang="en-US" altLang="en-US" sz="2000">
              <a:latin typeface="Comic Sans MS" pitchFamily="66" charset="0"/>
            </a:endParaRPr>
          </a:p>
          <a:p>
            <a:r>
              <a:rPr lang="en-US" altLang="en-US" sz="2000">
                <a:latin typeface="Comic Sans MS" pitchFamily="66" charset="0"/>
              </a:rPr>
              <a:t>Check-in</a:t>
            </a:r>
          </a:p>
          <a:p>
            <a:endParaRPr lang="en-US" altLang="en-US" sz="2000">
              <a:latin typeface="Comic Sans MS" pitchFamily="66" charset="0"/>
            </a:endParaRPr>
          </a:p>
          <a:p>
            <a:r>
              <a:rPr lang="en-US" altLang="en-US" sz="2000">
                <a:latin typeface="Comic Sans MS" pitchFamily="66" charset="0"/>
              </a:rPr>
              <a:t>Boarding</a:t>
            </a:r>
          </a:p>
          <a:p>
            <a:endParaRPr lang="en-US" altLang="en-US" sz="2000">
              <a:latin typeface="Comic Sans MS" pitchFamily="66" charset="0"/>
            </a:endParaRPr>
          </a:p>
          <a:p>
            <a:r>
              <a:rPr lang="en-US" altLang="en-US" sz="2000">
                <a:latin typeface="Comic Sans MS" pitchFamily="66" charset="0"/>
              </a:rPr>
              <a:t>Takeoff</a:t>
            </a:r>
          </a:p>
          <a:p>
            <a:endParaRPr lang="en-US" altLang="en-US" sz="2000">
              <a:latin typeface="Comic Sans MS" pitchFamily="66" charset="0"/>
            </a:endParaRPr>
          </a:p>
          <a:p>
            <a:endParaRPr lang="en-US" altLang="en-US" sz="2000">
              <a:latin typeface="Comic Sans MS" pitchFamily="66" charset="0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102225" y="2525713"/>
            <a:ext cx="3398687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Comic Sans MS" pitchFamily="66" charset="0"/>
              </a:rPr>
              <a:t>Departure from airport</a:t>
            </a:r>
          </a:p>
          <a:p>
            <a:endParaRPr lang="en-US" altLang="en-US" sz="2000" dirty="0">
              <a:latin typeface="Comic Sans MS" pitchFamily="66" charset="0"/>
            </a:endParaRPr>
          </a:p>
          <a:p>
            <a:r>
              <a:rPr lang="en-US" altLang="en-US" sz="2000" dirty="0">
                <a:latin typeface="Comic Sans MS" pitchFamily="66" charset="0"/>
              </a:rPr>
              <a:t>Baggage claim (check out)</a:t>
            </a:r>
          </a:p>
          <a:p>
            <a:endParaRPr lang="en-US" altLang="en-US" sz="2000" dirty="0">
              <a:latin typeface="Comic Sans MS" pitchFamily="66" charset="0"/>
            </a:endParaRPr>
          </a:p>
          <a:p>
            <a:r>
              <a:rPr lang="en-US" altLang="en-US" sz="2000" dirty="0">
                <a:latin typeface="Comic Sans MS" pitchFamily="66" charset="0"/>
              </a:rPr>
              <a:t>Deplane</a:t>
            </a:r>
          </a:p>
          <a:p>
            <a:endParaRPr lang="en-US" altLang="en-US" sz="2000" dirty="0">
              <a:latin typeface="Comic Sans MS" pitchFamily="66" charset="0"/>
            </a:endParaRPr>
          </a:p>
          <a:p>
            <a:r>
              <a:rPr lang="en-US" altLang="en-US" sz="2000" dirty="0">
                <a:latin typeface="Comic Sans MS" pitchFamily="66" charset="0"/>
              </a:rPr>
              <a:t>Landing</a:t>
            </a:r>
          </a:p>
          <a:p>
            <a:endParaRPr lang="en-US" altLang="en-US" sz="2000" dirty="0">
              <a:latin typeface="Comic Sans MS" pitchFamily="66" charset="0"/>
            </a:endParaRPr>
          </a:p>
          <a:p>
            <a:endParaRPr lang="en-US" altLang="en-US" sz="2000" dirty="0">
              <a:latin typeface="Comic Sans MS" pitchFamily="66" charset="0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3248025" y="5715000"/>
            <a:ext cx="1358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>
                <a:latin typeface="Comic Sans MS" pitchFamily="66" charset="0"/>
              </a:rPr>
              <a:t>Traveling </a:t>
            </a:r>
          </a:p>
        </p:txBody>
      </p:sp>
      <p:sp>
        <p:nvSpPr>
          <p:cNvPr id="19" name="Freeform 7"/>
          <p:cNvSpPr>
            <a:spLocks/>
          </p:cNvSpPr>
          <p:nvPr/>
        </p:nvSpPr>
        <p:spPr bwMode="auto">
          <a:xfrm>
            <a:off x="1066800" y="2971800"/>
            <a:ext cx="6508750" cy="3289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" y="1736"/>
              </a:cxn>
              <a:cxn ang="0">
                <a:pos x="804" y="2064"/>
              </a:cxn>
              <a:cxn ang="0">
                <a:pos x="3468" y="2072"/>
              </a:cxn>
              <a:cxn ang="0">
                <a:pos x="4100" y="1736"/>
              </a:cxn>
              <a:cxn ang="0">
                <a:pos x="4100" y="96"/>
              </a:cxn>
            </a:cxnLst>
            <a:rect l="0" t="0" r="r" b="b"/>
            <a:pathLst>
              <a:path w="4100" h="2072">
                <a:moveTo>
                  <a:pt x="0" y="0"/>
                </a:moveTo>
                <a:lnTo>
                  <a:pt x="4" y="1736"/>
                </a:lnTo>
                <a:lnTo>
                  <a:pt x="804" y="2064"/>
                </a:lnTo>
                <a:lnTo>
                  <a:pt x="3468" y="2072"/>
                </a:lnTo>
                <a:lnTo>
                  <a:pt x="4100" y="1736"/>
                </a:lnTo>
                <a:lnTo>
                  <a:pt x="4100" y="96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3E7BA7-F2B6-4BB2-99E3-78E490CCB37B}" type="slidenum">
              <a:rPr lang="en-US" smtClean="0"/>
              <a:pPr>
                <a:defRPr/>
              </a:pPr>
              <a:t>5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folHlink"/>
                </a:solidFill>
              </a:rPr>
              <a:t>  </a:t>
            </a:r>
            <a:r>
              <a:rPr lang="en-US" dirty="0"/>
              <a:t>Tasks involved in sending a letter ( Ref Fourouzan )</a:t>
            </a:r>
            <a:endParaRPr lang="en-US" sz="2000" i="1" dirty="0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3700" y="1219200"/>
            <a:ext cx="5575300" cy="47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600200" y="6324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100000"/>
            </a:pPr>
            <a:r>
              <a:rPr lang="en-US" i="1" dirty="0">
                <a:latin typeface="Helvetica" charset="0"/>
              </a:rPr>
              <a:t>Task of communication broken up into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443BDEA-B6B3-4E90-9662-E45A35CE438C}" type="slidenum">
              <a:rPr lang="en-US"/>
              <a:pPr/>
              <a:t>6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Network Models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84263"/>
            <a:ext cx="5291138" cy="5080000"/>
          </a:xfrm>
        </p:spPr>
        <p:txBody>
          <a:bodyPr/>
          <a:lstStyle/>
          <a:p>
            <a:pPr eaLnBrk="1" hangingPunct="1"/>
            <a:r>
              <a:rPr lang="en-US" sz="2600"/>
              <a:t>The most well-known network model is the OSI (Open Systems Interconnect) Reference Model defined and maintained by the Organization for International Standardization (ISO)</a:t>
            </a:r>
          </a:p>
          <a:p>
            <a:pPr eaLnBrk="1" hangingPunct="1"/>
            <a:r>
              <a:rPr lang="en-US" sz="2600"/>
              <a:t>It consists of seven layers, numbered from the bottom (closest the network) to the top (closest the user)</a:t>
            </a:r>
          </a:p>
          <a:p>
            <a:pPr eaLnBrk="1" hangingPunct="1"/>
            <a:endParaRPr lang="en-US" sz="2600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483225" y="1379538"/>
            <a:ext cx="3076575" cy="4460875"/>
            <a:chOff x="3454" y="869"/>
            <a:chExt cx="1938" cy="2810"/>
          </a:xfrm>
        </p:grpSpPr>
        <p:sp>
          <p:nvSpPr>
            <p:cNvPr id="19462" name="Rectangle 20"/>
            <p:cNvSpPr>
              <a:spLocks noChangeArrowheads="1"/>
            </p:cNvSpPr>
            <p:nvPr/>
          </p:nvSpPr>
          <p:spPr bwMode="auto">
            <a:xfrm>
              <a:off x="3455" y="3357"/>
              <a:ext cx="1937" cy="322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3" name="Text Box 21"/>
            <p:cNvSpPr txBox="1">
              <a:spLocks noChangeArrowheads="1"/>
            </p:cNvSpPr>
            <p:nvPr/>
          </p:nvSpPr>
          <p:spPr bwMode="auto">
            <a:xfrm>
              <a:off x="3613" y="3403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1 – Physical</a:t>
              </a:r>
            </a:p>
          </p:txBody>
        </p:sp>
        <p:sp>
          <p:nvSpPr>
            <p:cNvPr id="19464" name="Rectangle 22"/>
            <p:cNvSpPr>
              <a:spLocks noChangeArrowheads="1"/>
            </p:cNvSpPr>
            <p:nvPr/>
          </p:nvSpPr>
          <p:spPr bwMode="auto">
            <a:xfrm>
              <a:off x="3454" y="2942"/>
              <a:ext cx="1937" cy="32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Rectangle 23"/>
            <p:cNvSpPr>
              <a:spLocks noChangeArrowheads="1"/>
            </p:cNvSpPr>
            <p:nvPr/>
          </p:nvSpPr>
          <p:spPr bwMode="auto">
            <a:xfrm>
              <a:off x="3454" y="2527"/>
              <a:ext cx="1937" cy="32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Rectangle 24"/>
            <p:cNvSpPr>
              <a:spLocks noChangeArrowheads="1"/>
            </p:cNvSpPr>
            <p:nvPr/>
          </p:nvSpPr>
          <p:spPr bwMode="auto">
            <a:xfrm>
              <a:off x="3454" y="2113"/>
              <a:ext cx="1937" cy="32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Rectangle 25"/>
            <p:cNvSpPr>
              <a:spLocks noChangeArrowheads="1"/>
            </p:cNvSpPr>
            <p:nvPr/>
          </p:nvSpPr>
          <p:spPr bwMode="auto">
            <a:xfrm>
              <a:off x="3454" y="1698"/>
              <a:ext cx="1937" cy="32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Rectangle 26"/>
            <p:cNvSpPr>
              <a:spLocks noChangeArrowheads="1"/>
            </p:cNvSpPr>
            <p:nvPr/>
          </p:nvSpPr>
          <p:spPr bwMode="auto">
            <a:xfrm>
              <a:off x="3454" y="1283"/>
              <a:ext cx="1937" cy="32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9" name="Rectangle 27"/>
            <p:cNvSpPr>
              <a:spLocks noChangeArrowheads="1"/>
            </p:cNvSpPr>
            <p:nvPr/>
          </p:nvSpPr>
          <p:spPr bwMode="auto">
            <a:xfrm>
              <a:off x="3454" y="869"/>
              <a:ext cx="1937" cy="32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Text Box 28"/>
            <p:cNvSpPr txBox="1">
              <a:spLocks noChangeArrowheads="1"/>
            </p:cNvSpPr>
            <p:nvPr/>
          </p:nvSpPr>
          <p:spPr bwMode="auto">
            <a:xfrm>
              <a:off x="3613" y="2988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2 – Data Link</a:t>
              </a:r>
            </a:p>
          </p:txBody>
        </p:sp>
        <p:sp>
          <p:nvSpPr>
            <p:cNvPr id="19471" name="Text Box 29"/>
            <p:cNvSpPr txBox="1">
              <a:spLocks noChangeArrowheads="1"/>
            </p:cNvSpPr>
            <p:nvPr/>
          </p:nvSpPr>
          <p:spPr bwMode="auto">
            <a:xfrm>
              <a:off x="3613" y="2573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3 – Network</a:t>
              </a:r>
            </a:p>
          </p:txBody>
        </p:sp>
        <p:sp>
          <p:nvSpPr>
            <p:cNvPr id="19472" name="Text Box 30"/>
            <p:cNvSpPr txBox="1">
              <a:spLocks noChangeArrowheads="1"/>
            </p:cNvSpPr>
            <p:nvPr/>
          </p:nvSpPr>
          <p:spPr bwMode="auto">
            <a:xfrm>
              <a:off x="3613" y="2158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4 – Transport</a:t>
              </a:r>
            </a:p>
          </p:txBody>
        </p:sp>
        <p:sp>
          <p:nvSpPr>
            <p:cNvPr id="19473" name="Text Box 31"/>
            <p:cNvSpPr txBox="1">
              <a:spLocks noChangeArrowheads="1"/>
            </p:cNvSpPr>
            <p:nvPr/>
          </p:nvSpPr>
          <p:spPr bwMode="auto">
            <a:xfrm>
              <a:off x="3611" y="1743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5 – Session</a:t>
              </a:r>
            </a:p>
          </p:txBody>
        </p:sp>
        <p:sp>
          <p:nvSpPr>
            <p:cNvPr id="19474" name="Text Box 32"/>
            <p:cNvSpPr txBox="1">
              <a:spLocks noChangeArrowheads="1"/>
            </p:cNvSpPr>
            <p:nvPr/>
          </p:nvSpPr>
          <p:spPr bwMode="auto">
            <a:xfrm>
              <a:off x="3611" y="1328"/>
              <a:ext cx="1694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700" dirty="0"/>
                <a:t>Layer 6 – Presentation</a:t>
              </a:r>
            </a:p>
          </p:txBody>
        </p:sp>
        <p:sp>
          <p:nvSpPr>
            <p:cNvPr id="19475" name="Text Box 33"/>
            <p:cNvSpPr txBox="1">
              <a:spLocks noChangeArrowheads="1"/>
            </p:cNvSpPr>
            <p:nvPr/>
          </p:nvSpPr>
          <p:spPr bwMode="auto">
            <a:xfrm>
              <a:off x="3611" y="914"/>
              <a:ext cx="16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Layer 7 – Application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3E7BA7-F2B6-4BB2-99E3-78E490CCB37B}" type="slidenum">
              <a:rPr lang="en-US" smtClean="0"/>
              <a:pPr>
                <a:defRPr/>
              </a:pPr>
              <a:t>7</a:t>
            </a:fld>
            <a:endParaRPr lang="en-US" sz="1400">
              <a:latin typeface="Times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2650" y="1066800"/>
            <a:ext cx="6965950" cy="516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64781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i="1" dirty="0"/>
              <a:t>The interaction between layers in the OSI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60" y="341194"/>
            <a:ext cx="8229600" cy="682388"/>
          </a:xfrm>
        </p:spPr>
        <p:txBody>
          <a:bodyPr/>
          <a:lstStyle/>
          <a:p>
            <a:r>
              <a:rPr lang="en-US" sz="2800" u="none" dirty="0"/>
              <a:t>Encapsulation/Decapsulation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828800"/>
            <a:ext cx="8931275" cy="3091218"/>
          </a:xfrm>
        </p:spPr>
        <p:txBody>
          <a:bodyPr>
            <a:normAutofit/>
          </a:bodyPr>
          <a:lstStyle/>
          <a:p>
            <a:r>
              <a:rPr lang="en-US" sz="2400" dirty="0"/>
              <a:t>At Sender Site, each layer add its own information to the data received from its upper layer ( Called as </a:t>
            </a:r>
            <a:r>
              <a:rPr lang="en-US" sz="2400" dirty="0">
                <a:solidFill>
                  <a:srgbClr val="FF0000"/>
                </a:solidFill>
              </a:rPr>
              <a:t>HEADER</a:t>
            </a:r>
            <a:r>
              <a:rPr lang="en-US" sz="2400" dirty="0"/>
              <a:t>).  ( HEADER + DATA= DATA for next lower layer)</a:t>
            </a:r>
          </a:p>
          <a:p>
            <a:r>
              <a:rPr lang="en-US" sz="2400" dirty="0"/>
              <a:t>This HEADER can be accessed (add/remove) only by specific layer</a:t>
            </a:r>
          </a:p>
          <a:p>
            <a:r>
              <a:rPr lang="en-US" sz="2400" dirty="0"/>
              <a:t>At Receiver Site, This HEADER is removed ( on matching certain conditions)  </a:t>
            </a:r>
            <a:r>
              <a:rPr lang="en-US" sz="2400" dirty="0">
                <a:solidFill>
                  <a:srgbClr val="FF0000"/>
                </a:solidFill>
              </a:rPr>
              <a:t>only by the layer </a:t>
            </a:r>
            <a:r>
              <a:rPr lang="en-US" sz="2400" dirty="0"/>
              <a:t>that has added the HEADER at sender site.</a:t>
            </a:r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3E7BA7-F2B6-4BB2-99E3-78E490CCB37B}" type="slidenum">
              <a:rPr lang="en-US" smtClean="0"/>
              <a:pPr>
                <a:defRPr/>
              </a:pPr>
              <a:t>8</a:t>
            </a:fld>
            <a:endParaRPr lang="en-US" sz="1400">
              <a:latin typeface="Times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3E7BA7-F2B6-4BB2-99E3-78E490CCB37B}" type="slidenum">
              <a:rPr lang="en-US" smtClean="0"/>
              <a:pPr>
                <a:defRPr/>
              </a:pPr>
              <a:t>9</a:t>
            </a:fld>
            <a:endParaRPr lang="en-US" sz="1400">
              <a:latin typeface="Times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5110" y="367636"/>
            <a:ext cx="7523162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 bwMode="auto">
          <a:xfrm>
            <a:off x="218365" y="5595582"/>
            <a:ext cx="8461612" cy="5868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Each Layer in OSI model provides different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8995218-1B46-4EBC-8619-390CEC5A4937}" type="slidenum">
              <a:rPr lang="en-US"/>
              <a:pPr/>
              <a:t>10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1" y="1239838"/>
            <a:ext cx="8931275" cy="380983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dirty="0"/>
              <a:t>Layer 1 – The Physical Layer</a:t>
            </a:r>
          </a:p>
          <a:p>
            <a:pPr lvl="1" eaLnBrk="1" hangingPunct="1"/>
            <a:r>
              <a:rPr lang="en-US" sz="2400" dirty="0"/>
              <a:t>Defines the type of media to be used</a:t>
            </a:r>
          </a:p>
          <a:p>
            <a:pPr lvl="1" eaLnBrk="1" hangingPunct="1"/>
            <a:r>
              <a:rPr lang="en-US" sz="2200" dirty="0"/>
              <a:t>What order are bits transmitted (if serial or parallel)?</a:t>
            </a:r>
          </a:p>
          <a:p>
            <a:pPr lvl="1" eaLnBrk="1" hangingPunct="1"/>
            <a:r>
              <a:rPr lang="en-US" sz="2200" dirty="0"/>
              <a:t>Data Rate or Transmission Rate</a:t>
            </a:r>
          </a:p>
          <a:p>
            <a:pPr lvl="1" eaLnBrk="1" hangingPunct="1"/>
            <a:r>
              <a:rPr lang="en-US" sz="2200" dirty="0"/>
              <a:t>Line Configuration (P2P / MP)</a:t>
            </a:r>
          </a:p>
          <a:p>
            <a:pPr lvl="1" eaLnBrk="1" hangingPunct="1"/>
            <a:r>
              <a:rPr lang="en-US" sz="2200" dirty="0"/>
              <a:t>Physical Topology</a:t>
            </a:r>
          </a:p>
          <a:p>
            <a:pPr lvl="1" eaLnBrk="1" hangingPunct="1"/>
            <a:r>
              <a:rPr lang="en-US" sz="2200" dirty="0"/>
              <a:t>Transmission Mode ( Simplex, Half/ Full Duplex )</a:t>
            </a:r>
          </a:p>
          <a:p>
            <a:pPr lvl="1" eaLnBrk="1" hangingPunct="1"/>
            <a:r>
              <a:rPr lang="en-US" sz="2400" dirty="0"/>
              <a:t>Defines representation of data on the medium</a:t>
            </a:r>
          </a:p>
          <a:p>
            <a:pPr lvl="2" eaLnBrk="1" hangingPunct="1"/>
            <a:r>
              <a:rPr lang="en-US" sz="2200" dirty="0"/>
              <a:t>Is a ‘0’ “high” or “low”, “on” or “off”?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304800" y="5917039"/>
            <a:ext cx="80772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physical layer is responsible for movements of</a:t>
            </a:r>
          </a:p>
          <a:p>
            <a:pPr algn="ctr"/>
            <a:r>
              <a:rPr lang="en-US" sz="2400" dirty="0"/>
              <a:t>individual bits from one hop (node) to the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C7F9F04-2CCD-462D-9F22-B0F1D9F6C2F9}" type="slidenum">
              <a:rPr lang="en-US"/>
              <a:pPr/>
              <a:t>11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8382000" cy="42465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Layer 2 – The Data Link Layer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Defines “right to transmit” rules (</a:t>
            </a:r>
            <a:r>
              <a:rPr lang="en-US" sz="2400" dirty="0">
                <a:solidFill>
                  <a:srgbClr val="FF0000"/>
                </a:solidFill>
              </a:rPr>
              <a:t>Access Control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Provides directly-connected hop-to-hop data transfer (</a:t>
            </a:r>
            <a:r>
              <a:rPr lang="en-US" sz="2400" dirty="0">
                <a:solidFill>
                  <a:srgbClr val="FF0000"/>
                </a:solidFill>
              </a:rPr>
              <a:t>Hop to Hop / Node to Node Delivery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Defines higher-level structure of data (</a:t>
            </a:r>
            <a:r>
              <a:rPr lang="en-US" sz="2400" dirty="0">
                <a:solidFill>
                  <a:srgbClr val="FF0000"/>
                </a:solidFill>
              </a:rPr>
              <a:t>frames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Defines “physical” address structure for hosts (</a:t>
            </a:r>
            <a:r>
              <a:rPr lang="en-US" sz="2400" dirty="0">
                <a:solidFill>
                  <a:srgbClr val="FF0000"/>
                </a:solidFill>
              </a:rPr>
              <a:t>Physical Addressing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Error Control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Flow Control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304800" y="5921375"/>
            <a:ext cx="8077200" cy="822325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dirty="0"/>
              <a:t>The data link layer is responsible for moving </a:t>
            </a:r>
            <a:br>
              <a:rPr lang="en-US" sz="2400" dirty="0"/>
            </a:br>
            <a:r>
              <a:rPr lang="en-US" sz="2400" dirty="0"/>
              <a:t>frames from one hop (node) to the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45E11F0-799B-452E-A1B2-923892E95109}" type="slidenum">
              <a:rPr lang="en-US"/>
              <a:pPr/>
              <a:t>12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8559800" cy="5092700"/>
          </a:xfrm>
        </p:spPr>
        <p:txBody>
          <a:bodyPr/>
          <a:lstStyle/>
          <a:p>
            <a:pPr eaLnBrk="1" hangingPunct="1"/>
            <a:r>
              <a:rPr lang="en-US" sz="2800" dirty="0"/>
              <a:t>Layer 3 – The Network Layer</a:t>
            </a:r>
          </a:p>
          <a:p>
            <a:pPr lvl="1" eaLnBrk="1" hangingPunct="1"/>
            <a:r>
              <a:rPr lang="en-US" sz="2400" dirty="0"/>
              <a:t>Provides end-host-to-end-host data transfer across multiple data links (</a:t>
            </a:r>
            <a:r>
              <a:rPr lang="en-US" sz="2400" dirty="0">
                <a:solidFill>
                  <a:srgbClr val="FF0000"/>
                </a:solidFill>
              </a:rPr>
              <a:t>host to host/ source to destination delivery</a:t>
            </a:r>
            <a:r>
              <a:rPr lang="en-US" sz="2400" dirty="0"/>
              <a:t>)</a:t>
            </a:r>
          </a:p>
          <a:p>
            <a:pPr lvl="1" eaLnBrk="1" hangingPunct="1"/>
            <a:r>
              <a:rPr lang="en-US" sz="2400" dirty="0"/>
              <a:t>Defines higher-level structure of data (</a:t>
            </a:r>
            <a:r>
              <a:rPr lang="en-US" sz="2400" dirty="0">
                <a:solidFill>
                  <a:srgbClr val="FF0000"/>
                </a:solidFill>
              </a:rPr>
              <a:t>packets</a:t>
            </a:r>
            <a:r>
              <a:rPr lang="en-US" sz="2400" dirty="0"/>
              <a:t>)</a:t>
            </a:r>
          </a:p>
          <a:p>
            <a:pPr lvl="1" eaLnBrk="1" hangingPunct="1"/>
            <a:r>
              <a:rPr lang="en-US" sz="2400" dirty="0"/>
              <a:t>Defines “abstract” address structure for host           (</a:t>
            </a:r>
            <a:r>
              <a:rPr lang="en-US" sz="2400" dirty="0">
                <a:solidFill>
                  <a:srgbClr val="FF0000"/>
                </a:solidFill>
              </a:rPr>
              <a:t>Logical Addressing</a:t>
            </a:r>
            <a:r>
              <a:rPr lang="en-US" sz="2400" dirty="0"/>
              <a:t>)</a:t>
            </a:r>
          </a:p>
          <a:p>
            <a:pPr lvl="1" eaLnBrk="1" hangingPunct="1"/>
            <a:r>
              <a:rPr lang="en-US" dirty="0"/>
              <a:t>Routing</a:t>
            </a:r>
          </a:p>
          <a:p>
            <a:pPr lvl="1" eaLnBrk="1" hangingPunct="1"/>
            <a:r>
              <a:rPr lang="en-US" sz="2400" dirty="0"/>
              <a:t>Delivery and Forwarding (Switching)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5483225" y="4011613"/>
            <a:ext cx="3074988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5735638" y="4084638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3 – Network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5921375"/>
            <a:ext cx="86106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network layer is responsible for the delivery of individual packets from  the source host to the destination host.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76C2251A-708F-47B5-8BA0-F2BA74BFEE91}" type="slidenum">
              <a:rPr lang="en-US"/>
              <a:pPr/>
              <a:t>13</a:t>
            </a:fld>
            <a:endParaRPr lang="en-US"/>
          </a:p>
        </p:txBody>
      </p:sp>
      <p:sp>
        <p:nvSpPr>
          <p:cNvPr id="643074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3075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3076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4787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folHlink"/>
                </a:solidFill>
              </a:rPr>
              <a:t>Figure 2.9  </a:t>
            </a:r>
            <a:r>
              <a:rPr lang="en-US" sz="2000" i="1"/>
              <a:t>Source-to-destination delivery</a:t>
            </a:r>
          </a:p>
        </p:txBody>
      </p:sp>
      <p:sp>
        <p:nvSpPr>
          <p:cNvPr id="643077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307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8625" y="1195388"/>
            <a:ext cx="5083175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400800" y="3429000"/>
            <a:ext cx="19711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Data Link Layer- Hop to 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30823"/>
            <a:ext cx="2575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Network Layer- Source to Destination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BBAF8B-B01C-4D1A-9C3C-CF4FC490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160F8BF-10EF-478C-A85C-6683160A5908}" type="slidenum">
              <a:rPr lang="en-US"/>
              <a:pPr/>
              <a:t>14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4343400" cy="50927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Layer 4 – The Transport Layer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Provides process-to-process 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May</a:t>
            </a:r>
            <a:r>
              <a:rPr lang="en-US" sz="2400"/>
              <a:t> provide for reliable 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Defines higher-level structure for data (datagrams, streams, etc.)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Defines “port” addresses for services (processes)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5483225" y="4011613"/>
            <a:ext cx="3074988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5483225" y="3354388"/>
            <a:ext cx="3074988" cy="511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23563" name="Text Box 13"/>
          <p:cNvSpPr txBox="1">
            <a:spLocks noChangeArrowheads="1"/>
          </p:cNvSpPr>
          <p:nvPr/>
        </p:nvSpPr>
        <p:spPr bwMode="auto">
          <a:xfrm>
            <a:off x="5735638" y="4084638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3 – Network</a:t>
            </a:r>
          </a:p>
        </p:txBody>
      </p:sp>
      <p:sp>
        <p:nvSpPr>
          <p:cNvPr id="23564" name="Text Box 14"/>
          <p:cNvSpPr txBox="1">
            <a:spLocks noChangeArrowheads="1"/>
          </p:cNvSpPr>
          <p:nvPr/>
        </p:nvSpPr>
        <p:spPr bwMode="auto">
          <a:xfrm>
            <a:off x="5735638" y="3425825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4 – Transport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" y="5921375"/>
            <a:ext cx="86106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/>
              <a:t>The transport layer is responsible for the delivery of a message from one process to another.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2F5EE042-622C-494D-B182-134BD53504E6}" type="slidenum">
              <a:rPr lang="en-US"/>
              <a:pPr/>
              <a:t>15</a:t>
            </a:fld>
            <a:endParaRPr lang="en-US"/>
          </a:p>
        </p:txBody>
      </p:sp>
      <p:sp>
        <p:nvSpPr>
          <p:cNvPr id="645122" name="Line 2"/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5123" name="Line 3"/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5124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692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folHlink"/>
                </a:solidFill>
              </a:rPr>
              <a:t>Figure 2.11  </a:t>
            </a:r>
            <a:r>
              <a:rPr lang="en-US" sz="2000" i="1"/>
              <a:t>Reliable process-to-process delivery of a message</a:t>
            </a:r>
          </a:p>
        </p:txBody>
      </p:sp>
      <p:sp>
        <p:nvSpPr>
          <p:cNvPr id="64512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512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225" y="2025650"/>
            <a:ext cx="7623175" cy="313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663FE2-8E92-4C85-8388-64AE40D2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048F339-56B9-4BDB-88BF-9DB7300EB3C3}" type="slidenum">
              <a:rPr lang="en-US"/>
              <a:pPr/>
              <a:t>16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4343400" cy="5092700"/>
          </a:xfrm>
        </p:spPr>
        <p:txBody>
          <a:bodyPr/>
          <a:lstStyle/>
          <a:p>
            <a:pPr eaLnBrk="1" hangingPunct="1"/>
            <a:r>
              <a:rPr lang="en-US" sz="2800"/>
              <a:t>Layer 5 – The Session Layer</a:t>
            </a:r>
          </a:p>
          <a:p>
            <a:pPr lvl="1" eaLnBrk="1" hangingPunct="1"/>
            <a:r>
              <a:rPr lang="en-US" sz="2400"/>
              <a:t>Provides a logically persistent connection between processes</a:t>
            </a:r>
          </a:p>
          <a:p>
            <a:pPr lvl="1" eaLnBrk="1" hangingPunct="1"/>
            <a:r>
              <a:rPr lang="en-US" sz="2400"/>
              <a:t>May involve user or host authentication (login), transaction encapsulation (for database access), etc.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auto">
          <a:xfrm>
            <a:off x="5483225" y="4011613"/>
            <a:ext cx="3074988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5483225" y="3354388"/>
            <a:ext cx="3074988" cy="511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5483225" y="2695575"/>
            <a:ext cx="3074988" cy="5111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5735638" y="4084638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3 – Network</a:t>
            </a:r>
          </a:p>
        </p:txBody>
      </p:sp>
      <p:sp>
        <p:nvSpPr>
          <p:cNvPr id="24589" name="Text Box 14"/>
          <p:cNvSpPr txBox="1">
            <a:spLocks noChangeArrowheads="1"/>
          </p:cNvSpPr>
          <p:nvPr/>
        </p:nvSpPr>
        <p:spPr bwMode="auto">
          <a:xfrm>
            <a:off x="5735638" y="3425825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4 – Transport</a:t>
            </a:r>
          </a:p>
        </p:txBody>
      </p:sp>
      <p:sp>
        <p:nvSpPr>
          <p:cNvPr id="24590" name="Text Box 15"/>
          <p:cNvSpPr txBox="1">
            <a:spLocks noChangeArrowheads="1"/>
          </p:cNvSpPr>
          <p:nvPr/>
        </p:nvSpPr>
        <p:spPr bwMode="auto">
          <a:xfrm>
            <a:off x="5732463" y="276701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5 – Session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52400" y="5921375"/>
            <a:ext cx="86106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session layer is responsible for dialog control and synchronization.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7F23ADA-2C41-4C69-A672-034BF39651E3}" type="slidenum">
              <a:rPr lang="en-US"/>
              <a:pPr/>
              <a:t>17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4343400" cy="5092700"/>
          </a:xfrm>
        </p:spPr>
        <p:txBody>
          <a:bodyPr/>
          <a:lstStyle/>
          <a:p>
            <a:pPr eaLnBrk="1" hangingPunct="1"/>
            <a:r>
              <a:rPr lang="en-US" sz="2800" dirty="0"/>
              <a:t>Layer 6 – The Presentation Layer</a:t>
            </a:r>
          </a:p>
          <a:p>
            <a:pPr lvl="1" eaLnBrk="1" hangingPunct="1"/>
            <a:r>
              <a:rPr lang="en-US" sz="2400" dirty="0"/>
              <a:t>Defines the network representation of data</a:t>
            </a:r>
          </a:p>
          <a:p>
            <a:pPr lvl="1" eaLnBrk="1" hangingPunct="1"/>
            <a:r>
              <a:rPr lang="en-US" sz="2400" dirty="0"/>
              <a:t>Converts between the network and host representations of data (ASCII/EBCDIC, byte order, encryption, compression, etc.) </a:t>
            </a: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5483225" y="4011613"/>
            <a:ext cx="3074988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5483225" y="3354388"/>
            <a:ext cx="3074988" cy="511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Rectangle 9"/>
          <p:cNvSpPr>
            <a:spLocks noChangeArrowheads="1"/>
          </p:cNvSpPr>
          <p:nvPr/>
        </p:nvSpPr>
        <p:spPr bwMode="auto">
          <a:xfrm>
            <a:off x="5483225" y="2695575"/>
            <a:ext cx="3074988" cy="5111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Rectangle 10"/>
          <p:cNvSpPr>
            <a:spLocks noChangeArrowheads="1"/>
          </p:cNvSpPr>
          <p:nvPr/>
        </p:nvSpPr>
        <p:spPr bwMode="auto">
          <a:xfrm>
            <a:off x="5483225" y="2036763"/>
            <a:ext cx="3074988" cy="51117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5735638" y="4084638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3 – Network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5735638" y="3425825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4 – Transport</a:t>
            </a:r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5732463" y="276701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5 – Session</a:t>
            </a:r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5732463" y="2108200"/>
            <a:ext cx="2689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6 – Presentation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" y="5921375"/>
            <a:ext cx="86106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presentation layer is responsible for translation, compression, and encryption.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134C8A3-839E-4713-88D6-5CD744956C28}" type="slidenum">
              <a:rPr lang="en-US"/>
              <a:pPr/>
              <a:t>18</a:t>
            </a:fld>
            <a:endParaRPr lang="en-US" sz="1400">
              <a:latin typeface="Times" pitchFamily="18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OSI Reference Model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39838"/>
            <a:ext cx="4343400" cy="5092700"/>
          </a:xfrm>
        </p:spPr>
        <p:txBody>
          <a:bodyPr/>
          <a:lstStyle/>
          <a:p>
            <a:pPr eaLnBrk="1" hangingPunct="1"/>
            <a:r>
              <a:rPr lang="en-US" sz="2800"/>
              <a:t>Layer 7 – The Application Layer</a:t>
            </a:r>
          </a:p>
          <a:p>
            <a:pPr lvl="1" eaLnBrk="1" hangingPunct="1"/>
            <a:r>
              <a:rPr lang="en-US" sz="2400"/>
              <a:t>Provides a portal for the application to access the network</a:t>
            </a:r>
          </a:p>
          <a:p>
            <a:pPr lvl="1" eaLnBrk="1" hangingPunct="1"/>
            <a:r>
              <a:rPr lang="en-US" sz="2400"/>
              <a:t>Describes the dialog between two applications communicating across the network.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5484813" y="5329238"/>
            <a:ext cx="3074987" cy="5111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5735638" y="540226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1 – Physical</a:t>
            </a: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5483225" y="4670425"/>
            <a:ext cx="3074988" cy="5111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5483225" y="4011613"/>
            <a:ext cx="3074988" cy="5111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8"/>
          <p:cNvSpPr>
            <a:spLocks noChangeArrowheads="1"/>
          </p:cNvSpPr>
          <p:nvPr/>
        </p:nvSpPr>
        <p:spPr bwMode="auto">
          <a:xfrm>
            <a:off x="5483225" y="3354388"/>
            <a:ext cx="3074988" cy="511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5483225" y="2695575"/>
            <a:ext cx="3074988" cy="5111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Rectangle 10"/>
          <p:cNvSpPr>
            <a:spLocks noChangeArrowheads="1"/>
          </p:cNvSpPr>
          <p:nvPr/>
        </p:nvSpPr>
        <p:spPr bwMode="auto">
          <a:xfrm>
            <a:off x="5483225" y="2036763"/>
            <a:ext cx="3074988" cy="51117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Rectangle 11"/>
          <p:cNvSpPr>
            <a:spLocks noChangeArrowheads="1"/>
          </p:cNvSpPr>
          <p:nvPr/>
        </p:nvSpPr>
        <p:spPr bwMode="auto">
          <a:xfrm>
            <a:off x="5483225" y="1379538"/>
            <a:ext cx="3074988" cy="511175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Text Box 12"/>
          <p:cNvSpPr txBox="1">
            <a:spLocks noChangeArrowheads="1"/>
          </p:cNvSpPr>
          <p:nvPr/>
        </p:nvSpPr>
        <p:spPr bwMode="auto">
          <a:xfrm>
            <a:off x="5735638" y="4743450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2 – Data Link</a:t>
            </a:r>
          </a:p>
        </p:txBody>
      </p:sp>
      <p:sp>
        <p:nvSpPr>
          <p:cNvPr id="26638" name="Text Box 13"/>
          <p:cNvSpPr txBox="1">
            <a:spLocks noChangeArrowheads="1"/>
          </p:cNvSpPr>
          <p:nvPr/>
        </p:nvSpPr>
        <p:spPr bwMode="auto">
          <a:xfrm>
            <a:off x="5735638" y="4084638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3 – Network</a:t>
            </a:r>
          </a:p>
        </p:txBody>
      </p:sp>
      <p:sp>
        <p:nvSpPr>
          <p:cNvPr id="26639" name="Text Box 14"/>
          <p:cNvSpPr txBox="1">
            <a:spLocks noChangeArrowheads="1"/>
          </p:cNvSpPr>
          <p:nvPr/>
        </p:nvSpPr>
        <p:spPr bwMode="auto">
          <a:xfrm>
            <a:off x="5735638" y="3425825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4 – Transport</a:t>
            </a:r>
          </a:p>
        </p:txBody>
      </p:sp>
      <p:sp>
        <p:nvSpPr>
          <p:cNvPr id="26640" name="Text Box 15"/>
          <p:cNvSpPr txBox="1">
            <a:spLocks noChangeArrowheads="1"/>
          </p:cNvSpPr>
          <p:nvPr/>
        </p:nvSpPr>
        <p:spPr bwMode="auto">
          <a:xfrm>
            <a:off x="5732463" y="2767013"/>
            <a:ext cx="2571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5 – Session</a:t>
            </a:r>
          </a:p>
        </p:txBody>
      </p:sp>
      <p:sp>
        <p:nvSpPr>
          <p:cNvPr id="26641" name="Text Box 16"/>
          <p:cNvSpPr txBox="1">
            <a:spLocks noChangeArrowheads="1"/>
          </p:cNvSpPr>
          <p:nvPr/>
        </p:nvSpPr>
        <p:spPr bwMode="auto">
          <a:xfrm>
            <a:off x="5732463" y="2108200"/>
            <a:ext cx="2689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6 – Presentation</a:t>
            </a:r>
          </a:p>
        </p:txBody>
      </p:sp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5732463" y="1450975"/>
            <a:ext cx="257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Layer 7 – Application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5921375"/>
            <a:ext cx="86106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The application layer is responsible for providing services to the user.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8077200" y="6324600"/>
            <a:ext cx="838200" cy="365125"/>
          </a:xfrm>
          <a:noFill/>
        </p:spPr>
        <p:txBody>
          <a:bodyPr/>
          <a:lstStyle/>
          <a:p>
            <a:fld id="{D380EC10-3C16-48B3-A092-59A79A0002FB}" type="slidenum">
              <a:rPr lang="en-US" smtClean="0">
                <a:latin typeface="Tahoma" charset="0"/>
              </a:rPr>
              <a:pPr/>
              <a:t>19</a:t>
            </a:fld>
            <a:endParaRPr lang="en-US" dirty="0">
              <a:latin typeface="Tahoma" charset="0"/>
            </a:endParaRPr>
          </a:p>
        </p:txBody>
      </p:sp>
      <p:sp>
        <p:nvSpPr>
          <p:cNvPr id="17412" name="Text Box 2"/>
          <p:cNvSpPr txBox="1">
            <a:spLocks noChangeArrowheads="1"/>
          </p:cNvSpPr>
          <p:nvPr/>
        </p:nvSpPr>
        <p:spPr bwMode="auto">
          <a:xfrm>
            <a:off x="685800" y="273844"/>
            <a:ext cx="5715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000" i="1" dirty="0">
                <a:latin typeface="Times New Roman" charset="0"/>
              </a:rPr>
              <a:t>Summary of OSI Layers</a:t>
            </a:r>
          </a:p>
        </p:txBody>
      </p:sp>
      <p:pic>
        <p:nvPicPr>
          <p:cNvPr id="579595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0463" y="879475"/>
            <a:ext cx="6535737" cy="544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D1DB66-CA1D-461D-95A2-98FBD9A5D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57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/>
              <a:t>Thank You</a:t>
            </a:r>
          </a:p>
          <a:p>
            <a:r>
              <a:rPr lang="en-US" sz="3200" b="1" dirty="0"/>
              <a:t>Discussion &amp; Doubt session will be in lecture.</a:t>
            </a:r>
          </a:p>
          <a:p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Network Model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Encapsulation / Decapsulation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Peer to Peer process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OSI model and services of layers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05F4A-036E-40E4-BDEF-E268F16C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CA80-6CC6-41B6-AF29-F9143CD7236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1076</Words>
  <Application>Microsoft Office PowerPoint</Application>
  <PresentationFormat>On-screen Show (4:3)</PresentationFormat>
  <Paragraphs>191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Comic Sans MS</vt:lpstr>
      <vt:lpstr>Helvetica</vt:lpstr>
      <vt:lpstr>Tahoma</vt:lpstr>
      <vt:lpstr>Times</vt:lpstr>
      <vt:lpstr>Times New Roman</vt:lpstr>
      <vt:lpstr>Wingdings</vt:lpstr>
      <vt:lpstr>Office Theme</vt:lpstr>
      <vt:lpstr>COMPUTER NETWORKS (BCSC 0008)</vt:lpstr>
      <vt:lpstr>Analyzing components in N/W</vt:lpstr>
      <vt:lpstr>Network Models</vt:lpstr>
      <vt:lpstr>PowerPoint Presentation</vt:lpstr>
      <vt:lpstr>PowerPoint Presentation</vt:lpstr>
      <vt:lpstr>Network Models</vt:lpstr>
      <vt:lpstr>PowerPoint Presentation</vt:lpstr>
      <vt:lpstr>Encapsulation/Decapsulation</vt:lpstr>
      <vt:lpstr>PowerPoint Presentation</vt:lpstr>
      <vt:lpstr>OSI Reference Model</vt:lpstr>
      <vt:lpstr>OSI Reference Model</vt:lpstr>
      <vt:lpstr>OSI Reference Model</vt:lpstr>
      <vt:lpstr>PowerPoint Presentation</vt:lpstr>
      <vt:lpstr>OSI Reference Model</vt:lpstr>
      <vt:lpstr>PowerPoint Presentation</vt:lpstr>
      <vt:lpstr>OSI Reference Model</vt:lpstr>
      <vt:lpstr>OSI Reference Model</vt:lpstr>
      <vt:lpstr>OSI Reference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Mili Dhar</cp:lastModifiedBy>
  <cp:revision>15</cp:revision>
  <dcterms:created xsi:type="dcterms:W3CDTF">2020-06-30T05:49:39Z</dcterms:created>
  <dcterms:modified xsi:type="dcterms:W3CDTF">2022-09-06T09:36:59Z</dcterms:modified>
</cp:coreProperties>
</file>