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BFF0F-4A16-4921-AC5F-9A36FA52945F}" type="datetimeFigureOut">
              <a:rPr lang="en-IN" smtClean="0"/>
              <a:t>06-09-2022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AB430-AEFD-45D5-B375-D2136A03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2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02A1-F8B2-415F-A453-BD545DDDF931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DDC8-94B1-4CBF-8672-F10F5C1A4235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F5037-A581-42E9-AEE3-0BBABE93D822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38996-9388-4E6E-B769-746E5C6509D2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92FD-C836-41D0-A70A-E36F3FB9C578}" type="datetime1">
              <a:rPr lang="en-US" smtClean="0"/>
              <a:t>9/6/2022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2136E-B30C-4301-B824-5467FA56F8C3}" type="datetime1">
              <a:rPr lang="en-US" smtClean="0"/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293E7-317F-4114-9F68-0FA0950C4388}" type="datetime1">
              <a:rPr lang="en-US" smtClean="0"/>
              <a:t>9/6/2022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220E-07C1-4391-B782-BA560C98CCDE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66B6-BE5A-437B-8E19-5C9B9F2974FA}" type="datetime1">
              <a:rPr lang="en-US" smtClean="0"/>
              <a:t>9/6/2022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C0B1-FDA1-4A20-8CCA-4E94449AA4BB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E299-BC45-4A46-9E25-BACA5A038047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2A4DD-09E2-4031-B7BA-C31F16F0FD5B}" type="datetime1">
              <a:rPr lang="en-US" smtClean="0"/>
              <a:t>9/6/2022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96A18-E1AA-494C-A9ED-55AEDEB1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527FE8FD-A8CF-43A8-BA62-96CCAAE49000}" type="slidenum">
              <a:rPr lang="en-US" altLang="zh-TW"/>
              <a:pPr/>
              <a:t>3</a:t>
            </a:fld>
            <a:endParaRPr lang="en-US" altLang="zh-TW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1300"/>
            <a:ext cx="7772400" cy="1143000"/>
          </a:xfrm>
        </p:spPr>
        <p:txBody>
          <a:bodyPr/>
          <a:lstStyle/>
          <a:p>
            <a:r>
              <a:rPr lang="en-US" altLang="zh-TW" b="1" dirty="0">
                <a:ea typeface="新細明體" charset="-120"/>
              </a:rPr>
              <a:t>Chapter 1: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u="sng" dirty="0">
                <a:solidFill>
                  <a:srgbClr val="FF0000"/>
                </a:solidFill>
                <a:ea typeface="新細明體" charset="-120"/>
              </a:rPr>
              <a:t>Our goal:</a:t>
            </a:r>
            <a:r>
              <a:rPr lang="en-US" altLang="zh-TW" dirty="0">
                <a:ea typeface="新細明體" charset="-12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get context, overview, “feel” of networking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more depth, detail </a:t>
            </a:r>
            <a:r>
              <a:rPr lang="en-US" altLang="zh-TW" sz="2400" b="1" i="1" dirty="0">
                <a:ea typeface="新細明體" charset="-120"/>
              </a:rPr>
              <a:t>later</a:t>
            </a:r>
            <a:r>
              <a:rPr lang="en-US" altLang="zh-TW" sz="2400" b="1" dirty="0">
                <a:ea typeface="新細明體" charset="-120"/>
              </a:rPr>
              <a:t> in course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approach:</a:t>
            </a:r>
          </a:p>
          <a:p>
            <a:pPr lvl="1">
              <a:lnSpc>
                <a:spcPct val="90000"/>
              </a:lnSpc>
            </a:pPr>
            <a:r>
              <a:rPr lang="en-US" altLang="zh-TW" b="1" dirty="0">
                <a:ea typeface="新細明體" charset="-120"/>
              </a:rPr>
              <a:t>descriptive</a:t>
            </a:r>
          </a:p>
          <a:p>
            <a:pPr lvl="1">
              <a:lnSpc>
                <a:spcPct val="90000"/>
              </a:lnSpc>
            </a:pPr>
            <a:r>
              <a:rPr lang="en-US" altLang="zh-TW" b="1" dirty="0">
                <a:ea typeface="新細明體" charset="-120"/>
              </a:rPr>
              <a:t>use Internet as example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Teaching Style: Blended</a:t>
            </a:r>
          </a:p>
          <a:p>
            <a:pPr>
              <a:lnSpc>
                <a:spcPct val="90000"/>
              </a:lnSpc>
            </a:pPr>
            <a:endParaRPr lang="zh-TW" altLang="en-US" sz="2400" b="1" dirty="0">
              <a:ea typeface="新細明體" charset="-120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917482" y="1371600"/>
            <a:ext cx="5013793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u="sng" dirty="0">
                <a:solidFill>
                  <a:srgbClr val="FF0000"/>
                </a:solidFill>
                <a:ea typeface="新細明體" charset="-120"/>
              </a:rPr>
              <a:t>Overview:</a:t>
            </a:r>
            <a:endParaRPr lang="en-US" altLang="zh-TW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What is Communication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Voice Communication vs. Data Communication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Analyzing Components for Communication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How Communication is related to networking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What, How and Why Networking</a:t>
            </a:r>
          </a:p>
          <a:p>
            <a:pPr>
              <a:lnSpc>
                <a:spcPct val="90000"/>
              </a:lnSpc>
            </a:pPr>
            <a:r>
              <a:rPr lang="en-US" altLang="zh-TW" sz="2400" b="1" dirty="0">
                <a:ea typeface="新細明體" charset="-120"/>
              </a:rPr>
              <a:t>Detail Concepts of Networking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328" y="1600200"/>
            <a:ext cx="5164872" cy="4648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Communication</a:t>
            </a:r>
            <a:r>
              <a:rPr lang="en-US" dirty="0"/>
              <a:t> </a:t>
            </a:r>
          </a:p>
          <a:p>
            <a:pPr algn="just"/>
            <a:r>
              <a:rPr lang="en-US" sz="2000" dirty="0"/>
              <a:t>Mechanism of exchanging / transferring information from one point to other.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Many variants of communications:</a:t>
            </a:r>
          </a:p>
          <a:p>
            <a:pPr lvl="1" algn="just"/>
            <a:r>
              <a:rPr lang="en-US" sz="1600" dirty="0"/>
              <a:t>Voice Communication</a:t>
            </a:r>
          </a:p>
          <a:p>
            <a:pPr lvl="1" algn="just"/>
            <a:r>
              <a:rPr lang="en-US" sz="1600" dirty="0"/>
              <a:t>Data Communication </a:t>
            </a:r>
          </a:p>
          <a:p>
            <a:pPr lvl="1" algn="just"/>
            <a:r>
              <a:rPr lang="en-US" sz="1600" dirty="0"/>
              <a:t>Mobile Communication …</a:t>
            </a:r>
          </a:p>
          <a:p>
            <a:pPr lvl="1" algn="just"/>
            <a:endParaRPr lang="en-US" sz="1600" dirty="0"/>
          </a:p>
          <a:p>
            <a:pPr algn="just"/>
            <a:r>
              <a:rPr lang="en-US" sz="2400" dirty="0"/>
              <a:t>Voice Communication : Exchange of information between two humans</a:t>
            </a:r>
          </a:p>
          <a:p>
            <a:pPr algn="just"/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pic>
        <p:nvPicPr>
          <p:cNvPr id="132098" name="Picture 2" descr="Comunicaciones-de-Temp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736557"/>
            <a:ext cx="3340629" cy="1776664"/>
          </a:xfrm>
          <a:prstGeom prst="rect">
            <a:avLst/>
          </a:prstGeom>
          <a:noFill/>
        </p:spPr>
      </p:pic>
      <p:sp>
        <p:nvSpPr>
          <p:cNvPr id="10" name="Left-Right Arrow 9"/>
          <p:cNvSpPr/>
          <p:nvPr/>
        </p:nvSpPr>
        <p:spPr bwMode="auto">
          <a:xfrm>
            <a:off x="6660682" y="1857677"/>
            <a:ext cx="827773" cy="19250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5410199" y="3854116"/>
            <a:ext cx="3340629" cy="2394284"/>
          </a:xfrm>
        </p:spPr>
        <p:txBody>
          <a:bodyPr/>
          <a:lstStyle/>
          <a:p>
            <a:pPr algn="just">
              <a:lnSpc>
                <a:spcPct val="125000"/>
              </a:lnSpc>
            </a:pPr>
            <a:r>
              <a:rPr lang="en-US" sz="2200" dirty="0">
                <a:solidFill>
                  <a:srgbClr val="FF0000"/>
                </a:solidFill>
              </a:rPr>
              <a:t>We’ll understand the concepts of </a:t>
            </a:r>
            <a:r>
              <a:rPr lang="en-US" sz="2200" dirty="0"/>
              <a:t>voice communication</a:t>
            </a:r>
            <a:r>
              <a:rPr lang="en-US" sz="2200" dirty="0">
                <a:solidFill>
                  <a:srgbClr val="FF0000"/>
                </a:solidFill>
              </a:rPr>
              <a:t> to analyze it on </a:t>
            </a:r>
            <a:r>
              <a:rPr lang="en-US" sz="2200" dirty="0"/>
              <a:t>data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Voice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420" y="1600200"/>
            <a:ext cx="4390444" cy="4648200"/>
          </a:xfrm>
        </p:spPr>
        <p:txBody>
          <a:bodyPr>
            <a:normAutofit/>
          </a:bodyPr>
          <a:lstStyle/>
          <a:p>
            <a:r>
              <a:rPr lang="en-US" sz="2200" dirty="0"/>
              <a:t>To establish voice communication following components must be needed</a:t>
            </a:r>
          </a:p>
          <a:p>
            <a:pPr lvl="1" algn="just">
              <a:lnSpc>
                <a:spcPct val="125000"/>
              </a:lnSpc>
            </a:pPr>
            <a:r>
              <a:rPr lang="en-US" sz="1800" dirty="0">
                <a:solidFill>
                  <a:srgbClr val="FF0000"/>
                </a:solidFill>
              </a:rPr>
              <a:t>Sender </a:t>
            </a:r>
            <a:r>
              <a:rPr lang="en-US" sz="1800" dirty="0"/>
              <a:t> (who sends data) </a:t>
            </a:r>
          </a:p>
          <a:p>
            <a:pPr lvl="1" algn="just">
              <a:lnSpc>
                <a:spcPct val="125000"/>
              </a:lnSpc>
            </a:pPr>
            <a:r>
              <a:rPr lang="en-US" sz="1800" dirty="0">
                <a:solidFill>
                  <a:srgbClr val="FF0000"/>
                </a:solidFill>
              </a:rPr>
              <a:t>Receiver </a:t>
            </a:r>
            <a:r>
              <a:rPr lang="en-US" sz="1800" dirty="0"/>
              <a:t>(who receives data) </a:t>
            </a:r>
          </a:p>
          <a:p>
            <a:pPr lvl="1" algn="just">
              <a:lnSpc>
                <a:spcPct val="125000"/>
              </a:lnSpc>
            </a:pPr>
            <a:r>
              <a:rPr lang="en-US" sz="1800" dirty="0">
                <a:solidFill>
                  <a:srgbClr val="FF0000"/>
                </a:solidFill>
              </a:rPr>
              <a:t>Medium</a:t>
            </a:r>
            <a:r>
              <a:rPr lang="en-US" sz="1800" dirty="0"/>
              <a:t> (through which data travels) </a:t>
            </a:r>
          </a:p>
          <a:p>
            <a:pPr lvl="1" algn="just">
              <a:lnSpc>
                <a:spcPct val="125000"/>
              </a:lnSpc>
            </a:pPr>
            <a:r>
              <a:rPr lang="en-US" sz="1800" dirty="0">
                <a:solidFill>
                  <a:srgbClr val="FF0000"/>
                </a:solidFill>
              </a:rPr>
              <a:t>Information</a:t>
            </a:r>
            <a:r>
              <a:rPr lang="en-US" sz="1800" dirty="0"/>
              <a:t>  (data to be sent)</a:t>
            </a:r>
          </a:p>
          <a:p>
            <a:pPr marL="341313" lvl="1" algn="just">
              <a:lnSpc>
                <a:spcPct val="125000"/>
              </a:lnSpc>
              <a:buFont typeface="Wingdings" pitchFamily="2" charset="2"/>
              <a:buChar char="q"/>
            </a:pPr>
            <a:r>
              <a:rPr lang="en-US" sz="2200" dirty="0">
                <a:ea typeface="+mn-ea"/>
                <a:cs typeface="+mn-cs"/>
              </a:rPr>
              <a:t>Does Communication possible with only one human (Think !!) </a:t>
            </a:r>
            <a:r>
              <a:rPr lang="en-US" sz="1800" dirty="0">
                <a:solidFill>
                  <a:srgbClr val="FF0000"/>
                </a:solidFill>
                <a:ea typeface="+mn-ea"/>
                <a:cs typeface="+mn-cs"/>
              </a:rPr>
              <a:t>(Sender and Receiver same with message and medium)</a:t>
            </a:r>
            <a:endParaRPr lang="en-US" sz="2200" dirty="0">
              <a:solidFill>
                <a:srgbClr val="FF0000"/>
              </a:solidFill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pic>
        <p:nvPicPr>
          <p:cNvPr id="142338" name="Picture 2" descr="Simple Communication between sender and recei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8864" y="1600200"/>
            <a:ext cx="4206294" cy="2362549"/>
          </a:xfrm>
          <a:prstGeom prst="rect">
            <a:avLst/>
          </a:prstGeom>
          <a:noFill/>
        </p:spPr>
      </p:pic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762591" y="4226311"/>
            <a:ext cx="3809987" cy="173959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FF0000"/>
                </a:solidFill>
              </a:rPr>
              <a:t>Does sender, receiver, medium and information is sufficient to establish communication</a:t>
            </a:r>
            <a:endParaRPr lang="en-US" sz="2200" dirty="0"/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809784" y="3401121"/>
            <a:ext cx="2018372" cy="1694985"/>
          </a:xfrm>
          <a:prstGeom prst="wedgeRoundRectCallou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Something Missing !!!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Yes..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The Agreement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809784" y="2497873"/>
            <a:ext cx="2496016" cy="2598233"/>
          </a:xfrm>
          <a:prstGeom prst="wedgeRoundRectCallou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Agreement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 is boundation,</a:t>
            </a:r>
          </a:p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</a:rPr>
              <a:t>Specific Word is PROTOCOL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533401" y="1600200"/>
            <a:ext cx="4035463" cy="4648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Protocol may define the following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What data to be send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What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 is the format of data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How data is to be interpreted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When data to be sent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How fast they can be sent</a:t>
            </a:r>
            <a:endParaRPr kumimoji="0" lang="en-US" sz="1800" b="1" i="0" u="none" strike="noStrike" cap="none" normalizeH="0" dirty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Thus,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Syntax,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Semantics &amp;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Timing is defined by 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Voice Communication Vs. Data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537" y="1600200"/>
            <a:ext cx="4008863" cy="46482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Voice Communication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Sender and Receiver (Human)</a:t>
            </a:r>
          </a:p>
          <a:p>
            <a:r>
              <a:rPr lang="en-US" sz="2200" dirty="0">
                <a:solidFill>
                  <a:schemeClr val="tx1"/>
                </a:solidFill>
              </a:rPr>
              <a:t>Medium (Wireless- Air)</a:t>
            </a:r>
          </a:p>
          <a:p>
            <a:r>
              <a:rPr lang="en-US" sz="2200" dirty="0">
                <a:solidFill>
                  <a:schemeClr val="tx1"/>
                </a:solidFill>
              </a:rPr>
              <a:t>Message (Verbal/ Non Verbal)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Protocol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0059" y="1600200"/>
            <a:ext cx="4137102" cy="46482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Data Communication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Sender and Receiver (Devices)</a:t>
            </a:r>
          </a:p>
          <a:p>
            <a:r>
              <a:rPr lang="en-US" sz="2200" dirty="0">
                <a:solidFill>
                  <a:schemeClr val="tx1"/>
                </a:solidFill>
              </a:rPr>
              <a:t>Medium (Wired/Wireless)</a:t>
            </a:r>
          </a:p>
          <a:p>
            <a:r>
              <a:rPr lang="en-US" sz="2200" dirty="0">
                <a:solidFill>
                  <a:schemeClr val="tx1"/>
                </a:solidFill>
              </a:rPr>
              <a:t>Message (Data in form of bits and signals)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0419" y="4422775"/>
            <a:ext cx="7065962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ounded Rectangular Callout 8"/>
          <p:cNvSpPr/>
          <p:nvPr/>
        </p:nvSpPr>
        <p:spPr bwMode="auto">
          <a:xfrm>
            <a:off x="423747" y="1600200"/>
            <a:ext cx="8452624" cy="2822575"/>
          </a:xfrm>
          <a:prstGeom prst="wedgeRoundRect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Conclusion:</a:t>
            </a: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Minimum 2 devices required.</a:t>
            </a:r>
          </a:p>
          <a:p>
            <a:pPr>
              <a:lnSpc>
                <a:spcPct val="125000"/>
              </a:lnSpc>
            </a:pPr>
            <a:r>
              <a:rPr lang="en-US" dirty="0"/>
              <a:t>The devices may be geographically located anywhere.</a:t>
            </a: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Both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devices connected with medium.</a:t>
            </a: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They are able to communicate hence t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hey can exchange and share information and resources.</a:t>
            </a: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Resources may be file, folder, printer, disk drive or any thing that may exist on computer system.</a:t>
            </a:r>
            <a:endParaRPr kumimoji="0" lang="en-US" sz="18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So, </a:t>
            </a:r>
            <a:r>
              <a:rPr lang="en-US" dirty="0"/>
              <a:t>What is Network</a:t>
            </a:r>
            <a:r>
              <a:rPr lang="en-US" u="none" dirty="0"/>
              <a:t>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9932" y="1371600"/>
            <a:ext cx="4053468" cy="5029200"/>
          </a:xfrm>
        </p:spPr>
        <p:txBody>
          <a:bodyPr/>
          <a:lstStyle/>
          <a:p>
            <a:r>
              <a:rPr lang="en-US" sz="2000" b="1" dirty="0"/>
              <a:t>A </a:t>
            </a:r>
            <a:r>
              <a:rPr lang="en-US" sz="2000" b="1" u="sng" dirty="0">
                <a:solidFill>
                  <a:srgbClr val="3333CC"/>
                </a:solidFill>
              </a:rPr>
              <a:t>network</a:t>
            </a:r>
            <a:r>
              <a:rPr lang="en-US" sz="2000" b="1" dirty="0"/>
              <a:t> consists of 2 or more devices </a:t>
            </a:r>
            <a:r>
              <a:rPr lang="en-US" sz="2000" b="1" dirty="0">
                <a:solidFill>
                  <a:srgbClr val="FF3300"/>
                </a:solidFill>
              </a:rPr>
              <a:t>connected</a:t>
            </a:r>
            <a:r>
              <a:rPr lang="en-US" sz="2000" b="1" dirty="0"/>
              <a:t> together in such a way so that they can </a:t>
            </a:r>
            <a:r>
              <a:rPr lang="en-US" sz="2000" b="1" u="sng" dirty="0">
                <a:solidFill>
                  <a:srgbClr val="3333CC"/>
                </a:solidFill>
              </a:rPr>
              <a:t>communicate</a:t>
            </a:r>
            <a:r>
              <a:rPr lang="en-US" sz="2000" b="1" dirty="0"/>
              <a:t> and </a:t>
            </a:r>
            <a:r>
              <a:rPr lang="en-US" sz="2000" b="1" dirty="0">
                <a:solidFill>
                  <a:srgbClr val="FF3300"/>
                </a:solidFill>
              </a:rPr>
              <a:t>share</a:t>
            </a:r>
            <a:r>
              <a:rPr lang="en-US" sz="2000" b="1" dirty="0"/>
              <a:t> resources (e.g. information)</a:t>
            </a:r>
          </a:p>
          <a:p>
            <a:r>
              <a:rPr lang="en-US" sz="2000" b="1" dirty="0"/>
              <a:t>Devices???</a:t>
            </a:r>
          </a:p>
          <a:p>
            <a:r>
              <a:rPr lang="en-US" sz="2000" dirty="0"/>
              <a:t>Could be a CPU, monitor and other peripheral devices</a:t>
            </a:r>
          </a:p>
          <a:p>
            <a:r>
              <a:rPr lang="en-US" sz="2000" dirty="0"/>
              <a:t>could be a set of computers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Somewhere devices may be referred as </a:t>
            </a:r>
            <a:r>
              <a:rPr lang="en-US" sz="2000" dirty="0"/>
              <a:t>nodes</a:t>
            </a:r>
            <a:r>
              <a:rPr lang="en-US" sz="2000" dirty="0">
                <a:solidFill>
                  <a:srgbClr val="0070C0"/>
                </a:solidFill>
              </a:rPr>
              <a:t> and medium as </a:t>
            </a:r>
            <a:r>
              <a:rPr lang="en-US" sz="2000" dirty="0"/>
              <a:t>links.</a:t>
            </a:r>
          </a:p>
          <a:p>
            <a:r>
              <a:rPr lang="en-US" sz="2000" b="1" dirty="0">
                <a:solidFill>
                  <a:srgbClr val="FF3300"/>
                </a:solidFill>
              </a:rPr>
              <a:t>WHY NETWORKING??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pic>
        <p:nvPicPr>
          <p:cNvPr id="7" name="Picture 14" descr="bu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5048" y="1843608"/>
            <a:ext cx="2795908" cy="1115563"/>
          </a:xfrm>
          <a:prstGeom prst="rect">
            <a:avLst/>
          </a:prstGeom>
          <a:noFill/>
        </p:spPr>
      </p:pic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7264400" y="1987621"/>
            <a:ext cx="1666875" cy="971550"/>
            <a:chOff x="1200" y="2202"/>
            <a:chExt cx="912" cy="452"/>
          </a:xfrm>
        </p:grpSpPr>
        <p:pic>
          <p:nvPicPr>
            <p:cNvPr id="9" name="Picture 16" descr="comp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00" y="2208"/>
              <a:ext cx="388" cy="446"/>
            </a:xfrm>
            <a:prstGeom prst="rect">
              <a:avLst/>
            </a:prstGeom>
            <a:noFill/>
          </p:spPr>
        </p:pic>
        <p:pic>
          <p:nvPicPr>
            <p:cNvPr id="10" name="Picture 17" descr="printe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54" y="2202"/>
              <a:ext cx="558" cy="417"/>
            </a:xfrm>
            <a:prstGeom prst="rect">
              <a:avLst/>
            </a:prstGeom>
            <a:noFill/>
          </p:spPr>
        </p:pic>
      </p:grpSp>
      <p:sp>
        <p:nvSpPr>
          <p:cNvPr id="12" name="Content Placeholder 3"/>
          <p:cNvSpPr txBox="1">
            <a:spLocks/>
          </p:cNvSpPr>
          <p:nvPr/>
        </p:nvSpPr>
        <p:spPr bwMode="auto">
          <a:xfrm>
            <a:off x="4343400" y="3363951"/>
            <a:ext cx="4407429" cy="3036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lang="en-US" sz="1900" b="0" kern="0" dirty="0">
                <a:solidFill>
                  <a:srgbClr val="0070C0"/>
                </a:solidFill>
                <a:latin typeface="+mn-lt"/>
              </a:rPr>
              <a:t>Sharing Resources</a:t>
            </a:r>
            <a:r>
              <a:rPr lang="en-US" sz="1900" b="0" kern="0" dirty="0">
                <a:solidFill>
                  <a:srgbClr val="FF0000"/>
                </a:solidFill>
                <a:latin typeface="+mn-lt"/>
              </a:rPr>
              <a:t> (in terms of information, hardware or software [Remember multiuser property of operating system]</a:t>
            </a:r>
          </a:p>
          <a:p>
            <a:pPr marL="342900" lvl="0" indent="-342900" algn="just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Centralize administration and support </a:t>
            </a:r>
            <a:r>
              <a:rPr lang="en-US" sz="1900" dirty="0">
                <a:solidFill>
                  <a:srgbClr val="FF3300"/>
                </a:solidFill>
              </a:rPr>
              <a:t>[so everyone can access the same administrative or support application from their PCs]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44599" y="3363951"/>
            <a:ext cx="8586676" cy="32747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Thus,</a:t>
            </a: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A network is a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set of devices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 (often referred to as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nodes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) connected by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communication links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.</a:t>
            </a:r>
          </a:p>
          <a:p>
            <a:pPr eaLnBrk="1" hangingPunct="1"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A network as a "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group of computers and associated devices 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that are connected by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communications facilities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." </a:t>
            </a:r>
          </a:p>
          <a:p>
            <a:pPr eaLnBrk="1" hangingPunct="1"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A network provides two principle benefits: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the ability to communicate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the ability to share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. 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" name="Oval Callout 13"/>
          <p:cNvSpPr/>
          <p:nvPr/>
        </p:nvSpPr>
        <p:spPr bwMode="auto">
          <a:xfrm rot="10800000" flipV="1">
            <a:off x="1963553" y="524577"/>
            <a:ext cx="2146434" cy="1179465"/>
          </a:xfrm>
          <a:prstGeom prst="wedgeEllipse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How to connect ??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344600" y="524577"/>
            <a:ext cx="8586675" cy="267582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Two methods of Connecting (Based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on the communication link and not devices)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  <a:p>
            <a:pPr lvl="2">
              <a:lnSpc>
                <a:spcPct val="125000"/>
              </a:lnSpc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Point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 to Point (P2P)</a:t>
            </a:r>
          </a:p>
          <a:p>
            <a:pPr lvl="2">
              <a:lnSpc>
                <a:spcPct val="125000"/>
              </a:lnSpc>
            </a:pPr>
            <a:r>
              <a:rPr lang="en-US" baseline="0" dirty="0">
                <a:solidFill>
                  <a:srgbClr val="0070C0"/>
                </a:solidFill>
                <a:latin typeface="Comic Sans MS" pitchFamily="66" charset="0"/>
              </a:rPr>
              <a:t>Multipoint</a:t>
            </a:r>
            <a:endParaRPr lang="en-US" dirty="0">
              <a:solidFill>
                <a:srgbClr val="0070C0"/>
              </a:solidFill>
              <a:latin typeface="Comic Sans MS" pitchFamily="66" charset="0"/>
            </a:endParaRPr>
          </a:p>
          <a:p>
            <a:pPr marL="0" lvl="2">
              <a:lnSpc>
                <a:spcPct val="125000"/>
              </a:lnSpc>
            </a:pPr>
            <a:r>
              <a:rPr lang="en-US" baseline="0" dirty="0">
                <a:solidFill>
                  <a:srgbClr val="FF0000"/>
                </a:solidFill>
                <a:latin typeface="Comic Sans MS" pitchFamily="66" charset="0"/>
              </a:rPr>
              <a:t>P2P: One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 communication link is connected by only 2 devices.</a:t>
            </a:r>
          </a:p>
          <a:p>
            <a:pPr marL="0" lvl="2">
              <a:lnSpc>
                <a:spcPct val="125000"/>
              </a:lnSpc>
            </a:pPr>
            <a:r>
              <a:rPr lang="en-US" baseline="0" dirty="0">
                <a:solidFill>
                  <a:srgbClr val="0070C0"/>
                </a:solidFill>
                <a:latin typeface="Comic Sans MS" pitchFamily="66" charset="0"/>
              </a:rPr>
              <a:t>Multipoint:</a:t>
            </a:r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 One communication link is connected by more than 2 devices. </a:t>
            </a:r>
            <a:endParaRPr lang="en-US" baseline="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344600" y="3363951"/>
            <a:ext cx="8586675" cy="290303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134146" name="Picture 2" descr="Point to Point Network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3670106"/>
            <a:ext cx="4171950" cy="2238376"/>
          </a:xfrm>
          <a:prstGeom prst="rect">
            <a:avLst/>
          </a:prstGeom>
          <a:noFill/>
        </p:spPr>
      </p:pic>
      <p:pic>
        <p:nvPicPr>
          <p:cNvPr id="134148" name="Picture 4" descr="http://i.msdn.microsoft.com/dynimg/IC128960.g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05994" y="3821577"/>
            <a:ext cx="3619500" cy="1847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allAtOnce" animBg="1"/>
      <p:bldP spid="14" grpId="0" animBg="1"/>
      <p:bldP spid="15" grpId="0" build="allAtOnce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none" dirty="0"/>
              <a:t>So, </a:t>
            </a:r>
            <a:r>
              <a:rPr lang="en-US" sz="3600" dirty="0"/>
              <a:t>How many Kinds of Network</a:t>
            </a:r>
            <a:r>
              <a:rPr lang="en-US" sz="3600" u="none" dirty="0"/>
              <a:t>??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385" y="1600200"/>
            <a:ext cx="4172414" cy="4648200"/>
          </a:xfrm>
        </p:spPr>
        <p:txBody>
          <a:bodyPr/>
          <a:lstStyle/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Transmission Media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endParaRPr lang="en-US" sz="2000" dirty="0"/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Network Size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Management Method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topology (Connectivity)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Data Flow Direction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799" y="1600200"/>
            <a:ext cx="4435476" cy="4648200"/>
          </a:xfrm>
        </p:spPr>
        <p:txBody>
          <a:bodyPr/>
          <a:lstStyle/>
          <a:p>
            <a:r>
              <a:rPr lang="en-US" sz="2000" dirty="0"/>
              <a:t>Wired (UTP, Coaxial, fiber optic) or Wireless (Air, Water)</a:t>
            </a:r>
          </a:p>
          <a:p>
            <a:endParaRPr lang="en-US" sz="2000" dirty="0"/>
          </a:p>
          <a:p>
            <a:r>
              <a:rPr lang="en-US" sz="2000" dirty="0"/>
              <a:t>LAN, MAN and WAN</a:t>
            </a:r>
          </a:p>
          <a:p>
            <a:endParaRPr lang="en-US" sz="2000" dirty="0"/>
          </a:p>
          <a:p>
            <a:r>
              <a:rPr lang="en-US" sz="2000" dirty="0"/>
              <a:t>Peer to Peer and Client Server</a:t>
            </a:r>
          </a:p>
          <a:p>
            <a:endParaRPr lang="en-US" sz="2000" dirty="0"/>
          </a:p>
          <a:p>
            <a:r>
              <a:rPr lang="en-US" sz="2000" dirty="0"/>
              <a:t>Bus, Star, Ring, Mesh, Hybrid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Simplex, Half Duplex, Full Duplex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8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/>
              <a:t>Thank You</a:t>
            </a:r>
          </a:p>
          <a:p>
            <a:r>
              <a:rPr lang="en-US" sz="3200" b="1" dirty="0"/>
              <a:t>Discussion &amp; Doubt session will be in lecture.</a:t>
            </a:r>
          </a:p>
          <a:p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Communication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Point to Point Connection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Multipoint Connection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7BBB1-AFD6-4015-8BB1-671B5145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774</Words>
  <Application>Microsoft Office PowerPoint</Application>
  <PresentationFormat>On-screen Show (4:3)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Comic Sans MS</vt:lpstr>
      <vt:lpstr>Times New Roman</vt:lpstr>
      <vt:lpstr>Wingdings</vt:lpstr>
      <vt:lpstr>Office Theme</vt:lpstr>
      <vt:lpstr>COMPUTER NETWORKS (BCSC 0008)</vt:lpstr>
      <vt:lpstr> Text and Reference Books </vt:lpstr>
      <vt:lpstr>Chapter 1: Introduction</vt:lpstr>
      <vt:lpstr>Communication</vt:lpstr>
      <vt:lpstr>Analyzing Voice Communication</vt:lpstr>
      <vt:lpstr>Voice Communication Vs. Data Communication</vt:lpstr>
      <vt:lpstr>So, What is Network??</vt:lpstr>
      <vt:lpstr>So, How many Kinds of Network??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Mili Dhar</cp:lastModifiedBy>
  <cp:revision>6</cp:revision>
  <dcterms:created xsi:type="dcterms:W3CDTF">2020-06-29T04:13:42Z</dcterms:created>
  <dcterms:modified xsi:type="dcterms:W3CDTF">2022-09-06T12:12:37Z</dcterms:modified>
</cp:coreProperties>
</file>