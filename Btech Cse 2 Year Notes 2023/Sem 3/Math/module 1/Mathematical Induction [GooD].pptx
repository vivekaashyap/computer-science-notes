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4" r:id="rId2"/>
    <p:sldId id="404" r:id="rId3"/>
    <p:sldId id="377" r:id="rId4"/>
    <p:sldId id="379" r:id="rId5"/>
    <p:sldId id="402" r:id="rId6"/>
    <p:sldId id="403" r:id="rId7"/>
    <p:sldId id="380" r:id="rId8"/>
    <p:sldId id="406" r:id="rId9"/>
    <p:sldId id="405" r:id="rId10"/>
    <p:sldId id="4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>
        <p:scale>
          <a:sx n="94" d="100"/>
          <a:sy n="94" d="100"/>
        </p:scale>
        <p:origin x="1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5F681-F59E-4182-8F6E-2E4DD0456ED4}" type="datetimeFigureOut">
              <a:rPr lang="en-US" smtClean="0"/>
              <a:t>9/19/22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6E7C9-2772-43D9-AC79-0C58FED9AB0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71D89A0-13C5-DF43-A048-F907BFCEA0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F7FE5C-85C6-C24E-9F22-EF26FBD6A032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E1982C6-9ED2-DF48-BCBE-35D9F72BFC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93E80E5-45D2-F643-B1E5-2997686FE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7FFDECA-1E3B-EE48-8E0A-8EB61DC9D0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C1B9A5-24DF-634F-A3F4-0A84896D4287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10F224F-A789-F94F-AFDD-59AEC06F94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3FE8A788-72AE-AE42-98DD-1389CEC06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CFC7074B-ABEF-7743-B647-B003878FAF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7DF210-E472-F947-894C-1108DB6086F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CFB8A77-AE46-1047-B16B-E4A02BAB2E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EB5F693-E901-EC46-9846-1371139FE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6FC39953-4DE7-C54B-8115-94944C55B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1E4F26-F06D-1C4C-ABD6-70A222777D81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7A4D3D7-5039-1E48-913D-7104312A19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8BC3D1B8-9133-6B49-B254-6CAFA2247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7639FE04-8ABC-394A-9B3A-6557668F3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D5433B-863B-EB44-AAB4-CCF6374EF9DC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254007D2-C47C-5A45-84E6-56B4CEB3420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3F2179A5-4C1A-7B4D-9607-CCD49C3CC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A48-4D4F-4F96-B869-503F9B6F0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C23C-9F9F-4804-8CA8-906AE4AE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6927-56E8-409B-B380-9D53F7DD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4A93-02AE-45FF-9724-CCA92FBA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C0B8-C02D-456D-8BDB-92D78C4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C3EB3-97B8-4CDC-A108-0AD7E0BDE6E1}"/>
              </a:ext>
            </a:extLst>
          </p:cNvPr>
          <p:cNvSpPr/>
          <p:nvPr userDrawn="1"/>
        </p:nvSpPr>
        <p:spPr>
          <a:xfrm>
            <a:off x="9486900" y="114301"/>
            <a:ext cx="2576146" cy="12192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454C-C927-489F-8702-8C17AC93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E81E-5B1A-4369-836F-DD44A7D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19EC-6667-4883-B295-3626487A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8362-2177-4CE4-AB99-6C47294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563E-9223-4AAE-95A5-133904F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1B7C-C156-4F0F-9B89-30EA788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4F86-B128-43C4-9DFA-A8B61A8D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D500-0E33-4068-A06A-DF80A159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899-099E-424E-BA2F-286D8A0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F50E-44A2-4168-B66B-013FA1AD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AA5-6613-421C-9015-0BDFD8A1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5106-7270-4CB5-B311-2B5130C0A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E471-D4BC-4613-9B9B-07142BFC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3D42-A6A4-47D1-BDB2-10BD38F7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06DC-80B1-431F-9274-9AD85EAB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52AC-1CD1-4480-87CF-0D48742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4F6-579A-4883-A6A1-C78D5BD9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87D1-51CD-43AF-B966-69FCA297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2FC4-8B1B-4E09-B51A-4493FDF9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36151-E461-4215-B404-C29A7F3F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AFDC6-5B9C-42F0-9923-FEC973F9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1F74-FE1A-4855-90C3-9C43F108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99EFC-19C1-4415-A205-4173089D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6B8B0-0AF7-4C0C-900E-543BF610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7659-EF74-4E90-AEDC-786D0350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0C633-BE99-4CE4-A9FE-71E3B43F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97C69-23A1-4A48-9B55-FC43BDD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49326-E098-4E0A-ABA8-A6B544E7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9356-A1FA-4A4B-AD94-28CEA3D3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842E-184D-437B-9E68-B73C557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CDBC-9151-4AED-8E1D-D076E3E1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2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B4ED-444F-4EC1-A462-AFB3EBB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C9A-AED9-44B3-A72A-996B2785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8CCFC-4CE2-4402-8B65-87B19C6D1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BAD0B-C3CC-4462-8401-131C59D1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97C41-4779-4568-BF34-01CA70C6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8C895-953D-47FC-9945-A68E3EC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E37B-EC1B-44EA-9068-EAEE222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1B5E0-62CB-4E6B-BF05-79A5C021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9174E-AE3B-4A8B-B15F-93C91F68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C9E7-3AAD-40A7-B89E-5E92D75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E1AC7-CD2A-46E8-A0BC-5CCE5376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474A5-F3D5-485C-BBE1-F009A6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4764-9790-46F3-8B48-5F11ADE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33C5-40D5-496A-B774-1D12E515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B64C-7C21-4846-8D70-5B9EBE4A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1EAE-B2B3-4A07-91BB-F488D8A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6C4F-2B26-4913-BDF2-D1E2DD1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9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699D-08B4-416B-9123-EA8BBEAD1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323-0229-4B29-9078-2251D210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02AF-12AC-4CB1-8E4D-6F6BC4F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CFF4-2867-45C9-9261-357CAE7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A01-0446-4C79-AB06-104B04A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D257B-41A3-44A8-8733-9BD8A9E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F41F-7472-4E1A-B6E6-6589FA48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9362-D603-4291-96AB-3B6FEB7B7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7469-F65E-4028-AFC4-3B0435E301CA}" type="datetimeFigureOut">
              <a:rPr lang="en-IN" smtClean="0"/>
              <a:pPr/>
              <a:t>19/09/22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6579-9564-4EC9-926E-786A7B5A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057E-3D1D-4C7A-B4C9-9CC324DD0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B81EF-ADC0-434C-8F8D-75162989A094}"/>
              </a:ext>
            </a:extLst>
          </p:cNvPr>
          <p:cNvSpPr/>
          <p:nvPr userDrawn="1"/>
        </p:nvSpPr>
        <p:spPr>
          <a:xfrm>
            <a:off x="8610600" y="333375"/>
            <a:ext cx="2743200" cy="13128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5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D53-4322-4971-8663-8C34154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8300"/>
            <a:ext cx="10515600" cy="219074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latin typeface="+mn-lt"/>
              </a:rPr>
              <a:t>Discrete Mathematics</a:t>
            </a:r>
            <a:br>
              <a:rPr lang="en-IN" sz="6600" b="1" dirty="0">
                <a:latin typeface="+mn-lt"/>
              </a:rPr>
            </a:br>
            <a:r>
              <a:rPr lang="en-IN" sz="6600" b="1" dirty="0">
                <a:latin typeface="+mn-lt"/>
              </a:rPr>
              <a:t>(BCSC1010)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20E-8782-4BDB-9D94-C00E649F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3714749"/>
            <a:ext cx="9144000" cy="2867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dirty="0"/>
              <a:t>Module 1</a:t>
            </a:r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b="1" dirty="0"/>
              <a:t>Mathematical Induction</a:t>
            </a:r>
          </a:p>
          <a:p>
            <a:pPr marL="0" indent="0" algn="ctr">
              <a:buNone/>
            </a:pPr>
            <a:endParaRPr lang="en-IN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79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83D8-0F76-B04F-A0ED-B78AB257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Mathematical Induction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8A3D-9A80-4641-B675-8BE8664DB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4164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/>
              <a:t>Definition</a:t>
            </a:r>
          </a:p>
          <a:p>
            <a:pPr algn="just"/>
            <a:r>
              <a:rPr lang="en-IN" b="1" dirty="0"/>
              <a:t>Mathematical Induction</a:t>
            </a:r>
            <a:r>
              <a:rPr lang="en-IN" dirty="0"/>
              <a:t> is a mathematical technique which is used to prove a statement, a formula or a theorem is true for every natural number.</a:t>
            </a:r>
          </a:p>
          <a:p>
            <a:endParaRPr lang="en-US" dirty="0"/>
          </a:p>
        </p:txBody>
      </p:sp>
      <p:pic>
        <p:nvPicPr>
          <p:cNvPr id="11266" name="Picture 2" descr="What is Mathematical Induction? - TestingDocs.com">
            <a:extLst>
              <a:ext uri="{FF2B5EF4-FFF2-40B4-BE49-F238E27FC236}">
                <a16:creationId xmlns:a16="http://schemas.microsoft.com/office/drawing/2014/main" id="{F6BC1FDB-FF97-7743-9A2C-0411EA9CB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423" y="3348533"/>
            <a:ext cx="6094568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36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F05DF69A-E8AC-A94E-A26C-43C9724C5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0184EF-7600-2040-B1F0-28229C81E2EE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B2E5208-9D86-9543-B51E-4BD418190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6576" y="361951"/>
            <a:ext cx="8979408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800" b="1" dirty="0">
                <a:solidFill>
                  <a:srgbClr val="FF0000"/>
                </a:solidFill>
              </a:rPr>
              <a:t>Principle of Mathematical Induction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744B141-9DCC-7B48-A3FB-F458B3782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Hypothesis: P(n) is true for all   integers </a:t>
            </a:r>
            <a:r>
              <a:rPr lang="en-US" altLang="en-US" dirty="0" err="1"/>
              <a:t>n</a:t>
            </a:r>
            <a:r>
              <a:rPr lang="en-US" altLang="en-US" dirty="0" err="1">
                <a:sym typeface="Symbol" pitchFamily="2" charset="2"/>
              </a:rPr>
              <a:t></a:t>
            </a:r>
            <a:r>
              <a:rPr lang="en-US" altLang="en-US" dirty="0" err="1"/>
              <a:t>b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To prove that P(n) is true for all  integers </a:t>
            </a:r>
            <a:r>
              <a:rPr lang="en-US" altLang="en-US" dirty="0" err="1"/>
              <a:t>n</a:t>
            </a:r>
            <a:r>
              <a:rPr lang="en-US" altLang="en-US" dirty="0" err="1">
                <a:sym typeface="Symbol" pitchFamily="2" charset="2"/>
              </a:rPr>
              <a:t></a:t>
            </a:r>
            <a:r>
              <a:rPr lang="en-US" altLang="en-US" dirty="0" err="1"/>
              <a:t>b</a:t>
            </a:r>
            <a:r>
              <a:rPr lang="en-US" altLang="en-US" dirty="0"/>
              <a:t> (*), where P(n) is a propositional function, follow  the steps: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Basic Step or Base Case</a:t>
            </a:r>
            <a:r>
              <a:rPr lang="en-US" altLang="en-US" dirty="0"/>
              <a:t>: Verify that P(b) is true;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Inductive Hypothesis: assume P(k) is true for some k</a:t>
            </a:r>
            <a:r>
              <a:rPr lang="en-US" altLang="en-US" dirty="0">
                <a:sym typeface="Symbol" pitchFamily="2" charset="2"/>
              </a:rPr>
              <a:t>  </a:t>
            </a:r>
            <a:r>
              <a:rPr lang="en-US" altLang="en-US" dirty="0"/>
              <a:t>b;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Inductive Step: Show that the conditional statement P(k) </a:t>
            </a:r>
            <a:r>
              <a:rPr lang="en-US" altLang="en-US" dirty="0">
                <a:sym typeface="Symbol" pitchFamily="2" charset="2"/>
              </a:rPr>
              <a:t>P(k+1) is true for all  integers k  b. </a:t>
            </a:r>
            <a:r>
              <a:rPr lang="en-US" altLang="en-US" i="1" dirty="0">
                <a:sym typeface="Symbol" pitchFamily="2" charset="2"/>
              </a:rPr>
              <a:t>This can be done by showing that under the inductive hypothesis that P(k) is true, P(k+1) must also be true.</a:t>
            </a: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6A203847-173B-424A-970C-4E04B9710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172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0" name="Text Box 5">
            <a:extLst>
              <a:ext uri="{FF2B5EF4-FFF2-40B4-BE49-F238E27FC236}">
                <a16:creationId xmlns:a16="http://schemas.microsoft.com/office/drawing/2014/main" id="{F67ECF10-7B0A-2647-AB37-91DC3211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6186489"/>
            <a:ext cx="568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/>
              <a:t>(*) quite often b=1, but b can be any integer number.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"/>
    </mc:Choice>
    <mc:Fallback>
      <p:transition spd="slow" advTm="1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57CBEA95-5811-4D4F-AAC3-FEB70FC28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C6BAF8-BBE4-B147-8A72-EC1A5AEB07C5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D97A348-8325-4E44-BD10-A599940D5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  <a:r>
              <a:rPr lang="en-US" altLang="en-US" sz="4800" b="1" dirty="0">
                <a:solidFill>
                  <a:srgbClr val="FF0000"/>
                </a:solidFill>
              </a:rPr>
              <a:t>Mathematical Induction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287AB47-BA08-BF45-8DEC-8154DF6DA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1" y="1828800"/>
            <a:ext cx="7580313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anose="02020603050405020304" pitchFamily="18" charset="0"/>
              </a:rPr>
              <a:t>Use induction to prove that the sum of the first n odd integers is n</a:t>
            </a:r>
            <a:r>
              <a:rPr lang="en-US" altLang="en-US" baseline="30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. What’s the hypothesis?</a:t>
            </a:r>
          </a:p>
          <a:p>
            <a:pPr eaLnBrk="1" hangingPunct="1"/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399812" name="Rectangle 4">
            <a:extLst>
              <a:ext uri="{FF2B5EF4-FFF2-40B4-BE49-F238E27FC236}">
                <a16:creationId xmlns:a16="http://schemas.microsoft.com/office/drawing/2014/main" id="{22C90043-7E32-B84C-AFEF-CEB0569BF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3860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latin typeface="Comic Sans MS" panose="030F0902030302020204" pitchFamily="66" charset="0"/>
            </a:endParaRPr>
          </a:p>
        </p:txBody>
      </p:sp>
      <p:sp>
        <p:nvSpPr>
          <p:cNvPr id="1399816" name="Rectangle 8">
            <a:extLst>
              <a:ext uri="{FF2B5EF4-FFF2-40B4-BE49-F238E27FC236}">
                <a16:creationId xmlns:a16="http://schemas.microsoft.com/office/drawing/2014/main" id="{0DF36F47-5627-BA40-9564-047060113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048000"/>
            <a:ext cx="739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  2 - Base case (n=1): the sum of the first 1 odd integer is 1</a:t>
            </a:r>
            <a:r>
              <a:rPr lang="en-US" altLang="en-US" sz="2000" baseline="30000" dirty="0"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cs typeface="Times New Roman" panose="02020603050405020304" pitchFamily="18" charset="0"/>
              </a:rPr>
              <a:t>.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           Since 1 = 1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2  </a:t>
            </a:r>
          </a:p>
        </p:txBody>
      </p:sp>
      <p:sp>
        <p:nvSpPr>
          <p:cNvPr id="1399820" name="Rectangle 12">
            <a:extLst>
              <a:ext uri="{FF2B5EF4-FFF2-40B4-BE49-F238E27FC236}">
                <a16:creationId xmlns:a16="http://schemas.microsoft.com/office/drawing/2014/main" id="{EDFBC653-482B-6447-8835-62178B128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9624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3 - Assume P(k): the sum of the first k odd ints is k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	1 + 3 + … + (2k - 1) = k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99821" name="Rectangle 13">
            <a:extLst>
              <a:ext uri="{FF2B5EF4-FFF2-40B4-BE49-F238E27FC236}">
                <a16:creationId xmlns:a16="http://schemas.microsoft.com/office/drawing/2014/main" id="{574AF1F9-70AB-864B-9214-F207EB91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76800"/>
            <a:ext cx="7315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4 – Inductive Step: show  that 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(k) </a:t>
            </a:r>
            <a:r>
              <a:rPr lang="en-US" altLang="en-US" sz="2000">
                <a:cs typeface="Times New Roman" panose="02020603050405020304" pitchFamily="18" charset="0"/>
              </a:rPr>
              <a:t>P(k) 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 P(k+1), assuming P(k).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How?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68590C66-1A4E-D24A-8F79-2C7176CB48D1}"/>
              </a:ext>
            </a:extLst>
          </p:cNvPr>
          <p:cNvGrpSpPr>
            <a:grpSpLocks/>
          </p:cNvGrpSpPr>
          <p:nvPr/>
        </p:nvGrpSpPr>
        <p:grpSpPr bwMode="auto">
          <a:xfrm>
            <a:off x="8991600" y="3733801"/>
            <a:ext cx="1524000" cy="1090613"/>
            <a:chOff x="286" y="3168"/>
            <a:chExt cx="4428" cy="768"/>
          </a:xfrm>
        </p:grpSpPr>
        <p:sp>
          <p:nvSpPr>
            <p:cNvPr id="8215" name="Oval 15">
              <a:extLst>
                <a:ext uri="{FF2B5EF4-FFF2-40B4-BE49-F238E27FC236}">
                  <a16:creationId xmlns:a16="http://schemas.microsoft.com/office/drawing/2014/main" id="{39DACE15-CB9E-BC4B-B8FB-9ACCC65AB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6" name="Text Box 16">
              <a:extLst>
                <a:ext uri="{FF2B5EF4-FFF2-40B4-BE49-F238E27FC236}">
                  <a16:creationId xmlns:a16="http://schemas.microsoft.com/office/drawing/2014/main" id="{9BB85827-1F60-5441-9A18-F5345DA62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6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Inductive hypothesis</a:t>
              </a:r>
            </a:p>
          </p:txBody>
        </p:sp>
      </p:grpSp>
      <p:sp>
        <p:nvSpPr>
          <p:cNvPr id="1399826" name="Rectangle 18">
            <a:extLst>
              <a:ext uri="{FF2B5EF4-FFF2-40B4-BE49-F238E27FC236}">
                <a16:creationId xmlns:a16="http://schemas.microsoft.com/office/drawing/2014/main" id="{2FE93D84-89F2-2443-911A-4DFA1910D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791200"/>
            <a:ext cx="434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P(k+1)= 1 + 3 + … + (2k-1) + (2k+1) =</a:t>
            </a:r>
            <a:endParaRPr lang="en-US" altLang="en-US" sz="2000" baseline="30000">
              <a:cs typeface="Times New Roman" panose="02020603050405020304" pitchFamily="18" charset="0"/>
            </a:endParaRPr>
          </a:p>
        </p:txBody>
      </p:sp>
      <p:sp>
        <p:nvSpPr>
          <p:cNvPr id="1399827" name="Rectangle 19">
            <a:extLst>
              <a:ext uri="{FF2B5EF4-FFF2-40B4-BE49-F238E27FC236}">
                <a16:creationId xmlns:a16="http://schemas.microsoft.com/office/drawing/2014/main" id="{6071046F-BCB2-A548-B6B5-A64AC68D1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791200"/>
            <a:ext cx="2133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k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+ (2k + 1)</a:t>
            </a:r>
            <a:endParaRPr lang="en-US" altLang="en-US" sz="2000" baseline="30000">
              <a:cs typeface="Times New Roman" panose="02020603050405020304" pitchFamily="18" charset="0"/>
            </a:endParaRPr>
          </a:p>
        </p:txBody>
      </p:sp>
      <p:grpSp>
        <p:nvGrpSpPr>
          <p:cNvPr id="5" name="Group 20">
            <a:extLst>
              <a:ext uri="{FF2B5EF4-FFF2-40B4-BE49-F238E27FC236}">
                <a16:creationId xmlns:a16="http://schemas.microsoft.com/office/drawing/2014/main" id="{6C14D978-B742-AD46-BED2-380A85C3EFB6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5257800"/>
            <a:ext cx="2133600" cy="914400"/>
            <a:chOff x="286" y="3168"/>
            <a:chExt cx="4428" cy="768"/>
          </a:xfrm>
        </p:grpSpPr>
        <p:sp>
          <p:nvSpPr>
            <p:cNvPr id="8213" name="Oval 21">
              <a:extLst>
                <a:ext uri="{FF2B5EF4-FFF2-40B4-BE49-F238E27FC236}">
                  <a16:creationId xmlns:a16="http://schemas.microsoft.com/office/drawing/2014/main" id="{93C3EEE4-74CC-AE4A-8259-5E0881B3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4" name="Text Box 22">
              <a:extLst>
                <a:ext uri="{FF2B5EF4-FFF2-40B4-BE49-F238E27FC236}">
                  <a16:creationId xmlns:a16="http://schemas.microsoft.com/office/drawing/2014/main" id="{33AECEC1-251F-5645-BAF3-E97390027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5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By inductive hypothesis</a:t>
              </a:r>
            </a:p>
          </p:txBody>
        </p:sp>
      </p:grpSp>
      <p:sp>
        <p:nvSpPr>
          <p:cNvPr id="1399831" name="Rectangle 23">
            <a:extLst>
              <a:ext uri="{FF2B5EF4-FFF2-40B4-BE49-F238E27FC236}">
                <a16:creationId xmlns:a16="http://schemas.microsoft.com/office/drawing/2014/main" id="{7C0384DE-FF0B-4B42-A5F2-D86C45146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096000"/>
            <a:ext cx="2133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= (k+1)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6" name="Group 29">
            <a:extLst>
              <a:ext uri="{FF2B5EF4-FFF2-40B4-BE49-F238E27FC236}">
                <a16:creationId xmlns:a16="http://schemas.microsoft.com/office/drawing/2014/main" id="{15793488-DE67-EB45-A6D5-478B34340CF0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638801"/>
            <a:ext cx="2209800" cy="1031875"/>
            <a:chOff x="528" y="3744"/>
            <a:chExt cx="1392" cy="650"/>
          </a:xfrm>
        </p:grpSpPr>
        <p:sp>
          <p:nvSpPr>
            <p:cNvPr id="8211" name="Oval 17">
              <a:extLst>
                <a:ext uri="{FF2B5EF4-FFF2-40B4-BE49-F238E27FC236}">
                  <a16:creationId xmlns:a16="http://schemas.microsoft.com/office/drawing/2014/main" id="{270441F6-BBE9-E44B-8DB9-2E55FF83E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744"/>
              <a:ext cx="1392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2" name="Text Box 28">
              <a:extLst>
                <a:ext uri="{FF2B5EF4-FFF2-40B4-BE49-F238E27FC236}">
                  <a16:creationId xmlns:a16="http://schemas.microsoft.com/office/drawing/2014/main" id="{449135F2-0749-9B4E-92B2-E5FCE6889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410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p(k)</a:t>
              </a:r>
            </a:p>
          </p:txBody>
        </p:sp>
      </p:grpSp>
      <p:sp>
        <p:nvSpPr>
          <p:cNvPr id="1399839" name="Text Box 31">
            <a:extLst>
              <a:ext uri="{FF2B5EF4-FFF2-40B4-BE49-F238E27FC236}">
                <a16:creationId xmlns:a16="http://schemas.microsoft.com/office/drawing/2014/main" id="{78880308-486C-3A4F-8652-D00896858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1" y="6400800"/>
            <a:ext cx="811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QED</a:t>
            </a:r>
          </a:p>
        </p:txBody>
      </p:sp>
      <p:sp>
        <p:nvSpPr>
          <p:cNvPr id="1399841" name="Rectangle 33">
            <a:extLst>
              <a:ext uri="{FF2B5EF4-FFF2-40B4-BE49-F238E27FC236}">
                <a16:creationId xmlns:a16="http://schemas.microsoft.com/office/drawing/2014/main" id="{93AAD30C-C52B-134D-B17F-D04183E83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514600"/>
            <a:ext cx="59250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1 – Hypothesis:  P(n) – sum of first n odd integers =  n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"/>
    </mc:Choice>
    <mc:Fallback>
      <p:transition spd="slow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9812" grpId="0" autoUpdateAnimBg="0"/>
      <p:bldP spid="1399816" grpId="0" autoUpdateAnimBg="0"/>
      <p:bldP spid="1399820" grpId="0" autoUpdateAnimBg="0"/>
      <p:bldP spid="1399821" grpId="0" autoUpdateAnimBg="0"/>
      <p:bldP spid="1399826" grpId="0" autoUpdateAnimBg="0"/>
      <p:bldP spid="1399827" grpId="0" autoUpdateAnimBg="0"/>
      <p:bldP spid="1399831" grpId="0" autoUpdateAnimBg="0"/>
      <p:bldP spid="1399839" grpId="0"/>
      <p:bldP spid="13998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8F62445B-83A0-1D42-BE5F-1D34827A8F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0DFEB23-C476-F148-A8F4-25CC0B19F96B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5C418FA-E9FC-A848-8861-F3501B8D2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altLang="en-US" sz="4800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4C60089-5175-344C-93F8-07A356787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1" y="1905000"/>
            <a:ext cx="7580313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anose="02020603050405020304" pitchFamily="18" charset="0"/>
              </a:rPr>
              <a:t>Use induction to prove that the 1 + 2 + 2</a:t>
            </a:r>
            <a:r>
              <a:rPr lang="en-US" altLang="en-US" baseline="30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 + … + 2</a:t>
            </a:r>
            <a:r>
              <a:rPr lang="en-US" altLang="en-US" baseline="30000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= 2</a:t>
            </a:r>
            <a:r>
              <a:rPr lang="en-US" altLang="en-US" baseline="30000" dirty="0">
                <a:cs typeface="Times New Roman" panose="02020603050405020304" pitchFamily="18" charset="0"/>
              </a:rPr>
              <a:t>n+1</a:t>
            </a:r>
            <a:r>
              <a:rPr lang="en-US" altLang="en-US" dirty="0">
                <a:cs typeface="Times New Roman" panose="02020603050405020304" pitchFamily="18" charset="0"/>
              </a:rPr>
              <a:t> - 1 for all non-negative integers n.</a:t>
            </a:r>
          </a:p>
          <a:p>
            <a:pPr eaLnBrk="1" hangingPunct="1"/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cs typeface="Times New Roman" panose="02020603050405020304" pitchFamily="18" charset="0"/>
              </a:rPr>
              <a:t>1 – Hypothesis? </a:t>
            </a:r>
          </a:p>
          <a:p>
            <a:pPr eaLnBrk="1" hangingPunct="1"/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428484" name="Rectangle 4">
            <a:extLst>
              <a:ext uri="{FF2B5EF4-FFF2-40B4-BE49-F238E27FC236}">
                <a16:creationId xmlns:a16="http://schemas.microsoft.com/office/drawing/2014/main" id="{9C75066F-114C-524A-BA5E-A1A82F781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3860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latin typeface="Comic Sans MS" panose="030F0902030302020204" pitchFamily="66" charset="0"/>
            </a:endParaRPr>
          </a:p>
        </p:txBody>
      </p:sp>
      <p:sp>
        <p:nvSpPr>
          <p:cNvPr id="1428488" name="Rectangle 8">
            <a:extLst>
              <a:ext uri="{FF2B5EF4-FFF2-40B4-BE49-F238E27FC236}">
                <a16:creationId xmlns:a16="http://schemas.microsoft.com/office/drawing/2014/main" id="{D88EF341-49A5-B24C-95DA-0119EC696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886200"/>
            <a:ext cx="739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	2 - Base case?  </a:t>
            </a:r>
            <a:endParaRPr lang="en-US" altLang="en-US" sz="2000" baseline="30000">
              <a:cs typeface="Times New Roman" panose="02020603050405020304" pitchFamily="18" charset="0"/>
            </a:endParaRPr>
          </a:p>
        </p:txBody>
      </p:sp>
      <p:sp>
        <p:nvSpPr>
          <p:cNvPr id="1428492" name="Rectangle 12">
            <a:extLst>
              <a:ext uri="{FF2B5EF4-FFF2-40B4-BE49-F238E27FC236}">
                <a16:creationId xmlns:a16="http://schemas.microsoft.com/office/drawing/2014/main" id="{E6509120-5834-1044-8595-F027AD301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864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3 – Inductive Hypothesis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Assume P(k)   = 1 + 2 + 2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+ … + 2</a:t>
            </a:r>
            <a:r>
              <a:rPr lang="en-US" altLang="en-US" sz="2000" baseline="30000">
                <a:cs typeface="Times New Roman" panose="02020603050405020304" pitchFamily="18" charset="0"/>
              </a:rPr>
              <a:t>k</a:t>
            </a:r>
            <a:r>
              <a:rPr lang="en-US" altLang="en-US" sz="2000">
                <a:cs typeface="Times New Roman" panose="02020603050405020304" pitchFamily="18" charset="0"/>
              </a:rPr>
              <a:t> = 2 </a:t>
            </a:r>
            <a:r>
              <a:rPr lang="en-US" altLang="en-US" sz="2000" baseline="30000">
                <a:cs typeface="Times New Roman" panose="02020603050405020304" pitchFamily="18" charset="0"/>
              </a:rPr>
              <a:t>k+1</a:t>
            </a:r>
            <a:r>
              <a:rPr lang="en-US" altLang="en-US" sz="2000">
                <a:cs typeface="Times New Roman" panose="02020603050405020304" pitchFamily="18" charset="0"/>
              </a:rPr>
              <a:t> – 1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  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707721B1-8382-9C4D-9BFE-8BE63E814940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5334001"/>
            <a:ext cx="1524000" cy="1090613"/>
            <a:chOff x="286" y="3168"/>
            <a:chExt cx="4428" cy="768"/>
          </a:xfrm>
        </p:grpSpPr>
        <p:sp>
          <p:nvSpPr>
            <p:cNvPr id="9232" name="Oval 15">
              <a:extLst>
                <a:ext uri="{FF2B5EF4-FFF2-40B4-BE49-F238E27FC236}">
                  <a16:creationId xmlns:a16="http://schemas.microsoft.com/office/drawing/2014/main" id="{E1275CFE-23A8-AF4B-9B12-19BE29E70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33" name="Text Box 16">
              <a:extLst>
                <a:ext uri="{FF2B5EF4-FFF2-40B4-BE49-F238E27FC236}">
                  <a16:creationId xmlns:a16="http://schemas.microsoft.com/office/drawing/2014/main" id="{A6D7A25C-C0DE-A34F-B484-F5C55CF7B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6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Inductive hypothesis</a:t>
              </a:r>
            </a:p>
          </p:txBody>
        </p:sp>
      </p:grpSp>
      <p:sp>
        <p:nvSpPr>
          <p:cNvPr id="1428506" name="Rectangle 26">
            <a:extLst>
              <a:ext uri="{FF2B5EF4-FFF2-40B4-BE49-F238E27FC236}">
                <a16:creationId xmlns:a16="http://schemas.microsoft.com/office/drawing/2014/main" id="{5F345B7A-6FB4-0747-BCAC-FECC1A986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1" y="4191001"/>
            <a:ext cx="2289175" cy="466725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/>
              <a:t>  n = 0  1</a:t>
            </a:r>
            <a:r>
              <a:rPr lang="en-US" altLang="en-US" baseline="30000"/>
              <a:t>0</a:t>
            </a:r>
            <a:r>
              <a:rPr lang="en-US" altLang="en-US"/>
              <a:t> = 2</a:t>
            </a:r>
            <a:r>
              <a:rPr lang="en-US" altLang="en-US" baseline="30000"/>
              <a:t>1</a:t>
            </a:r>
            <a:r>
              <a:rPr lang="en-US" altLang="en-US"/>
              <a:t>-1.</a:t>
            </a:r>
          </a:p>
        </p:txBody>
      </p:sp>
      <p:sp>
        <p:nvSpPr>
          <p:cNvPr id="1428511" name="Rectangle 31">
            <a:extLst>
              <a:ext uri="{FF2B5EF4-FFF2-40B4-BE49-F238E27FC236}">
                <a16:creationId xmlns:a16="http://schemas.microsoft.com/office/drawing/2014/main" id="{7EB603EA-3D9E-F743-ACA5-ED78B92C5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116" y="3048001"/>
            <a:ext cx="404309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P(n) = 1 + 2 + 2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+ … + 2</a:t>
            </a:r>
            <a:r>
              <a:rPr lang="en-US" altLang="en-US" sz="2000" baseline="30000">
                <a:cs typeface="Times New Roman" panose="02020603050405020304" pitchFamily="18" charset="0"/>
              </a:rPr>
              <a:t>n</a:t>
            </a:r>
            <a:r>
              <a:rPr lang="en-US" altLang="en-US" sz="2000">
                <a:cs typeface="Times New Roman" panose="02020603050405020304" pitchFamily="18" charset="0"/>
              </a:rPr>
              <a:t> = 2 </a:t>
            </a:r>
            <a:r>
              <a:rPr lang="en-US" altLang="en-US" sz="2000" baseline="30000">
                <a:cs typeface="Times New Roman" panose="02020603050405020304" pitchFamily="18" charset="0"/>
              </a:rPr>
              <a:t>n+1</a:t>
            </a:r>
            <a:r>
              <a:rPr lang="en-US" altLang="en-US" sz="2000">
                <a:cs typeface="Times New Roman" panose="02020603050405020304" pitchFamily="18" charset="0"/>
              </a:rPr>
              <a:t> – 1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for all non-negative integers n.</a:t>
            </a:r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227DED5A-F985-C247-A47F-63077052DA56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240213"/>
            <a:ext cx="2954338" cy="1066800"/>
            <a:chOff x="2928" y="2265"/>
            <a:chExt cx="1861" cy="672"/>
          </a:xfrm>
        </p:grpSpPr>
        <p:sp>
          <p:nvSpPr>
            <p:cNvPr id="9230" name="Line 33">
              <a:extLst>
                <a:ext uri="{FF2B5EF4-FFF2-40B4-BE49-F238E27FC236}">
                  <a16:creationId xmlns:a16="http://schemas.microsoft.com/office/drawing/2014/main" id="{CACFAA03-3A32-0445-A746-0A6D8BA4E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4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Text Box 34">
              <a:extLst>
                <a:ext uri="{FF2B5EF4-FFF2-40B4-BE49-F238E27FC236}">
                  <a16:creationId xmlns:a16="http://schemas.microsoft.com/office/drawing/2014/main" id="{3B251AA2-44D4-8048-A870-D86CDD246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265"/>
              <a:ext cx="1631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not n=1! The base case </a:t>
              </a:r>
            </a:p>
            <a:p>
              <a:pPr eaLnBrk="1" hangingPunct="1"/>
              <a:r>
                <a:rPr lang="en-US" altLang="en-US" sz="2000"/>
                <a:t>can be negative, zero,</a:t>
              </a:r>
            </a:p>
            <a:p>
              <a:pPr eaLnBrk="1" hangingPunct="1"/>
              <a:r>
                <a:rPr lang="en-US" altLang="en-US" sz="2000"/>
                <a:t>or positive</a:t>
              </a:r>
              <a:r>
                <a:rPr lang="en-US" altLang="en-US"/>
                <a:t>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"/>
    </mc:Choice>
    <mc:Fallback>
      <p:transition spd="slow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8484" grpId="0" autoUpdateAnimBg="0"/>
      <p:bldP spid="1428488" grpId="0" autoUpdateAnimBg="0"/>
      <p:bldP spid="1428492" grpId="0" autoUpdateAnimBg="0"/>
      <p:bldP spid="1428506" grpId="0" animBg="1"/>
      <p:bldP spid="14285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84BC79DF-962F-834D-973C-57302096E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6D7CFB-84CA-9C41-A5F3-3B1631D8341B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5A8C554-11F5-364C-A103-9CB6581B2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A41EA60-4981-514E-8B91-33429E0B9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3860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latin typeface="Comic Sans MS" panose="030F0902030302020204" pitchFamily="66" charset="0"/>
            </a:endParaRPr>
          </a:p>
        </p:txBody>
      </p:sp>
      <p:sp>
        <p:nvSpPr>
          <p:cNvPr id="1430541" name="Rectangle 13">
            <a:extLst>
              <a:ext uri="{FF2B5EF4-FFF2-40B4-BE49-F238E27FC236}">
                <a16:creationId xmlns:a16="http://schemas.microsoft.com/office/drawing/2014/main" id="{AE217AFF-57FC-9641-A6F7-3805AC0CB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57400"/>
            <a:ext cx="7315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4 – Inductive Step: show  that 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(k) </a:t>
            </a:r>
            <a:r>
              <a:rPr lang="en-US" altLang="en-US" sz="2000" dirty="0">
                <a:cs typeface="Times New Roman" panose="02020603050405020304" pitchFamily="18" charset="0"/>
              </a:rPr>
              <a:t>P(k) 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 P(k+1), assuming P(k).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How?</a:t>
            </a:r>
          </a:p>
        </p:txBody>
      </p:sp>
      <p:sp>
        <p:nvSpPr>
          <p:cNvPr id="1430545" name="Rectangle 17">
            <a:extLst>
              <a:ext uri="{FF2B5EF4-FFF2-40B4-BE49-F238E27FC236}">
                <a16:creationId xmlns:a16="http://schemas.microsoft.com/office/drawing/2014/main" id="{7388815F-9FAC-874A-A36F-5C6648C8E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647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P(k+1)=   1 + 2 + 2</a:t>
            </a:r>
            <a:r>
              <a:rPr lang="en-US" altLang="en-US" sz="2000" baseline="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+ … + 2</a:t>
            </a:r>
            <a:r>
              <a:rPr lang="en-US" altLang="en-US" sz="2000" baseline="30000">
                <a:cs typeface="Times New Roman" panose="02020603050405020304" pitchFamily="18" charset="0"/>
              </a:rPr>
              <a:t>k</a:t>
            </a:r>
            <a:r>
              <a:rPr lang="en-US" altLang="en-US" sz="2000">
                <a:cs typeface="Times New Roman" panose="02020603050405020304" pitchFamily="18" charset="0"/>
              </a:rPr>
              <a:t>+ 2</a:t>
            </a:r>
            <a:r>
              <a:rPr lang="en-US" altLang="en-US" sz="2000" baseline="30000">
                <a:cs typeface="Times New Roman" panose="02020603050405020304" pitchFamily="18" charset="0"/>
              </a:rPr>
              <a:t>k+1</a:t>
            </a:r>
            <a:r>
              <a:rPr lang="en-US" altLang="en-US" sz="2000">
                <a:cs typeface="Times New Roman" panose="02020603050405020304" pitchFamily="18" charset="0"/>
              </a:rPr>
              <a:t> = (2</a:t>
            </a:r>
            <a:r>
              <a:rPr lang="en-US" altLang="en-US" sz="2000" baseline="30000">
                <a:cs typeface="Times New Roman" panose="02020603050405020304" pitchFamily="18" charset="0"/>
              </a:rPr>
              <a:t>k+1</a:t>
            </a:r>
            <a:r>
              <a:rPr lang="en-US" altLang="en-US" sz="2000">
                <a:cs typeface="Times New Roman" panose="02020603050405020304" pitchFamily="18" charset="0"/>
              </a:rPr>
              <a:t> – 1) +  2</a:t>
            </a:r>
            <a:r>
              <a:rPr lang="en-US" altLang="en-US" sz="2000" baseline="30000">
                <a:cs typeface="Times New Roman" panose="02020603050405020304" pitchFamily="18" charset="0"/>
              </a:rPr>
              <a:t>k+1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C69398DA-C49D-D345-9165-E4C5F534A476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3048000"/>
            <a:ext cx="2133600" cy="914400"/>
            <a:chOff x="286" y="3168"/>
            <a:chExt cx="4428" cy="768"/>
          </a:xfrm>
        </p:grpSpPr>
        <p:sp>
          <p:nvSpPr>
            <p:cNvPr id="10255" name="Oval 20">
              <a:extLst>
                <a:ext uri="{FF2B5EF4-FFF2-40B4-BE49-F238E27FC236}">
                  <a16:creationId xmlns:a16="http://schemas.microsoft.com/office/drawing/2014/main" id="{8D3376EA-50F4-D543-BD1C-20BD989EA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6" name="Text Box 21">
              <a:extLst>
                <a:ext uri="{FF2B5EF4-FFF2-40B4-BE49-F238E27FC236}">
                  <a16:creationId xmlns:a16="http://schemas.microsoft.com/office/drawing/2014/main" id="{0C3B0764-9E77-CB41-B9CB-24C1449CF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5" cy="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By inductive hypothesis</a:t>
              </a:r>
            </a:p>
          </p:txBody>
        </p: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34306EC0-6B11-2C49-BB8D-B749902A4901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124201"/>
            <a:ext cx="2209800" cy="1031875"/>
            <a:chOff x="528" y="3744"/>
            <a:chExt cx="1392" cy="650"/>
          </a:xfrm>
        </p:grpSpPr>
        <p:sp>
          <p:nvSpPr>
            <p:cNvPr id="10253" name="Oval 28">
              <a:extLst>
                <a:ext uri="{FF2B5EF4-FFF2-40B4-BE49-F238E27FC236}">
                  <a16:creationId xmlns:a16="http://schemas.microsoft.com/office/drawing/2014/main" id="{2AC3DB8D-51DE-254E-8DCB-3A58D47EB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744"/>
              <a:ext cx="1392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4" name="Text Box 29">
              <a:extLst>
                <a:ext uri="{FF2B5EF4-FFF2-40B4-BE49-F238E27FC236}">
                  <a16:creationId xmlns:a16="http://schemas.microsoft.com/office/drawing/2014/main" id="{C02EA432-8118-0049-AD74-EA63E6293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410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p(k)</a:t>
              </a:r>
            </a:p>
          </p:txBody>
        </p:sp>
      </p:grpSp>
      <p:sp>
        <p:nvSpPr>
          <p:cNvPr id="1430561" name="Text Box 33">
            <a:extLst>
              <a:ext uri="{FF2B5EF4-FFF2-40B4-BE49-F238E27FC236}">
                <a16:creationId xmlns:a16="http://schemas.microsoft.com/office/drawing/2014/main" id="{A7C25B73-77B6-DD41-8B0B-9992C845F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733801"/>
            <a:ext cx="1354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= </a:t>
            </a:r>
            <a:r>
              <a:rPr lang="en-US" altLang="en-US" sz="2000">
                <a:cs typeface="Times New Roman" panose="02020603050405020304" pitchFamily="18" charset="0"/>
              </a:rPr>
              <a:t>2</a:t>
            </a:r>
            <a:r>
              <a:rPr lang="en-US" altLang="en-US"/>
              <a:t> </a:t>
            </a:r>
            <a:r>
              <a:rPr lang="en-US" altLang="en-US" sz="2000">
                <a:cs typeface="Times New Roman" panose="02020603050405020304" pitchFamily="18" charset="0"/>
              </a:rPr>
              <a:t>2</a:t>
            </a:r>
            <a:r>
              <a:rPr lang="en-US" altLang="en-US" sz="2000" baseline="30000">
                <a:cs typeface="Times New Roman" panose="02020603050405020304" pitchFamily="18" charset="0"/>
              </a:rPr>
              <a:t>k+1 </a:t>
            </a:r>
            <a:r>
              <a:rPr lang="en-US" altLang="en-US" sz="2000">
                <a:cs typeface="Times New Roman" panose="02020603050405020304" pitchFamily="18" charset="0"/>
              </a:rPr>
              <a:t>- 1</a:t>
            </a:r>
          </a:p>
        </p:txBody>
      </p:sp>
      <p:sp>
        <p:nvSpPr>
          <p:cNvPr id="1430562" name="Text Box 34">
            <a:extLst>
              <a:ext uri="{FF2B5EF4-FFF2-40B4-BE49-F238E27FC236}">
                <a16:creationId xmlns:a16="http://schemas.microsoft.com/office/drawing/2014/main" id="{CF97CA7A-B1BA-CE4C-AB44-FA153F2BF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4648201"/>
            <a:ext cx="22381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P(k+1) =   </a:t>
            </a:r>
            <a:r>
              <a:rPr lang="en-US" altLang="en-US" sz="2000">
                <a:cs typeface="Times New Roman" panose="02020603050405020304" pitchFamily="18" charset="0"/>
              </a:rPr>
              <a:t>2</a:t>
            </a:r>
            <a:r>
              <a:rPr lang="en-US" altLang="en-US" sz="2000" baseline="30000">
                <a:cs typeface="Times New Roman" panose="02020603050405020304" pitchFamily="18" charset="0"/>
              </a:rPr>
              <a:t>k+2 </a:t>
            </a:r>
            <a:r>
              <a:rPr lang="en-US" altLang="en-US" sz="2000">
                <a:cs typeface="Times New Roman" panose="02020603050405020304" pitchFamily="18" charset="0"/>
              </a:rPr>
              <a:t>- 1</a:t>
            </a:r>
          </a:p>
        </p:txBody>
      </p:sp>
      <p:sp>
        <p:nvSpPr>
          <p:cNvPr id="1430563" name="Text Box 35">
            <a:extLst>
              <a:ext uri="{FF2B5EF4-FFF2-40B4-BE49-F238E27FC236}">
                <a16:creationId xmlns:a16="http://schemas.microsoft.com/office/drawing/2014/main" id="{A5A57CD6-FA18-A647-9C0A-DB1475598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105401"/>
            <a:ext cx="1574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= </a:t>
            </a:r>
            <a:r>
              <a:rPr lang="en-US" altLang="en-US" sz="2000">
                <a:cs typeface="Times New Roman" panose="02020603050405020304" pitchFamily="18" charset="0"/>
              </a:rPr>
              <a:t>  2</a:t>
            </a:r>
            <a:r>
              <a:rPr lang="en-US" altLang="en-US" sz="2000" baseline="30000">
                <a:cs typeface="Times New Roman" panose="02020603050405020304" pitchFamily="18" charset="0"/>
              </a:rPr>
              <a:t>(k+1)+1 </a:t>
            </a:r>
            <a:r>
              <a:rPr lang="en-US" altLang="en-US" sz="2000">
                <a:cs typeface="Times New Roman" panose="02020603050405020304" pitchFamily="18" charset="0"/>
              </a:rPr>
              <a:t>- 1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"/>
    </mc:Choice>
    <mc:Fallback>
      <p:transition spd="slow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0541" grpId="0" autoUpdateAnimBg="0"/>
      <p:bldP spid="1430541" grpId="1"/>
      <p:bldP spid="1430545" grpId="0" autoUpdateAnimBg="0"/>
      <p:bldP spid="1430561" grpId="0"/>
      <p:bldP spid="1430562" grpId="0"/>
      <p:bldP spid="14305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D6B92B-85B6-2F45-9E2B-077E200E0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Example</a:t>
            </a:r>
            <a:endParaRPr lang="en-US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245813E-7312-9E48-8641-F0AB47276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901" y="1219200"/>
            <a:ext cx="7580313" cy="876300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anose="02020603050405020304" pitchFamily="18" charset="0"/>
              </a:rPr>
              <a:t>Prove that 1</a:t>
            </a:r>
            <a:r>
              <a:rPr lang="en-US" altLang="en-US" dirty="0">
                <a:cs typeface="Times New Roman" panose="02020603050405020304" pitchFamily="18" charset="0"/>
                <a:sym typeface="Symbol" pitchFamily="2" charset="2"/>
              </a:rPr>
              <a:t>1! + 22! + … + </a:t>
            </a:r>
            <a:r>
              <a:rPr lang="en-US" altLang="en-US" dirty="0" err="1">
                <a:cs typeface="Times New Roman" panose="02020603050405020304" pitchFamily="18" charset="0"/>
                <a:sym typeface="Symbol" pitchFamily="2" charset="2"/>
              </a:rPr>
              <a:t>nn</a:t>
            </a:r>
            <a:r>
              <a:rPr lang="en-US" altLang="en-US" dirty="0">
                <a:cs typeface="Times New Roman" panose="02020603050405020304" pitchFamily="18" charset="0"/>
                <a:sym typeface="Symbol" pitchFamily="2" charset="2"/>
              </a:rPr>
              <a:t>! = (n+1)! - 1,    positive integers</a:t>
            </a:r>
          </a:p>
        </p:txBody>
      </p:sp>
      <p:sp>
        <p:nvSpPr>
          <p:cNvPr id="1401860" name="Rectangle 4">
            <a:extLst>
              <a:ext uri="{FF2B5EF4-FFF2-40B4-BE49-F238E27FC236}">
                <a16:creationId xmlns:a16="http://schemas.microsoft.com/office/drawing/2014/main" id="{3E934D57-CED6-5545-84AC-B0ACF62C1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26720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latin typeface="Comic Sans MS" panose="030F0902030302020204" pitchFamily="66" charset="0"/>
            </a:endParaRPr>
          </a:p>
        </p:txBody>
      </p:sp>
      <p:sp>
        <p:nvSpPr>
          <p:cNvPr id="1401861" name="Rectangle 5">
            <a:extLst>
              <a:ext uri="{FF2B5EF4-FFF2-40B4-BE49-F238E27FC236}">
                <a16:creationId xmlns:a16="http://schemas.microsoft.com/office/drawing/2014/main" id="{255EE5D8-064A-E74F-A90E-E74B6C387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667000"/>
            <a:ext cx="739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2 - Base case (n=1): 1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1! = (1+1)! - 1?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1! = 1 and 2! - 1 = 1</a:t>
            </a:r>
          </a:p>
        </p:txBody>
      </p:sp>
      <p:sp>
        <p:nvSpPr>
          <p:cNvPr id="1401862" name="Rectangle 6">
            <a:extLst>
              <a:ext uri="{FF2B5EF4-FFF2-40B4-BE49-F238E27FC236}">
                <a16:creationId xmlns:a16="http://schemas.microsoft.com/office/drawing/2014/main" id="{5F437AAD-E47E-C044-86A0-0B5BC7A2A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5052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3 - Assume P(k): 1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1! + 22! + … + kk! = (k+1)! - 1</a:t>
            </a:r>
          </a:p>
        </p:txBody>
      </p:sp>
      <p:sp>
        <p:nvSpPr>
          <p:cNvPr id="1401863" name="Rectangle 7">
            <a:extLst>
              <a:ext uri="{FF2B5EF4-FFF2-40B4-BE49-F238E27FC236}">
                <a16:creationId xmlns:a16="http://schemas.microsoft.com/office/drawing/2014/main" id="{755ABA02-DC13-8D44-ACFC-DA1BE1EC7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962400"/>
            <a:ext cx="830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4 – Inductive Step - show  that 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k  </a:t>
            </a:r>
            <a:r>
              <a:rPr lang="en-US" altLang="en-US" sz="2000" dirty="0">
                <a:cs typeface="Times New Roman" panose="02020603050405020304" pitchFamily="18" charset="0"/>
              </a:rPr>
              <a:t>P(k) 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 P(k+1), assuming P(k).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i.e. prove that 1</a:t>
            </a:r>
            <a:r>
              <a:rPr lang="en-US" altLang="en-US" sz="1800" dirty="0">
                <a:cs typeface="Times New Roman" panose="02020603050405020304" pitchFamily="18" charset="0"/>
                <a:sym typeface="Symbol" pitchFamily="2" charset="2"/>
              </a:rPr>
              <a:t>1! + … + </a:t>
            </a:r>
            <a:r>
              <a:rPr lang="en-US" altLang="en-US" sz="1800" dirty="0" err="1">
                <a:cs typeface="Times New Roman" panose="02020603050405020304" pitchFamily="18" charset="0"/>
                <a:sym typeface="Symbol" pitchFamily="2" charset="2"/>
              </a:rPr>
              <a:t>kk</a:t>
            </a:r>
            <a:r>
              <a:rPr lang="en-US" altLang="en-US" sz="1800" dirty="0">
                <a:cs typeface="Times New Roman" panose="02020603050405020304" pitchFamily="18" charset="0"/>
                <a:sym typeface="Symbol" pitchFamily="2" charset="2"/>
              </a:rPr>
              <a:t>! + (k+1)(k+1)! = (k+2)! – 1, assuming P(k)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32EA7835-F8BD-C245-A80F-44DE68D5F28F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971801"/>
            <a:ext cx="1524000" cy="1090613"/>
            <a:chOff x="286" y="3168"/>
            <a:chExt cx="4428" cy="768"/>
          </a:xfrm>
        </p:grpSpPr>
        <p:sp>
          <p:nvSpPr>
            <p:cNvPr id="11281" name="Oval 9">
              <a:extLst>
                <a:ext uri="{FF2B5EF4-FFF2-40B4-BE49-F238E27FC236}">
                  <a16:creationId xmlns:a16="http://schemas.microsoft.com/office/drawing/2014/main" id="{F668070B-89B0-C144-AEA3-9875801AD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168"/>
              <a:ext cx="4428" cy="76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2" name="Text Box 10">
              <a:extLst>
                <a:ext uri="{FF2B5EF4-FFF2-40B4-BE49-F238E27FC236}">
                  <a16:creationId xmlns:a16="http://schemas.microsoft.com/office/drawing/2014/main" id="{2169AD45-B4E2-1F48-849E-9E5BD3E3C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" y="3264"/>
              <a:ext cx="4386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latin typeface="Comic Sans MS" panose="030F0902030302020204" pitchFamily="66" charset="0"/>
                  <a:sym typeface="Symbol" pitchFamily="2" charset="2"/>
                </a:rPr>
                <a:t>Inductive hypothesis</a:t>
              </a:r>
            </a:p>
          </p:txBody>
        </p:sp>
      </p:grpSp>
      <p:sp>
        <p:nvSpPr>
          <p:cNvPr id="1401867" name="Oval 11">
            <a:extLst>
              <a:ext uri="{FF2B5EF4-FFF2-40B4-BE49-F238E27FC236}">
                <a16:creationId xmlns:a16="http://schemas.microsoft.com/office/drawing/2014/main" id="{FD9ECAC2-2A45-6F41-958E-47366C4D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800600"/>
            <a:ext cx="22098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01868" name="Rectangle 12">
            <a:extLst>
              <a:ext uri="{FF2B5EF4-FFF2-40B4-BE49-F238E27FC236}">
                <a16:creationId xmlns:a16="http://schemas.microsoft.com/office/drawing/2014/main" id="{DB6580DF-AF69-7F48-815F-EF4722E95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876800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1! + … + kk! + (k+1)(k+1)! =</a:t>
            </a:r>
            <a:r>
              <a:rPr lang="en-US" altLang="en-US" sz="2000">
                <a:latin typeface="Comic Sans MS" panose="030F0902030302020204" pitchFamily="66" charset="0"/>
                <a:sym typeface="Symbol" pitchFamily="2" charset="2"/>
              </a:rPr>
              <a:t> </a:t>
            </a:r>
          </a:p>
        </p:txBody>
      </p:sp>
      <p:sp>
        <p:nvSpPr>
          <p:cNvPr id="1401869" name="Rectangle 13">
            <a:extLst>
              <a:ext uri="{FF2B5EF4-FFF2-40B4-BE49-F238E27FC236}">
                <a16:creationId xmlns:a16="http://schemas.microsoft.com/office/drawing/2014/main" id="{2FD44278-755B-3B4E-BF32-629179BF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3505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(k+1)! - 1 + (k+1)(k+1)!</a:t>
            </a:r>
          </a:p>
        </p:txBody>
      </p:sp>
      <p:sp>
        <p:nvSpPr>
          <p:cNvPr id="1401870" name="Rectangle 14">
            <a:extLst>
              <a:ext uri="{FF2B5EF4-FFF2-40B4-BE49-F238E27FC236}">
                <a16:creationId xmlns:a16="http://schemas.microsoft.com/office/drawing/2014/main" id="{A736631F-388C-7E4E-AE4F-BF518B15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3505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= (1 + (k+1))(k+1)! - 1</a:t>
            </a:r>
          </a:p>
        </p:txBody>
      </p:sp>
      <p:sp>
        <p:nvSpPr>
          <p:cNvPr id="1401871" name="Rectangle 15">
            <a:extLst>
              <a:ext uri="{FF2B5EF4-FFF2-40B4-BE49-F238E27FC236}">
                <a16:creationId xmlns:a16="http://schemas.microsoft.com/office/drawing/2014/main" id="{D9FA5CBD-678D-494D-83F6-9D159340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715000"/>
            <a:ext cx="3505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= (k+2)(k+1)! - 1</a:t>
            </a:r>
          </a:p>
        </p:txBody>
      </p:sp>
      <p:sp>
        <p:nvSpPr>
          <p:cNvPr id="1401872" name="Rectangle 16">
            <a:extLst>
              <a:ext uri="{FF2B5EF4-FFF2-40B4-BE49-F238E27FC236}">
                <a16:creationId xmlns:a16="http://schemas.microsoft.com/office/drawing/2014/main" id="{64B81DD7-1883-F84D-BF38-526C4DCE0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6324600"/>
            <a:ext cx="3505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>
                <a:cs typeface="Times New Roman" panose="02020603050405020304" pitchFamily="18" charset="0"/>
              </a:rPr>
              <a:t>= (k+2)! - 1</a:t>
            </a:r>
            <a:endParaRPr lang="en-US" altLang="en-US" sz="2000" baseline="30000">
              <a:cs typeface="Times New Roman" panose="02020603050405020304" pitchFamily="18" charset="0"/>
            </a:endParaRPr>
          </a:p>
        </p:txBody>
      </p:sp>
      <p:sp>
        <p:nvSpPr>
          <p:cNvPr id="1401874" name="Rectangle 18">
            <a:extLst>
              <a:ext uri="{FF2B5EF4-FFF2-40B4-BE49-F238E27FC236}">
                <a16:creationId xmlns:a16="http://schemas.microsoft.com/office/drawing/2014/main" id="{BAE57AF2-9677-2540-9622-54AD8FB18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209800"/>
            <a:ext cx="883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cs typeface="Times New Roman" panose="02020603050405020304" pitchFamily="18" charset="0"/>
              </a:rPr>
              <a:t>1 – Hypothesis  P(n) = 1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1! + 22! + … + </a:t>
            </a:r>
            <a:r>
              <a:rPr lang="en-US" altLang="en-US" sz="2000" dirty="0" err="1">
                <a:cs typeface="Times New Roman" panose="02020603050405020304" pitchFamily="18" charset="0"/>
                <a:sym typeface="Symbol" pitchFamily="2" charset="2"/>
              </a:rPr>
              <a:t>nn</a:t>
            </a:r>
            <a:r>
              <a:rPr lang="en-US" altLang="en-US" sz="2000" dirty="0">
                <a:cs typeface="Times New Roman" panose="02020603050405020304" pitchFamily="18" charset="0"/>
                <a:sym typeface="Symbol" pitchFamily="2" charset="2"/>
              </a:rPr>
              <a:t>! = (n+1)! - 1,  positive integers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"/>
    </mc:Choice>
    <mc:Fallback>
      <p:transition spd="slow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1860" grpId="0" autoUpdateAnimBg="0"/>
      <p:bldP spid="1401861" grpId="0" autoUpdateAnimBg="0"/>
      <p:bldP spid="1401862" grpId="0" autoUpdateAnimBg="0"/>
      <p:bldP spid="1401863" grpId="0" autoUpdateAnimBg="0"/>
      <p:bldP spid="1401867" grpId="0" animBg="1"/>
      <p:bldP spid="1401868" grpId="0" autoUpdateAnimBg="0"/>
      <p:bldP spid="1401869" grpId="0" autoUpdateAnimBg="0"/>
      <p:bldP spid="1401870" grpId="0" autoUpdateAnimBg="0"/>
      <p:bldP spid="1401871" grpId="0" autoUpdateAnimBg="0"/>
      <p:bldP spid="1401872" grpId="0" autoUpdateAnimBg="0"/>
      <p:bldP spid="14018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D82D-0F6E-6940-A1EB-A00D5422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4561"/>
            <a:ext cx="10515600" cy="1325563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C5F6B-F50B-6B46-BBD8-00C935130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7798"/>
                <a:ext cx="10515600" cy="554916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FF0000"/>
                    </a:solidFill>
                  </a:rPr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𝒂𝒃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</a:rPr>
                  <a:t> is true for every natural number </a:t>
                </a:r>
                <a:r>
                  <a:rPr lang="en-IN" sz="2400" b="1" i="1" dirty="0">
                    <a:solidFill>
                      <a:srgbClr val="FF0000"/>
                    </a:solidFill>
                  </a:rPr>
                  <a:t>n</a:t>
                </a:r>
                <a:endParaRPr lang="en-IN" sz="2400" b="1" dirty="0">
                  <a:solidFill>
                    <a:srgbClr val="FF0000"/>
                  </a:solidFill>
                </a:endParaRPr>
              </a:p>
              <a:p>
                <a:r>
                  <a:rPr lang="en-IN" sz="2400" b="1" dirty="0"/>
                  <a:t>Step 1</a:t>
                </a:r>
                <a:r>
                  <a:rPr lang="en-IN" sz="2400" dirty="0"/>
                  <a:t> − For </a:t>
                </a:r>
                <a:r>
                  <a:rPr lang="en-IN" sz="2400" i="1" dirty="0"/>
                  <a:t>n</a:t>
                </a:r>
                <a:r>
                  <a:rPr lang="en-IN" sz="2400" dirty="0"/>
                  <a:t>=1,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</a:t>
                </a:r>
                <a:r>
                  <a:rPr lang="en-IN" sz="2400" i="1" dirty="0"/>
                  <a:t>ab</a:t>
                </a: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Hence, step 1 is satisfied.</a:t>
                </a:r>
              </a:p>
              <a:p>
                <a:r>
                  <a:rPr lang="en-IN" sz="2400" b="1" dirty="0"/>
                  <a:t>Step 2</a:t>
                </a:r>
                <a:r>
                  <a:rPr lang="en-IN" sz="2400" dirty="0"/>
                  <a:t> − Let us assume the statement is true for </a:t>
                </a:r>
                <a:r>
                  <a:rPr lang="en-IN" sz="2400" i="1" dirty="0"/>
                  <a:t>n</a:t>
                </a:r>
                <a:r>
                  <a:rPr lang="en-IN" sz="2400" dirty="0"/>
                  <a:t>=</a:t>
                </a:r>
                <a:r>
                  <a:rPr lang="en-IN" sz="2400" i="1" dirty="0"/>
                  <a:t>k</a:t>
                </a:r>
              </a:p>
              <a:p>
                <a:pPr marL="0" indent="0">
                  <a:buNone/>
                </a:pPr>
                <a:r>
                  <a:rPr lang="en-IN" sz="2400" dirty="0"/>
                  <a:t>Hence,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 err="1"/>
                  <a:t>is</a:t>
                </a:r>
                <a:r>
                  <a:rPr lang="en-IN" sz="2400" dirty="0"/>
                  <a:t> true (It is an assumption).</a:t>
                </a:r>
              </a:p>
              <a:p>
                <a:r>
                  <a:rPr lang="en-IN" sz="2400" dirty="0"/>
                  <a:t>We have to 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IN" sz="2400" dirty="0"/>
                  <a:t> also hold</a:t>
                </a:r>
              </a:p>
              <a:p>
                <a:r>
                  <a:rPr lang="en-IN" sz="2400" dirty="0"/>
                  <a:t>Given,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IN" sz="2400" dirty="0"/>
                  <a:t>[Multiplying both side by 'ab']</a:t>
                </a:r>
              </a:p>
              <a:p>
                <a:r>
                  <a:rPr lang="en-IN" sz="2400" dirty="0"/>
                  <a:t>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IN" sz="2400" dirty="0"/>
              </a:p>
              <a:p>
                <a:r>
                  <a:rPr lang="en-IN" sz="2400" dirty="0"/>
                  <a:t>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IN" sz="2400" dirty="0"/>
                  <a:t> </a:t>
                </a:r>
              </a:p>
              <a:p>
                <a:pPr marL="0" indent="0">
                  <a:buNone/>
                </a:pPr>
                <a:r>
                  <a:rPr lang="en-IN" sz="2400" dirty="0"/>
                  <a:t>Hence, step 2 is proved.</a:t>
                </a:r>
              </a:p>
              <a:p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is true  for every natural number n.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C5F6B-F50B-6B46-BBD8-00C935130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7798"/>
                <a:ext cx="10515600" cy="5549166"/>
              </a:xfrm>
              <a:blipFill>
                <a:blip r:embed="rId2"/>
                <a:stretch>
                  <a:fillRect l="-965" t="-1370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55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589A-75DD-BB41-A157-277D2B29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Strong Induction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77FB-43DF-DE46-AD38-4C600E690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9818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3200" dirty="0"/>
              <a:t>Strong Induction is another form of mathematical induction. Through this induction technique, we can prove that a propositional function, </a:t>
            </a:r>
            <a:r>
              <a:rPr lang="en-IN" sz="3200" i="1" dirty="0"/>
              <a:t>P</a:t>
            </a:r>
            <a:r>
              <a:rPr lang="en-IN" sz="3200" dirty="0"/>
              <a:t>(</a:t>
            </a:r>
            <a:r>
              <a:rPr lang="en-IN" sz="3200" i="1" dirty="0"/>
              <a:t>n</a:t>
            </a:r>
            <a:r>
              <a:rPr lang="en-IN" sz="3200" dirty="0"/>
              <a:t>) is true for all positive integers, </a:t>
            </a:r>
            <a:r>
              <a:rPr lang="en-IN" sz="3200" i="1" dirty="0"/>
              <a:t>n</a:t>
            </a:r>
            <a:r>
              <a:rPr lang="en-IN" sz="3200" dirty="0"/>
              <a:t>, using the following steps:-</a:t>
            </a:r>
          </a:p>
          <a:p>
            <a:pPr algn="just"/>
            <a:r>
              <a:rPr lang="en-IN" sz="3200" b="1" dirty="0"/>
              <a:t>Step 1(Base step)</a:t>
            </a:r>
            <a:r>
              <a:rPr lang="en-IN" sz="3200" dirty="0"/>
              <a:t> − It proves that the initial proposition </a:t>
            </a:r>
            <a:r>
              <a:rPr lang="en-IN" sz="3200" i="1" dirty="0"/>
              <a:t>P</a:t>
            </a:r>
            <a:r>
              <a:rPr lang="en-IN" sz="3200" dirty="0"/>
              <a:t>(1) true.</a:t>
            </a:r>
          </a:p>
          <a:p>
            <a:pPr algn="just"/>
            <a:r>
              <a:rPr lang="en-IN" sz="3200" b="1" dirty="0"/>
              <a:t>Step 2(Inductive step)</a:t>
            </a:r>
            <a:r>
              <a:rPr lang="en-IN" sz="3200" dirty="0"/>
              <a:t> − It proves that the conditional statement [</a:t>
            </a:r>
            <a:r>
              <a:rPr lang="en-IN" sz="3200" i="1" dirty="0"/>
              <a:t>P</a:t>
            </a:r>
            <a:r>
              <a:rPr lang="en-IN" sz="3200" dirty="0"/>
              <a:t>(1)∧</a:t>
            </a:r>
            <a:r>
              <a:rPr lang="en-IN" sz="3200" i="1" dirty="0"/>
              <a:t>P</a:t>
            </a:r>
            <a:r>
              <a:rPr lang="en-IN" sz="3200" dirty="0"/>
              <a:t>(2)∧</a:t>
            </a:r>
            <a:r>
              <a:rPr lang="en-IN" sz="3200" i="1" dirty="0"/>
              <a:t>P</a:t>
            </a:r>
            <a:r>
              <a:rPr lang="en-IN" sz="3200" dirty="0"/>
              <a:t>(3)∧⋯∧</a:t>
            </a:r>
            <a:r>
              <a:rPr lang="en-IN" sz="3200" i="1" dirty="0"/>
              <a:t>P</a:t>
            </a:r>
            <a:r>
              <a:rPr lang="en-IN" sz="3200" dirty="0"/>
              <a:t>(</a:t>
            </a:r>
            <a:r>
              <a:rPr lang="en-IN" sz="3200" i="1" dirty="0"/>
              <a:t>k</a:t>
            </a:r>
            <a:r>
              <a:rPr lang="en-IN" sz="3200" dirty="0"/>
              <a:t>)]→</a:t>
            </a:r>
            <a:r>
              <a:rPr lang="en-IN" sz="3200" i="1" dirty="0"/>
              <a:t>P</a:t>
            </a:r>
            <a:r>
              <a:rPr lang="en-IN" sz="3200" dirty="0"/>
              <a:t>(</a:t>
            </a:r>
            <a:r>
              <a:rPr lang="en-IN" sz="3200" i="1" dirty="0"/>
              <a:t>k</a:t>
            </a:r>
            <a:r>
              <a:rPr lang="en-IN" sz="3200" dirty="0"/>
              <a:t>+1)</a:t>
            </a:r>
          </a:p>
          <a:p>
            <a:pPr marL="0" indent="0" algn="just">
              <a:buNone/>
            </a:pPr>
            <a:r>
              <a:rPr lang="en-IN" sz="3200" dirty="0"/>
              <a:t>		is true for positive integers </a:t>
            </a:r>
            <a:r>
              <a:rPr lang="en-IN" sz="3200" i="1" dirty="0"/>
              <a:t>k</a:t>
            </a:r>
            <a:r>
              <a:rPr lang="en-IN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264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0077F-1125-A242-8C2C-2BE6AB13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Exercise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A55D51-2C00-104F-8628-4FE02E809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46900" cy="1054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A2893-B9D2-7347-A3DF-FC9E1897A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48112"/>
            <a:ext cx="106553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2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1104</Words>
  <Application>Microsoft Macintosh PowerPoint</Application>
  <PresentationFormat>Widescreen</PresentationFormat>
  <Paragraphs>100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Comic Sans MS</vt:lpstr>
      <vt:lpstr>Times New Roman</vt:lpstr>
      <vt:lpstr>Office Theme</vt:lpstr>
      <vt:lpstr>Discrete Mathematics (BCSC1010)</vt:lpstr>
      <vt:lpstr>Mathematical Induction</vt:lpstr>
      <vt:lpstr>Principle of Mathematical Induction</vt:lpstr>
      <vt:lpstr> Mathematical Induction</vt:lpstr>
      <vt:lpstr> Example</vt:lpstr>
      <vt:lpstr>Example</vt:lpstr>
      <vt:lpstr> Example</vt:lpstr>
      <vt:lpstr>Example</vt:lpstr>
      <vt:lpstr>Strong Induction</vt:lpstr>
      <vt:lpstr>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Microsoft Office User</cp:lastModifiedBy>
  <cp:revision>155</cp:revision>
  <dcterms:created xsi:type="dcterms:W3CDTF">2020-06-15T14:58:31Z</dcterms:created>
  <dcterms:modified xsi:type="dcterms:W3CDTF">2022-09-19T06:24:37Z</dcterms:modified>
</cp:coreProperties>
</file>