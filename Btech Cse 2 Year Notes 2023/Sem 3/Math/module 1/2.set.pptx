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4" r:id="rId2"/>
    <p:sldId id="282" r:id="rId3"/>
    <p:sldId id="307" r:id="rId4"/>
    <p:sldId id="285" r:id="rId5"/>
    <p:sldId id="308" r:id="rId6"/>
    <p:sldId id="286" r:id="rId7"/>
    <p:sldId id="287" r:id="rId8"/>
    <p:sldId id="313" r:id="rId9"/>
    <p:sldId id="288" r:id="rId10"/>
    <p:sldId id="289" r:id="rId11"/>
    <p:sldId id="290" r:id="rId12"/>
    <p:sldId id="309" r:id="rId13"/>
    <p:sldId id="291" r:id="rId14"/>
    <p:sldId id="315" r:id="rId15"/>
    <p:sldId id="292" r:id="rId16"/>
    <p:sldId id="310" r:id="rId17"/>
    <p:sldId id="293" r:id="rId18"/>
    <p:sldId id="316" r:id="rId19"/>
    <p:sldId id="295" r:id="rId20"/>
    <p:sldId id="311" r:id="rId21"/>
    <p:sldId id="317" r:id="rId22"/>
    <p:sldId id="318" r:id="rId23"/>
    <p:sldId id="298" r:id="rId24"/>
    <p:sldId id="299" r:id="rId25"/>
    <p:sldId id="300" r:id="rId26"/>
    <p:sldId id="294" r:id="rId27"/>
    <p:sldId id="296" r:id="rId28"/>
    <p:sldId id="303" r:id="rId29"/>
    <p:sldId id="304" r:id="rId30"/>
    <p:sldId id="305" r:id="rId31"/>
    <p:sldId id="312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3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DCA48-4D4F-4F96-B869-503F9B6F0C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37C23C-9F9F-4804-8CA8-906AE4AE48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E6927-56E8-409B-B380-9D53F7DDE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A7469-F65E-4028-AFC4-3B0435E301CA}" type="datetimeFigureOut">
              <a:rPr lang="en-IN" smtClean="0"/>
              <a:pPr/>
              <a:t>01-10-2022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374A93-02AE-45FF-9724-CCA92FBA1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94C0B8-C02D-456D-8BDB-92D78C48A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83AAE-A3F5-41D0-AF50-5D8BFD996D56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AAC3EB3-97B8-4CDC-A108-0AD7E0BDE6E1}"/>
              </a:ext>
            </a:extLst>
          </p:cNvPr>
          <p:cNvSpPr/>
          <p:nvPr userDrawn="1"/>
        </p:nvSpPr>
        <p:spPr>
          <a:xfrm>
            <a:off x="9486900" y="114301"/>
            <a:ext cx="2576146" cy="121920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505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5454C-C927-489F-8702-8C17AC93B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4E81E-5B1A-4369-836F-DD44A7D863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B719EC-6667-4883-B295-3626487AC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A7469-F65E-4028-AFC4-3B0435E301CA}" type="datetimeFigureOut">
              <a:rPr lang="en-IN" smtClean="0"/>
              <a:pPr/>
              <a:t>01-10-2022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3E8362-2177-4CE4-AB99-6C4729454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18563E-9223-4AAE-95A5-133904FF2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83AAE-A3F5-41D0-AF50-5D8BFD996D5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6426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51B7C-C156-4F0F-9B89-30EA7888E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734F86-B128-43C4-9DFA-A8B61A8DB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1D500-0E33-4068-A06A-DF80A1590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A7469-F65E-4028-AFC4-3B0435E301CA}" type="datetimeFigureOut">
              <a:rPr lang="en-IN" smtClean="0"/>
              <a:pPr/>
              <a:t>01-10-2022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F49899-099E-424E-BA2F-286D8A046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5DF50E-44A2-4168-B66B-013FA1AD4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83AAE-A3F5-41D0-AF50-5D8BFD996D5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178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B7AA5-6613-421C-9015-0BDFD8A1D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C5106-7270-4CB5-B311-2B5130C0AB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38E471-D4BC-4613-9B9B-07142BFCDC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983D42-A6A4-47D1-BDB2-10BD38F70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A7469-F65E-4028-AFC4-3B0435E301CA}" type="datetimeFigureOut">
              <a:rPr lang="en-IN" smtClean="0"/>
              <a:pPr/>
              <a:t>01-10-2022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7306DC-80B1-431F-9274-9AD85EAB1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4752AC-1CD1-4480-87CF-0D4874246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83AAE-A3F5-41D0-AF50-5D8BFD996D5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7210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154F6-579A-4883-A6A1-C78D5BD9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6A87D1-51CD-43AF-B966-69FCA297D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852FC4-8B1B-4E09-B51A-4493FDF901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136151-E461-4215-B404-C29A7F3F1B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4AFDC6-5B9C-42F0-9923-FEC973F939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451F74-FE1A-4855-90C3-9C43F108C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A7469-F65E-4028-AFC4-3B0435E301CA}" type="datetimeFigureOut">
              <a:rPr lang="en-IN" smtClean="0"/>
              <a:pPr/>
              <a:t>01-10-2022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E99EFC-19C1-4415-A205-4173089D1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26B8B0-0AF7-4C0C-900E-543BF6105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83AAE-A3F5-41D0-AF50-5D8BFD996D5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9505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F7659-EF74-4E90-AEDC-786D0350C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30C633-BE99-4CE4-A9FE-71E3B43F3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A7469-F65E-4028-AFC4-3B0435E301CA}" type="datetimeFigureOut">
              <a:rPr lang="en-IN" smtClean="0"/>
              <a:pPr/>
              <a:t>01-10-2022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97C69-23A1-4A48-9B55-FC43BDD8A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449326-E098-4E0A-ABA8-A6B544E70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83AAE-A3F5-41D0-AF50-5D8BFD996D5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9855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ED9356-A1FA-4A4B-AD94-28CEA3D38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A7469-F65E-4028-AFC4-3B0435E301CA}" type="datetimeFigureOut">
              <a:rPr lang="en-IN" smtClean="0"/>
              <a:pPr/>
              <a:t>01-10-2022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76842E-184D-437B-9E68-B73C55787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7ECDBC-9151-4AED-8E1D-D076E3E11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83AAE-A3F5-41D0-AF50-5D8BFD996D5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7322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4B4ED-444F-4EC1-A462-AFB3EBBCD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354C9A-AED9-44B3-A72A-996B2785B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E8CCFC-4CE2-4402-8B65-87B19C6D13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EBAD0B-C3CC-4462-8401-131C59D17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A7469-F65E-4028-AFC4-3B0435E301CA}" type="datetimeFigureOut">
              <a:rPr lang="en-IN" smtClean="0"/>
              <a:pPr/>
              <a:t>01-10-2022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697C41-4779-4568-BF34-01CA70C6C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58C895-953D-47FC-9945-A68E3ECB3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83AAE-A3F5-41D0-AF50-5D8BFD996D5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4565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6E37B-EC1B-44EA-9068-EAEE222FF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71B5E0-62CB-4E6B-BF05-79A5C02139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D9174E-AE3B-4A8B-B15F-93C91F68FC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61C9E7-3AAD-40A7-B89E-5E92D7597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A7469-F65E-4028-AFC4-3B0435E301CA}" type="datetimeFigureOut">
              <a:rPr lang="en-IN" smtClean="0"/>
              <a:pPr/>
              <a:t>01-10-2022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3E1AC7-CD2A-46E8-A0BC-5CCE5376C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D474A5-F3D5-485C-BBE1-F009A622F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83AAE-A3F5-41D0-AF50-5D8BFD996D5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3150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F4764-9790-46F3-8B48-5F11ADECB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AE33C5-40D5-496A-B774-1D12E51526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73B64C-7C21-4846-8D70-5B9EBE4A8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A7469-F65E-4028-AFC4-3B0435E301CA}" type="datetimeFigureOut">
              <a:rPr lang="en-IN" smtClean="0"/>
              <a:pPr/>
              <a:t>01-10-2022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E1EAE-B2B3-4A07-91BB-F488D8A83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836C4F-2B26-4913-BDF2-D1E2DD16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83AAE-A3F5-41D0-AF50-5D8BFD996D5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3790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46699D-08B4-416B-9123-EA8BBEAD14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821323-0229-4B29-9078-2251D21083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B502AF-12AC-4CB1-8E4D-6F6BC4FDD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A7469-F65E-4028-AFC4-3B0435E301CA}" type="datetimeFigureOut">
              <a:rPr lang="en-IN" smtClean="0"/>
              <a:pPr/>
              <a:t>01-10-2022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9FCFF4-2867-45C9-9261-357CAE713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18EA01-0446-4C79-AB06-104B04A70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83AAE-A3F5-41D0-AF50-5D8BFD996D5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7386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9D257B-41A3-44A8-8733-9BD8A9E27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6EF41F-7472-4E1A-B6E6-6589FA484A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919362-D603-4291-96AB-3B6FEB7B7A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2A7469-F65E-4028-AFC4-3B0435E301CA}" type="datetimeFigureOut">
              <a:rPr lang="en-IN" smtClean="0"/>
              <a:pPr/>
              <a:t>01-10-2022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D6579-9564-4EC9-926E-786A7B5A63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E057E-3D1D-4C7A-B4C9-9CC324DD02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F83AAE-A3F5-41D0-AF50-5D8BFD996D56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4B81EF-ADC0-434C-8F8D-75162989A094}"/>
              </a:ext>
            </a:extLst>
          </p:cNvPr>
          <p:cNvSpPr/>
          <p:nvPr userDrawn="1"/>
        </p:nvSpPr>
        <p:spPr>
          <a:xfrm>
            <a:off x="8610600" y="333375"/>
            <a:ext cx="2743200" cy="1312863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0957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16D53-4322-4971-8663-8C341542C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38300"/>
            <a:ext cx="10515600" cy="2190749"/>
          </a:xfrm>
        </p:spPr>
        <p:txBody>
          <a:bodyPr>
            <a:normAutofit/>
          </a:bodyPr>
          <a:lstStyle/>
          <a:p>
            <a:pPr algn="ctr"/>
            <a:r>
              <a:rPr lang="en-IN" sz="6600" b="1" dirty="0">
                <a:latin typeface="+mn-lt"/>
              </a:rPr>
              <a:t>Discrete Mathematics</a:t>
            </a:r>
            <a:br>
              <a:rPr lang="en-IN" sz="6600" b="1" dirty="0">
                <a:latin typeface="+mn-lt"/>
              </a:rPr>
            </a:br>
            <a:r>
              <a:rPr lang="en-IN" sz="6600" b="1" dirty="0">
                <a:latin typeface="+mn-lt"/>
              </a:rPr>
              <a:t>BCSC1010</a:t>
            </a:r>
            <a:endParaRPr lang="en-IN" sz="6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3A120E-8782-4BDB-9D94-C00E649FBE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0125" y="3714749"/>
            <a:ext cx="10515600" cy="28670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4200" dirty="0"/>
              <a:t>                                </a:t>
            </a:r>
            <a:r>
              <a:rPr lang="en-IN" sz="4800" dirty="0"/>
              <a:t>Module 1</a:t>
            </a:r>
          </a:p>
          <a:p>
            <a:endParaRPr lang="en-IN" sz="4800" dirty="0"/>
          </a:p>
          <a:p>
            <a:pPr marL="0" indent="0">
              <a:buNone/>
            </a:pPr>
            <a:r>
              <a:rPr lang="en-IN" sz="4800"/>
              <a:t>                        Sets</a:t>
            </a:r>
            <a:endParaRPr lang="en-IN" sz="48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6796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37388-2E05-4EB4-81AE-8D9295D8B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+mn-lt"/>
              </a:rPr>
              <a:t>Cardinality of a set</a:t>
            </a:r>
            <a:endParaRPr lang="en-IN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BEF8D-2E16-416B-BC1C-0E1A139DC9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600" dirty="0"/>
              <a:t>The </a:t>
            </a:r>
            <a:r>
              <a:rPr lang="en-US" sz="3600" b="1" dirty="0">
                <a:solidFill>
                  <a:srgbClr val="FF0000"/>
                </a:solidFill>
              </a:rPr>
              <a:t>cardinality of a set</a:t>
            </a:r>
            <a:r>
              <a:rPr lang="en-US" sz="3600" dirty="0">
                <a:solidFill>
                  <a:srgbClr val="FF0000"/>
                </a:solidFill>
              </a:rPr>
              <a:t> </a:t>
            </a:r>
            <a:r>
              <a:rPr lang="en-US" sz="3600" dirty="0"/>
              <a:t>is a measure of a </a:t>
            </a:r>
            <a:r>
              <a:rPr lang="en-US" sz="3600" b="1" dirty="0"/>
              <a:t>set's</a:t>
            </a:r>
            <a:r>
              <a:rPr lang="en-US" sz="3600" dirty="0"/>
              <a:t> size, i.e. the number of elements in the </a:t>
            </a:r>
            <a:r>
              <a:rPr lang="en-US" sz="3600" b="1" dirty="0"/>
              <a:t>set</a:t>
            </a:r>
            <a:r>
              <a:rPr lang="en-US" sz="3600" dirty="0"/>
              <a:t>. </a:t>
            </a:r>
          </a:p>
          <a:p>
            <a:pPr algn="just"/>
            <a:endParaRPr lang="en-US" sz="3600" dirty="0"/>
          </a:p>
          <a:p>
            <a:pPr algn="just"/>
            <a:r>
              <a:rPr lang="en-US" sz="3600" dirty="0"/>
              <a:t>If S is a set with n elements, where n is a nonnegative integer, then n is the cardinality of S. It is denoted by |S|. Thus, |S|=n</a:t>
            </a:r>
          </a:p>
          <a:p>
            <a:pPr marL="0" indent="0">
              <a:buNone/>
            </a:pPr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972937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F2236-882B-4DFE-B760-1F1DDC25A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+mn-lt"/>
              </a:rPr>
              <a:t>Cardinality of a set (Examples)</a:t>
            </a:r>
            <a:endParaRPr lang="en-IN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FFCFF-1CBE-4FA1-938C-AA1B055488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600" dirty="0"/>
              <a:t>  The set A = { 1 , 2 , 4 } has a </a:t>
            </a:r>
            <a:r>
              <a:rPr lang="en-US" sz="3600" b="1" dirty="0"/>
              <a:t>cardinality</a:t>
            </a:r>
            <a:r>
              <a:rPr lang="en-US" sz="3600" dirty="0"/>
              <a:t> of 3</a:t>
            </a:r>
          </a:p>
          <a:p>
            <a:pPr marL="0" indent="0" algn="just">
              <a:buNone/>
            </a:pPr>
            <a:endParaRPr lang="en-US" sz="3600" dirty="0"/>
          </a:p>
          <a:p>
            <a:pPr algn="just"/>
            <a:r>
              <a:rPr lang="en-US" sz="3600" dirty="0"/>
              <a:t>  Let A be the set of odd positive integers less than 10         Then IAI = 5</a:t>
            </a:r>
          </a:p>
          <a:p>
            <a:pPr marL="0" indent="0" algn="just">
              <a:buNone/>
            </a:pPr>
            <a:endParaRPr lang="en-US" sz="3600" dirty="0"/>
          </a:p>
          <a:p>
            <a:pPr algn="just"/>
            <a:r>
              <a:rPr lang="en-US" sz="3600" dirty="0"/>
              <a:t>  Let S be the set of letters in the English alphabets Then </a:t>
            </a:r>
            <a:r>
              <a:rPr lang="en-US" sz="3600" dirty="0" err="1"/>
              <a:t>lSI</a:t>
            </a:r>
            <a:r>
              <a:rPr lang="en-US" sz="3600" dirty="0"/>
              <a:t> = 26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656040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767B2-424F-480B-A50C-60E2A60EB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+mn-lt"/>
              </a:rPr>
              <a:t>Cartesian Product</a:t>
            </a:r>
            <a:endParaRPr lang="en-IN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17ED3-C90F-47A1-9EEE-2F27DBCDD8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3289"/>
            <a:ext cx="10515600" cy="441601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3600" dirty="0"/>
              <a:t>Let A and B be sets </a:t>
            </a:r>
          </a:p>
          <a:p>
            <a:pPr algn="just"/>
            <a:endParaRPr lang="en-US" sz="3600" dirty="0"/>
          </a:p>
          <a:p>
            <a:pPr algn="just"/>
            <a:r>
              <a:rPr lang="en-US" sz="3600" dirty="0"/>
              <a:t>The </a:t>
            </a:r>
            <a:r>
              <a:rPr lang="en-US" sz="3600" dirty="0">
                <a:solidFill>
                  <a:srgbClr val="FF0000"/>
                </a:solidFill>
              </a:rPr>
              <a:t>Cartesian product </a:t>
            </a:r>
            <a:r>
              <a:rPr lang="en-US" sz="3600" dirty="0"/>
              <a:t>of A and B is the set of all ordered pairs (a, b), where a </a:t>
            </a:r>
            <a:r>
              <a:rPr lang="el-GR" sz="3600" dirty="0"/>
              <a:t>ϵ</a:t>
            </a:r>
            <a:r>
              <a:rPr lang="en-US" sz="3600" dirty="0"/>
              <a:t> A and b </a:t>
            </a:r>
            <a:r>
              <a:rPr lang="el-GR" sz="3600" dirty="0"/>
              <a:t>ϵ</a:t>
            </a:r>
            <a:r>
              <a:rPr lang="en-US" sz="3600" dirty="0"/>
              <a:t> B   </a:t>
            </a:r>
          </a:p>
          <a:p>
            <a:pPr algn="just"/>
            <a:endParaRPr lang="en-US" sz="3600" dirty="0"/>
          </a:p>
          <a:p>
            <a:pPr algn="just"/>
            <a:r>
              <a:rPr lang="en-US" sz="3600" dirty="0"/>
              <a:t>It is denoted by A x B</a:t>
            </a:r>
          </a:p>
          <a:p>
            <a:pPr marL="0" indent="0" algn="just">
              <a:buNone/>
            </a:pPr>
            <a:endParaRPr lang="en-US" sz="3600" dirty="0"/>
          </a:p>
          <a:p>
            <a:pPr algn="just"/>
            <a:r>
              <a:rPr lang="en-US" sz="3600" dirty="0"/>
              <a:t>Hence, </a:t>
            </a:r>
            <a:r>
              <a:rPr lang="en-IN" sz="3600" dirty="0"/>
              <a:t>A x B = {(a, b) | </a:t>
            </a:r>
            <a:r>
              <a:rPr lang="en-US" sz="3600" dirty="0"/>
              <a:t>a </a:t>
            </a:r>
            <a:r>
              <a:rPr lang="el-GR" sz="3600" dirty="0"/>
              <a:t>ϵ</a:t>
            </a:r>
            <a:r>
              <a:rPr lang="en-US" sz="3600" dirty="0"/>
              <a:t> A and b </a:t>
            </a:r>
            <a:r>
              <a:rPr lang="el-GR" sz="3600" dirty="0"/>
              <a:t>ϵ</a:t>
            </a:r>
            <a:r>
              <a:rPr lang="en-US" sz="3600" dirty="0"/>
              <a:t> B</a:t>
            </a:r>
            <a:r>
              <a:rPr lang="en-IN" sz="3600" dirty="0"/>
              <a:t>}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3247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20360-3D23-4EBC-A1CD-A6A9AE12D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+mn-lt"/>
              </a:rPr>
              <a:t>Cartesian Product (Examples)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E4A84-6BA8-4452-894C-55D3A751F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3600" b="1" dirty="0">
                <a:latin typeface="Cambria" pitchFamily="18" charset="0"/>
                <a:ea typeface="Cambria" pitchFamily="18" charset="0"/>
              </a:rPr>
              <a:t>Example − </a:t>
            </a:r>
            <a:r>
              <a:rPr lang="en-US" sz="3600" dirty="0">
                <a:latin typeface="Cambria" pitchFamily="18" charset="0"/>
                <a:ea typeface="Cambria" pitchFamily="18" charset="0"/>
              </a:rPr>
              <a:t>If we take two sets </a:t>
            </a:r>
            <a:r>
              <a:rPr lang="en-US" sz="3600" b="1" dirty="0">
                <a:latin typeface="Cambria" pitchFamily="18" charset="0"/>
                <a:ea typeface="Cambria" pitchFamily="18" charset="0"/>
              </a:rPr>
              <a:t>A={a, b} </a:t>
            </a:r>
            <a:r>
              <a:rPr lang="en-US" sz="3600" dirty="0">
                <a:latin typeface="Cambria" pitchFamily="18" charset="0"/>
                <a:ea typeface="Cambria" pitchFamily="18" charset="0"/>
              </a:rPr>
              <a:t>and </a:t>
            </a:r>
            <a:r>
              <a:rPr lang="en-US" sz="3600" b="1" dirty="0">
                <a:latin typeface="Cambria" pitchFamily="18" charset="0"/>
                <a:ea typeface="Cambria" pitchFamily="18" charset="0"/>
              </a:rPr>
              <a:t>B={1, 2},</a:t>
            </a:r>
          </a:p>
          <a:p>
            <a:pPr algn="just"/>
            <a:r>
              <a:rPr lang="en-US" sz="3600" dirty="0">
                <a:latin typeface="Cambria" pitchFamily="18" charset="0"/>
                <a:ea typeface="Cambria" pitchFamily="18" charset="0"/>
              </a:rPr>
              <a:t>The Cartesian product of A and B is written as </a:t>
            </a:r>
            <a:r>
              <a:rPr lang="en-US" sz="3600" b="1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A×B={(a,1),(a,2),(b,1),(b,2)}</a:t>
            </a:r>
          </a:p>
          <a:p>
            <a:pPr algn="just"/>
            <a:r>
              <a:rPr lang="en-US" sz="3600" dirty="0">
                <a:latin typeface="Cambria" pitchFamily="18" charset="0"/>
                <a:ea typeface="Cambria" pitchFamily="18" charset="0"/>
              </a:rPr>
              <a:t>The Cartesian product of B and A is written as </a:t>
            </a:r>
            <a:r>
              <a:rPr lang="en-US" sz="3600" b="1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B×A={(1,a),(1,b),(2,a),(2,b)}</a:t>
            </a:r>
          </a:p>
          <a:p>
            <a:r>
              <a:rPr lang="en-US" sz="3600" b="1" dirty="0">
                <a:solidFill>
                  <a:srgbClr val="002060"/>
                </a:solidFill>
                <a:latin typeface="Cambria" pitchFamily="18" charset="0"/>
                <a:ea typeface="Cambria" pitchFamily="18" charset="0"/>
              </a:rPr>
              <a:t>Note: A × B is not the same as B × A.</a:t>
            </a:r>
          </a:p>
          <a:p>
            <a:r>
              <a:rPr lang="en-US" sz="3600" b="1" dirty="0">
                <a:latin typeface="Cambria" pitchFamily="18" charset="0"/>
                <a:ea typeface="Cambria" pitchFamily="18" charset="0"/>
              </a:rPr>
              <a:t>The </a:t>
            </a:r>
            <a:r>
              <a:rPr lang="en-US" sz="3600" b="1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cardinality of A × B  is N*M</a:t>
            </a:r>
            <a:r>
              <a:rPr lang="en-US" sz="3600" b="1" dirty="0">
                <a:latin typeface="Cambria" pitchFamily="18" charset="0"/>
                <a:ea typeface="Cambria" pitchFamily="18" charset="0"/>
              </a:rPr>
              <a:t>, where N is the cardinality of A and M is the cardinality of B.</a:t>
            </a:r>
          </a:p>
          <a:p>
            <a:endParaRPr lang="en-US" sz="3600" b="1" dirty="0">
              <a:solidFill>
                <a:srgbClr val="002060"/>
              </a:solidFill>
              <a:latin typeface="Cambria" pitchFamily="18" charset="0"/>
              <a:ea typeface="Cambria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9883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F8D4A-A834-44EF-88CB-3CACA01D7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b="1" dirty="0">
                <a:solidFill>
                  <a:srgbClr val="FF0000"/>
                </a:solidFill>
              </a:rPr>
              <a:t>What is the Cartesian product A x B x C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where A = {0, 1}, B = {1, 2}, and 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C = {0, 1, 2}? 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BE4323-19B3-48F4-84A4-E1169CDA08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b="1" dirty="0"/>
          </a:p>
          <a:p>
            <a:pPr marL="0" indent="0" algn="just">
              <a:buNone/>
            </a:pPr>
            <a:r>
              <a:rPr lang="en-US" sz="3600" b="1" dirty="0">
                <a:solidFill>
                  <a:srgbClr val="00B050"/>
                </a:solidFill>
              </a:rPr>
              <a:t>Solution</a:t>
            </a:r>
          </a:p>
          <a:p>
            <a:pPr algn="just"/>
            <a:r>
              <a:rPr lang="en-US" sz="3600" dirty="0"/>
              <a:t>The Cartesian product A x B x C consists of all ordered triples (a, b, c), where a </a:t>
            </a:r>
            <a:r>
              <a:rPr lang="el-GR" sz="3600" dirty="0"/>
              <a:t>ϵ</a:t>
            </a:r>
            <a:r>
              <a:rPr lang="en-US" sz="3600" dirty="0"/>
              <a:t> A, b </a:t>
            </a:r>
            <a:r>
              <a:rPr lang="el-GR" sz="3600" dirty="0"/>
              <a:t>ϵ</a:t>
            </a:r>
            <a:r>
              <a:rPr lang="en-US" sz="3600" dirty="0"/>
              <a:t> B, and c </a:t>
            </a:r>
            <a:r>
              <a:rPr lang="el-GR" sz="3600" dirty="0"/>
              <a:t>ϵ</a:t>
            </a:r>
            <a:r>
              <a:rPr lang="en-US" sz="3600" dirty="0"/>
              <a:t> C. Hence, </a:t>
            </a:r>
          </a:p>
          <a:p>
            <a:pPr marL="0" indent="0" algn="just">
              <a:buNone/>
            </a:pPr>
            <a:endParaRPr lang="en-US" sz="3600" dirty="0"/>
          </a:p>
          <a:p>
            <a:pPr algn="just"/>
            <a:r>
              <a:rPr lang="en-US" sz="3600" dirty="0"/>
              <a:t>A x B x C = {(0, 1,0), (0, 1, 1), (0, 1,2), (0,2,0), (0, 2, 1), (0, 2, 2), (1, 1,0), (1, 1, 1), (1, 1,2), (1, 2, 0), (1, 2, 1), </a:t>
            </a:r>
          </a:p>
          <a:p>
            <a:pPr marL="0" indent="0" algn="just">
              <a:buNone/>
            </a:pPr>
            <a:r>
              <a:rPr lang="en-US" sz="3600" dirty="0"/>
              <a:t>  (1, 2, 2)}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4155082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EE270-6081-4B46-8DF9-11E82DB5F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+mn-lt"/>
              </a:rPr>
              <a:t>Graphical representation of 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66394-6A2D-4434-AFF8-ECACEC480E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47875"/>
            <a:ext cx="10515600" cy="4716908"/>
          </a:xfrm>
        </p:spPr>
        <p:txBody>
          <a:bodyPr>
            <a:normAutofit/>
          </a:bodyPr>
          <a:lstStyle/>
          <a:p>
            <a:pPr algn="just"/>
            <a:r>
              <a:rPr lang="en-US" sz="3200" dirty="0"/>
              <a:t>Sets can be represented graphically using </a:t>
            </a:r>
            <a:r>
              <a:rPr lang="en-US" sz="3200" dirty="0">
                <a:solidFill>
                  <a:srgbClr val="FF0000"/>
                </a:solidFill>
              </a:rPr>
              <a:t>Venn diagrams. </a:t>
            </a:r>
          </a:p>
          <a:p>
            <a:pPr marL="0" indent="0" algn="just">
              <a:buNone/>
            </a:pPr>
            <a:endParaRPr lang="en-US" sz="3200" dirty="0">
              <a:solidFill>
                <a:srgbClr val="FF0000"/>
              </a:solidFill>
            </a:endParaRPr>
          </a:p>
          <a:p>
            <a:pPr algn="just"/>
            <a:r>
              <a:rPr lang="en-US" sz="3200" dirty="0"/>
              <a:t>Named after the English mathematician John Venn, who introduced their use in 1881.</a:t>
            </a:r>
          </a:p>
          <a:p>
            <a:pPr marL="0" indent="0" algn="just">
              <a:buNone/>
            </a:pPr>
            <a:endParaRPr lang="en-US" sz="3200" dirty="0"/>
          </a:p>
          <a:p>
            <a:pPr algn="just"/>
            <a:r>
              <a:rPr lang="en-US" sz="3200" dirty="0"/>
              <a:t> In Venn diagrams the universal set U, which contains all the objects under consideration, is represented by a rectangle. </a:t>
            </a:r>
          </a:p>
        </p:txBody>
      </p:sp>
    </p:spTree>
    <p:extLst>
      <p:ext uri="{BB962C8B-B14F-4D97-AF65-F5344CB8AC3E}">
        <p14:creationId xmlns:p14="http://schemas.microsoft.com/office/powerpoint/2010/main" val="3935043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B9ED5-8F9E-4CF3-98D9-74170215F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+mn-lt"/>
              </a:rPr>
              <a:t>Graphical representation of Sets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E7255F-1E3C-46D6-B22D-013F75ED7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14599"/>
            <a:ext cx="10515600" cy="3662363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3200" dirty="0"/>
              <a:t>Inside this rectangle, circles or other geometrical figures are used to represent sets. </a:t>
            </a:r>
          </a:p>
          <a:p>
            <a:pPr algn="just"/>
            <a:endParaRPr lang="en-US" sz="3200" dirty="0"/>
          </a:p>
          <a:p>
            <a:pPr algn="just"/>
            <a:r>
              <a:rPr lang="en-US" sz="3200" dirty="0"/>
              <a:t>Sometimes points are used to represent the particular elements of the set. </a:t>
            </a:r>
          </a:p>
          <a:p>
            <a:pPr marL="0" indent="0" algn="just">
              <a:buNone/>
            </a:pPr>
            <a:endParaRPr lang="en-US" sz="3200" dirty="0"/>
          </a:p>
          <a:p>
            <a:pPr algn="just"/>
            <a:r>
              <a:rPr lang="en-US" sz="3200" dirty="0"/>
              <a:t>Venn diagrams are often used to indicate the relationships between sets. </a:t>
            </a:r>
            <a:endParaRPr lang="en-IN" sz="32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61115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17144-9F88-4ED8-B6ED-D6E967BF9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+mn-lt"/>
              </a:rPr>
              <a:t>Venn diagram</a:t>
            </a:r>
            <a:endParaRPr lang="en-IN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4D88E-3E14-45D2-97BA-BB01C2BAF7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Venn diagram that represents V, the set of vowels in the English alphabet.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20396B-C5ED-4765-9D31-50F43A144E4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315" t="24653" r="48592" b="57112"/>
          <a:stretch/>
        </p:blipFill>
        <p:spPr>
          <a:xfrm>
            <a:off x="4208016" y="3154134"/>
            <a:ext cx="5237825" cy="3338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603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F7832-542F-4293-B3C7-6CDF6768B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7370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+mn-lt"/>
              </a:rPr>
              <a:t>Set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0D56A-1F58-4F0D-82B7-A37968D923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53087"/>
            <a:ext cx="10515600" cy="4223876"/>
          </a:xfrm>
        </p:spPr>
        <p:txBody>
          <a:bodyPr/>
          <a:lstStyle/>
          <a:p>
            <a:r>
              <a:rPr lang="en-US" sz="4000" dirty="0"/>
              <a:t>Union</a:t>
            </a:r>
          </a:p>
          <a:p>
            <a:r>
              <a:rPr lang="en-US" sz="4000" dirty="0"/>
              <a:t>Intersection</a:t>
            </a:r>
          </a:p>
          <a:p>
            <a:r>
              <a:rPr lang="en-US" sz="4000" dirty="0"/>
              <a:t>Set Difference</a:t>
            </a:r>
          </a:p>
          <a:p>
            <a:r>
              <a:rPr lang="en-US" sz="4000" dirty="0"/>
              <a:t>Complement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3191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B9956-5D4A-4F6F-9C10-82737FC5A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7370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+mn-lt"/>
              </a:rPr>
              <a:t>Union of Sets</a:t>
            </a:r>
            <a:endParaRPr lang="en-IN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AD3E3-29AD-4DA4-8F64-E1AD5D6B8C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1449"/>
            <a:ext cx="10515600" cy="4685514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4000" dirty="0"/>
              <a:t>Let A and B be sets</a:t>
            </a:r>
          </a:p>
          <a:p>
            <a:pPr marL="0" indent="0" algn="just">
              <a:buNone/>
            </a:pPr>
            <a:endParaRPr lang="en-US" sz="4000" dirty="0"/>
          </a:p>
          <a:p>
            <a:pPr algn="just"/>
            <a:r>
              <a:rPr lang="en-US" sz="4000" dirty="0"/>
              <a:t>The </a:t>
            </a:r>
            <a:r>
              <a:rPr lang="en-US" sz="4000" dirty="0">
                <a:solidFill>
                  <a:srgbClr val="FF0000"/>
                </a:solidFill>
              </a:rPr>
              <a:t>union</a:t>
            </a:r>
            <a:r>
              <a:rPr lang="en-US" sz="4000" dirty="0"/>
              <a:t> of the sets A and B is the set that contains those elements that are either in A or in B, or in both</a:t>
            </a:r>
          </a:p>
          <a:p>
            <a:pPr marL="0" indent="0" algn="just">
              <a:buNone/>
            </a:pPr>
            <a:endParaRPr lang="en-US" sz="4000" dirty="0"/>
          </a:p>
          <a:p>
            <a:pPr algn="just"/>
            <a:r>
              <a:rPr lang="en-US" sz="4000" dirty="0"/>
              <a:t> It is denoted by A U B</a:t>
            </a:r>
          </a:p>
          <a:p>
            <a:pPr marL="0" indent="0" algn="just">
              <a:buNone/>
            </a:pPr>
            <a:endParaRPr lang="en-US" sz="4000" dirty="0"/>
          </a:p>
          <a:p>
            <a:pPr algn="just"/>
            <a:r>
              <a:rPr lang="pt-BR" sz="4000" dirty="0"/>
              <a:t>AUB = {x | x </a:t>
            </a:r>
            <a:r>
              <a:rPr lang="en-IN" sz="4000" dirty="0"/>
              <a:t>∈</a:t>
            </a:r>
            <a:r>
              <a:rPr lang="pt-BR" sz="4000" dirty="0"/>
              <a:t> A or x </a:t>
            </a:r>
            <a:r>
              <a:rPr lang="en-IN" sz="4000" dirty="0"/>
              <a:t>∈</a:t>
            </a:r>
            <a:r>
              <a:rPr lang="pt-BR" sz="4000" dirty="0"/>
              <a:t> B}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887180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1A1ED-8E0D-4044-A7D3-C4AE8270D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+mn-lt"/>
              </a:rPr>
              <a:t>Union of Sets (Examples)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DCFEA4-D9B4-4760-BD6B-CA7BB63532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/>
              <a:t>if A = {1, 3, 5, 7} and B = {1, 2, 4, 6, 7} </a:t>
            </a:r>
          </a:p>
          <a:p>
            <a:r>
              <a:rPr lang="en-US" sz="3600" dirty="0"/>
              <a:t>Then A ∪ B = {1, 2, 3, 4, 5, 6, 7}</a:t>
            </a:r>
          </a:p>
          <a:p>
            <a:pPr marL="0" indent="0">
              <a:buNone/>
            </a:pPr>
            <a:endParaRPr lang="en-US" sz="3600" dirty="0"/>
          </a:p>
          <a:p>
            <a:r>
              <a:rPr lang="en-US" sz="3600" dirty="0"/>
              <a:t>The union of the sets {I, 3, 5} and {I, 2, 3} </a:t>
            </a:r>
          </a:p>
          <a:p>
            <a:r>
              <a:rPr lang="en-US" sz="3600" dirty="0"/>
              <a:t> {I, 3, 5} U {I, 2, 3} = {I, 2, 3, 5}</a:t>
            </a:r>
            <a:endParaRPr lang="en-IN" sz="36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2544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509B0-3B5C-4C74-B493-DD5C84C13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+mn-lt"/>
              </a:rPr>
              <a:t>Union of Sets </a:t>
            </a:r>
            <a:br>
              <a:rPr lang="en-US" b="1" dirty="0">
                <a:solidFill>
                  <a:srgbClr val="FF0000"/>
                </a:solidFill>
                <a:latin typeface="+mn-lt"/>
              </a:rPr>
            </a:br>
            <a:r>
              <a:rPr lang="en-US" b="1" dirty="0">
                <a:solidFill>
                  <a:srgbClr val="FF0000"/>
                </a:solidFill>
                <a:latin typeface="+mn-lt"/>
              </a:rPr>
              <a:t>(Graphical Representation)</a:t>
            </a:r>
            <a:endParaRPr lang="en-IN" b="1" dirty="0">
              <a:solidFill>
                <a:srgbClr val="FF0000"/>
              </a:solidFill>
              <a:latin typeface="+mn-lt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E3681DA-C524-4C86-B1CC-4280CA7228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4991" y="1818411"/>
            <a:ext cx="5195610" cy="4299242"/>
          </a:xfrm>
        </p:spPr>
      </p:pic>
    </p:spTree>
    <p:extLst>
      <p:ext uri="{BB962C8B-B14F-4D97-AF65-F5344CB8AC3E}">
        <p14:creationId xmlns:p14="http://schemas.microsoft.com/office/powerpoint/2010/main" val="657409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219891" y="796832"/>
            <a:ext cx="8127275" cy="1545771"/>
            <a:chOff x="76200" y="1471880"/>
            <a:chExt cx="9067800" cy="15761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/>
                <p:cNvSpPr txBox="1"/>
                <p:nvPr/>
              </p:nvSpPr>
              <p:spPr>
                <a:xfrm>
                  <a:off x="76200" y="1471880"/>
                  <a:ext cx="3657600" cy="132343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000" b="1" i="1" dirty="0" smtClean="0">
                            <a:solidFill>
                              <a:srgbClr val="309A22"/>
                            </a:solidFill>
                            <a:latin typeface="Cambria Math"/>
                            <a:cs typeface="Times New Roman" pitchFamily="18" charset="0"/>
                          </a:rPr>
                          <m:t>𝑨</m:t>
                        </m:r>
                        <m:r>
                          <a:rPr lang="en-US" sz="4000" b="1" i="1" dirty="0" smtClean="0">
                            <a:solidFill>
                              <a:srgbClr val="309A22"/>
                            </a:solidFill>
                            <a:latin typeface="Cambria Math"/>
                            <a:cs typeface="Times New Roman" pitchFamily="18" charset="0"/>
                          </a:rPr>
                          <m:t> = {</m:t>
                        </m:r>
                        <m:r>
                          <a:rPr lang="en-US" sz="4000" b="1" i="1" dirty="0" smtClean="0">
                            <a:solidFill>
                              <a:srgbClr val="309A22"/>
                            </a:solidFill>
                            <a:latin typeface="Cambria Math"/>
                            <a:cs typeface="Times New Roman" pitchFamily="18" charset="0"/>
                          </a:rPr>
                          <m:t>𝟑</m:t>
                        </m:r>
                        <m:r>
                          <a:rPr lang="en-US" sz="4000" b="1" i="1" dirty="0" smtClean="0">
                            <a:solidFill>
                              <a:srgbClr val="309A22"/>
                            </a:solidFill>
                            <a:latin typeface="Cambria Math"/>
                            <a:cs typeface="Times New Roman" pitchFamily="18" charset="0"/>
                          </a:rPr>
                          <m:t>, </m:t>
                        </m:r>
                        <m:r>
                          <a:rPr lang="en-US" sz="4000" b="1" i="1" dirty="0" smtClean="0">
                            <a:solidFill>
                              <a:srgbClr val="309A22"/>
                            </a:solidFill>
                            <a:latin typeface="Cambria Math"/>
                            <a:cs typeface="Times New Roman" pitchFamily="18" charset="0"/>
                          </a:rPr>
                          <m:t>𝟓</m:t>
                        </m:r>
                        <m:r>
                          <a:rPr lang="en-US" sz="4000" b="1" i="1" dirty="0" smtClean="0">
                            <a:solidFill>
                              <a:srgbClr val="309A22"/>
                            </a:solidFill>
                            <a:latin typeface="Cambria Math"/>
                            <a:cs typeface="Times New Roman" pitchFamily="18" charset="0"/>
                          </a:rPr>
                          <m:t>, </m:t>
                        </m:r>
                        <m:r>
                          <a:rPr lang="en-US" sz="4000" b="1" i="1" dirty="0" smtClean="0">
                            <a:solidFill>
                              <a:srgbClr val="309A22"/>
                            </a:solidFill>
                            <a:latin typeface="Cambria Math"/>
                            <a:cs typeface="Times New Roman" pitchFamily="18" charset="0"/>
                          </a:rPr>
                          <m:t>𝟕</m:t>
                        </m:r>
                        <m:r>
                          <a:rPr lang="en-US" sz="4000" b="1" i="1" dirty="0" smtClean="0">
                            <a:solidFill>
                              <a:srgbClr val="309A22"/>
                            </a:solidFill>
                            <a:latin typeface="Cambria Math"/>
                            <a:cs typeface="Times New Roman" pitchFamily="18" charset="0"/>
                          </a:rPr>
                          <m:t>}</m:t>
                        </m:r>
                      </m:oMath>
                    </m:oMathPara>
                  </a14:m>
                  <a:endParaRPr lang="en-US" sz="4000" b="1" dirty="0">
                    <a:solidFill>
                      <a:srgbClr val="309A22"/>
                    </a:solidFill>
                    <a:latin typeface="Times New Roman" pitchFamily="18" charset="0"/>
                    <a:cs typeface="Times New Roman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000" b="1" i="1" dirty="0" smtClean="0">
                            <a:solidFill>
                              <a:srgbClr val="EF8511"/>
                            </a:solidFill>
                            <a:latin typeface="Cambria Math"/>
                            <a:cs typeface="Times New Roman" pitchFamily="18" charset="0"/>
                          </a:rPr>
                          <m:t>𝑩</m:t>
                        </m:r>
                        <m:r>
                          <a:rPr lang="en-US" sz="4000" b="1" i="1" dirty="0" smtClean="0">
                            <a:solidFill>
                              <a:srgbClr val="EF8511"/>
                            </a:solidFill>
                            <a:latin typeface="Cambria Math"/>
                            <a:cs typeface="Times New Roman" pitchFamily="18" charset="0"/>
                          </a:rPr>
                          <m:t> = {</m:t>
                        </m:r>
                        <m:r>
                          <a:rPr lang="en-US" sz="4000" b="1" i="1" dirty="0" smtClean="0">
                            <a:solidFill>
                              <a:srgbClr val="EF8511"/>
                            </a:solidFill>
                            <a:latin typeface="Cambria Math"/>
                            <a:cs typeface="Times New Roman" pitchFamily="18" charset="0"/>
                          </a:rPr>
                          <m:t>𝟐</m:t>
                        </m:r>
                        <m:r>
                          <a:rPr lang="en-US" sz="4000" b="1" i="1" dirty="0" smtClean="0">
                            <a:solidFill>
                              <a:srgbClr val="EF8511"/>
                            </a:solidFill>
                            <a:latin typeface="Cambria Math"/>
                            <a:cs typeface="Times New Roman" pitchFamily="18" charset="0"/>
                          </a:rPr>
                          <m:t>, </m:t>
                        </m:r>
                        <m:r>
                          <a:rPr lang="en-US" sz="4000" b="1" i="1" dirty="0" smtClean="0">
                            <a:solidFill>
                              <a:srgbClr val="EF8511"/>
                            </a:solidFill>
                            <a:latin typeface="Cambria Math"/>
                            <a:cs typeface="Times New Roman" pitchFamily="18" charset="0"/>
                          </a:rPr>
                          <m:t>𝟑</m:t>
                        </m:r>
                        <m:r>
                          <a:rPr lang="en-US" sz="4000" b="1" i="1" dirty="0" smtClean="0">
                            <a:solidFill>
                              <a:srgbClr val="EF8511"/>
                            </a:solidFill>
                            <a:latin typeface="Cambria Math"/>
                            <a:cs typeface="Times New Roman" pitchFamily="18" charset="0"/>
                          </a:rPr>
                          <m:t>, </m:t>
                        </m:r>
                        <m:r>
                          <a:rPr lang="en-US" sz="4000" b="1" i="1" dirty="0" smtClean="0">
                            <a:solidFill>
                              <a:srgbClr val="EF8511"/>
                            </a:solidFill>
                            <a:latin typeface="Cambria Math"/>
                            <a:cs typeface="Times New Roman" pitchFamily="18" charset="0"/>
                          </a:rPr>
                          <m:t>𝟓</m:t>
                        </m:r>
                        <m:r>
                          <a:rPr lang="en-US" sz="4000" b="1" i="1" dirty="0" smtClean="0">
                            <a:solidFill>
                              <a:srgbClr val="EF8511"/>
                            </a:solidFill>
                            <a:latin typeface="Cambria Math"/>
                            <a:cs typeface="Times New Roman" pitchFamily="18" charset="0"/>
                          </a:rPr>
                          <m:t>}</m:t>
                        </m:r>
                      </m:oMath>
                    </m:oMathPara>
                  </a14:m>
                  <a:endParaRPr lang="en-US" sz="4000" b="1" dirty="0">
                    <a:solidFill>
                      <a:srgbClr val="EF8511"/>
                    </a:solidFill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mc:Choice>
          <mc:Fallback xmlns="">
            <p:sp>
              <p:nvSpPr>
                <p:cNvPr id="3" name="TextBox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200" y="1471880"/>
                  <a:ext cx="3657600" cy="1323439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/>
                <p:cNvSpPr txBox="1"/>
                <p:nvPr/>
              </p:nvSpPr>
              <p:spPr>
                <a:xfrm>
                  <a:off x="4800601" y="1724561"/>
                  <a:ext cx="4343399" cy="132343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4000" b="1" i="1" smtClean="0">
                          <a:solidFill>
                            <a:srgbClr val="CA0CBC"/>
                          </a:solidFill>
                          <a:latin typeface="Cambria Math"/>
                          <a:cs typeface="Times New Roman" pitchFamily="18" charset="0"/>
                        </a:rPr>
                        <m:t>𝑨</m:t>
                      </m:r>
                      <m:r>
                        <a:rPr lang="en-US" sz="4000" b="1" i="1" smtClean="0">
                          <a:solidFill>
                            <a:srgbClr val="CA0CBC"/>
                          </a:solidFill>
                          <a:latin typeface="Cambria Math"/>
                          <a:ea typeface="Cambria Math"/>
                          <a:cs typeface="Times New Roman" pitchFamily="18" charset="0"/>
                        </a:rPr>
                        <m:t>∪</m:t>
                      </m:r>
                      <m:r>
                        <a:rPr lang="en-US" sz="4000" b="1" i="1" smtClean="0">
                          <a:solidFill>
                            <a:srgbClr val="CA0CBC"/>
                          </a:solidFill>
                          <a:latin typeface="Cambria Math"/>
                          <a:ea typeface="Cambria Math"/>
                          <a:cs typeface="Times New Roman" pitchFamily="18" charset="0"/>
                        </a:rPr>
                        <m:t>𝑩</m:t>
                      </m:r>
                    </m:oMath>
                  </a14:m>
                  <a:r>
                    <a:rPr lang="en-US" sz="4000" b="1" dirty="0">
                      <a:solidFill>
                        <a:srgbClr val="CA0CBC"/>
                      </a:solidFill>
                      <a:latin typeface="Times New Roman" pitchFamily="18" charset="0"/>
                      <a:cs typeface="Times New Roman" pitchFamily="18" charset="0"/>
                    </a:rPr>
                    <a:t> = {3, 5, 7, 2}</a:t>
                  </a:r>
                </a:p>
                <a:p>
                  <a:endParaRPr lang="en-US" sz="4000" b="1" dirty="0">
                    <a:solidFill>
                      <a:srgbClr val="CA0CBC"/>
                    </a:solidFill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mc:Choice>
          <mc:Fallback xmlns="">
            <p:sp>
              <p:nvSpPr>
                <p:cNvPr id="4" name="TextBox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00601" y="1724561"/>
                  <a:ext cx="4343399" cy="1323439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t="-8295" r="-126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45" t="39440" r="35053" b="19181"/>
          <a:stretch/>
        </p:blipFill>
        <p:spPr bwMode="auto">
          <a:xfrm>
            <a:off x="1045029" y="2207624"/>
            <a:ext cx="8488992" cy="40908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12C2A-AF52-444E-8FAC-D17279410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+mn-lt"/>
              </a:rPr>
              <a:t>Intersection of Sets</a:t>
            </a:r>
            <a:endParaRPr lang="en-IN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E47E2-C19F-42B8-BC2F-F547FC4244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4715"/>
            <a:ext cx="10515600" cy="4632248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4000" dirty="0"/>
              <a:t>Let A and B be sets</a:t>
            </a:r>
          </a:p>
          <a:p>
            <a:pPr marL="0" indent="0" algn="just">
              <a:buNone/>
            </a:pPr>
            <a:endParaRPr lang="en-US" sz="4000" dirty="0"/>
          </a:p>
          <a:p>
            <a:pPr algn="just"/>
            <a:r>
              <a:rPr lang="en-US" sz="4000" dirty="0"/>
              <a:t>The </a:t>
            </a:r>
            <a:r>
              <a:rPr lang="en-US" sz="4000" dirty="0">
                <a:solidFill>
                  <a:srgbClr val="FF0000"/>
                </a:solidFill>
              </a:rPr>
              <a:t>intersection</a:t>
            </a:r>
            <a:r>
              <a:rPr lang="en-US" sz="4000" dirty="0"/>
              <a:t> of the sets A and B is the set containing those elements in both A and B</a:t>
            </a:r>
          </a:p>
          <a:p>
            <a:pPr marL="0" indent="0" algn="just">
              <a:buNone/>
            </a:pPr>
            <a:endParaRPr lang="en-US" sz="4000" dirty="0"/>
          </a:p>
          <a:p>
            <a:pPr algn="just"/>
            <a:r>
              <a:rPr lang="en-US" sz="4000" dirty="0"/>
              <a:t>It is denoted by </a:t>
            </a:r>
            <a:r>
              <a:rPr lang="en-IN" sz="4000" dirty="0"/>
              <a:t> A⋂B</a:t>
            </a:r>
            <a:r>
              <a:rPr lang="en-US" sz="4000" dirty="0"/>
              <a:t> </a:t>
            </a:r>
          </a:p>
          <a:p>
            <a:pPr marL="0" indent="0" algn="just">
              <a:buNone/>
            </a:pPr>
            <a:endParaRPr lang="en-US" sz="4000" dirty="0"/>
          </a:p>
          <a:p>
            <a:pPr algn="just"/>
            <a:r>
              <a:rPr lang="en-IN" sz="4000" dirty="0"/>
              <a:t>A⋂B = {x | x ∈ A and x ∈ B}</a:t>
            </a:r>
          </a:p>
          <a:p>
            <a:pPr marL="0" indent="0"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802047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1B6AE-1190-487D-AC72-494BCD932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7370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+mn-lt"/>
              </a:rPr>
              <a:t>Intersection of Sets (</a:t>
            </a:r>
            <a:r>
              <a:rPr lang="en-IN" b="1" dirty="0">
                <a:solidFill>
                  <a:srgbClr val="FF0000"/>
                </a:solidFill>
                <a:latin typeface="+mn-lt"/>
              </a:rPr>
              <a:t>Example)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46B4EC-434C-4542-8BA7-8B78077C8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30135"/>
            <a:ext cx="10515600" cy="3646827"/>
          </a:xfrm>
        </p:spPr>
        <p:txBody>
          <a:bodyPr/>
          <a:lstStyle/>
          <a:p>
            <a:r>
              <a:rPr lang="en-US" sz="4000" dirty="0"/>
              <a:t>The intersection of the sets {1, 3, 5} and {1, 2, 3}</a:t>
            </a:r>
          </a:p>
          <a:p>
            <a:r>
              <a:rPr lang="en-US" sz="4000" dirty="0"/>
              <a:t>{1, 3, 5} </a:t>
            </a:r>
            <a:r>
              <a:rPr lang="en-IN" sz="4000" dirty="0"/>
              <a:t>⋂</a:t>
            </a:r>
            <a:r>
              <a:rPr lang="en-US" sz="4000" dirty="0"/>
              <a:t> {1, 2, 3} = {1,3}</a:t>
            </a:r>
            <a:endParaRPr lang="en-IN" sz="40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891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890F9-26C1-41DE-9E2E-B8E961418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0914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+mn-lt"/>
              </a:rPr>
              <a:t>Intersection of Sets</a:t>
            </a:r>
            <a:endParaRPr lang="en-IN" b="1" dirty="0">
              <a:solidFill>
                <a:srgbClr val="FF0000"/>
              </a:solidFill>
              <a:latin typeface="+mn-lt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D767DF1-FDAF-4265-B4B4-39DBABF28A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8760" y="1800642"/>
            <a:ext cx="5603197" cy="4815971"/>
          </a:xfrm>
        </p:spPr>
      </p:pic>
    </p:spTree>
    <p:extLst>
      <p:ext uri="{BB962C8B-B14F-4D97-AF65-F5344CB8AC3E}">
        <p14:creationId xmlns:p14="http://schemas.microsoft.com/office/powerpoint/2010/main" val="428772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389708" y="720634"/>
            <a:ext cx="8453846" cy="1576120"/>
            <a:chOff x="76200" y="1471880"/>
            <a:chExt cx="9067800" cy="15761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/>
                <p:cNvSpPr txBox="1"/>
                <p:nvPr/>
              </p:nvSpPr>
              <p:spPr>
                <a:xfrm>
                  <a:off x="76200" y="1471880"/>
                  <a:ext cx="3657600" cy="132343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000" b="1" i="1" dirty="0" smtClean="0">
                            <a:solidFill>
                              <a:srgbClr val="309A22"/>
                            </a:solidFill>
                            <a:latin typeface="Cambria Math"/>
                            <a:cs typeface="Times New Roman" pitchFamily="18" charset="0"/>
                          </a:rPr>
                          <m:t>𝑨</m:t>
                        </m:r>
                        <m:r>
                          <a:rPr lang="en-US" sz="4000" b="1" i="1" dirty="0" smtClean="0">
                            <a:solidFill>
                              <a:srgbClr val="309A22"/>
                            </a:solidFill>
                            <a:latin typeface="Cambria Math"/>
                            <a:cs typeface="Times New Roman" pitchFamily="18" charset="0"/>
                          </a:rPr>
                          <m:t> = {</m:t>
                        </m:r>
                        <m:r>
                          <a:rPr lang="en-US" sz="4000" b="1" i="1" dirty="0" smtClean="0">
                            <a:solidFill>
                              <a:srgbClr val="309A22"/>
                            </a:solidFill>
                            <a:latin typeface="Cambria Math"/>
                            <a:cs typeface="Times New Roman" pitchFamily="18" charset="0"/>
                          </a:rPr>
                          <m:t>𝟑</m:t>
                        </m:r>
                        <m:r>
                          <a:rPr lang="en-US" sz="4000" b="1" i="1" dirty="0" smtClean="0">
                            <a:solidFill>
                              <a:srgbClr val="309A22"/>
                            </a:solidFill>
                            <a:latin typeface="Cambria Math"/>
                            <a:cs typeface="Times New Roman" pitchFamily="18" charset="0"/>
                          </a:rPr>
                          <m:t>, </m:t>
                        </m:r>
                        <m:r>
                          <a:rPr lang="en-US" sz="4000" b="1" i="1" dirty="0" smtClean="0">
                            <a:solidFill>
                              <a:srgbClr val="309A22"/>
                            </a:solidFill>
                            <a:latin typeface="Cambria Math"/>
                            <a:cs typeface="Times New Roman" pitchFamily="18" charset="0"/>
                          </a:rPr>
                          <m:t>𝟓</m:t>
                        </m:r>
                        <m:r>
                          <a:rPr lang="en-US" sz="4000" b="1" i="1" dirty="0" smtClean="0">
                            <a:solidFill>
                              <a:srgbClr val="309A22"/>
                            </a:solidFill>
                            <a:latin typeface="Cambria Math"/>
                            <a:cs typeface="Times New Roman" pitchFamily="18" charset="0"/>
                          </a:rPr>
                          <m:t>, </m:t>
                        </m:r>
                        <m:r>
                          <a:rPr lang="en-US" sz="4000" b="1" i="1" dirty="0" smtClean="0">
                            <a:solidFill>
                              <a:srgbClr val="309A22"/>
                            </a:solidFill>
                            <a:latin typeface="Cambria Math"/>
                            <a:cs typeface="Times New Roman" pitchFamily="18" charset="0"/>
                          </a:rPr>
                          <m:t>𝟕</m:t>
                        </m:r>
                        <m:r>
                          <a:rPr lang="en-US" sz="4000" b="1" i="1" dirty="0" smtClean="0">
                            <a:solidFill>
                              <a:srgbClr val="309A22"/>
                            </a:solidFill>
                            <a:latin typeface="Cambria Math"/>
                            <a:cs typeface="Times New Roman" pitchFamily="18" charset="0"/>
                          </a:rPr>
                          <m:t>}</m:t>
                        </m:r>
                      </m:oMath>
                    </m:oMathPara>
                  </a14:m>
                  <a:endParaRPr lang="en-US" sz="4000" b="1" dirty="0">
                    <a:solidFill>
                      <a:srgbClr val="309A22"/>
                    </a:solidFill>
                    <a:latin typeface="Times New Roman" pitchFamily="18" charset="0"/>
                    <a:cs typeface="Times New Roman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000" b="1" i="1" dirty="0" smtClean="0">
                            <a:solidFill>
                              <a:srgbClr val="EF8511"/>
                            </a:solidFill>
                            <a:latin typeface="Cambria Math"/>
                            <a:cs typeface="Times New Roman" pitchFamily="18" charset="0"/>
                          </a:rPr>
                          <m:t>𝑩</m:t>
                        </m:r>
                        <m:r>
                          <a:rPr lang="en-US" sz="4000" b="1" i="1" dirty="0" smtClean="0">
                            <a:solidFill>
                              <a:srgbClr val="EF8511"/>
                            </a:solidFill>
                            <a:latin typeface="Cambria Math"/>
                            <a:cs typeface="Times New Roman" pitchFamily="18" charset="0"/>
                          </a:rPr>
                          <m:t> = {</m:t>
                        </m:r>
                        <m:r>
                          <a:rPr lang="en-US" sz="4000" b="1" i="1" dirty="0" smtClean="0">
                            <a:solidFill>
                              <a:srgbClr val="EF8511"/>
                            </a:solidFill>
                            <a:latin typeface="Cambria Math"/>
                            <a:cs typeface="Times New Roman" pitchFamily="18" charset="0"/>
                          </a:rPr>
                          <m:t>𝟐</m:t>
                        </m:r>
                        <m:r>
                          <a:rPr lang="en-US" sz="4000" b="1" i="1" dirty="0" smtClean="0">
                            <a:solidFill>
                              <a:srgbClr val="EF8511"/>
                            </a:solidFill>
                            <a:latin typeface="Cambria Math"/>
                            <a:cs typeface="Times New Roman" pitchFamily="18" charset="0"/>
                          </a:rPr>
                          <m:t>, </m:t>
                        </m:r>
                        <m:r>
                          <a:rPr lang="en-US" sz="4000" b="1" i="1" dirty="0" smtClean="0">
                            <a:solidFill>
                              <a:srgbClr val="EF8511"/>
                            </a:solidFill>
                            <a:latin typeface="Cambria Math"/>
                            <a:cs typeface="Times New Roman" pitchFamily="18" charset="0"/>
                          </a:rPr>
                          <m:t>𝟑</m:t>
                        </m:r>
                        <m:r>
                          <a:rPr lang="en-US" sz="4000" b="1" i="1" dirty="0" smtClean="0">
                            <a:solidFill>
                              <a:srgbClr val="EF8511"/>
                            </a:solidFill>
                            <a:latin typeface="Cambria Math"/>
                            <a:cs typeface="Times New Roman" pitchFamily="18" charset="0"/>
                          </a:rPr>
                          <m:t>, </m:t>
                        </m:r>
                        <m:r>
                          <a:rPr lang="en-US" sz="4000" b="1" i="1" dirty="0" smtClean="0">
                            <a:solidFill>
                              <a:srgbClr val="EF8511"/>
                            </a:solidFill>
                            <a:latin typeface="Cambria Math"/>
                            <a:cs typeface="Times New Roman" pitchFamily="18" charset="0"/>
                          </a:rPr>
                          <m:t>𝟓</m:t>
                        </m:r>
                        <m:r>
                          <a:rPr lang="en-US" sz="4000" b="1" i="1" dirty="0" smtClean="0">
                            <a:solidFill>
                              <a:srgbClr val="EF8511"/>
                            </a:solidFill>
                            <a:latin typeface="Cambria Math"/>
                            <a:cs typeface="Times New Roman" pitchFamily="18" charset="0"/>
                          </a:rPr>
                          <m:t>}</m:t>
                        </m:r>
                      </m:oMath>
                    </m:oMathPara>
                  </a14:m>
                  <a:endParaRPr lang="en-US" sz="4000" b="1" dirty="0">
                    <a:solidFill>
                      <a:srgbClr val="EF8511"/>
                    </a:solidFill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mc:Choice>
          <mc:Fallback xmlns="">
            <p:sp>
              <p:nvSpPr>
                <p:cNvPr id="3" name="TextBox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200" y="1471880"/>
                  <a:ext cx="3657600" cy="1323439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/>
                <p:cNvSpPr txBox="1"/>
                <p:nvPr/>
              </p:nvSpPr>
              <p:spPr>
                <a:xfrm>
                  <a:off x="4800601" y="1724561"/>
                  <a:ext cx="4343399" cy="132343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4000" b="1" i="1" smtClean="0">
                          <a:solidFill>
                            <a:srgbClr val="CA0CBC"/>
                          </a:solidFill>
                          <a:latin typeface="Cambria Math"/>
                          <a:cs typeface="Times New Roman" pitchFamily="18" charset="0"/>
                        </a:rPr>
                        <m:t>𝑨</m:t>
                      </m:r>
                      <m:r>
                        <a:rPr lang="en-US" sz="4000" b="1" i="1">
                          <a:solidFill>
                            <a:srgbClr val="CA0CBC"/>
                          </a:solidFill>
                          <a:latin typeface="Cambria Math"/>
                          <a:ea typeface="Cambria Math"/>
                          <a:cs typeface="Times New Roman" pitchFamily="18" charset="0"/>
                        </a:rPr>
                        <m:t>∩</m:t>
                      </m:r>
                      <m:r>
                        <a:rPr lang="en-US" sz="4000" b="1" i="1" smtClean="0">
                          <a:solidFill>
                            <a:srgbClr val="CA0CBC"/>
                          </a:solidFill>
                          <a:latin typeface="Cambria Math"/>
                          <a:ea typeface="Cambria Math"/>
                          <a:cs typeface="Times New Roman" pitchFamily="18" charset="0"/>
                        </a:rPr>
                        <m:t>𝑩</m:t>
                      </m:r>
                    </m:oMath>
                  </a14:m>
                  <a:r>
                    <a:rPr lang="en-US" sz="4000" b="1" dirty="0">
                      <a:solidFill>
                        <a:srgbClr val="CA0CBC"/>
                      </a:solidFill>
                      <a:latin typeface="Times New Roman" pitchFamily="18" charset="0"/>
                      <a:cs typeface="Times New Roman" pitchFamily="18" charset="0"/>
                    </a:rPr>
                    <a:t> = {3, 5}</a:t>
                  </a:r>
                </a:p>
                <a:p>
                  <a:endParaRPr lang="en-US" sz="4000" b="1" dirty="0">
                    <a:solidFill>
                      <a:srgbClr val="CA0CBC"/>
                    </a:solidFill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mc:Choice>
          <mc:Fallback xmlns="">
            <p:sp>
              <p:nvSpPr>
                <p:cNvPr id="4" name="TextBox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00601" y="1724561"/>
                  <a:ext cx="4343399" cy="1323439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t="-829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89" t="41667" r="39415" b="20690"/>
          <a:stretch/>
        </p:blipFill>
        <p:spPr bwMode="auto">
          <a:xfrm>
            <a:off x="1000014" y="2259941"/>
            <a:ext cx="7117877" cy="38730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10F0F-0C6F-449D-9FC3-55624F2FF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+mn-lt"/>
              </a:rPr>
              <a:t>Difference of Sets</a:t>
            </a:r>
            <a:endParaRPr lang="en-IN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5443FA-A543-47EF-90E5-FA7B5467E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3591"/>
            <a:ext cx="10515600" cy="4623371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3600" dirty="0"/>
              <a:t>Let A and B be two sets </a:t>
            </a:r>
          </a:p>
          <a:p>
            <a:pPr algn="just"/>
            <a:endParaRPr lang="en-US" sz="3600" dirty="0"/>
          </a:p>
          <a:p>
            <a:pPr algn="just"/>
            <a:r>
              <a:rPr lang="en-US" sz="3600" dirty="0"/>
              <a:t>The </a:t>
            </a:r>
            <a:r>
              <a:rPr lang="en-US" sz="3600" dirty="0">
                <a:solidFill>
                  <a:srgbClr val="FF0000"/>
                </a:solidFill>
              </a:rPr>
              <a:t>difference </a:t>
            </a:r>
            <a:r>
              <a:rPr lang="en-US" sz="3600" dirty="0"/>
              <a:t>of A and B is the set containing those elements that are in A but not in B</a:t>
            </a:r>
          </a:p>
          <a:p>
            <a:pPr algn="just"/>
            <a:endParaRPr lang="en-US" sz="3600" dirty="0"/>
          </a:p>
          <a:p>
            <a:pPr algn="just"/>
            <a:r>
              <a:rPr lang="en-US" sz="3600" dirty="0"/>
              <a:t>It is denoted by </a:t>
            </a:r>
            <a:r>
              <a:rPr lang="en-US" sz="3600" dirty="0">
                <a:solidFill>
                  <a:srgbClr val="FF0000"/>
                </a:solidFill>
              </a:rPr>
              <a:t>A - B</a:t>
            </a:r>
            <a:endParaRPr lang="en-US" sz="3600" dirty="0"/>
          </a:p>
          <a:p>
            <a:pPr marL="0" indent="0" algn="just">
              <a:buNone/>
            </a:pPr>
            <a:endParaRPr lang="en-US" sz="3600" dirty="0"/>
          </a:p>
          <a:p>
            <a:pPr algn="just"/>
            <a:r>
              <a:rPr lang="en-IN" sz="3600" dirty="0"/>
              <a:t>A - B = {x | x ∈ A and x ∉ B}</a:t>
            </a:r>
          </a:p>
          <a:p>
            <a:pPr marL="0" indent="0"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467992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F2D76-C8E1-4978-98F6-60E1357D5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+mn-lt"/>
              </a:rPr>
              <a:t>Difference of Sets (Examples)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A08D2-4496-4CAF-BD5A-E7F7FE0D8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sz="4800" dirty="0"/>
              <a:t>{1, 3, 5} - {1, 2, 3} = {5}</a:t>
            </a:r>
          </a:p>
          <a:p>
            <a:pPr marL="0" indent="0">
              <a:buNone/>
            </a:pPr>
            <a:endParaRPr lang="en-US" sz="4800" dirty="0"/>
          </a:p>
          <a:p>
            <a:r>
              <a:rPr lang="en-US" sz="4800" dirty="0"/>
              <a:t>{ 1, 2, 3} - {1, 3, 5}= {2} </a:t>
            </a:r>
            <a:endParaRPr lang="en-IN" sz="48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5963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911071" y="727166"/>
            <a:ext cx="7384018" cy="2015609"/>
            <a:chOff x="-111018" y="2514600"/>
            <a:chExt cx="9547753" cy="3105150"/>
          </a:xfrm>
        </p:grpSpPr>
        <p:pic>
          <p:nvPicPr>
            <p:cNvPr id="3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761" t="65885" r="29722" b="10677"/>
            <a:stretch/>
          </p:blipFill>
          <p:spPr bwMode="auto">
            <a:xfrm>
              <a:off x="-111018" y="2514600"/>
              <a:ext cx="9547753" cy="31051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TextBox 3"/>
            <p:cNvSpPr txBox="1"/>
            <p:nvPr/>
          </p:nvSpPr>
          <p:spPr>
            <a:xfrm>
              <a:off x="1619250" y="4311134"/>
              <a:ext cx="457200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2419350" y="3878044"/>
              <a:ext cx="533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Arial Black" pitchFamily="34" charset="0"/>
                </a:rPr>
                <a:t>B</a:t>
              </a:r>
              <a:endParaRPr lang="en-US" dirty="0">
                <a:latin typeface="Arial Black" pitchFamily="34" charset="0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991350" y="4160877"/>
              <a:ext cx="381000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772400" y="3733800"/>
              <a:ext cx="457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Arial Black" pitchFamily="34" charset="0"/>
                </a:rPr>
                <a:t>B</a:t>
              </a:r>
              <a:endParaRPr lang="en-US" b="1" dirty="0">
                <a:latin typeface="Arial Black" pitchFamily="34" charset="0"/>
              </a:endParaRPr>
            </a:p>
          </p:txBody>
        </p:sp>
      </p:grpSp>
      <p:sp>
        <p:nvSpPr>
          <p:cNvPr id="8" name="Rectangle 7"/>
          <p:cNvSpPr/>
          <p:nvPr/>
        </p:nvSpPr>
        <p:spPr>
          <a:xfrm>
            <a:off x="1101634" y="3241655"/>
            <a:ext cx="1011936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b="1" dirty="0">
                <a:latin typeface="Cambria" pitchFamily="18" charset="0"/>
                <a:ea typeface="Cambria" pitchFamily="18" charset="0"/>
              </a:rPr>
              <a:t>Example</a:t>
            </a:r>
            <a:r>
              <a:rPr lang="en-US" sz="2800" dirty="0">
                <a:latin typeface="Cambria" pitchFamily="18" charset="0"/>
                <a:ea typeface="Cambria" pitchFamily="18" charset="0"/>
              </a:rPr>
              <a:t> If A={10,11,12,13} and B={13,14,15}, then </a:t>
            </a:r>
            <a:r>
              <a:rPr lang="en-US" sz="2800" b="1" dirty="0">
                <a:solidFill>
                  <a:srgbClr val="C00000"/>
                </a:solidFill>
                <a:latin typeface="Cambria" pitchFamily="18" charset="0"/>
                <a:ea typeface="Cambria" pitchFamily="18" charset="0"/>
              </a:rPr>
              <a:t>(A−B)={10,11,12} and (B−A)={14,15}. </a:t>
            </a:r>
          </a:p>
          <a:p>
            <a:pPr algn="just"/>
            <a:r>
              <a:rPr lang="en-US" sz="2800" dirty="0">
                <a:latin typeface="Cambria" pitchFamily="18" charset="0"/>
                <a:ea typeface="Cambria" pitchFamily="18" charset="0"/>
              </a:rPr>
              <a:t>Here, we can see (A−B)≠(B−A)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219891" y="683623"/>
            <a:ext cx="9067800" cy="1451759"/>
            <a:chOff x="76200" y="1219200"/>
            <a:chExt cx="9067800" cy="1451759"/>
          </a:xfrm>
        </p:grpSpPr>
        <p:grpSp>
          <p:nvGrpSpPr>
            <p:cNvPr id="3" name="Group 7"/>
            <p:cNvGrpSpPr/>
            <p:nvPr/>
          </p:nvGrpSpPr>
          <p:grpSpPr>
            <a:xfrm>
              <a:off x="76200" y="1219200"/>
              <a:ext cx="9067800" cy="1451759"/>
              <a:chOff x="76200" y="1471880"/>
              <a:chExt cx="9067800" cy="1451759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" name="TextBox 3"/>
                  <p:cNvSpPr txBox="1"/>
                  <p:nvPr/>
                </p:nvSpPr>
                <p:spPr>
                  <a:xfrm>
                    <a:off x="76200" y="1471880"/>
                    <a:ext cx="3657600" cy="132343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4000" b="1" i="1" dirty="0" smtClean="0">
                              <a:solidFill>
                                <a:srgbClr val="309A22"/>
                              </a:solidFill>
                              <a:latin typeface="Cambria Math"/>
                              <a:cs typeface="Times New Roman" pitchFamily="18" charset="0"/>
                            </a:rPr>
                            <m:t>𝑨</m:t>
                          </m:r>
                          <m:r>
                            <a:rPr lang="en-US" sz="4000" b="1" i="1" dirty="0" smtClean="0">
                              <a:solidFill>
                                <a:srgbClr val="309A22"/>
                              </a:solidFill>
                              <a:latin typeface="Cambria Math"/>
                              <a:cs typeface="Times New Roman" pitchFamily="18" charset="0"/>
                            </a:rPr>
                            <m:t> = {</m:t>
                          </m:r>
                          <m:r>
                            <a:rPr lang="en-US" sz="4000" b="1" i="1" dirty="0" smtClean="0">
                              <a:solidFill>
                                <a:srgbClr val="309A22"/>
                              </a:solidFill>
                              <a:latin typeface="Cambria Math"/>
                              <a:cs typeface="Times New Roman" pitchFamily="18" charset="0"/>
                            </a:rPr>
                            <m:t>𝟑</m:t>
                          </m:r>
                          <m:r>
                            <a:rPr lang="en-US" sz="4000" b="1" i="1" dirty="0" smtClean="0">
                              <a:solidFill>
                                <a:srgbClr val="309A22"/>
                              </a:solidFill>
                              <a:latin typeface="Cambria Math"/>
                              <a:cs typeface="Times New Roman" pitchFamily="18" charset="0"/>
                            </a:rPr>
                            <m:t>, </m:t>
                          </m:r>
                          <m:r>
                            <a:rPr lang="en-US" sz="4000" b="1" i="1" dirty="0" smtClean="0">
                              <a:solidFill>
                                <a:srgbClr val="309A22"/>
                              </a:solidFill>
                              <a:latin typeface="Cambria Math"/>
                              <a:cs typeface="Times New Roman" pitchFamily="18" charset="0"/>
                            </a:rPr>
                            <m:t>𝟓</m:t>
                          </m:r>
                          <m:r>
                            <a:rPr lang="en-US" sz="4000" b="1" i="1" dirty="0" smtClean="0">
                              <a:solidFill>
                                <a:srgbClr val="309A22"/>
                              </a:solidFill>
                              <a:latin typeface="Cambria Math"/>
                              <a:cs typeface="Times New Roman" pitchFamily="18" charset="0"/>
                            </a:rPr>
                            <m:t>, </m:t>
                          </m:r>
                          <m:r>
                            <a:rPr lang="en-US" sz="4000" b="1" i="1" dirty="0" smtClean="0">
                              <a:solidFill>
                                <a:srgbClr val="309A22"/>
                              </a:solidFill>
                              <a:latin typeface="Cambria Math"/>
                              <a:cs typeface="Times New Roman" pitchFamily="18" charset="0"/>
                            </a:rPr>
                            <m:t>𝟕</m:t>
                          </m:r>
                          <m:r>
                            <a:rPr lang="en-US" sz="4000" b="1" i="1" dirty="0" smtClean="0">
                              <a:solidFill>
                                <a:srgbClr val="309A22"/>
                              </a:solidFill>
                              <a:latin typeface="Cambria Math"/>
                              <a:cs typeface="Times New Roman" pitchFamily="18" charset="0"/>
                            </a:rPr>
                            <m:t>}</m:t>
                          </m:r>
                        </m:oMath>
                      </m:oMathPara>
                    </a14:m>
                    <a:endParaRPr lang="en-US" sz="4000" b="1" dirty="0">
                      <a:solidFill>
                        <a:srgbClr val="309A22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4000" b="1" i="1" dirty="0" smtClean="0">
                              <a:solidFill>
                                <a:srgbClr val="EF8511"/>
                              </a:solidFill>
                              <a:latin typeface="Cambria Math"/>
                              <a:cs typeface="Times New Roman" pitchFamily="18" charset="0"/>
                            </a:rPr>
                            <m:t>𝑩</m:t>
                          </m:r>
                          <m:r>
                            <a:rPr lang="en-US" sz="4000" b="1" i="1" dirty="0" smtClean="0">
                              <a:solidFill>
                                <a:srgbClr val="EF8511"/>
                              </a:solidFill>
                              <a:latin typeface="Cambria Math"/>
                              <a:cs typeface="Times New Roman" pitchFamily="18" charset="0"/>
                            </a:rPr>
                            <m:t> = {</m:t>
                          </m:r>
                          <m:r>
                            <a:rPr lang="en-US" sz="4000" b="1" i="1" dirty="0" smtClean="0">
                              <a:solidFill>
                                <a:srgbClr val="EF8511"/>
                              </a:solidFill>
                              <a:latin typeface="Cambria Math"/>
                              <a:cs typeface="Times New Roman" pitchFamily="18" charset="0"/>
                            </a:rPr>
                            <m:t>𝟐</m:t>
                          </m:r>
                          <m:r>
                            <a:rPr lang="en-US" sz="4000" b="1" i="1" dirty="0" smtClean="0">
                              <a:solidFill>
                                <a:srgbClr val="EF8511"/>
                              </a:solidFill>
                              <a:latin typeface="Cambria Math"/>
                              <a:cs typeface="Times New Roman" pitchFamily="18" charset="0"/>
                            </a:rPr>
                            <m:t>, </m:t>
                          </m:r>
                          <m:r>
                            <a:rPr lang="en-US" sz="4000" b="1" i="1" dirty="0" smtClean="0">
                              <a:solidFill>
                                <a:srgbClr val="EF8511"/>
                              </a:solidFill>
                              <a:latin typeface="Cambria Math"/>
                              <a:cs typeface="Times New Roman" pitchFamily="18" charset="0"/>
                            </a:rPr>
                            <m:t>𝟑</m:t>
                          </m:r>
                          <m:r>
                            <a:rPr lang="en-US" sz="4000" b="1" i="1" dirty="0" smtClean="0">
                              <a:solidFill>
                                <a:srgbClr val="EF8511"/>
                              </a:solidFill>
                              <a:latin typeface="Cambria Math"/>
                              <a:cs typeface="Times New Roman" pitchFamily="18" charset="0"/>
                            </a:rPr>
                            <m:t>, </m:t>
                          </m:r>
                          <m:r>
                            <a:rPr lang="en-US" sz="4000" b="1" i="1" dirty="0" smtClean="0">
                              <a:solidFill>
                                <a:srgbClr val="EF8511"/>
                              </a:solidFill>
                              <a:latin typeface="Cambria Math"/>
                              <a:cs typeface="Times New Roman" pitchFamily="18" charset="0"/>
                            </a:rPr>
                            <m:t>𝟓</m:t>
                          </m:r>
                          <m:r>
                            <a:rPr lang="en-US" sz="4000" b="1" i="1" dirty="0" smtClean="0">
                              <a:solidFill>
                                <a:srgbClr val="EF8511"/>
                              </a:solidFill>
                              <a:latin typeface="Cambria Math"/>
                              <a:cs typeface="Times New Roman" pitchFamily="18" charset="0"/>
                            </a:rPr>
                            <m:t>}</m:t>
                          </m:r>
                        </m:oMath>
                      </m:oMathPara>
                    </a14:m>
                    <a:endParaRPr lang="en-US" sz="4000" b="1" dirty="0">
                      <a:solidFill>
                        <a:srgbClr val="EF8511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5" name="TextBox 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200" y="1471880"/>
                    <a:ext cx="3657600" cy="1323439"/>
                  </a:xfrm>
                  <a:prstGeom prst="rect">
                    <a:avLst/>
                  </a:prstGeom>
                  <a:blipFill rotWithShape="1"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TextBox 5"/>
                  <p:cNvSpPr txBox="1"/>
                  <p:nvPr/>
                </p:nvSpPr>
                <p:spPr>
                  <a:xfrm>
                    <a:off x="4800601" y="1600200"/>
                    <a:ext cx="4343399" cy="132343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sz="4000" b="1" i="1" smtClean="0">
                            <a:solidFill>
                              <a:srgbClr val="CA0CBC"/>
                            </a:solidFill>
                            <a:latin typeface="Cambria Math"/>
                            <a:cs typeface="Times New Roman" pitchFamily="18" charset="0"/>
                          </a:rPr>
                          <m:t>𝑨</m:t>
                        </m:r>
                        <m:r>
                          <a:rPr lang="en-US" sz="4000" b="1" i="1" smtClean="0">
                            <a:solidFill>
                              <a:srgbClr val="CA0CBC"/>
                            </a:solidFill>
                            <a:latin typeface="Cambria Math"/>
                            <a:cs typeface="Times New Roman" pitchFamily="18" charset="0"/>
                          </a:rPr>
                          <m:t>−</m:t>
                        </m:r>
                        <m:r>
                          <a:rPr lang="en-US" sz="4000" b="1" i="1" smtClean="0">
                            <a:solidFill>
                              <a:srgbClr val="CA0CBC"/>
                            </a:solidFill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𝑩</m:t>
                        </m:r>
                      </m:oMath>
                    </a14:m>
                    <a:r>
                      <a:rPr lang="en-US" sz="4000" b="1" dirty="0">
                        <a:solidFill>
                          <a:srgbClr val="CA0CBC"/>
                        </a:solidFill>
                        <a:latin typeface="Times New Roman" pitchFamily="18" charset="0"/>
                        <a:cs typeface="Times New Roman" pitchFamily="18" charset="0"/>
                      </a:rPr>
                      <a:t> = {7}</a:t>
                    </a:r>
                  </a:p>
                  <a:p>
                    <a14:m>
                      <m:oMath xmlns:m="http://schemas.openxmlformats.org/officeDocument/2006/math">
                        <m:r>
                          <a:rPr lang="en-US" sz="4000" b="1" i="1" smtClean="0">
                            <a:solidFill>
                              <a:srgbClr val="CA0CBC"/>
                            </a:solidFill>
                            <a:latin typeface="Cambria Math"/>
                            <a:cs typeface="Times New Roman" pitchFamily="18" charset="0"/>
                          </a:rPr>
                          <m:t>𝑩</m:t>
                        </m:r>
                        <m:r>
                          <a:rPr lang="en-US" sz="4000" b="1" i="1">
                            <a:solidFill>
                              <a:srgbClr val="CA0CBC"/>
                            </a:solidFill>
                            <a:latin typeface="Cambria Math"/>
                            <a:cs typeface="Times New Roman" pitchFamily="18" charset="0"/>
                          </a:rPr>
                          <m:t>−</m:t>
                        </m:r>
                        <m:r>
                          <a:rPr lang="en-US" sz="4000" b="1" i="1" smtClean="0">
                            <a:solidFill>
                              <a:srgbClr val="CA0CBC"/>
                            </a:solidFill>
                            <a:latin typeface="Cambria Math"/>
                            <a:cs typeface="Times New Roman" pitchFamily="18" charset="0"/>
                          </a:rPr>
                          <m:t>𝑨</m:t>
                        </m:r>
                      </m:oMath>
                    </a14:m>
                    <a:r>
                      <a:rPr lang="en-US" sz="4000" b="1" dirty="0">
                        <a:solidFill>
                          <a:srgbClr val="CA0CBC"/>
                        </a:solidFill>
                        <a:latin typeface="Times New Roman" pitchFamily="18" charset="0"/>
                        <a:cs typeface="Times New Roman" pitchFamily="18" charset="0"/>
                      </a:rPr>
                      <a:t> = {2}</a:t>
                    </a:r>
                  </a:p>
                </p:txBody>
              </p:sp>
            </mc:Choice>
            <mc:Fallback xmlns="">
              <p:sp>
                <p:nvSpPr>
                  <p:cNvPr id="6" name="TextBox 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00601" y="1600200"/>
                    <a:ext cx="4343399" cy="1323439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 t="-8295" b="-1889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4" name="Straight Arrow Connector 3"/>
            <p:cNvCxnSpPr/>
            <p:nvPr/>
          </p:nvCxnSpPr>
          <p:spPr>
            <a:xfrm>
              <a:off x="3581400" y="1905000"/>
              <a:ext cx="1219201" cy="1"/>
            </a:xfrm>
            <a:prstGeom prst="straightConnector1">
              <a:avLst/>
            </a:prstGeom>
            <a:ln w="76200">
              <a:solidFill>
                <a:srgbClr val="F21EE3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68" t="39968" r="38931" b="20689"/>
          <a:stretch/>
        </p:blipFill>
        <p:spPr bwMode="auto">
          <a:xfrm>
            <a:off x="788126" y="2180626"/>
            <a:ext cx="7183821" cy="40228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1AC3B-529F-46D5-9314-70AAE1A54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316" y="382880"/>
            <a:ext cx="10515600" cy="939893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+mn-lt"/>
              </a:rPr>
              <a:t>Complement of a set </a:t>
            </a:r>
            <a:endParaRPr lang="en-IN" b="1" dirty="0">
              <a:solidFill>
                <a:srgbClr val="FF0000"/>
              </a:solidFill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167EEA-5510-412E-8E61-C4C1F03915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62470"/>
                <a:ext cx="10515600" cy="5140171"/>
              </a:xfrm>
            </p:spPr>
            <p:txBody>
              <a:bodyPr>
                <a:normAutofit fontScale="92500" lnSpcReduction="20000"/>
              </a:bodyPr>
              <a:lstStyle/>
              <a:p>
                <a:pPr algn="just"/>
                <a:r>
                  <a:rPr lang="en-US" sz="3600" dirty="0"/>
                  <a:t>Let U be the universal set. </a:t>
                </a:r>
              </a:p>
              <a:p>
                <a:pPr marL="0" indent="0" algn="just">
                  <a:buNone/>
                </a:pPr>
                <a:endParaRPr lang="en-US" sz="3600" dirty="0"/>
              </a:p>
              <a:p>
                <a:pPr algn="just"/>
                <a:r>
                  <a:rPr lang="en-US" sz="3600" dirty="0"/>
                  <a:t>The </a:t>
                </a:r>
                <a:r>
                  <a:rPr lang="en-US" sz="3600" dirty="0">
                    <a:solidFill>
                      <a:srgbClr val="FF0000"/>
                    </a:solidFill>
                  </a:rPr>
                  <a:t>complement</a:t>
                </a:r>
                <a:r>
                  <a:rPr lang="en-US" sz="3600" dirty="0"/>
                  <a:t> of the set A, denoted by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36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3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en-US" sz="3600" dirty="0"/>
                  <a:t>, is the complement of A with respect to U. </a:t>
                </a:r>
              </a:p>
              <a:p>
                <a:pPr algn="just"/>
                <a:endParaRPr lang="en-US" sz="3600" dirty="0"/>
              </a:p>
              <a:p>
                <a:pPr algn="just"/>
                <a:r>
                  <a:rPr lang="en-US" sz="3600" dirty="0"/>
                  <a:t>In other words, the complement of the set A is U - A. </a:t>
                </a:r>
              </a:p>
              <a:p>
                <a:endParaRPr lang="en-US" sz="3600" dirty="0"/>
              </a:p>
              <a:p>
                <a:r>
                  <a:rPr lang="en-US" sz="3600" dirty="0"/>
                  <a:t>An element belongs to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36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en-US" sz="3600" dirty="0"/>
                  <a:t> if and only if x </a:t>
                </a:r>
                <a:r>
                  <a:rPr lang="en-IN" sz="3600" dirty="0"/>
                  <a:t>∉</a:t>
                </a:r>
                <a:r>
                  <a:rPr lang="en-US" sz="3600" dirty="0"/>
                  <a:t> A. </a:t>
                </a:r>
              </a:p>
              <a:p>
                <a:endParaRPr lang="en-IN" sz="360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36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en-US" sz="3600" dirty="0"/>
                  <a:t>= </a:t>
                </a:r>
                <a:r>
                  <a:rPr lang="en-IN" sz="3600" dirty="0"/>
                  <a:t>{x ∈ U : x ∉ A}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167EEA-5510-412E-8E61-C4C1F03915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62470"/>
                <a:ext cx="10515600" cy="5140171"/>
              </a:xfrm>
              <a:blipFill>
                <a:blip r:embed="rId2"/>
                <a:stretch>
                  <a:fillRect l="-1448" t="-3941" r="-1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8465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6F715-C8BD-4BC1-B567-CF3E110BD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60" y="365126"/>
            <a:ext cx="10821140" cy="1055302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+mn-lt"/>
              </a:rPr>
              <a:t>Complement of a set </a:t>
            </a:r>
            <a:endParaRPr lang="en-IN" b="1" dirty="0">
              <a:solidFill>
                <a:srgbClr val="FF0000"/>
              </a:solidFill>
              <a:latin typeface="+mn-lt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731887-3A24-4327-9BC4-E5E09A8ECF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4390" y="1351910"/>
            <a:ext cx="5848072" cy="5553401"/>
          </a:xfrm>
        </p:spPr>
      </p:pic>
    </p:spTree>
    <p:extLst>
      <p:ext uri="{BB962C8B-B14F-4D97-AF65-F5344CB8AC3E}">
        <p14:creationId xmlns:p14="http://schemas.microsoft.com/office/powerpoint/2010/main" val="377556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8EF10-0042-43B3-A6A1-2C5D4ED02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+mn-lt"/>
              </a:rPr>
              <a:t>Complement of a set (Examples)</a:t>
            </a:r>
            <a:endParaRPr lang="en-IN" b="1" dirty="0">
              <a:solidFill>
                <a:srgbClr val="FF0000"/>
              </a:solidFill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7468E9-2825-435B-B642-4877CED5BC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/>
                <a:r>
                  <a:rPr lang="en-US" sz="3600" dirty="0"/>
                  <a:t>Let A = {a, e, </a:t>
                </a:r>
                <a:r>
                  <a:rPr lang="en-US" sz="3600" dirty="0" err="1"/>
                  <a:t>i</a:t>
                </a:r>
                <a:r>
                  <a:rPr lang="en-US" sz="3600" dirty="0"/>
                  <a:t>, o, u} </a:t>
                </a:r>
              </a:p>
              <a:p>
                <a:pPr algn="just"/>
                <a:r>
                  <a:rPr lang="en-US" sz="3600" dirty="0"/>
                  <a:t>(where the universal set is the set of letters of the English alphabet). Then,</a:t>
                </a:r>
              </a:p>
              <a:p>
                <a:pPr algn="just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36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IN" sz="36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600" dirty="0"/>
                  <a:t>= {b, c, d, j, g, h, j, k, I, m, n, p, q, r, s, t, v, w, x, y, z}</a:t>
                </a:r>
              </a:p>
              <a:p>
                <a:pPr algn="just"/>
                <a:endParaRPr lang="en-US" sz="3600" dirty="0"/>
              </a:p>
              <a:p>
                <a:pPr algn="just"/>
                <a:r>
                  <a:rPr lang="en-US" sz="3600" dirty="0"/>
                  <a:t>Let A be the set of positive integers greater than 10</a:t>
                </a:r>
              </a:p>
              <a:p>
                <a:pPr algn="just"/>
                <a:r>
                  <a:rPr lang="en-US" sz="3600" dirty="0"/>
                  <a:t>(with universal set is the set of all positive integers).</a:t>
                </a:r>
              </a:p>
              <a:p>
                <a:pPr algn="just"/>
                <a:r>
                  <a:rPr lang="en-US" sz="3600" dirty="0"/>
                  <a:t>Then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36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en-US" sz="3600" dirty="0"/>
                  <a:t> = {1,2,3,4,5,6,7,8,9,10}</a:t>
                </a:r>
                <a:endParaRPr lang="en-IN" sz="3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B57468E9-2825-435B-B642-4877CED5BC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23" t="-3361" r="-1739" b="-1582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742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9A1F3-7BF4-4896-84CD-136C7C083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+mn-lt"/>
              </a:rPr>
              <a:t>Disjoint Sets</a:t>
            </a:r>
            <a:endParaRPr lang="en-IN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44C157-E969-4604-9F3C-F7B84AA53E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1417"/>
            <a:ext cx="10515600" cy="4635546"/>
          </a:xfrm>
        </p:spPr>
        <p:txBody>
          <a:bodyPr>
            <a:normAutofit fontScale="92500" lnSpcReduction="10000"/>
          </a:bodyPr>
          <a:lstStyle/>
          <a:p>
            <a:r>
              <a:rPr lang="en-US" sz="4000" dirty="0">
                <a:latin typeface="Cambria" pitchFamily="18" charset="0"/>
                <a:ea typeface="Cambria" pitchFamily="18" charset="0"/>
              </a:rPr>
              <a:t>Two sets A and B are called disjoint sets if they do not have even one element in common.</a:t>
            </a:r>
            <a:endParaRPr lang="en-US" sz="4000" dirty="0"/>
          </a:p>
          <a:p>
            <a:r>
              <a:rPr lang="en-US" sz="4000" dirty="0"/>
              <a:t>Two sets are called </a:t>
            </a:r>
            <a:r>
              <a:rPr lang="en-US" sz="4000" dirty="0">
                <a:solidFill>
                  <a:srgbClr val="FF0000"/>
                </a:solidFill>
              </a:rPr>
              <a:t>disjoint</a:t>
            </a:r>
            <a:r>
              <a:rPr lang="en-US" sz="4000" dirty="0"/>
              <a:t> if their intersection is the empty set.</a:t>
            </a:r>
          </a:p>
          <a:p>
            <a:pPr marL="0" indent="0">
              <a:buNone/>
            </a:pP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00B050"/>
                </a:solidFill>
              </a:rPr>
              <a:t>Example</a:t>
            </a:r>
          </a:p>
          <a:p>
            <a:r>
              <a:rPr lang="en-US" sz="4000" dirty="0"/>
              <a:t>Let A = {1, 3, 5, 7, 9} and B = {2, 4, 6, 8, 10}</a:t>
            </a:r>
          </a:p>
          <a:p>
            <a:r>
              <a:rPr lang="en-US" sz="4000" dirty="0"/>
              <a:t>Since, A </a:t>
            </a:r>
            <a:r>
              <a:rPr lang="en-IN" sz="4000" dirty="0"/>
              <a:t>⋂</a:t>
            </a:r>
            <a:r>
              <a:rPr lang="en-US" sz="4000" dirty="0"/>
              <a:t> B = </a:t>
            </a:r>
            <a:r>
              <a:rPr lang="el-GR" sz="4000" dirty="0"/>
              <a:t>Φ</a:t>
            </a:r>
            <a:r>
              <a:rPr lang="en-US" sz="4000" dirty="0"/>
              <a:t>, A and B are disjoint 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159253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6734B-64A8-454B-B670-0FEC97208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+mn-lt"/>
              </a:rPr>
              <a:t>Disjoint Sets</a:t>
            </a:r>
            <a:endParaRPr lang="en-IN" b="1" dirty="0">
              <a:solidFill>
                <a:srgbClr val="FF0000"/>
              </a:solidFill>
              <a:latin typeface="+mn-lt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587827" y="1645920"/>
            <a:ext cx="9706679" cy="4558937"/>
            <a:chOff x="1277007" y="1905000"/>
            <a:chExt cx="7409793" cy="4026932"/>
          </a:xfrm>
        </p:grpSpPr>
        <p:grpSp>
          <p:nvGrpSpPr>
            <p:cNvPr id="7" name="Group 4"/>
            <p:cNvGrpSpPr/>
            <p:nvPr/>
          </p:nvGrpSpPr>
          <p:grpSpPr>
            <a:xfrm>
              <a:off x="1277007" y="1905000"/>
              <a:ext cx="6589986" cy="4026932"/>
              <a:chOff x="1277007" y="1905000"/>
              <a:chExt cx="6589986" cy="4026932"/>
            </a:xfrm>
          </p:grpSpPr>
          <p:pic>
            <p:nvPicPr>
              <p:cNvPr id="9" name="Picture 2"/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9630" t="39440" r="29722" b="6250"/>
              <a:stretch/>
            </p:blipFill>
            <p:spPr bwMode="auto">
              <a:xfrm>
                <a:off x="1277007" y="1905000"/>
                <a:ext cx="6589986" cy="39729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0" name="TextBox 9"/>
              <p:cNvSpPr txBox="1"/>
              <p:nvPr/>
            </p:nvSpPr>
            <p:spPr>
              <a:xfrm>
                <a:off x="1277007" y="5562600"/>
                <a:ext cx="1923393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endParaRPr lang="en-US" dirty="0"/>
              </a:p>
            </p:txBody>
          </p:sp>
        </p:grpSp>
        <p:sp>
          <p:nvSpPr>
            <p:cNvPr id="8" name="TextBox 7"/>
            <p:cNvSpPr txBox="1"/>
            <p:nvPr/>
          </p:nvSpPr>
          <p:spPr>
            <a:xfrm>
              <a:off x="7543800" y="5562600"/>
              <a:ext cx="1143000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9855211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1269A-FF63-4D08-BA15-23DF31E0B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+mn-lt"/>
              </a:rPr>
              <a:t>Generalized Unions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0831382-15D2-4B96-9B78-14203CCC71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sz="3600" dirty="0"/>
                  <a:t>The union of a collection of sets is the set that contains those elements which are members of at least one set in the collection. </a:t>
                </a:r>
              </a:p>
              <a:p>
                <a:pPr marL="0" indent="0" algn="just">
                  <a:buNone/>
                </a:pPr>
                <a:endParaRPr lang="en-US" sz="3600" dirty="0"/>
              </a:p>
              <a:p>
                <a:pPr algn="just"/>
                <a:r>
                  <a:rPr lang="en-US" sz="3600" dirty="0"/>
                  <a:t>To denote the union of the sets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3600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36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3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3600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36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3600" b="0" i="1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3600" dirty="0"/>
                  <a:t> ...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3600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36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3600" dirty="0"/>
                  <a:t>  , we use the notation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0831382-15D2-4B96-9B78-14203CCC71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89" t="-3488" r="-16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8FCD0ADE-BE6B-47A0-9ACF-2290C4B38FE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7646" t="66148" r="50000" b="28543"/>
          <a:stretch/>
        </p:blipFill>
        <p:spPr>
          <a:xfrm>
            <a:off x="4163624" y="5377333"/>
            <a:ext cx="5069153" cy="1224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413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FED9E-3893-478E-888D-098094B09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+mn-lt"/>
              </a:rPr>
              <a:t>Generalized Intersections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FF67BE-CADC-47DD-BE8D-3B09EB3CBC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sz="3200" dirty="0"/>
                  <a:t>The intersection of a collection of sets is the set that contains those elements which are members of all the sets in the collection. </a:t>
                </a:r>
              </a:p>
              <a:p>
                <a:pPr algn="just"/>
                <a:endParaRPr lang="en-US" sz="3200" dirty="0"/>
              </a:p>
              <a:p>
                <a:pPr algn="just"/>
                <a:r>
                  <a:rPr lang="en-US" sz="3200" dirty="0"/>
                  <a:t>To denote the intersection of the sets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3200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3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32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3200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32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3200" i="1" dirty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3200" dirty="0"/>
                  <a:t> ...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3200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32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3200" dirty="0"/>
                  <a:t> , we use the notation </a:t>
                </a:r>
                <a:endParaRPr lang="en-IN" sz="3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FF67BE-CADC-47DD-BE8D-3B09EB3CBC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t="-2907" r="-13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4E988503-85B9-49DD-B7C1-295C23E4CE4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7354" t="62265" r="50995" b="31133"/>
          <a:stretch/>
        </p:blipFill>
        <p:spPr>
          <a:xfrm>
            <a:off x="4083727" y="4921522"/>
            <a:ext cx="4509857" cy="1571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235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33753E5-4300-4091-A750-2E1E7EC88B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5693" t="20475" r="27353" b="72366"/>
          <a:stretch/>
        </p:blipFill>
        <p:spPr>
          <a:xfrm>
            <a:off x="1038683" y="1805128"/>
            <a:ext cx="9685541" cy="1445579"/>
          </a:xfrm>
          <a:prstGeom prst="rect">
            <a:avLst/>
          </a:prstGeom>
        </p:spPr>
      </p:pic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03BA1448-F74B-4F4E-B526-C32D799AF7C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693" t="26952" r="27353" b="64997"/>
          <a:stretch/>
        </p:blipFill>
        <p:spPr>
          <a:xfrm>
            <a:off x="1038683" y="3250707"/>
            <a:ext cx="9987383" cy="1445579"/>
          </a:xfrm>
          <a:prstGeom prst="rect">
            <a:avLst/>
          </a:prstGeom>
        </p:spPr>
      </p:pic>
      <p:pic>
        <p:nvPicPr>
          <p:cNvPr id="6" name="Content Placeholder 3">
            <a:extLst>
              <a:ext uri="{FF2B5EF4-FFF2-40B4-BE49-F238E27FC236}">
                <a16:creationId xmlns:a16="http://schemas.microsoft.com/office/drawing/2014/main" id="{CBA7B8CB-AABD-4D1C-9E07-6B3C56499DF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693" t="34662" r="30198" b="57287"/>
          <a:stretch/>
        </p:blipFill>
        <p:spPr>
          <a:xfrm>
            <a:off x="1102308" y="4846468"/>
            <a:ext cx="10838158" cy="14455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D8D6E12-5B59-4926-998A-911D7E5B18A1}"/>
              </a:ext>
            </a:extLst>
          </p:cNvPr>
          <p:cNvSpPr txBox="1"/>
          <p:nvPr/>
        </p:nvSpPr>
        <p:spPr>
          <a:xfrm>
            <a:off x="889987" y="381287"/>
            <a:ext cx="287414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rgbClr val="FF0000"/>
                </a:solidFill>
              </a:rPr>
              <a:t>Example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1504044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CD870-EF47-4EFF-AA0F-DA2B2E922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7370"/>
            <a:ext cx="10515600" cy="1325563"/>
          </a:xfrm>
        </p:spPr>
        <p:txBody>
          <a:bodyPr/>
          <a:lstStyle/>
          <a:p>
            <a:r>
              <a:rPr lang="en-IN" dirty="0"/>
              <a:t>Next Topic…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66A144-1208-4D68-B8B0-B417B6F777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4400" dirty="0">
                <a:solidFill>
                  <a:srgbClr val="FF0000"/>
                </a:solidFill>
              </a:rPr>
              <a:t>Proof Techniques</a:t>
            </a:r>
          </a:p>
        </p:txBody>
      </p:sp>
    </p:spTree>
    <p:extLst>
      <p:ext uri="{BB962C8B-B14F-4D97-AF65-F5344CB8AC3E}">
        <p14:creationId xmlns:p14="http://schemas.microsoft.com/office/powerpoint/2010/main" val="40329959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802</TotalTime>
  <Words>1450</Words>
  <Application>Microsoft Office PowerPoint</Application>
  <PresentationFormat>Widescreen</PresentationFormat>
  <Paragraphs>149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9" baseType="lpstr">
      <vt:lpstr>Arial</vt:lpstr>
      <vt:lpstr>Arial Black</vt:lpstr>
      <vt:lpstr>Calibri</vt:lpstr>
      <vt:lpstr>Calibri Light</vt:lpstr>
      <vt:lpstr>Cambria</vt:lpstr>
      <vt:lpstr>Cambria Math</vt:lpstr>
      <vt:lpstr>Times New Roman</vt:lpstr>
      <vt:lpstr>Office Theme</vt:lpstr>
      <vt:lpstr>Discrete Mathematics BCSC1010</vt:lpstr>
      <vt:lpstr>Cardinality of a set</vt:lpstr>
      <vt:lpstr>Cardinality of a set (Examples)</vt:lpstr>
      <vt:lpstr>Cartesian Product</vt:lpstr>
      <vt:lpstr>Cartesian Product (Examples)</vt:lpstr>
      <vt:lpstr> What is the Cartesian product A x B x C where A = {0, 1}, B = {1, 2}, and  C = {0, 1, 2}?  </vt:lpstr>
      <vt:lpstr>Graphical representation of Sets</vt:lpstr>
      <vt:lpstr>Graphical representation of Sets</vt:lpstr>
      <vt:lpstr>Venn diagram</vt:lpstr>
      <vt:lpstr>Set Operations</vt:lpstr>
      <vt:lpstr>Union of Sets</vt:lpstr>
      <vt:lpstr>Union of Sets (Examples)</vt:lpstr>
      <vt:lpstr>Union of Sets  (Graphical Representation)</vt:lpstr>
      <vt:lpstr>PowerPoint Presentation</vt:lpstr>
      <vt:lpstr>Intersection of Sets</vt:lpstr>
      <vt:lpstr>Intersection of Sets (Example)</vt:lpstr>
      <vt:lpstr>Intersection of Sets</vt:lpstr>
      <vt:lpstr>PowerPoint Presentation</vt:lpstr>
      <vt:lpstr>Difference of Sets</vt:lpstr>
      <vt:lpstr>Difference of Sets (Examples)</vt:lpstr>
      <vt:lpstr>PowerPoint Presentation</vt:lpstr>
      <vt:lpstr>PowerPoint Presentation</vt:lpstr>
      <vt:lpstr>Complement of a set </vt:lpstr>
      <vt:lpstr>Complement of a set </vt:lpstr>
      <vt:lpstr>Complement of a set (Examples)</vt:lpstr>
      <vt:lpstr>Disjoint Sets</vt:lpstr>
      <vt:lpstr>Disjoint Sets</vt:lpstr>
      <vt:lpstr>Generalized Unions</vt:lpstr>
      <vt:lpstr>Generalized Intersections</vt:lpstr>
      <vt:lpstr>PowerPoint Presentation</vt:lpstr>
      <vt:lpstr>Next Topic…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Discrete Mathematics BCSC0010</dc:title>
  <dc:creator>swati saxena</dc:creator>
  <cp:lastModifiedBy>Kanishk Patel</cp:lastModifiedBy>
  <cp:revision>140</cp:revision>
  <dcterms:created xsi:type="dcterms:W3CDTF">2020-06-15T14:58:31Z</dcterms:created>
  <dcterms:modified xsi:type="dcterms:W3CDTF">2022-10-01T03:37:37Z</dcterms:modified>
</cp:coreProperties>
</file>