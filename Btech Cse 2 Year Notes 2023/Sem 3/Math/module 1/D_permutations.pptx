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9" r:id="rId2"/>
    <p:sldId id="258" r:id="rId3"/>
    <p:sldId id="261" r:id="rId4"/>
    <p:sldId id="262" r:id="rId5"/>
    <p:sldId id="264" r:id="rId6"/>
    <p:sldId id="265" r:id="rId7"/>
    <p:sldId id="263" r:id="rId8"/>
    <p:sldId id="269" r:id="rId9"/>
    <p:sldId id="285" r:id="rId10"/>
    <p:sldId id="270" r:id="rId11"/>
    <p:sldId id="275" r:id="rId12"/>
    <p:sldId id="277" r:id="rId13"/>
    <p:sldId id="279" r:id="rId14"/>
    <p:sldId id="280" r:id="rId15"/>
    <p:sldId id="284" r:id="rId16"/>
    <p:sldId id="281" r:id="rId17"/>
    <p:sldId id="282" r:id="rId18"/>
    <p:sldId id="273" r:id="rId19"/>
    <p:sldId id="359" r:id="rId20"/>
    <p:sldId id="36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C453-9A13-462F-AAFC-C734F2861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C71AF-FF46-445F-BBC7-02D3FEE08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843A0-5A8F-4FA4-9008-889AFEE1F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22/09/22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8A74D-8381-4E87-BA13-96684221F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5ED4A-4A6D-40EA-927B-EEA1EC95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777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904A-958E-4C8B-9789-34DB70418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D4422-1C84-4707-8279-9180D54A6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715C7-1C17-4226-A3B1-1DA897CD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22/09/22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464D4-E394-40D3-B3BA-CA55DA9F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F8B6D-E869-4E3B-B5D1-910A2132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08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CE61-C42B-4DFD-B006-8F89D840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B1233-7DCF-4366-AF75-BBFF3CCC5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7DD56-495E-430D-994D-E1A0077F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22/09/22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8D9B8-F9ED-49D7-8A17-D3FB1456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EC04D-5A41-4796-9651-084AB36E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21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4526-B536-4AF1-BF05-99245BD3F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4B902-E702-4888-8902-223C77E84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27FA5-2342-420E-918B-6319901B8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2C5D6-AA21-492E-970E-81AB9356C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22/09/22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3E195-2E62-48CC-B88D-49EBD6D3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BF266-505C-4D11-A806-4AD8E022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699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4673-055C-4F83-B372-F9E306C05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81453-8579-4A6D-84C2-D5A41568D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4C928-AD68-4BA0-B4C0-7259A560F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E84DC1-7F5F-4338-923C-C8A285E36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1ADA2-6C37-4AEC-A13C-00BE1E81E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40ECFB-6B84-4E39-8B42-92A82E9EF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22/09/22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6A938-7632-4693-82CE-B091F689C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F9FE5-CCA9-438F-9A5E-E0092DA2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35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426D0-3C65-4100-BB36-CCCC9055D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DA5FFF-36CC-429E-BAB1-5B0868121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22/09/22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31651F-5F75-47DF-8CF5-88105A88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966F7-CEAF-4B43-855C-8C4245159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5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F37B04-EF1A-4F3C-9B32-21BFD983C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22/09/22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975A87-7E55-4221-952A-3E771DCF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C23F7-775D-4B26-8A3A-713D5E0AD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06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D2EE5-41C8-4F41-A16F-301A5DE1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630AC-853B-47BF-BC6D-F08D45279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933E4-E9DC-4CA8-A129-A18CB2D2A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28D90-D042-4007-B7BE-912397AC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22/09/22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80B82-3A90-491E-AB42-9B8F45CD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BF976-F68D-44AD-9B6F-B216D31F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294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5F24-DE09-4B22-91FB-AE51680D5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8B6EDF-2F38-4B21-9D5F-4443025FB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DA516-20AF-4D43-94CA-124FF63F8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608C3-C3EA-4764-A574-723C6DF6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22/09/22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9887B-5C23-432F-957F-1D12F4BF2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8981D-FA0D-4BB0-A6A5-AA42B9A53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636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C31B-9273-4BA9-9D91-5D34365AD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51245-3279-4537-9DF3-AD2EDFCDA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82900-6C1C-4921-9786-1EA6E8FD1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22/09/22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C8ABC-DCA7-4592-9ECE-1585F29D5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0F330-3C51-4715-8A64-08456CA2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73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325D30-7AE8-4F3E-B709-DF5AB4411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25D4A-5C68-468F-B09F-1957250D0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D099C-B007-4909-9121-87D32376D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54E84-67DF-4B55-8AA0-D835A5E2841B}" type="datetimeFigureOut">
              <a:rPr lang="en-IN" smtClean="0"/>
              <a:t>22/09/22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FA34C-BA8B-4BE4-9AA6-987692E1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AB74A-434B-4CC3-AFA9-C4855311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08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4D1A96-CBA4-4116-B8F6-EBC8FA0EA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465CD-7E3E-457B-9D9E-20720EABA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E3728-13F6-40F8-A9C0-0787B3C6D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54E84-67DF-4B55-8AA0-D835A5E2841B}" type="datetimeFigureOut">
              <a:rPr lang="en-IN" smtClean="0"/>
              <a:t>22/09/22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071CD-6666-4515-8E62-9B7E09A17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86A8E-C059-4446-ABC0-776E90D9B2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10B77-B71D-4D81-99C1-5A959EB33CC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E13841-306D-420B-A722-31D7016C0F99}"/>
              </a:ext>
            </a:extLst>
          </p:cNvPr>
          <p:cNvSpPr/>
          <p:nvPr userDrawn="1"/>
        </p:nvSpPr>
        <p:spPr>
          <a:xfrm>
            <a:off x="10046677" y="49090"/>
            <a:ext cx="2107223" cy="1116623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91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3E0A-BCFA-4CCB-AAB1-1AC1AC8E1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Discrete Mathematics</a:t>
            </a:r>
            <a:br>
              <a:rPr lang="en-IN" b="1" dirty="0">
                <a:latin typeface="+mn-lt"/>
              </a:rPr>
            </a:br>
            <a:r>
              <a:rPr lang="en-IN" b="1" dirty="0">
                <a:latin typeface="+mn-lt"/>
              </a:rPr>
              <a:t>(BCSC1010)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0BCE1-2001-4D6A-8AF3-40E100FF7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67943"/>
          </a:xfrm>
        </p:spPr>
        <p:txBody>
          <a:bodyPr>
            <a:normAutofit/>
          </a:bodyPr>
          <a:lstStyle/>
          <a:p>
            <a:r>
              <a:rPr lang="en-IN" sz="5200" dirty="0"/>
              <a:t>Module 1</a:t>
            </a:r>
          </a:p>
          <a:p>
            <a:endParaRPr lang="en-IN" sz="5200" dirty="0"/>
          </a:p>
          <a:p>
            <a:r>
              <a:rPr lang="en-IN" sz="5200" b="1" dirty="0"/>
              <a:t>Permutations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6562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EA8AE-A109-4E0F-BE4B-B0C9C7508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57323-9DCA-4EFC-B913-085863397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Theory of Counting developed some techniques for determining, </a:t>
            </a:r>
            <a:r>
              <a:rPr lang="en-US" b="1" dirty="0">
                <a:solidFill>
                  <a:schemeClr val="accent1"/>
                </a:solidFill>
              </a:rPr>
              <a:t>without direct enumeration</a:t>
            </a:r>
            <a:r>
              <a:rPr lang="en-US" dirty="0"/>
              <a:t>, the number of possible outcomes of a particular event or the number of elements in a set. </a:t>
            </a:r>
          </a:p>
          <a:p>
            <a:pPr algn="just"/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are called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permutations and combinations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Permutations and combinations are ordered or unordered arrangements of objects of a set.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of arrangements of objects is called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combinatorics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164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0F15-9D98-4CDC-9E58-DC53B9F09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1116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Basic Counting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252A8-28E3-4DE6-A12A-EFC34F972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039"/>
            <a:ext cx="10515600" cy="4800924"/>
          </a:xfrm>
        </p:spPr>
        <p:txBody>
          <a:bodyPr/>
          <a:lstStyle/>
          <a:p>
            <a:r>
              <a:rPr lang="en-IN" dirty="0"/>
              <a:t>Sum Rule </a:t>
            </a:r>
          </a:p>
          <a:p>
            <a:r>
              <a:rPr lang="en-IN" dirty="0"/>
              <a:t>Product Rule</a:t>
            </a:r>
          </a:p>
        </p:txBody>
      </p:sp>
    </p:spTree>
    <p:extLst>
      <p:ext uri="{BB962C8B-B14F-4D97-AF65-F5344CB8AC3E}">
        <p14:creationId xmlns:p14="http://schemas.microsoft.com/office/powerpoint/2010/main" val="149000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CF12A-2473-407C-A6B7-E478914C6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453544" cy="815605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Sum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E1CC5-2DD2-43C5-B277-2CFB20F3C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9507"/>
            <a:ext cx="10515600" cy="4907456"/>
          </a:xfrm>
        </p:spPr>
        <p:txBody>
          <a:bodyPr>
            <a:normAutofit/>
          </a:bodyPr>
          <a:lstStyle/>
          <a:p>
            <a:r>
              <a:rPr lang="en-IN" dirty="0"/>
              <a:t>If a </a:t>
            </a:r>
            <a:r>
              <a:rPr lang="en-IN" dirty="0">
                <a:solidFill>
                  <a:srgbClr val="FF0000"/>
                </a:solidFill>
              </a:rPr>
              <a:t>task</a:t>
            </a:r>
            <a:r>
              <a:rPr lang="en-IN" dirty="0"/>
              <a:t> can either be completed in </a:t>
            </a:r>
            <a:r>
              <a:rPr lang="en-IN" dirty="0">
                <a:solidFill>
                  <a:srgbClr val="FF0000"/>
                </a:solidFill>
              </a:rPr>
              <a:t>n1</a:t>
            </a:r>
            <a:r>
              <a:rPr lang="en-IN" dirty="0"/>
              <a:t> ways or in </a:t>
            </a:r>
            <a:r>
              <a:rPr lang="en-IN" dirty="0">
                <a:solidFill>
                  <a:srgbClr val="FF0000"/>
                </a:solidFill>
              </a:rPr>
              <a:t>n2</a:t>
            </a:r>
            <a:r>
              <a:rPr lang="en-IN" dirty="0"/>
              <a:t> ways</a:t>
            </a:r>
          </a:p>
          <a:p>
            <a:r>
              <a:rPr lang="en-IN" dirty="0"/>
              <a:t> n1 and n2 are disjoint set of ways</a:t>
            </a:r>
          </a:p>
          <a:p>
            <a:r>
              <a:rPr lang="en-IN" dirty="0"/>
              <a:t>Then there are total </a:t>
            </a:r>
            <a:r>
              <a:rPr lang="en-IN" dirty="0">
                <a:solidFill>
                  <a:srgbClr val="FF0000"/>
                </a:solidFill>
              </a:rPr>
              <a:t>(n1+n2)</a:t>
            </a:r>
            <a:r>
              <a:rPr lang="en-IN" dirty="0"/>
              <a:t>ways to do a </a:t>
            </a:r>
            <a:r>
              <a:rPr lang="en-IN" dirty="0">
                <a:solidFill>
                  <a:srgbClr val="FF0000"/>
                </a:solidFill>
              </a:rPr>
              <a:t>task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Example</a:t>
            </a:r>
          </a:p>
          <a:p>
            <a:pPr algn="just"/>
            <a:r>
              <a:rPr lang="en-US" dirty="0"/>
              <a:t>The department will award a free computer to Student or Teacher. How many different choices are there, if there are 530 students and 15 professors? </a:t>
            </a:r>
          </a:p>
          <a:p>
            <a:r>
              <a:rPr lang="en-US" dirty="0">
                <a:solidFill>
                  <a:srgbClr val="FF0000"/>
                </a:solidFill>
              </a:rPr>
              <a:t>Total ways (530+15) </a:t>
            </a:r>
          </a:p>
          <a:p>
            <a:pPr marL="0" indent="0">
              <a:buNone/>
            </a:pPr>
            <a:endParaRPr lang="en-IN" b="1" dirty="0">
              <a:solidFill>
                <a:srgbClr val="FF0000"/>
              </a:solidFill>
            </a:endParaRPr>
          </a:p>
          <a:p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66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9DB7A-48A2-4B22-8986-DB566B7B1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141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B8DC5-5FF2-4B3A-9ADF-DB7D22D9C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8889"/>
            <a:ext cx="10515600" cy="5298074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pPr algn="just"/>
            <a:r>
              <a:rPr lang="en-US" sz="3400" dirty="0"/>
              <a:t>A student can choose one computer project from one of three lists. The three lists contain 23, 15 and 19 possible choices. How many possible projects are there to choose from?</a:t>
            </a:r>
          </a:p>
          <a:p>
            <a:endParaRPr lang="en-US" sz="3400" dirty="0"/>
          </a:p>
          <a:p>
            <a:r>
              <a:rPr lang="en-IN" sz="3400" dirty="0"/>
              <a:t>List 1   contains 23 projects</a:t>
            </a:r>
          </a:p>
          <a:p>
            <a:r>
              <a:rPr lang="en-IN" sz="3400" dirty="0"/>
              <a:t>List 2   contains 15 projects</a:t>
            </a:r>
          </a:p>
          <a:p>
            <a:r>
              <a:rPr lang="en-IN" sz="3400" dirty="0"/>
              <a:t>List 3   contains 19 projects</a:t>
            </a:r>
          </a:p>
          <a:p>
            <a:r>
              <a:rPr lang="en-IN" sz="3400" dirty="0"/>
              <a:t>A student can choose a project from one of the 3 lists</a:t>
            </a:r>
          </a:p>
          <a:p>
            <a:r>
              <a:rPr lang="en-IN" sz="3400" dirty="0"/>
              <a:t>No project is common</a:t>
            </a:r>
          </a:p>
          <a:p>
            <a:r>
              <a:rPr lang="en-IN" sz="3400" dirty="0"/>
              <a:t>Therefore, (23+15+19) ways to choose a project</a:t>
            </a:r>
          </a:p>
          <a:p>
            <a:endParaRPr lang="en-US" sz="3400" dirty="0"/>
          </a:p>
          <a:p>
            <a:r>
              <a:rPr lang="en-US" sz="3400" dirty="0">
                <a:solidFill>
                  <a:srgbClr val="FF0000"/>
                </a:solidFill>
              </a:rPr>
              <a:t>Total ways (23+15+19)</a:t>
            </a:r>
            <a:endParaRPr lang="en-IN" sz="3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03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02480-77A1-46C1-8951-FC5C61226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Product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495D-1FAA-4B73-B75E-3B2169DDD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4411"/>
            <a:ext cx="10515600" cy="4392551"/>
          </a:xfrm>
        </p:spPr>
        <p:txBody>
          <a:bodyPr/>
          <a:lstStyle/>
          <a:p>
            <a:r>
              <a:rPr lang="en-US" dirty="0"/>
              <a:t>Suppose that a procedure can be broken down into a sequence of two tasks. </a:t>
            </a:r>
          </a:p>
          <a:p>
            <a:r>
              <a:rPr lang="en-US" dirty="0"/>
              <a:t>If there are </a:t>
            </a:r>
            <a:r>
              <a:rPr lang="en-US" dirty="0">
                <a:solidFill>
                  <a:srgbClr val="FF0000"/>
                </a:solidFill>
              </a:rPr>
              <a:t>n1 ways to do the first task</a:t>
            </a:r>
            <a:r>
              <a:rPr lang="en-US" dirty="0"/>
              <a:t> and</a:t>
            </a:r>
          </a:p>
          <a:p>
            <a:r>
              <a:rPr lang="en-US" dirty="0"/>
              <a:t>For each of these ways of doing the first task</a:t>
            </a:r>
            <a:r>
              <a:rPr lang="en-US" dirty="0">
                <a:solidFill>
                  <a:srgbClr val="FF0000"/>
                </a:solidFill>
              </a:rPr>
              <a:t>, there are n2 ways to do the second task </a:t>
            </a:r>
            <a:r>
              <a:rPr lang="en-US" dirty="0"/>
              <a:t>,</a:t>
            </a:r>
          </a:p>
          <a:p>
            <a:r>
              <a:rPr lang="en-US" dirty="0"/>
              <a:t>Then, there are n1 · n2 ways to do the procedure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0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140D8-A9AD-4696-B4C4-AF3DFC039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EDCE9-EED8-4274-BA58-A7CC7DE4C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470"/>
            <a:ext cx="10515600" cy="4614493"/>
          </a:xfrm>
        </p:spPr>
        <p:txBody>
          <a:bodyPr/>
          <a:lstStyle/>
          <a:p>
            <a:r>
              <a:rPr lang="en-IN" dirty="0"/>
              <a:t>Suppose there are 2 employees and 12 offices</a:t>
            </a:r>
          </a:p>
          <a:p>
            <a:r>
              <a:rPr lang="en-IN" dirty="0"/>
              <a:t>How many different ways to assign different offices to these two employees?</a:t>
            </a:r>
          </a:p>
          <a:p>
            <a:r>
              <a:rPr lang="en-IN" dirty="0"/>
              <a:t>First employee : 12 ways</a:t>
            </a:r>
          </a:p>
          <a:p>
            <a:r>
              <a:rPr lang="en-IN" dirty="0"/>
              <a:t>Second employee: 11 ways</a:t>
            </a:r>
          </a:p>
          <a:p>
            <a:r>
              <a:rPr lang="en-IN" dirty="0"/>
              <a:t>Therefore, total (12.11) ways to assign offices to these two employees </a:t>
            </a:r>
          </a:p>
        </p:txBody>
      </p:sp>
    </p:spTree>
    <p:extLst>
      <p:ext uri="{BB962C8B-B14F-4D97-AF65-F5344CB8AC3E}">
        <p14:creationId xmlns:p14="http://schemas.microsoft.com/office/powerpoint/2010/main" val="93765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4D514-60DA-43F4-AAA8-5907E4D51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468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Permutation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F1312-42AF-460C-8E76-F7D96902B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464"/>
            <a:ext cx="10515600" cy="5049499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Any arrangement of a set of n objects in a </a:t>
            </a:r>
            <a:r>
              <a:rPr lang="en-US" sz="3200" b="1" dirty="0">
                <a:solidFill>
                  <a:srgbClr val="FF0000"/>
                </a:solidFill>
              </a:rPr>
              <a:t>given order </a:t>
            </a:r>
            <a:r>
              <a:rPr lang="en-US" sz="3200" dirty="0"/>
              <a:t>is called a </a:t>
            </a:r>
            <a:r>
              <a:rPr lang="en-US" sz="3200" dirty="0">
                <a:solidFill>
                  <a:srgbClr val="FF0000"/>
                </a:solidFill>
              </a:rPr>
              <a:t>permutation </a:t>
            </a:r>
            <a:r>
              <a:rPr lang="en-US" sz="3200" dirty="0"/>
              <a:t> (taken all at a time).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 Any arrangement of any r ≤ n of these objects in a given order is called an “</a:t>
            </a:r>
            <a:r>
              <a:rPr lang="en-US" sz="3200" dirty="0">
                <a:solidFill>
                  <a:srgbClr val="FF0000"/>
                </a:solidFill>
              </a:rPr>
              <a:t>r-permutation</a:t>
            </a:r>
            <a:r>
              <a:rPr lang="en-US" sz="3200" dirty="0"/>
              <a:t>” or “a permutation of the n objects taken r at a time.”</a:t>
            </a:r>
          </a:p>
          <a:p>
            <a:pPr algn="just"/>
            <a:endParaRPr lang="en-IN" sz="3200" dirty="0">
              <a:solidFill>
                <a:srgbClr val="0070C0"/>
              </a:solidFill>
            </a:endParaRP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520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E9D8A-D701-4A1C-A3A0-E93BAF61D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/>
          <a:lstStyle/>
          <a:p>
            <a:r>
              <a:rPr lang="en-IN" b="1" dirty="0"/>
              <a:t>Permutation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E5FA24-F3C0-4006-B859-CD09083DB8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dirty="0"/>
                  <a:t>The number of permutations of n objects </a:t>
                </a:r>
                <a:r>
                  <a:rPr lang="en-US" b="1" dirty="0">
                    <a:solidFill>
                      <a:srgbClr val="FF0000"/>
                    </a:solidFill>
                  </a:rPr>
                  <a:t>taken r at a time </a:t>
                </a:r>
                <a:r>
                  <a:rPr lang="en-US" dirty="0"/>
                  <a:t>will be denoted by P (n, r) {sometimes it is denoted as  </a:t>
                </a:r>
                <a:r>
                  <a:rPr lang="en-US" dirty="0" err="1"/>
                  <a:t>nPr</a:t>
                </a:r>
                <a:r>
                  <a:rPr lang="en-US" dirty="0"/>
                  <a:t>, </a:t>
                </a:r>
                <a:r>
                  <a:rPr lang="en-US" dirty="0" err="1"/>
                  <a:t>Pn,r</a:t>
                </a:r>
                <a:r>
                  <a:rPr lang="en-US" dirty="0"/>
                  <a:t> or (n)r}.</a:t>
                </a:r>
              </a:p>
              <a:p>
                <a:pPr algn="just"/>
                <a:endParaRPr lang="en-IN" sz="2800" b="1" dirty="0">
                  <a:solidFill>
                    <a:srgbClr val="0070C0"/>
                  </a:solidFill>
                </a:endParaRPr>
              </a:p>
              <a:p>
                <a:pPr algn="just"/>
                <a:r>
                  <a:rPr lang="en-IN" sz="2800" b="1" dirty="0">
                    <a:solidFill>
                      <a:srgbClr val="FF0000"/>
                    </a:solidFill>
                  </a:rPr>
                  <a:t>r-permutations </a:t>
                </a:r>
                <a:r>
                  <a:rPr lang="en-IN" sz="2800" b="1" dirty="0">
                    <a:solidFill>
                      <a:srgbClr val="0070C0"/>
                    </a:solidFill>
                  </a:rPr>
                  <a:t>of a set with n distinct elements. </a:t>
                </a:r>
              </a:p>
              <a:p>
                <a:pPr algn="just"/>
                <a:r>
                  <a:rPr lang="pt-BR" b="1" dirty="0">
                    <a:solidFill>
                      <a:srgbClr val="0070C0"/>
                    </a:solidFill>
                  </a:rPr>
                  <a:t>P (n, r) = n(n − 1)(n − 2)···(n − r + 1)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70C0"/>
                            </a:solidFill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70C0"/>
                            </a:solidFill>
                          </a:rPr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70C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70C0"/>
                            </a:solidFill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70C0"/>
                            </a:solidFill>
                          </a:rPr>
                          <m:t> − 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70C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pt-BR" b="1" dirty="0">
                            <a:solidFill>
                              <a:srgbClr val="0070C0"/>
                            </a:solidFill>
                          </a:rPr>
                          <m:t>)!</m:t>
                        </m:r>
                        <m:r>
                          <m:rPr>
                            <m:nor/>
                          </m:rPr>
                          <a:rPr lang="en-US" b="1" dirty="0">
                            <a:solidFill>
                              <a:srgbClr val="0070C0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endParaRPr lang="pt-BR" b="1" dirty="0">
                  <a:solidFill>
                    <a:schemeClr val="tx1"/>
                  </a:solidFill>
                </a:endParaRPr>
              </a:p>
              <a:p>
                <a:pPr algn="just"/>
                <a:endParaRPr lang="pt-BR" dirty="0">
                  <a:solidFill>
                    <a:schemeClr val="tx1"/>
                  </a:solidFill>
                </a:endParaRPr>
              </a:p>
              <a:p>
                <a:pPr algn="just"/>
                <a:r>
                  <a:rPr lang="en-US" b="1" dirty="0">
                    <a:solidFill>
                      <a:srgbClr val="00B050"/>
                    </a:solidFill>
                  </a:rPr>
                  <a:t>P</a:t>
                </a:r>
                <a:r>
                  <a:rPr lang="en-US" sz="2800" b="1" dirty="0">
                    <a:solidFill>
                      <a:srgbClr val="00B050"/>
                    </a:solidFill>
                  </a:rPr>
                  <a:t>ermutations of n objects (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taken all at a time</a:t>
                </a:r>
                <a:r>
                  <a:rPr lang="en-US" sz="2800" b="1" dirty="0">
                    <a:solidFill>
                      <a:srgbClr val="00B050"/>
                    </a:solidFill>
                  </a:rPr>
                  <a:t>). </a:t>
                </a:r>
              </a:p>
              <a:p>
                <a:pPr algn="just"/>
                <a:r>
                  <a:rPr lang="en-US" sz="2800" b="1" dirty="0">
                    <a:solidFill>
                      <a:srgbClr val="00B050"/>
                    </a:solidFill>
                  </a:rPr>
                  <a:t>P(</a:t>
                </a:r>
                <a:r>
                  <a:rPr lang="en-US" sz="2800" b="1" dirty="0" err="1">
                    <a:solidFill>
                      <a:srgbClr val="00B050"/>
                    </a:solidFill>
                  </a:rPr>
                  <a:t>n,n</a:t>
                </a:r>
                <a:r>
                  <a:rPr lang="en-US" sz="2800" b="1" dirty="0">
                    <a:solidFill>
                      <a:srgbClr val="00B050"/>
                    </a:solidFill>
                  </a:rPr>
                  <a:t>)= n! </a:t>
                </a:r>
              </a:p>
              <a:p>
                <a:pPr algn="just"/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E5FA24-F3C0-4006-B859-CD09083DB8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 b="-7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2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5D89-856A-4B88-9306-0AC43A7C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38D1A-2BFD-4222-B6AA-3C0252C8C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S = {a, b, c}. </a:t>
            </a:r>
          </a:p>
          <a:p>
            <a:r>
              <a:rPr lang="en-US" dirty="0"/>
              <a:t>The 2-permutations of S are the </a:t>
            </a:r>
            <a:r>
              <a:rPr lang="en-US" dirty="0">
                <a:solidFill>
                  <a:srgbClr val="FF0000"/>
                </a:solidFill>
              </a:rPr>
              <a:t>ordered arrangements </a:t>
            </a:r>
            <a:r>
              <a:rPr lang="en-US" dirty="0"/>
              <a:t>of 2 elements</a:t>
            </a:r>
          </a:p>
          <a:p>
            <a:r>
              <a:rPr lang="en-US" dirty="0"/>
              <a:t>a, b  ; 	a, c   ; 	     b, a   ;       b, c  ;     c, a   and   c, b. </a:t>
            </a:r>
          </a:p>
          <a:p>
            <a:r>
              <a:rPr lang="en-US" dirty="0"/>
              <a:t>Consequently, there are six 2-permutations of this set with three elements. </a:t>
            </a:r>
          </a:p>
          <a:p>
            <a:r>
              <a:rPr lang="en-US" dirty="0"/>
              <a:t>By the product rule, it follows that </a:t>
            </a:r>
            <a:r>
              <a:rPr lang="en-US" dirty="0">
                <a:solidFill>
                  <a:srgbClr val="FF0000"/>
                </a:solidFill>
              </a:rPr>
              <a:t>P(3, 2) = 3 . 2 = 6. 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97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C9EC-E444-4C99-B533-36381F60B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367944" cy="5936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EXAMPLE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6CAFC-B4DE-4A68-A7CA-92392E5DC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218"/>
            <a:ext cx="10515600" cy="5619565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Find the number of “three-letter words” using only the given six letters A, B, C, D, E, F, without repetition.</a:t>
            </a:r>
          </a:p>
          <a:p>
            <a:pPr marL="0" indent="0" algn="just">
              <a:buNone/>
            </a:pPr>
            <a:r>
              <a:rPr lang="en-US" sz="3200" dirty="0"/>
              <a:t> </a:t>
            </a:r>
          </a:p>
          <a:p>
            <a:pPr marL="0" indent="0" algn="just">
              <a:buNone/>
            </a:pPr>
            <a:r>
              <a:rPr lang="en-US" sz="3200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Solution </a:t>
            </a:r>
          </a:p>
          <a:p>
            <a:pPr algn="just"/>
            <a:r>
              <a:rPr lang="en-US" sz="3200" dirty="0"/>
              <a:t>The ﬁrst letter can be chosen in 6 ways; </a:t>
            </a:r>
          </a:p>
          <a:p>
            <a:pPr algn="just"/>
            <a:r>
              <a:rPr lang="en-US" sz="3200" dirty="0"/>
              <a:t>following this, the second letter can be chosen in 5 ways; </a:t>
            </a:r>
          </a:p>
          <a:p>
            <a:pPr algn="just"/>
            <a:r>
              <a:rPr lang="en-US" sz="3200" dirty="0"/>
              <a:t>and, ﬁnally, the third letter can be chosen in 4 ways. </a:t>
            </a:r>
          </a:p>
          <a:p>
            <a:pPr algn="just"/>
            <a:r>
              <a:rPr lang="en-US" sz="3200" dirty="0"/>
              <a:t>P(6,3) =6·5·4=120</a:t>
            </a:r>
          </a:p>
          <a:p>
            <a:pPr algn="just"/>
            <a:r>
              <a:rPr lang="en-US" sz="3200" dirty="0"/>
              <a:t>There are 120 permutations of 6 objects taken 3 at a time.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8543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1D0DB-141C-469A-84E5-E48CD7F9B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030"/>
          </a:xfrm>
        </p:spPr>
        <p:txBody>
          <a:bodyPr>
            <a:normAutofit fontScale="90000"/>
          </a:bodyPr>
          <a:lstStyle/>
          <a:p>
            <a:br>
              <a:rPr lang="en-IN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Permutations with Repetitions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BEA55A-B4FD-4EBC-A972-7511E6109B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3076"/>
                <a:ext cx="10515600" cy="5093887"/>
              </a:xfrm>
            </p:spPr>
            <p:txBody>
              <a:bodyPr>
                <a:normAutofit/>
              </a:bodyPr>
              <a:lstStyle/>
              <a:p>
                <a:pPr algn="just"/>
                <a:endParaRPr lang="en-IN" sz="3600" dirty="0"/>
              </a:p>
              <a:p>
                <a:pPr algn="just"/>
                <a:r>
                  <a:rPr lang="en-IN" sz="3600" dirty="0"/>
                  <a:t>Let P(</a:t>
                </a:r>
                <a14:m>
                  <m:oMath xmlns:m="http://schemas.openxmlformats.org/officeDocument/2006/math"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n-I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36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…..</m:t>
                        </m:r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IN" sz="3600" dirty="0"/>
                  <a:t>) denote the number of permutations of </a:t>
                </a:r>
                <a14:m>
                  <m:oMath xmlns:m="http://schemas.openxmlformats.org/officeDocument/2006/math">
                    <m:r>
                      <a:rPr lang="en-IN" sz="3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/>
                  <a:t> objects of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3600" dirty="0"/>
                  <a:t> are alike,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3600" dirty="0"/>
                  <a:t> are alike,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IN" sz="3600" dirty="0"/>
                  <a:t> are alike. </a:t>
                </a:r>
              </a:p>
              <a:p>
                <a:pPr algn="just"/>
                <a:endParaRPr lang="en-IN" sz="3600" dirty="0"/>
              </a:p>
              <a:p>
                <a:pPr algn="just"/>
                <a:r>
                  <a:rPr lang="en-IN" sz="3600" dirty="0"/>
                  <a:t>The general formula is:</a:t>
                </a:r>
              </a:p>
              <a:p>
                <a:pPr algn="just"/>
                <a:r>
                  <a:rPr lang="en-IN" sz="3600" dirty="0"/>
                  <a:t>P(</a:t>
                </a:r>
                <a14:m>
                  <m:oMath xmlns:m="http://schemas.openxmlformats.org/officeDocument/2006/math">
                    <m:r>
                      <a:rPr lang="en-IN" sz="3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; </m:t>
                    </m:r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36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36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…..</m:t>
                        </m:r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IN" sz="3600" dirty="0"/>
                  <a:t>) </a:t>
                </a:r>
                <a:r>
                  <a:rPr lang="en-IN" sz="3600" b="1" dirty="0"/>
                  <a:t>=</a:t>
                </a:r>
                <a:r>
                  <a:rPr lang="en-IN" sz="36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IN" sz="3600" dirty="0" smtClean="0">
                            <a:solidFill>
                              <a:schemeClr val="tx1"/>
                            </a:solidFill>
                          </a:rPr>
                          <m:t>!</m:t>
                        </m:r>
                      </m:num>
                      <m:den>
                        <m:sSub>
                          <m:sSubPr>
                            <m:ctrlPr>
                              <a:rPr lang="en-IN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3600" dirty="0" smtClean="0">
                            <a:solidFill>
                              <a:schemeClr val="tx1"/>
                            </a:solidFill>
                          </a:rPr>
                          <m:t>!</m:t>
                        </m:r>
                        <m:sSub>
                          <m:sSubPr>
                            <m:ctrlPr>
                              <a:rPr lang="en-IN" sz="3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3600" dirty="0">
                            <a:solidFill>
                              <a:schemeClr val="tx1"/>
                            </a:solidFill>
                          </a:rPr>
                          <m:t>!...</m:t>
                        </m:r>
                        <m:sSub>
                          <m:sSubPr>
                            <m:ctrlPr>
                              <a:rPr lang="en-IN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3600" dirty="0">
                            <a:solidFill>
                              <a:schemeClr val="tx1"/>
                            </a:solidFill>
                          </a:rPr>
                          <m:t>!</m:t>
                        </m:r>
                      </m:den>
                    </m:f>
                  </m:oMath>
                </a14:m>
                <a:endParaRPr lang="en-IN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BEA55A-B4FD-4EBC-A972-7511E6109B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3076"/>
                <a:ext cx="10515600" cy="5093887"/>
              </a:xfrm>
              <a:blipFill>
                <a:blip r:embed="rId2"/>
                <a:stretch>
                  <a:fillRect l="-1623" r="-17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91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8A430-3B13-4DE3-8437-75ADA313F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972"/>
          </a:xfrm>
        </p:spPr>
        <p:txBody>
          <a:bodyPr/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5DF20-79D0-4A78-AE22-5A8FC258C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715"/>
            <a:ext cx="10515600" cy="4632248"/>
          </a:xfrm>
        </p:spPr>
        <p:txBody>
          <a:bodyPr/>
          <a:lstStyle/>
          <a:p>
            <a:pPr algn="just"/>
            <a:r>
              <a:rPr lang="en-US" sz="3600" dirty="0">
                <a:solidFill>
                  <a:srgbClr val="00B050"/>
                </a:solidFill>
              </a:rPr>
              <a:t>Find the number m of seven-letter words that can be formed using the letters of the word “BENZENE.”</a:t>
            </a:r>
          </a:p>
          <a:p>
            <a:pPr algn="just"/>
            <a:r>
              <a:rPr lang="en-US" sz="3600" dirty="0"/>
              <a:t>We seek the number of permutations of 7 objects of which 3 are alike (the three E’s), and 2 are alike (the two N’s).</a:t>
            </a:r>
          </a:p>
          <a:p>
            <a:pPr algn="just"/>
            <a:endParaRPr lang="en-US" sz="36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F8211D-828D-4034-AD98-886B8DAC46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393" t="40259" r="39344" b="53010"/>
          <a:stretch/>
        </p:blipFill>
        <p:spPr>
          <a:xfrm>
            <a:off x="2290440" y="4487661"/>
            <a:ext cx="8948691" cy="165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3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9ADEF-1D44-4A2A-A9EA-B1B0C65C9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346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Ordered Samples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D1414-6F3B-4930-BF26-738917D28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8586"/>
            <a:ext cx="10515600" cy="5058377"/>
          </a:xfrm>
        </p:spPr>
        <p:txBody>
          <a:bodyPr>
            <a:normAutofit/>
          </a:bodyPr>
          <a:lstStyle/>
          <a:p>
            <a:r>
              <a:rPr lang="en-US" sz="3600" dirty="0"/>
              <a:t>When we choose one element after another, say, r times, we call the choice an ordered sample of size r.</a:t>
            </a:r>
          </a:p>
          <a:p>
            <a:r>
              <a:rPr lang="en-US" sz="3600" b="1" dirty="0"/>
              <a:t>Example </a:t>
            </a:r>
          </a:p>
          <a:p>
            <a:r>
              <a:rPr lang="en-US" sz="3200" dirty="0">
                <a:solidFill>
                  <a:srgbClr val="FF0000"/>
                </a:solidFill>
              </a:rPr>
              <a:t>To choose 3 cards one after the other from a 52-card deck</a:t>
            </a:r>
            <a:r>
              <a:rPr lang="en-US" sz="3200" dirty="0"/>
              <a:t> (choice is ordered sample of size 3)</a:t>
            </a:r>
          </a:p>
          <a:p>
            <a:endParaRPr lang="en-US" sz="3200" dirty="0"/>
          </a:p>
          <a:p>
            <a:r>
              <a:rPr lang="en-US" sz="3600" dirty="0"/>
              <a:t>Two cases:</a:t>
            </a:r>
          </a:p>
          <a:p>
            <a:r>
              <a:rPr lang="en-IN" sz="2400" dirty="0"/>
              <a:t>(1) Sampling with replacement</a:t>
            </a:r>
          </a:p>
          <a:p>
            <a:r>
              <a:rPr lang="en-IN" sz="2400" dirty="0"/>
              <a:t>(2) Sampling without replacement</a:t>
            </a:r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9270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91C63-1F4D-4EF2-B597-32CBEB087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838460" cy="842238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(1) Sampling with replacement</a:t>
            </a:r>
            <a:br>
              <a:rPr lang="en-US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42697E-74DF-4499-8F8B-0F6620E2A3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3895"/>
                <a:ext cx="10515600" cy="486306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3600" dirty="0"/>
                  <a:t>Here the element is replaced in the set S before the next element is chosen. </a:t>
                </a:r>
              </a:p>
              <a:p>
                <a:pPr algn="just"/>
                <a:endParaRPr lang="en-US" sz="3600" dirty="0"/>
              </a:p>
              <a:p>
                <a:pPr algn="just"/>
                <a:r>
                  <a:rPr lang="en-US" sz="3600" dirty="0"/>
                  <a:t>Thus, each time there are n ways to choose an element (</a:t>
                </a:r>
                <a:r>
                  <a:rPr lang="en-US" sz="3600" dirty="0">
                    <a:solidFill>
                      <a:srgbClr val="0070C0"/>
                    </a:solidFill>
                  </a:rPr>
                  <a:t>repetitions are allowed). </a:t>
                </a:r>
              </a:p>
              <a:p>
                <a:pPr algn="just"/>
                <a:endParaRPr lang="en-US" sz="3600" dirty="0"/>
              </a:p>
              <a:p>
                <a:pPr algn="just"/>
                <a:r>
                  <a:rPr lang="en-US" sz="3600" dirty="0"/>
                  <a:t>The number of such samples is: </a:t>
                </a:r>
              </a:p>
              <a:p>
                <a:pPr marL="0" indent="0" algn="just">
                  <a:buNone/>
                </a:pPr>
                <a:r>
                  <a:rPr lang="en-US" sz="3600" dirty="0"/>
                  <a:t>    </a:t>
                </a:r>
                <a:r>
                  <a:rPr lang="en-US" sz="3600" dirty="0" err="1"/>
                  <a:t>n·n·n</a:t>
                </a:r>
                <a:r>
                  <a:rPr lang="en-US" sz="3600" dirty="0"/>
                  <a:t>···</a:t>
                </a:r>
                <a:r>
                  <a:rPr lang="en-US" sz="3600" dirty="0" err="1"/>
                  <a:t>n·n</a:t>
                </a:r>
                <a:r>
                  <a:rPr lang="en-US" sz="3600" dirty="0"/>
                  <a:t>(r factors)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36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n-IN" sz="36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42697E-74DF-4499-8F8B-0F6620E2A3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3895"/>
                <a:ext cx="10515600" cy="4863068"/>
              </a:xfrm>
              <a:blipFill>
                <a:blip r:embed="rId2"/>
                <a:stretch>
                  <a:fillRect l="-1623" t="-3137" r="-1739" b="-11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54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6131D-DDF9-441D-9F90-345B6D55E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785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(2) Sampling without replacement</a:t>
            </a:r>
            <a:br>
              <a:rPr lang="en-US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153DA-3969-42AA-B2D0-AB358EEF55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0528"/>
                <a:ext cx="10515600" cy="4836435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3600" dirty="0"/>
                  <a:t>Here the element is not replaced in the set S before the next element is chosen. </a:t>
                </a:r>
              </a:p>
              <a:p>
                <a:pPr algn="just"/>
                <a:r>
                  <a:rPr lang="en-US" sz="3600" dirty="0"/>
                  <a:t>Thus, there is </a:t>
                </a:r>
                <a:r>
                  <a:rPr lang="en-US" sz="3600" dirty="0">
                    <a:solidFill>
                      <a:srgbClr val="FF0000"/>
                    </a:solidFill>
                  </a:rPr>
                  <a:t>no repetition </a:t>
                </a:r>
                <a:r>
                  <a:rPr lang="en-US" sz="3600" dirty="0"/>
                  <a:t>in the ordered sample. </a:t>
                </a:r>
              </a:p>
              <a:p>
                <a:pPr algn="just"/>
                <a:r>
                  <a:rPr lang="en-US" sz="3600" dirty="0"/>
                  <a:t>Such a sample is simply an r-permutation. </a:t>
                </a:r>
              </a:p>
              <a:p>
                <a:pPr algn="just"/>
                <a:r>
                  <a:rPr lang="en-US" sz="3600" dirty="0"/>
                  <a:t>Thus the number of such samples is:</a:t>
                </a:r>
              </a:p>
              <a:p>
                <a:pPr algn="just"/>
                <a:r>
                  <a:rPr lang="en-US" sz="3600" dirty="0"/>
                  <a:t>P(</a:t>
                </a:r>
                <a:r>
                  <a:rPr lang="en-US" sz="3600" dirty="0" err="1"/>
                  <a:t>n,r</a:t>
                </a:r>
                <a:r>
                  <a:rPr lang="en-US" sz="3600" dirty="0"/>
                  <a:t>) = n(n−1)(n−2)···(n−r +1) =</a:t>
                </a:r>
                <a:r>
                  <a:rPr lang="pt-BR" sz="3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BR" sz="3600" dirty="0">
                            <a:solidFill>
                              <a:schemeClr val="tx1"/>
                            </a:solidFill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pt-BR" sz="3600" dirty="0">
                            <a:solidFill>
                              <a:schemeClr val="tx1"/>
                            </a:solidFill>
                          </a:rPr>
                          <m:t>!</m:t>
                        </m:r>
                      </m:num>
                      <m:den>
                        <m:r>
                          <m:rPr>
                            <m:nor/>
                          </m:rPr>
                          <a:rPr lang="pt-BR" sz="3600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pt-BR" sz="3600" dirty="0">
                            <a:solidFill>
                              <a:schemeClr val="tx1"/>
                            </a:solidFill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pt-BR" sz="3600" dirty="0">
                            <a:solidFill>
                              <a:schemeClr val="tx1"/>
                            </a:solidFill>
                          </a:rPr>
                          <m:t> − </m:t>
                        </m:r>
                        <m:r>
                          <m:rPr>
                            <m:nor/>
                          </m:rPr>
                          <a:rPr lang="pt-BR" sz="3600" dirty="0">
                            <a:solidFill>
                              <a:schemeClr val="tx1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pt-BR" sz="3600" dirty="0">
                            <a:solidFill>
                              <a:schemeClr val="tx1"/>
                            </a:solidFill>
                          </a:rPr>
                          <m:t>)!</m:t>
                        </m:r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  <m:r>
                      <a:rPr lang="en-US" sz="3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6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0153DA-3969-42AA-B2D0-AB358EEF5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0528"/>
                <a:ext cx="10515600" cy="4836435"/>
              </a:xfrm>
              <a:blipFill>
                <a:blip r:embed="rId2"/>
                <a:stretch>
                  <a:fillRect l="-1623" t="-3153" r="-17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560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C90F-B9B1-4159-B975-DDD73DF18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7825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500FE-A754-41FA-9281-BD1C50938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380"/>
            <a:ext cx="10515600" cy="533358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Three cards are chosen one after the other from a 52-card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  deck. Find the number m of ways this can be done:</a:t>
            </a:r>
          </a:p>
          <a:p>
            <a:r>
              <a:rPr lang="en-US" dirty="0">
                <a:solidFill>
                  <a:srgbClr val="FF0000"/>
                </a:solidFill>
              </a:rPr>
              <a:t> (a) with replacement;</a:t>
            </a:r>
          </a:p>
          <a:p>
            <a:r>
              <a:rPr lang="en-US" dirty="0">
                <a:solidFill>
                  <a:srgbClr val="FF0000"/>
                </a:solidFill>
              </a:rPr>
              <a:t> (b) without replacement.</a:t>
            </a:r>
          </a:p>
          <a:p>
            <a:r>
              <a:rPr lang="en-US" b="1" dirty="0">
                <a:solidFill>
                  <a:srgbClr val="00B050"/>
                </a:solidFill>
              </a:rPr>
              <a:t>Solution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(a) Each card can be chosen in 52 ways. Thus m =52(52)(52) =140608.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(b) Here there is no replacement. Thus the ﬁrst card can be chosen in 52 ways, the second in 51 ways, and the third in 50 ways. Therefore:</a:t>
            </a:r>
          </a:p>
          <a:p>
            <a:pPr marL="0" indent="0">
              <a:buNone/>
            </a:pPr>
            <a:r>
              <a:rPr lang="en-US" dirty="0"/>
              <a:t>m = P(52,3) =52(51)(50) =132600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9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734C-779C-4C2B-93CC-B547457B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9E8E8-271F-4513-BC22-5D3D47C3C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3895"/>
            <a:ext cx="10515600" cy="486306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How many permutations of the letters ABCDEFGH contain the string ABC?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Solution: </a:t>
            </a:r>
          </a:p>
          <a:p>
            <a:pPr algn="just"/>
            <a:r>
              <a:rPr lang="en-US" dirty="0"/>
              <a:t>Because the letters ABC must occur as a block, </a:t>
            </a:r>
          </a:p>
          <a:p>
            <a:pPr algn="just"/>
            <a:r>
              <a:rPr lang="en-US" dirty="0"/>
              <a:t>we can find the answer by finding the number of permutations of six objects, namely, the block ABC and the individual letters D, E, F, G, and H. </a:t>
            </a:r>
          </a:p>
          <a:p>
            <a:pPr algn="just"/>
            <a:r>
              <a:rPr lang="en-US" dirty="0"/>
              <a:t>Because these six objects can occur in any order, there are 6! = 720 permutations of the letters ABCDEFGH in which ABC occurs as a block.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44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number </a:t>
            </a:r>
            <a:r>
              <a:rPr lang="en-US" i="1" dirty="0"/>
              <a:t>n of distinct permutations that can be formed from all the letters of each word:</a:t>
            </a:r>
          </a:p>
          <a:p>
            <a:pPr>
              <a:buNone/>
            </a:pPr>
            <a:r>
              <a:rPr lang="en-US" dirty="0"/>
              <a:t>(</a:t>
            </a:r>
            <a:r>
              <a:rPr lang="en-US" i="1" dirty="0"/>
              <a:t>a) THOSE; (b) UNUSUAL; (c) SOCIOLOGICAL.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8354" y="3590117"/>
            <a:ext cx="770572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367" y="4499574"/>
            <a:ext cx="972502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 contains 8 students. Find the number </a:t>
            </a:r>
            <a:r>
              <a:rPr lang="en-US" i="1" dirty="0"/>
              <a:t>n of samples of size 3:</a:t>
            </a:r>
          </a:p>
          <a:p>
            <a:r>
              <a:rPr lang="en-US" dirty="0"/>
              <a:t>(</a:t>
            </a:r>
            <a:r>
              <a:rPr lang="en-US" i="1" dirty="0"/>
              <a:t>a)With replacement; (b)Without replacement.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1050" y="3668563"/>
            <a:ext cx="9744075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17897</TotalTime>
  <Words>1242</Words>
  <Application>Microsoft Macintosh PowerPoint</Application>
  <PresentationFormat>Widescreen</PresentationFormat>
  <Paragraphs>131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Times New Roman</vt:lpstr>
      <vt:lpstr>Office Theme</vt:lpstr>
      <vt:lpstr>Discrete Mathematics (BCSC1010)</vt:lpstr>
      <vt:lpstr>Introduction</vt:lpstr>
      <vt:lpstr>Basic Counting Principles</vt:lpstr>
      <vt:lpstr>Sum Rule</vt:lpstr>
      <vt:lpstr>Example</vt:lpstr>
      <vt:lpstr>Product Rule</vt:lpstr>
      <vt:lpstr>Example</vt:lpstr>
      <vt:lpstr>Permutation</vt:lpstr>
      <vt:lpstr>Permutation</vt:lpstr>
      <vt:lpstr>Example</vt:lpstr>
      <vt:lpstr>EXAMPLE</vt:lpstr>
      <vt:lpstr> Permutations with Repetitions </vt:lpstr>
      <vt:lpstr>EXAMPLE</vt:lpstr>
      <vt:lpstr> Ordered Samples </vt:lpstr>
      <vt:lpstr> (1) Sampling with replacement </vt:lpstr>
      <vt:lpstr> (2) Sampling without replacement </vt:lpstr>
      <vt:lpstr>EXAMPLE</vt:lpstr>
      <vt:lpstr>Example</vt:lpstr>
      <vt:lpstr>Example :</vt:lpstr>
      <vt:lpstr>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 BCSC0010</dc:title>
  <dc:creator>swati saxena</dc:creator>
  <cp:lastModifiedBy>Microsoft Office User</cp:lastModifiedBy>
  <cp:revision>327</cp:revision>
  <dcterms:created xsi:type="dcterms:W3CDTF">2020-06-30T02:13:17Z</dcterms:created>
  <dcterms:modified xsi:type="dcterms:W3CDTF">2022-09-23T04:04:45Z</dcterms:modified>
</cp:coreProperties>
</file>