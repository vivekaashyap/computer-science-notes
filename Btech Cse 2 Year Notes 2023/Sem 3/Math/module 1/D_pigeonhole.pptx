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71" r:id="rId2"/>
    <p:sldId id="257" r:id="rId3"/>
    <p:sldId id="272" r:id="rId4"/>
    <p:sldId id="264" r:id="rId5"/>
    <p:sldId id="270" r:id="rId6"/>
    <p:sldId id="263" r:id="rId7"/>
    <p:sldId id="267" r:id="rId8"/>
    <p:sldId id="268" r:id="rId9"/>
    <p:sldId id="259" r:id="rId10"/>
    <p:sldId id="260" r:id="rId11"/>
    <p:sldId id="265" r:id="rId12"/>
    <p:sldId id="269" r:id="rId13"/>
    <p:sldId id="273" r:id="rId14"/>
    <p:sldId id="274" r:id="rId15"/>
    <p:sldId id="275" r:id="rId16"/>
    <p:sldId id="276" r:id="rId17"/>
    <p:sldId id="277" r:id="rId18"/>
    <p:sldId id="278" r:id="rId19"/>
    <p:sldId id="279" r:id="rId20"/>
    <p:sldId id="280" r:id="rId21"/>
    <p:sldId id="281" r:id="rId22"/>
    <p:sldId id="282" r:id="rId23"/>
    <p:sldId id="283" r:id="rId2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017" autoAdjust="0"/>
    <p:restoredTop sz="94660"/>
  </p:normalViewPr>
  <p:slideViewPr>
    <p:cSldViewPr snapToGrid="0">
      <p:cViewPr varScale="1">
        <p:scale>
          <a:sx n="105" d="100"/>
          <a:sy n="105" d="100"/>
        </p:scale>
        <p:origin x="776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82158D-B949-486B-AA81-55B5A49A8C7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5CD85D2-A0DA-4C52-B2CF-E3B06FA6707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0D46FF9-225D-4422-A32E-163F9B08F3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1515A0-E2A4-42FB-B102-F092FC12D6EB}" type="datetimeFigureOut">
              <a:rPr lang="en-IN" smtClean="0"/>
              <a:t>26/09/22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DA5960F-BF5C-4D84-8537-84FAF1F545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B53EDF9-F614-4748-86E7-5242C8AC3D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B78067-9CD1-49E6-9219-147EA67D8DF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165846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C89821-B37D-4C84-A443-F2B5DE16DC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BCF8143-E6A4-4901-817C-900C3863811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70396EA-CD34-4920-93BA-43A5B4872C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1515A0-E2A4-42FB-B102-F092FC12D6EB}" type="datetimeFigureOut">
              <a:rPr lang="en-IN" smtClean="0"/>
              <a:t>26/09/22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96671B0-32BD-4C58-B49A-A2B3E1706E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588B47A-7782-4596-B192-13B66AC742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B78067-9CD1-49E6-9219-147EA67D8DF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4691153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0AFA2D-C96F-432B-AEF8-494EA672EC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03D5766-E5FA-4D3D-A731-83F7ED6ABC8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75B5ED8-1101-4C6A-959F-649F2EE510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1515A0-E2A4-42FB-B102-F092FC12D6EB}" type="datetimeFigureOut">
              <a:rPr lang="en-IN" smtClean="0"/>
              <a:t>26/09/22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EEDAD71-CB56-4585-87F2-96CB321F1A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43485BC-9807-4245-A009-37ADE81776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B78067-9CD1-49E6-9219-147EA67D8DF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3302617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017125-8901-4A52-9156-564DBFC61A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7D5E747-0596-43A1-988D-07664B0F25B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3F7755A-727C-4AE9-9D8B-CCE98309E4E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707B882-318B-4D81-80E2-87B2B1DA76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1515A0-E2A4-42FB-B102-F092FC12D6EB}" type="datetimeFigureOut">
              <a:rPr lang="en-IN" smtClean="0"/>
              <a:t>26/09/22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456B29E-9E5F-4155-912D-F644A6D210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CE1D1EC-B696-4653-9AA7-24C4553175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B78067-9CD1-49E6-9219-147EA67D8DF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9364716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F003E3-A80A-47D2-8CF5-68C0E35B02A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C18C7B8-357B-4D81-9131-224A71A633A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BFF39DA-07D9-4175-BBA3-5AEA86040EB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41654F8-F289-4281-9FD2-D9AD15BC2FE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1C91A23-CA2E-47DA-AB51-15F476D3A0B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9FD723B-3E15-4567-9A04-0ED67F089F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1515A0-E2A4-42FB-B102-F092FC12D6EB}" type="datetimeFigureOut">
              <a:rPr lang="en-IN" smtClean="0"/>
              <a:t>26/09/22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6C17AF0-99CF-4D49-9E0A-2744A739B5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CE9978F-EAEE-4B22-83EA-4E4A16253C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B78067-9CD1-49E6-9219-147EA67D8DF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6246910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33F208-0ED4-448E-81E0-9F30CA1578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94CC565-D2B1-45AA-98CF-A99D398C14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1515A0-E2A4-42FB-B102-F092FC12D6EB}" type="datetimeFigureOut">
              <a:rPr lang="en-IN" smtClean="0"/>
              <a:t>26/09/22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76C8D17-49A7-4D28-8E3A-BAD0ACA05D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86B5AF0-0418-4C55-88F0-6C27287DC2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B78067-9CD1-49E6-9219-147EA67D8DF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0627072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9D6DCE6-A64A-4BA5-A959-3F93C86242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1515A0-E2A4-42FB-B102-F092FC12D6EB}" type="datetimeFigureOut">
              <a:rPr lang="en-IN" smtClean="0"/>
              <a:t>26/09/22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7B86CA1-C362-4E2D-A712-133B70BFEC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847E569-EE87-4D49-A18A-7BA9A153F4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B78067-9CD1-49E6-9219-147EA67D8DF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6433063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6A20EB-9AB9-4A18-987E-67C5481C05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88E2B36-93CE-4CC7-8F51-66CBE2160BF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4A6F03F-A09B-4554-83F8-FD18F2EEE10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2060DC2-1AEC-4F5B-B99C-8D0CF117E3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1515A0-E2A4-42FB-B102-F092FC12D6EB}" type="datetimeFigureOut">
              <a:rPr lang="en-IN" smtClean="0"/>
              <a:t>26/09/22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53F846A-DE07-4258-8000-358561D504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2DC7BB3-A3FB-4521-B945-61862F2A70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B78067-9CD1-49E6-9219-147EA67D8DF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6785847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10E1AA-2AC3-4FA7-AC60-1FB2F53DDE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1CD554C-6D15-4C6F-8759-04B0FC8EB6C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46EF80E-4137-47C1-BA69-04085DF902C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5BB2B92-8F64-47C0-8EE2-99E8E5CD65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1515A0-E2A4-42FB-B102-F092FC12D6EB}" type="datetimeFigureOut">
              <a:rPr lang="en-IN" smtClean="0"/>
              <a:t>26/09/22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0794461-38DE-47E8-BF42-D0E6B449F7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04AF397-DF80-415B-8904-D3D72854A5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B78067-9CD1-49E6-9219-147EA67D8DF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4415625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FADBEE-E4D1-49B2-884E-74C003468E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0422918-2245-492D-905E-DF71DAA5A57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B3CEA67-0FA1-4218-AB7B-F630EBDACB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1515A0-E2A4-42FB-B102-F092FC12D6EB}" type="datetimeFigureOut">
              <a:rPr lang="en-IN" smtClean="0"/>
              <a:t>26/09/22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A7C60A7-0C48-449D-B96F-75D5244EB5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777B534-29B5-494C-894F-C6030EE9DF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B78067-9CD1-49E6-9219-147EA67D8DF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7251114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23B2BF0-9C49-4B95-A66B-E17A22B7CDF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8CD468C-A6A5-4111-9FF0-E9F61B8FF42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B4F7F3E-CAEB-40E5-BA51-8BD5AB6076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1515A0-E2A4-42FB-B102-F092FC12D6EB}" type="datetimeFigureOut">
              <a:rPr lang="en-IN" smtClean="0"/>
              <a:t>26/09/22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E63CB52-9574-4AFC-920F-80266E363B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8813BD0-8198-40A7-B776-D25A2B608C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B78067-9CD1-49E6-9219-147EA67D8DF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4322808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92304EE-DB91-4EC6-9765-BFF5E32EB2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71C1FFC-C877-4441-A03B-83940F34F53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437C6A8-7490-497E-88F4-5D83E169FC7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71515A0-E2A4-42FB-B102-F092FC12D6EB}" type="datetimeFigureOut">
              <a:rPr lang="en-IN" smtClean="0"/>
              <a:t>26/09/22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740A34A-664C-4CD8-80AE-876858D06AF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B4B02C6-FE06-4FB8-852B-55F4A16333E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8B78067-9CD1-49E6-9219-147EA67D8DF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8722436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NUL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NUL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273E0A-BCFA-4CCB-AAB1-1AC1AC8E1E09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IN" b="1" dirty="0">
                <a:latin typeface="+mn-lt"/>
              </a:rPr>
              <a:t>Discrete Mathematics</a:t>
            </a:r>
            <a:br>
              <a:rPr lang="en-IN" b="1" dirty="0">
                <a:latin typeface="+mn-lt"/>
              </a:rPr>
            </a:br>
            <a:r>
              <a:rPr lang="en-IN" b="1" dirty="0">
                <a:latin typeface="+mn-lt"/>
              </a:rPr>
              <a:t>(BCSC1010)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EF0BCE1-2001-4D6A-8AF3-40E100FF7F7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7"/>
            <a:ext cx="9144000" cy="2567943"/>
          </a:xfrm>
        </p:spPr>
        <p:txBody>
          <a:bodyPr>
            <a:normAutofit/>
          </a:bodyPr>
          <a:lstStyle/>
          <a:p>
            <a:r>
              <a:rPr lang="en-IN" sz="5200" dirty="0"/>
              <a:t>Module 1</a:t>
            </a:r>
          </a:p>
          <a:p>
            <a:endParaRPr lang="en-IN" sz="5200" dirty="0"/>
          </a:p>
          <a:p>
            <a:r>
              <a:rPr lang="en-IN" sz="5200" b="1" dirty="0"/>
              <a:t>Pigeonhole Principle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48468266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57018A-9CF2-4B5C-876D-11B38E6DE0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4400" b="1" i="0" u="none" strike="noStrike" baseline="0" dirty="0">
                <a:latin typeface="Times-Bold"/>
              </a:rPr>
              <a:t>Pigeonhole Principle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6E9D92E-88E3-43A4-AA25-C2D14CD14DB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/>
            <a:r>
              <a:rPr lang="en-US" sz="3600" b="0" i="0" u="none" strike="noStrike" baseline="0" dirty="0">
                <a:latin typeface="Times-Roman"/>
              </a:rPr>
              <a:t>If </a:t>
            </a:r>
            <a:r>
              <a:rPr lang="en-US" sz="3600" b="0" i="1" u="none" strike="noStrike" baseline="0" dirty="0">
                <a:latin typeface="Times-Italic"/>
              </a:rPr>
              <a:t>n </a:t>
            </a:r>
            <a:r>
              <a:rPr lang="en-US" sz="3600" b="0" u="none" strike="noStrike" baseline="0" dirty="0">
                <a:latin typeface="Times-Italic"/>
              </a:rPr>
              <a:t>is a positive integer and </a:t>
            </a:r>
            <a:r>
              <a:rPr lang="en-US" sz="3600" b="0" u="none" strike="noStrike" baseline="0" dirty="0">
                <a:latin typeface="Times-Roman"/>
              </a:rPr>
              <a:t> </a:t>
            </a:r>
            <a:r>
              <a:rPr lang="en-US" sz="3600" b="0" i="1" u="none" strike="noStrike" baseline="0" dirty="0">
                <a:latin typeface="MTMI"/>
              </a:rPr>
              <a:t>n </a:t>
            </a:r>
            <a:r>
              <a:rPr lang="en-US" sz="3600" b="0" i="0" u="none" strike="noStrike" baseline="0" dirty="0">
                <a:latin typeface="MTSYN"/>
              </a:rPr>
              <a:t>+ </a:t>
            </a:r>
            <a:r>
              <a:rPr lang="en-US" sz="3600" b="0" i="0" u="none" strike="noStrike" baseline="0" dirty="0">
                <a:latin typeface="Times-Roman"/>
              </a:rPr>
              <a:t>1 or more objects (pigeons) are placed into n boxes (pigeonholes) , then there </a:t>
            </a:r>
            <a:r>
              <a:rPr lang="en-US" sz="3600" dirty="0">
                <a:latin typeface="Times-Roman"/>
              </a:rPr>
              <a:t>will be </a:t>
            </a:r>
            <a:r>
              <a:rPr lang="en-US" sz="3600" b="0" i="0" u="none" strike="noStrike" baseline="0" dirty="0">
                <a:latin typeface="Times-Roman"/>
              </a:rPr>
              <a:t>at least one box containing two or more of the objects. </a:t>
            </a:r>
          </a:p>
          <a:p>
            <a:pPr algn="just"/>
            <a:endParaRPr lang="en-US" b="0" i="0" u="none" strike="noStrike" baseline="0" dirty="0">
              <a:latin typeface="Times-Roman"/>
            </a:endParaRPr>
          </a:p>
          <a:p>
            <a:pPr algn="l"/>
            <a:endParaRPr lang="en-IN" sz="1800" dirty="0">
              <a:latin typeface="Times-Roman"/>
            </a:endParaRPr>
          </a:p>
        </p:txBody>
      </p:sp>
    </p:spTree>
    <p:extLst>
      <p:ext uri="{BB962C8B-B14F-4D97-AF65-F5344CB8AC3E}">
        <p14:creationId xmlns:p14="http://schemas.microsoft.com/office/powerpoint/2010/main" val="408936468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175D2A4A-21B4-462C-84D6-E0039231A74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402301" y="1908152"/>
            <a:ext cx="8940185" cy="4394993"/>
          </a:xfr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BCD7BCDA-2E96-41D7-AA50-FD33BD6286DF}"/>
              </a:ext>
            </a:extLst>
          </p:cNvPr>
          <p:cNvSpPr txBox="1"/>
          <p:nvPr/>
        </p:nvSpPr>
        <p:spPr>
          <a:xfrm>
            <a:off x="1555811" y="814071"/>
            <a:ext cx="6094520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4000" b="1" i="0" u="none" strike="noStrike" baseline="0" dirty="0">
                <a:latin typeface="Times-Bold"/>
              </a:rPr>
              <a:t>Pigeonhole Principle</a:t>
            </a:r>
            <a:endParaRPr lang="en-IN" sz="4000" dirty="0"/>
          </a:p>
        </p:txBody>
      </p:sp>
    </p:spTree>
    <p:extLst>
      <p:ext uri="{BB962C8B-B14F-4D97-AF65-F5344CB8AC3E}">
        <p14:creationId xmlns:p14="http://schemas.microsoft.com/office/powerpoint/2010/main" val="355780660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BE09B2-A9B8-4BB5-952C-709D722C8A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620296"/>
          </a:xfrm>
        </p:spPr>
        <p:txBody>
          <a:bodyPr>
            <a:normAutofit fontScale="90000"/>
          </a:bodyPr>
          <a:lstStyle/>
          <a:p>
            <a:r>
              <a:rPr lang="en-IN" b="1" dirty="0"/>
              <a:t>Generalized Pigeon Hole Principle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A6093D29-4733-41A1-88BC-A052AC200A36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136342"/>
                <a:ext cx="11102266" cy="5040621"/>
              </a:xfrm>
            </p:spPr>
            <p:txBody>
              <a:bodyPr>
                <a:normAutofit fontScale="70000" lnSpcReduction="20000"/>
              </a:bodyPr>
              <a:lstStyle/>
              <a:p>
                <a:r>
                  <a:rPr lang="en-IN" sz="4400" dirty="0"/>
                  <a:t>If n objects are placed into k boxes , then there is at least one </a:t>
                </a:r>
              </a:p>
              <a:p>
                <a:r>
                  <a:rPr lang="en-IN" sz="4400" dirty="0"/>
                  <a:t>box containing at least </a:t>
                </a:r>
                <a14:m>
                  <m:oMath xmlns:m="http://schemas.openxmlformats.org/officeDocument/2006/math">
                    <m:d>
                      <m:dPr>
                        <m:begChr m:val="⌈"/>
                        <m:endChr m:val="⌉"/>
                        <m:ctrlPr>
                          <a:rPr lang="en-IN" sz="440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en-IN" sz="4400" i="1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4400" b="0" i="1" smtClean="0">
                                <a:latin typeface="Cambria Math" panose="02040503050406030204" pitchFamily="18" charset="0"/>
                              </a:rPr>
                              <m:t>𝑛</m:t>
                            </m:r>
                          </m:num>
                          <m:den>
                            <m:r>
                              <a:rPr lang="en-IN" sz="4400" b="0" i="1" smtClean="0">
                                <a:latin typeface="Cambria Math" panose="02040503050406030204" pitchFamily="18" charset="0"/>
                              </a:rPr>
                              <m:t>𝑘</m:t>
                            </m:r>
                          </m:den>
                        </m:f>
                      </m:e>
                    </m:d>
                  </m:oMath>
                </a14:m>
                <a:r>
                  <a:rPr lang="en-IN" sz="4400" dirty="0"/>
                  <a:t>  objects</a:t>
                </a:r>
              </a:p>
              <a:p>
                <a:endParaRPr lang="en-IN" sz="4400" dirty="0"/>
              </a:p>
              <a:p>
                <a:r>
                  <a:rPr lang="en-IN" sz="4400" b="0" dirty="0">
                    <a:solidFill>
                      <a:srgbClr val="0070C0"/>
                    </a:solidFill>
                  </a:rPr>
                  <a:t>n=k(r-1)+1 is the smallest integer satisfying the inequality</a:t>
                </a:r>
                <a:r>
                  <a:rPr lang="en-IN" sz="4400" dirty="0">
                    <a:solidFill>
                      <a:srgbClr val="0070C0"/>
                    </a:solidFill>
                  </a:rPr>
                  <a:t> </a:t>
                </a:r>
                <a14:m>
                  <m:oMath xmlns:m="http://schemas.openxmlformats.org/officeDocument/2006/math">
                    <m:d>
                      <m:dPr>
                        <m:begChr m:val="⌈"/>
                        <m:endChr m:val="⌉"/>
                        <m:ctrlPr>
                          <a:rPr lang="en-IN" sz="4400" i="1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en-IN" sz="4400" i="1" smtClean="0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4400" b="0" i="1" smtClean="0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num>
                          <m:den>
                            <m:r>
                              <a:rPr lang="en-IN" sz="4400" b="0" i="1" smtClean="0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</a:rPr>
                              <m:t>𝑘</m:t>
                            </m:r>
                          </m:den>
                        </m:f>
                      </m:e>
                    </m:d>
                    <m:r>
                      <a:rPr lang="en-IN" sz="4400" b="0" i="1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≥</m:t>
                    </m:r>
                    <m:r>
                      <a:rPr lang="en-IN" sz="4400" b="0" i="1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𝑟</m:t>
                    </m:r>
                  </m:oMath>
                </a14:m>
                <a:r>
                  <a:rPr lang="en-IN" sz="4400" b="0" dirty="0">
                    <a:solidFill>
                      <a:srgbClr val="0070C0"/>
                    </a:solidFill>
                  </a:rPr>
                  <a:t> </a:t>
                </a:r>
              </a:p>
              <a:p>
                <a:endParaRPr lang="en-IN" sz="4400" dirty="0"/>
              </a:p>
              <a:p>
                <a:r>
                  <a:rPr lang="en-IN" sz="4400" b="1" dirty="0"/>
                  <a:t>Example</a:t>
                </a:r>
              </a:p>
              <a:p>
                <a:r>
                  <a:rPr lang="en-IN" sz="4400" dirty="0"/>
                  <a:t>Among 100 people , find the minimum number of people who born in same month</a:t>
                </a:r>
              </a:p>
              <a:p>
                <a14:m>
                  <m:oMath xmlns:m="http://schemas.openxmlformats.org/officeDocument/2006/math">
                    <m:d>
                      <m:dPr>
                        <m:begChr m:val="⌈"/>
                        <m:endChr m:val="⌉"/>
                        <m:ctrlPr>
                          <a:rPr lang="en-IN" sz="440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en-IN" sz="4400" i="1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4400" b="0" i="1" smtClean="0">
                                <a:latin typeface="Cambria Math" panose="02040503050406030204" pitchFamily="18" charset="0"/>
                              </a:rPr>
                              <m:t>100</m:t>
                            </m:r>
                          </m:num>
                          <m:den>
                            <m:r>
                              <a:rPr lang="en-IN" sz="4400" b="0" i="1" smtClean="0">
                                <a:latin typeface="Cambria Math" panose="02040503050406030204" pitchFamily="18" charset="0"/>
                              </a:rPr>
                              <m:t>12</m:t>
                            </m:r>
                          </m:den>
                        </m:f>
                      </m:e>
                    </m:d>
                    <m:r>
                      <a:rPr lang="en-IN" sz="4400" b="0" i="1" smtClean="0">
                        <a:latin typeface="Cambria Math" panose="02040503050406030204" pitchFamily="18" charset="0"/>
                      </a:rPr>
                      <m:t>=9</m:t>
                    </m:r>
                  </m:oMath>
                </a14:m>
                <a:endParaRPr lang="en-IN" sz="4400" dirty="0"/>
              </a:p>
              <a:p>
                <a:endParaRPr lang="en-IN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A6093D29-4733-41A1-88BC-A052AC200A36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136342"/>
                <a:ext cx="11102266" cy="5040621"/>
              </a:xfrm>
              <a:blipFill>
                <a:blip r:embed="rId2"/>
                <a:stretch>
                  <a:fillRect l="-1208" t="-3869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62753817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AB4B60-35C9-4DAE-BF77-D14E2AB84C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i="0" u="none" strike="noStrike" baseline="0" dirty="0">
                <a:latin typeface="Times-Roman"/>
              </a:rPr>
              <a:t>Example </a:t>
            </a:r>
            <a:br>
              <a:rPr lang="en-US" b="1" i="0" u="none" strike="noStrike" baseline="0" dirty="0">
                <a:latin typeface="Times-Roman"/>
              </a:rPr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BE225DB-407B-43E4-BA4C-5ED661C3E46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/>
            <a:r>
              <a:rPr lang="en-US" sz="3200" b="0" i="0" u="none" strike="noStrike" baseline="0" dirty="0">
                <a:latin typeface="Times-Roman"/>
              </a:rPr>
              <a:t>Suppose a class contains 13 students, then at least two of the students (pigeons) were born in the same </a:t>
            </a:r>
            <a:r>
              <a:rPr lang="en-IN" sz="3200" b="0" i="0" u="none" strike="noStrike" baseline="0" dirty="0">
                <a:latin typeface="Times-Roman"/>
              </a:rPr>
              <a:t>month (pigeonholes).</a:t>
            </a:r>
          </a:p>
          <a:p>
            <a:pPr algn="just"/>
            <a:endParaRPr lang="en-IN" sz="3200" b="0" i="0" u="none" strike="noStrike" baseline="0" dirty="0">
              <a:latin typeface="Times-Roman"/>
            </a:endParaRPr>
          </a:p>
          <a:p>
            <a:pPr algn="just"/>
            <a:r>
              <a:rPr lang="en-IN" sz="3200" dirty="0">
                <a:latin typeface="Times-Roman"/>
              </a:rPr>
              <a:t>Among 27 English words, at least 2 words begin with same letter</a:t>
            </a:r>
            <a:endParaRPr lang="en-IN" sz="3200" b="0" i="0" u="none" strike="noStrike" baseline="0" dirty="0">
              <a:latin typeface="Times-Roman"/>
            </a:endParaRPr>
          </a:p>
        </p:txBody>
      </p:sp>
    </p:spTree>
    <p:extLst>
      <p:ext uri="{BB962C8B-B14F-4D97-AF65-F5344CB8AC3E}">
        <p14:creationId xmlns:p14="http://schemas.microsoft.com/office/powerpoint/2010/main" val="321919202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CC3059-5B75-4C6B-8DF7-68D5BC1BD1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Example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78CAA3E-5592-4301-8014-CCC12F64F6F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Grade scale 0,……,100 points</a:t>
            </a:r>
          </a:p>
          <a:p>
            <a:r>
              <a:rPr lang="en-IN" dirty="0"/>
              <a:t>How many students must be in a class to guarantee that at least two students receive the same score in the final exam</a:t>
            </a:r>
          </a:p>
          <a:p>
            <a:endParaRPr lang="en-IN" dirty="0"/>
          </a:p>
          <a:p>
            <a:r>
              <a:rPr lang="en-IN" dirty="0"/>
              <a:t>Total grades: 101 points</a:t>
            </a:r>
          </a:p>
          <a:p>
            <a:r>
              <a:rPr lang="en-IN" dirty="0"/>
              <a:t>Minimum 102 students must be there so that at least two students receive the same score in the final exam</a:t>
            </a:r>
          </a:p>
          <a:p>
            <a:endParaRPr lang="en-IN" dirty="0"/>
          </a:p>
          <a:p>
            <a:pPr marL="0" indent="0">
              <a:buNone/>
            </a:pPr>
            <a:r>
              <a:rPr lang="en-IN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404948565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D8628D-5584-4872-9272-5E2336B445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Example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D2916CA-F847-4C89-A45B-57E6D07E0A6D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IN" dirty="0"/>
                  <a:t>Show that if any 20 people are selected then we may choose  a subset of 3 so that all 3 were born on the same day of the week.</a:t>
                </a:r>
              </a:p>
              <a:p>
                <a:endParaRPr lang="en-IN" dirty="0"/>
              </a:p>
              <a:p>
                <a:r>
                  <a:rPr lang="en-IN" dirty="0"/>
                  <a:t>  n=20</a:t>
                </a:r>
              </a:p>
              <a:p>
                <a:r>
                  <a:rPr lang="en-IN" dirty="0"/>
                  <a:t>  k=7</a:t>
                </a:r>
              </a:p>
              <a:p>
                <a14:m>
                  <m:oMath xmlns:m="http://schemas.openxmlformats.org/officeDocument/2006/math">
                    <m:d>
                      <m:dPr>
                        <m:begChr m:val="⌈"/>
                        <m:endChr m:val="⌉"/>
                        <m:ctrlPr>
                          <a:rPr lang="en-IN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en-IN" i="1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b="0" i="1" smtClean="0">
                                <a:latin typeface="Cambria Math" panose="02040503050406030204" pitchFamily="18" charset="0"/>
                              </a:rPr>
                              <m:t>𝑛</m:t>
                            </m:r>
                          </m:num>
                          <m:den>
                            <m:r>
                              <a:rPr lang="en-IN" b="0" i="1" smtClean="0">
                                <a:latin typeface="Cambria Math" panose="02040503050406030204" pitchFamily="18" charset="0"/>
                              </a:rPr>
                              <m:t>𝑘</m:t>
                            </m:r>
                          </m:den>
                        </m:f>
                      </m:e>
                    </m:d>
                  </m:oMath>
                </a14:m>
                <a:r>
                  <a:rPr lang="en-IN" dirty="0"/>
                  <a:t>= </a:t>
                </a:r>
                <a14:m>
                  <m:oMath xmlns:m="http://schemas.openxmlformats.org/officeDocument/2006/math">
                    <m:d>
                      <m:dPr>
                        <m:begChr m:val="⌈"/>
                        <m:endChr m:val="⌉"/>
                        <m:ctrlPr>
                          <a:rPr lang="en-IN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en-IN" i="1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b="0" i="1" smtClean="0">
                                <a:latin typeface="Cambria Math" panose="02040503050406030204" pitchFamily="18" charset="0"/>
                              </a:rPr>
                              <m:t>20</m:t>
                            </m:r>
                          </m:num>
                          <m:den>
                            <m:r>
                              <a:rPr lang="en-IN" b="0" i="1" smtClean="0">
                                <a:latin typeface="Cambria Math" panose="02040503050406030204" pitchFamily="18" charset="0"/>
                              </a:rPr>
                              <m:t>7</m:t>
                            </m:r>
                          </m:den>
                        </m:f>
                      </m:e>
                    </m:d>
                  </m:oMath>
                </a14:m>
                <a:r>
                  <a:rPr lang="en-IN" dirty="0"/>
                  <a:t>=3</a:t>
                </a:r>
              </a:p>
              <a:p>
                <a:endParaRPr lang="en-IN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D2916CA-F847-4C89-A45B-57E6D07E0A6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43" t="-2241" r="-1855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50458497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F232DD-EE48-4DEC-B9DF-35B5F7DDD5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Example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7A0E09C-15AB-4355-A5AD-335CA36B6D51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IN" dirty="0"/>
                  <a:t>Show, if 9 books are to be kept at 4 shelves , there must be at least one shelf which contain at least 3 books.</a:t>
                </a:r>
              </a:p>
              <a:p>
                <a:endParaRPr lang="en-IN" dirty="0"/>
              </a:p>
              <a:p>
                <a14:m>
                  <m:oMath xmlns:m="http://schemas.openxmlformats.org/officeDocument/2006/math">
                    <m:d>
                      <m:dPr>
                        <m:begChr m:val="⌈"/>
                        <m:endChr m:val="⌉"/>
                        <m:ctrlPr>
                          <a:rPr lang="en-IN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en-IN" i="1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b="0" i="1" smtClean="0">
                                <a:latin typeface="Cambria Math" panose="02040503050406030204" pitchFamily="18" charset="0"/>
                              </a:rPr>
                              <m:t>𝑛</m:t>
                            </m:r>
                          </m:num>
                          <m:den>
                            <m:r>
                              <a:rPr lang="en-IN" b="0" i="1" smtClean="0">
                                <a:latin typeface="Cambria Math" panose="02040503050406030204" pitchFamily="18" charset="0"/>
                              </a:rPr>
                              <m:t>𝑘</m:t>
                            </m:r>
                          </m:den>
                        </m:f>
                      </m:e>
                    </m:d>
                  </m:oMath>
                </a14:m>
                <a:r>
                  <a:rPr lang="en-IN" dirty="0"/>
                  <a:t>= </a:t>
                </a:r>
                <a14:m>
                  <m:oMath xmlns:m="http://schemas.openxmlformats.org/officeDocument/2006/math">
                    <m:d>
                      <m:dPr>
                        <m:begChr m:val="⌈"/>
                        <m:endChr m:val="⌉"/>
                        <m:ctrlPr>
                          <a:rPr lang="en-IN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en-IN" i="1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b="0" i="1" smtClean="0">
                                <a:latin typeface="Cambria Math" panose="02040503050406030204" pitchFamily="18" charset="0"/>
                              </a:rPr>
                              <m:t>9</m:t>
                            </m:r>
                          </m:num>
                          <m:den>
                            <m:r>
                              <a:rPr lang="en-IN" b="0" i="1" smtClean="0">
                                <a:latin typeface="Cambria Math" panose="02040503050406030204" pitchFamily="18" charset="0"/>
                              </a:rPr>
                              <m:t>4</m:t>
                            </m:r>
                          </m:den>
                        </m:f>
                      </m:e>
                    </m:d>
                    <m:r>
                      <a:rPr lang="en-IN" b="0" i="1" smtClean="0">
                        <a:latin typeface="Cambria Math" panose="02040503050406030204" pitchFamily="18" charset="0"/>
                      </a:rPr>
                      <m:t>=3</m:t>
                    </m:r>
                  </m:oMath>
                </a14:m>
                <a:endParaRPr lang="en-IN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7A0E09C-15AB-4355-A5AD-335CA36B6D5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43" t="-2241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70585906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C3137E-5C6E-49D7-8973-043E9A2740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4400" b="1" i="0" u="none" strike="noStrike" baseline="0" dirty="0">
                <a:latin typeface="Times-Bold"/>
              </a:rPr>
              <a:t>Extended Pigeonhole Principle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4BD19B8-7252-4DEB-BF8B-F99624D4A57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/>
            <a:r>
              <a:rPr lang="en-US" sz="3200" b="0" i="0" u="none" strike="noStrike" baseline="0" dirty="0">
                <a:latin typeface="Times-Roman"/>
              </a:rPr>
              <a:t>If </a:t>
            </a:r>
            <a:r>
              <a:rPr lang="en-US" sz="3200" b="0" i="1" u="none" strike="noStrike" baseline="0" dirty="0">
                <a:latin typeface="Times-Italic"/>
              </a:rPr>
              <a:t>n </a:t>
            </a:r>
            <a:r>
              <a:rPr lang="en-US" sz="3200" b="0" i="0" u="none" strike="noStrike" baseline="0" dirty="0">
                <a:latin typeface="Times-Roman"/>
              </a:rPr>
              <a:t>pigeonholes are occupied by </a:t>
            </a:r>
            <a:r>
              <a:rPr lang="en-US" sz="3200" b="0" i="1" u="none" strike="noStrike" baseline="0" dirty="0" err="1">
                <a:latin typeface="Times-Italic"/>
              </a:rPr>
              <a:t>kn</a:t>
            </a:r>
            <a:r>
              <a:rPr lang="en-US" sz="3200" b="0" i="1" u="none" strike="noStrike" baseline="0" dirty="0">
                <a:latin typeface="Times-Italic"/>
              </a:rPr>
              <a:t> </a:t>
            </a:r>
            <a:r>
              <a:rPr lang="en-US" sz="3200" b="0" i="0" u="none" strike="noStrike" baseline="0" dirty="0">
                <a:latin typeface="MTSYN"/>
              </a:rPr>
              <a:t>+ </a:t>
            </a:r>
            <a:r>
              <a:rPr lang="en-US" sz="3200" b="0" i="0" u="none" strike="noStrike" baseline="0" dirty="0">
                <a:latin typeface="Times-Roman"/>
              </a:rPr>
              <a:t>1 or more pigeons, where </a:t>
            </a:r>
            <a:r>
              <a:rPr lang="en-US" sz="3200" b="0" i="1" u="none" strike="noStrike" baseline="0" dirty="0">
                <a:latin typeface="Times-Italic"/>
              </a:rPr>
              <a:t>k </a:t>
            </a:r>
            <a:r>
              <a:rPr lang="en-US" sz="3200" b="0" i="0" u="none" strike="noStrike" baseline="0" dirty="0">
                <a:latin typeface="Times-Roman"/>
              </a:rPr>
              <a:t>is a positive integer, then at least one pigeonhole is occupied by </a:t>
            </a:r>
            <a:r>
              <a:rPr lang="en-US" sz="3200" b="0" i="1" u="none" strike="noStrike" baseline="0" dirty="0">
                <a:latin typeface="MTMI"/>
              </a:rPr>
              <a:t>k </a:t>
            </a:r>
            <a:r>
              <a:rPr lang="en-US" sz="3200" b="0" i="0" u="none" strike="noStrike" baseline="0" dirty="0">
                <a:latin typeface="MTSYN"/>
              </a:rPr>
              <a:t>+ </a:t>
            </a:r>
            <a:r>
              <a:rPr lang="en-US" sz="3200" b="0" i="0" u="none" strike="noStrike" baseline="0" dirty="0">
                <a:latin typeface="Times-Roman"/>
              </a:rPr>
              <a:t>1 or more pigeons.</a:t>
            </a:r>
            <a:endParaRPr lang="en-IN" sz="4400" dirty="0"/>
          </a:p>
        </p:txBody>
      </p:sp>
    </p:spTree>
    <p:extLst>
      <p:ext uri="{BB962C8B-B14F-4D97-AF65-F5344CB8AC3E}">
        <p14:creationId xmlns:p14="http://schemas.microsoft.com/office/powerpoint/2010/main" val="275520384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C0375C-3FE8-4F63-BD23-CCEC09E3C7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Example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43F3551-1AAE-4511-8EBA-59EA28542D8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pPr algn="just"/>
            <a:r>
              <a:rPr lang="en-US" b="0" i="0" u="none" strike="noStrike" baseline="0" dirty="0">
                <a:latin typeface="Times-Roman"/>
              </a:rPr>
              <a:t>Find the minimum number of students in a class to be sure that 3 of them are born in the </a:t>
            </a:r>
            <a:r>
              <a:rPr lang="en-IN" b="0" i="0" u="none" strike="noStrike" baseline="0" dirty="0">
                <a:latin typeface="Times-Roman"/>
              </a:rPr>
              <a:t>same month.</a:t>
            </a:r>
          </a:p>
          <a:p>
            <a:pPr algn="just"/>
            <a:endParaRPr lang="en-IN" dirty="0">
              <a:latin typeface="Times-Roman"/>
            </a:endParaRPr>
          </a:p>
          <a:p>
            <a:pPr marL="0" indent="0" algn="just">
              <a:buNone/>
            </a:pPr>
            <a:endParaRPr lang="en-IN" b="0" i="0" u="none" strike="noStrike" baseline="0" dirty="0">
              <a:latin typeface="Times-Roman"/>
            </a:endParaRPr>
          </a:p>
          <a:p>
            <a:pPr algn="just"/>
            <a:r>
              <a:rPr lang="en-US" b="0" i="0" u="none" strike="noStrike" baseline="0" dirty="0">
                <a:latin typeface="Times-Roman"/>
              </a:rPr>
              <a:t>Here the </a:t>
            </a:r>
            <a:r>
              <a:rPr lang="en-US" b="0" i="1" u="none" strike="noStrike" baseline="0" dirty="0">
                <a:latin typeface="MTMI"/>
              </a:rPr>
              <a:t>n </a:t>
            </a:r>
            <a:r>
              <a:rPr lang="en-US" b="0" i="0" u="none" strike="noStrike" baseline="0" dirty="0">
                <a:latin typeface="MTSYN"/>
              </a:rPr>
              <a:t>= </a:t>
            </a:r>
            <a:r>
              <a:rPr lang="en-US" b="0" i="0" u="none" strike="noStrike" baseline="0" dirty="0">
                <a:latin typeface="Times-Roman"/>
              </a:rPr>
              <a:t>12 months (pigeonholes) </a:t>
            </a:r>
          </a:p>
          <a:p>
            <a:pPr algn="just"/>
            <a:r>
              <a:rPr lang="en-US" b="0" i="1" u="none" strike="noStrike" baseline="0" dirty="0">
                <a:latin typeface="MTMI"/>
              </a:rPr>
              <a:t>k </a:t>
            </a:r>
            <a:r>
              <a:rPr lang="en-US" b="0" i="0" u="none" strike="noStrike" baseline="0" dirty="0">
                <a:latin typeface="MTSYN"/>
              </a:rPr>
              <a:t>+ </a:t>
            </a:r>
            <a:r>
              <a:rPr lang="en-US" b="0" i="0" u="none" strike="noStrike" baseline="0" dirty="0">
                <a:latin typeface="Times-Roman"/>
              </a:rPr>
              <a:t>1 </a:t>
            </a:r>
            <a:r>
              <a:rPr lang="en-US" b="0" i="0" u="none" strike="noStrike" baseline="0" dirty="0">
                <a:latin typeface="MTSYN"/>
              </a:rPr>
              <a:t>= </a:t>
            </a:r>
            <a:r>
              <a:rPr lang="en-US" b="0" i="0" u="none" strike="noStrike" baseline="0" dirty="0">
                <a:latin typeface="Times-Roman"/>
              </a:rPr>
              <a:t>3 so </a:t>
            </a:r>
            <a:r>
              <a:rPr lang="en-US" b="0" i="1" u="none" strike="noStrike" baseline="0" dirty="0">
                <a:latin typeface="MTMI"/>
              </a:rPr>
              <a:t>k </a:t>
            </a:r>
            <a:r>
              <a:rPr lang="en-US" b="0" i="0" u="none" strike="noStrike" baseline="0" dirty="0">
                <a:latin typeface="MTSYN"/>
              </a:rPr>
              <a:t>= </a:t>
            </a:r>
            <a:r>
              <a:rPr lang="en-US" b="0" i="0" u="none" strike="noStrike" baseline="0" dirty="0">
                <a:latin typeface="Times-Roman"/>
              </a:rPr>
              <a:t>2</a:t>
            </a:r>
            <a:r>
              <a:rPr lang="en-US" dirty="0">
                <a:latin typeface="Times-Roman"/>
              </a:rPr>
              <a:t>   </a:t>
            </a:r>
            <a:endParaRPr lang="en-US" b="0" i="0" u="none" strike="noStrike" baseline="0" dirty="0">
              <a:latin typeface="Times-Roman"/>
            </a:endParaRPr>
          </a:p>
          <a:p>
            <a:pPr algn="just"/>
            <a:r>
              <a:rPr lang="en-US" b="0" i="0" u="none" strike="noStrike" baseline="0" dirty="0">
                <a:latin typeface="Times-Roman"/>
              </a:rPr>
              <a:t>Hence,  </a:t>
            </a:r>
            <a:r>
              <a:rPr lang="en-US" b="0" i="1" u="none" strike="noStrike" baseline="0" dirty="0" err="1">
                <a:latin typeface="Times-Italic"/>
              </a:rPr>
              <a:t>kn</a:t>
            </a:r>
            <a:r>
              <a:rPr lang="en-US" b="0" i="1" u="none" strike="noStrike" baseline="0" dirty="0">
                <a:latin typeface="Times-Italic"/>
              </a:rPr>
              <a:t> </a:t>
            </a:r>
            <a:r>
              <a:rPr lang="en-US" b="0" i="0" u="none" strike="noStrike" baseline="0" dirty="0">
                <a:latin typeface="MTSYN"/>
              </a:rPr>
              <a:t>+ </a:t>
            </a:r>
            <a:r>
              <a:rPr lang="en-US" b="0" i="0" u="none" strike="noStrike" baseline="0" dirty="0">
                <a:latin typeface="Times-Roman"/>
              </a:rPr>
              <a:t>1 </a:t>
            </a:r>
            <a:r>
              <a:rPr lang="en-US" b="0" i="0" u="none" strike="noStrike" baseline="0" dirty="0">
                <a:latin typeface="MTSYN"/>
              </a:rPr>
              <a:t>= 2.12+1</a:t>
            </a:r>
          </a:p>
          <a:p>
            <a:pPr algn="just"/>
            <a:r>
              <a:rPr lang="en-US" b="0" i="0" u="none" strike="noStrike" baseline="0" dirty="0">
                <a:latin typeface="MTSYN"/>
              </a:rPr>
              <a:t>                          =</a:t>
            </a:r>
            <a:r>
              <a:rPr lang="en-US" b="0" i="0" u="none" strike="noStrike" baseline="0" dirty="0">
                <a:latin typeface="Times-Roman"/>
              </a:rPr>
              <a:t>25 students (pigeons) </a:t>
            </a:r>
          </a:p>
          <a:p>
            <a:pPr algn="just"/>
            <a:r>
              <a:rPr lang="en-US" dirty="0">
                <a:latin typeface="Times-Roman"/>
              </a:rPr>
              <a:t>Minimum students in class is 25 for t</a:t>
            </a:r>
            <a:r>
              <a:rPr lang="en-US" b="0" i="0" u="none" strike="noStrike" baseline="0" dirty="0">
                <a:latin typeface="Times-Roman"/>
              </a:rPr>
              <a:t>hree of them born in the same month.</a:t>
            </a:r>
            <a:endParaRPr lang="en-IN" sz="4000" dirty="0"/>
          </a:p>
        </p:txBody>
      </p:sp>
    </p:spTree>
    <p:extLst>
      <p:ext uri="{BB962C8B-B14F-4D97-AF65-F5344CB8AC3E}">
        <p14:creationId xmlns:p14="http://schemas.microsoft.com/office/powerpoint/2010/main" val="347055755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6818F2-2B4E-4839-9A02-C45DA6FE6B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Example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6A2B414-9CEC-41D4-B926-37DC8212C4E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IN" dirty="0"/>
              <a:t>What is the minimum number of students required in a class to be sure that at least 6 of them will receive the same grade , if there are 5 possible grades A,B,C,D and F</a:t>
            </a:r>
          </a:p>
          <a:p>
            <a:endParaRPr lang="en-IN" dirty="0"/>
          </a:p>
          <a:p>
            <a:r>
              <a:rPr lang="en-IN" dirty="0"/>
              <a:t>  n=5 (pigeonholes)</a:t>
            </a:r>
          </a:p>
          <a:p>
            <a:r>
              <a:rPr lang="en-IN" dirty="0"/>
              <a:t>  K+1=6 (at least)</a:t>
            </a:r>
          </a:p>
          <a:p>
            <a:r>
              <a:rPr lang="en-IN" dirty="0"/>
              <a:t> =&gt; k=5</a:t>
            </a:r>
          </a:p>
          <a:p>
            <a:r>
              <a:rPr lang="en-IN" dirty="0"/>
              <a:t>  Minimum requirement,  K.n+1=5.5+1</a:t>
            </a:r>
          </a:p>
          <a:p>
            <a:r>
              <a:rPr lang="en-IN" dirty="0"/>
              <a:t>                                                        =26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01007073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B70AE0-0661-47D3-9F56-2F4A59C0F7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558153"/>
          </a:xfrm>
        </p:spPr>
        <p:txBody>
          <a:bodyPr>
            <a:normAutofit fontScale="90000"/>
          </a:bodyPr>
          <a:lstStyle/>
          <a:p>
            <a:r>
              <a:rPr lang="en-IN" dirty="0"/>
              <a:t>  </a:t>
            </a:r>
            <a:r>
              <a:rPr lang="en-IN" b="1" dirty="0"/>
              <a:t>Example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C7DE35C-028B-42BD-AE86-6E9BB59AD3C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269507"/>
            <a:ext cx="10515600" cy="4907456"/>
          </a:xfrm>
        </p:spPr>
        <p:txBody>
          <a:bodyPr>
            <a:normAutofit/>
          </a:bodyPr>
          <a:lstStyle/>
          <a:p>
            <a:r>
              <a:rPr lang="en-IN" dirty="0"/>
              <a:t>Find the minimum number of students in a class to be sure that 4 out of them are born in the same month.</a:t>
            </a:r>
          </a:p>
          <a:p>
            <a:endParaRPr lang="en-IN" dirty="0"/>
          </a:p>
          <a:p>
            <a:r>
              <a:rPr lang="en-IN" dirty="0"/>
              <a:t>  n=12 (pigeonholes)</a:t>
            </a:r>
          </a:p>
          <a:p>
            <a:r>
              <a:rPr lang="en-IN" dirty="0"/>
              <a:t>  K+1=4 </a:t>
            </a:r>
          </a:p>
          <a:p>
            <a:r>
              <a:rPr lang="en-IN" dirty="0"/>
              <a:t> =&gt; k=3</a:t>
            </a:r>
          </a:p>
          <a:p>
            <a:r>
              <a:rPr lang="en-IN" dirty="0"/>
              <a:t>  Minimum requirement,  K.n+1=3.12+1</a:t>
            </a:r>
          </a:p>
          <a:p>
            <a:r>
              <a:rPr lang="en-IN" dirty="0"/>
              <a:t>                                                        =37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33063582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D8628D-5584-4872-9272-5E2336B445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Example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D2916CA-F847-4C89-A45B-57E6D07E0A6D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IN" dirty="0"/>
                  <a:t>Show that if </a:t>
                </a:r>
                <a:r>
                  <a:rPr lang="en-IN" dirty="0">
                    <a:solidFill>
                      <a:srgbClr val="FF0000"/>
                    </a:solidFill>
                  </a:rPr>
                  <a:t>any 20 people are selected </a:t>
                </a:r>
                <a:r>
                  <a:rPr lang="en-IN" dirty="0"/>
                  <a:t>then we may choose  a subset of 3 so that all </a:t>
                </a:r>
                <a:r>
                  <a:rPr lang="en-IN" b="1" dirty="0"/>
                  <a:t>3 were born on the same day of the week</a:t>
                </a:r>
                <a:r>
                  <a:rPr lang="en-IN" dirty="0"/>
                  <a:t>.</a:t>
                </a:r>
              </a:p>
              <a:p>
                <a:endParaRPr lang="en-IN" dirty="0"/>
              </a:p>
              <a:p>
                <a:r>
                  <a:rPr lang="en-IN" dirty="0"/>
                  <a:t>  n=20</a:t>
                </a:r>
              </a:p>
              <a:p>
                <a:r>
                  <a:rPr lang="en-IN" dirty="0"/>
                  <a:t>  k=7</a:t>
                </a:r>
              </a:p>
              <a:p>
                <a14:m>
                  <m:oMath xmlns:m="http://schemas.openxmlformats.org/officeDocument/2006/math">
                    <m:d>
                      <m:dPr>
                        <m:begChr m:val="⌈"/>
                        <m:endChr m:val="⌉"/>
                        <m:ctrlPr>
                          <a:rPr lang="en-IN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en-IN" i="1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b="0" i="1" smtClean="0">
                                <a:latin typeface="Cambria Math" panose="02040503050406030204" pitchFamily="18" charset="0"/>
                              </a:rPr>
                              <m:t>𝑛</m:t>
                            </m:r>
                          </m:num>
                          <m:den>
                            <m:r>
                              <a:rPr lang="en-IN" b="0" i="1" smtClean="0">
                                <a:latin typeface="Cambria Math" panose="02040503050406030204" pitchFamily="18" charset="0"/>
                              </a:rPr>
                              <m:t>𝑘</m:t>
                            </m:r>
                          </m:den>
                        </m:f>
                      </m:e>
                    </m:d>
                  </m:oMath>
                </a14:m>
                <a:r>
                  <a:rPr lang="en-IN" dirty="0"/>
                  <a:t>= </a:t>
                </a:r>
                <a14:m>
                  <m:oMath xmlns:m="http://schemas.openxmlformats.org/officeDocument/2006/math">
                    <m:d>
                      <m:dPr>
                        <m:begChr m:val="⌈"/>
                        <m:endChr m:val="⌉"/>
                        <m:ctrlPr>
                          <a:rPr lang="en-IN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en-IN" i="1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b="0" i="1" smtClean="0">
                                <a:latin typeface="Cambria Math" panose="02040503050406030204" pitchFamily="18" charset="0"/>
                              </a:rPr>
                              <m:t>20</m:t>
                            </m:r>
                          </m:num>
                          <m:den>
                            <m:r>
                              <a:rPr lang="en-IN" b="0" i="1" smtClean="0">
                                <a:latin typeface="Cambria Math" panose="02040503050406030204" pitchFamily="18" charset="0"/>
                              </a:rPr>
                              <m:t>7</m:t>
                            </m:r>
                          </m:den>
                        </m:f>
                      </m:e>
                    </m:d>
                  </m:oMath>
                </a14:m>
                <a:r>
                  <a:rPr lang="en-IN" dirty="0"/>
                  <a:t>=3</a:t>
                </a:r>
              </a:p>
              <a:p>
                <a:endParaRPr lang="en-IN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D2916CA-F847-4C89-A45B-57E6D07E0A6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43" t="-2241" r="-1855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34678555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F232DD-EE48-4DEC-B9DF-35B5F7DDD5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Example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7A0E09C-15AB-4355-A5AD-335CA36B6D51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IN" dirty="0"/>
                  <a:t>Show, if 9 books are to be kept at 4 shelves , there must be at least one shelf which contain at least 3 books.</a:t>
                </a:r>
              </a:p>
              <a:p>
                <a:endParaRPr lang="en-IN" dirty="0"/>
              </a:p>
              <a:p>
                <a14:m>
                  <m:oMath xmlns:m="http://schemas.openxmlformats.org/officeDocument/2006/math">
                    <m:d>
                      <m:dPr>
                        <m:begChr m:val="⌈"/>
                        <m:endChr m:val="⌉"/>
                        <m:ctrlPr>
                          <a:rPr lang="en-IN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en-IN" i="1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b="0" i="1" smtClean="0">
                                <a:latin typeface="Cambria Math" panose="02040503050406030204" pitchFamily="18" charset="0"/>
                              </a:rPr>
                              <m:t>𝑛</m:t>
                            </m:r>
                          </m:num>
                          <m:den>
                            <m:r>
                              <a:rPr lang="en-IN" b="0" i="1" smtClean="0">
                                <a:latin typeface="Cambria Math" panose="02040503050406030204" pitchFamily="18" charset="0"/>
                              </a:rPr>
                              <m:t>𝑘</m:t>
                            </m:r>
                          </m:den>
                        </m:f>
                      </m:e>
                    </m:d>
                  </m:oMath>
                </a14:m>
                <a:r>
                  <a:rPr lang="en-IN" dirty="0"/>
                  <a:t>= </a:t>
                </a:r>
                <a14:m>
                  <m:oMath xmlns:m="http://schemas.openxmlformats.org/officeDocument/2006/math">
                    <m:d>
                      <m:dPr>
                        <m:begChr m:val="⌈"/>
                        <m:endChr m:val="⌉"/>
                        <m:ctrlPr>
                          <a:rPr lang="en-IN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en-IN" i="1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b="0" i="1" smtClean="0">
                                <a:latin typeface="Cambria Math" panose="02040503050406030204" pitchFamily="18" charset="0"/>
                              </a:rPr>
                              <m:t>9</m:t>
                            </m:r>
                          </m:num>
                          <m:den>
                            <m:r>
                              <a:rPr lang="en-IN" b="0" i="1" smtClean="0">
                                <a:latin typeface="Cambria Math" panose="02040503050406030204" pitchFamily="18" charset="0"/>
                              </a:rPr>
                              <m:t>4</m:t>
                            </m:r>
                          </m:den>
                        </m:f>
                      </m:e>
                    </m:d>
                    <m:r>
                      <a:rPr lang="en-IN" b="0" i="1" smtClean="0">
                        <a:latin typeface="Cambria Math" panose="02040503050406030204" pitchFamily="18" charset="0"/>
                      </a:rPr>
                      <m:t>=3</m:t>
                    </m:r>
                  </m:oMath>
                </a14:m>
                <a:endParaRPr lang="en-IN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7A0E09C-15AB-4355-A5AD-335CA36B6D5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43" t="-2241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5D5F9429-F305-4910-B777-B0F3C90A7E28}"/>
              </a:ext>
            </a:extLst>
          </p:cNvPr>
          <p:cNvCxnSpPr>
            <a:cxnSpLocks/>
          </p:cNvCxnSpPr>
          <p:nvPr/>
        </p:nvCxnSpPr>
        <p:spPr>
          <a:xfrm flipH="1">
            <a:off x="4346196" y="3349951"/>
            <a:ext cx="803246" cy="890428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Title 1">
            <a:extLst>
              <a:ext uri="{FF2B5EF4-FFF2-40B4-BE49-F238E27FC236}">
                <a16:creationId xmlns:a16="http://schemas.microsoft.com/office/drawing/2014/main" id="{03BF47B6-A78F-4148-9DAC-96719D3D658C}"/>
              </a:ext>
            </a:extLst>
          </p:cNvPr>
          <p:cNvSpPr txBox="1">
            <a:spLocks/>
          </p:cNvSpPr>
          <p:nvPr/>
        </p:nvSpPr>
        <p:spPr>
          <a:xfrm>
            <a:off x="5149442" y="2998473"/>
            <a:ext cx="4080016" cy="861054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77500" lnSpcReduction="2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IN" b="1" dirty="0">
                <a:solidFill>
                  <a:srgbClr val="FF0000"/>
                </a:solidFill>
              </a:rPr>
              <a:t>Pigeonhole= 4 shelves</a:t>
            </a:r>
          </a:p>
        </p:txBody>
      </p:sp>
      <p:sp>
        <p:nvSpPr>
          <p:cNvPr id="13" name="Title 1">
            <a:extLst>
              <a:ext uri="{FF2B5EF4-FFF2-40B4-BE49-F238E27FC236}">
                <a16:creationId xmlns:a16="http://schemas.microsoft.com/office/drawing/2014/main" id="{752CC265-B74C-4811-862E-418869C6112A}"/>
              </a:ext>
            </a:extLst>
          </p:cNvPr>
          <p:cNvSpPr txBox="1">
            <a:spLocks/>
          </p:cNvSpPr>
          <p:nvPr/>
        </p:nvSpPr>
        <p:spPr>
          <a:xfrm>
            <a:off x="5149441" y="3994464"/>
            <a:ext cx="4353481" cy="861054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77500" lnSpcReduction="2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IN" b="1" dirty="0">
                <a:solidFill>
                  <a:srgbClr val="FF0000"/>
                </a:solidFill>
              </a:rPr>
              <a:t>Pigeon= no of books (9)</a:t>
            </a:r>
          </a:p>
        </p:txBody>
      </p:sp>
      <p:grpSp>
        <p:nvGrpSpPr>
          <p:cNvPr id="26" name="Group 25">
            <a:extLst>
              <a:ext uri="{FF2B5EF4-FFF2-40B4-BE49-F238E27FC236}">
                <a16:creationId xmlns:a16="http://schemas.microsoft.com/office/drawing/2014/main" id="{34E12688-8C3A-4313-B203-567CE4AE7BE9}"/>
              </a:ext>
            </a:extLst>
          </p:cNvPr>
          <p:cNvGrpSpPr/>
          <p:nvPr/>
        </p:nvGrpSpPr>
        <p:grpSpPr>
          <a:xfrm>
            <a:off x="1584119" y="4261605"/>
            <a:ext cx="2780254" cy="1915353"/>
            <a:chOff x="1584119" y="4261605"/>
            <a:chExt cx="2780254" cy="1915353"/>
          </a:xfrm>
        </p:grpSpPr>
        <p:grpSp>
          <p:nvGrpSpPr>
            <p:cNvPr id="15" name="Group 14">
              <a:extLst>
                <a:ext uri="{FF2B5EF4-FFF2-40B4-BE49-F238E27FC236}">
                  <a16:creationId xmlns:a16="http://schemas.microsoft.com/office/drawing/2014/main" id="{A0BF36F2-39F5-4075-9A48-BEF938DF1F1C}"/>
                </a:ext>
              </a:extLst>
            </p:cNvPr>
            <p:cNvGrpSpPr/>
            <p:nvPr/>
          </p:nvGrpSpPr>
          <p:grpSpPr>
            <a:xfrm>
              <a:off x="1602297" y="4261605"/>
              <a:ext cx="2762076" cy="377507"/>
              <a:chOff x="1602297" y="4261605"/>
              <a:chExt cx="2762076" cy="377507"/>
            </a:xfrm>
          </p:grpSpPr>
          <p:sp>
            <p:nvSpPr>
              <p:cNvPr id="4" name="Rectangle 3">
                <a:extLst>
                  <a:ext uri="{FF2B5EF4-FFF2-40B4-BE49-F238E27FC236}">
                    <a16:creationId xmlns:a16="http://schemas.microsoft.com/office/drawing/2014/main" id="{42E4DB86-D866-40E5-A16E-8698AAF319E6}"/>
                  </a:ext>
                </a:extLst>
              </p:cNvPr>
              <p:cNvSpPr/>
              <p:nvPr/>
            </p:nvSpPr>
            <p:spPr>
              <a:xfrm>
                <a:off x="1602297" y="4261607"/>
                <a:ext cx="427839" cy="377505"/>
              </a:xfrm>
              <a:prstGeom prst="rect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5" name="Rectangle 4">
                <a:extLst>
                  <a:ext uri="{FF2B5EF4-FFF2-40B4-BE49-F238E27FC236}">
                    <a16:creationId xmlns:a16="http://schemas.microsoft.com/office/drawing/2014/main" id="{0838810C-3659-46C2-BDE3-4EB7E5B03482}"/>
                  </a:ext>
                </a:extLst>
              </p:cNvPr>
              <p:cNvSpPr/>
              <p:nvPr/>
            </p:nvSpPr>
            <p:spPr>
              <a:xfrm>
                <a:off x="2330741" y="4261607"/>
                <a:ext cx="427839" cy="377505"/>
              </a:xfrm>
              <a:prstGeom prst="rect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6" name="Rectangle 5">
                <a:extLst>
                  <a:ext uri="{FF2B5EF4-FFF2-40B4-BE49-F238E27FC236}">
                    <a16:creationId xmlns:a16="http://schemas.microsoft.com/office/drawing/2014/main" id="{AE772914-8315-4BCE-A4EE-8EB51A2962E6}"/>
                  </a:ext>
                </a:extLst>
              </p:cNvPr>
              <p:cNvSpPr/>
              <p:nvPr/>
            </p:nvSpPr>
            <p:spPr>
              <a:xfrm>
                <a:off x="3061981" y="4261606"/>
                <a:ext cx="427839" cy="377505"/>
              </a:xfrm>
              <a:prstGeom prst="rect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7" name="Rectangle 6">
                <a:extLst>
                  <a:ext uri="{FF2B5EF4-FFF2-40B4-BE49-F238E27FC236}">
                    <a16:creationId xmlns:a16="http://schemas.microsoft.com/office/drawing/2014/main" id="{7C5D10C4-4F76-4B54-9429-228332A50B19}"/>
                  </a:ext>
                </a:extLst>
              </p:cNvPr>
              <p:cNvSpPr/>
              <p:nvPr/>
            </p:nvSpPr>
            <p:spPr>
              <a:xfrm>
                <a:off x="3936534" y="4261605"/>
                <a:ext cx="427839" cy="377505"/>
              </a:xfrm>
              <a:prstGeom prst="rect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</p:grpSp>
        <p:grpSp>
          <p:nvGrpSpPr>
            <p:cNvPr id="16" name="Group 15">
              <a:extLst>
                <a:ext uri="{FF2B5EF4-FFF2-40B4-BE49-F238E27FC236}">
                  <a16:creationId xmlns:a16="http://schemas.microsoft.com/office/drawing/2014/main" id="{99FE4390-FD9C-4289-BA86-8B9A689E75BE}"/>
                </a:ext>
              </a:extLst>
            </p:cNvPr>
            <p:cNvGrpSpPr/>
            <p:nvPr/>
          </p:nvGrpSpPr>
          <p:grpSpPr>
            <a:xfrm>
              <a:off x="1584120" y="5030527"/>
              <a:ext cx="2762076" cy="377508"/>
              <a:chOff x="1602297" y="4261604"/>
              <a:chExt cx="2762076" cy="377508"/>
            </a:xfrm>
          </p:grpSpPr>
          <p:sp>
            <p:nvSpPr>
              <p:cNvPr id="17" name="Rectangle 16">
                <a:extLst>
                  <a:ext uri="{FF2B5EF4-FFF2-40B4-BE49-F238E27FC236}">
                    <a16:creationId xmlns:a16="http://schemas.microsoft.com/office/drawing/2014/main" id="{893D3CDD-6A3F-4C32-A4B7-3EF5F46DC350}"/>
                  </a:ext>
                </a:extLst>
              </p:cNvPr>
              <p:cNvSpPr/>
              <p:nvPr/>
            </p:nvSpPr>
            <p:spPr>
              <a:xfrm>
                <a:off x="1602297" y="4261607"/>
                <a:ext cx="427839" cy="377505"/>
              </a:xfrm>
              <a:prstGeom prst="rect">
                <a:avLst/>
              </a:prstGeom>
              <a:solidFill>
                <a:schemeClr val="accent2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 dirty="0">
                  <a:highlight>
                    <a:srgbClr val="FF00FF"/>
                  </a:highlight>
                </a:endParaRPr>
              </a:p>
            </p:txBody>
          </p:sp>
          <p:sp>
            <p:nvSpPr>
              <p:cNvPr id="18" name="Rectangle 17">
                <a:extLst>
                  <a:ext uri="{FF2B5EF4-FFF2-40B4-BE49-F238E27FC236}">
                    <a16:creationId xmlns:a16="http://schemas.microsoft.com/office/drawing/2014/main" id="{3200AF04-3CC8-4E0C-B178-FF0163CC3546}"/>
                  </a:ext>
                </a:extLst>
              </p:cNvPr>
              <p:cNvSpPr/>
              <p:nvPr/>
            </p:nvSpPr>
            <p:spPr>
              <a:xfrm>
                <a:off x="2357836" y="4261604"/>
                <a:ext cx="427839" cy="377505"/>
              </a:xfrm>
              <a:prstGeom prst="rect">
                <a:avLst/>
              </a:prstGeom>
              <a:solidFill>
                <a:schemeClr val="accent2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19" name="Rectangle 18">
                <a:extLst>
                  <a:ext uri="{FF2B5EF4-FFF2-40B4-BE49-F238E27FC236}">
                    <a16:creationId xmlns:a16="http://schemas.microsoft.com/office/drawing/2014/main" id="{297C478D-0504-44DB-8A3B-8C4269C33F06}"/>
                  </a:ext>
                </a:extLst>
              </p:cNvPr>
              <p:cNvSpPr/>
              <p:nvPr/>
            </p:nvSpPr>
            <p:spPr>
              <a:xfrm>
                <a:off x="3061981" y="4261606"/>
                <a:ext cx="427839" cy="377505"/>
              </a:xfrm>
              <a:prstGeom prst="rect">
                <a:avLst/>
              </a:prstGeom>
              <a:solidFill>
                <a:schemeClr val="accent2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20" name="Rectangle 19">
                <a:extLst>
                  <a:ext uri="{FF2B5EF4-FFF2-40B4-BE49-F238E27FC236}">
                    <a16:creationId xmlns:a16="http://schemas.microsoft.com/office/drawing/2014/main" id="{2E720855-04C1-4E54-98B6-B1533983787E}"/>
                  </a:ext>
                </a:extLst>
              </p:cNvPr>
              <p:cNvSpPr/>
              <p:nvPr/>
            </p:nvSpPr>
            <p:spPr>
              <a:xfrm>
                <a:off x="3936534" y="4261605"/>
                <a:ext cx="427839" cy="377505"/>
              </a:xfrm>
              <a:prstGeom prst="rect">
                <a:avLst/>
              </a:prstGeom>
              <a:solidFill>
                <a:schemeClr val="accent2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</p:grpSp>
        <p:sp>
          <p:nvSpPr>
            <p:cNvPr id="22" name="Rectangle 21">
              <a:extLst>
                <a:ext uri="{FF2B5EF4-FFF2-40B4-BE49-F238E27FC236}">
                  <a16:creationId xmlns:a16="http://schemas.microsoft.com/office/drawing/2014/main" id="{3CA93405-D256-4332-809E-DB32BFE0682D}"/>
                </a:ext>
              </a:extLst>
            </p:cNvPr>
            <p:cNvSpPr/>
            <p:nvPr/>
          </p:nvSpPr>
          <p:spPr>
            <a:xfrm>
              <a:off x="1584119" y="5799453"/>
              <a:ext cx="427839" cy="377505"/>
            </a:xfrm>
            <a:prstGeom prst="rect">
              <a:avLst/>
            </a:prstGeom>
            <a:solidFill>
              <a:srgbClr val="7030A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dirty="0"/>
            </a:p>
          </p:txBody>
        </p:sp>
      </p:grpSp>
      <p:sp>
        <p:nvSpPr>
          <p:cNvPr id="27" name="Oval 26">
            <a:extLst>
              <a:ext uri="{FF2B5EF4-FFF2-40B4-BE49-F238E27FC236}">
                <a16:creationId xmlns:a16="http://schemas.microsoft.com/office/drawing/2014/main" id="{1EF301E2-7C8A-47D1-8609-A1E3C113E114}"/>
              </a:ext>
            </a:extLst>
          </p:cNvPr>
          <p:cNvSpPr/>
          <p:nvPr/>
        </p:nvSpPr>
        <p:spPr>
          <a:xfrm>
            <a:off x="1358781" y="4084890"/>
            <a:ext cx="940038" cy="2529555"/>
          </a:xfrm>
          <a:prstGeom prst="ellipse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9432328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F232DD-EE48-4DEC-B9DF-35B5F7DDD5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Example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7A0E09C-15AB-4355-A5AD-335CA36B6D5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788820"/>
          </a:xfrm>
        </p:spPr>
        <p:txBody>
          <a:bodyPr/>
          <a:lstStyle/>
          <a:p>
            <a:r>
              <a:rPr lang="en-IN" dirty="0"/>
              <a:t>How many minimum books are to be kept at </a:t>
            </a:r>
            <a:r>
              <a:rPr lang="en-IN" dirty="0">
                <a:solidFill>
                  <a:srgbClr val="FF0000"/>
                </a:solidFill>
              </a:rPr>
              <a:t>4 shelves </a:t>
            </a:r>
            <a:r>
              <a:rPr lang="en-IN" dirty="0"/>
              <a:t>, there must be at least one shelf which contain </a:t>
            </a:r>
            <a:r>
              <a:rPr lang="en-IN" dirty="0">
                <a:solidFill>
                  <a:srgbClr val="FF0000"/>
                </a:solidFill>
              </a:rPr>
              <a:t>at least 3 books</a:t>
            </a:r>
            <a:r>
              <a:rPr lang="en-IN" dirty="0"/>
              <a:t>.</a:t>
            </a:r>
          </a:p>
          <a:p>
            <a:endParaRPr lang="en-IN" dirty="0"/>
          </a:p>
          <a:p>
            <a:endParaRPr lang="en-IN" dirty="0"/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5D5F9429-F305-4910-B777-B0F3C90A7E28}"/>
              </a:ext>
            </a:extLst>
          </p:cNvPr>
          <p:cNvCxnSpPr>
            <a:cxnSpLocks/>
          </p:cNvCxnSpPr>
          <p:nvPr/>
        </p:nvCxnSpPr>
        <p:spPr>
          <a:xfrm flipH="1">
            <a:off x="4346196" y="3349951"/>
            <a:ext cx="803246" cy="890428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Title 1">
            <a:extLst>
              <a:ext uri="{FF2B5EF4-FFF2-40B4-BE49-F238E27FC236}">
                <a16:creationId xmlns:a16="http://schemas.microsoft.com/office/drawing/2014/main" id="{03BF47B6-A78F-4148-9DAC-96719D3D658C}"/>
              </a:ext>
            </a:extLst>
          </p:cNvPr>
          <p:cNvSpPr txBox="1">
            <a:spLocks/>
          </p:cNvSpPr>
          <p:nvPr/>
        </p:nvSpPr>
        <p:spPr>
          <a:xfrm>
            <a:off x="5149442" y="2998473"/>
            <a:ext cx="4080016" cy="861054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77500" lnSpcReduction="2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IN" b="1" dirty="0">
                <a:solidFill>
                  <a:srgbClr val="FF0000"/>
                </a:solidFill>
              </a:rPr>
              <a:t>Pigeonhole= 4 shelves</a:t>
            </a:r>
          </a:p>
        </p:txBody>
      </p:sp>
      <p:sp>
        <p:nvSpPr>
          <p:cNvPr id="13" name="Title 1">
            <a:extLst>
              <a:ext uri="{FF2B5EF4-FFF2-40B4-BE49-F238E27FC236}">
                <a16:creationId xmlns:a16="http://schemas.microsoft.com/office/drawing/2014/main" id="{752CC265-B74C-4811-862E-418869C6112A}"/>
              </a:ext>
            </a:extLst>
          </p:cNvPr>
          <p:cNvSpPr txBox="1">
            <a:spLocks/>
          </p:cNvSpPr>
          <p:nvPr/>
        </p:nvSpPr>
        <p:spPr>
          <a:xfrm>
            <a:off x="5149441" y="3994464"/>
            <a:ext cx="4353481" cy="861054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77500" lnSpcReduction="2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IN" b="1" dirty="0">
                <a:solidFill>
                  <a:srgbClr val="FF0000"/>
                </a:solidFill>
              </a:rPr>
              <a:t>Pigeon= no of books ?)</a:t>
            </a:r>
          </a:p>
        </p:txBody>
      </p:sp>
      <p:grpSp>
        <p:nvGrpSpPr>
          <p:cNvPr id="26" name="Group 25">
            <a:extLst>
              <a:ext uri="{FF2B5EF4-FFF2-40B4-BE49-F238E27FC236}">
                <a16:creationId xmlns:a16="http://schemas.microsoft.com/office/drawing/2014/main" id="{34E12688-8C3A-4313-B203-567CE4AE7BE9}"/>
              </a:ext>
            </a:extLst>
          </p:cNvPr>
          <p:cNvGrpSpPr/>
          <p:nvPr/>
        </p:nvGrpSpPr>
        <p:grpSpPr>
          <a:xfrm>
            <a:off x="1584119" y="4261605"/>
            <a:ext cx="2780254" cy="1915353"/>
            <a:chOff x="1584119" y="4261605"/>
            <a:chExt cx="2780254" cy="1915353"/>
          </a:xfrm>
        </p:grpSpPr>
        <p:grpSp>
          <p:nvGrpSpPr>
            <p:cNvPr id="15" name="Group 14">
              <a:extLst>
                <a:ext uri="{FF2B5EF4-FFF2-40B4-BE49-F238E27FC236}">
                  <a16:creationId xmlns:a16="http://schemas.microsoft.com/office/drawing/2014/main" id="{A0BF36F2-39F5-4075-9A48-BEF938DF1F1C}"/>
                </a:ext>
              </a:extLst>
            </p:cNvPr>
            <p:cNvGrpSpPr/>
            <p:nvPr/>
          </p:nvGrpSpPr>
          <p:grpSpPr>
            <a:xfrm>
              <a:off x="1602297" y="4261605"/>
              <a:ext cx="2762076" cy="377507"/>
              <a:chOff x="1602297" y="4261605"/>
              <a:chExt cx="2762076" cy="377507"/>
            </a:xfrm>
          </p:grpSpPr>
          <p:sp>
            <p:nvSpPr>
              <p:cNvPr id="4" name="Rectangle 3">
                <a:extLst>
                  <a:ext uri="{FF2B5EF4-FFF2-40B4-BE49-F238E27FC236}">
                    <a16:creationId xmlns:a16="http://schemas.microsoft.com/office/drawing/2014/main" id="{42E4DB86-D866-40E5-A16E-8698AAF319E6}"/>
                  </a:ext>
                </a:extLst>
              </p:cNvPr>
              <p:cNvSpPr/>
              <p:nvPr/>
            </p:nvSpPr>
            <p:spPr>
              <a:xfrm>
                <a:off x="1602297" y="4261607"/>
                <a:ext cx="427839" cy="377505"/>
              </a:xfrm>
              <a:prstGeom prst="rect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5" name="Rectangle 4">
                <a:extLst>
                  <a:ext uri="{FF2B5EF4-FFF2-40B4-BE49-F238E27FC236}">
                    <a16:creationId xmlns:a16="http://schemas.microsoft.com/office/drawing/2014/main" id="{0838810C-3659-46C2-BDE3-4EB7E5B03482}"/>
                  </a:ext>
                </a:extLst>
              </p:cNvPr>
              <p:cNvSpPr/>
              <p:nvPr/>
            </p:nvSpPr>
            <p:spPr>
              <a:xfrm>
                <a:off x="2330741" y="4261607"/>
                <a:ext cx="427839" cy="377505"/>
              </a:xfrm>
              <a:prstGeom prst="rect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6" name="Rectangle 5">
                <a:extLst>
                  <a:ext uri="{FF2B5EF4-FFF2-40B4-BE49-F238E27FC236}">
                    <a16:creationId xmlns:a16="http://schemas.microsoft.com/office/drawing/2014/main" id="{AE772914-8315-4BCE-A4EE-8EB51A2962E6}"/>
                  </a:ext>
                </a:extLst>
              </p:cNvPr>
              <p:cNvSpPr/>
              <p:nvPr/>
            </p:nvSpPr>
            <p:spPr>
              <a:xfrm>
                <a:off x="3061981" y="4261606"/>
                <a:ext cx="427839" cy="377505"/>
              </a:xfrm>
              <a:prstGeom prst="rect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7" name="Rectangle 6">
                <a:extLst>
                  <a:ext uri="{FF2B5EF4-FFF2-40B4-BE49-F238E27FC236}">
                    <a16:creationId xmlns:a16="http://schemas.microsoft.com/office/drawing/2014/main" id="{7C5D10C4-4F76-4B54-9429-228332A50B19}"/>
                  </a:ext>
                </a:extLst>
              </p:cNvPr>
              <p:cNvSpPr/>
              <p:nvPr/>
            </p:nvSpPr>
            <p:spPr>
              <a:xfrm>
                <a:off x="3936534" y="4261605"/>
                <a:ext cx="427839" cy="377505"/>
              </a:xfrm>
              <a:prstGeom prst="rect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</p:grpSp>
        <p:grpSp>
          <p:nvGrpSpPr>
            <p:cNvPr id="16" name="Group 15">
              <a:extLst>
                <a:ext uri="{FF2B5EF4-FFF2-40B4-BE49-F238E27FC236}">
                  <a16:creationId xmlns:a16="http://schemas.microsoft.com/office/drawing/2014/main" id="{99FE4390-FD9C-4289-BA86-8B9A689E75BE}"/>
                </a:ext>
              </a:extLst>
            </p:cNvPr>
            <p:cNvGrpSpPr/>
            <p:nvPr/>
          </p:nvGrpSpPr>
          <p:grpSpPr>
            <a:xfrm>
              <a:off x="1584120" y="5030527"/>
              <a:ext cx="2762076" cy="377508"/>
              <a:chOff x="1602297" y="4261604"/>
              <a:chExt cx="2762076" cy="377508"/>
            </a:xfrm>
          </p:grpSpPr>
          <p:sp>
            <p:nvSpPr>
              <p:cNvPr id="17" name="Rectangle 16">
                <a:extLst>
                  <a:ext uri="{FF2B5EF4-FFF2-40B4-BE49-F238E27FC236}">
                    <a16:creationId xmlns:a16="http://schemas.microsoft.com/office/drawing/2014/main" id="{893D3CDD-6A3F-4C32-A4B7-3EF5F46DC350}"/>
                  </a:ext>
                </a:extLst>
              </p:cNvPr>
              <p:cNvSpPr/>
              <p:nvPr/>
            </p:nvSpPr>
            <p:spPr>
              <a:xfrm>
                <a:off x="1602297" y="4261607"/>
                <a:ext cx="427839" cy="377505"/>
              </a:xfrm>
              <a:prstGeom prst="rect">
                <a:avLst/>
              </a:prstGeom>
              <a:solidFill>
                <a:schemeClr val="accent2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 dirty="0">
                  <a:highlight>
                    <a:srgbClr val="FF00FF"/>
                  </a:highlight>
                </a:endParaRPr>
              </a:p>
            </p:txBody>
          </p:sp>
          <p:sp>
            <p:nvSpPr>
              <p:cNvPr id="18" name="Rectangle 17">
                <a:extLst>
                  <a:ext uri="{FF2B5EF4-FFF2-40B4-BE49-F238E27FC236}">
                    <a16:creationId xmlns:a16="http://schemas.microsoft.com/office/drawing/2014/main" id="{3200AF04-3CC8-4E0C-B178-FF0163CC3546}"/>
                  </a:ext>
                </a:extLst>
              </p:cNvPr>
              <p:cNvSpPr/>
              <p:nvPr/>
            </p:nvSpPr>
            <p:spPr>
              <a:xfrm>
                <a:off x="2357836" y="4261604"/>
                <a:ext cx="427839" cy="377505"/>
              </a:xfrm>
              <a:prstGeom prst="rect">
                <a:avLst/>
              </a:prstGeom>
              <a:solidFill>
                <a:schemeClr val="accent2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19" name="Rectangle 18">
                <a:extLst>
                  <a:ext uri="{FF2B5EF4-FFF2-40B4-BE49-F238E27FC236}">
                    <a16:creationId xmlns:a16="http://schemas.microsoft.com/office/drawing/2014/main" id="{297C478D-0504-44DB-8A3B-8C4269C33F06}"/>
                  </a:ext>
                </a:extLst>
              </p:cNvPr>
              <p:cNvSpPr/>
              <p:nvPr/>
            </p:nvSpPr>
            <p:spPr>
              <a:xfrm>
                <a:off x="3061981" y="4261606"/>
                <a:ext cx="427839" cy="377505"/>
              </a:xfrm>
              <a:prstGeom prst="rect">
                <a:avLst/>
              </a:prstGeom>
              <a:solidFill>
                <a:schemeClr val="accent2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20" name="Rectangle 19">
                <a:extLst>
                  <a:ext uri="{FF2B5EF4-FFF2-40B4-BE49-F238E27FC236}">
                    <a16:creationId xmlns:a16="http://schemas.microsoft.com/office/drawing/2014/main" id="{2E720855-04C1-4E54-98B6-B1533983787E}"/>
                  </a:ext>
                </a:extLst>
              </p:cNvPr>
              <p:cNvSpPr/>
              <p:nvPr/>
            </p:nvSpPr>
            <p:spPr>
              <a:xfrm>
                <a:off x="3936534" y="4261605"/>
                <a:ext cx="427839" cy="377505"/>
              </a:xfrm>
              <a:prstGeom prst="rect">
                <a:avLst/>
              </a:prstGeom>
              <a:solidFill>
                <a:schemeClr val="accent2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</p:grpSp>
        <p:sp>
          <p:nvSpPr>
            <p:cNvPr id="22" name="Rectangle 21">
              <a:extLst>
                <a:ext uri="{FF2B5EF4-FFF2-40B4-BE49-F238E27FC236}">
                  <a16:creationId xmlns:a16="http://schemas.microsoft.com/office/drawing/2014/main" id="{3CA93405-D256-4332-809E-DB32BFE0682D}"/>
                </a:ext>
              </a:extLst>
            </p:cNvPr>
            <p:cNvSpPr/>
            <p:nvPr/>
          </p:nvSpPr>
          <p:spPr>
            <a:xfrm>
              <a:off x="1584119" y="5799453"/>
              <a:ext cx="427839" cy="377505"/>
            </a:xfrm>
            <a:prstGeom prst="rect">
              <a:avLst/>
            </a:prstGeom>
            <a:solidFill>
              <a:srgbClr val="7030A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dirty="0"/>
            </a:p>
          </p:txBody>
        </p:sp>
      </p:grpSp>
      <p:sp>
        <p:nvSpPr>
          <p:cNvPr id="27" name="Oval 26">
            <a:extLst>
              <a:ext uri="{FF2B5EF4-FFF2-40B4-BE49-F238E27FC236}">
                <a16:creationId xmlns:a16="http://schemas.microsoft.com/office/drawing/2014/main" id="{1EF301E2-7C8A-47D1-8609-A1E3C113E114}"/>
              </a:ext>
            </a:extLst>
          </p:cNvPr>
          <p:cNvSpPr/>
          <p:nvPr/>
        </p:nvSpPr>
        <p:spPr>
          <a:xfrm>
            <a:off x="1358781" y="4084890"/>
            <a:ext cx="940038" cy="2529555"/>
          </a:xfrm>
          <a:prstGeom prst="ellipse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278032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C3137E-5C6E-49D7-8973-043E9A2740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92279"/>
            <a:ext cx="10515600" cy="1325563"/>
          </a:xfrm>
        </p:spPr>
        <p:txBody>
          <a:bodyPr/>
          <a:lstStyle/>
          <a:p>
            <a:r>
              <a:rPr lang="en-US" sz="4400" b="1" i="0" u="none" strike="noStrike" baseline="0" dirty="0">
                <a:latin typeface="Times-Bold"/>
              </a:rPr>
              <a:t>Extended Pigeonhole Principle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4BD19B8-7252-4DEB-BF8B-F99624D4A57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22092"/>
            <a:ext cx="10515600" cy="4351338"/>
          </a:xfrm>
        </p:spPr>
        <p:txBody>
          <a:bodyPr>
            <a:normAutofit/>
          </a:bodyPr>
          <a:lstStyle/>
          <a:p>
            <a:pPr algn="just"/>
            <a:r>
              <a:rPr lang="en-US" sz="3200" b="0" i="0" u="none" strike="noStrike" baseline="0" dirty="0">
                <a:latin typeface="Times-Roman"/>
              </a:rPr>
              <a:t>If </a:t>
            </a:r>
            <a:r>
              <a:rPr lang="en-US" sz="3200" b="0" i="1" u="none" strike="noStrike" baseline="0" dirty="0">
                <a:latin typeface="Times-Italic"/>
              </a:rPr>
              <a:t>n </a:t>
            </a:r>
            <a:r>
              <a:rPr lang="en-US" sz="3200" b="0" i="0" u="none" strike="noStrike" baseline="0" dirty="0">
                <a:latin typeface="Times-Roman"/>
              </a:rPr>
              <a:t>pigeonholes are occupied by </a:t>
            </a:r>
            <a:r>
              <a:rPr lang="en-US" sz="3200" b="0" i="1" u="none" strike="noStrike" baseline="0" dirty="0" err="1">
                <a:latin typeface="Times-Italic"/>
              </a:rPr>
              <a:t>kn</a:t>
            </a:r>
            <a:r>
              <a:rPr lang="en-US" sz="3200" b="0" i="1" u="none" strike="noStrike" baseline="0" dirty="0">
                <a:latin typeface="Times-Italic"/>
              </a:rPr>
              <a:t> </a:t>
            </a:r>
            <a:r>
              <a:rPr lang="en-US" sz="3200" b="0" i="0" u="none" strike="noStrike" baseline="0" dirty="0">
                <a:latin typeface="MTSYN"/>
              </a:rPr>
              <a:t>+ </a:t>
            </a:r>
            <a:r>
              <a:rPr lang="en-US" sz="3200" b="0" i="0" u="none" strike="noStrike" baseline="0" dirty="0">
                <a:latin typeface="Times-Roman"/>
              </a:rPr>
              <a:t>1 or more pigeons, where </a:t>
            </a:r>
            <a:r>
              <a:rPr lang="en-US" sz="3200" b="0" i="1" u="none" strike="noStrike" baseline="0" dirty="0">
                <a:latin typeface="Times-Italic"/>
              </a:rPr>
              <a:t>k </a:t>
            </a:r>
            <a:r>
              <a:rPr lang="en-US" sz="3200" b="0" i="0" u="none" strike="noStrike" baseline="0" dirty="0">
                <a:latin typeface="Times-Roman"/>
              </a:rPr>
              <a:t>is a positive integer, then at least one pigeonhole is occupied by </a:t>
            </a:r>
            <a:r>
              <a:rPr lang="en-US" sz="3200" b="0" i="1" u="none" strike="noStrike" baseline="0" dirty="0">
                <a:latin typeface="MTMI"/>
              </a:rPr>
              <a:t>k </a:t>
            </a:r>
            <a:r>
              <a:rPr lang="en-US" sz="3200" b="0" i="0" u="none" strike="noStrike" baseline="0" dirty="0">
                <a:latin typeface="MTSYN"/>
              </a:rPr>
              <a:t>+ </a:t>
            </a:r>
            <a:r>
              <a:rPr lang="en-US" sz="3200" b="0" i="0" u="none" strike="noStrike" baseline="0" dirty="0">
                <a:latin typeface="Times-Roman"/>
              </a:rPr>
              <a:t>1 or more pigeons.</a:t>
            </a:r>
          </a:p>
          <a:p>
            <a:pPr algn="just"/>
            <a:r>
              <a:rPr lang="en-US" sz="3200" b="1" dirty="0">
                <a:latin typeface="Times-Roman"/>
              </a:rPr>
              <a:t>exp</a:t>
            </a:r>
            <a:endParaRPr lang="en-US" sz="3200" b="1" i="0" u="none" strike="noStrike" baseline="0" dirty="0">
              <a:latin typeface="Times-Roman"/>
            </a:endParaRPr>
          </a:p>
          <a:p>
            <a:pPr algn="just"/>
            <a:r>
              <a:rPr lang="en-US" sz="3200" dirty="0">
                <a:latin typeface="Times-Roman"/>
              </a:rPr>
              <a:t>n=3, k=2, kn+1=7 (</a:t>
            </a:r>
            <a:r>
              <a:rPr lang="en-US" sz="3200" dirty="0">
                <a:solidFill>
                  <a:srgbClr val="FF0000"/>
                </a:solidFill>
                <a:latin typeface="Times-Roman"/>
              </a:rPr>
              <a:t>pigeons</a:t>
            </a:r>
            <a:r>
              <a:rPr lang="en-US" sz="3200" dirty="0">
                <a:latin typeface="Times-Roman"/>
              </a:rPr>
              <a:t>)</a:t>
            </a:r>
          </a:p>
          <a:p>
            <a:pPr algn="just"/>
            <a:r>
              <a:rPr lang="en-US" sz="3200" dirty="0">
                <a:latin typeface="Times-Roman"/>
              </a:rPr>
              <a:t>Then at least in one pigeonhole </a:t>
            </a:r>
            <a:r>
              <a:rPr lang="en-US" sz="3200" b="1" dirty="0">
                <a:latin typeface="Times-Roman"/>
              </a:rPr>
              <a:t>k+1=3</a:t>
            </a:r>
            <a:r>
              <a:rPr lang="en-US" sz="3200" dirty="0">
                <a:latin typeface="Times-Roman"/>
              </a:rPr>
              <a:t>, pigeon should be there.</a:t>
            </a:r>
          </a:p>
          <a:p>
            <a:pPr algn="just"/>
            <a:endParaRPr lang="en-IN" sz="4400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3DCD9E48-DA2B-40FC-AF1C-637105C9406E}"/>
              </a:ext>
            </a:extLst>
          </p:cNvPr>
          <p:cNvSpPr/>
          <p:nvPr/>
        </p:nvSpPr>
        <p:spPr>
          <a:xfrm>
            <a:off x="927682" y="5254301"/>
            <a:ext cx="427839" cy="37750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1D663D83-96D1-4206-BBB8-65A0CED2C815}"/>
              </a:ext>
            </a:extLst>
          </p:cNvPr>
          <p:cNvSpPr/>
          <p:nvPr/>
        </p:nvSpPr>
        <p:spPr>
          <a:xfrm>
            <a:off x="1727782" y="5232782"/>
            <a:ext cx="427839" cy="37750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656731F0-B3E9-4C83-A621-860A23FF3B62}"/>
              </a:ext>
            </a:extLst>
          </p:cNvPr>
          <p:cNvSpPr/>
          <p:nvPr/>
        </p:nvSpPr>
        <p:spPr>
          <a:xfrm>
            <a:off x="2527882" y="5252356"/>
            <a:ext cx="427839" cy="37750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FDD42E3E-419C-41FF-8D64-DC9F3C40238C}"/>
              </a:ext>
            </a:extLst>
          </p:cNvPr>
          <p:cNvSpPr/>
          <p:nvPr/>
        </p:nvSpPr>
        <p:spPr>
          <a:xfrm>
            <a:off x="952150" y="5876095"/>
            <a:ext cx="427839" cy="37750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97FCE208-98E7-4F61-9621-552B13028E9F}"/>
              </a:ext>
            </a:extLst>
          </p:cNvPr>
          <p:cNvSpPr/>
          <p:nvPr/>
        </p:nvSpPr>
        <p:spPr>
          <a:xfrm>
            <a:off x="2527882" y="5873430"/>
            <a:ext cx="427839" cy="37750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BBE9664D-7C35-42F1-8495-8390451E99DC}"/>
              </a:ext>
            </a:extLst>
          </p:cNvPr>
          <p:cNvSpPr/>
          <p:nvPr/>
        </p:nvSpPr>
        <p:spPr>
          <a:xfrm>
            <a:off x="1727781" y="5873430"/>
            <a:ext cx="427839" cy="37750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6C1438B4-7487-4ECB-B5CC-3EFDABB2CA67}"/>
              </a:ext>
            </a:extLst>
          </p:cNvPr>
          <p:cNvSpPr/>
          <p:nvPr/>
        </p:nvSpPr>
        <p:spPr>
          <a:xfrm>
            <a:off x="956344" y="6388216"/>
            <a:ext cx="427839" cy="37750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64415CC6-8CDE-48DA-9EF3-FD30B70C2A63}"/>
              </a:ext>
            </a:extLst>
          </p:cNvPr>
          <p:cNvSpPr/>
          <p:nvPr/>
        </p:nvSpPr>
        <p:spPr>
          <a:xfrm>
            <a:off x="763747" y="4957894"/>
            <a:ext cx="755708" cy="1900106"/>
          </a:xfrm>
          <a:prstGeom prst="ellipse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5957453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C0375C-3FE8-4F63-BD23-CCEC09E3C7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Example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43F3551-1AAE-4511-8EBA-59EA28542D8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/>
            <a:r>
              <a:rPr lang="en-US" b="1" i="0" u="none" strike="noStrike" baseline="0" dirty="0">
                <a:latin typeface="Times-Roman"/>
              </a:rPr>
              <a:t>Find the minimum number of students in a class to be sure that </a:t>
            </a:r>
            <a:r>
              <a:rPr lang="en-US" b="1" i="0" u="none" strike="noStrike" baseline="0" dirty="0">
                <a:solidFill>
                  <a:srgbClr val="FF0000"/>
                </a:solidFill>
                <a:latin typeface="Times-Roman"/>
              </a:rPr>
              <a:t>3 of </a:t>
            </a:r>
            <a:r>
              <a:rPr lang="en-US" b="1" i="0" u="none" strike="noStrike" baseline="0" dirty="0">
                <a:latin typeface="Times-Roman"/>
              </a:rPr>
              <a:t>them are born in the </a:t>
            </a:r>
            <a:r>
              <a:rPr lang="en-IN" b="1" i="0" u="none" strike="noStrike" baseline="0" dirty="0">
                <a:solidFill>
                  <a:srgbClr val="FF0000"/>
                </a:solidFill>
                <a:latin typeface="Times-Roman"/>
              </a:rPr>
              <a:t>same month</a:t>
            </a:r>
            <a:r>
              <a:rPr lang="en-IN" b="1" i="0" u="none" strike="noStrike" baseline="0" dirty="0">
                <a:latin typeface="Times-Roman"/>
              </a:rPr>
              <a:t>.</a:t>
            </a:r>
          </a:p>
          <a:p>
            <a:pPr marL="0" indent="0" algn="just">
              <a:buNone/>
            </a:pPr>
            <a:endParaRPr lang="en-IN" b="0" i="0" u="none" strike="noStrike" baseline="0" dirty="0">
              <a:latin typeface="Times-Roman"/>
            </a:endParaRPr>
          </a:p>
          <a:p>
            <a:pPr algn="just"/>
            <a:r>
              <a:rPr lang="en-US" b="0" i="0" u="none" strike="noStrike" baseline="0" dirty="0">
                <a:latin typeface="Times-Roman"/>
              </a:rPr>
              <a:t>Here the </a:t>
            </a:r>
            <a:r>
              <a:rPr lang="en-US" b="0" i="1" u="none" strike="noStrike" baseline="0" dirty="0">
                <a:latin typeface="MTMI"/>
              </a:rPr>
              <a:t>n </a:t>
            </a:r>
            <a:r>
              <a:rPr lang="en-US" b="0" i="0" u="none" strike="noStrike" baseline="0" dirty="0">
                <a:latin typeface="MTSYN"/>
              </a:rPr>
              <a:t>= </a:t>
            </a:r>
            <a:r>
              <a:rPr lang="en-US" b="0" i="0" u="none" strike="noStrike" baseline="0" dirty="0">
                <a:latin typeface="Times-Roman"/>
              </a:rPr>
              <a:t>12 months (pigeonholes) </a:t>
            </a:r>
          </a:p>
          <a:p>
            <a:pPr algn="just"/>
            <a:r>
              <a:rPr lang="en-US" b="0" i="1" u="none" strike="noStrike" baseline="0" dirty="0">
                <a:latin typeface="MTMI"/>
              </a:rPr>
              <a:t>k </a:t>
            </a:r>
            <a:r>
              <a:rPr lang="en-US" b="0" i="0" u="none" strike="noStrike" baseline="0" dirty="0">
                <a:latin typeface="MTSYN"/>
              </a:rPr>
              <a:t>+ </a:t>
            </a:r>
            <a:r>
              <a:rPr lang="en-US" b="0" i="0" u="none" strike="noStrike" baseline="0" dirty="0">
                <a:latin typeface="Times-Roman"/>
              </a:rPr>
              <a:t>1 </a:t>
            </a:r>
            <a:r>
              <a:rPr lang="en-US" b="0" i="0" u="none" strike="noStrike" baseline="0" dirty="0">
                <a:latin typeface="MTSYN"/>
              </a:rPr>
              <a:t>= </a:t>
            </a:r>
            <a:r>
              <a:rPr lang="en-US" b="0" i="0" u="none" strike="noStrike" baseline="0" dirty="0">
                <a:latin typeface="Times-Roman"/>
              </a:rPr>
              <a:t>3 so </a:t>
            </a:r>
            <a:r>
              <a:rPr lang="en-US" b="0" i="1" u="none" strike="noStrike" baseline="0" dirty="0">
                <a:latin typeface="MTMI"/>
              </a:rPr>
              <a:t>k </a:t>
            </a:r>
            <a:r>
              <a:rPr lang="en-US" b="0" i="0" u="none" strike="noStrike" baseline="0" dirty="0">
                <a:latin typeface="MTSYN"/>
              </a:rPr>
              <a:t>= </a:t>
            </a:r>
            <a:r>
              <a:rPr lang="en-US" b="0" i="0" u="none" strike="noStrike" baseline="0" dirty="0">
                <a:latin typeface="Times-Roman"/>
              </a:rPr>
              <a:t>2</a:t>
            </a:r>
            <a:r>
              <a:rPr lang="en-US" dirty="0">
                <a:latin typeface="Times-Roman"/>
              </a:rPr>
              <a:t>   </a:t>
            </a:r>
            <a:endParaRPr lang="en-US" b="0" i="0" u="none" strike="noStrike" baseline="0" dirty="0">
              <a:latin typeface="Times-Roman"/>
            </a:endParaRPr>
          </a:p>
          <a:p>
            <a:pPr algn="just"/>
            <a:r>
              <a:rPr lang="en-US" b="0" i="0" u="none" strike="noStrike" baseline="0" dirty="0">
                <a:latin typeface="Times-Roman"/>
              </a:rPr>
              <a:t>Hence,  </a:t>
            </a:r>
            <a:r>
              <a:rPr lang="en-US" b="0" i="1" u="none" strike="noStrike" baseline="0" dirty="0" err="1">
                <a:latin typeface="Times-Italic"/>
              </a:rPr>
              <a:t>kn</a:t>
            </a:r>
            <a:r>
              <a:rPr lang="en-US" b="0" i="1" u="none" strike="noStrike" baseline="0" dirty="0">
                <a:latin typeface="Times-Italic"/>
              </a:rPr>
              <a:t> </a:t>
            </a:r>
            <a:r>
              <a:rPr lang="en-US" b="0" i="0" u="none" strike="noStrike" baseline="0" dirty="0">
                <a:latin typeface="MTSYN"/>
              </a:rPr>
              <a:t>+ </a:t>
            </a:r>
            <a:r>
              <a:rPr lang="en-US" b="0" i="0" u="none" strike="noStrike" baseline="0" dirty="0">
                <a:latin typeface="Times-Roman"/>
              </a:rPr>
              <a:t>1 </a:t>
            </a:r>
            <a:r>
              <a:rPr lang="en-US" b="0" i="0" u="none" strike="noStrike" baseline="0" dirty="0">
                <a:latin typeface="MTSYN"/>
              </a:rPr>
              <a:t>= 2.12+1</a:t>
            </a:r>
          </a:p>
          <a:p>
            <a:pPr algn="just"/>
            <a:r>
              <a:rPr lang="en-US" b="0" i="0" u="none" strike="noStrike" baseline="0" dirty="0">
                <a:latin typeface="MTSYN"/>
              </a:rPr>
              <a:t>                          =</a:t>
            </a:r>
            <a:r>
              <a:rPr lang="en-US" b="0" i="0" u="none" strike="noStrike" baseline="0" dirty="0">
                <a:latin typeface="Times-Roman"/>
              </a:rPr>
              <a:t>25 students (pigeons) </a:t>
            </a:r>
          </a:p>
          <a:p>
            <a:pPr algn="just"/>
            <a:r>
              <a:rPr lang="en-US" dirty="0">
                <a:latin typeface="Times-Roman"/>
              </a:rPr>
              <a:t>Minimum students in class is 25 for t</a:t>
            </a:r>
            <a:r>
              <a:rPr lang="en-US" b="0" i="0" u="none" strike="noStrike" baseline="0" dirty="0">
                <a:latin typeface="Times-Roman"/>
              </a:rPr>
              <a:t>hree of them born in the same month.</a:t>
            </a:r>
            <a:endParaRPr lang="en-IN" sz="4000" dirty="0"/>
          </a:p>
        </p:txBody>
      </p:sp>
    </p:spTree>
    <p:extLst>
      <p:ext uri="{BB962C8B-B14F-4D97-AF65-F5344CB8AC3E}">
        <p14:creationId xmlns:p14="http://schemas.microsoft.com/office/powerpoint/2010/main" val="83911558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6818F2-2B4E-4839-9A02-C45DA6FE6B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Example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6A2B414-9CEC-41D4-B926-37DC8212C4E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IN" dirty="0"/>
              <a:t>What is the minimum number of students required in a class to be sure that at least 6 of them will receive the same grade , if there are 5 possible grades A,B,C,D and F</a:t>
            </a:r>
          </a:p>
          <a:p>
            <a:endParaRPr lang="en-IN" dirty="0"/>
          </a:p>
          <a:p>
            <a:r>
              <a:rPr lang="en-IN" dirty="0"/>
              <a:t>  n=5 (pigeonholes)</a:t>
            </a:r>
          </a:p>
          <a:p>
            <a:r>
              <a:rPr lang="en-IN" dirty="0"/>
              <a:t>  K+1=6 (at least)</a:t>
            </a:r>
          </a:p>
          <a:p>
            <a:r>
              <a:rPr lang="en-IN" dirty="0"/>
              <a:t> =&gt; k=5</a:t>
            </a:r>
          </a:p>
          <a:p>
            <a:r>
              <a:rPr lang="en-IN" dirty="0"/>
              <a:t>  Minimum requirement,  K.n+1=5.5+1</a:t>
            </a:r>
          </a:p>
          <a:p>
            <a:r>
              <a:rPr lang="en-IN" dirty="0"/>
              <a:t>                                                        =26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87200665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B70AE0-0661-47D3-9F56-2F4A59C0F7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558153"/>
          </a:xfrm>
        </p:spPr>
        <p:txBody>
          <a:bodyPr>
            <a:normAutofit fontScale="90000"/>
          </a:bodyPr>
          <a:lstStyle/>
          <a:p>
            <a:r>
              <a:rPr lang="en-IN" dirty="0"/>
              <a:t>  </a:t>
            </a:r>
            <a:r>
              <a:rPr lang="en-IN" b="1" dirty="0"/>
              <a:t>Example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C7DE35C-028B-42BD-AE86-6E9BB59AD3C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269507"/>
            <a:ext cx="10515600" cy="4907456"/>
          </a:xfrm>
        </p:spPr>
        <p:txBody>
          <a:bodyPr>
            <a:normAutofit/>
          </a:bodyPr>
          <a:lstStyle/>
          <a:p>
            <a:r>
              <a:rPr lang="en-IN" dirty="0"/>
              <a:t>Find the minimum number of students in a class to be sure that 4 out of them are born in the same month.</a:t>
            </a:r>
          </a:p>
          <a:p>
            <a:endParaRPr lang="en-IN" dirty="0"/>
          </a:p>
          <a:p>
            <a:r>
              <a:rPr lang="en-IN" dirty="0"/>
              <a:t>  n=12 (pigeonholes)</a:t>
            </a:r>
          </a:p>
          <a:p>
            <a:r>
              <a:rPr lang="en-IN" dirty="0"/>
              <a:t>  K+1=4 </a:t>
            </a:r>
          </a:p>
          <a:p>
            <a:r>
              <a:rPr lang="en-IN" dirty="0"/>
              <a:t> =&gt; k=3</a:t>
            </a:r>
          </a:p>
          <a:p>
            <a:r>
              <a:rPr lang="en-IN" dirty="0"/>
              <a:t>  Minimum requirement,  K.n+1=3.12+1</a:t>
            </a:r>
          </a:p>
          <a:p>
            <a:r>
              <a:rPr lang="en-IN" dirty="0"/>
              <a:t>                                                        =37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9359967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B70AE0-0661-47D3-9F56-2F4A59C0F7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558153"/>
          </a:xfrm>
        </p:spPr>
        <p:txBody>
          <a:bodyPr>
            <a:normAutofit fontScale="90000"/>
          </a:bodyPr>
          <a:lstStyle/>
          <a:p>
            <a:r>
              <a:rPr lang="en-IN" dirty="0"/>
              <a:t>  </a:t>
            </a:r>
            <a:r>
              <a:rPr lang="en-IN" b="1" dirty="0"/>
              <a:t>Example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C7DE35C-028B-42BD-AE86-6E9BB59AD3C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269507"/>
            <a:ext cx="10515600" cy="4907456"/>
          </a:xfrm>
        </p:spPr>
        <p:txBody>
          <a:bodyPr>
            <a:normAutofit/>
          </a:bodyPr>
          <a:lstStyle/>
          <a:p>
            <a:r>
              <a:rPr lang="en-IN" dirty="0"/>
              <a:t>Minimum card must be selected from a standard deck of 52 cards to guarantee that at least </a:t>
            </a:r>
            <a:r>
              <a:rPr lang="en-IN" dirty="0">
                <a:solidFill>
                  <a:srgbClr val="FF0000"/>
                </a:solidFill>
              </a:rPr>
              <a:t>three cards </a:t>
            </a:r>
            <a:r>
              <a:rPr lang="en-IN" dirty="0"/>
              <a:t>of the same </a:t>
            </a:r>
            <a:r>
              <a:rPr lang="en-IN" dirty="0">
                <a:solidFill>
                  <a:srgbClr val="FF0000"/>
                </a:solidFill>
              </a:rPr>
              <a:t>suit are chosen</a:t>
            </a:r>
            <a:r>
              <a:rPr lang="en-IN" dirty="0"/>
              <a:t>?</a:t>
            </a:r>
          </a:p>
          <a:p>
            <a:endParaRPr lang="en-IN" dirty="0"/>
          </a:p>
          <a:p>
            <a:endParaRPr lang="en-IN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7F72B7C-2A09-4167-967B-7DE7CB1A0DA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58818" y="2419140"/>
            <a:ext cx="3907401" cy="260819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2F9C64CD-068E-4CBA-B6D2-DE4D14D658F4}"/>
              </a:ext>
            </a:extLst>
          </p:cNvPr>
          <p:cNvSpPr txBox="1"/>
          <p:nvPr/>
        </p:nvSpPr>
        <p:spPr>
          <a:xfrm>
            <a:off x="5947794" y="2348917"/>
            <a:ext cx="3363986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ü"/>
            </a:pPr>
            <a:r>
              <a:rPr lang="en-US" b="1" dirty="0"/>
              <a:t>Club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en-US" b="1" dirty="0"/>
              <a:t>Diamond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en-US" b="1" dirty="0"/>
              <a:t>Heart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en-US" b="1" dirty="0"/>
              <a:t>Spades</a:t>
            </a:r>
            <a:endParaRPr lang="en-IN" b="1" dirty="0"/>
          </a:p>
        </p:txBody>
      </p:sp>
    </p:spTree>
    <p:extLst>
      <p:ext uri="{BB962C8B-B14F-4D97-AF65-F5344CB8AC3E}">
        <p14:creationId xmlns:p14="http://schemas.microsoft.com/office/powerpoint/2010/main" val="223705235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B70AE0-0661-47D3-9F56-2F4A59C0F7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558153"/>
          </a:xfrm>
        </p:spPr>
        <p:txBody>
          <a:bodyPr>
            <a:normAutofit fontScale="90000"/>
          </a:bodyPr>
          <a:lstStyle/>
          <a:p>
            <a:r>
              <a:rPr lang="en-IN" dirty="0"/>
              <a:t>  </a:t>
            </a:r>
            <a:r>
              <a:rPr lang="en-IN" b="1" dirty="0"/>
              <a:t>Example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C7DE35C-028B-42BD-AE86-6E9BB59AD3C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269507"/>
            <a:ext cx="10515600" cy="4907456"/>
          </a:xfrm>
        </p:spPr>
        <p:txBody>
          <a:bodyPr>
            <a:normAutofit/>
          </a:bodyPr>
          <a:lstStyle/>
          <a:p>
            <a:pPr marL="0" indent="0">
              <a:buNone/>
            </a:pPr>
            <a:endParaRPr lang="en-IN" dirty="0"/>
          </a:p>
          <a:p>
            <a:r>
              <a:rPr lang="en-IN" dirty="0"/>
              <a:t>  n=4 (pigeonholes)</a:t>
            </a:r>
          </a:p>
          <a:p>
            <a:r>
              <a:rPr lang="en-IN" dirty="0"/>
              <a:t>  K+1=3 </a:t>
            </a:r>
          </a:p>
          <a:p>
            <a:r>
              <a:rPr lang="en-IN" dirty="0"/>
              <a:t> =&gt; k=2</a:t>
            </a:r>
          </a:p>
          <a:p>
            <a:r>
              <a:rPr lang="en-IN" dirty="0"/>
              <a:t>  Minimum requirement,  K.n+1=2.4+1</a:t>
            </a:r>
          </a:p>
          <a:p>
            <a:r>
              <a:rPr lang="en-IN" dirty="0"/>
              <a:t>                                                        =9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04010222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B70AE0-0661-47D3-9F56-2F4A59C0F7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558153"/>
          </a:xfrm>
        </p:spPr>
        <p:txBody>
          <a:bodyPr>
            <a:normAutofit fontScale="90000"/>
          </a:bodyPr>
          <a:lstStyle/>
          <a:p>
            <a:r>
              <a:rPr lang="en-IN" dirty="0"/>
              <a:t>  </a:t>
            </a:r>
            <a:r>
              <a:rPr lang="en-IN" b="1" dirty="0"/>
              <a:t>Example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C7DE35C-028B-42BD-AE86-6E9BB59AD3C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269507"/>
            <a:ext cx="10515600" cy="4907456"/>
          </a:xfrm>
        </p:spPr>
        <p:txBody>
          <a:bodyPr>
            <a:normAutofit/>
          </a:bodyPr>
          <a:lstStyle/>
          <a:p>
            <a:r>
              <a:rPr lang="en-IN" dirty="0"/>
              <a:t>Minimum card must be selected from a standard deck of 52 cards to guarantee that at least </a:t>
            </a:r>
            <a:r>
              <a:rPr lang="en-IN" dirty="0">
                <a:solidFill>
                  <a:srgbClr val="FF0000"/>
                </a:solidFill>
              </a:rPr>
              <a:t>three cards </a:t>
            </a:r>
            <a:r>
              <a:rPr lang="en-IN" dirty="0"/>
              <a:t>of the same </a:t>
            </a:r>
            <a:r>
              <a:rPr lang="en-IN" dirty="0">
                <a:solidFill>
                  <a:srgbClr val="FF0000"/>
                </a:solidFill>
              </a:rPr>
              <a:t>kind</a:t>
            </a:r>
            <a:r>
              <a:rPr lang="en-IN" dirty="0"/>
              <a:t>?</a:t>
            </a:r>
          </a:p>
          <a:p>
            <a:endParaRPr lang="en-IN" dirty="0"/>
          </a:p>
          <a:p>
            <a:endParaRPr lang="en-IN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F9C64CD-068E-4CBA-B6D2-DE4D14D658F4}"/>
              </a:ext>
            </a:extLst>
          </p:cNvPr>
          <p:cNvSpPr txBox="1"/>
          <p:nvPr/>
        </p:nvSpPr>
        <p:spPr>
          <a:xfrm>
            <a:off x="5947794" y="2348917"/>
            <a:ext cx="3363986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ü"/>
            </a:pPr>
            <a:r>
              <a:rPr lang="en-US" b="1" dirty="0"/>
              <a:t>Club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en-US" b="1" dirty="0"/>
              <a:t>Diamond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en-US" b="1" dirty="0">
                <a:solidFill>
                  <a:srgbClr val="FF0000"/>
                </a:solidFill>
              </a:rPr>
              <a:t>Heart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en-US" b="1" dirty="0"/>
              <a:t>Spades</a:t>
            </a:r>
            <a:endParaRPr lang="en-IN" b="1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0A1987E-0134-4D6D-98D8-93AAC5F2F2B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4125" y="2249092"/>
            <a:ext cx="4537745" cy="25745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3335982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B70AE0-0661-47D3-9F56-2F4A59C0F7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558153"/>
          </a:xfrm>
        </p:spPr>
        <p:txBody>
          <a:bodyPr>
            <a:normAutofit fontScale="90000"/>
          </a:bodyPr>
          <a:lstStyle/>
          <a:p>
            <a:r>
              <a:rPr lang="en-IN" dirty="0"/>
              <a:t>  </a:t>
            </a:r>
            <a:r>
              <a:rPr lang="en-IN" b="1" dirty="0"/>
              <a:t>Example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C7DE35C-028B-42BD-AE86-6E9BB59AD3C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269507"/>
            <a:ext cx="10515600" cy="4907456"/>
          </a:xfrm>
        </p:spPr>
        <p:txBody>
          <a:bodyPr>
            <a:normAutofit/>
          </a:bodyPr>
          <a:lstStyle/>
          <a:p>
            <a:pPr marL="0" indent="0">
              <a:buNone/>
            </a:pPr>
            <a:endParaRPr lang="en-IN" dirty="0"/>
          </a:p>
          <a:p>
            <a:r>
              <a:rPr lang="en-IN" dirty="0"/>
              <a:t>  n=13 (pigeonholes)</a:t>
            </a:r>
          </a:p>
          <a:p>
            <a:r>
              <a:rPr lang="en-IN" dirty="0"/>
              <a:t>  K+1=3 </a:t>
            </a:r>
          </a:p>
          <a:p>
            <a:r>
              <a:rPr lang="en-IN" dirty="0"/>
              <a:t> =&gt; k=2</a:t>
            </a:r>
          </a:p>
          <a:p>
            <a:r>
              <a:rPr lang="en-IN" dirty="0"/>
              <a:t>  Minimum requirement,  </a:t>
            </a:r>
            <a:r>
              <a:rPr lang="en-IN" dirty="0">
                <a:solidFill>
                  <a:srgbClr val="FF0000"/>
                </a:solidFill>
              </a:rPr>
              <a:t>K.n+1</a:t>
            </a:r>
            <a:r>
              <a:rPr lang="en-IN" dirty="0"/>
              <a:t>=2.13+1</a:t>
            </a:r>
          </a:p>
          <a:p>
            <a:r>
              <a:rPr lang="en-IN" dirty="0"/>
              <a:t>                                                        =27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9899543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3103</TotalTime>
  <Words>1044</Words>
  <Application>Microsoft Macintosh PowerPoint</Application>
  <PresentationFormat>Widescreen</PresentationFormat>
  <Paragraphs>136</Paragraphs>
  <Slides>23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10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23</vt:i4>
      </vt:variant>
    </vt:vector>
  </HeadingPairs>
  <TitlesOfParts>
    <vt:vector size="34" baseType="lpstr">
      <vt:lpstr>Arial</vt:lpstr>
      <vt:lpstr>Calibri</vt:lpstr>
      <vt:lpstr>Calibri Light</vt:lpstr>
      <vt:lpstr>Cambria Math</vt:lpstr>
      <vt:lpstr>MTMI</vt:lpstr>
      <vt:lpstr>MTSYN</vt:lpstr>
      <vt:lpstr>Times-Bold</vt:lpstr>
      <vt:lpstr>Times-Italic</vt:lpstr>
      <vt:lpstr>Times-Roman</vt:lpstr>
      <vt:lpstr>Wingdings</vt:lpstr>
      <vt:lpstr>Office Theme</vt:lpstr>
      <vt:lpstr>Discrete Mathematics (BCSC1010)</vt:lpstr>
      <vt:lpstr>Pigeonhole Principle</vt:lpstr>
      <vt:lpstr>PowerPoint Presentation</vt:lpstr>
      <vt:lpstr>Generalized Pigeon Hole Principle</vt:lpstr>
      <vt:lpstr>Example  </vt:lpstr>
      <vt:lpstr>Example</vt:lpstr>
      <vt:lpstr>Example</vt:lpstr>
      <vt:lpstr>Example</vt:lpstr>
      <vt:lpstr>Extended Pigeonhole Principle</vt:lpstr>
      <vt:lpstr>Example</vt:lpstr>
      <vt:lpstr>Example</vt:lpstr>
      <vt:lpstr>  Example</vt:lpstr>
      <vt:lpstr>Example</vt:lpstr>
      <vt:lpstr>Example</vt:lpstr>
      <vt:lpstr>Example</vt:lpstr>
      <vt:lpstr>Extended Pigeonhole Principle</vt:lpstr>
      <vt:lpstr>Example</vt:lpstr>
      <vt:lpstr>Example</vt:lpstr>
      <vt:lpstr>  Example</vt:lpstr>
      <vt:lpstr>  Example</vt:lpstr>
      <vt:lpstr>  Example</vt:lpstr>
      <vt:lpstr>  Example</vt:lpstr>
      <vt:lpstr>  Example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swati saxena</dc:creator>
  <cp:lastModifiedBy>Microsoft Office User</cp:lastModifiedBy>
  <cp:revision>87</cp:revision>
  <dcterms:created xsi:type="dcterms:W3CDTF">2020-09-02T02:55:27Z</dcterms:created>
  <dcterms:modified xsi:type="dcterms:W3CDTF">2022-09-27T05:23:42Z</dcterms:modified>
</cp:coreProperties>
</file>