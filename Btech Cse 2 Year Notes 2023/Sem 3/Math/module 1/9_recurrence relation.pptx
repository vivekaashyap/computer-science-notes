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314" r:id="rId2"/>
    <p:sldId id="315" r:id="rId3"/>
    <p:sldId id="316" r:id="rId4"/>
    <p:sldId id="317" r:id="rId5"/>
    <p:sldId id="318" r:id="rId6"/>
    <p:sldId id="319" r:id="rId7"/>
    <p:sldId id="320" r:id="rId8"/>
    <p:sldId id="321" r:id="rId9"/>
    <p:sldId id="330" r:id="rId10"/>
    <p:sldId id="322" r:id="rId11"/>
    <p:sldId id="323" r:id="rId12"/>
    <p:sldId id="324" r:id="rId13"/>
    <p:sldId id="325" r:id="rId14"/>
    <p:sldId id="326" r:id="rId15"/>
    <p:sldId id="327" r:id="rId16"/>
    <p:sldId id="328" r:id="rId17"/>
    <p:sldId id="329" r:id="rId18"/>
    <p:sldId id="331" r:id="rId19"/>
    <p:sldId id="336" r:id="rId20"/>
    <p:sldId id="337" r:id="rId21"/>
    <p:sldId id="332" r:id="rId22"/>
    <p:sldId id="333" r:id="rId23"/>
    <p:sldId id="33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89" d="100"/>
          <a:sy n="89" d="100"/>
        </p:scale>
        <p:origin x="168" y="5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0-07-23T04:03:25.1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33590 15662 5 0,'0'0'1'0,"0"0"-2"0,0 0 7 0,0 0-6 15,0 0 2-15,0 0-3 0,0 0 4 0,0 0 0 16,0 0-2-16,0 0 0 0,42 4-2 0,-42-4-3 16,0 0-3-16,0 0 13 15,0 0-4-15,0 0-1 0,0 0 0 16,33 8-1-16,-33-8-3 0,0 0 3 0,0 0-3 0,0 0-2 0,0 0 6 15,0 0-3-15,32 9 4 0,-32-9-4 0,0 0 1 0,0 0-1 16,0 0 0-16</inkml:trace>
  <inkml:trace contextRef="#ctx0" brushRef="#br0" timeOffset="198.47">33848 15712 2 0,'0'0'3'0,"0"0"0"0,0 0-3 0,0 0 3 15,0 0-3-15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5F681-F59E-4182-8F6E-2E4DD0456ED4}" type="datetimeFigureOut">
              <a:rPr lang="en-US" smtClean="0"/>
              <a:pPr/>
              <a:t>9/12/22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6E7C9-2772-43D9-AC79-0C58FED9AB03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791C7C-5515-4F71-8C7E-CE57EFE3CBFE}" type="slidenum">
              <a:rPr lang="en-IN" smtClean="0"/>
              <a:pPr/>
              <a:t>2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DCA48-4D4F-4F96-B869-503F9B6F0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37C23C-9F9F-4804-8CA8-906AE4AE4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E6927-56E8-409B-B380-9D53F7DD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12/09/22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74A93-02AE-45FF-9724-CCA92FBA1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4C0B8-C02D-456D-8BDB-92D78C48A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AC3EB3-97B8-4CDC-A108-0AD7E0BDE6E1}"/>
              </a:ext>
            </a:extLst>
          </p:cNvPr>
          <p:cNvSpPr/>
          <p:nvPr userDrawn="1"/>
        </p:nvSpPr>
        <p:spPr>
          <a:xfrm>
            <a:off x="9486900" y="114301"/>
            <a:ext cx="2576146" cy="1219200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505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5454C-C927-489F-8702-8C17AC93B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4E81E-5B1A-4369-836F-DD44A7D86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719EC-6667-4883-B295-3626487AC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12/09/22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E8362-2177-4CE4-AB99-6C4729454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8563E-9223-4AAE-95A5-133904FF2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426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51B7C-C156-4F0F-9B89-30EA7888E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34F86-B128-43C4-9DFA-A8B61A8DB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1D500-0E33-4068-A06A-DF80A1590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12/09/22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49899-099E-424E-BA2F-286D8A046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DF50E-44A2-4168-B66B-013FA1AD4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78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B7AA5-6613-421C-9015-0BDFD8A1D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C5106-7270-4CB5-B311-2B5130C0AB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8E471-D4BC-4613-9B9B-07142BFCD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83D42-A6A4-47D1-BDB2-10BD38F70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12/09/22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306DC-80B1-431F-9274-9AD85EAB1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752AC-1CD1-4480-87CF-0D4874246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210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154F6-579A-4883-A6A1-C78D5BD9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A87D1-51CD-43AF-B966-69FCA297D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52FC4-8B1B-4E09-B51A-4493FDF90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136151-E461-4215-B404-C29A7F3F1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4AFDC6-5B9C-42F0-9923-FEC973F939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451F74-FE1A-4855-90C3-9C43F108C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12/09/22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E99EFC-19C1-4415-A205-4173089D1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26B8B0-0AF7-4C0C-900E-543BF6105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505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F7659-EF74-4E90-AEDC-786D0350C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30C633-BE99-4CE4-A9FE-71E3B43F3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12/09/22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97C69-23A1-4A48-9B55-FC43BDD8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449326-E098-4E0A-ABA8-A6B544E70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855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ED9356-A1FA-4A4B-AD94-28CEA3D38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12/09/22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76842E-184D-437B-9E68-B73C55787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ECDBC-9151-4AED-8E1D-D076E3E11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322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4B4ED-444F-4EC1-A462-AFB3EBBC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54C9A-AED9-44B3-A72A-996B2785B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8CCFC-4CE2-4402-8B65-87B19C6D1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BAD0B-C3CC-4462-8401-131C59D17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12/09/22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97C41-4779-4568-BF34-01CA70C6C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8C895-953D-47FC-9945-A68E3ECB3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565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6E37B-EC1B-44EA-9068-EAEE222FF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71B5E0-62CB-4E6B-BF05-79A5C02139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D9174E-AE3B-4A8B-B15F-93C91F68F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1C9E7-3AAD-40A7-B89E-5E92D7597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12/09/22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E1AC7-CD2A-46E8-A0BC-5CCE5376C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474A5-F3D5-485C-BBE1-F009A622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150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F4764-9790-46F3-8B48-5F11ADECB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AE33C5-40D5-496A-B774-1D12E5152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B64C-7C21-4846-8D70-5B9EBE4A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12/09/22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E1EAE-B2B3-4A07-91BB-F488D8A83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36C4F-2B26-4913-BDF2-D1E2DD16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790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46699D-08B4-416B-9123-EA8BBEAD14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821323-0229-4B29-9078-2251D21083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502AF-12AC-4CB1-8E4D-6F6BC4FDD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A7469-F65E-4028-AFC4-3B0435E301CA}" type="datetimeFigureOut">
              <a:rPr lang="en-IN" smtClean="0"/>
              <a:pPr/>
              <a:t>12/09/22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FCFF4-2867-45C9-9261-357CAE713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8EA01-0446-4C79-AB06-104B04A70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7386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9D257B-41A3-44A8-8733-9BD8A9E27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EF41F-7472-4E1A-B6E6-6589FA484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19362-D603-4291-96AB-3B6FEB7B7A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A7469-F65E-4028-AFC4-3B0435E301CA}" type="datetimeFigureOut">
              <a:rPr lang="en-IN" smtClean="0"/>
              <a:pPr/>
              <a:t>12/09/22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D6579-9564-4EC9-926E-786A7B5A63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E057E-3D1D-4C7A-B4C9-9CC324DD0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83AAE-A3F5-41D0-AF50-5D8BFD996D56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4B81EF-ADC0-434C-8F8D-75162989A094}"/>
              </a:ext>
            </a:extLst>
          </p:cNvPr>
          <p:cNvSpPr/>
          <p:nvPr userDrawn="1"/>
        </p:nvSpPr>
        <p:spPr>
          <a:xfrm>
            <a:off x="8610600" y="333375"/>
            <a:ext cx="2743200" cy="131286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957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16D53-4322-4971-8663-8C341542C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8300"/>
            <a:ext cx="10515600" cy="2190749"/>
          </a:xfrm>
        </p:spPr>
        <p:txBody>
          <a:bodyPr>
            <a:normAutofit/>
          </a:bodyPr>
          <a:lstStyle/>
          <a:p>
            <a:pPr algn="ctr"/>
            <a:r>
              <a:rPr lang="en-IN" sz="6600" b="1" dirty="0">
                <a:latin typeface="+mn-lt"/>
              </a:rPr>
              <a:t>Discrete Mathematics</a:t>
            </a:r>
            <a:br>
              <a:rPr lang="en-IN" sz="6600" b="1" dirty="0">
                <a:latin typeface="+mn-lt"/>
              </a:rPr>
            </a:br>
            <a:r>
              <a:rPr lang="en-IN" sz="6600" b="1" dirty="0">
                <a:latin typeface="+mn-lt"/>
              </a:rPr>
              <a:t>(BCSC1010)</a:t>
            </a:r>
            <a:endParaRPr lang="en-IN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A120E-8782-4BDB-9D94-C00E649FB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4727" y="3714749"/>
            <a:ext cx="9144000" cy="28670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4800" dirty="0"/>
              <a:t>Module 1</a:t>
            </a:r>
          </a:p>
          <a:p>
            <a:pPr algn="ctr"/>
            <a:endParaRPr lang="en-IN" sz="4800" dirty="0"/>
          </a:p>
          <a:p>
            <a:pPr marL="0" indent="0" algn="ctr">
              <a:buNone/>
            </a:pPr>
            <a:r>
              <a:rPr lang="en-IN" sz="4800" b="1" dirty="0"/>
              <a:t>Recurrence Relations</a:t>
            </a:r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CBE7771-8992-4ED3-BC6B-BD408D1EA727}"/>
                  </a:ext>
                </a:extLst>
              </p14:cNvPr>
              <p14:cNvContentPartPr/>
              <p14:nvPr/>
            </p14:nvContentPartPr>
            <p14:xfrm>
              <a:off x="12092400" y="5638320"/>
              <a:ext cx="93240" cy="18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CBE7771-8992-4ED3-BC6B-BD408D1EA72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83040" y="5628960"/>
                <a:ext cx="111960" cy="3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6796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Introduction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04108"/>
            <a:ext cx="10972800" cy="4468091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/>
              <a:t>Discusses - how recursive techniques can hep in </a:t>
            </a:r>
            <a:r>
              <a:rPr lang="en-IN" dirty="0" err="1"/>
              <a:t>deriv</a:t>
            </a:r>
            <a:r>
              <a:rPr lang="en-IN" dirty="0"/>
              <a:t> sequences and be used for solving counting problems. </a:t>
            </a:r>
          </a:p>
          <a:p>
            <a:pPr algn="just">
              <a:buNone/>
            </a:pPr>
            <a:endParaRPr lang="en-IN" dirty="0"/>
          </a:p>
          <a:p>
            <a:pPr algn="just"/>
            <a:r>
              <a:rPr lang="en-IN" dirty="0"/>
              <a:t>The procedure for finding the terms of a sequence in a recursive manner is called </a:t>
            </a:r>
            <a:r>
              <a:rPr lang="en-IN" b="1" dirty="0"/>
              <a:t>recurrence relation</a:t>
            </a:r>
            <a:r>
              <a:rPr lang="en-IN" dirty="0"/>
              <a:t>. </a:t>
            </a:r>
          </a:p>
          <a:p>
            <a:pPr algn="just">
              <a:buNone/>
            </a:pPr>
            <a:endParaRPr lang="en-IN" dirty="0"/>
          </a:p>
          <a:p>
            <a:pPr algn="just"/>
            <a:r>
              <a:rPr lang="en-IN" dirty="0"/>
              <a:t>We study the theory of linear recurrence relations and their solutions</a:t>
            </a:r>
          </a:p>
          <a:p>
            <a:pPr algn="just">
              <a:buNone/>
            </a:pPr>
            <a:endParaRPr lang="en-IN" dirty="0"/>
          </a:p>
          <a:p>
            <a:pPr algn="just"/>
            <a:r>
              <a:rPr lang="en-IN" dirty="0"/>
              <a:t>Finally, we introduce </a:t>
            </a:r>
            <a:r>
              <a:rPr lang="en-IN" b="1" dirty="0"/>
              <a:t>generating functions</a:t>
            </a:r>
            <a:r>
              <a:rPr lang="en-IN" dirty="0"/>
              <a:t> for solving recurrence relations.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Definition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17964"/>
            <a:ext cx="11074400" cy="4408201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A recurrence relation is an equation that recursively defines a sequence where the next term is a function of the previous terms (Expressing F</a:t>
            </a:r>
            <a:r>
              <a:rPr lang="en-IN" baseline="-25000" dirty="0"/>
              <a:t>n</a:t>
            </a:r>
            <a:r>
              <a:rPr lang="en-IN" dirty="0"/>
              <a:t> as some combination of  </a:t>
            </a:r>
            <a:r>
              <a:rPr lang="en-IN" dirty="0" err="1"/>
              <a:t>F</a:t>
            </a:r>
            <a:r>
              <a:rPr lang="en-IN" baseline="-25000" dirty="0" err="1"/>
              <a:t>i</a:t>
            </a:r>
            <a:r>
              <a:rPr lang="en-IN" baseline="-25000" dirty="0"/>
              <a:t> </a:t>
            </a:r>
            <a:r>
              <a:rPr lang="en-IN" dirty="0"/>
              <a:t> with </a:t>
            </a:r>
            <a:r>
              <a:rPr lang="en-IN" dirty="0" err="1"/>
              <a:t>i</a:t>
            </a:r>
            <a:r>
              <a:rPr lang="en-IN" dirty="0"/>
              <a:t> &lt; n).</a:t>
            </a:r>
          </a:p>
          <a:p>
            <a:pPr algn="just">
              <a:buNone/>
            </a:pPr>
            <a:endParaRPr lang="en-IN" dirty="0"/>
          </a:p>
          <a:p>
            <a:r>
              <a:rPr lang="en-IN" b="1" dirty="0"/>
              <a:t>Example</a:t>
            </a:r>
            <a:r>
              <a:rPr lang="en-IN" dirty="0"/>
              <a:t> − 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Fibonacci series −  F</a:t>
            </a:r>
            <a:r>
              <a:rPr lang="en-IN" baseline="-25000" dirty="0"/>
              <a:t>n </a:t>
            </a:r>
            <a:r>
              <a:rPr lang="en-IN" dirty="0"/>
              <a:t>= F</a:t>
            </a:r>
            <a:r>
              <a:rPr lang="en-IN" baseline="-25000" dirty="0"/>
              <a:t>n-1 </a:t>
            </a:r>
            <a:r>
              <a:rPr lang="en-IN" dirty="0"/>
              <a:t>+ F</a:t>
            </a:r>
            <a:r>
              <a:rPr lang="en-IN" baseline="-25000" dirty="0"/>
              <a:t>n-2 </a:t>
            </a:r>
            <a:r>
              <a:rPr lang="en-IN" dirty="0"/>
              <a:t>;   F</a:t>
            </a:r>
            <a:r>
              <a:rPr lang="en-IN" baseline="-25000" dirty="0"/>
              <a:t>1 </a:t>
            </a:r>
            <a:r>
              <a:rPr lang="en-IN" dirty="0"/>
              <a:t>= F</a:t>
            </a:r>
            <a:r>
              <a:rPr lang="en-IN" baseline="-25000" dirty="0"/>
              <a:t>2 </a:t>
            </a:r>
            <a:r>
              <a:rPr lang="en-IN" dirty="0"/>
              <a:t>= 1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/>
              <a:t>Tower of Hanoi −   F</a:t>
            </a:r>
            <a:r>
              <a:rPr lang="en-IN" baseline="-25000" dirty="0"/>
              <a:t>n </a:t>
            </a:r>
            <a:r>
              <a:rPr lang="en-IN" dirty="0"/>
              <a:t>= 2 F</a:t>
            </a:r>
            <a:r>
              <a:rPr lang="en-IN" baseline="-25000" dirty="0"/>
              <a:t>n-1 </a:t>
            </a:r>
            <a:r>
              <a:rPr lang="en-IN" dirty="0"/>
              <a:t>+ 1;    F</a:t>
            </a:r>
            <a:r>
              <a:rPr lang="en-IN" baseline="-25000" dirty="0"/>
              <a:t>1 </a:t>
            </a:r>
            <a:r>
              <a:rPr lang="en-IN" dirty="0"/>
              <a:t>=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Linear Recurrence Relations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 linear recurrence relation with constant coefficients is of the form: </a:t>
            </a:r>
          </a:p>
          <a:p>
            <a:pPr>
              <a:buNone/>
            </a:pPr>
            <a:r>
              <a:rPr lang="en-IN" dirty="0"/>
              <a:t>	</a:t>
            </a:r>
            <a:r>
              <a:rPr lang="en-IN" b="1" dirty="0"/>
              <a:t>C</a:t>
            </a:r>
            <a:r>
              <a:rPr lang="en-IN" b="1" baseline="-25000" dirty="0"/>
              <a:t>0</a:t>
            </a:r>
            <a:r>
              <a:rPr lang="en-IN" b="1" dirty="0"/>
              <a:t>a</a:t>
            </a:r>
            <a:r>
              <a:rPr lang="en-IN" b="1" baseline="-25000" dirty="0"/>
              <a:t>n</a:t>
            </a:r>
            <a:r>
              <a:rPr lang="en-IN" b="1" dirty="0"/>
              <a:t> + C</a:t>
            </a:r>
            <a:r>
              <a:rPr lang="en-IN" b="1" baseline="-25000" dirty="0"/>
              <a:t>1</a:t>
            </a:r>
            <a:r>
              <a:rPr lang="en-IN" b="1" dirty="0"/>
              <a:t>a</a:t>
            </a:r>
            <a:r>
              <a:rPr lang="en-IN" b="1" baseline="-25000" dirty="0"/>
              <a:t>n-1</a:t>
            </a:r>
            <a:r>
              <a:rPr lang="en-IN" b="1" dirty="0"/>
              <a:t> + C</a:t>
            </a:r>
            <a:r>
              <a:rPr lang="en-IN" b="1" baseline="-25000" dirty="0"/>
              <a:t>2</a:t>
            </a:r>
            <a:r>
              <a:rPr lang="en-IN" b="1" dirty="0"/>
              <a:t>a</a:t>
            </a:r>
            <a:r>
              <a:rPr lang="en-IN" b="1" baseline="-25000" dirty="0"/>
              <a:t>n-2</a:t>
            </a:r>
            <a:r>
              <a:rPr lang="en-IN" b="1" dirty="0"/>
              <a:t> + .......…+ </a:t>
            </a:r>
            <a:r>
              <a:rPr lang="en-IN" b="1" dirty="0" err="1"/>
              <a:t>C</a:t>
            </a:r>
            <a:r>
              <a:rPr lang="en-IN" b="1" baseline="-25000" dirty="0" err="1"/>
              <a:t>k</a:t>
            </a:r>
            <a:r>
              <a:rPr lang="en-IN" b="1" dirty="0" err="1"/>
              <a:t>a</a:t>
            </a:r>
            <a:r>
              <a:rPr lang="en-IN" b="1" baseline="-25000" dirty="0" err="1"/>
              <a:t>n</a:t>
            </a:r>
            <a:r>
              <a:rPr lang="en-IN" b="1" baseline="-25000" dirty="0"/>
              <a:t>-k</a:t>
            </a:r>
            <a:r>
              <a:rPr lang="en-IN" b="1" dirty="0"/>
              <a:t> = f(n) </a:t>
            </a:r>
          </a:p>
          <a:p>
            <a:pPr>
              <a:buNone/>
            </a:pPr>
            <a:r>
              <a:rPr lang="en-IN" dirty="0"/>
              <a:t>		where </a:t>
            </a:r>
            <a:r>
              <a:rPr lang="en-IN" dirty="0" err="1"/>
              <a:t>C</a:t>
            </a:r>
            <a:r>
              <a:rPr lang="en-IN" baseline="-25000" dirty="0" err="1"/>
              <a:t>i</a:t>
            </a:r>
            <a:r>
              <a:rPr lang="en-IN" baseline="-25000" dirty="0"/>
              <a:t> </a:t>
            </a:r>
            <a:r>
              <a:rPr lang="en-IN" dirty="0"/>
              <a:t>is a constant and C</a:t>
            </a:r>
            <a:r>
              <a:rPr lang="en-IN" baseline="-25000" dirty="0"/>
              <a:t>k </a:t>
            </a:r>
            <a:r>
              <a:rPr lang="en-IN" dirty="0"/>
              <a:t>≠ 0</a:t>
            </a:r>
          </a:p>
          <a:p>
            <a:pPr>
              <a:buNone/>
            </a:pPr>
            <a:endParaRPr lang="en-IN" dirty="0"/>
          </a:p>
          <a:p>
            <a:pPr algn="just"/>
            <a:r>
              <a:rPr lang="en-US" dirty="0"/>
              <a:t>It is of </a:t>
            </a:r>
            <a:r>
              <a:rPr lang="en-US" b="1" dirty="0"/>
              <a:t>order k</a:t>
            </a:r>
            <a:r>
              <a:rPr lang="en-US" dirty="0"/>
              <a:t> because </a:t>
            </a:r>
            <a:r>
              <a:rPr lang="en-IN" dirty="0"/>
              <a:t>a</a:t>
            </a:r>
            <a:r>
              <a:rPr lang="en-IN" baseline="-25000" dirty="0"/>
              <a:t>n </a:t>
            </a:r>
            <a:r>
              <a:rPr lang="en-US" dirty="0"/>
              <a:t>can be represented in terms of previous k elements of the sequence, so the order of a recurrence relation is </a:t>
            </a:r>
            <a:r>
              <a:rPr lang="en-US" b="1" dirty="0">
                <a:solidFill>
                  <a:srgbClr val="FF0000"/>
                </a:solidFill>
              </a:rPr>
              <a:t>difference of highest and lowest </a:t>
            </a:r>
            <a:r>
              <a:rPr lang="en-US" sz="3600" b="1" dirty="0">
                <a:solidFill>
                  <a:srgbClr val="7030A0"/>
                </a:solidFill>
              </a:rPr>
              <a:t>subscript</a:t>
            </a:r>
            <a:r>
              <a:rPr lang="en-US" b="1" dirty="0">
                <a:solidFill>
                  <a:srgbClr val="FF0000"/>
                </a:solidFill>
              </a:rPr>
              <a:t> of a</a:t>
            </a:r>
            <a:r>
              <a:rPr lang="en-IN" b="1" baseline="-25000" dirty="0" err="1">
                <a:solidFill>
                  <a:srgbClr val="FF0000"/>
                </a:solidFill>
              </a:rPr>
              <a:t>i</a:t>
            </a:r>
            <a:r>
              <a:rPr lang="en-IN" baseline="-25000" dirty="0"/>
              <a:t> </a:t>
            </a:r>
            <a:r>
              <a:rPr lang="en-US" dirty="0"/>
              <a:t>.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Degree of Recurrence Relation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73382"/>
            <a:ext cx="11176000" cy="435278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</a:t>
            </a:r>
            <a:r>
              <a:rPr lang="en-US" b="1" dirty="0"/>
              <a:t>degree</a:t>
            </a:r>
            <a:r>
              <a:rPr lang="en-US" dirty="0"/>
              <a:t> of a recurrence relation is defined as the highest power of </a:t>
            </a:r>
            <a:r>
              <a:rPr lang="en-IN" b="1" dirty="0" err="1"/>
              <a:t>a</a:t>
            </a:r>
            <a:r>
              <a:rPr lang="en-IN" b="1" baseline="-25000" dirty="0" err="1"/>
              <a:t>i</a:t>
            </a:r>
            <a:r>
              <a:rPr lang="en-IN" b="1" dirty="0" err="1"/>
              <a:t>’s</a:t>
            </a:r>
            <a:r>
              <a:rPr lang="en-IN" b="1" dirty="0"/>
              <a:t>.</a:t>
            </a:r>
          </a:p>
          <a:p>
            <a:pPr algn="just">
              <a:buNone/>
            </a:pPr>
            <a:endParaRPr lang="en-IN" dirty="0"/>
          </a:p>
          <a:p>
            <a:pPr algn="just"/>
            <a:r>
              <a:rPr lang="en-US" dirty="0"/>
              <a:t>A recurrence relation of degree 1 is called as  </a:t>
            </a:r>
            <a:r>
              <a:rPr lang="en-US" b="1" dirty="0"/>
              <a:t>linear recurrence relation</a:t>
            </a:r>
            <a:r>
              <a:rPr lang="en-US" dirty="0"/>
              <a:t>, otherwise non-linear recurrence relations.</a:t>
            </a:r>
          </a:p>
          <a:p>
            <a:pPr algn="just">
              <a:buNone/>
            </a:pPr>
            <a:endParaRPr lang="en-IN" dirty="0"/>
          </a:p>
          <a:p>
            <a:pPr algn="just"/>
            <a:r>
              <a:rPr lang="en-US" dirty="0"/>
              <a:t>In linear recurrence relation, every subscripted term </a:t>
            </a:r>
            <a:r>
              <a:rPr lang="en-IN" b="1" dirty="0" err="1"/>
              <a:t>a</a:t>
            </a:r>
            <a:r>
              <a:rPr lang="en-IN" b="1" baseline="-25000" dirty="0" err="1"/>
              <a:t>i</a:t>
            </a:r>
            <a:r>
              <a:rPr lang="en-IN" dirty="0" err="1"/>
              <a:t>’s</a:t>
            </a:r>
            <a:r>
              <a:rPr lang="en-IN" dirty="0"/>
              <a:t> occurs to first power, i.e., it does not contain terms like </a:t>
            </a:r>
            <a:r>
              <a:rPr lang="en-IN" b="1" dirty="0"/>
              <a:t>a</a:t>
            </a:r>
            <a:r>
              <a:rPr lang="en-IN" b="1" baseline="-25000" dirty="0"/>
              <a:t>n</a:t>
            </a:r>
            <a:r>
              <a:rPr lang="en-IN" b="1" baseline="30000" dirty="0"/>
              <a:t>2</a:t>
            </a:r>
            <a:r>
              <a:rPr lang="en-IN" b="1" baseline="-25000" dirty="0"/>
              <a:t> ,</a:t>
            </a:r>
            <a:r>
              <a:rPr lang="en-IN" b="1" dirty="0"/>
              <a:t> a</a:t>
            </a:r>
            <a:r>
              <a:rPr lang="en-IN" b="1" baseline="-25000" dirty="0"/>
              <a:t>n</a:t>
            </a:r>
            <a:r>
              <a:rPr lang="en-IN" b="1" baseline="30000" dirty="0"/>
              <a:t>3</a:t>
            </a:r>
            <a:r>
              <a:rPr lang="en-IN" dirty="0"/>
              <a:t>,</a:t>
            </a:r>
            <a:r>
              <a:rPr lang="en-IN" b="1" dirty="0"/>
              <a:t> a</a:t>
            </a:r>
            <a:r>
              <a:rPr lang="en-IN" b="1" baseline="-25000" dirty="0"/>
              <a:t>n</a:t>
            </a:r>
            <a:r>
              <a:rPr lang="en-IN" dirty="0"/>
              <a:t>.</a:t>
            </a:r>
            <a:r>
              <a:rPr lang="en-IN" b="1" dirty="0"/>
              <a:t>a</a:t>
            </a:r>
            <a:r>
              <a:rPr lang="en-IN" b="1" baseline="-25000" dirty="0"/>
              <a:t>n-1 </a:t>
            </a:r>
            <a:r>
              <a:rPr lang="en-IN" dirty="0"/>
              <a:t>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Homogeneous Recurrence Relation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633364" cy="4351338"/>
          </a:xfrm>
        </p:spPr>
        <p:txBody>
          <a:bodyPr>
            <a:normAutofit/>
          </a:bodyPr>
          <a:lstStyle/>
          <a:p>
            <a:pPr algn="just"/>
            <a:r>
              <a:rPr lang="en-IN" b="1" dirty="0"/>
              <a:t>C</a:t>
            </a:r>
            <a:r>
              <a:rPr lang="en-IN" b="1" baseline="-25000" dirty="0"/>
              <a:t>0</a:t>
            </a:r>
            <a:r>
              <a:rPr lang="en-IN" b="1" dirty="0"/>
              <a:t>a</a:t>
            </a:r>
            <a:r>
              <a:rPr lang="en-IN" b="1" baseline="-25000" dirty="0"/>
              <a:t>n</a:t>
            </a:r>
            <a:r>
              <a:rPr lang="en-IN" b="1" dirty="0"/>
              <a:t> + C</a:t>
            </a:r>
            <a:r>
              <a:rPr lang="en-IN" b="1" baseline="-25000" dirty="0"/>
              <a:t>1</a:t>
            </a:r>
            <a:r>
              <a:rPr lang="en-IN" b="1" dirty="0"/>
              <a:t>a</a:t>
            </a:r>
            <a:r>
              <a:rPr lang="en-IN" b="1" baseline="-25000" dirty="0"/>
              <a:t>n-1</a:t>
            </a:r>
            <a:r>
              <a:rPr lang="en-IN" b="1" dirty="0"/>
              <a:t> + C</a:t>
            </a:r>
            <a:r>
              <a:rPr lang="en-IN" b="1" baseline="-25000" dirty="0"/>
              <a:t>2</a:t>
            </a:r>
            <a:r>
              <a:rPr lang="en-IN" b="1" dirty="0"/>
              <a:t>a</a:t>
            </a:r>
            <a:r>
              <a:rPr lang="en-IN" b="1" baseline="-25000" dirty="0"/>
              <a:t>n-2</a:t>
            </a:r>
            <a:r>
              <a:rPr lang="en-IN" b="1" dirty="0"/>
              <a:t> + .......…+ </a:t>
            </a:r>
            <a:r>
              <a:rPr lang="en-IN" b="1" dirty="0" err="1"/>
              <a:t>C</a:t>
            </a:r>
            <a:r>
              <a:rPr lang="en-IN" b="1" baseline="-25000" dirty="0" err="1"/>
              <a:t>k</a:t>
            </a:r>
            <a:r>
              <a:rPr lang="en-IN" b="1" dirty="0" err="1"/>
              <a:t>a</a:t>
            </a:r>
            <a:r>
              <a:rPr lang="en-IN" b="1" baseline="-25000" dirty="0" err="1"/>
              <a:t>n</a:t>
            </a:r>
            <a:r>
              <a:rPr lang="en-IN" b="1" baseline="-25000" dirty="0"/>
              <a:t>-k</a:t>
            </a:r>
            <a:r>
              <a:rPr lang="en-IN" b="1" dirty="0"/>
              <a:t> = f(n)</a:t>
            </a:r>
          </a:p>
          <a:p>
            <a:pPr algn="just">
              <a:buNone/>
            </a:pPr>
            <a:r>
              <a:rPr lang="en-IN" b="1" dirty="0"/>
              <a:t>	</a:t>
            </a:r>
            <a:r>
              <a:rPr lang="en-US" dirty="0"/>
              <a:t>If f(n) is identically zero, it is called as </a:t>
            </a:r>
            <a:r>
              <a:rPr lang="en-US" b="1" dirty="0"/>
              <a:t>homogeneous </a:t>
            </a:r>
            <a:r>
              <a:rPr lang="en-US" dirty="0"/>
              <a:t>recurrence relation,</a:t>
            </a:r>
            <a:r>
              <a:rPr lang="en-US" b="1" dirty="0"/>
              <a:t> </a:t>
            </a:r>
            <a:r>
              <a:rPr lang="en-US" dirty="0"/>
              <a:t>otherwise non- homogeneous recurrence relation.</a:t>
            </a:r>
          </a:p>
          <a:p>
            <a:pPr algn="just">
              <a:buNone/>
            </a:pPr>
            <a:endParaRPr lang="en-IN" dirty="0"/>
          </a:p>
          <a:p>
            <a:pPr algn="just"/>
            <a:r>
              <a:rPr lang="en-IN" b="1" dirty="0"/>
              <a:t>a</a:t>
            </a:r>
            <a:r>
              <a:rPr lang="en-IN" b="1" baseline="-25000" dirty="0"/>
              <a:t>n</a:t>
            </a:r>
            <a:r>
              <a:rPr lang="en-IN" b="1" dirty="0"/>
              <a:t> = 2a</a:t>
            </a:r>
            <a:r>
              <a:rPr lang="en-IN" b="1" baseline="-25000" dirty="0"/>
              <a:t>n-1</a:t>
            </a:r>
            <a:r>
              <a:rPr lang="en-IN" b="1" dirty="0"/>
              <a:t> + 3a</a:t>
            </a:r>
            <a:r>
              <a:rPr lang="en-IN" b="1" baseline="-25000" dirty="0"/>
              <a:t>n-2</a:t>
            </a:r>
            <a:r>
              <a:rPr lang="en-IN" b="1" dirty="0"/>
              <a:t> </a:t>
            </a:r>
            <a:r>
              <a:rPr lang="en-IN" dirty="0"/>
              <a:t>is a linear homogeneous recurrence relation of order 2 and degree 1.</a:t>
            </a:r>
          </a:p>
          <a:p>
            <a:pPr algn="just">
              <a:buNone/>
            </a:pPr>
            <a:endParaRPr lang="en-IN" dirty="0"/>
          </a:p>
          <a:p>
            <a:pPr algn="just"/>
            <a:r>
              <a:rPr lang="en-IN" b="1" dirty="0"/>
              <a:t>a</a:t>
            </a:r>
            <a:r>
              <a:rPr lang="en-IN" b="1" baseline="-25000" dirty="0"/>
              <a:t>n</a:t>
            </a:r>
            <a:r>
              <a:rPr lang="en-IN" b="1" dirty="0"/>
              <a:t> = a</a:t>
            </a:r>
            <a:r>
              <a:rPr lang="en-IN" b="1" baseline="-25000" dirty="0"/>
              <a:t>n-1</a:t>
            </a:r>
            <a:r>
              <a:rPr lang="en-IN" b="1" dirty="0"/>
              <a:t> + n + 5 </a:t>
            </a:r>
            <a:r>
              <a:rPr lang="en-IN" dirty="0"/>
              <a:t>is a linear non-homogeneous recurrence relation of order 1 and degree 1.</a:t>
            </a:r>
          </a:p>
          <a:p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Methods of solving RR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Iteration (Substitution)</a:t>
            </a:r>
          </a:p>
          <a:p>
            <a:endParaRPr lang="en-US" dirty="0"/>
          </a:p>
          <a:p>
            <a:r>
              <a:rPr lang="en-US" dirty="0"/>
              <a:t>Characteristic Roots (Polynomial)</a:t>
            </a:r>
          </a:p>
          <a:p>
            <a:endParaRPr lang="en-US" dirty="0"/>
          </a:p>
          <a:p>
            <a:r>
              <a:rPr lang="en-US" dirty="0"/>
              <a:t>Generating Functions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BCSC0010 Discrete Mathematics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0207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Iteration Method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20982"/>
            <a:ext cx="10972800" cy="4856018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Solve the recurrence relation 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= a</a:t>
            </a:r>
            <a:r>
              <a:rPr lang="en-IN" b="1" baseline="-25000" dirty="0">
                <a:solidFill>
                  <a:srgbClr val="FF0000"/>
                </a:solidFill>
              </a:rPr>
              <a:t>n-1</a:t>
            </a:r>
            <a:r>
              <a:rPr lang="en-IN" b="1" dirty="0">
                <a:solidFill>
                  <a:srgbClr val="FF0000"/>
                </a:solidFill>
              </a:rPr>
              <a:t> + 2, </a:t>
            </a:r>
            <a:r>
              <a:rPr lang="en-IN" dirty="0">
                <a:solidFill>
                  <a:srgbClr val="FF0000"/>
                </a:solidFill>
              </a:rPr>
              <a:t>n ≥2 subject to initial condition a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  <a:r>
              <a:rPr lang="en-IN" dirty="0">
                <a:solidFill>
                  <a:srgbClr val="FF0000"/>
                </a:solidFill>
              </a:rPr>
              <a:t> = 3.</a:t>
            </a:r>
          </a:p>
          <a:p>
            <a:r>
              <a:rPr lang="en-IN" dirty="0"/>
              <a:t>Given 	a</a:t>
            </a:r>
            <a:r>
              <a:rPr lang="en-IN" baseline="-25000" dirty="0"/>
              <a:t>n</a:t>
            </a:r>
            <a:r>
              <a:rPr lang="en-IN" dirty="0"/>
              <a:t> = a</a:t>
            </a:r>
            <a:r>
              <a:rPr lang="en-IN" baseline="-25000" dirty="0"/>
              <a:t>n-1</a:t>
            </a:r>
            <a:r>
              <a:rPr lang="en-IN" dirty="0"/>
              <a:t> + 2      ….(1)</a:t>
            </a:r>
          </a:p>
          <a:p>
            <a:pPr>
              <a:buNone/>
            </a:pPr>
            <a:r>
              <a:rPr lang="en-US" dirty="0"/>
              <a:t>	then 	</a:t>
            </a:r>
            <a:r>
              <a:rPr lang="en-IN" dirty="0"/>
              <a:t>a</a:t>
            </a:r>
            <a:r>
              <a:rPr lang="en-IN" baseline="-25000" dirty="0"/>
              <a:t>n-1</a:t>
            </a:r>
            <a:r>
              <a:rPr lang="en-IN" dirty="0"/>
              <a:t> = a</a:t>
            </a:r>
            <a:r>
              <a:rPr lang="en-IN" baseline="-25000" dirty="0"/>
              <a:t>n-2</a:t>
            </a:r>
            <a:r>
              <a:rPr lang="en-IN" dirty="0"/>
              <a:t> + 2</a:t>
            </a:r>
          </a:p>
          <a:p>
            <a:pPr>
              <a:buNone/>
            </a:pPr>
            <a:r>
              <a:rPr lang="en-US" dirty="0"/>
              <a:t>	from(1)    </a:t>
            </a:r>
            <a:r>
              <a:rPr lang="en-IN" dirty="0"/>
              <a:t>a</a:t>
            </a:r>
            <a:r>
              <a:rPr lang="en-IN" baseline="-25000" dirty="0"/>
              <a:t>n</a:t>
            </a:r>
            <a:r>
              <a:rPr lang="en-IN" dirty="0"/>
              <a:t> = (a</a:t>
            </a:r>
            <a:r>
              <a:rPr lang="en-IN" baseline="-25000" dirty="0"/>
              <a:t>n-2</a:t>
            </a:r>
            <a:r>
              <a:rPr lang="en-IN" dirty="0"/>
              <a:t> + 2) + 2 =  a</a:t>
            </a:r>
            <a:r>
              <a:rPr lang="en-IN" baseline="-25000" dirty="0"/>
              <a:t>n-2</a:t>
            </a:r>
            <a:r>
              <a:rPr lang="en-IN" dirty="0"/>
              <a:t> + 2*2 …..(2)</a:t>
            </a:r>
          </a:p>
          <a:p>
            <a:pPr>
              <a:buNone/>
            </a:pPr>
            <a:r>
              <a:rPr lang="en-US" dirty="0"/>
              <a:t>	also 	</a:t>
            </a:r>
            <a:r>
              <a:rPr lang="en-IN" dirty="0"/>
              <a:t> a</a:t>
            </a:r>
            <a:r>
              <a:rPr lang="en-IN" baseline="-25000" dirty="0"/>
              <a:t>n-2</a:t>
            </a:r>
            <a:r>
              <a:rPr lang="en-IN" dirty="0"/>
              <a:t> = a</a:t>
            </a:r>
            <a:r>
              <a:rPr lang="en-IN" baseline="-25000" dirty="0"/>
              <a:t>n-3</a:t>
            </a:r>
            <a:r>
              <a:rPr lang="en-IN" dirty="0"/>
              <a:t> + 2</a:t>
            </a:r>
          </a:p>
          <a:p>
            <a:pPr>
              <a:buNone/>
            </a:pPr>
            <a:r>
              <a:rPr lang="en-US" dirty="0"/>
              <a:t>	from(2)	</a:t>
            </a:r>
            <a:r>
              <a:rPr lang="en-IN" dirty="0"/>
              <a:t> a</a:t>
            </a:r>
            <a:r>
              <a:rPr lang="en-IN" baseline="-25000" dirty="0"/>
              <a:t>n</a:t>
            </a:r>
            <a:r>
              <a:rPr lang="en-IN" dirty="0"/>
              <a:t> = (a</a:t>
            </a:r>
            <a:r>
              <a:rPr lang="en-IN" baseline="-25000" dirty="0"/>
              <a:t>n-3</a:t>
            </a:r>
            <a:r>
              <a:rPr lang="en-IN" dirty="0"/>
              <a:t> + 2) + 2*2 =  a</a:t>
            </a:r>
            <a:r>
              <a:rPr lang="en-IN" baseline="-25000" dirty="0"/>
              <a:t>n-3</a:t>
            </a:r>
            <a:r>
              <a:rPr lang="en-IN" dirty="0"/>
              <a:t> + 3*2 </a:t>
            </a:r>
          </a:p>
          <a:p>
            <a:pPr>
              <a:buNone/>
            </a:pPr>
            <a:r>
              <a:rPr lang="en-US" dirty="0"/>
              <a:t>	In general, 	</a:t>
            </a:r>
            <a:r>
              <a:rPr lang="en-IN" dirty="0"/>
              <a:t>a</a:t>
            </a:r>
            <a:r>
              <a:rPr lang="en-IN" baseline="-25000" dirty="0"/>
              <a:t>n</a:t>
            </a:r>
            <a:r>
              <a:rPr lang="en-IN" dirty="0"/>
              <a:t> = a</a:t>
            </a:r>
            <a:r>
              <a:rPr lang="en-IN" baseline="-25000" dirty="0"/>
              <a:t>n-k</a:t>
            </a:r>
            <a:r>
              <a:rPr lang="en-IN" dirty="0"/>
              <a:t> + k*2</a:t>
            </a:r>
          </a:p>
          <a:p>
            <a:pPr>
              <a:buNone/>
            </a:pPr>
            <a:r>
              <a:rPr lang="en-IN" dirty="0"/>
              <a:t>	put k = n-1; 	a</a:t>
            </a:r>
            <a:r>
              <a:rPr lang="en-IN" baseline="-25000" dirty="0"/>
              <a:t>n</a:t>
            </a:r>
            <a:r>
              <a:rPr lang="en-IN" dirty="0"/>
              <a:t> = a</a:t>
            </a:r>
            <a:r>
              <a:rPr lang="en-IN" baseline="-25000" dirty="0"/>
              <a:t>1</a:t>
            </a:r>
            <a:r>
              <a:rPr lang="en-IN" dirty="0"/>
              <a:t> + (n - 1) * 2 =  3 + 2n – 2</a:t>
            </a:r>
          </a:p>
          <a:p>
            <a:pPr>
              <a:buNone/>
            </a:pPr>
            <a:r>
              <a:rPr lang="en-US" dirty="0"/>
              <a:t>	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320800" y="5867400"/>
            <a:ext cx="8229600" cy="609600"/>
          </a:xfrm>
          <a:prstGeom prst="rect">
            <a:avLst/>
          </a:prstGeom>
          <a:ln w="25400" cmpd="sng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/>
              <a:t>therefore,		 </a:t>
            </a:r>
            <a:r>
              <a:rPr lang="en-IN" sz="3200" b="1" dirty="0"/>
              <a:t>a</a:t>
            </a:r>
            <a:r>
              <a:rPr lang="en-IN" sz="3200" b="1" baseline="-25000" dirty="0"/>
              <a:t>n</a:t>
            </a:r>
            <a:r>
              <a:rPr lang="en-IN" sz="3200" b="1" dirty="0"/>
              <a:t> = 2n + 1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18B36-4204-1645-9A51-A3E9A77BA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ED8485-BEDF-CC42-87A5-894F7DBC7E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[</a:t>
                </a:r>
                <a:r>
                  <a:rPr lang="en-US" b="1" dirty="0">
                    <a:solidFill>
                      <a:srgbClr val="C00000"/>
                    </a:solidFill>
                  </a:rPr>
                  <a:t>Q1</a:t>
                </a:r>
                <a:r>
                  <a:rPr lang="en-US" dirty="0"/>
                  <a:t>] Consider the following sequence </a:t>
                </a:r>
              </a:p>
              <a:p>
                <a:pPr marL="0" indent="0">
                  <a:buNone/>
                </a:pPr>
                <a:r>
                  <a:rPr lang="en-US" dirty="0"/>
                  <a:t>		(0,2,6,12,20,30,42….)</a:t>
                </a:r>
              </a:p>
              <a:p>
                <a:pPr marL="0" indent="0">
                  <a:buNone/>
                </a:pPr>
                <a:r>
                  <a:rPr lang="en-US" dirty="0"/>
                  <a:t>Determine the recurrence relation using substitution method.</a:t>
                </a:r>
              </a:p>
              <a:p>
                <a:endParaRPr lang="en-US" dirty="0"/>
              </a:p>
              <a:p>
                <a:r>
                  <a:rPr lang="en-US" dirty="0"/>
                  <a:t>[</a:t>
                </a:r>
                <a:r>
                  <a:rPr lang="en-US" b="1" dirty="0">
                    <a:solidFill>
                      <a:srgbClr val="C00000"/>
                    </a:solidFill>
                  </a:rPr>
                  <a:t>Q2</a:t>
                </a:r>
                <a:r>
                  <a:rPr lang="en-US" dirty="0"/>
                  <a:t>] Consider the following recurrence relation: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+3,  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≥2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ED8485-BEDF-CC42-87A5-894F7DBC7E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9717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Characteristic Roots Method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48690"/>
            <a:ext cx="10769600" cy="4828309"/>
          </a:xfrm>
        </p:spPr>
        <p:txBody>
          <a:bodyPr>
            <a:normAutofit/>
          </a:bodyPr>
          <a:lstStyle/>
          <a:p>
            <a:pPr algn="just"/>
            <a:r>
              <a:rPr lang="en-US" sz="3000" dirty="0"/>
              <a:t>In this method, we assume that solution to homogeneous recurrence relation </a:t>
            </a:r>
            <a:r>
              <a:rPr lang="en-IN" sz="3000" b="1" dirty="0"/>
              <a:t>C</a:t>
            </a:r>
            <a:r>
              <a:rPr lang="en-IN" sz="3000" b="1" baseline="-25000" dirty="0"/>
              <a:t>0</a:t>
            </a:r>
            <a:r>
              <a:rPr lang="en-IN" sz="3000" b="1" dirty="0"/>
              <a:t>a</a:t>
            </a:r>
            <a:r>
              <a:rPr lang="en-IN" sz="3000" b="1" baseline="-25000" dirty="0"/>
              <a:t>n</a:t>
            </a:r>
            <a:r>
              <a:rPr lang="en-IN" sz="3000" b="1" dirty="0"/>
              <a:t> + C</a:t>
            </a:r>
            <a:r>
              <a:rPr lang="en-IN" sz="3000" b="1" baseline="-25000" dirty="0"/>
              <a:t>1</a:t>
            </a:r>
            <a:r>
              <a:rPr lang="en-IN" sz="3000" b="1" dirty="0"/>
              <a:t>a</a:t>
            </a:r>
            <a:r>
              <a:rPr lang="en-IN" sz="3000" b="1" baseline="-25000" dirty="0"/>
              <a:t>n-1</a:t>
            </a:r>
            <a:r>
              <a:rPr lang="en-IN" sz="3000" b="1" dirty="0"/>
              <a:t> + C</a:t>
            </a:r>
            <a:r>
              <a:rPr lang="en-IN" sz="3000" b="1" baseline="-25000" dirty="0"/>
              <a:t>2</a:t>
            </a:r>
            <a:r>
              <a:rPr lang="en-IN" sz="3000" b="1" dirty="0"/>
              <a:t>a</a:t>
            </a:r>
            <a:r>
              <a:rPr lang="en-IN" sz="3000" b="1" baseline="-25000" dirty="0"/>
              <a:t>n-2</a:t>
            </a:r>
            <a:r>
              <a:rPr lang="en-IN" sz="3000" b="1" dirty="0"/>
              <a:t> + .......…+ </a:t>
            </a:r>
            <a:r>
              <a:rPr lang="en-IN" sz="3000" b="1" dirty="0" err="1"/>
              <a:t>C</a:t>
            </a:r>
            <a:r>
              <a:rPr lang="en-IN" sz="3000" b="1" baseline="-25000" dirty="0" err="1"/>
              <a:t>k</a:t>
            </a:r>
            <a:r>
              <a:rPr lang="en-IN" sz="3000" b="1" dirty="0" err="1"/>
              <a:t>a</a:t>
            </a:r>
            <a:r>
              <a:rPr lang="en-IN" sz="3000" b="1" baseline="-25000" dirty="0" err="1"/>
              <a:t>n</a:t>
            </a:r>
            <a:r>
              <a:rPr lang="en-IN" sz="3000" b="1" baseline="-25000" dirty="0"/>
              <a:t>-k</a:t>
            </a:r>
            <a:r>
              <a:rPr lang="en-IN" sz="3000" b="1" dirty="0"/>
              <a:t> = 0 </a:t>
            </a:r>
            <a:r>
              <a:rPr lang="en-IN" sz="3000" dirty="0"/>
              <a:t>is of the form </a:t>
            </a:r>
            <a:r>
              <a:rPr lang="en-IN" sz="3000" b="1" dirty="0">
                <a:solidFill>
                  <a:srgbClr val="C00000"/>
                </a:solidFill>
              </a:rPr>
              <a:t>a</a:t>
            </a:r>
            <a:r>
              <a:rPr lang="en-IN" sz="3000" b="1" baseline="-25000" dirty="0">
                <a:solidFill>
                  <a:srgbClr val="C00000"/>
                </a:solidFill>
              </a:rPr>
              <a:t>n</a:t>
            </a:r>
            <a:r>
              <a:rPr lang="en-IN" sz="3000" b="1" dirty="0">
                <a:solidFill>
                  <a:srgbClr val="C00000"/>
                </a:solidFill>
              </a:rPr>
              <a:t> = </a:t>
            </a:r>
            <a:r>
              <a:rPr lang="en-IN" sz="3000" b="1" dirty="0" err="1">
                <a:solidFill>
                  <a:srgbClr val="C00000"/>
                </a:solidFill>
              </a:rPr>
              <a:t>Ar</a:t>
            </a:r>
            <a:r>
              <a:rPr lang="en-IN" sz="3000" b="1" baseline="30000" dirty="0" err="1">
                <a:solidFill>
                  <a:srgbClr val="C00000"/>
                </a:solidFill>
              </a:rPr>
              <a:t>n</a:t>
            </a:r>
            <a:r>
              <a:rPr lang="en-IN" sz="3000" dirty="0"/>
              <a:t>.</a:t>
            </a:r>
          </a:p>
          <a:p>
            <a:pPr algn="just">
              <a:buNone/>
            </a:pPr>
            <a:r>
              <a:rPr lang="en-US" sz="3000" dirty="0"/>
              <a:t>	Then, putting this in given recurrence relation</a:t>
            </a:r>
            <a:endParaRPr lang="en-IN" sz="3000" dirty="0"/>
          </a:p>
          <a:p>
            <a:pPr algn="just">
              <a:buNone/>
            </a:pPr>
            <a:r>
              <a:rPr lang="en-IN" sz="3000" dirty="0"/>
              <a:t>	C</a:t>
            </a:r>
            <a:r>
              <a:rPr lang="en-IN" sz="3000" baseline="-25000" dirty="0"/>
              <a:t>0</a:t>
            </a:r>
            <a:r>
              <a:rPr lang="en-IN" sz="3000" dirty="0"/>
              <a:t> </a:t>
            </a:r>
            <a:r>
              <a:rPr lang="en-IN" sz="3000" dirty="0" err="1"/>
              <a:t>Ar</a:t>
            </a:r>
            <a:r>
              <a:rPr lang="en-IN" sz="3000" baseline="30000" dirty="0" err="1"/>
              <a:t>n</a:t>
            </a:r>
            <a:r>
              <a:rPr lang="en-IN" sz="3000" dirty="0"/>
              <a:t> + C</a:t>
            </a:r>
            <a:r>
              <a:rPr lang="en-IN" sz="3000" baseline="-25000" dirty="0"/>
              <a:t>1</a:t>
            </a:r>
            <a:r>
              <a:rPr lang="en-IN" sz="3000" dirty="0"/>
              <a:t> Ar</a:t>
            </a:r>
            <a:r>
              <a:rPr lang="en-IN" sz="3000" baseline="30000" dirty="0"/>
              <a:t>n-1</a:t>
            </a:r>
            <a:r>
              <a:rPr lang="en-IN" sz="3000" dirty="0"/>
              <a:t> + C</a:t>
            </a:r>
            <a:r>
              <a:rPr lang="en-IN" sz="3000" baseline="-25000" dirty="0"/>
              <a:t>2</a:t>
            </a:r>
            <a:r>
              <a:rPr lang="en-IN" sz="3000" dirty="0"/>
              <a:t> Ar</a:t>
            </a:r>
            <a:r>
              <a:rPr lang="en-IN" sz="3000" baseline="30000" dirty="0"/>
              <a:t>n-2</a:t>
            </a:r>
            <a:r>
              <a:rPr lang="en-IN" sz="3000" dirty="0"/>
              <a:t> + .......…+ C</a:t>
            </a:r>
            <a:r>
              <a:rPr lang="en-IN" sz="3000" baseline="-25000" dirty="0"/>
              <a:t>k</a:t>
            </a:r>
            <a:r>
              <a:rPr lang="en-IN" sz="3000" dirty="0"/>
              <a:t> </a:t>
            </a:r>
            <a:r>
              <a:rPr lang="en-IN" sz="3000" dirty="0" err="1"/>
              <a:t>Ar</a:t>
            </a:r>
            <a:r>
              <a:rPr lang="en-IN" sz="3000" baseline="30000" dirty="0" err="1"/>
              <a:t>n</a:t>
            </a:r>
            <a:r>
              <a:rPr lang="en-IN" sz="3000" baseline="30000" dirty="0"/>
              <a:t>-k</a:t>
            </a:r>
            <a:r>
              <a:rPr lang="en-IN" sz="3000" dirty="0"/>
              <a:t> = 0</a:t>
            </a:r>
          </a:p>
          <a:p>
            <a:pPr algn="just">
              <a:buNone/>
            </a:pPr>
            <a:r>
              <a:rPr lang="en-US" sz="3000" dirty="0"/>
              <a:t>	</a:t>
            </a:r>
            <a:r>
              <a:rPr lang="en-IN" sz="3000" dirty="0"/>
              <a:t>or,	</a:t>
            </a:r>
            <a:r>
              <a:rPr lang="en-IN" sz="3000" dirty="0" err="1"/>
              <a:t>Ar</a:t>
            </a:r>
            <a:r>
              <a:rPr lang="en-IN" sz="3000" baseline="30000" dirty="0" err="1"/>
              <a:t>n</a:t>
            </a:r>
            <a:r>
              <a:rPr lang="en-IN" sz="3000" baseline="30000" dirty="0"/>
              <a:t>-k</a:t>
            </a:r>
            <a:r>
              <a:rPr lang="en-IN" sz="3000" dirty="0"/>
              <a:t> [C</a:t>
            </a:r>
            <a:r>
              <a:rPr lang="en-IN" sz="3000" baseline="-25000" dirty="0"/>
              <a:t>0</a:t>
            </a:r>
            <a:r>
              <a:rPr lang="en-IN" sz="3000" dirty="0"/>
              <a:t> </a:t>
            </a:r>
            <a:r>
              <a:rPr lang="en-IN" sz="3000" dirty="0" err="1"/>
              <a:t>r</a:t>
            </a:r>
            <a:r>
              <a:rPr lang="en-IN" sz="3000" baseline="30000" dirty="0" err="1"/>
              <a:t>k</a:t>
            </a:r>
            <a:r>
              <a:rPr lang="en-IN" sz="3000" dirty="0"/>
              <a:t> + C</a:t>
            </a:r>
            <a:r>
              <a:rPr lang="en-IN" sz="3000" baseline="-25000" dirty="0"/>
              <a:t>1</a:t>
            </a:r>
            <a:r>
              <a:rPr lang="en-IN" sz="3000" dirty="0"/>
              <a:t> r</a:t>
            </a:r>
            <a:r>
              <a:rPr lang="en-IN" sz="3000" baseline="30000" dirty="0"/>
              <a:t>k-1</a:t>
            </a:r>
            <a:r>
              <a:rPr lang="en-IN" sz="3000" dirty="0"/>
              <a:t> + C</a:t>
            </a:r>
            <a:r>
              <a:rPr lang="en-IN" sz="3000" baseline="-25000" dirty="0"/>
              <a:t>2</a:t>
            </a:r>
            <a:r>
              <a:rPr lang="en-IN" sz="3000" dirty="0"/>
              <a:t> r</a:t>
            </a:r>
            <a:r>
              <a:rPr lang="en-IN" sz="3000" baseline="30000" dirty="0"/>
              <a:t>k-2</a:t>
            </a:r>
            <a:r>
              <a:rPr lang="en-IN" sz="3000" dirty="0"/>
              <a:t> + .......…+ C</a:t>
            </a:r>
            <a:r>
              <a:rPr lang="en-IN" sz="3000" baseline="-25000" dirty="0"/>
              <a:t>k</a:t>
            </a:r>
            <a:r>
              <a:rPr lang="en-IN" sz="3000" dirty="0"/>
              <a:t> ] = 0</a:t>
            </a:r>
          </a:p>
          <a:p>
            <a:pPr algn="just">
              <a:buNone/>
            </a:pPr>
            <a:r>
              <a:rPr lang="en-US" sz="3000" dirty="0"/>
              <a:t>	</a:t>
            </a:r>
            <a:r>
              <a:rPr lang="en-IN" sz="3000" dirty="0"/>
              <a:t>or,	</a:t>
            </a:r>
            <a:r>
              <a:rPr lang="en-IN" sz="3000" b="1" dirty="0">
                <a:solidFill>
                  <a:srgbClr val="FF0000"/>
                </a:solidFill>
              </a:rPr>
              <a:t>C</a:t>
            </a:r>
            <a:r>
              <a:rPr lang="en-IN" sz="3000" b="1" baseline="-25000" dirty="0">
                <a:solidFill>
                  <a:srgbClr val="FF0000"/>
                </a:solidFill>
              </a:rPr>
              <a:t>0</a:t>
            </a:r>
            <a:r>
              <a:rPr lang="en-IN" sz="3000" b="1" dirty="0">
                <a:solidFill>
                  <a:srgbClr val="FF0000"/>
                </a:solidFill>
              </a:rPr>
              <a:t> </a:t>
            </a:r>
            <a:r>
              <a:rPr lang="en-IN" sz="3000" b="1" dirty="0" err="1">
                <a:solidFill>
                  <a:srgbClr val="FF0000"/>
                </a:solidFill>
              </a:rPr>
              <a:t>r</a:t>
            </a:r>
            <a:r>
              <a:rPr lang="en-IN" sz="3000" b="1" baseline="30000" dirty="0" err="1">
                <a:solidFill>
                  <a:srgbClr val="FF0000"/>
                </a:solidFill>
              </a:rPr>
              <a:t>k</a:t>
            </a:r>
            <a:r>
              <a:rPr lang="en-IN" sz="3000" b="1" dirty="0">
                <a:solidFill>
                  <a:srgbClr val="FF0000"/>
                </a:solidFill>
              </a:rPr>
              <a:t> + C</a:t>
            </a:r>
            <a:r>
              <a:rPr lang="en-IN" sz="3000" b="1" baseline="-25000" dirty="0">
                <a:solidFill>
                  <a:srgbClr val="FF0000"/>
                </a:solidFill>
              </a:rPr>
              <a:t>1</a:t>
            </a:r>
            <a:r>
              <a:rPr lang="en-IN" sz="3000" b="1" dirty="0">
                <a:solidFill>
                  <a:srgbClr val="FF0000"/>
                </a:solidFill>
              </a:rPr>
              <a:t> r</a:t>
            </a:r>
            <a:r>
              <a:rPr lang="en-IN" sz="3000" b="1" baseline="30000" dirty="0">
                <a:solidFill>
                  <a:srgbClr val="FF0000"/>
                </a:solidFill>
              </a:rPr>
              <a:t>k-1</a:t>
            </a:r>
            <a:r>
              <a:rPr lang="en-IN" sz="3000" b="1" dirty="0">
                <a:solidFill>
                  <a:srgbClr val="FF0000"/>
                </a:solidFill>
              </a:rPr>
              <a:t> + C</a:t>
            </a:r>
            <a:r>
              <a:rPr lang="en-IN" sz="3000" b="1" baseline="-25000" dirty="0">
                <a:solidFill>
                  <a:srgbClr val="FF0000"/>
                </a:solidFill>
              </a:rPr>
              <a:t>2</a:t>
            </a:r>
            <a:r>
              <a:rPr lang="en-IN" sz="3000" b="1" dirty="0">
                <a:solidFill>
                  <a:srgbClr val="FF0000"/>
                </a:solidFill>
              </a:rPr>
              <a:t> r</a:t>
            </a:r>
            <a:r>
              <a:rPr lang="en-IN" sz="3000" b="1" baseline="30000" dirty="0">
                <a:solidFill>
                  <a:srgbClr val="FF0000"/>
                </a:solidFill>
              </a:rPr>
              <a:t>k-2</a:t>
            </a:r>
            <a:r>
              <a:rPr lang="en-IN" sz="3000" b="1" dirty="0">
                <a:solidFill>
                  <a:srgbClr val="FF0000"/>
                </a:solidFill>
              </a:rPr>
              <a:t> + .......…+ C</a:t>
            </a:r>
            <a:r>
              <a:rPr lang="en-IN" sz="3000" b="1" baseline="-25000" dirty="0">
                <a:solidFill>
                  <a:srgbClr val="FF0000"/>
                </a:solidFill>
              </a:rPr>
              <a:t>k</a:t>
            </a:r>
            <a:r>
              <a:rPr lang="en-IN" sz="3000" b="1" dirty="0">
                <a:solidFill>
                  <a:srgbClr val="FF0000"/>
                </a:solidFill>
              </a:rPr>
              <a:t>  = 0</a:t>
            </a:r>
          </a:p>
          <a:p>
            <a:pPr algn="just">
              <a:buNone/>
            </a:pPr>
            <a:r>
              <a:rPr lang="en-US" sz="3000" dirty="0"/>
              <a:t>	This is called as characteristic equation of the recurrence relation and solutions to this are called as characteristic roots (polynomial).</a:t>
            </a:r>
            <a:endParaRPr lang="en-IN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Characteristic Roots Method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000" dirty="0"/>
              <a:t>A characteristic equation of degree k has k characteristic roots. </a:t>
            </a:r>
          </a:p>
          <a:p>
            <a:pPr algn="just">
              <a:buNone/>
            </a:pPr>
            <a:endParaRPr lang="en-US" sz="3000" dirty="0"/>
          </a:p>
          <a:p>
            <a:pPr algn="just"/>
            <a:r>
              <a:rPr lang="en-US" sz="3000" dirty="0"/>
              <a:t>If these roots (e.g. r</a:t>
            </a:r>
            <a:r>
              <a:rPr lang="en-US" sz="3000" baseline="-25000" dirty="0"/>
              <a:t>1</a:t>
            </a:r>
            <a:r>
              <a:rPr lang="en-US" sz="3000" dirty="0"/>
              <a:t>, r</a:t>
            </a:r>
            <a:r>
              <a:rPr lang="en-US" sz="3000" baseline="-25000" dirty="0"/>
              <a:t>2</a:t>
            </a:r>
            <a:r>
              <a:rPr lang="en-US" sz="3000" dirty="0"/>
              <a:t>, r</a:t>
            </a:r>
            <a:r>
              <a:rPr lang="en-US" sz="3000" baseline="-25000" dirty="0"/>
              <a:t>3</a:t>
            </a:r>
            <a:r>
              <a:rPr lang="en-US" sz="3000" dirty="0"/>
              <a:t>, ……, </a:t>
            </a:r>
            <a:r>
              <a:rPr lang="en-US" sz="3000" dirty="0" err="1"/>
              <a:t>r</a:t>
            </a:r>
            <a:r>
              <a:rPr lang="en-US" sz="3000" baseline="-25000" dirty="0" err="1"/>
              <a:t>k</a:t>
            </a:r>
            <a:r>
              <a:rPr lang="en-US" sz="3000" dirty="0"/>
              <a:t>) are all distinct and real, then general form of the solutions for homogeneous recurrence relation is: </a:t>
            </a:r>
          </a:p>
          <a:p>
            <a:pPr algn="just">
              <a:buNone/>
            </a:pPr>
            <a:r>
              <a:rPr lang="en-US" sz="3000" dirty="0"/>
              <a:t>	</a:t>
            </a:r>
            <a:r>
              <a:rPr lang="en-IN" sz="3000" b="1" dirty="0">
                <a:solidFill>
                  <a:srgbClr val="FF0000"/>
                </a:solidFill>
              </a:rPr>
              <a:t> 	a</a:t>
            </a:r>
            <a:r>
              <a:rPr lang="en-IN" sz="3000" b="1" baseline="-25000" dirty="0">
                <a:solidFill>
                  <a:srgbClr val="FF0000"/>
                </a:solidFill>
              </a:rPr>
              <a:t>n</a:t>
            </a:r>
            <a:r>
              <a:rPr lang="en-IN" sz="3000" b="1" dirty="0">
                <a:solidFill>
                  <a:srgbClr val="FF0000"/>
                </a:solidFill>
              </a:rPr>
              <a:t> = A</a:t>
            </a:r>
            <a:r>
              <a:rPr lang="en-IN" sz="3000" b="1" baseline="-25000" dirty="0">
                <a:solidFill>
                  <a:srgbClr val="FF0000"/>
                </a:solidFill>
              </a:rPr>
              <a:t>1</a:t>
            </a:r>
            <a:r>
              <a:rPr lang="en-IN" sz="3000" b="1" dirty="0">
                <a:solidFill>
                  <a:srgbClr val="FF0000"/>
                </a:solidFill>
              </a:rPr>
              <a:t> r</a:t>
            </a:r>
            <a:r>
              <a:rPr lang="en-IN" sz="3000" b="1" baseline="-25000" dirty="0">
                <a:solidFill>
                  <a:srgbClr val="FF0000"/>
                </a:solidFill>
              </a:rPr>
              <a:t>1</a:t>
            </a:r>
            <a:r>
              <a:rPr lang="en-IN" sz="3000" b="1" baseline="30000" dirty="0">
                <a:solidFill>
                  <a:srgbClr val="FF0000"/>
                </a:solidFill>
              </a:rPr>
              <a:t>n</a:t>
            </a:r>
            <a:r>
              <a:rPr lang="en-IN" sz="3000" b="1" dirty="0">
                <a:solidFill>
                  <a:srgbClr val="FF0000"/>
                </a:solidFill>
              </a:rPr>
              <a:t> + A</a:t>
            </a:r>
            <a:r>
              <a:rPr lang="en-IN" sz="3000" b="1" baseline="-25000" dirty="0">
                <a:solidFill>
                  <a:srgbClr val="FF0000"/>
                </a:solidFill>
              </a:rPr>
              <a:t>2</a:t>
            </a:r>
            <a:r>
              <a:rPr lang="en-IN" sz="3000" b="1" dirty="0">
                <a:solidFill>
                  <a:srgbClr val="FF0000"/>
                </a:solidFill>
              </a:rPr>
              <a:t> r</a:t>
            </a:r>
            <a:r>
              <a:rPr lang="en-IN" sz="3000" b="1" baseline="-25000" dirty="0">
                <a:solidFill>
                  <a:srgbClr val="FF0000"/>
                </a:solidFill>
              </a:rPr>
              <a:t>2</a:t>
            </a:r>
            <a:r>
              <a:rPr lang="en-IN" sz="3000" b="1" baseline="30000" dirty="0">
                <a:solidFill>
                  <a:srgbClr val="FF0000"/>
                </a:solidFill>
              </a:rPr>
              <a:t>n</a:t>
            </a:r>
            <a:r>
              <a:rPr lang="en-IN" sz="3000" b="1" dirty="0">
                <a:solidFill>
                  <a:srgbClr val="FF0000"/>
                </a:solidFill>
              </a:rPr>
              <a:t> + A</a:t>
            </a:r>
            <a:r>
              <a:rPr lang="en-IN" sz="3000" b="1" baseline="-25000" dirty="0">
                <a:solidFill>
                  <a:srgbClr val="FF0000"/>
                </a:solidFill>
              </a:rPr>
              <a:t>3</a:t>
            </a:r>
            <a:r>
              <a:rPr lang="en-IN" sz="3000" b="1" dirty="0">
                <a:solidFill>
                  <a:srgbClr val="FF0000"/>
                </a:solidFill>
              </a:rPr>
              <a:t> r</a:t>
            </a:r>
            <a:r>
              <a:rPr lang="en-IN" sz="3000" b="1" baseline="-25000" dirty="0">
                <a:solidFill>
                  <a:srgbClr val="FF0000"/>
                </a:solidFill>
              </a:rPr>
              <a:t>3</a:t>
            </a:r>
            <a:r>
              <a:rPr lang="en-IN" sz="3000" b="1" baseline="30000" dirty="0">
                <a:solidFill>
                  <a:srgbClr val="FF0000"/>
                </a:solidFill>
              </a:rPr>
              <a:t>n</a:t>
            </a:r>
            <a:r>
              <a:rPr lang="en-IN" sz="3000" b="1" dirty="0">
                <a:solidFill>
                  <a:srgbClr val="FF0000"/>
                </a:solidFill>
              </a:rPr>
              <a:t> + .......…+ </a:t>
            </a:r>
            <a:r>
              <a:rPr lang="en-IN" sz="3000" b="1" dirty="0" err="1">
                <a:solidFill>
                  <a:srgbClr val="FF0000"/>
                </a:solidFill>
              </a:rPr>
              <a:t>A</a:t>
            </a:r>
            <a:r>
              <a:rPr lang="en-IN" sz="3000" b="1" baseline="-25000" dirty="0" err="1">
                <a:solidFill>
                  <a:srgbClr val="FF0000"/>
                </a:solidFill>
              </a:rPr>
              <a:t>k</a:t>
            </a:r>
            <a:r>
              <a:rPr lang="en-IN" sz="3000" b="1" dirty="0">
                <a:solidFill>
                  <a:srgbClr val="FF0000"/>
                </a:solidFill>
              </a:rPr>
              <a:t> </a:t>
            </a:r>
            <a:r>
              <a:rPr lang="en-IN" sz="3000" b="1" dirty="0" err="1">
                <a:solidFill>
                  <a:srgbClr val="FF0000"/>
                </a:solidFill>
              </a:rPr>
              <a:t>r</a:t>
            </a:r>
            <a:r>
              <a:rPr lang="en-IN" sz="3000" b="1" baseline="-25000" dirty="0" err="1">
                <a:solidFill>
                  <a:srgbClr val="FF0000"/>
                </a:solidFill>
              </a:rPr>
              <a:t>k</a:t>
            </a:r>
            <a:r>
              <a:rPr lang="en-IN" sz="3000" b="1" baseline="30000" dirty="0" err="1">
                <a:solidFill>
                  <a:srgbClr val="FF0000"/>
                </a:solidFill>
              </a:rPr>
              <a:t>n</a:t>
            </a:r>
            <a:r>
              <a:rPr lang="en-IN" sz="3000" b="1" dirty="0">
                <a:solidFill>
                  <a:srgbClr val="FF0000"/>
                </a:solidFill>
              </a:rPr>
              <a:t> </a:t>
            </a:r>
          </a:p>
          <a:p>
            <a:pPr algn="just">
              <a:buNone/>
            </a:pPr>
            <a:r>
              <a:rPr lang="en-US" sz="3000" b="1" dirty="0">
                <a:solidFill>
                  <a:srgbClr val="FF0000"/>
                </a:solidFill>
              </a:rPr>
              <a:t>	</a:t>
            </a:r>
            <a:r>
              <a:rPr lang="en-US" sz="3000" dirty="0"/>
              <a:t>where </a:t>
            </a:r>
            <a:r>
              <a:rPr lang="en-IN" sz="3000" dirty="0"/>
              <a:t>A</a:t>
            </a:r>
            <a:r>
              <a:rPr lang="en-IN" sz="3000" baseline="-25000" dirty="0"/>
              <a:t>1</a:t>
            </a:r>
            <a:r>
              <a:rPr lang="en-IN" sz="3000" dirty="0"/>
              <a:t>, A</a:t>
            </a:r>
            <a:r>
              <a:rPr lang="en-IN" sz="3000" baseline="-25000" dirty="0"/>
              <a:t>2</a:t>
            </a:r>
            <a:r>
              <a:rPr lang="en-IN" sz="3000" dirty="0"/>
              <a:t>, A</a:t>
            </a:r>
            <a:r>
              <a:rPr lang="en-IN" sz="3000" baseline="-25000" dirty="0"/>
              <a:t>3</a:t>
            </a:r>
            <a:r>
              <a:rPr lang="en-IN" sz="3000" dirty="0"/>
              <a:t>, ……., </a:t>
            </a:r>
            <a:r>
              <a:rPr lang="en-IN" sz="3000" dirty="0" err="1"/>
              <a:t>A</a:t>
            </a:r>
            <a:r>
              <a:rPr lang="en-IN" sz="3000" baseline="-25000" dirty="0" err="1"/>
              <a:t>k</a:t>
            </a:r>
            <a:r>
              <a:rPr lang="en-IN" sz="3000" dirty="0"/>
              <a:t> are constants which may be chosen to satisfy any initial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9"/>
            <a:ext cx="10668000" cy="114300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Solve the recurrence relation </a:t>
            </a:r>
            <a:r>
              <a:rPr lang="en-IN" sz="3200" b="1" dirty="0">
                <a:solidFill>
                  <a:srgbClr val="FF0000"/>
                </a:solidFill>
              </a:rPr>
              <a:t>a</a:t>
            </a:r>
            <a:r>
              <a:rPr lang="en-IN" sz="3200" b="1" baseline="-25000" dirty="0">
                <a:solidFill>
                  <a:srgbClr val="FF0000"/>
                </a:solidFill>
              </a:rPr>
              <a:t>n</a:t>
            </a:r>
            <a:r>
              <a:rPr lang="en-IN" sz="3200" b="1" dirty="0">
                <a:solidFill>
                  <a:srgbClr val="FF0000"/>
                </a:solidFill>
              </a:rPr>
              <a:t> = a</a:t>
            </a:r>
            <a:r>
              <a:rPr lang="en-IN" sz="3200" b="1" baseline="-25000" dirty="0">
                <a:solidFill>
                  <a:srgbClr val="FF0000"/>
                </a:solidFill>
              </a:rPr>
              <a:t>n-1</a:t>
            </a:r>
            <a:r>
              <a:rPr lang="en-IN" sz="3200" b="1" dirty="0">
                <a:solidFill>
                  <a:srgbClr val="FF0000"/>
                </a:solidFill>
              </a:rPr>
              <a:t> + 2 a</a:t>
            </a:r>
            <a:r>
              <a:rPr lang="en-IN" sz="3200" b="1" baseline="-25000" dirty="0">
                <a:solidFill>
                  <a:srgbClr val="FF0000"/>
                </a:solidFill>
              </a:rPr>
              <a:t>n-2 </a:t>
            </a:r>
            <a:r>
              <a:rPr lang="en-IN" sz="3200" b="1" dirty="0">
                <a:solidFill>
                  <a:srgbClr val="FF0000"/>
                </a:solidFill>
              </a:rPr>
              <a:t>,</a:t>
            </a:r>
            <a:br>
              <a:rPr lang="en-IN" sz="3200" b="1" dirty="0">
                <a:solidFill>
                  <a:srgbClr val="FF0000"/>
                </a:solidFill>
              </a:rPr>
            </a:br>
            <a:r>
              <a:rPr lang="en-IN" sz="3200" b="1" dirty="0">
                <a:solidFill>
                  <a:srgbClr val="FF0000"/>
                </a:solidFill>
              </a:rPr>
              <a:t>n ≥2 with the initial conditions a</a:t>
            </a:r>
            <a:r>
              <a:rPr lang="en-IN" sz="3200" b="1" baseline="-25000" dirty="0">
                <a:solidFill>
                  <a:srgbClr val="FF0000"/>
                </a:solidFill>
              </a:rPr>
              <a:t>0</a:t>
            </a:r>
            <a:r>
              <a:rPr lang="en-IN" sz="3200" b="1" dirty="0">
                <a:solidFill>
                  <a:srgbClr val="FF0000"/>
                </a:solidFill>
              </a:rPr>
              <a:t> = 0, a</a:t>
            </a:r>
            <a:r>
              <a:rPr lang="en-IN" sz="3200" b="1" baseline="-25000" dirty="0">
                <a:solidFill>
                  <a:srgbClr val="FF0000"/>
                </a:solidFill>
              </a:rPr>
              <a:t>1</a:t>
            </a:r>
            <a:r>
              <a:rPr lang="en-IN" sz="3200" b="1" dirty="0">
                <a:solidFill>
                  <a:srgbClr val="FF0000"/>
                </a:solidFill>
              </a:rPr>
              <a:t> = 1.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537854"/>
            <a:ext cx="10668000" cy="5015345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Given </a:t>
            </a:r>
            <a:r>
              <a:rPr lang="en-IN" dirty="0"/>
              <a:t>a</a:t>
            </a:r>
            <a:r>
              <a:rPr lang="en-IN" baseline="-25000" dirty="0"/>
              <a:t>n</a:t>
            </a:r>
            <a:r>
              <a:rPr lang="en-IN" dirty="0"/>
              <a:t> = a</a:t>
            </a:r>
            <a:r>
              <a:rPr lang="en-IN" baseline="-25000" dirty="0"/>
              <a:t>n-1</a:t>
            </a:r>
            <a:r>
              <a:rPr lang="en-IN" dirty="0"/>
              <a:t> + 2 a</a:t>
            </a:r>
            <a:r>
              <a:rPr lang="en-IN" baseline="-25000" dirty="0"/>
              <a:t>n-2 </a:t>
            </a:r>
          </a:p>
          <a:p>
            <a:pPr>
              <a:buNone/>
            </a:pPr>
            <a:r>
              <a:rPr lang="en-US" dirty="0"/>
              <a:t>i.e. 	</a:t>
            </a:r>
            <a:r>
              <a:rPr lang="en-IN" dirty="0"/>
              <a:t>a</a:t>
            </a:r>
            <a:r>
              <a:rPr lang="en-IN" baseline="-25000" dirty="0"/>
              <a:t>n</a:t>
            </a:r>
            <a:r>
              <a:rPr lang="en-IN" dirty="0"/>
              <a:t> </a:t>
            </a:r>
            <a:r>
              <a:rPr lang="en-US" dirty="0"/>
              <a:t>–</a:t>
            </a:r>
            <a:r>
              <a:rPr lang="en-IN" dirty="0"/>
              <a:t> a</a:t>
            </a:r>
            <a:r>
              <a:rPr lang="en-IN" baseline="-25000" dirty="0"/>
              <a:t>n-1</a:t>
            </a:r>
            <a:r>
              <a:rPr lang="en-IN" dirty="0"/>
              <a:t> </a:t>
            </a:r>
            <a:r>
              <a:rPr lang="en-US" dirty="0"/>
              <a:t>–</a:t>
            </a:r>
            <a:r>
              <a:rPr lang="en-IN" dirty="0"/>
              <a:t> 2 a</a:t>
            </a:r>
            <a:r>
              <a:rPr lang="en-IN" baseline="-25000" dirty="0"/>
              <a:t>n-2 </a:t>
            </a:r>
            <a:r>
              <a:rPr lang="en-IN" dirty="0"/>
              <a:t>= 0</a:t>
            </a:r>
          </a:p>
          <a:p>
            <a:pPr>
              <a:buNone/>
            </a:pPr>
            <a:r>
              <a:rPr lang="en-US" dirty="0"/>
              <a:t>Then the characteristic eqn. is 	</a:t>
            </a:r>
            <a:r>
              <a:rPr lang="en-IN" b="1" dirty="0">
                <a:solidFill>
                  <a:srgbClr val="FF0000"/>
                </a:solidFill>
              </a:rPr>
              <a:t> r</a:t>
            </a:r>
            <a:r>
              <a:rPr lang="en-IN" b="1" baseline="30000" dirty="0">
                <a:solidFill>
                  <a:srgbClr val="FF0000"/>
                </a:solidFill>
              </a:rPr>
              <a:t>2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–</a:t>
            </a:r>
            <a:r>
              <a:rPr lang="en-IN" b="1" dirty="0">
                <a:solidFill>
                  <a:srgbClr val="FF0000"/>
                </a:solidFill>
              </a:rPr>
              <a:t> r </a:t>
            </a:r>
            <a:r>
              <a:rPr lang="en-US" dirty="0">
                <a:solidFill>
                  <a:srgbClr val="FF0000"/>
                </a:solidFill>
              </a:rPr>
              <a:t>–</a:t>
            </a:r>
            <a:r>
              <a:rPr lang="en-IN" b="1" dirty="0">
                <a:solidFill>
                  <a:srgbClr val="FF0000"/>
                </a:solidFill>
              </a:rPr>
              <a:t> 2 = 0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	</a:t>
            </a:r>
            <a:r>
              <a:rPr lang="en-US" dirty="0"/>
              <a:t>or, </a:t>
            </a:r>
            <a:r>
              <a:rPr lang="en-US" b="1" dirty="0">
                <a:solidFill>
                  <a:srgbClr val="FF0000"/>
                </a:solidFill>
              </a:rPr>
              <a:t>	</a:t>
            </a:r>
            <a:r>
              <a:rPr lang="en-US" dirty="0"/>
              <a:t>(r – 2)(r + 1) = 0</a:t>
            </a:r>
          </a:p>
          <a:p>
            <a:pPr>
              <a:buNone/>
            </a:pPr>
            <a:r>
              <a:rPr lang="en-US" dirty="0"/>
              <a:t>	or,	r = 2, – 1</a:t>
            </a:r>
          </a:p>
          <a:p>
            <a:pPr>
              <a:buNone/>
            </a:pPr>
            <a:r>
              <a:rPr lang="en-US" dirty="0"/>
              <a:t>Therefore, the general solution is</a:t>
            </a:r>
          </a:p>
          <a:p>
            <a:pPr>
              <a:buNone/>
            </a:pPr>
            <a:r>
              <a:rPr lang="en-IN" b="1" dirty="0">
                <a:solidFill>
                  <a:srgbClr val="FF0000"/>
                </a:solidFill>
              </a:rPr>
              <a:t>		a</a:t>
            </a:r>
            <a:r>
              <a:rPr lang="en-IN" b="1" baseline="-25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= A</a:t>
            </a:r>
            <a:r>
              <a:rPr lang="en-IN" b="1" baseline="-25000" dirty="0">
                <a:solidFill>
                  <a:srgbClr val="FF0000"/>
                </a:solidFill>
              </a:rPr>
              <a:t>1</a:t>
            </a:r>
            <a:r>
              <a:rPr lang="en-IN" b="1" dirty="0">
                <a:solidFill>
                  <a:srgbClr val="FF0000"/>
                </a:solidFill>
              </a:rPr>
              <a:t> (2)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+ A</a:t>
            </a:r>
            <a:r>
              <a:rPr lang="en-IN" b="1" baseline="-25000" dirty="0">
                <a:solidFill>
                  <a:srgbClr val="FF0000"/>
                </a:solidFill>
              </a:rPr>
              <a:t>2</a:t>
            </a:r>
            <a:r>
              <a:rPr lang="en-IN" b="1" dirty="0">
                <a:solidFill>
                  <a:srgbClr val="FF0000"/>
                </a:solidFill>
              </a:rPr>
              <a:t> (</a:t>
            </a:r>
            <a:r>
              <a:rPr lang="en-US" b="1" dirty="0">
                <a:solidFill>
                  <a:srgbClr val="FF0000"/>
                </a:solidFill>
              </a:rPr>
              <a:t>– </a:t>
            </a:r>
            <a:r>
              <a:rPr lang="en-IN" b="1" dirty="0">
                <a:solidFill>
                  <a:srgbClr val="FF0000"/>
                </a:solidFill>
              </a:rPr>
              <a:t>1)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</a:t>
            </a:r>
          </a:p>
          <a:p>
            <a:pPr>
              <a:buNone/>
            </a:pPr>
            <a:r>
              <a:rPr lang="en-US" dirty="0"/>
              <a:t>Given </a:t>
            </a:r>
            <a:r>
              <a:rPr lang="en-IN" dirty="0"/>
              <a:t>a</a:t>
            </a:r>
            <a:r>
              <a:rPr lang="en-IN" baseline="-25000" dirty="0"/>
              <a:t>0</a:t>
            </a:r>
            <a:r>
              <a:rPr lang="en-IN" dirty="0"/>
              <a:t> = 0 	 then	A</a:t>
            </a:r>
            <a:r>
              <a:rPr lang="en-IN" baseline="-25000" dirty="0"/>
              <a:t>1</a:t>
            </a:r>
            <a:r>
              <a:rPr lang="en-IN" dirty="0"/>
              <a:t> + A</a:t>
            </a:r>
            <a:r>
              <a:rPr lang="en-IN" baseline="-25000" dirty="0"/>
              <a:t>2</a:t>
            </a:r>
            <a:r>
              <a:rPr lang="en-IN" dirty="0"/>
              <a:t> = 0	  .....(1)</a:t>
            </a:r>
          </a:p>
          <a:p>
            <a:pPr>
              <a:buNone/>
            </a:pPr>
            <a:r>
              <a:rPr lang="en-US" dirty="0"/>
              <a:t>and </a:t>
            </a:r>
            <a:r>
              <a:rPr lang="en-IN" dirty="0"/>
              <a:t>a</a:t>
            </a:r>
            <a:r>
              <a:rPr lang="en-IN" baseline="-25000" dirty="0"/>
              <a:t>1</a:t>
            </a:r>
            <a:r>
              <a:rPr lang="en-IN" dirty="0"/>
              <a:t> = 1	then	2A</a:t>
            </a:r>
            <a:r>
              <a:rPr lang="en-IN" baseline="-25000" dirty="0"/>
              <a:t>1</a:t>
            </a:r>
            <a:r>
              <a:rPr lang="en-IN" dirty="0"/>
              <a:t> </a:t>
            </a:r>
            <a:r>
              <a:rPr lang="en-US" dirty="0"/>
              <a:t>–</a:t>
            </a:r>
            <a:r>
              <a:rPr lang="en-IN" dirty="0"/>
              <a:t> A</a:t>
            </a:r>
            <a:r>
              <a:rPr lang="en-IN" baseline="-25000" dirty="0"/>
              <a:t>2</a:t>
            </a:r>
            <a:r>
              <a:rPr lang="en-IN" dirty="0"/>
              <a:t> = 1	  .....(2)</a:t>
            </a:r>
          </a:p>
          <a:p>
            <a:pPr>
              <a:buNone/>
            </a:pPr>
            <a:r>
              <a:rPr lang="en-US" dirty="0"/>
              <a:t>Solving (1) and (2) we get </a:t>
            </a:r>
            <a:r>
              <a:rPr lang="en-IN" dirty="0"/>
              <a:t>A</a:t>
            </a:r>
            <a:r>
              <a:rPr lang="en-IN" baseline="-25000" dirty="0"/>
              <a:t>1 </a:t>
            </a:r>
            <a:r>
              <a:rPr lang="en-IN" dirty="0"/>
              <a:t>= ⅓ and A</a:t>
            </a:r>
            <a:r>
              <a:rPr lang="en-IN" baseline="-25000" dirty="0"/>
              <a:t>2 </a:t>
            </a:r>
            <a:r>
              <a:rPr lang="en-IN" dirty="0"/>
              <a:t>= </a:t>
            </a:r>
            <a:r>
              <a:rPr lang="en-US" dirty="0"/>
              <a:t>– </a:t>
            </a:r>
            <a:r>
              <a:rPr lang="en-IN" dirty="0"/>
              <a:t>⅓</a:t>
            </a:r>
          </a:p>
          <a:p>
            <a:pPr>
              <a:buNone/>
            </a:pPr>
            <a:r>
              <a:rPr lang="en-US" dirty="0"/>
              <a:t>Hence the solution to the given homogeneous RR is:</a:t>
            </a:r>
          </a:p>
          <a:p>
            <a:pPr>
              <a:buNone/>
            </a:pPr>
            <a:r>
              <a:rPr lang="en-IN" b="1" dirty="0">
                <a:solidFill>
                  <a:srgbClr val="FF0000"/>
                </a:solidFill>
              </a:rPr>
              <a:t>		a</a:t>
            </a:r>
            <a:r>
              <a:rPr lang="en-IN" b="1" baseline="-25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= ⅓ (2)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–</a:t>
            </a:r>
            <a:r>
              <a:rPr lang="en-IN" b="1" dirty="0">
                <a:solidFill>
                  <a:srgbClr val="FF0000"/>
                </a:solidFill>
              </a:rPr>
              <a:t> ⅓ (</a:t>
            </a:r>
            <a:r>
              <a:rPr lang="en-US" b="1" dirty="0">
                <a:solidFill>
                  <a:srgbClr val="FF0000"/>
                </a:solidFill>
              </a:rPr>
              <a:t>– </a:t>
            </a:r>
            <a:r>
              <a:rPr lang="en-IN" b="1" dirty="0">
                <a:solidFill>
                  <a:srgbClr val="FF0000"/>
                </a:solidFill>
              </a:rPr>
              <a:t>1)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74639"/>
            <a:ext cx="11277600" cy="114300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Solve the recurrence relation </a:t>
            </a:r>
            <a:r>
              <a:rPr lang="en-IN" sz="3200" b="1" dirty="0">
                <a:solidFill>
                  <a:srgbClr val="FF0000"/>
                </a:solidFill>
              </a:rPr>
              <a:t>a</a:t>
            </a:r>
            <a:r>
              <a:rPr lang="en-IN" sz="3200" b="1" baseline="-25000" dirty="0">
                <a:solidFill>
                  <a:srgbClr val="FF0000"/>
                </a:solidFill>
              </a:rPr>
              <a:t>n </a:t>
            </a:r>
            <a:r>
              <a:rPr lang="en-US" sz="3200" dirty="0">
                <a:solidFill>
                  <a:srgbClr val="FF0000"/>
                </a:solidFill>
              </a:rPr>
              <a:t>–</a:t>
            </a:r>
            <a:r>
              <a:rPr lang="en-IN" sz="3200" b="1" dirty="0">
                <a:solidFill>
                  <a:srgbClr val="FF0000"/>
                </a:solidFill>
              </a:rPr>
              <a:t> 4a</a:t>
            </a:r>
            <a:r>
              <a:rPr lang="en-IN" sz="3200" b="1" baseline="-25000" dirty="0">
                <a:solidFill>
                  <a:srgbClr val="FF0000"/>
                </a:solidFill>
              </a:rPr>
              <a:t>n-1</a:t>
            </a:r>
            <a:r>
              <a:rPr lang="en-IN" sz="3200" b="1" dirty="0">
                <a:solidFill>
                  <a:srgbClr val="FF0000"/>
                </a:solidFill>
              </a:rPr>
              <a:t> + 4 a</a:t>
            </a:r>
            <a:r>
              <a:rPr lang="en-IN" sz="3200" b="1" baseline="-25000" dirty="0">
                <a:solidFill>
                  <a:srgbClr val="FF0000"/>
                </a:solidFill>
              </a:rPr>
              <a:t>n-2 </a:t>
            </a:r>
            <a:r>
              <a:rPr lang="en-IN" sz="3200" b="1" dirty="0">
                <a:solidFill>
                  <a:srgbClr val="FF0000"/>
                </a:solidFill>
              </a:rPr>
              <a:t>= 0, </a:t>
            </a:r>
            <a:br>
              <a:rPr lang="en-IN" sz="3200" b="1" dirty="0">
                <a:solidFill>
                  <a:srgbClr val="FF0000"/>
                </a:solidFill>
              </a:rPr>
            </a:br>
            <a:r>
              <a:rPr lang="en-IN" sz="3200" dirty="0">
                <a:solidFill>
                  <a:srgbClr val="FF0000"/>
                </a:solidFill>
              </a:rPr>
              <a:t>n ≥2 with the initial conditions a</a:t>
            </a:r>
            <a:r>
              <a:rPr lang="en-IN" sz="3200" baseline="-25000" dirty="0">
                <a:solidFill>
                  <a:srgbClr val="FF0000"/>
                </a:solidFill>
              </a:rPr>
              <a:t>0</a:t>
            </a:r>
            <a:r>
              <a:rPr lang="en-IN" sz="3200" dirty="0">
                <a:solidFill>
                  <a:srgbClr val="FF0000"/>
                </a:solidFill>
              </a:rPr>
              <a:t> = a</a:t>
            </a:r>
            <a:r>
              <a:rPr lang="en-IN" sz="3200" baseline="-25000" dirty="0">
                <a:solidFill>
                  <a:srgbClr val="FF0000"/>
                </a:solidFill>
              </a:rPr>
              <a:t>1</a:t>
            </a:r>
            <a:r>
              <a:rPr lang="en-IN" sz="3200" dirty="0">
                <a:solidFill>
                  <a:srgbClr val="FF0000"/>
                </a:solidFill>
              </a:rPr>
              <a:t> = 1.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565564"/>
            <a:ext cx="10668000" cy="498763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Given </a:t>
            </a:r>
            <a:r>
              <a:rPr lang="en-IN" dirty="0"/>
              <a:t>a</a:t>
            </a:r>
            <a:r>
              <a:rPr lang="en-IN" baseline="-25000" dirty="0"/>
              <a:t>n </a:t>
            </a:r>
            <a:r>
              <a:rPr lang="en-US" dirty="0"/>
              <a:t>–</a:t>
            </a:r>
            <a:r>
              <a:rPr lang="en-IN" dirty="0"/>
              <a:t> 4a</a:t>
            </a:r>
            <a:r>
              <a:rPr lang="en-IN" baseline="-25000" dirty="0"/>
              <a:t>n-1</a:t>
            </a:r>
            <a:r>
              <a:rPr lang="en-IN" dirty="0"/>
              <a:t> + 4 a</a:t>
            </a:r>
            <a:r>
              <a:rPr lang="en-IN" baseline="-25000" dirty="0"/>
              <a:t>n-2 </a:t>
            </a:r>
            <a:r>
              <a:rPr lang="en-IN" dirty="0"/>
              <a:t>= 0</a:t>
            </a:r>
            <a:endParaRPr lang="en-IN" baseline="-25000" dirty="0"/>
          </a:p>
          <a:p>
            <a:pPr>
              <a:buNone/>
            </a:pPr>
            <a:r>
              <a:rPr lang="en-US" dirty="0"/>
              <a:t>Then the characteristic eqn. is 	</a:t>
            </a:r>
            <a:r>
              <a:rPr lang="en-IN" b="1" dirty="0">
                <a:solidFill>
                  <a:srgbClr val="FF0000"/>
                </a:solidFill>
              </a:rPr>
              <a:t> r</a:t>
            </a:r>
            <a:r>
              <a:rPr lang="en-IN" b="1" baseline="30000" dirty="0">
                <a:solidFill>
                  <a:srgbClr val="FF0000"/>
                </a:solidFill>
              </a:rPr>
              <a:t>2</a:t>
            </a:r>
            <a:r>
              <a:rPr lang="en-IN" b="1" dirty="0">
                <a:solidFill>
                  <a:srgbClr val="FF0000"/>
                </a:solidFill>
              </a:rPr>
              <a:t> - 4r + 4 = 0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	</a:t>
            </a:r>
            <a:r>
              <a:rPr lang="en-US" dirty="0"/>
              <a:t> or, </a:t>
            </a:r>
            <a:r>
              <a:rPr lang="en-US" b="1" dirty="0">
                <a:solidFill>
                  <a:srgbClr val="FF0000"/>
                </a:solidFill>
              </a:rPr>
              <a:t>	</a:t>
            </a:r>
            <a:r>
              <a:rPr lang="en-US" dirty="0"/>
              <a:t>(r – 2)(r – 2) = 0</a:t>
            </a:r>
          </a:p>
          <a:p>
            <a:pPr>
              <a:buNone/>
            </a:pPr>
            <a:r>
              <a:rPr lang="en-US" dirty="0"/>
              <a:t>	 or, 	r = 2, 2</a:t>
            </a:r>
          </a:p>
          <a:p>
            <a:pPr>
              <a:buNone/>
            </a:pPr>
            <a:r>
              <a:rPr lang="en-US" dirty="0"/>
              <a:t>Therefore, the general solution is</a:t>
            </a:r>
          </a:p>
          <a:p>
            <a:pPr>
              <a:buNone/>
            </a:pPr>
            <a:r>
              <a:rPr lang="en-IN" b="1" dirty="0">
                <a:solidFill>
                  <a:srgbClr val="FF0000"/>
                </a:solidFill>
              </a:rPr>
              <a:t>		a</a:t>
            </a:r>
            <a:r>
              <a:rPr lang="en-IN" b="1" baseline="-25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= A</a:t>
            </a:r>
            <a:r>
              <a:rPr lang="en-IN" b="1" baseline="-25000" dirty="0">
                <a:solidFill>
                  <a:srgbClr val="FF0000"/>
                </a:solidFill>
              </a:rPr>
              <a:t>1</a:t>
            </a:r>
            <a:r>
              <a:rPr lang="en-IN" b="1" dirty="0">
                <a:solidFill>
                  <a:srgbClr val="FF0000"/>
                </a:solidFill>
              </a:rPr>
              <a:t> (2)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+ n A</a:t>
            </a:r>
            <a:r>
              <a:rPr lang="en-IN" b="1" baseline="-25000" dirty="0">
                <a:solidFill>
                  <a:srgbClr val="FF0000"/>
                </a:solidFill>
              </a:rPr>
              <a:t>2</a:t>
            </a:r>
            <a:r>
              <a:rPr lang="en-IN" b="1" dirty="0">
                <a:solidFill>
                  <a:srgbClr val="FF0000"/>
                </a:solidFill>
              </a:rPr>
              <a:t> (2)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</a:t>
            </a:r>
          </a:p>
          <a:p>
            <a:pPr>
              <a:buNone/>
            </a:pPr>
            <a:r>
              <a:rPr lang="en-US" dirty="0"/>
              <a:t>Given </a:t>
            </a:r>
            <a:r>
              <a:rPr lang="en-IN" dirty="0"/>
              <a:t>a</a:t>
            </a:r>
            <a:r>
              <a:rPr lang="en-IN" baseline="-25000" dirty="0"/>
              <a:t>0</a:t>
            </a:r>
            <a:r>
              <a:rPr lang="en-IN" dirty="0"/>
              <a:t> = 1 	 then	A</a:t>
            </a:r>
            <a:r>
              <a:rPr lang="en-IN" baseline="-25000" dirty="0"/>
              <a:t>1</a:t>
            </a:r>
            <a:r>
              <a:rPr lang="en-IN" dirty="0"/>
              <a:t>  = 1			.....(1)</a:t>
            </a:r>
          </a:p>
          <a:p>
            <a:pPr>
              <a:buNone/>
            </a:pPr>
            <a:r>
              <a:rPr lang="en-US" dirty="0"/>
              <a:t>and </a:t>
            </a:r>
            <a:r>
              <a:rPr lang="en-IN" dirty="0"/>
              <a:t>a</a:t>
            </a:r>
            <a:r>
              <a:rPr lang="en-IN" baseline="-25000" dirty="0"/>
              <a:t>1</a:t>
            </a:r>
            <a:r>
              <a:rPr lang="en-IN" dirty="0"/>
              <a:t> = 1	 then	2A</a:t>
            </a:r>
            <a:r>
              <a:rPr lang="en-IN" baseline="-25000" dirty="0"/>
              <a:t>1</a:t>
            </a:r>
            <a:r>
              <a:rPr lang="en-IN" dirty="0"/>
              <a:t> + 2A</a:t>
            </a:r>
            <a:r>
              <a:rPr lang="en-IN" baseline="-25000" dirty="0"/>
              <a:t>2</a:t>
            </a:r>
            <a:r>
              <a:rPr lang="en-IN" dirty="0"/>
              <a:t> = 1		.....(2)</a:t>
            </a:r>
          </a:p>
          <a:p>
            <a:pPr>
              <a:buNone/>
            </a:pPr>
            <a:r>
              <a:rPr lang="en-US" dirty="0"/>
              <a:t>Solving (1) and (2) we get </a:t>
            </a:r>
            <a:r>
              <a:rPr lang="en-IN" dirty="0"/>
              <a:t>A</a:t>
            </a:r>
            <a:r>
              <a:rPr lang="en-IN" baseline="-25000" dirty="0"/>
              <a:t>1 </a:t>
            </a:r>
            <a:r>
              <a:rPr lang="en-IN" dirty="0"/>
              <a:t>= 1 and A</a:t>
            </a:r>
            <a:r>
              <a:rPr lang="en-IN" baseline="-25000" dirty="0"/>
              <a:t>2 </a:t>
            </a:r>
            <a:r>
              <a:rPr lang="en-IN" dirty="0"/>
              <a:t>= </a:t>
            </a:r>
            <a:r>
              <a:rPr lang="en-US" dirty="0"/>
              <a:t>–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IN" b="1" dirty="0"/>
              <a:t>½</a:t>
            </a:r>
            <a:r>
              <a:rPr lang="en-IN" dirty="0"/>
              <a:t> </a:t>
            </a:r>
          </a:p>
          <a:p>
            <a:pPr>
              <a:buNone/>
            </a:pPr>
            <a:r>
              <a:rPr lang="en-US" dirty="0"/>
              <a:t>Hence the solution to the given homogeneous RR is:</a:t>
            </a:r>
          </a:p>
          <a:p>
            <a:pPr>
              <a:buNone/>
            </a:pPr>
            <a:r>
              <a:rPr lang="en-IN" b="1" dirty="0">
                <a:solidFill>
                  <a:srgbClr val="FF0000"/>
                </a:solidFill>
              </a:rPr>
              <a:t>		a</a:t>
            </a:r>
            <a:r>
              <a:rPr lang="en-IN" b="1" baseline="-25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= (2)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–</a:t>
            </a:r>
            <a:r>
              <a:rPr lang="en-IN" b="1" dirty="0">
                <a:solidFill>
                  <a:srgbClr val="FF0000"/>
                </a:solidFill>
              </a:rPr>
              <a:t> ½ n (2)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= (1 </a:t>
            </a:r>
            <a:r>
              <a:rPr lang="en-US" b="1" dirty="0">
                <a:solidFill>
                  <a:srgbClr val="FF0000"/>
                </a:solidFill>
              </a:rPr>
              <a:t>– </a:t>
            </a:r>
            <a:r>
              <a:rPr lang="en-IN" b="1" dirty="0">
                <a:solidFill>
                  <a:srgbClr val="FF0000"/>
                </a:solidFill>
              </a:rPr>
              <a:t>½ n</a:t>
            </a:r>
            <a:r>
              <a:rPr lang="en-US" b="1" dirty="0">
                <a:solidFill>
                  <a:srgbClr val="FF0000"/>
                </a:solidFill>
              </a:rPr>
              <a:t>) 2</a:t>
            </a:r>
            <a:r>
              <a:rPr lang="en-US" b="1" baseline="30000" dirty="0">
                <a:solidFill>
                  <a:srgbClr val="FF0000"/>
                </a:solidFill>
              </a:rPr>
              <a:t>n</a:t>
            </a:r>
            <a:endParaRPr lang="en-IN" b="1" baseline="30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4639"/>
            <a:ext cx="10769600" cy="1143000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0000"/>
                </a:solidFill>
              </a:rPr>
              <a:t>Solve the homogeneous recurrence relation </a:t>
            </a:r>
            <a:br>
              <a:rPr lang="en-US" sz="3200" dirty="0">
                <a:solidFill>
                  <a:srgbClr val="FF0000"/>
                </a:solidFill>
              </a:rPr>
            </a:br>
            <a:r>
              <a:rPr lang="en-IN" sz="3200" b="1" dirty="0">
                <a:solidFill>
                  <a:srgbClr val="FF0000"/>
                </a:solidFill>
              </a:rPr>
              <a:t>a</a:t>
            </a:r>
            <a:r>
              <a:rPr lang="en-IN" sz="3200" b="1" baseline="-25000" dirty="0">
                <a:solidFill>
                  <a:srgbClr val="FF0000"/>
                </a:solidFill>
              </a:rPr>
              <a:t>n </a:t>
            </a:r>
            <a:r>
              <a:rPr lang="en-US" sz="3200" dirty="0">
                <a:solidFill>
                  <a:srgbClr val="FF0000"/>
                </a:solidFill>
              </a:rPr>
              <a:t>–</a:t>
            </a:r>
            <a:r>
              <a:rPr lang="en-IN" sz="3200" b="1" dirty="0">
                <a:solidFill>
                  <a:srgbClr val="FF0000"/>
                </a:solidFill>
              </a:rPr>
              <a:t> 8a</a:t>
            </a:r>
            <a:r>
              <a:rPr lang="en-IN" sz="3200" b="1" baseline="-25000" dirty="0">
                <a:solidFill>
                  <a:srgbClr val="FF0000"/>
                </a:solidFill>
              </a:rPr>
              <a:t>n-1</a:t>
            </a:r>
            <a:r>
              <a:rPr lang="en-IN" sz="3200" b="1" dirty="0">
                <a:solidFill>
                  <a:srgbClr val="FF0000"/>
                </a:solidFill>
              </a:rPr>
              <a:t> + 21a</a:t>
            </a:r>
            <a:r>
              <a:rPr lang="en-IN" sz="3200" b="1" baseline="-25000" dirty="0">
                <a:solidFill>
                  <a:srgbClr val="FF0000"/>
                </a:solidFill>
              </a:rPr>
              <a:t>n-2 </a:t>
            </a:r>
            <a:r>
              <a:rPr lang="en-US" sz="3200" dirty="0">
                <a:solidFill>
                  <a:srgbClr val="FF0000"/>
                </a:solidFill>
              </a:rPr>
              <a:t>–</a:t>
            </a:r>
            <a:r>
              <a:rPr lang="en-IN" sz="3200" b="1" dirty="0">
                <a:solidFill>
                  <a:srgbClr val="FF0000"/>
                </a:solidFill>
              </a:rPr>
              <a:t> 18a</a:t>
            </a:r>
            <a:r>
              <a:rPr lang="en-IN" sz="3200" b="1" baseline="-25000" dirty="0">
                <a:solidFill>
                  <a:srgbClr val="FF0000"/>
                </a:solidFill>
              </a:rPr>
              <a:t>n-3</a:t>
            </a:r>
            <a:r>
              <a:rPr lang="en-IN" sz="3200" b="1" dirty="0">
                <a:solidFill>
                  <a:srgbClr val="FF0000"/>
                </a:solidFill>
              </a:rPr>
              <a:t> = 0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447800"/>
            <a:ext cx="10769600" cy="5105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The characteristic eqn. is </a:t>
            </a:r>
          </a:p>
          <a:p>
            <a:pPr>
              <a:buNone/>
            </a:pPr>
            <a:r>
              <a:rPr lang="en-IN" b="1" dirty="0">
                <a:solidFill>
                  <a:srgbClr val="FF0000"/>
                </a:solidFill>
              </a:rPr>
              <a:t>		r</a:t>
            </a:r>
            <a:r>
              <a:rPr lang="en-IN" b="1" baseline="30000" dirty="0">
                <a:solidFill>
                  <a:srgbClr val="FF0000"/>
                </a:solidFill>
              </a:rPr>
              <a:t>3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–</a:t>
            </a:r>
            <a:r>
              <a:rPr lang="en-IN" b="1" dirty="0">
                <a:solidFill>
                  <a:srgbClr val="FF0000"/>
                </a:solidFill>
              </a:rPr>
              <a:t> 8r</a:t>
            </a:r>
            <a:r>
              <a:rPr lang="en-IN" b="1" baseline="30000" dirty="0">
                <a:solidFill>
                  <a:srgbClr val="FF0000"/>
                </a:solidFill>
              </a:rPr>
              <a:t>2</a:t>
            </a:r>
            <a:r>
              <a:rPr lang="en-IN" b="1" dirty="0">
                <a:solidFill>
                  <a:srgbClr val="FF0000"/>
                </a:solidFill>
              </a:rPr>
              <a:t> + 21r </a:t>
            </a:r>
            <a:r>
              <a:rPr lang="en-US" dirty="0">
                <a:solidFill>
                  <a:srgbClr val="FF0000"/>
                </a:solidFill>
              </a:rPr>
              <a:t>–</a:t>
            </a:r>
            <a:r>
              <a:rPr lang="en-IN" b="1" dirty="0">
                <a:solidFill>
                  <a:srgbClr val="FF0000"/>
                </a:solidFill>
              </a:rPr>
              <a:t> 18 = 0</a:t>
            </a:r>
          </a:p>
          <a:p>
            <a:pPr>
              <a:buNone/>
            </a:pPr>
            <a:r>
              <a:rPr lang="en-IN" b="1" dirty="0">
                <a:solidFill>
                  <a:srgbClr val="FF0000"/>
                </a:solidFill>
              </a:rPr>
              <a:t>	</a:t>
            </a:r>
            <a:r>
              <a:rPr lang="en-IN" dirty="0"/>
              <a:t>or,</a:t>
            </a:r>
            <a:r>
              <a:rPr lang="en-IN" b="1" dirty="0">
                <a:solidFill>
                  <a:srgbClr val="FF0000"/>
                </a:solidFill>
              </a:rPr>
              <a:t>	</a:t>
            </a:r>
            <a:r>
              <a:rPr lang="en-IN" dirty="0"/>
              <a:t>r</a:t>
            </a:r>
            <a:r>
              <a:rPr lang="en-IN" baseline="30000" dirty="0"/>
              <a:t>3</a:t>
            </a:r>
            <a:r>
              <a:rPr lang="en-IN" dirty="0"/>
              <a:t> </a:t>
            </a:r>
            <a:r>
              <a:rPr lang="en-US" dirty="0"/>
              <a:t>–</a:t>
            </a:r>
            <a:r>
              <a:rPr lang="en-IN" dirty="0"/>
              <a:t> 2r</a:t>
            </a:r>
            <a:r>
              <a:rPr lang="en-IN" baseline="30000" dirty="0"/>
              <a:t>2</a:t>
            </a:r>
            <a:r>
              <a:rPr lang="en-IN" dirty="0"/>
              <a:t> </a:t>
            </a:r>
            <a:r>
              <a:rPr lang="en-US" dirty="0"/>
              <a:t>–</a:t>
            </a:r>
            <a:r>
              <a:rPr lang="en-IN" dirty="0"/>
              <a:t> 6r</a:t>
            </a:r>
            <a:r>
              <a:rPr lang="en-IN" baseline="30000" dirty="0"/>
              <a:t>2</a:t>
            </a:r>
            <a:r>
              <a:rPr lang="en-IN" dirty="0"/>
              <a:t> + 12r + 9r </a:t>
            </a:r>
            <a:r>
              <a:rPr lang="en-US" dirty="0"/>
              <a:t>–</a:t>
            </a:r>
            <a:r>
              <a:rPr lang="en-IN" dirty="0"/>
              <a:t> 18 = 0 </a:t>
            </a:r>
            <a:r>
              <a:rPr lang="en-US" dirty="0"/>
              <a:t>		</a:t>
            </a:r>
          </a:p>
          <a:p>
            <a:pPr>
              <a:buNone/>
            </a:pPr>
            <a:r>
              <a:rPr lang="en-IN" dirty="0"/>
              <a:t>	or,  r</a:t>
            </a:r>
            <a:r>
              <a:rPr lang="en-IN" baseline="30000" dirty="0"/>
              <a:t>2</a:t>
            </a:r>
            <a:r>
              <a:rPr lang="en-US" dirty="0"/>
              <a:t>(r – 2) –</a:t>
            </a:r>
            <a:r>
              <a:rPr lang="en-IN" dirty="0"/>
              <a:t> 6r</a:t>
            </a:r>
            <a:r>
              <a:rPr lang="en-US" dirty="0"/>
              <a:t>(r – 2) + 9(r – 2) = 0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IN" dirty="0"/>
              <a:t>or, </a:t>
            </a:r>
            <a:r>
              <a:rPr lang="en-US" dirty="0"/>
              <a:t>	(r – 2) (</a:t>
            </a:r>
            <a:r>
              <a:rPr lang="en-IN" dirty="0"/>
              <a:t>r</a:t>
            </a:r>
            <a:r>
              <a:rPr lang="en-IN" baseline="30000" dirty="0"/>
              <a:t>2 </a:t>
            </a:r>
            <a:r>
              <a:rPr lang="en-US" dirty="0"/>
              <a:t>–</a:t>
            </a:r>
            <a:r>
              <a:rPr lang="en-IN" dirty="0"/>
              <a:t> 6</a:t>
            </a:r>
            <a:r>
              <a:rPr lang="en-US" dirty="0"/>
              <a:t>r + 9) = 0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IN" dirty="0"/>
              <a:t>or, </a:t>
            </a:r>
            <a:r>
              <a:rPr lang="en-US" dirty="0"/>
              <a:t>	(r – 2) (r – 3)</a:t>
            </a:r>
            <a:r>
              <a:rPr lang="en-US" baseline="30000" dirty="0"/>
              <a:t>2</a:t>
            </a:r>
            <a:r>
              <a:rPr lang="en-US" dirty="0"/>
              <a:t> = 0</a:t>
            </a:r>
          </a:p>
          <a:p>
            <a:pPr>
              <a:buNone/>
            </a:pPr>
            <a:r>
              <a:rPr lang="en-US" dirty="0"/>
              <a:t>	So,	  r = 2, 3, 3</a:t>
            </a:r>
          </a:p>
          <a:p>
            <a:pPr>
              <a:buNone/>
            </a:pPr>
            <a:r>
              <a:rPr lang="en-US" dirty="0"/>
              <a:t>Hence the solution to the homogeneous RR is:</a:t>
            </a:r>
          </a:p>
          <a:p>
            <a:pPr>
              <a:buNone/>
            </a:pPr>
            <a:r>
              <a:rPr lang="en-IN" b="1" dirty="0">
                <a:solidFill>
                  <a:srgbClr val="FF0000"/>
                </a:solidFill>
              </a:rPr>
              <a:t>		a</a:t>
            </a:r>
            <a:r>
              <a:rPr lang="en-IN" b="1" baseline="-25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= A</a:t>
            </a:r>
            <a:r>
              <a:rPr lang="en-IN" b="1" baseline="-25000" dirty="0">
                <a:solidFill>
                  <a:srgbClr val="FF0000"/>
                </a:solidFill>
              </a:rPr>
              <a:t>1</a:t>
            </a:r>
            <a:r>
              <a:rPr lang="en-IN" b="1" dirty="0">
                <a:solidFill>
                  <a:srgbClr val="FF0000"/>
                </a:solidFill>
              </a:rPr>
              <a:t>(2)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+</a:t>
            </a:r>
            <a:r>
              <a:rPr lang="en-IN" b="1" dirty="0">
                <a:solidFill>
                  <a:srgbClr val="FF0000"/>
                </a:solidFill>
              </a:rPr>
              <a:t> A</a:t>
            </a:r>
            <a:r>
              <a:rPr lang="en-IN" b="1" baseline="-25000" dirty="0">
                <a:solidFill>
                  <a:srgbClr val="FF0000"/>
                </a:solidFill>
              </a:rPr>
              <a:t>2</a:t>
            </a:r>
            <a:r>
              <a:rPr lang="en-IN" b="1" dirty="0">
                <a:solidFill>
                  <a:srgbClr val="FF0000"/>
                </a:solidFill>
              </a:rPr>
              <a:t>(3)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+</a:t>
            </a:r>
            <a:r>
              <a:rPr lang="en-IN" b="1" dirty="0">
                <a:solidFill>
                  <a:srgbClr val="FF0000"/>
                </a:solidFill>
              </a:rPr>
              <a:t> nA</a:t>
            </a:r>
            <a:r>
              <a:rPr lang="en-IN" b="1" baseline="-25000" dirty="0">
                <a:solidFill>
                  <a:srgbClr val="FF0000"/>
                </a:solidFill>
              </a:rPr>
              <a:t>3</a:t>
            </a:r>
            <a:r>
              <a:rPr lang="en-IN" b="1" dirty="0">
                <a:solidFill>
                  <a:srgbClr val="FF0000"/>
                </a:solidFill>
              </a:rPr>
              <a:t>(3)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</a:t>
            </a:r>
            <a:endParaRPr lang="en-IN" b="1" baseline="30000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44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C00000"/>
                </a:solidFill>
              </a:rPr>
              <a:t>Non-Homogeneous Recurrence Relations</a:t>
            </a:r>
            <a:endParaRPr lang="en-IN" sz="3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676400"/>
            <a:ext cx="11379200" cy="472440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</a:t>
            </a:r>
            <a:r>
              <a:rPr lang="en-IN" b="1" baseline="-25000" dirty="0">
                <a:solidFill>
                  <a:srgbClr val="FF0000"/>
                </a:solidFill>
              </a:rPr>
              <a:t>0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+ C</a:t>
            </a:r>
            <a:r>
              <a:rPr lang="en-IN" b="1" baseline="-25000" dirty="0">
                <a:solidFill>
                  <a:srgbClr val="FF0000"/>
                </a:solidFill>
              </a:rPr>
              <a:t>1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n-1</a:t>
            </a:r>
            <a:r>
              <a:rPr lang="en-IN" b="1" dirty="0">
                <a:solidFill>
                  <a:srgbClr val="FF0000"/>
                </a:solidFill>
              </a:rPr>
              <a:t> + C</a:t>
            </a:r>
            <a:r>
              <a:rPr lang="en-IN" b="1" baseline="-25000" dirty="0">
                <a:solidFill>
                  <a:srgbClr val="FF0000"/>
                </a:solidFill>
              </a:rPr>
              <a:t>2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n-2</a:t>
            </a:r>
            <a:r>
              <a:rPr lang="en-IN" b="1" dirty="0">
                <a:solidFill>
                  <a:srgbClr val="FF0000"/>
                </a:solidFill>
              </a:rPr>
              <a:t> + .......…+ </a:t>
            </a:r>
            <a:r>
              <a:rPr lang="en-IN" b="1" dirty="0" err="1">
                <a:solidFill>
                  <a:srgbClr val="FF0000"/>
                </a:solidFill>
              </a:rPr>
              <a:t>C</a:t>
            </a:r>
            <a:r>
              <a:rPr lang="en-IN" b="1" baseline="-25000" dirty="0" err="1">
                <a:solidFill>
                  <a:srgbClr val="FF0000"/>
                </a:solidFill>
              </a:rPr>
              <a:t>k</a:t>
            </a:r>
            <a:r>
              <a:rPr lang="en-IN" b="1" dirty="0" err="1">
                <a:solidFill>
                  <a:srgbClr val="FF0000"/>
                </a:solidFill>
              </a:rPr>
              <a:t>a</a:t>
            </a:r>
            <a:r>
              <a:rPr lang="en-IN" b="1" baseline="-25000" dirty="0" err="1">
                <a:solidFill>
                  <a:srgbClr val="FF0000"/>
                </a:solidFill>
              </a:rPr>
              <a:t>n</a:t>
            </a:r>
            <a:r>
              <a:rPr lang="en-IN" b="1" baseline="-25000" dirty="0">
                <a:solidFill>
                  <a:srgbClr val="FF0000"/>
                </a:solidFill>
              </a:rPr>
              <a:t>-k</a:t>
            </a:r>
            <a:r>
              <a:rPr lang="en-IN" b="1" dirty="0">
                <a:solidFill>
                  <a:srgbClr val="FF0000"/>
                </a:solidFill>
              </a:rPr>
              <a:t> = f(n)</a:t>
            </a:r>
          </a:p>
          <a:p>
            <a:pPr>
              <a:buNone/>
            </a:pPr>
            <a:r>
              <a:rPr lang="en-US" dirty="0"/>
              <a:t>	If f(n) ≠ 0, then it a non-homogeneous linear recurrence relation of order k.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Its solution </a:t>
            </a:r>
            <a:r>
              <a:rPr lang="en-IN" b="1" dirty="0"/>
              <a:t>a</a:t>
            </a:r>
            <a:r>
              <a:rPr lang="en-IN" b="1" baseline="-25000" dirty="0"/>
              <a:t>n </a:t>
            </a:r>
            <a:r>
              <a:rPr lang="en-IN" dirty="0"/>
              <a:t>consists of two parts:</a:t>
            </a:r>
          </a:p>
          <a:p>
            <a:pPr marL="514350" indent="-514350">
              <a:buFont typeface="Wingdings" pitchFamily="2" charset="2"/>
              <a:buChar char="q"/>
            </a:pPr>
            <a:r>
              <a:rPr lang="en-US" dirty="0"/>
              <a:t>Homogeneous solution </a:t>
            </a:r>
            <a:r>
              <a:rPr lang="en-IN" b="1" dirty="0"/>
              <a:t>a</a:t>
            </a:r>
            <a:r>
              <a:rPr lang="en-IN" b="1" baseline="-25000" dirty="0"/>
              <a:t>n</a:t>
            </a:r>
            <a:r>
              <a:rPr lang="en-IN" b="1" baseline="30000" dirty="0"/>
              <a:t>(h) </a:t>
            </a:r>
            <a:r>
              <a:rPr lang="en-IN" dirty="0"/>
              <a:t>by keeping f(n) = 0.</a:t>
            </a:r>
          </a:p>
          <a:p>
            <a:pPr marL="514350" indent="-514350">
              <a:buFont typeface="Wingdings" pitchFamily="2" charset="2"/>
              <a:buChar char="q"/>
            </a:pPr>
            <a:r>
              <a:rPr lang="en-US" dirty="0"/>
              <a:t>Particular solution </a:t>
            </a:r>
            <a:r>
              <a:rPr lang="en-IN" b="1" dirty="0"/>
              <a:t>a</a:t>
            </a:r>
            <a:r>
              <a:rPr lang="en-IN" b="1" baseline="-25000" dirty="0"/>
              <a:t>n</a:t>
            </a:r>
            <a:r>
              <a:rPr lang="en-IN" b="1" baseline="30000" dirty="0"/>
              <a:t>(p) </a:t>
            </a:r>
            <a:r>
              <a:rPr lang="en-IN" dirty="0"/>
              <a:t>by keeping f(n) on the right hand side.</a:t>
            </a:r>
          </a:p>
          <a:p>
            <a:pPr marL="514350" indent="-514350">
              <a:buNone/>
            </a:pPr>
            <a:endParaRPr lang="en-IN" dirty="0"/>
          </a:p>
          <a:p>
            <a:pPr marL="360363" indent="-360363"/>
            <a:r>
              <a:rPr lang="en-US" dirty="0"/>
              <a:t>The required general solution is</a:t>
            </a:r>
          </a:p>
          <a:p>
            <a:pPr marL="514350" indent="-514350">
              <a:buNone/>
            </a:pPr>
            <a:r>
              <a:rPr lang="en-IN" b="1" dirty="0"/>
              <a:t>			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</a:t>
            </a:r>
            <a:r>
              <a:rPr lang="en-IN" b="1" baseline="30000" dirty="0">
                <a:solidFill>
                  <a:srgbClr val="FF0000"/>
                </a:solidFill>
              </a:rPr>
              <a:t> </a:t>
            </a:r>
            <a:r>
              <a:rPr lang="en-IN" dirty="0">
                <a:solidFill>
                  <a:srgbClr val="FF0000"/>
                </a:solidFill>
              </a:rPr>
              <a:t>=</a:t>
            </a:r>
            <a:r>
              <a:rPr lang="en-IN" b="1" dirty="0">
                <a:solidFill>
                  <a:srgbClr val="FF0000"/>
                </a:solidFill>
              </a:rPr>
              <a:t> a</a:t>
            </a:r>
            <a:r>
              <a:rPr lang="en-IN" b="1" baseline="-25000" dirty="0">
                <a:solidFill>
                  <a:srgbClr val="FF0000"/>
                </a:solidFill>
              </a:rPr>
              <a:t>n</a:t>
            </a:r>
            <a:r>
              <a:rPr lang="en-IN" b="1" baseline="30000" dirty="0">
                <a:solidFill>
                  <a:srgbClr val="FF0000"/>
                </a:solidFill>
              </a:rPr>
              <a:t>(h) </a:t>
            </a:r>
            <a:r>
              <a:rPr lang="en-IN" dirty="0">
                <a:solidFill>
                  <a:srgbClr val="FF0000"/>
                </a:solidFill>
              </a:rPr>
              <a:t>+ 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</a:t>
            </a:r>
            <a:r>
              <a:rPr lang="en-IN" b="1" baseline="30000" dirty="0">
                <a:solidFill>
                  <a:srgbClr val="FF0000"/>
                </a:solidFill>
              </a:rPr>
              <a:t>(p)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44563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Case I. When f(n) = k, a constant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7126"/>
            <a:ext cx="11277600" cy="471747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Solve 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n+2 </a:t>
            </a:r>
            <a:r>
              <a:rPr lang="en-US" dirty="0">
                <a:solidFill>
                  <a:srgbClr val="FF0000"/>
                </a:solidFill>
              </a:rPr>
              <a:t>–</a:t>
            </a:r>
            <a:r>
              <a:rPr lang="en-IN" b="1" dirty="0">
                <a:solidFill>
                  <a:srgbClr val="FF0000"/>
                </a:solidFill>
              </a:rPr>
              <a:t> 5a</a:t>
            </a:r>
            <a:r>
              <a:rPr lang="en-IN" b="1" baseline="-25000" dirty="0">
                <a:solidFill>
                  <a:srgbClr val="FF0000"/>
                </a:solidFill>
              </a:rPr>
              <a:t>n+1</a:t>
            </a:r>
            <a:r>
              <a:rPr lang="en-IN" b="1" dirty="0">
                <a:solidFill>
                  <a:srgbClr val="FF0000"/>
                </a:solidFill>
              </a:rPr>
              <a:t> + 6a</a:t>
            </a:r>
            <a:r>
              <a:rPr lang="en-IN" b="1" baseline="-25000" dirty="0">
                <a:solidFill>
                  <a:srgbClr val="FF0000"/>
                </a:solidFill>
              </a:rPr>
              <a:t>n </a:t>
            </a:r>
            <a:r>
              <a:rPr lang="en-IN" b="1" dirty="0">
                <a:solidFill>
                  <a:srgbClr val="FF0000"/>
                </a:solidFill>
              </a:rPr>
              <a:t>= 2, </a:t>
            </a:r>
            <a:r>
              <a:rPr lang="en-IN" dirty="0">
                <a:solidFill>
                  <a:srgbClr val="FF0000"/>
                </a:solidFill>
              </a:rPr>
              <a:t>with the initial conditions a</a:t>
            </a:r>
            <a:r>
              <a:rPr lang="en-IN" baseline="-25000" dirty="0">
                <a:solidFill>
                  <a:srgbClr val="FF0000"/>
                </a:solidFill>
              </a:rPr>
              <a:t>0</a:t>
            </a:r>
            <a:r>
              <a:rPr lang="en-IN" dirty="0">
                <a:solidFill>
                  <a:srgbClr val="FF0000"/>
                </a:solidFill>
              </a:rPr>
              <a:t> = 1 and a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US" dirty="0">
                <a:solidFill>
                  <a:srgbClr val="FF0000"/>
                </a:solidFill>
              </a:rPr>
              <a:t>– </a:t>
            </a:r>
            <a:r>
              <a:rPr lang="en-IN" dirty="0">
                <a:solidFill>
                  <a:srgbClr val="FF0000"/>
                </a:solidFill>
              </a:rPr>
              <a:t>1.</a:t>
            </a:r>
          </a:p>
          <a:p>
            <a:pPr>
              <a:buNone/>
            </a:pPr>
            <a:r>
              <a:rPr lang="en-US" dirty="0"/>
              <a:t>The characteristic equation for homogeneous part is: 	</a:t>
            </a:r>
            <a:r>
              <a:rPr lang="en-IN" dirty="0"/>
              <a:t>r</a:t>
            </a:r>
            <a:r>
              <a:rPr lang="en-IN" baseline="30000" dirty="0"/>
              <a:t>2</a:t>
            </a:r>
            <a:r>
              <a:rPr lang="en-IN" dirty="0"/>
              <a:t> - 5r + 6 = 0	or,	r = 2, 3</a:t>
            </a:r>
          </a:p>
          <a:p>
            <a:pPr>
              <a:buNone/>
            </a:pPr>
            <a:r>
              <a:rPr lang="en-US" dirty="0"/>
              <a:t>So, the homogeneous solution is:    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</a:t>
            </a:r>
            <a:r>
              <a:rPr lang="en-IN" b="1" baseline="30000" dirty="0">
                <a:solidFill>
                  <a:srgbClr val="FF0000"/>
                </a:solidFill>
              </a:rPr>
              <a:t>(h) </a:t>
            </a:r>
            <a:r>
              <a:rPr lang="en-IN" b="1" dirty="0">
                <a:solidFill>
                  <a:srgbClr val="FF0000"/>
                </a:solidFill>
              </a:rPr>
              <a:t>= C</a:t>
            </a:r>
            <a:r>
              <a:rPr lang="en-IN" b="1" baseline="-25000" dirty="0">
                <a:solidFill>
                  <a:srgbClr val="FF0000"/>
                </a:solidFill>
              </a:rPr>
              <a:t>1</a:t>
            </a:r>
            <a:r>
              <a:rPr lang="en-IN" b="1" dirty="0">
                <a:solidFill>
                  <a:srgbClr val="FF0000"/>
                </a:solidFill>
              </a:rPr>
              <a:t>2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+ C</a:t>
            </a:r>
            <a:r>
              <a:rPr lang="en-IN" b="1" baseline="-25000" dirty="0">
                <a:solidFill>
                  <a:srgbClr val="FF0000"/>
                </a:solidFill>
              </a:rPr>
              <a:t>2</a:t>
            </a:r>
            <a:r>
              <a:rPr lang="en-IN" b="1" dirty="0">
                <a:solidFill>
                  <a:srgbClr val="FF0000"/>
                </a:solidFill>
              </a:rPr>
              <a:t>3</a:t>
            </a:r>
            <a:r>
              <a:rPr lang="en-IN" b="1" baseline="30000" dirty="0">
                <a:solidFill>
                  <a:srgbClr val="FF0000"/>
                </a:solidFill>
              </a:rPr>
              <a:t>n </a:t>
            </a:r>
          </a:p>
          <a:p>
            <a:pPr>
              <a:buNone/>
            </a:pPr>
            <a:r>
              <a:rPr lang="en-US" dirty="0"/>
              <a:t>Let particular solution is of the form </a:t>
            </a:r>
            <a:r>
              <a:rPr lang="en-IN" dirty="0"/>
              <a:t>a</a:t>
            </a:r>
            <a:r>
              <a:rPr lang="en-IN" baseline="-25000" dirty="0"/>
              <a:t>n </a:t>
            </a:r>
            <a:r>
              <a:rPr lang="en-IN" dirty="0"/>
              <a:t>= P.</a:t>
            </a:r>
          </a:p>
          <a:p>
            <a:pPr>
              <a:buNone/>
            </a:pPr>
            <a:r>
              <a:rPr lang="en-IN" dirty="0"/>
              <a:t>Then, P – 5P + 6P = 2 	or,	P = 1</a:t>
            </a:r>
          </a:p>
          <a:p>
            <a:pPr>
              <a:buNone/>
            </a:pPr>
            <a:r>
              <a:rPr lang="en-US" dirty="0"/>
              <a:t>So, the particular solution is:		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</a:t>
            </a:r>
            <a:r>
              <a:rPr lang="en-IN" b="1" baseline="30000" dirty="0">
                <a:solidFill>
                  <a:srgbClr val="FF0000"/>
                </a:solidFill>
              </a:rPr>
              <a:t>(p) </a:t>
            </a:r>
            <a:r>
              <a:rPr lang="en-IN" b="1" dirty="0">
                <a:solidFill>
                  <a:srgbClr val="FF0000"/>
                </a:solidFill>
              </a:rPr>
              <a:t>= 1 </a:t>
            </a:r>
          </a:p>
          <a:p>
            <a:pPr>
              <a:buNone/>
            </a:pPr>
            <a:r>
              <a:rPr lang="en-IN" dirty="0"/>
              <a:t>Hence, the general solution is given as,</a:t>
            </a:r>
          </a:p>
          <a:p>
            <a:pPr>
              <a:buNone/>
            </a:pPr>
            <a:r>
              <a:rPr lang="en-IN" dirty="0"/>
              <a:t>a</a:t>
            </a:r>
            <a:r>
              <a:rPr lang="en-IN" baseline="-25000" dirty="0"/>
              <a:t>n </a:t>
            </a:r>
            <a:r>
              <a:rPr lang="en-IN" dirty="0"/>
              <a:t>= a</a:t>
            </a:r>
            <a:r>
              <a:rPr lang="en-IN" baseline="-25000" dirty="0"/>
              <a:t>n</a:t>
            </a:r>
            <a:r>
              <a:rPr lang="en-IN" baseline="30000" dirty="0"/>
              <a:t>(h) </a:t>
            </a:r>
            <a:r>
              <a:rPr lang="en-IN" dirty="0"/>
              <a:t>+ a</a:t>
            </a:r>
            <a:r>
              <a:rPr lang="en-IN" baseline="-25000" dirty="0"/>
              <a:t>n</a:t>
            </a:r>
            <a:r>
              <a:rPr lang="en-IN" baseline="30000" dirty="0"/>
              <a:t>(p)	</a:t>
            </a:r>
            <a:r>
              <a:rPr lang="en-US" dirty="0"/>
              <a:t> So,</a:t>
            </a:r>
            <a:r>
              <a:rPr lang="en-IN" baseline="30000" dirty="0"/>
              <a:t> 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 </a:t>
            </a:r>
            <a:r>
              <a:rPr lang="en-IN" b="1" dirty="0">
                <a:solidFill>
                  <a:srgbClr val="FF0000"/>
                </a:solidFill>
              </a:rPr>
              <a:t>= C</a:t>
            </a:r>
            <a:r>
              <a:rPr lang="en-IN" b="1" baseline="-25000" dirty="0">
                <a:solidFill>
                  <a:srgbClr val="FF0000"/>
                </a:solidFill>
              </a:rPr>
              <a:t>1</a:t>
            </a:r>
            <a:r>
              <a:rPr lang="en-IN" b="1" dirty="0">
                <a:solidFill>
                  <a:srgbClr val="FF0000"/>
                </a:solidFill>
              </a:rPr>
              <a:t>2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+ C</a:t>
            </a:r>
            <a:r>
              <a:rPr lang="en-IN" b="1" baseline="-25000" dirty="0">
                <a:solidFill>
                  <a:srgbClr val="FF0000"/>
                </a:solidFill>
              </a:rPr>
              <a:t>2</a:t>
            </a:r>
            <a:r>
              <a:rPr lang="en-IN" b="1" dirty="0">
                <a:solidFill>
                  <a:srgbClr val="FF0000"/>
                </a:solidFill>
              </a:rPr>
              <a:t>3</a:t>
            </a:r>
            <a:r>
              <a:rPr lang="en-IN" b="1" baseline="30000" dirty="0">
                <a:solidFill>
                  <a:srgbClr val="FF0000"/>
                </a:solidFill>
              </a:rPr>
              <a:t>n </a:t>
            </a:r>
            <a:r>
              <a:rPr lang="en-IN" b="1" dirty="0">
                <a:solidFill>
                  <a:srgbClr val="FF0000"/>
                </a:solidFill>
              </a:rPr>
              <a:t>+ 1</a:t>
            </a:r>
            <a:r>
              <a:rPr lang="en-IN" dirty="0">
                <a:solidFill>
                  <a:srgbClr val="FF0000"/>
                </a:solidFill>
              </a:rPr>
              <a:t>	…..(1)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44563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Case I. When f(n) = k, a constant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65564"/>
            <a:ext cx="11074400" cy="4759036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a</a:t>
            </a:r>
            <a:r>
              <a:rPr lang="en-IN" b="1" baseline="-25000" dirty="0">
                <a:solidFill>
                  <a:srgbClr val="C00000"/>
                </a:solidFill>
              </a:rPr>
              <a:t>n </a:t>
            </a:r>
            <a:r>
              <a:rPr lang="en-IN" b="1" dirty="0">
                <a:solidFill>
                  <a:srgbClr val="C00000"/>
                </a:solidFill>
              </a:rPr>
              <a:t>= C</a:t>
            </a:r>
            <a:r>
              <a:rPr lang="en-IN" b="1" baseline="-25000" dirty="0">
                <a:solidFill>
                  <a:srgbClr val="C00000"/>
                </a:solidFill>
              </a:rPr>
              <a:t>1</a:t>
            </a:r>
            <a:r>
              <a:rPr lang="en-IN" b="1" dirty="0">
                <a:solidFill>
                  <a:srgbClr val="C00000"/>
                </a:solidFill>
              </a:rPr>
              <a:t> 2</a:t>
            </a:r>
            <a:r>
              <a:rPr lang="en-IN" b="1" baseline="30000" dirty="0">
                <a:solidFill>
                  <a:srgbClr val="C00000"/>
                </a:solidFill>
              </a:rPr>
              <a:t>n</a:t>
            </a:r>
            <a:r>
              <a:rPr lang="en-IN" b="1" dirty="0">
                <a:solidFill>
                  <a:srgbClr val="C00000"/>
                </a:solidFill>
              </a:rPr>
              <a:t> + C</a:t>
            </a:r>
            <a:r>
              <a:rPr lang="en-IN" b="1" baseline="-25000" dirty="0">
                <a:solidFill>
                  <a:srgbClr val="C00000"/>
                </a:solidFill>
              </a:rPr>
              <a:t>2</a:t>
            </a:r>
            <a:r>
              <a:rPr lang="en-IN" b="1" dirty="0">
                <a:solidFill>
                  <a:srgbClr val="C00000"/>
                </a:solidFill>
              </a:rPr>
              <a:t> 3</a:t>
            </a:r>
            <a:r>
              <a:rPr lang="en-IN" b="1" baseline="30000" dirty="0">
                <a:solidFill>
                  <a:srgbClr val="C00000"/>
                </a:solidFill>
              </a:rPr>
              <a:t>n </a:t>
            </a:r>
            <a:r>
              <a:rPr lang="en-IN" b="1" dirty="0">
                <a:solidFill>
                  <a:srgbClr val="C00000"/>
                </a:solidFill>
              </a:rPr>
              <a:t>+ 1</a:t>
            </a:r>
            <a:r>
              <a:rPr lang="en-IN" dirty="0">
                <a:solidFill>
                  <a:srgbClr val="FF0000"/>
                </a:solidFill>
              </a:rPr>
              <a:t>	…..(1) </a:t>
            </a:r>
          </a:p>
          <a:p>
            <a:pPr marL="0" indent="0">
              <a:buNone/>
            </a:pPr>
            <a:r>
              <a:rPr lang="en-US" dirty="0"/>
              <a:t>Now using initial </a:t>
            </a:r>
            <a:r>
              <a:rPr lang="en-IN" dirty="0"/>
              <a:t>conditions a</a:t>
            </a:r>
            <a:r>
              <a:rPr lang="en-IN" baseline="-25000" dirty="0"/>
              <a:t>0</a:t>
            </a:r>
            <a:r>
              <a:rPr lang="en-IN" dirty="0"/>
              <a:t> = 1 and a</a:t>
            </a:r>
            <a:r>
              <a:rPr lang="en-IN" baseline="-25000" dirty="0"/>
              <a:t>1</a:t>
            </a:r>
            <a:r>
              <a:rPr lang="en-IN" dirty="0"/>
              <a:t> = </a:t>
            </a:r>
            <a:r>
              <a:rPr lang="en-US" dirty="0"/>
              <a:t>– </a:t>
            </a:r>
            <a:r>
              <a:rPr lang="en-IN" dirty="0"/>
              <a:t>1, we can evaluate constant terms C</a:t>
            </a:r>
            <a:r>
              <a:rPr lang="en-IN" baseline="-25000" dirty="0"/>
              <a:t>1</a:t>
            </a:r>
            <a:r>
              <a:rPr lang="en-IN" dirty="0"/>
              <a:t> and C</a:t>
            </a:r>
            <a:r>
              <a:rPr lang="en-IN" baseline="-25000" dirty="0"/>
              <a:t>2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US" dirty="0"/>
              <a:t>Put n = 0 and n = 1 in (1) we get,</a:t>
            </a:r>
          </a:p>
          <a:p>
            <a:pPr>
              <a:buNone/>
            </a:pPr>
            <a:r>
              <a:rPr lang="en-IN" sz="3200" dirty="0"/>
              <a:t>C</a:t>
            </a:r>
            <a:r>
              <a:rPr lang="en-IN" sz="3200" baseline="-25000" dirty="0"/>
              <a:t>1</a:t>
            </a:r>
            <a:r>
              <a:rPr lang="en-IN" sz="3200" dirty="0"/>
              <a:t> + C</a:t>
            </a:r>
            <a:r>
              <a:rPr lang="en-IN" sz="3200" baseline="-25000" dirty="0"/>
              <a:t>2 </a:t>
            </a:r>
            <a:r>
              <a:rPr lang="en-IN" sz="3200" dirty="0"/>
              <a:t>+ 1 = 1	      or,  C</a:t>
            </a:r>
            <a:r>
              <a:rPr lang="en-IN" sz="3200" baseline="-25000" dirty="0"/>
              <a:t>1</a:t>
            </a:r>
            <a:r>
              <a:rPr lang="en-IN" sz="3200" dirty="0"/>
              <a:t> + C</a:t>
            </a:r>
            <a:r>
              <a:rPr lang="en-IN" sz="3200" baseline="-25000" dirty="0"/>
              <a:t>2 </a:t>
            </a:r>
            <a:r>
              <a:rPr lang="en-IN" sz="3200" dirty="0"/>
              <a:t> = 0	...(2)</a:t>
            </a:r>
            <a:endParaRPr lang="en-IN" dirty="0"/>
          </a:p>
          <a:p>
            <a:pPr>
              <a:buNone/>
            </a:pPr>
            <a:r>
              <a:rPr lang="en-US" sz="3200" dirty="0"/>
              <a:t>2</a:t>
            </a:r>
            <a:r>
              <a:rPr lang="en-IN" sz="3200" dirty="0"/>
              <a:t>C</a:t>
            </a:r>
            <a:r>
              <a:rPr lang="en-IN" sz="3200" baseline="-25000" dirty="0"/>
              <a:t>1</a:t>
            </a:r>
            <a:r>
              <a:rPr lang="en-IN" sz="3200" dirty="0"/>
              <a:t> + 3C</a:t>
            </a:r>
            <a:r>
              <a:rPr lang="en-IN" sz="3200" baseline="-25000" dirty="0"/>
              <a:t>2 </a:t>
            </a:r>
            <a:r>
              <a:rPr lang="en-IN" sz="3200" dirty="0"/>
              <a:t>+ 1 = </a:t>
            </a:r>
            <a:r>
              <a:rPr lang="en-US" sz="3200" dirty="0"/>
              <a:t>– </a:t>
            </a:r>
            <a:r>
              <a:rPr lang="en-IN" sz="3200" dirty="0"/>
              <a:t>1	or,  </a:t>
            </a:r>
            <a:r>
              <a:rPr lang="en-US" sz="3200" dirty="0"/>
              <a:t>2</a:t>
            </a:r>
            <a:r>
              <a:rPr lang="en-IN" sz="3200" dirty="0"/>
              <a:t>C</a:t>
            </a:r>
            <a:r>
              <a:rPr lang="en-IN" sz="3200" baseline="-25000" dirty="0"/>
              <a:t>1</a:t>
            </a:r>
            <a:r>
              <a:rPr lang="en-IN" sz="3200" dirty="0"/>
              <a:t> + 3C</a:t>
            </a:r>
            <a:r>
              <a:rPr lang="en-IN" sz="3200" baseline="-25000" dirty="0"/>
              <a:t>2</a:t>
            </a:r>
            <a:r>
              <a:rPr lang="en-IN" sz="3200" dirty="0"/>
              <a:t> = </a:t>
            </a:r>
            <a:r>
              <a:rPr lang="en-US" sz="3200" dirty="0"/>
              <a:t>– 2</a:t>
            </a:r>
            <a:r>
              <a:rPr lang="en-IN" sz="3200" dirty="0"/>
              <a:t>    ...(3)</a:t>
            </a:r>
            <a:endParaRPr lang="en-IN" dirty="0"/>
          </a:p>
          <a:p>
            <a:pPr>
              <a:buNone/>
            </a:pPr>
            <a:r>
              <a:rPr lang="en-IN" sz="3200" dirty="0"/>
              <a:t>By Solving (2) &amp; (3), 	C</a:t>
            </a:r>
            <a:r>
              <a:rPr lang="en-IN" sz="3200" baseline="-25000" dirty="0"/>
              <a:t>1</a:t>
            </a:r>
            <a:r>
              <a:rPr lang="en-IN" sz="3200" dirty="0"/>
              <a:t> = 2,    C</a:t>
            </a:r>
            <a:r>
              <a:rPr lang="en-IN" sz="3200" baseline="-25000" dirty="0"/>
              <a:t>2</a:t>
            </a:r>
            <a:r>
              <a:rPr lang="en-IN" sz="3200" dirty="0"/>
              <a:t> = </a:t>
            </a:r>
            <a:r>
              <a:rPr lang="en-US" sz="3200" dirty="0"/>
              <a:t>– </a:t>
            </a:r>
            <a:r>
              <a:rPr lang="en-IN" sz="3200" dirty="0"/>
              <a:t>2 </a:t>
            </a:r>
          </a:p>
          <a:p>
            <a:pPr>
              <a:buNone/>
            </a:pPr>
            <a:r>
              <a:rPr lang="en-IN" sz="3200" dirty="0"/>
              <a:t>Therefore the general solution is given by, </a:t>
            </a:r>
          </a:p>
          <a:p>
            <a:pPr lvl="1">
              <a:buNone/>
            </a:pPr>
            <a:r>
              <a:rPr lang="en-IN" sz="3200" dirty="0">
                <a:solidFill>
                  <a:srgbClr val="FF0000"/>
                </a:solidFill>
              </a:rPr>
              <a:t>             </a:t>
            </a:r>
            <a:r>
              <a:rPr lang="en-IN" sz="3200" b="1" dirty="0">
                <a:solidFill>
                  <a:srgbClr val="FF0000"/>
                </a:solidFill>
              </a:rPr>
              <a:t>a</a:t>
            </a:r>
            <a:r>
              <a:rPr lang="en-IN" sz="3200" b="1" baseline="-25000" dirty="0">
                <a:solidFill>
                  <a:srgbClr val="FF0000"/>
                </a:solidFill>
              </a:rPr>
              <a:t>n </a:t>
            </a:r>
            <a:r>
              <a:rPr lang="en-IN" sz="3200" b="1" dirty="0">
                <a:solidFill>
                  <a:srgbClr val="FF0000"/>
                </a:solidFill>
              </a:rPr>
              <a:t>= 2*2</a:t>
            </a:r>
            <a:r>
              <a:rPr lang="en-IN" sz="3200" b="1" baseline="30000" dirty="0">
                <a:solidFill>
                  <a:srgbClr val="FF0000"/>
                </a:solidFill>
              </a:rPr>
              <a:t>n</a:t>
            </a:r>
            <a:r>
              <a:rPr lang="en-IN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>
                <a:solidFill>
                  <a:srgbClr val="FF0000"/>
                </a:solidFill>
              </a:rPr>
              <a:t>– </a:t>
            </a:r>
            <a:r>
              <a:rPr lang="en-IN" sz="3200" b="1" dirty="0">
                <a:solidFill>
                  <a:srgbClr val="FF0000"/>
                </a:solidFill>
              </a:rPr>
              <a:t>2*3</a:t>
            </a:r>
            <a:r>
              <a:rPr lang="en-IN" sz="3200" b="1" baseline="30000" dirty="0">
                <a:solidFill>
                  <a:srgbClr val="FF0000"/>
                </a:solidFill>
              </a:rPr>
              <a:t>n </a:t>
            </a:r>
            <a:r>
              <a:rPr lang="en-IN" sz="3200" b="1" dirty="0">
                <a:solidFill>
                  <a:srgbClr val="FF0000"/>
                </a:solidFill>
              </a:rPr>
              <a:t>+ 1 </a:t>
            </a:r>
            <a:r>
              <a:rPr lang="en-IN" sz="3200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096963"/>
          </a:xfrm>
        </p:spPr>
        <p:txBody>
          <a:bodyPr>
            <a:noAutofit/>
          </a:bodyPr>
          <a:lstStyle/>
          <a:p>
            <a:r>
              <a:rPr lang="en-US" sz="3600" b="1" dirty="0"/>
              <a:t>Case II. When f(n) = A</a:t>
            </a:r>
            <a:r>
              <a:rPr lang="el-GR" sz="3600" b="1" dirty="0"/>
              <a:t>β</a:t>
            </a:r>
            <a:r>
              <a:rPr lang="en-US" sz="3600" b="1" baseline="30000" dirty="0"/>
              <a:t>n</a:t>
            </a:r>
            <a:r>
              <a:rPr lang="en-US" sz="3600" b="1" dirty="0"/>
              <a:t>, where </a:t>
            </a:r>
            <a:r>
              <a:rPr lang="el-GR" sz="3600" b="1" dirty="0"/>
              <a:t>β </a:t>
            </a:r>
            <a:r>
              <a:rPr lang="en-US" sz="3600" b="1" dirty="0"/>
              <a:t>is not a </a:t>
            </a:r>
            <a:br>
              <a:rPr lang="en-US" sz="3600" b="1" dirty="0"/>
            </a:br>
            <a:r>
              <a:rPr lang="en-US" sz="3600" b="1" dirty="0"/>
              <a:t>characteristic root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79418"/>
            <a:ext cx="10972800" cy="4876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Solve the recurrence relation 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 </a:t>
            </a:r>
            <a:r>
              <a:rPr lang="en-US" dirty="0">
                <a:solidFill>
                  <a:srgbClr val="FF0000"/>
                </a:solidFill>
              </a:rPr>
              <a:t>+</a:t>
            </a:r>
            <a:r>
              <a:rPr lang="en-IN" b="1" dirty="0">
                <a:solidFill>
                  <a:srgbClr val="FF0000"/>
                </a:solidFill>
              </a:rPr>
              <a:t> 6a</a:t>
            </a:r>
            <a:r>
              <a:rPr lang="en-IN" b="1" baseline="-25000" dirty="0">
                <a:solidFill>
                  <a:srgbClr val="FF0000"/>
                </a:solidFill>
              </a:rPr>
              <a:t>n-1</a:t>
            </a:r>
            <a:r>
              <a:rPr lang="en-IN" b="1" dirty="0">
                <a:solidFill>
                  <a:srgbClr val="FF0000"/>
                </a:solidFill>
              </a:rPr>
              <a:t> + 8a</a:t>
            </a:r>
            <a:r>
              <a:rPr lang="en-IN" b="1" baseline="-25000" dirty="0">
                <a:solidFill>
                  <a:srgbClr val="FF0000"/>
                </a:solidFill>
              </a:rPr>
              <a:t>n-2 </a:t>
            </a:r>
            <a:r>
              <a:rPr lang="en-IN" b="1" dirty="0">
                <a:solidFill>
                  <a:srgbClr val="FF0000"/>
                </a:solidFill>
              </a:rPr>
              <a:t>= 7*5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endParaRPr lang="en-IN" dirty="0">
              <a:solidFill>
                <a:srgbClr val="FF0000"/>
              </a:solidFill>
            </a:endParaRP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The characteristic equation for homogeneous part is: 	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IN" dirty="0"/>
              <a:t>r</a:t>
            </a:r>
            <a:r>
              <a:rPr lang="en-IN" baseline="30000" dirty="0"/>
              <a:t>2</a:t>
            </a:r>
            <a:r>
              <a:rPr lang="en-IN" dirty="0"/>
              <a:t> + 6r + 8 = 0</a:t>
            </a:r>
          </a:p>
          <a:p>
            <a:pPr>
              <a:buNone/>
            </a:pPr>
            <a:r>
              <a:rPr lang="en-IN" dirty="0"/>
              <a:t>or,  (r + 2)(r + 4) = 0 		</a:t>
            </a:r>
          </a:p>
          <a:p>
            <a:pPr>
              <a:buNone/>
            </a:pPr>
            <a:r>
              <a:rPr lang="en-IN" dirty="0"/>
              <a:t>or,  r = – 2, – 4</a:t>
            </a:r>
          </a:p>
          <a:p>
            <a:pPr>
              <a:buNone/>
            </a:pPr>
            <a:r>
              <a:rPr lang="en-US" dirty="0"/>
              <a:t>So, the homogeneous solution is:	    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</a:t>
            </a:r>
            <a:r>
              <a:rPr lang="en-IN" b="1" baseline="30000" dirty="0">
                <a:solidFill>
                  <a:srgbClr val="FF0000"/>
                </a:solidFill>
              </a:rPr>
              <a:t>(h) </a:t>
            </a:r>
            <a:r>
              <a:rPr lang="en-IN" b="1" dirty="0">
                <a:solidFill>
                  <a:srgbClr val="FF0000"/>
                </a:solidFill>
              </a:rPr>
              <a:t>= C</a:t>
            </a:r>
            <a:r>
              <a:rPr lang="en-IN" b="1" baseline="-25000" dirty="0">
                <a:solidFill>
                  <a:srgbClr val="FF0000"/>
                </a:solidFill>
              </a:rPr>
              <a:t>1</a:t>
            </a:r>
            <a:r>
              <a:rPr lang="en-IN" b="1" dirty="0">
                <a:solidFill>
                  <a:srgbClr val="FF0000"/>
                </a:solidFill>
              </a:rPr>
              <a:t>(–2)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+ C</a:t>
            </a:r>
            <a:r>
              <a:rPr lang="en-IN" b="1" baseline="-25000" dirty="0">
                <a:solidFill>
                  <a:srgbClr val="FF0000"/>
                </a:solidFill>
              </a:rPr>
              <a:t>2</a:t>
            </a:r>
            <a:r>
              <a:rPr lang="en-IN" b="1" dirty="0">
                <a:solidFill>
                  <a:srgbClr val="FF0000"/>
                </a:solidFill>
              </a:rPr>
              <a:t>(– 4)</a:t>
            </a:r>
            <a:r>
              <a:rPr lang="en-IN" b="1" baseline="30000" dirty="0">
                <a:solidFill>
                  <a:srgbClr val="FF0000"/>
                </a:solidFill>
              </a:rPr>
              <a:t>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prstClr val="black"/>
                </a:solidFill>
              </a:rPr>
              <a:t>Case II. When f(n) = A</a:t>
            </a:r>
            <a:r>
              <a:rPr lang="el-GR" sz="3600" b="1" dirty="0">
                <a:solidFill>
                  <a:prstClr val="black"/>
                </a:solidFill>
              </a:rPr>
              <a:t>β</a:t>
            </a:r>
            <a:r>
              <a:rPr lang="en-US" sz="3600" b="1" baseline="30000" dirty="0">
                <a:solidFill>
                  <a:prstClr val="black"/>
                </a:solidFill>
              </a:rPr>
              <a:t>n</a:t>
            </a:r>
            <a:r>
              <a:rPr lang="en-US" sz="3600" b="1" dirty="0">
                <a:solidFill>
                  <a:prstClr val="black"/>
                </a:solidFill>
              </a:rPr>
              <a:t>, where </a:t>
            </a:r>
            <a:r>
              <a:rPr lang="el-GR" sz="3600" b="1" dirty="0">
                <a:solidFill>
                  <a:prstClr val="black"/>
                </a:solidFill>
              </a:rPr>
              <a:t>β </a:t>
            </a:r>
            <a:r>
              <a:rPr lang="en-US" sz="3600" b="1" dirty="0">
                <a:solidFill>
                  <a:prstClr val="black"/>
                </a:solidFill>
              </a:rPr>
              <a:t>is not a </a:t>
            </a:r>
            <a:br>
              <a:rPr lang="en-US" sz="3600" b="1" dirty="0">
                <a:solidFill>
                  <a:prstClr val="black"/>
                </a:solidFill>
              </a:rPr>
            </a:br>
            <a:r>
              <a:rPr lang="en-US" sz="3600" b="1" dirty="0">
                <a:solidFill>
                  <a:prstClr val="black"/>
                </a:solidFill>
              </a:rPr>
              <a:t>characteristic root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Let particular solution is of the form </a:t>
            </a:r>
            <a:r>
              <a:rPr lang="en-IN" dirty="0"/>
              <a:t>a</a:t>
            </a:r>
            <a:r>
              <a:rPr lang="en-IN" baseline="-25000" dirty="0"/>
              <a:t>n </a:t>
            </a:r>
            <a:r>
              <a:rPr lang="en-IN" dirty="0"/>
              <a:t>= C*5</a:t>
            </a:r>
            <a:r>
              <a:rPr lang="en-IN" baseline="30000" dirty="0"/>
              <a:t>n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Then,  C5</a:t>
            </a:r>
            <a:r>
              <a:rPr lang="en-IN" baseline="30000" dirty="0"/>
              <a:t>n</a:t>
            </a:r>
            <a:r>
              <a:rPr lang="en-IN" dirty="0"/>
              <a:t> + 6C5</a:t>
            </a:r>
            <a:r>
              <a:rPr lang="en-IN" baseline="30000" dirty="0"/>
              <a:t>n-1</a:t>
            </a:r>
            <a:r>
              <a:rPr lang="en-IN" dirty="0"/>
              <a:t> + 8C5</a:t>
            </a:r>
            <a:r>
              <a:rPr lang="en-IN" baseline="30000" dirty="0"/>
              <a:t>n-2</a:t>
            </a:r>
            <a:r>
              <a:rPr lang="en-IN" dirty="0"/>
              <a:t> = 7*5</a:t>
            </a:r>
            <a:r>
              <a:rPr lang="en-IN" baseline="30000" dirty="0"/>
              <a:t>n</a:t>
            </a:r>
            <a:r>
              <a:rPr lang="en-IN" dirty="0"/>
              <a:t> 	</a:t>
            </a:r>
          </a:p>
          <a:p>
            <a:pPr>
              <a:buNone/>
            </a:pPr>
            <a:r>
              <a:rPr lang="en-US" dirty="0"/>
              <a:t>	or,	C </a:t>
            </a:r>
            <a:r>
              <a:rPr lang="en-IN" dirty="0"/>
              <a:t>+ (6/5)C</a:t>
            </a:r>
            <a:r>
              <a:rPr lang="en-US" dirty="0"/>
              <a:t> + (8/25)C</a:t>
            </a:r>
            <a:r>
              <a:rPr lang="en-IN" dirty="0"/>
              <a:t> = 7</a:t>
            </a:r>
          </a:p>
          <a:p>
            <a:pPr>
              <a:buNone/>
            </a:pPr>
            <a:r>
              <a:rPr lang="en-US" dirty="0"/>
              <a:t>	or,	</a:t>
            </a:r>
            <a:r>
              <a:rPr lang="en-IN" dirty="0"/>
              <a:t>(63/25)C = 7   	or,  C = 175/63</a:t>
            </a:r>
            <a:endParaRPr lang="en-US" dirty="0"/>
          </a:p>
          <a:p>
            <a:pPr>
              <a:buNone/>
            </a:pPr>
            <a:r>
              <a:rPr lang="en-US" dirty="0"/>
              <a:t>So, the particular solution is: 	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</a:t>
            </a:r>
            <a:r>
              <a:rPr lang="en-IN" b="1" baseline="30000" dirty="0">
                <a:solidFill>
                  <a:srgbClr val="FF0000"/>
                </a:solidFill>
              </a:rPr>
              <a:t>(p) </a:t>
            </a:r>
            <a:r>
              <a:rPr lang="en-IN" b="1" dirty="0">
                <a:solidFill>
                  <a:srgbClr val="FF0000"/>
                </a:solidFill>
              </a:rPr>
              <a:t>= (175/63)5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</a:t>
            </a:r>
          </a:p>
          <a:p>
            <a:pPr>
              <a:buNone/>
            </a:pPr>
            <a:r>
              <a:rPr lang="en-IN" dirty="0"/>
              <a:t>Hence, the general solution is given as,</a:t>
            </a:r>
          </a:p>
          <a:p>
            <a:pPr>
              <a:buNone/>
            </a:pPr>
            <a:r>
              <a:rPr lang="en-IN" dirty="0"/>
              <a:t>a</a:t>
            </a:r>
            <a:r>
              <a:rPr lang="en-IN" baseline="-25000" dirty="0"/>
              <a:t>n </a:t>
            </a:r>
            <a:r>
              <a:rPr lang="en-IN" dirty="0"/>
              <a:t>= a</a:t>
            </a:r>
            <a:r>
              <a:rPr lang="en-IN" baseline="-25000" dirty="0"/>
              <a:t>n</a:t>
            </a:r>
            <a:r>
              <a:rPr lang="en-IN" baseline="30000" dirty="0"/>
              <a:t>(h) </a:t>
            </a:r>
            <a:r>
              <a:rPr lang="en-IN" dirty="0"/>
              <a:t>+ a</a:t>
            </a:r>
            <a:r>
              <a:rPr lang="en-IN" baseline="-25000" dirty="0"/>
              <a:t>n</a:t>
            </a:r>
            <a:r>
              <a:rPr lang="en-IN" baseline="30000" dirty="0"/>
              <a:t>(p)     </a:t>
            </a:r>
            <a:r>
              <a:rPr lang="en-US" dirty="0"/>
              <a:t>So,</a:t>
            </a:r>
            <a:r>
              <a:rPr lang="en-IN" baseline="30000" dirty="0"/>
              <a:t>     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 </a:t>
            </a:r>
            <a:r>
              <a:rPr lang="en-IN" b="1" dirty="0">
                <a:solidFill>
                  <a:srgbClr val="FF0000"/>
                </a:solidFill>
              </a:rPr>
              <a:t>= C</a:t>
            </a:r>
            <a:r>
              <a:rPr lang="en-IN" b="1" baseline="-25000" dirty="0">
                <a:solidFill>
                  <a:srgbClr val="FF0000"/>
                </a:solidFill>
              </a:rPr>
              <a:t>1</a:t>
            </a:r>
            <a:r>
              <a:rPr lang="en-IN" b="1" dirty="0">
                <a:solidFill>
                  <a:srgbClr val="FF0000"/>
                </a:solidFill>
              </a:rPr>
              <a:t>(–2)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+ C</a:t>
            </a:r>
            <a:r>
              <a:rPr lang="en-IN" b="1" baseline="-25000" dirty="0">
                <a:solidFill>
                  <a:srgbClr val="FF0000"/>
                </a:solidFill>
              </a:rPr>
              <a:t>2</a:t>
            </a:r>
            <a:r>
              <a:rPr lang="en-IN" b="1" dirty="0">
                <a:solidFill>
                  <a:srgbClr val="FF0000"/>
                </a:solidFill>
              </a:rPr>
              <a:t>(– 4)</a:t>
            </a:r>
            <a:r>
              <a:rPr lang="en-IN" b="1" baseline="30000" dirty="0">
                <a:solidFill>
                  <a:srgbClr val="FF0000"/>
                </a:solidFill>
              </a:rPr>
              <a:t>n </a:t>
            </a:r>
            <a:r>
              <a:rPr lang="en-IN" b="1" dirty="0">
                <a:solidFill>
                  <a:srgbClr val="FF0000"/>
                </a:solidFill>
              </a:rPr>
              <a:t>+ (175/63)5</a:t>
            </a:r>
            <a:r>
              <a:rPr lang="en-IN" b="1" baseline="30000" dirty="0">
                <a:solidFill>
                  <a:srgbClr val="FF0000"/>
                </a:solidFill>
              </a:rPr>
              <a:t>n </a:t>
            </a:r>
            <a:r>
              <a:rPr lang="en-IN" dirty="0">
                <a:solidFill>
                  <a:srgbClr val="FF0000"/>
                </a:solidFill>
              </a:rPr>
              <a:t>	</a:t>
            </a:r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096963"/>
          </a:xfrm>
        </p:spPr>
        <p:txBody>
          <a:bodyPr>
            <a:noAutofit/>
          </a:bodyPr>
          <a:lstStyle/>
          <a:p>
            <a:r>
              <a:rPr lang="en-US" sz="3600" b="1" dirty="0"/>
              <a:t>Case III. When f(n) = A</a:t>
            </a:r>
            <a:r>
              <a:rPr lang="el-GR" sz="3600" b="1" dirty="0"/>
              <a:t>β</a:t>
            </a:r>
            <a:r>
              <a:rPr lang="en-US" sz="3600" b="1" baseline="30000" dirty="0"/>
              <a:t>n</a:t>
            </a:r>
            <a:r>
              <a:rPr lang="en-US" sz="3600" b="1" dirty="0"/>
              <a:t>, where </a:t>
            </a:r>
            <a:r>
              <a:rPr lang="el-GR" sz="3600" b="1" dirty="0"/>
              <a:t>β </a:t>
            </a:r>
            <a:r>
              <a:rPr lang="en-US" sz="3600" b="1" dirty="0"/>
              <a:t>is a </a:t>
            </a:r>
            <a:br>
              <a:rPr lang="en-US" sz="3600" b="1" dirty="0"/>
            </a:br>
            <a:r>
              <a:rPr lang="en-US" sz="3600" b="1" dirty="0"/>
              <a:t>characteristic root of multiplicity m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48690"/>
            <a:ext cx="10972800" cy="4904509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Solve 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 </a:t>
            </a:r>
            <a:r>
              <a:rPr lang="en-US" dirty="0">
                <a:solidFill>
                  <a:srgbClr val="FF0000"/>
                </a:solidFill>
              </a:rPr>
              <a:t>–</a:t>
            </a:r>
            <a:r>
              <a:rPr lang="en-IN" b="1" dirty="0">
                <a:solidFill>
                  <a:srgbClr val="FF0000"/>
                </a:solidFill>
              </a:rPr>
              <a:t> 6a</a:t>
            </a:r>
            <a:r>
              <a:rPr lang="en-IN" b="1" baseline="-25000" dirty="0">
                <a:solidFill>
                  <a:srgbClr val="FF0000"/>
                </a:solidFill>
              </a:rPr>
              <a:t>n-1</a:t>
            </a:r>
            <a:r>
              <a:rPr lang="en-IN" b="1" dirty="0">
                <a:solidFill>
                  <a:srgbClr val="FF0000"/>
                </a:solidFill>
              </a:rPr>
              <a:t> + 9a</a:t>
            </a:r>
            <a:r>
              <a:rPr lang="en-IN" b="1" baseline="-25000" dirty="0">
                <a:solidFill>
                  <a:srgbClr val="FF0000"/>
                </a:solidFill>
              </a:rPr>
              <a:t>n-2 </a:t>
            </a:r>
            <a:r>
              <a:rPr lang="en-IN" b="1" dirty="0">
                <a:solidFill>
                  <a:srgbClr val="FF0000"/>
                </a:solidFill>
              </a:rPr>
              <a:t>= 2*3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, </a:t>
            </a:r>
            <a:r>
              <a:rPr lang="en-IN" dirty="0">
                <a:solidFill>
                  <a:srgbClr val="FF0000"/>
                </a:solidFill>
              </a:rPr>
              <a:t>with the initial conditions a</a:t>
            </a:r>
            <a:r>
              <a:rPr lang="en-IN" baseline="-25000" dirty="0">
                <a:solidFill>
                  <a:srgbClr val="FF0000"/>
                </a:solidFill>
              </a:rPr>
              <a:t>0</a:t>
            </a:r>
            <a:r>
              <a:rPr lang="en-IN" dirty="0">
                <a:solidFill>
                  <a:srgbClr val="FF0000"/>
                </a:solidFill>
              </a:rPr>
              <a:t> = 1 and a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  <a:r>
              <a:rPr lang="en-IN" dirty="0">
                <a:solidFill>
                  <a:srgbClr val="FF0000"/>
                </a:solidFill>
              </a:rPr>
              <a:t> = </a:t>
            </a:r>
            <a:r>
              <a:rPr lang="en-US" b="1" dirty="0">
                <a:solidFill>
                  <a:srgbClr val="FF0000"/>
                </a:solidFill>
              </a:rPr>
              <a:t>– 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IN" dirty="0">
                <a:solidFill>
                  <a:srgbClr val="FF0000"/>
                </a:solidFill>
              </a:rPr>
              <a:t>.</a:t>
            </a:r>
          </a:p>
          <a:p>
            <a:pPr>
              <a:buNone/>
            </a:pPr>
            <a:r>
              <a:rPr lang="en-US" dirty="0"/>
              <a:t>The characteristic equation for homogeneous part is: 	</a:t>
            </a:r>
            <a:r>
              <a:rPr lang="en-IN" dirty="0"/>
              <a:t>r</a:t>
            </a:r>
            <a:r>
              <a:rPr lang="en-IN" baseline="30000" dirty="0"/>
              <a:t>2</a:t>
            </a:r>
            <a:r>
              <a:rPr lang="en-IN" dirty="0"/>
              <a:t> - 6r + 9 = 0	    or, 	r = 3, 3</a:t>
            </a:r>
          </a:p>
          <a:p>
            <a:pPr>
              <a:buNone/>
            </a:pPr>
            <a:r>
              <a:rPr lang="en-US" dirty="0"/>
              <a:t>So, the homogeneous solution is	    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</a:t>
            </a:r>
            <a:r>
              <a:rPr lang="en-IN" b="1" baseline="30000" dirty="0">
                <a:solidFill>
                  <a:srgbClr val="FF0000"/>
                </a:solidFill>
              </a:rPr>
              <a:t>(h) </a:t>
            </a:r>
            <a:r>
              <a:rPr lang="en-IN" b="1" dirty="0">
                <a:solidFill>
                  <a:srgbClr val="FF0000"/>
                </a:solidFill>
              </a:rPr>
              <a:t>= C</a:t>
            </a:r>
            <a:r>
              <a:rPr lang="en-IN" b="1" baseline="-25000" dirty="0">
                <a:solidFill>
                  <a:srgbClr val="FF0000"/>
                </a:solidFill>
              </a:rPr>
              <a:t>1</a:t>
            </a:r>
            <a:r>
              <a:rPr lang="en-IN" b="1" dirty="0">
                <a:solidFill>
                  <a:srgbClr val="FF0000"/>
                </a:solidFill>
              </a:rPr>
              <a:t>3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+ n C</a:t>
            </a:r>
            <a:r>
              <a:rPr lang="en-IN" b="1" baseline="-25000" dirty="0">
                <a:solidFill>
                  <a:srgbClr val="FF0000"/>
                </a:solidFill>
              </a:rPr>
              <a:t>2</a:t>
            </a:r>
            <a:r>
              <a:rPr lang="en-IN" b="1" dirty="0">
                <a:solidFill>
                  <a:srgbClr val="FF0000"/>
                </a:solidFill>
              </a:rPr>
              <a:t>3</a:t>
            </a:r>
            <a:r>
              <a:rPr lang="en-IN" b="1" baseline="30000" dirty="0">
                <a:solidFill>
                  <a:srgbClr val="FF0000"/>
                </a:solidFill>
              </a:rPr>
              <a:t>n </a:t>
            </a:r>
          </a:p>
          <a:p>
            <a:pPr>
              <a:buNone/>
            </a:pPr>
            <a:r>
              <a:rPr lang="en-US" dirty="0"/>
              <a:t>Let particular solution is of the form </a:t>
            </a:r>
            <a:r>
              <a:rPr lang="en-IN" dirty="0"/>
              <a:t>a</a:t>
            </a:r>
            <a:r>
              <a:rPr lang="en-IN" baseline="-25000" dirty="0"/>
              <a:t>n </a:t>
            </a:r>
            <a:r>
              <a:rPr lang="en-IN" dirty="0"/>
              <a:t>= Cn</a:t>
            </a:r>
            <a:r>
              <a:rPr lang="en-IN" baseline="30000" dirty="0"/>
              <a:t>2</a:t>
            </a:r>
            <a:r>
              <a:rPr lang="en-IN" dirty="0"/>
              <a:t>3</a:t>
            </a:r>
            <a:r>
              <a:rPr lang="en-IN" baseline="30000" dirty="0"/>
              <a:t>n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Then,  Cn</a:t>
            </a:r>
            <a:r>
              <a:rPr lang="en-IN" baseline="30000" dirty="0"/>
              <a:t>2</a:t>
            </a:r>
            <a:r>
              <a:rPr lang="en-IN" dirty="0"/>
              <a:t>3</a:t>
            </a:r>
            <a:r>
              <a:rPr lang="en-IN" baseline="30000" dirty="0"/>
              <a:t>n</a:t>
            </a:r>
            <a:r>
              <a:rPr lang="en-IN" dirty="0"/>
              <a:t> – 6C(n – 1)</a:t>
            </a:r>
            <a:r>
              <a:rPr lang="en-IN" baseline="30000" dirty="0"/>
              <a:t>2</a:t>
            </a:r>
            <a:r>
              <a:rPr lang="en-IN" dirty="0"/>
              <a:t>3</a:t>
            </a:r>
            <a:r>
              <a:rPr lang="en-IN" baseline="30000" dirty="0"/>
              <a:t>n-1</a:t>
            </a:r>
            <a:r>
              <a:rPr lang="en-IN" dirty="0"/>
              <a:t> + 9C(n – 2)</a:t>
            </a:r>
            <a:r>
              <a:rPr lang="en-IN" baseline="30000" dirty="0"/>
              <a:t>2</a:t>
            </a:r>
            <a:r>
              <a:rPr lang="en-IN" dirty="0"/>
              <a:t>3</a:t>
            </a:r>
            <a:r>
              <a:rPr lang="en-IN" baseline="30000" dirty="0"/>
              <a:t>n-2</a:t>
            </a:r>
            <a:r>
              <a:rPr lang="en-IN" dirty="0"/>
              <a:t> = 2*3</a:t>
            </a:r>
            <a:r>
              <a:rPr lang="en-IN" baseline="30000" dirty="0"/>
              <a:t>n</a:t>
            </a:r>
            <a:r>
              <a:rPr lang="en-IN" dirty="0"/>
              <a:t> 	</a:t>
            </a:r>
          </a:p>
          <a:p>
            <a:pPr>
              <a:buNone/>
            </a:pPr>
            <a:r>
              <a:rPr lang="en-US" dirty="0"/>
              <a:t>	or,	C</a:t>
            </a:r>
            <a:r>
              <a:rPr lang="en-IN" dirty="0"/>
              <a:t>n</a:t>
            </a:r>
            <a:r>
              <a:rPr lang="en-IN" baseline="30000" dirty="0"/>
              <a:t>2 </a:t>
            </a:r>
            <a:r>
              <a:rPr lang="en-IN" dirty="0"/>
              <a:t>– 2C(n</a:t>
            </a:r>
            <a:r>
              <a:rPr lang="en-IN" baseline="30000" dirty="0"/>
              <a:t>2</a:t>
            </a:r>
            <a:r>
              <a:rPr lang="en-IN" dirty="0"/>
              <a:t> – 2n + 1)</a:t>
            </a:r>
            <a:r>
              <a:rPr lang="en-US" dirty="0"/>
              <a:t> + C</a:t>
            </a:r>
            <a:r>
              <a:rPr lang="en-IN" dirty="0"/>
              <a:t>(n</a:t>
            </a:r>
            <a:r>
              <a:rPr lang="en-IN" baseline="30000" dirty="0"/>
              <a:t>2</a:t>
            </a:r>
            <a:r>
              <a:rPr lang="en-IN" dirty="0"/>
              <a:t> – 4n + 4) = 2</a:t>
            </a:r>
          </a:p>
          <a:p>
            <a:pPr>
              <a:buNone/>
            </a:pPr>
            <a:r>
              <a:rPr lang="en-US" dirty="0"/>
              <a:t>	or,	</a:t>
            </a:r>
            <a:r>
              <a:rPr lang="en-IN" dirty="0"/>
              <a:t>– 2C + 4C = 2   	or,  C = 1</a:t>
            </a:r>
            <a:endParaRPr lang="en-US" dirty="0"/>
          </a:p>
          <a:p>
            <a:pPr>
              <a:buNone/>
            </a:pPr>
            <a:r>
              <a:rPr lang="en-US" dirty="0"/>
              <a:t>So, the particular solution is 	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</a:t>
            </a:r>
            <a:r>
              <a:rPr lang="en-IN" b="1" baseline="30000" dirty="0">
                <a:solidFill>
                  <a:srgbClr val="FF0000"/>
                </a:solidFill>
              </a:rPr>
              <a:t>(p) </a:t>
            </a:r>
            <a:r>
              <a:rPr lang="en-IN" b="1" dirty="0">
                <a:solidFill>
                  <a:srgbClr val="FF0000"/>
                </a:solidFill>
              </a:rPr>
              <a:t>= n</a:t>
            </a:r>
            <a:r>
              <a:rPr lang="en-IN" b="1" baseline="30000" dirty="0">
                <a:solidFill>
                  <a:srgbClr val="FF0000"/>
                </a:solidFill>
              </a:rPr>
              <a:t>2</a:t>
            </a:r>
            <a:r>
              <a:rPr lang="en-IN" b="1" dirty="0">
                <a:solidFill>
                  <a:srgbClr val="FF0000"/>
                </a:solidFill>
              </a:rPr>
              <a:t>3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</a:t>
            </a:r>
          </a:p>
          <a:p>
            <a:pPr>
              <a:buNone/>
            </a:pPr>
            <a:r>
              <a:rPr lang="en-IN" dirty="0"/>
              <a:t>Hence, the general solution is given as,</a:t>
            </a:r>
          </a:p>
          <a:p>
            <a:pPr>
              <a:buNone/>
            </a:pPr>
            <a:r>
              <a:rPr lang="en-IN" dirty="0"/>
              <a:t>a</a:t>
            </a:r>
            <a:r>
              <a:rPr lang="en-IN" baseline="-25000" dirty="0"/>
              <a:t>n </a:t>
            </a:r>
            <a:r>
              <a:rPr lang="en-IN" dirty="0"/>
              <a:t>= a</a:t>
            </a:r>
            <a:r>
              <a:rPr lang="en-IN" baseline="-25000" dirty="0"/>
              <a:t>n</a:t>
            </a:r>
            <a:r>
              <a:rPr lang="en-IN" baseline="30000" dirty="0"/>
              <a:t>(h) </a:t>
            </a:r>
            <a:r>
              <a:rPr lang="en-IN" dirty="0"/>
              <a:t>+ a</a:t>
            </a:r>
            <a:r>
              <a:rPr lang="en-IN" baseline="-25000" dirty="0"/>
              <a:t>n</a:t>
            </a:r>
            <a:r>
              <a:rPr lang="en-IN" baseline="30000" dirty="0"/>
              <a:t>(p)     </a:t>
            </a:r>
            <a:r>
              <a:rPr lang="en-US" dirty="0"/>
              <a:t>So,</a:t>
            </a:r>
            <a:r>
              <a:rPr lang="en-IN" baseline="30000" dirty="0"/>
              <a:t>     </a:t>
            </a:r>
            <a:r>
              <a:rPr lang="en-IN" b="1" dirty="0">
                <a:solidFill>
                  <a:srgbClr val="FF0000"/>
                </a:solidFill>
              </a:rPr>
              <a:t>a</a:t>
            </a:r>
            <a:r>
              <a:rPr lang="en-IN" b="1" baseline="-25000" dirty="0">
                <a:solidFill>
                  <a:srgbClr val="FF0000"/>
                </a:solidFill>
              </a:rPr>
              <a:t>n </a:t>
            </a:r>
            <a:r>
              <a:rPr lang="en-IN" b="1" dirty="0">
                <a:solidFill>
                  <a:srgbClr val="FF0000"/>
                </a:solidFill>
              </a:rPr>
              <a:t>= C</a:t>
            </a:r>
            <a:r>
              <a:rPr lang="en-IN" b="1" baseline="-25000" dirty="0">
                <a:solidFill>
                  <a:srgbClr val="FF0000"/>
                </a:solidFill>
              </a:rPr>
              <a:t>1</a:t>
            </a:r>
            <a:r>
              <a:rPr lang="en-IN" b="1" dirty="0">
                <a:solidFill>
                  <a:srgbClr val="FF0000"/>
                </a:solidFill>
              </a:rPr>
              <a:t>3</a:t>
            </a:r>
            <a:r>
              <a:rPr lang="en-IN" b="1" baseline="30000" dirty="0">
                <a:solidFill>
                  <a:srgbClr val="FF0000"/>
                </a:solidFill>
              </a:rPr>
              <a:t>n</a:t>
            </a:r>
            <a:r>
              <a:rPr lang="en-IN" b="1" dirty="0">
                <a:solidFill>
                  <a:srgbClr val="FF0000"/>
                </a:solidFill>
              </a:rPr>
              <a:t> + nC</a:t>
            </a:r>
            <a:r>
              <a:rPr lang="en-IN" b="1" baseline="-25000" dirty="0">
                <a:solidFill>
                  <a:srgbClr val="FF0000"/>
                </a:solidFill>
              </a:rPr>
              <a:t>2</a:t>
            </a:r>
            <a:r>
              <a:rPr lang="en-IN" b="1" dirty="0">
                <a:solidFill>
                  <a:srgbClr val="FF0000"/>
                </a:solidFill>
              </a:rPr>
              <a:t>3</a:t>
            </a:r>
            <a:r>
              <a:rPr lang="en-IN" b="1" baseline="30000" dirty="0">
                <a:solidFill>
                  <a:srgbClr val="FF0000"/>
                </a:solidFill>
              </a:rPr>
              <a:t>n </a:t>
            </a:r>
            <a:r>
              <a:rPr lang="en-IN" b="1" dirty="0">
                <a:solidFill>
                  <a:srgbClr val="FF0000"/>
                </a:solidFill>
              </a:rPr>
              <a:t>+ n</a:t>
            </a:r>
            <a:r>
              <a:rPr lang="en-IN" b="1" baseline="30000" dirty="0">
                <a:solidFill>
                  <a:srgbClr val="FF0000"/>
                </a:solidFill>
              </a:rPr>
              <a:t>2</a:t>
            </a:r>
            <a:r>
              <a:rPr lang="en-IN" b="1" dirty="0">
                <a:solidFill>
                  <a:srgbClr val="FF0000"/>
                </a:solidFill>
              </a:rPr>
              <a:t>3</a:t>
            </a:r>
            <a:r>
              <a:rPr lang="en-IN" b="1" baseline="30000" dirty="0">
                <a:solidFill>
                  <a:srgbClr val="FF0000"/>
                </a:solidFill>
              </a:rPr>
              <a:t>n </a:t>
            </a:r>
            <a:r>
              <a:rPr lang="en-IN" dirty="0">
                <a:solidFill>
                  <a:srgbClr val="FF0000"/>
                </a:solidFill>
              </a:rPr>
              <a:t>	      …..(1)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096963"/>
          </a:xfrm>
        </p:spPr>
        <p:txBody>
          <a:bodyPr>
            <a:noAutofit/>
          </a:bodyPr>
          <a:lstStyle/>
          <a:p>
            <a:r>
              <a:rPr lang="en-US" sz="3600" b="1" dirty="0"/>
              <a:t>Case III. When f(n) = A</a:t>
            </a:r>
            <a:r>
              <a:rPr lang="el-GR" sz="3600" b="1" dirty="0"/>
              <a:t>β</a:t>
            </a:r>
            <a:r>
              <a:rPr lang="en-US" sz="3600" b="1" baseline="30000" dirty="0"/>
              <a:t>n</a:t>
            </a:r>
            <a:r>
              <a:rPr lang="en-US" sz="3600" b="1" dirty="0"/>
              <a:t>, where </a:t>
            </a:r>
            <a:r>
              <a:rPr lang="el-GR" sz="3600" b="1" dirty="0"/>
              <a:t>β </a:t>
            </a:r>
            <a:r>
              <a:rPr lang="en-US" sz="3600" b="1" dirty="0"/>
              <a:t>is a </a:t>
            </a:r>
            <a:br>
              <a:rPr lang="en-US" sz="3600" b="1" dirty="0"/>
            </a:br>
            <a:r>
              <a:rPr lang="en-US" sz="3600" b="1" dirty="0"/>
              <a:t>characteristic root of multiplicity m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20982"/>
            <a:ext cx="11074400" cy="4703618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a</a:t>
            </a:r>
            <a:r>
              <a:rPr lang="en-IN" baseline="-25000" dirty="0">
                <a:solidFill>
                  <a:srgbClr val="FF0000"/>
                </a:solidFill>
              </a:rPr>
              <a:t>n </a:t>
            </a:r>
            <a:r>
              <a:rPr lang="en-IN" dirty="0">
                <a:solidFill>
                  <a:srgbClr val="FF0000"/>
                </a:solidFill>
              </a:rPr>
              <a:t>= C</a:t>
            </a:r>
            <a:r>
              <a:rPr lang="en-IN" baseline="-25000" dirty="0">
                <a:solidFill>
                  <a:srgbClr val="FF0000"/>
                </a:solidFill>
              </a:rPr>
              <a:t>1</a:t>
            </a:r>
            <a:r>
              <a:rPr lang="en-IN" dirty="0">
                <a:solidFill>
                  <a:srgbClr val="FF0000"/>
                </a:solidFill>
              </a:rPr>
              <a:t>3</a:t>
            </a:r>
            <a:r>
              <a:rPr lang="en-IN" baseline="30000" dirty="0">
                <a:solidFill>
                  <a:srgbClr val="FF0000"/>
                </a:solidFill>
              </a:rPr>
              <a:t>n</a:t>
            </a:r>
            <a:r>
              <a:rPr lang="en-IN" dirty="0">
                <a:solidFill>
                  <a:srgbClr val="FF0000"/>
                </a:solidFill>
              </a:rPr>
              <a:t> + nC</a:t>
            </a:r>
            <a:r>
              <a:rPr lang="en-IN" baseline="-25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3</a:t>
            </a:r>
            <a:r>
              <a:rPr lang="en-IN" baseline="30000" dirty="0">
                <a:solidFill>
                  <a:srgbClr val="FF0000"/>
                </a:solidFill>
              </a:rPr>
              <a:t>n </a:t>
            </a:r>
            <a:r>
              <a:rPr lang="en-IN" dirty="0">
                <a:solidFill>
                  <a:srgbClr val="FF0000"/>
                </a:solidFill>
              </a:rPr>
              <a:t>+ n</a:t>
            </a:r>
            <a:r>
              <a:rPr lang="en-IN" baseline="30000" dirty="0">
                <a:solidFill>
                  <a:srgbClr val="FF0000"/>
                </a:solidFill>
              </a:rPr>
              <a:t>2</a:t>
            </a:r>
            <a:r>
              <a:rPr lang="en-IN" dirty="0">
                <a:solidFill>
                  <a:srgbClr val="FF0000"/>
                </a:solidFill>
              </a:rPr>
              <a:t>3</a:t>
            </a:r>
            <a:r>
              <a:rPr lang="en-IN" baseline="30000" dirty="0">
                <a:solidFill>
                  <a:srgbClr val="FF0000"/>
                </a:solidFill>
              </a:rPr>
              <a:t>n </a:t>
            </a:r>
            <a:r>
              <a:rPr lang="en-IN" dirty="0">
                <a:solidFill>
                  <a:srgbClr val="FF0000"/>
                </a:solidFill>
              </a:rPr>
              <a:t>	      …..(1)</a:t>
            </a:r>
            <a:endParaRPr lang="en-US" dirty="0"/>
          </a:p>
          <a:p>
            <a:pPr>
              <a:buNone/>
            </a:pPr>
            <a:r>
              <a:rPr lang="en-US" dirty="0"/>
              <a:t>	Now using initial </a:t>
            </a:r>
            <a:r>
              <a:rPr lang="en-IN" dirty="0"/>
              <a:t>conditions a</a:t>
            </a:r>
            <a:r>
              <a:rPr lang="en-IN" baseline="-25000" dirty="0"/>
              <a:t>0</a:t>
            </a:r>
            <a:r>
              <a:rPr lang="en-IN" dirty="0"/>
              <a:t> = 1 and a</a:t>
            </a:r>
            <a:r>
              <a:rPr lang="en-IN" baseline="-25000" dirty="0"/>
              <a:t>1</a:t>
            </a:r>
            <a:r>
              <a:rPr lang="en-IN" dirty="0"/>
              <a:t> = </a:t>
            </a:r>
            <a:r>
              <a:rPr lang="en-US" dirty="0"/>
              <a:t>– </a:t>
            </a:r>
            <a:r>
              <a:rPr lang="en-IN" dirty="0"/>
              <a:t>3, we can evaluate constant terms C</a:t>
            </a:r>
            <a:r>
              <a:rPr lang="en-IN" baseline="-25000" dirty="0"/>
              <a:t>1</a:t>
            </a:r>
            <a:r>
              <a:rPr lang="en-IN" dirty="0"/>
              <a:t> and C</a:t>
            </a:r>
            <a:r>
              <a:rPr lang="en-IN" baseline="-25000" dirty="0"/>
              <a:t>2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US" dirty="0"/>
              <a:t>	Put n = 0 and n = 1 in (1) we get,</a:t>
            </a:r>
          </a:p>
          <a:p>
            <a:pPr lvl="1">
              <a:buNone/>
            </a:pPr>
            <a:r>
              <a:rPr lang="en-IN" sz="3200" dirty="0"/>
              <a:t>C</a:t>
            </a:r>
            <a:r>
              <a:rPr lang="en-IN" sz="3200" baseline="-25000" dirty="0"/>
              <a:t>1</a:t>
            </a:r>
            <a:r>
              <a:rPr lang="en-IN" sz="3200" dirty="0"/>
              <a:t>  = 1	and 	 3C</a:t>
            </a:r>
            <a:r>
              <a:rPr lang="en-IN" sz="3200" baseline="-25000" dirty="0"/>
              <a:t>1</a:t>
            </a:r>
            <a:r>
              <a:rPr lang="en-IN" sz="3200" dirty="0"/>
              <a:t> + 3C</a:t>
            </a:r>
            <a:r>
              <a:rPr lang="en-IN" sz="3200" baseline="-25000" dirty="0"/>
              <a:t>2 </a:t>
            </a:r>
            <a:r>
              <a:rPr lang="en-IN" sz="3200" dirty="0"/>
              <a:t>+ 3</a:t>
            </a:r>
            <a:r>
              <a:rPr lang="en-IN" sz="3200" baseline="-25000" dirty="0"/>
              <a:t> </a:t>
            </a:r>
            <a:r>
              <a:rPr lang="en-IN" sz="3200" dirty="0"/>
              <a:t> = </a:t>
            </a:r>
            <a:r>
              <a:rPr lang="en-US" sz="3200" dirty="0"/>
              <a:t>– </a:t>
            </a:r>
            <a:r>
              <a:rPr lang="en-IN" sz="3200" dirty="0"/>
              <a:t>3</a:t>
            </a:r>
          </a:p>
          <a:p>
            <a:pPr lvl="1">
              <a:buNone/>
            </a:pPr>
            <a:r>
              <a:rPr lang="en-IN" sz="3200" dirty="0"/>
              <a:t>Solving these we get, C</a:t>
            </a:r>
            <a:r>
              <a:rPr lang="en-IN" sz="3200" baseline="-25000" dirty="0"/>
              <a:t>1</a:t>
            </a:r>
            <a:r>
              <a:rPr lang="en-IN" sz="3200" dirty="0"/>
              <a:t> = 1, C</a:t>
            </a:r>
            <a:r>
              <a:rPr lang="en-IN" sz="3200" baseline="-25000" dirty="0"/>
              <a:t>2</a:t>
            </a:r>
            <a:r>
              <a:rPr lang="en-IN" sz="3200" dirty="0"/>
              <a:t> = </a:t>
            </a:r>
            <a:r>
              <a:rPr lang="en-US" sz="3200" dirty="0"/>
              <a:t>– </a:t>
            </a:r>
            <a:r>
              <a:rPr lang="en-IN" sz="3200" dirty="0"/>
              <a:t>3 </a:t>
            </a:r>
          </a:p>
          <a:p>
            <a:pPr lvl="1">
              <a:buNone/>
            </a:pPr>
            <a:r>
              <a:rPr lang="en-IN" sz="3200" dirty="0"/>
              <a:t>Therefore the solution is given by, </a:t>
            </a:r>
          </a:p>
          <a:p>
            <a:pPr lvl="1">
              <a:buNone/>
            </a:pPr>
            <a:r>
              <a:rPr lang="en-IN" sz="3200" dirty="0">
                <a:solidFill>
                  <a:srgbClr val="FF0000"/>
                </a:solidFill>
              </a:rPr>
              <a:t>             </a:t>
            </a:r>
            <a:r>
              <a:rPr lang="en-IN" sz="3200" b="1" dirty="0">
                <a:solidFill>
                  <a:srgbClr val="FF0000"/>
                </a:solidFill>
              </a:rPr>
              <a:t>a</a:t>
            </a:r>
            <a:r>
              <a:rPr lang="en-IN" sz="3200" b="1" baseline="-25000" dirty="0">
                <a:solidFill>
                  <a:srgbClr val="FF0000"/>
                </a:solidFill>
              </a:rPr>
              <a:t>n </a:t>
            </a:r>
            <a:r>
              <a:rPr lang="en-IN" sz="3200" b="1" dirty="0">
                <a:solidFill>
                  <a:srgbClr val="FF0000"/>
                </a:solidFill>
              </a:rPr>
              <a:t>= 3</a:t>
            </a:r>
            <a:r>
              <a:rPr lang="en-IN" sz="3200" b="1" baseline="30000" dirty="0">
                <a:solidFill>
                  <a:srgbClr val="FF0000"/>
                </a:solidFill>
              </a:rPr>
              <a:t>n</a:t>
            </a:r>
            <a:r>
              <a:rPr lang="en-IN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>
                <a:solidFill>
                  <a:srgbClr val="FF0000"/>
                </a:solidFill>
              </a:rPr>
              <a:t>– </a:t>
            </a:r>
            <a:r>
              <a:rPr lang="en-IN" sz="3200" b="1" dirty="0">
                <a:solidFill>
                  <a:srgbClr val="FF0000"/>
                </a:solidFill>
              </a:rPr>
              <a:t>3n3</a:t>
            </a:r>
            <a:r>
              <a:rPr lang="en-IN" sz="3200" b="1" baseline="30000" dirty="0">
                <a:solidFill>
                  <a:srgbClr val="FF0000"/>
                </a:solidFill>
              </a:rPr>
              <a:t>n </a:t>
            </a:r>
            <a:r>
              <a:rPr lang="en-IN" sz="3200" b="1" dirty="0">
                <a:solidFill>
                  <a:srgbClr val="FF0000"/>
                </a:solidFill>
              </a:rPr>
              <a:t>+ n</a:t>
            </a:r>
            <a:r>
              <a:rPr lang="en-IN" sz="3200" b="1" baseline="30000" dirty="0">
                <a:solidFill>
                  <a:srgbClr val="FF0000"/>
                </a:solidFill>
              </a:rPr>
              <a:t>2</a:t>
            </a:r>
            <a:r>
              <a:rPr lang="en-IN" sz="3200" b="1" dirty="0">
                <a:solidFill>
                  <a:srgbClr val="FF0000"/>
                </a:solidFill>
              </a:rPr>
              <a:t>3</a:t>
            </a:r>
            <a:r>
              <a:rPr lang="en-IN" sz="3200" b="1" baseline="30000" dirty="0">
                <a:solidFill>
                  <a:srgbClr val="FF0000"/>
                </a:solidFill>
              </a:rPr>
              <a:t>n </a:t>
            </a:r>
            <a:r>
              <a:rPr lang="en-IN" b="1" dirty="0">
                <a:solidFill>
                  <a:srgbClr val="FF0000"/>
                </a:solidFill>
              </a:rPr>
              <a:t>= (1 </a:t>
            </a:r>
            <a:r>
              <a:rPr lang="en-US" b="1" dirty="0">
                <a:solidFill>
                  <a:srgbClr val="FF0000"/>
                </a:solidFill>
              </a:rPr>
              <a:t>– </a:t>
            </a:r>
            <a:r>
              <a:rPr lang="en-IN" b="1" dirty="0">
                <a:solidFill>
                  <a:srgbClr val="FF0000"/>
                </a:solidFill>
              </a:rPr>
              <a:t>3n + n</a:t>
            </a:r>
            <a:r>
              <a:rPr lang="en-IN" b="1" baseline="30000" dirty="0">
                <a:solidFill>
                  <a:srgbClr val="FF0000"/>
                </a:solidFill>
              </a:rPr>
              <a:t>2</a:t>
            </a:r>
            <a:r>
              <a:rPr lang="en-IN" b="1" dirty="0">
                <a:solidFill>
                  <a:srgbClr val="FF0000"/>
                </a:solidFill>
              </a:rPr>
              <a:t>) 3</a:t>
            </a:r>
            <a:r>
              <a:rPr lang="en-IN" b="1" baseline="30000" dirty="0">
                <a:solidFill>
                  <a:srgbClr val="FF0000"/>
                </a:solidFill>
              </a:rPr>
              <a:t>n 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30058"/>
            <a:ext cx="10972800" cy="792163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Case IV. When f(n) is a polynomial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20982"/>
            <a:ext cx="11074400" cy="4703618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Solve the recurrence relation </a:t>
            </a:r>
            <a:r>
              <a:rPr lang="en-IN" sz="2800" b="1" dirty="0">
                <a:solidFill>
                  <a:srgbClr val="FF0000"/>
                </a:solidFill>
              </a:rPr>
              <a:t>y</a:t>
            </a:r>
            <a:r>
              <a:rPr lang="en-IN" sz="2800" b="1" baseline="-25000" dirty="0">
                <a:solidFill>
                  <a:srgbClr val="FF0000"/>
                </a:solidFill>
              </a:rPr>
              <a:t>n+2 </a:t>
            </a:r>
            <a:r>
              <a:rPr lang="en-US" sz="2800" dirty="0">
                <a:solidFill>
                  <a:srgbClr val="FF0000"/>
                </a:solidFill>
              </a:rPr>
              <a:t>–</a:t>
            </a:r>
            <a:r>
              <a:rPr lang="en-IN" sz="2800" b="1" dirty="0">
                <a:solidFill>
                  <a:srgbClr val="FF0000"/>
                </a:solidFill>
              </a:rPr>
              <a:t> y</a:t>
            </a:r>
            <a:r>
              <a:rPr lang="en-IN" sz="2800" b="1" baseline="-25000" dirty="0">
                <a:solidFill>
                  <a:srgbClr val="FF0000"/>
                </a:solidFill>
              </a:rPr>
              <a:t>n+1</a:t>
            </a:r>
            <a:r>
              <a:rPr lang="en-IN" sz="2800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–</a:t>
            </a:r>
            <a:r>
              <a:rPr lang="en-IN" sz="2800" b="1" dirty="0">
                <a:solidFill>
                  <a:srgbClr val="FF0000"/>
                </a:solidFill>
              </a:rPr>
              <a:t> 6y</a:t>
            </a:r>
            <a:r>
              <a:rPr lang="en-IN" sz="2800" b="1" baseline="-25000" dirty="0">
                <a:solidFill>
                  <a:srgbClr val="FF0000"/>
                </a:solidFill>
              </a:rPr>
              <a:t>n </a:t>
            </a:r>
            <a:r>
              <a:rPr lang="en-IN" sz="2800" b="1" dirty="0">
                <a:solidFill>
                  <a:srgbClr val="FF0000"/>
                </a:solidFill>
              </a:rPr>
              <a:t>= n</a:t>
            </a:r>
            <a:r>
              <a:rPr lang="en-IN" sz="2800" b="1" baseline="30000" dirty="0">
                <a:solidFill>
                  <a:srgbClr val="FF0000"/>
                </a:solidFill>
              </a:rPr>
              <a:t>2</a:t>
            </a:r>
            <a:r>
              <a:rPr lang="en-IN" sz="2800" b="1" dirty="0">
                <a:solidFill>
                  <a:srgbClr val="FF0000"/>
                </a:solidFill>
              </a:rPr>
              <a:t>.</a:t>
            </a:r>
            <a:endParaRPr lang="en-IN" sz="28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2800" dirty="0"/>
              <a:t>The characteristic equation for homogeneous part is: </a:t>
            </a:r>
          </a:p>
          <a:p>
            <a:pPr>
              <a:buNone/>
            </a:pPr>
            <a:r>
              <a:rPr lang="en-IN" sz="2800" dirty="0"/>
              <a:t>		r</a:t>
            </a:r>
            <a:r>
              <a:rPr lang="en-IN" sz="2800" baseline="30000" dirty="0"/>
              <a:t>2</a:t>
            </a:r>
            <a:r>
              <a:rPr lang="en-IN" sz="2800" dirty="0"/>
              <a:t> – r – 6 = 0	</a:t>
            </a:r>
          </a:p>
          <a:p>
            <a:pPr>
              <a:buNone/>
            </a:pPr>
            <a:r>
              <a:rPr lang="en-IN" sz="2800" dirty="0"/>
              <a:t>or,	r = – 2, 3</a:t>
            </a:r>
          </a:p>
          <a:p>
            <a:pPr>
              <a:buNone/>
            </a:pPr>
            <a:r>
              <a:rPr lang="en-US" sz="2800" dirty="0"/>
              <a:t>So, the homogeneous solution is:	</a:t>
            </a:r>
          </a:p>
          <a:p>
            <a:pPr>
              <a:buNone/>
            </a:pPr>
            <a:r>
              <a:rPr lang="en-US" sz="2800" b="1" dirty="0">
                <a:solidFill>
                  <a:srgbClr val="FF0000"/>
                </a:solidFill>
              </a:rPr>
              <a:t>	</a:t>
            </a:r>
            <a:r>
              <a:rPr lang="en-IN" sz="2800" b="1" dirty="0" err="1">
                <a:solidFill>
                  <a:srgbClr val="FF0000"/>
                </a:solidFill>
              </a:rPr>
              <a:t>y</a:t>
            </a:r>
            <a:r>
              <a:rPr lang="en-IN" sz="2800" b="1" baseline="-25000" dirty="0" err="1">
                <a:solidFill>
                  <a:srgbClr val="FF0000"/>
                </a:solidFill>
              </a:rPr>
              <a:t>n</a:t>
            </a:r>
            <a:r>
              <a:rPr lang="en-IN" sz="2800" b="1" baseline="30000" dirty="0">
                <a:solidFill>
                  <a:srgbClr val="FF0000"/>
                </a:solidFill>
              </a:rPr>
              <a:t>(h) </a:t>
            </a:r>
            <a:r>
              <a:rPr lang="en-IN" sz="2800" b="1" dirty="0">
                <a:solidFill>
                  <a:srgbClr val="FF0000"/>
                </a:solidFill>
              </a:rPr>
              <a:t>= C</a:t>
            </a:r>
            <a:r>
              <a:rPr lang="en-IN" sz="2800" b="1" baseline="-25000" dirty="0">
                <a:solidFill>
                  <a:srgbClr val="FF0000"/>
                </a:solidFill>
              </a:rPr>
              <a:t>1</a:t>
            </a:r>
            <a:r>
              <a:rPr lang="en-IN" sz="2800" b="1" dirty="0">
                <a:solidFill>
                  <a:srgbClr val="FF0000"/>
                </a:solidFill>
              </a:rPr>
              <a:t> (–2)</a:t>
            </a:r>
            <a:r>
              <a:rPr lang="en-IN" sz="2800" b="1" baseline="30000" dirty="0">
                <a:solidFill>
                  <a:srgbClr val="FF0000"/>
                </a:solidFill>
              </a:rPr>
              <a:t>n</a:t>
            </a:r>
            <a:r>
              <a:rPr lang="en-IN" sz="2800" b="1" dirty="0">
                <a:solidFill>
                  <a:srgbClr val="FF0000"/>
                </a:solidFill>
              </a:rPr>
              <a:t> + C</a:t>
            </a:r>
            <a:r>
              <a:rPr lang="en-IN" sz="2800" b="1" baseline="-25000" dirty="0">
                <a:solidFill>
                  <a:srgbClr val="FF0000"/>
                </a:solidFill>
              </a:rPr>
              <a:t>2</a:t>
            </a:r>
            <a:r>
              <a:rPr lang="en-IN" sz="2800" b="1" dirty="0">
                <a:solidFill>
                  <a:srgbClr val="FF0000"/>
                </a:solidFill>
              </a:rPr>
              <a:t> (3)</a:t>
            </a:r>
            <a:r>
              <a:rPr lang="en-IN" sz="2800" b="1" baseline="30000" dirty="0">
                <a:solidFill>
                  <a:srgbClr val="FF0000"/>
                </a:solidFill>
              </a:rPr>
              <a:t>n </a:t>
            </a:r>
          </a:p>
          <a:p>
            <a:pPr>
              <a:buNone/>
            </a:pPr>
            <a:r>
              <a:rPr lang="en-US" sz="2800" dirty="0"/>
              <a:t>Let particular solution is of the form  </a:t>
            </a:r>
            <a:r>
              <a:rPr lang="en-IN" sz="2800" dirty="0" err="1">
                <a:solidFill>
                  <a:srgbClr val="FF0000"/>
                </a:solidFill>
              </a:rPr>
              <a:t>y</a:t>
            </a:r>
            <a:r>
              <a:rPr lang="en-IN" sz="2800" baseline="-25000" dirty="0" err="1">
                <a:solidFill>
                  <a:srgbClr val="FF0000"/>
                </a:solidFill>
              </a:rPr>
              <a:t>n</a:t>
            </a:r>
            <a:r>
              <a:rPr lang="en-IN" sz="2800" baseline="-25000" dirty="0">
                <a:solidFill>
                  <a:srgbClr val="FF0000"/>
                </a:solidFill>
              </a:rPr>
              <a:t> </a:t>
            </a:r>
            <a:r>
              <a:rPr lang="en-IN" sz="2800" dirty="0">
                <a:solidFill>
                  <a:srgbClr val="FF0000"/>
                </a:solidFill>
              </a:rPr>
              <a:t>= C</a:t>
            </a:r>
            <a:r>
              <a:rPr lang="en-IN" sz="2800" baseline="-25000" dirty="0">
                <a:solidFill>
                  <a:srgbClr val="FF0000"/>
                </a:solidFill>
              </a:rPr>
              <a:t>1</a:t>
            </a:r>
            <a:r>
              <a:rPr lang="en-IN" sz="2800" dirty="0">
                <a:solidFill>
                  <a:srgbClr val="FF0000"/>
                </a:solidFill>
              </a:rPr>
              <a:t>n</a:t>
            </a:r>
            <a:r>
              <a:rPr lang="en-IN" sz="2800" baseline="30000" dirty="0">
                <a:solidFill>
                  <a:srgbClr val="FF0000"/>
                </a:solidFill>
              </a:rPr>
              <a:t>2</a:t>
            </a:r>
            <a:r>
              <a:rPr lang="en-IN" sz="2800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+</a:t>
            </a:r>
            <a:r>
              <a:rPr lang="en-IN" sz="2800" dirty="0">
                <a:solidFill>
                  <a:srgbClr val="FF0000"/>
                </a:solidFill>
              </a:rPr>
              <a:t> C</a:t>
            </a:r>
            <a:r>
              <a:rPr lang="en-IN" sz="2800" baseline="-25000" dirty="0">
                <a:solidFill>
                  <a:srgbClr val="FF0000"/>
                </a:solidFill>
              </a:rPr>
              <a:t>2</a:t>
            </a:r>
            <a:r>
              <a:rPr lang="en-IN" sz="2800" dirty="0">
                <a:solidFill>
                  <a:srgbClr val="FF0000"/>
                </a:solidFill>
              </a:rPr>
              <a:t>n </a:t>
            </a:r>
            <a:r>
              <a:rPr lang="en-US" sz="2800" dirty="0">
                <a:solidFill>
                  <a:srgbClr val="FF0000"/>
                </a:solidFill>
              </a:rPr>
              <a:t>+</a:t>
            </a:r>
            <a:r>
              <a:rPr lang="en-IN" sz="2800" dirty="0">
                <a:solidFill>
                  <a:srgbClr val="FF0000"/>
                </a:solidFill>
              </a:rPr>
              <a:t> C</a:t>
            </a:r>
            <a:r>
              <a:rPr lang="en-IN" sz="2800" baseline="-25000" dirty="0">
                <a:solidFill>
                  <a:srgbClr val="FF0000"/>
                </a:solidFill>
              </a:rPr>
              <a:t>3</a:t>
            </a:r>
            <a:endParaRPr lang="en-IN" sz="2800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IN" sz="2800" dirty="0"/>
              <a:t>Therefore, </a:t>
            </a:r>
          </a:p>
          <a:p>
            <a:pPr marL="0" indent="0">
              <a:buNone/>
            </a:pPr>
            <a:r>
              <a:rPr lang="en-IN" sz="2800" dirty="0"/>
              <a:t>C</a:t>
            </a:r>
            <a:r>
              <a:rPr lang="en-IN" sz="2800" baseline="-25000" dirty="0"/>
              <a:t>1</a:t>
            </a:r>
            <a:r>
              <a:rPr lang="en-IN" sz="2800" dirty="0"/>
              <a:t>(n+2)</a:t>
            </a:r>
            <a:r>
              <a:rPr lang="en-IN" sz="2800" baseline="30000" dirty="0"/>
              <a:t>2</a:t>
            </a:r>
            <a:r>
              <a:rPr lang="en-IN" sz="2800" dirty="0"/>
              <a:t> </a:t>
            </a:r>
            <a:r>
              <a:rPr lang="en-US" sz="2800" dirty="0"/>
              <a:t>+</a:t>
            </a:r>
            <a:r>
              <a:rPr lang="en-IN" sz="2800" dirty="0"/>
              <a:t> C</a:t>
            </a:r>
            <a:r>
              <a:rPr lang="en-IN" sz="2800" baseline="-25000" dirty="0"/>
              <a:t>2</a:t>
            </a:r>
            <a:r>
              <a:rPr lang="en-IN" sz="2800" dirty="0"/>
              <a:t>(n+2) </a:t>
            </a:r>
            <a:r>
              <a:rPr lang="en-US" sz="2800" dirty="0"/>
              <a:t>+</a:t>
            </a:r>
            <a:r>
              <a:rPr lang="en-IN" sz="2800" dirty="0"/>
              <a:t> C</a:t>
            </a:r>
            <a:r>
              <a:rPr lang="en-IN" sz="2800" baseline="-25000" dirty="0"/>
              <a:t>3</a:t>
            </a:r>
            <a:r>
              <a:rPr lang="en-IN" sz="2800" dirty="0"/>
              <a:t> </a:t>
            </a:r>
            <a:r>
              <a:rPr lang="en-US" sz="2800" dirty="0"/>
              <a:t>–</a:t>
            </a:r>
            <a:r>
              <a:rPr lang="en-IN" sz="2800" dirty="0"/>
              <a:t> [C</a:t>
            </a:r>
            <a:r>
              <a:rPr lang="en-IN" sz="2800" baseline="-25000" dirty="0"/>
              <a:t>1</a:t>
            </a:r>
            <a:r>
              <a:rPr lang="en-IN" sz="2800" dirty="0"/>
              <a:t>(n+1)</a:t>
            </a:r>
            <a:r>
              <a:rPr lang="en-IN" sz="2800" baseline="30000" dirty="0"/>
              <a:t>2</a:t>
            </a:r>
            <a:r>
              <a:rPr lang="en-IN" sz="2800" dirty="0"/>
              <a:t> </a:t>
            </a:r>
            <a:r>
              <a:rPr lang="en-US" sz="2800" dirty="0"/>
              <a:t>+</a:t>
            </a:r>
            <a:r>
              <a:rPr lang="en-IN" sz="2800" dirty="0"/>
              <a:t> C</a:t>
            </a:r>
            <a:r>
              <a:rPr lang="en-IN" sz="2800" baseline="-25000" dirty="0"/>
              <a:t>2</a:t>
            </a:r>
            <a:r>
              <a:rPr lang="en-IN" sz="2800" dirty="0"/>
              <a:t>(n+1) </a:t>
            </a:r>
            <a:r>
              <a:rPr lang="en-US" sz="2800" dirty="0"/>
              <a:t>+</a:t>
            </a:r>
            <a:r>
              <a:rPr lang="en-IN" sz="2800" dirty="0"/>
              <a:t> C</a:t>
            </a:r>
            <a:r>
              <a:rPr lang="en-IN" sz="2800" baseline="-25000" dirty="0"/>
              <a:t>3</a:t>
            </a:r>
            <a:r>
              <a:rPr lang="en-IN" sz="2800" dirty="0"/>
              <a:t>] </a:t>
            </a:r>
            <a:r>
              <a:rPr lang="en-US" sz="2800" dirty="0"/>
              <a:t>–</a:t>
            </a:r>
            <a:r>
              <a:rPr lang="en-IN" sz="2800" dirty="0"/>
              <a:t>6[C</a:t>
            </a:r>
            <a:r>
              <a:rPr lang="en-IN" sz="2800" baseline="-25000" dirty="0"/>
              <a:t>1</a:t>
            </a:r>
            <a:r>
              <a:rPr lang="en-IN" sz="2800" dirty="0"/>
              <a:t>n</a:t>
            </a:r>
            <a:r>
              <a:rPr lang="en-IN" sz="2800" baseline="30000" dirty="0"/>
              <a:t>2 </a:t>
            </a:r>
            <a:r>
              <a:rPr lang="en-US" sz="2800" dirty="0"/>
              <a:t>+</a:t>
            </a:r>
            <a:r>
              <a:rPr lang="en-IN" sz="2800" dirty="0"/>
              <a:t> C</a:t>
            </a:r>
            <a:r>
              <a:rPr lang="en-IN" sz="2800" baseline="-25000" dirty="0"/>
              <a:t>2</a:t>
            </a:r>
            <a:r>
              <a:rPr lang="en-IN" sz="2800" dirty="0"/>
              <a:t>n </a:t>
            </a:r>
            <a:r>
              <a:rPr lang="en-US" sz="2800" dirty="0"/>
              <a:t>+</a:t>
            </a:r>
            <a:r>
              <a:rPr lang="en-IN" sz="2800" dirty="0"/>
              <a:t> C</a:t>
            </a:r>
            <a:r>
              <a:rPr lang="en-IN" sz="2800" baseline="-25000" dirty="0"/>
              <a:t>3</a:t>
            </a:r>
            <a:r>
              <a:rPr lang="en-IN" sz="2800" dirty="0"/>
              <a:t>] = n</a:t>
            </a:r>
            <a:r>
              <a:rPr lang="en-IN" sz="2800" baseline="30000" dirty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92163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Case IV. When f(n) is a polynomial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48690"/>
            <a:ext cx="10871200" cy="4371109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800" dirty="0"/>
              <a:t>or,  (</a:t>
            </a:r>
            <a:r>
              <a:rPr lang="en-IN" sz="2800" dirty="0"/>
              <a:t>C</a:t>
            </a:r>
            <a:r>
              <a:rPr lang="en-IN" sz="2800" baseline="-25000" dirty="0"/>
              <a:t>1</a:t>
            </a:r>
            <a:r>
              <a:rPr lang="en-US" sz="2800" dirty="0"/>
              <a:t>– </a:t>
            </a:r>
            <a:r>
              <a:rPr lang="en-IN" sz="2800" dirty="0"/>
              <a:t>C</a:t>
            </a:r>
            <a:r>
              <a:rPr lang="en-IN" sz="2800" baseline="-25000" dirty="0"/>
              <a:t>1</a:t>
            </a:r>
            <a:r>
              <a:rPr lang="en-US" sz="2800" dirty="0"/>
              <a:t>– 6</a:t>
            </a:r>
            <a:r>
              <a:rPr lang="en-IN" sz="2800" dirty="0"/>
              <a:t>C</a:t>
            </a:r>
            <a:r>
              <a:rPr lang="en-IN" sz="2800" baseline="-25000" dirty="0"/>
              <a:t>1</a:t>
            </a:r>
            <a:r>
              <a:rPr lang="en-IN" sz="2800" dirty="0"/>
              <a:t>)n</a:t>
            </a:r>
            <a:r>
              <a:rPr lang="en-IN" sz="2800" baseline="30000" dirty="0"/>
              <a:t>2 </a:t>
            </a:r>
            <a:r>
              <a:rPr lang="en-US" sz="2800" dirty="0"/>
              <a:t>+</a:t>
            </a:r>
            <a:r>
              <a:rPr lang="en-IN" sz="2800" dirty="0"/>
              <a:t> </a:t>
            </a:r>
            <a:r>
              <a:rPr lang="en-US" sz="2800" dirty="0"/>
              <a:t>(4</a:t>
            </a:r>
            <a:r>
              <a:rPr lang="en-IN" sz="2800" dirty="0"/>
              <a:t>C</a:t>
            </a:r>
            <a:r>
              <a:rPr lang="en-IN" sz="2800" baseline="-25000" dirty="0"/>
              <a:t>1</a:t>
            </a:r>
            <a:r>
              <a:rPr lang="en-US" sz="2800" dirty="0"/>
              <a:t> + </a:t>
            </a:r>
            <a:r>
              <a:rPr lang="en-IN" sz="2800" dirty="0"/>
              <a:t>C</a:t>
            </a:r>
            <a:r>
              <a:rPr lang="en-IN" sz="2800" baseline="-25000" dirty="0"/>
              <a:t>2</a:t>
            </a:r>
            <a:r>
              <a:rPr lang="en-US" sz="2800" dirty="0"/>
              <a:t>– 2</a:t>
            </a:r>
            <a:r>
              <a:rPr lang="en-IN" sz="2800" dirty="0"/>
              <a:t>C</a:t>
            </a:r>
            <a:r>
              <a:rPr lang="en-IN" sz="2800" baseline="-25000" dirty="0"/>
              <a:t>1</a:t>
            </a:r>
            <a:r>
              <a:rPr lang="en-US" sz="2800" dirty="0"/>
              <a:t>– </a:t>
            </a:r>
            <a:r>
              <a:rPr lang="en-IN" sz="2800" dirty="0"/>
              <a:t>C</a:t>
            </a:r>
            <a:r>
              <a:rPr lang="en-IN" sz="2800" baseline="-25000" dirty="0"/>
              <a:t>2</a:t>
            </a:r>
            <a:r>
              <a:rPr lang="en-US" sz="2800" dirty="0"/>
              <a:t>– 6</a:t>
            </a:r>
            <a:r>
              <a:rPr lang="en-IN" sz="2800" dirty="0"/>
              <a:t>C</a:t>
            </a:r>
            <a:r>
              <a:rPr lang="en-IN" sz="2800" baseline="-25000" dirty="0"/>
              <a:t>2</a:t>
            </a:r>
            <a:r>
              <a:rPr lang="en-IN" sz="2800" dirty="0"/>
              <a:t>)n</a:t>
            </a:r>
            <a:r>
              <a:rPr lang="en-IN" sz="2800" baseline="30000" dirty="0"/>
              <a:t> </a:t>
            </a:r>
            <a:r>
              <a:rPr lang="en-US" sz="2800" dirty="0"/>
              <a:t>+</a:t>
            </a:r>
            <a:r>
              <a:rPr lang="en-IN" sz="2800" dirty="0"/>
              <a:t> </a:t>
            </a:r>
            <a:r>
              <a:rPr lang="en-US" sz="2800" dirty="0"/>
              <a:t>(4</a:t>
            </a:r>
            <a:r>
              <a:rPr lang="en-IN" sz="2800" dirty="0"/>
              <a:t>C</a:t>
            </a:r>
            <a:r>
              <a:rPr lang="en-IN" sz="2800" baseline="-25000" dirty="0"/>
              <a:t>1</a:t>
            </a:r>
            <a:r>
              <a:rPr lang="en-US" sz="2800" dirty="0"/>
              <a:t>+ 2</a:t>
            </a:r>
            <a:r>
              <a:rPr lang="en-IN" sz="2800" dirty="0"/>
              <a:t>C</a:t>
            </a:r>
            <a:r>
              <a:rPr lang="en-IN" sz="2800" baseline="-25000" dirty="0"/>
              <a:t>2</a:t>
            </a:r>
            <a:r>
              <a:rPr lang="en-US" sz="2800" dirty="0"/>
              <a:t> +</a:t>
            </a:r>
            <a:r>
              <a:rPr lang="en-IN" sz="2800" dirty="0"/>
              <a:t> C</a:t>
            </a:r>
            <a:r>
              <a:rPr lang="en-IN" sz="2800" baseline="-25000" dirty="0"/>
              <a:t>3</a:t>
            </a:r>
            <a:r>
              <a:rPr lang="en-IN" sz="2800" dirty="0"/>
              <a:t> </a:t>
            </a:r>
            <a:r>
              <a:rPr lang="en-US" sz="2800" dirty="0"/>
              <a:t>– </a:t>
            </a:r>
            <a:r>
              <a:rPr lang="en-IN" sz="2800" dirty="0"/>
              <a:t>C</a:t>
            </a:r>
            <a:r>
              <a:rPr lang="en-IN" sz="2800" baseline="-25000" dirty="0"/>
              <a:t>1</a:t>
            </a:r>
            <a:r>
              <a:rPr lang="en-US" sz="2800" dirty="0"/>
              <a:t>– </a:t>
            </a:r>
            <a:r>
              <a:rPr lang="en-IN" sz="2800" dirty="0"/>
              <a:t>C</a:t>
            </a:r>
            <a:r>
              <a:rPr lang="en-IN" sz="2800" baseline="-25000" dirty="0"/>
              <a:t>2</a:t>
            </a:r>
            <a:r>
              <a:rPr lang="en-US" sz="2800" dirty="0"/>
              <a:t>– </a:t>
            </a:r>
            <a:r>
              <a:rPr lang="en-IN" sz="2800" dirty="0"/>
              <a:t>C</a:t>
            </a:r>
            <a:r>
              <a:rPr lang="en-IN" sz="2800" baseline="-25000" dirty="0"/>
              <a:t>3</a:t>
            </a:r>
            <a:r>
              <a:rPr lang="en-US" sz="2800" dirty="0"/>
              <a:t>–6</a:t>
            </a:r>
            <a:r>
              <a:rPr lang="en-IN" sz="2800" dirty="0"/>
              <a:t>C</a:t>
            </a:r>
            <a:r>
              <a:rPr lang="en-IN" sz="2800" baseline="-25000" dirty="0"/>
              <a:t>3</a:t>
            </a:r>
            <a:r>
              <a:rPr lang="en-IN" sz="2800" dirty="0"/>
              <a:t>)  =  n</a:t>
            </a:r>
            <a:r>
              <a:rPr lang="en-IN" sz="2800" baseline="30000" dirty="0"/>
              <a:t>2 </a:t>
            </a:r>
            <a:r>
              <a:rPr lang="en-IN" sz="2800" dirty="0"/>
              <a:t>+ 0.n + 0</a:t>
            </a:r>
          </a:p>
          <a:p>
            <a:pPr marL="0" indent="0">
              <a:buNone/>
            </a:pPr>
            <a:r>
              <a:rPr lang="en-US" sz="2800" dirty="0"/>
              <a:t>Comparing the coefficients of </a:t>
            </a:r>
            <a:r>
              <a:rPr lang="en-IN" sz="2800" dirty="0"/>
              <a:t>n</a:t>
            </a:r>
            <a:r>
              <a:rPr lang="en-IN" sz="2800" baseline="30000" dirty="0"/>
              <a:t>2</a:t>
            </a:r>
            <a:r>
              <a:rPr lang="en-IN" sz="2800" dirty="0"/>
              <a:t>, n and constant terms both sides,</a:t>
            </a:r>
          </a:p>
          <a:p>
            <a:pPr>
              <a:buNone/>
            </a:pPr>
            <a:r>
              <a:rPr lang="en-IN" sz="2800" dirty="0"/>
              <a:t>	C</a:t>
            </a:r>
            <a:r>
              <a:rPr lang="en-IN" sz="2800" baseline="-25000" dirty="0"/>
              <a:t>1 </a:t>
            </a:r>
            <a:r>
              <a:rPr lang="en-IN" sz="2800" dirty="0"/>
              <a:t>=</a:t>
            </a:r>
            <a:r>
              <a:rPr lang="en-IN" sz="2800" baseline="-25000" dirty="0"/>
              <a:t> </a:t>
            </a:r>
            <a:r>
              <a:rPr lang="en-IN" sz="2800" dirty="0"/>
              <a:t>–1/6,     C</a:t>
            </a:r>
            <a:r>
              <a:rPr lang="en-IN" sz="2800" baseline="-25000" dirty="0"/>
              <a:t>2 </a:t>
            </a:r>
            <a:r>
              <a:rPr lang="en-IN" sz="2800" dirty="0"/>
              <a:t>=</a:t>
            </a:r>
            <a:r>
              <a:rPr lang="en-IN" sz="2800" baseline="-25000" dirty="0"/>
              <a:t> </a:t>
            </a:r>
            <a:r>
              <a:rPr lang="en-IN" sz="2800" dirty="0"/>
              <a:t>–1/18,      C</a:t>
            </a:r>
            <a:r>
              <a:rPr lang="en-IN" sz="2800" baseline="-25000" dirty="0"/>
              <a:t>3 </a:t>
            </a:r>
            <a:r>
              <a:rPr lang="en-IN" sz="2800" dirty="0"/>
              <a:t>=</a:t>
            </a:r>
            <a:r>
              <a:rPr lang="en-IN" sz="2800" baseline="-25000" dirty="0"/>
              <a:t> </a:t>
            </a:r>
            <a:r>
              <a:rPr lang="en-IN" sz="2800" dirty="0"/>
              <a:t>–5/54</a:t>
            </a:r>
          </a:p>
          <a:p>
            <a:pPr>
              <a:buNone/>
            </a:pPr>
            <a:r>
              <a:rPr lang="en-US" sz="2800" dirty="0"/>
              <a:t>So, 	</a:t>
            </a:r>
            <a:r>
              <a:rPr lang="en-IN" sz="2800" b="1" dirty="0" err="1">
                <a:solidFill>
                  <a:srgbClr val="FF0000"/>
                </a:solidFill>
              </a:rPr>
              <a:t>y</a:t>
            </a:r>
            <a:r>
              <a:rPr lang="en-IN" sz="2800" b="1" baseline="-25000" dirty="0" err="1">
                <a:solidFill>
                  <a:srgbClr val="FF0000"/>
                </a:solidFill>
              </a:rPr>
              <a:t>n</a:t>
            </a:r>
            <a:r>
              <a:rPr lang="en-IN" sz="2800" b="1" baseline="30000" dirty="0">
                <a:solidFill>
                  <a:srgbClr val="FF0000"/>
                </a:solidFill>
              </a:rPr>
              <a:t>(p) </a:t>
            </a:r>
            <a:r>
              <a:rPr lang="en-IN" sz="2800" b="1" dirty="0">
                <a:solidFill>
                  <a:srgbClr val="FF0000"/>
                </a:solidFill>
              </a:rPr>
              <a:t>= (–1/6) n</a:t>
            </a:r>
            <a:r>
              <a:rPr lang="en-IN" sz="2800" b="1" baseline="30000" dirty="0">
                <a:solidFill>
                  <a:srgbClr val="FF0000"/>
                </a:solidFill>
              </a:rPr>
              <a:t>2</a:t>
            </a:r>
            <a:r>
              <a:rPr lang="en-IN" sz="2800" b="1" dirty="0">
                <a:solidFill>
                  <a:srgbClr val="FF0000"/>
                </a:solidFill>
              </a:rPr>
              <a:t> –(1/18) n –(5/54)</a:t>
            </a:r>
          </a:p>
          <a:p>
            <a:pPr>
              <a:buNone/>
            </a:pPr>
            <a:r>
              <a:rPr lang="en-IN" sz="2800" dirty="0"/>
              <a:t>Hence, the general solution is given as,</a:t>
            </a:r>
          </a:p>
          <a:p>
            <a:pPr>
              <a:buNone/>
            </a:pPr>
            <a:r>
              <a:rPr lang="en-IN" sz="2800" dirty="0">
                <a:solidFill>
                  <a:srgbClr val="FF0000"/>
                </a:solidFill>
              </a:rPr>
              <a:t>	</a:t>
            </a:r>
            <a:r>
              <a:rPr lang="en-IN" sz="2800" b="1" dirty="0" err="1">
                <a:solidFill>
                  <a:srgbClr val="FF0000"/>
                </a:solidFill>
              </a:rPr>
              <a:t>y</a:t>
            </a:r>
            <a:r>
              <a:rPr lang="en-IN" sz="2800" b="1" baseline="-25000" dirty="0" err="1">
                <a:solidFill>
                  <a:srgbClr val="FF0000"/>
                </a:solidFill>
              </a:rPr>
              <a:t>n</a:t>
            </a:r>
            <a:r>
              <a:rPr lang="en-IN" sz="2800" b="1" baseline="-25000" dirty="0">
                <a:solidFill>
                  <a:srgbClr val="FF0000"/>
                </a:solidFill>
              </a:rPr>
              <a:t> </a:t>
            </a:r>
            <a:r>
              <a:rPr lang="en-IN" sz="2800" b="1" dirty="0">
                <a:solidFill>
                  <a:srgbClr val="FF0000"/>
                </a:solidFill>
              </a:rPr>
              <a:t>= C</a:t>
            </a:r>
            <a:r>
              <a:rPr lang="en-IN" sz="2800" b="1" baseline="-25000" dirty="0">
                <a:solidFill>
                  <a:srgbClr val="FF0000"/>
                </a:solidFill>
              </a:rPr>
              <a:t>1</a:t>
            </a:r>
            <a:r>
              <a:rPr lang="en-IN" sz="2800" b="1" dirty="0">
                <a:solidFill>
                  <a:srgbClr val="FF0000"/>
                </a:solidFill>
              </a:rPr>
              <a:t> (–2)</a:t>
            </a:r>
            <a:r>
              <a:rPr lang="en-IN" sz="2800" b="1" baseline="30000" dirty="0">
                <a:solidFill>
                  <a:srgbClr val="FF0000"/>
                </a:solidFill>
              </a:rPr>
              <a:t>n</a:t>
            </a:r>
            <a:r>
              <a:rPr lang="en-IN" sz="2800" b="1" dirty="0">
                <a:solidFill>
                  <a:srgbClr val="FF0000"/>
                </a:solidFill>
              </a:rPr>
              <a:t> + C</a:t>
            </a:r>
            <a:r>
              <a:rPr lang="en-IN" sz="2800" b="1" baseline="-25000" dirty="0">
                <a:solidFill>
                  <a:srgbClr val="FF0000"/>
                </a:solidFill>
              </a:rPr>
              <a:t>2</a:t>
            </a:r>
            <a:r>
              <a:rPr lang="en-IN" sz="2800" b="1" dirty="0">
                <a:solidFill>
                  <a:srgbClr val="FF0000"/>
                </a:solidFill>
              </a:rPr>
              <a:t> (3)</a:t>
            </a:r>
            <a:r>
              <a:rPr lang="en-IN" sz="2800" b="1" baseline="30000" dirty="0">
                <a:solidFill>
                  <a:srgbClr val="FF0000"/>
                </a:solidFill>
              </a:rPr>
              <a:t>n  </a:t>
            </a:r>
            <a:r>
              <a:rPr lang="en-IN" sz="2800" b="1" dirty="0">
                <a:solidFill>
                  <a:srgbClr val="FF0000"/>
                </a:solidFill>
              </a:rPr>
              <a:t>+ (–1/6) n</a:t>
            </a:r>
            <a:r>
              <a:rPr lang="en-IN" sz="2800" b="1" baseline="30000" dirty="0">
                <a:solidFill>
                  <a:srgbClr val="FF0000"/>
                </a:solidFill>
              </a:rPr>
              <a:t>2</a:t>
            </a:r>
            <a:r>
              <a:rPr lang="en-IN" sz="2800" b="1" dirty="0">
                <a:solidFill>
                  <a:srgbClr val="FF0000"/>
                </a:solidFill>
              </a:rPr>
              <a:t> – (1/18) n – (5/54)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1787</TotalTime>
  <Words>2543</Words>
  <Application>Microsoft Macintosh PowerPoint</Application>
  <PresentationFormat>Widescreen</PresentationFormat>
  <Paragraphs>213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Wingdings</vt:lpstr>
      <vt:lpstr>Office Theme</vt:lpstr>
      <vt:lpstr>Discrete Mathematics (BCSC1010)</vt:lpstr>
      <vt:lpstr>Introduction</vt:lpstr>
      <vt:lpstr>Definition</vt:lpstr>
      <vt:lpstr>Linear Recurrence Relations</vt:lpstr>
      <vt:lpstr>Degree of Recurrence Relation</vt:lpstr>
      <vt:lpstr>Homogeneous Recurrence Relation</vt:lpstr>
      <vt:lpstr>Methods of solving RR</vt:lpstr>
      <vt:lpstr>Iteration Method</vt:lpstr>
      <vt:lpstr>Example</vt:lpstr>
      <vt:lpstr>Characteristic Roots Method</vt:lpstr>
      <vt:lpstr>Characteristic Roots Method</vt:lpstr>
      <vt:lpstr>Solve the recurrence relation an = an-1 + 2 an-2 , n ≥2 with the initial conditions a0 = 0, a1 = 1.</vt:lpstr>
      <vt:lpstr>Solve the recurrence relation an – 4an-1 + 4 an-2 = 0,  n ≥2 with the initial conditions a0 = a1 = 1.</vt:lpstr>
      <vt:lpstr>Solve the homogeneous recurrence relation  an – 8an-1 + 21an-2 – 18an-3 = 0</vt:lpstr>
      <vt:lpstr>Non-Homogeneous Recurrence Relations</vt:lpstr>
      <vt:lpstr>Case I. When f(n) = k, a constant</vt:lpstr>
      <vt:lpstr>Case I. When f(n) = k, a constant</vt:lpstr>
      <vt:lpstr>Case II. When f(n) = Aβn, where β is not a  characteristic root</vt:lpstr>
      <vt:lpstr>Case II. When f(n) = Aβn, where β is not a  characteristic root</vt:lpstr>
      <vt:lpstr>Case III. When f(n) = Aβn, where β is a  characteristic root of multiplicity m</vt:lpstr>
      <vt:lpstr>Case III. When f(n) = Aβn, where β is a  characteristic root of multiplicity m</vt:lpstr>
      <vt:lpstr>Case IV. When f(n) is a polynomial</vt:lpstr>
      <vt:lpstr>Case IV. When f(n) is a polynomial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Mathematics BCSC0010</dc:title>
  <dc:creator>swati saxena</dc:creator>
  <cp:lastModifiedBy>Microsoft Office User</cp:lastModifiedBy>
  <cp:revision>155</cp:revision>
  <dcterms:created xsi:type="dcterms:W3CDTF">2020-06-15T14:58:31Z</dcterms:created>
  <dcterms:modified xsi:type="dcterms:W3CDTF">2022-09-12T04:34:48Z</dcterms:modified>
</cp:coreProperties>
</file>