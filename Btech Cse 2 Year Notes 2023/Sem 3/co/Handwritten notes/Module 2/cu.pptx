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8" autoAdjust="0"/>
    <p:restoredTop sz="94660"/>
  </p:normalViewPr>
  <p:slideViewPr>
    <p:cSldViewPr>
      <p:cViewPr varScale="1">
        <p:scale>
          <a:sx n="68" d="100"/>
          <a:sy n="68" d="100"/>
        </p:scale>
        <p:origin x="180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DB8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DB8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DB8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5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828" y="0"/>
            <a:ext cx="9145590" cy="10289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0831" y="728218"/>
            <a:ext cx="548233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DB80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925777"/>
            <a:ext cx="8072119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6555667"/>
            <a:ext cx="69913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54554" y="6555667"/>
            <a:ext cx="359092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4521" y="6555667"/>
            <a:ext cx="23304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9556A"/>
                </a:solidFill>
                <a:latin typeface="Georgia"/>
                <a:cs typeface="Georgia"/>
              </a:defRPr>
            </a:lvl1pPr>
          </a:lstStyle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‹#›</a:t>
            </a:fld>
            <a:endParaRPr spc="-9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1301" y="632206"/>
            <a:ext cx="544703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5" dirty="0"/>
              <a:t>CONTROL</a:t>
            </a:r>
            <a:r>
              <a:rPr sz="5000" spc="-90" dirty="0"/>
              <a:t> </a:t>
            </a:r>
            <a:r>
              <a:rPr sz="5000" dirty="0"/>
              <a:t>UNIT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</a:t>
            </a:fld>
            <a:endParaRPr spc="-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95728" y="911352"/>
            <a:ext cx="4786883" cy="422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2100" y="1925777"/>
            <a:ext cx="8535670" cy="313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indent="-16256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86666"/>
              <a:buFont typeface="Wingdings"/>
              <a:buChar char=""/>
              <a:tabLst>
                <a:tab pos="17526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dirty="0">
                <a:latin typeface="Arial Black"/>
                <a:cs typeface="Arial Black"/>
              </a:rPr>
              <a:t>Control Unit </a:t>
            </a:r>
            <a:r>
              <a:rPr sz="1500" spc="-10" dirty="0">
                <a:latin typeface="Arial Black"/>
                <a:cs typeface="Arial Black"/>
              </a:rPr>
              <a:t>was </a:t>
            </a:r>
            <a:r>
              <a:rPr sz="1500" spc="-5" dirty="0">
                <a:latin typeface="Arial Black"/>
                <a:cs typeface="Arial Black"/>
              </a:rPr>
              <a:t>historically defined as one distinct </a:t>
            </a:r>
            <a:r>
              <a:rPr sz="1500" spc="10" dirty="0">
                <a:latin typeface="Arial Black"/>
                <a:cs typeface="Arial Black"/>
              </a:rPr>
              <a:t>part </a:t>
            </a:r>
            <a:r>
              <a:rPr sz="1500" spc="-5" dirty="0">
                <a:latin typeface="Arial Black"/>
                <a:cs typeface="Arial Black"/>
              </a:rPr>
              <a:t>of the</a:t>
            </a:r>
            <a:r>
              <a:rPr sz="1500" spc="110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1946</a:t>
            </a:r>
            <a:endParaRPr sz="1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latin typeface="Arial Black"/>
                <a:cs typeface="Arial Black"/>
              </a:rPr>
              <a:t>reference model of </a:t>
            </a:r>
            <a:r>
              <a:rPr sz="1500" spc="-30" dirty="0">
                <a:latin typeface="Arial Black"/>
                <a:cs typeface="Arial Black"/>
              </a:rPr>
              <a:t>Von </a:t>
            </a:r>
            <a:r>
              <a:rPr sz="1500" spc="-5" dirty="0">
                <a:latin typeface="Arial Black"/>
                <a:cs typeface="Arial Black"/>
              </a:rPr>
              <a:t>Neumann</a:t>
            </a:r>
            <a:r>
              <a:rPr sz="1500" spc="180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architecture.</a:t>
            </a:r>
            <a:endParaRPr sz="1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Arial Black"/>
              <a:cs typeface="Arial Black"/>
            </a:endParaRPr>
          </a:p>
          <a:p>
            <a:pPr marL="12700" marR="15240">
              <a:lnSpc>
                <a:spcPct val="100000"/>
              </a:lnSpc>
              <a:buClr>
                <a:srgbClr val="FDB809"/>
              </a:buClr>
              <a:buSzPct val="86666"/>
              <a:buFont typeface="Wingdings"/>
              <a:buChar char=""/>
              <a:tabLst>
                <a:tab pos="17526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function of control unit </a:t>
            </a:r>
            <a:r>
              <a:rPr sz="1500" dirty="0">
                <a:latin typeface="Arial Black"/>
                <a:cs typeface="Arial Black"/>
              </a:rPr>
              <a:t>is </a:t>
            </a:r>
            <a:r>
              <a:rPr sz="1500" spc="-5" dirty="0">
                <a:latin typeface="Arial Black"/>
                <a:cs typeface="Arial Black"/>
              </a:rPr>
              <a:t>to </a:t>
            </a:r>
            <a:r>
              <a:rPr sz="1500" spc="-10" dirty="0">
                <a:latin typeface="Arial Black"/>
                <a:cs typeface="Arial Black"/>
              </a:rPr>
              <a:t>generate relevant </a:t>
            </a:r>
            <a:r>
              <a:rPr sz="1500" spc="-5" dirty="0">
                <a:latin typeface="Arial Black"/>
                <a:cs typeface="Arial Black"/>
              </a:rPr>
              <a:t>timing and control signals to  all operations </a:t>
            </a:r>
            <a:r>
              <a:rPr sz="1500" dirty="0">
                <a:latin typeface="Arial Black"/>
                <a:cs typeface="Arial Black"/>
              </a:rPr>
              <a:t>in </a:t>
            </a:r>
            <a:r>
              <a:rPr sz="1500" spc="-5" dirty="0">
                <a:latin typeface="Arial Black"/>
                <a:cs typeface="Arial Black"/>
              </a:rPr>
              <a:t>the</a:t>
            </a:r>
            <a:r>
              <a:rPr sz="1500" spc="10" dirty="0">
                <a:latin typeface="Arial Black"/>
                <a:cs typeface="Arial Black"/>
              </a:rPr>
              <a:t> </a:t>
            </a:r>
            <a:r>
              <a:rPr sz="1500" spc="-20" dirty="0">
                <a:latin typeface="Arial Black"/>
                <a:cs typeface="Arial Black"/>
              </a:rPr>
              <a:t>computer.</a:t>
            </a:r>
            <a:endParaRPr sz="1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1750" dirty="0">
              <a:latin typeface="Arial Black"/>
              <a:cs typeface="Arial Black"/>
            </a:endParaRPr>
          </a:p>
          <a:p>
            <a:pPr marL="174625" indent="-16256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86666"/>
              <a:buFont typeface="Wingdings"/>
              <a:buChar char=""/>
              <a:tabLst>
                <a:tab pos="175260" algn="l"/>
              </a:tabLst>
            </a:pPr>
            <a:r>
              <a:rPr sz="1500" spc="-5" dirty="0">
                <a:latin typeface="Arial Black"/>
                <a:cs typeface="Arial Black"/>
              </a:rPr>
              <a:t>Control Unit </a:t>
            </a:r>
            <a:r>
              <a:rPr sz="1500" dirty="0">
                <a:latin typeface="Arial Black"/>
                <a:cs typeface="Arial Black"/>
              </a:rPr>
              <a:t>is </a:t>
            </a:r>
            <a:r>
              <a:rPr sz="1500" spc="-5" dirty="0">
                <a:latin typeface="Arial Black"/>
                <a:cs typeface="Arial Black"/>
              </a:rPr>
              <a:t>“the </a:t>
            </a:r>
            <a:r>
              <a:rPr sz="1500" dirty="0">
                <a:latin typeface="Arial Black"/>
                <a:cs typeface="Arial Black"/>
              </a:rPr>
              <a:t>brain </a:t>
            </a:r>
            <a:r>
              <a:rPr sz="1500" spc="-5" dirty="0">
                <a:latin typeface="Arial Black"/>
                <a:cs typeface="Arial Black"/>
              </a:rPr>
              <a:t>within </a:t>
            </a:r>
            <a:r>
              <a:rPr sz="1500" spc="-10" dirty="0">
                <a:latin typeface="Arial Black"/>
                <a:cs typeface="Arial Black"/>
              </a:rPr>
              <a:t>the</a:t>
            </a:r>
            <a:r>
              <a:rPr sz="1500" spc="5" dirty="0">
                <a:latin typeface="Arial Black"/>
                <a:cs typeface="Arial Black"/>
              </a:rPr>
              <a:t> </a:t>
            </a:r>
            <a:r>
              <a:rPr sz="1500" dirty="0">
                <a:latin typeface="Arial Black"/>
                <a:cs typeface="Arial Black"/>
              </a:rPr>
              <a:t>brain”.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1750" dirty="0">
              <a:latin typeface="Arial Black"/>
              <a:cs typeface="Arial Black"/>
            </a:endParaRPr>
          </a:p>
          <a:p>
            <a:pPr marL="174625" indent="-16256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86666"/>
              <a:buFont typeface="Wingdings"/>
              <a:buChar char=""/>
              <a:tabLst>
                <a:tab pos="175260" algn="l"/>
              </a:tabLst>
            </a:pPr>
            <a:r>
              <a:rPr sz="1500" spc="-5" dirty="0">
                <a:latin typeface="Arial Black"/>
                <a:cs typeface="Arial Black"/>
              </a:rPr>
              <a:t>It controls the flow of </a:t>
            </a:r>
            <a:r>
              <a:rPr sz="1500" spc="-10" dirty="0">
                <a:latin typeface="Arial Black"/>
                <a:cs typeface="Arial Black"/>
              </a:rPr>
              <a:t>data between </a:t>
            </a:r>
            <a:r>
              <a:rPr sz="1500" spc="-5" dirty="0">
                <a:latin typeface="Arial Black"/>
                <a:cs typeface="Arial Black"/>
              </a:rPr>
              <a:t>the processor and </a:t>
            </a:r>
            <a:r>
              <a:rPr sz="1500" spc="10" dirty="0">
                <a:latin typeface="Arial Black"/>
                <a:cs typeface="Arial Black"/>
              </a:rPr>
              <a:t>memory </a:t>
            </a:r>
            <a:r>
              <a:rPr sz="1500" spc="-5" dirty="0">
                <a:latin typeface="Arial Black"/>
                <a:cs typeface="Arial Black"/>
              </a:rPr>
              <a:t>and</a:t>
            </a:r>
            <a:r>
              <a:rPr sz="1500" spc="195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peripherals.</a:t>
            </a:r>
            <a:endParaRPr sz="1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1750" dirty="0">
              <a:latin typeface="Arial Black"/>
              <a:cs typeface="Arial Black"/>
            </a:endParaRPr>
          </a:p>
          <a:p>
            <a:pPr marL="12700" marR="563245">
              <a:lnSpc>
                <a:spcPct val="100000"/>
              </a:lnSpc>
              <a:buClr>
                <a:srgbClr val="FDB809"/>
              </a:buClr>
              <a:buSzPct val="86666"/>
              <a:buFont typeface="Wingdings"/>
              <a:buChar char=""/>
              <a:tabLst>
                <a:tab pos="17526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10" dirty="0">
                <a:latin typeface="Arial Black"/>
                <a:cs typeface="Arial Black"/>
              </a:rPr>
              <a:t>examples </a:t>
            </a:r>
            <a:r>
              <a:rPr sz="1500" spc="-5" dirty="0">
                <a:latin typeface="Arial Black"/>
                <a:cs typeface="Arial Black"/>
              </a:rPr>
              <a:t>of </a:t>
            </a:r>
            <a:r>
              <a:rPr sz="1500" spc="-10" dirty="0">
                <a:latin typeface="Arial Black"/>
                <a:cs typeface="Arial Black"/>
              </a:rPr>
              <a:t>devices </a:t>
            </a:r>
            <a:r>
              <a:rPr sz="1500" spc="-15" dirty="0">
                <a:latin typeface="Arial Black"/>
                <a:cs typeface="Arial Black"/>
              </a:rPr>
              <a:t>that </a:t>
            </a:r>
            <a:r>
              <a:rPr sz="1500" dirty="0">
                <a:latin typeface="Arial Black"/>
                <a:cs typeface="Arial Black"/>
              </a:rPr>
              <a:t>require a </a:t>
            </a:r>
            <a:r>
              <a:rPr sz="1500" spc="-5" dirty="0">
                <a:latin typeface="Arial Black"/>
                <a:cs typeface="Arial Black"/>
              </a:rPr>
              <a:t>control unit </a:t>
            </a:r>
            <a:r>
              <a:rPr sz="1500" spc="5" dirty="0">
                <a:latin typeface="Arial Black"/>
                <a:cs typeface="Arial Black"/>
              </a:rPr>
              <a:t>are </a:t>
            </a:r>
            <a:r>
              <a:rPr sz="1500" dirty="0">
                <a:latin typeface="Arial Black"/>
                <a:cs typeface="Arial Black"/>
              </a:rPr>
              <a:t>CPUs </a:t>
            </a:r>
            <a:r>
              <a:rPr sz="1500" spc="-5" dirty="0">
                <a:latin typeface="Arial Black"/>
                <a:cs typeface="Arial Black"/>
              </a:rPr>
              <a:t>and </a:t>
            </a:r>
            <a:r>
              <a:rPr sz="1500" dirty="0">
                <a:latin typeface="Arial Black"/>
                <a:cs typeface="Arial Black"/>
              </a:rPr>
              <a:t>graphics  </a:t>
            </a:r>
            <a:r>
              <a:rPr sz="1500" spc="-5" dirty="0">
                <a:latin typeface="Arial Black"/>
                <a:cs typeface="Arial Black"/>
              </a:rPr>
              <a:t>processing units</a:t>
            </a:r>
            <a:r>
              <a:rPr sz="1500" spc="10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(GPUs).</a:t>
            </a:r>
            <a:endParaRPr sz="15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2</a:t>
            </a:fld>
            <a:endParaRPr spc="-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6954" y="652018"/>
            <a:ext cx="37249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3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01977"/>
            <a:ext cx="7893050" cy="281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control unit directs the entire </a:t>
            </a:r>
            <a:r>
              <a:rPr sz="1500" spc="-10" dirty="0">
                <a:latin typeface="Arial Black"/>
                <a:cs typeface="Arial Black"/>
              </a:rPr>
              <a:t>computer system </a:t>
            </a:r>
            <a:r>
              <a:rPr sz="1500" spc="-5" dirty="0">
                <a:latin typeface="Arial Black"/>
                <a:cs typeface="Arial Black"/>
              </a:rPr>
              <a:t>to </a:t>
            </a:r>
            <a:r>
              <a:rPr sz="1500" spc="20" dirty="0">
                <a:latin typeface="Arial Black"/>
                <a:cs typeface="Arial Black"/>
              </a:rPr>
              <a:t>carry </a:t>
            </a:r>
            <a:r>
              <a:rPr sz="1500" spc="-10" dirty="0">
                <a:latin typeface="Arial Black"/>
                <a:cs typeface="Arial Black"/>
              </a:rPr>
              <a:t>out</a:t>
            </a:r>
            <a:r>
              <a:rPr sz="1500" spc="125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stored</a:t>
            </a:r>
            <a:endParaRPr sz="1500" dirty="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Arial Black"/>
                <a:cs typeface="Arial Black"/>
              </a:rPr>
              <a:t>program</a:t>
            </a:r>
            <a:r>
              <a:rPr sz="1500" spc="20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instructions.</a:t>
            </a:r>
            <a:endParaRPr sz="1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Arial Black"/>
              <a:cs typeface="Arial Black"/>
            </a:endParaRPr>
          </a:p>
          <a:p>
            <a:pPr marL="286385" marR="24701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control unit must communicate with both the arithmetic logic unit  </a:t>
            </a:r>
            <a:r>
              <a:rPr sz="1500" spc="-10" dirty="0">
                <a:latin typeface="Arial Black"/>
                <a:cs typeface="Arial Black"/>
              </a:rPr>
              <a:t>(ALU) </a:t>
            </a:r>
            <a:r>
              <a:rPr sz="1500" spc="-5" dirty="0">
                <a:latin typeface="Arial Black"/>
                <a:cs typeface="Arial Black"/>
              </a:rPr>
              <a:t>and main</a:t>
            </a:r>
            <a:r>
              <a:rPr sz="1500" spc="5" dirty="0">
                <a:latin typeface="Arial Black"/>
                <a:cs typeface="Arial Black"/>
              </a:rPr>
              <a:t> </a:t>
            </a:r>
            <a:r>
              <a:rPr sz="1500" spc="-15" dirty="0">
                <a:latin typeface="Arial Black"/>
                <a:cs typeface="Arial Black"/>
              </a:rPr>
              <a:t>memory.</a:t>
            </a:r>
            <a:endParaRPr sz="1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1750" dirty="0">
              <a:latin typeface="Arial Black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control unit instructs </a:t>
            </a:r>
            <a:r>
              <a:rPr sz="1500" spc="-10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arithmetic logic unit </a:t>
            </a:r>
            <a:r>
              <a:rPr sz="1500" spc="-15" dirty="0">
                <a:latin typeface="Arial Black"/>
                <a:cs typeface="Arial Black"/>
              </a:rPr>
              <a:t>that </a:t>
            </a:r>
            <a:r>
              <a:rPr sz="1500" spc="-5" dirty="0">
                <a:latin typeface="Arial Black"/>
                <a:cs typeface="Arial Black"/>
              </a:rPr>
              <a:t>which logical</a:t>
            </a:r>
            <a:r>
              <a:rPr sz="1500" spc="145" dirty="0">
                <a:latin typeface="Arial Black"/>
                <a:cs typeface="Arial Black"/>
              </a:rPr>
              <a:t> </a:t>
            </a:r>
            <a:r>
              <a:rPr sz="1500" spc="-5" dirty="0">
                <a:latin typeface="Arial Black"/>
                <a:cs typeface="Arial Black"/>
              </a:rPr>
              <a:t>or</a:t>
            </a:r>
            <a:endParaRPr sz="1500" dirty="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</a:pPr>
            <a:r>
              <a:rPr sz="1500" spc="-5" dirty="0">
                <a:latin typeface="Arial Black"/>
                <a:cs typeface="Arial Black"/>
              </a:rPr>
              <a:t>arithmetic operation </a:t>
            </a:r>
            <a:r>
              <a:rPr sz="1500" dirty="0">
                <a:latin typeface="Arial Black"/>
                <a:cs typeface="Arial Black"/>
              </a:rPr>
              <a:t>is </a:t>
            </a:r>
            <a:r>
              <a:rPr sz="1500" spc="-5" dirty="0">
                <a:latin typeface="Arial Black"/>
                <a:cs typeface="Arial Black"/>
              </a:rPr>
              <a:t>to </a:t>
            </a:r>
            <a:r>
              <a:rPr sz="1500" dirty="0">
                <a:latin typeface="Arial Black"/>
                <a:cs typeface="Arial Black"/>
              </a:rPr>
              <a:t>be</a:t>
            </a:r>
            <a:r>
              <a:rPr sz="1500" spc="20" dirty="0">
                <a:latin typeface="Arial Black"/>
                <a:cs typeface="Arial Black"/>
              </a:rPr>
              <a:t> </a:t>
            </a:r>
            <a:r>
              <a:rPr sz="1500" dirty="0">
                <a:latin typeface="Arial Black"/>
                <a:cs typeface="Arial Black"/>
              </a:rPr>
              <a:t>performed.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Arial Black"/>
              <a:cs typeface="Arial Black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1500" spc="5" dirty="0">
                <a:latin typeface="Arial Black"/>
                <a:cs typeface="Arial Black"/>
              </a:rPr>
              <a:t>The </a:t>
            </a:r>
            <a:r>
              <a:rPr sz="1500" spc="-5" dirty="0">
                <a:latin typeface="Arial Black"/>
                <a:cs typeface="Arial Black"/>
              </a:rPr>
              <a:t>control unit co-ordinates the activities </a:t>
            </a:r>
            <a:r>
              <a:rPr sz="1500" dirty="0">
                <a:latin typeface="Arial Black"/>
                <a:cs typeface="Arial Black"/>
              </a:rPr>
              <a:t>of </a:t>
            </a:r>
            <a:r>
              <a:rPr sz="1500" spc="-5" dirty="0">
                <a:latin typeface="Arial Black"/>
                <a:cs typeface="Arial Black"/>
              </a:rPr>
              <a:t>the other </a:t>
            </a:r>
            <a:r>
              <a:rPr sz="1500" spc="-15" dirty="0">
                <a:latin typeface="Arial Black"/>
                <a:cs typeface="Arial Black"/>
              </a:rPr>
              <a:t>two </a:t>
            </a:r>
            <a:r>
              <a:rPr sz="1500" spc="-5" dirty="0">
                <a:latin typeface="Arial Black"/>
                <a:cs typeface="Arial Black"/>
              </a:rPr>
              <a:t>units </a:t>
            </a:r>
            <a:r>
              <a:rPr sz="1500" dirty="0">
                <a:latin typeface="Arial Black"/>
                <a:cs typeface="Arial Black"/>
              </a:rPr>
              <a:t>as </a:t>
            </a:r>
            <a:r>
              <a:rPr sz="1500" spc="-5" dirty="0">
                <a:latin typeface="Arial Black"/>
                <a:cs typeface="Arial Black"/>
              </a:rPr>
              <a:t>well  as </a:t>
            </a:r>
            <a:r>
              <a:rPr sz="1500" dirty="0">
                <a:latin typeface="Arial Black"/>
                <a:cs typeface="Arial Black"/>
              </a:rPr>
              <a:t>all </a:t>
            </a:r>
            <a:r>
              <a:rPr sz="1500" spc="-5" dirty="0">
                <a:latin typeface="Arial Black"/>
                <a:cs typeface="Arial Black"/>
              </a:rPr>
              <a:t>peripherals and </a:t>
            </a:r>
            <a:r>
              <a:rPr sz="1500" spc="5" dirty="0">
                <a:latin typeface="Arial Black"/>
                <a:cs typeface="Arial Black"/>
              </a:rPr>
              <a:t>auxiliary </a:t>
            </a:r>
            <a:r>
              <a:rPr sz="1500" dirty="0">
                <a:latin typeface="Arial Black"/>
                <a:cs typeface="Arial Black"/>
              </a:rPr>
              <a:t>storage </a:t>
            </a:r>
            <a:r>
              <a:rPr sz="1500" spc="-10" dirty="0">
                <a:latin typeface="Arial Black"/>
                <a:cs typeface="Arial Black"/>
              </a:rPr>
              <a:t>devices linked </a:t>
            </a:r>
            <a:r>
              <a:rPr sz="1500" dirty="0">
                <a:latin typeface="Arial Black"/>
                <a:cs typeface="Arial Black"/>
              </a:rPr>
              <a:t>to </a:t>
            </a:r>
            <a:r>
              <a:rPr sz="1500" spc="-5" dirty="0">
                <a:latin typeface="Arial Black"/>
                <a:cs typeface="Arial Black"/>
              </a:rPr>
              <a:t>the</a:t>
            </a:r>
            <a:r>
              <a:rPr sz="1500" spc="45" dirty="0">
                <a:latin typeface="Arial Black"/>
                <a:cs typeface="Arial Black"/>
              </a:rPr>
              <a:t> </a:t>
            </a:r>
            <a:r>
              <a:rPr sz="1500" spc="-20" dirty="0">
                <a:latin typeface="Arial Black"/>
                <a:cs typeface="Arial Black"/>
              </a:rPr>
              <a:t>computer.</a:t>
            </a:r>
            <a:endParaRPr sz="15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4534" y="784606"/>
            <a:ext cx="235458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5" dirty="0"/>
              <a:t>TYPES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4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4733"/>
            <a:ext cx="7409180" cy="203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Black"/>
                <a:cs typeface="Arial Black"/>
              </a:rPr>
              <a:t>Control unit </a:t>
            </a:r>
            <a:r>
              <a:rPr sz="1800" spc="-5" dirty="0">
                <a:latin typeface="Arial Black"/>
                <a:cs typeface="Arial Black"/>
              </a:rPr>
              <a:t>generates </a:t>
            </a:r>
            <a:r>
              <a:rPr sz="1800" dirty="0">
                <a:latin typeface="Arial Black"/>
                <a:cs typeface="Arial Black"/>
              </a:rPr>
              <a:t>control </a:t>
            </a:r>
            <a:r>
              <a:rPr sz="1800" spc="-5" dirty="0">
                <a:latin typeface="Arial Black"/>
                <a:cs typeface="Arial Black"/>
              </a:rPr>
              <a:t>signals </a:t>
            </a:r>
            <a:r>
              <a:rPr sz="1800" dirty="0">
                <a:latin typeface="Arial Black"/>
                <a:cs typeface="Arial Black"/>
              </a:rPr>
              <a:t>using </a:t>
            </a:r>
            <a:r>
              <a:rPr sz="1800" spc="-5" dirty="0">
                <a:latin typeface="Arial Black"/>
                <a:cs typeface="Arial Black"/>
              </a:rPr>
              <a:t>one of </a:t>
            </a:r>
            <a:r>
              <a:rPr sz="1800" dirty="0">
                <a:latin typeface="Arial Black"/>
                <a:cs typeface="Arial Black"/>
              </a:rPr>
              <a:t>the</a:t>
            </a:r>
            <a:r>
              <a:rPr sz="1800" spc="120" dirty="0">
                <a:latin typeface="Arial Black"/>
                <a:cs typeface="Arial Black"/>
              </a:rPr>
              <a:t> </a:t>
            </a:r>
            <a:r>
              <a:rPr sz="1800" spc="-10" dirty="0">
                <a:latin typeface="Arial Black"/>
                <a:cs typeface="Arial Black"/>
              </a:rPr>
              <a:t>two</a:t>
            </a:r>
            <a:endParaRPr sz="180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Black"/>
                <a:cs typeface="Arial Black"/>
              </a:rPr>
              <a:t>organizations</a:t>
            </a:r>
            <a:r>
              <a:rPr sz="1800" spc="5" dirty="0">
                <a:latin typeface="Arial Black"/>
                <a:cs typeface="Arial Black"/>
              </a:rPr>
              <a:t> </a:t>
            </a:r>
            <a:r>
              <a:rPr sz="1500" dirty="0">
                <a:latin typeface="Arial Black"/>
                <a:cs typeface="Arial Black"/>
              </a:rPr>
              <a:t>: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Arial Black"/>
              <a:cs typeface="Arial Black"/>
            </a:endParaRPr>
          </a:p>
          <a:p>
            <a:pPr marL="287020" indent="-274320">
              <a:lnSpc>
                <a:spcPct val="100000"/>
              </a:lnSpc>
              <a:buClr>
                <a:srgbClr val="FDB809"/>
              </a:buClr>
              <a:buSzPct val="95000"/>
              <a:buFont typeface="Wingdings"/>
              <a:buChar char=""/>
              <a:tabLst>
                <a:tab pos="287020" algn="l"/>
              </a:tabLst>
            </a:pPr>
            <a:r>
              <a:rPr sz="2000" spc="10" dirty="0">
                <a:latin typeface="Arial Black"/>
                <a:cs typeface="Arial Black"/>
              </a:rPr>
              <a:t>Hardwired </a:t>
            </a:r>
            <a:r>
              <a:rPr sz="2000" spc="5" dirty="0">
                <a:latin typeface="Arial Black"/>
                <a:cs typeface="Arial Black"/>
              </a:rPr>
              <a:t>Control</a:t>
            </a:r>
            <a:r>
              <a:rPr sz="2000" spc="-55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Unit.</a:t>
            </a: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DB809"/>
              </a:buClr>
              <a:buFont typeface="Wingdings"/>
              <a:buChar char=""/>
            </a:pPr>
            <a:endParaRPr sz="2350">
              <a:latin typeface="Arial Black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5000"/>
              <a:buFont typeface="Wingdings"/>
              <a:buChar char=""/>
              <a:tabLst>
                <a:tab pos="287020" algn="l"/>
              </a:tabLst>
            </a:pPr>
            <a:r>
              <a:rPr sz="2000" spc="5" dirty="0">
                <a:latin typeface="Arial Black"/>
                <a:cs typeface="Arial Black"/>
              </a:rPr>
              <a:t>Micro-programmed Control</a:t>
            </a:r>
            <a:r>
              <a:rPr sz="2000" spc="-35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Unit.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687" y="685800"/>
            <a:ext cx="8077834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25" dirty="0"/>
              <a:t>Hardwired </a:t>
            </a:r>
            <a:r>
              <a:rPr sz="5000" spc="10" dirty="0"/>
              <a:t>Control</a:t>
            </a:r>
            <a:r>
              <a:rPr sz="5000" spc="-80" dirty="0"/>
              <a:t> </a:t>
            </a:r>
            <a:r>
              <a:rPr sz="5000" dirty="0"/>
              <a:t>Unit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5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387126" y="1473835"/>
            <a:ext cx="8041005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5" dirty="0">
                <a:latin typeface="+mj-lt"/>
                <a:cs typeface="Arial Black"/>
              </a:rPr>
              <a:t>Hardwired </a:t>
            </a:r>
            <a:r>
              <a:rPr sz="2400" spc="-5" dirty="0">
                <a:latin typeface="+mj-lt"/>
                <a:cs typeface="Arial Black"/>
              </a:rPr>
              <a:t>control units </a:t>
            </a:r>
            <a:r>
              <a:rPr sz="2400" dirty="0">
                <a:latin typeface="+mj-lt"/>
                <a:cs typeface="Arial Black"/>
              </a:rPr>
              <a:t>are </a:t>
            </a:r>
            <a:r>
              <a:rPr sz="2400" spc="-5" dirty="0">
                <a:latin typeface="+mj-lt"/>
                <a:cs typeface="Arial Black"/>
              </a:rPr>
              <a:t>implemented through </a:t>
            </a:r>
            <a:r>
              <a:rPr sz="2400" spc="-10" dirty="0">
                <a:latin typeface="+mj-lt"/>
                <a:cs typeface="Arial Black"/>
              </a:rPr>
              <a:t>use </a:t>
            </a:r>
            <a:r>
              <a:rPr sz="2400" dirty="0">
                <a:latin typeface="+mj-lt"/>
                <a:cs typeface="Arial Black"/>
              </a:rPr>
              <a:t>of</a:t>
            </a:r>
            <a:r>
              <a:rPr sz="2400" spc="160" dirty="0">
                <a:latin typeface="+mj-lt"/>
                <a:cs typeface="Arial Black"/>
              </a:rPr>
              <a:t> </a:t>
            </a:r>
            <a:r>
              <a:rPr sz="2400" spc="-10" dirty="0">
                <a:latin typeface="+mj-lt"/>
                <a:cs typeface="Arial Black"/>
              </a:rPr>
              <a:t>sequential</a:t>
            </a:r>
            <a:endParaRPr sz="2400" dirty="0">
              <a:latin typeface="+mj-lt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+mj-lt"/>
                <a:cs typeface="Arial Black"/>
              </a:rPr>
              <a:t>logic units </a:t>
            </a:r>
            <a:r>
              <a:rPr sz="2400" dirty="0">
                <a:latin typeface="+mj-lt"/>
                <a:cs typeface="Arial Black"/>
              </a:rPr>
              <a:t>or circuits </a:t>
            </a:r>
            <a:r>
              <a:rPr sz="2400" spc="-15" dirty="0">
                <a:latin typeface="+mj-lt"/>
                <a:cs typeface="Arial Black"/>
              </a:rPr>
              <a:t>like </a:t>
            </a:r>
            <a:r>
              <a:rPr sz="2400" spc="-10" dirty="0">
                <a:latin typeface="+mj-lt"/>
                <a:cs typeface="Arial Black"/>
              </a:rPr>
              <a:t>gates </a:t>
            </a:r>
            <a:r>
              <a:rPr sz="2400" dirty="0">
                <a:latin typeface="+mj-lt"/>
                <a:cs typeface="Arial Black"/>
              </a:rPr>
              <a:t>, fliflops , </a:t>
            </a:r>
            <a:r>
              <a:rPr sz="2400" spc="-5" dirty="0">
                <a:latin typeface="+mj-lt"/>
                <a:cs typeface="Arial Black"/>
              </a:rPr>
              <a:t>decoders </a:t>
            </a:r>
            <a:r>
              <a:rPr sz="2400" dirty="0">
                <a:latin typeface="+mj-lt"/>
                <a:cs typeface="Arial Black"/>
              </a:rPr>
              <a:t>in</a:t>
            </a:r>
            <a:r>
              <a:rPr sz="2400" spc="40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hardware.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+mj-lt"/>
              <a:cs typeface="Arial Black"/>
            </a:endParaRPr>
          </a:p>
          <a:p>
            <a:pPr marL="286385" marR="52895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dirty="0">
                <a:latin typeface="+mj-lt"/>
              </a:rPr>
              <a:t>	</a:t>
            </a:r>
            <a:r>
              <a:rPr sz="2400" spc="5" dirty="0">
                <a:latin typeface="+mj-lt"/>
                <a:cs typeface="Arial Black"/>
              </a:rPr>
              <a:t>Hardwired </a:t>
            </a:r>
            <a:r>
              <a:rPr sz="2400" dirty="0">
                <a:latin typeface="+mj-lt"/>
                <a:cs typeface="Arial Black"/>
              </a:rPr>
              <a:t>control units </a:t>
            </a:r>
            <a:r>
              <a:rPr sz="2400" spc="5" dirty="0">
                <a:latin typeface="+mj-lt"/>
                <a:cs typeface="Arial Black"/>
              </a:rPr>
              <a:t>are </a:t>
            </a:r>
            <a:r>
              <a:rPr sz="2400" dirty="0">
                <a:latin typeface="+mj-lt"/>
                <a:cs typeface="Arial Black"/>
              </a:rPr>
              <a:t>generally </a:t>
            </a:r>
            <a:r>
              <a:rPr sz="2400" spc="-5" dirty="0">
                <a:latin typeface="+mj-lt"/>
                <a:cs typeface="Arial Black"/>
              </a:rPr>
              <a:t>faster than </a:t>
            </a:r>
            <a:r>
              <a:rPr sz="2400" dirty="0">
                <a:latin typeface="+mj-lt"/>
                <a:cs typeface="Arial Black"/>
              </a:rPr>
              <a:t>micro-programmed  </a:t>
            </a:r>
            <a:r>
              <a:rPr sz="2400" spc="-5" dirty="0">
                <a:latin typeface="+mj-lt"/>
                <a:cs typeface="Arial Black"/>
              </a:rPr>
              <a:t>designs.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400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This </a:t>
            </a:r>
            <a:r>
              <a:rPr sz="2400" spc="-5" dirty="0">
                <a:latin typeface="+mj-lt"/>
                <a:cs typeface="Arial Black"/>
              </a:rPr>
              <a:t>architecture </a:t>
            </a:r>
            <a:r>
              <a:rPr sz="2400" dirty="0">
                <a:latin typeface="+mj-lt"/>
                <a:cs typeface="Arial Black"/>
              </a:rPr>
              <a:t>is preferred in </a:t>
            </a:r>
            <a:r>
              <a:rPr sz="2400" spc="-5" dirty="0">
                <a:latin typeface="+mj-lt"/>
                <a:cs typeface="Arial Black"/>
              </a:rPr>
              <a:t>reduced instruction </a:t>
            </a:r>
            <a:r>
              <a:rPr sz="2400" spc="-10" dirty="0">
                <a:latin typeface="+mj-lt"/>
                <a:cs typeface="Arial Black"/>
              </a:rPr>
              <a:t>set </a:t>
            </a:r>
            <a:r>
              <a:rPr sz="2400" spc="-5" dirty="0">
                <a:latin typeface="+mj-lt"/>
                <a:cs typeface="Arial Black"/>
              </a:rPr>
              <a:t>computers</a:t>
            </a:r>
            <a:r>
              <a:rPr sz="2400" spc="20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(RISC)</a:t>
            </a:r>
            <a:endParaRPr sz="2400" dirty="0">
              <a:latin typeface="+mj-lt"/>
              <a:cs typeface="Arial Black"/>
            </a:endParaRPr>
          </a:p>
          <a:p>
            <a:pPr marL="286385">
              <a:lnSpc>
                <a:spcPct val="100000"/>
              </a:lnSpc>
            </a:pPr>
            <a:r>
              <a:rPr sz="2400" spc="-5" dirty="0">
                <a:latin typeface="+mj-lt"/>
                <a:cs typeface="Arial Black"/>
              </a:rPr>
              <a:t>as they use </a:t>
            </a:r>
            <a:r>
              <a:rPr sz="2400" dirty="0">
                <a:latin typeface="+mj-lt"/>
                <a:cs typeface="Arial Black"/>
              </a:rPr>
              <a:t>a </a:t>
            </a:r>
            <a:r>
              <a:rPr sz="2400" spc="-5" dirty="0">
                <a:latin typeface="+mj-lt"/>
                <a:cs typeface="Arial Black"/>
              </a:rPr>
              <a:t>simpler </a:t>
            </a:r>
            <a:r>
              <a:rPr sz="2400" dirty="0">
                <a:latin typeface="+mj-lt"/>
                <a:cs typeface="Arial Black"/>
              </a:rPr>
              <a:t>instruction</a:t>
            </a:r>
            <a:r>
              <a:rPr sz="2400" spc="2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set.</a:t>
            </a:r>
            <a:endParaRPr sz="2400" dirty="0">
              <a:latin typeface="+mj-lt"/>
              <a:cs typeface="Arial Black"/>
            </a:endParaRPr>
          </a:p>
          <a:p>
            <a:pPr marL="286385" marR="457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hardwired </a:t>
            </a:r>
            <a:r>
              <a:rPr sz="2400" spc="-5" dirty="0">
                <a:latin typeface="+mj-lt"/>
                <a:cs typeface="Arial Black"/>
              </a:rPr>
              <a:t>approach has become less popular as computers </a:t>
            </a:r>
            <a:r>
              <a:rPr sz="2400" spc="-20" dirty="0">
                <a:latin typeface="+mj-lt"/>
                <a:cs typeface="Arial Black"/>
              </a:rPr>
              <a:t>have  evolved </a:t>
            </a:r>
            <a:r>
              <a:rPr sz="2400" dirty="0">
                <a:latin typeface="+mj-lt"/>
                <a:cs typeface="Arial Black"/>
              </a:rPr>
              <a:t>as </a:t>
            </a:r>
            <a:r>
              <a:rPr sz="2400" spc="-15" dirty="0">
                <a:latin typeface="+mj-lt"/>
                <a:cs typeface="Arial Black"/>
              </a:rPr>
              <a:t>at </a:t>
            </a:r>
            <a:r>
              <a:rPr sz="2400" spc="-5" dirty="0">
                <a:latin typeface="+mj-lt"/>
                <a:cs typeface="Arial Black"/>
              </a:rPr>
              <a:t>one time, control units </a:t>
            </a:r>
            <a:r>
              <a:rPr sz="2400" spc="-10" dirty="0">
                <a:latin typeface="+mj-lt"/>
                <a:cs typeface="Arial Black"/>
              </a:rPr>
              <a:t>for </a:t>
            </a:r>
            <a:r>
              <a:rPr sz="2400" dirty="0">
                <a:latin typeface="+mj-lt"/>
                <a:cs typeface="Arial Black"/>
              </a:rPr>
              <a:t>CPUs were ad-hoc </a:t>
            </a:r>
            <a:r>
              <a:rPr sz="2400" spc="-5" dirty="0">
                <a:latin typeface="+mj-lt"/>
                <a:cs typeface="Arial Black"/>
              </a:rPr>
              <a:t>logic, and they  were </a:t>
            </a:r>
            <a:r>
              <a:rPr sz="2400" dirty="0">
                <a:latin typeface="+mj-lt"/>
                <a:cs typeface="Arial Black"/>
              </a:rPr>
              <a:t>difficult to</a:t>
            </a:r>
            <a:r>
              <a:rPr sz="2400" spc="-2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design.</a:t>
            </a:r>
            <a:endParaRPr sz="24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8166" y="728218"/>
            <a:ext cx="4241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170" dirty="0"/>
              <a:t>D</a:t>
            </a:r>
            <a:r>
              <a:rPr spc="-260" dirty="0"/>
              <a:t>V</a:t>
            </a:r>
            <a:r>
              <a:rPr dirty="0"/>
              <a:t>AN</a:t>
            </a:r>
            <a:r>
              <a:rPr spc="-300" dirty="0"/>
              <a:t>T</a:t>
            </a:r>
            <a:r>
              <a:rPr spc="-95" dirty="0"/>
              <a:t>A</a:t>
            </a:r>
            <a:r>
              <a:rPr dirty="0"/>
              <a:t>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6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63562" y="1981200"/>
            <a:ext cx="8016875" cy="4039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dirty="0">
                <a:latin typeface="+mj-lt"/>
                <a:cs typeface="Arial Black"/>
              </a:rPr>
              <a:t>Hardwired </a:t>
            </a:r>
            <a:r>
              <a:rPr sz="2800" spc="-5" dirty="0">
                <a:latin typeface="+mj-lt"/>
                <a:cs typeface="Arial Black"/>
              </a:rPr>
              <a:t>Control Unit </a:t>
            </a:r>
            <a:r>
              <a:rPr sz="2800" dirty="0">
                <a:latin typeface="+mj-lt"/>
                <a:cs typeface="Arial Black"/>
              </a:rPr>
              <a:t>is </a:t>
            </a:r>
            <a:r>
              <a:rPr sz="2800" spc="-10" dirty="0">
                <a:latin typeface="+mj-lt"/>
                <a:cs typeface="Arial Black"/>
              </a:rPr>
              <a:t>fast because </a:t>
            </a:r>
            <a:r>
              <a:rPr sz="2800" spc="-5" dirty="0">
                <a:latin typeface="+mj-lt"/>
                <a:cs typeface="Arial Black"/>
              </a:rPr>
              <a:t>control signals </a:t>
            </a:r>
            <a:r>
              <a:rPr sz="2800" dirty="0">
                <a:latin typeface="+mj-lt"/>
                <a:cs typeface="Arial Black"/>
              </a:rPr>
              <a:t>are </a:t>
            </a:r>
            <a:r>
              <a:rPr sz="2800" spc="-10" dirty="0">
                <a:latin typeface="+mj-lt"/>
                <a:cs typeface="Arial Black"/>
              </a:rPr>
              <a:t>generated</a:t>
            </a:r>
            <a:r>
              <a:rPr sz="2800" spc="140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by</a:t>
            </a:r>
            <a:endParaRPr sz="2800" dirty="0">
              <a:latin typeface="+mj-lt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+mj-lt"/>
                <a:cs typeface="Arial Black"/>
              </a:rPr>
              <a:t>combinational</a:t>
            </a:r>
            <a:r>
              <a:rPr sz="2800" spc="10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circuits.</a:t>
            </a:r>
            <a:endParaRPr sz="28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 dirty="0">
              <a:latin typeface="+mj-lt"/>
              <a:cs typeface="Arial Black"/>
            </a:endParaRPr>
          </a:p>
          <a:p>
            <a:pPr marL="286385" marR="35496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5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delay </a:t>
            </a:r>
            <a:r>
              <a:rPr sz="2800" dirty="0">
                <a:latin typeface="+mj-lt"/>
                <a:cs typeface="Arial Black"/>
              </a:rPr>
              <a:t>in </a:t>
            </a:r>
            <a:r>
              <a:rPr sz="2800" spc="-5" dirty="0">
                <a:latin typeface="+mj-lt"/>
                <a:cs typeface="Arial Black"/>
              </a:rPr>
              <a:t>generation of control signals depends upon the number of  </a:t>
            </a:r>
            <a:r>
              <a:rPr sz="2800" spc="-10" dirty="0">
                <a:latin typeface="+mj-lt"/>
                <a:cs typeface="Arial Black"/>
              </a:rPr>
              <a:t>gates.</a:t>
            </a:r>
            <a:endParaRPr sz="28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5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performances </a:t>
            </a:r>
            <a:r>
              <a:rPr sz="2800" dirty="0">
                <a:latin typeface="+mj-lt"/>
                <a:cs typeface="Arial Black"/>
              </a:rPr>
              <a:t>is </a:t>
            </a:r>
            <a:r>
              <a:rPr sz="2800" spc="-5" dirty="0">
                <a:latin typeface="+mj-lt"/>
                <a:cs typeface="Arial Black"/>
              </a:rPr>
              <a:t>high as compared to </a:t>
            </a:r>
            <a:r>
              <a:rPr sz="2800" dirty="0">
                <a:latin typeface="+mj-lt"/>
                <a:cs typeface="Arial Black"/>
              </a:rPr>
              <a:t>micro-programmed </a:t>
            </a:r>
            <a:r>
              <a:rPr sz="2800" spc="-5" dirty="0">
                <a:latin typeface="+mj-lt"/>
                <a:cs typeface="Arial Black"/>
              </a:rPr>
              <a:t>control</a:t>
            </a:r>
            <a:r>
              <a:rPr sz="2800" spc="130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unit.</a:t>
            </a:r>
            <a:endParaRPr sz="28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754" y="652018"/>
            <a:ext cx="5297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DISADVANTAGES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7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6257"/>
            <a:ext cx="7965440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5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control signals </a:t>
            </a:r>
            <a:r>
              <a:rPr sz="2800" dirty="0">
                <a:latin typeface="+mj-lt"/>
                <a:cs typeface="Arial Black"/>
              </a:rPr>
              <a:t>required </a:t>
            </a:r>
            <a:r>
              <a:rPr sz="2800" spc="-5" dirty="0">
                <a:latin typeface="+mj-lt"/>
                <a:cs typeface="Arial Black"/>
              </a:rPr>
              <a:t>by the CPU </a:t>
            </a:r>
            <a:r>
              <a:rPr sz="2800" dirty="0">
                <a:latin typeface="+mj-lt"/>
                <a:cs typeface="Arial Black"/>
              </a:rPr>
              <a:t>will </a:t>
            </a:r>
            <a:r>
              <a:rPr sz="2800" spc="-5" dirty="0">
                <a:latin typeface="+mj-lt"/>
                <a:cs typeface="Arial Black"/>
              </a:rPr>
              <a:t>be </a:t>
            </a:r>
            <a:r>
              <a:rPr sz="2800" dirty="0">
                <a:latin typeface="+mj-lt"/>
                <a:cs typeface="Arial Black"/>
              </a:rPr>
              <a:t>more</a:t>
            </a:r>
            <a:r>
              <a:rPr sz="2800" spc="25" dirty="0">
                <a:latin typeface="+mj-lt"/>
                <a:cs typeface="Arial Black"/>
              </a:rPr>
              <a:t> </a:t>
            </a:r>
            <a:r>
              <a:rPr sz="2800" spc="-10" dirty="0">
                <a:latin typeface="+mj-lt"/>
                <a:cs typeface="Arial Black"/>
              </a:rPr>
              <a:t>complex</a:t>
            </a:r>
            <a:endParaRPr sz="28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6385" marR="24193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-5" dirty="0">
                <a:latin typeface="+mj-lt"/>
                <a:cs typeface="Arial Black"/>
              </a:rPr>
              <a:t>Modifications </a:t>
            </a:r>
            <a:r>
              <a:rPr sz="2800" dirty="0">
                <a:latin typeface="+mj-lt"/>
                <a:cs typeface="Arial Black"/>
              </a:rPr>
              <a:t>in </a:t>
            </a:r>
            <a:r>
              <a:rPr sz="2800" spc="-5" dirty="0">
                <a:latin typeface="+mj-lt"/>
                <a:cs typeface="Arial Black"/>
              </a:rPr>
              <a:t>control signal </a:t>
            </a:r>
            <a:r>
              <a:rPr sz="2800" dirty="0">
                <a:latin typeface="+mj-lt"/>
                <a:cs typeface="Arial Black"/>
              </a:rPr>
              <a:t>are </a:t>
            </a:r>
            <a:r>
              <a:rPr sz="2800" spc="5" dirty="0">
                <a:latin typeface="+mj-lt"/>
                <a:cs typeface="Arial Black"/>
              </a:rPr>
              <a:t>very </a:t>
            </a:r>
            <a:r>
              <a:rPr sz="2800" dirty="0">
                <a:latin typeface="+mj-lt"/>
                <a:cs typeface="Arial Black"/>
              </a:rPr>
              <a:t>difficult. </a:t>
            </a:r>
            <a:r>
              <a:rPr sz="2800" spc="-5" dirty="0">
                <a:latin typeface="+mj-lt"/>
                <a:cs typeface="Arial Black"/>
              </a:rPr>
              <a:t>That means </a:t>
            </a:r>
            <a:r>
              <a:rPr sz="2800" dirty="0">
                <a:latin typeface="+mj-lt"/>
                <a:cs typeface="Arial Black"/>
              </a:rPr>
              <a:t>it requires  </a:t>
            </a:r>
            <a:r>
              <a:rPr sz="2800" spc="5" dirty="0">
                <a:latin typeface="+mj-lt"/>
                <a:cs typeface="Arial Black"/>
              </a:rPr>
              <a:t>rearranging </a:t>
            </a:r>
            <a:r>
              <a:rPr sz="2800" spc="-5" dirty="0">
                <a:latin typeface="+mj-lt"/>
                <a:cs typeface="Arial Black"/>
              </a:rPr>
              <a:t>of </a:t>
            </a:r>
            <a:r>
              <a:rPr sz="2800" dirty="0">
                <a:latin typeface="+mj-lt"/>
                <a:cs typeface="Arial Black"/>
              </a:rPr>
              <a:t>wires in </a:t>
            </a:r>
            <a:r>
              <a:rPr sz="2800" spc="-5" dirty="0">
                <a:latin typeface="+mj-lt"/>
                <a:cs typeface="Arial Black"/>
              </a:rPr>
              <a:t>the </a:t>
            </a:r>
            <a:r>
              <a:rPr sz="2800" dirty="0">
                <a:latin typeface="+mj-lt"/>
                <a:cs typeface="Arial Black"/>
              </a:rPr>
              <a:t>hardware</a:t>
            </a:r>
            <a:r>
              <a:rPr sz="2800" spc="100" dirty="0">
                <a:latin typeface="+mj-lt"/>
                <a:cs typeface="Arial Black"/>
              </a:rPr>
              <a:t> </a:t>
            </a:r>
            <a:r>
              <a:rPr sz="2800" dirty="0">
                <a:latin typeface="+mj-lt"/>
                <a:cs typeface="Arial Black"/>
              </a:rPr>
              <a:t>circuit.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800" dirty="0">
                <a:latin typeface="+mj-lt"/>
                <a:cs typeface="Arial Black"/>
              </a:rPr>
              <a:t>It is </a:t>
            </a:r>
            <a:r>
              <a:rPr sz="2800" spc="5" dirty="0">
                <a:latin typeface="+mj-lt"/>
                <a:cs typeface="Arial Black"/>
              </a:rPr>
              <a:t>difficult </a:t>
            </a:r>
            <a:r>
              <a:rPr sz="2800" dirty="0">
                <a:latin typeface="+mj-lt"/>
                <a:cs typeface="Arial Black"/>
              </a:rPr>
              <a:t>to </a:t>
            </a:r>
            <a:r>
              <a:rPr sz="2800" spc="10" dirty="0">
                <a:latin typeface="+mj-lt"/>
                <a:cs typeface="Arial Black"/>
              </a:rPr>
              <a:t>correct </a:t>
            </a:r>
            <a:r>
              <a:rPr sz="2800" spc="-10" dirty="0">
                <a:latin typeface="+mj-lt"/>
                <a:cs typeface="Arial Black"/>
              </a:rPr>
              <a:t>mistake </a:t>
            </a:r>
            <a:r>
              <a:rPr sz="2800" dirty="0">
                <a:latin typeface="+mj-lt"/>
                <a:cs typeface="Arial Black"/>
              </a:rPr>
              <a:t>in original </a:t>
            </a:r>
            <a:r>
              <a:rPr sz="2800" spc="-5" dirty="0">
                <a:latin typeface="+mj-lt"/>
                <a:cs typeface="Arial Black"/>
              </a:rPr>
              <a:t>design </a:t>
            </a:r>
            <a:r>
              <a:rPr sz="2800" dirty="0">
                <a:latin typeface="+mj-lt"/>
                <a:cs typeface="Arial Black"/>
              </a:rPr>
              <a:t>or adding new</a:t>
            </a:r>
            <a:r>
              <a:rPr sz="2800" spc="-10" dirty="0">
                <a:latin typeface="+mj-lt"/>
                <a:cs typeface="Arial Black"/>
              </a:rPr>
              <a:t> features</a:t>
            </a:r>
            <a:endParaRPr sz="2800" dirty="0">
              <a:latin typeface="+mj-lt"/>
              <a:cs typeface="Arial Black"/>
            </a:endParaRPr>
          </a:p>
          <a:p>
            <a:pPr marL="286385">
              <a:lnSpc>
                <a:spcPct val="100000"/>
              </a:lnSpc>
            </a:pPr>
            <a:r>
              <a:rPr sz="2800" dirty="0">
                <a:latin typeface="+mj-lt"/>
                <a:cs typeface="Arial Black"/>
              </a:rPr>
              <a:t>in </a:t>
            </a:r>
            <a:r>
              <a:rPr sz="2800" spc="-10" dirty="0">
                <a:latin typeface="+mj-lt"/>
                <a:cs typeface="Arial Black"/>
              </a:rPr>
              <a:t>existing </a:t>
            </a:r>
            <a:r>
              <a:rPr sz="2800" spc="-5" dirty="0">
                <a:latin typeface="+mj-lt"/>
                <a:cs typeface="Arial Black"/>
              </a:rPr>
              <a:t>design of control</a:t>
            </a:r>
            <a:r>
              <a:rPr sz="2800" spc="105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unit.</a:t>
            </a:r>
            <a:endParaRPr sz="28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8354" y="652018"/>
            <a:ext cx="40309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CONSIST</a:t>
            </a:r>
            <a:r>
              <a:rPr spc="-105" dirty="0"/>
              <a:t> </a:t>
            </a:r>
            <a:r>
              <a:rPr dirty="0"/>
              <a:t>OF: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8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56257"/>
            <a:ext cx="3657600" cy="400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j-lt"/>
                <a:cs typeface="Arial Black"/>
              </a:rPr>
              <a:t>Control unit consist </a:t>
            </a:r>
            <a:r>
              <a:rPr sz="2400" dirty="0">
                <a:latin typeface="+mj-lt"/>
                <a:cs typeface="Arial Black"/>
              </a:rPr>
              <a:t>of</a:t>
            </a:r>
            <a:r>
              <a:rPr sz="2400" spc="9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a: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dirty="0">
                <a:latin typeface="+mj-lt"/>
                <a:cs typeface="Arial Black"/>
              </a:rPr>
              <a:t>Instruction</a:t>
            </a:r>
            <a:r>
              <a:rPr sz="2400" spc="1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Register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dirty="0">
                <a:latin typeface="+mj-lt"/>
                <a:cs typeface="Arial Black"/>
              </a:rPr>
              <a:t>Number of Control </a:t>
            </a:r>
            <a:r>
              <a:rPr sz="2400" spc="-5" dirty="0">
                <a:latin typeface="+mj-lt"/>
                <a:cs typeface="Arial Black"/>
              </a:rPr>
              <a:t>Logic</a:t>
            </a:r>
            <a:r>
              <a:rPr sz="2400" spc="65" dirty="0">
                <a:latin typeface="+mj-lt"/>
                <a:cs typeface="Arial Black"/>
              </a:rPr>
              <a:t> </a:t>
            </a:r>
            <a:r>
              <a:rPr sz="2400" spc="-10" dirty="0">
                <a:latin typeface="+mj-lt"/>
                <a:cs typeface="Arial Black"/>
              </a:rPr>
              <a:t>Gates,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-15" dirty="0">
                <a:latin typeface="+mj-lt"/>
                <a:cs typeface="Arial Black"/>
              </a:rPr>
              <a:t>Two</a:t>
            </a:r>
            <a:r>
              <a:rPr sz="2400" spc="-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Decoders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-5" dirty="0">
                <a:latin typeface="+mj-lt"/>
                <a:cs typeface="Arial Black"/>
              </a:rPr>
              <a:t>4-bit Sequence</a:t>
            </a:r>
            <a:r>
              <a:rPr sz="2400" spc="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Counter</a:t>
            </a:r>
            <a:endParaRPr sz="24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3554" y="728218"/>
            <a:ext cx="49549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1447800" y="1600200"/>
            <a:ext cx="6368796" cy="4823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9</a:t>
            </a:fld>
            <a:endParaRPr spc="-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576" y="1066800"/>
            <a:ext cx="8081645" cy="5334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b="1" dirty="0">
                <a:latin typeface="+mj-lt"/>
                <a:cs typeface="Arial Black"/>
              </a:rPr>
              <a:t>An instruction read </a:t>
            </a:r>
            <a:r>
              <a:rPr sz="2400" b="1" spc="5" dirty="0">
                <a:latin typeface="+mj-lt"/>
                <a:cs typeface="Arial Black"/>
              </a:rPr>
              <a:t>from </a:t>
            </a:r>
            <a:r>
              <a:rPr sz="2400" b="1" spc="10" dirty="0">
                <a:latin typeface="+mj-lt"/>
                <a:cs typeface="Arial Black"/>
              </a:rPr>
              <a:t>memory </a:t>
            </a:r>
            <a:r>
              <a:rPr sz="2400" b="1" dirty="0">
                <a:latin typeface="+mj-lt"/>
                <a:cs typeface="Arial Black"/>
              </a:rPr>
              <a:t>is </a:t>
            </a:r>
            <a:r>
              <a:rPr sz="2400" b="1" spc="-5" dirty="0">
                <a:latin typeface="+mj-lt"/>
                <a:cs typeface="Arial Black"/>
              </a:rPr>
              <a:t>placed </a:t>
            </a:r>
            <a:r>
              <a:rPr sz="2400" b="1" dirty="0">
                <a:latin typeface="+mj-lt"/>
                <a:cs typeface="Arial Black"/>
              </a:rPr>
              <a:t>in </a:t>
            </a:r>
            <a:r>
              <a:rPr sz="2400" b="1" spc="-5" dirty="0">
                <a:latin typeface="+mj-lt"/>
                <a:cs typeface="Arial Black"/>
              </a:rPr>
              <a:t>the </a:t>
            </a:r>
            <a:r>
              <a:rPr sz="2400" b="1" dirty="0">
                <a:latin typeface="+mj-lt"/>
                <a:cs typeface="Arial Black"/>
              </a:rPr>
              <a:t>instruction </a:t>
            </a:r>
            <a:r>
              <a:rPr sz="2400" b="1" spc="5" dirty="0">
                <a:latin typeface="+mj-lt"/>
                <a:cs typeface="Arial Black"/>
              </a:rPr>
              <a:t>register</a:t>
            </a:r>
            <a:r>
              <a:rPr sz="2400" b="1" spc="80" dirty="0">
                <a:latin typeface="+mj-lt"/>
                <a:cs typeface="Arial Black"/>
              </a:rPr>
              <a:t> </a:t>
            </a:r>
            <a:r>
              <a:rPr sz="2400" b="1" dirty="0">
                <a:latin typeface="+mj-lt"/>
                <a:cs typeface="Arial Black"/>
              </a:rPr>
              <a:t>(IR).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2800" b="1" dirty="0">
              <a:latin typeface="+mj-lt"/>
              <a:cs typeface="Arial Black"/>
            </a:endParaRPr>
          </a:p>
          <a:p>
            <a:pPr marL="286385" marR="41783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3200" b="1" dirty="0">
                <a:latin typeface="+mj-lt"/>
              </a:rPr>
              <a:t>	</a:t>
            </a:r>
            <a:r>
              <a:rPr sz="2400" b="1" spc="10" dirty="0">
                <a:latin typeface="+mj-lt"/>
                <a:cs typeface="Arial Black"/>
              </a:rPr>
              <a:t>The </a:t>
            </a:r>
            <a:r>
              <a:rPr sz="2400" b="1" dirty="0">
                <a:latin typeface="+mj-lt"/>
                <a:cs typeface="Arial Black"/>
              </a:rPr>
              <a:t>instruction register is divided </a:t>
            </a:r>
            <a:r>
              <a:rPr sz="2400" b="1" spc="-5" dirty="0">
                <a:latin typeface="+mj-lt"/>
                <a:cs typeface="Arial Black"/>
              </a:rPr>
              <a:t>into </a:t>
            </a:r>
            <a:r>
              <a:rPr sz="2400" b="1" dirty="0">
                <a:latin typeface="+mj-lt"/>
                <a:cs typeface="Arial Black"/>
              </a:rPr>
              <a:t>three </a:t>
            </a:r>
            <a:r>
              <a:rPr sz="2400" b="1" spc="5" dirty="0">
                <a:latin typeface="+mj-lt"/>
                <a:cs typeface="Arial Black"/>
              </a:rPr>
              <a:t>parts: </a:t>
            </a:r>
            <a:r>
              <a:rPr sz="2400" b="1" spc="-5" dirty="0">
                <a:latin typeface="+mj-lt"/>
                <a:cs typeface="Arial Black"/>
              </a:rPr>
              <a:t>the </a:t>
            </a:r>
            <a:r>
              <a:rPr sz="2400" b="1" dirty="0">
                <a:latin typeface="+mj-lt"/>
                <a:cs typeface="Arial Black"/>
              </a:rPr>
              <a:t>I bit, </a:t>
            </a:r>
            <a:r>
              <a:rPr sz="2400" b="1" spc="-5" dirty="0">
                <a:latin typeface="+mj-lt"/>
                <a:cs typeface="Arial Black"/>
              </a:rPr>
              <a:t>operation  code, and </a:t>
            </a:r>
            <a:r>
              <a:rPr sz="2400" b="1" dirty="0">
                <a:latin typeface="+mj-lt"/>
                <a:cs typeface="Arial Black"/>
              </a:rPr>
              <a:t>address</a:t>
            </a:r>
            <a:r>
              <a:rPr sz="2400" b="1" spc="30" dirty="0">
                <a:latin typeface="+mj-lt"/>
                <a:cs typeface="Arial Black"/>
              </a:rPr>
              <a:t> </a:t>
            </a:r>
            <a:r>
              <a:rPr sz="2400" b="1" spc="5" dirty="0">
                <a:latin typeface="+mj-lt"/>
                <a:cs typeface="Arial Black"/>
              </a:rPr>
              <a:t>part.</a:t>
            </a:r>
            <a:endParaRPr sz="2400" b="1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b="1" dirty="0">
              <a:latin typeface="+mj-lt"/>
              <a:cs typeface="Arial Black"/>
            </a:endParaRPr>
          </a:p>
          <a:p>
            <a:pPr marL="286385" marR="61976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3200" b="1" dirty="0">
                <a:latin typeface="+mj-lt"/>
              </a:rPr>
              <a:t>	</a:t>
            </a:r>
            <a:r>
              <a:rPr sz="2400" b="1" spc="5" dirty="0">
                <a:latin typeface="+mj-lt"/>
                <a:cs typeface="Arial Black"/>
              </a:rPr>
              <a:t>First </a:t>
            </a:r>
            <a:r>
              <a:rPr sz="2400" b="1" spc="-5" dirty="0">
                <a:latin typeface="+mj-lt"/>
                <a:cs typeface="Arial Black"/>
              </a:rPr>
              <a:t>12-bits (0-11) to specify </a:t>
            </a:r>
            <a:r>
              <a:rPr sz="2400" b="1" dirty="0">
                <a:latin typeface="+mj-lt"/>
                <a:cs typeface="Arial Black"/>
              </a:rPr>
              <a:t>an address, </a:t>
            </a:r>
            <a:r>
              <a:rPr sz="2400" b="1" spc="-15" dirty="0">
                <a:latin typeface="+mj-lt"/>
                <a:cs typeface="Arial Black"/>
              </a:rPr>
              <a:t>next </a:t>
            </a:r>
            <a:r>
              <a:rPr sz="2400" b="1" dirty="0">
                <a:latin typeface="+mj-lt"/>
                <a:cs typeface="Arial Black"/>
              </a:rPr>
              <a:t>3-bits </a:t>
            </a:r>
            <a:r>
              <a:rPr sz="2400" b="1" spc="-5" dirty="0">
                <a:latin typeface="+mj-lt"/>
                <a:cs typeface="Arial Black"/>
              </a:rPr>
              <a:t>specify the  operation </a:t>
            </a:r>
            <a:r>
              <a:rPr sz="2400" b="1" spc="-10" dirty="0">
                <a:latin typeface="+mj-lt"/>
                <a:cs typeface="Arial Black"/>
              </a:rPr>
              <a:t>code </a:t>
            </a:r>
            <a:r>
              <a:rPr sz="2400" b="1" spc="-5" dirty="0">
                <a:latin typeface="+mj-lt"/>
                <a:cs typeface="Arial Black"/>
              </a:rPr>
              <a:t>(opcode) field of the instruction </a:t>
            </a:r>
            <a:r>
              <a:rPr sz="2400" b="1" spc="-10" dirty="0">
                <a:latin typeface="+mj-lt"/>
                <a:cs typeface="Arial Black"/>
              </a:rPr>
              <a:t>and </a:t>
            </a:r>
            <a:r>
              <a:rPr sz="2400" b="1" spc="-5" dirty="0">
                <a:latin typeface="+mj-lt"/>
                <a:cs typeface="Arial Black"/>
              </a:rPr>
              <a:t>last left most </a:t>
            </a:r>
            <a:r>
              <a:rPr sz="2400" b="1" dirty="0">
                <a:latin typeface="+mj-lt"/>
                <a:cs typeface="Arial Black"/>
              </a:rPr>
              <a:t>bit  </a:t>
            </a:r>
            <a:r>
              <a:rPr sz="2400" b="1" spc="-5" dirty="0">
                <a:latin typeface="+mj-lt"/>
                <a:cs typeface="Arial Black"/>
              </a:rPr>
              <a:t>specify the addressing mode</a:t>
            </a:r>
            <a:r>
              <a:rPr sz="2400" b="1" spc="20" dirty="0">
                <a:latin typeface="+mj-lt"/>
                <a:cs typeface="Arial Black"/>
              </a:rPr>
              <a:t> </a:t>
            </a:r>
            <a:r>
              <a:rPr sz="2400" b="1" dirty="0">
                <a:latin typeface="+mj-lt"/>
                <a:cs typeface="Arial Black"/>
              </a:rPr>
              <a:t>I.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b="1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b="1" dirty="0">
                <a:latin typeface="+mj-lt"/>
                <a:cs typeface="Arial Black"/>
              </a:rPr>
              <a:t>I = 0 </a:t>
            </a:r>
            <a:r>
              <a:rPr sz="2400" b="1" spc="-10" dirty="0">
                <a:latin typeface="+mj-lt"/>
                <a:cs typeface="Arial Black"/>
              </a:rPr>
              <a:t>for </a:t>
            </a:r>
            <a:r>
              <a:rPr sz="2400" b="1" dirty="0">
                <a:latin typeface="+mj-lt"/>
                <a:cs typeface="Arial Black"/>
              </a:rPr>
              <a:t>direct</a:t>
            </a:r>
            <a:r>
              <a:rPr sz="2400" b="1" spc="-25" dirty="0">
                <a:latin typeface="+mj-lt"/>
                <a:cs typeface="Arial Black"/>
              </a:rPr>
              <a:t> </a:t>
            </a:r>
            <a:r>
              <a:rPr sz="2400" b="1" dirty="0">
                <a:latin typeface="+mj-lt"/>
                <a:cs typeface="Arial Black"/>
              </a:rPr>
              <a:t>address</a:t>
            </a:r>
          </a:p>
          <a:p>
            <a:pPr marL="287020" indent="-274320">
              <a:lnSpc>
                <a:spcPct val="100000"/>
              </a:lnSpc>
              <a:spcBef>
                <a:spcPts val="359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b="1" dirty="0">
                <a:latin typeface="+mj-lt"/>
                <a:cs typeface="Arial Black"/>
              </a:rPr>
              <a:t>I = 1 </a:t>
            </a:r>
            <a:r>
              <a:rPr sz="2400" b="1" spc="-10" dirty="0">
                <a:latin typeface="+mj-lt"/>
                <a:cs typeface="Arial Black"/>
              </a:rPr>
              <a:t>for </a:t>
            </a:r>
            <a:r>
              <a:rPr sz="2400" b="1" dirty="0">
                <a:latin typeface="+mj-lt"/>
                <a:cs typeface="Arial Black"/>
              </a:rPr>
              <a:t>indirect</a:t>
            </a:r>
            <a:r>
              <a:rPr sz="2400" b="1" spc="-25" dirty="0">
                <a:latin typeface="+mj-lt"/>
                <a:cs typeface="Arial Black"/>
              </a:rPr>
              <a:t> </a:t>
            </a:r>
            <a:r>
              <a:rPr sz="2400" b="1" dirty="0">
                <a:latin typeface="+mj-lt"/>
                <a:cs typeface="Arial Black"/>
              </a:rPr>
              <a:t>address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10</a:t>
            </a:fld>
            <a:endParaRPr spc="-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56257"/>
            <a:ext cx="7584440" cy="39292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+mj-lt"/>
                <a:cs typeface="Arial Black"/>
              </a:rPr>
              <a:t>First </a:t>
            </a:r>
            <a:r>
              <a:rPr sz="2400" spc="-5" dirty="0">
                <a:latin typeface="+mj-lt"/>
                <a:cs typeface="Arial Black"/>
              </a:rPr>
              <a:t>12-bits (0-11) </a:t>
            </a:r>
            <a:r>
              <a:rPr sz="2400" dirty="0">
                <a:latin typeface="+mj-lt"/>
                <a:cs typeface="Arial Black"/>
              </a:rPr>
              <a:t>are </a:t>
            </a:r>
            <a:r>
              <a:rPr sz="2400" spc="-5" dirty="0">
                <a:latin typeface="+mj-lt"/>
                <a:cs typeface="Arial Black"/>
              </a:rPr>
              <a:t>applied to the control logic</a:t>
            </a:r>
            <a:r>
              <a:rPr sz="2400" spc="40" dirty="0">
                <a:latin typeface="+mj-lt"/>
                <a:cs typeface="Arial Black"/>
              </a:rPr>
              <a:t> </a:t>
            </a:r>
            <a:r>
              <a:rPr sz="2400" spc="-10" dirty="0">
                <a:latin typeface="+mj-lt"/>
                <a:cs typeface="Arial Black"/>
              </a:rPr>
              <a:t>gates.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operation code </a:t>
            </a:r>
            <a:r>
              <a:rPr sz="2400" dirty="0">
                <a:latin typeface="+mj-lt"/>
                <a:cs typeface="Arial Black"/>
              </a:rPr>
              <a:t>bits (12 – </a:t>
            </a:r>
            <a:r>
              <a:rPr sz="2400" spc="-5" dirty="0">
                <a:latin typeface="+mj-lt"/>
                <a:cs typeface="Arial Black"/>
              </a:rPr>
              <a:t>14) </a:t>
            </a:r>
            <a:r>
              <a:rPr sz="2400" dirty="0">
                <a:latin typeface="+mj-lt"/>
                <a:cs typeface="Arial Black"/>
              </a:rPr>
              <a:t>are </a:t>
            </a:r>
            <a:r>
              <a:rPr sz="2400" spc="-5" dirty="0">
                <a:latin typeface="+mj-lt"/>
                <a:cs typeface="Arial Black"/>
              </a:rPr>
              <a:t>decoded with </a:t>
            </a:r>
            <a:r>
              <a:rPr sz="2400" dirty="0">
                <a:latin typeface="+mj-lt"/>
                <a:cs typeface="Arial Black"/>
              </a:rPr>
              <a:t>a 3 x 8</a:t>
            </a:r>
            <a:r>
              <a:rPr sz="2400" spc="-25" dirty="0">
                <a:latin typeface="+mj-lt"/>
                <a:cs typeface="Arial Black"/>
              </a:rPr>
              <a:t> </a:t>
            </a:r>
            <a:r>
              <a:rPr sz="2400" spc="-20" dirty="0">
                <a:latin typeface="+mj-lt"/>
                <a:cs typeface="Arial Black"/>
              </a:rPr>
              <a:t>decoder.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eight </a:t>
            </a:r>
            <a:r>
              <a:rPr sz="2400" spc="-10" dirty="0">
                <a:latin typeface="+mj-lt"/>
                <a:cs typeface="Arial Black"/>
              </a:rPr>
              <a:t>outputs </a:t>
            </a:r>
            <a:r>
              <a:rPr sz="2400" dirty="0">
                <a:latin typeface="+mj-lt"/>
                <a:cs typeface="Arial Black"/>
              </a:rPr>
              <a:t>( D0 </a:t>
            </a:r>
            <a:r>
              <a:rPr sz="2400" spc="-5" dirty="0">
                <a:latin typeface="+mj-lt"/>
                <a:cs typeface="Arial Black"/>
              </a:rPr>
              <a:t>through D7) </a:t>
            </a:r>
            <a:r>
              <a:rPr sz="2400" dirty="0">
                <a:latin typeface="+mj-lt"/>
                <a:cs typeface="Arial Black"/>
              </a:rPr>
              <a:t>from a </a:t>
            </a:r>
            <a:r>
              <a:rPr sz="2400" spc="-5" dirty="0">
                <a:latin typeface="+mj-lt"/>
                <a:cs typeface="Arial Black"/>
              </a:rPr>
              <a:t>decoder goes to the control  logic </a:t>
            </a:r>
            <a:r>
              <a:rPr sz="2400" spc="-10" dirty="0">
                <a:latin typeface="+mj-lt"/>
                <a:cs typeface="Arial Black"/>
              </a:rPr>
              <a:t>gates </a:t>
            </a:r>
            <a:r>
              <a:rPr sz="2400" spc="-5" dirty="0">
                <a:latin typeface="+mj-lt"/>
                <a:cs typeface="Arial Black"/>
              </a:rPr>
              <a:t>to </a:t>
            </a:r>
            <a:r>
              <a:rPr sz="2400" dirty="0">
                <a:latin typeface="+mj-lt"/>
                <a:cs typeface="Arial Black"/>
              </a:rPr>
              <a:t>perform </a:t>
            </a:r>
            <a:r>
              <a:rPr sz="2400" spc="-5" dirty="0">
                <a:latin typeface="+mj-lt"/>
                <a:cs typeface="Arial Black"/>
              </a:rPr>
              <a:t>specific</a:t>
            </a:r>
            <a:r>
              <a:rPr sz="2400" spc="2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operation.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Last bit 15 </a:t>
            </a:r>
            <a:r>
              <a:rPr sz="2400" dirty="0">
                <a:latin typeface="+mj-lt"/>
                <a:cs typeface="Arial Black"/>
              </a:rPr>
              <a:t>is transferred </a:t>
            </a:r>
            <a:r>
              <a:rPr sz="2400" spc="-5" dirty="0">
                <a:latin typeface="+mj-lt"/>
                <a:cs typeface="Arial Black"/>
              </a:rPr>
              <a:t>to </a:t>
            </a:r>
            <a:r>
              <a:rPr sz="2400" dirty="0">
                <a:latin typeface="+mj-lt"/>
                <a:cs typeface="Arial Black"/>
              </a:rPr>
              <a:t>a I flip-flop </a:t>
            </a:r>
            <a:r>
              <a:rPr sz="2400" spc="-10" dirty="0">
                <a:latin typeface="+mj-lt"/>
                <a:cs typeface="Arial Black"/>
              </a:rPr>
              <a:t>designated </a:t>
            </a:r>
            <a:r>
              <a:rPr sz="2400" spc="-5" dirty="0">
                <a:latin typeface="+mj-lt"/>
                <a:cs typeface="Arial Black"/>
              </a:rPr>
              <a:t>by symbol</a:t>
            </a:r>
            <a:r>
              <a:rPr sz="2400" spc="5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I.</a:t>
            </a:r>
            <a:endParaRPr sz="2400" dirty="0">
              <a:latin typeface="+mj-lt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11</a:t>
            </a:fld>
            <a:endParaRPr spc="-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56257"/>
            <a:ext cx="7564120" cy="4237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5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4-bit </a:t>
            </a:r>
            <a:r>
              <a:rPr sz="2800" spc="-10" dirty="0">
                <a:latin typeface="+mj-lt"/>
                <a:cs typeface="Arial Black"/>
              </a:rPr>
              <a:t>sequence counter </a:t>
            </a:r>
            <a:r>
              <a:rPr sz="2800" spc="-5" dirty="0">
                <a:latin typeface="+mj-lt"/>
                <a:cs typeface="Arial Black"/>
              </a:rPr>
              <a:t>SC can </a:t>
            </a:r>
            <a:r>
              <a:rPr sz="2800" spc="-10" dirty="0">
                <a:latin typeface="+mj-lt"/>
                <a:cs typeface="Arial Black"/>
              </a:rPr>
              <a:t>count </a:t>
            </a:r>
            <a:r>
              <a:rPr sz="2800" dirty="0">
                <a:latin typeface="+mj-lt"/>
                <a:cs typeface="Arial Black"/>
              </a:rPr>
              <a:t>in </a:t>
            </a:r>
            <a:r>
              <a:rPr sz="2800" spc="10" dirty="0">
                <a:latin typeface="+mj-lt"/>
                <a:cs typeface="Arial Black"/>
              </a:rPr>
              <a:t>binary </a:t>
            </a:r>
            <a:r>
              <a:rPr sz="2800" dirty="0">
                <a:latin typeface="+mj-lt"/>
                <a:cs typeface="Arial Black"/>
              </a:rPr>
              <a:t>from 0 </a:t>
            </a:r>
            <a:r>
              <a:rPr sz="2800" spc="-5" dirty="0">
                <a:latin typeface="+mj-lt"/>
                <a:cs typeface="Arial Black"/>
              </a:rPr>
              <a:t>through</a:t>
            </a:r>
            <a:r>
              <a:rPr sz="2800" spc="120" dirty="0">
                <a:latin typeface="+mj-lt"/>
                <a:cs typeface="Arial Black"/>
              </a:rPr>
              <a:t> </a:t>
            </a:r>
            <a:r>
              <a:rPr sz="2800" spc="-10" dirty="0">
                <a:latin typeface="+mj-lt"/>
                <a:cs typeface="Arial Black"/>
              </a:rPr>
              <a:t>15.</a:t>
            </a:r>
            <a:endParaRPr sz="28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800" spc="10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counter output </a:t>
            </a:r>
            <a:r>
              <a:rPr sz="2800" dirty="0">
                <a:latin typeface="+mj-lt"/>
                <a:cs typeface="Arial Black"/>
              </a:rPr>
              <a:t>is </a:t>
            </a:r>
            <a:r>
              <a:rPr sz="2800" spc="-5" dirty="0">
                <a:latin typeface="+mj-lt"/>
                <a:cs typeface="Arial Black"/>
              </a:rPr>
              <a:t>decoded </a:t>
            </a:r>
            <a:r>
              <a:rPr sz="2800" dirty="0">
                <a:latin typeface="+mj-lt"/>
                <a:cs typeface="Arial Black"/>
              </a:rPr>
              <a:t>into 16 timing pulses </a:t>
            </a:r>
            <a:r>
              <a:rPr sz="2800" spc="-5" dirty="0">
                <a:latin typeface="+mj-lt"/>
                <a:cs typeface="Arial Black"/>
              </a:rPr>
              <a:t>T0 through</a:t>
            </a:r>
            <a:r>
              <a:rPr sz="2800" spc="85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T15.</a:t>
            </a:r>
            <a:endParaRPr sz="28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5" dirty="0">
                <a:latin typeface="+mj-lt"/>
                <a:cs typeface="Arial Black"/>
              </a:rPr>
              <a:t>The </a:t>
            </a:r>
            <a:r>
              <a:rPr sz="2800" spc="-5" dirty="0">
                <a:latin typeface="+mj-lt"/>
                <a:cs typeface="Arial Black"/>
              </a:rPr>
              <a:t>sequence counter can be incremented by</a:t>
            </a:r>
            <a:r>
              <a:rPr sz="2800" spc="65" dirty="0">
                <a:latin typeface="+mj-lt"/>
                <a:cs typeface="Arial Black"/>
              </a:rPr>
              <a:t> </a:t>
            </a:r>
            <a:r>
              <a:rPr sz="2800" dirty="0">
                <a:latin typeface="+mj-lt"/>
                <a:cs typeface="Arial Black"/>
              </a:rPr>
              <a:t>INR.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702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spc="-5" dirty="0">
                <a:latin typeface="+mj-lt"/>
                <a:cs typeface="Arial Black"/>
              </a:rPr>
              <a:t>input or </a:t>
            </a:r>
            <a:r>
              <a:rPr sz="2800" spc="-10" dirty="0">
                <a:latin typeface="+mj-lt"/>
                <a:cs typeface="Arial Black"/>
              </a:rPr>
              <a:t>clear </a:t>
            </a:r>
            <a:r>
              <a:rPr sz="2800" dirty="0">
                <a:latin typeface="+mj-lt"/>
                <a:cs typeface="Arial Black"/>
              </a:rPr>
              <a:t>by </a:t>
            </a:r>
            <a:r>
              <a:rPr sz="2800" spc="-5" dirty="0">
                <a:latin typeface="+mj-lt"/>
                <a:cs typeface="Arial Black"/>
              </a:rPr>
              <a:t>CLR input</a:t>
            </a:r>
            <a:r>
              <a:rPr sz="2800" spc="-25" dirty="0">
                <a:latin typeface="+mj-lt"/>
                <a:cs typeface="Arial Black"/>
              </a:rPr>
              <a:t> </a:t>
            </a:r>
            <a:r>
              <a:rPr sz="2800" spc="-15" dirty="0">
                <a:latin typeface="+mj-lt"/>
                <a:cs typeface="Arial Black"/>
              </a:rPr>
              <a:t>synchronously.</a:t>
            </a:r>
            <a:endParaRPr sz="2800" dirty="0">
              <a:latin typeface="+mj-lt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12</a:t>
            </a:fld>
            <a:endParaRPr spc="-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335" y="652018"/>
            <a:ext cx="30054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</a:t>
            </a:r>
            <a:r>
              <a:rPr spc="-20" dirty="0"/>
              <a:t>M</a:t>
            </a:r>
            <a:r>
              <a:rPr spc="-5" dirty="0"/>
              <a:t>PLE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13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231263"/>
            <a:ext cx="7997190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Consider the case </a:t>
            </a:r>
            <a:r>
              <a:rPr sz="2400" spc="5" dirty="0">
                <a:latin typeface="+mj-lt"/>
                <a:cs typeface="Arial Black"/>
              </a:rPr>
              <a:t>where </a:t>
            </a:r>
            <a:r>
              <a:rPr sz="2400" spc="-5" dirty="0">
                <a:latin typeface="+mj-lt"/>
                <a:cs typeface="Arial Black"/>
              </a:rPr>
              <a:t>SC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5" dirty="0">
                <a:latin typeface="+mj-lt"/>
                <a:cs typeface="Arial Black"/>
              </a:rPr>
              <a:t>incremented to </a:t>
            </a:r>
            <a:r>
              <a:rPr sz="2400" spc="-10" dirty="0">
                <a:latin typeface="+mj-lt"/>
                <a:cs typeface="Arial Black"/>
              </a:rPr>
              <a:t>provide </a:t>
            </a:r>
            <a:r>
              <a:rPr sz="2400" dirty="0">
                <a:latin typeface="+mj-lt"/>
                <a:cs typeface="Arial Black"/>
              </a:rPr>
              <a:t>timing </a:t>
            </a:r>
            <a:r>
              <a:rPr sz="2400" spc="-5" dirty="0">
                <a:latin typeface="+mj-lt"/>
                <a:cs typeface="Arial Black"/>
              </a:rPr>
              <a:t>signalsT0,  T1, </a:t>
            </a:r>
            <a:r>
              <a:rPr sz="2400" dirty="0">
                <a:latin typeface="+mj-lt"/>
                <a:cs typeface="Arial Black"/>
              </a:rPr>
              <a:t>T 2 , </a:t>
            </a:r>
            <a:r>
              <a:rPr sz="2400" spc="-5" dirty="0">
                <a:latin typeface="+mj-lt"/>
                <a:cs typeface="Arial Black"/>
              </a:rPr>
              <a:t>T3, and T4 </a:t>
            </a:r>
            <a:r>
              <a:rPr sz="2400" dirty="0">
                <a:latin typeface="+mj-lt"/>
                <a:cs typeface="Arial Black"/>
              </a:rPr>
              <a:t>in </a:t>
            </a:r>
            <a:r>
              <a:rPr sz="2400" spc="-5" dirty="0">
                <a:latin typeface="+mj-lt"/>
                <a:cs typeface="Arial Black"/>
              </a:rPr>
              <a:t>sequence. </a:t>
            </a:r>
            <a:r>
              <a:rPr sz="2400" dirty="0">
                <a:latin typeface="+mj-lt"/>
                <a:cs typeface="Arial Black"/>
              </a:rPr>
              <a:t>At time </a:t>
            </a:r>
            <a:r>
              <a:rPr sz="2400" spc="-5" dirty="0">
                <a:latin typeface="+mj-lt"/>
                <a:cs typeface="Arial Black"/>
              </a:rPr>
              <a:t>T4 </a:t>
            </a:r>
            <a:r>
              <a:rPr sz="2400" dirty="0">
                <a:latin typeface="+mj-lt"/>
                <a:cs typeface="Arial Black"/>
              </a:rPr>
              <a:t>, </a:t>
            </a:r>
            <a:r>
              <a:rPr sz="2400" spc="-5" dirty="0">
                <a:latin typeface="+mj-lt"/>
                <a:cs typeface="Arial Black"/>
              </a:rPr>
              <a:t>SC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10" dirty="0">
                <a:latin typeface="+mj-lt"/>
                <a:cs typeface="Arial Black"/>
              </a:rPr>
              <a:t>cleared </a:t>
            </a:r>
            <a:r>
              <a:rPr sz="2400" spc="-5" dirty="0">
                <a:latin typeface="+mj-lt"/>
                <a:cs typeface="Arial Black"/>
              </a:rPr>
              <a:t>to </a:t>
            </a:r>
            <a:r>
              <a:rPr sz="2400" dirty="0">
                <a:latin typeface="+mj-lt"/>
                <a:cs typeface="Arial Black"/>
              </a:rPr>
              <a:t>0 if </a:t>
            </a:r>
            <a:r>
              <a:rPr sz="2400" spc="-5" dirty="0">
                <a:latin typeface="+mj-lt"/>
                <a:cs typeface="Arial Black"/>
              </a:rPr>
              <a:t>decoder  output </a:t>
            </a:r>
            <a:r>
              <a:rPr sz="2400" dirty="0">
                <a:latin typeface="+mj-lt"/>
                <a:cs typeface="Arial Black"/>
              </a:rPr>
              <a:t>D3 is </a:t>
            </a:r>
            <a:r>
              <a:rPr sz="2400" spc="-10" dirty="0">
                <a:latin typeface="+mj-lt"/>
                <a:cs typeface="Arial Black"/>
              </a:rPr>
              <a:t>active. </a:t>
            </a:r>
            <a:r>
              <a:rPr sz="2400" spc="5" dirty="0">
                <a:latin typeface="+mj-lt"/>
                <a:cs typeface="Arial Black"/>
              </a:rPr>
              <a:t>This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10" dirty="0">
                <a:latin typeface="+mj-lt"/>
                <a:cs typeface="Arial Black"/>
              </a:rPr>
              <a:t>expressed </a:t>
            </a:r>
            <a:r>
              <a:rPr sz="2400" dirty="0">
                <a:latin typeface="+mj-lt"/>
                <a:cs typeface="Arial Black"/>
              </a:rPr>
              <a:t>symbolically by </a:t>
            </a:r>
            <a:r>
              <a:rPr sz="2400" spc="-5" dirty="0">
                <a:latin typeface="+mj-lt"/>
                <a:cs typeface="Arial Black"/>
              </a:rPr>
              <a:t>the </a:t>
            </a:r>
            <a:r>
              <a:rPr sz="2400" spc="-10" dirty="0">
                <a:latin typeface="+mj-lt"/>
                <a:cs typeface="Arial Black"/>
              </a:rPr>
              <a:t>statement:</a:t>
            </a:r>
            <a:endParaRPr sz="2400" dirty="0">
              <a:latin typeface="+mj-lt"/>
              <a:cs typeface="Arial Black"/>
            </a:endParaRPr>
          </a:p>
          <a:p>
            <a:pPr marR="953135" algn="ctr">
              <a:lnSpc>
                <a:spcPct val="100000"/>
              </a:lnSpc>
              <a:spcBef>
                <a:spcPts val="360"/>
              </a:spcBef>
            </a:pPr>
            <a:r>
              <a:rPr sz="2400" dirty="0">
                <a:latin typeface="+mj-lt"/>
                <a:cs typeface="Arial Black"/>
              </a:rPr>
              <a:t>D3 </a:t>
            </a:r>
            <a:r>
              <a:rPr sz="2400" spc="-5" dirty="0">
                <a:latin typeface="+mj-lt"/>
                <a:cs typeface="Arial Black"/>
              </a:rPr>
              <a:t>T4 </a:t>
            </a:r>
            <a:r>
              <a:rPr sz="2400" dirty="0">
                <a:latin typeface="+mj-lt"/>
                <a:cs typeface="Arial Black"/>
              </a:rPr>
              <a:t>: </a:t>
            </a:r>
            <a:r>
              <a:rPr sz="2400" spc="-5" dirty="0">
                <a:latin typeface="+mj-lt"/>
                <a:cs typeface="Arial Black"/>
              </a:rPr>
              <a:t>SC </a:t>
            </a:r>
            <a:r>
              <a:rPr sz="2400" dirty="0">
                <a:latin typeface="+mj-lt"/>
                <a:cs typeface="Arial Black"/>
              </a:rPr>
              <a:t>←</a:t>
            </a:r>
            <a:r>
              <a:rPr sz="2400" spc="-1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000" y="4419600"/>
            <a:ext cx="77196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timing </a:t>
            </a:r>
            <a:r>
              <a:rPr sz="2400" spc="5" dirty="0">
                <a:latin typeface="+mj-lt"/>
                <a:cs typeface="Arial Black"/>
              </a:rPr>
              <a:t>diagram </a:t>
            </a:r>
            <a:r>
              <a:rPr sz="2400" spc="-10" dirty="0">
                <a:latin typeface="+mj-lt"/>
                <a:cs typeface="Arial Black"/>
              </a:rPr>
              <a:t>shows </a:t>
            </a:r>
            <a:r>
              <a:rPr sz="2400" spc="-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time </a:t>
            </a:r>
            <a:r>
              <a:rPr sz="2400" spc="-5" dirty="0">
                <a:latin typeface="+mj-lt"/>
                <a:cs typeface="Arial Black"/>
              </a:rPr>
              <a:t>relationship </a:t>
            </a:r>
            <a:r>
              <a:rPr sz="2400" dirty="0">
                <a:latin typeface="+mj-lt"/>
                <a:cs typeface="Arial Black"/>
              </a:rPr>
              <a:t>of </a:t>
            </a:r>
            <a:r>
              <a:rPr sz="2400" spc="-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control</a:t>
            </a:r>
            <a:r>
              <a:rPr sz="2400" spc="15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600200"/>
            <a:ext cx="6292596" cy="4785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194" y="674573"/>
            <a:ext cx="5445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TIMING</a:t>
            </a:r>
            <a:r>
              <a:rPr spc="-114" dirty="0"/>
              <a:t> </a:t>
            </a:r>
            <a:r>
              <a:rPr spc="-15" dirty="0"/>
              <a:t>DIAGRAM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14</a:t>
            </a:fld>
            <a:endParaRPr spc="-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636778"/>
            <a:ext cx="69608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MIC</a:t>
            </a:r>
            <a:r>
              <a:rPr sz="4500" spc="-55" dirty="0"/>
              <a:t>R</a:t>
            </a:r>
            <a:r>
              <a:rPr sz="4500" spc="-15" dirty="0"/>
              <a:t>O</a:t>
            </a:r>
            <a:r>
              <a:rPr sz="4500" dirty="0"/>
              <a:t>-</a:t>
            </a:r>
            <a:r>
              <a:rPr sz="4500" spc="-5" dirty="0"/>
              <a:t>P</a:t>
            </a:r>
            <a:r>
              <a:rPr sz="4500" spc="-70" dirty="0"/>
              <a:t>R</a:t>
            </a:r>
            <a:r>
              <a:rPr sz="4500" spc="-5" dirty="0"/>
              <a:t>OGRAMMED  </a:t>
            </a:r>
            <a:r>
              <a:rPr sz="4500" spc="-10" dirty="0"/>
              <a:t>CONTROL</a:t>
            </a:r>
            <a:r>
              <a:rPr sz="4500" spc="-15" dirty="0"/>
              <a:t> </a:t>
            </a:r>
            <a:r>
              <a:rPr sz="4500" dirty="0"/>
              <a:t>UNIT</a:t>
            </a:r>
            <a:endParaRPr sz="45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15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455421" y="2198312"/>
            <a:ext cx="8039100" cy="41934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idea of </a:t>
            </a:r>
            <a:r>
              <a:rPr sz="2400" dirty="0">
                <a:latin typeface="+mj-lt"/>
                <a:cs typeface="Arial Black"/>
              </a:rPr>
              <a:t>microprogramming </a:t>
            </a:r>
            <a:r>
              <a:rPr sz="2400" spc="-10" dirty="0">
                <a:latin typeface="+mj-lt"/>
                <a:cs typeface="Arial Black"/>
              </a:rPr>
              <a:t>was </a:t>
            </a:r>
            <a:r>
              <a:rPr sz="2400" spc="-5" dirty="0">
                <a:latin typeface="+mj-lt"/>
                <a:cs typeface="Arial Black"/>
              </a:rPr>
              <a:t>introduced by Maurice Wilkes </a:t>
            </a:r>
            <a:r>
              <a:rPr sz="2400" dirty="0">
                <a:latin typeface="+mj-lt"/>
                <a:cs typeface="Arial Black"/>
              </a:rPr>
              <a:t>in</a:t>
            </a:r>
            <a:r>
              <a:rPr sz="2400" spc="22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1951.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6385" marR="243840" indent="-274320">
              <a:lnSpc>
                <a:spcPts val="18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dirty="0">
                <a:latin typeface="+mj-lt"/>
                <a:cs typeface="Arial Black"/>
              </a:rPr>
              <a:t>Micro-programs </a:t>
            </a:r>
            <a:r>
              <a:rPr sz="2400" spc="-5" dirty="0">
                <a:latin typeface="+mj-lt"/>
                <a:cs typeface="Arial Black"/>
              </a:rPr>
              <a:t>were </a:t>
            </a:r>
            <a:r>
              <a:rPr sz="2400" dirty="0">
                <a:latin typeface="+mj-lt"/>
                <a:cs typeface="Arial Black"/>
              </a:rPr>
              <a:t>organized </a:t>
            </a:r>
            <a:r>
              <a:rPr sz="2400" spc="-5" dirty="0">
                <a:latin typeface="+mj-lt"/>
                <a:cs typeface="Arial Black"/>
              </a:rPr>
              <a:t>as </a:t>
            </a:r>
            <a:r>
              <a:rPr sz="2400" dirty="0">
                <a:latin typeface="+mj-lt"/>
                <a:cs typeface="Arial Black"/>
              </a:rPr>
              <a:t>a </a:t>
            </a:r>
            <a:r>
              <a:rPr sz="2400" spc="-5" dirty="0">
                <a:latin typeface="+mj-lt"/>
                <a:cs typeface="Arial Black"/>
              </a:rPr>
              <a:t>sequence of </a:t>
            </a:r>
            <a:r>
              <a:rPr sz="2400" i="1" spc="-30" dirty="0">
                <a:latin typeface="+mj-lt"/>
                <a:cs typeface="Arial Black"/>
              </a:rPr>
              <a:t>microinstructions </a:t>
            </a:r>
            <a:r>
              <a:rPr sz="2400" spc="-5" dirty="0">
                <a:latin typeface="+mj-lt"/>
                <a:cs typeface="Arial Black"/>
              </a:rPr>
              <a:t>and  stored </a:t>
            </a:r>
            <a:r>
              <a:rPr sz="2400" dirty="0">
                <a:latin typeface="+mj-lt"/>
                <a:cs typeface="Arial Black"/>
              </a:rPr>
              <a:t>in </a:t>
            </a:r>
            <a:r>
              <a:rPr sz="2400" spc="-5" dirty="0">
                <a:latin typeface="+mj-lt"/>
                <a:cs typeface="Arial Black"/>
              </a:rPr>
              <a:t>special control</a:t>
            </a:r>
            <a:r>
              <a:rPr sz="2400" spc="40" dirty="0">
                <a:latin typeface="+mj-lt"/>
                <a:cs typeface="Arial Black"/>
              </a:rPr>
              <a:t> </a:t>
            </a:r>
            <a:r>
              <a:rPr sz="2400" spc="-15" dirty="0">
                <a:latin typeface="+mj-lt"/>
                <a:cs typeface="Arial Black"/>
              </a:rPr>
              <a:t>memory.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8509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main advantage of the </a:t>
            </a:r>
            <a:r>
              <a:rPr sz="2400" dirty="0">
                <a:latin typeface="+mj-lt"/>
                <a:cs typeface="Arial Black"/>
              </a:rPr>
              <a:t>micro-program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5" dirty="0">
                <a:latin typeface="+mj-lt"/>
                <a:cs typeface="Arial Black"/>
              </a:rPr>
              <a:t>the simplicity of  </a:t>
            </a:r>
            <a:r>
              <a:rPr sz="2400" dirty="0">
                <a:latin typeface="+mj-lt"/>
                <a:cs typeface="Arial Black"/>
              </a:rPr>
              <a:t>its</a:t>
            </a:r>
            <a:r>
              <a:rPr sz="2400" spc="-1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structure.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2286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3200" dirty="0">
                <a:latin typeface="+mj-lt"/>
              </a:rPr>
              <a:t>	</a:t>
            </a:r>
            <a:r>
              <a:rPr sz="2400" spc="-5" dirty="0">
                <a:latin typeface="+mj-lt"/>
                <a:cs typeface="Arial Black"/>
              </a:rPr>
              <a:t>Outputs </a:t>
            </a:r>
            <a:r>
              <a:rPr sz="2400" dirty="0">
                <a:latin typeface="+mj-lt"/>
                <a:cs typeface="Arial Black"/>
              </a:rPr>
              <a:t>of the controller </a:t>
            </a:r>
            <a:r>
              <a:rPr sz="2400" spc="5" dirty="0">
                <a:latin typeface="+mj-lt"/>
                <a:cs typeface="Arial Black"/>
              </a:rPr>
              <a:t>are </a:t>
            </a:r>
            <a:r>
              <a:rPr sz="2400" dirty="0">
                <a:latin typeface="+mj-lt"/>
                <a:cs typeface="Arial Black"/>
              </a:rPr>
              <a:t>organized in microinstructions and they can  </a:t>
            </a:r>
            <a:r>
              <a:rPr sz="2400" spc="-5" dirty="0">
                <a:latin typeface="+mj-lt"/>
                <a:cs typeface="Arial Black"/>
              </a:rPr>
              <a:t>be </a:t>
            </a:r>
            <a:r>
              <a:rPr sz="2400" dirty="0">
                <a:latin typeface="+mj-lt"/>
                <a:cs typeface="Arial Black"/>
              </a:rPr>
              <a:t>easily</a:t>
            </a:r>
            <a:r>
              <a:rPr sz="2400" spc="-1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replaced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742" y="1066800"/>
            <a:ext cx="7930515" cy="4088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800" dirty="0">
                <a:latin typeface="+mj-lt"/>
                <a:cs typeface="Arial Black"/>
              </a:rPr>
              <a:t>A micro-programmed </a:t>
            </a:r>
            <a:r>
              <a:rPr sz="2800" spc="-5" dirty="0">
                <a:latin typeface="+mj-lt"/>
                <a:cs typeface="Arial Black"/>
              </a:rPr>
              <a:t>control unit </a:t>
            </a:r>
            <a:r>
              <a:rPr sz="2800" dirty="0">
                <a:latin typeface="+mj-lt"/>
                <a:cs typeface="Arial Black"/>
              </a:rPr>
              <a:t>is </a:t>
            </a:r>
            <a:r>
              <a:rPr sz="2800" spc="-5" dirty="0">
                <a:latin typeface="+mj-lt"/>
                <a:cs typeface="Arial Black"/>
              </a:rPr>
              <a:t>implemented using </a:t>
            </a:r>
            <a:r>
              <a:rPr sz="2800" dirty="0">
                <a:latin typeface="+mj-lt"/>
                <a:cs typeface="Arial Black"/>
              </a:rPr>
              <a:t>programming  </a:t>
            </a:r>
            <a:r>
              <a:rPr sz="2800" spc="-5" dirty="0">
                <a:latin typeface="+mj-lt"/>
                <a:cs typeface="Arial Black"/>
              </a:rPr>
              <a:t>approach. </a:t>
            </a:r>
            <a:r>
              <a:rPr sz="2800" dirty="0">
                <a:latin typeface="+mj-lt"/>
                <a:cs typeface="Arial Black"/>
              </a:rPr>
              <a:t>A </a:t>
            </a:r>
            <a:r>
              <a:rPr sz="2800" spc="-5" dirty="0">
                <a:latin typeface="+mj-lt"/>
                <a:cs typeface="Arial Black"/>
              </a:rPr>
              <a:t>sequence of </a:t>
            </a:r>
            <a:r>
              <a:rPr sz="2800" dirty="0">
                <a:latin typeface="+mj-lt"/>
                <a:cs typeface="Arial Black"/>
              </a:rPr>
              <a:t>micro </a:t>
            </a:r>
            <a:r>
              <a:rPr sz="2800" spc="-5" dirty="0">
                <a:latin typeface="+mj-lt"/>
                <a:cs typeface="Arial Black"/>
              </a:rPr>
              <a:t>operations </a:t>
            </a:r>
            <a:r>
              <a:rPr sz="2800" dirty="0">
                <a:latin typeface="+mj-lt"/>
                <a:cs typeface="Arial Black"/>
              </a:rPr>
              <a:t>are </a:t>
            </a:r>
            <a:r>
              <a:rPr sz="2800" spc="5" dirty="0">
                <a:latin typeface="+mj-lt"/>
                <a:cs typeface="Arial Black"/>
              </a:rPr>
              <a:t>carried </a:t>
            </a:r>
            <a:r>
              <a:rPr sz="2800" spc="-5" dirty="0">
                <a:latin typeface="+mj-lt"/>
                <a:cs typeface="Arial Black"/>
              </a:rPr>
              <a:t>out </a:t>
            </a:r>
            <a:r>
              <a:rPr sz="2800" dirty="0">
                <a:latin typeface="+mj-lt"/>
                <a:cs typeface="Arial Black"/>
              </a:rPr>
              <a:t>by </a:t>
            </a:r>
            <a:r>
              <a:rPr sz="2800" spc="-15" dirty="0">
                <a:latin typeface="+mj-lt"/>
                <a:cs typeface="Arial Black"/>
              </a:rPr>
              <a:t>executing </a:t>
            </a:r>
            <a:r>
              <a:rPr sz="2800" dirty="0">
                <a:latin typeface="+mj-lt"/>
                <a:cs typeface="Arial Black"/>
              </a:rPr>
              <a:t>a  program </a:t>
            </a:r>
            <a:r>
              <a:rPr sz="2800" spc="-5" dirty="0">
                <a:latin typeface="+mj-lt"/>
                <a:cs typeface="Arial Black"/>
              </a:rPr>
              <a:t>consisting of</a:t>
            </a:r>
            <a:r>
              <a:rPr sz="2800" spc="114" dirty="0">
                <a:latin typeface="+mj-lt"/>
                <a:cs typeface="Arial Black"/>
              </a:rPr>
              <a:t> </a:t>
            </a:r>
            <a:r>
              <a:rPr sz="2800" dirty="0">
                <a:latin typeface="+mj-lt"/>
                <a:cs typeface="Arial Black"/>
              </a:rPr>
              <a:t>micro-instructions.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3200" dirty="0">
              <a:latin typeface="+mj-lt"/>
              <a:cs typeface="Arial Black"/>
            </a:endParaRPr>
          </a:p>
          <a:p>
            <a:pPr marL="286385" marR="15811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800" dirty="0">
                <a:latin typeface="+mj-lt"/>
                <a:cs typeface="Arial Black"/>
              </a:rPr>
              <a:t>Micro-program, </a:t>
            </a:r>
            <a:r>
              <a:rPr sz="2800" spc="-5" dirty="0">
                <a:latin typeface="+mj-lt"/>
                <a:cs typeface="Arial Black"/>
              </a:rPr>
              <a:t>consisting of </a:t>
            </a:r>
            <a:r>
              <a:rPr sz="2800" dirty="0">
                <a:latin typeface="+mj-lt"/>
                <a:cs typeface="Arial Black"/>
              </a:rPr>
              <a:t>micro-instructions is </a:t>
            </a:r>
            <a:r>
              <a:rPr sz="2800" spc="-5" dirty="0">
                <a:latin typeface="+mj-lt"/>
                <a:cs typeface="Arial Black"/>
              </a:rPr>
              <a:t>stored </a:t>
            </a:r>
            <a:r>
              <a:rPr sz="2800" dirty="0">
                <a:latin typeface="+mj-lt"/>
                <a:cs typeface="Arial Black"/>
              </a:rPr>
              <a:t>in </a:t>
            </a:r>
            <a:r>
              <a:rPr sz="2800" spc="-5" dirty="0">
                <a:latin typeface="+mj-lt"/>
                <a:cs typeface="Arial Black"/>
              </a:rPr>
              <a:t>the control  </a:t>
            </a:r>
            <a:r>
              <a:rPr sz="2800" spc="10" dirty="0">
                <a:latin typeface="+mj-lt"/>
                <a:cs typeface="Arial Black"/>
              </a:rPr>
              <a:t>memory </a:t>
            </a:r>
            <a:r>
              <a:rPr sz="2800" spc="-5" dirty="0">
                <a:latin typeface="+mj-lt"/>
                <a:cs typeface="Arial Black"/>
              </a:rPr>
              <a:t>of the control</a:t>
            </a:r>
            <a:r>
              <a:rPr sz="2800" spc="110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unit.</a:t>
            </a:r>
            <a:endParaRPr sz="3200" dirty="0">
              <a:latin typeface="+mj-lt"/>
              <a:cs typeface="Arial Black"/>
            </a:endParaRPr>
          </a:p>
          <a:p>
            <a:pPr marL="286385" marR="3619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3600" dirty="0">
                <a:latin typeface="+mj-lt"/>
              </a:rPr>
              <a:t>	</a:t>
            </a:r>
            <a:r>
              <a:rPr sz="2800" spc="-5" dirty="0">
                <a:latin typeface="+mj-lt"/>
                <a:cs typeface="Arial Black"/>
              </a:rPr>
              <a:t>Execution </a:t>
            </a:r>
            <a:r>
              <a:rPr sz="2800" dirty="0">
                <a:latin typeface="+mj-lt"/>
                <a:cs typeface="Arial Black"/>
              </a:rPr>
              <a:t>of a </a:t>
            </a:r>
            <a:r>
              <a:rPr sz="2800" spc="-5" dirty="0">
                <a:latin typeface="+mj-lt"/>
                <a:cs typeface="Arial Black"/>
              </a:rPr>
              <a:t>micro-instruction </a:t>
            </a:r>
            <a:r>
              <a:rPr sz="2800" dirty="0">
                <a:latin typeface="+mj-lt"/>
                <a:cs typeface="Arial Black"/>
              </a:rPr>
              <a:t>is </a:t>
            </a:r>
            <a:r>
              <a:rPr sz="2800" spc="-5" dirty="0">
                <a:latin typeface="+mj-lt"/>
                <a:cs typeface="Arial Black"/>
              </a:rPr>
              <a:t>responsible </a:t>
            </a:r>
            <a:r>
              <a:rPr sz="2800" spc="-10" dirty="0">
                <a:latin typeface="+mj-lt"/>
                <a:cs typeface="Arial Black"/>
              </a:rPr>
              <a:t>for </a:t>
            </a:r>
            <a:r>
              <a:rPr sz="2800" spc="-5" dirty="0">
                <a:latin typeface="+mj-lt"/>
                <a:cs typeface="Arial Black"/>
              </a:rPr>
              <a:t>generation of </a:t>
            </a:r>
            <a:r>
              <a:rPr sz="2800" dirty="0">
                <a:latin typeface="+mj-lt"/>
                <a:cs typeface="Arial Black"/>
              </a:rPr>
              <a:t>a </a:t>
            </a:r>
            <a:r>
              <a:rPr sz="2800" spc="-5" dirty="0">
                <a:latin typeface="+mj-lt"/>
                <a:cs typeface="Arial Black"/>
              </a:rPr>
              <a:t>set </a:t>
            </a:r>
            <a:r>
              <a:rPr sz="2800" dirty="0">
                <a:latin typeface="+mj-lt"/>
                <a:cs typeface="Arial Black"/>
              </a:rPr>
              <a:t>of  </a:t>
            </a:r>
            <a:r>
              <a:rPr sz="2800" spc="-5" dirty="0">
                <a:latin typeface="+mj-lt"/>
                <a:cs typeface="Arial Black"/>
              </a:rPr>
              <a:t>control</a:t>
            </a:r>
            <a:r>
              <a:rPr sz="2800" spc="10" dirty="0">
                <a:latin typeface="+mj-lt"/>
                <a:cs typeface="Arial Black"/>
              </a:rPr>
              <a:t> </a:t>
            </a:r>
            <a:r>
              <a:rPr sz="2800" spc="-5" dirty="0">
                <a:latin typeface="+mj-lt"/>
                <a:cs typeface="Arial Black"/>
              </a:rPr>
              <a:t>signals.</a:t>
            </a:r>
            <a:endParaRPr sz="2800" dirty="0">
              <a:latin typeface="+mj-lt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16</a:t>
            </a:fld>
            <a:endParaRPr spc="-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669" y="990600"/>
            <a:ext cx="7863840" cy="52932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86385" marR="140970" indent="-274320">
              <a:lnSpc>
                <a:spcPct val="101099"/>
              </a:lnSpc>
              <a:spcBef>
                <a:spcPts val="70"/>
              </a:spcBef>
              <a:buClr>
                <a:srgbClr val="FDB809"/>
              </a:buClr>
              <a:buSzPct val="95000"/>
              <a:buFont typeface="Wingdings"/>
              <a:buChar char=""/>
              <a:tabLst>
                <a:tab pos="287020" algn="l"/>
              </a:tabLst>
            </a:pPr>
            <a:r>
              <a:rPr sz="3600" spc="5" dirty="0">
                <a:latin typeface="+mj-lt"/>
                <a:cs typeface="Arial Black"/>
              </a:rPr>
              <a:t>Micro-Programs</a:t>
            </a:r>
            <a:r>
              <a:rPr sz="4000" spc="5" dirty="0">
                <a:latin typeface="+mj-lt"/>
                <a:cs typeface="Arial Black"/>
              </a:rPr>
              <a:t>: </a:t>
            </a:r>
            <a:r>
              <a:rPr sz="2400" dirty="0">
                <a:latin typeface="+mj-lt"/>
                <a:cs typeface="Arial Black"/>
              </a:rPr>
              <a:t>Microprogramming is </a:t>
            </a:r>
            <a:r>
              <a:rPr sz="2400" spc="-5" dirty="0">
                <a:latin typeface="+mj-lt"/>
                <a:cs typeface="Arial Black"/>
              </a:rPr>
              <a:t>the concept </a:t>
            </a:r>
            <a:r>
              <a:rPr sz="2400" spc="-10" dirty="0">
                <a:latin typeface="+mj-lt"/>
                <a:cs typeface="Arial Black"/>
              </a:rPr>
              <a:t>for</a:t>
            </a:r>
            <a:r>
              <a:rPr sz="2400" spc="-35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generating  control signals using </a:t>
            </a:r>
            <a:r>
              <a:rPr sz="2400" dirty="0">
                <a:latin typeface="+mj-lt"/>
                <a:cs typeface="Arial Black"/>
              </a:rPr>
              <a:t>programs. These programs are </a:t>
            </a:r>
            <a:r>
              <a:rPr sz="2400" spc="-5" dirty="0">
                <a:latin typeface="+mj-lt"/>
                <a:cs typeface="Arial Black"/>
              </a:rPr>
              <a:t>called </a:t>
            </a:r>
            <a:r>
              <a:rPr sz="2400" dirty="0">
                <a:latin typeface="+mj-lt"/>
                <a:cs typeface="Arial Black"/>
              </a:rPr>
              <a:t>micro -  programs.</a:t>
            </a:r>
          </a:p>
          <a:p>
            <a:pPr>
              <a:lnSpc>
                <a:spcPct val="100000"/>
              </a:lnSpc>
              <a:spcBef>
                <a:spcPts val="50"/>
              </a:spcBef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508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Micro-Instructions: </a:t>
            </a: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instructions </a:t>
            </a:r>
            <a:r>
              <a:rPr sz="2400" spc="-15" dirty="0">
                <a:latin typeface="+mj-lt"/>
                <a:cs typeface="Arial Black"/>
              </a:rPr>
              <a:t>that make </a:t>
            </a:r>
            <a:r>
              <a:rPr sz="2400" dirty="0">
                <a:latin typeface="+mj-lt"/>
                <a:cs typeface="Arial Black"/>
              </a:rPr>
              <a:t>micro-program are </a:t>
            </a:r>
            <a:r>
              <a:rPr sz="2400" spc="-5" dirty="0">
                <a:latin typeface="+mj-lt"/>
                <a:cs typeface="Arial Black"/>
              </a:rPr>
              <a:t>called  </a:t>
            </a:r>
            <a:r>
              <a:rPr sz="2400" dirty="0">
                <a:latin typeface="+mj-lt"/>
                <a:cs typeface="Arial Black"/>
              </a:rPr>
              <a:t>micro-instructions.</a:t>
            </a:r>
          </a:p>
          <a:p>
            <a:pPr>
              <a:lnSpc>
                <a:spcPct val="100000"/>
              </a:lnSpc>
              <a:spcBef>
                <a:spcPts val="55"/>
              </a:spcBef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211454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Micro-Code: </a:t>
            </a:r>
            <a:r>
              <a:rPr sz="2400" dirty="0">
                <a:latin typeface="+mj-lt"/>
                <a:cs typeface="Arial Black"/>
              </a:rPr>
              <a:t>Micro-program is a </a:t>
            </a:r>
            <a:r>
              <a:rPr sz="2400" spc="5" dirty="0">
                <a:latin typeface="+mj-lt"/>
                <a:cs typeface="Arial Black"/>
              </a:rPr>
              <a:t>group </a:t>
            </a:r>
            <a:r>
              <a:rPr sz="2400" spc="-5" dirty="0">
                <a:latin typeface="+mj-lt"/>
                <a:cs typeface="Arial Black"/>
              </a:rPr>
              <a:t>of </a:t>
            </a:r>
            <a:r>
              <a:rPr sz="2400" dirty="0">
                <a:latin typeface="+mj-lt"/>
                <a:cs typeface="Arial Black"/>
              </a:rPr>
              <a:t>microinstructions. </a:t>
            </a:r>
            <a:r>
              <a:rPr sz="2400" spc="5" dirty="0">
                <a:latin typeface="+mj-lt"/>
                <a:cs typeface="Arial Black"/>
              </a:rPr>
              <a:t>The micro-  </a:t>
            </a:r>
            <a:r>
              <a:rPr sz="2400" dirty="0">
                <a:latin typeface="+mj-lt"/>
                <a:cs typeface="Arial Black"/>
              </a:rPr>
              <a:t>program </a:t>
            </a:r>
            <a:r>
              <a:rPr sz="2400" spc="-5" dirty="0">
                <a:latin typeface="+mj-lt"/>
                <a:cs typeface="Arial Black"/>
              </a:rPr>
              <a:t>can also be </a:t>
            </a:r>
            <a:r>
              <a:rPr sz="2400" spc="5" dirty="0">
                <a:latin typeface="+mj-lt"/>
                <a:cs typeface="Arial Black"/>
              </a:rPr>
              <a:t>termed </a:t>
            </a:r>
            <a:r>
              <a:rPr sz="2400" spc="-5" dirty="0">
                <a:latin typeface="+mj-lt"/>
                <a:cs typeface="Arial Black"/>
              </a:rPr>
              <a:t>as</a:t>
            </a:r>
            <a:r>
              <a:rPr sz="2400" spc="1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micro-code.</a:t>
            </a:r>
          </a:p>
          <a:p>
            <a:pPr>
              <a:lnSpc>
                <a:spcPct val="100000"/>
              </a:lnSpc>
              <a:spcBef>
                <a:spcPts val="50"/>
              </a:spcBef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40830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Control </a:t>
            </a:r>
            <a:r>
              <a:rPr sz="2400" spc="5" dirty="0">
                <a:latin typeface="+mj-lt"/>
                <a:cs typeface="Arial Black"/>
              </a:rPr>
              <a:t>Memory: </a:t>
            </a:r>
            <a:r>
              <a:rPr sz="2400" dirty="0">
                <a:latin typeface="+mj-lt"/>
                <a:cs typeface="Arial Black"/>
              </a:rPr>
              <a:t>Micro-programs are </a:t>
            </a:r>
            <a:r>
              <a:rPr sz="2400" spc="-5" dirty="0">
                <a:latin typeface="+mj-lt"/>
                <a:cs typeface="Arial Black"/>
              </a:rPr>
              <a:t>stored </a:t>
            </a:r>
            <a:r>
              <a:rPr sz="2400" dirty="0">
                <a:latin typeface="+mj-lt"/>
                <a:cs typeface="Arial Black"/>
              </a:rPr>
              <a:t>in </a:t>
            </a:r>
            <a:r>
              <a:rPr sz="2400" spc="-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read only </a:t>
            </a:r>
            <a:r>
              <a:rPr sz="2400" spc="10" dirty="0">
                <a:latin typeface="+mj-lt"/>
                <a:cs typeface="Arial Black"/>
              </a:rPr>
              <a:t>memory  </a:t>
            </a:r>
            <a:r>
              <a:rPr sz="2400" spc="-5" dirty="0">
                <a:latin typeface="+mj-lt"/>
                <a:cs typeface="Arial Black"/>
              </a:rPr>
              <a:t>(ROM). That </a:t>
            </a:r>
            <a:r>
              <a:rPr sz="2400" spc="10" dirty="0">
                <a:latin typeface="+mj-lt"/>
                <a:cs typeface="Arial Black"/>
              </a:rPr>
              <a:t>memory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5" dirty="0">
                <a:latin typeface="+mj-lt"/>
                <a:cs typeface="Arial Black"/>
              </a:rPr>
              <a:t>called control</a:t>
            </a:r>
            <a:r>
              <a:rPr sz="2400" spc="15" dirty="0">
                <a:latin typeface="+mj-lt"/>
                <a:cs typeface="Arial Black"/>
              </a:rPr>
              <a:t> </a:t>
            </a:r>
            <a:r>
              <a:rPr sz="2400" spc="-15" dirty="0">
                <a:latin typeface="+mj-lt"/>
                <a:cs typeface="Arial Black"/>
              </a:rPr>
              <a:t>memory.</a:t>
            </a:r>
            <a:endParaRPr sz="2400" dirty="0">
              <a:latin typeface="+mj-lt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95" dirty="0"/>
              <a:t>20</a:t>
            </a:r>
            <a:r>
              <a:rPr spc="-25" dirty="0"/>
              <a:t>-</a:t>
            </a:r>
            <a:r>
              <a:rPr spc="-35" dirty="0"/>
              <a:t>M</a:t>
            </a:r>
            <a:r>
              <a:rPr spc="-60" dirty="0"/>
              <a:t>a</a:t>
            </a:r>
            <a:r>
              <a:rPr spc="-20" dirty="0"/>
              <a:t>y-</a:t>
            </a:r>
            <a:r>
              <a:rPr spc="-95" dirty="0"/>
              <a:t>14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17</a:t>
            </a:fld>
            <a:endParaRPr spc="-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55971"/>
            <a:ext cx="4241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170" dirty="0"/>
              <a:t>D</a:t>
            </a:r>
            <a:r>
              <a:rPr spc="-260" dirty="0"/>
              <a:t>V</a:t>
            </a:r>
            <a:r>
              <a:rPr dirty="0"/>
              <a:t>AN</a:t>
            </a:r>
            <a:r>
              <a:rPr spc="-300" dirty="0"/>
              <a:t>T</a:t>
            </a:r>
            <a:r>
              <a:rPr spc="-95" dirty="0"/>
              <a:t>A</a:t>
            </a:r>
            <a:r>
              <a:rPr dirty="0"/>
              <a:t>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18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423798" y="1313511"/>
            <a:ext cx="8052434" cy="48885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design </a:t>
            </a:r>
            <a:r>
              <a:rPr sz="2400" dirty="0">
                <a:latin typeface="+mj-lt"/>
                <a:cs typeface="Arial Black"/>
              </a:rPr>
              <a:t>of micro-program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5" dirty="0">
                <a:latin typeface="+mj-lt"/>
                <a:cs typeface="Arial Black"/>
              </a:rPr>
              <a:t>less </a:t>
            </a:r>
            <a:r>
              <a:rPr sz="2400" spc="-10" dirty="0">
                <a:latin typeface="+mj-lt"/>
                <a:cs typeface="Arial Black"/>
              </a:rPr>
              <a:t>complex because</a:t>
            </a:r>
            <a:r>
              <a:rPr sz="2400" spc="165" dirty="0">
                <a:latin typeface="+mj-lt"/>
                <a:cs typeface="Arial Black"/>
              </a:rPr>
              <a:t> </a:t>
            </a:r>
            <a:r>
              <a:rPr sz="2400" spc="5" dirty="0">
                <a:latin typeface="+mj-lt"/>
                <a:cs typeface="Arial Black"/>
              </a:rPr>
              <a:t>micro-</a:t>
            </a:r>
            <a:r>
              <a:rPr lang="en-US" sz="2400" spc="5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programs are </a:t>
            </a:r>
            <a:r>
              <a:rPr sz="2400" spc="-5" dirty="0">
                <a:latin typeface="+mj-lt"/>
                <a:cs typeface="Arial Black"/>
              </a:rPr>
              <a:t>implemented using software</a:t>
            </a:r>
            <a:r>
              <a:rPr sz="2400" spc="2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routines.</a:t>
            </a:r>
            <a:endParaRPr lang="en-US" sz="2400" spc="-5" dirty="0">
              <a:latin typeface="+mj-lt"/>
              <a:cs typeface="Arial Black"/>
            </a:endParaRPr>
          </a:p>
          <a:p>
            <a:pPr marL="354965" marR="623570" indent="-342900">
              <a:lnSpc>
                <a:spcPct val="100000"/>
              </a:lnSpc>
              <a:buClr>
                <a:srgbClr val="FDB809"/>
              </a:buClr>
              <a:buSzPct val="93333"/>
              <a:buFont typeface="Wingdings" panose="05000000000000000000" pitchFamily="2" charset="2"/>
              <a:buChar char="v"/>
              <a:tabLst>
                <a:tab pos="350520" algn="l"/>
                <a:tab pos="351155" algn="l"/>
              </a:tabLst>
            </a:pPr>
            <a:r>
              <a:rPr lang="en-US" sz="2400" dirty="0">
                <a:latin typeface="+mj-lt"/>
                <a:cs typeface="Arial Black"/>
              </a:rPr>
              <a:t> </a:t>
            </a: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micro-programmed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more </a:t>
            </a:r>
            <a:r>
              <a:rPr sz="2400" spc="-10" dirty="0">
                <a:latin typeface="+mj-lt"/>
                <a:cs typeface="Arial Black"/>
              </a:rPr>
              <a:t>flexible </a:t>
            </a:r>
            <a:r>
              <a:rPr sz="2400" spc="-5" dirty="0">
                <a:latin typeface="+mj-lt"/>
                <a:cs typeface="Arial Black"/>
              </a:rPr>
              <a:t>because design  modifications, </a:t>
            </a:r>
            <a:r>
              <a:rPr sz="2400" dirty="0">
                <a:latin typeface="+mj-lt"/>
                <a:cs typeface="Arial Black"/>
              </a:rPr>
              <a:t>correction </a:t>
            </a:r>
            <a:r>
              <a:rPr sz="2400" spc="-5" dirty="0">
                <a:latin typeface="+mj-lt"/>
                <a:cs typeface="Arial Black"/>
              </a:rPr>
              <a:t>and enhancement </a:t>
            </a:r>
            <a:r>
              <a:rPr sz="2400" dirty="0">
                <a:latin typeface="+mj-lt"/>
                <a:cs typeface="Arial Black"/>
              </a:rPr>
              <a:t>is easily</a:t>
            </a:r>
            <a:r>
              <a:rPr sz="2400" spc="55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possible.</a:t>
            </a: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new </a:t>
            </a:r>
            <a:r>
              <a:rPr sz="2400" dirty="0">
                <a:latin typeface="+mj-lt"/>
                <a:cs typeface="Arial Black"/>
              </a:rPr>
              <a:t>or modified instruction </a:t>
            </a:r>
            <a:r>
              <a:rPr sz="2400" spc="-5" dirty="0">
                <a:latin typeface="+mj-lt"/>
                <a:cs typeface="Arial Black"/>
              </a:rPr>
              <a:t>set </a:t>
            </a:r>
            <a:r>
              <a:rPr sz="2400" dirty="0">
                <a:latin typeface="+mj-lt"/>
                <a:cs typeface="Arial Black"/>
              </a:rPr>
              <a:t>of CPU </a:t>
            </a:r>
            <a:r>
              <a:rPr sz="2400" spc="-5" dirty="0">
                <a:latin typeface="+mj-lt"/>
                <a:cs typeface="Arial Black"/>
              </a:rPr>
              <a:t>can </a:t>
            </a:r>
            <a:r>
              <a:rPr sz="2400" dirty="0">
                <a:latin typeface="+mj-lt"/>
                <a:cs typeface="Arial Black"/>
              </a:rPr>
              <a:t>be easily implemented</a:t>
            </a:r>
            <a:r>
              <a:rPr sz="2400" spc="150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by</a:t>
            </a:r>
          </a:p>
          <a:p>
            <a:pPr marL="286385">
              <a:lnSpc>
                <a:spcPct val="100000"/>
              </a:lnSpc>
            </a:pPr>
            <a:r>
              <a:rPr sz="2400" dirty="0">
                <a:latin typeface="+mj-lt"/>
                <a:cs typeface="Arial Black"/>
              </a:rPr>
              <a:t>simply rewriting or </a:t>
            </a:r>
            <a:r>
              <a:rPr sz="2400" spc="-5" dirty="0">
                <a:latin typeface="+mj-lt"/>
                <a:cs typeface="Arial Black"/>
              </a:rPr>
              <a:t>modifying the </a:t>
            </a:r>
            <a:r>
              <a:rPr sz="2400" spc="-10" dirty="0">
                <a:latin typeface="+mj-lt"/>
                <a:cs typeface="Arial Black"/>
              </a:rPr>
              <a:t>contents </a:t>
            </a:r>
            <a:r>
              <a:rPr sz="2400" spc="-5" dirty="0">
                <a:latin typeface="+mj-lt"/>
                <a:cs typeface="Arial Black"/>
              </a:rPr>
              <a:t>of control</a:t>
            </a:r>
            <a:r>
              <a:rPr sz="2400" spc="125" dirty="0">
                <a:latin typeface="+mj-lt"/>
                <a:cs typeface="Arial Black"/>
              </a:rPr>
              <a:t> </a:t>
            </a:r>
            <a:r>
              <a:rPr sz="2400" spc="-15" dirty="0">
                <a:latin typeface="+mj-lt"/>
                <a:cs typeface="Arial Black"/>
              </a:rPr>
              <a:t>memory.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 dirty="0">
              <a:latin typeface="+mj-lt"/>
              <a:cs typeface="Arial Black"/>
            </a:endParaRPr>
          </a:p>
          <a:p>
            <a:pPr marL="286385" marR="97155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fault can be </a:t>
            </a:r>
            <a:r>
              <a:rPr sz="2400" dirty="0">
                <a:latin typeface="+mj-lt"/>
                <a:cs typeface="Arial Black"/>
              </a:rPr>
              <a:t>easily </a:t>
            </a:r>
            <a:r>
              <a:rPr sz="2400" spc="-5" dirty="0">
                <a:latin typeface="+mj-lt"/>
                <a:cs typeface="Arial Black"/>
              </a:rPr>
              <a:t>diagnosed </a:t>
            </a:r>
            <a:r>
              <a:rPr sz="2400" dirty="0">
                <a:latin typeface="+mj-lt"/>
                <a:cs typeface="Arial Black"/>
              </a:rPr>
              <a:t>in </a:t>
            </a:r>
            <a:r>
              <a:rPr sz="2400" spc="-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micro-program </a:t>
            </a:r>
            <a:r>
              <a:rPr sz="2400" spc="-5" dirty="0">
                <a:latin typeface="+mj-lt"/>
                <a:cs typeface="Arial Black"/>
              </a:rPr>
              <a:t>control unit using  diagnostics tools by maintaining the </a:t>
            </a:r>
            <a:r>
              <a:rPr sz="2400" spc="-10" dirty="0">
                <a:latin typeface="+mj-lt"/>
                <a:cs typeface="Arial Black"/>
              </a:rPr>
              <a:t>contents </a:t>
            </a:r>
            <a:r>
              <a:rPr sz="2400" spc="-5" dirty="0">
                <a:latin typeface="+mj-lt"/>
                <a:cs typeface="Arial Black"/>
              </a:rPr>
              <a:t>of </a:t>
            </a:r>
            <a:r>
              <a:rPr sz="2400" dirty="0">
                <a:latin typeface="+mj-lt"/>
                <a:cs typeface="Arial Black"/>
              </a:rPr>
              <a:t>flags, </a:t>
            </a:r>
            <a:r>
              <a:rPr sz="2400" spc="5" dirty="0">
                <a:latin typeface="+mj-lt"/>
                <a:cs typeface="Arial Black"/>
              </a:rPr>
              <a:t>registers </a:t>
            </a:r>
            <a:r>
              <a:rPr sz="2400" spc="-5" dirty="0">
                <a:latin typeface="+mj-lt"/>
                <a:cs typeface="Arial Black"/>
              </a:rPr>
              <a:t>and  counters.</a:t>
            </a:r>
            <a:endParaRPr sz="24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DISADVANTAGES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19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446658" y="1619925"/>
            <a:ext cx="8006715" cy="466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micro-program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10" dirty="0">
                <a:latin typeface="+mj-lt"/>
                <a:cs typeface="Arial Black"/>
              </a:rPr>
              <a:t>slower than </a:t>
            </a:r>
            <a:r>
              <a:rPr sz="2400" dirty="0">
                <a:latin typeface="+mj-lt"/>
                <a:cs typeface="Arial Black"/>
              </a:rPr>
              <a:t>hardwired </a:t>
            </a:r>
            <a:r>
              <a:rPr sz="2400" spc="-5" dirty="0">
                <a:latin typeface="+mj-lt"/>
                <a:cs typeface="Arial Black"/>
              </a:rPr>
              <a:t>control</a:t>
            </a:r>
            <a:r>
              <a:rPr sz="2400" spc="9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unit.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6385" marR="666115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-5" dirty="0">
                <a:latin typeface="+mj-lt"/>
                <a:cs typeface="Arial Black"/>
              </a:rPr>
              <a:t>That means to </a:t>
            </a:r>
            <a:r>
              <a:rPr sz="2400" spc="-15" dirty="0">
                <a:latin typeface="+mj-lt"/>
                <a:cs typeface="Arial Black"/>
              </a:rPr>
              <a:t>execute </a:t>
            </a:r>
            <a:r>
              <a:rPr sz="2400" spc="-5" dirty="0">
                <a:latin typeface="+mj-lt"/>
                <a:cs typeface="Arial Black"/>
              </a:rPr>
              <a:t>an </a:t>
            </a:r>
            <a:r>
              <a:rPr sz="2400" dirty="0">
                <a:latin typeface="+mj-lt"/>
                <a:cs typeface="Arial Black"/>
              </a:rPr>
              <a:t>instruction in micro-program </a:t>
            </a:r>
            <a:r>
              <a:rPr sz="2400" spc="-5" dirty="0">
                <a:latin typeface="+mj-lt"/>
                <a:cs typeface="Arial Black"/>
              </a:rPr>
              <a:t>control unit  </a:t>
            </a:r>
            <a:r>
              <a:rPr sz="2400" dirty="0">
                <a:latin typeface="+mj-lt"/>
                <a:cs typeface="Arial Black"/>
              </a:rPr>
              <a:t>requires more</a:t>
            </a:r>
            <a:r>
              <a:rPr sz="2400" spc="1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time.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350520" indent="-338455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400" spc="10" dirty="0">
                <a:latin typeface="+mj-lt"/>
                <a:cs typeface="Arial Black"/>
              </a:rPr>
              <a:t>The </a:t>
            </a:r>
            <a:r>
              <a:rPr sz="2400" dirty="0">
                <a:latin typeface="+mj-lt"/>
                <a:cs typeface="Arial Black"/>
              </a:rPr>
              <a:t>micro-program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</a:t>
            </a:r>
            <a:r>
              <a:rPr sz="2400" spc="-15" dirty="0">
                <a:latin typeface="+mj-lt"/>
                <a:cs typeface="Arial Black"/>
              </a:rPr>
              <a:t>expensive </a:t>
            </a:r>
            <a:r>
              <a:rPr sz="2400" spc="-5" dirty="0">
                <a:latin typeface="+mj-lt"/>
                <a:cs typeface="Arial Black"/>
              </a:rPr>
              <a:t>than </a:t>
            </a:r>
            <a:r>
              <a:rPr sz="2400" dirty="0">
                <a:latin typeface="+mj-lt"/>
                <a:cs typeface="Arial Black"/>
              </a:rPr>
              <a:t>hardwired </a:t>
            </a:r>
            <a:r>
              <a:rPr sz="2400" spc="-5" dirty="0">
                <a:latin typeface="+mj-lt"/>
                <a:cs typeface="Arial Black"/>
              </a:rPr>
              <a:t>control</a:t>
            </a:r>
            <a:r>
              <a:rPr sz="2400" spc="14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unit</a:t>
            </a:r>
            <a:endParaRPr sz="2400" dirty="0">
              <a:latin typeface="+mj-lt"/>
              <a:cs typeface="Arial Black"/>
            </a:endParaRPr>
          </a:p>
          <a:p>
            <a:pPr marL="286385">
              <a:lnSpc>
                <a:spcPct val="100000"/>
              </a:lnSpc>
            </a:pPr>
            <a:r>
              <a:rPr sz="2400" dirty="0">
                <a:latin typeface="+mj-lt"/>
                <a:cs typeface="Arial Black"/>
              </a:rPr>
              <a:t>in </a:t>
            </a:r>
            <a:r>
              <a:rPr sz="2400" spc="-5" dirty="0">
                <a:latin typeface="+mj-lt"/>
                <a:cs typeface="Arial Black"/>
              </a:rPr>
              <a:t>case </a:t>
            </a:r>
            <a:r>
              <a:rPr sz="2400" dirty="0">
                <a:latin typeface="+mj-lt"/>
                <a:cs typeface="Arial Black"/>
              </a:rPr>
              <a:t>of </a:t>
            </a:r>
            <a:r>
              <a:rPr sz="2400" spc="-5" dirty="0">
                <a:latin typeface="+mj-lt"/>
                <a:cs typeface="Arial Black"/>
              </a:rPr>
              <a:t>limited </a:t>
            </a:r>
            <a:r>
              <a:rPr sz="2400" dirty="0">
                <a:latin typeface="+mj-lt"/>
                <a:cs typeface="Arial Black"/>
              </a:rPr>
              <a:t>hardware</a:t>
            </a:r>
            <a:r>
              <a:rPr sz="2400" spc="90" dirty="0">
                <a:latin typeface="+mj-lt"/>
                <a:cs typeface="Arial Black"/>
              </a:rPr>
              <a:t> </a:t>
            </a:r>
            <a:r>
              <a:rPr sz="2400" spc="-5" dirty="0">
                <a:latin typeface="+mj-lt"/>
                <a:cs typeface="Arial Black"/>
              </a:rPr>
              <a:t>resources.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 dirty="0">
              <a:latin typeface="+mj-lt"/>
              <a:cs typeface="Arial Black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400" spc="5" dirty="0">
                <a:latin typeface="+mj-lt"/>
                <a:cs typeface="Arial Black"/>
              </a:rPr>
              <a:t>The </a:t>
            </a:r>
            <a:r>
              <a:rPr sz="2400" spc="-5" dirty="0">
                <a:latin typeface="+mj-lt"/>
                <a:cs typeface="Arial Black"/>
              </a:rPr>
              <a:t>design duration of </a:t>
            </a:r>
            <a:r>
              <a:rPr sz="2400" dirty="0">
                <a:latin typeface="+mj-lt"/>
                <a:cs typeface="Arial Black"/>
              </a:rPr>
              <a:t>micro-program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dirty="0">
                <a:latin typeface="+mj-lt"/>
                <a:cs typeface="Arial Black"/>
              </a:rPr>
              <a:t>is more </a:t>
            </a:r>
            <a:r>
              <a:rPr sz="2400" spc="-5" dirty="0">
                <a:latin typeface="+mj-lt"/>
                <a:cs typeface="Arial Black"/>
              </a:rPr>
              <a:t>than </a:t>
            </a:r>
            <a:r>
              <a:rPr sz="2400" dirty="0">
                <a:latin typeface="+mj-lt"/>
                <a:cs typeface="Arial Black"/>
              </a:rPr>
              <a:t>hardwired  </a:t>
            </a:r>
            <a:r>
              <a:rPr sz="2400" spc="-5" dirty="0">
                <a:latin typeface="+mj-lt"/>
                <a:cs typeface="Arial Black"/>
              </a:rPr>
              <a:t>control unit </a:t>
            </a:r>
            <a:r>
              <a:rPr sz="2400" spc="-10" dirty="0">
                <a:latin typeface="+mj-lt"/>
                <a:cs typeface="Arial Black"/>
              </a:rPr>
              <a:t>for </a:t>
            </a:r>
            <a:r>
              <a:rPr sz="2400" spc="-5" dirty="0">
                <a:latin typeface="+mj-lt"/>
                <a:cs typeface="Arial Black"/>
              </a:rPr>
              <a:t>smaller</a:t>
            </a:r>
            <a:r>
              <a:rPr sz="2400" spc="5" dirty="0">
                <a:latin typeface="+mj-lt"/>
                <a:cs typeface="Arial Black"/>
              </a:rPr>
              <a:t> </a:t>
            </a:r>
            <a:r>
              <a:rPr sz="2400" spc="-15" dirty="0">
                <a:latin typeface="+mj-lt"/>
                <a:cs typeface="Arial Black"/>
              </a:rPr>
              <a:t>CPU.</a:t>
            </a:r>
            <a:endParaRPr sz="240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5954" y="804418"/>
            <a:ext cx="42164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CONSIST OF</a:t>
            </a:r>
            <a:r>
              <a:rPr spc="-114" dirty="0"/>
              <a:t> </a:t>
            </a:r>
            <a:r>
              <a:rPr dirty="0"/>
              <a:t>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20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1905000" y="1981200"/>
            <a:ext cx="4508754" cy="36343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j-lt"/>
                <a:cs typeface="Arial Black"/>
              </a:rPr>
              <a:t>Control unit consist </a:t>
            </a:r>
            <a:r>
              <a:rPr sz="2400" dirty="0">
                <a:latin typeface="+mj-lt"/>
                <a:cs typeface="Arial Black"/>
              </a:rPr>
              <a:t>of a</a:t>
            </a:r>
            <a:r>
              <a:rPr sz="2400" spc="50" dirty="0">
                <a:latin typeface="+mj-lt"/>
                <a:cs typeface="Arial Black"/>
              </a:rPr>
              <a:t> </a:t>
            </a:r>
            <a:r>
              <a:rPr sz="2400" dirty="0">
                <a:latin typeface="+mj-lt"/>
                <a:cs typeface="Arial Black"/>
              </a:rPr>
              <a:t>: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 dirty="0">
              <a:latin typeface="+mj-lt"/>
              <a:cs typeface="Arial Black"/>
            </a:endParaRPr>
          </a:p>
          <a:p>
            <a:pPr marL="287020" indent="-2749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655" algn="l"/>
                <a:tab pos="905510" algn="l"/>
              </a:tabLst>
            </a:pPr>
            <a:r>
              <a:rPr sz="2400" spc="-15" dirty="0">
                <a:latin typeface="+mj-lt"/>
                <a:cs typeface="Arial Black"/>
              </a:rPr>
              <a:t>Next	</a:t>
            </a:r>
            <a:r>
              <a:rPr sz="2400" dirty="0">
                <a:latin typeface="+mj-lt"/>
                <a:cs typeface="Arial Black"/>
              </a:rPr>
              <a:t>address </a:t>
            </a:r>
            <a:r>
              <a:rPr sz="2400" spc="-10" dirty="0">
                <a:latin typeface="+mj-lt"/>
                <a:cs typeface="Arial Black"/>
              </a:rPr>
              <a:t>generator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7020" indent="-274955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655" algn="l"/>
              </a:tabLst>
            </a:pPr>
            <a:r>
              <a:rPr sz="2400" spc="-5" dirty="0">
                <a:latin typeface="+mj-lt"/>
                <a:cs typeface="Arial Black"/>
              </a:rPr>
              <a:t>Control </a:t>
            </a:r>
            <a:r>
              <a:rPr sz="2400" dirty="0">
                <a:latin typeface="+mj-lt"/>
                <a:cs typeface="Arial Black"/>
              </a:rPr>
              <a:t>address register</a:t>
            </a: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7020" indent="-2749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655" algn="l"/>
              </a:tabLst>
            </a:pPr>
            <a:r>
              <a:rPr sz="2400" spc="-5" dirty="0">
                <a:latin typeface="+mj-lt"/>
                <a:cs typeface="Arial Black"/>
              </a:rPr>
              <a:t>Control</a:t>
            </a:r>
            <a:r>
              <a:rPr sz="2400" spc="10" dirty="0">
                <a:latin typeface="+mj-lt"/>
                <a:cs typeface="Arial Black"/>
              </a:rPr>
              <a:t> memory</a:t>
            </a:r>
            <a:endParaRPr sz="2400" dirty="0">
              <a:latin typeface="+mj-lt"/>
              <a:cs typeface="Arial Black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DB809"/>
              </a:buClr>
              <a:buFont typeface="Wingdings"/>
              <a:buChar char=""/>
            </a:pPr>
            <a:endParaRPr sz="2800" dirty="0">
              <a:latin typeface="+mj-lt"/>
              <a:cs typeface="Arial Black"/>
            </a:endParaRPr>
          </a:p>
          <a:p>
            <a:pPr marL="287020" indent="-274955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287655" algn="l"/>
              </a:tabLst>
            </a:pPr>
            <a:r>
              <a:rPr sz="2400" spc="-5" dirty="0">
                <a:latin typeface="+mj-lt"/>
                <a:cs typeface="Arial Black"/>
              </a:rPr>
              <a:t>Control </a:t>
            </a:r>
            <a:r>
              <a:rPr sz="2400" spc="-15" dirty="0">
                <a:latin typeface="+mj-lt"/>
                <a:cs typeface="Arial Black"/>
              </a:rPr>
              <a:t>data</a:t>
            </a:r>
            <a:r>
              <a:rPr sz="2400" dirty="0">
                <a:latin typeface="+mj-lt"/>
                <a:cs typeface="Arial Black"/>
              </a:rPr>
              <a:t> register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762000"/>
            <a:ext cx="49549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21</a:t>
            </a:fld>
            <a:endParaRPr spc="-90" dirty="0"/>
          </a:p>
        </p:txBody>
      </p:sp>
      <p:sp>
        <p:nvSpPr>
          <p:cNvPr id="3" name="object 3"/>
          <p:cNvSpPr txBox="1"/>
          <p:nvPr/>
        </p:nvSpPr>
        <p:spPr>
          <a:xfrm>
            <a:off x="737825" y="1579946"/>
            <a:ext cx="7863840" cy="49757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000" spc="5" dirty="0">
                <a:latin typeface="Arial Rounded MT Bold" panose="020F0704030504030204" pitchFamily="34" charset="0"/>
                <a:cs typeface="Arial Black"/>
              </a:rPr>
              <a:t>The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address of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micro-instruction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that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is to be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executed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is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stored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in</a:t>
            </a:r>
            <a:r>
              <a:rPr sz="2000" spc="145" dirty="0">
                <a:latin typeface="Arial Rounded MT Bold" panose="020F0704030504030204" pitchFamily="34" charset="0"/>
                <a:cs typeface="Arial Black"/>
              </a:rPr>
              <a:t> </a:t>
            </a:r>
            <a:r>
              <a:rPr sz="2000" spc="-10" dirty="0">
                <a:latin typeface="Arial Rounded MT Bold" panose="020F0704030504030204" pitchFamily="34" charset="0"/>
                <a:cs typeface="Arial Black"/>
              </a:rPr>
              <a:t>the</a:t>
            </a:r>
            <a:endParaRPr sz="2000" dirty="0">
              <a:latin typeface="Arial Rounded MT Bold" panose="020F0704030504030204" pitchFamily="34" charset="0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control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address register</a:t>
            </a:r>
            <a:r>
              <a:rPr sz="2000" spc="40" dirty="0">
                <a:latin typeface="Arial Rounded MT Bold" panose="020F0704030504030204" pitchFamily="34" charset="0"/>
                <a:cs typeface="Arial Black"/>
              </a:rPr>
              <a:t>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(CAR).</a:t>
            </a:r>
            <a:endParaRPr sz="2000" dirty="0">
              <a:latin typeface="Arial Rounded MT Bold" panose="020F0704030504030204" pitchFamily="34" charset="0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Arial Rounded MT Bold" panose="020F0704030504030204" pitchFamily="34" charset="0"/>
              <a:cs typeface="Arial Black"/>
            </a:endParaRPr>
          </a:p>
          <a:p>
            <a:pPr marL="286385" marR="5080" indent="-274320">
              <a:lnSpc>
                <a:spcPct val="100000"/>
              </a:lnSpc>
              <a:buClr>
                <a:srgbClr val="FDB809"/>
              </a:buClr>
              <a:buSzPct val="93333"/>
              <a:buFont typeface="Wingdings"/>
              <a:buChar char=""/>
              <a:tabLst>
                <a:tab pos="350520" algn="l"/>
                <a:tab pos="351155" algn="l"/>
              </a:tabLst>
            </a:pPr>
            <a:r>
              <a:rPr sz="2800" dirty="0">
                <a:latin typeface="Arial Rounded MT Bold" panose="020F0704030504030204" pitchFamily="34" charset="0"/>
              </a:rPr>
              <a:t>	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Micro-instruction corresponding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to the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address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stored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in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CAR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is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fetched 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from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control </a:t>
            </a:r>
            <a:r>
              <a:rPr sz="2000" spc="10" dirty="0">
                <a:latin typeface="Arial Rounded MT Bold" panose="020F0704030504030204" pitchFamily="34" charset="0"/>
                <a:cs typeface="Arial Black"/>
              </a:rPr>
              <a:t>memory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and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is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stored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in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the control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data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register</a:t>
            </a:r>
            <a:r>
              <a:rPr sz="2000" spc="85" dirty="0">
                <a:latin typeface="Arial Rounded MT Bold" panose="020F0704030504030204" pitchFamily="34" charset="0"/>
                <a:cs typeface="Arial Black"/>
              </a:rPr>
              <a:t>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(CDR).</a:t>
            </a:r>
            <a:endParaRPr sz="2000" dirty="0">
              <a:latin typeface="Arial Rounded MT Bold" panose="020F0704030504030204" pitchFamily="34" charset="0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B809"/>
              </a:buClr>
              <a:buFont typeface="Wingdings"/>
              <a:buChar char=""/>
            </a:pPr>
            <a:endParaRPr sz="2400" dirty="0">
              <a:latin typeface="Arial Rounded MT Bold" panose="020F0704030504030204" pitchFamily="34" charset="0"/>
              <a:cs typeface="Arial Black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000" spc="5" dirty="0">
                <a:latin typeface="Arial Rounded MT Bold" panose="020F0704030504030204" pitchFamily="34" charset="0"/>
                <a:cs typeface="Arial Black"/>
              </a:rPr>
              <a:t>This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micro-instruction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contains control word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to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execute </a:t>
            </a:r>
            <a:r>
              <a:rPr sz="2000" spc="-10" dirty="0">
                <a:latin typeface="Arial Rounded MT Bold" panose="020F0704030504030204" pitchFamily="34" charset="0"/>
                <a:cs typeface="Arial Black"/>
              </a:rPr>
              <a:t>one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or</a:t>
            </a:r>
            <a:r>
              <a:rPr sz="2000" spc="45" dirty="0">
                <a:latin typeface="Arial Rounded MT Bold" panose="020F0704030504030204" pitchFamily="34" charset="0"/>
                <a:cs typeface="Arial Black"/>
              </a:rPr>
              <a:t>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more</a:t>
            </a:r>
          </a:p>
          <a:p>
            <a:pPr marL="286385">
              <a:lnSpc>
                <a:spcPct val="100000"/>
              </a:lnSpc>
            </a:pP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micro-operations.</a:t>
            </a:r>
            <a:endParaRPr sz="2000" dirty="0">
              <a:latin typeface="Arial Rounded MT Bold" panose="020F0704030504030204" pitchFamily="34" charset="0"/>
              <a:cs typeface="Arial Black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Arial Rounded MT Bold" panose="020F0704030504030204" pitchFamily="34" charset="0"/>
              <a:cs typeface="Arial Black"/>
            </a:endParaRPr>
          </a:p>
          <a:p>
            <a:pPr marL="286385" marR="532765" indent="-274320">
              <a:lnSpc>
                <a:spcPct val="100000"/>
              </a:lnSpc>
              <a:spcBef>
                <a:spcPts val="5"/>
              </a:spcBef>
              <a:buClr>
                <a:srgbClr val="FDB809"/>
              </a:buClr>
              <a:buSzPct val="93333"/>
              <a:buFont typeface="Wingdings"/>
              <a:buChar char=""/>
              <a:tabLst>
                <a:tab pos="287020" algn="l"/>
              </a:tabLst>
            </a:pP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After the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execution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of all micro-operations of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micro-instruction,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the 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address </a:t>
            </a:r>
            <a:r>
              <a:rPr sz="2000" spc="-5" dirty="0">
                <a:latin typeface="Arial Rounded MT Bold" panose="020F0704030504030204" pitchFamily="34" charset="0"/>
                <a:cs typeface="Arial Black"/>
              </a:rPr>
              <a:t>of </a:t>
            </a:r>
            <a:r>
              <a:rPr sz="2000" spc="-15" dirty="0">
                <a:latin typeface="Arial Rounded MT Bold" panose="020F0704030504030204" pitchFamily="34" charset="0"/>
                <a:cs typeface="Arial Black"/>
              </a:rPr>
              <a:t>next </a:t>
            </a:r>
            <a:r>
              <a:rPr sz="2000" dirty="0">
                <a:latin typeface="Arial Rounded MT Bold" panose="020F0704030504030204" pitchFamily="34" charset="0"/>
                <a:cs typeface="Arial Black"/>
              </a:rPr>
              <a:t>micro-instruction is</a:t>
            </a:r>
            <a:r>
              <a:rPr sz="2000" spc="125" dirty="0">
                <a:latin typeface="Arial Rounded MT Bold" panose="020F0704030504030204" pitchFamily="34" charset="0"/>
                <a:cs typeface="Arial Black"/>
              </a:rPr>
              <a:t> </a:t>
            </a:r>
            <a:r>
              <a:rPr sz="2000" spc="-10" dirty="0">
                <a:latin typeface="Arial Rounded MT Bold" panose="020F0704030504030204" pitchFamily="34" charset="0"/>
                <a:cs typeface="Arial Black"/>
              </a:rPr>
              <a:t>located.</a:t>
            </a:r>
            <a:endParaRPr sz="2000" dirty="0">
              <a:latin typeface="Arial Rounded MT Bold" panose="020F0704030504030204" pitchFamily="34" charset="0"/>
              <a:cs typeface="Arial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133600"/>
            <a:ext cx="8229600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35" dirty="0"/>
              <a:t>COMPUTER </a:t>
            </a:r>
            <a:r>
              <a:rPr spc="-25" dirty="0"/>
              <a:t>ORGANIZATION </a:t>
            </a:r>
            <a:r>
              <a:rPr spc="-10" dirty="0"/>
              <a:t>AND</a:t>
            </a:r>
            <a:r>
              <a:rPr spc="90" dirty="0"/>
              <a:t> </a:t>
            </a:r>
            <a:r>
              <a:rPr spc="-50" dirty="0"/>
              <a:t>ARCHITECTURE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245"/>
              </a:lnSpc>
            </a:pPr>
            <a:fld id="{81D60167-4931-47E6-BA6A-407CBD079E47}" type="slidenum">
              <a:rPr spc="-90" dirty="0"/>
              <a:t>22</a:t>
            </a:fld>
            <a:endParaRPr spc="-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2700" y="732789"/>
            <a:ext cx="879665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DB809"/>
                </a:solidFill>
                <a:latin typeface="Arial Black"/>
                <a:cs typeface="Arial Black"/>
              </a:rPr>
              <a:t>COMPARISON </a:t>
            </a:r>
            <a:r>
              <a:rPr sz="2000" spc="5" dirty="0">
                <a:solidFill>
                  <a:srgbClr val="FDB809"/>
                </a:solidFill>
                <a:latin typeface="Arial Black"/>
                <a:cs typeface="Arial Black"/>
              </a:rPr>
              <a:t>BETWEEN </a:t>
            </a:r>
            <a:r>
              <a:rPr sz="2000" dirty="0">
                <a:solidFill>
                  <a:srgbClr val="FDB809"/>
                </a:solidFill>
                <a:latin typeface="Arial Black"/>
                <a:cs typeface="Arial Black"/>
              </a:rPr>
              <a:t>HARDWIRED AND</a:t>
            </a:r>
            <a:r>
              <a:rPr sz="2000" spc="-110" dirty="0">
                <a:solidFill>
                  <a:srgbClr val="FDB80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DB809"/>
                </a:solidFill>
                <a:latin typeface="Arial Black"/>
                <a:cs typeface="Arial Black"/>
              </a:rPr>
              <a:t>MICROPRGRAMMED</a:t>
            </a:r>
            <a:endParaRPr sz="2000">
              <a:latin typeface="Arial Black"/>
              <a:cs typeface="Arial Black"/>
            </a:endParaRPr>
          </a:p>
          <a:p>
            <a:pPr marL="713740" algn="ctr">
              <a:lnSpc>
                <a:spcPct val="100000"/>
              </a:lnSpc>
            </a:pPr>
            <a:r>
              <a:rPr sz="2000" spc="-5" dirty="0">
                <a:solidFill>
                  <a:srgbClr val="FDB809"/>
                </a:solidFill>
                <a:latin typeface="Arial Black"/>
                <a:cs typeface="Arial Black"/>
              </a:rPr>
              <a:t>CONTROL</a:t>
            </a:r>
            <a:r>
              <a:rPr sz="2000" spc="-45" dirty="0">
                <a:solidFill>
                  <a:srgbClr val="FDB809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DB809"/>
                </a:solidFill>
                <a:latin typeface="Arial Black"/>
                <a:cs typeface="Arial Black"/>
              </a:rPr>
              <a:t>UNIT</a:t>
            </a:r>
            <a:endParaRPr sz="2000">
              <a:latin typeface="Arial Black"/>
              <a:cs typeface="Arial Black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-6350" y="1416938"/>
          <a:ext cx="9144000" cy="528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9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8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ATTRIBUTE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40005" marB="0">
                    <a:solidFill>
                      <a:srgbClr val="FDB809"/>
                    </a:solidFill>
                  </a:tcPr>
                </a:tc>
                <a:tc>
                  <a:txBody>
                    <a:bodyPr/>
                    <a:lstStyle/>
                    <a:p>
                      <a:pPr marL="229870" marR="5067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HARDWIRED</a:t>
                      </a:r>
                      <a:r>
                        <a:rPr sz="1500" spc="-7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CONTROL 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UNIT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40005" marB="0">
                    <a:solidFill>
                      <a:srgbClr val="FDB809"/>
                    </a:solidFill>
                  </a:tcPr>
                </a:tc>
                <a:tc>
                  <a:txBody>
                    <a:bodyPr/>
                    <a:lstStyle/>
                    <a:p>
                      <a:pPr marL="133985" marR="63881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294130" algn="l"/>
                        </a:tabLst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MIC</a:t>
                      </a:r>
                      <a:r>
                        <a:rPr sz="15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1500" spc="-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-</a:t>
                      </a:r>
                      <a:r>
                        <a:rPr sz="1500" spc="-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</a:t>
                      </a:r>
                      <a:r>
                        <a:rPr sz="1500" spc="-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OG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AMM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 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CONTROL	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UNIT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40005" marB="0">
                    <a:solidFill>
                      <a:srgbClr val="FDB8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SPEED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DB809"/>
                      </a:solidFill>
                      <a:prstDash val="solid"/>
                    </a:lnL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40" dirty="0">
                          <a:latin typeface="Arial Black"/>
                          <a:cs typeface="Arial Black"/>
                        </a:rPr>
                        <a:t>FAST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27305" marB="0"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15" dirty="0">
                          <a:latin typeface="Arial Black"/>
                          <a:cs typeface="Arial Black"/>
                        </a:rPr>
                        <a:t>SLOW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FDB809"/>
                      </a:solidFill>
                      <a:prstDash val="solid"/>
                    </a:lnR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173">
                <a:tc>
                  <a:txBody>
                    <a:bodyPr/>
                    <a:lstStyle/>
                    <a:p>
                      <a:pPr marL="91440" marR="892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COST 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OF 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I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M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P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L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EM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E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N</a:t>
                      </a:r>
                      <a:r>
                        <a:rPr sz="1500" spc="-105" dirty="0">
                          <a:latin typeface="Arial Black"/>
                          <a:cs typeface="Arial Black"/>
                        </a:rPr>
                        <a:t>T</a:t>
                      </a:r>
                      <a:r>
                        <a:rPr sz="1500" spc="-114" dirty="0">
                          <a:latin typeface="Arial Black"/>
                          <a:cs typeface="Arial Black"/>
                        </a:rPr>
                        <a:t>A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Arial Black"/>
                          <a:cs typeface="Arial Black"/>
                        </a:rPr>
                        <a:t>MORE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CHEAPER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7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FLEXIBILITY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229870" marR="12636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15" dirty="0">
                          <a:latin typeface="Arial Black"/>
                          <a:cs typeface="Arial Black"/>
                        </a:rPr>
                        <a:t>NOT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FLEXIBLE, </a:t>
                      </a:r>
                      <a:r>
                        <a:rPr sz="1500" spc="-15" dirty="0">
                          <a:latin typeface="Arial Black"/>
                          <a:cs typeface="Arial Black"/>
                        </a:rPr>
                        <a:t>DIFFICULT  </a:t>
                      </a:r>
                      <a:r>
                        <a:rPr sz="1500" spc="-30" dirty="0">
                          <a:latin typeface="Arial Black"/>
                          <a:cs typeface="Arial Black"/>
                        </a:rPr>
                        <a:t>TO 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MODIFY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FOR 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NEW 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INSTRUCTION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133985" marR="4521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FLEXIBLE, NEW 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INSTRUCTIONS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CAN 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BE 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ADDED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172">
                <a:tc>
                  <a:txBody>
                    <a:bodyPr/>
                    <a:lstStyle/>
                    <a:p>
                      <a:pPr marL="91440" marR="222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ABILITY </a:t>
                      </a:r>
                      <a:r>
                        <a:rPr sz="1500" spc="-25" dirty="0">
                          <a:latin typeface="Arial Black"/>
                          <a:cs typeface="Arial Black"/>
                        </a:rPr>
                        <a:t>TO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HANDLE  COMPLEX</a:t>
                      </a:r>
                      <a:r>
                        <a:rPr sz="1500" spc="-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INSTRUCTION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5" dirty="0">
                          <a:latin typeface="Arial Black"/>
                          <a:cs typeface="Arial Black"/>
                        </a:rPr>
                        <a:t>DIFFICULT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Arial Black"/>
                          <a:cs typeface="Arial Black"/>
                        </a:rPr>
                        <a:t>EASIER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4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DECODING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COMPLEX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EASY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2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5" dirty="0">
                          <a:latin typeface="Arial Black"/>
                          <a:cs typeface="Arial Black"/>
                        </a:rPr>
                        <a:t>APPLICATION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Arial Black"/>
                          <a:cs typeface="Arial Black"/>
                        </a:rPr>
                        <a:t>RISC</a:t>
                      </a:r>
                      <a:r>
                        <a:rPr sz="1500" spc="-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MICROPROCESSOR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Arial Black"/>
                          <a:cs typeface="Arial Black"/>
                        </a:rPr>
                        <a:t>CISC</a:t>
                      </a:r>
                      <a:r>
                        <a:rPr sz="1500" spc="-1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0" dirty="0">
                          <a:latin typeface="Arial Black"/>
                          <a:cs typeface="Arial Black"/>
                        </a:rPr>
                        <a:t>MICROPROCESSOR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Arial Black"/>
                          <a:cs typeface="Arial Black"/>
                        </a:rPr>
                        <a:t>INSTRUCTION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SET</a:t>
                      </a:r>
                      <a:r>
                        <a:rPr sz="1500" spc="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SIZE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SMALL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Arial Black"/>
                          <a:cs typeface="Arial Black"/>
                        </a:rPr>
                        <a:t>LARGE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4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Arial Black"/>
                          <a:cs typeface="Arial Black"/>
                        </a:rPr>
                        <a:t>CONTROL</a:t>
                      </a:r>
                      <a:r>
                        <a:rPr sz="150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15" dirty="0">
                          <a:latin typeface="Arial Black"/>
                          <a:cs typeface="Arial Black"/>
                        </a:rPr>
                        <a:t>MEMORY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ABSENT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PRESENT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21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CHIP AREA</a:t>
                      </a:r>
                      <a:r>
                        <a:rPr sz="1500" spc="-2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500" spc="-5" dirty="0">
                          <a:latin typeface="Arial Black"/>
                          <a:cs typeface="Arial Black"/>
                        </a:rPr>
                        <a:t>REQUIRED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DB809"/>
                      </a:solidFill>
                      <a:prstDash val="solid"/>
                    </a:lnL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Arial Black"/>
                          <a:cs typeface="Arial Black"/>
                        </a:rPr>
                        <a:t>LESS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Arial Black"/>
                          <a:cs typeface="Arial Black"/>
                        </a:rPr>
                        <a:t>MORE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  <a:p>
                      <a:pPr marR="450850" algn="r">
                        <a:lnSpc>
                          <a:spcPts val="1280"/>
                        </a:lnSpc>
                        <a:spcBef>
                          <a:spcPts val="1450"/>
                        </a:spcBef>
                      </a:pPr>
                      <a:r>
                        <a:rPr sz="1200" spc="-20" dirty="0">
                          <a:solidFill>
                            <a:srgbClr val="49556A"/>
                          </a:solidFill>
                          <a:latin typeface="Georgia"/>
                          <a:cs typeface="Georgia"/>
                        </a:rPr>
                        <a:t>23</a:t>
                      </a:r>
                      <a:endParaRPr sz="1200">
                        <a:latin typeface="Georgia"/>
                        <a:cs typeface="Georgia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FDB809"/>
                      </a:solidFill>
                      <a:prstDash val="solid"/>
                    </a:lnR>
                    <a:lnT w="12700">
                      <a:solidFill>
                        <a:srgbClr val="FDB809"/>
                      </a:solidFill>
                      <a:prstDash val="solid"/>
                    </a:lnT>
                    <a:lnB w="12700">
                      <a:solidFill>
                        <a:srgbClr val="FDB809"/>
                      </a:solidFill>
                      <a:prstDash val="solid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2154" y="1775587"/>
            <a:ext cx="407987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5" dirty="0"/>
              <a:t>THANK</a:t>
            </a:r>
            <a:r>
              <a:rPr sz="5000" spc="-315" dirty="0"/>
              <a:t>Y</a:t>
            </a:r>
            <a:r>
              <a:rPr sz="5000" dirty="0"/>
              <a:t>OU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8521445" y="6517640"/>
            <a:ext cx="179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solidFill>
                  <a:srgbClr val="49556A"/>
                </a:solidFill>
                <a:latin typeface="Georgia"/>
                <a:cs typeface="Georgia"/>
              </a:rPr>
              <a:t>24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4554" y="6517640"/>
            <a:ext cx="35909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49556A"/>
                </a:solidFill>
                <a:latin typeface="Georgia"/>
                <a:cs typeface="Georgia"/>
              </a:rPr>
              <a:t>COMPUTER </a:t>
            </a:r>
            <a:r>
              <a:rPr sz="1200" spc="-25" dirty="0">
                <a:solidFill>
                  <a:srgbClr val="49556A"/>
                </a:solidFill>
                <a:latin typeface="Georgia"/>
                <a:cs typeface="Georgia"/>
              </a:rPr>
              <a:t>ORGANIZATION </a:t>
            </a:r>
            <a:r>
              <a:rPr sz="1200" spc="-10" dirty="0">
                <a:solidFill>
                  <a:srgbClr val="49556A"/>
                </a:solidFill>
                <a:latin typeface="Georgia"/>
                <a:cs typeface="Georgia"/>
              </a:rPr>
              <a:t>AND</a:t>
            </a:r>
            <a:r>
              <a:rPr sz="1200" spc="90" dirty="0">
                <a:solidFill>
                  <a:srgbClr val="49556A"/>
                </a:solidFill>
                <a:latin typeface="Georgia"/>
                <a:cs typeface="Georgia"/>
              </a:rPr>
              <a:t> </a:t>
            </a:r>
            <a:r>
              <a:rPr sz="1200" spc="-50" dirty="0">
                <a:solidFill>
                  <a:srgbClr val="49556A"/>
                </a:solidFill>
                <a:latin typeface="Georgia"/>
                <a:cs typeface="Georgia"/>
              </a:rPr>
              <a:t>ARCHITECTURE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1266</Words>
  <Application>Microsoft Office PowerPoint</Application>
  <PresentationFormat>On-screen Show (4:3)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 Black</vt:lpstr>
      <vt:lpstr>Arial Rounded MT Bold</vt:lpstr>
      <vt:lpstr>Calibri</vt:lpstr>
      <vt:lpstr>Georgia</vt:lpstr>
      <vt:lpstr>Wingdings</vt:lpstr>
      <vt:lpstr>Office Theme</vt:lpstr>
      <vt:lpstr>CONTROL UNIT</vt:lpstr>
      <vt:lpstr>PowerPoint Presentation</vt:lpstr>
      <vt:lpstr>FUNCTIONS</vt:lpstr>
      <vt:lpstr>TYPES</vt:lpstr>
      <vt:lpstr>Hardwired Control Unit</vt:lpstr>
      <vt:lpstr>ADVANTAGES</vt:lpstr>
      <vt:lpstr>DISADVANTAGES</vt:lpstr>
      <vt:lpstr>CONSIST OF:</vt:lpstr>
      <vt:lpstr>ARCHITECTURE</vt:lpstr>
      <vt:lpstr>PowerPoint Presentation</vt:lpstr>
      <vt:lpstr>PowerPoint Presentation</vt:lpstr>
      <vt:lpstr>PowerPoint Presentation</vt:lpstr>
      <vt:lpstr>EXAMPLE</vt:lpstr>
      <vt:lpstr>TIMING DIAGRAM</vt:lpstr>
      <vt:lpstr>MICRO-PROGRAMMED  CONTROL UNIT</vt:lpstr>
      <vt:lpstr>PowerPoint Presentation</vt:lpstr>
      <vt:lpstr>PowerPoint Presentation</vt:lpstr>
      <vt:lpstr>ADVANTAGES</vt:lpstr>
      <vt:lpstr>DISADVANTAGES</vt:lpstr>
      <vt:lpstr>CONSIST OF :</vt:lpstr>
      <vt:lpstr>ARCHITECTURE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UNIT</dc:title>
  <dc:creator>D!VYa</dc:creator>
  <cp:lastModifiedBy>Kanishk Patel</cp:lastModifiedBy>
  <cp:revision>16</cp:revision>
  <dcterms:created xsi:type="dcterms:W3CDTF">2020-11-06T05:05:40Z</dcterms:created>
  <dcterms:modified xsi:type="dcterms:W3CDTF">2022-12-09T13:44:47Z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2020-11-06T00:00:00Z</vt:filetime>
  </property>
</Properties>
</file>