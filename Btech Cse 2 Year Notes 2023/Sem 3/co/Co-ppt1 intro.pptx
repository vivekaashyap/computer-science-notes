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굴림" pitchFamily="34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굴림" pitchFamily="34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굴림" pitchFamily="34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굴림" pitchFamily="34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굴림" pitchFamily="34" charset="-127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굴림" pitchFamily="34" charset="-127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굴림" pitchFamily="34" charset="-127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굴림" pitchFamily="34" charset="-127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굴림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7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2261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6582A6-684A-4266-AE74-2ED5007FAB02}" type="datetimeFigureOut">
              <a:rPr lang="en-IN" smtClean="0"/>
              <a:t>19-06-2020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6027C6-C0BF-40D2-910D-D220D9F54E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2195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29C35-0564-46AB-80FE-5EE956484D12}" type="datetimeFigureOut">
              <a:rPr lang="en-IN" smtClean="0"/>
              <a:t>19-06-2020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DDD458-2DE6-48FF-8B67-1C0A918C0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0352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85800" y="0"/>
            <a:ext cx="7454153" cy="685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19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480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996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990600"/>
            <a:ext cx="4267200" cy="5486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990600"/>
            <a:ext cx="4267200" cy="5486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855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491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062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8803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2620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5600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23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0"/>
            <a:ext cx="2171700" cy="6477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362700" cy="64770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4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ChangeArrowheads="1"/>
          </p:cNvSpPr>
          <p:nvPr/>
        </p:nvSpPr>
        <p:spPr bwMode="auto">
          <a:xfrm>
            <a:off x="11114" y="839788"/>
            <a:ext cx="9132887" cy="74612"/>
          </a:xfrm>
          <a:prstGeom prst="rect">
            <a:avLst/>
          </a:prstGeom>
          <a:gradFill rotWithShape="0">
            <a:gsLst>
              <a:gs pos="0">
                <a:srgbClr val="770D05"/>
              </a:gs>
              <a:gs pos="50000">
                <a:srgbClr val="E71909"/>
              </a:gs>
              <a:gs pos="100000">
                <a:srgbClr val="770D05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1pPr>
            <a:lvl2pPr marL="742950" indent="-285750" algn="ctr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2pPr>
            <a:lvl3pPr marL="1143000" indent="-228600" algn="ctr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3pPr>
            <a:lvl4pPr marL="1600200" indent="-228600" algn="ctr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4pPr>
            <a:lvl5pPr marL="2057400" indent="-228600" algn="ctr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9pPr>
          </a:lstStyle>
          <a:p>
            <a:pPr>
              <a:defRPr/>
            </a:pPr>
            <a:endParaRPr lang="en-US" altLang="en-US" sz="1050" smtClean="0"/>
          </a:p>
        </p:txBody>
      </p:sp>
      <p:sp>
        <p:nvSpPr>
          <p:cNvPr id="1027" name="Rectangle 1027"/>
          <p:cNvSpPr>
            <a:spLocks noChangeArrowheads="1"/>
          </p:cNvSpPr>
          <p:nvPr/>
        </p:nvSpPr>
        <p:spPr bwMode="auto">
          <a:xfrm>
            <a:off x="11114" y="762000"/>
            <a:ext cx="9132887" cy="38100"/>
          </a:xfrm>
          <a:prstGeom prst="rect">
            <a:avLst/>
          </a:prstGeom>
          <a:gradFill rotWithShape="0">
            <a:gsLst>
              <a:gs pos="0">
                <a:srgbClr val="00007F"/>
              </a:gs>
              <a:gs pos="50000">
                <a:srgbClr val="0000B6"/>
              </a:gs>
              <a:gs pos="100000">
                <a:srgbClr val="00007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1pPr>
            <a:lvl2pPr marL="742950" indent="-285750" algn="ctr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2pPr>
            <a:lvl3pPr marL="1143000" indent="-228600" algn="ctr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3pPr>
            <a:lvl4pPr marL="1600200" indent="-228600" algn="ctr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4pPr>
            <a:lvl5pPr marL="2057400" indent="-228600" algn="ctr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9pPr>
          </a:lstStyle>
          <a:p>
            <a:pPr>
              <a:defRPr/>
            </a:pPr>
            <a:endParaRPr lang="en-US" altLang="en-US" sz="1050" smtClean="0"/>
          </a:p>
        </p:txBody>
      </p:sp>
      <p:sp>
        <p:nvSpPr>
          <p:cNvPr id="1028" name="Rectangle 1028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title style</a:t>
            </a:r>
          </a:p>
        </p:txBody>
      </p:sp>
      <p:sp>
        <p:nvSpPr>
          <p:cNvPr id="1029" name="Rectangle 1029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990600"/>
            <a:ext cx="86868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</a:p>
        </p:txBody>
      </p:sp>
      <p:sp>
        <p:nvSpPr>
          <p:cNvPr id="1033" name="Rectangle 1033"/>
          <p:cNvSpPr>
            <a:spLocks noChangeArrowheads="1"/>
          </p:cNvSpPr>
          <p:nvPr/>
        </p:nvSpPr>
        <p:spPr bwMode="auto">
          <a:xfrm>
            <a:off x="0" y="6553202"/>
            <a:ext cx="9132888" cy="28575"/>
          </a:xfrm>
          <a:prstGeom prst="rect">
            <a:avLst/>
          </a:prstGeom>
          <a:solidFill>
            <a:schemeClr val="tx2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1pPr>
            <a:lvl2pPr marL="742950" indent="-285750" algn="ctr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2pPr>
            <a:lvl3pPr marL="1143000" indent="-228600" algn="ctr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3pPr>
            <a:lvl4pPr marL="1600200" indent="-228600" algn="ctr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4pPr>
            <a:lvl5pPr marL="2057400" indent="-228600" algn="ctr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9pPr>
          </a:lstStyle>
          <a:p>
            <a:pPr>
              <a:defRPr/>
            </a:pPr>
            <a:endParaRPr lang="en-US" altLang="en-US" sz="1050" smtClean="0"/>
          </a:p>
        </p:txBody>
      </p:sp>
      <p:sp>
        <p:nvSpPr>
          <p:cNvPr id="5130" name="Text Box 1034"/>
          <p:cNvSpPr txBox="1">
            <a:spLocks noChangeArrowheads="1"/>
          </p:cNvSpPr>
          <p:nvPr/>
        </p:nvSpPr>
        <p:spPr bwMode="auto">
          <a:xfrm>
            <a:off x="8229600" y="1"/>
            <a:ext cx="990600" cy="2769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defRPr/>
            </a:pPr>
            <a:r>
              <a:rPr lang="ko-KR" altLang="en-US" sz="1800" b="1" baseline="-25000" smtClean="0">
                <a:solidFill>
                  <a:srgbClr val="CC00FF"/>
                </a:solidFill>
                <a:latin typeface="Book Antiqua" panose="02040602050305030304" pitchFamily="18" charset="0"/>
              </a:rPr>
              <a:t>12-</a:t>
            </a:r>
            <a:fld id="{5BDE085C-2678-432B-A6F2-33986F065DD7}" type="slidenum">
              <a:rPr lang="ko-KR" altLang="en-US" sz="1800" b="1" baseline="-25000" smtClean="0">
                <a:solidFill>
                  <a:srgbClr val="CC00FF"/>
                </a:solidFill>
                <a:latin typeface="Book Antiqua" panose="02040602050305030304" pitchFamily="18" charset="0"/>
              </a:rPr>
              <a:pPr eaLnBrk="1" latin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350" b="1" baseline="-25000" smtClean="0">
              <a:solidFill>
                <a:srgbClr val="0000B6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826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100">
          <a:solidFill>
            <a:srgbClr val="000082"/>
          </a:solidFill>
          <a:latin typeface="+mj-lt"/>
          <a:ea typeface="굴림" pitchFamily="34" charset="-127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100">
          <a:solidFill>
            <a:srgbClr val="000082"/>
          </a:solidFill>
          <a:latin typeface="Book Antiqua" pitchFamily="18" charset="0"/>
          <a:ea typeface="굴림" pitchFamily="34" charset="-127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100">
          <a:solidFill>
            <a:srgbClr val="000082"/>
          </a:solidFill>
          <a:latin typeface="Book Antiqua" pitchFamily="18" charset="0"/>
          <a:ea typeface="굴림" pitchFamily="34" charset="-127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100">
          <a:solidFill>
            <a:srgbClr val="000082"/>
          </a:solidFill>
          <a:latin typeface="Book Antiqua" pitchFamily="18" charset="0"/>
          <a:ea typeface="굴림" pitchFamily="34" charset="-127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100">
          <a:solidFill>
            <a:srgbClr val="000082"/>
          </a:solidFill>
          <a:latin typeface="Book Antiqua" pitchFamily="18" charset="0"/>
          <a:ea typeface="굴림" pitchFamily="34" charset="-127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2100">
          <a:solidFill>
            <a:srgbClr val="000082"/>
          </a:solidFill>
          <a:latin typeface="Book Antiqua" pitchFamily="18" charset="0"/>
          <a:ea typeface="굴림" pitchFamily="50" charset="-127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2100">
          <a:solidFill>
            <a:srgbClr val="000082"/>
          </a:solidFill>
          <a:latin typeface="Book Antiqua" pitchFamily="18" charset="0"/>
          <a:ea typeface="굴림" pitchFamily="50" charset="-127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2100">
          <a:solidFill>
            <a:srgbClr val="000082"/>
          </a:solidFill>
          <a:latin typeface="Book Antiqua" pitchFamily="18" charset="0"/>
          <a:ea typeface="굴림" pitchFamily="50" charset="-127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2100">
          <a:solidFill>
            <a:srgbClr val="000082"/>
          </a:solidFill>
          <a:latin typeface="Book Antiqua" pitchFamily="18" charset="0"/>
          <a:ea typeface="굴림" pitchFamily="50" charset="-127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Monotype Sorts" pitchFamily="2" charset="2"/>
        <a:buChar char="n"/>
        <a:defRPr sz="1500">
          <a:solidFill>
            <a:schemeClr val="tx1"/>
          </a:solidFill>
          <a:latin typeface="+mn-lt"/>
          <a:ea typeface="굴림" pitchFamily="34" charset="-127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Char char="u"/>
        <a:defRPr sz="2100">
          <a:solidFill>
            <a:schemeClr val="accent2"/>
          </a:solidFill>
          <a:latin typeface="+mn-lt"/>
          <a:ea typeface="굴림" pitchFamily="34" charset="-127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Monotype Sorts" pitchFamily="2" charset="2"/>
        <a:buChar char="l"/>
        <a:defRPr sz="1200">
          <a:solidFill>
            <a:schemeClr val="tx1"/>
          </a:solidFill>
          <a:latin typeface="+mn-lt"/>
          <a:ea typeface="굴림" pitchFamily="34" charset="-127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1050">
          <a:solidFill>
            <a:schemeClr val="accent2"/>
          </a:solidFill>
          <a:latin typeface="+mn-lt"/>
          <a:ea typeface="굴림" pitchFamily="34" charset="-127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 pitchFamily="2" charset="2"/>
        <a:buChar char="n"/>
        <a:defRPr sz="900">
          <a:solidFill>
            <a:schemeClr val="tx1"/>
          </a:solidFill>
          <a:latin typeface="+mn-lt"/>
          <a:ea typeface="굴림" pitchFamily="34" charset="-127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 pitchFamily="2" charset="2"/>
        <a:buChar char="n"/>
        <a:defRPr sz="9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 pitchFamily="2" charset="2"/>
        <a:buChar char="n"/>
        <a:defRPr sz="9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 pitchFamily="2" charset="2"/>
        <a:buChar char="n"/>
        <a:defRPr sz="9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 pitchFamily="2" charset="2"/>
        <a:buChar char="n"/>
        <a:defRPr sz="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961294"/>
            <a:ext cx="7772400" cy="1102519"/>
          </a:xfrm>
        </p:spPr>
        <p:txBody>
          <a:bodyPr/>
          <a:lstStyle/>
          <a:p>
            <a:r>
              <a:rPr lang="en-IN" sz="3000" dirty="0"/>
              <a:t>Subject Name: Computer Organization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z="2400" dirty="0"/>
              <a:t>Subject Code: BCSC-0005</a:t>
            </a:r>
          </a:p>
        </p:txBody>
      </p:sp>
    </p:spTree>
    <p:extLst>
      <p:ext uri="{BB962C8B-B14F-4D97-AF65-F5344CB8AC3E}">
        <p14:creationId xmlns:p14="http://schemas.microsoft.com/office/powerpoint/2010/main" val="2670046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10" y="112776"/>
            <a:ext cx="7772400" cy="514350"/>
          </a:xfrm>
        </p:spPr>
        <p:txBody>
          <a:bodyPr/>
          <a:lstStyle/>
          <a:p>
            <a:r>
              <a:rPr lang="en-IN" sz="3000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6266" y="2244852"/>
            <a:ext cx="5505450" cy="2253996"/>
          </a:xfrm>
        </p:spPr>
        <p:txBody>
          <a:bodyPr/>
          <a:lstStyle/>
          <a:p>
            <a:pPr algn="just"/>
            <a:r>
              <a:rPr lang="en-US" sz="1800" dirty="0"/>
              <a:t>To understand the structure, function and characteristics of </a:t>
            </a:r>
            <a:r>
              <a:rPr lang="en-US" sz="1800" b="1" dirty="0"/>
              <a:t>computer</a:t>
            </a:r>
            <a:r>
              <a:rPr lang="en-US" sz="1800" dirty="0"/>
              <a:t> systems</a:t>
            </a:r>
            <a:r>
              <a:rPr lang="en-US" sz="1800" dirty="0" smtClean="0"/>
              <a:t>.</a:t>
            </a:r>
          </a:p>
          <a:p>
            <a:pPr marL="0" indent="0" algn="just">
              <a:buNone/>
            </a:pPr>
            <a:r>
              <a:rPr lang="en-US" sz="1800" dirty="0" smtClean="0"/>
              <a:t> </a:t>
            </a:r>
          </a:p>
          <a:p>
            <a:pPr algn="just"/>
            <a:r>
              <a:rPr lang="en-US" sz="1800" dirty="0" smtClean="0"/>
              <a:t>To </a:t>
            </a:r>
            <a:r>
              <a:rPr lang="en-US" sz="1800" dirty="0"/>
              <a:t>understand the design of the various functional units and components of </a:t>
            </a:r>
            <a:r>
              <a:rPr lang="en-US" sz="1800" b="1" dirty="0"/>
              <a:t>computers</a:t>
            </a:r>
            <a:r>
              <a:rPr lang="en-US" sz="1800" dirty="0"/>
              <a:t>. </a:t>
            </a:r>
            <a:endParaRPr lang="en-US" sz="1800" dirty="0" smtClean="0"/>
          </a:p>
          <a:p>
            <a:pPr algn="just"/>
            <a:endParaRPr lang="en-US" sz="1800" dirty="0" smtClean="0"/>
          </a:p>
          <a:p>
            <a:pPr algn="just"/>
            <a:r>
              <a:rPr lang="en-US" sz="1800" dirty="0" smtClean="0"/>
              <a:t>To </a:t>
            </a:r>
            <a:r>
              <a:rPr lang="en-US" sz="1800" dirty="0"/>
              <a:t>identify the elements of modern instructions sets and their impact on processor design.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4698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000" dirty="0"/>
              <a:t>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sz="1400" b="1" dirty="0"/>
              <a:t>Module I: </a:t>
            </a:r>
          </a:p>
          <a:p>
            <a:pPr marL="0" indent="0" algn="just">
              <a:buNone/>
            </a:pPr>
            <a:r>
              <a:rPr lang="en-US" sz="1400" b="1" dirty="0"/>
              <a:t>Introduction: </a:t>
            </a:r>
            <a:r>
              <a:rPr lang="en-US" sz="1400" dirty="0"/>
              <a:t>Basic organization of the computer and block level description of the functional units, Number representation; fixed and floating-point number representation, IEEE standard for floating point representation., Instruction set, Instruction cycles. Register, bus and memory transfer.</a:t>
            </a:r>
          </a:p>
          <a:p>
            <a:pPr marL="0" indent="0" algn="just">
              <a:buNone/>
            </a:pPr>
            <a:r>
              <a:rPr lang="en-US" sz="1400" b="1" dirty="0"/>
              <a:t>Central Processing Unit</a:t>
            </a:r>
            <a:r>
              <a:rPr lang="en-US" sz="1400" dirty="0"/>
              <a:t>: Addition and subtraction of signed numbers, carry look ahead adders. Multiplication: Signed operand multiplication, Booths algorithm and array multiplier. Processor organization, general registers organization, stack organization and addressing modes. Introduction to </a:t>
            </a:r>
            <a:r>
              <a:rPr lang="fr-FR" sz="1400" dirty="0" err="1"/>
              <a:t>Combinational</a:t>
            </a:r>
            <a:r>
              <a:rPr lang="fr-FR" sz="1400" dirty="0"/>
              <a:t> Circuit, Multiplexer, </a:t>
            </a:r>
            <a:r>
              <a:rPr lang="fr-FR" sz="1400" dirty="0" err="1"/>
              <a:t>demultiplexer</a:t>
            </a:r>
            <a:r>
              <a:rPr lang="fr-FR" sz="1400" dirty="0"/>
              <a:t>, </a:t>
            </a:r>
            <a:r>
              <a:rPr lang="fr-FR" sz="1400" dirty="0" err="1"/>
              <a:t>Decoder</a:t>
            </a:r>
            <a:r>
              <a:rPr lang="fr-FR" sz="1400" dirty="0"/>
              <a:t>, Encoder. </a:t>
            </a:r>
            <a:r>
              <a:rPr lang="en-US" sz="1400" dirty="0"/>
              <a:t>Introduction to Sequential Circuit, Flip-Flops, Synchronous and Asynchronous </a:t>
            </a:r>
            <a:r>
              <a:rPr lang="en-IN" sz="1400" dirty="0"/>
              <a:t>Counters</a:t>
            </a:r>
          </a:p>
          <a:p>
            <a:pPr marL="0" indent="0" algn="just">
              <a:buNone/>
            </a:pPr>
            <a:r>
              <a:rPr lang="en-IN" sz="1400" b="1" dirty="0"/>
              <a:t>Module II: </a:t>
            </a:r>
          </a:p>
          <a:p>
            <a:pPr marL="0" indent="0" algn="just">
              <a:buNone/>
            </a:pPr>
            <a:r>
              <a:rPr lang="en-US" sz="1400" b="1" dirty="0"/>
              <a:t>Multiprogramming and Multiprocessing</a:t>
            </a:r>
            <a:r>
              <a:rPr lang="en-US" sz="1400" dirty="0"/>
              <a:t>; Introduction to pipelined </a:t>
            </a:r>
            <a:r>
              <a:rPr lang="en-IN" sz="1400" dirty="0"/>
              <a:t>operation.</a:t>
            </a:r>
          </a:p>
          <a:p>
            <a:pPr marL="0" indent="0" algn="just">
              <a:buNone/>
            </a:pPr>
            <a:r>
              <a:rPr lang="en-US" sz="1400" b="1" dirty="0"/>
              <a:t>Control Unit: </a:t>
            </a:r>
            <a:r>
              <a:rPr lang="en-US" sz="1400" dirty="0"/>
              <a:t>Instruction types, formats, micro-operations, execution of a complete instruction. Hardwired and micro programmed control: micro</a:t>
            </a:r>
          </a:p>
          <a:p>
            <a:pPr marL="0" indent="0" algn="just">
              <a:buNone/>
            </a:pPr>
            <a:r>
              <a:rPr lang="en-US" sz="1400" dirty="0"/>
              <a:t>programmed sequencing, Microinstruction with next address field, pre-fetching </a:t>
            </a:r>
            <a:r>
              <a:rPr lang="en-IN" sz="1400" dirty="0"/>
              <a:t>microinstructions, concept of horizontal and vertical microprogramming.</a:t>
            </a:r>
          </a:p>
          <a:p>
            <a:pPr marL="0" indent="0" algn="just">
              <a:buNone/>
            </a:pPr>
            <a:r>
              <a:rPr lang="en-IN" sz="1400" b="1" dirty="0"/>
              <a:t>Module III:</a:t>
            </a:r>
          </a:p>
          <a:p>
            <a:pPr marL="0" indent="0" algn="just">
              <a:buNone/>
            </a:pPr>
            <a:r>
              <a:rPr lang="en-US" sz="1400" b="1" dirty="0"/>
              <a:t>Memory: </a:t>
            </a:r>
            <a:r>
              <a:rPr lang="en-US" sz="1400" dirty="0"/>
              <a:t>Basic concept and hierarchy, RAM memories, ROM memories. Cache memories: concept and design issues, performance, address mapping and replacement. Virtual memory: concept and implementation.</a:t>
            </a:r>
          </a:p>
          <a:p>
            <a:pPr marL="0" indent="0" algn="just">
              <a:buNone/>
            </a:pPr>
            <a:r>
              <a:rPr lang="pt-BR" sz="1400" b="1" dirty="0"/>
              <a:t>Input/Output</a:t>
            </a:r>
            <a:r>
              <a:rPr lang="pt-BR" sz="1400" dirty="0"/>
              <a:t>: Peripheral devices, I/O interface, I/O ports, Interrupts: interrupt </a:t>
            </a:r>
            <a:r>
              <a:rPr lang="en-US" sz="1400" dirty="0"/>
              <a:t>hardware, types of interrupts and exceptions. Buses, bus architecture, types of buses and bus arbitration. Modes of Data Transfer: Programmed I/O, interrupt initiated I/O and Direct Memory Access., I/O channels and processors. Standard</a:t>
            </a:r>
            <a:r>
              <a:rPr lang="en-IN" sz="1400" dirty="0"/>
              <a:t>communication interfaces.</a:t>
            </a:r>
          </a:p>
        </p:txBody>
      </p:sp>
    </p:spTree>
    <p:extLst>
      <p:ext uri="{BB962C8B-B14F-4D97-AF65-F5344CB8AC3E}">
        <p14:creationId xmlns:p14="http://schemas.microsoft.com/office/powerpoint/2010/main" val="2453608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000" dirty="0"/>
              <a:t>Other faculty teaching this subject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0194" y="990600"/>
            <a:ext cx="7829006" cy="5486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1800" dirty="0" err="1" smtClean="0"/>
              <a:t>Dr.</a:t>
            </a:r>
            <a:r>
              <a:rPr lang="en-IN" sz="1800" dirty="0" smtClean="0"/>
              <a:t> </a:t>
            </a:r>
            <a:r>
              <a:rPr lang="en-IN" sz="1800" dirty="0" err="1" smtClean="0"/>
              <a:t>Mayank</a:t>
            </a:r>
            <a:r>
              <a:rPr lang="en-IN" sz="1800" dirty="0" smtClean="0"/>
              <a:t> Srivastava</a:t>
            </a:r>
          </a:p>
          <a:p>
            <a:pPr>
              <a:lnSpc>
                <a:spcPct val="150000"/>
              </a:lnSpc>
            </a:pPr>
            <a:r>
              <a:rPr lang="en-IN" sz="1800" dirty="0" smtClean="0"/>
              <a:t>Mr. Deepak </a:t>
            </a:r>
            <a:r>
              <a:rPr lang="en-IN" sz="1800" dirty="0" err="1" smtClean="0"/>
              <a:t>Mangal</a:t>
            </a:r>
            <a:endParaRPr lang="en-IN" sz="1800" dirty="0" smtClean="0"/>
          </a:p>
          <a:p>
            <a:pPr>
              <a:lnSpc>
                <a:spcPct val="150000"/>
              </a:lnSpc>
            </a:pPr>
            <a:r>
              <a:rPr lang="en-IN" sz="1800" dirty="0" smtClean="0"/>
              <a:t>Mr. </a:t>
            </a:r>
            <a:r>
              <a:rPr lang="en-IN" sz="1800" dirty="0" err="1" smtClean="0"/>
              <a:t>Anshy</a:t>
            </a:r>
            <a:r>
              <a:rPr lang="en-IN" sz="1800" dirty="0" smtClean="0"/>
              <a:t> Singh</a:t>
            </a:r>
          </a:p>
          <a:p>
            <a:pPr>
              <a:lnSpc>
                <a:spcPct val="150000"/>
              </a:lnSpc>
            </a:pPr>
            <a:r>
              <a:rPr lang="en-IN" sz="1800" dirty="0" smtClean="0"/>
              <a:t>Mrs. Mona</a:t>
            </a:r>
          </a:p>
          <a:p>
            <a:pPr>
              <a:lnSpc>
                <a:spcPct val="150000"/>
              </a:lnSpc>
            </a:pPr>
            <a:r>
              <a:rPr lang="en-IN" sz="1800" dirty="0" smtClean="0"/>
              <a:t>Mr. </a:t>
            </a:r>
            <a:r>
              <a:rPr lang="en-IN" sz="1800" dirty="0" err="1" smtClean="0"/>
              <a:t>Ajitesh</a:t>
            </a:r>
            <a:endParaRPr lang="en-IN" sz="1800" dirty="0" smtClean="0"/>
          </a:p>
          <a:p>
            <a:pPr>
              <a:lnSpc>
                <a:spcPct val="150000"/>
              </a:lnSpc>
            </a:pPr>
            <a:r>
              <a:rPr lang="en-IN" sz="1800" dirty="0" smtClean="0"/>
              <a:t>Mr. </a:t>
            </a:r>
            <a:r>
              <a:rPr lang="en-IN" sz="1800" dirty="0" err="1" smtClean="0"/>
              <a:t>Juginder</a:t>
            </a:r>
            <a:r>
              <a:rPr lang="en-IN" sz="1800" dirty="0" smtClean="0"/>
              <a:t> Pal Singh</a:t>
            </a:r>
          </a:p>
          <a:p>
            <a:pPr>
              <a:lnSpc>
                <a:spcPct val="150000"/>
              </a:lnSpc>
            </a:pPr>
            <a:r>
              <a:rPr lang="en-IN" sz="1800" dirty="0" smtClean="0"/>
              <a:t>Mr. </a:t>
            </a:r>
            <a:r>
              <a:rPr lang="en-IN" sz="1800" dirty="0" err="1" smtClean="0"/>
              <a:t>Ankur</a:t>
            </a:r>
            <a:r>
              <a:rPr lang="en-IN" sz="1800" dirty="0" smtClean="0"/>
              <a:t> </a:t>
            </a:r>
            <a:r>
              <a:rPr lang="en-IN" sz="1800" dirty="0" err="1" smtClean="0"/>
              <a:t>Chaturvedi</a:t>
            </a:r>
            <a:endParaRPr lang="en-IN" sz="1800" dirty="0" smtClean="0"/>
          </a:p>
          <a:p>
            <a:pPr>
              <a:lnSpc>
                <a:spcPct val="150000"/>
              </a:lnSpc>
            </a:pPr>
            <a:r>
              <a:rPr lang="en-IN" sz="1800" dirty="0" err="1" smtClean="0"/>
              <a:t>Dr.</a:t>
            </a:r>
            <a:r>
              <a:rPr lang="en-IN" sz="1800" dirty="0" smtClean="0"/>
              <a:t> </a:t>
            </a:r>
            <a:r>
              <a:rPr lang="en-IN" sz="1800" dirty="0" err="1" smtClean="0"/>
              <a:t>Hitendra</a:t>
            </a:r>
            <a:endParaRPr lang="en-IN" sz="1800" dirty="0" smtClean="0"/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1931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000" dirty="0"/>
              <a:t>Why study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5777" y="1627088"/>
            <a:ext cx="6295644" cy="2494026"/>
          </a:xfrm>
        </p:spPr>
        <p:txBody>
          <a:bodyPr/>
          <a:lstStyle/>
          <a:p>
            <a:pPr algn="just"/>
            <a:r>
              <a:rPr lang="en-US" sz="1800" dirty="0" smtClean="0"/>
              <a:t>This </a:t>
            </a:r>
            <a:r>
              <a:rPr lang="en-US" sz="1800" dirty="0"/>
              <a:t>is an introductory course in Computer Organization designed for students to become familiar with the fundamentals of computer organization techniques and their application to computing systems</a:t>
            </a:r>
            <a:r>
              <a:rPr lang="en-US" sz="1800" dirty="0" smtClean="0"/>
              <a:t>.</a:t>
            </a:r>
          </a:p>
          <a:p>
            <a:pPr marL="0" indent="0" algn="just">
              <a:buNone/>
            </a:pPr>
            <a:r>
              <a:rPr lang="en-US" sz="1800" dirty="0" smtClean="0"/>
              <a:t> </a:t>
            </a:r>
          </a:p>
          <a:p>
            <a:pPr algn="just"/>
            <a:r>
              <a:rPr lang="en-US" sz="1800" dirty="0" smtClean="0"/>
              <a:t>It </a:t>
            </a:r>
            <a:r>
              <a:rPr lang="en-US" sz="1800" dirty="0"/>
              <a:t>provides essential tools that are needed from engineering professionals to measure a simple PC performance.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707709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000" dirty="0"/>
              <a:t>Applications and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9530" y="990600"/>
            <a:ext cx="7689669" cy="5486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/>
              <a:t>To apply the knowledge of performance metrics to find the performance of systems.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To create an assembly language program to program a microprocessor system.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To design a hardware component for an embedded system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To deal with different types of computers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To identify high performance architecture design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To identify the problems in components of computer.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To develop independent learning skills and be able to learn more about different computer architectures and hardware.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To learn &amp; use the new technologies in computers</a:t>
            </a:r>
            <a:r>
              <a:rPr lang="en-US" sz="1800" dirty="0" smtClean="0"/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54122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 smtClean="0"/>
              <a:t>References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Text Books:</a:t>
            </a:r>
          </a:p>
          <a:p>
            <a:endParaRPr lang="en-IN" dirty="0" smtClean="0"/>
          </a:p>
          <a:p>
            <a:r>
              <a:rPr lang="en-IN" dirty="0" smtClean="0"/>
              <a:t>M. Mano (1996), “Computer System Architecture”, 3rd Edition, PHI.</a:t>
            </a:r>
          </a:p>
          <a:p>
            <a:endParaRPr lang="en-IN" dirty="0" smtClean="0"/>
          </a:p>
          <a:p>
            <a:r>
              <a:rPr lang="en-IN" b="1" dirty="0" smtClean="0"/>
              <a:t>Reference Books:</a:t>
            </a:r>
          </a:p>
          <a:p>
            <a:endParaRPr lang="en-IN" dirty="0" smtClean="0"/>
          </a:p>
          <a:p>
            <a:r>
              <a:rPr lang="en-US" dirty="0" smtClean="0"/>
              <a:t>D.W. Patterson (2008), “Computer Organization and Design”, 4thEdition, Elsevier Publication.</a:t>
            </a:r>
          </a:p>
          <a:p>
            <a:r>
              <a:rPr lang="en-US" dirty="0" smtClean="0"/>
              <a:t>William Stalling (2011), “Computer Organization”,8th Edition, PHI</a:t>
            </a:r>
          </a:p>
          <a:p>
            <a:r>
              <a:rPr lang="en-US" dirty="0" smtClean="0"/>
              <a:t>V. </a:t>
            </a:r>
            <a:r>
              <a:rPr lang="en-US" dirty="0" err="1" smtClean="0"/>
              <a:t>CarlHamacher</a:t>
            </a:r>
            <a:r>
              <a:rPr lang="en-US" dirty="0" smtClean="0"/>
              <a:t>, </a:t>
            </a:r>
            <a:r>
              <a:rPr lang="en-US" dirty="0" err="1" smtClean="0"/>
              <a:t>Zaky</a:t>
            </a:r>
            <a:r>
              <a:rPr lang="en-US" dirty="0" smtClean="0"/>
              <a:t> (1996), “Computer Organization”,4th International Edition, TMH.</a:t>
            </a:r>
          </a:p>
          <a:p>
            <a:r>
              <a:rPr lang="en-US" dirty="0" smtClean="0"/>
              <a:t>John P </a:t>
            </a:r>
            <a:r>
              <a:rPr lang="en-US" dirty="0" err="1" smtClean="0"/>
              <a:t>Hays,“Computer</a:t>
            </a:r>
            <a:r>
              <a:rPr lang="en-US" dirty="0" smtClean="0"/>
              <a:t> Organization”, 2nd Edition, TMH.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705209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">
      <a:dk1>
        <a:srgbClr val="000000"/>
      </a:dk1>
      <a:lt1>
        <a:srgbClr val="FFFFFF"/>
      </a:lt1>
      <a:dk2>
        <a:srgbClr val="000082"/>
      </a:dk2>
      <a:lt2>
        <a:srgbClr val="C0C0C0"/>
      </a:lt2>
      <a:accent1>
        <a:srgbClr val="D01608"/>
      </a:accent1>
      <a:accent2>
        <a:srgbClr val="000082"/>
      </a:accent2>
      <a:accent3>
        <a:srgbClr val="FFFFFF"/>
      </a:accent3>
      <a:accent4>
        <a:srgbClr val="000000"/>
      </a:accent4>
      <a:accent5>
        <a:srgbClr val="E4ABAA"/>
      </a:accent5>
      <a:accent6>
        <a:srgbClr val="000075"/>
      </a:accent6>
      <a:hlink>
        <a:srgbClr val="00C000"/>
      </a:hlink>
      <a:folHlink>
        <a:srgbClr val="800080"/>
      </a:folHlink>
    </a:clrScheme>
    <a:fontScheme name="org.pot">
      <a:majorFont>
        <a:latin typeface="Book Antiqua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0000FF"/>
          </a:solidFill>
          <a:prstDash val="solid"/>
          <a:round/>
          <a:headEnd type="oval" w="med" len="sm"/>
          <a:tailEnd type="arrow" w="med" len="sm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0000FF"/>
          </a:solidFill>
          <a:prstDash val="solid"/>
          <a:round/>
          <a:headEnd type="oval" w="med" len="sm"/>
          <a:tailEnd type="arrow" w="med" len="sm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lnDef>
  </a:objectDefaults>
  <a:extraClrSchemeLst>
    <a:extraClrScheme>
      <a:clrScheme name="org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g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g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g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g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g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g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2B8C06C8-9A77-4722-AC98-E330C25B004A}" vid="{74FE39EF-4BA8-4EF8-9C00-12832A7014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1340</TotalTime>
  <Words>577</Words>
  <Application>Microsoft Office PowerPoint</Application>
  <PresentationFormat>On-screen Show (4:3)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Book Antiqua</vt:lpstr>
      <vt:lpstr>Calibri</vt:lpstr>
      <vt:lpstr>굴림</vt:lpstr>
      <vt:lpstr>Monotype Sorts</vt:lpstr>
      <vt:lpstr>Times New Roman</vt:lpstr>
      <vt:lpstr>Wingdings</vt:lpstr>
      <vt:lpstr>Theme1</vt:lpstr>
      <vt:lpstr>Subject Name: Computer Organization</vt:lpstr>
      <vt:lpstr>Objectives</vt:lpstr>
      <vt:lpstr>Syllabus</vt:lpstr>
      <vt:lpstr>Other faculty teaching this subject</vt:lpstr>
      <vt:lpstr>Why study it?</vt:lpstr>
      <vt:lpstr>Applications and Outcomes</vt:lpstr>
      <vt:lpstr>References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Subject: Computer Organization</dc:title>
  <dc:creator>divya singh</dc:creator>
  <cp:lastModifiedBy>divya singh</cp:lastModifiedBy>
  <cp:revision>10</cp:revision>
  <dcterms:created xsi:type="dcterms:W3CDTF">2020-06-18T08:56:51Z</dcterms:created>
  <dcterms:modified xsi:type="dcterms:W3CDTF">2020-06-19T07:28:19Z</dcterms:modified>
</cp:coreProperties>
</file>